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session on experiments and A/B testing. Today's question is simple to ask and hard to answer: does a change in our marketing cause a change in customer behaviour, or do we only see the two together? We use one running example all day: the retention e-mail of the mobile operator from the churn session. We end with the same analyses in Python; the code is in sessions/01-foundations/ab_testing.qmd.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theory parts, then Python, then the in-class exercise. Part 1 shows why only a random split shows cause and effect. Part 2 designs and reads one A/B test of the operator's e-mail. Part 3 is new in this course: factorial designs, where we change two things at once and look for an interaction. Keep the question of the day in mind: every part answers a piece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for two minutes: did the ad triple sales? Most people say yes at first. Collect a few answers and reasons, but do not resolve it yet: slide 12 does. Push on the first question: who decided who saw the 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story for the whole session. The mobile operator from the churn session sends a retention e-mail that invites customers to its loyalty offers page, in Germany and in Spain. The outcome is a click on the link, because a click is what the e-mail can change at once. The idea comes from a real field experiment in which a first name in the subject line raised opens by about 20 % (Sahni, Wheeler &amp; Chintagunta 2018, Marketing Science [V]). Our numbers are simulated, so we know the truth and can check every method against it. The A/B test has 20,000 customers per market, 10,000 per version and market.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customer who got the e-mail; the two right-hand columns show one real row of each file (customer 8 and customer 100044). The outcome is clicked, 0 or 1. Version is what we changed in the A/B test; personal and discount are the two changes of the second test (Part 3). Device and country let us ask later: for whom does it work? Question for the room: which column is the independent variable and which the dependent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A reached 665 clicks out of 20,000 customers (3.33 %), e-mail B 785 out of 20,000 (3.93 %). The gap is +0.60 pp: percentage points are the difference of two percentages. Managers often say '+18 %' and mean the relative lift, 0.60 / 3.33; we report percentage points, and say which one we mean. Two questions follow: did the name cause the gap (Part 1), and is it more than chance (Part 2, slide 15)? The code is Step 1 of ab_testing.qmd.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shows why comparing customers who got something with customers who did not can mislead, and why a coin flip fixes it. We meet three traps, the idea of the counterfactual, and the A/B test as the simplest experiment. At the end we come back to the warm-up.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in which two things move together without one causing the other. A confounder is a third factor that drives both: people searching 'buy running shoes' see more shoe ads and buy more shoes. Reverse causality means the outcome drives the 'cause': ad budgets set as a share of last year's sales. Selection means someone picked who got the treatment: algorithms pick likely buyers, and active users buy more anyway. Selection is a confounder created by whoever chose who got the treatment. In each diagram the dashed arrow is the effect we would like to claim. Ask the room for one more example from their own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causal effect of the name for Anna is a comparison within one person: her click with e-mail B minus her click with e-mail A. We can never observe it, because Anna lives in only one of the two worlds. Randomisation gives us two groups that are, on average, the same people, so group A shows what group B would have done without the name. That is why the average effect is simply click rate B minus click rate A: 3.93 % − 3.33 % = +0.60 pp. Anna is an illustration, not a customer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colours stand for three kinds of customers. A coin flip for each customer puts a similar mix into A and B, so the only systematic difference is the e-mail they get. With 20 people the mix is only roughly equal; with 20,000 per group it is equal to a fraction of a point: 59.5 % vs 59.9 % read on mobile. This also holds for things we never measured, such as interest or mood. The split was random within each country (10,000 A and 10,000 B per market), which is why Spain is exactly 50.0 % in both groups. Technically we shuffled the customers in each country and gave exactly half e-mail B, which is why the counts are equal and SRM p is 1.000 (slide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A/B test is a randomised experiment on live customers: A is the control, B the variant, and the two are compared on a metric chosen in advance (Kohavi, Tang &amp; Xu 2020 [V]). The treatment is the one change we make on purpose, here the first name. In practice the e-mail tool assigns customers by a hash of the customer number, which works like a coin flip. A/B/n tests compare several versions of one element; factorial tests change two things and their combinations (Part 3); an A/A test sends the same e-mail twice to check the tool (slide 17). The effect is measured on the same day with the same kind of customers, so nothing systematic other than the e-mail can explain the gap (chance aside).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warm-up. The same Facebook campaign measured three ways: exposed vs not exposed gives +316 %, matching on age and gender still +222 %, and the randomised test +73 % [V] (Gordon et al. 2019, Study 4). The platform showed the ad to people who were more likely to buy anyway, so the naive comparison is about four times too high. The same pattern appears elsewhere: a Yahoo display ad, +1,198 % naive vs +5.4 % randomised (Lewis, Rao &amp; Reiley 2011 [V]); eBay search ads, a naive ROI of over 1,400 % but −63 % in the experiment (Blake, Nosko &amp; Tadelis 2015 [V]). Bridge: now we design such a test ourselves.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takes the A/B test of the subject line apart. Students learn to name the variables of an experiment, to read the result with its confidence interval, to plan the sample before the send, to check the set-up, and to ask for whom and where the result holds. Everything uses the same file, email_ab.csv, and the steps of ab_testing.qmd.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experiment we set the independent variable ourselves: we decide who gets A and who gets B. That is what makes it an experiment rather than an observation. The dependent variable is what we observe afterwards: did the customer click (1) or not (0); averaged over a group it is the click rate. Everything else is held constant (body text, send day, offer page) or randomised (who the customers are). The key metric is fixed before the send: a metric chosen afterwards invites cherry-picking among many numbers; Kohavi, Tang &amp; Xu (2020) call it the overall evaluation criterion [V]. The guardrail is a number that must not get worse, here the unsubscribe rate. Ask the room: in the 2 × 2 test of Part 3, how many independent variables are there?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 of the test in four steps. First, what chance alone looks like: we simulate 2,000 A/A tests, the same e-mail to two groups of 20,000 with a click rate of 3.3 %; the differences scatter around zero with a standard deviation of about 0.18 pp. Second, our +0.60 pp lies far outside that cloud: only 0.15 % of the chance results are as large. Third, the p-value is about that share: how often chance alone gives a gap at least this large (0.15 % here, 0.13 % from the z-test: p 0.0013, z 3.21). Fourth, the 95 % confidence interval, 0.23 to 0.97 pp, is the range of effect sizes the data are compatible with. The guardrail rose by about 0.1 pp (0.31 % to 0.41 %, p 0.079): within noise, but watch it in the next send. Slide 17 uses the same picture as a check of the tool. In the qmd: Steps 2 and 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is the chance that the test detects a true effect of a given size. Here: if B really adds 0.6 pp (3.3 to 3.9 %), how often would a test with n customers per version give p below 0.05? With 15,107 per version the chance is 80 %, the usual target. Our test had 20,000 per version: power 89.7 %. With 2,000 per version it would be only 17.5 %: most real effects of this size would be missed. Half the effect (0.3 pp) needs about four times the customers (58,072). Do not peek: checking every day and stopping at the first p below 0.05 raises the false alarms well above 5 %. In the qmd: Steps 2 and 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reading any result, check the split. The sample ratio mismatch (SRM) test is a chi-square test of the counts against the plan (scipy: stats.chisquare). Our test: 20,000 vs 20,000, SRM p 1.000. The invented broken split, 20,000 vs 19,300, looks harmless in the chart but gives p 0.0004: 700 customers of B went missing, perhaps through a filter, a bounce list or a tracking bug, and the missing ones are rarely a random set. SRMs are not rare: about 6 % of Microsoft experiments had one (Fabijan et al. 2019 [V]). An A/A test sends the same e-mail to both groups and checks the whole pipeline: about 5 % come out “significant” by chance, 5.9 % in our 2,000 runs (the histogram of slide 15). In the qmd: Steps 1 and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by device, B adds +0.92 pp on mobile (p &lt; 0.001) and only +0.13 pp on desktop (p 0.661). A plausible story: the inbox on a phone shows only a few characters, so the name is what customers see first; this is an illustration, not a finding. The device is a moderator: it changes the size of the effect. The interaction is a difference of two differences, +0.92 − 0.13 ≈ +0.79 pp (from unrounded values, OLS clicked ~ B * device, p 0.038). Careful: with many segments some differ by chance, and the test was planned for the total effect, not for segments. In the qmd: Step 5; Part 3 builds this idea into the design (slides 22 and 27).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after every test, after Shadish, Cook &amp; Campbell (2002) [V]. Internal validity: did the e-mail cause the difference here? The random split, the same send day and the same kind of customers make that likely, provided the split works. External validity: will the result hold in other markets, seasons, channels and customer groups? E-mail tests are clean because we control who gets what. On ad platforms the delivery algorithm sends each ad to the people it predicts will respond; in the picture ad A reaches mostly older and ad B mostly younger people, so an A/B test there compares ad plus audience (divergent delivery, Braun &amp; Schwartz 2025 [V]). Our own external-validity check comes in Part 3 with Germany vs Spain (slide 27).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operator's next campaign tests two changes at once: the first name in the subject line and a discount of 10 % off the next bill. In this part you learn the words of a factorial design: factor, level, cell, simple effect, main effect and interaction. You will read an interaction plot, compute the effects by hand from four click rates, and then analyse them with a regression and a two-way ANOVA. At the end we ask whether the result differs between Germany and Spain.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operator sends the next retention e-mail to 40,000 new customers, and each gets one of four e-mails at random, 10,000 per e-mail, randomised within each market. The first factor is our version B again, the first name in the subject line; the second is new, a discount of 10 % off the next bill. An A/B test is a factorial design with one factor and two levels; here we have two factors with two levels each, so 2 × 2 = 4 cells. What we gain: both effects from the same customers, and the answer to a new question, whether the two changes work together. Ask: which of the four e-mails would you bet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made-up results with round numbers; in each panel the discount raises the click rate. The simple effect of the name is its effect at one level of the discount, the gap between the two lines at No discount and again at 10 % off; the interaction is the difference of the two simple effects, a difference in differences. Left, the gap is +1.0 pp at both levels: parallel lines, no interaction; middle, it grows from +0.5 to +1.5 pp: the lines fan out, interaction +1.0 pp. Right, the name helps without the discount and hurts with it: the lines cross, interaction −2.0 pp, and the average effect of the name is zero although the name matters in each cell. Slide 18's device result had the shape of the middle panel. Ask: which shape do you expect for name and discount, and why?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plot like slide 22: the lines fan out, as in the middle panel. Without the discount the first name adds +0.40 pp (3.51 % to 3.91 %); with the discount it adds +1.42 pp (5.10 % to 6.52 %; p &lt; 0.001, 95 % CI [0.83, 2.01] pp). The discount works in both rows: +1.59 pp for the generic e-mail, +2.61 pp with the first name. The best e-mail combines the first name and the discount, 6.52 % click, and it also had the fewest unsubscribes (0.24 %, against 0.34 % for the control). Table and plot: Step 3 of the sample code. Ask: is the name worth it without the discount?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comes from the four click rates of slide 23: a simple effect compares two cells within one level of the other factor (+0.40 pp without, +1.42 pp with the discount), the main effect is their average (+0.91 pp) and the interaction their difference (+1.02 pp). The discount, the same way: +1.59 and +2.61 pp, main effect +2.10 pp, and again an interaction of +1.02 pp, so the interaction is the same number whichever factor you start from. The main effect is also the plain comparison of all 20,000 first-name customers with all 20,000 generic ones (5.215 % vs 4.305 %); the rates rounded as in the numbers file (5.22 % and 4.30 %) would give 0.92, so subtract unrounded rates. Main effects are what a factorial buys you when there is no interaction; with one, they average two different effects. Ask the room to check one line with a calculator (Step 6 of the sample code).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fit an ordinary regression to the 0/1 clicks, the linear probability model: coefficients times 100 are percentage points, and with all four cells in the model it reproduces the four click rates exactly. Each coefficient is a cell difference from slide 24: the intercept is the control (3.51 %), 'personal' the name without discount (+0.40 pp, p 0.183), 'discount' the discount for the generic e-mail, the product term the interaction (+1.02 pp, p 0.017). The two-way ANOVA splits the variation into the two main effects and the interaction (F = signal / noise); use anova_lm(…, typ=2) or effect coding (−0.5 / +0.5, which gives the main effects +0.91 and +2.10 pp directly), because Type III with 0/1 dummies tests the simple effect instead (F 1.77, p 0.183). Controlling for the market changes nothing (+1.02 pp, p 0.016). Do not drop an interaction because p &gt; 0.05 and refit the short model: 19 of 27 factorial experiments in top economics journals used the short model (Muralidharan, Romero &amp; Wüthrich 2025, Review of Economics and Statistics); code in Steps 3 and 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four cells on two scales: in click rates the name adds +0.40 and +1.42 pp, an interaction of +1.02 pp (p 0.017, significant at 5 %); in log-odds, the scale of the logit, it adds +0.11 and +0.26, a product term of 0.149 (odds ratio 1.16, p 0.124). Why they differ: the discount raises the base rate, and the same odds lift adds more pp at 5.10 % than at 3.51 %; the logit removes that part, so less interaction is left (+0.15 in log-odds). The logit fits the four rates exactly, so its predicted probabilities still give +1.02 pp; only the product term asks another question, whether the odds ratio of the name is bigger with the discount, and here the answer is 'not clearly'. In nonlinear models the product term is not the interaction in probabilities (Ai &amp; Norton 2003, Economics Letters [V]); report the second difference of predicted probabilities (Mize 2019, Sociological Science), as in the logit deck, slide 21. Code: Step 7 of the sample code.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moderator is a variable that changes the size of an effect, like the device on slide 18. In Germany the interaction is +0.34 pp (p 0.546), in Spain +1.70 pp (p 0.008), and the tempting conclusion is that it works in Spain, not in Germany; but the test of the moderator, the three-way interaction personal × discount × country, gives a difference of +1.36 pp, p 0.110, within chance. Be honest about our data: they were simulated with the same true interaction (+1.0 pp) in both markets, so the gap is sampling noise, and so is Spain's name-alone effect of −0.06 pp. Each market has half the customers, so its standard error is larger (0.56 and 0.64 vs 0.43 pp), and testing each subgroup separately often gives 'significant in one subgroup only' without a true difference (Brookes et al. 2004, Journal of Clinical Epidemiology: 7–64 % of simulations). For external validity (slide 19), still repeat the 2 × 2 in each market before a roll-out (Step 8 of the sample code).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same 40,000 customers used in two ways: two separate A/B tests compare 10,000 with 10,000 for each question, one 2 × 2 compares 20,000 with 20,000 for each main effect and also tests the interaction (Collins, Dziak &amp; Li 2009, Psychological Methods); with a strong interaction the main effects are averages (slide 24). Interactions need more: the standard error of the interaction is twice that of a main effect (0.43 vs 0.21 pp), so the same size needs about four times the customers (sample size: slide 16). A trial with 80 % power for the main effect has only 29 % for a same-sized interaction, so the sample must be inflated fourfold (Brookes et al. 2004). Keep it small: the Obama 2008 sign-up page tested 4 buttons × 6 media = 24 versions with about 13,000 visitors each (Siroker 2010, the campaign's own account [V][C]); industry calls such a factorial with many cells a multivariate test. Many teams run separate A/B tests on the same customers at once, an unplanned factorial; interactions between them are possible but usually rare and small, so overlapping tests are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repeats the analyses of Parts 2 and 3 in Python, in three steps: load and check the split; the difference with the z-test, the interval and the sample size; and the 2 × 2 regression with its plot. The code on the next slides is complete and comes from sessions/01-foundations/ab_testing.qmd, Steps 1 to 3: open it in Positron and run it cell by cell. The qmd has eight steps and reproduces every number of this deck, including the A/A tests, the power curve, the device and market checks and the logit.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 lines are all at the top of ab_testing.qmd, so you write them once. One trap: you install great-tables with a hyphen but import great_tables with an underscore. proportions_ztest and confint_proportions_2indep live in statsmodels.stats.proportion, NormalIndPower in statsmodels.stats.power and anova_lm in statsmodels.stats.anova. smf.ols works as in the regression session: a formula, the data, fit; the star in personal * discount adds the product term for you.</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qmd sits in sessions/01-foundations, so the data file is two folders up. group_by and agg give one row per version: the number of customers, the clicks and the click rate; the mean of a 0/1 column is a share, so the 0.03325 of version A is 3.33 %. stats.chisquare tests the two counts against an even split: 20,000 and 20,000 give SRM p 1.000, so the split is as planned. The qmd adds the balance check by device and country (slide 10) and the same check for the 2 × 2 file, where the four cells also give SRM p 1.000. Ask the room: what do you do when the SRM p is below 0.001?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0 is version A and index 1 is version B, because the table of Step 1 is sorted by version. The test and the interval both take B first, so the sign is B − A: +0.60 pp, z 3.21, p 0.0013. confint_proportions_2indep returns shares; times 100 gives percentage points, the interval [0.23, 0.97] pp. solve_power returns 15,106.9 customers per version for 3.3 % → 3.9 %; round up to 15,107, which our 20,000 per version exceed. The qmd also checks the guardrail, unsubscribes (+0.105 pp, p 0.079), and draws the power curve of slide 16 (Step 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 discount expands to personal + discount + personal:discount: two main terms and the product term. Times 100 turns probability units into percentage points. The intercept is the control cell (3.51 %), personal is the name's effect without the discount (+0.40 pp), discount is the discount's effect with the generic subject line (+1.59 pp), and the product term is the extra effect when both come together (+1.02 pp, p 0.017). The plot uses the four cell means of slide 23: discount on the x-axis, one line per subject line; lines that fan out show the interaction. The qmd adds the cell table, the two-way ANOVA (Step 6), the logit (Step 7) and the markets (Step 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part hands the method over to you. First a five-question online quiz on the whole session, then the answers. Then you work in pairs on the same two files, email_ab.csv and email_factorial.csv, with the code of ab_testing.qmd. Finally you repeat the tasks with Posit Assistant and check its numbers against your own.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quiz on Canvas: three minutes alone, then compare with your neighbour. Question 1 goes back to the coin flip on slide 10, question 2 to percentage points on slide 6, question 3 to sample size and power on slide 16, question 4 to the split check on slide 17 and question 5 to the 2 × 2 by hand on slide 24. Questions 2, 4 and 5 use invented round numbers. Ask for a show of hands per option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follow in class.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with the packages for 35 minutes, then five minutes of answers in the plenary, then ten minutes with Posit Assistant (next slide). The file ab_exercise.qmd has the setup cell and an empty cell per task; the step numbers point to the code to reuse in ab_testing.qmd. Check after ten minutes that every pair has the split per market. Fast pairs do the extra task: the market as a moderator of the 2 × 2 interaction (Step 8). Debrief: which e-mail would you send, and which number convinces the CRM manager?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routine of the earlier sessions. Solve the tasks with your own code first and keep the setup cell run, so Posit Assistant sees ab and fa. Open the chat from the Posit Assistant icon in the activity bar, type @ab_exercise.qmd and give one task per prompt; ask it to explain, not only to compute. Typical slips to watch: a relative per cent reported as percentage points, the sign A − B instead of B − A, the personal coefficient read as the main effect, the logit product term read as “no interaction”, and the split check forgotten. Stay in Normal mode and read every edit before you accept it. The prompts match the Posit Assistant section of ab_exercise.qmd.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open datasets for your own A/B lab; the links and the loading code are in the appendix of ab_testing.qmd. Hillstrom is the MineThatData E-Mail Analytics Challenge (2008): 64,000 customers of a US retailer randomised to a men's e-mail, a women's e-mail or no e-mail, about 21,300 each, with visits, purchases and spend over two weeks; free CSV, no formal licence found, so link it rather than commit it. The Upworthy Research Archive (Matias, Munger, Le Quere &amp; Ebersole 2021, Scientific Data) holds headline tests of a news site; the exploratory file has 22,666 variants in 4,873 tests, CC BY 4.0 on osf.io/jd64p; compare variants only within a test, because that is where the randomisation happened. Criteo Uplift v2.1 has 13,979,592 rows (297 MB) under a non-commercial licence. The licence decides what may go into a public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takeaway. Seeing is not causing: compare random groups, not people who got something with those who did not. A coin flip makes A and B alike, so B − A is the effect; report it in percentage points with its confidence interval. Plan the sample size before the send and check the split before the result. A factorial design tests two changes at once; with an interaction, report the simple effects. Read interactions in percentage points and test a moderator before you claim that the market matters. Next: run ab_testing.qmd from top to bottom; it reproduces the results on the slides.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read first: Kohavi, Tang &amp; Xu (2020) for the practice of online A/B tests (split checks, A/A tests, key metric and guardrails), Gerber &amp; Green (2012) for the logic of random assignment, and Shadish, Cook &amp; Campbell (2002) for internal and external validity. Collins, Dziak &amp; Li (2009) explain why one factorial design can replace separate experiments. Ai &amp; Norton (2003) is the reading behind slide 26: the logit product term is not the interaction in percentage points. The right card holds the advertising and e-mail studies of slides 3, 12 and 19 and the real study behind our example (Sahni, Wheeler &amp; Chintagunta 2018).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14.png"/><Relationship Id="rId5"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4.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Experiments and A/B testing</a:t>
            </a:r>
          </a:p>
        </p:txBody>
      </p:sp>
      <p:sp>
        <p:nvSpPr>
          <p:cNvPr id="3" name="Subtitle 2"/>
          <p:cNvSpPr>
            <a:spLocks noGrp="1"/>
          </p:cNvSpPr>
          <p:nvPr>
            <p:ph type="subTitle" idx="1"/>
          </p:nvPr>
        </p:nvSpPr>
        <p:spPr/>
        <p:txBody>
          <a:bodyPr/>
          <a:lstStyle/>
          <a:p>
            <a:r>
              <a:rPr lang="en-GB"/>
              <a:t>International Marketing Analytics</a:t>
            </a:r>
          </a:p>
        </p:txBody>
      </p:sp>
      <p:sp>
        <p:nvSpPr>
          <p:cNvPr id="4" name="Text Placeholder 3"/>
          <p:cNvSpPr>
            <a:spLocks noGrp="1"/>
          </p:cNvSpPr>
          <p:nvPr>
            <p:ph type="body" idx="12" sz="quarter"/>
          </p:nvPr>
        </p:nvSpPr>
        <p:spPr/>
        <p:txBody>
          <a:bodyPr/>
          <a:lstStyle/>
          <a:p>
            <a:r>
              <a:rPr lang="en-GB"/>
              <a:t>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Why</a:t>
            </a:r>
            <a:br/>
            <a:r>
              <a:rPr sz="1100" b="1" lang="en-GB">
                <a:solidFill>
                  <a:schemeClr val="tx2"/>
                </a:solidFill>
              </a:rPr>
              <a:t>experiments</a:t>
            </a:r>
          </a:p>
        </p:txBody>
      </p:sp>
      <p:sp>
        <p:nvSpPr>
          <p:cNvPr id="11" name="Plan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A/B test</a:t>
            </a:r>
          </a:p>
        </p:txBody>
      </p:sp>
      <p:sp>
        <p:nvSpPr>
          <p:cNvPr id="12" name="Plan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2 × 2</a:t>
            </a:r>
            <a:br/>
            <a:r>
              <a:rPr sz="1100" b="1" lang="en-GB">
                <a:solidFill>
                  <a:schemeClr val="tx2"/>
                </a:solidFill>
              </a:rPr>
              <a:t>designs</a:t>
            </a:r>
          </a:p>
        </p:txBody>
      </p:sp>
      <p:sp>
        <p:nvSpPr>
          <p:cNvPr id="13" name="Plan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p>
        </p:txBody>
      </p:sp>
      <p:sp>
        <p:nvSpPr>
          <p:cNvPr id="14" name="Plan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p>
        </p:txBody>
      </p:sp>
      <p:sp>
        <p:nvSpPr>
          <p:cNvPr id="15" name="Theory card body"/>
          <p:cNvSpPr/>
          <p:nvPr/>
        </p:nvSpPr>
        <p:spPr>
          <a:xfrm>
            <a:off x="457200" y="233172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heory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heory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Theory, Parts 1 to 3</a:t>
            </a:r>
          </a:p>
        </p:txBody>
      </p:sp>
      <p:pic>
        <p:nvPicPr>
          <p:cNvPr id="18" name="Icon Theory card" descr=""/>
          <p:cNvPicPr>
            <a:picLocks noChangeAspect="1"/>
          </p:cNvPicPr>
          <p:nvPr/>
        </p:nvPicPr>
        <p:blipFill>
          <a:blip r:embed="rId3"/>
          <a:stretch>
            <a:fillRect/>
          </a:stretch>
        </p:blipFill>
        <p:spPr>
          <a:xfrm>
            <a:off x="4064508" y="1970532"/>
            <a:ext cx="310896" cy="310896"/>
          </a:xfrm>
          <a:prstGeom prst="rect">
            <a:avLst/>
          </a:prstGeom>
        </p:spPr>
      </p:pic>
      <p:sp>
        <p:nvSpPr>
          <p:cNvPr id="19" name="Theory card text"/>
          <p:cNvSpPr txBox="1"/>
          <p:nvPr/>
        </p:nvSpPr>
        <p:spPr>
          <a:xfrm>
            <a:off x="621792" y="2468880"/>
            <a:ext cx="3744468" cy="10515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Why only a random split shows cause and effect</a:t>
            </a:r>
          </a:p>
          <a:p>
            <a:pPr algn="l" marL="182880" indent="-182880">
              <a:spcAft>
                <a:spcPts val="600"/>
              </a:spcAft>
              <a:buClr>
                <a:schemeClr val="accent1"/>
              </a:buClr>
              <a:buFont typeface="Arial"/>
              <a:buChar char="▪"/>
            </a:pPr>
            <a:r>
              <a:rPr sz="1300" b="0" lang="en-GB">
                <a:solidFill>
                  <a:schemeClr val="tx1"/>
                </a:solidFill>
              </a:rPr>
              <a:t>Design and read an A/B test</a:t>
            </a:r>
          </a:p>
          <a:p>
            <a:pPr algn="l" marL="182880" indent="-182880">
              <a:spcAft>
                <a:spcPts val="600"/>
              </a:spcAft>
              <a:buClr>
                <a:schemeClr val="accent1"/>
              </a:buClr>
              <a:buFont typeface="Arial"/>
              <a:buChar char="▪"/>
            </a:pPr>
            <a:r>
              <a:rPr sz="1300" b="0" lang="en-GB">
                <a:solidFill>
                  <a:schemeClr val="tx1"/>
                </a:solidFill>
              </a:rPr>
              <a:t>Factorial designs and interactions</a:t>
            </a:r>
          </a:p>
        </p:txBody>
      </p:sp>
      <p:sp>
        <p:nvSpPr>
          <p:cNvPr id="20" name="Practice card body"/>
          <p:cNvSpPr/>
          <p:nvPr/>
        </p:nvSpPr>
        <p:spPr>
          <a:xfrm>
            <a:off x="4640580" y="233172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actice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actice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Practice, Parts 4 and 5</a:t>
            </a:r>
          </a:p>
        </p:txBody>
      </p:sp>
      <p:pic>
        <p:nvPicPr>
          <p:cNvPr id="23" name="Icon Practice card" descr=""/>
          <p:cNvPicPr>
            <a:picLocks noChangeAspect="1"/>
          </p:cNvPicPr>
          <p:nvPr/>
        </p:nvPicPr>
        <p:blipFill>
          <a:blip r:embed="rId4"/>
          <a:stretch>
            <a:fillRect/>
          </a:stretch>
        </p:blipFill>
        <p:spPr>
          <a:xfrm>
            <a:off x="8247888" y="1970532"/>
            <a:ext cx="310896" cy="310896"/>
          </a:xfrm>
          <a:prstGeom prst="rect">
            <a:avLst/>
          </a:prstGeom>
        </p:spPr>
      </p:pic>
      <p:sp>
        <p:nvSpPr>
          <p:cNvPr id="24" name="Practice card text"/>
          <p:cNvSpPr txBox="1"/>
          <p:nvPr/>
        </p:nvSpPr>
        <p:spPr>
          <a:xfrm>
            <a:off x="4805172" y="2468880"/>
            <a:ext cx="3744468" cy="10515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polars, scipy, statsmodels, plotnine</a:t>
            </a:r>
          </a:p>
          <a:p>
            <a:pPr algn="l" marL="182880" indent="-182880">
              <a:spcAft>
                <a:spcPts val="600"/>
              </a:spcAft>
              <a:buClr>
                <a:schemeClr val="accent1"/>
              </a:buClr>
              <a:buFont typeface="Arial"/>
              <a:buChar char="▪"/>
            </a:pPr>
            <a:r>
              <a:rPr sz="1300" b="0" lang="en-GB">
                <a:solidFill>
                  <a:schemeClr val="tx1"/>
                </a:solidFill>
              </a:rPr>
              <a:t>Online quiz and its answers</a:t>
            </a:r>
          </a:p>
          <a:p>
            <a:pPr algn="l" marL="182880" indent="-182880">
              <a:spcAft>
                <a:spcPts val="600"/>
              </a:spcAft>
              <a:buClr>
                <a:schemeClr val="accent1"/>
              </a:buClr>
              <a:buFont typeface="Arial"/>
              <a:buChar char="▪"/>
            </a:pPr>
            <a:r>
              <a:rPr sz="1300" b="0" lang="en-GB">
                <a:solidFill>
                  <a:schemeClr val="tx1"/>
                </a:solidFill>
              </a:rPr>
              <a:t>Coding exercise: the operator's e-mails</a:t>
            </a:r>
          </a:p>
          <a:p>
            <a:pPr algn="l" marL="182880" indent="-182880">
              <a:spcAft>
                <a:spcPts val="600"/>
              </a:spcAft>
              <a:buClr>
                <a:schemeClr val="accent1"/>
              </a:buClr>
              <a:buFont typeface="Arial"/>
              <a:buChar char="▪"/>
            </a:pPr>
            <a:r>
              <a:rPr sz="1300" b="0" lang="en-GB">
                <a:solidFill>
                  <a:schemeClr val="tx1"/>
                </a:solidFill>
              </a:rPr>
              <a:t>The same tasks with Posit Assistant</a:t>
            </a:r>
          </a:p>
        </p:txBody>
      </p:sp>
      <p:sp>
        <p:nvSpPr>
          <p:cNvPr id="25" name="Question box"/>
          <p:cNvSpPr/>
          <p:nvPr/>
        </p:nvSpPr>
        <p:spPr>
          <a:xfrm>
            <a:off x="457200" y="37947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estion" descr=""/>
          <p:cNvPicPr>
            <a:picLocks noChangeAspect="1"/>
          </p:cNvPicPr>
          <p:nvPr/>
        </p:nvPicPr>
        <p:blipFill>
          <a:blip r:embed="rId5"/>
          <a:stretch>
            <a:fillRect/>
          </a:stretch>
        </p:blipFill>
        <p:spPr>
          <a:xfrm>
            <a:off x="658368" y="3886200"/>
            <a:ext cx="365760" cy="365760"/>
          </a:xfrm>
          <a:prstGeom prst="rect">
            <a:avLst/>
          </a:prstGeom>
        </p:spPr>
      </p:pic>
      <p:sp>
        <p:nvSpPr>
          <p:cNvPr id="27" name="Question text"/>
          <p:cNvSpPr txBox="1"/>
          <p:nvPr/>
        </p:nvSpPr>
        <p:spPr>
          <a:xfrm>
            <a:off x="1207008" y="379476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Question of the day: </a:t>
            </a:r>
            <a:r>
              <a:rPr sz="1300" b="0" lang="en-GB">
                <a:solidFill>
                  <a:schemeClr val="bg1"/>
                </a:solidFill>
              </a:rPr>
              <a:t>which e-mail makes more customers click, and how do we know it was the e-mail?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Before we start: did the ad triple sales?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arm-up panel"/>
          <p:cNvSpPr/>
          <p:nvPr/>
        </p:nvSpPr>
        <p:spPr>
          <a:xfrm>
            <a:off x="457200" y="1234440"/>
            <a:ext cx="3931920" cy="3291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arm-up statement"/>
          <p:cNvSpPr txBox="1"/>
          <p:nvPr/>
        </p:nvSpPr>
        <p:spPr>
          <a:xfrm>
            <a:off x="731520" y="1234440"/>
            <a:ext cx="3474720" cy="3291840"/>
          </a:xfrm>
          <a:prstGeom prst="rect">
            <a:avLst/>
          </a:prstGeom>
          <a:noFill/>
        </p:spPr>
        <p:txBody>
          <a:bodyPr wrap="square" lIns="0" rIns="0" tIns="0" bIns="0" anchor="ctr">
            <a:noAutofit/>
          </a:bodyPr>
          <a:lstStyle/>
          <a:p>
            <a:pPr algn="l">
              <a:spcAft>
                <a:spcPts val="800"/>
              </a:spcAft>
            </a:pPr>
            <a:r>
              <a:rPr sz="2200" b="1" lang="en-GB">
                <a:solidFill>
                  <a:schemeClr val="bg1"/>
                </a:solidFill>
                <a:latin typeface="+mj-lt"/>
              </a:rPr>
              <a:t>Customers who saw a retailer's Facebook ad bought about four times as often as those who did not (+316 %).</a:t>
            </a:r>
          </a:p>
        </p:txBody>
      </p:sp>
      <p:sp>
        <p:nvSpPr>
          <p:cNvPr id="12" name="Question 1 tile"/>
          <p:cNvSpPr/>
          <p:nvPr/>
        </p:nvSpPr>
        <p:spPr>
          <a:xfrm>
            <a:off x="4526280" y="1234440"/>
            <a:ext cx="416052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Question 1" descr=""/>
          <p:cNvPicPr>
            <a:picLocks noChangeAspect="1"/>
          </p:cNvPicPr>
          <p:nvPr/>
        </p:nvPicPr>
        <p:blipFill>
          <a:blip r:embed="rId3"/>
          <a:stretch>
            <a:fillRect/>
          </a:stretch>
        </p:blipFill>
        <p:spPr>
          <a:xfrm>
            <a:off x="4709160" y="1554480"/>
            <a:ext cx="365760" cy="365760"/>
          </a:xfrm>
          <a:prstGeom prst="rect">
            <a:avLst/>
          </a:prstGeom>
        </p:spPr>
      </p:pic>
      <p:sp>
        <p:nvSpPr>
          <p:cNvPr id="14" name="Question 1 text"/>
          <p:cNvSpPr txBox="1"/>
          <p:nvPr/>
        </p:nvSpPr>
        <p:spPr>
          <a:xfrm>
            <a:off x="5257800" y="1234440"/>
            <a:ext cx="3291840" cy="1005840"/>
          </a:xfrm>
          <a:prstGeom prst="rect">
            <a:avLst/>
          </a:prstGeom>
          <a:noFill/>
        </p:spPr>
        <p:txBody>
          <a:bodyPr wrap="square" lIns="0" rIns="0" tIns="0" bIns="0" anchor="ctr">
            <a:noAutofit/>
          </a:bodyPr>
          <a:lstStyle/>
          <a:p>
            <a:pPr algn="l">
              <a:spcAft>
                <a:spcPts val="200"/>
              </a:spcAft>
            </a:pPr>
            <a:r>
              <a:rPr sz="1300" b="1" lang="en-GB">
                <a:solidFill>
                  <a:schemeClr val="tx2"/>
                </a:solidFill>
              </a:rPr>
              <a:t>Who decided who saw the ad?</a:t>
            </a:r>
          </a:p>
          <a:p>
            <a:pPr algn="l">
              <a:spcAft>
                <a:spcPts val="200"/>
              </a:spcAft>
            </a:pPr>
            <a:r>
              <a:rPr sz="1300" b="0" lang="en-GB">
                <a:solidFill>
                  <a:schemeClr val="tx1"/>
                </a:solidFill>
              </a:rPr>
              <a:t>Was it a coin flip?</a:t>
            </a:r>
          </a:p>
        </p:txBody>
      </p:sp>
      <p:sp>
        <p:nvSpPr>
          <p:cNvPr id="15" name="Question 2 tile"/>
          <p:cNvSpPr/>
          <p:nvPr/>
        </p:nvSpPr>
        <p:spPr>
          <a:xfrm>
            <a:off x="4526280" y="2377440"/>
            <a:ext cx="416052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Question 2" descr=""/>
          <p:cNvPicPr>
            <a:picLocks noChangeAspect="1"/>
          </p:cNvPicPr>
          <p:nvPr/>
        </p:nvPicPr>
        <p:blipFill>
          <a:blip r:embed="rId4"/>
          <a:stretch>
            <a:fillRect/>
          </a:stretch>
        </p:blipFill>
        <p:spPr>
          <a:xfrm>
            <a:off x="4709160" y="2697480"/>
            <a:ext cx="365760" cy="365760"/>
          </a:xfrm>
          <a:prstGeom prst="rect">
            <a:avLst/>
          </a:prstGeom>
        </p:spPr>
      </p:pic>
      <p:sp>
        <p:nvSpPr>
          <p:cNvPr id="17" name="Question 2 text"/>
          <p:cNvSpPr txBox="1"/>
          <p:nvPr/>
        </p:nvSpPr>
        <p:spPr>
          <a:xfrm>
            <a:off x="5257800" y="2377440"/>
            <a:ext cx="3291840" cy="1005840"/>
          </a:xfrm>
          <a:prstGeom prst="rect">
            <a:avLst/>
          </a:prstGeom>
          <a:noFill/>
        </p:spPr>
        <p:txBody>
          <a:bodyPr wrap="square" lIns="0" rIns="0" tIns="0" bIns="0" anchor="ctr">
            <a:noAutofit/>
          </a:bodyPr>
          <a:lstStyle/>
          <a:p>
            <a:pPr algn="l">
              <a:spcAft>
                <a:spcPts val="200"/>
              </a:spcAft>
            </a:pPr>
            <a:r>
              <a:rPr sz="1300" b="1" lang="en-GB">
                <a:solidFill>
                  <a:schemeClr val="tx2"/>
                </a:solidFill>
              </a:rPr>
              <a:t>Why might viewers buy more anyway?</a:t>
            </a:r>
          </a:p>
          <a:p>
            <a:pPr algn="l">
              <a:spcAft>
                <a:spcPts val="200"/>
              </a:spcAft>
            </a:pPr>
            <a:r>
              <a:rPr sz="1300" b="0" lang="en-GB">
                <a:solidFill>
                  <a:schemeClr val="tx1"/>
                </a:solidFill>
              </a:rPr>
              <a:t>Name one reason that is not the ad.</a:t>
            </a:r>
          </a:p>
        </p:txBody>
      </p:sp>
      <p:sp>
        <p:nvSpPr>
          <p:cNvPr id="18" name="Question 3 tile"/>
          <p:cNvSpPr/>
          <p:nvPr/>
        </p:nvSpPr>
        <p:spPr>
          <a:xfrm>
            <a:off x="4526280" y="3520440"/>
            <a:ext cx="416052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Question 3" descr=""/>
          <p:cNvPicPr>
            <a:picLocks noChangeAspect="1"/>
          </p:cNvPicPr>
          <p:nvPr/>
        </p:nvPicPr>
        <p:blipFill>
          <a:blip r:embed="rId5"/>
          <a:stretch>
            <a:fillRect/>
          </a:stretch>
        </p:blipFill>
        <p:spPr>
          <a:xfrm>
            <a:off x="4709160" y="3840480"/>
            <a:ext cx="365760" cy="365760"/>
          </a:xfrm>
          <a:prstGeom prst="rect">
            <a:avLst/>
          </a:prstGeom>
        </p:spPr>
      </p:pic>
      <p:sp>
        <p:nvSpPr>
          <p:cNvPr id="20" name="Question 3 text"/>
          <p:cNvSpPr txBox="1"/>
          <p:nvPr/>
        </p:nvSpPr>
        <p:spPr>
          <a:xfrm>
            <a:off x="5257800" y="3520440"/>
            <a:ext cx="3291840" cy="1005840"/>
          </a:xfrm>
          <a:prstGeom prst="rect">
            <a:avLst/>
          </a:prstGeom>
          <a:noFill/>
        </p:spPr>
        <p:txBody>
          <a:bodyPr wrap="square" lIns="0" rIns="0" tIns="0" bIns="0" anchor="ctr">
            <a:noAutofit/>
          </a:bodyPr>
          <a:lstStyle/>
          <a:p>
            <a:pPr algn="l">
              <a:spcAft>
                <a:spcPts val="200"/>
              </a:spcAft>
            </a:pPr>
            <a:r>
              <a:rPr sz="1300" b="1" lang="en-GB">
                <a:solidFill>
                  <a:schemeClr val="tx2"/>
                </a:solidFill>
              </a:rPr>
              <a:t>What should we compare instead?</a:t>
            </a:r>
          </a:p>
          <a:p>
            <a:pPr algn="l">
              <a:spcAft>
                <a:spcPts val="200"/>
              </a:spcAft>
            </a:pPr>
            <a:r>
              <a:rPr sz="1300" b="0" lang="en-GB">
                <a:solidFill>
                  <a:schemeClr val="tx1"/>
                </a:solidFill>
              </a:rPr>
              <a:t>Think of two groups that are alike.</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Gordon et al. (2019), Marketing Science, Study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a retention e-mail in two markets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tory band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tory 1" descr=""/>
          <p:cNvPicPr>
            <a:picLocks noChangeAspect="1"/>
          </p:cNvPicPr>
          <p:nvPr/>
        </p:nvPicPr>
        <p:blipFill>
          <a:blip r:embed="rId3"/>
          <a:stretch>
            <a:fillRect/>
          </a:stretch>
        </p:blipFill>
        <p:spPr>
          <a:xfrm>
            <a:off x="621792" y="1335024"/>
            <a:ext cx="310896" cy="310896"/>
          </a:xfrm>
          <a:prstGeom prst="rect">
            <a:avLst/>
          </a:prstGeom>
        </p:spPr>
      </p:pic>
      <p:sp>
        <p:nvSpPr>
          <p:cNvPr id="12" name="Story text 1"/>
          <p:cNvSpPr txBox="1"/>
          <p:nvPr/>
        </p:nvSpPr>
        <p:spPr>
          <a:xfrm>
            <a:off x="1115568" y="1234440"/>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operator: </a:t>
            </a:r>
            <a:r>
              <a:rPr sz="1300" b="0" lang="en-GB">
                <a:solidFill>
                  <a:schemeClr val="tx1"/>
                </a:solidFill>
              </a:rPr>
              <a:t>the mobile operator from the churn session e-mails customers in Germany and Spain about its loyalty offers.</a:t>
            </a:r>
          </a:p>
        </p:txBody>
      </p:sp>
      <p:sp>
        <p:nvSpPr>
          <p:cNvPr id="13" name="Story band 2"/>
          <p:cNvSpPr/>
          <p:nvPr/>
        </p:nvSpPr>
        <p:spPr>
          <a:xfrm>
            <a:off x="457200" y="188366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Story 2" descr=""/>
          <p:cNvPicPr>
            <a:picLocks noChangeAspect="1"/>
          </p:cNvPicPr>
          <p:nvPr/>
        </p:nvPicPr>
        <p:blipFill>
          <a:blip r:embed="rId4"/>
          <a:stretch>
            <a:fillRect/>
          </a:stretch>
        </p:blipFill>
        <p:spPr>
          <a:xfrm>
            <a:off x="621792" y="1984248"/>
            <a:ext cx="310896" cy="310896"/>
          </a:xfrm>
          <a:prstGeom prst="rect">
            <a:avLst/>
          </a:prstGeom>
        </p:spPr>
      </p:pic>
      <p:sp>
        <p:nvSpPr>
          <p:cNvPr id="15" name="Story text 2"/>
          <p:cNvSpPr txBox="1"/>
          <p:nvPr/>
        </p:nvSpPr>
        <p:spPr>
          <a:xfrm>
            <a:off x="1115568" y="1883664"/>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question: </a:t>
            </a:r>
            <a:r>
              <a:rPr sz="1300" b="0" lang="en-GB">
                <a:solidFill>
                  <a:schemeClr val="tx1"/>
                </a:solidFill>
              </a:rPr>
              <a:t>which subject line makes more customers click?</a:t>
            </a:r>
          </a:p>
        </p:txBody>
      </p:sp>
      <p:sp>
        <p:nvSpPr>
          <p:cNvPr id="16" name="E-mail A card"/>
          <p:cNvSpPr/>
          <p:nvPr/>
        </p:nvSpPr>
        <p:spPr>
          <a:xfrm>
            <a:off x="457200" y="2578608"/>
            <a:ext cx="4046220" cy="118872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mail A strip"/>
          <p:cNvSpPr/>
          <p:nvPr/>
        </p:nvSpPr>
        <p:spPr>
          <a:xfrm>
            <a:off x="457200" y="2578608"/>
            <a:ext cx="404622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mail A inbox"/>
          <p:cNvSpPr txBox="1"/>
          <p:nvPr/>
        </p:nvSpPr>
        <p:spPr>
          <a:xfrm>
            <a:off x="566928" y="2578608"/>
            <a:ext cx="3497580" cy="274320"/>
          </a:xfrm>
          <a:prstGeom prst="rect">
            <a:avLst/>
          </a:prstGeom>
          <a:noFill/>
        </p:spPr>
        <p:txBody>
          <a:bodyPr wrap="square" lIns="0" rIns="0" tIns="0" bIns="0" anchor="ctr">
            <a:noAutofit/>
          </a:bodyPr>
          <a:lstStyle/>
          <a:p>
            <a:pPr algn="l">
              <a:spcAft>
                <a:spcPts val="400"/>
              </a:spcAft>
            </a:pPr>
            <a:r>
              <a:rPr sz="1100" b="1" lang="en-GB">
                <a:solidFill>
                  <a:schemeClr val="tx2"/>
                </a:solidFill>
              </a:rPr>
              <a:t>Inbox</a:t>
            </a:r>
          </a:p>
        </p:txBody>
      </p:sp>
      <p:sp>
        <p:nvSpPr>
          <p:cNvPr id="19" name="E-mail A sender"/>
          <p:cNvSpPr txBox="1"/>
          <p:nvPr/>
        </p:nvSpPr>
        <p:spPr>
          <a:xfrm>
            <a:off x="566928" y="2907792"/>
            <a:ext cx="3826764" cy="237744"/>
          </a:xfrm>
          <a:prstGeom prst="rect">
            <a:avLst/>
          </a:prstGeom>
          <a:noFill/>
        </p:spPr>
        <p:txBody>
          <a:bodyPr wrap="square" lIns="0" rIns="0" tIns="0" bIns="0" anchor="t">
            <a:noAutofit/>
          </a:bodyPr>
          <a:lstStyle/>
          <a:p>
            <a:pPr algn="l">
              <a:spcAft>
                <a:spcPts val="400"/>
              </a:spcAft>
            </a:pPr>
            <a:r>
              <a:rPr sz="1100" b="0" lang="en-GB">
                <a:solidFill>
                  <a:srgbClr val="595959"/>
                </a:solidFill>
              </a:rPr>
              <a:t>Loyalty team</a:t>
            </a:r>
          </a:p>
        </p:txBody>
      </p:sp>
      <p:sp>
        <p:nvSpPr>
          <p:cNvPr id="20" name="E-mail A subject"/>
          <p:cNvSpPr txBox="1"/>
          <p:nvPr/>
        </p:nvSpPr>
        <p:spPr>
          <a:xfrm>
            <a:off x="566928" y="3127248"/>
            <a:ext cx="3826764" cy="292608"/>
          </a:xfrm>
          <a:prstGeom prst="rect">
            <a:avLst/>
          </a:prstGeom>
          <a:noFill/>
        </p:spPr>
        <p:txBody>
          <a:bodyPr wrap="square" lIns="0" rIns="0" tIns="0" bIns="0" anchor="t">
            <a:noAutofit/>
          </a:bodyPr>
          <a:lstStyle/>
          <a:p>
            <a:pPr algn="l">
              <a:spcAft>
                <a:spcPts val="400"/>
              </a:spcAft>
            </a:pPr>
            <a:r>
              <a:rPr sz="1200" b="1" lang="en-GB">
                <a:solidFill>
                  <a:schemeClr val="tx2"/>
                </a:solidFill>
              </a:rPr>
              <a:t>Your loyalty offers are here</a:t>
            </a:r>
          </a:p>
        </p:txBody>
      </p:sp>
      <p:sp>
        <p:nvSpPr>
          <p:cNvPr id="21" name="E-mail A line 1"/>
          <p:cNvSpPr/>
          <p:nvPr/>
        </p:nvSpPr>
        <p:spPr>
          <a:xfrm>
            <a:off x="566928" y="3474720"/>
            <a:ext cx="3061411"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mail A line 2"/>
          <p:cNvSpPr/>
          <p:nvPr/>
        </p:nvSpPr>
        <p:spPr>
          <a:xfrm>
            <a:off x="566928" y="3602736"/>
            <a:ext cx="2104720"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mail A badge"/>
          <p:cNvSpPr/>
          <p:nvPr/>
        </p:nvSpPr>
        <p:spPr>
          <a:xfrm>
            <a:off x="4091940" y="246888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A</a:t>
            </a:r>
          </a:p>
        </p:txBody>
      </p:sp>
      <p:sp>
        <p:nvSpPr>
          <p:cNvPr id="24" name="E-mail A caption"/>
          <p:cNvSpPr txBox="1"/>
          <p:nvPr/>
        </p:nvSpPr>
        <p:spPr>
          <a:xfrm>
            <a:off x="457200" y="3794760"/>
            <a:ext cx="404622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A = generic (control)</a:t>
            </a:r>
          </a:p>
        </p:txBody>
      </p:sp>
      <p:sp>
        <p:nvSpPr>
          <p:cNvPr id="25" name="E-mail B card"/>
          <p:cNvSpPr/>
          <p:nvPr/>
        </p:nvSpPr>
        <p:spPr>
          <a:xfrm>
            <a:off x="4640580" y="2578608"/>
            <a:ext cx="4046220" cy="118872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mail B strip"/>
          <p:cNvSpPr/>
          <p:nvPr/>
        </p:nvSpPr>
        <p:spPr>
          <a:xfrm>
            <a:off x="4640580" y="2578608"/>
            <a:ext cx="404622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mail B inbox"/>
          <p:cNvSpPr txBox="1"/>
          <p:nvPr/>
        </p:nvSpPr>
        <p:spPr>
          <a:xfrm>
            <a:off x="4750308" y="2578608"/>
            <a:ext cx="3497580" cy="274320"/>
          </a:xfrm>
          <a:prstGeom prst="rect">
            <a:avLst/>
          </a:prstGeom>
          <a:noFill/>
        </p:spPr>
        <p:txBody>
          <a:bodyPr wrap="square" lIns="0" rIns="0" tIns="0" bIns="0" anchor="ctr">
            <a:noAutofit/>
          </a:bodyPr>
          <a:lstStyle/>
          <a:p>
            <a:pPr algn="l">
              <a:spcAft>
                <a:spcPts val="400"/>
              </a:spcAft>
            </a:pPr>
            <a:r>
              <a:rPr sz="1100" b="1" lang="en-GB">
                <a:solidFill>
                  <a:schemeClr val="tx2"/>
                </a:solidFill>
              </a:rPr>
              <a:t>Inbox</a:t>
            </a:r>
          </a:p>
        </p:txBody>
      </p:sp>
      <p:sp>
        <p:nvSpPr>
          <p:cNvPr id="28" name="E-mail B sender"/>
          <p:cNvSpPr txBox="1"/>
          <p:nvPr/>
        </p:nvSpPr>
        <p:spPr>
          <a:xfrm>
            <a:off x="4750308" y="2907792"/>
            <a:ext cx="3826764" cy="237744"/>
          </a:xfrm>
          <a:prstGeom prst="rect">
            <a:avLst/>
          </a:prstGeom>
          <a:noFill/>
        </p:spPr>
        <p:txBody>
          <a:bodyPr wrap="square" lIns="0" rIns="0" tIns="0" bIns="0" anchor="t">
            <a:noAutofit/>
          </a:bodyPr>
          <a:lstStyle/>
          <a:p>
            <a:pPr algn="l">
              <a:spcAft>
                <a:spcPts val="400"/>
              </a:spcAft>
            </a:pPr>
            <a:r>
              <a:rPr sz="1100" b="0" lang="en-GB">
                <a:solidFill>
                  <a:srgbClr val="595959"/>
                </a:solidFill>
              </a:rPr>
              <a:t>Loyalty team</a:t>
            </a:r>
          </a:p>
        </p:txBody>
      </p:sp>
      <p:sp>
        <p:nvSpPr>
          <p:cNvPr id="29" name="E-mail B subject"/>
          <p:cNvSpPr txBox="1"/>
          <p:nvPr/>
        </p:nvSpPr>
        <p:spPr>
          <a:xfrm>
            <a:off x="4750308" y="3127248"/>
            <a:ext cx="3826764" cy="292608"/>
          </a:xfrm>
          <a:prstGeom prst="rect">
            <a:avLst/>
          </a:prstGeom>
          <a:noFill/>
        </p:spPr>
        <p:txBody>
          <a:bodyPr wrap="square" lIns="0" rIns="0" tIns="0" bIns="0" anchor="t">
            <a:noAutofit/>
          </a:bodyPr>
          <a:lstStyle/>
          <a:p>
            <a:pPr algn="l">
              <a:spcAft>
                <a:spcPts val="400"/>
              </a:spcAft>
            </a:pPr>
            <a:r>
              <a:rPr sz="1200" b="1" lang="en-GB">
                <a:solidFill>
                  <a:schemeClr val="accent1"/>
                </a:solidFill>
              </a:rPr>
              <a:t>Anna,</a:t>
            </a:r>
            <a:r>
              <a:rPr sz="1200" b="1" lang="en-GB">
                <a:solidFill>
                  <a:schemeClr val="tx2"/>
                </a:solidFill>
              </a:rPr>
              <a:t> your loyalty offers are here</a:t>
            </a:r>
          </a:p>
        </p:txBody>
      </p:sp>
      <p:sp>
        <p:nvSpPr>
          <p:cNvPr id="30" name="E-mail B line 1"/>
          <p:cNvSpPr/>
          <p:nvPr/>
        </p:nvSpPr>
        <p:spPr>
          <a:xfrm>
            <a:off x="4750308" y="3474720"/>
            <a:ext cx="3061411"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mail B line 2"/>
          <p:cNvSpPr/>
          <p:nvPr/>
        </p:nvSpPr>
        <p:spPr>
          <a:xfrm>
            <a:off x="4750308" y="3602736"/>
            <a:ext cx="2104720"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E-mail B badge"/>
          <p:cNvSpPr/>
          <p:nvPr/>
        </p:nvSpPr>
        <p:spPr>
          <a:xfrm>
            <a:off x="8275320" y="246888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B</a:t>
            </a:r>
          </a:p>
        </p:txBody>
      </p:sp>
      <p:sp>
        <p:nvSpPr>
          <p:cNvPr id="33" name="E-mail B caption"/>
          <p:cNvSpPr txBox="1"/>
          <p:nvPr/>
        </p:nvSpPr>
        <p:spPr>
          <a:xfrm>
            <a:off x="4640580" y="3794760"/>
            <a:ext cx="404622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B = with the first name (variant)</a:t>
            </a:r>
          </a:p>
        </p:txBody>
      </p:sp>
      <p:sp>
        <p:nvSpPr>
          <p:cNvPr id="34" name="Two tests box"/>
          <p:cNvSpPr/>
          <p:nvPr/>
        </p:nvSpPr>
        <p:spPr>
          <a:xfrm>
            <a:off x="457200" y="41605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Two tests" descr=""/>
          <p:cNvPicPr>
            <a:picLocks noChangeAspect="1"/>
          </p:cNvPicPr>
          <p:nvPr/>
        </p:nvPicPr>
        <p:blipFill>
          <a:blip r:embed="rId5"/>
          <a:stretch>
            <a:fillRect/>
          </a:stretch>
        </p:blipFill>
        <p:spPr>
          <a:xfrm>
            <a:off x="658368" y="4229100"/>
            <a:ext cx="365760" cy="365760"/>
          </a:xfrm>
          <a:prstGeom prst="rect">
            <a:avLst/>
          </a:prstGeom>
        </p:spPr>
      </p:pic>
      <p:sp>
        <p:nvSpPr>
          <p:cNvPr id="36" name="Two tests text"/>
          <p:cNvSpPr txBox="1"/>
          <p:nvPr/>
        </p:nvSpPr>
        <p:spPr>
          <a:xfrm>
            <a:off x="1207008" y="4160520"/>
            <a:ext cx="7315200" cy="502920"/>
          </a:xfrm>
          <a:prstGeom prst="rect">
            <a:avLst/>
          </a:prstGeom>
          <a:noFill/>
        </p:spPr>
        <p:txBody>
          <a:bodyPr wrap="square" lIns="0" rIns="0" tIns="0" bIns="0" anchor="ctr">
            <a:noAutofit/>
          </a:bodyPr>
          <a:lstStyle/>
          <a:p>
            <a:pPr algn="l">
              <a:spcAft>
                <a:spcPts val="400"/>
              </a:spcAft>
            </a:pPr>
            <a:r>
              <a:rPr sz="1300" b="1" lang="en-GB">
                <a:solidFill>
                  <a:schemeClr val="bg1"/>
                </a:solidFill>
              </a:rPr>
              <a:t>Two tests: </a:t>
            </a:r>
            <a:r>
              <a:rPr sz="1300" b="0" lang="en-GB">
                <a:solidFill>
                  <a:schemeClr val="bg1"/>
                </a:solidFill>
              </a:rPr>
              <a:t>A versus B on 40,000 customers, then a 2 × 2 test of first name × discount on 40,000 more.</a:t>
            </a:r>
          </a:p>
        </p:txBody>
      </p:sp>
      <p:sp>
        <p:nvSpPr>
          <p:cNvPr id="3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 email_factorial.csv), built for this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ata table"/>
          <p:cNvGraphicFramePr>
            <a:graphicFrameLocks noGrp="1"/>
          </p:cNvGraphicFramePr>
          <p:nvPr>
            <p:ph type="tbl" idx="1"/>
          </p:nvPr>
        </p:nvGraphicFramePr>
        <p:xfrm>
          <a:off x="457200" y="1234440"/>
          <a:ext cx="8229600" cy="2551176"/>
        </p:xfrm>
        <a:graphic>
          <a:graphicData uri="http://schemas.openxmlformats.org/drawingml/2006/table">
            <a:tbl>
              <a:tblPr firstRow="1" bandRow="1">
                <a:tableStyleId>{5C22544A-7EE6-4342-B048-85BDC9FD1C3A}</a:tableStyleId>
              </a:tblPr>
              <a:tblGrid>
                <a:gridCol w="1463040"/>
                <a:gridCol w="3566160"/>
                <a:gridCol w="1280160"/>
                <a:gridCol w="1920240"/>
              </a:tblGrid>
              <a:tr h="283464">
                <a:tc>
                  <a:txBody>
                    <a:bodyPr/>
                    <a:lstStyle/>
                    <a:p>
                      <a:r>
                        <a:rPr sz="1200" lang="en-GB"/>
                        <a:t>Column</a:t>
                      </a:r>
                    </a:p>
                  </a:txBody>
                  <a:tcPr marT="22000" marB="22000"/>
                </a:tc>
                <a:tc>
                  <a:txBody>
                    <a:bodyPr/>
                    <a:lstStyle/>
                    <a:p>
                      <a:r>
                        <a:rPr sz="1200" lang="en-GB"/>
                        <a:t>Meaning</a:t>
                      </a:r>
                    </a:p>
                  </a:txBody>
                  <a:tcPr marT="22000" marB="22000"/>
                </a:tc>
                <a:tc>
                  <a:txBody>
                    <a:bodyPr/>
                    <a:lstStyle/>
                    <a:p>
                      <a:pPr algn="r"/>
                      <a:r>
                        <a:rPr sz="1200" lang="en-GB"/>
                        <a:t>email_ab.csv</a:t>
                      </a:r>
                    </a:p>
                  </a:txBody>
                  <a:tcPr marT="22000" marB="22000"/>
                </a:tc>
                <a:tc>
                  <a:txBody>
                    <a:bodyPr/>
                    <a:lstStyle/>
                    <a:p>
                      <a:pPr algn="r"/>
                      <a:r>
                        <a:rPr sz="1200" lang="en-GB"/>
                        <a:t>email_factorial.csv</a:t>
                      </a:r>
                    </a:p>
                  </a:txBody>
                  <a:tcPr marT="22000" marB="22000"/>
                </a:tc>
              </a:tr>
              <a:tr h="283464">
                <a:tc>
                  <a:txBody>
                    <a:bodyPr/>
                    <a:lstStyle/>
                    <a:p>
                      <a:r>
                        <a:rPr sz="1150" b="1" lang="en-GB"/>
                        <a:t>customer_id</a:t>
                      </a:r>
                    </a:p>
                  </a:txBody>
                  <a:tcPr marT="22000" marB="22000"/>
                </a:tc>
                <a:tc>
                  <a:txBody>
                    <a:bodyPr/>
                    <a:lstStyle/>
                    <a:p>
                      <a:r>
                        <a:rPr sz="1150" lang="en-GB"/>
                        <a:t>customer number</a:t>
                      </a:r>
                    </a:p>
                  </a:txBody>
                  <a:tcPr marT="22000" marB="22000"/>
                </a:tc>
                <a:tc>
                  <a:txBody>
                    <a:bodyPr/>
                    <a:lstStyle/>
                    <a:p>
                      <a:pPr algn="r"/>
                      <a:r>
                        <a:rPr sz="1150" lang="en-GB"/>
                        <a:t>8</a:t>
                      </a:r>
                    </a:p>
                  </a:txBody>
                  <a:tcPr marT="22000" marB="22000"/>
                </a:tc>
                <a:tc>
                  <a:txBody>
                    <a:bodyPr/>
                    <a:lstStyle/>
                    <a:p>
                      <a:pPr algn="r"/>
                      <a:r>
                        <a:rPr sz="1150" lang="en-GB"/>
                        <a:t>100044</a:t>
                      </a:r>
                    </a:p>
                  </a:txBody>
                  <a:tcPr marT="22000" marB="22000"/>
                </a:tc>
              </a:tr>
              <a:tr h="283464">
                <a:tc>
                  <a:txBody>
                    <a:bodyPr/>
                    <a:lstStyle/>
                    <a:p>
                      <a:r>
                        <a:rPr sz="1150" b="1" lang="en-GB"/>
                        <a:t>country</a:t>
                      </a:r>
                    </a:p>
                  </a:txBody>
                  <a:tcPr marT="22000" marB="22000"/>
                </a:tc>
                <a:tc>
                  <a:txBody>
                    <a:bodyPr/>
                    <a:lstStyle/>
                    <a:p>
                      <a:r>
                        <a:rPr sz="1150" lang="en-GB"/>
                        <a:t>DE or ES</a:t>
                      </a:r>
                    </a:p>
                  </a:txBody>
                  <a:tcPr marT="22000" marB="22000"/>
                </a:tc>
                <a:tc>
                  <a:txBody>
                    <a:bodyPr/>
                    <a:lstStyle/>
                    <a:p>
                      <a:pPr algn="r"/>
                      <a:r>
                        <a:rPr sz="1150" lang="en-GB"/>
                        <a:t>DE</a:t>
                      </a:r>
                    </a:p>
                  </a:txBody>
                  <a:tcPr marT="22000" marB="22000"/>
                </a:tc>
                <a:tc>
                  <a:txBody>
                    <a:bodyPr/>
                    <a:lstStyle/>
                    <a:p>
                      <a:pPr algn="r"/>
                      <a:r>
                        <a:rPr sz="1150" lang="en-GB"/>
                        <a:t>DE</a:t>
                      </a:r>
                    </a:p>
                  </a:txBody>
                  <a:tcPr marT="22000" marB="22000"/>
                </a:tc>
              </a:tr>
              <a:tr h="283464">
                <a:tc>
                  <a:txBody>
                    <a:bodyPr/>
                    <a:lstStyle/>
                    <a:p>
                      <a:r>
                        <a:rPr sz="1150" b="1" lang="en-GB"/>
                        <a:t>device</a:t>
                      </a:r>
                    </a:p>
                  </a:txBody>
                  <a:tcPr marT="22000" marB="22000"/>
                </a:tc>
                <a:tc>
                  <a:txBody>
                    <a:bodyPr/>
                    <a:lstStyle/>
                    <a:p>
                      <a:r>
                        <a:rPr sz="1150" lang="en-GB"/>
                        <a:t>mobile or desktop: where the e-mail was read</a:t>
                      </a:r>
                    </a:p>
                  </a:txBody>
                  <a:tcPr marT="22000" marB="22000"/>
                </a:tc>
                <a:tc>
                  <a:txBody>
                    <a:bodyPr/>
                    <a:lstStyle/>
                    <a:p>
                      <a:pPr algn="r"/>
                      <a:r>
                        <a:rPr sz="1150" lang="en-GB"/>
                        <a:t>mobile</a:t>
                      </a:r>
                    </a:p>
                  </a:txBody>
                  <a:tcPr marT="22000" marB="22000"/>
                </a:tc>
                <a:tc>
                  <a:txBody>
                    <a:bodyPr/>
                    <a:lstStyle/>
                    <a:p>
                      <a:pPr algn="r"/>
                      <a:r>
                        <a:rPr sz="1150" lang="en-GB"/>
                        <a:t>mobile</a:t>
                      </a:r>
                    </a:p>
                  </a:txBody>
                  <a:tcPr marT="22000" marB="22000"/>
                </a:tc>
              </a:tr>
              <a:tr h="283464">
                <a:tc>
                  <a:txBody>
                    <a:bodyPr/>
                    <a:lstStyle/>
                    <a:p>
                      <a:r>
                        <a:rPr sz="1150" b="1" lang="en-GB"/>
                        <a:t>version</a:t>
                      </a:r>
                    </a:p>
                  </a:txBody>
                  <a:tcPr marT="22000" marB="22000"/>
                </a:tc>
                <a:tc>
                  <a:txBody>
                    <a:bodyPr/>
                    <a:lstStyle/>
                    <a:p>
                      <a:r>
                        <a:rPr sz="1150" lang="en-GB"/>
                        <a:t>A = generic, B = first name; A/B test only</a:t>
                      </a:r>
                    </a:p>
                  </a:txBody>
                  <a:tcPr marT="22000" marB="22000"/>
                </a:tc>
                <a:tc>
                  <a:txBody>
                    <a:bodyPr/>
                    <a:lstStyle/>
                    <a:p>
                      <a:pPr algn="r"/>
                      <a:r>
                        <a:rPr sz="1150" lang="en-GB"/>
                        <a:t>A</a:t>
                      </a:r>
                    </a:p>
                  </a:txBody>
                  <a:tcPr marT="22000" marB="22000"/>
                </a:tc>
                <a:tc>
                  <a:txBody>
                    <a:bodyPr/>
                    <a:lstStyle/>
                    <a:p>
                      <a:pPr algn="r"/>
                      <a:r>
                        <a:rPr sz="1150" lang="en-GB"/>
                        <a:t>–</a:t>
                      </a:r>
                    </a:p>
                  </a:txBody>
                  <a:tcPr marT="22000" marB="22000"/>
                </a:tc>
              </a:tr>
              <a:tr h="283464">
                <a:tc>
                  <a:txBody>
                    <a:bodyPr/>
                    <a:lstStyle/>
                    <a:p>
                      <a:r>
                        <a:rPr sz="1150" b="1" lang="en-GB"/>
                        <a:t>personal</a:t>
                      </a:r>
                    </a:p>
                  </a:txBody>
                  <a:tcPr marT="22000" marB="22000"/>
                </a:tc>
                <a:tc>
                  <a:txBody>
                    <a:bodyPr/>
                    <a:lstStyle/>
                    <a:p>
                      <a:r>
                        <a:rPr sz="1150" lang="en-GB"/>
                        <a:t>1 = first name in the subject line; 2 × 2 only</a:t>
                      </a:r>
                    </a:p>
                  </a:txBody>
                  <a:tcPr marT="22000" marB="22000"/>
                </a:tc>
                <a:tc>
                  <a:txBody>
                    <a:bodyPr/>
                    <a:lstStyle/>
                    <a:p>
                      <a:pPr algn="r"/>
                      <a:r>
                        <a:rPr sz="1150" lang="en-GB"/>
                        <a:t>–</a:t>
                      </a:r>
                    </a:p>
                  </a:txBody>
                  <a:tcPr marT="22000" marB="22000"/>
                </a:tc>
                <a:tc>
                  <a:txBody>
                    <a:bodyPr/>
                    <a:lstStyle/>
                    <a:p>
                      <a:pPr algn="r"/>
                      <a:r>
                        <a:rPr sz="1150" lang="en-GB"/>
                        <a:t>1</a:t>
                      </a:r>
                    </a:p>
                  </a:txBody>
                  <a:tcPr marT="22000" marB="22000"/>
                </a:tc>
              </a:tr>
              <a:tr h="283464">
                <a:tc>
                  <a:txBody>
                    <a:bodyPr/>
                    <a:lstStyle/>
                    <a:p>
                      <a:r>
                        <a:rPr sz="1150" b="1" lang="en-GB"/>
                        <a:t>discount</a:t>
                      </a:r>
                    </a:p>
                  </a:txBody>
                  <a:tcPr marT="22000" marB="22000"/>
                </a:tc>
                <a:tc>
                  <a:txBody>
                    <a:bodyPr/>
                    <a:lstStyle/>
                    <a:p>
                      <a:r>
                        <a:rPr sz="1150" lang="en-GB"/>
                        <a:t>1 = 10 % off the next bill; 2 × 2 only</a:t>
                      </a:r>
                    </a:p>
                  </a:txBody>
                  <a:tcPr marT="22000" marB="22000"/>
                </a:tc>
                <a:tc>
                  <a:txBody>
                    <a:bodyPr/>
                    <a:lstStyle/>
                    <a:p>
                      <a:pPr algn="r"/>
                      <a:r>
                        <a:rPr sz="1150" lang="en-GB"/>
                        <a:t>–</a:t>
                      </a:r>
                    </a:p>
                  </a:txBody>
                  <a:tcPr marT="22000" marB="22000"/>
                </a:tc>
                <a:tc>
                  <a:txBody>
                    <a:bodyPr/>
                    <a:lstStyle/>
                    <a:p>
                      <a:pPr algn="r"/>
                      <a:r>
                        <a:rPr sz="1150" lang="en-GB"/>
                        <a:t>1</a:t>
                      </a:r>
                    </a:p>
                  </a:txBody>
                  <a:tcPr marT="22000" marB="22000"/>
                </a:tc>
              </a:tr>
              <a:tr h="283464">
                <a:tc>
                  <a:txBody>
                    <a:bodyPr/>
                    <a:lstStyle/>
                    <a:p>
                      <a:r>
                        <a:rPr sz="1150" b="1" lang="en-GB"/>
                        <a:t>clicked</a:t>
                      </a:r>
                    </a:p>
                  </a:txBody>
                  <a:tcPr marT="22000" marB="22000"/>
                </a:tc>
                <a:tc>
                  <a:txBody>
                    <a:bodyPr/>
                    <a:lstStyle/>
                    <a:p>
                      <a:r>
                        <a:rPr sz="1150" lang="en-GB"/>
                        <a:t>1 = clicked the link: the outcome</a:t>
                      </a:r>
                    </a:p>
                  </a:txBody>
                  <a:tcPr marT="22000" marB="22000"/>
                </a:tc>
                <a:tc>
                  <a:txBody>
                    <a:bodyPr/>
                    <a:lstStyle/>
                    <a:p>
                      <a:pPr algn="r"/>
                      <a:r>
                        <a:rPr sz="1150" lang="en-GB"/>
                        <a:t>1</a:t>
                      </a:r>
                    </a:p>
                  </a:txBody>
                  <a:tcPr marT="22000" marB="22000"/>
                </a:tc>
                <a:tc>
                  <a:txBody>
                    <a:bodyPr/>
                    <a:lstStyle/>
                    <a:p>
                      <a:pPr algn="r"/>
                      <a:r>
                        <a:rPr sz="1150" lang="en-GB"/>
                        <a:t>1</a:t>
                      </a:r>
                    </a:p>
                  </a:txBody>
                  <a:tcPr marT="22000" marB="22000"/>
                </a:tc>
              </a:tr>
              <a:tr h="283464">
                <a:tc>
                  <a:txBody>
                    <a:bodyPr/>
                    <a:lstStyle/>
                    <a:p>
                      <a:r>
                        <a:rPr sz="1150" b="1" lang="en-GB"/>
                        <a:t>unsubscribed</a:t>
                      </a:r>
                    </a:p>
                  </a:txBody>
                  <a:tcPr marT="22000" marB="22000"/>
                </a:tc>
                <a:tc>
                  <a:txBody>
                    <a:bodyPr/>
                    <a:lstStyle/>
                    <a:p>
                      <a:r>
                        <a:rPr sz="1150" lang="en-GB"/>
                        <a:t>1 = left the mailing list</a:t>
                      </a:r>
                    </a:p>
                  </a:txBody>
                  <a:tcPr marT="22000" marB="22000"/>
                </a:tc>
                <a:tc>
                  <a:txBody>
                    <a:bodyPr/>
                    <a:lstStyle/>
                    <a:p>
                      <a:pPr algn="r"/>
                      <a:r>
                        <a:rPr sz="1150" lang="en-GB"/>
                        <a:t>0</a:t>
                      </a:r>
                    </a:p>
                  </a:txBody>
                  <a:tcPr marT="22000" marB="22000"/>
                </a:tc>
                <a:tc>
                  <a:txBody>
                    <a:bodyPr/>
                    <a:lstStyle/>
                    <a:p>
                      <a:pPr algn="r"/>
                      <a:r>
                        <a:rPr sz="1150" lang="en-GB"/>
                        <a:t>0</a:t>
                      </a:r>
                    </a:p>
                  </a:txBody>
                  <a:tcPr marT="22000" marB="22000"/>
                </a:tc>
              </a:tr>
            </a:tbl>
          </a:graphicData>
        </a:graphic>
      </p:graphicFrame>
      <p:sp>
        <p:nvSpPr>
          <p:cNvPr id="3" name="Title 2"/>
          <p:cNvSpPr>
            <a:spLocks noGrp="1"/>
          </p:cNvSpPr>
          <p:nvPr>
            <p:ph type="title"/>
          </p:nvPr>
        </p:nvSpPr>
        <p:spPr/>
        <p:txBody>
          <a:bodyPr/>
          <a:lstStyle/>
          <a:p>
            <a:r>
              <a:rPr sz="1600" lang="en-GB"/>
              <a:t>The data: one row per customer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files"/>
          <p:cNvSpPr txBox="1"/>
          <p:nvPr/>
        </p:nvSpPr>
        <p:spPr>
          <a:xfrm>
            <a:off x="457200" y="4114800"/>
            <a:ext cx="8229600"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Files: </a:t>
            </a:r>
            <a:r>
              <a:rPr sz="1200" b="0" lang="en-GB">
                <a:solidFill>
                  <a:schemeClr val="tx2"/>
                </a:solidFill>
                <a:latin typeface="Consolas"/>
              </a:rPr>
              <a:t>data/abtest/email_ab.csv</a:t>
            </a:r>
            <a:r>
              <a:rPr sz="1200" b="0" lang="en-GB">
                <a:solidFill>
                  <a:schemeClr val="tx2"/>
                </a:solidFill>
              </a:rPr>
              <a:t>, </a:t>
            </a:r>
            <a:r>
              <a:rPr sz="1200" b="0" lang="en-GB">
                <a:solidFill>
                  <a:schemeClr val="tx2"/>
                </a:solidFill>
                <a:latin typeface="Consolas"/>
              </a:rPr>
              <a:t>email_factorial.csv</a:t>
            </a:r>
            <a:r>
              <a:rPr sz="1100" b="0" lang="en-GB">
                <a:solidFill>
                  <a:srgbClr val="595959"/>
                </a:solidFill>
              </a:rPr>
              <a:t>   simulated, 40,000 customers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First look: click rates of e-mail A and B</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0_first_look.png" descr="Click rate by e-mail: A (generic) 3.33 %, 665 of 20,000; B (first name) 3.93 %, 785 of 20,000."/>
          <p:cNvPicPr>
            <a:picLocks noChangeAspect="1"/>
          </p:cNvPicPr>
          <p:nvPr/>
        </p:nvPicPr>
        <p:blipFill>
          <a:blip r:embed="rId3"/>
          <a:stretch>
            <a:fillRect/>
          </a:stretch>
        </p:blipFill>
        <p:spPr>
          <a:xfrm>
            <a:off x="457200" y="1234440"/>
            <a:ext cx="4114800" cy="2834640"/>
          </a:xfrm>
          <a:prstGeom prst="rect">
            <a:avLst/>
          </a:prstGeom>
        </p:spPr>
      </p:pic>
      <p:sp>
        <p:nvSpPr>
          <p:cNvPr id="11" name="First look 1 box"/>
          <p:cNvSpPr/>
          <p:nvPr/>
        </p:nvSpPr>
        <p:spPr>
          <a:xfrm>
            <a:off x="4709160" y="1234440"/>
            <a:ext cx="3977640" cy="13487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rst look 1 bar"/>
          <p:cNvSpPr/>
          <p:nvPr/>
        </p:nvSpPr>
        <p:spPr>
          <a:xfrm>
            <a:off x="4709160" y="1234440"/>
            <a:ext cx="64008" cy="13487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irst look 1 figure"/>
          <p:cNvSpPr txBox="1"/>
          <p:nvPr/>
        </p:nvSpPr>
        <p:spPr>
          <a:xfrm>
            <a:off x="4892040" y="1234440"/>
            <a:ext cx="1874520" cy="13487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+0.60 pp</a:t>
            </a:r>
          </a:p>
        </p:txBody>
      </p:sp>
      <p:sp>
        <p:nvSpPr>
          <p:cNvPr id="14" name="First look 1 label"/>
          <p:cNvSpPr txBox="1"/>
          <p:nvPr/>
        </p:nvSpPr>
        <p:spPr>
          <a:xfrm>
            <a:off x="6858000" y="1234440"/>
            <a:ext cx="1737360" cy="1348740"/>
          </a:xfrm>
          <a:prstGeom prst="rect">
            <a:avLst/>
          </a:prstGeom>
          <a:noFill/>
        </p:spPr>
        <p:txBody>
          <a:bodyPr wrap="square" lIns="0" rIns="0" tIns="0" bIns="0" anchor="ctr">
            <a:noAutofit/>
          </a:bodyPr>
          <a:lstStyle/>
          <a:p>
            <a:pPr algn="l">
              <a:spcAft>
                <a:spcPts val="200"/>
              </a:spcAft>
            </a:pPr>
            <a:r>
              <a:rPr sz="1250" b="1" lang="en-GB">
                <a:solidFill>
                  <a:schemeClr val="tx2"/>
                </a:solidFill>
              </a:rPr>
              <a:t>percentage points:</a:t>
            </a:r>
          </a:p>
          <a:p>
            <a:pPr algn="l">
              <a:spcAft>
                <a:spcPts val="200"/>
              </a:spcAft>
            </a:pPr>
            <a:r>
              <a:rPr sz="1250" b="0" lang="en-GB">
                <a:solidFill>
                  <a:schemeClr val="tx1"/>
                </a:solidFill>
              </a:rPr>
              <a:t>3.93 % − 3.33 %</a:t>
            </a:r>
          </a:p>
        </p:txBody>
      </p:sp>
      <p:sp>
        <p:nvSpPr>
          <p:cNvPr id="15" name="First look 2 box"/>
          <p:cNvSpPr/>
          <p:nvPr/>
        </p:nvSpPr>
        <p:spPr>
          <a:xfrm>
            <a:off x="4709160" y="2720340"/>
            <a:ext cx="3977640" cy="13487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irst look 2 bar"/>
          <p:cNvSpPr/>
          <p:nvPr/>
        </p:nvSpPr>
        <p:spPr>
          <a:xfrm>
            <a:off x="4709160" y="2720340"/>
            <a:ext cx="64008" cy="13487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irst look 2 figure"/>
          <p:cNvSpPr txBox="1"/>
          <p:nvPr/>
        </p:nvSpPr>
        <p:spPr>
          <a:xfrm>
            <a:off x="4892040" y="2720340"/>
            <a:ext cx="1874520" cy="13487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+18 %</a:t>
            </a:r>
          </a:p>
        </p:txBody>
      </p:sp>
      <p:sp>
        <p:nvSpPr>
          <p:cNvPr id="18" name="First look 2 label"/>
          <p:cNvSpPr txBox="1"/>
          <p:nvPr/>
        </p:nvSpPr>
        <p:spPr>
          <a:xfrm>
            <a:off x="6858000" y="2720340"/>
            <a:ext cx="1737360" cy="1348740"/>
          </a:xfrm>
          <a:prstGeom prst="rect">
            <a:avLst/>
          </a:prstGeom>
          <a:noFill/>
        </p:spPr>
        <p:txBody>
          <a:bodyPr wrap="square" lIns="0" rIns="0" tIns="0" bIns="0" anchor="ctr">
            <a:noAutofit/>
          </a:bodyPr>
          <a:lstStyle/>
          <a:p>
            <a:pPr algn="l">
              <a:spcAft>
                <a:spcPts val="200"/>
              </a:spcAft>
            </a:pPr>
            <a:r>
              <a:rPr sz="1250" b="1" lang="en-GB">
                <a:solidFill>
                  <a:schemeClr val="tx2"/>
                </a:solidFill>
              </a:rPr>
              <a:t>relative lift:</a:t>
            </a:r>
          </a:p>
          <a:p>
            <a:pPr algn="l">
              <a:spcAft>
                <a:spcPts val="200"/>
              </a:spcAft>
            </a:pPr>
            <a:r>
              <a:rPr sz="1250" b="0" lang="en-GB">
                <a:solidFill>
                  <a:schemeClr val="tx1"/>
                </a:solidFill>
              </a:rPr>
              <a:t>0.60 / 3.33</a:t>
            </a:r>
          </a:p>
        </p:txBody>
      </p:sp>
      <p:sp>
        <p:nvSpPr>
          <p:cNvPr id="19" name="First look message box"/>
          <p:cNvSpPr/>
          <p:nvPr/>
        </p:nvSpPr>
        <p:spPr>
          <a:xfrm>
            <a:off x="457200" y="42062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irst look message text"/>
          <p:cNvSpPr txBox="1"/>
          <p:nvPr/>
        </p:nvSpPr>
        <p:spPr>
          <a:xfrm>
            <a:off x="658368" y="4206240"/>
            <a:ext cx="7827264" cy="548640"/>
          </a:xfrm>
          <a:prstGeom prst="rect">
            <a:avLst/>
          </a:prstGeom>
          <a:noFill/>
        </p:spPr>
        <p:txBody>
          <a:bodyPr wrap="square" lIns="0" rIns="0" tIns="0" bIns="0" anchor="ctr">
            <a:noAutofit/>
          </a:bodyPr>
          <a:lstStyle/>
          <a:p>
            <a:pPr algn="l">
              <a:spcAft>
                <a:spcPts val="400"/>
              </a:spcAft>
            </a:pPr>
            <a:r>
              <a:rPr sz="1250" b="1" lang="en-GB">
                <a:solidFill>
                  <a:schemeClr val="bg1"/>
                </a:solidFill>
              </a:rPr>
              <a:t>Two questions for today: </a:t>
            </a:r>
            <a:r>
              <a:rPr sz="1250" b="0" lang="en-GB">
                <a:solidFill>
                  <a:schemeClr val="bg1"/>
                </a:solidFill>
              </a:rPr>
              <a:t>did the name cause the gap, and is it more than chance?</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5 · cause, counterfactual, coin flip</a:t>
            </a:r>
          </a:p>
        </p:txBody>
      </p:sp>
      <p:sp>
        <p:nvSpPr>
          <p:cNvPr id="3" name="Title 2"/>
          <p:cNvSpPr>
            <a:spLocks noGrp="1"/>
          </p:cNvSpPr>
          <p:nvPr>
            <p:ph type="ctrTitle"/>
          </p:nvPr>
        </p:nvSpPr>
        <p:spPr/>
        <p:txBody>
          <a:bodyPr/>
          <a:lstStyle/>
          <a:p>
            <a:r>
              <a:rPr lang="en-GB"/>
              <a:t>Why experiments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is not causation: three traps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ap 1 body"/>
          <p:cNvSpPr/>
          <p:nvPr/>
        </p:nvSpPr>
        <p:spPr>
          <a:xfrm>
            <a:off x="457200" y="1618488"/>
            <a:ext cx="2651760" cy="22677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rap 1 header"/>
          <p:cNvSpPr/>
          <p:nvPr/>
        </p:nvSpPr>
        <p:spPr>
          <a:xfrm>
            <a:off x="457200" y="1234440"/>
            <a:ext cx="265176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rap 1 heading"/>
          <p:cNvSpPr txBox="1"/>
          <p:nvPr/>
        </p:nvSpPr>
        <p:spPr>
          <a:xfrm>
            <a:off x="594360" y="1234440"/>
            <a:ext cx="2377440" cy="384048"/>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Confounder</a:t>
            </a:r>
          </a:p>
        </p:txBody>
      </p:sp>
      <p:sp>
        <p:nvSpPr>
          <p:cNvPr id="13" name="Trap 1 node 1 box"/>
          <p:cNvSpPr/>
          <p:nvPr/>
        </p:nvSpPr>
        <p:spPr>
          <a:xfrm>
            <a:off x="914400" y="1783080"/>
            <a:ext cx="1737360" cy="45720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rap 1 node 1 text"/>
          <p:cNvSpPr txBox="1"/>
          <p:nvPr/>
        </p:nvSpPr>
        <p:spPr>
          <a:xfrm>
            <a:off x="950976" y="1783080"/>
            <a:ext cx="1664208" cy="457200"/>
          </a:xfrm>
          <a:prstGeom prst="rect">
            <a:avLst/>
          </a:prstGeom>
          <a:noFill/>
        </p:spPr>
        <p:txBody>
          <a:bodyPr wrap="square" lIns="0" rIns="0" tIns="0" bIns="0" anchor="ctr">
            <a:noAutofit/>
          </a:bodyPr>
          <a:lstStyle/>
          <a:p>
            <a:pPr algn="ctr">
              <a:spcAft>
                <a:spcPts val="0"/>
              </a:spcAft>
            </a:pPr>
            <a:r>
              <a:rPr sz="1100" b="1" lang="en-GB">
                <a:solidFill>
                  <a:schemeClr val="tx2"/>
                </a:solidFill>
              </a:rPr>
              <a:t>Active customer</a:t>
            </a:r>
          </a:p>
        </p:txBody>
      </p:sp>
      <p:sp>
        <p:nvSpPr>
          <p:cNvPr id="15" name="Trap 1 node 2 box"/>
          <p:cNvSpPr/>
          <p:nvPr/>
        </p:nvSpPr>
        <p:spPr>
          <a:xfrm>
            <a:off x="548640" y="2697480"/>
            <a:ext cx="1024128" cy="54864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rap 1 node 2 text"/>
          <p:cNvSpPr txBox="1"/>
          <p:nvPr/>
        </p:nvSpPr>
        <p:spPr>
          <a:xfrm>
            <a:off x="585216" y="2697480"/>
            <a:ext cx="950976" cy="548640"/>
          </a:xfrm>
          <a:prstGeom prst="rect">
            <a:avLst/>
          </a:prstGeom>
          <a:noFill/>
        </p:spPr>
        <p:txBody>
          <a:bodyPr wrap="square" lIns="0" rIns="0" tIns="0" bIns="0" anchor="ctr">
            <a:noAutofit/>
          </a:bodyPr>
          <a:lstStyle/>
          <a:p>
            <a:pPr algn="ctr">
              <a:spcAft>
                <a:spcPts val="0"/>
              </a:spcAft>
            </a:pPr>
            <a:r>
              <a:rPr sz="1100" b="1" lang="en-GB">
                <a:solidFill>
                  <a:schemeClr val="tx2"/>
                </a:solidFill>
              </a:rPr>
              <a:t>Opens</a:t>
            </a:r>
          </a:p>
          <a:p>
            <a:pPr algn="ctr">
              <a:spcAft>
                <a:spcPts val="0"/>
              </a:spcAft>
            </a:pPr>
            <a:r>
              <a:rPr sz="1100" b="1" lang="en-GB">
                <a:solidFill>
                  <a:schemeClr val="tx2"/>
                </a:solidFill>
              </a:rPr>
              <a:t>many</a:t>
            </a:r>
          </a:p>
          <a:p>
            <a:pPr algn="ctr">
              <a:spcAft>
                <a:spcPts val="0"/>
              </a:spcAft>
            </a:pPr>
            <a:r>
              <a:rPr sz="1100" b="1" lang="en-GB">
                <a:solidFill>
                  <a:schemeClr val="tx2"/>
                </a:solidFill>
              </a:rPr>
              <a:t>e-mails</a:t>
            </a:r>
          </a:p>
        </p:txBody>
      </p:sp>
      <p:sp>
        <p:nvSpPr>
          <p:cNvPr id="17" name="Trap 1 node 3 box"/>
          <p:cNvSpPr/>
          <p:nvPr/>
        </p:nvSpPr>
        <p:spPr>
          <a:xfrm>
            <a:off x="1993392" y="2697480"/>
            <a:ext cx="1024128" cy="54864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rap 1 node 3 text"/>
          <p:cNvSpPr txBox="1"/>
          <p:nvPr/>
        </p:nvSpPr>
        <p:spPr>
          <a:xfrm>
            <a:off x="2029968" y="2697480"/>
            <a:ext cx="950976" cy="548640"/>
          </a:xfrm>
          <a:prstGeom prst="rect">
            <a:avLst/>
          </a:prstGeom>
          <a:noFill/>
        </p:spPr>
        <p:txBody>
          <a:bodyPr wrap="square" lIns="0" rIns="0" tIns="0" bIns="0" anchor="ctr">
            <a:noAutofit/>
          </a:bodyPr>
          <a:lstStyle/>
          <a:p>
            <a:pPr algn="ctr">
              <a:spcAft>
                <a:spcPts val="0"/>
              </a:spcAft>
            </a:pPr>
            <a:r>
              <a:rPr sz="1100" b="1" lang="en-GB">
                <a:solidFill>
                  <a:schemeClr val="tx2"/>
                </a:solidFill>
              </a:rPr>
              <a:t>Clicks</a:t>
            </a:r>
          </a:p>
          <a:p>
            <a:pPr algn="ctr">
              <a:spcAft>
                <a:spcPts val="0"/>
              </a:spcAft>
            </a:pPr>
            <a:r>
              <a:rPr sz="1100" b="1" lang="en-GB">
                <a:solidFill>
                  <a:schemeClr val="tx2"/>
                </a:solidFill>
              </a:rPr>
              <a:t>offers</a:t>
            </a:r>
          </a:p>
        </p:txBody>
      </p:sp>
      <p:cxnSp>
        <p:nvCxnSpPr>
          <p:cNvPr id="19" name="Trap 1 arrow 1"/>
          <p:cNvCxnSpPr/>
          <p:nvPr/>
        </p:nvCxnSpPr>
        <p:spPr>
          <a:xfrm flipH="1">
            <a:off x="1060704" y="2240280"/>
            <a:ext cx="265176" cy="457200"/>
          </a:xfrm>
          <a:prstGeom prst="line">
            <a:avLst/>
          </a:prstGeom>
          <a:ln w="285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Trap 1 arrow 2"/>
          <p:cNvCxnSpPr/>
          <p:nvPr/>
        </p:nvCxnSpPr>
        <p:spPr>
          <a:xfrm>
            <a:off x="2240280" y="2240280"/>
            <a:ext cx="265176" cy="457200"/>
          </a:xfrm>
          <a:prstGeom prst="line">
            <a:avLst/>
          </a:prstGeom>
          <a:ln w="285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Trap 1 arrow 3"/>
          <p:cNvCxnSpPr/>
          <p:nvPr/>
        </p:nvCxnSpPr>
        <p:spPr>
          <a:xfrm>
            <a:off x="1627632" y="2971800"/>
            <a:ext cx="310896" cy="0"/>
          </a:xfrm>
          <a:prstGeom prst="line">
            <a:avLst/>
          </a:prstGeom>
          <a:ln w="285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Trap 1 question"/>
          <p:cNvSpPr txBox="1"/>
          <p:nvPr/>
        </p:nvSpPr>
        <p:spPr>
          <a:xfrm>
            <a:off x="1572768" y="2633472"/>
            <a:ext cx="420624" cy="274320"/>
          </a:xfrm>
          <a:prstGeom prst="rect">
            <a:avLst/>
          </a:prstGeom>
          <a:noFill/>
        </p:spPr>
        <p:txBody>
          <a:bodyPr wrap="square" lIns="0" rIns="0" tIns="0" bIns="0" anchor="b">
            <a:noAutofit/>
          </a:bodyPr>
          <a:lstStyle/>
          <a:p>
            <a:pPr algn="ctr">
              <a:spcAft>
                <a:spcPts val="0"/>
              </a:spcAft>
            </a:pPr>
            <a:r>
              <a:rPr sz="1400" b="1" lang="en-GB">
                <a:solidFill>
                  <a:schemeClr val="accent1"/>
                </a:solidFill>
              </a:rPr>
              <a:t>?</a:t>
            </a:r>
          </a:p>
        </p:txBody>
      </p:sp>
      <p:sp>
        <p:nvSpPr>
          <p:cNvPr id="23" name="Trap 1 line"/>
          <p:cNvSpPr txBox="1"/>
          <p:nvPr/>
        </p:nvSpPr>
        <p:spPr>
          <a:xfrm>
            <a:off x="594360" y="3383280"/>
            <a:ext cx="2377440" cy="457200"/>
          </a:xfrm>
          <a:prstGeom prst="rect">
            <a:avLst/>
          </a:prstGeom>
          <a:noFill/>
        </p:spPr>
        <p:txBody>
          <a:bodyPr wrap="square" lIns="0" rIns="0" tIns="0" bIns="0" anchor="ctr">
            <a:noAutofit/>
          </a:bodyPr>
          <a:lstStyle/>
          <a:p>
            <a:pPr algn="ctr">
              <a:spcAft>
                <a:spcPts val="400"/>
              </a:spcAft>
            </a:pPr>
            <a:r>
              <a:rPr sz="1200" b="0" lang="en-GB">
                <a:solidFill>
                  <a:schemeClr val="tx1"/>
                </a:solidFill>
              </a:rPr>
              <a:t>Activity drives both.</a:t>
            </a:r>
          </a:p>
        </p:txBody>
      </p:sp>
      <p:sp>
        <p:nvSpPr>
          <p:cNvPr id="24" name="Trap 2 body"/>
          <p:cNvSpPr/>
          <p:nvPr/>
        </p:nvSpPr>
        <p:spPr>
          <a:xfrm>
            <a:off x="3246120" y="1618488"/>
            <a:ext cx="2651760" cy="22677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rap 2 header"/>
          <p:cNvSpPr/>
          <p:nvPr/>
        </p:nvSpPr>
        <p:spPr>
          <a:xfrm>
            <a:off x="3246120" y="1234440"/>
            <a:ext cx="265176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rap 2 heading"/>
          <p:cNvSpPr txBox="1"/>
          <p:nvPr/>
        </p:nvSpPr>
        <p:spPr>
          <a:xfrm>
            <a:off x="3383280" y="1234440"/>
            <a:ext cx="2377440" cy="384048"/>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Reverse causality</a:t>
            </a:r>
          </a:p>
        </p:txBody>
      </p:sp>
      <p:sp>
        <p:nvSpPr>
          <p:cNvPr id="27" name="Trap 2 node 1 box"/>
          <p:cNvSpPr/>
          <p:nvPr/>
        </p:nvSpPr>
        <p:spPr>
          <a:xfrm>
            <a:off x="3337560" y="2103120"/>
            <a:ext cx="1024128" cy="73152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rap 2 node 1 text"/>
          <p:cNvSpPr txBox="1"/>
          <p:nvPr/>
        </p:nvSpPr>
        <p:spPr>
          <a:xfrm>
            <a:off x="3374136" y="2103120"/>
            <a:ext cx="950976" cy="731520"/>
          </a:xfrm>
          <a:prstGeom prst="rect">
            <a:avLst/>
          </a:prstGeom>
          <a:noFill/>
        </p:spPr>
        <p:txBody>
          <a:bodyPr wrap="square" lIns="0" rIns="0" tIns="0" bIns="0" anchor="ctr">
            <a:noAutofit/>
          </a:bodyPr>
          <a:lstStyle/>
          <a:p>
            <a:pPr algn="ctr">
              <a:spcAft>
                <a:spcPts val="0"/>
              </a:spcAft>
            </a:pPr>
            <a:r>
              <a:rPr sz="1100" b="1" lang="en-GB">
                <a:solidFill>
                  <a:schemeClr val="tx2"/>
                </a:solidFill>
              </a:rPr>
              <a:t>Clicked</a:t>
            </a:r>
          </a:p>
          <a:p>
            <a:pPr algn="ctr">
              <a:spcAft>
                <a:spcPts val="0"/>
              </a:spcAft>
            </a:pPr>
            <a:r>
              <a:rPr sz="1100" b="1" lang="en-GB">
                <a:solidFill>
                  <a:schemeClr val="tx2"/>
                </a:solidFill>
              </a:rPr>
              <a:t>last month</a:t>
            </a:r>
          </a:p>
        </p:txBody>
      </p:sp>
      <p:sp>
        <p:nvSpPr>
          <p:cNvPr id="29" name="Trap 2 node 2 box"/>
          <p:cNvSpPr/>
          <p:nvPr/>
        </p:nvSpPr>
        <p:spPr>
          <a:xfrm>
            <a:off x="4782312" y="2103120"/>
            <a:ext cx="1024128" cy="73152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rap 2 node 2 text"/>
          <p:cNvSpPr txBox="1"/>
          <p:nvPr/>
        </p:nvSpPr>
        <p:spPr>
          <a:xfrm>
            <a:off x="4818888" y="2103120"/>
            <a:ext cx="950976" cy="731520"/>
          </a:xfrm>
          <a:prstGeom prst="rect">
            <a:avLst/>
          </a:prstGeom>
          <a:noFill/>
        </p:spPr>
        <p:txBody>
          <a:bodyPr wrap="square" lIns="0" rIns="0" tIns="0" bIns="0" anchor="ctr">
            <a:noAutofit/>
          </a:bodyPr>
          <a:lstStyle/>
          <a:p>
            <a:pPr algn="ctr">
              <a:spcAft>
                <a:spcPts val="0"/>
              </a:spcAft>
            </a:pPr>
            <a:r>
              <a:rPr sz="1100" b="1" lang="en-GB">
                <a:solidFill>
                  <a:schemeClr val="tx2"/>
                </a:solidFill>
              </a:rPr>
              <a:t>Gets more</a:t>
            </a:r>
          </a:p>
          <a:p>
            <a:pPr algn="ctr">
              <a:spcAft>
                <a:spcPts val="0"/>
              </a:spcAft>
            </a:pPr>
            <a:r>
              <a:rPr sz="1100" b="1" lang="en-GB">
                <a:solidFill>
                  <a:schemeClr val="tx2"/>
                </a:solidFill>
              </a:rPr>
              <a:t>e-mails</a:t>
            </a:r>
          </a:p>
        </p:txBody>
      </p:sp>
      <p:cxnSp>
        <p:nvCxnSpPr>
          <p:cNvPr id="31" name="Trap 2 arrow 1"/>
          <p:cNvCxnSpPr/>
          <p:nvPr/>
        </p:nvCxnSpPr>
        <p:spPr>
          <a:xfrm>
            <a:off x="4416552" y="2286000"/>
            <a:ext cx="310896" cy="0"/>
          </a:xfrm>
          <a:prstGeom prst="line">
            <a:avLst/>
          </a:prstGeom>
          <a:ln w="285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Trap 2 arrow 2"/>
          <p:cNvCxnSpPr/>
          <p:nvPr/>
        </p:nvCxnSpPr>
        <p:spPr>
          <a:xfrm flipH="1">
            <a:off x="4416552" y="2651760"/>
            <a:ext cx="310896" cy="0"/>
          </a:xfrm>
          <a:prstGeom prst="line">
            <a:avLst/>
          </a:prstGeom>
          <a:ln w="285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rap 2 question"/>
          <p:cNvSpPr txBox="1"/>
          <p:nvPr/>
        </p:nvSpPr>
        <p:spPr>
          <a:xfrm>
            <a:off x="4361688" y="2679192"/>
            <a:ext cx="420624" cy="274320"/>
          </a:xfrm>
          <a:prstGeom prst="rect">
            <a:avLst/>
          </a:prstGeom>
          <a:noFill/>
        </p:spPr>
        <p:txBody>
          <a:bodyPr wrap="square" lIns="0" rIns="0" tIns="0" bIns="0" anchor="t">
            <a:noAutofit/>
          </a:bodyPr>
          <a:lstStyle/>
          <a:p>
            <a:pPr algn="ctr">
              <a:spcAft>
                <a:spcPts val="0"/>
              </a:spcAft>
            </a:pPr>
            <a:r>
              <a:rPr sz="1400" b="1" lang="en-GB">
                <a:solidFill>
                  <a:schemeClr val="accent1"/>
                </a:solidFill>
              </a:rPr>
              <a:t>?</a:t>
            </a:r>
          </a:p>
        </p:txBody>
      </p:sp>
      <p:sp>
        <p:nvSpPr>
          <p:cNvPr id="34" name="Trap 2 line"/>
          <p:cNvSpPr txBox="1"/>
          <p:nvPr/>
        </p:nvSpPr>
        <p:spPr>
          <a:xfrm>
            <a:off x="3383280" y="3383280"/>
            <a:ext cx="2377440" cy="457200"/>
          </a:xfrm>
          <a:prstGeom prst="rect">
            <a:avLst/>
          </a:prstGeom>
          <a:noFill/>
        </p:spPr>
        <p:txBody>
          <a:bodyPr wrap="square" lIns="0" rIns="0" tIns="0" bIns="0" anchor="ctr">
            <a:noAutofit/>
          </a:bodyPr>
          <a:lstStyle/>
          <a:p>
            <a:pPr algn="ctr">
              <a:spcAft>
                <a:spcPts val="400"/>
              </a:spcAft>
            </a:pPr>
            <a:r>
              <a:rPr sz="1200" b="0" lang="en-GB">
                <a:solidFill>
                  <a:schemeClr val="tx1"/>
                </a:solidFill>
              </a:rPr>
              <a:t>Clicks drive the mailing, not the other way round.</a:t>
            </a:r>
          </a:p>
        </p:txBody>
      </p:sp>
      <p:sp>
        <p:nvSpPr>
          <p:cNvPr id="35" name="Trap 3 body"/>
          <p:cNvSpPr/>
          <p:nvPr/>
        </p:nvSpPr>
        <p:spPr>
          <a:xfrm>
            <a:off x="6035040" y="1618488"/>
            <a:ext cx="2651760" cy="22677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rap 3 header"/>
          <p:cNvSpPr/>
          <p:nvPr/>
        </p:nvSpPr>
        <p:spPr>
          <a:xfrm>
            <a:off x="6035040" y="1234440"/>
            <a:ext cx="265176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rap 3 heading"/>
          <p:cNvSpPr txBox="1"/>
          <p:nvPr/>
        </p:nvSpPr>
        <p:spPr>
          <a:xfrm>
            <a:off x="6172200" y="1234440"/>
            <a:ext cx="2377440" cy="384048"/>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Selection</a:t>
            </a:r>
          </a:p>
        </p:txBody>
      </p:sp>
      <p:sp>
        <p:nvSpPr>
          <p:cNvPr id="38" name="Trap 3 node 1 box"/>
          <p:cNvSpPr/>
          <p:nvPr/>
        </p:nvSpPr>
        <p:spPr>
          <a:xfrm>
            <a:off x="6492240" y="1783080"/>
            <a:ext cx="1737360" cy="45720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rap 3 node 1 text"/>
          <p:cNvSpPr txBox="1"/>
          <p:nvPr/>
        </p:nvSpPr>
        <p:spPr>
          <a:xfrm>
            <a:off x="6528816" y="1783080"/>
            <a:ext cx="1664208" cy="457200"/>
          </a:xfrm>
          <a:prstGeom prst="rect">
            <a:avLst/>
          </a:prstGeom>
          <a:noFill/>
        </p:spPr>
        <p:txBody>
          <a:bodyPr wrap="square" lIns="0" rIns="0" tIns="0" bIns="0" anchor="ctr">
            <a:noAutofit/>
          </a:bodyPr>
          <a:lstStyle/>
          <a:p>
            <a:pPr algn="ctr">
              <a:spcAft>
                <a:spcPts val="0"/>
              </a:spcAft>
            </a:pPr>
            <a:r>
              <a:rPr sz="1100" b="1" lang="en-GB">
                <a:solidFill>
                  <a:schemeClr val="tx2"/>
                </a:solidFill>
              </a:rPr>
              <a:t>Tool picks</a:t>
            </a:r>
          </a:p>
          <a:p>
            <a:pPr algn="ctr">
              <a:spcAft>
                <a:spcPts val="0"/>
              </a:spcAft>
            </a:pPr>
            <a:r>
              <a:rPr sz="1100" b="1" lang="en-GB">
                <a:solidFill>
                  <a:schemeClr val="tx2"/>
                </a:solidFill>
              </a:rPr>
              <a:t>likely clickers</a:t>
            </a:r>
          </a:p>
        </p:txBody>
      </p:sp>
      <p:sp>
        <p:nvSpPr>
          <p:cNvPr id="40" name="Trap 3 node 2 box"/>
          <p:cNvSpPr/>
          <p:nvPr/>
        </p:nvSpPr>
        <p:spPr>
          <a:xfrm>
            <a:off x="6126480" y="2697480"/>
            <a:ext cx="1024128" cy="54864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rap 3 node 2 text"/>
          <p:cNvSpPr txBox="1"/>
          <p:nvPr/>
        </p:nvSpPr>
        <p:spPr>
          <a:xfrm>
            <a:off x="6163056" y="2697480"/>
            <a:ext cx="950976" cy="548640"/>
          </a:xfrm>
          <a:prstGeom prst="rect">
            <a:avLst/>
          </a:prstGeom>
          <a:noFill/>
        </p:spPr>
        <p:txBody>
          <a:bodyPr wrap="square" lIns="0" rIns="0" tIns="0" bIns="0" anchor="ctr">
            <a:noAutofit/>
          </a:bodyPr>
          <a:lstStyle/>
          <a:p>
            <a:pPr algn="ctr">
              <a:spcAft>
                <a:spcPts val="0"/>
              </a:spcAft>
            </a:pPr>
            <a:r>
              <a:rPr sz="1100" b="1" lang="en-GB">
                <a:solidFill>
                  <a:schemeClr val="tx2"/>
                </a:solidFill>
              </a:rPr>
              <a:t>Gets</a:t>
            </a:r>
          </a:p>
          <a:p>
            <a:pPr algn="ctr">
              <a:spcAft>
                <a:spcPts val="0"/>
              </a:spcAft>
            </a:pPr>
            <a:r>
              <a:rPr sz="1100" b="1" lang="en-GB">
                <a:solidFill>
                  <a:schemeClr val="tx2"/>
                </a:solidFill>
              </a:rPr>
              <a:t>e-mail B</a:t>
            </a:r>
          </a:p>
        </p:txBody>
      </p:sp>
      <p:sp>
        <p:nvSpPr>
          <p:cNvPr id="42" name="Trap 3 node 3 box"/>
          <p:cNvSpPr/>
          <p:nvPr/>
        </p:nvSpPr>
        <p:spPr>
          <a:xfrm>
            <a:off x="7571232" y="2697480"/>
            <a:ext cx="1024128" cy="548640"/>
          </a:xfrm>
          <a:prstGeom prst="roundRect">
            <a:avLst>
              <a:gd name="adj" fmla="val 15000"/>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rap 3 node 3 text"/>
          <p:cNvSpPr txBox="1"/>
          <p:nvPr/>
        </p:nvSpPr>
        <p:spPr>
          <a:xfrm>
            <a:off x="7607808" y="2697480"/>
            <a:ext cx="950976" cy="548640"/>
          </a:xfrm>
          <a:prstGeom prst="rect">
            <a:avLst/>
          </a:prstGeom>
          <a:noFill/>
        </p:spPr>
        <p:txBody>
          <a:bodyPr wrap="square" lIns="0" rIns="0" tIns="0" bIns="0" anchor="ctr">
            <a:noAutofit/>
          </a:bodyPr>
          <a:lstStyle/>
          <a:p>
            <a:pPr algn="ctr">
              <a:spcAft>
                <a:spcPts val="0"/>
              </a:spcAft>
            </a:pPr>
            <a:r>
              <a:rPr sz="1100" b="1" lang="en-GB">
                <a:solidFill>
                  <a:schemeClr val="tx2"/>
                </a:solidFill>
              </a:rPr>
              <a:t>Clicks</a:t>
            </a:r>
          </a:p>
        </p:txBody>
      </p:sp>
      <p:cxnSp>
        <p:nvCxnSpPr>
          <p:cNvPr id="44" name="Trap 3 arrow 1"/>
          <p:cNvCxnSpPr/>
          <p:nvPr/>
        </p:nvCxnSpPr>
        <p:spPr>
          <a:xfrm flipH="1">
            <a:off x="6638544" y="2240280"/>
            <a:ext cx="265176" cy="457200"/>
          </a:xfrm>
          <a:prstGeom prst="line">
            <a:avLst/>
          </a:prstGeom>
          <a:ln w="285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Trap 3 arrow 2"/>
          <p:cNvCxnSpPr/>
          <p:nvPr/>
        </p:nvCxnSpPr>
        <p:spPr>
          <a:xfrm>
            <a:off x="7818120" y="2240280"/>
            <a:ext cx="265176" cy="457200"/>
          </a:xfrm>
          <a:prstGeom prst="line">
            <a:avLst/>
          </a:prstGeom>
          <a:ln w="285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Trap 3 arrow 3"/>
          <p:cNvCxnSpPr/>
          <p:nvPr/>
        </p:nvCxnSpPr>
        <p:spPr>
          <a:xfrm>
            <a:off x="7205472" y="2971800"/>
            <a:ext cx="310896" cy="0"/>
          </a:xfrm>
          <a:prstGeom prst="line">
            <a:avLst/>
          </a:prstGeom>
          <a:ln w="285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rap 3 question"/>
          <p:cNvSpPr txBox="1"/>
          <p:nvPr/>
        </p:nvSpPr>
        <p:spPr>
          <a:xfrm>
            <a:off x="7150608" y="2633472"/>
            <a:ext cx="420624" cy="274320"/>
          </a:xfrm>
          <a:prstGeom prst="rect">
            <a:avLst/>
          </a:prstGeom>
          <a:noFill/>
        </p:spPr>
        <p:txBody>
          <a:bodyPr wrap="square" lIns="0" rIns="0" tIns="0" bIns="0" anchor="b">
            <a:noAutofit/>
          </a:bodyPr>
          <a:lstStyle/>
          <a:p>
            <a:pPr algn="ctr">
              <a:spcAft>
                <a:spcPts val="0"/>
              </a:spcAft>
            </a:pPr>
            <a:r>
              <a:rPr sz="1400" b="1" lang="en-GB">
                <a:solidFill>
                  <a:schemeClr val="accent1"/>
                </a:solidFill>
              </a:rPr>
              <a:t>?</a:t>
            </a:r>
          </a:p>
        </p:txBody>
      </p:sp>
      <p:sp>
        <p:nvSpPr>
          <p:cNvPr id="48" name="Trap 3 line"/>
          <p:cNvSpPr txBox="1"/>
          <p:nvPr/>
        </p:nvSpPr>
        <p:spPr>
          <a:xfrm>
            <a:off x="6172200" y="3383280"/>
            <a:ext cx="2377440" cy="457200"/>
          </a:xfrm>
          <a:prstGeom prst="rect">
            <a:avLst/>
          </a:prstGeom>
          <a:noFill/>
        </p:spPr>
        <p:txBody>
          <a:bodyPr wrap="square" lIns="0" rIns="0" tIns="0" bIns="0" anchor="ctr">
            <a:noAutofit/>
          </a:bodyPr>
          <a:lstStyle/>
          <a:p>
            <a:pPr algn="ctr">
              <a:spcAft>
                <a:spcPts val="400"/>
              </a:spcAft>
            </a:pPr>
            <a:r>
              <a:rPr sz="1200" b="0" lang="en-GB">
                <a:solidFill>
                  <a:schemeClr val="tx1"/>
                </a:solidFill>
              </a:rPr>
              <a:t>The algorithm, not the e-mail, made B look good.</a:t>
            </a:r>
          </a:p>
        </p:txBody>
      </p:sp>
      <p:sp>
        <p:nvSpPr>
          <p:cNvPr id="49" name="Fix box"/>
          <p:cNvSpPr/>
          <p:nvPr/>
        </p:nvSpPr>
        <p:spPr>
          <a:xfrm>
            <a:off x="457200" y="40233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Icon Fix" descr=""/>
          <p:cNvPicPr>
            <a:picLocks noChangeAspect="1"/>
          </p:cNvPicPr>
          <p:nvPr/>
        </p:nvPicPr>
        <p:blipFill>
          <a:blip r:embed="rId3"/>
          <a:stretch>
            <a:fillRect/>
          </a:stretch>
        </p:blipFill>
        <p:spPr>
          <a:xfrm>
            <a:off x="658368" y="4114800"/>
            <a:ext cx="365760" cy="365760"/>
          </a:xfrm>
          <a:prstGeom prst="rect">
            <a:avLst/>
          </a:prstGeom>
        </p:spPr>
      </p:pic>
      <p:sp>
        <p:nvSpPr>
          <p:cNvPr id="51" name="Fix text"/>
          <p:cNvSpPr txBox="1"/>
          <p:nvPr/>
        </p:nvSpPr>
        <p:spPr>
          <a:xfrm>
            <a:off x="1207008" y="402336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The fix: </a:t>
            </a:r>
            <a:r>
              <a:rPr sz="1300" b="0" lang="en-GB">
                <a:solidFill>
                  <a:schemeClr val="bg1"/>
                </a:solidFill>
              </a:rPr>
              <a:t>a coin flip decides who gets which e-mail, so nothing else can drive both.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counterfactual: two worlds, one customer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nna tile"/>
          <p:cNvSpPr/>
          <p:nvPr/>
        </p:nvSpPr>
        <p:spPr>
          <a:xfrm>
            <a:off x="457200" y="2240280"/>
            <a:ext cx="11887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nna circle"/>
          <p:cNvSpPr/>
          <p:nvPr/>
        </p:nvSpPr>
        <p:spPr>
          <a:xfrm>
            <a:off x="731520" y="237744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nna name"/>
          <p:cNvSpPr txBox="1"/>
          <p:nvPr/>
        </p:nvSpPr>
        <p:spPr>
          <a:xfrm>
            <a:off x="457200" y="3063240"/>
            <a:ext cx="1188720" cy="365760"/>
          </a:xfrm>
          <a:prstGeom prst="rect">
            <a:avLst/>
          </a:prstGeom>
          <a:noFill/>
        </p:spPr>
        <p:txBody>
          <a:bodyPr wrap="square" lIns="0" rIns="0" tIns="0" bIns="0" anchor="ctr">
            <a:noAutofit/>
          </a:bodyPr>
          <a:lstStyle/>
          <a:p>
            <a:pPr algn="ctr">
              <a:spcAft>
                <a:spcPts val="400"/>
              </a:spcAft>
            </a:pPr>
            <a:r>
              <a:rPr sz="1300" b="1" lang="en-GB">
                <a:solidFill>
                  <a:schemeClr val="tx2"/>
                </a:solidFill>
              </a:rPr>
              <a:t>Anna</a:t>
            </a:r>
          </a:p>
        </p:txBody>
      </p:sp>
      <p:cxnSp>
        <p:nvCxnSpPr>
          <p:cNvPr id="13" name="Arrow to world B"/>
          <p:cNvCxnSpPr/>
          <p:nvPr/>
        </p:nvCxnSpPr>
        <p:spPr>
          <a:xfrm flipV="1">
            <a:off x="1691640" y="1783080"/>
            <a:ext cx="228600" cy="68580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Arrow to world A"/>
          <p:cNvCxnSpPr/>
          <p:nvPr/>
        </p:nvCxnSpPr>
        <p:spPr>
          <a:xfrm>
            <a:off x="1691640" y="3291840"/>
            <a:ext cx="228600" cy="68580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World B box"/>
          <p:cNvSpPr/>
          <p:nvPr/>
        </p:nvSpPr>
        <p:spPr>
          <a:xfrm>
            <a:off x="1965960" y="1234440"/>
            <a:ext cx="2880360" cy="109728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orld B text"/>
          <p:cNvSpPr txBox="1"/>
          <p:nvPr/>
        </p:nvSpPr>
        <p:spPr>
          <a:xfrm>
            <a:off x="2148840" y="1234440"/>
            <a:ext cx="2606040" cy="1097280"/>
          </a:xfrm>
          <a:prstGeom prst="rect">
            <a:avLst/>
          </a:prstGeom>
          <a:noFill/>
        </p:spPr>
        <p:txBody>
          <a:bodyPr wrap="square" lIns="0" rIns="0" tIns="0" bIns="0" anchor="ctr">
            <a:noAutofit/>
          </a:bodyPr>
          <a:lstStyle/>
          <a:p>
            <a:pPr algn="l">
              <a:spcAft>
                <a:spcPts val="400"/>
              </a:spcAft>
            </a:pPr>
            <a:r>
              <a:rPr sz="1300" b="1" lang="en-GB">
                <a:solidFill>
                  <a:schemeClr val="tx2"/>
                </a:solidFill>
              </a:rPr>
              <a:t>World B: </a:t>
            </a:r>
            <a:r>
              <a:rPr sz="1300" b="0" lang="en-GB">
                <a:solidFill>
                  <a:schemeClr val="tx1"/>
                </a:solidFill>
              </a:rPr>
              <a:t>e-mail B (her name)</a:t>
            </a:r>
          </a:p>
          <a:p>
            <a:pPr algn="l">
              <a:spcAft>
                <a:spcPts val="400"/>
              </a:spcAft>
            </a:pPr>
            <a:r>
              <a:rPr sz="1300" b="0" lang="en-GB">
                <a:solidFill>
                  <a:srgbClr val="595959"/>
                </a:solidFill>
              </a:rPr>
              <a:t>Does she click?</a:t>
            </a:r>
          </a:p>
        </p:txBody>
      </p:sp>
      <p:sp>
        <p:nvSpPr>
          <p:cNvPr id="17" name="World A box"/>
          <p:cNvSpPr/>
          <p:nvPr/>
        </p:nvSpPr>
        <p:spPr>
          <a:xfrm>
            <a:off x="1965960" y="3429000"/>
            <a:ext cx="2880360" cy="109728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World A text"/>
          <p:cNvSpPr txBox="1"/>
          <p:nvPr/>
        </p:nvSpPr>
        <p:spPr>
          <a:xfrm>
            <a:off x="2148840" y="3429000"/>
            <a:ext cx="2606040" cy="1097280"/>
          </a:xfrm>
          <a:prstGeom prst="rect">
            <a:avLst/>
          </a:prstGeom>
          <a:noFill/>
        </p:spPr>
        <p:txBody>
          <a:bodyPr wrap="square" lIns="0" rIns="0" tIns="0" bIns="0" anchor="ctr">
            <a:noAutofit/>
          </a:bodyPr>
          <a:lstStyle/>
          <a:p>
            <a:pPr algn="l">
              <a:spcAft>
                <a:spcPts val="400"/>
              </a:spcAft>
            </a:pPr>
            <a:r>
              <a:rPr sz="1300" b="1" lang="en-GB">
                <a:solidFill>
                  <a:schemeClr val="tx2"/>
                </a:solidFill>
              </a:rPr>
              <a:t>World A: </a:t>
            </a:r>
            <a:r>
              <a:rPr sz="1300" b="0" lang="en-GB">
                <a:solidFill>
                  <a:schemeClr val="tx1"/>
                </a:solidFill>
              </a:rPr>
              <a:t>e-mail A (generic)</a:t>
            </a:r>
          </a:p>
          <a:p>
            <a:pPr algn="l">
              <a:spcAft>
                <a:spcPts val="400"/>
              </a:spcAft>
            </a:pPr>
            <a:r>
              <a:rPr sz="1300" b="0" lang="en-GB">
                <a:solidFill>
                  <a:srgbClr val="595959"/>
                </a:solidFill>
              </a:rPr>
              <a:t>Does she click?</a:t>
            </a:r>
          </a:p>
        </p:txBody>
      </p:sp>
      <p:sp>
        <p:nvSpPr>
          <p:cNvPr id="19" name="Effect for Anna"/>
          <p:cNvSpPr txBox="1"/>
          <p:nvPr/>
        </p:nvSpPr>
        <p:spPr>
          <a:xfrm>
            <a:off x="1965960" y="2331720"/>
            <a:ext cx="2880360" cy="1097280"/>
          </a:xfrm>
          <a:prstGeom prst="rect">
            <a:avLst/>
          </a:prstGeom>
          <a:noFill/>
        </p:spPr>
        <p:txBody>
          <a:bodyPr wrap="square" lIns="0" rIns="0" tIns="0" bIns="0" anchor="ctr">
            <a:noAutofit/>
          </a:bodyPr>
          <a:lstStyle/>
          <a:p>
            <a:pPr algn="ctr">
              <a:spcAft>
                <a:spcPts val="0"/>
              </a:spcAft>
            </a:pPr>
            <a:r>
              <a:rPr sz="1400" b="1" lang="en-GB">
                <a:solidFill>
                  <a:schemeClr val="accent1"/>
                </a:solidFill>
              </a:rPr>
              <a:t>Effect for Anna =</a:t>
            </a:r>
          </a:p>
          <a:p>
            <a:pPr algn="ctr">
              <a:spcAft>
                <a:spcPts val="0"/>
              </a:spcAft>
            </a:pPr>
            <a:r>
              <a:rPr sz="1400" b="1" lang="en-GB">
                <a:solidFill>
                  <a:schemeClr val="accent1"/>
                </a:solidFill>
              </a:rPr>
              <a:t>World B − World A</a:t>
            </a:r>
          </a:p>
        </p:txBody>
      </p:sp>
      <p:sp>
        <p:nvSpPr>
          <p:cNvPr id="20" name="Counterfactual 1 row"/>
          <p:cNvSpPr/>
          <p:nvPr/>
        </p:nvSpPr>
        <p:spPr>
          <a:xfrm>
            <a:off x="4983480" y="1234440"/>
            <a:ext cx="370332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unterfactual 1 bar"/>
          <p:cNvSpPr/>
          <p:nvPr/>
        </p:nvSpPr>
        <p:spPr>
          <a:xfrm>
            <a:off x="4983480" y="123444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unterfactual 1 text"/>
          <p:cNvSpPr txBox="1"/>
          <p:nvPr/>
        </p:nvSpPr>
        <p:spPr>
          <a:xfrm>
            <a:off x="5184648" y="1234440"/>
            <a:ext cx="3410712" cy="1005840"/>
          </a:xfrm>
          <a:prstGeom prst="rect">
            <a:avLst/>
          </a:prstGeom>
          <a:noFill/>
        </p:spPr>
        <p:txBody>
          <a:bodyPr wrap="square" lIns="0" rIns="0" tIns="0" bIns="0" anchor="ctr">
            <a:noAutofit/>
          </a:bodyPr>
          <a:lstStyle/>
          <a:p>
            <a:pPr algn="l">
              <a:spcAft>
                <a:spcPts val="400"/>
              </a:spcAft>
            </a:pPr>
            <a:r>
              <a:rPr sz="1300" b="1" lang="en-GB">
                <a:solidFill>
                  <a:schemeClr val="tx2"/>
                </a:solidFill>
              </a:rPr>
              <a:t>Problem: </a:t>
            </a:r>
            <a:r>
              <a:rPr sz="1300" b="0" lang="en-GB">
                <a:solidFill>
                  <a:schemeClr val="tx1"/>
                </a:solidFill>
              </a:rPr>
              <a:t>we only ever see one world for Anna.</a:t>
            </a:r>
          </a:p>
        </p:txBody>
      </p:sp>
      <p:sp>
        <p:nvSpPr>
          <p:cNvPr id="23" name="Counterfactual 2 row"/>
          <p:cNvSpPr/>
          <p:nvPr/>
        </p:nvSpPr>
        <p:spPr>
          <a:xfrm>
            <a:off x="4983480" y="2377440"/>
            <a:ext cx="370332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unterfactual 2 bar"/>
          <p:cNvSpPr/>
          <p:nvPr/>
        </p:nvSpPr>
        <p:spPr>
          <a:xfrm>
            <a:off x="4983480" y="237744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unterfactual 2 text"/>
          <p:cNvSpPr txBox="1"/>
          <p:nvPr/>
        </p:nvSpPr>
        <p:spPr>
          <a:xfrm>
            <a:off x="5184648" y="2377440"/>
            <a:ext cx="3410712" cy="1005840"/>
          </a:xfrm>
          <a:prstGeom prst="rect">
            <a:avLst/>
          </a:prstGeom>
          <a:noFill/>
        </p:spPr>
        <p:txBody>
          <a:bodyPr wrap="square" lIns="0" rIns="0" tIns="0" bIns="0" anchor="ctr">
            <a:noAutofit/>
          </a:bodyPr>
          <a:lstStyle/>
          <a:p>
            <a:pPr algn="l">
              <a:spcAft>
                <a:spcPts val="400"/>
              </a:spcAft>
            </a:pPr>
            <a:r>
              <a:rPr sz="1300" b="1" lang="en-GB">
                <a:solidFill>
                  <a:schemeClr val="tx2"/>
                </a:solidFill>
              </a:rPr>
              <a:t>Solution: </a:t>
            </a:r>
            <a:r>
              <a:rPr sz="1300" b="0" lang="en-GB">
                <a:solidFill>
                  <a:schemeClr val="tx1"/>
                </a:solidFill>
              </a:rPr>
              <a:t>a random group A stands in for the world Anna did not live.</a:t>
            </a:r>
          </a:p>
        </p:txBody>
      </p:sp>
      <p:sp>
        <p:nvSpPr>
          <p:cNvPr id="26" name="Counterfactual 3 row"/>
          <p:cNvSpPr/>
          <p:nvPr/>
        </p:nvSpPr>
        <p:spPr>
          <a:xfrm>
            <a:off x="4983480" y="3520440"/>
            <a:ext cx="370332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unterfactual 3 bar"/>
          <p:cNvSpPr/>
          <p:nvPr/>
        </p:nvSpPr>
        <p:spPr>
          <a:xfrm>
            <a:off x="4983480" y="352044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unterfactual 3 text"/>
          <p:cNvSpPr txBox="1"/>
          <p:nvPr/>
        </p:nvSpPr>
        <p:spPr>
          <a:xfrm>
            <a:off x="5184648" y="3520440"/>
            <a:ext cx="3410712" cy="1005840"/>
          </a:xfrm>
          <a:prstGeom prst="rect">
            <a:avLst/>
          </a:prstGeom>
          <a:noFill/>
        </p:spPr>
        <p:txBody>
          <a:bodyPr wrap="square" lIns="0" rIns="0" tIns="0" bIns="0" anchor="ctr">
            <a:noAutofit/>
          </a:bodyPr>
          <a:lstStyle/>
          <a:p>
            <a:pPr algn="l">
              <a:spcAft>
                <a:spcPts val="400"/>
              </a:spcAft>
            </a:pPr>
            <a:r>
              <a:rPr sz="1300" b="1" lang="en-GB">
                <a:solidFill>
                  <a:schemeClr val="tx2"/>
                </a:solidFill>
              </a:rPr>
              <a:t>Average effect </a:t>
            </a:r>
            <a:r>
              <a:rPr sz="1300" b="0" lang="en-GB">
                <a:solidFill>
                  <a:schemeClr val="tx1"/>
                </a:solidFill>
              </a:rPr>
              <a:t>= click rate B − click rate A: +0.60 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 coin flip makes the groups alike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ustomers panel"/>
          <p:cNvSpPr/>
          <p:nvPr/>
        </p:nvSpPr>
        <p:spPr>
          <a:xfrm>
            <a:off x="457200" y="1234440"/>
            <a:ext cx="2240280"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ustomers heading"/>
          <p:cNvSpPr txBox="1"/>
          <p:nvPr/>
        </p:nvSpPr>
        <p:spPr>
          <a:xfrm>
            <a:off x="621792" y="1325880"/>
            <a:ext cx="196596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Customers</a:t>
            </a:r>
          </a:p>
        </p:txBody>
      </p:sp>
      <p:sp>
        <p:nvSpPr>
          <p:cNvPr id="12" name="Customer dot 1"/>
          <p:cNvSpPr/>
          <p:nvPr/>
        </p:nvSpPr>
        <p:spPr>
          <a:xfrm>
            <a:off x="672084" y="1783080"/>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ustomer dot 2"/>
          <p:cNvSpPr/>
          <p:nvPr/>
        </p:nvSpPr>
        <p:spPr>
          <a:xfrm>
            <a:off x="1056132" y="178308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ustomer dot 3"/>
          <p:cNvSpPr/>
          <p:nvPr/>
        </p:nvSpPr>
        <p:spPr>
          <a:xfrm>
            <a:off x="1440180" y="1783080"/>
            <a:ext cx="274320" cy="27432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ustomer dot 4"/>
          <p:cNvSpPr/>
          <p:nvPr/>
        </p:nvSpPr>
        <p:spPr>
          <a:xfrm>
            <a:off x="1824228" y="178308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ustomer dot 5"/>
          <p:cNvSpPr/>
          <p:nvPr/>
        </p:nvSpPr>
        <p:spPr>
          <a:xfrm>
            <a:off x="2208276" y="1783080"/>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ustomer dot 6"/>
          <p:cNvSpPr/>
          <p:nvPr/>
        </p:nvSpPr>
        <p:spPr>
          <a:xfrm>
            <a:off x="672084" y="2167128"/>
            <a:ext cx="274320" cy="27432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ustomer dot 7"/>
          <p:cNvSpPr/>
          <p:nvPr/>
        </p:nvSpPr>
        <p:spPr>
          <a:xfrm>
            <a:off x="1056132" y="2167128"/>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ustomer dot 8"/>
          <p:cNvSpPr/>
          <p:nvPr/>
        </p:nvSpPr>
        <p:spPr>
          <a:xfrm>
            <a:off x="1440180" y="216712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ustomer dot 9"/>
          <p:cNvSpPr/>
          <p:nvPr/>
        </p:nvSpPr>
        <p:spPr>
          <a:xfrm>
            <a:off x="1824228" y="2167128"/>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ustomer dot 10"/>
          <p:cNvSpPr/>
          <p:nvPr/>
        </p:nvSpPr>
        <p:spPr>
          <a:xfrm>
            <a:off x="2208276" y="2167128"/>
            <a:ext cx="274320" cy="27432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ustomer dot 11"/>
          <p:cNvSpPr/>
          <p:nvPr/>
        </p:nvSpPr>
        <p:spPr>
          <a:xfrm>
            <a:off x="672084" y="2551176"/>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ustomer dot 12"/>
          <p:cNvSpPr/>
          <p:nvPr/>
        </p:nvSpPr>
        <p:spPr>
          <a:xfrm>
            <a:off x="1056132" y="2551176"/>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ustomer dot 13"/>
          <p:cNvSpPr/>
          <p:nvPr/>
        </p:nvSpPr>
        <p:spPr>
          <a:xfrm>
            <a:off x="1440180" y="2551176"/>
            <a:ext cx="274320" cy="27432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ustomer dot 14"/>
          <p:cNvSpPr/>
          <p:nvPr/>
        </p:nvSpPr>
        <p:spPr>
          <a:xfrm>
            <a:off x="1824228" y="2551176"/>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ustomer dot 15"/>
          <p:cNvSpPr/>
          <p:nvPr/>
        </p:nvSpPr>
        <p:spPr>
          <a:xfrm>
            <a:off x="2208276" y="2551176"/>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ustomer dot 16"/>
          <p:cNvSpPr/>
          <p:nvPr/>
        </p:nvSpPr>
        <p:spPr>
          <a:xfrm>
            <a:off x="672084" y="2935224"/>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ustomer dot 17"/>
          <p:cNvSpPr/>
          <p:nvPr/>
        </p:nvSpPr>
        <p:spPr>
          <a:xfrm>
            <a:off x="1056132" y="2935224"/>
            <a:ext cx="274320" cy="27432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ustomer dot 18"/>
          <p:cNvSpPr/>
          <p:nvPr/>
        </p:nvSpPr>
        <p:spPr>
          <a:xfrm>
            <a:off x="1440180" y="2935224"/>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ustomer dot 19"/>
          <p:cNvSpPr/>
          <p:nvPr/>
        </p:nvSpPr>
        <p:spPr>
          <a:xfrm>
            <a:off x="1824228" y="2935224"/>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ustomer dot 20"/>
          <p:cNvSpPr/>
          <p:nvPr/>
        </p:nvSpPr>
        <p:spPr>
          <a:xfrm>
            <a:off x="2208276" y="2935224"/>
            <a:ext cx="274320" cy="27432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Legend dot 1"/>
          <p:cNvSpPr/>
          <p:nvPr/>
        </p:nvSpPr>
        <p:spPr>
          <a:xfrm>
            <a:off x="672084" y="3383280"/>
            <a:ext cx="155448" cy="1554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egend 1"/>
          <p:cNvSpPr txBox="1"/>
          <p:nvPr/>
        </p:nvSpPr>
        <p:spPr>
          <a:xfrm>
            <a:off x="946404" y="3337560"/>
            <a:ext cx="1645920" cy="246888"/>
          </a:xfrm>
          <a:prstGeom prst="rect">
            <a:avLst/>
          </a:prstGeom>
          <a:noFill/>
        </p:spPr>
        <p:txBody>
          <a:bodyPr wrap="square" lIns="0" rIns="0" tIns="0" bIns="0" anchor="ctr">
            <a:noAutofit/>
          </a:bodyPr>
          <a:lstStyle/>
          <a:p>
            <a:pPr algn="l">
              <a:spcAft>
                <a:spcPts val="400"/>
              </a:spcAft>
            </a:pPr>
            <a:r>
              <a:rPr sz="1100" b="0" lang="en-GB">
                <a:solidFill>
                  <a:schemeClr val="tx1"/>
                </a:solidFill>
              </a:rPr>
              <a:t>heavy clickers</a:t>
            </a:r>
          </a:p>
        </p:txBody>
      </p:sp>
      <p:sp>
        <p:nvSpPr>
          <p:cNvPr id="34" name="Legend dot 2"/>
          <p:cNvSpPr/>
          <p:nvPr/>
        </p:nvSpPr>
        <p:spPr>
          <a:xfrm>
            <a:off x="672084" y="3630168"/>
            <a:ext cx="155448" cy="1554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egend 2"/>
          <p:cNvSpPr txBox="1"/>
          <p:nvPr/>
        </p:nvSpPr>
        <p:spPr>
          <a:xfrm>
            <a:off x="946404" y="3584448"/>
            <a:ext cx="1645920" cy="246888"/>
          </a:xfrm>
          <a:prstGeom prst="rect">
            <a:avLst/>
          </a:prstGeom>
          <a:noFill/>
        </p:spPr>
        <p:txBody>
          <a:bodyPr wrap="square" lIns="0" rIns="0" tIns="0" bIns="0" anchor="ctr">
            <a:noAutofit/>
          </a:bodyPr>
          <a:lstStyle/>
          <a:p>
            <a:pPr algn="l">
              <a:spcAft>
                <a:spcPts val="400"/>
              </a:spcAft>
            </a:pPr>
            <a:r>
              <a:rPr sz="1100" b="0" lang="en-GB">
                <a:solidFill>
                  <a:schemeClr val="tx1"/>
                </a:solidFill>
              </a:rPr>
              <a:t>occasional</a:t>
            </a:r>
          </a:p>
        </p:txBody>
      </p:sp>
      <p:sp>
        <p:nvSpPr>
          <p:cNvPr id="36" name="Legend dot 3"/>
          <p:cNvSpPr/>
          <p:nvPr/>
        </p:nvSpPr>
        <p:spPr>
          <a:xfrm>
            <a:off x="672084" y="3877056"/>
            <a:ext cx="155448" cy="155448"/>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egend 3"/>
          <p:cNvSpPr txBox="1"/>
          <p:nvPr/>
        </p:nvSpPr>
        <p:spPr>
          <a:xfrm>
            <a:off x="946404" y="3831336"/>
            <a:ext cx="1645920" cy="246888"/>
          </a:xfrm>
          <a:prstGeom prst="rect">
            <a:avLst/>
          </a:prstGeom>
          <a:noFill/>
        </p:spPr>
        <p:txBody>
          <a:bodyPr wrap="square" lIns="0" rIns="0" tIns="0" bIns="0" anchor="ctr">
            <a:noAutofit/>
          </a:bodyPr>
          <a:lstStyle/>
          <a:p>
            <a:pPr algn="l">
              <a:spcAft>
                <a:spcPts val="400"/>
              </a:spcAft>
            </a:pPr>
            <a:r>
              <a:rPr sz="1100" b="0" lang="en-GB">
                <a:solidFill>
                  <a:schemeClr val="tx1"/>
                </a:solidFill>
              </a:rPr>
              <a:t>rare</a:t>
            </a:r>
          </a:p>
        </p:txBody>
      </p:sp>
      <p:pic>
        <p:nvPicPr>
          <p:cNvPr id="38" name="Icon Coin flip" descr=""/>
          <p:cNvPicPr>
            <a:picLocks noChangeAspect="1"/>
          </p:cNvPicPr>
          <p:nvPr/>
        </p:nvPicPr>
        <p:blipFill>
          <a:blip r:embed="rId3"/>
          <a:stretch>
            <a:fillRect/>
          </a:stretch>
        </p:blipFill>
        <p:spPr>
          <a:xfrm>
            <a:off x="2834640" y="2514600"/>
            <a:ext cx="365760" cy="365760"/>
          </a:xfrm>
          <a:prstGeom prst="rect">
            <a:avLst/>
          </a:prstGeom>
        </p:spPr>
      </p:pic>
      <p:cxnSp>
        <p:nvCxnSpPr>
          <p:cNvPr id="39" name="Split arrow A"/>
          <p:cNvCxnSpPr/>
          <p:nvPr/>
        </p:nvCxnSpPr>
        <p:spPr>
          <a:xfrm flipV="1">
            <a:off x="2743200" y="1577340"/>
            <a:ext cx="530352" cy="416052"/>
          </a:xfrm>
          <a:prstGeom prst="line">
            <a:avLst/>
          </a:prstGeom>
          <a:ln w="317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Group A row"/>
          <p:cNvSpPr/>
          <p:nvPr/>
        </p:nvSpPr>
        <p:spPr>
          <a:xfrm>
            <a:off x="3337560" y="1234440"/>
            <a:ext cx="534924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Group A badge"/>
          <p:cNvSpPr/>
          <p:nvPr/>
        </p:nvSpPr>
        <p:spPr>
          <a:xfrm>
            <a:off x="3474720" y="142189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A</a:t>
            </a:r>
          </a:p>
        </p:txBody>
      </p:sp>
      <p:sp>
        <p:nvSpPr>
          <p:cNvPr id="42" name="Group A label"/>
          <p:cNvSpPr txBox="1"/>
          <p:nvPr/>
        </p:nvSpPr>
        <p:spPr>
          <a:xfrm>
            <a:off x="3886200" y="1234440"/>
            <a:ext cx="18288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Group A: generic</a:t>
            </a:r>
          </a:p>
        </p:txBody>
      </p:sp>
      <p:sp>
        <p:nvSpPr>
          <p:cNvPr id="43" name="Group A dot 1"/>
          <p:cNvSpPr/>
          <p:nvPr/>
        </p:nvSpPr>
        <p:spPr>
          <a:xfrm>
            <a:off x="5715000" y="145846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Group A dot 2"/>
          <p:cNvSpPr/>
          <p:nvPr/>
        </p:nvSpPr>
        <p:spPr>
          <a:xfrm>
            <a:off x="6003036" y="1458468"/>
            <a:ext cx="237744" cy="23774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Group A dot 3"/>
          <p:cNvSpPr/>
          <p:nvPr/>
        </p:nvSpPr>
        <p:spPr>
          <a:xfrm>
            <a:off x="6291072" y="145846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Group A dot 4"/>
          <p:cNvSpPr/>
          <p:nvPr/>
        </p:nvSpPr>
        <p:spPr>
          <a:xfrm>
            <a:off x="6579108" y="1458468"/>
            <a:ext cx="237744" cy="237744"/>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Group A dot 5"/>
          <p:cNvSpPr/>
          <p:nvPr/>
        </p:nvSpPr>
        <p:spPr>
          <a:xfrm>
            <a:off x="6867144" y="1458468"/>
            <a:ext cx="237744" cy="23774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Group A dot 6"/>
          <p:cNvSpPr/>
          <p:nvPr/>
        </p:nvSpPr>
        <p:spPr>
          <a:xfrm>
            <a:off x="7155180" y="1458468"/>
            <a:ext cx="237744" cy="237744"/>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Group A dot 7"/>
          <p:cNvSpPr/>
          <p:nvPr/>
        </p:nvSpPr>
        <p:spPr>
          <a:xfrm>
            <a:off x="7443216" y="145846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Group A dot 8"/>
          <p:cNvSpPr/>
          <p:nvPr/>
        </p:nvSpPr>
        <p:spPr>
          <a:xfrm>
            <a:off x="7731252" y="1458468"/>
            <a:ext cx="237744" cy="237744"/>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Group A dot 9"/>
          <p:cNvSpPr/>
          <p:nvPr/>
        </p:nvSpPr>
        <p:spPr>
          <a:xfrm>
            <a:off x="8019288" y="1458468"/>
            <a:ext cx="237744" cy="23774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Group A dot 10"/>
          <p:cNvSpPr/>
          <p:nvPr/>
        </p:nvSpPr>
        <p:spPr>
          <a:xfrm>
            <a:off x="8307324" y="145846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3" name="Split arrow B"/>
          <p:cNvCxnSpPr/>
          <p:nvPr/>
        </p:nvCxnSpPr>
        <p:spPr>
          <a:xfrm>
            <a:off x="2743200" y="1993392"/>
            <a:ext cx="530352" cy="406908"/>
          </a:xfrm>
          <a:prstGeom prst="line">
            <a:avLst/>
          </a:prstGeom>
          <a:ln w="317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Group B row"/>
          <p:cNvSpPr/>
          <p:nvPr/>
        </p:nvSpPr>
        <p:spPr>
          <a:xfrm>
            <a:off x="3337560" y="2057400"/>
            <a:ext cx="534924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Group B badge"/>
          <p:cNvSpPr/>
          <p:nvPr/>
        </p:nvSpPr>
        <p:spPr>
          <a:xfrm>
            <a:off x="3474720" y="22448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B</a:t>
            </a:r>
          </a:p>
        </p:txBody>
      </p:sp>
      <p:sp>
        <p:nvSpPr>
          <p:cNvPr id="56" name="Group B label"/>
          <p:cNvSpPr txBox="1"/>
          <p:nvPr/>
        </p:nvSpPr>
        <p:spPr>
          <a:xfrm>
            <a:off x="3886200" y="2057400"/>
            <a:ext cx="18288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Group B: first name</a:t>
            </a:r>
          </a:p>
        </p:txBody>
      </p:sp>
      <p:sp>
        <p:nvSpPr>
          <p:cNvPr id="57" name="Group B dot 1"/>
          <p:cNvSpPr/>
          <p:nvPr/>
        </p:nvSpPr>
        <p:spPr>
          <a:xfrm>
            <a:off x="5715000" y="2281428"/>
            <a:ext cx="237744" cy="237744"/>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Group B dot 2"/>
          <p:cNvSpPr/>
          <p:nvPr/>
        </p:nvSpPr>
        <p:spPr>
          <a:xfrm>
            <a:off x="6003036" y="2281428"/>
            <a:ext cx="237744" cy="23774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Group B dot 3"/>
          <p:cNvSpPr/>
          <p:nvPr/>
        </p:nvSpPr>
        <p:spPr>
          <a:xfrm>
            <a:off x="6291072" y="228142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Group B dot 4"/>
          <p:cNvSpPr/>
          <p:nvPr/>
        </p:nvSpPr>
        <p:spPr>
          <a:xfrm>
            <a:off x="6579108" y="228142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Group B dot 5"/>
          <p:cNvSpPr/>
          <p:nvPr/>
        </p:nvSpPr>
        <p:spPr>
          <a:xfrm>
            <a:off x="6867144" y="2281428"/>
            <a:ext cx="237744" cy="23774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Group B dot 6"/>
          <p:cNvSpPr/>
          <p:nvPr/>
        </p:nvSpPr>
        <p:spPr>
          <a:xfrm>
            <a:off x="7155180" y="228142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Group B dot 7"/>
          <p:cNvSpPr/>
          <p:nvPr/>
        </p:nvSpPr>
        <p:spPr>
          <a:xfrm>
            <a:off x="7443216" y="2281428"/>
            <a:ext cx="237744" cy="237744"/>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Group B dot 8"/>
          <p:cNvSpPr/>
          <p:nvPr/>
        </p:nvSpPr>
        <p:spPr>
          <a:xfrm>
            <a:off x="7731252" y="2281428"/>
            <a:ext cx="237744" cy="23774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Group B dot 9"/>
          <p:cNvSpPr/>
          <p:nvPr/>
        </p:nvSpPr>
        <p:spPr>
          <a:xfrm>
            <a:off x="8019288" y="228142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Group B dot 10"/>
          <p:cNvSpPr/>
          <p:nvPr/>
        </p:nvSpPr>
        <p:spPr>
          <a:xfrm>
            <a:off x="8307324" y="2281428"/>
            <a:ext cx="237744" cy="237744"/>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Balance table 1-1"/>
          <p:cNvSpPr/>
          <p:nvPr/>
        </p:nvSpPr>
        <p:spPr>
          <a:xfrm>
            <a:off x="3337560" y="2880360"/>
            <a:ext cx="221284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Balance table text 1-1"/>
          <p:cNvSpPr txBox="1"/>
          <p:nvPr/>
        </p:nvSpPr>
        <p:spPr>
          <a:xfrm>
            <a:off x="3429000" y="2880360"/>
            <a:ext cx="2029968" cy="292608"/>
          </a:xfrm>
          <a:prstGeom prst="rect">
            <a:avLst/>
          </a:prstGeom>
          <a:noFill/>
        </p:spPr>
        <p:txBody>
          <a:bodyPr wrap="square" lIns="0" rIns="0" tIns="0" bIns="0" anchor="ctr">
            <a:noAutofit/>
          </a:bodyPr>
          <a:lstStyle/>
          <a:p>
            <a:pPr algn="l">
              <a:spcAft>
                <a:spcPts val="400"/>
              </a:spcAft>
            </a:pPr>
            <a:r>
              <a:rPr sz="1150" b="1" lang="en-GB">
                <a:solidFill>
                  <a:schemeClr val="bg1"/>
                </a:solidFill>
              </a:rPr>
              <a:t>In our data</a:t>
            </a:r>
          </a:p>
        </p:txBody>
      </p:sp>
      <p:sp>
        <p:nvSpPr>
          <p:cNvPr id="69" name="Balance table 1-2"/>
          <p:cNvSpPr/>
          <p:nvPr/>
        </p:nvSpPr>
        <p:spPr>
          <a:xfrm>
            <a:off x="5577840" y="2880360"/>
            <a:ext cx="152704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Balance table text 1-2"/>
          <p:cNvSpPr txBox="1"/>
          <p:nvPr/>
        </p:nvSpPr>
        <p:spPr>
          <a:xfrm>
            <a:off x="5669280" y="2880360"/>
            <a:ext cx="1344168"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Group A</a:t>
            </a:r>
          </a:p>
        </p:txBody>
      </p:sp>
      <p:sp>
        <p:nvSpPr>
          <p:cNvPr id="71" name="Balance table 1-3"/>
          <p:cNvSpPr/>
          <p:nvPr/>
        </p:nvSpPr>
        <p:spPr>
          <a:xfrm>
            <a:off x="7132320" y="2880360"/>
            <a:ext cx="1554480"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Balance table text 1-3"/>
          <p:cNvSpPr txBox="1"/>
          <p:nvPr/>
        </p:nvSpPr>
        <p:spPr>
          <a:xfrm>
            <a:off x="7223760" y="2880360"/>
            <a:ext cx="1344168"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Group B</a:t>
            </a:r>
          </a:p>
        </p:txBody>
      </p:sp>
      <p:sp>
        <p:nvSpPr>
          <p:cNvPr id="73" name="Balance table 2-1"/>
          <p:cNvSpPr/>
          <p:nvPr/>
        </p:nvSpPr>
        <p:spPr>
          <a:xfrm>
            <a:off x="3337560" y="3200400"/>
            <a:ext cx="221284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Balance table text 2-1"/>
          <p:cNvSpPr txBox="1"/>
          <p:nvPr/>
        </p:nvSpPr>
        <p:spPr>
          <a:xfrm>
            <a:off x="3429000" y="3200400"/>
            <a:ext cx="202996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Customers</a:t>
            </a:r>
          </a:p>
        </p:txBody>
      </p:sp>
      <p:sp>
        <p:nvSpPr>
          <p:cNvPr id="75" name="Balance table 2-2"/>
          <p:cNvSpPr/>
          <p:nvPr/>
        </p:nvSpPr>
        <p:spPr>
          <a:xfrm>
            <a:off x="5577840" y="3200400"/>
            <a:ext cx="152704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Balance table text 2-2"/>
          <p:cNvSpPr txBox="1"/>
          <p:nvPr/>
        </p:nvSpPr>
        <p:spPr>
          <a:xfrm>
            <a:off x="5669280" y="3200400"/>
            <a:ext cx="13441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20,000</a:t>
            </a:r>
          </a:p>
        </p:txBody>
      </p:sp>
      <p:sp>
        <p:nvSpPr>
          <p:cNvPr id="77" name="Balance table 2-3"/>
          <p:cNvSpPr/>
          <p:nvPr/>
        </p:nvSpPr>
        <p:spPr>
          <a:xfrm>
            <a:off x="7132320" y="3200400"/>
            <a:ext cx="15544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Balance table text 2-3"/>
          <p:cNvSpPr txBox="1"/>
          <p:nvPr/>
        </p:nvSpPr>
        <p:spPr>
          <a:xfrm>
            <a:off x="7223760" y="3200400"/>
            <a:ext cx="13441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20,000</a:t>
            </a:r>
          </a:p>
        </p:txBody>
      </p:sp>
      <p:sp>
        <p:nvSpPr>
          <p:cNvPr id="79" name="Balance table 3-1"/>
          <p:cNvSpPr/>
          <p:nvPr/>
        </p:nvSpPr>
        <p:spPr>
          <a:xfrm>
            <a:off x="3337560" y="3520440"/>
            <a:ext cx="221284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Balance table text 3-1"/>
          <p:cNvSpPr txBox="1"/>
          <p:nvPr/>
        </p:nvSpPr>
        <p:spPr>
          <a:xfrm>
            <a:off x="3429000" y="3520440"/>
            <a:ext cx="202996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Read on mobile</a:t>
            </a:r>
          </a:p>
        </p:txBody>
      </p:sp>
      <p:sp>
        <p:nvSpPr>
          <p:cNvPr id="81" name="Balance table 3-2"/>
          <p:cNvSpPr/>
          <p:nvPr/>
        </p:nvSpPr>
        <p:spPr>
          <a:xfrm>
            <a:off x="5577840" y="3520440"/>
            <a:ext cx="152704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Balance table text 3-2"/>
          <p:cNvSpPr txBox="1"/>
          <p:nvPr/>
        </p:nvSpPr>
        <p:spPr>
          <a:xfrm>
            <a:off x="5669280" y="3520440"/>
            <a:ext cx="13441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59.5 %</a:t>
            </a:r>
          </a:p>
        </p:txBody>
      </p:sp>
      <p:sp>
        <p:nvSpPr>
          <p:cNvPr id="83" name="Balance table 3-3"/>
          <p:cNvSpPr/>
          <p:nvPr/>
        </p:nvSpPr>
        <p:spPr>
          <a:xfrm>
            <a:off x="7132320" y="3520440"/>
            <a:ext cx="15544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Balance table text 3-3"/>
          <p:cNvSpPr txBox="1"/>
          <p:nvPr/>
        </p:nvSpPr>
        <p:spPr>
          <a:xfrm>
            <a:off x="7223760" y="3520440"/>
            <a:ext cx="13441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59.9 %</a:t>
            </a:r>
          </a:p>
        </p:txBody>
      </p:sp>
      <p:sp>
        <p:nvSpPr>
          <p:cNvPr id="85" name="Balance table 4-1"/>
          <p:cNvSpPr/>
          <p:nvPr/>
        </p:nvSpPr>
        <p:spPr>
          <a:xfrm>
            <a:off x="3337560" y="3840480"/>
            <a:ext cx="221284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Balance table text 4-1"/>
          <p:cNvSpPr txBox="1"/>
          <p:nvPr/>
        </p:nvSpPr>
        <p:spPr>
          <a:xfrm>
            <a:off x="3429000" y="3840480"/>
            <a:ext cx="202996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In Spain</a:t>
            </a:r>
          </a:p>
        </p:txBody>
      </p:sp>
      <p:sp>
        <p:nvSpPr>
          <p:cNvPr id="87" name="Balance table 4-2"/>
          <p:cNvSpPr/>
          <p:nvPr/>
        </p:nvSpPr>
        <p:spPr>
          <a:xfrm>
            <a:off x="5577840" y="3840480"/>
            <a:ext cx="152704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Balance table text 4-2"/>
          <p:cNvSpPr txBox="1"/>
          <p:nvPr/>
        </p:nvSpPr>
        <p:spPr>
          <a:xfrm>
            <a:off x="5669280" y="3840480"/>
            <a:ext cx="13441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50.0 %</a:t>
            </a:r>
          </a:p>
        </p:txBody>
      </p:sp>
      <p:sp>
        <p:nvSpPr>
          <p:cNvPr id="89" name="Balance table 4-3"/>
          <p:cNvSpPr/>
          <p:nvPr/>
        </p:nvSpPr>
        <p:spPr>
          <a:xfrm>
            <a:off x="7132320" y="3840480"/>
            <a:ext cx="15544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Balance table text 4-3"/>
          <p:cNvSpPr txBox="1"/>
          <p:nvPr/>
        </p:nvSpPr>
        <p:spPr>
          <a:xfrm>
            <a:off x="7223760" y="3840480"/>
            <a:ext cx="13441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50.0 %</a:t>
            </a:r>
          </a:p>
        </p:txBody>
      </p:sp>
      <p:sp>
        <p:nvSpPr>
          <p:cNvPr id="91" name="Random assignment box"/>
          <p:cNvSpPr/>
          <p:nvPr/>
        </p:nvSpPr>
        <p:spPr>
          <a:xfrm>
            <a:off x="457200" y="429768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2" name="Icon Random assignment" descr=""/>
          <p:cNvPicPr>
            <a:picLocks noChangeAspect="1"/>
          </p:cNvPicPr>
          <p:nvPr/>
        </p:nvPicPr>
        <p:blipFill>
          <a:blip r:embed="rId4"/>
          <a:stretch>
            <a:fillRect/>
          </a:stretch>
        </p:blipFill>
        <p:spPr>
          <a:xfrm>
            <a:off x="658368" y="4320540"/>
            <a:ext cx="365760" cy="365760"/>
          </a:xfrm>
          <a:prstGeom prst="rect">
            <a:avLst/>
          </a:prstGeom>
        </p:spPr>
      </p:pic>
      <p:sp>
        <p:nvSpPr>
          <p:cNvPr id="93" name="Random assignment text"/>
          <p:cNvSpPr txBox="1"/>
          <p:nvPr/>
        </p:nvSpPr>
        <p:spPr>
          <a:xfrm>
            <a:off x="1207008" y="4297680"/>
            <a:ext cx="7315200" cy="411480"/>
          </a:xfrm>
          <a:prstGeom prst="rect">
            <a:avLst/>
          </a:prstGeom>
          <a:noFill/>
        </p:spPr>
        <p:txBody>
          <a:bodyPr wrap="square" lIns="0" rIns="0" tIns="0" bIns="0" anchor="ctr">
            <a:noAutofit/>
          </a:bodyPr>
          <a:lstStyle/>
          <a:p>
            <a:pPr algn="l">
              <a:spcAft>
                <a:spcPts val="400"/>
              </a:spcAft>
            </a:pPr>
            <a:r>
              <a:rPr sz="1300" b="1" lang="en-GB">
                <a:solidFill>
                  <a:schemeClr val="bg1"/>
                </a:solidFill>
              </a:rPr>
              <a:t>Random assignment: </a:t>
            </a:r>
            <a:r>
              <a:rPr sz="1300" b="0" lang="en-GB">
                <a:solidFill>
                  <a:schemeClr val="bg1"/>
                </a:solidFill>
              </a:rPr>
              <a:t>the groups differ only by chance and by the e-mail.</a:t>
            </a:r>
          </a:p>
        </p:txBody>
      </p:sp>
      <p:sp>
        <p:nvSpPr>
          <p:cNvPr id="9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 dots: illustration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is an A/B 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B flow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Customers</a:t>
            </a:r>
          </a:p>
        </p:txBody>
      </p:sp>
      <p:sp>
        <p:nvSpPr>
          <p:cNvPr id="11" name="A/B flow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Random</a:t>
            </a:r>
            <a:br/>
            <a:r>
              <a:rPr sz="1200" b="1" lang="en-GB">
                <a:solidFill>
                  <a:schemeClr val="tx2"/>
                </a:solidFill>
              </a:rPr>
              <a:t>split</a:t>
            </a:r>
          </a:p>
        </p:txBody>
      </p:sp>
      <p:sp>
        <p:nvSpPr>
          <p:cNvPr id="12" name="A/B flow step 3"/>
          <p:cNvSpPr/>
          <p:nvPr/>
        </p:nvSpPr>
        <p:spPr>
          <a:xfrm>
            <a:off x="3705149" y="1234440"/>
            <a:ext cx="1733702" cy="548640"/>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A or B</a:t>
            </a:r>
          </a:p>
        </p:txBody>
      </p:sp>
      <p:sp>
        <p:nvSpPr>
          <p:cNvPr id="13" name="A/B flow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Measure</a:t>
            </a:r>
            <a:br/>
            <a:r>
              <a:rPr sz="1200" b="1" lang="en-GB">
                <a:solidFill>
                  <a:schemeClr val="tx2"/>
                </a:solidFill>
              </a:rPr>
              <a:t>clicks</a:t>
            </a:r>
          </a:p>
        </p:txBody>
      </p:sp>
      <p:sp>
        <p:nvSpPr>
          <p:cNvPr id="14" name="A/B flow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Decide</a:t>
            </a:r>
          </a:p>
        </p:txBody>
      </p:sp>
      <p:sp>
        <p:nvSpPr>
          <p:cNvPr id="15" name="Version 1 row"/>
          <p:cNvSpPr/>
          <p:nvPr/>
        </p:nvSpPr>
        <p:spPr>
          <a:xfrm>
            <a:off x="457200" y="1920240"/>
            <a:ext cx="404622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Version 1 bar"/>
          <p:cNvSpPr/>
          <p:nvPr/>
        </p:nvSpPr>
        <p:spPr>
          <a:xfrm>
            <a:off x="457200" y="19202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ersion 1 text"/>
          <p:cNvSpPr txBox="1"/>
          <p:nvPr/>
        </p:nvSpPr>
        <p:spPr>
          <a:xfrm>
            <a:off x="658368" y="1920240"/>
            <a:ext cx="3753612"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A = control: </a:t>
            </a:r>
            <a:r>
              <a:rPr sz="1300" b="0" lang="en-GB">
                <a:solidFill>
                  <a:schemeClr val="tx1"/>
                </a:solidFill>
              </a:rPr>
              <a:t>the current e-mail</a:t>
            </a:r>
          </a:p>
        </p:txBody>
      </p:sp>
      <p:sp>
        <p:nvSpPr>
          <p:cNvPr id="18" name="Version 2 row"/>
          <p:cNvSpPr/>
          <p:nvPr/>
        </p:nvSpPr>
        <p:spPr>
          <a:xfrm>
            <a:off x="4640580" y="1920240"/>
            <a:ext cx="404622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Version 2 bar"/>
          <p:cNvSpPr/>
          <p:nvPr/>
        </p:nvSpPr>
        <p:spPr>
          <a:xfrm>
            <a:off x="4640580" y="19202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ersion 2 text"/>
          <p:cNvSpPr txBox="1"/>
          <p:nvPr/>
        </p:nvSpPr>
        <p:spPr>
          <a:xfrm>
            <a:off x="4841748" y="1920240"/>
            <a:ext cx="3753612"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B = variant: </a:t>
            </a:r>
            <a:r>
              <a:rPr sz="1300" b="0" lang="en-GB">
                <a:solidFill>
                  <a:schemeClr val="tx1"/>
                </a:solidFill>
              </a:rPr>
              <a:t>the same e-mail with one change, the treatment</a:t>
            </a:r>
          </a:p>
        </p:txBody>
      </p:sp>
      <p:sp>
        <p:nvSpPr>
          <p:cNvPr id="21" name="Test type 1 tile"/>
          <p:cNvSpPr/>
          <p:nvPr/>
        </p:nvSpPr>
        <p:spPr>
          <a:xfrm>
            <a:off x="457200" y="2606040"/>
            <a:ext cx="265176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Test type 1" descr=""/>
          <p:cNvPicPr>
            <a:picLocks noChangeAspect="1"/>
          </p:cNvPicPr>
          <p:nvPr/>
        </p:nvPicPr>
        <p:blipFill>
          <a:blip r:embed="rId3"/>
          <a:stretch>
            <a:fillRect/>
          </a:stretch>
        </p:blipFill>
        <p:spPr>
          <a:xfrm>
            <a:off x="594360" y="2743200"/>
            <a:ext cx="365760" cy="365760"/>
          </a:xfrm>
          <a:prstGeom prst="rect">
            <a:avLst/>
          </a:prstGeom>
        </p:spPr>
      </p:pic>
      <p:sp>
        <p:nvSpPr>
          <p:cNvPr id="23" name="Test type 1 heading"/>
          <p:cNvSpPr txBox="1"/>
          <p:nvPr/>
        </p:nvSpPr>
        <p:spPr>
          <a:xfrm>
            <a:off x="1051560" y="27432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A/B/n</a:t>
            </a:r>
          </a:p>
        </p:txBody>
      </p:sp>
      <p:sp>
        <p:nvSpPr>
          <p:cNvPr id="24" name="Test type 1 text"/>
          <p:cNvSpPr txBox="1"/>
          <p:nvPr/>
        </p:nvSpPr>
        <p:spPr>
          <a:xfrm>
            <a:off x="594360" y="3227832"/>
            <a:ext cx="2377440" cy="320040"/>
          </a:xfrm>
          <a:prstGeom prst="rect">
            <a:avLst/>
          </a:prstGeom>
          <a:noFill/>
        </p:spPr>
        <p:txBody>
          <a:bodyPr wrap="square" lIns="0" rIns="0" tIns="0" bIns="0" anchor="t">
            <a:noAutofit/>
          </a:bodyPr>
          <a:lstStyle/>
          <a:p>
            <a:pPr algn="l">
              <a:spcAft>
                <a:spcPts val="400"/>
              </a:spcAft>
            </a:pPr>
            <a:r>
              <a:rPr sz="1300" b="0" lang="en-GB">
                <a:solidFill>
                  <a:schemeClr val="tx1"/>
                </a:solidFill>
              </a:rPr>
              <a:t>several versions of one part</a:t>
            </a:r>
          </a:p>
        </p:txBody>
      </p:sp>
      <p:sp>
        <p:nvSpPr>
          <p:cNvPr id="25" name="Test type 2 tile"/>
          <p:cNvSpPr/>
          <p:nvPr/>
        </p:nvSpPr>
        <p:spPr>
          <a:xfrm>
            <a:off x="3246120" y="2606040"/>
            <a:ext cx="265176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est type 2" descr=""/>
          <p:cNvPicPr>
            <a:picLocks noChangeAspect="1"/>
          </p:cNvPicPr>
          <p:nvPr/>
        </p:nvPicPr>
        <p:blipFill>
          <a:blip r:embed="rId4"/>
          <a:stretch>
            <a:fillRect/>
          </a:stretch>
        </p:blipFill>
        <p:spPr>
          <a:xfrm>
            <a:off x="3383280" y="2743200"/>
            <a:ext cx="365760" cy="365760"/>
          </a:xfrm>
          <a:prstGeom prst="rect">
            <a:avLst/>
          </a:prstGeom>
        </p:spPr>
      </p:pic>
      <p:sp>
        <p:nvSpPr>
          <p:cNvPr id="27" name="Test type 2 heading"/>
          <p:cNvSpPr txBox="1"/>
          <p:nvPr/>
        </p:nvSpPr>
        <p:spPr>
          <a:xfrm>
            <a:off x="3840480" y="27432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Factorial</a:t>
            </a:r>
          </a:p>
        </p:txBody>
      </p:sp>
      <p:sp>
        <p:nvSpPr>
          <p:cNvPr id="28" name="Test type 2 text"/>
          <p:cNvSpPr txBox="1"/>
          <p:nvPr/>
        </p:nvSpPr>
        <p:spPr>
          <a:xfrm>
            <a:off x="3383280" y="3227832"/>
            <a:ext cx="2377440" cy="320040"/>
          </a:xfrm>
          <a:prstGeom prst="rect">
            <a:avLst/>
          </a:prstGeom>
          <a:noFill/>
        </p:spPr>
        <p:txBody>
          <a:bodyPr wrap="square" lIns="0" rIns="0" tIns="0" bIns="0" anchor="t">
            <a:noAutofit/>
          </a:bodyPr>
          <a:lstStyle/>
          <a:p>
            <a:pPr algn="l">
              <a:spcAft>
                <a:spcPts val="400"/>
              </a:spcAft>
            </a:pPr>
            <a:r>
              <a:rPr sz="1300" b="0" lang="en-GB">
                <a:solidFill>
                  <a:schemeClr val="tx1"/>
                </a:solidFill>
              </a:rPr>
              <a:t>two changes at once</a:t>
            </a:r>
          </a:p>
        </p:txBody>
      </p:sp>
      <p:sp>
        <p:nvSpPr>
          <p:cNvPr id="29" name="Test type 3 tile"/>
          <p:cNvSpPr/>
          <p:nvPr/>
        </p:nvSpPr>
        <p:spPr>
          <a:xfrm>
            <a:off x="6035040" y="2606040"/>
            <a:ext cx="265176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Test type 3" descr=""/>
          <p:cNvPicPr>
            <a:picLocks noChangeAspect="1"/>
          </p:cNvPicPr>
          <p:nvPr/>
        </p:nvPicPr>
        <p:blipFill>
          <a:blip r:embed="rId5"/>
          <a:stretch>
            <a:fillRect/>
          </a:stretch>
        </p:blipFill>
        <p:spPr>
          <a:xfrm>
            <a:off x="6172200" y="2743200"/>
            <a:ext cx="365760" cy="365760"/>
          </a:xfrm>
          <a:prstGeom prst="rect">
            <a:avLst/>
          </a:prstGeom>
        </p:spPr>
      </p:pic>
      <p:sp>
        <p:nvSpPr>
          <p:cNvPr id="31" name="Test type 3 heading"/>
          <p:cNvSpPr txBox="1"/>
          <p:nvPr/>
        </p:nvSpPr>
        <p:spPr>
          <a:xfrm>
            <a:off x="6629400" y="27432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A/A</a:t>
            </a:r>
          </a:p>
        </p:txBody>
      </p:sp>
      <p:sp>
        <p:nvSpPr>
          <p:cNvPr id="32" name="Test type 3 text"/>
          <p:cNvSpPr txBox="1"/>
          <p:nvPr/>
        </p:nvSpPr>
        <p:spPr>
          <a:xfrm>
            <a:off x="6172200" y="3227832"/>
            <a:ext cx="2377440" cy="320040"/>
          </a:xfrm>
          <a:prstGeom prst="rect">
            <a:avLst/>
          </a:prstGeom>
          <a:noFill/>
        </p:spPr>
        <p:txBody>
          <a:bodyPr wrap="square" lIns="0" rIns="0" tIns="0" bIns="0" anchor="t">
            <a:noAutofit/>
          </a:bodyPr>
          <a:lstStyle/>
          <a:p>
            <a:pPr algn="l">
              <a:spcAft>
                <a:spcPts val="400"/>
              </a:spcAft>
            </a:pPr>
            <a:r>
              <a:rPr sz="1300" b="0" lang="en-GB">
                <a:solidFill>
                  <a:schemeClr val="tx1"/>
                </a:solidFill>
              </a:rPr>
              <a:t>the same e-mail twice</a:t>
            </a:r>
          </a:p>
        </p:txBody>
      </p:sp>
      <p:sp>
        <p:nvSpPr>
          <p:cNvPr id="33" name="Effect box"/>
          <p:cNvSpPr/>
          <p:nvPr/>
        </p:nvSpPr>
        <p:spPr>
          <a:xfrm>
            <a:off x="457200" y="374904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Effect" descr=""/>
          <p:cNvPicPr>
            <a:picLocks noChangeAspect="1"/>
          </p:cNvPicPr>
          <p:nvPr/>
        </p:nvPicPr>
        <p:blipFill>
          <a:blip r:embed="rId6"/>
          <a:stretch>
            <a:fillRect/>
          </a:stretch>
        </p:blipFill>
        <p:spPr>
          <a:xfrm>
            <a:off x="658368" y="3817620"/>
            <a:ext cx="365760" cy="365760"/>
          </a:xfrm>
          <a:prstGeom prst="rect">
            <a:avLst/>
          </a:prstGeom>
        </p:spPr>
      </p:pic>
      <p:sp>
        <p:nvSpPr>
          <p:cNvPr id="35" name="Effect text"/>
          <p:cNvSpPr txBox="1"/>
          <p:nvPr/>
        </p:nvSpPr>
        <p:spPr>
          <a:xfrm>
            <a:off x="1207008" y="3749040"/>
            <a:ext cx="7315200" cy="502920"/>
          </a:xfrm>
          <a:prstGeom prst="rect">
            <a:avLst/>
          </a:prstGeom>
          <a:noFill/>
        </p:spPr>
        <p:txBody>
          <a:bodyPr wrap="square" lIns="0" rIns="0" tIns="0" bIns="0" anchor="ctr">
            <a:noAutofit/>
          </a:bodyPr>
          <a:lstStyle/>
          <a:p>
            <a:pPr algn="l">
              <a:spcAft>
                <a:spcPts val="400"/>
              </a:spcAft>
            </a:pPr>
            <a:r>
              <a:rPr sz="1300" b="1" lang="en-GB">
                <a:solidFill>
                  <a:schemeClr val="bg1"/>
                </a:solidFill>
              </a:rPr>
              <a:t>Effect = click rate B − click rate A, </a:t>
            </a:r>
            <a:r>
              <a:rPr sz="1300" b="0" lang="en-GB">
                <a:solidFill>
                  <a:schemeClr val="bg1"/>
                </a:solidFill>
              </a:rPr>
              <a:t>measured on the same day, with the same kind of customers.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warm-up resolved: naive vs randomised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0_naive.png" descr="Measured lift of the same campaign: exposed vs not exposed +316 %, matched on age and gender +222 %, randomised test +73 %."/>
          <p:cNvPicPr>
            <a:picLocks noChangeAspect="1"/>
          </p:cNvPicPr>
          <p:nvPr/>
        </p:nvPicPr>
        <p:blipFill>
          <a:blip r:embed="rId3"/>
          <a:stretch>
            <a:fillRect/>
          </a:stretch>
        </p:blipFill>
        <p:spPr>
          <a:xfrm>
            <a:off x="457200" y="1234440"/>
            <a:ext cx="4754880" cy="2743200"/>
          </a:xfrm>
          <a:prstGeom prst="rect">
            <a:avLst/>
          </a:prstGeom>
        </p:spPr>
      </p:pic>
      <p:sp>
        <p:nvSpPr>
          <p:cNvPr id="11" name="Overstated box"/>
          <p:cNvSpPr/>
          <p:nvPr/>
        </p:nvSpPr>
        <p:spPr>
          <a:xfrm>
            <a:off x="5349240" y="1234440"/>
            <a:ext cx="333756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erstated bar"/>
          <p:cNvSpPr/>
          <p:nvPr/>
        </p:nvSpPr>
        <p:spPr>
          <a:xfrm>
            <a:off x="5349240" y="1234440"/>
            <a:ext cx="64008" cy="11887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erstated figure"/>
          <p:cNvSpPr txBox="1"/>
          <p:nvPr/>
        </p:nvSpPr>
        <p:spPr>
          <a:xfrm>
            <a:off x="5532120" y="1234440"/>
            <a:ext cx="914400" cy="11887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a:t>
            </a:r>
          </a:p>
        </p:txBody>
      </p:sp>
      <p:sp>
        <p:nvSpPr>
          <p:cNvPr id="14" name="Overstated label"/>
          <p:cNvSpPr txBox="1"/>
          <p:nvPr/>
        </p:nvSpPr>
        <p:spPr>
          <a:xfrm>
            <a:off x="6446520" y="1234440"/>
            <a:ext cx="2148840" cy="1188720"/>
          </a:xfrm>
          <a:prstGeom prst="rect">
            <a:avLst/>
          </a:prstGeom>
          <a:noFill/>
        </p:spPr>
        <p:txBody>
          <a:bodyPr wrap="square" lIns="0" rIns="0" tIns="0" bIns="0" anchor="ctr">
            <a:noAutofit/>
          </a:bodyPr>
          <a:lstStyle/>
          <a:p>
            <a:pPr algn="l">
              <a:spcAft>
                <a:spcPts val="400"/>
              </a:spcAft>
            </a:pPr>
            <a:r>
              <a:rPr sz="1200" b="0" lang="en-GB">
                <a:solidFill>
                  <a:schemeClr val="tx1"/>
                </a:solidFill>
              </a:rPr>
              <a:t>the naive comparison overstates the effect: </a:t>
            </a:r>
            <a:r>
              <a:rPr sz="1200" b="1" lang="en-GB">
                <a:solidFill>
                  <a:schemeClr val="tx2"/>
                </a:solidFill>
              </a:rPr>
              <a:t>316 vs 73</a:t>
            </a:r>
          </a:p>
        </p:txBody>
      </p:sp>
      <p:sp>
        <p:nvSpPr>
          <p:cNvPr id="15" name="Why box"/>
          <p:cNvSpPr/>
          <p:nvPr/>
        </p:nvSpPr>
        <p:spPr>
          <a:xfrm>
            <a:off x="5349240" y="2560320"/>
            <a:ext cx="33375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Why" descr=""/>
          <p:cNvPicPr>
            <a:picLocks noChangeAspect="1"/>
          </p:cNvPicPr>
          <p:nvPr/>
        </p:nvPicPr>
        <p:blipFill>
          <a:blip r:embed="rId4"/>
          <a:stretch>
            <a:fillRect/>
          </a:stretch>
        </p:blipFill>
        <p:spPr>
          <a:xfrm>
            <a:off x="5550408" y="3086100"/>
            <a:ext cx="365760" cy="365760"/>
          </a:xfrm>
          <a:prstGeom prst="rect">
            <a:avLst/>
          </a:prstGeom>
        </p:spPr>
      </p:pic>
      <p:sp>
        <p:nvSpPr>
          <p:cNvPr id="17" name="Why text"/>
          <p:cNvSpPr txBox="1"/>
          <p:nvPr/>
        </p:nvSpPr>
        <p:spPr>
          <a:xfrm>
            <a:off x="6099048" y="2560320"/>
            <a:ext cx="2423160" cy="1417320"/>
          </a:xfrm>
          <a:prstGeom prst="rect">
            <a:avLst/>
          </a:prstGeom>
          <a:noFill/>
        </p:spPr>
        <p:txBody>
          <a:bodyPr wrap="square" lIns="0" rIns="0" tIns="0" bIns="0" anchor="ctr">
            <a:noAutofit/>
          </a:bodyPr>
          <a:lstStyle/>
          <a:p>
            <a:pPr algn="l">
              <a:spcAft>
                <a:spcPts val="400"/>
              </a:spcAft>
            </a:pPr>
            <a:r>
              <a:rPr sz="1200" b="1" lang="en-GB">
                <a:solidFill>
                  <a:schemeClr val="tx2"/>
                </a:solidFill>
              </a:rPr>
              <a:t>Why? </a:t>
            </a:r>
            <a:r>
              <a:rPr sz="1200" b="0" lang="en-GB">
                <a:solidFill>
                  <a:schemeClr val="tx1"/>
                </a:solidFill>
              </a:rPr>
              <a:t>The platform showed the ad to people who were more likely to buy anyway.</a:t>
            </a:r>
          </a:p>
        </p:txBody>
      </p:sp>
      <p:sp>
        <p:nvSpPr>
          <p:cNvPr id="18" name="Warm-up message box"/>
          <p:cNvSpPr/>
          <p:nvPr/>
        </p:nvSpPr>
        <p:spPr>
          <a:xfrm>
            <a:off x="457200" y="41605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Warm-up message text"/>
          <p:cNvSpPr txBox="1"/>
          <p:nvPr/>
        </p:nvSpPr>
        <p:spPr>
          <a:xfrm>
            <a:off x="658368" y="416052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The ad finds buyers more than it creates them: </a:t>
            </a:r>
            <a:r>
              <a:rPr sz="1250" b="0" lang="en-GB">
                <a:solidFill>
                  <a:schemeClr val="bg1"/>
                </a:solidFill>
              </a:rPr>
              <a:t>only a random control group shows the effect.</a:t>
            </a:r>
          </a:p>
        </p:txBody>
      </p:sp>
      <p:sp>
        <p:nvSpPr>
          <p:cNvPr id="2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Gordon et al. (2019), Marketing Science, Study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5 · variables, power, checks</a:t>
            </a:r>
          </a:p>
        </p:txBody>
      </p:sp>
      <p:sp>
        <p:nvSpPr>
          <p:cNvPr id="3" name="Title 2"/>
          <p:cNvSpPr>
            <a:spLocks noGrp="1"/>
          </p:cNvSpPr>
          <p:nvPr>
            <p:ph type="ctrTitle"/>
          </p:nvPr>
        </p:nvSpPr>
        <p:spPr/>
        <p:txBody>
          <a:bodyPr/>
          <a:lstStyle/>
          <a:p>
            <a:r>
              <a:rPr lang="en-GB"/>
              <a:t>Designing and analysing an A/B test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we change, what we measure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dependent body"/>
          <p:cNvSpPr/>
          <p:nvPr/>
        </p:nvSpPr>
        <p:spPr>
          <a:xfrm>
            <a:off x="457200" y="1645920"/>
            <a:ext cx="356616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dependent header"/>
          <p:cNvSpPr/>
          <p:nvPr/>
        </p:nvSpPr>
        <p:spPr>
          <a:xfrm>
            <a:off x="457200" y="1234440"/>
            <a:ext cx="35661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dependent heading"/>
          <p:cNvSpPr txBox="1"/>
          <p:nvPr/>
        </p:nvSpPr>
        <p:spPr>
          <a:xfrm>
            <a:off x="594360" y="1234440"/>
            <a:ext cx="29260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Independent variable</a:t>
            </a:r>
          </a:p>
        </p:txBody>
      </p:sp>
      <p:pic>
        <p:nvPicPr>
          <p:cNvPr id="13" name="Icon Independent" descr=""/>
          <p:cNvPicPr>
            <a:picLocks noChangeAspect="1"/>
          </p:cNvPicPr>
          <p:nvPr/>
        </p:nvPicPr>
        <p:blipFill>
          <a:blip r:embed="rId3"/>
          <a:stretch>
            <a:fillRect/>
          </a:stretch>
        </p:blipFill>
        <p:spPr>
          <a:xfrm>
            <a:off x="3593592" y="1293876"/>
            <a:ext cx="292608" cy="292608"/>
          </a:xfrm>
          <a:prstGeom prst="rect">
            <a:avLst/>
          </a:prstGeom>
        </p:spPr>
      </p:pic>
      <p:sp>
        <p:nvSpPr>
          <p:cNvPr id="14" name="Independent text"/>
          <p:cNvSpPr txBox="1"/>
          <p:nvPr/>
        </p:nvSpPr>
        <p:spPr>
          <a:xfrm>
            <a:off x="621792" y="1719072"/>
            <a:ext cx="3236976" cy="384048"/>
          </a:xfrm>
          <a:prstGeom prst="rect">
            <a:avLst/>
          </a:prstGeom>
          <a:noFill/>
        </p:spPr>
        <p:txBody>
          <a:bodyPr wrap="square" lIns="0" rIns="0" tIns="0" bIns="0" anchor="ctr">
            <a:noAutofit/>
          </a:bodyPr>
          <a:lstStyle/>
          <a:p>
            <a:pPr algn="l">
              <a:spcAft>
                <a:spcPts val="0"/>
              </a:spcAft>
            </a:pPr>
            <a:r>
              <a:rPr sz="1200" b="1" lang="en-GB">
                <a:solidFill>
                  <a:schemeClr val="tx2"/>
                </a:solidFill>
              </a:rPr>
              <a:t>The treatment: </a:t>
            </a:r>
            <a:r>
              <a:rPr sz="1200" b="0" lang="en-GB">
                <a:solidFill>
                  <a:schemeClr val="tx1"/>
                </a:solidFill>
              </a:rPr>
              <a:t>the subject line</a:t>
            </a:r>
          </a:p>
        </p:txBody>
      </p:sp>
      <p:sp>
        <p:nvSpPr>
          <p:cNvPr id="15" name="Independent 1 chip"/>
          <p:cNvSpPr/>
          <p:nvPr/>
        </p:nvSpPr>
        <p:spPr>
          <a:xfrm>
            <a:off x="621792" y="2157984"/>
            <a:ext cx="1549908" cy="292608"/>
          </a:xfrm>
          <a:prstGeom prst="roundRect">
            <a:avLst>
              <a:gd name="adj" fmla="val 50000"/>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ndependent 1 chip text"/>
          <p:cNvSpPr txBox="1"/>
          <p:nvPr/>
        </p:nvSpPr>
        <p:spPr>
          <a:xfrm>
            <a:off x="621792" y="2157984"/>
            <a:ext cx="1549908" cy="292608"/>
          </a:xfrm>
          <a:prstGeom prst="rect">
            <a:avLst/>
          </a:prstGeom>
          <a:noFill/>
        </p:spPr>
        <p:txBody>
          <a:bodyPr wrap="square" lIns="0" rIns="0" tIns="0" bIns="0" anchor="ctr">
            <a:noAutofit/>
          </a:bodyPr>
          <a:lstStyle/>
          <a:p>
            <a:pPr algn="ctr">
              <a:spcAft>
                <a:spcPts val="400"/>
              </a:spcAft>
            </a:pPr>
            <a:r>
              <a:rPr sz="1200" b="1" lang="en-GB">
                <a:solidFill>
                  <a:schemeClr val="bg1"/>
                </a:solidFill>
              </a:rPr>
              <a:t>A</a:t>
            </a:r>
            <a:r>
              <a:rPr sz="1200" b="0" lang="en-GB">
                <a:solidFill>
                  <a:schemeClr val="bg1"/>
                </a:solidFill>
              </a:rPr>
              <a:t>  generic</a:t>
            </a:r>
          </a:p>
        </p:txBody>
      </p:sp>
      <p:sp>
        <p:nvSpPr>
          <p:cNvPr id="17" name="Independent 2 chip"/>
          <p:cNvSpPr/>
          <p:nvPr/>
        </p:nvSpPr>
        <p:spPr>
          <a:xfrm>
            <a:off x="2308860" y="2157984"/>
            <a:ext cx="1549908" cy="292608"/>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ndependent 2 chip text"/>
          <p:cNvSpPr txBox="1"/>
          <p:nvPr/>
        </p:nvSpPr>
        <p:spPr>
          <a:xfrm>
            <a:off x="2308860" y="2157984"/>
            <a:ext cx="1549908" cy="292608"/>
          </a:xfrm>
          <a:prstGeom prst="rect">
            <a:avLst/>
          </a:prstGeom>
          <a:noFill/>
        </p:spPr>
        <p:txBody>
          <a:bodyPr wrap="square" lIns="0" rIns="0" tIns="0" bIns="0" anchor="ctr">
            <a:noAutofit/>
          </a:bodyPr>
          <a:lstStyle/>
          <a:p>
            <a:pPr algn="ctr">
              <a:spcAft>
                <a:spcPts val="400"/>
              </a:spcAft>
            </a:pPr>
            <a:r>
              <a:rPr sz="1200" b="1" lang="en-GB">
                <a:solidFill>
                  <a:schemeClr val="bg1"/>
                </a:solidFill>
              </a:rPr>
              <a:t>B</a:t>
            </a:r>
            <a:r>
              <a:rPr sz="1200" b="0" lang="en-GB">
                <a:solidFill>
                  <a:schemeClr val="bg1"/>
                </a:solidFill>
              </a:rPr>
              <a:t>  first name</a:t>
            </a:r>
          </a:p>
        </p:txBody>
      </p:sp>
      <p:sp>
        <p:nvSpPr>
          <p:cNvPr id="19" name="Dependent body"/>
          <p:cNvSpPr/>
          <p:nvPr/>
        </p:nvSpPr>
        <p:spPr>
          <a:xfrm>
            <a:off x="5120640" y="1645920"/>
            <a:ext cx="356616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ependent header"/>
          <p:cNvSpPr/>
          <p:nvPr/>
        </p:nvSpPr>
        <p:spPr>
          <a:xfrm>
            <a:off x="5120640" y="1234440"/>
            <a:ext cx="35661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pendent heading"/>
          <p:cNvSpPr txBox="1"/>
          <p:nvPr/>
        </p:nvSpPr>
        <p:spPr>
          <a:xfrm>
            <a:off x="5257800" y="1234440"/>
            <a:ext cx="29260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Dependent variable</a:t>
            </a:r>
          </a:p>
        </p:txBody>
      </p:sp>
      <p:pic>
        <p:nvPicPr>
          <p:cNvPr id="22" name="Icon Dependent" descr=""/>
          <p:cNvPicPr>
            <a:picLocks noChangeAspect="1"/>
          </p:cNvPicPr>
          <p:nvPr/>
        </p:nvPicPr>
        <p:blipFill>
          <a:blip r:embed="rId4"/>
          <a:stretch>
            <a:fillRect/>
          </a:stretch>
        </p:blipFill>
        <p:spPr>
          <a:xfrm>
            <a:off x="8257032" y="1293876"/>
            <a:ext cx="292608" cy="292608"/>
          </a:xfrm>
          <a:prstGeom prst="rect">
            <a:avLst/>
          </a:prstGeom>
        </p:spPr>
      </p:pic>
      <p:sp>
        <p:nvSpPr>
          <p:cNvPr id="23" name="Dependent text"/>
          <p:cNvSpPr txBox="1"/>
          <p:nvPr/>
        </p:nvSpPr>
        <p:spPr>
          <a:xfrm>
            <a:off x="5285232" y="1719072"/>
            <a:ext cx="3236976" cy="384048"/>
          </a:xfrm>
          <a:prstGeom prst="rect">
            <a:avLst/>
          </a:prstGeom>
          <a:noFill/>
        </p:spPr>
        <p:txBody>
          <a:bodyPr wrap="square" lIns="0" rIns="0" tIns="0" bIns="0" anchor="ctr">
            <a:noAutofit/>
          </a:bodyPr>
          <a:lstStyle/>
          <a:p>
            <a:pPr algn="l">
              <a:spcAft>
                <a:spcPts val="0"/>
              </a:spcAft>
            </a:pPr>
            <a:r>
              <a:rPr sz="1200" b="1" lang="en-GB">
                <a:solidFill>
                  <a:schemeClr val="tx2"/>
                </a:solidFill>
              </a:rPr>
              <a:t>The outcome: </a:t>
            </a:r>
            <a:r>
              <a:rPr sz="1200" b="0" lang="en-GB">
                <a:solidFill>
                  <a:schemeClr val="tx1"/>
                </a:solidFill>
              </a:rPr>
              <a:t>clicked (1/0), summarised as the click rate</a:t>
            </a:r>
          </a:p>
        </p:txBody>
      </p:sp>
      <p:sp>
        <p:nvSpPr>
          <p:cNvPr id="24" name="Dependent 1 chip"/>
          <p:cNvSpPr/>
          <p:nvPr/>
        </p:nvSpPr>
        <p:spPr>
          <a:xfrm>
            <a:off x="5285232" y="2157984"/>
            <a:ext cx="1549908" cy="292608"/>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ependent 1 chip text"/>
          <p:cNvSpPr txBox="1"/>
          <p:nvPr/>
        </p:nvSpPr>
        <p:spPr>
          <a:xfrm>
            <a:off x="5285232" y="2157984"/>
            <a:ext cx="1549908" cy="292608"/>
          </a:xfrm>
          <a:prstGeom prst="rect">
            <a:avLst/>
          </a:prstGeom>
          <a:noFill/>
        </p:spPr>
        <p:txBody>
          <a:bodyPr wrap="square" lIns="0" rIns="0" tIns="0" bIns="0" anchor="ctr">
            <a:noAutofit/>
          </a:bodyPr>
          <a:lstStyle/>
          <a:p>
            <a:pPr algn="ctr">
              <a:spcAft>
                <a:spcPts val="400"/>
              </a:spcAft>
            </a:pPr>
            <a:r>
              <a:rPr sz="1200" b="1" lang="en-GB">
                <a:solidFill>
                  <a:schemeClr val="bg1"/>
                </a:solidFill>
              </a:rPr>
              <a:t>1</a:t>
            </a:r>
            <a:r>
              <a:rPr sz="1200" b="0" lang="en-GB">
                <a:solidFill>
                  <a:schemeClr val="bg1"/>
                </a:solidFill>
              </a:rPr>
              <a:t>  clicked</a:t>
            </a:r>
          </a:p>
        </p:txBody>
      </p:sp>
      <p:sp>
        <p:nvSpPr>
          <p:cNvPr id="26" name="Dependent 2 chip"/>
          <p:cNvSpPr/>
          <p:nvPr/>
        </p:nvSpPr>
        <p:spPr>
          <a:xfrm>
            <a:off x="6972300" y="2157984"/>
            <a:ext cx="1549908" cy="292608"/>
          </a:xfrm>
          <a:prstGeom prst="roundRect">
            <a:avLst>
              <a:gd name="adj" fmla="val 50000"/>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ependent 2 chip text"/>
          <p:cNvSpPr txBox="1"/>
          <p:nvPr/>
        </p:nvSpPr>
        <p:spPr>
          <a:xfrm>
            <a:off x="6972300" y="2157984"/>
            <a:ext cx="1549908" cy="292608"/>
          </a:xfrm>
          <a:prstGeom prst="rect">
            <a:avLst/>
          </a:prstGeom>
          <a:noFill/>
        </p:spPr>
        <p:txBody>
          <a:bodyPr wrap="square" lIns="0" rIns="0" tIns="0" bIns="0" anchor="ctr">
            <a:noAutofit/>
          </a:bodyPr>
          <a:lstStyle/>
          <a:p>
            <a:pPr algn="ctr">
              <a:spcAft>
                <a:spcPts val="400"/>
              </a:spcAft>
            </a:pPr>
            <a:r>
              <a:rPr sz="1200" b="1" lang="en-GB">
                <a:solidFill>
                  <a:schemeClr val="bg1"/>
                </a:solidFill>
              </a:rPr>
              <a:t>0</a:t>
            </a:r>
            <a:r>
              <a:rPr sz="1200" b="0" lang="en-GB">
                <a:solidFill>
                  <a:schemeClr val="bg1"/>
                </a:solidFill>
              </a:rPr>
              <a:t>  no click</a:t>
            </a:r>
          </a:p>
        </p:txBody>
      </p:sp>
      <p:cxnSp>
        <p:nvCxnSpPr>
          <p:cNvPr id="28" name="Cause arrow"/>
          <p:cNvCxnSpPr/>
          <p:nvPr/>
        </p:nvCxnSpPr>
        <p:spPr>
          <a:xfrm>
            <a:off x="4160520" y="1874520"/>
            <a:ext cx="822960" cy="0"/>
          </a:xfrm>
          <a:prstGeom prst="line">
            <a:avLst/>
          </a:prstGeom>
          <a:ln w="50800">
            <a:solidFill>
              <a:schemeClr val="tx2"/>
            </a:solidFill>
            <a:tailEnd type="triangle" w="lg" len="lg"/>
          </a:ln>
        </p:spPr>
        <p:style>
          <a:lnRef idx="2">
            <a:schemeClr val="accent1"/>
          </a:lnRef>
          <a:fillRef idx="0">
            <a:schemeClr val="accent1"/>
          </a:fillRef>
          <a:effectRef idx="1">
            <a:schemeClr val="accent1"/>
          </a:effectRef>
          <a:fontRef idx="minor">
            <a:schemeClr val="tx1"/>
          </a:fontRef>
        </p:style>
      </p:cxnSp>
      <p:sp>
        <p:nvSpPr>
          <p:cNvPr id="29" name="Cause label"/>
          <p:cNvSpPr txBox="1"/>
          <p:nvPr/>
        </p:nvSpPr>
        <p:spPr>
          <a:xfrm>
            <a:off x="4023360" y="1527048"/>
            <a:ext cx="1097280" cy="274320"/>
          </a:xfrm>
          <a:prstGeom prst="rect">
            <a:avLst/>
          </a:prstGeom>
          <a:noFill/>
        </p:spPr>
        <p:txBody>
          <a:bodyPr wrap="square" lIns="0" rIns="0" tIns="0" bIns="0" anchor="ctr">
            <a:noAutofit/>
          </a:bodyPr>
          <a:lstStyle/>
          <a:p>
            <a:pPr algn="ctr">
              <a:spcAft>
                <a:spcPts val="400"/>
              </a:spcAft>
            </a:pPr>
            <a:r>
              <a:rPr sz="1100" b="0" lang="en-GB">
                <a:solidFill>
                  <a:srgbClr val="595959"/>
                </a:solidFill>
              </a:rPr>
              <a:t>causes?</a:t>
            </a:r>
          </a:p>
        </p:txBody>
      </p:sp>
      <p:sp>
        <p:nvSpPr>
          <p:cNvPr id="30" name="Metric 1 row"/>
          <p:cNvSpPr/>
          <p:nvPr/>
        </p:nvSpPr>
        <p:spPr>
          <a:xfrm>
            <a:off x="457200" y="265176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etric 1 bar"/>
          <p:cNvSpPr/>
          <p:nvPr/>
        </p:nvSpPr>
        <p:spPr>
          <a:xfrm>
            <a:off x="457200" y="2651760"/>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Metric 1 text"/>
          <p:cNvSpPr txBox="1"/>
          <p:nvPr/>
        </p:nvSpPr>
        <p:spPr>
          <a:xfrm>
            <a:off x="658368" y="2651760"/>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Key metric: </a:t>
            </a:r>
            <a:r>
              <a:rPr sz="1200" b="0" lang="en-GB">
                <a:solidFill>
                  <a:schemeClr val="tx1"/>
                </a:solidFill>
              </a:rPr>
              <a:t>the click rate decides – fixed before the e-mail is sent</a:t>
            </a:r>
          </a:p>
        </p:txBody>
      </p:sp>
      <p:sp>
        <p:nvSpPr>
          <p:cNvPr id="33" name="Metric 2 row"/>
          <p:cNvSpPr/>
          <p:nvPr/>
        </p:nvSpPr>
        <p:spPr>
          <a:xfrm>
            <a:off x="457200" y="3172968"/>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Metric 2 bar"/>
          <p:cNvSpPr/>
          <p:nvPr/>
        </p:nvSpPr>
        <p:spPr>
          <a:xfrm>
            <a:off x="457200" y="3172968"/>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Metric 2 text"/>
          <p:cNvSpPr txBox="1"/>
          <p:nvPr/>
        </p:nvSpPr>
        <p:spPr>
          <a:xfrm>
            <a:off x="658368" y="3172968"/>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Guardrail: </a:t>
            </a:r>
            <a:r>
              <a:rPr sz="1200" b="0" lang="en-GB">
                <a:solidFill>
                  <a:schemeClr val="tx1"/>
                </a:solidFill>
              </a:rPr>
              <a:t>the unsubscribe rate must not get worse</a:t>
            </a:r>
          </a:p>
        </p:txBody>
      </p:sp>
      <p:sp>
        <p:nvSpPr>
          <p:cNvPr id="36" name="Metric 3 row"/>
          <p:cNvSpPr/>
          <p:nvPr/>
        </p:nvSpPr>
        <p:spPr>
          <a:xfrm>
            <a:off x="457200" y="3694176"/>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Metric 3 bar"/>
          <p:cNvSpPr/>
          <p:nvPr/>
        </p:nvSpPr>
        <p:spPr>
          <a:xfrm>
            <a:off x="457200" y="3694176"/>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Metric 3 text"/>
          <p:cNvSpPr txBox="1"/>
          <p:nvPr/>
        </p:nvSpPr>
        <p:spPr>
          <a:xfrm>
            <a:off x="658368" y="3694176"/>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Held constant: </a:t>
            </a:r>
            <a:r>
              <a:rPr sz="1200" b="0" lang="en-GB">
                <a:solidFill>
                  <a:schemeClr val="tx1"/>
                </a:solidFill>
              </a:rPr>
              <a:t>body text, send day, offer page</a:t>
            </a:r>
          </a:p>
        </p:txBody>
      </p:sp>
      <p:sp>
        <p:nvSpPr>
          <p:cNvPr id="39" name="Variables callout box"/>
          <p:cNvSpPr/>
          <p:nvPr/>
        </p:nvSpPr>
        <p:spPr>
          <a:xfrm>
            <a:off x="457200" y="4215384"/>
            <a:ext cx="8229600" cy="43891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Variables callout text"/>
          <p:cNvSpPr txBox="1"/>
          <p:nvPr/>
        </p:nvSpPr>
        <p:spPr>
          <a:xfrm>
            <a:off x="658368" y="4215384"/>
            <a:ext cx="7827264" cy="438912"/>
          </a:xfrm>
          <a:prstGeom prst="rect">
            <a:avLst/>
          </a:prstGeom>
          <a:noFill/>
        </p:spPr>
        <p:txBody>
          <a:bodyPr wrap="square" lIns="0" rIns="0" tIns="0" bIns="0" anchor="ctr">
            <a:noAutofit/>
          </a:bodyPr>
          <a:lstStyle/>
          <a:p>
            <a:pPr algn="l">
              <a:spcAft>
                <a:spcPts val="400"/>
              </a:spcAft>
            </a:pPr>
            <a:r>
              <a:rPr sz="1250" b="1" lang="en-GB">
                <a:solidFill>
                  <a:schemeClr val="bg1"/>
                </a:solidFill>
              </a:rPr>
              <a:t>One change, one key metric: </a:t>
            </a:r>
            <a:r>
              <a:rPr sz="1250" b="0" lang="en-GB">
                <a:solidFill>
                  <a:schemeClr val="bg1"/>
                </a:solidFill>
              </a:rPr>
              <a:t>decide both before the start.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Is +0.60 pp more than chance?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1_chance.png" descr="Histogram of 2,000 simulated A/A differences around zero; the 5 % tails beyond about plus or minus 0.35 pp in light blue; our test at +0.60 pp lies far outside"/>
          <p:cNvPicPr>
            <a:picLocks noChangeAspect="1"/>
          </p:cNvPicPr>
          <p:nvPr/>
        </p:nvPicPr>
        <p:blipFill>
          <a:blip r:embed="rId3"/>
          <a:stretch>
            <a:fillRect/>
          </a:stretch>
        </p:blipFill>
        <p:spPr>
          <a:xfrm>
            <a:off x="457200" y="1234440"/>
            <a:ext cx="4343400" cy="2560320"/>
          </a:xfrm>
          <a:prstGeom prst="rect">
            <a:avLst/>
          </a:prstGeom>
        </p:spPr>
      </p:pic>
      <p:sp>
        <p:nvSpPr>
          <p:cNvPr id="11" name="Guardrail caption"/>
          <p:cNvSpPr txBox="1"/>
          <p:nvPr/>
        </p:nvSpPr>
        <p:spPr>
          <a:xfrm>
            <a:off x="457200" y="3794760"/>
            <a:ext cx="43434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Guardrail: unsubscribes 0.31 % (A) vs 0.41 % (B), p 0.079</a:t>
            </a:r>
          </a:p>
        </p:txBody>
      </p:sp>
      <p:sp>
        <p:nvSpPr>
          <p:cNvPr id="12" name="Result 1 box"/>
          <p:cNvSpPr/>
          <p:nvPr/>
        </p:nvSpPr>
        <p:spPr>
          <a:xfrm>
            <a:off x="4937760" y="1234440"/>
            <a:ext cx="374904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sult 1 bar"/>
          <p:cNvSpPr/>
          <p:nvPr/>
        </p:nvSpPr>
        <p:spPr>
          <a:xfrm>
            <a:off x="4937760" y="12344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sult 1 figure"/>
          <p:cNvSpPr txBox="1"/>
          <p:nvPr/>
        </p:nvSpPr>
        <p:spPr>
          <a:xfrm>
            <a:off x="5120640" y="1234440"/>
            <a:ext cx="182880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+0.60 pp</a:t>
            </a:r>
          </a:p>
        </p:txBody>
      </p:sp>
      <p:sp>
        <p:nvSpPr>
          <p:cNvPr id="15" name="Result 1 label"/>
          <p:cNvSpPr txBox="1"/>
          <p:nvPr/>
        </p:nvSpPr>
        <p:spPr>
          <a:xfrm>
            <a:off x="6949440" y="1234440"/>
            <a:ext cx="164592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B − A: </a:t>
            </a:r>
            <a:r>
              <a:rPr sz="1200" b="0" lang="en-GB">
                <a:solidFill>
                  <a:schemeClr val="tx1"/>
                </a:solidFill>
              </a:rPr>
              <a:t>3.93 % − 3.33 %</a:t>
            </a:r>
          </a:p>
        </p:txBody>
      </p:sp>
      <p:sp>
        <p:nvSpPr>
          <p:cNvPr id="16" name="Result 2 box"/>
          <p:cNvSpPr/>
          <p:nvPr/>
        </p:nvSpPr>
        <p:spPr>
          <a:xfrm>
            <a:off x="4937760" y="2225040"/>
            <a:ext cx="374904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sult 2 bar"/>
          <p:cNvSpPr/>
          <p:nvPr/>
        </p:nvSpPr>
        <p:spPr>
          <a:xfrm>
            <a:off x="4937760" y="22250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sult 2 figure"/>
          <p:cNvSpPr txBox="1"/>
          <p:nvPr/>
        </p:nvSpPr>
        <p:spPr>
          <a:xfrm>
            <a:off x="5120640" y="2225040"/>
            <a:ext cx="182880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0.0013</a:t>
            </a:r>
          </a:p>
        </p:txBody>
      </p:sp>
      <p:sp>
        <p:nvSpPr>
          <p:cNvPr id="19" name="Result 2 label"/>
          <p:cNvSpPr txBox="1"/>
          <p:nvPr/>
        </p:nvSpPr>
        <p:spPr>
          <a:xfrm>
            <a:off x="6949440" y="2225040"/>
            <a:ext cx="164592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p-value: </a:t>
            </a:r>
            <a:r>
              <a:rPr sz="1200" b="0" lang="en-GB">
                <a:solidFill>
                  <a:schemeClr val="tx1"/>
                </a:solidFill>
              </a:rPr>
              <a:t>how often chance alone gives a gap at least this large</a:t>
            </a:r>
          </a:p>
        </p:txBody>
      </p:sp>
      <p:sp>
        <p:nvSpPr>
          <p:cNvPr id="20" name="Result 3 box"/>
          <p:cNvSpPr/>
          <p:nvPr/>
        </p:nvSpPr>
        <p:spPr>
          <a:xfrm>
            <a:off x="4937760" y="3215640"/>
            <a:ext cx="374904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sult 3 bar"/>
          <p:cNvSpPr/>
          <p:nvPr/>
        </p:nvSpPr>
        <p:spPr>
          <a:xfrm>
            <a:off x="4937760" y="32156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sult 3 figure"/>
          <p:cNvSpPr txBox="1"/>
          <p:nvPr/>
        </p:nvSpPr>
        <p:spPr>
          <a:xfrm>
            <a:off x="5120640" y="3215640"/>
            <a:ext cx="182880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0.23–0.97</a:t>
            </a:r>
          </a:p>
        </p:txBody>
      </p:sp>
      <p:sp>
        <p:nvSpPr>
          <p:cNvPr id="23" name="Result 3 label"/>
          <p:cNvSpPr txBox="1"/>
          <p:nvPr/>
        </p:nvSpPr>
        <p:spPr>
          <a:xfrm>
            <a:off x="6949440" y="3215640"/>
            <a:ext cx="164592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95 % CI </a:t>
            </a:r>
            <a:r>
              <a:rPr sz="1200" b="0" lang="en-GB">
                <a:solidFill>
                  <a:schemeClr val="tx1"/>
                </a:solidFill>
              </a:rPr>
              <a:t>in pp: the effect is plausibly between these</a:t>
            </a:r>
          </a:p>
        </p:txBody>
      </p:sp>
      <p:sp>
        <p:nvSpPr>
          <p:cNvPr id="24" name="Result callout box"/>
          <p:cNvSpPr/>
          <p:nvPr/>
        </p:nvSpPr>
        <p:spPr>
          <a:xfrm>
            <a:off x="457200" y="42062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sult callout text"/>
          <p:cNvSpPr txBox="1"/>
          <p:nvPr/>
        </p:nvSpPr>
        <p:spPr>
          <a:xfrm>
            <a:off x="658368" y="420624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Report the effect in pp with its CI, </a:t>
            </a:r>
            <a:r>
              <a:rPr sz="1250" b="0" lang="en-GB">
                <a:solidFill>
                  <a:schemeClr val="bg1"/>
                </a:solidFill>
              </a:rPr>
              <a:t>not only the p-value.</a:t>
            </a:r>
          </a:p>
        </p:txBody>
      </p:sp>
      <p:sp>
        <p:nvSpPr>
          <p:cNvPr id="2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 2,000 simulated A/A tests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How many customers? Sample size and power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1_power.png" descr="Power curve rising from 17.5 % at 2,000 customers per version to 99.5 % at 40,000; it crosses the 80 % line at 15,107 per version"/>
          <p:cNvPicPr>
            <a:picLocks noChangeAspect="1"/>
          </p:cNvPicPr>
          <p:nvPr/>
        </p:nvPicPr>
        <p:blipFill>
          <a:blip r:embed="rId3"/>
          <a:stretch>
            <a:fillRect/>
          </a:stretch>
        </p:blipFill>
        <p:spPr>
          <a:xfrm>
            <a:off x="457200" y="1234440"/>
            <a:ext cx="4343400" cy="2834640"/>
          </a:xfrm>
          <a:prstGeom prst="rect">
            <a:avLst/>
          </a:prstGeom>
        </p:spPr>
      </p:pic>
      <p:sp>
        <p:nvSpPr>
          <p:cNvPr id="11" name="Sample 1 box"/>
          <p:cNvSpPr/>
          <p:nvPr/>
        </p:nvSpPr>
        <p:spPr>
          <a:xfrm>
            <a:off x="4937760" y="1234440"/>
            <a:ext cx="374904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ample 1 bar"/>
          <p:cNvSpPr/>
          <p:nvPr/>
        </p:nvSpPr>
        <p:spPr>
          <a:xfrm>
            <a:off x="4937760" y="12344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ample 1 figure"/>
          <p:cNvSpPr txBox="1"/>
          <p:nvPr/>
        </p:nvSpPr>
        <p:spPr>
          <a:xfrm>
            <a:off x="5120640" y="1234440"/>
            <a:ext cx="146304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15,107</a:t>
            </a:r>
          </a:p>
        </p:txBody>
      </p:sp>
      <p:sp>
        <p:nvSpPr>
          <p:cNvPr id="14" name="Sample 1 label"/>
          <p:cNvSpPr txBox="1"/>
          <p:nvPr/>
        </p:nvSpPr>
        <p:spPr>
          <a:xfrm>
            <a:off x="6583680" y="1234440"/>
            <a:ext cx="201168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per version </a:t>
            </a:r>
            <a:r>
              <a:rPr sz="1200" b="0" lang="en-GB">
                <a:solidFill>
                  <a:schemeClr val="tx1"/>
                </a:solidFill>
              </a:rPr>
              <a:t>for +0.6 pp (3.3 → 3.9 %), 80 % power</a:t>
            </a:r>
          </a:p>
        </p:txBody>
      </p:sp>
      <p:sp>
        <p:nvSpPr>
          <p:cNvPr id="15" name="Sample 2 box"/>
          <p:cNvSpPr/>
          <p:nvPr/>
        </p:nvSpPr>
        <p:spPr>
          <a:xfrm>
            <a:off x="4937760" y="2225040"/>
            <a:ext cx="374904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ample 2 bar"/>
          <p:cNvSpPr/>
          <p:nvPr/>
        </p:nvSpPr>
        <p:spPr>
          <a:xfrm>
            <a:off x="4937760" y="22250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ample 2 figure"/>
          <p:cNvSpPr txBox="1"/>
          <p:nvPr/>
        </p:nvSpPr>
        <p:spPr>
          <a:xfrm>
            <a:off x="5120640" y="2225040"/>
            <a:ext cx="146304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58,072</a:t>
            </a:r>
          </a:p>
        </p:txBody>
      </p:sp>
      <p:sp>
        <p:nvSpPr>
          <p:cNvPr id="18" name="Sample 2 label"/>
          <p:cNvSpPr txBox="1"/>
          <p:nvPr/>
        </p:nvSpPr>
        <p:spPr>
          <a:xfrm>
            <a:off x="6583680" y="2225040"/>
            <a:ext cx="201168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for +0.3 pp: </a:t>
            </a:r>
            <a:r>
              <a:rPr sz="1200" b="0" lang="en-GB">
                <a:solidFill>
                  <a:schemeClr val="tx1"/>
                </a:solidFill>
              </a:rPr>
              <a:t>half the effect, four times the customers</a:t>
            </a:r>
          </a:p>
        </p:txBody>
      </p:sp>
      <p:sp>
        <p:nvSpPr>
          <p:cNvPr id="19" name="Sample 3 box"/>
          <p:cNvSpPr/>
          <p:nvPr/>
        </p:nvSpPr>
        <p:spPr>
          <a:xfrm>
            <a:off x="4937760" y="3215640"/>
            <a:ext cx="374904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ample 3 bar"/>
          <p:cNvSpPr/>
          <p:nvPr/>
        </p:nvSpPr>
        <p:spPr>
          <a:xfrm>
            <a:off x="4937760" y="32156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ample 3 figure"/>
          <p:cNvSpPr txBox="1"/>
          <p:nvPr/>
        </p:nvSpPr>
        <p:spPr>
          <a:xfrm>
            <a:off x="5120640" y="3215640"/>
            <a:ext cx="146304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5,715</a:t>
            </a:r>
          </a:p>
        </p:txBody>
      </p:sp>
      <p:sp>
        <p:nvSpPr>
          <p:cNvPr id="22" name="Sample 3 label"/>
          <p:cNvSpPr txBox="1"/>
          <p:nvPr/>
        </p:nvSpPr>
        <p:spPr>
          <a:xfrm>
            <a:off x="6583680" y="3215640"/>
            <a:ext cx="201168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for +1.0 pp</a:t>
            </a:r>
            <a:r>
              <a:rPr sz="1200" b="0" lang="en-GB">
                <a:solidFill>
                  <a:schemeClr val="tx1"/>
                </a:solidFill>
              </a:rPr>
              <a:t>: a large effect needs few</a:t>
            </a:r>
          </a:p>
        </p:txBody>
      </p:sp>
      <p:sp>
        <p:nvSpPr>
          <p:cNvPr id="23" name="Sample callout box"/>
          <p:cNvSpPr/>
          <p:nvPr/>
        </p:nvSpPr>
        <p:spPr>
          <a:xfrm>
            <a:off x="457200" y="42062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ample callout text"/>
          <p:cNvSpPr txBox="1"/>
          <p:nvPr/>
        </p:nvSpPr>
        <p:spPr>
          <a:xfrm>
            <a:off x="658368" y="420624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Plan the sample before you send, </a:t>
            </a:r>
            <a:r>
              <a:rPr sz="1250" b="0" lang="en-GB">
                <a:solidFill>
                  <a:schemeClr val="bg1"/>
                </a:solidFill>
              </a:rPr>
              <a:t>and do not stop early when p dips below 0.05.</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 power for 3.3 → 3.9 %, 5 % level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the set-up: the split and an A/A 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1_split.png" descr="Two bar charts: our test with 20,000 customers in A and 20,000 in B, SRM p 1.000; an invented broken split with 20,000 and 19,300, SRM p 0.0004"/>
          <p:cNvPicPr>
            <a:picLocks noChangeAspect="1"/>
          </p:cNvPicPr>
          <p:nvPr/>
        </p:nvPicPr>
        <p:blipFill>
          <a:blip r:embed="rId3"/>
          <a:stretch>
            <a:fillRect/>
          </a:stretch>
        </p:blipFill>
        <p:spPr>
          <a:xfrm>
            <a:off x="457200" y="1234440"/>
            <a:ext cx="4023360" cy="2606040"/>
          </a:xfrm>
          <a:prstGeom prst="rect">
            <a:avLst/>
          </a:prstGeom>
        </p:spPr>
      </p:pic>
      <p:sp>
        <p:nvSpPr>
          <p:cNvPr id="11" name="Check 1 tile"/>
          <p:cNvSpPr/>
          <p:nvPr/>
        </p:nvSpPr>
        <p:spPr>
          <a:xfrm>
            <a:off x="4617720" y="1234440"/>
            <a:ext cx="406908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Check 1" descr=""/>
          <p:cNvPicPr>
            <a:picLocks noChangeAspect="1"/>
          </p:cNvPicPr>
          <p:nvPr/>
        </p:nvPicPr>
        <p:blipFill>
          <a:blip r:embed="rId4"/>
          <a:stretch>
            <a:fillRect/>
          </a:stretch>
        </p:blipFill>
        <p:spPr>
          <a:xfrm>
            <a:off x="4754880" y="1371600"/>
            <a:ext cx="365760" cy="365760"/>
          </a:xfrm>
          <a:prstGeom prst="rect">
            <a:avLst/>
          </a:prstGeom>
        </p:spPr>
      </p:pic>
      <p:sp>
        <p:nvSpPr>
          <p:cNvPr id="13" name="Check 1 heading"/>
          <p:cNvSpPr txBox="1"/>
          <p:nvPr/>
        </p:nvSpPr>
        <p:spPr>
          <a:xfrm>
            <a:off x="5212080" y="1371600"/>
            <a:ext cx="33832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Sample ratio mismatch (SRM)</a:t>
            </a:r>
          </a:p>
        </p:txBody>
      </p:sp>
      <p:sp>
        <p:nvSpPr>
          <p:cNvPr id="14" name="Check 1 text"/>
          <p:cNvSpPr txBox="1"/>
          <p:nvPr/>
        </p:nvSpPr>
        <p:spPr>
          <a:xfrm>
            <a:off x="4754880" y="1856232"/>
            <a:ext cx="3794760" cy="548640"/>
          </a:xfrm>
          <a:prstGeom prst="rect">
            <a:avLst/>
          </a:prstGeom>
          <a:noFill/>
        </p:spPr>
        <p:txBody>
          <a:bodyPr wrap="square" lIns="0" rIns="0" tIns="0" bIns="0" anchor="t">
            <a:noAutofit/>
          </a:bodyPr>
          <a:lstStyle/>
          <a:p>
            <a:pPr algn="l">
              <a:spcAft>
                <a:spcPts val="400"/>
              </a:spcAft>
            </a:pPr>
            <a:r>
              <a:rPr sz="1200" b="0" lang="en-GB">
                <a:solidFill>
                  <a:schemeClr val="tx1"/>
                </a:solidFill>
              </a:rPr>
              <a:t>Planned 50:50, got something else by more than chance? Stop: find the cause before reading any result.</a:t>
            </a:r>
          </a:p>
        </p:txBody>
      </p:sp>
      <p:sp>
        <p:nvSpPr>
          <p:cNvPr id="15" name="Check 2 tile"/>
          <p:cNvSpPr/>
          <p:nvPr/>
        </p:nvSpPr>
        <p:spPr>
          <a:xfrm>
            <a:off x="4617720" y="2606040"/>
            <a:ext cx="406908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Check 2" descr=""/>
          <p:cNvPicPr>
            <a:picLocks noChangeAspect="1"/>
          </p:cNvPicPr>
          <p:nvPr/>
        </p:nvPicPr>
        <p:blipFill>
          <a:blip r:embed="rId5"/>
          <a:stretch>
            <a:fillRect/>
          </a:stretch>
        </p:blipFill>
        <p:spPr>
          <a:xfrm>
            <a:off x="4754880" y="2743200"/>
            <a:ext cx="365760" cy="365760"/>
          </a:xfrm>
          <a:prstGeom prst="rect">
            <a:avLst/>
          </a:prstGeom>
        </p:spPr>
      </p:pic>
      <p:sp>
        <p:nvSpPr>
          <p:cNvPr id="17" name="Check 2 heading"/>
          <p:cNvSpPr txBox="1"/>
          <p:nvPr/>
        </p:nvSpPr>
        <p:spPr>
          <a:xfrm>
            <a:off x="5212080" y="2743200"/>
            <a:ext cx="33832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A/A test</a:t>
            </a:r>
          </a:p>
        </p:txBody>
      </p:sp>
      <p:sp>
        <p:nvSpPr>
          <p:cNvPr id="18" name="Check 2 text"/>
          <p:cNvSpPr txBox="1"/>
          <p:nvPr/>
        </p:nvSpPr>
        <p:spPr>
          <a:xfrm>
            <a:off x="4754880" y="3227832"/>
            <a:ext cx="3794760" cy="548640"/>
          </a:xfrm>
          <a:prstGeom prst="rect">
            <a:avLst/>
          </a:prstGeom>
          <a:noFill/>
        </p:spPr>
        <p:txBody>
          <a:bodyPr wrap="square" lIns="0" rIns="0" tIns="0" bIns="0" anchor="t">
            <a:noAutofit/>
          </a:bodyPr>
          <a:lstStyle/>
          <a:p>
            <a:pPr algn="l">
              <a:spcAft>
                <a:spcPts val="400"/>
              </a:spcAft>
            </a:pPr>
            <a:r>
              <a:rPr sz="1200" b="0" lang="en-GB">
                <a:solidFill>
                  <a:schemeClr val="tx1"/>
                </a:solidFill>
              </a:rPr>
              <a:t>The same e-mail to both groups: about 5 % come out “significant” (5.9 % in our 2,000 runs).</a:t>
            </a:r>
          </a:p>
        </p:txBody>
      </p:sp>
      <p:sp>
        <p:nvSpPr>
          <p:cNvPr id="19" name="Check callout box"/>
          <p:cNvSpPr/>
          <p:nvPr/>
        </p:nvSpPr>
        <p:spPr>
          <a:xfrm>
            <a:off x="457200" y="397764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callout text"/>
          <p:cNvSpPr txBox="1"/>
          <p:nvPr/>
        </p:nvSpPr>
        <p:spPr>
          <a:xfrm>
            <a:off x="658368" y="397764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Check first: </a:t>
            </a:r>
            <a:r>
              <a:rPr sz="1250" b="0" lang="en-GB">
                <a:solidFill>
                  <a:schemeClr val="bg1"/>
                </a:solidFill>
              </a:rPr>
              <a:t>if the split test gives p below 0.001, fix the set-up before you read any result.</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 the broken split is invented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Does B work for everyone? Mobile vs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1_device.png" descr="Bar chart of click rates: mobile A 3.33 %, B 4.25 %; desktop A 3.32 %, B 3.44 %"/>
          <p:cNvPicPr>
            <a:picLocks noChangeAspect="1"/>
          </p:cNvPicPr>
          <p:nvPr/>
        </p:nvPicPr>
        <p:blipFill>
          <a:blip r:embed="rId3"/>
          <a:stretch>
            <a:fillRect/>
          </a:stretch>
        </p:blipFill>
        <p:spPr>
          <a:xfrm>
            <a:off x="457200" y="1234440"/>
            <a:ext cx="4206240" cy="2560320"/>
          </a:xfrm>
          <a:prstGeom prst="rect">
            <a:avLst/>
          </a:prstGeom>
        </p:spPr>
      </p:pic>
      <p:sp>
        <p:nvSpPr>
          <p:cNvPr id="11" name="Device caption"/>
          <p:cNvSpPr txBox="1"/>
          <p:nvPr/>
        </p:nvSpPr>
        <p:spPr>
          <a:xfrm>
            <a:off x="457200" y="3794760"/>
            <a:ext cx="42062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Labels rounded; gaps from unrounded values</a:t>
            </a:r>
          </a:p>
        </p:txBody>
      </p:sp>
      <p:sp>
        <p:nvSpPr>
          <p:cNvPr id="12" name="Device 1 box"/>
          <p:cNvSpPr/>
          <p:nvPr/>
        </p:nvSpPr>
        <p:spPr>
          <a:xfrm>
            <a:off x="4800600" y="1234440"/>
            <a:ext cx="38862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vice 1 bar"/>
          <p:cNvSpPr/>
          <p:nvPr/>
        </p:nvSpPr>
        <p:spPr>
          <a:xfrm>
            <a:off x="4800600" y="12344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evice 1 figure"/>
          <p:cNvSpPr txBox="1"/>
          <p:nvPr/>
        </p:nvSpPr>
        <p:spPr>
          <a:xfrm>
            <a:off x="4983480" y="1234440"/>
            <a:ext cx="182880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+0.92 pp</a:t>
            </a:r>
          </a:p>
        </p:txBody>
      </p:sp>
      <p:sp>
        <p:nvSpPr>
          <p:cNvPr id="15" name="Device 1 label"/>
          <p:cNvSpPr txBox="1"/>
          <p:nvPr/>
        </p:nvSpPr>
        <p:spPr>
          <a:xfrm>
            <a:off x="6812280" y="1234440"/>
            <a:ext cx="178308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on mobile </a:t>
            </a:r>
            <a:r>
              <a:rPr sz="1200" b="0" lang="en-GB">
                <a:solidFill>
                  <a:schemeClr val="tx1"/>
                </a:solidFill>
              </a:rPr>
              <a:t>(23,885 customers)</a:t>
            </a:r>
          </a:p>
        </p:txBody>
      </p:sp>
      <p:sp>
        <p:nvSpPr>
          <p:cNvPr id="16" name="Device 2 box"/>
          <p:cNvSpPr/>
          <p:nvPr/>
        </p:nvSpPr>
        <p:spPr>
          <a:xfrm>
            <a:off x="4800600" y="2225040"/>
            <a:ext cx="38862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vice 2 bar"/>
          <p:cNvSpPr/>
          <p:nvPr/>
        </p:nvSpPr>
        <p:spPr>
          <a:xfrm>
            <a:off x="4800600" y="22250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evice 2 figure"/>
          <p:cNvSpPr txBox="1"/>
          <p:nvPr/>
        </p:nvSpPr>
        <p:spPr>
          <a:xfrm>
            <a:off x="4983480" y="2225040"/>
            <a:ext cx="182880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+0.13 pp</a:t>
            </a:r>
          </a:p>
        </p:txBody>
      </p:sp>
      <p:sp>
        <p:nvSpPr>
          <p:cNvPr id="19" name="Device 2 label"/>
          <p:cNvSpPr txBox="1"/>
          <p:nvPr/>
        </p:nvSpPr>
        <p:spPr>
          <a:xfrm>
            <a:off x="6812280" y="2225040"/>
            <a:ext cx="178308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on desktop </a:t>
            </a:r>
            <a:r>
              <a:rPr sz="1200" b="0" lang="en-GB">
                <a:solidFill>
                  <a:schemeClr val="tx1"/>
                </a:solidFill>
              </a:rPr>
              <a:t>(16,115 customers)</a:t>
            </a:r>
          </a:p>
        </p:txBody>
      </p:sp>
      <p:sp>
        <p:nvSpPr>
          <p:cNvPr id="20" name="Device 3 box"/>
          <p:cNvSpPr/>
          <p:nvPr/>
        </p:nvSpPr>
        <p:spPr>
          <a:xfrm>
            <a:off x="4800600" y="3215640"/>
            <a:ext cx="38862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vice 3 bar"/>
          <p:cNvSpPr/>
          <p:nvPr/>
        </p:nvSpPr>
        <p:spPr>
          <a:xfrm>
            <a:off x="4800600" y="32156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evice 3 figure"/>
          <p:cNvSpPr txBox="1"/>
          <p:nvPr/>
        </p:nvSpPr>
        <p:spPr>
          <a:xfrm>
            <a:off x="4983480" y="3215640"/>
            <a:ext cx="1828800" cy="85344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+0.79 pp</a:t>
            </a:r>
          </a:p>
        </p:txBody>
      </p:sp>
      <p:sp>
        <p:nvSpPr>
          <p:cNvPr id="23" name="Device 3 label"/>
          <p:cNvSpPr txBox="1"/>
          <p:nvPr/>
        </p:nvSpPr>
        <p:spPr>
          <a:xfrm>
            <a:off x="6812280" y="3215640"/>
            <a:ext cx="1783080" cy="853440"/>
          </a:xfrm>
          <a:prstGeom prst="rect">
            <a:avLst/>
          </a:prstGeom>
          <a:noFill/>
        </p:spPr>
        <p:txBody>
          <a:bodyPr wrap="square" lIns="0" rIns="0" tIns="0" bIns="0" anchor="ctr">
            <a:noAutofit/>
          </a:bodyPr>
          <a:lstStyle/>
          <a:p>
            <a:pPr algn="l">
              <a:spcAft>
                <a:spcPts val="400"/>
              </a:spcAft>
            </a:pPr>
            <a:r>
              <a:rPr sz="1200" b="1" lang="en-GB">
                <a:solidFill>
                  <a:schemeClr val="tx2"/>
                </a:solidFill>
              </a:rPr>
              <a:t>Interaction: </a:t>
            </a:r>
            <a:r>
              <a:rPr sz="1200" b="0" lang="en-GB">
                <a:solidFill>
                  <a:schemeClr val="tx1"/>
                </a:solidFill>
              </a:rPr>
              <a:t>the effect of B depends on the device (p 0.038)</a:t>
            </a:r>
          </a:p>
        </p:txBody>
      </p:sp>
      <p:sp>
        <p:nvSpPr>
          <p:cNvPr id="24" name="Device callout box"/>
          <p:cNvSpPr/>
          <p:nvPr/>
        </p:nvSpPr>
        <p:spPr>
          <a:xfrm>
            <a:off x="457200" y="42062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evice callout text"/>
          <p:cNvSpPr txBox="1"/>
          <p:nvPr/>
        </p:nvSpPr>
        <p:spPr>
          <a:xfrm>
            <a:off x="658368" y="420624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A segment found after the test is a hypothesis: </a:t>
            </a:r>
            <a:r>
              <a:rPr sz="1250" b="0" lang="en-GB">
                <a:solidFill>
                  <a:schemeClr val="bg1"/>
                </a:solidFill>
              </a:rPr>
              <a:t>test it again (Part 3).</a:t>
            </a:r>
          </a:p>
        </p:txBody>
      </p:sp>
      <p:sp>
        <p:nvSpPr>
          <p:cNvPr id="2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(email_ab.csv)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Can we trust it? Internal and external validity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alidity 1 body"/>
          <p:cNvSpPr/>
          <p:nvPr/>
        </p:nvSpPr>
        <p:spPr>
          <a:xfrm>
            <a:off x="457200" y="1691640"/>
            <a:ext cx="404622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alidity 1 header"/>
          <p:cNvSpPr/>
          <p:nvPr/>
        </p:nvSpPr>
        <p:spPr>
          <a:xfrm>
            <a:off x="457200" y="1234440"/>
            <a:ext cx="404622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Validity 1 heading"/>
          <p:cNvSpPr txBox="1"/>
          <p:nvPr/>
        </p:nvSpPr>
        <p:spPr>
          <a:xfrm>
            <a:off x="594360" y="1234440"/>
            <a:ext cx="336042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Internal validity</a:t>
            </a:r>
          </a:p>
        </p:txBody>
      </p:sp>
      <p:pic>
        <p:nvPicPr>
          <p:cNvPr id="13" name="Icon Validity 1" descr=""/>
          <p:cNvPicPr>
            <a:picLocks noChangeAspect="1"/>
          </p:cNvPicPr>
          <p:nvPr/>
        </p:nvPicPr>
        <p:blipFill>
          <a:blip r:embed="rId3"/>
          <a:stretch>
            <a:fillRect/>
          </a:stretch>
        </p:blipFill>
        <p:spPr>
          <a:xfrm>
            <a:off x="4064508" y="1307592"/>
            <a:ext cx="310896" cy="310896"/>
          </a:xfrm>
          <a:prstGeom prst="rect">
            <a:avLst/>
          </a:prstGeom>
        </p:spPr>
      </p:pic>
      <p:sp>
        <p:nvSpPr>
          <p:cNvPr id="14" name="Validity 1 text"/>
          <p:cNvSpPr txBox="1"/>
          <p:nvPr/>
        </p:nvSpPr>
        <p:spPr>
          <a:xfrm>
            <a:off x="621792" y="1828800"/>
            <a:ext cx="3744468" cy="14173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Did the e-mail cause it here? </a:t>
            </a:r>
            <a:r>
              <a:rPr sz="1300" b="0" lang="en-GB">
                <a:solidFill>
                  <a:schemeClr val="tx1"/>
                </a:solidFill>
              </a:rPr>
              <a:t>random split, same day, same kind of customers</a:t>
            </a:r>
          </a:p>
          <a:p>
            <a:pPr algn="l" marL="182880" indent="-182880">
              <a:spcAft>
                <a:spcPts val="600"/>
              </a:spcAft>
              <a:buClr>
                <a:schemeClr val="accent1"/>
              </a:buClr>
              <a:buFont typeface="Arial"/>
              <a:buChar char="▪"/>
            </a:pPr>
            <a:r>
              <a:rPr sz="1300" b="1" lang="en-GB">
                <a:solidFill>
                  <a:schemeClr val="tx2"/>
                </a:solidFill>
              </a:rPr>
              <a:t>Threat: </a:t>
            </a:r>
            <a:r>
              <a:rPr sz="1300" b="0" lang="en-GB">
                <a:solidFill>
                  <a:schemeClr val="tx1"/>
                </a:solidFill>
              </a:rPr>
              <a:t>a broken split, or a platform that shows A and B to different people</a:t>
            </a:r>
          </a:p>
          <a:p>
            <a:pPr algn="l" marL="182880" indent="-182880">
              <a:spcAft>
                <a:spcPts val="600"/>
              </a:spcAft>
              <a:buClr>
                <a:schemeClr val="accent1"/>
              </a:buClr>
              <a:buFont typeface="Arial"/>
              <a:buChar char="▪"/>
            </a:pPr>
            <a:r>
              <a:rPr sz="1300" b="1" lang="en-GB">
                <a:solidFill>
                  <a:schemeClr val="tx2"/>
                </a:solidFill>
              </a:rPr>
              <a:t>Check: </a:t>
            </a:r>
            <a:r>
              <a:rPr sz="1300" b="0" lang="en-GB">
                <a:solidFill>
                  <a:schemeClr val="tx1"/>
                </a:solidFill>
              </a:rPr>
              <a:t>the split, and who actually got A and B</a:t>
            </a:r>
          </a:p>
        </p:txBody>
      </p:sp>
      <p:sp>
        <p:nvSpPr>
          <p:cNvPr id="15" name="Validity 2 body"/>
          <p:cNvSpPr/>
          <p:nvPr/>
        </p:nvSpPr>
        <p:spPr>
          <a:xfrm>
            <a:off x="4640580" y="1691640"/>
            <a:ext cx="404622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Validity 2 header"/>
          <p:cNvSpPr/>
          <p:nvPr/>
        </p:nvSpPr>
        <p:spPr>
          <a:xfrm>
            <a:off x="4640580" y="1234440"/>
            <a:ext cx="404622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alidity 2 heading"/>
          <p:cNvSpPr txBox="1"/>
          <p:nvPr/>
        </p:nvSpPr>
        <p:spPr>
          <a:xfrm>
            <a:off x="4777740" y="1234440"/>
            <a:ext cx="336042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External validity</a:t>
            </a:r>
          </a:p>
        </p:txBody>
      </p:sp>
      <p:pic>
        <p:nvPicPr>
          <p:cNvPr id="18" name="Icon Validity 2" descr=""/>
          <p:cNvPicPr>
            <a:picLocks noChangeAspect="1"/>
          </p:cNvPicPr>
          <p:nvPr/>
        </p:nvPicPr>
        <p:blipFill>
          <a:blip r:embed="rId4"/>
          <a:stretch>
            <a:fillRect/>
          </a:stretch>
        </p:blipFill>
        <p:spPr>
          <a:xfrm>
            <a:off x="8247888" y="1307592"/>
            <a:ext cx="310896" cy="310896"/>
          </a:xfrm>
          <a:prstGeom prst="rect">
            <a:avLst/>
          </a:prstGeom>
        </p:spPr>
      </p:pic>
      <p:sp>
        <p:nvSpPr>
          <p:cNvPr id="19" name="Validity 2 text"/>
          <p:cNvSpPr txBox="1"/>
          <p:nvPr/>
        </p:nvSpPr>
        <p:spPr>
          <a:xfrm>
            <a:off x="4805172" y="1828800"/>
            <a:ext cx="3744468" cy="14173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Will it hold elsewhere? </a:t>
            </a:r>
            <a:r>
              <a:rPr sz="1300" b="0" lang="en-GB">
                <a:solidFill>
                  <a:schemeClr val="tx1"/>
                </a:solidFill>
              </a:rPr>
              <a:t>other markets, seasons, channels, customers</a:t>
            </a:r>
          </a:p>
          <a:p>
            <a:pPr algn="l" marL="182880" indent="-182880">
              <a:spcAft>
                <a:spcPts val="600"/>
              </a:spcAft>
              <a:buClr>
                <a:schemeClr val="accent1"/>
              </a:buClr>
              <a:buFont typeface="Arial"/>
              <a:buChar char="▪"/>
            </a:pPr>
            <a:r>
              <a:rPr sz="1300" b="1" lang="en-GB">
                <a:solidFill>
                  <a:schemeClr val="tx2"/>
                </a:solidFill>
              </a:rPr>
              <a:t>Threat: </a:t>
            </a:r>
            <a:r>
              <a:rPr sz="1300" b="0" lang="en-GB">
                <a:solidFill>
                  <a:schemeClr val="tx1"/>
                </a:solidFill>
              </a:rPr>
              <a:t>a winner here may fail elsewhere</a:t>
            </a:r>
          </a:p>
          <a:p>
            <a:pPr algn="l" marL="182880" indent="-182880">
              <a:spcAft>
                <a:spcPts val="600"/>
              </a:spcAft>
              <a:buClr>
                <a:schemeClr val="accent1"/>
              </a:buClr>
              <a:buFont typeface="Arial"/>
              <a:buChar char="▪"/>
            </a:pPr>
            <a:r>
              <a:rPr sz="1300" b="1" lang="en-GB">
                <a:solidFill>
                  <a:schemeClr val="tx2"/>
                </a:solidFill>
              </a:rPr>
              <a:t>Check: </a:t>
            </a:r>
            <a:r>
              <a:rPr sz="1300" b="0" lang="en-GB">
                <a:solidFill>
                  <a:schemeClr val="tx1"/>
                </a:solidFill>
              </a:rPr>
              <a:t>repeat before roll-out (slide 27)</a:t>
            </a:r>
          </a:p>
        </p:txBody>
      </p:sp>
      <p:sp>
        <p:nvSpPr>
          <p:cNvPr id="20" name="Delivery Ad A box"/>
          <p:cNvSpPr/>
          <p:nvPr/>
        </p:nvSpPr>
        <p:spPr>
          <a:xfrm>
            <a:off x="457200" y="3520440"/>
            <a:ext cx="868680" cy="256032"/>
          </a:xfrm>
          <a:prstGeom prst="roundRect">
            <a:avLst>
              <a:gd name="adj" fmla="val 25000"/>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livery Ad A text"/>
          <p:cNvSpPr txBox="1"/>
          <p:nvPr/>
        </p:nvSpPr>
        <p:spPr>
          <a:xfrm>
            <a:off x="457200" y="3520440"/>
            <a:ext cx="868680" cy="256032"/>
          </a:xfrm>
          <a:prstGeom prst="rect">
            <a:avLst/>
          </a:prstGeom>
          <a:noFill/>
        </p:spPr>
        <p:txBody>
          <a:bodyPr wrap="square" lIns="0" rIns="0" tIns="0" bIns="0" anchor="ctr">
            <a:noAutofit/>
          </a:bodyPr>
          <a:lstStyle/>
          <a:p>
            <a:pPr algn="ctr">
              <a:spcAft>
                <a:spcPts val="400"/>
              </a:spcAft>
            </a:pPr>
            <a:r>
              <a:rPr sz="1200" b="1" lang="en-GB">
                <a:solidFill>
                  <a:schemeClr val="bg1"/>
                </a:solidFill>
              </a:rPr>
              <a:t>Ad A</a:t>
            </a:r>
          </a:p>
        </p:txBody>
      </p:sp>
      <p:cxnSp>
        <p:nvCxnSpPr>
          <p:cNvPr id="22" name="Delivery arrow in 1"/>
          <p:cNvCxnSpPr/>
          <p:nvPr/>
        </p:nvCxnSpPr>
        <p:spPr>
          <a:xfrm>
            <a:off x="1371600" y="3648456"/>
            <a:ext cx="685800" cy="77724"/>
          </a:xfrm>
          <a:prstGeom prst="line">
            <a:avLst/>
          </a:prstGeom>
          <a:ln w="22225">
            <a:solidFill>
              <a:schemeClr val="tx2"/>
            </a:solidFill>
            <a:tailEnd type="triangle" w="lg" len="lg"/>
          </a:ln>
        </p:spPr>
        <p:style>
          <a:lnRef idx="2">
            <a:schemeClr val="accent1"/>
          </a:lnRef>
          <a:fillRef idx="0">
            <a:schemeClr val="accent1"/>
          </a:fillRef>
          <a:effectRef idx="1">
            <a:schemeClr val="accent1"/>
          </a:effectRef>
          <a:fontRef idx="minor">
            <a:schemeClr val="tx1"/>
          </a:fontRef>
        </p:style>
      </p:cxnSp>
      <p:sp>
        <p:nvSpPr>
          <p:cNvPr id="23" name="Delivery Ad B box"/>
          <p:cNvSpPr/>
          <p:nvPr/>
        </p:nvSpPr>
        <p:spPr>
          <a:xfrm>
            <a:off x="457200" y="3858768"/>
            <a:ext cx="868680" cy="256032"/>
          </a:xfrm>
          <a:prstGeom prst="roundRect">
            <a:avLst>
              <a:gd name="adj" fmla="val 25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Delivery Ad B text"/>
          <p:cNvSpPr txBox="1"/>
          <p:nvPr/>
        </p:nvSpPr>
        <p:spPr>
          <a:xfrm>
            <a:off x="457200" y="3858768"/>
            <a:ext cx="868680" cy="256032"/>
          </a:xfrm>
          <a:prstGeom prst="rect">
            <a:avLst/>
          </a:prstGeom>
          <a:noFill/>
        </p:spPr>
        <p:txBody>
          <a:bodyPr wrap="square" lIns="0" rIns="0" tIns="0" bIns="0" anchor="ctr">
            <a:noAutofit/>
          </a:bodyPr>
          <a:lstStyle/>
          <a:p>
            <a:pPr algn="ctr">
              <a:spcAft>
                <a:spcPts val="400"/>
              </a:spcAft>
            </a:pPr>
            <a:r>
              <a:rPr sz="1200" b="1" lang="en-GB">
                <a:solidFill>
                  <a:schemeClr val="bg1"/>
                </a:solidFill>
              </a:rPr>
              <a:t>Ad B</a:t>
            </a:r>
          </a:p>
        </p:txBody>
      </p:sp>
      <p:cxnSp>
        <p:nvCxnSpPr>
          <p:cNvPr id="25" name="Delivery arrow in 2"/>
          <p:cNvCxnSpPr/>
          <p:nvPr/>
        </p:nvCxnSpPr>
        <p:spPr>
          <a:xfrm flipV="1">
            <a:off x="1371600" y="3909060"/>
            <a:ext cx="685800" cy="77724"/>
          </a:xfrm>
          <a:prstGeom prst="line">
            <a:avLst/>
          </a:prstGeom>
          <a:ln w="22225">
            <a:solidFill>
              <a:schemeClr val="tx2"/>
            </a:solidFill>
            <a:tailEnd type="triangle" w="lg" len="lg"/>
          </a:ln>
        </p:spPr>
        <p:style>
          <a:lnRef idx="2">
            <a:schemeClr val="accent1"/>
          </a:lnRef>
          <a:fillRef idx="0">
            <a:schemeClr val="accent1"/>
          </a:fillRef>
          <a:effectRef idx="1">
            <a:schemeClr val="accent1"/>
          </a:effectRef>
          <a:fontRef idx="minor">
            <a:schemeClr val="tx1"/>
          </a:fontRef>
        </p:style>
      </p:cxnSp>
      <p:sp>
        <p:nvSpPr>
          <p:cNvPr id="26" name="Delivery node"/>
          <p:cNvSpPr/>
          <p:nvPr/>
        </p:nvSpPr>
        <p:spPr>
          <a:xfrm>
            <a:off x="2103120" y="3520440"/>
            <a:ext cx="1828800" cy="594360"/>
          </a:xfrm>
          <a:prstGeom prst="roundRect">
            <a:avLst>
              <a:gd name="adj" fmla="val 15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Delivery node" descr=""/>
          <p:cNvPicPr>
            <a:picLocks noChangeAspect="1"/>
          </p:cNvPicPr>
          <p:nvPr/>
        </p:nvPicPr>
        <p:blipFill>
          <a:blip r:embed="rId5"/>
          <a:stretch>
            <a:fillRect/>
          </a:stretch>
        </p:blipFill>
        <p:spPr>
          <a:xfrm>
            <a:off x="2212848" y="3662172"/>
            <a:ext cx="310896" cy="310896"/>
          </a:xfrm>
          <a:prstGeom prst="rect">
            <a:avLst/>
          </a:prstGeom>
        </p:spPr>
      </p:pic>
      <p:sp>
        <p:nvSpPr>
          <p:cNvPr id="28" name="Delivery node text"/>
          <p:cNvSpPr txBox="1"/>
          <p:nvPr/>
        </p:nvSpPr>
        <p:spPr>
          <a:xfrm>
            <a:off x="2560320" y="3520440"/>
            <a:ext cx="1325880" cy="594360"/>
          </a:xfrm>
          <a:prstGeom prst="rect">
            <a:avLst/>
          </a:prstGeom>
          <a:noFill/>
        </p:spPr>
        <p:txBody>
          <a:bodyPr wrap="square" lIns="0" rIns="0" tIns="0" bIns="0" anchor="ctr">
            <a:noAutofit/>
          </a:bodyPr>
          <a:lstStyle/>
          <a:p>
            <a:pPr algn="l">
              <a:spcAft>
                <a:spcPts val="0"/>
              </a:spcAft>
            </a:pPr>
            <a:r>
              <a:rPr sz="1200" b="1" lang="en-GB">
                <a:solidFill>
                  <a:schemeClr val="bg1"/>
                </a:solidFill>
              </a:rPr>
              <a:t>delivery</a:t>
            </a:r>
          </a:p>
          <a:p>
            <a:pPr algn="l">
              <a:spcAft>
                <a:spcPts val="0"/>
              </a:spcAft>
            </a:pPr>
            <a:r>
              <a:rPr sz="1200" b="1" lang="en-GB">
                <a:solidFill>
                  <a:schemeClr val="bg1"/>
                </a:solidFill>
              </a:rPr>
              <a:t>algorithm</a:t>
            </a:r>
          </a:p>
        </p:txBody>
      </p:sp>
      <p:cxnSp>
        <p:nvCxnSpPr>
          <p:cNvPr id="29" name="Delivery arrow out 1"/>
          <p:cNvCxnSpPr/>
          <p:nvPr/>
        </p:nvCxnSpPr>
        <p:spPr>
          <a:xfrm flipV="1">
            <a:off x="3977640" y="3648456"/>
            <a:ext cx="640080" cy="77724"/>
          </a:xfrm>
          <a:prstGeom prst="line">
            <a:avLst/>
          </a:prstGeom>
          <a:ln w="22225">
            <a:solidFill>
              <a:schemeClr val="tx2"/>
            </a:solidFill>
            <a:tailEnd type="triangle" w="lg" len="lg"/>
          </a:ln>
        </p:spPr>
        <p:style>
          <a:lnRef idx="2">
            <a:schemeClr val="accent1"/>
          </a:lnRef>
          <a:fillRef idx="0">
            <a:schemeClr val="accent1"/>
          </a:fillRef>
          <a:effectRef idx="1">
            <a:schemeClr val="accent1"/>
          </a:effectRef>
          <a:fontRef idx="minor">
            <a:schemeClr val="tx1"/>
          </a:fontRef>
        </p:style>
      </p:cxnSp>
      <p:sp>
        <p:nvSpPr>
          <p:cNvPr id="30" name="Delivery dot 1-1"/>
          <p:cNvSpPr/>
          <p:nvPr/>
        </p:nvSpPr>
        <p:spPr>
          <a:xfrm>
            <a:off x="4709160" y="3557016"/>
            <a:ext cx="182880" cy="18288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Delivery dot 1-2"/>
          <p:cNvSpPr/>
          <p:nvPr/>
        </p:nvSpPr>
        <p:spPr>
          <a:xfrm>
            <a:off x="4956048" y="3557016"/>
            <a:ext cx="182880" cy="18288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Delivery dot 1-3"/>
          <p:cNvSpPr/>
          <p:nvPr/>
        </p:nvSpPr>
        <p:spPr>
          <a:xfrm>
            <a:off x="5202936" y="3557016"/>
            <a:ext cx="182880" cy="1828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Delivery who 1"/>
          <p:cNvSpPr txBox="1"/>
          <p:nvPr/>
        </p:nvSpPr>
        <p:spPr>
          <a:xfrm>
            <a:off x="5486400" y="3520440"/>
            <a:ext cx="1371600" cy="256032"/>
          </a:xfrm>
          <a:prstGeom prst="rect">
            <a:avLst/>
          </a:prstGeom>
          <a:noFill/>
        </p:spPr>
        <p:txBody>
          <a:bodyPr wrap="square" lIns="0" rIns="0" tIns="0" bIns="0" anchor="ctr">
            <a:noAutofit/>
          </a:bodyPr>
          <a:lstStyle/>
          <a:p>
            <a:pPr algn="l">
              <a:spcAft>
                <a:spcPts val="400"/>
              </a:spcAft>
            </a:pPr>
            <a:r>
              <a:rPr sz="1200" b="0" lang="en-GB">
                <a:solidFill>
                  <a:schemeClr val="tx1"/>
                </a:solidFill>
              </a:rPr>
              <a:t>older people</a:t>
            </a:r>
          </a:p>
        </p:txBody>
      </p:sp>
      <p:cxnSp>
        <p:nvCxnSpPr>
          <p:cNvPr id="34" name="Delivery arrow out 2"/>
          <p:cNvCxnSpPr/>
          <p:nvPr/>
        </p:nvCxnSpPr>
        <p:spPr>
          <a:xfrm>
            <a:off x="3977640" y="3909060"/>
            <a:ext cx="640080" cy="77724"/>
          </a:xfrm>
          <a:prstGeom prst="line">
            <a:avLst/>
          </a:prstGeom>
          <a:ln w="22225">
            <a:solidFill>
              <a:schemeClr val="tx2"/>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Delivery dot 2-1"/>
          <p:cNvSpPr/>
          <p:nvPr/>
        </p:nvSpPr>
        <p:spPr>
          <a:xfrm>
            <a:off x="4709160" y="3895344"/>
            <a:ext cx="182880" cy="1828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Delivery dot 2-2"/>
          <p:cNvSpPr/>
          <p:nvPr/>
        </p:nvSpPr>
        <p:spPr>
          <a:xfrm>
            <a:off x="4956048" y="3895344"/>
            <a:ext cx="182880" cy="1828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Delivery dot 2-3"/>
          <p:cNvSpPr/>
          <p:nvPr/>
        </p:nvSpPr>
        <p:spPr>
          <a:xfrm>
            <a:off x="5202936" y="3895344"/>
            <a:ext cx="182880" cy="182880"/>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Delivery who 2"/>
          <p:cNvSpPr txBox="1"/>
          <p:nvPr/>
        </p:nvSpPr>
        <p:spPr>
          <a:xfrm>
            <a:off x="5486400" y="3858768"/>
            <a:ext cx="1371600" cy="256032"/>
          </a:xfrm>
          <a:prstGeom prst="rect">
            <a:avLst/>
          </a:prstGeom>
          <a:noFill/>
        </p:spPr>
        <p:txBody>
          <a:bodyPr wrap="square" lIns="0" rIns="0" tIns="0" bIns="0" anchor="ctr">
            <a:noAutofit/>
          </a:bodyPr>
          <a:lstStyle/>
          <a:p>
            <a:pPr algn="l">
              <a:spcAft>
                <a:spcPts val="400"/>
              </a:spcAft>
            </a:pPr>
            <a:r>
              <a:rPr sz="1200" b="0" lang="en-GB">
                <a:solidFill>
                  <a:schemeClr val="tx1"/>
                </a:solidFill>
              </a:rPr>
              <a:t>younger people</a:t>
            </a:r>
          </a:p>
        </p:txBody>
      </p:sp>
      <p:sp>
        <p:nvSpPr>
          <p:cNvPr id="39" name="Delivery note box"/>
          <p:cNvSpPr/>
          <p:nvPr/>
        </p:nvSpPr>
        <p:spPr>
          <a:xfrm>
            <a:off x="6949440" y="3520440"/>
            <a:ext cx="173736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Delivery note text"/>
          <p:cNvSpPr txBox="1"/>
          <p:nvPr/>
        </p:nvSpPr>
        <p:spPr>
          <a:xfrm>
            <a:off x="7086600" y="3520440"/>
            <a:ext cx="1508760" cy="594360"/>
          </a:xfrm>
          <a:prstGeom prst="rect">
            <a:avLst/>
          </a:prstGeom>
          <a:noFill/>
        </p:spPr>
        <p:txBody>
          <a:bodyPr wrap="square" lIns="0" rIns="0" tIns="0" bIns="0" anchor="ctr">
            <a:noAutofit/>
          </a:bodyPr>
          <a:lstStyle/>
          <a:p>
            <a:pPr algn="l">
              <a:spcAft>
                <a:spcPts val="400"/>
              </a:spcAft>
            </a:pPr>
            <a:r>
              <a:rPr sz="1200" b="0" lang="en-GB">
                <a:solidFill>
                  <a:schemeClr val="tx1"/>
                </a:solidFill>
              </a:rPr>
              <a:t>A vs B = ad </a:t>
            </a:r>
            <a:r>
              <a:rPr sz="1200" b="1" lang="en-GB">
                <a:solidFill>
                  <a:schemeClr val="tx2"/>
                </a:solidFill>
              </a:rPr>
              <a:t>plus</a:t>
            </a:r>
            <a:r>
              <a:rPr sz="1200" b="0" lang="en-GB">
                <a:solidFill>
                  <a:schemeClr val="tx1"/>
                </a:solidFill>
              </a:rPr>
              <a:t> audience</a:t>
            </a:r>
          </a:p>
        </p:txBody>
      </p:sp>
      <p:sp>
        <p:nvSpPr>
          <p:cNvPr id="41" name="Validity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Validity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50" b="1" lang="en-GB">
                <a:solidFill>
                  <a:schemeClr val="bg1"/>
                </a:solidFill>
              </a:rPr>
              <a:t>Randomisation buys internal validity; </a:t>
            </a:r>
            <a:r>
              <a:rPr sz="1250" b="0" lang="en-GB">
                <a:solidFill>
                  <a:schemeClr val="bg1"/>
                </a:solidFill>
              </a:rPr>
              <a:t>external validity needs a repeat.</a:t>
            </a:r>
          </a:p>
        </p:txBody>
      </p:sp>
      <p:sp>
        <p:nvSpPr>
          <p:cNvPr id="4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Braun &amp; Schwartz (2025), Journal of Marketing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5 · factors and interactions</a:t>
            </a:r>
          </a:p>
        </p:txBody>
      </p:sp>
      <p:sp>
        <p:nvSpPr>
          <p:cNvPr id="3" name="Title 2"/>
          <p:cNvSpPr>
            <a:spLocks noGrp="1"/>
          </p:cNvSpPr>
          <p:nvPr>
            <p:ph type="ctrTitle"/>
          </p:nvPr>
        </p:nvSpPr>
        <p:spPr/>
        <p:txBody>
          <a:bodyPr/>
          <a:lstStyle/>
          <a:p>
            <a:r>
              <a:rPr lang="en-GB"/>
              <a:t>Factorial designs and interactions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A/B to 2 × 2: two factors, four cells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actor 2 band"/>
          <p:cNvSpPr/>
          <p:nvPr/>
        </p:nvSpPr>
        <p:spPr>
          <a:xfrm>
            <a:off x="1600200" y="1234440"/>
            <a:ext cx="4434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actor 2 text"/>
          <p:cNvSpPr txBox="1"/>
          <p:nvPr/>
        </p:nvSpPr>
        <p:spPr>
          <a:xfrm>
            <a:off x="1600200" y="1234440"/>
            <a:ext cx="4434840" cy="274320"/>
          </a:xfrm>
          <a:prstGeom prst="rect">
            <a:avLst/>
          </a:prstGeom>
          <a:noFill/>
        </p:spPr>
        <p:txBody>
          <a:bodyPr wrap="square" lIns="0" rIns="0" tIns="0" bIns="0" anchor="ctr">
            <a:noAutofit/>
          </a:bodyPr>
          <a:lstStyle/>
          <a:p>
            <a:pPr algn="ctr">
              <a:spcAft>
                <a:spcPts val="400"/>
              </a:spcAft>
            </a:pPr>
            <a:r>
              <a:rPr sz="1200" b="1" lang="en-GB">
                <a:solidFill>
                  <a:schemeClr val="bg1"/>
                </a:solidFill>
              </a:rPr>
              <a:t>Factor 2: discount</a:t>
            </a:r>
          </a:p>
        </p:txBody>
      </p:sp>
      <p:sp>
        <p:nvSpPr>
          <p:cNvPr id="12" name="Level discount 1"/>
          <p:cNvSpPr/>
          <p:nvPr/>
        </p:nvSpPr>
        <p:spPr>
          <a:xfrm>
            <a:off x="1600200" y="1536192"/>
            <a:ext cx="21488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evel discount 1 text"/>
          <p:cNvSpPr txBox="1"/>
          <p:nvPr/>
        </p:nvSpPr>
        <p:spPr>
          <a:xfrm>
            <a:off x="1600200" y="1536192"/>
            <a:ext cx="2148840" cy="274320"/>
          </a:xfrm>
          <a:prstGeom prst="rect">
            <a:avLst/>
          </a:prstGeom>
          <a:noFill/>
        </p:spPr>
        <p:txBody>
          <a:bodyPr wrap="square" lIns="0" rIns="0" tIns="0" bIns="0" anchor="ctr">
            <a:noAutofit/>
          </a:bodyPr>
          <a:lstStyle/>
          <a:p>
            <a:pPr algn="ctr">
              <a:spcAft>
                <a:spcPts val="400"/>
              </a:spcAft>
            </a:pPr>
            <a:r>
              <a:rPr sz="1200" b="1" lang="en-GB">
                <a:solidFill>
                  <a:schemeClr val="tx2"/>
                </a:solidFill>
              </a:rPr>
              <a:t>No discount</a:t>
            </a:r>
          </a:p>
        </p:txBody>
      </p:sp>
      <p:sp>
        <p:nvSpPr>
          <p:cNvPr id="14" name="Level discount 2"/>
          <p:cNvSpPr/>
          <p:nvPr/>
        </p:nvSpPr>
        <p:spPr>
          <a:xfrm>
            <a:off x="3886200" y="1536192"/>
            <a:ext cx="21488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evel discount 2 text"/>
          <p:cNvSpPr txBox="1"/>
          <p:nvPr/>
        </p:nvSpPr>
        <p:spPr>
          <a:xfrm>
            <a:off x="3886200" y="1536192"/>
            <a:ext cx="2148840" cy="274320"/>
          </a:xfrm>
          <a:prstGeom prst="rect">
            <a:avLst/>
          </a:prstGeom>
          <a:noFill/>
        </p:spPr>
        <p:txBody>
          <a:bodyPr wrap="square" lIns="0" rIns="0" tIns="0" bIns="0" anchor="ctr">
            <a:noAutofit/>
          </a:bodyPr>
          <a:lstStyle/>
          <a:p>
            <a:pPr algn="ctr">
              <a:spcAft>
                <a:spcPts val="400"/>
              </a:spcAft>
            </a:pPr>
            <a:r>
              <a:rPr sz="1200" b="1" lang="en-GB">
                <a:solidFill>
                  <a:schemeClr val="tx2"/>
                </a:solidFill>
              </a:rPr>
              <a:t>10 % discount</a:t>
            </a:r>
          </a:p>
        </p:txBody>
      </p:sp>
      <p:sp>
        <p:nvSpPr>
          <p:cNvPr id="16" name="Factor 1 band"/>
          <p:cNvSpPr/>
          <p:nvPr/>
        </p:nvSpPr>
        <p:spPr>
          <a:xfrm>
            <a:off x="457200" y="1234440"/>
            <a:ext cx="1005840" cy="576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ctor 1 text"/>
          <p:cNvSpPr txBox="1"/>
          <p:nvPr/>
        </p:nvSpPr>
        <p:spPr>
          <a:xfrm>
            <a:off x="457200" y="1234440"/>
            <a:ext cx="1005840" cy="576072"/>
          </a:xfrm>
          <a:prstGeom prst="rect">
            <a:avLst/>
          </a:prstGeom>
          <a:noFill/>
        </p:spPr>
        <p:txBody>
          <a:bodyPr wrap="square" lIns="0" rIns="0" tIns="0" bIns="0" anchor="ctr">
            <a:noAutofit/>
          </a:bodyPr>
          <a:lstStyle/>
          <a:p>
            <a:pPr algn="ctr">
              <a:spcAft>
                <a:spcPts val="0"/>
              </a:spcAft>
            </a:pPr>
            <a:r>
              <a:rPr sz="1200" b="1" lang="en-GB">
                <a:solidFill>
                  <a:schemeClr val="bg1"/>
                </a:solidFill>
              </a:rPr>
              <a:t>Factor 1:</a:t>
            </a:r>
          </a:p>
          <a:p>
            <a:pPr algn="ctr">
              <a:spcAft>
                <a:spcPts val="0"/>
              </a:spcAft>
            </a:pPr>
            <a:r>
              <a:rPr sz="1200" b="1" lang="en-GB">
                <a:solidFill>
                  <a:schemeClr val="bg1"/>
                </a:solidFill>
              </a:rPr>
              <a:t>first name</a:t>
            </a:r>
          </a:p>
        </p:txBody>
      </p:sp>
      <p:sp>
        <p:nvSpPr>
          <p:cNvPr id="18" name="Level name 1"/>
          <p:cNvSpPr/>
          <p:nvPr/>
        </p:nvSpPr>
        <p:spPr>
          <a:xfrm>
            <a:off x="457200" y="1901952"/>
            <a:ext cx="100584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evel name 1 text"/>
          <p:cNvSpPr txBox="1"/>
          <p:nvPr/>
        </p:nvSpPr>
        <p:spPr>
          <a:xfrm>
            <a:off x="457200" y="1901952"/>
            <a:ext cx="1005840" cy="1143000"/>
          </a:xfrm>
          <a:prstGeom prst="rect">
            <a:avLst/>
          </a:prstGeom>
          <a:noFill/>
        </p:spPr>
        <p:txBody>
          <a:bodyPr wrap="square" lIns="0" rIns="0" tIns="0" bIns="0" anchor="ctr">
            <a:noAutofit/>
          </a:bodyPr>
          <a:lstStyle/>
          <a:p>
            <a:pPr algn="ctr">
              <a:spcAft>
                <a:spcPts val="400"/>
              </a:spcAft>
            </a:pPr>
            <a:r>
              <a:rPr sz="1200" b="1" lang="en-GB">
                <a:solidFill>
                  <a:schemeClr val="tx2"/>
                </a:solidFill>
              </a:rPr>
              <a:t>Generic</a:t>
            </a:r>
          </a:p>
        </p:txBody>
      </p:sp>
      <p:sp>
        <p:nvSpPr>
          <p:cNvPr id="20" name="Cell 1-1 card"/>
          <p:cNvSpPr/>
          <p:nvPr/>
        </p:nvSpPr>
        <p:spPr>
          <a:xfrm>
            <a:off x="1600200" y="1901952"/>
            <a:ext cx="2148840" cy="11430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ell 1-1 strip"/>
          <p:cNvSpPr/>
          <p:nvPr/>
        </p:nvSpPr>
        <p:spPr>
          <a:xfrm>
            <a:off x="1600200" y="1901952"/>
            <a:ext cx="2148840" cy="2560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ell 1-1 inbox"/>
          <p:cNvSpPr txBox="1"/>
          <p:nvPr/>
        </p:nvSpPr>
        <p:spPr>
          <a:xfrm>
            <a:off x="1709928" y="1901952"/>
            <a:ext cx="731520" cy="256032"/>
          </a:xfrm>
          <a:prstGeom prst="rect">
            <a:avLst/>
          </a:prstGeom>
          <a:noFill/>
        </p:spPr>
        <p:txBody>
          <a:bodyPr wrap="square" lIns="0" rIns="0" tIns="0" bIns="0" anchor="ctr">
            <a:noAutofit/>
          </a:bodyPr>
          <a:lstStyle/>
          <a:p>
            <a:pPr algn="l">
              <a:spcAft>
                <a:spcPts val="400"/>
              </a:spcAft>
            </a:pPr>
            <a:r>
              <a:rPr sz="1100" b="1" lang="en-GB">
                <a:solidFill>
                  <a:schemeClr val="tx2"/>
                </a:solidFill>
              </a:rPr>
              <a:t>Inbox</a:t>
            </a:r>
          </a:p>
        </p:txBody>
      </p:sp>
      <p:sp>
        <p:nvSpPr>
          <p:cNvPr id="23" name="Cell 1-1 customers"/>
          <p:cNvSpPr txBox="1"/>
          <p:nvPr/>
        </p:nvSpPr>
        <p:spPr>
          <a:xfrm>
            <a:off x="2267712" y="1901952"/>
            <a:ext cx="1371600" cy="256032"/>
          </a:xfrm>
          <a:prstGeom prst="rect">
            <a:avLst/>
          </a:prstGeom>
          <a:noFill/>
        </p:spPr>
        <p:txBody>
          <a:bodyPr wrap="square" lIns="0" rIns="0" tIns="0" bIns="0" anchor="ctr">
            <a:noAutofit/>
          </a:bodyPr>
          <a:lstStyle/>
          <a:p>
            <a:pPr algn="r">
              <a:spcAft>
                <a:spcPts val="400"/>
              </a:spcAft>
            </a:pPr>
            <a:r>
              <a:rPr sz="1100" b="0" lang="en-GB">
                <a:solidFill>
                  <a:srgbClr val="595959"/>
                </a:solidFill>
              </a:rPr>
              <a:t>10,000 customers</a:t>
            </a:r>
          </a:p>
        </p:txBody>
      </p:sp>
      <p:sp>
        <p:nvSpPr>
          <p:cNvPr id="24" name="Cell 1-1 sender"/>
          <p:cNvSpPr txBox="1"/>
          <p:nvPr/>
        </p:nvSpPr>
        <p:spPr>
          <a:xfrm>
            <a:off x="1709928" y="2194560"/>
            <a:ext cx="1280160" cy="201168"/>
          </a:xfrm>
          <a:prstGeom prst="rect">
            <a:avLst/>
          </a:prstGeom>
          <a:noFill/>
        </p:spPr>
        <p:txBody>
          <a:bodyPr wrap="square" lIns="0" rIns="0" tIns="0" bIns="0" anchor="ctr">
            <a:noAutofit/>
          </a:bodyPr>
          <a:lstStyle/>
          <a:p>
            <a:pPr algn="l">
              <a:spcAft>
                <a:spcPts val="400"/>
              </a:spcAft>
            </a:pPr>
            <a:r>
              <a:rPr sz="1100" b="0" lang="en-GB">
                <a:solidFill>
                  <a:srgbClr val="595959"/>
                </a:solidFill>
              </a:rPr>
              <a:t>Loyalty team</a:t>
            </a:r>
          </a:p>
        </p:txBody>
      </p:sp>
      <p:sp>
        <p:nvSpPr>
          <p:cNvPr id="25" name="Cell 1-1 tag"/>
          <p:cNvSpPr/>
          <p:nvPr/>
        </p:nvSpPr>
        <p:spPr>
          <a:xfrm>
            <a:off x="2999232" y="2212848"/>
            <a:ext cx="640080" cy="182880"/>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ell 1-1 tag text"/>
          <p:cNvSpPr txBox="1"/>
          <p:nvPr/>
        </p:nvSpPr>
        <p:spPr>
          <a:xfrm>
            <a:off x="2999232" y="2212848"/>
            <a:ext cx="640080" cy="182880"/>
          </a:xfrm>
          <a:prstGeom prst="rect">
            <a:avLst/>
          </a:prstGeom>
          <a:noFill/>
        </p:spPr>
        <p:txBody>
          <a:bodyPr wrap="square" lIns="0" rIns="0" tIns="0" bIns="0" anchor="ctr">
            <a:noAutofit/>
          </a:bodyPr>
          <a:lstStyle/>
          <a:p>
            <a:pPr algn="ctr">
              <a:spcAft>
                <a:spcPts val="400"/>
              </a:spcAft>
            </a:pPr>
            <a:r>
              <a:rPr sz="1100" b="1" lang="en-GB">
                <a:solidFill>
                  <a:schemeClr val="bg1"/>
                </a:solidFill>
              </a:rPr>
              <a:t>control</a:t>
            </a:r>
          </a:p>
        </p:txBody>
      </p:sp>
      <p:sp>
        <p:nvSpPr>
          <p:cNvPr id="27" name="Cell 1-1 subject"/>
          <p:cNvSpPr txBox="1"/>
          <p:nvPr/>
        </p:nvSpPr>
        <p:spPr>
          <a:xfrm>
            <a:off x="1709928" y="2404872"/>
            <a:ext cx="1929384" cy="365760"/>
          </a:xfrm>
          <a:prstGeom prst="rect">
            <a:avLst/>
          </a:prstGeom>
          <a:noFill/>
        </p:spPr>
        <p:txBody>
          <a:bodyPr wrap="square" lIns="0" rIns="0" tIns="0" bIns="0" anchor="t">
            <a:noAutofit/>
          </a:bodyPr>
          <a:lstStyle/>
          <a:p>
            <a:pPr algn="l">
              <a:spcAft>
                <a:spcPts val="0"/>
              </a:spcAft>
            </a:pPr>
            <a:r>
              <a:rPr sz="1100" b="1" lang="en-GB">
                <a:solidFill>
                  <a:schemeClr val="tx1"/>
                </a:solidFill>
              </a:rPr>
              <a:t>Your loyalty offers are here</a:t>
            </a:r>
          </a:p>
        </p:txBody>
      </p:sp>
      <p:sp>
        <p:nvSpPr>
          <p:cNvPr id="28" name="Cell 1-1 line 1"/>
          <p:cNvSpPr/>
          <p:nvPr/>
        </p:nvSpPr>
        <p:spPr>
          <a:xfrm>
            <a:off x="1709928" y="2770632"/>
            <a:ext cx="1929384"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ell 1-1 line 2"/>
          <p:cNvSpPr/>
          <p:nvPr/>
        </p:nvSpPr>
        <p:spPr>
          <a:xfrm>
            <a:off x="1709928" y="2880360"/>
            <a:ext cx="1157630"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ell 1-2 card"/>
          <p:cNvSpPr/>
          <p:nvPr/>
        </p:nvSpPr>
        <p:spPr>
          <a:xfrm>
            <a:off x="3886200" y="1901952"/>
            <a:ext cx="2148840" cy="11430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ell 1-2 strip"/>
          <p:cNvSpPr/>
          <p:nvPr/>
        </p:nvSpPr>
        <p:spPr>
          <a:xfrm>
            <a:off x="3886200" y="1901952"/>
            <a:ext cx="2148840" cy="2560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ell 1-2 inbox"/>
          <p:cNvSpPr txBox="1"/>
          <p:nvPr/>
        </p:nvSpPr>
        <p:spPr>
          <a:xfrm>
            <a:off x="3995928" y="1901952"/>
            <a:ext cx="731520" cy="256032"/>
          </a:xfrm>
          <a:prstGeom prst="rect">
            <a:avLst/>
          </a:prstGeom>
          <a:noFill/>
        </p:spPr>
        <p:txBody>
          <a:bodyPr wrap="square" lIns="0" rIns="0" tIns="0" bIns="0" anchor="ctr">
            <a:noAutofit/>
          </a:bodyPr>
          <a:lstStyle/>
          <a:p>
            <a:pPr algn="l">
              <a:spcAft>
                <a:spcPts val="400"/>
              </a:spcAft>
            </a:pPr>
            <a:r>
              <a:rPr sz="1100" b="1" lang="en-GB">
                <a:solidFill>
                  <a:schemeClr val="tx2"/>
                </a:solidFill>
              </a:rPr>
              <a:t>Inbox</a:t>
            </a:r>
          </a:p>
        </p:txBody>
      </p:sp>
      <p:sp>
        <p:nvSpPr>
          <p:cNvPr id="33" name="Cell 1-2 customers"/>
          <p:cNvSpPr txBox="1"/>
          <p:nvPr/>
        </p:nvSpPr>
        <p:spPr>
          <a:xfrm>
            <a:off x="4553712" y="1901952"/>
            <a:ext cx="1371600" cy="256032"/>
          </a:xfrm>
          <a:prstGeom prst="rect">
            <a:avLst/>
          </a:prstGeom>
          <a:noFill/>
        </p:spPr>
        <p:txBody>
          <a:bodyPr wrap="square" lIns="0" rIns="0" tIns="0" bIns="0" anchor="ctr">
            <a:noAutofit/>
          </a:bodyPr>
          <a:lstStyle/>
          <a:p>
            <a:pPr algn="r">
              <a:spcAft>
                <a:spcPts val="400"/>
              </a:spcAft>
            </a:pPr>
            <a:r>
              <a:rPr sz="1100" b="0" lang="en-GB">
                <a:solidFill>
                  <a:srgbClr val="595959"/>
                </a:solidFill>
              </a:rPr>
              <a:t>10,000 customers</a:t>
            </a:r>
          </a:p>
        </p:txBody>
      </p:sp>
      <p:sp>
        <p:nvSpPr>
          <p:cNvPr id="34" name="Cell 1-2 sender"/>
          <p:cNvSpPr txBox="1"/>
          <p:nvPr/>
        </p:nvSpPr>
        <p:spPr>
          <a:xfrm>
            <a:off x="3995928" y="2194560"/>
            <a:ext cx="1280160" cy="201168"/>
          </a:xfrm>
          <a:prstGeom prst="rect">
            <a:avLst/>
          </a:prstGeom>
          <a:noFill/>
        </p:spPr>
        <p:txBody>
          <a:bodyPr wrap="square" lIns="0" rIns="0" tIns="0" bIns="0" anchor="ctr">
            <a:noAutofit/>
          </a:bodyPr>
          <a:lstStyle/>
          <a:p>
            <a:pPr algn="l">
              <a:spcAft>
                <a:spcPts val="400"/>
              </a:spcAft>
            </a:pPr>
            <a:r>
              <a:rPr sz="1100" b="0" lang="en-GB">
                <a:solidFill>
                  <a:srgbClr val="595959"/>
                </a:solidFill>
              </a:rPr>
              <a:t>Loyalty team</a:t>
            </a:r>
          </a:p>
        </p:txBody>
      </p:sp>
      <p:sp>
        <p:nvSpPr>
          <p:cNvPr id="35" name="Cell 1-2 subject"/>
          <p:cNvSpPr txBox="1"/>
          <p:nvPr/>
        </p:nvSpPr>
        <p:spPr>
          <a:xfrm>
            <a:off x="3995928" y="2404872"/>
            <a:ext cx="1929384" cy="365760"/>
          </a:xfrm>
          <a:prstGeom prst="rect">
            <a:avLst/>
          </a:prstGeom>
          <a:noFill/>
        </p:spPr>
        <p:txBody>
          <a:bodyPr wrap="square" lIns="0" rIns="0" tIns="0" bIns="0" anchor="t">
            <a:noAutofit/>
          </a:bodyPr>
          <a:lstStyle/>
          <a:p>
            <a:pPr algn="l">
              <a:spcAft>
                <a:spcPts val="0"/>
              </a:spcAft>
            </a:pPr>
            <a:r>
              <a:rPr sz="1100" b="1" lang="en-GB">
                <a:solidFill>
                  <a:schemeClr val="tx1"/>
                </a:solidFill>
              </a:rPr>
              <a:t>Your loyalty offers are here</a:t>
            </a:r>
          </a:p>
        </p:txBody>
      </p:sp>
      <p:sp>
        <p:nvSpPr>
          <p:cNvPr id="36" name="Cell 1-2 discount box"/>
          <p:cNvSpPr/>
          <p:nvPr/>
        </p:nvSpPr>
        <p:spPr>
          <a:xfrm>
            <a:off x="3995928" y="2752344"/>
            <a:ext cx="1929384" cy="2011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Cell 1-2 discount"/>
          <p:cNvSpPr txBox="1"/>
          <p:nvPr/>
        </p:nvSpPr>
        <p:spPr>
          <a:xfrm>
            <a:off x="3995928" y="2752344"/>
            <a:ext cx="1929384" cy="201168"/>
          </a:xfrm>
          <a:prstGeom prst="rect">
            <a:avLst/>
          </a:prstGeom>
          <a:noFill/>
        </p:spPr>
        <p:txBody>
          <a:bodyPr wrap="square" lIns="0" rIns="0" tIns="0" bIns="0" anchor="ctr">
            <a:noAutofit/>
          </a:bodyPr>
          <a:lstStyle/>
          <a:p>
            <a:pPr algn="ctr">
              <a:spcAft>
                <a:spcPts val="400"/>
              </a:spcAft>
            </a:pPr>
            <a:r>
              <a:rPr sz="1100" b="1" lang="en-GB">
                <a:solidFill>
                  <a:schemeClr val="tx2"/>
                </a:solidFill>
              </a:rPr>
              <a:t>10 % off your next bill</a:t>
            </a:r>
          </a:p>
        </p:txBody>
      </p:sp>
      <p:sp>
        <p:nvSpPr>
          <p:cNvPr id="38" name="Level name 2"/>
          <p:cNvSpPr/>
          <p:nvPr/>
        </p:nvSpPr>
        <p:spPr>
          <a:xfrm>
            <a:off x="457200" y="3182112"/>
            <a:ext cx="100584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evel name 2 text"/>
          <p:cNvSpPr txBox="1"/>
          <p:nvPr/>
        </p:nvSpPr>
        <p:spPr>
          <a:xfrm>
            <a:off x="457200" y="3182112"/>
            <a:ext cx="1005840" cy="1143000"/>
          </a:xfrm>
          <a:prstGeom prst="rect">
            <a:avLst/>
          </a:prstGeom>
          <a:noFill/>
        </p:spPr>
        <p:txBody>
          <a:bodyPr wrap="square" lIns="0" rIns="0" tIns="0" bIns="0" anchor="ctr">
            <a:noAutofit/>
          </a:bodyPr>
          <a:lstStyle/>
          <a:p>
            <a:pPr algn="ctr">
              <a:spcAft>
                <a:spcPts val="400"/>
              </a:spcAft>
            </a:pPr>
            <a:r>
              <a:rPr sz="1200" b="1" lang="en-GB">
                <a:solidFill>
                  <a:schemeClr val="tx2"/>
                </a:solidFill>
              </a:rPr>
              <a:t>First name</a:t>
            </a:r>
          </a:p>
        </p:txBody>
      </p:sp>
      <p:sp>
        <p:nvSpPr>
          <p:cNvPr id="40" name="Cell 2-1 card"/>
          <p:cNvSpPr/>
          <p:nvPr/>
        </p:nvSpPr>
        <p:spPr>
          <a:xfrm>
            <a:off x="1600200" y="3182112"/>
            <a:ext cx="2148840" cy="11430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ell 2-1 strip"/>
          <p:cNvSpPr/>
          <p:nvPr/>
        </p:nvSpPr>
        <p:spPr>
          <a:xfrm>
            <a:off x="1600200" y="3182112"/>
            <a:ext cx="2148840" cy="2560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ell 2-1 inbox"/>
          <p:cNvSpPr txBox="1"/>
          <p:nvPr/>
        </p:nvSpPr>
        <p:spPr>
          <a:xfrm>
            <a:off x="1709928" y="3182112"/>
            <a:ext cx="731520" cy="256032"/>
          </a:xfrm>
          <a:prstGeom prst="rect">
            <a:avLst/>
          </a:prstGeom>
          <a:noFill/>
        </p:spPr>
        <p:txBody>
          <a:bodyPr wrap="square" lIns="0" rIns="0" tIns="0" bIns="0" anchor="ctr">
            <a:noAutofit/>
          </a:bodyPr>
          <a:lstStyle/>
          <a:p>
            <a:pPr algn="l">
              <a:spcAft>
                <a:spcPts val="400"/>
              </a:spcAft>
            </a:pPr>
            <a:r>
              <a:rPr sz="1100" b="1" lang="en-GB">
                <a:solidFill>
                  <a:schemeClr val="tx2"/>
                </a:solidFill>
              </a:rPr>
              <a:t>Inbox</a:t>
            </a:r>
          </a:p>
        </p:txBody>
      </p:sp>
      <p:sp>
        <p:nvSpPr>
          <p:cNvPr id="43" name="Cell 2-1 customers"/>
          <p:cNvSpPr txBox="1"/>
          <p:nvPr/>
        </p:nvSpPr>
        <p:spPr>
          <a:xfrm>
            <a:off x="2267712" y="3182112"/>
            <a:ext cx="1371600" cy="256032"/>
          </a:xfrm>
          <a:prstGeom prst="rect">
            <a:avLst/>
          </a:prstGeom>
          <a:noFill/>
        </p:spPr>
        <p:txBody>
          <a:bodyPr wrap="square" lIns="0" rIns="0" tIns="0" bIns="0" anchor="ctr">
            <a:noAutofit/>
          </a:bodyPr>
          <a:lstStyle/>
          <a:p>
            <a:pPr algn="r">
              <a:spcAft>
                <a:spcPts val="400"/>
              </a:spcAft>
            </a:pPr>
            <a:r>
              <a:rPr sz="1100" b="0" lang="en-GB">
                <a:solidFill>
                  <a:srgbClr val="595959"/>
                </a:solidFill>
              </a:rPr>
              <a:t>10,000 customers</a:t>
            </a:r>
          </a:p>
        </p:txBody>
      </p:sp>
      <p:sp>
        <p:nvSpPr>
          <p:cNvPr id="44" name="Cell 2-1 sender"/>
          <p:cNvSpPr txBox="1"/>
          <p:nvPr/>
        </p:nvSpPr>
        <p:spPr>
          <a:xfrm>
            <a:off x="1709928" y="3474720"/>
            <a:ext cx="1280160" cy="201168"/>
          </a:xfrm>
          <a:prstGeom prst="rect">
            <a:avLst/>
          </a:prstGeom>
          <a:noFill/>
        </p:spPr>
        <p:txBody>
          <a:bodyPr wrap="square" lIns="0" rIns="0" tIns="0" bIns="0" anchor="ctr">
            <a:noAutofit/>
          </a:bodyPr>
          <a:lstStyle/>
          <a:p>
            <a:pPr algn="l">
              <a:spcAft>
                <a:spcPts val="400"/>
              </a:spcAft>
            </a:pPr>
            <a:r>
              <a:rPr sz="1100" b="0" lang="en-GB">
                <a:solidFill>
                  <a:srgbClr val="595959"/>
                </a:solidFill>
              </a:rPr>
              <a:t>Loyalty team</a:t>
            </a:r>
          </a:p>
        </p:txBody>
      </p:sp>
      <p:sp>
        <p:nvSpPr>
          <p:cNvPr id="45" name="Cell 2-1 subject"/>
          <p:cNvSpPr txBox="1"/>
          <p:nvPr/>
        </p:nvSpPr>
        <p:spPr>
          <a:xfrm>
            <a:off x="1709928" y="3685032"/>
            <a:ext cx="1929384" cy="365760"/>
          </a:xfrm>
          <a:prstGeom prst="rect">
            <a:avLst/>
          </a:prstGeom>
          <a:noFill/>
        </p:spPr>
        <p:txBody>
          <a:bodyPr wrap="square" lIns="0" rIns="0" tIns="0" bIns="0" anchor="t">
            <a:noAutofit/>
          </a:bodyPr>
          <a:lstStyle/>
          <a:p>
            <a:pPr algn="l">
              <a:spcAft>
                <a:spcPts val="0"/>
              </a:spcAft>
            </a:pPr>
            <a:r>
              <a:rPr sz="1100" b="1" lang="en-GB">
                <a:solidFill>
                  <a:schemeClr val="accent1"/>
                </a:solidFill>
              </a:rPr>
              <a:t>Anna,</a:t>
            </a:r>
            <a:r>
              <a:rPr sz="1100" b="1" lang="en-GB">
                <a:solidFill>
                  <a:schemeClr val="tx1"/>
                </a:solidFill>
              </a:rPr>
              <a:t> your loyalty offers are here</a:t>
            </a:r>
          </a:p>
        </p:txBody>
      </p:sp>
      <p:sp>
        <p:nvSpPr>
          <p:cNvPr id="46" name="Cell 2-1 line 1"/>
          <p:cNvSpPr/>
          <p:nvPr/>
        </p:nvSpPr>
        <p:spPr>
          <a:xfrm>
            <a:off x="1709928" y="4050792"/>
            <a:ext cx="1929384"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ell 2-1 line 2"/>
          <p:cNvSpPr/>
          <p:nvPr/>
        </p:nvSpPr>
        <p:spPr>
          <a:xfrm>
            <a:off x="1709928" y="4160520"/>
            <a:ext cx="1157630"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Cell 2-2 card"/>
          <p:cNvSpPr/>
          <p:nvPr/>
        </p:nvSpPr>
        <p:spPr>
          <a:xfrm>
            <a:off x="3886200" y="3182112"/>
            <a:ext cx="2148840" cy="11430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Cell 2-2 strip"/>
          <p:cNvSpPr/>
          <p:nvPr/>
        </p:nvSpPr>
        <p:spPr>
          <a:xfrm>
            <a:off x="3886200" y="3182112"/>
            <a:ext cx="2148840" cy="2560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ell 2-2 inbox"/>
          <p:cNvSpPr txBox="1"/>
          <p:nvPr/>
        </p:nvSpPr>
        <p:spPr>
          <a:xfrm>
            <a:off x="3995928" y="3182112"/>
            <a:ext cx="731520" cy="256032"/>
          </a:xfrm>
          <a:prstGeom prst="rect">
            <a:avLst/>
          </a:prstGeom>
          <a:noFill/>
        </p:spPr>
        <p:txBody>
          <a:bodyPr wrap="square" lIns="0" rIns="0" tIns="0" bIns="0" anchor="ctr">
            <a:noAutofit/>
          </a:bodyPr>
          <a:lstStyle/>
          <a:p>
            <a:pPr algn="l">
              <a:spcAft>
                <a:spcPts val="400"/>
              </a:spcAft>
            </a:pPr>
            <a:r>
              <a:rPr sz="1100" b="1" lang="en-GB">
                <a:solidFill>
                  <a:schemeClr val="tx2"/>
                </a:solidFill>
              </a:rPr>
              <a:t>Inbox</a:t>
            </a:r>
          </a:p>
        </p:txBody>
      </p:sp>
      <p:sp>
        <p:nvSpPr>
          <p:cNvPr id="51" name="Cell 2-2 customers"/>
          <p:cNvSpPr txBox="1"/>
          <p:nvPr/>
        </p:nvSpPr>
        <p:spPr>
          <a:xfrm>
            <a:off x="4553712" y="3182112"/>
            <a:ext cx="1371600" cy="256032"/>
          </a:xfrm>
          <a:prstGeom prst="rect">
            <a:avLst/>
          </a:prstGeom>
          <a:noFill/>
        </p:spPr>
        <p:txBody>
          <a:bodyPr wrap="square" lIns="0" rIns="0" tIns="0" bIns="0" anchor="ctr">
            <a:noAutofit/>
          </a:bodyPr>
          <a:lstStyle/>
          <a:p>
            <a:pPr algn="r">
              <a:spcAft>
                <a:spcPts val="400"/>
              </a:spcAft>
            </a:pPr>
            <a:r>
              <a:rPr sz="1100" b="0" lang="en-GB">
                <a:solidFill>
                  <a:srgbClr val="595959"/>
                </a:solidFill>
              </a:rPr>
              <a:t>10,000 customers</a:t>
            </a:r>
          </a:p>
        </p:txBody>
      </p:sp>
      <p:sp>
        <p:nvSpPr>
          <p:cNvPr id="52" name="Cell 2-2 sender"/>
          <p:cNvSpPr txBox="1"/>
          <p:nvPr/>
        </p:nvSpPr>
        <p:spPr>
          <a:xfrm>
            <a:off x="3995928" y="3474720"/>
            <a:ext cx="1280160" cy="201168"/>
          </a:xfrm>
          <a:prstGeom prst="rect">
            <a:avLst/>
          </a:prstGeom>
          <a:noFill/>
        </p:spPr>
        <p:txBody>
          <a:bodyPr wrap="square" lIns="0" rIns="0" tIns="0" bIns="0" anchor="ctr">
            <a:noAutofit/>
          </a:bodyPr>
          <a:lstStyle/>
          <a:p>
            <a:pPr algn="l">
              <a:spcAft>
                <a:spcPts val="400"/>
              </a:spcAft>
            </a:pPr>
            <a:r>
              <a:rPr sz="1100" b="0" lang="en-GB">
                <a:solidFill>
                  <a:srgbClr val="595959"/>
                </a:solidFill>
              </a:rPr>
              <a:t>Loyalty team</a:t>
            </a:r>
          </a:p>
        </p:txBody>
      </p:sp>
      <p:sp>
        <p:nvSpPr>
          <p:cNvPr id="53" name="Cell 2-2 subject"/>
          <p:cNvSpPr txBox="1"/>
          <p:nvPr/>
        </p:nvSpPr>
        <p:spPr>
          <a:xfrm>
            <a:off x="3995928" y="3685032"/>
            <a:ext cx="1929384" cy="365760"/>
          </a:xfrm>
          <a:prstGeom prst="rect">
            <a:avLst/>
          </a:prstGeom>
          <a:noFill/>
        </p:spPr>
        <p:txBody>
          <a:bodyPr wrap="square" lIns="0" rIns="0" tIns="0" bIns="0" anchor="t">
            <a:noAutofit/>
          </a:bodyPr>
          <a:lstStyle/>
          <a:p>
            <a:pPr algn="l">
              <a:spcAft>
                <a:spcPts val="0"/>
              </a:spcAft>
            </a:pPr>
            <a:r>
              <a:rPr sz="1100" b="1" lang="en-GB">
                <a:solidFill>
                  <a:schemeClr val="accent1"/>
                </a:solidFill>
              </a:rPr>
              <a:t>Anna,</a:t>
            </a:r>
            <a:r>
              <a:rPr sz="1100" b="1" lang="en-GB">
                <a:solidFill>
                  <a:schemeClr val="tx1"/>
                </a:solidFill>
              </a:rPr>
              <a:t> your loyalty offers are here</a:t>
            </a:r>
          </a:p>
        </p:txBody>
      </p:sp>
      <p:sp>
        <p:nvSpPr>
          <p:cNvPr id="54" name="Cell 2-2 discount box"/>
          <p:cNvSpPr/>
          <p:nvPr/>
        </p:nvSpPr>
        <p:spPr>
          <a:xfrm>
            <a:off x="3995928" y="4032504"/>
            <a:ext cx="1929384" cy="2011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ell 2-2 discount"/>
          <p:cNvSpPr txBox="1"/>
          <p:nvPr/>
        </p:nvSpPr>
        <p:spPr>
          <a:xfrm>
            <a:off x="3995928" y="4032504"/>
            <a:ext cx="1929384" cy="201168"/>
          </a:xfrm>
          <a:prstGeom prst="rect">
            <a:avLst/>
          </a:prstGeom>
          <a:noFill/>
        </p:spPr>
        <p:txBody>
          <a:bodyPr wrap="square" lIns="0" rIns="0" tIns="0" bIns="0" anchor="ctr">
            <a:noAutofit/>
          </a:bodyPr>
          <a:lstStyle/>
          <a:p>
            <a:pPr algn="ctr">
              <a:spcAft>
                <a:spcPts val="400"/>
              </a:spcAft>
            </a:pPr>
            <a:r>
              <a:rPr sz="1100" b="1" lang="en-GB">
                <a:solidFill>
                  <a:schemeClr val="tx2"/>
                </a:solidFill>
              </a:rPr>
              <a:t>10 % off your next bill</a:t>
            </a:r>
          </a:p>
        </p:txBody>
      </p:sp>
      <p:sp>
        <p:nvSpPr>
          <p:cNvPr id="56" name="Terms 1 row"/>
          <p:cNvSpPr/>
          <p:nvPr/>
        </p:nvSpPr>
        <p:spPr>
          <a:xfrm>
            <a:off x="6172200" y="1234440"/>
            <a:ext cx="2514600" cy="9387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rms 1 bar"/>
          <p:cNvSpPr/>
          <p:nvPr/>
        </p:nvSpPr>
        <p:spPr>
          <a:xfrm>
            <a:off x="6172200" y="1234440"/>
            <a:ext cx="64008" cy="9387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rms 1 text"/>
          <p:cNvSpPr txBox="1"/>
          <p:nvPr/>
        </p:nvSpPr>
        <p:spPr>
          <a:xfrm>
            <a:off x="6373368" y="1234440"/>
            <a:ext cx="2221992" cy="938784"/>
          </a:xfrm>
          <a:prstGeom prst="rect">
            <a:avLst/>
          </a:prstGeom>
          <a:noFill/>
        </p:spPr>
        <p:txBody>
          <a:bodyPr wrap="square" lIns="0" rIns="0" tIns="0" bIns="0" anchor="ctr">
            <a:noAutofit/>
          </a:bodyPr>
          <a:lstStyle/>
          <a:p>
            <a:pPr algn="l">
              <a:spcAft>
                <a:spcPts val="400"/>
              </a:spcAft>
            </a:pPr>
            <a:r>
              <a:rPr sz="1200" b="1" lang="en-GB">
                <a:solidFill>
                  <a:schemeClr val="tx2"/>
                </a:solidFill>
              </a:rPr>
              <a:t>Factor: </a:t>
            </a:r>
            <a:r>
              <a:rPr sz="1200" b="0" lang="en-GB">
                <a:solidFill>
                  <a:schemeClr val="tx1"/>
                </a:solidFill>
              </a:rPr>
              <a:t>an independent variable we change (here: first name, discount)</a:t>
            </a:r>
          </a:p>
        </p:txBody>
      </p:sp>
      <p:sp>
        <p:nvSpPr>
          <p:cNvPr id="59" name="Terms 2 row"/>
          <p:cNvSpPr/>
          <p:nvPr/>
        </p:nvSpPr>
        <p:spPr>
          <a:xfrm>
            <a:off x="6172200" y="2310384"/>
            <a:ext cx="2514600" cy="9387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rms 2 bar"/>
          <p:cNvSpPr/>
          <p:nvPr/>
        </p:nvSpPr>
        <p:spPr>
          <a:xfrm>
            <a:off x="6172200" y="2310384"/>
            <a:ext cx="64008" cy="9387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rms 2 text"/>
          <p:cNvSpPr txBox="1"/>
          <p:nvPr/>
        </p:nvSpPr>
        <p:spPr>
          <a:xfrm>
            <a:off x="6373368" y="2310384"/>
            <a:ext cx="2221992" cy="938784"/>
          </a:xfrm>
          <a:prstGeom prst="rect">
            <a:avLst/>
          </a:prstGeom>
          <a:noFill/>
        </p:spPr>
        <p:txBody>
          <a:bodyPr wrap="square" lIns="0" rIns="0" tIns="0" bIns="0" anchor="ctr">
            <a:noAutofit/>
          </a:bodyPr>
          <a:lstStyle/>
          <a:p>
            <a:pPr algn="l">
              <a:spcAft>
                <a:spcPts val="400"/>
              </a:spcAft>
            </a:pPr>
            <a:r>
              <a:rPr sz="1200" b="1" lang="en-GB">
                <a:solidFill>
                  <a:schemeClr val="tx2"/>
                </a:solidFill>
              </a:rPr>
              <a:t>Level: </a:t>
            </a:r>
            <a:r>
              <a:rPr sz="1200" b="0" lang="en-GB">
                <a:solidFill>
                  <a:schemeClr val="tx1"/>
                </a:solidFill>
              </a:rPr>
              <a:t>a version of a factor (no / yes)</a:t>
            </a:r>
          </a:p>
        </p:txBody>
      </p:sp>
      <p:sp>
        <p:nvSpPr>
          <p:cNvPr id="62" name="Terms 3 row"/>
          <p:cNvSpPr/>
          <p:nvPr/>
        </p:nvSpPr>
        <p:spPr>
          <a:xfrm>
            <a:off x="6172200" y="3386328"/>
            <a:ext cx="2514600" cy="9387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rms 3 bar"/>
          <p:cNvSpPr/>
          <p:nvPr/>
        </p:nvSpPr>
        <p:spPr>
          <a:xfrm>
            <a:off x="6172200" y="3386328"/>
            <a:ext cx="64008" cy="9387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rms 3 text"/>
          <p:cNvSpPr txBox="1"/>
          <p:nvPr/>
        </p:nvSpPr>
        <p:spPr>
          <a:xfrm>
            <a:off x="6373368" y="3386328"/>
            <a:ext cx="2221992" cy="938784"/>
          </a:xfrm>
          <a:prstGeom prst="rect">
            <a:avLst/>
          </a:prstGeom>
          <a:noFill/>
        </p:spPr>
        <p:txBody>
          <a:bodyPr wrap="square" lIns="0" rIns="0" tIns="0" bIns="0" anchor="ctr">
            <a:noAutofit/>
          </a:bodyPr>
          <a:lstStyle/>
          <a:p>
            <a:pPr algn="l">
              <a:spcAft>
                <a:spcPts val="400"/>
              </a:spcAft>
            </a:pPr>
            <a:r>
              <a:rPr sz="1200" b="1" lang="en-GB">
                <a:solidFill>
                  <a:schemeClr val="tx2"/>
                </a:solidFill>
              </a:rPr>
              <a:t>Cell: </a:t>
            </a:r>
            <a:r>
              <a:rPr sz="1200" b="0" lang="en-GB">
                <a:solidFill>
                  <a:schemeClr val="tx1"/>
                </a:solidFill>
              </a:rPr>
              <a:t>one combination: 2 × 2 = 4 e-mails</a:t>
            </a:r>
          </a:p>
        </p:txBody>
      </p:sp>
      <p:sp>
        <p:nvSpPr>
          <p:cNvPr id="65" name="Cells callout box"/>
          <p:cNvSpPr/>
          <p:nvPr/>
        </p:nvSpPr>
        <p:spPr>
          <a:xfrm>
            <a:off x="457200" y="4462272"/>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ells callout text"/>
          <p:cNvSpPr txBox="1"/>
          <p:nvPr/>
        </p:nvSpPr>
        <p:spPr>
          <a:xfrm>
            <a:off x="658368" y="4462272"/>
            <a:ext cx="7827264"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Randomised: </a:t>
            </a:r>
            <a:r>
              <a:rPr sz="1200" b="0" lang="en-GB">
                <a:solidFill>
                  <a:schemeClr val="bg1"/>
                </a:solidFill>
              </a:rPr>
              <a:t>each customer gets one of the four e-mails at random.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Interaction: a difference in differences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2_shapes.png" descr="Three interaction plots with invented round numbers, click rate by discount (no, yes) for the generic and the first-name e-mail. No interaction: generic 3 to 5 %, first name 4 to 6 %, parallel lines. Reinforcing: generic 3 to 5 %, first name 3.5 to 6.5 %, lines fan out. Crossover: generic 3 to 5 %, first name 4 to 4 %, lines cross."/>
          <p:cNvPicPr>
            <a:picLocks noChangeAspect="1"/>
          </p:cNvPicPr>
          <p:nvPr/>
        </p:nvPicPr>
        <p:blipFill>
          <a:blip r:embed="rId3"/>
          <a:stretch>
            <a:fillRect/>
          </a:stretch>
        </p:blipFill>
        <p:spPr>
          <a:xfrm>
            <a:off x="457200" y="1234440"/>
            <a:ext cx="8229600" cy="2331720"/>
          </a:xfrm>
          <a:prstGeom prst="rect">
            <a:avLst/>
          </a:prstGeom>
        </p:spPr>
      </p:pic>
      <p:sp>
        <p:nvSpPr>
          <p:cNvPr id="11" name="Shapes rule row"/>
          <p:cNvSpPr/>
          <p:nvPr/>
        </p:nvSpPr>
        <p:spPr>
          <a:xfrm>
            <a:off x="457200" y="37033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s rule bar"/>
          <p:cNvSpPr/>
          <p:nvPr/>
        </p:nvSpPr>
        <p:spPr>
          <a:xfrm>
            <a:off x="457200" y="370332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hapes rule text"/>
          <p:cNvSpPr txBox="1"/>
          <p:nvPr/>
        </p:nvSpPr>
        <p:spPr>
          <a:xfrm>
            <a:off x="658368" y="370332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Interaction</a:t>
            </a:r>
            <a:r>
              <a:rPr sz="1200" b="0" lang="en-GB">
                <a:solidFill>
                  <a:schemeClr val="tx1"/>
                </a:solidFill>
              </a:rPr>
              <a:t> = simple effect of the name with discount − without (the gap between the lines):  </a:t>
            </a:r>
            <a:r>
              <a:rPr sz="1200" b="1" lang="en-GB">
                <a:solidFill>
                  <a:schemeClr val="tx2"/>
                </a:solidFill>
              </a:rPr>
              <a:t>0, +1.0, −2.0 pp</a:t>
            </a:r>
          </a:p>
        </p:txBody>
      </p:sp>
      <p:sp>
        <p:nvSpPr>
          <p:cNvPr id="14" name="Shapes callout box"/>
          <p:cNvSpPr/>
          <p:nvPr/>
        </p:nvSpPr>
        <p:spPr>
          <a:xfrm>
            <a:off x="457200" y="429768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hapes callout text"/>
          <p:cNvSpPr txBox="1"/>
          <p:nvPr/>
        </p:nvSpPr>
        <p:spPr>
          <a:xfrm>
            <a:off x="658368" y="429768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Parallel lines: no interaction. </a:t>
            </a:r>
            <a:r>
              <a:rPr sz="1200" b="0" lang="en-GB">
                <a:solidFill>
                  <a:schemeClr val="bg1"/>
                </a:solidFill>
              </a:rPr>
              <a:t>Fan out or cross: the effect of one factor depends on the other.</a:t>
            </a:r>
          </a:p>
        </p:txBody>
      </p:sp>
      <p:sp>
        <p:nvSpPr>
          <p:cNvPr id="1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Illustration: invented round numbers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2 × 2 result: the name works with the discount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ell table 1-1"/>
          <p:cNvSpPr/>
          <p:nvPr/>
        </p:nvSpPr>
        <p:spPr>
          <a:xfrm>
            <a:off x="457200" y="1234440"/>
            <a:ext cx="116128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ell table text 1-1"/>
          <p:cNvSpPr txBox="1"/>
          <p:nvPr/>
        </p:nvSpPr>
        <p:spPr>
          <a:xfrm>
            <a:off x="548640" y="1234440"/>
            <a:ext cx="978408"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
            </a:r>
          </a:p>
        </p:txBody>
      </p:sp>
      <p:sp>
        <p:nvSpPr>
          <p:cNvPr id="12" name="Cell table 1-2"/>
          <p:cNvSpPr/>
          <p:nvPr/>
        </p:nvSpPr>
        <p:spPr>
          <a:xfrm>
            <a:off x="1645920" y="1234440"/>
            <a:ext cx="138988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ell table text 1-2"/>
          <p:cNvSpPr txBox="1"/>
          <p:nvPr/>
        </p:nvSpPr>
        <p:spPr>
          <a:xfrm>
            <a:off x="1737360" y="1234440"/>
            <a:ext cx="1207008" cy="502920"/>
          </a:xfrm>
          <a:prstGeom prst="rect">
            <a:avLst/>
          </a:prstGeom>
          <a:noFill/>
        </p:spPr>
        <p:txBody>
          <a:bodyPr wrap="square" lIns="0" rIns="0" tIns="0" bIns="0" anchor="ctr">
            <a:noAutofit/>
          </a:bodyPr>
          <a:lstStyle/>
          <a:p>
            <a:pPr algn="r">
              <a:spcAft>
                <a:spcPts val="400"/>
              </a:spcAft>
            </a:pPr>
            <a:r>
              <a:rPr sz="1200" b="1" lang="en-GB">
                <a:solidFill>
                  <a:schemeClr val="bg1"/>
                </a:solidFill>
              </a:rPr>
              <a:t>No discount</a:t>
            </a:r>
          </a:p>
        </p:txBody>
      </p:sp>
      <p:sp>
        <p:nvSpPr>
          <p:cNvPr id="14" name="Cell table 1-3"/>
          <p:cNvSpPr/>
          <p:nvPr/>
        </p:nvSpPr>
        <p:spPr>
          <a:xfrm>
            <a:off x="3063240" y="1234440"/>
            <a:ext cx="141732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ell table text 1-3"/>
          <p:cNvSpPr txBox="1"/>
          <p:nvPr/>
        </p:nvSpPr>
        <p:spPr>
          <a:xfrm>
            <a:off x="3154680" y="1234440"/>
            <a:ext cx="1207008" cy="502920"/>
          </a:xfrm>
          <a:prstGeom prst="rect">
            <a:avLst/>
          </a:prstGeom>
          <a:noFill/>
        </p:spPr>
        <p:txBody>
          <a:bodyPr wrap="square" lIns="0" rIns="0" tIns="0" bIns="0" anchor="ctr">
            <a:noAutofit/>
          </a:bodyPr>
          <a:lstStyle/>
          <a:p>
            <a:pPr algn="r">
              <a:spcAft>
                <a:spcPts val="400"/>
              </a:spcAft>
            </a:pPr>
            <a:r>
              <a:rPr sz="1200" b="1" lang="en-GB">
                <a:solidFill>
                  <a:schemeClr val="bg1"/>
                </a:solidFill>
              </a:rPr>
              <a:t>10 % discount</a:t>
            </a:r>
          </a:p>
        </p:txBody>
      </p:sp>
      <p:sp>
        <p:nvSpPr>
          <p:cNvPr id="16" name="Cell table 2-1"/>
          <p:cNvSpPr/>
          <p:nvPr/>
        </p:nvSpPr>
        <p:spPr>
          <a:xfrm>
            <a:off x="457200" y="1764792"/>
            <a:ext cx="1161288"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ell table text 2-1"/>
          <p:cNvSpPr txBox="1"/>
          <p:nvPr/>
        </p:nvSpPr>
        <p:spPr>
          <a:xfrm>
            <a:off x="548640" y="1764792"/>
            <a:ext cx="978408"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Generic</a:t>
            </a:r>
          </a:p>
        </p:txBody>
      </p:sp>
      <p:sp>
        <p:nvSpPr>
          <p:cNvPr id="18" name="Cell table 2-2"/>
          <p:cNvSpPr/>
          <p:nvPr/>
        </p:nvSpPr>
        <p:spPr>
          <a:xfrm>
            <a:off x="1645920" y="1764792"/>
            <a:ext cx="1389888"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ell table text 2-2"/>
          <p:cNvSpPr txBox="1"/>
          <p:nvPr/>
        </p:nvSpPr>
        <p:spPr>
          <a:xfrm>
            <a:off x="1737360" y="1764792"/>
            <a:ext cx="1207008" cy="502920"/>
          </a:xfrm>
          <a:prstGeom prst="rect">
            <a:avLst/>
          </a:prstGeom>
          <a:noFill/>
        </p:spPr>
        <p:txBody>
          <a:bodyPr wrap="square" lIns="0" rIns="0" tIns="0" bIns="0" anchor="ctr">
            <a:noAutofit/>
          </a:bodyPr>
          <a:lstStyle/>
          <a:p>
            <a:pPr algn="r">
              <a:spcAft>
                <a:spcPts val="400"/>
              </a:spcAft>
            </a:pPr>
            <a:r>
              <a:rPr sz="1200" b="0" lang="en-GB">
                <a:solidFill>
                  <a:schemeClr val="tx1"/>
                </a:solidFill>
              </a:rPr>
              <a:t>3.51 %</a:t>
            </a:r>
          </a:p>
        </p:txBody>
      </p:sp>
      <p:sp>
        <p:nvSpPr>
          <p:cNvPr id="20" name="Cell table 2-3"/>
          <p:cNvSpPr/>
          <p:nvPr/>
        </p:nvSpPr>
        <p:spPr>
          <a:xfrm>
            <a:off x="3063240" y="1764792"/>
            <a:ext cx="14173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ell table text 2-3"/>
          <p:cNvSpPr txBox="1"/>
          <p:nvPr/>
        </p:nvSpPr>
        <p:spPr>
          <a:xfrm>
            <a:off x="3154680" y="1764792"/>
            <a:ext cx="1207008" cy="502920"/>
          </a:xfrm>
          <a:prstGeom prst="rect">
            <a:avLst/>
          </a:prstGeom>
          <a:noFill/>
        </p:spPr>
        <p:txBody>
          <a:bodyPr wrap="square" lIns="0" rIns="0" tIns="0" bIns="0" anchor="ctr">
            <a:noAutofit/>
          </a:bodyPr>
          <a:lstStyle/>
          <a:p>
            <a:pPr algn="r">
              <a:spcAft>
                <a:spcPts val="400"/>
              </a:spcAft>
            </a:pPr>
            <a:r>
              <a:rPr sz="1200" b="0" lang="en-GB">
                <a:solidFill>
                  <a:schemeClr val="tx1"/>
                </a:solidFill>
              </a:rPr>
              <a:t>5.10 %</a:t>
            </a:r>
          </a:p>
        </p:txBody>
      </p:sp>
      <p:sp>
        <p:nvSpPr>
          <p:cNvPr id="22" name="Cell table 3-1"/>
          <p:cNvSpPr/>
          <p:nvPr/>
        </p:nvSpPr>
        <p:spPr>
          <a:xfrm>
            <a:off x="457200" y="2295144"/>
            <a:ext cx="1161288"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ell table text 3-1"/>
          <p:cNvSpPr txBox="1"/>
          <p:nvPr/>
        </p:nvSpPr>
        <p:spPr>
          <a:xfrm>
            <a:off x="548640" y="2295144"/>
            <a:ext cx="978408"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First name</a:t>
            </a:r>
          </a:p>
        </p:txBody>
      </p:sp>
      <p:sp>
        <p:nvSpPr>
          <p:cNvPr id="24" name="Cell table 3-2"/>
          <p:cNvSpPr/>
          <p:nvPr/>
        </p:nvSpPr>
        <p:spPr>
          <a:xfrm>
            <a:off x="1645920" y="2295144"/>
            <a:ext cx="1389888"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ell table text 3-2"/>
          <p:cNvSpPr txBox="1"/>
          <p:nvPr/>
        </p:nvSpPr>
        <p:spPr>
          <a:xfrm>
            <a:off x="1737360" y="2295144"/>
            <a:ext cx="1207008" cy="502920"/>
          </a:xfrm>
          <a:prstGeom prst="rect">
            <a:avLst/>
          </a:prstGeom>
          <a:noFill/>
        </p:spPr>
        <p:txBody>
          <a:bodyPr wrap="square" lIns="0" rIns="0" tIns="0" bIns="0" anchor="ctr">
            <a:noAutofit/>
          </a:bodyPr>
          <a:lstStyle/>
          <a:p>
            <a:pPr algn="r">
              <a:spcAft>
                <a:spcPts val="400"/>
              </a:spcAft>
            </a:pPr>
            <a:r>
              <a:rPr sz="1200" b="0" lang="en-GB">
                <a:solidFill>
                  <a:schemeClr val="tx1"/>
                </a:solidFill>
              </a:rPr>
              <a:t>3.91 %</a:t>
            </a:r>
          </a:p>
        </p:txBody>
      </p:sp>
      <p:sp>
        <p:nvSpPr>
          <p:cNvPr id="26" name="Cell table 3-3"/>
          <p:cNvSpPr/>
          <p:nvPr/>
        </p:nvSpPr>
        <p:spPr>
          <a:xfrm>
            <a:off x="3063240" y="2295144"/>
            <a:ext cx="141732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ell table text 3-3"/>
          <p:cNvSpPr txBox="1"/>
          <p:nvPr/>
        </p:nvSpPr>
        <p:spPr>
          <a:xfrm>
            <a:off x="3154680" y="2295144"/>
            <a:ext cx="1207008" cy="502920"/>
          </a:xfrm>
          <a:prstGeom prst="rect">
            <a:avLst/>
          </a:prstGeom>
          <a:noFill/>
        </p:spPr>
        <p:txBody>
          <a:bodyPr wrap="square" lIns="0" rIns="0" tIns="0" bIns="0" anchor="ctr">
            <a:noAutofit/>
          </a:bodyPr>
          <a:lstStyle/>
          <a:p>
            <a:pPr algn="r">
              <a:spcAft>
                <a:spcPts val="400"/>
              </a:spcAft>
            </a:pPr>
            <a:r>
              <a:rPr sz="1200" b="0" lang="en-GB">
                <a:solidFill>
                  <a:schemeClr val="tx1"/>
                </a:solidFill>
              </a:rPr>
              <a:t>6.52 %</a:t>
            </a:r>
          </a:p>
        </p:txBody>
      </p:sp>
      <p:sp>
        <p:nvSpPr>
          <p:cNvPr id="28" name="Cell note"/>
          <p:cNvSpPr txBox="1"/>
          <p:nvPr/>
        </p:nvSpPr>
        <p:spPr>
          <a:xfrm>
            <a:off x="457200" y="2825496"/>
            <a:ext cx="402336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Click rate per cell, 10,000 customers per cell</a:t>
            </a:r>
          </a:p>
        </p:txBody>
      </p:sp>
      <p:sp>
        <p:nvSpPr>
          <p:cNvPr id="29" name="Name effect 1 row"/>
          <p:cNvSpPr/>
          <p:nvPr/>
        </p:nvSpPr>
        <p:spPr>
          <a:xfrm>
            <a:off x="457200" y="3200400"/>
            <a:ext cx="194310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me effect 1 bar"/>
          <p:cNvSpPr/>
          <p:nvPr/>
        </p:nvSpPr>
        <p:spPr>
          <a:xfrm>
            <a:off x="457200" y="320040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ame effect 1 text"/>
          <p:cNvSpPr txBox="1"/>
          <p:nvPr/>
        </p:nvSpPr>
        <p:spPr>
          <a:xfrm>
            <a:off x="658368" y="3200400"/>
            <a:ext cx="1668780" cy="822960"/>
          </a:xfrm>
          <a:prstGeom prst="rect">
            <a:avLst/>
          </a:prstGeom>
          <a:noFill/>
        </p:spPr>
        <p:txBody>
          <a:bodyPr wrap="square" lIns="0" rIns="0" tIns="0" bIns="0" anchor="ctr">
            <a:noAutofit/>
          </a:bodyPr>
          <a:lstStyle/>
          <a:p>
            <a:pPr algn="l">
              <a:spcAft>
                <a:spcPts val="200"/>
              </a:spcAft>
            </a:pPr>
            <a:r>
              <a:rPr sz="1200" b="1" lang="en-GB">
                <a:solidFill>
                  <a:schemeClr val="tx2"/>
                </a:solidFill>
              </a:rPr>
              <a:t>Name alone</a:t>
            </a:r>
          </a:p>
          <a:p>
            <a:pPr algn="l">
              <a:spcAft>
                <a:spcPts val="200"/>
              </a:spcAft>
            </a:pPr>
            <a:r>
              <a:rPr sz="2000" b="1" lang="en-GB">
                <a:solidFill>
                  <a:schemeClr val="tx2"/>
                </a:solidFill>
                <a:latin typeface="+mj-lt"/>
              </a:rPr>
              <a:t>+0.40 pp</a:t>
            </a:r>
          </a:p>
        </p:txBody>
      </p:sp>
      <p:sp>
        <p:nvSpPr>
          <p:cNvPr id="32" name="Name effect 2 row"/>
          <p:cNvSpPr/>
          <p:nvPr/>
        </p:nvSpPr>
        <p:spPr>
          <a:xfrm>
            <a:off x="2537460" y="3200400"/>
            <a:ext cx="194310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ame effect 2 bar"/>
          <p:cNvSpPr/>
          <p:nvPr/>
        </p:nvSpPr>
        <p:spPr>
          <a:xfrm>
            <a:off x="2537460" y="320040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me effect 2 text"/>
          <p:cNvSpPr txBox="1"/>
          <p:nvPr/>
        </p:nvSpPr>
        <p:spPr>
          <a:xfrm>
            <a:off x="2738628" y="3200400"/>
            <a:ext cx="1668780" cy="822960"/>
          </a:xfrm>
          <a:prstGeom prst="rect">
            <a:avLst/>
          </a:prstGeom>
          <a:noFill/>
        </p:spPr>
        <p:txBody>
          <a:bodyPr wrap="square" lIns="0" rIns="0" tIns="0" bIns="0" anchor="ctr">
            <a:noAutofit/>
          </a:bodyPr>
          <a:lstStyle/>
          <a:p>
            <a:pPr algn="l">
              <a:spcAft>
                <a:spcPts val="200"/>
              </a:spcAft>
            </a:pPr>
            <a:r>
              <a:rPr sz="1200" b="1" lang="en-GB">
                <a:solidFill>
                  <a:schemeClr val="tx2"/>
                </a:solidFill>
              </a:rPr>
              <a:t>Name + discount</a:t>
            </a:r>
          </a:p>
          <a:p>
            <a:pPr algn="l">
              <a:spcAft>
                <a:spcPts val="200"/>
              </a:spcAft>
            </a:pPr>
            <a:r>
              <a:rPr sz="2000" b="1" lang="en-GB">
                <a:solidFill>
                  <a:schemeClr val="tx2"/>
                </a:solidFill>
                <a:latin typeface="+mj-lt"/>
              </a:rPr>
              <a:t>+1.42 pp</a:t>
            </a:r>
          </a:p>
        </p:txBody>
      </p:sp>
      <p:pic>
        <p:nvPicPr>
          <p:cNvPr id="35" name="Chart ab_a2_result.png" descr="Interaction plot of the 2 × 2 test: click rate by discount for the generic and the first-name e-mail. Generic 3.51 % to 5.10 %, first name 3.91 % to 6.52 %; the name adds +0.40 pp without and +1.42 pp with the discount."/>
          <p:cNvPicPr>
            <a:picLocks noChangeAspect="1"/>
          </p:cNvPicPr>
          <p:nvPr/>
        </p:nvPicPr>
        <p:blipFill>
          <a:blip r:embed="rId3"/>
          <a:stretch>
            <a:fillRect/>
          </a:stretch>
        </p:blipFill>
        <p:spPr>
          <a:xfrm>
            <a:off x="4617720" y="1234440"/>
            <a:ext cx="4069080" cy="2788920"/>
          </a:xfrm>
          <a:prstGeom prst="rect">
            <a:avLst/>
          </a:prstGeom>
        </p:spPr>
      </p:pic>
      <p:sp>
        <p:nvSpPr>
          <p:cNvPr id="36" name="Result callout box"/>
          <p:cNvSpPr/>
          <p:nvPr/>
        </p:nvSpPr>
        <p:spPr>
          <a:xfrm>
            <a:off x="457200" y="41605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sult callout text"/>
          <p:cNvSpPr txBox="1"/>
          <p:nvPr/>
        </p:nvSpPr>
        <p:spPr>
          <a:xfrm>
            <a:off x="658368" y="416052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The name adds 0.40 pp alone and 1.42 pp with the discount: </a:t>
            </a:r>
            <a:r>
              <a:rPr sz="1200" b="0" lang="en-GB">
                <a:solidFill>
                  <a:schemeClr val="bg1"/>
                </a:solidFill>
              </a:rPr>
              <a:t>an interaction of +1.02 pp.</a:t>
            </a:r>
          </a:p>
        </p:txBody>
      </p:sp>
      <p:sp>
        <p:nvSpPr>
          <p:cNvPr id="3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(email_factorial.csv)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By hand: simple effects, main effects, interaction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lc table 1-1"/>
          <p:cNvSpPr/>
          <p:nvPr/>
        </p:nvSpPr>
        <p:spPr>
          <a:xfrm>
            <a:off x="457200" y="1234440"/>
            <a:ext cx="267004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lc table text 1-1"/>
          <p:cNvSpPr txBox="1"/>
          <p:nvPr/>
        </p:nvSpPr>
        <p:spPr>
          <a:xfrm>
            <a:off x="548640" y="1234440"/>
            <a:ext cx="2487168" cy="420624"/>
          </a:xfrm>
          <a:prstGeom prst="rect">
            <a:avLst/>
          </a:prstGeom>
          <a:noFill/>
        </p:spPr>
        <p:txBody>
          <a:bodyPr wrap="square" lIns="0" rIns="0" tIns="0" bIns="0" anchor="ctr">
            <a:noAutofit/>
          </a:bodyPr>
          <a:lstStyle/>
          <a:p>
            <a:pPr algn="l">
              <a:spcAft>
                <a:spcPts val="400"/>
              </a:spcAft>
            </a:pPr>
            <a:r>
              <a:rPr sz="1200" b="1" lang="en-GB">
                <a:solidFill>
                  <a:schemeClr val="bg1"/>
                </a:solidFill>
              </a:rPr>
              <a:t>Effect of the first name</a:t>
            </a:r>
          </a:p>
        </p:txBody>
      </p:sp>
      <p:sp>
        <p:nvSpPr>
          <p:cNvPr id="12" name="Calc table 1-2"/>
          <p:cNvSpPr/>
          <p:nvPr/>
        </p:nvSpPr>
        <p:spPr>
          <a:xfrm>
            <a:off x="3154680" y="1234440"/>
            <a:ext cx="193852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lc table text 1-2"/>
          <p:cNvSpPr txBox="1"/>
          <p:nvPr/>
        </p:nvSpPr>
        <p:spPr>
          <a:xfrm>
            <a:off x="3246120" y="1234440"/>
            <a:ext cx="1755648" cy="420624"/>
          </a:xfrm>
          <a:prstGeom prst="rect">
            <a:avLst/>
          </a:prstGeom>
          <a:noFill/>
        </p:spPr>
        <p:txBody>
          <a:bodyPr wrap="square" lIns="0" rIns="0" tIns="0" bIns="0" anchor="ctr">
            <a:noAutofit/>
          </a:bodyPr>
          <a:lstStyle/>
          <a:p>
            <a:pPr algn="l">
              <a:spcAft>
                <a:spcPts val="400"/>
              </a:spcAft>
            </a:pPr>
            <a:r>
              <a:rPr sz="1200" b="1" lang="en-GB">
                <a:solidFill>
                  <a:schemeClr val="bg1"/>
                </a:solidFill>
              </a:rPr>
              <a:t>Calculation</a:t>
            </a:r>
          </a:p>
        </p:txBody>
      </p:sp>
      <p:sp>
        <p:nvSpPr>
          <p:cNvPr id="14" name="Calc table 1-3"/>
          <p:cNvSpPr/>
          <p:nvPr/>
        </p:nvSpPr>
        <p:spPr>
          <a:xfrm>
            <a:off x="5120640" y="1234440"/>
            <a:ext cx="1005840"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lc table text 1-3"/>
          <p:cNvSpPr txBox="1"/>
          <p:nvPr/>
        </p:nvSpPr>
        <p:spPr>
          <a:xfrm>
            <a:off x="5212080" y="1234440"/>
            <a:ext cx="795528" cy="420624"/>
          </a:xfrm>
          <a:prstGeom prst="rect">
            <a:avLst/>
          </a:prstGeom>
          <a:noFill/>
        </p:spPr>
        <p:txBody>
          <a:bodyPr wrap="square" lIns="0" rIns="0" tIns="0" bIns="0" anchor="ctr">
            <a:noAutofit/>
          </a:bodyPr>
          <a:lstStyle/>
          <a:p>
            <a:pPr algn="r">
              <a:spcAft>
                <a:spcPts val="400"/>
              </a:spcAft>
            </a:pPr>
            <a:r>
              <a:rPr sz="1200" b="1" lang="en-GB">
                <a:solidFill>
                  <a:schemeClr val="bg1"/>
                </a:solidFill>
              </a:rPr>
              <a:t>pp</a:t>
            </a:r>
          </a:p>
        </p:txBody>
      </p:sp>
      <p:sp>
        <p:nvSpPr>
          <p:cNvPr id="16" name="Calc table 2-1"/>
          <p:cNvSpPr/>
          <p:nvPr/>
        </p:nvSpPr>
        <p:spPr>
          <a:xfrm>
            <a:off x="457200" y="1682496"/>
            <a:ext cx="267004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lc table text 2-1"/>
          <p:cNvSpPr txBox="1"/>
          <p:nvPr/>
        </p:nvSpPr>
        <p:spPr>
          <a:xfrm>
            <a:off x="548640" y="1682496"/>
            <a:ext cx="2487168"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Simple effect, no discount</a:t>
            </a:r>
          </a:p>
        </p:txBody>
      </p:sp>
      <p:sp>
        <p:nvSpPr>
          <p:cNvPr id="18" name="Calc table 2-2"/>
          <p:cNvSpPr/>
          <p:nvPr/>
        </p:nvSpPr>
        <p:spPr>
          <a:xfrm>
            <a:off x="3154680" y="1682496"/>
            <a:ext cx="193852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alc table text 2-2"/>
          <p:cNvSpPr txBox="1"/>
          <p:nvPr/>
        </p:nvSpPr>
        <p:spPr>
          <a:xfrm>
            <a:off x="3246120" y="1682496"/>
            <a:ext cx="1755648" cy="420624"/>
          </a:xfrm>
          <a:prstGeom prst="rect">
            <a:avLst/>
          </a:prstGeom>
          <a:noFill/>
        </p:spPr>
        <p:txBody>
          <a:bodyPr wrap="square" lIns="0" rIns="0" tIns="0" bIns="0" anchor="ctr">
            <a:noAutofit/>
          </a:bodyPr>
          <a:lstStyle/>
          <a:p>
            <a:pPr algn="l">
              <a:spcAft>
                <a:spcPts val="400"/>
              </a:spcAft>
            </a:pPr>
            <a:r>
              <a:rPr sz="1200" b="0" lang="en-GB">
                <a:solidFill>
                  <a:schemeClr val="tx1"/>
                </a:solidFill>
              </a:rPr>
              <a:t>3.91 − 3.51</a:t>
            </a:r>
          </a:p>
        </p:txBody>
      </p:sp>
      <p:sp>
        <p:nvSpPr>
          <p:cNvPr id="20" name="Calc table 2-3"/>
          <p:cNvSpPr/>
          <p:nvPr/>
        </p:nvSpPr>
        <p:spPr>
          <a:xfrm>
            <a:off x="5120640" y="1682496"/>
            <a:ext cx="100584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lc table text 2-3"/>
          <p:cNvSpPr txBox="1"/>
          <p:nvPr/>
        </p:nvSpPr>
        <p:spPr>
          <a:xfrm>
            <a:off x="5212080" y="1682496"/>
            <a:ext cx="795528" cy="420624"/>
          </a:xfrm>
          <a:prstGeom prst="rect">
            <a:avLst/>
          </a:prstGeom>
          <a:noFill/>
        </p:spPr>
        <p:txBody>
          <a:bodyPr wrap="square" lIns="0" rIns="0" tIns="0" bIns="0" anchor="ctr">
            <a:noAutofit/>
          </a:bodyPr>
          <a:lstStyle/>
          <a:p>
            <a:pPr algn="r">
              <a:spcAft>
                <a:spcPts val="400"/>
              </a:spcAft>
            </a:pPr>
            <a:r>
              <a:rPr sz="1200" b="0" lang="en-GB">
                <a:solidFill>
                  <a:schemeClr val="tx1"/>
                </a:solidFill>
              </a:rPr>
              <a:t>+0.40</a:t>
            </a:r>
          </a:p>
        </p:txBody>
      </p:sp>
      <p:sp>
        <p:nvSpPr>
          <p:cNvPr id="22" name="Calc table 3-1"/>
          <p:cNvSpPr/>
          <p:nvPr/>
        </p:nvSpPr>
        <p:spPr>
          <a:xfrm>
            <a:off x="457200" y="2130552"/>
            <a:ext cx="267004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lc table text 3-1"/>
          <p:cNvSpPr txBox="1"/>
          <p:nvPr/>
        </p:nvSpPr>
        <p:spPr>
          <a:xfrm>
            <a:off x="548640" y="2130552"/>
            <a:ext cx="2487168"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Simple effect, with discount</a:t>
            </a:r>
          </a:p>
        </p:txBody>
      </p:sp>
      <p:sp>
        <p:nvSpPr>
          <p:cNvPr id="24" name="Calc table 3-2"/>
          <p:cNvSpPr/>
          <p:nvPr/>
        </p:nvSpPr>
        <p:spPr>
          <a:xfrm>
            <a:off x="3154680" y="2130552"/>
            <a:ext cx="193852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lc table text 3-2"/>
          <p:cNvSpPr txBox="1"/>
          <p:nvPr/>
        </p:nvSpPr>
        <p:spPr>
          <a:xfrm>
            <a:off x="3246120" y="2130552"/>
            <a:ext cx="1755648" cy="420624"/>
          </a:xfrm>
          <a:prstGeom prst="rect">
            <a:avLst/>
          </a:prstGeom>
          <a:noFill/>
        </p:spPr>
        <p:txBody>
          <a:bodyPr wrap="square" lIns="0" rIns="0" tIns="0" bIns="0" anchor="ctr">
            <a:noAutofit/>
          </a:bodyPr>
          <a:lstStyle/>
          <a:p>
            <a:pPr algn="l">
              <a:spcAft>
                <a:spcPts val="400"/>
              </a:spcAft>
            </a:pPr>
            <a:r>
              <a:rPr sz="1200" b="0" lang="en-GB">
                <a:solidFill>
                  <a:schemeClr val="tx1"/>
                </a:solidFill>
              </a:rPr>
              <a:t>6.52 − 5.10</a:t>
            </a:r>
          </a:p>
        </p:txBody>
      </p:sp>
      <p:sp>
        <p:nvSpPr>
          <p:cNvPr id="26" name="Calc table 3-3"/>
          <p:cNvSpPr/>
          <p:nvPr/>
        </p:nvSpPr>
        <p:spPr>
          <a:xfrm>
            <a:off x="5120640" y="2130552"/>
            <a:ext cx="100584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lc table text 3-3"/>
          <p:cNvSpPr txBox="1"/>
          <p:nvPr/>
        </p:nvSpPr>
        <p:spPr>
          <a:xfrm>
            <a:off x="5212080" y="2130552"/>
            <a:ext cx="795528" cy="420624"/>
          </a:xfrm>
          <a:prstGeom prst="rect">
            <a:avLst/>
          </a:prstGeom>
          <a:noFill/>
        </p:spPr>
        <p:txBody>
          <a:bodyPr wrap="square" lIns="0" rIns="0" tIns="0" bIns="0" anchor="ctr">
            <a:noAutofit/>
          </a:bodyPr>
          <a:lstStyle/>
          <a:p>
            <a:pPr algn="r">
              <a:spcAft>
                <a:spcPts val="400"/>
              </a:spcAft>
            </a:pPr>
            <a:r>
              <a:rPr sz="1200" b="0" lang="en-GB">
                <a:solidFill>
                  <a:schemeClr val="tx1"/>
                </a:solidFill>
              </a:rPr>
              <a:t>+1.42</a:t>
            </a:r>
          </a:p>
        </p:txBody>
      </p:sp>
      <p:sp>
        <p:nvSpPr>
          <p:cNvPr id="28" name="Calc table 4-1"/>
          <p:cNvSpPr/>
          <p:nvPr/>
        </p:nvSpPr>
        <p:spPr>
          <a:xfrm>
            <a:off x="457200" y="2578608"/>
            <a:ext cx="267004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alc table text 4-1"/>
          <p:cNvSpPr txBox="1"/>
          <p:nvPr/>
        </p:nvSpPr>
        <p:spPr>
          <a:xfrm>
            <a:off x="548640" y="2578608"/>
            <a:ext cx="2487168"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Main effect (average)</a:t>
            </a:r>
          </a:p>
        </p:txBody>
      </p:sp>
      <p:sp>
        <p:nvSpPr>
          <p:cNvPr id="30" name="Calc table 4-2"/>
          <p:cNvSpPr/>
          <p:nvPr/>
        </p:nvSpPr>
        <p:spPr>
          <a:xfrm>
            <a:off x="3154680" y="2578608"/>
            <a:ext cx="193852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alc table text 4-2"/>
          <p:cNvSpPr txBox="1"/>
          <p:nvPr/>
        </p:nvSpPr>
        <p:spPr>
          <a:xfrm>
            <a:off x="3246120" y="2578608"/>
            <a:ext cx="1755648" cy="420624"/>
          </a:xfrm>
          <a:prstGeom prst="rect">
            <a:avLst/>
          </a:prstGeom>
          <a:noFill/>
        </p:spPr>
        <p:txBody>
          <a:bodyPr wrap="square" lIns="0" rIns="0" tIns="0" bIns="0" anchor="ctr">
            <a:noAutofit/>
          </a:bodyPr>
          <a:lstStyle/>
          <a:p>
            <a:pPr algn="l">
              <a:spcAft>
                <a:spcPts val="400"/>
              </a:spcAft>
            </a:pPr>
            <a:r>
              <a:rPr sz="1200" b="0" lang="en-GB">
                <a:solidFill>
                  <a:schemeClr val="tx1"/>
                </a:solidFill>
              </a:rPr>
              <a:t>(0.40 + 1.42) / 2</a:t>
            </a:r>
          </a:p>
        </p:txBody>
      </p:sp>
      <p:sp>
        <p:nvSpPr>
          <p:cNvPr id="32" name="Calc table 4-3"/>
          <p:cNvSpPr/>
          <p:nvPr/>
        </p:nvSpPr>
        <p:spPr>
          <a:xfrm>
            <a:off x="5120640" y="2578608"/>
            <a:ext cx="100584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alc table text 4-3"/>
          <p:cNvSpPr txBox="1"/>
          <p:nvPr/>
        </p:nvSpPr>
        <p:spPr>
          <a:xfrm>
            <a:off x="5212080" y="2578608"/>
            <a:ext cx="795528" cy="420624"/>
          </a:xfrm>
          <a:prstGeom prst="rect">
            <a:avLst/>
          </a:prstGeom>
          <a:noFill/>
        </p:spPr>
        <p:txBody>
          <a:bodyPr wrap="square" lIns="0" rIns="0" tIns="0" bIns="0" anchor="ctr">
            <a:noAutofit/>
          </a:bodyPr>
          <a:lstStyle/>
          <a:p>
            <a:pPr algn="r">
              <a:spcAft>
                <a:spcPts val="400"/>
              </a:spcAft>
            </a:pPr>
            <a:r>
              <a:rPr sz="1200" b="0" lang="en-GB">
                <a:solidFill>
                  <a:schemeClr val="tx1"/>
                </a:solidFill>
              </a:rPr>
              <a:t>+0.91</a:t>
            </a:r>
          </a:p>
        </p:txBody>
      </p:sp>
      <p:sp>
        <p:nvSpPr>
          <p:cNvPr id="34" name="Calc table 5-1"/>
          <p:cNvSpPr/>
          <p:nvPr/>
        </p:nvSpPr>
        <p:spPr>
          <a:xfrm>
            <a:off x="457200" y="3026664"/>
            <a:ext cx="267004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Calc table text 5-1"/>
          <p:cNvSpPr txBox="1"/>
          <p:nvPr/>
        </p:nvSpPr>
        <p:spPr>
          <a:xfrm>
            <a:off x="548640" y="3026664"/>
            <a:ext cx="2487168"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Interaction (difference)</a:t>
            </a:r>
          </a:p>
        </p:txBody>
      </p:sp>
      <p:sp>
        <p:nvSpPr>
          <p:cNvPr id="36" name="Calc table 5-2"/>
          <p:cNvSpPr/>
          <p:nvPr/>
        </p:nvSpPr>
        <p:spPr>
          <a:xfrm>
            <a:off x="3154680" y="3026664"/>
            <a:ext cx="1938528"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Calc table text 5-2"/>
          <p:cNvSpPr txBox="1"/>
          <p:nvPr/>
        </p:nvSpPr>
        <p:spPr>
          <a:xfrm>
            <a:off x="3246120" y="3026664"/>
            <a:ext cx="1755648"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1.42 − 0.40</a:t>
            </a:r>
          </a:p>
        </p:txBody>
      </p:sp>
      <p:sp>
        <p:nvSpPr>
          <p:cNvPr id="38" name="Calc table 5-3"/>
          <p:cNvSpPr/>
          <p:nvPr/>
        </p:nvSpPr>
        <p:spPr>
          <a:xfrm>
            <a:off x="5120640" y="3026664"/>
            <a:ext cx="100584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alc table text 5-3"/>
          <p:cNvSpPr txBox="1"/>
          <p:nvPr/>
        </p:nvSpPr>
        <p:spPr>
          <a:xfrm>
            <a:off x="5212080" y="3026664"/>
            <a:ext cx="795528" cy="420624"/>
          </a:xfrm>
          <a:prstGeom prst="rect">
            <a:avLst/>
          </a:prstGeom>
          <a:noFill/>
        </p:spPr>
        <p:txBody>
          <a:bodyPr wrap="square" lIns="0" rIns="0" tIns="0" bIns="0" anchor="ctr">
            <a:noAutofit/>
          </a:bodyPr>
          <a:lstStyle/>
          <a:p>
            <a:pPr algn="r">
              <a:spcAft>
                <a:spcPts val="400"/>
              </a:spcAft>
            </a:pPr>
            <a:r>
              <a:rPr sz="1200" b="1" lang="en-GB">
                <a:solidFill>
                  <a:schemeClr val="tx2"/>
                </a:solidFill>
              </a:rPr>
              <a:t>+1.02</a:t>
            </a:r>
          </a:p>
        </p:txBody>
      </p:sp>
      <p:sp>
        <p:nvSpPr>
          <p:cNvPr id="40" name="Rule caption bar"/>
          <p:cNvSpPr/>
          <p:nvPr/>
        </p:nvSpPr>
        <p:spPr>
          <a:xfrm>
            <a:off x="6263640" y="1234440"/>
            <a:ext cx="24231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ule caption"/>
          <p:cNvSpPr txBox="1"/>
          <p:nvPr/>
        </p:nvSpPr>
        <p:spPr>
          <a:xfrm>
            <a:off x="6373368" y="1234440"/>
            <a:ext cx="22037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Rule</a:t>
            </a:r>
          </a:p>
        </p:txBody>
      </p:sp>
      <p:sp>
        <p:nvSpPr>
          <p:cNvPr id="42" name="Rule box"/>
          <p:cNvSpPr/>
          <p:nvPr/>
        </p:nvSpPr>
        <p:spPr>
          <a:xfrm>
            <a:off x="6263640" y="1508760"/>
            <a:ext cx="2423160" cy="193852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ule code"/>
          <p:cNvSpPr txBox="1"/>
          <p:nvPr/>
        </p:nvSpPr>
        <p:spPr>
          <a:xfrm>
            <a:off x="6400800" y="1600200"/>
            <a:ext cx="2148840" cy="1755648"/>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simple effect</a:t>
            </a:r>
          </a:p>
          <a:p>
            <a:pPr algn="l">
              <a:spcAft>
                <a:spcPts val="0"/>
              </a:spcAft>
            </a:pPr>
            <a:r>
              <a:rPr sz="1200" b="0" lang="en-GB">
                <a:solidFill>
                  <a:schemeClr val="bg1"/>
                </a:solidFill>
                <a:latin typeface="Consolas"/>
              </a:rPr>
              <a:t>  = within one level</a:t>
            </a:r>
          </a:p>
          <a:p>
            <a:pPr algn="l">
              <a:spcAft>
                <a:spcPts val="0"/>
              </a:spcAft>
            </a:pPr>
            <a:r>
              <a:rPr sz="1200" b="0" lang="en-GB">
                <a:solidFill>
                  <a:schemeClr val="bg1"/>
                </a:solidFill>
                <a:latin typeface="Consolas"/>
              </a:rPr>
              <a:t>main effect</a:t>
            </a:r>
          </a:p>
          <a:p>
            <a:pPr algn="l">
              <a:spcAft>
                <a:spcPts val="0"/>
              </a:spcAft>
            </a:pPr>
            <a:r>
              <a:rPr sz="1200" b="0" lang="en-GB">
                <a:solidFill>
                  <a:schemeClr val="bg1"/>
                </a:solidFill>
                <a:latin typeface="Consolas"/>
              </a:rPr>
              <a:t>  = average of the</a:t>
            </a:r>
          </a:p>
          <a:p>
            <a:pPr algn="l">
              <a:spcAft>
                <a:spcPts val="0"/>
              </a:spcAft>
            </a:pPr>
            <a:r>
              <a:rPr sz="1200" b="0" lang="en-GB">
                <a:solidFill>
                  <a:schemeClr val="bg1"/>
                </a:solidFill>
                <a:latin typeface="Consolas"/>
              </a:rPr>
              <a:t>    simple effects</a:t>
            </a:r>
          </a:p>
          <a:p>
            <a:pPr algn="l">
              <a:spcAft>
                <a:spcPts val="0"/>
              </a:spcAft>
            </a:pPr>
            <a:r>
              <a:rPr sz="1200" b="0" lang="en-GB">
                <a:solidFill>
                  <a:schemeClr val="bg1"/>
                </a:solidFill>
                <a:latin typeface="Consolas"/>
              </a:rPr>
              <a:t>interaction</a:t>
            </a:r>
          </a:p>
          <a:p>
            <a:pPr algn="l">
              <a:spcAft>
                <a:spcPts val="0"/>
              </a:spcAft>
            </a:pPr>
            <a:r>
              <a:rPr sz="1200" b="0" lang="en-GB">
                <a:solidFill>
                  <a:schemeClr val="bg1"/>
                </a:solidFill>
                <a:latin typeface="Consolas"/>
              </a:rPr>
              <a:t>  = difference of the</a:t>
            </a:r>
          </a:p>
          <a:p>
            <a:pPr algn="l">
              <a:spcAft>
                <a:spcPts val="0"/>
              </a:spcAft>
            </a:pPr>
            <a:r>
              <a:rPr sz="1200" b="0" lang="en-GB">
                <a:solidFill>
                  <a:schemeClr val="bg1"/>
                </a:solidFill>
                <a:latin typeface="Consolas"/>
              </a:rPr>
              <a:t>    simple effects</a:t>
            </a:r>
          </a:p>
        </p:txBody>
      </p:sp>
      <p:sp>
        <p:nvSpPr>
          <p:cNvPr id="44" name="Discount line row"/>
          <p:cNvSpPr/>
          <p:nvPr/>
        </p:nvSpPr>
        <p:spPr>
          <a:xfrm>
            <a:off x="457200" y="35844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Discount line bar"/>
          <p:cNvSpPr/>
          <p:nvPr/>
        </p:nvSpPr>
        <p:spPr>
          <a:xfrm>
            <a:off x="457200" y="35844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Discount line text"/>
          <p:cNvSpPr txBox="1"/>
          <p:nvPr/>
        </p:nvSpPr>
        <p:spPr>
          <a:xfrm>
            <a:off x="658368" y="35844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Discount, the same way: </a:t>
            </a:r>
            <a:r>
              <a:rPr sz="1200" b="0" lang="en-GB">
                <a:solidFill>
                  <a:schemeClr val="tx1"/>
                </a:solidFill>
              </a:rPr>
              <a:t>+1.59 and +2.61 pp, main effect +2.10 pp, interaction +1.02 pp</a:t>
            </a:r>
          </a:p>
        </p:txBody>
      </p:sp>
      <p:sp>
        <p:nvSpPr>
          <p:cNvPr id="47" name="Hand callout box"/>
          <p:cNvSpPr/>
          <p:nvPr/>
        </p:nvSpPr>
        <p:spPr>
          <a:xfrm>
            <a:off x="457200" y="417880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Hand callout text"/>
          <p:cNvSpPr txBox="1"/>
          <p:nvPr/>
        </p:nvSpPr>
        <p:spPr>
          <a:xfrm>
            <a:off x="658368" y="4178808"/>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With an interaction, report the simple effects: </a:t>
            </a:r>
            <a:r>
              <a:rPr sz="1200" b="0" lang="en-GB">
                <a:solidFill>
                  <a:schemeClr val="bg1"/>
                </a:solidFill>
              </a:rPr>
              <a:t>the average (+0.91 pp) fits neither e-mail.</a:t>
            </a:r>
          </a:p>
        </p:txBody>
      </p:sp>
      <p:sp>
        <p:nvSpPr>
          <p:cNvPr id="4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(email_factorial.csv)</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Regression and ANOVA: one model, two read-outs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ormula"/>
          <p:cNvSpPr txBox="1"/>
          <p:nvPr/>
        </p:nvSpPr>
        <p:spPr>
          <a:xfrm>
            <a:off x="457200" y="1188720"/>
            <a:ext cx="8229600" cy="228600"/>
          </a:xfrm>
          <a:prstGeom prst="rect">
            <a:avLst/>
          </a:prstGeom>
          <a:noFill/>
        </p:spPr>
        <p:txBody>
          <a:bodyPr wrap="square" lIns="0" rIns="0" tIns="0" bIns="0" anchor="ctr">
            <a:noAutofit/>
          </a:bodyPr>
          <a:lstStyle/>
          <a:p>
            <a:pPr algn="l">
              <a:spcAft>
                <a:spcPts val="400"/>
              </a:spcAft>
            </a:pPr>
            <a:r>
              <a:rPr sz="1150" b="0" lang="en-GB">
                <a:solidFill>
                  <a:schemeClr val="tx2"/>
                </a:solidFill>
                <a:latin typeface="Consolas"/>
              </a:rPr>
              <a:t>smf.ols("clicked ~ personal * discount", data=d)</a:t>
            </a:r>
            <a:r>
              <a:rPr sz="1150" b="0" lang="en-GB">
                <a:solidFill>
                  <a:srgbClr val="595959"/>
                </a:solidFill>
              </a:rPr>
              <a:t>   coefficients × 100 = pp</a:t>
            </a:r>
          </a:p>
        </p:txBody>
      </p:sp>
      <p:sp>
        <p:nvSpPr>
          <p:cNvPr id="11" name="Regression table 1-1"/>
          <p:cNvSpPr/>
          <p:nvPr/>
        </p:nvSpPr>
        <p:spPr>
          <a:xfrm>
            <a:off x="457200" y="1554480"/>
            <a:ext cx="16642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gression table text 1-1"/>
          <p:cNvSpPr txBox="1"/>
          <p:nvPr/>
        </p:nvSpPr>
        <p:spPr>
          <a:xfrm>
            <a:off x="548640" y="1554480"/>
            <a:ext cx="148132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Term</a:t>
            </a:r>
          </a:p>
        </p:txBody>
      </p:sp>
      <p:sp>
        <p:nvSpPr>
          <p:cNvPr id="13" name="Regression table 1-2"/>
          <p:cNvSpPr/>
          <p:nvPr/>
        </p:nvSpPr>
        <p:spPr>
          <a:xfrm>
            <a:off x="2148840" y="1554480"/>
            <a:ext cx="10241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gression table text 1-2"/>
          <p:cNvSpPr txBox="1"/>
          <p:nvPr/>
        </p:nvSpPr>
        <p:spPr>
          <a:xfrm>
            <a:off x="2240280" y="1554480"/>
            <a:ext cx="84124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Coef. (pp)</a:t>
            </a:r>
          </a:p>
        </p:txBody>
      </p:sp>
      <p:sp>
        <p:nvSpPr>
          <p:cNvPr id="15" name="Regression table 1-3"/>
          <p:cNvSpPr/>
          <p:nvPr/>
        </p:nvSpPr>
        <p:spPr>
          <a:xfrm>
            <a:off x="3200400" y="155448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gression table text 1-3"/>
          <p:cNvSpPr txBox="1"/>
          <p:nvPr/>
        </p:nvSpPr>
        <p:spPr>
          <a:xfrm>
            <a:off x="3291840" y="1554480"/>
            <a:ext cx="65836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p</a:t>
            </a:r>
          </a:p>
        </p:txBody>
      </p:sp>
      <p:sp>
        <p:nvSpPr>
          <p:cNvPr id="17" name="Regression table 1-4"/>
          <p:cNvSpPr/>
          <p:nvPr/>
        </p:nvSpPr>
        <p:spPr>
          <a:xfrm>
            <a:off x="4069080" y="1554480"/>
            <a:ext cx="201168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gression table text 1-4"/>
          <p:cNvSpPr txBox="1"/>
          <p:nvPr/>
        </p:nvSpPr>
        <p:spPr>
          <a:xfrm>
            <a:off x="4160520" y="1554480"/>
            <a:ext cx="180136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Reads as</a:t>
            </a:r>
          </a:p>
        </p:txBody>
      </p:sp>
      <p:sp>
        <p:nvSpPr>
          <p:cNvPr id="19" name="Regression table 2-1"/>
          <p:cNvSpPr/>
          <p:nvPr/>
        </p:nvSpPr>
        <p:spPr>
          <a:xfrm>
            <a:off x="457200" y="1965960"/>
            <a:ext cx="1664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gression table text 2-1"/>
          <p:cNvSpPr txBox="1"/>
          <p:nvPr/>
        </p:nvSpPr>
        <p:spPr>
          <a:xfrm>
            <a:off x="548640" y="1965960"/>
            <a:ext cx="148132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Intercept</a:t>
            </a:r>
          </a:p>
        </p:txBody>
      </p:sp>
      <p:sp>
        <p:nvSpPr>
          <p:cNvPr id="21" name="Regression table 2-2"/>
          <p:cNvSpPr/>
          <p:nvPr/>
        </p:nvSpPr>
        <p:spPr>
          <a:xfrm>
            <a:off x="2148840" y="1965960"/>
            <a:ext cx="1024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gression table text 2-2"/>
          <p:cNvSpPr txBox="1"/>
          <p:nvPr/>
        </p:nvSpPr>
        <p:spPr>
          <a:xfrm>
            <a:off x="2240280" y="1965960"/>
            <a:ext cx="84124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3.51 %</a:t>
            </a:r>
          </a:p>
        </p:txBody>
      </p:sp>
      <p:sp>
        <p:nvSpPr>
          <p:cNvPr id="23" name="Regression table 2-3"/>
          <p:cNvSpPr/>
          <p:nvPr/>
        </p:nvSpPr>
        <p:spPr>
          <a:xfrm>
            <a:off x="3200400" y="196596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gression table text 2-3"/>
          <p:cNvSpPr txBox="1"/>
          <p:nvPr/>
        </p:nvSpPr>
        <p:spPr>
          <a:xfrm>
            <a:off x="3291840" y="1965960"/>
            <a:ext cx="6583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
            </a:r>
          </a:p>
        </p:txBody>
      </p:sp>
      <p:sp>
        <p:nvSpPr>
          <p:cNvPr id="25" name="Regression table 2-4"/>
          <p:cNvSpPr/>
          <p:nvPr/>
        </p:nvSpPr>
        <p:spPr>
          <a:xfrm>
            <a:off x="4069080" y="1965960"/>
            <a:ext cx="2011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gression table text 2-4"/>
          <p:cNvSpPr txBox="1"/>
          <p:nvPr/>
        </p:nvSpPr>
        <p:spPr>
          <a:xfrm>
            <a:off x="4160520" y="1965960"/>
            <a:ext cx="1801368" cy="384048"/>
          </a:xfrm>
          <a:prstGeom prst="rect">
            <a:avLst/>
          </a:prstGeom>
          <a:noFill/>
        </p:spPr>
        <p:txBody>
          <a:bodyPr wrap="square" lIns="0" rIns="0" tIns="0" bIns="0" anchor="ctr">
            <a:noAutofit/>
          </a:bodyPr>
          <a:lstStyle/>
          <a:p>
            <a:pPr algn="l">
              <a:spcAft>
                <a:spcPts val="400"/>
              </a:spcAft>
            </a:pPr>
            <a:r>
              <a:rPr sz="1150" b="0" lang="en-GB">
                <a:solidFill>
                  <a:schemeClr val="tx1"/>
                </a:solidFill>
              </a:rPr>
              <a:t>generic, no discount</a:t>
            </a:r>
          </a:p>
        </p:txBody>
      </p:sp>
      <p:sp>
        <p:nvSpPr>
          <p:cNvPr id="27" name="Regression table 3-1"/>
          <p:cNvSpPr/>
          <p:nvPr/>
        </p:nvSpPr>
        <p:spPr>
          <a:xfrm>
            <a:off x="457200" y="2377440"/>
            <a:ext cx="1664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gression table text 3-1"/>
          <p:cNvSpPr txBox="1"/>
          <p:nvPr/>
        </p:nvSpPr>
        <p:spPr>
          <a:xfrm>
            <a:off x="548640" y="2377440"/>
            <a:ext cx="148132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personal</a:t>
            </a:r>
          </a:p>
        </p:txBody>
      </p:sp>
      <p:sp>
        <p:nvSpPr>
          <p:cNvPr id="29" name="Regression table 3-2"/>
          <p:cNvSpPr/>
          <p:nvPr/>
        </p:nvSpPr>
        <p:spPr>
          <a:xfrm>
            <a:off x="2148840" y="2377440"/>
            <a:ext cx="1024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gression table text 3-2"/>
          <p:cNvSpPr txBox="1"/>
          <p:nvPr/>
        </p:nvSpPr>
        <p:spPr>
          <a:xfrm>
            <a:off x="2240280" y="2377440"/>
            <a:ext cx="84124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+0.40</a:t>
            </a:r>
          </a:p>
        </p:txBody>
      </p:sp>
      <p:sp>
        <p:nvSpPr>
          <p:cNvPr id="31" name="Regression table 3-3"/>
          <p:cNvSpPr/>
          <p:nvPr/>
        </p:nvSpPr>
        <p:spPr>
          <a:xfrm>
            <a:off x="3200400" y="237744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gression table text 3-3"/>
          <p:cNvSpPr txBox="1"/>
          <p:nvPr/>
        </p:nvSpPr>
        <p:spPr>
          <a:xfrm>
            <a:off x="3291840" y="2377440"/>
            <a:ext cx="6583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0.183</a:t>
            </a:r>
          </a:p>
        </p:txBody>
      </p:sp>
      <p:sp>
        <p:nvSpPr>
          <p:cNvPr id="33" name="Regression table 3-4"/>
          <p:cNvSpPr/>
          <p:nvPr/>
        </p:nvSpPr>
        <p:spPr>
          <a:xfrm>
            <a:off x="4069080" y="2377440"/>
            <a:ext cx="2011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gression table text 3-4"/>
          <p:cNvSpPr txBox="1"/>
          <p:nvPr/>
        </p:nvSpPr>
        <p:spPr>
          <a:xfrm>
            <a:off x="4160520" y="2377440"/>
            <a:ext cx="1801368" cy="384048"/>
          </a:xfrm>
          <a:prstGeom prst="rect">
            <a:avLst/>
          </a:prstGeom>
          <a:noFill/>
        </p:spPr>
        <p:txBody>
          <a:bodyPr wrap="square" lIns="0" rIns="0" tIns="0" bIns="0" anchor="ctr">
            <a:noAutofit/>
          </a:bodyPr>
          <a:lstStyle/>
          <a:p>
            <a:pPr algn="l">
              <a:spcAft>
                <a:spcPts val="400"/>
              </a:spcAft>
            </a:pPr>
            <a:r>
              <a:rPr sz="1150" b="0" lang="en-GB">
                <a:solidFill>
                  <a:schemeClr val="tx1"/>
                </a:solidFill>
              </a:rPr>
              <a:t>name, without discount</a:t>
            </a:r>
          </a:p>
        </p:txBody>
      </p:sp>
      <p:sp>
        <p:nvSpPr>
          <p:cNvPr id="35" name="Regression table 4-1"/>
          <p:cNvSpPr/>
          <p:nvPr/>
        </p:nvSpPr>
        <p:spPr>
          <a:xfrm>
            <a:off x="457200" y="2788920"/>
            <a:ext cx="1664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gression table text 4-1"/>
          <p:cNvSpPr txBox="1"/>
          <p:nvPr/>
        </p:nvSpPr>
        <p:spPr>
          <a:xfrm>
            <a:off x="548640" y="2788920"/>
            <a:ext cx="148132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discount</a:t>
            </a:r>
          </a:p>
        </p:txBody>
      </p:sp>
      <p:sp>
        <p:nvSpPr>
          <p:cNvPr id="37" name="Regression table 4-2"/>
          <p:cNvSpPr/>
          <p:nvPr/>
        </p:nvSpPr>
        <p:spPr>
          <a:xfrm>
            <a:off x="2148840" y="2788920"/>
            <a:ext cx="1024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gression table text 4-2"/>
          <p:cNvSpPr txBox="1"/>
          <p:nvPr/>
        </p:nvSpPr>
        <p:spPr>
          <a:xfrm>
            <a:off x="2240280" y="2788920"/>
            <a:ext cx="84124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+1.59</a:t>
            </a:r>
          </a:p>
        </p:txBody>
      </p:sp>
      <p:sp>
        <p:nvSpPr>
          <p:cNvPr id="39" name="Regression table 4-3"/>
          <p:cNvSpPr/>
          <p:nvPr/>
        </p:nvSpPr>
        <p:spPr>
          <a:xfrm>
            <a:off x="3200400" y="2788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gression table text 4-3"/>
          <p:cNvSpPr txBox="1"/>
          <p:nvPr/>
        </p:nvSpPr>
        <p:spPr>
          <a:xfrm>
            <a:off x="3291840" y="2788920"/>
            <a:ext cx="6583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&lt; 0.001</a:t>
            </a:r>
          </a:p>
        </p:txBody>
      </p:sp>
      <p:sp>
        <p:nvSpPr>
          <p:cNvPr id="41" name="Regression table 4-4"/>
          <p:cNvSpPr/>
          <p:nvPr/>
        </p:nvSpPr>
        <p:spPr>
          <a:xfrm>
            <a:off x="4069080" y="2788920"/>
            <a:ext cx="2011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gression table text 4-4"/>
          <p:cNvSpPr txBox="1"/>
          <p:nvPr/>
        </p:nvSpPr>
        <p:spPr>
          <a:xfrm>
            <a:off x="4160520" y="2788920"/>
            <a:ext cx="1801368" cy="384048"/>
          </a:xfrm>
          <a:prstGeom prst="rect">
            <a:avLst/>
          </a:prstGeom>
          <a:noFill/>
        </p:spPr>
        <p:txBody>
          <a:bodyPr wrap="square" lIns="0" rIns="0" tIns="0" bIns="0" anchor="ctr">
            <a:noAutofit/>
          </a:bodyPr>
          <a:lstStyle/>
          <a:p>
            <a:pPr algn="l">
              <a:spcAft>
                <a:spcPts val="400"/>
              </a:spcAft>
            </a:pPr>
            <a:r>
              <a:rPr sz="1150" b="0" lang="en-GB">
                <a:solidFill>
                  <a:schemeClr val="tx1"/>
                </a:solidFill>
              </a:rPr>
              <a:t>discount, generic e-mail</a:t>
            </a:r>
          </a:p>
        </p:txBody>
      </p:sp>
      <p:sp>
        <p:nvSpPr>
          <p:cNvPr id="43" name="Regression table 5-1"/>
          <p:cNvSpPr/>
          <p:nvPr/>
        </p:nvSpPr>
        <p:spPr>
          <a:xfrm>
            <a:off x="457200" y="3200400"/>
            <a:ext cx="1664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gression table text 5-1"/>
          <p:cNvSpPr txBox="1"/>
          <p:nvPr/>
        </p:nvSpPr>
        <p:spPr>
          <a:xfrm>
            <a:off x="548640" y="3200400"/>
            <a:ext cx="148132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personal:discount</a:t>
            </a:r>
          </a:p>
        </p:txBody>
      </p:sp>
      <p:sp>
        <p:nvSpPr>
          <p:cNvPr id="45" name="Regression table 5-2"/>
          <p:cNvSpPr/>
          <p:nvPr/>
        </p:nvSpPr>
        <p:spPr>
          <a:xfrm>
            <a:off x="2148840" y="3200400"/>
            <a:ext cx="1024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gression table text 5-2"/>
          <p:cNvSpPr txBox="1"/>
          <p:nvPr/>
        </p:nvSpPr>
        <p:spPr>
          <a:xfrm>
            <a:off x="2240280" y="3200400"/>
            <a:ext cx="841248" cy="384048"/>
          </a:xfrm>
          <a:prstGeom prst="rect">
            <a:avLst/>
          </a:prstGeom>
          <a:noFill/>
        </p:spPr>
        <p:txBody>
          <a:bodyPr wrap="square" lIns="0" rIns="0" tIns="0" bIns="0" anchor="ctr">
            <a:noAutofit/>
          </a:bodyPr>
          <a:lstStyle/>
          <a:p>
            <a:pPr algn="r">
              <a:spcAft>
                <a:spcPts val="400"/>
              </a:spcAft>
            </a:pPr>
            <a:r>
              <a:rPr sz="1150" b="1" lang="en-GB">
                <a:solidFill>
                  <a:schemeClr val="tx2"/>
                </a:solidFill>
              </a:rPr>
              <a:t>+1.02</a:t>
            </a:r>
          </a:p>
        </p:txBody>
      </p:sp>
      <p:sp>
        <p:nvSpPr>
          <p:cNvPr id="47" name="Regression table 5-3"/>
          <p:cNvSpPr/>
          <p:nvPr/>
        </p:nvSpPr>
        <p:spPr>
          <a:xfrm>
            <a:off x="3200400" y="3200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gression table text 5-3"/>
          <p:cNvSpPr txBox="1"/>
          <p:nvPr/>
        </p:nvSpPr>
        <p:spPr>
          <a:xfrm>
            <a:off x="3291840" y="3200400"/>
            <a:ext cx="658368" cy="384048"/>
          </a:xfrm>
          <a:prstGeom prst="rect">
            <a:avLst/>
          </a:prstGeom>
          <a:noFill/>
        </p:spPr>
        <p:txBody>
          <a:bodyPr wrap="square" lIns="0" rIns="0" tIns="0" bIns="0" anchor="ctr">
            <a:noAutofit/>
          </a:bodyPr>
          <a:lstStyle/>
          <a:p>
            <a:pPr algn="r">
              <a:spcAft>
                <a:spcPts val="400"/>
              </a:spcAft>
            </a:pPr>
            <a:r>
              <a:rPr sz="1150" b="1" lang="en-GB">
                <a:solidFill>
                  <a:schemeClr val="tx2"/>
                </a:solidFill>
              </a:rPr>
              <a:t>0.017</a:t>
            </a:r>
          </a:p>
        </p:txBody>
      </p:sp>
      <p:sp>
        <p:nvSpPr>
          <p:cNvPr id="49" name="Regression table 5-4"/>
          <p:cNvSpPr/>
          <p:nvPr/>
        </p:nvSpPr>
        <p:spPr>
          <a:xfrm>
            <a:off x="4069080" y="3200400"/>
            <a:ext cx="2011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gression table text 5-4"/>
          <p:cNvSpPr txBox="1"/>
          <p:nvPr/>
        </p:nvSpPr>
        <p:spPr>
          <a:xfrm>
            <a:off x="4160520" y="3200400"/>
            <a:ext cx="180136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the interaction</a:t>
            </a:r>
          </a:p>
        </p:txBody>
      </p:sp>
      <p:sp>
        <p:nvSpPr>
          <p:cNvPr id="51" name="ANOVA table 1-1"/>
          <p:cNvSpPr/>
          <p:nvPr/>
        </p:nvSpPr>
        <p:spPr>
          <a:xfrm>
            <a:off x="6217920" y="1554480"/>
            <a:ext cx="17556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ANOVA table text 1-1"/>
          <p:cNvSpPr txBox="1"/>
          <p:nvPr/>
        </p:nvSpPr>
        <p:spPr>
          <a:xfrm>
            <a:off x="6309360" y="1554480"/>
            <a:ext cx="157276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Two-way ANOVA</a:t>
            </a:r>
          </a:p>
        </p:txBody>
      </p:sp>
      <p:sp>
        <p:nvSpPr>
          <p:cNvPr id="53" name="ANOVA table 1-2"/>
          <p:cNvSpPr/>
          <p:nvPr/>
        </p:nvSpPr>
        <p:spPr>
          <a:xfrm>
            <a:off x="8001000" y="1554480"/>
            <a:ext cx="68580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ANOVA table text 1-2"/>
          <p:cNvSpPr txBox="1"/>
          <p:nvPr/>
        </p:nvSpPr>
        <p:spPr>
          <a:xfrm>
            <a:off x="8092440" y="1554480"/>
            <a:ext cx="47548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F</a:t>
            </a:r>
          </a:p>
        </p:txBody>
      </p:sp>
      <p:sp>
        <p:nvSpPr>
          <p:cNvPr id="55" name="ANOVA table 2-1"/>
          <p:cNvSpPr/>
          <p:nvPr/>
        </p:nvSpPr>
        <p:spPr>
          <a:xfrm>
            <a:off x="6217920" y="1965960"/>
            <a:ext cx="17556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ANOVA table text 2-1"/>
          <p:cNvSpPr txBox="1"/>
          <p:nvPr/>
        </p:nvSpPr>
        <p:spPr>
          <a:xfrm>
            <a:off x="6309360" y="1965960"/>
            <a:ext cx="157276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personal</a:t>
            </a:r>
          </a:p>
        </p:txBody>
      </p:sp>
      <p:sp>
        <p:nvSpPr>
          <p:cNvPr id="57" name="ANOVA table 2-2"/>
          <p:cNvSpPr/>
          <p:nvPr/>
        </p:nvSpPr>
        <p:spPr>
          <a:xfrm>
            <a:off x="8001000" y="1965960"/>
            <a:ext cx="6858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ANOVA table text 2-2"/>
          <p:cNvSpPr txBox="1"/>
          <p:nvPr/>
        </p:nvSpPr>
        <p:spPr>
          <a:xfrm>
            <a:off x="8092440" y="1965960"/>
            <a:ext cx="47548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18.32</a:t>
            </a:r>
          </a:p>
        </p:txBody>
      </p:sp>
      <p:sp>
        <p:nvSpPr>
          <p:cNvPr id="59" name="ANOVA table 3-1"/>
          <p:cNvSpPr/>
          <p:nvPr/>
        </p:nvSpPr>
        <p:spPr>
          <a:xfrm>
            <a:off x="6217920" y="2377440"/>
            <a:ext cx="17556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ANOVA table text 3-1"/>
          <p:cNvSpPr txBox="1"/>
          <p:nvPr/>
        </p:nvSpPr>
        <p:spPr>
          <a:xfrm>
            <a:off x="6309360" y="2377440"/>
            <a:ext cx="157276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discount</a:t>
            </a:r>
          </a:p>
        </p:txBody>
      </p:sp>
      <p:sp>
        <p:nvSpPr>
          <p:cNvPr id="61" name="ANOVA table 3-2"/>
          <p:cNvSpPr/>
          <p:nvPr/>
        </p:nvSpPr>
        <p:spPr>
          <a:xfrm>
            <a:off x="8001000" y="2377440"/>
            <a:ext cx="6858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ANOVA table text 3-2"/>
          <p:cNvSpPr txBox="1"/>
          <p:nvPr/>
        </p:nvSpPr>
        <p:spPr>
          <a:xfrm>
            <a:off x="8092440" y="2377440"/>
            <a:ext cx="47548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97.56</a:t>
            </a:r>
          </a:p>
        </p:txBody>
      </p:sp>
      <p:sp>
        <p:nvSpPr>
          <p:cNvPr id="63" name="ANOVA table 4-1"/>
          <p:cNvSpPr/>
          <p:nvPr/>
        </p:nvSpPr>
        <p:spPr>
          <a:xfrm>
            <a:off x="6217920" y="2788920"/>
            <a:ext cx="17556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ANOVA table text 4-1"/>
          <p:cNvSpPr txBox="1"/>
          <p:nvPr/>
        </p:nvSpPr>
        <p:spPr>
          <a:xfrm>
            <a:off x="6309360" y="2788920"/>
            <a:ext cx="157276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personal:discount</a:t>
            </a:r>
          </a:p>
        </p:txBody>
      </p:sp>
      <p:sp>
        <p:nvSpPr>
          <p:cNvPr id="65" name="ANOVA table 4-2"/>
          <p:cNvSpPr/>
          <p:nvPr/>
        </p:nvSpPr>
        <p:spPr>
          <a:xfrm>
            <a:off x="8001000" y="2788920"/>
            <a:ext cx="6858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ANOVA table text 4-2"/>
          <p:cNvSpPr txBox="1"/>
          <p:nvPr/>
        </p:nvSpPr>
        <p:spPr>
          <a:xfrm>
            <a:off x="8092440" y="2788920"/>
            <a:ext cx="475488" cy="384048"/>
          </a:xfrm>
          <a:prstGeom prst="rect">
            <a:avLst/>
          </a:prstGeom>
          <a:noFill/>
        </p:spPr>
        <p:txBody>
          <a:bodyPr wrap="square" lIns="0" rIns="0" tIns="0" bIns="0" anchor="ctr">
            <a:noAutofit/>
          </a:bodyPr>
          <a:lstStyle/>
          <a:p>
            <a:pPr algn="r">
              <a:spcAft>
                <a:spcPts val="400"/>
              </a:spcAft>
            </a:pPr>
            <a:r>
              <a:rPr sz="1150" b="1" lang="en-GB">
                <a:solidFill>
                  <a:schemeClr val="tx2"/>
                </a:solidFill>
              </a:rPr>
              <a:t>5.75</a:t>
            </a:r>
          </a:p>
        </p:txBody>
      </p:sp>
      <p:sp>
        <p:nvSpPr>
          <p:cNvPr id="67" name="ANOVA note"/>
          <p:cNvSpPr txBox="1"/>
          <p:nvPr/>
        </p:nvSpPr>
        <p:spPr>
          <a:xfrm>
            <a:off x="6217920" y="3200400"/>
            <a:ext cx="246888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Interaction: p 0.017, the same test</a:t>
            </a:r>
          </a:p>
        </p:txBody>
      </p:sp>
      <p:sp>
        <p:nvSpPr>
          <p:cNvPr id="68" name="Personal warning box"/>
          <p:cNvSpPr/>
          <p:nvPr/>
        </p:nvSpPr>
        <p:spPr>
          <a:xfrm>
            <a:off x="457200" y="3721608"/>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Icon Personal warning" descr=""/>
          <p:cNvPicPr>
            <a:picLocks noChangeAspect="1"/>
          </p:cNvPicPr>
          <p:nvPr/>
        </p:nvPicPr>
        <p:blipFill>
          <a:blip r:embed="rId3"/>
          <a:stretch>
            <a:fillRect/>
          </a:stretch>
        </p:blipFill>
        <p:spPr>
          <a:xfrm>
            <a:off x="658368" y="3790188"/>
            <a:ext cx="365760" cy="365760"/>
          </a:xfrm>
          <a:prstGeom prst="rect">
            <a:avLst/>
          </a:prstGeom>
        </p:spPr>
      </p:pic>
      <p:sp>
        <p:nvSpPr>
          <p:cNvPr id="70" name="Personal warning text"/>
          <p:cNvSpPr txBox="1"/>
          <p:nvPr/>
        </p:nvSpPr>
        <p:spPr>
          <a:xfrm>
            <a:off x="1207008" y="3721608"/>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'personal' is not the main effect: </a:t>
            </a:r>
            <a:r>
              <a:rPr sz="1200" b="0" lang="en-GB">
                <a:solidFill>
                  <a:schemeClr val="tx1"/>
                </a:solidFill>
              </a:rPr>
              <a:t>with a product term it is the name's effect without discount (n.s.); the ANOVA row tests the main effect.</a:t>
            </a:r>
          </a:p>
        </p:txBody>
      </p:sp>
      <p:sp>
        <p:nvSpPr>
          <p:cNvPr id="71" name="Model callout box"/>
          <p:cNvSpPr/>
          <p:nvPr/>
        </p:nvSpPr>
        <p:spPr>
          <a:xfrm>
            <a:off x="457200" y="4361688"/>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Model callout text"/>
          <p:cNvSpPr txBox="1"/>
          <p:nvPr/>
        </p:nvSpPr>
        <p:spPr>
          <a:xfrm>
            <a:off x="658368" y="4361688"/>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Same data, same interaction test: </a:t>
            </a:r>
            <a:r>
              <a:rPr sz="1200" b="0" lang="en-GB">
                <a:solidFill>
                  <a:schemeClr val="bg1"/>
                </a:solidFill>
              </a:rPr>
              <a:t>+1.02 pp, p 0.017.</a:t>
            </a:r>
          </a:p>
        </p:txBody>
      </p:sp>
      <p:sp>
        <p:nvSpPr>
          <p:cNvPr id="7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(email_factorial.csv); OLS on 0/1 clicks (linear probability model)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logit reads it differently: use pp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cale table 1-1"/>
          <p:cNvSpPr/>
          <p:nvPr/>
        </p:nvSpPr>
        <p:spPr>
          <a:xfrm>
            <a:off x="457200" y="1234440"/>
            <a:ext cx="244144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cale table text 1-1"/>
          <p:cNvSpPr txBox="1"/>
          <p:nvPr/>
        </p:nvSpPr>
        <p:spPr>
          <a:xfrm>
            <a:off x="548640" y="1234440"/>
            <a:ext cx="2258568" cy="438912"/>
          </a:xfrm>
          <a:prstGeom prst="rect">
            <a:avLst/>
          </a:prstGeom>
          <a:noFill/>
        </p:spPr>
        <p:txBody>
          <a:bodyPr wrap="square" lIns="0" rIns="0" tIns="0" bIns="0" anchor="ctr">
            <a:noAutofit/>
          </a:bodyPr>
          <a:lstStyle/>
          <a:p>
            <a:pPr algn="l">
              <a:spcAft>
                <a:spcPts val="400"/>
              </a:spcAft>
            </a:pPr>
            <a:r>
              <a:rPr sz="1250" b="1" lang="en-GB">
                <a:solidFill>
                  <a:schemeClr val="bg1"/>
                </a:solidFill>
              </a:rPr>
              <a:t>Same four cells</a:t>
            </a:r>
          </a:p>
        </p:txBody>
      </p:sp>
      <p:sp>
        <p:nvSpPr>
          <p:cNvPr id="12" name="Scale table 1-2"/>
          <p:cNvSpPr/>
          <p:nvPr/>
        </p:nvSpPr>
        <p:spPr>
          <a:xfrm>
            <a:off x="2926080" y="1234440"/>
            <a:ext cx="129844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cale table text 1-2"/>
          <p:cNvSpPr txBox="1"/>
          <p:nvPr/>
        </p:nvSpPr>
        <p:spPr>
          <a:xfrm>
            <a:off x="3017520" y="1234440"/>
            <a:ext cx="1115568" cy="438912"/>
          </a:xfrm>
          <a:prstGeom prst="rect">
            <a:avLst/>
          </a:prstGeom>
          <a:noFill/>
        </p:spPr>
        <p:txBody>
          <a:bodyPr wrap="square" lIns="0" rIns="0" tIns="0" bIns="0" anchor="ctr">
            <a:noAutofit/>
          </a:bodyPr>
          <a:lstStyle/>
          <a:p>
            <a:pPr algn="r">
              <a:spcAft>
                <a:spcPts val="400"/>
              </a:spcAft>
            </a:pPr>
            <a:r>
              <a:rPr sz="1250" b="1" lang="en-GB">
                <a:solidFill>
                  <a:schemeClr val="bg1"/>
                </a:solidFill>
              </a:rPr>
              <a:t>Name alone</a:t>
            </a:r>
          </a:p>
        </p:txBody>
      </p:sp>
      <p:sp>
        <p:nvSpPr>
          <p:cNvPr id="14" name="Scale table 1-3"/>
          <p:cNvSpPr/>
          <p:nvPr/>
        </p:nvSpPr>
        <p:spPr>
          <a:xfrm>
            <a:off x="4251960" y="1234440"/>
            <a:ext cx="202996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cale table text 1-3"/>
          <p:cNvSpPr txBox="1"/>
          <p:nvPr/>
        </p:nvSpPr>
        <p:spPr>
          <a:xfrm>
            <a:off x="4343400" y="1234440"/>
            <a:ext cx="1847088" cy="438912"/>
          </a:xfrm>
          <a:prstGeom prst="rect">
            <a:avLst/>
          </a:prstGeom>
          <a:noFill/>
        </p:spPr>
        <p:txBody>
          <a:bodyPr wrap="square" lIns="0" rIns="0" tIns="0" bIns="0" anchor="ctr">
            <a:noAutofit/>
          </a:bodyPr>
          <a:lstStyle/>
          <a:p>
            <a:pPr algn="r">
              <a:spcAft>
                <a:spcPts val="400"/>
              </a:spcAft>
            </a:pPr>
            <a:r>
              <a:rPr sz="1250" b="1" lang="en-GB">
                <a:solidFill>
                  <a:schemeClr val="bg1"/>
                </a:solidFill>
              </a:rPr>
              <a:t>Name with discount</a:t>
            </a:r>
          </a:p>
        </p:txBody>
      </p:sp>
      <p:sp>
        <p:nvSpPr>
          <p:cNvPr id="16" name="Scale table 1-4"/>
          <p:cNvSpPr/>
          <p:nvPr/>
        </p:nvSpPr>
        <p:spPr>
          <a:xfrm>
            <a:off x="6309360" y="1234440"/>
            <a:ext cx="125272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cale table text 1-4"/>
          <p:cNvSpPr txBox="1"/>
          <p:nvPr/>
        </p:nvSpPr>
        <p:spPr>
          <a:xfrm>
            <a:off x="6400800" y="1234440"/>
            <a:ext cx="1069848" cy="438912"/>
          </a:xfrm>
          <a:prstGeom prst="rect">
            <a:avLst/>
          </a:prstGeom>
          <a:noFill/>
        </p:spPr>
        <p:txBody>
          <a:bodyPr wrap="square" lIns="0" rIns="0" tIns="0" bIns="0" anchor="ctr">
            <a:noAutofit/>
          </a:bodyPr>
          <a:lstStyle/>
          <a:p>
            <a:pPr algn="r">
              <a:spcAft>
                <a:spcPts val="400"/>
              </a:spcAft>
            </a:pPr>
            <a:r>
              <a:rPr sz="1250" b="1" lang="en-GB">
                <a:solidFill>
                  <a:schemeClr val="bg1"/>
                </a:solidFill>
              </a:rPr>
              <a:t>Interaction</a:t>
            </a:r>
          </a:p>
        </p:txBody>
      </p:sp>
      <p:sp>
        <p:nvSpPr>
          <p:cNvPr id="18" name="Scale table 1-5"/>
          <p:cNvSpPr/>
          <p:nvPr/>
        </p:nvSpPr>
        <p:spPr>
          <a:xfrm>
            <a:off x="7589520" y="1234440"/>
            <a:ext cx="1097280"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cale table text 1-5"/>
          <p:cNvSpPr txBox="1"/>
          <p:nvPr/>
        </p:nvSpPr>
        <p:spPr>
          <a:xfrm>
            <a:off x="7680960" y="1234440"/>
            <a:ext cx="886968" cy="438912"/>
          </a:xfrm>
          <a:prstGeom prst="rect">
            <a:avLst/>
          </a:prstGeom>
          <a:noFill/>
        </p:spPr>
        <p:txBody>
          <a:bodyPr wrap="square" lIns="0" rIns="0" tIns="0" bIns="0" anchor="ctr">
            <a:noAutofit/>
          </a:bodyPr>
          <a:lstStyle/>
          <a:p>
            <a:pPr algn="r">
              <a:spcAft>
                <a:spcPts val="400"/>
              </a:spcAft>
            </a:pPr>
            <a:r>
              <a:rPr sz="1250" b="1" lang="en-GB">
                <a:solidFill>
                  <a:schemeClr val="bg1"/>
                </a:solidFill>
              </a:rPr>
              <a:t>p</a:t>
            </a:r>
          </a:p>
        </p:txBody>
      </p:sp>
      <p:sp>
        <p:nvSpPr>
          <p:cNvPr id="20" name="Scale table 2-1"/>
          <p:cNvSpPr/>
          <p:nvPr/>
        </p:nvSpPr>
        <p:spPr>
          <a:xfrm>
            <a:off x="457200" y="1700784"/>
            <a:ext cx="244144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cale table text 2-1"/>
          <p:cNvSpPr txBox="1"/>
          <p:nvPr/>
        </p:nvSpPr>
        <p:spPr>
          <a:xfrm>
            <a:off x="548640" y="1700784"/>
            <a:ext cx="2258568" cy="438912"/>
          </a:xfrm>
          <a:prstGeom prst="rect">
            <a:avLst/>
          </a:prstGeom>
          <a:noFill/>
        </p:spPr>
        <p:txBody>
          <a:bodyPr wrap="square" lIns="0" rIns="0" tIns="0" bIns="0" anchor="ctr">
            <a:noAutofit/>
          </a:bodyPr>
          <a:lstStyle/>
          <a:p>
            <a:pPr algn="l">
              <a:spcAft>
                <a:spcPts val="400"/>
              </a:spcAft>
            </a:pPr>
            <a:r>
              <a:rPr sz="1250" b="1" lang="en-GB">
                <a:solidFill>
                  <a:schemeClr val="tx2"/>
                </a:solidFill>
              </a:rPr>
              <a:t>Click rate, pp (OLS)</a:t>
            </a:r>
          </a:p>
        </p:txBody>
      </p:sp>
      <p:sp>
        <p:nvSpPr>
          <p:cNvPr id="22" name="Scale table 2-2"/>
          <p:cNvSpPr/>
          <p:nvPr/>
        </p:nvSpPr>
        <p:spPr>
          <a:xfrm>
            <a:off x="2926080" y="1700784"/>
            <a:ext cx="129844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cale table text 2-2"/>
          <p:cNvSpPr txBox="1"/>
          <p:nvPr/>
        </p:nvSpPr>
        <p:spPr>
          <a:xfrm>
            <a:off x="3017520" y="1700784"/>
            <a:ext cx="111556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+0.40</a:t>
            </a:r>
          </a:p>
        </p:txBody>
      </p:sp>
      <p:sp>
        <p:nvSpPr>
          <p:cNvPr id="24" name="Scale table 2-3"/>
          <p:cNvSpPr/>
          <p:nvPr/>
        </p:nvSpPr>
        <p:spPr>
          <a:xfrm>
            <a:off x="4251960" y="1700784"/>
            <a:ext cx="202996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cale table text 2-3"/>
          <p:cNvSpPr txBox="1"/>
          <p:nvPr/>
        </p:nvSpPr>
        <p:spPr>
          <a:xfrm>
            <a:off x="4343400" y="1700784"/>
            <a:ext cx="184708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+1.42</a:t>
            </a:r>
          </a:p>
        </p:txBody>
      </p:sp>
      <p:sp>
        <p:nvSpPr>
          <p:cNvPr id="26" name="Scale table 2-4"/>
          <p:cNvSpPr/>
          <p:nvPr/>
        </p:nvSpPr>
        <p:spPr>
          <a:xfrm>
            <a:off x="6309360" y="1700784"/>
            <a:ext cx="125272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cale table text 2-4"/>
          <p:cNvSpPr txBox="1"/>
          <p:nvPr/>
        </p:nvSpPr>
        <p:spPr>
          <a:xfrm>
            <a:off x="6400800" y="1700784"/>
            <a:ext cx="106984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+1.02</a:t>
            </a:r>
          </a:p>
        </p:txBody>
      </p:sp>
      <p:sp>
        <p:nvSpPr>
          <p:cNvPr id="28" name="Scale table 2-5"/>
          <p:cNvSpPr/>
          <p:nvPr/>
        </p:nvSpPr>
        <p:spPr>
          <a:xfrm>
            <a:off x="7589520" y="1700784"/>
            <a:ext cx="109728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cale table text 2-5"/>
          <p:cNvSpPr txBox="1"/>
          <p:nvPr/>
        </p:nvSpPr>
        <p:spPr>
          <a:xfrm>
            <a:off x="7680960" y="1700784"/>
            <a:ext cx="88696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0.017</a:t>
            </a:r>
          </a:p>
        </p:txBody>
      </p:sp>
      <p:sp>
        <p:nvSpPr>
          <p:cNvPr id="30" name="Scale table 3-1"/>
          <p:cNvSpPr/>
          <p:nvPr/>
        </p:nvSpPr>
        <p:spPr>
          <a:xfrm>
            <a:off x="457200" y="2167128"/>
            <a:ext cx="244144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cale table text 3-1"/>
          <p:cNvSpPr txBox="1"/>
          <p:nvPr/>
        </p:nvSpPr>
        <p:spPr>
          <a:xfrm>
            <a:off x="548640" y="2167128"/>
            <a:ext cx="2258568" cy="438912"/>
          </a:xfrm>
          <a:prstGeom prst="rect">
            <a:avLst/>
          </a:prstGeom>
          <a:noFill/>
        </p:spPr>
        <p:txBody>
          <a:bodyPr wrap="square" lIns="0" rIns="0" tIns="0" bIns="0" anchor="ctr">
            <a:noAutofit/>
          </a:bodyPr>
          <a:lstStyle/>
          <a:p>
            <a:pPr algn="l">
              <a:spcAft>
                <a:spcPts val="400"/>
              </a:spcAft>
            </a:pPr>
            <a:r>
              <a:rPr sz="1250" b="1" lang="en-GB">
                <a:solidFill>
                  <a:schemeClr val="tx2"/>
                </a:solidFill>
              </a:rPr>
              <a:t>Log-odds (logit)</a:t>
            </a:r>
          </a:p>
        </p:txBody>
      </p:sp>
      <p:sp>
        <p:nvSpPr>
          <p:cNvPr id="32" name="Scale table 3-2"/>
          <p:cNvSpPr/>
          <p:nvPr/>
        </p:nvSpPr>
        <p:spPr>
          <a:xfrm>
            <a:off x="2926080" y="2167128"/>
            <a:ext cx="129844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cale table text 3-2"/>
          <p:cNvSpPr txBox="1"/>
          <p:nvPr/>
        </p:nvSpPr>
        <p:spPr>
          <a:xfrm>
            <a:off x="3017520" y="2167128"/>
            <a:ext cx="111556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+0.11</a:t>
            </a:r>
          </a:p>
        </p:txBody>
      </p:sp>
      <p:sp>
        <p:nvSpPr>
          <p:cNvPr id="34" name="Scale table 3-3"/>
          <p:cNvSpPr/>
          <p:nvPr/>
        </p:nvSpPr>
        <p:spPr>
          <a:xfrm>
            <a:off x="4251960" y="2167128"/>
            <a:ext cx="202996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cale table text 3-3"/>
          <p:cNvSpPr txBox="1"/>
          <p:nvPr/>
        </p:nvSpPr>
        <p:spPr>
          <a:xfrm>
            <a:off x="4343400" y="2167128"/>
            <a:ext cx="184708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+0.26</a:t>
            </a:r>
          </a:p>
        </p:txBody>
      </p:sp>
      <p:sp>
        <p:nvSpPr>
          <p:cNvPr id="36" name="Scale table 3-4"/>
          <p:cNvSpPr/>
          <p:nvPr/>
        </p:nvSpPr>
        <p:spPr>
          <a:xfrm>
            <a:off x="6309360" y="2167128"/>
            <a:ext cx="1252728"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cale table text 3-4"/>
          <p:cNvSpPr txBox="1"/>
          <p:nvPr/>
        </p:nvSpPr>
        <p:spPr>
          <a:xfrm>
            <a:off x="6400800" y="2167128"/>
            <a:ext cx="106984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+0.15</a:t>
            </a:r>
          </a:p>
        </p:txBody>
      </p:sp>
      <p:sp>
        <p:nvSpPr>
          <p:cNvPr id="38" name="Scale table 3-5"/>
          <p:cNvSpPr/>
          <p:nvPr/>
        </p:nvSpPr>
        <p:spPr>
          <a:xfrm>
            <a:off x="7589520" y="2167128"/>
            <a:ext cx="109728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cale table text 3-5"/>
          <p:cNvSpPr txBox="1"/>
          <p:nvPr/>
        </p:nvSpPr>
        <p:spPr>
          <a:xfrm>
            <a:off x="7680960" y="2167128"/>
            <a:ext cx="886968" cy="438912"/>
          </a:xfrm>
          <a:prstGeom prst="rect">
            <a:avLst/>
          </a:prstGeom>
          <a:noFill/>
        </p:spPr>
        <p:txBody>
          <a:bodyPr wrap="square" lIns="0" rIns="0" tIns="0" bIns="0" anchor="ctr">
            <a:noAutofit/>
          </a:bodyPr>
          <a:lstStyle/>
          <a:p>
            <a:pPr algn="r">
              <a:spcAft>
                <a:spcPts val="400"/>
              </a:spcAft>
            </a:pPr>
            <a:r>
              <a:rPr sz="1250" b="0" lang="en-GB">
                <a:solidFill>
                  <a:schemeClr val="tx1"/>
                </a:solidFill>
              </a:rPr>
              <a:t>0.124</a:t>
            </a:r>
          </a:p>
        </p:txBody>
      </p:sp>
      <p:sp>
        <p:nvSpPr>
          <p:cNvPr id="40" name="Scale why row"/>
          <p:cNvSpPr/>
          <p:nvPr/>
        </p:nvSpPr>
        <p:spPr>
          <a:xfrm>
            <a:off x="457200" y="274320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cale why bar"/>
          <p:cNvSpPr/>
          <p:nvPr/>
        </p:nvSpPr>
        <p:spPr>
          <a:xfrm>
            <a:off x="457200" y="2743200"/>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cale why text"/>
          <p:cNvSpPr txBox="1"/>
          <p:nvPr/>
        </p:nvSpPr>
        <p:spPr>
          <a:xfrm>
            <a:off x="658368" y="2743200"/>
            <a:ext cx="7936992"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Why they differ: </a:t>
            </a:r>
            <a:r>
              <a:rPr sz="1200" b="0" lang="en-GB">
                <a:solidFill>
                  <a:schemeClr val="tx1"/>
                </a:solidFill>
              </a:rPr>
              <a:t>the discount raises the base rate, and the same odds lift adds more pp at 5.10 % than at 3.51 %. The logit removes that part, so less interaction is left (+0.15 in log-odds).</a:t>
            </a:r>
          </a:p>
        </p:txBody>
      </p:sp>
      <p:sp>
        <p:nvSpPr>
          <p:cNvPr id="43" name="Scale reading row"/>
          <p:cNvSpPr/>
          <p:nvPr/>
        </p:nvSpPr>
        <p:spPr>
          <a:xfrm>
            <a:off x="457200" y="356616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cale reading bar"/>
          <p:cNvSpPr/>
          <p:nvPr/>
        </p:nvSpPr>
        <p:spPr>
          <a:xfrm>
            <a:off x="457200" y="3566160"/>
            <a:ext cx="64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cale reading text"/>
          <p:cNvSpPr txBox="1"/>
          <p:nvPr/>
        </p:nvSpPr>
        <p:spPr>
          <a:xfrm>
            <a:off x="658368" y="3566160"/>
            <a:ext cx="7936992"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Two questions: </a:t>
            </a:r>
            <a:r>
              <a:rPr sz="1200" b="0" lang="en-GB">
                <a:solidFill>
                  <a:schemeClr val="tx1"/>
                </a:solidFill>
              </a:rPr>
              <a:t>the logit asks whether the odds ratio changes; the manager asks how many more customers click.</a:t>
            </a:r>
          </a:p>
        </p:txBody>
      </p:sp>
      <p:sp>
        <p:nvSpPr>
          <p:cNvPr id="46" name="Scale callout box"/>
          <p:cNvSpPr/>
          <p:nvPr/>
        </p:nvSpPr>
        <p:spPr>
          <a:xfrm>
            <a:off x="457200" y="41148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cale callout text"/>
          <p:cNvSpPr txBox="1"/>
          <p:nvPr/>
        </p:nvSpPr>
        <p:spPr>
          <a:xfrm>
            <a:off x="658368" y="411480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Read interactions in percentage points, </a:t>
            </a:r>
            <a:r>
              <a:rPr sz="1200" b="0" lang="en-GB">
                <a:solidFill>
                  <a:schemeClr val="bg1"/>
                </a:solidFill>
              </a:rPr>
              <a:t>as in the logit deck (slide 21).</a:t>
            </a:r>
          </a:p>
        </p:txBody>
      </p:sp>
      <p:sp>
        <p:nvSpPr>
          <p:cNvPr id="4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(email_factorial.csv)</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market as a moderator: Germany vs Spain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b_a2_markets.png" descr="Interaction plots per market. Germany: generic 2.68 % to 4.60 %, first name 3.54 % to 5.80 %, interaction +0.34 pp. Spain: generic 4.34 % to 5.60 %, first name 4.28 % to 7.24 %, interaction +1.70 pp."/>
          <p:cNvPicPr>
            <a:picLocks noChangeAspect="1"/>
          </p:cNvPicPr>
          <p:nvPr/>
        </p:nvPicPr>
        <p:blipFill>
          <a:blip r:embed="rId3"/>
          <a:stretch>
            <a:fillRect/>
          </a:stretch>
        </p:blipFill>
        <p:spPr>
          <a:xfrm>
            <a:off x="457200" y="1234440"/>
            <a:ext cx="4480560" cy="2743200"/>
          </a:xfrm>
          <a:prstGeom prst="rect">
            <a:avLst/>
          </a:prstGeom>
        </p:spPr>
      </p:pic>
      <p:sp>
        <p:nvSpPr>
          <p:cNvPr id="11" name="Market stat 1 box"/>
          <p:cNvSpPr/>
          <p:nvPr/>
        </p:nvSpPr>
        <p:spPr>
          <a:xfrm>
            <a:off x="5074920" y="1234440"/>
            <a:ext cx="36118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arket stat 1 bar"/>
          <p:cNvSpPr/>
          <p:nvPr/>
        </p:nvSpPr>
        <p:spPr>
          <a:xfrm>
            <a:off x="5074920" y="12344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arket stat 1 figure"/>
          <p:cNvSpPr txBox="1"/>
          <p:nvPr/>
        </p:nvSpPr>
        <p:spPr>
          <a:xfrm>
            <a:off x="5257800" y="1234440"/>
            <a:ext cx="1874520" cy="8229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+0.34 pp</a:t>
            </a:r>
          </a:p>
        </p:txBody>
      </p:sp>
      <p:sp>
        <p:nvSpPr>
          <p:cNvPr id="14" name="Market stat 1 label"/>
          <p:cNvSpPr txBox="1"/>
          <p:nvPr/>
        </p:nvSpPr>
        <p:spPr>
          <a:xfrm>
            <a:off x="7132320" y="1234440"/>
            <a:ext cx="1463040"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Germany </a:t>
            </a:r>
            <a:r>
              <a:rPr sz="1200" b="0" lang="en-GB">
                <a:solidFill>
                  <a:schemeClr val="tx1"/>
                </a:solidFill>
              </a:rPr>
              <a:t>(p 0.546)</a:t>
            </a:r>
          </a:p>
        </p:txBody>
      </p:sp>
      <p:sp>
        <p:nvSpPr>
          <p:cNvPr id="15" name="Market stat 2 box"/>
          <p:cNvSpPr/>
          <p:nvPr/>
        </p:nvSpPr>
        <p:spPr>
          <a:xfrm>
            <a:off x="5074920" y="2194560"/>
            <a:ext cx="36118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arket stat 2 bar"/>
          <p:cNvSpPr/>
          <p:nvPr/>
        </p:nvSpPr>
        <p:spPr>
          <a:xfrm>
            <a:off x="5074920" y="219456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rket stat 2 figure"/>
          <p:cNvSpPr txBox="1"/>
          <p:nvPr/>
        </p:nvSpPr>
        <p:spPr>
          <a:xfrm>
            <a:off x="5257800" y="2194560"/>
            <a:ext cx="1874520" cy="8229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+1.70 pp</a:t>
            </a:r>
          </a:p>
        </p:txBody>
      </p:sp>
      <p:sp>
        <p:nvSpPr>
          <p:cNvPr id="18" name="Market stat 2 label"/>
          <p:cNvSpPr txBox="1"/>
          <p:nvPr/>
        </p:nvSpPr>
        <p:spPr>
          <a:xfrm>
            <a:off x="7132320" y="2194560"/>
            <a:ext cx="1463040"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Spain </a:t>
            </a:r>
            <a:r>
              <a:rPr sz="1200" b="0" lang="en-GB">
                <a:solidFill>
                  <a:schemeClr val="tx1"/>
                </a:solidFill>
              </a:rPr>
              <a:t>(p 0.008)</a:t>
            </a:r>
          </a:p>
        </p:txBody>
      </p:sp>
      <p:sp>
        <p:nvSpPr>
          <p:cNvPr id="19" name="Market stat 3 box"/>
          <p:cNvSpPr/>
          <p:nvPr/>
        </p:nvSpPr>
        <p:spPr>
          <a:xfrm>
            <a:off x="5074920" y="3154680"/>
            <a:ext cx="36118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Market stat 3 bar"/>
          <p:cNvSpPr/>
          <p:nvPr/>
        </p:nvSpPr>
        <p:spPr>
          <a:xfrm>
            <a:off x="5074920" y="315468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arket stat 3 figure"/>
          <p:cNvSpPr txBox="1"/>
          <p:nvPr/>
        </p:nvSpPr>
        <p:spPr>
          <a:xfrm>
            <a:off x="5257800" y="3154680"/>
            <a:ext cx="1645920" cy="8229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p 0.110</a:t>
            </a:r>
          </a:p>
        </p:txBody>
      </p:sp>
      <p:sp>
        <p:nvSpPr>
          <p:cNvPr id="22" name="Market stat 3 label"/>
          <p:cNvSpPr txBox="1"/>
          <p:nvPr/>
        </p:nvSpPr>
        <p:spPr>
          <a:xfrm>
            <a:off x="6903720" y="3154680"/>
            <a:ext cx="1691640"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Spain − Germany </a:t>
            </a:r>
            <a:r>
              <a:rPr sz="1200" b="0" lang="en-GB">
                <a:solidFill>
                  <a:schemeClr val="tx1"/>
                </a:solidFill>
              </a:rPr>
              <a:t>(+1.36 pp): within chance</a:t>
            </a:r>
          </a:p>
        </p:txBody>
      </p:sp>
      <p:sp>
        <p:nvSpPr>
          <p:cNvPr id="23" name="Market callout box"/>
          <p:cNvSpPr/>
          <p:nvPr/>
        </p:nvSpPr>
        <p:spPr>
          <a:xfrm>
            <a:off x="457200" y="41148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Market callout text"/>
          <p:cNvSpPr txBox="1"/>
          <p:nvPr/>
        </p:nvSpPr>
        <p:spPr>
          <a:xfrm>
            <a:off x="658368" y="411480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'Significant in Spain, not in Germany' is not evidence of a difference: </a:t>
            </a:r>
            <a:r>
              <a:rPr sz="1200" b="0" lang="en-GB">
                <a:solidFill>
                  <a:schemeClr val="bg1"/>
                </a:solidFill>
              </a:rPr>
              <a:t>test the moderator, then repeat per market.</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(email_factorial.csv)</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Design rules for factorial tests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sign panel 1"/>
          <p:cNvSpPr/>
          <p:nvPr/>
        </p:nvSpPr>
        <p:spPr>
          <a:xfrm>
            <a:off x="457200" y="1234440"/>
            <a:ext cx="3931920" cy="11338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sign panel 1 heading"/>
          <p:cNvSpPr txBox="1"/>
          <p:nvPr/>
        </p:nvSpPr>
        <p:spPr>
          <a:xfrm>
            <a:off x="594360" y="1307592"/>
            <a:ext cx="3657600" cy="274320"/>
          </a:xfrm>
          <a:prstGeom prst="rect">
            <a:avLst/>
          </a:prstGeom>
          <a:noFill/>
        </p:spPr>
        <p:txBody>
          <a:bodyPr wrap="square" lIns="0" rIns="0" tIns="0" bIns="0" anchor="ctr">
            <a:noAutofit/>
          </a:bodyPr>
          <a:lstStyle/>
          <a:p>
            <a:pPr algn="l">
              <a:spcAft>
                <a:spcPts val="400"/>
              </a:spcAft>
            </a:pPr>
            <a:r>
              <a:rPr sz="1200" b="1" lang="en-GB">
                <a:solidFill>
                  <a:schemeClr val="tx2"/>
                </a:solidFill>
              </a:rPr>
              <a:t>Two separate A/B tests</a:t>
            </a:r>
            <a:r>
              <a:rPr sz="1100" b="0" lang="en-GB">
                <a:solidFill>
                  <a:srgbClr val="595959"/>
                </a:solidFill>
              </a:rPr>
              <a:t>  ·  40,000 customers</a:t>
            </a:r>
          </a:p>
        </p:txBody>
      </p:sp>
      <p:sp>
        <p:nvSpPr>
          <p:cNvPr id="12" name="Design 1 box 1-1"/>
          <p:cNvSpPr/>
          <p:nvPr/>
        </p:nvSpPr>
        <p:spPr>
          <a:xfrm>
            <a:off x="594360" y="1600200"/>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sign 1 box 1-1 text"/>
          <p:cNvSpPr txBox="1"/>
          <p:nvPr/>
        </p:nvSpPr>
        <p:spPr>
          <a:xfrm>
            <a:off x="594360" y="1600200"/>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14" name="Design 1 box 1-2"/>
          <p:cNvSpPr/>
          <p:nvPr/>
        </p:nvSpPr>
        <p:spPr>
          <a:xfrm>
            <a:off x="1353312" y="1600200"/>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esign 1 box 1-2 text"/>
          <p:cNvSpPr txBox="1"/>
          <p:nvPr/>
        </p:nvSpPr>
        <p:spPr>
          <a:xfrm>
            <a:off x="1353312" y="1600200"/>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16" name="Design 1 line 1"/>
          <p:cNvSpPr txBox="1"/>
          <p:nvPr/>
        </p:nvSpPr>
        <p:spPr>
          <a:xfrm>
            <a:off x="2176272" y="1600200"/>
            <a:ext cx="212140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Name: </a:t>
            </a:r>
            <a:r>
              <a:rPr sz="1150" b="0" lang="en-GB">
                <a:solidFill>
                  <a:schemeClr val="tx1"/>
                </a:solidFill>
              </a:rPr>
              <a:t>10,000 vs 10,000</a:t>
            </a:r>
          </a:p>
        </p:txBody>
      </p:sp>
      <p:sp>
        <p:nvSpPr>
          <p:cNvPr id="17" name="Design 1 box 2-1"/>
          <p:cNvSpPr/>
          <p:nvPr/>
        </p:nvSpPr>
        <p:spPr>
          <a:xfrm>
            <a:off x="594360" y="1984248"/>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esign 1 box 2-1 text"/>
          <p:cNvSpPr txBox="1"/>
          <p:nvPr/>
        </p:nvSpPr>
        <p:spPr>
          <a:xfrm>
            <a:off x="594360" y="1984248"/>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19" name="Design 1 box 2-2"/>
          <p:cNvSpPr/>
          <p:nvPr/>
        </p:nvSpPr>
        <p:spPr>
          <a:xfrm>
            <a:off x="1353312" y="1984248"/>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esign 1 box 2-2 text"/>
          <p:cNvSpPr txBox="1"/>
          <p:nvPr/>
        </p:nvSpPr>
        <p:spPr>
          <a:xfrm>
            <a:off x="1353312" y="1984248"/>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21" name="Design 1 line 2"/>
          <p:cNvSpPr txBox="1"/>
          <p:nvPr/>
        </p:nvSpPr>
        <p:spPr>
          <a:xfrm>
            <a:off x="2176272" y="1984248"/>
            <a:ext cx="212140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Discount: </a:t>
            </a:r>
            <a:r>
              <a:rPr sz="1150" b="0" lang="en-GB">
                <a:solidFill>
                  <a:schemeClr val="tx1"/>
                </a:solidFill>
              </a:rPr>
              <a:t>10,000 vs 10,000</a:t>
            </a:r>
          </a:p>
        </p:txBody>
      </p:sp>
      <p:sp>
        <p:nvSpPr>
          <p:cNvPr id="22" name="Design panel 2"/>
          <p:cNvSpPr/>
          <p:nvPr/>
        </p:nvSpPr>
        <p:spPr>
          <a:xfrm>
            <a:off x="457200" y="2505456"/>
            <a:ext cx="3931920" cy="14264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esign panel 2 heading"/>
          <p:cNvSpPr txBox="1"/>
          <p:nvPr/>
        </p:nvSpPr>
        <p:spPr>
          <a:xfrm>
            <a:off x="594360" y="2578608"/>
            <a:ext cx="3657600" cy="274320"/>
          </a:xfrm>
          <a:prstGeom prst="rect">
            <a:avLst/>
          </a:prstGeom>
          <a:noFill/>
        </p:spPr>
        <p:txBody>
          <a:bodyPr wrap="square" lIns="0" rIns="0" tIns="0" bIns="0" anchor="ctr">
            <a:noAutofit/>
          </a:bodyPr>
          <a:lstStyle/>
          <a:p>
            <a:pPr algn="l">
              <a:spcAft>
                <a:spcPts val="400"/>
              </a:spcAft>
            </a:pPr>
            <a:r>
              <a:rPr sz="1200" b="1" lang="en-GB">
                <a:solidFill>
                  <a:schemeClr val="tx2"/>
                </a:solidFill>
              </a:rPr>
              <a:t>One 2 × 2</a:t>
            </a:r>
            <a:r>
              <a:rPr sz="1100" b="0" lang="en-GB">
                <a:solidFill>
                  <a:srgbClr val="595959"/>
                </a:solidFill>
              </a:rPr>
              <a:t>  ·  40,000 customers</a:t>
            </a:r>
          </a:p>
        </p:txBody>
      </p:sp>
      <p:sp>
        <p:nvSpPr>
          <p:cNvPr id="24" name="Design 2 box 1-1"/>
          <p:cNvSpPr/>
          <p:nvPr/>
        </p:nvSpPr>
        <p:spPr>
          <a:xfrm>
            <a:off x="594360" y="2871216"/>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esign 2 box 1-1 text"/>
          <p:cNvSpPr txBox="1"/>
          <p:nvPr/>
        </p:nvSpPr>
        <p:spPr>
          <a:xfrm>
            <a:off x="594360" y="2871216"/>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26" name="Design 2 box 1-2"/>
          <p:cNvSpPr/>
          <p:nvPr/>
        </p:nvSpPr>
        <p:spPr>
          <a:xfrm>
            <a:off x="1353312" y="2871216"/>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esign 2 box 1-2 text"/>
          <p:cNvSpPr txBox="1"/>
          <p:nvPr/>
        </p:nvSpPr>
        <p:spPr>
          <a:xfrm>
            <a:off x="1353312" y="2871216"/>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28" name="Design 2 line 1"/>
          <p:cNvSpPr txBox="1"/>
          <p:nvPr/>
        </p:nvSpPr>
        <p:spPr>
          <a:xfrm>
            <a:off x="2176272" y="2871216"/>
            <a:ext cx="212140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Name: </a:t>
            </a:r>
            <a:r>
              <a:rPr sz="1150" b="0" lang="en-GB">
                <a:solidFill>
                  <a:schemeClr val="tx1"/>
                </a:solidFill>
              </a:rPr>
              <a:t>20,000 vs 20,000</a:t>
            </a:r>
          </a:p>
        </p:txBody>
      </p:sp>
      <p:sp>
        <p:nvSpPr>
          <p:cNvPr id="29" name="Design 2 box 2-1"/>
          <p:cNvSpPr/>
          <p:nvPr/>
        </p:nvSpPr>
        <p:spPr>
          <a:xfrm>
            <a:off x="594360" y="3255264"/>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Design 2 box 2-1 text"/>
          <p:cNvSpPr txBox="1"/>
          <p:nvPr/>
        </p:nvSpPr>
        <p:spPr>
          <a:xfrm>
            <a:off x="594360" y="3255264"/>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31" name="Design 2 box 2-2"/>
          <p:cNvSpPr/>
          <p:nvPr/>
        </p:nvSpPr>
        <p:spPr>
          <a:xfrm>
            <a:off x="1353312" y="3255264"/>
            <a:ext cx="685800" cy="310896"/>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Design 2 box 2-2 text"/>
          <p:cNvSpPr txBox="1"/>
          <p:nvPr/>
        </p:nvSpPr>
        <p:spPr>
          <a:xfrm>
            <a:off x="1353312" y="3255264"/>
            <a:ext cx="685800" cy="310896"/>
          </a:xfrm>
          <a:prstGeom prst="rect">
            <a:avLst/>
          </a:prstGeom>
          <a:noFill/>
        </p:spPr>
        <p:txBody>
          <a:bodyPr wrap="square" lIns="0" rIns="0" tIns="0" bIns="0" anchor="ctr">
            <a:noAutofit/>
          </a:bodyPr>
          <a:lstStyle/>
          <a:p>
            <a:pPr algn="ctr">
              <a:spcAft>
                <a:spcPts val="400"/>
              </a:spcAft>
            </a:pPr>
            <a:r>
              <a:rPr sz="1100" b="0" lang="en-GB">
                <a:solidFill>
                  <a:schemeClr val="tx1"/>
                </a:solidFill>
              </a:rPr>
              <a:t>10,000</a:t>
            </a:r>
          </a:p>
        </p:txBody>
      </p:sp>
      <p:sp>
        <p:nvSpPr>
          <p:cNvPr id="33" name="Design 2 line 2"/>
          <p:cNvSpPr txBox="1"/>
          <p:nvPr/>
        </p:nvSpPr>
        <p:spPr>
          <a:xfrm>
            <a:off x="2176272" y="3255264"/>
            <a:ext cx="212140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Discount: </a:t>
            </a:r>
            <a:r>
              <a:rPr sz="1150" b="0" lang="en-GB">
                <a:solidFill>
                  <a:schemeClr val="tx1"/>
                </a:solidFill>
              </a:rPr>
              <a:t>20,000 vs 20,000</a:t>
            </a:r>
          </a:p>
        </p:txBody>
      </p:sp>
      <p:sp>
        <p:nvSpPr>
          <p:cNvPr id="34" name="Design interaction"/>
          <p:cNvSpPr txBox="1"/>
          <p:nvPr/>
        </p:nvSpPr>
        <p:spPr>
          <a:xfrm>
            <a:off x="594360" y="3584448"/>
            <a:ext cx="3657600" cy="274320"/>
          </a:xfrm>
          <a:prstGeom prst="rect">
            <a:avLst/>
          </a:prstGeom>
          <a:noFill/>
        </p:spPr>
        <p:txBody>
          <a:bodyPr wrap="square" lIns="0" rIns="0" tIns="0" bIns="0" anchor="ctr">
            <a:noAutofit/>
          </a:bodyPr>
          <a:lstStyle/>
          <a:p>
            <a:pPr algn="l">
              <a:spcAft>
                <a:spcPts val="400"/>
              </a:spcAft>
            </a:pPr>
            <a:r>
              <a:rPr sz="1200" b="1" lang="en-GB">
                <a:solidFill>
                  <a:schemeClr val="tx2"/>
                </a:solidFill>
              </a:rPr>
              <a:t>+ the interaction</a:t>
            </a:r>
            <a:r>
              <a:rPr sz="1150" b="0" lang="en-GB">
                <a:solidFill>
                  <a:schemeClr val="tx1"/>
                </a:solidFill>
              </a:rPr>
              <a:t>: only the factorial can test it</a:t>
            </a:r>
          </a:p>
        </p:txBody>
      </p:sp>
      <p:sp>
        <p:nvSpPr>
          <p:cNvPr id="35" name="Design rules row 1"/>
          <p:cNvSpPr/>
          <p:nvPr/>
        </p:nvSpPr>
        <p:spPr>
          <a:xfrm>
            <a:off x="4572000" y="1234440"/>
            <a:ext cx="4114800" cy="807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Design rules number 1"/>
          <p:cNvSpPr/>
          <p:nvPr/>
        </p:nvSpPr>
        <p:spPr>
          <a:xfrm>
            <a:off x="4709160" y="14828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37" name="Design rules text 1"/>
          <p:cNvSpPr txBox="1"/>
          <p:nvPr/>
        </p:nvSpPr>
        <p:spPr>
          <a:xfrm>
            <a:off x="5166360" y="1234440"/>
            <a:ext cx="3383280" cy="807720"/>
          </a:xfrm>
          <a:prstGeom prst="rect">
            <a:avLst/>
          </a:prstGeom>
          <a:noFill/>
        </p:spPr>
        <p:txBody>
          <a:bodyPr wrap="square" lIns="0" rIns="0" tIns="0" bIns="0" anchor="ctr">
            <a:noAutofit/>
          </a:bodyPr>
          <a:lstStyle/>
          <a:p>
            <a:pPr algn="l">
              <a:spcAft>
                <a:spcPts val="400"/>
              </a:spcAft>
            </a:pPr>
            <a:r>
              <a:rPr sz="1200" b="1" lang="en-GB">
                <a:solidFill>
                  <a:schemeClr val="tx2"/>
                </a:solidFill>
              </a:rPr>
              <a:t>Twice the use of each customer: </a:t>
            </a:r>
            <a:r>
              <a:rPr sz="1200" b="0" lang="en-GB">
                <a:solidFill>
                  <a:schemeClr val="tx1"/>
                </a:solidFill>
              </a:rPr>
              <a:t>every main effect compares 20,000 with 20,000.</a:t>
            </a:r>
          </a:p>
        </p:txBody>
      </p:sp>
      <p:sp>
        <p:nvSpPr>
          <p:cNvPr id="38" name="Design rules row 2"/>
          <p:cNvSpPr/>
          <p:nvPr/>
        </p:nvSpPr>
        <p:spPr>
          <a:xfrm>
            <a:off x="4572000" y="2179320"/>
            <a:ext cx="4114800" cy="807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Design rules number 2"/>
          <p:cNvSpPr/>
          <p:nvPr/>
        </p:nvSpPr>
        <p:spPr>
          <a:xfrm>
            <a:off x="4709160" y="24277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40" name="Design rules text 2"/>
          <p:cNvSpPr txBox="1"/>
          <p:nvPr/>
        </p:nvSpPr>
        <p:spPr>
          <a:xfrm>
            <a:off x="5166360" y="2179320"/>
            <a:ext cx="3383280" cy="807720"/>
          </a:xfrm>
          <a:prstGeom prst="rect">
            <a:avLst/>
          </a:prstGeom>
          <a:noFill/>
        </p:spPr>
        <p:txBody>
          <a:bodyPr wrap="square" lIns="0" rIns="0" tIns="0" bIns="0" anchor="ctr">
            <a:noAutofit/>
          </a:bodyPr>
          <a:lstStyle/>
          <a:p>
            <a:pPr algn="l">
              <a:spcAft>
                <a:spcPts val="400"/>
              </a:spcAft>
            </a:pPr>
            <a:r>
              <a:rPr sz="1200" b="1" lang="en-GB">
                <a:solidFill>
                  <a:schemeClr val="tx2"/>
                </a:solidFill>
              </a:rPr>
              <a:t>Interactions need more: </a:t>
            </a:r>
            <a:r>
              <a:rPr sz="1200" b="0" lang="en-GB">
                <a:solidFill>
                  <a:schemeClr val="tx1"/>
                </a:solidFill>
              </a:rPr>
              <a:t>about four times the customers of a main effect of the same size (SE 0.43 vs 0.21 pp).</a:t>
            </a:r>
          </a:p>
        </p:txBody>
      </p:sp>
      <p:sp>
        <p:nvSpPr>
          <p:cNvPr id="41" name="Design rules row 3"/>
          <p:cNvSpPr/>
          <p:nvPr/>
        </p:nvSpPr>
        <p:spPr>
          <a:xfrm>
            <a:off x="4572000" y="3124200"/>
            <a:ext cx="4114800" cy="807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Design rules number 3"/>
          <p:cNvSpPr/>
          <p:nvPr/>
        </p:nvSpPr>
        <p:spPr>
          <a:xfrm>
            <a:off x="4709160" y="33726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43" name="Design rules text 3"/>
          <p:cNvSpPr txBox="1"/>
          <p:nvPr/>
        </p:nvSpPr>
        <p:spPr>
          <a:xfrm>
            <a:off x="5166360" y="3124200"/>
            <a:ext cx="3383280" cy="807720"/>
          </a:xfrm>
          <a:prstGeom prst="rect">
            <a:avLst/>
          </a:prstGeom>
          <a:noFill/>
        </p:spPr>
        <p:txBody>
          <a:bodyPr wrap="square" lIns="0" rIns="0" tIns="0" bIns="0" anchor="ctr">
            <a:noAutofit/>
          </a:bodyPr>
          <a:lstStyle/>
          <a:p>
            <a:pPr algn="l">
              <a:spcAft>
                <a:spcPts val="400"/>
              </a:spcAft>
            </a:pPr>
            <a:r>
              <a:rPr sz="1200" b="1" lang="en-GB">
                <a:solidFill>
                  <a:schemeClr val="tx2"/>
                </a:solidFill>
              </a:rPr>
              <a:t>Keep it small: </a:t>
            </a:r>
            <a:r>
              <a:rPr sz="1200" b="0" lang="en-GB">
                <a:solidFill>
                  <a:schemeClr val="tx1"/>
                </a:solidFill>
              </a:rPr>
              <a:t>2 × 2 or 2 × 3; a factorial with 4 × 6 = 24 cells (in industry: a multivariate test) spreads customers thin.</a:t>
            </a:r>
          </a:p>
        </p:txBody>
      </p:sp>
      <p:sp>
        <p:nvSpPr>
          <p:cNvPr id="44" name="Design callout box"/>
          <p:cNvSpPr/>
          <p:nvPr/>
        </p:nvSpPr>
        <p:spPr>
          <a:xfrm>
            <a:off x="457200" y="40690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Design callout text"/>
          <p:cNvSpPr txBox="1"/>
          <p:nvPr/>
        </p:nvSpPr>
        <p:spPr>
          <a:xfrm>
            <a:off x="658368" y="406908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Plan the interaction in advance: </a:t>
            </a:r>
            <a:r>
              <a:rPr sz="1200" b="0" lang="en-GB">
                <a:solidFill>
                  <a:schemeClr val="bg1"/>
                </a:solidFill>
              </a:rPr>
              <a:t>which one, how big, how many customers.</a:t>
            </a:r>
          </a:p>
        </p:txBody>
      </p:sp>
      <p:sp>
        <p:nvSpPr>
          <p:cNvPr id="4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Illustration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5 · polars, scipy, statsmodels, plotnine</a:t>
            </a:r>
          </a:p>
        </p:txBody>
      </p:sp>
      <p:sp>
        <p:nvSpPr>
          <p:cNvPr id="3" name="Title 2"/>
          <p:cNvSpPr>
            <a:spLocks noGrp="1"/>
          </p:cNvSpPr>
          <p:nvPr>
            <p:ph type="ctrTitle"/>
          </p:nvPr>
        </p:nvSpPr>
        <p:spPr/>
        <p:txBody>
          <a:bodyPr/>
          <a:lstStyle/>
          <a:p>
            <a:r>
              <a:rPr lang="en-GB"/>
              <a:t>The analyses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ackage table"/>
          <p:cNvGraphicFramePr>
            <a:graphicFrameLocks noGrp="1"/>
          </p:cNvGraphicFramePr>
          <p:nvPr>
            <p:ph type="tbl" idx="1"/>
          </p:nvPr>
        </p:nvGraphicFramePr>
        <p:xfrm>
          <a:off x="457200" y="1234440"/>
          <a:ext cx="8229600" cy="2966720"/>
        </p:xfrm>
        <a:graphic>
          <a:graphicData uri="http://schemas.openxmlformats.org/drawingml/2006/table">
            <a:tbl>
              <a:tblPr firstRow="1" bandRow="1">
                <a:tableStyleId>{5C22544A-7EE6-4342-B048-85BDC9FD1C3A}</a:tableStyleId>
              </a:tblPr>
              <a:tblGrid>
                <a:gridCol w="2377440"/>
                <a:gridCol w="1737360"/>
                <a:gridCol w="4114800"/>
              </a:tblGrid>
              <a:tr h="370840">
                <a:tc>
                  <a:txBody>
                    <a:bodyPr/>
                    <a:lstStyle/>
                    <a:p>
                      <a:r>
                        <a:rPr sz="1300" lang="en-GB"/>
                        <a:t>Task</a:t>
                      </a:r>
                    </a:p>
                  </a:txBody>
                  <a:tcPr marT="34000" marB="34000"/>
                </a:tc>
                <a:tc>
                  <a:txBody>
                    <a:bodyPr/>
                    <a:lstStyle/>
                    <a:p>
                      <a:r>
                        <a:rPr sz="1300" lang="en-GB"/>
                        <a:t>Package</a:t>
                      </a:r>
                    </a:p>
                  </a:txBody>
                  <a:tcPr marT="34000" marB="34000"/>
                </a:tc>
                <a:tc>
                  <a:txBody>
                    <a:bodyPr/>
                    <a:lstStyle/>
                    <a:p>
                      <a:r>
                        <a:rPr sz="1300" lang="en-GB"/>
                        <a:t>Function</a:t>
                      </a:r>
                    </a:p>
                  </a:txBody>
                  <a:tcPr marT="34000" marB="34000"/>
                </a:tc>
              </a:tr>
              <a:tr h="370840">
                <a:tc>
                  <a:txBody>
                    <a:bodyPr/>
                    <a:lstStyle/>
                    <a:p>
                      <a:r>
                        <a:rPr sz="1150" b="1" lang="en-GB"/>
                        <a:t>Load and count</a:t>
                      </a:r>
                    </a:p>
                  </a:txBody>
                  <a:tcPr marT="34000" marB="34000"/>
                </a:tc>
                <a:tc>
                  <a:txBody>
                    <a:bodyPr/>
                    <a:lstStyle/>
                    <a:p>
                      <a:r>
                        <a:rPr sz="1150" lang="en-GB"/>
                        <a:t>polars</a:t>
                      </a:r>
                    </a:p>
                  </a:txBody>
                  <a:tcPr marT="34000" marB="34000"/>
                </a:tc>
                <a:tc>
                  <a:txBody>
                    <a:bodyPr/>
                    <a:lstStyle/>
                    <a:p>
                      <a:r>
                        <a:rPr sz="1150" lang="en-GB">
                          <a:latin typeface="Consolas"/>
                        </a:rPr>
                        <a:t>pl.read_csv(); group_by().agg()</a:t>
                      </a:r>
                    </a:p>
                  </a:txBody>
                  <a:tcPr marT="34000" marB="34000"/>
                </a:tc>
              </a:tr>
              <a:tr h="370840">
                <a:tc>
                  <a:txBody>
                    <a:bodyPr/>
                    <a:lstStyle/>
                    <a:p>
                      <a:r>
                        <a:rPr sz="1150" b="1" lang="en-GB"/>
                        <a:t>Check the split (SRM)</a:t>
                      </a:r>
                    </a:p>
                  </a:txBody>
                  <a:tcPr marT="34000" marB="34000"/>
                </a:tc>
                <a:tc>
                  <a:txBody>
                    <a:bodyPr/>
                    <a:lstStyle/>
                    <a:p>
                      <a:r>
                        <a:rPr sz="1150" lang="en-GB"/>
                        <a:t>scipy</a:t>
                      </a:r>
                    </a:p>
                  </a:txBody>
                  <a:tcPr marT="34000" marB="34000"/>
                </a:tc>
                <a:tc>
                  <a:txBody>
                    <a:bodyPr/>
                    <a:lstStyle/>
                    <a:p>
                      <a:r>
                        <a:rPr sz="1150" lang="en-GB">
                          <a:latin typeface="Consolas"/>
                        </a:rPr>
                        <a:t>stats.chisquare(counts)</a:t>
                      </a:r>
                    </a:p>
                  </a:txBody>
                  <a:tcPr marT="34000" marB="34000"/>
                </a:tc>
              </a:tr>
              <a:tr h="370840">
                <a:tc>
                  <a:txBody>
                    <a:bodyPr/>
                    <a:lstStyle/>
                    <a:p>
                      <a:r>
                        <a:rPr sz="1150" b="1" lang="en-GB"/>
                        <a:t>z-test and CI</a:t>
                      </a:r>
                    </a:p>
                  </a:txBody>
                  <a:tcPr marT="34000" marB="34000"/>
                </a:tc>
                <a:tc>
                  <a:txBody>
                    <a:bodyPr/>
                    <a:lstStyle/>
                    <a:p>
                      <a:r>
                        <a:rPr sz="1150" lang="en-GB"/>
                        <a:t>statsmodels</a:t>
                      </a:r>
                    </a:p>
                  </a:txBody>
                  <a:tcPr marT="34000" marB="34000"/>
                </a:tc>
                <a:tc>
                  <a:txBody>
                    <a:bodyPr/>
                    <a:lstStyle/>
                    <a:p>
                      <a:r>
                        <a:rPr sz="1150" lang="en-GB">
                          <a:latin typeface="Consolas"/>
                        </a:rPr>
                        <a:t>proportions_ztest(); confint_proportions_2indep()</a:t>
                      </a:r>
                    </a:p>
                  </a:txBody>
                  <a:tcPr marT="34000" marB="34000"/>
                </a:tc>
              </a:tr>
              <a:tr h="370840">
                <a:tc>
                  <a:txBody>
                    <a:bodyPr/>
                    <a:lstStyle/>
                    <a:p>
                      <a:r>
                        <a:rPr sz="1150" b="1" lang="en-GB"/>
                        <a:t>Sample size and power</a:t>
                      </a:r>
                    </a:p>
                  </a:txBody>
                  <a:tcPr marT="34000" marB="34000"/>
                </a:tc>
                <a:tc>
                  <a:txBody>
                    <a:bodyPr/>
                    <a:lstStyle/>
                    <a:p>
                      <a:r>
                        <a:rPr sz="1150" lang="en-GB"/>
                        <a:t>statsmodels</a:t>
                      </a:r>
                    </a:p>
                  </a:txBody>
                  <a:tcPr marT="34000" marB="34000"/>
                </a:tc>
                <a:tc>
                  <a:txBody>
                    <a:bodyPr/>
                    <a:lstStyle/>
                    <a:p>
                      <a:r>
                        <a:rPr sz="1150" lang="en-GB">
                          <a:latin typeface="Consolas"/>
                        </a:rPr>
                        <a:t>proportion_effectsize(); NormalIndPower().solve_power()</a:t>
                      </a:r>
                    </a:p>
                  </a:txBody>
                  <a:tcPr marT="34000" marB="34000"/>
                </a:tc>
              </a:tr>
              <a:tr h="370840">
                <a:tc>
                  <a:txBody>
                    <a:bodyPr/>
                    <a:lstStyle/>
                    <a:p>
                      <a:r>
                        <a:rPr sz="1150" b="1" lang="en-GB"/>
                        <a:t>Factorial regression</a:t>
                      </a:r>
                    </a:p>
                  </a:txBody>
                  <a:tcPr marT="34000" marB="34000"/>
                </a:tc>
                <a:tc>
                  <a:txBody>
                    <a:bodyPr/>
                    <a:lstStyle/>
                    <a:p>
                      <a:r>
                        <a:rPr sz="1150" lang="en-GB"/>
                        <a:t>statsmodels</a:t>
                      </a:r>
                    </a:p>
                  </a:txBody>
                  <a:tcPr marT="34000" marB="34000"/>
                </a:tc>
                <a:tc>
                  <a:txBody>
                    <a:bodyPr/>
                    <a:lstStyle/>
                    <a:p>
                      <a:r>
                        <a:rPr sz="1150" lang="en-GB">
                          <a:latin typeface="Consolas"/>
                        </a:rPr>
                        <a:t>smf.ols("clicked ~ personal * discount")</a:t>
                      </a:r>
                    </a:p>
                  </a:txBody>
                  <a:tcPr marT="34000" marB="34000"/>
                </a:tc>
              </a:tr>
              <a:tr h="370840">
                <a:tc>
                  <a:txBody>
                    <a:bodyPr/>
                    <a:lstStyle/>
                    <a:p>
                      <a:r>
                        <a:rPr sz="1150" b="1" lang="en-GB"/>
                        <a:t>Two-way ANOVA</a:t>
                      </a:r>
                    </a:p>
                  </a:txBody>
                  <a:tcPr marT="34000" marB="34000"/>
                </a:tc>
                <a:tc>
                  <a:txBody>
                    <a:bodyPr/>
                    <a:lstStyle/>
                    <a:p>
                      <a:r>
                        <a:rPr sz="1150" lang="en-GB"/>
                        <a:t>statsmodels</a:t>
                      </a:r>
                    </a:p>
                  </a:txBody>
                  <a:tcPr marT="34000" marB="34000"/>
                </a:tc>
                <a:tc>
                  <a:txBody>
                    <a:bodyPr/>
                    <a:lstStyle/>
                    <a:p>
                      <a:r>
                        <a:rPr sz="1150" lang="en-GB">
                          <a:latin typeface="Consolas"/>
                        </a:rPr>
                        <a:t>anova_lm(m, typ=2)</a:t>
                      </a:r>
                    </a:p>
                  </a:txBody>
                  <a:tcPr marT="34000" marB="34000"/>
                </a:tc>
              </a:tr>
              <a:tr h="370840">
                <a:tc>
                  <a:txBody>
                    <a:bodyPr/>
                    <a:lstStyle/>
                    <a:p>
                      <a:r>
                        <a:rPr sz="1150" b="1" lang="en-GB"/>
                        <a:t>Tables and plots</a:t>
                      </a:r>
                    </a:p>
                  </a:txBody>
                  <a:tcPr marT="34000" marB="34000"/>
                </a:tc>
                <a:tc>
                  <a:txBody>
                    <a:bodyPr/>
                    <a:lstStyle/>
                    <a:p>
                      <a:r>
                        <a:rPr sz="1150" lang="en-GB"/>
                        <a:t>great_tables, plotnine</a:t>
                      </a:r>
                    </a:p>
                  </a:txBody>
                  <a:tcPr marT="34000" marB="34000"/>
                </a:tc>
                <a:tc>
                  <a:txBody>
                    <a:bodyPr/>
                    <a:lstStyle/>
                    <a:p>
                      <a:r>
                        <a:rPr sz="1150" lang="en-GB">
                          <a:latin typeface="Consolas"/>
                        </a:rPr>
                        <a:t>GT(); ggplot, geom_line</a:t>
                      </a:r>
                    </a:p>
                  </a:txBody>
                  <a:tcPr marT="34000" marB="34000"/>
                </a:tc>
              </a:tr>
            </a:tbl>
          </a:graphicData>
        </a:graphic>
      </p:graphicFrame>
      <p:sp>
        <p:nvSpPr>
          <p:cNvPr id="3" name="Title 2"/>
          <p:cNvSpPr>
            <a:spLocks noGrp="1"/>
          </p:cNvSpPr>
          <p:nvPr>
            <p:ph type="title"/>
          </p:nvPr>
        </p:nvSpPr>
        <p:spPr/>
        <p:txBody>
          <a:bodyPr/>
          <a:lstStyle/>
          <a:p>
            <a:r>
              <a:rPr sz="1600" lang="en-GB"/>
              <a:t>The packages and functions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check the split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plit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plit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 scipy</a:t>
            </a:r>
          </a:p>
        </p:txBody>
      </p:sp>
      <p:sp>
        <p:nvSpPr>
          <p:cNvPr id="12" name="Split code box"/>
          <p:cNvSpPr/>
          <p:nvPr/>
        </p:nvSpPr>
        <p:spPr>
          <a:xfrm>
            <a:off x="457200" y="1508760"/>
            <a:ext cx="493776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plit code code"/>
          <p:cNvSpPr txBox="1"/>
          <p:nvPr/>
        </p:nvSpPr>
        <p:spPr>
          <a:xfrm>
            <a:off x="594360" y="1600200"/>
            <a:ext cx="4663440" cy="23774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polars as pl</a:t>
            </a:r>
          </a:p>
          <a:p>
            <a:pPr algn="l">
              <a:spcAft>
                <a:spcPts val="0"/>
              </a:spcAft>
            </a:pPr>
            <a:r>
              <a:rPr sz="1000" b="0" lang="en-GB">
                <a:solidFill>
                  <a:schemeClr val="bg1"/>
                </a:solidFill>
                <a:latin typeface="Consolas"/>
              </a:rPr>
              <a:t>from scipy import stats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ab = pl.read_csv("../../data/abtest/email_ab.csv")</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split = (ab.group_by("version")</a:t>
            </a:r>
          </a:p>
          <a:p>
            <a:pPr algn="l">
              <a:spcAft>
                <a:spcPts val="0"/>
              </a:spcAft>
            </a:pPr>
            <a:r>
              <a:rPr sz="1000" b="0" lang="en-GB">
                <a:solidFill>
                  <a:schemeClr val="bg1"/>
                </a:solidFill>
                <a:latin typeface="Consolas"/>
              </a:rPr>
              <a:t>         .agg(pl.len().alias("n"),</a:t>
            </a:r>
          </a:p>
          <a:p>
            <a:pPr algn="l">
              <a:spcAft>
                <a:spcPts val="0"/>
              </a:spcAft>
            </a:pPr>
            <a:r>
              <a:rPr sz="1000" b="0" lang="en-GB">
                <a:solidFill>
                  <a:schemeClr val="bg1"/>
                </a:solidFill>
                <a:latin typeface="Consolas"/>
              </a:rPr>
              <a:t>              pl.col("clicked").sum().alias("clicks"),</a:t>
            </a:r>
          </a:p>
          <a:p>
            <a:pPr algn="l">
              <a:spcAft>
                <a:spcPts val="0"/>
              </a:spcAft>
            </a:pPr>
            <a:r>
              <a:rPr sz="1000" b="0" lang="en-GB">
                <a:solidFill>
                  <a:schemeClr val="bg1"/>
                </a:solidFill>
                <a:latin typeface="Consolas"/>
              </a:rPr>
              <a:t>              pl.col("clicked").mean().alias("click_rate"))</a:t>
            </a:r>
          </a:p>
          <a:p>
            <a:pPr algn="l">
              <a:spcAft>
                <a:spcPts val="0"/>
              </a:spcAft>
            </a:pPr>
            <a:r>
              <a:rPr sz="1000" b="0" lang="en-GB">
                <a:solidFill>
                  <a:schemeClr val="bg1"/>
                </a:solidFill>
                <a:latin typeface="Consolas"/>
              </a:rPr>
              <a:t>         .sort("version"))</a:t>
            </a:r>
          </a:p>
          <a:p>
            <a:pPr algn="l">
              <a:spcAft>
                <a:spcPts val="0"/>
              </a:spcAft>
            </a:pPr>
            <a:r>
              <a:rPr sz="1000" b="0" lang="en-GB">
                <a:solidFill>
                  <a:schemeClr val="bg1"/>
                </a:solidFill>
                <a:latin typeface="Consolas"/>
              </a:rPr>
              <a:t>stats.chisquare(split["n"].to_list()).pvalue  # SRM</a:t>
            </a:r>
          </a:p>
          <a:p>
            <a:pPr algn="l">
              <a:spcAft>
                <a:spcPts val="0"/>
              </a:spcAft>
            </a:pPr>
            <a:r>
              <a:rPr sz="1000" b="0" lang="en-GB">
                <a:solidFill>
                  <a:schemeClr val="bg1"/>
                </a:solidFill>
                <a:latin typeface="Consolas"/>
              </a:rPr>
              <a:t>split</a:t>
            </a:r>
          </a:p>
        </p:txBody>
      </p:sp>
      <p:sp>
        <p:nvSpPr>
          <p:cNvPr id="14" name="Split out 1-1"/>
          <p:cNvSpPr/>
          <p:nvPr/>
        </p:nvSpPr>
        <p:spPr>
          <a:xfrm>
            <a:off x="553212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plit out text 1-1"/>
          <p:cNvSpPr txBox="1"/>
          <p:nvPr/>
        </p:nvSpPr>
        <p:spPr>
          <a:xfrm>
            <a:off x="5623560" y="1234440"/>
            <a:ext cx="65836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Version</a:t>
            </a:r>
          </a:p>
        </p:txBody>
      </p:sp>
      <p:sp>
        <p:nvSpPr>
          <p:cNvPr id="16" name="Split out 1-2"/>
          <p:cNvSpPr/>
          <p:nvPr/>
        </p:nvSpPr>
        <p:spPr>
          <a:xfrm>
            <a:off x="6400800" y="1234440"/>
            <a:ext cx="7498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plit out text 1-2"/>
          <p:cNvSpPr txBox="1"/>
          <p:nvPr/>
        </p:nvSpPr>
        <p:spPr>
          <a:xfrm>
            <a:off x="6492240" y="1234440"/>
            <a:ext cx="56692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n</a:t>
            </a:r>
          </a:p>
        </p:txBody>
      </p:sp>
      <p:sp>
        <p:nvSpPr>
          <p:cNvPr id="18" name="Split out 1-3"/>
          <p:cNvSpPr/>
          <p:nvPr/>
        </p:nvSpPr>
        <p:spPr>
          <a:xfrm>
            <a:off x="7178040" y="1234440"/>
            <a:ext cx="7040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plit out text 1-3"/>
          <p:cNvSpPr txBox="1"/>
          <p:nvPr/>
        </p:nvSpPr>
        <p:spPr>
          <a:xfrm>
            <a:off x="7269480" y="1234440"/>
            <a:ext cx="52120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Clicks</a:t>
            </a:r>
          </a:p>
        </p:txBody>
      </p:sp>
      <p:sp>
        <p:nvSpPr>
          <p:cNvPr id="20" name="Split out 1-4"/>
          <p:cNvSpPr/>
          <p:nvPr/>
        </p:nvSpPr>
        <p:spPr>
          <a:xfrm>
            <a:off x="7909560" y="1234440"/>
            <a:ext cx="77724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plit out text 1-4"/>
          <p:cNvSpPr txBox="1"/>
          <p:nvPr/>
        </p:nvSpPr>
        <p:spPr>
          <a:xfrm>
            <a:off x="8001000" y="1234440"/>
            <a:ext cx="56692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Rate</a:t>
            </a:r>
          </a:p>
        </p:txBody>
      </p:sp>
      <p:sp>
        <p:nvSpPr>
          <p:cNvPr id="22" name="Split out 2-1"/>
          <p:cNvSpPr/>
          <p:nvPr/>
        </p:nvSpPr>
        <p:spPr>
          <a:xfrm>
            <a:off x="553212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plit out text 2-1"/>
          <p:cNvSpPr txBox="1"/>
          <p:nvPr/>
        </p:nvSpPr>
        <p:spPr>
          <a:xfrm>
            <a:off x="5623560" y="1645920"/>
            <a:ext cx="65836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A</a:t>
            </a:r>
          </a:p>
        </p:txBody>
      </p:sp>
      <p:sp>
        <p:nvSpPr>
          <p:cNvPr id="24" name="Split out 2-2"/>
          <p:cNvSpPr/>
          <p:nvPr/>
        </p:nvSpPr>
        <p:spPr>
          <a:xfrm>
            <a:off x="6400800" y="1645920"/>
            <a:ext cx="749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plit out text 2-2"/>
          <p:cNvSpPr txBox="1"/>
          <p:nvPr/>
        </p:nvSpPr>
        <p:spPr>
          <a:xfrm>
            <a:off x="6492240" y="1645920"/>
            <a:ext cx="5669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20,000</a:t>
            </a:r>
          </a:p>
        </p:txBody>
      </p:sp>
      <p:sp>
        <p:nvSpPr>
          <p:cNvPr id="26" name="Split out 2-3"/>
          <p:cNvSpPr/>
          <p:nvPr/>
        </p:nvSpPr>
        <p:spPr>
          <a:xfrm>
            <a:off x="7178040" y="164592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plit out text 2-3"/>
          <p:cNvSpPr txBox="1"/>
          <p:nvPr/>
        </p:nvSpPr>
        <p:spPr>
          <a:xfrm>
            <a:off x="7269480" y="164592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665</a:t>
            </a:r>
          </a:p>
        </p:txBody>
      </p:sp>
      <p:sp>
        <p:nvSpPr>
          <p:cNvPr id="28" name="Split out 2-4"/>
          <p:cNvSpPr/>
          <p:nvPr/>
        </p:nvSpPr>
        <p:spPr>
          <a:xfrm>
            <a:off x="7909560" y="1645920"/>
            <a:ext cx="7772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plit out text 2-4"/>
          <p:cNvSpPr txBox="1"/>
          <p:nvPr/>
        </p:nvSpPr>
        <p:spPr>
          <a:xfrm>
            <a:off x="8001000" y="1645920"/>
            <a:ext cx="5669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3.33 %</a:t>
            </a:r>
          </a:p>
        </p:txBody>
      </p:sp>
      <p:sp>
        <p:nvSpPr>
          <p:cNvPr id="30" name="Split out 3-1"/>
          <p:cNvSpPr/>
          <p:nvPr/>
        </p:nvSpPr>
        <p:spPr>
          <a:xfrm>
            <a:off x="553212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plit out text 3-1"/>
          <p:cNvSpPr txBox="1"/>
          <p:nvPr/>
        </p:nvSpPr>
        <p:spPr>
          <a:xfrm>
            <a:off x="5623560" y="2057400"/>
            <a:ext cx="65836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B</a:t>
            </a:r>
          </a:p>
        </p:txBody>
      </p:sp>
      <p:sp>
        <p:nvSpPr>
          <p:cNvPr id="32" name="Split out 3-2"/>
          <p:cNvSpPr/>
          <p:nvPr/>
        </p:nvSpPr>
        <p:spPr>
          <a:xfrm>
            <a:off x="6400800" y="2057400"/>
            <a:ext cx="749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plit out text 3-2"/>
          <p:cNvSpPr txBox="1"/>
          <p:nvPr/>
        </p:nvSpPr>
        <p:spPr>
          <a:xfrm>
            <a:off x="6492240" y="2057400"/>
            <a:ext cx="5669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20,000</a:t>
            </a:r>
          </a:p>
        </p:txBody>
      </p:sp>
      <p:sp>
        <p:nvSpPr>
          <p:cNvPr id="34" name="Split out 3-3"/>
          <p:cNvSpPr/>
          <p:nvPr/>
        </p:nvSpPr>
        <p:spPr>
          <a:xfrm>
            <a:off x="7178040" y="205740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plit out text 3-3"/>
          <p:cNvSpPr txBox="1"/>
          <p:nvPr/>
        </p:nvSpPr>
        <p:spPr>
          <a:xfrm>
            <a:off x="7269480" y="205740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785</a:t>
            </a:r>
          </a:p>
        </p:txBody>
      </p:sp>
      <p:sp>
        <p:nvSpPr>
          <p:cNvPr id="36" name="Split out 3-4"/>
          <p:cNvSpPr/>
          <p:nvPr/>
        </p:nvSpPr>
        <p:spPr>
          <a:xfrm>
            <a:off x="7909560" y="2057400"/>
            <a:ext cx="7772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plit out text 3-4"/>
          <p:cNvSpPr txBox="1"/>
          <p:nvPr/>
        </p:nvSpPr>
        <p:spPr>
          <a:xfrm>
            <a:off x="8001000" y="2057400"/>
            <a:ext cx="5669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3.93 %</a:t>
            </a:r>
          </a:p>
        </p:txBody>
      </p:sp>
      <p:sp>
        <p:nvSpPr>
          <p:cNvPr id="38" name="Split out SRM row"/>
          <p:cNvSpPr/>
          <p:nvPr/>
        </p:nvSpPr>
        <p:spPr>
          <a:xfrm>
            <a:off x="5532120" y="2468880"/>
            <a:ext cx="3154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plit out SRM label"/>
          <p:cNvSpPr txBox="1"/>
          <p:nvPr/>
        </p:nvSpPr>
        <p:spPr>
          <a:xfrm>
            <a:off x="5623560" y="2468880"/>
            <a:ext cx="1828800"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SRM p</a:t>
            </a:r>
          </a:p>
        </p:txBody>
      </p:sp>
      <p:sp>
        <p:nvSpPr>
          <p:cNvPr id="40" name="Split out SRM value"/>
          <p:cNvSpPr txBox="1"/>
          <p:nvPr/>
        </p:nvSpPr>
        <p:spPr>
          <a:xfrm>
            <a:off x="7589520" y="2468880"/>
            <a:ext cx="9784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1.000</a:t>
            </a:r>
          </a:p>
        </p:txBody>
      </p:sp>
      <p:sp>
        <p:nvSpPr>
          <p:cNvPr id="41" name="Split caption"/>
          <p:cNvSpPr txBox="1"/>
          <p:nvPr/>
        </p:nvSpPr>
        <p:spPr>
          <a:xfrm>
            <a:off x="5532120" y="2871216"/>
            <a:ext cx="315468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Customers and clicks per version</a:t>
            </a:r>
          </a:p>
        </p:txBody>
      </p:sp>
      <p:sp>
        <p:nvSpPr>
          <p:cNvPr id="42" name="Split tip box"/>
          <p:cNvSpPr/>
          <p:nvPr/>
        </p:nvSpPr>
        <p:spPr>
          <a:xfrm>
            <a:off x="457200" y="42062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Icon Split tip" descr=""/>
          <p:cNvPicPr>
            <a:picLocks noChangeAspect="1"/>
          </p:cNvPicPr>
          <p:nvPr/>
        </p:nvPicPr>
        <p:blipFill>
          <a:blip r:embed="rId3"/>
          <a:stretch>
            <a:fillRect/>
          </a:stretch>
        </p:blipFill>
        <p:spPr>
          <a:xfrm>
            <a:off x="658368" y="4251960"/>
            <a:ext cx="365760" cy="365760"/>
          </a:xfrm>
          <a:prstGeom prst="rect">
            <a:avLst/>
          </a:prstGeom>
        </p:spPr>
      </p:pic>
      <p:sp>
        <p:nvSpPr>
          <p:cNvPr id="44" name="Split tip text"/>
          <p:cNvSpPr txBox="1"/>
          <p:nvPr/>
        </p:nvSpPr>
        <p:spPr>
          <a:xfrm>
            <a:off x="1207008" y="42062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Check the split first: </a:t>
            </a:r>
            <a:r>
              <a:rPr sz="1200" b="0" lang="en-GB">
                <a:solidFill>
                  <a:schemeClr val="tx1"/>
                </a:solidFill>
              </a:rPr>
              <a:t>an SRM p below 0.001 means stop and fix the set-up.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difference, z-test, CI and power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Test code box"/>
          <p:cNvSpPr/>
          <p:nvPr/>
        </p:nvSpPr>
        <p:spPr>
          <a:xfrm>
            <a:off x="457200" y="1508760"/>
            <a:ext cx="493776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st code code"/>
          <p:cNvSpPr txBox="1"/>
          <p:nvPr/>
        </p:nvSpPr>
        <p:spPr>
          <a:xfrm>
            <a:off x="594360" y="1600200"/>
            <a:ext cx="4663440" cy="23774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statsmodels.stats.proportion import (</a:t>
            </a:r>
          </a:p>
          <a:p>
            <a:pPr algn="l">
              <a:spcAft>
                <a:spcPts val="0"/>
              </a:spcAft>
            </a:pPr>
            <a:r>
              <a:rPr sz="1000" b="0" lang="en-GB">
                <a:solidFill>
                  <a:schemeClr val="bg1"/>
                </a:solidFill>
                <a:latin typeface="Consolas"/>
              </a:rPr>
              <a:t>    proportions_ztest, confint_proportions_2indep,</a:t>
            </a:r>
          </a:p>
          <a:p>
            <a:pPr algn="l">
              <a:spcAft>
                <a:spcPts val="0"/>
              </a:spcAft>
            </a:pPr>
            <a:r>
              <a:rPr sz="1000" b="0" lang="en-GB">
                <a:solidFill>
                  <a:schemeClr val="bg1"/>
                </a:solidFill>
                <a:latin typeface="Consolas"/>
              </a:rPr>
              <a:t>    proportion_effectsize)</a:t>
            </a:r>
          </a:p>
          <a:p>
            <a:pPr algn="l">
              <a:spcAft>
                <a:spcPts val="0"/>
              </a:spcAft>
            </a:pPr>
            <a:r>
              <a:rPr sz="1000" b="0" lang="en-GB">
                <a:solidFill>
                  <a:schemeClr val="bg1"/>
                </a:solidFill>
                <a:latin typeface="Consolas"/>
              </a:rPr>
              <a:t>from statsmodels.stats.power import NormalIndPower</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x, n = split["clicks"].to_list(), split["n"].to_list()</a:t>
            </a:r>
          </a:p>
          <a:p>
            <a:pPr algn="l">
              <a:spcAft>
                <a:spcPts val="0"/>
              </a:spcAft>
            </a:pPr>
            <a:r>
              <a:rPr sz="1000" b="0" lang="en-GB">
                <a:solidFill>
                  <a:schemeClr val="bg1"/>
                </a:solidFill>
                <a:latin typeface="Consolas"/>
              </a:rPr>
              <a:t>z, p = proportions_ztest([x[1], x[0]], [n[1], n[0]])</a:t>
            </a:r>
          </a:p>
          <a:p>
            <a:pPr algn="l">
              <a:spcAft>
                <a:spcPts val="0"/>
              </a:spcAft>
            </a:pPr>
            <a:r>
              <a:rPr sz="1000" b="0" lang="en-GB">
                <a:solidFill>
                  <a:schemeClr val="bg1"/>
                </a:solidFill>
                <a:latin typeface="Consolas"/>
              </a:rPr>
              <a:t>lo, hi = confint_proportions_2indep(x[1], n[1],</a:t>
            </a:r>
          </a:p>
          <a:p>
            <a:pPr algn="l">
              <a:spcAft>
                <a:spcPts val="0"/>
              </a:spcAft>
            </a:pPr>
            <a:r>
              <a:rPr sz="1000" b="0" lang="en-GB">
                <a:solidFill>
                  <a:schemeClr val="bg1"/>
                </a:solidFill>
                <a:latin typeface="Consolas"/>
              </a:rPr>
              <a:t>                                    x[0], n[0])   # B - A</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es = proportion_effectsize(0.039, 0.033)</a:t>
            </a:r>
          </a:p>
          <a:p>
            <a:pPr algn="l">
              <a:spcAft>
                <a:spcPts val="0"/>
              </a:spcAft>
            </a:pPr>
            <a:r>
              <a:rPr sz="1000" b="0" lang="en-GB">
                <a:solidFill>
                  <a:schemeClr val="bg1"/>
                </a:solidFill>
                <a:latin typeface="Consolas"/>
              </a:rPr>
              <a:t>NormalIndPower().solve_power(es, alpha=0.05, power=0.8)</a:t>
            </a:r>
          </a:p>
        </p:txBody>
      </p:sp>
      <p:sp>
        <p:nvSpPr>
          <p:cNvPr id="14" name="Test out 1-1"/>
          <p:cNvSpPr/>
          <p:nvPr/>
        </p:nvSpPr>
        <p:spPr>
          <a:xfrm>
            <a:off x="5532120" y="1234440"/>
            <a:ext cx="18013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out text 1-1"/>
          <p:cNvSpPr txBox="1"/>
          <p:nvPr/>
        </p:nvSpPr>
        <p:spPr>
          <a:xfrm>
            <a:off x="5623560" y="1234440"/>
            <a:ext cx="161848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Result</a:t>
            </a:r>
          </a:p>
        </p:txBody>
      </p:sp>
      <p:sp>
        <p:nvSpPr>
          <p:cNvPr id="16" name="Test out 1-2"/>
          <p:cNvSpPr/>
          <p:nvPr/>
        </p:nvSpPr>
        <p:spPr>
          <a:xfrm>
            <a:off x="7360920" y="1234440"/>
            <a:ext cx="132588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st out text 1-2"/>
          <p:cNvSpPr txBox="1"/>
          <p:nvPr/>
        </p:nvSpPr>
        <p:spPr>
          <a:xfrm>
            <a:off x="7452360" y="1234440"/>
            <a:ext cx="111556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Value</a:t>
            </a:r>
          </a:p>
        </p:txBody>
      </p:sp>
      <p:sp>
        <p:nvSpPr>
          <p:cNvPr id="18" name="Test out 2-1"/>
          <p:cNvSpPr/>
          <p:nvPr/>
        </p:nvSpPr>
        <p:spPr>
          <a:xfrm>
            <a:off x="5532120" y="1645920"/>
            <a:ext cx="18013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out text 2-1"/>
          <p:cNvSpPr txBox="1"/>
          <p:nvPr/>
        </p:nvSpPr>
        <p:spPr>
          <a:xfrm>
            <a:off x="5623560" y="1645920"/>
            <a:ext cx="16184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Difference B − A</a:t>
            </a:r>
          </a:p>
        </p:txBody>
      </p:sp>
      <p:sp>
        <p:nvSpPr>
          <p:cNvPr id="20" name="Test out 2-2"/>
          <p:cNvSpPr/>
          <p:nvPr/>
        </p:nvSpPr>
        <p:spPr>
          <a:xfrm>
            <a:off x="7360920" y="1645920"/>
            <a:ext cx="13258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st out text 2-2"/>
          <p:cNvSpPr txBox="1"/>
          <p:nvPr/>
        </p:nvSpPr>
        <p:spPr>
          <a:xfrm>
            <a:off x="7452360" y="1645920"/>
            <a:ext cx="11155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+0.60 pp</a:t>
            </a:r>
          </a:p>
        </p:txBody>
      </p:sp>
      <p:sp>
        <p:nvSpPr>
          <p:cNvPr id="22" name="Test out 3-1"/>
          <p:cNvSpPr/>
          <p:nvPr/>
        </p:nvSpPr>
        <p:spPr>
          <a:xfrm>
            <a:off x="5532120" y="2057400"/>
            <a:ext cx="18013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out text 3-1"/>
          <p:cNvSpPr txBox="1"/>
          <p:nvPr/>
        </p:nvSpPr>
        <p:spPr>
          <a:xfrm>
            <a:off x="5623560" y="2057400"/>
            <a:ext cx="16184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z</a:t>
            </a:r>
          </a:p>
        </p:txBody>
      </p:sp>
      <p:sp>
        <p:nvSpPr>
          <p:cNvPr id="24" name="Test out 3-2"/>
          <p:cNvSpPr/>
          <p:nvPr/>
        </p:nvSpPr>
        <p:spPr>
          <a:xfrm>
            <a:off x="7360920" y="2057400"/>
            <a:ext cx="13258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st out text 3-2"/>
          <p:cNvSpPr txBox="1"/>
          <p:nvPr/>
        </p:nvSpPr>
        <p:spPr>
          <a:xfrm>
            <a:off x="7452360" y="2057400"/>
            <a:ext cx="11155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3.21</a:t>
            </a:r>
          </a:p>
        </p:txBody>
      </p:sp>
      <p:sp>
        <p:nvSpPr>
          <p:cNvPr id="26" name="Test out 4-1"/>
          <p:cNvSpPr/>
          <p:nvPr/>
        </p:nvSpPr>
        <p:spPr>
          <a:xfrm>
            <a:off x="5532120" y="2468880"/>
            <a:ext cx="18013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st out text 4-1"/>
          <p:cNvSpPr txBox="1"/>
          <p:nvPr/>
        </p:nvSpPr>
        <p:spPr>
          <a:xfrm>
            <a:off x="5623560" y="2468880"/>
            <a:ext cx="16184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a:t>
            </a:r>
          </a:p>
        </p:txBody>
      </p:sp>
      <p:sp>
        <p:nvSpPr>
          <p:cNvPr id="28" name="Test out 4-2"/>
          <p:cNvSpPr/>
          <p:nvPr/>
        </p:nvSpPr>
        <p:spPr>
          <a:xfrm>
            <a:off x="7360920" y="2468880"/>
            <a:ext cx="13258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st out text 4-2"/>
          <p:cNvSpPr txBox="1"/>
          <p:nvPr/>
        </p:nvSpPr>
        <p:spPr>
          <a:xfrm>
            <a:off x="7452360" y="2468880"/>
            <a:ext cx="11155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0.0013</a:t>
            </a:r>
          </a:p>
        </p:txBody>
      </p:sp>
      <p:sp>
        <p:nvSpPr>
          <p:cNvPr id="30" name="Test out 5-1"/>
          <p:cNvSpPr/>
          <p:nvPr/>
        </p:nvSpPr>
        <p:spPr>
          <a:xfrm>
            <a:off x="5532120" y="2880360"/>
            <a:ext cx="18013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st out text 5-1"/>
          <p:cNvSpPr txBox="1"/>
          <p:nvPr/>
        </p:nvSpPr>
        <p:spPr>
          <a:xfrm>
            <a:off x="5623560" y="2880360"/>
            <a:ext cx="16184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95 % CI</a:t>
            </a:r>
          </a:p>
        </p:txBody>
      </p:sp>
      <p:sp>
        <p:nvSpPr>
          <p:cNvPr id="32" name="Test out 5-2"/>
          <p:cNvSpPr/>
          <p:nvPr/>
        </p:nvSpPr>
        <p:spPr>
          <a:xfrm>
            <a:off x="7360920" y="2880360"/>
            <a:ext cx="13258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st out text 5-2"/>
          <p:cNvSpPr txBox="1"/>
          <p:nvPr/>
        </p:nvSpPr>
        <p:spPr>
          <a:xfrm>
            <a:off x="7452360" y="2880360"/>
            <a:ext cx="11155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[0.23, 0.97] pp</a:t>
            </a:r>
          </a:p>
        </p:txBody>
      </p:sp>
      <p:sp>
        <p:nvSpPr>
          <p:cNvPr id="34" name="Test out 6-1"/>
          <p:cNvSpPr/>
          <p:nvPr/>
        </p:nvSpPr>
        <p:spPr>
          <a:xfrm>
            <a:off x="5532120" y="3291840"/>
            <a:ext cx="18013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st out text 6-1"/>
          <p:cNvSpPr txBox="1"/>
          <p:nvPr/>
        </p:nvSpPr>
        <p:spPr>
          <a:xfrm>
            <a:off x="5623560" y="3291840"/>
            <a:ext cx="16184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n for +0.6 pp</a:t>
            </a:r>
          </a:p>
        </p:txBody>
      </p:sp>
      <p:sp>
        <p:nvSpPr>
          <p:cNvPr id="36" name="Test out 6-2"/>
          <p:cNvSpPr/>
          <p:nvPr/>
        </p:nvSpPr>
        <p:spPr>
          <a:xfrm>
            <a:off x="7360920" y="3291840"/>
            <a:ext cx="13258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st out text 6-2"/>
          <p:cNvSpPr txBox="1"/>
          <p:nvPr/>
        </p:nvSpPr>
        <p:spPr>
          <a:xfrm>
            <a:off x="7452360" y="3291840"/>
            <a:ext cx="11155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15,107</a:t>
            </a:r>
          </a:p>
        </p:txBody>
      </p:sp>
      <p:sp>
        <p:nvSpPr>
          <p:cNvPr id="38" name="Test caption"/>
          <p:cNvSpPr txBox="1"/>
          <p:nvPr/>
        </p:nvSpPr>
        <p:spPr>
          <a:xfrm>
            <a:off x="5532120" y="3721608"/>
            <a:ext cx="315468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n: customers per version for 80 % power</a:t>
            </a:r>
          </a:p>
        </p:txBody>
      </p:sp>
      <p:sp>
        <p:nvSpPr>
          <p:cNvPr id="39" name="Test tip box"/>
          <p:cNvSpPr/>
          <p:nvPr/>
        </p:nvSpPr>
        <p:spPr>
          <a:xfrm>
            <a:off x="457200" y="42062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Icon Test tip" descr=""/>
          <p:cNvPicPr>
            <a:picLocks noChangeAspect="1"/>
          </p:cNvPicPr>
          <p:nvPr/>
        </p:nvPicPr>
        <p:blipFill>
          <a:blip r:embed="rId3"/>
          <a:stretch>
            <a:fillRect/>
          </a:stretch>
        </p:blipFill>
        <p:spPr>
          <a:xfrm>
            <a:off x="658368" y="4251960"/>
            <a:ext cx="365760" cy="365760"/>
          </a:xfrm>
          <a:prstGeom prst="rect">
            <a:avLst/>
          </a:prstGeom>
        </p:spPr>
      </p:pic>
      <p:sp>
        <p:nvSpPr>
          <p:cNvPr id="41" name="Test tip text"/>
          <p:cNvSpPr txBox="1"/>
          <p:nvPr/>
        </p:nvSpPr>
        <p:spPr>
          <a:xfrm>
            <a:off x="1207008" y="42062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as: </a:t>
            </a:r>
            <a:r>
              <a:rPr sz="1200" b="0" lang="en-GB">
                <a:solidFill>
                  <a:schemeClr val="tx1"/>
                </a:solidFill>
              </a:rPr>
              <a:t>B adds about 0.6 pp; the sample was planned for this size.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the factorial regression and plot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odel code caption bar"/>
          <p:cNvSpPr/>
          <p:nvPr/>
        </p:nvSpPr>
        <p:spPr>
          <a:xfrm>
            <a:off x="457200" y="1234440"/>
            <a:ext cx="47548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odel code caption"/>
          <p:cNvSpPr txBox="1"/>
          <p:nvPr/>
        </p:nvSpPr>
        <p:spPr>
          <a:xfrm>
            <a:off x="566928" y="1234440"/>
            <a:ext cx="45354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 plotnine</a:t>
            </a:r>
          </a:p>
        </p:txBody>
      </p:sp>
      <p:sp>
        <p:nvSpPr>
          <p:cNvPr id="12" name="Model code box"/>
          <p:cNvSpPr/>
          <p:nvPr/>
        </p:nvSpPr>
        <p:spPr>
          <a:xfrm>
            <a:off x="457200" y="1508760"/>
            <a:ext cx="475488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odel code code"/>
          <p:cNvSpPr txBox="1"/>
          <p:nvPr/>
        </p:nvSpPr>
        <p:spPr>
          <a:xfrm>
            <a:off x="594360" y="1600200"/>
            <a:ext cx="4480560" cy="23774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statsmodels.formula.api as smf</a:t>
            </a:r>
          </a:p>
          <a:p>
            <a:pPr algn="l">
              <a:spcAft>
                <a:spcPts val="0"/>
              </a:spcAft>
            </a:pPr>
            <a:r>
              <a:rPr sz="1000" b="0" lang="en-GB">
                <a:solidFill>
                  <a:schemeClr val="bg1"/>
                </a:solidFill>
                <a:latin typeface="Consolas"/>
              </a:rPr>
              <a:t>from plotnine import aes, geom_line, geom_point, ggplot</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fa = pl.read_csv("../../data/abtest/email_factorial.csv")</a:t>
            </a:r>
          </a:p>
          <a:p>
            <a:pPr algn="l">
              <a:spcAft>
                <a:spcPts val="0"/>
              </a:spcAft>
            </a:pPr>
            <a:r>
              <a:rPr sz="1000" b="0" lang="en-GB">
                <a:solidFill>
                  <a:schemeClr val="bg1"/>
                </a:solidFill>
                <a:latin typeface="Consolas"/>
              </a:rPr>
              <a:t>m = smf.ols("clicked ~ personal * discount",</a:t>
            </a:r>
          </a:p>
          <a:p>
            <a:pPr algn="l">
              <a:spcAft>
                <a:spcPts val="0"/>
              </a:spcAft>
            </a:pPr>
            <a:r>
              <a:rPr sz="1000" b="0" lang="en-GB">
                <a:solidFill>
                  <a:schemeClr val="bg1"/>
                </a:solidFill>
                <a:latin typeface="Consolas"/>
              </a:rPr>
              <a:t>            data=fa.to_pandas()).fit()</a:t>
            </a:r>
          </a:p>
          <a:p>
            <a:pPr algn="l">
              <a:spcAft>
                <a:spcPts val="0"/>
              </a:spcAft>
            </a:pPr>
            <a:r>
              <a:rPr sz="1000" b="0" lang="en-GB">
                <a:solidFill>
                  <a:schemeClr val="bg1"/>
                </a:solidFill>
                <a:latin typeface="Consolas"/>
              </a:rPr>
              <a:t>m.params * 100                     # in pp</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cells = (fa.group_by("personal", "discount")</a:t>
            </a:r>
          </a:p>
          <a:p>
            <a:pPr algn="l">
              <a:spcAft>
                <a:spcPts val="0"/>
              </a:spcAft>
            </a:pPr>
            <a:r>
              <a:rPr sz="1000" b="0" lang="en-GB">
                <a:solidFill>
                  <a:schemeClr val="bg1"/>
                </a:solidFill>
                <a:latin typeface="Consolas"/>
              </a:rPr>
              <a:t>         .agg(pl.col("clicked").mean().alias("rate")))</a:t>
            </a:r>
          </a:p>
          <a:p>
            <a:pPr algn="l">
              <a:spcAft>
                <a:spcPts val="0"/>
              </a:spcAft>
            </a:pPr>
            <a:r>
              <a:rPr sz="1000" b="0" lang="en-GB">
                <a:solidFill>
                  <a:schemeClr val="bg1"/>
                </a:solidFill>
                <a:latin typeface="Consolas"/>
              </a:rPr>
              <a:t>(ggplot(cells, aes("discount", "rate",</a:t>
            </a:r>
          </a:p>
          <a:p>
            <a:pPr algn="l">
              <a:spcAft>
                <a:spcPts val="0"/>
              </a:spcAft>
            </a:pPr>
            <a:r>
              <a:rPr sz="1000" b="0" lang="en-GB">
                <a:solidFill>
                  <a:schemeClr val="bg1"/>
                </a:solidFill>
                <a:latin typeface="Consolas"/>
              </a:rPr>
              <a:t>                   colour="factor(personal)"))</a:t>
            </a:r>
          </a:p>
          <a:p>
            <a:pPr algn="l">
              <a:spcAft>
                <a:spcPts val="0"/>
              </a:spcAft>
            </a:pPr>
            <a:r>
              <a:rPr sz="1000" b="0" lang="en-GB">
                <a:solidFill>
                  <a:schemeClr val="bg1"/>
                </a:solidFill>
                <a:latin typeface="Consolas"/>
              </a:rPr>
              <a:t> + geom_line() + geom_point())</a:t>
            </a:r>
          </a:p>
        </p:txBody>
      </p:sp>
      <p:sp>
        <p:nvSpPr>
          <p:cNvPr id="14" name="Model out 1-1"/>
          <p:cNvSpPr/>
          <p:nvPr/>
        </p:nvSpPr>
        <p:spPr>
          <a:xfrm>
            <a:off x="5349240" y="1234440"/>
            <a:ext cx="17099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odel out text 1-1"/>
          <p:cNvSpPr txBox="1"/>
          <p:nvPr/>
        </p:nvSpPr>
        <p:spPr>
          <a:xfrm>
            <a:off x="5440680" y="1234440"/>
            <a:ext cx="152704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Term</a:t>
            </a:r>
          </a:p>
        </p:txBody>
      </p:sp>
      <p:sp>
        <p:nvSpPr>
          <p:cNvPr id="16" name="Model out 1-2"/>
          <p:cNvSpPr/>
          <p:nvPr/>
        </p:nvSpPr>
        <p:spPr>
          <a:xfrm>
            <a:off x="7086600" y="1234440"/>
            <a:ext cx="7040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odel out text 1-2"/>
          <p:cNvSpPr txBox="1"/>
          <p:nvPr/>
        </p:nvSpPr>
        <p:spPr>
          <a:xfrm>
            <a:off x="7178040" y="1234440"/>
            <a:ext cx="52120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pp</a:t>
            </a:r>
          </a:p>
        </p:txBody>
      </p:sp>
      <p:sp>
        <p:nvSpPr>
          <p:cNvPr id="18" name="Model out 1-3"/>
          <p:cNvSpPr/>
          <p:nvPr/>
        </p:nvSpPr>
        <p:spPr>
          <a:xfrm>
            <a:off x="7818120" y="1234440"/>
            <a:ext cx="86868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odel out text 1-3"/>
          <p:cNvSpPr txBox="1"/>
          <p:nvPr/>
        </p:nvSpPr>
        <p:spPr>
          <a:xfrm>
            <a:off x="7909560" y="1234440"/>
            <a:ext cx="65836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p</a:t>
            </a:r>
          </a:p>
        </p:txBody>
      </p:sp>
      <p:sp>
        <p:nvSpPr>
          <p:cNvPr id="20" name="Model out 2-1"/>
          <p:cNvSpPr/>
          <p:nvPr/>
        </p:nvSpPr>
        <p:spPr>
          <a:xfrm>
            <a:off x="5349240" y="164592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odel out text 2-1"/>
          <p:cNvSpPr txBox="1"/>
          <p:nvPr/>
        </p:nvSpPr>
        <p:spPr>
          <a:xfrm>
            <a:off x="5440680" y="1645920"/>
            <a:ext cx="152704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Intercept</a:t>
            </a:r>
          </a:p>
        </p:txBody>
      </p:sp>
      <p:sp>
        <p:nvSpPr>
          <p:cNvPr id="22" name="Model out 2-2"/>
          <p:cNvSpPr/>
          <p:nvPr/>
        </p:nvSpPr>
        <p:spPr>
          <a:xfrm>
            <a:off x="7086600" y="164592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odel out text 2-2"/>
          <p:cNvSpPr txBox="1"/>
          <p:nvPr/>
        </p:nvSpPr>
        <p:spPr>
          <a:xfrm>
            <a:off x="7178040" y="164592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3.51 %</a:t>
            </a:r>
          </a:p>
        </p:txBody>
      </p:sp>
      <p:sp>
        <p:nvSpPr>
          <p:cNvPr id="24" name="Model out 2-3"/>
          <p:cNvSpPr/>
          <p:nvPr/>
        </p:nvSpPr>
        <p:spPr>
          <a:xfrm>
            <a:off x="7818120" y="1645920"/>
            <a:ext cx="868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odel out text 2-3"/>
          <p:cNvSpPr txBox="1"/>
          <p:nvPr/>
        </p:nvSpPr>
        <p:spPr>
          <a:xfrm>
            <a:off x="7909560" y="1645920"/>
            <a:ext cx="6583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26" name="Model out 3-1"/>
          <p:cNvSpPr/>
          <p:nvPr/>
        </p:nvSpPr>
        <p:spPr>
          <a:xfrm>
            <a:off x="5349240" y="205740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odel out text 3-1"/>
          <p:cNvSpPr txBox="1"/>
          <p:nvPr/>
        </p:nvSpPr>
        <p:spPr>
          <a:xfrm>
            <a:off x="5440680" y="2057400"/>
            <a:ext cx="152704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personal</a:t>
            </a:r>
          </a:p>
        </p:txBody>
      </p:sp>
      <p:sp>
        <p:nvSpPr>
          <p:cNvPr id="28" name="Model out 3-2"/>
          <p:cNvSpPr/>
          <p:nvPr/>
        </p:nvSpPr>
        <p:spPr>
          <a:xfrm>
            <a:off x="7086600" y="205740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odel out text 3-2"/>
          <p:cNvSpPr txBox="1"/>
          <p:nvPr/>
        </p:nvSpPr>
        <p:spPr>
          <a:xfrm>
            <a:off x="7178040" y="205740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+0.40</a:t>
            </a:r>
          </a:p>
        </p:txBody>
      </p:sp>
      <p:sp>
        <p:nvSpPr>
          <p:cNvPr id="30" name="Model out 3-3"/>
          <p:cNvSpPr/>
          <p:nvPr/>
        </p:nvSpPr>
        <p:spPr>
          <a:xfrm>
            <a:off x="7818120" y="2057400"/>
            <a:ext cx="868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odel out text 3-3"/>
          <p:cNvSpPr txBox="1"/>
          <p:nvPr/>
        </p:nvSpPr>
        <p:spPr>
          <a:xfrm>
            <a:off x="7909560" y="2057400"/>
            <a:ext cx="6583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0.183</a:t>
            </a:r>
          </a:p>
        </p:txBody>
      </p:sp>
      <p:sp>
        <p:nvSpPr>
          <p:cNvPr id="32" name="Model out 4-1"/>
          <p:cNvSpPr/>
          <p:nvPr/>
        </p:nvSpPr>
        <p:spPr>
          <a:xfrm>
            <a:off x="5349240" y="246888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odel out text 4-1"/>
          <p:cNvSpPr txBox="1"/>
          <p:nvPr/>
        </p:nvSpPr>
        <p:spPr>
          <a:xfrm>
            <a:off x="5440680" y="2468880"/>
            <a:ext cx="152704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discount</a:t>
            </a:r>
          </a:p>
        </p:txBody>
      </p:sp>
      <p:sp>
        <p:nvSpPr>
          <p:cNvPr id="34" name="Model out 4-2"/>
          <p:cNvSpPr/>
          <p:nvPr/>
        </p:nvSpPr>
        <p:spPr>
          <a:xfrm>
            <a:off x="7086600" y="246888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Model out text 4-2"/>
          <p:cNvSpPr txBox="1"/>
          <p:nvPr/>
        </p:nvSpPr>
        <p:spPr>
          <a:xfrm>
            <a:off x="7178040" y="246888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+1.59</a:t>
            </a:r>
          </a:p>
        </p:txBody>
      </p:sp>
      <p:sp>
        <p:nvSpPr>
          <p:cNvPr id="36" name="Model out 4-3"/>
          <p:cNvSpPr/>
          <p:nvPr/>
        </p:nvSpPr>
        <p:spPr>
          <a:xfrm>
            <a:off x="7818120" y="2468880"/>
            <a:ext cx="868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Model out text 4-3"/>
          <p:cNvSpPr txBox="1"/>
          <p:nvPr/>
        </p:nvSpPr>
        <p:spPr>
          <a:xfrm>
            <a:off x="7909560" y="2468880"/>
            <a:ext cx="65836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&lt; 0.001</a:t>
            </a:r>
          </a:p>
        </p:txBody>
      </p:sp>
      <p:sp>
        <p:nvSpPr>
          <p:cNvPr id="38" name="Model out 5-1"/>
          <p:cNvSpPr/>
          <p:nvPr/>
        </p:nvSpPr>
        <p:spPr>
          <a:xfrm>
            <a:off x="5349240" y="288036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Model out text 5-1"/>
          <p:cNvSpPr txBox="1"/>
          <p:nvPr/>
        </p:nvSpPr>
        <p:spPr>
          <a:xfrm>
            <a:off x="5440680" y="2880360"/>
            <a:ext cx="152704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personal:discount</a:t>
            </a:r>
          </a:p>
        </p:txBody>
      </p:sp>
      <p:sp>
        <p:nvSpPr>
          <p:cNvPr id="40" name="Model out 5-2"/>
          <p:cNvSpPr/>
          <p:nvPr/>
        </p:nvSpPr>
        <p:spPr>
          <a:xfrm>
            <a:off x="7086600" y="288036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Model out text 5-2"/>
          <p:cNvSpPr txBox="1"/>
          <p:nvPr/>
        </p:nvSpPr>
        <p:spPr>
          <a:xfrm>
            <a:off x="7178040" y="2880360"/>
            <a:ext cx="521208" cy="384048"/>
          </a:xfrm>
          <a:prstGeom prst="rect">
            <a:avLst/>
          </a:prstGeom>
          <a:noFill/>
        </p:spPr>
        <p:txBody>
          <a:bodyPr wrap="square" lIns="0" rIns="0" tIns="0" bIns="0" anchor="ctr">
            <a:noAutofit/>
          </a:bodyPr>
          <a:lstStyle/>
          <a:p>
            <a:pPr algn="r">
              <a:spcAft>
                <a:spcPts val="400"/>
              </a:spcAft>
            </a:pPr>
            <a:r>
              <a:rPr sz="1150" b="1" lang="en-GB">
                <a:solidFill>
                  <a:schemeClr val="tx2"/>
                </a:solidFill>
              </a:rPr>
              <a:t>+1.02</a:t>
            </a:r>
          </a:p>
        </p:txBody>
      </p:sp>
      <p:sp>
        <p:nvSpPr>
          <p:cNvPr id="42" name="Model out 5-3"/>
          <p:cNvSpPr/>
          <p:nvPr/>
        </p:nvSpPr>
        <p:spPr>
          <a:xfrm>
            <a:off x="7818120" y="2880360"/>
            <a:ext cx="86868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Model out text 5-3"/>
          <p:cNvSpPr txBox="1"/>
          <p:nvPr/>
        </p:nvSpPr>
        <p:spPr>
          <a:xfrm>
            <a:off x="7909560" y="2880360"/>
            <a:ext cx="658368" cy="384048"/>
          </a:xfrm>
          <a:prstGeom prst="rect">
            <a:avLst/>
          </a:prstGeom>
          <a:noFill/>
        </p:spPr>
        <p:txBody>
          <a:bodyPr wrap="square" lIns="0" rIns="0" tIns="0" bIns="0" anchor="ctr">
            <a:noAutofit/>
          </a:bodyPr>
          <a:lstStyle/>
          <a:p>
            <a:pPr algn="r">
              <a:spcAft>
                <a:spcPts val="400"/>
              </a:spcAft>
            </a:pPr>
            <a:r>
              <a:rPr sz="1150" b="1" lang="en-GB">
                <a:solidFill>
                  <a:schemeClr val="tx2"/>
                </a:solidFill>
              </a:rPr>
              <a:t>0.017</a:t>
            </a:r>
          </a:p>
        </p:txBody>
      </p:sp>
      <p:sp>
        <p:nvSpPr>
          <p:cNvPr id="44" name="Model caption"/>
          <p:cNvSpPr txBox="1"/>
          <p:nvPr/>
        </p:nvSpPr>
        <p:spPr>
          <a:xfrm>
            <a:off x="5349240" y="3310128"/>
            <a:ext cx="333756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Each coefficient is a cell difference (slide 25)</a:t>
            </a:r>
          </a:p>
        </p:txBody>
      </p:sp>
      <p:sp>
        <p:nvSpPr>
          <p:cNvPr id="45" name="Model tip box"/>
          <p:cNvSpPr/>
          <p:nvPr/>
        </p:nvSpPr>
        <p:spPr>
          <a:xfrm>
            <a:off x="457200" y="42062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Icon Model tip" descr=""/>
          <p:cNvPicPr>
            <a:picLocks noChangeAspect="1"/>
          </p:cNvPicPr>
          <p:nvPr/>
        </p:nvPicPr>
        <p:blipFill>
          <a:blip r:embed="rId3"/>
          <a:stretch>
            <a:fillRect/>
          </a:stretch>
        </p:blipFill>
        <p:spPr>
          <a:xfrm>
            <a:off x="658368" y="4251960"/>
            <a:ext cx="365760" cy="365760"/>
          </a:xfrm>
          <a:prstGeom prst="rect">
            <a:avLst/>
          </a:prstGeom>
        </p:spPr>
      </p:pic>
      <p:sp>
        <p:nvSpPr>
          <p:cNvPr id="47" name="Model tip text"/>
          <p:cNvSpPr txBox="1"/>
          <p:nvPr/>
        </p:nvSpPr>
        <p:spPr>
          <a:xfrm>
            <a:off x="1207008" y="42062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Read the product term in pp: </a:t>
            </a:r>
            <a:r>
              <a:rPr sz="1200" b="0" lang="en-GB">
                <a:solidFill>
                  <a:schemeClr val="tx1"/>
                </a:solidFill>
              </a:rPr>
              <a:t>+1.02, p 0.017; the plot shows it as lines that fan 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5 · quiz, exercise, Posit Assistant</a:t>
            </a:r>
          </a:p>
        </p:txBody>
      </p:sp>
      <p:sp>
        <p:nvSpPr>
          <p:cNvPr id="3" name="Title 2"/>
          <p:cNvSpPr>
            <a:spLocks noGrp="1"/>
          </p:cNvSpPr>
          <p:nvPr>
            <p:ph type="ctrTitle"/>
          </p:nvPr>
        </p:nvSpPr>
        <p:spPr/>
        <p:txBody>
          <a:bodyPr/>
          <a:lstStyle/>
          <a:p>
            <a:r>
              <a:rPr lang="en-GB"/>
              <a:t>In-class exercise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Online quiz: experiments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Why can we read B − A as the effect of the first name?</a:t>
            </a:r>
          </a:p>
          <a:p>
            <a:pPr algn="l">
              <a:spcAft>
                <a:spcPts val="100"/>
              </a:spcAft>
            </a:pPr>
            <a:r>
              <a:rPr sz="1200" b="0" lang="en-GB">
                <a:solidFill>
                  <a:schemeClr val="tx1"/>
                </a:solidFill>
              </a:rPr>
              <a:t>A  both groups are large     B  the coin flip made A and B alike     C  clicks have no noise</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Click rate 3.0 % with A, 3.6 % with B. The difference is …</a:t>
            </a:r>
          </a:p>
          <a:p>
            <a:pPr algn="l">
              <a:spcAft>
                <a:spcPts val="100"/>
              </a:spcAft>
            </a:pPr>
            <a:r>
              <a:rPr sz="1200" b="0" lang="en-GB">
                <a:solidFill>
                  <a:schemeClr val="tx1"/>
                </a:solidFill>
              </a:rPr>
              <a:t>A  +0.6 pp, or +20 % relative     B  +0.6 %     C  +20 pp</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15,107 customers per version detect +0.6 pp. For +0.3 pp you need about …</a:t>
            </a:r>
          </a:p>
          <a:p>
            <a:pPr algn="l">
              <a:spcAft>
                <a:spcPts val="100"/>
              </a:spcAft>
            </a:pPr>
            <a:r>
              <a:rPr sz="1200" b="0" lang="en-GB">
                <a:solidFill>
                  <a:schemeClr val="tx1"/>
                </a:solidFill>
              </a:rPr>
              <a:t>A  7,500     B  30,000     C  60,000</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Planned 50:50, got 20,000 in A and 19,300 in B (SRM p &lt; 0.001). You …</a:t>
            </a:r>
          </a:p>
          <a:p>
            <a:pPr algn="l">
              <a:spcAft>
                <a:spcPts val="100"/>
              </a:spcAft>
            </a:pPr>
            <a:r>
              <a:rPr sz="1200" b="0" lang="en-GB">
                <a:solidFill>
                  <a:schemeClr val="tx1"/>
                </a:solidFill>
              </a:rPr>
              <a:t>A  report the result     B  stop and look for the bug     C  drop 700 customers from A</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2 × 2: the name adds +0.4 pp without, +1.4 pp with the discount. The interaction is …</a:t>
            </a:r>
          </a:p>
          <a:p>
            <a:pPr algn="l">
              <a:spcAft>
                <a:spcPts val="100"/>
              </a:spcAft>
            </a:pPr>
            <a:r>
              <a:rPr sz="1200" b="0" lang="en-GB">
                <a:solidFill>
                  <a:schemeClr val="tx1"/>
                </a:solidFill>
              </a:rPr>
              <a:t>A  +1.0 pp     B  +0.9 pp     C  +1.8 pp</a:t>
            </a:r>
          </a:p>
        </p:txBody>
      </p:sp>
      <p:sp>
        <p:nvSpPr>
          <p:cNvPr id="25" name="Quiz callout box"/>
          <p:cNvSpPr/>
          <p:nvPr/>
        </p:nvSpPr>
        <p:spPr>
          <a:xfrm>
            <a:off x="457200" y="459028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Quiz callout text"/>
          <p:cNvSpPr txBox="1"/>
          <p:nvPr/>
        </p:nvSpPr>
        <p:spPr>
          <a:xfrm>
            <a:off x="658368" y="4590288"/>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3 minutes alone, </a:t>
            </a:r>
            <a:r>
              <a:rPr sz="1250" b="0" lang="en-GB">
                <a:solidFill>
                  <a:schemeClr val="bg1"/>
                </a:solidFill>
              </a:rPr>
              <a:t>then compare with your neighbour.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Answers: in class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test the e-mails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2816352"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with packages:</a:t>
            </a:r>
            <a:br/>
            <a:r>
              <a:rPr sz="1200" b="1" lang="en-GB">
                <a:solidFill>
                  <a:schemeClr val="tx2"/>
                </a:solidFill>
              </a:rPr>
              <a:t>35 minutes</a:t>
            </a:r>
          </a:p>
        </p:txBody>
      </p:sp>
      <p:sp>
        <p:nvSpPr>
          <p:cNvPr id="11" name="Turn steps step 2"/>
          <p:cNvSpPr/>
          <p:nvPr/>
        </p:nvSpPr>
        <p:spPr>
          <a:xfrm>
            <a:off x="3163824"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 answers:</a:t>
            </a:r>
            <a:br/>
            <a:r>
              <a:rPr sz="1200" b="1" lang="en-GB">
                <a:solidFill>
                  <a:schemeClr val="tx2"/>
                </a:solidFill>
              </a:rPr>
              <a:t>5 minutes</a:t>
            </a:r>
          </a:p>
        </p:txBody>
      </p:sp>
      <p:sp>
        <p:nvSpPr>
          <p:cNvPr id="12" name="Turn steps step 3"/>
          <p:cNvSpPr/>
          <p:nvPr/>
        </p:nvSpPr>
        <p:spPr>
          <a:xfrm>
            <a:off x="5870448"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 Assistant:</a:t>
            </a:r>
            <a:br/>
            <a:r>
              <a:rPr sz="1200" b="1" lang="en-GB">
                <a:solidFill>
                  <a:schemeClr val="tx2"/>
                </a:solidFill>
              </a:rPr>
              <a:t>10 minutes</a:t>
            </a:r>
          </a:p>
        </p:txBody>
      </p:sp>
      <p:sp>
        <p:nvSpPr>
          <p:cNvPr id="13" name="Turn task row 1"/>
          <p:cNvSpPr/>
          <p:nvPr/>
        </p:nvSpPr>
        <p:spPr>
          <a:xfrm>
            <a:off x="457200" y="182880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urn task number 1"/>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Turn task text 1"/>
          <p:cNvSpPr txBox="1"/>
          <p:nvPr/>
        </p:nvSpPr>
        <p:spPr>
          <a:xfrm>
            <a:off x="1051560" y="182880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the split and the share on mobile per version, in each market (Step 1)</a:t>
            </a:r>
          </a:p>
        </p:txBody>
      </p:sp>
      <p:sp>
        <p:nvSpPr>
          <p:cNvPr id="16" name="Turn task row 2"/>
          <p:cNvSpPr/>
          <p:nvPr/>
        </p:nvSpPr>
        <p:spPr>
          <a:xfrm>
            <a:off x="457200" y="237744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task number 2"/>
          <p:cNvSpPr/>
          <p:nvPr/>
        </p:nvSpPr>
        <p:spPr>
          <a:xfrm>
            <a:off x="594360" y="2459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Turn task text 2"/>
          <p:cNvSpPr txBox="1"/>
          <p:nvPr/>
        </p:nvSpPr>
        <p:spPr>
          <a:xfrm>
            <a:off x="1051560" y="237744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Test: </a:t>
            </a:r>
            <a:r>
              <a:rPr sz="1200" b="0" lang="en-GB">
                <a:solidFill>
                  <a:schemeClr val="tx1"/>
                </a:solidFill>
              </a:rPr>
              <a:t>B − A in Germany and in Spain, in pp with 95 % CI; does it differ? (Steps 2, 5)</a:t>
            </a:r>
          </a:p>
        </p:txBody>
      </p:sp>
      <p:sp>
        <p:nvSpPr>
          <p:cNvPr id="19" name="Turn task row 3"/>
          <p:cNvSpPr/>
          <p:nvPr/>
        </p:nvSpPr>
        <p:spPr>
          <a:xfrm>
            <a:off x="457200" y="292608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urn task number 3"/>
          <p:cNvSpPr/>
          <p:nvPr/>
        </p:nvSpPr>
        <p:spPr>
          <a:xfrm>
            <a:off x="594360" y="30083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Turn task text 3"/>
          <p:cNvSpPr txBox="1"/>
          <p:nvPr/>
        </p:nvSpPr>
        <p:spPr>
          <a:xfrm>
            <a:off x="1051560" y="292608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Plan: </a:t>
            </a:r>
            <a:r>
              <a:rPr sz="1200" b="0" lang="en-GB">
                <a:solidFill>
                  <a:schemeClr val="tx1"/>
                </a:solidFill>
              </a:rPr>
              <a:t>customers per version for 3.3 % → 3.8 % with 80 % power (Step 2)</a:t>
            </a:r>
          </a:p>
        </p:txBody>
      </p:sp>
      <p:sp>
        <p:nvSpPr>
          <p:cNvPr id="22" name="Turn task row 4"/>
          <p:cNvSpPr/>
          <p:nvPr/>
        </p:nvSpPr>
        <p:spPr>
          <a:xfrm>
            <a:off x="457200" y="347472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task number 4"/>
          <p:cNvSpPr/>
          <p:nvPr/>
        </p:nvSpPr>
        <p:spPr>
          <a:xfrm>
            <a:off x="594360" y="35570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Turn task text 4"/>
          <p:cNvSpPr txBox="1"/>
          <p:nvPr/>
        </p:nvSpPr>
        <p:spPr>
          <a:xfrm>
            <a:off x="1051560" y="347472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2 × 2: </a:t>
            </a:r>
            <a:r>
              <a:rPr sz="1200" b="0" lang="en-GB">
                <a:solidFill>
                  <a:schemeClr val="tx1"/>
                </a:solidFill>
              </a:rPr>
              <a:t>cell table, interaction plot, regression; which e-mail should be sent? (Steps 3, 6)</a:t>
            </a:r>
          </a:p>
        </p:txBody>
      </p:sp>
      <p:sp>
        <p:nvSpPr>
          <p:cNvPr id="25" name="Turn deliverable box"/>
          <p:cNvSpPr/>
          <p:nvPr/>
        </p:nvSpPr>
        <p:spPr>
          <a:xfrm>
            <a:off x="457200" y="40233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urn deliverable text"/>
          <p:cNvSpPr txBox="1"/>
          <p:nvPr/>
        </p:nvSpPr>
        <p:spPr>
          <a:xfrm>
            <a:off x="658368" y="402336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Deliverable: </a:t>
            </a:r>
            <a:r>
              <a:rPr sz="1200" b="0" lang="en-GB">
                <a:solidFill>
                  <a:schemeClr val="bg1"/>
                </a:solidFill>
              </a:rPr>
              <a:t>one slide per pair with the interaction plot and two sentences for the CRM manager.</a:t>
            </a:r>
          </a:p>
        </p:txBody>
      </p:sp>
      <p:sp>
        <p:nvSpPr>
          <p:cNvPr id="27" name="Turn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sessions/01-foundations/ab_exercise.qmd</a:t>
            </a:r>
            <a:r>
              <a:rPr sz="1200" b="0" lang="en-GB">
                <a:solidFill>
                  <a:schemeClr val="tx1"/>
                </a:solidFill>
              </a:rPr>
              <a:t>  (code to reuse: ab_testing.qmd)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the same tasks with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osit how 1 row"/>
          <p:cNvSpPr/>
          <p:nvPr/>
        </p:nvSpPr>
        <p:spPr>
          <a:xfrm>
            <a:off x="457200" y="123444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sit how 1 bar"/>
          <p:cNvSpPr/>
          <p:nvPr/>
        </p:nvSpPr>
        <p:spPr>
          <a:xfrm>
            <a:off x="457200" y="1234440"/>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osit how 1 text"/>
          <p:cNvSpPr txBox="1"/>
          <p:nvPr/>
        </p:nvSpPr>
        <p:spPr>
          <a:xfrm>
            <a:off x="658368" y="1234440"/>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How: </a:t>
            </a:r>
            <a:r>
              <a:rPr sz="1200" b="0" lang="en-GB">
                <a:solidFill>
                  <a:schemeClr val="tx1"/>
                </a:solidFill>
              </a:rPr>
              <a:t>code first, then open Posit Assistant, type @ab_exercise.qmd, one task per prompt</a:t>
            </a:r>
          </a:p>
        </p:txBody>
      </p:sp>
      <p:sp>
        <p:nvSpPr>
          <p:cNvPr id="13" name="Prompt 1 caption bar"/>
          <p:cNvSpPr/>
          <p:nvPr/>
        </p:nvSpPr>
        <p:spPr>
          <a:xfrm>
            <a:off x="457200" y="1755648"/>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rompt 1 caption"/>
          <p:cNvSpPr txBox="1"/>
          <p:nvPr/>
        </p:nvSpPr>
        <p:spPr>
          <a:xfrm>
            <a:off x="566928" y="1755648"/>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1</a:t>
            </a:r>
          </a:p>
        </p:txBody>
      </p:sp>
      <p:sp>
        <p:nvSpPr>
          <p:cNvPr id="15" name="Prompt 1 box"/>
          <p:cNvSpPr/>
          <p:nvPr/>
        </p:nvSpPr>
        <p:spPr>
          <a:xfrm>
            <a:off x="457200" y="2029968"/>
            <a:ext cx="404622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mpt 1 code"/>
          <p:cNvSpPr txBox="1"/>
          <p:nvPr/>
        </p:nvSpPr>
        <p:spPr>
          <a:xfrm>
            <a:off x="594360" y="2121408"/>
            <a:ext cx="3771900" cy="68580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@ab_exercise.qmd Task 1. Check the split of</a:t>
            </a:r>
          </a:p>
          <a:p>
            <a:pPr algn="l">
              <a:spcAft>
                <a:spcPts val="0"/>
              </a:spcAft>
            </a:pPr>
            <a:r>
              <a:rPr sz="1050" b="0" lang="en-GB">
                <a:solidFill>
                  <a:schemeClr val="bg1"/>
                </a:solidFill>
                <a:latin typeface="Consolas"/>
              </a:rPr>
              <a:t>email_ab.csv in each country: counts,</a:t>
            </a:r>
          </a:p>
          <a:p>
            <a:pPr algn="l">
              <a:spcAft>
                <a:spcPts val="0"/>
              </a:spcAft>
            </a:pPr>
            <a:r>
              <a:rPr sz="1050" b="0" lang="en-GB">
                <a:solidFill>
                  <a:schemeClr val="bg1"/>
                </a:solidFill>
                <a:latin typeface="Consolas"/>
              </a:rPr>
              <a:t>SRM p-value and the share on mobile</a:t>
            </a:r>
          </a:p>
          <a:p>
            <a:pPr algn="l">
              <a:spcAft>
                <a:spcPts val="0"/>
              </a:spcAft>
            </a:pPr>
            <a:r>
              <a:rPr sz="1050" b="0" lang="en-GB">
                <a:solidFill>
                  <a:schemeClr val="bg1"/>
                </a:solidFill>
                <a:latin typeface="Consolas"/>
              </a:rPr>
              <a:t>per version.</a:t>
            </a:r>
          </a:p>
        </p:txBody>
      </p:sp>
      <p:sp>
        <p:nvSpPr>
          <p:cNvPr id="17" name="Prompt 2 caption bar"/>
          <p:cNvSpPr/>
          <p:nvPr/>
        </p:nvSpPr>
        <p:spPr>
          <a:xfrm>
            <a:off x="4640580" y="1755648"/>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rompt 2 caption"/>
          <p:cNvSpPr txBox="1"/>
          <p:nvPr/>
        </p:nvSpPr>
        <p:spPr>
          <a:xfrm>
            <a:off x="4750308" y="1755648"/>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2</a:t>
            </a:r>
          </a:p>
        </p:txBody>
      </p:sp>
      <p:sp>
        <p:nvSpPr>
          <p:cNvPr id="19" name="Prompt 2 box"/>
          <p:cNvSpPr/>
          <p:nvPr/>
        </p:nvSpPr>
        <p:spPr>
          <a:xfrm>
            <a:off x="4640580" y="2029968"/>
            <a:ext cx="404622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ompt 2 code"/>
          <p:cNvSpPr txBox="1"/>
          <p:nvPr/>
        </p:nvSpPr>
        <p:spPr>
          <a:xfrm>
            <a:off x="4777740" y="2121408"/>
            <a:ext cx="3771900" cy="68580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2. Estimate B − A in Germany and</a:t>
            </a:r>
          </a:p>
          <a:p>
            <a:pPr algn="l">
              <a:spcAft>
                <a:spcPts val="0"/>
              </a:spcAft>
            </a:pPr>
            <a:r>
              <a:rPr sz="1050" b="0" lang="en-GB">
                <a:solidFill>
                  <a:schemeClr val="bg1"/>
                </a:solidFill>
                <a:latin typeface="Consolas"/>
              </a:rPr>
              <a:t>in Spain in pp with a 95 % CI. Do the</a:t>
            </a:r>
          </a:p>
          <a:p>
            <a:pPr algn="l">
              <a:spcAft>
                <a:spcPts val="0"/>
              </a:spcAft>
            </a:pPr>
            <a:r>
              <a:rPr sz="1050" b="0" lang="en-GB">
                <a:solidFill>
                  <a:schemeClr val="bg1"/>
                </a:solidFill>
                <a:latin typeface="Consolas"/>
              </a:rPr>
              <a:t>markets differ, and how would you</a:t>
            </a:r>
          </a:p>
          <a:p>
            <a:pPr algn="l">
              <a:spcAft>
                <a:spcPts val="0"/>
              </a:spcAft>
            </a:pPr>
            <a:r>
              <a:rPr sz="1050" b="0" lang="en-GB">
                <a:solidFill>
                  <a:schemeClr val="bg1"/>
                </a:solidFill>
                <a:latin typeface="Consolas"/>
              </a:rPr>
              <a:t>test that?</a:t>
            </a:r>
          </a:p>
        </p:txBody>
      </p:sp>
      <p:sp>
        <p:nvSpPr>
          <p:cNvPr id="21" name="Prompt 3 caption bar"/>
          <p:cNvSpPr/>
          <p:nvPr/>
        </p:nvSpPr>
        <p:spPr>
          <a:xfrm>
            <a:off x="457200" y="3035808"/>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ompt 3 caption"/>
          <p:cNvSpPr txBox="1"/>
          <p:nvPr/>
        </p:nvSpPr>
        <p:spPr>
          <a:xfrm>
            <a:off x="566928" y="3035808"/>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3</a:t>
            </a:r>
          </a:p>
        </p:txBody>
      </p:sp>
      <p:sp>
        <p:nvSpPr>
          <p:cNvPr id="23" name="Prompt 3 box"/>
          <p:cNvSpPr/>
          <p:nvPr/>
        </p:nvSpPr>
        <p:spPr>
          <a:xfrm>
            <a:off x="457200" y="3310128"/>
            <a:ext cx="404622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mpt 3 code"/>
          <p:cNvSpPr txBox="1"/>
          <p:nvPr/>
        </p:nvSpPr>
        <p:spPr>
          <a:xfrm>
            <a:off x="594360" y="3401568"/>
            <a:ext cx="3771900" cy="68580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3. How many customers per version</a:t>
            </a:r>
          </a:p>
          <a:p>
            <a:pPr algn="l">
              <a:spcAft>
                <a:spcPts val="0"/>
              </a:spcAft>
            </a:pPr>
            <a:r>
              <a:rPr sz="1050" b="0" lang="en-GB">
                <a:solidFill>
                  <a:schemeClr val="bg1"/>
                </a:solidFill>
                <a:latin typeface="Consolas"/>
              </a:rPr>
              <a:t>detect 3.3 % → 3.8 % with 80 % power?</a:t>
            </a:r>
          </a:p>
          <a:p>
            <a:pPr algn="l">
              <a:spcAft>
                <a:spcPts val="0"/>
              </a:spcAft>
            </a:pPr>
            <a:r>
              <a:rPr sz="1050" b="0" lang="en-GB">
                <a:solidFill>
                  <a:schemeClr val="bg1"/>
                </a:solidFill>
                <a:latin typeface="Consolas"/>
              </a:rPr>
              <a:t>Explain power in one sentence for</a:t>
            </a:r>
          </a:p>
          <a:p>
            <a:pPr algn="l">
              <a:spcAft>
                <a:spcPts val="0"/>
              </a:spcAft>
            </a:pPr>
            <a:r>
              <a:rPr sz="1050" b="0" lang="en-GB">
                <a:solidFill>
                  <a:schemeClr val="bg1"/>
                </a:solidFill>
                <a:latin typeface="Consolas"/>
              </a:rPr>
              <a:t>a manager.</a:t>
            </a:r>
          </a:p>
        </p:txBody>
      </p:sp>
      <p:sp>
        <p:nvSpPr>
          <p:cNvPr id="25" name="Prompt 4 caption bar"/>
          <p:cNvSpPr/>
          <p:nvPr/>
        </p:nvSpPr>
        <p:spPr>
          <a:xfrm>
            <a:off x="4640580" y="3035808"/>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rompt 4 caption"/>
          <p:cNvSpPr txBox="1"/>
          <p:nvPr/>
        </p:nvSpPr>
        <p:spPr>
          <a:xfrm>
            <a:off x="4750308" y="3035808"/>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4</a:t>
            </a:r>
          </a:p>
        </p:txBody>
      </p:sp>
      <p:sp>
        <p:nvSpPr>
          <p:cNvPr id="27" name="Prompt 4 box"/>
          <p:cNvSpPr/>
          <p:nvPr/>
        </p:nvSpPr>
        <p:spPr>
          <a:xfrm>
            <a:off x="4640580" y="3310128"/>
            <a:ext cx="404622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rompt 4 code"/>
          <p:cNvSpPr txBox="1"/>
          <p:nvPr/>
        </p:nvSpPr>
        <p:spPr>
          <a:xfrm>
            <a:off x="4777740" y="3401568"/>
            <a:ext cx="3771900" cy="68580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4. Fit clicked ~ personal * discount.</a:t>
            </a:r>
          </a:p>
          <a:p>
            <a:pPr algn="l">
              <a:spcAft>
                <a:spcPts val="0"/>
              </a:spcAft>
            </a:pPr>
            <a:r>
              <a:rPr sz="1050" b="0" lang="en-GB">
                <a:solidFill>
                  <a:schemeClr val="bg1"/>
                </a:solidFill>
                <a:latin typeface="Consolas"/>
              </a:rPr>
              <a:t>Explain each coefficient in pp and</a:t>
            </a:r>
          </a:p>
          <a:p>
            <a:pPr algn="l">
              <a:spcAft>
                <a:spcPts val="0"/>
              </a:spcAft>
            </a:pPr>
            <a:r>
              <a:rPr sz="1050" b="0" lang="en-GB">
                <a:solidFill>
                  <a:schemeClr val="bg1"/>
                </a:solidFill>
                <a:latin typeface="Consolas"/>
              </a:rPr>
              <a:t>recommend one e-mail; check the</a:t>
            </a:r>
          </a:p>
          <a:p>
            <a:pPr algn="l">
              <a:spcAft>
                <a:spcPts val="0"/>
              </a:spcAft>
            </a:pPr>
            <a:r>
              <a:rPr sz="1050" b="0" lang="en-GB">
                <a:solidFill>
                  <a:schemeClr val="bg1"/>
                </a:solidFill>
                <a:latin typeface="Consolas"/>
              </a:rPr>
              <a:t>unsubscribes too.</a:t>
            </a:r>
          </a:p>
        </p:txBody>
      </p:sp>
      <p:sp>
        <p:nvSpPr>
          <p:cNvPr id="29" name="Posit check box"/>
          <p:cNvSpPr/>
          <p:nvPr/>
        </p:nvSpPr>
        <p:spPr>
          <a:xfrm>
            <a:off x="457200" y="431596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Posit check" descr=""/>
          <p:cNvPicPr>
            <a:picLocks noChangeAspect="1"/>
          </p:cNvPicPr>
          <p:nvPr/>
        </p:nvPicPr>
        <p:blipFill>
          <a:blip r:embed="rId3"/>
          <a:stretch>
            <a:fillRect/>
          </a:stretch>
        </p:blipFill>
        <p:spPr>
          <a:xfrm>
            <a:off x="658368" y="4361688"/>
            <a:ext cx="365760" cy="365760"/>
          </a:xfrm>
          <a:prstGeom prst="rect">
            <a:avLst/>
          </a:prstGeom>
        </p:spPr>
      </p:pic>
      <p:sp>
        <p:nvSpPr>
          <p:cNvPr id="31" name="Posit check text"/>
          <p:cNvSpPr txBox="1"/>
          <p:nvPr/>
        </p:nvSpPr>
        <p:spPr>
          <a:xfrm>
            <a:off x="1207008" y="4315968"/>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Check every number against your own code: </a:t>
            </a:r>
            <a:r>
              <a:rPr sz="1200" b="0" lang="en-GB">
                <a:solidFill>
                  <a:schemeClr val="bg1"/>
                </a:solidFill>
              </a:rPr>
              <a:t>you own the result.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data for A/B labs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1 tile"/>
          <p:cNvSpPr/>
          <p:nvPr/>
        </p:nvSpPr>
        <p:spPr>
          <a:xfrm>
            <a:off x="457200" y="1234440"/>
            <a:ext cx="2651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ata 1" descr=""/>
          <p:cNvPicPr>
            <a:picLocks noChangeAspect="1"/>
          </p:cNvPicPr>
          <p:nvPr/>
        </p:nvPicPr>
        <p:blipFill>
          <a:blip r:embed="rId3"/>
          <a:stretch>
            <a:fillRect/>
          </a:stretch>
        </p:blipFill>
        <p:spPr>
          <a:xfrm>
            <a:off x="594360" y="1371600"/>
            <a:ext cx="365760" cy="365760"/>
          </a:xfrm>
          <a:prstGeom prst="rect">
            <a:avLst/>
          </a:prstGeom>
        </p:spPr>
      </p:pic>
      <p:sp>
        <p:nvSpPr>
          <p:cNvPr id="12" name="Data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Hillstrom e-mail</a:t>
            </a:r>
          </a:p>
        </p:txBody>
      </p:sp>
      <p:sp>
        <p:nvSpPr>
          <p:cNvPr id="13" name="Data 1 text"/>
          <p:cNvSpPr txBox="1"/>
          <p:nvPr/>
        </p:nvSpPr>
        <p:spPr>
          <a:xfrm>
            <a:off x="594360" y="1856232"/>
            <a:ext cx="2377440" cy="1828800"/>
          </a:xfrm>
          <a:prstGeom prst="rect">
            <a:avLst/>
          </a:prstGeom>
          <a:noFill/>
        </p:spPr>
        <p:txBody>
          <a:bodyPr wrap="square" lIns="0" rIns="0" tIns="0" bIns="0" anchor="t">
            <a:noAutofit/>
          </a:bodyPr>
          <a:lstStyle/>
          <a:p>
            <a:pPr algn="l">
              <a:spcAft>
                <a:spcPts val="400"/>
              </a:spcAft>
            </a:pPr>
            <a:r>
              <a:rPr sz="1200" b="0" lang="en-GB">
                <a:solidFill>
                  <a:schemeClr val="tx1"/>
                </a:solidFill>
              </a:rPr>
              <a:t>64,000 customers of a retailer</a:t>
            </a:r>
          </a:p>
          <a:p>
            <a:pPr algn="l">
              <a:spcAft>
                <a:spcPts val="400"/>
              </a:spcAft>
            </a:pPr>
            <a:r>
              <a:rPr sz="1200" b="1" lang="en-GB">
                <a:solidFill>
                  <a:schemeClr val="tx2"/>
                </a:solidFill>
              </a:rPr>
              <a:t>Design: </a:t>
            </a:r>
            <a:r>
              <a:rPr sz="1200" b="0" lang="en-GB">
                <a:solidFill>
                  <a:schemeClr val="tx1"/>
                </a:solidFill>
              </a:rPr>
              <a:t>3 random groups: men's e-mail, women's e-mail, none</a:t>
            </a:r>
          </a:p>
          <a:p>
            <a:pPr algn="l">
              <a:spcAft>
                <a:spcPts val="400"/>
              </a:spcAft>
            </a:pPr>
            <a:r>
              <a:rPr sz="1200" b="1" lang="en-GB">
                <a:solidFill>
                  <a:schemeClr val="tx2"/>
                </a:solidFill>
              </a:rPr>
              <a:t>Outcome: </a:t>
            </a:r>
            <a:r>
              <a:rPr sz="1200" b="0" lang="en-GB">
                <a:solidFill>
                  <a:schemeClr val="tx1"/>
                </a:solidFill>
              </a:rPr>
              <a:t>visits, purchases, spend</a:t>
            </a:r>
          </a:p>
          <a:p>
            <a:pPr algn="l">
              <a:spcAft>
                <a:spcPts val="400"/>
              </a:spcAft>
            </a:pPr>
            <a:r>
              <a:rPr sz="1200" b="1" lang="en-GB">
                <a:solidFill>
                  <a:schemeClr val="tx2"/>
                </a:solidFill>
              </a:rPr>
              <a:t>Access: </a:t>
            </a:r>
            <a:r>
              <a:rPr sz="1200" b="0" lang="en-GB">
                <a:solidFill>
                  <a:schemeClr val="tx1"/>
                </a:solidFill>
              </a:rPr>
              <a:t>free CSV, no licence stated</a:t>
            </a:r>
          </a:p>
        </p:txBody>
      </p:sp>
      <p:sp>
        <p:nvSpPr>
          <p:cNvPr id="14" name="Data 2 tile"/>
          <p:cNvSpPr/>
          <p:nvPr/>
        </p:nvSpPr>
        <p:spPr>
          <a:xfrm>
            <a:off x="3246120" y="1234440"/>
            <a:ext cx="2651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Data 2" descr=""/>
          <p:cNvPicPr>
            <a:picLocks noChangeAspect="1"/>
          </p:cNvPicPr>
          <p:nvPr/>
        </p:nvPicPr>
        <p:blipFill>
          <a:blip r:embed="rId4"/>
          <a:stretch>
            <a:fillRect/>
          </a:stretch>
        </p:blipFill>
        <p:spPr>
          <a:xfrm>
            <a:off x="3383280" y="1371600"/>
            <a:ext cx="365760" cy="365760"/>
          </a:xfrm>
          <a:prstGeom prst="rect">
            <a:avLst/>
          </a:prstGeom>
        </p:spPr>
      </p:pic>
      <p:sp>
        <p:nvSpPr>
          <p:cNvPr id="16" name="Data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Upworthy</a:t>
            </a:r>
          </a:p>
        </p:txBody>
      </p:sp>
      <p:sp>
        <p:nvSpPr>
          <p:cNvPr id="17" name="Data 2 text"/>
          <p:cNvSpPr txBox="1"/>
          <p:nvPr/>
        </p:nvSpPr>
        <p:spPr>
          <a:xfrm>
            <a:off x="3383280" y="1856232"/>
            <a:ext cx="2377440" cy="1828800"/>
          </a:xfrm>
          <a:prstGeom prst="rect">
            <a:avLst/>
          </a:prstGeom>
          <a:noFill/>
        </p:spPr>
        <p:txBody>
          <a:bodyPr wrap="square" lIns="0" rIns="0" tIns="0" bIns="0" anchor="t">
            <a:noAutofit/>
          </a:bodyPr>
          <a:lstStyle/>
          <a:p>
            <a:pPr algn="l">
              <a:spcAft>
                <a:spcPts val="400"/>
              </a:spcAft>
            </a:pPr>
            <a:r>
              <a:rPr sz="1200" b="0" lang="en-GB">
                <a:solidFill>
                  <a:schemeClr val="tx1"/>
                </a:solidFill>
              </a:rPr>
              <a:t>4,873 headline tests of a news site</a:t>
            </a:r>
          </a:p>
          <a:p>
            <a:pPr algn="l">
              <a:spcAft>
                <a:spcPts val="400"/>
              </a:spcAft>
            </a:pPr>
            <a:r>
              <a:rPr sz="1200" b="1" lang="en-GB">
                <a:solidFill>
                  <a:schemeClr val="tx2"/>
                </a:solidFill>
              </a:rPr>
              <a:t>Design: </a:t>
            </a:r>
            <a:r>
              <a:rPr sz="1200" b="0" lang="en-GB">
                <a:solidFill>
                  <a:schemeClr val="tx1"/>
                </a:solidFill>
              </a:rPr>
              <a:t>random within each test</a:t>
            </a:r>
          </a:p>
          <a:p>
            <a:pPr algn="l">
              <a:spcAft>
                <a:spcPts val="400"/>
              </a:spcAft>
            </a:pPr>
            <a:r>
              <a:rPr sz="1200" b="1" lang="en-GB">
                <a:solidFill>
                  <a:schemeClr val="tx2"/>
                </a:solidFill>
              </a:rPr>
              <a:t>Outcome: </a:t>
            </a:r>
            <a:r>
              <a:rPr sz="1200" b="0" lang="en-GB">
                <a:solidFill>
                  <a:schemeClr val="tx1"/>
                </a:solidFill>
              </a:rPr>
              <a:t>clicks</a:t>
            </a:r>
          </a:p>
          <a:p>
            <a:pPr algn="l">
              <a:spcAft>
                <a:spcPts val="400"/>
              </a:spcAft>
            </a:pPr>
            <a:r>
              <a:rPr sz="1200" b="1" lang="en-GB">
                <a:solidFill>
                  <a:schemeClr val="tx2"/>
                </a:solidFill>
              </a:rPr>
              <a:t>Licence: </a:t>
            </a:r>
            <a:r>
              <a:rPr sz="1200" b="0" lang="en-GB">
                <a:solidFill>
                  <a:schemeClr val="tx1"/>
                </a:solidFill>
              </a:rPr>
              <a:t>CC BY 4.0 (OSF)</a:t>
            </a:r>
          </a:p>
        </p:txBody>
      </p:sp>
      <p:sp>
        <p:nvSpPr>
          <p:cNvPr id="18" name="Data 3 tile"/>
          <p:cNvSpPr/>
          <p:nvPr/>
        </p:nvSpPr>
        <p:spPr>
          <a:xfrm>
            <a:off x="6035040" y="1234440"/>
            <a:ext cx="2651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Data 3" descr=""/>
          <p:cNvPicPr>
            <a:picLocks noChangeAspect="1"/>
          </p:cNvPicPr>
          <p:nvPr/>
        </p:nvPicPr>
        <p:blipFill>
          <a:blip r:embed="rId5"/>
          <a:stretch>
            <a:fillRect/>
          </a:stretch>
        </p:blipFill>
        <p:spPr>
          <a:xfrm>
            <a:off x="6172200" y="1371600"/>
            <a:ext cx="365760" cy="365760"/>
          </a:xfrm>
          <a:prstGeom prst="rect">
            <a:avLst/>
          </a:prstGeom>
        </p:spPr>
      </p:pic>
      <p:sp>
        <p:nvSpPr>
          <p:cNvPr id="20" name="Data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Criteo uplift</a:t>
            </a:r>
          </a:p>
        </p:txBody>
      </p:sp>
      <p:sp>
        <p:nvSpPr>
          <p:cNvPr id="21" name="Data 3 text"/>
          <p:cNvSpPr txBox="1"/>
          <p:nvPr/>
        </p:nvSpPr>
        <p:spPr>
          <a:xfrm>
            <a:off x="6172200" y="1856232"/>
            <a:ext cx="2377440" cy="1828800"/>
          </a:xfrm>
          <a:prstGeom prst="rect">
            <a:avLst/>
          </a:prstGeom>
          <a:noFill/>
        </p:spPr>
        <p:txBody>
          <a:bodyPr wrap="square" lIns="0" rIns="0" tIns="0" bIns="0" anchor="t">
            <a:noAutofit/>
          </a:bodyPr>
          <a:lstStyle/>
          <a:p>
            <a:pPr algn="l">
              <a:spcAft>
                <a:spcPts val="400"/>
              </a:spcAft>
            </a:pPr>
            <a:r>
              <a:rPr sz="1200" b="0" lang="en-GB">
                <a:solidFill>
                  <a:schemeClr val="tx1"/>
                </a:solidFill>
              </a:rPr>
              <a:t>14 million rows, version 2.1</a:t>
            </a:r>
          </a:p>
          <a:p>
            <a:pPr algn="l">
              <a:spcAft>
                <a:spcPts val="400"/>
              </a:spcAft>
            </a:pPr>
            <a:r>
              <a:rPr sz="1200" b="1" lang="en-GB">
                <a:solidFill>
                  <a:schemeClr val="tx2"/>
                </a:solidFill>
              </a:rPr>
              <a:t>Design: </a:t>
            </a:r>
            <a:r>
              <a:rPr sz="1200" b="0" lang="en-GB">
                <a:solidFill>
                  <a:schemeClr val="tx1"/>
                </a:solidFill>
              </a:rPr>
              <a:t>random treatment</a:t>
            </a:r>
          </a:p>
          <a:p>
            <a:pPr algn="l">
              <a:spcAft>
                <a:spcPts val="400"/>
              </a:spcAft>
            </a:pPr>
            <a:r>
              <a:rPr sz="1200" b="1" lang="en-GB">
                <a:solidFill>
                  <a:schemeClr val="tx2"/>
                </a:solidFill>
              </a:rPr>
              <a:t>Channel: </a:t>
            </a:r>
            <a:r>
              <a:rPr sz="1200" b="0" lang="en-GB">
                <a:solidFill>
                  <a:schemeClr val="tx1"/>
                </a:solidFill>
              </a:rPr>
              <a:t>online ads</a:t>
            </a:r>
          </a:p>
          <a:p>
            <a:pPr algn="l">
              <a:spcAft>
                <a:spcPts val="400"/>
              </a:spcAft>
            </a:pPr>
            <a:r>
              <a:rPr sz="1200" b="1" lang="en-GB">
                <a:solidFill>
                  <a:schemeClr val="tx2"/>
                </a:solidFill>
              </a:rPr>
              <a:t>Licence: </a:t>
            </a:r>
            <a:r>
              <a:rPr sz="1200" b="0" lang="en-GB">
                <a:solidFill>
                  <a:schemeClr val="tx1"/>
                </a:solidFill>
              </a:rPr>
              <a:t>CC BY-NC-SA</a:t>
            </a:r>
          </a:p>
        </p:txBody>
      </p:sp>
      <p:sp>
        <p:nvSpPr>
          <p:cNvPr id="22" name="Data licence box"/>
          <p:cNvSpPr/>
          <p:nvPr/>
        </p:nvSpPr>
        <p:spPr>
          <a:xfrm>
            <a:off x="457200" y="38862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ata licence text"/>
          <p:cNvSpPr txBox="1"/>
          <p:nvPr/>
        </p:nvSpPr>
        <p:spPr>
          <a:xfrm>
            <a:off x="658368" y="388620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The licence decides: </a:t>
            </a:r>
            <a:r>
              <a:rPr sz="1200" b="0" lang="en-GB">
                <a:solidFill>
                  <a:schemeClr val="bg1"/>
                </a:solidFill>
              </a:rPr>
              <a:t>commit only data you may share; link the rest.</a:t>
            </a:r>
          </a:p>
        </p:txBody>
      </p:sp>
      <p:sp>
        <p:nvSpPr>
          <p:cNvPr id="24" name="Data guide"/>
          <p:cNvSpPr txBox="1"/>
          <p:nvPr/>
        </p:nvSpPr>
        <p:spPr>
          <a:xfrm>
            <a:off x="457200" y="443484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Links and loading code: </a:t>
            </a:r>
            <a:r>
              <a:rPr sz="1200" b="0" lang="en-GB">
                <a:solidFill>
                  <a:schemeClr val="tx2"/>
                </a:solidFill>
                <a:latin typeface="Consolas"/>
              </a:rPr>
              <a:t>ab_testing.qmd</a:t>
            </a:r>
            <a:r>
              <a:rPr sz="1200" b="0" lang="en-GB">
                <a:solidFill>
                  <a:schemeClr val="tx1"/>
                </a:solidFill>
              </a:rPr>
              <a:t> (appendix)</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dataset checks, Oct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Seeing is not causing: </a:t>
            </a:r>
            <a:r>
              <a:rPr sz="1250" b="0" lang="en-GB">
                <a:solidFill>
                  <a:schemeClr val="tx1"/>
                </a:solidFill>
              </a:rPr>
              <a:t>compare random groups, not those who got it with the rest</a:t>
            </a:r>
          </a:p>
        </p:txBody>
      </p:sp>
      <p:sp>
        <p:nvSpPr>
          <p:cNvPr id="13" name="Takeaway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A coin flip makes A and B alike: </a:t>
            </a:r>
            <a:r>
              <a:rPr sz="1250" b="0" lang="en-GB">
                <a:solidFill>
                  <a:schemeClr val="tx1"/>
                </a:solidFill>
              </a:rPr>
              <a:t>B − A is the effect; report it in pp with its CI</a:t>
            </a:r>
          </a:p>
        </p:txBody>
      </p:sp>
      <p:sp>
        <p:nvSpPr>
          <p:cNvPr id="16" name="Takeaway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Plan and check: </a:t>
            </a:r>
            <a:r>
              <a:rPr sz="1250" b="0" lang="en-GB">
                <a:solidFill>
                  <a:schemeClr val="tx1"/>
                </a:solidFill>
              </a:rPr>
              <a:t>the sample size before the send, the split before the result</a:t>
            </a:r>
          </a:p>
        </p:txBody>
      </p:sp>
      <p:sp>
        <p:nvSpPr>
          <p:cNvPr id="19" name="Takeaway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Factorial designs test two changes at once: </a:t>
            </a:r>
            <a:r>
              <a:rPr sz="1250" b="0" lang="en-GB">
                <a:solidFill>
                  <a:schemeClr val="tx1"/>
                </a:solidFill>
              </a:rPr>
              <a:t>with an interaction, report the simple effects</a:t>
            </a:r>
          </a:p>
        </p:txBody>
      </p:sp>
      <p:sp>
        <p:nvSpPr>
          <p:cNvPr id="22" name="Takeaway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Read interactions in pp, test moderators: </a:t>
            </a:r>
            <a:r>
              <a:rPr sz="1250" b="0" lang="en-GB">
                <a:solidFill>
                  <a:schemeClr val="tx1"/>
                </a:solidFill>
              </a:rPr>
              <a:t>“significant here, not there” is not a difference</a:t>
            </a:r>
          </a:p>
        </p:txBody>
      </p:sp>
      <p:sp>
        <p:nvSpPr>
          <p:cNvPr id="25" name="Takeaway next box"/>
          <p:cNvSpPr/>
          <p:nvPr/>
        </p:nvSpPr>
        <p:spPr>
          <a:xfrm>
            <a:off x="457200" y="42519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keaway next text"/>
          <p:cNvSpPr txBox="1"/>
          <p:nvPr/>
        </p:nvSpPr>
        <p:spPr>
          <a:xfrm>
            <a:off x="658368" y="425196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Next: </a:t>
            </a:r>
            <a:r>
              <a:rPr sz="1250" b="0" lang="en-GB">
                <a:solidFill>
                  <a:schemeClr val="bg1"/>
                </a:solidFill>
              </a:rPr>
              <a:t>run sessions/01-foundations/ab_testing.qmd (or ab_testing.py); it reproduces the results on the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Experiments and methods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2697480"/>
          </a:xfrm>
          <a:prstGeom prst="rect">
            <a:avLst/>
          </a:prstGeom>
          <a:noFill/>
        </p:spPr>
        <p:txBody>
          <a:bodyPr wrap="square" lIns="0" rIns="0" tIns="0" bIns="0" anchor="t">
            <a:noAutofit/>
          </a:bodyPr>
          <a:lstStyle/>
          <a:p>
            <a:pPr algn="l">
              <a:spcAft>
                <a:spcPts val="500"/>
              </a:spcAft>
            </a:pPr>
            <a:r>
              <a:rPr sz="1100" b="1" lang="en-GB">
                <a:solidFill>
                  <a:schemeClr val="tx2"/>
                </a:solidFill>
              </a:rPr>
              <a:t>Kohavi, Tang &amp; Xu (2020). </a:t>
            </a:r>
            <a:r>
              <a:rPr sz="1100" b="0" lang="en-GB">
                <a:solidFill>
                  <a:schemeClr val="tx1"/>
                </a:solidFill>
              </a:rPr>
              <a:t>Trustworthy Online Controlled Experiments. Cambridge University Press.</a:t>
            </a:r>
          </a:p>
          <a:p>
            <a:pPr algn="l">
              <a:spcAft>
                <a:spcPts val="500"/>
              </a:spcAft>
            </a:pPr>
            <a:r>
              <a:rPr sz="1100" b="1" lang="en-GB">
                <a:solidFill>
                  <a:schemeClr val="tx2"/>
                </a:solidFill>
              </a:rPr>
              <a:t>Gerber &amp; Green (2012). </a:t>
            </a:r>
            <a:r>
              <a:rPr sz="1100" b="0" lang="en-GB">
                <a:solidFill>
                  <a:schemeClr val="tx1"/>
                </a:solidFill>
              </a:rPr>
              <a:t>Field Experiments. Norton.</a:t>
            </a:r>
          </a:p>
          <a:p>
            <a:pPr algn="l">
              <a:spcAft>
                <a:spcPts val="500"/>
              </a:spcAft>
            </a:pPr>
            <a:r>
              <a:rPr sz="1100" b="1" lang="en-GB">
                <a:solidFill>
                  <a:schemeClr val="tx2"/>
                </a:solidFill>
              </a:rPr>
              <a:t>Shadish, Cook &amp; Campbell (2002). </a:t>
            </a:r>
            <a:r>
              <a:rPr sz="1100" b="0" lang="en-GB">
                <a:solidFill>
                  <a:schemeClr val="tx1"/>
                </a:solidFill>
              </a:rPr>
              <a:t>Experimental and Quasi-Experimental Designs for Generalized Causal Inference. Houghton Mifflin.</a:t>
            </a:r>
          </a:p>
          <a:p>
            <a:pPr algn="l">
              <a:spcAft>
                <a:spcPts val="500"/>
              </a:spcAft>
            </a:pPr>
            <a:r>
              <a:rPr sz="1100" b="1" lang="en-GB">
                <a:solidFill>
                  <a:schemeClr val="tx2"/>
                </a:solidFill>
              </a:rPr>
              <a:t>Ai &amp; Norton (2003). </a:t>
            </a:r>
            <a:r>
              <a:rPr sz="1100" b="0" lang="en-GB">
                <a:solidFill>
                  <a:schemeClr val="tx1"/>
                </a:solidFill>
              </a:rPr>
              <a:t>Interaction terms in logit and probit models. Economics Letters, 80(1), 123–129.</a:t>
            </a:r>
          </a:p>
          <a:p>
            <a:pPr algn="l">
              <a:spcAft>
                <a:spcPts val="500"/>
              </a:spcAft>
            </a:pPr>
            <a:r>
              <a:rPr sz="1100" b="1" lang="en-GB">
                <a:solidFill>
                  <a:schemeClr val="tx2"/>
                </a:solidFill>
              </a:rPr>
              <a:t>Collins, Dziak &amp; Li (2009). </a:t>
            </a:r>
            <a:r>
              <a:rPr sz="1100" b="0" lang="en-GB">
                <a:solidFill>
                  <a:schemeClr val="tx1"/>
                </a:solidFill>
              </a:rPr>
              <a:t>Design of experiments with multiple independent variables. Psychological Methods, 14(3), 202–224.</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Advertising and e-mail</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2697480"/>
          </a:xfrm>
          <a:prstGeom prst="rect">
            <a:avLst/>
          </a:prstGeom>
          <a:noFill/>
        </p:spPr>
        <p:txBody>
          <a:bodyPr wrap="square" lIns="0" rIns="0" tIns="0" bIns="0" anchor="t">
            <a:noAutofit/>
          </a:bodyPr>
          <a:lstStyle/>
          <a:p>
            <a:pPr algn="l">
              <a:spcAft>
                <a:spcPts val="500"/>
              </a:spcAft>
            </a:pPr>
            <a:r>
              <a:rPr sz="1100" b="1" lang="en-GB">
                <a:solidFill>
                  <a:schemeClr val="tx2"/>
                </a:solidFill>
              </a:rPr>
              <a:t>Gordon, Zettelmeyer, Bhargava &amp; Chapsky (2019). </a:t>
            </a:r>
            <a:r>
              <a:rPr sz="1100" b="0" lang="en-GB">
                <a:solidFill>
                  <a:schemeClr val="tx1"/>
                </a:solidFill>
              </a:rPr>
              <a:t>Marketing Science, 38(2).</a:t>
            </a:r>
          </a:p>
          <a:p>
            <a:pPr algn="l">
              <a:spcAft>
                <a:spcPts val="500"/>
              </a:spcAft>
            </a:pPr>
            <a:r>
              <a:rPr sz="1100" b="1" lang="en-GB">
                <a:solidFill>
                  <a:schemeClr val="tx2"/>
                </a:solidFill>
              </a:rPr>
              <a:t>Lewis, Rao &amp; Reiley (2011). </a:t>
            </a:r>
            <a:r>
              <a:rPr sz="1100" b="0" lang="en-GB">
                <a:solidFill>
                  <a:schemeClr val="tx1"/>
                </a:solidFill>
              </a:rPr>
              <a:t>WWW Conference.</a:t>
            </a:r>
          </a:p>
          <a:p>
            <a:pPr algn="l">
              <a:spcAft>
                <a:spcPts val="500"/>
              </a:spcAft>
            </a:pPr>
            <a:r>
              <a:rPr sz="1100" b="1" lang="en-GB">
                <a:solidFill>
                  <a:schemeClr val="tx2"/>
                </a:solidFill>
              </a:rPr>
              <a:t>Blake, Nosko &amp; Tadelis (2015). </a:t>
            </a:r>
            <a:r>
              <a:rPr sz="1100" b="0" lang="en-GB">
                <a:solidFill>
                  <a:schemeClr val="tx1"/>
                </a:solidFill>
              </a:rPr>
              <a:t>Econometrica.</a:t>
            </a:r>
          </a:p>
          <a:p>
            <a:pPr algn="l">
              <a:spcAft>
                <a:spcPts val="500"/>
              </a:spcAft>
            </a:pPr>
            <a:r>
              <a:rPr sz="1100" b="1" lang="en-GB">
                <a:solidFill>
                  <a:schemeClr val="tx2"/>
                </a:solidFill>
              </a:rPr>
              <a:t>Sahni, Wheeler &amp; Chintagunta (2018). </a:t>
            </a:r>
            <a:r>
              <a:rPr sz="1100" b="0" lang="en-GB">
                <a:solidFill>
                  <a:schemeClr val="tx1"/>
                </a:solidFill>
              </a:rPr>
              <a:t>Marketing Science, 37(2).</a:t>
            </a:r>
          </a:p>
          <a:p>
            <a:pPr algn="l">
              <a:spcAft>
                <a:spcPts val="500"/>
              </a:spcAft>
            </a:pPr>
            <a:r>
              <a:rPr sz="1100" b="1" lang="en-GB">
                <a:solidFill>
                  <a:schemeClr val="tx2"/>
                </a:solidFill>
              </a:rPr>
              <a:t>Braun &amp; Schwartz (2025). </a:t>
            </a:r>
            <a:r>
              <a:rPr sz="1100" b="0" lang="en-GB">
                <a:solidFill>
                  <a:schemeClr val="tx1"/>
                </a:solidFill>
              </a:rPr>
              <a:t>Where A/B testing goes wrong. Journal of Marketing.</a:t>
            </a:r>
          </a:p>
        </p:txBody>
      </p:sp>
      <p:sp>
        <p:nvSpPr>
          <p:cNvPr id="20" name="Ref file"/>
          <p:cNvSpPr txBox="1"/>
          <p:nvPr/>
        </p:nvSpPr>
        <p:spPr>
          <a:xfrm>
            <a:off x="457200" y="4590288"/>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Code and data: </a:t>
            </a:r>
            <a:r>
              <a:rPr sz="1200" b="0" lang="en-GB">
                <a:solidFill>
                  <a:schemeClr val="tx2"/>
                </a:solidFill>
                <a:latin typeface="Consolas"/>
              </a:rPr>
              <a:t>sessions/01-foundations/ab_testing.qmd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
        <p:nvSpPr>
          <p:cNvPr id="11" name="Closing title"/>
          <p:cNvSpPr>
            <a:spLocks noGrp="1"/>
          </p:cNvSpPr>
          <p:nvPr>
            <p:ph type="title" idx="4294967295"/>
          </p:nvPr>
        </p:nvSpPr>
        <p:spPr>
          <a:xfrm>
            <a:off x="462407" y="301626"/>
            <a:ext cx="6990906" cy="496799"/>
          </a:xfrm>
        </p:spPr>
        <p:txBody>
          <a:bodyPr/>
          <a:lstStyle/>
          <a:p>
            <a:r>
              <a:rPr lang="en-GB">
                <a:solidFill>
                  <a:schemeClr val="tx2"/>
                </a:solidFill>
              </a:rPr>
              <a:t>Thank you. Questions and discussion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