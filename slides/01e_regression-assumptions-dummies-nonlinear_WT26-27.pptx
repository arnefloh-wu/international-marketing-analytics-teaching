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3" r:id="rId50"/>
    <p:sldId id="295" r:id="rId52"/>
    <p:sldId id="296" r:id="rId53"/>
    <p:sldId id="297" r:id="rId54"/>
    <p:sldId id="298" r:id="rId55"/>
    <p:sldId id="300" r:id="rId57"/>
    <p:sldId id="301" r:id="rId58"/>
    <p:sldId id="302" r:id="rId59"/>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50" Type="http://schemas.openxmlformats.org/officeDocument/2006/relationships/slide" Target="slides/slide38.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regression deck. Deck 01b fitted the first models on the chocolate data; this deck asks whether we may trust them (assumptions and tests), how to put categories into a regression (dummy coding), how to read logs, and what to do when the relationship is not a straight line. Same data throughout: 68 weeks of real scanner data for brand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topics, then the same analyses in Python with the packages, then the in-class exercise with online quiz 3 and Posit Assistant. The homework, coding exercise 2, uses a personal version of the chocolate data for every student.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models on the same 68 weeks carry the whole deck. The linear model explains sales in units; the log-log model explains log sales and gives elasticities. Both fit well by R-squared (0.90), but R-squared of a model for sales and one for log sales cannot be compared. Today's question: which of the two may we trust? The answer comes from the residuals.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assumption gets the same three steps: a plot to look at, a test with a p-value, and a fix in statsmodels. Skiera et al. (2022) recommend checking at least multicollinearity, autocorrelation and heteroscedasticity in every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Linearity and exogeneity protect the coefficients themselves; constant variance, independence and normality protect the standard errors and so the t- and F-tests. Multicollinearity and influential weeks make results unstable. Exogeneity (no omitted variables, marketing not following demand) was covered in deck 01b and cannot be tested; it needs design. Autocorrelation matters for weekly data; we treat it in theory today and return to it in Session 4 (time series).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test here has the same logic: the null hypothesis says the assumption holds (constant variance, normal residuals, correct form). A small p-value (below 0.05) is evidence against it, so a small p means a problem. A large p does not prove the assumption, it only finds no evidence against it. Tests depend on the sample size: with 68 weeks small problems may go unnoticed, with 10,000 rows tiny ones become significant. That is why we always look at the plot as well.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Residuals against fitted values for the linear model. The residuals are positive for small and large fitted values and negative in between: a U-shape. The straight line underestimates the normal weeks and the deep price cuts. Ramsey's RESET test adds the squared fitted values to the model; if they help, the form is wrong: p &lt; 0.001. The log-log model shows no curve, RESET p = 0.32.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linear residual plot: the spread is about ±30 units in normal weeks and ±100 in price-cut weeks. This is heteroscedasticity. The coefficients stay unbiased, but the usual standard errors are wrong, and so are t-values and p-values. Breusch-Pagan regresses the squared residuals on the explanatory variables: p &lt; 0.001. Two fixes: model in logs (the spread is in per cent, not in units; Breusch-Pagan p = 0.68), or keep the model and report robust HC3 standard errors: the price coefficient's se rises from 44 to 110.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Q-Q plot sorts the standardised residuals and plots them against the values a normal distribution would give. On the line means normal. The linear model's residuals bend away at both ends: heavy tails, from the price-cut weeks. Jarque-Bera p &lt; 0.001, Shapiro-Wilk p = 0.001. The log-log residuals follow the line: both p = 0.50. Normality matters least of all assumptions: with enough weeks the t-tests still work (central limit theorem); with 68 weeks and heavy tails it is still worth fixing.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weekly data a good week is often followed by another good week: the errors are autocorrelated. Coefficients stay unbiased, but the usual standard errors are too small, so effects look more certain than they are. Durbin-Watson lies between 0 and 4; about 2 means no first-order autocorrelation. The log-log model gives 1.13: positive autocorrelation. Newey-West (HAC) standard errors correct for it: 0.31 instead of 0.27 for own price. Session 4 (time series) models it properly with lags. Not part of today's exercise or the homework.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variance inflation factor shows how much the variance of a coefficient grows because the variable is explained by the others: VIF = 1 / (1 - R² of that variable on all the others). Rules of thumb: above 5 a warning, above 10 a problem. In the log-log model the largest VIF is 2.4 (feature1). Add fand1, the share of stores with feature and display together, and display1 and fand1 jump to 7.6 and 7.8: brand 1 ran displays in only three weeks, mostly together with features. Fixes: drop or combine variables; better data come from varying instruments independently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Cook's distance measures how much all fitted values move when one week is left out. A common flag is 4/n, here 0.059: nine weeks lie above it, mostly price-cut and display weeks. The largest is week 42 (0.17): a display in 70 % of stores and a feature in 42 % at a normal price. Without week 42 the elasticity barely moves (-3.76 instead of -3.68), but the display effect drops from 0.61 to 0.45. Never delete a week silently: check the data, then report with and without.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tests for both models. The linear model fails linearity, constant variance and normality; the log-log model passes all three. The reason is the same for all three: sales respond in per cent. A price cut multiplies sales, so errors grow with the level of sales; logs turn multiplication into addition. Multicollinearity is fine in both. Autocorrelation remains (Durbin-Watson below 2); report HAC errors or wait for Session 4. Decision: report the log-log model.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needs numbers. Dummies turn yes/no and categories into 0/1 columns; each coefficient is a difference to a reference group.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december is 1 in the two Christmas weeks and 0 otherwise. Its coefficient is the difference between December weeks and all other weeks, holding price constant. In the linear model: 25 units fewer, not significant (p = 0.32), because the funnel inflates the errors. In the log-log model: b = -0.319, so exp(-0.319) - 1 = -27 % in December weeks, p = 0.02. The same dummy, read in units or in per cent. For small b, 100 x b is close to the per cent; for -0.32 the exact formula matters.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Temperature in three bands: cold (below 5 °C, 19 weeks), mild (5 to 14 °C, 31 weeks), warm (15 °C and above, 18 weeks). Three groups need two dummies; the third group, the reference, is the row of zeros. Each coefficient is the difference to the reference. With mild as reference: cold +0.4 %, warm -7.1 %, neither significant (p = 0.94 and 0.18; F-test of both together p = 0.33): once price and December are in the model, the season adds little. The box plot shows the same: similar medians.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an intercept, a dummy for every group adds up to the intercept column: perfect collinearity, and OLS cannot be computed (the dummy variable trap). So always leave one group out. statsmodels does it for you: C(season) uses the first group in the alphabet (cold) as reference; Treatment('mild') picks another. The choice changes what the coefficients mean, not the fit: R-squared is 0.900 either way. Choose the reference that answers the question, usually the normal case.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Easter week: a dummy that is 1 in a single week fits that week exactly (leverage 1.00); its coefficient is just that week's residual, not an Easter effect. Two December weeks are barely more. Display: three weeks only, so the large coefficient (0.61) rests on three observations, and one of them (week 42) moves it to 0.45. Finally, a dummy shifts the level only; if the price effect differs in December, you need an interaction (price x december), with even fewer weeks behind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Logs are the most important transformation in marketing response models: they turn a multiplicative sales response into a linear regression.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multiplicative sales response function (Skiera et al. 2022; Hanssens et al. 2001): sales = a x price^b x e^(c x december) x error. Take logs and it becomes linear: ln sales = ln a + b ln price + c december + ln error. Three benefits: the coefficient b is an elasticity, comparable across brands and countries; effects are in per cent, so a price cut multiplies sales whether they are 50 or 500 units; and errors in per cent are roughly constant, which fixed the funnel in Part 1. Limit: no log of zero or negative values, so shares such as feature1 (zero in 22 weeks) and dummies stay in levels.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 price of brand 1 in four forms, one regressor each. Linear: 10 cents more, 67 units fewer. Log-log: 1 % more, 3.9 % fewer (elasticity). Log-linear: 10 cents more, exp(-3.10 x 0.1) - 1 = -27 %. Linear-log: 1 % more, 853 / 100 = 8.5 units fewer. Only the two models with log sales pass RESET and Breusch-Pagan. Between them: the log-log gives the elasticity, which the pricing formula needs.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R-squared measures explained variation of the outcome. Sales and log sales are different outcomes, so 0.896 and 0.903, or 0.884 and 0.835 for the one-regressor models, cannot be compared. The same holds for AIC. Compare instead what both models share: the residual plots and assumption tests, the plausibility of the coefficients, and predictions on the original scale. To predict sales from a log model, take exp of the fitted value; this gives roughly the median, slightly below the mean.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 regression means linear in the coefficients, not in the variables: squares and logs of a variable are allowed.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effects are rarely straight lines: each extra euro of price cut sells less than the one before at some point, advertising saturates, temperature can have an optimum. OLS can fit all of these as long as the model is linear in the coefficients: add x squared, take logs, or use dummies for ranges (piecewise). Session 2 adds the saturation curves of the marketing mix model.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 against own price with three fitted curves. The straight line overshoots in the middle and undershoots at both ends. The quadratic bends (R-squared 0.900 instead of 0.884). The log-log curve bends most at low prices: a constant elasticity means each 1 % price cut sells the same per cent more, so in units the effect is largest when sales are already high. The data between 1.10 and 1.35 are thin: only a few weeks decide the shape there.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 = 2,533 - 2,952 price1 + 886 price1². With a square, the slope is no longer one number: it is b1 + 2 b2 x price. At 1.00 EUR, 10 cents more cost 118 units; at 1.25, 74; at 1.50, 29. The turning point is -b1 / (2 b2) = 1.67 EUR: beyond it the curve would rise again, so sales would grow with price. It lies outside the data (prices 1.02 to 1.55): never read the curve beyond the data. RESET still fails and the funnel remains, so the quadratic fixes the form only partly.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practical order. Theory first: does the effect plausibly saturate, have an optimum, act in per cent? Then the residual plot and RESET. Compare candidate models with the same outcome by adjusted R-squared or AIC (lower is better); for different outcomes, use the tests and predictions instead. Finally, plausibility within the data range. Here: temperature squared adds nothing in the full log-log model (p = 0.14), so temperature stays linear.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Positron. The code on the next slides is complete; it is also in sessions/01-foundations/regression_assumptions.qmd: open it and run it cell by cell. Packages first, then the in-class exercise, then Posit Assistant.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in the packages installed in Session 1: statsmodels brings the tests, scipy the Shapiro-Wilk test, polars builds the dummies, plotnine draws the residual and Q-Q plots. No new installation needed.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set-up as in deck 01b: polars reads the data, .to_pandas() hands it to statsmodels. Two formulas, two fitted models. Keep both: every step after this uses lin and ll.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plots per model. The residual plot puts fitted values and residuals into the data frame and uses the plotnine grammar of deck 01b. The Q-Q plot uses geom_qq with geom_qq_line; standardise the residuals first, so the line has slope 1. Run both for lin and for ll and compare.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test returns a tuple; [1] picks the p-value (het_breuschpagan returns LM, p, F, F p). linear_reset returns a test result with .pvalue. VIF needs the design matrix model.model.exog and skips column 0, the intercept. The loop prints the scorecard of Part 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polars builds the category with when/then/otherwise, the same logic as an if-else. statsmodels turns C(season) into k - 1 dummies; Treatment('mild') sets the reference. pl.Series.to_dummies() shows the 0/1 columns if you want to see them; do not put all three into a model with an intercept (the dummy trap). exp(b) - 1 turns each log coefficient into per cent.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protects the arithmetic inside a formula: I(price1**2) is price1 squared. The turning point follows from the two coefficients. Compare it with the price range from polars. For the log-log curve on the sales scale, take exp of the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four steps as before: online quiz 3, a coding exercise on the chocolate data with the packages, the answers in the plenary, then the same tasks with Posit Assistant.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Online quiz on Canvas: three minutes alone, then compare with your neighbour.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on the tasks; we discuss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routine of the earlier exercises. Posit Assistant sees the attached file and, once Python runs, the data frames and models. Ask it to explain the tests, not only to run them: 'what does Breusch-Pagan p &lt; 0.001 mean here?' Check the direction: in an assumption test a small p is bad news. Typical slips: Shapiro-Wilk on sales instead of the residuals, all three season dummies plus the intercept, 100 x b instead of exp(b) - 1, a turning point read outside the data.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example prompts: each names the file or task, the packages and the output, and asks for an explanation. Watch for the slips listed at the bottom; if a step is wrong, say so in the same chat and ask again.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data, anonymised: one fashion brand on a large online fashion platform, sales by article type and country for the Spring/Summer 2025 and 2026 collections, 403 rows. Volumes and money are rescaled, shares and conversion are original. Each row adds up a whole season, so the data are cross-sectional: good for log-log models and country dummies, not for a marketing mix model (no weeks, no media spend). DE, CH and AT make 71 % of NMV in SS26. Switzerland is new in SS26 and converts best at once; Italy and Sweden convert worst. The brand manager's questions: where do page views turn into sales, and should we invest in Switzerland?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routine: pairs with the packages (20 minutes), plenary, then Posit Assistant. The file has the data table, five tasks and a Posit Assistant section with example prompts. Watch for: np.log of zero sales (filter them), the alphabetical reference country (AT) instead of Treatment('DE'), unweighted means of return rates, and the price coefficient read as a price elasticity.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students remember one thing: look at the residuals before you trust a regression; for sales data the log-log model usually fixes the form, the funnel and the tails at once.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readings first. Wooldridge covers every test in more depth; ISLP chapter 3 has a Python lab on residual plots and non-linear terms.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1.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4.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4.png"/><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1.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Assumptions, dummies, logs and curves</a:t>
            </a:r>
          </a:p>
        </p:txBody>
      </p:sp>
      <p:sp>
        <p:nvSpPr>
          <p:cNvPr id="4" name="Text Placeholder 3"/>
          <p:cNvSpPr>
            <a:spLocks noGrp="1"/>
          </p:cNvSpPr>
          <p:nvPr>
            <p:ph type="body" idx="12" sz="quarter"/>
          </p:nvPr>
        </p:nvSpPr>
        <p:spPr/>
        <p:txBody>
          <a:bodyPr/>
          <a:lstStyle/>
          <a:p>
            <a:r>
              <a:rPr lang="en-GB"/>
              <a:t>Deck 01e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Assump-</a:t>
            </a:r>
            <a:br/>
            <a:r>
              <a:rPr sz="1100" b="1" lang="en-GB">
                <a:solidFill>
                  <a:schemeClr val="tx2"/>
                </a:solidFill>
              </a:rPr>
              <a:t>tions</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Dummy</a:t>
            </a:r>
            <a:br/>
            <a:r>
              <a:rPr sz="1100" b="1" lang="en-GB">
                <a:solidFill>
                  <a:schemeClr val="tx2"/>
                </a:solidFill>
              </a:rPr>
              <a:t>coding</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Log-log</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Non-</a:t>
            </a:r>
            <a:br/>
            <a:r>
              <a:rPr sz="1100" b="1" lang="en-GB">
                <a:solidFill>
                  <a:schemeClr val="tx2"/>
                </a:solidFill>
              </a:rPr>
              <a:t>linear</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Python</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In class</a:t>
            </a:r>
          </a:p>
        </p:txBody>
      </p:sp>
      <p:sp>
        <p:nvSpPr>
          <p:cNvPr id="16" name="Theory card body"/>
          <p:cNvSpPr/>
          <p:nvPr/>
        </p:nvSpPr>
        <p:spPr>
          <a:xfrm>
            <a:off x="45720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heory card header"/>
          <p:cNvSpPr/>
          <p:nvPr/>
        </p:nvSpPr>
        <p:spPr>
          <a:xfrm>
            <a:off x="45720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heory card heading"/>
          <p:cNvSpPr txBox="1"/>
          <p:nvPr/>
        </p:nvSpPr>
        <p:spPr>
          <a:xfrm>
            <a:off x="59436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Theory, Parts 1 to 4</a:t>
            </a:r>
          </a:p>
        </p:txBody>
      </p:sp>
      <p:pic>
        <p:nvPicPr>
          <p:cNvPr id="19" name="Icon Theory card" descr=""/>
          <p:cNvPicPr>
            <a:picLocks noChangeAspect="1"/>
          </p:cNvPicPr>
          <p:nvPr/>
        </p:nvPicPr>
        <p:blipFill>
          <a:blip r:embed="rId3"/>
          <a:stretch>
            <a:fillRect/>
          </a:stretch>
        </p:blipFill>
        <p:spPr>
          <a:xfrm>
            <a:off x="4064508" y="1970532"/>
            <a:ext cx="310896" cy="310896"/>
          </a:xfrm>
          <a:prstGeom prst="rect">
            <a:avLst/>
          </a:prstGeom>
        </p:spPr>
      </p:pic>
      <p:sp>
        <p:nvSpPr>
          <p:cNvPr id="20" name="Theory card text"/>
          <p:cNvSpPr txBox="1"/>
          <p:nvPr/>
        </p:nvSpPr>
        <p:spPr>
          <a:xfrm>
            <a:off x="62179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Six assumptions: look, test, fix</a:t>
            </a:r>
          </a:p>
          <a:p>
            <a:pPr algn="l" marL="182880" indent="-182880">
              <a:spcAft>
                <a:spcPts val="600"/>
              </a:spcAft>
              <a:buClr>
                <a:schemeClr val="accent1"/>
              </a:buClr>
              <a:buFont typeface="Arial"/>
              <a:buChar char="▪"/>
            </a:pPr>
            <a:r>
              <a:rPr sz="1300" b="0" lang="en-GB">
                <a:solidFill>
                  <a:schemeClr val="tx1"/>
                </a:solidFill>
              </a:rPr>
              <a:t>Dummies for categories, the reference group</a:t>
            </a:r>
          </a:p>
          <a:p>
            <a:pPr algn="l" marL="182880" indent="-182880">
              <a:spcAft>
                <a:spcPts val="600"/>
              </a:spcAft>
              <a:buClr>
                <a:schemeClr val="accent1"/>
              </a:buClr>
              <a:buFont typeface="Arial"/>
              <a:buChar char="▪"/>
            </a:pPr>
            <a:r>
              <a:rPr sz="1300" b="0" lang="en-GB">
                <a:solidFill>
                  <a:schemeClr val="tx1"/>
                </a:solidFill>
              </a:rPr>
              <a:t>Log-log and the other log forms</a:t>
            </a:r>
          </a:p>
          <a:p>
            <a:pPr algn="l" marL="182880" indent="-182880">
              <a:spcAft>
                <a:spcPts val="600"/>
              </a:spcAft>
              <a:buClr>
                <a:schemeClr val="accent1"/>
              </a:buClr>
              <a:buFont typeface="Arial"/>
              <a:buChar char="▪"/>
            </a:pPr>
            <a:r>
              <a:rPr sz="1300" b="0" lang="en-GB">
                <a:solidFill>
                  <a:schemeClr val="tx1"/>
                </a:solidFill>
              </a:rPr>
              <a:t>Curves: squares, logs, the turning point</a:t>
            </a:r>
          </a:p>
        </p:txBody>
      </p:sp>
      <p:sp>
        <p:nvSpPr>
          <p:cNvPr id="21" name="Practice card body"/>
          <p:cNvSpPr/>
          <p:nvPr/>
        </p:nvSpPr>
        <p:spPr>
          <a:xfrm>
            <a:off x="464058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actice card header"/>
          <p:cNvSpPr/>
          <p:nvPr/>
        </p:nvSpPr>
        <p:spPr>
          <a:xfrm>
            <a:off x="464058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ractice card heading"/>
          <p:cNvSpPr txBox="1"/>
          <p:nvPr/>
        </p:nvSpPr>
        <p:spPr>
          <a:xfrm>
            <a:off x="477774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Practice, Parts 5 and 6</a:t>
            </a:r>
          </a:p>
        </p:txBody>
      </p:sp>
      <p:pic>
        <p:nvPicPr>
          <p:cNvPr id="24" name="Icon Practice card" descr=""/>
          <p:cNvPicPr>
            <a:picLocks noChangeAspect="1"/>
          </p:cNvPicPr>
          <p:nvPr/>
        </p:nvPicPr>
        <p:blipFill>
          <a:blip r:embed="rId4"/>
          <a:stretch>
            <a:fillRect/>
          </a:stretch>
        </p:blipFill>
        <p:spPr>
          <a:xfrm>
            <a:off x="8247888" y="1970532"/>
            <a:ext cx="310896" cy="310896"/>
          </a:xfrm>
          <a:prstGeom prst="rect">
            <a:avLst/>
          </a:prstGeom>
        </p:spPr>
      </p:pic>
      <p:sp>
        <p:nvSpPr>
          <p:cNvPr id="25" name="Practice card text"/>
          <p:cNvSpPr txBox="1"/>
          <p:nvPr/>
        </p:nvSpPr>
        <p:spPr>
          <a:xfrm>
            <a:off x="480517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statsmodels tests, polars dummies, plotnine plots</a:t>
            </a:r>
          </a:p>
          <a:p>
            <a:pPr algn="l" marL="182880" indent="-182880">
              <a:spcAft>
                <a:spcPts val="600"/>
              </a:spcAft>
              <a:buClr>
                <a:schemeClr val="accent1"/>
              </a:buClr>
              <a:buFont typeface="Arial"/>
              <a:buChar char="▪"/>
            </a:pPr>
            <a:r>
              <a:rPr sz="1300" b="0" lang="en-GB">
                <a:solidFill>
                  <a:schemeClr val="tx1"/>
                </a:solidFill>
              </a:rPr>
              <a:t>Online quiz 3 and its answers</a:t>
            </a:r>
          </a:p>
          <a:p>
            <a:pPr algn="l" marL="182880" indent="-182880">
              <a:spcAft>
                <a:spcPts val="600"/>
              </a:spcAft>
              <a:buClr>
                <a:schemeClr val="accent1"/>
              </a:buClr>
              <a:buFont typeface="Arial"/>
              <a:buChar char="▪"/>
            </a:pPr>
            <a:r>
              <a:rPr sz="1300" b="0" lang="en-GB">
                <a:solidFill>
                  <a:schemeClr val="tx1"/>
                </a:solidFill>
              </a:rPr>
              <a:t>Two coding cases: chocolate and fashion</a:t>
            </a:r>
          </a:p>
          <a:p>
            <a:pPr algn="l" marL="182880" indent="-182880">
              <a:spcAft>
                <a:spcPts val="600"/>
              </a:spcAft>
              <a:buClr>
                <a:schemeClr val="accent1"/>
              </a:buClr>
              <a:buFont typeface="Arial"/>
              <a:buChar char="▪"/>
            </a:pPr>
            <a:r>
              <a:rPr sz="1300" b="0" lang="en-GB">
                <a:solidFill>
                  <a:schemeClr val="tx1"/>
                </a:solidFill>
              </a:rPr>
              <a:t>The same tasks with Posit Assistant</a:t>
            </a:r>
          </a:p>
        </p:txBody>
      </p:sp>
      <p:sp>
        <p:nvSpPr>
          <p:cNvPr id="26" name="Readings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Readings" descr=""/>
          <p:cNvPicPr>
            <a:picLocks noChangeAspect="1"/>
          </p:cNvPicPr>
          <p:nvPr/>
        </p:nvPicPr>
        <p:blipFill>
          <a:blip r:embed="rId5"/>
          <a:stretch>
            <a:fillRect/>
          </a:stretch>
        </p:blipFill>
        <p:spPr>
          <a:xfrm>
            <a:off x="658368" y="4480560"/>
            <a:ext cx="365760" cy="365760"/>
          </a:xfrm>
          <a:prstGeom prst="rect">
            <a:avLst/>
          </a:prstGeom>
        </p:spPr>
      </p:pic>
      <p:sp>
        <p:nvSpPr>
          <p:cNvPr id="28" name="Readings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Readings: </a:t>
            </a:r>
            <a:r>
              <a:rPr sz="1200" b="0" lang="en-GB">
                <a:solidFill>
                  <a:schemeClr val="bg1"/>
                </a:solidFill>
              </a:rPr>
              <a:t>Skiera, Reiner &amp; Albers (2022), Regression Analysis; Bojinov, Parzen &amp; Hamilton (2025), Linear Regression (HBS).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Where we are: two models for brand 1</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wo models box"/>
          <p:cNvSpPr/>
          <p:nvPr/>
        </p:nvSpPr>
        <p:spPr>
          <a:xfrm>
            <a:off x="457200" y="1234440"/>
            <a:ext cx="82296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wo models code"/>
          <p:cNvSpPr txBox="1"/>
          <p:nvPr/>
        </p:nvSpPr>
        <p:spPr>
          <a:xfrm>
            <a:off x="594360" y="1325880"/>
            <a:ext cx="7955280" cy="6858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linear:  sales    = b0 + b1·price1 + b2·feature1 + b3·display1 + b4·temp + b5·december</a:t>
            </a:r>
          </a:p>
          <a:p>
            <a:pPr algn="l">
              <a:spcAft>
                <a:spcPts val="0"/>
              </a:spcAft>
            </a:pPr>
            <a:r>
              <a:rPr sz="1100" b="0" lang="en-GB">
                <a:solidFill>
                  <a:schemeClr val="bg1"/>
                </a:solidFill>
                <a:latin typeface="Consolas"/>
              </a:rPr>
              <a:t>log-log: ln sales = b0 + b1·ln price1 + b2·ln price2 + b3·ln price3 + b4·ln price4</a:t>
            </a:r>
          </a:p>
          <a:p>
            <a:pPr algn="l">
              <a:spcAft>
                <a:spcPts val="0"/>
              </a:spcAft>
            </a:pPr>
            <a:r>
              <a:rPr sz="1100" b="0" lang="en-GB">
                <a:solidFill>
                  <a:schemeClr val="bg1"/>
                </a:solidFill>
                <a:latin typeface="Consolas"/>
              </a:rPr>
              <a:t>                    + b5·feature1 + b6·display1 + b7·temp + b8·december</a:t>
            </a:r>
          </a:p>
        </p:txBody>
      </p:sp>
      <p:sp>
        <p:nvSpPr>
          <p:cNvPr id="12" name="Models 1-1"/>
          <p:cNvSpPr/>
          <p:nvPr/>
        </p:nvSpPr>
        <p:spPr>
          <a:xfrm>
            <a:off x="457200" y="2240280"/>
            <a:ext cx="18013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odels text 1-1"/>
          <p:cNvSpPr txBox="1"/>
          <p:nvPr/>
        </p:nvSpPr>
        <p:spPr>
          <a:xfrm>
            <a:off x="548640" y="2240280"/>
            <a:ext cx="161848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
            </a:r>
          </a:p>
        </p:txBody>
      </p:sp>
      <p:sp>
        <p:nvSpPr>
          <p:cNvPr id="14" name="Models 1-2"/>
          <p:cNvSpPr/>
          <p:nvPr/>
        </p:nvSpPr>
        <p:spPr>
          <a:xfrm>
            <a:off x="2286000" y="2240280"/>
            <a:ext cx="31729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odels text 1-2"/>
          <p:cNvSpPr txBox="1"/>
          <p:nvPr/>
        </p:nvSpPr>
        <p:spPr>
          <a:xfrm>
            <a:off x="2377440" y="2240280"/>
            <a:ext cx="299008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Linear</a:t>
            </a:r>
          </a:p>
        </p:txBody>
      </p:sp>
      <p:sp>
        <p:nvSpPr>
          <p:cNvPr id="16" name="Models 1-3"/>
          <p:cNvSpPr/>
          <p:nvPr/>
        </p:nvSpPr>
        <p:spPr>
          <a:xfrm>
            <a:off x="5486400" y="2240280"/>
            <a:ext cx="31729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odels text 1-3"/>
          <p:cNvSpPr txBox="1"/>
          <p:nvPr/>
        </p:nvSpPr>
        <p:spPr>
          <a:xfrm>
            <a:off x="5577840" y="2240280"/>
            <a:ext cx="299008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Log-log</a:t>
            </a:r>
          </a:p>
        </p:txBody>
      </p:sp>
      <p:sp>
        <p:nvSpPr>
          <p:cNvPr id="18" name="Models 2-1"/>
          <p:cNvSpPr/>
          <p:nvPr/>
        </p:nvSpPr>
        <p:spPr>
          <a:xfrm>
            <a:off x="457200" y="2633472"/>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odels text 2-1"/>
          <p:cNvSpPr txBox="1"/>
          <p:nvPr/>
        </p:nvSpPr>
        <p:spPr>
          <a:xfrm>
            <a:off x="548640" y="2633472"/>
            <a:ext cx="161848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Own price</a:t>
            </a:r>
          </a:p>
        </p:txBody>
      </p:sp>
      <p:sp>
        <p:nvSpPr>
          <p:cNvPr id="20" name="Models 2-2"/>
          <p:cNvSpPr/>
          <p:nvPr/>
        </p:nvSpPr>
        <p:spPr>
          <a:xfrm>
            <a:off x="2286000" y="2633472"/>
            <a:ext cx="3172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odels text 2-2"/>
          <p:cNvSpPr txBox="1"/>
          <p:nvPr/>
        </p:nvSpPr>
        <p:spPr>
          <a:xfrm>
            <a:off x="2377440" y="2633472"/>
            <a:ext cx="2990088" cy="365760"/>
          </a:xfrm>
          <a:prstGeom prst="rect">
            <a:avLst/>
          </a:prstGeom>
          <a:noFill/>
        </p:spPr>
        <p:txBody>
          <a:bodyPr wrap="square" lIns="0" rIns="0" tIns="0" bIns="0" anchor="ctr">
            <a:noAutofit/>
          </a:bodyPr>
          <a:lstStyle/>
          <a:p>
            <a:pPr algn="l">
              <a:spcAft>
                <a:spcPts val="400"/>
              </a:spcAft>
            </a:pPr>
            <a:r>
              <a:rPr sz="1250" b="0" lang="en-GB">
                <a:solidFill>
                  <a:schemeClr val="tx1"/>
                </a:solidFill>
              </a:rPr>
              <a:t>−678 units per EUR</a:t>
            </a:r>
          </a:p>
        </p:txBody>
      </p:sp>
      <p:sp>
        <p:nvSpPr>
          <p:cNvPr id="22" name="Models 2-3"/>
          <p:cNvSpPr/>
          <p:nvPr/>
        </p:nvSpPr>
        <p:spPr>
          <a:xfrm>
            <a:off x="5486400" y="2633472"/>
            <a:ext cx="3172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Models text 2-3"/>
          <p:cNvSpPr txBox="1"/>
          <p:nvPr/>
        </p:nvSpPr>
        <p:spPr>
          <a:xfrm>
            <a:off x="5577840" y="2633472"/>
            <a:ext cx="2990088" cy="365760"/>
          </a:xfrm>
          <a:prstGeom prst="rect">
            <a:avLst/>
          </a:prstGeom>
          <a:noFill/>
        </p:spPr>
        <p:txBody>
          <a:bodyPr wrap="square" lIns="0" rIns="0" tIns="0" bIns="0" anchor="ctr">
            <a:noAutofit/>
          </a:bodyPr>
          <a:lstStyle/>
          <a:p>
            <a:pPr algn="l">
              <a:spcAft>
                <a:spcPts val="400"/>
              </a:spcAft>
            </a:pPr>
            <a:r>
              <a:rPr sz="1250" b="0" lang="en-GB">
                <a:solidFill>
                  <a:schemeClr val="tx1"/>
                </a:solidFill>
              </a:rPr>
              <a:t>−3.68 (elasticity)</a:t>
            </a:r>
          </a:p>
        </p:txBody>
      </p:sp>
      <p:sp>
        <p:nvSpPr>
          <p:cNvPr id="24" name="Models 3-1"/>
          <p:cNvSpPr/>
          <p:nvPr/>
        </p:nvSpPr>
        <p:spPr>
          <a:xfrm>
            <a:off x="457200" y="3026664"/>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Models text 3-1"/>
          <p:cNvSpPr txBox="1"/>
          <p:nvPr/>
        </p:nvSpPr>
        <p:spPr>
          <a:xfrm>
            <a:off x="548640" y="3026664"/>
            <a:ext cx="161848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R²</a:t>
            </a:r>
          </a:p>
        </p:txBody>
      </p:sp>
      <p:sp>
        <p:nvSpPr>
          <p:cNvPr id="26" name="Models 3-2"/>
          <p:cNvSpPr/>
          <p:nvPr/>
        </p:nvSpPr>
        <p:spPr>
          <a:xfrm>
            <a:off x="2286000" y="3026664"/>
            <a:ext cx="3172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Models text 3-2"/>
          <p:cNvSpPr txBox="1"/>
          <p:nvPr/>
        </p:nvSpPr>
        <p:spPr>
          <a:xfrm>
            <a:off x="2377440" y="3026664"/>
            <a:ext cx="2990088" cy="365760"/>
          </a:xfrm>
          <a:prstGeom prst="rect">
            <a:avLst/>
          </a:prstGeom>
          <a:noFill/>
        </p:spPr>
        <p:txBody>
          <a:bodyPr wrap="square" lIns="0" rIns="0" tIns="0" bIns="0" anchor="ctr">
            <a:noAutofit/>
          </a:bodyPr>
          <a:lstStyle/>
          <a:p>
            <a:pPr algn="l">
              <a:spcAft>
                <a:spcPts val="400"/>
              </a:spcAft>
            </a:pPr>
            <a:r>
              <a:rPr sz="1250" b="0" lang="en-GB">
                <a:solidFill>
                  <a:schemeClr val="tx1"/>
                </a:solidFill>
              </a:rPr>
              <a:t>0.896</a:t>
            </a:r>
          </a:p>
        </p:txBody>
      </p:sp>
      <p:sp>
        <p:nvSpPr>
          <p:cNvPr id="28" name="Models 3-3"/>
          <p:cNvSpPr/>
          <p:nvPr/>
        </p:nvSpPr>
        <p:spPr>
          <a:xfrm>
            <a:off x="5486400" y="3026664"/>
            <a:ext cx="3172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Models text 3-3"/>
          <p:cNvSpPr txBox="1"/>
          <p:nvPr/>
        </p:nvSpPr>
        <p:spPr>
          <a:xfrm>
            <a:off x="5577840" y="3026664"/>
            <a:ext cx="2990088" cy="365760"/>
          </a:xfrm>
          <a:prstGeom prst="rect">
            <a:avLst/>
          </a:prstGeom>
          <a:noFill/>
        </p:spPr>
        <p:txBody>
          <a:bodyPr wrap="square" lIns="0" rIns="0" tIns="0" bIns="0" anchor="ctr">
            <a:noAutofit/>
          </a:bodyPr>
          <a:lstStyle/>
          <a:p>
            <a:pPr algn="l">
              <a:spcAft>
                <a:spcPts val="400"/>
              </a:spcAft>
            </a:pPr>
            <a:r>
              <a:rPr sz="1250" b="0" lang="en-GB">
                <a:solidFill>
                  <a:schemeClr val="tx1"/>
                </a:solidFill>
              </a:rPr>
              <a:t>0.903</a:t>
            </a:r>
          </a:p>
        </p:txBody>
      </p:sp>
      <p:sp>
        <p:nvSpPr>
          <p:cNvPr id="30" name="Models 4-1"/>
          <p:cNvSpPr/>
          <p:nvPr/>
        </p:nvSpPr>
        <p:spPr>
          <a:xfrm>
            <a:off x="457200" y="3419856"/>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Models text 4-1"/>
          <p:cNvSpPr txBox="1"/>
          <p:nvPr/>
        </p:nvSpPr>
        <p:spPr>
          <a:xfrm>
            <a:off x="548640" y="3419856"/>
            <a:ext cx="161848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Outcome</a:t>
            </a:r>
          </a:p>
        </p:txBody>
      </p:sp>
      <p:sp>
        <p:nvSpPr>
          <p:cNvPr id="32" name="Models 4-2"/>
          <p:cNvSpPr/>
          <p:nvPr/>
        </p:nvSpPr>
        <p:spPr>
          <a:xfrm>
            <a:off x="2286000" y="3419856"/>
            <a:ext cx="3172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Models text 4-2"/>
          <p:cNvSpPr txBox="1"/>
          <p:nvPr/>
        </p:nvSpPr>
        <p:spPr>
          <a:xfrm>
            <a:off x="2377440" y="3419856"/>
            <a:ext cx="2990088" cy="365760"/>
          </a:xfrm>
          <a:prstGeom prst="rect">
            <a:avLst/>
          </a:prstGeom>
          <a:noFill/>
        </p:spPr>
        <p:txBody>
          <a:bodyPr wrap="square" lIns="0" rIns="0" tIns="0" bIns="0" anchor="ctr">
            <a:noAutofit/>
          </a:bodyPr>
          <a:lstStyle/>
          <a:p>
            <a:pPr algn="l">
              <a:spcAft>
                <a:spcPts val="400"/>
              </a:spcAft>
            </a:pPr>
            <a:r>
              <a:rPr sz="1250" b="0" lang="en-GB">
                <a:solidFill>
                  <a:schemeClr val="tx1"/>
                </a:solidFill>
              </a:rPr>
              <a:t>sales (units)</a:t>
            </a:r>
          </a:p>
        </p:txBody>
      </p:sp>
      <p:sp>
        <p:nvSpPr>
          <p:cNvPr id="34" name="Models 4-3"/>
          <p:cNvSpPr/>
          <p:nvPr/>
        </p:nvSpPr>
        <p:spPr>
          <a:xfrm>
            <a:off x="5486400" y="3419856"/>
            <a:ext cx="3172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Models text 4-3"/>
          <p:cNvSpPr txBox="1"/>
          <p:nvPr/>
        </p:nvSpPr>
        <p:spPr>
          <a:xfrm>
            <a:off x="5577840" y="3419856"/>
            <a:ext cx="2990088" cy="365760"/>
          </a:xfrm>
          <a:prstGeom prst="rect">
            <a:avLst/>
          </a:prstGeom>
          <a:noFill/>
        </p:spPr>
        <p:txBody>
          <a:bodyPr wrap="square" lIns="0" rIns="0" tIns="0" bIns="0" anchor="ctr">
            <a:noAutofit/>
          </a:bodyPr>
          <a:lstStyle/>
          <a:p>
            <a:pPr algn="l">
              <a:spcAft>
                <a:spcPts val="400"/>
              </a:spcAft>
            </a:pPr>
            <a:r>
              <a:rPr sz="1250" b="0" lang="en-GB">
                <a:solidFill>
                  <a:schemeClr val="tx1"/>
                </a:solidFill>
              </a:rPr>
              <a:t>log sales</a:t>
            </a:r>
          </a:p>
        </p:txBody>
      </p:sp>
      <p:sp>
        <p:nvSpPr>
          <p:cNvPr id="36" name="Which model box"/>
          <p:cNvSpPr/>
          <p:nvPr/>
        </p:nvSpPr>
        <p:spPr>
          <a:xfrm>
            <a:off x="457200" y="388620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Icon Which model" descr=""/>
          <p:cNvPicPr>
            <a:picLocks noChangeAspect="1"/>
          </p:cNvPicPr>
          <p:nvPr/>
        </p:nvPicPr>
        <p:blipFill>
          <a:blip r:embed="rId3"/>
          <a:stretch>
            <a:fillRect/>
          </a:stretch>
        </p:blipFill>
        <p:spPr>
          <a:xfrm>
            <a:off x="658368" y="4091940"/>
            <a:ext cx="365760" cy="365760"/>
          </a:xfrm>
          <a:prstGeom prst="rect">
            <a:avLst/>
          </a:prstGeom>
        </p:spPr>
      </p:pic>
      <p:sp>
        <p:nvSpPr>
          <p:cNvPr id="38" name="Which model text"/>
          <p:cNvSpPr txBox="1"/>
          <p:nvPr/>
        </p:nvSpPr>
        <p:spPr>
          <a:xfrm>
            <a:off x="1207008" y="3886200"/>
            <a:ext cx="7315200" cy="777240"/>
          </a:xfrm>
          <a:prstGeom prst="rect">
            <a:avLst/>
          </a:prstGeom>
          <a:noFill/>
        </p:spPr>
        <p:txBody>
          <a:bodyPr wrap="square" lIns="0" rIns="0" tIns="0" bIns="0" anchor="ctr">
            <a:noAutofit/>
          </a:bodyPr>
          <a:lstStyle/>
          <a:p>
            <a:pPr algn="l">
              <a:spcAft>
                <a:spcPts val="400"/>
              </a:spcAft>
            </a:pPr>
            <a:r>
              <a:rPr sz="1300" b="1" lang="en-GB">
                <a:solidFill>
                  <a:schemeClr val="bg1"/>
                </a:solidFill>
              </a:rPr>
              <a:t>Same data, two models: </a:t>
            </a:r>
            <a:r>
              <a:rPr sz="1300" b="0" lang="en-GB">
                <a:solidFill>
                  <a:schemeClr val="bg1"/>
                </a:solidFill>
              </a:rPr>
              <a:t>which one may we trust? R² cannot tell, because the outcomes differ. The residuals can.</a:t>
            </a:r>
          </a:p>
        </p:txBody>
      </p:sp>
      <p:sp>
        <p:nvSpPr>
          <p:cNvPr id="3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make_assumptions_figures.py on data/legacy/chocolate_dataset.csv; deck 01b, Parts 6 to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6 · look first, then test, then fix</a:t>
            </a:r>
          </a:p>
        </p:txBody>
      </p:sp>
      <p:sp>
        <p:nvSpPr>
          <p:cNvPr id="3" name="Title 2"/>
          <p:cNvSpPr>
            <a:spLocks noGrp="1"/>
          </p:cNvSpPr>
          <p:nvPr>
            <p:ph type="ctrTitle"/>
          </p:nvPr>
        </p:nvSpPr>
        <p:spPr/>
        <p:txBody>
          <a:bodyPr/>
          <a:lstStyle/>
          <a:p>
            <a:r>
              <a:rPr sz="1600" lang="en-GB"/>
              <a:t>Assumptions and how to test them</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Assumption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2057400"/>
                <a:gridCol w="2194560"/>
                <a:gridCol w="2057400"/>
                <a:gridCol w="1920240"/>
              </a:tblGrid>
              <a:tr h="370840">
                <a:tc>
                  <a:txBody>
                    <a:bodyPr/>
                    <a:lstStyle/>
                    <a:p>
                      <a:r>
                        <a:rPr sz="1300" lang="en-GB"/>
                        <a:t>Assumption</a:t>
                      </a:r>
                    </a:p>
                  </a:txBody>
                  <a:tcPr marT="36000" marB="36000"/>
                </a:tc>
                <a:tc>
                  <a:txBody>
                    <a:bodyPr/>
                    <a:lstStyle/>
                    <a:p>
                      <a:r>
                        <a:rPr sz="1300" lang="en-GB"/>
                        <a:t>Look</a:t>
                      </a:r>
                    </a:p>
                  </a:txBody>
                  <a:tcPr marT="36000" marB="36000"/>
                </a:tc>
                <a:tc>
                  <a:txBody>
                    <a:bodyPr/>
                    <a:lstStyle/>
                    <a:p>
                      <a:r>
                        <a:rPr sz="1300" lang="en-GB"/>
                        <a:t>Test (H0: assumption holds)</a:t>
                      </a:r>
                    </a:p>
                  </a:txBody>
                  <a:tcPr marT="36000" marB="36000"/>
                </a:tc>
                <a:tc>
                  <a:txBody>
                    <a:bodyPr/>
                    <a:lstStyle/>
                    <a:p>
                      <a:r>
                        <a:rPr sz="1300" lang="en-GB"/>
                        <a:t>Fix</a:t>
                      </a:r>
                    </a:p>
                  </a:txBody>
                  <a:tcPr marT="36000" marB="36000"/>
                </a:tc>
              </a:tr>
              <a:tr h="370840">
                <a:tc>
                  <a:txBody>
                    <a:bodyPr/>
                    <a:lstStyle/>
                    <a:p>
                      <a:r>
                        <a:rPr sz="1150" b="1" lang="en-GB"/>
                        <a:t>1 Linear form</a:t>
                      </a:r>
                    </a:p>
                  </a:txBody>
                  <a:tcPr marT="36000" marB="36000"/>
                </a:tc>
                <a:tc>
                  <a:txBody>
                    <a:bodyPr/>
                    <a:lstStyle/>
                    <a:p>
                      <a:r>
                        <a:rPr sz="1150" lang="en-GB"/>
                        <a:t>residuals vs fitted: curve?</a:t>
                      </a:r>
                    </a:p>
                  </a:txBody>
                  <a:tcPr marT="36000" marB="36000"/>
                </a:tc>
                <a:tc>
                  <a:txBody>
                    <a:bodyPr/>
                    <a:lstStyle/>
                    <a:p>
                      <a:r>
                        <a:rPr sz="1150" lang="en-GB"/>
                        <a:t>RESET</a:t>
                      </a:r>
                    </a:p>
                  </a:txBody>
                  <a:tcPr marT="36000" marB="36000"/>
                </a:tc>
                <a:tc>
                  <a:txBody>
                    <a:bodyPr/>
                    <a:lstStyle/>
                    <a:p>
                      <a:r>
                        <a:rPr sz="1150" lang="en-GB"/>
                        <a:t>logs, squares</a:t>
                      </a:r>
                    </a:p>
                  </a:txBody>
                  <a:tcPr marT="36000" marB="36000"/>
                </a:tc>
              </a:tr>
              <a:tr h="370840">
                <a:tc>
                  <a:txBody>
                    <a:bodyPr/>
                    <a:lstStyle/>
                    <a:p>
                      <a:r>
                        <a:rPr sz="1150" b="1" lang="en-GB"/>
                        <a:t>2 Constant variance</a:t>
                      </a:r>
                    </a:p>
                  </a:txBody>
                  <a:tcPr marT="36000" marB="36000"/>
                </a:tc>
                <a:tc>
                  <a:txBody>
                    <a:bodyPr/>
                    <a:lstStyle/>
                    <a:p>
                      <a:r>
                        <a:rPr sz="1150" lang="en-GB"/>
                        <a:t>residuals vs fitted: funnel?</a:t>
                      </a:r>
                    </a:p>
                  </a:txBody>
                  <a:tcPr marT="36000" marB="36000"/>
                </a:tc>
                <a:tc>
                  <a:txBody>
                    <a:bodyPr/>
                    <a:lstStyle/>
                    <a:p>
                      <a:r>
                        <a:rPr sz="1150" lang="en-GB"/>
                        <a:t>Breusch-Pagan</a:t>
                      </a:r>
                    </a:p>
                  </a:txBody>
                  <a:tcPr marT="36000" marB="36000"/>
                </a:tc>
                <a:tc>
                  <a:txBody>
                    <a:bodyPr/>
                    <a:lstStyle/>
                    <a:p>
                      <a:r>
                        <a:rPr sz="1150" lang="en-GB"/>
                        <a:t>logs; HC3 errors</a:t>
                      </a:r>
                    </a:p>
                  </a:txBody>
                  <a:tcPr marT="36000" marB="36000"/>
                </a:tc>
              </a:tr>
              <a:tr h="370840">
                <a:tc>
                  <a:txBody>
                    <a:bodyPr/>
                    <a:lstStyle/>
                    <a:p>
                      <a:r>
                        <a:rPr sz="1150" b="1" lang="en-GB"/>
                        <a:t>3 Normal residuals</a:t>
                      </a:r>
                    </a:p>
                  </a:txBody>
                  <a:tcPr marT="36000" marB="36000"/>
                </a:tc>
                <a:tc>
                  <a:txBody>
                    <a:bodyPr/>
                    <a:lstStyle/>
                    <a:p>
                      <a:r>
                        <a:rPr sz="1150" lang="en-GB"/>
                        <a:t>Q-Q plot, histogram</a:t>
                      </a:r>
                    </a:p>
                  </a:txBody>
                  <a:tcPr marT="36000" marB="36000"/>
                </a:tc>
                <a:tc>
                  <a:txBody>
                    <a:bodyPr/>
                    <a:lstStyle/>
                    <a:p>
                      <a:r>
                        <a:rPr sz="1150" lang="en-GB"/>
                        <a:t>Jarque-Bera, Shapiro-Wilk</a:t>
                      </a:r>
                    </a:p>
                  </a:txBody>
                  <a:tcPr marT="36000" marB="36000"/>
                </a:tc>
                <a:tc>
                  <a:txBody>
                    <a:bodyPr/>
                    <a:lstStyle/>
                    <a:p>
                      <a:r>
                        <a:rPr sz="1150" lang="en-GB"/>
                        <a:t>logs; large n helps</a:t>
                      </a:r>
                    </a:p>
                  </a:txBody>
                  <a:tcPr marT="36000" marB="36000"/>
                </a:tc>
              </a:tr>
              <a:tr h="370840">
                <a:tc>
                  <a:txBody>
                    <a:bodyPr/>
                    <a:lstStyle/>
                    <a:p>
                      <a:r>
                        <a:rPr sz="1150" b="1" lang="en-GB"/>
                        <a:t>4 Independent errors</a:t>
                      </a:r>
                    </a:p>
                  </a:txBody>
                  <a:tcPr marT="36000" marB="36000"/>
                </a:tc>
                <a:tc>
                  <a:txBody>
                    <a:bodyPr/>
                    <a:lstStyle/>
                    <a:p>
                      <a:r>
                        <a:rPr sz="1150" lang="en-GB"/>
                        <a:t>residuals over time</a:t>
                      </a:r>
                    </a:p>
                  </a:txBody>
                  <a:tcPr marT="36000" marB="36000"/>
                </a:tc>
                <a:tc>
                  <a:txBody>
                    <a:bodyPr/>
                    <a:lstStyle/>
                    <a:p>
                      <a:r>
                        <a:rPr sz="1150" lang="en-GB"/>
                        <a:t>Durbin-Watson ≈ 2</a:t>
                      </a:r>
                    </a:p>
                  </a:txBody>
                  <a:tcPr marT="36000" marB="36000"/>
                </a:tc>
                <a:tc>
                  <a:txBody>
                    <a:bodyPr/>
                    <a:lstStyle/>
                    <a:p>
                      <a:r>
                        <a:rPr sz="1150" lang="en-GB"/>
                        <a:t>HAC errors; Session 4</a:t>
                      </a:r>
                    </a:p>
                  </a:txBody>
                  <a:tcPr marT="36000" marB="36000"/>
                </a:tc>
              </a:tr>
              <a:tr h="370840">
                <a:tc>
                  <a:txBody>
                    <a:bodyPr/>
                    <a:lstStyle/>
                    <a:p>
                      <a:r>
                        <a:rPr sz="1150" b="1" lang="en-GB"/>
                        <a:t>5 No multicollinearity</a:t>
                      </a:r>
                    </a:p>
                  </a:txBody>
                  <a:tcPr marT="36000" marB="36000"/>
                </a:tc>
                <a:tc>
                  <a:txBody>
                    <a:bodyPr/>
                    <a:lstStyle/>
                    <a:p>
                      <a:r>
                        <a:rPr sz="1150" lang="en-GB"/>
                        <a:t>correlation matrix</a:t>
                      </a:r>
                    </a:p>
                  </a:txBody>
                  <a:tcPr marT="36000" marB="36000"/>
                </a:tc>
                <a:tc>
                  <a:txBody>
                    <a:bodyPr/>
                    <a:lstStyle/>
                    <a:p>
                      <a:r>
                        <a:rPr sz="1150" lang="en-GB"/>
                        <a:t>VIF below 5 (10)</a:t>
                      </a:r>
                    </a:p>
                  </a:txBody>
                  <a:tcPr marT="36000" marB="36000"/>
                </a:tc>
                <a:tc>
                  <a:txBody>
                    <a:bodyPr/>
                    <a:lstStyle/>
                    <a:p>
                      <a:r>
                        <a:rPr sz="1150" lang="en-GB"/>
                        <a:t>drop, combine, more data</a:t>
                      </a:r>
                    </a:p>
                  </a:txBody>
                  <a:tcPr marT="36000" marB="36000"/>
                </a:tc>
              </a:tr>
              <a:tr h="370840">
                <a:tc>
                  <a:txBody>
                    <a:bodyPr/>
                    <a:lstStyle/>
                    <a:p>
                      <a:r>
                        <a:rPr sz="1150" b="1" lang="en-GB"/>
                        <a:t>6 No dominant week</a:t>
                      </a:r>
                    </a:p>
                  </a:txBody>
                  <a:tcPr marT="36000" marB="36000"/>
                </a:tc>
                <a:tc>
                  <a:txBody>
                    <a:bodyPr/>
                    <a:lstStyle/>
                    <a:p>
                      <a:r>
                        <a:rPr sz="1150" lang="en-GB"/>
                        <a:t>Cook's distance by week</a:t>
                      </a:r>
                    </a:p>
                  </a:txBody>
                  <a:tcPr marT="36000" marB="36000"/>
                </a:tc>
                <a:tc>
                  <a:txBody>
                    <a:bodyPr/>
                    <a:lstStyle/>
                    <a:p>
                      <a:r>
                        <a:rPr sz="1150" lang="en-GB"/>
                        <a:t>above 4/n: inspect</a:t>
                      </a:r>
                    </a:p>
                  </a:txBody>
                  <a:tcPr marT="36000" marB="36000"/>
                </a:tc>
                <a:tc>
                  <a:txBody>
                    <a:bodyPr/>
                    <a:lstStyle/>
                    <a:p>
                      <a:r>
                        <a:rPr sz="1150" lang="en-GB"/>
                        <a:t>check data, with and without</a:t>
                      </a:r>
                    </a:p>
                  </a:txBody>
                  <a:tcPr marT="36000" marB="36000"/>
                </a:tc>
              </a:tr>
            </a:tbl>
          </a:graphicData>
        </a:graphic>
      </p:graphicFrame>
      <p:sp>
        <p:nvSpPr>
          <p:cNvPr id="3" name="Title 2"/>
          <p:cNvSpPr>
            <a:spLocks noGrp="1"/>
          </p:cNvSpPr>
          <p:nvPr>
            <p:ph type="title"/>
          </p:nvPr>
        </p:nvSpPr>
        <p:spPr/>
        <p:txBody>
          <a:bodyPr/>
          <a:lstStyle/>
          <a:p>
            <a:r>
              <a:rPr sz="1600" lang="en-GB"/>
              <a:t>Six assumptions, three steps each</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ources"/>
          <p:cNvSpPr txBox="1"/>
          <p:nvPr/>
        </p:nvSpPr>
        <p:spPr>
          <a:xfrm>
            <a:off x="457200" y="457200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Wooldridge 2025, ch. 8 to 9; Hair et al. 2019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How to read an assumption test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ad test row 1"/>
          <p:cNvSpPr/>
          <p:nvPr/>
        </p:nvSpPr>
        <p:spPr>
          <a:xfrm>
            <a:off x="457200" y="12344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ad test number 1"/>
          <p:cNvSpPr/>
          <p:nvPr/>
        </p:nvSpPr>
        <p:spPr>
          <a:xfrm>
            <a:off x="594360" y="1353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Read test text 1"/>
          <p:cNvSpPr txBox="1"/>
          <p:nvPr/>
        </p:nvSpPr>
        <p:spPr>
          <a:xfrm>
            <a:off x="1051560" y="1234440"/>
            <a:ext cx="7498080" cy="548640"/>
          </a:xfrm>
          <a:prstGeom prst="rect">
            <a:avLst/>
          </a:prstGeom>
          <a:noFill/>
        </p:spPr>
        <p:txBody>
          <a:bodyPr wrap="square" lIns="0" rIns="0" tIns="0" bIns="0" anchor="ctr">
            <a:noAutofit/>
          </a:bodyPr>
          <a:lstStyle/>
          <a:p>
            <a:pPr algn="l">
              <a:spcAft>
                <a:spcPts val="400"/>
              </a:spcAft>
            </a:pPr>
            <a:r>
              <a:rPr sz="1250" b="1" lang="en-GB">
                <a:solidFill>
                  <a:schemeClr val="tx2"/>
                </a:solidFill>
              </a:rPr>
              <a:t>H0 = the assumption holds: </a:t>
            </a:r>
            <a:r>
              <a:rPr sz="1250" b="0" lang="en-GB">
                <a:solidFill>
                  <a:schemeClr val="tx1"/>
                </a:solidFill>
              </a:rPr>
              <a:t>constant variance, normal residuals, the right form</a:t>
            </a:r>
          </a:p>
        </p:txBody>
      </p:sp>
      <p:sp>
        <p:nvSpPr>
          <p:cNvPr id="13" name="Read test row 2"/>
          <p:cNvSpPr/>
          <p:nvPr/>
        </p:nvSpPr>
        <p:spPr>
          <a:xfrm>
            <a:off x="457200" y="1874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ad test number 2"/>
          <p:cNvSpPr/>
          <p:nvPr/>
        </p:nvSpPr>
        <p:spPr>
          <a:xfrm>
            <a:off x="594360" y="199339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Read test text 2"/>
          <p:cNvSpPr txBox="1"/>
          <p:nvPr/>
        </p:nvSpPr>
        <p:spPr>
          <a:xfrm>
            <a:off x="1051560" y="1874520"/>
            <a:ext cx="7498080" cy="548640"/>
          </a:xfrm>
          <a:prstGeom prst="rect">
            <a:avLst/>
          </a:prstGeom>
          <a:noFill/>
        </p:spPr>
        <p:txBody>
          <a:bodyPr wrap="square" lIns="0" rIns="0" tIns="0" bIns="0" anchor="ctr">
            <a:noAutofit/>
          </a:bodyPr>
          <a:lstStyle/>
          <a:p>
            <a:pPr algn="l">
              <a:spcAft>
                <a:spcPts val="400"/>
              </a:spcAft>
            </a:pPr>
            <a:r>
              <a:rPr sz="1250" b="1" lang="en-GB">
                <a:solidFill>
                  <a:schemeClr val="tx2"/>
                </a:solidFill>
              </a:rPr>
              <a:t>p below 0.05: </a:t>
            </a:r>
            <a:r>
              <a:rPr sz="1250" b="0" lang="en-GB">
                <a:solidFill>
                  <a:schemeClr val="tx1"/>
                </a:solidFill>
              </a:rPr>
              <a:t>evidence against H0, so the assumption is violated: act</a:t>
            </a:r>
          </a:p>
        </p:txBody>
      </p:sp>
      <p:sp>
        <p:nvSpPr>
          <p:cNvPr id="16" name="Read test row 3"/>
          <p:cNvSpPr/>
          <p:nvPr/>
        </p:nvSpPr>
        <p:spPr>
          <a:xfrm>
            <a:off x="457200" y="251460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ad test number 3"/>
          <p:cNvSpPr/>
          <p:nvPr/>
        </p:nvSpPr>
        <p:spPr>
          <a:xfrm>
            <a:off x="594360" y="26334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Read test text 3"/>
          <p:cNvSpPr txBox="1"/>
          <p:nvPr/>
        </p:nvSpPr>
        <p:spPr>
          <a:xfrm>
            <a:off x="1051560" y="2514600"/>
            <a:ext cx="7498080" cy="548640"/>
          </a:xfrm>
          <a:prstGeom prst="rect">
            <a:avLst/>
          </a:prstGeom>
          <a:noFill/>
        </p:spPr>
        <p:txBody>
          <a:bodyPr wrap="square" lIns="0" rIns="0" tIns="0" bIns="0" anchor="ctr">
            <a:noAutofit/>
          </a:bodyPr>
          <a:lstStyle/>
          <a:p>
            <a:pPr algn="l">
              <a:spcAft>
                <a:spcPts val="400"/>
              </a:spcAft>
            </a:pPr>
            <a:r>
              <a:rPr sz="1250" b="1" lang="en-GB">
                <a:solidFill>
                  <a:schemeClr val="tx2"/>
                </a:solidFill>
              </a:rPr>
              <a:t>p above 0.05: </a:t>
            </a:r>
            <a:r>
              <a:rPr sz="1250" b="0" lang="en-GB">
                <a:solidFill>
                  <a:schemeClr val="tx1"/>
                </a:solidFill>
              </a:rPr>
              <a:t>no evidence of a problem; not a proof that all is well</a:t>
            </a:r>
          </a:p>
        </p:txBody>
      </p:sp>
      <p:sp>
        <p:nvSpPr>
          <p:cNvPr id="19" name="Read test row 4"/>
          <p:cNvSpPr/>
          <p:nvPr/>
        </p:nvSpPr>
        <p:spPr>
          <a:xfrm>
            <a:off x="457200" y="315468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ad test number 4"/>
          <p:cNvSpPr/>
          <p:nvPr/>
        </p:nvSpPr>
        <p:spPr>
          <a:xfrm>
            <a:off x="594360" y="32735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Read test text 4"/>
          <p:cNvSpPr txBox="1"/>
          <p:nvPr/>
        </p:nvSpPr>
        <p:spPr>
          <a:xfrm>
            <a:off x="1051560" y="3154680"/>
            <a:ext cx="7498080" cy="548640"/>
          </a:xfrm>
          <a:prstGeom prst="rect">
            <a:avLst/>
          </a:prstGeom>
          <a:noFill/>
        </p:spPr>
        <p:txBody>
          <a:bodyPr wrap="square" lIns="0" rIns="0" tIns="0" bIns="0" anchor="ctr">
            <a:noAutofit/>
          </a:bodyPr>
          <a:lstStyle/>
          <a:p>
            <a:pPr algn="l">
              <a:spcAft>
                <a:spcPts val="400"/>
              </a:spcAft>
            </a:pPr>
            <a:r>
              <a:rPr sz="1250" b="1" lang="en-GB">
                <a:solidFill>
                  <a:schemeClr val="tx2"/>
                </a:solidFill>
              </a:rPr>
              <a:t>Always look as well: </a:t>
            </a:r>
            <a:r>
              <a:rPr sz="1250" b="0" lang="en-GB">
                <a:solidFill>
                  <a:schemeClr val="tx1"/>
                </a:solidFill>
              </a:rPr>
              <a:t>small samples miss problems, very large samples flag tiny ones</a:t>
            </a:r>
          </a:p>
        </p:txBody>
      </p:sp>
      <p:sp>
        <p:nvSpPr>
          <p:cNvPr id="22" name="Read warn box"/>
          <p:cNvSpPr/>
          <p:nvPr/>
        </p:nvSpPr>
        <p:spPr>
          <a:xfrm>
            <a:off x="457200" y="38862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Read warn" descr=""/>
          <p:cNvPicPr>
            <a:picLocks noChangeAspect="1"/>
          </p:cNvPicPr>
          <p:nvPr/>
        </p:nvPicPr>
        <p:blipFill>
          <a:blip r:embed="rId3"/>
          <a:stretch>
            <a:fillRect/>
          </a:stretch>
        </p:blipFill>
        <p:spPr>
          <a:xfrm>
            <a:off x="658368" y="4046220"/>
            <a:ext cx="365760" cy="365760"/>
          </a:xfrm>
          <a:prstGeom prst="rect">
            <a:avLst/>
          </a:prstGeom>
        </p:spPr>
      </p:pic>
      <p:sp>
        <p:nvSpPr>
          <p:cNvPr id="24" name="Read warn text"/>
          <p:cNvSpPr txBox="1"/>
          <p:nvPr/>
        </p:nvSpPr>
        <p:spPr>
          <a:xfrm>
            <a:off x="1207008" y="3886200"/>
            <a:ext cx="7315200" cy="685800"/>
          </a:xfrm>
          <a:prstGeom prst="rect">
            <a:avLst/>
          </a:prstGeom>
          <a:noFill/>
        </p:spPr>
        <p:txBody>
          <a:bodyPr wrap="square" lIns="0" rIns="0" tIns="0" bIns="0" anchor="ctr">
            <a:noAutofit/>
          </a:bodyPr>
          <a:lstStyle/>
          <a:p>
            <a:pPr algn="l">
              <a:spcAft>
                <a:spcPts val="400"/>
              </a:spcAft>
            </a:pPr>
            <a:r>
              <a:rPr sz="1250" b="1" lang="en-GB">
                <a:solidFill>
                  <a:schemeClr val="bg1"/>
                </a:solidFill>
              </a:rPr>
              <a:t>Mind the direction: </a:t>
            </a:r>
            <a:r>
              <a:rPr sz="1250" b="0" lang="en-GB">
                <a:solidFill>
                  <a:schemeClr val="bg1"/>
                </a:solidFill>
              </a:rPr>
              <a:t>in a coefficient test a small p is good news (an effect); in an assumption test it is bad news.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1 Linear form: look for a curve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s_resid_linear.png" descr="Residuals of the linear model against fitted sales: positive at both ends, negative in the middle, and much larger spread for fitted values near 400 than near 100"/>
          <p:cNvPicPr>
            <a:picLocks noChangeAspect="1"/>
          </p:cNvPicPr>
          <p:nvPr/>
        </p:nvPicPr>
        <p:blipFill>
          <a:blip r:embed="rId3"/>
          <a:stretch>
            <a:fillRect/>
          </a:stretch>
        </p:blipFill>
        <p:spPr>
          <a:xfrm>
            <a:off x="457200" y="1234440"/>
            <a:ext cx="3977640" cy="2779776"/>
          </a:xfrm>
          <a:prstGeom prst="rect">
            <a:avLst/>
          </a:prstGeom>
        </p:spPr>
      </p:pic>
      <p:pic>
        <p:nvPicPr>
          <p:cNvPr id="11" name="Chart as_resid_loglog.png" descr="Residuals of the log-log model against fitted log sales: a band around zero between -0.4 and 0.3 without a curve or funnel"/>
          <p:cNvPicPr>
            <a:picLocks noChangeAspect="1"/>
          </p:cNvPicPr>
          <p:nvPr/>
        </p:nvPicPr>
        <p:blipFill>
          <a:blip r:embed="rId4"/>
          <a:stretch>
            <a:fillRect/>
          </a:stretch>
        </p:blipFill>
        <p:spPr>
          <a:xfrm>
            <a:off x="4709160" y="1234440"/>
            <a:ext cx="3977640" cy="2779776"/>
          </a:xfrm>
          <a:prstGeom prst="rect">
            <a:avLst/>
          </a:prstGeom>
        </p:spPr>
      </p:pic>
      <p:sp>
        <p:nvSpPr>
          <p:cNvPr id="12" name="Lin caption"/>
          <p:cNvSpPr txBox="1"/>
          <p:nvPr/>
        </p:nvSpPr>
        <p:spPr>
          <a:xfrm>
            <a:off x="457200" y="4023360"/>
            <a:ext cx="397764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Linear model: a U-shape. RESET p &lt; 0.001.</a:t>
            </a:r>
          </a:p>
        </p:txBody>
      </p:sp>
      <p:sp>
        <p:nvSpPr>
          <p:cNvPr id="13" name="Log caption"/>
          <p:cNvSpPr txBox="1"/>
          <p:nvPr/>
        </p:nvSpPr>
        <p:spPr>
          <a:xfrm>
            <a:off x="4709160" y="4023360"/>
            <a:ext cx="397764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Log-log model: no curve. RESET p = 0.32.</a:t>
            </a:r>
          </a:p>
        </p:txBody>
      </p:sp>
      <p:sp>
        <p:nvSpPr>
          <p:cNvPr id="14" name="RESET box"/>
          <p:cNvSpPr/>
          <p:nvPr/>
        </p:nvSpPr>
        <p:spPr>
          <a:xfrm>
            <a:off x="457200" y="438912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RESET" descr=""/>
          <p:cNvPicPr>
            <a:picLocks noChangeAspect="1"/>
          </p:cNvPicPr>
          <p:nvPr/>
        </p:nvPicPr>
        <p:blipFill>
          <a:blip r:embed="rId5"/>
          <a:stretch>
            <a:fillRect/>
          </a:stretch>
        </p:blipFill>
        <p:spPr>
          <a:xfrm>
            <a:off x="658368" y="4434840"/>
            <a:ext cx="365760" cy="365760"/>
          </a:xfrm>
          <a:prstGeom prst="rect">
            <a:avLst/>
          </a:prstGeom>
        </p:spPr>
      </p:pic>
      <p:sp>
        <p:nvSpPr>
          <p:cNvPr id="16" name="RESET text"/>
          <p:cNvSpPr txBox="1"/>
          <p:nvPr/>
        </p:nvSpPr>
        <p:spPr>
          <a:xfrm>
            <a:off x="1207008" y="438912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RESET: </a:t>
            </a:r>
            <a:r>
              <a:rPr sz="1200" b="0" lang="en-GB">
                <a:solidFill>
                  <a:schemeClr val="tx1"/>
                </a:solidFill>
              </a:rPr>
              <a:t>adds the squared fitted values; if they help, the form is wrong.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2 Constant variance: look for a funnel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s_resid_linear.png" descr="Residuals of the linear model: the spread grows from about 30 units to about 100 units as fitted sales rise"/>
          <p:cNvPicPr>
            <a:picLocks noChangeAspect="1"/>
          </p:cNvPicPr>
          <p:nvPr/>
        </p:nvPicPr>
        <p:blipFill>
          <a:blip r:embed="rId3"/>
          <a:stretch>
            <a:fillRect/>
          </a:stretch>
        </p:blipFill>
        <p:spPr>
          <a:xfrm>
            <a:off x="457200" y="1234440"/>
            <a:ext cx="3977640" cy="2779776"/>
          </a:xfrm>
          <a:prstGeom prst="rect">
            <a:avLst/>
          </a:prstGeom>
        </p:spPr>
      </p:pic>
      <p:sp>
        <p:nvSpPr>
          <p:cNvPr id="11" name="BP row 1"/>
          <p:cNvSpPr/>
          <p:nvPr/>
        </p:nvSpPr>
        <p:spPr>
          <a:xfrm>
            <a:off x="4709160" y="1234440"/>
            <a:ext cx="3977640"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P stat 1 bar"/>
          <p:cNvSpPr/>
          <p:nvPr/>
        </p:nvSpPr>
        <p:spPr>
          <a:xfrm>
            <a:off x="4709160" y="1234440"/>
            <a:ext cx="64008" cy="8686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P stat 1 figure"/>
          <p:cNvSpPr txBox="1"/>
          <p:nvPr/>
        </p:nvSpPr>
        <p:spPr>
          <a:xfrm>
            <a:off x="4892040" y="1234440"/>
            <a:ext cx="1600200" cy="86868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&lt; 0.001</a:t>
            </a:r>
          </a:p>
        </p:txBody>
      </p:sp>
      <p:sp>
        <p:nvSpPr>
          <p:cNvPr id="14" name="BP stat 1 label"/>
          <p:cNvSpPr txBox="1"/>
          <p:nvPr/>
        </p:nvSpPr>
        <p:spPr>
          <a:xfrm>
            <a:off x="6492240" y="1234440"/>
            <a:ext cx="2148840" cy="868680"/>
          </a:xfrm>
          <a:prstGeom prst="rect">
            <a:avLst/>
          </a:prstGeom>
          <a:noFill/>
        </p:spPr>
        <p:txBody>
          <a:bodyPr wrap="square" lIns="0" rIns="0" tIns="0" bIns="0" anchor="ctr">
            <a:noAutofit/>
          </a:bodyPr>
          <a:lstStyle/>
          <a:p>
            <a:pPr algn="l">
              <a:spcAft>
                <a:spcPts val="400"/>
              </a:spcAft>
            </a:pPr>
            <a:r>
              <a:rPr sz="1200" b="0" lang="en-GB">
                <a:solidFill>
                  <a:schemeClr val="tx1"/>
                </a:solidFill>
              </a:rPr>
              <a:t>Breusch-Pagan p, linear model: unequal variance</a:t>
            </a:r>
          </a:p>
        </p:txBody>
      </p:sp>
      <p:sp>
        <p:nvSpPr>
          <p:cNvPr id="15" name="BP row 2"/>
          <p:cNvSpPr/>
          <p:nvPr/>
        </p:nvSpPr>
        <p:spPr>
          <a:xfrm>
            <a:off x="4709160" y="2176272"/>
            <a:ext cx="3977640"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P stat 2 bar"/>
          <p:cNvSpPr/>
          <p:nvPr/>
        </p:nvSpPr>
        <p:spPr>
          <a:xfrm>
            <a:off x="4709160" y="2176272"/>
            <a:ext cx="64008" cy="8686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P stat 2 figure"/>
          <p:cNvSpPr txBox="1"/>
          <p:nvPr/>
        </p:nvSpPr>
        <p:spPr>
          <a:xfrm>
            <a:off x="4892040" y="2176272"/>
            <a:ext cx="1600200" cy="86868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0.68</a:t>
            </a:r>
          </a:p>
        </p:txBody>
      </p:sp>
      <p:sp>
        <p:nvSpPr>
          <p:cNvPr id="18" name="BP stat 2 label"/>
          <p:cNvSpPr txBox="1"/>
          <p:nvPr/>
        </p:nvSpPr>
        <p:spPr>
          <a:xfrm>
            <a:off x="6492240" y="2176272"/>
            <a:ext cx="2148840" cy="868680"/>
          </a:xfrm>
          <a:prstGeom prst="rect">
            <a:avLst/>
          </a:prstGeom>
          <a:noFill/>
        </p:spPr>
        <p:txBody>
          <a:bodyPr wrap="square" lIns="0" rIns="0" tIns="0" bIns="0" anchor="ctr">
            <a:noAutofit/>
          </a:bodyPr>
          <a:lstStyle/>
          <a:p>
            <a:pPr algn="l">
              <a:spcAft>
                <a:spcPts val="400"/>
              </a:spcAft>
            </a:pPr>
            <a:r>
              <a:rPr sz="1200" b="0" lang="en-GB">
                <a:solidFill>
                  <a:schemeClr val="tx1"/>
                </a:solidFill>
              </a:rPr>
              <a:t>Breusch-Pagan p, log-log model: no evidence</a:t>
            </a:r>
          </a:p>
        </p:txBody>
      </p:sp>
      <p:sp>
        <p:nvSpPr>
          <p:cNvPr id="19" name="BP row 3"/>
          <p:cNvSpPr/>
          <p:nvPr/>
        </p:nvSpPr>
        <p:spPr>
          <a:xfrm>
            <a:off x="4709160" y="3118104"/>
            <a:ext cx="3977640"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P stat 3 bar"/>
          <p:cNvSpPr/>
          <p:nvPr/>
        </p:nvSpPr>
        <p:spPr>
          <a:xfrm>
            <a:off x="4709160" y="3118104"/>
            <a:ext cx="64008" cy="8686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P stat 3 figure"/>
          <p:cNvSpPr txBox="1"/>
          <p:nvPr/>
        </p:nvSpPr>
        <p:spPr>
          <a:xfrm>
            <a:off x="4892040" y="3118104"/>
            <a:ext cx="1600200" cy="86868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110</a:t>
            </a:r>
          </a:p>
        </p:txBody>
      </p:sp>
      <p:sp>
        <p:nvSpPr>
          <p:cNvPr id="22" name="BP stat 3 label"/>
          <p:cNvSpPr txBox="1"/>
          <p:nvPr/>
        </p:nvSpPr>
        <p:spPr>
          <a:xfrm>
            <a:off x="6492240" y="3118104"/>
            <a:ext cx="2148840" cy="868680"/>
          </a:xfrm>
          <a:prstGeom prst="rect">
            <a:avLst/>
          </a:prstGeom>
          <a:noFill/>
        </p:spPr>
        <p:txBody>
          <a:bodyPr wrap="square" lIns="0" rIns="0" tIns="0" bIns="0" anchor="ctr">
            <a:noAutofit/>
          </a:bodyPr>
          <a:lstStyle/>
          <a:p>
            <a:pPr algn="l">
              <a:spcAft>
                <a:spcPts val="400"/>
              </a:spcAft>
            </a:pPr>
            <a:r>
              <a:rPr sz="1200" b="0" lang="en-GB">
                <a:solidFill>
                  <a:schemeClr val="tx1"/>
                </a:solidFill>
              </a:rPr>
              <a:t>se of price1 in the linear model with HC3 errors (usual: 44)</a:t>
            </a:r>
          </a:p>
        </p:txBody>
      </p:sp>
      <p:sp>
        <p:nvSpPr>
          <p:cNvPr id="23" name="BP fix box"/>
          <p:cNvSpPr/>
          <p:nvPr/>
        </p:nvSpPr>
        <p:spPr>
          <a:xfrm>
            <a:off x="457200" y="420624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BP fix" descr=""/>
          <p:cNvPicPr>
            <a:picLocks noChangeAspect="1"/>
          </p:cNvPicPr>
          <p:nvPr/>
        </p:nvPicPr>
        <p:blipFill>
          <a:blip r:embed="rId4"/>
          <a:stretch>
            <a:fillRect/>
          </a:stretch>
        </p:blipFill>
        <p:spPr>
          <a:xfrm>
            <a:off x="658368" y="4320540"/>
            <a:ext cx="365760" cy="365760"/>
          </a:xfrm>
          <a:prstGeom prst="rect">
            <a:avLst/>
          </a:prstGeom>
        </p:spPr>
      </p:pic>
      <p:sp>
        <p:nvSpPr>
          <p:cNvPr id="25" name="BP fix text"/>
          <p:cNvSpPr txBox="1"/>
          <p:nvPr/>
        </p:nvSpPr>
        <p:spPr>
          <a:xfrm>
            <a:off x="1207008" y="420624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Fix: </a:t>
            </a:r>
            <a:r>
              <a:rPr sz="1200" b="0" lang="en-GB">
                <a:solidFill>
                  <a:schemeClr val="bg1"/>
                </a:solidFill>
              </a:rPr>
              <a:t>logs, because sales vary in per cent; or robust errors with fit(cov_type="HC3").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3 Normal residuals: the Q-Q plot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s_qq_linear.png" descr="Normal Q-Q plot of the linear model's residuals: points follow the line in the middle and bend away at both ends"/>
          <p:cNvPicPr>
            <a:picLocks noChangeAspect="1"/>
          </p:cNvPicPr>
          <p:nvPr/>
        </p:nvPicPr>
        <p:blipFill>
          <a:blip r:embed="rId3"/>
          <a:stretch>
            <a:fillRect/>
          </a:stretch>
        </p:blipFill>
        <p:spPr>
          <a:xfrm>
            <a:off x="457200" y="1234440"/>
            <a:ext cx="3977640" cy="2779776"/>
          </a:xfrm>
          <a:prstGeom prst="rect">
            <a:avLst/>
          </a:prstGeom>
        </p:spPr>
      </p:pic>
      <p:pic>
        <p:nvPicPr>
          <p:cNvPr id="11" name="Chart as_qq_loglog.png" descr="Normal Q-Q plot of the log-log model's residuals: points close to the line throughout"/>
          <p:cNvPicPr>
            <a:picLocks noChangeAspect="1"/>
          </p:cNvPicPr>
          <p:nvPr/>
        </p:nvPicPr>
        <p:blipFill>
          <a:blip r:embed="rId4"/>
          <a:stretch>
            <a:fillRect/>
          </a:stretch>
        </p:blipFill>
        <p:spPr>
          <a:xfrm>
            <a:off x="4709160" y="1234440"/>
            <a:ext cx="3977640" cy="2779776"/>
          </a:xfrm>
          <a:prstGeom prst="rect">
            <a:avLst/>
          </a:prstGeom>
        </p:spPr>
      </p:pic>
      <p:sp>
        <p:nvSpPr>
          <p:cNvPr id="12" name="QQ lin caption"/>
          <p:cNvSpPr txBox="1"/>
          <p:nvPr/>
        </p:nvSpPr>
        <p:spPr>
          <a:xfrm>
            <a:off x="457200" y="4023360"/>
            <a:ext cx="397764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Linear: heavy tails. Jarque-Bera p &lt; 0.001.</a:t>
            </a:r>
          </a:p>
        </p:txBody>
      </p:sp>
      <p:sp>
        <p:nvSpPr>
          <p:cNvPr id="13" name="QQ log caption"/>
          <p:cNvSpPr txBox="1"/>
          <p:nvPr/>
        </p:nvSpPr>
        <p:spPr>
          <a:xfrm>
            <a:off x="4709160" y="4023360"/>
            <a:ext cx="397764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Log-log: on the line. Jarque-Bera p = 0.50.</a:t>
            </a:r>
          </a:p>
        </p:txBody>
      </p:sp>
      <p:sp>
        <p:nvSpPr>
          <p:cNvPr id="14" name="QQ least box"/>
          <p:cNvSpPr/>
          <p:nvPr/>
        </p:nvSpPr>
        <p:spPr>
          <a:xfrm>
            <a:off x="457200" y="438912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QQ least" descr=""/>
          <p:cNvPicPr>
            <a:picLocks noChangeAspect="1"/>
          </p:cNvPicPr>
          <p:nvPr/>
        </p:nvPicPr>
        <p:blipFill>
          <a:blip r:embed="rId5"/>
          <a:stretch>
            <a:fillRect/>
          </a:stretch>
        </p:blipFill>
        <p:spPr>
          <a:xfrm>
            <a:off x="658368" y="4434840"/>
            <a:ext cx="365760" cy="365760"/>
          </a:xfrm>
          <a:prstGeom prst="rect">
            <a:avLst/>
          </a:prstGeom>
        </p:spPr>
      </p:pic>
      <p:sp>
        <p:nvSpPr>
          <p:cNvPr id="16" name="QQ least text"/>
          <p:cNvSpPr txBox="1"/>
          <p:nvPr/>
        </p:nvSpPr>
        <p:spPr>
          <a:xfrm>
            <a:off x="1207008" y="438912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Matters least: </a:t>
            </a:r>
            <a:r>
              <a:rPr sz="1200" b="0" lang="en-GB">
                <a:solidFill>
                  <a:schemeClr val="tx1"/>
                </a:solidFill>
              </a:rPr>
              <a:t>with many observations the tests still work; extreme weeks matter more.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4 Independent errors: weeks follow weeks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W row 1"/>
          <p:cNvSpPr/>
          <p:nvPr/>
        </p:nvSpPr>
        <p:spPr>
          <a:xfrm>
            <a:off x="457200" y="1234440"/>
            <a:ext cx="8229600"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W stat 1 bar"/>
          <p:cNvSpPr/>
          <p:nvPr/>
        </p:nvSpPr>
        <p:spPr>
          <a:xfrm>
            <a:off x="457200" y="1234440"/>
            <a:ext cx="6400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W stat 1 figure"/>
          <p:cNvSpPr txBox="1"/>
          <p:nvPr/>
        </p:nvSpPr>
        <p:spPr>
          <a:xfrm>
            <a:off x="640080" y="1234440"/>
            <a:ext cx="2103120" cy="7772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 2</a:t>
            </a:r>
          </a:p>
        </p:txBody>
      </p:sp>
      <p:sp>
        <p:nvSpPr>
          <p:cNvPr id="13" name="DW stat 1 label"/>
          <p:cNvSpPr txBox="1"/>
          <p:nvPr/>
        </p:nvSpPr>
        <p:spPr>
          <a:xfrm>
            <a:off x="2743200" y="1234440"/>
            <a:ext cx="5897880" cy="777240"/>
          </a:xfrm>
          <a:prstGeom prst="rect">
            <a:avLst/>
          </a:prstGeom>
          <a:noFill/>
        </p:spPr>
        <p:txBody>
          <a:bodyPr wrap="square" lIns="0" rIns="0" tIns="0" bIns="0" anchor="ctr">
            <a:noAutofit/>
          </a:bodyPr>
          <a:lstStyle/>
          <a:p>
            <a:pPr algn="l">
              <a:spcAft>
                <a:spcPts val="400"/>
              </a:spcAft>
            </a:pPr>
            <a:r>
              <a:rPr sz="1250" b="0" lang="en-GB">
                <a:solidFill>
                  <a:schemeClr val="tx1"/>
                </a:solidFill>
              </a:rPr>
              <a:t>Durbin-Watson without autocorrelation (range 0 to 4)</a:t>
            </a:r>
          </a:p>
        </p:txBody>
      </p:sp>
      <p:sp>
        <p:nvSpPr>
          <p:cNvPr id="14" name="DW row 2"/>
          <p:cNvSpPr/>
          <p:nvPr/>
        </p:nvSpPr>
        <p:spPr>
          <a:xfrm>
            <a:off x="457200" y="2084832"/>
            <a:ext cx="8229600"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W stat 2 bar"/>
          <p:cNvSpPr/>
          <p:nvPr/>
        </p:nvSpPr>
        <p:spPr>
          <a:xfrm>
            <a:off x="457200" y="2084832"/>
            <a:ext cx="6400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W stat 2 figure"/>
          <p:cNvSpPr txBox="1"/>
          <p:nvPr/>
        </p:nvSpPr>
        <p:spPr>
          <a:xfrm>
            <a:off x="640080" y="2084832"/>
            <a:ext cx="2103120" cy="7772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1.13</a:t>
            </a:r>
          </a:p>
        </p:txBody>
      </p:sp>
      <p:sp>
        <p:nvSpPr>
          <p:cNvPr id="17" name="DW stat 2 label"/>
          <p:cNvSpPr txBox="1"/>
          <p:nvPr/>
        </p:nvSpPr>
        <p:spPr>
          <a:xfrm>
            <a:off x="2743200" y="2084832"/>
            <a:ext cx="5897880" cy="777240"/>
          </a:xfrm>
          <a:prstGeom prst="rect">
            <a:avLst/>
          </a:prstGeom>
          <a:noFill/>
        </p:spPr>
        <p:txBody>
          <a:bodyPr wrap="square" lIns="0" rIns="0" tIns="0" bIns="0" anchor="ctr">
            <a:noAutofit/>
          </a:bodyPr>
          <a:lstStyle/>
          <a:p>
            <a:pPr algn="l">
              <a:spcAft>
                <a:spcPts val="400"/>
              </a:spcAft>
            </a:pPr>
            <a:r>
              <a:rPr sz="1250" b="0" lang="en-GB">
                <a:solidFill>
                  <a:schemeClr val="tx1"/>
                </a:solidFill>
              </a:rPr>
              <a:t>log-log model: positive autocorrelation between weeks</a:t>
            </a:r>
          </a:p>
        </p:txBody>
      </p:sp>
      <p:sp>
        <p:nvSpPr>
          <p:cNvPr id="18" name="DW row 3"/>
          <p:cNvSpPr/>
          <p:nvPr/>
        </p:nvSpPr>
        <p:spPr>
          <a:xfrm>
            <a:off x="457200" y="2935224"/>
            <a:ext cx="8229600"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W stat 3 bar"/>
          <p:cNvSpPr/>
          <p:nvPr/>
        </p:nvSpPr>
        <p:spPr>
          <a:xfrm>
            <a:off x="457200" y="2935224"/>
            <a:ext cx="6400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W stat 3 figure"/>
          <p:cNvSpPr txBox="1"/>
          <p:nvPr/>
        </p:nvSpPr>
        <p:spPr>
          <a:xfrm>
            <a:off x="640080" y="2935224"/>
            <a:ext cx="2103120" cy="7772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0.31</a:t>
            </a:r>
          </a:p>
        </p:txBody>
      </p:sp>
      <p:sp>
        <p:nvSpPr>
          <p:cNvPr id="21" name="DW stat 3 label"/>
          <p:cNvSpPr txBox="1"/>
          <p:nvPr/>
        </p:nvSpPr>
        <p:spPr>
          <a:xfrm>
            <a:off x="2743200" y="2935224"/>
            <a:ext cx="5897880" cy="777240"/>
          </a:xfrm>
          <a:prstGeom prst="rect">
            <a:avLst/>
          </a:prstGeom>
          <a:noFill/>
        </p:spPr>
        <p:txBody>
          <a:bodyPr wrap="square" lIns="0" rIns="0" tIns="0" bIns="0" anchor="ctr">
            <a:noAutofit/>
          </a:bodyPr>
          <a:lstStyle/>
          <a:p>
            <a:pPr algn="l">
              <a:spcAft>
                <a:spcPts val="400"/>
              </a:spcAft>
            </a:pPr>
            <a:r>
              <a:rPr sz="1250" b="0" lang="en-GB">
                <a:solidFill>
                  <a:schemeClr val="tx1"/>
                </a:solidFill>
              </a:rPr>
              <a:t>se of the elasticity with HAC errors, 1 lag (usual: 0.27)</a:t>
            </a:r>
          </a:p>
        </p:txBody>
      </p:sp>
      <p:sp>
        <p:nvSpPr>
          <p:cNvPr id="22" name="DW later box"/>
          <p:cNvSpPr/>
          <p:nvPr/>
        </p:nvSpPr>
        <p:spPr>
          <a:xfrm>
            <a:off x="457200" y="388620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DW later" descr=""/>
          <p:cNvPicPr>
            <a:picLocks noChangeAspect="1"/>
          </p:cNvPicPr>
          <p:nvPr/>
        </p:nvPicPr>
        <p:blipFill>
          <a:blip r:embed="rId3"/>
          <a:stretch>
            <a:fillRect/>
          </a:stretch>
        </p:blipFill>
        <p:spPr>
          <a:xfrm>
            <a:off x="658368" y="4069080"/>
            <a:ext cx="365760" cy="365760"/>
          </a:xfrm>
          <a:prstGeom prst="rect">
            <a:avLst/>
          </a:prstGeom>
        </p:spPr>
      </p:pic>
      <p:sp>
        <p:nvSpPr>
          <p:cNvPr id="24" name="DW later text"/>
          <p:cNvSpPr txBox="1"/>
          <p:nvPr/>
        </p:nvSpPr>
        <p:spPr>
          <a:xfrm>
            <a:off x="1207008" y="3886200"/>
            <a:ext cx="7315200" cy="731520"/>
          </a:xfrm>
          <a:prstGeom prst="rect">
            <a:avLst/>
          </a:prstGeom>
          <a:noFill/>
        </p:spPr>
        <p:txBody>
          <a:bodyPr wrap="square" lIns="0" rIns="0" tIns="0" bIns="0" anchor="ctr">
            <a:noAutofit/>
          </a:bodyPr>
          <a:lstStyle/>
          <a:p>
            <a:pPr algn="l">
              <a:spcAft>
                <a:spcPts val="400"/>
              </a:spcAft>
            </a:pPr>
            <a:r>
              <a:rPr sz="1250" b="1" lang="en-GB">
                <a:solidFill>
                  <a:schemeClr val="bg1"/>
                </a:solidFill>
              </a:rPr>
              <a:t>Theory only today: </a:t>
            </a:r>
            <a:r>
              <a:rPr sz="1250" b="0" lang="en-GB">
                <a:solidFill>
                  <a:schemeClr val="bg1"/>
                </a:solidFill>
              </a:rPr>
              <a:t>Session 4 (time series) models autocorrelation with lags. Not in the exercise or the homework.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5 Multicollinearity: the VIF</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IF formula box"/>
          <p:cNvSpPr/>
          <p:nvPr/>
        </p:nvSpPr>
        <p:spPr>
          <a:xfrm>
            <a:off x="457200" y="1234440"/>
            <a:ext cx="384048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VIF formula code"/>
          <p:cNvSpPr txBox="1"/>
          <p:nvPr/>
        </p:nvSpPr>
        <p:spPr>
          <a:xfrm>
            <a:off x="594360" y="1325880"/>
            <a:ext cx="3566160" cy="411480"/>
          </a:xfrm>
          <a:prstGeom prst="rect">
            <a:avLst/>
          </a:prstGeom>
          <a:noFill/>
        </p:spPr>
        <p:txBody>
          <a:bodyPr wrap="square" lIns="0" rIns="0" tIns="0" bIns="0" anchor="t">
            <a:noAutofit/>
          </a:bodyPr>
          <a:lstStyle/>
          <a:p>
            <a:pPr algn="l">
              <a:spcAft>
                <a:spcPts val="0"/>
              </a:spcAft>
            </a:pPr>
            <a:r>
              <a:rPr sz="1300" b="0" lang="en-GB">
                <a:solidFill>
                  <a:schemeClr val="bg1"/>
                </a:solidFill>
                <a:latin typeface="Consolas"/>
              </a:rPr>
              <a:t>VIF_j = 1 / (1 − R²_j)</a:t>
            </a:r>
          </a:p>
        </p:txBody>
      </p:sp>
      <p:sp>
        <p:nvSpPr>
          <p:cNvPr id="12" name="VIF rows row 1"/>
          <p:cNvSpPr/>
          <p:nvPr/>
        </p:nvSpPr>
        <p:spPr>
          <a:xfrm>
            <a:off x="457200" y="1965960"/>
            <a:ext cx="384048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VIF rows bar 1"/>
          <p:cNvSpPr/>
          <p:nvPr/>
        </p:nvSpPr>
        <p:spPr>
          <a:xfrm>
            <a:off x="457200" y="1965960"/>
            <a:ext cx="6400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VIF rows text 1"/>
          <p:cNvSpPr txBox="1"/>
          <p:nvPr/>
        </p:nvSpPr>
        <p:spPr>
          <a:xfrm>
            <a:off x="658368" y="1965960"/>
            <a:ext cx="3547872"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R²_j: </a:t>
            </a:r>
            <a:r>
              <a:rPr sz="1200" b="0" lang="en-GB">
                <a:solidFill>
                  <a:schemeClr val="tx1"/>
                </a:solidFill>
              </a:rPr>
              <a:t>variable j regressed on all others</a:t>
            </a:r>
          </a:p>
        </p:txBody>
      </p:sp>
      <p:sp>
        <p:nvSpPr>
          <p:cNvPr id="15" name="VIF rows row 2"/>
          <p:cNvSpPr/>
          <p:nvPr/>
        </p:nvSpPr>
        <p:spPr>
          <a:xfrm>
            <a:off x="457200" y="2542032"/>
            <a:ext cx="384048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VIF rows bar 2"/>
          <p:cNvSpPr/>
          <p:nvPr/>
        </p:nvSpPr>
        <p:spPr>
          <a:xfrm>
            <a:off x="457200" y="2542032"/>
            <a:ext cx="6400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VIF rows text 2"/>
          <p:cNvSpPr txBox="1"/>
          <p:nvPr/>
        </p:nvSpPr>
        <p:spPr>
          <a:xfrm>
            <a:off x="658368" y="2542032"/>
            <a:ext cx="3547872"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Above 5: </a:t>
            </a:r>
            <a:r>
              <a:rPr sz="1200" b="0" lang="en-GB">
                <a:solidFill>
                  <a:schemeClr val="tx1"/>
                </a:solidFill>
              </a:rPr>
              <a:t>warning; above 10: problem</a:t>
            </a:r>
          </a:p>
        </p:txBody>
      </p:sp>
      <p:sp>
        <p:nvSpPr>
          <p:cNvPr id="18" name="VIF rows row 3"/>
          <p:cNvSpPr/>
          <p:nvPr/>
        </p:nvSpPr>
        <p:spPr>
          <a:xfrm>
            <a:off x="457200" y="3118104"/>
            <a:ext cx="384048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VIF rows bar 3"/>
          <p:cNvSpPr/>
          <p:nvPr/>
        </p:nvSpPr>
        <p:spPr>
          <a:xfrm>
            <a:off x="457200" y="3118104"/>
            <a:ext cx="6400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VIF rows text 3"/>
          <p:cNvSpPr txBox="1"/>
          <p:nvPr/>
        </p:nvSpPr>
        <p:spPr>
          <a:xfrm>
            <a:off x="658368" y="3118104"/>
            <a:ext cx="3547872"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Effect: </a:t>
            </a:r>
            <a:r>
              <a:rPr sz="1200" b="0" lang="en-GB">
                <a:solidFill>
                  <a:schemeClr val="tx1"/>
                </a:solidFill>
              </a:rPr>
              <a:t>large standard errors, unstable signs</a:t>
            </a:r>
          </a:p>
        </p:txBody>
      </p:sp>
      <p:sp>
        <p:nvSpPr>
          <p:cNvPr id="21" name="VIF table 1-1"/>
          <p:cNvSpPr/>
          <p:nvPr/>
        </p:nvSpPr>
        <p:spPr>
          <a:xfrm>
            <a:off x="4846320" y="1234440"/>
            <a:ext cx="26243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VIF table text 1-1"/>
          <p:cNvSpPr txBox="1"/>
          <p:nvPr/>
        </p:nvSpPr>
        <p:spPr>
          <a:xfrm>
            <a:off x="4937760" y="1234440"/>
            <a:ext cx="244144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Log-log model</a:t>
            </a:r>
          </a:p>
        </p:txBody>
      </p:sp>
      <p:sp>
        <p:nvSpPr>
          <p:cNvPr id="23" name="VIF table 1-2"/>
          <p:cNvSpPr/>
          <p:nvPr/>
        </p:nvSpPr>
        <p:spPr>
          <a:xfrm>
            <a:off x="7498080" y="1234440"/>
            <a:ext cx="116128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VIF table text 1-2"/>
          <p:cNvSpPr txBox="1"/>
          <p:nvPr/>
        </p:nvSpPr>
        <p:spPr>
          <a:xfrm>
            <a:off x="7589520" y="1234440"/>
            <a:ext cx="97840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VIF</a:t>
            </a:r>
          </a:p>
        </p:txBody>
      </p:sp>
      <p:sp>
        <p:nvSpPr>
          <p:cNvPr id="25" name="VIF table 2-1"/>
          <p:cNvSpPr/>
          <p:nvPr/>
        </p:nvSpPr>
        <p:spPr>
          <a:xfrm>
            <a:off x="4846320" y="1609344"/>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VIF table text 2-1"/>
          <p:cNvSpPr txBox="1"/>
          <p:nvPr/>
        </p:nvSpPr>
        <p:spPr>
          <a:xfrm>
            <a:off x="4937760" y="1609344"/>
            <a:ext cx="244144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ln price1</a:t>
            </a:r>
          </a:p>
        </p:txBody>
      </p:sp>
      <p:sp>
        <p:nvSpPr>
          <p:cNvPr id="27" name="VIF table 2-2"/>
          <p:cNvSpPr/>
          <p:nvPr/>
        </p:nvSpPr>
        <p:spPr>
          <a:xfrm>
            <a:off x="7498080" y="1609344"/>
            <a:ext cx="116128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VIF table text 2-2"/>
          <p:cNvSpPr txBox="1"/>
          <p:nvPr/>
        </p:nvSpPr>
        <p:spPr>
          <a:xfrm>
            <a:off x="7589520" y="1609344"/>
            <a:ext cx="97840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2.3</a:t>
            </a:r>
          </a:p>
        </p:txBody>
      </p:sp>
      <p:sp>
        <p:nvSpPr>
          <p:cNvPr id="29" name="VIF table 3-1"/>
          <p:cNvSpPr/>
          <p:nvPr/>
        </p:nvSpPr>
        <p:spPr>
          <a:xfrm>
            <a:off x="4846320" y="1984248"/>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VIF table text 3-1"/>
          <p:cNvSpPr txBox="1"/>
          <p:nvPr/>
        </p:nvSpPr>
        <p:spPr>
          <a:xfrm>
            <a:off x="4937760" y="1984248"/>
            <a:ext cx="244144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feature1</a:t>
            </a:r>
          </a:p>
        </p:txBody>
      </p:sp>
      <p:sp>
        <p:nvSpPr>
          <p:cNvPr id="31" name="VIF table 3-2"/>
          <p:cNvSpPr/>
          <p:nvPr/>
        </p:nvSpPr>
        <p:spPr>
          <a:xfrm>
            <a:off x="7498080" y="1984248"/>
            <a:ext cx="116128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VIF table text 3-2"/>
          <p:cNvSpPr txBox="1"/>
          <p:nvPr/>
        </p:nvSpPr>
        <p:spPr>
          <a:xfrm>
            <a:off x="7589520" y="1984248"/>
            <a:ext cx="97840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2.4</a:t>
            </a:r>
          </a:p>
        </p:txBody>
      </p:sp>
      <p:sp>
        <p:nvSpPr>
          <p:cNvPr id="33" name="VIF table 4-1"/>
          <p:cNvSpPr/>
          <p:nvPr/>
        </p:nvSpPr>
        <p:spPr>
          <a:xfrm>
            <a:off x="4846320" y="2359152"/>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VIF table text 4-1"/>
          <p:cNvSpPr txBox="1"/>
          <p:nvPr/>
        </p:nvSpPr>
        <p:spPr>
          <a:xfrm>
            <a:off x="4937760" y="2359152"/>
            <a:ext cx="244144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display1</a:t>
            </a:r>
          </a:p>
        </p:txBody>
      </p:sp>
      <p:sp>
        <p:nvSpPr>
          <p:cNvPr id="35" name="VIF table 4-2"/>
          <p:cNvSpPr/>
          <p:nvPr/>
        </p:nvSpPr>
        <p:spPr>
          <a:xfrm>
            <a:off x="7498080" y="2359152"/>
            <a:ext cx="116128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VIF table text 4-2"/>
          <p:cNvSpPr txBox="1"/>
          <p:nvPr/>
        </p:nvSpPr>
        <p:spPr>
          <a:xfrm>
            <a:off x="7589520" y="2359152"/>
            <a:ext cx="97840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1.1</a:t>
            </a:r>
          </a:p>
        </p:txBody>
      </p:sp>
      <p:sp>
        <p:nvSpPr>
          <p:cNvPr id="37" name="VIF table 5-1"/>
          <p:cNvSpPr/>
          <p:nvPr/>
        </p:nvSpPr>
        <p:spPr>
          <a:xfrm>
            <a:off x="4846320" y="2734056"/>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VIF table text 5-1"/>
          <p:cNvSpPr txBox="1"/>
          <p:nvPr/>
        </p:nvSpPr>
        <p:spPr>
          <a:xfrm>
            <a:off x="4937760" y="2734056"/>
            <a:ext cx="244144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 plus fand1:</a:t>
            </a:r>
          </a:p>
        </p:txBody>
      </p:sp>
      <p:sp>
        <p:nvSpPr>
          <p:cNvPr id="39" name="VIF table 5-2"/>
          <p:cNvSpPr/>
          <p:nvPr/>
        </p:nvSpPr>
        <p:spPr>
          <a:xfrm>
            <a:off x="7498080" y="2734056"/>
            <a:ext cx="116128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VIF table text 5-2"/>
          <p:cNvSpPr txBox="1"/>
          <p:nvPr/>
        </p:nvSpPr>
        <p:spPr>
          <a:xfrm>
            <a:off x="7589520" y="2734056"/>
            <a:ext cx="97840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
            </a:r>
          </a:p>
        </p:txBody>
      </p:sp>
      <p:sp>
        <p:nvSpPr>
          <p:cNvPr id="41" name="VIF table 6-1"/>
          <p:cNvSpPr/>
          <p:nvPr/>
        </p:nvSpPr>
        <p:spPr>
          <a:xfrm>
            <a:off x="4846320" y="3108960"/>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VIF table text 6-1"/>
          <p:cNvSpPr txBox="1"/>
          <p:nvPr/>
        </p:nvSpPr>
        <p:spPr>
          <a:xfrm>
            <a:off x="4937760" y="3108960"/>
            <a:ext cx="244144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display1</a:t>
            </a:r>
          </a:p>
        </p:txBody>
      </p:sp>
      <p:sp>
        <p:nvSpPr>
          <p:cNvPr id="43" name="VIF table 6-2"/>
          <p:cNvSpPr/>
          <p:nvPr/>
        </p:nvSpPr>
        <p:spPr>
          <a:xfrm>
            <a:off x="7498080" y="3108960"/>
            <a:ext cx="116128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VIF table text 6-2"/>
          <p:cNvSpPr txBox="1"/>
          <p:nvPr/>
        </p:nvSpPr>
        <p:spPr>
          <a:xfrm>
            <a:off x="7589520" y="3108960"/>
            <a:ext cx="97840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7.6</a:t>
            </a:r>
          </a:p>
        </p:txBody>
      </p:sp>
      <p:sp>
        <p:nvSpPr>
          <p:cNvPr id="45" name="VIF table 7-1"/>
          <p:cNvSpPr/>
          <p:nvPr/>
        </p:nvSpPr>
        <p:spPr>
          <a:xfrm>
            <a:off x="4846320" y="3483864"/>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VIF table text 7-1"/>
          <p:cNvSpPr txBox="1"/>
          <p:nvPr/>
        </p:nvSpPr>
        <p:spPr>
          <a:xfrm>
            <a:off x="4937760" y="3483864"/>
            <a:ext cx="244144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fand1</a:t>
            </a:r>
          </a:p>
        </p:txBody>
      </p:sp>
      <p:sp>
        <p:nvSpPr>
          <p:cNvPr id="47" name="VIF table 7-2"/>
          <p:cNvSpPr/>
          <p:nvPr/>
        </p:nvSpPr>
        <p:spPr>
          <a:xfrm>
            <a:off x="7498080" y="3483864"/>
            <a:ext cx="116128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VIF table text 7-2"/>
          <p:cNvSpPr txBox="1"/>
          <p:nvPr/>
        </p:nvSpPr>
        <p:spPr>
          <a:xfrm>
            <a:off x="7589520" y="3483864"/>
            <a:ext cx="97840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7.8</a:t>
            </a:r>
          </a:p>
        </p:txBody>
      </p:sp>
      <p:sp>
        <p:nvSpPr>
          <p:cNvPr id="49" name="VIF why box"/>
          <p:cNvSpPr/>
          <p:nvPr/>
        </p:nvSpPr>
        <p:spPr>
          <a:xfrm>
            <a:off x="457200" y="39776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Icon VIF why" descr=""/>
          <p:cNvPicPr>
            <a:picLocks noChangeAspect="1"/>
          </p:cNvPicPr>
          <p:nvPr/>
        </p:nvPicPr>
        <p:blipFill>
          <a:blip r:embed="rId3"/>
          <a:stretch>
            <a:fillRect/>
          </a:stretch>
        </p:blipFill>
        <p:spPr>
          <a:xfrm>
            <a:off x="658368" y="4137660"/>
            <a:ext cx="365760" cy="365760"/>
          </a:xfrm>
          <a:prstGeom prst="rect">
            <a:avLst/>
          </a:prstGeom>
        </p:spPr>
      </p:pic>
      <p:sp>
        <p:nvSpPr>
          <p:cNvPr id="51" name="VIF why text"/>
          <p:cNvSpPr txBox="1"/>
          <p:nvPr/>
        </p:nvSpPr>
        <p:spPr>
          <a:xfrm>
            <a:off x="1207008" y="3977640"/>
            <a:ext cx="7315200" cy="685800"/>
          </a:xfrm>
          <a:prstGeom prst="rect">
            <a:avLst/>
          </a:prstGeom>
          <a:noFill/>
        </p:spPr>
        <p:txBody>
          <a:bodyPr wrap="square" lIns="0" rIns="0" tIns="0" bIns="0" anchor="ctr">
            <a:noAutofit/>
          </a:bodyPr>
          <a:lstStyle/>
          <a:p>
            <a:pPr algn="l">
              <a:spcAft>
                <a:spcPts val="400"/>
              </a:spcAft>
            </a:pPr>
            <a:r>
              <a:rPr sz="1250" b="1" lang="en-GB">
                <a:solidFill>
                  <a:schemeClr val="bg1"/>
                </a:solidFill>
              </a:rPr>
              <a:t>Only three display weeks, </a:t>
            </a:r>
            <a:r>
              <a:rPr sz="1250" b="0" lang="en-GB">
                <a:solidFill>
                  <a:schemeClr val="bg1"/>
                </a:solidFill>
              </a:rPr>
              <a:t>mostly together with features: their effects cannot be separated.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6 Influential weeks: Cook's distance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s_cooks.png" descr="Bar chart of Cook's distance by week for the log-log model with a dashed line at 0.059; nine weeks above it, the highest week 42 at 0.17"/>
          <p:cNvPicPr>
            <a:picLocks noChangeAspect="1"/>
          </p:cNvPicPr>
          <p:nvPr/>
        </p:nvPicPr>
        <p:blipFill>
          <a:blip r:embed="rId3"/>
          <a:stretch>
            <a:fillRect/>
          </a:stretch>
        </p:blipFill>
        <p:spPr>
          <a:xfrm>
            <a:off x="457200" y="1234440"/>
            <a:ext cx="3977640" cy="2779776"/>
          </a:xfrm>
          <a:prstGeom prst="rect">
            <a:avLst/>
          </a:prstGeom>
        </p:spPr>
      </p:pic>
      <p:sp>
        <p:nvSpPr>
          <p:cNvPr id="11" name="Cooks rows row 1"/>
          <p:cNvSpPr/>
          <p:nvPr/>
        </p:nvSpPr>
        <p:spPr>
          <a:xfrm>
            <a:off x="4709160" y="1234440"/>
            <a:ext cx="3977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oks rows bar 1"/>
          <p:cNvSpPr/>
          <p:nvPr/>
        </p:nvSpPr>
        <p:spPr>
          <a:xfrm>
            <a:off x="4709160" y="123444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ooks rows text 1"/>
          <p:cNvSpPr txBox="1"/>
          <p:nvPr/>
        </p:nvSpPr>
        <p:spPr>
          <a:xfrm>
            <a:off x="4910328" y="1234440"/>
            <a:ext cx="368503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Flag: </a:t>
            </a:r>
            <a:r>
              <a:rPr sz="1200" b="0" lang="en-GB">
                <a:solidFill>
                  <a:schemeClr val="tx1"/>
                </a:solidFill>
              </a:rPr>
              <a:t>4/n = 0.059; nine weeks above</a:t>
            </a:r>
          </a:p>
        </p:txBody>
      </p:sp>
      <p:sp>
        <p:nvSpPr>
          <p:cNvPr id="14" name="Cooks rows row 2"/>
          <p:cNvSpPr/>
          <p:nvPr/>
        </p:nvSpPr>
        <p:spPr>
          <a:xfrm>
            <a:off x="4709160" y="1856232"/>
            <a:ext cx="3977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oks rows bar 2"/>
          <p:cNvSpPr/>
          <p:nvPr/>
        </p:nvSpPr>
        <p:spPr>
          <a:xfrm>
            <a:off x="4709160" y="18562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oks rows text 2"/>
          <p:cNvSpPr txBox="1"/>
          <p:nvPr/>
        </p:nvSpPr>
        <p:spPr>
          <a:xfrm>
            <a:off x="4910328" y="1856232"/>
            <a:ext cx="368503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Week 42: </a:t>
            </a:r>
            <a:r>
              <a:rPr sz="1200" b="0" lang="en-GB">
                <a:solidFill>
                  <a:schemeClr val="tx1"/>
                </a:solidFill>
              </a:rPr>
              <a:t>0.17; display 70 %, feature 42 %</a:t>
            </a:r>
          </a:p>
        </p:txBody>
      </p:sp>
      <p:sp>
        <p:nvSpPr>
          <p:cNvPr id="17" name="Cooks rows row 3"/>
          <p:cNvSpPr/>
          <p:nvPr/>
        </p:nvSpPr>
        <p:spPr>
          <a:xfrm>
            <a:off x="4709160" y="2478024"/>
            <a:ext cx="3977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ooks rows bar 3"/>
          <p:cNvSpPr/>
          <p:nvPr/>
        </p:nvSpPr>
        <p:spPr>
          <a:xfrm>
            <a:off x="4709160" y="247802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ooks rows text 3"/>
          <p:cNvSpPr txBox="1"/>
          <p:nvPr/>
        </p:nvSpPr>
        <p:spPr>
          <a:xfrm>
            <a:off x="4910328" y="2478024"/>
            <a:ext cx="368503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Without it: </a:t>
            </a:r>
            <a:r>
              <a:rPr sz="1200" b="0" lang="en-GB">
                <a:solidFill>
                  <a:schemeClr val="tx1"/>
                </a:solidFill>
              </a:rPr>
              <a:t>elasticity −3.76 (−3.68)</a:t>
            </a:r>
          </a:p>
        </p:txBody>
      </p:sp>
      <p:sp>
        <p:nvSpPr>
          <p:cNvPr id="20" name="Cooks rows row 4"/>
          <p:cNvSpPr/>
          <p:nvPr/>
        </p:nvSpPr>
        <p:spPr>
          <a:xfrm>
            <a:off x="4709160" y="3099816"/>
            <a:ext cx="397764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oks rows bar 4"/>
          <p:cNvSpPr/>
          <p:nvPr/>
        </p:nvSpPr>
        <p:spPr>
          <a:xfrm>
            <a:off x="4709160" y="3099816"/>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ooks rows text 4"/>
          <p:cNvSpPr txBox="1"/>
          <p:nvPr/>
        </p:nvSpPr>
        <p:spPr>
          <a:xfrm>
            <a:off x="4910328" y="3099816"/>
            <a:ext cx="368503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But: </a:t>
            </a:r>
            <a:r>
              <a:rPr sz="1200" b="0" lang="en-GB">
                <a:solidFill>
                  <a:schemeClr val="tx1"/>
                </a:solidFill>
              </a:rPr>
              <a:t>display effect 0.45 instead of 0.61</a:t>
            </a:r>
          </a:p>
        </p:txBody>
      </p:sp>
      <p:sp>
        <p:nvSpPr>
          <p:cNvPr id="23" name="Cooks fix box"/>
          <p:cNvSpPr/>
          <p:nvPr/>
        </p:nvSpPr>
        <p:spPr>
          <a:xfrm>
            <a:off x="457200" y="41605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Cooks fix" descr=""/>
          <p:cNvPicPr>
            <a:picLocks noChangeAspect="1"/>
          </p:cNvPicPr>
          <p:nvPr/>
        </p:nvPicPr>
        <p:blipFill>
          <a:blip r:embed="rId4"/>
          <a:stretch>
            <a:fillRect/>
          </a:stretch>
        </p:blipFill>
        <p:spPr>
          <a:xfrm>
            <a:off x="658368" y="4297680"/>
            <a:ext cx="365760" cy="365760"/>
          </a:xfrm>
          <a:prstGeom prst="rect">
            <a:avLst/>
          </a:prstGeom>
        </p:spPr>
      </p:pic>
      <p:sp>
        <p:nvSpPr>
          <p:cNvPr id="25" name="Cooks fix text"/>
          <p:cNvSpPr txBox="1"/>
          <p:nvPr/>
        </p:nvSpPr>
        <p:spPr>
          <a:xfrm>
            <a:off x="1207008" y="4160520"/>
            <a:ext cx="7315200" cy="640080"/>
          </a:xfrm>
          <a:prstGeom prst="rect">
            <a:avLst/>
          </a:prstGeom>
          <a:noFill/>
        </p:spPr>
        <p:txBody>
          <a:bodyPr wrap="square" lIns="0" rIns="0" tIns="0" bIns="0" anchor="ctr">
            <a:noAutofit/>
          </a:bodyPr>
          <a:lstStyle/>
          <a:p>
            <a:pPr algn="l">
              <a:spcAft>
                <a:spcPts val="400"/>
              </a:spcAft>
            </a:pPr>
            <a:r>
              <a:rPr sz="1250" b="1" lang="en-GB">
                <a:solidFill>
                  <a:schemeClr val="bg1"/>
                </a:solidFill>
              </a:rPr>
              <a:t>Never delete silently: </a:t>
            </a:r>
            <a:r>
              <a:rPr sz="1250" b="0" lang="en-GB">
                <a:solidFill>
                  <a:schemeClr val="bg1"/>
                </a:solidFill>
              </a:rPr>
              <a:t>check the data, report with and without the week.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scorecard: logs fix three assumptions at once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corecard 1-1"/>
          <p:cNvSpPr/>
          <p:nvPr/>
        </p:nvSpPr>
        <p:spPr>
          <a:xfrm>
            <a:off x="457200" y="1234440"/>
            <a:ext cx="207568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corecard text 1-1"/>
          <p:cNvSpPr txBox="1"/>
          <p:nvPr/>
        </p:nvSpPr>
        <p:spPr>
          <a:xfrm>
            <a:off x="548640" y="1234440"/>
            <a:ext cx="189280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Test</a:t>
            </a:r>
          </a:p>
        </p:txBody>
      </p:sp>
      <p:sp>
        <p:nvSpPr>
          <p:cNvPr id="12" name="Scorecard 1-2"/>
          <p:cNvSpPr/>
          <p:nvPr/>
        </p:nvSpPr>
        <p:spPr>
          <a:xfrm>
            <a:off x="2560320" y="1234440"/>
            <a:ext cx="207568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corecard text 1-2"/>
          <p:cNvSpPr txBox="1"/>
          <p:nvPr/>
        </p:nvSpPr>
        <p:spPr>
          <a:xfrm>
            <a:off x="2651760" y="1234440"/>
            <a:ext cx="189280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H0</a:t>
            </a:r>
          </a:p>
        </p:txBody>
      </p:sp>
      <p:sp>
        <p:nvSpPr>
          <p:cNvPr id="14" name="Scorecard 1-3"/>
          <p:cNvSpPr/>
          <p:nvPr/>
        </p:nvSpPr>
        <p:spPr>
          <a:xfrm>
            <a:off x="4663440" y="1234440"/>
            <a:ext cx="19842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corecard text 1-3"/>
          <p:cNvSpPr txBox="1"/>
          <p:nvPr/>
        </p:nvSpPr>
        <p:spPr>
          <a:xfrm>
            <a:off x="4754880" y="1234440"/>
            <a:ext cx="18013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Linear</a:t>
            </a:r>
          </a:p>
        </p:txBody>
      </p:sp>
      <p:sp>
        <p:nvSpPr>
          <p:cNvPr id="16" name="Scorecard 1-4"/>
          <p:cNvSpPr/>
          <p:nvPr/>
        </p:nvSpPr>
        <p:spPr>
          <a:xfrm>
            <a:off x="6675120" y="1234440"/>
            <a:ext cx="19842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corecard text 1-4"/>
          <p:cNvSpPr txBox="1"/>
          <p:nvPr/>
        </p:nvSpPr>
        <p:spPr>
          <a:xfrm>
            <a:off x="6766560" y="1234440"/>
            <a:ext cx="18013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Log-log</a:t>
            </a:r>
          </a:p>
        </p:txBody>
      </p:sp>
      <p:sp>
        <p:nvSpPr>
          <p:cNvPr id="18" name="Scorecard 2-1"/>
          <p:cNvSpPr/>
          <p:nvPr/>
        </p:nvSpPr>
        <p:spPr>
          <a:xfrm>
            <a:off x="457200" y="1627632"/>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corecard text 2-1"/>
          <p:cNvSpPr txBox="1"/>
          <p:nvPr/>
        </p:nvSpPr>
        <p:spPr>
          <a:xfrm>
            <a:off x="548640" y="1627632"/>
            <a:ext cx="189280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RESET p</a:t>
            </a:r>
          </a:p>
        </p:txBody>
      </p:sp>
      <p:sp>
        <p:nvSpPr>
          <p:cNvPr id="20" name="Scorecard 2-2"/>
          <p:cNvSpPr/>
          <p:nvPr/>
        </p:nvSpPr>
        <p:spPr>
          <a:xfrm>
            <a:off x="2560320" y="1627632"/>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corecard text 2-2"/>
          <p:cNvSpPr txBox="1"/>
          <p:nvPr/>
        </p:nvSpPr>
        <p:spPr>
          <a:xfrm>
            <a:off x="2651760" y="1627632"/>
            <a:ext cx="1892808" cy="365760"/>
          </a:xfrm>
          <a:prstGeom prst="rect">
            <a:avLst/>
          </a:prstGeom>
          <a:noFill/>
        </p:spPr>
        <p:txBody>
          <a:bodyPr wrap="square" lIns="0" rIns="0" tIns="0" bIns="0" anchor="ctr">
            <a:noAutofit/>
          </a:bodyPr>
          <a:lstStyle/>
          <a:p>
            <a:pPr algn="l">
              <a:spcAft>
                <a:spcPts val="400"/>
              </a:spcAft>
            </a:pPr>
            <a:r>
              <a:rPr sz="1200" b="0" lang="en-GB">
                <a:solidFill>
                  <a:schemeClr val="tx1"/>
                </a:solidFill>
              </a:rPr>
              <a:t>right form</a:t>
            </a:r>
          </a:p>
        </p:txBody>
      </p:sp>
      <p:sp>
        <p:nvSpPr>
          <p:cNvPr id="22" name="Scorecard 2-3"/>
          <p:cNvSpPr/>
          <p:nvPr/>
        </p:nvSpPr>
        <p:spPr>
          <a:xfrm>
            <a:off x="4663440" y="1627632"/>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corecard text 2-3"/>
          <p:cNvSpPr txBox="1"/>
          <p:nvPr/>
        </p:nvSpPr>
        <p:spPr>
          <a:xfrm>
            <a:off x="4754880" y="1627632"/>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&lt; 0.001  ✗</a:t>
            </a:r>
          </a:p>
        </p:txBody>
      </p:sp>
      <p:sp>
        <p:nvSpPr>
          <p:cNvPr id="24" name="Scorecard 2-4"/>
          <p:cNvSpPr/>
          <p:nvPr/>
        </p:nvSpPr>
        <p:spPr>
          <a:xfrm>
            <a:off x="6675120" y="1627632"/>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corecard text 2-4"/>
          <p:cNvSpPr txBox="1"/>
          <p:nvPr/>
        </p:nvSpPr>
        <p:spPr>
          <a:xfrm>
            <a:off x="6766560" y="1627632"/>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0.32  ✓</a:t>
            </a:r>
          </a:p>
        </p:txBody>
      </p:sp>
      <p:sp>
        <p:nvSpPr>
          <p:cNvPr id="26" name="Scorecard 3-1"/>
          <p:cNvSpPr/>
          <p:nvPr/>
        </p:nvSpPr>
        <p:spPr>
          <a:xfrm>
            <a:off x="457200" y="2020824"/>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corecard text 3-1"/>
          <p:cNvSpPr txBox="1"/>
          <p:nvPr/>
        </p:nvSpPr>
        <p:spPr>
          <a:xfrm>
            <a:off x="548640" y="2020824"/>
            <a:ext cx="189280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Breusch-Pagan p</a:t>
            </a:r>
          </a:p>
        </p:txBody>
      </p:sp>
      <p:sp>
        <p:nvSpPr>
          <p:cNvPr id="28" name="Scorecard 3-2"/>
          <p:cNvSpPr/>
          <p:nvPr/>
        </p:nvSpPr>
        <p:spPr>
          <a:xfrm>
            <a:off x="2560320" y="2020824"/>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corecard text 3-2"/>
          <p:cNvSpPr txBox="1"/>
          <p:nvPr/>
        </p:nvSpPr>
        <p:spPr>
          <a:xfrm>
            <a:off x="2651760" y="2020824"/>
            <a:ext cx="1892808" cy="365760"/>
          </a:xfrm>
          <a:prstGeom prst="rect">
            <a:avLst/>
          </a:prstGeom>
          <a:noFill/>
        </p:spPr>
        <p:txBody>
          <a:bodyPr wrap="square" lIns="0" rIns="0" tIns="0" bIns="0" anchor="ctr">
            <a:noAutofit/>
          </a:bodyPr>
          <a:lstStyle/>
          <a:p>
            <a:pPr algn="l">
              <a:spcAft>
                <a:spcPts val="400"/>
              </a:spcAft>
            </a:pPr>
            <a:r>
              <a:rPr sz="1200" b="0" lang="en-GB">
                <a:solidFill>
                  <a:schemeClr val="tx1"/>
                </a:solidFill>
              </a:rPr>
              <a:t>constant variance</a:t>
            </a:r>
          </a:p>
        </p:txBody>
      </p:sp>
      <p:sp>
        <p:nvSpPr>
          <p:cNvPr id="30" name="Scorecard 3-3"/>
          <p:cNvSpPr/>
          <p:nvPr/>
        </p:nvSpPr>
        <p:spPr>
          <a:xfrm>
            <a:off x="4663440" y="2020824"/>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corecard text 3-3"/>
          <p:cNvSpPr txBox="1"/>
          <p:nvPr/>
        </p:nvSpPr>
        <p:spPr>
          <a:xfrm>
            <a:off x="4754880" y="2020824"/>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&lt; 0.001  ✗</a:t>
            </a:r>
          </a:p>
        </p:txBody>
      </p:sp>
      <p:sp>
        <p:nvSpPr>
          <p:cNvPr id="32" name="Scorecard 3-4"/>
          <p:cNvSpPr/>
          <p:nvPr/>
        </p:nvSpPr>
        <p:spPr>
          <a:xfrm>
            <a:off x="6675120" y="2020824"/>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corecard text 3-4"/>
          <p:cNvSpPr txBox="1"/>
          <p:nvPr/>
        </p:nvSpPr>
        <p:spPr>
          <a:xfrm>
            <a:off x="6766560" y="2020824"/>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0.68  ✓</a:t>
            </a:r>
          </a:p>
        </p:txBody>
      </p:sp>
      <p:sp>
        <p:nvSpPr>
          <p:cNvPr id="34" name="Scorecard 4-1"/>
          <p:cNvSpPr/>
          <p:nvPr/>
        </p:nvSpPr>
        <p:spPr>
          <a:xfrm>
            <a:off x="457200" y="2414016"/>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corecard text 4-1"/>
          <p:cNvSpPr txBox="1"/>
          <p:nvPr/>
        </p:nvSpPr>
        <p:spPr>
          <a:xfrm>
            <a:off x="548640" y="2414016"/>
            <a:ext cx="189280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Jarque-Bera p</a:t>
            </a:r>
          </a:p>
        </p:txBody>
      </p:sp>
      <p:sp>
        <p:nvSpPr>
          <p:cNvPr id="36" name="Scorecard 4-2"/>
          <p:cNvSpPr/>
          <p:nvPr/>
        </p:nvSpPr>
        <p:spPr>
          <a:xfrm>
            <a:off x="2560320" y="2414016"/>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corecard text 4-2"/>
          <p:cNvSpPr txBox="1"/>
          <p:nvPr/>
        </p:nvSpPr>
        <p:spPr>
          <a:xfrm>
            <a:off x="2651760" y="2414016"/>
            <a:ext cx="1892808" cy="365760"/>
          </a:xfrm>
          <a:prstGeom prst="rect">
            <a:avLst/>
          </a:prstGeom>
          <a:noFill/>
        </p:spPr>
        <p:txBody>
          <a:bodyPr wrap="square" lIns="0" rIns="0" tIns="0" bIns="0" anchor="ctr">
            <a:noAutofit/>
          </a:bodyPr>
          <a:lstStyle/>
          <a:p>
            <a:pPr algn="l">
              <a:spcAft>
                <a:spcPts val="400"/>
              </a:spcAft>
            </a:pPr>
            <a:r>
              <a:rPr sz="1200" b="0" lang="en-GB">
                <a:solidFill>
                  <a:schemeClr val="tx1"/>
                </a:solidFill>
              </a:rPr>
              <a:t>normal residuals</a:t>
            </a:r>
          </a:p>
        </p:txBody>
      </p:sp>
      <p:sp>
        <p:nvSpPr>
          <p:cNvPr id="38" name="Scorecard 4-3"/>
          <p:cNvSpPr/>
          <p:nvPr/>
        </p:nvSpPr>
        <p:spPr>
          <a:xfrm>
            <a:off x="4663440" y="2414016"/>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corecard text 4-3"/>
          <p:cNvSpPr txBox="1"/>
          <p:nvPr/>
        </p:nvSpPr>
        <p:spPr>
          <a:xfrm>
            <a:off x="4754880" y="2414016"/>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&lt; 0.001  ✗</a:t>
            </a:r>
          </a:p>
        </p:txBody>
      </p:sp>
      <p:sp>
        <p:nvSpPr>
          <p:cNvPr id="40" name="Scorecard 4-4"/>
          <p:cNvSpPr/>
          <p:nvPr/>
        </p:nvSpPr>
        <p:spPr>
          <a:xfrm>
            <a:off x="6675120" y="2414016"/>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corecard text 4-4"/>
          <p:cNvSpPr txBox="1"/>
          <p:nvPr/>
        </p:nvSpPr>
        <p:spPr>
          <a:xfrm>
            <a:off x="6766560" y="2414016"/>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0.50  ✓</a:t>
            </a:r>
          </a:p>
        </p:txBody>
      </p:sp>
      <p:sp>
        <p:nvSpPr>
          <p:cNvPr id="42" name="Scorecard 5-1"/>
          <p:cNvSpPr/>
          <p:nvPr/>
        </p:nvSpPr>
        <p:spPr>
          <a:xfrm>
            <a:off x="457200" y="2807208"/>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corecard text 5-1"/>
          <p:cNvSpPr txBox="1"/>
          <p:nvPr/>
        </p:nvSpPr>
        <p:spPr>
          <a:xfrm>
            <a:off x="548640" y="2807208"/>
            <a:ext cx="189280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Shapiro-Wilk p</a:t>
            </a:r>
          </a:p>
        </p:txBody>
      </p:sp>
      <p:sp>
        <p:nvSpPr>
          <p:cNvPr id="44" name="Scorecard 5-2"/>
          <p:cNvSpPr/>
          <p:nvPr/>
        </p:nvSpPr>
        <p:spPr>
          <a:xfrm>
            <a:off x="2560320" y="2807208"/>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corecard text 5-2"/>
          <p:cNvSpPr txBox="1"/>
          <p:nvPr/>
        </p:nvSpPr>
        <p:spPr>
          <a:xfrm>
            <a:off x="2651760" y="2807208"/>
            <a:ext cx="1892808" cy="365760"/>
          </a:xfrm>
          <a:prstGeom prst="rect">
            <a:avLst/>
          </a:prstGeom>
          <a:noFill/>
        </p:spPr>
        <p:txBody>
          <a:bodyPr wrap="square" lIns="0" rIns="0" tIns="0" bIns="0" anchor="ctr">
            <a:noAutofit/>
          </a:bodyPr>
          <a:lstStyle/>
          <a:p>
            <a:pPr algn="l">
              <a:spcAft>
                <a:spcPts val="400"/>
              </a:spcAft>
            </a:pPr>
            <a:r>
              <a:rPr sz="1200" b="0" lang="en-GB">
                <a:solidFill>
                  <a:schemeClr val="tx1"/>
                </a:solidFill>
              </a:rPr>
              <a:t>normal residuals</a:t>
            </a:r>
          </a:p>
        </p:txBody>
      </p:sp>
      <p:sp>
        <p:nvSpPr>
          <p:cNvPr id="46" name="Scorecard 5-3"/>
          <p:cNvSpPr/>
          <p:nvPr/>
        </p:nvSpPr>
        <p:spPr>
          <a:xfrm>
            <a:off x="4663440" y="2807208"/>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Scorecard text 5-3"/>
          <p:cNvSpPr txBox="1"/>
          <p:nvPr/>
        </p:nvSpPr>
        <p:spPr>
          <a:xfrm>
            <a:off x="4754880" y="2807208"/>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0.001  ✗</a:t>
            </a:r>
          </a:p>
        </p:txBody>
      </p:sp>
      <p:sp>
        <p:nvSpPr>
          <p:cNvPr id="48" name="Scorecard 5-4"/>
          <p:cNvSpPr/>
          <p:nvPr/>
        </p:nvSpPr>
        <p:spPr>
          <a:xfrm>
            <a:off x="6675120" y="2807208"/>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corecard text 5-4"/>
          <p:cNvSpPr txBox="1"/>
          <p:nvPr/>
        </p:nvSpPr>
        <p:spPr>
          <a:xfrm>
            <a:off x="6766560" y="2807208"/>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0.50  ✓</a:t>
            </a:r>
          </a:p>
        </p:txBody>
      </p:sp>
      <p:sp>
        <p:nvSpPr>
          <p:cNvPr id="50" name="Scorecard 6-1"/>
          <p:cNvSpPr/>
          <p:nvPr/>
        </p:nvSpPr>
        <p:spPr>
          <a:xfrm>
            <a:off x="457200" y="3200400"/>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corecard text 6-1"/>
          <p:cNvSpPr txBox="1"/>
          <p:nvPr/>
        </p:nvSpPr>
        <p:spPr>
          <a:xfrm>
            <a:off x="548640" y="3200400"/>
            <a:ext cx="189280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Largest VIF</a:t>
            </a:r>
          </a:p>
        </p:txBody>
      </p:sp>
      <p:sp>
        <p:nvSpPr>
          <p:cNvPr id="52" name="Scorecard 6-2"/>
          <p:cNvSpPr/>
          <p:nvPr/>
        </p:nvSpPr>
        <p:spPr>
          <a:xfrm>
            <a:off x="2560320" y="3200400"/>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Scorecard text 6-2"/>
          <p:cNvSpPr txBox="1"/>
          <p:nvPr/>
        </p:nvSpPr>
        <p:spPr>
          <a:xfrm>
            <a:off x="2651760" y="3200400"/>
            <a:ext cx="1892808" cy="365760"/>
          </a:xfrm>
          <a:prstGeom prst="rect">
            <a:avLst/>
          </a:prstGeom>
          <a:noFill/>
        </p:spPr>
        <p:txBody>
          <a:bodyPr wrap="square" lIns="0" rIns="0" tIns="0" bIns="0" anchor="ctr">
            <a:noAutofit/>
          </a:bodyPr>
          <a:lstStyle/>
          <a:p>
            <a:pPr algn="l">
              <a:spcAft>
                <a:spcPts val="400"/>
              </a:spcAft>
            </a:pPr>
            <a:r>
              <a:rPr sz="1200" b="0" lang="en-GB">
                <a:solidFill>
                  <a:schemeClr val="tx1"/>
                </a:solidFill>
              </a:rPr>
              <a:t>below 5</a:t>
            </a:r>
          </a:p>
        </p:txBody>
      </p:sp>
      <p:sp>
        <p:nvSpPr>
          <p:cNvPr id="54" name="Scorecard 6-3"/>
          <p:cNvSpPr/>
          <p:nvPr/>
        </p:nvSpPr>
        <p:spPr>
          <a:xfrm>
            <a:off x="4663440" y="3200400"/>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Scorecard text 6-3"/>
          <p:cNvSpPr txBox="1"/>
          <p:nvPr/>
        </p:nvSpPr>
        <p:spPr>
          <a:xfrm>
            <a:off x="4754880" y="3200400"/>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2.3  ✓</a:t>
            </a:r>
          </a:p>
        </p:txBody>
      </p:sp>
      <p:sp>
        <p:nvSpPr>
          <p:cNvPr id="56" name="Scorecard 6-4"/>
          <p:cNvSpPr/>
          <p:nvPr/>
        </p:nvSpPr>
        <p:spPr>
          <a:xfrm>
            <a:off x="6675120" y="3200400"/>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Scorecard text 6-4"/>
          <p:cNvSpPr txBox="1"/>
          <p:nvPr/>
        </p:nvSpPr>
        <p:spPr>
          <a:xfrm>
            <a:off x="6766560" y="3200400"/>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2.4  ✓</a:t>
            </a:r>
          </a:p>
        </p:txBody>
      </p:sp>
      <p:sp>
        <p:nvSpPr>
          <p:cNvPr id="58" name="Scorecard 7-1"/>
          <p:cNvSpPr/>
          <p:nvPr/>
        </p:nvSpPr>
        <p:spPr>
          <a:xfrm>
            <a:off x="457200" y="3593592"/>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corecard text 7-1"/>
          <p:cNvSpPr txBox="1"/>
          <p:nvPr/>
        </p:nvSpPr>
        <p:spPr>
          <a:xfrm>
            <a:off x="548640" y="3593592"/>
            <a:ext cx="189280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Durbin-Watson</a:t>
            </a:r>
          </a:p>
        </p:txBody>
      </p:sp>
      <p:sp>
        <p:nvSpPr>
          <p:cNvPr id="60" name="Scorecard 7-2"/>
          <p:cNvSpPr/>
          <p:nvPr/>
        </p:nvSpPr>
        <p:spPr>
          <a:xfrm>
            <a:off x="2560320" y="3593592"/>
            <a:ext cx="2075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corecard text 7-2"/>
          <p:cNvSpPr txBox="1"/>
          <p:nvPr/>
        </p:nvSpPr>
        <p:spPr>
          <a:xfrm>
            <a:off x="2651760" y="3593592"/>
            <a:ext cx="1892808" cy="365760"/>
          </a:xfrm>
          <a:prstGeom prst="rect">
            <a:avLst/>
          </a:prstGeom>
          <a:noFill/>
        </p:spPr>
        <p:txBody>
          <a:bodyPr wrap="square" lIns="0" rIns="0" tIns="0" bIns="0" anchor="ctr">
            <a:noAutofit/>
          </a:bodyPr>
          <a:lstStyle/>
          <a:p>
            <a:pPr algn="l">
              <a:spcAft>
                <a:spcPts val="400"/>
              </a:spcAft>
            </a:pPr>
            <a:r>
              <a:rPr sz="1200" b="0" lang="en-GB">
                <a:solidFill>
                  <a:schemeClr val="tx1"/>
                </a:solidFill>
              </a:rPr>
              <a:t>about 2</a:t>
            </a:r>
          </a:p>
        </p:txBody>
      </p:sp>
      <p:sp>
        <p:nvSpPr>
          <p:cNvPr id="62" name="Scorecard 7-3"/>
          <p:cNvSpPr/>
          <p:nvPr/>
        </p:nvSpPr>
        <p:spPr>
          <a:xfrm>
            <a:off x="4663440" y="3593592"/>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corecard text 7-3"/>
          <p:cNvSpPr txBox="1"/>
          <p:nvPr/>
        </p:nvSpPr>
        <p:spPr>
          <a:xfrm>
            <a:off x="4754880" y="3593592"/>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1.48  ✗</a:t>
            </a:r>
          </a:p>
        </p:txBody>
      </p:sp>
      <p:sp>
        <p:nvSpPr>
          <p:cNvPr id="64" name="Scorecard 7-4"/>
          <p:cNvSpPr/>
          <p:nvPr/>
        </p:nvSpPr>
        <p:spPr>
          <a:xfrm>
            <a:off x="6675120" y="3593592"/>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corecard text 7-4"/>
          <p:cNvSpPr txBox="1"/>
          <p:nvPr/>
        </p:nvSpPr>
        <p:spPr>
          <a:xfrm>
            <a:off x="6766560" y="3593592"/>
            <a:ext cx="18013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1.13  ✗</a:t>
            </a:r>
          </a:p>
        </p:txBody>
      </p:sp>
      <p:sp>
        <p:nvSpPr>
          <p:cNvPr id="66" name="Scorecard verdict box"/>
          <p:cNvSpPr/>
          <p:nvPr/>
        </p:nvSpPr>
        <p:spPr>
          <a:xfrm>
            <a:off x="457200" y="39776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7" name="Icon Scorecard verdict" descr=""/>
          <p:cNvPicPr>
            <a:picLocks noChangeAspect="1"/>
          </p:cNvPicPr>
          <p:nvPr/>
        </p:nvPicPr>
        <p:blipFill>
          <a:blip r:embed="rId3"/>
          <a:stretch>
            <a:fillRect/>
          </a:stretch>
        </p:blipFill>
        <p:spPr>
          <a:xfrm>
            <a:off x="658368" y="4137660"/>
            <a:ext cx="365760" cy="365760"/>
          </a:xfrm>
          <a:prstGeom prst="rect">
            <a:avLst/>
          </a:prstGeom>
        </p:spPr>
      </p:pic>
      <p:sp>
        <p:nvSpPr>
          <p:cNvPr id="68" name="Scorecard verdict text"/>
          <p:cNvSpPr txBox="1"/>
          <p:nvPr/>
        </p:nvSpPr>
        <p:spPr>
          <a:xfrm>
            <a:off x="1207008" y="3977640"/>
            <a:ext cx="7315200" cy="685800"/>
          </a:xfrm>
          <a:prstGeom prst="rect">
            <a:avLst/>
          </a:prstGeom>
          <a:noFill/>
        </p:spPr>
        <p:txBody>
          <a:bodyPr wrap="square" lIns="0" rIns="0" tIns="0" bIns="0" anchor="ctr">
            <a:noAutofit/>
          </a:bodyPr>
          <a:lstStyle/>
          <a:p>
            <a:pPr algn="l">
              <a:spcAft>
                <a:spcPts val="400"/>
              </a:spcAft>
            </a:pPr>
            <a:r>
              <a:rPr sz="1250" b="1" lang="en-GB">
                <a:solidFill>
                  <a:schemeClr val="bg1"/>
                </a:solidFill>
              </a:rPr>
              <a:t>Report the log-log model: </a:t>
            </a:r>
            <a:r>
              <a:rPr sz="1250" b="0" lang="en-GB">
                <a:solidFill>
                  <a:schemeClr val="bg1"/>
                </a:solidFill>
              </a:rPr>
              <a:t>sales respond in per cent, so errors grow with the level; logs fix that.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6 · 0/1 variables, categories, the reference group, the dummy trap</a:t>
            </a:r>
          </a:p>
        </p:txBody>
      </p:sp>
      <p:sp>
        <p:nvSpPr>
          <p:cNvPr id="3" name="Title 2"/>
          <p:cNvSpPr>
            <a:spLocks noGrp="1"/>
          </p:cNvSpPr>
          <p:nvPr>
            <p:ph type="ctrTitle"/>
          </p:nvPr>
        </p:nvSpPr>
        <p:spPr/>
        <p:txBody>
          <a:bodyPr/>
          <a:lstStyle/>
          <a:p>
            <a:r>
              <a:rPr sz="1600" lang="en-GB"/>
              <a:t>Dummy coding</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 dummy: 1 if yes, 0 if no</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ummy data 1-1"/>
          <p:cNvSpPr/>
          <p:nvPr/>
        </p:nvSpPr>
        <p:spPr>
          <a:xfrm>
            <a:off x="457200" y="1234440"/>
            <a:ext cx="106984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ummy data text 1-1"/>
          <p:cNvSpPr txBox="1"/>
          <p:nvPr/>
        </p:nvSpPr>
        <p:spPr>
          <a:xfrm>
            <a:off x="548640" y="1234440"/>
            <a:ext cx="88696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2" name="Dummy data 1-2"/>
          <p:cNvSpPr/>
          <p:nvPr/>
        </p:nvSpPr>
        <p:spPr>
          <a:xfrm>
            <a:off x="1554480" y="1234440"/>
            <a:ext cx="134416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ummy data text 1-2"/>
          <p:cNvSpPr txBox="1"/>
          <p:nvPr/>
        </p:nvSpPr>
        <p:spPr>
          <a:xfrm>
            <a:off x="1645920" y="1234440"/>
            <a:ext cx="116128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december</a:t>
            </a:r>
          </a:p>
        </p:txBody>
      </p:sp>
      <p:sp>
        <p:nvSpPr>
          <p:cNvPr id="14" name="Dummy data 1-3"/>
          <p:cNvSpPr/>
          <p:nvPr/>
        </p:nvSpPr>
        <p:spPr>
          <a:xfrm>
            <a:off x="2926080" y="1234440"/>
            <a:ext cx="12527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ummy data text 1-3"/>
          <p:cNvSpPr txBox="1"/>
          <p:nvPr/>
        </p:nvSpPr>
        <p:spPr>
          <a:xfrm>
            <a:off x="3017520" y="1234440"/>
            <a:ext cx="106984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sales</a:t>
            </a:r>
          </a:p>
        </p:txBody>
      </p:sp>
      <p:sp>
        <p:nvSpPr>
          <p:cNvPr id="16" name="Dummy data 2-1"/>
          <p:cNvSpPr/>
          <p:nvPr/>
        </p:nvSpPr>
        <p:spPr>
          <a:xfrm>
            <a:off x="457200" y="1609344"/>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ummy data text 2-1"/>
          <p:cNvSpPr txBox="1"/>
          <p:nvPr/>
        </p:nvSpPr>
        <p:spPr>
          <a:xfrm>
            <a:off x="548640" y="1609344"/>
            <a:ext cx="88696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1</a:t>
            </a:r>
          </a:p>
        </p:txBody>
      </p:sp>
      <p:sp>
        <p:nvSpPr>
          <p:cNvPr id="18" name="Dummy data 2-2"/>
          <p:cNvSpPr/>
          <p:nvPr/>
        </p:nvSpPr>
        <p:spPr>
          <a:xfrm>
            <a:off x="1554480" y="1609344"/>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ummy data text 2-2"/>
          <p:cNvSpPr txBox="1"/>
          <p:nvPr/>
        </p:nvSpPr>
        <p:spPr>
          <a:xfrm>
            <a:off x="1645920" y="1609344"/>
            <a:ext cx="116128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a:t>
            </a:r>
          </a:p>
        </p:txBody>
      </p:sp>
      <p:sp>
        <p:nvSpPr>
          <p:cNvPr id="20" name="Dummy data 2-3"/>
          <p:cNvSpPr/>
          <p:nvPr/>
        </p:nvSpPr>
        <p:spPr>
          <a:xfrm>
            <a:off x="2926080" y="1609344"/>
            <a:ext cx="12527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ummy data text 2-3"/>
          <p:cNvSpPr txBox="1"/>
          <p:nvPr/>
        </p:nvSpPr>
        <p:spPr>
          <a:xfrm>
            <a:off x="3017520" y="1609344"/>
            <a:ext cx="10698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66</a:t>
            </a:r>
          </a:p>
        </p:txBody>
      </p:sp>
      <p:sp>
        <p:nvSpPr>
          <p:cNvPr id="22" name="Dummy data 3-1"/>
          <p:cNvSpPr/>
          <p:nvPr/>
        </p:nvSpPr>
        <p:spPr>
          <a:xfrm>
            <a:off x="457200" y="1984248"/>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ummy data text 3-1"/>
          <p:cNvSpPr txBox="1"/>
          <p:nvPr/>
        </p:nvSpPr>
        <p:spPr>
          <a:xfrm>
            <a:off x="548640" y="1984248"/>
            <a:ext cx="88696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2</a:t>
            </a:r>
          </a:p>
        </p:txBody>
      </p:sp>
      <p:sp>
        <p:nvSpPr>
          <p:cNvPr id="24" name="Dummy data 3-2"/>
          <p:cNvSpPr/>
          <p:nvPr/>
        </p:nvSpPr>
        <p:spPr>
          <a:xfrm>
            <a:off x="1554480" y="1984248"/>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ummy data text 3-2"/>
          <p:cNvSpPr txBox="1"/>
          <p:nvPr/>
        </p:nvSpPr>
        <p:spPr>
          <a:xfrm>
            <a:off x="1645920" y="1984248"/>
            <a:ext cx="116128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26" name="Dummy data 3-3"/>
          <p:cNvSpPr/>
          <p:nvPr/>
        </p:nvSpPr>
        <p:spPr>
          <a:xfrm>
            <a:off x="2926080" y="1984248"/>
            <a:ext cx="12527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ummy data text 3-3"/>
          <p:cNvSpPr txBox="1"/>
          <p:nvPr/>
        </p:nvSpPr>
        <p:spPr>
          <a:xfrm>
            <a:off x="3017520" y="1984248"/>
            <a:ext cx="10698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86</a:t>
            </a:r>
          </a:p>
        </p:txBody>
      </p:sp>
      <p:sp>
        <p:nvSpPr>
          <p:cNvPr id="28" name="Dummy data 4-1"/>
          <p:cNvSpPr/>
          <p:nvPr/>
        </p:nvSpPr>
        <p:spPr>
          <a:xfrm>
            <a:off x="457200" y="2359152"/>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ummy data text 4-1"/>
          <p:cNvSpPr txBox="1"/>
          <p:nvPr/>
        </p:nvSpPr>
        <p:spPr>
          <a:xfrm>
            <a:off x="548640" y="2359152"/>
            <a:ext cx="88696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a:t>
            </a:r>
          </a:p>
        </p:txBody>
      </p:sp>
      <p:sp>
        <p:nvSpPr>
          <p:cNvPr id="30" name="Dummy data 4-2"/>
          <p:cNvSpPr/>
          <p:nvPr/>
        </p:nvSpPr>
        <p:spPr>
          <a:xfrm>
            <a:off x="1554480" y="2359152"/>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Dummy data text 4-2"/>
          <p:cNvSpPr txBox="1"/>
          <p:nvPr/>
        </p:nvSpPr>
        <p:spPr>
          <a:xfrm>
            <a:off x="1645920" y="2359152"/>
            <a:ext cx="116128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a:t>
            </a:r>
          </a:p>
        </p:txBody>
      </p:sp>
      <p:sp>
        <p:nvSpPr>
          <p:cNvPr id="32" name="Dummy data 4-3"/>
          <p:cNvSpPr/>
          <p:nvPr/>
        </p:nvSpPr>
        <p:spPr>
          <a:xfrm>
            <a:off x="2926080" y="2359152"/>
            <a:ext cx="12527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Dummy data text 4-3"/>
          <p:cNvSpPr txBox="1"/>
          <p:nvPr/>
        </p:nvSpPr>
        <p:spPr>
          <a:xfrm>
            <a:off x="3017520" y="2359152"/>
            <a:ext cx="10698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a:t>
            </a:r>
          </a:p>
        </p:txBody>
      </p:sp>
      <p:sp>
        <p:nvSpPr>
          <p:cNvPr id="34" name="Dummy data 5-1"/>
          <p:cNvSpPr/>
          <p:nvPr/>
        </p:nvSpPr>
        <p:spPr>
          <a:xfrm>
            <a:off x="457200" y="2734056"/>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Dummy data text 5-1"/>
          <p:cNvSpPr txBox="1"/>
          <p:nvPr/>
        </p:nvSpPr>
        <p:spPr>
          <a:xfrm>
            <a:off x="548640" y="2734056"/>
            <a:ext cx="88696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53</a:t>
            </a:r>
          </a:p>
        </p:txBody>
      </p:sp>
      <p:sp>
        <p:nvSpPr>
          <p:cNvPr id="36" name="Dummy data 5-2"/>
          <p:cNvSpPr/>
          <p:nvPr/>
        </p:nvSpPr>
        <p:spPr>
          <a:xfrm>
            <a:off x="1554480" y="2734056"/>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Dummy data text 5-2"/>
          <p:cNvSpPr txBox="1"/>
          <p:nvPr/>
        </p:nvSpPr>
        <p:spPr>
          <a:xfrm>
            <a:off x="1645920" y="2734056"/>
            <a:ext cx="116128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a:t>
            </a:r>
          </a:p>
        </p:txBody>
      </p:sp>
      <p:sp>
        <p:nvSpPr>
          <p:cNvPr id="38" name="Dummy data 5-3"/>
          <p:cNvSpPr/>
          <p:nvPr/>
        </p:nvSpPr>
        <p:spPr>
          <a:xfrm>
            <a:off x="2926080" y="2734056"/>
            <a:ext cx="12527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Dummy data text 5-3"/>
          <p:cNvSpPr txBox="1"/>
          <p:nvPr/>
        </p:nvSpPr>
        <p:spPr>
          <a:xfrm>
            <a:off x="3017520" y="2734056"/>
            <a:ext cx="10698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70</a:t>
            </a:r>
          </a:p>
        </p:txBody>
      </p:sp>
      <p:sp>
        <p:nvSpPr>
          <p:cNvPr id="40" name="Dummy read row 1"/>
          <p:cNvSpPr/>
          <p:nvPr/>
        </p:nvSpPr>
        <p:spPr>
          <a:xfrm>
            <a:off x="4434840" y="1234440"/>
            <a:ext cx="425196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Dummy read bar 1"/>
          <p:cNvSpPr/>
          <p:nvPr/>
        </p:nvSpPr>
        <p:spPr>
          <a:xfrm>
            <a:off x="4434840" y="123444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Dummy read text 1"/>
          <p:cNvSpPr txBox="1"/>
          <p:nvPr/>
        </p:nvSpPr>
        <p:spPr>
          <a:xfrm>
            <a:off x="4636008" y="1234440"/>
            <a:ext cx="395935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Linear: </a:t>
            </a:r>
            <a:r>
              <a:rPr sz="1200" b="0" lang="en-GB">
                <a:solidFill>
                  <a:schemeClr val="tx1"/>
                </a:solidFill>
              </a:rPr>
              <a:t>December −25 units, p = 0.32</a:t>
            </a:r>
          </a:p>
        </p:txBody>
      </p:sp>
      <p:sp>
        <p:nvSpPr>
          <p:cNvPr id="43" name="Dummy read row 2"/>
          <p:cNvSpPr/>
          <p:nvPr/>
        </p:nvSpPr>
        <p:spPr>
          <a:xfrm>
            <a:off x="4434840" y="1856232"/>
            <a:ext cx="425196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Dummy read bar 2"/>
          <p:cNvSpPr/>
          <p:nvPr/>
        </p:nvSpPr>
        <p:spPr>
          <a:xfrm>
            <a:off x="4434840" y="18562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Dummy read text 2"/>
          <p:cNvSpPr txBox="1"/>
          <p:nvPr/>
        </p:nvSpPr>
        <p:spPr>
          <a:xfrm>
            <a:off x="4636008" y="1856232"/>
            <a:ext cx="395935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Log-log: </a:t>
            </a:r>
            <a:r>
              <a:rPr sz="1200" b="0" lang="en-GB">
                <a:solidFill>
                  <a:schemeClr val="tx1"/>
                </a:solidFill>
              </a:rPr>
              <a:t>b = −0.319, p = 0.02</a:t>
            </a:r>
          </a:p>
        </p:txBody>
      </p:sp>
      <p:sp>
        <p:nvSpPr>
          <p:cNvPr id="46" name="Dummy read row 3"/>
          <p:cNvSpPr/>
          <p:nvPr/>
        </p:nvSpPr>
        <p:spPr>
          <a:xfrm>
            <a:off x="4434840" y="2478024"/>
            <a:ext cx="425196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Dummy read bar 3"/>
          <p:cNvSpPr/>
          <p:nvPr/>
        </p:nvSpPr>
        <p:spPr>
          <a:xfrm>
            <a:off x="4434840" y="247802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Dummy read text 3"/>
          <p:cNvSpPr txBox="1"/>
          <p:nvPr/>
        </p:nvSpPr>
        <p:spPr>
          <a:xfrm>
            <a:off x="4636008" y="2478024"/>
            <a:ext cx="395935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In per cent: </a:t>
            </a:r>
            <a:r>
              <a:rPr sz="1200" b="0" lang="en-GB">
                <a:solidFill>
                  <a:schemeClr val="tx1"/>
                </a:solidFill>
              </a:rPr>
              <a:t>e^b − 1 = e^−0.319 − 1 = −27 %</a:t>
            </a:r>
          </a:p>
        </p:txBody>
      </p:sp>
      <p:sp>
        <p:nvSpPr>
          <p:cNvPr id="49" name="Dummy rule box"/>
          <p:cNvSpPr/>
          <p:nvPr/>
        </p:nvSpPr>
        <p:spPr>
          <a:xfrm>
            <a:off x="457200" y="32918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Icon Dummy rule" descr=""/>
          <p:cNvPicPr>
            <a:picLocks noChangeAspect="1"/>
          </p:cNvPicPr>
          <p:nvPr/>
        </p:nvPicPr>
        <p:blipFill>
          <a:blip r:embed="rId3"/>
          <a:stretch>
            <a:fillRect/>
          </a:stretch>
        </p:blipFill>
        <p:spPr>
          <a:xfrm>
            <a:off x="658368" y="3451860"/>
            <a:ext cx="365760" cy="365760"/>
          </a:xfrm>
          <a:prstGeom prst="rect">
            <a:avLst/>
          </a:prstGeom>
        </p:spPr>
      </p:pic>
      <p:sp>
        <p:nvSpPr>
          <p:cNvPr id="51" name="Dummy rule text"/>
          <p:cNvSpPr txBox="1"/>
          <p:nvPr/>
        </p:nvSpPr>
        <p:spPr>
          <a:xfrm>
            <a:off x="1207008" y="3291840"/>
            <a:ext cx="7315200" cy="685800"/>
          </a:xfrm>
          <a:prstGeom prst="rect">
            <a:avLst/>
          </a:prstGeom>
          <a:noFill/>
        </p:spPr>
        <p:txBody>
          <a:bodyPr wrap="square" lIns="0" rIns="0" tIns="0" bIns="0" anchor="ctr">
            <a:noAutofit/>
          </a:bodyPr>
          <a:lstStyle/>
          <a:p>
            <a:pPr algn="l">
              <a:spcAft>
                <a:spcPts val="400"/>
              </a:spcAft>
            </a:pPr>
            <a:r>
              <a:rPr sz="1250" b="1" lang="en-GB">
                <a:solidFill>
                  <a:schemeClr val="bg1"/>
                </a:solidFill>
              </a:rPr>
              <a:t>Reading a dummy: </a:t>
            </a:r>
            <a:r>
              <a:rPr sz="1250" b="0" lang="en-GB">
                <a:solidFill>
                  <a:schemeClr val="bg1"/>
                </a:solidFill>
              </a:rPr>
              <a:t>the difference to the weeks with 0, other variables held constant.</a:t>
            </a:r>
          </a:p>
        </p:txBody>
      </p:sp>
      <p:sp>
        <p:nvSpPr>
          <p:cNvPr id="52" name="Dummy approx row 1"/>
          <p:cNvSpPr/>
          <p:nvPr/>
        </p:nvSpPr>
        <p:spPr>
          <a:xfrm>
            <a:off x="457200" y="41148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Dummy approx bar 1"/>
          <p:cNvSpPr/>
          <p:nvPr/>
        </p:nvSpPr>
        <p:spPr>
          <a:xfrm>
            <a:off x="457200" y="41148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Dummy approx text 1"/>
          <p:cNvSpPr txBox="1"/>
          <p:nvPr/>
        </p:nvSpPr>
        <p:spPr>
          <a:xfrm>
            <a:off x="658368" y="411480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Small b (|b| &lt; 0.1): </a:t>
            </a:r>
            <a:r>
              <a:rPr sz="1200" b="0" lang="en-GB">
                <a:solidFill>
                  <a:schemeClr val="tx1"/>
                </a:solidFill>
              </a:rPr>
              <a:t>100 × b is close enough; larger b: use e^b − 1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 category with k groups needs k − 1 dummies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eason coding 1-1"/>
          <p:cNvSpPr/>
          <p:nvPr/>
        </p:nvSpPr>
        <p:spPr>
          <a:xfrm>
            <a:off x="457200" y="1234440"/>
            <a:ext cx="157276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eason coding text 1-1"/>
          <p:cNvSpPr txBox="1"/>
          <p:nvPr/>
        </p:nvSpPr>
        <p:spPr>
          <a:xfrm>
            <a:off x="548640" y="1234440"/>
            <a:ext cx="138988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Band</a:t>
            </a:r>
          </a:p>
        </p:txBody>
      </p:sp>
      <p:sp>
        <p:nvSpPr>
          <p:cNvPr id="12" name="Season coding 1-2"/>
          <p:cNvSpPr/>
          <p:nvPr/>
        </p:nvSpPr>
        <p:spPr>
          <a:xfrm>
            <a:off x="2057400" y="1234440"/>
            <a:ext cx="8412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eason coding text 1-2"/>
          <p:cNvSpPr txBox="1"/>
          <p:nvPr/>
        </p:nvSpPr>
        <p:spPr>
          <a:xfrm>
            <a:off x="2148840" y="1234440"/>
            <a:ext cx="65836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Weeks</a:t>
            </a:r>
          </a:p>
        </p:txBody>
      </p:sp>
      <p:sp>
        <p:nvSpPr>
          <p:cNvPr id="14" name="Season coding 1-3"/>
          <p:cNvSpPr/>
          <p:nvPr/>
        </p:nvSpPr>
        <p:spPr>
          <a:xfrm>
            <a:off x="2926080" y="1234440"/>
            <a:ext cx="7040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eason coding text 1-3"/>
          <p:cNvSpPr txBox="1"/>
          <p:nvPr/>
        </p:nvSpPr>
        <p:spPr>
          <a:xfrm>
            <a:off x="3017520" y="1234440"/>
            <a:ext cx="52120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cold</a:t>
            </a:r>
          </a:p>
        </p:txBody>
      </p:sp>
      <p:sp>
        <p:nvSpPr>
          <p:cNvPr id="16" name="Season coding 1-4"/>
          <p:cNvSpPr/>
          <p:nvPr/>
        </p:nvSpPr>
        <p:spPr>
          <a:xfrm>
            <a:off x="3657600" y="1234440"/>
            <a:ext cx="7040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ason coding text 1-4"/>
          <p:cNvSpPr txBox="1"/>
          <p:nvPr/>
        </p:nvSpPr>
        <p:spPr>
          <a:xfrm>
            <a:off x="3749040" y="1234440"/>
            <a:ext cx="52120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warm</a:t>
            </a:r>
          </a:p>
        </p:txBody>
      </p:sp>
      <p:sp>
        <p:nvSpPr>
          <p:cNvPr id="18" name="Season coding 2-1"/>
          <p:cNvSpPr/>
          <p:nvPr/>
        </p:nvSpPr>
        <p:spPr>
          <a:xfrm>
            <a:off x="457200" y="1645920"/>
            <a:ext cx="15727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eason coding text 2-1"/>
          <p:cNvSpPr txBox="1"/>
          <p:nvPr/>
        </p:nvSpPr>
        <p:spPr>
          <a:xfrm>
            <a:off x="548640" y="1645920"/>
            <a:ext cx="138988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cold, &lt; 5 °C</a:t>
            </a:r>
          </a:p>
        </p:txBody>
      </p:sp>
      <p:sp>
        <p:nvSpPr>
          <p:cNvPr id="20" name="Season coding 2-2"/>
          <p:cNvSpPr/>
          <p:nvPr/>
        </p:nvSpPr>
        <p:spPr>
          <a:xfrm>
            <a:off x="2057400" y="164592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eason coding text 2-2"/>
          <p:cNvSpPr txBox="1"/>
          <p:nvPr/>
        </p:nvSpPr>
        <p:spPr>
          <a:xfrm>
            <a:off x="2148840" y="1645920"/>
            <a:ext cx="65836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19</a:t>
            </a:r>
          </a:p>
        </p:txBody>
      </p:sp>
      <p:sp>
        <p:nvSpPr>
          <p:cNvPr id="22" name="Season coding 2-3"/>
          <p:cNvSpPr/>
          <p:nvPr/>
        </p:nvSpPr>
        <p:spPr>
          <a:xfrm>
            <a:off x="2926080" y="164592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eason coding text 2-3"/>
          <p:cNvSpPr txBox="1"/>
          <p:nvPr/>
        </p:nvSpPr>
        <p:spPr>
          <a:xfrm>
            <a:off x="3017520" y="1645920"/>
            <a:ext cx="5212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1</a:t>
            </a:r>
          </a:p>
        </p:txBody>
      </p:sp>
      <p:sp>
        <p:nvSpPr>
          <p:cNvPr id="24" name="Season coding 2-4"/>
          <p:cNvSpPr/>
          <p:nvPr/>
        </p:nvSpPr>
        <p:spPr>
          <a:xfrm>
            <a:off x="3657600" y="164592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eason coding text 2-4"/>
          <p:cNvSpPr txBox="1"/>
          <p:nvPr/>
        </p:nvSpPr>
        <p:spPr>
          <a:xfrm>
            <a:off x="3749040" y="1645920"/>
            <a:ext cx="5212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26" name="Season coding 3-1"/>
          <p:cNvSpPr/>
          <p:nvPr/>
        </p:nvSpPr>
        <p:spPr>
          <a:xfrm>
            <a:off x="457200" y="2057400"/>
            <a:ext cx="15727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eason coding text 3-1"/>
          <p:cNvSpPr txBox="1"/>
          <p:nvPr/>
        </p:nvSpPr>
        <p:spPr>
          <a:xfrm>
            <a:off x="548640" y="2057400"/>
            <a:ext cx="138988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mild, 5 to 14 °C</a:t>
            </a:r>
          </a:p>
        </p:txBody>
      </p:sp>
      <p:sp>
        <p:nvSpPr>
          <p:cNvPr id="28" name="Season coding 3-2"/>
          <p:cNvSpPr/>
          <p:nvPr/>
        </p:nvSpPr>
        <p:spPr>
          <a:xfrm>
            <a:off x="2057400" y="205740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eason coding text 3-2"/>
          <p:cNvSpPr txBox="1"/>
          <p:nvPr/>
        </p:nvSpPr>
        <p:spPr>
          <a:xfrm>
            <a:off x="2148840" y="2057400"/>
            <a:ext cx="65836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31</a:t>
            </a:r>
          </a:p>
        </p:txBody>
      </p:sp>
      <p:sp>
        <p:nvSpPr>
          <p:cNvPr id="30" name="Season coding 3-3"/>
          <p:cNvSpPr/>
          <p:nvPr/>
        </p:nvSpPr>
        <p:spPr>
          <a:xfrm>
            <a:off x="2926080" y="205740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eason coding text 3-3"/>
          <p:cNvSpPr txBox="1"/>
          <p:nvPr/>
        </p:nvSpPr>
        <p:spPr>
          <a:xfrm>
            <a:off x="3017520" y="2057400"/>
            <a:ext cx="5212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32" name="Season coding 3-4"/>
          <p:cNvSpPr/>
          <p:nvPr/>
        </p:nvSpPr>
        <p:spPr>
          <a:xfrm>
            <a:off x="3657600" y="205740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eason coding text 3-4"/>
          <p:cNvSpPr txBox="1"/>
          <p:nvPr/>
        </p:nvSpPr>
        <p:spPr>
          <a:xfrm>
            <a:off x="3749040" y="2057400"/>
            <a:ext cx="5212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34" name="Season coding 4-1"/>
          <p:cNvSpPr/>
          <p:nvPr/>
        </p:nvSpPr>
        <p:spPr>
          <a:xfrm>
            <a:off x="457200" y="2468880"/>
            <a:ext cx="15727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eason coding text 4-1"/>
          <p:cNvSpPr txBox="1"/>
          <p:nvPr/>
        </p:nvSpPr>
        <p:spPr>
          <a:xfrm>
            <a:off x="548640" y="2468880"/>
            <a:ext cx="138988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warm, ≥ 15 °C</a:t>
            </a:r>
          </a:p>
        </p:txBody>
      </p:sp>
      <p:sp>
        <p:nvSpPr>
          <p:cNvPr id="36" name="Season coding 4-2"/>
          <p:cNvSpPr/>
          <p:nvPr/>
        </p:nvSpPr>
        <p:spPr>
          <a:xfrm>
            <a:off x="2057400" y="246888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eason coding text 4-2"/>
          <p:cNvSpPr txBox="1"/>
          <p:nvPr/>
        </p:nvSpPr>
        <p:spPr>
          <a:xfrm>
            <a:off x="2148840" y="2468880"/>
            <a:ext cx="65836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18</a:t>
            </a:r>
          </a:p>
        </p:txBody>
      </p:sp>
      <p:sp>
        <p:nvSpPr>
          <p:cNvPr id="38" name="Season coding 4-3"/>
          <p:cNvSpPr/>
          <p:nvPr/>
        </p:nvSpPr>
        <p:spPr>
          <a:xfrm>
            <a:off x="2926080" y="246888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eason coding text 4-3"/>
          <p:cNvSpPr txBox="1"/>
          <p:nvPr/>
        </p:nvSpPr>
        <p:spPr>
          <a:xfrm>
            <a:off x="3017520" y="2468880"/>
            <a:ext cx="5212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0" name="Season coding 4-4"/>
          <p:cNvSpPr/>
          <p:nvPr/>
        </p:nvSpPr>
        <p:spPr>
          <a:xfrm>
            <a:off x="3657600" y="246888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eason coding text 4-4"/>
          <p:cNvSpPr txBox="1"/>
          <p:nvPr/>
        </p:nvSpPr>
        <p:spPr>
          <a:xfrm>
            <a:off x="3749040" y="2468880"/>
            <a:ext cx="5212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1</a:t>
            </a:r>
          </a:p>
        </p:txBody>
      </p:sp>
      <p:sp>
        <p:nvSpPr>
          <p:cNvPr id="42" name="Reference note"/>
          <p:cNvSpPr txBox="1"/>
          <p:nvPr/>
        </p:nvSpPr>
        <p:spPr>
          <a:xfrm>
            <a:off x="457200" y="2880360"/>
            <a:ext cx="393192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mild = </a:t>
            </a:r>
            <a:r>
              <a:rPr sz="1200" b="0" lang="en-GB">
                <a:solidFill>
                  <a:schemeClr val="tx1"/>
                </a:solidFill>
              </a:rPr>
              <a:t>reference: the row of zeros</a:t>
            </a:r>
          </a:p>
        </p:txBody>
      </p:sp>
      <p:pic>
        <p:nvPicPr>
          <p:cNvPr id="43" name="Chart as_season.png" descr="Box plots of log sales for cold, mild and warm weeks with jittered points: medians almost equal, around 4.6"/>
          <p:cNvPicPr>
            <a:picLocks noChangeAspect="1"/>
          </p:cNvPicPr>
          <p:nvPr/>
        </p:nvPicPr>
        <p:blipFill>
          <a:blip r:embed="rId3"/>
          <a:stretch>
            <a:fillRect/>
          </a:stretch>
        </p:blipFill>
        <p:spPr>
          <a:xfrm>
            <a:off x="4526280" y="1234440"/>
            <a:ext cx="4160520" cy="2898648"/>
          </a:xfrm>
          <a:prstGeom prst="rect">
            <a:avLst/>
          </a:prstGeom>
        </p:spPr>
      </p:pic>
      <p:sp>
        <p:nvSpPr>
          <p:cNvPr id="44" name="Season result row 1"/>
          <p:cNvSpPr/>
          <p:nvPr/>
        </p:nvSpPr>
        <p:spPr>
          <a:xfrm>
            <a:off x="457200" y="3291840"/>
            <a:ext cx="393192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eason result bar 1"/>
          <p:cNvSpPr/>
          <p:nvPr/>
        </p:nvSpPr>
        <p:spPr>
          <a:xfrm>
            <a:off x="457200" y="3291840"/>
            <a:ext cx="64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Season result text 1"/>
          <p:cNvSpPr txBox="1"/>
          <p:nvPr/>
        </p:nvSpPr>
        <p:spPr>
          <a:xfrm>
            <a:off x="658368" y="3291840"/>
            <a:ext cx="3639312"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cold vs mild: </a:t>
            </a:r>
            <a:r>
              <a:rPr sz="1200" b="0" lang="en-GB">
                <a:solidFill>
                  <a:schemeClr val="tx1"/>
                </a:solidFill>
              </a:rPr>
              <a:t>+0.4 %, p = 0.94</a:t>
            </a:r>
          </a:p>
        </p:txBody>
      </p:sp>
      <p:sp>
        <p:nvSpPr>
          <p:cNvPr id="47" name="Season result row 2"/>
          <p:cNvSpPr/>
          <p:nvPr/>
        </p:nvSpPr>
        <p:spPr>
          <a:xfrm>
            <a:off x="457200" y="3730752"/>
            <a:ext cx="393192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Season result bar 2"/>
          <p:cNvSpPr/>
          <p:nvPr/>
        </p:nvSpPr>
        <p:spPr>
          <a:xfrm>
            <a:off x="457200" y="3730752"/>
            <a:ext cx="64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eason result text 2"/>
          <p:cNvSpPr txBox="1"/>
          <p:nvPr/>
        </p:nvSpPr>
        <p:spPr>
          <a:xfrm>
            <a:off x="658368" y="3730752"/>
            <a:ext cx="3639312"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warm vs mild: </a:t>
            </a:r>
            <a:r>
              <a:rPr sz="1200" b="0" lang="en-GB">
                <a:solidFill>
                  <a:schemeClr val="tx1"/>
                </a:solidFill>
              </a:rPr>
              <a:t>−7.1 %, p = 0.18</a:t>
            </a:r>
          </a:p>
        </p:txBody>
      </p:sp>
      <p:sp>
        <p:nvSpPr>
          <p:cNvPr id="50" name="Season verdict box"/>
          <p:cNvSpPr/>
          <p:nvPr/>
        </p:nvSpPr>
        <p:spPr>
          <a:xfrm>
            <a:off x="457200" y="42519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Icon Season verdict" descr=""/>
          <p:cNvPicPr>
            <a:picLocks noChangeAspect="1"/>
          </p:cNvPicPr>
          <p:nvPr/>
        </p:nvPicPr>
        <p:blipFill>
          <a:blip r:embed="rId4"/>
          <a:stretch>
            <a:fillRect/>
          </a:stretch>
        </p:blipFill>
        <p:spPr>
          <a:xfrm>
            <a:off x="658368" y="4343400"/>
            <a:ext cx="365760" cy="365760"/>
          </a:xfrm>
          <a:prstGeom prst="rect">
            <a:avLst/>
          </a:prstGeom>
        </p:spPr>
      </p:pic>
      <p:sp>
        <p:nvSpPr>
          <p:cNvPr id="52" name="Season verdict text"/>
          <p:cNvSpPr txBox="1"/>
          <p:nvPr/>
        </p:nvSpPr>
        <p:spPr>
          <a:xfrm>
            <a:off x="1207008" y="425196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Result: </a:t>
            </a:r>
            <a:r>
              <a:rPr sz="1200" b="0" lang="en-GB">
                <a:solidFill>
                  <a:schemeClr val="bg1"/>
                </a:solidFill>
              </a:rPr>
              <a:t>with price and December in the model, the season adds little (F-test p = 0.33).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dummy trap and the choice of reference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ap tile tile"/>
          <p:cNvSpPr/>
          <p:nvPr/>
        </p:nvSpPr>
        <p:spPr>
          <a:xfrm>
            <a:off x="457200" y="1234440"/>
            <a:ext cx="404622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rap tile" descr=""/>
          <p:cNvPicPr>
            <a:picLocks noChangeAspect="1"/>
          </p:cNvPicPr>
          <p:nvPr/>
        </p:nvPicPr>
        <p:blipFill>
          <a:blip r:embed="rId3"/>
          <a:stretch>
            <a:fillRect/>
          </a:stretch>
        </p:blipFill>
        <p:spPr>
          <a:xfrm>
            <a:off x="594360" y="1371600"/>
            <a:ext cx="365760" cy="365760"/>
          </a:xfrm>
          <a:prstGeom prst="rect">
            <a:avLst/>
          </a:prstGeom>
        </p:spPr>
      </p:pic>
      <p:sp>
        <p:nvSpPr>
          <p:cNvPr id="12" name="Trap tile heading"/>
          <p:cNvSpPr txBox="1"/>
          <p:nvPr/>
        </p:nvSpPr>
        <p:spPr>
          <a:xfrm>
            <a:off x="105156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The dummy trap</a:t>
            </a:r>
          </a:p>
        </p:txBody>
      </p:sp>
      <p:sp>
        <p:nvSpPr>
          <p:cNvPr id="13" name="Trap tile text"/>
          <p:cNvSpPr txBox="1"/>
          <p:nvPr/>
        </p:nvSpPr>
        <p:spPr>
          <a:xfrm>
            <a:off x="594360" y="1856232"/>
            <a:ext cx="3771900" cy="1051560"/>
          </a:xfrm>
          <a:prstGeom prst="rect">
            <a:avLst/>
          </a:prstGeom>
          <a:noFill/>
        </p:spPr>
        <p:txBody>
          <a:bodyPr wrap="square" lIns="0" rIns="0" tIns="0" bIns="0" anchor="t">
            <a:noAutofit/>
          </a:bodyPr>
          <a:lstStyle/>
          <a:p>
            <a:pPr algn="l">
              <a:spcAft>
                <a:spcPts val="400"/>
              </a:spcAft>
            </a:pPr>
            <a:r>
              <a:rPr sz="1200" b="0" lang="en-GB">
                <a:solidFill>
                  <a:schemeClr val="tx1"/>
                </a:solidFill>
              </a:rPr>
              <a:t>cold + mild + warm = 1 in every week</a:t>
            </a:r>
          </a:p>
          <a:p>
            <a:pPr algn="l">
              <a:spcAft>
                <a:spcPts val="400"/>
              </a:spcAft>
            </a:pPr>
            <a:r>
              <a:rPr sz="1200" b="0" lang="en-GB">
                <a:solidFill>
                  <a:schemeClr val="tx1"/>
                </a:solidFill>
              </a:rPr>
              <a:t>= the intercept column: perfect collinearity</a:t>
            </a:r>
          </a:p>
          <a:p>
            <a:pPr algn="l">
              <a:spcAft>
                <a:spcPts val="400"/>
              </a:spcAft>
            </a:pPr>
            <a:r>
              <a:rPr sz="1200" b="0" lang="en-GB">
                <a:solidFill>
                  <a:schemeClr val="tx1"/>
                </a:solidFill>
              </a:rPr>
              <a:t>Always leave one group out</a:t>
            </a:r>
          </a:p>
        </p:txBody>
      </p:sp>
      <p:sp>
        <p:nvSpPr>
          <p:cNvPr id="14" name="Ref tile tile"/>
          <p:cNvSpPr/>
          <p:nvPr/>
        </p:nvSpPr>
        <p:spPr>
          <a:xfrm>
            <a:off x="4640580" y="1234440"/>
            <a:ext cx="404622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Ref tile" descr=""/>
          <p:cNvPicPr>
            <a:picLocks noChangeAspect="1"/>
          </p:cNvPicPr>
          <p:nvPr/>
        </p:nvPicPr>
        <p:blipFill>
          <a:blip r:embed="rId4"/>
          <a:stretch>
            <a:fillRect/>
          </a:stretch>
        </p:blipFill>
        <p:spPr>
          <a:xfrm>
            <a:off x="4777740" y="1371600"/>
            <a:ext cx="365760" cy="365760"/>
          </a:xfrm>
          <a:prstGeom prst="rect">
            <a:avLst/>
          </a:prstGeom>
        </p:spPr>
      </p:pic>
      <p:sp>
        <p:nvSpPr>
          <p:cNvPr id="16" name="Ref tile heading"/>
          <p:cNvSpPr txBox="1"/>
          <p:nvPr/>
        </p:nvSpPr>
        <p:spPr>
          <a:xfrm>
            <a:off x="523494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The reference group</a:t>
            </a:r>
          </a:p>
        </p:txBody>
      </p:sp>
      <p:sp>
        <p:nvSpPr>
          <p:cNvPr id="17" name="Ref tile text"/>
          <p:cNvSpPr txBox="1"/>
          <p:nvPr/>
        </p:nvSpPr>
        <p:spPr>
          <a:xfrm>
            <a:off x="4777740" y="1856232"/>
            <a:ext cx="3771900" cy="1051560"/>
          </a:xfrm>
          <a:prstGeom prst="rect">
            <a:avLst/>
          </a:prstGeom>
          <a:noFill/>
        </p:spPr>
        <p:txBody>
          <a:bodyPr wrap="square" lIns="0" rIns="0" tIns="0" bIns="0" anchor="t">
            <a:noAutofit/>
          </a:bodyPr>
          <a:lstStyle/>
          <a:p>
            <a:pPr algn="l">
              <a:spcAft>
                <a:spcPts val="400"/>
              </a:spcAft>
            </a:pPr>
            <a:r>
              <a:rPr sz="1200" b="0" lang="en-GB">
                <a:solidFill>
                  <a:schemeClr val="tx1"/>
                </a:solidFill>
              </a:rPr>
              <a:t>Coefficients: differences to it</a:t>
            </a:r>
          </a:p>
          <a:p>
            <a:pPr algn="l">
              <a:spcAft>
                <a:spcPts val="400"/>
              </a:spcAft>
            </a:pPr>
            <a:r>
              <a:rPr sz="1200" b="0" lang="en-GB">
                <a:solidFill>
                  <a:schemeClr val="tx1"/>
                </a:solidFill>
              </a:rPr>
              <a:t>Changes the reading, not the fit (R² 0.900)</a:t>
            </a:r>
          </a:p>
          <a:p>
            <a:pPr algn="l">
              <a:spcAft>
                <a:spcPts val="400"/>
              </a:spcAft>
            </a:pPr>
            <a:r>
              <a:rPr sz="1200" b="0" lang="en-GB">
                <a:solidFill>
                  <a:schemeClr val="tx1"/>
                </a:solidFill>
              </a:rPr>
              <a:t>Pick the normal case: mild</a:t>
            </a:r>
          </a:p>
        </p:txBody>
      </p:sp>
      <p:sp>
        <p:nvSpPr>
          <p:cNvPr id="18" name="Ref code caption bar"/>
          <p:cNvSpPr/>
          <p:nvPr/>
        </p:nvSpPr>
        <p:spPr>
          <a:xfrm>
            <a:off x="457200" y="310896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code caption"/>
          <p:cNvSpPr txBox="1"/>
          <p:nvPr/>
        </p:nvSpPr>
        <p:spPr>
          <a:xfrm>
            <a:off x="566928" y="310896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statsmodels formula</a:t>
            </a:r>
          </a:p>
        </p:txBody>
      </p:sp>
      <p:sp>
        <p:nvSpPr>
          <p:cNvPr id="20" name="Ref code box"/>
          <p:cNvSpPr/>
          <p:nvPr/>
        </p:nvSpPr>
        <p:spPr>
          <a:xfrm>
            <a:off x="457200" y="338328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f code code"/>
          <p:cNvSpPr txBox="1"/>
          <p:nvPr/>
        </p:nvSpPr>
        <p:spPr>
          <a:xfrm>
            <a:off x="594360" y="3474720"/>
            <a:ext cx="7955280" cy="41148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C(season)                          # reference: cold, first in the alphabet</a:t>
            </a:r>
          </a:p>
          <a:p>
            <a:pPr algn="l">
              <a:spcAft>
                <a:spcPts val="0"/>
              </a:spcAft>
            </a:pPr>
            <a:r>
              <a:rPr sz="1200" b="0" lang="en-GB">
                <a:solidFill>
                  <a:schemeClr val="bg1"/>
                </a:solidFill>
                <a:latin typeface="Consolas"/>
              </a:rPr>
              <a:t>C(season, Treatment("mild"))       # reference: mild</a:t>
            </a:r>
          </a:p>
        </p:txBody>
      </p:sp>
      <p:sp>
        <p:nvSpPr>
          <p:cNvPr id="22" name="Trap safe box"/>
          <p:cNvSpPr/>
          <p:nvPr/>
        </p:nvSpPr>
        <p:spPr>
          <a:xfrm>
            <a:off x="457200" y="41148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Trap safe" descr=""/>
          <p:cNvPicPr>
            <a:picLocks noChangeAspect="1"/>
          </p:cNvPicPr>
          <p:nvPr/>
        </p:nvPicPr>
        <p:blipFill>
          <a:blip r:embed="rId5"/>
          <a:stretch>
            <a:fillRect/>
          </a:stretch>
        </p:blipFill>
        <p:spPr>
          <a:xfrm>
            <a:off x="658368" y="4251960"/>
            <a:ext cx="365760" cy="365760"/>
          </a:xfrm>
          <a:prstGeom prst="rect">
            <a:avLst/>
          </a:prstGeom>
        </p:spPr>
      </p:pic>
      <p:sp>
        <p:nvSpPr>
          <p:cNvPr id="24" name="Trap safe text"/>
          <p:cNvSpPr txBox="1"/>
          <p:nvPr/>
        </p:nvSpPr>
        <p:spPr>
          <a:xfrm>
            <a:off x="1207008" y="4114800"/>
            <a:ext cx="7315200" cy="640080"/>
          </a:xfrm>
          <a:prstGeom prst="rect">
            <a:avLst/>
          </a:prstGeom>
          <a:noFill/>
        </p:spPr>
        <p:txBody>
          <a:bodyPr wrap="square" lIns="0" rIns="0" tIns="0" bIns="0" anchor="ctr">
            <a:noAutofit/>
          </a:bodyPr>
          <a:lstStyle/>
          <a:p>
            <a:pPr algn="l">
              <a:spcAft>
                <a:spcPts val="400"/>
              </a:spcAft>
            </a:pPr>
            <a:r>
              <a:rPr sz="1250" b="1" lang="en-GB">
                <a:solidFill>
                  <a:schemeClr val="bg1"/>
                </a:solidFill>
              </a:rPr>
              <a:t>statsmodels avoids the trap </a:t>
            </a:r>
            <a:r>
              <a:rPr sz="1250" b="0" lang="en-GB">
                <a:solidFill>
                  <a:schemeClr val="bg1"/>
                </a:solidFill>
              </a:rPr>
              <a:t>when you write C(); with hand-made dummies, leave one out yourself.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Three pitfalls with dummies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itfall 1 body"/>
          <p:cNvSpPr/>
          <p:nvPr/>
        </p:nvSpPr>
        <p:spPr>
          <a:xfrm>
            <a:off x="45720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itfall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itfall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One Easter week</a:t>
            </a:r>
          </a:p>
        </p:txBody>
      </p:sp>
      <p:pic>
        <p:nvPicPr>
          <p:cNvPr id="13" name="Icon Pitfall 1" descr=""/>
          <p:cNvPicPr>
            <a:picLocks noChangeAspect="1"/>
          </p:cNvPicPr>
          <p:nvPr/>
        </p:nvPicPr>
        <p:blipFill>
          <a:blip r:embed="rId3"/>
          <a:stretch>
            <a:fillRect/>
          </a:stretch>
        </p:blipFill>
        <p:spPr>
          <a:xfrm>
            <a:off x="2670048" y="1284732"/>
            <a:ext cx="310896" cy="310896"/>
          </a:xfrm>
          <a:prstGeom prst="rect">
            <a:avLst/>
          </a:prstGeom>
        </p:spPr>
      </p:pic>
      <p:sp>
        <p:nvSpPr>
          <p:cNvPr id="14" name="Pitfall 1 text"/>
          <p:cNvSpPr txBox="1"/>
          <p:nvPr/>
        </p:nvSpPr>
        <p:spPr>
          <a:xfrm>
            <a:off x="62179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1 in one week only</a:t>
            </a:r>
          </a:p>
          <a:p>
            <a:pPr algn="l" marL="182880" indent="-182880">
              <a:spcAft>
                <a:spcPts val="600"/>
              </a:spcAft>
              <a:buClr>
                <a:schemeClr val="accent1"/>
              </a:buClr>
              <a:buFont typeface="Arial"/>
              <a:buChar char="▪"/>
            </a:pPr>
            <a:r>
              <a:rPr sz="1300" b="0" lang="en-GB">
                <a:solidFill>
                  <a:schemeClr val="tx1"/>
                </a:solidFill>
              </a:rPr>
              <a:t>fits it exactly (leverage 1.00)</a:t>
            </a:r>
          </a:p>
          <a:p>
            <a:pPr algn="l" marL="182880" indent="-182880">
              <a:spcAft>
                <a:spcPts val="600"/>
              </a:spcAft>
              <a:buClr>
                <a:schemeClr val="accent1"/>
              </a:buClr>
              <a:buFont typeface="Arial"/>
              <a:buChar char="▪"/>
            </a:pPr>
            <a:r>
              <a:rPr sz="1300" b="0" lang="en-GB">
                <a:solidFill>
                  <a:schemeClr val="tx1"/>
                </a:solidFill>
              </a:rPr>
              <a:t>no real Easter effect</a:t>
            </a:r>
          </a:p>
        </p:txBody>
      </p:sp>
      <p:sp>
        <p:nvSpPr>
          <p:cNvPr id="15" name="Pitfall 2 body"/>
          <p:cNvSpPr/>
          <p:nvPr/>
        </p:nvSpPr>
        <p:spPr>
          <a:xfrm>
            <a:off x="324612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itfall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itfall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3 display weeks</a:t>
            </a:r>
          </a:p>
        </p:txBody>
      </p:sp>
      <p:pic>
        <p:nvPicPr>
          <p:cNvPr id="18" name="Icon Pitfall 2" descr=""/>
          <p:cNvPicPr>
            <a:picLocks noChangeAspect="1"/>
          </p:cNvPicPr>
          <p:nvPr/>
        </p:nvPicPr>
        <p:blipFill>
          <a:blip r:embed="rId4"/>
          <a:stretch>
            <a:fillRect/>
          </a:stretch>
        </p:blipFill>
        <p:spPr>
          <a:xfrm>
            <a:off x="5458968" y="1284732"/>
            <a:ext cx="310896" cy="310896"/>
          </a:xfrm>
          <a:prstGeom prst="rect">
            <a:avLst/>
          </a:prstGeom>
        </p:spPr>
      </p:pic>
      <p:sp>
        <p:nvSpPr>
          <p:cNvPr id="19" name="Pitfall 2 text"/>
          <p:cNvSpPr txBox="1"/>
          <p:nvPr/>
        </p:nvSpPr>
        <p:spPr>
          <a:xfrm>
            <a:off x="341071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b = 0.61 rests on 3 weeks</a:t>
            </a:r>
          </a:p>
          <a:p>
            <a:pPr algn="l" marL="182880" indent="-182880">
              <a:spcAft>
                <a:spcPts val="600"/>
              </a:spcAft>
              <a:buClr>
                <a:schemeClr val="accent1"/>
              </a:buClr>
              <a:buFont typeface="Arial"/>
              <a:buChar char="▪"/>
            </a:pPr>
            <a:r>
              <a:rPr sz="1300" b="0" lang="en-GB">
                <a:solidFill>
                  <a:schemeClr val="tx1"/>
                </a:solidFill>
              </a:rPr>
              <a:t>without week 42: 0.45</a:t>
            </a:r>
          </a:p>
          <a:p>
            <a:pPr algn="l" marL="182880" indent="-182880">
              <a:spcAft>
                <a:spcPts val="600"/>
              </a:spcAft>
              <a:buClr>
                <a:schemeClr val="accent1"/>
              </a:buClr>
              <a:buFont typeface="Arial"/>
              <a:buChar char="▪"/>
            </a:pPr>
            <a:r>
              <a:rPr sz="1300" b="0" lang="en-GB">
                <a:solidFill>
                  <a:schemeClr val="tx1"/>
                </a:solidFill>
              </a:rPr>
              <a:t>count the 1s first</a:t>
            </a:r>
          </a:p>
        </p:txBody>
      </p:sp>
      <p:sp>
        <p:nvSpPr>
          <p:cNvPr id="20" name="Pitfall 3 body"/>
          <p:cNvSpPr/>
          <p:nvPr/>
        </p:nvSpPr>
        <p:spPr>
          <a:xfrm>
            <a:off x="603504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itfall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itfall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Level, not slope</a:t>
            </a:r>
          </a:p>
        </p:txBody>
      </p:sp>
      <p:pic>
        <p:nvPicPr>
          <p:cNvPr id="23" name="Icon Pitfall 3" descr=""/>
          <p:cNvPicPr>
            <a:picLocks noChangeAspect="1"/>
          </p:cNvPicPr>
          <p:nvPr/>
        </p:nvPicPr>
        <p:blipFill>
          <a:blip r:embed="rId5"/>
          <a:stretch>
            <a:fillRect/>
          </a:stretch>
        </p:blipFill>
        <p:spPr>
          <a:xfrm>
            <a:off x="8247888" y="1284732"/>
            <a:ext cx="310896" cy="310896"/>
          </a:xfrm>
          <a:prstGeom prst="rect">
            <a:avLst/>
          </a:prstGeom>
        </p:spPr>
      </p:pic>
      <p:sp>
        <p:nvSpPr>
          <p:cNvPr id="24" name="Pitfall 3 text"/>
          <p:cNvSpPr txBox="1"/>
          <p:nvPr/>
        </p:nvSpPr>
        <p:spPr>
          <a:xfrm>
            <a:off x="619963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 dummy shifts the line</a:t>
            </a:r>
          </a:p>
          <a:p>
            <a:pPr algn="l" marL="182880" indent="-182880">
              <a:spcAft>
                <a:spcPts val="600"/>
              </a:spcAft>
              <a:buClr>
                <a:schemeClr val="accent1"/>
              </a:buClr>
              <a:buFont typeface="Arial"/>
              <a:buChar char="▪"/>
            </a:pPr>
            <a:r>
              <a:rPr sz="1300" b="0" lang="en-GB">
                <a:solidFill>
                  <a:schemeClr val="tx1"/>
                </a:solidFill>
              </a:rPr>
              <a:t>a different slope needs</a:t>
            </a:r>
          </a:p>
          <a:p>
            <a:pPr algn="l" marL="182880" indent="-182880">
              <a:spcAft>
                <a:spcPts val="600"/>
              </a:spcAft>
              <a:buClr>
                <a:schemeClr val="accent1"/>
              </a:buClr>
              <a:buFont typeface="Arial"/>
              <a:buChar char="▪"/>
            </a:pPr>
            <a:r>
              <a:rPr sz="1300" b="0" lang="en-GB">
                <a:solidFill>
                  <a:schemeClr val="tx1"/>
                </a:solidFill>
              </a:rPr>
              <a:t>an interaction</a:t>
            </a:r>
          </a:p>
        </p:txBody>
      </p:sp>
      <p:sp>
        <p:nvSpPr>
          <p:cNvPr id="25" name="Pitfall rule box"/>
          <p:cNvSpPr/>
          <p:nvPr/>
        </p:nvSpPr>
        <p:spPr>
          <a:xfrm>
            <a:off x="457200" y="393192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Pitfall rule" descr=""/>
          <p:cNvPicPr>
            <a:picLocks noChangeAspect="1"/>
          </p:cNvPicPr>
          <p:nvPr/>
        </p:nvPicPr>
        <p:blipFill>
          <a:blip r:embed="rId6"/>
          <a:stretch>
            <a:fillRect/>
          </a:stretch>
        </p:blipFill>
        <p:spPr>
          <a:xfrm>
            <a:off x="658368" y="4091940"/>
            <a:ext cx="365760" cy="365760"/>
          </a:xfrm>
          <a:prstGeom prst="rect">
            <a:avLst/>
          </a:prstGeom>
        </p:spPr>
      </p:pic>
      <p:sp>
        <p:nvSpPr>
          <p:cNvPr id="27" name="Pitfall rule text"/>
          <p:cNvSpPr txBox="1"/>
          <p:nvPr/>
        </p:nvSpPr>
        <p:spPr>
          <a:xfrm>
            <a:off x="1207008" y="3931920"/>
            <a:ext cx="7315200" cy="685800"/>
          </a:xfrm>
          <a:prstGeom prst="rect">
            <a:avLst/>
          </a:prstGeom>
          <a:noFill/>
        </p:spPr>
        <p:txBody>
          <a:bodyPr wrap="square" lIns="0" rIns="0" tIns="0" bIns="0" anchor="ctr">
            <a:noAutofit/>
          </a:bodyPr>
          <a:lstStyle/>
          <a:p>
            <a:pPr algn="l">
              <a:spcAft>
                <a:spcPts val="400"/>
              </a:spcAft>
            </a:pPr>
            <a:r>
              <a:rPr sz="1250" b="1" lang="en-GB">
                <a:solidFill>
                  <a:schemeClr val="bg1"/>
                </a:solidFill>
              </a:rPr>
              <a:t>Before you trust a dummy: </a:t>
            </a:r>
            <a:r>
              <a:rPr sz="1250" b="0" lang="en-GB">
                <a:solidFill>
                  <a:schemeClr val="bg1"/>
                </a:solidFill>
              </a:rPr>
              <a:t>count how many 1s it has, e.g. (choc["display1"] &gt; 0).sum().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6 · why logs, four log forms, reading and comparing them</a:t>
            </a:r>
          </a:p>
        </p:txBody>
      </p:sp>
      <p:sp>
        <p:nvSpPr>
          <p:cNvPr id="3" name="Title 2"/>
          <p:cNvSpPr>
            <a:spLocks noGrp="1"/>
          </p:cNvSpPr>
          <p:nvPr>
            <p:ph type="ctrTitle"/>
          </p:nvPr>
        </p:nvSpPr>
        <p:spPr/>
        <p:txBody>
          <a:bodyPr/>
          <a:lstStyle/>
          <a:p>
            <a:r>
              <a:rPr sz="1600" lang="en-GB"/>
              <a:t>Log-log regression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Why logs: sales respond in per cent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ult formula box"/>
          <p:cNvSpPr/>
          <p:nvPr/>
        </p:nvSpPr>
        <p:spPr>
          <a:xfrm>
            <a:off x="457200" y="12344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ult formula code"/>
          <p:cNvSpPr txBox="1"/>
          <p:nvPr/>
        </p:nvSpPr>
        <p:spPr>
          <a:xfrm>
            <a:off x="594360" y="1325880"/>
            <a:ext cx="7955280" cy="50292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sales    = a · price1^b · e^(c·december) · error              (multiplicative)</a:t>
            </a:r>
          </a:p>
          <a:p>
            <a:pPr algn="l">
              <a:spcAft>
                <a:spcPts val="0"/>
              </a:spcAft>
            </a:pPr>
            <a:r>
              <a:rPr sz="1200" b="0" lang="en-GB">
                <a:solidFill>
                  <a:schemeClr val="bg1"/>
                </a:solidFill>
                <a:latin typeface="Consolas"/>
              </a:rPr>
              <a:t>ln sales = ln a + b · ln price1 + c · december + ln error     (linear in logs)</a:t>
            </a:r>
          </a:p>
        </p:txBody>
      </p:sp>
      <p:sp>
        <p:nvSpPr>
          <p:cNvPr id="12" name="Why 1 tile"/>
          <p:cNvSpPr/>
          <p:nvPr/>
        </p:nvSpPr>
        <p:spPr>
          <a:xfrm>
            <a:off x="457200" y="2240280"/>
            <a:ext cx="265176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Why 1" descr=""/>
          <p:cNvPicPr>
            <a:picLocks noChangeAspect="1"/>
          </p:cNvPicPr>
          <p:nvPr/>
        </p:nvPicPr>
        <p:blipFill>
          <a:blip r:embed="rId3"/>
          <a:stretch>
            <a:fillRect/>
          </a:stretch>
        </p:blipFill>
        <p:spPr>
          <a:xfrm>
            <a:off x="594360" y="2377440"/>
            <a:ext cx="365760" cy="365760"/>
          </a:xfrm>
          <a:prstGeom prst="rect">
            <a:avLst/>
          </a:prstGeom>
        </p:spPr>
      </p:pic>
      <p:sp>
        <p:nvSpPr>
          <p:cNvPr id="14" name="Why 1 heading"/>
          <p:cNvSpPr txBox="1"/>
          <p:nvPr/>
        </p:nvSpPr>
        <p:spPr>
          <a:xfrm>
            <a:off x="1051560" y="237744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Elasticities</a:t>
            </a:r>
          </a:p>
        </p:txBody>
      </p:sp>
      <p:sp>
        <p:nvSpPr>
          <p:cNvPr id="15" name="Why 1 text"/>
          <p:cNvSpPr txBox="1"/>
          <p:nvPr/>
        </p:nvSpPr>
        <p:spPr>
          <a:xfrm>
            <a:off x="594360" y="2862072"/>
            <a:ext cx="2377440" cy="731520"/>
          </a:xfrm>
          <a:prstGeom prst="rect">
            <a:avLst/>
          </a:prstGeom>
          <a:noFill/>
        </p:spPr>
        <p:txBody>
          <a:bodyPr wrap="square" lIns="0" rIns="0" tIns="0" bIns="0" anchor="t">
            <a:noAutofit/>
          </a:bodyPr>
          <a:lstStyle/>
          <a:p>
            <a:pPr algn="l">
              <a:spcAft>
                <a:spcPts val="400"/>
              </a:spcAft>
            </a:pPr>
            <a:r>
              <a:rPr sz="1200" b="0" lang="en-GB">
                <a:solidFill>
                  <a:schemeClr val="tx1"/>
                </a:solidFill>
              </a:rPr>
              <a:t>b: per cent change in sales</a:t>
            </a:r>
          </a:p>
          <a:p>
            <a:pPr algn="l">
              <a:spcAft>
                <a:spcPts val="400"/>
              </a:spcAft>
            </a:pPr>
            <a:r>
              <a:rPr sz="1200" b="0" lang="en-GB">
                <a:solidFill>
                  <a:schemeClr val="tx1"/>
                </a:solidFill>
              </a:rPr>
              <a:t>for 1 % more price</a:t>
            </a:r>
          </a:p>
        </p:txBody>
      </p:sp>
      <p:sp>
        <p:nvSpPr>
          <p:cNvPr id="16" name="Why 2 tile"/>
          <p:cNvSpPr/>
          <p:nvPr/>
        </p:nvSpPr>
        <p:spPr>
          <a:xfrm>
            <a:off x="3246120" y="2240280"/>
            <a:ext cx="265176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Why 2" descr=""/>
          <p:cNvPicPr>
            <a:picLocks noChangeAspect="1"/>
          </p:cNvPicPr>
          <p:nvPr/>
        </p:nvPicPr>
        <p:blipFill>
          <a:blip r:embed="rId4"/>
          <a:stretch>
            <a:fillRect/>
          </a:stretch>
        </p:blipFill>
        <p:spPr>
          <a:xfrm>
            <a:off x="3383280" y="2377440"/>
            <a:ext cx="365760" cy="365760"/>
          </a:xfrm>
          <a:prstGeom prst="rect">
            <a:avLst/>
          </a:prstGeom>
        </p:spPr>
      </p:pic>
      <p:sp>
        <p:nvSpPr>
          <p:cNvPr id="18" name="Why 2 heading"/>
          <p:cNvSpPr txBox="1"/>
          <p:nvPr/>
        </p:nvSpPr>
        <p:spPr>
          <a:xfrm>
            <a:off x="3840480" y="237744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Comparable</a:t>
            </a:r>
          </a:p>
        </p:txBody>
      </p:sp>
      <p:sp>
        <p:nvSpPr>
          <p:cNvPr id="19" name="Why 2 text"/>
          <p:cNvSpPr txBox="1"/>
          <p:nvPr/>
        </p:nvSpPr>
        <p:spPr>
          <a:xfrm>
            <a:off x="3383280" y="2862072"/>
            <a:ext cx="2377440" cy="731520"/>
          </a:xfrm>
          <a:prstGeom prst="rect">
            <a:avLst/>
          </a:prstGeom>
          <a:noFill/>
        </p:spPr>
        <p:txBody>
          <a:bodyPr wrap="square" lIns="0" rIns="0" tIns="0" bIns="0" anchor="t">
            <a:noAutofit/>
          </a:bodyPr>
          <a:lstStyle/>
          <a:p>
            <a:pPr algn="l">
              <a:spcAft>
                <a:spcPts val="400"/>
              </a:spcAft>
            </a:pPr>
            <a:r>
              <a:rPr sz="1200" b="0" lang="en-GB">
                <a:solidFill>
                  <a:schemeClr val="tx1"/>
                </a:solidFill>
              </a:rPr>
              <a:t>across brands, markets</a:t>
            </a:r>
          </a:p>
          <a:p>
            <a:pPr algn="l">
              <a:spcAft>
                <a:spcPts val="400"/>
              </a:spcAft>
            </a:pPr>
            <a:r>
              <a:rPr sz="1200" b="0" lang="en-GB">
                <a:solidFill>
                  <a:schemeClr val="tx1"/>
                </a:solidFill>
              </a:rPr>
              <a:t>and countries</a:t>
            </a:r>
          </a:p>
        </p:txBody>
      </p:sp>
      <p:sp>
        <p:nvSpPr>
          <p:cNvPr id="20" name="Why 3 tile"/>
          <p:cNvSpPr/>
          <p:nvPr/>
        </p:nvSpPr>
        <p:spPr>
          <a:xfrm>
            <a:off x="6035040" y="2240280"/>
            <a:ext cx="265176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Why 3" descr=""/>
          <p:cNvPicPr>
            <a:picLocks noChangeAspect="1"/>
          </p:cNvPicPr>
          <p:nvPr/>
        </p:nvPicPr>
        <p:blipFill>
          <a:blip r:embed="rId5"/>
          <a:stretch>
            <a:fillRect/>
          </a:stretch>
        </p:blipFill>
        <p:spPr>
          <a:xfrm>
            <a:off x="6172200" y="2377440"/>
            <a:ext cx="365760" cy="365760"/>
          </a:xfrm>
          <a:prstGeom prst="rect">
            <a:avLst/>
          </a:prstGeom>
        </p:spPr>
      </p:pic>
      <p:sp>
        <p:nvSpPr>
          <p:cNvPr id="22" name="Why 3 heading"/>
          <p:cNvSpPr txBox="1"/>
          <p:nvPr/>
        </p:nvSpPr>
        <p:spPr>
          <a:xfrm>
            <a:off x="6629400" y="237744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Better errors</a:t>
            </a:r>
          </a:p>
        </p:txBody>
      </p:sp>
      <p:sp>
        <p:nvSpPr>
          <p:cNvPr id="23" name="Why 3 text"/>
          <p:cNvSpPr txBox="1"/>
          <p:nvPr/>
        </p:nvSpPr>
        <p:spPr>
          <a:xfrm>
            <a:off x="6172200" y="2862072"/>
            <a:ext cx="2377440" cy="731520"/>
          </a:xfrm>
          <a:prstGeom prst="rect">
            <a:avLst/>
          </a:prstGeom>
          <a:noFill/>
        </p:spPr>
        <p:txBody>
          <a:bodyPr wrap="square" lIns="0" rIns="0" tIns="0" bIns="0" anchor="t">
            <a:noAutofit/>
          </a:bodyPr>
          <a:lstStyle/>
          <a:p>
            <a:pPr algn="l">
              <a:spcAft>
                <a:spcPts val="400"/>
              </a:spcAft>
            </a:pPr>
            <a:r>
              <a:rPr sz="1200" b="0" lang="en-GB">
                <a:solidFill>
                  <a:schemeClr val="tx1"/>
                </a:solidFill>
              </a:rPr>
              <a:t>constant in per cent:</a:t>
            </a:r>
          </a:p>
          <a:p>
            <a:pPr algn="l">
              <a:spcAft>
                <a:spcPts val="400"/>
              </a:spcAft>
            </a:pPr>
            <a:r>
              <a:rPr sz="1200" b="0" lang="en-GB">
                <a:solidFill>
                  <a:schemeClr val="tx1"/>
                </a:solidFill>
              </a:rPr>
              <a:t>the funnel disappears</a:t>
            </a:r>
          </a:p>
        </p:txBody>
      </p:sp>
      <p:sp>
        <p:nvSpPr>
          <p:cNvPr id="24" name="Why limit box"/>
          <p:cNvSpPr/>
          <p:nvPr/>
        </p:nvSpPr>
        <p:spPr>
          <a:xfrm>
            <a:off x="457200" y="379476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Why limit" descr=""/>
          <p:cNvPicPr>
            <a:picLocks noChangeAspect="1"/>
          </p:cNvPicPr>
          <p:nvPr/>
        </p:nvPicPr>
        <p:blipFill>
          <a:blip r:embed="rId6"/>
          <a:stretch>
            <a:fillRect/>
          </a:stretch>
        </p:blipFill>
        <p:spPr>
          <a:xfrm>
            <a:off x="658368" y="3977640"/>
            <a:ext cx="365760" cy="365760"/>
          </a:xfrm>
          <a:prstGeom prst="rect">
            <a:avLst/>
          </a:prstGeom>
        </p:spPr>
      </p:pic>
      <p:sp>
        <p:nvSpPr>
          <p:cNvPr id="26" name="Why limit text"/>
          <p:cNvSpPr txBox="1"/>
          <p:nvPr/>
        </p:nvSpPr>
        <p:spPr>
          <a:xfrm>
            <a:off x="1207008" y="3794760"/>
            <a:ext cx="7315200" cy="731520"/>
          </a:xfrm>
          <a:prstGeom prst="rect">
            <a:avLst/>
          </a:prstGeom>
          <a:noFill/>
        </p:spPr>
        <p:txBody>
          <a:bodyPr wrap="square" lIns="0" rIns="0" tIns="0" bIns="0" anchor="ctr">
            <a:noAutofit/>
          </a:bodyPr>
          <a:lstStyle/>
          <a:p>
            <a:pPr algn="l">
              <a:spcAft>
                <a:spcPts val="400"/>
              </a:spcAft>
            </a:pPr>
            <a:r>
              <a:rPr sz="1250" b="1" lang="en-GB">
                <a:solidFill>
                  <a:schemeClr val="bg1"/>
                </a:solidFill>
              </a:rPr>
              <a:t>No log of zero: </a:t>
            </a:r>
            <a:r>
              <a:rPr sz="1250" b="0" lang="en-GB">
                <a:solidFill>
                  <a:schemeClr val="bg1"/>
                </a:solidFill>
              </a:rPr>
              <a:t>shares with zeros (feature1 in 22 weeks) and dummies stay in levels.</a:t>
            </a:r>
          </a:p>
        </p:txBody>
      </p:sp>
      <p:sp>
        <p:nvSpPr>
          <p:cNvPr id="27" name="Sources"/>
          <p:cNvSpPr txBox="1"/>
          <p:nvPr/>
        </p:nvSpPr>
        <p:spPr>
          <a:xfrm>
            <a:off x="457200" y="466344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Hanssens, Parsons &amp; Schultz 2001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Forms table"/>
          <p:cNvGraphicFramePr>
            <a:graphicFrameLocks noGrp="1"/>
          </p:cNvGraphicFramePr>
          <p:nvPr>
            <p:ph type="tbl" idx="1"/>
          </p:nvPr>
        </p:nvGraphicFramePr>
        <p:xfrm>
          <a:off x="457200" y="1234440"/>
          <a:ext cx="8229600" cy="1854200"/>
        </p:xfrm>
        <a:graphic>
          <a:graphicData uri="http://schemas.openxmlformats.org/drawingml/2006/table">
            <a:tbl>
              <a:tblPr firstRow="1" bandRow="1">
                <a:tableStyleId>{5C22544A-7EE6-4342-B048-85BDC9FD1C3A}</a:tableStyleId>
              </a:tblPr>
              <a:tblGrid>
                <a:gridCol w="1371600"/>
                <a:gridCol w="2286000"/>
                <a:gridCol w="2103120"/>
                <a:gridCol w="2468880"/>
              </a:tblGrid>
              <a:tr h="370840">
                <a:tc>
                  <a:txBody>
                    <a:bodyPr/>
                    <a:lstStyle/>
                    <a:p>
                      <a:r>
                        <a:rPr sz="1500" lang="en-GB"/>
                        <a:t>Form</a:t>
                      </a:r>
                    </a:p>
                  </a:txBody>
                  <a:tcPr marT="45000" marB="45000"/>
                </a:tc>
                <a:tc>
                  <a:txBody>
                    <a:bodyPr/>
                    <a:lstStyle/>
                    <a:p>
                      <a:r>
                        <a:rPr sz="1500" lang="en-GB"/>
                        <a:t>Equation</a:t>
                      </a:r>
                    </a:p>
                  </a:txBody>
                  <a:tcPr marT="45000" marB="45000"/>
                </a:tc>
                <a:tc>
                  <a:txBody>
                    <a:bodyPr/>
                    <a:lstStyle/>
                    <a:p>
                      <a:r>
                        <a:rPr sz="1500" lang="en-GB"/>
                        <a:t>b means</a:t>
                      </a:r>
                    </a:p>
                  </a:txBody>
                  <a:tcPr marT="45000" marB="45000"/>
                </a:tc>
                <a:tc>
                  <a:txBody>
                    <a:bodyPr/>
                    <a:lstStyle/>
                    <a:p>
                      <a:r>
                        <a:rPr sz="1500" lang="en-GB"/>
                        <a:t>Brand 1</a:t>
                      </a:r>
                    </a:p>
                  </a:txBody>
                  <a:tcPr marT="45000" marB="45000"/>
                </a:tc>
              </a:tr>
              <a:tr h="370840">
                <a:tc>
                  <a:txBody>
                    <a:bodyPr/>
                    <a:lstStyle/>
                    <a:p>
                      <a:r>
                        <a:rPr sz="1200" b="1" lang="en-GB"/>
                        <a:t>Linear</a:t>
                      </a:r>
                    </a:p>
                  </a:txBody>
                  <a:tcPr marT="45000" marB="45000"/>
                </a:tc>
                <a:tc>
                  <a:txBody>
                    <a:bodyPr/>
                    <a:lstStyle/>
                    <a:p>
                      <a:r>
                        <a:rPr sz="1200" lang="en-GB"/>
                        <a:t>sales = a + b·price</a:t>
                      </a:r>
                    </a:p>
                  </a:txBody>
                  <a:tcPr marT="45000" marB="45000"/>
                </a:tc>
                <a:tc>
                  <a:txBody>
                    <a:bodyPr/>
                    <a:lstStyle/>
                    <a:p>
                      <a:r>
                        <a:rPr sz="1200" lang="en-GB"/>
                        <a:t>+1 EUR: b units</a:t>
                      </a:r>
                    </a:p>
                  </a:txBody>
                  <a:tcPr marT="45000" marB="45000"/>
                </a:tc>
                <a:tc>
                  <a:txBody>
                    <a:bodyPr/>
                    <a:lstStyle/>
                    <a:p>
                      <a:r>
                        <a:rPr sz="1200" lang="en-GB"/>
                        <a:t>−669: 10 cents, −67 units</a:t>
                      </a:r>
                    </a:p>
                  </a:txBody>
                  <a:tcPr marT="45000" marB="45000"/>
                </a:tc>
              </a:tr>
              <a:tr h="370840">
                <a:tc>
                  <a:txBody>
                    <a:bodyPr/>
                    <a:lstStyle/>
                    <a:p>
                      <a:r>
                        <a:rPr sz="1200" b="1" lang="en-GB"/>
                        <a:t>Log-log</a:t>
                      </a:r>
                    </a:p>
                  </a:txBody>
                  <a:tcPr marT="45000" marB="45000"/>
                </a:tc>
                <a:tc>
                  <a:txBody>
                    <a:bodyPr/>
                    <a:lstStyle/>
                    <a:p>
                      <a:r>
                        <a:rPr sz="1200" lang="en-GB"/>
                        <a:t>ln sales = a + b·ln price</a:t>
                      </a:r>
                    </a:p>
                  </a:txBody>
                  <a:tcPr marT="45000" marB="45000"/>
                </a:tc>
                <a:tc>
                  <a:txBody>
                    <a:bodyPr/>
                    <a:lstStyle/>
                    <a:p>
                      <a:r>
                        <a:rPr sz="1200" lang="en-GB"/>
                        <a:t>+1 %: b % (elasticity)</a:t>
                      </a:r>
                    </a:p>
                  </a:txBody>
                  <a:tcPr marT="45000" marB="45000"/>
                </a:tc>
                <a:tc>
                  <a:txBody>
                    <a:bodyPr/>
                    <a:lstStyle/>
                    <a:p>
                      <a:r>
                        <a:rPr sz="1200" lang="en-GB"/>
                        <a:t>−3.94: 1 %, −3.9 %</a:t>
                      </a:r>
                    </a:p>
                  </a:txBody>
                  <a:tcPr marT="45000" marB="45000"/>
                </a:tc>
              </a:tr>
              <a:tr h="370840">
                <a:tc>
                  <a:txBody>
                    <a:bodyPr/>
                    <a:lstStyle/>
                    <a:p>
                      <a:r>
                        <a:rPr sz="1200" b="1" lang="en-GB"/>
                        <a:t>Log-linear</a:t>
                      </a:r>
                    </a:p>
                  </a:txBody>
                  <a:tcPr marT="45000" marB="45000"/>
                </a:tc>
                <a:tc>
                  <a:txBody>
                    <a:bodyPr/>
                    <a:lstStyle/>
                    <a:p>
                      <a:r>
                        <a:rPr sz="1200" lang="en-GB"/>
                        <a:t>ln sales = a + b·price</a:t>
                      </a:r>
                    </a:p>
                  </a:txBody>
                  <a:tcPr marT="45000" marB="45000"/>
                </a:tc>
                <a:tc>
                  <a:txBody>
                    <a:bodyPr/>
                    <a:lstStyle/>
                    <a:p>
                      <a:r>
                        <a:rPr sz="1200" lang="en-GB"/>
                        <a:t>+1: (e^b − 1)·100 %</a:t>
                      </a:r>
                    </a:p>
                  </a:txBody>
                  <a:tcPr marT="45000" marB="45000"/>
                </a:tc>
                <a:tc>
                  <a:txBody>
                    <a:bodyPr/>
                    <a:lstStyle/>
                    <a:p>
                      <a:r>
                        <a:rPr sz="1200" lang="en-GB"/>
                        <a:t>−3.10: 10 cents, −27 %</a:t>
                      </a:r>
                    </a:p>
                  </a:txBody>
                  <a:tcPr marT="45000" marB="45000"/>
                </a:tc>
              </a:tr>
              <a:tr h="370840">
                <a:tc>
                  <a:txBody>
                    <a:bodyPr/>
                    <a:lstStyle/>
                    <a:p>
                      <a:r>
                        <a:rPr sz="1200" b="1" lang="en-GB"/>
                        <a:t>Linear-log</a:t>
                      </a:r>
                    </a:p>
                  </a:txBody>
                  <a:tcPr marT="45000" marB="45000"/>
                </a:tc>
                <a:tc>
                  <a:txBody>
                    <a:bodyPr/>
                    <a:lstStyle/>
                    <a:p>
                      <a:r>
                        <a:rPr sz="1200" lang="en-GB"/>
                        <a:t>sales = a + b·ln price</a:t>
                      </a:r>
                    </a:p>
                  </a:txBody>
                  <a:tcPr marT="45000" marB="45000"/>
                </a:tc>
                <a:tc>
                  <a:txBody>
                    <a:bodyPr/>
                    <a:lstStyle/>
                    <a:p>
                      <a:r>
                        <a:rPr sz="1200" lang="en-GB"/>
                        <a:t>+1 %: b/100 units</a:t>
                      </a:r>
                    </a:p>
                  </a:txBody>
                  <a:tcPr marT="45000" marB="45000"/>
                </a:tc>
                <a:tc>
                  <a:txBody>
                    <a:bodyPr/>
                    <a:lstStyle/>
                    <a:p>
                      <a:r>
                        <a:rPr sz="1200" lang="en-GB"/>
                        <a:t>−853: 1 %, −8.5 units</a:t>
                      </a:r>
                    </a:p>
                  </a:txBody>
                  <a:tcPr marT="45000" marB="45000"/>
                </a:tc>
              </a:tr>
            </a:tbl>
          </a:graphicData>
        </a:graphic>
      </p:graphicFrame>
      <p:sp>
        <p:nvSpPr>
          <p:cNvPr id="3" name="Title 2"/>
          <p:cNvSpPr>
            <a:spLocks noGrp="1"/>
          </p:cNvSpPr>
          <p:nvPr>
            <p:ph type="title"/>
          </p:nvPr>
        </p:nvSpPr>
        <p:spPr/>
        <p:txBody>
          <a:bodyPr/>
          <a:lstStyle/>
          <a:p>
            <a:r>
              <a:rPr sz="1600" lang="en-GB"/>
              <a:t>Four forms, four readings of b</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orms rule box"/>
          <p:cNvSpPr/>
          <p:nvPr/>
        </p:nvSpPr>
        <p:spPr>
          <a:xfrm>
            <a:off x="457200" y="37947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Forms rule" descr=""/>
          <p:cNvPicPr>
            <a:picLocks noChangeAspect="1"/>
          </p:cNvPicPr>
          <p:nvPr/>
        </p:nvPicPr>
        <p:blipFill>
          <a:blip r:embed="rId3"/>
          <a:stretch>
            <a:fillRect/>
          </a:stretch>
        </p:blipFill>
        <p:spPr>
          <a:xfrm>
            <a:off x="658368" y="3954780"/>
            <a:ext cx="365760" cy="365760"/>
          </a:xfrm>
          <a:prstGeom prst="rect">
            <a:avLst/>
          </a:prstGeom>
        </p:spPr>
      </p:pic>
      <p:sp>
        <p:nvSpPr>
          <p:cNvPr id="12" name="Forms rule text"/>
          <p:cNvSpPr txBox="1"/>
          <p:nvPr/>
        </p:nvSpPr>
        <p:spPr>
          <a:xfrm>
            <a:off x="1207008" y="379476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Log on the left: </a:t>
            </a:r>
            <a:r>
              <a:rPr sz="1300" b="0" lang="en-GB">
                <a:solidFill>
                  <a:schemeClr val="bg1"/>
                </a:solidFill>
              </a:rPr>
              <a:t>per cent change in sales. Log on the right: per cent change in the driver.</a:t>
            </a:r>
          </a:p>
        </p:txBody>
      </p:sp>
      <p:sp>
        <p:nvSpPr>
          <p:cNvPr id="13" name="Sources"/>
          <p:cNvSpPr txBox="1"/>
          <p:nvPr/>
        </p:nvSpPr>
        <p:spPr>
          <a:xfrm>
            <a:off x="457200" y="461772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Wooldridge 2025, ch. 6; Skiera, Reiner &amp; Albers 2022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Comparing a linear and a log model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mpare row 1"/>
          <p:cNvSpPr/>
          <p:nvPr/>
        </p:nvSpPr>
        <p:spPr>
          <a:xfrm>
            <a:off x="457200" y="123444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mpare bar 1"/>
          <p:cNvSpPr/>
          <p:nvPr/>
        </p:nvSpPr>
        <p:spPr>
          <a:xfrm>
            <a:off x="457200" y="123444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mpare text 1"/>
          <p:cNvSpPr txBox="1"/>
          <p:nvPr/>
        </p:nvSpPr>
        <p:spPr>
          <a:xfrm>
            <a:off x="658368" y="1234440"/>
            <a:ext cx="793699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Not R² or AIC: </a:t>
            </a:r>
            <a:r>
              <a:rPr sz="1200" b="0" lang="en-GB">
                <a:solidFill>
                  <a:schemeClr val="tx1"/>
                </a:solidFill>
              </a:rPr>
              <a:t>sales and log sales are different outcomes (0.884 vs 0.835 says nothing)</a:t>
            </a:r>
          </a:p>
        </p:txBody>
      </p:sp>
      <p:sp>
        <p:nvSpPr>
          <p:cNvPr id="13" name="Compare row 2"/>
          <p:cNvSpPr/>
          <p:nvPr/>
        </p:nvSpPr>
        <p:spPr>
          <a:xfrm>
            <a:off x="457200" y="187452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ompare bar 2"/>
          <p:cNvSpPr/>
          <p:nvPr/>
        </p:nvSpPr>
        <p:spPr>
          <a:xfrm>
            <a:off x="457200" y="187452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mpare text 2"/>
          <p:cNvSpPr txBox="1"/>
          <p:nvPr/>
        </p:nvSpPr>
        <p:spPr>
          <a:xfrm>
            <a:off x="658368" y="1874520"/>
            <a:ext cx="793699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Residuals and tests: </a:t>
            </a:r>
            <a:r>
              <a:rPr sz="1200" b="0" lang="en-GB">
                <a:solidFill>
                  <a:schemeClr val="tx1"/>
                </a:solidFill>
              </a:rPr>
              <a:t>curve, funnel, Q-Q plot, RESET, Breusch-Pagan (Part 1)</a:t>
            </a:r>
          </a:p>
        </p:txBody>
      </p:sp>
      <p:sp>
        <p:nvSpPr>
          <p:cNvPr id="16" name="Compare row 3"/>
          <p:cNvSpPr/>
          <p:nvPr/>
        </p:nvSpPr>
        <p:spPr>
          <a:xfrm>
            <a:off x="457200" y="251460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mpare bar 3"/>
          <p:cNvSpPr/>
          <p:nvPr/>
        </p:nvSpPr>
        <p:spPr>
          <a:xfrm>
            <a:off x="457200" y="251460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ompare text 3"/>
          <p:cNvSpPr txBox="1"/>
          <p:nvPr/>
        </p:nvSpPr>
        <p:spPr>
          <a:xfrm>
            <a:off x="658368" y="2514600"/>
            <a:ext cx="793699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Plausibility: </a:t>
            </a:r>
            <a:r>
              <a:rPr sz="1200" b="0" lang="en-GB">
                <a:solidFill>
                  <a:schemeClr val="tx1"/>
                </a:solidFill>
              </a:rPr>
              <a:t>sign and size of the coefficients, benchmarks such as the mean elasticity −2.6</a:t>
            </a:r>
          </a:p>
        </p:txBody>
      </p:sp>
      <p:sp>
        <p:nvSpPr>
          <p:cNvPr id="19" name="Compare row 4"/>
          <p:cNvSpPr/>
          <p:nvPr/>
        </p:nvSpPr>
        <p:spPr>
          <a:xfrm>
            <a:off x="457200" y="315468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ompare bar 4"/>
          <p:cNvSpPr/>
          <p:nvPr/>
        </p:nvSpPr>
        <p:spPr>
          <a:xfrm>
            <a:off x="457200" y="315468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mpare text 4"/>
          <p:cNvSpPr txBox="1"/>
          <p:nvPr/>
        </p:nvSpPr>
        <p:spPr>
          <a:xfrm>
            <a:off x="658368" y="3154680"/>
            <a:ext cx="793699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Back on the sales scale: </a:t>
            </a:r>
            <a:r>
              <a:rPr sz="1200" b="0" lang="en-GB">
                <a:solidFill>
                  <a:schemeClr val="tx1"/>
                </a:solidFill>
              </a:rPr>
              <a:t>exp(fitted) for the log model, then compare predictions in units</a:t>
            </a:r>
          </a:p>
        </p:txBody>
      </p:sp>
      <p:sp>
        <p:nvSpPr>
          <p:cNvPr id="22" name="Compare verdict box"/>
          <p:cNvSpPr/>
          <p:nvPr/>
        </p:nvSpPr>
        <p:spPr>
          <a:xfrm>
            <a:off x="457200" y="393192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Compare verdict" descr=""/>
          <p:cNvPicPr>
            <a:picLocks noChangeAspect="1"/>
          </p:cNvPicPr>
          <p:nvPr/>
        </p:nvPicPr>
        <p:blipFill>
          <a:blip r:embed="rId3"/>
          <a:stretch>
            <a:fillRect/>
          </a:stretch>
        </p:blipFill>
        <p:spPr>
          <a:xfrm>
            <a:off x="658368" y="4091940"/>
            <a:ext cx="365760" cy="365760"/>
          </a:xfrm>
          <a:prstGeom prst="rect">
            <a:avLst/>
          </a:prstGeom>
        </p:spPr>
      </p:pic>
      <p:sp>
        <p:nvSpPr>
          <p:cNvPr id="24" name="Compare verdict text"/>
          <p:cNvSpPr txBox="1"/>
          <p:nvPr/>
        </p:nvSpPr>
        <p:spPr>
          <a:xfrm>
            <a:off x="1207008" y="3931920"/>
            <a:ext cx="7315200" cy="685800"/>
          </a:xfrm>
          <a:prstGeom prst="rect">
            <a:avLst/>
          </a:prstGeom>
          <a:noFill/>
        </p:spPr>
        <p:txBody>
          <a:bodyPr wrap="square" lIns="0" rIns="0" tIns="0" bIns="0" anchor="ctr">
            <a:noAutofit/>
          </a:bodyPr>
          <a:lstStyle/>
          <a:p>
            <a:pPr algn="l">
              <a:spcAft>
                <a:spcPts val="400"/>
              </a:spcAft>
            </a:pPr>
            <a:r>
              <a:rPr sz="1250" b="1" lang="en-GB">
                <a:solidFill>
                  <a:schemeClr val="bg1"/>
                </a:solidFill>
              </a:rPr>
              <a:t>Brand 1: </a:t>
            </a:r>
            <a:r>
              <a:rPr sz="1250" b="0" lang="en-GB">
                <a:solidFill>
                  <a:schemeClr val="bg1"/>
                </a:solidFill>
              </a:rPr>
              <a:t>the log-log model passes the tests, the linear one fails three. Report the log-log model.</a:t>
            </a:r>
          </a:p>
        </p:txBody>
      </p:sp>
      <p:sp>
        <p:nvSpPr>
          <p:cNvPr id="25" name="Sources"/>
          <p:cNvSpPr txBox="1"/>
          <p:nvPr/>
        </p:nvSpPr>
        <p:spPr>
          <a:xfrm>
            <a:off x="457200" y="470916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Wooldridge 2025, ch. 6; Bijmolt, van Heerde &amp; Pieters 2005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6 · curves in a linear regression: squares, logs, the turning point</a:t>
            </a:r>
          </a:p>
        </p:txBody>
      </p:sp>
      <p:sp>
        <p:nvSpPr>
          <p:cNvPr id="3" name="Title 2"/>
          <p:cNvSpPr>
            <a:spLocks noGrp="1"/>
          </p:cNvSpPr>
          <p:nvPr>
            <p:ph type="ctrTitle"/>
          </p:nvPr>
        </p:nvSpPr>
        <p:spPr/>
        <p:txBody>
          <a:bodyPr/>
          <a:lstStyle/>
          <a:p>
            <a:r>
              <a:rPr sz="1600" lang="en-GB"/>
              <a:t>Non-linear relationships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Linear in b, not in x</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hape 1 tile"/>
          <p:cNvSpPr/>
          <p:nvPr/>
        </p:nvSpPr>
        <p:spPr>
          <a:xfrm>
            <a:off x="457200" y="1234440"/>
            <a:ext cx="2651760" cy="1463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Shape 1" descr=""/>
          <p:cNvPicPr>
            <a:picLocks noChangeAspect="1"/>
          </p:cNvPicPr>
          <p:nvPr/>
        </p:nvPicPr>
        <p:blipFill>
          <a:blip r:embed="rId3"/>
          <a:stretch>
            <a:fillRect/>
          </a:stretch>
        </p:blipFill>
        <p:spPr>
          <a:xfrm>
            <a:off x="594360" y="1371600"/>
            <a:ext cx="365760" cy="365760"/>
          </a:xfrm>
          <a:prstGeom prst="rect">
            <a:avLst/>
          </a:prstGeom>
        </p:spPr>
      </p:pic>
      <p:sp>
        <p:nvSpPr>
          <p:cNvPr id="12" name="Shape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Diminishing</a:t>
            </a:r>
          </a:p>
        </p:txBody>
      </p:sp>
      <p:sp>
        <p:nvSpPr>
          <p:cNvPr id="13" name="Shape 1 text"/>
          <p:cNvSpPr txBox="1"/>
          <p:nvPr/>
        </p:nvSpPr>
        <p:spPr>
          <a:xfrm>
            <a:off x="594360" y="1856232"/>
            <a:ext cx="2377440" cy="777240"/>
          </a:xfrm>
          <a:prstGeom prst="rect">
            <a:avLst/>
          </a:prstGeom>
          <a:noFill/>
        </p:spPr>
        <p:txBody>
          <a:bodyPr wrap="square" lIns="0" rIns="0" tIns="0" bIns="0" anchor="t">
            <a:noAutofit/>
          </a:bodyPr>
          <a:lstStyle/>
          <a:p>
            <a:pPr algn="l">
              <a:spcAft>
                <a:spcPts val="400"/>
              </a:spcAft>
            </a:pPr>
            <a:r>
              <a:rPr sz="1200" b="0" lang="en-GB">
                <a:solidFill>
                  <a:schemeClr val="tx1"/>
                </a:solidFill>
              </a:rPr>
              <a:t>each step adds less</a:t>
            </a:r>
          </a:p>
          <a:p>
            <a:pPr algn="l">
              <a:spcAft>
                <a:spcPts val="400"/>
              </a:spcAft>
            </a:pPr>
            <a:r>
              <a:rPr sz="1200" b="0" lang="en-GB">
                <a:solidFill>
                  <a:schemeClr val="tx1"/>
                </a:solidFill>
              </a:rPr>
              <a:t>logs; square root</a:t>
            </a:r>
          </a:p>
        </p:txBody>
      </p:sp>
      <p:sp>
        <p:nvSpPr>
          <p:cNvPr id="14" name="Shape 2 tile"/>
          <p:cNvSpPr/>
          <p:nvPr/>
        </p:nvSpPr>
        <p:spPr>
          <a:xfrm>
            <a:off x="3246120" y="1234440"/>
            <a:ext cx="2651760" cy="1463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Shape 2" descr=""/>
          <p:cNvPicPr>
            <a:picLocks noChangeAspect="1"/>
          </p:cNvPicPr>
          <p:nvPr/>
        </p:nvPicPr>
        <p:blipFill>
          <a:blip r:embed="rId4"/>
          <a:stretch>
            <a:fillRect/>
          </a:stretch>
        </p:blipFill>
        <p:spPr>
          <a:xfrm>
            <a:off x="3383280" y="1371600"/>
            <a:ext cx="365760" cy="365760"/>
          </a:xfrm>
          <a:prstGeom prst="rect">
            <a:avLst/>
          </a:prstGeom>
        </p:spPr>
      </p:pic>
      <p:sp>
        <p:nvSpPr>
          <p:cNvPr id="16" name="Shape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U or inverted U</a:t>
            </a:r>
          </a:p>
        </p:txBody>
      </p:sp>
      <p:sp>
        <p:nvSpPr>
          <p:cNvPr id="17" name="Shape 2 text"/>
          <p:cNvSpPr txBox="1"/>
          <p:nvPr/>
        </p:nvSpPr>
        <p:spPr>
          <a:xfrm>
            <a:off x="3383280" y="1856232"/>
            <a:ext cx="2377440" cy="777240"/>
          </a:xfrm>
          <a:prstGeom prst="rect">
            <a:avLst/>
          </a:prstGeom>
          <a:noFill/>
        </p:spPr>
        <p:txBody>
          <a:bodyPr wrap="square" lIns="0" rIns="0" tIns="0" bIns="0" anchor="t">
            <a:noAutofit/>
          </a:bodyPr>
          <a:lstStyle/>
          <a:p>
            <a:pPr algn="l">
              <a:spcAft>
                <a:spcPts val="400"/>
              </a:spcAft>
            </a:pPr>
            <a:r>
              <a:rPr sz="1200" b="0" lang="en-GB">
                <a:solidFill>
                  <a:schemeClr val="tx1"/>
                </a:solidFill>
              </a:rPr>
              <a:t>an optimum or minimum</a:t>
            </a:r>
          </a:p>
          <a:p>
            <a:pPr algn="l">
              <a:spcAft>
                <a:spcPts val="400"/>
              </a:spcAft>
            </a:pPr>
            <a:r>
              <a:rPr sz="1200" b="0" lang="en-GB">
                <a:solidFill>
                  <a:schemeClr val="tx1"/>
                </a:solidFill>
              </a:rPr>
              <a:t>x and x²</a:t>
            </a:r>
          </a:p>
        </p:txBody>
      </p:sp>
      <p:sp>
        <p:nvSpPr>
          <p:cNvPr id="18" name="Shape 3 tile"/>
          <p:cNvSpPr/>
          <p:nvPr/>
        </p:nvSpPr>
        <p:spPr>
          <a:xfrm>
            <a:off x="6035040" y="1234440"/>
            <a:ext cx="2651760" cy="1463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Shape 3" descr=""/>
          <p:cNvPicPr>
            <a:picLocks noChangeAspect="1"/>
          </p:cNvPicPr>
          <p:nvPr/>
        </p:nvPicPr>
        <p:blipFill>
          <a:blip r:embed="rId5"/>
          <a:stretch>
            <a:fillRect/>
          </a:stretch>
        </p:blipFill>
        <p:spPr>
          <a:xfrm>
            <a:off x="6172200" y="1371600"/>
            <a:ext cx="365760" cy="365760"/>
          </a:xfrm>
          <a:prstGeom prst="rect">
            <a:avLst/>
          </a:prstGeom>
        </p:spPr>
      </p:pic>
      <p:sp>
        <p:nvSpPr>
          <p:cNvPr id="20" name="Shape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Thresholds</a:t>
            </a:r>
          </a:p>
        </p:txBody>
      </p:sp>
      <p:sp>
        <p:nvSpPr>
          <p:cNvPr id="21" name="Shape 3 text"/>
          <p:cNvSpPr txBox="1"/>
          <p:nvPr/>
        </p:nvSpPr>
        <p:spPr>
          <a:xfrm>
            <a:off x="6172200" y="1856232"/>
            <a:ext cx="2377440" cy="777240"/>
          </a:xfrm>
          <a:prstGeom prst="rect">
            <a:avLst/>
          </a:prstGeom>
          <a:noFill/>
        </p:spPr>
        <p:txBody>
          <a:bodyPr wrap="square" lIns="0" rIns="0" tIns="0" bIns="0" anchor="t">
            <a:noAutofit/>
          </a:bodyPr>
          <a:lstStyle/>
          <a:p>
            <a:pPr algn="l">
              <a:spcAft>
                <a:spcPts val="400"/>
              </a:spcAft>
            </a:pPr>
            <a:r>
              <a:rPr sz="1200" b="0" lang="en-GB">
                <a:solidFill>
                  <a:schemeClr val="tx1"/>
                </a:solidFill>
              </a:rPr>
              <a:t>effect only above a level</a:t>
            </a:r>
          </a:p>
          <a:p>
            <a:pPr algn="l">
              <a:spcAft>
                <a:spcPts val="400"/>
              </a:spcAft>
            </a:pPr>
            <a:r>
              <a:rPr sz="1200" b="0" lang="en-GB">
                <a:solidFill>
                  <a:schemeClr val="tx1"/>
                </a:solidFill>
              </a:rPr>
              <a:t>dummies for ranges</a:t>
            </a:r>
          </a:p>
        </p:txBody>
      </p:sp>
      <p:sp>
        <p:nvSpPr>
          <p:cNvPr id="22" name="Square code box"/>
          <p:cNvSpPr/>
          <p:nvPr/>
        </p:nvSpPr>
        <p:spPr>
          <a:xfrm>
            <a:off x="457200" y="2834640"/>
            <a:ext cx="82296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quare code code"/>
          <p:cNvSpPr txBox="1"/>
          <p:nvPr/>
        </p:nvSpPr>
        <p:spPr>
          <a:xfrm>
            <a:off x="594360" y="2926080"/>
            <a:ext cx="7955280" cy="6858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sales = b0 + b1·price1 + b2·price1²        still linear in b0, b1, b2</a:t>
            </a:r>
          </a:p>
          <a:p>
            <a:pPr algn="l">
              <a:spcAft>
                <a:spcPts val="0"/>
              </a:spcAft>
            </a:pPr>
            <a:r>
              <a:rPr sz="1200" b="0" lang="en-GB">
                <a:solidFill>
                  <a:schemeClr val="bg1"/>
                </a:solidFill>
                <a:latin typeface="Consolas"/>
              </a:rPr>
              <a:t>smf.ols("sales ~ price1 + I(price1**2)", data=df)</a:t>
            </a:r>
          </a:p>
        </p:txBody>
      </p:sp>
      <p:sp>
        <p:nvSpPr>
          <p:cNvPr id="24" name="Shapes next box"/>
          <p:cNvSpPr/>
          <p:nvPr/>
        </p:nvSpPr>
        <p:spPr>
          <a:xfrm>
            <a:off x="457200" y="384048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Shapes next" descr=""/>
          <p:cNvPicPr>
            <a:picLocks noChangeAspect="1"/>
          </p:cNvPicPr>
          <p:nvPr/>
        </p:nvPicPr>
        <p:blipFill>
          <a:blip r:embed="rId6"/>
          <a:stretch>
            <a:fillRect/>
          </a:stretch>
        </p:blipFill>
        <p:spPr>
          <a:xfrm>
            <a:off x="658368" y="4000500"/>
            <a:ext cx="365760" cy="365760"/>
          </a:xfrm>
          <a:prstGeom prst="rect">
            <a:avLst/>
          </a:prstGeom>
        </p:spPr>
      </p:pic>
      <p:sp>
        <p:nvSpPr>
          <p:cNvPr id="26" name="Shapes next text"/>
          <p:cNvSpPr txBox="1"/>
          <p:nvPr/>
        </p:nvSpPr>
        <p:spPr>
          <a:xfrm>
            <a:off x="1207008" y="3840480"/>
            <a:ext cx="7315200" cy="685800"/>
          </a:xfrm>
          <a:prstGeom prst="rect">
            <a:avLst/>
          </a:prstGeom>
          <a:noFill/>
        </p:spPr>
        <p:txBody>
          <a:bodyPr wrap="square" lIns="0" rIns="0" tIns="0" bIns="0" anchor="ctr">
            <a:noAutofit/>
          </a:bodyPr>
          <a:lstStyle/>
          <a:p>
            <a:pPr algn="l">
              <a:spcAft>
                <a:spcPts val="400"/>
              </a:spcAft>
            </a:pPr>
            <a:r>
              <a:rPr sz="1250" b="1" lang="en-GB">
                <a:solidFill>
                  <a:schemeClr val="bg1"/>
                </a:solidFill>
              </a:rPr>
              <a:t>Session 2: </a:t>
            </a:r>
            <a:r>
              <a:rPr sz="1250" b="0" lang="en-GB">
                <a:solidFill>
                  <a:schemeClr val="bg1"/>
                </a:solidFill>
              </a:rPr>
              <a:t>the marketing mix model adds saturation curves for media: the same idea.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Three curves through the same weeks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as_curves.png" descr="Scatter plot of weekly sales against price of brand 1 with three fitted curves: a straight line, a gently bending quadratic and a log-log curve that bends most at low prices"/>
          <p:cNvPicPr>
            <a:picLocks noChangeAspect="1"/>
          </p:cNvPicPr>
          <p:nvPr/>
        </p:nvPicPr>
        <p:blipFill>
          <a:blip r:embed="rId3"/>
          <a:stretch>
            <a:fillRect/>
          </a:stretch>
        </p:blipFill>
        <p:spPr>
          <a:xfrm>
            <a:off x="457200" y="1234440"/>
            <a:ext cx="4572000" cy="3017520"/>
          </a:xfrm>
          <a:prstGeom prst="rect">
            <a:avLst/>
          </a:prstGeom>
        </p:spPr>
      </p:pic>
      <p:sp>
        <p:nvSpPr>
          <p:cNvPr id="11" name="Curve rows row 1"/>
          <p:cNvSpPr/>
          <p:nvPr/>
        </p:nvSpPr>
        <p:spPr>
          <a:xfrm>
            <a:off x="5166360" y="1234440"/>
            <a:ext cx="35204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urve rows bar 1"/>
          <p:cNvSpPr/>
          <p:nvPr/>
        </p:nvSpPr>
        <p:spPr>
          <a:xfrm>
            <a:off x="5166360" y="123444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urve rows text 1"/>
          <p:cNvSpPr txBox="1"/>
          <p:nvPr/>
        </p:nvSpPr>
        <p:spPr>
          <a:xfrm>
            <a:off x="5367528" y="1234440"/>
            <a:ext cx="32278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Linear: </a:t>
            </a:r>
            <a:r>
              <a:rPr sz="1200" b="0" lang="en-GB">
                <a:solidFill>
                  <a:schemeClr val="tx1"/>
                </a:solidFill>
              </a:rPr>
              <a:t>R² 0.884; RESET p = 0.002</a:t>
            </a:r>
          </a:p>
        </p:txBody>
      </p:sp>
      <p:sp>
        <p:nvSpPr>
          <p:cNvPr id="14" name="Curve rows row 2"/>
          <p:cNvSpPr/>
          <p:nvPr/>
        </p:nvSpPr>
        <p:spPr>
          <a:xfrm>
            <a:off x="5166360" y="1874520"/>
            <a:ext cx="35204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urve rows bar 2"/>
          <p:cNvSpPr/>
          <p:nvPr/>
        </p:nvSpPr>
        <p:spPr>
          <a:xfrm>
            <a:off x="5166360" y="187452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urve rows text 2"/>
          <p:cNvSpPr txBox="1"/>
          <p:nvPr/>
        </p:nvSpPr>
        <p:spPr>
          <a:xfrm>
            <a:off x="5367528" y="1874520"/>
            <a:ext cx="32278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Quadratic: </a:t>
            </a:r>
            <a:r>
              <a:rPr sz="1200" b="0" lang="en-GB">
                <a:solidFill>
                  <a:schemeClr val="tx1"/>
                </a:solidFill>
              </a:rPr>
              <a:t>R² 0.900; RESET p &lt; 0.001</a:t>
            </a:r>
          </a:p>
        </p:txBody>
      </p:sp>
      <p:sp>
        <p:nvSpPr>
          <p:cNvPr id="17" name="Curve rows row 3"/>
          <p:cNvSpPr/>
          <p:nvPr/>
        </p:nvSpPr>
        <p:spPr>
          <a:xfrm>
            <a:off x="5166360" y="2514600"/>
            <a:ext cx="35204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urve rows bar 3"/>
          <p:cNvSpPr/>
          <p:nvPr/>
        </p:nvSpPr>
        <p:spPr>
          <a:xfrm>
            <a:off x="5166360" y="251460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urve rows text 3"/>
          <p:cNvSpPr txBox="1"/>
          <p:nvPr/>
        </p:nvSpPr>
        <p:spPr>
          <a:xfrm>
            <a:off x="5367528" y="2514600"/>
            <a:ext cx="32278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Log-log: </a:t>
            </a:r>
            <a:r>
              <a:rPr sz="1200" b="0" lang="en-GB">
                <a:solidFill>
                  <a:schemeClr val="tx1"/>
                </a:solidFill>
              </a:rPr>
              <a:t>R² 0.835 (log sales); RESET p = 0.37</a:t>
            </a:r>
          </a:p>
        </p:txBody>
      </p:sp>
      <p:sp>
        <p:nvSpPr>
          <p:cNvPr id="20" name="Curve rows row 4"/>
          <p:cNvSpPr/>
          <p:nvPr/>
        </p:nvSpPr>
        <p:spPr>
          <a:xfrm>
            <a:off x="5166360" y="3154680"/>
            <a:ext cx="35204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urve rows bar 4"/>
          <p:cNvSpPr/>
          <p:nvPr/>
        </p:nvSpPr>
        <p:spPr>
          <a:xfrm>
            <a:off x="5166360" y="315468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urve rows text 4"/>
          <p:cNvSpPr txBox="1"/>
          <p:nvPr/>
        </p:nvSpPr>
        <p:spPr>
          <a:xfrm>
            <a:off x="5367528" y="3154680"/>
            <a:ext cx="32278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Thin middle: </a:t>
            </a:r>
            <a:r>
              <a:rPr sz="1200" b="0" lang="en-GB">
                <a:solidFill>
                  <a:schemeClr val="tx1"/>
                </a:solidFill>
              </a:rPr>
              <a:t>few weeks between 1.10 and 1.35</a:t>
            </a:r>
          </a:p>
        </p:txBody>
      </p:sp>
      <p:sp>
        <p:nvSpPr>
          <p:cNvPr id="23" name="Curve look box"/>
          <p:cNvSpPr/>
          <p:nvPr/>
        </p:nvSpPr>
        <p:spPr>
          <a:xfrm>
            <a:off x="457200" y="438912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Curve look" descr=""/>
          <p:cNvPicPr>
            <a:picLocks noChangeAspect="1"/>
          </p:cNvPicPr>
          <p:nvPr/>
        </p:nvPicPr>
        <p:blipFill>
          <a:blip r:embed="rId4"/>
          <a:stretch>
            <a:fillRect/>
          </a:stretch>
        </p:blipFill>
        <p:spPr>
          <a:xfrm>
            <a:off x="658368" y="4434840"/>
            <a:ext cx="365760" cy="365760"/>
          </a:xfrm>
          <a:prstGeom prst="rect">
            <a:avLst/>
          </a:prstGeom>
        </p:spPr>
      </p:pic>
      <p:sp>
        <p:nvSpPr>
          <p:cNvPr id="25" name="Curve look text"/>
          <p:cNvSpPr txBox="1"/>
          <p:nvPr/>
        </p:nvSpPr>
        <p:spPr>
          <a:xfrm>
            <a:off x="1207008" y="438912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Look: </a:t>
            </a:r>
            <a:r>
              <a:rPr sz="1200" b="0" lang="en-GB">
                <a:solidFill>
                  <a:schemeClr val="tx1"/>
                </a:solidFill>
              </a:rPr>
              <a:t>all three agree where the data are; they differ where weeks are few.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quadratic: the effect depends on the price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ad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ad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sales = 2,533 − 2,952·price1 + 886·price1²      slope = b1 + 2·b2·price1</a:t>
            </a:r>
          </a:p>
        </p:txBody>
      </p:sp>
      <p:sp>
        <p:nvSpPr>
          <p:cNvPr id="12" name="Slopes 1-1"/>
          <p:cNvSpPr/>
          <p:nvPr/>
        </p:nvSpPr>
        <p:spPr>
          <a:xfrm>
            <a:off x="457200" y="1920240"/>
            <a:ext cx="14356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lopes text 1-1"/>
          <p:cNvSpPr txBox="1"/>
          <p:nvPr/>
        </p:nvSpPr>
        <p:spPr>
          <a:xfrm>
            <a:off x="548640" y="1920240"/>
            <a:ext cx="125272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Price (EUR)</a:t>
            </a:r>
          </a:p>
        </p:txBody>
      </p:sp>
      <p:sp>
        <p:nvSpPr>
          <p:cNvPr id="14" name="Slopes 1-2"/>
          <p:cNvSpPr/>
          <p:nvPr/>
        </p:nvSpPr>
        <p:spPr>
          <a:xfrm>
            <a:off x="1920240" y="1920240"/>
            <a:ext cx="14356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lopes text 1-2"/>
          <p:cNvSpPr txBox="1"/>
          <p:nvPr/>
        </p:nvSpPr>
        <p:spPr>
          <a:xfrm>
            <a:off x="2011680" y="1920240"/>
            <a:ext cx="125272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Slope per EUR</a:t>
            </a:r>
          </a:p>
        </p:txBody>
      </p:sp>
      <p:sp>
        <p:nvSpPr>
          <p:cNvPr id="16" name="Slopes 1-3"/>
          <p:cNvSpPr/>
          <p:nvPr/>
        </p:nvSpPr>
        <p:spPr>
          <a:xfrm>
            <a:off x="3383280" y="1920240"/>
            <a:ext cx="14356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lopes text 1-3"/>
          <p:cNvSpPr txBox="1"/>
          <p:nvPr/>
        </p:nvSpPr>
        <p:spPr>
          <a:xfrm>
            <a:off x="3474720" y="1920240"/>
            <a:ext cx="125272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10 cents more</a:t>
            </a:r>
          </a:p>
        </p:txBody>
      </p:sp>
      <p:sp>
        <p:nvSpPr>
          <p:cNvPr id="18" name="Slopes 2-1"/>
          <p:cNvSpPr/>
          <p:nvPr/>
        </p:nvSpPr>
        <p:spPr>
          <a:xfrm>
            <a:off x="457200" y="2331720"/>
            <a:ext cx="14356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lopes text 2-1"/>
          <p:cNvSpPr txBox="1"/>
          <p:nvPr/>
        </p:nvSpPr>
        <p:spPr>
          <a:xfrm>
            <a:off x="548640" y="2331720"/>
            <a:ext cx="12527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1.00</a:t>
            </a:r>
          </a:p>
        </p:txBody>
      </p:sp>
      <p:sp>
        <p:nvSpPr>
          <p:cNvPr id="20" name="Slopes 2-2"/>
          <p:cNvSpPr/>
          <p:nvPr/>
        </p:nvSpPr>
        <p:spPr>
          <a:xfrm>
            <a:off x="1920240" y="2331720"/>
            <a:ext cx="14356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lopes text 2-2"/>
          <p:cNvSpPr txBox="1"/>
          <p:nvPr/>
        </p:nvSpPr>
        <p:spPr>
          <a:xfrm>
            <a:off x="2011680" y="2331720"/>
            <a:ext cx="12527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−1,179</a:t>
            </a:r>
          </a:p>
        </p:txBody>
      </p:sp>
      <p:sp>
        <p:nvSpPr>
          <p:cNvPr id="22" name="Slopes 2-3"/>
          <p:cNvSpPr/>
          <p:nvPr/>
        </p:nvSpPr>
        <p:spPr>
          <a:xfrm>
            <a:off x="3383280" y="2331720"/>
            <a:ext cx="14356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lopes text 2-3"/>
          <p:cNvSpPr txBox="1"/>
          <p:nvPr/>
        </p:nvSpPr>
        <p:spPr>
          <a:xfrm>
            <a:off x="3474720" y="2331720"/>
            <a:ext cx="12527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−118 units</a:t>
            </a:r>
          </a:p>
        </p:txBody>
      </p:sp>
      <p:sp>
        <p:nvSpPr>
          <p:cNvPr id="24" name="Slopes 3-1"/>
          <p:cNvSpPr/>
          <p:nvPr/>
        </p:nvSpPr>
        <p:spPr>
          <a:xfrm>
            <a:off x="457200" y="2743200"/>
            <a:ext cx="14356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lopes text 3-1"/>
          <p:cNvSpPr txBox="1"/>
          <p:nvPr/>
        </p:nvSpPr>
        <p:spPr>
          <a:xfrm>
            <a:off x="548640" y="2743200"/>
            <a:ext cx="12527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1.25</a:t>
            </a:r>
          </a:p>
        </p:txBody>
      </p:sp>
      <p:sp>
        <p:nvSpPr>
          <p:cNvPr id="26" name="Slopes 3-2"/>
          <p:cNvSpPr/>
          <p:nvPr/>
        </p:nvSpPr>
        <p:spPr>
          <a:xfrm>
            <a:off x="1920240" y="2743200"/>
            <a:ext cx="14356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lopes text 3-2"/>
          <p:cNvSpPr txBox="1"/>
          <p:nvPr/>
        </p:nvSpPr>
        <p:spPr>
          <a:xfrm>
            <a:off x="2011680" y="2743200"/>
            <a:ext cx="12527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−736</a:t>
            </a:r>
          </a:p>
        </p:txBody>
      </p:sp>
      <p:sp>
        <p:nvSpPr>
          <p:cNvPr id="28" name="Slopes 3-3"/>
          <p:cNvSpPr/>
          <p:nvPr/>
        </p:nvSpPr>
        <p:spPr>
          <a:xfrm>
            <a:off x="3383280" y="2743200"/>
            <a:ext cx="14356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lopes text 3-3"/>
          <p:cNvSpPr txBox="1"/>
          <p:nvPr/>
        </p:nvSpPr>
        <p:spPr>
          <a:xfrm>
            <a:off x="3474720" y="2743200"/>
            <a:ext cx="12527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−74 units</a:t>
            </a:r>
          </a:p>
        </p:txBody>
      </p:sp>
      <p:sp>
        <p:nvSpPr>
          <p:cNvPr id="30" name="Slopes 4-1"/>
          <p:cNvSpPr/>
          <p:nvPr/>
        </p:nvSpPr>
        <p:spPr>
          <a:xfrm>
            <a:off x="457200" y="3154680"/>
            <a:ext cx="14356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lopes text 4-1"/>
          <p:cNvSpPr txBox="1"/>
          <p:nvPr/>
        </p:nvSpPr>
        <p:spPr>
          <a:xfrm>
            <a:off x="548640" y="3154680"/>
            <a:ext cx="12527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1.50</a:t>
            </a:r>
          </a:p>
        </p:txBody>
      </p:sp>
      <p:sp>
        <p:nvSpPr>
          <p:cNvPr id="32" name="Slopes 4-2"/>
          <p:cNvSpPr/>
          <p:nvPr/>
        </p:nvSpPr>
        <p:spPr>
          <a:xfrm>
            <a:off x="1920240" y="3154680"/>
            <a:ext cx="14356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lopes text 4-2"/>
          <p:cNvSpPr txBox="1"/>
          <p:nvPr/>
        </p:nvSpPr>
        <p:spPr>
          <a:xfrm>
            <a:off x="2011680" y="3154680"/>
            <a:ext cx="12527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−293</a:t>
            </a:r>
          </a:p>
        </p:txBody>
      </p:sp>
      <p:sp>
        <p:nvSpPr>
          <p:cNvPr id="34" name="Slopes 4-3"/>
          <p:cNvSpPr/>
          <p:nvPr/>
        </p:nvSpPr>
        <p:spPr>
          <a:xfrm>
            <a:off x="3383280" y="3154680"/>
            <a:ext cx="14356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lopes text 4-3"/>
          <p:cNvSpPr txBox="1"/>
          <p:nvPr/>
        </p:nvSpPr>
        <p:spPr>
          <a:xfrm>
            <a:off x="3474720" y="3154680"/>
            <a:ext cx="12527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−29 units</a:t>
            </a:r>
          </a:p>
        </p:txBody>
      </p:sp>
      <p:sp>
        <p:nvSpPr>
          <p:cNvPr id="36" name="Turn box"/>
          <p:cNvSpPr/>
          <p:nvPr/>
        </p:nvSpPr>
        <p:spPr>
          <a:xfrm>
            <a:off x="5074920" y="1920240"/>
            <a:ext cx="3611880"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urn stat bar"/>
          <p:cNvSpPr/>
          <p:nvPr/>
        </p:nvSpPr>
        <p:spPr>
          <a:xfrm>
            <a:off x="5074920" y="1920240"/>
            <a:ext cx="64008" cy="1554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urn stat figure"/>
          <p:cNvSpPr txBox="1"/>
          <p:nvPr/>
        </p:nvSpPr>
        <p:spPr>
          <a:xfrm>
            <a:off x="5257800" y="1920240"/>
            <a:ext cx="1097280" cy="155448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1.67</a:t>
            </a:r>
          </a:p>
        </p:txBody>
      </p:sp>
      <p:sp>
        <p:nvSpPr>
          <p:cNvPr id="39" name="Turn stat label"/>
          <p:cNvSpPr txBox="1"/>
          <p:nvPr/>
        </p:nvSpPr>
        <p:spPr>
          <a:xfrm>
            <a:off x="6355080" y="1920240"/>
            <a:ext cx="2286000" cy="1554480"/>
          </a:xfrm>
          <a:prstGeom prst="rect">
            <a:avLst/>
          </a:prstGeom>
          <a:noFill/>
        </p:spPr>
        <p:txBody>
          <a:bodyPr wrap="square" lIns="0" rIns="0" tIns="0" bIns="0" anchor="ctr">
            <a:noAutofit/>
          </a:bodyPr>
          <a:lstStyle/>
          <a:p>
            <a:pPr algn="l">
              <a:spcAft>
                <a:spcPts val="400"/>
              </a:spcAft>
            </a:pPr>
            <a:r>
              <a:rPr sz="1200" b="0" lang="en-GB">
                <a:solidFill>
                  <a:schemeClr val="tx1"/>
                </a:solidFill>
              </a:rPr>
              <a:t>turning point −b1 / (2·b2), in EUR: outside the data (1.02 to 1.55)</a:t>
            </a:r>
          </a:p>
        </p:txBody>
      </p:sp>
      <p:sp>
        <p:nvSpPr>
          <p:cNvPr id="40" name="Quad warn box"/>
          <p:cNvSpPr/>
          <p:nvPr/>
        </p:nvSpPr>
        <p:spPr>
          <a:xfrm>
            <a:off x="457200" y="36576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Icon Quad warn" descr=""/>
          <p:cNvPicPr>
            <a:picLocks noChangeAspect="1"/>
          </p:cNvPicPr>
          <p:nvPr/>
        </p:nvPicPr>
        <p:blipFill>
          <a:blip r:embed="rId3"/>
          <a:stretch>
            <a:fillRect/>
          </a:stretch>
        </p:blipFill>
        <p:spPr>
          <a:xfrm>
            <a:off x="658368" y="3817620"/>
            <a:ext cx="365760" cy="365760"/>
          </a:xfrm>
          <a:prstGeom prst="rect">
            <a:avLst/>
          </a:prstGeom>
        </p:spPr>
      </p:pic>
      <p:sp>
        <p:nvSpPr>
          <p:cNvPr id="42" name="Quad warn text"/>
          <p:cNvSpPr txBox="1"/>
          <p:nvPr/>
        </p:nvSpPr>
        <p:spPr>
          <a:xfrm>
            <a:off x="1207008" y="3657600"/>
            <a:ext cx="7315200" cy="685800"/>
          </a:xfrm>
          <a:prstGeom prst="rect">
            <a:avLst/>
          </a:prstGeom>
          <a:noFill/>
        </p:spPr>
        <p:txBody>
          <a:bodyPr wrap="square" lIns="0" rIns="0" tIns="0" bIns="0" anchor="ctr">
            <a:noAutofit/>
          </a:bodyPr>
          <a:lstStyle/>
          <a:p>
            <a:pPr algn="l">
              <a:spcAft>
                <a:spcPts val="400"/>
              </a:spcAft>
            </a:pPr>
            <a:r>
              <a:rPr sz="1250" b="1" lang="en-GB">
                <a:solidFill>
                  <a:schemeClr val="bg1"/>
                </a:solidFill>
              </a:rPr>
              <a:t>Never read a curve beyond the data: </a:t>
            </a:r>
            <a:r>
              <a:rPr sz="1250" b="0" lang="en-GB">
                <a:solidFill>
                  <a:schemeClr val="bg1"/>
                </a:solidFill>
              </a:rPr>
              <a:t>above 1.67 the quadratic says sales rise with price.</a:t>
            </a:r>
          </a:p>
        </p:txBody>
      </p:sp>
      <p:sp>
        <p:nvSpPr>
          <p:cNvPr id="43" name="Quad still row 1"/>
          <p:cNvSpPr/>
          <p:nvPr/>
        </p:nvSpPr>
        <p:spPr>
          <a:xfrm>
            <a:off x="457200" y="4480560"/>
            <a:ext cx="8229600"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Quad still bar 1"/>
          <p:cNvSpPr/>
          <p:nvPr/>
        </p:nvSpPr>
        <p:spPr>
          <a:xfrm>
            <a:off x="457200" y="4480560"/>
            <a:ext cx="6400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Quad still text 1"/>
          <p:cNvSpPr txBox="1"/>
          <p:nvPr/>
        </p:nvSpPr>
        <p:spPr>
          <a:xfrm>
            <a:off x="658368" y="4480560"/>
            <a:ext cx="7936992" cy="411480"/>
          </a:xfrm>
          <a:prstGeom prst="rect">
            <a:avLst/>
          </a:prstGeom>
          <a:noFill/>
        </p:spPr>
        <p:txBody>
          <a:bodyPr wrap="square" lIns="0" rIns="0" tIns="0" bIns="0" anchor="ctr">
            <a:noAutofit/>
          </a:bodyPr>
          <a:lstStyle/>
          <a:p>
            <a:pPr algn="l">
              <a:spcAft>
                <a:spcPts val="400"/>
              </a:spcAft>
            </a:pPr>
            <a:r>
              <a:rPr sz="1200" b="1" lang="en-GB">
                <a:solidFill>
                  <a:schemeClr val="tx2"/>
                </a:solidFill>
              </a:rPr>
              <a:t>Still: </a:t>
            </a:r>
            <a:r>
              <a:rPr sz="1200" b="0" lang="en-GB">
                <a:solidFill>
                  <a:schemeClr val="tx1"/>
                </a:solidFill>
              </a:rPr>
              <a:t>RESET and Breusch-Pagan fail; the log-log model remains the better form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Choosing the form: four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oose row 1"/>
          <p:cNvSpPr/>
          <p:nvPr/>
        </p:nvSpPr>
        <p:spPr>
          <a:xfrm>
            <a:off x="457200" y="123444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oose number 1"/>
          <p:cNvSpPr/>
          <p:nvPr/>
        </p:nvSpPr>
        <p:spPr>
          <a:xfrm>
            <a:off x="594360" y="1362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hoose text 1"/>
          <p:cNvSpPr txBox="1"/>
          <p:nvPr/>
        </p:nvSpPr>
        <p:spPr>
          <a:xfrm>
            <a:off x="1051560" y="1234440"/>
            <a:ext cx="7498080" cy="566928"/>
          </a:xfrm>
          <a:prstGeom prst="rect">
            <a:avLst/>
          </a:prstGeom>
          <a:noFill/>
        </p:spPr>
        <p:txBody>
          <a:bodyPr wrap="square" lIns="0" rIns="0" tIns="0" bIns="0" anchor="ctr">
            <a:noAutofit/>
          </a:bodyPr>
          <a:lstStyle/>
          <a:p>
            <a:pPr algn="l">
              <a:spcAft>
                <a:spcPts val="400"/>
              </a:spcAft>
            </a:pPr>
            <a:r>
              <a:rPr sz="1250" b="1" lang="en-GB">
                <a:solidFill>
                  <a:schemeClr val="tx2"/>
                </a:solidFill>
              </a:rPr>
              <a:t>Theory: </a:t>
            </a:r>
            <a:r>
              <a:rPr sz="1250" b="0" lang="en-GB">
                <a:solidFill>
                  <a:schemeClr val="tx1"/>
                </a:solidFill>
              </a:rPr>
              <a:t>saturation, an optimum, effects in per cent?</a:t>
            </a:r>
          </a:p>
        </p:txBody>
      </p:sp>
      <p:sp>
        <p:nvSpPr>
          <p:cNvPr id="13" name="Choose row 2"/>
          <p:cNvSpPr/>
          <p:nvPr/>
        </p:nvSpPr>
        <p:spPr>
          <a:xfrm>
            <a:off x="457200" y="1892808"/>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oose number 2"/>
          <p:cNvSpPr/>
          <p:nvPr/>
        </p:nvSpPr>
        <p:spPr>
          <a:xfrm>
            <a:off x="594360" y="20208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hoose text 2"/>
          <p:cNvSpPr txBox="1"/>
          <p:nvPr/>
        </p:nvSpPr>
        <p:spPr>
          <a:xfrm>
            <a:off x="1051560" y="1892808"/>
            <a:ext cx="7498080" cy="566928"/>
          </a:xfrm>
          <a:prstGeom prst="rect">
            <a:avLst/>
          </a:prstGeom>
          <a:noFill/>
        </p:spPr>
        <p:txBody>
          <a:bodyPr wrap="square" lIns="0" rIns="0" tIns="0" bIns="0" anchor="ctr">
            <a:noAutofit/>
          </a:bodyPr>
          <a:lstStyle/>
          <a:p>
            <a:pPr algn="l">
              <a:spcAft>
                <a:spcPts val="400"/>
              </a:spcAft>
            </a:pPr>
            <a:r>
              <a:rPr sz="1250" b="1" lang="en-GB">
                <a:solidFill>
                  <a:schemeClr val="tx2"/>
                </a:solidFill>
              </a:rPr>
              <a:t>Look and test: </a:t>
            </a:r>
            <a:r>
              <a:rPr sz="1250" b="0" lang="en-GB">
                <a:solidFill>
                  <a:schemeClr val="tx1"/>
                </a:solidFill>
              </a:rPr>
              <a:t>residuals against fitted, RESET</a:t>
            </a:r>
          </a:p>
        </p:txBody>
      </p:sp>
      <p:sp>
        <p:nvSpPr>
          <p:cNvPr id="16" name="Choose row 3"/>
          <p:cNvSpPr/>
          <p:nvPr/>
        </p:nvSpPr>
        <p:spPr>
          <a:xfrm>
            <a:off x="457200" y="2551176"/>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oose number 3"/>
          <p:cNvSpPr/>
          <p:nvPr/>
        </p:nvSpPr>
        <p:spPr>
          <a:xfrm>
            <a:off x="594360" y="267919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hoose text 3"/>
          <p:cNvSpPr txBox="1"/>
          <p:nvPr/>
        </p:nvSpPr>
        <p:spPr>
          <a:xfrm>
            <a:off x="1051560" y="2551176"/>
            <a:ext cx="7498080" cy="566928"/>
          </a:xfrm>
          <a:prstGeom prst="rect">
            <a:avLst/>
          </a:prstGeom>
          <a:noFill/>
        </p:spPr>
        <p:txBody>
          <a:bodyPr wrap="square" lIns="0" rIns="0" tIns="0" bIns="0" anchor="ctr">
            <a:noAutofit/>
          </a:bodyPr>
          <a:lstStyle/>
          <a:p>
            <a:pPr algn="l">
              <a:spcAft>
                <a:spcPts val="400"/>
              </a:spcAft>
            </a:pPr>
            <a:r>
              <a:rPr sz="1250" b="1" lang="en-GB">
                <a:solidFill>
                  <a:schemeClr val="tx2"/>
                </a:solidFill>
              </a:rPr>
              <a:t>Compare like with like: </a:t>
            </a:r>
            <a:r>
              <a:rPr sz="1250" b="0" lang="en-GB">
                <a:solidFill>
                  <a:schemeClr val="tx1"/>
                </a:solidFill>
              </a:rPr>
              <a:t>same outcome: adjusted R² or AIC; else tests and predictions</a:t>
            </a:r>
          </a:p>
        </p:txBody>
      </p:sp>
      <p:sp>
        <p:nvSpPr>
          <p:cNvPr id="19" name="Choose row 4"/>
          <p:cNvSpPr/>
          <p:nvPr/>
        </p:nvSpPr>
        <p:spPr>
          <a:xfrm>
            <a:off x="457200" y="3209544"/>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oose number 4"/>
          <p:cNvSpPr/>
          <p:nvPr/>
        </p:nvSpPr>
        <p:spPr>
          <a:xfrm>
            <a:off x="594360" y="333756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hoose text 4"/>
          <p:cNvSpPr txBox="1"/>
          <p:nvPr/>
        </p:nvSpPr>
        <p:spPr>
          <a:xfrm>
            <a:off x="1051560" y="3209544"/>
            <a:ext cx="7498080" cy="566928"/>
          </a:xfrm>
          <a:prstGeom prst="rect">
            <a:avLst/>
          </a:prstGeom>
          <a:noFill/>
        </p:spPr>
        <p:txBody>
          <a:bodyPr wrap="square" lIns="0" rIns="0" tIns="0" bIns="0" anchor="ctr">
            <a:noAutofit/>
          </a:bodyPr>
          <a:lstStyle/>
          <a:p>
            <a:pPr algn="l">
              <a:spcAft>
                <a:spcPts val="400"/>
              </a:spcAft>
            </a:pPr>
            <a:r>
              <a:rPr sz="1250" b="1" lang="en-GB">
                <a:solidFill>
                  <a:schemeClr val="tx2"/>
                </a:solidFill>
              </a:rPr>
              <a:t>Plausible in the data range: </a:t>
            </a:r>
            <a:r>
              <a:rPr sz="1250" b="0" lang="en-GB">
                <a:solidFill>
                  <a:schemeClr val="tx1"/>
                </a:solidFill>
              </a:rPr>
              <a:t>signs, turning points, no extrapolation</a:t>
            </a:r>
          </a:p>
        </p:txBody>
      </p:sp>
      <p:sp>
        <p:nvSpPr>
          <p:cNvPr id="22" name="Choose ex box"/>
          <p:cNvSpPr/>
          <p:nvPr/>
        </p:nvSpPr>
        <p:spPr>
          <a:xfrm>
            <a:off x="457200" y="38862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Choose ex" descr=""/>
          <p:cNvPicPr>
            <a:picLocks noChangeAspect="1"/>
          </p:cNvPicPr>
          <p:nvPr/>
        </p:nvPicPr>
        <p:blipFill>
          <a:blip r:embed="rId3"/>
          <a:stretch>
            <a:fillRect/>
          </a:stretch>
        </p:blipFill>
        <p:spPr>
          <a:xfrm>
            <a:off x="658368" y="4046220"/>
            <a:ext cx="365760" cy="365760"/>
          </a:xfrm>
          <a:prstGeom prst="rect">
            <a:avLst/>
          </a:prstGeom>
        </p:spPr>
      </p:pic>
      <p:sp>
        <p:nvSpPr>
          <p:cNvPr id="24" name="Choose ex text"/>
          <p:cNvSpPr txBox="1"/>
          <p:nvPr/>
        </p:nvSpPr>
        <p:spPr>
          <a:xfrm>
            <a:off x="1207008" y="3886200"/>
            <a:ext cx="7315200" cy="685800"/>
          </a:xfrm>
          <a:prstGeom prst="rect">
            <a:avLst/>
          </a:prstGeom>
          <a:noFill/>
        </p:spPr>
        <p:txBody>
          <a:bodyPr wrap="square" lIns="0" rIns="0" tIns="0" bIns="0" anchor="ctr">
            <a:noAutofit/>
          </a:bodyPr>
          <a:lstStyle/>
          <a:p>
            <a:pPr algn="l">
              <a:spcAft>
                <a:spcPts val="400"/>
              </a:spcAft>
            </a:pPr>
            <a:r>
              <a:rPr sz="1250" b="1" lang="en-GB">
                <a:solidFill>
                  <a:schemeClr val="bg1"/>
                </a:solidFill>
              </a:rPr>
              <a:t>Example: </a:t>
            </a:r>
            <a:r>
              <a:rPr sz="1250" b="0" lang="en-GB">
                <a:solidFill>
                  <a:schemeClr val="bg1"/>
                </a:solidFill>
              </a:rPr>
              <a:t>temp² in the full log-log model, p = 0.14: keep temperature linear.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6 · packages, two models, plots, tests, dummies, curves</a:t>
            </a:r>
          </a:p>
        </p:txBody>
      </p:sp>
      <p:sp>
        <p:nvSpPr>
          <p:cNvPr id="3" name="Title 2"/>
          <p:cNvSpPr>
            <a:spLocks noGrp="1"/>
          </p:cNvSpPr>
          <p:nvPr>
            <p:ph type="ctrTitle"/>
          </p:nvPr>
        </p:nvSpPr>
        <p:spPr/>
        <p:txBody>
          <a:bodyPr/>
          <a:lstStyle/>
          <a:p>
            <a:r>
              <a:rPr sz="1600" lang="en-GB"/>
              <a:t>The analyses in Python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ackage table"/>
          <p:cNvGraphicFramePr>
            <a:graphicFrameLocks noGrp="1"/>
          </p:cNvGraphicFramePr>
          <p:nvPr>
            <p:ph type="tbl" idx="1"/>
          </p:nvPr>
        </p:nvGraphicFramePr>
        <p:xfrm>
          <a:off x="457200" y="1234440"/>
          <a:ext cx="8229600" cy="3337560"/>
        </p:xfrm>
        <a:graphic>
          <a:graphicData uri="http://schemas.openxmlformats.org/drawingml/2006/table">
            <a:tbl>
              <a:tblPr firstRow="1" bandRow="1">
                <a:tableStyleId>{5C22544A-7EE6-4342-B048-85BDC9FD1C3A}</a:tableStyleId>
              </a:tblPr>
              <a:tblGrid>
                <a:gridCol w="2194560"/>
                <a:gridCol w="1828800"/>
                <a:gridCol w="4206240"/>
              </a:tblGrid>
              <a:tr h="370840">
                <a:tc>
                  <a:txBody>
                    <a:bodyPr/>
                    <a:lstStyle/>
                    <a:p>
                      <a:r>
                        <a:rPr sz="1300" lang="en-GB"/>
                        <a:t>Task</a:t>
                      </a:r>
                    </a:p>
                  </a:txBody>
                  <a:tcPr marT="34000" marB="34000"/>
                </a:tc>
                <a:tc>
                  <a:txBody>
                    <a:bodyPr/>
                    <a:lstStyle/>
                    <a:p>
                      <a:r>
                        <a:rPr sz="1300" lang="en-GB"/>
                        <a:t>Package</a:t>
                      </a:r>
                    </a:p>
                  </a:txBody>
                  <a:tcPr marT="34000" marB="34000"/>
                </a:tc>
                <a:tc>
                  <a:txBody>
                    <a:bodyPr/>
                    <a:lstStyle/>
                    <a:p>
                      <a:r>
                        <a:rPr sz="1300" lang="en-GB"/>
                        <a:t>Function</a:t>
                      </a:r>
                    </a:p>
                  </a:txBody>
                  <a:tcPr marT="34000" marB="34000"/>
                </a:tc>
              </a:tr>
              <a:tr h="370840">
                <a:tc>
                  <a:txBody>
                    <a:bodyPr/>
                    <a:lstStyle/>
                    <a:p>
                      <a:r>
                        <a:rPr sz="1150" b="1" lang="en-GB"/>
                        <a:t>Fit the models</a:t>
                      </a:r>
                    </a:p>
                  </a:txBody>
                  <a:tcPr marT="34000" marB="34000"/>
                </a:tc>
                <a:tc>
                  <a:txBody>
                    <a:bodyPr/>
                    <a:lstStyle/>
                    <a:p>
                      <a:r>
                        <a:rPr sz="1150" lang="en-GB"/>
                        <a:t>statsmodels</a:t>
                      </a:r>
                    </a:p>
                  </a:txBody>
                  <a:tcPr marT="34000" marB="34000"/>
                </a:tc>
                <a:tc>
                  <a:txBody>
                    <a:bodyPr/>
                    <a:lstStyle/>
                    <a:p>
                      <a:r>
                        <a:rPr sz="1150" lang="en-GB"/>
                        <a:t>smf.ols(formula, data).fit()</a:t>
                      </a:r>
                    </a:p>
                  </a:txBody>
                  <a:tcPr marT="34000" marB="34000"/>
                </a:tc>
              </a:tr>
              <a:tr h="370840">
                <a:tc>
                  <a:txBody>
                    <a:bodyPr/>
                    <a:lstStyle/>
                    <a:p>
                      <a:r>
                        <a:rPr sz="1150" b="1" lang="en-GB"/>
                        <a:t>Curve: RESET</a:t>
                      </a:r>
                    </a:p>
                  </a:txBody>
                  <a:tcPr marT="34000" marB="34000"/>
                </a:tc>
                <a:tc>
                  <a:txBody>
                    <a:bodyPr/>
                    <a:lstStyle/>
                    <a:p>
                      <a:r>
                        <a:rPr sz="1150" lang="en-GB"/>
                        <a:t>statsmodels</a:t>
                      </a:r>
                    </a:p>
                  </a:txBody>
                  <a:tcPr marT="34000" marB="34000"/>
                </a:tc>
                <a:tc>
                  <a:txBody>
                    <a:bodyPr/>
                    <a:lstStyle/>
                    <a:p>
                      <a:r>
                        <a:rPr sz="1150" lang="en-GB"/>
                        <a:t>linear_reset(model, power=2, use_f=True)</a:t>
                      </a:r>
                    </a:p>
                  </a:txBody>
                  <a:tcPr marT="34000" marB="34000"/>
                </a:tc>
              </a:tr>
              <a:tr h="370840">
                <a:tc>
                  <a:txBody>
                    <a:bodyPr/>
                    <a:lstStyle/>
                    <a:p>
                      <a:r>
                        <a:rPr sz="1150" b="1" lang="en-GB"/>
                        <a:t>Funnel: Breusch-Pagan</a:t>
                      </a:r>
                    </a:p>
                  </a:txBody>
                  <a:tcPr marT="34000" marB="34000"/>
                </a:tc>
                <a:tc>
                  <a:txBody>
                    <a:bodyPr/>
                    <a:lstStyle/>
                    <a:p>
                      <a:r>
                        <a:rPr sz="1150" lang="en-GB"/>
                        <a:t>statsmodels</a:t>
                      </a:r>
                    </a:p>
                  </a:txBody>
                  <a:tcPr marT="34000" marB="34000"/>
                </a:tc>
                <a:tc>
                  <a:txBody>
                    <a:bodyPr/>
                    <a:lstStyle/>
                    <a:p>
                      <a:r>
                        <a:rPr sz="1150" lang="en-GB"/>
                        <a:t>het_breuschpagan(resid, exog)</a:t>
                      </a:r>
                    </a:p>
                  </a:txBody>
                  <a:tcPr marT="34000" marB="34000"/>
                </a:tc>
              </a:tr>
              <a:tr h="370840">
                <a:tc>
                  <a:txBody>
                    <a:bodyPr/>
                    <a:lstStyle/>
                    <a:p>
                      <a:r>
                        <a:rPr sz="1150" b="1" lang="en-GB"/>
                        <a:t>Normality</a:t>
                      </a:r>
                    </a:p>
                  </a:txBody>
                  <a:tcPr marT="34000" marB="34000"/>
                </a:tc>
                <a:tc>
                  <a:txBody>
                    <a:bodyPr/>
                    <a:lstStyle/>
                    <a:p>
                      <a:r>
                        <a:rPr sz="1150" lang="en-GB"/>
                        <a:t>statsmodels, scipy</a:t>
                      </a:r>
                    </a:p>
                  </a:txBody>
                  <a:tcPr marT="34000" marB="34000"/>
                </a:tc>
                <a:tc>
                  <a:txBody>
                    <a:bodyPr/>
                    <a:lstStyle/>
                    <a:p>
                      <a:r>
                        <a:rPr sz="1150" lang="en-GB"/>
                        <a:t>jarque_bera(resid); stats.shapiro(resid)</a:t>
                      </a:r>
                    </a:p>
                  </a:txBody>
                  <a:tcPr marT="34000" marB="34000"/>
                </a:tc>
              </a:tr>
              <a:tr h="370840">
                <a:tc>
                  <a:txBody>
                    <a:bodyPr/>
                    <a:lstStyle/>
                    <a:p>
                      <a:r>
                        <a:rPr sz="1150" b="1" lang="en-GB"/>
                        <a:t>Multicollinearity</a:t>
                      </a:r>
                    </a:p>
                  </a:txBody>
                  <a:tcPr marT="34000" marB="34000"/>
                </a:tc>
                <a:tc>
                  <a:txBody>
                    <a:bodyPr/>
                    <a:lstStyle/>
                    <a:p>
                      <a:r>
                        <a:rPr sz="1150" lang="en-GB"/>
                        <a:t>statsmodels</a:t>
                      </a:r>
                    </a:p>
                  </a:txBody>
                  <a:tcPr marT="34000" marB="34000"/>
                </a:tc>
                <a:tc>
                  <a:txBody>
                    <a:bodyPr/>
                    <a:lstStyle/>
                    <a:p>
                      <a:r>
                        <a:rPr sz="1150" lang="en-GB"/>
                        <a:t>variance_inflation_factor(exog, i)</a:t>
                      </a:r>
                    </a:p>
                  </a:txBody>
                  <a:tcPr marT="34000" marB="34000"/>
                </a:tc>
              </a:tr>
              <a:tr h="370840">
                <a:tc>
                  <a:txBody>
                    <a:bodyPr/>
                    <a:lstStyle/>
                    <a:p>
                      <a:r>
                        <a:rPr sz="1150" b="1" lang="en-GB"/>
                        <a:t>Influence</a:t>
                      </a:r>
                    </a:p>
                  </a:txBody>
                  <a:tcPr marT="34000" marB="34000"/>
                </a:tc>
                <a:tc>
                  <a:txBody>
                    <a:bodyPr/>
                    <a:lstStyle/>
                    <a:p>
                      <a:r>
                        <a:rPr sz="1150" lang="en-GB"/>
                        <a:t>statsmodels</a:t>
                      </a:r>
                    </a:p>
                  </a:txBody>
                  <a:tcPr marT="34000" marB="34000"/>
                </a:tc>
                <a:tc>
                  <a:txBody>
                    <a:bodyPr/>
                    <a:lstStyle/>
                    <a:p>
                      <a:r>
                        <a:rPr sz="1150" lang="en-GB"/>
                        <a:t>model.get_influence().cooks_distance</a:t>
                      </a:r>
                    </a:p>
                  </a:txBody>
                  <a:tcPr marT="34000" marB="34000"/>
                </a:tc>
              </a:tr>
              <a:tr h="370840">
                <a:tc>
                  <a:txBody>
                    <a:bodyPr/>
                    <a:lstStyle/>
                    <a:p>
                      <a:r>
                        <a:rPr sz="1150" b="1" lang="en-GB"/>
                        <a:t>Dummies</a:t>
                      </a:r>
                    </a:p>
                  </a:txBody>
                  <a:tcPr marT="34000" marB="34000"/>
                </a:tc>
                <a:tc>
                  <a:txBody>
                    <a:bodyPr/>
                    <a:lstStyle/>
                    <a:p>
                      <a:r>
                        <a:rPr sz="1150" lang="en-GB"/>
                        <a:t>polars, statsmodels</a:t>
                      </a:r>
                    </a:p>
                  </a:txBody>
                  <a:tcPr marT="34000" marB="34000"/>
                </a:tc>
                <a:tc>
                  <a:txBody>
                    <a:bodyPr/>
                    <a:lstStyle/>
                    <a:p>
                      <a:r>
                        <a:rPr sz="1150" lang="en-GB"/>
                        <a:t>pl.when().then(); C(season, Treatment("mild"))</a:t>
                      </a:r>
                    </a:p>
                  </a:txBody>
                  <a:tcPr marT="34000" marB="34000"/>
                </a:tc>
              </a:tr>
              <a:tr h="370840">
                <a:tc>
                  <a:txBody>
                    <a:bodyPr/>
                    <a:lstStyle/>
                    <a:p>
                      <a:r>
                        <a:rPr sz="1150" b="1" lang="en-GB"/>
                        <a:t>Plots</a:t>
                      </a:r>
                    </a:p>
                  </a:txBody>
                  <a:tcPr marT="34000" marB="34000"/>
                </a:tc>
                <a:tc>
                  <a:txBody>
                    <a:bodyPr/>
                    <a:lstStyle/>
                    <a:p>
                      <a:r>
                        <a:rPr sz="1150" lang="en-GB"/>
                        <a:t>plotnine</a:t>
                      </a:r>
                    </a:p>
                  </a:txBody>
                  <a:tcPr marT="34000" marB="34000"/>
                </a:tc>
                <a:tc>
                  <a:txBody>
                    <a:bodyPr/>
                    <a:lstStyle/>
                    <a:p>
                      <a:r>
                        <a:rPr sz="1150" lang="en-GB"/>
                        <a:t>geom_point, geom_qq, geom_qq_line</a:t>
                      </a:r>
                    </a:p>
                  </a:txBody>
                  <a:tcPr marT="34000" marB="34000"/>
                </a:tc>
              </a:tr>
            </a:tbl>
          </a:graphicData>
        </a:graphic>
      </p:graphicFrame>
      <p:sp>
        <p:nvSpPr>
          <p:cNvPr id="3" name="Title 2"/>
          <p:cNvSpPr>
            <a:spLocks noGrp="1"/>
          </p:cNvSpPr>
          <p:nvPr>
            <p:ph type="title"/>
          </p:nvPr>
        </p:nvSpPr>
        <p:spPr/>
        <p:txBody>
          <a:bodyPr/>
          <a:lstStyle/>
          <a:p>
            <a:r>
              <a:rPr sz="1600" lang="en-GB"/>
              <a:t>The packages and functions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 fit both models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it code caption bar"/>
          <p:cNvSpPr/>
          <p:nvPr/>
        </p:nvSpPr>
        <p:spPr>
          <a:xfrm>
            <a:off x="457200" y="1234440"/>
            <a:ext cx="51206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Fit code caption"/>
          <p:cNvSpPr txBox="1"/>
          <p:nvPr/>
        </p:nvSpPr>
        <p:spPr>
          <a:xfrm>
            <a:off x="566928" y="1234440"/>
            <a:ext cx="49011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polars and statsmodels</a:t>
            </a:r>
          </a:p>
        </p:txBody>
      </p:sp>
      <p:sp>
        <p:nvSpPr>
          <p:cNvPr id="12" name="Fit code box"/>
          <p:cNvSpPr/>
          <p:nvPr/>
        </p:nvSpPr>
        <p:spPr>
          <a:xfrm>
            <a:off x="457200" y="1508760"/>
            <a:ext cx="5120640" cy="2788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it code code"/>
          <p:cNvSpPr txBox="1"/>
          <p:nvPr/>
        </p:nvSpPr>
        <p:spPr>
          <a:xfrm>
            <a:off x="594360" y="1600200"/>
            <a:ext cx="4846320" cy="260604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numpy as np</a:t>
            </a:r>
          </a:p>
          <a:p>
            <a:pPr algn="l">
              <a:spcAft>
                <a:spcPts val="0"/>
              </a:spcAft>
            </a:pPr>
            <a:r>
              <a:rPr sz="1050" b="0" lang="en-GB">
                <a:solidFill>
                  <a:schemeClr val="bg1"/>
                </a:solidFill>
                <a:latin typeface="Consolas"/>
              </a:rPr>
              <a:t>import polars as pl</a:t>
            </a:r>
          </a:p>
          <a:p>
            <a:pPr algn="l">
              <a:spcAft>
                <a:spcPts val="0"/>
              </a:spcAft>
            </a:pPr>
            <a:r>
              <a:rPr sz="1050" b="0" lang="en-GB">
                <a:solidFill>
                  <a:schemeClr val="bg1"/>
                </a:solidFill>
                <a:latin typeface="Consolas"/>
              </a:rPr>
              <a:t>import statsmodels.formula.api as smf</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choc = pl.read_csv(</a:t>
            </a:r>
          </a:p>
          <a:p>
            <a:pPr algn="l">
              <a:spcAft>
                <a:spcPts val="0"/>
              </a:spcAft>
            </a:pPr>
            <a:r>
              <a:rPr sz="1050" b="0" lang="en-GB">
                <a:solidFill>
                  <a:schemeClr val="bg1"/>
                </a:solidFill>
                <a:latin typeface="Consolas"/>
              </a:rPr>
              <a:t>    "data/legacy/chocolate_dataset.csv")</a:t>
            </a:r>
          </a:p>
          <a:p>
            <a:pPr algn="l">
              <a:spcAft>
                <a:spcPts val="0"/>
              </a:spcAft>
            </a:pPr>
            <a:r>
              <a:rPr sz="1050" b="0" lang="en-GB">
                <a:solidFill>
                  <a:schemeClr val="bg1"/>
                </a:solidFill>
                <a:latin typeface="Consolas"/>
              </a:rPr>
              <a:t>df = choc.to_pandas()</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lin = smf.ols("sales ~ price1 + feature1 + display1"</a:t>
            </a:r>
          </a:p>
          <a:p>
            <a:pPr algn="l">
              <a:spcAft>
                <a:spcPts val="0"/>
              </a:spcAft>
            </a:pPr>
            <a:r>
              <a:rPr sz="1050" b="0" lang="en-GB">
                <a:solidFill>
                  <a:schemeClr val="bg1"/>
                </a:solidFill>
                <a:latin typeface="Consolas"/>
              </a:rPr>
              <a:t>              " + temp + december", data=df).fit()</a:t>
            </a:r>
          </a:p>
          <a:p>
            <a:pPr algn="l">
              <a:spcAft>
                <a:spcPts val="0"/>
              </a:spcAft>
            </a:pPr>
            <a:r>
              <a:rPr sz="1050" b="0" lang="en-GB">
                <a:solidFill>
                  <a:schemeClr val="bg1"/>
                </a:solidFill>
                <a:latin typeface="Consolas"/>
              </a:rPr>
              <a:t>ll = smf.ols("np.log(sales) ~ np.log(price1)"</a:t>
            </a:r>
          </a:p>
          <a:p>
            <a:pPr algn="l">
              <a:spcAft>
                <a:spcPts val="0"/>
              </a:spcAft>
            </a:pPr>
            <a:r>
              <a:rPr sz="1050" b="0" lang="en-GB">
                <a:solidFill>
                  <a:schemeClr val="bg1"/>
                </a:solidFill>
                <a:latin typeface="Consolas"/>
              </a:rPr>
              <a:t>             " + np.log(price2) + np.log(price3)"</a:t>
            </a:r>
          </a:p>
          <a:p>
            <a:pPr algn="l">
              <a:spcAft>
                <a:spcPts val="0"/>
              </a:spcAft>
            </a:pPr>
            <a:r>
              <a:rPr sz="1050" b="0" lang="en-GB">
                <a:solidFill>
                  <a:schemeClr val="bg1"/>
                </a:solidFill>
                <a:latin typeface="Consolas"/>
              </a:rPr>
              <a:t>             " + np.log(price4) + feature1 + display1"</a:t>
            </a:r>
          </a:p>
          <a:p>
            <a:pPr algn="l">
              <a:spcAft>
                <a:spcPts val="0"/>
              </a:spcAft>
            </a:pPr>
            <a:r>
              <a:rPr sz="1050" b="0" lang="en-GB">
                <a:solidFill>
                  <a:schemeClr val="bg1"/>
                </a:solidFill>
                <a:latin typeface="Consolas"/>
              </a:rPr>
              <a:t>             " + temp + december", data=df).fit()</a:t>
            </a:r>
          </a:p>
        </p:txBody>
      </p:sp>
      <p:sp>
        <p:nvSpPr>
          <p:cNvPr id="14" name="Fit out 1-1"/>
          <p:cNvSpPr/>
          <p:nvPr/>
        </p:nvSpPr>
        <p:spPr>
          <a:xfrm>
            <a:off x="5669280" y="1234440"/>
            <a:ext cx="11612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it out text 1-1"/>
          <p:cNvSpPr txBox="1"/>
          <p:nvPr/>
        </p:nvSpPr>
        <p:spPr>
          <a:xfrm>
            <a:off x="5760720" y="1234440"/>
            <a:ext cx="97840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
            </a:r>
          </a:p>
        </p:txBody>
      </p:sp>
      <p:sp>
        <p:nvSpPr>
          <p:cNvPr id="16" name="Fit out 1-2"/>
          <p:cNvSpPr/>
          <p:nvPr/>
        </p:nvSpPr>
        <p:spPr>
          <a:xfrm>
            <a:off x="6858000" y="1234440"/>
            <a:ext cx="88696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it out text 1-2"/>
          <p:cNvSpPr txBox="1"/>
          <p:nvPr/>
        </p:nvSpPr>
        <p:spPr>
          <a:xfrm>
            <a:off x="6949440" y="1234440"/>
            <a:ext cx="70408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Linear</a:t>
            </a:r>
          </a:p>
        </p:txBody>
      </p:sp>
      <p:sp>
        <p:nvSpPr>
          <p:cNvPr id="18" name="Fit out 1-3"/>
          <p:cNvSpPr/>
          <p:nvPr/>
        </p:nvSpPr>
        <p:spPr>
          <a:xfrm>
            <a:off x="7772400" y="1234440"/>
            <a:ext cx="88696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Fit out text 1-3"/>
          <p:cNvSpPr txBox="1"/>
          <p:nvPr/>
        </p:nvSpPr>
        <p:spPr>
          <a:xfrm>
            <a:off x="7863840" y="1234440"/>
            <a:ext cx="70408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Log-log</a:t>
            </a:r>
          </a:p>
        </p:txBody>
      </p:sp>
      <p:sp>
        <p:nvSpPr>
          <p:cNvPr id="20" name="Fit out 2-1"/>
          <p:cNvSpPr/>
          <p:nvPr/>
        </p:nvSpPr>
        <p:spPr>
          <a:xfrm>
            <a:off x="5669280" y="164592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it out text 2-1"/>
          <p:cNvSpPr txBox="1"/>
          <p:nvPr/>
        </p:nvSpPr>
        <p:spPr>
          <a:xfrm>
            <a:off x="5760720" y="164592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Own price</a:t>
            </a:r>
          </a:p>
        </p:txBody>
      </p:sp>
      <p:sp>
        <p:nvSpPr>
          <p:cNvPr id="22" name="Fit out 2-2"/>
          <p:cNvSpPr/>
          <p:nvPr/>
        </p:nvSpPr>
        <p:spPr>
          <a:xfrm>
            <a:off x="6858000" y="1645920"/>
            <a:ext cx="8869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it out text 2-2"/>
          <p:cNvSpPr txBox="1"/>
          <p:nvPr/>
        </p:nvSpPr>
        <p:spPr>
          <a:xfrm>
            <a:off x="6949440" y="1645920"/>
            <a:ext cx="70408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−678</a:t>
            </a:r>
          </a:p>
        </p:txBody>
      </p:sp>
      <p:sp>
        <p:nvSpPr>
          <p:cNvPr id="24" name="Fit out 2-3"/>
          <p:cNvSpPr/>
          <p:nvPr/>
        </p:nvSpPr>
        <p:spPr>
          <a:xfrm>
            <a:off x="7772400" y="1645920"/>
            <a:ext cx="8869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Fit out text 2-3"/>
          <p:cNvSpPr txBox="1"/>
          <p:nvPr/>
        </p:nvSpPr>
        <p:spPr>
          <a:xfrm>
            <a:off x="7863840" y="1645920"/>
            <a:ext cx="70408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−3.68</a:t>
            </a:r>
          </a:p>
        </p:txBody>
      </p:sp>
      <p:sp>
        <p:nvSpPr>
          <p:cNvPr id="26" name="Fit out 3-1"/>
          <p:cNvSpPr/>
          <p:nvPr/>
        </p:nvSpPr>
        <p:spPr>
          <a:xfrm>
            <a:off x="5669280" y="205740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it out text 3-1"/>
          <p:cNvSpPr txBox="1"/>
          <p:nvPr/>
        </p:nvSpPr>
        <p:spPr>
          <a:xfrm>
            <a:off x="5760720" y="205740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R²</a:t>
            </a:r>
          </a:p>
        </p:txBody>
      </p:sp>
      <p:sp>
        <p:nvSpPr>
          <p:cNvPr id="28" name="Fit out 3-2"/>
          <p:cNvSpPr/>
          <p:nvPr/>
        </p:nvSpPr>
        <p:spPr>
          <a:xfrm>
            <a:off x="6858000" y="2057400"/>
            <a:ext cx="8869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Fit out text 3-2"/>
          <p:cNvSpPr txBox="1"/>
          <p:nvPr/>
        </p:nvSpPr>
        <p:spPr>
          <a:xfrm>
            <a:off x="6949440" y="2057400"/>
            <a:ext cx="70408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0.896</a:t>
            </a:r>
          </a:p>
        </p:txBody>
      </p:sp>
      <p:sp>
        <p:nvSpPr>
          <p:cNvPr id="30" name="Fit out 3-3"/>
          <p:cNvSpPr/>
          <p:nvPr/>
        </p:nvSpPr>
        <p:spPr>
          <a:xfrm>
            <a:off x="7772400" y="2057400"/>
            <a:ext cx="8869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Fit out text 3-3"/>
          <p:cNvSpPr txBox="1"/>
          <p:nvPr/>
        </p:nvSpPr>
        <p:spPr>
          <a:xfrm>
            <a:off x="7863840" y="2057400"/>
            <a:ext cx="70408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0.903</a:t>
            </a:r>
          </a:p>
        </p:txBody>
      </p:sp>
      <p:sp>
        <p:nvSpPr>
          <p:cNvPr id="32" name="Fit out 4-1"/>
          <p:cNvSpPr/>
          <p:nvPr/>
        </p:nvSpPr>
        <p:spPr>
          <a:xfrm>
            <a:off x="5669280" y="246888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Fit out text 4-1"/>
          <p:cNvSpPr txBox="1"/>
          <p:nvPr/>
        </p:nvSpPr>
        <p:spPr>
          <a:xfrm>
            <a:off x="5760720" y="246888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n</a:t>
            </a:r>
          </a:p>
        </p:txBody>
      </p:sp>
      <p:sp>
        <p:nvSpPr>
          <p:cNvPr id="34" name="Fit out 4-2"/>
          <p:cNvSpPr/>
          <p:nvPr/>
        </p:nvSpPr>
        <p:spPr>
          <a:xfrm>
            <a:off x="6858000" y="2468880"/>
            <a:ext cx="8869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Fit out text 4-2"/>
          <p:cNvSpPr txBox="1"/>
          <p:nvPr/>
        </p:nvSpPr>
        <p:spPr>
          <a:xfrm>
            <a:off x="6949440" y="2468880"/>
            <a:ext cx="70408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68</a:t>
            </a:r>
          </a:p>
        </p:txBody>
      </p:sp>
      <p:sp>
        <p:nvSpPr>
          <p:cNvPr id="36" name="Fit out 4-3"/>
          <p:cNvSpPr/>
          <p:nvPr/>
        </p:nvSpPr>
        <p:spPr>
          <a:xfrm>
            <a:off x="7772400" y="2468880"/>
            <a:ext cx="8869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Fit out text 4-3"/>
          <p:cNvSpPr txBox="1"/>
          <p:nvPr/>
        </p:nvSpPr>
        <p:spPr>
          <a:xfrm>
            <a:off x="7863840" y="2468880"/>
            <a:ext cx="70408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68</a:t>
            </a:r>
          </a:p>
        </p:txBody>
      </p:sp>
      <p:sp>
        <p:nvSpPr>
          <p:cNvPr id="38" name="Fit keep box"/>
          <p:cNvSpPr/>
          <p:nvPr/>
        </p:nvSpPr>
        <p:spPr>
          <a:xfrm>
            <a:off x="457200" y="4434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Icon Fit keep" descr=""/>
          <p:cNvPicPr>
            <a:picLocks noChangeAspect="1"/>
          </p:cNvPicPr>
          <p:nvPr/>
        </p:nvPicPr>
        <p:blipFill>
          <a:blip r:embed="rId3"/>
          <a:stretch>
            <a:fillRect/>
          </a:stretch>
        </p:blipFill>
        <p:spPr>
          <a:xfrm>
            <a:off x="658368" y="4480560"/>
            <a:ext cx="365760" cy="365760"/>
          </a:xfrm>
          <a:prstGeom prst="rect">
            <a:avLst/>
          </a:prstGeom>
        </p:spPr>
      </p:pic>
      <p:sp>
        <p:nvSpPr>
          <p:cNvPr id="40" name="Fit keep text"/>
          <p:cNvSpPr txBox="1"/>
          <p:nvPr/>
        </p:nvSpPr>
        <p:spPr>
          <a:xfrm>
            <a:off x="1207008" y="44348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Keep both: </a:t>
            </a:r>
            <a:r>
              <a:rPr sz="1200" b="0" lang="en-GB">
                <a:solidFill>
                  <a:schemeClr val="tx1"/>
                </a:solidFill>
              </a:rPr>
              <a:t>every next step uses lin and ll.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look at the residuals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ot code caption bar"/>
          <p:cNvSpPr/>
          <p:nvPr/>
        </p:nvSpPr>
        <p:spPr>
          <a:xfrm>
            <a:off x="457200" y="1234440"/>
            <a:ext cx="48463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lot code caption"/>
          <p:cNvSpPr txBox="1"/>
          <p:nvPr/>
        </p:nvSpPr>
        <p:spPr>
          <a:xfrm>
            <a:off x="566928" y="1234440"/>
            <a:ext cx="46268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plotnine</a:t>
            </a:r>
          </a:p>
        </p:txBody>
      </p:sp>
      <p:sp>
        <p:nvSpPr>
          <p:cNvPr id="12" name="Plot code box"/>
          <p:cNvSpPr/>
          <p:nvPr/>
        </p:nvSpPr>
        <p:spPr>
          <a:xfrm>
            <a:off x="457200" y="1508760"/>
            <a:ext cx="4846320" cy="2788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lot code code"/>
          <p:cNvSpPr txBox="1"/>
          <p:nvPr/>
        </p:nvSpPr>
        <p:spPr>
          <a:xfrm>
            <a:off x="594360" y="1600200"/>
            <a:ext cx="4572000" cy="260604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plotnine import (aes, geom_hline, geom_point,</a:t>
            </a:r>
          </a:p>
          <a:p>
            <a:pPr algn="l">
              <a:spcAft>
                <a:spcPts val="0"/>
              </a:spcAft>
            </a:pPr>
            <a:r>
              <a:rPr sz="1000" b="0" lang="en-GB">
                <a:solidFill>
                  <a:schemeClr val="bg1"/>
                </a:solidFill>
                <a:latin typeface="Consolas"/>
              </a:rPr>
              <a:t>    geom_qq, geom_qq_line, ggplot, labs)</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df["fit"], df["res"] = lin.fittedvalues, lin.resid</a:t>
            </a:r>
          </a:p>
          <a:p>
            <a:pPr algn="l">
              <a:spcAft>
                <a:spcPts val="0"/>
              </a:spcAft>
            </a:pPr>
            <a:r>
              <a:rPr sz="1000" b="0" lang="en-GB">
                <a:solidFill>
                  <a:schemeClr val="bg1"/>
                </a:solidFill>
                <a:latin typeface="Consolas"/>
              </a:rPr>
              <a:t>(ggplot(df, aes("fit", "res"))</a:t>
            </a:r>
          </a:p>
          <a:p>
            <a:pPr algn="l">
              <a:spcAft>
                <a:spcPts val="0"/>
              </a:spcAft>
            </a:pPr>
            <a:r>
              <a:rPr sz="1000" b="0" lang="en-GB">
                <a:solidFill>
                  <a:schemeClr val="bg1"/>
                </a:solidFill>
                <a:latin typeface="Consolas"/>
              </a:rPr>
              <a:t> + geom_point()</a:t>
            </a:r>
          </a:p>
          <a:p>
            <a:pPr algn="l">
              <a:spcAft>
                <a:spcPts val="0"/>
              </a:spcAft>
            </a:pPr>
            <a:r>
              <a:rPr sz="1000" b="0" lang="en-GB">
                <a:solidFill>
                  <a:schemeClr val="bg1"/>
                </a:solidFill>
                <a:latin typeface="Consolas"/>
              </a:rPr>
              <a:t> + geom_hline(yintercept=0, linetype="dashed")</a:t>
            </a:r>
          </a:p>
          <a:p>
            <a:pPr algn="l">
              <a:spcAft>
                <a:spcPts val="0"/>
              </a:spcAft>
            </a:pPr>
            <a:r>
              <a:rPr sz="1000" b="0" lang="en-GB">
                <a:solidFill>
                  <a:schemeClr val="bg1"/>
                </a:solidFill>
                <a:latin typeface="Consolas"/>
              </a:rPr>
              <a:t> + labs(x="Fitted sales", y="Residuals"))</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df["z"] = (df["res"] - df["res"].mean()) / df["res"].std()</a:t>
            </a:r>
          </a:p>
          <a:p>
            <a:pPr algn="l">
              <a:spcAft>
                <a:spcPts val="0"/>
              </a:spcAft>
            </a:pPr>
            <a:r>
              <a:rPr sz="1000" b="0" lang="en-GB">
                <a:solidFill>
                  <a:schemeClr val="bg1"/>
                </a:solidFill>
                <a:latin typeface="Consolas"/>
              </a:rPr>
              <a:t>(ggplot(df, aes(sample="z"))</a:t>
            </a:r>
          </a:p>
          <a:p>
            <a:pPr algn="l">
              <a:spcAft>
                <a:spcPts val="0"/>
              </a:spcAft>
            </a:pPr>
            <a:r>
              <a:rPr sz="1000" b="0" lang="en-GB">
                <a:solidFill>
                  <a:schemeClr val="bg1"/>
                </a:solidFill>
                <a:latin typeface="Consolas"/>
              </a:rPr>
              <a:t> + geom_qq() + geom_qq_line()</a:t>
            </a:r>
          </a:p>
          <a:p>
            <a:pPr algn="l">
              <a:spcAft>
                <a:spcPts val="0"/>
              </a:spcAft>
            </a:pPr>
            <a:r>
              <a:rPr sz="1000" b="0" lang="en-GB">
                <a:solidFill>
                  <a:schemeClr val="bg1"/>
                </a:solidFill>
                <a:latin typeface="Consolas"/>
              </a:rPr>
              <a:t> + labs(x="Normal quantiles", y="Residuals"))</a:t>
            </a:r>
          </a:p>
        </p:txBody>
      </p:sp>
      <p:pic>
        <p:nvPicPr>
          <p:cNvPr id="14" name="Chart as_resid_linear.png" descr="Small residual plot of the linear model with a U-shape and a funnel"/>
          <p:cNvPicPr>
            <a:picLocks noChangeAspect="1"/>
          </p:cNvPicPr>
          <p:nvPr/>
        </p:nvPicPr>
        <p:blipFill>
          <a:blip r:embed="rId3"/>
          <a:stretch>
            <a:fillRect/>
          </a:stretch>
        </p:blipFill>
        <p:spPr>
          <a:xfrm>
            <a:off x="5440680" y="1234440"/>
            <a:ext cx="3246120" cy="2267712"/>
          </a:xfrm>
          <a:prstGeom prst="rect">
            <a:avLst/>
          </a:prstGeom>
        </p:spPr>
      </p:pic>
      <p:sp>
        <p:nvSpPr>
          <p:cNvPr id="15" name="Plot caption"/>
          <p:cNvSpPr txBox="1"/>
          <p:nvPr/>
        </p:nvSpPr>
        <p:spPr>
          <a:xfrm>
            <a:off x="5440680" y="3520440"/>
            <a:ext cx="324612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lin: curve and funnel. Then the same for ll.</a:t>
            </a:r>
          </a:p>
        </p:txBody>
      </p:sp>
      <p:sp>
        <p:nvSpPr>
          <p:cNvPr id="16" name="Plot twice box"/>
          <p:cNvSpPr/>
          <p:nvPr/>
        </p:nvSpPr>
        <p:spPr>
          <a:xfrm>
            <a:off x="457200" y="4434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Plot twice" descr=""/>
          <p:cNvPicPr>
            <a:picLocks noChangeAspect="1"/>
          </p:cNvPicPr>
          <p:nvPr/>
        </p:nvPicPr>
        <p:blipFill>
          <a:blip r:embed="rId4"/>
          <a:stretch>
            <a:fillRect/>
          </a:stretch>
        </p:blipFill>
        <p:spPr>
          <a:xfrm>
            <a:off x="658368" y="4480560"/>
            <a:ext cx="365760" cy="365760"/>
          </a:xfrm>
          <a:prstGeom prst="rect">
            <a:avLst/>
          </a:prstGeom>
        </p:spPr>
      </p:pic>
      <p:sp>
        <p:nvSpPr>
          <p:cNvPr id="18" name="Plot twice text"/>
          <p:cNvSpPr txBox="1"/>
          <p:nvPr/>
        </p:nvSpPr>
        <p:spPr>
          <a:xfrm>
            <a:off x="1207008" y="44348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Run it twice: </a:t>
            </a:r>
            <a:r>
              <a:rPr sz="1200" b="0" lang="en-GB">
                <a:solidFill>
                  <a:schemeClr val="tx1"/>
                </a:solidFill>
              </a:rPr>
              <a:t>for lin and for ll; compare curve, funnel and the Q-Q line.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test the assumptions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st code caption bar"/>
          <p:cNvSpPr/>
          <p:nvPr/>
        </p:nvSpPr>
        <p:spPr>
          <a:xfrm>
            <a:off x="457200" y="1234440"/>
            <a:ext cx="51206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st code caption"/>
          <p:cNvSpPr txBox="1"/>
          <p:nvPr/>
        </p:nvSpPr>
        <p:spPr>
          <a:xfrm>
            <a:off x="566928" y="1234440"/>
            <a:ext cx="49011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 and scipy</a:t>
            </a:r>
          </a:p>
        </p:txBody>
      </p:sp>
      <p:sp>
        <p:nvSpPr>
          <p:cNvPr id="12" name="Test code box"/>
          <p:cNvSpPr/>
          <p:nvPr/>
        </p:nvSpPr>
        <p:spPr>
          <a:xfrm>
            <a:off x="457200" y="1508760"/>
            <a:ext cx="5120640" cy="2788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st code code"/>
          <p:cNvSpPr txBox="1"/>
          <p:nvPr/>
        </p:nvSpPr>
        <p:spPr>
          <a:xfrm>
            <a:off x="594360" y="1600200"/>
            <a:ext cx="4846320" cy="260604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scipy import stats</a:t>
            </a:r>
          </a:p>
          <a:p>
            <a:pPr algn="l">
              <a:spcAft>
                <a:spcPts val="0"/>
              </a:spcAft>
            </a:pPr>
            <a:r>
              <a:rPr sz="1000" b="0" lang="en-GB">
                <a:solidFill>
                  <a:schemeClr val="bg1"/>
                </a:solidFill>
                <a:latin typeface="Consolas"/>
              </a:rPr>
              <a:t>from statsmodels.stats.diagnostic import (</a:t>
            </a:r>
          </a:p>
          <a:p>
            <a:pPr algn="l">
              <a:spcAft>
                <a:spcPts val="0"/>
              </a:spcAft>
            </a:pPr>
            <a:r>
              <a:rPr sz="1000" b="0" lang="en-GB">
                <a:solidFill>
                  <a:schemeClr val="bg1"/>
                </a:solidFill>
                <a:latin typeface="Consolas"/>
              </a:rPr>
              <a:t>    het_breuschpagan, linear_reset)</a:t>
            </a:r>
          </a:p>
          <a:p>
            <a:pPr algn="l">
              <a:spcAft>
                <a:spcPts val="0"/>
              </a:spcAft>
            </a:pPr>
            <a:r>
              <a:rPr sz="1000" b="0" lang="en-GB">
                <a:solidFill>
                  <a:schemeClr val="bg1"/>
                </a:solidFill>
                <a:latin typeface="Consolas"/>
              </a:rPr>
              <a:t>from statsmodels.stats.stattools import jarque_bera</a:t>
            </a:r>
          </a:p>
          <a:p>
            <a:pPr algn="l">
              <a:spcAft>
                <a:spcPts val="0"/>
              </a:spcAft>
            </a:pPr>
            <a:r>
              <a:rPr sz="1000" b="0" lang="en-GB">
                <a:solidFill>
                  <a:schemeClr val="bg1"/>
                </a:solidFill>
                <a:latin typeface="Consolas"/>
              </a:rPr>
              <a:t>from statsmodels.stats.outliers_influence import (</a:t>
            </a:r>
          </a:p>
          <a:p>
            <a:pPr algn="l">
              <a:spcAft>
                <a:spcPts val="0"/>
              </a:spcAft>
            </a:pPr>
            <a:r>
              <a:rPr sz="1000" b="0" lang="en-GB">
                <a:solidFill>
                  <a:schemeClr val="bg1"/>
                </a:solidFill>
                <a:latin typeface="Consolas"/>
              </a:rPr>
              <a:t>    variance_inflation_factor)</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for m in (lin, ll):</a:t>
            </a:r>
          </a:p>
          <a:p>
            <a:pPr algn="l">
              <a:spcAft>
                <a:spcPts val="0"/>
              </a:spcAft>
            </a:pPr>
            <a:r>
              <a:rPr sz="1000" b="0" lang="en-GB">
                <a:solidFill>
                  <a:schemeClr val="bg1"/>
                </a:solidFill>
                <a:latin typeface="Consolas"/>
              </a:rPr>
              <a:t>    X = m.model.exog</a:t>
            </a:r>
          </a:p>
          <a:p>
            <a:pPr algn="l">
              <a:spcAft>
                <a:spcPts val="0"/>
              </a:spcAft>
            </a:pPr>
            <a:r>
              <a:rPr sz="1000" b="0" lang="en-GB">
                <a:solidFill>
                  <a:schemeClr val="bg1"/>
                </a:solidFill>
                <a:latin typeface="Consolas"/>
              </a:rPr>
              <a:t>    print(linear_reset(m, power=2, use_f=True).pvalue,</a:t>
            </a:r>
          </a:p>
          <a:p>
            <a:pPr algn="l">
              <a:spcAft>
                <a:spcPts val="0"/>
              </a:spcAft>
            </a:pPr>
            <a:r>
              <a:rPr sz="1000" b="0" lang="en-GB">
                <a:solidFill>
                  <a:schemeClr val="bg1"/>
                </a:solidFill>
                <a:latin typeface="Consolas"/>
              </a:rPr>
              <a:t>          het_breuschpagan(m.resid, X)[1],</a:t>
            </a:r>
          </a:p>
          <a:p>
            <a:pPr algn="l">
              <a:spcAft>
                <a:spcPts val="0"/>
              </a:spcAft>
            </a:pPr>
            <a:r>
              <a:rPr sz="1000" b="0" lang="en-GB">
                <a:solidFill>
                  <a:schemeClr val="bg1"/>
                </a:solidFill>
                <a:latin typeface="Consolas"/>
              </a:rPr>
              <a:t>          jarque_bera(m.resid)[1],</a:t>
            </a:r>
          </a:p>
          <a:p>
            <a:pPr algn="l">
              <a:spcAft>
                <a:spcPts val="0"/>
              </a:spcAft>
            </a:pPr>
            <a:r>
              <a:rPr sz="1000" b="0" lang="en-GB">
                <a:solidFill>
                  <a:schemeClr val="bg1"/>
                </a:solidFill>
                <a:latin typeface="Consolas"/>
              </a:rPr>
              <a:t>          stats.shapiro(m.resid).pvalue,</a:t>
            </a:r>
          </a:p>
          <a:p>
            <a:pPr algn="l">
              <a:spcAft>
                <a:spcPts val="0"/>
              </a:spcAft>
            </a:pPr>
            <a:r>
              <a:rPr sz="1000" b="0" lang="en-GB">
                <a:solidFill>
                  <a:schemeClr val="bg1"/>
                </a:solidFill>
                <a:latin typeface="Consolas"/>
              </a:rPr>
              <a:t>          max(variance_inflation_factor(X, i)</a:t>
            </a:r>
          </a:p>
          <a:p>
            <a:pPr algn="l">
              <a:spcAft>
                <a:spcPts val="0"/>
              </a:spcAft>
            </a:pPr>
            <a:r>
              <a:rPr sz="1000" b="0" lang="en-GB">
                <a:solidFill>
                  <a:schemeClr val="bg1"/>
                </a:solidFill>
                <a:latin typeface="Consolas"/>
              </a:rPr>
              <a:t>              for i in range(1, X.shape[1])))</a:t>
            </a:r>
          </a:p>
        </p:txBody>
      </p:sp>
      <p:sp>
        <p:nvSpPr>
          <p:cNvPr id="14" name="Test out 1-1"/>
          <p:cNvSpPr/>
          <p:nvPr/>
        </p:nvSpPr>
        <p:spPr>
          <a:xfrm>
            <a:off x="5715000" y="1234440"/>
            <a:ext cx="102412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st out text 1-1"/>
          <p:cNvSpPr txBox="1"/>
          <p:nvPr/>
        </p:nvSpPr>
        <p:spPr>
          <a:xfrm>
            <a:off x="5806440" y="1234440"/>
            <a:ext cx="84124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p / VIF</a:t>
            </a:r>
          </a:p>
        </p:txBody>
      </p:sp>
      <p:sp>
        <p:nvSpPr>
          <p:cNvPr id="16" name="Test out 1-2"/>
          <p:cNvSpPr/>
          <p:nvPr/>
        </p:nvSpPr>
        <p:spPr>
          <a:xfrm>
            <a:off x="6766560" y="1234440"/>
            <a:ext cx="93268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st out text 1-2"/>
          <p:cNvSpPr txBox="1"/>
          <p:nvPr/>
        </p:nvSpPr>
        <p:spPr>
          <a:xfrm>
            <a:off x="6858000" y="1234440"/>
            <a:ext cx="74980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lin</a:t>
            </a:r>
          </a:p>
        </p:txBody>
      </p:sp>
      <p:sp>
        <p:nvSpPr>
          <p:cNvPr id="18" name="Test out 1-3"/>
          <p:cNvSpPr/>
          <p:nvPr/>
        </p:nvSpPr>
        <p:spPr>
          <a:xfrm>
            <a:off x="7726680" y="1234440"/>
            <a:ext cx="93268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st out text 1-3"/>
          <p:cNvSpPr txBox="1"/>
          <p:nvPr/>
        </p:nvSpPr>
        <p:spPr>
          <a:xfrm>
            <a:off x="7818120" y="1234440"/>
            <a:ext cx="74980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ll</a:t>
            </a:r>
          </a:p>
        </p:txBody>
      </p:sp>
      <p:sp>
        <p:nvSpPr>
          <p:cNvPr id="20" name="Test out 2-1"/>
          <p:cNvSpPr/>
          <p:nvPr/>
        </p:nvSpPr>
        <p:spPr>
          <a:xfrm>
            <a:off x="5715000" y="1627632"/>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st out text 2-1"/>
          <p:cNvSpPr txBox="1"/>
          <p:nvPr/>
        </p:nvSpPr>
        <p:spPr>
          <a:xfrm>
            <a:off x="5806440" y="1627632"/>
            <a:ext cx="84124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RESET</a:t>
            </a:r>
          </a:p>
        </p:txBody>
      </p:sp>
      <p:sp>
        <p:nvSpPr>
          <p:cNvPr id="22" name="Test out 2-2"/>
          <p:cNvSpPr/>
          <p:nvPr/>
        </p:nvSpPr>
        <p:spPr>
          <a:xfrm>
            <a:off x="6766560" y="1627632"/>
            <a:ext cx="932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st out text 2-2"/>
          <p:cNvSpPr txBox="1"/>
          <p:nvPr/>
        </p:nvSpPr>
        <p:spPr>
          <a:xfrm>
            <a:off x="6858000" y="1627632"/>
            <a:ext cx="7498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&lt; .001</a:t>
            </a:r>
          </a:p>
        </p:txBody>
      </p:sp>
      <p:sp>
        <p:nvSpPr>
          <p:cNvPr id="24" name="Test out 2-3"/>
          <p:cNvSpPr/>
          <p:nvPr/>
        </p:nvSpPr>
        <p:spPr>
          <a:xfrm>
            <a:off x="7726680" y="1627632"/>
            <a:ext cx="932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st out text 2-3"/>
          <p:cNvSpPr txBox="1"/>
          <p:nvPr/>
        </p:nvSpPr>
        <p:spPr>
          <a:xfrm>
            <a:off x="7818120" y="1627632"/>
            <a:ext cx="7498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0.32</a:t>
            </a:r>
          </a:p>
        </p:txBody>
      </p:sp>
      <p:sp>
        <p:nvSpPr>
          <p:cNvPr id="26" name="Test out 3-1"/>
          <p:cNvSpPr/>
          <p:nvPr/>
        </p:nvSpPr>
        <p:spPr>
          <a:xfrm>
            <a:off x="5715000" y="2020824"/>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st out text 3-1"/>
          <p:cNvSpPr txBox="1"/>
          <p:nvPr/>
        </p:nvSpPr>
        <p:spPr>
          <a:xfrm>
            <a:off x="5806440" y="2020824"/>
            <a:ext cx="84124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BP</a:t>
            </a:r>
          </a:p>
        </p:txBody>
      </p:sp>
      <p:sp>
        <p:nvSpPr>
          <p:cNvPr id="28" name="Test out 3-2"/>
          <p:cNvSpPr/>
          <p:nvPr/>
        </p:nvSpPr>
        <p:spPr>
          <a:xfrm>
            <a:off x="6766560" y="2020824"/>
            <a:ext cx="932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st out text 3-2"/>
          <p:cNvSpPr txBox="1"/>
          <p:nvPr/>
        </p:nvSpPr>
        <p:spPr>
          <a:xfrm>
            <a:off x="6858000" y="2020824"/>
            <a:ext cx="7498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&lt; .001</a:t>
            </a:r>
          </a:p>
        </p:txBody>
      </p:sp>
      <p:sp>
        <p:nvSpPr>
          <p:cNvPr id="30" name="Test out 3-3"/>
          <p:cNvSpPr/>
          <p:nvPr/>
        </p:nvSpPr>
        <p:spPr>
          <a:xfrm>
            <a:off x="7726680" y="2020824"/>
            <a:ext cx="932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st out text 3-3"/>
          <p:cNvSpPr txBox="1"/>
          <p:nvPr/>
        </p:nvSpPr>
        <p:spPr>
          <a:xfrm>
            <a:off x="7818120" y="2020824"/>
            <a:ext cx="7498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0.68</a:t>
            </a:r>
          </a:p>
        </p:txBody>
      </p:sp>
      <p:sp>
        <p:nvSpPr>
          <p:cNvPr id="32" name="Test out 4-1"/>
          <p:cNvSpPr/>
          <p:nvPr/>
        </p:nvSpPr>
        <p:spPr>
          <a:xfrm>
            <a:off x="5715000" y="2414016"/>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st out text 4-1"/>
          <p:cNvSpPr txBox="1"/>
          <p:nvPr/>
        </p:nvSpPr>
        <p:spPr>
          <a:xfrm>
            <a:off x="5806440" y="2414016"/>
            <a:ext cx="84124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JB</a:t>
            </a:r>
          </a:p>
        </p:txBody>
      </p:sp>
      <p:sp>
        <p:nvSpPr>
          <p:cNvPr id="34" name="Test out 4-2"/>
          <p:cNvSpPr/>
          <p:nvPr/>
        </p:nvSpPr>
        <p:spPr>
          <a:xfrm>
            <a:off x="6766560" y="2414016"/>
            <a:ext cx="932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st out text 4-2"/>
          <p:cNvSpPr txBox="1"/>
          <p:nvPr/>
        </p:nvSpPr>
        <p:spPr>
          <a:xfrm>
            <a:off x="6858000" y="2414016"/>
            <a:ext cx="7498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&lt; .001</a:t>
            </a:r>
          </a:p>
        </p:txBody>
      </p:sp>
      <p:sp>
        <p:nvSpPr>
          <p:cNvPr id="36" name="Test out 4-3"/>
          <p:cNvSpPr/>
          <p:nvPr/>
        </p:nvSpPr>
        <p:spPr>
          <a:xfrm>
            <a:off x="7726680" y="2414016"/>
            <a:ext cx="932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st out text 4-3"/>
          <p:cNvSpPr txBox="1"/>
          <p:nvPr/>
        </p:nvSpPr>
        <p:spPr>
          <a:xfrm>
            <a:off x="7818120" y="2414016"/>
            <a:ext cx="7498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0.50</a:t>
            </a:r>
          </a:p>
        </p:txBody>
      </p:sp>
      <p:sp>
        <p:nvSpPr>
          <p:cNvPr id="38" name="Test out 5-1"/>
          <p:cNvSpPr/>
          <p:nvPr/>
        </p:nvSpPr>
        <p:spPr>
          <a:xfrm>
            <a:off x="5715000" y="2807208"/>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st out text 5-1"/>
          <p:cNvSpPr txBox="1"/>
          <p:nvPr/>
        </p:nvSpPr>
        <p:spPr>
          <a:xfrm>
            <a:off x="5806440" y="2807208"/>
            <a:ext cx="84124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SW</a:t>
            </a:r>
          </a:p>
        </p:txBody>
      </p:sp>
      <p:sp>
        <p:nvSpPr>
          <p:cNvPr id="40" name="Test out 5-2"/>
          <p:cNvSpPr/>
          <p:nvPr/>
        </p:nvSpPr>
        <p:spPr>
          <a:xfrm>
            <a:off x="6766560" y="2807208"/>
            <a:ext cx="932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st out text 5-2"/>
          <p:cNvSpPr txBox="1"/>
          <p:nvPr/>
        </p:nvSpPr>
        <p:spPr>
          <a:xfrm>
            <a:off x="6858000" y="2807208"/>
            <a:ext cx="7498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0.001</a:t>
            </a:r>
          </a:p>
        </p:txBody>
      </p:sp>
      <p:sp>
        <p:nvSpPr>
          <p:cNvPr id="42" name="Test out 5-3"/>
          <p:cNvSpPr/>
          <p:nvPr/>
        </p:nvSpPr>
        <p:spPr>
          <a:xfrm>
            <a:off x="7726680" y="2807208"/>
            <a:ext cx="932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st out text 5-3"/>
          <p:cNvSpPr txBox="1"/>
          <p:nvPr/>
        </p:nvSpPr>
        <p:spPr>
          <a:xfrm>
            <a:off x="7818120" y="2807208"/>
            <a:ext cx="7498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0.50</a:t>
            </a:r>
          </a:p>
        </p:txBody>
      </p:sp>
      <p:sp>
        <p:nvSpPr>
          <p:cNvPr id="44" name="Test out 6-1"/>
          <p:cNvSpPr/>
          <p:nvPr/>
        </p:nvSpPr>
        <p:spPr>
          <a:xfrm>
            <a:off x="5715000" y="3200400"/>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st out text 6-1"/>
          <p:cNvSpPr txBox="1"/>
          <p:nvPr/>
        </p:nvSpPr>
        <p:spPr>
          <a:xfrm>
            <a:off x="5806440" y="3200400"/>
            <a:ext cx="84124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max VIF</a:t>
            </a:r>
          </a:p>
        </p:txBody>
      </p:sp>
      <p:sp>
        <p:nvSpPr>
          <p:cNvPr id="46" name="Test out 6-2"/>
          <p:cNvSpPr/>
          <p:nvPr/>
        </p:nvSpPr>
        <p:spPr>
          <a:xfrm>
            <a:off x="6766560" y="3200400"/>
            <a:ext cx="932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st out text 6-2"/>
          <p:cNvSpPr txBox="1"/>
          <p:nvPr/>
        </p:nvSpPr>
        <p:spPr>
          <a:xfrm>
            <a:off x="6858000" y="3200400"/>
            <a:ext cx="7498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2.3</a:t>
            </a:r>
          </a:p>
        </p:txBody>
      </p:sp>
      <p:sp>
        <p:nvSpPr>
          <p:cNvPr id="48" name="Test out 6-3"/>
          <p:cNvSpPr/>
          <p:nvPr/>
        </p:nvSpPr>
        <p:spPr>
          <a:xfrm>
            <a:off x="7726680" y="3200400"/>
            <a:ext cx="9326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st out text 6-3"/>
          <p:cNvSpPr txBox="1"/>
          <p:nvPr/>
        </p:nvSpPr>
        <p:spPr>
          <a:xfrm>
            <a:off x="7818120" y="3200400"/>
            <a:ext cx="7498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2.4</a:t>
            </a:r>
          </a:p>
        </p:txBody>
      </p:sp>
      <p:sp>
        <p:nvSpPr>
          <p:cNvPr id="50" name="Test fix box"/>
          <p:cNvSpPr/>
          <p:nvPr/>
        </p:nvSpPr>
        <p:spPr>
          <a:xfrm>
            <a:off x="457200" y="4434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Icon Test fix" descr=""/>
          <p:cNvPicPr>
            <a:picLocks noChangeAspect="1"/>
          </p:cNvPicPr>
          <p:nvPr/>
        </p:nvPicPr>
        <p:blipFill>
          <a:blip r:embed="rId3"/>
          <a:stretch>
            <a:fillRect/>
          </a:stretch>
        </p:blipFill>
        <p:spPr>
          <a:xfrm>
            <a:off x="658368" y="4480560"/>
            <a:ext cx="365760" cy="365760"/>
          </a:xfrm>
          <a:prstGeom prst="rect">
            <a:avLst/>
          </a:prstGeom>
        </p:spPr>
      </p:pic>
      <p:sp>
        <p:nvSpPr>
          <p:cNvPr id="52" name="Test fix text"/>
          <p:cNvSpPr txBox="1"/>
          <p:nvPr/>
        </p:nvSpPr>
        <p:spPr>
          <a:xfrm>
            <a:off x="1207008" y="44348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Robust errors if needed: </a:t>
            </a:r>
            <a:r>
              <a:rPr sz="1200" b="0" lang="en-GB">
                <a:solidFill>
                  <a:schemeClr val="tx1"/>
                </a:solidFill>
              </a:rPr>
              <a:t>lin.model.fit(cov_type="HC3").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4: dummies from a category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ummy code caption bar"/>
          <p:cNvSpPr/>
          <p:nvPr/>
        </p:nvSpPr>
        <p:spPr>
          <a:xfrm>
            <a:off x="457200" y="1234440"/>
            <a:ext cx="51206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ummy code caption"/>
          <p:cNvSpPr txBox="1"/>
          <p:nvPr/>
        </p:nvSpPr>
        <p:spPr>
          <a:xfrm>
            <a:off x="566928" y="1234440"/>
            <a:ext cx="49011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polars and statsmodels</a:t>
            </a:r>
          </a:p>
        </p:txBody>
      </p:sp>
      <p:sp>
        <p:nvSpPr>
          <p:cNvPr id="12" name="Dummy code box"/>
          <p:cNvSpPr/>
          <p:nvPr/>
        </p:nvSpPr>
        <p:spPr>
          <a:xfrm>
            <a:off x="457200" y="1508760"/>
            <a:ext cx="5120640" cy="2788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ummy code code"/>
          <p:cNvSpPr txBox="1"/>
          <p:nvPr/>
        </p:nvSpPr>
        <p:spPr>
          <a:xfrm>
            <a:off x="594360" y="1600200"/>
            <a:ext cx="4846320" cy="260604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choc = choc.with_columns(</a:t>
            </a:r>
          </a:p>
          <a:p>
            <a:pPr algn="l">
              <a:spcAft>
                <a:spcPts val="0"/>
              </a:spcAft>
            </a:pPr>
            <a:r>
              <a:rPr sz="1000" b="0" lang="en-GB">
                <a:solidFill>
                  <a:schemeClr val="bg1"/>
                </a:solidFill>
                <a:latin typeface="Consolas"/>
              </a:rPr>
              <a:t>    pl.when(pl.col("temp") &lt; 5).then(pl.lit("cold"))</a:t>
            </a:r>
          </a:p>
          <a:p>
            <a:pPr algn="l">
              <a:spcAft>
                <a:spcPts val="0"/>
              </a:spcAft>
            </a:pPr>
            <a:r>
              <a:rPr sz="1000" b="0" lang="en-GB">
                <a:solidFill>
                  <a:schemeClr val="bg1"/>
                </a:solidFill>
                <a:latin typeface="Consolas"/>
              </a:rPr>
              <a:t>    .when(pl.col("temp") &lt; 15).then(pl.lit("mild"))</a:t>
            </a:r>
          </a:p>
          <a:p>
            <a:pPr algn="l">
              <a:spcAft>
                <a:spcPts val="0"/>
              </a:spcAft>
            </a:pPr>
            <a:r>
              <a:rPr sz="1000" b="0" lang="en-GB">
                <a:solidFill>
                  <a:schemeClr val="bg1"/>
                </a:solidFill>
                <a:latin typeface="Consolas"/>
              </a:rPr>
              <a:t>    .otherwise(pl.lit("warm")).alias("season"))</a:t>
            </a:r>
          </a:p>
          <a:p>
            <a:pPr algn="l">
              <a:spcAft>
                <a:spcPts val="0"/>
              </a:spcAft>
            </a:pPr>
            <a:r>
              <a:rPr sz="1000" b="0" lang="en-GB">
                <a:solidFill>
                  <a:schemeClr val="bg1"/>
                </a:solidFill>
                <a:latin typeface="Consolas"/>
              </a:rPr>
              <a:t>choc["season"].value_counts()      # 19, 31, 18</a:t>
            </a:r>
          </a:p>
          <a:p>
            <a:pPr algn="l">
              <a:spcAft>
                <a:spcPts val="0"/>
              </a:spcAft>
            </a:pPr>
            <a:r>
              <a:rPr sz="1000" b="0" lang="en-GB">
                <a:solidFill>
                  <a:schemeClr val="bg1"/>
                </a:solidFill>
                <a:latin typeface="Consolas"/>
              </a:rPr>
              <a:t>df = choc.to_pandas()</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sea = smf.ols("np.log(sales) ~ np.log(price1)"</a:t>
            </a:r>
          </a:p>
          <a:p>
            <a:pPr algn="l">
              <a:spcAft>
                <a:spcPts val="0"/>
              </a:spcAft>
            </a:pPr>
            <a:r>
              <a:rPr sz="1000" b="0" lang="en-GB">
                <a:solidFill>
                  <a:schemeClr val="bg1"/>
                </a:solidFill>
                <a:latin typeface="Consolas"/>
              </a:rPr>
              <a:t>              " + np.log(price2) + np.log(price3)"</a:t>
            </a:r>
          </a:p>
          <a:p>
            <a:pPr algn="l">
              <a:spcAft>
                <a:spcPts val="0"/>
              </a:spcAft>
            </a:pPr>
            <a:r>
              <a:rPr sz="1000" b="0" lang="en-GB">
                <a:solidFill>
                  <a:schemeClr val="bg1"/>
                </a:solidFill>
                <a:latin typeface="Consolas"/>
              </a:rPr>
              <a:t>              " + np.log(price4) + feature1 + display1"</a:t>
            </a:r>
          </a:p>
          <a:p>
            <a:pPr algn="l">
              <a:spcAft>
                <a:spcPts val="0"/>
              </a:spcAft>
            </a:pPr>
            <a:r>
              <a:rPr sz="1000" b="0" lang="en-GB">
                <a:solidFill>
                  <a:schemeClr val="bg1"/>
                </a:solidFill>
                <a:latin typeface="Consolas"/>
              </a:rPr>
              <a:t>              " + december"</a:t>
            </a:r>
          </a:p>
          <a:p>
            <a:pPr algn="l">
              <a:spcAft>
                <a:spcPts val="0"/>
              </a:spcAft>
            </a:pPr>
            <a:r>
              <a:rPr sz="1000" b="0" lang="en-GB">
                <a:solidFill>
                  <a:schemeClr val="bg1"/>
                </a:solidFill>
                <a:latin typeface="Consolas"/>
              </a:rPr>
              <a:t>              " + C(season, Treatment('mild'))",</a:t>
            </a:r>
          </a:p>
          <a:p>
            <a:pPr algn="l">
              <a:spcAft>
                <a:spcPts val="0"/>
              </a:spcAft>
            </a:pPr>
            <a:r>
              <a:rPr sz="1000" b="0" lang="en-GB">
                <a:solidFill>
                  <a:schemeClr val="bg1"/>
                </a:solidFill>
                <a:latin typeface="Consolas"/>
              </a:rPr>
              <a:t>              data=df).fit()</a:t>
            </a:r>
          </a:p>
          <a:p>
            <a:pPr algn="l">
              <a:spcAft>
                <a:spcPts val="0"/>
              </a:spcAft>
            </a:pPr>
            <a:r>
              <a:rPr sz="1000" b="0" lang="en-GB">
                <a:solidFill>
                  <a:schemeClr val="bg1"/>
                </a:solidFill>
                <a:latin typeface="Consolas"/>
              </a:rPr>
              <a:t>np.exp(sea.params) - 1             # per cent</a:t>
            </a:r>
          </a:p>
        </p:txBody>
      </p:sp>
      <p:sp>
        <p:nvSpPr>
          <p:cNvPr id="14" name="Dummy out 1-1"/>
          <p:cNvSpPr/>
          <p:nvPr/>
        </p:nvSpPr>
        <p:spPr>
          <a:xfrm>
            <a:off x="5715000" y="1234440"/>
            <a:ext cx="1207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ummy out text 1-1"/>
          <p:cNvSpPr txBox="1"/>
          <p:nvPr/>
        </p:nvSpPr>
        <p:spPr>
          <a:xfrm>
            <a:off x="5806440" y="1234440"/>
            <a:ext cx="102412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vs mild</a:t>
            </a:r>
          </a:p>
        </p:txBody>
      </p:sp>
      <p:sp>
        <p:nvSpPr>
          <p:cNvPr id="16" name="Dummy out 1-2"/>
          <p:cNvSpPr/>
          <p:nvPr/>
        </p:nvSpPr>
        <p:spPr>
          <a:xfrm>
            <a:off x="6949440" y="1234440"/>
            <a:ext cx="9326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ummy out text 1-2"/>
          <p:cNvSpPr txBox="1"/>
          <p:nvPr/>
        </p:nvSpPr>
        <p:spPr>
          <a:xfrm>
            <a:off x="7040880" y="1234440"/>
            <a:ext cx="74980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e^b − 1</a:t>
            </a:r>
          </a:p>
        </p:txBody>
      </p:sp>
      <p:sp>
        <p:nvSpPr>
          <p:cNvPr id="18" name="Dummy out 1-3"/>
          <p:cNvSpPr/>
          <p:nvPr/>
        </p:nvSpPr>
        <p:spPr>
          <a:xfrm>
            <a:off x="7909560" y="1234440"/>
            <a:ext cx="7040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ummy out text 1-3"/>
          <p:cNvSpPr txBox="1"/>
          <p:nvPr/>
        </p:nvSpPr>
        <p:spPr>
          <a:xfrm>
            <a:off x="8001000" y="1234440"/>
            <a:ext cx="52120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p</a:t>
            </a:r>
          </a:p>
        </p:txBody>
      </p:sp>
      <p:sp>
        <p:nvSpPr>
          <p:cNvPr id="20" name="Dummy out 2-1"/>
          <p:cNvSpPr/>
          <p:nvPr/>
        </p:nvSpPr>
        <p:spPr>
          <a:xfrm>
            <a:off x="5715000" y="1645920"/>
            <a:ext cx="12070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ummy out text 2-1"/>
          <p:cNvSpPr txBox="1"/>
          <p:nvPr/>
        </p:nvSpPr>
        <p:spPr>
          <a:xfrm>
            <a:off x="5806440" y="1645920"/>
            <a:ext cx="10241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cold</a:t>
            </a:r>
          </a:p>
        </p:txBody>
      </p:sp>
      <p:sp>
        <p:nvSpPr>
          <p:cNvPr id="22" name="Dummy out 2-2"/>
          <p:cNvSpPr/>
          <p:nvPr/>
        </p:nvSpPr>
        <p:spPr>
          <a:xfrm>
            <a:off x="6949440" y="1645920"/>
            <a:ext cx="9326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ummy out text 2-2"/>
          <p:cNvSpPr txBox="1"/>
          <p:nvPr/>
        </p:nvSpPr>
        <p:spPr>
          <a:xfrm>
            <a:off x="7040880" y="1645920"/>
            <a:ext cx="7498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+0.4 %</a:t>
            </a:r>
          </a:p>
        </p:txBody>
      </p:sp>
      <p:sp>
        <p:nvSpPr>
          <p:cNvPr id="24" name="Dummy out 2-3"/>
          <p:cNvSpPr/>
          <p:nvPr/>
        </p:nvSpPr>
        <p:spPr>
          <a:xfrm>
            <a:off x="7909560" y="164592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ummy out text 2-3"/>
          <p:cNvSpPr txBox="1"/>
          <p:nvPr/>
        </p:nvSpPr>
        <p:spPr>
          <a:xfrm>
            <a:off x="8001000" y="1645920"/>
            <a:ext cx="5212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0.94</a:t>
            </a:r>
          </a:p>
        </p:txBody>
      </p:sp>
      <p:sp>
        <p:nvSpPr>
          <p:cNvPr id="26" name="Dummy out 3-1"/>
          <p:cNvSpPr/>
          <p:nvPr/>
        </p:nvSpPr>
        <p:spPr>
          <a:xfrm>
            <a:off x="5715000" y="2057400"/>
            <a:ext cx="12070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ummy out text 3-1"/>
          <p:cNvSpPr txBox="1"/>
          <p:nvPr/>
        </p:nvSpPr>
        <p:spPr>
          <a:xfrm>
            <a:off x="5806440" y="2057400"/>
            <a:ext cx="10241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warm</a:t>
            </a:r>
          </a:p>
        </p:txBody>
      </p:sp>
      <p:sp>
        <p:nvSpPr>
          <p:cNvPr id="28" name="Dummy out 3-2"/>
          <p:cNvSpPr/>
          <p:nvPr/>
        </p:nvSpPr>
        <p:spPr>
          <a:xfrm>
            <a:off x="6949440" y="2057400"/>
            <a:ext cx="9326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ummy out text 3-2"/>
          <p:cNvSpPr txBox="1"/>
          <p:nvPr/>
        </p:nvSpPr>
        <p:spPr>
          <a:xfrm>
            <a:off x="7040880" y="2057400"/>
            <a:ext cx="7498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−7.1 %</a:t>
            </a:r>
          </a:p>
        </p:txBody>
      </p:sp>
      <p:sp>
        <p:nvSpPr>
          <p:cNvPr id="30" name="Dummy out 3-3"/>
          <p:cNvSpPr/>
          <p:nvPr/>
        </p:nvSpPr>
        <p:spPr>
          <a:xfrm>
            <a:off x="7909560" y="205740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Dummy out text 3-3"/>
          <p:cNvSpPr txBox="1"/>
          <p:nvPr/>
        </p:nvSpPr>
        <p:spPr>
          <a:xfrm>
            <a:off x="8001000" y="2057400"/>
            <a:ext cx="5212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0.18</a:t>
            </a:r>
          </a:p>
        </p:txBody>
      </p:sp>
      <p:sp>
        <p:nvSpPr>
          <p:cNvPr id="32" name="Dummy out 4-1"/>
          <p:cNvSpPr/>
          <p:nvPr/>
        </p:nvSpPr>
        <p:spPr>
          <a:xfrm>
            <a:off x="5715000" y="2468880"/>
            <a:ext cx="12070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Dummy out text 4-1"/>
          <p:cNvSpPr txBox="1"/>
          <p:nvPr/>
        </p:nvSpPr>
        <p:spPr>
          <a:xfrm>
            <a:off x="5806440" y="2468880"/>
            <a:ext cx="10241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december</a:t>
            </a:r>
          </a:p>
        </p:txBody>
      </p:sp>
      <p:sp>
        <p:nvSpPr>
          <p:cNvPr id="34" name="Dummy out 4-2"/>
          <p:cNvSpPr/>
          <p:nvPr/>
        </p:nvSpPr>
        <p:spPr>
          <a:xfrm>
            <a:off x="6949440" y="2468880"/>
            <a:ext cx="9326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Dummy out text 4-2"/>
          <p:cNvSpPr txBox="1"/>
          <p:nvPr/>
        </p:nvSpPr>
        <p:spPr>
          <a:xfrm>
            <a:off x="7040880" y="2468880"/>
            <a:ext cx="7498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−28.5 %</a:t>
            </a:r>
          </a:p>
        </p:txBody>
      </p:sp>
      <p:sp>
        <p:nvSpPr>
          <p:cNvPr id="36" name="Dummy out 4-3"/>
          <p:cNvSpPr/>
          <p:nvPr/>
        </p:nvSpPr>
        <p:spPr>
          <a:xfrm>
            <a:off x="7909560" y="246888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Dummy out text 4-3"/>
          <p:cNvSpPr txBox="1"/>
          <p:nvPr/>
        </p:nvSpPr>
        <p:spPr>
          <a:xfrm>
            <a:off x="8001000" y="2468880"/>
            <a:ext cx="52120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0.01</a:t>
            </a:r>
          </a:p>
        </p:txBody>
      </p:sp>
      <p:sp>
        <p:nvSpPr>
          <p:cNvPr id="38" name="Dummy note box"/>
          <p:cNvSpPr/>
          <p:nvPr/>
        </p:nvSpPr>
        <p:spPr>
          <a:xfrm>
            <a:off x="457200" y="4434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Icon Dummy note" descr=""/>
          <p:cNvPicPr>
            <a:picLocks noChangeAspect="1"/>
          </p:cNvPicPr>
          <p:nvPr/>
        </p:nvPicPr>
        <p:blipFill>
          <a:blip r:embed="rId3"/>
          <a:stretch>
            <a:fillRect/>
          </a:stretch>
        </p:blipFill>
        <p:spPr>
          <a:xfrm>
            <a:off x="658368" y="4480560"/>
            <a:ext cx="365760" cy="365760"/>
          </a:xfrm>
          <a:prstGeom prst="rect">
            <a:avLst/>
          </a:prstGeom>
        </p:spPr>
      </p:pic>
      <p:sp>
        <p:nvSpPr>
          <p:cNvPr id="40" name="Dummy note text"/>
          <p:cNvSpPr txBox="1"/>
          <p:nvPr/>
        </p:nvSpPr>
        <p:spPr>
          <a:xfrm>
            <a:off x="1207008" y="44348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k − 1 dummies: </a:t>
            </a:r>
            <a:r>
              <a:rPr sz="1200" b="0" lang="en-GB">
                <a:solidFill>
                  <a:schemeClr val="tx1"/>
                </a:solidFill>
              </a:rPr>
              <a:t>C() leaves the reference out for you.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5: a curve and its turning point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ad code caption bar"/>
          <p:cNvSpPr/>
          <p:nvPr/>
        </p:nvSpPr>
        <p:spPr>
          <a:xfrm>
            <a:off x="457200" y="1234440"/>
            <a:ext cx="51206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ad code caption"/>
          <p:cNvSpPr txBox="1"/>
          <p:nvPr/>
        </p:nvSpPr>
        <p:spPr>
          <a:xfrm>
            <a:off x="566928" y="1234440"/>
            <a:ext cx="49011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a:t>
            </a:r>
          </a:p>
        </p:txBody>
      </p:sp>
      <p:sp>
        <p:nvSpPr>
          <p:cNvPr id="12" name="Quad code box"/>
          <p:cNvSpPr/>
          <p:nvPr/>
        </p:nvSpPr>
        <p:spPr>
          <a:xfrm>
            <a:off x="457200" y="1508760"/>
            <a:ext cx="5120640" cy="2788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Quad code code"/>
          <p:cNvSpPr txBox="1"/>
          <p:nvPr/>
        </p:nvSpPr>
        <p:spPr>
          <a:xfrm>
            <a:off x="594360" y="1600200"/>
            <a:ext cx="4846320" cy="260604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quad = smf.ols("sales ~ price1 + I(price1**2)",</a:t>
            </a:r>
          </a:p>
          <a:p>
            <a:pPr algn="l">
              <a:spcAft>
                <a:spcPts val="0"/>
              </a:spcAft>
            </a:pPr>
            <a:r>
              <a:rPr sz="1050" b="0" lang="en-GB">
                <a:solidFill>
                  <a:schemeClr val="bg1"/>
                </a:solidFill>
                <a:latin typeface="Consolas"/>
              </a:rPr>
              <a:t>               data=df).fit()</a:t>
            </a:r>
          </a:p>
          <a:p>
            <a:pPr algn="l">
              <a:spcAft>
                <a:spcPts val="0"/>
              </a:spcAft>
            </a:pPr>
            <a:r>
              <a:rPr sz="1050" b="0" lang="en-GB">
                <a:solidFill>
                  <a:schemeClr val="bg1"/>
                </a:solidFill>
                <a:latin typeface="Consolas"/>
              </a:rPr>
              <a:t>b1 = quad.params["price1"]</a:t>
            </a:r>
          </a:p>
          <a:p>
            <a:pPr algn="l">
              <a:spcAft>
                <a:spcPts val="0"/>
              </a:spcAft>
            </a:pPr>
            <a:r>
              <a:rPr sz="1050" b="0" lang="en-GB">
                <a:solidFill>
                  <a:schemeClr val="bg1"/>
                </a:solidFill>
                <a:latin typeface="Consolas"/>
              </a:rPr>
              <a:t>b2 = quad.params["I(price1 ** 2)"]</a:t>
            </a:r>
          </a:p>
          <a:p>
            <a:pPr algn="l">
              <a:spcAft>
                <a:spcPts val="0"/>
              </a:spcAft>
            </a:pPr>
            <a:r>
              <a:rPr sz="1050" b="0" lang="en-GB">
                <a:solidFill>
                  <a:schemeClr val="bg1"/>
                </a:solidFill>
                <a:latin typeface="Consolas"/>
              </a:rPr>
              <a:t>turn = -b1 / (2 * b2)                # 1.67</a:t>
            </a:r>
          </a:p>
          <a:p>
            <a:pPr algn="l">
              <a:spcAft>
                <a:spcPts val="0"/>
              </a:spcAft>
            </a:pPr>
            <a:r>
              <a:rPr sz="1050" b="0" lang="en-GB">
                <a:solidFill>
                  <a:schemeClr val="bg1"/>
                </a:solidFill>
                <a:latin typeface="Consolas"/>
              </a:rPr>
              <a:t>choc["price1"].min(), choc["price1"].max()</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for p in (1.00, 1.25, 1.50):         # slope at p</a:t>
            </a:r>
          </a:p>
          <a:p>
            <a:pPr algn="l">
              <a:spcAft>
                <a:spcPts val="0"/>
              </a:spcAft>
            </a:pPr>
            <a:r>
              <a:rPr sz="1050" b="0" lang="en-GB">
                <a:solidFill>
                  <a:schemeClr val="bg1"/>
                </a:solidFill>
                <a:latin typeface="Consolas"/>
              </a:rPr>
              <a:t>    print(p, (b1 + 2 * b2 * p) / 10)  # per 10 cents</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linear_reset(quad, power=2, use_f=True).pvalue</a:t>
            </a:r>
          </a:p>
        </p:txBody>
      </p:sp>
      <p:sp>
        <p:nvSpPr>
          <p:cNvPr id="14" name="Quad out 1-1"/>
          <p:cNvSpPr/>
          <p:nvPr/>
        </p:nvSpPr>
        <p:spPr>
          <a:xfrm>
            <a:off x="5715000" y="1234440"/>
            <a:ext cx="15270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ad out text 1-1"/>
          <p:cNvSpPr txBox="1"/>
          <p:nvPr/>
        </p:nvSpPr>
        <p:spPr>
          <a:xfrm>
            <a:off x="5806440" y="1234440"/>
            <a:ext cx="134416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Result</a:t>
            </a:r>
          </a:p>
        </p:txBody>
      </p:sp>
      <p:sp>
        <p:nvSpPr>
          <p:cNvPr id="16" name="Quad out 1-2"/>
          <p:cNvSpPr/>
          <p:nvPr/>
        </p:nvSpPr>
        <p:spPr>
          <a:xfrm>
            <a:off x="7269480" y="1234440"/>
            <a:ext cx="13441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ad out text 1-2"/>
          <p:cNvSpPr txBox="1"/>
          <p:nvPr/>
        </p:nvSpPr>
        <p:spPr>
          <a:xfrm>
            <a:off x="7360920" y="1234440"/>
            <a:ext cx="116128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Value</a:t>
            </a:r>
          </a:p>
        </p:txBody>
      </p:sp>
      <p:sp>
        <p:nvSpPr>
          <p:cNvPr id="18" name="Quad out 2-1"/>
          <p:cNvSpPr/>
          <p:nvPr/>
        </p:nvSpPr>
        <p:spPr>
          <a:xfrm>
            <a:off x="5715000" y="1627632"/>
            <a:ext cx="15270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Quad out text 2-1"/>
          <p:cNvSpPr txBox="1"/>
          <p:nvPr/>
        </p:nvSpPr>
        <p:spPr>
          <a:xfrm>
            <a:off x="5806440" y="1627632"/>
            <a:ext cx="13441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b1</a:t>
            </a:r>
          </a:p>
        </p:txBody>
      </p:sp>
      <p:sp>
        <p:nvSpPr>
          <p:cNvPr id="20" name="Quad out 2-2"/>
          <p:cNvSpPr/>
          <p:nvPr/>
        </p:nvSpPr>
        <p:spPr>
          <a:xfrm>
            <a:off x="7269480" y="1627632"/>
            <a:ext cx="13441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ad out text 2-2"/>
          <p:cNvSpPr txBox="1"/>
          <p:nvPr/>
        </p:nvSpPr>
        <p:spPr>
          <a:xfrm>
            <a:off x="7360920" y="1627632"/>
            <a:ext cx="11612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−2,952</a:t>
            </a:r>
          </a:p>
        </p:txBody>
      </p:sp>
      <p:sp>
        <p:nvSpPr>
          <p:cNvPr id="22" name="Quad out 3-1"/>
          <p:cNvSpPr/>
          <p:nvPr/>
        </p:nvSpPr>
        <p:spPr>
          <a:xfrm>
            <a:off x="5715000" y="2020824"/>
            <a:ext cx="15270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ad out text 3-1"/>
          <p:cNvSpPr txBox="1"/>
          <p:nvPr/>
        </p:nvSpPr>
        <p:spPr>
          <a:xfrm>
            <a:off x="5806440" y="2020824"/>
            <a:ext cx="13441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b2</a:t>
            </a:r>
          </a:p>
        </p:txBody>
      </p:sp>
      <p:sp>
        <p:nvSpPr>
          <p:cNvPr id="24" name="Quad out 3-2"/>
          <p:cNvSpPr/>
          <p:nvPr/>
        </p:nvSpPr>
        <p:spPr>
          <a:xfrm>
            <a:off x="7269480" y="2020824"/>
            <a:ext cx="13441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Quad out text 3-2"/>
          <p:cNvSpPr txBox="1"/>
          <p:nvPr/>
        </p:nvSpPr>
        <p:spPr>
          <a:xfrm>
            <a:off x="7360920" y="2020824"/>
            <a:ext cx="11612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886</a:t>
            </a:r>
          </a:p>
        </p:txBody>
      </p:sp>
      <p:sp>
        <p:nvSpPr>
          <p:cNvPr id="26" name="Quad out 4-1"/>
          <p:cNvSpPr/>
          <p:nvPr/>
        </p:nvSpPr>
        <p:spPr>
          <a:xfrm>
            <a:off x="5715000" y="2414016"/>
            <a:ext cx="15270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Quad out text 4-1"/>
          <p:cNvSpPr txBox="1"/>
          <p:nvPr/>
        </p:nvSpPr>
        <p:spPr>
          <a:xfrm>
            <a:off x="5806440" y="2414016"/>
            <a:ext cx="13441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Turning point</a:t>
            </a:r>
          </a:p>
        </p:txBody>
      </p:sp>
      <p:sp>
        <p:nvSpPr>
          <p:cNvPr id="28" name="Quad out 4-2"/>
          <p:cNvSpPr/>
          <p:nvPr/>
        </p:nvSpPr>
        <p:spPr>
          <a:xfrm>
            <a:off x="7269480" y="2414016"/>
            <a:ext cx="13441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Quad out text 4-2"/>
          <p:cNvSpPr txBox="1"/>
          <p:nvPr/>
        </p:nvSpPr>
        <p:spPr>
          <a:xfrm>
            <a:off x="7360920" y="2414016"/>
            <a:ext cx="11612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1.67 EUR</a:t>
            </a:r>
          </a:p>
        </p:txBody>
      </p:sp>
      <p:sp>
        <p:nvSpPr>
          <p:cNvPr id="30" name="Quad out 5-1"/>
          <p:cNvSpPr/>
          <p:nvPr/>
        </p:nvSpPr>
        <p:spPr>
          <a:xfrm>
            <a:off x="5715000" y="2807208"/>
            <a:ext cx="15270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Quad out text 5-1"/>
          <p:cNvSpPr txBox="1"/>
          <p:nvPr/>
        </p:nvSpPr>
        <p:spPr>
          <a:xfrm>
            <a:off x="5806440" y="2807208"/>
            <a:ext cx="13441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Price range</a:t>
            </a:r>
          </a:p>
        </p:txBody>
      </p:sp>
      <p:sp>
        <p:nvSpPr>
          <p:cNvPr id="32" name="Quad out 5-2"/>
          <p:cNvSpPr/>
          <p:nvPr/>
        </p:nvSpPr>
        <p:spPr>
          <a:xfrm>
            <a:off x="7269480" y="2807208"/>
            <a:ext cx="13441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Quad out text 5-2"/>
          <p:cNvSpPr txBox="1"/>
          <p:nvPr/>
        </p:nvSpPr>
        <p:spPr>
          <a:xfrm>
            <a:off x="7360920" y="2807208"/>
            <a:ext cx="11612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1.02 to 1.55</a:t>
            </a:r>
          </a:p>
        </p:txBody>
      </p:sp>
      <p:sp>
        <p:nvSpPr>
          <p:cNvPr id="34" name="Quad out 6-1"/>
          <p:cNvSpPr/>
          <p:nvPr/>
        </p:nvSpPr>
        <p:spPr>
          <a:xfrm>
            <a:off x="5715000" y="3200400"/>
            <a:ext cx="15270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Quad out text 6-1"/>
          <p:cNvSpPr txBox="1"/>
          <p:nvPr/>
        </p:nvSpPr>
        <p:spPr>
          <a:xfrm>
            <a:off x="5806440" y="3200400"/>
            <a:ext cx="13441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RESET p</a:t>
            </a:r>
          </a:p>
        </p:txBody>
      </p:sp>
      <p:sp>
        <p:nvSpPr>
          <p:cNvPr id="36" name="Quad out 6-2"/>
          <p:cNvSpPr/>
          <p:nvPr/>
        </p:nvSpPr>
        <p:spPr>
          <a:xfrm>
            <a:off x="7269480" y="3200400"/>
            <a:ext cx="13441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Quad out text 6-2"/>
          <p:cNvSpPr txBox="1"/>
          <p:nvPr/>
        </p:nvSpPr>
        <p:spPr>
          <a:xfrm>
            <a:off x="7360920" y="3200400"/>
            <a:ext cx="11612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&lt; 0.001</a:t>
            </a:r>
          </a:p>
        </p:txBody>
      </p:sp>
      <p:sp>
        <p:nvSpPr>
          <p:cNvPr id="38" name="Quad note box"/>
          <p:cNvSpPr/>
          <p:nvPr/>
        </p:nvSpPr>
        <p:spPr>
          <a:xfrm>
            <a:off x="457200" y="4434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Icon Quad note" descr=""/>
          <p:cNvPicPr>
            <a:picLocks noChangeAspect="1"/>
          </p:cNvPicPr>
          <p:nvPr/>
        </p:nvPicPr>
        <p:blipFill>
          <a:blip r:embed="rId3"/>
          <a:stretch>
            <a:fillRect/>
          </a:stretch>
        </p:blipFill>
        <p:spPr>
          <a:xfrm>
            <a:off x="658368" y="4480560"/>
            <a:ext cx="365760" cy="365760"/>
          </a:xfrm>
          <a:prstGeom prst="rect">
            <a:avLst/>
          </a:prstGeom>
        </p:spPr>
      </p:pic>
      <p:sp>
        <p:nvSpPr>
          <p:cNvPr id="40" name="Quad note text"/>
          <p:cNvSpPr txBox="1"/>
          <p:nvPr/>
        </p:nvSpPr>
        <p:spPr>
          <a:xfrm>
            <a:off x="1207008" y="44348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Outside the data: </a:t>
            </a:r>
            <a:r>
              <a:rPr sz="1200" b="0" lang="en-GB">
                <a:solidFill>
                  <a:schemeClr val="tx1"/>
                </a:solidFill>
              </a:rPr>
              <a:t>the turning point says nothing about real prices.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6 · online quiz, then the chocolate data in Python, then with Posit Assistant</a:t>
            </a:r>
          </a:p>
        </p:txBody>
      </p:sp>
      <p:sp>
        <p:nvSpPr>
          <p:cNvPr id="3" name="Title 2"/>
          <p:cNvSpPr>
            <a:spLocks noGrp="1"/>
          </p:cNvSpPr>
          <p:nvPr>
            <p:ph type="ctrTitle"/>
          </p:nvPr>
        </p:nvSpPr>
        <p:spPr/>
        <p:txBody>
          <a:bodyPr/>
          <a:lstStyle/>
          <a:p>
            <a:r>
              <a:rPr sz="1600" lang="en-GB"/>
              <a:t>In-class exercise</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Online quiz 3: assumptions, dummies, logs in five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iz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iz bar 1"/>
          <p:cNvSpPr/>
          <p:nvPr/>
        </p:nvSpPr>
        <p:spPr>
          <a:xfrm>
            <a:off x="457200" y="123444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iz text 1"/>
          <p:cNvSpPr txBox="1"/>
          <p:nvPr/>
        </p:nvSpPr>
        <p:spPr>
          <a:xfrm>
            <a:off x="658368" y="1234440"/>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1 Breusch-Pagan gives p = 0.001. This means …</a:t>
            </a:r>
          </a:p>
          <a:p>
            <a:pPr algn="l">
              <a:spcAft>
                <a:spcPts val="100"/>
              </a:spcAft>
            </a:pPr>
            <a:r>
              <a:rPr sz="1200" b="0" lang="en-GB">
                <a:solidFill>
                  <a:schemeClr val="tx1"/>
                </a:solidFill>
              </a:rPr>
              <a:t>A constant variance     B unequal variance (heteroscedasticity)     C normal residuals</a:t>
            </a:r>
          </a:p>
        </p:txBody>
      </p:sp>
      <p:sp>
        <p:nvSpPr>
          <p:cNvPr id="13" name="Quiz row 2"/>
          <p:cNvSpPr/>
          <p:nvPr/>
        </p:nvSpPr>
        <p:spPr>
          <a:xfrm>
            <a:off x="457200" y="189280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iz bar 2"/>
          <p:cNvSpPr/>
          <p:nvPr/>
        </p:nvSpPr>
        <p:spPr>
          <a:xfrm>
            <a:off x="457200" y="189280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iz text 2"/>
          <p:cNvSpPr txBox="1"/>
          <p:nvPr/>
        </p:nvSpPr>
        <p:spPr>
          <a:xfrm>
            <a:off x="658368" y="1892808"/>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2 Four store formats in one model with an intercept need …</a:t>
            </a:r>
          </a:p>
          <a:p>
            <a:pPr algn="l">
              <a:spcAft>
                <a:spcPts val="100"/>
              </a:spcAft>
            </a:pPr>
            <a:r>
              <a:rPr sz="1200" b="0" lang="en-GB">
                <a:solidFill>
                  <a:schemeClr val="tx1"/>
                </a:solidFill>
              </a:rPr>
              <a:t>A 4 dummies     B 3 dummies     C 1 dummy</a:t>
            </a:r>
          </a:p>
        </p:txBody>
      </p:sp>
      <p:sp>
        <p:nvSpPr>
          <p:cNvPr id="16" name="Quiz row 3"/>
          <p:cNvSpPr/>
          <p:nvPr/>
        </p:nvSpPr>
        <p:spPr>
          <a:xfrm>
            <a:off x="457200" y="25511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iz bar 3"/>
          <p:cNvSpPr/>
          <p:nvPr/>
        </p:nvSpPr>
        <p:spPr>
          <a:xfrm>
            <a:off x="457200" y="255117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uiz text 3"/>
          <p:cNvSpPr txBox="1"/>
          <p:nvPr/>
        </p:nvSpPr>
        <p:spPr>
          <a:xfrm>
            <a:off x="658368" y="2551176"/>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3 In a log model the December dummy is b = −0.36. December weeks sell …</a:t>
            </a:r>
          </a:p>
          <a:p>
            <a:pPr algn="l">
              <a:spcAft>
                <a:spcPts val="100"/>
              </a:spcAft>
            </a:pPr>
            <a:r>
              <a:rPr sz="1200" b="0" lang="en-GB">
                <a:solidFill>
                  <a:schemeClr val="tx1"/>
                </a:solidFill>
              </a:rPr>
              <a:t>A 0.36 units fewer     B 36 % fewer     C about 30 % fewer</a:t>
            </a:r>
          </a:p>
        </p:txBody>
      </p:sp>
      <p:sp>
        <p:nvSpPr>
          <p:cNvPr id="19" name="Quiz row 4"/>
          <p:cNvSpPr/>
          <p:nvPr/>
        </p:nvSpPr>
        <p:spPr>
          <a:xfrm>
            <a:off x="457200" y="320954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bar 4"/>
          <p:cNvSpPr/>
          <p:nvPr/>
        </p:nvSpPr>
        <p:spPr>
          <a:xfrm>
            <a:off x="457200" y="3209544"/>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iz text 4"/>
          <p:cNvSpPr txBox="1"/>
          <p:nvPr/>
        </p:nvSpPr>
        <p:spPr>
          <a:xfrm>
            <a:off x="658368" y="3209544"/>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4 A quadratic in price turns at 1.67 EUR; prices in the data run 1.02 to 1.55. So …</a:t>
            </a:r>
          </a:p>
          <a:p>
            <a:pPr algn="l">
              <a:spcAft>
                <a:spcPts val="100"/>
              </a:spcAft>
            </a:pPr>
            <a:r>
              <a:rPr sz="1200" b="0" lang="en-GB">
                <a:solidFill>
                  <a:schemeClr val="tx1"/>
                </a:solidFill>
              </a:rPr>
              <a:t>A do not read it: outside the data     B raise the price above 1.67     C sales rise with price</a:t>
            </a:r>
          </a:p>
        </p:txBody>
      </p:sp>
      <p:sp>
        <p:nvSpPr>
          <p:cNvPr id="22" name="Quiz row 5"/>
          <p:cNvSpPr/>
          <p:nvPr/>
        </p:nvSpPr>
        <p:spPr>
          <a:xfrm>
            <a:off x="457200" y="386791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iz bar 5"/>
          <p:cNvSpPr/>
          <p:nvPr/>
        </p:nvSpPr>
        <p:spPr>
          <a:xfrm>
            <a:off x="457200" y="386791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Quiz text 5"/>
          <p:cNvSpPr txBox="1"/>
          <p:nvPr/>
        </p:nvSpPr>
        <p:spPr>
          <a:xfrm>
            <a:off x="658368" y="3867912"/>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5 Linear model R² 0.88, log-log R² 0.84. Which is better?</a:t>
            </a:r>
          </a:p>
          <a:p>
            <a:pPr algn="l">
              <a:spcAft>
                <a:spcPts val="100"/>
              </a:spcAft>
            </a:pPr>
            <a:r>
              <a:rPr sz="1200" b="0" lang="en-GB">
                <a:solidFill>
                  <a:schemeClr val="tx1"/>
                </a:solidFill>
              </a:rPr>
              <a:t>A the linear one     B R² cannot tell: different outcomes     C the log-log one</a:t>
            </a:r>
          </a:p>
        </p:txBody>
      </p:sp>
      <p:sp>
        <p:nvSpPr>
          <p:cNvPr id="25" name="Quiz how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Quiz how" descr=""/>
          <p:cNvPicPr>
            <a:picLocks noChangeAspect="1"/>
          </p:cNvPicPr>
          <p:nvPr/>
        </p:nvPicPr>
        <p:blipFill>
          <a:blip r:embed="rId3"/>
          <a:stretch>
            <a:fillRect/>
          </a:stretch>
        </p:blipFill>
        <p:spPr>
          <a:xfrm>
            <a:off x="658368" y="4617720"/>
            <a:ext cx="365760" cy="365760"/>
          </a:xfrm>
          <a:prstGeom prst="rect">
            <a:avLst/>
          </a:prstGeom>
        </p:spPr>
      </p:pic>
      <p:sp>
        <p:nvSpPr>
          <p:cNvPr id="27" name="Quiz how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Online on Canvas: </a:t>
            </a:r>
            <a:r>
              <a:rPr sz="1200" b="0" lang="en-GB">
                <a:solidFill>
                  <a:schemeClr val="bg1"/>
                </a:solidFill>
              </a:rPr>
              <a:t>3 minutes alone, then compare with your neighbour.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turn: which model may brand 1 trust?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urn steps step 1"/>
          <p:cNvSpPr/>
          <p:nvPr/>
        </p:nvSpPr>
        <p:spPr>
          <a:xfrm>
            <a:off x="457200" y="1234440"/>
            <a:ext cx="2816352"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Pairs, with packages:</a:t>
            </a:r>
            <a:br/>
            <a:r>
              <a:rPr sz="1200" b="1" lang="en-GB">
                <a:solidFill>
                  <a:schemeClr val="tx2"/>
                </a:solidFill>
              </a:rPr>
              <a:t>15 minutes</a:t>
            </a:r>
          </a:p>
        </p:txBody>
      </p:sp>
      <p:sp>
        <p:nvSpPr>
          <p:cNvPr id="11" name="Turn steps step 2"/>
          <p:cNvSpPr/>
          <p:nvPr/>
        </p:nvSpPr>
        <p:spPr>
          <a:xfrm>
            <a:off x="3163824" y="1234440"/>
            <a:ext cx="2816352"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Plenary, answers:</a:t>
            </a:r>
            <a:br/>
            <a:r>
              <a:rPr sz="1200" b="1" lang="en-GB">
                <a:solidFill>
                  <a:schemeClr val="tx2"/>
                </a:solidFill>
              </a:rPr>
              <a:t>5 minutes</a:t>
            </a:r>
          </a:p>
        </p:txBody>
      </p:sp>
      <p:sp>
        <p:nvSpPr>
          <p:cNvPr id="12" name="Turn steps step 3"/>
          <p:cNvSpPr/>
          <p:nvPr/>
        </p:nvSpPr>
        <p:spPr>
          <a:xfrm>
            <a:off x="5870448" y="1234440"/>
            <a:ext cx="2816352"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Posit Assistant:</a:t>
            </a:r>
            <a:br/>
            <a:r>
              <a:rPr sz="1200" b="1" lang="en-GB">
                <a:solidFill>
                  <a:schemeClr val="tx2"/>
                </a:solidFill>
              </a:rPr>
              <a:t>10 minutes</a:t>
            </a:r>
          </a:p>
        </p:txBody>
      </p:sp>
      <p:sp>
        <p:nvSpPr>
          <p:cNvPr id="13" name="Turn q row 1"/>
          <p:cNvSpPr/>
          <p:nvPr/>
        </p:nvSpPr>
        <p:spPr>
          <a:xfrm>
            <a:off x="457200" y="18288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urn q number 1"/>
          <p:cNvSpPr/>
          <p:nvPr/>
        </p:nvSpPr>
        <p:spPr>
          <a:xfrm>
            <a:off x="594360" y="19019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5" name="Turn q text 1"/>
          <p:cNvSpPr txBox="1"/>
          <p:nvPr/>
        </p:nvSpPr>
        <p:spPr>
          <a:xfrm>
            <a:off x="1051560" y="1828800"/>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Look: </a:t>
            </a:r>
            <a:r>
              <a:rPr sz="1200" b="0" lang="en-GB">
                <a:solidFill>
                  <a:schemeClr val="tx1"/>
                </a:solidFill>
              </a:rPr>
              <a:t>sales ~ price1 and np.log(sales) ~ np.log(price1); residual plot of each: curve, funnel?</a:t>
            </a:r>
          </a:p>
        </p:txBody>
      </p:sp>
      <p:sp>
        <p:nvSpPr>
          <p:cNvPr id="16" name="Turn q row 2"/>
          <p:cNvSpPr/>
          <p:nvPr/>
        </p:nvSpPr>
        <p:spPr>
          <a:xfrm>
            <a:off x="457200" y="235000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urn q number 2"/>
          <p:cNvSpPr/>
          <p:nvPr/>
        </p:nvSpPr>
        <p:spPr>
          <a:xfrm>
            <a:off x="594360" y="242316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8" name="Turn q text 2"/>
          <p:cNvSpPr txBox="1"/>
          <p:nvPr/>
        </p:nvSpPr>
        <p:spPr>
          <a:xfrm>
            <a:off x="1051560" y="2350008"/>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Test: </a:t>
            </a:r>
            <a:r>
              <a:rPr sz="1200" b="0" lang="en-GB">
                <a:solidFill>
                  <a:schemeClr val="tx1"/>
                </a:solidFill>
              </a:rPr>
              <a:t>RESET, Breusch-Pagan and Jarque-Bera for both models; which fails what?</a:t>
            </a:r>
          </a:p>
        </p:txBody>
      </p:sp>
      <p:sp>
        <p:nvSpPr>
          <p:cNvPr id="19" name="Turn q row 3"/>
          <p:cNvSpPr/>
          <p:nvPr/>
        </p:nvSpPr>
        <p:spPr>
          <a:xfrm>
            <a:off x="457200" y="287121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urn q number 3"/>
          <p:cNvSpPr/>
          <p:nvPr/>
        </p:nvSpPr>
        <p:spPr>
          <a:xfrm>
            <a:off x="594360" y="29443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1" name="Turn q text 3"/>
          <p:cNvSpPr txBox="1"/>
          <p:nvPr/>
        </p:nvSpPr>
        <p:spPr>
          <a:xfrm>
            <a:off x="1051560" y="2871216"/>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Dummies: </a:t>
            </a:r>
            <a:r>
              <a:rPr sz="1200" b="0" lang="en-GB">
                <a:solidFill>
                  <a:schemeClr val="tx1"/>
                </a:solidFill>
              </a:rPr>
              <a:t>season from temp with polars; add december and C(season, Treatment("mild")); read both in per cent</a:t>
            </a:r>
          </a:p>
        </p:txBody>
      </p:sp>
      <p:sp>
        <p:nvSpPr>
          <p:cNvPr id="22" name="Turn q row 4"/>
          <p:cNvSpPr/>
          <p:nvPr/>
        </p:nvSpPr>
        <p:spPr>
          <a:xfrm>
            <a:off x="457200" y="339242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urn q number 4"/>
          <p:cNvSpPr/>
          <p:nvPr/>
        </p:nvSpPr>
        <p:spPr>
          <a:xfrm>
            <a:off x="594360" y="346557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4" name="Turn q text 4"/>
          <p:cNvSpPr txBox="1"/>
          <p:nvPr/>
        </p:nvSpPr>
        <p:spPr>
          <a:xfrm>
            <a:off x="1051560" y="3392424"/>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Curve: </a:t>
            </a:r>
            <a:r>
              <a:rPr sz="1200" b="0" lang="en-GB">
                <a:solidFill>
                  <a:schemeClr val="tx1"/>
                </a:solidFill>
              </a:rPr>
              <a:t>sales ~ price1 + I(price1**2); turning point; inside the price range?</a:t>
            </a:r>
          </a:p>
        </p:txBody>
      </p:sp>
      <p:sp>
        <p:nvSpPr>
          <p:cNvPr id="25" name="Turn q row 5"/>
          <p:cNvSpPr/>
          <p:nvPr/>
        </p:nvSpPr>
        <p:spPr>
          <a:xfrm>
            <a:off x="457200" y="391363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urn q number 5"/>
          <p:cNvSpPr/>
          <p:nvPr/>
        </p:nvSpPr>
        <p:spPr>
          <a:xfrm>
            <a:off x="594360" y="398678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7" name="Turn q text 5"/>
          <p:cNvSpPr txBox="1"/>
          <p:nvPr/>
        </p:nvSpPr>
        <p:spPr>
          <a:xfrm>
            <a:off x="1051560" y="3913632"/>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The manager: </a:t>
            </a:r>
            <a:r>
              <a:rPr sz="1200" b="0" lang="en-GB">
                <a:solidFill>
                  <a:schemeClr val="tx1"/>
                </a:solidFill>
              </a:rPr>
              <a:t>which model do you report, and one sentence with a number</a:t>
            </a:r>
          </a:p>
        </p:txBody>
      </p:sp>
      <p:sp>
        <p:nvSpPr>
          <p:cNvPr id="28" name="Turn file"/>
          <p:cNvSpPr txBox="1"/>
          <p:nvPr/>
        </p:nvSpPr>
        <p:spPr>
          <a:xfrm>
            <a:off x="457200" y="457200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sessions/01-foundations/assumptions_exercise.qmd</a:t>
            </a:r>
            <a:r>
              <a:rPr sz="1200" b="0" lang="en-GB">
                <a:solidFill>
                  <a:schemeClr val="tx1"/>
                </a:solidFill>
              </a:rPr>
              <a:t>  (data, tasks, Posit Assistant)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Then: the same tasks with Posit Assistant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osit steps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osit steps number 1"/>
          <p:cNvSpPr/>
          <p:nvPr/>
        </p:nvSpPr>
        <p:spPr>
          <a:xfrm>
            <a:off x="594360" y="130759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Posit steps text 1"/>
          <p:cNvSpPr txBox="1"/>
          <p:nvPr/>
        </p:nvSpPr>
        <p:spPr>
          <a:xfrm>
            <a:off x="1051560" y="1234440"/>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Code first: </a:t>
            </a:r>
            <a:r>
              <a:rPr sz="1200" b="0" lang="en-GB">
                <a:solidFill>
                  <a:schemeClr val="tx1"/>
                </a:solidFill>
              </a:rPr>
              <a:t>solve the tasks with the packages; keep the cells run, so Posit Assistant sees choc, df and the models</a:t>
            </a:r>
          </a:p>
        </p:txBody>
      </p:sp>
      <p:sp>
        <p:nvSpPr>
          <p:cNvPr id="13" name="Posit steps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osit steps number 2"/>
          <p:cNvSpPr/>
          <p:nvPr/>
        </p:nvSpPr>
        <p:spPr>
          <a:xfrm>
            <a:off x="594360" y="183794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Posit steps text 2"/>
          <p:cNvSpPr txBox="1"/>
          <p:nvPr/>
        </p:nvSpPr>
        <p:spPr>
          <a:xfrm>
            <a:off x="1051560" y="1764792"/>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Open the chat: </a:t>
            </a:r>
            <a:r>
              <a:rPr sz="1200" b="0" lang="en-GB">
                <a:solidFill>
                  <a:schemeClr val="tx1"/>
                </a:solidFill>
              </a:rPr>
              <a:t>Posit Assistant icon in the activity bar, or Ctrl/Cmd + Shift + P → View: Show Posit Assistant</a:t>
            </a:r>
          </a:p>
        </p:txBody>
      </p:sp>
      <p:sp>
        <p:nvSpPr>
          <p:cNvPr id="16" name="Posit steps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osit steps number 3"/>
          <p:cNvSpPr/>
          <p:nvPr/>
        </p:nvSpPr>
        <p:spPr>
          <a:xfrm>
            <a:off x="594360" y="23682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Posit steps text 3"/>
          <p:cNvSpPr txBox="1"/>
          <p:nvPr/>
        </p:nvSpPr>
        <p:spPr>
          <a:xfrm>
            <a:off x="1051560" y="2295144"/>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Give context: </a:t>
            </a:r>
            <a:r>
              <a:rPr sz="1200" b="0" lang="en-GB">
                <a:solidFill>
                  <a:schemeClr val="tx1"/>
                </a:solidFill>
              </a:rPr>
              <a:t>type @assumptions_exercise.qmd, then one task per prompt: the file, the packages, the output</a:t>
            </a:r>
          </a:p>
        </p:txBody>
      </p:sp>
      <p:sp>
        <p:nvSpPr>
          <p:cNvPr id="19" name="Posit steps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osit steps number 4"/>
          <p:cNvSpPr/>
          <p:nvPr/>
        </p:nvSpPr>
        <p:spPr>
          <a:xfrm>
            <a:off x="594360" y="289864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Posit steps text 4"/>
          <p:cNvSpPr txBox="1"/>
          <p:nvPr/>
        </p:nvSpPr>
        <p:spPr>
          <a:xfrm>
            <a:off x="1051560" y="2825496"/>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Ask for meaning: </a:t>
            </a:r>
            <a:r>
              <a:rPr sz="1200" b="0" lang="en-GB">
                <a:solidFill>
                  <a:schemeClr val="tx1"/>
                </a:solidFill>
              </a:rPr>
              <a:t>let it explain each test result in one sentence; check the direction of p</a:t>
            </a:r>
          </a:p>
        </p:txBody>
      </p:sp>
      <p:sp>
        <p:nvSpPr>
          <p:cNvPr id="22" name="Posit steps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osit steps number 5"/>
          <p:cNvSpPr/>
          <p:nvPr/>
        </p:nvSpPr>
        <p:spPr>
          <a:xfrm>
            <a:off x="594360" y="342900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Posit steps text 5"/>
          <p:cNvSpPr txBox="1"/>
          <p:nvPr/>
        </p:nvSpPr>
        <p:spPr>
          <a:xfrm>
            <a:off x="1051560" y="3355848"/>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Compare: </a:t>
            </a:r>
            <a:r>
              <a:rPr sz="1200" b="0" lang="en-GB">
                <a:solidFill>
                  <a:schemeClr val="tx1"/>
                </a:solidFill>
              </a:rPr>
              <a:t>its code, numbers and wording with yours and the answers</a:t>
            </a:r>
          </a:p>
        </p:txBody>
      </p:sp>
      <p:sp>
        <p:nvSpPr>
          <p:cNvPr id="25" name="Posit safe box"/>
          <p:cNvSpPr/>
          <p:nvPr/>
        </p:nvSpPr>
        <p:spPr>
          <a:xfrm>
            <a:off x="457200" y="40233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Posit safe" descr=""/>
          <p:cNvPicPr>
            <a:picLocks noChangeAspect="1"/>
          </p:cNvPicPr>
          <p:nvPr/>
        </p:nvPicPr>
        <p:blipFill>
          <a:blip r:embed="rId3"/>
          <a:stretch>
            <a:fillRect/>
          </a:stretch>
        </p:blipFill>
        <p:spPr>
          <a:xfrm>
            <a:off x="658368" y="4183380"/>
            <a:ext cx="365760" cy="365760"/>
          </a:xfrm>
          <a:prstGeom prst="rect">
            <a:avLst/>
          </a:prstGeom>
        </p:spPr>
      </p:pic>
      <p:sp>
        <p:nvSpPr>
          <p:cNvPr id="27" name="Posit safe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Stay in Normal mode: </a:t>
            </a:r>
            <a:r>
              <a:rPr sz="1200" b="0" lang="en-GB">
                <a:solidFill>
                  <a:schemeClr val="bg1"/>
                </a:solidFill>
              </a:rPr>
              <a:t>never /yolo. Read every edit before you accept it. You own every number and every sentence.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Prompts for the assumption checks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mpt 2 caption bar"/>
          <p:cNvSpPr/>
          <p:nvPr/>
        </p:nvSpPr>
        <p:spPr>
          <a:xfrm>
            <a:off x="457200" y="1234440"/>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ompt 2 caption"/>
          <p:cNvSpPr txBox="1"/>
          <p:nvPr/>
        </p:nvSpPr>
        <p:spPr>
          <a:xfrm>
            <a:off x="566928" y="1234440"/>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2</a:t>
            </a:r>
          </a:p>
        </p:txBody>
      </p:sp>
      <p:sp>
        <p:nvSpPr>
          <p:cNvPr id="12" name="Prompt 2 box"/>
          <p:cNvSpPr/>
          <p:nvPr/>
        </p:nvSpPr>
        <p:spPr>
          <a:xfrm>
            <a:off x="457200" y="1508760"/>
            <a:ext cx="4046220" cy="1737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rompt 2 code"/>
          <p:cNvSpPr txBox="1"/>
          <p:nvPr/>
        </p:nvSpPr>
        <p:spPr>
          <a:xfrm>
            <a:off x="594360" y="1600200"/>
            <a:ext cx="3771900" cy="15544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@assumptions_exercise.qmd Task 2.</a:t>
            </a:r>
          </a:p>
          <a:p>
            <a:pPr algn="l">
              <a:spcAft>
                <a:spcPts val="0"/>
              </a:spcAft>
            </a:pPr>
            <a:r>
              <a:rPr sz="1100" b="0" lang="en-GB">
                <a:solidFill>
                  <a:schemeClr val="bg1"/>
                </a:solidFill>
                <a:latin typeface="Consolas"/>
              </a:rPr>
              <a:t>Run RESET, Breusch-Pagan and</a:t>
            </a:r>
          </a:p>
          <a:p>
            <a:pPr algn="l">
              <a:spcAft>
                <a:spcPts val="0"/>
              </a:spcAft>
            </a:pPr>
            <a:r>
              <a:rPr sz="1100" b="0" lang="en-GB">
                <a:solidFill>
                  <a:schemeClr val="bg1"/>
                </a:solidFill>
                <a:latin typeface="Consolas"/>
              </a:rPr>
              <a:t>Jarque-Bera with statsmodels for</a:t>
            </a:r>
          </a:p>
          <a:p>
            <a:pPr algn="l">
              <a:spcAft>
                <a:spcPts val="0"/>
              </a:spcAft>
            </a:pPr>
            <a:r>
              <a:rPr sz="1100" b="0" lang="en-GB">
                <a:solidFill>
                  <a:schemeClr val="bg1"/>
                </a:solidFill>
                <a:latin typeface="Consolas"/>
              </a:rPr>
              <a:t>lin1 and ll1. Show the p-values</a:t>
            </a:r>
          </a:p>
          <a:p>
            <a:pPr algn="l">
              <a:spcAft>
                <a:spcPts val="0"/>
              </a:spcAft>
            </a:pPr>
            <a:r>
              <a:rPr sz="1100" b="0" lang="en-GB">
                <a:solidFill>
                  <a:schemeClr val="bg1"/>
                </a:solidFill>
                <a:latin typeface="Consolas"/>
              </a:rPr>
              <a:t>in one table and explain in one</a:t>
            </a:r>
          </a:p>
          <a:p>
            <a:pPr algn="l">
              <a:spcAft>
                <a:spcPts val="0"/>
              </a:spcAft>
            </a:pPr>
            <a:r>
              <a:rPr sz="1100" b="0" lang="en-GB">
                <a:solidFill>
                  <a:schemeClr val="bg1"/>
                </a:solidFill>
                <a:latin typeface="Consolas"/>
              </a:rPr>
              <a:t>sentence each which assumption</a:t>
            </a:r>
          </a:p>
          <a:p>
            <a:pPr algn="l">
              <a:spcAft>
                <a:spcPts val="0"/>
              </a:spcAft>
            </a:pPr>
            <a:r>
              <a:rPr sz="1100" b="0" lang="en-GB">
                <a:solidFill>
                  <a:schemeClr val="bg1"/>
                </a:solidFill>
                <a:latin typeface="Consolas"/>
              </a:rPr>
              <a:t>fails.</a:t>
            </a:r>
          </a:p>
        </p:txBody>
      </p:sp>
      <p:sp>
        <p:nvSpPr>
          <p:cNvPr id="14" name="Prompt 3 caption bar"/>
          <p:cNvSpPr/>
          <p:nvPr/>
        </p:nvSpPr>
        <p:spPr>
          <a:xfrm>
            <a:off x="4640580" y="1234440"/>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Prompt 3 caption"/>
          <p:cNvSpPr txBox="1"/>
          <p:nvPr/>
        </p:nvSpPr>
        <p:spPr>
          <a:xfrm>
            <a:off x="4750308" y="1234440"/>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3</a:t>
            </a:r>
          </a:p>
        </p:txBody>
      </p:sp>
      <p:sp>
        <p:nvSpPr>
          <p:cNvPr id="16" name="Prompt 3 box"/>
          <p:cNvSpPr/>
          <p:nvPr/>
        </p:nvSpPr>
        <p:spPr>
          <a:xfrm>
            <a:off x="4640580" y="1508760"/>
            <a:ext cx="4046220" cy="1737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ompt 3 code"/>
          <p:cNvSpPr txBox="1"/>
          <p:nvPr/>
        </p:nvSpPr>
        <p:spPr>
          <a:xfrm>
            <a:off x="4777740" y="1600200"/>
            <a:ext cx="3771900" cy="15544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Task 3. Build season from temp</a:t>
            </a:r>
          </a:p>
          <a:p>
            <a:pPr algn="l">
              <a:spcAft>
                <a:spcPts val="0"/>
              </a:spcAft>
            </a:pPr>
            <a:r>
              <a:rPr sz="1100" b="0" lang="en-GB">
                <a:solidFill>
                  <a:schemeClr val="bg1"/>
                </a:solidFill>
                <a:latin typeface="Consolas"/>
              </a:rPr>
              <a:t>with polars when/then (cold &lt; 5,</a:t>
            </a:r>
          </a:p>
          <a:p>
            <a:pPr algn="l">
              <a:spcAft>
                <a:spcPts val="0"/>
              </a:spcAft>
            </a:pPr>
            <a:r>
              <a:rPr sz="1100" b="0" lang="en-GB">
                <a:solidFill>
                  <a:schemeClr val="bg1"/>
                </a:solidFill>
                <a:latin typeface="Consolas"/>
              </a:rPr>
              <a:t>mild &lt; 15, warm). Fit the model</a:t>
            </a:r>
          </a:p>
          <a:p>
            <a:pPr algn="l">
              <a:spcAft>
                <a:spcPts val="0"/>
              </a:spcAft>
            </a:pPr>
            <a:r>
              <a:rPr sz="1100" b="0" lang="en-GB">
                <a:solidFill>
                  <a:schemeClr val="bg1"/>
                </a:solidFill>
                <a:latin typeface="Consolas"/>
              </a:rPr>
              <a:t>with C(season, Treatment("mild"))</a:t>
            </a:r>
          </a:p>
          <a:p>
            <a:pPr algn="l">
              <a:spcAft>
                <a:spcPts val="0"/>
              </a:spcAft>
            </a:pPr>
            <a:r>
              <a:rPr sz="1100" b="0" lang="en-GB">
                <a:solidFill>
                  <a:schemeClr val="bg1"/>
                </a:solidFill>
                <a:latin typeface="Consolas"/>
              </a:rPr>
              <a:t>and give each dummy in per cent</a:t>
            </a:r>
          </a:p>
          <a:p>
            <a:pPr algn="l">
              <a:spcAft>
                <a:spcPts val="0"/>
              </a:spcAft>
            </a:pPr>
            <a:r>
              <a:rPr sz="1100" b="0" lang="en-GB">
                <a:solidFill>
                  <a:schemeClr val="bg1"/>
                </a:solidFill>
                <a:latin typeface="Consolas"/>
              </a:rPr>
              <a:t>with exp(b) - 1.</a:t>
            </a:r>
          </a:p>
        </p:txBody>
      </p:sp>
      <p:sp>
        <p:nvSpPr>
          <p:cNvPr id="18" name="Prompt tips row 1"/>
          <p:cNvSpPr/>
          <p:nvPr/>
        </p:nvSpPr>
        <p:spPr>
          <a:xfrm>
            <a:off x="457200" y="338328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rompt tips bar 1"/>
          <p:cNvSpPr/>
          <p:nvPr/>
        </p:nvSpPr>
        <p:spPr>
          <a:xfrm>
            <a:off x="457200" y="3383280"/>
            <a:ext cx="64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rompt tips text 1"/>
          <p:cNvSpPr txBox="1"/>
          <p:nvPr/>
        </p:nvSpPr>
        <p:spPr>
          <a:xfrm>
            <a:off x="658368" y="3383280"/>
            <a:ext cx="7936992"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Name three things: </a:t>
            </a:r>
            <a:r>
              <a:rPr sz="1200" b="0" lang="en-GB">
                <a:solidFill>
                  <a:schemeClr val="tx1"/>
                </a:solidFill>
              </a:rPr>
              <a:t>the file, the packages (polars, statsmodels, scipy), the output</a:t>
            </a:r>
          </a:p>
        </p:txBody>
      </p:sp>
      <p:sp>
        <p:nvSpPr>
          <p:cNvPr id="21" name="Prompt tips row 2"/>
          <p:cNvSpPr/>
          <p:nvPr/>
        </p:nvSpPr>
        <p:spPr>
          <a:xfrm>
            <a:off x="457200" y="3831336"/>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ompt tips bar 2"/>
          <p:cNvSpPr/>
          <p:nvPr/>
        </p:nvSpPr>
        <p:spPr>
          <a:xfrm>
            <a:off x="457200" y="3831336"/>
            <a:ext cx="64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rompt tips text 2"/>
          <p:cNvSpPr txBox="1"/>
          <p:nvPr/>
        </p:nvSpPr>
        <p:spPr>
          <a:xfrm>
            <a:off x="658368" y="3831336"/>
            <a:ext cx="7936992"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Check the direction: </a:t>
            </a:r>
            <a:r>
              <a:rPr sz="1200" b="0" lang="en-GB">
                <a:solidFill>
                  <a:schemeClr val="tx1"/>
                </a:solidFill>
              </a:rPr>
              <a:t>in an assumption test a small p means a problem</a:t>
            </a:r>
          </a:p>
        </p:txBody>
      </p:sp>
      <p:sp>
        <p:nvSpPr>
          <p:cNvPr id="24" name="Prompt tips row 3"/>
          <p:cNvSpPr/>
          <p:nvPr/>
        </p:nvSpPr>
        <p:spPr>
          <a:xfrm>
            <a:off x="457200" y="4279392"/>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rompt tips bar 3"/>
          <p:cNvSpPr/>
          <p:nvPr/>
        </p:nvSpPr>
        <p:spPr>
          <a:xfrm>
            <a:off x="457200" y="4279392"/>
            <a:ext cx="64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Prompt tips text 3"/>
          <p:cNvSpPr txBox="1"/>
          <p:nvPr/>
        </p:nvSpPr>
        <p:spPr>
          <a:xfrm>
            <a:off x="658368" y="4279392"/>
            <a:ext cx="7936992"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Watch for slips: </a:t>
            </a:r>
            <a:r>
              <a:rPr sz="1200" b="0" lang="en-GB">
                <a:solidFill>
                  <a:schemeClr val="tx1"/>
                </a:solidFill>
              </a:rPr>
              <a:t>tests on sales instead of residuals, three dummies plus intercept, 100 × b</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Second case: one fashion brand, twelve countries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a_conversion.png" descr="Horizontal bar chart of sold articles per 100 product page views in SS26 by country: CH 6.3 (highlighted), AT 5.7, DE 5.5, DK 4.3, BE 4.1, NL 3.9, PL 2.9, FI 2.8, CZ 2.7, FR 2.3, SE 1.7, IT 1.7"/>
          <p:cNvPicPr>
            <a:picLocks noChangeAspect="1"/>
          </p:cNvPicPr>
          <p:nvPr/>
        </p:nvPicPr>
        <p:blipFill>
          <a:blip r:embed="rId3"/>
          <a:stretch>
            <a:fillRect/>
          </a:stretch>
        </p:blipFill>
        <p:spPr>
          <a:xfrm>
            <a:off x="457200" y="1234440"/>
            <a:ext cx="3977640" cy="2962656"/>
          </a:xfrm>
          <a:prstGeom prst="rect">
            <a:avLst/>
          </a:prstGeom>
        </p:spPr>
      </p:pic>
      <p:sp>
        <p:nvSpPr>
          <p:cNvPr id="11" name="Fashion data row 1"/>
          <p:cNvSpPr/>
          <p:nvPr/>
        </p:nvSpPr>
        <p:spPr>
          <a:xfrm>
            <a:off x="4572000" y="1234440"/>
            <a:ext cx="41148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ashion data bar 1"/>
          <p:cNvSpPr/>
          <p:nvPr/>
        </p:nvSpPr>
        <p:spPr>
          <a:xfrm>
            <a:off x="4572000" y="123444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ashion data text 1"/>
          <p:cNvSpPr txBox="1"/>
          <p:nvPr/>
        </p:nvSpPr>
        <p:spPr>
          <a:xfrm>
            <a:off x="4773168" y="1234440"/>
            <a:ext cx="38221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Data: </a:t>
            </a:r>
            <a:r>
              <a:rPr sz="1200" b="0" lang="en-GB">
                <a:solidFill>
                  <a:schemeClr val="tx1"/>
                </a:solidFill>
              </a:rPr>
              <a:t>403 rows, season × country × article type</a:t>
            </a:r>
          </a:p>
        </p:txBody>
      </p:sp>
      <p:sp>
        <p:nvSpPr>
          <p:cNvPr id="14" name="Fashion data row 2"/>
          <p:cNvSpPr/>
          <p:nvPr/>
        </p:nvSpPr>
        <p:spPr>
          <a:xfrm>
            <a:off x="4572000" y="1856232"/>
            <a:ext cx="41148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ashion data bar 2"/>
          <p:cNvSpPr/>
          <p:nvPr/>
        </p:nvSpPr>
        <p:spPr>
          <a:xfrm>
            <a:off x="4572000" y="18562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ashion data text 2"/>
          <p:cNvSpPr txBox="1"/>
          <p:nvPr/>
        </p:nvSpPr>
        <p:spPr>
          <a:xfrm>
            <a:off x="4773168" y="1856232"/>
            <a:ext cx="38221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Funnel: </a:t>
            </a:r>
            <a:r>
              <a:rPr sz="1200" b="0" lang="en-GB">
                <a:solidFill>
                  <a:schemeClr val="tx1"/>
                </a:solidFill>
              </a:rPr>
              <a:t>page views → add to basket → sold → returns</a:t>
            </a:r>
          </a:p>
        </p:txBody>
      </p:sp>
      <p:sp>
        <p:nvSpPr>
          <p:cNvPr id="17" name="Fashion data row 3"/>
          <p:cNvSpPr/>
          <p:nvPr/>
        </p:nvSpPr>
        <p:spPr>
          <a:xfrm>
            <a:off x="4572000" y="2478024"/>
            <a:ext cx="41148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Fashion data bar 3"/>
          <p:cNvSpPr/>
          <p:nvPr/>
        </p:nvSpPr>
        <p:spPr>
          <a:xfrm>
            <a:off x="4572000" y="247802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Fashion data text 3"/>
          <p:cNvSpPr txBox="1"/>
          <p:nvPr/>
        </p:nvSpPr>
        <p:spPr>
          <a:xfrm>
            <a:off x="4773168" y="2478024"/>
            <a:ext cx="38221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Markets: </a:t>
            </a:r>
            <a:r>
              <a:rPr sz="1200" b="0" lang="en-GB">
                <a:solidFill>
                  <a:schemeClr val="tx1"/>
                </a:solidFill>
              </a:rPr>
              <a:t>DE, CH, AT = 71 % of NMV in SS26</a:t>
            </a:r>
          </a:p>
        </p:txBody>
      </p:sp>
      <p:sp>
        <p:nvSpPr>
          <p:cNvPr id="20" name="Fashion data row 4"/>
          <p:cNvSpPr/>
          <p:nvPr/>
        </p:nvSpPr>
        <p:spPr>
          <a:xfrm>
            <a:off x="4572000" y="3099816"/>
            <a:ext cx="41148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ashion data bar 4"/>
          <p:cNvSpPr/>
          <p:nvPr/>
        </p:nvSpPr>
        <p:spPr>
          <a:xfrm>
            <a:off x="4572000" y="3099816"/>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Fashion data text 4"/>
          <p:cNvSpPr txBox="1"/>
          <p:nvPr/>
        </p:nvSpPr>
        <p:spPr>
          <a:xfrm>
            <a:off x="4773168" y="3099816"/>
            <a:ext cx="38221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New in SS26: </a:t>
            </a:r>
            <a:r>
              <a:rPr sz="1200" b="0" lang="en-GB">
                <a:solidFill>
                  <a:schemeClr val="tx1"/>
                </a:solidFill>
              </a:rPr>
              <a:t>Switzerland converts best at once</a:t>
            </a:r>
          </a:p>
        </p:txBody>
      </p:sp>
      <p:sp>
        <p:nvSpPr>
          <p:cNvPr id="23" name="Fashion question box"/>
          <p:cNvSpPr/>
          <p:nvPr/>
        </p:nvSpPr>
        <p:spPr>
          <a:xfrm>
            <a:off x="457200" y="42519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Fashion question" descr=""/>
          <p:cNvPicPr>
            <a:picLocks noChangeAspect="1"/>
          </p:cNvPicPr>
          <p:nvPr/>
        </p:nvPicPr>
        <p:blipFill>
          <a:blip r:embed="rId4"/>
          <a:stretch>
            <a:fillRect/>
          </a:stretch>
        </p:blipFill>
        <p:spPr>
          <a:xfrm>
            <a:off x="658368" y="4411980"/>
            <a:ext cx="365760" cy="365760"/>
          </a:xfrm>
          <a:prstGeom prst="rect">
            <a:avLst/>
          </a:prstGeom>
        </p:spPr>
      </p:pic>
      <p:sp>
        <p:nvSpPr>
          <p:cNvPr id="25" name="Fashion question text"/>
          <p:cNvSpPr txBox="1"/>
          <p:nvPr/>
        </p:nvSpPr>
        <p:spPr>
          <a:xfrm>
            <a:off x="1207008" y="4251960"/>
            <a:ext cx="7315200" cy="685800"/>
          </a:xfrm>
          <a:prstGeom prst="rect">
            <a:avLst/>
          </a:prstGeom>
          <a:noFill/>
        </p:spPr>
        <p:txBody>
          <a:bodyPr wrap="square" lIns="0" rIns="0" tIns="0" bIns="0" anchor="ctr">
            <a:noAutofit/>
          </a:bodyPr>
          <a:lstStyle/>
          <a:p>
            <a:pPr algn="l">
              <a:spcAft>
                <a:spcPts val="400"/>
              </a:spcAft>
            </a:pPr>
            <a:r>
              <a:rPr sz="1250" b="1" lang="en-GB">
                <a:solidFill>
                  <a:schemeClr val="bg1"/>
                </a:solidFill>
              </a:rPr>
              <a:t>The manager asks: </a:t>
            </a:r>
            <a:r>
              <a:rPr sz="1250" b="0" lang="en-GB">
                <a:solidFill>
                  <a:schemeClr val="bg1"/>
                </a:solidFill>
              </a:rPr>
              <a:t>where do page views turn into sales, and should we invest in Switzerland?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turn: the fashion brand in Python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ashion steps step 1"/>
          <p:cNvSpPr/>
          <p:nvPr/>
        </p:nvSpPr>
        <p:spPr>
          <a:xfrm>
            <a:off x="457200" y="1234440"/>
            <a:ext cx="2816352"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Pairs, with packages:</a:t>
            </a:r>
            <a:br/>
            <a:r>
              <a:rPr sz="1200" b="1" lang="en-GB">
                <a:solidFill>
                  <a:schemeClr val="tx2"/>
                </a:solidFill>
              </a:rPr>
              <a:t>20 minutes</a:t>
            </a:r>
          </a:p>
        </p:txBody>
      </p:sp>
      <p:sp>
        <p:nvSpPr>
          <p:cNvPr id="11" name="Fashion steps step 2"/>
          <p:cNvSpPr/>
          <p:nvPr/>
        </p:nvSpPr>
        <p:spPr>
          <a:xfrm>
            <a:off x="3163824" y="1234440"/>
            <a:ext cx="2816352"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Plenary, answers:</a:t>
            </a:r>
            <a:br/>
            <a:r>
              <a:rPr sz="1200" b="1" lang="en-GB">
                <a:solidFill>
                  <a:schemeClr val="tx2"/>
                </a:solidFill>
              </a:rPr>
              <a:t>5 minutes</a:t>
            </a:r>
          </a:p>
        </p:txBody>
      </p:sp>
      <p:sp>
        <p:nvSpPr>
          <p:cNvPr id="12" name="Fashion steps step 3"/>
          <p:cNvSpPr/>
          <p:nvPr/>
        </p:nvSpPr>
        <p:spPr>
          <a:xfrm>
            <a:off x="5870448" y="1234440"/>
            <a:ext cx="2816352"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Posit Assistant:</a:t>
            </a:r>
            <a:br/>
            <a:r>
              <a:rPr sz="1200" b="1" lang="en-GB">
                <a:solidFill>
                  <a:schemeClr val="tx2"/>
                </a:solidFill>
              </a:rPr>
              <a:t>10 minutes</a:t>
            </a:r>
          </a:p>
        </p:txBody>
      </p:sp>
      <p:sp>
        <p:nvSpPr>
          <p:cNvPr id="13" name="Fashion q row 1"/>
          <p:cNvSpPr/>
          <p:nvPr/>
        </p:nvSpPr>
        <p:spPr>
          <a:xfrm>
            <a:off x="457200" y="18288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Fashion q number 1"/>
          <p:cNvSpPr/>
          <p:nvPr/>
        </p:nvSpPr>
        <p:spPr>
          <a:xfrm>
            <a:off x="594360" y="19019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5" name="Fashion q text 1"/>
          <p:cNvSpPr txBox="1"/>
          <p:nvPr/>
        </p:nvSpPr>
        <p:spPr>
          <a:xfrm>
            <a:off x="1051560" y="1828800"/>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Markets: </a:t>
            </a:r>
            <a:r>
              <a:rPr sz="1200" b="0" lang="en-GB">
                <a:solidFill>
                  <a:schemeClr val="tx1"/>
                </a:solidFill>
              </a:rPr>
              <a:t>SS26 by country: NMV, sales, sold per 100 views, return rate; a great_tables table</a:t>
            </a:r>
          </a:p>
        </p:txBody>
      </p:sp>
      <p:sp>
        <p:nvSpPr>
          <p:cNvPr id="16" name="Fashion q row 2"/>
          <p:cNvSpPr/>
          <p:nvPr/>
        </p:nvSpPr>
        <p:spPr>
          <a:xfrm>
            <a:off x="457200" y="235000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ashion q number 2"/>
          <p:cNvSpPr/>
          <p:nvPr/>
        </p:nvSpPr>
        <p:spPr>
          <a:xfrm>
            <a:off x="594360" y="242316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8" name="Fashion q text 2"/>
          <p:cNvSpPr txBox="1"/>
          <p:nvPr/>
        </p:nvSpPr>
        <p:spPr>
          <a:xfrm>
            <a:off x="1051560" y="2350008"/>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Funnel: </a:t>
            </a:r>
            <a:r>
              <a:rPr sz="1200" b="0" lang="en-GB">
                <a:solidFill>
                  <a:schemeClr val="tx1"/>
                </a:solidFill>
              </a:rPr>
              <a:t>np.log(sold_articles) ~ np.log(pdp_views), rows with sales only; read the elasticity</a:t>
            </a:r>
          </a:p>
        </p:txBody>
      </p:sp>
      <p:sp>
        <p:nvSpPr>
          <p:cNvPr id="19" name="Fashion q row 3"/>
          <p:cNvSpPr/>
          <p:nvPr/>
        </p:nvSpPr>
        <p:spPr>
          <a:xfrm>
            <a:off x="457200" y="287121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ashion q number 3"/>
          <p:cNvSpPr/>
          <p:nvPr/>
        </p:nvSpPr>
        <p:spPr>
          <a:xfrm>
            <a:off x="594360" y="29443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1" name="Fashion q text 3"/>
          <p:cNvSpPr txBox="1"/>
          <p:nvPr/>
        </p:nvSpPr>
        <p:spPr>
          <a:xfrm>
            <a:off x="1051560" y="2871216"/>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Country dummies: </a:t>
            </a:r>
            <a:r>
              <a:rPr sz="1200" b="0" lang="en-GB">
                <a:solidFill>
                  <a:schemeClr val="tx1"/>
                </a:solidFill>
              </a:rPr>
              <a:t>+ C(country, Treatment("DE")) + C(season); per cent effects; two reasons</a:t>
            </a:r>
          </a:p>
        </p:txBody>
      </p:sp>
      <p:sp>
        <p:nvSpPr>
          <p:cNvPr id="22" name="Fashion q row 4"/>
          <p:cNvSpPr/>
          <p:nvPr/>
        </p:nvSpPr>
        <p:spPr>
          <a:xfrm>
            <a:off x="457200" y="339242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ashion q number 4"/>
          <p:cNvSpPr/>
          <p:nvPr/>
        </p:nvSpPr>
        <p:spPr>
          <a:xfrm>
            <a:off x="594360" y="346557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4" name="Fashion q text 4"/>
          <p:cNvSpPr txBox="1"/>
          <p:nvPr/>
        </p:nvSpPr>
        <p:spPr>
          <a:xfrm>
            <a:off x="1051560" y="3392424"/>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Price, discount, sizes: </a:t>
            </a:r>
            <a:r>
              <a:rPr sz="1200" b="0" lang="en-GB">
                <a:solidFill>
                  <a:schemeClr val="tx1"/>
                </a:solidFill>
              </a:rPr>
              <a:t>add them; is the price coefficient a price elasticity? Check with HC3</a:t>
            </a:r>
          </a:p>
        </p:txBody>
      </p:sp>
      <p:sp>
        <p:nvSpPr>
          <p:cNvPr id="25" name="Fashion q row 5"/>
          <p:cNvSpPr/>
          <p:nvPr/>
        </p:nvSpPr>
        <p:spPr>
          <a:xfrm>
            <a:off x="457200" y="391363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Fashion q number 5"/>
          <p:cNvSpPr/>
          <p:nvPr/>
        </p:nvSpPr>
        <p:spPr>
          <a:xfrm>
            <a:off x="594360" y="398678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7" name="Fashion q text 5"/>
          <p:cNvSpPr txBox="1"/>
          <p:nvPr/>
        </p:nvSpPr>
        <p:spPr>
          <a:xfrm>
            <a:off x="1051560" y="3913632"/>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Switzerland: </a:t>
            </a:r>
            <a:r>
              <a:rPr sz="1200" b="0" lang="en-GB">
                <a:solidFill>
                  <a:schemeClr val="tx1"/>
                </a:solidFill>
              </a:rPr>
              <a:t>CH vs DE and AT; why is nmv / (sold × price) higher? Invest or not?</a:t>
            </a:r>
          </a:p>
        </p:txBody>
      </p:sp>
      <p:sp>
        <p:nvSpPr>
          <p:cNvPr id="28" name="Fashion file"/>
          <p:cNvSpPr txBox="1"/>
          <p:nvPr/>
        </p:nvSpPr>
        <p:spPr>
          <a:xfrm>
            <a:off x="457200" y="457200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sessions/01-foundations/fashion_exercise.qmd</a:t>
            </a:r>
            <a:r>
              <a:rPr sz="1200" b="0" lang="en-GB">
                <a:solidFill>
                  <a:schemeClr val="tx1"/>
                </a:solidFill>
              </a:rPr>
              <a:t>  (data: data/fashion/fashion_countries.csv)</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s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s number 1"/>
          <p:cNvSpPr/>
          <p:nvPr/>
        </p:nvSpPr>
        <p:spPr>
          <a:xfrm>
            <a:off x="594360" y="137160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s text 1"/>
          <p:cNvSpPr txBox="1"/>
          <p:nvPr/>
        </p:nvSpPr>
        <p:spPr>
          <a:xfrm>
            <a:off x="1051560" y="1234440"/>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Look, then test, then fix: </a:t>
            </a:r>
            <a:r>
              <a:rPr sz="1200" b="0" lang="en-GB">
                <a:solidFill>
                  <a:schemeClr val="tx1"/>
                </a:solidFill>
              </a:rPr>
              <a:t>residual and Q-Q plots; RESET, Breusch-Pagan, Jarque-Bera, VIF, Cook's distance</a:t>
            </a:r>
          </a:p>
        </p:txBody>
      </p:sp>
      <p:sp>
        <p:nvSpPr>
          <p:cNvPr id="13" name="Takeaways row 2"/>
          <p:cNvSpPr/>
          <p:nvPr/>
        </p:nvSpPr>
        <p:spPr>
          <a:xfrm>
            <a:off x="457200" y="190195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s number 2"/>
          <p:cNvSpPr/>
          <p:nvPr/>
        </p:nvSpPr>
        <p:spPr>
          <a:xfrm>
            <a:off x="594360" y="20391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s text 2"/>
          <p:cNvSpPr txBox="1"/>
          <p:nvPr/>
        </p:nvSpPr>
        <p:spPr>
          <a:xfrm>
            <a:off x="1051560" y="1901952"/>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In assumption tests </a:t>
            </a:r>
            <a:r>
              <a:rPr sz="1200" b="0" lang="en-GB">
                <a:solidFill>
                  <a:schemeClr val="tx1"/>
                </a:solidFill>
              </a:rPr>
              <a:t>a small p is bad news</a:t>
            </a:r>
          </a:p>
        </p:txBody>
      </p:sp>
      <p:sp>
        <p:nvSpPr>
          <p:cNvPr id="16" name="Takeaways row 3"/>
          <p:cNvSpPr/>
          <p:nvPr/>
        </p:nvSpPr>
        <p:spPr>
          <a:xfrm>
            <a:off x="457200" y="256946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s number 3"/>
          <p:cNvSpPr/>
          <p:nvPr/>
        </p:nvSpPr>
        <p:spPr>
          <a:xfrm>
            <a:off x="594360" y="27066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s text 3"/>
          <p:cNvSpPr txBox="1"/>
          <p:nvPr/>
        </p:nvSpPr>
        <p:spPr>
          <a:xfrm>
            <a:off x="1051560" y="2569464"/>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Dummies: </a:t>
            </a:r>
            <a:r>
              <a:rPr sz="1200" b="0" lang="en-GB">
                <a:solidFill>
                  <a:schemeClr val="tx1"/>
                </a:solidFill>
              </a:rPr>
              <a:t>k − 1 for k groups; each b is a difference to the reference; count the 1s</a:t>
            </a:r>
          </a:p>
        </p:txBody>
      </p:sp>
      <p:sp>
        <p:nvSpPr>
          <p:cNvPr id="19" name="Takeaways row 4"/>
          <p:cNvSpPr/>
          <p:nvPr/>
        </p:nvSpPr>
        <p:spPr>
          <a:xfrm>
            <a:off x="457200" y="32369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s number 4"/>
          <p:cNvSpPr/>
          <p:nvPr/>
        </p:nvSpPr>
        <p:spPr>
          <a:xfrm>
            <a:off x="594360" y="3374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s text 4"/>
          <p:cNvSpPr txBox="1"/>
          <p:nvPr/>
        </p:nvSpPr>
        <p:spPr>
          <a:xfrm>
            <a:off x="1051560" y="3236976"/>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Logs: </a:t>
            </a:r>
            <a:r>
              <a:rPr sz="1200" b="0" lang="en-GB">
                <a:solidFill>
                  <a:schemeClr val="tx1"/>
                </a:solidFill>
              </a:rPr>
              <a:t>elasticities, per cent effects, better residuals; compare models by tests, not R²</a:t>
            </a:r>
          </a:p>
        </p:txBody>
      </p:sp>
      <p:sp>
        <p:nvSpPr>
          <p:cNvPr id="22" name="Takeaways row 5"/>
          <p:cNvSpPr/>
          <p:nvPr/>
        </p:nvSpPr>
        <p:spPr>
          <a:xfrm>
            <a:off x="457200" y="390448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s number 5"/>
          <p:cNvSpPr/>
          <p:nvPr/>
        </p:nvSpPr>
        <p:spPr>
          <a:xfrm>
            <a:off x="594360" y="404164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s text 5"/>
          <p:cNvSpPr txBox="1"/>
          <p:nvPr/>
        </p:nvSpPr>
        <p:spPr>
          <a:xfrm>
            <a:off x="1051560" y="3904488"/>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Curves: </a:t>
            </a:r>
            <a:r>
              <a:rPr sz="1200" b="0" lang="en-GB">
                <a:solidFill>
                  <a:schemeClr val="tx1"/>
                </a:solidFill>
              </a:rPr>
              <a:t>squares and logs keep OLS linear in b; never read a curve beyond the data</a:t>
            </a:r>
          </a:p>
        </p:txBody>
      </p:sp>
      <p:sp>
        <p:nvSpPr>
          <p:cNvPr id="25" name="Takeaway next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Takeaway next" descr=""/>
          <p:cNvPicPr>
            <a:picLocks noChangeAspect="1"/>
          </p:cNvPicPr>
          <p:nvPr/>
        </p:nvPicPr>
        <p:blipFill>
          <a:blip r:embed="rId3"/>
          <a:stretch>
            <a:fillRect/>
          </a:stretch>
        </p:blipFill>
        <p:spPr>
          <a:xfrm>
            <a:off x="658368" y="4617720"/>
            <a:ext cx="365760" cy="365760"/>
          </a:xfrm>
          <a:prstGeom prst="rect">
            <a:avLst/>
          </a:prstGeom>
        </p:spPr>
      </p:pic>
      <p:sp>
        <p:nvSpPr>
          <p:cNvPr id="27" name="Takeaway next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Homework: </a:t>
            </a:r>
            <a:r>
              <a:rPr sz="1200" b="0" lang="en-GB">
                <a:solidFill>
                  <a:schemeClr val="bg1"/>
                </a:solidFill>
              </a:rPr>
              <a:t>coding exercise 2 with your personal data, brief on Canvas.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References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Academic</a:t>
            </a:r>
          </a:p>
        </p:txBody>
      </p:sp>
      <p:pic>
        <p:nvPicPr>
          <p:cNvPr id="12" name="Icon ref 1" descr=""/>
          <p:cNvPicPr>
            <a:picLocks noChangeAspect="1"/>
          </p:cNvPicPr>
          <p:nvPr/>
        </p:nvPicPr>
        <p:blipFill>
          <a:blip r:embed="rId3"/>
          <a:stretch>
            <a:fillRect/>
          </a:stretch>
        </p:blipFill>
        <p:spPr>
          <a:xfrm>
            <a:off x="4064508" y="1280160"/>
            <a:ext cx="310896" cy="310896"/>
          </a:xfrm>
          <a:prstGeom prst="rect">
            <a:avLst/>
          </a:prstGeom>
        </p:spPr>
      </p:pic>
      <p:sp>
        <p:nvSpPr>
          <p:cNvPr id="13" name="Ref 1 body"/>
          <p:cNvSpPr/>
          <p:nvPr/>
        </p:nvSpPr>
        <p:spPr>
          <a:xfrm>
            <a:off x="45720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 1 text"/>
          <p:cNvSpPr txBox="1"/>
          <p:nvPr/>
        </p:nvSpPr>
        <p:spPr>
          <a:xfrm>
            <a:off x="621792" y="1737360"/>
            <a:ext cx="3744468" cy="3291840"/>
          </a:xfrm>
          <a:prstGeom prst="rect">
            <a:avLst/>
          </a:prstGeom>
          <a:noFill/>
        </p:spPr>
        <p:txBody>
          <a:bodyPr wrap="square" lIns="0" rIns="0" tIns="0" bIns="0" anchor="t">
            <a:noAutofit/>
          </a:bodyPr>
          <a:lstStyle/>
          <a:p>
            <a:pPr algn="l">
              <a:spcAft>
                <a:spcPts val="500"/>
              </a:spcAft>
            </a:pPr>
            <a:r>
              <a:rPr sz="1100" b="1" lang="en-GB">
                <a:solidFill>
                  <a:schemeClr val="tx2"/>
                </a:solidFill>
              </a:rPr>
              <a:t>Skiera, B., Reiner, J. &amp; Albers, S. (2022). </a:t>
            </a:r>
            <a:r>
              <a:rPr sz="1100" b="0" lang="en-GB">
                <a:solidFill>
                  <a:schemeClr val="tx1"/>
                </a:solidFill>
              </a:rPr>
              <a:t>Regression analysis. In Homburg et al. (eds), Handbook of Market Research, 299–327. Springer.</a:t>
            </a:r>
          </a:p>
          <a:p>
            <a:pPr algn="l">
              <a:spcAft>
                <a:spcPts val="500"/>
              </a:spcAft>
            </a:pPr>
            <a:r>
              <a:rPr sz="1100" b="1" lang="en-GB">
                <a:solidFill>
                  <a:schemeClr val="tx2"/>
                </a:solidFill>
              </a:rPr>
              <a:t>Bojinov, I. I., Parzen, M. &amp; Hamilton, P. J. (2025). </a:t>
            </a:r>
            <a:r>
              <a:rPr sz="1100" b="0" lang="en-GB">
                <a:solidFill>
                  <a:schemeClr val="tx1"/>
                </a:solidFill>
              </a:rPr>
              <a:t>Linear Regression. HBS note 9-622-100 (Canvas).</a:t>
            </a:r>
          </a:p>
          <a:p>
            <a:pPr algn="l">
              <a:spcAft>
                <a:spcPts val="500"/>
              </a:spcAft>
            </a:pPr>
            <a:r>
              <a:rPr sz="1100" b="1" lang="en-GB">
                <a:solidFill>
                  <a:schemeClr val="tx2"/>
                </a:solidFill>
              </a:rPr>
              <a:t>Wooldridge, J. M. (2025). </a:t>
            </a:r>
            <a:r>
              <a:rPr sz="1100" b="0" lang="en-GB">
                <a:solidFill>
                  <a:schemeClr val="tx1"/>
                </a:solidFill>
              </a:rPr>
              <a:t>Introductory Econometrics, 8th ed. Cengage. Ch. 6 to 9.</a:t>
            </a:r>
          </a:p>
          <a:p>
            <a:pPr algn="l">
              <a:spcAft>
                <a:spcPts val="500"/>
              </a:spcAft>
            </a:pPr>
            <a:r>
              <a:rPr sz="1100" b="1" lang="en-GB">
                <a:solidFill>
                  <a:schemeClr val="tx2"/>
                </a:solidFill>
              </a:rPr>
              <a:t>Hanssens, D. M., Parsons, L. J. &amp; Schultz, R. L. (2001). </a:t>
            </a:r>
            <a:r>
              <a:rPr sz="1100" b="0" lang="en-GB">
                <a:solidFill>
                  <a:schemeClr val="tx1"/>
                </a:solidFill>
              </a:rPr>
              <a:t>Market Response Models. Kluwer.</a:t>
            </a:r>
          </a:p>
          <a:p>
            <a:pPr algn="l">
              <a:spcAft>
                <a:spcPts val="500"/>
              </a:spcAft>
            </a:pPr>
            <a:r>
              <a:rPr sz="1100" b="1" lang="en-GB">
                <a:solidFill>
                  <a:schemeClr val="tx2"/>
                </a:solidFill>
              </a:rPr>
              <a:t>Hair, J. F. et al. (2019). </a:t>
            </a:r>
            <a:r>
              <a:rPr sz="1100" b="0" lang="en-GB">
                <a:solidFill>
                  <a:schemeClr val="tx1"/>
                </a:solidFill>
              </a:rPr>
              <a:t>Multivariate Data Analysis, 8th ed. Cengage. Ch. 5.</a:t>
            </a:r>
          </a:p>
        </p:txBody>
      </p:sp>
      <p:sp>
        <p:nvSpPr>
          <p:cNvPr id="15" name="Ref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f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Learning resources</a:t>
            </a:r>
          </a:p>
        </p:txBody>
      </p:sp>
      <p:pic>
        <p:nvPicPr>
          <p:cNvPr id="17" name="Icon ref 2" descr=""/>
          <p:cNvPicPr>
            <a:picLocks noChangeAspect="1"/>
          </p:cNvPicPr>
          <p:nvPr/>
        </p:nvPicPr>
        <p:blipFill>
          <a:blip r:embed="rId4"/>
          <a:stretch>
            <a:fillRect/>
          </a:stretch>
        </p:blipFill>
        <p:spPr>
          <a:xfrm>
            <a:off x="8247888" y="1280160"/>
            <a:ext cx="310896" cy="310896"/>
          </a:xfrm>
          <a:prstGeom prst="rect">
            <a:avLst/>
          </a:prstGeom>
        </p:spPr>
      </p:pic>
      <p:sp>
        <p:nvSpPr>
          <p:cNvPr id="18" name="Ref 2 body"/>
          <p:cNvSpPr/>
          <p:nvPr/>
        </p:nvSpPr>
        <p:spPr>
          <a:xfrm>
            <a:off x="464058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2 text"/>
          <p:cNvSpPr txBox="1"/>
          <p:nvPr/>
        </p:nvSpPr>
        <p:spPr>
          <a:xfrm>
            <a:off x="4805172" y="1737360"/>
            <a:ext cx="3744468" cy="3291840"/>
          </a:xfrm>
          <a:prstGeom prst="rect">
            <a:avLst/>
          </a:prstGeom>
          <a:noFill/>
        </p:spPr>
        <p:txBody>
          <a:bodyPr wrap="square" lIns="0" rIns="0" tIns="0" bIns="0" anchor="t">
            <a:noAutofit/>
          </a:bodyPr>
          <a:lstStyle/>
          <a:p>
            <a:pPr algn="l">
              <a:spcAft>
                <a:spcPts val="500"/>
              </a:spcAft>
            </a:pPr>
            <a:r>
              <a:rPr sz="1100" b="1" lang="en-GB">
                <a:solidFill>
                  <a:schemeClr val="tx2"/>
                </a:solidFill>
              </a:rPr>
              <a:t>James, G. et al. (2023). </a:t>
            </a:r>
            <a:r>
              <a:rPr sz="1100" b="0" lang="en-GB">
                <a:solidFill>
                  <a:schemeClr val="tx1"/>
                </a:solidFill>
              </a:rPr>
              <a:t>ISLP, ch. 3.3 and the Python lab (free).</a:t>
            </a:r>
          </a:p>
          <a:p>
            <a:pPr algn="l">
              <a:spcAft>
                <a:spcPts val="500"/>
              </a:spcAft>
            </a:pPr>
            <a:r>
              <a:rPr sz="1100" b="1" lang="en-GB">
                <a:solidFill>
                  <a:schemeClr val="tx2"/>
                </a:solidFill>
              </a:rPr>
              <a:t>statsmodels. </a:t>
            </a:r>
            <a:r>
              <a:rPr sz="1100" b="0" lang="en-GB">
                <a:solidFill>
                  <a:schemeClr val="tx1"/>
                </a:solidFill>
              </a:rPr>
              <a:t>Regression diagnostics and specification tests (documentation).</a:t>
            </a:r>
          </a:p>
          <a:p>
            <a:pPr algn="l">
              <a:spcAft>
                <a:spcPts val="500"/>
              </a:spcAft>
            </a:pPr>
            <a:r>
              <a:rPr sz="1100" b="1" lang="en-GB">
                <a:solidFill>
                  <a:schemeClr val="tx2"/>
                </a:solidFill>
              </a:rPr>
              <a:t>Gelman, Hill &amp; Vehtari (2020). </a:t>
            </a:r>
            <a:r>
              <a:rPr sz="1100" b="0" lang="en-GB">
                <a:solidFill>
                  <a:schemeClr val="tx1"/>
                </a:solidFill>
              </a:rPr>
              <a:t>Regression and Other Stories, ch. 11 to 12 (free PDF).</a:t>
            </a:r>
          </a:p>
          <a:p>
            <a:pPr algn="l">
              <a:spcAft>
                <a:spcPts val="500"/>
              </a:spcAft>
            </a:pPr>
            <a:r>
              <a:rPr sz="1100" b="1" lang="en-GB">
                <a:solidFill>
                  <a:schemeClr val="tx2"/>
                </a:solidFill>
              </a:rPr>
              <a:t>Turrell, A. </a:t>
            </a:r>
            <a:r>
              <a:rPr sz="1100" b="0" lang="en-GB">
                <a:solidFill>
                  <a:schemeClr val="tx1"/>
                </a:solidFill>
              </a:rPr>
              <a:t>Coding for Economists: regression diagnostics (free).</a:t>
            </a:r>
          </a:p>
          <a:p>
            <a:pPr algn="l">
              <a:spcAft>
                <a:spcPts val="500"/>
              </a:spcAft>
            </a:pPr>
            <a:r>
              <a:rPr sz="1100" b="1" lang="en-GB">
                <a:solidFill>
                  <a:schemeClr val="tx2"/>
                </a:solidFill>
              </a:rPr>
              <a:t>polars. </a:t>
            </a:r>
            <a:r>
              <a:rPr sz="1100" b="0" lang="en-GB">
                <a:solidFill>
                  <a:schemeClr val="tx1"/>
                </a:solidFill>
              </a:rPr>
              <a:t>when/then/otherwise and to_dummies (documentation).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