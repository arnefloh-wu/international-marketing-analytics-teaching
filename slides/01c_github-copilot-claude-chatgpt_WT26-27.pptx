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89" Type="http://schemas.openxmlformats.org/officeDocument/2006/relationships/slide" Target="slides/slide77.xml"/><Relationship Id="rId90" Type="http://schemas.openxmlformats.org/officeDocument/2006/relationships/slide" Target="slides/slide78.xml"/><Relationship Id="rId91" Type="http://schemas.openxmlformats.org/officeDocument/2006/relationships/slide" Target="slides/slide79.xml"/><Relationship Id="rId92" Type="http://schemas.openxmlformats.org/officeDocument/2006/relationships/slide" Target="slides/slide80.xml"/><Relationship Id="rId93" Type="http://schemas.openxmlformats.org/officeDocument/2006/relationships/slide" Target="slides/slide81.xml"/><Relationship Id="rId94" Type="http://schemas.openxmlformats.org/officeDocument/2006/relationships/slide" Target="slides/slide82.xml"/><Relationship Id="rId95" Type="http://schemas.openxmlformats.org/officeDocument/2006/relationships/slide" Target="slides/slide83.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6.xml"/><Relationship Id="rId99" Type="http://schemas.openxmlformats.org/officeDocument/2006/relationships/slide" Target="slides/slide87.xml"/><Relationship Id="rId100" Type="http://schemas.openxmlformats.org/officeDocument/2006/relationships/slide" Target="slides/slide88.xml"/><Relationship Id="rId101" Type="http://schemas.openxmlformats.org/officeDocument/2006/relationships/slide" Target="slides/slide89.xml"/><Relationship Id="rId102" Type="http://schemas.openxmlformats.org/officeDocument/2006/relationships/slide" Target="slides/slide90.xml"/><Relationship Id="rId103" Type="http://schemas.openxmlformats.org/officeDocument/2006/relationships/slide" Target="slides/slide91.xml"/><Relationship Id="rId104" Type="http://schemas.openxmlformats.org/officeDocument/2006/relationships/slide" Target="slides/slide92.xml"/><Relationship Id="rId105" Type="http://schemas.openxmlformats.org/officeDocument/2006/relationships/slide" Target="slides/slide93.xml"/><Relationship Id="rId106" Type="http://schemas.openxmlformats.org/officeDocument/2006/relationships/slide" Target="slides/slide9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step-by-step guide in three parts: GitHub with GitHub Desktop (Parts 1 to 6), GitHub Copilot inside Positron (Parts 7 to 12), and, optional, Claude and ChatGPT in Positron (Parts 13 to 18). Sources: GitHub Docs, positron.posit.co, code.claude.com, claude.com and OpenAI's Codex documentation, checked 14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first, because Copilot needs the GitHub account and the GitHub Education approval. Then Copilot in Positron, the course default. Claude and ChatGPT are optional extras for students who already have an account or want a specific model; nobody has to pay for anything.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the version-control program: it records snapshots (commits) of a folder. GitHub is the website that stores a copy of that folder online, the remote repository. GitHub Desktop is a free app that runs Git for you with buttons; it installs its own Git, so nothing else is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personal account per person, for life. Keep it after your studies: it becomes part of your CV.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GitHub's terms allow one personal account per person. Use your WU address, or add it later as a second address: GitHub Education needs it verified on the account. The free plan has unlimited public and private repositories and unlimited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requires 2FA for accounts that contribute code; once your account is selected you have 45 days to set it up. GitHub recommends an authenticator (TOTP) app as the main method and GitHub Mobile or a passkey as backup. Recovery codes are the only way back in if the phone is lost: store them in a password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commit carries an e-mail address; in a public repository anyone can read it. GitHub offers a noreply address of the form ID+USERNAME@users.noreply.github.com. Turn on Keep my email addresses private, then pick the noreply address as commit e-mail in GitHub Desktop (Part 3). Commits still count as yours.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student benefits, including GitHub Copilot. Apply early: the review can take several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GitHub Docs (October 2026): verified students get free access to GitHub Copilot and its premium features, free GitHub Codespaces up to 180 core hours a month, and the partner offers of the Student Developer Pack. Benefits are re-checked; when your studies end, they end. Copilot plan details change often: check github.com/settings/copilot.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enrolled in a degree- or diploma-granting programme, a personal GitHub account, at least 13 years old, and documents that prove current student status. If recent applicants from WU verified with their academic e-mail, GitHub asks you for yours too, so add and verify the WU address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lives in your GitHub settings under Education benefits. Use a clear, well-lit photo of the document; blurry images and documents without a current date are the most common reasons for rejection. The decision arrives by e-mail; the status is also shown on the same settings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Troubleshooting access. An academic e-mail can only be used for one account's Student Pack; a second account is against GitHub's terms, so merge accounts instead. After a rejection you can reapply straight away with better proof.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is free and brings its own Git. Supported: Windows 10 64-bit or later, macOS 12 or later; no Linux.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from desktop.github.com. On Windows it installs per user, no admin rights needed, and starts by itself. On macOS the download is a zip file containing the app; move it to Applications so updates work. GitHub Desktop updates itself; check under Help → About GitHub Desktop (Windows) or GitHub Desktop → About (macOS).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Sign-in always runs in the browser, including 2FA. If the browser does not return you to the app, click the link on the browser page again. Errors such as Bad credentials: sign out and in again (same pane).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Desktop writes these into your global Git configuration. Choose the noreply address from Part 1 so your real address never appears in a public commit. If the address does not belong to your account, GitHub Desktop warns you before committing and the commits will not show on your profile.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Cloning downloads a repository with its full history and keeps the link to GitHub, so updates arrive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 A starts on the website: the Code button offers Open with GitHub Desktop. Way B starts in the app: the GitHub.com tab lists your own repositories; for any other public repository paste its URL in the URL tab. The course repository is public, so no invitation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Cloud-synced folders (OneDrive, iCloud Drive, Dropbox) and Windows folder redirection break Git: two programs then fight over the same files. Spaces and umlauts in paths cause trouble in Python and Quarto.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treats the opened folder as the project: the Files pane, the terminal and the Python environment all start there. GitHub Desktop and Positron work side by side on the same folder: edit in Positron, commit and push in GitHub Desktop.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before you start, commit when a step works, push when you stop. Show it live with a small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sync button in the repository bar changes its label: Fetch origin (nothing known yet), Pull origin with a down arrow and a number (new commits on GitHub), Push origin with an up arrow (your commits not yet on GitHub). In the course repository you only ever pull.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changed a file in the course repository that the update also changes, Git refuses to overwrite your work. Easiest fix for students: right-click the file in the Changes tab, Discard changes, then pull. That is why everyone copies files into their own folder before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Changes tab lists every changed file: green plus added, yellow dot modified, red minus deleted. Only ticked files go into the commit. With Copilot access, the Copilot button under the summary drafts a commit message from the changes; check it before you commit.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Push only works where you have write access: your own repositories and those you were invited to. If you try to push to the course repository, GitHub Desktop offers to create a fork; decline. Pushes with a file over 100 MiB are rejected; GitHub warns from 50 MiB.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Discarded changes go to the Trash or Recycle Bin and can be restored from there until it is emptied. Undo works for the last commit if it is not pushed yet. Revert creates a new commit that reverses an old one and is safe after pushing. A merge conflict only happens when two people change the same lines.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pushed, a file stays in the history even after you delete it, and in a public repository anyone may have copied it. The .gitignore file lists what Git should not track. GitHub Desktop: right-click a file in Changes → Ignore file, or Repository → Repository settings → Ignored files. New repositories: choose the Python template under Git ignore, which already excludes .venv.</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is the safe default. Public is for work you are happy for the whole world, and future employers, to see.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free and unlimited on GitHub Free, with unlimited collaborators. In a private repository only you and the people you invite see anything. A public repository can be read, cloned and forked by anyone on the internet, but only invited collaborators can push.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repository creates the folder, a README and a .gitignore on your laptop. Publish repository uploads it; Keep this code private is ticked by default: leave it ticked. For an existing folder: File → Add local repository; GitHub Desktop offers to create a repository there, then publish it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Inviting happens on github.com, not in GitHub Desktop. Collaborators on a personal repository can read and push. The invitation arrives by e-mail and in github.com notifications; it expires after seven days. Then every member clones the repository (Part 4) and uses pull, commit, push.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owner (admin) can change visibility, on github.com under Settings → General → Danger Zone. From private to public: the code becomes visible to everyone and anyone can fork it, including the full commit history, so check the history for secrets and personal data first. From public to private: stars and watchers are erased and existing public forks stay public.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solved by signing out and in again, or by pulling before pushing. Log files: Help → Show Logs in Explorer (Windows) or Show Logs in Finder (macOS).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Everything except the GitHub Education approval should be done today.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names and what Copilot does in Positron, then the plans on github.com. Connecting comes in Part 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web tutorials still describe Positron Assistant, which was a preview from Positron 2025.07 and was removed in 2026.07. Its successor Posit Assistant is the default AI in Positron since 2026.07. The current release is Positron 2026.10.0. If a tutorial mentions Ask/Edit/Agent modes or the setting positron.assistant.enable, it is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sends your prompt and context to the provider you connect. Only two providers give both chat and code completions: GitHub Copilot (free for students) and Posit AI Pass (paid, 20 USD a month). Anthropic and OpenAI need a paid API key and do chat only; a Claude Pro subscription does not work. GitHub Copilot is marked Preview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1 June 2026 GitHub bills Copilot in AI credits (1 credit = 1 US cent); allowances reset on the 1st of each month at 00:00 UTC. GitHub Docs give no number for the Student credit allowance; third-party guides say 200 a month, unconfirmed. Both free plans use automatic model selection only. Paid plans start at 10 USD a month: students should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(set up Copilot for students). Approval for GitHub Education and activation of Copilot Student are separate steps and can take several days. New Student sign-ups were paused from 20 April 2026 and reopened gradually from 16 June 2026 (GitHub Community announcement). If the page offers a paid checkout: do not pay; wait and try again, or use Copilot Free meanwhile.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announced that from 24 April 2026 it may use interactions with Copilot Free, Pro, Pro+ and Max to train models unless users opt out; the Student plan is not named, so everyone checks the setting. Posit does not see prompts: they go from the laptop straight to GitHub/Microsoft, whose terms apply.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2026.07 or later is needed; the course uses 2026.10. Everything else is on by default.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 → Check for Updates installs the current Positron. Posit Assistant only runs in trusted workspaces; untrusted ones run in Restricted mode. The AI settings ai.enabled and assistant.enabled are on by default; nothing is active until a provider is connected.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command name in Positron 2026.10: Authentication: Configure Language Model Providers. The same entry is in the Accounts menu (person icon, bottom left). If Positron already has a GitHub session, it asks whether to reuse it. Signing in to GitHub alone, for example for Git, does NOT turn on Copilot.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Create Diagnostic Report lists enabled features, signed-in providers and models; read it before sharing, because keys are redacted but URLs are not. Since 2026.08 the Copilot status-bar icon shows usage.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includes GitHub's device-code sign-in. It is used automatically when the normal redirect fails and can be forced with the setting github-authentication.preferDeviceCodeFlow. Since 2026.01 Copilot follows the proxy settings (http.proxy), relevant on some university or company networks.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can read your session and run code, but only after you say yes.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 with its icon in the activity bar or View: Show Posit Assistant; View: Agent Layout opens it in the editor area. Attach files with the paperclip, drag and drop, paste, or type @ to mention a file. Thinking effort trades speed for care. A token counter shows how full the conversation is; long ones are compacted.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connected to Python, Posit Assistant automatically includes the language and version, variable names and types, data-frame shapes and columns, plots and console history, plus open files and the project structure. Since 2026.10 it can also operate Positron itself in preview (Data Explorer, Viewer). Files can be excluded with the setting positron.assistant.aiExcludes; console history with console.historyApiEnabled.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time Posit Assistant wants to run code or change files, it asks: Accept, Decline, or reply with what to do instead. Approval can be given once, for the session or for the project. Approval modes: Normal (default), Restricted (every action confirmed; automatic in untrusted folders), Auto and YOLO. Students stay in Normal; YOLO is never used in this course. Plan mode (/plan) explores and writes a plan without changing code.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the slash command at the start of a message. /report writes a Quarto .qmd from the conversation; Preview it and check that it renders. Fix and Explain appear on errors in the Console and, since 2026.08, in Quarto inline output; they send the error to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request names the file, the packages and the output. Posit's own Python tutorial prompt uses pandas, so ask for polars explicitly. After Accept, compare the numbers with the course results: slope about -669 and R-squared 0.88 for sales ~ price1.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suggests the next lines in grey as you type, in .py files and in Quarto code cells.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from Positron's completion docs. Manual trigger: Alt+\ on Windows, Option+\ on macOS. Markdown and plain text are off by default, so suggestions appear in code cells but not in the prose of a .qmd.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status-bar menu is the easy way. The setting github.copilot.enable controls languages, default {"*": true, "plaintext": false, "markdown": false}. editor.inlineSuggest.enabled turns off all inline suggestions. Some students learn better with completions off while practising; turn them on for the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makes you faster, not right. You are responsible for every number you report.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Posit's advice: name the files, the packages and the outputs, and predict what a correct answer looks like before you send. Keep one topic per conversation; start a new one with /new.</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Typical AI errors in this course: pandas instead of polars, a wrong column name, the wrong test or model, invented numbers in explanations, and numbers in text that do not match the output. The course rules treat fabricated results as misconduct.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syllabus: AI assistants are expected and encouraged; students verify outputs, document prompts that produced non-trivial code (prompt log in coding exercises, appendix of the case study report), and the written exam is closed book. Fabricated references or results are misconduct under WU rules.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 missing sign-in, an old Positron, or an untrusted folder.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Positron's AI troubleshooting pages. AI: Create Diagnostic Report shows what is on and which providers are signed in; read it before sending, URLs are not redacted.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Mapping from the deprecated Positron Assistant to Posit Assistant (Positron 2026.07 and later). The old VS Code-style Copilot Chat with Ask, Edit and Agent and inline chat is hidden by default; it can be brought back with chat.disableAIFeatures = false, but the course uses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Copilot Student may still be pending; Copilot Free covers the time until approval.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for students who already have a Claude or ChatGPT account or want a specific model. GitHub Copilot stays the course default; nobody has to pay for anything.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1 is built into Positron. Routes 2 and 3 use the vendors' own coding agents, Claude Code and Codex. Route 4 is new and experimental in Positron 2026.10: a built-in MCP server lets these agents work in the live Python session. Code completions (grey ghost text) are not available through Claude or OpenAI in any route; only GitHub Copilot and Posit AI Pass provide them.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Posit's documentation: Anthropic does not include API usage in Pro and Max, so signing in with a Claude subscription does not work in Posit Assistant. The same applies to ChatGPT Plus: the OpenAI API is billed separately on platform.openai.com. The free claude.ai plan does not include Claude Code; Codex is listed on all ChatGPT plans, with limits that depend on the plan.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Positron's built-in chat. It sees your session, plots and files, and asks before it runs code. Chat only.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Positron's provider documentation. API credit is prepaid in the Claude Console (Settings → Billing → Buy credits); credits expire after one year and are not refundable. Set a low monthly limit and turn off auto-reload. API use is not used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 API billing is prepaid: the first purchase is at least 5 USD; auto-recharge is on by default and can be switched off. A ChatGPT subscription does not give API credit. These steps follow OpenAI's help pages; check the live pages, menus move.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checks the key by asking the provider for its model list. The key is stored in the operating system's secure storage (Keychain on macOS), not in ~/.posit/ai/providers.json. Environment variables ANTHROPIC_API_KEY and OPENAI_API_KEY also work, but a Positron started from the dock or Start menu may not see them: pasting the key is simpler.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API prices per million tokens (input/output), claude.com/pricing, October 2026. Worked example (own calculation): a question with 5,000 tokens of context and a 1,000-token answer costs 5,000 × 2 / 10^6 + 1,000 × 10 / 10^6 = 0.02 USD with Sonnet 5.5. Agent sessions that read many files cost far more. OpenAI prices: see platform.openai.com/pricing.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coding agents exist as extensions for VS Code-based editors. Positron installs extensions from an Open VSX mirror. Neither vendor officially supports Positron, but both are reported to work; check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documentation says the extension installs in VS Code forks from the Open VSX registry. It needs a paid Claude plan (Pro, Max, Team, Enterprise) or a Console account; no API key. It will not run in an untrusted folder. It does not put the claude command on PATH: for the terminal, install the CLI (Part 3). Anthropic has no official Positron support; users report it works, including on Windows 11.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extension's ID is openai.chatgpt, named Codex – OpenAI's coding agent. It signs in with a ChatGPT account or an API key. OpenAI lists Codex on Free, Go, Plus, Pro, Business, Edu and Enterprise with plan-dependent limits; cloud tasks need Plus or higher. Its availability in Positron's gallery was shown in a 2025 blog post (Stephen Turner); verify it before class.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Positron's default gallery is Posit Public Package Manager (p3m.dev), which mirrors the Open VSX catalog. The setting positron.extensions.gallerySource can point to Open VSX directly. A downloaded .vsix file can be installed with Extensions: Install from VSIX. The CLI route always works.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command-line versions are documented to work in any terminal, including Positron's. Install once, then type claude or codex in the project folder.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native installer needs no Node.js and updates itself. Windows runs natively (Windows 10 1809 or later); Git for Windows is optional, without it Claude uses PowerShell. Alternatives: winget install Anthropic.ClaudeCode, or brew install --cask claude-code. After installing, open a new terminal.</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needed to run claude in Positron's terminal (Terminal &gt; New Terminal). Account: a paid Claude plan (Pro, Max, Team, Enterprise) or a Claude Console account; the free claude.ai plan does not include Claude Code, and no API key is needed. Install once with the native installer of the previous slide (no admin rights, no WSL; Git for Windows optional, without it Claude runs commands in PowerShell), or with winget install Anthropic.ClaudeCode or brew install --cask claude-code, which do not update themselves. Check in a new terminal tab with claude --version and claude doctor. If the command is not found (Windows PowerShell: 'not recognized as the name of a cmdlet', German: 'wurde nicht als Name eines Cmdlet ... erkannt'), quit Positron completely and start it again; closing the terminal tab is not enough. Start claude in the project folder, sign in in the browser, check with /status that the subscription (not an API key) is used, end with /exit. On its own the terminal agent has no diffs in the editor; for those, also install the Claude Code extension and run /ide. Claude Code does not list Positron among the editors it detects, so test /ide once before teaching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openai/codex README: standalone installers for macOS and Windows, or npm install -g @openai/codex, or brew install --cask codex. codex login status shows whether you are signed in; codex login --device-auth helps when the browser redirect fails.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Codex is OpenAI's coding agent for the terminal; there is no separate ChatGPT terminal app, Codex signs in with the ChatGPT account. Account: ChatGPT Plus, Pro, Business, Edu or Enterprise; Free and Go also include Codex with tighter limits (official statement, seen only in search snippets, so check before promising it); or an OpenAI API key, billed per use. Install once with the installer of the previous slide, or brew install --cask codex, or npm install -g @openai/codex. On Windows the native install has its own sandbox; WSL2 only for projects that need Linux tools. Check in a new terminal tab with codex login status; if codex is not recognized, quit Positron completely and start it again (a new terminal tab is not enough). Sign in: codex, then Sign in with ChatGPT; if the browser redirect fails, codex login --device-auth. Live session: tick ai.mcp.enabled (experimental), run Positron MCP: Add to Coding Agent and choose Codex (this writes into ~/.codex/config.toml), then start codex from a Positron terminal so it gets the connection details. Claude Code and Codex can be installed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agent inside the project folder: it reads files, writes and runs code, and asks before it changes files or runs commands. Standing instructions go into CLAUDE.md for Claude Code and AGENTS.md for Codex (Posit Assistant also reads AGENTS.md). Keep the agent in its normal ask-first mode.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and experimental in Positron 2026.10: a built-in MCP server that lets Claude Code or Codex run code in the Python session you have open. Demo it; do not rely on it.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2026.10 release notes and Posit's pull request #16196. MCP (Model Context Protocol) is a standard way for AI agents to use tools. The server listens only on the local machine, with a token per workspace. Tools: list sessions, execute or evaluate code, interrupt, read session history, get the current plot, list and run Positron commands. There is no separate variables tool: the agent inspects data by running code.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runs only when ai.enabled and ai.mcp.enabled are both on. For Claude Code, Positron registers itself automatically (claude mcp add, local scope, not written into the repository) when the claude command is installed; restart Claude Code afterwards. For Codex, the command Positron MCP: Add to Coding Agent writes an entry into ~/.codex/config.toml; start codex from a Positron terminal so it receives the connection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shows no approval dialog when an agent runs code through MCP; it relies on the agent's own permission prompts. Anything the session can reach, the agent can reach. Keep the agent in its ask-first mode and never allow it to run everything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cheapest route that does the job. For most coursework that is GitHub Copilot in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recommendation based on the documented features: default to Posit Assistant; agents are optional and advanced; completions only via Copilot or Posit AI Pass.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does not see prompts sent to an outside provider. Anthropic and OpenAI do not train on API use by default; API data is kept about 30 days. Consumer plans (Claude Free, Pro, Max, including Claude Code used with them; ChatGPT including Codex signed in with ChatGPT) can be used for training while the setting is on; Anthropic keeps such data up to 5 years when allowed. Third parties report the setting is on by default, so students switch it off.</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AI rules from the syllabus apply to every assistant: AI use is allowed and encouraged, every number is verified, prompts that produced non-trivial code go into the prompt log, the written exam is closed book. Students who use paid tools do so voluntarily; nobody gains a grading advantage from paying.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 subscription where a key is needed, an empty API balance, or an untrusted folder. AI: Create Diagnostic Report shows the providers Positron sees.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for students who choose these optional routes.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links lead to GitHub's own documentation, which is updated when the apps change.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14 October 2026 against the documentation sources of Positron (posit-dev/positron-website) and GitHub (github/docs). The Student plan's monthly credit amount is not stated officially.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14 October 2026. OpenAI pages could not be opened from the build environment; facts from them were taken from search summaries and the openai/codex repository and should be checked on the live pages.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signup" TargetMode="External"/><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ettings/education/benefits" TargetMode="Externa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hyperlink" Target="https://desktop.github.com" TargetMode="External"/><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15.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17.png"/><Relationship Id="rId5"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9.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1.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48.png"/><Relationship Id="rId5"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7.png"/><Relationship Id="rId4" Type="http://schemas.openxmlformats.org/officeDocument/2006/relationships/hyperlink" Target="https://github.com/settings/education/benefits" TargetMode="External"/><Relationship Id="rId5" Type="http://schemas.openxmlformats.org/officeDocument/2006/relationships/hyperlink" Target="https://github.com/settings/copilot" TargetMode="External"/><Relationship Id="rId6" Type="http://schemas.openxmlformats.org/officeDocument/2006/relationships/image" Target="../media/image58.png"/><Relationship Id="rId7"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hyperlink" Target="https://github.com/settings/copilot" TargetMode="External"/><Relationship Id="rId5"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55.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25.png"/><Relationship Id="rId6" Type="http://schemas.openxmlformats.org/officeDocument/2006/relationships/image" Target="../media/image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4.png"/><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75.png"/><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77.png"/><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3.png"/><Relationship Id="rId4" Type="http://schemas.openxmlformats.org/officeDocument/2006/relationships/image" Target="../media/image82.png"/><Relationship Id="rId5" Type="http://schemas.openxmlformats.org/officeDocument/2006/relationships/image" Target="../media/image8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1.xml"/><Relationship Id="rId3" Type="http://schemas.openxmlformats.org/officeDocument/2006/relationships/image" Target="../media/image8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4.xml"/><Relationship Id="rId3" Type="http://schemas.openxmlformats.org/officeDocument/2006/relationships/image" Target="../media/image8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84.png"/><Relationship Id="rId4" Type="http://schemas.openxmlformats.org/officeDocument/2006/relationships/image" Target="../media/image68.png"/><Relationship Id="rId5" Type="http://schemas.openxmlformats.org/officeDocument/2006/relationships/image" Target="../media/image1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8.png"/><Relationship Id="rId4" Type="http://schemas.openxmlformats.org/officeDocument/2006/relationships/hyperlink" Target="https://platform.claude.com" TargetMode="External"/><Relationship Id="rId5" Type="http://schemas.openxmlformats.org/officeDocument/2006/relationships/image" Target="../media/image56.png"/><Relationship Id="rId6"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8.png"/><Relationship Id="rId4" Type="http://schemas.openxmlformats.org/officeDocument/2006/relationships/hyperlink" Target="https://platform.openai.com" TargetMode="External"/><Relationship Id="rId5" Type="http://schemas.openxmlformats.org/officeDocument/2006/relationships/image" Target="../media/image56.png"/><Relationship Id="rId6" Type="http://schemas.openxmlformats.org/officeDocument/2006/relationships/image" Target="../media/image4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61.png"/><Relationship Id="rId4" Type="http://schemas.openxmlformats.org/officeDocument/2006/relationships/image" Target="../media/image8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0.xml"/><Relationship Id="rId3" Type="http://schemas.openxmlformats.org/officeDocument/2006/relationships/image" Target="../media/image5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87.png"/><Relationship Id="rId4" Type="http://schemas.openxmlformats.org/officeDocument/2006/relationships/image" Target="../media/image11.png"/><Relationship Id="rId5" Type="http://schemas.openxmlformats.org/officeDocument/2006/relationships/image" Target="../media/image1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87.png"/><Relationship Id="rId4" Type="http://schemas.openxmlformats.org/officeDocument/2006/relationships/image" Target="../media/image11.png"/><Relationship Id="rId5" Type="http://schemas.openxmlformats.org/officeDocument/2006/relationships/image" Target="../media/image7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8.png"/><Relationship Id="rId4" Type="http://schemas.openxmlformats.org/officeDocument/2006/relationships/image" Target="../media/image1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8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68.png"/><Relationship Id="rId4" Type="http://schemas.openxmlformats.org/officeDocument/2006/relationships/image" Target="../media/image6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8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8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78.png"/><Relationship Id="rId4" Type="http://schemas.openxmlformats.org/officeDocument/2006/relationships/image" Target="../media/image72.png"/><Relationship Id="rId5" Type="http://schemas.openxmlformats.org/officeDocument/2006/relationships/image" Target="../media/image29.png"/><Relationship Id="rId6" Type="http://schemas.openxmlformats.org/officeDocument/2006/relationships/image" Target="../media/image8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1.png"/><Relationship Id="rId4" Type="http://schemas.openxmlformats.org/officeDocument/2006/relationships/image" Target="../media/image9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6.xml"/><Relationship Id="rId3" Type="http://schemas.openxmlformats.org/officeDocument/2006/relationships/image" Target="../media/image1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8.png"/><Relationship Id="rId4" Type="http://schemas.openxmlformats.org/officeDocument/2006/relationships/image" Target="../media/image2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3.png"/><Relationship Id="rId4" Type="http://schemas.openxmlformats.org/officeDocument/2006/relationships/image" Target="../media/image82.png"/><Relationship Id="rId5" Type="http://schemas.openxmlformats.org/officeDocument/2006/relationships/image" Target="../media/image8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9.xml"/><Relationship Id="rId3" Type="http://schemas.openxmlformats.org/officeDocument/2006/relationships/image" Target="../media/image5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hyperlink" Target="https://docs.github.com/en/desktop/overview/getting-started-with-github-desktop" TargetMode="External"/><Relationship Id="rId4" Type="http://schemas.openxmlformats.org/officeDocument/2006/relationships/hyperlink" Target="https://docs.github.com/en/desktop/adding-and-cloning-repositories/cloning-and-forking-repositories-from-github-desktop" TargetMode="External"/><Relationship Id="rId5" Type="http://schemas.openxmlformats.org/officeDocument/2006/relationships/hyperlink" Target="https://docs.github.com/en/desktop/making-changes-in-a-branch/committing-and-reviewing-changes-to-your-project-in-github-desktop" TargetMode="External"/><Relationship Id="rId6" Type="http://schemas.openxmlformats.org/officeDocument/2006/relationships/hyperlink" Target="https://docs.github.com/en/authentication/securing-your-account-with-two-factor-authentication-2fa" TargetMode="External"/><Relationship Id="rId7" Type="http://schemas.openxmlformats.org/officeDocument/2006/relationships/hyperlink" Target="https://docs.github.com/en/education/about-github-education/github-education-for-students/apply-to-github-education-as-a-student" TargetMode="External"/><Relationship Id="rId8" Type="http://schemas.openxmlformats.org/officeDocument/2006/relationships/hyperlink" Target="https://docs.github.com/en/repositories/managing-your-repositorys-settings-and-features/managing-repository-settings/setting-repository-visibility" TargetMode="External"/><Relationship Id="rId9" Type="http://schemas.openxmlformats.org/officeDocument/2006/relationships/hyperlink" Target="https://skills.github.com"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hyperlink" Target="https://positron.posit.co/assistant.html" TargetMode="External"/><Relationship Id="rId4" Type="http://schemas.openxmlformats.org/officeDocument/2006/relationships/hyperlink" Target="https://positron.posit.co/assistant-providers.html" TargetMode="External"/><Relationship Id="rId5" Type="http://schemas.openxmlformats.org/officeDocument/2006/relationships/hyperlink" Target="https://positron.posit.co/assistant-completions.html" TargetMode="External"/><Relationship Id="rId6" Type="http://schemas.openxmlformats.org/officeDocument/2006/relationships/hyperlink" Target="https://positron.posit.co/ai-configuration.html" TargetMode="External"/><Relationship Id="rId7" Type="http://schemas.openxmlformats.org/officeDocument/2006/relationships/hyperlink" Target="https://docs.github.com/en/copilot/how-tos/copilot-on-github/set-up-copilot/enable-copilot/set-up-for-students" TargetMode="External"/><Relationship Id="rId8" Type="http://schemas.openxmlformats.org/officeDocument/2006/relationships/hyperlink" Target="https://github.com/features/copilot/plans" TargetMode="External"/><Relationship Id="rId9" Type="http://schemas.openxmlformats.org/officeDocument/2006/relationships/hyperlink" Target="https://positron.posit.co/release-notes.html"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hyperlink" Target="https://code.claude.com/docs/en/vs-code" TargetMode="External"/><Relationship Id="rId4" Type="http://schemas.openxmlformats.org/officeDocument/2006/relationships/hyperlink" Target="https://code.claude.com/docs/en/setup" TargetMode="External"/><Relationship Id="rId5" Type="http://schemas.openxmlformats.org/officeDocument/2006/relationships/hyperlink" Target="https://code.claude.com/docs/en/data-usage" TargetMode="External"/><Relationship Id="rId6" Type="http://schemas.openxmlformats.org/officeDocument/2006/relationships/hyperlink" Target="https://claude.com/pricing" TargetMode="External"/><Relationship Id="rId7" Type="http://schemas.openxmlformats.org/officeDocument/2006/relationships/hyperlink" Target="https://positron.posit.co/assistant-providers.html" TargetMode="External"/><Relationship Id="rId8" Type="http://schemas.openxmlformats.org/officeDocument/2006/relationships/hyperlink" Target="https://github.com/openai/codex" TargetMode="External"/><Relationship Id="rId9" Type="http://schemas.openxmlformats.org/officeDocument/2006/relationships/hyperlink" Target="https://positron.posit.co/release-notes.html"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GitHub, Copilot, Claude and ChatGPT</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GitHub and AI assistants, step by step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Account</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Education</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Desktop</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Clone</a:t>
            </a:r>
            <a:br/>
            <a:r>
              <a:rPr sz="1100" b="1" lang="en-GB">
                <a:solidFill>
                  <a:schemeClr val="tx2"/>
                </a:solidFill>
              </a:rPr>
              <a:t>and sync</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Copilot</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Claude,</a:t>
            </a:r>
            <a:br/>
            <a:r>
              <a:rPr sz="1100" b="1" lang="en-GB">
                <a:solidFill>
                  <a:schemeClr val="tx2"/>
                </a:solidFill>
              </a:rPr>
              <a:t>ChatGPT</a:t>
            </a:r>
          </a:p>
        </p:txBody>
      </p:sp>
      <p:sp>
        <p:nvSpPr>
          <p:cNvPr id="16" name="Agenda card 1 body"/>
          <p:cNvSpPr/>
          <p:nvPr/>
        </p:nvSpPr>
        <p:spPr>
          <a:xfrm>
            <a:off x="457200" y="2331720"/>
            <a:ext cx="2651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genda card 1 header"/>
          <p:cNvSpPr/>
          <p:nvPr/>
        </p:nvSpPr>
        <p:spPr>
          <a:xfrm>
            <a:off x="457200" y="19202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genda card 1 heading"/>
          <p:cNvSpPr txBox="1"/>
          <p:nvPr/>
        </p:nvSpPr>
        <p:spPr>
          <a:xfrm>
            <a:off x="594360" y="19202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1–6</a:t>
            </a:r>
          </a:p>
        </p:txBody>
      </p:sp>
      <p:pic>
        <p:nvPicPr>
          <p:cNvPr id="19" name="Icon Agenda card 1" descr=""/>
          <p:cNvPicPr>
            <a:picLocks noChangeAspect="1"/>
          </p:cNvPicPr>
          <p:nvPr/>
        </p:nvPicPr>
        <p:blipFill>
          <a:blip r:embed="rId3"/>
          <a:stretch>
            <a:fillRect/>
          </a:stretch>
        </p:blipFill>
        <p:spPr>
          <a:xfrm>
            <a:off x="2670048" y="1970532"/>
            <a:ext cx="310896" cy="310896"/>
          </a:xfrm>
          <a:prstGeom prst="rect">
            <a:avLst/>
          </a:prstGeom>
        </p:spPr>
      </p:pic>
      <p:sp>
        <p:nvSpPr>
          <p:cNvPr id="20" name="Agenda card 1 text"/>
          <p:cNvSpPr txBox="1"/>
          <p:nvPr/>
        </p:nvSpPr>
        <p:spPr>
          <a:xfrm>
            <a:off x="621792" y="2468880"/>
            <a:ext cx="235000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 and GitHub Education</a:t>
            </a:r>
          </a:p>
          <a:p>
            <a:pPr algn="l" marL="182880" indent="-182880">
              <a:spcAft>
                <a:spcPts val="600"/>
              </a:spcAft>
              <a:buClr>
                <a:schemeClr val="accent1"/>
              </a:buClr>
              <a:buFont typeface="Arial"/>
              <a:buChar char="▪"/>
            </a:pPr>
            <a:r>
              <a:rPr sz="1300" b="0" lang="en-GB">
                <a:solidFill>
                  <a:schemeClr val="tx1"/>
                </a:solidFill>
              </a:rPr>
              <a:t>GitHub Desktop</a:t>
            </a:r>
          </a:p>
          <a:p>
            <a:pPr algn="l" marL="182880" indent="-182880">
              <a:spcAft>
                <a:spcPts val="600"/>
              </a:spcAft>
              <a:buClr>
                <a:schemeClr val="accent1"/>
              </a:buClr>
              <a:buFont typeface="Arial"/>
              <a:buChar char="▪"/>
            </a:pPr>
            <a:r>
              <a:rPr sz="1300" b="0" lang="en-GB">
                <a:solidFill>
                  <a:schemeClr val="tx1"/>
                </a:solidFill>
              </a:rPr>
              <a:t>Clone, pull, commit, push</a:t>
            </a:r>
          </a:p>
          <a:p>
            <a:pPr algn="l" marL="182880" indent="-182880">
              <a:spcAft>
                <a:spcPts val="600"/>
              </a:spcAft>
              <a:buClr>
                <a:schemeClr val="accent1"/>
              </a:buClr>
              <a:buFont typeface="Arial"/>
              <a:buChar char="▪"/>
            </a:pPr>
            <a:r>
              <a:rPr sz="1300" b="0" lang="en-GB">
                <a:solidFill>
                  <a:schemeClr val="tx1"/>
                </a:solidFill>
              </a:rPr>
              <a:t>Private or public</a:t>
            </a:r>
          </a:p>
        </p:txBody>
      </p:sp>
      <p:sp>
        <p:nvSpPr>
          <p:cNvPr id="21" name="Agenda card 2 body"/>
          <p:cNvSpPr/>
          <p:nvPr/>
        </p:nvSpPr>
        <p:spPr>
          <a:xfrm>
            <a:off x="3246120" y="2331720"/>
            <a:ext cx="2651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genda card 2 header"/>
          <p:cNvSpPr/>
          <p:nvPr/>
        </p:nvSpPr>
        <p:spPr>
          <a:xfrm>
            <a:off x="3246120" y="19202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genda card 2 heading"/>
          <p:cNvSpPr txBox="1"/>
          <p:nvPr/>
        </p:nvSpPr>
        <p:spPr>
          <a:xfrm>
            <a:off x="3383280" y="19202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Copilot, 7–12</a:t>
            </a:r>
          </a:p>
        </p:txBody>
      </p:sp>
      <p:pic>
        <p:nvPicPr>
          <p:cNvPr id="24" name="Icon Agenda card 2" descr=""/>
          <p:cNvPicPr>
            <a:picLocks noChangeAspect="1"/>
          </p:cNvPicPr>
          <p:nvPr/>
        </p:nvPicPr>
        <p:blipFill>
          <a:blip r:embed="rId4"/>
          <a:stretch>
            <a:fillRect/>
          </a:stretch>
        </p:blipFill>
        <p:spPr>
          <a:xfrm>
            <a:off x="5458968" y="1970532"/>
            <a:ext cx="310896" cy="310896"/>
          </a:xfrm>
          <a:prstGeom prst="rect">
            <a:avLst/>
          </a:prstGeom>
        </p:spPr>
      </p:pic>
      <p:sp>
        <p:nvSpPr>
          <p:cNvPr id="25" name="Agenda card 2 text"/>
          <p:cNvSpPr txBox="1"/>
          <p:nvPr/>
        </p:nvSpPr>
        <p:spPr>
          <a:xfrm>
            <a:off x="3410712" y="2468880"/>
            <a:ext cx="235000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student plan</a:t>
            </a:r>
          </a:p>
          <a:p>
            <a:pPr algn="l" marL="182880" indent="-182880">
              <a:spcAft>
                <a:spcPts val="600"/>
              </a:spcAft>
              <a:buClr>
                <a:schemeClr val="accent1"/>
              </a:buClr>
              <a:buFont typeface="Arial"/>
              <a:buChar char="▪"/>
            </a:pPr>
            <a:r>
              <a:rPr sz="1300" b="0" lang="en-GB">
                <a:solidFill>
                  <a:schemeClr val="tx1"/>
                </a:solidFill>
              </a:rPr>
              <a:t>Connect it to Positron</a:t>
            </a:r>
          </a:p>
          <a:p>
            <a:pPr algn="l" marL="182880" indent="-182880">
              <a:spcAft>
                <a:spcPts val="600"/>
              </a:spcAft>
              <a:buClr>
                <a:schemeClr val="accent1"/>
              </a:buClr>
              <a:buFont typeface="Arial"/>
              <a:buChar char="▪"/>
            </a:pPr>
            <a:r>
              <a:rPr sz="1300" b="0" lang="en-GB">
                <a:solidFill>
                  <a:schemeClr val="tx1"/>
                </a:solidFill>
              </a:rPr>
              <a:t>Chat and completions</a:t>
            </a:r>
          </a:p>
          <a:p>
            <a:pPr algn="l" marL="182880" indent="-182880">
              <a:spcAft>
                <a:spcPts val="600"/>
              </a:spcAft>
              <a:buClr>
                <a:schemeClr val="accent1"/>
              </a:buClr>
              <a:buFont typeface="Arial"/>
              <a:buChar char="▪"/>
            </a:pPr>
            <a:r>
              <a:rPr sz="1300" b="0" lang="en-GB">
                <a:solidFill>
                  <a:schemeClr val="tx1"/>
                </a:solidFill>
              </a:rPr>
              <a:t>Use it well</a:t>
            </a:r>
          </a:p>
        </p:txBody>
      </p:sp>
      <p:sp>
        <p:nvSpPr>
          <p:cNvPr id="26" name="Agenda card 3 body"/>
          <p:cNvSpPr/>
          <p:nvPr/>
        </p:nvSpPr>
        <p:spPr>
          <a:xfrm>
            <a:off x="6035040" y="2331720"/>
            <a:ext cx="2651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genda card 3 header"/>
          <p:cNvSpPr/>
          <p:nvPr/>
        </p:nvSpPr>
        <p:spPr>
          <a:xfrm>
            <a:off x="6035040" y="19202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genda card 3 heading"/>
          <p:cNvSpPr txBox="1"/>
          <p:nvPr/>
        </p:nvSpPr>
        <p:spPr>
          <a:xfrm>
            <a:off x="6172200" y="19202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Optional, 13–18</a:t>
            </a:r>
          </a:p>
        </p:txBody>
      </p:sp>
      <p:pic>
        <p:nvPicPr>
          <p:cNvPr id="29" name="Icon Agenda card 3" descr=""/>
          <p:cNvPicPr>
            <a:picLocks noChangeAspect="1"/>
          </p:cNvPicPr>
          <p:nvPr/>
        </p:nvPicPr>
        <p:blipFill>
          <a:blip r:embed="rId5"/>
          <a:stretch>
            <a:fillRect/>
          </a:stretch>
        </p:blipFill>
        <p:spPr>
          <a:xfrm>
            <a:off x="8247888" y="1970532"/>
            <a:ext cx="310896" cy="310896"/>
          </a:xfrm>
          <a:prstGeom prst="rect">
            <a:avLst/>
          </a:prstGeom>
        </p:spPr>
      </p:pic>
      <p:sp>
        <p:nvSpPr>
          <p:cNvPr id="30" name="Agenda card 3 text"/>
          <p:cNvSpPr txBox="1"/>
          <p:nvPr/>
        </p:nvSpPr>
        <p:spPr>
          <a:xfrm>
            <a:off x="6199632" y="2468880"/>
            <a:ext cx="235000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Claude and ChatGPT</a:t>
            </a:r>
          </a:p>
          <a:p>
            <a:pPr algn="l" marL="182880" indent="-182880">
              <a:spcAft>
                <a:spcPts val="600"/>
              </a:spcAft>
              <a:buClr>
                <a:schemeClr val="accent1"/>
              </a:buClr>
              <a:buFont typeface="Arial"/>
              <a:buChar char="▪"/>
            </a:pPr>
            <a:r>
              <a:rPr sz="1300" b="0" lang="en-GB">
                <a:solidFill>
                  <a:schemeClr val="tx1"/>
                </a:solidFill>
              </a:rPr>
              <a:t>API key or subscription</a:t>
            </a:r>
          </a:p>
          <a:p>
            <a:pPr algn="l" marL="182880" indent="-182880">
              <a:spcAft>
                <a:spcPts val="600"/>
              </a:spcAft>
              <a:buClr>
                <a:schemeClr val="accent1"/>
              </a:buClr>
              <a:buFont typeface="Arial"/>
              <a:buChar char="▪"/>
            </a:pPr>
            <a:r>
              <a:rPr sz="1300" b="0" lang="en-GB">
                <a:solidFill>
                  <a:schemeClr val="tx1"/>
                </a:solidFill>
              </a:rPr>
              <a:t>Claude Code and Codex</a:t>
            </a:r>
          </a:p>
          <a:p>
            <a:pPr algn="l" marL="182880" indent="-182880">
              <a:spcAft>
                <a:spcPts val="600"/>
              </a:spcAft>
              <a:buClr>
                <a:schemeClr val="accent1"/>
              </a:buClr>
              <a:buFont typeface="Arial"/>
              <a:buChar char="▪"/>
            </a:pPr>
            <a:r>
              <a:rPr sz="1300" b="0" lang="en-GB">
                <a:solidFill>
                  <a:schemeClr val="tx1"/>
                </a:solidFill>
              </a:rPr>
              <a:t>Agents in your session</a:t>
            </a:r>
          </a:p>
        </p:txBody>
      </p:sp>
      <p:sp>
        <p:nvSpPr>
          <p:cNvPr id="31" name="Default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Default" descr=""/>
          <p:cNvPicPr>
            <a:picLocks noChangeAspect="1"/>
          </p:cNvPicPr>
          <p:nvPr/>
        </p:nvPicPr>
        <p:blipFill>
          <a:blip r:embed="rId6"/>
          <a:stretch>
            <a:fillRect/>
          </a:stretch>
        </p:blipFill>
        <p:spPr>
          <a:xfrm>
            <a:off x="658368" y="4480560"/>
            <a:ext cx="365760" cy="365760"/>
          </a:xfrm>
          <a:prstGeom prst="rect">
            <a:avLst/>
          </a:prstGeom>
        </p:spPr>
      </p:pic>
      <p:sp>
        <p:nvSpPr>
          <p:cNvPr id="33" name="Default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Course default: </a:t>
            </a:r>
            <a:r>
              <a:rPr sz="1200" b="0" lang="en-GB">
                <a:solidFill>
                  <a:schemeClr val="bg1"/>
                </a:solidFill>
              </a:rPr>
              <a:t>GitHub Copilot, free with GitHub Education. Claude and ChatGPT are optional.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 GitHub and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hat 1 tile"/>
          <p:cNvSpPr/>
          <p:nvPr/>
        </p:nvSpPr>
        <p:spPr>
          <a:xfrm>
            <a:off x="45720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What 1" descr=""/>
          <p:cNvPicPr>
            <a:picLocks noChangeAspect="1"/>
          </p:cNvPicPr>
          <p:nvPr/>
        </p:nvPicPr>
        <p:blipFill>
          <a:blip r:embed="rId3"/>
          <a:stretch>
            <a:fillRect/>
          </a:stretch>
        </p:blipFill>
        <p:spPr>
          <a:xfrm>
            <a:off x="594360" y="1371600"/>
            <a:ext cx="365760" cy="365760"/>
          </a:xfrm>
          <a:prstGeom prst="rect">
            <a:avLst/>
          </a:prstGeom>
        </p:spPr>
      </p:pic>
      <p:sp>
        <p:nvSpPr>
          <p:cNvPr id="12" name="What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a:t>
            </a:r>
          </a:p>
        </p:txBody>
      </p:sp>
      <p:sp>
        <p:nvSpPr>
          <p:cNvPr id="13" name="What 1 text"/>
          <p:cNvSpPr txBox="1"/>
          <p:nvPr/>
        </p:nvSpPr>
        <p:spPr>
          <a:xfrm>
            <a:off x="59436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engine: records every saved version of a folder</a:t>
            </a:r>
          </a:p>
        </p:txBody>
      </p:sp>
      <p:sp>
        <p:nvSpPr>
          <p:cNvPr id="14" name="What 2 tile"/>
          <p:cNvSpPr/>
          <p:nvPr/>
        </p:nvSpPr>
        <p:spPr>
          <a:xfrm>
            <a:off x="324612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What 2" descr=""/>
          <p:cNvPicPr>
            <a:picLocks noChangeAspect="1"/>
          </p:cNvPicPr>
          <p:nvPr/>
        </p:nvPicPr>
        <p:blipFill>
          <a:blip r:embed="rId4"/>
          <a:stretch>
            <a:fillRect/>
          </a:stretch>
        </p:blipFill>
        <p:spPr>
          <a:xfrm>
            <a:off x="3383280" y="1371600"/>
            <a:ext cx="365760" cy="365760"/>
          </a:xfrm>
          <a:prstGeom prst="rect">
            <a:avLst/>
          </a:prstGeom>
        </p:spPr>
      </p:pic>
      <p:sp>
        <p:nvSpPr>
          <p:cNvPr id="16" name="What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a:t>
            </a:r>
          </a:p>
        </p:txBody>
      </p:sp>
      <p:sp>
        <p:nvSpPr>
          <p:cNvPr id="17" name="What 2 text"/>
          <p:cNvSpPr txBox="1"/>
          <p:nvPr/>
        </p:nvSpPr>
        <p:spPr>
          <a:xfrm>
            <a:off x="338328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website: keeps a copy online and lets others access it</a:t>
            </a:r>
          </a:p>
        </p:txBody>
      </p:sp>
      <p:sp>
        <p:nvSpPr>
          <p:cNvPr id="18" name="What 3 tile"/>
          <p:cNvSpPr/>
          <p:nvPr/>
        </p:nvSpPr>
        <p:spPr>
          <a:xfrm>
            <a:off x="6035040" y="1234440"/>
            <a:ext cx="26517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What 3" descr=""/>
          <p:cNvPicPr>
            <a:picLocks noChangeAspect="1"/>
          </p:cNvPicPr>
          <p:nvPr/>
        </p:nvPicPr>
        <p:blipFill>
          <a:blip r:embed="rId5"/>
          <a:stretch>
            <a:fillRect/>
          </a:stretch>
        </p:blipFill>
        <p:spPr>
          <a:xfrm>
            <a:off x="6172200" y="1371600"/>
            <a:ext cx="365760" cy="365760"/>
          </a:xfrm>
          <a:prstGeom prst="rect">
            <a:avLst/>
          </a:prstGeom>
        </p:spPr>
      </p:pic>
      <p:sp>
        <p:nvSpPr>
          <p:cNvPr id="20" name="What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1" name="What 3 text"/>
          <p:cNvSpPr txBox="1"/>
          <p:nvPr/>
        </p:nvSpPr>
        <p:spPr>
          <a:xfrm>
            <a:off x="6172200" y="1856232"/>
            <a:ext cx="2377440" cy="640080"/>
          </a:xfrm>
          <a:prstGeom prst="rect">
            <a:avLst/>
          </a:prstGeom>
          <a:noFill/>
        </p:spPr>
        <p:txBody>
          <a:bodyPr wrap="square" lIns="0" rIns="0" tIns="0" bIns="0" anchor="t">
            <a:noAutofit/>
          </a:bodyPr>
          <a:lstStyle/>
          <a:p>
            <a:pPr algn="l">
              <a:spcAft>
                <a:spcPts val="400"/>
              </a:spcAft>
            </a:pPr>
            <a:r>
              <a:rPr sz="1200" b="0" lang="en-GB">
                <a:solidFill>
                  <a:schemeClr val="tx1"/>
                </a:solidFill>
              </a:rPr>
              <a:t>The app: runs Git with buttons and brings its own Git</a:t>
            </a:r>
          </a:p>
        </p:txBody>
      </p:sp>
      <p:sp>
        <p:nvSpPr>
          <p:cNvPr id="22" name="Words 1-1"/>
          <p:cNvSpPr/>
          <p:nvPr/>
        </p:nvSpPr>
        <p:spPr>
          <a:xfrm>
            <a:off x="457200" y="2743200"/>
            <a:ext cx="18013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Words text 1-1"/>
          <p:cNvSpPr txBox="1"/>
          <p:nvPr/>
        </p:nvSpPr>
        <p:spPr>
          <a:xfrm>
            <a:off x="548640" y="2743200"/>
            <a:ext cx="16184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Word</a:t>
            </a:r>
          </a:p>
        </p:txBody>
      </p:sp>
      <p:sp>
        <p:nvSpPr>
          <p:cNvPr id="24" name="Words 1-2"/>
          <p:cNvSpPr/>
          <p:nvPr/>
        </p:nvSpPr>
        <p:spPr>
          <a:xfrm>
            <a:off x="2286000" y="2743200"/>
            <a:ext cx="36301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Words text 1-2"/>
          <p:cNvSpPr txBox="1"/>
          <p:nvPr/>
        </p:nvSpPr>
        <p:spPr>
          <a:xfrm>
            <a:off x="2377440" y="2743200"/>
            <a:ext cx="34472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Meaning</a:t>
            </a:r>
          </a:p>
        </p:txBody>
      </p:sp>
      <p:sp>
        <p:nvSpPr>
          <p:cNvPr id="26" name="Words 1-3"/>
          <p:cNvSpPr/>
          <p:nvPr/>
        </p:nvSpPr>
        <p:spPr>
          <a:xfrm>
            <a:off x="5943600" y="2743200"/>
            <a:ext cx="27157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Words text 1-3"/>
          <p:cNvSpPr txBox="1"/>
          <p:nvPr/>
        </p:nvSpPr>
        <p:spPr>
          <a:xfrm>
            <a:off x="6035040" y="2743200"/>
            <a:ext cx="25328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Button in GitHub Desktop</a:t>
            </a:r>
          </a:p>
        </p:txBody>
      </p:sp>
      <p:sp>
        <p:nvSpPr>
          <p:cNvPr id="28" name="Words 2-1"/>
          <p:cNvSpPr/>
          <p:nvPr/>
        </p:nvSpPr>
        <p:spPr>
          <a:xfrm>
            <a:off x="457200" y="3099816"/>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Words text 2-1"/>
          <p:cNvSpPr txBox="1"/>
          <p:nvPr/>
        </p:nvSpPr>
        <p:spPr>
          <a:xfrm>
            <a:off x="548640" y="3099816"/>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Repository (repo)</a:t>
            </a:r>
          </a:p>
        </p:txBody>
      </p:sp>
      <p:sp>
        <p:nvSpPr>
          <p:cNvPr id="30" name="Words 2-2"/>
          <p:cNvSpPr/>
          <p:nvPr/>
        </p:nvSpPr>
        <p:spPr>
          <a:xfrm>
            <a:off x="2286000" y="3099816"/>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Words text 2-2"/>
          <p:cNvSpPr txBox="1"/>
          <p:nvPr/>
        </p:nvSpPr>
        <p:spPr>
          <a:xfrm>
            <a:off x="2377440" y="3099816"/>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a project folder with its full history</a:t>
            </a:r>
          </a:p>
        </p:txBody>
      </p:sp>
      <p:sp>
        <p:nvSpPr>
          <p:cNvPr id="32" name="Words 2-3"/>
          <p:cNvSpPr/>
          <p:nvPr/>
        </p:nvSpPr>
        <p:spPr>
          <a:xfrm>
            <a:off x="5943600" y="3099816"/>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Words text 2-3"/>
          <p:cNvSpPr txBox="1"/>
          <p:nvPr/>
        </p:nvSpPr>
        <p:spPr>
          <a:xfrm>
            <a:off x="6035040" y="3099816"/>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Current repository</a:t>
            </a:r>
          </a:p>
        </p:txBody>
      </p:sp>
      <p:sp>
        <p:nvSpPr>
          <p:cNvPr id="34" name="Words 3-1"/>
          <p:cNvSpPr/>
          <p:nvPr/>
        </p:nvSpPr>
        <p:spPr>
          <a:xfrm>
            <a:off x="457200" y="3456432"/>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Words text 3-1"/>
          <p:cNvSpPr txBox="1"/>
          <p:nvPr/>
        </p:nvSpPr>
        <p:spPr>
          <a:xfrm>
            <a:off x="548640" y="3456432"/>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Clone</a:t>
            </a:r>
          </a:p>
        </p:txBody>
      </p:sp>
      <p:sp>
        <p:nvSpPr>
          <p:cNvPr id="36" name="Words 3-2"/>
          <p:cNvSpPr/>
          <p:nvPr/>
        </p:nvSpPr>
        <p:spPr>
          <a:xfrm>
            <a:off x="2286000" y="3456432"/>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Words text 3-2"/>
          <p:cNvSpPr txBox="1"/>
          <p:nvPr/>
        </p:nvSpPr>
        <p:spPr>
          <a:xfrm>
            <a:off x="2377440" y="3456432"/>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download a repo to your laptop, linked to GitHub</a:t>
            </a:r>
          </a:p>
        </p:txBody>
      </p:sp>
      <p:sp>
        <p:nvSpPr>
          <p:cNvPr id="38" name="Words 3-3"/>
          <p:cNvSpPr/>
          <p:nvPr/>
        </p:nvSpPr>
        <p:spPr>
          <a:xfrm>
            <a:off x="5943600" y="3456432"/>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Words text 3-3"/>
          <p:cNvSpPr txBox="1"/>
          <p:nvPr/>
        </p:nvSpPr>
        <p:spPr>
          <a:xfrm>
            <a:off x="6035040" y="3456432"/>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File → Clone repository</a:t>
            </a:r>
          </a:p>
        </p:txBody>
      </p:sp>
      <p:sp>
        <p:nvSpPr>
          <p:cNvPr id="40" name="Words 4-1"/>
          <p:cNvSpPr/>
          <p:nvPr/>
        </p:nvSpPr>
        <p:spPr>
          <a:xfrm>
            <a:off x="457200" y="3813048"/>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Words text 4-1"/>
          <p:cNvSpPr txBox="1"/>
          <p:nvPr/>
        </p:nvSpPr>
        <p:spPr>
          <a:xfrm>
            <a:off x="548640" y="3813048"/>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Commit</a:t>
            </a:r>
          </a:p>
        </p:txBody>
      </p:sp>
      <p:sp>
        <p:nvSpPr>
          <p:cNvPr id="42" name="Words 4-2"/>
          <p:cNvSpPr/>
          <p:nvPr/>
        </p:nvSpPr>
        <p:spPr>
          <a:xfrm>
            <a:off x="2286000" y="3813048"/>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Words text 4-2"/>
          <p:cNvSpPr txBox="1"/>
          <p:nvPr/>
        </p:nvSpPr>
        <p:spPr>
          <a:xfrm>
            <a:off x="2377440" y="3813048"/>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save a snapshot with a short message</a:t>
            </a:r>
          </a:p>
        </p:txBody>
      </p:sp>
      <p:sp>
        <p:nvSpPr>
          <p:cNvPr id="44" name="Words 4-3"/>
          <p:cNvSpPr/>
          <p:nvPr/>
        </p:nvSpPr>
        <p:spPr>
          <a:xfrm>
            <a:off x="5943600" y="3813048"/>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Words text 4-3"/>
          <p:cNvSpPr txBox="1"/>
          <p:nvPr/>
        </p:nvSpPr>
        <p:spPr>
          <a:xfrm>
            <a:off x="6035040" y="3813048"/>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Commit to main</a:t>
            </a:r>
          </a:p>
        </p:txBody>
      </p:sp>
      <p:sp>
        <p:nvSpPr>
          <p:cNvPr id="46" name="Words 5-1"/>
          <p:cNvSpPr/>
          <p:nvPr/>
        </p:nvSpPr>
        <p:spPr>
          <a:xfrm>
            <a:off x="457200" y="4169664"/>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Words text 5-1"/>
          <p:cNvSpPr txBox="1"/>
          <p:nvPr/>
        </p:nvSpPr>
        <p:spPr>
          <a:xfrm>
            <a:off x="548640" y="4169664"/>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Push / pull</a:t>
            </a:r>
          </a:p>
        </p:txBody>
      </p:sp>
      <p:sp>
        <p:nvSpPr>
          <p:cNvPr id="48" name="Words 5-2"/>
          <p:cNvSpPr/>
          <p:nvPr/>
        </p:nvSpPr>
        <p:spPr>
          <a:xfrm>
            <a:off x="2286000" y="4169664"/>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Words text 5-2"/>
          <p:cNvSpPr txBox="1"/>
          <p:nvPr/>
        </p:nvSpPr>
        <p:spPr>
          <a:xfrm>
            <a:off x="2377440" y="4169664"/>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send your commits up / get new commits down</a:t>
            </a:r>
          </a:p>
        </p:txBody>
      </p:sp>
      <p:sp>
        <p:nvSpPr>
          <p:cNvPr id="50" name="Words 5-3"/>
          <p:cNvSpPr/>
          <p:nvPr/>
        </p:nvSpPr>
        <p:spPr>
          <a:xfrm>
            <a:off x="5943600" y="4169664"/>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Words text 5-3"/>
          <p:cNvSpPr txBox="1"/>
          <p:nvPr/>
        </p:nvSpPr>
        <p:spPr>
          <a:xfrm>
            <a:off x="6035040" y="4169664"/>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Push origin / Pull origin</a:t>
            </a:r>
          </a:p>
        </p:txBody>
      </p:sp>
      <p:sp>
        <p:nvSpPr>
          <p:cNvPr id="52" name="Words 6-1"/>
          <p:cNvSpPr/>
          <p:nvPr/>
        </p:nvSpPr>
        <p:spPr>
          <a:xfrm>
            <a:off x="457200" y="4526280"/>
            <a:ext cx="18013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Words text 6-1"/>
          <p:cNvSpPr txBox="1"/>
          <p:nvPr/>
        </p:nvSpPr>
        <p:spPr>
          <a:xfrm>
            <a:off x="548640" y="4526280"/>
            <a:ext cx="16184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Fetch</a:t>
            </a:r>
          </a:p>
        </p:txBody>
      </p:sp>
      <p:sp>
        <p:nvSpPr>
          <p:cNvPr id="54" name="Words 6-2"/>
          <p:cNvSpPr/>
          <p:nvPr/>
        </p:nvSpPr>
        <p:spPr>
          <a:xfrm>
            <a:off x="2286000" y="4526280"/>
            <a:ext cx="36301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Words text 6-2"/>
          <p:cNvSpPr txBox="1"/>
          <p:nvPr/>
        </p:nvSpPr>
        <p:spPr>
          <a:xfrm>
            <a:off x="2377440" y="4526280"/>
            <a:ext cx="34472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check GitHub for new commits, change nothing</a:t>
            </a:r>
          </a:p>
        </p:txBody>
      </p:sp>
      <p:sp>
        <p:nvSpPr>
          <p:cNvPr id="56" name="Words 6-3"/>
          <p:cNvSpPr/>
          <p:nvPr/>
        </p:nvSpPr>
        <p:spPr>
          <a:xfrm>
            <a:off x="5943600" y="4526280"/>
            <a:ext cx="27157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Words text 6-3"/>
          <p:cNvSpPr txBox="1"/>
          <p:nvPr/>
        </p:nvSpPr>
        <p:spPr>
          <a:xfrm>
            <a:off x="6035040" y="4526280"/>
            <a:ext cx="2532888" cy="329184"/>
          </a:xfrm>
          <a:prstGeom prst="rect">
            <a:avLst/>
          </a:prstGeom>
          <a:noFill/>
        </p:spPr>
        <p:txBody>
          <a:bodyPr wrap="square" lIns="0" rIns="0" tIns="0" bIns="0" anchor="ctr">
            <a:noAutofit/>
          </a:bodyPr>
          <a:lstStyle/>
          <a:p>
            <a:pPr algn="l">
              <a:spcAft>
                <a:spcPts val="400"/>
              </a:spcAft>
            </a:pPr>
            <a:r>
              <a:rPr sz="1150" b="0" lang="en-GB">
                <a:solidFill>
                  <a:schemeClr val="tx1"/>
                </a:solidFill>
              </a:rPr>
              <a:t>Fetch origin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18 · sign up, two-factor sign-in, a private e-mail address</a:t>
            </a:r>
          </a:p>
        </p:txBody>
      </p:sp>
      <p:sp>
        <p:nvSpPr>
          <p:cNvPr id="3" name="Title 2"/>
          <p:cNvSpPr>
            <a:spLocks noGrp="1"/>
          </p:cNvSpPr>
          <p:nvPr>
            <p:ph type="ctrTitle"/>
          </p:nvPr>
        </p:nvSpPr>
        <p:spPr/>
        <p:txBody>
          <a:bodyPr/>
          <a:lstStyle/>
          <a:p>
            <a:r>
              <a:rPr sz="1600" lang="en-GB"/>
              <a:t>Your GitHub account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GitHub account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up row 1"/>
          <p:cNvSpPr/>
          <p:nvPr/>
        </p:nvSpPr>
        <p:spPr>
          <a:xfrm>
            <a:off x="457200" y="123444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up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Signup text 1"/>
          <p:cNvSpPr txBox="1"/>
          <p:nvPr/>
        </p:nvSpPr>
        <p:spPr>
          <a:xfrm>
            <a:off x="1051560" y="1234440"/>
            <a:ext cx="4389120" cy="512064"/>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github.com/signup</a:t>
            </a:r>
          </a:p>
        </p:txBody>
      </p:sp>
      <p:sp>
        <p:nvSpPr>
          <p:cNvPr id="13" name="Signup row 2"/>
          <p:cNvSpPr/>
          <p:nvPr/>
        </p:nvSpPr>
        <p:spPr>
          <a:xfrm>
            <a:off x="457200" y="1819656"/>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ignup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Signup text 2"/>
          <p:cNvSpPr txBox="1"/>
          <p:nvPr/>
        </p:nvSpPr>
        <p:spPr>
          <a:xfrm>
            <a:off x="1051560" y="1819656"/>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your WU student address</a:t>
            </a:r>
          </a:p>
        </p:txBody>
      </p:sp>
      <p:sp>
        <p:nvSpPr>
          <p:cNvPr id="16" name="Signup row 3"/>
          <p:cNvSpPr/>
          <p:nvPr/>
        </p:nvSpPr>
        <p:spPr>
          <a:xfrm>
            <a:off x="457200" y="2404872"/>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up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Signup text 3"/>
          <p:cNvSpPr txBox="1"/>
          <p:nvPr/>
        </p:nvSpPr>
        <p:spPr>
          <a:xfrm>
            <a:off x="1051560" y="2404872"/>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Password </a:t>
            </a:r>
            <a:r>
              <a:rPr sz="1200" b="0" lang="en-GB">
                <a:solidFill>
                  <a:schemeClr val="tx1"/>
                </a:solidFill>
              </a:rPr>
              <a:t>of at least 15 characters, or 8 with a number and a lower-case letter</a:t>
            </a:r>
          </a:p>
        </p:txBody>
      </p:sp>
      <p:sp>
        <p:nvSpPr>
          <p:cNvPr id="19" name="Signup row 4"/>
          <p:cNvSpPr/>
          <p:nvPr/>
        </p:nvSpPr>
        <p:spPr>
          <a:xfrm>
            <a:off x="457200" y="2990088"/>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up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Signup text 4"/>
          <p:cNvSpPr txBox="1"/>
          <p:nvPr/>
        </p:nvSpPr>
        <p:spPr>
          <a:xfrm>
            <a:off x="1051560" y="2990088"/>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Username: </a:t>
            </a:r>
            <a:r>
              <a:rPr sz="1200" b="0" lang="en-GB">
                <a:solidFill>
                  <a:schemeClr val="tx1"/>
                </a:solidFill>
              </a:rPr>
              <a:t>short and professional, e.g. anna-berger; it is public</a:t>
            </a:r>
          </a:p>
        </p:txBody>
      </p:sp>
      <p:sp>
        <p:nvSpPr>
          <p:cNvPr id="22" name="Signup row 5"/>
          <p:cNvSpPr/>
          <p:nvPr/>
        </p:nvSpPr>
        <p:spPr>
          <a:xfrm>
            <a:off x="457200" y="3575304"/>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ignup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Signup text 5"/>
          <p:cNvSpPr txBox="1"/>
          <p:nvPr/>
        </p:nvSpPr>
        <p:spPr>
          <a:xfrm>
            <a:off x="1051560" y="3575304"/>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Verify: </a:t>
            </a:r>
            <a:r>
              <a:rPr sz="1200" b="0" lang="en-GB">
                <a:solidFill>
                  <a:schemeClr val="tx1"/>
                </a:solidFill>
              </a:rPr>
              <a:t>type the code GitHub sends to your inbox</a:t>
            </a:r>
          </a:p>
        </p:txBody>
      </p:sp>
      <p:sp>
        <p:nvSpPr>
          <p:cNvPr id="25" name="Signup row 6"/>
          <p:cNvSpPr/>
          <p:nvPr/>
        </p:nvSpPr>
        <p:spPr>
          <a:xfrm>
            <a:off x="457200" y="4160520"/>
            <a:ext cx="512064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ignup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Signup text 6"/>
          <p:cNvSpPr txBox="1"/>
          <p:nvPr/>
        </p:nvSpPr>
        <p:spPr>
          <a:xfrm>
            <a:off x="1051560" y="4160520"/>
            <a:ext cx="438912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Plan: </a:t>
            </a:r>
            <a:r>
              <a:rPr sz="1200" b="0" lang="en-GB">
                <a:solidFill>
                  <a:schemeClr val="tx1"/>
                </a:solidFill>
              </a:rPr>
              <a:t>choose Free; skip the questions if you like</a:t>
            </a:r>
          </a:p>
        </p:txBody>
      </p:sp>
      <p:sp>
        <p:nvSpPr>
          <p:cNvPr id="28" name="Signup card body"/>
          <p:cNvSpPr/>
          <p:nvPr/>
        </p:nvSpPr>
        <p:spPr>
          <a:xfrm>
            <a:off x="5715000" y="1645920"/>
            <a:ext cx="297180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ignup card header"/>
          <p:cNvSpPr/>
          <p:nvPr/>
        </p:nvSpPr>
        <p:spPr>
          <a:xfrm>
            <a:off x="5715000" y="1234440"/>
            <a:ext cx="29718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ignup card heading"/>
          <p:cNvSpPr txBox="1"/>
          <p:nvPr/>
        </p:nvSpPr>
        <p:spPr>
          <a:xfrm>
            <a:off x="5852160" y="1234440"/>
            <a:ext cx="22860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31" name="Icon Signup card" descr=""/>
          <p:cNvPicPr>
            <a:picLocks noChangeAspect="1"/>
          </p:cNvPicPr>
          <p:nvPr/>
        </p:nvPicPr>
        <p:blipFill>
          <a:blip r:embed="rId4"/>
          <a:stretch>
            <a:fillRect/>
          </a:stretch>
        </p:blipFill>
        <p:spPr>
          <a:xfrm>
            <a:off x="8247888" y="1284732"/>
            <a:ext cx="310896" cy="310896"/>
          </a:xfrm>
          <a:prstGeom prst="rect">
            <a:avLst/>
          </a:prstGeom>
        </p:spPr>
      </p:pic>
      <p:sp>
        <p:nvSpPr>
          <p:cNvPr id="32" name="Signup card text"/>
          <p:cNvSpPr txBox="1"/>
          <p:nvPr/>
        </p:nvSpPr>
        <p:spPr>
          <a:xfrm>
            <a:off x="5879592" y="1783080"/>
            <a:ext cx="267004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 account per person: keep it for life</a:t>
            </a:r>
          </a:p>
          <a:p>
            <a:pPr algn="l" marL="182880" indent="-182880">
              <a:spcAft>
                <a:spcPts val="600"/>
              </a:spcAft>
              <a:buClr>
                <a:schemeClr val="accent1"/>
              </a:buClr>
              <a:buFont typeface="Arial"/>
              <a:buChar char="▪"/>
            </a:pPr>
            <a:r>
              <a:rPr sz="1300" b="0" lang="en-GB">
                <a:solidFill>
                  <a:schemeClr val="tx1"/>
                </a:solidFill>
              </a:rPr>
              <a:t>Free plan: unlimited public and private repos</a:t>
            </a:r>
          </a:p>
          <a:p>
            <a:pPr algn="l" marL="182880" indent="-182880">
              <a:spcAft>
                <a:spcPts val="600"/>
              </a:spcAft>
              <a:buClr>
                <a:schemeClr val="accent1"/>
              </a:buClr>
              <a:buFont typeface="Arial"/>
              <a:buChar char="▪"/>
            </a:pPr>
            <a:r>
              <a:rPr sz="1300" b="0" lang="en-GB">
                <a:solidFill>
                  <a:schemeClr val="tx1"/>
                </a:solidFill>
              </a:rPr>
              <a:t>Your username appears on every commit</a:t>
            </a:r>
          </a:p>
        </p:txBody>
      </p:sp>
      <p:sp>
        <p:nvSpPr>
          <p:cNvPr id="33" name="Signup note box"/>
          <p:cNvSpPr/>
          <p:nvPr/>
        </p:nvSpPr>
        <p:spPr>
          <a:xfrm>
            <a:off x="5715000" y="3703320"/>
            <a:ext cx="2971800" cy="11887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Signup note" descr=""/>
          <p:cNvPicPr>
            <a:picLocks noChangeAspect="1"/>
          </p:cNvPicPr>
          <p:nvPr/>
        </p:nvPicPr>
        <p:blipFill>
          <a:blip r:embed="rId5"/>
          <a:stretch>
            <a:fillRect/>
          </a:stretch>
        </p:blipFill>
        <p:spPr>
          <a:xfrm>
            <a:off x="5916168" y="4114800"/>
            <a:ext cx="365760" cy="365760"/>
          </a:xfrm>
          <a:prstGeom prst="rect">
            <a:avLst/>
          </a:prstGeom>
        </p:spPr>
      </p:pic>
      <p:sp>
        <p:nvSpPr>
          <p:cNvPr id="35" name="Signup note text"/>
          <p:cNvSpPr txBox="1"/>
          <p:nvPr/>
        </p:nvSpPr>
        <p:spPr>
          <a:xfrm>
            <a:off x="6464808" y="3703320"/>
            <a:ext cx="2057400" cy="1188720"/>
          </a:xfrm>
          <a:prstGeom prst="rect">
            <a:avLst/>
          </a:prstGeom>
          <a:noFill/>
        </p:spPr>
        <p:txBody>
          <a:bodyPr wrap="square" lIns="0" rIns="0" tIns="0" bIns="0" anchor="ctr">
            <a:noAutofit/>
          </a:bodyPr>
          <a:lstStyle/>
          <a:p>
            <a:pPr algn="l">
              <a:spcAft>
                <a:spcPts val="400"/>
              </a:spcAft>
            </a:pPr>
            <a:r>
              <a:rPr sz="1150" b="1" lang="en-GB">
                <a:solidFill>
                  <a:schemeClr val="bg1"/>
                </a:solidFill>
              </a:rPr>
              <a:t>Have an account? </a:t>
            </a:r>
            <a:r>
              <a:rPr sz="1150" b="0" lang="en-GB">
                <a:solidFill>
                  <a:schemeClr val="bg1"/>
                </a:solidFill>
              </a:rPr>
              <a:t>Keep it; add your WU address under Settings → Emails.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Secure it: two-factor authentication (2FA)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woFA body"/>
          <p:cNvSpPr/>
          <p:nvPr/>
        </p:nvSpPr>
        <p:spPr>
          <a:xfrm>
            <a:off x="457200" y="1645920"/>
            <a:ext cx="493776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woFA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woFA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Turn on 2FA</a:t>
            </a:r>
          </a:p>
        </p:txBody>
      </p:sp>
      <p:pic>
        <p:nvPicPr>
          <p:cNvPr id="13" name="Icon TwoFA" descr=""/>
          <p:cNvPicPr>
            <a:picLocks noChangeAspect="1"/>
          </p:cNvPicPr>
          <p:nvPr/>
        </p:nvPicPr>
        <p:blipFill>
          <a:blip r:embed="rId3"/>
          <a:stretch>
            <a:fillRect/>
          </a:stretch>
        </p:blipFill>
        <p:spPr>
          <a:xfrm>
            <a:off x="4956048" y="1284732"/>
            <a:ext cx="310896" cy="310896"/>
          </a:xfrm>
          <a:prstGeom prst="rect">
            <a:avLst/>
          </a:prstGeom>
        </p:spPr>
      </p:pic>
      <p:sp>
        <p:nvSpPr>
          <p:cNvPr id="14" name="TwoFA text"/>
          <p:cNvSpPr txBox="1"/>
          <p:nvPr/>
        </p:nvSpPr>
        <p:spPr>
          <a:xfrm>
            <a:off x="621792" y="1783080"/>
            <a:ext cx="4636008" cy="25146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Profile picture → </a:t>
            </a:r>
            <a:r>
              <a:rPr sz="1300" b="0" lang="en-GB">
                <a:solidFill>
                  <a:schemeClr val="tx1"/>
                </a:solidFill>
              </a:rPr>
              <a:t>Settings</a:t>
            </a:r>
          </a:p>
          <a:p>
            <a:pPr algn="l">
              <a:spcAft>
                <a:spcPts val="900"/>
              </a:spcAft>
            </a:pPr>
            <a:r>
              <a:rPr sz="1300" b="1" lang="en-GB">
                <a:solidFill>
                  <a:schemeClr val="accent1"/>
                </a:solidFill>
              </a:rPr>
              <a:t>2  </a:t>
            </a:r>
            <a:r>
              <a:rPr sz="1300" b="1" lang="en-GB">
                <a:solidFill>
                  <a:schemeClr val="tx2"/>
                </a:solidFill>
              </a:rPr>
              <a:t>Password and authentication → </a:t>
            </a:r>
            <a:r>
              <a:rPr sz="1300" b="0" lang="en-GB">
                <a:solidFill>
                  <a:schemeClr val="tx1"/>
                </a:solidFill>
              </a:rPr>
              <a:t>Enable two-factor authentication</a:t>
            </a:r>
          </a:p>
          <a:p>
            <a:pPr algn="l">
              <a:spcAft>
                <a:spcPts val="900"/>
              </a:spcAft>
            </a:pPr>
            <a:r>
              <a:rPr sz="1300" b="1" lang="en-GB">
                <a:solidFill>
                  <a:schemeClr val="accent1"/>
                </a:solidFill>
              </a:rPr>
              <a:t>3  </a:t>
            </a:r>
            <a:r>
              <a:rPr sz="1300" b="1" lang="en-GB">
                <a:solidFill>
                  <a:schemeClr val="tx2"/>
                </a:solidFill>
              </a:rPr>
              <a:t>Scan the QR code </a:t>
            </a:r>
            <a:r>
              <a:rPr sz="1300" b="0" lang="en-GB">
                <a:solidFill>
                  <a:schemeClr val="tx1"/>
                </a:solidFill>
              </a:rPr>
              <a:t>with an authenticator app</a:t>
            </a:r>
          </a:p>
          <a:p>
            <a:pPr algn="l">
              <a:spcAft>
                <a:spcPts val="900"/>
              </a:spcAft>
            </a:pPr>
            <a:r>
              <a:rPr sz="1300" b="1" lang="en-GB">
                <a:solidFill>
                  <a:schemeClr val="accent1"/>
                </a:solidFill>
              </a:rPr>
              <a:t>4  </a:t>
            </a:r>
            <a:r>
              <a:rPr sz="1300" b="1" lang="en-GB">
                <a:solidFill>
                  <a:schemeClr val="tx2"/>
                </a:solidFill>
              </a:rPr>
              <a:t>Type </a:t>
            </a:r>
            <a:r>
              <a:rPr sz="1300" b="0" lang="en-GB">
                <a:solidFill>
                  <a:schemeClr val="tx1"/>
                </a:solidFill>
              </a:rPr>
              <a:t>the 6-digit code from the app</a:t>
            </a:r>
          </a:p>
          <a:p>
            <a:pPr algn="l">
              <a:spcAft>
                <a:spcPts val="900"/>
              </a:spcAft>
            </a:pPr>
            <a:r>
              <a:rPr sz="1300" b="1" lang="en-GB">
                <a:solidFill>
                  <a:schemeClr val="accent1"/>
                </a:solidFill>
              </a:rPr>
              <a:t>5  </a:t>
            </a:r>
            <a:r>
              <a:rPr sz="1300" b="1" lang="en-GB">
                <a:solidFill>
                  <a:schemeClr val="tx2"/>
                </a:solidFill>
              </a:rPr>
              <a:t>Download </a:t>
            </a:r>
            <a:r>
              <a:rPr sz="1300" b="0" lang="en-GB">
                <a:solidFill>
                  <a:schemeClr val="tx1"/>
                </a:solidFill>
              </a:rPr>
              <a:t>your recovery codes and keep them safe</a:t>
            </a:r>
          </a:p>
          <a:p>
            <a:pPr algn="l">
              <a:spcAft>
                <a:spcPts val="900"/>
              </a:spcAft>
            </a:pPr>
            <a:r>
              <a:rPr sz="1300" b="1" lang="en-GB">
                <a:solidFill>
                  <a:schemeClr val="accent1"/>
                </a:solidFill>
              </a:rPr>
              <a:t>6  </a:t>
            </a:r>
            <a:r>
              <a:rPr sz="1300" b="1" lang="en-GB">
                <a:solidFill>
                  <a:schemeClr val="tx2"/>
                </a:solidFill>
              </a:rPr>
              <a:t>Add a backup: </a:t>
            </a:r>
            <a:r>
              <a:rPr sz="1300" b="0" lang="en-GB">
                <a:solidFill>
                  <a:schemeClr val="tx1"/>
                </a:solidFill>
              </a:rPr>
              <a:t>GitHub Mobile or a passkey</a:t>
            </a:r>
          </a:p>
        </p:txBody>
      </p:sp>
      <p:sp>
        <p:nvSpPr>
          <p:cNvPr id="15" name="2FA facts box"/>
          <p:cNvSpPr/>
          <p:nvPr/>
        </p:nvSpPr>
        <p:spPr>
          <a:xfrm>
            <a:off x="5532120" y="1234440"/>
            <a:ext cx="3154680" cy="3154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2FA bar 1"/>
          <p:cNvSpPr/>
          <p:nvPr/>
        </p:nvSpPr>
        <p:spPr>
          <a:xfrm>
            <a:off x="5669280" y="137160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2FA fact 1"/>
          <p:cNvSpPr txBox="1"/>
          <p:nvPr/>
        </p:nvSpPr>
        <p:spPr>
          <a:xfrm>
            <a:off x="5852160" y="1371600"/>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45</a:t>
            </a:r>
          </a:p>
          <a:p>
            <a:pPr algn="l">
              <a:spcAft>
                <a:spcPts val="0"/>
              </a:spcAft>
            </a:pPr>
            <a:r>
              <a:rPr sz="1200" b="0" lang="en-GB">
                <a:solidFill>
                  <a:schemeClr val="tx1"/>
                </a:solidFill>
              </a:rPr>
              <a:t>days to set it up once GitHub asks</a:t>
            </a:r>
          </a:p>
        </p:txBody>
      </p:sp>
      <p:sp>
        <p:nvSpPr>
          <p:cNvPr id="18" name="2FA bar 2"/>
          <p:cNvSpPr/>
          <p:nvPr/>
        </p:nvSpPr>
        <p:spPr>
          <a:xfrm>
            <a:off x="5669280" y="2359152"/>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2FA fact 2"/>
          <p:cNvSpPr txBox="1"/>
          <p:nvPr/>
        </p:nvSpPr>
        <p:spPr>
          <a:xfrm>
            <a:off x="5852160" y="2359152"/>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TOTP</a:t>
            </a:r>
          </a:p>
          <a:p>
            <a:pPr algn="l">
              <a:spcAft>
                <a:spcPts val="0"/>
              </a:spcAft>
            </a:pPr>
            <a:r>
              <a:rPr sz="1200" b="0" lang="en-GB">
                <a:solidFill>
                  <a:schemeClr val="tx1"/>
                </a:solidFill>
              </a:rPr>
              <a:t>app recommended as main method</a:t>
            </a:r>
          </a:p>
        </p:txBody>
      </p:sp>
      <p:sp>
        <p:nvSpPr>
          <p:cNvPr id="20" name="2FA bar 3"/>
          <p:cNvSpPr/>
          <p:nvPr/>
        </p:nvSpPr>
        <p:spPr>
          <a:xfrm>
            <a:off x="5669280" y="3346704"/>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2FA fact 3"/>
          <p:cNvSpPr txBox="1"/>
          <p:nvPr/>
        </p:nvSpPr>
        <p:spPr>
          <a:xfrm>
            <a:off x="5852160" y="3346704"/>
            <a:ext cx="2743200" cy="82296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16</a:t>
            </a:r>
          </a:p>
          <a:p>
            <a:pPr algn="l">
              <a:spcAft>
                <a:spcPts val="0"/>
              </a:spcAft>
            </a:pPr>
            <a:r>
              <a:rPr sz="1200" b="0" lang="en-GB">
                <a:solidFill>
                  <a:schemeClr val="tx1"/>
                </a:solidFill>
              </a:rPr>
              <a:t>recovery codes: your way back in</a:t>
            </a:r>
          </a:p>
        </p:txBody>
      </p:sp>
      <p:sp>
        <p:nvSpPr>
          <p:cNvPr id="22" name="2FA apps box"/>
          <p:cNvSpPr/>
          <p:nvPr/>
        </p:nvSpPr>
        <p:spPr>
          <a:xfrm>
            <a:off x="457200" y="452628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2FA apps" descr=""/>
          <p:cNvPicPr>
            <a:picLocks noChangeAspect="1"/>
          </p:cNvPicPr>
          <p:nvPr/>
        </p:nvPicPr>
        <p:blipFill>
          <a:blip r:embed="rId4"/>
          <a:stretch>
            <a:fillRect/>
          </a:stretch>
        </p:blipFill>
        <p:spPr>
          <a:xfrm>
            <a:off x="658368" y="4617720"/>
            <a:ext cx="365760" cy="365760"/>
          </a:xfrm>
          <a:prstGeom prst="rect">
            <a:avLst/>
          </a:prstGeom>
        </p:spPr>
      </p:pic>
      <p:sp>
        <p:nvSpPr>
          <p:cNvPr id="24" name="2FA apps text"/>
          <p:cNvSpPr txBox="1"/>
          <p:nvPr/>
        </p:nvSpPr>
        <p:spPr>
          <a:xfrm>
            <a:off x="1207008" y="452628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Apps that work: </a:t>
            </a:r>
            <a:r>
              <a:rPr sz="1200" b="0" lang="en-GB">
                <a:solidFill>
                  <a:schemeClr val="tx1"/>
                </a:solidFill>
              </a:rPr>
              <a:t>Microsoft Authenticator, Google Authenticator, 1Password, or GitHub Mobile as backup.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Keep your e-mail address private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mail body"/>
          <p:cNvSpPr/>
          <p:nvPr/>
        </p:nvSpPr>
        <p:spPr>
          <a:xfrm>
            <a:off x="457200" y="1645920"/>
            <a:ext cx="4937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mai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mai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your GitHub settings</a:t>
            </a:r>
          </a:p>
        </p:txBody>
      </p:sp>
      <p:pic>
        <p:nvPicPr>
          <p:cNvPr id="13" name="Icon Email" descr=""/>
          <p:cNvPicPr>
            <a:picLocks noChangeAspect="1"/>
          </p:cNvPicPr>
          <p:nvPr/>
        </p:nvPicPr>
        <p:blipFill>
          <a:blip r:embed="rId3"/>
          <a:stretch>
            <a:fillRect/>
          </a:stretch>
        </p:blipFill>
        <p:spPr>
          <a:xfrm>
            <a:off x="4956048" y="1284732"/>
            <a:ext cx="310896" cy="310896"/>
          </a:xfrm>
          <a:prstGeom prst="rect">
            <a:avLst/>
          </a:prstGeom>
        </p:spPr>
      </p:pic>
      <p:sp>
        <p:nvSpPr>
          <p:cNvPr id="14" name="Email text"/>
          <p:cNvSpPr txBox="1"/>
          <p:nvPr/>
        </p:nvSpPr>
        <p:spPr>
          <a:xfrm>
            <a:off x="621792" y="1783080"/>
            <a:ext cx="463600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 </a:t>
            </a:r>
            <a:r>
              <a:rPr sz="1300" b="0" lang="en-GB">
                <a:solidFill>
                  <a:schemeClr val="tx1"/>
                </a:solidFill>
              </a:rPr>
              <a:t>Emails</a:t>
            </a:r>
          </a:p>
          <a:p>
            <a:pPr algn="l">
              <a:spcAft>
                <a:spcPts val="900"/>
              </a:spcAft>
            </a:pPr>
            <a:r>
              <a:rPr sz="1300" b="1" lang="en-GB">
                <a:solidFill>
                  <a:schemeClr val="accent1"/>
                </a:solidFill>
              </a:rPr>
              <a:t>2  </a:t>
            </a:r>
            <a:r>
              <a:rPr sz="1300" b="1" lang="en-GB">
                <a:solidFill>
                  <a:schemeClr val="tx2"/>
                </a:solidFill>
              </a:rPr>
              <a:t>Add </a:t>
            </a:r>
            <a:r>
              <a:rPr sz="1300" b="0" lang="en-GB">
                <a:solidFill>
                  <a:schemeClr val="tx1"/>
                </a:solidFill>
              </a:rPr>
              <a:t>your WU address if it is missing, and verify it</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Keep my email addresses private</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Block command line pushes that expose my email</a:t>
            </a:r>
          </a:p>
          <a:p>
            <a:pPr algn="l">
              <a:spcAft>
                <a:spcPts val="900"/>
              </a:spcAft>
            </a:pPr>
            <a:r>
              <a:rPr sz="1300" b="1" lang="en-GB">
                <a:solidFill>
                  <a:schemeClr val="accent1"/>
                </a:solidFill>
              </a:rPr>
              <a:t>5  </a:t>
            </a:r>
            <a:r>
              <a:rPr sz="1300" b="1" lang="en-GB">
                <a:solidFill>
                  <a:schemeClr val="tx2"/>
                </a:solidFill>
              </a:rPr>
              <a:t>Copy </a:t>
            </a:r>
            <a:r>
              <a:rPr sz="1300" b="0" lang="en-GB">
                <a:solidFill>
                  <a:schemeClr val="tx1"/>
                </a:solidFill>
              </a:rPr>
              <a:t>the noreply address shown there</a:t>
            </a:r>
          </a:p>
        </p:txBody>
      </p:sp>
      <p:sp>
        <p:nvSpPr>
          <p:cNvPr id="15" name="Noreply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Noreply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noreply address (example)</a:t>
            </a:r>
          </a:p>
        </p:txBody>
      </p:sp>
      <p:sp>
        <p:nvSpPr>
          <p:cNvPr id="17" name="Noreply box"/>
          <p:cNvSpPr/>
          <p:nvPr/>
        </p:nvSpPr>
        <p:spPr>
          <a:xfrm>
            <a:off x="5532120" y="1508760"/>
            <a:ext cx="315468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oreply code"/>
          <p:cNvSpPr txBox="1"/>
          <p:nvPr/>
        </p:nvSpPr>
        <p:spPr>
          <a:xfrm>
            <a:off x="5669280" y="1600200"/>
            <a:ext cx="2880360" cy="5486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1234567+anna-berger@</a:t>
            </a:r>
          </a:p>
          <a:p>
            <a:pPr algn="l">
              <a:spcAft>
                <a:spcPts val="0"/>
              </a:spcAft>
            </a:pPr>
            <a:r>
              <a:rPr sz="1100" b="0" lang="en-GB">
                <a:solidFill>
                  <a:schemeClr val="bg1"/>
                </a:solidFill>
                <a:latin typeface="Consolas"/>
              </a:rPr>
              <a:t>  users.noreply.github.com</a:t>
            </a:r>
          </a:p>
        </p:txBody>
      </p:sp>
      <p:sp>
        <p:nvSpPr>
          <p:cNvPr id="19" name="Email rows row 1"/>
          <p:cNvSpPr/>
          <p:nvPr/>
        </p:nvSpPr>
        <p:spPr>
          <a:xfrm>
            <a:off x="5532120" y="2377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mail rows bar 1"/>
          <p:cNvSpPr/>
          <p:nvPr/>
        </p:nvSpPr>
        <p:spPr>
          <a:xfrm>
            <a:off x="5532120" y="2377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mail rows text 1"/>
          <p:cNvSpPr txBox="1"/>
          <p:nvPr/>
        </p:nvSpPr>
        <p:spPr>
          <a:xfrm>
            <a:off x="5733288" y="2377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Public commits </a:t>
            </a:r>
            <a:r>
              <a:rPr sz="1200" b="0" lang="en-GB">
                <a:solidFill>
                  <a:schemeClr val="tx1"/>
                </a:solidFill>
              </a:rPr>
              <a:t>show the commit e-mail to anyone</a:t>
            </a:r>
          </a:p>
        </p:txBody>
      </p:sp>
      <p:sp>
        <p:nvSpPr>
          <p:cNvPr id="22" name="Email rows row 2"/>
          <p:cNvSpPr/>
          <p:nvPr/>
        </p:nvSpPr>
        <p:spPr>
          <a:xfrm>
            <a:off x="5532120" y="316382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mail rows bar 2"/>
          <p:cNvSpPr/>
          <p:nvPr/>
        </p:nvSpPr>
        <p:spPr>
          <a:xfrm>
            <a:off x="5532120" y="3163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mail rows text 2"/>
          <p:cNvSpPr txBox="1"/>
          <p:nvPr/>
        </p:nvSpPr>
        <p:spPr>
          <a:xfrm>
            <a:off x="5733288" y="316382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 noreply address </a:t>
            </a:r>
            <a:r>
              <a:rPr sz="1200" b="0" lang="en-GB">
                <a:solidFill>
                  <a:schemeClr val="tx1"/>
                </a:solidFill>
              </a:rPr>
              <a:t>still links commits to you</a:t>
            </a:r>
          </a:p>
        </p:txBody>
      </p:sp>
      <p:sp>
        <p:nvSpPr>
          <p:cNvPr id="25" name="Email WU box"/>
          <p:cNvSpPr/>
          <p:nvPr/>
        </p:nvSpPr>
        <p:spPr>
          <a:xfrm>
            <a:off x="457200" y="406908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mail WU" descr=""/>
          <p:cNvPicPr>
            <a:picLocks noChangeAspect="1"/>
          </p:cNvPicPr>
          <p:nvPr/>
        </p:nvPicPr>
        <p:blipFill>
          <a:blip r:embed="rId4"/>
          <a:stretch>
            <a:fillRect/>
          </a:stretch>
        </p:blipFill>
        <p:spPr>
          <a:xfrm>
            <a:off x="658368" y="4251960"/>
            <a:ext cx="365760" cy="365760"/>
          </a:xfrm>
          <a:prstGeom prst="rect">
            <a:avLst/>
          </a:prstGeom>
        </p:spPr>
      </p:pic>
      <p:sp>
        <p:nvSpPr>
          <p:cNvPr id="27" name="Email WU text"/>
          <p:cNvSpPr txBox="1"/>
          <p:nvPr/>
        </p:nvSpPr>
        <p:spPr>
          <a:xfrm>
            <a:off x="1207008" y="406908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WU address: </a:t>
            </a:r>
            <a:r>
              <a:rPr sz="1200" b="0" lang="en-GB">
                <a:solidFill>
                  <a:schemeClr val="bg1"/>
                </a:solidFill>
              </a:rPr>
              <a:t>keep it verified on your account. GitHub Education checks it, even when your commits use the noreply address.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18 · who qualifies, what you get, how to apply</a:t>
            </a:r>
          </a:p>
        </p:txBody>
      </p:sp>
      <p:sp>
        <p:nvSpPr>
          <p:cNvPr id="3" name="Title 2"/>
          <p:cNvSpPr>
            <a:spLocks noGrp="1"/>
          </p:cNvSpPr>
          <p:nvPr>
            <p:ph type="ctrTitle"/>
          </p:nvPr>
        </p:nvSpPr>
        <p:spPr/>
        <p:txBody>
          <a:bodyPr/>
          <a:lstStyle/>
          <a:p>
            <a:r>
              <a:rPr sz="1600" lang="en-GB"/>
              <a:t>GitHub Education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GitHub Education: what students get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et 1 body"/>
          <p:cNvSpPr/>
          <p:nvPr/>
        </p:nvSpPr>
        <p:spPr>
          <a:xfrm>
            <a:off x="45720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et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et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GitHub Copilot</a:t>
            </a:r>
          </a:p>
        </p:txBody>
      </p:sp>
      <p:pic>
        <p:nvPicPr>
          <p:cNvPr id="13" name="Icon Get 1" descr=""/>
          <p:cNvPicPr>
            <a:picLocks noChangeAspect="1"/>
          </p:cNvPicPr>
          <p:nvPr/>
        </p:nvPicPr>
        <p:blipFill>
          <a:blip r:embed="rId3"/>
          <a:stretch>
            <a:fillRect/>
          </a:stretch>
        </p:blipFill>
        <p:spPr>
          <a:xfrm>
            <a:off x="2670048" y="1284732"/>
            <a:ext cx="310896" cy="310896"/>
          </a:xfrm>
          <a:prstGeom prst="rect">
            <a:avLst/>
          </a:prstGeom>
        </p:spPr>
      </p:pic>
      <p:sp>
        <p:nvSpPr>
          <p:cNvPr id="14" name="Get 1 text"/>
          <p:cNvSpPr txBox="1"/>
          <p:nvPr/>
        </p:nvSpPr>
        <p:spPr>
          <a:xfrm>
            <a:off x="62179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for verified students, with premium features</a:t>
            </a:r>
          </a:p>
          <a:p>
            <a:pPr algn="l" marL="182880" indent="-182880">
              <a:spcAft>
                <a:spcPts val="600"/>
              </a:spcAft>
              <a:buClr>
                <a:schemeClr val="accent1"/>
              </a:buClr>
              <a:buFont typeface="Arial"/>
              <a:buChar char="▪"/>
            </a:pPr>
            <a:r>
              <a:rPr sz="1300" b="0" lang="en-GB">
                <a:solidFill>
                  <a:schemeClr val="tx1"/>
                </a:solidFill>
              </a:rPr>
              <a:t>Set up in Parts 7 to 12</a:t>
            </a:r>
          </a:p>
        </p:txBody>
      </p:sp>
      <p:sp>
        <p:nvSpPr>
          <p:cNvPr id="15" name="Get 2 body"/>
          <p:cNvSpPr/>
          <p:nvPr/>
        </p:nvSpPr>
        <p:spPr>
          <a:xfrm>
            <a:off x="324612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et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et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Codespaces</a:t>
            </a:r>
          </a:p>
        </p:txBody>
      </p:sp>
      <p:pic>
        <p:nvPicPr>
          <p:cNvPr id="18" name="Icon Get 2" descr=""/>
          <p:cNvPicPr>
            <a:picLocks noChangeAspect="1"/>
          </p:cNvPicPr>
          <p:nvPr/>
        </p:nvPicPr>
        <p:blipFill>
          <a:blip r:embed="rId4"/>
          <a:stretch>
            <a:fillRect/>
          </a:stretch>
        </p:blipFill>
        <p:spPr>
          <a:xfrm>
            <a:off x="5458968" y="1284732"/>
            <a:ext cx="310896" cy="310896"/>
          </a:xfrm>
          <a:prstGeom prst="rect">
            <a:avLst/>
          </a:prstGeom>
        </p:spPr>
      </p:pic>
      <p:sp>
        <p:nvSpPr>
          <p:cNvPr id="19" name="Get 2 text"/>
          <p:cNvSpPr txBox="1"/>
          <p:nvPr/>
        </p:nvSpPr>
        <p:spPr>
          <a:xfrm>
            <a:off x="341071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Cloud computers: up to 180 core hours a month</a:t>
            </a:r>
          </a:p>
          <a:p>
            <a:pPr algn="l" marL="182880" indent="-182880">
              <a:spcAft>
                <a:spcPts val="600"/>
              </a:spcAft>
              <a:buClr>
                <a:schemeClr val="accent1"/>
              </a:buClr>
              <a:buFont typeface="Arial"/>
              <a:buChar char="▪"/>
            </a:pPr>
            <a:r>
              <a:rPr sz="1300" b="0" lang="en-GB">
                <a:solidFill>
                  <a:schemeClr val="tx1"/>
                </a:solidFill>
              </a:rPr>
              <a:t>Not needed for this course</a:t>
            </a:r>
          </a:p>
        </p:txBody>
      </p:sp>
      <p:sp>
        <p:nvSpPr>
          <p:cNvPr id="20" name="Get 3 body"/>
          <p:cNvSpPr/>
          <p:nvPr/>
        </p:nvSpPr>
        <p:spPr>
          <a:xfrm>
            <a:off x="6035040" y="164592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et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Get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Developer Pack</a:t>
            </a:r>
          </a:p>
        </p:txBody>
      </p:sp>
      <p:pic>
        <p:nvPicPr>
          <p:cNvPr id="23" name="Icon Get 3" descr=""/>
          <p:cNvPicPr>
            <a:picLocks noChangeAspect="1"/>
          </p:cNvPicPr>
          <p:nvPr/>
        </p:nvPicPr>
        <p:blipFill>
          <a:blip r:embed="rId5"/>
          <a:stretch>
            <a:fillRect/>
          </a:stretch>
        </p:blipFill>
        <p:spPr>
          <a:xfrm>
            <a:off x="8247888" y="1284732"/>
            <a:ext cx="310896" cy="310896"/>
          </a:xfrm>
          <a:prstGeom prst="rect">
            <a:avLst/>
          </a:prstGeom>
        </p:spPr>
      </p:pic>
      <p:sp>
        <p:nvSpPr>
          <p:cNvPr id="24" name="Get 3 text"/>
          <p:cNvSpPr txBox="1"/>
          <p:nvPr/>
        </p:nvSpPr>
        <p:spPr>
          <a:xfrm>
            <a:off x="6199632" y="178308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offers from partner companies</a:t>
            </a:r>
          </a:p>
          <a:p>
            <a:pPr algn="l" marL="182880" indent="-182880">
              <a:spcAft>
                <a:spcPts val="600"/>
              </a:spcAft>
              <a:buClr>
                <a:schemeClr val="accent1"/>
              </a:buClr>
              <a:buFont typeface="Arial"/>
              <a:buChar char="▪"/>
            </a:pPr>
            <a:r>
              <a:rPr sz="1300" b="0" lang="en-GB">
                <a:solidFill>
                  <a:schemeClr val="tx1"/>
                </a:solidFill>
              </a:rPr>
              <a:t>Tools, domains, learning platforms</a:t>
            </a:r>
          </a:p>
        </p:txBody>
      </p:sp>
      <p:sp>
        <p:nvSpPr>
          <p:cNvPr id="25" name="Get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Get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Get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Portal: </a:t>
            </a:r>
            <a:r>
              <a:rPr sz="1200" b="0" lang="en-GB">
                <a:solidFill>
                  <a:schemeClr val="tx1"/>
                </a:solidFill>
              </a:rPr>
              <a:t>education.github.com shows your benefits once you are verified</a:t>
            </a:r>
          </a:p>
        </p:txBody>
      </p:sp>
      <p:sp>
        <p:nvSpPr>
          <p:cNvPr id="28" name="Get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Get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et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Time-limited: </a:t>
            </a:r>
            <a:r>
              <a:rPr sz="1200" b="0" lang="en-GB">
                <a:solidFill>
                  <a:schemeClr val="tx1"/>
                </a:solidFill>
              </a:rPr>
              <a:t>GitHub re-checks your status; benefits end when you are no longer a student</a:t>
            </a:r>
          </a:p>
        </p:txBody>
      </p:sp>
      <p:sp>
        <p:nvSpPr>
          <p:cNvPr id="31" name="Sources"/>
          <p:cNvSpPr txBox="1"/>
          <p:nvPr/>
        </p:nvSpPr>
        <p:spPr>
          <a:xfrm>
            <a:off x="457200" y="470916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About GitHub Education for students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Who qualifies, and which proof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alify card body"/>
          <p:cNvSpPr/>
          <p:nvPr/>
        </p:nvSpPr>
        <p:spPr>
          <a:xfrm>
            <a:off x="45720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alify card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alify card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 qualify if you</a:t>
            </a:r>
          </a:p>
        </p:txBody>
      </p:sp>
      <p:pic>
        <p:nvPicPr>
          <p:cNvPr id="13" name="Icon Qualify card" descr=""/>
          <p:cNvPicPr>
            <a:picLocks noChangeAspect="1"/>
          </p:cNvPicPr>
          <p:nvPr/>
        </p:nvPicPr>
        <p:blipFill>
          <a:blip r:embed="rId3"/>
          <a:stretch>
            <a:fillRect/>
          </a:stretch>
        </p:blipFill>
        <p:spPr>
          <a:xfrm>
            <a:off x="4041648" y="1284732"/>
            <a:ext cx="310896" cy="310896"/>
          </a:xfrm>
          <a:prstGeom prst="rect">
            <a:avLst/>
          </a:prstGeom>
        </p:spPr>
      </p:pic>
      <p:sp>
        <p:nvSpPr>
          <p:cNvPr id="14" name="Qualify card text"/>
          <p:cNvSpPr txBox="1"/>
          <p:nvPr/>
        </p:nvSpPr>
        <p:spPr>
          <a:xfrm>
            <a:off x="62179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Study in a degree programme (WU: yes)</a:t>
            </a:r>
          </a:p>
          <a:p>
            <a:pPr algn="l" marL="182880" indent="-182880">
              <a:spcAft>
                <a:spcPts val="600"/>
              </a:spcAft>
              <a:buClr>
                <a:schemeClr val="accent1"/>
              </a:buClr>
              <a:buFont typeface="Arial"/>
              <a:buChar char="▪"/>
            </a:pPr>
            <a:r>
              <a:rPr sz="1300" b="0" lang="en-GB">
                <a:solidFill>
                  <a:schemeClr val="tx1"/>
                </a:solidFill>
              </a:rPr>
              <a:t>Have your own personal GitHub account</a:t>
            </a:r>
          </a:p>
          <a:p>
            <a:pPr algn="l" marL="182880" indent="-182880">
              <a:spcAft>
                <a:spcPts val="600"/>
              </a:spcAft>
              <a:buClr>
                <a:schemeClr val="accent1"/>
              </a:buClr>
              <a:buFont typeface="Arial"/>
              <a:buChar char="▪"/>
            </a:pPr>
            <a:r>
              <a:rPr sz="1300" b="0" lang="en-GB">
                <a:solidFill>
                  <a:schemeClr val="tx1"/>
                </a:solidFill>
              </a:rPr>
              <a:t>Are at least 13 years old</a:t>
            </a:r>
          </a:p>
          <a:p>
            <a:pPr algn="l" marL="182880" indent="-182880">
              <a:spcAft>
                <a:spcPts val="600"/>
              </a:spcAft>
              <a:buClr>
                <a:schemeClr val="accent1"/>
              </a:buClr>
              <a:buFont typeface="Arial"/>
              <a:buChar char="▪"/>
            </a:pPr>
            <a:r>
              <a:rPr sz="1300" b="0" lang="en-GB">
                <a:solidFill>
                  <a:schemeClr val="tx1"/>
                </a:solidFill>
              </a:rPr>
              <a:t>Can prove current enrolment</a:t>
            </a:r>
          </a:p>
        </p:txBody>
      </p:sp>
      <p:sp>
        <p:nvSpPr>
          <p:cNvPr id="15" name="Proof card body"/>
          <p:cNvSpPr/>
          <p:nvPr/>
        </p:nvSpPr>
        <p:spPr>
          <a:xfrm>
            <a:off x="4663440" y="1645920"/>
            <a:ext cx="40233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of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oof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Proof GitHub accepts</a:t>
            </a:r>
          </a:p>
        </p:txBody>
      </p:sp>
      <p:pic>
        <p:nvPicPr>
          <p:cNvPr id="18" name="Icon Proof card" descr=""/>
          <p:cNvPicPr>
            <a:picLocks noChangeAspect="1"/>
          </p:cNvPicPr>
          <p:nvPr/>
        </p:nvPicPr>
        <p:blipFill>
          <a:blip r:embed="rId4"/>
          <a:stretch>
            <a:fillRect/>
          </a:stretch>
        </p:blipFill>
        <p:spPr>
          <a:xfrm>
            <a:off x="8247888" y="1284732"/>
            <a:ext cx="310896" cy="310896"/>
          </a:xfrm>
          <a:prstGeom prst="rect">
            <a:avLst/>
          </a:prstGeom>
        </p:spPr>
      </p:pic>
      <p:sp>
        <p:nvSpPr>
          <p:cNvPr id="19" name="Proof card text"/>
          <p:cNvSpPr txBox="1"/>
          <p:nvPr/>
        </p:nvSpPr>
        <p:spPr>
          <a:xfrm>
            <a:off x="4828032" y="1783080"/>
            <a:ext cx="372160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Student ID showing the current enrolment date</a:t>
            </a:r>
          </a:p>
          <a:p>
            <a:pPr algn="l" marL="182880" indent="-182880">
              <a:spcAft>
                <a:spcPts val="600"/>
              </a:spcAft>
              <a:buClr>
                <a:schemeClr val="accent1"/>
              </a:buClr>
              <a:buFont typeface="Arial"/>
              <a:buChar char="▪"/>
            </a:pPr>
            <a:r>
              <a:rPr sz="1300" b="0" lang="en-GB">
                <a:solidFill>
                  <a:schemeClr val="tx1"/>
                </a:solidFill>
              </a:rPr>
              <a:t>Enrolment confirmation (Studienbestätigung)</a:t>
            </a:r>
          </a:p>
          <a:p>
            <a:pPr algn="l" marL="182880" indent="-182880">
              <a:spcAft>
                <a:spcPts val="600"/>
              </a:spcAft>
              <a:buClr>
                <a:schemeClr val="accent1"/>
              </a:buClr>
              <a:buFont typeface="Arial"/>
              <a:buChar char="▪"/>
            </a:pPr>
            <a:r>
              <a:rPr sz="1300" b="0" lang="en-GB">
                <a:solidFill>
                  <a:schemeClr val="tx1"/>
                </a:solidFill>
              </a:rPr>
              <a:t>Transcript of records</a:t>
            </a:r>
          </a:p>
          <a:p>
            <a:pPr algn="l" marL="182880" indent="-182880">
              <a:spcAft>
                <a:spcPts val="600"/>
              </a:spcAft>
              <a:buClr>
                <a:schemeClr val="accent1"/>
              </a:buClr>
              <a:buFont typeface="Arial"/>
              <a:buChar char="▪"/>
            </a:pPr>
            <a:r>
              <a:rPr sz="1300" b="0" lang="en-GB">
                <a:solidFill>
                  <a:schemeClr val="tx1"/>
                </a:solidFill>
              </a:rPr>
              <a:t>Your class schedule</a:t>
            </a:r>
          </a:p>
        </p:txBody>
      </p:sp>
      <p:sp>
        <p:nvSpPr>
          <p:cNvPr id="20" name="Qualify mail box"/>
          <p:cNvSpPr/>
          <p:nvPr/>
        </p:nvSpPr>
        <p:spPr>
          <a:xfrm>
            <a:off x="457200" y="393192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Qualify mail" descr=""/>
          <p:cNvPicPr>
            <a:picLocks noChangeAspect="1"/>
          </p:cNvPicPr>
          <p:nvPr/>
        </p:nvPicPr>
        <p:blipFill>
          <a:blip r:embed="rId5"/>
          <a:stretch>
            <a:fillRect/>
          </a:stretch>
        </p:blipFill>
        <p:spPr>
          <a:xfrm>
            <a:off x="658368" y="4114800"/>
            <a:ext cx="365760" cy="365760"/>
          </a:xfrm>
          <a:prstGeom prst="rect">
            <a:avLst/>
          </a:prstGeom>
        </p:spPr>
      </p:pic>
      <p:sp>
        <p:nvSpPr>
          <p:cNvPr id="22" name="Qualify mail text"/>
          <p:cNvSpPr txBox="1"/>
          <p:nvPr/>
        </p:nvSpPr>
        <p:spPr>
          <a:xfrm>
            <a:off x="1207008" y="393192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Academic e-mail first: </a:t>
            </a:r>
            <a:r>
              <a:rPr sz="1200" b="0" lang="en-GB">
                <a:solidFill>
                  <a:schemeClr val="bg1"/>
                </a:solidFill>
              </a:rPr>
              <a:t>add and verify your WU address in GitHub before you apply; lower case, no plus sign (anna+x@...).</a:t>
            </a:r>
          </a:p>
        </p:txBody>
      </p:sp>
      <p:sp>
        <p:nvSpPr>
          <p:cNvPr id="23" name="Sources"/>
          <p:cNvSpPr txBox="1"/>
          <p:nvPr/>
        </p:nvSpPr>
        <p:spPr>
          <a:xfrm>
            <a:off x="457200" y="475488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GitHub Docs, Apply to GitHub Education as a student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Apply in six steps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pply row 1"/>
          <p:cNvSpPr/>
          <p:nvPr/>
        </p:nvSpPr>
        <p:spPr>
          <a:xfrm>
            <a:off x="457200" y="123444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pply number 1"/>
          <p:cNvSpPr/>
          <p:nvPr/>
        </p:nvSpPr>
        <p:spPr>
          <a:xfrm>
            <a:off x="594360" y="1316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Apply text 1"/>
          <p:cNvSpPr txBox="1"/>
          <p:nvPr/>
        </p:nvSpPr>
        <p:spPr>
          <a:xfrm>
            <a:off x="1051560" y="1234440"/>
            <a:ext cx="4526280" cy="475488"/>
          </a:xfrm>
          <a:prstGeom prst="rect">
            <a:avLst/>
          </a:prstGeom>
          <a:noFill/>
        </p:spPr>
        <p:txBody>
          <a:bodyPr wrap="square" lIns="0" rIns="0" tIns="0" bIns="0" anchor="ctr">
            <a:noAutofit/>
          </a:bodyPr>
          <a:lstStyle/>
          <a:p>
            <a:pPr algn="l">
              <a:spcAft>
                <a:spcPts val="400"/>
              </a:spcAft>
            </a:pPr>
            <a:r>
              <a:rPr sz="1200" b="0" lang="en-GB">
                <a:solidFill>
                  <a:schemeClr val="tx1"/>
                </a:solidFill>
              </a:rPr>
              <a:t>Open </a:t>
            </a:r>
            <a:r>
              <a:rPr sz="1200" b="0" lang="en-GB">
                <a:solidFill>
                  <a:schemeClr val="accent1"/>
                </a:solidFill>
                <a:hlinkClick r:id="rId3"/>
              </a:rPr>
              <a:t>github.com/settings/education/benefits</a:t>
            </a:r>
          </a:p>
        </p:txBody>
      </p:sp>
      <p:sp>
        <p:nvSpPr>
          <p:cNvPr id="13" name="Apply row 2"/>
          <p:cNvSpPr/>
          <p:nvPr/>
        </p:nvSpPr>
        <p:spPr>
          <a:xfrm>
            <a:off x="457200" y="1773936"/>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pply number 2"/>
          <p:cNvSpPr/>
          <p:nvPr/>
        </p:nvSpPr>
        <p:spPr>
          <a:xfrm>
            <a:off x="594360" y="18562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Apply text 2"/>
          <p:cNvSpPr txBox="1"/>
          <p:nvPr/>
        </p:nvSpPr>
        <p:spPr>
          <a:xfrm>
            <a:off x="1051560" y="1773936"/>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Click </a:t>
            </a:r>
            <a:r>
              <a:rPr sz="1200" b="0" lang="en-GB">
                <a:solidFill>
                  <a:schemeClr val="tx1"/>
                </a:solidFill>
              </a:rPr>
              <a:t>Start an application; choose Student</a:t>
            </a:r>
          </a:p>
        </p:txBody>
      </p:sp>
      <p:sp>
        <p:nvSpPr>
          <p:cNvPr id="16" name="Apply row 3"/>
          <p:cNvSpPr/>
          <p:nvPr/>
        </p:nvSpPr>
        <p:spPr>
          <a:xfrm>
            <a:off x="457200" y="2313432"/>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pply number 3"/>
          <p:cNvSpPr/>
          <p:nvPr/>
        </p:nvSpPr>
        <p:spPr>
          <a:xfrm>
            <a:off x="594360" y="23957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Apply text 3"/>
          <p:cNvSpPr txBox="1"/>
          <p:nvPr/>
        </p:nvSpPr>
        <p:spPr>
          <a:xfrm>
            <a:off x="1051560" y="2313432"/>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School: </a:t>
            </a:r>
            <a:r>
              <a:rPr sz="1200" b="0" lang="en-GB">
                <a:solidFill>
                  <a:schemeClr val="tx1"/>
                </a:solidFill>
              </a:rPr>
              <a:t>Vienna University of Economics and Business</a:t>
            </a:r>
          </a:p>
        </p:txBody>
      </p:sp>
      <p:sp>
        <p:nvSpPr>
          <p:cNvPr id="19" name="Apply row 4"/>
          <p:cNvSpPr/>
          <p:nvPr/>
        </p:nvSpPr>
        <p:spPr>
          <a:xfrm>
            <a:off x="457200" y="2852928"/>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pply number 4"/>
          <p:cNvSpPr/>
          <p:nvPr/>
        </p:nvSpPr>
        <p:spPr>
          <a:xfrm>
            <a:off x="594360" y="29352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Apply text 4"/>
          <p:cNvSpPr txBox="1"/>
          <p:nvPr/>
        </p:nvSpPr>
        <p:spPr>
          <a:xfrm>
            <a:off x="1051560" y="2852928"/>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select your verified WU address</a:t>
            </a:r>
          </a:p>
        </p:txBody>
      </p:sp>
      <p:sp>
        <p:nvSpPr>
          <p:cNvPr id="22" name="Apply row 5"/>
          <p:cNvSpPr/>
          <p:nvPr/>
        </p:nvSpPr>
        <p:spPr>
          <a:xfrm>
            <a:off x="457200" y="3392424"/>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pply number 5"/>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Apply text 5"/>
          <p:cNvSpPr txBox="1"/>
          <p:nvPr/>
        </p:nvSpPr>
        <p:spPr>
          <a:xfrm>
            <a:off x="1051560" y="3392424"/>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Proof: </a:t>
            </a:r>
            <a:r>
              <a:rPr sz="1200" b="0" lang="en-GB">
                <a:solidFill>
                  <a:schemeClr val="tx1"/>
                </a:solidFill>
              </a:rPr>
              <a:t>upload or photograph your document</a:t>
            </a:r>
          </a:p>
        </p:txBody>
      </p:sp>
      <p:sp>
        <p:nvSpPr>
          <p:cNvPr id="25" name="Apply row 6"/>
          <p:cNvSpPr/>
          <p:nvPr/>
        </p:nvSpPr>
        <p:spPr>
          <a:xfrm>
            <a:off x="457200" y="3931920"/>
            <a:ext cx="52578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Apply number 6"/>
          <p:cNvSpPr/>
          <p:nvPr/>
        </p:nvSpPr>
        <p:spPr>
          <a:xfrm>
            <a:off x="594360" y="4014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Apply text 6"/>
          <p:cNvSpPr txBox="1"/>
          <p:nvPr/>
        </p:nvSpPr>
        <p:spPr>
          <a:xfrm>
            <a:off x="1051560" y="3931920"/>
            <a:ext cx="45262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Submit </a:t>
            </a:r>
            <a:r>
              <a:rPr sz="1200" b="0" lang="en-GB">
                <a:solidFill>
                  <a:schemeClr val="tx1"/>
                </a:solidFill>
              </a:rPr>
              <a:t>and wait for the e-mail with the decision</a:t>
            </a:r>
          </a:p>
        </p:txBody>
      </p:sp>
      <p:sp>
        <p:nvSpPr>
          <p:cNvPr id="28" name="Apply tips box"/>
          <p:cNvSpPr/>
          <p:nvPr/>
        </p:nvSpPr>
        <p:spPr>
          <a:xfrm>
            <a:off x="5852160" y="1234440"/>
            <a:ext cx="2834640" cy="37307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pply tips head"/>
          <p:cNvSpPr txBox="1"/>
          <p:nvPr/>
        </p:nvSpPr>
        <p:spPr>
          <a:xfrm>
            <a:off x="5989320" y="1325880"/>
            <a:ext cx="260604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Photo tips</a:t>
            </a:r>
          </a:p>
        </p:txBody>
      </p:sp>
      <p:sp>
        <p:nvSpPr>
          <p:cNvPr id="30" name="Apply tips"/>
          <p:cNvSpPr txBox="1"/>
          <p:nvPr/>
        </p:nvSpPr>
        <p:spPr>
          <a:xfrm>
            <a:off x="5989320" y="1737360"/>
            <a:ext cx="2606040" cy="3108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200" b="0" lang="en-GB">
                <a:solidFill>
                  <a:schemeClr val="tx1"/>
                </a:solidFill>
              </a:rPr>
              <a:t>Whole document in the frame</a:t>
            </a:r>
          </a:p>
          <a:p>
            <a:pPr algn="l" marL="182880" indent="-182880">
              <a:spcAft>
                <a:spcPts val="600"/>
              </a:spcAft>
              <a:buClr>
                <a:schemeClr val="accent1"/>
              </a:buClr>
              <a:buFont typeface="Arial"/>
              <a:buChar char="▪"/>
            </a:pPr>
            <a:r>
              <a:rPr sz="1200" b="0" lang="en-GB">
                <a:solidFill>
                  <a:schemeClr val="tx1"/>
                </a:solidFill>
              </a:rPr>
              <a:t>Name, school and current date readable</a:t>
            </a:r>
          </a:p>
          <a:p>
            <a:pPr algn="l" marL="182880" indent="-182880">
              <a:spcAft>
                <a:spcPts val="600"/>
              </a:spcAft>
              <a:buClr>
                <a:schemeClr val="accent1"/>
              </a:buClr>
              <a:buFont typeface="Arial"/>
              <a:buChar char="▪"/>
            </a:pPr>
            <a:r>
              <a:rPr sz="1200" b="0" lang="en-GB">
                <a:solidFill>
                  <a:schemeClr val="tx1"/>
                </a:solidFill>
              </a:rPr>
              <a:t>Daylight, no glare</a:t>
            </a:r>
          </a:p>
          <a:p>
            <a:pPr algn="l" marL="182880" indent="-182880">
              <a:spcAft>
                <a:spcPts val="600"/>
              </a:spcAft>
              <a:buClr>
                <a:schemeClr val="accent1"/>
              </a:buClr>
              <a:buFont typeface="Arial"/>
              <a:buChar char="▪"/>
            </a:pPr>
            <a:r>
              <a:rPr sz="1200" b="0" lang="en-GB">
                <a:solidFill>
                  <a:schemeClr val="tx1"/>
                </a:solidFill>
              </a:rPr>
              <a:t>Allow camera and location if the browser asks</a:t>
            </a:r>
          </a:p>
          <a:p>
            <a:pPr algn="l" marL="182880" indent="-182880">
              <a:spcAft>
                <a:spcPts val="600"/>
              </a:spcAft>
              <a:buClr>
                <a:schemeClr val="accent1"/>
              </a:buClr>
              <a:buFont typeface="Arial"/>
              <a:buChar char="▪"/>
            </a:pPr>
            <a:r>
              <a:rPr sz="1200" b="0" lang="en-GB">
                <a:solidFill>
                  <a:schemeClr val="tx1"/>
                </a:solidFill>
              </a:rPr>
              <a:t>Check the status on the same page</a:t>
            </a:r>
          </a:p>
        </p:txBody>
      </p:sp>
      <p:sp>
        <p:nvSpPr>
          <p:cNvPr id="31" name="Apply wait box"/>
          <p:cNvSpPr/>
          <p:nvPr/>
        </p:nvSpPr>
        <p:spPr>
          <a:xfrm>
            <a:off x="457200" y="4480560"/>
            <a:ext cx="5257800" cy="4846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Apply wait" descr=""/>
          <p:cNvPicPr>
            <a:picLocks noChangeAspect="1"/>
          </p:cNvPicPr>
          <p:nvPr/>
        </p:nvPicPr>
        <p:blipFill>
          <a:blip r:embed="rId4"/>
          <a:stretch>
            <a:fillRect/>
          </a:stretch>
        </p:blipFill>
        <p:spPr>
          <a:xfrm>
            <a:off x="658368" y="4539996"/>
            <a:ext cx="365760" cy="365760"/>
          </a:xfrm>
          <a:prstGeom prst="rect">
            <a:avLst/>
          </a:prstGeom>
        </p:spPr>
      </p:pic>
      <p:sp>
        <p:nvSpPr>
          <p:cNvPr id="33" name="Apply wait text"/>
          <p:cNvSpPr txBox="1"/>
          <p:nvPr/>
        </p:nvSpPr>
        <p:spPr>
          <a:xfrm>
            <a:off x="1207008" y="4480560"/>
            <a:ext cx="4343400" cy="484632"/>
          </a:xfrm>
          <a:prstGeom prst="rect">
            <a:avLst/>
          </a:prstGeom>
          <a:noFill/>
        </p:spPr>
        <p:txBody>
          <a:bodyPr wrap="square" lIns="0" rIns="0" tIns="0" bIns="0" anchor="ctr">
            <a:noAutofit/>
          </a:bodyPr>
          <a:lstStyle/>
          <a:p>
            <a:pPr algn="l">
              <a:spcAft>
                <a:spcPts val="400"/>
              </a:spcAft>
            </a:pPr>
            <a:r>
              <a:rPr sz="1200" b="1" lang="en-GB">
                <a:solidFill>
                  <a:schemeClr val="bg1"/>
                </a:solidFill>
              </a:rPr>
              <a:t>Minutes to several days: </a:t>
            </a:r>
            <a:r>
              <a:rPr sz="1200" b="0" lang="en-GB">
                <a:solidFill>
                  <a:schemeClr val="bg1"/>
                </a:solidFill>
              </a:rPr>
              <a:t>carry on with Part 3 meanwhile.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eject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91840"/>
                <a:gridCol w="4937760"/>
              </a:tblGrid>
              <a:tr h="370840">
                <a:tc>
                  <a:txBody>
                    <a:bodyPr/>
                    <a:lstStyle/>
                    <a:p>
                      <a:r>
                        <a:rPr sz="1300" lang="en-GB"/>
                        <a:t>Reason</a:t>
                      </a:r>
                    </a:p>
                  </a:txBody>
                  <a:tcPr marT="55000" marB="55000"/>
                </a:tc>
                <a:tc>
                  <a:txBody>
                    <a:bodyPr/>
                    <a:lstStyle/>
                    <a:p>
                      <a:r>
                        <a:rPr sz="1300" lang="en-GB"/>
                        <a:t>What to do</a:t>
                      </a:r>
                    </a:p>
                  </a:txBody>
                  <a:tcPr marT="55000" marB="55000"/>
                </a:tc>
              </a:tr>
              <a:tr h="370840">
                <a:tc>
                  <a:txBody>
                    <a:bodyPr/>
                    <a:lstStyle/>
                    <a:p>
                      <a:r>
                        <a:rPr sz="1200" b="1" lang="en-GB"/>
                        <a:t>Blurry document, or no current date</a:t>
                      </a:r>
                    </a:p>
                  </a:txBody>
                  <a:tcPr marT="55000" marB="55000"/>
                </a:tc>
                <a:tc>
                  <a:txBody>
                    <a:bodyPr/>
                    <a:lstStyle/>
                    <a:p>
                      <a:r>
                        <a:rPr sz="1200" lang="en-GB"/>
                        <a:t>Reapply with a sharp photo of a dated enrolment confirmation</a:t>
                      </a:r>
                    </a:p>
                  </a:txBody>
                  <a:tcPr marT="55000" marB="55000"/>
                </a:tc>
              </a:tr>
              <a:tr h="370840">
                <a:tc>
                  <a:txBody>
                    <a:bodyPr/>
                    <a:lstStyle/>
                    <a:p>
                      <a:r>
                        <a:rPr sz="1200" b="1" lang="en-GB"/>
                        <a:t>WU address not added or not verified</a:t>
                      </a:r>
                    </a:p>
                  </a:txBody>
                  <a:tcPr marT="55000" marB="55000"/>
                </a:tc>
                <a:tc>
                  <a:txBody>
                    <a:bodyPr/>
                    <a:lstStyle/>
                    <a:p>
                      <a:r>
                        <a:rPr sz="1200" lang="en-GB"/>
                        <a:t>Settings → Emails: add it, click the link in the confirmation e-mail</a:t>
                      </a:r>
                    </a:p>
                  </a:txBody>
                  <a:tcPr marT="55000" marB="55000"/>
                </a:tc>
              </a:tr>
              <a:tr h="370840">
                <a:tc>
                  <a:txBody>
                    <a:bodyPr/>
                    <a:lstStyle/>
                    <a:p>
                      <a:r>
                        <a:rPr sz="1200" b="1" lang="en-GB"/>
                        <a:t>Address with capitals or a plus sign</a:t>
                      </a:r>
                    </a:p>
                  </a:txBody>
                  <a:tcPr marT="55000" marB="55000"/>
                </a:tc>
                <a:tc>
                  <a:txBody>
                    <a:bodyPr/>
                    <a:lstStyle/>
                    <a:p>
                      <a:r>
                        <a:rPr sz="1200" lang="en-GB"/>
                        <a:t>Delete it, add it again in lower case without +</a:t>
                      </a:r>
                    </a:p>
                  </a:txBody>
                  <a:tcPr marT="55000" marB="55000"/>
                </a:tc>
              </a:tr>
              <a:tr h="370840">
                <a:tc>
                  <a:txBody>
                    <a:bodyPr/>
                    <a:lstStyle/>
                    <a:p>
                      <a:r>
                        <a:rPr sz="1200" b="1" lang="en-GB"/>
                        <a:t>Address already used by another account</a:t>
                      </a:r>
                    </a:p>
                  </a:txBody>
                  <a:tcPr marT="55000" marB="55000"/>
                </a:tc>
                <a:tc>
                  <a:txBody>
                    <a:bodyPr/>
                    <a:lstStyle/>
                    <a:p>
                      <a:r>
                        <a:rPr sz="1200" lang="en-GB"/>
                        <a:t>Use the account that got the pack; merge accounts</a:t>
                      </a:r>
                    </a:p>
                  </a:txBody>
                  <a:tcPr marT="55000" marB="55000"/>
                </a:tc>
              </a:tr>
              <a:tr h="370840">
                <a:tc>
                  <a:txBody>
                    <a:bodyPr/>
                    <a:lstStyle/>
                    <a:p>
                      <a:r>
                        <a:rPr sz="1200" b="1" lang="en-GB"/>
                        <a:t>Still stuck</a:t>
                      </a:r>
                    </a:p>
                  </a:txBody>
                  <a:tcPr marT="55000" marB="55000"/>
                </a:tc>
                <a:tc>
                  <a:txBody>
                    <a:bodyPr/>
                    <a:lstStyle/>
                    <a:p>
                      <a:r>
                        <a:rPr sz="1200" lang="en-GB"/>
                        <a:t>support.github.com/contact/education, describe each step you tried</a:t>
                      </a:r>
                    </a:p>
                  </a:txBody>
                  <a:tcPr marT="55000" marB="55000"/>
                </a:tc>
              </a:tr>
            </a:tbl>
          </a:graphicData>
        </a:graphic>
      </p:graphicFrame>
      <p:sp>
        <p:nvSpPr>
          <p:cNvPr id="3" name="Title 2"/>
          <p:cNvSpPr>
            <a:spLocks noGrp="1"/>
          </p:cNvSpPr>
          <p:nvPr>
            <p:ph type="title"/>
          </p:nvPr>
        </p:nvSpPr>
        <p:spPr/>
        <p:txBody>
          <a:bodyPr/>
          <a:lstStyle/>
          <a:p>
            <a:r>
              <a:rPr sz="1600" lang="en-GB"/>
              <a:t>Not approved? Common reasons and fixes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pply box"/>
          <p:cNvSpPr/>
          <p:nvPr/>
        </p:nvSpPr>
        <p:spPr>
          <a:xfrm>
            <a:off x="457200" y="416052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eapply" descr=""/>
          <p:cNvPicPr>
            <a:picLocks noChangeAspect="1"/>
          </p:cNvPicPr>
          <p:nvPr/>
        </p:nvPicPr>
        <p:blipFill>
          <a:blip r:embed="rId3"/>
          <a:stretch>
            <a:fillRect/>
          </a:stretch>
        </p:blipFill>
        <p:spPr>
          <a:xfrm>
            <a:off x="658368" y="4274820"/>
            <a:ext cx="365760" cy="365760"/>
          </a:xfrm>
          <a:prstGeom prst="rect">
            <a:avLst/>
          </a:prstGeom>
        </p:spPr>
      </p:pic>
      <p:sp>
        <p:nvSpPr>
          <p:cNvPr id="12" name="Reapply text"/>
          <p:cNvSpPr txBox="1"/>
          <p:nvPr/>
        </p:nvSpPr>
        <p:spPr>
          <a:xfrm>
            <a:off x="1207008" y="416052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Reapply any time: </a:t>
            </a:r>
            <a:r>
              <a:rPr sz="1200" b="0" lang="en-GB">
                <a:solidFill>
                  <a:schemeClr val="tx1"/>
                </a:solidFill>
              </a:rPr>
              <a:t>same page, Start an application.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18 · download, sign in, your name and e-mail for commits</a:t>
            </a:r>
          </a:p>
        </p:txBody>
      </p:sp>
      <p:sp>
        <p:nvSpPr>
          <p:cNvPr id="3" name="Title 2"/>
          <p:cNvSpPr>
            <a:spLocks noGrp="1"/>
          </p:cNvSpPr>
          <p:nvPr>
            <p:ph type="ctrTitle"/>
          </p:nvPr>
        </p:nvSpPr>
        <p:spPr/>
        <p:txBody>
          <a:bodyPr/>
          <a:lstStyle/>
          <a:p>
            <a:r>
              <a:rPr sz="1600" lang="en-GB"/>
              <a:t>Install and set up GitHub Desktop</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in body"/>
          <p:cNvSpPr/>
          <p:nvPr/>
        </p:nvSpPr>
        <p:spPr>
          <a:xfrm>
            <a:off x="45720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in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in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Windows 10/11 (64-bit)</a:t>
            </a:r>
          </a:p>
        </p:txBody>
      </p:sp>
      <p:pic>
        <p:nvPicPr>
          <p:cNvPr id="13" name="Icon Win" descr=""/>
          <p:cNvPicPr>
            <a:picLocks noChangeAspect="1"/>
          </p:cNvPicPr>
          <p:nvPr/>
        </p:nvPicPr>
        <p:blipFill>
          <a:blip r:embed="rId3"/>
          <a:stretch>
            <a:fillRect/>
          </a:stretch>
        </p:blipFill>
        <p:spPr>
          <a:xfrm>
            <a:off x="4064508" y="1284732"/>
            <a:ext cx="310896" cy="310896"/>
          </a:xfrm>
          <a:prstGeom prst="rect">
            <a:avLst/>
          </a:prstGeom>
        </p:spPr>
      </p:pic>
      <p:sp>
        <p:nvSpPr>
          <p:cNvPr id="14" name="Win text"/>
          <p:cNvSpPr txBox="1"/>
          <p:nvPr/>
        </p:nvSpPr>
        <p:spPr>
          <a:xfrm>
            <a:off x="62179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Windows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setup file in Downloads</a:t>
            </a:r>
          </a:p>
          <a:p>
            <a:pPr algn="l">
              <a:spcAft>
                <a:spcPts val="900"/>
              </a:spcAft>
            </a:pPr>
            <a:r>
              <a:rPr sz="1300" b="1" lang="en-GB">
                <a:solidFill>
                  <a:schemeClr val="accent1"/>
                </a:solidFill>
              </a:rPr>
              <a:t>4  </a:t>
            </a:r>
            <a:r>
              <a:rPr sz="1300" b="1" lang="en-GB">
                <a:solidFill>
                  <a:schemeClr val="tx2"/>
                </a:solidFill>
              </a:rPr>
              <a:t>Wait: </a:t>
            </a:r>
            <a:r>
              <a:rPr sz="1300" b="0" lang="en-GB">
                <a:solidFill>
                  <a:schemeClr val="tx1"/>
                </a:solidFill>
              </a:rPr>
              <a:t>GitHub Desktop opens by itself</a:t>
            </a:r>
          </a:p>
        </p:txBody>
      </p:sp>
      <p:sp>
        <p:nvSpPr>
          <p:cNvPr id="15" name="Mac body"/>
          <p:cNvSpPr/>
          <p:nvPr/>
        </p:nvSpPr>
        <p:spPr>
          <a:xfrm>
            <a:off x="4640580" y="1645920"/>
            <a:ext cx="4046220" cy="2011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ac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ac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macOS 12 or later</a:t>
            </a:r>
          </a:p>
        </p:txBody>
      </p:sp>
      <p:pic>
        <p:nvPicPr>
          <p:cNvPr id="18" name="Icon Mac" descr=""/>
          <p:cNvPicPr>
            <a:picLocks noChangeAspect="1"/>
          </p:cNvPicPr>
          <p:nvPr/>
        </p:nvPicPr>
        <p:blipFill>
          <a:blip r:embed="rId5"/>
          <a:stretch>
            <a:fillRect/>
          </a:stretch>
        </p:blipFill>
        <p:spPr>
          <a:xfrm>
            <a:off x="8247888" y="1284732"/>
            <a:ext cx="310896" cy="310896"/>
          </a:xfrm>
          <a:prstGeom prst="rect">
            <a:avLst/>
          </a:prstGeom>
        </p:spPr>
      </p:pic>
      <p:sp>
        <p:nvSpPr>
          <p:cNvPr id="19" name="Mac text"/>
          <p:cNvSpPr txBox="1"/>
          <p:nvPr/>
        </p:nvSpPr>
        <p:spPr>
          <a:xfrm>
            <a:off x="4805172" y="1783080"/>
            <a:ext cx="3744468" cy="17830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desktop.github.com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Download for macOS</a:t>
            </a:r>
          </a:p>
          <a:p>
            <a:pPr algn="l">
              <a:spcAft>
                <a:spcPts val="900"/>
              </a:spcAft>
            </a:pPr>
            <a:r>
              <a:rPr sz="1300" b="1" lang="en-GB">
                <a:solidFill>
                  <a:schemeClr val="accent1"/>
                </a:solidFill>
              </a:rPr>
              <a:t>3  </a:t>
            </a:r>
            <a:r>
              <a:rPr sz="1300" b="1" lang="en-GB">
                <a:solidFill>
                  <a:schemeClr val="tx2"/>
                </a:solidFill>
              </a:rPr>
              <a:t>Double-click </a:t>
            </a:r>
            <a:r>
              <a:rPr sz="1300" b="0" lang="en-GB">
                <a:solidFill>
                  <a:schemeClr val="tx1"/>
                </a:solidFill>
              </a:rPr>
              <a:t>the zip file, then drag the app to Applications</a:t>
            </a:r>
          </a:p>
          <a:p>
            <a:pPr algn="l">
              <a:spcAft>
                <a:spcPts val="900"/>
              </a:spcAft>
            </a:pPr>
            <a:r>
              <a:rPr sz="1300" b="1" lang="en-GB">
                <a:solidFill>
                  <a:schemeClr val="accent1"/>
                </a:solidFill>
              </a:rPr>
              <a:t>4  </a:t>
            </a:r>
            <a:r>
              <a:rPr sz="1300" b="1" lang="en-GB">
                <a:solidFill>
                  <a:schemeClr val="tx2"/>
                </a:solidFill>
              </a:rPr>
              <a:t>Open </a:t>
            </a:r>
            <a:r>
              <a:rPr sz="1300" b="0" lang="en-GB">
                <a:solidFill>
                  <a:schemeClr val="tx1"/>
                </a:solidFill>
              </a:rPr>
              <a:t>GitHub Desktop from Applications</a:t>
            </a:r>
          </a:p>
        </p:txBody>
      </p:sp>
      <p:sp>
        <p:nvSpPr>
          <p:cNvPr id="20" name="Install rows row 1"/>
          <p:cNvSpPr/>
          <p:nvPr/>
        </p:nvSpPr>
        <p:spPr>
          <a:xfrm>
            <a:off x="457200" y="37947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nstall rows bar 1"/>
          <p:cNvSpPr/>
          <p:nvPr/>
        </p:nvSpPr>
        <p:spPr>
          <a:xfrm>
            <a:off x="457200" y="37947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nstall rows text 1"/>
          <p:cNvSpPr txBox="1"/>
          <p:nvPr/>
        </p:nvSpPr>
        <p:spPr>
          <a:xfrm>
            <a:off x="658368" y="37947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 included: </a:t>
            </a:r>
            <a:r>
              <a:rPr sz="1200" b="0" lang="en-GB">
                <a:solidFill>
                  <a:schemeClr val="tx1"/>
                </a:solidFill>
              </a:rPr>
              <a:t>you do not need to install Git separately</a:t>
            </a:r>
          </a:p>
        </p:txBody>
      </p:sp>
      <p:sp>
        <p:nvSpPr>
          <p:cNvPr id="23" name="Install rows row 2"/>
          <p:cNvSpPr/>
          <p:nvPr/>
        </p:nvSpPr>
        <p:spPr>
          <a:xfrm>
            <a:off x="457200" y="42976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nstall rows bar 2"/>
          <p:cNvSpPr/>
          <p:nvPr/>
        </p:nvSpPr>
        <p:spPr>
          <a:xfrm>
            <a:off x="457200" y="42976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nstall rows text 2"/>
          <p:cNvSpPr txBox="1"/>
          <p:nvPr/>
        </p:nvSpPr>
        <p:spPr>
          <a:xfrm>
            <a:off x="658368" y="42976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Updates: </a:t>
            </a:r>
            <a:r>
              <a:rPr sz="1200" b="0" lang="en-GB">
                <a:solidFill>
                  <a:schemeClr val="tx1"/>
                </a:solidFill>
              </a:rPr>
              <a:t>GitHub Desktop updates itself; restart it when it says so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Sign in to GitHub in GitHub Desktop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A body"/>
          <p:cNvSpPr/>
          <p:nvPr/>
        </p:nvSpPr>
        <p:spPr>
          <a:xfrm>
            <a:off x="45720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A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A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Open the Accounts pane</a:t>
            </a:r>
          </a:p>
        </p:txBody>
      </p:sp>
      <p:pic>
        <p:nvPicPr>
          <p:cNvPr id="13" name="Icon SignA" descr=""/>
          <p:cNvPicPr>
            <a:picLocks noChangeAspect="1"/>
          </p:cNvPicPr>
          <p:nvPr/>
        </p:nvPicPr>
        <p:blipFill>
          <a:blip r:embed="rId3"/>
          <a:stretch>
            <a:fillRect/>
          </a:stretch>
        </p:blipFill>
        <p:spPr>
          <a:xfrm>
            <a:off x="4041648" y="1284732"/>
            <a:ext cx="310896" cy="310896"/>
          </a:xfrm>
          <a:prstGeom prst="rect">
            <a:avLst/>
          </a:prstGeom>
        </p:spPr>
      </p:pic>
      <p:sp>
        <p:nvSpPr>
          <p:cNvPr id="14" name="SignA text"/>
          <p:cNvSpPr txBox="1"/>
          <p:nvPr/>
        </p:nvSpPr>
        <p:spPr>
          <a:xfrm>
            <a:off x="62179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Accounts</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Accounts</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Sign in to GitHub.com</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Continue with browser</a:t>
            </a:r>
          </a:p>
        </p:txBody>
      </p:sp>
      <p:sp>
        <p:nvSpPr>
          <p:cNvPr id="15" name="SignB body"/>
          <p:cNvSpPr/>
          <p:nvPr/>
        </p:nvSpPr>
        <p:spPr>
          <a:xfrm>
            <a:off x="466344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B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ignB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browser</a:t>
            </a:r>
          </a:p>
        </p:txBody>
      </p:sp>
      <p:pic>
        <p:nvPicPr>
          <p:cNvPr id="18" name="Icon SignB" descr=""/>
          <p:cNvPicPr>
            <a:picLocks noChangeAspect="1"/>
          </p:cNvPicPr>
          <p:nvPr/>
        </p:nvPicPr>
        <p:blipFill>
          <a:blip r:embed="rId4"/>
          <a:stretch>
            <a:fillRect/>
          </a:stretch>
        </p:blipFill>
        <p:spPr>
          <a:xfrm>
            <a:off x="8247888" y="1284732"/>
            <a:ext cx="310896" cy="310896"/>
          </a:xfrm>
          <a:prstGeom prst="rect">
            <a:avLst/>
          </a:prstGeom>
        </p:spPr>
      </p:pic>
      <p:sp>
        <p:nvSpPr>
          <p:cNvPr id="19" name="SignB text"/>
          <p:cNvSpPr txBox="1"/>
          <p:nvPr/>
        </p:nvSpPr>
        <p:spPr>
          <a:xfrm>
            <a:off x="4828032" y="1783080"/>
            <a:ext cx="37216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Sign in </a:t>
            </a:r>
            <a:r>
              <a:rPr sz="1300" b="0" lang="en-GB">
                <a:solidFill>
                  <a:schemeClr val="tx1"/>
                </a:solidFill>
              </a:rPr>
              <a:t>with username and password</a:t>
            </a:r>
          </a:p>
          <a:p>
            <a:pPr algn="l">
              <a:spcAft>
                <a:spcPts val="900"/>
              </a:spcAft>
            </a:pPr>
            <a:r>
              <a:rPr sz="1300" b="1" lang="en-GB">
                <a:solidFill>
                  <a:schemeClr val="accent1"/>
                </a:solidFill>
              </a:rPr>
              <a:t>2  </a:t>
            </a:r>
            <a:r>
              <a:rPr sz="1300" b="1" lang="en-GB">
                <a:solidFill>
                  <a:schemeClr val="tx2"/>
                </a:solidFill>
              </a:rPr>
              <a:t>Enter </a:t>
            </a:r>
            <a:r>
              <a:rPr sz="1300" b="0" lang="en-GB">
                <a:solidFill>
                  <a:schemeClr val="tx1"/>
                </a:solidFill>
              </a:rPr>
              <a:t>the 2FA code from your app</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Authorize desktop</a:t>
            </a:r>
          </a:p>
          <a:p>
            <a:pPr algn="l">
              <a:spcAft>
                <a:spcPts val="900"/>
              </a:spcAft>
            </a:pPr>
            <a:r>
              <a:rPr sz="1300" b="1" lang="en-GB">
                <a:solidFill>
                  <a:schemeClr val="accent1"/>
                </a:solidFill>
              </a:rPr>
              <a:t>4  </a:t>
            </a:r>
            <a:r>
              <a:rPr sz="1300" b="1" lang="en-GB">
                <a:solidFill>
                  <a:schemeClr val="tx2"/>
                </a:solidFill>
              </a:rPr>
              <a:t>Allow </a:t>
            </a:r>
            <a:r>
              <a:rPr sz="1300" b="0" lang="en-GB">
                <a:solidFill>
                  <a:schemeClr val="tx1"/>
                </a:solidFill>
              </a:rPr>
              <a:t>the browser to open GitHub Desktop</a:t>
            </a:r>
          </a:p>
        </p:txBody>
      </p:sp>
      <p:sp>
        <p:nvSpPr>
          <p:cNvPr id="20" name="Sign done box"/>
          <p:cNvSpPr/>
          <p:nvPr/>
        </p:nvSpPr>
        <p:spPr>
          <a:xfrm>
            <a:off x="457200" y="42976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ign done" descr=""/>
          <p:cNvPicPr>
            <a:picLocks noChangeAspect="1"/>
          </p:cNvPicPr>
          <p:nvPr/>
        </p:nvPicPr>
        <p:blipFill>
          <a:blip r:embed="rId5"/>
          <a:stretch>
            <a:fillRect/>
          </a:stretch>
        </p:blipFill>
        <p:spPr>
          <a:xfrm>
            <a:off x="658368" y="4457700"/>
            <a:ext cx="365760" cy="365760"/>
          </a:xfrm>
          <a:prstGeom prst="rect">
            <a:avLst/>
          </a:prstGeom>
        </p:spPr>
      </p:pic>
      <p:sp>
        <p:nvSpPr>
          <p:cNvPr id="22" name="Sign done text"/>
          <p:cNvSpPr txBox="1"/>
          <p:nvPr/>
        </p:nvSpPr>
        <p:spPr>
          <a:xfrm>
            <a:off x="1207008" y="429768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Done when: </a:t>
            </a:r>
            <a:r>
              <a:rPr sz="1300" b="0" lang="en-GB">
                <a:solidFill>
                  <a:schemeClr val="bg1"/>
                </a:solidFill>
              </a:rPr>
              <a:t>your name and avatar appear in the Accounts pane.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name and e-mail for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itCfg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itCfg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itCfg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Options / Settings → Git</a:t>
            </a:r>
          </a:p>
        </p:txBody>
      </p:sp>
      <p:pic>
        <p:nvPicPr>
          <p:cNvPr id="13" name="Icon GitCfg" descr=""/>
          <p:cNvPicPr>
            <a:picLocks noChangeAspect="1"/>
          </p:cNvPicPr>
          <p:nvPr/>
        </p:nvPicPr>
        <p:blipFill>
          <a:blip r:embed="rId3"/>
          <a:stretch>
            <a:fillRect/>
          </a:stretch>
        </p:blipFill>
        <p:spPr>
          <a:xfrm>
            <a:off x="4956048" y="1284732"/>
            <a:ext cx="310896" cy="310896"/>
          </a:xfrm>
          <a:prstGeom prst="rect">
            <a:avLst/>
          </a:prstGeom>
        </p:spPr>
      </p:pic>
      <p:sp>
        <p:nvSpPr>
          <p:cNvPr id="14" name="GitCfg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Windows: </a:t>
            </a:r>
            <a:r>
              <a:rPr sz="1300" b="0" lang="en-GB">
                <a:solidFill>
                  <a:schemeClr val="tx1"/>
                </a:solidFill>
              </a:rPr>
              <a:t>File → Options → Git</a:t>
            </a:r>
          </a:p>
          <a:p>
            <a:pPr algn="l">
              <a:spcAft>
                <a:spcPts val="900"/>
              </a:spcAft>
            </a:pPr>
            <a:r>
              <a:rPr sz="1300" b="1" lang="en-GB">
                <a:solidFill>
                  <a:schemeClr val="accent1"/>
                </a:solidFill>
              </a:rPr>
              <a:t>2  </a:t>
            </a:r>
            <a:r>
              <a:rPr sz="1300" b="1" lang="en-GB">
                <a:solidFill>
                  <a:schemeClr val="tx2"/>
                </a:solidFill>
              </a:rPr>
              <a:t>macOS: </a:t>
            </a:r>
            <a:r>
              <a:rPr sz="1300" b="0" lang="en-GB">
                <a:solidFill>
                  <a:schemeClr val="tx1"/>
                </a:solidFill>
              </a:rPr>
              <a:t>GitHub Desktop → Settings → Git</a:t>
            </a:r>
          </a:p>
          <a:p>
            <a:pPr algn="l">
              <a:spcAft>
                <a:spcPts val="900"/>
              </a:spcAft>
            </a:pPr>
            <a:r>
              <a:rPr sz="1300" b="1" lang="en-GB">
                <a:solidFill>
                  <a:schemeClr val="accent1"/>
                </a:solidFill>
              </a:rPr>
              <a:t>3  </a:t>
            </a:r>
            <a:r>
              <a:rPr sz="1300" b="1" lang="en-GB">
                <a:solidFill>
                  <a:schemeClr val="tx2"/>
                </a:solidFill>
              </a:rPr>
              <a:t>Name: </a:t>
            </a:r>
            <a:r>
              <a:rPr sz="1300" b="0" lang="en-GB">
                <a:solidFill>
                  <a:schemeClr val="tx1"/>
                </a:solidFill>
              </a:rPr>
              <a:t>your real name, e.g. Anna Berger</a:t>
            </a:r>
          </a:p>
          <a:p>
            <a:pPr algn="l">
              <a:spcAft>
                <a:spcPts val="900"/>
              </a:spcAft>
            </a:pPr>
            <a:r>
              <a:rPr sz="1300" b="1" lang="en-GB">
                <a:solidFill>
                  <a:schemeClr val="accent1"/>
                </a:solidFill>
              </a:rPr>
              <a:t>4  </a:t>
            </a:r>
            <a:r>
              <a:rPr sz="1300" b="1" lang="en-GB">
                <a:solidFill>
                  <a:schemeClr val="tx2"/>
                </a:solidFill>
              </a:rPr>
              <a:t>Email: </a:t>
            </a:r>
            <a:r>
              <a:rPr sz="1300" b="0" lang="en-GB">
                <a:solidFill>
                  <a:schemeClr val="tx1"/>
                </a:solidFill>
              </a:rPr>
              <a:t>pick the …@users.noreply.github.com address</a:t>
            </a:r>
          </a:p>
          <a:p>
            <a:pPr algn="l">
              <a:spcAft>
                <a:spcPts val="900"/>
              </a:spcAft>
            </a:pPr>
            <a:r>
              <a:rPr sz="1300" b="1" lang="en-GB">
                <a:solidFill>
                  <a:schemeClr val="accent1"/>
                </a:solidFill>
              </a:rPr>
              <a:t>5  </a:t>
            </a:r>
            <a:r>
              <a:rPr sz="1300" b="1" lang="en-GB">
                <a:solidFill>
                  <a:schemeClr val="tx2"/>
                </a:solidFill>
              </a:rPr>
              <a:t>Default branch: </a:t>
            </a:r>
            <a:r>
              <a:rPr sz="1300" b="0" lang="en-GB">
                <a:solidFill>
                  <a:schemeClr val="tx1"/>
                </a:solidFill>
              </a:rPr>
              <a:t>leave it at main; click Save</a:t>
            </a:r>
          </a:p>
        </p:txBody>
      </p:sp>
      <p:sp>
        <p:nvSpPr>
          <p:cNvPr id="15" name="Git form"/>
          <p:cNvSpPr/>
          <p:nvPr/>
        </p:nvSpPr>
        <p:spPr>
          <a:xfrm>
            <a:off x="5532120" y="1234440"/>
            <a:ext cx="3154680" cy="274320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m label 1"/>
          <p:cNvSpPr txBox="1"/>
          <p:nvPr/>
        </p:nvSpPr>
        <p:spPr>
          <a:xfrm>
            <a:off x="5669280" y="137160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Name</a:t>
            </a:r>
          </a:p>
        </p:txBody>
      </p:sp>
      <p:sp>
        <p:nvSpPr>
          <p:cNvPr id="17" name="Form field 1"/>
          <p:cNvSpPr/>
          <p:nvPr/>
        </p:nvSpPr>
        <p:spPr>
          <a:xfrm>
            <a:off x="5669280" y="166420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orm value 1"/>
          <p:cNvSpPr txBox="1"/>
          <p:nvPr/>
        </p:nvSpPr>
        <p:spPr>
          <a:xfrm>
            <a:off x="5760720" y="166420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Anna Berger</a:t>
            </a:r>
          </a:p>
        </p:txBody>
      </p:sp>
      <p:sp>
        <p:nvSpPr>
          <p:cNvPr id="19" name="Form label 2"/>
          <p:cNvSpPr txBox="1"/>
          <p:nvPr/>
        </p:nvSpPr>
        <p:spPr>
          <a:xfrm>
            <a:off x="5669280" y="214884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Email</a:t>
            </a:r>
          </a:p>
        </p:txBody>
      </p:sp>
      <p:sp>
        <p:nvSpPr>
          <p:cNvPr id="20" name="Form field 2"/>
          <p:cNvSpPr/>
          <p:nvPr/>
        </p:nvSpPr>
        <p:spPr>
          <a:xfrm>
            <a:off x="5669280" y="244144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orm value 2"/>
          <p:cNvSpPr txBox="1"/>
          <p:nvPr/>
        </p:nvSpPr>
        <p:spPr>
          <a:xfrm>
            <a:off x="5760720" y="244144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1234567+anna-berger@users…</a:t>
            </a:r>
          </a:p>
        </p:txBody>
      </p:sp>
      <p:sp>
        <p:nvSpPr>
          <p:cNvPr id="22" name="Form label 3"/>
          <p:cNvSpPr txBox="1"/>
          <p:nvPr/>
        </p:nvSpPr>
        <p:spPr>
          <a:xfrm>
            <a:off x="5669280" y="2926080"/>
            <a:ext cx="2926080" cy="274320"/>
          </a:xfrm>
          <a:prstGeom prst="rect">
            <a:avLst/>
          </a:prstGeom>
          <a:noFill/>
        </p:spPr>
        <p:txBody>
          <a:bodyPr wrap="square" lIns="0" rIns="0" tIns="0" bIns="0" anchor="t">
            <a:noAutofit/>
          </a:bodyPr>
          <a:lstStyle/>
          <a:p>
            <a:pPr algn="l">
              <a:spcAft>
                <a:spcPts val="400"/>
              </a:spcAft>
            </a:pPr>
            <a:r>
              <a:rPr sz="1100" b="1" lang="en-GB">
                <a:solidFill>
                  <a:schemeClr val="tx2"/>
                </a:solidFill>
              </a:rPr>
              <a:t>Default branch</a:t>
            </a:r>
          </a:p>
        </p:txBody>
      </p:sp>
      <p:sp>
        <p:nvSpPr>
          <p:cNvPr id="23" name="Form field 3"/>
          <p:cNvSpPr/>
          <p:nvPr/>
        </p:nvSpPr>
        <p:spPr>
          <a:xfrm>
            <a:off x="5669280" y="3218688"/>
            <a:ext cx="2880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m value 3"/>
          <p:cNvSpPr txBox="1"/>
          <p:nvPr/>
        </p:nvSpPr>
        <p:spPr>
          <a:xfrm>
            <a:off x="5760720" y="3218688"/>
            <a:ext cx="2743200" cy="365760"/>
          </a:xfrm>
          <a:prstGeom prst="rect">
            <a:avLst/>
          </a:prstGeom>
          <a:noFill/>
        </p:spPr>
        <p:txBody>
          <a:bodyPr wrap="square" lIns="0" rIns="0" tIns="0" bIns="0" anchor="ctr">
            <a:noAutofit/>
          </a:bodyPr>
          <a:lstStyle/>
          <a:p>
            <a:pPr algn="l">
              <a:spcAft>
                <a:spcPts val="400"/>
              </a:spcAft>
            </a:pPr>
            <a:r>
              <a:rPr sz="1050" b="0" lang="en-GB">
                <a:solidFill>
                  <a:schemeClr val="tx1"/>
                </a:solidFill>
                <a:latin typeface="Consolas"/>
              </a:rPr>
              <a:t>main</a:t>
            </a:r>
          </a:p>
        </p:txBody>
      </p:sp>
      <p:sp>
        <p:nvSpPr>
          <p:cNvPr id="25" name="GitCfg note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GitCfg note" descr=""/>
          <p:cNvPicPr>
            <a:picLocks noChangeAspect="1"/>
          </p:cNvPicPr>
          <p:nvPr/>
        </p:nvPicPr>
        <p:blipFill>
          <a:blip r:embed="rId4"/>
          <a:stretch>
            <a:fillRect/>
          </a:stretch>
        </p:blipFill>
        <p:spPr>
          <a:xfrm>
            <a:off x="658368" y="4274820"/>
            <a:ext cx="365760" cy="365760"/>
          </a:xfrm>
          <a:prstGeom prst="rect">
            <a:avLst/>
          </a:prstGeom>
        </p:spPr>
      </p:pic>
      <p:sp>
        <p:nvSpPr>
          <p:cNvPr id="27" name="GitCfg note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Privacy: </a:t>
            </a:r>
            <a:r>
              <a:rPr sz="1200" b="0" lang="en-GB">
                <a:solidFill>
                  <a:schemeClr val="bg1"/>
                </a:solidFill>
              </a:rPr>
              <a:t>with the noreply address your WU or private e-mail never shows in a public repository.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18 · two ways to clone, where to put the folder, opening it in Positron</a:t>
            </a:r>
          </a:p>
        </p:txBody>
      </p:sp>
      <p:sp>
        <p:nvSpPr>
          <p:cNvPr id="3" name="Title 2"/>
          <p:cNvSpPr>
            <a:spLocks noGrp="1"/>
          </p:cNvSpPr>
          <p:nvPr>
            <p:ph type="ctrTitle"/>
          </p:nvPr>
        </p:nvSpPr>
        <p:spPr/>
        <p:txBody>
          <a:bodyPr/>
          <a:lstStyle/>
          <a:p>
            <a:r>
              <a:rPr sz="1600" lang="en-GB"/>
              <a:t>Clone a repository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Clone: two ways, same result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loneA body"/>
          <p:cNvSpPr/>
          <p:nvPr/>
        </p:nvSpPr>
        <p:spPr>
          <a:xfrm>
            <a:off x="45720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loneA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loneA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  From github.com</a:t>
            </a:r>
          </a:p>
        </p:txBody>
      </p:sp>
      <p:pic>
        <p:nvPicPr>
          <p:cNvPr id="13" name="Icon CloneA" descr=""/>
          <p:cNvPicPr>
            <a:picLocks noChangeAspect="1"/>
          </p:cNvPicPr>
          <p:nvPr/>
        </p:nvPicPr>
        <p:blipFill>
          <a:blip r:embed="rId3"/>
          <a:stretch>
            <a:fillRect/>
          </a:stretch>
        </p:blipFill>
        <p:spPr>
          <a:xfrm>
            <a:off x="4064508" y="1284732"/>
            <a:ext cx="310896" cy="310896"/>
          </a:xfrm>
          <a:prstGeom prst="rect">
            <a:avLst/>
          </a:prstGeom>
        </p:spPr>
      </p:pic>
      <p:sp>
        <p:nvSpPr>
          <p:cNvPr id="14" name="CloneA text"/>
          <p:cNvSpPr txBox="1"/>
          <p:nvPr/>
        </p:nvSpPr>
        <p:spPr>
          <a:xfrm>
            <a:off x="62179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page on github.com</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the green Code button</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Open with GitHub Desktop</a:t>
            </a:r>
          </a:p>
          <a:p>
            <a:pPr algn="l">
              <a:spcAft>
                <a:spcPts val="900"/>
              </a:spcAft>
            </a:pPr>
            <a:r>
              <a:rPr sz="1300" b="1" lang="en-GB">
                <a:solidFill>
                  <a:schemeClr val="accent1"/>
                </a:solidFill>
              </a:rPr>
              <a:t>4  </a:t>
            </a:r>
            <a:r>
              <a:rPr sz="1300" b="1" lang="en-GB">
                <a:solidFill>
                  <a:schemeClr val="tx2"/>
                </a:solidFill>
              </a:rPr>
              <a:t>Choose… </a:t>
            </a:r>
            <a:r>
              <a:rPr sz="1300" b="0" lang="en-GB">
                <a:solidFill>
                  <a:schemeClr val="tx1"/>
                </a:solidFill>
              </a:rPr>
              <a:t>a local folder, then Clone</a:t>
            </a:r>
          </a:p>
        </p:txBody>
      </p:sp>
      <p:sp>
        <p:nvSpPr>
          <p:cNvPr id="15" name="CloneB body"/>
          <p:cNvSpPr/>
          <p:nvPr/>
        </p:nvSpPr>
        <p:spPr>
          <a:xfrm>
            <a:off x="4640580" y="1645920"/>
            <a:ext cx="404622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loneB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loneB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  In GitHub Desktop</a:t>
            </a:r>
          </a:p>
        </p:txBody>
      </p:sp>
      <p:pic>
        <p:nvPicPr>
          <p:cNvPr id="18" name="Icon CloneB" descr=""/>
          <p:cNvPicPr>
            <a:picLocks noChangeAspect="1"/>
          </p:cNvPicPr>
          <p:nvPr/>
        </p:nvPicPr>
        <p:blipFill>
          <a:blip r:embed="rId4"/>
          <a:stretch>
            <a:fillRect/>
          </a:stretch>
        </p:blipFill>
        <p:spPr>
          <a:xfrm>
            <a:off x="8247888" y="1284732"/>
            <a:ext cx="310896" cy="310896"/>
          </a:xfrm>
          <a:prstGeom prst="rect">
            <a:avLst/>
          </a:prstGeom>
        </p:spPr>
      </p:pic>
      <p:sp>
        <p:nvSpPr>
          <p:cNvPr id="19" name="CloneB text"/>
          <p:cNvSpPr txBox="1"/>
          <p:nvPr/>
        </p:nvSpPr>
        <p:spPr>
          <a:xfrm>
            <a:off x="4805172" y="1783080"/>
            <a:ext cx="3744468" cy="201168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Clone repository</a:t>
            </a:r>
          </a:p>
          <a:p>
            <a:pPr algn="l">
              <a:spcAft>
                <a:spcPts val="900"/>
              </a:spcAft>
            </a:pPr>
            <a:r>
              <a:rPr sz="1300" b="1" lang="en-GB">
                <a:solidFill>
                  <a:schemeClr val="accent1"/>
                </a:solidFill>
              </a:rPr>
              <a:t>2  </a:t>
            </a:r>
            <a:r>
              <a:rPr sz="1300" b="1" lang="en-GB">
                <a:solidFill>
                  <a:schemeClr val="tx2"/>
                </a:solidFill>
              </a:rPr>
              <a:t>Tab URL: </a:t>
            </a:r>
            <a:r>
              <a:rPr sz="1300" b="0" lang="en-GB">
                <a:solidFill>
                  <a:schemeClr val="tx1"/>
                </a:solidFill>
              </a:rPr>
              <a:t>paste the repository address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a folder</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Clone</a:t>
            </a:r>
          </a:p>
        </p:txBody>
      </p:sp>
      <p:sp>
        <p:nvSpPr>
          <p:cNvPr id="20" name="Course URL caption bar"/>
          <p:cNvSpPr/>
          <p:nvPr/>
        </p:nvSpPr>
        <p:spPr>
          <a:xfrm>
            <a:off x="457200" y="402336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urse URL caption"/>
          <p:cNvSpPr txBox="1"/>
          <p:nvPr/>
        </p:nvSpPr>
        <p:spPr>
          <a:xfrm>
            <a:off x="566928" y="402336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The course repository (public: no sign-in needed to clone)</a:t>
            </a:r>
          </a:p>
        </p:txBody>
      </p:sp>
      <p:sp>
        <p:nvSpPr>
          <p:cNvPr id="22" name="Course URL box"/>
          <p:cNvSpPr/>
          <p:nvPr/>
        </p:nvSpPr>
        <p:spPr>
          <a:xfrm>
            <a:off x="457200" y="42976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urse URL code"/>
          <p:cNvSpPr txBox="1"/>
          <p:nvPr/>
        </p:nvSpPr>
        <p:spPr>
          <a:xfrm>
            <a:off x="594360" y="4389120"/>
            <a:ext cx="7955280" cy="4114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https://github.com/arnefloh-wu/international-marketing-analytics-teaching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the folder should live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ood place body"/>
          <p:cNvSpPr/>
          <p:nvPr/>
        </p:nvSpPr>
        <p:spPr>
          <a:xfrm>
            <a:off x="45720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ood plac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Good plac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places</a:t>
            </a:r>
          </a:p>
        </p:txBody>
      </p:sp>
      <p:pic>
        <p:nvPicPr>
          <p:cNvPr id="13" name="Icon Good place" descr=""/>
          <p:cNvPicPr>
            <a:picLocks noChangeAspect="1"/>
          </p:cNvPicPr>
          <p:nvPr/>
        </p:nvPicPr>
        <p:blipFill>
          <a:blip r:embed="rId3"/>
          <a:stretch>
            <a:fillRect/>
          </a:stretch>
        </p:blipFill>
        <p:spPr>
          <a:xfrm>
            <a:off x="4064508" y="1284732"/>
            <a:ext cx="310896" cy="310896"/>
          </a:xfrm>
          <a:prstGeom prst="rect">
            <a:avLst/>
          </a:prstGeom>
        </p:spPr>
      </p:pic>
      <p:sp>
        <p:nvSpPr>
          <p:cNvPr id="14" name="Good place text"/>
          <p:cNvSpPr txBox="1"/>
          <p:nvPr/>
        </p:nvSpPr>
        <p:spPr>
          <a:xfrm>
            <a:off x="62179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Windows: C:\Users\anna\wu\ima</a:t>
            </a:r>
          </a:p>
          <a:p>
            <a:pPr algn="l" marL="182880" indent="-182880">
              <a:spcAft>
                <a:spcPts val="600"/>
              </a:spcAft>
              <a:buClr>
                <a:schemeClr val="accent1"/>
              </a:buClr>
              <a:buFont typeface="Arial"/>
              <a:buChar char="▪"/>
            </a:pPr>
            <a:r>
              <a:rPr sz="1300" b="0" lang="en-GB">
                <a:solidFill>
                  <a:schemeClr val="tx1"/>
                </a:solidFill>
              </a:rPr>
              <a:t>macOS: /Users/anna/wu/ima</a:t>
            </a:r>
          </a:p>
          <a:p>
            <a:pPr algn="l" marL="182880" indent="-182880">
              <a:spcAft>
                <a:spcPts val="600"/>
              </a:spcAft>
              <a:buClr>
                <a:schemeClr val="accent1"/>
              </a:buClr>
              <a:buFont typeface="Arial"/>
              <a:buChar char="▪"/>
            </a:pPr>
            <a:r>
              <a:rPr sz="1300" b="0" lang="en-GB">
                <a:solidFill>
                  <a:schemeClr val="tx1"/>
                </a:solidFill>
              </a:rPr>
              <a:t>Short path, no spaces, no umlauts</a:t>
            </a:r>
          </a:p>
          <a:p>
            <a:pPr algn="l" marL="182880" indent="-182880">
              <a:spcAft>
                <a:spcPts val="600"/>
              </a:spcAft>
              <a:buClr>
                <a:schemeClr val="accent1"/>
              </a:buClr>
              <a:buFont typeface="Arial"/>
              <a:buChar char="▪"/>
            </a:pPr>
            <a:r>
              <a:rPr sz="1300" b="0" lang="en-GB">
                <a:solidFill>
                  <a:schemeClr val="tx1"/>
                </a:solidFill>
              </a:rPr>
              <a:t>On the laptop's own disk</a:t>
            </a:r>
          </a:p>
        </p:txBody>
      </p:sp>
      <p:sp>
        <p:nvSpPr>
          <p:cNvPr id="15" name="Bad place body"/>
          <p:cNvSpPr/>
          <p:nvPr/>
        </p:nvSpPr>
        <p:spPr>
          <a:xfrm>
            <a:off x="4640580" y="1645920"/>
            <a:ext cx="404622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 place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ad place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Avoid</a:t>
            </a:r>
          </a:p>
        </p:txBody>
      </p:sp>
      <p:pic>
        <p:nvPicPr>
          <p:cNvPr id="18" name="Icon Bad place" descr=""/>
          <p:cNvPicPr>
            <a:picLocks noChangeAspect="1"/>
          </p:cNvPicPr>
          <p:nvPr/>
        </p:nvPicPr>
        <p:blipFill>
          <a:blip r:embed="rId4"/>
          <a:stretch>
            <a:fillRect/>
          </a:stretch>
        </p:blipFill>
        <p:spPr>
          <a:xfrm>
            <a:off x="8247888" y="1284732"/>
            <a:ext cx="310896" cy="310896"/>
          </a:xfrm>
          <a:prstGeom prst="rect">
            <a:avLst/>
          </a:prstGeom>
        </p:spPr>
      </p:pic>
      <p:sp>
        <p:nvSpPr>
          <p:cNvPr id="19" name="Bad place text"/>
          <p:cNvSpPr txBox="1"/>
          <p:nvPr/>
        </p:nvSpPr>
        <p:spPr>
          <a:xfrm>
            <a:off x="4805172" y="1783080"/>
            <a:ext cx="374446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OneDrive, iCloud Drive, Dropbox folders</a:t>
            </a:r>
          </a:p>
          <a:p>
            <a:pPr algn="l" marL="182880" indent="-182880">
              <a:spcAft>
                <a:spcPts val="600"/>
              </a:spcAft>
              <a:buClr>
                <a:schemeClr val="accent1"/>
              </a:buClr>
              <a:buFont typeface="Arial"/>
              <a:buChar char="▪"/>
            </a:pPr>
            <a:r>
              <a:rPr sz="1300" b="0" lang="en-GB">
                <a:solidFill>
                  <a:schemeClr val="tx1"/>
                </a:solidFill>
              </a:rPr>
              <a:t>Desktop and Documents if they sync to the cloud</a:t>
            </a:r>
          </a:p>
          <a:p>
            <a:pPr algn="l" marL="182880" indent="-182880">
              <a:spcAft>
                <a:spcPts val="600"/>
              </a:spcAft>
              <a:buClr>
                <a:schemeClr val="accent1"/>
              </a:buClr>
              <a:buFont typeface="Arial"/>
              <a:buChar char="▪"/>
            </a:pPr>
            <a:r>
              <a:rPr sz="1300" b="0" lang="en-GB">
                <a:solidFill>
                  <a:schemeClr val="tx1"/>
                </a:solidFill>
              </a:rPr>
              <a:t>Paths like …/Mein Kurs (WU)/</a:t>
            </a:r>
          </a:p>
          <a:p>
            <a:pPr algn="l" marL="182880" indent="-182880">
              <a:spcAft>
                <a:spcPts val="600"/>
              </a:spcAft>
              <a:buClr>
                <a:schemeClr val="accent1"/>
              </a:buClr>
              <a:buFont typeface="Arial"/>
              <a:buChar char="▪"/>
            </a:pPr>
            <a:r>
              <a:rPr sz="1300" b="0" lang="en-GB">
                <a:solidFill>
                  <a:schemeClr val="tx1"/>
                </a:solidFill>
              </a:rPr>
              <a:t>USB sticks and network drives</a:t>
            </a:r>
          </a:p>
        </p:txBody>
      </p:sp>
      <p:sp>
        <p:nvSpPr>
          <p:cNvPr id="20" name="Place rows row 1"/>
          <p:cNvSpPr/>
          <p:nvPr/>
        </p:nvSpPr>
        <p:spPr>
          <a:xfrm>
            <a:off x="457200" y="36118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lace rows bar 1"/>
          <p:cNvSpPr/>
          <p:nvPr/>
        </p:nvSpPr>
        <p:spPr>
          <a:xfrm>
            <a:off x="457200" y="3611880"/>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ce rows text 1"/>
          <p:cNvSpPr txBox="1"/>
          <p:nvPr/>
        </p:nvSpPr>
        <p:spPr>
          <a:xfrm>
            <a:off x="658368" y="3611880"/>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Find the folder later: </a:t>
            </a:r>
            <a:r>
              <a:rPr sz="1200" b="0" lang="en-GB">
                <a:solidFill>
                  <a:schemeClr val="tx1"/>
                </a:solidFill>
              </a:rPr>
              <a:t>Repository → Show in Explorer (Windows) / Show in Finder (macOS)</a:t>
            </a:r>
          </a:p>
        </p:txBody>
      </p:sp>
      <p:sp>
        <p:nvSpPr>
          <p:cNvPr id="23" name="Place rows row 2"/>
          <p:cNvSpPr/>
          <p:nvPr/>
        </p:nvSpPr>
        <p:spPr>
          <a:xfrm>
            <a:off x="457200" y="4151376"/>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lace rows bar 2"/>
          <p:cNvSpPr/>
          <p:nvPr/>
        </p:nvSpPr>
        <p:spPr>
          <a:xfrm>
            <a:off x="457200" y="4151376"/>
            <a:ext cx="6400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lace rows text 2"/>
          <p:cNvSpPr txBox="1"/>
          <p:nvPr/>
        </p:nvSpPr>
        <p:spPr>
          <a:xfrm>
            <a:off x="658368" y="4151376"/>
            <a:ext cx="7936992"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Moved it by mistake? </a:t>
            </a:r>
            <a:r>
              <a:rPr sz="1200" b="0" lang="en-GB">
                <a:solidFill>
                  <a:schemeClr val="tx1"/>
                </a:solidFill>
              </a:rPr>
              <a:t>GitHub Desktop says it cannot find it: click Locate… and pick the new place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the clone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en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Clone in</a:t>
            </a:r>
            <a:br/>
            <a:r>
              <a:rPr sz="1100" b="1" lang="en-GB">
                <a:solidFill>
                  <a:schemeClr val="tx2"/>
                </a:solidFill>
              </a:rPr>
              <a:t>GitHub Desktop</a:t>
            </a:r>
          </a:p>
        </p:txBody>
      </p:sp>
      <p:sp>
        <p:nvSpPr>
          <p:cNvPr id="11" name="Open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Positron:</a:t>
            </a:r>
            <a:br/>
            <a:r>
              <a:rPr sz="1100" b="1" lang="en-GB">
                <a:solidFill>
                  <a:schemeClr val="tx2"/>
                </a:solidFill>
              </a:rPr>
              <a:t>Open Folder</a:t>
            </a:r>
          </a:p>
        </p:txBody>
      </p:sp>
      <p:sp>
        <p:nvSpPr>
          <p:cNvPr id="12" name="Open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Pick the</a:t>
            </a:r>
            <a:br/>
            <a:r>
              <a:rPr sz="1100" b="1" lang="en-GB">
                <a:solidFill>
                  <a:schemeClr val="tx2"/>
                </a:solidFill>
              </a:rPr>
              <a:t>cloned folder</a:t>
            </a:r>
          </a:p>
        </p:txBody>
      </p:sp>
      <p:sp>
        <p:nvSpPr>
          <p:cNvPr id="13" name="Open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Work, save</a:t>
            </a:r>
          </a:p>
        </p:txBody>
      </p:sp>
      <p:sp>
        <p:nvSpPr>
          <p:cNvPr id="14" name="Open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Back to</a:t>
            </a:r>
            <a:br/>
            <a:r>
              <a:rPr sz="1100" b="1" lang="en-GB">
                <a:solidFill>
                  <a:schemeClr val="tx2"/>
                </a:solidFill>
              </a:rPr>
              <a:t>GitHub Desktop</a:t>
            </a:r>
          </a:p>
        </p:txBody>
      </p:sp>
      <p:sp>
        <p:nvSpPr>
          <p:cNvPr id="15" name="Open P tile"/>
          <p:cNvSpPr/>
          <p:nvPr/>
        </p:nvSpPr>
        <p:spPr>
          <a:xfrm>
            <a:off x="45720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Open P" descr=""/>
          <p:cNvPicPr>
            <a:picLocks noChangeAspect="1"/>
          </p:cNvPicPr>
          <p:nvPr/>
        </p:nvPicPr>
        <p:blipFill>
          <a:blip r:embed="rId3"/>
          <a:stretch>
            <a:fillRect/>
          </a:stretch>
        </p:blipFill>
        <p:spPr>
          <a:xfrm>
            <a:off x="594360" y="2103120"/>
            <a:ext cx="365760" cy="365760"/>
          </a:xfrm>
          <a:prstGeom prst="rect">
            <a:avLst/>
          </a:prstGeom>
        </p:spPr>
      </p:pic>
      <p:sp>
        <p:nvSpPr>
          <p:cNvPr id="17" name="Open P heading"/>
          <p:cNvSpPr txBox="1"/>
          <p:nvPr/>
        </p:nvSpPr>
        <p:spPr>
          <a:xfrm>
            <a:off x="105156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Positron</a:t>
            </a:r>
          </a:p>
        </p:txBody>
      </p:sp>
      <p:sp>
        <p:nvSpPr>
          <p:cNvPr id="18" name="Open P text"/>
          <p:cNvSpPr txBox="1"/>
          <p:nvPr/>
        </p:nvSpPr>
        <p:spPr>
          <a:xfrm>
            <a:off x="59436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Edit and run code, render Quarto files. </a:t>
            </a:r>
          </a:p>
          <a:p>
            <a:pPr algn="l">
              <a:spcAft>
                <a:spcPts val="400"/>
              </a:spcAft>
            </a:pPr>
            <a:r>
              <a:rPr sz="1200" b="0" lang="en-GB">
                <a:solidFill>
                  <a:schemeClr val="tx1"/>
                </a:solidFill>
              </a:rPr>
              <a:t>Saved changes show up in GitHub Desktop at once.</a:t>
            </a:r>
          </a:p>
        </p:txBody>
      </p:sp>
      <p:sp>
        <p:nvSpPr>
          <p:cNvPr id="19" name="Open G tile"/>
          <p:cNvSpPr/>
          <p:nvPr/>
        </p:nvSpPr>
        <p:spPr>
          <a:xfrm>
            <a:off x="4640580" y="196596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pen G" descr=""/>
          <p:cNvPicPr>
            <a:picLocks noChangeAspect="1"/>
          </p:cNvPicPr>
          <p:nvPr/>
        </p:nvPicPr>
        <p:blipFill>
          <a:blip r:embed="rId4"/>
          <a:stretch>
            <a:fillRect/>
          </a:stretch>
        </p:blipFill>
        <p:spPr>
          <a:xfrm>
            <a:off x="4777740" y="2103120"/>
            <a:ext cx="365760" cy="365760"/>
          </a:xfrm>
          <a:prstGeom prst="rect">
            <a:avLst/>
          </a:prstGeom>
        </p:spPr>
      </p:pic>
      <p:sp>
        <p:nvSpPr>
          <p:cNvPr id="21" name="Open G heading"/>
          <p:cNvSpPr txBox="1"/>
          <p:nvPr/>
        </p:nvSpPr>
        <p:spPr>
          <a:xfrm>
            <a:off x="5234940" y="210312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GitHub Desktop</a:t>
            </a:r>
          </a:p>
        </p:txBody>
      </p:sp>
      <p:sp>
        <p:nvSpPr>
          <p:cNvPr id="22" name="Open G text"/>
          <p:cNvSpPr txBox="1"/>
          <p:nvPr/>
        </p:nvSpPr>
        <p:spPr>
          <a:xfrm>
            <a:off x="4777740" y="2587752"/>
            <a:ext cx="3771900" cy="1234440"/>
          </a:xfrm>
          <a:prstGeom prst="rect">
            <a:avLst/>
          </a:prstGeom>
          <a:noFill/>
        </p:spPr>
        <p:txBody>
          <a:bodyPr wrap="square" lIns="0" rIns="0" tIns="0" bIns="0" anchor="t">
            <a:noAutofit/>
          </a:bodyPr>
          <a:lstStyle/>
          <a:p>
            <a:pPr algn="l">
              <a:spcAft>
                <a:spcPts val="400"/>
              </a:spcAft>
            </a:pPr>
            <a:r>
              <a:rPr sz="1200" b="0" lang="en-GB">
                <a:solidFill>
                  <a:schemeClr val="tx1"/>
                </a:solidFill>
              </a:rPr>
              <a:t>Fetch, pull, commit and push. </a:t>
            </a:r>
          </a:p>
          <a:p>
            <a:pPr algn="l">
              <a:spcAft>
                <a:spcPts val="400"/>
              </a:spcAft>
            </a:pPr>
            <a:r>
              <a:rPr sz="1200" b="0" lang="en-GB">
                <a:solidFill>
                  <a:schemeClr val="tx1"/>
                </a:solidFill>
              </a:rPr>
              <a:t>Keep it open next to Positron.</a:t>
            </a:r>
          </a:p>
        </p:txBody>
      </p:sp>
      <p:sp>
        <p:nvSpPr>
          <p:cNvPr id="23" name="Open tip box"/>
          <p:cNvSpPr/>
          <p:nvPr/>
        </p:nvSpPr>
        <p:spPr>
          <a:xfrm>
            <a:off x="457200" y="406908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Open tip" descr=""/>
          <p:cNvPicPr>
            <a:picLocks noChangeAspect="1"/>
          </p:cNvPicPr>
          <p:nvPr/>
        </p:nvPicPr>
        <p:blipFill>
          <a:blip r:embed="rId5"/>
          <a:stretch>
            <a:fillRect/>
          </a:stretch>
        </p:blipFill>
        <p:spPr>
          <a:xfrm>
            <a:off x="658368" y="4229100"/>
            <a:ext cx="365760" cy="365760"/>
          </a:xfrm>
          <a:prstGeom prst="rect">
            <a:avLst/>
          </a:prstGeom>
        </p:spPr>
      </p:pic>
      <p:sp>
        <p:nvSpPr>
          <p:cNvPr id="25" name="Open tip text"/>
          <p:cNvSpPr txBox="1"/>
          <p:nvPr/>
        </p:nvSpPr>
        <p:spPr>
          <a:xfrm>
            <a:off x="1207008" y="406908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Tip: </a:t>
            </a:r>
            <a:r>
              <a:rPr sz="1200" b="0" lang="en-GB">
                <a:solidFill>
                  <a:schemeClr val="bg1"/>
                </a:solidFill>
              </a:rPr>
              <a:t>under Options → Integrations you can set an external editor; if Positron is not listed, simply open the folder from Positron.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18 · the everyday cycle, undoing mistakes, what never goes in</a:t>
            </a:r>
          </a:p>
        </p:txBody>
      </p:sp>
      <p:sp>
        <p:nvSpPr>
          <p:cNvPr id="3" name="Title 2"/>
          <p:cNvSpPr>
            <a:spLocks noGrp="1"/>
          </p:cNvSpPr>
          <p:nvPr>
            <p:ph type="ctrTitle"/>
          </p:nvPr>
        </p:nvSpPr>
        <p:spPr/>
        <p:txBody>
          <a:bodyPr/>
          <a:lstStyle/>
          <a:p>
            <a:r>
              <a:rPr sz="1600" lang="en-GB"/>
              <a:t>Pull, commit, push</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everyday cycle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ycle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1 Fetch</a:t>
            </a:r>
            <a:br/>
            <a:r>
              <a:rPr sz="1100" b="1" lang="en-GB">
                <a:solidFill>
                  <a:schemeClr val="tx2"/>
                </a:solidFill>
              </a:rPr>
              <a:t>origin</a:t>
            </a:r>
          </a:p>
        </p:txBody>
      </p:sp>
      <p:sp>
        <p:nvSpPr>
          <p:cNvPr id="11" name="Cycle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2 Pull</a:t>
            </a:r>
            <a:br/>
            <a:r>
              <a:rPr sz="1100" b="1" lang="en-GB">
                <a:solidFill>
                  <a:schemeClr val="tx2"/>
                </a:solidFill>
              </a:rPr>
              <a:t>origin</a:t>
            </a:r>
          </a:p>
        </p:txBody>
      </p:sp>
      <p:sp>
        <p:nvSpPr>
          <p:cNvPr id="12" name="Cycle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3 Work</a:t>
            </a:r>
            <a:br/>
            <a:r>
              <a:rPr sz="1100" b="1" lang="en-GB">
                <a:solidFill>
                  <a:schemeClr val="tx2"/>
                </a:solidFill>
              </a:rPr>
              <a:t>in Positron</a:t>
            </a:r>
          </a:p>
        </p:txBody>
      </p:sp>
      <p:sp>
        <p:nvSpPr>
          <p:cNvPr id="13" name="Cycle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4 Commit</a:t>
            </a:r>
            <a:br/>
            <a:r>
              <a:rPr sz="1100" b="1" lang="en-GB">
                <a:solidFill>
                  <a:schemeClr val="tx2"/>
                </a:solidFill>
              </a:rPr>
              <a:t>to main</a:t>
            </a:r>
          </a:p>
        </p:txBody>
      </p:sp>
      <p:sp>
        <p:nvSpPr>
          <p:cNvPr id="14" name="Cycle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5 Push</a:t>
            </a:r>
            <a:br/>
            <a:r>
              <a:rPr sz="1100" b="1" lang="en-GB">
                <a:solidFill>
                  <a:schemeClr val="tx2"/>
                </a:solidFill>
              </a:rPr>
              <a:t>origin</a:t>
            </a:r>
          </a:p>
        </p:txBody>
      </p:sp>
      <p:sp>
        <p:nvSpPr>
          <p:cNvPr id="15" name="Btn 1"/>
          <p:cNvSpPr/>
          <p:nvPr/>
        </p:nvSpPr>
        <p:spPr>
          <a:xfrm>
            <a:off x="457200" y="196596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tn text 1"/>
          <p:cNvSpPr txBox="1"/>
          <p:nvPr/>
        </p:nvSpPr>
        <p:spPr>
          <a:xfrm>
            <a:off x="457200" y="196596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Fetch origin</a:t>
            </a:r>
          </a:p>
        </p:txBody>
      </p:sp>
      <p:sp>
        <p:nvSpPr>
          <p:cNvPr id="17" name="Btn row 1"/>
          <p:cNvSpPr/>
          <p:nvPr/>
        </p:nvSpPr>
        <p:spPr>
          <a:xfrm>
            <a:off x="2926080" y="196596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tn desc 1"/>
          <p:cNvSpPr txBox="1"/>
          <p:nvPr/>
        </p:nvSpPr>
        <p:spPr>
          <a:xfrm>
            <a:off x="3063240" y="196596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asks GitHub what is new; changes nothing on your laptop</a:t>
            </a:r>
          </a:p>
        </p:txBody>
      </p:sp>
      <p:sp>
        <p:nvSpPr>
          <p:cNvPr id="19" name="Btn 2"/>
          <p:cNvSpPr/>
          <p:nvPr/>
        </p:nvSpPr>
        <p:spPr>
          <a:xfrm>
            <a:off x="457200" y="251460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tn text 2"/>
          <p:cNvSpPr txBox="1"/>
          <p:nvPr/>
        </p:nvSpPr>
        <p:spPr>
          <a:xfrm>
            <a:off x="457200" y="251460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Pull origin  ↓ 3</a:t>
            </a:r>
          </a:p>
        </p:txBody>
      </p:sp>
      <p:sp>
        <p:nvSpPr>
          <p:cNvPr id="21" name="Btn row 2"/>
          <p:cNvSpPr/>
          <p:nvPr/>
        </p:nvSpPr>
        <p:spPr>
          <a:xfrm>
            <a:off x="2926080" y="251460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tn desc 2"/>
          <p:cNvSpPr txBox="1"/>
          <p:nvPr/>
        </p:nvSpPr>
        <p:spPr>
          <a:xfrm>
            <a:off x="3063240" y="251460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downloads 3 new commits into your folder</a:t>
            </a:r>
          </a:p>
        </p:txBody>
      </p:sp>
      <p:sp>
        <p:nvSpPr>
          <p:cNvPr id="23" name="Btn 3"/>
          <p:cNvSpPr/>
          <p:nvPr/>
        </p:nvSpPr>
        <p:spPr>
          <a:xfrm>
            <a:off x="457200" y="306324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tn text 3"/>
          <p:cNvSpPr txBox="1"/>
          <p:nvPr/>
        </p:nvSpPr>
        <p:spPr>
          <a:xfrm>
            <a:off x="457200" y="306324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Commit to main</a:t>
            </a:r>
          </a:p>
        </p:txBody>
      </p:sp>
      <p:sp>
        <p:nvSpPr>
          <p:cNvPr id="25" name="Btn row 3"/>
          <p:cNvSpPr/>
          <p:nvPr/>
        </p:nvSpPr>
        <p:spPr>
          <a:xfrm>
            <a:off x="2926080" y="306324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tn desc 3"/>
          <p:cNvSpPr txBox="1"/>
          <p:nvPr/>
        </p:nvSpPr>
        <p:spPr>
          <a:xfrm>
            <a:off x="3063240" y="306324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saves a snapshot of your checked files, on your laptop only</a:t>
            </a:r>
          </a:p>
        </p:txBody>
      </p:sp>
      <p:sp>
        <p:nvSpPr>
          <p:cNvPr id="27" name="Btn 4"/>
          <p:cNvSpPr/>
          <p:nvPr/>
        </p:nvSpPr>
        <p:spPr>
          <a:xfrm>
            <a:off x="457200" y="3611880"/>
            <a:ext cx="2377440" cy="4572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tn text 4"/>
          <p:cNvSpPr txBox="1"/>
          <p:nvPr/>
        </p:nvSpPr>
        <p:spPr>
          <a:xfrm>
            <a:off x="457200" y="3611880"/>
            <a:ext cx="2377440" cy="457200"/>
          </a:xfrm>
          <a:prstGeom prst="rect">
            <a:avLst/>
          </a:prstGeom>
          <a:noFill/>
        </p:spPr>
        <p:txBody>
          <a:bodyPr wrap="square" lIns="0" rIns="0" tIns="0" bIns="0" anchor="ctr">
            <a:noAutofit/>
          </a:bodyPr>
          <a:lstStyle/>
          <a:p>
            <a:pPr algn="ctr">
              <a:spcAft>
                <a:spcPts val="400"/>
              </a:spcAft>
            </a:pPr>
            <a:r>
              <a:rPr sz="1200" b="1" lang="en-GB">
                <a:solidFill>
                  <a:schemeClr val="bg1"/>
                </a:solidFill>
              </a:rPr>
              <a:t>Push origin  ↑ 1</a:t>
            </a:r>
          </a:p>
        </p:txBody>
      </p:sp>
      <p:sp>
        <p:nvSpPr>
          <p:cNvPr id="29" name="Btn row 4"/>
          <p:cNvSpPr/>
          <p:nvPr/>
        </p:nvSpPr>
        <p:spPr>
          <a:xfrm>
            <a:off x="2926080" y="3611880"/>
            <a:ext cx="5760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tn desc 4"/>
          <p:cNvSpPr txBox="1"/>
          <p:nvPr/>
        </p:nvSpPr>
        <p:spPr>
          <a:xfrm>
            <a:off x="3063240" y="3611880"/>
            <a:ext cx="5577840"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uploads your 1 new commit to GitHub</a:t>
            </a:r>
          </a:p>
        </p:txBody>
      </p:sp>
      <p:sp>
        <p:nvSpPr>
          <p:cNvPr id="31" name="Cycle rule box"/>
          <p:cNvSpPr/>
          <p:nvPr/>
        </p:nvSpPr>
        <p:spPr>
          <a:xfrm>
            <a:off x="457200" y="42519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ycle rule" descr=""/>
          <p:cNvPicPr>
            <a:picLocks noChangeAspect="1"/>
          </p:cNvPicPr>
          <p:nvPr/>
        </p:nvPicPr>
        <p:blipFill>
          <a:blip r:embed="rId3"/>
          <a:stretch>
            <a:fillRect/>
          </a:stretch>
        </p:blipFill>
        <p:spPr>
          <a:xfrm>
            <a:off x="658368" y="4411980"/>
            <a:ext cx="365760" cy="365760"/>
          </a:xfrm>
          <a:prstGeom prst="rect">
            <a:avLst/>
          </a:prstGeom>
        </p:spPr>
      </p:pic>
      <p:sp>
        <p:nvSpPr>
          <p:cNvPr id="33" name="Cycle rule text"/>
          <p:cNvSpPr txBox="1"/>
          <p:nvPr/>
        </p:nvSpPr>
        <p:spPr>
          <a:xfrm>
            <a:off x="1207008" y="42519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repository: </a:t>
            </a:r>
            <a:r>
              <a:rPr sz="1200" b="0" lang="en-GB">
                <a:solidFill>
                  <a:schemeClr val="bg1"/>
                </a:solidFill>
              </a:rPr>
              <a:t>only fetch and pull, before every session. Your own work goes into your own folder or repository.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Pull: get the latest version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ll body"/>
          <p:cNvSpPr/>
          <p:nvPr/>
        </p:nvSpPr>
        <p:spPr>
          <a:xfrm>
            <a:off x="457200" y="1645920"/>
            <a:ext cx="4937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ll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ll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every session</a:t>
            </a:r>
          </a:p>
        </p:txBody>
      </p:sp>
      <p:pic>
        <p:nvPicPr>
          <p:cNvPr id="13" name="Icon Pull" descr=""/>
          <p:cNvPicPr>
            <a:picLocks noChangeAspect="1"/>
          </p:cNvPicPr>
          <p:nvPr/>
        </p:nvPicPr>
        <p:blipFill>
          <a:blip r:embed="rId3"/>
          <a:stretch>
            <a:fillRect/>
          </a:stretch>
        </p:blipFill>
        <p:spPr>
          <a:xfrm>
            <a:off x="4956048" y="1284732"/>
            <a:ext cx="310896" cy="310896"/>
          </a:xfrm>
          <a:prstGeom prst="rect">
            <a:avLst/>
          </a:prstGeom>
        </p:spPr>
      </p:pic>
      <p:sp>
        <p:nvSpPr>
          <p:cNvPr id="14" name="Pull text"/>
          <p:cNvSpPr txBox="1"/>
          <p:nvPr/>
        </p:nvSpPr>
        <p:spPr>
          <a:xfrm>
            <a:off x="621792" y="1783080"/>
            <a:ext cx="4636008" cy="18745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Current repository: </a:t>
            </a:r>
            <a:r>
              <a:rPr sz="1300" b="0" lang="en-GB">
                <a:solidFill>
                  <a:schemeClr val="tx1"/>
                </a:solidFill>
              </a:rPr>
              <a:t>pick the course repository</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Fetch origin</a:t>
            </a:r>
          </a:p>
          <a:p>
            <a:pPr algn="l">
              <a:spcAft>
                <a:spcPts val="900"/>
              </a:spcAft>
            </a:pPr>
            <a:r>
              <a:rPr sz="1300" b="1" lang="en-GB">
                <a:solidFill>
                  <a:schemeClr val="accent1"/>
                </a:solidFill>
              </a:rPr>
              <a:t>3  </a:t>
            </a:r>
            <a:r>
              <a:rPr sz="1300" b="1" lang="en-GB">
                <a:solidFill>
                  <a:schemeClr val="tx2"/>
                </a:solidFill>
              </a:rPr>
              <a:t>If it shows Pull origin ↓: </a:t>
            </a:r>
            <a:r>
              <a:rPr sz="1300" b="0" lang="en-GB">
                <a:solidFill>
                  <a:schemeClr val="tx1"/>
                </a:solidFill>
              </a:rPr>
              <a:t>click it</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button says Fetch origin again</a:t>
            </a:r>
          </a:p>
        </p:txBody>
      </p:sp>
      <p:sp>
        <p:nvSpPr>
          <p:cNvPr id="15" name="Pull card body"/>
          <p:cNvSpPr/>
          <p:nvPr/>
        </p:nvSpPr>
        <p:spPr>
          <a:xfrm>
            <a:off x="5532120" y="1645920"/>
            <a:ext cx="315468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ll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ll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Pull refused?</a:t>
            </a:r>
          </a:p>
        </p:txBody>
      </p:sp>
      <p:pic>
        <p:nvPicPr>
          <p:cNvPr id="18" name="Icon Pull card" descr=""/>
          <p:cNvPicPr>
            <a:picLocks noChangeAspect="1"/>
          </p:cNvPicPr>
          <p:nvPr/>
        </p:nvPicPr>
        <p:blipFill>
          <a:blip r:embed="rId4"/>
          <a:stretch>
            <a:fillRect/>
          </a:stretch>
        </p:blipFill>
        <p:spPr>
          <a:xfrm>
            <a:off x="8247888" y="1284732"/>
            <a:ext cx="310896" cy="310896"/>
          </a:xfrm>
          <a:prstGeom prst="rect">
            <a:avLst/>
          </a:prstGeom>
        </p:spPr>
      </p:pic>
      <p:sp>
        <p:nvSpPr>
          <p:cNvPr id="19" name="Pull card text"/>
          <p:cNvSpPr txBox="1"/>
          <p:nvPr/>
        </p:nvSpPr>
        <p:spPr>
          <a:xfrm>
            <a:off x="5696712" y="1783080"/>
            <a:ext cx="285292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You edited a file that the update changes</a:t>
            </a:r>
          </a:p>
          <a:p>
            <a:pPr algn="l" marL="182880" indent="-182880">
              <a:spcAft>
                <a:spcPts val="600"/>
              </a:spcAft>
              <a:buClr>
                <a:schemeClr val="accent1"/>
              </a:buClr>
              <a:buFont typeface="Arial"/>
              <a:buChar char="▪"/>
            </a:pPr>
            <a:r>
              <a:rPr sz="1300" b="0" lang="en-GB">
                <a:solidFill>
                  <a:schemeClr val="tx1"/>
                </a:solidFill>
              </a:rPr>
              <a:t>Changes tab: right-click it → Discard changes</a:t>
            </a:r>
          </a:p>
          <a:p>
            <a:pPr algn="l" marL="182880" indent="-182880">
              <a:spcAft>
                <a:spcPts val="600"/>
              </a:spcAft>
              <a:buClr>
                <a:schemeClr val="accent1"/>
              </a:buClr>
              <a:buFont typeface="Arial"/>
              <a:buChar char="▪"/>
            </a:pPr>
            <a:r>
              <a:rPr sz="1300" b="0" lang="en-GB">
                <a:solidFill>
                  <a:schemeClr val="tx1"/>
                </a:solidFill>
              </a:rPr>
              <a:t>Then click Pull origin again</a:t>
            </a:r>
          </a:p>
        </p:txBody>
      </p:sp>
      <p:sp>
        <p:nvSpPr>
          <p:cNvPr id="20" name="Pull rule box"/>
          <p:cNvSpPr/>
          <p:nvPr/>
        </p:nvSpPr>
        <p:spPr>
          <a:xfrm>
            <a:off x="457200" y="38862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ll rule" descr=""/>
          <p:cNvPicPr>
            <a:picLocks noChangeAspect="1"/>
          </p:cNvPicPr>
          <p:nvPr/>
        </p:nvPicPr>
        <p:blipFill>
          <a:blip r:embed="rId5"/>
          <a:stretch>
            <a:fillRect/>
          </a:stretch>
        </p:blipFill>
        <p:spPr>
          <a:xfrm>
            <a:off x="658368" y="4069080"/>
            <a:ext cx="365760" cy="365760"/>
          </a:xfrm>
          <a:prstGeom prst="rect">
            <a:avLst/>
          </a:prstGeom>
        </p:spPr>
      </p:pic>
      <p:sp>
        <p:nvSpPr>
          <p:cNvPr id="22" name="Pull rule text"/>
          <p:cNvSpPr txBox="1"/>
          <p:nvPr/>
        </p:nvSpPr>
        <p:spPr>
          <a:xfrm>
            <a:off x="1207008" y="38862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Golden rule: </a:t>
            </a:r>
            <a:r>
              <a:rPr sz="1200" b="0" lang="en-GB">
                <a:solidFill>
                  <a:schemeClr val="bg1"/>
                </a:solidFill>
              </a:rPr>
              <a:t>never edit files inside the course repository. Copy them into your own project folder first.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Commit: save a snapshot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mmit body"/>
          <p:cNvSpPr/>
          <p:nvPr/>
        </p:nvSpPr>
        <p:spPr>
          <a:xfrm>
            <a:off x="457200" y="1645920"/>
            <a:ext cx="493776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mmi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mi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the Changes tab</a:t>
            </a:r>
          </a:p>
        </p:txBody>
      </p:sp>
      <p:pic>
        <p:nvPicPr>
          <p:cNvPr id="13" name="Icon Commit" descr=""/>
          <p:cNvPicPr>
            <a:picLocks noChangeAspect="1"/>
          </p:cNvPicPr>
          <p:nvPr/>
        </p:nvPicPr>
        <p:blipFill>
          <a:blip r:embed="rId3"/>
          <a:stretch>
            <a:fillRect/>
          </a:stretch>
        </p:blipFill>
        <p:spPr>
          <a:xfrm>
            <a:off x="4956048" y="1284732"/>
            <a:ext cx="310896" cy="310896"/>
          </a:xfrm>
          <a:prstGeom prst="rect">
            <a:avLst/>
          </a:prstGeom>
        </p:spPr>
      </p:pic>
      <p:sp>
        <p:nvSpPr>
          <p:cNvPr id="14" name="Commit text"/>
          <p:cNvSpPr txBox="1"/>
          <p:nvPr/>
        </p:nvSpPr>
        <p:spPr>
          <a:xfrm>
            <a:off x="621792" y="1783080"/>
            <a:ext cx="4636008" cy="21488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Look </a:t>
            </a:r>
            <a:r>
              <a:rPr sz="1300" b="0" lang="en-GB">
                <a:solidFill>
                  <a:schemeClr val="tx1"/>
                </a:solidFill>
              </a:rPr>
              <a:t>at the list of changed files</a:t>
            </a:r>
          </a:p>
          <a:p>
            <a:pPr algn="l">
              <a:spcAft>
                <a:spcPts val="900"/>
              </a:spcAft>
            </a:pPr>
            <a:r>
              <a:rPr sz="1300" b="1" lang="en-GB">
                <a:solidFill>
                  <a:schemeClr val="accent1"/>
                </a:solidFill>
              </a:rPr>
              <a:t>2  </a:t>
            </a:r>
            <a:r>
              <a:rPr sz="1300" b="1" lang="en-GB">
                <a:solidFill>
                  <a:schemeClr val="tx2"/>
                </a:solidFill>
              </a:rPr>
              <a:t>Click a file </a:t>
            </a:r>
            <a:r>
              <a:rPr sz="1300" b="0" lang="en-GB">
                <a:solidFill>
                  <a:schemeClr val="tx1"/>
                </a:solidFill>
              </a:rPr>
              <a:t>to see the diff: red removed, green added</a:t>
            </a:r>
          </a:p>
          <a:p>
            <a:pPr algn="l">
              <a:spcAft>
                <a:spcPts val="900"/>
              </a:spcAft>
            </a:pPr>
            <a:r>
              <a:rPr sz="1300" b="1" lang="en-GB">
                <a:solidFill>
                  <a:schemeClr val="accent1"/>
                </a:solidFill>
              </a:rPr>
              <a:t>3  </a:t>
            </a:r>
            <a:r>
              <a:rPr sz="1300" b="1" lang="en-GB">
                <a:solidFill>
                  <a:schemeClr val="tx2"/>
                </a:solidFill>
              </a:rPr>
              <a:t>Tick </a:t>
            </a:r>
            <a:r>
              <a:rPr sz="1300" b="0" lang="en-GB">
                <a:solidFill>
                  <a:schemeClr val="tx1"/>
                </a:solidFill>
              </a:rPr>
              <a:t>the files that belong together</a:t>
            </a:r>
          </a:p>
          <a:p>
            <a:pPr algn="l">
              <a:spcAft>
                <a:spcPts val="900"/>
              </a:spcAft>
            </a:pPr>
            <a:r>
              <a:rPr sz="1300" b="1" lang="en-GB">
                <a:solidFill>
                  <a:schemeClr val="accent1"/>
                </a:solidFill>
              </a:rPr>
              <a:t>4  </a:t>
            </a:r>
            <a:r>
              <a:rPr sz="1300" b="1" lang="en-GB">
                <a:solidFill>
                  <a:schemeClr val="tx2"/>
                </a:solidFill>
              </a:rPr>
              <a:t>Summary: </a:t>
            </a:r>
            <a:r>
              <a:rPr sz="1300" b="0" lang="en-GB">
                <a:solidFill>
                  <a:schemeClr val="tx1"/>
                </a:solidFill>
              </a:rPr>
              <a:t>what changed, e.g. Add Austria sales chart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Commit to main</a:t>
            </a:r>
          </a:p>
        </p:txBody>
      </p:sp>
      <p:sp>
        <p:nvSpPr>
          <p:cNvPr id="15" name="Commit card body"/>
          <p:cNvSpPr/>
          <p:nvPr/>
        </p:nvSpPr>
        <p:spPr>
          <a:xfrm>
            <a:off x="5532120" y="164592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mmi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mmi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commits</a:t>
            </a:r>
          </a:p>
        </p:txBody>
      </p:sp>
      <p:pic>
        <p:nvPicPr>
          <p:cNvPr id="18" name="Icon Commit card" descr=""/>
          <p:cNvPicPr>
            <a:picLocks noChangeAspect="1"/>
          </p:cNvPicPr>
          <p:nvPr/>
        </p:nvPicPr>
        <p:blipFill>
          <a:blip r:embed="rId4"/>
          <a:stretch>
            <a:fillRect/>
          </a:stretch>
        </p:blipFill>
        <p:spPr>
          <a:xfrm>
            <a:off x="8247888" y="1284732"/>
            <a:ext cx="310896" cy="310896"/>
          </a:xfrm>
          <a:prstGeom prst="rect">
            <a:avLst/>
          </a:prstGeom>
        </p:spPr>
      </p:pic>
      <p:sp>
        <p:nvSpPr>
          <p:cNvPr id="19" name="Commit card text"/>
          <p:cNvSpPr txBox="1"/>
          <p:nvPr/>
        </p:nvSpPr>
        <p:spPr>
          <a:xfrm>
            <a:off x="5696712" y="1783080"/>
            <a:ext cx="2852928" cy="21031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Small: one step per commit</a:t>
            </a:r>
          </a:p>
          <a:p>
            <a:pPr algn="l" marL="182880" indent="-182880">
              <a:spcAft>
                <a:spcPts val="600"/>
              </a:spcAft>
              <a:buClr>
                <a:schemeClr val="accent1"/>
              </a:buClr>
              <a:buFont typeface="Arial"/>
              <a:buChar char="▪"/>
            </a:pPr>
            <a:r>
              <a:rPr sz="1300" b="0" lang="en-GB">
                <a:solidFill>
                  <a:schemeClr val="tx1"/>
                </a:solidFill>
              </a:rPr>
              <a:t>Summary in the imperative: Add, Fix, Update</a:t>
            </a:r>
          </a:p>
          <a:p>
            <a:pPr algn="l" marL="182880" indent="-182880">
              <a:spcAft>
                <a:spcPts val="600"/>
              </a:spcAft>
              <a:buClr>
                <a:schemeClr val="accent1"/>
              </a:buClr>
              <a:buFont typeface="Arial"/>
              <a:buChar char="▪"/>
            </a:pPr>
            <a:r>
              <a:rPr sz="1300" b="0" lang="en-GB">
                <a:solidFill>
                  <a:schemeClr val="tx1"/>
                </a:solidFill>
              </a:rPr>
              <a:t>Commit when something works</a:t>
            </a:r>
          </a:p>
          <a:p>
            <a:pPr algn="l" marL="182880" indent="-182880">
              <a:spcAft>
                <a:spcPts val="600"/>
              </a:spcAft>
              <a:buClr>
                <a:schemeClr val="accent1"/>
              </a:buClr>
              <a:buFont typeface="Arial"/>
              <a:buChar char="▪"/>
            </a:pPr>
            <a:r>
              <a:rPr sz="1300" b="0" lang="en-GB">
                <a:solidFill>
                  <a:schemeClr val="tx1"/>
                </a:solidFill>
              </a:rPr>
              <a:t>Copilot button: draft message, then check</a:t>
            </a:r>
          </a:p>
        </p:txBody>
      </p:sp>
      <p:sp>
        <p:nvSpPr>
          <p:cNvPr id="20" name="Commit hist box"/>
          <p:cNvSpPr/>
          <p:nvPr/>
        </p:nvSpPr>
        <p:spPr>
          <a:xfrm>
            <a:off x="457200" y="416052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ommit hist" descr=""/>
          <p:cNvPicPr>
            <a:picLocks noChangeAspect="1"/>
          </p:cNvPicPr>
          <p:nvPr/>
        </p:nvPicPr>
        <p:blipFill>
          <a:blip r:embed="rId5"/>
          <a:stretch>
            <a:fillRect/>
          </a:stretch>
        </p:blipFill>
        <p:spPr>
          <a:xfrm>
            <a:off x="658368" y="4320540"/>
            <a:ext cx="365760" cy="365760"/>
          </a:xfrm>
          <a:prstGeom prst="rect">
            <a:avLst/>
          </a:prstGeom>
        </p:spPr>
      </p:pic>
      <p:sp>
        <p:nvSpPr>
          <p:cNvPr id="22" name="Commit hist text"/>
          <p:cNvSpPr txBox="1"/>
          <p:nvPr/>
        </p:nvSpPr>
        <p:spPr>
          <a:xfrm>
            <a:off x="1207008" y="416052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History tab: </a:t>
            </a:r>
            <a:r>
              <a:rPr sz="1200" b="0" lang="en-GB">
                <a:solidFill>
                  <a:schemeClr val="tx1"/>
                </a:solidFill>
              </a:rPr>
              <a:t>every commit with author, date and diff. You can always go back.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Push: upload your commits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sh body"/>
          <p:cNvSpPr/>
          <p:nvPr/>
        </p:nvSpPr>
        <p:spPr>
          <a:xfrm>
            <a:off x="457200" y="1645920"/>
            <a:ext cx="49377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sh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ush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Push</a:t>
            </a:r>
          </a:p>
        </p:txBody>
      </p:sp>
      <p:pic>
        <p:nvPicPr>
          <p:cNvPr id="13" name="Icon Push" descr=""/>
          <p:cNvPicPr>
            <a:picLocks noChangeAspect="1"/>
          </p:cNvPicPr>
          <p:nvPr/>
        </p:nvPicPr>
        <p:blipFill>
          <a:blip r:embed="rId3"/>
          <a:stretch>
            <a:fillRect/>
          </a:stretch>
        </p:blipFill>
        <p:spPr>
          <a:xfrm>
            <a:off x="4956048" y="1284732"/>
            <a:ext cx="310896" cy="310896"/>
          </a:xfrm>
          <a:prstGeom prst="rect">
            <a:avLst/>
          </a:prstGeom>
        </p:spPr>
      </p:pic>
      <p:sp>
        <p:nvSpPr>
          <p:cNvPr id="14" name="Push text"/>
          <p:cNvSpPr txBox="1"/>
          <p:nvPr/>
        </p:nvSpPr>
        <p:spPr>
          <a:xfrm>
            <a:off x="621792" y="1783080"/>
            <a:ext cx="46360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After committing, click </a:t>
            </a:r>
            <a:r>
              <a:rPr sz="1300" b="0" lang="en-GB">
                <a:solidFill>
                  <a:schemeClr val="tx1"/>
                </a:solidFill>
              </a:rPr>
              <a:t>Push origin ↑</a:t>
            </a:r>
          </a:p>
          <a:p>
            <a:pPr algn="l">
              <a:spcAft>
                <a:spcPts val="900"/>
              </a:spcAft>
            </a:pPr>
            <a:r>
              <a:rPr sz="1300" b="1" lang="en-GB">
                <a:solidFill>
                  <a:schemeClr val="accent1"/>
                </a:solidFill>
              </a:rPr>
              <a:t>2  </a:t>
            </a:r>
            <a:r>
              <a:rPr sz="1300" b="1" lang="en-GB">
                <a:solidFill>
                  <a:schemeClr val="tx2"/>
                </a:solidFill>
              </a:rPr>
              <a:t>New commits on remote? </a:t>
            </a:r>
            <a:r>
              <a:rPr sz="1300" b="0" lang="en-GB">
                <a:solidFill>
                  <a:schemeClr val="tx1"/>
                </a:solidFill>
              </a:rPr>
              <a:t>click Fetch, then Pull origin</a:t>
            </a:r>
          </a:p>
          <a:p>
            <a:pPr algn="l">
              <a:spcAft>
                <a:spcPts val="900"/>
              </a:spcAft>
            </a:pPr>
            <a:r>
              <a:rPr sz="1300" b="1" lang="en-GB">
                <a:solidFill>
                  <a:schemeClr val="accent1"/>
                </a:solidFill>
              </a:rPr>
              <a:t>3  </a:t>
            </a:r>
            <a:r>
              <a:rPr sz="1300" b="1" lang="en-GB">
                <a:solidFill>
                  <a:schemeClr val="tx2"/>
                </a:solidFill>
              </a:rPr>
              <a:t>Then </a:t>
            </a:r>
            <a:r>
              <a:rPr sz="1300" b="0" lang="en-GB">
                <a:solidFill>
                  <a:schemeClr val="tx1"/>
                </a:solidFill>
              </a:rPr>
              <a:t>Push origin again</a:t>
            </a:r>
          </a:p>
          <a:p>
            <a:pPr algn="l">
              <a:spcAft>
                <a:spcPts val="900"/>
              </a:spcAft>
            </a:pPr>
            <a:r>
              <a:rPr sz="1300" b="1" lang="en-GB">
                <a:solidFill>
                  <a:schemeClr val="accent1"/>
                </a:solidFill>
              </a:rPr>
              <a:t>4  </a:t>
            </a:r>
            <a:r>
              <a:rPr sz="1300" b="1" lang="en-GB">
                <a:solidFill>
                  <a:schemeClr val="tx2"/>
                </a:solidFill>
              </a:rPr>
              <a:t>Check </a:t>
            </a:r>
            <a:r>
              <a:rPr sz="1300" b="0" lang="en-GB">
                <a:solidFill>
                  <a:schemeClr val="tx1"/>
                </a:solidFill>
              </a:rPr>
              <a:t>on github.com: Repository → View on GitHub</a:t>
            </a:r>
          </a:p>
        </p:txBody>
      </p:sp>
      <p:sp>
        <p:nvSpPr>
          <p:cNvPr id="15" name="Push limits box"/>
          <p:cNvSpPr/>
          <p:nvPr/>
        </p:nvSpPr>
        <p:spPr>
          <a:xfrm>
            <a:off x="5532120" y="1234440"/>
            <a:ext cx="3154680"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m bar 1"/>
          <p:cNvSpPr/>
          <p:nvPr/>
        </p:nvSpPr>
        <p:spPr>
          <a:xfrm>
            <a:off x="5669280" y="137160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im 1"/>
          <p:cNvSpPr txBox="1"/>
          <p:nvPr/>
        </p:nvSpPr>
        <p:spPr>
          <a:xfrm>
            <a:off x="5852160" y="137160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100 MiB</a:t>
            </a:r>
          </a:p>
          <a:p>
            <a:pPr algn="l">
              <a:spcAft>
                <a:spcPts val="0"/>
              </a:spcAft>
            </a:pPr>
            <a:r>
              <a:rPr sz="1200" b="0" lang="en-GB">
                <a:solidFill>
                  <a:schemeClr val="tx1"/>
                </a:solidFill>
              </a:rPr>
              <a:t>largest file GitHub accepts</a:t>
            </a:r>
          </a:p>
        </p:txBody>
      </p:sp>
      <p:sp>
        <p:nvSpPr>
          <p:cNvPr id="18" name="Lim bar 2"/>
          <p:cNvSpPr/>
          <p:nvPr/>
        </p:nvSpPr>
        <p:spPr>
          <a:xfrm>
            <a:off x="5669280" y="24688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m 2"/>
          <p:cNvSpPr txBox="1"/>
          <p:nvPr/>
        </p:nvSpPr>
        <p:spPr>
          <a:xfrm>
            <a:off x="5852160" y="2468880"/>
            <a:ext cx="2743200" cy="914400"/>
          </a:xfrm>
          <a:prstGeom prst="rect">
            <a:avLst/>
          </a:prstGeom>
          <a:noFill/>
        </p:spPr>
        <p:txBody>
          <a:bodyPr wrap="square" lIns="0" rIns="0" tIns="0" bIns="0" anchor="ctr">
            <a:noAutofit/>
          </a:bodyPr>
          <a:lstStyle/>
          <a:p>
            <a:pPr algn="l">
              <a:spcAft>
                <a:spcPts val="0"/>
              </a:spcAft>
            </a:pPr>
            <a:r>
              <a:rPr sz="2400" b="1" lang="en-GB">
                <a:solidFill>
                  <a:schemeClr val="tx2"/>
                </a:solidFill>
                <a:latin typeface="+mj-lt"/>
              </a:rPr>
              <a:t>50 MiB</a:t>
            </a:r>
          </a:p>
          <a:p>
            <a:pPr algn="l">
              <a:spcAft>
                <a:spcPts val="0"/>
              </a:spcAft>
            </a:pPr>
            <a:r>
              <a:rPr sz="1200" b="0" lang="en-GB">
                <a:solidFill>
                  <a:schemeClr val="tx1"/>
                </a:solidFill>
              </a:rPr>
              <a:t>GitHub warns from this size</a:t>
            </a:r>
          </a:p>
        </p:txBody>
      </p:sp>
      <p:sp>
        <p:nvSpPr>
          <p:cNvPr id="20" name="Push fork box"/>
          <p:cNvSpPr/>
          <p:nvPr/>
        </p:nvSpPr>
        <p:spPr>
          <a:xfrm>
            <a:off x="457200" y="374904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ush fork" descr=""/>
          <p:cNvPicPr>
            <a:picLocks noChangeAspect="1"/>
          </p:cNvPicPr>
          <p:nvPr/>
        </p:nvPicPr>
        <p:blipFill>
          <a:blip r:embed="rId4"/>
          <a:stretch>
            <a:fillRect/>
          </a:stretch>
        </p:blipFill>
        <p:spPr>
          <a:xfrm>
            <a:off x="658368" y="4000500"/>
            <a:ext cx="365760" cy="365760"/>
          </a:xfrm>
          <a:prstGeom prst="rect">
            <a:avLst/>
          </a:prstGeom>
        </p:spPr>
      </p:pic>
      <p:sp>
        <p:nvSpPr>
          <p:cNvPr id="22" name="Push fork text"/>
          <p:cNvSpPr txBox="1"/>
          <p:nvPr/>
        </p:nvSpPr>
        <p:spPr>
          <a:xfrm>
            <a:off x="1207008" y="3749040"/>
            <a:ext cx="731520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Asked to create a fork? </a:t>
            </a:r>
            <a:r>
              <a:rPr sz="1200" b="0" lang="en-GB">
                <a:solidFill>
                  <a:schemeClr val="bg1"/>
                </a:solidFill>
              </a:rPr>
              <a:t>you tried to push to a repository you cannot write to, such as the course repository. Cancel, and keep your work in your own repository.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Undo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00400"/>
                <a:gridCol w="5029200"/>
              </a:tblGrid>
              <a:tr h="370840">
                <a:tc>
                  <a:txBody>
                    <a:bodyPr/>
                    <a:lstStyle/>
                    <a:p>
                      <a:r>
                        <a:rPr sz="1300" lang="en-GB"/>
                        <a:t>Situation</a:t>
                      </a:r>
                    </a:p>
                  </a:txBody>
                  <a:tcPr marT="55000" marB="55000"/>
                </a:tc>
                <a:tc>
                  <a:txBody>
                    <a:bodyPr/>
                    <a:lstStyle/>
                    <a:p>
                      <a:r>
                        <a:rPr sz="1300" lang="en-GB"/>
                        <a:t>In GitHub Desktop</a:t>
                      </a:r>
                    </a:p>
                  </a:txBody>
                  <a:tcPr marT="55000" marB="55000"/>
                </a:tc>
              </a:tr>
              <a:tr h="370840">
                <a:tc>
                  <a:txBody>
                    <a:bodyPr/>
                    <a:lstStyle/>
                    <a:p>
                      <a:r>
                        <a:rPr sz="1200" b="1" lang="en-GB"/>
                        <a:t>Changed a file, want the old version</a:t>
                      </a:r>
                    </a:p>
                  </a:txBody>
                  <a:tcPr marT="55000" marB="55000"/>
                </a:tc>
                <a:tc>
                  <a:txBody>
                    <a:bodyPr/>
                    <a:lstStyle/>
                    <a:p>
                      <a:r>
                        <a:rPr sz="1200" lang="en-GB"/>
                        <a:t>Changes tab: right-click the file → Discard changes</a:t>
                      </a:r>
                    </a:p>
                  </a:txBody>
                  <a:tcPr marT="55000" marB="55000"/>
                </a:tc>
              </a:tr>
              <a:tr h="370840">
                <a:tc>
                  <a:txBody>
                    <a:bodyPr/>
                    <a:lstStyle/>
                    <a:p>
                      <a:r>
                        <a:rPr sz="1200" b="1" lang="en-GB"/>
                        <a:t>Last commit was wrong, not pushed yet</a:t>
                      </a:r>
                    </a:p>
                  </a:txBody>
                  <a:tcPr marT="55000" marB="55000"/>
                </a:tc>
                <a:tc>
                  <a:txBody>
                    <a:bodyPr/>
                    <a:lstStyle/>
                    <a:p>
                      <a:r>
                        <a:rPr sz="1200" lang="en-GB"/>
                        <a:t>Click Undo next to the commit message</a:t>
                      </a:r>
                    </a:p>
                  </a:txBody>
                  <a:tcPr marT="55000" marB="55000"/>
                </a:tc>
              </a:tr>
              <a:tr h="370840">
                <a:tc>
                  <a:txBody>
                    <a:bodyPr/>
                    <a:lstStyle/>
                    <a:p>
                      <a:r>
                        <a:rPr sz="1200" b="1" lang="en-GB"/>
                        <a:t>A pushed commit was wrong</a:t>
                      </a:r>
                    </a:p>
                  </a:txBody>
                  <a:tcPr marT="55000" marB="55000"/>
                </a:tc>
                <a:tc>
                  <a:txBody>
                    <a:bodyPr/>
                    <a:lstStyle/>
                    <a:p>
                      <a:r>
                        <a:rPr sz="1200" lang="en-GB"/>
                        <a:t>History: right-click the commit → Revert changes in commit</a:t>
                      </a:r>
                    </a:p>
                  </a:txBody>
                  <a:tcPr marT="55000" marB="55000"/>
                </a:tc>
              </a:tr>
              <a:tr h="370840">
                <a:tc>
                  <a:txBody>
                    <a:bodyPr/>
                    <a:lstStyle/>
                    <a:p>
                      <a:r>
                        <a:rPr sz="1200" b="1" lang="en-GB"/>
                        <a:t>Merge conflict after a pull</a:t>
                      </a:r>
                    </a:p>
                  </a:txBody>
                  <a:tcPr marT="55000" marB="55000"/>
                </a:tc>
                <a:tc>
                  <a:txBody>
                    <a:bodyPr/>
                    <a:lstStyle/>
                    <a:p>
                      <a:r>
                        <a:rPr sz="1200" lang="en-GB"/>
                        <a:t>Open the file, keep the right lines, delete &lt;&lt;&lt;&lt;&lt;&lt;&lt; ======= &gt;&gt;&gt;&gt;&gt;&gt;&gt;, commit</a:t>
                      </a:r>
                    </a:p>
                  </a:txBody>
                  <a:tcPr marT="55000" marB="55000"/>
                </a:tc>
              </a:tr>
              <a:tr h="370840">
                <a:tc>
                  <a:txBody>
                    <a:bodyPr/>
                    <a:lstStyle/>
                    <a:p>
                      <a:r>
                        <a:rPr sz="1200" b="1" lang="en-GB"/>
                        <a:t>Folder moved or renamed</a:t>
                      </a:r>
                    </a:p>
                  </a:txBody>
                  <a:tcPr marT="55000" marB="55000"/>
                </a:tc>
                <a:tc>
                  <a:txBody>
                    <a:bodyPr/>
                    <a:lstStyle/>
                    <a:p>
                      <a:r>
                        <a:rPr sz="1200" lang="en-GB"/>
                        <a:t>Click Locate… and pick the folder</a:t>
                      </a:r>
                    </a:p>
                  </a:txBody>
                  <a:tcPr marT="55000" marB="55000"/>
                </a:tc>
              </a:tr>
            </a:tbl>
          </a:graphicData>
        </a:graphic>
      </p:graphicFrame>
      <p:sp>
        <p:nvSpPr>
          <p:cNvPr id="3" name="Title 2"/>
          <p:cNvSpPr>
            <a:spLocks noGrp="1"/>
          </p:cNvSpPr>
          <p:nvPr>
            <p:ph type="title"/>
          </p:nvPr>
        </p:nvSpPr>
        <p:spPr/>
        <p:txBody>
          <a:bodyPr/>
          <a:lstStyle/>
          <a:p>
            <a:r>
              <a:rPr sz="1600" lang="en-GB"/>
              <a:t>Oops: undo and fix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Undo help box"/>
          <p:cNvSpPr/>
          <p:nvPr/>
        </p:nvSpPr>
        <p:spPr>
          <a:xfrm>
            <a:off x="457200" y="420624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Undo help" descr=""/>
          <p:cNvPicPr>
            <a:picLocks noChangeAspect="1"/>
          </p:cNvPicPr>
          <p:nvPr/>
        </p:nvPicPr>
        <p:blipFill>
          <a:blip r:embed="rId3"/>
          <a:stretch>
            <a:fillRect/>
          </a:stretch>
        </p:blipFill>
        <p:spPr>
          <a:xfrm>
            <a:off x="658368" y="4320540"/>
            <a:ext cx="365760" cy="365760"/>
          </a:xfrm>
          <a:prstGeom prst="rect">
            <a:avLst/>
          </a:prstGeom>
        </p:spPr>
      </p:pic>
      <p:sp>
        <p:nvSpPr>
          <p:cNvPr id="12" name="Undo help text"/>
          <p:cNvSpPr txBox="1"/>
          <p:nvPr/>
        </p:nvSpPr>
        <p:spPr>
          <a:xfrm>
            <a:off x="1207008" y="420624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Lost? </a:t>
            </a:r>
            <a:r>
              <a:rPr sz="1200" b="0" lang="en-GB">
                <a:solidFill>
                  <a:schemeClr val="tx1"/>
                </a:solidFill>
              </a:rPr>
              <a:t>Do not delete the folder. Ask first: almost everything can be recovered.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never goes into a repository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1 tile"/>
          <p:cNvSpPr/>
          <p:nvPr/>
        </p:nvSpPr>
        <p:spPr>
          <a:xfrm>
            <a:off x="45720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Never 1" descr=""/>
          <p:cNvPicPr>
            <a:picLocks noChangeAspect="1"/>
          </p:cNvPicPr>
          <p:nvPr/>
        </p:nvPicPr>
        <p:blipFill>
          <a:blip r:embed="rId3"/>
          <a:stretch>
            <a:fillRect/>
          </a:stretch>
        </p:blipFill>
        <p:spPr>
          <a:xfrm>
            <a:off x="594360" y="1371600"/>
            <a:ext cx="365760" cy="365760"/>
          </a:xfrm>
          <a:prstGeom prst="rect">
            <a:avLst/>
          </a:prstGeom>
        </p:spPr>
      </p:pic>
      <p:sp>
        <p:nvSpPr>
          <p:cNvPr id="12" name="Never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Secrets</a:t>
            </a:r>
          </a:p>
        </p:txBody>
      </p:sp>
      <p:sp>
        <p:nvSpPr>
          <p:cNvPr id="13" name="Never 1 text"/>
          <p:cNvSpPr txBox="1"/>
          <p:nvPr/>
        </p:nvSpPr>
        <p:spPr>
          <a:xfrm>
            <a:off x="59436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Passwords, API keys, tokens</a:t>
            </a:r>
          </a:p>
          <a:p>
            <a:pPr algn="l">
              <a:spcAft>
                <a:spcPts val="400"/>
              </a:spcAft>
            </a:pPr>
            <a:r>
              <a:rPr sz="1200" b="0" lang="en-GB">
                <a:solidFill>
                  <a:schemeClr val="tx1"/>
                </a:solidFill>
              </a:rPr>
              <a:t>Files such as .env</a:t>
            </a:r>
          </a:p>
        </p:txBody>
      </p:sp>
      <p:sp>
        <p:nvSpPr>
          <p:cNvPr id="14" name="Never 2 tile"/>
          <p:cNvSpPr/>
          <p:nvPr/>
        </p:nvSpPr>
        <p:spPr>
          <a:xfrm>
            <a:off x="324612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Never 2" descr=""/>
          <p:cNvPicPr>
            <a:picLocks noChangeAspect="1"/>
          </p:cNvPicPr>
          <p:nvPr/>
        </p:nvPicPr>
        <p:blipFill>
          <a:blip r:embed="rId4"/>
          <a:stretch>
            <a:fillRect/>
          </a:stretch>
        </p:blipFill>
        <p:spPr>
          <a:xfrm>
            <a:off x="3383280" y="1371600"/>
            <a:ext cx="365760" cy="365760"/>
          </a:xfrm>
          <a:prstGeom prst="rect">
            <a:avLst/>
          </a:prstGeom>
        </p:spPr>
      </p:pic>
      <p:sp>
        <p:nvSpPr>
          <p:cNvPr id="16" name="Never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Personal data</a:t>
            </a:r>
          </a:p>
        </p:txBody>
      </p:sp>
      <p:sp>
        <p:nvSpPr>
          <p:cNvPr id="17" name="Never 2 text"/>
          <p:cNvSpPr txBox="1"/>
          <p:nvPr/>
        </p:nvSpPr>
        <p:spPr>
          <a:xfrm>
            <a:off x="338328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Names, e-mails, survey answers</a:t>
            </a:r>
          </a:p>
          <a:p>
            <a:pPr algn="l">
              <a:spcAft>
                <a:spcPts val="400"/>
              </a:spcAft>
            </a:pPr>
            <a:r>
              <a:rPr sz="1200" b="0" lang="en-GB">
                <a:solidFill>
                  <a:schemeClr val="tx1"/>
                </a:solidFill>
              </a:rPr>
              <a:t>Licensed or confidential data</a:t>
            </a:r>
          </a:p>
        </p:txBody>
      </p:sp>
      <p:sp>
        <p:nvSpPr>
          <p:cNvPr id="18" name="Never 3 tile"/>
          <p:cNvSpPr/>
          <p:nvPr/>
        </p:nvSpPr>
        <p:spPr>
          <a:xfrm>
            <a:off x="6035040" y="1234440"/>
            <a:ext cx="265176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Never 3" descr=""/>
          <p:cNvPicPr>
            <a:picLocks noChangeAspect="1"/>
          </p:cNvPicPr>
          <p:nvPr/>
        </p:nvPicPr>
        <p:blipFill>
          <a:blip r:embed="rId5"/>
          <a:stretch>
            <a:fillRect/>
          </a:stretch>
        </p:blipFill>
        <p:spPr>
          <a:xfrm>
            <a:off x="6172200" y="1371600"/>
            <a:ext cx="365760" cy="365760"/>
          </a:xfrm>
          <a:prstGeom prst="rect">
            <a:avLst/>
          </a:prstGeom>
        </p:spPr>
      </p:pic>
      <p:sp>
        <p:nvSpPr>
          <p:cNvPr id="20" name="Never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Big or generated</a:t>
            </a:r>
          </a:p>
        </p:txBody>
      </p:sp>
      <p:sp>
        <p:nvSpPr>
          <p:cNvPr id="21" name="Never 3 text"/>
          <p:cNvSpPr txBox="1"/>
          <p:nvPr/>
        </p:nvSpPr>
        <p:spPr>
          <a:xfrm>
            <a:off x="6172200" y="1856232"/>
            <a:ext cx="2377440" cy="1005840"/>
          </a:xfrm>
          <a:prstGeom prst="rect">
            <a:avLst/>
          </a:prstGeom>
          <a:noFill/>
        </p:spPr>
        <p:txBody>
          <a:bodyPr wrap="square" lIns="0" rIns="0" tIns="0" bIns="0" anchor="t">
            <a:noAutofit/>
          </a:bodyPr>
          <a:lstStyle/>
          <a:p>
            <a:pPr algn="l">
              <a:spcAft>
                <a:spcPts val="400"/>
              </a:spcAft>
            </a:pPr>
            <a:r>
              <a:rPr sz="1200" b="0" lang="en-GB">
                <a:solidFill>
                  <a:schemeClr val="tx1"/>
                </a:solidFill>
              </a:rPr>
              <a:t>The .venv folder</a:t>
            </a:r>
          </a:p>
          <a:p>
            <a:pPr algn="l">
              <a:spcAft>
                <a:spcPts val="400"/>
              </a:spcAft>
            </a:pPr>
            <a:r>
              <a:rPr sz="1200" b="0" lang="en-GB">
                <a:solidFill>
                  <a:schemeClr val="tx1"/>
                </a:solidFill>
              </a:rPr>
              <a:t>Files over 50 MiB, rendered _files</a:t>
            </a:r>
          </a:p>
        </p:txBody>
      </p:sp>
      <p:sp>
        <p:nvSpPr>
          <p:cNvPr id="22" name="Gitignore caption bar"/>
          <p:cNvSpPr/>
          <p:nvPr/>
        </p:nvSpPr>
        <p:spPr>
          <a:xfrm>
            <a:off x="457200" y="3063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Gitignore caption"/>
          <p:cNvSpPr txBox="1"/>
          <p:nvPr/>
        </p:nvSpPr>
        <p:spPr>
          <a:xfrm>
            <a:off x="566928" y="3063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.gitignore (example)</a:t>
            </a:r>
          </a:p>
        </p:txBody>
      </p:sp>
      <p:sp>
        <p:nvSpPr>
          <p:cNvPr id="24" name="Gitignore box"/>
          <p:cNvSpPr/>
          <p:nvPr/>
        </p:nvSpPr>
        <p:spPr>
          <a:xfrm>
            <a:off x="457200" y="3337560"/>
            <a:ext cx="4023360"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Gitignore code"/>
          <p:cNvSpPr txBox="1"/>
          <p:nvPr/>
        </p:nvSpPr>
        <p:spPr>
          <a:xfrm>
            <a:off x="594360" y="3429000"/>
            <a:ext cx="3749040" cy="12344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.venv/</a:t>
            </a:r>
          </a:p>
          <a:p>
            <a:pPr algn="l">
              <a:spcAft>
                <a:spcPts val="0"/>
              </a:spcAft>
            </a:pPr>
            <a:r>
              <a:rPr sz="1100" b="0" lang="en-GB">
                <a:solidFill>
                  <a:schemeClr val="bg1"/>
                </a:solidFill>
                <a:latin typeface="Consolas"/>
              </a:rPr>
              <a:t>.env</a:t>
            </a:r>
          </a:p>
          <a:p>
            <a:pPr algn="l">
              <a:spcAft>
                <a:spcPts val="0"/>
              </a:spcAft>
            </a:pPr>
            <a:r>
              <a:rPr sz="1100" b="0" lang="en-GB">
                <a:solidFill>
                  <a:schemeClr val="bg1"/>
                </a:solidFill>
                <a:latin typeface="Consolas"/>
              </a:rPr>
              <a:t>__pycache__/</a:t>
            </a:r>
          </a:p>
          <a:p>
            <a:pPr algn="l">
              <a:spcAft>
                <a:spcPts val="0"/>
              </a:spcAft>
            </a:pPr>
            <a:r>
              <a:rPr sz="1100" b="0" lang="en-GB">
                <a:solidFill>
                  <a:schemeClr val="bg1"/>
                </a:solidFill>
                <a:latin typeface="Consolas"/>
              </a:rPr>
              <a:t>*_files/</a:t>
            </a:r>
          </a:p>
          <a:p>
            <a:pPr algn="l">
              <a:spcAft>
                <a:spcPts val="0"/>
              </a:spcAft>
            </a:pPr>
            <a:r>
              <a:rPr sz="1100" b="0" lang="en-GB">
                <a:solidFill>
                  <a:schemeClr val="bg1"/>
                </a:solidFill>
                <a:latin typeface="Consolas"/>
              </a:rPr>
              <a:t>.DS_Store</a:t>
            </a:r>
          </a:p>
        </p:txBody>
      </p:sp>
      <p:sp>
        <p:nvSpPr>
          <p:cNvPr id="26" name="Never rows row 1"/>
          <p:cNvSpPr/>
          <p:nvPr/>
        </p:nvSpPr>
        <p:spPr>
          <a:xfrm>
            <a:off x="4663440" y="3063240"/>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ever rows bar 1"/>
          <p:cNvSpPr/>
          <p:nvPr/>
        </p:nvSpPr>
        <p:spPr>
          <a:xfrm>
            <a:off x="4663440" y="3063240"/>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ever rows text 1"/>
          <p:cNvSpPr txBox="1"/>
          <p:nvPr/>
        </p:nvSpPr>
        <p:spPr>
          <a:xfrm>
            <a:off x="4864608" y="3063240"/>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Ignore a file: </a:t>
            </a:r>
            <a:r>
              <a:rPr sz="1150" b="0" lang="en-GB">
                <a:solidFill>
                  <a:schemeClr val="tx1"/>
                </a:solidFill>
              </a:rPr>
              <a:t>Changes tab → right-click → Ignore file</a:t>
            </a:r>
          </a:p>
        </p:txBody>
      </p:sp>
      <p:sp>
        <p:nvSpPr>
          <p:cNvPr id="29" name="Never rows row 2"/>
          <p:cNvSpPr/>
          <p:nvPr/>
        </p:nvSpPr>
        <p:spPr>
          <a:xfrm>
            <a:off x="4663440" y="3648456"/>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ever rows bar 2"/>
          <p:cNvSpPr/>
          <p:nvPr/>
        </p:nvSpPr>
        <p:spPr>
          <a:xfrm>
            <a:off x="4663440" y="3648456"/>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ever rows text 2"/>
          <p:cNvSpPr txBox="1"/>
          <p:nvPr/>
        </p:nvSpPr>
        <p:spPr>
          <a:xfrm>
            <a:off x="4864608" y="3648456"/>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Edit the list: </a:t>
            </a:r>
            <a:r>
              <a:rPr sz="1150" b="0" lang="en-GB">
                <a:solidFill>
                  <a:schemeClr val="tx1"/>
                </a:solidFill>
              </a:rPr>
              <a:t>Repository → Repository settings → Ignored files</a:t>
            </a:r>
          </a:p>
        </p:txBody>
      </p:sp>
      <p:sp>
        <p:nvSpPr>
          <p:cNvPr id="32" name="Never rows row 3"/>
          <p:cNvSpPr/>
          <p:nvPr/>
        </p:nvSpPr>
        <p:spPr>
          <a:xfrm>
            <a:off x="4663440" y="4233672"/>
            <a:ext cx="4023360" cy="5212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ever rows bar 3"/>
          <p:cNvSpPr/>
          <p:nvPr/>
        </p:nvSpPr>
        <p:spPr>
          <a:xfrm>
            <a:off x="4663440" y="4233672"/>
            <a:ext cx="64008" cy="5212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Never rows text 3"/>
          <p:cNvSpPr txBox="1"/>
          <p:nvPr/>
        </p:nvSpPr>
        <p:spPr>
          <a:xfrm>
            <a:off x="4864608" y="4233672"/>
            <a:ext cx="3730752" cy="521208"/>
          </a:xfrm>
          <a:prstGeom prst="rect">
            <a:avLst/>
          </a:prstGeom>
          <a:noFill/>
        </p:spPr>
        <p:txBody>
          <a:bodyPr wrap="square" lIns="0" rIns="0" tIns="0" bIns="0" anchor="ctr">
            <a:noAutofit/>
          </a:bodyPr>
          <a:lstStyle/>
          <a:p>
            <a:pPr algn="l">
              <a:spcAft>
                <a:spcPts val="400"/>
              </a:spcAft>
            </a:pPr>
            <a:r>
              <a:rPr sz="1150" b="1" lang="en-GB">
                <a:solidFill>
                  <a:schemeClr val="tx2"/>
                </a:solidFill>
              </a:rPr>
              <a:t>Pushed a secret? </a:t>
            </a:r>
            <a:r>
              <a:rPr sz="1150" b="0" lang="en-GB">
                <a:solidFill>
                  <a:schemeClr val="tx1"/>
                </a:solidFill>
              </a:rPr>
              <a:t>Change the password or key at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18 · your own repository, inviting your group, changing visibility</a:t>
            </a:r>
          </a:p>
        </p:txBody>
      </p:sp>
      <p:sp>
        <p:nvSpPr>
          <p:cNvPr id="3" name="Title 2"/>
          <p:cNvSpPr>
            <a:spLocks noGrp="1"/>
          </p:cNvSpPr>
          <p:nvPr>
            <p:ph type="ctrTitle"/>
          </p:nvPr>
        </p:nvSpPr>
        <p:spPr/>
        <p:txBody>
          <a:bodyPr/>
          <a:lstStyle/>
          <a:p>
            <a:r>
              <a:rPr sz="1600" lang="en-GB"/>
              <a:t>Private or public?</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Vis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03120"/>
                <a:gridCol w="3063240"/>
                <a:gridCol w="3063240"/>
              </a:tblGrid>
              <a:tr h="370840">
                <a:tc>
                  <a:txBody>
                    <a:bodyPr/>
                    <a:lstStyle/>
                    <a:p>
                      <a:r>
                        <a:rPr sz="1300" lang="en-GB"/>
                        <a:t/>
                      </a:r>
                    </a:p>
                  </a:txBody>
                  <a:tcPr marT="55000" marB="55000"/>
                </a:tc>
                <a:tc>
                  <a:txBody>
                    <a:bodyPr/>
                    <a:lstStyle/>
                    <a:p>
                      <a:r>
                        <a:rPr sz="1300" lang="en-GB"/>
                        <a:t>Private</a:t>
                      </a:r>
                    </a:p>
                  </a:txBody>
                  <a:tcPr marT="55000" marB="55000"/>
                </a:tc>
                <a:tc>
                  <a:txBody>
                    <a:bodyPr/>
                    <a:lstStyle/>
                    <a:p>
                      <a:r>
                        <a:rPr sz="1300" lang="en-GB"/>
                        <a:t>Public</a:t>
                      </a:r>
                    </a:p>
                  </a:txBody>
                  <a:tcPr marT="55000" marB="55000"/>
                </a:tc>
              </a:tr>
              <a:tr h="370840">
                <a:tc>
                  <a:txBody>
                    <a:bodyPr/>
                    <a:lstStyle/>
                    <a:p>
                      <a:r>
                        <a:rPr sz="1200" b="1" lang="en-GB"/>
                        <a:t>Who can see it</a:t>
                      </a:r>
                    </a:p>
                  </a:txBody>
                  <a:tcPr marT="55000" marB="55000"/>
                </a:tc>
                <a:tc>
                  <a:txBody>
                    <a:bodyPr/>
                    <a:lstStyle/>
                    <a:p>
                      <a:r>
                        <a:rPr sz="1200" lang="en-GB"/>
                        <a:t>you and people you invite</a:t>
                      </a:r>
                    </a:p>
                  </a:txBody>
                  <a:tcPr marT="55000" marB="55000"/>
                </a:tc>
                <a:tc>
                  <a:txBody>
                    <a:bodyPr/>
                    <a:lstStyle/>
                    <a:p>
                      <a:r>
                        <a:rPr sz="1200" lang="en-GB"/>
                        <a:t>everyone on the internet</a:t>
                      </a:r>
                    </a:p>
                  </a:txBody>
                  <a:tcPr marT="55000" marB="55000"/>
                </a:tc>
              </a:tr>
              <a:tr h="370840">
                <a:tc>
                  <a:txBody>
                    <a:bodyPr/>
                    <a:lstStyle/>
                    <a:p>
                      <a:r>
                        <a:rPr sz="1200" b="1" lang="en-GB"/>
                        <a:t>Who can clone it</a:t>
                      </a:r>
                    </a:p>
                  </a:txBody>
                  <a:tcPr marT="55000" marB="55000"/>
                </a:tc>
                <a:tc>
                  <a:txBody>
                    <a:bodyPr/>
                    <a:lstStyle/>
                    <a:p>
                      <a:r>
                        <a:rPr sz="1200" lang="en-GB"/>
                        <a:t>you and invited people</a:t>
                      </a:r>
                    </a:p>
                  </a:txBody>
                  <a:tcPr marT="55000" marB="55000"/>
                </a:tc>
                <a:tc>
                  <a:txBody>
                    <a:bodyPr/>
                    <a:lstStyle/>
                    <a:p>
                      <a:r>
                        <a:rPr sz="1200" lang="en-GB"/>
                        <a:t>anyone, without an account</a:t>
                      </a:r>
                    </a:p>
                  </a:txBody>
                  <a:tcPr marT="55000" marB="55000"/>
                </a:tc>
              </a:tr>
              <a:tr h="370840">
                <a:tc>
                  <a:txBody>
                    <a:bodyPr/>
                    <a:lstStyle/>
                    <a:p>
                      <a:r>
                        <a:rPr sz="1200" b="1" lang="en-GB"/>
                        <a:t>Who can push</a:t>
                      </a:r>
                    </a:p>
                  </a:txBody>
                  <a:tcPr marT="55000" marB="55000"/>
                </a:tc>
                <a:tc>
                  <a:txBody>
                    <a:bodyPr/>
                    <a:lstStyle/>
                    <a:p>
                      <a:r>
                        <a:rPr sz="1200" lang="en-GB"/>
                        <a:t>you and invited collaborators</a:t>
                      </a:r>
                    </a:p>
                  </a:txBody>
                  <a:tcPr marT="55000" marB="55000"/>
                </a:tc>
                <a:tc>
                  <a:txBody>
                    <a:bodyPr/>
                    <a:lstStyle/>
                    <a:p>
                      <a:r>
                        <a:rPr sz="1200" lang="en-GB"/>
                        <a:t>you and invited collaborators</a:t>
                      </a:r>
                    </a:p>
                  </a:txBody>
                  <a:tcPr marT="55000" marB="55000"/>
                </a:tc>
              </a:tr>
              <a:tr h="370840">
                <a:tc>
                  <a:txBody>
                    <a:bodyPr/>
                    <a:lstStyle/>
                    <a:p>
                      <a:r>
                        <a:rPr sz="1200" b="1" lang="en-GB"/>
                        <a:t>Cost on GitHub Free</a:t>
                      </a:r>
                    </a:p>
                  </a:txBody>
                  <a:tcPr marT="55000" marB="55000"/>
                </a:tc>
                <a:tc>
                  <a:txBody>
                    <a:bodyPr/>
                    <a:lstStyle/>
                    <a:p>
                      <a:r>
                        <a:rPr sz="1200" lang="en-GB"/>
                        <a:t>free, unlimited</a:t>
                      </a:r>
                    </a:p>
                  </a:txBody>
                  <a:tcPr marT="55000" marB="55000"/>
                </a:tc>
                <a:tc>
                  <a:txBody>
                    <a:bodyPr/>
                    <a:lstStyle/>
                    <a:p>
                      <a:r>
                        <a:rPr sz="1200" lang="en-GB"/>
                        <a:t>free, unlimited</a:t>
                      </a:r>
                    </a:p>
                  </a:txBody>
                  <a:tcPr marT="55000" marB="55000"/>
                </a:tc>
              </a:tr>
              <a:tr h="370840">
                <a:tc>
                  <a:txBody>
                    <a:bodyPr/>
                    <a:lstStyle/>
                    <a:p>
                      <a:r>
                        <a:rPr sz="1200" b="1" lang="en-GB"/>
                        <a:t>Use it for</a:t>
                      </a:r>
                    </a:p>
                  </a:txBody>
                  <a:tcPr marT="55000" marB="55000"/>
                </a:tc>
                <a:tc>
                  <a:txBody>
                    <a:bodyPr/>
                    <a:lstStyle/>
                    <a:p>
                      <a:r>
                        <a:rPr sz="1200" lang="en-GB"/>
                        <a:t>group work, assignments, drafts</a:t>
                      </a:r>
                    </a:p>
                  </a:txBody>
                  <a:tcPr marT="55000" marB="55000"/>
                </a:tc>
                <a:tc>
                  <a:txBody>
                    <a:bodyPr/>
                    <a:lstStyle/>
                    <a:p>
                      <a:r>
                        <a:rPr sz="1200" lang="en-GB"/>
                        <a:t>portfolio, open-source, the course materials</a:t>
                      </a:r>
                    </a:p>
                  </a:txBody>
                  <a:tcPr marT="55000" marB="55000"/>
                </a:tc>
              </a:tr>
            </a:tbl>
          </a:graphicData>
        </a:graphic>
      </p:graphicFrame>
      <p:sp>
        <p:nvSpPr>
          <p:cNvPr id="3" name="Title 2"/>
          <p:cNvSpPr>
            <a:spLocks noGrp="1"/>
          </p:cNvSpPr>
          <p:nvPr>
            <p:ph type="title"/>
          </p:nvPr>
        </p:nvSpPr>
        <p:spPr/>
        <p:txBody>
          <a:bodyPr/>
          <a:lstStyle/>
          <a:p>
            <a:r>
              <a:rPr sz="1600" lang="en-GB"/>
              <a:t>Private and public repositories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 rule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Vis rule" descr=""/>
          <p:cNvPicPr>
            <a:picLocks noChangeAspect="1"/>
          </p:cNvPicPr>
          <p:nvPr/>
        </p:nvPicPr>
        <p:blipFill>
          <a:blip r:embed="rId3"/>
          <a:stretch>
            <a:fillRect/>
          </a:stretch>
        </p:blipFill>
        <p:spPr>
          <a:xfrm>
            <a:off x="658368" y="4297680"/>
            <a:ext cx="365760" cy="365760"/>
          </a:xfrm>
          <a:prstGeom prst="rect">
            <a:avLst/>
          </a:prstGeom>
        </p:spPr>
      </p:pic>
      <p:sp>
        <p:nvSpPr>
          <p:cNvPr id="12" name="Vis rule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Rule for this course: </a:t>
            </a:r>
            <a:r>
              <a:rPr sz="1200" b="0" lang="en-GB">
                <a:solidFill>
                  <a:schemeClr val="bg1"/>
                </a:solidFill>
              </a:rPr>
              <a:t>keep group and assignment repositories private. Never publish data you received under licence or solutions others could copy.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Create your own repository and publish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reate body"/>
          <p:cNvSpPr/>
          <p:nvPr/>
        </p:nvSpPr>
        <p:spPr>
          <a:xfrm>
            <a:off x="45720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reate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reate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Create on your laptop</a:t>
            </a:r>
          </a:p>
        </p:txBody>
      </p:sp>
      <p:pic>
        <p:nvPicPr>
          <p:cNvPr id="13" name="Icon Create" descr=""/>
          <p:cNvPicPr>
            <a:picLocks noChangeAspect="1"/>
          </p:cNvPicPr>
          <p:nvPr/>
        </p:nvPicPr>
        <p:blipFill>
          <a:blip r:embed="rId3"/>
          <a:stretch>
            <a:fillRect/>
          </a:stretch>
        </p:blipFill>
        <p:spPr>
          <a:xfrm>
            <a:off x="4064508" y="1284732"/>
            <a:ext cx="310896" cy="310896"/>
          </a:xfrm>
          <a:prstGeom prst="rect">
            <a:avLst/>
          </a:prstGeom>
        </p:spPr>
      </p:pic>
      <p:sp>
        <p:nvSpPr>
          <p:cNvPr id="14" name="Create text"/>
          <p:cNvSpPr txBox="1"/>
          <p:nvPr/>
        </p:nvSpPr>
        <p:spPr>
          <a:xfrm>
            <a:off x="62179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File → </a:t>
            </a:r>
            <a:r>
              <a:rPr sz="1300" b="0" lang="en-GB">
                <a:solidFill>
                  <a:schemeClr val="tx1"/>
                </a:solidFill>
              </a:rPr>
              <a:t>New repository</a:t>
            </a:r>
          </a:p>
          <a:p>
            <a:pPr algn="l">
              <a:spcAft>
                <a:spcPts val="900"/>
              </a:spcAft>
            </a:pPr>
            <a:r>
              <a:rPr sz="1300" b="1" lang="en-GB">
                <a:solidFill>
                  <a:schemeClr val="accent1"/>
                </a:solidFill>
              </a:rPr>
              <a:t>2  </a:t>
            </a:r>
            <a:r>
              <a:rPr sz="1300" b="1" lang="en-GB">
                <a:solidFill>
                  <a:schemeClr val="tx2"/>
                </a:solidFill>
              </a:rPr>
              <a:t>Name: </a:t>
            </a:r>
            <a:r>
              <a:rPr sz="1300" b="0" lang="en-GB">
                <a:solidFill>
                  <a:schemeClr val="tx1"/>
                </a:solidFill>
              </a:rPr>
              <a:t>e.g. ima-group-3, no spaces</a:t>
            </a:r>
          </a:p>
          <a:p>
            <a:pPr algn="l">
              <a:spcAft>
                <a:spcPts val="900"/>
              </a:spcAft>
            </a:pPr>
            <a:r>
              <a:rPr sz="1300" b="1" lang="en-GB">
                <a:solidFill>
                  <a:schemeClr val="accent1"/>
                </a:solidFill>
              </a:rPr>
              <a:t>3  </a:t>
            </a:r>
            <a:r>
              <a:rPr sz="1300" b="1" lang="en-GB">
                <a:solidFill>
                  <a:schemeClr val="tx2"/>
                </a:solidFill>
              </a:rPr>
              <a:t>Local path: </a:t>
            </a:r>
            <a:r>
              <a:rPr sz="1300" b="0" lang="en-GB">
                <a:solidFill>
                  <a:schemeClr val="tx1"/>
                </a:solidFill>
              </a:rPr>
              <a:t>Choose… your wu folder</a:t>
            </a:r>
          </a:p>
          <a:p>
            <a:pPr algn="l">
              <a:spcAft>
                <a:spcPts val="900"/>
              </a:spcAft>
            </a:pPr>
            <a:r>
              <a:rPr sz="1300" b="1" lang="en-GB">
                <a:solidFill>
                  <a:schemeClr val="accent1"/>
                </a:solidFill>
              </a:rPr>
              <a:t>4  </a:t>
            </a:r>
            <a:r>
              <a:rPr sz="1300" b="1" lang="en-GB">
                <a:solidFill>
                  <a:schemeClr val="tx2"/>
                </a:solidFill>
              </a:rPr>
              <a:t>Tick </a:t>
            </a:r>
            <a:r>
              <a:rPr sz="1300" b="0" lang="en-GB">
                <a:solidFill>
                  <a:schemeClr val="tx1"/>
                </a:solidFill>
              </a:rPr>
              <a:t>Initialize with a README</a:t>
            </a:r>
          </a:p>
          <a:p>
            <a:pPr algn="l">
              <a:spcAft>
                <a:spcPts val="900"/>
              </a:spcAft>
            </a:pPr>
            <a:r>
              <a:rPr sz="1300" b="1" lang="en-GB">
                <a:solidFill>
                  <a:schemeClr val="accent1"/>
                </a:solidFill>
              </a:rPr>
              <a:t>5  </a:t>
            </a:r>
            <a:r>
              <a:rPr sz="1300" b="1" lang="en-GB">
                <a:solidFill>
                  <a:schemeClr val="tx2"/>
                </a:solidFill>
              </a:rPr>
              <a:t>Git ignore: </a:t>
            </a:r>
            <a:r>
              <a:rPr sz="1300" b="0" lang="en-GB">
                <a:solidFill>
                  <a:schemeClr val="tx1"/>
                </a:solidFill>
              </a:rPr>
              <a:t>Python; click Create</a:t>
            </a:r>
          </a:p>
        </p:txBody>
      </p:sp>
      <p:sp>
        <p:nvSpPr>
          <p:cNvPr id="15" name="Publish body"/>
          <p:cNvSpPr/>
          <p:nvPr/>
        </p:nvSpPr>
        <p:spPr>
          <a:xfrm>
            <a:off x="4640580" y="1645920"/>
            <a:ext cx="404622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sh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sh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Publish to GitHub</a:t>
            </a:r>
          </a:p>
        </p:txBody>
      </p:sp>
      <p:pic>
        <p:nvPicPr>
          <p:cNvPr id="18" name="Icon Publish" descr=""/>
          <p:cNvPicPr>
            <a:picLocks noChangeAspect="1"/>
          </p:cNvPicPr>
          <p:nvPr/>
        </p:nvPicPr>
        <p:blipFill>
          <a:blip r:embed="rId4"/>
          <a:stretch>
            <a:fillRect/>
          </a:stretch>
        </p:blipFill>
        <p:spPr>
          <a:xfrm>
            <a:off x="8247888" y="1284732"/>
            <a:ext cx="310896" cy="310896"/>
          </a:xfrm>
          <a:prstGeom prst="rect">
            <a:avLst/>
          </a:prstGeom>
        </p:spPr>
      </p:pic>
      <p:sp>
        <p:nvSpPr>
          <p:cNvPr id="19" name="Publish text"/>
          <p:cNvSpPr txBox="1"/>
          <p:nvPr/>
        </p:nvSpPr>
        <p:spPr>
          <a:xfrm>
            <a:off x="4805172" y="1783080"/>
            <a:ext cx="374446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Publish repository</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name and description</a:t>
            </a:r>
          </a:p>
          <a:p>
            <a:pPr algn="l">
              <a:spcAft>
                <a:spcPts val="900"/>
              </a:spcAft>
            </a:pPr>
            <a:r>
              <a:rPr sz="1300" b="1" lang="en-GB">
                <a:solidFill>
                  <a:schemeClr val="accent1"/>
                </a:solidFill>
              </a:rPr>
              <a:t>3  </a:t>
            </a:r>
            <a:r>
              <a:rPr sz="1300" b="1" lang="en-GB">
                <a:solidFill>
                  <a:schemeClr val="tx2"/>
                </a:solidFill>
              </a:rPr>
              <a:t>Keep this code private: </a:t>
            </a:r>
            <a:r>
              <a:rPr sz="1300" b="0" lang="en-GB">
                <a:solidFill>
                  <a:schemeClr val="tx1"/>
                </a:solidFill>
              </a:rPr>
              <a:t>leave it ticked</a:t>
            </a:r>
          </a:p>
          <a:p>
            <a:pPr algn="l">
              <a:spcAft>
                <a:spcPts val="900"/>
              </a:spcAft>
            </a:pPr>
            <a:r>
              <a:rPr sz="1300" b="1" lang="en-GB">
                <a:solidFill>
                  <a:schemeClr val="accent1"/>
                </a:solidFill>
              </a:rPr>
              <a:t>4  </a:t>
            </a:r>
            <a:r>
              <a:rPr sz="1300" b="1" lang="en-GB">
                <a:solidFill>
                  <a:schemeClr val="tx2"/>
                </a:solidFill>
              </a:rPr>
              <a:t>Organization: </a:t>
            </a:r>
            <a:r>
              <a:rPr sz="1300" b="0" lang="en-GB">
                <a:solidFill>
                  <a:schemeClr val="tx1"/>
                </a:solidFill>
              </a:rPr>
              <a:t>None (your account)</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Publish repository</a:t>
            </a:r>
          </a:p>
        </p:txBody>
      </p:sp>
      <p:sp>
        <p:nvSpPr>
          <p:cNvPr id="20" name="Create note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reate note" descr=""/>
          <p:cNvPicPr>
            <a:picLocks noChangeAspect="1"/>
          </p:cNvPicPr>
          <p:nvPr/>
        </p:nvPicPr>
        <p:blipFill>
          <a:blip r:embed="rId5"/>
          <a:stretch>
            <a:fillRect/>
          </a:stretch>
        </p:blipFill>
        <p:spPr>
          <a:xfrm>
            <a:off x="658368" y="4411980"/>
            <a:ext cx="365760" cy="365760"/>
          </a:xfrm>
          <a:prstGeom prst="rect">
            <a:avLst/>
          </a:prstGeom>
        </p:spPr>
      </p:pic>
      <p:sp>
        <p:nvSpPr>
          <p:cNvPr id="22" name="Create note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Existing folder? </a:t>
            </a:r>
            <a:r>
              <a:rPr sz="1200" b="0" lang="en-GB">
                <a:solidFill>
                  <a:schemeClr val="tx1"/>
                </a:solidFill>
              </a:rPr>
              <a:t>File → Add local repository, create a repository there, then publish.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Invite your group members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vite body"/>
          <p:cNvSpPr/>
          <p:nvPr/>
        </p:nvSpPr>
        <p:spPr>
          <a:xfrm>
            <a:off x="457200" y="1645920"/>
            <a:ext cx="49377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vi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vi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Owner: on github.com</a:t>
            </a:r>
          </a:p>
        </p:txBody>
      </p:sp>
      <p:pic>
        <p:nvPicPr>
          <p:cNvPr id="13" name="Icon Invite" descr=""/>
          <p:cNvPicPr>
            <a:picLocks noChangeAspect="1"/>
          </p:cNvPicPr>
          <p:nvPr/>
        </p:nvPicPr>
        <p:blipFill>
          <a:blip r:embed="rId3"/>
          <a:stretch>
            <a:fillRect/>
          </a:stretch>
        </p:blipFill>
        <p:spPr>
          <a:xfrm>
            <a:off x="4956048" y="1284732"/>
            <a:ext cx="310896" cy="310896"/>
          </a:xfrm>
          <a:prstGeom prst="rect">
            <a:avLst/>
          </a:prstGeom>
        </p:spPr>
      </p:pic>
      <p:sp>
        <p:nvSpPr>
          <p:cNvPr id="14" name="Invite text"/>
          <p:cNvSpPr txBox="1"/>
          <p:nvPr/>
        </p:nvSpPr>
        <p:spPr>
          <a:xfrm>
            <a:off x="621792" y="1783080"/>
            <a:ext cx="4636008" cy="228600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GitHub Desktop: </a:t>
            </a:r>
            <a:r>
              <a:rPr sz="1300" b="0" lang="en-GB">
                <a:solidFill>
                  <a:schemeClr val="tx1"/>
                </a:solidFill>
              </a:rPr>
              <a:t>Repository → View on GitHub</a:t>
            </a:r>
          </a:p>
          <a:p>
            <a:pPr algn="l">
              <a:spcAft>
                <a:spcPts val="900"/>
              </a:spcAft>
            </a:pPr>
            <a:r>
              <a:rPr sz="1300" b="1" lang="en-GB">
                <a:solidFill>
                  <a:schemeClr val="accent1"/>
                </a:solidFill>
              </a:rPr>
              <a:t>2  </a:t>
            </a:r>
            <a:r>
              <a:rPr sz="1300" b="1" lang="en-GB">
                <a:solidFill>
                  <a:schemeClr val="tx2"/>
                </a:solidFill>
              </a:rPr>
              <a:t>Click </a:t>
            </a:r>
            <a:r>
              <a:rPr sz="1300" b="0" lang="en-GB">
                <a:solidFill>
                  <a:schemeClr val="tx1"/>
                </a:solidFill>
              </a:rPr>
              <a:t>Settings (the repository's, top right)</a:t>
            </a:r>
          </a:p>
          <a:p>
            <a:pPr algn="l">
              <a:spcAft>
                <a:spcPts val="900"/>
              </a:spcAft>
            </a:pPr>
            <a:r>
              <a:rPr sz="1300" b="1" lang="en-GB">
                <a:solidFill>
                  <a:schemeClr val="accent1"/>
                </a:solidFill>
              </a:rPr>
              <a:t>3  </a:t>
            </a:r>
            <a:r>
              <a:rPr sz="1300" b="1" lang="en-GB">
                <a:solidFill>
                  <a:schemeClr val="tx2"/>
                </a:solidFill>
              </a:rPr>
              <a:t>Left menu: </a:t>
            </a:r>
            <a:r>
              <a:rPr sz="1300" b="0" lang="en-GB">
                <a:solidFill>
                  <a:schemeClr val="tx1"/>
                </a:solidFill>
              </a:rPr>
              <a:t>Collaborators</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Add people, type the username</a:t>
            </a:r>
          </a:p>
          <a:p>
            <a:pPr algn="l">
              <a:spcAft>
                <a:spcPts val="900"/>
              </a:spcAft>
            </a:pPr>
            <a:r>
              <a:rPr sz="1300" b="1" lang="en-GB">
                <a:solidFill>
                  <a:schemeClr val="accent1"/>
                </a:solidFill>
              </a:rPr>
              <a:t>5  </a:t>
            </a:r>
            <a:r>
              <a:rPr sz="1300" b="1" lang="en-GB">
                <a:solidFill>
                  <a:schemeClr val="tx2"/>
                </a:solidFill>
              </a:rPr>
              <a:t>Click </a:t>
            </a:r>
            <a:r>
              <a:rPr sz="1300" b="0" lang="en-GB">
                <a:solidFill>
                  <a:schemeClr val="tx1"/>
                </a:solidFill>
              </a:rPr>
              <a:t>Add … to this repository</a:t>
            </a:r>
          </a:p>
        </p:txBody>
      </p:sp>
      <p:sp>
        <p:nvSpPr>
          <p:cNvPr id="15" name="Members card body"/>
          <p:cNvSpPr/>
          <p:nvPr/>
        </p:nvSpPr>
        <p:spPr>
          <a:xfrm>
            <a:off x="5532120" y="1645920"/>
            <a:ext cx="315468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embers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embers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Members</a:t>
            </a:r>
          </a:p>
        </p:txBody>
      </p:sp>
      <p:pic>
        <p:nvPicPr>
          <p:cNvPr id="18" name="Icon Members card" descr=""/>
          <p:cNvPicPr>
            <a:picLocks noChangeAspect="1"/>
          </p:cNvPicPr>
          <p:nvPr/>
        </p:nvPicPr>
        <p:blipFill>
          <a:blip r:embed="rId4"/>
          <a:stretch>
            <a:fillRect/>
          </a:stretch>
        </p:blipFill>
        <p:spPr>
          <a:xfrm>
            <a:off x="8247888" y="1284732"/>
            <a:ext cx="310896" cy="310896"/>
          </a:xfrm>
          <a:prstGeom prst="rect">
            <a:avLst/>
          </a:prstGeom>
        </p:spPr>
      </p:pic>
      <p:sp>
        <p:nvSpPr>
          <p:cNvPr id="19" name="Members card text"/>
          <p:cNvSpPr txBox="1"/>
          <p:nvPr/>
        </p:nvSpPr>
        <p:spPr>
          <a:xfrm>
            <a:off x="5696712" y="1783080"/>
            <a:ext cx="285292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Accept the invitation: e-mail or github.com/notifications</a:t>
            </a:r>
          </a:p>
          <a:p>
            <a:pPr algn="l" marL="182880" indent="-182880">
              <a:spcAft>
                <a:spcPts val="600"/>
              </a:spcAft>
              <a:buClr>
                <a:schemeClr val="accent1"/>
              </a:buClr>
              <a:buFont typeface="Arial"/>
              <a:buChar char="▪"/>
            </a:pPr>
            <a:r>
              <a:rPr sz="1300" b="0" lang="en-GB">
                <a:solidFill>
                  <a:schemeClr val="tx1"/>
                </a:solidFill>
              </a:rPr>
              <a:t>Clone the repository (Part 4)</a:t>
            </a:r>
          </a:p>
          <a:p>
            <a:pPr algn="l" marL="182880" indent="-182880">
              <a:spcAft>
                <a:spcPts val="600"/>
              </a:spcAft>
              <a:buClr>
                <a:schemeClr val="accent1"/>
              </a:buClr>
              <a:buFont typeface="Arial"/>
              <a:buChar char="▪"/>
            </a:pPr>
            <a:r>
              <a:rPr sz="1300" b="0" lang="en-GB">
                <a:solidFill>
                  <a:schemeClr val="tx1"/>
                </a:solidFill>
              </a:rPr>
              <a:t>Pull before you start, push when you stop</a:t>
            </a:r>
          </a:p>
          <a:p>
            <a:pPr algn="l" marL="182880" indent="-182880">
              <a:spcAft>
                <a:spcPts val="600"/>
              </a:spcAft>
              <a:buClr>
                <a:schemeClr val="accent1"/>
              </a:buClr>
              <a:buFont typeface="Arial"/>
              <a:buChar char="▪"/>
            </a:pPr>
            <a:r>
              <a:rPr sz="1300" b="0" lang="en-GB">
                <a:solidFill>
                  <a:schemeClr val="tx1"/>
                </a:solidFill>
              </a:rPr>
              <a:t>One person per file where possible</a:t>
            </a:r>
          </a:p>
        </p:txBody>
      </p:sp>
      <p:sp>
        <p:nvSpPr>
          <p:cNvPr id="20" name="Invite exp box"/>
          <p:cNvSpPr/>
          <p:nvPr/>
        </p:nvSpPr>
        <p:spPr>
          <a:xfrm>
            <a:off x="457200" y="429768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Invite exp" descr=""/>
          <p:cNvPicPr>
            <a:picLocks noChangeAspect="1"/>
          </p:cNvPicPr>
          <p:nvPr/>
        </p:nvPicPr>
        <p:blipFill>
          <a:blip r:embed="rId5"/>
          <a:stretch>
            <a:fillRect/>
          </a:stretch>
        </p:blipFill>
        <p:spPr>
          <a:xfrm>
            <a:off x="658368" y="4411980"/>
            <a:ext cx="365760" cy="365760"/>
          </a:xfrm>
          <a:prstGeom prst="rect">
            <a:avLst/>
          </a:prstGeom>
        </p:spPr>
      </p:pic>
      <p:sp>
        <p:nvSpPr>
          <p:cNvPr id="22" name="Invite exp text"/>
          <p:cNvSpPr txBox="1"/>
          <p:nvPr/>
        </p:nvSpPr>
        <p:spPr>
          <a:xfrm>
            <a:off x="1207008" y="4297680"/>
            <a:ext cx="7315200" cy="594360"/>
          </a:xfrm>
          <a:prstGeom prst="rect">
            <a:avLst/>
          </a:prstGeom>
          <a:noFill/>
        </p:spPr>
        <p:txBody>
          <a:bodyPr wrap="square" lIns="0" rIns="0" tIns="0" bIns="0" anchor="ctr">
            <a:noAutofit/>
          </a:bodyPr>
          <a:lstStyle/>
          <a:p>
            <a:pPr algn="l">
              <a:spcAft>
                <a:spcPts val="400"/>
              </a:spcAft>
            </a:pPr>
            <a:r>
              <a:rPr sz="1200" b="1" lang="en-GB">
                <a:solidFill>
                  <a:schemeClr val="tx2"/>
                </a:solidFill>
              </a:rPr>
              <a:t>Invitations expire </a:t>
            </a:r>
            <a:r>
              <a:rPr sz="1200" b="0" lang="en-GB">
                <a:solidFill>
                  <a:schemeClr val="tx1"/>
                </a:solidFill>
              </a:rPr>
              <a:t>after seven days; the owner can resend them.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Change visibility later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isib body"/>
          <p:cNvSpPr/>
          <p:nvPr/>
        </p:nvSpPr>
        <p:spPr>
          <a:xfrm>
            <a:off x="45720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Visib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Visib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 github.com</a:t>
            </a:r>
          </a:p>
        </p:txBody>
      </p:sp>
      <p:pic>
        <p:nvPicPr>
          <p:cNvPr id="13" name="Icon Visib" descr=""/>
          <p:cNvPicPr>
            <a:picLocks noChangeAspect="1"/>
          </p:cNvPicPr>
          <p:nvPr/>
        </p:nvPicPr>
        <p:blipFill>
          <a:blip r:embed="rId3"/>
          <a:stretch>
            <a:fillRect/>
          </a:stretch>
        </p:blipFill>
        <p:spPr>
          <a:xfrm>
            <a:off x="4041648" y="1284732"/>
            <a:ext cx="310896" cy="310896"/>
          </a:xfrm>
          <a:prstGeom prst="rect">
            <a:avLst/>
          </a:prstGeom>
        </p:spPr>
      </p:pic>
      <p:sp>
        <p:nvSpPr>
          <p:cNvPr id="14" name="Visib text"/>
          <p:cNvSpPr txBox="1"/>
          <p:nvPr/>
        </p:nvSpPr>
        <p:spPr>
          <a:xfrm>
            <a:off x="621792" y="1783080"/>
            <a:ext cx="3721608" cy="19659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Open </a:t>
            </a:r>
            <a:r>
              <a:rPr sz="1300" b="0" lang="en-GB">
                <a:solidFill>
                  <a:schemeClr val="tx1"/>
                </a:solidFill>
              </a:rPr>
              <a:t>the repository → Settings</a:t>
            </a:r>
          </a:p>
          <a:p>
            <a:pPr algn="l">
              <a:spcAft>
                <a:spcPts val="900"/>
              </a:spcAft>
            </a:pPr>
            <a:r>
              <a:rPr sz="1300" b="1" lang="en-GB">
                <a:solidFill>
                  <a:schemeClr val="accent1"/>
                </a:solidFill>
              </a:rPr>
              <a:t>2  </a:t>
            </a:r>
            <a:r>
              <a:rPr sz="1300" b="1" lang="en-GB">
                <a:solidFill>
                  <a:schemeClr val="tx2"/>
                </a:solidFill>
              </a:rPr>
              <a:t>General: </a:t>
            </a:r>
            <a:r>
              <a:rPr sz="1300" b="0" lang="en-GB">
                <a:solidFill>
                  <a:schemeClr val="tx1"/>
                </a:solidFill>
              </a:rPr>
              <a:t>scroll to the Danger Zone</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Change visibility</a:t>
            </a:r>
          </a:p>
          <a:p>
            <a:pPr algn="l">
              <a:spcAft>
                <a:spcPts val="900"/>
              </a:spcAft>
            </a:pPr>
            <a:r>
              <a:rPr sz="1300" b="1" lang="en-GB">
                <a:solidFill>
                  <a:schemeClr val="accent1"/>
                </a:solidFill>
              </a:rPr>
              <a:t>4  </a:t>
            </a:r>
            <a:r>
              <a:rPr sz="1300" b="1" lang="en-GB">
                <a:solidFill>
                  <a:schemeClr val="tx2"/>
                </a:solidFill>
              </a:rPr>
              <a:t>Confirm </a:t>
            </a:r>
            <a:r>
              <a:rPr sz="1300" b="0" lang="en-GB">
                <a:solidFill>
                  <a:schemeClr val="tx1"/>
                </a:solidFill>
              </a:rPr>
              <a:t>with the repository name</a:t>
            </a:r>
          </a:p>
        </p:txBody>
      </p:sp>
      <p:sp>
        <p:nvSpPr>
          <p:cNvPr id="15" name="Public card body"/>
          <p:cNvSpPr/>
          <p:nvPr/>
        </p:nvSpPr>
        <p:spPr>
          <a:xfrm>
            <a:off x="4663440" y="1645920"/>
            <a:ext cx="4023360" cy="2194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ublic card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ublic card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Before you go public</a:t>
            </a:r>
          </a:p>
        </p:txBody>
      </p:sp>
      <p:pic>
        <p:nvPicPr>
          <p:cNvPr id="18" name="Icon Public card" descr=""/>
          <p:cNvPicPr>
            <a:picLocks noChangeAspect="1"/>
          </p:cNvPicPr>
          <p:nvPr/>
        </p:nvPicPr>
        <p:blipFill>
          <a:blip r:embed="rId4"/>
          <a:stretch>
            <a:fillRect/>
          </a:stretch>
        </p:blipFill>
        <p:spPr>
          <a:xfrm>
            <a:off x="8247888" y="1284732"/>
            <a:ext cx="310896" cy="310896"/>
          </a:xfrm>
          <a:prstGeom prst="rect">
            <a:avLst/>
          </a:prstGeom>
        </p:spPr>
      </p:pic>
      <p:sp>
        <p:nvSpPr>
          <p:cNvPr id="19" name="Public card text"/>
          <p:cNvSpPr txBox="1"/>
          <p:nvPr/>
        </p:nvSpPr>
        <p:spPr>
          <a:xfrm>
            <a:off x="4828032" y="1783080"/>
            <a:ext cx="3721608" cy="19202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whole history becomes visible, not just today's files</a:t>
            </a:r>
          </a:p>
          <a:p>
            <a:pPr algn="l" marL="182880" indent="-182880">
              <a:spcAft>
                <a:spcPts val="600"/>
              </a:spcAft>
              <a:buClr>
                <a:schemeClr val="accent1"/>
              </a:buClr>
              <a:buFont typeface="Arial"/>
              <a:buChar char="▪"/>
            </a:pPr>
            <a:r>
              <a:rPr sz="1300" b="0" lang="en-GB">
                <a:solidFill>
                  <a:schemeClr val="tx1"/>
                </a:solidFill>
              </a:rPr>
              <a:t>Anyone can copy and fork it, for good</a:t>
            </a:r>
          </a:p>
          <a:p>
            <a:pPr algn="l" marL="182880" indent="-182880">
              <a:spcAft>
                <a:spcPts val="600"/>
              </a:spcAft>
              <a:buClr>
                <a:schemeClr val="accent1"/>
              </a:buClr>
              <a:buFont typeface="Arial"/>
              <a:buChar char="▪"/>
            </a:pPr>
            <a:r>
              <a:rPr sz="1300" b="0" lang="en-GB">
                <a:solidFill>
                  <a:schemeClr val="tx1"/>
                </a:solidFill>
              </a:rPr>
              <a:t>Check: no secrets, no personal or licensed data</a:t>
            </a:r>
          </a:p>
        </p:txBody>
      </p:sp>
      <p:sp>
        <p:nvSpPr>
          <p:cNvPr id="20" name="Visib note box"/>
          <p:cNvSpPr/>
          <p:nvPr/>
        </p:nvSpPr>
        <p:spPr>
          <a:xfrm>
            <a:off x="457200" y="39776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Visib note" descr=""/>
          <p:cNvPicPr>
            <a:picLocks noChangeAspect="1"/>
          </p:cNvPicPr>
          <p:nvPr/>
        </p:nvPicPr>
        <p:blipFill>
          <a:blip r:embed="rId5"/>
          <a:stretch>
            <a:fillRect/>
          </a:stretch>
        </p:blipFill>
        <p:spPr>
          <a:xfrm>
            <a:off x="658368" y="4183380"/>
            <a:ext cx="365760" cy="365760"/>
          </a:xfrm>
          <a:prstGeom prst="rect">
            <a:avLst/>
          </a:prstGeom>
        </p:spPr>
      </p:pic>
      <p:sp>
        <p:nvSpPr>
          <p:cNvPr id="22" name="Visib note text"/>
          <p:cNvSpPr txBox="1"/>
          <p:nvPr/>
        </p:nvSpPr>
        <p:spPr>
          <a:xfrm>
            <a:off x="1207008" y="39776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Public to private: </a:t>
            </a:r>
            <a:r>
              <a:rPr sz="1200" b="0" lang="en-GB">
                <a:solidFill>
                  <a:schemeClr val="bg1"/>
                </a:solidFill>
              </a:rPr>
              <a:t>stars and watchers are erased, and copies others already forked stay public.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566160"/>
                <a:gridCol w="4663440"/>
              </a:tblGrid>
              <a:tr h="370840">
                <a:tc>
                  <a:txBody>
                    <a:bodyPr/>
                    <a:lstStyle/>
                    <a:p>
                      <a:r>
                        <a:rPr sz="1300" lang="en-GB"/>
                        <a:t>Message or problem</a:t>
                      </a:r>
                    </a:p>
                  </a:txBody>
                  <a:tcPr marT="45000" marB="45000"/>
                </a:tc>
                <a:tc>
                  <a:txBody>
                    <a:bodyPr/>
                    <a:lstStyle/>
                    <a:p>
                      <a:r>
                        <a:rPr sz="1300" lang="en-GB"/>
                        <a:t>Fix</a:t>
                      </a:r>
                    </a:p>
                  </a:txBody>
                  <a:tcPr marT="45000" marB="45000"/>
                </a:tc>
              </a:tr>
              <a:tr h="370840">
                <a:tc>
                  <a:txBody>
                    <a:bodyPr/>
                    <a:lstStyle/>
                    <a:p>
                      <a:r>
                        <a:rPr sz="1150" b="1" lang="en-GB"/>
                        <a:t>Authentication failed / Bad credentials</a:t>
                      </a:r>
                    </a:p>
                  </a:txBody>
                  <a:tcPr marT="45000" marB="45000"/>
                </a:tc>
                <a:tc>
                  <a:txBody>
                    <a:bodyPr/>
                    <a:lstStyle/>
                    <a:p>
                      <a:r>
                        <a:rPr sz="1150" lang="en-GB"/>
                        <a:t>Options or Settings → Accounts: sign out, sign in again</a:t>
                      </a:r>
                    </a:p>
                  </a:txBody>
                  <a:tcPr marT="45000" marB="45000"/>
                </a:tc>
              </a:tr>
              <a:tr h="370840">
                <a:tc>
                  <a:txBody>
                    <a:bodyPr/>
                    <a:lstStyle/>
                    <a:p>
                      <a:r>
                        <a:rPr sz="1150" b="1" lang="en-GB"/>
                        <a:t>Push rejected: new commits on remote</a:t>
                      </a:r>
                    </a:p>
                  </a:txBody>
                  <a:tcPr marT="45000" marB="45000"/>
                </a:tc>
                <a:tc>
                  <a:txBody>
                    <a:bodyPr/>
                    <a:lstStyle/>
                    <a:p>
                      <a:r>
                        <a:rPr sz="1150" lang="en-GB"/>
                        <a:t>Fetch origin, Pull origin, then Push origin</a:t>
                      </a:r>
                    </a:p>
                  </a:txBody>
                  <a:tcPr marT="45000" marB="45000"/>
                </a:tc>
              </a:tr>
              <a:tr h="370840">
                <a:tc>
                  <a:txBody>
                    <a:bodyPr/>
                    <a:lstStyle/>
                    <a:p>
                      <a:r>
                        <a:rPr sz="1150" b="1" lang="en-GB"/>
                        <a:t>File over 100 MiB</a:t>
                      </a:r>
                    </a:p>
                  </a:txBody>
                  <a:tcPr marT="45000" marB="45000"/>
                </a:tc>
                <a:tc>
                  <a:txBody>
                    <a:bodyPr/>
                    <a:lstStyle/>
                    <a:p>
                      <a:r>
                        <a:rPr sz="1150" lang="en-GB"/>
                        <a:t>Remove it from the commit; add it to .gitignore</a:t>
                      </a:r>
                    </a:p>
                  </a:txBody>
                  <a:tcPr marT="45000" marB="45000"/>
                </a:tc>
              </a:tr>
              <a:tr h="370840">
                <a:tc>
                  <a:txBody>
                    <a:bodyPr/>
                    <a:lstStyle/>
                    <a:p>
                      <a:r>
                        <a:rPr sz="1150" b="1" lang="en-GB"/>
                        <a:t>Clone failed in OneDrive or a redirected folder</a:t>
                      </a:r>
                    </a:p>
                  </a:txBody>
                  <a:tcPr marT="45000" marB="45000"/>
                </a:tc>
                <a:tc>
                  <a:txBody>
                    <a:bodyPr/>
                    <a:lstStyle/>
                    <a:p>
                      <a:r>
                        <a:rPr sz="1150" lang="en-GB"/>
                        <a:t>Clone into a local folder such as C:\Users\you\wu</a:t>
                      </a:r>
                    </a:p>
                  </a:txBody>
                  <a:tcPr marT="45000" marB="45000"/>
                </a:tc>
              </a:tr>
              <a:tr h="370840">
                <a:tc>
                  <a:txBody>
                    <a:bodyPr/>
                    <a:lstStyle/>
                    <a:p>
                      <a:r>
                        <a:rPr sz="1150" b="1" lang="en-GB"/>
                        <a:t>macOS: username or passphrase not correct</a:t>
                      </a:r>
                    </a:p>
                  </a:txBody>
                  <a:tcPr marT="45000" marB="45000"/>
                </a:tc>
                <a:tc>
                  <a:txBody>
                    <a:bodyPr/>
                    <a:lstStyle/>
                    <a:p>
                      <a:r>
                        <a:rPr sz="1150" lang="en-GB"/>
                        <a:t>Keychain Access: lock, then unlock 'login'; sign in again</a:t>
                      </a:r>
                    </a:p>
                  </a:txBody>
                  <a:tcPr marT="45000" marB="45000"/>
                </a:tc>
              </a:tr>
              <a:tr h="370840">
                <a:tc>
                  <a:txBody>
                    <a:bodyPr/>
                    <a:lstStyle/>
                    <a:p>
                      <a:r>
                        <a:rPr sz="1150" b="1" lang="en-GB"/>
                        <a:t>Cannot find the repository</a:t>
                      </a:r>
                    </a:p>
                  </a:txBody>
                  <a:tcPr marT="45000" marB="45000"/>
                </a:tc>
                <a:tc>
                  <a:txBody>
                    <a:bodyPr/>
                    <a:lstStyle/>
                    <a:p>
                      <a:r>
                        <a:rPr sz="1150" lang="en-GB"/>
                        <a:t>Click Locate… and choose the folder</a:t>
                      </a:r>
                    </a:p>
                  </a:txBody>
                  <a:tcPr marT="45000" marB="45000"/>
                </a:tc>
              </a:tr>
            </a:tbl>
          </a:graphicData>
        </a:graphic>
      </p:graphicFrame>
      <p:sp>
        <p:nvSpPr>
          <p:cNvPr id="3" name="Title 2"/>
          <p:cNvSpPr>
            <a:spLocks noGrp="1"/>
          </p:cNvSpPr>
          <p:nvPr>
            <p:ph type="title"/>
          </p:nvPr>
        </p:nvSpPr>
        <p:spPr/>
        <p:txBody>
          <a:bodyPr/>
          <a:lstStyle/>
          <a:p>
            <a:r>
              <a:rPr sz="1600" lang="en-GB"/>
              <a:t>When GitHub Desktop goes wrong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logs box"/>
          <p:cNvSpPr/>
          <p:nvPr/>
        </p:nvSpPr>
        <p:spPr>
          <a:xfrm>
            <a:off x="457200" y="4297680"/>
            <a:ext cx="822960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logs" descr=""/>
          <p:cNvPicPr>
            <a:picLocks noChangeAspect="1"/>
          </p:cNvPicPr>
          <p:nvPr/>
        </p:nvPicPr>
        <p:blipFill>
          <a:blip r:embed="rId3"/>
          <a:stretch>
            <a:fillRect/>
          </a:stretch>
        </p:blipFill>
        <p:spPr>
          <a:xfrm>
            <a:off x="658368" y="4434840"/>
            <a:ext cx="365760" cy="365760"/>
          </a:xfrm>
          <a:prstGeom prst="rect">
            <a:avLst/>
          </a:prstGeom>
        </p:spPr>
      </p:pic>
      <p:sp>
        <p:nvSpPr>
          <p:cNvPr id="12" name="Trouble logs text"/>
          <p:cNvSpPr txBox="1"/>
          <p:nvPr/>
        </p:nvSpPr>
        <p:spPr>
          <a:xfrm>
            <a:off x="1207008" y="4297680"/>
            <a:ext cx="7315200"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Log files: </a:t>
            </a:r>
            <a:r>
              <a:rPr sz="1200" b="0" lang="en-GB">
                <a:solidFill>
                  <a:schemeClr val="tx1"/>
                </a:solidFill>
              </a:rPr>
              <a:t>Help → Show Logs in Explorer (Windows) or Show Logs in Finder (macOS); send them when you ask for help.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GitHub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with 2FA and recovery codes stored</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E-mail: </a:t>
            </a:r>
            <a:r>
              <a:rPr sz="1200" b="0" lang="en-GB">
                <a:solidFill>
                  <a:schemeClr val="tx1"/>
                </a:solidFill>
              </a:rPr>
              <a:t>WU address verified, Keep my email addresses private on</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Education </a:t>
            </a:r>
            <a:r>
              <a:rPr sz="1200" b="0" lang="en-GB">
                <a:solidFill>
                  <a:schemeClr val="tx1"/>
                </a:solidFill>
              </a:rPr>
              <a:t>application submitted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Desktop </a:t>
            </a:r>
            <a:r>
              <a:rPr sz="1200" b="0" lang="en-GB">
                <a:solidFill>
                  <a:schemeClr val="tx1"/>
                </a:solidFill>
              </a:rPr>
              <a:t>installed, signed in, noreply address under Git</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Course repository </a:t>
            </a:r>
            <a:r>
              <a:rPr sz="1200" b="0" lang="en-GB">
                <a:solidFill>
                  <a:schemeClr val="tx1"/>
                </a:solidFill>
              </a:rPr>
              <a:t>cloned to a local folder and opened in Positron</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Group repository </a:t>
            </a:r>
            <a:r>
              <a:rPr sz="1200" b="0" lang="en-GB">
                <a:solidFill>
                  <a:schemeClr val="tx1"/>
                </a:solidFill>
              </a:rPr>
              <a:t>created, private, members invited (optional)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18 · Posit Assistant, what Copilot does, the free plans, privacy settings</a:t>
            </a:r>
          </a:p>
        </p:txBody>
      </p:sp>
      <p:sp>
        <p:nvSpPr>
          <p:cNvPr id="3" name="Title 2"/>
          <p:cNvSpPr>
            <a:spLocks noGrp="1"/>
          </p:cNvSpPr>
          <p:nvPr>
            <p:ph type="ctrTitle"/>
          </p:nvPr>
        </p:nvSpPr>
        <p:spPr/>
        <p:txBody>
          <a:bodyPr/>
          <a:lstStyle/>
          <a:p>
            <a:r>
              <a:rPr sz="1600" lang="en-GB"/>
              <a:t>Get GitHub Copilot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Positron Assistant is now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ime box 1"/>
          <p:cNvSpPr/>
          <p:nvPr/>
        </p:nvSpPr>
        <p:spPr>
          <a:xfrm>
            <a:off x="457200"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me year 1"/>
          <p:cNvSpPr txBox="1"/>
          <p:nvPr/>
        </p:nvSpPr>
        <p:spPr>
          <a:xfrm>
            <a:off x="548640"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2025.07</a:t>
            </a:r>
          </a:p>
        </p:txBody>
      </p:sp>
      <p:sp>
        <p:nvSpPr>
          <p:cNvPr id="12" name="Time label 1"/>
          <p:cNvSpPr txBox="1"/>
          <p:nvPr/>
        </p:nvSpPr>
        <p:spPr>
          <a:xfrm>
            <a:off x="548640"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Positron Assistant (preview)</a:t>
            </a:r>
          </a:p>
        </p:txBody>
      </p:sp>
      <p:sp>
        <p:nvSpPr>
          <p:cNvPr id="13" name="Time box 2"/>
          <p:cNvSpPr/>
          <p:nvPr/>
        </p:nvSpPr>
        <p:spPr>
          <a:xfrm>
            <a:off x="2130552"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ime year 2"/>
          <p:cNvSpPr txBox="1"/>
          <p:nvPr/>
        </p:nvSpPr>
        <p:spPr>
          <a:xfrm>
            <a:off x="2221992"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2025.10</a:t>
            </a:r>
          </a:p>
        </p:txBody>
      </p:sp>
      <p:sp>
        <p:nvSpPr>
          <p:cNvPr id="15" name="Time label 2"/>
          <p:cNvSpPr txBox="1"/>
          <p:nvPr/>
        </p:nvSpPr>
        <p:spPr>
          <a:xfrm>
            <a:off x="2221992"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Copilot also for chat</a:t>
            </a:r>
          </a:p>
        </p:txBody>
      </p:sp>
      <p:sp>
        <p:nvSpPr>
          <p:cNvPr id="16" name="Time box 3"/>
          <p:cNvSpPr/>
          <p:nvPr/>
        </p:nvSpPr>
        <p:spPr>
          <a:xfrm>
            <a:off x="3803904"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ime year 3"/>
          <p:cNvSpPr txBox="1"/>
          <p:nvPr/>
        </p:nvSpPr>
        <p:spPr>
          <a:xfrm>
            <a:off x="3895344"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2026.04</a:t>
            </a:r>
          </a:p>
        </p:txBody>
      </p:sp>
      <p:sp>
        <p:nvSpPr>
          <p:cNvPr id="18" name="Time label 3"/>
          <p:cNvSpPr txBox="1"/>
          <p:nvPr/>
        </p:nvSpPr>
        <p:spPr>
          <a:xfrm>
            <a:off x="3895344"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 Assistant (preview)</a:t>
            </a:r>
          </a:p>
        </p:txBody>
      </p:sp>
      <p:sp>
        <p:nvSpPr>
          <p:cNvPr id="19" name="Time box 4"/>
          <p:cNvSpPr/>
          <p:nvPr/>
        </p:nvSpPr>
        <p:spPr>
          <a:xfrm>
            <a:off x="5477256"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ime year 4"/>
          <p:cNvSpPr txBox="1"/>
          <p:nvPr/>
        </p:nvSpPr>
        <p:spPr>
          <a:xfrm>
            <a:off x="5568696"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2026.07</a:t>
            </a:r>
          </a:p>
        </p:txBody>
      </p:sp>
      <p:sp>
        <p:nvSpPr>
          <p:cNvPr id="21" name="Time label 4"/>
          <p:cNvSpPr txBox="1"/>
          <p:nvPr/>
        </p:nvSpPr>
        <p:spPr>
          <a:xfrm>
            <a:off x="5568696"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Posit Assistant default; old one removed</a:t>
            </a:r>
          </a:p>
        </p:txBody>
      </p:sp>
      <p:sp>
        <p:nvSpPr>
          <p:cNvPr id="22" name="Time box 5"/>
          <p:cNvSpPr/>
          <p:nvPr/>
        </p:nvSpPr>
        <p:spPr>
          <a:xfrm>
            <a:off x="7150608"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ime year 5"/>
          <p:cNvSpPr txBox="1"/>
          <p:nvPr/>
        </p:nvSpPr>
        <p:spPr>
          <a:xfrm>
            <a:off x="7242048"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2026.10</a:t>
            </a:r>
          </a:p>
        </p:txBody>
      </p:sp>
      <p:sp>
        <p:nvSpPr>
          <p:cNvPr id="24" name="Time label 5"/>
          <p:cNvSpPr txBox="1"/>
          <p:nvPr/>
        </p:nvSpPr>
        <p:spPr>
          <a:xfrm>
            <a:off x="7242048"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current Positron release</a:t>
            </a:r>
          </a:p>
        </p:txBody>
      </p:sp>
      <p:sp>
        <p:nvSpPr>
          <p:cNvPr id="25" name="Names rows row 1"/>
          <p:cNvSpPr/>
          <p:nvPr/>
        </p:nvSpPr>
        <p:spPr>
          <a:xfrm>
            <a:off x="457200" y="283464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mes rows bar 1"/>
          <p:cNvSpPr/>
          <p:nvPr/>
        </p:nvSpPr>
        <p:spPr>
          <a:xfrm>
            <a:off x="457200" y="283464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mes rows text 1"/>
          <p:cNvSpPr txBox="1"/>
          <p:nvPr/>
        </p:nvSpPr>
        <p:spPr>
          <a:xfrm>
            <a:off x="658368" y="283464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a:t>
            </a:r>
            <a:r>
              <a:rPr sz="1200" b="0" lang="en-GB">
                <a:solidFill>
                  <a:schemeClr val="tx1"/>
                </a:solidFill>
              </a:rPr>
              <a:t>the free editor by Posit, where you write and run Python</a:t>
            </a:r>
          </a:p>
        </p:txBody>
      </p:sp>
      <p:sp>
        <p:nvSpPr>
          <p:cNvPr id="28" name="Names rows row 2"/>
          <p:cNvSpPr/>
          <p:nvPr/>
        </p:nvSpPr>
        <p:spPr>
          <a:xfrm>
            <a:off x="457200" y="33375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Names rows bar 2"/>
          <p:cNvSpPr/>
          <p:nvPr/>
        </p:nvSpPr>
        <p:spPr>
          <a:xfrm>
            <a:off x="457200" y="33375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mes rows text 2"/>
          <p:cNvSpPr txBox="1"/>
          <p:nvPr/>
        </p:nvSpPr>
        <p:spPr>
          <a:xfrm>
            <a:off x="658368" y="33375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the AI chat built into Positron; it has no model of its own</a:t>
            </a:r>
          </a:p>
        </p:txBody>
      </p:sp>
      <p:sp>
        <p:nvSpPr>
          <p:cNvPr id="31" name="Names rows row 3"/>
          <p:cNvSpPr/>
          <p:nvPr/>
        </p:nvSpPr>
        <p:spPr>
          <a:xfrm>
            <a:off x="457200" y="38404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mes rows bar 3"/>
          <p:cNvSpPr/>
          <p:nvPr/>
        </p:nvSpPr>
        <p:spPr>
          <a:xfrm>
            <a:off x="457200" y="38404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ames rows text 3"/>
          <p:cNvSpPr txBox="1"/>
          <p:nvPr/>
        </p:nvSpPr>
        <p:spPr>
          <a:xfrm>
            <a:off x="658368" y="38404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GitHub Copilot: </a:t>
            </a:r>
            <a:r>
              <a:rPr sz="1200" b="0" lang="en-GB">
                <a:solidFill>
                  <a:schemeClr val="tx1"/>
                </a:solidFill>
              </a:rPr>
              <a:t>the model provider: it answers in the chat and suggests code</a:t>
            </a:r>
          </a:p>
        </p:txBody>
      </p:sp>
      <p:sp>
        <p:nvSpPr>
          <p:cNvPr id="34" name="Names old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Names old" descr=""/>
          <p:cNvPicPr>
            <a:picLocks noChangeAspect="1"/>
          </p:cNvPicPr>
          <p:nvPr/>
        </p:nvPicPr>
        <p:blipFill>
          <a:blip r:embed="rId3"/>
          <a:stretch>
            <a:fillRect/>
          </a:stretch>
        </p:blipFill>
        <p:spPr>
          <a:xfrm>
            <a:off x="658368" y="4457700"/>
            <a:ext cx="365760" cy="365760"/>
          </a:xfrm>
          <a:prstGeom prst="rect">
            <a:avLst/>
          </a:prstGeom>
        </p:spPr>
      </p:pic>
      <p:sp>
        <p:nvSpPr>
          <p:cNvPr id="36" name="Names old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Old tutorials? </a:t>
            </a:r>
            <a:r>
              <a:rPr sz="1200" b="0" lang="en-GB">
                <a:solidFill>
                  <a:schemeClr val="bg1"/>
                </a:solidFill>
              </a:rPr>
              <a:t>Ask/Edit/Agent modes or positron.assistant.enable mean the guide is outdated.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rov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2743200"/>
                <a:gridCol w="1097280"/>
                <a:gridCol w="1737360"/>
                <a:gridCol w="2651760"/>
              </a:tblGrid>
              <a:tr h="370840">
                <a:tc>
                  <a:txBody>
                    <a:bodyPr/>
                    <a:lstStyle/>
                    <a:p>
                      <a:r>
                        <a:rPr sz="1300" lang="en-GB"/>
                        <a:t>Provider</a:t>
                      </a:r>
                    </a:p>
                  </a:txBody>
                  <a:tcPr marT="45000" marB="45000"/>
                </a:tc>
                <a:tc>
                  <a:txBody>
                    <a:bodyPr/>
                    <a:lstStyle/>
                    <a:p>
                      <a:r>
                        <a:rPr sz="1300" lang="en-GB"/>
                        <a:t>Chat</a:t>
                      </a:r>
                    </a:p>
                  </a:txBody>
                  <a:tcPr marT="45000" marB="45000"/>
                </a:tc>
                <a:tc>
                  <a:txBody>
                    <a:bodyPr/>
                    <a:lstStyle/>
                    <a:p>
                      <a:r>
                        <a:rPr sz="1300" lang="en-GB"/>
                        <a:t>Completions</a:t>
                      </a:r>
                    </a:p>
                  </a:txBody>
                  <a:tcPr marT="45000" marB="45000"/>
                </a:tc>
                <a:tc>
                  <a:txBody>
                    <a:bodyPr/>
                    <a:lstStyle/>
                    <a:p>
                      <a:r>
                        <a:rPr sz="1300" lang="en-GB"/>
                        <a:t>Cost for you</a:t>
                      </a:r>
                    </a:p>
                  </a:txBody>
                  <a:tcPr marT="45000" marB="45000"/>
                </a:tc>
              </a:tr>
              <a:tr h="370840">
                <a:tc>
                  <a:txBody>
                    <a:bodyPr/>
                    <a:lstStyle/>
                    <a:p>
                      <a:r>
                        <a:rPr sz="1200" b="1" lang="en-GB"/>
                        <a:t>GitHub Copilot (Preview)</a:t>
                      </a:r>
                    </a:p>
                  </a:txBody>
                  <a:tcPr marT="45000" marB="45000"/>
                </a:tc>
                <a:tc>
                  <a:txBody>
                    <a:bodyPr/>
                    <a:lstStyle/>
                    <a:p>
                      <a:r>
                        <a:rPr sz="1200" lang="en-GB"/>
                        <a:t>yes</a:t>
                      </a:r>
                    </a:p>
                  </a:txBody>
                  <a:tcPr marT="45000" marB="45000"/>
                </a:tc>
                <a:tc>
                  <a:txBody>
                    <a:bodyPr/>
                    <a:lstStyle/>
                    <a:p>
                      <a:r>
                        <a:rPr sz="1200" lang="en-GB"/>
                        <a:t>yes, ghost text</a:t>
                      </a:r>
                    </a:p>
                  </a:txBody>
                  <a:tcPr marT="45000" marB="45000"/>
                </a:tc>
                <a:tc>
                  <a:txBody>
                    <a:bodyPr/>
                    <a:lstStyle/>
                    <a:p>
                      <a:r>
                        <a:rPr sz="1200" lang="en-GB"/>
                        <a:t>free with Copilot Student or Free</a:t>
                      </a:r>
                    </a:p>
                  </a:txBody>
                  <a:tcPr marT="45000" marB="45000"/>
                </a:tc>
              </a:tr>
              <a:tr h="370840">
                <a:tc>
                  <a:txBody>
                    <a:bodyPr/>
                    <a:lstStyle/>
                    <a:p>
                      <a:r>
                        <a:rPr sz="1200" b="1" lang="en-GB"/>
                        <a:t>Posit AI Pass</a:t>
                      </a:r>
                    </a:p>
                  </a:txBody>
                  <a:tcPr marT="45000" marB="45000"/>
                </a:tc>
                <a:tc>
                  <a:txBody>
                    <a:bodyPr/>
                    <a:lstStyle/>
                    <a:p>
                      <a:r>
                        <a:rPr sz="1200" lang="en-GB"/>
                        <a:t>yes</a:t>
                      </a:r>
                    </a:p>
                  </a:txBody>
                  <a:tcPr marT="45000" marB="45000"/>
                </a:tc>
                <a:tc>
                  <a:txBody>
                    <a:bodyPr/>
                    <a:lstStyle/>
                    <a:p>
                      <a:r>
                        <a:rPr sz="1200" lang="en-GB"/>
                        <a:t>yes</a:t>
                      </a:r>
                    </a:p>
                  </a:txBody>
                  <a:tcPr marT="45000" marB="45000"/>
                </a:tc>
                <a:tc>
                  <a:txBody>
                    <a:bodyPr/>
                    <a:lstStyle/>
                    <a:p>
                      <a:r>
                        <a:rPr sz="1200" lang="en-GB"/>
                        <a:t>20 USD a month</a:t>
                      </a:r>
                    </a:p>
                  </a:txBody>
                  <a:tcPr marT="45000" marB="45000"/>
                </a:tc>
              </a:tr>
              <a:tr h="370840">
                <a:tc>
                  <a:txBody>
                    <a:bodyPr/>
                    <a:lstStyle/>
                    <a:p>
                      <a:r>
                        <a:rPr sz="1200" b="1" lang="en-GB"/>
                        <a:t>Anthropic, OpenAI, others</a:t>
                      </a:r>
                    </a:p>
                  </a:txBody>
                  <a:tcPr marT="45000" marB="45000"/>
                </a:tc>
                <a:tc>
                  <a:txBody>
                    <a:bodyPr/>
                    <a:lstStyle/>
                    <a:p>
                      <a:r>
                        <a:rPr sz="1200" lang="en-GB"/>
                        <a:t>yes</a:t>
                      </a:r>
                    </a:p>
                  </a:txBody>
                  <a:tcPr marT="45000" marB="45000"/>
                </a:tc>
                <a:tc>
                  <a:txBody>
                    <a:bodyPr/>
                    <a:lstStyle/>
                    <a:p>
                      <a:r>
                        <a:rPr sz="1200" lang="en-GB"/>
                        <a:t>no</a:t>
                      </a:r>
                    </a:p>
                  </a:txBody>
                  <a:tcPr marT="45000" marB="45000"/>
                </a:tc>
                <a:tc>
                  <a:txBody>
                    <a:bodyPr/>
                    <a:lstStyle/>
                    <a:p>
                      <a:r>
                        <a:rPr sz="1200" lang="en-GB"/>
                        <a:t>paid API key</a:t>
                      </a:r>
                    </a:p>
                  </a:txBody>
                  <a:tcPr marT="45000" marB="45000"/>
                </a:tc>
              </a:tr>
            </a:tbl>
          </a:graphicData>
        </a:graphic>
      </p:graphicFrame>
      <p:sp>
        <p:nvSpPr>
          <p:cNvPr id="3" name="Title 2"/>
          <p:cNvSpPr>
            <a:spLocks noGrp="1"/>
          </p:cNvSpPr>
          <p:nvPr>
            <p:ph type="title"/>
          </p:nvPr>
        </p:nvSpPr>
        <p:spPr/>
        <p:txBody>
          <a:bodyPr/>
          <a:lstStyle/>
          <a:p>
            <a:r>
              <a:rPr sz="1600" lang="en-GB"/>
              <a:t>What Copilot does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Job chat tile"/>
          <p:cNvSpPr/>
          <p:nvPr/>
        </p:nvSpPr>
        <p:spPr>
          <a:xfrm>
            <a:off x="45720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Job chat" descr=""/>
          <p:cNvPicPr>
            <a:picLocks noChangeAspect="1"/>
          </p:cNvPicPr>
          <p:nvPr/>
        </p:nvPicPr>
        <p:blipFill>
          <a:blip r:embed="rId3"/>
          <a:stretch>
            <a:fillRect/>
          </a:stretch>
        </p:blipFill>
        <p:spPr>
          <a:xfrm>
            <a:off x="594360" y="3154680"/>
            <a:ext cx="365760" cy="365760"/>
          </a:xfrm>
          <a:prstGeom prst="rect">
            <a:avLst/>
          </a:prstGeom>
        </p:spPr>
      </p:pic>
      <p:sp>
        <p:nvSpPr>
          <p:cNvPr id="12" name="Job chat heading"/>
          <p:cNvSpPr txBox="1"/>
          <p:nvPr/>
        </p:nvSpPr>
        <p:spPr>
          <a:xfrm>
            <a:off x="105156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Chat</a:t>
            </a:r>
          </a:p>
        </p:txBody>
      </p:sp>
      <p:sp>
        <p:nvSpPr>
          <p:cNvPr id="13" name="Job chat text"/>
          <p:cNvSpPr txBox="1"/>
          <p:nvPr/>
        </p:nvSpPr>
        <p:spPr>
          <a:xfrm>
            <a:off x="59436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Ask, plan, run code after your OK, explain errors</a:t>
            </a:r>
          </a:p>
        </p:txBody>
      </p:sp>
      <p:sp>
        <p:nvSpPr>
          <p:cNvPr id="14" name="Job comp tile"/>
          <p:cNvSpPr/>
          <p:nvPr/>
        </p:nvSpPr>
        <p:spPr>
          <a:xfrm>
            <a:off x="464058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Job comp" descr=""/>
          <p:cNvPicPr>
            <a:picLocks noChangeAspect="1"/>
          </p:cNvPicPr>
          <p:nvPr/>
        </p:nvPicPr>
        <p:blipFill>
          <a:blip r:embed="rId4"/>
          <a:stretch>
            <a:fillRect/>
          </a:stretch>
        </p:blipFill>
        <p:spPr>
          <a:xfrm>
            <a:off x="4777740" y="3154680"/>
            <a:ext cx="365760" cy="365760"/>
          </a:xfrm>
          <a:prstGeom prst="rect">
            <a:avLst/>
          </a:prstGeom>
        </p:spPr>
      </p:pic>
      <p:sp>
        <p:nvSpPr>
          <p:cNvPr id="16" name="Job comp heading"/>
          <p:cNvSpPr txBox="1"/>
          <p:nvPr/>
        </p:nvSpPr>
        <p:spPr>
          <a:xfrm>
            <a:off x="523494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Completions</a:t>
            </a:r>
          </a:p>
        </p:txBody>
      </p:sp>
      <p:sp>
        <p:nvSpPr>
          <p:cNvPr id="17" name="Job comp text"/>
          <p:cNvSpPr txBox="1"/>
          <p:nvPr/>
        </p:nvSpPr>
        <p:spPr>
          <a:xfrm>
            <a:off x="477774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Grey suggestions while you type; Tab accepts</a:t>
            </a:r>
          </a:p>
        </p:txBody>
      </p:sp>
      <p:sp>
        <p:nvSpPr>
          <p:cNvPr id="18" name="Prov course box"/>
          <p:cNvSpPr/>
          <p:nvPr/>
        </p:nvSpPr>
        <p:spPr>
          <a:xfrm>
            <a:off x="457200" y="43434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rov course" descr=""/>
          <p:cNvPicPr>
            <a:picLocks noChangeAspect="1"/>
          </p:cNvPicPr>
          <p:nvPr/>
        </p:nvPicPr>
        <p:blipFill>
          <a:blip r:embed="rId5"/>
          <a:stretch>
            <a:fillRect/>
          </a:stretch>
        </p:blipFill>
        <p:spPr>
          <a:xfrm>
            <a:off x="658368" y="4434840"/>
            <a:ext cx="365760" cy="365760"/>
          </a:xfrm>
          <a:prstGeom prst="rect">
            <a:avLst/>
          </a:prstGeom>
        </p:spPr>
      </p:pic>
      <p:sp>
        <p:nvSpPr>
          <p:cNvPr id="20" name="Prov course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For this course: </a:t>
            </a:r>
            <a:r>
              <a:rPr sz="1200" b="0" lang="en-GB">
                <a:solidFill>
                  <a:schemeClr val="bg1"/>
                </a:solidFill>
              </a:rPr>
              <a:t>GitHub Copilot. It costs nothing with GitHub Education.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lan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017520"/>
                <a:gridCol w="3017520"/>
              </a:tblGrid>
              <a:tr h="370840">
                <a:tc>
                  <a:txBody>
                    <a:bodyPr/>
                    <a:lstStyle/>
                    <a:p>
                      <a:r>
                        <a:rPr sz="1300" lang="en-GB"/>
                        <a:t/>
                      </a:r>
                    </a:p>
                  </a:txBody>
                  <a:tcPr marT="55000" marB="55000"/>
                </a:tc>
                <a:tc>
                  <a:txBody>
                    <a:bodyPr/>
                    <a:lstStyle/>
                    <a:p>
                      <a:r>
                        <a:rPr sz="1300" lang="en-GB"/>
                        <a:t>Copilot Free</a:t>
                      </a:r>
                    </a:p>
                  </a:txBody>
                  <a:tcPr marT="55000" marB="55000"/>
                </a:tc>
                <a:tc>
                  <a:txBody>
                    <a:bodyPr/>
                    <a:lstStyle/>
                    <a:p>
                      <a:r>
                        <a:rPr sz="1300" lang="en-GB"/>
                        <a:t>Copilot Student</a:t>
                      </a:r>
                    </a:p>
                  </a:txBody>
                  <a:tcPr marT="55000" marB="55000"/>
                </a:tc>
              </a:tr>
              <a:tr h="370840">
                <a:tc>
                  <a:txBody>
                    <a:bodyPr/>
                    <a:lstStyle/>
                    <a:p>
                      <a:r>
                        <a:rPr sz="1200" b="1" lang="en-GB"/>
                        <a:t>Who</a:t>
                      </a:r>
                    </a:p>
                  </a:txBody>
                  <a:tcPr marT="55000" marB="55000"/>
                </a:tc>
                <a:tc>
                  <a:txBody>
                    <a:bodyPr/>
                    <a:lstStyle/>
                    <a:p>
                      <a:r>
                        <a:rPr sz="1200" lang="en-GB"/>
                        <a:t>anyone with a GitHub account</a:t>
                      </a:r>
                    </a:p>
                  </a:txBody>
                  <a:tcPr marT="55000" marB="55000"/>
                </a:tc>
                <a:tc>
                  <a:txBody>
                    <a:bodyPr/>
                    <a:lstStyle/>
                    <a:p>
                      <a:r>
                        <a:rPr sz="1200" lang="en-GB"/>
                        <a:t>verified students (GitHub Education)</a:t>
                      </a:r>
                    </a:p>
                  </a:txBody>
                  <a:tcPr marT="55000" marB="55000"/>
                </a:tc>
              </a:tr>
              <a:tr h="370840">
                <a:tc>
                  <a:txBody>
                    <a:bodyPr/>
                    <a:lstStyle/>
                    <a:p>
                      <a:r>
                        <a:rPr sz="1200" b="1" lang="en-GB"/>
                        <a:t>Code completions</a:t>
                      </a:r>
                    </a:p>
                  </a:txBody>
                  <a:tcPr marT="55000" marB="55000"/>
                </a:tc>
                <a:tc>
                  <a:txBody>
                    <a:bodyPr/>
                    <a:lstStyle/>
                    <a:p>
                      <a:r>
                        <a:rPr sz="1200" lang="en-GB"/>
                        <a:t>2,000 a month</a:t>
                      </a:r>
                    </a:p>
                  </a:txBody>
                  <a:tcPr marT="55000" marB="55000"/>
                </a:tc>
                <a:tc>
                  <a:txBody>
                    <a:bodyPr/>
                    <a:lstStyle/>
                    <a:p>
                      <a:r>
                        <a:rPr sz="1200" lang="en-GB"/>
                        <a:t>unlimited</a:t>
                      </a:r>
                    </a:p>
                  </a:txBody>
                  <a:tcPr marT="55000" marB="55000"/>
                </a:tc>
              </a:tr>
              <a:tr h="370840">
                <a:tc>
                  <a:txBody>
                    <a:bodyPr/>
                    <a:lstStyle/>
                    <a:p>
                      <a:r>
                        <a:rPr sz="1200" b="1" lang="en-GB"/>
                        <a:t>Chat and agent</a:t>
                      </a:r>
                    </a:p>
                  </a:txBody>
                  <a:tcPr marT="55000" marB="55000"/>
                </a:tc>
                <a:tc>
                  <a:txBody>
                    <a:bodyPr/>
                    <a:lstStyle/>
                    <a:p>
                      <a:r>
                        <a:rPr sz="1200" lang="en-GB"/>
                        <a:t>an allowance of AI credits</a:t>
                      </a:r>
                    </a:p>
                  </a:txBody>
                  <a:tcPr marT="55000" marB="55000"/>
                </a:tc>
                <a:tc>
                  <a:txBody>
                    <a:bodyPr/>
                    <a:lstStyle/>
                    <a:p>
                      <a:r>
                        <a:rPr sz="1200" lang="en-GB"/>
                        <a:t>a larger allowance of AI credits</a:t>
                      </a:r>
                    </a:p>
                  </a:txBody>
                  <a:tcPr marT="55000" marB="55000"/>
                </a:tc>
              </a:tr>
              <a:tr h="370840">
                <a:tc>
                  <a:txBody>
                    <a:bodyPr/>
                    <a:lstStyle/>
                    <a:p>
                      <a:r>
                        <a:rPr sz="1200" b="1" lang="en-GB"/>
                        <a:t>Models</a:t>
                      </a:r>
                    </a:p>
                  </a:txBody>
                  <a:tcPr marT="55000" marB="55000"/>
                </a:tc>
                <a:tc>
                  <a:txBody>
                    <a:bodyPr/>
                    <a:lstStyle/>
                    <a:p>
                      <a:r>
                        <a:rPr sz="1200" lang="en-GB"/>
                        <a:t>automatic selection only</a:t>
                      </a:r>
                    </a:p>
                  </a:txBody>
                  <a:tcPr marT="55000" marB="55000"/>
                </a:tc>
                <a:tc>
                  <a:txBody>
                    <a:bodyPr/>
                    <a:lstStyle/>
                    <a:p>
                      <a:r>
                        <a:rPr sz="1200" lang="en-GB"/>
                        <a:t>automatic selection only</a:t>
                      </a:r>
                    </a:p>
                  </a:txBody>
                  <a:tcPr marT="55000" marB="55000"/>
                </a:tc>
              </a:tr>
              <a:tr h="370840">
                <a:tc>
                  <a:txBody>
                    <a:bodyPr/>
                    <a:lstStyle/>
                    <a:p>
                      <a:r>
                        <a:rPr sz="1200" b="1" lang="en-GB"/>
                        <a:t>Price</a:t>
                      </a:r>
                    </a:p>
                  </a:txBody>
                  <a:tcPr marT="55000" marB="55000"/>
                </a:tc>
                <a:tc>
                  <a:txBody>
                    <a:bodyPr/>
                    <a:lstStyle/>
                    <a:p>
                      <a:r>
                        <a:rPr sz="1200" lang="en-GB"/>
                        <a:t>free</a:t>
                      </a:r>
                    </a:p>
                  </a:txBody>
                  <a:tcPr marT="55000" marB="55000"/>
                </a:tc>
                <a:tc>
                  <a:txBody>
                    <a:bodyPr/>
                    <a:lstStyle/>
                    <a:p>
                      <a:r>
                        <a:rPr sz="1200" lang="en-GB"/>
                        <a:t>free while you study</a:t>
                      </a:r>
                    </a:p>
                  </a:txBody>
                  <a:tcPr marT="55000" marB="55000"/>
                </a:tc>
              </a:tr>
            </a:tbl>
          </a:graphicData>
        </a:graphic>
      </p:graphicFrame>
      <p:sp>
        <p:nvSpPr>
          <p:cNvPr id="3" name="Title 2"/>
          <p:cNvSpPr>
            <a:spLocks noGrp="1"/>
          </p:cNvSpPr>
          <p:nvPr>
            <p:ph type="title"/>
          </p:nvPr>
        </p:nvSpPr>
        <p:spPr/>
        <p:txBody>
          <a:bodyPr/>
          <a:lstStyle/>
          <a:p>
            <a:r>
              <a:rPr sz="1600" lang="en-GB"/>
              <a:t>Two free Copilot plans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credits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lan credits" descr=""/>
          <p:cNvPicPr>
            <a:picLocks noChangeAspect="1"/>
          </p:cNvPicPr>
          <p:nvPr/>
        </p:nvPicPr>
        <p:blipFill>
          <a:blip r:embed="rId3"/>
          <a:stretch>
            <a:fillRect/>
          </a:stretch>
        </p:blipFill>
        <p:spPr>
          <a:xfrm>
            <a:off x="658368" y="4297680"/>
            <a:ext cx="365760" cy="365760"/>
          </a:xfrm>
          <a:prstGeom prst="rect">
            <a:avLst/>
          </a:prstGeom>
        </p:spPr>
      </p:pic>
      <p:sp>
        <p:nvSpPr>
          <p:cNvPr id="12" name="Plan credits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Credits run out? </a:t>
            </a:r>
            <a:r>
              <a:rPr sz="1200" b="0" lang="en-GB">
                <a:solidFill>
                  <a:schemeClr val="bg1"/>
                </a:solidFill>
              </a:rPr>
              <a:t>they reset on the 1st of the month. The Copilot icon in Positron's status bar shows how much you have used.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Activate Copilot Student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ctivate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ctiva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ctiva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Copilot Student</a:t>
            </a:r>
          </a:p>
        </p:txBody>
      </p:sp>
      <p:pic>
        <p:nvPicPr>
          <p:cNvPr id="13" name="Icon Activate" descr=""/>
          <p:cNvPicPr>
            <a:picLocks noChangeAspect="1"/>
          </p:cNvPicPr>
          <p:nvPr/>
        </p:nvPicPr>
        <p:blipFill>
          <a:blip r:embed="rId3"/>
          <a:stretch>
            <a:fillRect/>
          </a:stretch>
        </p:blipFill>
        <p:spPr>
          <a:xfrm>
            <a:off x="4956048" y="1284732"/>
            <a:ext cx="310896" cy="310896"/>
          </a:xfrm>
          <a:prstGeom prst="rect">
            <a:avLst/>
          </a:prstGeom>
        </p:spPr>
      </p:pic>
      <p:sp>
        <p:nvSpPr>
          <p:cNvPr id="14" name="Activate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Be verified </a:t>
            </a:r>
            <a:r>
              <a:rPr sz="1300" b="0" lang="en-GB">
                <a:solidFill>
                  <a:schemeClr val="tx1"/>
                </a:solidFill>
              </a:rPr>
              <a:t>in GitHub Education (Part 2)</a:t>
            </a:r>
          </a:p>
          <a:p>
            <a:pPr algn="l">
              <a:spcAft>
                <a:spcPts val="900"/>
              </a:spcAft>
            </a:pPr>
            <a:r>
              <a:rPr sz="1300" b="1" lang="en-GB">
                <a:solidFill>
                  <a:schemeClr val="accent1"/>
                </a:solidFill>
              </a:rPr>
              <a:t>2  </a:t>
            </a:r>
            <a:r>
              <a:rPr sz="1300" b="0" lang="en-GB">
                <a:solidFill>
                  <a:schemeClr val="tx1"/>
                </a:solidFill>
              </a:rPr>
              <a:t>Open </a:t>
            </a:r>
            <a:r>
              <a:rPr sz="1300" b="0" lang="en-GB">
                <a:solidFill>
                  <a:schemeClr val="accent1"/>
                </a:solidFill>
                <a:hlinkClick r:id="rId4"/>
              </a:rPr>
              <a:t>github.com/settings/education/benefits</a:t>
            </a:r>
          </a:p>
          <a:p>
            <a:pPr algn="l">
              <a:spcAft>
                <a:spcPts val="900"/>
              </a:spcAft>
            </a:pPr>
            <a:r>
              <a:rPr sz="1300" b="1" lang="en-GB">
                <a:solidFill>
                  <a:schemeClr val="accent1"/>
                </a:solidFill>
              </a:rPr>
              <a:t>3  </a:t>
            </a:r>
            <a:r>
              <a:rPr sz="1300" b="1" lang="en-GB">
                <a:solidFill>
                  <a:schemeClr val="tx2"/>
                </a:solidFill>
              </a:rPr>
              <a:t>Under Free GitHub developer resources: </a:t>
            </a:r>
            <a:r>
              <a:rPr sz="1300" b="0" lang="en-GB">
                <a:solidFill>
                  <a:schemeClr val="tx1"/>
                </a:solidFill>
              </a:rPr>
              <a:t>Learn more</a:t>
            </a:r>
          </a:p>
          <a:p>
            <a:pPr algn="l">
              <a:spcAft>
                <a:spcPts val="900"/>
              </a:spcAft>
            </a:pPr>
            <a:r>
              <a:rPr sz="1300" b="1" lang="en-GB">
                <a:solidFill>
                  <a:schemeClr val="accent1"/>
                </a:solidFill>
              </a:rPr>
              <a:t>4  </a:t>
            </a:r>
            <a:r>
              <a:rPr sz="1300" b="1" lang="en-GB">
                <a:solidFill>
                  <a:schemeClr val="tx2"/>
                </a:solidFill>
              </a:rPr>
              <a:t>Follow the prompts </a:t>
            </a:r>
            <a:r>
              <a:rPr sz="1300" b="0" lang="en-GB">
                <a:solidFill>
                  <a:schemeClr val="tx1"/>
                </a:solidFill>
              </a:rPr>
              <a:t>to activate Copilot Student</a:t>
            </a:r>
          </a:p>
          <a:p>
            <a:pPr algn="l">
              <a:spcAft>
                <a:spcPts val="900"/>
              </a:spcAft>
            </a:pPr>
            <a:r>
              <a:rPr sz="1300" b="1" lang="en-GB">
                <a:solidFill>
                  <a:schemeClr val="accent1"/>
                </a:solidFill>
              </a:rPr>
              <a:t>5  </a:t>
            </a:r>
            <a:r>
              <a:rPr sz="1300" b="1" lang="en-GB">
                <a:solidFill>
                  <a:schemeClr val="tx2"/>
                </a:solidFill>
              </a:rPr>
              <a:t>Check </a:t>
            </a:r>
            <a:r>
              <a:rPr sz="1300" b="0" lang="en-GB">
                <a:solidFill>
                  <a:schemeClr val="accent1"/>
                </a:solidFill>
                <a:hlinkClick r:id="rId5"/>
              </a:rPr>
              <a:t>github.com/settings/copilot</a:t>
            </a:r>
          </a:p>
        </p:txBody>
      </p:sp>
      <p:sp>
        <p:nvSpPr>
          <p:cNvPr id="15" name="Activate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ctivat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ctivat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Not approved yet?</a:t>
            </a:r>
          </a:p>
        </p:txBody>
      </p:sp>
      <p:pic>
        <p:nvPicPr>
          <p:cNvPr id="18" name="Icon Activate card" descr=""/>
          <p:cNvPicPr>
            <a:picLocks noChangeAspect="1"/>
          </p:cNvPicPr>
          <p:nvPr/>
        </p:nvPicPr>
        <p:blipFill>
          <a:blip r:embed="rId6"/>
          <a:stretch>
            <a:fillRect/>
          </a:stretch>
        </p:blipFill>
        <p:spPr>
          <a:xfrm>
            <a:off x="8247888" y="1284732"/>
            <a:ext cx="310896" cy="310896"/>
          </a:xfrm>
          <a:prstGeom prst="rect">
            <a:avLst/>
          </a:prstGeom>
        </p:spPr>
      </p:pic>
      <p:sp>
        <p:nvSpPr>
          <p:cNvPr id="19" name="Activate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Copilot Free meanwhile</a:t>
            </a:r>
          </a:p>
          <a:p>
            <a:pPr algn="l" marL="182880" indent="-182880">
              <a:spcAft>
                <a:spcPts val="600"/>
              </a:spcAft>
              <a:buClr>
                <a:schemeClr val="accent1"/>
              </a:buClr>
              <a:buFont typeface="Arial"/>
              <a:buChar char="▪"/>
            </a:pPr>
            <a:r>
              <a:rPr sz="1300" b="0" lang="en-GB">
                <a:solidFill>
                  <a:schemeClr val="tx1"/>
                </a:solidFill>
              </a:rPr>
              <a:t>github.com/settings/copilot → Start using Copilot Free</a:t>
            </a:r>
          </a:p>
          <a:p>
            <a:pPr algn="l" marL="182880" indent="-182880">
              <a:spcAft>
                <a:spcPts val="600"/>
              </a:spcAft>
              <a:buClr>
                <a:schemeClr val="accent1"/>
              </a:buClr>
              <a:buFont typeface="Arial"/>
              <a:buChar char="▪"/>
            </a:pPr>
            <a:r>
              <a:rPr sz="1300" b="0" lang="en-GB">
                <a:solidFill>
                  <a:schemeClr val="tx1"/>
                </a:solidFill>
              </a:rPr>
              <a:t>Shown a paid checkout? Do not pay; wait a few days</a:t>
            </a:r>
          </a:p>
        </p:txBody>
      </p:sp>
      <p:sp>
        <p:nvSpPr>
          <p:cNvPr id="20" name="Activate note box"/>
          <p:cNvSpPr/>
          <p:nvPr/>
        </p:nvSpPr>
        <p:spPr>
          <a:xfrm>
            <a:off x="457200" y="43891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ctivate note" descr=""/>
          <p:cNvPicPr>
            <a:picLocks noChangeAspect="1"/>
          </p:cNvPicPr>
          <p:nvPr/>
        </p:nvPicPr>
        <p:blipFill>
          <a:blip r:embed="rId7"/>
          <a:stretch>
            <a:fillRect/>
          </a:stretch>
        </p:blipFill>
        <p:spPr>
          <a:xfrm>
            <a:off x="658368" y="4480560"/>
            <a:ext cx="365760" cy="365760"/>
          </a:xfrm>
          <a:prstGeom prst="rect">
            <a:avLst/>
          </a:prstGeom>
        </p:spPr>
      </p:pic>
      <p:sp>
        <p:nvSpPr>
          <p:cNvPr id="22" name="Activate note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Re-checked monthly: </a:t>
            </a:r>
            <a:r>
              <a:rPr sz="1200" b="0" lang="en-GB">
                <a:solidFill>
                  <a:schemeClr val="tx1"/>
                </a:solidFill>
              </a:rPr>
              <a:t>the free plan ends when you are no longer a student.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Privacy settings on github.com</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tout body"/>
          <p:cNvSpPr/>
          <p:nvPr/>
        </p:nvSpPr>
        <p:spPr>
          <a:xfrm>
            <a:off x="457200" y="1645920"/>
            <a:ext cx="4937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ptou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ptou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 out of model training</a:t>
            </a:r>
          </a:p>
        </p:txBody>
      </p:sp>
      <p:pic>
        <p:nvPicPr>
          <p:cNvPr id="13" name="Icon Optout" descr=""/>
          <p:cNvPicPr>
            <a:picLocks noChangeAspect="1"/>
          </p:cNvPicPr>
          <p:nvPr/>
        </p:nvPicPr>
        <p:blipFill>
          <a:blip r:embed="rId3"/>
          <a:stretch>
            <a:fillRect/>
          </a:stretch>
        </p:blipFill>
        <p:spPr>
          <a:xfrm>
            <a:off x="4956048" y="1284732"/>
            <a:ext cx="310896" cy="310896"/>
          </a:xfrm>
          <a:prstGeom prst="rect">
            <a:avLst/>
          </a:prstGeom>
        </p:spPr>
      </p:pic>
      <p:sp>
        <p:nvSpPr>
          <p:cNvPr id="14" name="Optout text"/>
          <p:cNvSpPr txBox="1"/>
          <p:nvPr/>
        </p:nvSpPr>
        <p:spPr>
          <a:xfrm>
            <a:off x="621792" y="1783080"/>
            <a:ext cx="4636008" cy="16916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github.com/settings/copilot</a:t>
            </a:r>
          </a:p>
          <a:p>
            <a:pPr algn="l">
              <a:spcAft>
                <a:spcPts val="900"/>
              </a:spcAft>
            </a:pPr>
            <a:r>
              <a:rPr sz="1300" b="1" lang="en-GB">
                <a:solidFill>
                  <a:schemeClr val="accent1"/>
                </a:solidFill>
              </a:rPr>
              <a:t>2  </a:t>
            </a:r>
            <a:r>
              <a:rPr sz="1300" b="1" lang="en-GB">
                <a:solidFill>
                  <a:schemeClr val="tx2"/>
                </a:solidFill>
              </a:rPr>
              <a:t>Find </a:t>
            </a:r>
            <a:r>
              <a:rPr sz="1300" b="0" lang="en-GB">
                <a:solidFill>
                  <a:schemeClr val="tx1"/>
                </a:solidFill>
              </a:rPr>
              <a:t>Allow GitHub to use my data for AI model training</a:t>
            </a:r>
          </a:p>
          <a:p>
            <a:pPr algn="l">
              <a:spcAft>
                <a:spcPts val="900"/>
              </a:spcAft>
            </a:pPr>
            <a:r>
              <a:rPr sz="1300" b="1" lang="en-GB">
                <a:solidFill>
                  <a:schemeClr val="accent1"/>
                </a:solidFill>
              </a:rPr>
              <a:t>3  </a:t>
            </a:r>
            <a:r>
              <a:rPr sz="1300" b="1" lang="en-GB">
                <a:solidFill>
                  <a:schemeClr val="tx2"/>
                </a:solidFill>
              </a:rPr>
              <a:t>Set it to </a:t>
            </a:r>
            <a:r>
              <a:rPr sz="1300" b="0" lang="en-GB">
                <a:solidFill>
                  <a:schemeClr val="tx1"/>
                </a:solidFill>
              </a:rPr>
              <a:t>Disabled</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setting saves at once</a:t>
            </a:r>
          </a:p>
        </p:txBody>
      </p:sp>
      <p:sp>
        <p:nvSpPr>
          <p:cNvPr id="15" name="Priv rows row 1"/>
          <p:cNvSpPr/>
          <p:nvPr/>
        </p:nvSpPr>
        <p:spPr>
          <a:xfrm>
            <a:off x="5532120" y="1234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iv rows bar 1"/>
          <p:cNvSpPr/>
          <p:nvPr/>
        </p:nvSpPr>
        <p:spPr>
          <a:xfrm>
            <a:off x="553212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v rows text 1"/>
          <p:cNvSpPr txBox="1"/>
          <p:nvPr/>
        </p:nvSpPr>
        <p:spPr>
          <a:xfrm>
            <a:off x="5733288" y="1234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Posit </a:t>
            </a:r>
            <a:r>
              <a:rPr sz="1200" b="0" lang="en-GB">
                <a:solidFill>
                  <a:schemeClr val="tx1"/>
                </a:solidFill>
              </a:rPr>
              <a:t>does not see your prompts</a:t>
            </a:r>
          </a:p>
        </p:txBody>
      </p:sp>
      <p:sp>
        <p:nvSpPr>
          <p:cNvPr id="18" name="Priv rows row 2"/>
          <p:cNvSpPr/>
          <p:nvPr/>
        </p:nvSpPr>
        <p:spPr>
          <a:xfrm>
            <a:off x="5532120" y="2039112"/>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iv rows bar 2"/>
          <p:cNvSpPr/>
          <p:nvPr/>
        </p:nvSpPr>
        <p:spPr>
          <a:xfrm>
            <a:off x="5532120" y="2039112"/>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iv rows text 2"/>
          <p:cNvSpPr txBox="1"/>
          <p:nvPr/>
        </p:nvSpPr>
        <p:spPr>
          <a:xfrm>
            <a:off x="5733288" y="2039112"/>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GitHub / Microsoft </a:t>
            </a:r>
            <a:r>
              <a:rPr sz="1200" b="0" lang="en-GB">
                <a:solidFill>
                  <a:schemeClr val="tx1"/>
                </a:solidFill>
              </a:rPr>
              <a:t>receive prompt and context</a:t>
            </a:r>
          </a:p>
        </p:txBody>
      </p:sp>
      <p:sp>
        <p:nvSpPr>
          <p:cNvPr id="21" name="Priv rows row 3"/>
          <p:cNvSpPr/>
          <p:nvPr/>
        </p:nvSpPr>
        <p:spPr>
          <a:xfrm>
            <a:off x="5532120" y="284378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v rows bar 3"/>
          <p:cNvSpPr/>
          <p:nvPr/>
        </p:nvSpPr>
        <p:spPr>
          <a:xfrm>
            <a:off x="5532120" y="284378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iv rows text 3"/>
          <p:cNvSpPr txBox="1"/>
          <p:nvPr/>
        </p:nvSpPr>
        <p:spPr>
          <a:xfrm>
            <a:off x="5733288" y="284378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Their terms </a:t>
            </a:r>
            <a:r>
              <a:rPr sz="1200" b="0" lang="en-GB">
                <a:solidFill>
                  <a:schemeClr val="tx1"/>
                </a:solidFill>
              </a:rPr>
              <a:t>apply to what you send</a:t>
            </a:r>
          </a:p>
        </p:txBody>
      </p:sp>
      <p:sp>
        <p:nvSpPr>
          <p:cNvPr id="24" name="Priv rule box"/>
          <p:cNvSpPr/>
          <p:nvPr/>
        </p:nvSpPr>
        <p:spPr>
          <a:xfrm>
            <a:off x="457200" y="37490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Priv rule" descr=""/>
          <p:cNvPicPr>
            <a:picLocks noChangeAspect="1"/>
          </p:cNvPicPr>
          <p:nvPr/>
        </p:nvPicPr>
        <p:blipFill>
          <a:blip r:embed="rId5"/>
          <a:stretch>
            <a:fillRect/>
          </a:stretch>
        </p:blipFill>
        <p:spPr>
          <a:xfrm>
            <a:off x="658368" y="3954780"/>
            <a:ext cx="365760" cy="365760"/>
          </a:xfrm>
          <a:prstGeom prst="rect">
            <a:avLst/>
          </a:prstGeom>
        </p:spPr>
      </p:pic>
      <p:sp>
        <p:nvSpPr>
          <p:cNvPr id="26" name="Priv rule text"/>
          <p:cNvSpPr txBox="1"/>
          <p:nvPr/>
        </p:nvSpPr>
        <p:spPr>
          <a:xfrm>
            <a:off x="1207008" y="37490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Rule: </a:t>
            </a:r>
            <a:r>
              <a:rPr sz="1200" b="0" lang="en-GB">
                <a:solidFill>
                  <a:schemeClr val="bg1"/>
                </a:solidFill>
              </a:rPr>
              <a:t>send code and anonymised data only. Names, e-mails, customer IDs and confidential files never go into a prompt.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8 of 18 · check the version, sign in, test that it works</a:t>
            </a:r>
          </a:p>
        </p:txBody>
      </p:sp>
      <p:sp>
        <p:nvSpPr>
          <p:cNvPr id="3" name="Title 2"/>
          <p:cNvSpPr>
            <a:spLocks noGrp="1"/>
          </p:cNvSpPr>
          <p:nvPr>
            <p:ph type="ctrTitle"/>
          </p:nvPr>
        </p:nvSpPr>
        <p:spPr/>
        <p:txBody>
          <a:bodyPr/>
          <a:lstStyle/>
          <a:p>
            <a:r>
              <a:rPr sz="1600" lang="en-GB"/>
              <a:t>Connect Copilot to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Before you start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fore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fore number 1"/>
          <p:cNvSpPr/>
          <p:nvPr/>
        </p:nvSpPr>
        <p:spPr>
          <a:xfrm>
            <a:off x="594360" y="1353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Before text 1"/>
          <p:cNvSpPr txBox="1"/>
          <p:nvPr/>
        </p:nvSpPr>
        <p:spPr>
          <a:xfrm>
            <a:off x="1051560" y="1234440"/>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Help → Check for Updates (current: 2026.10)</a:t>
            </a:r>
          </a:p>
        </p:txBody>
      </p:sp>
      <p:sp>
        <p:nvSpPr>
          <p:cNvPr id="13" name="Before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efore number 2"/>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Before text 2"/>
          <p:cNvSpPr txBox="1"/>
          <p:nvPr/>
        </p:nvSpPr>
        <p:spPr>
          <a:xfrm>
            <a:off x="1051560" y="1856232"/>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Open your project folder: </a:t>
            </a:r>
            <a:r>
              <a:rPr sz="1200" b="0" lang="en-GB">
                <a:solidFill>
                  <a:schemeClr val="tx1"/>
                </a:solidFill>
              </a:rPr>
              <a:t>File → Open Folder</a:t>
            </a:r>
          </a:p>
        </p:txBody>
      </p:sp>
      <p:sp>
        <p:nvSpPr>
          <p:cNvPr id="16" name="Before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efore number 3"/>
          <p:cNvSpPr/>
          <p:nvPr/>
        </p:nvSpPr>
        <p:spPr>
          <a:xfrm>
            <a:off x="594360" y="25968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Before text 3"/>
          <p:cNvSpPr txBox="1"/>
          <p:nvPr/>
        </p:nvSpPr>
        <p:spPr>
          <a:xfrm>
            <a:off x="1051560" y="2478024"/>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Trust the folder </a:t>
            </a:r>
            <a:r>
              <a:rPr sz="1200" b="0" lang="en-GB">
                <a:solidFill>
                  <a:schemeClr val="tx1"/>
                </a:solidFill>
              </a:rPr>
              <a:t>when Positron asks: Yes, I trust the authors</a:t>
            </a:r>
          </a:p>
        </p:txBody>
      </p:sp>
      <p:sp>
        <p:nvSpPr>
          <p:cNvPr id="19" name="Before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fore number 4"/>
          <p:cNvSpPr/>
          <p:nvPr/>
        </p:nvSpPr>
        <p:spPr>
          <a:xfrm>
            <a:off x="594360" y="32186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Before text 4"/>
          <p:cNvSpPr txBox="1"/>
          <p:nvPr/>
        </p:nvSpPr>
        <p:spPr>
          <a:xfrm>
            <a:off x="1051560" y="3099816"/>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Python running: </a:t>
            </a:r>
            <a:r>
              <a:rPr sz="1200" b="0" lang="en-GB">
                <a:solidFill>
                  <a:schemeClr val="tx1"/>
                </a:solidFill>
              </a:rPr>
              <a:t>pick Python 3.14 (.venv) at the top right</a:t>
            </a:r>
          </a:p>
        </p:txBody>
      </p:sp>
      <p:sp>
        <p:nvSpPr>
          <p:cNvPr id="22" name="Before row 5"/>
          <p:cNvSpPr/>
          <p:nvPr/>
        </p:nvSpPr>
        <p:spPr>
          <a:xfrm>
            <a:off x="457200" y="3721608"/>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fore number 5"/>
          <p:cNvSpPr/>
          <p:nvPr/>
        </p:nvSpPr>
        <p:spPr>
          <a:xfrm>
            <a:off x="594360" y="384048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Before text 5"/>
          <p:cNvSpPr txBox="1"/>
          <p:nvPr/>
        </p:nvSpPr>
        <p:spPr>
          <a:xfrm>
            <a:off x="1051560" y="3721608"/>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GitHub account </a:t>
            </a:r>
            <a:r>
              <a:rPr sz="1200" b="0" lang="en-GB">
                <a:solidFill>
                  <a:schemeClr val="tx1"/>
                </a:solidFill>
              </a:rPr>
              <a:t>with Copilot Free or Copilot Student active</a:t>
            </a:r>
          </a:p>
        </p:txBody>
      </p:sp>
      <p:sp>
        <p:nvSpPr>
          <p:cNvPr id="25" name="Before note box"/>
          <p:cNvSpPr/>
          <p:nvPr/>
        </p:nvSpPr>
        <p:spPr>
          <a:xfrm>
            <a:off x="457200" y="45720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Before note" descr=""/>
          <p:cNvPicPr>
            <a:picLocks noChangeAspect="1"/>
          </p:cNvPicPr>
          <p:nvPr/>
        </p:nvPicPr>
        <p:blipFill>
          <a:blip r:embed="rId3"/>
          <a:stretch>
            <a:fillRect/>
          </a:stretch>
        </p:blipFill>
        <p:spPr>
          <a:xfrm>
            <a:off x="658368" y="4617720"/>
            <a:ext cx="365760" cy="365760"/>
          </a:xfrm>
          <a:prstGeom prst="rect">
            <a:avLst/>
          </a:prstGeom>
        </p:spPr>
      </p:pic>
      <p:sp>
        <p:nvSpPr>
          <p:cNvPr id="27" name="Before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Nothing to switch on: </a:t>
            </a:r>
            <a:r>
              <a:rPr sz="1200" b="0" lang="en-GB">
                <a:solidFill>
                  <a:schemeClr val="tx1"/>
                </a:solidFill>
              </a:rPr>
              <a:t>AI is ready; it waits for a provider.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GitHub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in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in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in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13" name="Icon Signin" descr=""/>
          <p:cNvPicPr>
            <a:picLocks noChangeAspect="1"/>
          </p:cNvPicPr>
          <p:nvPr/>
        </p:nvPicPr>
        <p:blipFill>
          <a:blip r:embed="rId3"/>
          <a:stretch>
            <a:fillRect/>
          </a:stretch>
        </p:blipFill>
        <p:spPr>
          <a:xfrm>
            <a:off x="4956048" y="1284732"/>
            <a:ext cx="310896" cy="310896"/>
          </a:xfrm>
          <a:prstGeom prst="rect">
            <a:avLst/>
          </a:prstGeom>
        </p:spPr>
      </p:pic>
      <p:sp>
        <p:nvSpPr>
          <p:cNvPr id="14" name="Signin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Command Palette: </a:t>
            </a:r>
            <a:r>
              <a:rPr sz="1300" b="0" lang="en-GB">
                <a:solidFill>
                  <a:schemeClr val="tx1"/>
                </a:solidFill>
              </a:rPr>
              <a:t>Ctrl/Cmd + Shift + P</a:t>
            </a:r>
          </a:p>
          <a:p>
            <a:pPr algn="l">
              <a:spcAft>
                <a:spcPts val="900"/>
              </a:spcAft>
            </a:pPr>
            <a:r>
              <a:rPr sz="1300" b="1" lang="en-GB">
                <a:solidFill>
                  <a:schemeClr val="accent1"/>
                </a:solidFill>
              </a:rPr>
              <a:t>2  </a:t>
            </a:r>
            <a:r>
              <a:rPr sz="1300" b="1" lang="en-GB">
                <a:solidFill>
                  <a:schemeClr val="tx2"/>
                </a:solidFill>
              </a:rPr>
              <a:t>Type and run: </a:t>
            </a:r>
            <a:r>
              <a:rPr sz="1300" b="0" lang="en-GB">
                <a:solidFill>
                  <a:schemeClr val="tx1"/>
                </a:solidFill>
              </a:rPr>
              <a:t>Authentication: Configure Language Model Providers</a:t>
            </a:r>
          </a:p>
          <a:p>
            <a:pPr algn="l">
              <a:spcAft>
                <a:spcPts val="900"/>
              </a:spcAft>
            </a:pPr>
            <a:r>
              <a:rPr sz="1300" b="1" lang="en-GB">
                <a:solidFill>
                  <a:schemeClr val="accent1"/>
                </a:solidFill>
              </a:rPr>
              <a:t>3  </a:t>
            </a:r>
            <a:r>
              <a:rPr sz="1300" b="1" lang="en-GB">
                <a:solidFill>
                  <a:schemeClr val="tx2"/>
                </a:solidFill>
              </a:rPr>
              <a:t>Pick </a:t>
            </a:r>
            <a:r>
              <a:rPr sz="1300" b="0" lang="en-GB">
                <a:solidFill>
                  <a:schemeClr val="tx1"/>
                </a:solidFill>
              </a:rPr>
              <a:t>GitHub Copilot</a:t>
            </a:r>
          </a:p>
          <a:p>
            <a:pPr algn="l">
              <a:spcAft>
                <a:spcPts val="900"/>
              </a:spcAft>
            </a:pPr>
            <a:r>
              <a:rPr sz="1300" b="1" lang="en-GB">
                <a:solidFill>
                  <a:schemeClr val="accent1"/>
                </a:solidFill>
              </a:rPr>
              <a:t>4  </a:t>
            </a:r>
            <a:r>
              <a:rPr sz="1300" b="1" lang="en-GB">
                <a:solidFill>
                  <a:schemeClr val="tx2"/>
                </a:solidFill>
              </a:rPr>
              <a:t>Sign in </a:t>
            </a:r>
            <a:r>
              <a:rPr sz="1300" b="0" lang="en-GB">
                <a:solidFill>
                  <a:schemeClr val="tx1"/>
                </a:solidFill>
              </a:rPr>
              <a:t>in the browser, click Authorize</a:t>
            </a:r>
          </a:p>
          <a:p>
            <a:pPr algn="l">
              <a:spcAft>
                <a:spcPts val="900"/>
              </a:spcAft>
            </a:pPr>
            <a:r>
              <a:rPr sz="1300" b="1" lang="en-GB">
                <a:solidFill>
                  <a:schemeClr val="accent1"/>
                </a:solidFill>
              </a:rPr>
              <a:t>5  </a:t>
            </a:r>
            <a:r>
              <a:rPr sz="1300" b="1" lang="en-GB">
                <a:solidFill>
                  <a:schemeClr val="tx2"/>
                </a:solidFill>
              </a:rPr>
              <a:t>Back in Positron: </a:t>
            </a:r>
            <a:r>
              <a:rPr sz="1300" b="0" lang="en-GB">
                <a:solidFill>
                  <a:schemeClr val="tx1"/>
                </a:solidFill>
              </a:rPr>
              <a:t>Copilot shows as connected</a:t>
            </a:r>
          </a:p>
        </p:txBody>
      </p:sp>
      <p:sp>
        <p:nvSpPr>
          <p:cNvPr id="15" name="Signin cmd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in cmd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Command Palette</a:t>
            </a:r>
          </a:p>
        </p:txBody>
      </p:sp>
      <p:sp>
        <p:nvSpPr>
          <p:cNvPr id="17" name="Signin cmd box"/>
          <p:cNvSpPr/>
          <p:nvPr/>
        </p:nvSpPr>
        <p:spPr>
          <a:xfrm>
            <a:off x="5532120" y="1508760"/>
            <a:ext cx="315468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gnin cmd code"/>
          <p:cNvSpPr txBox="1"/>
          <p:nvPr/>
        </p:nvSpPr>
        <p:spPr>
          <a:xfrm>
            <a:off x="5669280" y="1600200"/>
            <a:ext cx="2880360" cy="6400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Authentication:</a:t>
            </a:r>
          </a:p>
          <a:p>
            <a:pPr algn="l">
              <a:spcAft>
                <a:spcPts val="0"/>
              </a:spcAft>
            </a:pPr>
            <a:r>
              <a:rPr sz="1100" b="0" lang="en-GB">
                <a:solidFill>
                  <a:schemeClr val="bg1"/>
                </a:solidFill>
                <a:latin typeface="Consolas"/>
              </a:rPr>
              <a:t>  Configure Language</a:t>
            </a:r>
          </a:p>
          <a:p>
            <a:pPr algn="l">
              <a:spcAft>
                <a:spcPts val="0"/>
              </a:spcAft>
            </a:pPr>
            <a:r>
              <a:rPr sz="1100" b="0" lang="en-GB">
                <a:solidFill>
                  <a:schemeClr val="bg1"/>
                </a:solidFill>
                <a:latin typeface="Consolas"/>
              </a:rPr>
              <a:t>  Model Providers</a:t>
            </a:r>
          </a:p>
        </p:txBody>
      </p:sp>
      <p:sp>
        <p:nvSpPr>
          <p:cNvPr id="19" name="Signin card body"/>
          <p:cNvSpPr/>
          <p:nvPr/>
        </p:nvSpPr>
        <p:spPr>
          <a:xfrm>
            <a:off x="5532120" y="2880360"/>
            <a:ext cx="315468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in card header"/>
          <p:cNvSpPr/>
          <p:nvPr/>
        </p:nvSpPr>
        <p:spPr>
          <a:xfrm>
            <a:off x="5532120" y="246888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gnin card heading"/>
          <p:cNvSpPr txBox="1"/>
          <p:nvPr/>
        </p:nvSpPr>
        <p:spPr>
          <a:xfrm>
            <a:off x="5669280" y="246888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Shortcut</a:t>
            </a:r>
          </a:p>
        </p:txBody>
      </p:sp>
      <p:pic>
        <p:nvPicPr>
          <p:cNvPr id="22" name="Icon Signin card" descr=""/>
          <p:cNvPicPr>
            <a:picLocks noChangeAspect="1"/>
          </p:cNvPicPr>
          <p:nvPr/>
        </p:nvPicPr>
        <p:blipFill>
          <a:blip r:embed="rId4"/>
          <a:stretch>
            <a:fillRect/>
          </a:stretch>
        </p:blipFill>
        <p:spPr>
          <a:xfrm>
            <a:off x="8247888" y="2519172"/>
            <a:ext cx="310896" cy="310896"/>
          </a:xfrm>
          <a:prstGeom prst="rect">
            <a:avLst/>
          </a:prstGeom>
        </p:spPr>
      </p:pic>
      <p:sp>
        <p:nvSpPr>
          <p:cNvPr id="23" name="Signin card text"/>
          <p:cNvSpPr txBox="1"/>
          <p:nvPr/>
        </p:nvSpPr>
        <p:spPr>
          <a:xfrm>
            <a:off x="5696712" y="3017520"/>
            <a:ext cx="285292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menu (person icon, bottom left)</a:t>
            </a:r>
          </a:p>
          <a:p>
            <a:pPr algn="l" marL="182880" indent="-182880">
              <a:spcAft>
                <a:spcPts val="600"/>
              </a:spcAft>
              <a:buClr>
                <a:schemeClr val="accent1"/>
              </a:buClr>
              <a:buFont typeface="Arial"/>
              <a:buChar char="▪"/>
            </a:pPr>
            <a:r>
              <a:rPr sz="1300" b="0" lang="en-GB">
                <a:solidFill>
                  <a:schemeClr val="tx1"/>
                </a:solidFill>
              </a:rPr>
              <a:t>→ Configure Language Model Providers</a:t>
            </a:r>
          </a:p>
        </p:txBody>
      </p:sp>
      <p:sp>
        <p:nvSpPr>
          <p:cNvPr id="24" name="Signin gotcha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ignin gotcha" descr=""/>
          <p:cNvPicPr>
            <a:picLocks noChangeAspect="1"/>
          </p:cNvPicPr>
          <p:nvPr/>
        </p:nvPicPr>
        <p:blipFill>
          <a:blip r:embed="rId5"/>
          <a:stretch>
            <a:fillRect/>
          </a:stretch>
        </p:blipFill>
        <p:spPr>
          <a:xfrm>
            <a:off x="658368" y="4526280"/>
            <a:ext cx="365760" cy="365760"/>
          </a:xfrm>
          <a:prstGeom prst="rect">
            <a:avLst/>
          </a:prstGeom>
        </p:spPr>
      </p:pic>
      <p:sp>
        <p:nvSpPr>
          <p:cNvPr id="26" name="Signin gotcha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Signed in to GitHub, but no Copilot? </a:t>
            </a:r>
            <a:r>
              <a:rPr sz="1200" b="0" lang="en-GB">
                <a:solidFill>
                  <a:schemeClr val="bg1"/>
                </a:solidFill>
              </a:rPr>
              <a:t>you must use Configure Language Model Providers.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that it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check 1" descr=""/>
          <p:cNvPicPr>
            <a:picLocks noChangeAspect="1"/>
          </p:cNvPicPr>
          <p:nvPr/>
        </p:nvPicPr>
        <p:blipFill>
          <a:blip r:embed="rId3"/>
          <a:stretch>
            <a:fillRect/>
          </a:stretch>
        </p:blipFill>
        <p:spPr>
          <a:xfrm>
            <a:off x="621792" y="1362456"/>
            <a:ext cx="365760" cy="365760"/>
          </a:xfrm>
          <a:prstGeom prst="rect">
            <a:avLst/>
          </a:prstGeom>
        </p:spPr>
      </p:pic>
      <p:sp>
        <p:nvSpPr>
          <p:cNvPr id="12" name="Check text 1"/>
          <p:cNvSpPr txBox="1"/>
          <p:nvPr/>
        </p:nvSpPr>
        <p:spPr>
          <a:xfrm>
            <a:off x="1143000" y="1234440"/>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Connected: </a:t>
            </a:r>
            <a:r>
              <a:rPr sz="1200" b="0" lang="en-GB">
                <a:solidFill>
                  <a:schemeClr val="tx1"/>
                </a:solidFill>
              </a:rPr>
              <a:t>the provider dialog shows GitHub Copilot as connected</a:t>
            </a:r>
          </a:p>
        </p:txBody>
      </p:sp>
      <p:sp>
        <p:nvSpPr>
          <p:cNvPr id="13" name="Check row 2"/>
          <p:cNvSpPr/>
          <p:nvPr/>
        </p:nvSpPr>
        <p:spPr>
          <a:xfrm>
            <a:off x="457200" y="1929384"/>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check 2" descr=""/>
          <p:cNvPicPr>
            <a:picLocks noChangeAspect="1"/>
          </p:cNvPicPr>
          <p:nvPr/>
        </p:nvPicPr>
        <p:blipFill>
          <a:blip r:embed="rId4"/>
          <a:stretch>
            <a:fillRect/>
          </a:stretch>
        </p:blipFill>
        <p:spPr>
          <a:xfrm>
            <a:off x="621792" y="2057400"/>
            <a:ext cx="365760" cy="365760"/>
          </a:xfrm>
          <a:prstGeom prst="rect">
            <a:avLst/>
          </a:prstGeom>
        </p:spPr>
      </p:pic>
      <p:sp>
        <p:nvSpPr>
          <p:cNvPr id="15" name="Check text 2"/>
          <p:cNvSpPr txBox="1"/>
          <p:nvPr/>
        </p:nvSpPr>
        <p:spPr>
          <a:xfrm>
            <a:off x="1143000" y="1929384"/>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Chat: </a:t>
            </a:r>
            <a:r>
              <a:rPr sz="1200" b="0" lang="en-GB">
                <a:solidFill>
                  <a:schemeClr val="tx1"/>
                </a:solidFill>
              </a:rPr>
              <a:t>View: Show Posit Assistant opens; Copilot models in the model picker</a:t>
            </a:r>
          </a:p>
        </p:txBody>
      </p:sp>
      <p:sp>
        <p:nvSpPr>
          <p:cNvPr id="16" name="Check row 3"/>
          <p:cNvSpPr/>
          <p:nvPr/>
        </p:nvSpPr>
        <p:spPr>
          <a:xfrm>
            <a:off x="457200" y="2624328"/>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check 3" descr=""/>
          <p:cNvPicPr>
            <a:picLocks noChangeAspect="1"/>
          </p:cNvPicPr>
          <p:nvPr/>
        </p:nvPicPr>
        <p:blipFill>
          <a:blip r:embed="rId5"/>
          <a:stretch>
            <a:fillRect/>
          </a:stretch>
        </p:blipFill>
        <p:spPr>
          <a:xfrm>
            <a:off x="621792" y="2752344"/>
            <a:ext cx="365760" cy="365760"/>
          </a:xfrm>
          <a:prstGeom prst="rect">
            <a:avLst/>
          </a:prstGeom>
        </p:spPr>
      </p:pic>
      <p:sp>
        <p:nvSpPr>
          <p:cNvPr id="18" name="Check text 3"/>
          <p:cNvSpPr txBox="1"/>
          <p:nvPr/>
        </p:nvSpPr>
        <p:spPr>
          <a:xfrm>
            <a:off x="1143000" y="2624328"/>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Ghost text: </a:t>
            </a:r>
            <a:r>
              <a:rPr sz="1200" b="0" lang="en-GB">
                <a:solidFill>
                  <a:schemeClr val="tx1"/>
                </a:solidFill>
              </a:rPr>
              <a:t>typing in a .py file or a Quarto code cell shows grey suggestions</a:t>
            </a:r>
          </a:p>
        </p:txBody>
      </p:sp>
      <p:sp>
        <p:nvSpPr>
          <p:cNvPr id="19" name="Check row 4"/>
          <p:cNvSpPr/>
          <p:nvPr/>
        </p:nvSpPr>
        <p:spPr>
          <a:xfrm>
            <a:off x="457200" y="3319272"/>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check 4" descr=""/>
          <p:cNvPicPr>
            <a:picLocks noChangeAspect="1"/>
          </p:cNvPicPr>
          <p:nvPr/>
        </p:nvPicPr>
        <p:blipFill>
          <a:blip r:embed="rId6"/>
          <a:stretch>
            <a:fillRect/>
          </a:stretch>
        </p:blipFill>
        <p:spPr>
          <a:xfrm>
            <a:off x="621792" y="3447288"/>
            <a:ext cx="365760" cy="365760"/>
          </a:xfrm>
          <a:prstGeom prst="rect">
            <a:avLst/>
          </a:prstGeom>
        </p:spPr>
      </p:pic>
      <p:sp>
        <p:nvSpPr>
          <p:cNvPr id="21" name="Check text 4"/>
          <p:cNvSpPr txBox="1"/>
          <p:nvPr/>
        </p:nvSpPr>
        <p:spPr>
          <a:xfrm>
            <a:off x="1143000" y="3319272"/>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Status bar: </a:t>
            </a:r>
            <a:r>
              <a:rPr sz="1200" b="0" lang="en-GB">
                <a:solidFill>
                  <a:schemeClr val="tx1"/>
                </a:solidFill>
              </a:rPr>
              <a:t>the Copilot icon at the bottom shows your usage</a:t>
            </a:r>
          </a:p>
        </p:txBody>
      </p:sp>
      <p:sp>
        <p:nvSpPr>
          <p:cNvPr id="22" name="Check row 5"/>
          <p:cNvSpPr/>
          <p:nvPr/>
        </p:nvSpPr>
        <p:spPr>
          <a:xfrm>
            <a:off x="457200" y="4014216"/>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heck 5" descr=""/>
          <p:cNvPicPr>
            <a:picLocks noChangeAspect="1"/>
          </p:cNvPicPr>
          <p:nvPr/>
        </p:nvPicPr>
        <p:blipFill>
          <a:blip r:embed="rId7"/>
          <a:stretch>
            <a:fillRect/>
          </a:stretch>
        </p:blipFill>
        <p:spPr>
          <a:xfrm>
            <a:off x="621792" y="4142232"/>
            <a:ext cx="365760" cy="365760"/>
          </a:xfrm>
          <a:prstGeom prst="rect">
            <a:avLst/>
          </a:prstGeom>
        </p:spPr>
      </p:pic>
      <p:sp>
        <p:nvSpPr>
          <p:cNvPr id="24" name="Check text 5"/>
          <p:cNvSpPr txBox="1"/>
          <p:nvPr/>
        </p:nvSpPr>
        <p:spPr>
          <a:xfrm>
            <a:off x="1143000" y="4014216"/>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Report: </a:t>
            </a:r>
            <a:r>
              <a:rPr sz="1200" b="0" lang="en-GB">
                <a:solidFill>
                  <a:schemeClr val="tx1"/>
                </a:solidFill>
              </a:rPr>
              <a:t>Command Palette → AI: Create Diagnostic Report</a:t>
            </a:r>
          </a:p>
        </p:txBody>
      </p:sp>
      <p:sp>
        <p:nvSpPr>
          <p:cNvPr id="25" name="Check ok box"/>
          <p:cNvSpPr/>
          <p:nvPr/>
        </p:nvSpPr>
        <p:spPr>
          <a:xfrm>
            <a:off x="457200" y="475488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heck ok" descr=""/>
          <p:cNvPicPr>
            <a:picLocks noChangeAspect="1"/>
          </p:cNvPicPr>
          <p:nvPr/>
        </p:nvPicPr>
        <p:blipFill>
          <a:blip r:embed="rId8"/>
          <a:stretch>
            <a:fillRect/>
          </a:stretch>
        </p:blipFill>
        <p:spPr>
          <a:xfrm>
            <a:off x="658368" y="4764024"/>
            <a:ext cx="365760" cy="365760"/>
          </a:xfrm>
          <a:prstGeom prst="rect">
            <a:avLst/>
          </a:prstGeom>
        </p:spPr>
      </p:pic>
      <p:sp>
        <p:nvSpPr>
          <p:cNvPr id="27" name="Check ok text"/>
          <p:cNvSpPr txBox="1"/>
          <p:nvPr/>
        </p:nvSpPr>
        <p:spPr>
          <a:xfrm>
            <a:off x="1207008" y="475488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All five fine? </a:t>
            </a:r>
            <a:r>
              <a:rPr sz="1200" b="0" lang="en-GB">
                <a:solidFill>
                  <a:schemeClr val="tx1"/>
                </a:solidFill>
              </a:rPr>
              <a:t>you are ready.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If the browser does not return to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vice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vic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vic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 with a device code</a:t>
            </a:r>
          </a:p>
        </p:txBody>
      </p:sp>
      <p:pic>
        <p:nvPicPr>
          <p:cNvPr id="13" name="Icon Device" descr=""/>
          <p:cNvPicPr>
            <a:picLocks noChangeAspect="1"/>
          </p:cNvPicPr>
          <p:nvPr/>
        </p:nvPicPr>
        <p:blipFill>
          <a:blip r:embed="rId3"/>
          <a:stretch>
            <a:fillRect/>
          </a:stretch>
        </p:blipFill>
        <p:spPr>
          <a:xfrm>
            <a:off x="4956048" y="1284732"/>
            <a:ext cx="310896" cy="310896"/>
          </a:xfrm>
          <a:prstGeom prst="rect">
            <a:avLst/>
          </a:prstGeom>
        </p:spPr>
      </p:pic>
      <p:sp>
        <p:nvSpPr>
          <p:cNvPr id="14" name="Device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a:t>
            </a:r>
            <a:r>
              <a:rPr sz="1300" b="0" lang="en-GB">
                <a:solidFill>
                  <a:schemeClr val="tx1"/>
                </a:solidFill>
              </a:rPr>
              <a:t>search preferDeviceCodeFlow, tick it</a:t>
            </a:r>
          </a:p>
          <a:p>
            <a:pPr algn="l">
              <a:spcAft>
                <a:spcPts val="900"/>
              </a:spcAft>
            </a:pPr>
            <a:r>
              <a:rPr sz="1300" b="1" lang="en-GB">
                <a:solidFill>
                  <a:schemeClr val="accent1"/>
                </a:solidFill>
              </a:rPr>
              <a:t>2  </a:t>
            </a:r>
            <a:r>
              <a:rPr sz="1300" b="1" lang="en-GB">
                <a:solidFill>
                  <a:schemeClr val="tx2"/>
                </a:solidFill>
              </a:rPr>
              <a:t>Run again: </a:t>
            </a:r>
            <a:r>
              <a:rPr sz="1300" b="0" lang="en-GB">
                <a:solidFill>
                  <a:schemeClr val="tx1"/>
                </a:solidFill>
              </a:rPr>
              <a:t>Configure Language Model Providers</a:t>
            </a:r>
          </a:p>
          <a:p>
            <a:pPr algn="l">
              <a:spcAft>
                <a:spcPts val="900"/>
              </a:spcAft>
            </a:pPr>
            <a:r>
              <a:rPr sz="1300" b="1" lang="en-GB">
                <a:solidFill>
                  <a:schemeClr val="accent1"/>
                </a:solidFill>
              </a:rPr>
              <a:t>3  </a:t>
            </a:r>
            <a:r>
              <a:rPr sz="1300" b="1" lang="en-GB">
                <a:solidFill>
                  <a:schemeClr val="tx2"/>
                </a:solidFill>
              </a:rPr>
              <a:t>Dialog shows </a:t>
            </a:r>
            <a:r>
              <a:rPr sz="1300" b="0" lang="en-GB">
                <a:solidFill>
                  <a:schemeClr val="tx1"/>
                </a:solidFill>
              </a:rPr>
              <a:t>Your Code: e.g. 4F2A-91C7</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Copy &amp; Continue to Browser</a:t>
            </a:r>
          </a:p>
          <a:p>
            <a:pPr algn="l">
              <a:spcAft>
                <a:spcPts val="900"/>
              </a:spcAft>
            </a:pPr>
            <a:r>
              <a:rPr sz="1300" b="1" lang="en-GB">
                <a:solidFill>
                  <a:schemeClr val="accent1"/>
                </a:solidFill>
              </a:rPr>
              <a:t>5  </a:t>
            </a:r>
            <a:r>
              <a:rPr sz="1300" b="1" lang="en-GB">
                <a:solidFill>
                  <a:schemeClr val="tx2"/>
                </a:solidFill>
              </a:rPr>
              <a:t>Paste the code </a:t>
            </a:r>
            <a:r>
              <a:rPr sz="1300" b="0" lang="en-GB">
                <a:solidFill>
                  <a:schemeClr val="tx1"/>
                </a:solidFill>
              </a:rPr>
              <a:t>on GitHub, click Authorize</a:t>
            </a:r>
          </a:p>
        </p:txBody>
      </p:sp>
      <p:sp>
        <p:nvSpPr>
          <p:cNvPr id="15" name="Device card body"/>
          <p:cNvSpPr/>
          <p:nvPr/>
        </p:nvSpPr>
        <p:spPr>
          <a:xfrm>
            <a:off x="5532120" y="1645920"/>
            <a:ext cx="315468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vic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vic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Still stuck?</a:t>
            </a:r>
          </a:p>
        </p:txBody>
      </p:sp>
      <p:pic>
        <p:nvPicPr>
          <p:cNvPr id="18" name="Icon Device card" descr=""/>
          <p:cNvPicPr>
            <a:picLocks noChangeAspect="1"/>
          </p:cNvPicPr>
          <p:nvPr/>
        </p:nvPicPr>
        <p:blipFill>
          <a:blip r:embed="rId4"/>
          <a:stretch>
            <a:fillRect/>
          </a:stretch>
        </p:blipFill>
        <p:spPr>
          <a:xfrm>
            <a:off x="8247888" y="1284732"/>
            <a:ext cx="310896" cy="310896"/>
          </a:xfrm>
          <a:prstGeom prst="rect">
            <a:avLst/>
          </a:prstGeom>
        </p:spPr>
      </p:pic>
      <p:sp>
        <p:nvSpPr>
          <p:cNvPr id="19" name="Device card text"/>
          <p:cNvSpPr txBox="1"/>
          <p:nvPr/>
        </p:nvSpPr>
        <p:spPr>
          <a:xfrm>
            <a:off x="5696712" y="1783080"/>
            <a:ext cx="285292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 Manage Accounts: sign out, sign in again</a:t>
            </a:r>
          </a:p>
          <a:p>
            <a:pPr algn="l" marL="182880" indent="-182880">
              <a:spcAft>
                <a:spcPts val="600"/>
              </a:spcAft>
              <a:buClr>
                <a:schemeClr val="accent1"/>
              </a:buClr>
              <a:buFont typeface="Arial"/>
              <a:buChar char="▪"/>
            </a:pPr>
            <a:r>
              <a:rPr sz="1300" b="0" lang="en-GB">
                <a:solidFill>
                  <a:schemeClr val="tx1"/>
                </a:solidFill>
              </a:rPr>
              <a:t>Check Copilot is active on github.com/settings/copilot</a:t>
            </a:r>
          </a:p>
          <a:p>
            <a:pPr algn="l" marL="182880" indent="-182880">
              <a:spcAft>
                <a:spcPts val="600"/>
              </a:spcAft>
              <a:buClr>
                <a:schemeClr val="accent1"/>
              </a:buClr>
              <a:buFont typeface="Arial"/>
              <a:buChar char="▪"/>
            </a:pPr>
            <a:r>
              <a:rPr sz="1300" b="0" lang="en-GB">
                <a:solidFill>
                  <a:schemeClr val="tx1"/>
                </a:solidFill>
              </a:rPr>
              <a:t>Restart Positron</a:t>
            </a:r>
          </a:p>
        </p:txBody>
      </p:sp>
      <p:sp>
        <p:nvSpPr>
          <p:cNvPr id="20" name="Device ne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Device net" descr=""/>
          <p:cNvPicPr>
            <a:picLocks noChangeAspect="1"/>
          </p:cNvPicPr>
          <p:nvPr/>
        </p:nvPicPr>
        <p:blipFill>
          <a:blip r:embed="rId5"/>
          <a:stretch>
            <a:fillRect/>
          </a:stretch>
        </p:blipFill>
        <p:spPr>
          <a:xfrm>
            <a:off x="658368" y="4251960"/>
            <a:ext cx="365760" cy="365760"/>
          </a:xfrm>
          <a:prstGeom prst="rect">
            <a:avLst/>
          </a:prstGeom>
        </p:spPr>
      </p:pic>
      <p:sp>
        <p:nvSpPr>
          <p:cNvPr id="22" name="Device ne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University or company network? </a:t>
            </a:r>
            <a:r>
              <a:rPr sz="1200" b="0" lang="en-GB">
                <a:solidFill>
                  <a:schemeClr val="bg1"/>
                </a:solidFill>
              </a:rPr>
              <a:t>proxies can block the redirect; the device code usually works.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9 of 18 · the pane, what it sees, permissions, slash commands, Fix and Explain</a:t>
            </a:r>
          </a:p>
        </p:txBody>
      </p:sp>
      <p:sp>
        <p:nvSpPr>
          <p:cNvPr id="3" name="Title 2"/>
          <p:cNvSpPr>
            <a:spLocks noGrp="1"/>
          </p:cNvSpPr>
          <p:nvPr>
            <p:ph type="ctrTitle"/>
          </p:nvPr>
        </p:nvSpPr>
        <p:spPr/>
        <p:txBody>
          <a:bodyPr/>
          <a:lstStyle/>
          <a:p>
            <a:r>
              <a:rPr sz="1600" lang="en-GB"/>
              <a:t>Chat with Posit Assistant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Posit Assistant pane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ane frame"/>
          <p:cNvSpPr/>
          <p:nvPr/>
        </p:nvSpPr>
        <p:spPr>
          <a:xfrm>
            <a:off x="457200" y="1234440"/>
            <a:ext cx="4206240" cy="361188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ane head"/>
          <p:cNvSpPr/>
          <p:nvPr/>
        </p:nvSpPr>
        <p:spPr>
          <a:xfrm>
            <a:off x="457200" y="1234440"/>
            <a:ext cx="4206240" cy="3840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ane head text"/>
          <p:cNvSpPr txBox="1"/>
          <p:nvPr/>
        </p:nvSpPr>
        <p:spPr>
          <a:xfrm>
            <a:off x="594360" y="1234440"/>
            <a:ext cx="3931920" cy="384048"/>
          </a:xfrm>
          <a:prstGeom prst="rect">
            <a:avLst/>
          </a:prstGeom>
          <a:noFill/>
        </p:spPr>
        <p:txBody>
          <a:bodyPr wrap="square" lIns="0" rIns="0" tIns="0" bIns="0" anchor="ctr">
            <a:noAutofit/>
          </a:bodyPr>
          <a:lstStyle/>
          <a:p>
            <a:pPr algn="l">
              <a:spcAft>
                <a:spcPts val="400"/>
              </a:spcAft>
            </a:pPr>
            <a:r>
              <a:rPr sz="1100" b="1" lang="en-GB">
                <a:solidFill>
                  <a:schemeClr val="bg1"/>
                </a:solidFill>
              </a:rPr>
              <a:t>POSIT ASSISTANT</a:t>
            </a:r>
          </a:p>
        </p:txBody>
      </p:sp>
      <p:sp>
        <p:nvSpPr>
          <p:cNvPr id="13" name="Pane user msg"/>
          <p:cNvSpPr/>
          <p:nvPr/>
        </p:nvSpPr>
        <p:spPr>
          <a:xfrm>
            <a:off x="2103120" y="1737360"/>
            <a:ext cx="24231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ne user text"/>
          <p:cNvSpPr txBox="1"/>
          <p:nvPr/>
        </p:nvSpPr>
        <p:spPr>
          <a:xfrm>
            <a:off x="2176272" y="1737360"/>
            <a:ext cx="2331720" cy="566928"/>
          </a:xfrm>
          <a:prstGeom prst="rect">
            <a:avLst/>
          </a:prstGeom>
          <a:noFill/>
        </p:spPr>
        <p:txBody>
          <a:bodyPr wrap="square" lIns="0" rIns="0" tIns="0" bIns="0" anchor="ctr">
            <a:noAutofit/>
          </a:bodyPr>
          <a:lstStyle/>
          <a:p>
            <a:pPr algn="l">
              <a:spcAft>
                <a:spcPts val="400"/>
              </a:spcAft>
            </a:pPr>
            <a:r>
              <a:rPr sz="1050" b="0" lang="en-GB">
                <a:solidFill>
                  <a:schemeClr val="tx1"/>
                </a:solidFill>
              </a:rPr>
              <a:t>Plot sales against price1 with plotnine</a:t>
            </a:r>
          </a:p>
        </p:txBody>
      </p:sp>
      <p:sp>
        <p:nvSpPr>
          <p:cNvPr id="15" name="Pane reply"/>
          <p:cNvSpPr txBox="1"/>
          <p:nvPr/>
        </p:nvSpPr>
        <p:spPr>
          <a:xfrm>
            <a:off x="594360" y="2395728"/>
            <a:ext cx="3931920" cy="914400"/>
          </a:xfrm>
          <a:prstGeom prst="rect">
            <a:avLst/>
          </a:prstGeom>
          <a:noFill/>
        </p:spPr>
        <p:txBody>
          <a:bodyPr wrap="square" lIns="0" rIns="0" tIns="0" bIns="0" anchor="t">
            <a:noAutofit/>
          </a:bodyPr>
          <a:lstStyle/>
          <a:p>
            <a:pPr algn="l">
              <a:spcAft>
                <a:spcPts val="400"/>
              </a:spcAft>
            </a:pPr>
            <a:r>
              <a:rPr sz="1050" b="0" lang="en-GB">
                <a:solidFill>
                  <a:schemeClr val="tx1"/>
                </a:solidFill>
              </a:rPr>
              <a:t>I will read the data with polars and draw a scatter plot. Run this code?</a:t>
            </a:r>
          </a:p>
        </p:txBody>
      </p:sp>
      <p:sp>
        <p:nvSpPr>
          <p:cNvPr id="16" name="Pane btn 1"/>
          <p:cNvSpPr/>
          <p:nvPr/>
        </p:nvSpPr>
        <p:spPr>
          <a:xfrm>
            <a:off x="594360" y="3154680"/>
            <a:ext cx="1005840" cy="3291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ane btn text 1"/>
          <p:cNvSpPr txBox="1"/>
          <p:nvPr/>
        </p:nvSpPr>
        <p:spPr>
          <a:xfrm>
            <a:off x="59436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bg1"/>
                </a:solidFill>
              </a:rPr>
              <a:t>Accept</a:t>
            </a:r>
          </a:p>
        </p:txBody>
      </p:sp>
      <p:sp>
        <p:nvSpPr>
          <p:cNvPr id="18" name="Pane btn 2"/>
          <p:cNvSpPr/>
          <p:nvPr/>
        </p:nvSpPr>
        <p:spPr>
          <a:xfrm>
            <a:off x="1691640" y="3154680"/>
            <a:ext cx="1005840" cy="329184"/>
          </a:xfrm>
          <a:prstGeom prst="round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ne btn text 2"/>
          <p:cNvSpPr txBox="1"/>
          <p:nvPr/>
        </p:nvSpPr>
        <p:spPr>
          <a:xfrm>
            <a:off x="169164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tx2"/>
                </a:solidFill>
              </a:rPr>
              <a:t>Decline</a:t>
            </a:r>
          </a:p>
        </p:txBody>
      </p:sp>
      <p:sp>
        <p:nvSpPr>
          <p:cNvPr id="20" name="Pane input"/>
          <p:cNvSpPr/>
          <p:nvPr/>
        </p:nvSpPr>
        <p:spPr>
          <a:xfrm>
            <a:off x="548640" y="3977640"/>
            <a:ext cx="402336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ne input text"/>
          <p:cNvSpPr txBox="1"/>
          <p:nvPr/>
        </p:nvSpPr>
        <p:spPr>
          <a:xfrm>
            <a:off x="640080" y="3977640"/>
            <a:ext cx="3840480" cy="411480"/>
          </a:xfrm>
          <a:prstGeom prst="rect">
            <a:avLst/>
          </a:prstGeom>
          <a:noFill/>
        </p:spPr>
        <p:txBody>
          <a:bodyPr wrap="square" lIns="0" rIns="0" tIns="0" bIns="0" anchor="ctr">
            <a:noAutofit/>
          </a:bodyPr>
          <a:lstStyle/>
          <a:p>
            <a:pPr algn="l">
              <a:spcAft>
                <a:spcPts val="400"/>
              </a:spcAft>
            </a:pPr>
            <a:r>
              <a:rPr sz="1050" b="0" lang="en-GB">
                <a:solidFill>
                  <a:srgbClr val="595959"/>
                </a:solidFill>
              </a:rPr>
              <a:t>Ask anything, @ to add a file…</a:t>
            </a:r>
          </a:p>
        </p:txBody>
      </p:sp>
      <p:sp>
        <p:nvSpPr>
          <p:cNvPr id="22" name="Pane input bar"/>
          <p:cNvSpPr txBox="1"/>
          <p:nvPr/>
        </p:nvSpPr>
        <p:spPr>
          <a:xfrm>
            <a:off x="640080" y="4343400"/>
            <a:ext cx="3840480" cy="365760"/>
          </a:xfrm>
          <a:prstGeom prst="rect">
            <a:avLst/>
          </a:prstGeom>
          <a:noFill/>
        </p:spPr>
        <p:txBody>
          <a:bodyPr wrap="square" lIns="0" rIns="0" tIns="0" bIns="0" anchor="ctr">
            <a:noAutofit/>
          </a:bodyPr>
          <a:lstStyle/>
          <a:p>
            <a:pPr algn="l">
              <a:spcAft>
                <a:spcPts val="400"/>
              </a:spcAft>
            </a:pPr>
            <a:r>
              <a:rPr sz="1050" b="0" lang="en-GB">
                <a:solidFill>
                  <a:schemeClr val="tx2"/>
                </a:solidFill>
              </a:rPr>
              <a:t>Attach    Auto (Copilot) ▾      Thinking: Low ▾</a:t>
            </a:r>
          </a:p>
        </p:txBody>
      </p:sp>
      <p:sp>
        <p:nvSpPr>
          <p:cNvPr id="23" name="Pane legend 1"/>
          <p:cNvSpPr/>
          <p:nvPr/>
        </p:nvSpPr>
        <p:spPr>
          <a:xfrm>
            <a:off x="4846320" y="123444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ne legend badge 1"/>
          <p:cNvSpPr/>
          <p:nvPr/>
        </p:nvSpPr>
        <p:spPr>
          <a:xfrm>
            <a:off x="4956048" y="14081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5" name="Pane legend text 1"/>
          <p:cNvSpPr txBox="1"/>
          <p:nvPr/>
        </p:nvSpPr>
        <p:spPr>
          <a:xfrm>
            <a:off x="5376672" y="123444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Open it</a:t>
            </a:r>
          </a:p>
          <a:p>
            <a:pPr algn="l">
              <a:spcAft>
                <a:spcPts val="0"/>
              </a:spcAft>
            </a:pPr>
            <a:r>
              <a:rPr sz="1100" b="0" lang="en-GB">
                <a:solidFill>
                  <a:schemeClr val="tx1"/>
                </a:solidFill>
              </a:rPr>
              <a:t>activity-bar icon or View: Show Posit Assistant</a:t>
            </a:r>
          </a:p>
        </p:txBody>
      </p:sp>
      <p:sp>
        <p:nvSpPr>
          <p:cNvPr id="26" name="Pane legend 2"/>
          <p:cNvSpPr/>
          <p:nvPr/>
        </p:nvSpPr>
        <p:spPr>
          <a:xfrm>
            <a:off x="4846320" y="196596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ane legend badge 2"/>
          <p:cNvSpPr/>
          <p:nvPr/>
        </p:nvSpPr>
        <p:spPr>
          <a:xfrm>
            <a:off x="4956048" y="2139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8" name="Pane legend text 2"/>
          <p:cNvSpPr txBox="1"/>
          <p:nvPr/>
        </p:nvSpPr>
        <p:spPr>
          <a:xfrm>
            <a:off x="5376672" y="196596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Your request</a:t>
            </a:r>
          </a:p>
          <a:p>
            <a:pPr algn="l">
              <a:spcAft>
                <a:spcPts val="0"/>
              </a:spcAft>
            </a:pPr>
            <a:r>
              <a:rPr sz="1100" b="0" lang="en-GB">
                <a:solidFill>
                  <a:schemeClr val="tx1"/>
                </a:solidFill>
              </a:rPr>
              <a:t>plain English; name files, packages, outputs</a:t>
            </a:r>
          </a:p>
        </p:txBody>
      </p:sp>
      <p:sp>
        <p:nvSpPr>
          <p:cNvPr id="29" name="Pane legend 3"/>
          <p:cNvSpPr/>
          <p:nvPr/>
        </p:nvSpPr>
        <p:spPr>
          <a:xfrm>
            <a:off x="4846320" y="269748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ane legend badge 3"/>
          <p:cNvSpPr/>
          <p:nvPr/>
        </p:nvSpPr>
        <p:spPr>
          <a:xfrm>
            <a:off x="4956048" y="2871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31" name="Pane legend text 3"/>
          <p:cNvSpPr txBox="1"/>
          <p:nvPr/>
        </p:nvSpPr>
        <p:spPr>
          <a:xfrm>
            <a:off x="5376672" y="269748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Accept / Decline</a:t>
            </a:r>
          </a:p>
          <a:p>
            <a:pPr algn="l">
              <a:spcAft>
                <a:spcPts val="0"/>
              </a:spcAft>
            </a:pPr>
            <a:r>
              <a:rPr sz="1100" b="0" lang="en-GB">
                <a:solidFill>
                  <a:schemeClr val="tx1"/>
                </a:solidFill>
              </a:rPr>
              <a:t>nothing runs without your OK</a:t>
            </a:r>
          </a:p>
        </p:txBody>
      </p:sp>
      <p:sp>
        <p:nvSpPr>
          <p:cNvPr id="32" name="Pane legend 4"/>
          <p:cNvSpPr/>
          <p:nvPr/>
        </p:nvSpPr>
        <p:spPr>
          <a:xfrm>
            <a:off x="4846320" y="342900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ne legend badge 4"/>
          <p:cNvSpPr/>
          <p:nvPr/>
        </p:nvSpPr>
        <p:spPr>
          <a:xfrm>
            <a:off x="4956048" y="3602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4" name="Pane legend text 4"/>
          <p:cNvSpPr txBox="1"/>
          <p:nvPr/>
        </p:nvSpPr>
        <p:spPr>
          <a:xfrm>
            <a:off x="5376672" y="342900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 and paperclip</a:t>
            </a:r>
          </a:p>
          <a:p>
            <a:pPr algn="l">
              <a:spcAft>
                <a:spcPts val="0"/>
              </a:spcAft>
            </a:pPr>
            <a:r>
              <a:rPr sz="1100" b="0" lang="en-GB">
                <a:solidFill>
                  <a:schemeClr val="tx1"/>
                </a:solidFill>
              </a:rPr>
              <a:t>add files, images or the .qmd you work on</a:t>
            </a:r>
          </a:p>
        </p:txBody>
      </p:sp>
      <p:sp>
        <p:nvSpPr>
          <p:cNvPr id="35" name="Pane legend 5"/>
          <p:cNvSpPr/>
          <p:nvPr/>
        </p:nvSpPr>
        <p:spPr>
          <a:xfrm>
            <a:off x="4846320" y="416052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ane legend badge 5"/>
          <p:cNvSpPr/>
          <p:nvPr/>
        </p:nvSpPr>
        <p:spPr>
          <a:xfrm>
            <a:off x="4956048" y="43342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7" name="Pane legend text 5"/>
          <p:cNvSpPr txBox="1"/>
          <p:nvPr/>
        </p:nvSpPr>
        <p:spPr>
          <a:xfrm>
            <a:off x="5376672" y="416052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Model and thinking</a:t>
            </a:r>
          </a:p>
          <a:p>
            <a:pPr algn="l">
              <a:spcAft>
                <a:spcPts val="0"/>
              </a:spcAft>
            </a:pPr>
            <a:r>
              <a:rPr sz="1100" b="0" lang="en-GB">
                <a:solidFill>
                  <a:schemeClr val="tx1"/>
                </a:solidFill>
              </a:rPr>
              <a:t>Auto with Copilot; more thinking = slower, more careful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Posit Assistant can see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es 1 body"/>
          <p:cNvSpPr/>
          <p:nvPr/>
        </p:nvSpPr>
        <p:spPr>
          <a:xfrm>
            <a:off x="45720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es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es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session</a:t>
            </a:r>
          </a:p>
        </p:txBody>
      </p:sp>
      <p:pic>
        <p:nvPicPr>
          <p:cNvPr id="13" name="Icon Sees 1" descr=""/>
          <p:cNvPicPr>
            <a:picLocks noChangeAspect="1"/>
          </p:cNvPicPr>
          <p:nvPr/>
        </p:nvPicPr>
        <p:blipFill>
          <a:blip r:embed="rId3"/>
          <a:stretch>
            <a:fillRect/>
          </a:stretch>
        </p:blipFill>
        <p:spPr>
          <a:xfrm>
            <a:off x="2670048" y="1284732"/>
            <a:ext cx="310896" cy="310896"/>
          </a:xfrm>
          <a:prstGeom prst="rect">
            <a:avLst/>
          </a:prstGeom>
        </p:spPr>
      </p:pic>
      <p:sp>
        <p:nvSpPr>
          <p:cNvPr id="14" name="Sees 1 text"/>
          <p:cNvSpPr txBox="1"/>
          <p:nvPr/>
        </p:nvSpPr>
        <p:spPr>
          <a:xfrm>
            <a:off x="62179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Python version</a:t>
            </a:r>
          </a:p>
          <a:p>
            <a:pPr algn="l" marL="182880" indent="-182880">
              <a:spcAft>
                <a:spcPts val="600"/>
              </a:spcAft>
              <a:buClr>
                <a:schemeClr val="accent1"/>
              </a:buClr>
              <a:buFont typeface="Arial"/>
              <a:buChar char="▪"/>
            </a:pPr>
            <a:r>
              <a:rPr sz="1300" b="0" lang="en-GB">
                <a:solidFill>
                  <a:schemeClr val="tx1"/>
                </a:solidFill>
              </a:rPr>
              <a:t>Variable names and types</a:t>
            </a:r>
          </a:p>
          <a:p>
            <a:pPr algn="l" marL="182880" indent="-182880">
              <a:spcAft>
                <a:spcPts val="600"/>
              </a:spcAft>
              <a:buClr>
                <a:schemeClr val="accent1"/>
              </a:buClr>
              <a:buFont typeface="Arial"/>
              <a:buChar char="▪"/>
            </a:pPr>
            <a:r>
              <a:rPr sz="1300" b="0" lang="en-GB">
                <a:solidFill>
                  <a:schemeClr val="tx1"/>
                </a:solidFill>
              </a:rPr>
              <a:t>Data-frame columns and shape</a:t>
            </a:r>
          </a:p>
        </p:txBody>
      </p:sp>
      <p:sp>
        <p:nvSpPr>
          <p:cNvPr id="15" name="Sees 2 body"/>
          <p:cNvSpPr/>
          <p:nvPr/>
        </p:nvSpPr>
        <p:spPr>
          <a:xfrm>
            <a:off x="324612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es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es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output</a:t>
            </a:r>
          </a:p>
        </p:txBody>
      </p:sp>
      <p:pic>
        <p:nvPicPr>
          <p:cNvPr id="18" name="Icon Sees 2" descr=""/>
          <p:cNvPicPr>
            <a:picLocks noChangeAspect="1"/>
          </p:cNvPicPr>
          <p:nvPr/>
        </p:nvPicPr>
        <p:blipFill>
          <a:blip r:embed="rId4"/>
          <a:stretch>
            <a:fillRect/>
          </a:stretch>
        </p:blipFill>
        <p:spPr>
          <a:xfrm>
            <a:off x="5458968" y="1284732"/>
            <a:ext cx="310896" cy="310896"/>
          </a:xfrm>
          <a:prstGeom prst="rect">
            <a:avLst/>
          </a:prstGeom>
        </p:spPr>
      </p:pic>
      <p:sp>
        <p:nvSpPr>
          <p:cNvPr id="19" name="Sees 2 text"/>
          <p:cNvSpPr txBox="1"/>
          <p:nvPr/>
        </p:nvSpPr>
        <p:spPr>
          <a:xfrm>
            <a:off x="341071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Plots</a:t>
            </a:r>
          </a:p>
          <a:p>
            <a:pPr algn="l" marL="182880" indent="-182880">
              <a:spcAft>
                <a:spcPts val="600"/>
              </a:spcAft>
              <a:buClr>
                <a:schemeClr val="accent1"/>
              </a:buClr>
              <a:buFont typeface="Arial"/>
              <a:buChar char="▪"/>
            </a:pPr>
            <a:r>
              <a:rPr sz="1300" b="0" lang="en-GB">
                <a:solidFill>
                  <a:schemeClr val="tx1"/>
                </a:solidFill>
              </a:rPr>
              <a:t>Console history</a:t>
            </a:r>
          </a:p>
          <a:p>
            <a:pPr algn="l" marL="182880" indent="-182880">
              <a:spcAft>
                <a:spcPts val="600"/>
              </a:spcAft>
              <a:buClr>
                <a:schemeClr val="accent1"/>
              </a:buClr>
              <a:buFont typeface="Arial"/>
              <a:buChar char="▪"/>
            </a:pPr>
            <a:r>
              <a:rPr sz="1300" b="0" lang="en-GB">
                <a:solidFill>
                  <a:schemeClr val="tx1"/>
                </a:solidFill>
              </a:rPr>
              <a:t>Errors</a:t>
            </a:r>
          </a:p>
        </p:txBody>
      </p:sp>
      <p:sp>
        <p:nvSpPr>
          <p:cNvPr id="20" name="Sees 3 body"/>
          <p:cNvSpPr/>
          <p:nvPr/>
        </p:nvSpPr>
        <p:spPr>
          <a:xfrm>
            <a:off x="603504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es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es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files</a:t>
            </a:r>
          </a:p>
        </p:txBody>
      </p:sp>
      <p:pic>
        <p:nvPicPr>
          <p:cNvPr id="23" name="Icon Sees 3" descr=""/>
          <p:cNvPicPr>
            <a:picLocks noChangeAspect="1"/>
          </p:cNvPicPr>
          <p:nvPr/>
        </p:nvPicPr>
        <p:blipFill>
          <a:blip r:embed="rId5"/>
          <a:stretch>
            <a:fillRect/>
          </a:stretch>
        </p:blipFill>
        <p:spPr>
          <a:xfrm>
            <a:off x="8247888" y="1284732"/>
            <a:ext cx="310896" cy="310896"/>
          </a:xfrm>
          <a:prstGeom prst="rect">
            <a:avLst/>
          </a:prstGeom>
        </p:spPr>
      </p:pic>
      <p:sp>
        <p:nvSpPr>
          <p:cNvPr id="24" name="Sees 3 text"/>
          <p:cNvSpPr txBox="1"/>
          <p:nvPr/>
        </p:nvSpPr>
        <p:spPr>
          <a:xfrm>
            <a:off x="619963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Open files and selection</a:t>
            </a:r>
          </a:p>
          <a:p>
            <a:pPr algn="l" marL="182880" indent="-182880">
              <a:spcAft>
                <a:spcPts val="600"/>
              </a:spcAft>
              <a:buClr>
                <a:schemeClr val="accent1"/>
              </a:buClr>
              <a:buFont typeface="Arial"/>
              <a:buChar char="▪"/>
            </a:pPr>
            <a:r>
              <a:rPr sz="1300" b="0" lang="en-GB">
                <a:solidFill>
                  <a:schemeClr val="tx1"/>
                </a:solidFill>
              </a:rPr>
              <a:t>Project folder structure</a:t>
            </a:r>
          </a:p>
          <a:p>
            <a:pPr algn="l" marL="182880" indent="-182880">
              <a:spcAft>
                <a:spcPts val="600"/>
              </a:spcAft>
              <a:buClr>
                <a:schemeClr val="accent1"/>
              </a:buClr>
              <a:buFont typeface="Arial"/>
              <a:buChar char="▪"/>
            </a:pPr>
            <a:r>
              <a:rPr sz="1300" b="0" lang="en-GB">
                <a:solidFill>
                  <a:schemeClr val="tx1"/>
                </a:solidFill>
              </a:rPr>
              <a:t>Files you attach</a:t>
            </a:r>
          </a:p>
        </p:txBody>
      </p:sp>
      <p:sp>
        <p:nvSpPr>
          <p:cNvPr id="25" name="Sees rows row 1"/>
          <p:cNvSpPr/>
          <p:nvPr/>
        </p:nvSpPr>
        <p:spPr>
          <a:xfrm>
            <a:off x="457200" y="3520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es rows bar 1"/>
          <p:cNvSpPr/>
          <p:nvPr/>
        </p:nvSpPr>
        <p:spPr>
          <a:xfrm>
            <a:off x="457200" y="3520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es rows text 1"/>
          <p:cNvSpPr txBox="1"/>
          <p:nvPr/>
        </p:nvSpPr>
        <p:spPr>
          <a:xfrm>
            <a:off x="658368" y="35204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Tip: </a:t>
            </a:r>
            <a:r>
              <a:rPr sz="1200" b="0" lang="en-GB">
                <a:solidFill>
                  <a:schemeClr val="tx1"/>
                </a:solidFill>
              </a:rPr>
              <a:t>load the data first, then ask; the assistant sees the column names and gets them right</a:t>
            </a:r>
          </a:p>
        </p:txBody>
      </p:sp>
      <p:sp>
        <p:nvSpPr>
          <p:cNvPr id="28" name="Sees rows row 2"/>
          <p:cNvSpPr/>
          <p:nvPr/>
        </p:nvSpPr>
        <p:spPr>
          <a:xfrm>
            <a:off x="457200" y="40416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es rows bar 2"/>
          <p:cNvSpPr/>
          <p:nvPr/>
        </p:nvSpPr>
        <p:spPr>
          <a:xfrm>
            <a:off x="457200" y="40416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ees rows text 2"/>
          <p:cNvSpPr txBox="1"/>
          <p:nvPr/>
        </p:nvSpPr>
        <p:spPr>
          <a:xfrm>
            <a:off x="658368" y="40416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files out: </a:t>
            </a:r>
            <a:r>
              <a:rPr sz="1200" b="0" lang="en-GB">
                <a:solidFill>
                  <a:schemeClr val="tx1"/>
                </a:solidFill>
              </a:rPr>
              <a:t>setting positron.assistant.aiExcludes, e.g. data/personal/**</a:t>
            </a:r>
          </a:p>
        </p:txBody>
      </p:sp>
      <p:sp>
        <p:nvSpPr>
          <p:cNvPr id="31" name="Sees note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Sees note" descr=""/>
          <p:cNvPicPr>
            <a:picLocks noChangeAspect="1"/>
          </p:cNvPicPr>
          <p:nvPr/>
        </p:nvPicPr>
        <p:blipFill>
          <a:blip r:embed="rId6"/>
          <a:stretch>
            <a:fillRect/>
          </a:stretch>
        </p:blipFill>
        <p:spPr>
          <a:xfrm>
            <a:off x="658368" y="4617720"/>
            <a:ext cx="365760" cy="365760"/>
          </a:xfrm>
          <a:prstGeom prst="rect">
            <a:avLst/>
          </a:prstGeom>
        </p:spPr>
      </p:pic>
      <p:sp>
        <p:nvSpPr>
          <p:cNvPr id="33" name="Sees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It sees what you see: </a:t>
            </a:r>
            <a:r>
              <a:rPr sz="1200" b="0" lang="en-GB">
                <a:solidFill>
                  <a:schemeClr val="bg1"/>
                </a:solidFill>
              </a:rPr>
              <a:t>never load personal data you may not share.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erm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749040"/>
                <a:gridCol w="2286000"/>
              </a:tblGrid>
              <a:tr h="370840">
                <a:tc>
                  <a:txBody>
                    <a:bodyPr/>
                    <a:lstStyle/>
                    <a:p>
                      <a:r>
                        <a:rPr sz="1300" lang="en-GB"/>
                        <a:t>Mode</a:t>
                      </a:r>
                    </a:p>
                  </a:txBody>
                  <a:tcPr marT="50000" marB="50000"/>
                </a:tc>
                <a:tc>
                  <a:txBody>
                    <a:bodyPr/>
                    <a:lstStyle/>
                    <a:p>
                      <a:r>
                        <a:rPr sz="1300" lang="en-GB"/>
                        <a:t>What happens</a:t>
                      </a:r>
                    </a:p>
                  </a:txBody>
                  <a:tcPr marT="50000" marB="50000"/>
                </a:tc>
                <a:tc>
                  <a:txBody>
                    <a:bodyPr/>
                    <a:lstStyle/>
                    <a:p>
                      <a:r>
                        <a:rPr sz="1300" lang="en-GB"/>
                        <a:t>For you</a:t>
                      </a:r>
                    </a:p>
                  </a:txBody>
                  <a:tcPr marT="50000" marB="50000"/>
                </a:tc>
              </a:tr>
              <a:tr h="370840">
                <a:tc>
                  <a:txBody>
                    <a:bodyPr/>
                    <a:lstStyle/>
                    <a:p>
                      <a:r>
                        <a:rPr sz="1200" b="1" lang="en-GB"/>
                        <a:t>Normal (default)</a:t>
                      </a:r>
                    </a:p>
                  </a:txBody>
                  <a:tcPr marT="50000" marB="50000"/>
                </a:tc>
                <a:tc>
                  <a:txBody>
                    <a:bodyPr/>
                    <a:lstStyle/>
                    <a:p>
                      <a:r>
                        <a:rPr sz="1200" lang="en-GB"/>
                        <a:t>safe actions run; risky ones ask first</a:t>
                      </a:r>
                    </a:p>
                  </a:txBody>
                  <a:tcPr marT="50000" marB="50000"/>
                </a:tc>
                <a:tc>
                  <a:txBody>
                    <a:bodyPr/>
                    <a:lstStyle/>
                    <a:p>
                      <a:r>
                        <a:rPr sz="1200" lang="en-GB"/>
                        <a:t>use this</a:t>
                      </a:r>
                    </a:p>
                  </a:txBody>
                  <a:tcPr marT="50000" marB="50000"/>
                </a:tc>
              </a:tr>
              <a:tr h="370840">
                <a:tc>
                  <a:txBody>
                    <a:bodyPr/>
                    <a:lstStyle/>
                    <a:p>
                      <a:r>
                        <a:rPr sz="1200" b="1" lang="en-GB"/>
                        <a:t>Restricted</a:t>
                      </a:r>
                    </a:p>
                  </a:txBody>
                  <a:tcPr marT="50000" marB="50000"/>
                </a:tc>
                <a:tc>
                  <a:txBody>
                    <a:bodyPr/>
                    <a:lstStyle/>
                    <a:p>
                      <a:r>
                        <a:rPr sz="1200" lang="en-GB"/>
                        <a:t>every action asks first</a:t>
                      </a:r>
                    </a:p>
                  </a:txBody>
                  <a:tcPr marT="50000" marB="50000"/>
                </a:tc>
                <a:tc>
                  <a:txBody>
                    <a:bodyPr/>
                    <a:lstStyle/>
                    <a:p>
                      <a:r>
                        <a:rPr sz="1200" lang="en-GB"/>
                        <a:t>fine, automatic in untrusted folders</a:t>
                      </a:r>
                    </a:p>
                  </a:txBody>
                  <a:tcPr marT="50000" marB="50000"/>
                </a:tc>
              </a:tr>
              <a:tr h="370840">
                <a:tc>
                  <a:txBody>
                    <a:bodyPr/>
                    <a:lstStyle/>
                    <a:p>
                      <a:r>
                        <a:rPr sz="1200" b="1" lang="en-GB"/>
                        <a:t>Plan (/plan)</a:t>
                      </a:r>
                    </a:p>
                  </a:txBody>
                  <a:tcPr marT="50000" marB="50000"/>
                </a:tc>
                <a:tc>
                  <a:txBody>
                    <a:bodyPr/>
                    <a:lstStyle/>
                    <a:p>
                      <a:r>
                        <a:rPr sz="1200" lang="en-GB"/>
                        <a:t>writes a plan, changes nothing until you approve</a:t>
                      </a:r>
                    </a:p>
                  </a:txBody>
                  <a:tcPr marT="50000" marB="50000"/>
                </a:tc>
                <a:tc>
                  <a:txBody>
                    <a:bodyPr/>
                    <a:lstStyle/>
                    <a:p>
                      <a:r>
                        <a:rPr sz="1200" lang="en-GB"/>
                        <a:t>good for bigger tasks</a:t>
                      </a:r>
                    </a:p>
                  </a:txBody>
                  <a:tcPr marT="50000" marB="50000"/>
                </a:tc>
              </a:tr>
              <a:tr h="370840">
                <a:tc>
                  <a:txBody>
                    <a:bodyPr/>
                    <a:lstStyle/>
                    <a:p>
                      <a:r>
                        <a:rPr sz="1200" b="1" lang="en-GB"/>
                        <a:t>Ask (/ask)</a:t>
                      </a:r>
                    </a:p>
                  </a:txBody>
                  <a:tcPr marT="50000" marB="50000"/>
                </a:tc>
                <a:tc>
                  <a:txBody>
                    <a:bodyPr/>
                    <a:lstStyle/>
                    <a:p>
                      <a:r>
                        <a:rPr sz="1200" lang="en-GB"/>
                        <a:t>answers only, read-only</a:t>
                      </a:r>
                    </a:p>
                  </a:txBody>
                  <a:tcPr marT="50000" marB="50000"/>
                </a:tc>
                <a:tc>
                  <a:txBody>
                    <a:bodyPr/>
                    <a:lstStyle/>
                    <a:p>
                      <a:r>
                        <a:rPr sz="1200" lang="en-GB"/>
                        <a:t>good for questions</a:t>
                      </a:r>
                    </a:p>
                  </a:txBody>
                  <a:tcPr marT="50000" marB="50000"/>
                </a:tc>
              </a:tr>
              <a:tr h="370840">
                <a:tc>
                  <a:txBody>
                    <a:bodyPr/>
                    <a:lstStyle/>
                    <a:p>
                      <a:r>
                        <a:rPr sz="1200" b="1" lang="en-GB"/>
                        <a:t>Auto, YOLO</a:t>
                      </a:r>
                    </a:p>
                  </a:txBody>
                  <a:tcPr marT="50000" marB="50000"/>
                </a:tc>
                <a:tc>
                  <a:txBody>
                    <a:bodyPr/>
                    <a:lstStyle/>
                    <a:p>
                      <a:r>
                        <a:rPr sz="1200" lang="en-GB"/>
                        <a:t>approves actions automatically</a:t>
                      </a:r>
                    </a:p>
                  </a:txBody>
                  <a:tcPr marT="50000" marB="50000"/>
                </a:tc>
                <a:tc>
                  <a:txBody>
                    <a:bodyPr/>
                    <a:lstStyle/>
                    <a:p>
                      <a:r>
                        <a:rPr sz="1200" lang="en-GB"/>
                        <a:t>do not use</a:t>
                      </a:r>
                    </a:p>
                  </a:txBody>
                  <a:tcPr marT="50000" marB="50000"/>
                </a:tc>
              </a:tr>
            </a:tbl>
          </a:graphicData>
        </a:graphic>
      </p:graphicFrame>
      <p:sp>
        <p:nvSpPr>
          <p:cNvPr id="3" name="Title 2"/>
          <p:cNvSpPr>
            <a:spLocks noGrp="1"/>
          </p:cNvSpPr>
          <p:nvPr>
            <p:ph type="title"/>
          </p:nvPr>
        </p:nvSpPr>
        <p:spPr/>
        <p:txBody>
          <a:bodyPr/>
          <a:lstStyle/>
          <a:p>
            <a:r>
              <a:rPr sz="1600" lang="en-GB"/>
              <a:t>It asks before it runs code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erm rule box"/>
          <p:cNvSpPr/>
          <p:nvPr/>
        </p:nvSpPr>
        <p:spPr>
          <a:xfrm>
            <a:off x="457200" y="406908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erm rule" descr=""/>
          <p:cNvPicPr>
            <a:picLocks noChangeAspect="1"/>
          </p:cNvPicPr>
          <p:nvPr/>
        </p:nvPicPr>
        <p:blipFill>
          <a:blip r:embed="rId3"/>
          <a:stretch>
            <a:fillRect/>
          </a:stretch>
        </p:blipFill>
        <p:spPr>
          <a:xfrm>
            <a:off x="658368" y="4274820"/>
            <a:ext cx="365760" cy="365760"/>
          </a:xfrm>
          <a:prstGeom prst="rect">
            <a:avLst/>
          </a:prstGeom>
        </p:spPr>
      </p:pic>
      <p:sp>
        <p:nvSpPr>
          <p:cNvPr id="12" name="Perm rule text"/>
          <p:cNvSpPr txBox="1"/>
          <p:nvPr/>
        </p:nvSpPr>
        <p:spPr>
          <a:xfrm>
            <a:off x="1207008" y="406908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Before you click Accept: </a:t>
            </a:r>
            <a:r>
              <a:rPr sz="1200" b="0" lang="en-GB">
                <a:solidFill>
                  <a:schemeClr val="bg1"/>
                </a:solidFill>
              </a:rPr>
              <a:t>read the code. Does it use polars, the right file and the right columns? If not, Decline and say what to change.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Slash commands, Fix and Explain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lash 1-1"/>
          <p:cNvSpPr/>
          <p:nvPr/>
        </p:nvSpPr>
        <p:spPr>
          <a:xfrm>
            <a:off x="45720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lash text 1-1"/>
          <p:cNvSpPr txBox="1"/>
          <p:nvPr/>
        </p:nvSpPr>
        <p:spPr>
          <a:xfrm>
            <a:off x="548640" y="1234440"/>
            <a:ext cx="97840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Type</a:t>
            </a:r>
          </a:p>
        </p:txBody>
      </p:sp>
      <p:sp>
        <p:nvSpPr>
          <p:cNvPr id="12" name="Slash 1-2"/>
          <p:cNvSpPr/>
          <p:nvPr/>
        </p:nvSpPr>
        <p:spPr>
          <a:xfrm>
            <a:off x="1645920" y="1234440"/>
            <a:ext cx="28072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lash text 1-2"/>
          <p:cNvSpPr txBox="1"/>
          <p:nvPr/>
        </p:nvSpPr>
        <p:spPr>
          <a:xfrm>
            <a:off x="1737360" y="1234440"/>
            <a:ext cx="26243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What it does</a:t>
            </a:r>
          </a:p>
        </p:txBody>
      </p:sp>
      <p:sp>
        <p:nvSpPr>
          <p:cNvPr id="14" name="Slash 2-1"/>
          <p:cNvSpPr/>
          <p:nvPr/>
        </p:nvSpPr>
        <p:spPr>
          <a:xfrm>
            <a:off x="45720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lash text 2-1"/>
          <p:cNvSpPr txBox="1"/>
          <p:nvPr/>
        </p:nvSpPr>
        <p:spPr>
          <a:xfrm>
            <a:off x="548640" y="164592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/new</a:t>
            </a:r>
          </a:p>
        </p:txBody>
      </p:sp>
      <p:sp>
        <p:nvSpPr>
          <p:cNvPr id="16" name="Slash 2-2"/>
          <p:cNvSpPr/>
          <p:nvPr/>
        </p:nvSpPr>
        <p:spPr>
          <a:xfrm>
            <a:off x="1645920" y="164592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lash text 2-2"/>
          <p:cNvSpPr txBox="1"/>
          <p:nvPr/>
        </p:nvSpPr>
        <p:spPr>
          <a:xfrm>
            <a:off x="1737360" y="164592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start a new conversation (new topic)</a:t>
            </a:r>
          </a:p>
        </p:txBody>
      </p:sp>
      <p:sp>
        <p:nvSpPr>
          <p:cNvPr id="18" name="Slash 3-1"/>
          <p:cNvSpPr/>
          <p:nvPr/>
        </p:nvSpPr>
        <p:spPr>
          <a:xfrm>
            <a:off x="45720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lash text 3-1"/>
          <p:cNvSpPr txBox="1"/>
          <p:nvPr/>
        </p:nvSpPr>
        <p:spPr>
          <a:xfrm>
            <a:off x="548640" y="205740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/plan</a:t>
            </a:r>
          </a:p>
        </p:txBody>
      </p:sp>
      <p:sp>
        <p:nvSpPr>
          <p:cNvPr id="20" name="Slash 3-2"/>
          <p:cNvSpPr/>
          <p:nvPr/>
        </p:nvSpPr>
        <p:spPr>
          <a:xfrm>
            <a:off x="1645920" y="205740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lash text 3-2"/>
          <p:cNvSpPr txBox="1"/>
          <p:nvPr/>
        </p:nvSpPr>
        <p:spPr>
          <a:xfrm>
            <a:off x="1737360" y="205740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plan first, code later</a:t>
            </a:r>
          </a:p>
        </p:txBody>
      </p:sp>
      <p:sp>
        <p:nvSpPr>
          <p:cNvPr id="22" name="Slash 4-1"/>
          <p:cNvSpPr/>
          <p:nvPr/>
        </p:nvSpPr>
        <p:spPr>
          <a:xfrm>
            <a:off x="457200" y="246888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lash text 4-1"/>
          <p:cNvSpPr txBox="1"/>
          <p:nvPr/>
        </p:nvSpPr>
        <p:spPr>
          <a:xfrm>
            <a:off x="548640" y="246888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/ask</a:t>
            </a:r>
          </a:p>
        </p:txBody>
      </p:sp>
      <p:sp>
        <p:nvSpPr>
          <p:cNvPr id="24" name="Slash 4-2"/>
          <p:cNvSpPr/>
          <p:nvPr/>
        </p:nvSpPr>
        <p:spPr>
          <a:xfrm>
            <a:off x="1645920" y="246888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lash text 4-2"/>
          <p:cNvSpPr txBox="1"/>
          <p:nvPr/>
        </p:nvSpPr>
        <p:spPr>
          <a:xfrm>
            <a:off x="1737360" y="246888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questions only, no changes</a:t>
            </a:r>
          </a:p>
        </p:txBody>
      </p:sp>
      <p:sp>
        <p:nvSpPr>
          <p:cNvPr id="26" name="Slash 5-1"/>
          <p:cNvSpPr/>
          <p:nvPr/>
        </p:nvSpPr>
        <p:spPr>
          <a:xfrm>
            <a:off x="457200" y="288036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lash text 5-1"/>
          <p:cNvSpPr txBox="1"/>
          <p:nvPr/>
        </p:nvSpPr>
        <p:spPr>
          <a:xfrm>
            <a:off x="548640" y="288036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/report</a:t>
            </a:r>
          </a:p>
        </p:txBody>
      </p:sp>
      <p:sp>
        <p:nvSpPr>
          <p:cNvPr id="28" name="Slash 5-2"/>
          <p:cNvSpPr/>
          <p:nvPr/>
        </p:nvSpPr>
        <p:spPr>
          <a:xfrm>
            <a:off x="1645920" y="288036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lash text 5-2"/>
          <p:cNvSpPr txBox="1"/>
          <p:nvPr/>
        </p:nvSpPr>
        <p:spPr>
          <a:xfrm>
            <a:off x="1737360" y="288036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turn the chat into a Quarto .qmd</a:t>
            </a:r>
          </a:p>
        </p:txBody>
      </p:sp>
      <p:sp>
        <p:nvSpPr>
          <p:cNvPr id="30" name="Slash 6-1"/>
          <p:cNvSpPr/>
          <p:nvPr/>
        </p:nvSpPr>
        <p:spPr>
          <a:xfrm>
            <a:off x="457200" y="329184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lash text 6-1"/>
          <p:cNvSpPr txBox="1"/>
          <p:nvPr/>
        </p:nvSpPr>
        <p:spPr>
          <a:xfrm>
            <a:off x="548640" y="329184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/notebook</a:t>
            </a:r>
          </a:p>
        </p:txBody>
      </p:sp>
      <p:sp>
        <p:nvSpPr>
          <p:cNvPr id="32" name="Slash 6-2"/>
          <p:cNvSpPr/>
          <p:nvPr/>
        </p:nvSpPr>
        <p:spPr>
          <a:xfrm>
            <a:off x="1645920" y="329184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lash text 6-2"/>
          <p:cNvSpPr txBox="1"/>
          <p:nvPr/>
        </p:nvSpPr>
        <p:spPr>
          <a:xfrm>
            <a:off x="1737360" y="329184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export the chat to a notebook</a:t>
            </a:r>
          </a:p>
        </p:txBody>
      </p:sp>
      <p:sp>
        <p:nvSpPr>
          <p:cNvPr id="34" name="FE box"/>
          <p:cNvSpPr/>
          <p:nvPr/>
        </p:nvSpPr>
        <p:spPr>
          <a:xfrm>
            <a:off x="4663440" y="1234440"/>
            <a:ext cx="40233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E err caption bar"/>
          <p:cNvSpPr/>
          <p:nvPr/>
        </p:nvSpPr>
        <p:spPr>
          <a:xfrm>
            <a:off x="4800600" y="137160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FE err caption"/>
          <p:cNvSpPr txBox="1"/>
          <p:nvPr/>
        </p:nvSpPr>
        <p:spPr>
          <a:xfrm>
            <a:off x="4910328" y="137160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Error in the Console</a:t>
            </a:r>
          </a:p>
        </p:txBody>
      </p:sp>
      <p:sp>
        <p:nvSpPr>
          <p:cNvPr id="37" name="FE err box"/>
          <p:cNvSpPr/>
          <p:nvPr/>
        </p:nvSpPr>
        <p:spPr>
          <a:xfrm>
            <a:off x="4800600" y="1645920"/>
            <a:ext cx="374904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E err code"/>
          <p:cNvSpPr txBox="1"/>
          <p:nvPr/>
        </p:nvSpPr>
        <p:spPr>
          <a:xfrm>
            <a:off x="4937760" y="1737360"/>
            <a:ext cx="3474720" cy="4114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ColumnNotFoundError:</a:t>
            </a:r>
          </a:p>
          <a:p>
            <a:pPr algn="l">
              <a:spcAft>
                <a:spcPts val="0"/>
              </a:spcAft>
            </a:pPr>
            <a:r>
              <a:rPr sz="1050" b="0" lang="en-GB">
                <a:solidFill>
                  <a:schemeClr val="bg1"/>
                </a:solidFill>
                <a:latin typeface="Consolas"/>
              </a:rPr>
              <a:t>  unable to find column "Sales"</a:t>
            </a:r>
          </a:p>
        </p:txBody>
      </p:sp>
      <p:sp>
        <p:nvSpPr>
          <p:cNvPr id="39" name="FE btn 1"/>
          <p:cNvSpPr/>
          <p:nvPr/>
        </p:nvSpPr>
        <p:spPr>
          <a:xfrm>
            <a:off x="4800600" y="2377440"/>
            <a:ext cx="1005840" cy="3657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FE btn text 1"/>
          <p:cNvSpPr txBox="1"/>
          <p:nvPr/>
        </p:nvSpPr>
        <p:spPr>
          <a:xfrm>
            <a:off x="4800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Fix</a:t>
            </a:r>
          </a:p>
        </p:txBody>
      </p:sp>
      <p:sp>
        <p:nvSpPr>
          <p:cNvPr id="41" name="FE btn 2"/>
          <p:cNvSpPr/>
          <p:nvPr/>
        </p:nvSpPr>
        <p:spPr>
          <a:xfrm>
            <a:off x="5943600" y="2377440"/>
            <a:ext cx="1005840" cy="36576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FE btn text 2"/>
          <p:cNvSpPr txBox="1"/>
          <p:nvPr/>
        </p:nvSpPr>
        <p:spPr>
          <a:xfrm>
            <a:off x="5943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Explain</a:t>
            </a:r>
          </a:p>
        </p:txBody>
      </p:sp>
      <p:sp>
        <p:nvSpPr>
          <p:cNvPr id="43" name="FE text"/>
          <p:cNvSpPr txBox="1"/>
          <p:nvPr/>
        </p:nvSpPr>
        <p:spPr>
          <a:xfrm>
            <a:off x="4800600" y="2834640"/>
            <a:ext cx="3749040" cy="685800"/>
          </a:xfrm>
          <a:prstGeom prst="rect">
            <a:avLst/>
          </a:prstGeom>
          <a:noFill/>
        </p:spPr>
        <p:txBody>
          <a:bodyPr wrap="square" lIns="0" rIns="0" tIns="0" bIns="0" anchor="t">
            <a:noAutofit/>
          </a:bodyPr>
          <a:lstStyle/>
          <a:p>
            <a:pPr algn="l">
              <a:spcAft>
                <a:spcPts val="400"/>
              </a:spcAft>
            </a:pPr>
            <a:r>
              <a:rPr sz="1200" b="1" lang="en-GB">
                <a:solidFill>
                  <a:schemeClr val="tx2"/>
                </a:solidFill>
              </a:rPr>
              <a:t>Explain first: </a:t>
            </a:r>
            <a:r>
              <a:rPr sz="1200" b="0" lang="en-GB">
                <a:solidFill>
                  <a:schemeClr val="tx1"/>
                </a:solidFill>
              </a:rPr>
              <a:t>understand the error, then fix it yourself or with Fix.</a:t>
            </a:r>
          </a:p>
        </p:txBody>
      </p:sp>
      <p:sp>
        <p:nvSpPr>
          <p:cNvPr id="44" name="FE tip box"/>
          <p:cNvSpPr/>
          <p:nvPr/>
        </p:nvSpPr>
        <p:spPr>
          <a:xfrm>
            <a:off x="457200" y="37947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Icon FE tip" descr=""/>
          <p:cNvPicPr>
            <a:picLocks noChangeAspect="1"/>
          </p:cNvPicPr>
          <p:nvPr/>
        </p:nvPicPr>
        <p:blipFill>
          <a:blip r:embed="rId3"/>
          <a:stretch>
            <a:fillRect/>
          </a:stretch>
        </p:blipFill>
        <p:spPr>
          <a:xfrm>
            <a:off x="658368" y="3954780"/>
            <a:ext cx="365760" cy="365760"/>
          </a:xfrm>
          <a:prstGeom prst="rect">
            <a:avLst/>
          </a:prstGeom>
        </p:spPr>
      </p:pic>
      <p:sp>
        <p:nvSpPr>
          <p:cNvPr id="46" name="FE tip text"/>
          <p:cNvSpPr txBox="1"/>
          <p:nvPr/>
        </p:nvSpPr>
        <p:spPr>
          <a:xfrm>
            <a:off x="1207008" y="37947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tip: </a:t>
            </a:r>
            <a:r>
              <a:rPr sz="1200" b="0" lang="en-GB">
                <a:solidFill>
                  <a:schemeClr val="bg1"/>
                </a:solidFill>
              </a:rPr>
              <a:t>use Explain more than Fix. You will meet the same error in the exam, without the assistant.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Example: the chocolate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mpt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mpt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prompt</a:t>
            </a:r>
          </a:p>
        </p:txBody>
      </p:sp>
      <p:sp>
        <p:nvSpPr>
          <p:cNvPr id="12" name="Prompt box"/>
          <p:cNvSpPr/>
          <p:nvPr/>
        </p:nvSpPr>
        <p:spPr>
          <a:xfrm>
            <a:off x="457200" y="1508760"/>
            <a:ext cx="4937760" cy="1965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mpt code"/>
          <p:cNvSpPr txBox="1"/>
          <p:nvPr/>
        </p:nvSpPr>
        <p:spPr>
          <a:xfrm>
            <a:off x="594360" y="1600200"/>
            <a:ext cx="4663440" cy="17830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Use polars, not pandas, to read</a:t>
            </a:r>
          </a:p>
          <a:p>
            <a:pPr algn="l">
              <a:spcAft>
                <a:spcPts val="0"/>
              </a:spcAft>
            </a:pPr>
            <a:r>
              <a:rPr sz="1150" b="0" lang="en-GB">
                <a:solidFill>
                  <a:schemeClr val="bg1"/>
                </a:solidFill>
                <a:latin typeface="Consolas"/>
              </a:rPr>
              <a:t>data/legacy/chocolate_dataset.csv.</a:t>
            </a:r>
          </a:p>
          <a:p>
            <a:pPr algn="l">
              <a:spcAft>
                <a:spcPts val="0"/>
              </a:spcAft>
            </a:pPr>
            <a:r>
              <a:rPr sz="1150" b="0" lang="en-GB">
                <a:solidFill>
                  <a:schemeClr val="bg1"/>
                </a:solidFill>
                <a:latin typeface="Consolas"/>
              </a:rPr>
              <a:t>Plot sales against price1 with</a:t>
            </a:r>
          </a:p>
          <a:p>
            <a:pPr algn="l">
              <a:spcAft>
                <a:spcPts val="0"/>
              </a:spcAft>
            </a:pPr>
            <a:r>
              <a:rPr sz="1150" b="0" lang="en-GB">
                <a:solidFill>
                  <a:schemeClr val="bg1"/>
                </a:solidFill>
                <a:latin typeface="Consolas"/>
              </a:rPr>
              <a:t>plotnine. Fit sales ~ price1 with the</a:t>
            </a:r>
          </a:p>
          <a:p>
            <a:pPr algn="l">
              <a:spcAft>
                <a:spcPts val="0"/>
              </a:spcAft>
            </a:pPr>
            <a:r>
              <a:rPr sz="1150" b="0" lang="en-GB">
                <a:solidFill>
                  <a:schemeClr val="bg1"/>
                </a:solidFill>
                <a:latin typeface="Consolas"/>
              </a:rPr>
              <a:t>statsmodels formula API. Explain</a:t>
            </a:r>
          </a:p>
          <a:p>
            <a:pPr algn="l">
              <a:spcAft>
                <a:spcPts val="0"/>
              </a:spcAft>
            </a:pPr>
            <a:r>
              <a:rPr sz="1150" b="0" lang="en-GB">
                <a:solidFill>
                  <a:schemeClr val="bg1"/>
                </a:solidFill>
                <a:latin typeface="Consolas"/>
              </a:rPr>
              <a:t>each step in two sentences.</a:t>
            </a:r>
          </a:p>
        </p:txBody>
      </p:sp>
      <p:sp>
        <p:nvSpPr>
          <p:cNvPr id="14" name="Example body"/>
          <p:cNvSpPr/>
          <p:nvPr/>
        </p:nvSpPr>
        <p:spPr>
          <a:xfrm>
            <a:off x="5532120" y="1645920"/>
            <a:ext cx="315468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xample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ample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Then</a:t>
            </a:r>
          </a:p>
        </p:txBody>
      </p:sp>
      <p:pic>
        <p:nvPicPr>
          <p:cNvPr id="17" name="Icon Example" descr=""/>
          <p:cNvPicPr>
            <a:picLocks noChangeAspect="1"/>
          </p:cNvPicPr>
          <p:nvPr/>
        </p:nvPicPr>
        <p:blipFill>
          <a:blip r:embed="rId3"/>
          <a:stretch>
            <a:fillRect/>
          </a:stretch>
        </p:blipFill>
        <p:spPr>
          <a:xfrm>
            <a:off x="8247888" y="1284732"/>
            <a:ext cx="310896" cy="310896"/>
          </a:xfrm>
          <a:prstGeom prst="rect">
            <a:avLst/>
          </a:prstGeom>
        </p:spPr>
      </p:pic>
      <p:sp>
        <p:nvSpPr>
          <p:cNvPr id="18" name="Example text"/>
          <p:cNvSpPr txBox="1"/>
          <p:nvPr/>
        </p:nvSpPr>
        <p:spPr>
          <a:xfrm>
            <a:off x="5696712" y="1783080"/>
            <a:ext cx="2852928" cy="16002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Read </a:t>
            </a:r>
            <a:r>
              <a:rPr sz="1200" b="0" lang="en-GB">
                <a:solidFill>
                  <a:schemeClr val="tx1"/>
                </a:solidFill>
              </a:rPr>
              <a:t>the plan and code</a:t>
            </a:r>
          </a:p>
          <a:p>
            <a:pPr algn="l">
              <a:spcAft>
                <a:spcPts val="900"/>
              </a:spcAft>
            </a:pPr>
            <a:r>
              <a:rPr sz="1200" b="1" lang="en-GB">
                <a:solidFill>
                  <a:schemeClr val="accent1"/>
                </a:solidFill>
              </a:rPr>
              <a:t>2  </a:t>
            </a:r>
            <a:r>
              <a:rPr sz="1200" b="1" lang="en-GB">
                <a:solidFill>
                  <a:schemeClr val="tx2"/>
                </a:solidFill>
              </a:rPr>
              <a:t>Accept </a:t>
            </a:r>
            <a:r>
              <a:rPr sz="1200" b="0" lang="en-GB">
                <a:solidFill>
                  <a:schemeClr val="tx1"/>
                </a:solidFill>
              </a:rPr>
              <a:t>if it fits</a:t>
            </a:r>
          </a:p>
          <a:p>
            <a:pPr algn="l">
              <a:spcAft>
                <a:spcPts val="900"/>
              </a:spcAft>
            </a:pPr>
            <a:r>
              <a:rPr sz="1200" b="1" lang="en-GB">
                <a:solidFill>
                  <a:schemeClr val="accent1"/>
                </a:solidFill>
              </a:rPr>
              <a:t>3  </a:t>
            </a:r>
            <a:r>
              <a:rPr sz="1200" b="1" lang="en-GB">
                <a:solidFill>
                  <a:schemeClr val="tx2"/>
                </a:solidFill>
              </a:rPr>
              <a:t>Check: </a:t>
            </a:r>
            <a:r>
              <a:rPr sz="1200" b="0" lang="en-GB">
                <a:solidFill>
                  <a:schemeClr val="tx1"/>
                </a:solidFill>
              </a:rPr>
              <a:t>slope ≈ −669, R² ≈ 0.88</a:t>
            </a:r>
          </a:p>
          <a:p>
            <a:pPr algn="l">
              <a:spcAft>
                <a:spcPts val="900"/>
              </a:spcAft>
            </a:pPr>
            <a:r>
              <a:rPr sz="1200" b="1" lang="en-GB">
                <a:solidFill>
                  <a:schemeClr val="accent1"/>
                </a:solidFill>
              </a:rPr>
              <a:t>4  </a:t>
            </a:r>
            <a:r>
              <a:rPr sz="1200" b="1" lang="en-GB">
                <a:solidFill>
                  <a:schemeClr val="tx2"/>
                </a:solidFill>
              </a:rPr>
              <a:t>Ask </a:t>
            </a:r>
            <a:r>
              <a:rPr sz="1200" b="0" lang="en-GB">
                <a:solidFill>
                  <a:schemeClr val="tx1"/>
                </a:solidFill>
              </a:rPr>
              <a:t>why, if unsure</a:t>
            </a:r>
          </a:p>
        </p:txBody>
      </p:sp>
      <p:sp>
        <p:nvSpPr>
          <p:cNvPr id="19" name="Example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ample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xample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file </a:t>
            </a:r>
            <a:r>
              <a:rPr sz="1200" b="0" lang="en-GB">
                <a:solidFill>
                  <a:schemeClr val="tx1"/>
                </a:solidFill>
              </a:rPr>
              <a:t>so it reads the right data</a:t>
            </a:r>
          </a:p>
        </p:txBody>
      </p:sp>
      <p:sp>
        <p:nvSpPr>
          <p:cNvPr id="22" name="Example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ample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ample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packages </a:t>
            </a:r>
            <a:r>
              <a:rPr sz="1200" b="0" lang="en-GB">
                <a:solidFill>
                  <a:schemeClr val="tx1"/>
                </a:solidFill>
              </a:rPr>
              <a:t>so the code matches the course: polars, plotnine, statsmodels</a:t>
            </a:r>
          </a:p>
        </p:txBody>
      </p:sp>
      <p:sp>
        <p:nvSpPr>
          <p:cNvPr id="25" name="Example ok box"/>
          <p:cNvSpPr/>
          <p:nvPr/>
        </p:nvSpPr>
        <p:spPr>
          <a:xfrm>
            <a:off x="457200" y="466344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xample ok" descr=""/>
          <p:cNvPicPr>
            <a:picLocks noChangeAspect="1"/>
          </p:cNvPicPr>
          <p:nvPr/>
        </p:nvPicPr>
        <p:blipFill>
          <a:blip r:embed="rId4"/>
          <a:stretch>
            <a:fillRect/>
          </a:stretch>
        </p:blipFill>
        <p:spPr>
          <a:xfrm>
            <a:off x="658368" y="4686300"/>
            <a:ext cx="365760" cy="365760"/>
          </a:xfrm>
          <a:prstGeom prst="rect">
            <a:avLst/>
          </a:prstGeom>
        </p:spPr>
      </p:pic>
      <p:sp>
        <p:nvSpPr>
          <p:cNvPr id="27" name="Example ok text"/>
          <p:cNvSpPr txBox="1"/>
          <p:nvPr/>
        </p:nvSpPr>
        <p:spPr>
          <a:xfrm>
            <a:off x="1207008" y="4663440"/>
            <a:ext cx="7315200"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as on the slides? </a:t>
            </a:r>
            <a:r>
              <a:rPr sz="1200" b="0" lang="en-GB">
                <a:solidFill>
                  <a:schemeClr val="tx1"/>
                </a:solidFill>
              </a:rPr>
              <a:t>then the code is right.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10 of 18 · ghost text, keys, switching it on and off</a:t>
            </a:r>
          </a:p>
        </p:txBody>
      </p:sp>
      <p:sp>
        <p:nvSpPr>
          <p:cNvPr id="3" name="Title 2"/>
          <p:cNvSpPr>
            <a:spLocks noGrp="1"/>
          </p:cNvSpPr>
          <p:nvPr>
            <p:ph type="ctrTitle"/>
          </p:nvPr>
        </p:nvSpPr>
        <p:spPr/>
        <p:txBody>
          <a:bodyPr/>
          <a:lstStyle/>
          <a:p>
            <a:r>
              <a:rPr sz="1600" lang="en-GB"/>
              <a:t>Code completions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Ghost text: accept, take part, or ignore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host box"/>
          <p:cNvSpPr/>
          <p:nvPr/>
        </p:nvSpPr>
        <p:spPr>
          <a:xfrm>
            <a:off x="457200" y="1234440"/>
            <a:ext cx="457200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host code"/>
          <p:cNvSpPr txBox="1"/>
          <p:nvPr/>
        </p:nvSpPr>
        <p:spPr>
          <a:xfrm>
            <a:off x="594360" y="1325880"/>
            <a:ext cx="4297680" cy="1417320"/>
          </a:xfrm>
          <a:prstGeom prst="rect">
            <a:avLst/>
          </a:prstGeom>
          <a:noFill/>
        </p:spPr>
        <p:txBody>
          <a:bodyPr wrap="square" lIns="0" rIns="0" tIns="0" bIns="0" anchor="t">
            <a:noAutofit/>
          </a:bodyPr>
          <a:lstStyle/>
          <a:p>
            <a:pPr algn="l">
              <a:spcAft>
                <a:spcPts val="400"/>
              </a:spcAft>
            </a:pPr>
            <a:r>
              <a:rPr sz="1100" b="0" lang="en-GB">
                <a:solidFill>
                  <a:schemeClr val="bg1"/>
                </a:solidFill>
                <a:latin typeface="Consolas"/>
              </a:rPr>
              <a:t>choc = pl.read_csv(path)</a:t>
            </a:r>
          </a:p>
          <a:p>
            <a:pPr algn="l">
              <a:spcAft>
                <a:spcPts val="400"/>
              </a:spcAft>
            </a:pPr>
            <a:r>
              <a:rPr sz="1100" b="0" lang="en-GB">
                <a:solidFill>
                  <a:schemeClr val="bg1"/>
                </a:solidFill>
                <a:latin typeface="Consolas"/>
              </a:rPr>
              <a:t>model = smf.ols(</a:t>
            </a:r>
            <a:r>
              <a:rPr sz="1100" b="0" lang="en-GB">
                <a:solidFill>
                  <a:srgbClr val="8FA3BF"/>
                </a:solidFill>
                <a:latin typeface="Consolas"/>
              </a:rPr>
              <a:t>"sales ~ price1", data=choc</a:t>
            </a:r>
          </a:p>
          <a:p>
            <a:pPr algn="l">
              <a:spcAft>
                <a:spcPts val="400"/>
              </a:spcAft>
            </a:pPr>
            <a:r>
              <a:rPr sz="1100" b="0" lang="en-GB">
                <a:solidFill>
                  <a:srgbClr val="8FA3BF"/>
                </a:solidFill>
                <a:latin typeface="Consolas"/>
              </a:rPr>
              <a:t>.to_pandas()).fit()</a:t>
            </a:r>
          </a:p>
        </p:txBody>
      </p:sp>
      <p:sp>
        <p:nvSpPr>
          <p:cNvPr id="12" name="Ghost caption"/>
          <p:cNvSpPr txBox="1"/>
          <p:nvPr/>
        </p:nvSpPr>
        <p:spPr>
          <a:xfrm>
            <a:off x="457200" y="2880360"/>
            <a:ext cx="4572000" cy="320040"/>
          </a:xfrm>
          <a:prstGeom prst="rect">
            <a:avLst/>
          </a:prstGeom>
          <a:noFill/>
        </p:spPr>
        <p:txBody>
          <a:bodyPr wrap="square" lIns="0" rIns="0" tIns="0" bIns="0" anchor="t">
            <a:noAutofit/>
          </a:bodyPr>
          <a:lstStyle/>
          <a:p>
            <a:pPr algn="l">
              <a:spcAft>
                <a:spcPts val="400"/>
              </a:spcAft>
            </a:pPr>
            <a:r>
              <a:rPr sz="1100" b="0" lang="en-GB">
                <a:solidFill>
                  <a:srgbClr val="595959"/>
                </a:solidFill>
              </a:rPr>
              <a:t>Grey text = Copilot's suggestion, not yet in your file</a:t>
            </a:r>
          </a:p>
        </p:txBody>
      </p:sp>
      <p:sp>
        <p:nvSpPr>
          <p:cNvPr id="13" name="Keys 1-1"/>
          <p:cNvSpPr/>
          <p:nvPr/>
        </p:nvSpPr>
        <p:spPr>
          <a:xfrm>
            <a:off x="5166360" y="1234440"/>
            <a:ext cx="157276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Keys text 1-1"/>
          <p:cNvSpPr txBox="1"/>
          <p:nvPr/>
        </p:nvSpPr>
        <p:spPr>
          <a:xfrm>
            <a:off x="5257800" y="1234440"/>
            <a:ext cx="138988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Key</a:t>
            </a:r>
          </a:p>
        </p:txBody>
      </p:sp>
      <p:sp>
        <p:nvSpPr>
          <p:cNvPr id="15" name="Keys 1-2"/>
          <p:cNvSpPr/>
          <p:nvPr/>
        </p:nvSpPr>
        <p:spPr>
          <a:xfrm>
            <a:off x="6766560" y="1234440"/>
            <a:ext cx="189280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eys text 1-2"/>
          <p:cNvSpPr txBox="1"/>
          <p:nvPr/>
        </p:nvSpPr>
        <p:spPr>
          <a:xfrm>
            <a:off x="6858000" y="1234440"/>
            <a:ext cx="170992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Effect</a:t>
            </a:r>
          </a:p>
        </p:txBody>
      </p:sp>
      <p:sp>
        <p:nvSpPr>
          <p:cNvPr id="17" name="Keys 2-1"/>
          <p:cNvSpPr/>
          <p:nvPr/>
        </p:nvSpPr>
        <p:spPr>
          <a:xfrm>
            <a:off x="5166360" y="1664208"/>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Keys text 2-1"/>
          <p:cNvSpPr txBox="1"/>
          <p:nvPr/>
        </p:nvSpPr>
        <p:spPr>
          <a:xfrm>
            <a:off x="5257800" y="1664208"/>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Tab</a:t>
            </a:r>
          </a:p>
        </p:txBody>
      </p:sp>
      <p:sp>
        <p:nvSpPr>
          <p:cNvPr id="19" name="Keys 2-2"/>
          <p:cNvSpPr/>
          <p:nvPr/>
        </p:nvSpPr>
        <p:spPr>
          <a:xfrm>
            <a:off x="6766560" y="1664208"/>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Keys text 2-2"/>
          <p:cNvSpPr txBox="1"/>
          <p:nvPr/>
        </p:nvSpPr>
        <p:spPr>
          <a:xfrm>
            <a:off x="6858000" y="1664208"/>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the whole suggestion</a:t>
            </a:r>
          </a:p>
        </p:txBody>
      </p:sp>
      <p:sp>
        <p:nvSpPr>
          <p:cNvPr id="21" name="Keys 3-1"/>
          <p:cNvSpPr/>
          <p:nvPr/>
        </p:nvSpPr>
        <p:spPr>
          <a:xfrm>
            <a:off x="5166360" y="2093976"/>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Keys text 3-1"/>
          <p:cNvSpPr txBox="1"/>
          <p:nvPr/>
        </p:nvSpPr>
        <p:spPr>
          <a:xfrm>
            <a:off x="5257800" y="2093976"/>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Ctrl/Cmd + →</a:t>
            </a:r>
          </a:p>
        </p:txBody>
      </p:sp>
      <p:sp>
        <p:nvSpPr>
          <p:cNvPr id="23" name="Keys 3-2"/>
          <p:cNvSpPr/>
          <p:nvPr/>
        </p:nvSpPr>
        <p:spPr>
          <a:xfrm>
            <a:off x="6766560" y="2093976"/>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Keys text 3-2"/>
          <p:cNvSpPr txBox="1"/>
          <p:nvPr/>
        </p:nvSpPr>
        <p:spPr>
          <a:xfrm>
            <a:off x="6858000" y="2093976"/>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word by word</a:t>
            </a:r>
          </a:p>
        </p:txBody>
      </p:sp>
      <p:sp>
        <p:nvSpPr>
          <p:cNvPr id="25" name="Keys 4-1"/>
          <p:cNvSpPr/>
          <p:nvPr/>
        </p:nvSpPr>
        <p:spPr>
          <a:xfrm>
            <a:off x="5166360" y="2523744"/>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Keys text 4-1"/>
          <p:cNvSpPr txBox="1"/>
          <p:nvPr/>
        </p:nvSpPr>
        <p:spPr>
          <a:xfrm>
            <a:off x="5257800" y="2523744"/>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Esc or keep typing</a:t>
            </a:r>
          </a:p>
        </p:txBody>
      </p:sp>
      <p:sp>
        <p:nvSpPr>
          <p:cNvPr id="27" name="Keys 4-2"/>
          <p:cNvSpPr/>
          <p:nvPr/>
        </p:nvSpPr>
        <p:spPr>
          <a:xfrm>
            <a:off x="6766560" y="2523744"/>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Keys text 4-2"/>
          <p:cNvSpPr txBox="1"/>
          <p:nvPr/>
        </p:nvSpPr>
        <p:spPr>
          <a:xfrm>
            <a:off x="6858000" y="2523744"/>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ignore it</a:t>
            </a:r>
          </a:p>
        </p:txBody>
      </p:sp>
      <p:sp>
        <p:nvSpPr>
          <p:cNvPr id="29" name="Keys 5-1"/>
          <p:cNvSpPr/>
          <p:nvPr/>
        </p:nvSpPr>
        <p:spPr>
          <a:xfrm>
            <a:off x="5166360" y="2953512"/>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Keys text 5-1"/>
          <p:cNvSpPr txBox="1"/>
          <p:nvPr/>
        </p:nvSpPr>
        <p:spPr>
          <a:xfrm>
            <a:off x="5257800" y="2953512"/>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Alt/Option + \</a:t>
            </a:r>
          </a:p>
        </p:txBody>
      </p:sp>
      <p:sp>
        <p:nvSpPr>
          <p:cNvPr id="31" name="Keys 5-2"/>
          <p:cNvSpPr/>
          <p:nvPr/>
        </p:nvSpPr>
        <p:spPr>
          <a:xfrm>
            <a:off x="6766560" y="2953512"/>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Keys text 5-2"/>
          <p:cNvSpPr txBox="1"/>
          <p:nvPr/>
        </p:nvSpPr>
        <p:spPr>
          <a:xfrm>
            <a:off x="6858000" y="2953512"/>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ask for a suggestion</a:t>
            </a:r>
          </a:p>
        </p:txBody>
      </p:sp>
      <p:sp>
        <p:nvSpPr>
          <p:cNvPr id="33" name="Ghost warn box"/>
          <p:cNvSpPr/>
          <p:nvPr/>
        </p:nvSpPr>
        <p:spPr>
          <a:xfrm>
            <a:off x="457200" y="34290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Ghost warn" descr=""/>
          <p:cNvPicPr>
            <a:picLocks noChangeAspect="1"/>
          </p:cNvPicPr>
          <p:nvPr/>
        </p:nvPicPr>
        <p:blipFill>
          <a:blip r:embed="rId3"/>
          <a:stretch>
            <a:fillRect/>
          </a:stretch>
        </p:blipFill>
        <p:spPr>
          <a:xfrm>
            <a:off x="658368" y="3611880"/>
            <a:ext cx="365760" cy="365760"/>
          </a:xfrm>
          <a:prstGeom prst="rect">
            <a:avLst/>
          </a:prstGeom>
        </p:spPr>
      </p:pic>
      <p:sp>
        <p:nvSpPr>
          <p:cNvPr id="35" name="Ghost warn text"/>
          <p:cNvSpPr txBox="1"/>
          <p:nvPr/>
        </p:nvSpPr>
        <p:spPr>
          <a:xfrm>
            <a:off x="1207008" y="34290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Tab is not a reflex: </a:t>
            </a:r>
            <a:r>
              <a:rPr sz="1200" b="0" lang="en-GB">
                <a:solidFill>
                  <a:schemeClr val="bg1"/>
                </a:solidFill>
              </a:rPr>
              <a:t>read the grey text first. It guesses from patterns and can pick the wrong column, file or method.</a:t>
            </a:r>
          </a:p>
        </p:txBody>
      </p:sp>
      <p:sp>
        <p:nvSpPr>
          <p:cNvPr id="36" name="Ghost where row 1"/>
          <p:cNvSpPr/>
          <p:nvPr/>
        </p:nvSpPr>
        <p:spPr>
          <a:xfrm>
            <a:off x="457200" y="42976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Ghost where bar 1"/>
          <p:cNvSpPr/>
          <p:nvPr/>
        </p:nvSpPr>
        <p:spPr>
          <a:xfrm>
            <a:off x="457200" y="42976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Ghost where text 1"/>
          <p:cNvSpPr txBox="1"/>
          <p:nvPr/>
        </p:nvSpPr>
        <p:spPr>
          <a:xfrm>
            <a:off x="658368" y="42976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Where: </a:t>
            </a:r>
            <a:r>
              <a:rPr sz="1200" b="0" lang="en-GB">
                <a:solidFill>
                  <a:schemeClr val="tx1"/>
                </a:solidFill>
              </a:rPr>
              <a:t>.py files and Quarto code cells; not in plain text or Markdown prose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Switch completions on and off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noff body"/>
          <p:cNvSpPr/>
          <p:nvPr/>
        </p:nvSpPr>
        <p:spPr>
          <a:xfrm>
            <a:off x="457200" y="1645920"/>
            <a:ext cx="40233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noff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noff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the status bar</a:t>
            </a:r>
          </a:p>
        </p:txBody>
      </p:sp>
      <p:pic>
        <p:nvPicPr>
          <p:cNvPr id="13" name="Icon Onoff" descr=""/>
          <p:cNvPicPr>
            <a:picLocks noChangeAspect="1"/>
          </p:cNvPicPr>
          <p:nvPr/>
        </p:nvPicPr>
        <p:blipFill>
          <a:blip r:embed="rId3"/>
          <a:stretch>
            <a:fillRect/>
          </a:stretch>
        </p:blipFill>
        <p:spPr>
          <a:xfrm>
            <a:off x="4041648" y="1284732"/>
            <a:ext cx="310896" cy="310896"/>
          </a:xfrm>
          <a:prstGeom prst="rect">
            <a:avLst/>
          </a:prstGeom>
        </p:spPr>
      </p:pic>
      <p:sp>
        <p:nvSpPr>
          <p:cNvPr id="14" name="Onoff text"/>
          <p:cNvSpPr txBox="1"/>
          <p:nvPr/>
        </p:nvSpPr>
        <p:spPr>
          <a:xfrm>
            <a:off x="621792" y="1783080"/>
            <a:ext cx="37216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the Copilot icon at the bottom</a:t>
            </a:r>
          </a:p>
          <a:p>
            <a:pPr algn="l">
              <a:spcAft>
                <a:spcPts val="900"/>
              </a:spcAft>
            </a:pPr>
            <a:r>
              <a:rPr sz="1300" b="1" lang="en-GB">
                <a:solidFill>
                  <a:schemeClr val="accent1"/>
                </a:solidFill>
              </a:rPr>
              <a:t>2  </a:t>
            </a:r>
            <a:r>
              <a:rPr sz="1300" b="1" lang="en-GB">
                <a:solidFill>
                  <a:schemeClr val="tx2"/>
                </a:solidFill>
              </a:rPr>
              <a:t>Choose: </a:t>
            </a:r>
            <a:r>
              <a:rPr sz="1300" b="0" lang="en-GB">
                <a:solidFill>
                  <a:schemeClr val="tx1"/>
                </a:solidFill>
              </a:rPr>
              <a:t>off for this file type, or all files</a:t>
            </a:r>
          </a:p>
          <a:p>
            <a:pPr algn="l">
              <a:spcAft>
                <a:spcPts val="900"/>
              </a:spcAft>
            </a:pPr>
            <a:r>
              <a:rPr sz="1300" b="1" lang="en-GB">
                <a:solidFill>
                  <a:schemeClr val="accent1"/>
                </a:solidFill>
              </a:rPr>
              <a:t>3  </a:t>
            </a:r>
            <a:r>
              <a:rPr sz="1300" b="1" lang="en-GB">
                <a:solidFill>
                  <a:schemeClr val="tx2"/>
                </a:solidFill>
              </a:rPr>
              <a:t>Or: </a:t>
            </a:r>
            <a:r>
              <a:rPr sz="1300" b="0" lang="en-GB">
                <a:solidFill>
                  <a:schemeClr val="tx1"/>
                </a:solidFill>
              </a:rPr>
              <a:t>Snooze Inline Suggestions for a while</a:t>
            </a:r>
          </a:p>
        </p:txBody>
      </p:sp>
      <p:sp>
        <p:nvSpPr>
          <p:cNvPr id="15" name="Onoff json caption bar"/>
          <p:cNvSpPr/>
          <p:nvPr/>
        </p:nvSpPr>
        <p:spPr>
          <a:xfrm>
            <a:off x="4663440" y="12344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noff json caption"/>
          <p:cNvSpPr txBox="1"/>
          <p:nvPr/>
        </p:nvSpPr>
        <p:spPr>
          <a:xfrm>
            <a:off x="4773168" y="12344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settings.json: off for Python only</a:t>
            </a:r>
          </a:p>
        </p:txBody>
      </p:sp>
      <p:sp>
        <p:nvSpPr>
          <p:cNvPr id="17" name="Onoff json box"/>
          <p:cNvSpPr/>
          <p:nvPr/>
        </p:nvSpPr>
        <p:spPr>
          <a:xfrm>
            <a:off x="4663440" y="1508760"/>
            <a:ext cx="4023360" cy="2103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noff json code"/>
          <p:cNvSpPr txBox="1"/>
          <p:nvPr/>
        </p:nvSpPr>
        <p:spPr>
          <a:xfrm>
            <a:off x="4800600" y="1600200"/>
            <a:ext cx="3749040" cy="19202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"github.copilot.enable": {</a:t>
            </a:r>
          </a:p>
          <a:p>
            <a:pPr algn="l">
              <a:spcAft>
                <a:spcPts val="0"/>
              </a:spcAft>
            </a:pPr>
            <a:r>
              <a:rPr sz="1100" b="0" lang="en-GB">
                <a:solidFill>
                  <a:schemeClr val="bg1"/>
                </a:solidFill>
                <a:latin typeface="Consolas"/>
              </a:rPr>
              <a:t>  "*": true,</a:t>
            </a:r>
          </a:p>
          <a:p>
            <a:pPr algn="l">
              <a:spcAft>
                <a:spcPts val="0"/>
              </a:spcAft>
            </a:pPr>
            <a:r>
              <a:rPr sz="1100" b="0" lang="en-GB">
                <a:solidFill>
                  <a:schemeClr val="bg1"/>
                </a:solidFill>
                <a:latin typeface="Consolas"/>
              </a:rPr>
              <a:t>  "python": false,</a:t>
            </a:r>
          </a:p>
          <a:p>
            <a:pPr algn="l">
              <a:spcAft>
                <a:spcPts val="0"/>
              </a:spcAft>
            </a:pPr>
            <a:r>
              <a:rPr sz="1100" b="0" lang="en-GB">
                <a:solidFill>
                  <a:schemeClr val="bg1"/>
                </a:solidFill>
                <a:latin typeface="Consolas"/>
              </a:rPr>
              <a:t>  "markdown": false</a:t>
            </a:r>
          </a:p>
          <a:p>
            <a:pPr algn="l">
              <a:spcAft>
                <a:spcPts val="0"/>
              </a:spcAft>
            </a:pPr>
            <a:r>
              <a:rPr sz="1100" b="0" lang="en-GB">
                <a:solidFill>
                  <a:schemeClr val="bg1"/>
                </a:solidFill>
                <a:latin typeface="Consolas"/>
              </a:rPr>
              <a:t>}</a:t>
            </a:r>
          </a:p>
        </p:txBody>
      </p:sp>
      <p:sp>
        <p:nvSpPr>
          <p:cNvPr id="19" name="Onoff tip box"/>
          <p:cNvSpPr/>
          <p:nvPr/>
        </p:nvSpPr>
        <p:spPr>
          <a:xfrm>
            <a:off x="457200" y="374904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noff tip" descr=""/>
          <p:cNvPicPr>
            <a:picLocks noChangeAspect="1"/>
          </p:cNvPicPr>
          <p:nvPr/>
        </p:nvPicPr>
        <p:blipFill>
          <a:blip r:embed="rId4"/>
          <a:stretch>
            <a:fillRect/>
          </a:stretch>
        </p:blipFill>
        <p:spPr>
          <a:xfrm>
            <a:off x="658368" y="3931920"/>
            <a:ext cx="365760" cy="365760"/>
          </a:xfrm>
          <a:prstGeom prst="rect">
            <a:avLst/>
          </a:prstGeom>
        </p:spPr>
      </p:pic>
      <p:sp>
        <p:nvSpPr>
          <p:cNvPr id="21" name="Onoff tip text"/>
          <p:cNvSpPr txBox="1"/>
          <p:nvPr/>
        </p:nvSpPr>
        <p:spPr>
          <a:xfrm>
            <a:off x="1207008" y="374904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a new method? </a:t>
            </a:r>
            <a:r>
              <a:rPr sz="1200" b="0" lang="en-GB">
                <a:solidFill>
                  <a:schemeClr val="bg1"/>
                </a:solidFill>
              </a:rPr>
              <a:t>turn completions off while you practise; switch them on when you work on the case study.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11 of 18 · good prompts, checking results, data protection and course rules</a:t>
            </a:r>
          </a:p>
        </p:txBody>
      </p:sp>
      <p:sp>
        <p:nvSpPr>
          <p:cNvPr id="3" name="Title 2"/>
          <p:cNvSpPr>
            <a:spLocks noGrp="1"/>
          </p:cNvSpPr>
          <p:nvPr>
            <p:ph type="ctrTitle"/>
          </p:nvPr>
        </p:nvSpPr>
        <p:spPr/>
        <p:txBody>
          <a:bodyPr/>
          <a:lstStyle/>
          <a:p>
            <a:r>
              <a:rPr sz="1600" lang="en-GB"/>
              <a:t>Use it well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Prompts that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ak card body"/>
          <p:cNvSpPr/>
          <p:nvPr/>
        </p:nvSpPr>
        <p:spPr>
          <a:xfrm>
            <a:off x="45720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eak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ak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Weak</a:t>
            </a:r>
          </a:p>
        </p:txBody>
      </p:sp>
      <p:pic>
        <p:nvPicPr>
          <p:cNvPr id="13" name="Icon Weak card" descr=""/>
          <p:cNvPicPr>
            <a:picLocks noChangeAspect="1"/>
          </p:cNvPicPr>
          <p:nvPr/>
        </p:nvPicPr>
        <p:blipFill>
          <a:blip r:embed="rId3"/>
          <a:stretch>
            <a:fillRect/>
          </a:stretch>
        </p:blipFill>
        <p:spPr>
          <a:xfrm>
            <a:off x="4064508" y="1284732"/>
            <a:ext cx="310896" cy="310896"/>
          </a:xfrm>
          <a:prstGeom prst="rect">
            <a:avLst/>
          </a:prstGeom>
        </p:spPr>
      </p:pic>
      <p:sp>
        <p:nvSpPr>
          <p:cNvPr id="14" name="Weak card text"/>
          <p:cNvSpPr txBox="1"/>
          <p:nvPr/>
        </p:nvSpPr>
        <p:spPr>
          <a:xfrm>
            <a:off x="62179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“Analyse my data.”</a:t>
            </a:r>
          </a:p>
          <a:p>
            <a:pPr algn="l" marL="182880" indent="-182880">
              <a:spcAft>
                <a:spcPts val="600"/>
              </a:spcAft>
              <a:buClr>
                <a:schemeClr val="accent1"/>
              </a:buClr>
              <a:buFont typeface="Arial"/>
              <a:buChar char="▪"/>
            </a:pPr>
            <a:r>
              <a:rPr sz="1300" b="0" lang="en-GB">
                <a:solidFill>
                  <a:schemeClr val="tx1"/>
                </a:solidFill>
              </a:rPr>
              <a:t>“Make a chart.”</a:t>
            </a:r>
          </a:p>
        </p:txBody>
      </p:sp>
      <p:sp>
        <p:nvSpPr>
          <p:cNvPr id="15" name="Strong card body"/>
          <p:cNvSpPr/>
          <p:nvPr/>
        </p:nvSpPr>
        <p:spPr>
          <a:xfrm>
            <a:off x="464058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rong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rong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Strong</a:t>
            </a:r>
          </a:p>
        </p:txBody>
      </p:sp>
      <p:pic>
        <p:nvPicPr>
          <p:cNvPr id="18" name="Icon Strong card" descr=""/>
          <p:cNvPicPr>
            <a:picLocks noChangeAspect="1"/>
          </p:cNvPicPr>
          <p:nvPr/>
        </p:nvPicPr>
        <p:blipFill>
          <a:blip r:embed="rId4"/>
          <a:stretch>
            <a:fillRect/>
          </a:stretch>
        </p:blipFill>
        <p:spPr>
          <a:xfrm>
            <a:off x="8247888" y="1284732"/>
            <a:ext cx="310896" cy="310896"/>
          </a:xfrm>
          <a:prstGeom prst="rect">
            <a:avLst/>
          </a:prstGeom>
        </p:spPr>
      </p:pic>
      <p:sp>
        <p:nvSpPr>
          <p:cNvPr id="19" name="Strong card text"/>
          <p:cNvSpPr txBox="1"/>
          <p:nvPr/>
        </p:nvSpPr>
        <p:spPr>
          <a:xfrm>
            <a:off x="480517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polars to read data/case/orders.csv and plot weekly orders by country with plotnine.”</a:t>
            </a:r>
          </a:p>
        </p:txBody>
      </p:sp>
      <p:sp>
        <p:nvSpPr>
          <p:cNvPr id="20" name="Prompt tips row 1"/>
          <p:cNvSpPr/>
          <p:nvPr/>
        </p:nvSpPr>
        <p:spPr>
          <a:xfrm>
            <a:off x="457200" y="288036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ompt tips number 1"/>
          <p:cNvSpPr/>
          <p:nvPr/>
        </p:nvSpPr>
        <p:spPr>
          <a:xfrm>
            <a:off x="594360" y="29535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2" name="Prompt tips text 1"/>
          <p:cNvSpPr txBox="1"/>
          <p:nvPr/>
        </p:nvSpPr>
        <p:spPr>
          <a:xfrm>
            <a:off x="1051560" y="288036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 the file, the packages and the output </a:t>
            </a:r>
            <a:r>
              <a:rPr sz="1200" b="0" lang="en-GB">
                <a:solidFill>
                  <a:schemeClr val="tx1"/>
                </a:solidFill>
              </a:rPr>
              <a:t>you want</a:t>
            </a:r>
          </a:p>
        </p:txBody>
      </p:sp>
      <p:sp>
        <p:nvSpPr>
          <p:cNvPr id="23" name="Prompt tips row 2"/>
          <p:cNvSpPr/>
          <p:nvPr/>
        </p:nvSpPr>
        <p:spPr>
          <a:xfrm>
            <a:off x="457200" y="340156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tips number 2"/>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5" name="Prompt tips text 2"/>
          <p:cNvSpPr txBox="1"/>
          <p:nvPr/>
        </p:nvSpPr>
        <p:spPr>
          <a:xfrm>
            <a:off x="1051560" y="340156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Say polars </a:t>
            </a:r>
            <a:r>
              <a:rPr sz="1200" b="0" lang="en-GB">
                <a:solidFill>
                  <a:schemeClr val="tx1"/>
                </a:solidFill>
              </a:rPr>
              <a:t>explicitly: the assistant often defaults to pandas</a:t>
            </a:r>
          </a:p>
        </p:txBody>
      </p:sp>
      <p:sp>
        <p:nvSpPr>
          <p:cNvPr id="26" name="Prompt tips row 3"/>
          <p:cNvSpPr/>
          <p:nvPr/>
        </p:nvSpPr>
        <p:spPr>
          <a:xfrm>
            <a:off x="457200" y="392277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rompt tips number 3"/>
          <p:cNvSpPr/>
          <p:nvPr/>
        </p:nvSpPr>
        <p:spPr>
          <a:xfrm>
            <a:off x="594360" y="39959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8" name="Prompt tips text 3"/>
          <p:cNvSpPr txBox="1"/>
          <p:nvPr/>
        </p:nvSpPr>
        <p:spPr>
          <a:xfrm>
            <a:off x="1051560" y="392277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 it to explain </a:t>
            </a:r>
            <a:r>
              <a:rPr sz="1200" b="0" lang="en-GB">
                <a:solidFill>
                  <a:schemeClr val="tx1"/>
                </a:solidFill>
              </a:rPr>
              <a:t>each step, or the assumptions of a model</a:t>
            </a:r>
          </a:p>
        </p:txBody>
      </p:sp>
      <p:sp>
        <p:nvSpPr>
          <p:cNvPr id="29" name="Prompt tips row 4"/>
          <p:cNvSpPr/>
          <p:nvPr/>
        </p:nvSpPr>
        <p:spPr>
          <a:xfrm>
            <a:off x="457200" y="444398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rompt tips number 4"/>
          <p:cNvSpPr/>
          <p:nvPr/>
        </p:nvSpPr>
        <p:spPr>
          <a:xfrm>
            <a:off x="594360" y="4517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1" name="Prompt tips text 4"/>
          <p:cNvSpPr txBox="1"/>
          <p:nvPr/>
        </p:nvSpPr>
        <p:spPr>
          <a:xfrm>
            <a:off x="1051560" y="444398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One topic per chat: </a:t>
            </a:r>
            <a:r>
              <a:rPr sz="1200" b="0" lang="en-GB">
                <a:solidFill>
                  <a:schemeClr val="tx1"/>
                </a:solidFill>
              </a:rPr>
              <a:t>/new for the next 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everything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k 1 body"/>
          <p:cNvSpPr/>
          <p:nvPr/>
        </p:nvSpPr>
        <p:spPr>
          <a:xfrm>
            <a:off x="45720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k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k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it</a:t>
            </a:r>
          </a:p>
        </p:txBody>
      </p:sp>
      <p:pic>
        <p:nvPicPr>
          <p:cNvPr id="13" name="Icon Chk 1" descr=""/>
          <p:cNvPicPr>
            <a:picLocks noChangeAspect="1"/>
          </p:cNvPicPr>
          <p:nvPr/>
        </p:nvPicPr>
        <p:blipFill>
          <a:blip r:embed="rId3"/>
          <a:stretch>
            <a:fillRect/>
          </a:stretch>
        </p:blipFill>
        <p:spPr>
          <a:xfrm>
            <a:off x="2670048" y="1284732"/>
            <a:ext cx="310896" cy="310896"/>
          </a:xfrm>
          <a:prstGeom prst="rect">
            <a:avLst/>
          </a:prstGeom>
        </p:spPr>
      </p:pic>
      <p:sp>
        <p:nvSpPr>
          <p:cNvPr id="14" name="Chk 1 text"/>
          <p:cNvSpPr txBox="1"/>
          <p:nvPr/>
        </p:nvSpPr>
        <p:spPr>
          <a:xfrm>
            <a:off x="62179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Run the code yourself</a:t>
            </a:r>
          </a:p>
          <a:p>
            <a:pPr algn="l" marL="182880" indent="-182880">
              <a:spcAft>
                <a:spcPts val="600"/>
              </a:spcAft>
              <a:buClr>
                <a:schemeClr val="accent1"/>
              </a:buClr>
              <a:buFont typeface="Arial"/>
              <a:buChar char="▪"/>
            </a:pPr>
            <a:r>
              <a:rPr sz="1300" b="0" lang="en-GB">
                <a:solidFill>
                  <a:schemeClr val="tx1"/>
                </a:solidFill>
              </a:rPr>
              <a:t>Does it render from top to bottom?</a:t>
            </a:r>
          </a:p>
        </p:txBody>
      </p:sp>
      <p:sp>
        <p:nvSpPr>
          <p:cNvPr id="15" name="Chk 2 body"/>
          <p:cNvSpPr/>
          <p:nvPr/>
        </p:nvSpPr>
        <p:spPr>
          <a:xfrm>
            <a:off x="324612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hk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k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Compare</a:t>
            </a:r>
          </a:p>
        </p:txBody>
      </p:sp>
      <p:pic>
        <p:nvPicPr>
          <p:cNvPr id="18" name="Icon Chk 2" descr=""/>
          <p:cNvPicPr>
            <a:picLocks noChangeAspect="1"/>
          </p:cNvPicPr>
          <p:nvPr/>
        </p:nvPicPr>
        <p:blipFill>
          <a:blip r:embed="rId4"/>
          <a:stretch>
            <a:fillRect/>
          </a:stretch>
        </p:blipFill>
        <p:spPr>
          <a:xfrm>
            <a:off x="5458968" y="1284732"/>
            <a:ext cx="310896" cy="310896"/>
          </a:xfrm>
          <a:prstGeom prst="rect">
            <a:avLst/>
          </a:prstGeom>
        </p:spPr>
      </p:pic>
      <p:sp>
        <p:nvSpPr>
          <p:cNvPr id="19" name="Chk 2 text"/>
          <p:cNvSpPr txBox="1"/>
          <p:nvPr/>
        </p:nvSpPr>
        <p:spPr>
          <a:xfrm>
            <a:off x="341071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Numbers against the output</a:t>
            </a:r>
          </a:p>
          <a:p>
            <a:pPr algn="l" marL="182880" indent="-182880">
              <a:spcAft>
                <a:spcPts val="600"/>
              </a:spcAft>
              <a:buClr>
                <a:schemeClr val="accent1"/>
              </a:buClr>
              <a:buFont typeface="Arial"/>
              <a:buChar char="▪"/>
            </a:pPr>
            <a:r>
              <a:rPr sz="1300" b="0" lang="en-GB">
                <a:solidFill>
                  <a:schemeClr val="tx1"/>
                </a:solidFill>
              </a:rPr>
              <a:t>Columns against the data</a:t>
            </a:r>
          </a:p>
        </p:txBody>
      </p:sp>
      <p:sp>
        <p:nvSpPr>
          <p:cNvPr id="20" name="Chk 3 body"/>
          <p:cNvSpPr/>
          <p:nvPr/>
        </p:nvSpPr>
        <p:spPr>
          <a:xfrm>
            <a:off x="603504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k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hk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Understand</a:t>
            </a:r>
          </a:p>
        </p:txBody>
      </p:sp>
      <p:pic>
        <p:nvPicPr>
          <p:cNvPr id="23" name="Icon Chk 3" descr=""/>
          <p:cNvPicPr>
            <a:picLocks noChangeAspect="1"/>
          </p:cNvPicPr>
          <p:nvPr/>
        </p:nvPicPr>
        <p:blipFill>
          <a:blip r:embed="rId5"/>
          <a:stretch>
            <a:fillRect/>
          </a:stretch>
        </p:blipFill>
        <p:spPr>
          <a:xfrm>
            <a:off x="8247888" y="1284732"/>
            <a:ext cx="310896" cy="310896"/>
          </a:xfrm>
          <a:prstGeom prst="rect">
            <a:avLst/>
          </a:prstGeom>
        </p:spPr>
      </p:pic>
      <p:sp>
        <p:nvSpPr>
          <p:cNvPr id="24" name="Chk 3 text"/>
          <p:cNvSpPr txBox="1"/>
          <p:nvPr/>
        </p:nvSpPr>
        <p:spPr>
          <a:xfrm>
            <a:off x="619963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Can you explain each line?</a:t>
            </a:r>
          </a:p>
          <a:p>
            <a:pPr algn="l" marL="182880" indent="-182880">
              <a:spcAft>
                <a:spcPts val="600"/>
              </a:spcAft>
              <a:buClr>
                <a:schemeClr val="accent1"/>
              </a:buClr>
              <a:buFont typeface="Arial"/>
              <a:buChar char="▪"/>
            </a:pPr>
            <a:r>
              <a:rPr sz="1300" b="0" lang="en-GB">
                <a:solidFill>
                  <a:schemeClr val="tx1"/>
                </a:solidFill>
              </a:rPr>
              <a:t>Is it the method we learned?</a:t>
            </a:r>
          </a:p>
        </p:txBody>
      </p:sp>
      <p:sp>
        <p:nvSpPr>
          <p:cNvPr id="25" name="Chk rows row 1"/>
          <p:cNvSpPr/>
          <p:nvPr/>
        </p:nvSpPr>
        <p:spPr>
          <a:xfrm>
            <a:off x="457200" y="3383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k rows bar 1"/>
          <p:cNvSpPr/>
          <p:nvPr/>
        </p:nvSpPr>
        <p:spPr>
          <a:xfrm>
            <a:off x="457200" y="33832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k rows text 1"/>
          <p:cNvSpPr txBox="1"/>
          <p:nvPr/>
        </p:nvSpPr>
        <p:spPr>
          <a:xfrm>
            <a:off x="658368" y="33832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Typical slips: </a:t>
            </a:r>
            <a:r>
              <a:rPr sz="1200" b="0" lang="en-GB">
                <a:solidFill>
                  <a:schemeClr val="tx1"/>
                </a:solidFill>
              </a:rPr>
              <a:t>pandas instead of polars, a wrong column, the wrong test, invented numbers</a:t>
            </a:r>
          </a:p>
        </p:txBody>
      </p:sp>
      <p:sp>
        <p:nvSpPr>
          <p:cNvPr id="28" name="Chk rows row 2"/>
          <p:cNvSpPr/>
          <p:nvPr/>
        </p:nvSpPr>
        <p:spPr>
          <a:xfrm>
            <a:off x="457200" y="39044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hk rows bar 2"/>
          <p:cNvSpPr/>
          <p:nvPr/>
        </p:nvSpPr>
        <p:spPr>
          <a:xfrm>
            <a:off x="457200" y="39044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hk rows text 2"/>
          <p:cNvSpPr txBox="1"/>
          <p:nvPr/>
        </p:nvSpPr>
        <p:spPr>
          <a:xfrm>
            <a:off x="658368" y="39044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Numbers in text: </a:t>
            </a:r>
            <a:r>
              <a:rPr sz="1200" b="0" lang="en-GB">
                <a:solidFill>
                  <a:schemeClr val="tx1"/>
                </a:solidFill>
              </a:rPr>
              <a:t>always from inline code, never typed from the chat</a:t>
            </a:r>
          </a:p>
        </p:txBody>
      </p:sp>
      <p:sp>
        <p:nvSpPr>
          <p:cNvPr id="31" name="Chk own box"/>
          <p:cNvSpPr/>
          <p:nvPr/>
        </p:nvSpPr>
        <p:spPr>
          <a:xfrm>
            <a:off x="457200" y="44805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hk own" descr=""/>
          <p:cNvPicPr>
            <a:picLocks noChangeAspect="1"/>
          </p:cNvPicPr>
          <p:nvPr/>
        </p:nvPicPr>
        <p:blipFill>
          <a:blip r:embed="rId6"/>
          <a:stretch>
            <a:fillRect/>
          </a:stretch>
        </p:blipFill>
        <p:spPr>
          <a:xfrm>
            <a:off x="658368" y="4572000"/>
            <a:ext cx="365760" cy="365760"/>
          </a:xfrm>
          <a:prstGeom prst="rect">
            <a:avLst/>
          </a:prstGeom>
        </p:spPr>
      </p:pic>
      <p:sp>
        <p:nvSpPr>
          <p:cNvPr id="33" name="Chk own text"/>
          <p:cNvSpPr txBox="1"/>
          <p:nvPr/>
        </p:nvSpPr>
        <p:spPr>
          <a:xfrm>
            <a:off x="1207008" y="44805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You own every number: </a:t>
            </a:r>
            <a:r>
              <a:rPr sz="1200" b="0" lang="en-GB">
                <a:solidFill>
                  <a:schemeClr val="bg1"/>
                </a:solidFill>
              </a:rPr>
              <a:t>the assistant cannot be blamed in a report or an exam.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Data protection and course rules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ever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ever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Never in a prompt</a:t>
            </a:r>
          </a:p>
        </p:txBody>
      </p:sp>
      <p:pic>
        <p:nvPicPr>
          <p:cNvPr id="13" name="Icon Never card" descr=""/>
          <p:cNvPicPr>
            <a:picLocks noChangeAspect="1"/>
          </p:cNvPicPr>
          <p:nvPr/>
        </p:nvPicPr>
        <p:blipFill>
          <a:blip r:embed="rId3"/>
          <a:stretch>
            <a:fillRect/>
          </a:stretch>
        </p:blipFill>
        <p:spPr>
          <a:xfrm>
            <a:off x="4064508" y="1284732"/>
            <a:ext cx="310896" cy="310896"/>
          </a:xfrm>
          <a:prstGeom prst="rect">
            <a:avLst/>
          </a:prstGeom>
        </p:spPr>
      </p:pic>
      <p:sp>
        <p:nvSpPr>
          <p:cNvPr id="14" name="Never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Names, e-mails, student or customer IDs</a:t>
            </a:r>
          </a:p>
          <a:p>
            <a:pPr algn="l" marL="182880" indent="-182880">
              <a:spcAft>
                <a:spcPts val="600"/>
              </a:spcAft>
              <a:buClr>
                <a:schemeClr val="accent1"/>
              </a:buClr>
              <a:buFont typeface="Arial"/>
              <a:buChar char="▪"/>
            </a:pPr>
            <a:r>
              <a:rPr sz="1300" b="0" lang="en-GB">
                <a:solidFill>
                  <a:schemeClr val="tx1"/>
                </a:solidFill>
              </a:rPr>
              <a:t>Passwords, API keys</a:t>
            </a:r>
          </a:p>
          <a:p>
            <a:pPr algn="l" marL="182880" indent="-182880">
              <a:spcAft>
                <a:spcPts val="600"/>
              </a:spcAft>
              <a:buClr>
                <a:schemeClr val="accent1"/>
              </a:buClr>
              <a:buFont typeface="Arial"/>
              <a:buChar char="▪"/>
            </a:pPr>
            <a:r>
              <a:rPr sz="1300" b="0" lang="en-GB">
                <a:solidFill>
                  <a:schemeClr val="tx1"/>
                </a:solidFill>
              </a:rPr>
              <a:t>Confidential or licensed data</a:t>
            </a:r>
          </a:p>
          <a:p>
            <a:pPr algn="l" marL="182880" indent="-182880">
              <a:spcAft>
                <a:spcPts val="600"/>
              </a:spcAft>
              <a:buClr>
                <a:schemeClr val="accent1"/>
              </a:buClr>
              <a:buFont typeface="Arial"/>
              <a:buChar char="▪"/>
            </a:pPr>
            <a:r>
              <a:rPr sz="1300" b="0" lang="en-GB">
                <a:solidFill>
                  <a:schemeClr val="tx1"/>
                </a:solidFill>
              </a:rPr>
              <a:t>Other students' work</a:t>
            </a:r>
          </a:p>
        </p:txBody>
      </p:sp>
      <p:sp>
        <p:nvSpPr>
          <p:cNvPr id="15" name="Rules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18" name="Icon Rules card" descr=""/>
          <p:cNvPicPr>
            <a:picLocks noChangeAspect="1"/>
          </p:cNvPicPr>
          <p:nvPr/>
        </p:nvPicPr>
        <p:blipFill>
          <a:blip r:embed="rId4"/>
          <a:stretch>
            <a:fillRect/>
          </a:stretch>
        </p:blipFill>
        <p:spPr>
          <a:xfrm>
            <a:off x="8247888" y="1284732"/>
            <a:ext cx="310896" cy="310896"/>
          </a:xfrm>
          <a:prstGeom prst="rect">
            <a:avLst/>
          </a:prstGeom>
        </p:spPr>
      </p:pic>
      <p:sp>
        <p:nvSpPr>
          <p:cNvPr id="19" name="Rules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 use is allowed and encouraged</a:t>
            </a:r>
          </a:p>
          <a:p>
            <a:pPr algn="l" marL="182880" indent="-182880">
              <a:spcAft>
                <a:spcPts val="600"/>
              </a:spcAft>
              <a:buClr>
                <a:schemeClr val="accent1"/>
              </a:buClr>
              <a:buFont typeface="Arial"/>
              <a:buChar char="▪"/>
            </a:pPr>
            <a:r>
              <a:rPr sz="1300" b="0" lang="en-GB">
                <a:solidFill>
                  <a:schemeClr val="tx1"/>
                </a:solidFill>
              </a:rPr>
              <a:t>Prompt log: exercises and case study appendix</a:t>
            </a:r>
          </a:p>
          <a:p>
            <a:pPr algn="l" marL="182880" indent="-182880">
              <a:spcAft>
                <a:spcPts val="600"/>
              </a:spcAft>
              <a:buClr>
                <a:schemeClr val="accent1"/>
              </a:buClr>
              <a:buFont typeface="Arial"/>
              <a:buChar char="▪"/>
            </a:pPr>
            <a:r>
              <a:rPr sz="1300" b="0" lang="en-GB">
                <a:solidFill>
                  <a:schemeClr val="tx1"/>
                </a:solidFill>
              </a:rPr>
              <a:t>You verify and own every result</a:t>
            </a:r>
          </a:p>
          <a:p>
            <a:pPr algn="l" marL="182880" indent="-182880">
              <a:spcAft>
                <a:spcPts val="600"/>
              </a:spcAft>
              <a:buClr>
                <a:schemeClr val="accent1"/>
              </a:buClr>
              <a:buFont typeface="Arial"/>
              <a:buChar char="▪"/>
            </a:pPr>
            <a:r>
              <a:rPr sz="1300" b="0" lang="en-GB">
                <a:solidFill>
                  <a:schemeClr val="tx1"/>
                </a:solidFill>
              </a:rPr>
              <a:t>Exam: closed book, no AI</a:t>
            </a:r>
          </a:p>
        </p:txBody>
      </p:sp>
      <p:sp>
        <p:nvSpPr>
          <p:cNvPr id="20" name="Rules log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Rules log" descr=""/>
          <p:cNvPicPr>
            <a:picLocks noChangeAspect="1"/>
          </p:cNvPicPr>
          <p:nvPr/>
        </p:nvPicPr>
        <p:blipFill>
          <a:blip r:embed="rId5"/>
          <a:stretch>
            <a:fillRect/>
          </a:stretch>
        </p:blipFill>
        <p:spPr>
          <a:xfrm>
            <a:off x="658368" y="4137660"/>
            <a:ext cx="365760" cy="365760"/>
          </a:xfrm>
          <a:prstGeom prst="rect">
            <a:avLst/>
          </a:prstGeom>
        </p:spPr>
      </p:pic>
      <p:sp>
        <p:nvSpPr>
          <p:cNvPr id="22" name="Rules log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Prompt log: </a:t>
            </a:r>
            <a:r>
              <a:rPr sz="1200" b="0" lang="en-GB">
                <a:solidFill>
                  <a:schemeClr val="bg1"/>
                </a:solidFill>
              </a:rPr>
              <a:t>copy the prompts that produced non-trivial code, and note what you kept or changed.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12 of 18 · common problems, outdated instructions, checklist</a:t>
            </a:r>
          </a:p>
        </p:txBody>
      </p:sp>
      <p:sp>
        <p:nvSpPr>
          <p:cNvPr id="3" name="Title 2"/>
          <p:cNvSpPr>
            <a:spLocks noGrp="1"/>
          </p:cNvSpPr>
          <p:nvPr>
            <p:ph type="ctrTitle"/>
          </p:nvPr>
        </p:nvSpPr>
        <p:spPr/>
        <p:txBody>
          <a:bodyPr/>
          <a:lstStyle/>
          <a:p>
            <a:r>
              <a:rPr sz="1600" lang="en-GB"/>
              <a:t>Fix problems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017520"/>
                <a:gridCol w="5212080"/>
              </a:tblGrid>
              <a:tr h="370840">
                <a:tc>
                  <a:txBody>
                    <a:bodyPr/>
                    <a:lstStyle/>
                    <a:p>
                      <a:r>
                        <a:rPr sz="1300" lang="en-GB"/>
                        <a:t>Problem</a:t>
                      </a:r>
                    </a:p>
                  </a:txBody>
                  <a:tcPr marT="45000" marB="45000"/>
                </a:tc>
                <a:tc>
                  <a:txBody>
                    <a:bodyPr/>
                    <a:lstStyle/>
                    <a:p>
                      <a:r>
                        <a:rPr sz="1300" lang="en-GB"/>
                        <a:t>Fix</a:t>
                      </a:r>
                    </a:p>
                  </a:txBody>
                  <a:tcPr marT="45000" marB="45000"/>
                </a:tc>
              </a:tr>
              <a:tr h="370840">
                <a:tc>
                  <a:txBody>
                    <a:bodyPr/>
                    <a:lstStyle/>
                    <a:p>
                      <a:r>
                        <a:rPr sz="1150" b="1" lang="en-GB"/>
                        <a:t>No Posit Assistant</a:t>
                      </a:r>
                    </a:p>
                  </a:txBody>
                  <a:tcPr marT="45000" marB="45000"/>
                </a:tc>
                <a:tc>
                  <a:txBody>
                    <a:bodyPr/>
                    <a:lstStyle/>
                    <a:p>
                      <a:r>
                        <a:rPr sz="1150" lang="en-GB"/>
                        <a:t>Update Positron (2026.07+); trust the folder; View: Show Posit Assistant</a:t>
                      </a:r>
                    </a:p>
                  </a:txBody>
                  <a:tcPr marT="45000" marB="45000"/>
                </a:tc>
              </a:tr>
              <a:tr h="370840">
                <a:tc>
                  <a:txBody>
                    <a:bodyPr/>
                    <a:lstStyle/>
                    <a:p>
                      <a:r>
                        <a:rPr sz="1150" b="1" lang="en-GB"/>
                        <a:t>Signed in to GitHub, no Copilot</a:t>
                      </a:r>
                    </a:p>
                  </a:txBody>
                  <a:tcPr marT="45000" marB="45000"/>
                </a:tc>
                <a:tc>
                  <a:txBody>
                    <a:bodyPr/>
                    <a:lstStyle/>
                    <a:p>
                      <a:r>
                        <a:rPr sz="1150" lang="en-GB"/>
                        <a:t>Configure Language Model Providers → GitHub Copilot</a:t>
                      </a:r>
                    </a:p>
                  </a:txBody>
                  <a:tcPr marT="45000" marB="45000"/>
                </a:tc>
              </a:tr>
              <a:tr h="370840">
                <a:tc>
                  <a:txBody>
                    <a:bodyPr/>
                    <a:lstStyle/>
                    <a:p>
                      <a:r>
                        <a:rPr sz="1150" b="1" lang="en-GB"/>
                        <a:t>No ghost text</a:t>
                      </a:r>
                    </a:p>
                  </a:txBody>
                  <a:tcPr marT="45000" marB="45000"/>
                </a:tc>
                <a:tc>
                  <a:txBody>
                    <a:bodyPr/>
                    <a:lstStyle/>
                    <a:p>
                      <a:r>
                        <a:rPr sz="1150" lang="en-GB"/>
                        <a:t>status-bar icon: not snoozed or off; file is .py or a code cell</a:t>
                      </a:r>
                    </a:p>
                  </a:txBody>
                  <a:tcPr marT="45000" marB="45000"/>
                </a:tc>
              </a:tr>
              <a:tr h="370840">
                <a:tc>
                  <a:txBody>
                    <a:bodyPr/>
                    <a:lstStyle/>
                    <a:p>
                      <a:r>
                        <a:rPr sz="1150" b="1" lang="en-GB"/>
                        <a:t>Usage limit reached</a:t>
                      </a:r>
                    </a:p>
                  </a:txBody>
                  <a:tcPr marT="45000" marB="45000"/>
                </a:tc>
                <a:tc>
                  <a:txBody>
                    <a:bodyPr/>
                    <a:lstStyle/>
                    <a:p>
                      <a:r>
                        <a:rPr sz="1150" lang="en-GB"/>
                        <a:t>wait until the 1st; activate Copilot Student</a:t>
                      </a:r>
                    </a:p>
                  </a:txBody>
                  <a:tcPr marT="45000" marB="45000"/>
                </a:tc>
              </a:tr>
              <a:tr h="370840">
                <a:tc>
                  <a:txBody>
                    <a:bodyPr/>
                    <a:lstStyle/>
                    <a:p>
                      <a:r>
                        <a:rPr sz="1150" b="1" lang="en-GB"/>
                        <a:t>Paid checkout on github.com</a:t>
                      </a:r>
                    </a:p>
                  </a:txBody>
                  <a:tcPr marT="45000" marB="45000"/>
                </a:tc>
                <a:tc>
                  <a:txBody>
                    <a:bodyPr/>
                    <a:lstStyle/>
                    <a:p>
                      <a:r>
                        <a:rPr sz="1150" lang="en-GB"/>
                        <a:t>do not pay; wait a few days, try github.com/settings/copilot</a:t>
                      </a:r>
                    </a:p>
                  </a:txBody>
                  <a:tcPr marT="45000" marB="45000"/>
                </a:tc>
              </a:tr>
              <a:tr h="370840">
                <a:tc>
                  <a:txBody>
                    <a:bodyPr/>
                    <a:lstStyle/>
                    <a:p>
                      <a:r>
                        <a:rPr sz="1150" b="1" lang="en-GB"/>
                        <a:t>Odd answers</a:t>
                      </a:r>
                    </a:p>
                  </a:txBody>
                  <a:tcPr marT="45000" marB="45000"/>
                </a:tc>
                <a:tc>
                  <a:txBody>
                    <a:bodyPr/>
                    <a:lstStyle/>
                    <a:p>
                      <a:r>
                        <a:rPr sz="1150" lang="en-GB"/>
                        <a:t>add context (files, packages), or start again with /new</a:t>
                      </a:r>
                    </a:p>
                  </a:txBody>
                  <a:tcPr marT="45000" marB="45000"/>
                </a:tc>
              </a:tr>
            </a:tbl>
          </a:graphicData>
        </a:graphic>
      </p:graphicFrame>
      <p:sp>
        <p:nvSpPr>
          <p:cNvPr id="3" name="Title 2"/>
          <p:cNvSpPr>
            <a:spLocks noGrp="1"/>
          </p:cNvSpPr>
          <p:nvPr>
            <p:ph type="title"/>
          </p:nvPr>
        </p:nvSpPr>
        <p:spPr/>
        <p:txBody>
          <a:bodyPr/>
          <a:lstStyle/>
          <a:p>
            <a:r>
              <a:rPr sz="1600" lang="en-GB"/>
              <a:t>When Copilot does not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diag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diag" descr=""/>
          <p:cNvPicPr>
            <a:picLocks noChangeAspect="1"/>
          </p:cNvPicPr>
          <p:nvPr/>
        </p:nvPicPr>
        <p:blipFill>
          <a:blip r:embed="rId3"/>
          <a:stretch>
            <a:fillRect/>
          </a:stretch>
        </p:blipFill>
        <p:spPr>
          <a:xfrm>
            <a:off x="658368" y="4434840"/>
            <a:ext cx="365760" cy="365760"/>
          </a:xfrm>
          <a:prstGeom prst="rect">
            <a:avLst/>
          </a:prstGeom>
        </p:spPr>
      </p:pic>
      <p:sp>
        <p:nvSpPr>
          <p:cNvPr id="12" name="Trouble diag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Command Palette → AI: Create Diagnostic Report.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Old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931920"/>
                <a:gridCol w="4297680"/>
              </a:tblGrid>
              <a:tr h="370840">
                <a:tc>
                  <a:txBody>
                    <a:bodyPr/>
                    <a:lstStyle/>
                    <a:p>
                      <a:r>
                        <a:rPr sz="1300" lang="en-GB"/>
                        <a:t>If a guide says</a:t>
                      </a:r>
                    </a:p>
                  </a:txBody>
                  <a:tcPr marT="55000" marB="55000"/>
                </a:tc>
                <a:tc>
                  <a:txBody>
                    <a:bodyPr/>
                    <a:lstStyle/>
                    <a:p>
                      <a:r>
                        <a:rPr sz="1300" lang="en-GB"/>
                        <a:t>Use now</a:t>
                      </a:r>
                    </a:p>
                  </a:txBody>
                  <a:tcPr marT="55000" marB="55000"/>
                </a:tc>
              </a:tr>
              <a:tr h="370840">
                <a:tc>
                  <a:txBody>
                    <a:bodyPr/>
                    <a:lstStyle/>
                    <a:p>
                      <a:r>
                        <a:rPr sz="1200" b="1" lang="en-GB"/>
                        <a:t>Positron Assistant</a:t>
                      </a:r>
                    </a:p>
                  </a:txBody>
                  <a:tcPr marT="55000" marB="55000"/>
                </a:tc>
                <a:tc>
                  <a:txBody>
                    <a:bodyPr/>
                    <a:lstStyle/>
                    <a:p>
                      <a:r>
                        <a:rPr sz="1200" lang="en-GB"/>
                        <a:t>Posit Assistant</a:t>
                      </a:r>
                    </a:p>
                  </a:txBody>
                  <a:tcPr marT="55000" marB="55000"/>
                </a:tc>
              </a:tr>
              <a:tr h="370840">
                <a:tc>
                  <a:txBody>
                    <a:bodyPr/>
                    <a:lstStyle/>
                    <a:p>
                      <a:r>
                        <a:rPr sz="1200" b="1" lang="en-GB"/>
                        <a:t>Setting positron.assistant.enable</a:t>
                      </a:r>
                    </a:p>
                  </a:txBody>
                  <a:tcPr marT="55000" marB="55000"/>
                </a:tc>
                <a:tc>
                  <a:txBody>
                    <a:bodyPr/>
                    <a:lstStyle/>
                    <a:p>
                      <a:r>
                        <a:rPr sz="1200" lang="en-GB"/>
                        <a:t>nothing to set (assistant.enabled is on)</a:t>
                      </a:r>
                    </a:p>
                  </a:txBody>
                  <a:tcPr marT="55000" marB="55000"/>
                </a:tc>
              </a:tr>
              <a:tr h="370840">
                <a:tc>
                  <a:txBody>
                    <a:bodyPr/>
                    <a:lstStyle/>
                    <a:p>
                      <a:r>
                        <a:rPr sz="1200" b="1" lang="en-GB"/>
                        <a:t>Ask / Edit / Agent modes</a:t>
                      </a:r>
                    </a:p>
                  </a:txBody>
                  <a:tcPr marT="55000" marB="55000"/>
                </a:tc>
                <a:tc>
                  <a:txBody>
                    <a:bodyPr/>
                    <a:lstStyle/>
                    <a:p>
                      <a:r>
                        <a:rPr sz="1200" lang="en-GB"/>
                        <a:t>Normal, /ask, /plan</a:t>
                      </a:r>
                    </a:p>
                  </a:txBody>
                  <a:tcPr marT="55000" marB="55000"/>
                </a:tc>
              </a:tr>
              <a:tr h="370840">
                <a:tc>
                  <a:txBody>
                    <a:bodyPr/>
                    <a:lstStyle/>
                    <a:p>
                      <a:r>
                        <a:rPr sz="1200" b="1" lang="en-GB"/>
                        <a:t>Positron Assistant: Collect Diagnostics</a:t>
                      </a:r>
                    </a:p>
                  </a:txBody>
                  <a:tcPr marT="55000" marB="55000"/>
                </a:tc>
                <a:tc>
                  <a:txBody>
                    <a:bodyPr/>
                    <a:lstStyle/>
                    <a:p>
                      <a:r>
                        <a:rPr sz="1200" lang="en-GB"/>
                        <a:t>AI: Create Diagnostic Report</a:t>
                      </a:r>
                    </a:p>
                  </a:txBody>
                  <a:tcPr marT="55000" marB="55000"/>
                </a:tc>
              </a:tr>
              <a:tr h="370840">
                <a:tc>
                  <a:txBody>
                    <a:bodyPr/>
                    <a:lstStyle/>
                    <a:p>
                      <a:r>
                        <a:rPr sz="1200" b="1" lang="en-GB"/>
                        <a:t>Inline chat with Ctrl/Cmd + I</a:t>
                      </a:r>
                    </a:p>
                  </a:txBody>
                  <a:tcPr marT="55000" marB="55000"/>
                </a:tc>
                <a:tc>
                  <a:txBody>
                    <a:bodyPr/>
                    <a:lstStyle/>
                    <a:p>
                      <a:r>
                        <a:rPr sz="1200" lang="en-GB"/>
                        <a:t>the Posit Assistant pane</a:t>
                      </a:r>
                    </a:p>
                  </a:txBody>
                  <a:tcPr marT="55000" marB="55000"/>
                </a:tc>
              </a:tr>
            </a:tbl>
          </a:graphicData>
        </a:graphic>
      </p:graphicFrame>
      <p:sp>
        <p:nvSpPr>
          <p:cNvPr id="3" name="Title 2"/>
          <p:cNvSpPr>
            <a:spLocks noGrp="1"/>
          </p:cNvSpPr>
          <p:nvPr>
            <p:ph type="title"/>
          </p:nvPr>
        </p:nvSpPr>
        <p:spPr/>
        <p:txBody>
          <a:bodyPr/>
          <a:lstStyle/>
          <a:p>
            <a:r>
              <a:rPr sz="1600" lang="en-GB"/>
              <a:t>Old instructions, and what to use now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ld note box"/>
          <p:cNvSpPr/>
          <p:nvPr/>
        </p:nvSpPr>
        <p:spPr>
          <a:xfrm>
            <a:off x="457200" y="39776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Old note" descr=""/>
          <p:cNvPicPr>
            <a:picLocks noChangeAspect="1"/>
          </p:cNvPicPr>
          <p:nvPr/>
        </p:nvPicPr>
        <p:blipFill>
          <a:blip r:embed="rId3"/>
          <a:stretch>
            <a:fillRect/>
          </a:stretch>
        </p:blipFill>
        <p:spPr>
          <a:xfrm>
            <a:off x="658368" y="4137660"/>
            <a:ext cx="365760" cy="365760"/>
          </a:xfrm>
          <a:prstGeom prst="rect">
            <a:avLst/>
          </a:prstGeom>
        </p:spPr>
      </p:pic>
      <p:sp>
        <p:nvSpPr>
          <p:cNvPr id="12" name="Old note text"/>
          <p:cNvSpPr txBox="1"/>
          <p:nvPr/>
        </p:nvSpPr>
        <p:spPr>
          <a:xfrm>
            <a:off x="1207008" y="397764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Check the date: </a:t>
            </a:r>
            <a:r>
              <a:rPr sz="1200" b="0" lang="en-GB">
                <a:solidFill>
                  <a:schemeClr val="bg1"/>
                </a:solidFill>
              </a:rPr>
              <a:t>AI tools change monthly. Prefer positron.posit.co and GitHub Docs over older blog 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Free or Student </a:t>
            </a:r>
            <a:r>
              <a:rPr sz="1200" b="0" lang="en-GB">
                <a:solidFill>
                  <a:schemeClr val="tx1"/>
                </a:solidFill>
              </a:rPr>
              <a:t>active on github.com/settings/copilot</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Model training </a:t>
            </a:r>
            <a:r>
              <a:rPr sz="1200" b="0" lang="en-GB">
                <a:solidFill>
                  <a:schemeClr val="tx1"/>
                </a:solidFill>
              </a:rPr>
              <a:t>opt-out set to Disabled</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project folder trusted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connected: </a:t>
            </a:r>
            <a:r>
              <a:rPr sz="1200" b="0" lang="en-GB">
                <a:solidFill>
                  <a:schemeClr val="tx1"/>
                </a:solidFill>
              </a:rPr>
              <a:t>Configure Language Model Providers</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answers, and ghost text appears in a code cell</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 </a:t>
            </a:r>
            <a:r>
              <a:rPr sz="1200" b="0" lang="en-GB">
                <a:solidFill>
                  <a:schemeClr val="tx1"/>
                </a:solidFill>
              </a:rPr>
              <a:t>started for the coding exercise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13 of 18 · optional: subscription or API key, which route gives what</a:t>
            </a:r>
          </a:p>
        </p:txBody>
      </p:sp>
      <p:sp>
        <p:nvSpPr>
          <p:cNvPr id="3" name="Title 2"/>
          <p:cNvSpPr>
            <a:spLocks noGrp="1"/>
          </p:cNvSpPr>
          <p:nvPr>
            <p:ph type="ctrTitle"/>
          </p:nvPr>
        </p:nvSpPr>
        <p:spPr/>
        <p:txBody>
          <a:bodyPr/>
          <a:lstStyle/>
          <a:p>
            <a:r>
              <a:rPr sz="1600" lang="en-GB"/>
              <a:t>Claude and ChatGPT: the four routes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Routes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2148840"/>
                <a:gridCol w="2697480"/>
                <a:gridCol w="1691640"/>
                <a:gridCol w="1691640"/>
              </a:tblGrid>
              <a:tr h="370840">
                <a:tc>
                  <a:txBody>
                    <a:bodyPr/>
                    <a:lstStyle/>
                    <a:p>
                      <a:r>
                        <a:rPr sz="1300" lang="en-GB"/>
                        <a:t>Route</a:t>
                      </a:r>
                    </a:p>
                  </a:txBody>
                  <a:tcPr marT="55000" marB="55000"/>
                </a:tc>
                <a:tc>
                  <a:txBody>
                    <a:bodyPr/>
                    <a:lstStyle/>
                    <a:p>
                      <a:r>
                        <a:rPr sz="1300" lang="en-GB"/>
                        <a:t>What you get</a:t>
                      </a:r>
                    </a:p>
                  </a:txBody>
                  <a:tcPr marT="55000" marB="55000"/>
                </a:tc>
                <a:tc>
                  <a:txBody>
                    <a:bodyPr/>
                    <a:lstStyle/>
                    <a:p>
                      <a:r>
                        <a:rPr sz="1300" lang="en-GB"/>
                        <a:t>Claude needs</a:t>
                      </a:r>
                    </a:p>
                  </a:txBody>
                  <a:tcPr marT="55000" marB="55000"/>
                </a:tc>
                <a:tc>
                  <a:txBody>
                    <a:bodyPr/>
                    <a:lstStyle/>
                    <a:p>
                      <a:r>
                        <a:rPr sz="1300" lang="en-GB"/>
                        <a:t>ChatGPT needs</a:t>
                      </a:r>
                    </a:p>
                  </a:txBody>
                  <a:tcPr marT="55000" marB="55000"/>
                </a:tc>
              </a:tr>
              <a:tr h="370840">
                <a:tc>
                  <a:txBody>
                    <a:bodyPr/>
                    <a:lstStyle/>
                    <a:p>
                      <a:r>
                        <a:rPr sz="1200" b="1" lang="en-GB"/>
                        <a:t>1  Posit Assistant</a:t>
                      </a:r>
                    </a:p>
                  </a:txBody>
                  <a:tcPr marT="55000" marB="55000"/>
                </a:tc>
                <a:tc>
                  <a:txBody>
                    <a:bodyPr/>
                    <a:lstStyle/>
                    <a:p>
                      <a:r>
                        <a:rPr sz="1200" lang="en-GB"/>
                        <a:t>chat in Positron's own AI pane</a:t>
                      </a:r>
                    </a:p>
                  </a:txBody>
                  <a:tcPr marT="55000" marB="55000"/>
                </a:tc>
                <a:tc>
                  <a:txBody>
                    <a:bodyPr/>
                    <a:lstStyle/>
                    <a:p>
                      <a:r>
                        <a:rPr sz="1200" lang="en-GB"/>
                        <a:t>API key</a:t>
                      </a:r>
                    </a:p>
                  </a:txBody>
                  <a:tcPr marT="55000" marB="55000"/>
                </a:tc>
                <a:tc>
                  <a:txBody>
                    <a:bodyPr/>
                    <a:lstStyle/>
                    <a:p>
                      <a:r>
                        <a:rPr sz="1200" lang="en-GB"/>
                        <a:t>API key</a:t>
                      </a:r>
                    </a:p>
                  </a:txBody>
                  <a:tcPr marT="55000" marB="55000"/>
                </a:tc>
              </a:tr>
              <a:tr h="370840">
                <a:tc>
                  <a:txBody>
                    <a:bodyPr/>
                    <a:lstStyle/>
                    <a:p>
                      <a:r>
                        <a:rPr sz="1200" b="1" lang="en-GB"/>
                        <a:t>2  Vendor extension</a:t>
                      </a:r>
                    </a:p>
                  </a:txBody>
                  <a:tcPr marT="55000" marB="55000"/>
                </a:tc>
                <a:tc>
                  <a:txBody>
                    <a:bodyPr/>
                    <a:lstStyle/>
                    <a:p>
                      <a:r>
                        <a:rPr sz="1200" lang="en-GB"/>
                        <a:t>an agent panel in Positron</a:t>
                      </a:r>
                    </a:p>
                  </a:txBody>
                  <a:tcPr marT="55000" marB="55000"/>
                </a:tc>
                <a:tc>
                  <a:txBody>
                    <a:bodyPr/>
                    <a:lstStyle/>
                    <a:p>
                      <a:r>
                        <a:rPr sz="1200" lang="en-GB"/>
                        <a:t>Pro or Max</a:t>
                      </a:r>
                    </a:p>
                  </a:txBody>
                  <a:tcPr marT="55000" marB="55000"/>
                </a:tc>
                <a:tc>
                  <a:txBody>
                    <a:bodyPr/>
                    <a:lstStyle/>
                    <a:p>
                      <a:r>
                        <a:rPr sz="1200" lang="en-GB"/>
                        <a:t>ChatGPT account</a:t>
                      </a:r>
                    </a:p>
                  </a:txBody>
                  <a:tcPr marT="55000" marB="55000"/>
                </a:tc>
              </a:tr>
              <a:tr h="370840">
                <a:tc>
                  <a:txBody>
                    <a:bodyPr/>
                    <a:lstStyle/>
                    <a:p>
                      <a:r>
                        <a:rPr sz="1200" b="1" lang="en-GB"/>
                        <a:t>3  Terminal</a:t>
                      </a:r>
                    </a:p>
                  </a:txBody>
                  <a:tcPr marT="55000" marB="55000"/>
                </a:tc>
                <a:tc>
                  <a:txBody>
                    <a:bodyPr/>
                    <a:lstStyle/>
                    <a:p>
                      <a:r>
                        <a:rPr sz="1200" lang="en-GB"/>
                        <a:t>the agent in Positron's terminal</a:t>
                      </a:r>
                    </a:p>
                  </a:txBody>
                  <a:tcPr marT="55000" marB="55000"/>
                </a:tc>
                <a:tc>
                  <a:txBody>
                    <a:bodyPr/>
                    <a:lstStyle/>
                    <a:p>
                      <a:r>
                        <a:rPr sz="1200" lang="en-GB"/>
                        <a:t>Pro or Max</a:t>
                      </a:r>
                    </a:p>
                  </a:txBody>
                  <a:tcPr marT="55000" marB="55000"/>
                </a:tc>
                <a:tc>
                  <a:txBody>
                    <a:bodyPr/>
                    <a:lstStyle/>
                    <a:p>
                      <a:r>
                        <a:rPr sz="1200" lang="en-GB"/>
                        <a:t>ChatGPT account</a:t>
                      </a:r>
                    </a:p>
                  </a:txBody>
                  <a:tcPr marT="55000" marB="55000"/>
                </a:tc>
              </a:tr>
              <a:tr h="370840">
                <a:tc>
                  <a:txBody>
                    <a:bodyPr/>
                    <a:lstStyle/>
                    <a:p>
                      <a:r>
                        <a:rPr sz="1200" b="1" lang="en-GB"/>
                        <a:t>4  MCP (experimental)</a:t>
                      </a:r>
                    </a:p>
                  </a:txBody>
                  <a:tcPr marT="55000" marB="55000"/>
                </a:tc>
                <a:tc>
                  <a:txBody>
                    <a:bodyPr/>
                    <a:lstStyle/>
                    <a:p>
                      <a:r>
                        <a:rPr sz="1200" lang="en-GB"/>
                        <a:t>agent works in your live session</a:t>
                      </a:r>
                    </a:p>
                  </a:txBody>
                  <a:tcPr marT="55000" marB="55000"/>
                </a:tc>
                <a:tc>
                  <a:txBody>
                    <a:bodyPr/>
                    <a:lstStyle/>
                    <a:p>
                      <a:r>
                        <a:rPr sz="1200" lang="en-GB"/>
                        <a:t>with route 2 or 3</a:t>
                      </a:r>
                    </a:p>
                  </a:txBody>
                  <a:tcPr marT="55000" marB="55000"/>
                </a:tc>
                <a:tc>
                  <a:txBody>
                    <a:bodyPr/>
                    <a:lstStyle/>
                    <a:p>
                      <a:r>
                        <a:rPr sz="1200" lang="en-GB"/>
                        <a:t>with route 2 or 3</a:t>
                      </a:r>
                    </a:p>
                  </a:txBody>
                  <a:tcPr marT="55000" marB="55000"/>
                </a:tc>
              </a:tr>
            </a:tbl>
          </a:graphicData>
        </a:graphic>
      </p:graphicFrame>
      <p:sp>
        <p:nvSpPr>
          <p:cNvPr id="3" name="Title 2"/>
          <p:cNvSpPr>
            <a:spLocks noGrp="1"/>
          </p:cNvSpPr>
          <p:nvPr>
            <p:ph type="title"/>
          </p:nvPr>
        </p:nvSpPr>
        <p:spPr/>
        <p:txBody>
          <a:bodyPr/>
          <a:lstStyle/>
          <a:p>
            <a:r>
              <a:rPr sz="1600" lang="en-GB"/>
              <a:t>Four routes at a glance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utes comp box"/>
          <p:cNvSpPr/>
          <p:nvPr/>
        </p:nvSpPr>
        <p:spPr>
          <a:xfrm>
            <a:off x="457200" y="379476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Routes comp" descr=""/>
          <p:cNvPicPr>
            <a:picLocks noChangeAspect="1"/>
          </p:cNvPicPr>
          <p:nvPr/>
        </p:nvPicPr>
        <p:blipFill>
          <a:blip r:embed="rId3"/>
          <a:stretch>
            <a:fillRect/>
          </a:stretch>
        </p:blipFill>
        <p:spPr>
          <a:xfrm>
            <a:off x="658368" y="4000500"/>
            <a:ext cx="365760" cy="365760"/>
          </a:xfrm>
          <a:prstGeom prst="rect">
            <a:avLst/>
          </a:prstGeom>
        </p:spPr>
      </p:pic>
      <p:sp>
        <p:nvSpPr>
          <p:cNvPr id="12" name="Routes comp text"/>
          <p:cNvSpPr txBox="1"/>
          <p:nvPr/>
        </p:nvSpPr>
        <p:spPr>
          <a:xfrm>
            <a:off x="1207008" y="379476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No code completions: </a:t>
            </a:r>
            <a:r>
              <a:rPr sz="1200" b="0" lang="en-GB">
                <a:solidFill>
                  <a:schemeClr val="bg1"/>
                </a:solidFill>
              </a:rPr>
              <a:t>the grey suggestions while typing come only from GitHub Copilot or Posit AI Pass, not from Claude or ChatGPT.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Subscription or API key: the key question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ub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ub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ub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Subscription (monthly)</a:t>
            </a:r>
          </a:p>
        </p:txBody>
      </p:sp>
      <p:pic>
        <p:nvPicPr>
          <p:cNvPr id="13" name="Icon Sub card" descr=""/>
          <p:cNvPicPr>
            <a:picLocks noChangeAspect="1"/>
          </p:cNvPicPr>
          <p:nvPr/>
        </p:nvPicPr>
        <p:blipFill>
          <a:blip r:embed="rId3"/>
          <a:stretch>
            <a:fillRect/>
          </a:stretch>
        </p:blipFill>
        <p:spPr>
          <a:xfrm>
            <a:off x="4064508" y="1284732"/>
            <a:ext cx="310896" cy="310896"/>
          </a:xfrm>
          <a:prstGeom prst="rect">
            <a:avLst/>
          </a:prstGeom>
        </p:spPr>
      </p:pic>
      <p:sp>
        <p:nvSpPr>
          <p:cNvPr id="14" name="Sub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Claude Pro or Max, ChatGPT Plus or Pro</a:t>
            </a:r>
          </a:p>
          <a:p>
            <a:pPr algn="l" marL="182880" indent="-182880">
              <a:spcAft>
                <a:spcPts val="600"/>
              </a:spcAft>
              <a:buClr>
                <a:schemeClr val="accent1"/>
              </a:buClr>
              <a:buFont typeface="Arial"/>
              <a:buChar char="▪"/>
            </a:pPr>
            <a:r>
              <a:rPr sz="1300" b="0" lang="en-GB">
                <a:solidFill>
                  <a:schemeClr val="tx1"/>
                </a:solidFill>
              </a:rPr>
              <a:t>Works in: extension and terminal (routes 2, 3)</a:t>
            </a:r>
          </a:p>
          <a:p>
            <a:pPr algn="l" marL="182880" indent="-182880">
              <a:spcAft>
                <a:spcPts val="600"/>
              </a:spcAft>
              <a:buClr>
                <a:schemeClr val="accent1"/>
              </a:buClr>
              <a:buFont typeface="Arial"/>
              <a:buChar char="▪"/>
            </a:pPr>
            <a:r>
              <a:rPr sz="1300" b="0" lang="en-GB">
                <a:solidFill>
                  <a:schemeClr val="tx1"/>
                </a:solidFill>
              </a:rPr>
              <a:t>Not in Posit Assistant</a:t>
            </a:r>
          </a:p>
          <a:p>
            <a:pPr algn="l" marL="182880" indent="-182880">
              <a:spcAft>
                <a:spcPts val="600"/>
              </a:spcAft>
              <a:buClr>
                <a:schemeClr val="accent1"/>
              </a:buClr>
              <a:buFont typeface="Arial"/>
              <a:buChar char="▪"/>
            </a:pPr>
            <a:r>
              <a:rPr sz="1300" b="0" lang="en-GB">
                <a:solidFill>
                  <a:schemeClr val="tx1"/>
                </a:solidFill>
              </a:rPr>
              <a:t>Flat price, usage limits</a:t>
            </a:r>
          </a:p>
        </p:txBody>
      </p:sp>
      <p:sp>
        <p:nvSpPr>
          <p:cNvPr id="15" name="Key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ey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Key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API key (pay per use)</a:t>
            </a:r>
          </a:p>
        </p:txBody>
      </p:sp>
      <p:pic>
        <p:nvPicPr>
          <p:cNvPr id="18" name="Icon Key card" descr=""/>
          <p:cNvPicPr>
            <a:picLocks noChangeAspect="1"/>
          </p:cNvPicPr>
          <p:nvPr/>
        </p:nvPicPr>
        <p:blipFill>
          <a:blip r:embed="rId4"/>
          <a:stretch>
            <a:fillRect/>
          </a:stretch>
        </p:blipFill>
        <p:spPr>
          <a:xfrm>
            <a:off x="8247888" y="1284732"/>
            <a:ext cx="310896" cy="310896"/>
          </a:xfrm>
          <a:prstGeom prst="rect">
            <a:avLst/>
          </a:prstGeom>
        </p:spPr>
      </p:pic>
      <p:sp>
        <p:nvSpPr>
          <p:cNvPr id="19" name="Key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From platform.claude.com or platform.openai.com</a:t>
            </a:r>
          </a:p>
          <a:p>
            <a:pPr algn="l" marL="182880" indent="-182880">
              <a:spcAft>
                <a:spcPts val="600"/>
              </a:spcAft>
              <a:buClr>
                <a:schemeClr val="accent1"/>
              </a:buClr>
              <a:buFont typeface="Arial"/>
              <a:buChar char="▪"/>
            </a:pPr>
            <a:r>
              <a:rPr sz="1300" b="0" lang="en-GB">
                <a:solidFill>
                  <a:schemeClr val="tx1"/>
                </a:solidFill>
              </a:rPr>
              <a:t>Works in: Posit Assistant, also routes 2 and 3</a:t>
            </a:r>
          </a:p>
          <a:p>
            <a:pPr algn="l" marL="182880" indent="-182880">
              <a:spcAft>
                <a:spcPts val="600"/>
              </a:spcAft>
              <a:buClr>
                <a:schemeClr val="accent1"/>
              </a:buClr>
              <a:buFont typeface="Arial"/>
              <a:buChar char="▪"/>
            </a:pPr>
            <a:r>
              <a:rPr sz="1300" b="0" lang="en-GB">
                <a:solidFill>
                  <a:schemeClr val="tx1"/>
                </a:solidFill>
              </a:rPr>
              <a:t>Prepaid credit, billed per token</a:t>
            </a:r>
          </a:p>
          <a:p>
            <a:pPr algn="l" marL="182880" indent="-182880">
              <a:spcAft>
                <a:spcPts val="600"/>
              </a:spcAft>
              <a:buClr>
                <a:schemeClr val="accent1"/>
              </a:buClr>
              <a:buFont typeface="Arial"/>
              <a:buChar char="▪"/>
            </a:pPr>
            <a:r>
              <a:rPr sz="1300" b="0" lang="en-GB">
                <a:solidFill>
                  <a:schemeClr val="tx1"/>
                </a:solidFill>
              </a:rPr>
              <a:t>Separate from any subscription</a:t>
            </a:r>
          </a:p>
        </p:txBody>
      </p:sp>
      <p:sp>
        <p:nvSpPr>
          <p:cNvPr id="20" name="Sub surprise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ub surprise" descr=""/>
          <p:cNvPicPr>
            <a:picLocks noChangeAspect="1"/>
          </p:cNvPicPr>
          <p:nvPr/>
        </p:nvPicPr>
        <p:blipFill>
          <a:blip r:embed="rId5"/>
          <a:stretch>
            <a:fillRect/>
          </a:stretch>
        </p:blipFill>
        <p:spPr>
          <a:xfrm>
            <a:off x="658368" y="4137660"/>
            <a:ext cx="365760" cy="365760"/>
          </a:xfrm>
          <a:prstGeom prst="rect">
            <a:avLst/>
          </a:prstGeom>
        </p:spPr>
      </p:pic>
      <p:sp>
        <p:nvSpPr>
          <p:cNvPr id="22" name="Sub surprise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Common surprise: </a:t>
            </a:r>
            <a:r>
              <a:rPr sz="1200" b="0" lang="en-GB">
                <a:solidFill>
                  <a:schemeClr val="bg1"/>
                </a:solidFill>
              </a:rPr>
              <a:t>“I pay for Claude Pro, why does Positron want a key?” Because Pro does not include API access.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14 of 18 · get a key, connect it, what it costs</a:t>
            </a:r>
          </a:p>
        </p:txBody>
      </p:sp>
      <p:sp>
        <p:nvSpPr>
          <p:cNvPr id="3" name="Title 2"/>
          <p:cNvSpPr>
            <a:spLocks noGrp="1"/>
          </p:cNvSpPr>
          <p:nvPr>
            <p:ph type="ctrTitle"/>
          </p:nvPr>
        </p:nvSpPr>
        <p:spPr/>
        <p:txBody>
          <a:bodyPr/>
          <a:lstStyle/>
          <a:p>
            <a:r>
              <a:rPr sz="1600" lang="en-GB"/>
              <a:t>Route 1: Posit Assistant with an API key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Get an Anthropic (Claude) API key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key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key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key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Claude Console</a:t>
            </a:r>
          </a:p>
        </p:txBody>
      </p:sp>
      <p:pic>
        <p:nvPicPr>
          <p:cNvPr id="13" name="Icon Akey" descr=""/>
          <p:cNvPicPr>
            <a:picLocks noChangeAspect="1"/>
          </p:cNvPicPr>
          <p:nvPr/>
        </p:nvPicPr>
        <p:blipFill>
          <a:blip r:embed="rId3"/>
          <a:stretch>
            <a:fillRect/>
          </a:stretch>
        </p:blipFill>
        <p:spPr>
          <a:xfrm>
            <a:off x="4956048" y="1284732"/>
            <a:ext cx="310896" cy="310896"/>
          </a:xfrm>
          <a:prstGeom prst="rect">
            <a:avLst/>
          </a:prstGeom>
        </p:spPr>
      </p:pic>
      <p:sp>
        <p:nvSpPr>
          <p:cNvPr id="14" name="Akey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platform.claude.com</a:t>
            </a:r>
          </a:p>
          <a:p>
            <a:pPr algn="l">
              <a:spcAft>
                <a:spcPts val="900"/>
              </a:spcAft>
            </a:pPr>
            <a:r>
              <a:rPr sz="1300" b="1" lang="en-GB">
                <a:solidFill>
                  <a:schemeClr val="accent1"/>
                </a:solidFill>
              </a:rPr>
              <a:t>2  </a:t>
            </a:r>
            <a:r>
              <a:rPr sz="1300" b="1" lang="en-GB">
                <a:solidFill>
                  <a:schemeClr val="tx2"/>
                </a:solidFill>
              </a:rPr>
              <a:t>Settings → Billing: </a:t>
            </a:r>
            <a:r>
              <a:rPr sz="1300" b="0" lang="en-GB">
                <a:solidFill>
                  <a:schemeClr val="tx1"/>
                </a:solidFill>
              </a:rPr>
              <a:t>buy a small credit, e.g. 5 USD</a:t>
            </a:r>
          </a:p>
          <a:p>
            <a:pPr algn="l">
              <a:spcAft>
                <a:spcPts val="900"/>
              </a:spcAft>
            </a:pPr>
            <a:r>
              <a:rPr sz="1300" b="1" lang="en-GB">
                <a:solidFill>
                  <a:schemeClr val="accent1"/>
                </a:solidFill>
              </a:rPr>
              <a:t>3  </a:t>
            </a:r>
            <a:r>
              <a:rPr sz="1300" b="1" lang="en-GB">
                <a:solidFill>
                  <a:schemeClr val="tx2"/>
                </a:solidFill>
              </a:rPr>
              <a:t>Set a spend limit; </a:t>
            </a:r>
            <a:r>
              <a:rPr sz="1300" b="0" lang="en-GB">
                <a:solidFill>
                  <a:schemeClr val="tx1"/>
                </a:solidFill>
              </a:rPr>
              <a:t>auto-reload off</a:t>
            </a:r>
          </a:p>
          <a:p>
            <a:pPr algn="l">
              <a:spcAft>
                <a:spcPts val="900"/>
              </a:spcAft>
            </a:pPr>
            <a:r>
              <a:rPr sz="1300" b="1" lang="en-GB">
                <a:solidFill>
                  <a:schemeClr val="accent1"/>
                </a:solidFill>
              </a:rPr>
              <a:t>4  </a:t>
            </a:r>
            <a:r>
              <a:rPr sz="1300" b="1" lang="en-GB">
                <a:solidFill>
                  <a:schemeClr val="tx2"/>
                </a:solidFill>
              </a:rPr>
              <a:t>Settings → API keys: </a:t>
            </a:r>
            <a:r>
              <a:rPr sz="1300" b="0" lang="en-GB">
                <a:solidFill>
                  <a:schemeClr val="tx1"/>
                </a:solidFill>
              </a:rPr>
              <a:t>Create Key, then Add</a:t>
            </a:r>
          </a:p>
          <a:p>
            <a:pPr algn="l">
              <a:spcAft>
                <a:spcPts val="900"/>
              </a:spcAft>
            </a:pPr>
            <a:r>
              <a:rPr sz="1300" b="1" lang="en-GB">
                <a:solidFill>
                  <a:schemeClr val="accent1"/>
                </a:solidFill>
              </a:rPr>
              <a:t>5  </a:t>
            </a:r>
            <a:r>
              <a:rPr sz="1300" b="1" lang="en-GB">
                <a:solidFill>
                  <a:schemeClr val="tx2"/>
                </a:solidFill>
              </a:rPr>
              <a:t>Copy the key </a:t>
            </a:r>
            <a:r>
              <a:rPr sz="1300" b="0" lang="en-GB">
                <a:solidFill>
                  <a:schemeClr val="tx1"/>
                </a:solidFill>
              </a:rPr>
              <a:t>into a password manager</a:t>
            </a:r>
          </a:p>
        </p:txBody>
      </p:sp>
      <p:sp>
        <p:nvSpPr>
          <p:cNvPr id="15" name="Akey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key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key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Akey card" descr=""/>
          <p:cNvPicPr>
            <a:picLocks noChangeAspect="1"/>
          </p:cNvPicPr>
          <p:nvPr/>
        </p:nvPicPr>
        <p:blipFill>
          <a:blip r:embed="rId5"/>
          <a:stretch>
            <a:fillRect/>
          </a:stretch>
        </p:blipFill>
        <p:spPr>
          <a:xfrm>
            <a:off x="8247888" y="1284732"/>
            <a:ext cx="310896" cy="310896"/>
          </a:xfrm>
          <a:prstGeom prst="rect">
            <a:avLst/>
          </a:prstGeom>
        </p:spPr>
      </p:pic>
      <p:sp>
        <p:nvSpPr>
          <p:cNvPr id="19" name="Akey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Credits expire after one year</a:t>
            </a:r>
          </a:p>
          <a:p>
            <a:pPr algn="l" marL="182880" indent="-182880">
              <a:spcAft>
                <a:spcPts val="600"/>
              </a:spcAft>
              <a:buClr>
                <a:schemeClr val="accent1"/>
              </a:buClr>
              <a:buFont typeface="Arial"/>
              <a:buChar char="▪"/>
            </a:pPr>
            <a:r>
              <a:rPr sz="1300" b="0" lang="en-GB">
                <a:solidFill>
                  <a:schemeClr val="tx1"/>
                </a:solidFill>
              </a:rPr>
              <a:t>Claude Pro does not include API credit</a:t>
            </a:r>
          </a:p>
          <a:p>
            <a:pPr algn="l" marL="182880" indent="-182880">
              <a:spcAft>
                <a:spcPts val="600"/>
              </a:spcAft>
              <a:buClr>
                <a:schemeClr val="accent1"/>
              </a:buClr>
              <a:buFont typeface="Arial"/>
              <a:buChar char="▪"/>
            </a:pPr>
            <a:r>
              <a:rPr sz="1300" b="0" lang="en-GB">
                <a:solidFill>
                  <a:schemeClr val="tx1"/>
                </a:solidFill>
              </a:rPr>
              <a:t>API use is not used for training</a:t>
            </a:r>
          </a:p>
        </p:txBody>
      </p:sp>
      <p:sp>
        <p:nvSpPr>
          <p:cNvPr id="20" name="Akey lock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key lock" descr=""/>
          <p:cNvPicPr>
            <a:picLocks noChangeAspect="1"/>
          </p:cNvPicPr>
          <p:nvPr/>
        </p:nvPicPr>
        <p:blipFill>
          <a:blip r:embed="rId6"/>
          <a:stretch>
            <a:fillRect/>
          </a:stretch>
        </p:blipFill>
        <p:spPr>
          <a:xfrm>
            <a:off x="658368" y="4480560"/>
            <a:ext cx="365760" cy="365760"/>
          </a:xfrm>
          <a:prstGeom prst="rect">
            <a:avLst/>
          </a:prstGeom>
        </p:spPr>
      </p:pic>
      <p:sp>
        <p:nvSpPr>
          <p:cNvPr id="22" name="Akey lock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The key is a password: </a:t>
            </a:r>
            <a:r>
              <a:rPr sz="1200" b="0" lang="en-GB">
                <a:solidFill>
                  <a:schemeClr val="bg1"/>
                </a:solidFill>
              </a:rPr>
              <a:t>never in code, a .qmd file, GitHub or a chat.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Get an OpenAI (ChatGPT) API key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key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key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key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OpenAI platform</a:t>
            </a:r>
          </a:p>
        </p:txBody>
      </p:sp>
      <p:pic>
        <p:nvPicPr>
          <p:cNvPr id="13" name="Icon Okey" descr=""/>
          <p:cNvPicPr>
            <a:picLocks noChangeAspect="1"/>
          </p:cNvPicPr>
          <p:nvPr/>
        </p:nvPicPr>
        <p:blipFill>
          <a:blip r:embed="rId3"/>
          <a:stretch>
            <a:fillRect/>
          </a:stretch>
        </p:blipFill>
        <p:spPr>
          <a:xfrm>
            <a:off x="4956048" y="1284732"/>
            <a:ext cx="310896" cy="310896"/>
          </a:xfrm>
          <a:prstGeom prst="rect">
            <a:avLst/>
          </a:prstGeom>
        </p:spPr>
      </p:pic>
      <p:sp>
        <p:nvSpPr>
          <p:cNvPr id="14" name="Okey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platform.openai.com</a:t>
            </a:r>
          </a:p>
          <a:p>
            <a:pPr algn="l">
              <a:spcAft>
                <a:spcPts val="900"/>
              </a:spcAft>
            </a:pPr>
            <a:r>
              <a:rPr sz="1300" b="1" lang="en-GB">
                <a:solidFill>
                  <a:schemeClr val="accent1"/>
                </a:solidFill>
              </a:rPr>
              <a:t>2  </a:t>
            </a:r>
            <a:r>
              <a:rPr sz="1300" b="1" lang="en-GB">
                <a:solidFill>
                  <a:schemeClr val="tx2"/>
                </a:solidFill>
              </a:rPr>
              <a:t>Billing: </a:t>
            </a:r>
            <a:r>
              <a:rPr sz="1300" b="0" lang="en-GB">
                <a:solidFill>
                  <a:schemeClr val="tx1"/>
                </a:solidFill>
              </a:rPr>
              <a:t>add prepaid credit, at least 5 USD</a:t>
            </a:r>
          </a:p>
          <a:p>
            <a:pPr algn="l">
              <a:spcAft>
                <a:spcPts val="900"/>
              </a:spcAft>
            </a:pPr>
            <a:r>
              <a:rPr sz="1300" b="1" lang="en-GB">
                <a:solidFill>
                  <a:schemeClr val="accent1"/>
                </a:solidFill>
              </a:rPr>
              <a:t>3  </a:t>
            </a:r>
            <a:r>
              <a:rPr sz="1300" b="1" lang="en-GB">
                <a:solidFill>
                  <a:schemeClr val="tx2"/>
                </a:solidFill>
              </a:rPr>
              <a:t>Switch off </a:t>
            </a:r>
            <a:r>
              <a:rPr sz="1300" b="0" lang="en-GB">
                <a:solidFill>
                  <a:schemeClr val="tx1"/>
                </a:solidFill>
              </a:rPr>
              <a:t>auto-recharge; set a budget</a:t>
            </a:r>
          </a:p>
          <a:p>
            <a:pPr algn="l">
              <a:spcAft>
                <a:spcPts val="900"/>
              </a:spcAft>
            </a:pPr>
            <a:r>
              <a:rPr sz="1300" b="1" lang="en-GB">
                <a:solidFill>
                  <a:schemeClr val="accent1"/>
                </a:solidFill>
              </a:rPr>
              <a:t>4  </a:t>
            </a:r>
            <a:r>
              <a:rPr sz="1300" b="1" lang="en-GB">
                <a:solidFill>
                  <a:schemeClr val="tx2"/>
                </a:solidFill>
              </a:rPr>
              <a:t>API keys: </a:t>
            </a:r>
            <a:r>
              <a:rPr sz="1300" b="0" lang="en-GB">
                <a:solidFill>
                  <a:schemeClr val="tx1"/>
                </a:solidFill>
              </a:rPr>
              <a:t>Create new secret key</a:t>
            </a:r>
          </a:p>
          <a:p>
            <a:pPr algn="l">
              <a:spcAft>
                <a:spcPts val="900"/>
              </a:spcAft>
            </a:pPr>
            <a:r>
              <a:rPr sz="1300" b="1" lang="en-GB">
                <a:solidFill>
                  <a:schemeClr val="accent1"/>
                </a:solidFill>
              </a:rPr>
              <a:t>5  </a:t>
            </a:r>
            <a:r>
              <a:rPr sz="1300" b="1" lang="en-GB">
                <a:solidFill>
                  <a:schemeClr val="tx2"/>
                </a:solidFill>
              </a:rPr>
              <a:t>Copy the key </a:t>
            </a:r>
            <a:r>
              <a:rPr sz="1300" b="0" lang="en-GB">
                <a:solidFill>
                  <a:schemeClr val="tx1"/>
                </a:solidFill>
              </a:rPr>
              <a:t>into a password manager</a:t>
            </a:r>
          </a:p>
        </p:txBody>
      </p:sp>
      <p:sp>
        <p:nvSpPr>
          <p:cNvPr id="15" name="Okey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key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key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Okey card" descr=""/>
          <p:cNvPicPr>
            <a:picLocks noChangeAspect="1"/>
          </p:cNvPicPr>
          <p:nvPr/>
        </p:nvPicPr>
        <p:blipFill>
          <a:blip r:embed="rId5"/>
          <a:stretch>
            <a:fillRect/>
          </a:stretch>
        </p:blipFill>
        <p:spPr>
          <a:xfrm>
            <a:off x="8247888" y="1284732"/>
            <a:ext cx="310896" cy="310896"/>
          </a:xfrm>
          <a:prstGeom prst="rect">
            <a:avLst/>
          </a:prstGeom>
        </p:spPr>
      </p:pic>
      <p:sp>
        <p:nvSpPr>
          <p:cNvPr id="19" name="Okey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ChatGPT Plus does not include API credit</a:t>
            </a:r>
          </a:p>
          <a:p>
            <a:pPr algn="l" marL="182880" indent="-182880">
              <a:spcAft>
                <a:spcPts val="600"/>
              </a:spcAft>
              <a:buClr>
                <a:schemeClr val="accent1"/>
              </a:buClr>
              <a:buFont typeface="Arial"/>
              <a:buChar char="▪"/>
            </a:pPr>
            <a:r>
              <a:rPr sz="1300" b="0" lang="en-GB">
                <a:solidFill>
                  <a:schemeClr val="tx1"/>
                </a:solidFill>
              </a:rPr>
              <a:t>Any OpenAI-compatible service also works</a:t>
            </a:r>
          </a:p>
          <a:p>
            <a:pPr algn="l" marL="182880" indent="-182880">
              <a:spcAft>
                <a:spcPts val="600"/>
              </a:spcAft>
              <a:buClr>
                <a:schemeClr val="accent1"/>
              </a:buClr>
              <a:buFont typeface="Arial"/>
              <a:buChar char="▪"/>
            </a:pPr>
            <a:r>
              <a:rPr sz="1300" b="0" lang="en-GB">
                <a:solidFill>
                  <a:schemeClr val="tx1"/>
                </a:solidFill>
              </a:rPr>
              <a:t>API use is not used for training by default</a:t>
            </a:r>
          </a:p>
        </p:txBody>
      </p:sp>
      <p:sp>
        <p:nvSpPr>
          <p:cNvPr id="20" name="Okey lock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Okey lock" descr=""/>
          <p:cNvPicPr>
            <a:picLocks noChangeAspect="1"/>
          </p:cNvPicPr>
          <p:nvPr/>
        </p:nvPicPr>
        <p:blipFill>
          <a:blip r:embed="rId6"/>
          <a:stretch>
            <a:fillRect/>
          </a:stretch>
        </p:blipFill>
        <p:spPr>
          <a:xfrm>
            <a:off x="658368" y="4480560"/>
            <a:ext cx="365760" cy="365760"/>
          </a:xfrm>
          <a:prstGeom prst="rect">
            <a:avLst/>
          </a:prstGeom>
        </p:spPr>
      </p:pic>
      <p:sp>
        <p:nvSpPr>
          <p:cNvPr id="22" name="Okey lock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Leaked a key? </a:t>
            </a:r>
            <a:r>
              <a:rPr sz="1200" b="0" lang="en-GB">
                <a:solidFill>
                  <a:schemeClr val="bg1"/>
                </a:solidFill>
              </a:rPr>
              <a:t>delete it on the platform at once and create a new one.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the key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nnec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nnec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nnec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13" name="Icon Connect" descr=""/>
          <p:cNvPicPr>
            <a:picLocks noChangeAspect="1"/>
          </p:cNvPicPr>
          <p:nvPr/>
        </p:nvPicPr>
        <p:blipFill>
          <a:blip r:embed="rId3"/>
          <a:stretch>
            <a:fillRect/>
          </a:stretch>
        </p:blipFill>
        <p:spPr>
          <a:xfrm>
            <a:off x="4956048" y="1284732"/>
            <a:ext cx="310896" cy="310896"/>
          </a:xfrm>
          <a:prstGeom prst="rect">
            <a:avLst/>
          </a:prstGeom>
        </p:spPr>
      </p:pic>
      <p:sp>
        <p:nvSpPr>
          <p:cNvPr id="14" name="Connec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Command Palette: </a:t>
            </a:r>
            <a:r>
              <a:rPr sz="1300" b="0" lang="en-GB">
                <a:solidFill>
                  <a:schemeClr val="tx1"/>
                </a:solidFill>
              </a:rPr>
              <a:t>Ctrl/Cmd + Shift + P</a:t>
            </a:r>
          </a:p>
          <a:p>
            <a:pPr algn="l">
              <a:spcAft>
                <a:spcPts val="900"/>
              </a:spcAft>
            </a:pPr>
            <a:r>
              <a:rPr sz="1300" b="1" lang="en-GB">
                <a:solidFill>
                  <a:schemeClr val="accent1"/>
                </a:solidFill>
              </a:rPr>
              <a:t>2  </a:t>
            </a:r>
            <a:r>
              <a:rPr sz="1300" b="1" lang="en-GB">
                <a:solidFill>
                  <a:schemeClr val="tx2"/>
                </a:solidFill>
              </a:rPr>
              <a:t>Run: </a:t>
            </a:r>
            <a:r>
              <a:rPr sz="1300" b="0" lang="en-GB">
                <a:solidFill>
                  <a:schemeClr val="tx1"/>
                </a:solidFill>
              </a:rPr>
              <a:t>Authentication: Configure Language Model Providers</a:t>
            </a:r>
          </a:p>
          <a:p>
            <a:pPr algn="l">
              <a:spcAft>
                <a:spcPts val="900"/>
              </a:spcAft>
            </a:pPr>
            <a:r>
              <a:rPr sz="1300" b="1" lang="en-GB">
                <a:solidFill>
                  <a:schemeClr val="accent1"/>
                </a:solidFill>
              </a:rPr>
              <a:t>3  </a:t>
            </a:r>
            <a:r>
              <a:rPr sz="1300" b="1" lang="en-GB">
                <a:solidFill>
                  <a:schemeClr val="tx2"/>
                </a:solidFill>
              </a:rPr>
              <a:t>Pick </a:t>
            </a:r>
            <a:r>
              <a:rPr sz="1300" b="0" lang="en-GB">
                <a:solidFill>
                  <a:schemeClr val="tx1"/>
                </a:solidFill>
              </a:rPr>
              <a:t>Anthropic or OpenAI</a:t>
            </a:r>
          </a:p>
          <a:p>
            <a:pPr algn="l">
              <a:spcAft>
                <a:spcPts val="900"/>
              </a:spcAft>
            </a:pPr>
            <a:r>
              <a:rPr sz="1300" b="1" lang="en-GB">
                <a:solidFill>
                  <a:schemeClr val="accent1"/>
                </a:solidFill>
              </a:rPr>
              <a:t>4  </a:t>
            </a:r>
            <a:r>
              <a:rPr sz="1300" b="1" lang="en-GB">
                <a:solidFill>
                  <a:schemeClr val="tx2"/>
                </a:solidFill>
              </a:rPr>
              <a:t>Paste </a:t>
            </a:r>
            <a:r>
              <a:rPr sz="1300" b="0" lang="en-GB">
                <a:solidFill>
                  <a:schemeClr val="tx1"/>
                </a:solidFill>
              </a:rPr>
              <a:t>the API key; it shows as connected</a:t>
            </a:r>
          </a:p>
          <a:p>
            <a:pPr algn="l">
              <a:spcAft>
                <a:spcPts val="900"/>
              </a:spcAft>
            </a:pPr>
            <a:r>
              <a:rPr sz="1300" b="1" lang="en-GB">
                <a:solidFill>
                  <a:schemeClr val="accent1"/>
                </a:solidFill>
              </a:rPr>
              <a:t>5  </a:t>
            </a:r>
            <a:r>
              <a:rPr sz="1300" b="1" lang="en-GB">
                <a:solidFill>
                  <a:schemeClr val="tx2"/>
                </a:solidFill>
              </a:rPr>
              <a:t>View: Show Posit Assistant: </a:t>
            </a:r>
            <a:r>
              <a:rPr sz="1300" b="0" lang="en-GB">
                <a:solidFill>
                  <a:schemeClr val="tx1"/>
                </a:solidFill>
              </a:rPr>
              <a:t>pick a model</a:t>
            </a:r>
          </a:p>
        </p:txBody>
      </p:sp>
      <p:sp>
        <p:nvSpPr>
          <p:cNvPr id="15" name="Connect cmd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nnect cmd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Command Palette</a:t>
            </a:r>
          </a:p>
        </p:txBody>
      </p:sp>
      <p:sp>
        <p:nvSpPr>
          <p:cNvPr id="17" name="Connect cmd box"/>
          <p:cNvSpPr/>
          <p:nvPr/>
        </p:nvSpPr>
        <p:spPr>
          <a:xfrm>
            <a:off x="5532120" y="1508760"/>
            <a:ext cx="315468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nnect cmd code"/>
          <p:cNvSpPr txBox="1"/>
          <p:nvPr/>
        </p:nvSpPr>
        <p:spPr>
          <a:xfrm>
            <a:off x="5669280" y="1600200"/>
            <a:ext cx="2880360" cy="6400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Authentication:</a:t>
            </a:r>
          </a:p>
          <a:p>
            <a:pPr algn="l">
              <a:spcAft>
                <a:spcPts val="0"/>
              </a:spcAft>
            </a:pPr>
            <a:r>
              <a:rPr sz="1100" b="0" lang="en-GB">
                <a:solidFill>
                  <a:schemeClr val="bg1"/>
                </a:solidFill>
                <a:latin typeface="Consolas"/>
              </a:rPr>
              <a:t>  Configure Language</a:t>
            </a:r>
          </a:p>
          <a:p>
            <a:pPr algn="l">
              <a:spcAft>
                <a:spcPts val="0"/>
              </a:spcAft>
            </a:pPr>
            <a:r>
              <a:rPr sz="1100" b="0" lang="en-GB">
                <a:solidFill>
                  <a:schemeClr val="bg1"/>
                </a:solidFill>
                <a:latin typeface="Consolas"/>
              </a:rPr>
              <a:t>  Model Providers</a:t>
            </a:r>
          </a:p>
        </p:txBody>
      </p:sp>
      <p:sp>
        <p:nvSpPr>
          <p:cNvPr id="19" name="Connect rows row 1"/>
          <p:cNvSpPr/>
          <p:nvPr/>
        </p:nvSpPr>
        <p:spPr>
          <a:xfrm>
            <a:off x="5532120" y="2468880"/>
            <a:ext cx="3154680" cy="8503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nnect rows bar 1"/>
          <p:cNvSpPr/>
          <p:nvPr/>
        </p:nvSpPr>
        <p:spPr>
          <a:xfrm>
            <a:off x="5532120" y="2468880"/>
            <a:ext cx="64008" cy="8503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nnect rows text 1"/>
          <p:cNvSpPr txBox="1"/>
          <p:nvPr/>
        </p:nvSpPr>
        <p:spPr>
          <a:xfrm>
            <a:off x="5733288" y="2468880"/>
            <a:ext cx="2862072" cy="850392"/>
          </a:xfrm>
          <a:prstGeom prst="rect">
            <a:avLst/>
          </a:prstGeom>
          <a:noFill/>
        </p:spPr>
        <p:txBody>
          <a:bodyPr wrap="square" lIns="0" rIns="0" tIns="0" bIns="0" anchor="ctr">
            <a:noAutofit/>
          </a:bodyPr>
          <a:lstStyle/>
          <a:p>
            <a:pPr algn="l">
              <a:spcAft>
                <a:spcPts val="400"/>
              </a:spcAft>
            </a:pPr>
            <a:r>
              <a:rPr sz="1200" b="1" lang="en-GB">
                <a:solidFill>
                  <a:schemeClr val="tx2"/>
                </a:solidFill>
              </a:rPr>
              <a:t>Stored safely: </a:t>
            </a:r>
            <a:r>
              <a:rPr sz="1200" b="0" lang="en-GB">
                <a:solidFill>
                  <a:schemeClr val="tx1"/>
                </a:solidFill>
              </a:rPr>
              <a:t>in the system keychain, not in a file</a:t>
            </a:r>
          </a:p>
        </p:txBody>
      </p:sp>
      <p:sp>
        <p:nvSpPr>
          <p:cNvPr id="22" name="Connect rows row 2"/>
          <p:cNvSpPr/>
          <p:nvPr/>
        </p:nvSpPr>
        <p:spPr>
          <a:xfrm>
            <a:off x="5532120" y="3410712"/>
            <a:ext cx="3154680" cy="8503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nnect rows bar 2"/>
          <p:cNvSpPr/>
          <p:nvPr/>
        </p:nvSpPr>
        <p:spPr>
          <a:xfrm>
            <a:off x="5532120" y="3410712"/>
            <a:ext cx="64008" cy="8503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nnect rows text 2"/>
          <p:cNvSpPr txBox="1"/>
          <p:nvPr/>
        </p:nvSpPr>
        <p:spPr>
          <a:xfrm>
            <a:off x="5733288" y="3410712"/>
            <a:ext cx="2862072" cy="850392"/>
          </a:xfrm>
          <a:prstGeom prst="rect">
            <a:avLst/>
          </a:prstGeom>
          <a:noFill/>
        </p:spPr>
        <p:txBody>
          <a:bodyPr wrap="square" lIns="0" rIns="0" tIns="0" bIns="0" anchor="ctr">
            <a:noAutofit/>
          </a:bodyPr>
          <a:lstStyle/>
          <a:p>
            <a:pPr algn="l">
              <a:spcAft>
                <a:spcPts val="400"/>
              </a:spcAft>
            </a:pPr>
            <a:r>
              <a:rPr sz="1200" b="1" lang="en-GB">
                <a:solidFill>
                  <a:schemeClr val="tx2"/>
                </a:solidFill>
              </a:rPr>
              <a:t>Models: </a:t>
            </a:r>
            <a:r>
              <a:rPr sz="1200" b="0" lang="en-GB">
                <a:solidFill>
                  <a:schemeClr val="tx1"/>
                </a:solidFill>
              </a:rPr>
              <a:t>whatever your key may use</a:t>
            </a:r>
          </a:p>
        </p:txBody>
      </p:sp>
      <p:sp>
        <p:nvSpPr>
          <p:cNvPr id="25" name="Connect same box"/>
          <p:cNvSpPr/>
          <p:nvPr/>
        </p:nvSpPr>
        <p:spPr>
          <a:xfrm>
            <a:off x="457200" y="44348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onnect same" descr=""/>
          <p:cNvPicPr>
            <a:picLocks noChangeAspect="1"/>
          </p:cNvPicPr>
          <p:nvPr/>
        </p:nvPicPr>
        <p:blipFill>
          <a:blip r:embed="rId4"/>
          <a:stretch>
            <a:fillRect/>
          </a:stretch>
        </p:blipFill>
        <p:spPr>
          <a:xfrm>
            <a:off x="658368" y="4526280"/>
            <a:ext cx="365760" cy="365760"/>
          </a:xfrm>
          <a:prstGeom prst="rect">
            <a:avLst/>
          </a:prstGeom>
        </p:spPr>
      </p:pic>
      <p:sp>
        <p:nvSpPr>
          <p:cNvPr id="27" name="Connect same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Same pane as Copilot: </a:t>
            </a:r>
            <a:r>
              <a:rPr sz="1200" b="0" lang="en-GB">
                <a:solidFill>
                  <a:schemeClr val="tx1"/>
                </a:solidFill>
              </a:rPr>
              <a:t>Parts 9 and 11 apply unchanged.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Cost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2011680"/>
                <a:gridCol w="2194560"/>
                <a:gridCol w="2194560"/>
                <a:gridCol w="1828800"/>
              </a:tblGrid>
              <a:tr h="370840">
                <a:tc>
                  <a:txBody>
                    <a:bodyPr/>
                    <a:lstStyle/>
                    <a:p>
                      <a:r>
                        <a:rPr sz="1300" lang="en-GB"/>
                        <a:t>Claude model</a:t>
                      </a:r>
                    </a:p>
                  </a:txBody>
                  <a:tcPr marT="60000" marB="60000"/>
                </a:tc>
                <a:tc>
                  <a:txBody>
                    <a:bodyPr/>
                    <a:lstStyle/>
                    <a:p>
                      <a:r>
                        <a:rPr sz="1300" lang="en-GB"/>
                        <a:t>Input (per 1M tokens)</a:t>
                      </a:r>
                    </a:p>
                  </a:txBody>
                  <a:tcPr marT="60000" marB="60000"/>
                </a:tc>
                <a:tc>
                  <a:txBody>
                    <a:bodyPr/>
                    <a:lstStyle/>
                    <a:p>
                      <a:r>
                        <a:rPr sz="1300" lang="en-GB"/>
                        <a:t>Output (per 1M tokens)</a:t>
                      </a:r>
                    </a:p>
                  </a:txBody>
                  <a:tcPr marT="60000" marB="60000"/>
                </a:tc>
                <a:tc>
                  <a:txBody>
                    <a:bodyPr/>
                    <a:lstStyle/>
                    <a:p>
                      <a:r>
                        <a:rPr sz="1300" lang="en-GB"/>
                        <a:t>One question*</a:t>
                      </a:r>
                    </a:p>
                  </a:txBody>
                  <a:tcPr marT="60000" marB="60000"/>
                </a:tc>
              </a:tr>
              <a:tr h="370840">
                <a:tc>
                  <a:txBody>
                    <a:bodyPr/>
                    <a:lstStyle/>
                    <a:p>
                      <a:r>
                        <a:rPr sz="1200" b="1" lang="en-GB"/>
                        <a:t>Haiku 5.5</a:t>
                      </a:r>
                    </a:p>
                  </a:txBody>
                  <a:tcPr marT="60000" marB="60000"/>
                </a:tc>
                <a:tc>
                  <a:txBody>
                    <a:bodyPr/>
                    <a:lstStyle/>
                    <a:p>
                      <a:r>
                        <a:rPr sz="1200" lang="en-GB"/>
                        <a:t>0.10 USD</a:t>
                      </a:r>
                    </a:p>
                  </a:txBody>
                  <a:tcPr marT="60000" marB="60000"/>
                </a:tc>
                <a:tc>
                  <a:txBody>
                    <a:bodyPr/>
                    <a:lstStyle/>
                    <a:p>
                      <a:r>
                        <a:rPr sz="1200" lang="en-GB"/>
                        <a:t>0.50 USD</a:t>
                      </a:r>
                    </a:p>
                  </a:txBody>
                  <a:tcPr marT="60000" marB="60000"/>
                </a:tc>
                <a:tc>
                  <a:txBody>
                    <a:bodyPr/>
                    <a:lstStyle/>
                    <a:p>
                      <a:r>
                        <a:rPr sz="1200" lang="en-GB"/>
                        <a:t>≈ 0.1 cent</a:t>
                      </a:r>
                    </a:p>
                  </a:txBody>
                  <a:tcPr marT="60000" marB="60000"/>
                </a:tc>
              </a:tr>
              <a:tr h="370840">
                <a:tc>
                  <a:txBody>
                    <a:bodyPr/>
                    <a:lstStyle/>
                    <a:p>
                      <a:r>
                        <a:rPr sz="1200" b="1" lang="en-GB"/>
                        <a:t>Sonnet 5.5</a:t>
                      </a:r>
                    </a:p>
                  </a:txBody>
                  <a:tcPr marT="60000" marB="60000"/>
                </a:tc>
                <a:tc>
                  <a:txBody>
                    <a:bodyPr/>
                    <a:lstStyle/>
                    <a:p>
                      <a:r>
                        <a:rPr sz="1200" lang="en-GB"/>
                        <a:t>2 USD</a:t>
                      </a:r>
                    </a:p>
                  </a:txBody>
                  <a:tcPr marT="60000" marB="60000"/>
                </a:tc>
                <a:tc>
                  <a:txBody>
                    <a:bodyPr/>
                    <a:lstStyle/>
                    <a:p>
                      <a:r>
                        <a:rPr sz="1200" lang="en-GB"/>
                        <a:t>10 USD</a:t>
                      </a:r>
                    </a:p>
                  </a:txBody>
                  <a:tcPr marT="60000" marB="60000"/>
                </a:tc>
                <a:tc>
                  <a:txBody>
                    <a:bodyPr/>
                    <a:lstStyle/>
                    <a:p>
                      <a:r>
                        <a:rPr sz="1200" lang="en-GB"/>
                        <a:t>≈ 2 cents</a:t>
                      </a:r>
                    </a:p>
                  </a:txBody>
                  <a:tcPr marT="60000" marB="60000"/>
                </a:tc>
              </a:tr>
              <a:tr h="370840">
                <a:tc>
                  <a:txBody>
                    <a:bodyPr/>
                    <a:lstStyle/>
                    <a:p>
                      <a:r>
                        <a:rPr sz="1200" b="1" lang="en-GB"/>
                        <a:t>Opus 5.5</a:t>
                      </a:r>
                    </a:p>
                  </a:txBody>
                  <a:tcPr marT="60000" marB="60000"/>
                </a:tc>
                <a:tc>
                  <a:txBody>
                    <a:bodyPr/>
                    <a:lstStyle/>
                    <a:p>
                      <a:r>
                        <a:rPr sz="1200" lang="en-GB"/>
                        <a:t>4 USD</a:t>
                      </a:r>
                    </a:p>
                  </a:txBody>
                  <a:tcPr marT="60000" marB="60000"/>
                </a:tc>
                <a:tc>
                  <a:txBody>
                    <a:bodyPr/>
                    <a:lstStyle/>
                    <a:p>
                      <a:r>
                        <a:rPr sz="1200" lang="en-GB"/>
                        <a:t>20 USD</a:t>
                      </a:r>
                    </a:p>
                  </a:txBody>
                  <a:tcPr marT="60000" marB="60000"/>
                </a:tc>
                <a:tc>
                  <a:txBody>
                    <a:bodyPr/>
                    <a:lstStyle/>
                    <a:p>
                      <a:r>
                        <a:rPr sz="1200" lang="en-GB"/>
                        <a:t>≈ 4 cents</a:t>
                      </a:r>
                    </a:p>
                  </a:txBody>
                  <a:tcPr marT="60000" marB="60000"/>
                </a:tc>
              </a:tr>
            </a:tbl>
          </a:graphicData>
        </a:graphic>
      </p:graphicFrame>
      <p:sp>
        <p:nvSpPr>
          <p:cNvPr id="3" name="Title 2"/>
          <p:cNvSpPr>
            <a:spLocks noGrp="1"/>
          </p:cNvSpPr>
          <p:nvPr>
            <p:ph type="title"/>
          </p:nvPr>
        </p:nvSpPr>
        <p:spPr/>
        <p:txBody>
          <a:bodyPr/>
          <a:lstStyle/>
          <a:p>
            <a:r>
              <a:rPr sz="1600" lang="en-GB"/>
              <a:t>What a question costs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st foot"/>
          <p:cNvSpPr txBox="1"/>
          <p:nvPr/>
        </p:nvSpPr>
        <p:spPr>
          <a:xfrm>
            <a:off x="457200" y="2880360"/>
            <a:ext cx="8229600" cy="320040"/>
          </a:xfrm>
          <a:prstGeom prst="rect">
            <a:avLst/>
          </a:prstGeom>
          <a:noFill/>
        </p:spPr>
        <p:txBody>
          <a:bodyPr wrap="square" lIns="0" rIns="0" tIns="0" bIns="0" anchor="ctr">
            <a:noAutofit/>
          </a:bodyPr>
          <a:lstStyle/>
          <a:p>
            <a:pPr algn="l">
              <a:spcAft>
                <a:spcPts val="400"/>
              </a:spcAft>
            </a:pPr>
            <a:r>
              <a:rPr sz="1100" b="0" lang="en-GB">
                <a:solidFill>
                  <a:srgbClr val="595959"/>
                </a:solidFill>
              </a:rPr>
              <a:t>* 5,000 tokens in, 1,000 out; own calculation from Anthropic's prices.</a:t>
            </a:r>
          </a:p>
        </p:txBody>
      </p:sp>
      <p:sp>
        <p:nvSpPr>
          <p:cNvPr id="11" name="Cost row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st row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st row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Chat is cheap, agents are not: </a:t>
            </a:r>
            <a:r>
              <a:rPr sz="1200" b="0" lang="en-GB">
                <a:solidFill>
                  <a:schemeClr val="tx1"/>
                </a:solidFill>
              </a:rPr>
              <a:t>an agent that reads your whole project can cost dollars</a:t>
            </a:r>
          </a:p>
        </p:txBody>
      </p:sp>
      <p:sp>
        <p:nvSpPr>
          <p:cNvPr id="14" name="Cost row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st row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st row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Protect yourself: </a:t>
            </a:r>
            <a:r>
              <a:rPr sz="1200" b="0" lang="en-GB">
                <a:solidFill>
                  <a:schemeClr val="tx1"/>
                </a:solidFill>
              </a:rPr>
              <a:t>small prepaid credit, a spend limit, no auto-reload</a:t>
            </a:r>
          </a:p>
        </p:txBody>
      </p:sp>
      <p:sp>
        <p:nvSpPr>
          <p:cNvPr id="17" name="Cost free box"/>
          <p:cNvSpPr/>
          <p:nvPr/>
        </p:nvSpPr>
        <p:spPr>
          <a:xfrm>
            <a:off x="457200" y="43891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Cost free" descr=""/>
          <p:cNvPicPr>
            <a:picLocks noChangeAspect="1"/>
          </p:cNvPicPr>
          <p:nvPr/>
        </p:nvPicPr>
        <p:blipFill>
          <a:blip r:embed="rId3"/>
          <a:stretch>
            <a:fillRect/>
          </a:stretch>
        </p:blipFill>
        <p:spPr>
          <a:xfrm>
            <a:off x="658368" y="4457700"/>
            <a:ext cx="365760" cy="365760"/>
          </a:xfrm>
          <a:prstGeom prst="rect">
            <a:avLst/>
          </a:prstGeom>
        </p:spPr>
      </p:pic>
      <p:sp>
        <p:nvSpPr>
          <p:cNvPr id="19" name="Cost free text"/>
          <p:cNvSpPr txBox="1"/>
          <p:nvPr/>
        </p:nvSpPr>
        <p:spPr>
          <a:xfrm>
            <a:off x="1207008" y="438912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Free alternative: </a:t>
            </a:r>
            <a:r>
              <a:rPr sz="1200" b="0" lang="en-GB">
                <a:solidFill>
                  <a:schemeClr val="bg1"/>
                </a:solidFill>
              </a:rPr>
              <a:t>GitHub Copilot Student in the same pane.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15 of 18 · Claude Code and Codex as panels in Positron</a:t>
            </a:r>
          </a:p>
        </p:txBody>
      </p:sp>
      <p:sp>
        <p:nvSpPr>
          <p:cNvPr id="3" name="Title 2"/>
          <p:cNvSpPr>
            <a:spLocks noGrp="1"/>
          </p:cNvSpPr>
          <p:nvPr>
            <p:ph type="ctrTitle"/>
          </p:nvPr>
        </p:nvSpPr>
        <p:spPr/>
        <p:txBody>
          <a:bodyPr/>
          <a:lstStyle/>
          <a:p>
            <a:r>
              <a:rPr sz="1600" lang="en-GB"/>
              <a:t>Route 2: the vendor's extension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Claude Code extension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ex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ex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Cex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Install and sign in</a:t>
            </a:r>
          </a:p>
        </p:txBody>
      </p:sp>
      <p:pic>
        <p:nvPicPr>
          <p:cNvPr id="13" name="Icon CCext" descr=""/>
          <p:cNvPicPr>
            <a:picLocks noChangeAspect="1"/>
          </p:cNvPicPr>
          <p:nvPr/>
        </p:nvPicPr>
        <p:blipFill>
          <a:blip r:embed="rId3"/>
          <a:stretch>
            <a:fillRect/>
          </a:stretch>
        </p:blipFill>
        <p:spPr>
          <a:xfrm>
            <a:off x="4956048" y="1284732"/>
            <a:ext cx="310896" cy="310896"/>
          </a:xfrm>
          <a:prstGeom prst="rect">
            <a:avLst/>
          </a:prstGeom>
        </p:spPr>
      </p:pic>
      <p:sp>
        <p:nvSpPr>
          <p:cNvPr id="14" name="CCex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Extensions: </a:t>
            </a:r>
            <a:r>
              <a:rPr sz="1300" b="0" lang="en-GB">
                <a:solidFill>
                  <a:schemeClr val="tx1"/>
                </a:solidFill>
              </a:rPr>
              <a:t>Ctrl/Cmd + Shift + X, search Claude Code</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publisher Anthropic, verified badge; Install</a:t>
            </a:r>
          </a:p>
          <a:p>
            <a:pPr algn="l">
              <a:spcAft>
                <a:spcPts val="900"/>
              </a:spcAft>
            </a:pPr>
            <a:r>
              <a:rPr sz="1300" b="1" lang="en-GB">
                <a:solidFill>
                  <a:schemeClr val="accent1"/>
                </a:solidFill>
              </a:rPr>
              <a:t>3  </a:t>
            </a:r>
            <a:r>
              <a:rPr sz="1300" b="1" lang="en-GB">
                <a:solidFill>
                  <a:schemeClr val="tx2"/>
                </a:solidFill>
              </a:rPr>
              <a:t>Open </a:t>
            </a:r>
            <a:r>
              <a:rPr sz="1300" b="0" lang="en-GB">
                <a:solidFill>
                  <a:schemeClr val="tx1"/>
                </a:solidFill>
              </a:rPr>
              <a:t>your project folder and trust it</a:t>
            </a:r>
          </a:p>
          <a:p>
            <a:pPr algn="l">
              <a:spcAft>
                <a:spcPts val="900"/>
              </a:spcAft>
            </a:pPr>
            <a:r>
              <a:rPr sz="1300" b="1" lang="en-GB">
                <a:solidFill>
                  <a:schemeClr val="accent1"/>
                </a:solidFill>
              </a:rPr>
              <a:t>4  </a:t>
            </a:r>
            <a:r>
              <a:rPr sz="1300" b="1" lang="en-GB">
                <a:solidFill>
                  <a:schemeClr val="tx2"/>
                </a:solidFill>
              </a:rPr>
              <a:t>Open a file, click </a:t>
            </a:r>
            <a:r>
              <a:rPr sz="1300" b="0" lang="en-GB">
                <a:solidFill>
                  <a:schemeClr val="tx1"/>
                </a:solidFill>
              </a:rPr>
              <a:t>the spark icon or ✻ Claude Code</a:t>
            </a:r>
          </a:p>
          <a:p>
            <a:pPr algn="l">
              <a:spcAft>
                <a:spcPts val="900"/>
              </a:spcAft>
            </a:pPr>
            <a:r>
              <a:rPr sz="1300" b="1" lang="en-GB">
                <a:solidFill>
                  <a:schemeClr val="accent1"/>
                </a:solidFill>
              </a:rPr>
              <a:t>5  </a:t>
            </a:r>
            <a:r>
              <a:rPr sz="1300" b="1" lang="en-GB">
                <a:solidFill>
                  <a:schemeClr val="tx2"/>
                </a:solidFill>
              </a:rPr>
              <a:t>Sign in </a:t>
            </a:r>
            <a:r>
              <a:rPr sz="1300" b="0" lang="en-GB">
                <a:solidFill>
                  <a:schemeClr val="tx1"/>
                </a:solidFill>
              </a:rPr>
              <a:t>with Claude Pro or Max in the browser</a:t>
            </a:r>
          </a:p>
        </p:txBody>
      </p:sp>
      <p:sp>
        <p:nvSpPr>
          <p:cNvPr id="15" name="CCext card body"/>
          <p:cNvSpPr/>
          <p:nvPr/>
        </p:nvSpPr>
        <p:spPr>
          <a:xfrm>
            <a:off x="5532120" y="1645920"/>
            <a:ext cx="315468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Cex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ex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CCext card" descr=""/>
          <p:cNvPicPr>
            <a:picLocks noChangeAspect="1"/>
          </p:cNvPicPr>
          <p:nvPr/>
        </p:nvPicPr>
        <p:blipFill>
          <a:blip r:embed="rId4"/>
          <a:stretch>
            <a:fillRect/>
          </a:stretch>
        </p:blipFill>
        <p:spPr>
          <a:xfrm>
            <a:off x="8247888" y="1284732"/>
            <a:ext cx="310896" cy="310896"/>
          </a:xfrm>
          <a:prstGeom prst="rect">
            <a:avLst/>
          </a:prstGeom>
        </p:spPr>
      </p:pic>
      <p:sp>
        <p:nvSpPr>
          <p:cNvPr id="19" name="CCext card text"/>
          <p:cNvSpPr txBox="1"/>
          <p:nvPr/>
        </p:nvSpPr>
        <p:spPr>
          <a:xfrm>
            <a:off x="5696712" y="1783080"/>
            <a:ext cx="2852928" cy="2377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Free claude.ai plan: no Claude Code</a:t>
            </a:r>
          </a:p>
          <a:p>
            <a:pPr algn="l" marL="182880" indent="-182880">
              <a:spcAft>
                <a:spcPts val="600"/>
              </a:spcAft>
              <a:buClr>
                <a:schemeClr val="accent1"/>
              </a:buClr>
              <a:buFont typeface="Arial"/>
              <a:buChar char="▪"/>
            </a:pPr>
            <a:r>
              <a:rPr sz="1300" b="0" lang="en-GB">
                <a:solidFill>
                  <a:schemeClr val="tx1"/>
                </a:solidFill>
              </a:rPr>
              <a:t>No spark icon? Open a file, Developer: Reload Window</a:t>
            </a:r>
          </a:p>
          <a:p>
            <a:pPr algn="l" marL="182880" indent="-182880">
              <a:spcAft>
                <a:spcPts val="600"/>
              </a:spcAft>
              <a:buClr>
                <a:schemeClr val="accent1"/>
              </a:buClr>
              <a:buFont typeface="Arial"/>
              <a:buChar char="▪"/>
            </a:pPr>
            <a:r>
              <a:rPr sz="1300" b="0" lang="en-GB">
                <a:solidFill>
                  <a:schemeClr val="tx1"/>
                </a:solidFill>
              </a:rPr>
              <a:t>Shows changes as diffs you accept</a:t>
            </a:r>
          </a:p>
        </p:txBody>
      </p:sp>
      <p:sp>
        <p:nvSpPr>
          <p:cNvPr id="20" name="CCext warn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Cext warn" descr=""/>
          <p:cNvPicPr>
            <a:picLocks noChangeAspect="1"/>
          </p:cNvPicPr>
          <p:nvPr/>
        </p:nvPicPr>
        <p:blipFill>
          <a:blip r:embed="rId5"/>
          <a:stretch>
            <a:fillRect/>
          </a:stretch>
        </p:blipFill>
        <p:spPr>
          <a:xfrm>
            <a:off x="658368" y="4526280"/>
            <a:ext cx="365760" cy="365760"/>
          </a:xfrm>
          <a:prstGeom prst="rect">
            <a:avLst/>
          </a:prstGeom>
        </p:spPr>
      </p:pic>
      <p:sp>
        <p:nvSpPr>
          <p:cNvPr id="22" name="CCext warn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Not officially supported in Positron: </a:t>
            </a:r>
            <a:r>
              <a:rPr sz="1200" b="0" lang="en-GB">
                <a:solidFill>
                  <a:schemeClr val="bg1"/>
                </a:solidFill>
              </a:rPr>
              <a:t>if it fails, use the terminal (Part 16).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Codex extension (OpenAI)</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ext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ex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xex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Install and sign in</a:t>
            </a:r>
          </a:p>
        </p:txBody>
      </p:sp>
      <p:pic>
        <p:nvPicPr>
          <p:cNvPr id="13" name="Icon Cxext" descr=""/>
          <p:cNvPicPr>
            <a:picLocks noChangeAspect="1"/>
          </p:cNvPicPr>
          <p:nvPr/>
        </p:nvPicPr>
        <p:blipFill>
          <a:blip r:embed="rId3"/>
          <a:stretch>
            <a:fillRect/>
          </a:stretch>
        </p:blipFill>
        <p:spPr>
          <a:xfrm>
            <a:off x="4956048" y="1284732"/>
            <a:ext cx="310896" cy="310896"/>
          </a:xfrm>
          <a:prstGeom prst="rect">
            <a:avLst/>
          </a:prstGeom>
        </p:spPr>
      </p:pic>
      <p:sp>
        <p:nvSpPr>
          <p:cNvPr id="14" name="Cxext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Extensions: </a:t>
            </a:r>
            <a:r>
              <a:rPr sz="1300" b="0" lang="en-GB">
                <a:solidFill>
                  <a:schemeClr val="tx1"/>
                </a:solidFill>
              </a:rPr>
              <a:t>search Codex</a:t>
            </a:r>
          </a:p>
          <a:p>
            <a:pPr algn="l">
              <a:spcAft>
                <a:spcPts val="900"/>
              </a:spcAft>
            </a:pPr>
            <a:r>
              <a:rPr sz="1300" b="1" lang="en-GB">
                <a:solidFill>
                  <a:schemeClr val="accent1"/>
                </a:solidFill>
              </a:rPr>
              <a:t>2  </a:t>
            </a:r>
            <a:r>
              <a:rPr sz="1300" b="1" lang="en-GB">
                <a:solidFill>
                  <a:schemeClr val="tx2"/>
                </a:solidFill>
              </a:rPr>
              <a:t>Check: </a:t>
            </a:r>
            <a:r>
              <a:rPr sz="1300" b="0" lang="en-GB">
                <a:solidFill>
                  <a:schemeClr val="tx1"/>
                </a:solidFill>
              </a:rPr>
              <a:t>publisher OpenAI, ID openai.chatgpt</a:t>
            </a:r>
          </a:p>
          <a:p>
            <a:pPr algn="l">
              <a:spcAft>
                <a:spcPts val="900"/>
              </a:spcAft>
            </a:pPr>
            <a:r>
              <a:rPr sz="1300" b="1" lang="en-GB">
                <a:solidFill>
                  <a:schemeClr val="accent1"/>
                </a:solidFill>
              </a:rPr>
              <a:t>3  </a:t>
            </a:r>
            <a:r>
              <a:rPr sz="1300" b="1" lang="en-GB">
                <a:solidFill>
                  <a:schemeClr val="tx2"/>
                </a:solidFill>
              </a:rPr>
              <a:t>Click </a:t>
            </a:r>
            <a:r>
              <a:rPr sz="1300" b="0" lang="en-GB">
                <a:solidFill>
                  <a:schemeClr val="tx1"/>
                </a:solidFill>
              </a:rPr>
              <a:t>Install and trust the publisher</a:t>
            </a:r>
          </a:p>
          <a:p>
            <a:pPr algn="l">
              <a:spcAft>
                <a:spcPts val="900"/>
              </a:spcAft>
            </a:pPr>
            <a:r>
              <a:rPr sz="1300" b="1" lang="en-GB">
                <a:solidFill>
                  <a:schemeClr val="accent1"/>
                </a:solidFill>
              </a:rPr>
              <a:t>4  </a:t>
            </a:r>
            <a:r>
              <a:rPr sz="1300" b="1" lang="en-GB">
                <a:solidFill>
                  <a:schemeClr val="tx2"/>
                </a:solidFill>
              </a:rPr>
              <a:t>Open </a:t>
            </a:r>
            <a:r>
              <a:rPr sz="1300" b="0" lang="en-GB">
                <a:solidFill>
                  <a:schemeClr val="tx1"/>
                </a:solidFill>
              </a:rPr>
              <a:t>the Codex panel</a:t>
            </a:r>
          </a:p>
          <a:p>
            <a:pPr algn="l">
              <a:spcAft>
                <a:spcPts val="900"/>
              </a:spcAft>
            </a:pPr>
            <a:r>
              <a:rPr sz="1300" b="1" lang="en-GB">
                <a:solidFill>
                  <a:schemeClr val="accent1"/>
                </a:solidFill>
              </a:rPr>
              <a:t>5  </a:t>
            </a:r>
            <a:r>
              <a:rPr sz="1300" b="1" lang="en-GB">
                <a:solidFill>
                  <a:schemeClr val="tx2"/>
                </a:solidFill>
              </a:rPr>
              <a:t>Sign in </a:t>
            </a:r>
            <a:r>
              <a:rPr sz="1300" b="0" lang="en-GB">
                <a:solidFill>
                  <a:schemeClr val="tx1"/>
                </a:solidFill>
              </a:rPr>
              <a:t>with your ChatGPT account</a:t>
            </a:r>
          </a:p>
        </p:txBody>
      </p:sp>
      <p:sp>
        <p:nvSpPr>
          <p:cNvPr id="15" name="Cxext card body"/>
          <p:cNvSpPr/>
          <p:nvPr/>
        </p:nvSpPr>
        <p:spPr>
          <a:xfrm>
            <a:off x="5532120" y="1645920"/>
            <a:ext cx="315468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xext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ext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Good to know</a:t>
            </a:r>
          </a:p>
        </p:txBody>
      </p:sp>
      <p:pic>
        <p:nvPicPr>
          <p:cNvPr id="18" name="Icon Cxext card" descr=""/>
          <p:cNvPicPr>
            <a:picLocks noChangeAspect="1"/>
          </p:cNvPicPr>
          <p:nvPr/>
        </p:nvPicPr>
        <p:blipFill>
          <a:blip r:embed="rId4"/>
          <a:stretch>
            <a:fillRect/>
          </a:stretch>
        </p:blipFill>
        <p:spPr>
          <a:xfrm>
            <a:off x="8247888" y="1284732"/>
            <a:ext cx="310896" cy="310896"/>
          </a:xfrm>
          <a:prstGeom prst="rect">
            <a:avLst/>
          </a:prstGeom>
        </p:spPr>
      </p:pic>
      <p:sp>
        <p:nvSpPr>
          <p:cNvPr id="19" name="Cxext card text"/>
          <p:cNvSpPr txBox="1"/>
          <p:nvPr/>
        </p:nvSpPr>
        <p:spPr>
          <a:xfrm>
            <a:off x="5696712" y="1783080"/>
            <a:ext cx="2852928" cy="2377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Works with ChatGPT Free, Go, Plus and higher; limits differ</a:t>
            </a:r>
          </a:p>
          <a:p>
            <a:pPr algn="l" marL="182880" indent="-182880">
              <a:spcAft>
                <a:spcPts val="600"/>
              </a:spcAft>
              <a:buClr>
                <a:schemeClr val="accent1"/>
              </a:buClr>
              <a:buFont typeface="Arial"/>
              <a:buChar char="▪"/>
            </a:pPr>
            <a:r>
              <a:rPr sz="1300" b="0" lang="en-GB">
                <a:solidFill>
                  <a:schemeClr val="tx1"/>
                </a:solidFill>
              </a:rPr>
              <a:t>Same agent as the Codex CLI</a:t>
            </a:r>
          </a:p>
          <a:p>
            <a:pPr algn="l" marL="182880" indent="-182880">
              <a:spcAft>
                <a:spcPts val="600"/>
              </a:spcAft>
              <a:buClr>
                <a:schemeClr val="accent1"/>
              </a:buClr>
              <a:buFont typeface="Arial"/>
              <a:buChar char="▪"/>
            </a:pPr>
            <a:r>
              <a:rPr sz="1300" b="0" lang="en-GB">
                <a:solidFill>
                  <a:schemeClr val="tx1"/>
                </a:solidFill>
              </a:rPr>
              <a:t>Windows: native, or WSL if needed</a:t>
            </a:r>
          </a:p>
        </p:txBody>
      </p:sp>
      <p:sp>
        <p:nvSpPr>
          <p:cNvPr id="20" name="Cxext warn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xext warn" descr=""/>
          <p:cNvPicPr>
            <a:picLocks noChangeAspect="1"/>
          </p:cNvPicPr>
          <p:nvPr/>
        </p:nvPicPr>
        <p:blipFill>
          <a:blip r:embed="rId5"/>
          <a:stretch>
            <a:fillRect/>
          </a:stretch>
        </p:blipFill>
        <p:spPr>
          <a:xfrm>
            <a:off x="658368" y="4526280"/>
            <a:ext cx="365760" cy="365760"/>
          </a:xfrm>
          <a:prstGeom prst="rect">
            <a:avLst/>
          </a:prstGeom>
        </p:spPr>
      </p:pic>
      <p:sp>
        <p:nvSpPr>
          <p:cNvPr id="22" name="Cxext warn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Not in the list? </a:t>
            </a:r>
            <a:r>
              <a:rPr sz="1200" b="0" lang="en-GB">
                <a:solidFill>
                  <a:schemeClr val="bg1"/>
                </a:solidFill>
              </a:rPr>
              <a:t>use the Codex CLI in the terminal (Part 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If an extension does not show up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otfound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otfound number 1"/>
          <p:cNvSpPr/>
          <p:nvPr/>
        </p:nvSpPr>
        <p:spPr>
          <a:xfrm>
            <a:off x="594360" y="1362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Notfound text 1"/>
          <p:cNvSpPr txBox="1"/>
          <p:nvPr/>
        </p:nvSpPr>
        <p:spPr>
          <a:xfrm>
            <a:off x="1051560" y="123444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Search again </a:t>
            </a:r>
            <a:r>
              <a:rPr sz="1200" b="0" lang="en-GB">
                <a:solidFill>
                  <a:schemeClr val="tx1"/>
                </a:solidFill>
              </a:rPr>
              <a:t>with the publisher name: Anthropic or OpenAI</a:t>
            </a:r>
          </a:p>
        </p:txBody>
      </p:sp>
      <p:sp>
        <p:nvSpPr>
          <p:cNvPr id="13" name="Notfound row 2"/>
          <p:cNvSpPr/>
          <p:nvPr/>
        </p:nvSpPr>
        <p:spPr>
          <a:xfrm>
            <a:off x="457200" y="187452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Notfound number 2"/>
          <p:cNvSpPr/>
          <p:nvPr/>
        </p:nvSpPr>
        <p:spPr>
          <a:xfrm>
            <a:off x="594360" y="2002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Notfound text 2"/>
          <p:cNvSpPr txBox="1"/>
          <p:nvPr/>
        </p:nvSpPr>
        <p:spPr>
          <a:xfrm>
            <a:off x="1051560" y="187452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Switch the gallery: </a:t>
            </a:r>
            <a:r>
              <a:rPr sz="1200" b="0" lang="en-GB">
                <a:solidFill>
                  <a:schemeClr val="tx1"/>
                </a:solidFill>
              </a:rPr>
              <a:t>setting positron.extensions.gallerySource → Open VSX, restart</a:t>
            </a:r>
          </a:p>
        </p:txBody>
      </p:sp>
      <p:sp>
        <p:nvSpPr>
          <p:cNvPr id="16" name="Notfound row 3"/>
          <p:cNvSpPr/>
          <p:nvPr/>
        </p:nvSpPr>
        <p:spPr>
          <a:xfrm>
            <a:off x="457200" y="251460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otfound number 3"/>
          <p:cNvSpPr/>
          <p:nvPr/>
        </p:nvSpPr>
        <p:spPr>
          <a:xfrm>
            <a:off x="594360" y="26426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Notfound text 3"/>
          <p:cNvSpPr txBox="1"/>
          <p:nvPr/>
        </p:nvSpPr>
        <p:spPr>
          <a:xfrm>
            <a:off x="1051560" y="251460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Install a file: </a:t>
            </a:r>
            <a:r>
              <a:rPr sz="1200" b="0" lang="en-GB">
                <a:solidFill>
                  <a:schemeClr val="tx1"/>
                </a:solidFill>
              </a:rPr>
              <a:t>Extensions: Install from VSIX</a:t>
            </a:r>
          </a:p>
        </p:txBody>
      </p:sp>
      <p:sp>
        <p:nvSpPr>
          <p:cNvPr id="19" name="Notfound row 4"/>
          <p:cNvSpPr/>
          <p:nvPr/>
        </p:nvSpPr>
        <p:spPr>
          <a:xfrm>
            <a:off x="457200" y="315468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otfound number 4"/>
          <p:cNvSpPr/>
          <p:nvPr/>
        </p:nvSpPr>
        <p:spPr>
          <a:xfrm>
            <a:off x="594360" y="3282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Notfound text 4"/>
          <p:cNvSpPr txBox="1"/>
          <p:nvPr/>
        </p:nvSpPr>
        <p:spPr>
          <a:xfrm>
            <a:off x="1051560" y="315468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Or skip it: </a:t>
            </a:r>
            <a:r>
              <a:rPr sz="1200" b="0" lang="en-GB">
                <a:solidFill>
                  <a:schemeClr val="tx1"/>
                </a:solidFill>
              </a:rPr>
              <a:t>the terminal route needs no extension</a:t>
            </a:r>
          </a:p>
        </p:txBody>
      </p:sp>
      <p:sp>
        <p:nvSpPr>
          <p:cNvPr id="22" name="Notfound saf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Notfound safe" descr=""/>
          <p:cNvPicPr>
            <a:picLocks noChangeAspect="1"/>
          </p:cNvPicPr>
          <p:nvPr/>
        </p:nvPicPr>
        <p:blipFill>
          <a:blip r:embed="rId3"/>
          <a:stretch>
            <a:fillRect/>
          </a:stretch>
        </p:blipFill>
        <p:spPr>
          <a:xfrm>
            <a:off x="658368" y="4183380"/>
            <a:ext cx="365760" cy="365760"/>
          </a:xfrm>
          <a:prstGeom prst="rect">
            <a:avLst/>
          </a:prstGeom>
        </p:spPr>
      </p:pic>
      <p:sp>
        <p:nvSpPr>
          <p:cNvPr id="24" name="Notfound saf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Only official publishers: </a:t>
            </a:r>
            <a:r>
              <a:rPr sz="1200" b="0" lang="en-GB">
                <a:solidFill>
                  <a:schemeClr val="bg1"/>
                </a:solidFill>
              </a:rPr>
              <a:t>fake look-alike extensions exist. Check the publisher and the verified badge.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16 of 18 · install Claude Code and Codex, sign in, work with an agent</a:t>
            </a:r>
          </a:p>
        </p:txBody>
      </p:sp>
      <p:sp>
        <p:nvSpPr>
          <p:cNvPr id="3" name="Title 2"/>
          <p:cNvSpPr>
            <a:spLocks noGrp="1"/>
          </p:cNvSpPr>
          <p:nvPr>
            <p:ph type="ctrTitle"/>
          </p:nvPr>
        </p:nvSpPr>
        <p:spPr/>
        <p:txBody>
          <a:bodyPr/>
          <a:lstStyle/>
          <a:p>
            <a:r>
              <a:rPr sz="1600" lang="en-GB"/>
              <a:t>Route 3: the agent in the terminal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Claude Code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C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C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irm https://claude.ai/install.ps1 | iex</a:t>
            </a:r>
          </a:p>
        </p:txBody>
      </p:sp>
      <p:sp>
        <p:nvSpPr>
          <p:cNvPr id="14" name="CC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C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C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https://claude.ai/install.sh | bash</a:t>
            </a:r>
          </a:p>
        </p:txBody>
      </p:sp>
      <p:sp>
        <p:nvSpPr>
          <p:cNvPr id="18" name="CC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C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check, then start</a:t>
            </a:r>
          </a:p>
        </p:txBody>
      </p:sp>
      <p:sp>
        <p:nvSpPr>
          <p:cNvPr id="20" name="CC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C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claude --version</a:t>
            </a:r>
          </a:p>
          <a:p>
            <a:pPr algn="l">
              <a:spcAft>
                <a:spcPts val="0"/>
              </a:spcAft>
            </a:pPr>
            <a:r>
              <a:rPr sz="1200" b="0" lang="en-GB">
                <a:solidFill>
                  <a:schemeClr val="bg1"/>
                </a:solidFill>
                <a:latin typeface="Consolas"/>
              </a:rPr>
              <a:t>claude</a:t>
            </a:r>
          </a:p>
        </p:txBody>
      </p:sp>
      <p:sp>
        <p:nvSpPr>
          <p:cNvPr id="22" name="CC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C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C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C sign" descr=""/>
          <p:cNvPicPr>
            <a:picLocks noChangeAspect="1"/>
          </p:cNvPicPr>
          <p:nvPr/>
        </p:nvPicPr>
        <p:blipFill>
          <a:blip r:embed="rId3"/>
          <a:stretch>
            <a:fillRect/>
          </a:stretch>
        </p:blipFill>
        <p:spPr>
          <a:xfrm>
            <a:off x="8247888" y="2816352"/>
            <a:ext cx="310896" cy="310896"/>
          </a:xfrm>
          <a:prstGeom prst="rect">
            <a:avLst/>
          </a:prstGeom>
        </p:spPr>
      </p:pic>
      <p:sp>
        <p:nvSpPr>
          <p:cNvPr id="26" name="CC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Pro, Max or Console account</a:t>
            </a:r>
          </a:p>
          <a:p>
            <a:pPr algn="l" marL="182880" indent="-182880">
              <a:spcAft>
                <a:spcPts val="600"/>
              </a:spcAft>
              <a:buClr>
                <a:schemeClr val="accent1"/>
              </a:buClr>
              <a:buFont typeface="Arial"/>
              <a:buChar char="▪"/>
            </a:pPr>
            <a:r>
              <a:rPr sz="1300" b="0" lang="en-GB">
                <a:solidFill>
                  <a:schemeClr val="tx1"/>
                </a:solidFill>
              </a:rPr>
              <a:t>Code shown? Paste it</a:t>
            </a:r>
          </a:p>
        </p:txBody>
      </p:sp>
      <p:sp>
        <p:nvSpPr>
          <p:cNvPr id="27" name="CC trap box"/>
          <p:cNvSpPr/>
          <p:nvPr/>
        </p:nvSpPr>
        <p:spPr>
          <a:xfrm>
            <a:off x="457200" y="402336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C trap" descr=""/>
          <p:cNvPicPr>
            <a:picLocks noChangeAspect="1"/>
          </p:cNvPicPr>
          <p:nvPr/>
        </p:nvPicPr>
        <p:blipFill>
          <a:blip r:embed="rId4"/>
          <a:stretch>
            <a:fillRect/>
          </a:stretch>
        </p:blipFill>
        <p:spPr>
          <a:xfrm>
            <a:off x="658368" y="4229100"/>
            <a:ext cx="365760" cy="365760"/>
          </a:xfrm>
          <a:prstGeom prst="rect">
            <a:avLst/>
          </a:prstGeom>
        </p:spPr>
      </p:pic>
      <p:sp>
        <p:nvSpPr>
          <p:cNvPr id="29" name="CC trap text"/>
          <p:cNvSpPr txBox="1"/>
          <p:nvPr/>
        </p:nvSpPr>
        <p:spPr>
          <a:xfrm>
            <a:off x="1207008" y="402336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Billed to the API by mistake? </a:t>
            </a:r>
            <a:r>
              <a:rPr sz="1200" b="0" lang="en-GB">
                <a:solidFill>
                  <a:schemeClr val="bg1"/>
                </a:solidFill>
              </a:rPr>
              <a:t>if ANTHROPIC_API_KEY is set, Claude Code may use it instead of Pro. Type /status to check.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Claude in the Positron terminal: 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 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 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C 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Claude Pro, Max, Team or Enterprise, or a Console account; free claude.ai plan: no Claude Code</a:t>
            </a:r>
          </a:p>
        </p:txBody>
      </p:sp>
      <p:sp>
        <p:nvSpPr>
          <p:cNvPr id="13" name="CC check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C check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C check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Install once: </a:t>
            </a:r>
            <a:r>
              <a:rPr sz="1200" b="0" lang="en-GB">
                <a:solidFill>
                  <a:schemeClr val="tx1"/>
                </a:solidFill>
              </a:rPr>
              <a:t>the installer of the last slide; no admin rights, no WSL; Git for Windows is optional</a:t>
            </a:r>
          </a:p>
        </p:txBody>
      </p:sp>
      <p:sp>
        <p:nvSpPr>
          <p:cNvPr id="16" name="CC check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 check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C check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new terminal tab, claude --version and claude doctor; not recognized? quit Positron fully, restart</a:t>
            </a:r>
          </a:p>
        </p:txBody>
      </p:sp>
      <p:sp>
        <p:nvSpPr>
          <p:cNvPr id="19" name="CC check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C check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C check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Start and sign in: </a:t>
            </a:r>
            <a:r>
              <a:rPr sz="1200" b="0" lang="en-GB">
                <a:solidFill>
                  <a:schemeClr val="tx1"/>
                </a:solidFill>
              </a:rPr>
              <a:t>claude in the project folder, sign in in the browser; /status shows the account; /exit ends</a:t>
            </a:r>
          </a:p>
        </p:txBody>
      </p:sp>
      <p:sp>
        <p:nvSpPr>
          <p:cNvPr id="22" name="CC check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C check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C check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Optional, diffs in the editor: </a:t>
            </a:r>
            <a:r>
              <a:rPr sz="1200" b="0" lang="en-GB">
                <a:solidFill>
                  <a:schemeClr val="tx1"/>
                </a:solidFill>
              </a:rPr>
              <a:t>also install the Claude Code extension, then type /ide (test it once)</a:t>
            </a:r>
          </a:p>
        </p:txBody>
      </p:sp>
      <p:sp>
        <p:nvSpPr>
          <p:cNvPr id="25" name="CC optional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C optional" descr=""/>
          <p:cNvPicPr>
            <a:picLocks noChangeAspect="1"/>
          </p:cNvPicPr>
          <p:nvPr/>
        </p:nvPicPr>
        <p:blipFill>
          <a:blip r:embed="rId3"/>
          <a:stretch>
            <a:fillRect/>
          </a:stretch>
        </p:blipFill>
        <p:spPr>
          <a:xfrm>
            <a:off x="658368" y="4343400"/>
            <a:ext cx="365760" cy="365760"/>
          </a:xfrm>
          <a:prstGeom prst="rect">
            <a:avLst/>
          </a:prstGeom>
        </p:spPr>
      </p:pic>
      <p:sp>
        <p:nvSpPr>
          <p:cNvPr id="27" name="CC optional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Optional: </a:t>
            </a:r>
            <a:r>
              <a:rPr sz="1200" b="0" lang="en-GB">
                <a:solidFill>
                  <a:schemeClr val="bg1"/>
                </a:solidFill>
              </a:rPr>
              <a:t>needs a paid Claude plan. Course default: Posit Assistant with GitHub Copilot, free for students.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Codex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x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x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powershell -ExecutionPolicy ByPass -c "irm https://chatgpt.com/codex/install.ps1 | iex"</a:t>
            </a:r>
          </a:p>
        </p:txBody>
      </p:sp>
      <p:sp>
        <p:nvSpPr>
          <p:cNvPr id="14" name="Cx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x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x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https://chatgpt.com/codex/install.sh | sh</a:t>
            </a:r>
          </a:p>
        </p:txBody>
      </p:sp>
      <p:sp>
        <p:nvSpPr>
          <p:cNvPr id="18" name="Cx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x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start, check</a:t>
            </a:r>
          </a:p>
        </p:txBody>
      </p:sp>
      <p:sp>
        <p:nvSpPr>
          <p:cNvPr id="20" name="Cx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x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codex</a:t>
            </a:r>
          </a:p>
          <a:p>
            <a:pPr algn="l">
              <a:spcAft>
                <a:spcPts val="0"/>
              </a:spcAft>
            </a:pPr>
            <a:r>
              <a:rPr sz="1200" b="0" lang="en-GB">
                <a:solidFill>
                  <a:schemeClr val="bg1"/>
                </a:solidFill>
                <a:latin typeface="Consolas"/>
              </a:rPr>
              <a:t>codex login status</a:t>
            </a:r>
          </a:p>
        </p:txBody>
      </p:sp>
      <p:sp>
        <p:nvSpPr>
          <p:cNvPr id="22" name="Cx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x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x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x sign" descr=""/>
          <p:cNvPicPr>
            <a:picLocks noChangeAspect="1"/>
          </p:cNvPicPr>
          <p:nvPr/>
        </p:nvPicPr>
        <p:blipFill>
          <a:blip r:embed="rId3"/>
          <a:stretch>
            <a:fillRect/>
          </a:stretch>
        </p:blipFill>
        <p:spPr>
          <a:xfrm>
            <a:off x="8247888" y="2816352"/>
            <a:ext cx="310896" cy="310896"/>
          </a:xfrm>
          <a:prstGeom prst="rect">
            <a:avLst/>
          </a:prstGeom>
        </p:spPr>
      </p:pic>
      <p:sp>
        <p:nvSpPr>
          <p:cNvPr id="26" name="Cx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Choose Sign in with ChatGPT</a:t>
            </a:r>
          </a:p>
          <a:p>
            <a:pPr algn="l" marL="182880" indent="-182880">
              <a:spcAft>
                <a:spcPts val="600"/>
              </a:spcAft>
              <a:buClr>
                <a:schemeClr val="accent1"/>
              </a:buClr>
              <a:buFont typeface="Arial"/>
              <a:buChar char="▪"/>
            </a:pPr>
            <a:r>
              <a:rPr sz="1300" b="0" lang="en-GB">
                <a:solidFill>
                  <a:schemeClr val="tx1"/>
                </a:solidFill>
              </a:rPr>
              <a:t>Browser fails? codex login --device-auth</a:t>
            </a:r>
          </a:p>
        </p:txBody>
      </p:sp>
      <p:sp>
        <p:nvSpPr>
          <p:cNvPr id="27" name="Cx ok box"/>
          <p:cNvSpPr/>
          <p:nvPr/>
        </p:nvSpPr>
        <p:spPr>
          <a:xfrm>
            <a:off x="457200" y="402336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x ok" descr=""/>
          <p:cNvPicPr>
            <a:picLocks noChangeAspect="1"/>
          </p:cNvPicPr>
          <p:nvPr/>
        </p:nvPicPr>
        <p:blipFill>
          <a:blip r:embed="rId4"/>
          <a:stretch>
            <a:fillRect/>
          </a:stretch>
        </p:blipFill>
        <p:spPr>
          <a:xfrm>
            <a:off x="658368" y="4183380"/>
            <a:ext cx="365760" cy="365760"/>
          </a:xfrm>
          <a:prstGeom prst="rect">
            <a:avLst/>
          </a:prstGeom>
        </p:spPr>
      </p:pic>
      <p:sp>
        <p:nvSpPr>
          <p:cNvPr id="29" name="Cx ok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Works without the extension: </a:t>
            </a:r>
            <a:r>
              <a:rPr sz="1200" b="0" lang="en-GB">
                <a:solidFill>
                  <a:schemeClr val="tx1"/>
                </a:solidFill>
              </a:rPr>
              <a:t>the terminal route is the most reliable way in Positron.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Codex in the Positron terminal: 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 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 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x 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ChatGPT Plus, Pro, Business, Edu or Enterprise; Free and Go with tighter limits; or an API key</a:t>
            </a:r>
          </a:p>
        </p:txBody>
      </p:sp>
      <p:sp>
        <p:nvSpPr>
          <p:cNvPr id="13" name="Cx check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x check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x check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Install once: </a:t>
            </a:r>
            <a:r>
              <a:rPr sz="1200" b="0" lang="en-GB">
                <a:solidFill>
                  <a:schemeClr val="tx1"/>
                </a:solidFill>
              </a:rPr>
              <a:t>the installer of the last slide, or brew install --cask codex; Windows: no WSL needed</a:t>
            </a:r>
          </a:p>
        </p:txBody>
      </p:sp>
      <p:sp>
        <p:nvSpPr>
          <p:cNvPr id="16" name="Cx check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 check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x check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new terminal tab, codex login status; not recognized? quit Positron fully and restart</a:t>
            </a:r>
          </a:p>
        </p:txBody>
      </p:sp>
      <p:sp>
        <p:nvSpPr>
          <p:cNvPr id="19" name="Cx check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x check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x check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Start and sign in: </a:t>
            </a:r>
            <a:r>
              <a:rPr sz="1200" b="0" lang="en-GB">
                <a:solidFill>
                  <a:schemeClr val="tx1"/>
                </a:solidFill>
              </a:rPr>
              <a:t>codex in the project folder, Sign in with ChatGPT; browser fails? codex login --device-auth</a:t>
            </a:r>
          </a:p>
        </p:txBody>
      </p:sp>
      <p:sp>
        <p:nvSpPr>
          <p:cNvPr id="22" name="Cx check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x check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x check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Optional, live session: </a:t>
            </a:r>
            <a:r>
              <a:rPr sz="1200" b="0" lang="en-GB">
                <a:solidFill>
                  <a:schemeClr val="tx1"/>
                </a:solidFill>
              </a:rPr>
              <a:t>tick ai.mcp.enabled, Positron MCP: Add to Coding Agent → Codex, start codex here</a:t>
            </a:r>
          </a:p>
        </p:txBody>
      </p:sp>
      <p:sp>
        <p:nvSpPr>
          <p:cNvPr id="25" name="Cx optional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x optional" descr=""/>
          <p:cNvPicPr>
            <a:picLocks noChangeAspect="1"/>
          </p:cNvPicPr>
          <p:nvPr/>
        </p:nvPicPr>
        <p:blipFill>
          <a:blip r:embed="rId3"/>
          <a:stretch>
            <a:fillRect/>
          </a:stretch>
        </p:blipFill>
        <p:spPr>
          <a:xfrm>
            <a:off x="658368" y="4343400"/>
            <a:ext cx="365760" cy="365760"/>
          </a:xfrm>
          <a:prstGeom prst="rect">
            <a:avLst/>
          </a:prstGeom>
        </p:spPr>
      </p:pic>
      <p:sp>
        <p:nvSpPr>
          <p:cNvPr id="27" name="Cx optional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Optional: </a:t>
            </a:r>
            <a:r>
              <a:rPr sz="1200" b="0" lang="en-GB">
                <a:solidFill>
                  <a:schemeClr val="bg1"/>
                </a:solidFill>
              </a:rPr>
              <a:t>best with ChatGPT Plus or higher. Course default: Posit Assistant with GitHub Copilot, free for students.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Working with a coding agent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gent steps step 1"/>
          <p:cNvSpPr/>
          <p:nvPr/>
        </p:nvSpPr>
        <p:spPr>
          <a:xfrm>
            <a:off x="457200" y="1234440"/>
            <a:ext cx="173370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Open the</a:t>
            </a:r>
            <a:br/>
            <a:r>
              <a:rPr sz="1100" b="1" lang="en-GB">
                <a:solidFill>
                  <a:schemeClr val="tx2"/>
                </a:solidFill>
              </a:rPr>
              <a:t>project</a:t>
            </a:r>
          </a:p>
        </p:txBody>
      </p:sp>
      <p:sp>
        <p:nvSpPr>
          <p:cNvPr id="11" name="Agent steps step 2"/>
          <p:cNvSpPr/>
          <p:nvPr/>
        </p:nvSpPr>
        <p:spPr>
          <a:xfrm>
            <a:off x="2081174"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Start</a:t>
            </a:r>
            <a:br/>
            <a:r>
              <a:rPr sz="1100" b="1" lang="en-GB">
                <a:solidFill>
                  <a:schemeClr val="tx2"/>
                </a:solidFill>
              </a:rPr>
              <a:t>the agent</a:t>
            </a:r>
          </a:p>
        </p:txBody>
      </p:sp>
      <p:sp>
        <p:nvSpPr>
          <p:cNvPr id="12" name="Agent steps step 3"/>
          <p:cNvSpPr/>
          <p:nvPr/>
        </p:nvSpPr>
        <p:spPr>
          <a:xfrm>
            <a:off x="3705149"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Ask in plain</a:t>
            </a:r>
            <a:br/>
            <a:r>
              <a:rPr sz="1100" b="1" lang="en-GB">
                <a:solidFill>
                  <a:schemeClr val="tx2"/>
                </a:solidFill>
              </a:rPr>
              <a:t>English</a:t>
            </a:r>
          </a:p>
        </p:txBody>
      </p:sp>
      <p:sp>
        <p:nvSpPr>
          <p:cNvPr id="13" name="Agent steps step 4"/>
          <p:cNvSpPr/>
          <p:nvPr/>
        </p:nvSpPr>
        <p:spPr>
          <a:xfrm>
            <a:off x="5329123"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Approve</a:t>
            </a:r>
            <a:br/>
            <a:r>
              <a:rPr sz="1100" b="1" lang="en-GB">
                <a:solidFill>
                  <a:schemeClr val="tx2"/>
                </a:solidFill>
              </a:rPr>
              <a:t>changes</a:t>
            </a:r>
          </a:p>
        </p:txBody>
      </p:sp>
      <p:sp>
        <p:nvSpPr>
          <p:cNvPr id="14" name="Agent steps step 5"/>
          <p:cNvSpPr/>
          <p:nvPr/>
        </p:nvSpPr>
        <p:spPr>
          <a:xfrm>
            <a:off x="6953098" y="1234440"/>
            <a:ext cx="173370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Run and</a:t>
            </a:r>
            <a:br/>
            <a:r>
              <a:rPr sz="1100" b="1" lang="en-GB">
                <a:solidFill>
                  <a:schemeClr val="tx2"/>
                </a:solidFill>
              </a:rPr>
              <a:t>check</a:t>
            </a:r>
          </a:p>
        </p:txBody>
      </p:sp>
      <p:sp>
        <p:nvSpPr>
          <p:cNvPr id="15" name="Agent memory caption bar"/>
          <p:cNvSpPr/>
          <p:nvPr/>
        </p:nvSpPr>
        <p:spPr>
          <a:xfrm>
            <a:off x="457200" y="1920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gent memory caption"/>
          <p:cNvSpPr txBox="1"/>
          <p:nvPr/>
        </p:nvSpPr>
        <p:spPr>
          <a:xfrm>
            <a:off x="566928" y="1920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CLAUDE.md or AGENTS.md</a:t>
            </a:r>
          </a:p>
        </p:txBody>
      </p:sp>
      <p:sp>
        <p:nvSpPr>
          <p:cNvPr id="17" name="Agent memory box"/>
          <p:cNvSpPr/>
          <p:nvPr/>
        </p:nvSpPr>
        <p:spPr>
          <a:xfrm>
            <a:off x="457200" y="2194560"/>
            <a:ext cx="402336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gent memory code"/>
          <p:cNvSpPr txBox="1"/>
          <p:nvPr/>
        </p:nvSpPr>
        <p:spPr>
          <a:xfrm>
            <a:off x="594360" y="2286000"/>
            <a:ext cx="3749040" cy="868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Use polars, plotnine, great_tables</a:t>
            </a:r>
          </a:p>
          <a:p>
            <a:pPr algn="l">
              <a:spcAft>
                <a:spcPts val="0"/>
              </a:spcAft>
            </a:pPr>
            <a:r>
              <a:rPr sz="1100" b="0" lang="en-GB">
                <a:solidFill>
                  <a:schemeClr val="bg1"/>
                </a:solidFill>
                <a:latin typeface="Consolas"/>
              </a:rPr>
              <a:t>and statsmodels only. Explain each</a:t>
            </a:r>
          </a:p>
          <a:p>
            <a:pPr algn="l">
              <a:spcAft>
                <a:spcPts val="0"/>
              </a:spcAft>
            </a:pPr>
            <a:r>
              <a:rPr sz="1100" b="0" lang="en-GB">
                <a:solidFill>
                  <a:schemeClr val="bg1"/>
                </a:solidFill>
                <a:latin typeface="Consolas"/>
              </a:rPr>
              <a:t>model in two sentences. Never</a:t>
            </a:r>
          </a:p>
          <a:p>
            <a:pPr algn="l">
              <a:spcAft>
                <a:spcPts val="0"/>
              </a:spcAft>
            </a:pPr>
            <a:r>
              <a:rPr sz="1100" b="0" lang="en-GB">
                <a:solidFill>
                  <a:schemeClr val="bg1"/>
                </a:solidFill>
                <a:latin typeface="Consolas"/>
              </a:rPr>
              <a:t>read data/personal/.</a:t>
            </a:r>
          </a:p>
        </p:txBody>
      </p:sp>
      <p:sp>
        <p:nvSpPr>
          <p:cNvPr id="19" name="Agent prompt caption bar"/>
          <p:cNvSpPr/>
          <p:nvPr/>
        </p:nvSpPr>
        <p:spPr>
          <a:xfrm>
            <a:off x="4663440" y="19202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gent prompt caption"/>
          <p:cNvSpPr txBox="1"/>
          <p:nvPr/>
        </p:nvSpPr>
        <p:spPr>
          <a:xfrm>
            <a:off x="4773168" y="19202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A good request</a:t>
            </a:r>
          </a:p>
        </p:txBody>
      </p:sp>
      <p:sp>
        <p:nvSpPr>
          <p:cNvPr id="21" name="Agent prompt box"/>
          <p:cNvSpPr/>
          <p:nvPr/>
        </p:nvSpPr>
        <p:spPr>
          <a:xfrm>
            <a:off x="4663440" y="2194560"/>
            <a:ext cx="402336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gent prompt code"/>
          <p:cNvSpPr txBox="1"/>
          <p:nvPr/>
        </p:nvSpPr>
        <p:spPr>
          <a:xfrm>
            <a:off x="4800600" y="2286000"/>
            <a:ext cx="3749040" cy="8686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Read report.qmd and list every</a:t>
            </a:r>
          </a:p>
          <a:p>
            <a:pPr algn="l">
              <a:spcAft>
                <a:spcPts val="0"/>
              </a:spcAft>
            </a:pPr>
            <a:r>
              <a:rPr sz="1100" b="0" lang="en-GB">
                <a:solidFill>
                  <a:schemeClr val="bg1"/>
                </a:solidFill>
                <a:latin typeface="Consolas"/>
              </a:rPr>
              <a:t>number in the text that is not</a:t>
            </a:r>
          </a:p>
          <a:p>
            <a:pPr algn="l">
              <a:spcAft>
                <a:spcPts val="0"/>
              </a:spcAft>
            </a:pPr>
            <a:r>
              <a:rPr sz="1100" b="0" lang="en-GB">
                <a:solidFill>
                  <a:schemeClr val="bg1"/>
                </a:solidFill>
                <a:latin typeface="Consolas"/>
              </a:rPr>
              <a:t>computed by inline code.</a:t>
            </a:r>
          </a:p>
        </p:txBody>
      </p:sp>
      <p:sp>
        <p:nvSpPr>
          <p:cNvPr id="23" name="Agent rows row 1"/>
          <p:cNvSpPr/>
          <p:nvPr/>
        </p:nvSpPr>
        <p:spPr>
          <a:xfrm>
            <a:off x="457200" y="3383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gent rows bar 1"/>
          <p:cNvSpPr/>
          <p:nvPr/>
        </p:nvSpPr>
        <p:spPr>
          <a:xfrm>
            <a:off x="457200" y="33832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gent rows text 1"/>
          <p:cNvSpPr txBox="1"/>
          <p:nvPr/>
        </p:nvSpPr>
        <p:spPr>
          <a:xfrm>
            <a:off x="658368" y="33832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Ask-first mode: </a:t>
            </a:r>
            <a:r>
              <a:rPr sz="1200" b="0" lang="en-GB">
                <a:solidFill>
                  <a:schemeClr val="tx1"/>
                </a:solidFill>
              </a:rPr>
              <a:t>read every proposed change and command before you approve it</a:t>
            </a:r>
          </a:p>
        </p:txBody>
      </p:sp>
      <p:sp>
        <p:nvSpPr>
          <p:cNvPr id="26" name="Agent rows row 2"/>
          <p:cNvSpPr/>
          <p:nvPr/>
        </p:nvSpPr>
        <p:spPr>
          <a:xfrm>
            <a:off x="457200" y="39044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gent rows bar 2"/>
          <p:cNvSpPr/>
          <p:nvPr/>
        </p:nvSpPr>
        <p:spPr>
          <a:xfrm>
            <a:off x="457200" y="39044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Agent rows text 2"/>
          <p:cNvSpPr txBox="1"/>
          <p:nvPr/>
        </p:nvSpPr>
        <p:spPr>
          <a:xfrm>
            <a:off x="658368" y="39044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Small steps: </a:t>
            </a:r>
            <a:r>
              <a:rPr sz="1200" b="0" lang="en-GB">
                <a:solidFill>
                  <a:schemeClr val="tx1"/>
                </a:solidFill>
              </a:rPr>
              <a:t>one task at a time, then render and check</a:t>
            </a:r>
          </a:p>
        </p:txBody>
      </p:sp>
      <p:sp>
        <p:nvSpPr>
          <p:cNvPr id="29" name="Agent own box"/>
          <p:cNvSpPr/>
          <p:nvPr/>
        </p:nvSpPr>
        <p:spPr>
          <a:xfrm>
            <a:off x="457200" y="44805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Agent own" descr=""/>
          <p:cNvPicPr>
            <a:picLocks noChangeAspect="1"/>
          </p:cNvPicPr>
          <p:nvPr/>
        </p:nvPicPr>
        <p:blipFill>
          <a:blip r:embed="rId3"/>
          <a:stretch>
            <a:fillRect/>
          </a:stretch>
        </p:blipFill>
        <p:spPr>
          <a:xfrm>
            <a:off x="658368" y="4549140"/>
            <a:ext cx="365760" cy="365760"/>
          </a:xfrm>
          <a:prstGeom prst="rect">
            <a:avLst/>
          </a:prstGeom>
        </p:spPr>
      </p:pic>
      <p:sp>
        <p:nvSpPr>
          <p:cNvPr id="31" name="Agent own text"/>
          <p:cNvSpPr txBox="1"/>
          <p:nvPr/>
        </p:nvSpPr>
        <p:spPr>
          <a:xfrm>
            <a:off x="1207008" y="448056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You own every number: </a:t>
            </a:r>
            <a:r>
              <a:rPr sz="1200" b="0" lang="en-GB">
                <a:solidFill>
                  <a:schemeClr val="bg1"/>
                </a:solidFill>
              </a:rPr>
              <a:t>agents make confident mistakes.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17 of 18 · what it does, how to switch it on, why to be careful</a:t>
            </a:r>
          </a:p>
        </p:txBody>
      </p:sp>
      <p:sp>
        <p:nvSpPr>
          <p:cNvPr id="3" name="Title 2"/>
          <p:cNvSpPr>
            <a:spLocks noGrp="1"/>
          </p:cNvSpPr>
          <p:nvPr>
            <p:ph type="ctrTitle"/>
          </p:nvPr>
        </p:nvSpPr>
        <p:spPr/>
        <p:txBody>
          <a:bodyPr/>
          <a:lstStyle/>
          <a:p>
            <a:r>
              <a:rPr sz="1600" lang="en-GB"/>
              <a:t>Route 4: MCP, the agent in your live session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Positron's MCP server does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oes 1 body"/>
          <p:cNvSpPr/>
          <p:nvPr/>
        </p:nvSpPr>
        <p:spPr>
          <a:xfrm>
            <a:off x="45720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oes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oes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code</a:t>
            </a:r>
          </a:p>
        </p:txBody>
      </p:sp>
      <p:pic>
        <p:nvPicPr>
          <p:cNvPr id="13" name="Icon Does 1" descr=""/>
          <p:cNvPicPr>
            <a:picLocks noChangeAspect="1"/>
          </p:cNvPicPr>
          <p:nvPr/>
        </p:nvPicPr>
        <p:blipFill>
          <a:blip r:embed="rId3"/>
          <a:stretch>
            <a:fillRect/>
          </a:stretch>
        </p:blipFill>
        <p:spPr>
          <a:xfrm>
            <a:off x="2670048" y="1284732"/>
            <a:ext cx="310896" cy="310896"/>
          </a:xfrm>
          <a:prstGeom prst="rect">
            <a:avLst/>
          </a:prstGeom>
        </p:spPr>
      </p:pic>
      <p:sp>
        <p:nvSpPr>
          <p:cNvPr id="14" name="Does 1 text"/>
          <p:cNvSpPr txBox="1"/>
          <p:nvPr/>
        </p:nvSpPr>
        <p:spPr>
          <a:xfrm>
            <a:off x="62179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in your live Python session</a:t>
            </a:r>
          </a:p>
          <a:p>
            <a:pPr algn="l" marL="182880" indent="-182880">
              <a:spcAft>
                <a:spcPts val="600"/>
              </a:spcAft>
              <a:buClr>
                <a:schemeClr val="accent1"/>
              </a:buClr>
              <a:buFont typeface="Arial"/>
              <a:buChar char="▪"/>
            </a:pPr>
            <a:r>
              <a:rPr sz="1300" b="0" lang="en-GB">
                <a:solidFill>
                  <a:schemeClr val="tx1"/>
                </a:solidFill>
              </a:rPr>
              <a:t>labelled in the Console</a:t>
            </a:r>
          </a:p>
        </p:txBody>
      </p:sp>
      <p:sp>
        <p:nvSpPr>
          <p:cNvPr id="15" name="Does 2 body"/>
          <p:cNvSpPr/>
          <p:nvPr/>
        </p:nvSpPr>
        <p:spPr>
          <a:xfrm>
            <a:off x="324612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oes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oes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See plots</a:t>
            </a:r>
          </a:p>
        </p:txBody>
      </p:sp>
      <p:pic>
        <p:nvPicPr>
          <p:cNvPr id="18" name="Icon Does 2" descr=""/>
          <p:cNvPicPr>
            <a:picLocks noChangeAspect="1"/>
          </p:cNvPicPr>
          <p:nvPr/>
        </p:nvPicPr>
        <p:blipFill>
          <a:blip r:embed="rId4"/>
          <a:stretch>
            <a:fillRect/>
          </a:stretch>
        </p:blipFill>
        <p:spPr>
          <a:xfrm>
            <a:off x="5458968" y="1284732"/>
            <a:ext cx="310896" cy="310896"/>
          </a:xfrm>
          <a:prstGeom prst="rect">
            <a:avLst/>
          </a:prstGeom>
        </p:spPr>
      </p:pic>
      <p:sp>
        <p:nvSpPr>
          <p:cNvPr id="19" name="Does 2 text"/>
          <p:cNvSpPr txBox="1"/>
          <p:nvPr/>
        </p:nvSpPr>
        <p:spPr>
          <a:xfrm>
            <a:off x="341071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the current plot</a:t>
            </a:r>
          </a:p>
          <a:p>
            <a:pPr algn="l" marL="182880" indent="-182880">
              <a:spcAft>
                <a:spcPts val="600"/>
              </a:spcAft>
              <a:buClr>
                <a:schemeClr val="accent1"/>
              </a:buClr>
              <a:buFont typeface="Arial"/>
              <a:buChar char="▪"/>
            </a:pPr>
            <a:r>
              <a:rPr sz="1300" b="0" lang="en-GB">
                <a:solidFill>
                  <a:schemeClr val="tx1"/>
                </a:solidFill>
              </a:rPr>
              <a:t>as an image</a:t>
            </a:r>
          </a:p>
        </p:txBody>
      </p:sp>
      <p:sp>
        <p:nvSpPr>
          <p:cNvPr id="20" name="Does 3 body"/>
          <p:cNvSpPr/>
          <p:nvPr/>
        </p:nvSpPr>
        <p:spPr>
          <a:xfrm>
            <a:off x="6035040" y="1645920"/>
            <a:ext cx="265176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oes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oes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Use Positron</a:t>
            </a:r>
          </a:p>
        </p:txBody>
      </p:sp>
      <p:pic>
        <p:nvPicPr>
          <p:cNvPr id="23" name="Icon Does 3" descr=""/>
          <p:cNvPicPr>
            <a:picLocks noChangeAspect="1"/>
          </p:cNvPicPr>
          <p:nvPr/>
        </p:nvPicPr>
        <p:blipFill>
          <a:blip r:embed="rId5"/>
          <a:stretch>
            <a:fillRect/>
          </a:stretch>
        </p:blipFill>
        <p:spPr>
          <a:xfrm>
            <a:off x="8247888" y="1284732"/>
            <a:ext cx="310896" cy="310896"/>
          </a:xfrm>
          <a:prstGeom prst="rect">
            <a:avLst/>
          </a:prstGeom>
        </p:spPr>
      </p:pic>
      <p:sp>
        <p:nvSpPr>
          <p:cNvPr id="24" name="Does 3 text"/>
          <p:cNvSpPr txBox="1"/>
          <p:nvPr/>
        </p:nvSpPr>
        <p:spPr>
          <a:xfrm>
            <a:off x="6199632" y="1783080"/>
            <a:ext cx="235000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run Positron commands</a:t>
            </a:r>
          </a:p>
          <a:p>
            <a:pPr algn="l" marL="182880" indent="-182880">
              <a:spcAft>
                <a:spcPts val="600"/>
              </a:spcAft>
              <a:buClr>
                <a:schemeClr val="accent1"/>
              </a:buClr>
              <a:buFont typeface="Arial"/>
              <a:buChar char="▪"/>
            </a:pPr>
            <a:r>
              <a:rPr sz="1300" b="0" lang="en-GB">
                <a:solidFill>
                  <a:schemeClr val="tx1"/>
                </a:solidFill>
              </a:rPr>
              <a:t>read session history</a:t>
            </a:r>
          </a:p>
        </p:txBody>
      </p:sp>
      <p:sp>
        <p:nvSpPr>
          <p:cNvPr id="25" name="Does rows row 1"/>
          <p:cNvSpPr/>
          <p:nvPr/>
        </p:nvSpPr>
        <p:spPr>
          <a:xfrm>
            <a:off x="457200" y="32918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oes rows bar 1"/>
          <p:cNvSpPr/>
          <p:nvPr/>
        </p:nvSpPr>
        <p:spPr>
          <a:xfrm>
            <a:off x="457200" y="32918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oes rows text 1"/>
          <p:cNvSpPr txBox="1"/>
          <p:nvPr/>
        </p:nvSpPr>
        <p:spPr>
          <a:xfrm>
            <a:off x="658368" y="32918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Agents: </a:t>
            </a:r>
            <a:r>
              <a:rPr sz="1200" b="0" lang="en-GB">
                <a:solidFill>
                  <a:schemeClr val="tx1"/>
                </a:solidFill>
              </a:rPr>
              <a:t>Claude Code, Codex and Gemini CLI</a:t>
            </a:r>
          </a:p>
        </p:txBody>
      </p:sp>
      <p:sp>
        <p:nvSpPr>
          <p:cNvPr id="28" name="Does rows row 2"/>
          <p:cNvSpPr/>
          <p:nvPr/>
        </p:nvSpPr>
        <p:spPr>
          <a:xfrm>
            <a:off x="457200" y="38130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oes rows bar 2"/>
          <p:cNvSpPr/>
          <p:nvPr/>
        </p:nvSpPr>
        <p:spPr>
          <a:xfrm>
            <a:off x="457200" y="38130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Does rows text 2"/>
          <p:cNvSpPr txBox="1"/>
          <p:nvPr/>
        </p:nvSpPr>
        <p:spPr>
          <a:xfrm>
            <a:off x="658368" y="38130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Why useful: </a:t>
            </a:r>
            <a:r>
              <a:rPr sz="1200" b="0" lang="en-GB">
                <a:solidFill>
                  <a:schemeClr val="tx1"/>
                </a:solidFill>
              </a:rPr>
              <a:t>the agent sees your real data frame instead of guessing its columns</a:t>
            </a:r>
          </a:p>
        </p:txBody>
      </p:sp>
      <p:sp>
        <p:nvSpPr>
          <p:cNvPr id="31" name="Does exp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Does exp" descr=""/>
          <p:cNvPicPr>
            <a:picLocks noChangeAspect="1"/>
          </p:cNvPicPr>
          <p:nvPr/>
        </p:nvPicPr>
        <p:blipFill>
          <a:blip r:embed="rId6"/>
          <a:stretch>
            <a:fillRect/>
          </a:stretch>
        </p:blipFill>
        <p:spPr>
          <a:xfrm>
            <a:off x="658368" y="4526280"/>
            <a:ext cx="365760" cy="365760"/>
          </a:xfrm>
          <a:prstGeom prst="rect">
            <a:avLst/>
          </a:prstGeom>
        </p:spPr>
      </p:pic>
      <p:sp>
        <p:nvSpPr>
          <p:cNvPr id="33" name="Does exp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Experimental: </a:t>
            </a:r>
            <a:r>
              <a:rPr sz="1200" b="0" lang="en-GB">
                <a:solidFill>
                  <a:schemeClr val="bg1"/>
                </a:solidFill>
              </a:rPr>
              <a:t>off by default; settings and behaviour may change.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Switch it 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CPcc body"/>
          <p:cNvSpPr/>
          <p:nvPr/>
        </p:nvSpPr>
        <p:spPr>
          <a:xfrm>
            <a:off x="45720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CPcc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CPcc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Claude Code</a:t>
            </a:r>
          </a:p>
        </p:txBody>
      </p:sp>
      <p:pic>
        <p:nvPicPr>
          <p:cNvPr id="13" name="Icon MCPcc" descr=""/>
          <p:cNvPicPr>
            <a:picLocks noChangeAspect="1"/>
          </p:cNvPicPr>
          <p:nvPr/>
        </p:nvPicPr>
        <p:blipFill>
          <a:blip r:embed="rId3"/>
          <a:stretch>
            <a:fillRect/>
          </a:stretch>
        </p:blipFill>
        <p:spPr>
          <a:xfrm>
            <a:off x="4041648" y="1284732"/>
            <a:ext cx="310896" cy="310896"/>
          </a:xfrm>
          <a:prstGeom prst="rect">
            <a:avLst/>
          </a:prstGeom>
        </p:spPr>
      </p:pic>
      <p:sp>
        <p:nvSpPr>
          <p:cNvPr id="14" name="MCPcc text"/>
          <p:cNvSpPr txBox="1"/>
          <p:nvPr/>
        </p:nvSpPr>
        <p:spPr>
          <a:xfrm>
            <a:off x="621792" y="1783080"/>
            <a:ext cx="3721608" cy="22860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Settings: </a:t>
            </a:r>
            <a:r>
              <a:rPr sz="1200" b="0" lang="en-GB">
                <a:solidFill>
                  <a:schemeClr val="tx1"/>
                </a:solidFill>
              </a:rPr>
              <a:t>tick ai.mcp.enabled</a:t>
            </a:r>
          </a:p>
          <a:p>
            <a:pPr algn="l">
              <a:spcAft>
                <a:spcPts val="900"/>
              </a:spcAft>
            </a:pPr>
            <a:r>
              <a:rPr sz="1200" b="1" lang="en-GB">
                <a:solidFill>
                  <a:schemeClr val="accent1"/>
                </a:solidFill>
              </a:rPr>
              <a:t>2  </a:t>
            </a:r>
            <a:r>
              <a:rPr sz="1200" b="1" lang="en-GB">
                <a:solidFill>
                  <a:schemeClr val="tx2"/>
                </a:solidFill>
              </a:rPr>
              <a:t>Open </a:t>
            </a:r>
            <a:r>
              <a:rPr sz="1200" b="0" lang="en-GB">
                <a:solidFill>
                  <a:schemeClr val="tx1"/>
                </a:solidFill>
              </a:rPr>
              <a:t>the project, start Python</a:t>
            </a:r>
          </a:p>
          <a:p>
            <a:pPr algn="l">
              <a:spcAft>
                <a:spcPts val="900"/>
              </a:spcAft>
            </a:pPr>
            <a:r>
              <a:rPr sz="1200" b="1" lang="en-GB">
                <a:solidFill>
                  <a:schemeClr val="accent1"/>
                </a:solidFill>
              </a:rPr>
              <a:t>3  </a:t>
            </a:r>
            <a:r>
              <a:rPr sz="1200" b="1" lang="en-GB">
                <a:solidFill>
                  <a:schemeClr val="tx2"/>
                </a:solidFill>
              </a:rPr>
              <a:t>Terminal: </a:t>
            </a:r>
            <a:r>
              <a:rPr sz="1200" b="0" lang="en-GB">
                <a:solidFill>
                  <a:schemeClr val="tx1"/>
                </a:solidFill>
              </a:rPr>
              <a:t>claude (restart if open)</a:t>
            </a:r>
          </a:p>
          <a:p>
            <a:pPr algn="l">
              <a:spcAft>
                <a:spcPts val="900"/>
              </a:spcAft>
            </a:pPr>
            <a:r>
              <a:rPr sz="1200" b="1" lang="en-GB">
                <a:solidFill>
                  <a:schemeClr val="accent1"/>
                </a:solidFill>
              </a:rPr>
              <a:t>4  </a:t>
            </a:r>
            <a:r>
              <a:rPr sz="1200" b="1" lang="en-GB">
                <a:solidFill>
                  <a:schemeClr val="tx2"/>
                </a:solidFill>
              </a:rPr>
              <a:t>Type </a:t>
            </a:r>
            <a:r>
              <a:rPr sz="1200" b="0" lang="en-GB">
                <a:solidFill>
                  <a:schemeClr val="tx1"/>
                </a:solidFill>
              </a:rPr>
              <a:t>/mcp: positron is listed</a:t>
            </a:r>
          </a:p>
        </p:txBody>
      </p:sp>
      <p:sp>
        <p:nvSpPr>
          <p:cNvPr id="15" name="MCPcx body"/>
          <p:cNvSpPr/>
          <p:nvPr/>
        </p:nvSpPr>
        <p:spPr>
          <a:xfrm>
            <a:off x="4663440" y="1645920"/>
            <a:ext cx="402336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CPcx header"/>
          <p:cNvSpPr/>
          <p:nvPr/>
        </p:nvSpPr>
        <p:spPr>
          <a:xfrm>
            <a:off x="466344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CPcx heading"/>
          <p:cNvSpPr txBox="1"/>
          <p:nvPr/>
        </p:nvSpPr>
        <p:spPr>
          <a:xfrm>
            <a:off x="480060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Codex</a:t>
            </a:r>
          </a:p>
        </p:txBody>
      </p:sp>
      <p:pic>
        <p:nvPicPr>
          <p:cNvPr id="18" name="Icon MCPcx" descr=""/>
          <p:cNvPicPr>
            <a:picLocks noChangeAspect="1"/>
          </p:cNvPicPr>
          <p:nvPr/>
        </p:nvPicPr>
        <p:blipFill>
          <a:blip r:embed="rId3"/>
          <a:stretch>
            <a:fillRect/>
          </a:stretch>
        </p:blipFill>
        <p:spPr>
          <a:xfrm>
            <a:off x="8247888" y="1284732"/>
            <a:ext cx="310896" cy="310896"/>
          </a:xfrm>
          <a:prstGeom prst="rect">
            <a:avLst/>
          </a:prstGeom>
        </p:spPr>
      </p:pic>
      <p:sp>
        <p:nvSpPr>
          <p:cNvPr id="19" name="MCPcx text"/>
          <p:cNvSpPr txBox="1"/>
          <p:nvPr/>
        </p:nvSpPr>
        <p:spPr>
          <a:xfrm>
            <a:off x="4828032" y="1783080"/>
            <a:ext cx="3721608" cy="22860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Settings: </a:t>
            </a:r>
            <a:r>
              <a:rPr sz="1200" b="0" lang="en-GB">
                <a:solidFill>
                  <a:schemeClr val="tx1"/>
                </a:solidFill>
              </a:rPr>
              <a:t>tick ai.mcp.enabled</a:t>
            </a:r>
          </a:p>
          <a:p>
            <a:pPr algn="l">
              <a:spcAft>
                <a:spcPts val="900"/>
              </a:spcAft>
            </a:pPr>
            <a:r>
              <a:rPr sz="1200" b="1" lang="en-GB">
                <a:solidFill>
                  <a:schemeClr val="accent1"/>
                </a:solidFill>
              </a:rPr>
              <a:t>2  </a:t>
            </a:r>
            <a:r>
              <a:rPr sz="1200" b="1" lang="en-GB">
                <a:solidFill>
                  <a:schemeClr val="tx2"/>
                </a:solidFill>
              </a:rPr>
              <a:t>Command Palette: </a:t>
            </a:r>
            <a:r>
              <a:rPr sz="1200" b="0" lang="en-GB">
                <a:solidFill>
                  <a:schemeClr val="tx1"/>
                </a:solidFill>
              </a:rPr>
              <a:t>Positron MCP: Add to Coding Agent → Codex</a:t>
            </a:r>
          </a:p>
          <a:p>
            <a:pPr algn="l">
              <a:spcAft>
                <a:spcPts val="900"/>
              </a:spcAft>
            </a:pPr>
            <a:r>
              <a:rPr sz="1200" b="1" lang="en-GB">
                <a:solidFill>
                  <a:schemeClr val="accent1"/>
                </a:solidFill>
              </a:rPr>
              <a:t>3  </a:t>
            </a:r>
            <a:r>
              <a:rPr sz="1200" b="1" lang="en-GB">
                <a:solidFill>
                  <a:schemeClr val="tx2"/>
                </a:solidFill>
              </a:rPr>
              <a:t>Positron terminal: </a:t>
            </a:r>
            <a:r>
              <a:rPr sz="1200" b="0" lang="en-GB">
                <a:solidFill>
                  <a:schemeClr val="tx1"/>
                </a:solidFill>
              </a:rPr>
              <a:t>codex</a:t>
            </a:r>
          </a:p>
          <a:p>
            <a:pPr algn="l">
              <a:spcAft>
                <a:spcPts val="900"/>
              </a:spcAft>
            </a:pPr>
            <a:r>
              <a:rPr sz="1200" b="1" lang="en-GB">
                <a:solidFill>
                  <a:schemeClr val="accent1"/>
                </a:solidFill>
              </a:rPr>
              <a:t>4  </a:t>
            </a:r>
            <a:r>
              <a:rPr sz="1200" b="1" lang="en-GB">
                <a:solidFill>
                  <a:schemeClr val="tx2"/>
                </a:solidFill>
              </a:rPr>
              <a:t>Check: </a:t>
            </a:r>
            <a:r>
              <a:rPr sz="1200" b="0" lang="en-GB">
                <a:solidFill>
                  <a:schemeClr val="tx1"/>
                </a:solidFill>
              </a:rPr>
              <a:t>Positron MCP: Show Connected Agents</a:t>
            </a:r>
          </a:p>
        </p:txBody>
      </p:sp>
      <p:sp>
        <p:nvSpPr>
          <p:cNvPr id="20" name="MCP ask box"/>
          <p:cNvSpPr/>
          <p:nvPr/>
        </p:nvSpPr>
        <p:spPr>
          <a:xfrm>
            <a:off x="457200" y="429768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MCP ask" descr=""/>
          <p:cNvPicPr>
            <a:picLocks noChangeAspect="1"/>
          </p:cNvPicPr>
          <p:nvPr/>
        </p:nvPicPr>
        <p:blipFill>
          <a:blip r:embed="rId4"/>
          <a:stretch>
            <a:fillRect/>
          </a:stretch>
        </p:blipFill>
        <p:spPr>
          <a:xfrm>
            <a:off x="658368" y="4434840"/>
            <a:ext cx="365760" cy="365760"/>
          </a:xfrm>
          <a:prstGeom prst="rect">
            <a:avLst/>
          </a:prstGeom>
        </p:spPr>
      </p:pic>
      <p:sp>
        <p:nvSpPr>
          <p:cNvPr id="22" name="MCP ask text"/>
          <p:cNvSpPr txBox="1"/>
          <p:nvPr/>
        </p:nvSpPr>
        <p:spPr>
          <a:xfrm>
            <a:off x="1207008" y="429768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Then ask: </a:t>
            </a:r>
            <a:r>
              <a:rPr sz="1200" b="0" lang="en-GB">
                <a:solidFill>
                  <a:schemeClr val="bg1"/>
                </a:solidFill>
              </a:rPr>
              <a:t>“Use the positron tools to summarise the data frame choc in my Python session.”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to be careful with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reful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eful number 1"/>
          <p:cNvSpPr/>
          <p:nvPr/>
        </p:nvSpPr>
        <p:spPr>
          <a:xfrm>
            <a:off x="594360" y="1362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areful text 1"/>
          <p:cNvSpPr txBox="1"/>
          <p:nvPr/>
        </p:nvSpPr>
        <p:spPr>
          <a:xfrm>
            <a:off x="1051560" y="123444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No approval in Positron: </a:t>
            </a:r>
            <a:r>
              <a:rPr sz="1200" b="0" lang="en-GB">
                <a:solidFill>
                  <a:schemeClr val="tx1"/>
                </a:solidFill>
              </a:rPr>
              <a:t>only the agent's own prompts stand between it and your session</a:t>
            </a:r>
          </a:p>
        </p:txBody>
      </p:sp>
      <p:sp>
        <p:nvSpPr>
          <p:cNvPr id="13" name="Careful row 2"/>
          <p:cNvSpPr/>
          <p:nvPr/>
        </p:nvSpPr>
        <p:spPr>
          <a:xfrm>
            <a:off x="457200" y="187452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areful number 2"/>
          <p:cNvSpPr/>
          <p:nvPr/>
        </p:nvSpPr>
        <p:spPr>
          <a:xfrm>
            <a:off x="594360" y="2002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areful text 2"/>
          <p:cNvSpPr txBox="1"/>
          <p:nvPr/>
        </p:nvSpPr>
        <p:spPr>
          <a:xfrm>
            <a:off x="1051560" y="187452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It sees what you loaded: </a:t>
            </a:r>
            <a:r>
              <a:rPr sz="1200" b="0" lang="en-GB">
                <a:solidFill>
                  <a:schemeClr val="tx1"/>
                </a:solidFill>
              </a:rPr>
              <a:t>never load personal data in a session an agent can use</a:t>
            </a:r>
          </a:p>
        </p:txBody>
      </p:sp>
      <p:sp>
        <p:nvSpPr>
          <p:cNvPr id="16" name="Careful row 3"/>
          <p:cNvSpPr/>
          <p:nvPr/>
        </p:nvSpPr>
        <p:spPr>
          <a:xfrm>
            <a:off x="457200" y="251460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eful number 3"/>
          <p:cNvSpPr/>
          <p:nvPr/>
        </p:nvSpPr>
        <p:spPr>
          <a:xfrm>
            <a:off x="594360" y="26426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areful text 3"/>
          <p:cNvSpPr txBox="1"/>
          <p:nvPr/>
        </p:nvSpPr>
        <p:spPr>
          <a:xfrm>
            <a:off x="1051560" y="251460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Keep ask-first mode: </a:t>
            </a:r>
            <a:r>
              <a:rPr sz="1200" b="0" lang="en-GB">
                <a:solidFill>
                  <a:schemeClr val="tx1"/>
                </a:solidFill>
              </a:rPr>
              <a:t>never allow every command automatically</a:t>
            </a:r>
          </a:p>
        </p:txBody>
      </p:sp>
      <p:sp>
        <p:nvSpPr>
          <p:cNvPr id="19" name="Careful row 4"/>
          <p:cNvSpPr/>
          <p:nvPr/>
        </p:nvSpPr>
        <p:spPr>
          <a:xfrm>
            <a:off x="457200" y="315468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reful number 4"/>
          <p:cNvSpPr/>
          <p:nvPr/>
        </p:nvSpPr>
        <p:spPr>
          <a:xfrm>
            <a:off x="594360" y="3282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areful text 4"/>
          <p:cNvSpPr txBox="1"/>
          <p:nvPr/>
        </p:nvSpPr>
        <p:spPr>
          <a:xfrm>
            <a:off x="1051560" y="3154680"/>
            <a:ext cx="7498080"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Switch it off </a:t>
            </a:r>
            <a:r>
              <a:rPr sz="1200" b="0" lang="en-GB">
                <a:solidFill>
                  <a:schemeClr val="tx1"/>
                </a:solidFill>
              </a:rPr>
              <a:t>when you do not need it: untick ai.mcp.enabled</a:t>
            </a:r>
          </a:p>
        </p:txBody>
      </p:sp>
      <p:sp>
        <p:nvSpPr>
          <p:cNvPr id="22" name="Careful cours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areful course" descr=""/>
          <p:cNvPicPr>
            <a:picLocks noChangeAspect="1"/>
          </p:cNvPicPr>
          <p:nvPr/>
        </p:nvPicPr>
        <p:blipFill>
          <a:blip r:embed="rId3"/>
          <a:stretch>
            <a:fillRect/>
          </a:stretch>
        </p:blipFill>
        <p:spPr>
          <a:xfrm>
            <a:off x="658368" y="4183380"/>
            <a:ext cx="365760" cy="365760"/>
          </a:xfrm>
          <a:prstGeom prst="rect">
            <a:avLst/>
          </a:prstGeom>
        </p:spPr>
      </p:pic>
      <p:sp>
        <p:nvSpPr>
          <p:cNvPr id="24" name="Careful cours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For this course: </a:t>
            </a:r>
            <a:r>
              <a:rPr sz="1200" b="0" lang="en-GB">
                <a:solidFill>
                  <a:schemeClr val="bg1"/>
                </a:solidFill>
              </a:rPr>
              <a:t>a demonstration, not a requirement. Coursework never depends on it.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18 of 18 · which route for what, costs, privacy, course rules, problems</a:t>
            </a:r>
          </a:p>
        </p:txBody>
      </p:sp>
      <p:sp>
        <p:nvSpPr>
          <p:cNvPr id="3" name="Title 2"/>
          <p:cNvSpPr>
            <a:spLocks noGrp="1"/>
          </p:cNvSpPr>
          <p:nvPr>
            <p:ph type="ctrTitle"/>
          </p:nvPr>
        </p:nvSpPr>
        <p:spPr/>
        <p:txBody>
          <a:bodyPr/>
          <a:lstStyle/>
          <a:p>
            <a:r>
              <a:rPr sz="1600" lang="en-GB"/>
              <a:t>Choose and use it safely</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Which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200400"/>
                <a:gridCol w="3108960"/>
                <a:gridCol w="1920240"/>
              </a:tblGrid>
              <a:tr h="370840">
                <a:tc>
                  <a:txBody>
                    <a:bodyPr/>
                    <a:lstStyle/>
                    <a:p>
                      <a:r>
                        <a:rPr sz="1300" lang="en-GB"/>
                        <a:t>I want …</a:t>
                      </a:r>
                    </a:p>
                  </a:txBody>
                  <a:tcPr marT="50000" marB="50000"/>
                </a:tc>
                <a:tc>
                  <a:txBody>
                    <a:bodyPr/>
                    <a:lstStyle/>
                    <a:p>
                      <a:r>
                        <a:rPr sz="1300" lang="en-GB"/>
                        <a:t>Best route</a:t>
                      </a:r>
                    </a:p>
                  </a:txBody>
                  <a:tcPr marT="50000" marB="50000"/>
                </a:tc>
                <a:tc>
                  <a:txBody>
                    <a:bodyPr/>
                    <a:lstStyle/>
                    <a:p>
                      <a:r>
                        <a:rPr sz="1300" lang="en-GB"/>
                        <a:t>Cost for a student</a:t>
                      </a:r>
                    </a:p>
                  </a:txBody>
                  <a:tcPr marT="50000" marB="50000"/>
                </a:tc>
              </a:tr>
              <a:tr h="370840">
                <a:tc>
                  <a:txBody>
                    <a:bodyPr/>
                    <a:lstStyle/>
                    <a:p>
                      <a:r>
                        <a:rPr sz="1200" b="1" lang="en-GB"/>
                        <a:t>chat about my data, free</a:t>
                      </a:r>
                    </a:p>
                  </a:txBody>
                  <a:tcPr marT="50000" marB="50000"/>
                </a:tc>
                <a:tc>
                  <a:txBody>
                    <a:bodyPr/>
                    <a:lstStyle/>
                    <a:p>
                      <a:r>
                        <a:rPr sz="1200" lang="en-GB"/>
                        <a:t>Posit Assistant + GitHub Copilot Student</a:t>
                      </a:r>
                    </a:p>
                  </a:txBody>
                  <a:tcPr marT="50000" marB="50000"/>
                </a:tc>
                <a:tc>
                  <a:txBody>
                    <a:bodyPr/>
                    <a:lstStyle/>
                    <a:p>
                      <a:r>
                        <a:rPr sz="1200" lang="en-GB"/>
                        <a:t>0 USD</a:t>
                      </a:r>
                    </a:p>
                  </a:txBody>
                  <a:tcPr marT="50000" marB="50000"/>
                </a:tc>
              </a:tr>
              <a:tr h="370840">
                <a:tc>
                  <a:txBody>
                    <a:bodyPr/>
                    <a:lstStyle/>
                    <a:p>
                      <a:r>
                        <a:rPr sz="1200" b="1" lang="en-GB"/>
                        <a:t>chat with a specific Claude or GPT model</a:t>
                      </a:r>
                    </a:p>
                  </a:txBody>
                  <a:tcPr marT="50000" marB="50000"/>
                </a:tc>
                <a:tc>
                  <a:txBody>
                    <a:bodyPr/>
                    <a:lstStyle/>
                    <a:p>
                      <a:r>
                        <a:rPr sz="1200" lang="en-GB"/>
                        <a:t>Posit Assistant + API key</a:t>
                      </a:r>
                    </a:p>
                  </a:txBody>
                  <a:tcPr marT="50000" marB="50000"/>
                </a:tc>
                <a:tc>
                  <a:txBody>
                    <a:bodyPr/>
                    <a:lstStyle/>
                    <a:p>
                      <a:r>
                        <a:rPr sz="1200" lang="en-GB"/>
                        <a:t>pay per use</a:t>
                      </a:r>
                    </a:p>
                  </a:txBody>
                  <a:tcPr marT="50000" marB="50000"/>
                </a:tc>
              </a:tr>
              <a:tr h="370840">
                <a:tc>
                  <a:txBody>
                    <a:bodyPr/>
                    <a:lstStyle/>
                    <a:p>
                      <a:r>
                        <a:rPr sz="1200" b="1" lang="en-GB"/>
                        <a:t>an agent for bigger tasks, I have Claude Pro</a:t>
                      </a:r>
                    </a:p>
                  </a:txBody>
                  <a:tcPr marT="50000" marB="50000"/>
                </a:tc>
                <a:tc>
                  <a:txBody>
                    <a:bodyPr/>
                    <a:lstStyle/>
                    <a:p>
                      <a:r>
                        <a:rPr sz="1200" lang="en-GB"/>
                        <a:t>Claude Code: terminal or extension</a:t>
                      </a:r>
                    </a:p>
                  </a:txBody>
                  <a:tcPr marT="50000" marB="50000"/>
                </a:tc>
                <a:tc>
                  <a:txBody>
                    <a:bodyPr/>
                    <a:lstStyle/>
                    <a:p>
                      <a:r>
                        <a:rPr sz="1200" lang="en-GB"/>
                        <a:t>20 USD a month (Pro)</a:t>
                      </a:r>
                    </a:p>
                  </a:txBody>
                  <a:tcPr marT="50000" marB="50000"/>
                </a:tc>
              </a:tr>
              <a:tr h="370840">
                <a:tc>
                  <a:txBody>
                    <a:bodyPr/>
                    <a:lstStyle/>
                    <a:p>
                      <a:r>
                        <a:rPr sz="1200" b="1" lang="en-GB"/>
                        <a:t>an agent, I have a ChatGPT account</a:t>
                      </a:r>
                    </a:p>
                  </a:txBody>
                  <a:tcPr marT="50000" marB="50000"/>
                </a:tc>
                <a:tc>
                  <a:txBody>
                    <a:bodyPr/>
                    <a:lstStyle/>
                    <a:p>
                      <a:r>
                        <a:rPr sz="1200" lang="en-GB"/>
                        <a:t>Codex: terminal or extension</a:t>
                      </a:r>
                    </a:p>
                  </a:txBody>
                  <a:tcPr marT="50000" marB="50000"/>
                </a:tc>
                <a:tc>
                  <a:txBody>
                    <a:bodyPr/>
                    <a:lstStyle/>
                    <a:p>
                      <a:r>
                        <a:rPr sz="1200" lang="en-GB"/>
                        <a:t>0–20 USD a month</a:t>
                      </a:r>
                    </a:p>
                  </a:txBody>
                  <a:tcPr marT="50000" marB="50000"/>
                </a:tc>
              </a:tr>
              <a:tr h="370840">
                <a:tc>
                  <a:txBody>
                    <a:bodyPr/>
                    <a:lstStyle/>
                    <a:p>
                      <a:r>
                        <a:rPr sz="1200" b="1" lang="en-GB"/>
                        <a:t>grey code suggestions while typing</a:t>
                      </a:r>
                    </a:p>
                  </a:txBody>
                  <a:tcPr marT="50000" marB="50000"/>
                </a:tc>
                <a:tc>
                  <a:txBody>
                    <a:bodyPr/>
                    <a:lstStyle/>
                    <a:p>
                      <a:r>
                        <a:rPr sz="1200" lang="en-GB"/>
                        <a:t>GitHub Copilot or Posit AI Pass</a:t>
                      </a:r>
                    </a:p>
                  </a:txBody>
                  <a:tcPr marT="50000" marB="50000"/>
                </a:tc>
                <a:tc>
                  <a:txBody>
                    <a:bodyPr/>
                    <a:lstStyle/>
                    <a:p>
                      <a:r>
                        <a:rPr sz="1200" lang="en-GB"/>
                        <a:t>0 or 20 USD a month</a:t>
                      </a:r>
                    </a:p>
                  </a:txBody>
                  <a:tcPr marT="50000" marB="50000"/>
                </a:tc>
              </a:tr>
            </a:tbl>
          </a:graphicData>
        </a:graphic>
      </p:graphicFrame>
      <p:sp>
        <p:nvSpPr>
          <p:cNvPr id="3" name="Title 2"/>
          <p:cNvSpPr>
            <a:spLocks noGrp="1"/>
          </p:cNvSpPr>
          <p:nvPr>
            <p:ph type="title"/>
          </p:nvPr>
        </p:nvSpPr>
        <p:spPr/>
        <p:txBody>
          <a:bodyPr/>
          <a:lstStyle/>
          <a:p>
            <a:r>
              <a:rPr sz="1600" lang="en-GB"/>
              <a:t>Which route for what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hich default box"/>
          <p:cNvSpPr/>
          <p:nvPr/>
        </p:nvSpPr>
        <p:spPr>
          <a:xfrm>
            <a:off x="457200" y="411480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Which default" descr=""/>
          <p:cNvPicPr>
            <a:picLocks noChangeAspect="1"/>
          </p:cNvPicPr>
          <p:nvPr/>
        </p:nvPicPr>
        <p:blipFill>
          <a:blip r:embed="rId3"/>
          <a:stretch>
            <a:fillRect/>
          </a:stretch>
        </p:blipFill>
        <p:spPr>
          <a:xfrm>
            <a:off x="658368" y="4274820"/>
            <a:ext cx="365760" cy="365760"/>
          </a:xfrm>
          <a:prstGeom prst="rect">
            <a:avLst/>
          </a:prstGeom>
        </p:spPr>
      </p:pic>
      <p:sp>
        <p:nvSpPr>
          <p:cNvPr id="12" name="Which default text"/>
          <p:cNvSpPr txBox="1"/>
          <p:nvPr/>
        </p:nvSpPr>
        <p:spPr>
          <a:xfrm>
            <a:off x="1207008" y="411480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default: </a:t>
            </a:r>
            <a:r>
              <a:rPr sz="1200" b="0" lang="en-GB">
                <a:solidFill>
                  <a:schemeClr val="bg1"/>
                </a:solidFill>
              </a:rPr>
              <a:t>Posit Assistant with GitHub Copilot Student. Everything else is optional.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Privacy: who sees your prompts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iv api body"/>
          <p:cNvSpPr/>
          <p:nvPr/>
        </p:nvSpPr>
        <p:spPr>
          <a:xfrm>
            <a:off x="457200" y="1645920"/>
            <a:ext cx="404622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iv api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riv api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API key (routes 1 to 3)</a:t>
            </a:r>
          </a:p>
        </p:txBody>
      </p:sp>
      <p:pic>
        <p:nvPicPr>
          <p:cNvPr id="13" name="Icon Priv api" descr=""/>
          <p:cNvPicPr>
            <a:picLocks noChangeAspect="1"/>
          </p:cNvPicPr>
          <p:nvPr/>
        </p:nvPicPr>
        <p:blipFill>
          <a:blip r:embed="rId3"/>
          <a:stretch>
            <a:fillRect/>
          </a:stretch>
        </p:blipFill>
        <p:spPr>
          <a:xfrm>
            <a:off x="4064508" y="1284732"/>
            <a:ext cx="310896" cy="310896"/>
          </a:xfrm>
          <a:prstGeom prst="rect">
            <a:avLst/>
          </a:prstGeom>
        </p:spPr>
      </p:pic>
      <p:sp>
        <p:nvSpPr>
          <p:cNvPr id="14" name="Priv api text"/>
          <p:cNvSpPr txBox="1"/>
          <p:nvPr/>
        </p:nvSpPr>
        <p:spPr>
          <a:xfrm>
            <a:off x="621792" y="1783080"/>
            <a:ext cx="3744468" cy="16916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Not used for training by default</a:t>
            </a:r>
          </a:p>
          <a:p>
            <a:pPr algn="l" marL="182880" indent="-182880">
              <a:spcAft>
                <a:spcPts val="600"/>
              </a:spcAft>
              <a:buClr>
                <a:schemeClr val="accent1"/>
              </a:buClr>
              <a:buFont typeface="Arial"/>
              <a:buChar char="▪"/>
            </a:pPr>
            <a:r>
              <a:rPr sz="1300" b="0" lang="en-GB">
                <a:solidFill>
                  <a:schemeClr val="tx1"/>
                </a:solidFill>
              </a:rPr>
              <a:t>Kept about 30 days</a:t>
            </a:r>
          </a:p>
          <a:p>
            <a:pPr algn="l" marL="182880" indent="-182880">
              <a:spcAft>
                <a:spcPts val="600"/>
              </a:spcAft>
              <a:buClr>
                <a:schemeClr val="accent1"/>
              </a:buClr>
              <a:buFont typeface="Arial"/>
              <a:buChar char="▪"/>
            </a:pPr>
            <a:r>
              <a:rPr sz="1300" b="0" lang="en-GB">
                <a:solidFill>
                  <a:schemeClr val="tx1"/>
                </a:solidFill>
              </a:rPr>
              <a:t>Posit sees nothing</a:t>
            </a:r>
          </a:p>
        </p:txBody>
      </p:sp>
      <p:sp>
        <p:nvSpPr>
          <p:cNvPr id="15" name="Priv sub body"/>
          <p:cNvSpPr/>
          <p:nvPr/>
        </p:nvSpPr>
        <p:spPr>
          <a:xfrm>
            <a:off x="4640580" y="1645920"/>
            <a:ext cx="404622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iv sub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v sub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Subscription (Pro, Plus, Free)</a:t>
            </a:r>
          </a:p>
        </p:txBody>
      </p:sp>
      <p:pic>
        <p:nvPicPr>
          <p:cNvPr id="18" name="Icon Priv sub" descr=""/>
          <p:cNvPicPr>
            <a:picLocks noChangeAspect="1"/>
          </p:cNvPicPr>
          <p:nvPr/>
        </p:nvPicPr>
        <p:blipFill>
          <a:blip r:embed="rId4"/>
          <a:stretch>
            <a:fillRect/>
          </a:stretch>
        </p:blipFill>
        <p:spPr>
          <a:xfrm>
            <a:off x="8247888" y="1284732"/>
            <a:ext cx="310896" cy="310896"/>
          </a:xfrm>
          <a:prstGeom prst="rect">
            <a:avLst/>
          </a:prstGeom>
        </p:spPr>
      </p:pic>
      <p:sp>
        <p:nvSpPr>
          <p:cNvPr id="19" name="Priv sub text"/>
          <p:cNvSpPr txBox="1"/>
          <p:nvPr/>
        </p:nvSpPr>
        <p:spPr>
          <a:xfrm>
            <a:off x="4805172" y="1783080"/>
            <a:ext cx="3744468" cy="16916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May be used for training while the setting is on</a:t>
            </a:r>
          </a:p>
          <a:p>
            <a:pPr algn="l" marL="182880" indent="-182880">
              <a:spcAft>
                <a:spcPts val="600"/>
              </a:spcAft>
              <a:buClr>
                <a:schemeClr val="accent1"/>
              </a:buClr>
              <a:buFont typeface="Arial"/>
              <a:buChar char="▪"/>
            </a:pPr>
            <a:r>
              <a:rPr sz="1300" b="0" lang="en-GB">
                <a:solidFill>
                  <a:schemeClr val="tx1"/>
                </a:solidFill>
              </a:rPr>
              <a:t>Claude: claude.ai/settings/data-privacy-controls</a:t>
            </a:r>
          </a:p>
          <a:p>
            <a:pPr algn="l" marL="182880" indent="-182880">
              <a:spcAft>
                <a:spcPts val="600"/>
              </a:spcAft>
              <a:buClr>
                <a:schemeClr val="accent1"/>
              </a:buClr>
              <a:buFont typeface="Arial"/>
              <a:buChar char="▪"/>
            </a:pPr>
            <a:r>
              <a:rPr sz="1300" b="0" lang="en-GB">
                <a:solidFill>
                  <a:schemeClr val="tx1"/>
                </a:solidFill>
              </a:rPr>
              <a:t>ChatGPT: Settings → Data Controls</a:t>
            </a:r>
          </a:p>
        </p:txBody>
      </p:sp>
      <p:sp>
        <p:nvSpPr>
          <p:cNvPr id="20" name="Priv off box"/>
          <p:cNvSpPr/>
          <p:nvPr/>
        </p:nvSpPr>
        <p:spPr>
          <a:xfrm>
            <a:off x="457200" y="37490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Priv off" descr=""/>
          <p:cNvPicPr>
            <a:picLocks noChangeAspect="1"/>
          </p:cNvPicPr>
          <p:nvPr/>
        </p:nvPicPr>
        <p:blipFill>
          <a:blip r:embed="rId4"/>
          <a:stretch>
            <a:fillRect/>
          </a:stretch>
        </p:blipFill>
        <p:spPr>
          <a:xfrm>
            <a:off x="658368" y="3954780"/>
            <a:ext cx="365760" cy="365760"/>
          </a:xfrm>
          <a:prstGeom prst="rect">
            <a:avLst/>
          </a:prstGeom>
        </p:spPr>
      </p:pic>
      <p:sp>
        <p:nvSpPr>
          <p:cNvPr id="22" name="Priv off text"/>
          <p:cNvSpPr txBox="1"/>
          <p:nvPr/>
        </p:nvSpPr>
        <p:spPr>
          <a:xfrm>
            <a:off x="1207008" y="37490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Switch training off </a:t>
            </a:r>
            <a:r>
              <a:rPr sz="1200" b="0" lang="en-GB">
                <a:solidFill>
                  <a:schemeClr val="bg1"/>
                </a:solidFill>
              </a:rPr>
              <a:t>in your Claude and ChatGPT settings before you use them for coursework.</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API keys, data and course rules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ever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ever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Never in a prompt or a file</a:t>
            </a:r>
          </a:p>
        </p:txBody>
      </p:sp>
      <p:pic>
        <p:nvPicPr>
          <p:cNvPr id="13" name="Icon Never card" descr=""/>
          <p:cNvPicPr>
            <a:picLocks noChangeAspect="1"/>
          </p:cNvPicPr>
          <p:nvPr/>
        </p:nvPicPr>
        <p:blipFill>
          <a:blip r:embed="rId3"/>
          <a:stretch>
            <a:fillRect/>
          </a:stretch>
        </p:blipFill>
        <p:spPr>
          <a:xfrm>
            <a:off x="4064508" y="1284732"/>
            <a:ext cx="310896" cy="310896"/>
          </a:xfrm>
          <a:prstGeom prst="rect">
            <a:avLst/>
          </a:prstGeom>
        </p:spPr>
      </p:pic>
      <p:sp>
        <p:nvSpPr>
          <p:cNvPr id="14" name="Never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API keys and passwords</a:t>
            </a:r>
          </a:p>
          <a:p>
            <a:pPr algn="l" marL="182880" indent="-182880">
              <a:spcAft>
                <a:spcPts val="600"/>
              </a:spcAft>
              <a:buClr>
                <a:schemeClr val="accent1"/>
              </a:buClr>
              <a:buFont typeface="Arial"/>
              <a:buChar char="▪"/>
            </a:pPr>
            <a:r>
              <a:rPr sz="1300" b="0" lang="en-GB">
                <a:solidFill>
                  <a:schemeClr val="tx1"/>
                </a:solidFill>
              </a:rPr>
              <a:t>Names, e-mails, student or customer IDs</a:t>
            </a:r>
          </a:p>
          <a:p>
            <a:pPr algn="l" marL="182880" indent="-182880">
              <a:spcAft>
                <a:spcPts val="600"/>
              </a:spcAft>
              <a:buClr>
                <a:schemeClr val="accent1"/>
              </a:buClr>
              <a:buFont typeface="Arial"/>
              <a:buChar char="▪"/>
            </a:pPr>
            <a:r>
              <a:rPr sz="1300" b="0" lang="en-GB">
                <a:solidFill>
                  <a:schemeClr val="tx1"/>
                </a:solidFill>
              </a:rPr>
              <a:t>Confidential or licensed data</a:t>
            </a:r>
          </a:p>
          <a:p>
            <a:pPr algn="l" marL="182880" indent="-182880">
              <a:spcAft>
                <a:spcPts val="600"/>
              </a:spcAft>
              <a:buClr>
                <a:schemeClr val="accent1"/>
              </a:buClr>
              <a:buFont typeface="Arial"/>
              <a:buChar char="▪"/>
            </a:pPr>
            <a:r>
              <a:rPr sz="1300" b="0" lang="en-GB">
                <a:solidFill>
                  <a:schemeClr val="tx1"/>
                </a:solidFill>
              </a:rPr>
              <a:t>Exam or assessment content</a:t>
            </a:r>
          </a:p>
        </p:txBody>
      </p:sp>
      <p:sp>
        <p:nvSpPr>
          <p:cNvPr id="15" name="Rules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18" name="Icon Rules card" descr=""/>
          <p:cNvPicPr>
            <a:picLocks noChangeAspect="1"/>
          </p:cNvPicPr>
          <p:nvPr/>
        </p:nvPicPr>
        <p:blipFill>
          <a:blip r:embed="rId4"/>
          <a:stretch>
            <a:fillRect/>
          </a:stretch>
        </p:blipFill>
        <p:spPr>
          <a:xfrm>
            <a:off x="8247888" y="1284732"/>
            <a:ext cx="310896" cy="310896"/>
          </a:xfrm>
          <a:prstGeom prst="rect">
            <a:avLst/>
          </a:prstGeom>
        </p:spPr>
      </p:pic>
      <p:sp>
        <p:nvSpPr>
          <p:cNvPr id="19" name="Rules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Course default: GitHub Copilot</a:t>
            </a:r>
          </a:p>
          <a:p>
            <a:pPr algn="l" marL="182880" indent="-182880">
              <a:spcAft>
                <a:spcPts val="600"/>
              </a:spcAft>
              <a:buClr>
                <a:schemeClr val="accent1"/>
              </a:buClr>
              <a:buFont typeface="Arial"/>
              <a:buChar char="▪"/>
            </a:pPr>
            <a:r>
              <a:rPr sz="1300" b="0" lang="en-GB">
                <a:solidFill>
                  <a:schemeClr val="tx1"/>
                </a:solidFill>
              </a:rPr>
              <a:t>Nobody has to pay for anything</a:t>
            </a:r>
          </a:p>
          <a:p>
            <a:pPr algn="l" marL="182880" indent="-182880">
              <a:spcAft>
                <a:spcPts val="600"/>
              </a:spcAft>
              <a:buClr>
                <a:schemeClr val="accent1"/>
              </a:buClr>
              <a:buFont typeface="Arial"/>
              <a:buChar char="▪"/>
            </a:pPr>
            <a:r>
              <a:rPr sz="1300" b="0" lang="en-GB">
                <a:solidFill>
                  <a:schemeClr val="tx1"/>
                </a:solidFill>
              </a:rPr>
              <a:t>Same rules as in Part 11</a:t>
            </a:r>
          </a:p>
          <a:p>
            <a:pPr algn="l" marL="182880" indent="-182880">
              <a:spcAft>
                <a:spcPts val="600"/>
              </a:spcAft>
              <a:buClr>
                <a:schemeClr val="accent1"/>
              </a:buClr>
              <a:buFont typeface="Arial"/>
              <a:buChar char="▪"/>
            </a:pPr>
            <a:r>
              <a:rPr sz="1300" b="0" lang="en-GB">
                <a:solidFill>
                  <a:schemeClr val="tx1"/>
                </a:solidFill>
              </a:rPr>
              <a:t>Name the tool and model in the prompt log</a:t>
            </a:r>
          </a:p>
        </p:txBody>
      </p:sp>
      <p:sp>
        <p:nvSpPr>
          <p:cNvPr id="20" name="Rules log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Rules log" descr=""/>
          <p:cNvPicPr>
            <a:picLocks noChangeAspect="1"/>
          </p:cNvPicPr>
          <p:nvPr/>
        </p:nvPicPr>
        <p:blipFill>
          <a:blip r:embed="rId5"/>
          <a:stretch>
            <a:fillRect/>
          </a:stretch>
        </p:blipFill>
        <p:spPr>
          <a:xfrm>
            <a:off x="658368" y="4137660"/>
            <a:ext cx="365760" cy="365760"/>
          </a:xfrm>
          <a:prstGeom prst="rect">
            <a:avLst/>
          </a:prstGeom>
        </p:spPr>
      </p:pic>
      <p:sp>
        <p:nvSpPr>
          <p:cNvPr id="22" name="Rules log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Prompt log: </a:t>
            </a:r>
            <a:r>
              <a:rPr sz="1200" b="0" lang="en-GB">
                <a:solidFill>
                  <a:schemeClr val="bg1"/>
                </a:solidFill>
              </a:rPr>
              <a:t>note which tool and model you used, the prompt, and what you kept or changed.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383280"/>
                <a:gridCol w="4846320"/>
              </a:tblGrid>
              <a:tr h="370840">
                <a:tc>
                  <a:txBody>
                    <a:bodyPr/>
                    <a:lstStyle/>
                    <a:p>
                      <a:r>
                        <a:rPr sz="1300" lang="en-GB"/>
                        <a:t>Problem</a:t>
                      </a:r>
                    </a:p>
                  </a:txBody>
                  <a:tcPr marT="45000" marB="45000"/>
                </a:tc>
                <a:tc>
                  <a:txBody>
                    <a:bodyPr/>
                    <a:lstStyle/>
                    <a:p>
                      <a:r>
                        <a:rPr sz="1300" lang="en-GB"/>
                        <a:t>Fix</a:t>
                      </a:r>
                    </a:p>
                  </a:txBody>
                  <a:tcPr marT="45000" marB="45000"/>
                </a:tc>
              </a:tr>
              <a:tr h="370840">
                <a:tc>
                  <a:txBody>
                    <a:bodyPr/>
                    <a:lstStyle/>
                    <a:p>
                      <a:r>
                        <a:rPr sz="1150" b="1" lang="en-GB"/>
                        <a:t>Claude Pro, but Positron wants a key</a:t>
                      </a:r>
                    </a:p>
                  </a:txBody>
                  <a:tcPr marT="45000" marB="45000"/>
                </a:tc>
                <a:tc>
                  <a:txBody>
                    <a:bodyPr/>
                    <a:lstStyle/>
                    <a:p>
                      <a:r>
                        <a:rPr sz="1150" lang="en-GB"/>
                        <a:t>expected: use a Console API key, or Claude Code (routes 2, 3)</a:t>
                      </a:r>
                    </a:p>
                  </a:txBody>
                  <a:tcPr marT="45000" marB="45000"/>
                </a:tc>
              </a:tr>
              <a:tr h="370840">
                <a:tc>
                  <a:txBody>
                    <a:bodyPr/>
                    <a:lstStyle/>
                    <a:p>
                      <a:r>
                        <a:rPr sz="1150" b="1" lang="en-GB"/>
                        <a:t>Key rejected</a:t>
                      </a:r>
                    </a:p>
                  </a:txBody>
                  <a:tcPr marT="45000" marB="45000"/>
                </a:tc>
                <a:tc>
                  <a:txBody>
                    <a:bodyPr/>
                    <a:lstStyle/>
                    <a:p>
                      <a:r>
                        <a:rPr sz="1150" lang="en-GB"/>
                        <a:t>copy again without spaces; is there credit on the account?</a:t>
                      </a:r>
                    </a:p>
                  </a:txBody>
                  <a:tcPr marT="45000" marB="45000"/>
                </a:tc>
              </a:tr>
              <a:tr h="370840">
                <a:tc>
                  <a:txBody>
                    <a:bodyPr/>
                    <a:lstStyle/>
                    <a:p>
                      <a:r>
                        <a:rPr sz="1150" b="1" lang="en-GB"/>
                        <a:t>No code completions</a:t>
                      </a:r>
                    </a:p>
                  </a:txBody>
                  <a:tcPr marT="45000" marB="45000"/>
                </a:tc>
                <a:tc>
                  <a:txBody>
                    <a:bodyPr/>
                    <a:lstStyle/>
                    <a:p>
                      <a:r>
                        <a:rPr sz="1150" lang="en-GB"/>
                        <a:t>not offered by Claude or OpenAI; use GitHub Copilot</a:t>
                      </a:r>
                    </a:p>
                  </a:txBody>
                  <a:tcPr marT="45000" marB="45000"/>
                </a:tc>
              </a:tr>
              <a:tr h="370840">
                <a:tc>
                  <a:txBody>
                    <a:bodyPr/>
                    <a:lstStyle/>
                    <a:p>
                      <a:r>
                        <a:rPr sz="1150" b="1" lang="en-GB"/>
                        <a:t>claude or codex: command not found</a:t>
                      </a:r>
                    </a:p>
                  </a:txBody>
                  <a:tcPr marT="45000" marB="45000"/>
                </a:tc>
                <a:tc>
                  <a:txBody>
                    <a:bodyPr/>
                    <a:lstStyle/>
                    <a:p>
                      <a:r>
                        <a:rPr sz="1150" lang="en-GB"/>
                        <a:t>open a new terminal; run the installer again</a:t>
                      </a:r>
                    </a:p>
                  </a:txBody>
                  <a:tcPr marT="45000" marB="45000"/>
                </a:tc>
              </a:tr>
              <a:tr h="370840">
                <a:tc>
                  <a:txBody>
                    <a:bodyPr/>
                    <a:lstStyle/>
                    <a:p>
                      <a:r>
                        <a:rPr sz="1150" b="1" lang="en-GB"/>
                        <a:t>Claude Code bills the API, not Pro</a:t>
                      </a:r>
                    </a:p>
                  </a:txBody>
                  <a:tcPr marT="45000" marB="45000"/>
                </a:tc>
                <a:tc>
                  <a:txBody>
                    <a:bodyPr/>
                    <a:lstStyle/>
                    <a:p>
                      <a:r>
                        <a:rPr sz="1150" lang="en-GB"/>
                        <a:t>unset ANTHROPIC_API_KEY; check with /status</a:t>
                      </a:r>
                    </a:p>
                  </a:txBody>
                  <a:tcPr marT="45000" marB="45000"/>
                </a:tc>
              </a:tr>
              <a:tr h="370840">
                <a:tc>
                  <a:txBody>
                    <a:bodyPr/>
                    <a:lstStyle/>
                    <a:p>
                      <a:r>
                        <a:rPr sz="1150" b="1" lang="en-GB"/>
                        <a:t>Agent cannot see the session (MCP)</a:t>
                      </a:r>
                    </a:p>
                  </a:txBody>
                  <a:tcPr marT="45000" marB="45000"/>
                </a:tc>
                <a:tc>
                  <a:txBody>
                    <a:bodyPr/>
                    <a:lstStyle/>
                    <a:p>
                      <a:r>
                        <a:rPr sz="1150" lang="en-GB"/>
                        <a:t>ai.mcp.enabled on, Python running, restart the agent</a:t>
                      </a:r>
                    </a:p>
                  </a:txBody>
                  <a:tcPr marT="45000" marB="45000"/>
                </a:tc>
              </a:tr>
            </a:tbl>
          </a:graphicData>
        </a:graphic>
      </p:graphicFrame>
      <p:sp>
        <p:nvSpPr>
          <p:cNvPr id="3" name="Title 2"/>
          <p:cNvSpPr>
            <a:spLocks noGrp="1"/>
          </p:cNvSpPr>
          <p:nvPr>
            <p:ph type="title"/>
          </p:nvPr>
        </p:nvSpPr>
        <p:spPr/>
        <p:txBody>
          <a:bodyPr/>
          <a:lstStyle/>
          <a:p>
            <a:r>
              <a:rPr sz="1600" lang="en-GB"/>
              <a:t>When Claude or ChatGPT does not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diag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diag" descr=""/>
          <p:cNvPicPr>
            <a:picLocks noChangeAspect="1"/>
          </p:cNvPicPr>
          <p:nvPr/>
        </p:nvPicPr>
        <p:blipFill>
          <a:blip r:embed="rId3"/>
          <a:stretch>
            <a:fillRect/>
          </a:stretch>
        </p:blipFill>
        <p:spPr>
          <a:xfrm>
            <a:off x="658368" y="4434840"/>
            <a:ext cx="365760" cy="365760"/>
          </a:xfrm>
          <a:prstGeom prst="rect">
            <a:avLst/>
          </a:prstGeom>
        </p:spPr>
      </p:pic>
      <p:sp>
        <p:nvSpPr>
          <p:cNvPr id="12" name="Trouble diag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Command Palette → AI: Create Diagnostic Report.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 Claude and ChatGPT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Route chosen: </a:t>
            </a:r>
            <a:r>
              <a:rPr sz="1200" b="0" lang="en-GB">
                <a:solidFill>
                  <a:schemeClr val="tx1"/>
                </a:solidFill>
              </a:rPr>
              <a:t>Posit Assistant, extension, terminal, or MCP</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ready: </a:t>
            </a:r>
            <a:r>
              <a:rPr sz="1200" b="0" lang="en-GB">
                <a:solidFill>
                  <a:schemeClr val="tx1"/>
                </a:solidFill>
              </a:rPr>
              <a:t>API key with a spend limit, or Claude Pro / ChatGPT account</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Training off </a:t>
            </a:r>
            <a:r>
              <a:rPr sz="1200" b="0" lang="en-GB">
                <a:solidFill>
                  <a:schemeClr val="tx1"/>
                </a:solidFill>
              </a:rPr>
              <a:t>in your Claude or ChatGPT privacy settings</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Connected and tested </a:t>
            </a:r>
            <a:r>
              <a:rPr sz="1200" b="0" lang="en-GB">
                <a:solidFill>
                  <a:schemeClr val="tx1"/>
                </a:solidFill>
              </a:rPr>
              <a:t>with one small question about your data</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Standing instructions </a:t>
            </a:r>
            <a:r>
              <a:rPr sz="1200" b="0" lang="en-GB">
                <a:solidFill>
                  <a:schemeClr val="tx1"/>
                </a:solidFill>
              </a:rPr>
              <a:t>in CLAUDE.md or AGENTS.md</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 </a:t>
            </a:r>
            <a:r>
              <a:rPr sz="1200" b="0" lang="en-GB">
                <a:solidFill>
                  <a:schemeClr val="tx1"/>
                </a:solidFill>
              </a:rPr>
              <a:t>started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 GitHub</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GitHub Desktop: getting started</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Cloning a repository in GitHub Desktop</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Committing, pushing and syncing</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Two-factor authentication</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Apply to GitHub Education as a student</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Setting repository visibility</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GitHub Skills: free interactive courses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 Copilot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Posit Assistant in Positron</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Getting started and model providers</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Code completions</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AI configuration and privacy settings</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Set up Copilot for students (GitHub Docs)</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Copilot plans</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Positron release notes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 Claude and ChatGPT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Claude Code in VS Code and other editors</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Claude Code: install and set up</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Claude Code: data usage and privacy</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Claude plans and API prices</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Posit Assistant model providers</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OpenAI Codex (repository and install)</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Positron release notes (MCP server)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