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Penetration (% pro Jahr)</a:t>
            </a:r>
          </a:p>
        </c:rich>
      </c:tx>
      <c:layout/>
      <c:overlay val="0"/>
    </c:title>
    <c:autoTitleDeleted val="0"/>
    <c:plotArea>
      <c:barChart>
        <c:barDir val="col"/>
        <c:grouping val="clustered"/>
        <c:ser>
          <c:idx val="0"/>
          <c:order val="0"/>
          <c:tx>
            <c:strRef>
              <c:f>Sheet1!$B$1</c:f>
              <c:strCache>
                <c:ptCount val="1"/>
                <c:pt idx="0">
                  <c:v>Penetration (% buying in a year)</c:v>
                </c:pt>
              </c:strCache>
            </c:strRef>
          </c:tx>
          <c:spPr>
            <a:solidFill>
              <a:schemeClr val="accent1"/>
            </a:solidFill>
          </c:spPr>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45</c:v>
                </c:pt>
                <c:pt idx="1">
                  <c:v>32</c:v>
                </c:pt>
                <c:pt idx="2">
                  <c:v>24</c:v>
                </c:pt>
                <c:pt idx="3">
                  <c:v>16</c:v>
                </c:pt>
                <c:pt idx="4">
                  <c:v>10</c:v>
                </c:pt>
                <c:pt idx="5">
                  <c:v>6</c:v>
                </c:pt>
              </c:numCache>
            </c:numRef>
          </c:val>
        </c:ser>
        <c:dLbls>
          <c:numFmt formatCode="0&quot; %&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50.0"/>
          <c:min val="0.0"/>
        </c:scaling>
        <c:delete val="0"/>
        <c:axPos val="l"/>
        <c:majorGridlines>
          <c:spPr>
            <a:ln>
              <a:solidFill>
                <a:srgbClr val="D9D9D9"/>
              </a:solidFill>
            </a:ln>
          </c:spPr>
        </c:majorGridlines>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de-AT">
                <a:solidFill>
                  <a:schemeClr val="tx2"/>
                </a:solidFill>
              </a:rPr>
              <a:t>Käufe pro Käufer:in und Jahr</a:t>
            </a:r>
          </a:p>
        </c:rich>
      </c:tx>
      <c:layout/>
      <c:overlay val="0"/>
    </c:title>
    <c:autoTitleDeleted val="0"/>
    <c:plotArea>
      <c:barChart>
        <c:barDir val="col"/>
        <c:grouping val="clustered"/>
        <c:ser>
          <c:idx val="0"/>
          <c:order val="0"/>
          <c:tx>
            <c:strRef>
              <c:f>Sheet1!$B$1</c:f>
              <c:strCache>
                <c:ptCount val="1"/>
                <c:pt idx="0">
                  <c:v>Purchases per buyer per year</c:v>
                </c:pt>
              </c:strCache>
            </c:strRef>
          </c:tx>
          <c:spPr>
            <a:solidFill>
              <a:schemeClr val="accent1"/>
            </a:solidFill>
          </c:spPr>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4.5</c:v>
                </c:pt>
                <c:pt idx="1">
                  <c:v>3.7</c:v>
                </c:pt>
                <c:pt idx="2">
                  <c:v>3.3</c:v>
                </c:pt>
                <c:pt idx="3">
                  <c:v>3.0</c:v>
                </c:pt>
                <c:pt idx="4">
                  <c:v>2.8</c:v>
                </c:pt>
                <c:pt idx="5">
                  <c:v>2.7</c:v>
                </c:pt>
              </c:numCache>
            </c:numRef>
          </c:val>
        </c:ser>
        <c:dLbls>
          <c:numFmt formatCode="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5.0"/>
          <c:min val="0.0"/>
        </c:scaling>
        <c:delete val="0"/>
        <c:axPos val="l"/>
        <c:majorGridlines>
          <c:spPr>
            <a:ln>
              <a:solidFill>
                <a:srgbClr val="D9D9D9"/>
              </a:solidFill>
            </a:ln>
          </c:spPr>
        </c:majorGridlines>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Rund 100 Minuten in sechs Teilen: Grundlagen der Markenführung, die Gesetze des Markenkaufs, wie Marken wachsen, Distinctiveness, Kritik und Grenzen sowie ein praktischer Teil mit Datenlabor und Asset-Audit. Pflichtlektüre: Sharp (2010) How Brands Grow; Romaniuk &amp; Sharp (2016) How Brands Grow Part 2; Romaniuk (2018) Building Distinctive Brand Assets.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Kurze Umfrage: Welche Spalte entspricht dem, was Sie in Marketing-Grundlagen gelernt haben? Die meisten Lehrbücher (Kotler &amp; Keller; Esch in der deutschsprachigen Tradition) lehren die linke Spalte. Sharp (2010) stellt jeden Punkt mit empirischen Generalisierungen aus Paneldaten in Frage. Teil 5 greift die Spannung mit der Debatte um Binet &amp; Field und Ritson wieder auf.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Die Lernziele entsprechen den sechs Teilen. Das Labor in Teil 6 prüft Lernziel 2 und 3 mit Daten; das Asset-Audit prüft Lernziel 1 und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1, etwa 15 Minuten: was eine Marke ist, ihre greifbaren und nicht greifbaren Elemente, wozu Marken dienen und was Markenführung tut. Legt das Vokabular für die Ehrenberg-Bass-Teile.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Zwei sich ergänzende Sichtweisen. Die AMA-Definition betrifft die Kennzeichnung: rechtliche und visuelle Merkmale, die zeigen, wer das Produkt hergestellt hat. Kellers kundenbasierter Markenwert betrifft das Gedächtnis: Bekanntheit plus Assoziationen und deren Wirkung auf die Reaktion der Konsument:innen (Keller 1993). Bitten Sie die Studierenden, eine Marke zu nennen, die sie auch ohne Namen erkennen würden.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Der Eisberg: Käufer:innen begegnen den greifbaren Elementen (bei Keller Markenelemente: Namen, Logos, Symbole, Figuren, Slogans, Jingles, Verpackungen). Der Großteil des Markenwerts liegt unter der Wasserlinie im Gedächtnis: Assoziationen, Image, Persönlichkeit, Herkunft, Vertrauen. Ausblick: Greifbare Elemente sind die Kandidaten für Distinctive Assets (Teil 4); nicht greifbare Erinnerungen misst die mentale Verfügbarkeit (Teil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Manner wurde 1890 von Josef Manner in Wien gegründet; der Stephansdom und das Rosa zählen zu den bekanntesten österreichischen Markenelementen. Die rechte Spalte ist illustrativ: Fragen Sie die Studierenden nach ihren Assoziationen, bevor Sie sie zeigen. Manner kommt im Asset-Audit in Teil 6 wieder vor.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Funktionen von Marken für Käufer:innen und Unternehmen sowie der vierstufige Prozess der strategischen Markenführung nach Keller &amp; Swaminathan (2020), Kap. 1-2. Überleitung: Der Rest der Vorlesung fragt, welche Aktivitäten der Markenführung die empirische Evidenz als Wachstumstreiber stützt.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2, etwa 20 Minuten: was ein Marketinggesetz ist, Double Jeopardy, Duplication of Purchase, der Dirichlet-Maßstab und Wenigkäufer:innen.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Ehrenbergs Position: Eine einzelne Studie beweist wenig; ein Muster, das über viele differenzierte Replikationen hält, ist eine tragfähige Generalisierung. Uncles &amp; Kwok (2013) liefern eine Vorlage für das Design. Diese Haltung liegt How Brands Grow zugrunde, und genau hier setzt die Kritik an (Gesetze oder nur stabile Beschreibungen?).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Kernaussage: Die Penetration unterscheidet sich zwischen Marken stark, die Loyalität kaum. Die Näherung w(1-b) = w0 stammt von Ehrenberg; Graham et al. (2017, Australasian Marketing Journal, „Double Jeopardy 50 years on“) testen sie in 32 Replikationen ohne Grenzbedingung. Frage: Ein Tracking-Bericht sagt „unsere Loyalität ist niedriger als die des Marktführers“. Was folgt daraus? Vermutlich ist nichts falsch; es ist Double Jeopardy.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Illustrative Zahlen, berechnet mit der Double-Jeopardy-Näherung, damit die Studierenden das Muster ohne proprietäre Paneldaten sehen. Echte Tabellen: Ehrenberg, Goodhardt &amp; Barwise (1990, Journal of Marketing) und Sharp (2010, Kap. 2). Im Labor reproduzieren die Studierenden diese Grafik mit dunnhumby-Daten.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Double Jeopardy folgt aus einer Welt, in der sich Marken vor allem darin unterscheiden, wie viele Menschen sie kaufen (mentale und physische Verfügbarkeit), und Käufer:innen ihre Käufe über ein Repertoire verteilen. Kucuk (2008) fragt, ob Distribution allein das erklärt.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Duplication of Purchase: Der Anteil der Käufer:innen von Marke X, die auch Y kaufen, ist etwa D mal die Penetration von Y, mit einem D pro Kategorie. Nutzen: Wer sind meine echten Konkurrenten (alle, entsprechend ihrer Größe), und wo gibt es echte Partitionen (Geschmack, Preisstufe, Bio)? Dawes (2016, Journal of Marketing Management) prüft, wie robust Partitionen sind; Goodhardt &amp; Ehrenberg (1969) fanden dasselbe Gesetz für TV-Nutzung.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Das Dirichlet-Modell ist bewusst einfach: kein Marketing-Mix, kein Markenimage. Dass es trotzdem in den meisten Kategorien passt, ist das stärkste Argument für die Gesetze. Umsetzung: R-Paket NBDdirichlet (CRAN). Modellgüte: Driesener, Banelis &amp; Rungie (2017). Überblick: Driesener &amp; Rungie (2021).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Botschaft für Mediaplanung und CRM. Trinh (2023, Marketing Letters) zeigt, dass das Wachstumspotenzial bei Wenig- und Nichtkäufer:innen liegt.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3, etwa 15 Minuten. Die Studierenden wenden Category Entry Points auf eine Kategorie an, die sie kennen.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Die für das Management wichtigste Aussage und die, gegen die sich die Praxis am meisten wehrt. Sie sagt nicht, dass Loyalität wertlos ist, nur dass Loyalität mit der Größe steigt und kein eigener Hebel ist. Romaniuk &amp; Sharp (2016) übertragen die Evidenz auf Dienstleistungen, Gebrauchsgüter, B2B und Schwellenländer.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Kantar Worldpanel (heute Worldpanel by Numerator) reiht FMCG-Marken nach Consumer Reach Points: wie viele Haushalte eine Marke kaufen und wie oft. Quellen: kantar.com/brand-footprint (13. Ausgabe, 2025, über 30.000 Marken in 56 Märkten); Kantar, „Brand Footprint 2025: Asia remains an FMCG growth hotspot“ (15. Sept. 2025): „around 80% of brands that expand their footprint do so by increasing penetration“; Kantar, „Shoppers in Latam make 3.4% fewer FMCG brand choices year-on-year“ (15. Sept. 2025): 86 % der Marken mit mehr CRPs 2024 gewannen neue Käufer:innen. Die BG20-Studie von Europanel zeigt dasselbe: Penetrationswachstum korreliert mit Markenwachstum, Frequenz nicht.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Kennzahlen der mentalen Verfügbarkeit: Romaniuk (2022) und Romaniuk (2013) zum mentalen Marktanteil. Physische Verfügbarkeit passt zum Fall Dollar Shave Club: hohe Bekanntheit, schwache Regalpräsenz.</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John Dawes (Ehrenberg-Bass) formulierte das 95:5-Argument 2021 für das LinkedIn B2B Institute: Wechseln Unternehmen einen Anbieter etwa alle fünf Jahre, sind pro Jahr rund 20 % und pro Quartal rund 5 % im Markt. Dawes spricht von „bis zu“ 95 % außerhalb des Markts; der genaue Anteil hängt vom Kaufzyklus ab. Manche Fachpresse macht daraus „95 % des Budgets für die Marke“; das ist eine Interpretation, nicht sein Befund. Quellen: marketingscience.info/news-and-insights/the-955-rule-why-b2b-growth-starts-long-before-the-purchase; Marketing Week (Weinberg &amp; Lombardo), „The 95:5 rule is the new 60:40 rule“.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Übung (5 Min.): Wählen Sie eine Kategorie (Energydrinks, Bier, Haferdrink), sammeln Sie Entry Points entlang der W-Fragen und nennen Sie die Marke, die Ihnen jeweils einfällt. Der Anteil einer Marke an allen Verknüpfungen von Marken mit Entry Points ist ihr mentaler Marktanteil.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4, etwa 20 Minuten: Distinctiveness vs. Differenzierung, das Asset-Raster und sechs Fälle.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Präzise bleiben: Ehrenberg-Bass sagt nicht, dass Produkte identisch sein sollen. Funktionale Unterschiede zählen; die These ist, dass wahrgenommene Markendifferenzierung ein schwacher Wachstumstreiber ist und Branding zuerst Auffallen und Wiedererkennen sichern soll. Gegenpositionen: Kapferer, Keller (1993), Kantars Meaningful-Different-Salient-Modell.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Raster nach Romaniuk (2018) Building Distinctive Brand Assets. Messung über Reverse Recognition: Asset ohne Marke zeigen und fragen, zu welcher Marke es gehört; Bekanntheit = Anteil, der die richtige Marke nennt; Einzigartigkeit = Anteil aller Nennungen, der auf die richtige Marke fällt. Brus, Hartnett &amp; Faulkner (2025) zeigen, dass Marketer die Bekanntheit über- und die Einzigartigkeit unterschätzen. Phua et al. (2026) finden formbasierte Assets am stärksten.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Tropicana: Ad Age, nachgedruckt von Bloomberg (2. April 2009): Absatz von Pure Premium minus 20 % zwischen 1. Jänner und 22. Februar 2009; Umsatz minus 19 %, rund 33 Mio. USD (Daten von Information Resources Inc.). Gap: CNN Money, „Gap reverts to classic logo after outcry“ (12. Oktober 2010); Lehrfall: Pollach, Emerald Teaching Notes (2016). Jaguar: AP, „Radical Jaguar rebrand and new logo sparks ire online“ (20. November 2024); die „Copy Jaguar“-Parodie von Nothing auf X. Lassen Sie die Studierenden jedes verlorene Asset im Raster einordnen.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Mastercard: Pressemitteilung auf der CES, Jänner 2019, nachgedruckt von Finextra; Dezeen (10. Jänner 2019); Ritson in Marketing Week (9. Jänner 2019); Sound-Logo: The Drum (8. Februar 2019). Cadbury: Court of Appeal, Société des Produits Nestlé v Cadbury UK [2013] EWCA Civ 1174; berichtet von Food Manufacture (7. Oktober 2013); der Supreme Court lehnte 2014 eine weitere Berufung ab. Gegen Nachahmung (Passing off) kann Cadbury weiter vorgehen. Burger King: Campaign, „Burger King unveils first rebrand in more than 20 years“ (2021, Design von Jones Knowles Ritchie). Österreichischer Kontrast: Manners Rosa und Stephansdom-Logo, die Dose und Stiere von Red Bull.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5, etwa 15 Minuten, mit einer kurzen strukturierten Debatte.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Abweichungen werden an der Dirichlet-Norm gemessen; sichtbar werden sie nur, weil es die Norm gibt. Antworten von Ehrenberg-Bass: „Answering critics“ und „A short critique of a critique of Double Jeopardy“ (marketingscience.info); Scriven, Bound &amp; Graham (2017) zu häufigen Abweichungen. Neue digitale Replikationen: Šulik (2026) zu Steam und MovieLens.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Die eine Hälfte des Raums vertritt Sharp, die andere Binet &amp; Field/Ritson. Lektüre: Ritson, „We should thank Byron Sharp, not attack him“ (Marketing Week 2017); „Byron Sharp on the legacy of How Brands Grow and why he disagrees with Les Binet“ (WARC); Mi3 (2022) „How Brands Shrink“ mit der Kritik von James Hurman. Die Session „Five marketing truths“ in Cannes 2026 zeigt, wo sich die Lager annähern.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Teil 6, etwa 10 Minuten in der Einheit plus Hausübung.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Funktioniert in R oder Python (pandas plus scipy.stats.nbinom). NBDdirichlet (CRAN, v1.4) braucht Penetration und Kaufrate der Kategorie sowie die Marktanteile. Alternativen: MovieLens 32M (siehe Šulik 2026), Instacart auf Kaggle. Lizenz von dunnhumby prüfen, bevor Daten weitergegeben werden.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Die Methode folgt Romaniuk (2018) und dem Ehrenberg-Bass-Leitfaden zur Messung von Distinctive Assets. Eine Marketagent-Umfrage, über die die Tiroler Tageszeitung berichtete, kürte den Manner-Slogan zum beliebtesten und den Red-Bull-Slogan zum einprägsamsten österreichischen Slogan; das misst Erinnerung, nicht Bekanntheit und Einzigartigkeit, und die Studierenden können den Unterschied testen.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Vollständige Literatur. Sharp, B. (2010) How Brands Grow, Oxford University Press. Romaniuk, J. (2018) Building Distinctive Brand Assets, Oxford University Press. Ehrenberg, A., Goodhardt, G. &amp; Barwise, P. (1990) Double Jeopardy revisited, Journal of Marketing 54(3), 82-91. Sharp, B. et al. (2012) It's a Dirichlet world, Journal of Advertising Research 52(2), 203-213. Keller, K. L. &amp; Swaminathan, V. (2020) Strategic Brand Management, 5. Aufl., Pearson. Romaniuk, J. &amp; Sharp, B. (2016) How Brands Grow Part 2. Romaniuk, J. (2022) Better Brand Health. Binet, L. &amp; Field, P. (2013) The Long and the Short of It, IPA. Fader, P. &amp; Schmittlein, D. (1993) Journal of Marketing Research 30(4), 478-493. Graham, C. et al. (2017) Australasian Marketing Journal 25(4), 278-287. Kantar Worldpanel (2025) Brand Footprint, kantar.com/brand-footprint. Dawes, J. (2021) für das LinkedIn B2B Institute; Zusammenfassung von Ehrenberg-Bass auf marketingscience.info. Ad Age, nachgedruckt von Bloomberg (2. April 2009), „Tropicana fiasco from Arnell is gift that keeps giving“. Mastercard-Pressemitteilung (Jänner 2019) über Finextra. Société des Produits Nestlé v Cadbury UK [2013] EWCA Civ 1174. Über 300 weitere Quellen mit Zugangshinweisen: Notion-Seite und GitHub-Ordner „How Brands Grow (Double Jeopardy Law and Brand Distinctiveness, Ehrenberg-Bass Institute)“.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Zum Abschluss zurück zu den zwei Spalten von Folie 2: Welche Aussagen haben die Evidenz überstanden, welche sind noch umstritten?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AT"/>
              <a:t>Fragen und Diskussion.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image" Target="../media/image2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0.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de-AT"/>
              <a:t>How Brands Grow</a:t>
            </a:r>
          </a:p>
        </p:txBody>
      </p:sp>
      <p:sp>
        <p:nvSpPr>
          <p:cNvPr id="3" name="Subtitle 2"/>
          <p:cNvSpPr>
            <a:spLocks noGrp="1"/>
          </p:cNvSpPr>
          <p:nvPr>
            <p:ph type="subTitle" idx="1"/>
          </p:nvPr>
        </p:nvSpPr>
        <p:spPr/>
        <p:txBody>
          <a:bodyPr/>
          <a:lstStyle/>
          <a:p>
            <a:r>
              <a:rPr lang="de-AT"/>
              <a:t>Double Jeopardy und Distinctiveness</a:t>
            </a:r>
          </a:p>
        </p:txBody>
      </p:sp>
      <p:sp>
        <p:nvSpPr>
          <p:cNvPr id="4" name="Text Placeholder 3"/>
          <p:cNvSpPr>
            <a:spLocks noGrp="1"/>
          </p:cNvSpPr>
          <p:nvPr>
            <p:ph type="body" idx="12" sz="quarter"/>
          </p:nvPr>
        </p:nvSpPr>
        <p:spPr/>
        <p:txBody>
          <a:bodyPr/>
          <a:lstStyle/>
          <a:p>
            <a:r>
              <a:rPr lang="de-AT"/>
              <a:t>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Wie wachsen Marken? Zwei Antworten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Traditional body"/>
          <p:cNvSpPr/>
          <p:nvPr/>
        </p:nvSpPr>
        <p:spPr>
          <a:xfrm>
            <a:off x="457200" y="1280160"/>
            <a:ext cx="4032504"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ditional band"/>
          <p:cNvSpPr/>
          <p:nvPr/>
        </p:nvSpPr>
        <p:spPr>
          <a:xfrm>
            <a:off x="457200"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ditional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Klassische Sicht</a:t>
            </a:r>
          </a:p>
        </p:txBody>
      </p:sp>
      <p:pic>
        <p:nvPicPr>
          <p:cNvPr id="9" name="Icon LuBookOpen" descr="LuBookOpen-white.png"/>
          <p:cNvPicPr>
            <a:picLocks noChangeAspect="1"/>
          </p:cNvPicPr>
          <p:nvPr/>
        </p:nvPicPr>
        <p:blipFill>
          <a:blip r:embed="rId2"/>
          <a:stretch>
            <a:fillRect/>
          </a:stretch>
        </p:blipFill>
        <p:spPr>
          <a:xfrm>
            <a:off x="4059936" y="1344168"/>
            <a:ext cx="329184" cy="329184"/>
          </a:xfrm>
          <a:prstGeom prst="rect">
            <a:avLst/>
          </a:prstGeom>
        </p:spPr>
      </p:pic>
      <p:sp>
        <p:nvSpPr>
          <p:cNvPr id="10" name="Traditional text"/>
          <p:cNvSpPr txBox="1"/>
          <p:nvPr/>
        </p:nvSpPr>
        <p:spPr>
          <a:xfrm>
            <a:off x="594360" y="1847088"/>
            <a:ext cx="3758184" cy="1673351"/>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Loyalität: </a:t>
            </a:r>
            <a:r>
              <a:rPr lang="de-AT" sz="1300" b="0" i="0">
                <a:solidFill>
                  <a:schemeClr val="tx1"/>
                </a:solidFill>
              </a:rPr>
              <a:t>Kund:innen loyaler machen</a:t>
            </a:r>
          </a:p>
          <a:p>
            <a:pPr algn="l">
              <a:spcAft>
                <a:spcPts val="700"/>
              </a:spcAft>
            </a:pPr>
            <a:r>
              <a:rPr lang="de-AT" sz="1300" b="1" i="0">
                <a:solidFill>
                  <a:schemeClr val="tx1"/>
                </a:solidFill>
              </a:rPr>
              <a:t>Differenzierung: </a:t>
            </a:r>
            <a:r>
              <a:rPr lang="de-AT" sz="1300" b="0" i="0">
                <a:solidFill>
                  <a:schemeClr val="tx1"/>
                </a:solidFill>
              </a:rPr>
              <a:t>einzigartigen Kaufgrund bieten</a:t>
            </a:r>
          </a:p>
          <a:p>
            <a:pPr algn="l">
              <a:spcAft>
                <a:spcPts val="700"/>
              </a:spcAft>
            </a:pPr>
            <a:r>
              <a:rPr lang="de-AT" sz="1300" b="1" i="0">
                <a:solidFill>
                  <a:schemeClr val="tx1"/>
                </a:solidFill>
              </a:rPr>
              <a:t>Targeting: </a:t>
            </a:r>
            <a:r>
              <a:rPr lang="de-AT" sz="1300" b="0" i="0">
                <a:solidFill>
                  <a:schemeClr val="tx1"/>
                </a:solidFill>
              </a:rPr>
              <a:t>Botschaft für ein Segment</a:t>
            </a:r>
          </a:p>
          <a:p>
            <a:pPr algn="l">
              <a:spcAft>
                <a:spcPts val="700"/>
              </a:spcAft>
            </a:pPr>
            <a:r>
              <a:rPr lang="de-AT" sz="1300" b="1" i="0">
                <a:solidFill>
                  <a:schemeClr val="tx1"/>
                </a:solidFill>
              </a:rPr>
              <a:t>Einstellungen: </a:t>
            </a:r>
            <a:r>
              <a:rPr lang="de-AT" sz="1300" b="0" i="0">
                <a:solidFill>
                  <a:schemeClr val="tx1"/>
                </a:solidFill>
              </a:rPr>
              <a:t>Image steuert Verhalten</a:t>
            </a:r>
          </a:p>
        </p:txBody>
      </p:sp>
      <p:sp>
        <p:nvSpPr>
          <p:cNvPr id="11" name="Ehrenberg-Bass body"/>
          <p:cNvSpPr/>
          <p:nvPr/>
        </p:nvSpPr>
        <p:spPr>
          <a:xfrm>
            <a:off x="4654296" y="1280160"/>
            <a:ext cx="4032504"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hrenberg-Bas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hrenberg-Bas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Sicht von Ehrenberg-Bass</a:t>
            </a:r>
          </a:p>
        </p:txBody>
      </p:sp>
      <p:pic>
        <p:nvPicPr>
          <p:cNvPr id="14" name="Icon LuChartColumn" descr="LuChartColumn-white.png"/>
          <p:cNvPicPr>
            <a:picLocks noChangeAspect="1"/>
          </p:cNvPicPr>
          <p:nvPr/>
        </p:nvPicPr>
        <p:blipFill>
          <a:blip r:embed="rId3"/>
          <a:stretch>
            <a:fillRect/>
          </a:stretch>
        </p:blipFill>
        <p:spPr>
          <a:xfrm>
            <a:off x="8257031" y="1344168"/>
            <a:ext cx="329184" cy="329184"/>
          </a:xfrm>
          <a:prstGeom prst="rect">
            <a:avLst/>
          </a:prstGeom>
        </p:spPr>
      </p:pic>
      <p:sp>
        <p:nvSpPr>
          <p:cNvPr id="15" name="Ehrenberg-Bass text"/>
          <p:cNvSpPr txBox="1"/>
          <p:nvPr/>
        </p:nvSpPr>
        <p:spPr>
          <a:xfrm>
            <a:off x="4791456" y="1847088"/>
            <a:ext cx="3758184" cy="1673351"/>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Penetration: </a:t>
            </a:r>
            <a:r>
              <a:rPr lang="de-AT" sz="1300" b="0" i="0">
                <a:solidFill>
                  <a:schemeClr val="tx1"/>
                </a:solidFill>
              </a:rPr>
              <a:t>mehr Käufer:innen gewinnen</a:t>
            </a:r>
          </a:p>
          <a:p>
            <a:pPr algn="l">
              <a:spcAft>
                <a:spcPts val="700"/>
              </a:spcAft>
            </a:pPr>
            <a:r>
              <a:rPr lang="de-AT" sz="1300" b="1" i="0">
                <a:solidFill>
                  <a:schemeClr val="tx1"/>
                </a:solidFill>
              </a:rPr>
              <a:t>Distinctiveness: </a:t>
            </a:r>
            <a:r>
              <a:rPr lang="de-AT" sz="1300" b="0" i="0">
                <a:solidFill>
                  <a:schemeClr val="tx1"/>
                </a:solidFill>
              </a:rPr>
              <a:t>auffallen und erkannt werden</a:t>
            </a:r>
          </a:p>
          <a:p>
            <a:pPr algn="l">
              <a:spcAft>
                <a:spcPts val="700"/>
              </a:spcAft>
            </a:pPr>
            <a:r>
              <a:rPr lang="de-AT" sz="1300" b="1" i="0">
                <a:solidFill>
                  <a:schemeClr val="tx1"/>
                </a:solidFill>
              </a:rPr>
              <a:t>Reichweite: </a:t>
            </a:r>
            <a:r>
              <a:rPr lang="de-AT" sz="1300" b="0" i="0">
                <a:solidFill>
                  <a:schemeClr val="tx1"/>
                </a:solidFill>
              </a:rPr>
              <a:t>alle Kategoriekäufer:innen erreichen</a:t>
            </a:r>
          </a:p>
          <a:p>
            <a:pPr algn="l">
              <a:spcAft>
                <a:spcPts val="700"/>
              </a:spcAft>
            </a:pPr>
            <a:r>
              <a:rPr lang="de-AT" sz="1300" b="1" i="0">
                <a:solidFill>
                  <a:schemeClr val="tx1"/>
                </a:solidFill>
              </a:rPr>
              <a:t>Verhalten: </a:t>
            </a:r>
            <a:r>
              <a:rPr lang="de-AT" sz="1300" b="0" i="0">
                <a:solidFill>
                  <a:schemeClr val="tx1"/>
                </a:solidFill>
              </a:rPr>
              <a:t>Kauf prägt auch Einstellung</a:t>
            </a:r>
          </a:p>
        </p:txBody>
      </p:sp>
      <p:sp>
        <p:nvSpPr>
          <p:cNvPr id="16" name="Central question"/>
          <p:cNvSpPr/>
          <p:nvPr/>
        </p:nvSpPr>
        <p:spPr>
          <a:xfrm>
            <a:off x="457200" y="37947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entral question text"/>
          <p:cNvSpPr txBox="1"/>
          <p:nvPr/>
        </p:nvSpPr>
        <p:spPr>
          <a:xfrm>
            <a:off x="640080" y="3794760"/>
            <a:ext cx="7863840" cy="50292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Heute: Wir prüfen die rechte Spalte an der Evidenz und sehen, wo sie an Grenzen stößt.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Lernziele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Objective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Fingerprint" descr="LuFingerprint-navy.png"/>
          <p:cNvPicPr>
            <a:picLocks noChangeAspect="1"/>
          </p:cNvPicPr>
          <p:nvPr/>
        </p:nvPicPr>
        <p:blipFill>
          <a:blip r:embed="rId2"/>
          <a:stretch>
            <a:fillRect/>
          </a:stretch>
        </p:blipFill>
        <p:spPr>
          <a:xfrm>
            <a:off x="658368" y="1362456"/>
            <a:ext cx="365760" cy="365760"/>
          </a:xfrm>
          <a:prstGeom prst="rect">
            <a:avLst/>
          </a:prstGeom>
        </p:spPr>
      </p:pic>
      <p:sp>
        <p:nvSpPr>
          <p:cNvPr id="8" name="Objective text 1"/>
          <p:cNvSpPr txBox="1"/>
          <p:nvPr/>
        </p:nvSpPr>
        <p:spPr>
          <a:xfrm>
            <a:off x="1234440" y="123444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Definieren: </a:t>
            </a:r>
            <a:r>
              <a:rPr lang="de-AT" sz="1400" b="0" i="0">
                <a:solidFill>
                  <a:schemeClr val="tx1"/>
                </a:solidFill>
              </a:rPr>
              <a:t>die Marke und ihre greifbaren und nicht greifbaren Elemente</a:t>
            </a:r>
          </a:p>
        </p:txBody>
      </p:sp>
      <p:sp>
        <p:nvSpPr>
          <p:cNvPr id="9" name="Objective row 2"/>
          <p:cNvSpPr/>
          <p:nvPr/>
        </p:nvSpPr>
        <p:spPr>
          <a:xfrm>
            <a:off x="457200" y="196596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Repeat" descr="LuRepeat-navy.png"/>
          <p:cNvPicPr>
            <a:picLocks noChangeAspect="1"/>
          </p:cNvPicPr>
          <p:nvPr/>
        </p:nvPicPr>
        <p:blipFill>
          <a:blip r:embed="rId3"/>
          <a:stretch>
            <a:fillRect/>
          </a:stretch>
        </p:blipFill>
        <p:spPr>
          <a:xfrm>
            <a:off x="658368" y="2093976"/>
            <a:ext cx="365760" cy="365760"/>
          </a:xfrm>
          <a:prstGeom prst="rect">
            <a:avLst/>
          </a:prstGeom>
        </p:spPr>
      </p:pic>
      <p:sp>
        <p:nvSpPr>
          <p:cNvPr id="11" name="Objective text 2"/>
          <p:cNvSpPr txBox="1"/>
          <p:nvPr/>
        </p:nvSpPr>
        <p:spPr>
          <a:xfrm>
            <a:off x="1234440" y="196596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Erklären: </a:t>
            </a:r>
            <a:r>
              <a:rPr lang="de-AT" sz="1400" b="0" i="0">
                <a:solidFill>
                  <a:schemeClr val="tx1"/>
                </a:solidFill>
              </a:rPr>
              <a:t>Double Jeopardy und das Duplication-of-Purchase-Gesetz</a:t>
            </a:r>
          </a:p>
        </p:txBody>
      </p:sp>
      <p:sp>
        <p:nvSpPr>
          <p:cNvPr id="12" name="Objective row 3"/>
          <p:cNvSpPr/>
          <p:nvPr/>
        </p:nvSpPr>
        <p:spPr>
          <a:xfrm>
            <a:off x="457200" y="269748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alculator" descr="LuCalculator-navy.png"/>
          <p:cNvPicPr>
            <a:picLocks noChangeAspect="1"/>
          </p:cNvPicPr>
          <p:nvPr/>
        </p:nvPicPr>
        <p:blipFill>
          <a:blip r:embed="rId4"/>
          <a:stretch>
            <a:fillRect/>
          </a:stretch>
        </p:blipFill>
        <p:spPr>
          <a:xfrm>
            <a:off x="658368" y="2825496"/>
            <a:ext cx="365760" cy="365760"/>
          </a:xfrm>
          <a:prstGeom prst="rect">
            <a:avLst/>
          </a:prstGeom>
        </p:spPr>
      </p:pic>
      <p:sp>
        <p:nvSpPr>
          <p:cNvPr id="14" name="Objective text 3"/>
          <p:cNvSpPr txBox="1"/>
          <p:nvPr/>
        </p:nvSpPr>
        <p:spPr>
          <a:xfrm>
            <a:off x="1234440" y="269748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Interpretieren: </a:t>
            </a:r>
            <a:r>
              <a:rPr lang="de-AT" sz="1400" b="0" i="0">
                <a:solidFill>
                  <a:schemeClr val="tx1"/>
                </a:solidFill>
              </a:rPr>
              <a:t>das NBD-Dirichlet-Modell als Maßstab für normale Loyalität</a:t>
            </a:r>
          </a:p>
        </p:txBody>
      </p:sp>
      <p:sp>
        <p:nvSpPr>
          <p:cNvPr id="15" name="Objective row 4"/>
          <p:cNvSpPr/>
          <p:nvPr/>
        </p:nvSpPr>
        <p:spPr>
          <a:xfrm>
            <a:off x="457200" y="342900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LuTarget" descr="LuTarget-navy.png"/>
          <p:cNvPicPr>
            <a:picLocks noChangeAspect="1"/>
          </p:cNvPicPr>
          <p:nvPr/>
        </p:nvPicPr>
        <p:blipFill>
          <a:blip r:embed="rId5"/>
          <a:stretch>
            <a:fillRect/>
          </a:stretch>
        </p:blipFill>
        <p:spPr>
          <a:xfrm>
            <a:off x="658368" y="3557016"/>
            <a:ext cx="365760" cy="365760"/>
          </a:xfrm>
          <a:prstGeom prst="rect">
            <a:avLst/>
          </a:prstGeom>
        </p:spPr>
      </p:pic>
      <p:sp>
        <p:nvSpPr>
          <p:cNvPr id="17" name="Objective text 4"/>
          <p:cNvSpPr txBox="1"/>
          <p:nvPr/>
        </p:nvSpPr>
        <p:spPr>
          <a:xfrm>
            <a:off x="1234440" y="342900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Anwenden: </a:t>
            </a:r>
            <a:r>
              <a:rPr lang="de-AT" sz="1400" b="0" i="0">
                <a:solidFill>
                  <a:schemeClr val="tx1"/>
                </a:solidFill>
              </a:rPr>
              <a:t>mentale Verfügbarkeit, Entry Points, Distinctive Assets</a:t>
            </a:r>
          </a:p>
        </p:txBody>
      </p:sp>
      <p:sp>
        <p:nvSpPr>
          <p:cNvPr id="18" name="Objective row 5"/>
          <p:cNvSpPr/>
          <p:nvPr/>
        </p:nvSpPr>
        <p:spPr>
          <a:xfrm>
            <a:off x="457200" y="416052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con LuScale" descr="LuScale-navy.png"/>
          <p:cNvPicPr>
            <a:picLocks noChangeAspect="1"/>
          </p:cNvPicPr>
          <p:nvPr/>
        </p:nvPicPr>
        <p:blipFill>
          <a:blip r:embed="rId6"/>
          <a:stretch>
            <a:fillRect/>
          </a:stretch>
        </p:blipFill>
        <p:spPr>
          <a:xfrm>
            <a:off x="658368" y="4288536"/>
            <a:ext cx="365760" cy="365760"/>
          </a:xfrm>
          <a:prstGeom prst="rect">
            <a:avLst/>
          </a:prstGeom>
        </p:spPr>
      </p:pic>
      <p:sp>
        <p:nvSpPr>
          <p:cNvPr id="20" name="Objective text 5"/>
          <p:cNvSpPr txBox="1"/>
          <p:nvPr/>
        </p:nvSpPr>
        <p:spPr>
          <a:xfrm>
            <a:off x="1234440" y="4160520"/>
            <a:ext cx="7315200" cy="621792"/>
          </a:xfrm>
          <a:prstGeom prst="rect">
            <a:avLst/>
          </a:prstGeom>
          <a:noFill/>
        </p:spPr>
        <p:txBody>
          <a:bodyPr wrap="square" lIns="36576" rIns="36576" tIns="18288" bIns="18288" anchor="ctr">
            <a:spAutoFit/>
          </a:bodyPr>
          <a:lstStyle/>
          <a:p>
            <a:pPr algn="l">
              <a:spcAft>
                <a:spcPts val="0"/>
              </a:spcAft>
            </a:pPr>
            <a:r>
              <a:rPr lang="de-AT" sz="1400" b="1" i="0">
                <a:solidFill>
                  <a:schemeClr val="tx2"/>
                </a:solidFill>
              </a:rPr>
              <a:t>Beurteilen: </a:t>
            </a:r>
            <a:r>
              <a:rPr lang="de-AT" sz="1400" b="0" i="0">
                <a:solidFill>
                  <a:schemeClr val="tx1"/>
                </a:solidFill>
              </a:rPr>
              <a:t>Kritik, Grenzen und die Debatte mit Binet &amp; Field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1 von 6 · was eine Marke ist</a:t>
            </a:r>
          </a:p>
        </p:txBody>
      </p:sp>
      <p:sp>
        <p:nvSpPr>
          <p:cNvPr id="3" name="Title 2"/>
          <p:cNvSpPr>
            <a:spLocks noGrp="1"/>
          </p:cNvSpPr>
          <p:nvPr>
            <p:ph type="ctrTitle"/>
          </p:nvPr>
        </p:nvSpPr>
        <p:spPr/>
        <p:txBody>
          <a:bodyPr/>
          <a:lstStyle/>
          <a:p>
            <a:r>
              <a:rPr lang="de-AT"/>
              <a:t>Grundlagen der Markenführung</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Was ist eine Marke?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Brand identifies body"/>
          <p:cNvSpPr/>
          <p:nvPr/>
        </p:nvSpPr>
        <p:spPr>
          <a:xfrm>
            <a:off x="457200"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rand identifies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rand identifies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Eine Marke kennzeichnet</a:t>
            </a:r>
          </a:p>
        </p:txBody>
      </p:sp>
      <p:pic>
        <p:nvPicPr>
          <p:cNvPr id="9" name="Icon LuFingerprint" descr="LuFingerprint-white.png"/>
          <p:cNvPicPr>
            <a:picLocks noChangeAspect="1"/>
          </p:cNvPicPr>
          <p:nvPr/>
        </p:nvPicPr>
        <p:blipFill>
          <a:blip r:embed="rId2"/>
          <a:stretch>
            <a:fillRect/>
          </a:stretch>
        </p:blipFill>
        <p:spPr>
          <a:xfrm>
            <a:off x="4059936" y="1344168"/>
            <a:ext cx="329184" cy="329184"/>
          </a:xfrm>
          <a:prstGeom prst="rect">
            <a:avLst/>
          </a:prstGeom>
        </p:spPr>
      </p:pic>
      <p:sp>
        <p:nvSpPr>
          <p:cNvPr id="10" name="Brand identifies text"/>
          <p:cNvSpPr txBox="1"/>
          <p:nvPr/>
        </p:nvSpPr>
        <p:spPr>
          <a:xfrm>
            <a:off x="594360" y="1847088"/>
            <a:ext cx="3758184" cy="1719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Definition: </a:t>
            </a:r>
            <a:r>
              <a:rPr lang="de-AT" sz="1300" b="0" i="0">
                <a:solidFill>
                  <a:schemeClr val="tx1"/>
                </a:solidFill>
              </a:rPr>
              <a:t>Name, Begriff, Design, Symbol oder anderes Merkmal, das das Angebot eines Anbieters von anderen unterscheidet (American Marketing Association)</a:t>
            </a:r>
          </a:p>
          <a:p>
            <a:pPr algn="l">
              <a:spcAft>
                <a:spcPts val="700"/>
              </a:spcAft>
            </a:pPr>
            <a:r>
              <a:rPr lang="de-AT" sz="1300" b="1" i="0">
                <a:solidFill>
                  <a:schemeClr val="tx1"/>
                </a:solidFill>
              </a:rPr>
              <a:t>Marke vs. Produkt: </a:t>
            </a:r>
            <a:r>
              <a:rPr lang="de-AT" sz="1300" b="0" i="0">
                <a:solidFill>
                  <a:schemeClr val="tx1"/>
                </a:solidFill>
              </a:rPr>
              <a:t>das Produkt erfüllt den Zweck; die Marke sagt, von wem es stammt</a:t>
            </a:r>
          </a:p>
        </p:txBody>
      </p:sp>
      <p:sp>
        <p:nvSpPr>
          <p:cNvPr id="11" name="Brand memory body"/>
          <p:cNvSpPr/>
          <p:nvPr/>
        </p:nvSpPr>
        <p:spPr>
          <a:xfrm>
            <a:off x="4654296"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rand memory band"/>
          <p:cNvSpPr/>
          <p:nvPr/>
        </p:nvSpPr>
        <p:spPr>
          <a:xfrm>
            <a:off x="4654296"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and memory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Eine Marke lebt im Gedächtnis</a:t>
            </a:r>
          </a:p>
        </p:txBody>
      </p:sp>
      <p:pic>
        <p:nvPicPr>
          <p:cNvPr id="14" name="Icon LuBrain" descr="LuBrain-white.png"/>
          <p:cNvPicPr>
            <a:picLocks noChangeAspect="1"/>
          </p:cNvPicPr>
          <p:nvPr/>
        </p:nvPicPr>
        <p:blipFill>
          <a:blip r:embed="rId3"/>
          <a:stretch>
            <a:fillRect/>
          </a:stretch>
        </p:blipFill>
        <p:spPr>
          <a:xfrm>
            <a:off x="8257031" y="1344168"/>
            <a:ext cx="329184" cy="329184"/>
          </a:xfrm>
          <a:prstGeom prst="rect">
            <a:avLst/>
          </a:prstGeom>
        </p:spPr>
      </p:pic>
      <p:sp>
        <p:nvSpPr>
          <p:cNvPr id="15" name="Brand memory text"/>
          <p:cNvSpPr txBox="1"/>
          <p:nvPr/>
        </p:nvSpPr>
        <p:spPr>
          <a:xfrm>
            <a:off x="4791456" y="1847088"/>
            <a:ext cx="3758184" cy="1719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Markenwissen: </a:t>
            </a:r>
            <a:r>
              <a:rPr lang="de-AT" sz="1300" b="0" i="0">
                <a:solidFill>
                  <a:schemeClr val="tx1"/>
                </a:solidFill>
              </a:rPr>
              <a:t>Markenbekanntheit plus die Assoziationen, die Käufer:innen mit ihr verbinden (Keller 1993)</a:t>
            </a:r>
          </a:p>
          <a:p>
            <a:pPr algn="l">
              <a:spcAft>
                <a:spcPts val="700"/>
              </a:spcAft>
            </a:pPr>
            <a:r>
              <a:rPr lang="de-AT" sz="1300" b="1" i="0">
                <a:solidFill>
                  <a:schemeClr val="tx1"/>
                </a:solidFill>
              </a:rPr>
              <a:t>Markenwert: </a:t>
            </a:r>
            <a:r>
              <a:rPr lang="de-AT" sz="1300" b="0" i="0">
                <a:solidFill>
                  <a:schemeClr val="tx1"/>
                </a:solidFill>
              </a:rPr>
              <a:t>der Unterschied, den dieses Wissen für die Reaktion auf das Marketing macht</a:t>
            </a:r>
          </a:p>
        </p:txBody>
      </p:sp>
      <p:sp>
        <p:nvSpPr>
          <p:cNvPr id="16" name="Brand definition takeaway"/>
          <p:cNvSpPr/>
          <p:nvPr/>
        </p:nvSpPr>
        <p:spPr>
          <a:xfrm>
            <a:off x="457200" y="38404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rand definition takeaway text"/>
          <p:cNvSpPr txBox="1"/>
          <p:nvPr/>
        </p:nvSpPr>
        <p:spPr>
          <a:xfrm>
            <a:off x="640080" y="384048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Kurz gesagt: </a:t>
            </a:r>
            <a:r>
              <a:rPr lang="de-AT" sz="1300" b="0" i="0">
                <a:solidFill>
                  <a:schemeClr val="tx1"/>
                </a:solidFill>
              </a:rPr>
              <a:t>Was das Unternehmen zeigt, ist der Hinweisreiz; was Käufer:innen erinnern, ist die Marke.</a:t>
            </a:r>
          </a:p>
        </p:txBody>
      </p:sp>
      <p:sp>
        <p:nvSpPr>
          <p:cNvPr id="1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American Marketing Association, Dictionary; Keller (1993) Journal of Marketing; Keller &amp; Swaminathan (2020) Strategic Brand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Greifbare und nicht greifbare Elemente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Iceberg tip"/>
          <p:cNvSpPr/>
          <p:nvPr/>
        </p:nvSpPr>
        <p:spPr>
          <a:xfrm>
            <a:off x="960120" y="1325880"/>
            <a:ext cx="1828800" cy="1417320"/>
          </a:xfrm>
          <a:prstGeom prs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ceberg tip label"/>
          <p:cNvSpPr txBox="1"/>
          <p:nvPr/>
        </p:nvSpPr>
        <p:spPr>
          <a:xfrm>
            <a:off x="960120" y="2240280"/>
            <a:ext cx="1828800" cy="411480"/>
          </a:xfrm>
          <a:prstGeom prst="rect">
            <a:avLst/>
          </a:prstGeom>
          <a:noFill/>
        </p:spPr>
        <p:txBody>
          <a:bodyPr wrap="square" lIns="36576" rIns="36576" tIns="18288" bIns="18288" anchor="t">
            <a:spAutoFit/>
          </a:bodyPr>
          <a:lstStyle/>
          <a:p>
            <a:pPr algn="ctr">
              <a:spcAft>
                <a:spcPts val="0"/>
              </a:spcAft>
            </a:pPr>
            <a:r>
              <a:rPr lang="de-AT" sz="1300" b="1" i="0">
                <a:solidFill>
                  <a:schemeClr val="bg1"/>
                </a:solidFill>
              </a:rPr>
              <a:t>Greifbar</a:t>
            </a:r>
          </a:p>
        </p:txBody>
      </p:sp>
      <p:sp>
        <p:nvSpPr>
          <p:cNvPr id="8" name="Waterline"/>
          <p:cNvSpPr/>
          <p:nvPr/>
        </p:nvSpPr>
        <p:spPr>
          <a:xfrm>
            <a:off x="457200" y="2788920"/>
            <a:ext cx="2834640"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aterline note"/>
          <p:cNvSpPr txBox="1"/>
          <p:nvPr/>
        </p:nvSpPr>
        <p:spPr>
          <a:xfrm>
            <a:off x="457200" y="2834640"/>
            <a:ext cx="2834640" cy="274320"/>
          </a:xfrm>
          <a:prstGeom prst="rect">
            <a:avLst/>
          </a:prstGeom>
          <a:noFill/>
        </p:spPr>
        <p:txBody>
          <a:bodyPr wrap="square" lIns="36576" rIns="36576" tIns="18288" bIns="18288" anchor="t">
            <a:spAutoFit/>
          </a:bodyPr>
          <a:lstStyle/>
          <a:p>
            <a:pPr algn="ctr">
              <a:spcAft>
                <a:spcPts val="0"/>
              </a:spcAft>
            </a:pPr>
            <a:r>
              <a:rPr lang="de-AT" sz="1050" b="0" i="0">
                <a:solidFill>
                  <a:srgbClr val="595959"/>
                </a:solidFill>
              </a:rPr>
              <a:t>Wasserlinie</a:t>
            </a:r>
          </a:p>
        </p:txBody>
      </p:sp>
      <p:sp>
        <p:nvSpPr>
          <p:cNvPr id="10" name="Iceberg base"/>
          <p:cNvSpPr/>
          <p:nvPr/>
        </p:nvSpPr>
        <p:spPr>
          <a:xfrm>
            <a:off x="457200" y="3154680"/>
            <a:ext cx="2834640" cy="1737360"/>
          </a:xfrm>
          <a:prstGeom prst="trapezoid">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ceberg base label"/>
          <p:cNvSpPr txBox="1"/>
          <p:nvPr/>
        </p:nvSpPr>
        <p:spPr>
          <a:xfrm>
            <a:off x="731520" y="3520440"/>
            <a:ext cx="2286000" cy="822960"/>
          </a:xfrm>
          <a:prstGeom prst="rect">
            <a:avLst/>
          </a:prstGeom>
          <a:noFill/>
        </p:spPr>
        <p:txBody>
          <a:bodyPr wrap="square" lIns="36576" rIns="36576" tIns="18288" bIns="18288" anchor="t">
            <a:spAutoFit/>
          </a:bodyPr>
          <a:lstStyle/>
          <a:p>
            <a:pPr algn="ctr">
              <a:spcAft>
                <a:spcPts val="200"/>
              </a:spcAft>
            </a:pPr>
            <a:r>
              <a:rPr lang="de-AT" sz="1300" b="1" i="0">
                <a:solidFill>
                  <a:schemeClr val="tx2"/>
                </a:solidFill>
              </a:rPr>
              <a:t>Nicht greifbar</a:t>
            </a:r>
          </a:p>
          <a:p>
            <a:pPr algn="ctr">
              <a:spcAft>
                <a:spcPts val="200"/>
              </a:spcAft>
            </a:pPr>
            <a:r>
              <a:rPr lang="de-AT" sz="1100" b="0" i="0">
                <a:solidFill>
                  <a:schemeClr val="tx1"/>
                </a:solidFill>
              </a:rPr>
              <a:t>was Käufer:innen erinnern und fühlen</a:t>
            </a:r>
          </a:p>
        </p:txBody>
      </p:sp>
      <p:sp>
        <p:nvSpPr>
          <p:cNvPr id="12" name="Tangible elements body"/>
          <p:cNvSpPr/>
          <p:nvPr/>
        </p:nvSpPr>
        <p:spPr>
          <a:xfrm>
            <a:off x="3566160" y="1280160"/>
            <a:ext cx="512064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ngible elements band"/>
          <p:cNvSpPr/>
          <p:nvPr/>
        </p:nvSpPr>
        <p:spPr>
          <a:xfrm>
            <a:off x="3566160" y="1280160"/>
            <a:ext cx="512064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ngible elements heading"/>
          <p:cNvSpPr txBox="1"/>
          <p:nvPr/>
        </p:nvSpPr>
        <p:spPr>
          <a:xfrm>
            <a:off x="3675887" y="1335024"/>
            <a:ext cx="443484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Greifbar: sehen, hören, fühlen</a:t>
            </a:r>
          </a:p>
        </p:txBody>
      </p:sp>
      <p:pic>
        <p:nvPicPr>
          <p:cNvPr id="15" name="Icon LuEye" descr="LuEye-white.png"/>
          <p:cNvPicPr>
            <a:picLocks noChangeAspect="1"/>
          </p:cNvPicPr>
          <p:nvPr/>
        </p:nvPicPr>
        <p:blipFill>
          <a:blip r:embed="rId2"/>
          <a:stretch>
            <a:fillRect/>
          </a:stretch>
        </p:blipFill>
        <p:spPr>
          <a:xfrm>
            <a:off x="8257031" y="1344168"/>
            <a:ext cx="329184" cy="329184"/>
          </a:xfrm>
          <a:prstGeom prst="rect">
            <a:avLst/>
          </a:prstGeom>
        </p:spPr>
      </p:pic>
      <p:sp>
        <p:nvSpPr>
          <p:cNvPr id="16" name="Tangible elements text"/>
          <p:cNvSpPr txBox="1"/>
          <p:nvPr/>
        </p:nvSpPr>
        <p:spPr>
          <a:xfrm>
            <a:off x="3703320" y="1847088"/>
            <a:ext cx="4846320" cy="10332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Name, Logo, Symbol, Farben, Schrift</a:t>
            </a:r>
          </a:p>
          <a:p>
            <a:pPr algn="l">
              <a:spcAft>
                <a:spcPts val="700"/>
              </a:spcAft>
            </a:pPr>
            <a:r>
              <a:rPr lang="de-AT" sz="1200" b="0" i="0">
                <a:solidFill>
                  <a:schemeClr val="tx1"/>
                </a:solidFill>
              </a:rPr>
              <a:t>Verpackung, Produktdesign, Figuren</a:t>
            </a:r>
          </a:p>
          <a:p>
            <a:pPr algn="l">
              <a:spcAft>
                <a:spcPts val="700"/>
              </a:spcAft>
            </a:pPr>
            <a:r>
              <a:rPr lang="de-AT" sz="1200" b="0" i="0">
                <a:solidFill>
                  <a:schemeClr val="tx1"/>
                </a:solidFill>
              </a:rPr>
              <a:t>Slogan, Jingle und Sound-Logo</a:t>
            </a:r>
          </a:p>
        </p:txBody>
      </p:sp>
      <p:sp>
        <p:nvSpPr>
          <p:cNvPr id="17" name="Intangible elements body"/>
          <p:cNvSpPr/>
          <p:nvPr/>
        </p:nvSpPr>
        <p:spPr>
          <a:xfrm>
            <a:off x="3566160" y="3154680"/>
            <a:ext cx="512064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ntangible elements band"/>
          <p:cNvSpPr/>
          <p:nvPr/>
        </p:nvSpPr>
        <p:spPr>
          <a:xfrm>
            <a:off x="3566160" y="3154680"/>
            <a:ext cx="51206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ntangible elements heading"/>
          <p:cNvSpPr txBox="1"/>
          <p:nvPr/>
        </p:nvSpPr>
        <p:spPr>
          <a:xfrm>
            <a:off x="3675887" y="3209544"/>
            <a:ext cx="443484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Nicht greifbar: erinnern, fühlen, glauben</a:t>
            </a:r>
          </a:p>
        </p:txBody>
      </p:sp>
      <p:pic>
        <p:nvPicPr>
          <p:cNvPr id="20" name="Icon LuSparkles" descr="LuSparkles-white.png"/>
          <p:cNvPicPr>
            <a:picLocks noChangeAspect="1"/>
          </p:cNvPicPr>
          <p:nvPr/>
        </p:nvPicPr>
        <p:blipFill>
          <a:blip r:embed="rId3"/>
          <a:stretch>
            <a:fillRect/>
          </a:stretch>
        </p:blipFill>
        <p:spPr>
          <a:xfrm>
            <a:off x="8257031" y="3218688"/>
            <a:ext cx="329184" cy="329184"/>
          </a:xfrm>
          <a:prstGeom prst="rect">
            <a:avLst/>
          </a:prstGeom>
        </p:spPr>
      </p:pic>
      <p:sp>
        <p:nvSpPr>
          <p:cNvPr id="21" name="Intangible elements text"/>
          <p:cNvSpPr txBox="1"/>
          <p:nvPr/>
        </p:nvSpPr>
        <p:spPr>
          <a:xfrm>
            <a:off x="3703320" y="3721608"/>
            <a:ext cx="4846320" cy="107899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Assoziationen und Image: </a:t>
            </a:r>
            <a:r>
              <a:rPr lang="de-AT" sz="1200" b="0" i="0">
                <a:solidFill>
                  <a:schemeClr val="tx1"/>
                </a:solidFill>
              </a:rPr>
              <a:t>womit die Marke verbunden wird</a:t>
            </a:r>
          </a:p>
          <a:p>
            <a:pPr algn="l">
              <a:spcAft>
                <a:spcPts val="700"/>
              </a:spcAft>
            </a:pPr>
            <a:r>
              <a:rPr lang="de-AT" sz="1200" b="0" i="0">
                <a:solidFill>
                  <a:schemeClr val="tx1"/>
                </a:solidFill>
              </a:rPr>
              <a:t>Persönlichkeit, Herkunft und Werte</a:t>
            </a:r>
          </a:p>
          <a:p>
            <a:pPr algn="l">
              <a:spcAft>
                <a:spcPts val="700"/>
              </a:spcAft>
            </a:pPr>
            <a:r>
              <a:rPr lang="de-AT" sz="1200" b="0" i="0">
                <a:solidFill>
                  <a:schemeClr val="tx1"/>
                </a:solidFill>
              </a:rPr>
              <a:t>Vertrauen, Reputation und Emotionen aus Erfahrung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Beispiel: Manner, Wien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Manner tangible body"/>
          <p:cNvSpPr/>
          <p:nvPr/>
        </p:nvSpPr>
        <p:spPr>
          <a:xfrm>
            <a:off x="457200" y="1280160"/>
            <a:ext cx="4032504" cy="2468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nner tangible band"/>
          <p:cNvSpPr/>
          <p:nvPr/>
        </p:nvSpPr>
        <p:spPr>
          <a:xfrm>
            <a:off x="457200"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nner tangible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Greifbar</a:t>
            </a:r>
          </a:p>
        </p:txBody>
      </p:sp>
      <p:pic>
        <p:nvPicPr>
          <p:cNvPr id="9" name="Icon LuEye" descr="LuEye-white.png"/>
          <p:cNvPicPr>
            <a:picLocks noChangeAspect="1"/>
          </p:cNvPicPr>
          <p:nvPr/>
        </p:nvPicPr>
        <p:blipFill>
          <a:blip r:embed="rId2"/>
          <a:stretch>
            <a:fillRect/>
          </a:stretch>
        </p:blipFill>
        <p:spPr>
          <a:xfrm>
            <a:off x="4059936" y="1344168"/>
            <a:ext cx="329184" cy="329184"/>
          </a:xfrm>
          <a:prstGeom prst="rect">
            <a:avLst/>
          </a:prstGeom>
        </p:spPr>
      </p:pic>
      <p:sp>
        <p:nvSpPr>
          <p:cNvPr id="10" name="Manner tangible text"/>
          <p:cNvSpPr txBox="1"/>
          <p:nvPr/>
        </p:nvSpPr>
        <p:spPr>
          <a:xfrm>
            <a:off x="594360" y="1847088"/>
            <a:ext cx="3758184" cy="1810512"/>
          </a:xfrm>
          <a:prstGeom prst="rect">
            <a:avLst/>
          </a:prstGeom>
          <a:noFill/>
        </p:spPr>
        <p:txBody>
          <a:bodyPr wrap="square" lIns="36576" rIns="36576" tIns="18288" bIns="18288" anchor="t">
            <a:spAutoFit/>
          </a:bodyPr>
          <a:lstStyle/>
          <a:p>
            <a:pPr algn="l">
              <a:spcAft>
                <a:spcPts val="700"/>
              </a:spcAft>
            </a:pPr>
            <a:r>
              <a:rPr lang="de-AT" sz="1400" b="1" i="0">
                <a:solidFill>
                  <a:schemeClr val="tx1"/>
                </a:solidFill>
              </a:rPr>
              <a:t>Farbe: </a:t>
            </a:r>
            <a:r>
              <a:rPr lang="de-AT" sz="1400" b="0" i="0">
                <a:solidFill>
                  <a:schemeClr val="tx1"/>
                </a:solidFill>
              </a:rPr>
              <a:t>die rosa Packungen</a:t>
            </a:r>
          </a:p>
          <a:p>
            <a:pPr algn="l">
              <a:spcAft>
                <a:spcPts val="700"/>
              </a:spcAft>
            </a:pPr>
            <a:r>
              <a:rPr lang="de-AT" sz="1400" b="1" i="0">
                <a:solidFill>
                  <a:schemeClr val="tx1"/>
                </a:solidFill>
              </a:rPr>
              <a:t>Symbol: </a:t>
            </a:r>
            <a:r>
              <a:rPr lang="de-AT" sz="1400" b="0" i="0">
                <a:solidFill>
                  <a:schemeClr val="tx1"/>
                </a:solidFill>
              </a:rPr>
              <a:t>der Stephansdom im Logo</a:t>
            </a:r>
          </a:p>
          <a:p>
            <a:pPr algn="l">
              <a:spcAft>
                <a:spcPts val="700"/>
              </a:spcAft>
            </a:pPr>
            <a:r>
              <a:rPr lang="de-AT" sz="1400" b="1" i="0">
                <a:solidFill>
                  <a:schemeClr val="tx1"/>
                </a:solidFill>
              </a:rPr>
              <a:t>Produkt: </a:t>
            </a:r>
            <a:r>
              <a:rPr lang="de-AT" sz="1400" b="0" i="0">
                <a:solidFill>
                  <a:schemeClr val="tx1"/>
                </a:solidFill>
              </a:rPr>
              <a:t>die Neapolitaner Haselnussschnitten</a:t>
            </a:r>
          </a:p>
          <a:p>
            <a:pPr algn="l">
              <a:spcAft>
                <a:spcPts val="700"/>
              </a:spcAft>
            </a:pPr>
            <a:r>
              <a:rPr lang="de-AT" sz="1400" b="1" i="0">
                <a:solidFill>
                  <a:schemeClr val="tx1"/>
                </a:solidFill>
              </a:rPr>
              <a:t>Slogan: </a:t>
            </a:r>
            <a:r>
              <a:rPr lang="de-AT" sz="1400" b="0" i="0">
                <a:solidFill>
                  <a:schemeClr val="tx1"/>
                </a:solidFill>
              </a:rPr>
              <a:t>„Manner mag man eben“</a:t>
            </a:r>
          </a:p>
        </p:txBody>
      </p:sp>
      <p:sp>
        <p:nvSpPr>
          <p:cNvPr id="11" name="Manner intangible body"/>
          <p:cNvSpPr/>
          <p:nvPr/>
        </p:nvSpPr>
        <p:spPr>
          <a:xfrm>
            <a:off x="4654296" y="1280160"/>
            <a:ext cx="4032504" cy="2468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nner intangible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nner intangible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Nicht greifbar</a:t>
            </a:r>
          </a:p>
        </p:txBody>
      </p:sp>
      <p:pic>
        <p:nvPicPr>
          <p:cNvPr id="14" name="Icon LuSparkles" descr="LuSparkles-white.png"/>
          <p:cNvPicPr>
            <a:picLocks noChangeAspect="1"/>
          </p:cNvPicPr>
          <p:nvPr/>
        </p:nvPicPr>
        <p:blipFill>
          <a:blip r:embed="rId3"/>
          <a:stretch>
            <a:fillRect/>
          </a:stretch>
        </p:blipFill>
        <p:spPr>
          <a:xfrm>
            <a:off x="8257031" y="1344168"/>
            <a:ext cx="329184" cy="329184"/>
          </a:xfrm>
          <a:prstGeom prst="rect">
            <a:avLst/>
          </a:prstGeom>
        </p:spPr>
      </p:pic>
      <p:sp>
        <p:nvSpPr>
          <p:cNvPr id="15" name="Manner intangible text"/>
          <p:cNvSpPr txBox="1"/>
          <p:nvPr/>
        </p:nvSpPr>
        <p:spPr>
          <a:xfrm>
            <a:off x="4791456" y="1847088"/>
            <a:ext cx="3758184" cy="1810512"/>
          </a:xfrm>
          <a:prstGeom prst="rect">
            <a:avLst/>
          </a:prstGeom>
          <a:noFill/>
        </p:spPr>
        <p:txBody>
          <a:bodyPr wrap="square" lIns="36576" rIns="36576" tIns="18288" bIns="18288" anchor="t">
            <a:spAutoFit/>
          </a:bodyPr>
          <a:lstStyle/>
          <a:p>
            <a:pPr algn="l">
              <a:spcAft>
                <a:spcPts val="700"/>
              </a:spcAft>
            </a:pPr>
            <a:r>
              <a:rPr lang="de-AT" sz="1400" b="1" i="0">
                <a:solidFill>
                  <a:schemeClr val="tx1"/>
                </a:solidFill>
              </a:rPr>
              <a:t>Herkunft: </a:t>
            </a:r>
            <a:r>
              <a:rPr lang="de-AT" sz="1400" b="0" i="0">
                <a:solidFill>
                  <a:schemeClr val="tx1"/>
                </a:solidFill>
              </a:rPr>
              <a:t>Wiener Familienunternehmen seit 1890</a:t>
            </a:r>
          </a:p>
          <a:p>
            <a:pPr algn="l">
              <a:spcAft>
                <a:spcPts val="700"/>
              </a:spcAft>
            </a:pPr>
            <a:r>
              <a:rPr lang="de-AT" sz="1400" b="1" i="0">
                <a:solidFill>
                  <a:schemeClr val="tx1"/>
                </a:solidFill>
              </a:rPr>
              <a:t>Assoziationen: </a:t>
            </a:r>
            <a:r>
              <a:rPr lang="de-AT" sz="1400" b="0" i="0">
                <a:solidFill>
                  <a:schemeClr val="tx1"/>
                </a:solidFill>
              </a:rPr>
              <a:t>Wien, Kindheit, kleiner Genuss</a:t>
            </a:r>
          </a:p>
          <a:p>
            <a:pPr algn="l">
              <a:spcAft>
                <a:spcPts val="700"/>
              </a:spcAft>
            </a:pPr>
            <a:r>
              <a:rPr lang="de-AT" sz="1400" b="1" i="0">
                <a:solidFill>
                  <a:schemeClr val="tx1"/>
                </a:solidFill>
              </a:rPr>
              <a:t>Gefühle: </a:t>
            </a:r>
            <a:r>
              <a:rPr lang="de-AT" sz="1400" b="0" i="0">
                <a:solidFill>
                  <a:schemeClr val="tx1"/>
                </a:solidFill>
              </a:rPr>
              <a:t>Nostalgie, Vertrautheit, Lokalstolz</a:t>
            </a:r>
          </a:p>
        </p:txBody>
      </p:sp>
      <p:sp>
        <p:nvSpPr>
          <p:cNvPr id="16" name="Manner exercise"/>
          <p:cNvSpPr/>
          <p:nvPr/>
        </p:nvSpPr>
        <p:spPr>
          <a:xfrm>
            <a:off x="457200" y="39776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nner exercise text"/>
          <p:cNvSpPr txBox="1"/>
          <p:nvPr/>
        </p:nvSpPr>
        <p:spPr>
          <a:xfrm>
            <a:off x="640080" y="3977639"/>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Ihre Aufgabe (3 Minuten): </a:t>
            </a:r>
            <a:r>
              <a:rPr lang="de-AT" sz="1300" b="0" i="0">
                <a:solidFill>
                  <a:schemeClr val="bg1"/>
                </a:solidFill>
              </a:rPr>
              <a:t>Red Bull oder Almdudler in greifbar und nicht greifbar aufteilen.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Wozu Marken? Was Markenführung tut</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Value for buyers body"/>
          <p:cNvSpPr/>
          <p:nvPr/>
        </p:nvSpPr>
        <p:spPr>
          <a:xfrm>
            <a:off x="457200" y="1234440"/>
            <a:ext cx="403250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alue for buyers band"/>
          <p:cNvSpPr/>
          <p:nvPr/>
        </p:nvSpPr>
        <p:spPr>
          <a:xfrm>
            <a:off x="457200" y="123444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for buyers heading"/>
          <p:cNvSpPr txBox="1"/>
          <p:nvPr/>
        </p:nvSpPr>
        <p:spPr>
          <a:xfrm>
            <a:off x="566928" y="128930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Für Käufer:innen</a:t>
            </a:r>
          </a:p>
        </p:txBody>
      </p:sp>
      <p:pic>
        <p:nvPicPr>
          <p:cNvPr id="9" name="Icon LuUsers" descr="LuUsers-white.png"/>
          <p:cNvPicPr>
            <a:picLocks noChangeAspect="1"/>
          </p:cNvPicPr>
          <p:nvPr/>
        </p:nvPicPr>
        <p:blipFill>
          <a:blip r:embed="rId2"/>
          <a:stretch>
            <a:fillRect/>
          </a:stretch>
        </p:blipFill>
        <p:spPr>
          <a:xfrm>
            <a:off x="4059936" y="1298448"/>
            <a:ext cx="329184" cy="329184"/>
          </a:xfrm>
          <a:prstGeom prst="rect">
            <a:avLst/>
          </a:prstGeom>
        </p:spPr>
      </p:pic>
      <p:sp>
        <p:nvSpPr>
          <p:cNvPr id="10" name="Value for buyers text"/>
          <p:cNvSpPr txBox="1"/>
          <p:nvPr/>
        </p:nvSpPr>
        <p:spPr>
          <a:xfrm>
            <a:off x="594360" y="1801368"/>
            <a:ext cx="3758184" cy="576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Hersteller </a:t>
            </a:r>
            <a:r>
              <a:rPr lang="de-AT" sz="1300" b="0" i="0">
                <a:solidFill>
                  <a:schemeClr val="tx1"/>
                </a:solidFill>
              </a:rPr>
              <a:t>rasch erkennen; </a:t>
            </a:r>
            <a:r>
              <a:rPr lang="de-AT" sz="1300" b="1" i="0">
                <a:solidFill>
                  <a:schemeClr val="tx1"/>
                </a:solidFill>
              </a:rPr>
              <a:t>Suchaufwand </a:t>
            </a:r>
            <a:r>
              <a:rPr lang="de-AT" sz="1300" b="0" i="0">
                <a:solidFill>
                  <a:schemeClr val="tx1"/>
                </a:solidFill>
              </a:rPr>
              <a:t>senken und </a:t>
            </a:r>
            <a:r>
              <a:rPr lang="de-AT" sz="1300" b="1" i="0">
                <a:solidFill>
                  <a:schemeClr val="tx1"/>
                </a:solidFill>
              </a:rPr>
              <a:t>Risiko verringern</a:t>
            </a:r>
          </a:p>
        </p:txBody>
      </p:sp>
      <p:sp>
        <p:nvSpPr>
          <p:cNvPr id="11" name="Value for firms body"/>
          <p:cNvSpPr/>
          <p:nvPr/>
        </p:nvSpPr>
        <p:spPr>
          <a:xfrm>
            <a:off x="4654296" y="1234440"/>
            <a:ext cx="403250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alue for firms band"/>
          <p:cNvSpPr/>
          <p:nvPr/>
        </p:nvSpPr>
        <p:spPr>
          <a:xfrm>
            <a:off x="4654296" y="123444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alue for firms heading"/>
          <p:cNvSpPr txBox="1"/>
          <p:nvPr/>
        </p:nvSpPr>
        <p:spPr>
          <a:xfrm>
            <a:off x="4764024" y="128930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Für Unternehmen</a:t>
            </a:r>
          </a:p>
        </p:txBody>
      </p:sp>
      <p:pic>
        <p:nvPicPr>
          <p:cNvPr id="14" name="Icon LuTrendingUp" descr="LuTrendingUp-white.png"/>
          <p:cNvPicPr>
            <a:picLocks noChangeAspect="1"/>
          </p:cNvPicPr>
          <p:nvPr/>
        </p:nvPicPr>
        <p:blipFill>
          <a:blip r:embed="rId3"/>
          <a:stretch>
            <a:fillRect/>
          </a:stretch>
        </p:blipFill>
        <p:spPr>
          <a:xfrm>
            <a:off x="8257031" y="1298448"/>
            <a:ext cx="329184" cy="329184"/>
          </a:xfrm>
          <a:prstGeom prst="rect">
            <a:avLst/>
          </a:prstGeom>
        </p:spPr>
      </p:pic>
      <p:sp>
        <p:nvSpPr>
          <p:cNvPr id="15" name="Value for firms text"/>
          <p:cNvSpPr txBox="1"/>
          <p:nvPr/>
        </p:nvSpPr>
        <p:spPr>
          <a:xfrm>
            <a:off x="4791456" y="1801368"/>
            <a:ext cx="3758184" cy="576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Rechtsschutz, </a:t>
            </a:r>
            <a:r>
              <a:rPr lang="de-AT" sz="1300" b="0" i="0">
                <a:solidFill>
                  <a:schemeClr val="tx1"/>
                </a:solidFill>
              </a:rPr>
              <a:t>Preisaufschlag, leichtere Einführungen und </a:t>
            </a:r>
            <a:r>
              <a:rPr lang="de-AT" sz="1300" b="1" i="0">
                <a:solidFill>
                  <a:schemeClr val="tx1"/>
                </a:solidFill>
              </a:rPr>
              <a:t>finanzieller Wert</a:t>
            </a:r>
          </a:p>
        </p:txBody>
      </p:sp>
      <p:sp>
        <p:nvSpPr>
          <p:cNvPr id="16" name="Step 1"/>
          <p:cNvSpPr/>
          <p:nvPr/>
        </p:nvSpPr>
        <p:spPr>
          <a:xfrm>
            <a:off x="457200" y="2697480"/>
            <a:ext cx="2139696" cy="45720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Positionieren</a:t>
            </a:r>
          </a:p>
        </p:txBody>
      </p:sp>
      <p:sp>
        <p:nvSpPr>
          <p:cNvPr id="17" name="Step 2"/>
          <p:cNvSpPr/>
          <p:nvPr/>
        </p:nvSpPr>
        <p:spPr>
          <a:xfrm>
            <a:off x="2487168" y="269748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Vermarkten</a:t>
            </a:r>
          </a:p>
        </p:txBody>
      </p:sp>
      <p:sp>
        <p:nvSpPr>
          <p:cNvPr id="18" name="Step 3"/>
          <p:cNvSpPr/>
          <p:nvPr/>
        </p:nvSpPr>
        <p:spPr>
          <a:xfrm>
            <a:off x="4517136" y="269748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Messen</a:t>
            </a:r>
          </a:p>
        </p:txBody>
      </p:sp>
      <p:sp>
        <p:nvSpPr>
          <p:cNvPr id="19" name="Step 4"/>
          <p:cNvSpPr/>
          <p:nvPr/>
        </p:nvSpPr>
        <p:spPr>
          <a:xfrm>
            <a:off x="6547103" y="269748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Erhalten</a:t>
            </a:r>
          </a:p>
        </p:txBody>
      </p:sp>
      <p:sp>
        <p:nvSpPr>
          <p:cNvPr id="20" name="Brand step box 1"/>
          <p:cNvSpPr/>
          <p:nvPr/>
        </p:nvSpPr>
        <p:spPr>
          <a:xfrm>
            <a:off x="502920" y="3246120"/>
            <a:ext cx="1938527"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rand step 1"/>
          <p:cNvSpPr txBox="1"/>
          <p:nvPr/>
        </p:nvSpPr>
        <p:spPr>
          <a:xfrm>
            <a:off x="594360" y="3246120"/>
            <a:ext cx="1755648" cy="68580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Positionierung und Werte festlegen</a:t>
            </a:r>
          </a:p>
        </p:txBody>
      </p:sp>
      <p:sp>
        <p:nvSpPr>
          <p:cNvPr id="22" name="Brand step box 2"/>
          <p:cNvSpPr/>
          <p:nvPr/>
        </p:nvSpPr>
        <p:spPr>
          <a:xfrm>
            <a:off x="2532887" y="3246120"/>
            <a:ext cx="1938527"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rand step 2"/>
          <p:cNvSpPr txBox="1"/>
          <p:nvPr/>
        </p:nvSpPr>
        <p:spPr>
          <a:xfrm>
            <a:off x="2624327" y="3246120"/>
            <a:ext cx="1755648" cy="68580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Marketingprogramm gestalten</a:t>
            </a:r>
          </a:p>
        </p:txBody>
      </p:sp>
      <p:sp>
        <p:nvSpPr>
          <p:cNvPr id="24" name="Brand step box 3"/>
          <p:cNvSpPr/>
          <p:nvPr/>
        </p:nvSpPr>
        <p:spPr>
          <a:xfrm>
            <a:off x="4562855" y="3246120"/>
            <a:ext cx="1938527"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rand step 3"/>
          <p:cNvSpPr txBox="1"/>
          <p:nvPr/>
        </p:nvSpPr>
        <p:spPr>
          <a:xfrm>
            <a:off x="4654296" y="3246120"/>
            <a:ext cx="1755648" cy="68580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Markenleistung verfolgen</a:t>
            </a:r>
          </a:p>
        </p:txBody>
      </p:sp>
      <p:sp>
        <p:nvSpPr>
          <p:cNvPr id="26" name="Brand step box 4"/>
          <p:cNvSpPr/>
          <p:nvPr/>
        </p:nvSpPr>
        <p:spPr>
          <a:xfrm>
            <a:off x="6592823" y="3246120"/>
            <a:ext cx="1938527"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rand step 4"/>
          <p:cNvSpPr txBox="1"/>
          <p:nvPr/>
        </p:nvSpPr>
        <p:spPr>
          <a:xfrm>
            <a:off x="6684264" y="3246120"/>
            <a:ext cx="1755648" cy="68580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Markenwert langfristig steigern</a:t>
            </a:r>
          </a:p>
        </p:txBody>
      </p:sp>
      <p:sp>
        <p:nvSpPr>
          <p:cNvPr id="28" name="Bridge to Ehrenberg-Bass"/>
          <p:cNvSpPr/>
          <p:nvPr/>
        </p:nvSpPr>
        <p:spPr>
          <a:xfrm>
            <a:off x="457200" y="41148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ridge to Ehrenberg-Bass text"/>
          <p:cNvSpPr txBox="1"/>
          <p:nvPr/>
        </p:nvSpPr>
        <p:spPr>
          <a:xfrm>
            <a:off x="640080" y="4114800"/>
            <a:ext cx="7863840" cy="45720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Unser Blickwinkel heute: </a:t>
            </a:r>
            <a:r>
              <a:rPr lang="de-AT" sz="1300" b="0" i="0">
                <a:solidFill>
                  <a:schemeClr val="bg1"/>
                </a:solidFill>
              </a:rPr>
              <a:t>Welche dieser Aktivitäten lassen Marken tatsächlich wachsen?</a:t>
            </a:r>
          </a:p>
        </p:txBody>
      </p:sp>
      <p:sp>
        <p:nvSpPr>
          <p:cNvPr id="30" name="Source note"/>
          <p:cNvSpPr txBox="1"/>
          <p:nvPr/>
        </p:nvSpPr>
        <p:spPr>
          <a:xfrm>
            <a:off x="457200" y="46634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Keller &amp; Swaminathan (2020) Strategic Brand Management, Kap. 1-2; Keller (1993) Journal of Marketing.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2 von 6 · Gesetze aus Paneldaten</a:t>
            </a:r>
          </a:p>
        </p:txBody>
      </p:sp>
      <p:sp>
        <p:nvSpPr>
          <p:cNvPr id="3" name="Title 2"/>
          <p:cNvSpPr>
            <a:spLocks noGrp="1"/>
          </p:cNvSpPr>
          <p:nvPr>
            <p:ph type="ctrTitle"/>
          </p:nvPr>
        </p:nvSpPr>
        <p:spPr/>
        <p:txBody>
          <a:bodyPr/>
          <a:lstStyle/>
          <a:p>
            <a:r>
              <a:rPr lang="de-AT"/>
              <a:t>Die Gesetze des Markenkaufs</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Gesetz = bestätigte Regelmäßigkeit</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tep 1"/>
          <p:cNvSpPr/>
          <p:nvPr/>
        </p:nvSpPr>
        <p:spPr>
          <a:xfrm>
            <a:off x="457200" y="1280160"/>
            <a:ext cx="2139696"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Beobachten</a:t>
            </a:r>
          </a:p>
        </p:txBody>
      </p:sp>
      <p:sp>
        <p:nvSpPr>
          <p:cNvPr id="7" name="Step 2"/>
          <p:cNvSpPr/>
          <p:nvPr/>
        </p:nvSpPr>
        <p:spPr>
          <a:xfrm>
            <a:off x="2487168"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Replizieren</a:t>
            </a:r>
          </a:p>
        </p:txBody>
      </p:sp>
      <p:sp>
        <p:nvSpPr>
          <p:cNvPr id="8" name="Step 3"/>
          <p:cNvSpPr/>
          <p:nvPr/>
        </p:nvSpPr>
        <p:spPr>
          <a:xfrm>
            <a:off x="4517136"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Modell</a:t>
            </a:r>
          </a:p>
        </p:txBody>
      </p:sp>
      <p:sp>
        <p:nvSpPr>
          <p:cNvPr id="9" name="Step 4"/>
          <p:cNvSpPr/>
          <p:nvPr/>
        </p:nvSpPr>
        <p:spPr>
          <a:xfrm>
            <a:off x="6547103"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300" b="1">
                <a:solidFill>
                  <a:schemeClr val="bg1"/>
                </a:solidFill>
              </a:rPr>
              <a:t>Nutzen</a:t>
            </a:r>
          </a:p>
        </p:txBody>
      </p:sp>
      <p:sp>
        <p:nvSpPr>
          <p:cNvPr id="10" name="Step text box 1"/>
          <p:cNvSpPr/>
          <p:nvPr/>
        </p:nvSpPr>
        <p:spPr>
          <a:xfrm>
            <a:off x="502920"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text 1"/>
          <p:cNvSpPr txBox="1"/>
          <p:nvPr/>
        </p:nvSpPr>
        <p:spPr>
          <a:xfrm>
            <a:off x="594360" y="2011680"/>
            <a:ext cx="1755648" cy="11887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Eine Regelmäßigkeit in Kaufdaten, z. B. kleine Marken haben geringere Loyalität</a:t>
            </a:r>
          </a:p>
        </p:txBody>
      </p:sp>
      <p:sp>
        <p:nvSpPr>
          <p:cNvPr id="12" name="Step text box 2"/>
          <p:cNvSpPr/>
          <p:nvPr/>
        </p:nvSpPr>
        <p:spPr>
          <a:xfrm>
            <a:off x="2532887"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 text 2"/>
          <p:cNvSpPr txBox="1"/>
          <p:nvPr/>
        </p:nvSpPr>
        <p:spPr>
          <a:xfrm>
            <a:off x="2624327" y="2011680"/>
            <a:ext cx="1755648" cy="11887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Über Kategorien, Länder, Jahre und Datenquellen hinweg</a:t>
            </a:r>
          </a:p>
        </p:txBody>
      </p:sp>
      <p:sp>
        <p:nvSpPr>
          <p:cNvPr id="14" name="Step text box 3"/>
          <p:cNvSpPr/>
          <p:nvPr/>
        </p:nvSpPr>
        <p:spPr>
          <a:xfrm>
            <a:off x="4562855"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text 3"/>
          <p:cNvSpPr txBox="1"/>
          <p:nvPr/>
        </p:nvSpPr>
        <p:spPr>
          <a:xfrm>
            <a:off x="4654296" y="2011680"/>
            <a:ext cx="1755648" cy="11887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Erklären und vorhersagen: NBD (1959), Dirichlet (1984)</a:t>
            </a:r>
          </a:p>
        </p:txBody>
      </p:sp>
      <p:sp>
        <p:nvSpPr>
          <p:cNvPr id="16" name="Step text box 4"/>
          <p:cNvSpPr/>
          <p:nvPr/>
        </p:nvSpPr>
        <p:spPr>
          <a:xfrm>
            <a:off x="6592823"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ep text 4"/>
          <p:cNvSpPr txBox="1"/>
          <p:nvPr/>
        </p:nvSpPr>
        <p:spPr>
          <a:xfrm>
            <a:off x="6684264" y="2011680"/>
            <a:ext cx="1755648" cy="11887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Marken vergleichen: Ist diese Loyalität normal für diese Größe?</a:t>
            </a:r>
          </a:p>
        </p:txBody>
      </p:sp>
      <p:sp>
        <p:nvSpPr>
          <p:cNvPr id="18" name="Replication callout"/>
          <p:cNvSpPr/>
          <p:nvPr/>
        </p:nvSpPr>
        <p:spPr>
          <a:xfrm>
            <a:off x="457200" y="34747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plication callout text"/>
          <p:cNvSpPr txBox="1"/>
          <p:nvPr/>
        </p:nvSpPr>
        <p:spPr>
          <a:xfrm>
            <a:off x="640080" y="347472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Differenzierte Replikation: </a:t>
            </a:r>
            <a:r>
              <a:rPr lang="de-AT" sz="1300" b="0" i="0">
                <a:solidFill>
                  <a:schemeClr val="bg1"/>
                </a:solidFill>
              </a:rPr>
              <a:t>Eine Studie beweist wenig; eine Regelmäßigkeit, die unter wechselnden Bedingungen hält, ist ein Gesetz.</a:t>
            </a:r>
          </a:p>
        </p:txBody>
      </p:sp>
      <p:sp>
        <p:nvSpPr>
          <p:cNvPr id="20" name="Source note"/>
          <p:cNvSpPr txBox="1"/>
          <p:nvPr/>
        </p:nvSpPr>
        <p:spPr>
          <a:xfrm>
            <a:off x="457200" y="411480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Ehrenberg (1995) Marketing Science; Uncles &amp; Kwok (2013) Journal of Business Research; Goodhardt, Ehrenberg &amp; Chatfield (1984).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Double Jeopardy: doppelt verloren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Definition"/>
          <p:cNvSpPr txBox="1"/>
          <p:nvPr/>
        </p:nvSpPr>
        <p:spPr>
          <a:xfrm>
            <a:off x="457200" y="1280160"/>
            <a:ext cx="4846320" cy="1828800"/>
          </a:xfrm>
          <a:prstGeom prst="rect">
            <a:avLst/>
          </a:prstGeom>
          <a:noFill/>
        </p:spPr>
        <p:txBody>
          <a:bodyPr wrap="square" lIns="36576" rIns="36576" tIns="18288" bIns="18288" anchor="t">
            <a:spAutoFit/>
          </a:bodyPr>
          <a:lstStyle/>
          <a:p>
            <a:pPr algn="l">
              <a:spcAft>
                <a:spcPts val="1200"/>
              </a:spcAft>
            </a:pPr>
            <a:r>
              <a:rPr lang="de-AT" sz="1600" b="0" i="0">
                <a:solidFill>
                  <a:schemeClr val="tx1"/>
                </a:solidFill>
              </a:rPr>
              <a:t>Kleinere Marken haben </a:t>
            </a:r>
            <a:r>
              <a:rPr lang="de-AT" sz="1600" b="1" i="0">
                <a:solidFill>
                  <a:schemeClr val="accent1"/>
                </a:solidFill>
              </a:rPr>
              <a:t>deutlich weniger Käufer:innen</a:t>
            </a:r>
            <a:r>
              <a:rPr lang="de-AT" sz="1600" b="0" i="0">
                <a:solidFill>
                  <a:schemeClr val="tx1"/>
                </a:solidFill>
              </a:rPr>
              <a:t>, und diese sind </a:t>
            </a:r>
            <a:r>
              <a:rPr lang="de-AT" sz="1600" b="1" i="0">
                <a:solidFill>
                  <a:schemeClr val="accent1"/>
                </a:solidFill>
              </a:rPr>
              <a:t>etwas weniger loyal</a:t>
            </a:r>
            <a:r>
              <a:rPr lang="de-AT" sz="1600" b="0" i="0">
                <a:solidFill>
                  <a:schemeClr val="tx1"/>
                </a:solidFill>
              </a:rPr>
              <a:t>.</a:t>
            </a:r>
          </a:p>
          <a:p>
            <a:pPr algn="l">
              <a:spcAft>
                <a:spcPts val="1200"/>
              </a:spcAft>
            </a:pPr>
            <a:r>
              <a:rPr lang="de-AT" sz="1300" b="0" i="0">
                <a:solidFill>
                  <a:schemeClr val="tx1"/>
                </a:solidFill>
              </a:rPr>
              <a:t>Zuerst beschrieben vom Soziologen William McPhee (1963) für Comics und Radiomoderator:innen; für Marken belegt von Ehrenberg, Goodhardt &amp; Barwise (1990).</a:t>
            </a:r>
          </a:p>
        </p:txBody>
      </p:sp>
      <p:sp>
        <p:nvSpPr>
          <p:cNvPr id="7" name="Formula box"/>
          <p:cNvSpPr/>
          <p:nvPr/>
        </p:nvSpPr>
        <p:spPr>
          <a:xfrm>
            <a:off x="5486400" y="1280160"/>
            <a:ext cx="3200400" cy="1965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rmula label"/>
          <p:cNvSpPr txBox="1"/>
          <p:nvPr/>
        </p:nvSpPr>
        <p:spPr>
          <a:xfrm>
            <a:off x="5669280" y="1371600"/>
            <a:ext cx="2834640" cy="365760"/>
          </a:xfrm>
          <a:prstGeom prst="rect">
            <a:avLst/>
          </a:prstGeom>
          <a:noFill/>
        </p:spPr>
        <p:txBody>
          <a:bodyPr wrap="square" lIns="36576" rIns="36576" tIns="18288" bIns="18288" anchor="t">
            <a:spAutoFit/>
          </a:bodyPr>
          <a:lstStyle/>
          <a:p>
            <a:pPr algn="l">
              <a:spcAft>
                <a:spcPts val="600"/>
              </a:spcAft>
            </a:pPr>
            <a:r>
              <a:rPr lang="de-AT" sz="1300" b="1" i="0">
                <a:solidFill>
                  <a:schemeClr val="accent6"/>
                </a:solidFill>
              </a:rPr>
              <a:t>Faustregel</a:t>
            </a:r>
          </a:p>
        </p:txBody>
      </p:sp>
      <p:sp>
        <p:nvSpPr>
          <p:cNvPr id="9" name="Formula"/>
          <p:cNvSpPr txBox="1"/>
          <p:nvPr/>
        </p:nvSpPr>
        <p:spPr>
          <a:xfrm>
            <a:off x="5669280" y="1737360"/>
            <a:ext cx="2834640" cy="640080"/>
          </a:xfrm>
          <a:prstGeom prst="rect">
            <a:avLst/>
          </a:prstGeom>
          <a:noFill/>
        </p:spPr>
        <p:txBody>
          <a:bodyPr wrap="square" lIns="36576" rIns="36576" tIns="18288" bIns="18288" anchor="t">
            <a:spAutoFit/>
          </a:bodyPr>
          <a:lstStyle/>
          <a:p>
            <a:pPr algn="l">
              <a:spcAft>
                <a:spcPts val="600"/>
              </a:spcAft>
            </a:pPr>
            <a:r>
              <a:rPr lang="de-AT" sz="2800" b="1" i="0">
                <a:solidFill>
                  <a:schemeClr val="bg1"/>
                </a:solidFill>
                <a:latin typeface="+mj-lt"/>
              </a:rPr>
              <a:t>w (1 − b) ≈ w</a:t>
            </a:r>
            <a:r>
              <a:rPr lang="de-AT" sz="2800" b="1" i="0" baseline="-25000">
                <a:solidFill>
                  <a:schemeClr val="bg1"/>
                </a:solidFill>
                <a:latin typeface="+mj-lt"/>
              </a:rPr>
              <a:t>0</a:t>
            </a:r>
          </a:p>
        </p:txBody>
      </p:sp>
      <p:sp>
        <p:nvSpPr>
          <p:cNvPr id="10" name="Formula legend"/>
          <p:cNvSpPr txBox="1"/>
          <p:nvPr/>
        </p:nvSpPr>
        <p:spPr>
          <a:xfrm>
            <a:off x="5669280" y="2423160"/>
            <a:ext cx="2834640" cy="777240"/>
          </a:xfrm>
          <a:prstGeom prst="rect">
            <a:avLst/>
          </a:prstGeom>
          <a:noFill/>
        </p:spPr>
        <p:txBody>
          <a:bodyPr wrap="square" lIns="36576" rIns="36576" tIns="18288" bIns="18288" anchor="t">
            <a:spAutoFit/>
          </a:bodyPr>
          <a:lstStyle/>
          <a:p>
            <a:pPr algn="l">
              <a:spcAft>
                <a:spcPts val="600"/>
              </a:spcAft>
            </a:pPr>
            <a:r>
              <a:rPr lang="de-AT" sz="1200" b="0" i="0">
                <a:solidFill>
                  <a:schemeClr val="bg1"/>
                </a:solidFill>
              </a:rPr>
              <a:t>b = Penetration, w = Käufe pro Käufer:in, w0 = Konstante der Kategorie</a:t>
            </a:r>
          </a:p>
        </p:txBody>
      </p:sp>
      <p:sp>
        <p:nvSpPr>
          <p:cNvPr id="11" name="Implication"/>
          <p:cNvSpPr/>
          <p:nvPr/>
        </p:nvSpPr>
        <p:spPr>
          <a:xfrm>
            <a:off x="457200" y="352044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mplication text"/>
          <p:cNvSpPr txBox="1"/>
          <p:nvPr/>
        </p:nvSpPr>
        <p:spPr>
          <a:xfrm>
            <a:off x="640080" y="3520440"/>
            <a:ext cx="7863840" cy="68580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Folgerung: </a:t>
            </a:r>
            <a:r>
              <a:rPr lang="de-AT" sz="1300" b="0" i="0">
                <a:solidFill>
                  <a:schemeClr val="tx1"/>
                </a:solidFill>
              </a:rPr>
              <a:t>Allein über Loyalität wird keine Marke groß; Loyalitätsunterschiede folgen meist aus der Größe.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Penetration variiert, Loyalität kaum</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Chart penetration"/>
          <p:cNvGraphicFramePr>
            <a:graphicFrameLocks noGrp="1"/>
          </p:cNvGraphicFramePr>
          <p:nvPr/>
        </p:nvGraphicFramePr>
        <p:xfrm>
          <a:off x="457200" y="1234440"/>
          <a:ext cx="4023360" cy="3337560"/>
        </p:xfrm>
        <a:graphic>
          <a:graphicData uri="http://schemas.openxmlformats.org/drawingml/2006/chart">
            <c:chart xmlns:c="http://schemas.openxmlformats.org/drawingml/2006/chart" r:id="rId2"/>
          </a:graphicData>
        </a:graphic>
      </p:graphicFrame>
      <p:graphicFrame>
        <p:nvGraphicFramePr>
          <p:cNvPr id="7" name="Chart frequency"/>
          <p:cNvGraphicFramePr>
            <a:graphicFrameLocks noGrp="1"/>
          </p:cNvGraphicFramePr>
          <p:nvPr/>
        </p:nvGraphicFramePr>
        <p:xfrm>
          <a:off x="4663440" y="1234440"/>
          <a:ext cx="4023360" cy="3337560"/>
        </p:xfrm>
        <a:graphic>
          <a:graphicData uri="http://schemas.openxmlformats.org/drawingml/2006/chart">
            <c:chart xmlns:c="http://schemas.openxmlformats.org/drawingml/2006/chart" r:id="rId3"/>
          </a:graphicData>
        </a:graphic>
      </p:graphicFrame>
      <p:sp>
        <p:nvSpPr>
          <p:cNvPr id="8" name="Source note"/>
          <p:cNvSpPr txBox="1"/>
          <p:nvPr/>
        </p:nvSpPr>
        <p:spPr>
          <a:xfrm>
            <a:off x="457200" y="46634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Marken A bis F. Illustrative Daten aus w(1 − b) ≈ w0 mit w0 = 2,5: Penetration unterscheidet sich 7,5-fach, Kauffrequenz nur 1,7-fach.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Warum Double Jeopardy entsteht</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Reason row 1"/>
          <p:cNvSpPr/>
          <p:nvPr/>
        </p:nvSpPr>
        <p:spPr>
          <a:xfrm>
            <a:off x="457200" y="128016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Layers" descr="LuLayers-navy.png"/>
          <p:cNvPicPr>
            <a:picLocks noChangeAspect="1"/>
          </p:cNvPicPr>
          <p:nvPr/>
        </p:nvPicPr>
        <p:blipFill>
          <a:blip r:embed="rId2"/>
          <a:stretch>
            <a:fillRect/>
          </a:stretch>
        </p:blipFill>
        <p:spPr>
          <a:xfrm>
            <a:off x="658368" y="1517904"/>
            <a:ext cx="411480" cy="411480"/>
          </a:xfrm>
          <a:prstGeom prst="rect">
            <a:avLst/>
          </a:prstGeom>
        </p:spPr>
      </p:pic>
      <p:sp>
        <p:nvSpPr>
          <p:cNvPr id="8" name="Reason text 1"/>
          <p:cNvSpPr txBox="1"/>
          <p:nvPr/>
        </p:nvSpPr>
        <p:spPr>
          <a:xfrm>
            <a:off x="1325880" y="1335024"/>
            <a:ext cx="7223760" cy="786384"/>
          </a:xfrm>
          <a:prstGeom prst="rect">
            <a:avLst/>
          </a:prstGeom>
          <a:noFill/>
        </p:spPr>
        <p:txBody>
          <a:bodyPr wrap="square" lIns="36576" rIns="36576" tIns="18288" bIns="18288" anchor="t">
            <a:spAutoFit/>
          </a:bodyPr>
          <a:lstStyle/>
          <a:p>
            <a:pPr algn="l">
              <a:spcAft>
                <a:spcPts val="300"/>
              </a:spcAft>
            </a:pPr>
            <a:r>
              <a:rPr lang="de-AT" sz="1500" b="1" i="0">
                <a:solidFill>
                  <a:schemeClr val="tx2"/>
                </a:solidFill>
                <a:latin typeface="+mj-lt"/>
              </a:rPr>
              <a:t>Käufer:innen haben Repertoires</a:t>
            </a:r>
          </a:p>
          <a:p>
            <a:pPr algn="l">
              <a:spcAft>
                <a:spcPts val="300"/>
              </a:spcAft>
            </a:pPr>
            <a:r>
              <a:rPr lang="de-AT" sz="1300" b="0" i="0">
                <a:solidFill>
                  <a:schemeClr val="tx1"/>
                </a:solidFill>
              </a:rPr>
              <a:t>Die meisten Kategoriekäufer:innen kaufen mehrere Marken; 100 % loyale Käufer:innen sind selten und meist Wenigkäufer:innen.</a:t>
            </a:r>
          </a:p>
        </p:txBody>
      </p:sp>
      <p:sp>
        <p:nvSpPr>
          <p:cNvPr id="9" name="Reason row 2"/>
          <p:cNvSpPr/>
          <p:nvPr/>
        </p:nvSpPr>
        <p:spPr>
          <a:xfrm>
            <a:off x="457200" y="228600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Store" descr="LuStore-navy.png"/>
          <p:cNvPicPr>
            <a:picLocks noChangeAspect="1"/>
          </p:cNvPicPr>
          <p:nvPr/>
        </p:nvPicPr>
        <p:blipFill>
          <a:blip r:embed="rId3"/>
          <a:stretch>
            <a:fillRect/>
          </a:stretch>
        </p:blipFill>
        <p:spPr>
          <a:xfrm>
            <a:off x="658368" y="2523744"/>
            <a:ext cx="411480" cy="411480"/>
          </a:xfrm>
          <a:prstGeom prst="rect">
            <a:avLst/>
          </a:prstGeom>
        </p:spPr>
      </p:pic>
      <p:sp>
        <p:nvSpPr>
          <p:cNvPr id="11" name="Reason text 2"/>
          <p:cNvSpPr txBox="1"/>
          <p:nvPr/>
        </p:nvSpPr>
        <p:spPr>
          <a:xfrm>
            <a:off x="1325880" y="2340864"/>
            <a:ext cx="7223760" cy="786384"/>
          </a:xfrm>
          <a:prstGeom prst="rect">
            <a:avLst/>
          </a:prstGeom>
          <a:noFill/>
        </p:spPr>
        <p:txBody>
          <a:bodyPr wrap="square" lIns="36576" rIns="36576" tIns="18288" bIns="18288" anchor="t">
            <a:spAutoFit/>
          </a:bodyPr>
          <a:lstStyle/>
          <a:p>
            <a:pPr algn="l">
              <a:spcAft>
                <a:spcPts val="300"/>
              </a:spcAft>
            </a:pPr>
            <a:r>
              <a:rPr lang="de-AT" sz="1500" b="1" i="0">
                <a:solidFill>
                  <a:schemeClr val="tx2"/>
                </a:solidFill>
                <a:latin typeface="+mj-lt"/>
              </a:rPr>
              <a:t>Kleine Marken sind weniger verfügbar</a:t>
            </a:r>
          </a:p>
          <a:p>
            <a:pPr algn="l">
              <a:spcAft>
                <a:spcPts val="300"/>
              </a:spcAft>
            </a:pPr>
            <a:r>
              <a:rPr lang="de-AT" sz="1300" b="0" i="0">
                <a:solidFill>
                  <a:schemeClr val="tx1"/>
                </a:solidFill>
              </a:rPr>
              <a:t>Weniger Menschen kennen oder finden sie, daher fallen sie seltener auf.</a:t>
            </a:r>
          </a:p>
        </p:txBody>
      </p:sp>
      <p:sp>
        <p:nvSpPr>
          <p:cNvPr id="12" name="Reason row 3"/>
          <p:cNvSpPr/>
          <p:nvPr/>
        </p:nvSpPr>
        <p:spPr>
          <a:xfrm>
            <a:off x="457200" y="329184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Users" descr="LuUsers-navy.png"/>
          <p:cNvPicPr>
            <a:picLocks noChangeAspect="1"/>
          </p:cNvPicPr>
          <p:nvPr/>
        </p:nvPicPr>
        <p:blipFill>
          <a:blip r:embed="rId4"/>
          <a:stretch>
            <a:fillRect/>
          </a:stretch>
        </p:blipFill>
        <p:spPr>
          <a:xfrm>
            <a:off x="658368" y="3529584"/>
            <a:ext cx="411480" cy="411480"/>
          </a:xfrm>
          <a:prstGeom prst="rect">
            <a:avLst/>
          </a:prstGeom>
        </p:spPr>
      </p:pic>
      <p:sp>
        <p:nvSpPr>
          <p:cNvPr id="14" name="Reason text 3"/>
          <p:cNvSpPr txBox="1"/>
          <p:nvPr/>
        </p:nvSpPr>
        <p:spPr>
          <a:xfrm>
            <a:off x="1325880" y="3346704"/>
            <a:ext cx="7223760" cy="786384"/>
          </a:xfrm>
          <a:prstGeom prst="rect">
            <a:avLst/>
          </a:prstGeom>
          <a:noFill/>
        </p:spPr>
        <p:txBody>
          <a:bodyPr wrap="square" lIns="36576" rIns="36576" tIns="18288" bIns="18288" anchor="t">
            <a:spAutoFit/>
          </a:bodyPr>
          <a:lstStyle/>
          <a:p>
            <a:pPr algn="l">
              <a:spcAft>
                <a:spcPts val="300"/>
              </a:spcAft>
            </a:pPr>
            <a:r>
              <a:rPr lang="de-AT" sz="1500" b="1" i="0">
                <a:solidFill>
                  <a:schemeClr val="tx2"/>
                </a:solidFill>
                <a:latin typeface="+mj-lt"/>
              </a:rPr>
              <a:t>Ihre Käufer:innen kaufen auch die Marktführer</a:t>
            </a:r>
          </a:p>
          <a:p>
            <a:pPr algn="l">
              <a:spcAft>
                <a:spcPts val="300"/>
              </a:spcAft>
            </a:pPr>
            <a:r>
              <a:rPr lang="de-AT" sz="1300" b="0" i="0">
                <a:solidFill>
                  <a:schemeClr val="tx1"/>
                </a:solidFill>
              </a:rPr>
              <a:t>Die wenigen Käufer:innen einer kleinen Marke geben viel ihres Kategoriebudgets für große Marken aus.</a:t>
            </a:r>
          </a:p>
        </p:txBody>
      </p:sp>
      <p:sp>
        <p:nvSpPr>
          <p:cNvPr id="15" name="Mechanism"/>
          <p:cNvSpPr/>
          <p:nvPr/>
        </p:nvSpPr>
        <p:spPr>
          <a:xfrm>
            <a:off x="457200" y="42976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echanism text"/>
          <p:cNvSpPr txBox="1"/>
          <p:nvPr/>
        </p:nvSpPr>
        <p:spPr>
          <a:xfrm>
            <a:off x="640080" y="4297680"/>
            <a:ext cx="7863840" cy="45720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Das Dirichlet-Modell erzeugt Double Jeopardy allein aus den Marktanteilen.</a:t>
            </a:r>
          </a:p>
        </p:txBody>
      </p:sp>
      <p:sp>
        <p:nvSpPr>
          <p:cNvPr id="17"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Sharp (2010), Kap. 2; Ehrenberg, Goodhardt &amp; Barwise (1990); Goodhardt, Ehrenberg &amp; Chatfield (1984); Kucuk (2008).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Duplication: geteilt nach Größe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Duplication table"/>
          <p:cNvGraphicFramePr>
            <a:graphicFrameLocks noGrp="1"/>
          </p:cNvGraphicFramePr>
          <p:nvPr/>
        </p:nvGraphicFramePr>
        <p:xfrm>
          <a:off x="457200" y="1280160"/>
          <a:ext cx="5120640" cy="3017520"/>
        </p:xfrm>
        <a:graphic>
          <a:graphicData uri="http://schemas.openxmlformats.org/drawingml/2006/table">
            <a:tbl>
              <a:tblPr firstRow="1" bandRow="1">
                <a:tableStyleId>{5C22544A-7EE6-4342-B048-85BDC9FD1C3A}</a:tableStyleId>
              </a:tblPr>
              <a:tblGrid>
                <a:gridCol w="1463040"/>
                <a:gridCol w="914400"/>
                <a:gridCol w="914400"/>
                <a:gridCol w="914400"/>
                <a:gridCol w="914400"/>
              </a:tblGrid>
              <a:tr h="502920">
                <a:tc>
                  <a:txBody>
                    <a:bodyPr/>
                    <a:lstStyle/>
                    <a:p>
                      <a:pPr algn="l"/>
                      <a:r>
                        <a:rPr lang="de-AT" sz="1300" b="1">
                          <a:solidFill>
                            <a:schemeClr val="bg1"/>
                          </a:solidFill>
                        </a:rPr>
                        <a:t>Käufer:innen von …</a:t>
                      </a:r>
                    </a:p>
                  </a:txBody>
                  <a:tcPr anchor="ctr">
                    <a:solidFill>
                      <a:schemeClr val="accent1"/>
                    </a:solidFill>
                  </a:tcPr>
                </a:tc>
                <a:tc>
                  <a:txBody>
                    <a:bodyPr/>
                    <a:lstStyle/>
                    <a:p>
                      <a:pPr algn="r"/>
                      <a:r>
                        <a:rPr lang="de-AT" sz="1300" b="1">
                          <a:solidFill>
                            <a:schemeClr val="bg1"/>
                          </a:solidFill>
                        </a:rPr>
                        <a:t>auch A</a:t>
                      </a:r>
                    </a:p>
                  </a:txBody>
                  <a:tcPr anchor="ctr">
                    <a:solidFill>
                      <a:schemeClr val="accent1"/>
                    </a:solidFill>
                  </a:tcPr>
                </a:tc>
                <a:tc>
                  <a:txBody>
                    <a:bodyPr/>
                    <a:lstStyle/>
                    <a:p>
                      <a:pPr algn="r"/>
                      <a:r>
                        <a:rPr lang="de-AT" sz="1300" b="1">
                          <a:solidFill>
                            <a:schemeClr val="bg1"/>
                          </a:solidFill>
                        </a:rPr>
                        <a:t>auch B</a:t>
                      </a:r>
                    </a:p>
                  </a:txBody>
                  <a:tcPr anchor="ctr">
                    <a:solidFill>
                      <a:schemeClr val="accent1"/>
                    </a:solidFill>
                  </a:tcPr>
                </a:tc>
                <a:tc>
                  <a:txBody>
                    <a:bodyPr/>
                    <a:lstStyle/>
                    <a:p>
                      <a:pPr algn="r"/>
                      <a:r>
                        <a:rPr lang="de-AT" sz="1300" b="1">
                          <a:solidFill>
                            <a:schemeClr val="bg1"/>
                          </a:solidFill>
                        </a:rPr>
                        <a:t>auch C</a:t>
                      </a:r>
                    </a:p>
                  </a:txBody>
                  <a:tcPr anchor="ctr">
                    <a:solidFill>
                      <a:schemeClr val="accent1"/>
                    </a:solidFill>
                  </a:tcPr>
                </a:tc>
                <a:tc>
                  <a:txBody>
                    <a:bodyPr/>
                    <a:lstStyle/>
                    <a:p>
                      <a:pPr algn="r"/>
                      <a:r>
                        <a:rPr lang="de-AT" sz="1300" b="1">
                          <a:solidFill>
                            <a:schemeClr val="bg1"/>
                          </a:solidFill>
                        </a:rPr>
                        <a:t>auch D</a:t>
                      </a:r>
                    </a:p>
                  </a:txBody>
                  <a:tcPr anchor="ctr">
                    <a:solidFill>
                      <a:schemeClr val="accent1"/>
                    </a:solidFill>
                  </a:tcPr>
                </a:tc>
              </a:tr>
              <a:tr h="502920">
                <a:tc>
                  <a:txBody>
                    <a:bodyPr/>
                    <a:lstStyle/>
                    <a:p>
                      <a:pPr algn="l"/>
                      <a:r>
                        <a:rPr lang="de-AT" sz="1300">
                          <a:solidFill>
                            <a:schemeClr val="tx1"/>
                          </a:solidFill>
                        </a:rPr>
                        <a:t>Marke A</a:t>
                      </a:r>
                    </a:p>
                  </a:txBody>
                  <a:tcPr anchor="ctr">
                    <a:solidFill>
                      <a:schemeClr val="bg2"/>
                    </a:solidFill>
                  </a:tcPr>
                </a:tc>
                <a:tc>
                  <a:txBody>
                    <a:bodyPr/>
                    <a:lstStyle/>
                    <a:p>
                      <a:pPr algn="r"/>
                      <a:r>
                        <a:rPr lang="de-AT" sz="1300">
                          <a:solidFill>
                            <a:schemeClr val="tx1"/>
                          </a:solidFill>
                        </a:rPr>
                        <a:t>–</a:t>
                      </a:r>
                    </a:p>
                  </a:txBody>
                  <a:tcPr anchor="ctr">
                    <a:solidFill>
                      <a:schemeClr val="bg2"/>
                    </a:solidFill>
                  </a:tcPr>
                </a:tc>
                <a:tc>
                  <a:txBody>
                    <a:bodyPr/>
                    <a:lstStyle/>
                    <a:p>
                      <a:pPr algn="r"/>
                      <a:r>
                        <a:rPr lang="de-AT" sz="1300">
                          <a:solidFill>
                            <a:schemeClr val="tx1"/>
                          </a:solidFill>
                        </a:rPr>
                        <a:t>38</a:t>
                      </a:r>
                    </a:p>
                  </a:txBody>
                  <a:tcPr anchor="ctr">
                    <a:solidFill>
                      <a:schemeClr val="bg2"/>
                    </a:solidFill>
                  </a:tcPr>
                </a:tc>
                <a:tc>
                  <a:txBody>
                    <a:bodyPr/>
                    <a:lstStyle/>
                    <a:p>
                      <a:pPr algn="r"/>
                      <a:r>
                        <a:rPr lang="de-AT" sz="1300">
                          <a:solidFill>
                            <a:schemeClr val="tx1"/>
                          </a:solidFill>
                        </a:rPr>
                        <a:t>25</a:t>
                      </a:r>
                    </a:p>
                  </a:txBody>
                  <a:tcPr anchor="ctr">
                    <a:solidFill>
                      <a:schemeClr val="bg2"/>
                    </a:solidFill>
                  </a:tcPr>
                </a:tc>
                <a:tc>
                  <a:txBody>
                    <a:bodyPr/>
                    <a:lstStyle/>
                    <a:p>
                      <a:pPr algn="r"/>
                      <a:r>
                        <a:rPr lang="de-AT" sz="1300">
                          <a:solidFill>
                            <a:schemeClr val="tx1"/>
                          </a:solidFill>
                        </a:rPr>
                        <a:t>12</a:t>
                      </a:r>
                    </a:p>
                  </a:txBody>
                  <a:tcPr anchor="ctr">
                    <a:solidFill>
                      <a:schemeClr val="bg2"/>
                    </a:solidFill>
                  </a:tcPr>
                </a:tc>
              </a:tr>
              <a:tr h="502920">
                <a:tc>
                  <a:txBody>
                    <a:bodyPr/>
                    <a:lstStyle/>
                    <a:p>
                      <a:pPr algn="l"/>
                      <a:r>
                        <a:rPr lang="de-AT" sz="1300">
                          <a:solidFill>
                            <a:schemeClr val="tx1"/>
                          </a:solidFill>
                        </a:rPr>
                        <a:t>Marke B</a:t>
                      </a:r>
                    </a:p>
                  </a:txBody>
                  <a:tcPr anchor="ctr">
                    <a:solidFill>
                      <a:schemeClr val="bg2"/>
                    </a:solidFill>
                  </a:tcPr>
                </a:tc>
                <a:tc>
                  <a:txBody>
                    <a:bodyPr/>
                    <a:lstStyle/>
                    <a:p>
                      <a:pPr algn="r"/>
                      <a:r>
                        <a:rPr lang="de-AT" sz="1300">
                          <a:solidFill>
                            <a:schemeClr val="tx1"/>
                          </a:solidFill>
                        </a:rPr>
                        <a:t>50</a:t>
                      </a:r>
                    </a:p>
                  </a:txBody>
                  <a:tcPr anchor="ctr">
                    <a:solidFill>
                      <a:schemeClr val="bg2"/>
                    </a:solidFill>
                  </a:tcPr>
                </a:tc>
                <a:tc>
                  <a:txBody>
                    <a:bodyPr/>
                    <a:lstStyle/>
                    <a:p>
                      <a:pPr algn="r"/>
                      <a:r>
                        <a:rPr lang="de-AT" sz="1300">
                          <a:solidFill>
                            <a:schemeClr val="tx1"/>
                          </a:solidFill>
                        </a:rPr>
                        <a:t>–</a:t>
                      </a:r>
                    </a:p>
                  </a:txBody>
                  <a:tcPr anchor="ctr">
                    <a:solidFill>
                      <a:schemeClr val="bg2"/>
                    </a:solidFill>
                  </a:tcPr>
                </a:tc>
                <a:tc>
                  <a:txBody>
                    <a:bodyPr/>
                    <a:lstStyle/>
                    <a:p>
                      <a:pPr algn="r"/>
                      <a:r>
                        <a:rPr lang="de-AT" sz="1300">
                          <a:solidFill>
                            <a:schemeClr val="tx1"/>
                          </a:solidFill>
                        </a:rPr>
                        <a:t>27</a:t>
                      </a:r>
                    </a:p>
                  </a:txBody>
                  <a:tcPr anchor="ctr">
                    <a:solidFill>
                      <a:schemeClr val="bg2"/>
                    </a:solidFill>
                  </a:tcPr>
                </a:tc>
                <a:tc>
                  <a:txBody>
                    <a:bodyPr/>
                    <a:lstStyle/>
                    <a:p>
                      <a:pPr algn="r"/>
                      <a:r>
                        <a:rPr lang="de-AT" sz="1300">
                          <a:solidFill>
                            <a:schemeClr val="tx1"/>
                          </a:solidFill>
                        </a:rPr>
                        <a:t>14</a:t>
                      </a:r>
                    </a:p>
                  </a:txBody>
                  <a:tcPr anchor="ctr">
                    <a:solidFill>
                      <a:schemeClr val="bg2"/>
                    </a:solidFill>
                  </a:tcPr>
                </a:tc>
              </a:tr>
              <a:tr h="502920">
                <a:tc>
                  <a:txBody>
                    <a:bodyPr/>
                    <a:lstStyle/>
                    <a:p>
                      <a:pPr algn="l"/>
                      <a:r>
                        <a:rPr lang="de-AT" sz="1300">
                          <a:solidFill>
                            <a:schemeClr val="tx1"/>
                          </a:solidFill>
                        </a:rPr>
                        <a:t>Marke C</a:t>
                      </a:r>
                    </a:p>
                  </a:txBody>
                  <a:tcPr anchor="ctr">
                    <a:solidFill>
                      <a:schemeClr val="bg2"/>
                    </a:solidFill>
                  </a:tcPr>
                </a:tc>
                <a:tc>
                  <a:txBody>
                    <a:bodyPr/>
                    <a:lstStyle/>
                    <a:p>
                      <a:pPr algn="r"/>
                      <a:r>
                        <a:rPr lang="de-AT" sz="1300">
                          <a:solidFill>
                            <a:schemeClr val="tx1"/>
                          </a:solidFill>
                        </a:rPr>
                        <a:t>53</a:t>
                      </a:r>
                    </a:p>
                  </a:txBody>
                  <a:tcPr anchor="ctr">
                    <a:solidFill>
                      <a:schemeClr val="bg2"/>
                    </a:solidFill>
                  </a:tcPr>
                </a:tc>
                <a:tc>
                  <a:txBody>
                    <a:bodyPr/>
                    <a:lstStyle/>
                    <a:p>
                      <a:pPr algn="r"/>
                      <a:r>
                        <a:rPr lang="de-AT" sz="1300">
                          <a:solidFill>
                            <a:schemeClr val="tx1"/>
                          </a:solidFill>
                        </a:rPr>
                        <a:t>40</a:t>
                      </a:r>
                    </a:p>
                  </a:txBody>
                  <a:tcPr anchor="ctr">
                    <a:solidFill>
                      <a:schemeClr val="bg2"/>
                    </a:solidFill>
                  </a:tcPr>
                </a:tc>
                <a:tc>
                  <a:txBody>
                    <a:bodyPr/>
                    <a:lstStyle/>
                    <a:p>
                      <a:pPr algn="r"/>
                      <a:r>
                        <a:rPr lang="de-AT" sz="1300">
                          <a:solidFill>
                            <a:schemeClr val="tx1"/>
                          </a:solidFill>
                        </a:rPr>
                        <a:t>–</a:t>
                      </a:r>
                    </a:p>
                  </a:txBody>
                  <a:tcPr anchor="ctr">
                    <a:solidFill>
                      <a:schemeClr val="bg2"/>
                    </a:solidFill>
                  </a:tcPr>
                </a:tc>
                <a:tc>
                  <a:txBody>
                    <a:bodyPr/>
                    <a:lstStyle/>
                    <a:p>
                      <a:pPr algn="r"/>
                      <a:r>
                        <a:rPr lang="de-AT" sz="1300" b="1">
                          <a:solidFill>
                            <a:schemeClr val="tx1"/>
                          </a:solidFill>
                        </a:rPr>
                        <a:t>30</a:t>
                      </a:r>
                    </a:p>
                  </a:txBody>
                  <a:tcPr anchor="ctr">
                    <a:solidFill>
                      <a:schemeClr val="accent6"/>
                    </a:solidFill>
                  </a:tcPr>
                </a:tc>
              </a:tr>
              <a:tr h="502920">
                <a:tc>
                  <a:txBody>
                    <a:bodyPr/>
                    <a:lstStyle/>
                    <a:p>
                      <a:pPr algn="l"/>
                      <a:r>
                        <a:rPr lang="de-AT" sz="1300">
                          <a:solidFill>
                            <a:schemeClr val="tx1"/>
                          </a:solidFill>
                        </a:rPr>
                        <a:t>Marke D</a:t>
                      </a:r>
                    </a:p>
                  </a:txBody>
                  <a:tcPr anchor="ctr">
                    <a:solidFill>
                      <a:schemeClr val="bg2"/>
                    </a:solidFill>
                  </a:tcPr>
                </a:tc>
                <a:tc>
                  <a:txBody>
                    <a:bodyPr/>
                    <a:lstStyle/>
                    <a:p>
                      <a:pPr algn="r"/>
                      <a:r>
                        <a:rPr lang="de-AT" sz="1300">
                          <a:solidFill>
                            <a:schemeClr val="tx1"/>
                          </a:solidFill>
                        </a:rPr>
                        <a:t>51</a:t>
                      </a:r>
                    </a:p>
                  </a:txBody>
                  <a:tcPr anchor="ctr">
                    <a:solidFill>
                      <a:schemeClr val="bg2"/>
                    </a:solidFill>
                  </a:tcPr>
                </a:tc>
                <a:tc>
                  <a:txBody>
                    <a:bodyPr/>
                    <a:lstStyle/>
                    <a:p>
                      <a:pPr algn="r"/>
                      <a:r>
                        <a:rPr lang="de-AT" sz="1300">
                          <a:solidFill>
                            <a:schemeClr val="tx1"/>
                          </a:solidFill>
                        </a:rPr>
                        <a:t>37</a:t>
                      </a:r>
                    </a:p>
                  </a:txBody>
                  <a:tcPr anchor="ctr">
                    <a:solidFill>
                      <a:schemeClr val="bg2"/>
                    </a:solidFill>
                  </a:tcPr>
                </a:tc>
                <a:tc>
                  <a:txBody>
                    <a:bodyPr/>
                    <a:lstStyle/>
                    <a:p>
                      <a:pPr algn="r"/>
                      <a:r>
                        <a:rPr lang="de-AT" sz="1300" b="1">
                          <a:solidFill>
                            <a:schemeClr val="tx1"/>
                          </a:solidFill>
                        </a:rPr>
                        <a:t>55</a:t>
                      </a:r>
                    </a:p>
                  </a:txBody>
                  <a:tcPr anchor="ctr">
                    <a:solidFill>
                      <a:schemeClr val="accent6"/>
                    </a:solidFill>
                  </a:tcPr>
                </a:tc>
                <a:tc>
                  <a:txBody>
                    <a:bodyPr/>
                    <a:lstStyle/>
                    <a:p>
                      <a:pPr algn="r"/>
                      <a:r>
                        <a:rPr lang="de-AT" sz="1300">
                          <a:solidFill>
                            <a:schemeClr val="tx1"/>
                          </a:solidFill>
                        </a:rPr>
                        <a:t>–</a:t>
                      </a:r>
                    </a:p>
                  </a:txBody>
                  <a:tcPr anchor="ctr">
                    <a:solidFill>
                      <a:schemeClr val="bg2"/>
                    </a:solidFill>
                  </a:tcPr>
                </a:tc>
              </a:tr>
              <a:tr h="502920">
                <a:tc>
                  <a:txBody>
                    <a:bodyPr/>
                    <a:lstStyle/>
                    <a:p>
                      <a:pPr algn="l"/>
                      <a:r>
                        <a:rPr lang="de-AT" sz="1300" b="1">
                          <a:solidFill>
                            <a:schemeClr val="bg1"/>
                          </a:solidFill>
                        </a:rPr>
                        <a:t>Erwartet</a:t>
                      </a:r>
                    </a:p>
                  </a:txBody>
                  <a:tcPr anchor="ctr">
                    <a:solidFill>
                      <a:schemeClr val="tx2"/>
                    </a:solidFill>
                  </a:tcPr>
                </a:tc>
                <a:tc>
                  <a:txBody>
                    <a:bodyPr/>
                    <a:lstStyle/>
                    <a:p>
                      <a:pPr algn="r"/>
                      <a:r>
                        <a:rPr lang="de-AT" sz="1300" b="1">
                          <a:solidFill>
                            <a:schemeClr val="bg1"/>
                          </a:solidFill>
                        </a:rPr>
                        <a:t>52</a:t>
                      </a:r>
                    </a:p>
                  </a:txBody>
                  <a:tcPr anchor="ctr">
                    <a:solidFill>
                      <a:schemeClr val="tx2"/>
                    </a:solidFill>
                  </a:tcPr>
                </a:tc>
                <a:tc>
                  <a:txBody>
                    <a:bodyPr/>
                    <a:lstStyle/>
                    <a:p>
                      <a:pPr algn="r"/>
                      <a:r>
                        <a:rPr lang="de-AT" sz="1300" b="1">
                          <a:solidFill>
                            <a:schemeClr val="bg1"/>
                          </a:solidFill>
                        </a:rPr>
                        <a:t>39</a:t>
                      </a:r>
                    </a:p>
                  </a:txBody>
                  <a:tcPr anchor="ctr">
                    <a:solidFill>
                      <a:schemeClr val="tx2"/>
                    </a:solidFill>
                  </a:tcPr>
                </a:tc>
                <a:tc>
                  <a:txBody>
                    <a:bodyPr/>
                    <a:lstStyle/>
                    <a:p>
                      <a:pPr algn="r"/>
                      <a:r>
                        <a:rPr lang="de-AT" sz="1300" b="1">
                          <a:solidFill>
                            <a:schemeClr val="bg1"/>
                          </a:solidFill>
                        </a:rPr>
                        <a:t>26</a:t>
                      </a:r>
                    </a:p>
                  </a:txBody>
                  <a:tcPr anchor="ctr">
                    <a:solidFill>
                      <a:schemeClr val="tx2"/>
                    </a:solidFill>
                  </a:tcPr>
                </a:tc>
                <a:tc>
                  <a:txBody>
                    <a:bodyPr/>
                    <a:lstStyle/>
                    <a:p>
                      <a:pPr algn="r"/>
                      <a:r>
                        <a:rPr lang="de-AT" sz="1300" b="1">
                          <a:solidFill>
                            <a:schemeClr val="bg1"/>
                          </a:solidFill>
                        </a:rPr>
                        <a:t>13</a:t>
                      </a:r>
                    </a:p>
                  </a:txBody>
                  <a:tcPr anchor="ctr">
                    <a:solidFill>
                      <a:schemeClr val="tx2"/>
                    </a:solidFill>
                  </a:tcPr>
                </a:tc>
              </a:tr>
            </a:tbl>
          </a:graphicData>
        </a:graphic>
      </p:graphicFrame>
      <p:sp>
        <p:nvSpPr>
          <p:cNvPr id="7" name="Table reading"/>
          <p:cNvSpPr txBox="1"/>
          <p:nvPr/>
        </p:nvSpPr>
        <p:spPr>
          <a:xfrm>
            <a:off x="5806440" y="1280160"/>
            <a:ext cx="2880360" cy="3017520"/>
          </a:xfrm>
          <a:prstGeom prst="rect">
            <a:avLst/>
          </a:prstGeom>
          <a:noFill/>
        </p:spPr>
        <p:txBody>
          <a:bodyPr wrap="square" lIns="36576" rIns="36576" tIns="18288" bIns="18288" anchor="t">
            <a:spAutoFit/>
          </a:bodyPr>
          <a:lstStyle/>
          <a:p>
            <a:pPr algn="l">
              <a:spcAft>
                <a:spcPts val="1000"/>
              </a:spcAft>
            </a:pPr>
            <a:r>
              <a:rPr lang="de-AT" sz="1300" b="0" i="0">
                <a:solidFill>
                  <a:srgbClr val="595959"/>
                </a:solidFill>
              </a:rPr>
              <a:t>% der Käufer:innen jeder Marke, die auch A bis D kauften.</a:t>
            </a:r>
          </a:p>
          <a:p>
            <a:pPr algn="l">
              <a:spcAft>
                <a:spcPts val="1000"/>
              </a:spcAft>
            </a:pPr>
            <a:r>
              <a:rPr lang="de-AT" sz="1300" b="1" i="0">
                <a:solidFill>
                  <a:schemeClr val="tx1"/>
                </a:solidFill>
              </a:rPr>
              <a:t>Spaltenweise lesen: </a:t>
            </a:r>
            <a:r>
              <a:rPr lang="de-AT" sz="1300" b="0" i="0">
                <a:solidFill>
                  <a:schemeClr val="tx1"/>
                </a:solidFill>
              </a:rPr>
              <a:t>Alle Marken teilen Käufer:innen mit A in etwa gleichem Ausmaß, bestimmt durch die Größe von A.</a:t>
            </a:r>
          </a:p>
          <a:p>
            <a:pPr algn="l">
              <a:spcAft>
                <a:spcPts val="1000"/>
              </a:spcAft>
            </a:pPr>
            <a:r>
              <a:rPr lang="de-AT" sz="1300" b="1" i="0">
                <a:solidFill>
                  <a:schemeClr val="accent1"/>
                </a:solidFill>
              </a:rPr>
              <a:t>Markiert: </a:t>
            </a:r>
            <a:r>
              <a:rPr lang="de-AT" sz="1300" b="0" i="0">
                <a:solidFill>
                  <a:schemeClr val="tx1"/>
                </a:solidFill>
              </a:rPr>
              <a:t>C und D teilen weit mehr Käufer:innen als erwartet: eine Marktpartition.</a:t>
            </a:r>
          </a:p>
        </p:txBody>
      </p:sp>
      <p:sp>
        <p:nvSpPr>
          <p:cNvPr id="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Illustrative Daten: Penetration A 40 %, B 30 %, C 20 %, D 10 %; erwartet = D × Penetration mit D = 1,3. Gesetz: Ehrenberg &amp; Goodhardt (1970).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Das Dirichlet-Modell sagt „normal“ voraus</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Dirichlet Inputs body"/>
          <p:cNvSpPr/>
          <p:nvPr/>
        </p:nvSpPr>
        <p:spPr>
          <a:xfrm>
            <a:off x="45720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richlet Inputs band"/>
          <p:cNvSpPr/>
          <p:nvPr/>
        </p:nvSpPr>
        <p:spPr>
          <a:xfrm>
            <a:off x="457200" y="1280160"/>
            <a:ext cx="2468879"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richlet Inputs heading"/>
          <p:cNvSpPr txBox="1"/>
          <p:nvPr/>
        </p:nvSpPr>
        <p:spPr>
          <a:xfrm>
            <a:off x="566928" y="1335024"/>
            <a:ext cx="1783079"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Eingaben</a:t>
            </a:r>
          </a:p>
        </p:txBody>
      </p:sp>
      <p:pic>
        <p:nvPicPr>
          <p:cNvPr id="9" name="Icon LuDatabase" descr="LuDatabase-white.png"/>
          <p:cNvPicPr>
            <a:picLocks noChangeAspect="1"/>
          </p:cNvPicPr>
          <p:nvPr/>
        </p:nvPicPr>
        <p:blipFill>
          <a:blip r:embed="rId2"/>
          <a:stretch>
            <a:fillRect/>
          </a:stretch>
        </p:blipFill>
        <p:spPr>
          <a:xfrm>
            <a:off x="2496311" y="1344168"/>
            <a:ext cx="329184" cy="329184"/>
          </a:xfrm>
          <a:prstGeom prst="rect">
            <a:avLst/>
          </a:prstGeom>
        </p:spPr>
      </p:pic>
      <p:sp>
        <p:nvSpPr>
          <p:cNvPr id="10" name="Dirichlet Inputs text"/>
          <p:cNvSpPr txBox="1"/>
          <p:nvPr/>
        </p:nvSpPr>
        <p:spPr>
          <a:xfrm>
            <a:off x="594360" y="1847088"/>
            <a:ext cx="2194560" cy="162763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Penetration der Kategorie</a:t>
            </a:r>
          </a:p>
          <a:p>
            <a:pPr algn="l">
              <a:spcAft>
                <a:spcPts val="700"/>
              </a:spcAft>
            </a:pPr>
            <a:r>
              <a:rPr lang="de-AT" sz="1200" b="0" i="0">
                <a:solidFill>
                  <a:schemeClr val="tx1"/>
                </a:solidFill>
              </a:rPr>
              <a:t>Kaufrate der Kategorie</a:t>
            </a:r>
          </a:p>
          <a:p>
            <a:pPr algn="l">
              <a:spcAft>
                <a:spcPts val="700"/>
              </a:spcAft>
            </a:pPr>
            <a:r>
              <a:rPr lang="de-AT" sz="1200" b="0" i="0">
                <a:solidFill>
                  <a:schemeClr val="tx1"/>
                </a:solidFill>
              </a:rPr>
              <a:t>Marktanteile der Marken</a:t>
            </a:r>
          </a:p>
        </p:txBody>
      </p:sp>
      <p:sp>
        <p:nvSpPr>
          <p:cNvPr id="11" name="Arrow 1"/>
          <p:cNvSpPr/>
          <p:nvPr/>
        </p:nvSpPr>
        <p:spPr>
          <a:xfrm>
            <a:off x="2999232" y="2377440"/>
            <a:ext cx="274320" cy="36576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richlet Model body"/>
          <p:cNvSpPr/>
          <p:nvPr/>
        </p:nvSpPr>
        <p:spPr>
          <a:xfrm>
            <a:off x="333756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richlet Model band"/>
          <p:cNvSpPr/>
          <p:nvPr/>
        </p:nvSpPr>
        <p:spPr>
          <a:xfrm>
            <a:off x="3337560" y="1280160"/>
            <a:ext cx="2468879"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richlet Model heading"/>
          <p:cNvSpPr txBox="1"/>
          <p:nvPr/>
        </p:nvSpPr>
        <p:spPr>
          <a:xfrm>
            <a:off x="3447288" y="1335024"/>
            <a:ext cx="1783079"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Modell</a:t>
            </a:r>
          </a:p>
        </p:txBody>
      </p:sp>
      <p:pic>
        <p:nvPicPr>
          <p:cNvPr id="15" name="Icon LuCalculator" descr="LuCalculator-white.png"/>
          <p:cNvPicPr>
            <a:picLocks noChangeAspect="1"/>
          </p:cNvPicPr>
          <p:nvPr/>
        </p:nvPicPr>
        <p:blipFill>
          <a:blip r:embed="rId3"/>
          <a:stretch>
            <a:fillRect/>
          </a:stretch>
        </p:blipFill>
        <p:spPr>
          <a:xfrm>
            <a:off x="5376672" y="1344168"/>
            <a:ext cx="329184" cy="329184"/>
          </a:xfrm>
          <a:prstGeom prst="rect">
            <a:avLst/>
          </a:prstGeom>
        </p:spPr>
      </p:pic>
      <p:sp>
        <p:nvSpPr>
          <p:cNvPr id="16" name="Dirichlet Model text"/>
          <p:cNvSpPr txBox="1"/>
          <p:nvPr/>
        </p:nvSpPr>
        <p:spPr>
          <a:xfrm>
            <a:off x="3474720" y="1847088"/>
            <a:ext cx="2194560" cy="162763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NBD: wie oft die Kategorie gekauft wird</a:t>
            </a:r>
          </a:p>
          <a:p>
            <a:pPr algn="l">
              <a:spcAft>
                <a:spcPts val="700"/>
              </a:spcAft>
            </a:pPr>
            <a:r>
              <a:rPr lang="de-AT" sz="1200" b="0" i="0">
                <a:solidFill>
                  <a:schemeClr val="tx1"/>
                </a:solidFill>
              </a:rPr>
              <a:t>Dirichlet: welche Marke jeweils</a:t>
            </a:r>
          </a:p>
          <a:p>
            <a:pPr algn="l">
              <a:spcAft>
                <a:spcPts val="700"/>
              </a:spcAft>
            </a:pPr>
            <a:r>
              <a:rPr lang="de-AT" sz="1200" b="0" i="0">
                <a:solidFill>
                  <a:schemeClr val="tx1"/>
                </a:solidFill>
              </a:rPr>
              <a:t>Annahme: stabiler, nicht partitionierter Markt</a:t>
            </a:r>
          </a:p>
        </p:txBody>
      </p:sp>
      <p:sp>
        <p:nvSpPr>
          <p:cNvPr id="17" name="Arrow 2"/>
          <p:cNvSpPr/>
          <p:nvPr/>
        </p:nvSpPr>
        <p:spPr>
          <a:xfrm>
            <a:off x="5879592" y="2377440"/>
            <a:ext cx="274320" cy="36576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richlet Outputs body"/>
          <p:cNvSpPr/>
          <p:nvPr/>
        </p:nvSpPr>
        <p:spPr>
          <a:xfrm>
            <a:off x="621792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richlet Outputs band"/>
          <p:cNvSpPr/>
          <p:nvPr/>
        </p:nvSpPr>
        <p:spPr>
          <a:xfrm>
            <a:off x="6217920" y="1280160"/>
            <a:ext cx="2468879"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richlet Outputs heading"/>
          <p:cNvSpPr txBox="1"/>
          <p:nvPr/>
        </p:nvSpPr>
        <p:spPr>
          <a:xfrm>
            <a:off x="6327648" y="1335024"/>
            <a:ext cx="1783079"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Ergebnisse</a:t>
            </a:r>
          </a:p>
        </p:txBody>
      </p:sp>
      <p:pic>
        <p:nvPicPr>
          <p:cNvPr id="21" name="Icon LuChartColumn" descr="LuChartColumn-white.png"/>
          <p:cNvPicPr>
            <a:picLocks noChangeAspect="1"/>
          </p:cNvPicPr>
          <p:nvPr/>
        </p:nvPicPr>
        <p:blipFill>
          <a:blip r:embed="rId4"/>
          <a:stretch>
            <a:fillRect/>
          </a:stretch>
        </p:blipFill>
        <p:spPr>
          <a:xfrm>
            <a:off x="8257031" y="1344168"/>
            <a:ext cx="329184" cy="329184"/>
          </a:xfrm>
          <a:prstGeom prst="rect">
            <a:avLst/>
          </a:prstGeom>
        </p:spPr>
      </p:pic>
      <p:sp>
        <p:nvSpPr>
          <p:cNvPr id="22" name="Dirichlet Outputs text"/>
          <p:cNvSpPr txBox="1"/>
          <p:nvPr/>
        </p:nvSpPr>
        <p:spPr>
          <a:xfrm>
            <a:off x="6355080" y="1847088"/>
            <a:ext cx="2194560" cy="162763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Penetration</a:t>
            </a:r>
          </a:p>
          <a:p>
            <a:pPr algn="l">
              <a:spcAft>
                <a:spcPts val="700"/>
              </a:spcAft>
            </a:pPr>
            <a:r>
              <a:rPr lang="de-AT" sz="1200" b="0" i="0">
                <a:solidFill>
                  <a:schemeClr val="tx1"/>
                </a:solidFill>
              </a:rPr>
              <a:t>Kauffrequenz</a:t>
            </a:r>
          </a:p>
          <a:p>
            <a:pPr algn="l">
              <a:spcAft>
                <a:spcPts val="700"/>
              </a:spcAft>
            </a:pPr>
            <a:r>
              <a:rPr lang="de-AT" sz="1200" b="0" i="0">
                <a:solidFill>
                  <a:schemeClr val="tx1"/>
                </a:solidFill>
              </a:rPr>
              <a:t>Bedarfsdeckungsanteil</a:t>
            </a:r>
          </a:p>
          <a:p>
            <a:pPr algn="l">
              <a:spcAft>
                <a:spcPts val="700"/>
              </a:spcAft>
            </a:pPr>
            <a:r>
              <a:rPr lang="de-AT" sz="1200" b="0" i="0">
                <a:solidFill>
                  <a:schemeClr val="tx1"/>
                </a:solidFill>
              </a:rPr>
              <a:t>% Exklusivkäufer:innen</a:t>
            </a:r>
          </a:p>
          <a:p>
            <a:pPr algn="l">
              <a:spcAft>
                <a:spcPts val="700"/>
              </a:spcAft>
            </a:pPr>
            <a:r>
              <a:rPr lang="de-AT" sz="1200" b="0" i="0">
                <a:solidFill>
                  <a:schemeClr val="tx1"/>
                </a:solidFill>
              </a:rPr>
              <a:t>Duplication</a:t>
            </a:r>
          </a:p>
        </p:txBody>
      </p:sp>
      <p:sp>
        <p:nvSpPr>
          <p:cNvPr id="23" name="Benchmark"/>
          <p:cNvSpPr/>
          <p:nvPr/>
        </p:nvSpPr>
        <p:spPr>
          <a:xfrm>
            <a:off x="457200" y="37490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enchmark text"/>
          <p:cNvSpPr txBox="1"/>
          <p:nvPr/>
        </p:nvSpPr>
        <p:spPr>
          <a:xfrm>
            <a:off x="640080" y="3749039"/>
            <a:ext cx="7863840" cy="50292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Die Vorhersagen sind Maßstab: Spannend ist die Abweichung.</a:t>
            </a:r>
          </a:p>
        </p:txBody>
      </p:sp>
      <p:sp>
        <p:nvSpPr>
          <p:cNvPr id="25"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Goodhardt, Ehrenberg &amp; Chatfield (1984); Ehrenberg, Uncles &amp; Goodhardt (2004); R-Paket NBDdirichlet.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Wenigkäufer:innen zählen mehr</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tat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 60/20</a:t>
            </a:r>
          </a:p>
        </p:txBody>
      </p:sp>
      <p:sp>
        <p:nvSpPr>
          <p:cNvPr id="8" name="Stat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Die stärksten 20 % der Käufer:innen einer Marke bringen etwa 60 % des Umsatzes, nicht 80 %.</a:t>
            </a:r>
          </a:p>
          <a:p>
            <a:pPr algn="l">
              <a:spcAft>
                <a:spcPts val="200"/>
              </a:spcAft>
            </a:pPr>
            <a:r>
              <a:rPr lang="de-AT" sz="1050" b="0" i="0">
                <a:solidFill>
                  <a:srgbClr val="595959"/>
                </a:solidFill>
              </a:rPr>
              <a:t>Sharp, Romaniuk &amp; Graham (2019)</a:t>
            </a:r>
          </a:p>
        </p:txBody>
      </p:sp>
      <p:sp>
        <p:nvSpPr>
          <p:cNvPr id="9" name="Stat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&gt; 1/3</a:t>
            </a:r>
          </a:p>
        </p:txBody>
      </p:sp>
      <p:sp>
        <p:nvSpPr>
          <p:cNvPr id="11" name="Stat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der Käufer:innen einer Marke kaufen sie in fünf Jahren nur einmal und sind doch umsatzentscheidend.</a:t>
            </a:r>
          </a:p>
          <a:p>
            <a:pPr algn="l">
              <a:spcAft>
                <a:spcPts val="200"/>
              </a:spcAft>
            </a:pPr>
            <a:r>
              <a:rPr lang="de-AT" sz="1050" b="0" i="0">
                <a:solidFill>
                  <a:srgbClr val="595959"/>
                </a:solidFill>
              </a:rPr>
              <a:t>Graham &amp; Kennedy (2021)</a:t>
            </a:r>
          </a:p>
        </p:txBody>
      </p:sp>
      <p:sp>
        <p:nvSpPr>
          <p:cNvPr id="12" name="Stat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Größere</a:t>
            </a:r>
          </a:p>
        </p:txBody>
      </p:sp>
      <p:sp>
        <p:nvSpPr>
          <p:cNvPr id="14" name="Stat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Marken ziehen einen noch höheren Anteil an Wenigkäufer:innen an (Natural Monopoly).</a:t>
            </a:r>
          </a:p>
          <a:p>
            <a:pPr algn="l">
              <a:spcAft>
                <a:spcPts val="200"/>
              </a:spcAft>
            </a:pPr>
            <a:r>
              <a:rPr lang="de-AT" sz="1050" b="0" i="0">
                <a:solidFill>
                  <a:srgbClr val="595959"/>
                </a:solidFill>
              </a:rPr>
              <a:t>Sharp (2010); Stocchi et al. (2017)</a:t>
            </a:r>
          </a:p>
        </p:txBody>
      </p:sp>
      <p:sp>
        <p:nvSpPr>
          <p:cNvPr id="15" name="Stat takeaway"/>
          <p:cNvSpPr/>
          <p:nvPr/>
        </p:nvSpPr>
        <p:spPr>
          <a:xfrm>
            <a:off x="457200" y="41148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t takeaway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Fazit: </a:t>
            </a:r>
            <a:r>
              <a:rPr lang="de-AT" sz="1300" b="0" i="0">
                <a:solidFill>
                  <a:schemeClr val="tx1"/>
                </a:solidFill>
              </a:rPr>
              <a:t>Wer nur Vielkäufer:innen und Loyale anspricht, verschenkt den Großteil des Wachstumspotenzials.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3 von 6 · Penetration und Verfügbarkeit</a:t>
            </a:r>
          </a:p>
        </p:txBody>
      </p:sp>
      <p:sp>
        <p:nvSpPr>
          <p:cNvPr id="3" name="Title 2"/>
          <p:cNvSpPr>
            <a:spLocks noGrp="1"/>
          </p:cNvSpPr>
          <p:nvPr>
            <p:ph type="ctrTitle"/>
          </p:nvPr>
        </p:nvSpPr>
        <p:spPr/>
        <p:txBody>
          <a:bodyPr/>
          <a:lstStyle/>
          <a:p>
            <a:r>
              <a:rPr lang="de-AT"/>
              <a:t>Wie Marken wachsen</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Marken wachsen durch mehr Käufer:innen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Penetration points"/>
          <p:cNvSpPr txBox="1"/>
          <p:nvPr/>
        </p:nvSpPr>
        <p:spPr>
          <a:xfrm>
            <a:off x="457200" y="1280160"/>
            <a:ext cx="4480560" cy="2743200"/>
          </a:xfrm>
          <a:prstGeom prst="rect">
            <a:avLst/>
          </a:prstGeom>
          <a:noFill/>
        </p:spPr>
        <p:txBody>
          <a:bodyPr wrap="square" lIns="36576" rIns="36576" tIns="18288" bIns="18288" anchor="t">
            <a:spAutoFit/>
          </a:bodyPr>
          <a:lstStyle/>
          <a:p>
            <a:pPr algn="l">
              <a:spcAft>
                <a:spcPts val="1400"/>
              </a:spcAft>
            </a:pPr>
            <a:r>
              <a:rPr lang="de-AT" sz="1400" b="1" i="0">
                <a:solidFill>
                  <a:schemeClr val="tx2"/>
                </a:solidFill>
              </a:rPr>
              <a:t>Penetration ändert sich am stärksten, </a:t>
            </a:r>
            <a:r>
              <a:rPr lang="de-AT" sz="1400" b="0" i="0">
                <a:solidFill>
                  <a:schemeClr val="tx1"/>
                </a:solidFill>
              </a:rPr>
              <a:t>wenn Marken wachsen oder schrumpfen; Loyalität kaum (Double Jeopardy).</a:t>
            </a:r>
          </a:p>
          <a:p>
            <a:pPr algn="l">
              <a:spcAft>
                <a:spcPts val="1400"/>
              </a:spcAft>
            </a:pPr>
            <a:r>
              <a:rPr lang="de-AT" sz="1400" b="1" i="0">
                <a:solidFill>
                  <a:schemeClr val="tx2"/>
                </a:solidFill>
              </a:rPr>
              <a:t>Bindungsprogramme </a:t>
            </a:r>
            <a:r>
              <a:rPr lang="de-AT" sz="1400" b="0" i="0">
                <a:solidFill>
                  <a:schemeClr val="tx1"/>
                </a:solidFill>
              </a:rPr>
              <a:t>ändern Wiederkäufe gegenüber Dirichlet-Normen kaum.</a:t>
            </a:r>
          </a:p>
          <a:p>
            <a:pPr algn="l">
              <a:spcAft>
                <a:spcPts val="1400"/>
              </a:spcAft>
            </a:pPr>
            <a:r>
              <a:rPr lang="de-AT" sz="1400" b="1" i="0">
                <a:solidFill>
                  <a:schemeClr val="tx2"/>
                </a:solidFill>
              </a:rPr>
              <a:t>Also: </a:t>
            </a:r>
            <a:r>
              <a:rPr lang="de-AT" sz="1400" b="0" i="0">
                <a:solidFill>
                  <a:schemeClr val="tx1"/>
                </a:solidFill>
              </a:rPr>
              <a:t>alle Kategoriekäufer:innen erreichen, auch Wenig- und Nichtkäufer:innen.</a:t>
            </a:r>
          </a:p>
        </p:txBody>
      </p:sp>
      <p:sp>
        <p:nvSpPr>
          <p:cNvPr id="7" name="Evidence body"/>
          <p:cNvSpPr/>
          <p:nvPr/>
        </p:nvSpPr>
        <p:spPr>
          <a:xfrm>
            <a:off x="5120640" y="1280160"/>
            <a:ext cx="35661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vidence band"/>
          <p:cNvSpPr/>
          <p:nvPr/>
        </p:nvSpPr>
        <p:spPr>
          <a:xfrm>
            <a:off x="5120640" y="1280160"/>
            <a:ext cx="35661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vidence heading"/>
          <p:cNvSpPr txBox="1"/>
          <p:nvPr/>
        </p:nvSpPr>
        <p:spPr>
          <a:xfrm>
            <a:off x="5230368" y="1335024"/>
            <a:ext cx="288036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Evidenz</a:t>
            </a:r>
          </a:p>
        </p:txBody>
      </p:sp>
      <p:pic>
        <p:nvPicPr>
          <p:cNvPr id="10" name="Icon LuTrendingUp" descr="LuTrendingUp-white.png"/>
          <p:cNvPicPr>
            <a:picLocks noChangeAspect="1"/>
          </p:cNvPicPr>
          <p:nvPr/>
        </p:nvPicPr>
        <p:blipFill>
          <a:blip r:embed="rId2"/>
          <a:stretch>
            <a:fillRect/>
          </a:stretch>
        </p:blipFill>
        <p:spPr>
          <a:xfrm>
            <a:off x="8257031" y="1344168"/>
            <a:ext cx="329184" cy="329184"/>
          </a:xfrm>
          <a:prstGeom prst="rect">
            <a:avLst/>
          </a:prstGeom>
        </p:spPr>
      </p:pic>
      <p:sp>
        <p:nvSpPr>
          <p:cNvPr id="11" name="Evidence text"/>
          <p:cNvSpPr txBox="1"/>
          <p:nvPr/>
        </p:nvSpPr>
        <p:spPr>
          <a:xfrm>
            <a:off x="5257800" y="1847088"/>
            <a:ext cx="3291840" cy="158191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Dawes (2016): </a:t>
            </a:r>
            <a:r>
              <a:rPr lang="de-AT" sz="1200" b="0" i="0">
                <a:solidFill>
                  <a:schemeClr val="tx1"/>
                </a:solidFill>
              </a:rPr>
              <a:t>zehn Wachstumsfälle, Wachstum über Penetration</a:t>
            </a:r>
          </a:p>
          <a:p>
            <a:pPr algn="l">
              <a:spcAft>
                <a:spcPts val="700"/>
              </a:spcAft>
            </a:pPr>
            <a:r>
              <a:rPr lang="de-AT" sz="1200" b="1" i="0">
                <a:solidFill>
                  <a:schemeClr val="tx1"/>
                </a:solidFill>
              </a:rPr>
              <a:t>Sharp &amp; Sharp (1997): </a:t>
            </a:r>
            <a:r>
              <a:rPr lang="de-AT" sz="1200" b="0" i="0">
                <a:solidFill>
                  <a:schemeClr val="tx1"/>
                </a:solidFill>
              </a:rPr>
              <a:t>Bindungsprogramme und Wiederkauf</a:t>
            </a:r>
          </a:p>
          <a:p>
            <a:pPr algn="l">
              <a:spcAft>
                <a:spcPts val="700"/>
              </a:spcAft>
            </a:pPr>
            <a:r>
              <a:rPr lang="de-AT" sz="1200" b="1" i="0">
                <a:solidFill>
                  <a:schemeClr val="tx1"/>
                </a:solidFill>
              </a:rPr>
              <a:t>Barker-Trowse et al. (2026): </a:t>
            </a:r>
            <a:r>
              <a:rPr lang="de-AT" sz="1200" b="0" i="0">
                <a:solidFill>
                  <a:schemeClr val="tx1"/>
                </a:solidFill>
              </a:rPr>
              <a:t>Kleinstmarken, Grenzen der Loyalität</a:t>
            </a:r>
          </a:p>
        </p:txBody>
      </p:sp>
      <p:sp>
        <p:nvSpPr>
          <p:cNvPr id="12" name="Growth question"/>
          <p:cNvSpPr/>
          <p:nvPr/>
        </p:nvSpPr>
        <p:spPr>
          <a:xfrm>
            <a:off x="457200" y="37490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rowth question text"/>
          <p:cNvSpPr txBox="1"/>
          <p:nvPr/>
        </p:nvSpPr>
        <p:spPr>
          <a:xfrm>
            <a:off x="640080" y="3749039"/>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Fragen Sie: </a:t>
            </a:r>
            <a:r>
              <a:rPr lang="de-AT" sz="1300" b="0" i="0">
                <a:solidFill>
                  <a:schemeClr val="bg1"/>
                </a:solidFill>
              </a:rPr>
              <a:t>Wie erreichen wir mehr Kategoriekäufer:innen, statt sie loyaler zu machen?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Kantar: Wachstum durch Neukäufer</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Kantar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antar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 80 %</a:t>
            </a:r>
          </a:p>
        </p:txBody>
      </p:sp>
      <p:sp>
        <p:nvSpPr>
          <p:cNvPr id="8" name="Kantar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der Marken, die ihren Brand Footprint steigern, schaffen das über höhere Penetration (globaler Schnitt).</a:t>
            </a:r>
          </a:p>
          <a:p>
            <a:pPr algn="l">
              <a:spcAft>
                <a:spcPts val="200"/>
              </a:spcAft>
            </a:pPr>
            <a:r>
              <a:rPr lang="de-AT" sz="1050" b="0" i="0">
                <a:solidFill>
                  <a:srgbClr val="595959"/>
                </a:solidFill>
              </a:rPr>
              <a:t>Kantar Worldpanel, Brand Footprint 2025 (15. Sept. 2025)</a:t>
            </a:r>
          </a:p>
        </p:txBody>
      </p:sp>
      <p:sp>
        <p:nvSpPr>
          <p:cNvPr id="9" name="Kantar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antar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86 %</a:t>
            </a:r>
          </a:p>
        </p:txBody>
      </p:sp>
      <p:sp>
        <p:nvSpPr>
          <p:cNvPr id="11" name="Kantar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der lateinamerikanischen Marken mit mehr Consumer Reach Points 2024 gewannen neue Käufer:innen.</a:t>
            </a:r>
          </a:p>
          <a:p>
            <a:pPr algn="l">
              <a:spcAft>
                <a:spcPts val="200"/>
              </a:spcAft>
            </a:pPr>
            <a:r>
              <a:rPr lang="de-AT" sz="1050" b="0" i="0">
                <a:solidFill>
                  <a:srgbClr val="595959"/>
                </a:solidFill>
              </a:rPr>
              <a:t>Kantar, Brand Footprint Lateinamerika (15. Sept. 2025)</a:t>
            </a:r>
          </a:p>
        </p:txBody>
      </p:sp>
      <p:sp>
        <p:nvSpPr>
          <p:cNvPr id="12" name="Kantar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antar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de-AT" sz="2800" b="1" i="0">
                <a:solidFill>
                  <a:schemeClr val="tx2"/>
                </a:solidFill>
                <a:latin typeface="+mj-lt"/>
              </a:rPr>
              <a:t>≈ 50 %</a:t>
            </a:r>
          </a:p>
        </p:txBody>
      </p:sp>
      <p:sp>
        <p:nvSpPr>
          <p:cNvPr id="14" name="Kantar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de-AT" sz="1300" b="0" i="0">
                <a:solidFill>
                  <a:schemeClr val="tx1"/>
                </a:solidFill>
              </a:rPr>
              <a:t>der FMCG-Marken wachsen pro Jahr, die andere Hälfte schrumpft (über 30.000 Marken, 56 Märkte).</a:t>
            </a:r>
          </a:p>
          <a:p>
            <a:pPr algn="l">
              <a:spcAft>
                <a:spcPts val="200"/>
              </a:spcAft>
            </a:pPr>
            <a:r>
              <a:rPr lang="de-AT" sz="1050" b="0" i="0">
                <a:solidFill>
                  <a:srgbClr val="595959"/>
                </a:solidFill>
              </a:rPr>
              <a:t>Kantar Worldpanel, Brand Footprint 2025</a:t>
            </a:r>
          </a:p>
        </p:txBody>
      </p:sp>
      <p:sp>
        <p:nvSpPr>
          <p:cNvPr id="15" name="Kantar takeaway"/>
          <p:cNvSpPr/>
          <p:nvPr/>
        </p:nvSpPr>
        <p:spPr>
          <a:xfrm>
            <a:off x="457200" y="411480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Kantar takeaway text"/>
          <p:cNvSpPr txBox="1"/>
          <p:nvPr/>
        </p:nvSpPr>
        <p:spPr>
          <a:xfrm>
            <a:off x="640080" y="4114800"/>
            <a:ext cx="7863840" cy="594360"/>
          </a:xfrm>
          <a:prstGeom prst="rect">
            <a:avLst/>
          </a:prstGeom>
          <a:noFill/>
        </p:spPr>
        <p:txBody>
          <a:bodyPr wrap="square" lIns="36576" rIns="36576" tIns="18288" bIns="18288" anchor="ctr">
            <a:spAutoFit/>
          </a:bodyPr>
          <a:lstStyle/>
          <a:p>
            <a:pPr algn="l">
              <a:spcAft>
                <a:spcPts val="0"/>
              </a:spcAft>
            </a:pPr>
            <a:r>
              <a:rPr lang="de-AT" sz="1300" b="1" i="0">
                <a:solidFill>
                  <a:schemeClr val="tx1"/>
                </a:solidFill>
              </a:rPr>
              <a:t>Fazit: </a:t>
            </a:r>
            <a:r>
              <a:rPr lang="de-AT" sz="1300" b="0" i="0">
                <a:solidFill>
                  <a:schemeClr val="tx1"/>
                </a:solidFill>
              </a:rPr>
              <a:t>Ein unabhängiges Branchenpanel bestätigt Ehrenberg-Bass: Wachstum kommt von mehr Käufer:innen.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Verfügbarkeit treibt Penetration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Mental body"/>
          <p:cNvSpPr/>
          <p:nvPr/>
        </p:nvSpPr>
        <p:spPr>
          <a:xfrm>
            <a:off x="457200"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ental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ntal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Mentale Verfügbarkeit</a:t>
            </a:r>
          </a:p>
        </p:txBody>
      </p:sp>
      <p:pic>
        <p:nvPicPr>
          <p:cNvPr id="9" name="Icon LuBrain" descr="LuBrain-white.png"/>
          <p:cNvPicPr>
            <a:picLocks noChangeAspect="1"/>
          </p:cNvPicPr>
          <p:nvPr/>
        </p:nvPicPr>
        <p:blipFill>
          <a:blip r:embed="rId2"/>
          <a:stretch>
            <a:fillRect/>
          </a:stretch>
        </p:blipFill>
        <p:spPr>
          <a:xfrm>
            <a:off x="4059936" y="1344168"/>
            <a:ext cx="329184" cy="329184"/>
          </a:xfrm>
          <a:prstGeom prst="rect">
            <a:avLst/>
          </a:prstGeom>
        </p:spPr>
      </p:pic>
      <p:sp>
        <p:nvSpPr>
          <p:cNvPr id="10" name="Mental text"/>
          <p:cNvSpPr txBox="1"/>
          <p:nvPr/>
        </p:nvSpPr>
        <p:spPr>
          <a:xfrm>
            <a:off x="594360" y="1847088"/>
            <a:ext cx="3758184" cy="1719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Was: </a:t>
            </a:r>
            <a:r>
              <a:rPr lang="de-AT" sz="1300" b="0" i="0">
                <a:solidFill>
                  <a:schemeClr val="tx1"/>
                </a:solidFill>
              </a:rPr>
              <a:t>die Chance, dass die Marke in Kaufsituationen in den Sinn kommt</a:t>
            </a:r>
          </a:p>
          <a:p>
            <a:pPr algn="l">
              <a:spcAft>
                <a:spcPts val="700"/>
              </a:spcAft>
            </a:pPr>
            <a:r>
              <a:rPr lang="de-AT" sz="1300" b="1" i="0">
                <a:solidFill>
                  <a:schemeClr val="tx1"/>
                </a:solidFill>
              </a:rPr>
              <a:t>Aufgebaut durch: </a:t>
            </a:r>
            <a:r>
              <a:rPr lang="de-AT" sz="1300" b="0" i="0">
                <a:solidFill>
                  <a:schemeClr val="tx1"/>
                </a:solidFill>
              </a:rPr>
              <a:t>breite Reichweite, konsistente Distinctive Assets, Verknüpfung mit vielen Entry Points</a:t>
            </a:r>
          </a:p>
          <a:p>
            <a:pPr algn="l">
              <a:spcAft>
                <a:spcPts val="700"/>
              </a:spcAft>
            </a:pPr>
            <a:r>
              <a:rPr lang="de-AT" sz="1300" b="1" i="0">
                <a:solidFill>
                  <a:schemeClr val="tx1"/>
                </a:solidFill>
              </a:rPr>
              <a:t>Gemessen über: </a:t>
            </a:r>
            <a:r>
              <a:rPr lang="de-AT" sz="1300" b="0" i="0">
                <a:solidFill>
                  <a:schemeClr val="tx1"/>
                </a:solidFill>
              </a:rPr>
              <a:t>mentale Penetration, Netzwerkgröße, mentaler Marktanteil</a:t>
            </a:r>
          </a:p>
        </p:txBody>
      </p:sp>
      <p:sp>
        <p:nvSpPr>
          <p:cNvPr id="11" name="Physical body"/>
          <p:cNvSpPr/>
          <p:nvPr/>
        </p:nvSpPr>
        <p:spPr>
          <a:xfrm>
            <a:off x="4654296"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hysical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hysical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Physische Verfügbarkeit</a:t>
            </a:r>
          </a:p>
        </p:txBody>
      </p:sp>
      <p:pic>
        <p:nvPicPr>
          <p:cNvPr id="14" name="Icon LuShoppingCart" descr="LuShoppingCart-white.png"/>
          <p:cNvPicPr>
            <a:picLocks noChangeAspect="1"/>
          </p:cNvPicPr>
          <p:nvPr/>
        </p:nvPicPr>
        <p:blipFill>
          <a:blip r:embed="rId3"/>
          <a:stretch>
            <a:fillRect/>
          </a:stretch>
        </p:blipFill>
        <p:spPr>
          <a:xfrm>
            <a:off x="8257031" y="1344168"/>
            <a:ext cx="329184" cy="329184"/>
          </a:xfrm>
          <a:prstGeom prst="rect">
            <a:avLst/>
          </a:prstGeom>
        </p:spPr>
      </p:pic>
      <p:sp>
        <p:nvSpPr>
          <p:cNvPr id="15" name="Physical text"/>
          <p:cNvSpPr txBox="1"/>
          <p:nvPr/>
        </p:nvSpPr>
        <p:spPr>
          <a:xfrm>
            <a:off x="4791456" y="1847088"/>
            <a:ext cx="3758184" cy="1719072"/>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Was: </a:t>
            </a:r>
            <a:r>
              <a:rPr lang="de-AT" sz="1300" b="0" i="0">
                <a:solidFill>
                  <a:schemeClr val="tx1"/>
                </a:solidFill>
              </a:rPr>
              <a:t>wie leicht die Marke zu finden und zu kaufen ist</a:t>
            </a:r>
          </a:p>
          <a:p>
            <a:pPr algn="l">
              <a:spcAft>
                <a:spcPts val="700"/>
              </a:spcAft>
            </a:pPr>
            <a:r>
              <a:rPr lang="de-AT" sz="1300" b="1" i="0">
                <a:solidFill>
                  <a:schemeClr val="tx1"/>
                </a:solidFill>
              </a:rPr>
              <a:t>Aufgebaut durch: </a:t>
            </a:r>
            <a:r>
              <a:rPr lang="de-AT" sz="1300" b="0" i="0">
                <a:solidFill>
                  <a:schemeClr val="tx1"/>
                </a:solidFill>
              </a:rPr>
              <a:t>Präsenz, passendes Sortiment und Packungsgrößen, Sichtbarkeit im Regal und online</a:t>
            </a:r>
          </a:p>
          <a:p>
            <a:pPr algn="l">
              <a:spcAft>
                <a:spcPts val="700"/>
              </a:spcAft>
            </a:pPr>
            <a:r>
              <a:rPr lang="de-AT" sz="1300" b="1" i="0">
                <a:solidFill>
                  <a:schemeClr val="tx1"/>
                </a:solidFill>
              </a:rPr>
              <a:t>Gemessen über: </a:t>
            </a:r>
            <a:r>
              <a:rPr lang="de-AT" sz="1300" b="0" i="0">
                <a:solidFill>
                  <a:schemeClr val="tx1"/>
                </a:solidFill>
              </a:rPr>
              <a:t>gewichtete Distribution, Regalanteil, Sichtbarkeit in der Suche</a:t>
            </a:r>
          </a:p>
        </p:txBody>
      </p:sp>
      <p:sp>
        <p:nvSpPr>
          <p:cNvPr id="16" name="Availability callout"/>
          <p:cNvSpPr/>
          <p:nvPr/>
        </p:nvSpPr>
        <p:spPr>
          <a:xfrm>
            <a:off x="457200" y="38404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vailability callout text"/>
          <p:cNvSpPr txBox="1"/>
          <p:nvPr/>
        </p:nvSpPr>
        <p:spPr>
          <a:xfrm>
            <a:off x="640080" y="384048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Beides ist nötig: </a:t>
            </a:r>
            <a:r>
              <a:rPr lang="de-AT" sz="1300" b="0" i="0">
                <a:solidFill>
                  <a:schemeClr val="bg1"/>
                </a:solidFill>
              </a:rPr>
              <a:t>Eine Marke, die niemand erinnert oder findet, wächst nicht.</a:t>
            </a:r>
          </a:p>
        </p:txBody>
      </p:sp>
      <p:sp>
        <p:nvSpPr>
          <p:cNvPr id="1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Sharp (2010), Kap. 12; Romaniuk (2022) Better Brand Health; Romaniuk (2013) Journal of Business Research.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B2B: die 95:5-Regel</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Rule row 1"/>
          <p:cNvSpPr/>
          <p:nvPr/>
        </p:nvSpPr>
        <p:spPr>
          <a:xfrm>
            <a:off x="457200" y="1280160"/>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figure 1"/>
          <p:cNvSpPr txBox="1"/>
          <p:nvPr/>
        </p:nvSpPr>
        <p:spPr>
          <a:xfrm>
            <a:off x="594360" y="1280160"/>
            <a:ext cx="1234440" cy="731520"/>
          </a:xfrm>
          <a:prstGeom prst="rect">
            <a:avLst/>
          </a:prstGeom>
          <a:noFill/>
        </p:spPr>
        <p:txBody>
          <a:bodyPr wrap="square" lIns="36576" rIns="36576" tIns="18288" bIns="18288" anchor="ctr">
            <a:spAutoFit/>
          </a:bodyPr>
          <a:lstStyle/>
          <a:p>
            <a:pPr algn="l">
              <a:spcAft>
                <a:spcPts val="0"/>
              </a:spcAft>
            </a:pPr>
            <a:r>
              <a:rPr lang="de-AT" sz="2200" b="1" i="0">
                <a:solidFill>
                  <a:schemeClr val="tx2"/>
                </a:solidFill>
                <a:latin typeface="+mj-lt"/>
              </a:rPr>
              <a:t>5 Jahre</a:t>
            </a:r>
          </a:p>
        </p:txBody>
      </p:sp>
      <p:sp>
        <p:nvSpPr>
          <p:cNvPr id="8" name="Rule text 1"/>
          <p:cNvSpPr txBox="1"/>
          <p:nvPr/>
        </p:nvSpPr>
        <p:spPr>
          <a:xfrm>
            <a:off x="1828800" y="1280160"/>
            <a:ext cx="2468880" cy="731520"/>
          </a:xfrm>
          <a:prstGeom prst="rect">
            <a:avLst/>
          </a:prstGeom>
          <a:noFill/>
        </p:spPr>
        <p:txBody>
          <a:bodyPr wrap="square" lIns="36576" rIns="36576" tIns="18288" bIns="18288" anchor="ctr">
            <a:spAutoFit/>
          </a:bodyPr>
          <a:lstStyle/>
          <a:p>
            <a:pPr algn="l">
              <a:spcAft>
                <a:spcPts val="0"/>
              </a:spcAft>
            </a:pPr>
            <a:r>
              <a:rPr lang="de-AT" sz="1150" b="0" i="0">
                <a:solidFill>
                  <a:schemeClr val="tx1"/>
                </a:solidFill>
              </a:rPr>
              <a:t>so oft wechselt eine Firma im Schnitt Bank oder Kanzlei</a:t>
            </a:r>
          </a:p>
        </p:txBody>
      </p:sp>
      <p:sp>
        <p:nvSpPr>
          <p:cNvPr id="9" name="Rule row 2"/>
          <p:cNvSpPr/>
          <p:nvPr/>
        </p:nvSpPr>
        <p:spPr>
          <a:xfrm>
            <a:off x="457200" y="2148839"/>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ule figure 2"/>
          <p:cNvSpPr txBox="1"/>
          <p:nvPr/>
        </p:nvSpPr>
        <p:spPr>
          <a:xfrm>
            <a:off x="594360" y="2148839"/>
            <a:ext cx="1234440" cy="731520"/>
          </a:xfrm>
          <a:prstGeom prst="rect">
            <a:avLst/>
          </a:prstGeom>
          <a:noFill/>
        </p:spPr>
        <p:txBody>
          <a:bodyPr wrap="square" lIns="36576" rIns="36576" tIns="18288" bIns="18288" anchor="ctr">
            <a:spAutoFit/>
          </a:bodyPr>
          <a:lstStyle/>
          <a:p>
            <a:pPr algn="l">
              <a:spcAft>
                <a:spcPts val="0"/>
              </a:spcAft>
            </a:pPr>
            <a:r>
              <a:rPr lang="de-AT" sz="2200" b="1" i="0">
                <a:solidFill>
                  <a:schemeClr val="tx2"/>
                </a:solidFill>
                <a:latin typeface="+mj-lt"/>
              </a:rPr>
              <a:t>20 %</a:t>
            </a:r>
          </a:p>
        </p:txBody>
      </p:sp>
      <p:sp>
        <p:nvSpPr>
          <p:cNvPr id="11" name="Rule text 2"/>
          <p:cNvSpPr txBox="1"/>
          <p:nvPr/>
        </p:nvSpPr>
        <p:spPr>
          <a:xfrm>
            <a:off x="1828800" y="2148839"/>
            <a:ext cx="2468880" cy="731520"/>
          </a:xfrm>
          <a:prstGeom prst="rect">
            <a:avLst/>
          </a:prstGeom>
          <a:noFill/>
        </p:spPr>
        <p:txBody>
          <a:bodyPr wrap="square" lIns="36576" rIns="36576" tIns="18288" bIns="18288" anchor="ctr">
            <a:spAutoFit/>
          </a:bodyPr>
          <a:lstStyle/>
          <a:p>
            <a:pPr algn="l">
              <a:spcAft>
                <a:spcPts val="0"/>
              </a:spcAft>
            </a:pPr>
            <a:r>
              <a:rPr lang="de-AT" sz="1150" b="0" i="0">
                <a:solidFill>
                  <a:schemeClr val="tx1"/>
                </a:solidFill>
              </a:rPr>
              <a:t>der Käufer:innen sind daher pro Jahr im Markt</a:t>
            </a:r>
          </a:p>
        </p:txBody>
      </p:sp>
      <p:sp>
        <p:nvSpPr>
          <p:cNvPr id="12" name="Rule row 3"/>
          <p:cNvSpPr/>
          <p:nvPr/>
        </p:nvSpPr>
        <p:spPr>
          <a:xfrm>
            <a:off x="457200" y="3017520"/>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le figure 3"/>
          <p:cNvSpPr txBox="1"/>
          <p:nvPr/>
        </p:nvSpPr>
        <p:spPr>
          <a:xfrm>
            <a:off x="594360" y="3017520"/>
            <a:ext cx="1234440" cy="731520"/>
          </a:xfrm>
          <a:prstGeom prst="rect">
            <a:avLst/>
          </a:prstGeom>
          <a:noFill/>
        </p:spPr>
        <p:txBody>
          <a:bodyPr wrap="square" lIns="36576" rIns="36576" tIns="18288" bIns="18288" anchor="ctr">
            <a:spAutoFit/>
          </a:bodyPr>
          <a:lstStyle/>
          <a:p>
            <a:pPr algn="l">
              <a:spcAft>
                <a:spcPts val="0"/>
              </a:spcAft>
            </a:pPr>
            <a:r>
              <a:rPr lang="de-AT" sz="2200" b="1" i="0">
                <a:solidFill>
                  <a:schemeClr val="tx2"/>
                </a:solidFill>
                <a:latin typeface="+mj-lt"/>
              </a:rPr>
              <a:t>5 %</a:t>
            </a:r>
          </a:p>
        </p:txBody>
      </p:sp>
      <p:sp>
        <p:nvSpPr>
          <p:cNvPr id="14" name="Rule text 3"/>
          <p:cNvSpPr txBox="1"/>
          <p:nvPr/>
        </p:nvSpPr>
        <p:spPr>
          <a:xfrm>
            <a:off x="1828800" y="3017520"/>
            <a:ext cx="2468880" cy="731520"/>
          </a:xfrm>
          <a:prstGeom prst="rect">
            <a:avLst/>
          </a:prstGeom>
          <a:noFill/>
        </p:spPr>
        <p:txBody>
          <a:bodyPr wrap="square" lIns="36576" rIns="36576" tIns="18288" bIns="18288" anchor="ctr">
            <a:spAutoFit/>
          </a:bodyPr>
          <a:lstStyle/>
          <a:p>
            <a:pPr algn="l">
              <a:spcAft>
                <a:spcPts val="0"/>
              </a:spcAft>
            </a:pPr>
            <a:r>
              <a:rPr lang="de-AT" sz="1150" b="0" i="0">
                <a:solidFill>
                  <a:schemeClr val="tx1"/>
                </a:solidFill>
              </a:rPr>
              <a:t>sind es pro Quartal; 95 % sind es nicht</a:t>
            </a:r>
          </a:p>
        </p:txBody>
      </p:sp>
      <p:sp>
        <p:nvSpPr>
          <p:cNvPr id="15" name="B2B implications body"/>
          <p:cNvSpPr/>
          <p:nvPr/>
        </p:nvSpPr>
        <p:spPr>
          <a:xfrm>
            <a:off x="4663440" y="1280160"/>
            <a:ext cx="4023360" cy="2423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2B implications band"/>
          <p:cNvSpPr/>
          <p:nvPr/>
        </p:nvSpPr>
        <p:spPr>
          <a:xfrm>
            <a:off x="4663440" y="1280160"/>
            <a:ext cx="40233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2B implications heading"/>
          <p:cNvSpPr txBox="1"/>
          <p:nvPr/>
        </p:nvSpPr>
        <p:spPr>
          <a:xfrm>
            <a:off x="4773168" y="1335024"/>
            <a:ext cx="333756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Folgerungen</a:t>
            </a:r>
          </a:p>
        </p:txBody>
      </p:sp>
      <p:pic>
        <p:nvPicPr>
          <p:cNvPr id="18" name="Icon LuTarget" descr="LuTarget-white.png"/>
          <p:cNvPicPr>
            <a:picLocks noChangeAspect="1"/>
          </p:cNvPicPr>
          <p:nvPr/>
        </p:nvPicPr>
        <p:blipFill>
          <a:blip r:embed="rId2"/>
          <a:stretch>
            <a:fillRect/>
          </a:stretch>
        </p:blipFill>
        <p:spPr>
          <a:xfrm>
            <a:off x="8257031" y="1344168"/>
            <a:ext cx="329184" cy="329184"/>
          </a:xfrm>
          <a:prstGeom prst="rect">
            <a:avLst/>
          </a:prstGeom>
        </p:spPr>
      </p:pic>
      <p:sp>
        <p:nvSpPr>
          <p:cNvPr id="19" name="B2B implications text"/>
          <p:cNvSpPr txBox="1"/>
          <p:nvPr/>
        </p:nvSpPr>
        <p:spPr>
          <a:xfrm>
            <a:off x="4800600" y="1847088"/>
            <a:ext cx="3749040" cy="1764792"/>
          </a:xfrm>
          <a:prstGeom prst="rect">
            <a:avLst/>
          </a:prstGeom>
          <a:noFill/>
        </p:spPr>
        <p:txBody>
          <a:bodyPr wrap="square" lIns="36576" rIns="36576" tIns="18288" bIns="18288" anchor="t">
            <a:spAutoFit/>
          </a:bodyPr>
          <a:lstStyle/>
          <a:p>
            <a:pPr algn="l">
              <a:spcAft>
                <a:spcPts val="700"/>
              </a:spcAft>
            </a:pPr>
            <a:r>
              <a:rPr lang="de-AT" sz="1200" b="1" i="0">
                <a:solidFill>
                  <a:schemeClr val="tx1"/>
                </a:solidFill>
              </a:rPr>
              <a:t>Die 95 % vorbereiten: </a:t>
            </a:r>
            <a:r>
              <a:rPr lang="de-AT" sz="1200" b="0" i="0">
                <a:solidFill>
                  <a:schemeClr val="tx1"/>
                </a:solidFill>
              </a:rPr>
              <a:t>mentale Verfügbarkeit aufbauen, bevor Käufer:innen in den Markt kommen</a:t>
            </a:r>
          </a:p>
          <a:p>
            <a:pPr algn="l">
              <a:spcAft>
                <a:spcPts val="700"/>
              </a:spcAft>
            </a:pPr>
            <a:r>
              <a:rPr lang="de-AT" sz="1200" b="1" i="0">
                <a:solidFill>
                  <a:schemeClr val="tx1"/>
                </a:solidFill>
              </a:rPr>
              <a:t>Die 5 % aktivieren: </a:t>
            </a:r>
            <a:r>
              <a:rPr lang="de-AT" sz="1200" b="0" i="0">
                <a:solidFill>
                  <a:schemeClr val="tx1"/>
                </a:solidFill>
              </a:rPr>
              <a:t>Vertrieb und Performance-Medien für Kaufbereite</a:t>
            </a:r>
          </a:p>
          <a:p>
            <a:pPr algn="l">
              <a:spcAft>
                <a:spcPts val="700"/>
              </a:spcAft>
            </a:pPr>
            <a:r>
              <a:rPr lang="de-AT" sz="1200" b="1" i="0">
                <a:solidFill>
                  <a:schemeClr val="tx1"/>
                </a:solidFill>
              </a:rPr>
              <a:t>Gedächtnis messen, </a:t>
            </a:r>
            <a:r>
              <a:rPr lang="de-AT" sz="1200" b="0" i="0">
                <a:solidFill>
                  <a:schemeClr val="tx1"/>
                </a:solidFill>
              </a:rPr>
              <a:t>nicht nur Leads: Erinnerung und Verknüpfung mit Entry Points</a:t>
            </a:r>
          </a:p>
        </p:txBody>
      </p:sp>
      <p:sp>
        <p:nvSpPr>
          <p:cNvPr id="20" name="B2B callout"/>
          <p:cNvSpPr/>
          <p:nvPr/>
        </p:nvSpPr>
        <p:spPr>
          <a:xfrm>
            <a:off x="457200" y="39319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2B callout text"/>
          <p:cNvSpPr txBox="1"/>
          <p:nvPr/>
        </p:nvSpPr>
        <p:spPr>
          <a:xfrm>
            <a:off x="640080" y="393192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Auch im B2B: </a:t>
            </a:r>
            <a:r>
              <a:rPr lang="de-AT" sz="1300" b="0" i="0">
                <a:solidFill>
                  <a:schemeClr val="bg1"/>
                </a:solidFill>
              </a:rPr>
              <a:t>Wachstum über Reichweite und mentale Verfügbarkeit.</a:t>
            </a:r>
          </a:p>
        </p:txBody>
      </p:sp>
      <p:sp>
        <p:nvSpPr>
          <p:cNvPr id="22"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Dawes (2021) für das LinkedIn B2B Institute; Ehrenberg-Bass Institute, „The 95:5 rule: why B2B growth starts long before the purchase“; Romaniuk, Dawes &amp; Faghidno (2021).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Category Entry Points: Kaufanlässe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CEP card 1"/>
          <p:cNvSpPr/>
          <p:nvPr/>
        </p:nvSpPr>
        <p:spPr>
          <a:xfrm>
            <a:off x="457200"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EP band 1"/>
          <p:cNvSpPr/>
          <p:nvPr/>
        </p:nvSpPr>
        <p:spPr>
          <a:xfrm>
            <a:off x="457200"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EP heading 1"/>
          <p:cNvSpPr txBox="1"/>
          <p:nvPr/>
        </p:nvSpPr>
        <p:spPr>
          <a:xfrm>
            <a:off x="548640" y="12801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Warum</a:t>
            </a:r>
          </a:p>
        </p:txBody>
      </p:sp>
      <p:sp>
        <p:nvSpPr>
          <p:cNvPr id="9" name="CEP example 1"/>
          <p:cNvSpPr txBox="1"/>
          <p:nvPr/>
        </p:nvSpPr>
        <p:spPr>
          <a:xfrm>
            <a:off x="548640" y="17373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zum Wachwerden, zum Feiern</a:t>
            </a:r>
          </a:p>
        </p:txBody>
      </p:sp>
      <p:sp>
        <p:nvSpPr>
          <p:cNvPr id="10" name="CEP card 2"/>
          <p:cNvSpPr/>
          <p:nvPr/>
        </p:nvSpPr>
        <p:spPr>
          <a:xfrm>
            <a:off x="2555748"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EP band 2"/>
          <p:cNvSpPr/>
          <p:nvPr/>
        </p:nvSpPr>
        <p:spPr>
          <a:xfrm>
            <a:off x="2555748"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EP heading 2"/>
          <p:cNvSpPr txBox="1"/>
          <p:nvPr/>
        </p:nvSpPr>
        <p:spPr>
          <a:xfrm>
            <a:off x="2647188" y="12801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Wann</a:t>
            </a:r>
          </a:p>
        </p:txBody>
      </p:sp>
      <p:sp>
        <p:nvSpPr>
          <p:cNvPr id="13" name="CEP example 2"/>
          <p:cNvSpPr txBox="1"/>
          <p:nvPr/>
        </p:nvSpPr>
        <p:spPr>
          <a:xfrm>
            <a:off x="2647188" y="17373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Montagfrüh, Weihnachten</a:t>
            </a:r>
          </a:p>
        </p:txBody>
      </p:sp>
      <p:sp>
        <p:nvSpPr>
          <p:cNvPr id="14" name="CEP card 3"/>
          <p:cNvSpPr/>
          <p:nvPr/>
        </p:nvSpPr>
        <p:spPr>
          <a:xfrm>
            <a:off x="4654296"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EP band 3"/>
          <p:cNvSpPr/>
          <p:nvPr/>
        </p:nvSpPr>
        <p:spPr>
          <a:xfrm>
            <a:off x="4654296"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P heading 3"/>
          <p:cNvSpPr txBox="1"/>
          <p:nvPr/>
        </p:nvSpPr>
        <p:spPr>
          <a:xfrm>
            <a:off x="4745736" y="12801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Wo</a:t>
            </a:r>
          </a:p>
        </p:txBody>
      </p:sp>
      <p:sp>
        <p:nvSpPr>
          <p:cNvPr id="17" name="CEP example 3"/>
          <p:cNvSpPr txBox="1"/>
          <p:nvPr/>
        </p:nvSpPr>
        <p:spPr>
          <a:xfrm>
            <a:off x="4745736" y="17373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im Büro, auf der Skihütte</a:t>
            </a:r>
          </a:p>
        </p:txBody>
      </p:sp>
      <p:sp>
        <p:nvSpPr>
          <p:cNvPr id="18" name="CEP card 4"/>
          <p:cNvSpPr/>
          <p:nvPr/>
        </p:nvSpPr>
        <p:spPr>
          <a:xfrm>
            <a:off x="6752844"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P band 4"/>
          <p:cNvSpPr/>
          <p:nvPr/>
        </p:nvSpPr>
        <p:spPr>
          <a:xfrm>
            <a:off x="6752844"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EP heading 4"/>
          <p:cNvSpPr txBox="1"/>
          <p:nvPr/>
        </p:nvSpPr>
        <p:spPr>
          <a:xfrm>
            <a:off x="6844284" y="12801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Mit wem</a:t>
            </a:r>
          </a:p>
        </p:txBody>
      </p:sp>
      <p:sp>
        <p:nvSpPr>
          <p:cNvPr id="21" name="CEP example 4"/>
          <p:cNvSpPr txBox="1"/>
          <p:nvPr/>
        </p:nvSpPr>
        <p:spPr>
          <a:xfrm>
            <a:off x="6844284" y="17373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Freunde, Kinder, allein</a:t>
            </a:r>
          </a:p>
        </p:txBody>
      </p:sp>
      <p:sp>
        <p:nvSpPr>
          <p:cNvPr id="22" name="CEP card 5"/>
          <p:cNvSpPr/>
          <p:nvPr/>
        </p:nvSpPr>
        <p:spPr>
          <a:xfrm>
            <a:off x="457200"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P band 5"/>
          <p:cNvSpPr/>
          <p:nvPr/>
        </p:nvSpPr>
        <p:spPr>
          <a:xfrm>
            <a:off x="457200"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EP heading 5"/>
          <p:cNvSpPr txBox="1"/>
          <p:nvPr/>
        </p:nvSpPr>
        <p:spPr>
          <a:xfrm>
            <a:off x="548640" y="26517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Wozu</a:t>
            </a:r>
          </a:p>
        </p:txBody>
      </p:sp>
      <p:sp>
        <p:nvSpPr>
          <p:cNvPr id="25" name="CEP example 5"/>
          <p:cNvSpPr txBox="1"/>
          <p:nvPr/>
        </p:nvSpPr>
        <p:spPr>
          <a:xfrm>
            <a:off x="548640" y="31089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zum Frühstück, zur Pizza</a:t>
            </a:r>
          </a:p>
        </p:txBody>
      </p:sp>
      <p:sp>
        <p:nvSpPr>
          <p:cNvPr id="26" name="CEP card 6"/>
          <p:cNvSpPr/>
          <p:nvPr/>
        </p:nvSpPr>
        <p:spPr>
          <a:xfrm>
            <a:off x="2555748"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P band 6"/>
          <p:cNvSpPr/>
          <p:nvPr/>
        </p:nvSpPr>
        <p:spPr>
          <a:xfrm>
            <a:off x="2555748"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P heading 6"/>
          <p:cNvSpPr txBox="1"/>
          <p:nvPr/>
        </p:nvSpPr>
        <p:spPr>
          <a:xfrm>
            <a:off x="2647188" y="26517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Während</a:t>
            </a:r>
          </a:p>
        </p:txBody>
      </p:sp>
      <p:sp>
        <p:nvSpPr>
          <p:cNvPr id="29" name="CEP example 6"/>
          <p:cNvSpPr txBox="1"/>
          <p:nvPr/>
        </p:nvSpPr>
        <p:spPr>
          <a:xfrm>
            <a:off x="2647188" y="31089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Lernen, Autofahren</a:t>
            </a:r>
          </a:p>
        </p:txBody>
      </p:sp>
      <p:sp>
        <p:nvSpPr>
          <p:cNvPr id="30" name="CEP card 7"/>
          <p:cNvSpPr/>
          <p:nvPr/>
        </p:nvSpPr>
        <p:spPr>
          <a:xfrm>
            <a:off x="4654296"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P band 7"/>
          <p:cNvSpPr/>
          <p:nvPr/>
        </p:nvSpPr>
        <p:spPr>
          <a:xfrm>
            <a:off x="4654296"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P heading 7"/>
          <p:cNvSpPr txBox="1"/>
          <p:nvPr/>
        </p:nvSpPr>
        <p:spPr>
          <a:xfrm>
            <a:off x="4745736" y="2651760"/>
            <a:ext cx="1751076" cy="384048"/>
          </a:xfrm>
          <a:prstGeom prst="rect">
            <a:avLst/>
          </a:prstGeom>
          <a:noFill/>
        </p:spPr>
        <p:txBody>
          <a:bodyPr wrap="square" lIns="36576" rIns="36576" tIns="18288" bIns="18288" anchor="ctr">
            <a:spAutoFit/>
          </a:bodyPr>
          <a:lstStyle/>
          <a:p>
            <a:pPr algn="l">
              <a:spcAft>
                <a:spcPts val="0"/>
              </a:spcAft>
            </a:pPr>
            <a:r>
              <a:rPr lang="de-AT" sz="1400" b="1" i="0">
                <a:solidFill>
                  <a:schemeClr val="bg1"/>
                </a:solidFill>
                <a:latin typeface="+mj-lt"/>
              </a:rPr>
              <a:t>Stimmung</a:t>
            </a:r>
          </a:p>
        </p:txBody>
      </p:sp>
      <p:sp>
        <p:nvSpPr>
          <p:cNvPr id="33" name="CEP example 7"/>
          <p:cNvSpPr txBox="1"/>
          <p:nvPr/>
        </p:nvSpPr>
        <p:spPr>
          <a:xfrm>
            <a:off x="4745736" y="3108960"/>
            <a:ext cx="1751076" cy="731520"/>
          </a:xfrm>
          <a:prstGeom prst="rect">
            <a:avLst/>
          </a:prstGeom>
          <a:noFill/>
        </p:spPr>
        <p:txBody>
          <a:bodyPr wrap="square" lIns="36576" rIns="36576" tIns="18288" bIns="18288" anchor="t">
            <a:spAutoFit/>
          </a:bodyPr>
          <a:lstStyle/>
          <a:p>
            <a:pPr algn="l">
              <a:spcAft>
                <a:spcPts val="600"/>
              </a:spcAft>
            </a:pPr>
            <a:r>
              <a:rPr lang="de-AT" sz="1200" b="0" i="0">
                <a:solidFill>
                  <a:schemeClr val="tx1"/>
                </a:solidFill>
              </a:rPr>
              <a:t>müde, festlich, gestresst</a:t>
            </a:r>
          </a:p>
        </p:txBody>
      </p:sp>
      <p:sp>
        <p:nvSpPr>
          <p:cNvPr id="34" name="CEP goal"/>
          <p:cNvSpPr/>
          <p:nvPr/>
        </p:nvSpPr>
        <p:spPr>
          <a:xfrm>
            <a:off x="6752844" y="2651760"/>
            <a:ext cx="1933956" cy="120700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P goal text"/>
          <p:cNvSpPr txBox="1"/>
          <p:nvPr/>
        </p:nvSpPr>
        <p:spPr>
          <a:xfrm>
            <a:off x="6844284" y="2697480"/>
            <a:ext cx="1751076" cy="1115568"/>
          </a:xfrm>
          <a:prstGeom prst="rect">
            <a:avLst/>
          </a:prstGeom>
          <a:noFill/>
        </p:spPr>
        <p:txBody>
          <a:bodyPr wrap="square" lIns="36576" rIns="36576" tIns="18288" bIns="18288" anchor="ctr">
            <a:spAutoFit/>
          </a:bodyPr>
          <a:lstStyle/>
          <a:p>
            <a:pPr algn="l">
              <a:spcAft>
                <a:spcPts val="600"/>
              </a:spcAft>
            </a:pPr>
            <a:r>
              <a:rPr lang="de-AT" sz="1200" b="1" i="0">
                <a:solidFill>
                  <a:schemeClr val="bg1"/>
                </a:solidFill>
              </a:rPr>
              <a:t>Ziel: die Marke mit mehr Entry Points verknüpfen, bei mehr Käufer:innen</a:t>
            </a:r>
          </a:p>
        </p:txBody>
      </p:sp>
      <p:sp>
        <p:nvSpPr>
          <p:cNvPr id="36" name="Source note"/>
          <p:cNvSpPr txBox="1"/>
          <p:nvPr/>
        </p:nvSpPr>
        <p:spPr>
          <a:xfrm>
            <a:off x="457200" y="406908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Beispiele für eine Kaffee- oder Energydrink-Marke. Romaniuk (2022); LinkedIn B2B Institute, Category Entry Points in a B2B World.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4 von 6 · erkannt schlägt anders</a:t>
            </a:r>
          </a:p>
        </p:txBody>
      </p:sp>
      <p:sp>
        <p:nvSpPr>
          <p:cNvPr id="3" name="Title 2"/>
          <p:cNvSpPr>
            <a:spLocks noGrp="1"/>
          </p:cNvSpPr>
          <p:nvPr>
            <p:ph type="ctrTitle"/>
          </p:nvPr>
        </p:nvSpPr>
        <p:spPr/>
        <p:txBody>
          <a:bodyPr/>
          <a:lstStyle/>
          <a:p>
            <a:r>
              <a:rPr lang="de-AT"/>
              <a:t>Unverwechselbare Marken</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Distinctiveness vor Differenzierung</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Differentiation body"/>
          <p:cNvSpPr/>
          <p:nvPr/>
        </p:nvSpPr>
        <p:spPr>
          <a:xfrm>
            <a:off x="457200" y="1280160"/>
            <a:ext cx="403250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fferentiation band"/>
          <p:cNvSpPr/>
          <p:nvPr/>
        </p:nvSpPr>
        <p:spPr>
          <a:xfrm>
            <a:off x="457200"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fferentiation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Differenzierung</a:t>
            </a:r>
          </a:p>
        </p:txBody>
      </p:sp>
      <p:pic>
        <p:nvPicPr>
          <p:cNvPr id="9" name="Icon LuScale" descr="LuScale-white.png"/>
          <p:cNvPicPr>
            <a:picLocks noChangeAspect="1"/>
          </p:cNvPicPr>
          <p:nvPr/>
        </p:nvPicPr>
        <p:blipFill>
          <a:blip r:embed="rId2"/>
          <a:stretch>
            <a:fillRect/>
          </a:stretch>
        </p:blipFill>
        <p:spPr>
          <a:xfrm>
            <a:off x="4059936" y="1344168"/>
            <a:ext cx="329184" cy="329184"/>
          </a:xfrm>
          <a:prstGeom prst="rect">
            <a:avLst/>
          </a:prstGeom>
        </p:spPr>
      </p:pic>
      <p:sp>
        <p:nvSpPr>
          <p:cNvPr id="10" name="Differentiation text"/>
          <p:cNvSpPr txBox="1"/>
          <p:nvPr/>
        </p:nvSpPr>
        <p:spPr>
          <a:xfrm>
            <a:off x="594360" y="1847088"/>
            <a:ext cx="3758184" cy="1444751"/>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Idee: </a:t>
            </a:r>
            <a:r>
              <a:rPr lang="de-AT" sz="1300" b="0" i="0">
                <a:solidFill>
                  <a:schemeClr val="tx1"/>
                </a:solidFill>
              </a:rPr>
              <a:t>ein relevanter Unterschied liefert einen Grund, die Marke vorzuziehen</a:t>
            </a:r>
          </a:p>
          <a:p>
            <a:pPr algn="l">
              <a:spcAft>
                <a:spcPts val="700"/>
              </a:spcAft>
            </a:pPr>
            <a:r>
              <a:rPr lang="de-AT" sz="1300" b="1" i="0">
                <a:solidFill>
                  <a:schemeClr val="tx1"/>
                </a:solidFill>
              </a:rPr>
              <a:t>Evidenz: </a:t>
            </a:r>
            <a:r>
              <a:rPr lang="de-AT" sz="1300" b="0" i="0">
                <a:solidFill>
                  <a:schemeClr val="tx1"/>
                </a:solidFill>
              </a:rPr>
              <a:t>wenige Käufer:innen sehen Konkurrenzmarken als verschieden; Imageprofile gleichen sich, wenn man die Größe berücksichtigt</a:t>
            </a:r>
          </a:p>
        </p:txBody>
      </p:sp>
      <p:sp>
        <p:nvSpPr>
          <p:cNvPr id="11" name="Distinctiveness body"/>
          <p:cNvSpPr/>
          <p:nvPr/>
        </p:nvSpPr>
        <p:spPr>
          <a:xfrm>
            <a:off x="4654296" y="1280160"/>
            <a:ext cx="403250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stinctivenes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stinctivenes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Distinctiveness</a:t>
            </a:r>
          </a:p>
        </p:txBody>
      </p:sp>
      <p:pic>
        <p:nvPicPr>
          <p:cNvPr id="14" name="Icon LuFingerprint" descr="LuFingerprint-white.png"/>
          <p:cNvPicPr>
            <a:picLocks noChangeAspect="1"/>
          </p:cNvPicPr>
          <p:nvPr/>
        </p:nvPicPr>
        <p:blipFill>
          <a:blip r:embed="rId3"/>
          <a:stretch>
            <a:fillRect/>
          </a:stretch>
        </p:blipFill>
        <p:spPr>
          <a:xfrm>
            <a:off x="8257031" y="1344168"/>
            <a:ext cx="329184" cy="329184"/>
          </a:xfrm>
          <a:prstGeom prst="rect">
            <a:avLst/>
          </a:prstGeom>
        </p:spPr>
      </p:pic>
      <p:sp>
        <p:nvSpPr>
          <p:cNvPr id="15" name="Distinctiveness text"/>
          <p:cNvSpPr txBox="1"/>
          <p:nvPr/>
        </p:nvSpPr>
        <p:spPr>
          <a:xfrm>
            <a:off x="4791456" y="1847088"/>
            <a:ext cx="3758184" cy="1444751"/>
          </a:xfrm>
          <a:prstGeom prst="rect">
            <a:avLst/>
          </a:prstGeom>
          <a:noFill/>
        </p:spPr>
        <p:txBody>
          <a:bodyPr wrap="square" lIns="36576" rIns="36576" tIns="18288" bIns="18288" anchor="t">
            <a:spAutoFit/>
          </a:bodyPr>
          <a:lstStyle/>
          <a:p>
            <a:pPr algn="l">
              <a:spcAft>
                <a:spcPts val="700"/>
              </a:spcAft>
            </a:pPr>
            <a:r>
              <a:rPr lang="de-AT" sz="1300" b="1" i="0">
                <a:solidFill>
                  <a:schemeClr val="tx1"/>
                </a:solidFill>
              </a:rPr>
              <a:t>Idee: </a:t>
            </a:r>
            <a:r>
              <a:rPr lang="de-AT" sz="1300" b="0" i="0">
                <a:solidFill>
                  <a:schemeClr val="tx1"/>
                </a:solidFill>
              </a:rPr>
              <a:t>Branding, das die Marke erkennbar macht, ohne den Namen zu lesen</a:t>
            </a:r>
          </a:p>
          <a:p>
            <a:pPr algn="l">
              <a:spcAft>
                <a:spcPts val="700"/>
              </a:spcAft>
            </a:pPr>
            <a:r>
              <a:rPr lang="de-AT" sz="1300" b="1" i="0">
                <a:solidFill>
                  <a:schemeClr val="tx1"/>
                </a:solidFill>
              </a:rPr>
              <a:t>Assets: </a:t>
            </a:r>
            <a:r>
              <a:rPr lang="de-AT" sz="1300" b="0" i="0">
                <a:solidFill>
                  <a:schemeClr val="tx1"/>
                </a:solidFill>
              </a:rPr>
              <a:t>Farben, Logos, Formen, Figuren, Slogans, Sound-Logos, Schriften</a:t>
            </a:r>
          </a:p>
        </p:txBody>
      </p:sp>
      <p:sp>
        <p:nvSpPr>
          <p:cNvPr id="16" name="Source note"/>
          <p:cNvSpPr txBox="1"/>
          <p:nvPr/>
        </p:nvSpPr>
        <p:spPr>
          <a:xfrm>
            <a:off x="457200" y="429768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Ehrenberg, Barnard &amp; Scriven (1997); Romaniuk, Sharp &amp; Ehrenberg (2007); Romaniuk &amp; Gaillard (2007); Romaniuk &amp; Ehrenberg (2012).</a:t>
            </a:r>
          </a:p>
        </p:txBody>
      </p:sp>
      <p:sp>
        <p:nvSpPr>
          <p:cNvPr id="17" name="Branding job"/>
          <p:cNvSpPr/>
          <p:nvPr/>
        </p:nvSpPr>
        <p:spPr>
          <a:xfrm>
            <a:off x="457200" y="35661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randing job text"/>
          <p:cNvSpPr txBox="1"/>
          <p:nvPr/>
        </p:nvSpPr>
        <p:spPr>
          <a:xfrm>
            <a:off x="640080" y="356616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Erste Aufgabe: </a:t>
            </a:r>
            <a:r>
              <a:rPr lang="de-AT" sz="1300" b="0" i="0">
                <a:solidFill>
                  <a:schemeClr val="bg1"/>
                </a:solidFill>
              </a:rPr>
              <a:t>auffallen und erkannt werden; Sympathie kommt später.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Bekanntheit × Einzigartigkeit</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Quadrant Avoid solo use"/>
          <p:cNvSpPr/>
          <p:nvPr/>
        </p:nvSpPr>
        <p:spPr>
          <a:xfrm>
            <a:off x="1920240" y="123444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uadrant heading Avoid solo use"/>
          <p:cNvSpPr txBox="1"/>
          <p:nvPr/>
        </p:nvSpPr>
        <p:spPr>
          <a:xfrm>
            <a:off x="2057400" y="132588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tx2"/>
                </a:solidFill>
                <a:latin typeface="+mj-lt"/>
              </a:rPr>
              <a:t>Nicht allein verwenden</a:t>
            </a:r>
          </a:p>
        </p:txBody>
      </p:sp>
      <p:sp>
        <p:nvSpPr>
          <p:cNvPr id="8" name="Quadrant text Avoid solo use"/>
          <p:cNvSpPr txBox="1"/>
          <p:nvPr/>
        </p:nvSpPr>
        <p:spPr>
          <a:xfrm>
            <a:off x="2057400" y="178308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Bekannt, aber mit Konkurrenz geteilt: immer mit dem Namen zeigen</a:t>
            </a:r>
          </a:p>
        </p:txBody>
      </p:sp>
      <p:sp>
        <p:nvSpPr>
          <p:cNvPr id="9" name="Quadrant Use or lose"/>
          <p:cNvSpPr/>
          <p:nvPr/>
        </p:nvSpPr>
        <p:spPr>
          <a:xfrm>
            <a:off x="4892040" y="1234440"/>
            <a:ext cx="288036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uadrant heading Use or lose"/>
          <p:cNvSpPr txBox="1"/>
          <p:nvPr/>
        </p:nvSpPr>
        <p:spPr>
          <a:xfrm>
            <a:off x="5029200" y="132588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bg1"/>
                </a:solidFill>
                <a:latin typeface="+mj-lt"/>
              </a:rPr>
              <a:t>Nutzen oder verlieren</a:t>
            </a:r>
          </a:p>
        </p:txBody>
      </p:sp>
      <p:sp>
        <p:nvSpPr>
          <p:cNvPr id="11" name="Quadrant text Use or lose"/>
          <p:cNvSpPr txBox="1"/>
          <p:nvPr/>
        </p:nvSpPr>
        <p:spPr>
          <a:xfrm>
            <a:off x="5029200" y="178308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bg1"/>
                </a:solidFill>
              </a:rPr>
              <a:t>Bekannt und einzigartig: konsequent nutzen, schützen</a:t>
            </a:r>
          </a:p>
        </p:txBody>
      </p:sp>
      <p:sp>
        <p:nvSpPr>
          <p:cNvPr id="12" name="Quadrant Ignore or test"/>
          <p:cNvSpPr/>
          <p:nvPr/>
        </p:nvSpPr>
        <p:spPr>
          <a:xfrm>
            <a:off x="1920240" y="292608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Quadrant heading Ignore or test"/>
          <p:cNvSpPr txBox="1"/>
          <p:nvPr/>
        </p:nvSpPr>
        <p:spPr>
          <a:xfrm>
            <a:off x="2057400" y="301752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tx2"/>
                </a:solidFill>
                <a:latin typeface="+mj-lt"/>
              </a:rPr>
              <a:t>Ignorieren oder testen</a:t>
            </a:r>
          </a:p>
        </p:txBody>
      </p:sp>
      <p:sp>
        <p:nvSpPr>
          <p:cNvPr id="14" name="Quadrant text Ignore or test"/>
          <p:cNvSpPr txBox="1"/>
          <p:nvPr/>
        </p:nvSpPr>
        <p:spPr>
          <a:xfrm>
            <a:off x="2057400" y="347472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tx1"/>
                </a:solidFill>
              </a:rPr>
              <a:t>Weder bekannt noch einzigartig: weglassen oder weiter testen</a:t>
            </a:r>
          </a:p>
        </p:txBody>
      </p:sp>
      <p:sp>
        <p:nvSpPr>
          <p:cNvPr id="15" name="Quadrant Investment potential"/>
          <p:cNvSpPr/>
          <p:nvPr/>
        </p:nvSpPr>
        <p:spPr>
          <a:xfrm>
            <a:off x="4892040" y="2926080"/>
            <a:ext cx="2880360" cy="1600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Quadrant heading Investment potential"/>
          <p:cNvSpPr txBox="1"/>
          <p:nvPr/>
        </p:nvSpPr>
        <p:spPr>
          <a:xfrm>
            <a:off x="5029200" y="3017520"/>
            <a:ext cx="2606040" cy="411480"/>
          </a:xfrm>
          <a:prstGeom prst="rect">
            <a:avLst/>
          </a:prstGeom>
          <a:noFill/>
        </p:spPr>
        <p:txBody>
          <a:bodyPr wrap="square" lIns="36576" rIns="36576" tIns="18288" bIns="18288" anchor="t">
            <a:spAutoFit/>
          </a:bodyPr>
          <a:lstStyle/>
          <a:p>
            <a:pPr algn="l">
              <a:spcAft>
                <a:spcPts val="600"/>
              </a:spcAft>
            </a:pPr>
            <a:r>
              <a:rPr lang="de-AT" sz="1500" b="1" i="0">
                <a:solidFill>
                  <a:schemeClr val="bg1"/>
                </a:solidFill>
                <a:latin typeface="+mj-lt"/>
              </a:rPr>
              <a:t>Investitionspotenzial</a:t>
            </a:r>
          </a:p>
        </p:txBody>
      </p:sp>
      <p:sp>
        <p:nvSpPr>
          <p:cNvPr id="17" name="Quadrant text Investment potential"/>
          <p:cNvSpPr txBox="1"/>
          <p:nvPr/>
        </p:nvSpPr>
        <p:spPr>
          <a:xfrm>
            <a:off x="5029200" y="3474720"/>
            <a:ext cx="2606040" cy="960120"/>
          </a:xfrm>
          <a:prstGeom prst="rect">
            <a:avLst/>
          </a:prstGeom>
          <a:noFill/>
        </p:spPr>
        <p:txBody>
          <a:bodyPr wrap="square" lIns="36576" rIns="36576" tIns="18288" bIns="18288" anchor="t">
            <a:spAutoFit/>
          </a:bodyPr>
          <a:lstStyle/>
          <a:p>
            <a:pPr algn="l">
              <a:spcAft>
                <a:spcPts val="600"/>
              </a:spcAft>
            </a:pPr>
            <a:r>
              <a:rPr lang="de-AT" sz="1300" b="0" i="0">
                <a:solidFill>
                  <a:schemeClr val="bg1"/>
                </a:solidFill>
              </a:rPr>
              <a:t>Einzigartig, noch nicht bekannt: durch konsequenten Einsatz aufbauen</a:t>
            </a:r>
          </a:p>
        </p:txBody>
      </p:sp>
      <p:sp>
        <p:nvSpPr>
          <p:cNvPr id="18" name="Axis fame"/>
          <p:cNvSpPr txBox="1"/>
          <p:nvPr/>
        </p:nvSpPr>
        <p:spPr>
          <a:xfrm>
            <a:off x="457200" y="2423160"/>
            <a:ext cx="1371600" cy="914400"/>
          </a:xfrm>
          <a:prstGeom prst="rect">
            <a:avLst/>
          </a:prstGeom>
          <a:noFill/>
        </p:spPr>
        <p:txBody>
          <a:bodyPr wrap="square" lIns="36576" rIns="36576" tIns="18288" bIns="18288" anchor="ctr">
            <a:spAutoFit/>
          </a:bodyPr>
          <a:lstStyle/>
          <a:p>
            <a:pPr algn="r">
              <a:spcAft>
                <a:spcPts val="600"/>
              </a:spcAft>
            </a:pPr>
            <a:r>
              <a:rPr lang="de-AT" sz="1100" b="0" i="0">
                <a:solidFill>
                  <a:srgbClr val="595959"/>
                </a:solidFill>
              </a:rPr>
              <a:t>Bekanntheit: Anteil, der das Asset der Marke zuordnet</a:t>
            </a:r>
          </a:p>
        </p:txBody>
      </p:sp>
      <p:sp>
        <p:nvSpPr>
          <p:cNvPr id="19" name="Axis uniqueness"/>
          <p:cNvSpPr txBox="1"/>
          <p:nvPr/>
        </p:nvSpPr>
        <p:spPr>
          <a:xfrm>
            <a:off x="1920240" y="4572000"/>
            <a:ext cx="5852160" cy="274320"/>
          </a:xfrm>
          <a:prstGeom prst="rect">
            <a:avLst/>
          </a:prstGeom>
          <a:noFill/>
        </p:spPr>
        <p:txBody>
          <a:bodyPr wrap="square" lIns="36576" rIns="36576" tIns="18288" bIns="18288" anchor="t">
            <a:spAutoFit/>
          </a:bodyPr>
          <a:lstStyle/>
          <a:p>
            <a:pPr algn="ctr">
              <a:spcAft>
                <a:spcPts val="600"/>
              </a:spcAft>
            </a:pPr>
            <a:r>
              <a:rPr lang="de-AT" sz="1100" b="0" i="0">
                <a:solidFill>
                  <a:srgbClr val="595959"/>
                </a:solidFill>
              </a:rPr>
              <a:t>Einzigartigkeit: Anteil, der es nur dieser Marke zuordnet →</a:t>
            </a:r>
          </a:p>
        </p:txBody>
      </p:sp>
      <p:sp>
        <p:nvSpPr>
          <p:cNvPr id="20" name="Axis high"/>
          <p:cNvSpPr txBox="1"/>
          <p:nvPr/>
        </p:nvSpPr>
        <p:spPr>
          <a:xfrm>
            <a:off x="457200" y="1234440"/>
            <a:ext cx="1371600" cy="274320"/>
          </a:xfrm>
          <a:prstGeom prst="rect">
            <a:avLst/>
          </a:prstGeom>
          <a:noFill/>
        </p:spPr>
        <p:txBody>
          <a:bodyPr wrap="square" lIns="36576" rIns="36576" tIns="18288" bIns="18288" anchor="t">
            <a:spAutoFit/>
          </a:bodyPr>
          <a:lstStyle/>
          <a:p>
            <a:pPr algn="r">
              <a:spcAft>
                <a:spcPts val="600"/>
              </a:spcAft>
            </a:pPr>
            <a:r>
              <a:rPr lang="de-AT" sz="1100" b="0" i="0">
                <a:solidFill>
                  <a:srgbClr val="595959"/>
                </a:solidFill>
              </a:rPr>
              <a:t>hoch</a:t>
            </a:r>
          </a:p>
        </p:txBody>
      </p:sp>
      <p:sp>
        <p:nvSpPr>
          <p:cNvPr id="21" name="Axis low"/>
          <p:cNvSpPr txBox="1"/>
          <p:nvPr/>
        </p:nvSpPr>
        <p:spPr>
          <a:xfrm>
            <a:off x="457200" y="4251960"/>
            <a:ext cx="1371600" cy="274320"/>
          </a:xfrm>
          <a:prstGeom prst="rect">
            <a:avLst/>
          </a:prstGeom>
          <a:noFill/>
        </p:spPr>
        <p:txBody>
          <a:bodyPr wrap="square" lIns="36576" rIns="36576" tIns="18288" bIns="18288" anchor="t">
            <a:spAutoFit/>
          </a:bodyPr>
          <a:lstStyle/>
          <a:p>
            <a:pPr algn="r">
              <a:spcAft>
                <a:spcPts val="600"/>
              </a:spcAft>
            </a:pPr>
            <a:r>
              <a:rPr lang="de-AT" sz="1100" b="0" i="0">
                <a:solidFill>
                  <a:srgbClr val="595959"/>
                </a:solidFill>
              </a:rPr>
              <a:t>niedrig</a:t>
            </a:r>
          </a:p>
        </p:txBody>
      </p:sp>
      <p:sp>
        <p:nvSpPr>
          <p:cNvPr id="22" name="Source note"/>
          <p:cNvSpPr txBox="1"/>
          <p:nvPr/>
        </p:nvSpPr>
        <p:spPr>
          <a:xfrm>
            <a:off x="457200" y="489204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Romaniuk (2018) Building Distinctive Brand Assets; Brus, Hartnett &amp; Faulkner (2025) Journal of Brand Management.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Wenn Marken bekannte Assets aufgeben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Case Tropicana, 2009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Tropicana, 2009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Tropicana, 2009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Tropicana, 2009</a:t>
            </a:r>
          </a:p>
        </p:txBody>
      </p:sp>
      <p:sp>
        <p:nvSpPr>
          <p:cNvPr id="9" name="Case Tropicana, 2009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Neue Packung ohne Orange mit Strohhalm. Absatz minus 20 % vom 1. Jänner bis 22. Februar 2009; Ende Februar kam die alte Packung zurück.</a:t>
            </a:r>
          </a:p>
          <a:p>
            <a:pPr algn="l">
              <a:spcAft>
                <a:spcPts val="700"/>
              </a:spcAft>
            </a:pPr>
            <a:r>
              <a:rPr lang="de-AT" sz="1200" b="1" i="0">
                <a:solidFill>
                  <a:schemeClr val="tx2"/>
                </a:solidFill>
              </a:rPr>
              <a:t>Ein bekanntes, einzigartiges Asset ging verloren</a:t>
            </a:r>
          </a:p>
          <a:p>
            <a:pPr algn="l">
              <a:spcAft>
                <a:spcPts val="700"/>
              </a:spcAft>
            </a:pPr>
            <a:r>
              <a:rPr lang="de-AT" sz="1050" b="0" i="0">
                <a:solidFill>
                  <a:srgbClr val="595959"/>
                </a:solidFill>
              </a:rPr>
              <a:t>Ad Age/Bloomberg, 2. 4. 2009</a:t>
            </a:r>
          </a:p>
        </p:txBody>
      </p:sp>
      <p:sp>
        <p:nvSpPr>
          <p:cNvPr id="10" name="Case Gap, 2010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Gap, 2010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Gap, 2010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Gap, 2010</a:t>
            </a:r>
          </a:p>
        </p:txBody>
      </p:sp>
      <p:sp>
        <p:nvSpPr>
          <p:cNvPr id="13" name="Case Gap, 2010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Am 6. Oktober ersetzte ein neues Logo das blaue Quadrat. Nach Protesten der Kundschaft kehrte Gap am 12. Oktober zum alten Logo zurück.</a:t>
            </a:r>
          </a:p>
          <a:p>
            <a:pPr algn="l">
              <a:spcAft>
                <a:spcPts val="700"/>
              </a:spcAft>
            </a:pPr>
            <a:r>
              <a:rPr lang="de-AT" sz="1200" b="1" i="0">
                <a:solidFill>
                  <a:schemeClr val="tx2"/>
                </a:solidFill>
              </a:rPr>
              <a:t>Bekanntheit braucht Jahre, Verlust nur Tage</a:t>
            </a:r>
          </a:p>
          <a:p>
            <a:pPr algn="l">
              <a:spcAft>
                <a:spcPts val="700"/>
              </a:spcAft>
            </a:pPr>
            <a:r>
              <a:rPr lang="de-AT" sz="1050" b="0" i="0">
                <a:solidFill>
                  <a:srgbClr val="595959"/>
                </a:solidFill>
              </a:rPr>
              <a:t>CNN Money, 12. 10. 2010</a:t>
            </a:r>
          </a:p>
        </p:txBody>
      </p:sp>
      <p:sp>
        <p:nvSpPr>
          <p:cNvPr id="14" name="Case Jaguar, 2024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Jaguar, 2024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Jaguar, 2024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Jaguar, 2024</a:t>
            </a:r>
          </a:p>
        </p:txBody>
      </p:sp>
      <p:sp>
        <p:nvSpPr>
          <p:cNvPr id="17" name="Case Jaguar, 2024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„Copy Nothing“-Relaunch: neue Wortmarke, überarbeiteter Leaper. Der Launch-Film zeigte keine Autos; heftige Kritik.</a:t>
            </a:r>
          </a:p>
          <a:p>
            <a:pPr algn="l">
              <a:spcAft>
                <a:spcPts val="700"/>
              </a:spcAft>
            </a:pPr>
            <a:r>
              <a:rPr lang="de-AT" sz="1200" b="1" i="0">
                <a:solidFill>
                  <a:schemeClr val="tx2"/>
                </a:solidFill>
              </a:rPr>
              <a:t>Offener Fall: Absatzwirkung noch unklar</a:t>
            </a:r>
          </a:p>
          <a:p>
            <a:pPr algn="l">
              <a:spcAft>
                <a:spcPts val="700"/>
              </a:spcAft>
            </a:pPr>
            <a:r>
              <a:rPr lang="de-AT" sz="1050" b="0" i="0">
                <a:solidFill>
                  <a:srgbClr val="595959"/>
                </a:solidFill>
              </a:rPr>
              <a:t>AP/Boston.com, 20. 11. 2024</a:t>
            </a:r>
          </a:p>
        </p:txBody>
      </p:sp>
      <p:sp>
        <p:nvSpPr>
          <p:cNvPr id="18" name="Cases lost callout"/>
          <p:cNvSpPr/>
          <p:nvPr/>
        </p:nvSpPr>
        <p:spPr>
          <a:xfrm>
            <a:off x="457200" y="40233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ses lost callout text"/>
          <p:cNvSpPr txBox="1"/>
          <p:nvPr/>
        </p:nvSpPr>
        <p:spPr>
          <a:xfrm>
            <a:off x="640080" y="402336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Bevor Sie ein Asset ändern: </a:t>
            </a:r>
            <a:r>
              <a:rPr lang="de-AT" sz="1300" b="0" i="0">
                <a:solidFill>
                  <a:schemeClr val="bg1"/>
                </a:solidFill>
              </a:rPr>
              <a:t>Bekanntheit und Einzigartigkeit mit Käufer:innen testen.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Wenn Marken auf bekannte Assets setzen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Case Mastercard, 2019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Mastercard, 2019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Mastercard, 2019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Mastercard, 2019</a:t>
            </a:r>
          </a:p>
        </p:txBody>
      </p:sp>
      <p:sp>
        <p:nvSpPr>
          <p:cNvPr id="9" name="Case Mastercard, 2019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Name aus dem Logo gestrichen: über 80 % erkannten die Kreise ohne Schriftzug, so CMO Raja Rajamannar. Ein Sound-Logo folgte.</a:t>
            </a:r>
          </a:p>
          <a:p>
            <a:pPr algn="l">
              <a:spcAft>
                <a:spcPts val="700"/>
              </a:spcAft>
            </a:pPr>
            <a:r>
              <a:rPr lang="de-AT" sz="1200" b="1" i="0">
                <a:solidFill>
                  <a:schemeClr val="tx2"/>
                </a:solidFill>
              </a:rPr>
              <a:t>Nutzen oder verlieren, in der Praxis</a:t>
            </a:r>
          </a:p>
          <a:p>
            <a:pPr algn="l">
              <a:spcAft>
                <a:spcPts val="700"/>
              </a:spcAft>
            </a:pPr>
            <a:r>
              <a:rPr lang="de-AT" sz="1050" b="0" i="0">
                <a:solidFill>
                  <a:srgbClr val="595959"/>
                </a:solidFill>
              </a:rPr>
              <a:t>Mastercard über Finextra und Dezeen (Jänner 2019)</a:t>
            </a:r>
          </a:p>
        </p:txBody>
      </p:sp>
      <p:sp>
        <p:nvSpPr>
          <p:cNvPr id="10" name="Case Cadbury purple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Cadbury purple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Cadbury purple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Cadbury-Lila</a:t>
            </a:r>
          </a:p>
        </p:txBody>
      </p:sp>
      <p:sp>
        <p:nvSpPr>
          <p:cNvPr id="13" name="Case Cadbury purple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Dairy-Milk-Lila (Pantone 2685C) ist bekannt; 2013 lehnte der britische Court of Appeal es als Marke ab (Einspruch: Nestlé).</a:t>
            </a:r>
          </a:p>
          <a:p>
            <a:pPr algn="l">
              <a:spcAft>
                <a:spcPts val="700"/>
              </a:spcAft>
            </a:pPr>
            <a:r>
              <a:rPr lang="de-AT" sz="1200" b="1" i="0">
                <a:solidFill>
                  <a:schemeClr val="tx2"/>
                </a:solidFill>
              </a:rPr>
              <a:t>Unverwechselbar, rechtlich schwer zu schützen</a:t>
            </a:r>
          </a:p>
          <a:p>
            <a:pPr algn="l">
              <a:spcAft>
                <a:spcPts val="700"/>
              </a:spcAft>
            </a:pPr>
            <a:r>
              <a:rPr lang="de-AT" sz="1050" b="0" i="0">
                <a:solidFill>
                  <a:srgbClr val="595959"/>
                </a:solidFill>
              </a:rPr>
              <a:t>Nestlé v Cadbury [2013] EWCA Civ 1174</a:t>
            </a:r>
          </a:p>
        </p:txBody>
      </p:sp>
      <p:sp>
        <p:nvSpPr>
          <p:cNvPr id="14" name="Case Burger King, 2021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Burger King, 2021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Burger King, 2021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Burger King, 2021</a:t>
            </a:r>
          </a:p>
        </p:txBody>
      </p:sp>
      <p:sp>
        <p:nvSpPr>
          <p:cNvPr id="17" name="Case Burger King, 2021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Erstes Rebranding seit über 20 Jahren: zurück zu einem Logo nahe am Design von 1969 bis 1999, mit eigener Schrift, gestaltet von Jones Knowles Ritchie.</a:t>
            </a:r>
          </a:p>
          <a:p>
            <a:pPr algn="l">
              <a:spcAft>
                <a:spcPts val="700"/>
              </a:spcAft>
            </a:pPr>
            <a:r>
              <a:rPr lang="de-AT" sz="1200" b="1" i="0">
                <a:solidFill>
                  <a:schemeClr val="tx2"/>
                </a:solidFill>
              </a:rPr>
              <a:t>Traditions-Assets lassen sich wiederbeleben</a:t>
            </a:r>
          </a:p>
          <a:p>
            <a:pPr algn="l">
              <a:spcAft>
                <a:spcPts val="700"/>
              </a:spcAft>
            </a:pPr>
            <a:r>
              <a:rPr lang="de-AT" sz="1050" b="0" i="0">
                <a:solidFill>
                  <a:srgbClr val="595959"/>
                </a:solidFill>
              </a:rPr>
              <a:t>Campaign (2021)</a:t>
            </a:r>
          </a:p>
        </p:txBody>
      </p:sp>
      <p:sp>
        <p:nvSpPr>
          <p:cNvPr id="18" name="Cases kept callout"/>
          <p:cNvSpPr/>
          <p:nvPr/>
        </p:nvSpPr>
        <p:spPr>
          <a:xfrm>
            <a:off x="457200" y="40233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ses kept callout text"/>
          <p:cNvSpPr txBox="1"/>
          <p:nvPr/>
        </p:nvSpPr>
        <p:spPr>
          <a:xfrm>
            <a:off x="640080" y="4023360"/>
            <a:ext cx="7863840" cy="50292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Regel: </a:t>
            </a:r>
            <a:r>
              <a:rPr lang="de-AT" sz="1300" b="0" i="0">
                <a:solidFill>
                  <a:schemeClr val="bg1"/>
                </a:solidFill>
              </a:rPr>
              <a:t>Konsequenter Einsatz macht ein Asset bekannt; wo möglich, rechtlich schützen.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5 von 6 · Grenzen der Gesetze</a:t>
            </a:r>
          </a:p>
        </p:txBody>
      </p:sp>
      <p:sp>
        <p:nvSpPr>
          <p:cNvPr id="3" name="Title 2"/>
          <p:cNvSpPr>
            <a:spLocks noGrp="1"/>
          </p:cNvSpPr>
          <p:nvPr>
            <p:ph type="ctrTitle"/>
          </p:nvPr>
        </p:nvSpPr>
        <p:spPr/>
        <p:txBody>
          <a:bodyPr/>
          <a:lstStyle/>
          <a:p>
            <a:r>
              <a:rPr lang="de-AT"/>
              <a:t>Kritik und Grenzen</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Wo die Gesetze an Grenzen stoßen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Deviation 1"/>
          <p:cNvSpPr/>
          <p:nvPr/>
        </p:nvSpPr>
        <p:spPr>
          <a:xfrm>
            <a:off x="457200"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viation bar 1"/>
          <p:cNvSpPr/>
          <p:nvPr/>
        </p:nvSpPr>
        <p:spPr>
          <a:xfrm>
            <a:off x="457200"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viation text 1"/>
          <p:cNvSpPr txBox="1"/>
          <p:nvPr/>
        </p:nvSpPr>
        <p:spPr>
          <a:xfrm>
            <a:off x="640080" y="1280160"/>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Große Marken</a:t>
            </a:r>
          </a:p>
          <a:p>
            <a:pPr algn="l">
              <a:spcAft>
                <a:spcPts val="200"/>
              </a:spcAft>
            </a:pPr>
            <a:r>
              <a:rPr lang="de-AT" sz="1200" b="0" i="0">
                <a:solidFill>
                  <a:schemeClr val="tx1"/>
                </a:solidFill>
              </a:rPr>
              <a:t>Marktführer zeigen oft mehr Loyalität, als das Dirichlet-Modell vorhersagt</a:t>
            </a:r>
          </a:p>
          <a:p>
            <a:pPr algn="l">
              <a:spcAft>
                <a:spcPts val="200"/>
              </a:spcAft>
            </a:pPr>
            <a:r>
              <a:rPr lang="de-AT" sz="1050" b="0" i="0">
                <a:solidFill>
                  <a:srgbClr val="595959"/>
                </a:solidFill>
              </a:rPr>
              <a:t>Fader &amp; Schmittlein (1993)</a:t>
            </a:r>
          </a:p>
        </p:txBody>
      </p:sp>
      <p:sp>
        <p:nvSpPr>
          <p:cNvPr id="9" name="Deviation 2"/>
          <p:cNvSpPr/>
          <p:nvPr/>
        </p:nvSpPr>
        <p:spPr>
          <a:xfrm>
            <a:off x="4654296"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viation bar 2"/>
          <p:cNvSpPr/>
          <p:nvPr/>
        </p:nvSpPr>
        <p:spPr>
          <a:xfrm>
            <a:off x="4654296"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viation text 2"/>
          <p:cNvSpPr txBox="1"/>
          <p:nvPr/>
        </p:nvSpPr>
        <p:spPr>
          <a:xfrm>
            <a:off x="4837176" y="1280160"/>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Kleine Marken</a:t>
            </a:r>
          </a:p>
          <a:p>
            <a:pPr algn="l">
              <a:spcAft>
                <a:spcPts val="200"/>
              </a:spcAft>
            </a:pPr>
            <a:r>
              <a:rPr lang="de-AT" sz="1200" b="0" i="0">
                <a:solidFill>
                  <a:schemeClr val="tx1"/>
                </a:solidFill>
              </a:rPr>
              <a:t>Rund 60 % kleiner britischer FMCG-Marken liegen über 10 % unter der erwarteten Wiederkaufrate</a:t>
            </a:r>
          </a:p>
          <a:p>
            <a:pPr algn="l">
              <a:spcAft>
                <a:spcPts val="200"/>
              </a:spcAft>
            </a:pPr>
            <a:r>
              <a:rPr lang="de-AT" sz="1050" b="0" i="0">
                <a:solidFill>
                  <a:srgbClr val="595959"/>
                </a:solidFill>
              </a:rPr>
              <a:t>Franke, Bennett &amp; Graham (2018)</a:t>
            </a:r>
          </a:p>
        </p:txBody>
      </p:sp>
      <p:sp>
        <p:nvSpPr>
          <p:cNvPr id="12" name="Deviation 3"/>
          <p:cNvSpPr/>
          <p:nvPr/>
        </p:nvSpPr>
        <p:spPr>
          <a:xfrm>
            <a:off x="457200"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viation bar 3"/>
          <p:cNvSpPr/>
          <p:nvPr/>
        </p:nvSpPr>
        <p:spPr>
          <a:xfrm>
            <a:off x="457200"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viation text 3"/>
          <p:cNvSpPr txBox="1"/>
          <p:nvPr/>
        </p:nvSpPr>
        <p:spPr>
          <a:xfrm>
            <a:off x="640080" y="2487168"/>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Online-Kauf</a:t>
            </a:r>
          </a:p>
          <a:p>
            <a:pPr algn="l">
              <a:spcAft>
                <a:spcPts val="200"/>
              </a:spcAft>
            </a:pPr>
            <a:r>
              <a:rPr lang="de-AT" sz="1200" b="0" i="0">
                <a:solidFill>
                  <a:schemeClr val="tx1"/>
                </a:solidFill>
              </a:rPr>
              <a:t>Große Marken gewinnen, kleine verlieren Loyalität gegenüber der Norm</a:t>
            </a:r>
          </a:p>
          <a:p>
            <a:pPr algn="l">
              <a:spcAft>
                <a:spcPts val="200"/>
              </a:spcAft>
            </a:pPr>
            <a:r>
              <a:rPr lang="de-AT" sz="1050" b="0" i="0">
                <a:solidFill>
                  <a:srgbClr val="595959"/>
                </a:solidFill>
              </a:rPr>
              <a:t>Danaher, Wilson &amp; Davis (2003)</a:t>
            </a:r>
          </a:p>
        </p:txBody>
      </p:sp>
      <p:sp>
        <p:nvSpPr>
          <p:cNvPr id="15" name="Deviation 4"/>
          <p:cNvSpPr/>
          <p:nvPr/>
        </p:nvSpPr>
        <p:spPr>
          <a:xfrm>
            <a:off x="4654296"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viation bar 4"/>
          <p:cNvSpPr/>
          <p:nvPr/>
        </p:nvSpPr>
        <p:spPr>
          <a:xfrm>
            <a:off x="4654296"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eviation text 4"/>
          <p:cNvSpPr txBox="1"/>
          <p:nvPr/>
        </p:nvSpPr>
        <p:spPr>
          <a:xfrm>
            <a:off x="4837176" y="2487168"/>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Handelsmarken</a:t>
            </a:r>
          </a:p>
          <a:p>
            <a:pPr algn="l">
              <a:spcAft>
                <a:spcPts val="200"/>
              </a:spcAft>
            </a:pPr>
            <a:r>
              <a:rPr lang="de-AT" sz="1200" b="0" i="0">
                <a:solidFill>
                  <a:schemeClr val="tx1"/>
                </a:solidFill>
              </a:rPr>
              <a:t>Eigenmarken zeigen relativ höhere Verhaltensloyalität</a:t>
            </a:r>
          </a:p>
          <a:p>
            <a:pPr algn="l">
              <a:spcAft>
                <a:spcPts val="200"/>
              </a:spcAft>
            </a:pPr>
            <a:r>
              <a:rPr lang="de-AT" sz="1050" b="0" i="0">
                <a:solidFill>
                  <a:srgbClr val="595959"/>
                </a:solidFill>
              </a:rPr>
              <a:t>Dawes (2022)</a:t>
            </a:r>
          </a:p>
        </p:txBody>
      </p:sp>
      <p:sp>
        <p:nvSpPr>
          <p:cNvPr id="18" name="Deviation 5"/>
          <p:cNvSpPr/>
          <p:nvPr/>
        </p:nvSpPr>
        <p:spPr>
          <a:xfrm>
            <a:off x="457200"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eviation bar 5"/>
          <p:cNvSpPr/>
          <p:nvPr/>
        </p:nvSpPr>
        <p:spPr>
          <a:xfrm>
            <a:off x="457200"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viation text 5"/>
          <p:cNvSpPr txBox="1"/>
          <p:nvPr/>
        </p:nvSpPr>
        <p:spPr>
          <a:xfrm>
            <a:off x="640080" y="3694176"/>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Negatives DJ</a:t>
            </a:r>
          </a:p>
          <a:p>
            <a:pPr algn="l">
              <a:spcAft>
                <a:spcPts val="200"/>
              </a:spcAft>
            </a:pPr>
            <a:r>
              <a:rPr lang="de-AT" sz="1200" b="0" i="0">
                <a:solidFill>
                  <a:schemeClr val="tx1"/>
                </a:solidFill>
              </a:rPr>
              <a:t>Große Marken ziehen online auch mehr Anti-Marken-Aktivität an</a:t>
            </a:r>
          </a:p>
          <a:p>
            <a:pPr algn="l">
              <a:spcAft>
                <a:spcPts val="200"/>
              </a:spcAft>
            </a:pPr>
            <a:r>
              <a:rPr lang="de-AT" sz="1050" b="0" i="0">
                <a:solidFill>
                  <a:srgbClr val="595959"/>
                </a:solidFill>
              </a:rPr>
              <a:t>Kucuk (2007)</a:t>
            </a:r>
          </a:p>
        </p:txBody>
      </p:sp>
      <p:sp>
        <p:nvSpPr>
          <p:cNvPr id="21" name="Deviation 6"/>
          <p:cNvSpPr/>
          <p:nvPr/>
        </p:nvSpPr>
        <p:spPr>
          <a:xfrm>
            <a:off x="4654296"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viation bar 6"/>
          <p:cNvSpPr/>
          <p:nvPr/>
        </p:nvSpPr>
        <p:spPr>
          <a:xfrm>
            <a:off x="4654296"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eviation text 6"/>
          <p:cNvSpPr txBox="1"/>
          <p:nvPr/>
        </p:nvSpPr>
        <p:spPr>
          <a:xfrm>
            <a:off x="4837176" y="3694176"/>
            <a:ext cx="3758184" cy="1005840"/>
          </a:xfrm>
          <a:prstGeom prst="rect">
            <a:avLst/>
          </a:prstGeom>
          <a:noFill/>
        </p:spPr>
        <p:txBody>
          <a:bodyPr wrap="square" lIns="36576" rIns="36576" tIns="18288" bIns="18288" anchor="t">
            <a:spAutoFit/>
          </a:bodyPr>
          <a:lstStyle/>
          <a:p>
            <a:pPr algn="l">
              <a:spcAft>
                <a:spcPts val="200"/>
              </a:spcAft>
            </a:pPr>
            <a:r>
              <a:rPr lang="de-AT" sz="1400" b="1" i="0">
                <a:solidFill>
                  <a:schemeClr val="tx2"/>
                </a:solidFill>
                <a:latin typeface="+mj-lt"/>
              </a:rPr>
              <a:t>Einstellungen</a:t>
            </a:r>
          </a:p>
          <a:p>
            <a:pPr algn="l">
              <a:spcAft>
                <a:spcPts val="200"/>
              </a:spcAft>
            </a:pPr>
            <a:r>
              <a:rPr lang="de-AT" sz="1200" b="0" i="0">
                <a:solidFill>
                  <a:schemeClr val="tx1"/>
                </a:solidFill>
              </a:rPr>
              <a:t>Einstellungsloyalität sagt spätere Verhaltensänderungen voraus</a:t>
            </a:r>
          </a:p>
          <a:p>
            <a:pPr algn="l">
              <a:spcAft>
                <a:spcPts val="200"/>
              </a:spcAft>
            </a:pPr>
            <a:r>
              <a:rPr lang="de-AT" sz="1050" b="0" i="0">
                <a:solidFill>
                  <a:srgbClr val="595959"/>
                </a:solidFill>
              </a:rPr>
              <a:t>Baldinger &amp; Rubinson (1996)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Die Debatte: Sharp, Binet &amp; Field, Ritson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graphicFrame>
        <p:nvGraphicFramePr>
          <p:cNvPr id="6" name="Debate table"/>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1280160"/>
                <a:gridCol w="3474720"/>
                <a:gridCol w="3474720"/>
              </a:tblGrid>
              <a:tr h="548640">
                <a:tc>
                  <a:txBody>
                    <a:bodyPr/>
                    <a:lstStyle/>
                    <a:p>
                      <a:r>
                        <a:rPr lang="de-AT" sz="1300" b="1">
                          <a:solidFill>
                            <a:schemeClr val="bg1"/>
                          </a:solidFill>
                        </a:rPr>
                        <a:t/>
                      </a:r>
                    </a:p>
                  </a:txBody>
                  <a:tcPr anchor="ctr">
                    <a:solidFill>
                      <a:schemeClr val="accent1"/>
                    </a:solidFill>
                  </a:tcPr>
                </a:tc>
                <a:tc>
                  <a:txBody>
                    <a:bodyPr/>
                    <a:lstStyle/>
                    <a:p>
                      <a:r>
                        <a:rPr lang="de-AT" sz="1300" b="1">
                          <a:solidFill>
                            <a:schemeClr val="bg1"/>
                          </a:solidFill>
                        </a:rPr>
                        <a:t>Breite Einigkeit</a:t>
                      </a:r>
                    </a:p>
                  </a:txBody>
                  <a:tcPr anchor="ctr">
                    <a:solidFill>
                      <a:schemeClr val="accent1"/>
                    </a:solidFill>
                  </a:tcPr>
                </a:tc>
                <a:tc>
                  <a:txBody>
                    <a:bodyPr/>
                    <a:lstStyle/>
                    <a:p>
                      <a:r>
                        <a:rPr lang="de-AT" sz="1300" b="1">
                          <a:solidFill>
                            <a:schemeClr val="bg1"/>
                          </a:solidFill>
                        </a:rPr>
                        <a:t>Offener Streit</a:t>
                      </a:r>
                    </a:p>
                  </a:txBody>
                  <a:tcPr anchor="ctr">
                    <a:solidFill>
                      <a:schemeClr val="accent1"/>
                    </a:solidFill>
                  </a:tcPr>
                </a:tc>
              </a:tr>
              <a:tr h="548640">
                <a:tc>
                  <a:txBody>
                    <a:bodyPr/>
                    <a:lstStyle/>
                    <a:p>
                      <a:r>
                        <a:rPr lang="de-AT" sz="1300" b="1">
                          <a:solidFill>
                            <a:schemeClr val="bg1"/>
                          </a:solidFill>
                        </a:rPr>
                        <a:t>Reichweite</a:t>
                      </a:r>
                    </a:p>
                  </a:txBody>
                  <a:tcPr anchor="ctr">
                    <a:solidFill>
                      <a:schemeClr val="tx2"/>
                    </a:solidFill>
                  </a:tcPr>
                </a:tc>
                <a:tc>
                  <a:txBody>
                    <a:bodyPr/>
                    <a:lstStyle/>
                    <a:p>
                      <a:r>
                        <a:rPr lang="de-AT" sz="1300">
                          <a:solidFill>
                            <a:schemeClr val="tx1"/>
                          </a:solidFill>
                        </a:rPr>
                        <a:t>Breit erreichen, präsent bleiben</a:t>
                      </a:r>
                    </a:p>
                  </a:txBody>
                  <a:tcPr anchor="ctr">
                    <a:solidFill>
                      <a:schemeClr val="bg2"/>
                    </a:solidFill>
                  </a:tcPr>
                </a:tc>
                <a:tc>
                  <a:txBody>
                    <a:bodyPr/>
                    <a:lstStyle/>
                    <a:p>
                      <a:r>
                        <a:rPr lang="de-AT" sz="1300">
                          <a:solidFill>
                            <a:schemeClr val="tx1"/>
                          </a:solidFill>
                        </a:rPr>
                        <a:t>Wie viel Targeting und Segmentierung</a:t>
                      </a:r>
                    </a:p>
                  </a:txBody>
                  <a:tcPr anchor="ctr">
                    <a:solidFill>
                      <a:schemeClr val="bg2"/>
                    </a:solidFill>
                  </a:tcPr>
                </a:tc>
              </a:tr>
              <a:tr h="548640">
                <a:tc>
                  <a:txBody>
                    <a:bodyPr/>
                    <a:lstStyle/>
                    <a:p>
                      <a:r>
                        <a:rPr lang="de-AT" sz="1300" b="1">
                          <a:solidFill>
                            <a:schemeClr val="bg1"/>
                          </a:solidFill>
                        </a:rPr>
                        <a:t>Marke</a:t>
                      </a:r>
                    </a:p>
                  </a:txBody>
                  <a:tcPr anchor="ctr">
                    <a:solidFill>
                      <a:schemeClr val="tx2"/>
                    </a:solidFill>
                  </a:tcPr>
                </a:tc>
                <a:tc>
                  <a:txBody>
                    <a:bodyPr/>
                    <a:lstStyle/>
                    <a:p>
                      <a:r>
                        <a:rPr lang="de-AT" sz="1300">
                          <a:solidFill>
                            <a:schemeClr val="tx1"/>
                          </a:solidFill>
                        </a:rPr>
                        <a:t>Markenaufbau und Assets zahlen sich aus</a:t>
                      </a:r>
                    </a:p>
                  </a:txBody>
                  <a:tcPr anchor="ctr">
                    <a:solidFill>
                      <a:schemeClr val="bg2"/>
                    </a:solidFill>
                  </a:tcPr>
                </a:tc>
                <a:tc>
                  <a:txBody>
                    <a:bodyPr/>
                    <a:lstStyle/>
                    <a:p>
                      <a:r>
                        <a:rPr lang="de-AT" sz="1300">
                          <a:solidFill>
                            <a:schemeClr val="tx1"/>
                          </a:solidFill>
                        </a:rPr>
                        <a:t>Rolle von Emotion und Positionierung</a:t>
                      </a:r>
                    </a:p>
                  </a:txBody>
                  <a:tcPr anchor="ctr">
                    <a:solidFill>
                      <a:schemeClr val="bg2"/>
                    </a:solidFill>
                  </a:tcPr>
                </a:tc>
              </a:tr>
              <a:tr h="548640">
                <a:tc>
                  <a:txBody>
                    <a:bodyPr/>
                    <a:lstStyle/>
                    <a:p>
                      <a:r>
                        <a:rPr lang="de-AT" sz="1300" b="1">
                          <a:solidFill>
                            <a:schemeClr val="bg1"/>
                          </a:solidFill>
                        </a:rPr>
                        <a:t>Loyalität</a:t>
                      </a:r>
                    </a:p>
                  </a:txBody>
                  <a:tcPr anchor="ctr">
                    <a:solidFill>
                      <a:schemeClr val="tx2"/>
                    </a:solidFill>
                  </a:tcPr>
                </a:tc>
                <a:tc>
                  <a:txBody>
                    <a:bodyPr/>
                    <a:lstStyle/>
                    <a:p>
                      <a:r>
                        <a:rPr lang="de-AT" sz="1300">
                          <a:solidFill>
                            <a:schemeClr val="tx1"/>
                          </a:solidFill>
                        </a:rPr>
                        <a:t>Neukundengewinnung treibt Wachstum</a:t>
                      </a:r>
                    </a:p>
                  </a:txBody>
                  <a:tcPr anchor="ctr">
                    <a:solidFill>
                      <a:schemeClr val="bg2"/>
                    </a:solidFill>
                  </a:tcPr>
                </a:tc>
                <a:tc>
                  <a:txBody>
                    <a:bodyPr/>
                    <a:lstStyle/>
                    <a:p>
                      <a:r>
                        <a:rPr lang="de-AT" sz="1300">
                          <a:solidFill>
                            <a:schemeClr val="tx1"/>
                          </a:solidFill>
                        </a:rPr>
                        <a:t>Ob Loyalität überhaupt ein Hebel ist</a:t>
                      </a:r>
                    </a:p>
                  </a:txBody>
                  <a:tcPr anchor="ctr">
                    <a:solidFill>
                      <a:schemeClr val="bg2"/>
                    </a:solidFill>
                  </a:tcPr>
                </a:tc>
              </a:tr>
              <a:tr h="548640">
                <a:tc>
                  <a:txBody>
                    <a:bodyPr/>
                    <a:lstStyle/>
                    <a:p>
                      <a:r>
                        <a:rPr lang="de-AT" sz="1300" b="1">
                          <a:solidFill>
                            <a:schemeClr val="bg1"/>
                          </a:solidFill>
                        </a:rPr>
                        <a:t>Regeln</a:t>
                      </a:r>
                    </a:p>
                  </a:txBody>
                  <a:tcPr anchor="ctr">
                    <a:solidFill>
                      <a:schemeClr val="tx2"/>
                    </a:solidFill>
                  </a:tcPr>
                </a:tc>
                <a:tc>
                  <a:txBody>
                    <a:bodyPr/>
                    <a:lstStyle/>
                    <a:p>
                      <a:r>
                        <a:rPr lang="de-AT" sz="1300">
                          <a:solidFill>
                            <a:schemeClr val="tx1"/>
                          </a:solidFill>
                        </a:rPr>
                        <a:t>Evidenz schlägt Meinung</a:t>
                      </a:r>
                    </a:p>
                  </a:txBody>
                  <a:tcPr anchor="ctr">
                    <a:solidFill>
                      <a:schemeClr val="bg2"/>
                    </a:solidFill>
                  </a:tcPr>
                </a:tc>
                <a:tc>
                  <a:txBody>
                    <a:bodyPr/>
                    <a:lstStyle/>
                    <a:p>
                      <a:r>
                        <a:rPr lang="de-AT" sz="1300">
                          <a:solidFill>
                            <a:schemeClr val="tx1"/>
                          </a:solidFill>
                        </a:rPr>
                        <a:t>Stellenwert von 60:40 und Share of Voice</a:t>
                      </a:r>
                    </a:p>
                  </a:txBody>
                  <a:tcPr anchor="ctr">
                    <a:solidFill>
                      <a:schemeClr val="bg2"/>
                    </a:solidFill>
                  </a:tcPr>
                </a:tc>
              </a:tr>
            </a:tbl>
          </a:graphicData>
        </a:graphic>
      </p:graphicFrame>
      <p:sp>
        <p:nvSpPr>
          <p:cNvPr id="7" name="Debate motion"/>
          <p:cNvSpPr/>
          <p:nvPr/>
        </p:nvSpPr>
        <p:spPr>
          <a:xfrm>
            <a:off x="457200" y="420624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bate motion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Debattenthese (10 Minuten): „Targeting ist Geldverschwendung.“</a:t>
            </a:r>
          </a:p>
        </p:txBody>
      </p:sp>
      <p:sp>
        <p:nvSpPr>
          <p:cNvPr id="9" name="Source note"/>
          <p:cNvSpPr txBox="1"/>
          <p:nvPr/>
        </p:nvSpPr>
        <p:spPr>
          <a:xfrm>
            <a:off x="457200" y="480060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Binet &amp; Field (2013) The Long and the Short of It; Sharp in WARC (2020); Marketing Week (2026) zur Session von Sharp und Ritson in Cannes.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de-AT"/>
              <a:t>Teil 6 von 6 · Datenlabor und Asset-Audit</a:t>
            </a:r>
          </a:p>
        </p:txBody>
      </p:sp>
      <p:sp>
        <p:nvSpPr>
          <p:cNvPr id="3" name="Title 2"/>
          <p:cNvSpPr>
            <a:spLocks noGrp="1"/>
          </p:cNvSpPr>
          <p:nvPr>
            <p:ph type="ctrTitle"/>
          </p:nvPr>
        </p:nvSpPr>
        <p:spPr/>
        <p:txBody>
          <a:bodyPr/>
          <a:lstStyle/>
          <a:p>
            <a:r>
              <a:rPr lang="de-AT"/>
              <a:t>Anwenden</a:t>
            </a:r>
          </a:p>
        </p:txBody>
      </p:sp>
      <p:sp>
        <p:nvSpPr>
          <p:cNvPr id="4" name="Footer Placeholder 3"/>
          <p:cNvSpPr>
            <a:spLocks noGrp="1"/>
          </p:cNvSpPr>
          <p:nvPr>
            <p:ph type="ftr" idx="14" sz="quarter"/>
          </p:nvPr>
        </p:nvSpPr>
        <p:spPr/>
        <p:txBody>
          <a:bodyPr/>
          <a:p>
            <a:r>
              <a:rPr lang="de-AT"/>
              <a:t>How Brands Grow | Marketing Science</a:t>
            </a:r>
          </a:p>
        </p:txBody>
      </p:sp>
      <p:sp>
        <p:nvSpPr>
          <p:cNvPr id="5" name="Slide Number Placeholder 4"/>
          <p:cNvSpPr>
            <a:spLocks noGrp="1"/>
          </p:cNvSpPr>
          <p:nvPr>
            <p:ph type="sldNum" idx="15" sz="quarter"/>
          </p:nvPr>
        </p:nvSpPr>
        <p:spPr/>
        <p:txBody>
          <a:bodyPr/>
          <a:p>
            <a:r>
              <a:rPr lang="de-AT"/>
              <a:t>SEITE </a:t>
            </a:r>
            <a:fld id="{B6F15528-21DE-4FAA-801E-634DDDAF4B2B}" type="slidenum">
              <a:rPr lang="en-GB"/>
              <a:t>‹#›</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Labor: Double Jeopardy in echten Daten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Step 1"/>
          <p:cNvSpPr/>
          <p:nvPr/>
        </p:nvSpPr>
        <p:spPr>
          <a:xfrm>
            <a:off x="457200" y="1280160"/>
            <a:ext cx="1733702"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100" b="1">
                <a:solidFill>
                  <a:schemeClr val="bg1"/>
                </a:solidFill>
              </a:rPr>
              <a:t>Daten</a:t>
            </a:r>
          </a:p>
        </p:txBody>
      </p:sp>
      <p:sp>
        <p:nvSpPr>
          <p:cNvPr id="7" name="Step 2"/>
          <p:cNvSpPr/>
          <p:nvPr/>
        </p:nvSpPr>
        <p:spPr>
          <a:xfrm>
            <a:off x="2081174"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100" b="1">
                <a:solidFill>
                  <a:schemeClr val="bg1"/>
                </a:solidFill>
              </a:rPr>
              <a:t>Säubern</a:t>
            </a:r>
          </a:p>
        </p:txBody>
      </p:sp>
      <p:sp>
        <p:nvSpPr>
          <p:cNvPr id="8" name="Step 3"/>
          <p:cNvSpPr/>
          <p:nvPr/>
        </p:nvSpPr>
        <p:spPr>
          <a:xfrm>
            <a:off x="3705148"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100" b="1">
                <a:solidFill>
                  <a:schemeClr val="bg1"/>
                </a:solidFill>
              </a:rPr>
              <a:t>Rechnen</a:t>
            </a:r>
          </a:p>
        </p:txBody>
      </p:sp>
      <p:sp>
        <p:nvSpPr>
          <p:cNvPr id="9" name="Step 4"/>
          <p:cNvSpPr/>
          <p:nvPr/>
        </p:nvSpPr>
        <p:spPr>
          <a:xfrm>
            <a:off x="5329123"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100" b="1">
                <a:solidFill>
                  <a:schemeClr val="bg1"/>
                </a:solidFill>
              </a:rPr>
              <a:t>Modell</a:t>
            </a:r>
          </a:p>
        </p:txBody>
      </p:sp>
      <p:sp>
        <p:nvSpPr>
          <p:cNvPr id="10" name="Step 5"/>
          <p:cNvSpPr/>
          <p:nvPr/>
        </p:nvSpPr>
        <p:spPr>
          <a:xfrm>
            <a:off x="6953097"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de-AT" sz="1100" b="1">
                <a:solidFill>
                  <a:schemeClr val="bg1"/>
                </a:solidFill>
              </a:rPr>
              <a:t>Deuten</a:t>
            </a:r>
          </a:p>
        </p:txBody>
      </p:sp>
      <p:sp>
        <p:nvSpPr>
          <p:cNvPr id="11" name="Lab data body"/>
          <p:cNvSpPr/>
          <p:nvPr/>
        </p:nvSpPr>
        <p:spPr>
          <a:xfrm>
            <a:off x="457200" y="1965960"/>
            <a:ext cx="329184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data band"/>
          <p:cNvSpPr/>
          <p:nvPr/>
        </p:nvSpPr>
        <p:spPr>
          <a:xfrm>
            <a:off x="457200" y="19659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data heading"/>
          <p:cNvSpPr txBox="1"/>
          <p:nvPr/>
        </p:nvSpPr>
        <p:spPr>
          <a:xfrm>
            <a:off x="566928" y="2020824"/>
            <a:ext cx="260604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Daten</a:t>
            </a:r>
          </a:p>
        </p:txBody>
      </p:sp>
      <p:pic>
        <p:nvPicPr>
          <p:cNvPr id="14" name="Icon LuDatabase" descr="LuDatabase-white.png"/>
          <p:cNvPicPr>
            <a:picLocks noChangeAspect="1"/>
          </p:cNvPicPr>
          <p:nvPr/>
        </p:nvPicPr>
        <p:blipFill>
          <a:blip r:embed="rId2"/>
          <a:stretch>
            <a:fillRect/>
          </a:stretch>
        </p:blipFill>
        <p:spPr>
          <a:xfrm>
            <a:off x="3319272" y="2029967"/>
            <a:ext cx="329184" cy="329184"/>
          </a:xfrm>
          <a:prstGeom prst="rect">
            <a:avLst/>
          </a:prstGeom>
        </p:spPr>
      </p:pic>
      <p:sp>
        <p:nvSpPr>
          <p:cNvPr id="15" name="Lab data text"/>
          <p:cNvSpPr txBox="1"/>
          <p:nvPr/>
        </p:nvSpPr>
        <p:spPr>
          <a:xfrm>
            <a:off x="594360" y="2532888"/>
            <a:ext cx="3017520" cy="1581912"/>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dunnhumby „The Complete Journey“</a:t>
            </a:r>
          </a:p>
          <a:p>
            <a:pPr algn="l">
              <a:spcAft>
                <a:spcPts val="700"/>
              </a:spcAft>
            </a:pPr>
            <a:r>
              <a:rPr lang="de-AT" sz="1200" b="0" i="0">
                <a:solidFill>
                  <a:schemeClr val="tx1"/>
                </a:solidFill>
              </a:rPr>
              <a:t>2 Jahre, 2.500 Haushalte</a:t>
            </a:r>
          </a:p>
          <a:p>
            <a:pPr algn="l">
              <a:spcAft>
                <a:spcPts val="700"/>
              </a:spcAft>
            </a:pPr>
            <a:r>
              <a:rPr lang="de-AT" sz="1200" b="0" i="0">
                <a:solidFill>
                  <a:schemeClr val="tx1"/>
                </a:solidFill>
              </a:rPr>
              <a:t>Kostenloser Download (Lizenz prüfen)</a:t>
            </a:r>
          </a:p>
          <a:p>
            <a:pPr algn="l">
              <a:spcAft>
                <a:spcPts val="700"/>
              </a:spcAft>
            </a:pPr>
            <a:r>
              <a:rPr lang="de-AT" sz="1200" b="1" i="0">
                <a:solidFill>
                  <a:schemeClr val="tx1"/>
                </a:solidFill>
              </a:rPr>
              <a:t>Alternativen: </a:t>
            </a:r>
            <a:r>
              <a:rPr lang="de-AT" sz="1200" b="0" i="0">
                <a:solidFill>
                  <a:schemeClr val="tx1"/>
                </a:solidFill>
              </a:rPr>
              <a:t>MovieLens 32M, Instacart (Kaggle)</a:t>
            </a:r>
          </a:p>
        </p:txBody>
      </p:sp>
      <p:sp>
        <p:nvSpPr>
          <p:cNvPr id="16" name="Task number 1"/>
          <p:cNvSpPr/>
          <p:nvPr/>
        </p:nvSpPr>
        <p:spPr>
          <a:xfrm>
            <a:off x="3977639" y="2011679"/>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1</a:t>
            </a:r>
          </a:p>
        </p:txBody>
      </p:sp>
      <p:sp>
        <p:nvSpPr>
          <p:cNvPr id="17" name="Task 1"/>
          <p:cNvSpPr txBox="1"/>
          <p:nvPr/>
        </p:nvSpPr>
        <p:spPr>
          <a:xfrm>
            <a:off x="4434840" y="1965960"/>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Kategorie wählen, Käufe nach Marke aggregieren</a:t>
            </a:r>
          </a:p>
        </p:txBody>
      </p:sp>
      <p:sp>
        <p:nvSpPr>
          <p:cNvPr id="18" name="Task number 2"/>
          <p:cNvSpPr/>
          <p:nvPr/>
        </p:nvSpPr>
        <p:spPr>
          <a:xfrm>
            <a:off x="3977639" y="25786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2</a:t>
            </a:r>
          </a:p>
        </p:txBody>
      </p:sp>
      <p:sp>
        <p:nvSpPr>
          <p:cNvPr id="19" name="Task 2"/>
          <p:cNvSpPr txBox="1"/>
          <p:nvPr/>
        </p:nvSpPr>
        <p:spPr>
          <a:xfrm>
            <a:off x="4434840" y="2532888"/>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Penetration, Käufe pro Käufer:in und Bedarfsdeckung berechnen</a:t>
            </a:r>
          </a:p>
        </p:txBody>
      </p:sp>
      <p:sp>
        <p:nvSpPr>
          <p:cNvPr id="20" name="Task number 3"/>
          <p:cNvSpPr/>
          <p:nvPr/>
        </p:nvSpPr>
        <p:spPr>
          <a:xfrm>
            <a:off x="3977639" y="3145535"/>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3</a:t>
            </a:r>
          </a:p>
        </p:txBody>
      </p:sp>
      <p:sp>
        <p:nvSpPr>
          <p:cNvPr id="21" name="Task 3"/>
          <p:cNvSpPr txBox="1"/>
          <p:nvPr/>
        </p:nvSpPr>
        <p:spPr>
          <a:xfrm>
            <a:off x="4434840" y="3099815"/>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Dirichlet-Modell mit dem R-Paket NBDdirichlet schätzen</a:t>
            </a:r>
          </a:p>
        </p:txBody>
      </p:sp>
      <p:sp>
        <p:nvSpPr>
          <p:cNvPr id="22" name="Task number 4"/>
          <p:cNvSpPr/>
          <p:nvPr/>
        </p:nvSpPr>
        <p:spPr>
          <a:xfrm>
            <a:off x="3977639" y="37124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4</a:t>
            </a:r>
          </a:p>
        </p:txBody>
      </p:sp>
      <p:sp>
        <p:nvSpPr>
          <p:cNvPr id="23" name="Task 4"/>
          <p:cNvSpPr txBox="1"/>
          <p:nvPr/>
        </p:nvSpPr>
        <p:spPr>
          <a:xfrm>
            <a:off x="4434840" y="3666744"/>
            <a:ext cx="425196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Double-Jeopardy-Linie zeichnen; größte Abweichung erklären</a:t>
            </a:r>
          </a:p>
        </p:txBody>
      </p:sp>
      <p:sp>
        <p:nvSpPr>
          <p:cNvPr id="24" name="Deliverable"/>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liverable text"/>
          <p:cNvSpPr txBox="1"/>
          <p:nvPr/>
        </p:nvSpPr>
        <p:spPr>
          <a:xfrm>
            <a:off x="640080" y="4343400"/>
            <a:ext cx="7863840" cy="45720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Abgabe: Grafik, Tabelle (beobachtet vs. vorhergesagt), halbe Seite Interpretation.</a:t>
            </a:r>
          </a:p>
        </p:txBody>
      </p:sp>
      <p:sp>
        <p:nvSpPr>
          <p:cNvPr id="26"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Daten: dunnhumby.com/source-files. Software: NBDdirichlet (CRAN). Methode: Ehrenberg, Uncles &amp; Goodhardt (2004).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Übung: Audit einer österreichischen Marke</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Audit number 1"/>
          <p:cNvSpPr/>
          <p:nvPr/>
        </p:nvSpPr>
        <p:spPr>
          <a:xfrm>
            <a:off x="457200" y="133502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1</a:t>
            </a:r>
          </a:p>
        </p:txBody>
      </p:sp>
      <p:sp>
        <p:nvSpPr>
          <p:cNvPr id="7" name="Audit step 1"/>
          <p:cNvSpPr txBox="1"/>
          <p:nvPr/>
        </p:nvSpPr>
        <p:spPr>
          <a:xfrm>
            <a:off x="914400" y="1280160"/>
            <a:ext cx="420624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Marke wählen: Manner, Red Bull, Almdudler oder Spar</a:t>
            </a:r>
          </a:p>
        </p:txBody>
      </p:sp>
      <p:sp>
        <p:nvSpPr>
          <p:cNvPr id="8" name="Audit number 2"/>
          <p:cNvSpPr/>
          <p:nvPr/>
        </p:nvSpPr>
        <p:spPr>
          <a:xfrm>
            <a:off x="457200" y="188366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2</a:t>
            </a:r>
          </a:p>
        </p:txBody>
      </p:sp>
      <p:sp>
        <p:nvSpPr>
          <p:cNvPr id="9" name="Audit step 2"/>
          <p:cNvSpPr txBox="1"/>
          <p:nvPr/>
        </p:nvSpPr>
        <p:spPr>
          <a:xfrm>
            <a:off x="914400" y="1828800"/>
            <a:ext cx="420624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6 bis 8 mögliche Assets auflisten: Farbe, Logo, Form, Slogan, Sound</a:t>
            </a:r>
          </a:p>
        </p:txBody>
      </p:sp>
      <p:sp>
        <p:nvSpPr>
          <p:cNvPr id="10" name="Audit number 3"/>
          <p:cNvSpPr/>
          <p:nvPr/>
        </p:nvSpPr>
        <p:spPr>
          <a:xfrm>
            <a:off x="457200" y="243230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3</a:t>
            </a:r>
          </a:p>
        </p:txBody>
      </p:sp>
      <p:sp>
        <p:nvSpPr>
          <p:cNvPr id="11" name="Audit step 3"/>
          <p:cNvSpPr txBox="1"/>
          <p:nvPr/>
        </p:nvSpPr>
        <p:spPr>
          <a:xfrm>
            <a:off x="914400" y="2377439"/>
            <a:ext cx="420624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Reverse-Recognition-Befragung mit 30+ Kategoriekäufer:innen</a:t>
            </a:r>
          </a:p>
        </p:txBody>
      </p:sp>
      <p:sp>
        <p:nvSpPr>
          <p:cNvPr id="12" name="Audit number 4"/>
          <p:cNvSpPr/>
          <p:nvPr/>
        </p:nvSpPr>
        <p:spPr>
          <a:xfrm>
            <a:off x="457200" y="298094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4</a:t>
            </a:r>
          </a:p>
        </p:txBody>
      </p:sp>
      <p:sp>
        <p:nvSpPr>
          <p:cNvPr id="13" name="Audit step 4"/>
          <p:cNvSpPr txBox="1"/>
          <p:nvPr/>
        </p:nvSpPr>
        <p:spPr>
          <a:xfrm>
            <a:off x="914400" y="2926079"/>
            <a:ext cx="420624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Bekanntheit und Einzigartigkeit berechnen; jedes Asset ins Raster eintragen</a:t>
            </a:r>
          </a:p>
        </p:txBody>
      </p:sp>
      <p:sp>
        <p:nvSpPr>
          <p:cNvPr id="14" name="Audit number 5"/>
          <p:cNvSpPr/>
          <p:nvPr/>
        </p:nvSpPr>
        <p:spPr>
          <a:xfrm>
            <a:off x="457200" y="352958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200" b="1">
                <a:solidFill>
                  <a:schemeClr val="bg1"/>
                </a:solidFill>
                <a:latin typeface="+mj-lt"/>
              </a:rPr>
              <a:t>5</a:t>
            </a:r>
          </a:p>
        </p:txBody>
      </p:sp>
      <p:sp>
        <p:nvSpPr>
          <p:cNvPr id="15" name="Audit step 5"/>
          <p:cNvSpPr txBox="1"/>
          <p:nvPr/>
        </p:nvSpPr>
        <p:spPr>
          <a:xfrm>
            <a:off x="914400" y="3474720"/>
            <a:ext cx="4206240" cy="502920"/>
          </a:xfrm>
          <a:prstGeom prst="rect">
            <a:avLst/>
          </a:prstGeom>
          <a:noFill/>
        </p:spPr>
        <p:txBody>
          <a:bodyPr wrap="square" lIns="36576" rIns="36576" tIns="18288" bIns="18288" anchor="ctr">
            <a:spAutoFit/>
          </a:bodyPr>
          <a:lstStyle/>
          <a:p>
            <a:pPr algn="l">
              <a:spcAft>
                <a:spcPts val="0"/>
              </a:spcAft>
            </a:pPr>
            <a:r>
              <a:rPr lang="de-AT" sz="1200" b="0" i="0">
                <a:solidFill>
                  <a:schemeClr val="tx1"/>
                </a:solidFill>
              </a:rPr>
              <a:t>Empfehlen: nutzen, investieren, mit Namen kombinieren oder weglassen</a:t>
            </a:r>
          </a:p>
        </p:txBody>
      </p:sp>
      <p:sp>
        <p:nvSpPr>
          <p:cNvPr id="16" name="Discussion body"/>
          <p:cNvSpPr/>
          <p:nvPr/>
        </p:nvSpPr>
        <p:spPr>
          <a:xfrm>
            <a:off x="5257800" y="1280160"/>
            <a:ext cx="342900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scussion band"/>
          <p:cNvSpPr/>
          <p:nvPr/>
        </p:nvSpPr>
        <p:spPr>
          <a:xfrm>
            <a:off x="5257800" y="1280160"/>
            <a:ext cx="342900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ussion heading"/>
          <p:cNvSpPr txBox="1"/>
          <p:nvPr/>
        </p:nvSpPr>
        <p:spPr>
          <a:xfrm>
            <a:off x="5367528" y="1335024"/>
            <a:ext cx="2743200"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Diskussion</a:t>
            </a:r>
          </a:p>
        </p:txBody>
      </p:sp>
      <p:pic>
        <p:nvPicPr>
          <p:cNvPr id="19" name="Icon LuMessagesSquare" descr="LuMessagesSquare-white.png"/>
          <p:cNvPicPr>
            <a:picLocks noChangeAspect="1"/>
          </p:cNvPicPr>
          <p:nvPr/>
        </p:nvPicPr>
        <p:blipFill>
          <a:blip r:embed="rId2"/>
          <a:stretch>
            <a:fillRect/>
          </a:stretch>
        </p:blipFill>
        <p:spPr>
          <a:xfrm>
            <a:off x="8257031" y="1344168"/>
            <a:ext cx="329184" cy="329184"/>
          </a:xfrm>
          <a:prstGeom prst="rect">
            <a:avLst/>
          </a:prstGeom>
        </p:spPr>
      </p:pic>
      <p:sp>
        <p:nvSpPr>
          <p:cNvPr id="20" name="Discussion text"/>
          <p:cNvSpPr txBox="1"/>
          <p:nvPr/>
        </p:nvSpPr>
        <p:spPr>
          <a:xfrm>
            <a:off x="5394960" y="1847088"/>
            <a:ext cx="3154680" cy="1993391"/>
          </a:xfrm>
          <a:prstGeom prst="rect">
            <a:avLst/>
          </a:prstGeom>
          <a:noFill/>
        </p:spPr>
        <p:txBody>
          <a:bodyPr wrap="square" lIns="36576" rIns="36576" tIns="18288" bIns="18288" anchor="t">
            <a:spAutoFit/>
          </a:bodyPr>
          <a:lstStyle/>
          <a:p>
            <a:pPr algn="l">
              <a:spcAft>
                <a:spcPts val="700"/>
              </a:spcAft>
            </a:pPr>
            <a:r>
              <a:rPr lang="de-AT" sz="1200" b="0" i="0">
                <a:solidFill>
                  <a:schemeClr val="tx1"/>
                </a:solidFill>
              </a:rPr>
              <a:t>Welches Asset würden Sie nie ändern, und warum?</a:t>
            </a:r>
          </a:p>
          <a:p>
            <a:pPr algn="l">
              <a:spcAft>
                <a:spcPts val="700"/>
              </a:spcAft>
            </a:pPr>
            <a:r>
              <a:rPr lang="de-AT" sz="1200" b="0" i="0">
                <a:solidFill>
                  <a:schemeClr val="tx1"/>
                </a:solidFill>
              </a:rPr>
              <a:t>Ist „Manner mag man eben“ bekannt, einzigartig oder beides?</a:t>
            </a:r>
          </a:p>
          <a:p>
            <a:pPr algn="l">
              <a:spcAft>
                <a:spcPts val="700"/>
              </a:spcAft>
            </a:pPr>
            <a:r>
              <a:rPr lang="de-AT" sz="1200" b="0" i="0">
                <a:solidFill>
                  <a:schemeClr val="tx1"/>
                </a:solidFill>
              </a:rPr>
              <a:t>Wie würden Wenigkäufer:innen antworten?</a:t>
            </a:r>
          </a:p>
        </p:txBody>
      </p:sp>
      <p:sp>
        <p:nvSpPr>
          <p:cNvPr id="21" name="Audit callout"/>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udit callout text"/>
          <p:cNvSpPr txBox="1"/>
          <p:nvPr/>
        </p:nvSpPr>
        <p:spPr>
          <a:xfrm>
            <a:off x="640080" y="4160520"/>
            <a:ext cx="7863840" cy="457200"/>
          </a:xfrm>
          <a:prstGeom prst="rect">
            <a:avLst/>
          </a:prstGeom>
          <a:noFill/>
        </p:spPr>
        <p:txBody>
          <a:bodyPr wrap="square" lIns="36576" rIns="36576" tIns="18288" bIns="18288" anchor="ctr">
            <a:spAutoFit/>
          </a:bodyPr>
          <a:lstStyle/>
          <a:p>
            <a:pPr algn="l">
              <a:spcAft>
                <a:spcPts val="0"/>
              </a:spcAft>
            </a:pPr>
            <a:r>
              <a:rPr lang="de-AT" sz="1300" b="0" i="0">
                <a:solidFill>
                  <a:schemeClr val="bg1"/>
                </a:solidFill>
              </a:rPr>
              <a:t>Arbeiten Sie zu zweit; Befragung als Hausübung, Raster zur nächsten Einheit mitbringen.</a:t>
            </a:r>
          </a:p>
        </p:txBody>
      </p:sp>
      <p:sp>
        <p:nvSpPr>
          <p:cNvPr id="23" name="Source note"/>
          <p:cNvSpPr txBox="1"/>
          <p:nvPr/>
        </p:nvSpPr>
        <p:spPr>
          <a:xfrm>
            <a:off x="457200" y="4709160"/>
            <a:ext cx="8229600" cy="320040"/>
          </a:xfrm>
          <a:prstGeom prst="rect">
            <a:avLst/>
          </a:prstGeom>
          <a:noFill/>
        </p:spPr>
        <p:txBody>
          <a:bodyPr wrap="square" lIns="36576" rIns="36576" tIns="18288" bIns="18288" anchor="t">
            <a:spAutoFit/>
          </a:bodyPr>
          <a:lstStyle/>
          <a:p>
            <a:pPr algn="l">
              <a:spcAft>
                <a:spcPts val="0"/>
              </a:spcAft>
            </a:pPr>
            <a:r>
              <a:rPr lang="de-AT" sz="1050" b="0" i="0">
                <a:solidFill>
                  <a:srgbClr val="595959"/>
                </a:solidFill>
              </a:rPr>
              <a:t>Methode: Romaniuk (2018); Ehrenberg-Bass Institute, Distinctive Asset Measurement. Slogan-Umfrage: Marketagent über Tiroler Tageszeitung.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Literatur</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References core body"/>
          <p:cNvSpPr/>
          <p:nvPr/>
        </p:nvSpPr>
        <p:spPr>
          <a:xfrm>
            <a:off x="457200"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ferences core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s core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Pflichtlektüre</a:t>
            </a:r>
          </a:p>
        </p:txBody>
      </p:sp>
      <p:pic>
        <p:nvPicPr>
          <p:cNvPr id="9" name="Icon LuGraduationCap" descr="LuGraduationCap-white.png"/>
          <p:cNvPicPr>
            <a:picLocks noChangeAspect="1"/>
          </p:cNvPicPr>
          <p:nvPr/>
        </p:nvPicPr>
        <p:blipFill>
          <a:blip r:embed="rId2"/>
          <a:stretch>
            <a:fillRect/>
          </a:stretch>
        </p:blipFill>
        <p:spPr>
          <a:xfrm>
            <a:off x="2660904" y="1298448"/>
            <a:ext cx="329184" cy="329184"/>
          </a:xfrm>
          <a:prstGeom prst="rect">
            <a:avLst/>
          </a:prstGeom>
        </p:spPr>
      </p:pic>
      <p:sp>
        <p:nvSpPr>
          <p:cNvPr id="10" name="References core text"/>
          <p:cNvSpPr txBox="1"/>
          <p:nvPr/>
        </p:nvSpPr>
        <p:spPr>
          <a:xfrm>
            <a:off x="594360"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Sharp (2010) </a:t>
            </a:r>
            <a:r>
              <a:rPr lang="de-AT" sz="1100" b="0" i="0">
                <a:solidFill>
                  <a:schemeClr val="tx1"/>
                </a:solidFill>
              </a:rPr>
              <a:t>How Brands Grow</a:t>
            </a:r>
          </a:p>
          <a:p>
            <a:pPr algn="l">
              <a:spcAft>
                <a:spcPts val="700"/>
              </a:spcAft>
            </a:pPr>
            <a:r>
              <a:rPr lang="de-AT" sz="1100" b="1" i="0">
                <a:solidFill>
                  <a:schemeClr val="tx1"/>
                </a:solidFill>
              </a:rPr>
              <a:t>Romaniuk (2018) </a:t>
            </a:r>
            <a:r>
              <a:rPr lang="de-AT" sz="1100" b="0" i="0">
                <a:solidFill>
                  <a:schemeClr val="tx1"/>
                </a:solidFill>
              </a:rPr>
              <a:t>Building Distinctive Brand Assets</a:t>
            </a:r>
          </a:p>
          <a:p>
            <a:pPr algn="l">
              <a:spcAft>
                <a:spcPts val="700"/>
              </a:spcAft>
            </a:pPr>
            <a:r>
              <a:rPr lang="de-AT" sz="1100" b="1" i="0">
                <a:solidFill>
                  <a:schemeClr val="tx1"/>
                </a:solidFill>
              </a:rPr>
              <a:t>Ehrenberg et al. (1990) </a:t>
            </a:r>
            <a:r>
              <a:rPr lang="de-AT" sz="1100" b="0" i="0">
                <a:solidFill>
                  <a:schemeClr val="tx1"/>
                </a:solidFill>
              </a:rPr>
              <a:t>Double Jeopardy revisited, J. Marketing</a:t>
            </a:r>
          </a:p>
          <a:p>
            <a:pPr algn="l">
              <a:spcAft>
                <a:spcPts val="700"/>
              </a:spcAft>
            </a:pPr>
            <a:r>
              <a:rPr lang="de-AT" sz="1100" b="1" i="0">
                <a:solidFill>
                  <a:schemeClr val="tx1"/>
                </a:solidFill>
              </a:rPr>
              <a:t>Sharp et al. (2012) </a:t>
            </a:r>
            <a:r>
              <a:rPr lang="de-AT" sz="1100" b="0" i="0">
                <a:solidFill>
                  <a:schemeClr val="tx1"/>
                </a:solidFill>
              </a:rPr>
              <a:t>It's a Dirichlet world, JAR</a:t>
            </a:r>
          </a:p>
          <a:p>
            <a:pPr algn="l">
              <a:spcAft>
                <a:spcPts val="700"/>
              </a:spcAft>
            </a:pPr>
            <a:r>
              <a:rPr lang="de-AT" sz="1100" b="1" i="0">
                <a:solidFill>
                  <a:schemeClr val="tx1"/>
                </a:solidFill>
              </a:rPr>
              <a:t>Keller &amp; Swaminathan (2020) </a:t>
            </a:r>
            <a:r>
              <a:rPr lang="de-AT" sz="1100" b="0" i="0">
                <a:solidFill>
                  <a:schemeClr val="tx1"/>
                </a:solidFill>
              </a:rPr>
              <a:t>Strategic Brand Management</a:t>
            </a:r>
          </a:p>
        </p:txBody>
      </p:sp>
      <p:sp>
        <p:nvSpPr>
          <p:cNvPr id="11" name="References extension body"/>
          <p:cNvSpPr/>
          <p:nvPr/>
        </p:nvSpPr>
        <p:spPr>
          <a:xfrm>
            <a:off x="3255264"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ferences extension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ferences extension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Vertiefung, Kritik</a:t>
            </a:r>
          </a:p>
        </p:txBody>
      </p:sp>
      <p:pic>
        <p:nvPicPr>
          <p:cNvPr id="14" name="Icon LuLibrary" descr="LuLibrary-white.png"/>
          <p:cNvPicPr>
            <a:picLocks noChangeAspect="1"/>
          </p:cNvPicPr>
          <p:nvPr/>
        </p:nvPicPr>
        <p:blipFill>
          <a:blip r:embed="rId3"/>
          <a:stretch>
            <a:fillRect/>
          </a:stretch>
        </p:blipFill>
        <p:spPr>
          <a:xfrm>
            <a:off x="5458968" y="1298448"/>
            <a:ext cx="329184" cy="329184"/>
          </a:xfrm>
          <a:prstGeom prst="rect">
            <a:avLst/>
          </a:prstGeom>
        </p:spPr>
      </p:pic>
      <p:sp>
        <p:nvSpPr>
          <p:cNvPr id="15" name="References extension text"/>
          <p:cNvSpPr txBox="1"/>
          <p:nvPr/>
        </p:nvSpPr>
        <p:spPr>
          <a:xfrm>
            <a:off x="3392424"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Romaniuk &amp; Sharp (2016) </a:t>
            </a:r>
            <a:r>
              <a:rPr lang="de-AT" sz="1100" b="0" i="0">
                <a:solidFill>
                  <a:schemeClr val="tx1"/>
                </a:solidFill>
              </a:rPr>
              <a:t>How Brands Grow Part 2</a:t>
            </a:r>
          </a:p>
          <a:p>
            <a:pPr algn="l">
              <a:spcAft>
                <a:spcPts val="700"/>
              </a:spcAft>
            </a:pPr>
            <a:r>
              <a:rPr lang="de-AT" sz="1100" b="1" i="0">
                <a:solidFill>
                  <a:schemeClr val="tx1"/>
                </a:solidFill>
              </a:rPr>
              <a:t>Romaniuk (2022) </a:t>
            </a:r>
            <a:r>
              <a:rPr lang="de-AT" sz="1100" b="0" i="0">
                <a:solidFill>
                  <a:schemeClr val="tx1"/>
                </a:solidFill>
              </a:rPr>
              <a:t>Better Brand Health</a:t>
            </a:r>
          </a:p>
          <a:p>
            <a:pPr algn="l">
              <a:spcAft>
                <a:spcPts val="700"/>
              </a:spcAft>
            </a:pPr>
            <a:r>
              <a:rPr lang="de-AT" sz="1100" b="1" i="0">
                <a:solidFill>
                  <a:schemeClr val="tx1"/>
                </a:solidFill>
              </a:rPr>
              <a:t>Binet &amp; Field (2013) </a:t>
            </a:r>
            <a:r>
              <a:rPr lang="de-AT" sz="1100" b="0" i="0">
                <a:solidFill>
                  <a:schemeClr val="tx1"/>
                </a:solidFill>
              </a:rPr>
              <a:t>The Long and the Short of It</a:t>
            </a:r>
          </a:p>
          <a:p>
            <a:pPr algn="l">
              <a:spcAft>
                <a:spcPts val="700"/>
              </a:spcAft>
            </a:pPr>
            <a:r>
              <a:rPr lang="de-AT" sz="1100" b="1" i="0">
                <a:solidFill>
                  <a:schemeClr val="tx1"/>
                </a:solidFill>
              </a:rPr>
              <a:t>Fader &amp; Schmittlein (1993) </a:t>
            </a:r>
            <a:r>
              <a:rPr lang="de-AT" sz="1100" b="0" i="0">
                <a:solidFill>
                  <a:schemeClr val="tx1"/>
                </a:solidFill>
              </a:rPr>
              <a:t>Excess behavioral loyalty, JMR</a:t>
            </a:r>
          </a:p>
          <a:p>
            <a:pPr algn="l">
              <a:spcAft>
                <a:spcPts val="700"/>
              </a:spcAft>
            </a:pPr>
            <a:r>
              <a:rPr lang="de-AT" sz="1100" b="1" i="0">
                <a:solidFill>
                  <a:schemeClr val="tx1"/>
                </a:solidFill>
              </a:rPr>
              <a:t>Graham et al. (2017) </a:t>
            </a:r>
            <a:r>
              <a:rPr lang="de-AT" sz="1100" b="0" i="0">
                <a:solidFill>
                  <a:schemeClr val="tx1"/>
                </a:solidFill>
              </a:rPr>
              <a:t>Double Jeopardy 50 years on, AMJ</a:t>
            </a:r>
          </a:p>
        </p:txBody>
      </p:sp>
      <p:sp>
        <p:nvSpPr>
          <p:cNvPr id="16" name="References industry body"/>
          <p:cNvSpPr/>
          <p:nvPr/>
        </p:nvSpPr>
        <p:spPr>
          <a:xfrm>
            <a:off x="6053328"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s industry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ferences industry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de-AT" sz="1500" b="1" i="0">
                <a:solidFill>
                  <a:schemeClr val="bg1"/>
                </a:solidFill>
                <a:latin typeface="+mj-lt"/>
              </a:rPr>
              <a:t>Praxis-Evidenz</a:t>
            </a:r>
          </a:p>
        </p:txBody>
      </p:sp>
      <p:pic>
        <p:nvPicPr>
          <p:cNvPr id="19" name="Icon LuChartColumn" descr="LuChartColumn-white.png"/>
          <p:cNvPicPr>
            <a:picLocks noChangeAspect="1"/>
          </p:cNvPicPr>
          <p:nvPr/>
        </p:nvPicPr>
        <p:blipFill>
          <a:blip r:embed="rId4"/>
          <a:stretch>
            <a:fillRect/>
          </a:stretch>
        </p:blipFill>
        <p:spPr>
          <a:xfrm>
            <a:off x="8257032" y="1298448"/>
            <a:ext cx="329184" cy="329184"/>
          </a:xfrm>
          <a:prstGeom prst="rect">
            <a:avLst/>
          </a:prstGeom>
        </p:spPr>
      </p:pic>
      <p:sp>
        <p:nvSpPr>
          <p:cNvPr id="20" name="References industry text"/>
          <p:cNvSpPr txBox="1"/>
          <p:nvPr/>
        </p:nvSpPr>
        <p:spPr>
          <a:xfrm>
            <a:off x="6190488" y="1801368"/>
            <a:ext cx="2359152" cy="2404872"/>
          </a:xfrm>
          <a:prstGeom prst="rect">
            <a:avLst/>
          </a:prstGeom>
          <a:noFill/>
        </p:spPr>
        <p:txBody>
          <a:bodyPr wrap="square" lIns="36576" rIns="36576" tIns="18288" bIns="18288" anchor="t">
            <a:spAutoFit/>
          </a:bodyPr>
          <a:lstStyle/>
          <a:p>
            <a:pPr algn="l">
              <a:spcAft>
                <a:spcPts val="700"/>
              </a:spcAft>
            </a:pPr>
            <a:r>
              <a:rPr lang="de-AT" sz="1100" b="1" i="0">
                <a:solidFill>
                  <a:schemeClr val="tx1"/>
                </a:solidFill>
              </a:rPr>
              <a:t>Kantar (2025) </a:t>
            </a:r>
            <a:r>
              <a:rPr lang="de-AT" sz="1100" b="0" i="0">
                <a:solidFill>
                  <a:schemeClr val="tx1"/>
                </a:solidFill>
              </a:rPr>
              <a:t>Brand Footprint</a:t>
            </a:r>
          </a:p>
          <a:p>
            <a:pPr algn="l">
              <a:spcAft>
                <a:spcPts val="700"/>
              </a:spcAft>
            </a:pPr>
            <a:r>
              <a:rPr lang="de-AT" sz="1100" b="1" i="0">
                <a:solidFill>
                  <a:schemeClr val="tx1"/>
                </a:solidFill>
              </a:rPr>
              <a:t>Dawes (2021) </a:t>
            </a:r>
            <a:r>
              <a:rPr lang="de-AT" sz="1100" b="0" i="0">
                <a:solidFill>
                  <a:schemeClr val="tx1"/>
                </a:solidFill>
              </a:rPr>
              <a:t>Die 95:5-Regel, LinkedIn B2B Institute</a:t>
            </a:r>
          </a:p>
          <a:p>
            <a:pPr algn="l">
              <a:spcAft>
                <a:spcPts val="700"/>
              </a:spcAft>
            </a:pPr>
            <a:r>
              <a:rPr lang="de-AT" sz="1100" b="1" i="0">
                <a:solidFill>
                  <a:schemeClr val="tx1"/>
                </a:solidFill>
              </a:rPr>
              <a:t>Ad Age / Bloomberg (2009) </a:t>
            </a:r>
            <a:r>
              <a:rPr lang="de-AT" sz="1100" b="0" i="0">
                <a:solidFill>
                  <a:schemeClr val="tx1"/>
                </a:solidFill>
              </a:rPr>
              <a:t>Tropicana-Verpackung</a:t>
            </a:r>
          </a:p>
          <a:p>
            <a:pPr algn="l">
              <a:spcAft>
                <a:spcPts val="700"/>
              </a:spcAft>
            </a:pPr>
            <a:r>
              <a:rPr lang="de-AT" sz="1100" b="1" i="0">
                <a:solidFill>
                  <a:schemeClr val="tx1"/>
                </a:solidFill>
              </a:rPr>
              <a:t>Mastercard (2019) </a:t>
            </a:r>
            <a:r>
              <a:rPr lang="de-AT" sz="1100" b="0" i="0">
                <a:solidFill>
                  <a:schemeClr val="tx1"/>
                </a:solidFill>
              </a:rPr>
              <a:t>Symbol ohne Namen</a:t>
            </a:r>
          </a:p>
          <a:p>
            <a:pPr algn="l">
              <a:spcAft>
                <a:spcPts val="700"/>
              </a:spcAft>
            </a:pPr>
            <a:r>
              <a:rPr lang="de-AT" sz="1100" b="1" i="0">
                <a:solidFill>
                  <a:schemeClr val="tx1"/>
                </a:solidFill>
              </a:rPr>
              <a:t>Nestlé v Cadbury (2013) </a:t>
            </a:r>
            <a:r>
              <a:rPr lang="de-AT" sz="1100" b="0" i="0">
                <a:solidFill>
                  <a:schemeClr val="tx1"/>
                </a:solidFill>
              </a:rPr>
              <a:t>EWCA Civ 1174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de-AT"/>
              <a:t>Kernaussagen</a:t>
            </a:r>
          </a:p>
        </p:txBody>
      </p:sp>
      <p:sp>
        <p:nvSpPr>
          <p:cNvPr id="4" name="Footer Placeholder 3"/>
          <p:cNvSpPr>
            <a:spLocks noGrp="1"/>
          </p:cNvSpPr>
          <p:nvPr>
            <p:ph type="ftr" idx="11" sz="quarter"/>
          </p:nvPr>
        </p:nvSpPr>
        <p:spPr/>
        <p:txBody>
          <a:bodyPr/>
          <a:p>
            <a:r>
              <a:rPr lang="de-AT"/>
              <a:t>How Brands Grow | Marketing Science</a:t>
            </a:r>
          </a:p>
        </p:txBody>
      </p:sp>
      <p:sp>
        <p:nvSpPr>
          <p:cNvPr id="5" name="Slide Number Placeholder 4"/>
          <p:cNvSpPr>
            <a:spLocks noGrp="1"/>
          </p:cNvSpPr>
          <p:nvPr>
            <p:ph type="sldNum" idx="12" sz="quarter"/>
          </p:nvPr>
        </p:nvSpPr>
        <p:spPr/>
        <p:txBody>
          <a:bodyPr/>
          <a:p>
            <a:r>
              <a:rPr lang="de-AT"/>
              <a:t>SEITE </a:t>
            </a:r>
            <a:fld id="{B6F15528-21DE-4FAA-801E-634DDDAF4B2B}" type="slidenum">
              <a:rPr lang="en-GB"/>
              <a:t>‹#›</a:t>
            </a:fld>
          </a:p>
        </p:txBody>
      </p:sp>
      <p:sp>
        <p:nvSpPr>
          <p:cNvPr id="6" name="Takeaway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number 1"/>
          <p:cNvSpPr/>
          <p:nvPr/>
        </p:nvSpPr>
        <p:spPr>
          <a:xfrm>
            <a:off x="566928" y="128930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1</a:t>
            </a:r>
          </a:p>
        </p:txBody>
      </p:sp>
      <p:sp>
        <p:nvSpPr>
          <p:cNvPr id="8" name="Takeaway text 1"/>
          <p:cNvSpPr txBox="1"/>
          <p:nvPr/>
        </p:nvSpPr>
        <p:spPr>
          <a:xfrm>
            <a:off x="1097280" y="1234440"/>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Marken: </a:t>
            </a:r>
            <a:r>
              <a:rPr lang="de-AT" sz="1300" b="0" i="0">
                <a:solidFill>
                  <a:schemeClr val="tx1"/>
                </a:solidFill>
              </a:rPr>
              <a:t>Elemente sind Hinweisreize; die Marke lebt im Gedächtnis.</a:t>
            </a:r>
          </a:p>
        </p:txBody>
      </p:sp>
      <p:sp>
        <p:nvSpPr>
          <p:cNvPr id="9" name="Takeaway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number 2"/>
          <p:cNvSpPr/>
          <p:nvPr/>
        </p:nvSpPr>
        <p:spPr>
          <a:xfrm>
            <a:off x="566928" y="181965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2</a:t>
            </a:r>
          </a:p>
        </p:txBody>
      </p:sp>
      <p:sp>
        <p:nvSpPr>
          <p:cNvPr id="11" name="Takeaway text 2"/>
          <p:cNvSpPr txBox="1"/>
          <p:nvPr/>
        </p:nvSpPr>
        <p:spPr>
          <a:xfrm>
            <a:off x="1097280" y="1764792"/>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Double Jeopardy: </a:t>
            </a:r>
            <a:r>
              <a:rPr lang="de-AT" sz="1300" b="0" i="0">
                <a:solidFill>
                  <a:schemeClr val="tx1"/>
                </a:solidFill>
              </a:rPr>
              <a:t>weniger Käufer:innen, etwas weniger loyal; das ist normal.</a:t>
            </a:r>
          </a:p>
        </p:txBody>
      </p:sp>
      <p:sp>
        <p:nvSpPr>
          <p:cNvPr id="12" name="Takeaway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number 3"/>
          <p:cNvSpPr/>
          <p:nvPr/>
        </p:nvSpPr>
        <p:spPr>
          <a:xfrm>
            <a:off x="566928" y="23500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3</a:t>
            </a:r>
          </a:p>
        </p:txBody>
      </p:sp>
      <p:sp>
        <p:nvSpPr>
          <p:cNvPr id="14" name="Takeaway text 3"/>
          <p:cNvSpPr txBox="1"/>
          <p:nvPr/>
        </p:nvSpPr>
        <p:spPr>
          <a:xfrm>
            <a:off x="1097280" y="2295144"/>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Duplication: </a:t>
            </a:r>
            <a:r>
              <a:rPr lang="de-AT" sz="1300" b="0" i="0">
                <a:solidFill>
                  <a:schemeClr val="tx1"/>
                </a:solidFill>
              </a:rPr>
              <a:t>Käufer:innen werden nach Größe geteilt; Partitionen sind selten.</a:t>
            </a:r>
          </a:p>
        </p:txBody>
      </p:sp>
      <p:sp>
        <p:nvSpPr>
          <p:cNvPr id="15" name="Takeaway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number 4"/>
          <p:cNvSpPr/>
          <p:nvPr/>
        </p:nvSpPr>
        <p:spPr>
          <a:xfrm>
            <a:off x="566928" y="288036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4</a:t>
            </a:r>
          </a:p>
        </p:txBody>
      </p:sp>
      <p:sp>
        <p:nvSpPr>
          <p:cNvPr id="17" name="Takeaway text 4"/>
          <p:cNvSpPr txBox="1"/>
          <p:nvPr/>
        </p:nvSpPr>
        <p:spPr>
          <a:xfrm>
            <a:off x="1097280" y="2825496"/>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Wachstum: </a:t>
            </a:r>
            <a:r>
              <a:rPr lang="de-AT" sz="1300" b="0" i="0">
                <a:solidFill>
                  <a:schemeClr val="tx1"/>
                </a:solidFill>
              </a:rPr>
              <a:t>vor allem über Penetration, mentale und physische Verfügbarkeit.</a:t>
            </a:r>
          </a:p>
        </p:txBody>
      </p:sp>
      <p:sp>
        <p:nvSpPr>
          <p:cNvPr id="18" name="Takeaway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number 5"/>
          <p:cNvSpPr/>
          <p:nvPr/>
        </p:nvSpPr>
        <p:spPr>
          <a:xfrm>
            <a:off x="566928" y="3410712"/>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5</a:t>
            </a:r>
          </a:p>
        </p:txBody>
      </p:sp>
      <p:sp>
        <p:nvSpPr>
          <p:cNvPr id="20" name="Takeaway text 5"/>
          <p:cNvSpPr txBox="1"/>
          <p:nvPr/>
        </p:nvSpPr>
        <p:spPr>
          <a:xfrm>
            <a:off x="1097280" y="3355848"/>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Distinctiveness: </a:t>
            </a:r>
            <a:r>
              <a:rPr lang="de-AT" sz="1300" b="0" i="0">
                <a:solidFill>
                  <a:schemeClr val="tx1"/>
                </a:solidFill>
              </a:rPr>
              <a:t>bekannte, einzigartige Assets aufbauen und konsequent nutzen.</a:t>
            </a:r>
          </a:p>
        </p:txBody>
      </p:sp>
      <p:sp>
        <p:nvSpPr>
          <p:cNvPr id="21" name="Takeaway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number 6"/>
          <p:cNvSpPr/>
          <p:nvPr/>
        </p:nvSpPr>
        <p:spPr>
          <a:xfrm>
            <a:off x="566928" y="39410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de-AT" sz="1300" b="1">
                <a:solidFill>
                  <a:schemeClr val="bg1"/>
                </a:solidFill>
                <a:latin typeface="+mj-lt"/>
              </a:rPr>
              <a:t>6</a:t>
            </a:r>
          </a:p>
        </p:txBody>
      </p:sp>
      <p:sp>
        <p:nvSpPr>
          <p:cNvPr id="23" name="Takeaway text 6"/>
          <p:cNvSpPr txBox="1"/>
          <p:nvPr/>
        </p:nvSpPr>
        <p:spPr>
          <a:xfrm>
            <a:off x="1097280" y="3886200"/>
            <a:ext cx="7452360" cy="457200"/>
          </a:xfrm>
          <a:prstGeom prst="rect">
            <a:avLst/>
          </a:prstGeom>
          <a:noFill/>
        </p:spPr>
        <p:txBody>
          <a:bodyPr wrap="square" lIns="36576" rIns="36576" tIns="18288" bIns="18288" anchor="ctr">
            <a:spAutoFit/>
          </a:bodyPr>
          <a:lstStyle/>
          <a:p>
            <a:pPr algn="l">
              <a:spcAft>
                <a:spcPts val="0"/>
              </a:spcAft>
            </a:pPr>
            <a:r>
              <a:rPr lang="de-AT" sz="1300" b="1" i="0">
                <a:solidFill>
                  <a:schemeClr val="tx2"/>
                </a:solidFill>
              </a:rPr>
              <a:t>Grenzen: </a:t>
            </a:r>
            <a:r>
              <a:rPr lang="de-AT" sz="1300" b="0" i="0">
                <a:solidFill>
                  <a:schemeClr val="tx1"/>
                </a:solidFill>
              </a:rPr>
              <a:t>jede Behauptung am Dirichlet-Maßstab prüfen.</a:t>
            </a:r>
          </a:p>
        </p:txBody>
      </p:sp>
      <p:sp>
        <p:nvSpPr>
          <p:cNvPr id="24" name="Next"/>
          <p:cNvSpPr/>
          <p:nvPr/>
        </p:nvSpPr>
        <p:spPr>
          <a:xfrm>
            <a:off x="457200" y="45262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ext text"/>
          <p:cNvSpPr txBox="1"/>
          <p:nvPr/>
        </p:nvSpPr>
        <p:spPr>
          <a:xfrm>
            <a:off x="640080" y="4526280"/>
            <a:ext cx="7863840" cy="457200"/>
          </a:xfrm>
          <a:prstGeom prst="rect">
            <a:avLst/>
          </a:prstGeom>
          <a:noFill/>
        </p:spPr>
        <p:txBody>
          <a:bodyPr wrap="square" lIns="36576" rIns="36576" tIns="18288" bIns="18288" anchor="ctr">
            <a:spAutoFit/>
          </a:bodyPr>
          <a:lstStyle/>
          <a:p>
            <a:pPr algn="l">
              <a:spcAft>
                <a:spcPts val="0"/>
              </a:spcAft>
            </a:pPr>
            <a:r>
              <a:rPr lang="de-AT" sz="1300" b="1" i="0">
                <a:solidFill>
                  <a:schemeClr val="bg1"/>
                </a:solidFill>
              </a:rPr>
              <a:t>Als Nächstes: </a:t>
            </a:r>
            <a:r>
              <a:rPr lang="de-AT" sz="1300" b="0" i="0">
                <a:solidFill>
                  <a:schemeClr val="bg1"/>
                </a:solidFill>
              </a:rPr>
              <a:t>das Datenlabor. Laptop mit R oder Python mitbringen.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de-AT"/>
              <a:t>How Brands Grow | Marketing Science</a:t>
            </a:r>
          </a:p>
        </p:txBody>
      </p:sp>
      <p:sp>
        <p:nvSpPr>
          <p:cNvPr id="3" name="Slide Number Placeholder 2"/>
          <p:cNvSpPr>
            <a:spLocks noGrp="1"/>
          </p:cNvSpPr>
          <p:nvPr>
            <p:ph type="sldNum" idx="13" sz="quarter"/>
          </p:nvPr>
        </p:nvSpPr>
        <p:spPr/>
        <p:txBody>
          <a:bodyPr/>
          <a:p>
            <a:r>
              <a:rPr lang="de-AT"/>
              <a:t>SEITE </a:t>
            </a:r>
            <a:fld id="{B6F15528-21DE-4FAA-801E-634DDDAF4B2B}" type="slidenum">
              <a:rPr lang="en-GB"/>
              <a:t>‹#›</a:t>
            </a:fld>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