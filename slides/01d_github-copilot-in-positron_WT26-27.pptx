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step-by-step guide to GitHub Copilot inside Positron 2026.10: getting the free student plan, connecting it, chatting with Posit Assistant, code completions, and using AI responsibly. Sources: positron.posit.co documentation and GitHub Docs, checked 14 October 2026.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Copilot does two jobs in Positron: it powers the chat in Posit Assistant and it suggests code as you type. Students first secure the free student plan on github.com, then connect it in Positron.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web tutorials still describe Positron Assistant, which was a preview from Positron 2025.07 and was removed in 2026.07. Its successor Posit Assistant is the default AI in Positron since 2026.07. The current release is Positron 2026.10.0. If a tutorial mentions Ask/Edit/Agent modes or the setting positron.assistant.enable, it is out of date.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sends your prompt and context to the provider you connect. Only two providers give both chat and code completions: GitHub Copilot (free for students) and Posit AI Pass (paid, 20 USD a month). Anthropic and OpenAI need a paid API key and do chat only; a Claude Pro subscription does not work. GitHub Copilot is marked Preview in Positron.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this part happens on github.com. Positron comes in Part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1 June 2026 GitHub bills Copilot in AI credits (1 credit = 1 US cent); allowances reset on the 1st of each month at 00:00 UTC. GitHub Docs give no number for the Student credit allowance; third-party guides say 200 a month, unconfirmed. Both free plans use automatic model selection only. Paid plans start at 10 USD a month: students should not need them.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GitHub Docs (set up Copilot for students). Approval for GitHub Education and activation of Copilot Student are separate steps and can take several days. New Student sign-ups were paused from 20 April 2026 and reopened gradually from 16 June 2026 (GitHub Community announcement). If the page offers a paid checkout: do not pay; wait and try again, or use Copilot Free meanwhile.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announced that from 24 April 2026 it may use interactions with Copilot Free, Pro, Pro+ and Max to train models unless users opt out; the Student plan is not named, so everyone checks the setting. Posit does not see prompts: they go from the laptop straight to GitHub/Microsoft, whose terms apply.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2026.07 or later is needed; the course uses 2026.10. Everything else is on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Help → Check for Updates installs the current Positron. Posit Assistant only runs in trusted workspaces; untrusted ones run in Restricted mode. The AI settings ai.enabled and assistant.enabled are on by default; nothing is active until a provider is connected.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command name in Positron 2026.10: Authentication: Configure Language Model Providers. The same entry is in the Accounts menu (person icon, bottom left). If Positron already has a GitHub session, it asks whether to reuse it. Signing in to GitHub alone, for example for Git, does NOT turn on Copilot.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Create Diagnostic Report lists enabled features, signed-in providers and models; read it before sharing, because keys are redacted but URLs are not. Since 2026.08 the Copilot status-bar icon shows usage.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Positron includes GitHub's device-code sign-in. It is used automatically when the normal redirect fails and can be forced with the setting github-authentication.preferDeviceCodeFlow. Since 2026.01 Copilot follows the proxy settings (http.proxy), relevant on some university or company networks.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 Assistant can read your session and run code, but only after you say yes.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it with its icon in the activity bar or View: Show Posit Assistant; View: Agent Layout opens it in the editor area. Attach files with the paperclip, drag and drop, paste, or type @ to mention a file. Thinking effort trades speed for care. A token counter shows how full the conversation is; long ones are compacted.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connected to Python, Posit Assistant automatically includes the language and version, variable names and types, data-frame shapes and columns, plots and console history, plus open files and the project structure. Since 2026.10 it can also operate Positron itself in preview (Data Explorer, Viewer). Files can be excluded with the setting positron.assistant.aiExcludes; console history with console.historyApiEnabled.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time Posit Assistant wants to run code or change files, it asks: Accept, Decline, or reply with what to do instead. Approval can be given once, for the session or for the project. Approval modes: Normal (default), Restricted (every action confirmed; automatic in untrusted folders), Auto and YOLO. Students stay in Normal; YOLO is never used in this course. Plan mode (/plan) explores and writes a plan without changing code.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the slash command at the start of a message. /report writes a Quarto .qmd from the conversation; Preview it and check that it renders. Fix and Explain appear on errors in the Console and, since 2026.08, in Quarto inline output; they send the error to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complete request names the file, the packages and the output. Posit's own Python tutorial prompt uses pandas, so ask for polars explicitly. After Accept, compare the numbers with the course results: slope about -669 and R-squared 0.88 for sales ~ price1.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suggests the next lines in grey as you type, in .py files and in Quarto code cells.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Keys from Positron's completion docs. Manual trigger: Alt+\ on Windows, Option+\ on macOS. Markdown and plain text are off by default, so suggestions appear in code cells but not in the prose of a .qmd.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status-bar menu is the easy way. The setting github.copilot.enable controls languages, default {"*": true, "plaintext": false, "markdown": false}. editor.inlineSuggest.enabled turns off all inline suggestions. Some students learn better with completions off while practising; turn them on for the case study.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makes you faster, not right. You are responsible for every number you report.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Posit's advice: name the files, the packages and the outputs, and predict what a correct answer looks like before you send. Keep one topic per conversation; start a new one with /new.</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Typical AI errors in this course: pandas instead of polars, a wrong column name, the wrong test or model, invented numbers in explanations, and numbers in text that do not match the output. The course rules treat fabricated results as misconduct.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syllabus: AI assistants are expected and encouraged; students verify outputs, document prompts that produced non-trivial code (prompt log in coding exercises, appendix of the case study report), and the written exam is closed book. Fabricated references or results are misconduct under WU rules.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Most problems are a missing sign-in, an old Positron, or an untrusted folder.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Positron's AI troubleshooting pages. AI: Create Diagnostic Report shows what is on and which providers are signed in; read it before sending, URLs are not redacted.</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Mapping from the deprecated Positron Assistant to Posit Assistant (Positron 2026.07 and later). The old VS Code-style Copilot Chat with Ask, Edit and Agent and inline chat is hidden by default; it can be brought back with chat.disableAIFeatures = false, but the course uses Posit Assistant.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tick these off in class. Copilot Student may still be pending; Copilot Free covers the time until approval.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Checked 14 October 2026 against the documentation sources of Positron (posit-dev/positron-website) and GitHub (github/docs). The Student plan's monthly credit amount is not stated officially.</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hyperlink" Target="https://github.com/settings/education/benefits" TargetMode="External"/><Relationship Id="rId5" Type="http://schemas.openxmlformats.org/officeDocument/2006/relationships/hyperlink" Target="https://github.com/settings/copilot" TargetMode="External"/><Relationship Id="rId6" Type="http://schemas.openxmlformats.org/officeDocument/2006/relationships/image" Target="../media/image19.png"/><Relationship Id="rId7"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hyperlink" Target="https://github.com/settings/copilot" TargetMode="External"/><Relationship Id="rId5"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15.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7.png"/><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38.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0.png"/><Relationship Id="rId4" Type="http://schemas.openxmlformats.org/officeDocument/2006/relationships/image" Target="../media/image4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8.xml"/><Relationship Id="rId3" Type="http://schemas.openxmlformats.org/officeDocument/2006/relationships/image" Target="../media/image4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9.xml"/><Relationship Id="rId3" Type="http://schemas.openxmlformats.org/officeDocument/2006/relationships/image" Target="../media/image5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positron.posit.co/assistant.html" TargetMode="External"/><Relationship Id="rId4" Type="http://schemas.openxmlformats.org/officeDocument/2006/relationships/hyperlink" Target="https://positron.posit.co/assistant-providers.html" TargetMode="External"/><Relationship Id="rId5" Type="http://schemas.openxmlformats.org/officeDocument/2006/relationships/hyperlink" Target="https://positron.posit.co/assistant-completions.html" TargetMode="External"/><Relationship Id="rId6" Type="http://schemas.openxmlformats.org/officeDocument/2006/relationships/hyperlink" Target="https://positron.posit.co/ai-configuration.html" TargetMode="External"/><Relationship Id="rId7" Type="http://schemas.openxmlformats.org/officeDocument/2006/relationships/hyperlink" Target="https://docs.github.com/en/copilot/how-tos/copilot-on-github/set-up-copilot/enable-copilot/set-up-for-students" TargetMode="External"/><Relationship Id="rId8" Type="http://schemas.openxmlformats.org/officeDocument/2006/relationships/hyperlink" Target="https://github.com/features/copilot/plans" TargetMode="External"/><Relationship Id="rId9" Type="http://schemas.openxmlformats.org/officeDocument/2006/relationships/hyperlink" Target="https://positron.posit.co/release-notes.html"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GitHub Copilot in Positron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 an AI assistant in your analysis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Get</a:t>
            </a:r>
            <a:br/>
            <a:r>
              <a:rPr sz="1100" b="1" lang="en-GB">
                <a:solidFill>
                  <a:schemeClr val="tx2"/>
                </a:solidFill>
              </a:rPr>
              <a:t>Copilot</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Connect</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Chat</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Complete</a:t>
            </a:r>
            <a:br/>
            <a:r>
              <a:rPr sz="1100" b="1" lang="en-GB">
                <a:solidFill>
                  <a:schemeClr val="tx2"/>
                </a:solidFill>
              </a:rPr>
              <a:t>code</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Use it</a:t>
            </a:r>
            <a:br/>
            <a:r>
              <a:rPr sz="1100" b="1" lang="en-GB">
                <a:solidFill>
                  <a:schemeClr val="tx2"/>
                </a:solidFill>
              </a:rPr>
              <a:t>well</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Fix</a:t>
            </a:r>
            <a:br/>
            <a:r>
              <a:rPr sz="1100" b="1" lang="en-GB">
                <a:solidFill>
                  <a:schemeClr val="tx2"/>
                </a:solidFill>
              </a:rPr>
              <a:t>problems</a:t>
            </a:r>
          </a:p>
        </p:txBody>
      </p:sp>
      <p:sp>
        <p:nvSpPr>
          <p:cNvPr id="16" name="Plan card 1 body"/>
          <p:cNvSpPr/>
          <p:nvPr/>
        </p:nvSpPr>
        <p:spPr>
          <a:xfrm>
            <a:off x="45720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lan card 1 header"/>
          <p:cNvSpPr/>
          <p:nvPr/>
        </p:nvSpPr>
        <p:spPr>
          <a:xfrm>
            <a:off x="45720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lan card 1 heading"/>
          <p:cNvSpPr txBox="1"/>
          <p:nvPr/>
        </p:nvSpPr>
        <p:spPr>
          <a:xfrm>
            <a:off x="59436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On github.com</a:t>
            </a:r>
          </a:p>
        </p:txBody>
      </p:sp>
      <p:pic>
        <p:nvPicPr>
          <p:cNvPr id="19" name="Icon Plan card 1" descr=""/>
          <p:cNvPicPr>
            <a:picLocks noChangeAspect="1"/>
          </p:cNvPicPr>
          <p:nvPr/>
        </p:nvPicPr>
        <p:blipFill>
          <a:blip r:embed="rId3"/>
          <a:stretch>
            <a:fillRect/>
          </a:stretch>
        </p:blipFill>
        <p:spPr>
          <a:xfrm>
            <a:off x="2670048" y="2016252"/>
            <a:ext cx="310896" cy="310896"/>
          </a:xfrm>
          <a:prstGeom prst="rect">
            <a:avLst/>
          </a:prstGeom>
        </p:spPr>
      </p:pic>
      <p:sp>
        <p:nvSpPr>
          <p:cNvPr id="20" name="Plan card 1 text"/>
          <p:cNvSpPr txBox="1"/>
          <p:nvPr/>
        </p:nvSpPr>
        <p:spPr>
          <a:xfrm>
            <a:off x="62179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Copilot Free today</a:t>
            </a:r>
          </a:p>
          <a:p>
            <a:pPr algn="l" marL="182880" indent="-182880">
              <a:spcAft>
                <a:spcPts val="600"/>
              </a:spcAft>
              <a:buClr>
                <a:schemeClr val="accent1"/>
              </a:buClr>
              <a:buFont typeface="Arial"/>
              <a:buChar char="▪"/>
            </a:pPr>
            <a:r>
              <a:rPr sz="1300" b="0" lang="en-GB">
                <a:solidFill>
                  <a:schemeClr val="tx1"/>
                </a:solidFill>
              </a:rPr>
              <a:t>Copilot Student once GitHub Education approves you</a:t>
            </a:r>
          </a:p>
          <a:p>
            <a:pPr algn="l" marL="182880" indent="-182880">
              <a:spcAft>
                <a:spcPts val="600"/>
              </a:spcAft>
              <a:buClr>
                <a:schemeClr val="accent1"/>
              </a:buClr>
              <a:buFont typeface="Arial"/>
              <a:buChar char="▪"/>
            </a:pPr>
            <a:r>
              <a:rPr sz="1300" b="0" lang="en-GB">
                <a:solidFill>
                  <a:schemeClr val="tx1"/>
                </a:solidFill>
              </a:rPr>
              <a:t>Privacy settings</a:t>
            </a:r>
          </a:p>
        </p:txBody>
      </p:sp>
      <p:sp>
        <p:nvSpPr>
          <p:cNvPr id="21" name="Plan card 2 body"/>
          <p:cNvSpPr/>
          <p:nvPr/>
        </p:nvSpPr>
        <p:spPr>
          <a:xfrm>
            <a:off x="324612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lan card 2 header"/>
          <p:cNvSpPr/>
          <p:nvPr/>
        </p:nvSpPr>
        <p:spPr>
          <a:xfrm>
            <a:off x="324612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lan card 2 heading"/>
          <p:cNvSpPr txBox="1"/>
          <p:nvPr/>
        </p:nvSpPr>
        <p:spPr>
          <a:xfrm>
            <a:off x="338328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Positron</a:t>
            </a:r>
          </a:p>
        </p:txBody>
      </p:sp>
      <p:pic>
        <p:nvPicPr>
          <p:cNvPr id="24" name="Icon Plan card 2" descr=""/>
          <p:cNvPicPr>
            <a:picLocks noChangeAspect="1"/>
          </p:cNvPicPr>
          <p:nvPr/>
        </p:nvPicPr>
        <p:blipFill>
          <a:blip r:embed="rId4"/>
          <a:stretch>
            <a:fillRect/>
          </a:stretch>
        </p:blipFill>
        <p:spPr>
          <a:xfrm>
            <a:off x="5458968" y="2016252"/>
            <a:ext cx="310896" cy="310896"/>
          </a:xfrm>
          <a:prstGeom prst="rect">
            <a:avLst/>
          </a:prstGeom>
        </p:spPr>
      </p:pic>
      <p:sp>
        <p:nvSpPr>
          <p:cNvPr id="25" name="Plan card 2 text"/>
          <p:cNvSpPr txBox="1"/>
          <p:nvPr/>
        </p:nvSpPr>
        <p:spPr>
          <a:xfrm>
            <a:off x="341071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Connect Copilot as a model provider</a:t>
            </a:r>
          </a:p>
          <a:p>
            <a:pPr algn="l" marL="182880" indent="-182880">
              <a:spcAft>
                <a:spcPts val="600"/>
              </a:spcAft>
              <a:buClr>
                <a:schemeClr val="accent1"/>
              </a:buClr>
              <a:buFont typeface="Arial"/>
              <a:buChar char="▪"/>
            </a:pPr>
            <a:r>
              <a:rPr sz="1300" b="0" lang="en-GB">
                <a:solidFill>
                  <a:schemeClr val="tx1"/>
                </a:solidFill>
              </a:rPr>
              <a:t>Chat with Posit Assistant</a:t>
            </a:r>
          </a:p>
          <a:p>
            <a:pPr algn="l" marL="182880" indent="-182880">
              <a:spcAft>
                <a:spcPts val="600"/>
              </a:spcAft>
              <a:buClr>
                <a:schemeClr val="accent1"/>
              </a:buClr>
              <a:buFont typeface="Arial"/>
              <a:buChar char="▪"/>
            </a:pPr>
            <a:r>
              <a:rPr sz="1300" b="0" lang="en-GB">
                <a:solidFill>
                  <a:schemeClr val="tx1"/>
                </a:solidFill>
              </a:rPr>
              <a:t>Accept or reject code completions</a:t>
            </a:r>
          </a:p>
        </p:txBody>
      </p:sp>
      <p:sp>
        <p:nvSpPr>
          <p:cNvPr id="26" name="Plan card 3 body"/>
          <p:cNvSpPr/>
          <p:nvPr/>
        </p:nvSpPr>
        <p:spPr>
          <a:xfrm>
            <a:off x="6035040" y="2377440"/>
            <a:ext cx="2651760" cy="1783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lan card 3 header"/>
          <p:cNvSpPr/>
          <p:nvPr/>
        </p:nvSpPr>
        <p:spPr>
          <a:xfrm>
            <a:off x="6035040" y="196596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lan card 3 heading"/>
          <p:cNvSpPr txBox="1"/>
          <p:nvPr/>
        </p:nvSpPr>
        <p:spPr>
          <a:xfrm>
            <a:off x="6172200" y="196596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job</a:t>
            </a:r>
          </a:p>
        </p:txBody>
      </p:sp>
      <p:pic>
        <p:nvPicPr>
          <p:cNvPr id="29" name="Icon Plan card 3" descr=""/>
          <p:cNvPicPr>
            <a:picLocks noChangeAspect="1"/>
          </p:cNvPicPr>
          <p:nvPr/>
        </p:nvPicPr>
        <p:blipFill>
          <a:blip r:embed="rId5"/>
          <a:stretch>
            <a:fillRect/>
          </a:stretch>
        </p:blipFill>
        <p:spPr>
          <a:xfrm>
            <a:off x="8247888" y="2016252"/>
            <a:ext cx="310896" cy="310896"/>
          </a:xfrm>
          <a:prstGeom prst="rect">
            <a:avLst/>
          </a:prstGeom>
        </p:spPr>
      </p:pic>
      <p:sp>
        <p:nvSpPr>
          <p:cNvPr id="30" name="Plan card 3 text"/>
          <p:cNvSpPr txBox="1"/>
          <p:nvPr/>
        </p:nvSpPr>
        <p:spPr>
          <a:xfrm>
            <a:off x="6199632" y="2514600"/>
            <a:ext cx="2350008" cy="15087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Check every number</a:t>
            </a:r>
          </a:p>
          <a:p>
            <a:pPr algn="l" marL="182880" indent="-182880">
              <a:spcAft>
                <a:spcPts val="600"/>
              </a:spcAft>
              <a:buClr>
                <a:schemeClr val="accent1"/>
              </a:buClr>
              <a:buFont typeface="Arial"/>
              <a:buChar char="▪"/>
            </a:pPr>
            <a:r>
              <a:rPr sz="1300" b="0" lang="en-GB">
                <a:solidFill>
                  <a:schemeClr val="tx1"/>
                </a:solidFill>
              </a:rPr>
              <a:t>No personal data in prompts</a:t>
            </a:r>
          </a:p>
          <a:p>
            <a:pPr algn="l" marL="182880" indent="-182880">
              <a:spcAft>
                <a:spcPts val="600"/>
              </a:spcAft>
              <a:buClr>
                <a:schemeClr val="accent1"/>
              </a:buClr>
              <a:buFont typeface="Arial"/>
              <a:buChar char="▪"/>
            </a:pPr>
            <a:r>
              <a:rPr sz="1300" b="0" lang="en-GB">
                <a:solidFill>
                  <a:schemeClr val="tx1"/>
                </a:solidFill>
              </a:rPr>
              <a:t>Log your prompts for the course</a:t>
            </a:r>
          </a:p>
        </p:txBody>
      </p:sp>
      <p:sp>
        <p:nvSpPr>
          <p:cNvPr id="31" name="Charge box"/>
          <p:cNvSpPr/>
          <p:nvPr/>
        </p:nvSpPr>
        <p:spPr>
          <a:xfrm>
            <a:off x="457200" y="43434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harge" descr=""/>
          <p:cNvPicPr>
            <a:picLocks noChangeAspect="1"/>
          </p:cNvPicPr>
          <p:nvPr/>
        </p:nvPicPr>
        <p:blipFill>
          <a:blip r:embed="rId6"/>
          <a:stretch>
            <a:fillRect/>
          </a:stretch>
        </p:blipFill>
        <p:spPr>
          <a:xfrm>
            <a:off x="658368" y="4457700"/>
            <a:ext cx="365760" cy="365760"/>
          </a:xfrm>
          <a:prstGeom prst="rect">
            <a:avLst/>
          </a:prstGeom>
        </p:spPr>
      </p:pic>
      <p:sp>
        <p:nvSpPr>
          <p:cNvPr id="33" name="Charge text"/>
          <p:cNvSpPr txBox="1"/>
          <p:nvPr/>
        </p:nvSpPr>
        <p:spPr>
          <a:xfrm>
            <a:off x="1207008" y="434340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You stay in charge: </a:t>
            </a:r>
            <a:r>
              <a:rPr sz="1200" b="0" lang="en-GB">
                <a:solidFill>
                  <a:schemeClr val="bg1"/>
                </a:solidFill>
              </a:rPr>
              <a:t>the assistant proposes, you decide, run and check.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Positron Assistant is now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ime box 1"/>
          <p:cNvSpPr/>
          <p:nvPr/>
        </p:nvSpPr>
        <p:spPr>
          <a:xfrm>
            <a:off x="457200"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ime year 1"/>
          <p:cNvSpPr txBox="1"/>
          <p:nvPr/>
        </p:nvSpPr>
        <p:spPr>
          <a:xfrm>
            <a:off x="548640"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2025.07</a:t>
            </a:r>
          </a:p>
        </p:txBody>
      </p:sp>
      <p:sp>
        <p:nvSpPr>
          <p:cNvPr id="12" name="Time label 1"/>
          <p:cNvSpPr txBox="1"/>
          <p:nvPr/>
        </p:nvSpPr>
        <p:spPr>
          <a:xfrm>
            <a:off x="548640"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Positron Assistant (preview)</a:t>
            </a:r>
          </a:p>
        </p:txBody>
      </p:sp>
      <p:sp>
        <p:nvSpPr>
          <p:cNvPr id="13" name="Time box 2"/>
          <p:cNvSpPr/>
          <p:nvPr/>
        </p:nvSpPr>
        <p:spPr>
          <a:xfrm>
            <a:off x="2130552"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ime year 2"/>
          <p:cNvSpPr txBox="1"/>
          <p:nvPr/>
        </p:nvSpPr>
        <p:spPr>
          <a:xfrm>
            <a:off x="2221992"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2025.10</a:t>
            </a:r>
          </a:p>
        </p:txBody>
      </p:sp>
      <p:sp>
        <p:nvSpPr>
          <p:cNvPr id="15" name="Time label 2"/>
          <p:cNvSpPr txBox="1"/>
          <p:nvPr/>
        </p:nvSpPr>
        <p:spPr>
          <a:xfrm>
            <a:off x="2221992"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Copilot also for chat</a:t>
            </a:r>
          </a:p>
        </p:txBody>
      </p:sp>
      <p:sp>
        <p:nvSpPr>
          <p:cNvPr id="16" name="Time box 3"/>
          <p:cNvSpPr/>
          <p:nvPr/>
        </p:nvSpPr>
        <p:spPr>
          <a:xfrm>
            <a:off x="3803904" y="1234440"/>
            <a:ext cx="1536192"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ime year 3"/>
          <p:cNvSpPr txBox="1"/>
          <p:nvPr/>
        </p:nvSpPr>
        <p:spPr>
          <a:xfrm>
            <a:off x="3895344"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tx2"/>
                </a:solidFill>
                <a:latin typeface="+mj-lt"/>
              </a:rPr>
              <a:t>2026.04</a:t>
            </a:r>
          </a:p>
        </p:txBody>
      </p:sp>
      <p:sp>
        <p:nvSpPr>
          <p:cNvPr id="18" name="Time label 3"/>
          <p:cNvSpPr txBox="1"/>
          <p:nvPr/>
        </p:nvSpPr>
        <p:spPr>
          <a:xfrm>
            <a:off x="3895344"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tx1"/>
                </a:solidFill>
              </a:rPr>
              <a:t>Posit Assistant (preview)</a:t>
            </a:r>
          </a:p>
        </p:txBody>
      </p:sp>
      <p:sp>
        <p:nvSpPr>
          <p:cNvPr id="19" name="Time box 4"/>
          <p:cNvSpPr/>
          <p:nvPr/>
        </p:nvSpPr>
        <p:spPr>
          <a:xfrm>
            <a:off x="5477256" y="1234440"/>
            <a:ext cx="1536192"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ime year 4"/>
          <p:cNvSpPr txBox="1"/>
          <p:nvPr/>
        </p:nvSpPr>
        <p:spPr>
          <a:xfrm>
            <a:off x="5568696"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bg1"/>
                </a:solidFill>
                <a:latin typeface="+mj-lt"/>
              </a:rPr>
              <a:t>2026.07</a:t>
            </a:r>
          </a:p>
        </p:txBody>
      </p:sp>
      <p:sp>
        <p:nvSpPr>
          <p:cNvPr id="21" name="Time label 4"/>
          <p:cNvSpPr txBox="1"/>
          <p:nvPr/>
        </p:nvSpPr>
        <p:spPr>
          <a:xfrm>
            <a:off x="5568696"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bg1"/>
                </a:solidFill>
              </a:rPr>
              <a:t>Posit Assistant default; old one removed</a:t>
            </a:r>
          </a:p>
        </p:txBody>
      </p:sp>
      <p:sp>
        <p:nvSpPr>
          <p:cNvPr id="22" name="Time box 5"/>
          <p:cNvSpPr/>
          <p:nvPr/>
        </p:nvSpPr>
        <p:spPr>
          <a:xfrm>
            <a:off x="7150608" y="1234440"/>
            <a:ext cx="1536192" cy="14173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ime year 5"/>
          <p:cNvSpPr txBox="1"/>
          <p:nvPr/>
        </p:nvSpPr>
        <p:spPr>
          <a:xfrm>
            <a:off x="7242048" y="1325880"/>
            <a:ext cx="1353312" cy="457200"/>
          </a:xfrm>
          <a:prstGeom prst="rect">
            <a:avLst/>
          </a:prstGeom>
          <a:noFill/>
        </p:spPr>
        <p:txBody>
          <a:bodyPr wrap="square" lIns="0" rIns="0" tIns="0" bIns="0" anchor="ctr">
            <a:noAutofit/>
          </a:bodyPr>
          <a:lstStyle/>
          <a:p>
            <a:pPr algn="l">
              <a:spcAft>
                <a:spcPts val="400"/>
              </a:spcAft>
            </a:pPr>
            <a:r>
              <a:rPr sz="2000" b="1" lang="en-GB">
                <a:solidFill>
                  <a:schemeClr val="bg1"/>
                </a:solidFill>
                <a:latin typeface="+mj-lt"/>
              </a:rPr>
              <a:t>2026.10</a:t>
            </a:r>
          </a:p>
        </p:txBody>
      </p:sp>
      <p:sp>
        <p:nvSpPr>
          <p:cNvPr id="24" name="Time label 5"/>
          <p:cNvSpPr txBox="1"/>
          <p:nvPr/>
        </p:nvSpPr>
        <p:spPr>
          <a:xfrm>
            <a:off x="7242048" y="1783080"/>
            <a:ext cx="1353312" cy="822960"/>
          </a:xfrm>
          <a:prstGeom prst="rect">
            <a:avLst/>
          </a:prstGeom>
          <a:noFill/>
        </p:spPr>
        <p:txBody>
          <a:bodyPr wrap="square" lIns="0" rIns="0" tIns="0" bIns="0" anchor="t">
            <a:noAutofit/>
          </a:bodyPr>
          <a:lstStyle/>
          <a:p>
            <a:pPr algn="l">
              <a:spcAft>
                <a:spcPts val="400"/>
              </a:spcAft>
            </a:pPr>
            <a:r>
              <a:rPr sz="1150" b="0" lang="en-GB">
                <a:solidFill>
                  <a:schemeClr val="bg1"/>
                </a:solidFill>
              </a:rPr>
              <a:t>current Positron release</a:t>
            </a:r>
          </a:p>
        </p:txBody>
      </p:sp>
      <p:sp>
        <p:nvSpPr>
          <p:cNvPr id="25" name="Names rows row 1"/>
          <p:cNvSpPr/>
          <p:nvPr/>
        </p:nvSpPr>
        <p:spPr>
          <a:xfrm>
            <a:off x="457200" y="283464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Names rows bar 1"/>
          <p:cNvSpPr/>
          <p:nvPr/>
        </p:nvSpPr>
        <p:spPr>
          <a:xfrm>
            <a:off x="457200" y="283464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mes rows text 1"/>
          <p:cNvSpPr txBox="1"/>
          <p:nvPr/>
        </p:nvSpPr>
        <p:spPr>
          <a:xfrm>
            <a:off x="658368" y="283464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a:t>
            </a:r>
            <a:r>
              <a:rPr sz="1200" b="0" lang="en-GB">
                <a:solidFill>
                  <a:schemeClr val="tx1"/>
                </a:solidFill>
              </a:rPr>
              <a:t>the free editor by Posit, where you write and run Python</a:t>
            </a:r>
          </a:p>
        </p:txBody>
      </p:sp>
      <p:sp>
        <p:nvSpPr>
          <p:cNvPr id="28" name="Names rows row 2"/>
          <p:cNvSpPr/>
          <p:nvPr/>
        </p:nvSpPr>
        <p:spPr>
          <a:xfrm>
            <a:off x="457200" y="333756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Names rows bar 2"/>
          <p:cNvSpPr/>
          <p:nvPr/>
        </p:nvSpPr>
        <p:spPr>
          <a:xfrm>
            <a:off x="457200" y="333756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Names rows text 2"/>
          <p:cNvSpPr txBox="1"/>
          <p:nvPr/>
        </p:nvSpPr>
        <p:spPr>
          <a:xfrm>
            <a:off x="658368" y="333756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Posit Assistant: </a:t>
            </a:r>
            <a:r>
              <a:rPr sz="1200" b="0" lang="en-GB">
                <a:solidFill>
                  <a:schemeClr val="tx1"/>
                </a:solidFill>
              </a:rPr>
              <a:t>the AI chat built into Positron; it has no model of its own</a:t>
            </a:r>
          </a:p>
        </p:txBody>
      </p:sp>
      <p:sp>
        <p:nvSpPr>
          <p:cNvPr id="31" name="Names rows row 3"/>
          <p:cNvSpPr/>
          <p:nvPr/>
        </p:nvSpPr>
        <p:spPr>
          <a:xfrm>
            <a:off x="457200" y="3840480"/>
            <a:ext cx="8229600" cy="43891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Names rows bar 3"/>
          <p:cNvSpPr/>
          <p:nvPr/>
        </p:nvSpPr>
        <p:spPr>
          <a:xfrm>
            <a:off x="457200" y="3840480"/>
            <a:ext cx="64008" cy="43891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ames rows text 3"/>
          <p:cNvSpPr txBox="1"/>
          <p:nvPr/>
        </p:nvSpPr>
        <p:spPr>
          <a:xfrm>
            <a:off x="658368" y="3840480"/>
            <a:ext cx="7936992" cy="438912"/>
          </a:xfrm>
          <a:prstGeom prst="rect">
            <a:avLst/>
          </a:prstGeom>
          <a:noFill/>
        </p:spPr>
        <p:txBody>
          <a:bodyPr wrap="square" lIns="0" rIns="0" tIns="0" bIns="0" anchor="ctr">
            <a:noAutofit/>
          </a:bodyPr>
          <a:lstStyle/>
          <a:p>
            <a:pPr algn="l">
              <a:spcAft>
                <a:spcPts val="400"/>
              </a:spcAft>
            </a:pPr>
            <a:r>
              <a:rPr sz="1200" b="1" lang="en-GB">
                <a:solidFill>
                  <a:schemeClr val="tx2"/>
                </a:solidFill>
              </a:rPr>
              <a:t>GitHub Copilot: </a:t>
            </a:r>
            <a:r>
              <a:rPr sz="1200" b="0" lang="en-GB">
                <a:solidFill>
                  <a:schemeClr val="tx1"/>
                </a:solidFill>
              </a:rPr>
              <a:t>the model provider: it answers in the chat and suggests code</a:t>
            </a:r>
          </a:p>
        </p:txBody>
      </p:sp>
      <p:sp>
        <p:nvSpPr>
          <p:cNvPr id="34" name="Names old box"/>
          <p:cNvSpPr/>
          <p:nvPr/>
        </p:nvSpPr>
        <p:spPr>
          <a:xfrm>
            <a:off x="457200" y="434340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5" name="Icon Names old" descr=""/>
          <p:cNvPicPr>
            <a:picLocks noChangeAspect="1"/>
          </p:cNvPicPr>
          <p:nvPr/>
        </p:nvPicPr>
        <p:blipFill>
          <a:blip r:embed="rId3"/>
          <a:stretch>
            <a:fillRect/>
          </a:stretch>
        </p:blipFill>
        <p:spPr>
          <a:xfrm>
            <a:off x="658368" y="4457700"/>
            <a:ext cx="365760" cy="365760"/>
          </a:xfrm>
          <a:prstGeom prst="rect">
            <a:avLst/>
          </a:prstGeom>
        </p:spPr>
      </p:pic>
      <p:sp>
        <p:nvSpPr>
          <p:cNvPr id="36" name="Names old text"/>
          <p:cNvSpPr txBox="1"/>
          <p:nvPr/>
        </p:nvSpPr>
        <p:spPr>
          <a:xfrm>
            <a:off x="1207008" y="4343400"/>
            <a:ext cx="7315200"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Old tutorials? </a:t>
            </a:r>
            <a:r>
              <a:rPr sz="1200" b="0" lang="en-GB">
                <a:solidFill>
                  <a:schemeClr val="bg1"/>
                </a:solidFill>
              </a:rPr>
              <a:t>Ask/Edit/Agent modes or positron.assistant.enable mean the guide is outdated.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rov table"/>
          <p:cNvGraphicFramePr>
            <a:graphicFrameLocks noGrp="1"/>
          </p:cNvGraphicFramePr>
          <p:nvPr>
            <p:ph type="tbl" idx="1"/>
          </p:nvPr>
        </p:nvGraphicFramePr>
        <p:xfrm>
          <a:off x="457200" y="1234440"/>
          <a:ext cx="8229600" cy="1483360"/>
        </p:xfrm>
        <a:graphic>
          <a:graphicData uri="http://schemas.openxmlformats.org/drawingml/2006/table">
            <a:tbl>
              <a:tblPr firstRow="1" bandRow="1">
                <a:tableStyleId>{5C22544A-7EE6-4342-B048-85BDC9FD1C3A}</a:tableStyleId>
              </a:tblPr>
              <a:tblGrid>
                <a:gridCol w="2743200"/>
                <a:gridCol w="1097280"/>
                <a:gridCol w="1737360"/>
                <a:gridCol w="2651760"/>
              </a:tblGrid>
              <a:tr h="370840">
                <a:tc>
                  <a:txBody>
                    <a:bodyPr/>
                    <a:lstStyle/>
                    <a:p>
                      <a:r>
                        <a:rPr sz="1300" lang="en-GB"/>
                        <a:t>Provider</a:t>
                      </a:r>
                    </a:p>
                  </a:txBody>
                  <a:tcPr marT="45000" marB="45000"/>
                </a:tc>
                <a:tc>
                  <a:txBody>
                    <a:bodyPr/>
                    <a:lstStyle/>
                    <a:p>
                      <a:r>
                        <a:rPr sz="1300" lang="en-GB"/>
                        <a:t>Chat</a:t>
                      </a:r>
                    </a:p>
                  </a:txBody>
                  <a:tcPr marT="45000" marB="45000"/>
                </a:tc>
                <a:tc>
                  <a:txBody>
                    <a:bodyPr/>
                    <a:lstStyle/>
                    <a:p>
                      <a:r>
                        <a:rPr sz="1300" lang="en-GB"/>
                        <a:t>Completions</a:t>
                      </a:r>
                    </a:p>
                  </a:txBody>
                  <a:tcPr marT="45000" marB="45000"/>
                </a:tc>
                <a:tc>
                  <a:txBody>
                    <a:bodyPr/>
                    <a:lstStyle/>
                    <a:p>
                      <a:r>
                        <a:rPr sz="1300" lang="en-GB"/>
                        <a:t>Cost for you</a:t>
                      </a:r>
                    </a:p>
                  </a:txBody>
                  <a:tcPr marT="45000" marB="45000"/>
                </a:tc>
              </a:tr>
              <a:tr h="370840">
                <a:tc>
                  <a:txBody>
                    <a:bodyPr/>
                    <a:lstStyle/>
                    <a:p>
                      <a:r>
                        <a:rPr sz="1200" b="1" lang="en-GB"/>
                        <a:t>GitHub Copilot (Preview)</a:t>
                      </a:r>
                    </a:p>
                  </a:txBody>
                  <a:tcPr marT="45000" marB="45000"/>
                </a:tc>
                <a:tc>
                  <a:txBody>
                    <a:bodyPr/>
                    <a:lstStyle/>
                    <a:p>
                      <a:r>
                        <a:rPr sz="1200" lang="en-GB"/>
                        <a:t>yes</a:t>
                      </a:r>
                    </a:p>
                  </a:txBody>
                  <a:tcPr marT="45000" marB="45000"/>
                </a:tc>
                <a:tc>
                  <a:txBody>
                    <a:bodyPr/>
                    <a:lstStyle/>
                    <a:p>
                      <a:r>
                        <a:rPr sz="1200" lang="en-GB"/>
                        <a:t>yes, ghost text</a:t>
                      </a:r>
                    </a:p>
                  </a:txBody>
                  <a:tcPr marT="45000" marB="45000"/>
                </a:tc>
                <a:tc>
                  <a:txBody>
                    <a:bodyPr/>
                    <a:lstStyle/>
                    <a:p>
                      <a:r>
                        <a:rPr sz="1200" lang="en-GB"/>
                        <a:t>free with Copilot Student or Free</a:t>
                      </a:r>
                    </a:p>
                  </a:txBody>
                  <a:tcPr marT="45000" marB="45000"/>
                </a:tc>
              </a:tr>
              <a:tr h="370840">
                <a:tc>
                  <a:txBody>
                    <a:bodyPr/>
                    <a:lstStyle/>
                    <a:p>
                      <a:r>
                        <a:rPr sz="1200" b="1" lang="en-GB"/>
                        <a:t>Posit AI Pass</a:t>
                      </a:r>
                    </a:p>
                  </a:txBody>
                  <a:tcPr marT="45000" marB="45000"/>
                </a:tc>
                <a:tc>
                  <a:txBody>
                    <a:bodyPr/>
                    <a:lstStyle/>
                    <a:p>
                      <a:r>
                        <a:rPr sz="1200" lang="en-GB"/>
                        <a:t>yes</a:t>
                      </a:r>
                    </a:p>
                  </a:txBody>
                  <a:tcPr marT="45000" marB="45000"/>
                </a:tc>
                <a:tc>
                  <a:txBody>
                    <a:bodyPr/>
                    <a:lstStyle/>
                    <a:p>
                      <a:r>
                        <a:rPr sz="1200" lang="en-GB"/>
                        <a:t>yes</a:t>
                      </a:r>
                    </a:p>
                  </a:txBody>
                  <a:tcPr marT="45000" marB="45000"/>
                </a:tc>
                <a:tc>
                  <a:txBody>
                    <a:bodyPr/>
                    <a:lstStyle/>
                    <a:p>
                      <a:r>
                        <a:rPr sz="1200" lang="en-GB"/>
                        <a:t>20 USD a month</a:t>
                      </a:r>
                    </a:p>
                  </a:txBody>
                  <a:tcPr marT="45000" marB="45000"/>
                </a:tc>
              </a:tr>
              <a:tr h="370840">
                <a:tc>
                  <a:txBody>
                    <a:bodyPr/>
                    <a:lstStyle/>
                    <a:p>
                      <a:r>
                        <a:rPr sz="1200" b="1" lang="en-GB"/>
                        <a:t>Anthropic, OpenAI, others</a:t>
                      </a:r>
                    </a:p>
                  </a:txBody>
                  <a:tcPr marT="45000" marB="45000"/>
                </a:tc>
                <a:tc>
                  <a:txBody>
                    <a:bodyPr/>
                    <a:lstStyle/>
                    <a:p>
                      <a:r>
                        <a:rPr sz="1200" lang="en-GB"/>
                        <a:t>yes</a:t>
                      </a:r>
                    </a:p>
                  </a:txBody>
                  <a:tcPr marT="45000" marB="45000"/>
                </a:tc>
                <a:tc>
                  <a:txBody>
                    <a:bodyPr/>
                    <a:lstStyle/>
                    <a:p>
                      <a:r>
                        <a:rPr sz="1200" lang="en-GB"/>
                        <a:t>no</a:t>
                      </a:r>
                    </a:p>
                  </a:txBody>
                  <a:tcPr marT="45000" marB="45000"/>
                </a:tc>
                <a:tc>
                  <a:txBody>
                    <a:bodyPr/>
                    <a:lstStyle/>
                    <a:p>
                      <a:r>
                        <a:rPr sz="1200" lang="en-GB"/>
                        <a:t>paid API key</a:t>
                      </a:r>
                    </a:p>
                  </a:txBody>
                  <a:tcPr marT="45000" marB="45000"/>
                </a:tc>
              </a:tr>
            </a:tbl>
          </a:graphicData>
        </a:graphic>
      </p:graphicFrame>
      <p:sp>
        <p:nvSpPr>
          <p:cNvPr id="3" name="Title 2"/>
          <p:cNvSpPr>
            <a:spLocks noGrp="1"/>
          </p:cNvSpPr>
          <p:nvPr>
            <p:ph type="title"/>
          </p:nvPr>
        </p:nvSpPr>
        <p:spPr/>
        <p:txBody>
          <a:bodyPr/>
          <a:lstStyle/>
          <a:p>
            <a:r>
              <a:rPr sz="1600" lang="en-GB"/>
              <a:t>What Copilot does in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Job chat tile"/>
          <p:cNvSpPr/>
          <p:nvPr/>
        </p:nvSpPr>
        <p:spPr>
          <a:xfrm>
            <a:off x="457200" y="30175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Job chat" descr=""/>
          <p:cNvPicPr>
            <a:picLocks noChangeAspect="1"/>
          </p:cNvPicPr>
          <p:nvPr/>
        </p:nvPicPr>
        <p:blipFill>
          <a:blip r:embed="rId3"/>
          <a:stretch>
            <a:fillRect/>
          </a:stretch>
        </p:blipFill>
        <p:spPr>
          <a:xfrm>
            <a:off x="594360" y="3154680"/>
            <a:ext cx="365760" cy="365760"/>
          </a:xfrm>
          <a:prstGeom prst="rect">
            <a:avLst/>
          </a:prstGeom>
        </p:spPr>
      </p:pic>
      <p:sp>
        <p:nvSpPr>
          <p:cNvPr id="12" name="Job chat heading"/>
          <p:cNvSpPr txBox="1"/>
          <p:nvPr/>
        </p:nvSpPr>
        <p:spPr>
          <a:xfrm>
            <a:off x="1051560" y="31546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Chat</a:t>
            </a:r>
          </a:p>
        </p:txBody>
      </p:sp>
      <p:sp>
        <p:nvSpPr>
          <p:cNvPr id="13" name="Job chat text"/>
          <p:cNvSpPr txBox="1"/>
          <p:nvPr/>
        </p:nvSpPr>
        <p:spPr>
          <a:xfrm>
            <a:off x="594360" y="3639312"/>
            <a:ext cx="3771900" cy="502920"/>
          </a:xfrm>
          <a:prstGeom prst="rect">
            <a:avLst/>
          </a:prstGeom>
          <a:noFill/>
        </p:spPr>
        <p:txBody>
          <a:bodyPr wrap="square" lIns="0" rIns="0" tIns="0" bIns="0" anchor="t">
            <a:noAutofit/>
          </a:bodyPr>
          <a:lstStyle/>
          <a:p>
            <a:pPr algn="l">
              <a:spcAft>
                <a:spcPts val="400"/>
              </a:spcAft>
            </a:pPr>
            <a:r>
              <a:rPr sz="1200" b="0" lang="en-GB">
                <a:solidFill>
                  <a:schemeClr val="tx1"/>
                </a:solidFill>
              </a:rPr>
              <a:t>Ask, plan, run code after your OK, explain errors</a:t>
            </a:r>
          </a:p>
        </p:txBody>
      </p:sp>
      <p:sp>
        <p:nvSpPr>
          <p:cNvPr id="14" name="Job comp tile"/>
          <p:cNvSpPr/>
          <p:nvPr/>
        </p:nvSpPr>
        <p:spPr>
          <a:xfrm>
            <a:off x="4640580" y="3017520"/>
            <a:ext cx="4046220" cy="1188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Icon Job comp" descr=""/>
          <p:cNvPicPr>
            <a:picLocks noChangeAspect="1"/>
          </p:cNvPicPr>
          <p:nvPr/>
        </p:nvPicPr>
        <p:blipFill>
          <a:blip r:embed="rId4"/>
          <a:stretch>
            <a:fillRect/>
          </a:stretch>
        </p:blipFill>
        <p:spPr>
          <a:xfrm>
            <a:off x="4777740" y="3154680"/>
            <a:ext cx="365760" cy="365760"/>
          </a:xfrm>
          <a:prstGeom prst="rect">
            <a:avLst/>
          </a:prstGeom>
        </p:spPr>
      </p:pic>
      <p:sp>
        <p:nvSpPr>
          <p:cNvPr id="16" name="Job comp heading"/>
          <p:cNvSpPr txBox="1"/>
          <p:nvPr/>
        </p:nvSpPr>
        <p:spPr>
          <a:xfrm>
            <a:off x="5234940" y="3154680"/>
            <a:ext cx="336042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Completions</a:t>
            </a:r>
          </a:p>
        </p:txBody>
      </p:sp>
      <p:sp>
        <p:nvSpPr>
          <p:cNvPr id="17" name="Job comp text"/>
          <p:cNvSpPr txBox="1"/>
          <p:nvPr/>
        </p:nvSpPr>
        <p:spPr>
          <a:xfrm>
            <a:off x="4777740" y="3639312"/>
            <a:ext cx="3771900" cy="502920"/>
          </a:xfrm>
          <a:prstGeom prst="rect">
            <a:avLst/>
          </a:prstGeom>
          <a:noFill/>
        </p:spPr>
        <p:txBody>
          <a:bodyPr wrap="square" lIns="0" rIns="0" tIns="0" bIns="0" anchor="t">
            <a:noAutofit/>
          </a:bodyPr>
          <a:lstStyle/>
          <a:p>
            <a:pPr algn="l">
              <a:spcAft>
                <a:spcPts val="400"/>
              </a:spcAft>
            </a:pPr>
            <a:r>
              <a:rPr sz="1200" b="0" lang="en-GB">
                <a:solidFill>
                  <a:schemeClr val="tx1"/>
                </a:solidFill>
              </a:rPr>
              <a:t>Grey suggestions while you type; Tab accepts</a:t>
            </a:r>
          </a:p>
        </p:txBody>
      </p:sp>
      <p:sp>
        <p:nvSpPr>
          <p:cNvPr id="18" name="Prov course box"/>
          <p:cNvSpPr/>
          <p:nvPr/>
        </p:nvSpPr>
        <p:spPr>
          <a:xfrm>
            <a:off x="457200" y="434340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Icon Prov course" descr=""/>
          <p:cNvPicPr>
            <a:picLocks noChangeAspect="1"/>
          </p:cNvPicPr>
          <p:nvPr/>
        </p:nvPicPr>
        <p:blipFill>
          <a:blip r:embed="rId5"/>
          <a:stretch>
            <a:fillRect/>
          </a:stretch>
        </p:blipFill>
        <p:spPr>
          <a:xfrm>
            <a:off x="658368" y="4434840"/>
            <a:ext cx="365760" cy="365760"/>
          </a:xfrm>
          <a:prstGeom prst="rect">
            <a:avLst/>
          </a:prstGeom>
        </p:spPr>
      </p:pic>
      <p:sp>
        <p:nvSpPr>
          <p:cNvPr id="20" name="Prov course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For this course: </a:t>
            </a:r>
            <a:r>
              <a:rPr sz="1200" b="0" lang="en-GB">
                <a:solidFill>
                  <a:schemeClr val="bg1"/>
                </a:solidFill>
              </a:rPr>
              <a:t>GitHub Copilot. It costs nothing with GitHub Education.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the free plans, activating Copilot Student, privacy settings</a:t>
            </a:r>
          </a:p>
        </p:txBody>
      </p:sp>
      <p:sp>
        <p:nvSpPr>
          <p:cNvPr id="3" name="Title 2"/>
          <p:cNvSpPr>
            <a:spLocks noGrp="1"/>
          </p:cNvSpPr>
          <p:nvPr>
            <p:ph type="ctrTitle"/>
          </p:nvPr>
        </p:nvSpPr>
        <p:spPr/>
        <p:txBody>
          <a:bodyPr/>
          <a:lstStyle/>
          <a:p>
            <a:r>
              <a:rPr sz="1600" lang="en-GB"/>
              <a:t>Get GitHub Copilot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lan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94560"/>
                <a:gridCol w="3017520"/>
                <a:gridCol w="3017520"/>
              </a:tblGrid>
              <a:tr h="370840">
                <a:tc>
                  <a:txBody>
                    <a:bodyPr/>
                    <a:lstStyle/>
                    <a:p>
                      <a:r>
                        <a:rPr sz="1300" lang="en-GB"/>
                        <a:t/>
                      </a:r>
                    </a:p>
                  </a:txBody>
                  <a:tcPr marT="55000" marB="55000"/>
                </a:tc>
                <a:tc>
                  <a:txBody>
                    <a:bodyPr/>
                    <a:lstStyle/>
                    <a:p>
                      <a:r>
                        <a:rPr sz="1300" lang="en-GB"/>
                        <a:t>Copilot Free</a:t>
                      </a:r>
                    </a:p>
                  </a:txBody>
                  <a:tcPr marT="55000" marB="55000"/>
                </a:tc>
                <a:tc>
                  <a:txBody>
                    <a:bodyPr/>
                    <a:lstStyle/>
                    <a:p>
                      <a:r>
                        <a:rPr sz="1300" lang="en-GB"/>
                        <a:t>Copilot Student</a:t>
                      </a:r>
                    </a:p>
                  </a:txBody>
                  <a:tcPr marT="55000" marB="55000"/>
                </a:tc>
              </a:tr>
              <a:tr h="370840">
                <a:tc>
                  <a:txBody>
                    <a:bodyPr/>
                    <a:lstStyle/>
                    <a:p>
                      <a:r>
                        <a:rPr sz="1200" b="1" lang="en-GB"/>
                        <a:t>Who</a:t>
                      </a:r>
                    </a:p>
                  </a:txBody>
                  <a:tcPr marT="55000" marB="55000"/>
                </a:tc>
                <a:tc>
                  <a:txBody>
                    <a:bodyPr/>
                    <a:lstStyle/>
                    <a:p>
                      <a:r>
                        <a:rPr sz="1200" lang="en-GB"/>
                        <a:t>anyone with a GitHub account</a:t>
                      </a:r>
                    </a:p>
                  </a:txBody>
                  <a:tcPr marT="55000" marB="55000"/>
                </a:tc>
                <a:tc>
                  <a:txBody>
                    <a:bodyPr/>
                    <a:lstStyle/>
                    <a:p>
                      <a:r>
                        <a:rPr sz="1200" lang="en-GB"/>
                        <a:t>verified students (GitHub Education)</a:t>
                      </a:r>
                    </a:p>
                  </a:txBody>
                  <a:tcPr marT="55000" marB="55000"/>
                </a:tc>
              </a:tr>
              <a:tr h="370840">
                <a:tc>
                  <a:txBody>
                    <a:bodyPr/>
                    <a:lstStyle/>
                    <a:p>
                      <a:r>
                        <a:rPr sz="1200" b="1" lang="en-GB"/>
                        <a:t>Code completions</a:t>
                      </a:r>
                    </a:p>
                  </a:txBody>
                  <a:tcPr marT="55000" marB="55000"/>
                </a:tc>
                <a:tc>
                  <a:txBody>
                    <a:bodyPr/>
                    <a:lstStyle/>
                    <a:p>
                      <a:r>
                        <a:rPr sz="1200" lang="en-GB"/>
                        <a:t>2,000 a month</a:t>
                      </a:r>
                    </a:p>
                  </a:txBody>
                  <a:tcPr marT="55000" marB="55000"/>
                </a:tc>
                <a:tc>
                  <a:txBody>
                    <a:bodyPr/>
                    <a:lstStyle/>
                    <a:p>
                      <a:r>
                        <a:rPr sz="1200" lang="en-GB"/>
                        <a:t>unlimited</a:t>
                      </a:r>
                    </a:p>
                  </a:txBody>
                  <a:tcPr marT="55000" marB="55000"/>
                </a:tc>
              </a:tr>
              <a:tr h="370840">
                <a:tc>
                  <a:txBody>
                    <a:bodyPr/>
                    <a:lstStyle/>
                    <a:p>
                      <a:r>
                        <a:rPr sz="1200" b="1" lang="en-GB"/>
                        <a:t>Chat and agent</a:t>
                      </a:r>
                    </a:p>
                  </a:txBody>
                  <a:tcPr marT="55000" marB="55000"/>
                </a:tc>
                <a:tc>
                  <a:txBody>
                    <a:bodyPr/>
                    <a:lstStyle/>
                    <a:p>
                      <a:r>
                        <a:rPr sz="1200" lang="en-GB"/>
                        <a:t>an allowance of AI credits</a:t>
                      </a:r>
                    </a:p>
                  </a:txBody>
                  <a:tcPr marT="55000" marB="55000"/>
                </a:tc>
                <a:tc>
                  <a:txBody>
                    <a:bodyPr/>
                    <a:lstStyle/>
                    <a:p>
                      <a:r>
                        <a:rPr sz="1200" lang="en-GB"/>
                        <a:t>a larger allowance of AI credits</a:t>
                      </a:r>
                    </a:p>
                  </a:txBody>
                  <a:tcPr marT="55000" marB="55000"/>
                </a:tc>
              </a:tr>
              <a:tr h="370840">
                <a:tc>
                  <a:txBody>
                    <a:bodyPr/>
                    <a:lstStyle/>
                    <a:p>
                      <a:r>
                        <a:rPr sz="1200" b="1" lang="en-GB"/>
                        <a:t>Models</a:t>
                      </a:r>
                    </a:p>
                  </a:txBody>
                  <a:tcPr marT="55000" marB="55000"/>
                </a:tc>
                <a:tc>
                  <a:txBody>
                    <a:bodyPr/>
                    <a:lstStyle/>
                    <a:p>
                      <a:r>
                        <a:rPr sz="1200" lang="en-GB"/>
                        <a:t>automatic selection only</a:t>
                      </a:r>
                    </a:p>
                  </a:txBody>
                  <a:tcPr marT="55000" marB="55000"/>
                </a:tc>
                <a:tc>
                  <a:txBody>
                    <a:bodyPr/>
                    <a:lstStyle/>
                    <a:p>
                      <a:r>
                        <a:rPr sz="1200" lang="en-GB"/>
                        <a:t>automatic selection only</a:t>
                      </a:r>
                    </a:p>
                  </a:txBody>
                  <a:tcPr marT="55000" marB="55000"/>
                </a:tc>
              </a:tr>
              <a:tr h="370840">
                <a:tc>
                  <a:txBody>
                    <a:bodyPr/>
                    <a:lstStyle/>
                    <a:p>
                      <a:r>
                        <a:rPr sz="1200" b="1" lang="en-GB"/>
                        <a:t>Price</a:t>
                      </a:r>
                    </a:p>
                  </a:txBody>
                  <a:tcPr marT="55000" marB="55000"/>
                </a:tc>
                <a:tc>
                  <a:txBody>
                    <a:bodyPr/>
                    <a:lstStyle/>
                    <a:p>
                      <a:r>
                        <a:rPr sz="1200" lang="en-GB"/>
                        <a:t>free</a:t>
                      </a:r>
                    </a:p>
                  </a:txBody>
                  <a:tcPr marT="55000" marB="55000"/>
                </a:tc>
                <a:tc>
                  <a:txBody>
                    <a:bodyPr/>
                    <a:lstStyle/>
                    <a:p>
                      <a:r>
                        <a:rPr sz="1200" lang="en-GB"/>
                        <a:t>free while you study</a:t>
                      </a:r>
                    </a:p>
                  </a:txBody>
                  <a:tcPr marT="55000" marB="55000"/>
                </a:tc>
              </a:tr>
            </a:tbl>
          </a:graphicData>
        </a:graphic>
      </p:graphicFrame>
      <p:sp>
        <p:nvSpPr>
          <p:cNvPr id="3" name="Title 2"/>
          <p:cNvSpPr>
            <a:spLocks noGrp="1"/>
          </p:cNvSpPr>
          <p:nvPr>
            <p:ph type="title"/>
          </p:nvPr>
        </p:nvSpPr>
        <p:spPr/>
        <p:txBody>
          <a:bodyPr/>
          <a:lstStyle/>
          <a:p>
            <a:r>
              <a:rPr sz="1600" lang="en-GB"/>
              <a:t>Two free Copilot plans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credits box"/>
          <p:cNvSpPr/>
          <p:nvPr/>
        </p:nvSpPr>
        <p:spPr>
          <a:xfrm>
            <a:off x="457200" y="4069080"/>
            <a:ext cx="822960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lan credits" descr=""/>
          <p:cNvPicPr>
            <a:picLocks noChangeAspect="1"/>
          </p:cNvPicPr>
          <p:nvPr/>
        </p:nvPicPr>
        <p:blipFill>
          <a:blip r:embed="rId3"/>
          <a:stretch>
            <a:fillRect/>
          </a:stretch>
        </p:blipFill>
        <p:spPr>
          <a:xfrm>
            <a:off x="658368" y="4297680"/>
            <a:ext cx="365760" cy="365760"/>
          </a:xfrm>
          <a:prstGeom prst="rect">
            <a:avLst/>
          </a:prstGeom>
        </p:spPr>
      </p:pic>
      <p:sp>
        <p:nvSpPr>
          <p:cNvPr id="12" name="Plan credits text"/>
          <p:cNvSpPr txBox="1"/>
          <p:nvPr/>
        </p:nvSpPr>
        <p:spPr>
          <a:xfrm>
            <a:off x="1207008" y="4069080"/>
            <a:ext cx="7315200" cy="822960"/>
          </a:xfrm>
          <a:prstGeom prst="rect">
            <a:avLst/>
          </a:prstGeom>
          <a:noFill/>
        </p:spPr>
        <p:txBody>
          <a:bodyPr wrap="square" lIns="0" rIns="0" tIns="0" bIns="0" anchor="ctr">
            <a:noAutofit/>
          </a:bodyPr>
          <a:lstStyle/>
          <a:p>
            <a:pPr algn="l">
              <a:spcAft>
                <a:spcPts val="400"/>
              </a:spcAft>
            </a:pPr>
            <a:r>
              <a:rPr sz="1200" b="1" lang="en-GB">
                <a:solidFill>
                  <a:schemeClr val="bg1"/>
                </a:solidFill>
              </a:rPr>
              <a:t>Credits run out? </a:t>
            </a:r>
            <a:r>
              <a:rPr sz="1200" b="0" lang="en-GB">
                <a:solidFill>
                  <a:schemeClr val="bg1"/>
                </a:solidFill>
              </a:rPr>
              <a:t>they reset on the 1st of the month. The Copilot icon in Positron's status bar shows how much you have used.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Activate Copilot Student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ctivate body"/>
          <p:cNvSpPr/>
          <p:nvPr/>
        </p:nvSpPr>
        <p:spPr>
          <a:xfrm>
            <a:off x="457200" y="1645920"/>
            <a:ext cx="493776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ctivat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ctivat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Copilot Student</a:t>
            </a:r>
          </a:p>
        </p:txBody>
      </p:sp>
      <p:pic>
        <p:nvPicPr>
          <p:cNvPr id="13" name="Icon Activate" descr=""/>
          <p:cNvPicPr>
            <a:picLocks noChangeAspect="1"/>
          </p:cNvPicPr>
          <p:nvPr/>
        </p:nvPicPr>
        <p:blipFill>
          <a:blip r:embed="rId3"/>
          <a:stretch>
            <a:fillRect/>
          </a:stretch>
        </p:blipFill>
        <p:spPr>
          <a:xfrm>
            <a:off x="4956048" y="1284732"/>
            <a:ext cx="310896" cy="310896"/>
          </a:xfrm>
          <a:prstGeom prst="rect">
            <a:avLst/>
          </a:prstGeom>
        </p:spPr>
      </p:pic>
      <p:sp>
        <p:nvSpPr>
          <p:cNvPr id="14" name="Activate text"/>
          <p:cNvSpPr txBox="1"/>
          <p:nvPr/>
        </p:nvSpPr>
        <p:spPr>
          <a:xfrm>
            <a:off x="621792" y="1783080"/>
            <a:ext cx="4636008" cy="23774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Be verified </a:t>
            </a:r>
            <a:r>
              <a:rPr sz="1300" b="0" lang="en-GB">
                <a:solidFill>
                  <a:schemeClr val="tx1"/>
                </a:solidFill>
              </a:rPr>
              <a:t>in GitHub Education (see GitHub deck, Part 2)</a:t>
            </a:r>
          </a:p>
          <a:p>
            <a:pPr algn="l">
              <a:spcAft>
                <a:spcPts val="900"/>
              </a:spcAft>
            </a:pPr>
            <a:r>
              <a:rPr sz="1300" b="1" lang="en-GB">
                <a:solidFill>
                  <a:schemeClr val="accent1"/>
                </a:solidFill>
              </a:rPr>
              <a:t>2  </a:t>
            </a:r>
            <a:r>
              <a:rPr sz="1300" b="0" lang="en-GB">
                <a:solidFill>
                  <a:schemeClr val="tx1"/>
                </a:solidFill>
              </a:rPr>
              <a:t>Open </a:t>
            </a:r>
            <a:r>
              <a:rPr sz="1300" b="0" lang="en-GB">
                <a:solidFill>
                  <a:schemeClr val="accent1"/>
                </a:solidFill>
                <a:hlinkClick r:id="rId4"/>
              </a:rPr>
              <a:t>github.com/settings/education/benefits</a:t>
            </a:r>
          </a:p>
          <a:p>
            <a:pPr algn="l">
              <a:spcAft>
                <a:spcPts val="900"/>
              </a:spcAft>
            </a:pPr>
            <a:r>
              <a:rPr sz="1300" b="1" lang="en-GB">
                <a:solidFill>
                  <a:schemeClr val="accent1"/>
                </a:solidFill>
              </a:rPr>
              <a:t>3  </a:t>
            </a:r>
            <a:r>
              <a:rPr sz="1300" b="1" lang="en-GB">
                <a:solidFill>
                  <a:schemeClr val="tx2"/>
                </a:solidFill>
              </a:rPr>
              <a:t>Under Free GitHub developer resources: </a:t>
            </a:r>
            <a:r>
              <a:rPr sz="1300" b="0" lang="en-GB">
                <a:solidFill>
                  <a:schemeClr val="tx1"/>
                </a:solidFill>
              </a:rPr>
              <a:t>Learn more</a:t>
            </a:r>
          </a:p>
          <a:p>
            <a:pPr algn="l">
              <a:spcAft>
                <a:spcPts val="900"/>
              </a:spcAft>
            </a:pPr>
            <a:r>
              <a:rPr sz="1300" b="1" lang="en-GB">
                <a:solidFill>
                  <a:schemeClr val="accent1"/>
                </a:solidFill>
              </a:rPr>
              <a:t>4  </a:t>
            </a:r>
            <a:r>
              <a:rPr sz="1300" b="1" lang="en-GB">
                <a:solidFill>
                  <a:schemeClr val="tx2"/>
                </a:solidFill>
              </a:rPr>
              <a:t>Follow the prompts </a:t>
            </a:r>
            <a:r>
              <a:rPr sz="1300" b="0" lang="en-GB">
                <a:solidFill>
                  <a:schemeClr val="tx1"/>
                </a:solidFill>
              </a:rPr>
              <a:t>to activate Copilot Student</a:t>
            </a:r>
          </a:p>
          <a:p>
            <a:pPr algn="l">
              <a:spcAft>
                <a:spcPts val="900"/>
              </a:spcAft>
            </a:pPr>
            <a:r>
              <a:rPr sz="1300" b="1" lang="en-GB">
                <a:solidFill>
                  <a:schemeClr val="accent1"/>
                </a:solidFill>
              </a:rPr>
              <a:t>5  </a:t>
            </a:r>
            <a:r>
              <a:rPr sz="1300" b="1" lang="en-GB">
                <a:solidFill>
                  <a:schemeClr val="tx2"/>
                </a:solidFill>
              </a:rPr>
              <a:t>Check </a:t>
            </a:r>
            <a:r>
              <a:rPr sz="1300" b="0" lang="en-GB">
                <a:solidFill>
                  <a:schemeClr val="accent1"/>
                </a:solidFill>
                <a:hlinkClick r:id="rId5"/>
              </a:rPr>
              <a:t>github.com/settings/copilot</a:t>
            </a:r>
          </a:p>
        </p:txBody>
      </p:sp>
      <p:sp>
        <p:nvSpPr>
          <p:cNvPr id="15" name="Activate card body"/>
          <p:cNvSpPr/>
          <p:nvPr/>
        </p:nvSpPr>
        <p:spPr>
          <a:xfrm>
            <a:off x="5532120" y="1645920"/>
            <a:ext cx="3154680" cy="26060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Activate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ctivate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Not approved yet?</a:t>
            </a:r>
          </a:p>
        </p:txBody>
      </p:sp>
      <p:pic>
        <p:nvPicPr>
          <p:cNvPr id="18" name="Icon Activate card" descr=""/>
          <p:cNvPicPr>
            <a:picLocks noChangeAspect="1"/>
          </p:cNvPicPr>
          <p:nvPr/>
        </p:nvPicPr>
        <p:blipFill>
          <a:blip r:embed="rId6"/>
          <a:stretch>
            <a:fillRect/>
          </a:stretch>
        </p:blipFill>
        <p:spPr>
          <a:xfrm>
            <a:off x="8247888" y="1284732"/>
            <a:ext cx="310896" cy="310896"/>
          </a:xfrm>
          <a:prstGeom prst="rect">
            <a:avLst/>
          </a:prstGeom>
        </p:spPr>
      </p:pic>
      <p:sp>
        <p:nvSpPr>
          <p:cNvPr id="19" name="Activate card text"/>
          <p:cNvSpPr txBox="1"/>
          <p:nvPr/>
        </p:nvSpPr>
        <p:spPr>
          <a:xfrm>
            <a:off x="5696712" y="1783080"/>
            <a:ext cx="2852928" cy="233172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Use Copilot Free meanwhile</a:t>
            </a:r>
          </a:p>
          <a:p>
            <a:pPr algn="l" marL="182880" indent="-182880">
              <a:spcAft>
                <a:spcPts val="600"/>
              </a:spcAft>
              <a:buClr>
                <a:schemeClr val="accent1"/>
              </a:buClr>
              <a:buFont typeface="Arial"/>
              <a:buChar char="▪"/>
            </a:pPr>
            <a:r>
              <a:rPr sz="1300" b="0" lang="en-GB">
                <a:solidFill>
                  <a:schemeClr val="tx1"/>
                </a:solidFill>
              </a:rPr>
              <a:t>github.com/settings/copilot → Start using Copilot Free</a:t>
            </a:r>
          </a:p>
          <a:p>
            <a:pPr algn="l" marL="182880" indent="-182880">
              <a:spcAft>
                <a:spcPts val="600"/>
              </a:spcAft>
              <a:buClr>
                <a:schemeClr val="accent1"/>
              </a:buClr>
              <a:buFont typeface="Arial"/>
              <a:buChar char="▪"/>
            </a:pPr>
            <a:r>
              <a:rPr sz="1300" b="0" lang="en-GB">
                <a:solidFill>
                  <a:schemeClr val="tx1"/>
                </a:solidFill>
              </a:rPr>
              <a:t>Shown a paid checkout? Do not pay; wait a few days</a:t>
            </a:r>
          </a:p>
        </p:txBody>
      </p:sp>
      <p:sp>
        <p:nvSpPr>
          <p:cNvPr id="20" name="Activate note box"/>
          <p:cNvSpPr/>
          <p:nvPr/>
        </p:nvSpPr>
        <p:spPr>
          <a:xfrm>
            <a:off x="457200" y="438912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Activate note" descr=""/>
          <p:cNvPicPr>
            <a:picLocks noChangeAspect="1"/>
          </p:cNvPicPr>
          <p:nvPr/>
        </p:nvPicPr>
        <p:blipFill>
          <a:blip r:embed="rId7"/>
          <a:stretch>
            <a:fillRect/>
          </a:stretch>
        </p:blipFill>
        <p:spPr>
          <a:xfrm>
            <a:off x="658368" y="4480560"/>
            <a:ext cx="365760" cy="365760"/>
          </a:xfrm>
          <a:prstGeom prst="rect">
            <a:avLst/>
          </a:prstGeom>
        </p:spPr>
      </p:pic>
      <p:sp>
        <p:nvSpPr>
          <p:cNvPr id="22" name="Activate note text"/>
          <p:cNvSpPr txBox="1"/>
          <p:nvPr/>
        </p:nvSpPr>
        <p:spPr>
          <a:xfrm>
            <a:off x="1207008" y="438912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Re-checked monthly: </a:t>
            </a:r>
            <a:r>
              <a:rPr sz="1200" b="0" lang="en-GB">
                <a:solidFill>
                  <a:schemeClr val="tx1"/>
                </a:solidFill>
              </a:rPr>
              <a:t>the free plan ends when you are no longer a student.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Privacy settings on github.com</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ptout body"/>
          <p:cNvSpPr/>
          <p:nvPr/>
        </p:nvSpPr>
        <p:spPr>
          <a:xfrm>
            <a:off x="457200" y="1645920"/>
            <a:ext cx="4937760" cy="19202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ptout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ptout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Opt out of model training</a:t>
            </a:r>
          </a:p>
        </p:txBody>
      </p:sp>
      <p:pic>
        <p:nvPicPr>
          <p:cNvPr id="13" name="Icon Optout" descr=""/>
          <p:cNvPicPr>
            <a:picLocks noChangeAspect="1"/>
          </p:cNvPicPr>
          <p:nvPr/>
        </p:nvPicPr>
        <p:blipFill>
          <a:blip r:embed="rId3"/>
          <a:stretch>
            <a:fillRect/>
          </a:stretch>
        </p:blipFill>
        <p:spPr>
          <a:xfrm>
            <a:off x="4956048" y="1284732"/>
            <a:ext cx="310896" cy="310896"/>
          </a:xfrm>
          <a:prstGeom prst="rect">
            <a:avLst/>
          </a:prstGeom>
        </p:spPr>
      </p:pic>
      <p:sp>
        <p:nvSpPr>
          <p:cNvPr id="14" name="Optout text"/>
          <p:cNvSpPr txBox="1"/>
          <p:nvPr/>
        </p:nvSpPr>
        <p:spPr>
          <a:xfrm>
            <a:off x="621792" y="1783080"/>
            <a:ext cx="4636008" cy="169164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0" lang="en-GB">
                <a:solidFill>
                  <a:schemeClr val="tx1"/>
                </a:solidFill>
              </a:rPr>
              <a:t>Open </a:t>
            </a:r>
            <a:r>
              <a:rPr sz="1300" b="0" lang="en-GB">
                <a:solidFill>
                  <a:schemeClr val="accent1"/>
                </a:solidFill>
                <a:hlinkClick r:id="rId4"/>
              </a:rPr>
              <a:t>github.com/settings/copilot</a:t>
            </a:r>
          </a:p>
          <a:p>
            <a:pPr algn="l">
              <a:spcAft>
                <a:spcPts val="900"/>
              </a:spcAft>
            </a:pPr>
            <a:r>
              <a:rPr sz="1300" b="1" lang="en-GB">
                <a:solidFill>
                  <a:schemeClr val="accent1"/>
                </a:solidFill>
              </a:rPr>
              <a:t>2  </a:t>
            </a:r>
            <a:r>
              <a:rPr sz="1300" b="1" lang="en-GB">
                <a:solidFill>
                  <a:schemeClr val="tx2"/>
                </a:solidFill>
              </a:rPr>
              <a:t>Find </a:t>
            </a:r>
            <a:r>
              <a:rPr sz="1300" b="0" lang="en-GB">
                <a:solidFill>
                  <a:schemeClr val="tx1"/>
                </a:solidFill>
              </a:rPr>
              <a:t>Allow GitHub to use my data for AI model training</a:t>
            </a:r>
          </a:p>
          <a:p>
            <a:pPr algn="l">
              <a:spcAft>
                <a:spcPts val="900"/>
              </a:spcAft>
            </a:pPr>
            <a:r>
              <a:rPr sz="1300" b="1" lang="en-GB">
                <a:solidFill>
                  <a:schemeClr val="accent1"/>
                </a:solidFill>
              </a:rPr>
              <a:t>3  </a:t>
            </a:r>
            <a:r>
              <a:rPr sz="1300" b="1" lang="en-GB">
                <a:solidFill>
                  <a:schemeClr val="tx2"/>
                </a:solidFill>
              </a:rPr>
              <a:t>Set it to </a:t>
            </a:r>
            <a:r>
              <a:rPr sz="1300" b="0" lang="en-GB">
                <a:solidFill>
                  <a:schemeClr val="tx1"/>
                </a:solidFill>
              </a:rPr>
              <a:t>Disabled</a:t>
            </a:r>
          </a:p>
          <a:p>
            <a:pPr algn="l">
              <a:spcAft>
                <a:spcPts val="900"/>
              </a:spcAft>
            </a:pPr>
            <a:r>
              <a:rPr sz="1300" b="1" lang="en-GB">
                <a:solidFill>
                  <a:schemeClr val="accent1"/>
                </a:solidFill>
              </a:rPr>
              <a:t>4  </a:t>
            </a:r>
            <a:r>
              <a:rPr sz="1300" b="1" lang="en-GB">
                <a:solidFill>
                  <a:schemeClr val="tx2"/>
                </a:solidFill>
              </a:rPr>
              <a:t>Done: </a:t>
            </a:r>
            <a:r>
              <a:rPr sz="1300" b="0" lang="en-GB">
                <a:solidFill>
                  <a:schemeClr val="tx1"/>
                </a:solidFill>
              </a:rPr>
              <a:t>the setting saves at once</a:t>
            </a:r>
          </a:p>
        </p:txBody>
      </p:sp>
      <p:sp>
        <p:nvSpPr>
          <p:cNvPr id="15" name="Priv rows row 1"/>
          <p:cNvSpPr/>
          <p:nvPr/>
        </p:nvSpPr>
        <p:spPr>
          <a:xfrm>
            <a:off x="5532120" y="1234440"/>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iv rows bar 1"/>
          <p:cNvSpPr/>
          <p:nvPr/>
        </p:nvSpPr>
        <p:spPr>
          <a:xfrm>
            <a:off x="5532120" y="1234440"/>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riv rows text 1"/>
          <p:cNvSpPr txBox="1"/>
          <p:nvPr/>
        </p:nvSpPr>
        <p:spPr>
          <a:xfrm>
            <a:off x="5733288" y="1234440"/>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Posit </a:t>
            </a:r>
            <a:r>
              <a:rPr sz="1200" b="0" lang="en-GB">
                <a:solidFill>
                  <a:schemeClr val="tx1"/>
                </a:solidFill>
              </a:rPr>
              <a:t>does not see your prompts</a:t>
            </a:r>
          </a:p>
        </p:txBody>
      </p:sp>
      <p:sp>
        <p:nvSpPr>
          <p:cNvPr id="18" name="Priv rows row 2"/>
          <p:cNvSpPr/>
          <p:nvPr/>
        </p:nvSpPr>
        <p:spPr>
          <a:xfrm>
            <a:off x="5532120" y="2039112"/>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riv rows bar 2"/>
          <p:cNvSpPr/>
          <p:nvPr/>
        </p:nvSpPr>
        <p:spPr>
          <a:xfrm>
            <a:off x="5532120" y="2039112"/>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iv rows text 2"/>
          <p:cNvSpPr txBox="1"/>
          <p:nvPr/>
        </p:nvSpPr>
        <p:spPr>
          <a:xfrm>
            <a:off x="5733288" y="2039112"/>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GitHub / Microsoft </a:t>
            </a:r>
            <a:r>
              <a:rPr sz="1200" b="0" lang="en-GB">
                <a:solidFill>
                  <a:schemeClr val="tx1"/>
                </a:solidFill>
              </a:rPr>
              <a:t>receive prompt and context</a:t>
            </a:r>
          </a:p>
        </p:txBody>
      </p:sp>
      <p:sp>
        <p:nvSpPr>
          <p:cNvPr id="21" name="Priv rows row 3"/>
          <p:cNvSpPr/>
          <p:nvPr/>
        </p:nvSpPr>
        <p:spPr>
          <a:xfrm>
            <a:off x="5532120" y="2843784"/>
            <a:ext cx="3154680" cy="71323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iv rows bar 3"/>
          <p:cNvSpPr/>
          <p:nvPr/>
        </p:nvSpPr>
        <p:spPr>
          <a:xfrm>
            <a:off x="5532120" y="2843784"/>
            <a:ext cx="64008"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iv rows text 3"/>
          <p:cNvSpPr txBox="1"/>
          <p:nvPr/>
        </p:nvSpPr>
        <p:spPr>
          <a:xfrm>
            <a:off x="5733288" y="2843784"/>
            <a:ext cx="2862072" cy="713232"/>
          </a:xfrm>
          <a:prstGeom prst="rect">
            <a:avLst/>
          </a:prstGeom>
          <a:noFill/>
        </p:spPr>
        <p:txBody>
          <a:bodyPr wrap="square" lIns="0" rIns="0" tIns="0" bIns="0" anchor="ctr">
            <a:noAutofit/>
          </a:bodyPr>
          <a:lstStyle/>
          <a:p>
            <a:pPr algn="l">
              <a:spcAft>
                <a:spcPts val="400"/>
              </a:spcAft>
            </a:pPr>
            <a:r>
              <a:rPr sz="1200" b="1" lang="en-GB">
                <a:solidFill>
                  <a:schemeClr val="tx2"/>
                </a:solidFill>
              </a:rPr>
              <a:t>Their terms </a:t>
            </a:r>
            <a:r>
              <a:rPr sz="1200" b="0" lang="en-GB">
                <a:solidFill>
                  <a:schemeClr val="tx1"/>
                </a:solidFill>
              </a:rPr>
              <a:t>apply to what you send</a:t>
            </a:r>
          </a:p>
        </p:txBody>
      </p:sp>
      <p:sp>
        <p:nvSpPr>
          <p:cNvPr id="24" name="Priv rule box"/>
          <p:cNvSpPr/>
          <p:nvPr/>
        </p:nvSpPr>
        <p:spPr>
          <a:xfrm>
            <a:off x="457200" y="374904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Priv rule" descr=""/>
          <p:cNvPicPr>
            <a:picLocks noChangeAspect="1"/>
          </p:cNvPicPr>
          <p:nvPr/>
        </p:nvPicPr>
        <p:blipFill>
          <a:blip r:embed="rId5"/>
          <a:stretch>
            <a:fillRect/>
          </a:stretch>
        </p:blipFill>
        <p:spPr>
          <a:xfrm>
            <a:off x="658368" y="3954780"/>
            <a:ext cx="365760" cy="365760"/>
          </a:xfrm>
          <a:prstGeom prst="rect">
            <a:avLst/>
          </a:prstGeom>
        </p:spPr>
      </p:pic>
      <p:sp>
        <p:nvSpPr>
          <p:cNvPr id="26" name="Priv rule text"/>
          <p:cNvSpPr txBox="1"/>
          <p:nvPr/>
        </p:nvSpPr>
        <p:spPr>
          <a:xfrm>
            <a:off x="1207008" y="374904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Rule: </a:t>
            </a:r>
            <a:r>
              <a:rPr sz="1200" b="0" lang="en-GB">
                <a:solidFill>
                  <a:schemeClr val="bg1"/>
                </a:solidFill>
              </a:rPr>
              <a:t>send code and anonymised data only. Names, e-mails, customer IDs and confidential files never go into a prompt.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check the version, sign in, test that it works</a:t>
            </a:r>
          </a:p>
        </p:txBody>
      </p:sp>
      <p:sp>
        <p:nvSpPr>
          <p:cNvPr id="3" name="Title 2"/>
          <p:cNvSpPr>
            <a:spLocks noGrp="1"/>
          </p:cNvSpPr>
          <p:nvPr>
            <p:ph type="ctrTitle"/>
          </p:nvPr>
        </p:nvSpPr>
        <p:spPr/>
        <p:txBody>
          <a:bodyPr/>
          <a:lstStyle/>
          <a:p>
            <a:r>
              <a:rPr sz="1600" lang="en-GB"/>
              <a:t>Connect Copilot to Positron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Before you start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Before row 1"/>
          <p:cNvSpPr/>
          <p:nvPr/>
        </p:nvSpPr>
        <p:spPr>
          <a:xfrm>
            <a:off x="457200" y="123444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efore number 1"/>
          <p:cNvSpPr/>
          <p:nvPr/>
        </p:nvSpPr>
        <p:spPr>
          <a:xfrm>
            <a:off x="594360" y="1353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Before text 1"/>
          <p:cNvSpPr txBox="1"/>
          <p:nvPr/>
        </p:nvSpPr>
        <p:spPr>
          <a:xfrm>
            <a:off x="1051560" y="1234440"/>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2026.07 or later: </a:t>
            </a:r>
            <a:r>
              <a:rPr sz="1200" b="0" lang="en-GB">
                <a:solidFill>
                  <a:schemeClr val="tx1"/>
                </a:solidFill>
              </a:rPr>
              <a:t>Help → Check for Updates (current: 2026.10)</a:t>
            </a:r>
          </a:p>
        </p:txBody>
      </p:sp>
      <p:sp>
        <p:nvSpPr>
          <p:cNvPr id="13" name="Before row 2"/>
          <p:cNvSpPr/>
          <p:nvPr/>
        </p:nvSpPr>
        <p:spPr>
          <a:xfrm>
            <a:off x="457200" y="1856232"/>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efore number 2"/>
          <p:cNvSpPr/>
          <p:nvPr/>
        </p:nvSpPr>
        <p:spPr>
          <a:xfrm>
            <a:off x="594360" y="1975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Before text 2"/>
          <p:cNvSpPr txBox="1"/>
          <p:nvPr/>
        </p:nvSpPr>
        <p:spPr>
          <a:xfrm>
            <a:off x="1051560" y="1856232"/>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Open your project folder: </a:t>
            </a:r>
            <a:r>
              <a:rPr sz="1200" b="0" lang="en-GB">
                <a:solidFill>
                  <a:schemeClr val="tx1"/>
                </a:solidFill>
              </a:rPr>
              <a:t>File → Open Folder</a:t>
            </a:r>
          </a:p>
        </p:txBody>
      </p:sp>
      <p:sp>
        <p:nvSpPr>
          <p:cNvPr id="16" name="Before row 3"/>
          <p:cNvSpPr/>
          <p:nvPr/>
        </p:nvSpPr>
        <p:spPr>
          <a:xfrm>
            <a:off x="457200" y="2478024"/>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efore number 3"/>
          <p:cNvSpPr/>
          <p:nvPr/>
        </p:nvSpPr>
        <p:spPr>
          <a:xfrm>
            <a:off x="594360" y="25968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Before text 3"/>
          <p:cNvSpPr txBox="1"/>
          <p:nvPr/>
        </p:nvSpPr>
        <p:spPr>
          <a:xfrm>
            <a:off x="1051560" y="2478024"/>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Trust the folder </a:t>
            </a:r>
            <a:r>
              <a:rPr sz="1200" b="0" lang="en-GB">
                <a:solidFill>
                  <a:schemeClr val="tx1"/>
                </a:solidFill>
              </a:rPr>
              <a:t>when Positron asks: Yes, I trust the authors</a:t>
            </a:r>
          </a:p>
        </p:txBody>
      </p:sp>
      <p:sp>
        <p:nvSpPr>
          <p:cNvPr id="19" name="Before row 4"/>
          <p:cNvSpPr/>
          <p:nvPr/>
        </p:nvSpPr>
        <p:spPr>
          <a:xfrm>
            <a:off x="457200" y="3099816"/>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Before number 4"/>
          <p:cNvSpPr/>
          <p:nvPr/>
        </p:nvSpPr>
        <p:spPr>
          <a:xfrm>
            <a:off x="594360" y="32186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Before text 4"/>
          <p:cNvSpPr txBox="1"/>
          <p:nvPr/>
        </p:nvSpPr>
        <p:spPr>
          <a:xfrm>
            <a:off x="1051560" y="3099816"/>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Python running: </a:t>
            </a:r>
            <a:r>
              <a:rPr sz="1200" b="0" lang="en-GB">
                <a:solidFill>
                  <a:schemeClr val="tx1"/>
                </a:solidFill>
              </a:rPr>
              <a:t>pick Python 3.14 (.venv) at the top right</a:t>
            </a:r>
          </a:p>
        </p:txBody>
      </p:sp>
      <p:sp>
        <p:nvSpPr>
          <p:cNvPr id="22" name="Before row 5"/>
          <p:cNvSpPr/>
          <p:nvPr/>
        </p:nvSpPr>
        <p:spPr>
          <a:xfrm>
            <a:off x="457200" y="3721608"/>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Before number 5"/>
          <p:cNvSpPr/>
          <p:nvPr/>
        </p:nvSpPr>
        <p:spPr>
          <a:xfrm>
            <a:off x="594360" y="384048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Before text 5"/>
          <p:cNvSpPr txBox="1"/>
          <p:nvPr/>
        </p:nvSpPr>
        <p:spPr>
          <a:xfrm>
            <a:off x="1051560" y="3721608"/>
            <a:ext cx="749808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GitHub account </a:t>
            </a:r>
            <a:r>
              <a:rPr sz="1200" b="0" lang="en-GB">
                <a:solidFill>
                  <a:schemeClr val="tx1"/>
                </a:solidFill>
              </a:rPr>
              <a:t>with Copilot Free or Copilot Student active</a:t>
            </a:r>
          </a:p>
        </p:txBody>
      </p:sp>
      <p:sp>
        <p:nvSpPr>
          <p:cNvPr id="25" name="Before note box"/>
          <p:cNvSpPr/>
          <p:nvPr/>
        </p:nvSpPr>
        <p:spPr>
          <a:xfrm>
            <a:off x="457200" y="45720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Before note" descr=""/>
          <p:cNvPicPr>
            <a:picLocks noChangeAspect="1"/>
          </p:cNvPicPr>
          <p:nvPr/>
        </p:nvPicPr>
        <p:blipFill>
          <a:blip r:embed="rId3"/>
          <a:stretch>
            <a:fillRect/>
          </a:stretch>
        </p:blipFill>
        <p:spPr>
          <a:xfrm>
            <a:off x="658368" y="4617720"/>
            <a:ext cx="365760" cy="365760"/>
          </a:xfrm>
          <a:prstGeom prst="rect">
            <a:avLst/>
          </a:prstGeom>
        </p:spPr>
      </p:pic>
      <p:sp>
        <p:nvSpPr>
          <p:cNvPr id="27" name="Before note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Nothing to switch on: </a:t>
            </a:r>
            <a:r>
              <a:rPr sz="1200" b="0" lang="en-GB">
                <a:solidFill>
                  <a:schemeClr val="tx1"/>
                </a:solidFill>
              </a:rPr>
              <a:t>AI is ready; it waits for a provider.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Connect GitHub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ignin body"/>
          <p:cNvSpPr/>
          <p:nvPr/>
        </p:nvSpPr>
        <p:spPr>
          <a:xfrm>
            <a:off x="457200" y="1645920"/>
            <a:ext cx="4937760" cy="2651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ignin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ignin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In Positron</a:t>
            </a:r>
          </a:p>
        </p:txBody>
      </p:sp>
      <p:pic>
        <p:nvPicPr>
          <p:cNvPr id="13" name="Icon Signin" descr=""/>
          <p:cNvPicPr>
            <a:picLocks noChangeAspect="1"/>
          </p:cNvPicPr>
          <p:nvPr/>
        </p:nvPicPr>
        <p:blipFill>
          <a:blip r:embed="rId3"/>
          <a:stretch>
            <a:fillRect/>
          </a:stretch>
        </p:blipFill>
        <p:spPr>
          <a:xfrm>
            <a:off x="4956048" y="1284732"/>
            <a:ext cx="310896" cy="310896"/>
          </a:xfrm>
          <a:prstGeom prst="rect">
            <a:avLst/>
          </a:prstGeom>
        </p:spPr>
      </p:pic>
      <p:sp>
        <p:nvSpPr>
          <p:cNvPr id="14" name="Signin text"/>
          <p:cNvSpPr txBox="1"/>
          <p:nvPr/>
        </p:nvSpPr>
        <p:spPr>
          <a:xfrm>
            <a:off x="621792" y="1783080"/>
            <a:ext cx="4636008" cy="24231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Command Palette: </a:t>
            </a:r>
            <a:r>
              <a:rPr sz="1300" b="0" lang="en-GB">
                <a:solidFill>
                  <a:schemeClr val="tx1"/>
                </a:solidFill>
              </a:rPr>
              <a:t>Ctrl/Cmd + Shift + P</a:t>
            </a:r>
          </a:p>
          <a:p>
            <a:pPr algn="l">
              <a:spcAft>
                <a:spcPts val="900"/>
              </a:spcAft>
            </a:pPr>
            <a:r>
              <a:rPr sz="1300" b="1" lang="en-GB">
                <a:solidFill>
                  <a:schemeClr val="accent1"/>
                </a:solidFill>
              </a:rPr>
              <a:t>2  </a:t>
            </a:r>
            <a:r>
              <a:rPr sz="1300" b="1" lang="en-GB">
                <a:solidFill>
                  <a:schemeClr val="tx2"/>
                </a:solidFill>
              </a:rPr>
              <a:t>Type and run: </a:t>
            </a:r>
            <a:r>
              <a:rPr sz="1300" b="0" lang="en-GB">
                <a:solidFill>
                  <a:schemeClr val="tx1"/>
                </a:solidFill>
              </a:rPr>
              <a:t>Authentication: Configure Language Model Providers</a:t>
            </a:r>
          </a:p>
          <a:p>
            <a:pPr algn="l">
              <a:spcAft>
                <a:spcPts val="900"/>
              </a:spcAft>
            </a:pPr>
            <a:r>
              <a:rPr sz="1300" b="1" lang="en-GB">
                <a:solidFill>
                  <a:schemeClr val="accent1"/>
                </a:solidFill>
              </a:rPr>
              <a:t>3  </a:t>
            </a:r>
            <a:r>
              <a:rPr sz="1300" b="1" lang="en-GB">
                <a:solidFill>
                  <a:schemeClr val="tx2"/>
                </a:solidFill>
              </a:rPr>
              <a:t>Pick </a:t>
            </a:r>
            <a:r>
              <a:rPr sz="1300" b="0" lang="en-GB">
                <a:solidFill>
                  <a:schemeClr val="tx1"/>
                </a:solidFill>
              </a:rPr>
              <a:t>GitHub Copilot</a:t>
            </a:r>
          </a:p>
          <a:p>
            <a:pPr algn="l">
              <a:spcAft>
                <a:spcPts val="900"/>
              </a:spcAft>
            </a:pPr>
            <a:r>
              <a:rPr sz="1300" b="1" lang="en-GB">
                <a:solidFill>
                  <a:schemeClr val="accent1"/>
                </a:solidFill>
              </a:rPr>
              <a:t>4  </a:t>
            </a:r>
            <a:r>
              <a:rPr sz="1300" b="1" lang="en-GB">
                <a:solidFill>
                  <a:schemeClr val="tx2"/>
                </a:solidFill>
              </a:rPr>
              <a:t>Sign in </a:t>
            </a:r>
            <a:r>
              <a:rPr sz="1300" b="0" lang="en-GB">
                <a:solidFill>
                  <a:schemeClr val="tx1"/>
                </a:solidFill>
              </a:rPr>
              <a:t>in the browser, click Authorize</a:t>
            </a:r>
          </a:p>
          <a:p>
            <a:pPr algn="l">
              <a:spcAft>
                <a:spcPts val="900"/>
              </a:spcAft>
            </a:pPr>
            <a:r>
              <a:rPr sz="1300" b="1" lang="en-GB">
                <a:solidFill>
                  <a:schemeClr val="accent1"/>
                </a:solidFill>
              </a:rPr>
              <a:t>5  </a:t>
            </a:r>
            <a:r>
              <a:rPr sz="1300" b="1" lang="en-GB">
                <a:solidFill>
                  <a:schemeClr val="tx2"/>
                </a:solidFill>
              </a:rPr>
              <a:t>Back in Positron: </a:t>
            </a:r>
            <a:r>
              <a:rPr sz="1300" b="0" lang="en-GB">
                <a:solidFill>
                  <a:schemeClr val="tx1"/>
                </a:solidFill>
              </a:rPr>
              <a:t>Copilot shows as connected</a:t>
            </a:r>
          </a:p>
        </p:txBody>
      </p:sp>
      <p:sp>
        <p:nvSpPr>
          <p:cNvPr id="15" name="Signin cmd caption bar"/>
          <p:cNvSpPr/>
          <p:nvPr/>
        </p:nvSpPr>
        <p:spPr>
          <a:xfrm>
            <a:off x="5532120" y="1234440"/>
            <a:ext cx="315468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ignin cmd caption"/>
          <p:cNvSpPr txBox="1"/>
          <p:nvPr/>
        </p:nvSpPr>
        <p:spPr>
          <a:xfrm>
            <a:off x="5641848" y="1234440"/>
            <a:ext cx="293522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Command Palette</a:t>
            </a:r>
          </a:p>
        </p:txBody>
      </p:sp>
      <p:sp>
        <p:nvSpPr>
          <p:cNvPr id="17" name="Signin cmd box"/>
          <p:cNvSpPr/>
          <p:nvPr/>
        </p:nvSpPr>
        <p:spPr>
          <a:xfrm>
            <a:off x="5532120" y="1508760"/>
            <a:ext cx="315468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Signin cmd code"/>
          <p:cNvSpPr txBox="1"/>
          <p:nvPr/>
        </p:nvSpPr>
        <p:spPr>
          <a:xfrm>
            <a:off x="5669280" y="1600200"/>
            <a:ext cx="2880360" cy="64008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Authentication:</a:t>
            </a:r>
          </a:p>
          <a:p>
            <a:pPr algn="l">
              <a:spcAft>
                <a:spcPts val="0"/>
              </a:spcAft>
            </a:pPr>
            <a:r>
              <a:rPr sz="1100" b="0" lang="en-GB">
                <a:solidFill>
                  <a:schemeClr val="bg1"/>
                </a:solidFill>
                <a:latin typeface="Consolas"/>
              </a:rPr>
              <a:t>  Configure Language</a:t>
            </a:r>
          </a:p>
          <a:p>
            <a:pPr algn="l">
              <a:spcAft>
                <a:spcPts val="0"/>
              </a:spcAft>
            </a:pPr>
            <a:r>
              <a:rPr sz="1100" b="0" lang="en-GB">
                <a:solidFill>
                  <a:schemeClr val="bg1"/>
                </a:solidFill>
                <a:latin typeface="Consolas"/>
              </a:rPr>
              <a:t>  Model Providers</a:t>
            </a:r>
          </a:p>
        </p:txBody>
      </p:sp>
      <p:sp>
        <p:nvSpPr>
          <p:cNvPr id="19" name="Signin card body"/>
          <p:cNvSpPr/>
          <p:nvPr/>
        </p:nvSpPr>
        <p:spPr>
          <a:xfrm>
            <a:off x="5532120" y="2880360"/>
            <a:ext cx="3154680" cy="14173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ignin card header"/>
          <p:cNvSpPr/>
          <p:nvPr/>
        </p:nvSpPr>
        <p:spPr>
          <a:xfrm>
            <a:off x="5532120" y="246888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ignin card heading"/>
          <p:cNvSpPr txBox="1"/>
          <p:nvPr/>
        </p:nvSpPr>
        <p:spPr>
          <a:xfrm>
            <a:off x="5669280" y="246888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Shortcut</a:t>
            </a:r>
          </a:p>
        </p:txBody>
      </p:sp>
      <p:pic>
        <p:nvPicPr>
          <p:cNvPr id="22" name="Icon Signin card" descr=""/>
          <p:cNvPicPr>
            <a:picLocks noChangeAspect="1"/>
          </p:cNvPicPr>
          <p:nvPr/>
        </p:nvPicPr>
        <p:blipFill>
          <a:blip r:embed="rId4"/>
          <a:stretch>
            <a:fillRect/>
          </a:stretch>
        </p:blipFill>
        <p:spPr>
          <a:xfrm>
            <a:off x="8247888" y="2519172"/>
            <a:ext cx="310896" cy="310896"/>
          </a:xfrm>
          <a:prstGeom prst="rect">
            <a:avLst/>
          </a:prstGeom>
        </p:spPr>
      </p:pic>
      <p:sp>
        <p:nvSpPr>
          <p:cNvPr id="23" name="Signin card text"/>
          <p:cNvSpPr txBox="1"/>
          <p:nvPr/>
        </p:nvSpPr>
        <p:spPr>
          <a:xfrm>
            <a:off x="5696712" y="3017520"/>
            <a:ext cx="2852928" cy="11430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Accounts menu (person icon, bottom left)</a:t>
            </a:r>
          </a:p>
          <a:p>
            <a:pPr algn="l" marL="182880" indent="-182880">
              <a:spcAft>
                <a:spcPts val="600"/>
              </a:spcAft>
              <a:buClr>
                <a:schemeClr val="accent1"/>
              </a:buClr>
              <a:buFont typeface="Arial"/>
              <a:buChar char="▪"/>
            </a:pPr>
            <a:r>
              <a:rPr sz="1300" b="0" lang="en-GB">
                <a:solidFill>
                  <a:schemeClr val="tx1"/>
                </a:solidFill>
              </a:rPr>
              <a:t>→ Configure Language Model Providers</a:t>
            </a:r>
          </a:p>
        </p:txBody>
      </p:sp>
      <p:sp>
        <p:nvSpPr>
          <p:cNvPr id="24" name="Signin gotcha box"/>
          <p:cNvSpPr/>
          <p:nvPr/>
        </p:nvSpPr>
        <p:spPr>
          <a:xfrm>
            <a:off x="457200" y="44348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Signin gotcha" descr=""/>
          <p:cNvPicPr>
            <a:picLocks noChangeAspect="1"/>
          </p:cNvPicPr>
          <p:nvPr/>
        </p:nvPicPr>
        <p:blipFill>
          <a:blip r:embed="rId5"/>
          <a:stretch>
            <a:fillRect/>
          </a:stretch>
        </p:blipFill>
        <p:spPr>
          <a:xfrm>
            <a:off x="658368" y="4526280"/>
            <a:ext cx="365760" cy="365760"/>
          </a:xfrm>
          <a:prstGeom prst="rect">
            <a:avLst/>
          </a:prstGeom>
        </p:spPr>
      </p:pic>
      <p:sp>
        <p:nvSpPr>
          <p:cNvPr id="26" name="Signin gotcha text"/>
          <p:cNvSpPr txBox="1"/>
          <p:nvPr/>
        </p:nvSpPr>
        <p:spPr>
          <a:xfrm>
            <a:off x="1207008" y="443484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Signed in to GitHub, but no Copilot? </a:t>
            </a:r>
            <a:r>
              <a:rPr sz="1200" b="0" lang="en-GB">
                <a:solidFill>
                  <a:schemeClr val="bg1"/>
                </a:solidFill>
              </a:rPr>
              <a:t>you must use Configure Language Model Providers.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that it works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check 1" descr=""/>
          <p:cNvPicPr>
            <a:picLocks noChangeAspect="1"/>
          </p:cNvPicPr>
          <p:nvPr/>
        </p:nvPicPr>
        <p:blipFill>
          <a:blip r:embed="rId3"/>
          <a:stretch>
            <a:fillRect/>
          </a:stretch>
        </p:blipFill>
        <p:spPr>
          <a:xfrm>
            <a:off x="621792" y="1362456"/>
            <a:ext cx="365760" cy="365760"/>
          </a:xfrm>
          <a:prstGeom prst="rect">
            <a:avLst/>
          </a:prstGeom>
        </p:spPr>
      </p:pic>
      <p:sp>
        <p:nvSpPr>
          <p:cNvPr id="12" name="Check text 1"/>
          <p:cNvSpPr txBox="1"/>
          <p:nvPr/>
        </p:nvSpPr>
        <p:spPr>
          <a:xfrm>
            <a:off x="1143000" y="1234440"/>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Connected: </a:t>
            </a:r>
            <a:r>
              <a:rPr sz="1200" b="0" lang="en-GB">
                <a:solidFill>
                  <a:schemeClr val="tx1"/>
                </a:solidFill>
              </a:rPr>
              <a:t>the provider dialog shows GitHub Copilot as connected</a:t>
            </a:r>
          </a:p>
        </p:txBody>
      </p:sp>
      <p:sp>
        <p:nvSpPr>
          <p:cNvPr id="13" name="Check row 2"/>
          <p:cNvSpPr/>
          <p:nvPr/>
        </p:nvSpPr>
        <p:spPr>
          <a:xfrm>
            <a:off x="457200" y="1929384"/>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check 2" descr=""/>
          <p:cNvPicPr>
            <a:picLocks noChangeAspect="1"/>
          </p:cNvPicPr>
          <p:nvPr/>
        </p:nvPicPr>
        <p:blipFill>
          <a:blip r:embed="rId4"/>
          <a:stretch>
            <a:fillRect/>
          </a:stretch>
        </p:blipFill>
        <p:spPr>
          <a:xfrm>
            <a:off x="621792" y="2057400"/>
            <a:ext cx="365760" cy="365760"/>
          </a:xfrm>
          <a:prstGeom prst="rect">
            <a:avLst/>
          </a:prstGeom>
        </p:spPr>
      </p:pic>
      <p:sp>
        <p:nvSpPr>
          <p:cNvPr id="15" name="Check text 2"/>
          <p:cNvSpPr txBox="1"/>
          <p:nvPr/>
        </p:nvSpPr>
        <p:spPr>
          <a:xfrm>
            <a:off x="1143000" y="1929384"/>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Chat: </a:t>
            </a:r>
            <a:r>
              <a:rPr sz="1200" b="0" lang="en-GB">
                <a:solidFill>
                  <a:schemeClr val="tx1"/>
                </a:solidFill>
              </a:rPr>
              <a:t>View: Show Posit Assistant opens; Copilot models in the model picker</a:t>
            </a:r>
          </a:p>
        </p:txBody>
      </p:sp>
      <p:sp>
        <p:nvSpPr>
          <p:cNvPr id="16" name="Check row 3"/>
          <p:cNvSpPr/>
          <p:nvPr/>
        </p:nvSpPr>
        <p:spPr>
          <a:xfrm>
            <a:off x="457200" y="2624328"/>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check 3" descr=""/>
          <p:cNvPicPr>
            <a:picLocks noChangeAspect="1"/>
          </p:cNvPicPr>
          <p:nvPr/>
        </p:nvPicPr>
        <p:blipFill>
          <a:blip r:embed="rId5"/>
          <a:stretch>
            <a:fillRect/>
          </a:stretch>
        </p:blipFill>
        <p:spPr>
          <a:xfrm>
            <a:off x="621792" y="2752344"/>
            <a:ext cx="365760" cy="365760"/>
          </a:xfrm>
          <a:prstGeom prst="rect">
            <a:avLst/>
          </a:prstGeom>
        </p:spPr>
      </p:pic>
      <p:sp>
        <p:nvSpPr>
          <p:cNvPr id="18" name="Check text 3"/>
          <p:cNvSpPr txBox="1"/>
          <p:nvPr/>
        </p:nvSpPr>
        <p:spPr>
          <a:xfrm>
            <a:off x="1143000" y="2624328"/>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Ghost text: </a:t>
            </a:r>
            <a:r>
              <a:rPr sz="1200" b="0" lang="en-GB">
                <a:solidFill>
                  <a:schemeClr val="tx1"/>
                </a:solidFill>
              </a:rPr>
              <a:t>typing in a .py file or a Quarto code cell shows grey suggestions</a:t>
            </a:r>
          </a:p>
        </p:txBody>
      </p:sp>
      <p:sp>
        <p:nvSpPr>
          <p:cNvPr id="19" name="Check row 4"/>
          <p:cNvSpPr/>
          <p:nvPr/>
        </p:nvSpPr>
        <p:spPr>
          <a:xfrm>
            <a:off x="457200" y="3319272"/>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check 4" descr=""/>
          <p:cNvPicPr>
            <a:picLocks noChangeAspect="1"/>
          </p:cNvPicPr>
          <p:nvPr/>
        </p:nvPicPr>
        <p:blipFill>
          <a:blip r:embed="rId6"/>
          <a:stretch>
            <a:fillRect/>
          </a:stretch>
        </p:blipFill>
        <p:spPr>
          <a:xfrm>
            <a:off x="621792" y="3447288"/>
            <a:ext cx="365760" cy="365760"/>
          </a:xfrm>
          <a:prstGeom prst="rect">
            <a:avLst/>
          </a:prstGeom>
        </p:spPr>
      </p:pic>
      <p:sp>
        <p:nvSpPr>
          <p:cNvPr id="21" name="Check text 4"/>
          <p:cNvSpPr txBox="1"/>
          <p:nvPr/>
        </p:nvSpPr>
        <p:spPr>
          <a:xfrm>
            <a:off x="1143000" y="3319272"/>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Status bar: </a:t>
            </a:r>
            <a:r>
              <a:rPr sz="1200" b="0" lang="en-GB">
                <a:solidFill>
                  <a:schemeClr val="tx1"/>
                </a:solidFill>
              </a:rPr>
              <a:t>the Copilot icon at the bottom shows your usage</a:t>
            </a:r>
          </a:p>
        </p:txBody>
      </p:sp>
      <p:sp>
        <p:nvSpPr>
          <p:cNvPr id="22" name="Check row 5"/>
          <p:cNvSpPr/>
          <p:nvPr/>
        </p:nvSpPr>
        <p:spPr>
          <a:xfrm>
            <a:off x="457200" y="4014216"/>
            <a:ext cx="8229600" cy="6217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Icon check 5" descr=""/>
          <p:cNvPicPr>
            <a:picLocks noChangeAspect="1"/>
          </p:cNvPicPr>
          <p:nvPr/>
        </p:nvPicPr>
        <p:blipFill>
          <a:blip r:embed="rId7"/>
          <a:stretch>
            <a:fillRect/>
          </a:stretch>
        </p:blipFill>
        <p:spPr>
          <a:xfrm>
            <a:off x="621792" y="4142232"/>
            <a:ext cx="365760" cy="365760"/>
          </a:xfrm>
          <a:prstGeom prst="rect">
            <a:avLst/>
          </a:prstGeom>
        </p:spPr>
      </p:pic>
      <p:sp>
        <p:nvSpPr>
          <p:cNvPr id="24" name="Check text 5"/>
          <p:cNvSpPr txBox="1"/>
          <p:nvPr/>
        </p:nvSpPr>
        <p:spPr>
          <a:xfrm>
            <a:off x="1143000" y="4014216"/>
            <a:ext cx="7406640" cy="621792"/>
          </a:xfrm>
          <a:prstGeom prst="rect">
            <a:avLst/>
          </a:prstGeom>
          <a:noFill/>
        </p:spPr>
        <p:txBody>
          <a:bodyPr wrap="square" lIns="0" rIns="0" tIns="0" bIns="0" anchor="ctr">
            <a:noAutofit/>
          </a:bodyPr>
          <a:lstStyle/>
          <a:p>
            <a:pPr algn="l">
              <a:spcAft>
                <a:spcPts val="400"/>
              </a:spcAft>
            </a:pPr>
            <a:r>
              <a:rPr sz="1200" b="1" lang="en-GB">
                <a:solidFill>
                  <a:schemeClr val="tx2"/>
                </a:solidFill>
              </a:rPr>
              <a:t>Report: </a:t>
            </a:r>
            <a:r>
              <a:rPr sz="1200" b="0" lang="en-GB">
                <a:solidFill>
                  <a:schemeClr val="tx1"/>
                </a:solidFill>
              </a:rPr>
              <a:t>Command Palette → AI: Create Diagnostic Report</a:t>
            </a:r>
          </a:p>
        </p:txBody>
      </p:sp>
      <p:sp>
        <p:nvSpPr>
          <p:cNvPr id="25" name="Check ok box"/>
          <p:cNvSpPr/>
          <p:nvPr/>
        </p:nvSpPr>
        <p:spPr>
          <a:xfrm>
            <a:off x="457200" y="475488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heck ok" descr=""/>
          <p:cNvPicPr>
            <a:picLocks noChangeAspect="1"/>
          </p:cNvPicPr>
          <p:nvPr/>
        </p:nvPicPr>
        <p:blipFill>
          <a:blip r:embed="rId8"/>
          <a:stretch>
            <a:fillRect/>
          </a:stretch>
        </p:blipFill>
        <p:spPr>
          <a:xfrm>
            <a:off x="658368" y="4764024"/>
            <a:ext cx="365760" cy="365760"/>
          </a:xfrm>
          <a:prstGeom prst="rect">
            <a:avLst/>
          </a:prstGeom>
        </p:spPr>
      </p:pic>
      <p:sp>
        <p:nvSpPr>
          <p:cNvPr id="27" name="Check ok text"/>
          <p:cNvSpPr txBox="1"/>
          <p:nvPr/>
        </p:nvSpPr>
        <p:spPr>
          <a:xfrm>
            <a:off x="1207008" y="4754880"/>
            <a:ext cx="7315200"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All five fine? </a:t>
            </a:r>
            <a:r>
              <a:rPr sz="1200" b="0" lang="en-GB">
                <a:solidFill>
                  <a:schemeClr val="tx1"/>
                </a:solidFill>
              </a:rPr>
              <a:t>you are ready.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If the browser does not return to Positron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vice body"/>
          <p:cNvSpPr/>
          <p:nvPr/>
        </p:nvSpPr>
        <p:spPr>
          <a:xfrm>
            <a:off x="457200" y="1645920"/>
            <a:ext cx="49377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Device header"/>
          <p:cNvSpPr/>
          <p:nvPr/>
        </p:nvSpPr>
        <p:spPr>
          <a:xfrm>
            <a:off x="457200" y="1234440"/>
            <a:ext cx="4937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Device heading"/>
          <p:cNvSpPr txBox="1"/>
          <p:nvPr/>
        </p:nvSpPr>
        <p:spPr>
          <a:xfrm>
            <a:off x="594360" y="1234440"/>
            <a:ext cx="4251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 with a device code</a:t>
            </a:r>
          </a:p>
        </p:txBody>
      </p:sp>
      <p:pic>
        <p:nvPicPr>
          <p:cNvPr id="13" name="Icon Device" descr=""/>
          <p:cNvPicPr>
            <a:picLocks noChangeAspect="1"/>
          </p:cNvPicPr>
          <p:nvPr/>
        </p:nvPicPr>
        <p:blipFill>
          <a:blip r:embed="rId3"/>
          <a:stretch>
            <a:fillRect/>
          </a:stretch>
        </p:blipFill>
        <p:spPr>
          <a:xfrm>
            <a:off x="4956048" y="1284732"/>
            <a:ext cx="310896" cy="310896"/>
          </a:xfrm>
          <a:prstGeom prst="rect">
            <a:avLst/>
          </a:prstGeom>
        </p:spPr>
      </p:pic>
      <p:sp>
        <p:nvSpPr>
          <p:cNvPr id="14" name="Device text"/>
          <p:cNvSpPr txBox="1"/>
          <p:nvPr/>
        </p:nvSpPr>
        <p:spPr>
          <a:xfrm>
            <a:off x="621792" y="1783080"/>
            <a:ext cx="4636008" cy="210312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Settings: </a:t>
            </a:r>
            <a:r>
              <a:rPr sz="1300" b="0" lang="en-GB">
                <a:solidFill>
                  <a:schemeClr val="tx1"/>
                </a:solidFill>
              </a:rPr>
              <a:t>search preferDeviceCodeFlow, tick it</a:t>
            </a:r>
          </a:p>
          <a:p>
            <a:pPr algn="l">
              <a:spcAft>
                <a:spcPts val="900"/>
              </a:spcAft>
            </a:pPr>
            <a:r>
              <a:rPr sz="1300" b="1" lang="en-GB">
                <a:solidFill>
                  <a:schemeClr val="accent1"/>
                </a:solidFill>
              </a:rPr>
              <a:t>2  </a:t>
            </a:r>
            <a:r>
              <a:rPr sz="1300" b="1" lang="en-GB">
                <a:solidFill>
                  <a:schemeClr val="tx2"/>
                </a:solidFill>
              </a:rPr>
              <a:t>Run again: </a:t>
            </a:r>
            <a:r>
              <a:rPr sz="1300" b="0" lang="en-GB">
                <a:solidFill>
                  <a:schemeClr val="tx1"/>
                </a:solidFill>
              </a:rPr>
              <a:t>Configure Language Model Providers</a:t>
            </a:r>
          </a:p>
          <a:p>
            <a:pPr algn="l">
              <a:spcAft>
                <a:spcPts val="900"/>
              </a:spcAft>
            </a:pPr>
            <a:r>
              <a:rPr sz="1300" b="1" lang="en-GB">
                <a:solidFill>
                  <a:schemeClr val="accent1"/>
                </a:solidFill>
              </a:rPr>
              <a:t>3  </a:t>
            </a:r>
            <a:r>
              <a:rPr sz="1300" b="1" lang="en-GB">
                <a:solidFill>
                  <a:schemeClr val="tx2"/>
                </a:solidFill>
              </a:rPr>
              <a:t>Dialog shows </a:t>
            </a:r>
            <a:r>
              <a:rPr sz="1300" b="0" lang="en-GB">
                <a:solidFill>
                  <a:schemeClr val="tx1"/>
                </a:solidFill>
              </a:rPr>
              <a:t>Your Code: e.g. 4F2A-91C7</a:t>
            </a:r>
          </a:p>
          <a:p>
            <a:pPr algn="l">
              <a:spcAft>
                <a:spcPts val="900"/>
              </a:spcAft>
            </a:pPr>
            <a:r>
              <a:rPr sz="1300" b="1" lang="en-GB">
                <a:solidFill>
                  <a:schemeClr val="accent1"/>
                </a:solidFill>
              </a:rPr>
              <a:t>4  </a:t>
            </a:r>
            <a:r>
              <a:rPr sz="1300" b="1" lang="en-GB">
                <a:solidFill>
                  <a:schemeClr val="tx2"/>
                </a:solidFill>
              </a:rPr>
              <a:t>Click </a:t>
            </a:r>
            <a:r>
              <a:rPr sz="1300" b="0" lang="en-GB">
                <a:solidFill>
                  <a:schemeClr val="tx1"/>
                </a:solidFill>
              </a:rPr>
              <a:t>Copy &amp; Continue to Browser</a:t>
            </a:r>
          </a:p>
          <a:p>
            <a:pPr algn="l">
              <a:spcAft>
                <a:spcPts val="900"/>
              </a:spcAft>
            </a:pPr>
            <a:r>
              <a:rPr sz="1300" b="1" lang="en-GB">
                <a:solidFill>
                  <a:schemeClr val="accent1"/>
                </a:solidFill>
              </a:rPr>
              <a:t>5  </a:t>
            </a:r>
            <a:r>
              <a:rPr sz="1300" b="1" lang="en-GB">
                <a:solidFill>
                  <a:schemeClr val="tx2"/>
                </a:solidFill>
              </a:rPr>
              <a:t>Paste the code </a:t>
            </a:r>
            <a:r>
              <a:rPr sz="1300" b="0" lang="en-GB">
                <a:solidFill>
                  <a:schemeClr val="tx1"/>
                </a:solidFill>
              </a:rPr>
              <a:t>on GitHub, click Authorize</a:t>
            </a:r>
          </a:p>
        </p:txBody>
      </p:sp>
      <p:sp>
        <p:nvSpPr>
          <p:cNvPr id="15" name="Device card body"/>
          <p:cNvSpPr/>
          <p:nvPr/>
        </p:nvSpPr>
        <p:spPr>
          <a:xfrm>
            <a:off x="5532120" y="1645920"/>
            <a:ext cx="315468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evice card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evice card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Still stuck?</a:t>
            </a:r>
          </a:p>
        </p:txBody>
      </p:sp>
      <p:pic>
        <p:nvPicPr>
          <p:cNvPr id="18" name="Icon Device card" descr=""/>
          <p:cNvPicPr>
            <a:picLocks noChangeAspect="1"/>
          </p:cNvPicPr>
          <p:nvPr/>
        </p:nvPicPr>
        <p:blipFill>
          <a:blip r:embed="rId4"/>
          <a:stretch>
            <a:fillRect/>
          </a:stretch>
        </p:blipFill>
        <p:spPr>
          <a:xfrm>
            <a:off x="8247888" y="1284732"/>
            <a:ext cx="310896" cy="310896"/>
          </a:xfrm>
          <a:prstGeom prst="rect">
            <a:avLst/>
          </a:prstGeom>
        </p:spPr>
      </p:pic>
      <p:sp>
        <p:nvSpPr>
          <p:cNvPr id="19" name="Device card text"/>
          <p:cNvSpPr txBox="1"/>
          <p:nvPr/>
        </p:nvSpPr>
        <p:spPr>
          <a:xfrm>
            <a:off x="5696712" y="1783080"/>
            <a:ext cx="2852928" cy="20574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Accounts → Manage Accounts: sign out, sign in again</a:t>
            </a:r>
          </a:p>
          <a:p>
            <a:pPr algn="l" marL="182880" indent="-182880">
              <a:spcAft>
                <a:spcPts val="600"/>
              </a:spcAft>
              <a:buClr>
                <a:schemeClr val="accent1"/>
              </a:buClr>
              <a:buFont typeface="Arial"/>
              <a:buChar char="▪"/>
            </a:pPr>
            <a:r>
              <a:rPr sz="1300" b="0" lang="en-GB">
                <a:solidFill>
                  <a:schemeClr val="tx1"/>
                </a:solidFill>
              </a:rPr>
              <a:t>Check Copilot is active on github.com/settings/copilot</a:t>
            </a:r>
          </a:p>
          <a:p>
            <a:pPr algn="l" marL="182880" indent="-182880">
              <a:spcAft>
                <a:spcPts val="600"/>
              </a:spcAft>
              <a:buClr>
                <a:schemeClr val="accent1"/>
              </a:buClr>
              <a:buFont typeface="Arial"/>
              <a:buChar char="▪"/>
            </a:pPr>
            <a:r>
              <a:rPr sz="1300" b="0" lang="en-GB">
                <a:solidFill>
                  <a:schemeClr val="tx1"/>
                </a:solidFill>
              </a:rPr>
              <a:t>Restart Positron</a:t>
            </a:r>
          </a:p>
        </p:txBody>
      </p:sp>
      <p:sp>
        <p:nvSpPr>
          <p:cNvPr id="20" name="Device net box"/>
          <p:cNvSpPr/>
          <p:nvPr/>
        </p:nvSpPr>
        <p:spPr>
          <a:xfrm>
            <a:off x="457200" y="4114800"/>
            <a:ext cx="8229600" cy="6400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Device net" descr=""/>
          <p:cNvPicPr>
            <a:picLocks noChangeAspect="1"/>
          </p:cNvPicPr>
          <p:nvPr/>
        </p:nvPicPr>
        <p:blipFill>
          <a:blip r:embed="rId5"/>
          <a:stretch>
            <a:fillRect/>
          </a:stretch>
        </p:blipFill>
        <p:spPr>
          <a:xfrm>
            <a:off x="658368" y="4251960"/>
            <a:ext cx="365760" cy="365760"/>
          </a:xfrm>
          <a:prstGeom prst="rect">
            <a:avLst/>
          </a:prstGeom>
        </p:spPr>
      </p:pic>
      <p:sp>
        <p:nvSpPr>
          <p:cNvPr id="22" name="Device net text"/>
          <p:cNvSpPr txBox="1"/>
          <p:nvPr/>
        </p:nvSpPr>
        <p:spPr>
          <a:xfrm>
            <a:off x="1207008" y="4114800"/>
            <a:ext cx="7315200" cy="640080"/>
          </a:xfrm>
          <a:prstGeom prst="rect">
            <a:avLst/>
          </a:prstGeom>
          <a:noFill/>
        </p:spPr>
        <p:txBody>
          <a:bodyPr wrap="square" lIns="0" rIns="0" tIns="0" bIns="0" anchor="ctr">
            <a:noAutofit/>
          </a:bodyPr>
          <a:lstStyle/>
          <a:p>
            <a:pPr algn="l">
              <a:spcAft>
                <a:spcPts val="400"/>
              </a:spcAft>
            </a:pPr>
            <a:r>
              <a:rPr sz="1200" b="1" lang="en-GB">
                <a:solidFill>
                  <a:schemeClr val="bg1"/>
                </a:solidFill>
              </a:rPr>
              <a:t>University or company network? </a:t>
            </a:r>
            <a:r>
              <a:rPr sz="1200" b="0" lang="en-GB">
                <a:solidFill>
                  <a:schemeClr val="bg1"/>
                </a:solidFill>
              </a:rPr>
              <a:t>proxies can block the redirect; the device code usually works.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the pane, what it sees, permissions, slash commands, Fix and Explain</a:t>
            </a:r>
          </a:p>
        </p:txBody>
      </p:sp>
      <p:sp>
        <p:nvSpPr>
          <p:cNvPr id="3" name="Title 2"/>
          <p:cNvSpPr>
            <a:spLocks noGrp="1"/>
          </p:cNvSpPr>
          <p:nvPr>
            <p:ph type="ctrTitle"/>
          </p:nvPr>
        </p:nvSpPr>
        <p:spPr/>
        <p:txBody>
          <a:bodyPr/>
          <a:lstStyle/>
          <a:p>
            <a:r>
              <a:rPr sz="1600" lang="en-GB"/>
              <a:t>Chat with Posit Assistant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Posit Assistant pane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ane frame"/>
          <p:cNvSpPr/>
          <p:nvPr/>
        </p:nvSpPr>
        <p:spPr>
          <a:xfrm>
            <a:off x="457200" y="1234440"/>
            <a:ext cx="4206240" cy="3611880"/>
          </a:xfrm>
          <a:prstGeom prst="rect">
            <a:avLst/>
          </a:prstGeom>
          <a:solidFill>
            <a:schemeClr val="bg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ane head"/>
          <p:cNvSpPr/>
          <p:nvPr/>
        </p:nvSpPr>
        <p:spPr>
          <a:xfrm>
            <a:off x="457200" y="1234440"/>
            <a:ext cx="4206240" cy="3840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ane head text"/>
          <p:cNvSpPr txBox="1"/>
          <p:nvPr/>
        </p:nvSpPr>
        <p:spPr>
          <a:xfrm>
            <a:off x="594360" y="1234440"/>
            <a:ext cx="3931920" cy="384048"/>
          </a:xfrm>
          <a:prstGeom prst="rect">
            <a:avLst/>
          </a:prstGeom>
          <a:noFill/>
        </p:spPr>
        <p:txBody>
          <a:bodyPr wrap="square" lIns="0" rIns="0" tIns="0" bIns="0" anchor="ctr">
            <a:noAutofit/>
          </a:bodyPr>
          <a:lstStyle/>
          <a:p>
            <a:pPr algn="l">
              <a:spcAft>
                <a:spcPts val="400"/>
              </a:spcAft>
            </a:pPr>
            <a:r>
              <a:rPr sz="1100" b="1" lang="en-GB">
                <a:solidFill>
                  <a:schemeClr val="bg1"/>
                </a:solidFill>
              </a:rPr>
              <a:t>POSIT ASSISTANT</a:t>
            </a:r>
          </a:p>
        </p:txBody>
      </p:sp>
      <p:sp>
        <p:nvSpPr>
          <p:cNvPr id="13" name="Pane user msg"/>
          <p:cNvSpPr/>
          <p:nvPr/>
        </p:nvSpPr>
        <p:spPr>
          <a:xfrm>
            <a:off x="2103120" y="1737360"/>
            <a:ext cx="2423160" cy="56692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ne user text"/>
          <p:cNvSpPr txBox="1"/>
          <p:nvPr/>
        </p:nvSpPr>
        <p:spPr>
          <a:xfrm>
            <a:off x="2176272" y="1737360"/>
            <a:ext cx="2331720" cy="566928"/>
          </a:xfrm>
          <a:prstGeom prst="rect">
            <a:avLst/>
          </a:prstGeom>
          <a:noFill/>
        </p:spPr>
        <p:txBody>
          <a:bodyPr wrap="square" lIns="0" rIns="0" tIns="0" bIns="0" anchor="ctr">
            <a:noAutofit/>
          </a:bodyPr>
          <a:lstStyle/>
          <a:p>
            <a:pPr algn="l">
              <a:spcAft>
                <a:spcPts val="400"/>
              </a:spcAft>
            </a:pPr>
            <a:r>
              <a:rPr sz="1050" b="0" lang="en-GB">
                <a:solidFill>
                  <a:schemeClr val="tx1"/>
                </a:solidFill>
              </a:rPr>
              <a:t>Plot sales against price1 with plotnine</a:t>
            </a:r>
          </a:p>
        </p:txBody>
      </p:sp>
      <p:sp>
        <p:nvSpPr>
          <p:cNvPr id="15" name="Pane reply"/>
          <p:cNvSpPr txBox="1"/>
          <p:nvPr/>
        </p:nvSpPr>
        <p:spPr>
          <a:xfrm>
            <a:off x="594360" y="2395728"/>
            <a:ext cx="3931920" cy="914400"/>
          </a:xfrm>
          <a:prstGeom prst="rect">
            <a:avLst/>
          </a:prstGeom>
          <a:noFill/>
        </p:spPr>
        <p:txBody>
          <a:bodyPr wrap="square" lIns="0" rIns="0" tIns="0" bIns="0" anchor="t">
            <a:noAutofit/>
          </a:bodyPr>
          <a:lstStyle/>
          <a:p>
            <a:pPr algn="l">
              <a:spcAft>
                <a:spcPts val="400"/>
              </a:spcAft>
            </a:pPr>
            <a:r>
              <a:rPr sz="1050" b="0" lang="en-GB">
                <a:solidFill>
                  <a:schemeClr val="tx1"/>
                </a:solidFill>
              </a:rPr>
              <a:t>I will read the data with polars and draw a scatter plot. Run this code?</a:t>
            </a:r>
          </a:p>
        </p:txBody>
      </p:sp>
      <p:sp>
        <p:nvSpPr>
          <p:cNvPr id="16" name="Pane btn 1"/>
          <p:cNvSpPr/>
          <p:nvPr/>
        </p:nvSpPr>
        <p:spPr>
          <a:xfrm>
            <a:off x="594360" y="3154680"/>
            <a:ext cx="1005840" cy="329184"/>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Pane btn text 1"/>
          <p:cNvSpPr txBox="1"/>
          <p:nvPr/>
        </p:nvSpPr>
        <p:spPr>
          <a:xfrm>
            <a:off x="594360" y="3154680"/>
            <a:ext cx="1005840" cy="329184"/>
          </a:xfrm>
          <a:prstGeom prst="rect">
            <a:avLst/>
          </a:prstGeom>
          <a:noFill/>
        </p:spPr>
        <p:txBody>
          <a:bodyPr wrap="square" lIns="0" rIns="0" tIns="0" bIns="0" anchor="ctr">
            <a:noAutofit/>
          </a:bodyPr>
          <a:lstStyle/>
          <a:p>
            <a:pPr algn="ctr">
              <a:spcAft>
                <a:spcPts val="400"/>
              </a:spcAft>
            </a:pPr>
            <a:r>
              <a:rPr sz="1050" b="1" lang="en-GB">
                <a:solidFill>
                  <a:schemeClr val="bg1"/>
                </a:solidFill>
              </a:rPr>
              <a:t>Accept</a:t>
            </a:r>
          </a:p>
        </p:txBody>
      </p:sp>
      <p:sp>
        <p:nvSpPr>
          <p:cNvPr id="18" name="Pane btn 2"/>
          <p:cNvSpPr/>
          <p:nvPr/>
        </p:nvSpPr>
        <p:spPr>
          <a:xfrm>
            <a:off x="1691640" y="3154680"/>
            <a:ext cx="1005840" cy="329184"/>
          </a:xfrm>
          <a:prstGeom prst="round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ne btn text 2"/>
          <p:cNvSpPr txBox="1"/>
          <p:nvPr/>
        </p:nvSpPr>
        <p:spPr>
          <a:xfrm>
            <a:off x="1691640" y="3154680"/>
            <a:ext cx="1005840" cy="329184"/>
          </a:xfrm>
          <a:prstGeom prst="rect">
            <a:avLst/>
          </a:prstGeom>
          <a:noFill/>
        </p:spPr>
        <p:txBody>
          <a:bodyPr wrap="square" lIns="0" rIns="0" tIns="0" bIns="0" anchor="ctr">
            <a:noAutofit/>
          </a:bodyPr>
          <a:lstStyle/>
          <a:p>
            <a:pPr algn="ctr">
              <a:spcAft>
                <a:spcPts val="400"/>
              </a:spcAft>
            </a:pPr>
            <a:r>
              <a:rPr sz="1050" b="1" lang="en-GB">
                <a:solidFill>
                  <a:schemeClr val="tx2"/>
                </a:solidFill>
              </a:rPr>
              <a:t>Decline</a:t>
            </a:r>
          </a:p>
        </p:txBody>
      </p:sp>
      <p:sp>
        <p:nvSpPr>
          <p:cNvPr id="20" name="Pane input"/>
          <p:cNvSpPr/>
          <p:nvPr/>
        </p:nvSpPr>
        <p:spPr>
          <a:xfrm>
            <a:off x="548640" y="3977640"/>
            <a:ext cx="4023360" cy="7498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ane input text"/>
          <p:cNvSpPr txBox="1"/>
          <p:nvPr/>
        </p:nvSpPr>
        <p:spPr>
          <a:xfrm>
            <a:off x="640080" y="3977640"/>
            <a:ext cx="3840480" cy="411480"/>
          </a:xfrm>
          <a:prstGeom prst="rect">
            <a:avLst/>
          </a:prstGeom>
          <a:noFill/>
        </p:spPr>
        <p:txBody>
          <a:bodyPr wrap="square" lIns="0" rIns="0" tIns="0" bIns="0" anchor="ctr">
            <a:noAutofit/>
          </a:bodyPr>
          <a:lstStyle/>
          <a:p>
            <a:pPr algn="l">
              <a:spcAft>
                <a:spcPts val="400"/>
              </a:spcAft>
            </a:pPr>
            <a:r>
              <a:rPr sz="1050" b="0" lang="en-GB">
                <a:solidFill>
                  <a:srgbClr val="595959"/>
                </a:solidFill>
              </a:rPr>
              <a:t>Ask anything, @ to add a file…</a:t>
            </a:r>
          </a:p>
        </p:txBody>
      </p:sp>
      <p:sp>
        <p:nvSpPr>
          <p:cNvPr id="22" name="Pane input bar"/>
          <p:cNvSpPr txBox="1"/>
          <p:nvPr/>
        </p:nvSpPr>
        <p:spPr>
          <a:xfrm>
            <a:off x="640080" y="4343400"/>
            <a:ext cx="3840480" cy="365760"/>
          </a:xfrm>
          <a:prstGeom prst="rect">
            <a:avLst/>
          </a:prstGeom>
          <a:noFill/>
        </p:spPr>
        <p:txBody>
          <a:bodyPr wrap="square" lIns="0" rIns="0" tIns="0" bIns="0" anchor="ctr">
            <a:noAutofit/>
          </a:bodyPr>
          <a:lstStyle/>
          <a:p>
            <a:pPr algn="l">
              <a:spcAft>
                <a:spcPts val="400"/>
              </a:spcAft>
            </a:pPr>
            <a:r>
              <a:rPr sz="1050" b="0" lang="en-GB">
                <a:solidFill>
                  <a:schemeClr val="tx2"/>
                </a:solidFill>
              </a:rPr>
              <a:t>Attach    Auto (Copilot) ▾      Thinking: Low ▾</a:t>
            </a:r>
          </a:p>
        </p:txBody>
      </p:sp>
      <p:sp>
        <p:nvSpPr>
          <p:cNvPr id="23" name="Pane legend 1"/>
          <p:cNvSpPr/>
          <p:nvPr/>
        </p:nvSpPr>
        <p:spPr>
          <a:xfrm>
            <a:off x="4846320" y="123444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ne legend badge 1"/>
          <p:cNvSpPr/>
          <p:nvPr/>
        </p:nvSpPr>
        <p:spPr>
          <a:xfrm>
            <a:off x="4956048" y="14081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5" name="Pane legend text 1"/>
          <p:cNvSpPr txBox="1"/>
          <p:nvPr/>
        </p:nvSpPr>
        <p:spPr>
          <a:xfrm>
            <a:off x="5376672" y="123444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Open it</a:t>
            </a:r>
          </a:p>
          <a:p>
            <a:pPr algn="l">
              <a:spcAft>
                <a:spcPts val="0"/>
              </a:spcAft>
            </a:pPr>
            <a:r>
              <a:rPr sz="1100" b="0" lang="en-GB">
                <a:solidFill>
                  <a:schemeClr val="tx1"/>
                </a:solidFill>
              </a:rPr>
              <a:t>activity-bar icon or View: Show Posit Assistant</a:t>
            </a:r>
          </a:p>
        </p:txBody>
      </p:sp>
      <p:sp>
        <p:nvSpPr>
          <p:cNvPr id="26" name="Pane legend 2"/>
          <p:cNvSpPr/>
          <p:nvPr/>
        </p:nvSpPr>
        <p:spPr>
          <a:xfrm>
            <a:off x="4846320" y="196596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ane legend badge 2"/>
          <p:cNvSpPr/>
          <p:nvPr/>
        </p:nvSpPr>
        <p:spPr>
          <a:xfrm>
            <a:off x="4956048" y="21396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8" name="Pane legend text 2"/>
          <p:cNvSpPr txBox="1"/>
          <p:nvPr/>
        </p:nvSpPr>
        <p:spPr>
          <a:xfrm>
            <a:off x="5376672" y="196596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Your request</a:t>
            </a:r>
          </a:p>
          <a:p>
            <a:pPr algn="l">
              <a:spcAft>
                <a:spcPts val="0"/>
              </a:spcAft>
            </a:pPr>
            <a:r>
              <a:rPr sz="1100" b="0" lang="en-GB">
                <a:solidFill>
                  <a:schemeClr val="tx1"/>
                </a:solidFill>
              </a:rPr>
              <a:t>plain English; name files, packages, outputs</a:t>
            </a:r>
          </a:p>
        </p:txBody>
      </p:sp>
      <p:sp>
        <p:nvSpPr>
          <p:cNvPr id="29" name="Pane legend 3"/>
          <p:cNvSpPr/>
          <p:nvPr/>
        </p:nvSpPr>
        <p:spPr>
          <a:xfrm>
            <a:off x="4846320" y="269748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ane legend badge 3"/>
          <p:cNvSpPr/>
          <p:nvPr/>
        </p:nvSpPr>
        <p:spPr>
          <a:xfrm>
            <a:off x="4956048" y="28712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31" name="Pane legend text 3"/>
          <p:cNvSpPr txBox="1"/>
          <p:nvPr/>
        </p:nvSpPr>
        <p:spPr>
          <a:xfrm>
            <a:off x="5376672" y="269748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Accept / Decline</a:t>
            </a:r>
          </a:p>
          <a:p>
            <a:pPr algn="l">
              <a:spcAft>
                <a:spcPts val="0"/>
              </a:spcAft>
            </a:pPr>
            <a:r>
              <a:rPr sz="1100" b="0" lang="en-GB">
                <a:solidFill>
                  <a:schemeClr val="tx1"/>
                </a:solidFill>
              </a:rPr>
              <a:t>nothing runs without your OK</a:t>
            </a:r>
          </a:p>
        </p:txBody>
      </p:sp>
      <p:sp>
        <p:nvSpPr>
          <p:cNvPr id="32" name="Pane legend 4"/>
          <p:cNvSpPr/>
          <p:nvPr/>
        </p:nvSpPr>
        <p:spPr>
          <a:xfrm>
            <a:off x="4846320" y="342900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ne legend badge 4"/>
          <p:cNvSpPr/>
          <p:nvPr/>
        </p:nvSpPr>
        <p:spPr>
          <a:xfrm>
            <a:off x="4956048" y="3602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4" name="Pane legend text 4"/>
          <p:cNvSpPr txBox="1"/>
          <p:nvPr/>
        </p:nvSpPr>
        <p:spPr>
          <a:xfrm>
            <a:off x="5376672" y="342900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 and paperclip</a:t>
            </a:r>
          </a:p>
          <a:p>
            <a:pPr algn="l">
              <a:spcAft>
                <a:spcPts val="0"/>
              </a:spcAft>
            </a:pPr>
            <a:r>
              <a:rPr sz="1100" b="0" lang="en-GB">
                <a:solidFill>
                  <a:schemeClr val="tx1"/>
                </a:solidFill>
              </a:rPr>
              <a:t>add files, images or the .qmd you work on</a:t>
            </a:r>
          </a:p>
        </p:txBody>
      </p:sp>
      <p:sp>
        <p:nvSpPr>
          <p:cNvPr id="35" name="Pane legend 5"/>
          <p:cNvSpPr/>
          <p:nvPr/>
        </p:nvSpPr>
        <p:spPr>
          <a:xfrm>
            <a:off x="4846320" y="4160520"/>
            <a:ext cx="384048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Pane legend badge 5"/>
          <p:cNvSpPr/>
          <p:nvPr/>
        </p:nvSpPr>
        <p:spPr>
          <a:xfrm>
            <a:off x="4956048" y="43342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37" name="Pane legend text 5"/>
          <p:cNvSpPr txBox="1"/>
          <p:nvPr/>
        </p:nvSpPr>
        <p:spPr>
          <a:xfrm>
            <a:off x="5376672" y="4160520"/>
            <a:ext cx="3246120" cy="658368"/>
          </a:xfrm>
          <a:prstGeom prst="rect">
            <a:avLst/>
          </a:prstGeom>
          <a:noFill/>
        </p:spPr>
        <p:txBody>
          <a:bodyPr wrap="square" lIns="0" rIns="0" tIns="0" bIns="0" anchor="ctr">
            <a:noAutofit/>
          </a:bodyPr>
          <a:lstStyle/>
          <a:p>
            <a:pPr algn="l">
              <a:spcAft>
                <a:spcPts val="0"/>
              </a:spcAft>
            </a:pPr>
            <a:r>
              <a:rPr sz="1200" b="1" lang="en-GB">
                <a:solidFill>
                  <a:schemeClr val="tx2"/>
                </a:solidFill>
              </a:rPr>
              <a:t>Model and thinking</a:t>
            </a:r>
          </a:p>
          <a:p>
            <a:pPr algn="l">
              <a:spcAft>
                <a:spcPts val="0"/>
              </a:spcAft>
            </a:pPr>
            <a:r>
              <a:rPr sz="1100" b="0" lang="en-GB">
                <a:solidFill>
                  <a:schemeClr val="tx1"/>
                </a:solidFill>
              </a:rPr>
              <a:t>Auto with Copilot; more thinking = slower, more careful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Posit Assistant can see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es 1 body"/>
          <p:cNvSpPr/>
          <p:nvPr/>
        </p:nvSpPr>
        <p:spPr>
          <a:xfrm>
            <a:off x="45720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es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es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session</a:t>
            </a:r>
          </a:p>
        </p:txBody>
      </p:sp>
      <p:pic>
        <p:nvPicPr>
          <p:cNvPr id="13" name="Icon Sees 1" descr=""/>
          <p:cNvPicPr>
            <a:picLocks noChangeAspect="1"/>
          </p:cNvPicPr>
          <p:nvPr/>
        </p:nvPicPr>
        <p:blipFill>
          <a:blip r:embed="rId3"/>
          <a:stretch>
            <a:fillRect/>
          </a:stretch>
        </p:blipFill>
        <p:spPr>
          <a:xfrm>
            <a:off x="2670048" y="1284732"/>
            <a:ext cx="310896" cy="310896"/>
          </a:xfrm>
          <a:prstGeom prst="rect">
            <a:avLst/>
          </a:prstGeom>
        </p:spPr>
      </p:pic>
      <p:sp>
        <p:nvSpPr>
          <p:cNvPr id="14" name="Sees 1 text"/>
          <p:cNvSpPr txBox="1"/>
          <p:nvPr/>
        </p:nvSpPr>
        <p:spPr>
          <a:xfrm>
            <a:off x="62179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Python version</a:t>
            </a:r>
          </a:p>
          <a:p>
            <a:pPr algn="l" marL="182880" indent="-182880">
              <a:spcAft>
                <a:spcPts val="600"/>
              </a:spcAft>
              <a:buClr>
                <a:schemeClr val="accent1"/>
              </a:buClr>
              <a:buFont typeface="Arial"/>
              <a:buChar char="▪"/>
            </a:pPr>
            <a:r>
              <a:rPr sz="1300" b="0" lang="en-GB">
                <a:solidFill>
                  <a:schemeClr val="tx1"/>
                </a:solidFill>
              </a:rPr>
              <a:t>Variable names and types</a:t>
            </a:r>
          </a:p>
          <a:p>
            <a:pPr algn="l" marL="182880" indent="-182880">
              <a:spcAft>
                <a:spcPts val="600"/>
              </a:spcAft>
              <a:buClr>
                <a:schemeClr val="accent1"/>
              </a:buClr>
              <a:buFont typeface="Arial"/>
              <a:buChar char="▪"/>
            </a:pPr>
            <a:r>
              <a:rPr sz="1300" b="0" lang="en-GB">
                <a:solidFill>
                  <a:schemeClr val="tx1"/>
                </a:solidFill>
              </a:rPr>
              <a:t>Data-frame columns and shape</a:t>
            </a:r>
          </a:p>
        </p:txBody>
      </p:sp>
      <p:sp>
        <p:nvSpPr>
          <p:cNvPr id="15" name="Sees 2 body"/>
          <p:cNvSpPr/>
          <p:nvPr/>
        </p:nvSpPr>
        <p:spPr>
          <a:xfrm>
            <a:off x="324612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es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es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output</a:t>
            </a:r>
          </a:p>
        </p:txBody>
      </p:sp>
      <p:pic>
        <p:nvPicPr>
          <p:cNvPr id="18" name="Icon Sees 2" descr=""/>
          <p:cNvPicPr>
            <a:picLocks noChangeAspect="1"/>
          </p:cNvPicPr>
          <p:nvPr/>
        </p:nvPicPr>
        <p:blipFill>
          <a:blip r:embed="rId4"/>
          <a:stretch>
            <a:fillRect/>
          </a:stretch>
        </p:blipFill>
        <p:spPr>
          <a:xfrm>
            <a:off x="5458968" y="1284732"/>
            <a:ext cx="310896" cy="310896"/>
          </a:xfrm>
          <a:prstGeom prst="rect">
            <a:avLst/>
          </a:prstGeom>
        </p:spPr>
      </p:pic>
      <p:sp>
        <p:nvSpPr>
          <p:cNvPr id="19" name="Sees 2 text"/>
          <p:cNvSpPr txBox="1"/>
          <p:nvPr/>
        </p:nvSpPr>
        <p:spPr>
          <a:xfrm>
            <a:off x="341071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Plots</a:t>
            </a:r>
          </a:p>
          <a:p>
            <a:pPr algn="l" marL="182880" indent="-182880">
              <a:spcAft>
                <a:spcPts val="600"/>
              </a:spcAft>
              <a:buClr>
                <a:schemeClr val="accent1"/>
              </a:buClr>
              <a:buFont typeface="Arial"/>
              <a:buChar char="▪"/>
            </a:pPr>
            <a:r>
              <a:rPr sz="1300" b="0" lang="en-GB">
                <a:solidFill>
                  <a:schemeClr val="tx1"/>
                </a:solidFill>
              </a:rPr>
              <a:t>Console history</a:t>
            </a:r>
          </a:p>
          <a:p>
            <a:pPr algn="l" marL="182880" indent="-182880">
              <a:spcAft>
                <a:spcPts val="600"/>
              </a:spcAft>
              <a:buClr>
                <a:schemeClr val="accent1"/>
              </a:buClr>
              <a:buFont typeface="Arial"/>
              <a:buChar char="▪"/>
            </a:pPr>
            <a:r>
              <a:rPr sz="1300" b="0" lang="en-GB">
                <a:solidFill>
                  <a:schemeClr val="tx1"/>
                </a:solidFill>
              </a:rPr>
              <a:t>Errors</a:t>
            </a:r>
          </a:p>
        </p:txBody>
      </p:sp>
      <p:sp>
        <p:nvSpPr>
          <p:cNvPr id="20" name="Sees 3 body"/>
          <p:cNvSpPr/>
          <p:nvPr/>
        </p:nvSpPr>
        <p:spPr>
          <a:xfrm>
            <a:off x="6035040" y="1645920"/>
            <a:ext cx="2651760" cy="1737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es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Sees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Your files</a:t>
            </a:r>
          </a:p>
        </p:txBody>
      </p:sp>
      <p:pic>
        <p:nvPicPr>
          <p:cNvPr id="23" name="Icon Sees 3" descr=""/>
          <p:cNvPicPr>
            <a:picLocks noChangeAspect="1"/>
          </p:cNvPicPr>
          <p:nvPr/>
        </p:nvPicPr>
        <p:blipFill>
          <a:blip r:embed="rId5"/>
          <a:stretch>
            <a:fillRect/>
          </a:stretch>
        </p:blipFill>
        <p:spPr>
          <a:xfrm>
            <a:off x="8247888" y="1284732"/>
            <a:ext cx="310896" cy="310896"/>
          </a:xfrm>
          <a:prstGeom prst="rect">
            <a:avLst/>
          </a:prstGeom>
        </p:spPr>
      </p:pic>
      <p:sp>
        <p:nvSpPr>
          <p:cNvPr id="24" name="Sees 3 text"/>
          <p:cNvSpPr txBox="1"/>
          <p:nvPr/>
        </p:nvSpPr>
        <p:spPr>
          <a:xfrm>
            <a:off x="6199632" y="1783080"/>
            <a:ext cx="2350008" cy="14630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Open files and selection</a:t>
            </a:r>
          </a:p>
          <a:p>
            <a:pPr algn="l" marL="182880" indent="-182880">
              <a:spcAft>
                <a:spcPts val="600"/>
              </a:spcAft>
              <a:buClr>
                <a:schemeClr val="accent1"/>
              </a:buClr>
              <a:buFont typeface="Arial"/>
              <a:buChar char="▪"/>
            </a:pPr>
            <a:r>
              <a:rPr sz="1300" b="0" lang="en-GB">
                <a:solidFill>
                  <a:schemeClr val="tx1"/>
                </a:solidFill>
              </a:rPr>
              <a:t>Project folder structure</a:t>
            </a:r>
          </a:p>
          <a:p>
            <a:pPr algn="l" marL="182880" indent="-182880">
              <a:spcAft>
                <a:spcPts val="600"/>
              </a:spcAft>
              <a:buClr>
                <a:schemeClr val="accent1"/>
              </a:buClr>
              <a:buFont typeface="Arial"/>
              <a:buChar char="▪"/>
            </a:pPr>
            <a:r>
              <a:rPr sz="1300" b="0" lang="en-GB">
                <a:solidFill>
                  <a:schemeClr val="tx1"/>
                </a:solidFill>
              </a:rPr>
              <a:t>Files you attach</a:t>
            </a:r>
          </a:p>
        </p:txBody>
      </p:sp>
      <p:sp>
        <p:nvSpPr>
          <p:cNvPr id="25" name="Sees rows row 1"/>
          <p:cNvSpPr/>
          <p:nvPr/>
        </p:nvSpPr>
        <p:spPr>
          <a:xfrm>
            <a:off x="457200" y="3520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Sees rows bar 1"/>
          <p:cNvSpPr/>
          <p:nvPr/>
        </p:nvSpPr>
        <p:spPr>
          <a:xfrm>
            <a:off x="457200" y="3520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ees rows text 1"/>
          <p:cNvSpPr txBox="1"/>
          <p:nvPr/>
        </p:nvSpPr>
        <p:spPr>
          <a:xfrm>
            <a:off x="658368" y="352044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Tip: </a:t>
            </a:r>
            <a:r>
              <a:rPr sz="1200" b="0" lang="en-GB">
                <a:solidFill>
                  <a:schemeClr val="tx1"/>
                </a:solidFill>
              </a:rPr>
              <a:t>load the data first, then ask; the assistant sees the column names and gets them right</a:t>
            </a:r>
          </a:p>
        </p:txBody>
      </p:sp>
      <p:sp>
        <p:nvSpPr>
          <p:cNvPr id="28" name="Sees rows row 2"/>
          <p:cNvSpPr/>
          <p:nvPr/>
        </p:nvSpPr>
        <p:spPr>
          <a:xfrm>
            <a:off x="457200" y="40416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es rows bar 2"/>
          <p:cNvSpPr/>
          <p:nvPr/>
        </p:nvSpPr>
        <p:spPr>
          <a:xfrm>
            <a:off x="457200" y="40416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Sees rows text 2"/>
          <p:cNvSpPr txBox="1"/>
          <p:nvPr/>
        </p:nvSpPr>
        <p:spPr>
          <a:xfrm>
            <a:off x="658368" y="404164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Keep files out: </a:t>
            </a:r>
            <a:r>
              <a:rPr sz="1200" b="0" lang="en-GB">
                <a:solidFill>
                  <a:schemeClr val="tx1"/>
                </a:solidFill>
              </a:rPr>
              <a:t>setting positron.assistant.aiExcludes, e.g. data/personal/**</a:t>
            </a:r>
          </a:p>
        </p:txBody>
      </p:sp>
      <p:sp>
        <p:nvSpPr>
          <p:cNvPr id="31" name="Sees note box"/>
          <p:cNvSpPr/>
          <p:nvPr/>
        </p:nvSpPr>
        <p:spPr>
          <a:xfrm>
            <a:off x="457200" y="45720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Sees note" descr=""/>
          <p:cNvPicPr>
            <a:picLocks noChangeAspect="1"/>
          </p:cNvPicPr>
          <p:nvPr/>
        </p:nvPicPr>
        <p:blipFill>
          <a:blip r:embed="rId6"/>
          <a:stretch>
            <a:fillRect/>
          </a:stretch>
        </p:blipFill>
        <p:spPr>
          <a:xfrm>
            <a:off x="658368" y="4617720"/>
            <a:ext cx="365760" cy="365760"/>
          </a:xfrm>
          <a:prstGeom prst="rect">
            <a:avLst/>
          </a:prstGeom>
        </p:spPr>
      </p:pic>
      <p:sp>
        <p:nvSpPr>
          <p:cNvPr id="33" name="Sees note text"/>
          <p:cNvSpPr txBox="1"/>
          <p:nvPr/>
        </p:nvSpPr>
        <p:spPr>
          <a:xfrm>
            <a:off x="1207008" y="45720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It sees what you see: </a:t>
            </a:r>
            <a:r>
              <a:rPr sz="1200" b="0" lang="en-GB">
                <a:solidFill>
                  <a:schemeClr val="bg1"/>
                </a:solidFill>
              </a:rPr>
              <a:t>never load personal data you may not share.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erm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2194560"/>
                <a:gridCol w="3749040"/>
                <a:gridCol w="2286000"/>
              </a:tblGrid>
              <a:tr h="370840">
                <a:tc>
                  <a:txBody>
                    <a:bodyPr/>
                    <a:lstStyle/>
                    <a:p>
                      <a:r>
                        <a:rPr sz="1300" lang="en-GB"/>
                        <a:t>Mode</a:t>
                      </a:r>
                    </a:p>
                  </a:txBody>
                  <a:tcPr marT="50000" marB="50000"/>
                </a:tc>
                <a:tc>
                  <a:txBody>
                    <a:bodyPr/>
                    <a:lstStyle/>
                    <a:p>
                      <a:r>
                        <a:rPr sz="1300" lang="en-GB"/>
                        <a:t>What happens</a:t>
                      </a:r>
                    </a:p>
                  </a:txBody>
                  <a:tcPr marT="50000" marB="50000"/>
                </a:tc>
                <a:tc>
                  <a:txBody>
                    <a:bodyPr/>
                    <a:lstStyle/>
                    <a:p>
                      <a:r>
                        <a:rPr sz="1300" lang="en-GB"/>
                        <a:t>For you</a:t>
                      </a:r>
                    </a:p>
                  </a:txBody>
                  <a:tcPr marT="50000" marB="50000"/>
                </a:tc>
              </a:tr>
              <a:tr h="370840">
                <a:tc>
                  <a:txBody>
                    <a:bodyPr/>
                    <a:lstStyle/>
                    <a:p>
                      <a:r>
                        <a:rPr sz="1200" b="1" lang="en-GB"/>
                        <a:t>Normal (default)</a:t>
                      </a:r>
                    </a:p>
                  </a:txBody>
                  <a:tcPr marT="50000" marB="50000"/>
                </a:tc>
                <a:tc>
                  <a:txBody>
                    <a:bodyPr/>
                    <a:lstStyle/>
                    <a:p>
                      <a:r>
                        <a:rPr sz="1200" lang="en-GB"/>
                        <a:t>safe actions run; risky ones ask first</a:t>
                      </a:r>
                    </a:p>
                  </a:txBody>
                  <a:tcPr marT="50000" marB="50000"/>
                </a:tc>
                <a:tc>
                  <a:txBody>
                    <a:bodyPr/>
                    <a:lstStyle/>
                    <a:p>
                      <a:r>
                        <a:rPr sz="1200" lang="en-GB"/>
                        <a:t>use this</a:t>
                      </a:r>
                    </a:p>
                  </a:txBody>
                  <a:tcPr marT="50000" marB="50000"/>
                </a:tc>
              </a:tr>
              <a:tr h="370840">
                <a:tc>
                  <a:txBody>
                    <a:bodyPr/>
                    <a:lstStyle/>
                    <a:p>
                      <a:r>
                        <a:rPr sz="1200" b="1" lang="en-GB"/>
                        <a:t>Restricted</a:t>
                      </a:r>
                    </a:p>
                  </a:txBody>
                  <a:tcPr marT="50000" marB="50000"/>
                </a:tc>
                <a:tc>
                  <a:txBody>
                    <a:bodyPr/>
                    <a:lstStyle/>
                    <a:p>
                      <a:r>
                        <a:rPr sz="1200" lang="en-GB"/>
                        <a:t>every action asks first</a:t>
                      </a:r>
                    </a:p>
                  </a:txBody>
                  <a:tcPr marT="50000" marB="50000"/>
                </a:tc>
                <a:tc>
                  <a:txBody>
                    <a:bodyPr/>
                    <a:lstStyle/>
                    <a:p>
                      <a:r>
                        <a:rPr sz="1200" lang="en-GB"/>
                        <a:t>fine, automatic in untrusted folders</a:t>
                      </a:r>
                    </a:p>
                  </a:txBody>
                  <a:tcPr marT="50000" marB="50000"/>
                </a:tc>
              </a:tr>
              <a:tr h="370840">
                <a:tc>
                  <a:txBody>
                    <a:bodyPr/>
                    <a:lstStyle/>
                    <a:p>
                      <a:r>
                        <a:rPr sz="1200" b="1" lang="en-GB"/>
                        <a:t>Plan (/plan)</a:t>
                      </a:r>
                    </a:p>
                  </a:txBody>
                  <a:tcPr marT="50000" marB="50000"/>
                </a:tc>
                <a:tc>
                  <a:txBody>
                    <a:bodyPr/>
                    <a:lstStyle/>
                    <a:p>
                      <a:r>
                        <a:rPr sz="1200" lang="en-GB"/>
                        <a:t>writes a plan, changes nothing until you approve</a:t>
                      </a:r>
                    </a:p>
                  </a:txBody>
                  <a:tcPr marT="50000" marB="50000"/>
                </a:tc>
                <a:tc>
                  <a:txBody>
                    <a:bodyPr/>
                    <a:lstStyle/>
                    <a:p>
                      <a:r>
                        <a:rPr sz="1200" lang="en-GB"/>
                        <a:t>good for bigger tasks</a:t>
                      </a:r>
                    </a:p>
                  </a:txBody>
                  <a:tcPr marT="50000" marB="50000"/>
                </a:tc>
              </a:tr>
              <a:tr h="370840">
                <a:tc>
                  <a:txBody>
                    <a:bodyPr/>
                    <a:lstStyle/>
                    <a:p>
                      <a:r>
                        <a:rPr sz="1200" b="1" lang="en-GB"/>
                        <a:t>Ask (/ask)</a:t>
                      </a:r>
                    </a:p>
                  </a:txBody>
                  <a:tcPr marT="50000" marB="50000"/>
                </a:tc>
                <a:tc>
                  <a:txBody>
                    <a:bodyPr/>
                    <a:lstStyle/>
                    <a:p>
                      <a:r>
                        <a:rPr sz="1200" lang="en-GB"/>
                        <a:t>answers only, read-only</a:t>
                      </a:r>
                    </a:p>
                  </a:txBody>
                  <a:tcPr marT="50000" marB="50000"/>
                </a:tc>
                <a:tc>
                  <a:txBody>
                    <a:bodyPr/>
                    <a:lstStyle/>
                    <a:p>
                      <a:r>
                        <a:rPr sz="1200" lang="en-GB"/>
                        <a:t>good for questions</a:t>
                      </a:r>
                    </a:p>
                  </a:txBody>
                  <a:tcPr marT="50000" marB="50000"/>
                </a:tc>
              </a:tr>
              <a:tr h="370840">
                <a:tc>
                  <a:txBody>
                    <a:bodyPr/>
                    <a:lstStyle/>
                    <a:p>
                      <a:r>
                        <a:rPr sz="1200" b="1" lang="en-GB"/>
                        <a:t>Auto, YOLO</a:t>
                      </a:r>
                    </a:p>
                  </a:txBody>
                  <a:tcPr marT="50000" marB="50000"/>
                </a:tc>
                <a:tc>
                  <a:txBody>
                    <a:bodyPr/>
                    <a:lstStyle/>
                    <a:p>
                      <a:r>
                        <a:rPr sz="1200" lang="en-GB"/>
                        <a:t>approves actions automatically</a:t>
                      </a:r>
                    </a:p>
                  </a:txBody>
                  <a:tcPr marT="50000" marB="50000"/>
                </a:tc>
                <a:tc>
                  <a:txBody>
                    <a:bodyPr/>
                    <a:lstStyle/>
                    <a:p>
                      <a:r>
                        <a:rPr sz="1200" lang="en-GB"/>
                        <a:t>do not use</a:t>
                      </a:r>
                    </a:p>
                  </a:txBody>
                  <a:tcPr marT="50000" marB="50000"/>
                </a:tc>
              </a:tr>
            </a:tbl>
          </a:graphicData>
        </a:graphic>
      </p:graphicFrame>
      <p:sp>
        <p:nvSpPr>
          <p:cNvPr id="3" name="Title 2"/>
          <p:cNvSpPr>
            <a:spLocks noGrp="1"/>
          </p:cNvSpPr>
          <p:nvPr>
            <p:ph type="title"/>
          </p:nvPr>
        </p:nvSpPr>
        <p:spPr/>
        <p:txBody>
          <a:bodyPr/>
          <a:lstStyle/>
          <a:p>
            <a:r>
              <a:rPr sz="1600" lang="en-GB"/>
              <a:t>It asks before it runs code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erm rule box"/>
          <p:cNvSpPr/>
          <p:nvPr/>
        </p:nvSpPr>
        <p:spPr>
          <a:xfrm>
            <a:off x="457200" y="406908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Perm rule" descr=""/>
          <p:cNvPicPr>
            <a:picLocks noChangeAspect="1"/>
          </p:cNvPicPr>
          <p:nvPr/>
        </p:nvPicPr>
        <p:blipFill>
          <a:blip r:embed="rId3"/>
          <a:stretch>
            <a:fillRect/>
          </a:stretch>
        </p:blipFill>
        <p:spPr>
          <a:xfrm>
            <a:off x="658368" y="4274820"/>
            <a:ext cx="365760" cy="365760"/>
          </a:xfrm>
          <a:prstGeom prst="rect">
            <a:avLst/>
          </a:prstGeom>
        </p:spPr>
      </p:pic>
      <p:sp>
        <p:nvSpPr>
          <p:cNvPr id="12" name="Perm rule text"/>
          <p:cNvSpPr txBox="1"/>
          <p:nvPr/>
        </p:nvSpPr>
        <p:spPr>
          <a:xfrm>
            <a:off x="1207008" y="406908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Before you click Accept: </a:t>
            </a:r>
            <a:r>
              <a:rPr sz="1200" b="0" lang="en-GB">
                <a:solidFill>
                  <a:schemeClr val="bg1"/>
                </a:solidFill>
              </a:rPr>
              <a:t>read the code. Does it use polars, the right file and the right columns? If not, Decline and say what to change.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Slash commands, Fix and Explain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lash 1-1"/>
          <p:cNvSpPr/>
          <p:nvPr/>
        </p:nvSpPr>
        <p:spPr>
          <a:xfrm>
            <a:off x="457200" y="1234440"/>
            <a:ext cx="116128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lash text 1-1"/>
          <p:cNvSpPr txBox="1"/>
          <p:nvPr/>
        </p:nvSpPr>
        <p:spPr>
          <a:xfrm>
            <a:off x="548640" y="1234440"/>
            <a:ext cx="97840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Type</a:t>
            </a:r>
          </a:p>
        </p:txBody>
      </p:sp>
      <p:sp>
        <p:nvSpPr>
          <p:cNvPr id="12" name="Slash 1-2"/>
          <p:cNvSpPr/>
          <p:nvPr/>
        </p:nvSpPr>
        <p:spPr>
          <a:xfrm>
            <a:off x="1645920" y="1234440"/>
            <a:ext cx="28072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lash text 1-2"/>
          <p:cNvSpPr txBox="1"/>
          <p:nvPr/>
        </p:nvSpPr>
        <p:spPr>
          <a:xfrm>
            <a:off x="1737360" y="1234440"/>
            <a:ext cx="2624328" cy="384048"/>
          </a:xfrm>
          <a:prstGeom prst="rect">
            <a:avLst/>
          </a:prstGeom>
          <a:noFill/>
        </p:spPr>
        <p:txBody>
          <a:bodyPr wrap="square" lIns="0" rIns="0" tIns="0" bIns="0" anchor="ctr">
            <a:noAutofit/>
          </a:bodyPr>
          <a:lstStyle/>
          <a:p>
            <a:pPr algn="l">
              <a:spcAft>
                <a:spcPts val="400"/>
              </a:spcAft>
            </a:pPr>
            <a:r>
              <a:rPr sz="1200" b="1" lang="en-GB">
                <a:solidFill>
                  <a:schemeClr val="bg1"/>
                </a:solidFill>
              </a:rPr>
              <a:t>What it does</a:t>
            </a:r>
          </a:p>
        </p:txBody>
      </p:sp>
      <p:sp>
        <p:nvSpPr>
          <p:cNvPr id="14" name="Slash 2-1"/>
          <p:cNvSpPr/>
          <p:nvPr/>
        </p:nvSpPr>
        <p:spPr>
          <a:xfrm>
            <a:off x="457200" y="164592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lash text 2-1"/>
          <p:cNvSpPr txBox="1"/>
          <p:nvPr/>
        </p:nvSpPr>
        <p:spPr>
          <a:xfrm>
            <a:off x="548640" y="164592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/new</a:t>
            </a:r>
          </a:p>
        </p:txBody>
      </p:sp>
      <p:sp>
        <p:nvSpPr>
          <p:cNvPr id="16" name="Slash 2-2"/>
          <p:cNvSpPr/>
          <p:nvPr/>
        </p:nvSpPr>
        <p:spPr>
          <a:xfrm>
            <a:off x="1645920" y="164592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lash text 2-2"/>
          <p:cNvSpPr txBox="1"/>
          <p:nvPr/>
        </p:nvSpPr>
        <p:spPr>
          <a:xfrm>
            <a:off x="1737360" y="164592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start a new conversation (new topic)</a:t>
            </a:r>
          </a:p>
        </p:txBody>
      </p:sp>
      <p:sp>
        <p:nvSpPr>
          <p:cNvPr id="18" name="Slash 3-1"/>
          <p:cNvSpPr/>
          <p:nvPr/>
        </p:nvSpPr>
        <p:spPr>
          <a:xfrm>
            <a:off x="457200" y="205740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lash text 3-1"/>
          <p:cNvSpPr txBox="1"/>
          <p:nvPr/>
        </p:nvSpPr>
        <p:spPr>
          <a:xfrm>
            <a:off x="548640" y="205740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/plan</a:t>
            </a:r>
          </a:p>
        </p:txBody>
      </p:sp>
      <p:sp>
        <p:nvSpPr>
          <p:cNvPr id="20" name="Slash 3-2"/>
          <p:cNvSpPr/>
          <p:nvPr/>
        </p:nvSpPr>
        <p:spPr>
          <a:xfrm>
            <a:off x="1645920" y="205740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lash text 3-2"/>
          <p:cNvSpPr txBox="1"/>
          <p:nvPr/>
        </p:nvSpPr>
        <p:spPr>
          <a:xfrm>
            <a:off x="1737360" y="205740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plan first, code later</a:t>
            </a:r>
          </a:p>
        </p:txBody>
      </p:sp>
      <p:sp>
        <p:nvSpPr>
          <p:cNvPr id="22" name="Slash 4-1"/>
          <p:cNvSpPr/>
          <p:nvPr/>
        </p:nvSpPr>
        <p:spPr>
          <a:xfrm>
            <a:off x="457200" y="246888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lash text 4-1"/>
          <p:cNvSpPr txBox="1"/>
          <p:nvPr/>
        </p:nvSpPr>
        <p:spPr>
          <a:xfrm>
            <a:off x="548640" y="246888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/ask</a:t>
            </a:r>
          </a:p>
        </p:txBody>
      </p:sp>
      <p:sp>
        <p:nvSpPr>
          <p:cNvPr id="24" name="Slash 4-2"/>
          <p:cNvSpPr/>
          <p:nvPr/>
        </p:nvSpPr>
        <p:spPr>
          <a:xfrm>
            <a:off x="1645920" y="246888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lash text 4-2"/>
          <p:cNvSpPr txBox="1"/>
          <p:nvPr/>
        </p:nvSpPr>
        <p:spPr>
          <a:xfrm>
            <a:off x="1737360" y="246888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questions only, no changes</a:t>
            </a:r>
          </a:p>
        </p:txBody>
      </p:sp>
      <p:sp>
        <p:nvSpPr>
          <p:cNvPr id="26" name="Slash 5-1"/>
          <p:cNvSpPr/>
          <p:nvPr/>
        </p:nvSpPr>
        <p:spPr>
          <a:xfrm>
            <a:off x="457200" y="288036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lash text 5-1"/>
          <p:cNvSpPr txBox="1"/>
          <p:nvPr/>
        </p:nvSpPr>
        <p:spPr>
          <a:xfrm>
            <a:off x="548640" y="288036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/report</a:t>
            </a:r>
          </a:p>
        </p:txBody>
      </p:sp>
      <p:sp>
        <p:nvSpPr>
          <p:cNvPr id="28" name="Slash 5-2"/>
          <p:cNvSpPr/>
          <p:nvPr/>
        </p:nvSpPr>
        <p:spPr>
          <a:xfrm>
            <a:off x="1645920" y="288036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lash text 5-2"/>
          <p:cNvSpPr txBox="1"/>
          <p:nvPr/>
        </p:nvSpPr>
        <p:spPr>
          <a:xfrm>
            <a:off x="1737360" y="288036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turn the chat into a Quarto .qmd</a:t>
            </a:r>
          </a:p>
        </p:txBody>
      </p:sp>
      <p:sp>
        <p:nvSpPr>
          <p:cNvPr id="30" name="Slash 6-1"/>
          <p:cNvSpPr/>
          <p:nvPr/>
        </p:nvSpPr>
        <p:spPr>
          <a:xfrm>
            <a:off x="457200" y="3291840"/>
            <a:ext cx="116128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lash text 6-1"/>
          <p:cNvSpPr txBox="1"/>
          <p:nvPr/>
        </p:nvSpPr>
        <p:spPr>
          <a:xfrm>
            <a:off x="548640" y="3291840"/>
            <a:ext cx="978408"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/notebook</a:t>
            </a:r>
          </a:p>
        </p:txBody>
      </p:sp>
      <p:sp>
        <p:nvSpPr>
          <p:cNvPr id="32" name="Slash 6-2"/>
          <p:cNvSpPr/>
          <p:nvPr/>
        </p:nvSpPr>
        <p:spPr>
          <a:xfrm>
            <a:off x="1645920" y="3291840"/>
            <a:ext cx="280720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lash text 6-2"/>
          <p:cNvSpPr txBox="1"/>
          <p:nvPr/>
        </p:nvSpPr>
        <p:spPr>
          <a:xfrm>
            <a:off x="1737360" y="3291840"/>
            <a:ext cx="2624328" cy="384048"/>
          </a:xfrm>
          <a:prstGeom prst="rect">
            <a:avLst/>
          </a:prstGeom>
          <a:noFill/>
        </p:spPr>
        <p:txBody>
          <a:bodyPr wrap="square" lIns="0" rIns="0" tIns="0" bIns="0" anchor="ctr">
            <a:noAutofit/>
          </a:bodyPr>
          <a:lstStyle/>
          <a:p>
            <a:pPr algn="l">
              <a:spcAft>
                <a:spcPts val="400"/>
              </a:spcAft>
            </a:pPr>
            <a:r>
              <a:rPr sz="1200" b="0" lang="en-GB">
                <a:solidFill>
                  <a:schemeClr val="tx1"/>
                </a:solidFill>
              </a:rPr>
              <a:t>export the chat to a notebook</a:t>
            </a:r>
          </a:p>
        </p:txBody>
      </p:sp>
      <p:sp>
        <p:nvSpPr>
          <p:cNvPr id="34" name="FE box"/>
          <p:cNvSpPr/>
          <p:nvPr/>
        </p:nvSpPr>
        <p:spPr>
          <a:xfrm>
            <a:off x="4663440" y="1234440"/>
            <a:ext cx="4023360" cy="23317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FE err caption bar"/>
          <p:cNvSpPr/>
          <p:nvPr/>
        </p:nvSpPr>
        <p:spPr>
          <a:xfrm>
            <a:off x="4800600" y="1371600"/>
            <a:ext cx="3749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FE err caption"/>
          <p:cNvSpPr txBox="1"/>
          <p:nvPr/>
        </p:nvSpPr>
        <p:spPr>
          <a:xfrm>
            <a:off x="4910328" y="1371600"/>
            <a:ext cx="3529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Error in the Console</a:t>
            </a:r>
          </a:p>
        </p:txBody>
      </p:sp>
      <p:sp>
        <p:nvSpPr>
          <p:cNvPr id="37" name="FE err box"/>
          <p:cNvSpPr/>
          <p:nvPr/>
        </p:nvSpPr>
        <p:spPr>
          <a:xfrm>
            <a:off x="4800600" y="1645920"/>
            <a:ext cx="374904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FE err code"/>
          <p:cNvSpPr txBox="1"/>
          <p:nvPr/>
        </p:nvSpPr>
        <p:spPr>
          <a:xfrm>
            <a:off x="4937760" y="1737360"/>
            <a:ext cx="3474720" cy="41148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ColumnNotFoundError:</a:t>
            </a:r>
          </a:p>
          <a:p>
            <a:pPr algn="l">
              <a:spcAft>
                <a:spcPts val="0"/>
              </a:spcAft>
            </a:pPr>
            <a:r>
              <a:rPr sz="1050" b="0" lang="en-GB">
                <a:solidFill>
                  <a:schemeClr val="bg1"/>
                </a:solidFill>
                <a:latin typeface="Consolas"/>
              </a:rPr>
              <a:t>  unable to find column "Sales"</a:t>
            </a:r>
          </a:p>
        </p:txBody>
      </p:sp>
      <p:sp>
        <p:nvSpPr>
          <p:cNvPr id="39" name="FE btn 1"/>
          <p:cNvSpPr/>
          <p:nvPr/>
        </p:nvSpPr>
        <p:spPr>
          <a:xfrm>
            <a:off x="4800600" y="2377440"/>
            <a:ext cx="1005840" cy="365760"/>
          </a:xfrm>
          <a:prstGeom prst="round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FE btn text 1"/>
          <p:cNvSpPr txBox="1"/>
          <p:nvPr/>
        </p:nvSpPr>
        <p:spPr>
          <a:xfrm>
            <a:off x="4800600" y="2377440"/>
            <a:ext cx="1005840" cy="365760"/>
          </a:xfrm>
          <a:prstGeom prst="rect">
            <a:avLst/>
          </a:prstGeom>
          <a:noFill/>
        </p:spPr>
        <p:txBody>
          <a:bodyPr wrap="square" lIns="0" rIns="0" tIns="0" bIns="0" anchor="ctr">
            <a:noAutofit/>
          </a:bodyPr>
          <a:lstStyle/>
          <a:p>
            <a:pPr algn="ctr">
              <a:spcAft>
                <a:spcPts val="400"/>
              </a:spcAft>
            </a:pPr>
            <a:r>
              <a:rPr sz="1100" b="1" lang="en-GB">
                <a:solidFill>
                  <a:schemeClr val="bg1"/>
                </a:solidFill>
              </a:rPr>
              <a:t>Fix</a:t>
            </a:r>
          </a:p>
        </p:txBody>
      </p:sp>
      <p:sp>
        <p:nvSpPr>
          <p:cNvPr id="41" name="FE btn 2"/>
          <p:cNvSpPr/>
          <p:nvPr/>
        </p:nvSpPr>
        <p:spPr>
          <a:xfrm>
            <a:off x="5943600" y="2377440"/>
            <a:ext cx="1005840" cy="365760"/>
          </a:xfrm>
          <a:prstGeom prst="round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FE btn text 2"/>
          <p:cNvSpPr txBox="1"/>
          <p:nvPr/>
        </p:nvSpPr>
        <p:spPr>
          <a:xfrm>
            <a:off x="5943600" y="2377440"/>
            <a:ext cx="1005840" cy="365760"/>
          </a:xfrm>
          <a:prstGeom prst="rect">
            <a:avLst/>
          </a:prstGeom>
          <a:noFill/>
        </p:spPr>
        <p:txBody>
          <a:bodyPr wrap="square" lIns="0" rIns="0" tIns="0" bIns="0" anchor="ctr">
            <a:noAutofit/>
          </a:bodyPr>
          <a:lstStyle/>
          <a:p>
            <a:pPr algn="ctr">
              <a:spcAft>
                <a:spcPts val="400"/>
              </a:spcAft>
            </a:pPr>
            <a:r>
              <a:rPr sz="1100" b="1" lang="en-GB">
                <a:solidFill>
                  <a:schemeClr val="bg1"/>
                </a:solidFill>
              </a:rPr>
              <a:t>Explain</a:t>
            </a:r>
          </a:p>
        </p:txBody>
      </p:sp>
      <p:sp>
        <p:nvSpPr>
          <p:cNvPr id="43" name="FE text"/>
          <p:cNvSpPr txBox="1"/>
          <p:nvPr/>
        </p:nvSpPr>
        <p:spPr>
          <a:xfrm>
            <a:off x="4800600" y="2834640"/>
            <a:ext cx="3749040" cy="685800"/>
          </a:xfrm>
          <a:prstGeom prst="rect">
            <a:avLst/>
          </a:prstGeom>
          <a:noFill/>
        </p:spPr>
        <p:txBody>
          <a:bodyPr wrap="square" lIns="0" rIns="0" tIns="0" bIns="0" anchor="t">
            <a:noAutofit/>
          </a:bodyPr>
          <a:lstStyle/>
          <a:p>
            <a:pPr algn="l">
              <a:spcAft>
                <a:spcPts val="400"/>
              </a:spcAft>
            </a:pPr>
            <a:r>
              <a:rPr sz="1200" b="1" lang="en-GB">
                <a:solidFill>
                  <a:schemeClr val="tx2"/>
                </a:solidFill>
              </a:rPr>
              <a:t>Explain first: </a:t>
            </a:r>
            <a:r>
              <a:rPr sz="1200" b="0" lang="en-GB">
                <a:solidFill>
                  <a:schemeClr val="tx1"/>
                </a:solidFill>
              </a:rPr>
              <a:t>understand the error, then fix it yourself or with Fix.</a:t>
            </a:r>
          </a:p>
        </p:txBody>
      </p:sp>
      <p:sp>
        <p:nvSpPr>
          <p:cNvPr id="44" name="FE tip box"/>
          <p:cNvSpPr/>
          <p:nvPr/>
        </p:nvSpPr>
        <p:spPr>
          <a:xfrm>
            <a:off x="457200" y="379476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5" name="Icon FE tip" descr=""/>
          <p:cNvPicPr>
            <a:picLocks noChangeAspect="1"/>
          </p:cNvPicPr>
          <p:nvPr/>
        </p:nvPicPr>
        <p:blipFill>
          <a:blip r:embed="rId3"/>
          <a:stretch>
            <a:fillRect/>
          </a:stretch>
        </p:blipFill>
        <p:spPr>
          <a:xfrm>
            <a:off x="658368" y="3954780"/>
            <a:ext cx="365760" cy="365760"/>
          </a:xfrm>
          <a:prstGeom prst="rect">
            <a:avLst/>
          </a:prstGeom>
        </p:spPr>
      </p:pic>
      <p:sp>
        <p:nvSpPr>
          <p:cNvPr id="46" name="FE tip text"/>
          <p:cNvSpPr txBox="1"/>
          <p:nvPr/>
        </p:nvSpPr>
        <p:spPr>
          <a:xfrm>
            <a:off x="1207008" y="379476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Learning tip: </a:t>
            </a:r>
            <a:r>
              <a:rPr sz="1200" b="0" lang="en-GB">
                <a:solidFill>
                  <a:schemeClr val="bg1"/>
                </a:solidFill>
              </a:rPr>
              <a:t>use Explain more than Fix. You will meet the same error in the exam, without the assistant.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Example: the chocolate data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rompt caption bar"/>
          <p:cNvSpPr/>
          <p:nvPr/>
        </p:nvSpPr>
        <p:spPr>
          <a:xfrm>
            <a:off x="457200" y="1234440"/>
            <a:ext cx="49377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rompt caption"/>
          <p:cNvSpPr txBox="1"/>
          <p:nvPr/>
        </p:nvSpPr>
        <p:spPr>
          <a:xfrm>
            <a:off x="566928" y="1234440"/>
            <a:ext cx="47183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Your prompt</a:t>
            </a:r>
          </a:p>
        </p:txBody>
      </p:sp>
      <p:sp>
        <p:nvSpPr>
          <p:cNvPr id="12" name="Prompt box"/>
          <p:cNvSpPr/>
          <p:nvPr/>
        </p:nvSpPr>
        <p:spPr>
          <a:xfrm>
            <a:off x="457200" y="1508760"/>
            <a:ext cx="4937760" cy="1965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rompt code"/>
          <p:cNvSpPr txBox="1"/>
          <p:nvPr/>
        </p:nvSpPr>
        <p:spPr>
          <a:xfrm>
            <a:off x="594360" y="1600200"/>
            <a:ext cx="4663440" cy="1783080"/>
          </a:xfrm>
          <a:prstGeom prst="rect">
            <a:avLst/>
          </a:prstGeom>
          <a:noFill/>
        </p:spPr>
        <p:txBody>
          <a:bodyPr wrap="square" lIns="0" rIns="0" tIns="0" bIns="0" anchor="t">
            <a:noAutofit/>
          </a:bodyPr>
          <a:lstStyle/>
          <a:p>
            <a:pPr algn="l">
              <a:spcAft>
                <a:spcPts val="0"/>
              </a:spcAft>
            </a:pPr>
            <a:r>
              <a:rPr sz="1150" b="0" lang="en-GB">
                <a:solidFill>
                  <a:schemeClr val="bg1"/>
                </a:solidFill>
                <a:latin typeface="Consolas"/>
              </a:rPr>
              <a:t>Use polars, not pandas, to read</a:t>
            </a:r>
          </a:p>
          <a:p>
            <a:pPr algn="l">
              <a:spcAft>
                <a:spcPts val="0"/>
              </a:spcAft>
            </a:pPr>
            <a:r>
              <a:rPr sz="1150" b="0" lang="en-GB">
                <a:solidFill>
                  <a:schemeClr val="bg1"/>
                </a:solidFill>
                <a:latin typeface="Consolas"/>
              </a:rPr>
              <a:t>data/legacy/chocolate_dataset.csv.</a:t>
            </a:r>
          </a:p>
          <a:p>
            <a:pPr algn="l">
              <a:spcAft>
                <a:spcPts val="0"/>
              </a:spcAft>
            </a:pPr>
            <a:r>
              <a:rPr sz="1150" b="0" lang="en-GB">
                <a:solidFill>
                  <a:schemeClr val="bg1"/>
                </a:solidFill>
                <a:latin typeface="Consolas"/>
              </a:rPr>
              <a:t>Plot sales against price1 with</a:t>
            </a:r>
          </a:p>
          <a:p>
            <a:pPr algn="l">
              <a:spcAft>
                <a:spcPts val="0"/>
              </a:spcAft>
            </a:pPr>
            <a:r>
              <a:rPr sz="1150" b="0" lang="en-GB">
                <a:solidFill>
                  <a:schemeClr val="bg1"/>
                </a:solidFill>
                <a:latin typeface="Consolas"/>
              </a:rPr>
              <a:t>plotnine. Fit sales ~ price1 with the</a:t>
            </a:r>
          </a:p>
          <a:p>
            <a:pPr algn="l">
              <a:spcAft>
                <a:spcPts val="0"/>
              </a:spcAft>
            </a:pPr>
            <a:r>
              <a:rPr sz="1150" b="0" lang="en-GB">
                <a:solidFill>
                  <a:schemeClr val="bg1"/>
                </a:solidFill>
                <a:latin typeface="Consolas"/>
              </a:rPr>
              <a:t>statsmodels formula API. Explain</a:t>
            </a:r>
          </a:p>
          <a:p>
            <a:pPr algn="l">
              <a:spcAft>
                <a:spcPts val="0"/>
              </a:spcAft>
            </a:pPr>
            <a:r>
              <a:rPr sz="1150" b="0" lang="en-GB">
                <a:solidFill>
                  <a:schemeClr val="bg1"/>
                </a:solidFill>
                <a:latin typeface="Consolas"/>
              </a:rPr>
              <a:t>each step in two sentences.</a:t>
            </a:r>
          </a:p>
        </p:txBody>
      </p:sp>
      <p:sp>
        <p:nvSpPr>
          <p:cNvPr id="14" name="Example body"/>
          <p:cNvSpPr/>
          <p:nvPr/>
        </p:nvSpPr>
        <p:spPr>
          <a:xfrm>
            <a:off x="5532120" y="1645920"/>
            <a:ext cx="3154680" cy="1828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xample header"/>
          <p:cNvSpPr/>
          <p:nvPr/>
        </p:nvSpPr>
        <p:spPr>
          <a:xfrm>
            <a:off x="5532120" y="1234440"/>
            <a:ext cx="315468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Example heading"/>
          <p:cNvSpPr txBox="1"/>
          <p:nvPr/>
        </p:nvSpPr>
        <p:spPr>
          <a:xfrm>
            <a:off x="5669280" y="1234440"/>
            <a:ext cx="246888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Then</a:t>
            </a:r>
          </a:p>
        </p:txBody>
      </p:sp>
      <p:pic>
        <p:nvPicPr>
          <p:cNvPr id="17" name="Icon Example" descr=""/>
          <p:cNvPicPr>
            <a:picLocks noChangeAspect="1"/>
          </p:cNvPicPr>
          <p:nvPr/>
        </p:nvPicPr>
        <p:blipFill>
          <a:blip r:embed="rId3"/>
          <a:stretch>
            <a:fillRect/>
          </a:stretch>
        </p:blipFill>
        <p:spPr>
          <a:xfrm>
            <a:off x="8247888" y="1284732"/>
            <a:ext cx="310896" cy="310896"/>
          </a:xfrm>
          <a:prstGeom prst="rect">
            <a:avLst/>
          </a:prstGeom>
        </p:spPr>
      </p:pic>
      <p:sp>
        <p:nvSpPr>
          <p:cNvPr id="18" name="Example text"/>
          <p:cNvSpPr txBox="1"/>
          <p:nvPr/>
        </p:nvSpPr>
        <p:spPr>
          <a:xfrm>
            <a:off x="5696712" y="1783080"/>
            <a:ext cx="2852928" cy="1600200"/>
          </a:xfrm>
          <a:prstGeom prst="rect">
            <a:avLst/>
          </a:prstGeom>
          <a:noFill/>
        </p:spPr>
        <p:txBody>
          <a:bodyPr wrap="square" lIns="0" rIns="0" tIns="0" bIns="0" anchor="t">
            <a:noAutofit/>
          </a:bodyPr>
          <a:lstStyle/>
          <a:p>
            <a:pPr algn="l">
              <a:spcAft>
                <a:spcPts val="900"/>
              </a:spcAft>
            </a:pPr>
            <a:r>
              <a:rPr sz="1200" b="1" lang="en-GB">
                <a:solidFill>
                  <a:schemeClr val="accent1"/>
                </a:solidFill>
              </a:rPr>
              <a:t>1  </a:t>
            </a:r>
            <a:r>
              <a:rPr sz="1200" b="1" lang="en-GB">
                <a:solidFill>
                  <a:schemeClr val="tx2"/>
                </a:solidFill>
              </a:rPr>
              <a:t>Read </a:t>
            </a:r>
            <a:r>
              <a:rPr sz="1200" b="0" lang="en-GB">
                <a:solidFill>
                  <a:schemeClr val="tx1"/>
                </a:solidFill>
              </a:rPr>
              <a:t>the plan and code</a:t>
            </a:r>
          </a:p>
          <a:p>
            <a:pPr algn="l">
              <a:spcAft>
                <a:spcPts val="900"/>
              </a:spcAft>
            </a:pPr>
            <a:r>
              <a:rPr sz="1200" b="1" lang="en-GB">
                <a:solidFill>
                  <a:schemeClr val="accent1"/>
                </a:solidFill>
              </a:rPr>
              <a:t>2  </a:t>
            </a:r>
            <a:r>
              <a:rPr sz="1200" b="1" lang="en-GB">
                <a:solidFill>
                  <a:schemeClr val="tx2"/>
                </a:solidFill>
              </a:rPr>
              <a:t>Accept </a:t>
            </a:r>
            <a:r>
              <a:rPr sz="1200" b="0" lang="en-GB">
                <a:solidFill>
                  <a:schemeClr val="tx1"/>
                </a:solidFill>
              </a:rPr>
              <a:t>if it fits</a:t>
            </a:r>
          </a:p>
          <a:p>
            <a:pPr algn="l">
              <a:spcAft>
                <a:spcPts val="900"/>
              </a:spcAft>
            </a:pPr>
            <a:r>
              <a:rPr sz="1200" b="1" lang="en-GB">
                <a:solidFill>
                  <a:schemeClr val="accent1"/>
                </a:solidFill>
              </a:rPr>
              <a:t>3  </a:t>
            </a:r>
            <a:r>
              <a:rPr sz="1200" b="1" lang="en-GB">
                <a:solidFill>
                  <a:schemeClr val="tx2"/>
                </a:solidFill>
              </a:rPr>
              <a:t>Check: </a:t>
            </a:r>
            <a:r>
              <a:rPr sz="1200" b="0" lang="en-GB">
                <a:solidFill>
                  <a:schemeClr val="tx1"/>
                </a:solidFill>
              </a:rPr>
              <a:t>slope ≈ −669, R² ≈ 0.88</a:t>
            </a:r>
          </a:p>
          <a:p>
            <a:pPr algn="l">
              <a:spcAft>
                <a:spcPts val="900"/>
              </a:spcAft>
            </a:pPr>
            <a:r>
              <a:rPr sz="1200" b="1" lang="en-GB">
                <a:solidFill>
                  <a:schemeClr val="accent1"/>
                </a:solidFill>
              </a:rPr>
              <a:t>4  </a:t>
            </a:r>
            <a:r>
              <a:rPr sz="1200" b="1" lang="en-GB">
                <a:solidFill>
                  <a:schemeClr val="tx2"/>
                </a:solidFill>
              </a:rPr>
              <a:t>Ask </a:t>
            </a:r>
            <a:r>
              <a:rPr sz="1200" b="0" lang="en-GB">
                <a:solidFill>
                  <a:schemeClr val="tx1"/>
                </a:solidFill>
              </a:rPr>
              <a:t>why, if unsure</a:t>
            </a:r>
          </a:p>
        </p:txBody>
      </p:sp>
      <p:sp>
        <p:nvSpPr>
          <p:cNvPr id="19" name="Example rows row 1"/>
          <p:cNvSpPr/>
          <p:nvPr/>
        </p:nvSpPr>
        <p:spPr>
          <a:xfrm>
            <a:off x="457200" y="36118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ample rows bar 1"/>
          <p:cNvSpPr/>
          <p:nvPr/>
        </p:nvSpPr>
        <p:spPr>
          <a:xfrm>
            <a:off x="457200" y="36118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xample rows text 1"/>
          <p:cNvSpPr txBox="1"/>
          <p:nvPr/>
        </p:nvSpPr>
        <p:spPr>
          <a:xfrm>
            <a:off x="658368" y="36118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Names the file </a:t>
            </a:r>
            <a:r>
              <a:rPr sz="1200" b="0" lang="en-GB">
                <a:solidFill>
                  <a:schemeClr val="tx1"/>
                </a:solidFill>
              </a:rPr>
              <a:t>so it reads the right data</a:t>
            </a:r>
          </a:p>
        </p:txBody>
      </p:sp>
      <p:sp>
        <p:nvSpPr>
          <p:cNvPr id="22" name="Example rows row 2"/>
          <p:cNvSpPr/>
          <p:nvPr/>
        </p:nvSpPr>
        <p:spPr>
          <a:xfrm>
            <a:off x="457200" y="41330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ample rows bar 2"/>
          <p:cNvSpPr/>
          <p:nvPr/>
        </p:nvSpPr>
        <p:spPr>
          <a:xfrm>
            <a:off x="457200" y="41330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Example rows text 2"/>
          <p:cNvSpPr txBox="1"/>
          <p:nvPr/>
        </p:nvSpPr>
        <p:spPr>
          <a:xfrm>
            <a:off x="658368" y="41330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Names the packages </a:t>
            </a:r>
            <a:r>
              <a:rPr sz="1200" b="0" lang="en-GB">
                <a:solidFill>
                  <a:schemeClr val="tx1"/>
                </a:solidFill>
              </a:rPr>
              <a:t>so the code matches the course: polars, plotnine, statsmodels</a:t>
            </a:r>
          </a:p>
        </p:txBody>
      </p:sp>
      <p:sp>
        <p:nvSpPr>
          <p:cNvPr id="25" name="Example ok box"/>
          <p:cNvSpPr/>
          <p:nvPr/>
        </p:nvSpPr>
        <p:spPr>
          <a:xfrm>
            <a:off x="457200" y="466344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Example ok" descr=""/>
          <p:cNvPicPr>
            <a:picLocks noChangeAspect="1"/>
          </p:cNvPicPr>
          <p:nvPr/>
        </p:nvPicPr>
        <p:blipFill>
          <a:blip r:embed="rId4"/>
          <a:stretch>
            <a:fillRect/>
          </a:stretch>
        </p:blipFill>
        <p:spPr>
          <a:xfrm>
            <a:off x="658368" y="4686300"/>
            <a:ext cx="365760" cy="365760"/>
          </a:xfrm>
          <a:prstGeom prst="rect">
            <a:avLst/>
          </a:prstGeom>
        </p:spPr>
      </p:pic>
      <p:sp>
        <p:nvSpPr>
          <p:cNvPr id="27" name="Example ok text"/>
          <p:cNvSpPr txBox="1"/>
          <p:nvPr/>
        </p:nvSpPr>
        <p:spPr>
          <a:xfrm>
            <a:off x="1207008" y="4663440"/>
            <a:ext cx="7315200"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Same numbers as on the slides? </a:t>
            </a:r>
            <a:r>
              <a:rPr sz="1200" b="0" lang="en-GB">
                <a:solidFill>
                  <a:schemeClr val="tx1"/>
                </a:solidFill>
              </a:rPr>
              <a:t>then the code is right.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ghost text, keys, switching it on and off</a:t>
            </a:r>
          </a:p>
        </p:txBody>
      </p:sp>
      <p:sp>
        <p:nvSpPr>
          <p:cNvPr id="3" name="Title 2"/>
          <p:cNvSpPr>
            <a:spLocks noGrp="1"/>
          </p:cNvSpPr>
          <p:nvPr>
            <p:ph type="ctrTitle"/>
          </p:nvPr>
        </p:nvSpPr>
        <p:spPr/>
        <p:txBody>
          <a:bodyPr/>
          <a:lstStyle/>
          <a:p>
            <a:r>
              <a:rPr sz="1600" lang="en-GB"/>
              <a:t>Code completions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Ghost text: accept, take part, or ignore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Ghost box"/>
          <p:cNvSpPr/>
          <p:nvPr/>
        </p:nvSpPr>
        <p:spPr>
          <a:xfrm>
            <a:off x="457200" y="1234440"/>
            <a:ext cx="4572000" cy="1600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Ghost code"/>
          <p:cNvSpPr txBox="1"/>
          <p:nvPr/>
        </p:nvSpPr>
        <p:spPr>
          <a:xfrm>
            <a:off x="594360" y="1325880"/>
            <a:ext cx="4297680" cy="1417320"/>
          </a:xfrm>
          <a:prstGeom prst="rect">
            <a:avLst/>
          </a:prstGeom>
          <a:noFill/>
        </p:spPr>
        <p:txBody>
          <a:bodyPr wrap="square" lIns="0" rIns="0" tIns="0" bIns="0" anchor="t">
            <a:noAutofit/>
          </a:bodyPr>
          <a:lstStyle/>
          <a:p>
            <a:pPr algn="l">
              <a:spcAft>
                <a:spcPts val="400"/>
              </a:spcAft>
            </a:pPr>
            <a:r>
              <a:rPr sz="1100" b="0" lang="en-GB">
                <a:solidFill>
                  <a:schemeClr val="bg1"/>
                </a:solidFill>
                <a:latin typeface="Consolas"/>
              </a:rPr>
              <a:t>choc = pl.read_csv(path)</a:t>
            </a:r>
          </a:p>
          <a:p>
            <a:pPr algn="l">
              <a:spcAft>
                <a:spcPts val="400"/>
              </a:spcAft>
            </a:pPr>
            <a:r>
              <a:rPr sz="1100" b="0" lang="en-GB">
                <a:solidFill>
                  <a:schemeClr val="bg1"/>
                </a:solidFill>
                <a:latin typeface="Consolas"/>
              </a:rPr>
              <a:t>model = smf.ols(</a:t>
            </a:r>
            <a:r>
              <a:rPr sz="1100" b="0" lang="en-GB">
                <a:solidFill>
                  <a:srgbClr val="8FA3BF"/>
                </a:solidFill>
                <a:latin typeface="Consolas"/>
              </a:rPr>
              <a:t>"sales ~ price1", data=choc</a:t>
            </a:r>
          </a:p>
          <a:p>
            <a:pPr algn="l">
              <a:spcAft>
                <a:spcPts val="400"/>
              </a:spcAft>
            </a:pPr>
            <a:r>
              <a:rPr sz="1100" b="0" lang="en-GB">
                <a:solidFill>
                  <a:srgbClr val="8FA3BF"/>
                </a:solidFill>
                <a:latin typeface="Consolas"/>
              </a:rPr>
              <a:t>.to_pandas()).fit()</a:t>
            </a:r>
          </a:p>
        </p:txBody>
      </p:sp>
      <p:sp>
        <p:nvSpPr>
          <p:cNvPr id="12" name="Ghost caption"/>
          <p:cNvSpPr txBox="1"/>
          <p:nvPr/>
        </p:nvSpPr>
        <p:spPr>
          <a:xfrm>
            <a:off x="457200" y="2880360"/>
            <a:ext cx="4572000" cy="320040"/>
          </a:xfrm>
          <a:prstGeom prst="rect">
            <a:avLst/>
          </a:prstGeom>
          <a:noFill/>
        </p:spPr>
        <p:txBody>
          <a:bodyPr wrap="square" lIns="0" rIns="0" tIns="0" bIns="0" anchor="t">
            <a:noAutofit/>
          </a:bodyPr>
          <a:lstStyle/>
          <a:p>
            <a:pPr algn="l">
              <a:spcAft>
                <a:spcPts val="400"/>
              </a:spcAft>
            </a:pPr>
            <a:r>
              <a:rPr sz="1100" b="0" lang="en-GB">
                <a:solidFill>
                  <a:srgbClr val="595959"/>
                </a:solidFill>
              </a:rPr>
              <a:t>Grey text = Copilot's suggestion, not yet in your file</a:t>
            </a:r>
          </a:p>
        </p:txBody>
      </p:sp>
      <p:sp>
        <p:nvSpPr>
          <p:cNvPr id="13" name="Keys 1-1"/>
          <p:cNvSpPr/>
          <p:nvPr/>
        </p:nvSpPr>
        <p:spPr>
          <a:xfrm>
            <a:off x="5166360" y="1234440"/>
            <a:ext cx="1572768" cy="4023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Keys text 1-1"/>
          <p:cNvSpPr txBox="1"/>
          <p:nvPr/>
        </p:nvSpPr>
        <p:spPr>
          <a:xfrm>
            <a:off x="5257800" y="1234440"/>
            <a:ext cx="1389888" cy="402336"/>
          </a:xfrm>
          <a:prstGeom prst="rect">
            <a:avLst/>
          </a:prstGeom>
          <a:noFill/>
        </p:spPr>
        <p:txBody>
          <a:bodyPr wrap="square" lIns="0" rIns="0" tIns="0" bIns="0" anchor="ctr">
            <a:noAutofit/>
          </a:bodyPr>
          <a:lstStyle/>
          <a:p>
            <a:pPr algn="l">
              <a:spcAft>
                <a:spcPts val="400"/>
              </a:spcAft>
            </a:pPr>
            <a:r>
              <a:rPr sz="1200" b="1" lang="en-GB">
                <a:solidFill>
                  <a:schemeClr val="bg1"/>
                </a:solidFill>
              </a:rPr>
              <a:t>Key</a:t>
            </a:r>
          </a:p>
        </p:txBody>
      </p:sp>
      <p:sp>
        <p:nvSpPr>
          <p:cNvPr id="15" name="Keys 1-2"/>
          <p:cNvSpPr/>
          <p:nvPr/>
        </p:nvSpPr>
        <p:spPr>
          <a:xfrm>
            <a:off x="6766560" y="1234440"/>
            <a:ext cx="1892808" cy="40233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Keys text 1-2"/>
          <p:cNvSpPr txBox="1"/>
          <p:nvPr/>
        </p:nvSpPr>
        <p:spPr>
          <a:xfrm>
            <a:off x="6858000" y="1234440"/>
            <a:ext cx="1709928" cy="402336"/>
          </a:xfrm>
          <a:prstGeom prst="rect">
            <a:avLst/>
          </a:prstGeom>
          <a:noFill/>
        </p:spPr>
        <p:txBody>
          <a:bodyPr wrap="square" lIns="0" rIns="0" tIns="0" bIns="0" anchor="ctr">
            <a:noAutofit/>
          </a:bodyPr>
          <a:lstStyle/>
          <a:p>
            <a:pPr algn="l">
              <a:spcAft>
                <a:spcPts val="400"/>
              </a:spcAft>
            </a:pPr>
            <a:r>
              <a:rPr sz="1200" b="1" lang="en-GB">
                <a:solidFill>
                  <a:schemeClr val="bg1"/>
                </a:solidFill>
              </a:rPr>
              <a:t>Effect</a:t>
            </a:r>
          </a:p>
        </p:txBody>
      </p:sp>
      <p:sp>
        <p:nvSpPr>
          <p:cNvPr id="17" name="Keys 2-1"/>
          <p:cNvSpPr/>
          <p:nvPr/>
        </p:nvSpPr>
        <p:spPr>
          <a:xfrm>
            <a:off x="5166360" y="1664208"/>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Keys text 2-1"/>
          <p:cNvSpPr txBox="1"/>
          <p:nvPr/>
        </p:nvSpPr>
        <p:spPr>
          <a:xfrm>
            <a:off x="5257800" y="1664208"/>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Tab</a:t>
            </a:r>
          </a:p>
        </p:txBody>
      </p:sp>
      <p:sp>
        <p:nvSpPr>
          <p:cNvPr id="19" name="Keys 2-2"/>
          <p:cNvSpPr/>
          <p:nvPr/>
        </p:nvSpPr>
        <p:spPr>
          <a:xfrm>
            <a:off x="6766560" y="1664208"/>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Keys text 2-2"/>
          <p:cNvSpPr txBox="1"/>
          <p:nvPr/>
        </p:nvSpPr>
        <p:spPr>
          <a:xfrm>
            <a:off x="6858000" y="1664208"/>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accept the whole suggestion</a:t>
            </a:r>
          </a:p>
        </p:txBody>
      </p:sp>
      <p:sp>
        <p:nvSpPr>
          <p:cNvPr id="21" name="Keys 3-1"/>
          <p:cNvSpPr/>
          <p:nvPr/>
        </p:nvSpPr>
        <p:spPr>
          <a:xfrm>
            <a:off x="5166360" y="2093976"/>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Keys text 3-1"/>
          <p:cNvSpPr txBox="1"/>
          <p:nvPr/>
        </p:nvSpPr>
        <p:spPr>
          <a:xfrm>
            <a:off x="5257800" y="2093976"/>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Ctrl/Cmd + →</a:t>
            </a:r>
          </a:p>
        </p:txBody>
      </p:sp>
      <p:sp>
        <p:nvSpPr>
          <p:cNvPr id="23" name="Keys 3-2"/>
          <p:cNvSpPr/>
          <p:nvPr/>
        </p:nvSpPr>
        <p:spPr>
          <a:xfrm>
            <a:off x="6766560" y="2093976"/>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Keys text 3-2"/>
          <p:cNvSpPr txBox="1"/>
          <p:nvPr/>
        </p:nvSpPr>
        <p:spPr>
          <a:xfrm>
            <a:off x="6858000" y="2093976"/>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accept word by word</a:t>
            </a:r>
          </a:p>
        </p:txBody>
      </p:sp>
      <p:sp>
        <p:nvSpPr>
          <p:cNvPr id="25" name="Keys 4-1"/>
          <p:cNvSpPr/>
          <p:nvPr/>
        </p:nvSpPr>
        <p:spPr>
          <a:xfrm>
            <a:off x="5166360" y="2523744"/>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Keys text 4-1"/>
          <p:cNvSpPr txBox="1"/>
          <p:nvPr/>
        </p:nvSpPr>
        <p:spPr>
          <a:xfrm>
            <a:off x="5257800" y="2523744"/>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Esc or keep typing</a:t>
            </a:r>
          </a:p>
        </p:txBody>
      </p:sp>
      <p:sp>
        <p:nvSpPr>
          <p:cNvPr id="27" name="Keys 4-2"/>
          <p:cNvSpPr/>
          <p:nvPr/>
        </p:nvSpPr>
        <p:spPr>
          <a:xfrm>
            <a:off x="6766560" y="2523744"/>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Keys text 4-2"/>
          <p:cNvSpPr txBox="1"/>
          <p:nvPr/>
        </p:nvSpPr>
        <p:spPr>
          <a:xfrm>
            <a:off x="6858000" y="2523744"/>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ignore it</a:t>
            </a:r>
          </a:p>
        </p:txBody>
      </p:sp>
      <p:sp>
        <p:nvSpPr>
          <p:cNvPr id="29" name="Keys 5-1"/>
          <p:cNvSpPr/>
          <p:nvPr/>
        </p:nvSpPr>
        <p:spPr>
          <a:xfrm>
            <a:off x="5166360" y="2953512"/>
            <a:ext cx="157276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Keys text 5-1"/>
          <p:cNvSpPr txBox="1"/>
          <p:nvPr/>
        </p:nvSpPr>
        <p:spPr>
          <a:xfrm>
            <a:off x="5257800" y="2953512"/>
            <a:ext cx="1389888" cy="402336"/>
          </a:xfrm>
          <a:prstGeom prst="rect">
            <a:avLst/>
          </a:prstGeom>
          <a:noFill/>
        </p:spPr>
        <p:txBody>
          <a:bodyPr wrap="square" lIns="0" rIns="0" tIns="0" bIns="0" anchor="ctr">
            <a:noAutofit/>
          </a:bodyPr>
          <a:lstStyle/>
          <a:p>
            <a:pPr algn="l">
              <a:spcAft>
                <a:spcPts val="400"/>
              </a:spcAft>
            </a:pPr>
            <a:r>
              <a:rPr sz="1200" b="1" lang="en-GB">
                <a:solidFill>
                  <a:schemeClr val="tx2"/>
                </a:solidFill>
              </a:rPr>
              <a:t>Alt/Option + \</a:t>
            </a:r>
          </a:p>
        </p:txBody>
      </p:sp>
      <p:sp>
        <p:nvSpPr>
          <p:cNvPr id="31" name="Keys 5-2"/>
          <p:cNvSpPr/>
          <p:nvPr/>
        </p:nvSpPr>
        <p:spPr>
          <a:xfrm>
            <a:off x="6766560" y="2953512"/>
            <a:ext cx="1892808" cy="40233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Keys text 5-2"/>
          <p:cNvSpPr txBox="1"/>
          <p:nvPr/>
        </p:nvSpPr>
        <p:spPr>
          <a:xfrm>
            <a:off x="6858000" y="2953512"/>
            <a:ext cx="1709928" cy="402336"/>
          </a:xfrm>
          <a:prstGeom prst="rect">
            <a:avLst/>
          </a:prstGeom>
          <a:noFill/>
        </p:spPr>
        <p:txBody>
          <a:bodyPr wrap="square" lIns="0" rIns="0" tIns="0" bIns="0" anchor="ctr">
            <a:noAutofit/>
          </a:bodyPr>
          <a:lstStyle/>
          <a:p>
            <a:pPr algn="l">
              <a:spcAft>
                <a:spcPts val="400"/>
              </a:spcAft>
            </a:pPr>
            <a:r>
              <a:rPr sz="1200" b="0" lang="en-GB">
                <a:solidFill>
                  <a:schemeClr val="tx1"/>
                </a:solidFill>
              </a:rPr>
              <a:t>ask for a suggestion</a:t>
            </a:r>
          </a:p>
        </p:txBody>
      </p:sp>
      <p:sp>
        <p:nvSpPr>
          <p:cNvPr id="33" name="Ghost warn box"/>
          <p:cNvSpPr/>
          <p:nvPr/>
        </p:nvSpPr>
        <p:spPr>
          <a:xfrm>
            <a:off x="457200" y="342900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Icon Ghost warn" descr=""/>
          <p:cNvPicPr>
            <a:picLocks noChangeAspect="1"/>
          </p:cNvPicPr>
          <p:nvPr/>
        </p:nvPicPr>
        <p:blipFill>
          <a:blip r:embed="rId3"/>
          <a:stretch>
            <a:fillRect/>
          </a:stretch>
        </p:blipFill>
        <p:spPr>
          <a:xfrm>
            <a:off x="658368" y="3611880"/>
            <a:ext cx="365760" cy="365760"/>
          </a:xfrm>
          <a:prstGeom prst="rect">
            <a:avLst/>
          </a:prstGeom>
        </p:spPr>
      </p:pic>
      <p:sp>
        <p:nvSpPr>
          <p:cNvPr id="35" name="Ghost warn text"/>
          <p:cNvSpPr txBox="1"/>
          <p:nvPr/>
        </p:nvSpPr>
        <p:spPr>
          <a:xfrm>
            <a:off x="1207008" y="342900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Tab is not a reflex: </a:t>
            </a:r>
            <a:r>
              <a:rPr sz="1200" b="0" lang="en-GB">
                <a:solidFill>
                  <a:schemeClr val="bg1"/>
                </a:solidFill>
              </a:rPr>
              <a:t>read the grey text first. It guesses from patterns and can pick the wrong column, file or method.</a:t>
            </a:r>
          </a:p>
        </p:txBody>
      </p:sp>
      <p:sp>
        <p:nvSpPr>
          <p:cNvPr id="36" name="Ghost where row 1"/>
          <p:cNvSpPr/>
          <p:nvPr/>
        </p:nvSpPr>
        <p:spPr>
          <a:xfrm>
            <a:off x="457200" y="42976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Ghost where bar 1"/>
          <p:cNvSpPr/>
          <p:nvPr/>
        </p:nvSpPr>
        <p:spPr>
          <a:xfrm>
            <a:off x="457200" y="42976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Ghost where text 1"/>
          <p:cNvSpPr txBox="1"/>
          <p:nvPr/>
        </p:nvSpPr>
        <p:spPr>
          <a:xfrm>
            <a:off x="658368" y="42976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Where: </a:t>
            </a:r>
            <a:r>
              <a:rPr sz="1200" b="0" lang="en-GB">
                <a:solidFill>
                  <a:schemeClr val="tx1"/>
                </a:solidFill>
              </a:rPr>
              <a:t>.py files and Quarto code cells; not in plain text or Markdown prose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Switch completions on and off</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noff body"/>
          <p:cNvSpPr/>
          <p:nvPr/>
        </p:nvSpPr>
        <p:spPr>
          <a:xfrm>
            <a:off x="457200" y="1645920"/>
            <a:ext cx="4023360" cy="19659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noff header"/>
          <p:cNvSpPr/>
          <p:nvPr/>
        </p:nvSpPr>
        <p:spPr>
          <a:xfrm>
            <a:off x="457200" y="1234440"/>
            <a:ext cx="40233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Onoff heading"/>
          <p:cNvSpPr txBox="1"/>
          <p:nvPr/>
        </p:nvSpPr>
        <p:spPr>
          <a:xfrm>
            <a:off x="594360" y="1234440"/>
            <a:ext cx="33375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Quick: the status bar</a:t>
            </a:r>
          </a:p>
        </p:txBody>
      </p:sp>
      <p:pic>
        <p:nvPicPr>
          <p:cNvPr id="13" name="Icon Onoff" descr=""/>
          <p:cNvPicPr>
            <a:picLocks noChangeAspect="1"/>
          </p:cNvPicPr>
          <p:nvPr/>
        </p:nvPicPr>
        <p:blipFill>
          <a:blip r:embed="rId3"/>
          <a:stretch>
            <a:fillRect/>
          </a:stretch>
        </p:blipFill>
        <p:spPr>
          <a:xfrm>
            <a:off x="4041648" y="1284732"/>
            <a:ext cx="310896" cy="310896"/>
          </a:xfrm>
          <a:prstGeom prst="rect">
            <a:avLst/>
          </a:prstGeom>
        </p:spPr>
      </p:pic>
      <p:sp>
        <p:nvSpPr>
          <p:cNvPr id="14" name="Onoff text"/>
          <p:cNvSpPr txBox="1"/>
          <p:nvPr/>
        </p:nvSpPr>
        <p:spPr>
          <a:xfrm>
            <a:off x="621792" y="1783080"/>
            <a:ext cx="3721608" cy="1737360"/>
          </a:xfrm>
          <a:prstGeom prst="rect">
            <a:avLst/>
          </a:prstGeom>
          <a:noFill/>
        </p:spPr>
        <p:txBody>
          <a:bodyPr wrap="square" lIns="0" rIns="0" tIns="0" bIns="0" anchor="t">
            <a:noAutofit/>
          </a:bodyPr>
          <a:lstStyle/>
          <a:p>
            <a:pPr algn="l">
              <a:spcAft>
                <a:spcPts val="900"/>
              </a:spcAft>
            </a:pPr>
            <a:r>
              <a:rPr sz="1300" b="1" lang="en-GB">
                <a:solidFill>
                  <a:schemeClr val="accent1"/>
                </a:solidFill>
              </a:rPr>
              <a:t>1  </a:t>
            </a:r>
            <a:r>
              <a:rPr sz="1300" b="1" lang="en-GB">
                <a:solidFill>
                  <a:schemeClr val="tx2"/>
                </a:solidFill>
              </a:rPr>
              <a:t>Click </a:t>
            </a:r>
            <a:r>
              <a:rPr sz="1300" b="0" lang="en-GB">
                <a:solidFill>
                  <a:schemeClr val="tx1"/>
                </a:solidFill>
              </a:rPr>
              <a:t>the Copilot icon at the bottom</a:t>
            </a:r>
          </a:p>
          <a:p>
            <a:pPr algn="l">
              <a:spcAft>
                <a:spcPts val="900"/>
              </a:spcAft>
            </a:pPr>
            <a:r>
              <a:rPr sz="1300" b="1" lang="en-GB">
                <a:solidFill>
                  <a:schemeClr val="accent1"/>
                </a:solidFill>
              </a:rPr>
              <a:t>2  </a:t>
            </a:r>
            <a:r>
              <a:rPr sz="1300" b="1" lang="en-GB">
                <a:solidFill>
                  <a:schemeClr val="tx2"/>
                </a:solidFill>
              </a:rPr>
              <a:t>Choose: </a:t>
            </a:r>
            <a:r>
              <a:rPr sz="1300" b="0" lang="en-GB">
                <a:solidFill>
                  <a:schemeClr val="tx1"/>
                </a:solidFill>
              </a:rPr>
              <a:t>off for this file type, or all files</a:t>
            </a:r>
          </a:p>
          <a:p>
            <a:pPr algn="l">
              <a:spcAft>
                <a:spcPts val="900"/>
              </a:spcAft>
            </a:pPr>
            <a:r>
              <a:rPr sz="1300" b="1" lang="en-GB">
                <a:solidFill>
                  <a:schemeClr val="accent1"/>
                </a:solidFill>
              </a:rPr>
              <a:t>3  </a:t>
            </a:r>
            <a:r>
              <a:rPr sz="1300" b="1" lang="en-GB">
                <a:solidFill>
                  <a:schemeClr val="tx2"/>
                </a:solidFill>
              </a:rPr>
              <a:t>Or: </a:t>
            </a:r>
            <a:r>
              <a:rPr sz="1300" b="0" lang="en-GB">
                <a:solidFill>
                  <a:schemeClr val="tx1"/>
                </a:solidFill>
              </a:rPr>
              <a:t>Snooze Inline Suggestions for a while</a:t>
            </a:r>
          </a:p>
        </p:txBody>
      </p:sp>
      <p:sp>
        <p:nvSpPr>
          <p:cNvPr id="15" name="Onoff json caption bar"/>
          <p:cNvSpPr/>
          <p:nvPr/>
        </p:nvSpPr>
        <p:spPr>
          <a:xfrm>
            <a:off x="4663440" y="123444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noff json caption"/>
          <p:cNvSpPr txBox="1"/>
          <p:nvPr/>
        </p:nvSpPr>
        <p:spPr>
          <a:xfrm>
            <a:off x="4773168" y="123444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settings.json: off for Python only</a:t>
            </a:r>
          </a:p>
        </p:txBody>
      </p:sp>
      <p:sp>
        <p:nvSpPr>
          <p:cNvPr id="17" name="Onoff json box"/>
          <p:cNvSpPr/>
          <p:nvPr/>
        </p:nvSpPr>
        <p:spPr>
          <a:xfrm>
            <a:off x="4663440" y="1508760"/>
            <a:ext cx="4023360" cy="21031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noff json code"/>
          <p:cNvSpPr txBox="1"/>
          <p:nvPr/>
        </p:nvSpPr>
        <p:spPr>
          <a:xfrm>
            <a:off x="4800600" y="1600200"/>
            <a:ext cx="3749040" cy="192024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"github.copilot.enable": {</a:t>
            </a:r>
          </a:p>
          <a:p>
            <a:pPr algn="l">
              <a:spcAft>
                <a:spcPts val="0"/>
              </a:spcAft>
            </a:pPr>
            <a:r>
              <a:rPr sz="1100" b="0" lang="en-GB">
                <a:solidFill>
                  <a:schemeClr val="bg1"/>
                </a:solidFill>
                <a:latin typeface="Consolas"/>
              </a:rPr>
              <a:t>  "*": true,</a:t>
            </a:r>
          </a:p>
          <a:p>
            <a:pPr algn="l">
              <a:spcAft>
                <a:spcPts val="0"/>
              </a:spcAft>
            </a:pPr>
            <a:r>
              <a:rPr sz="1100" b="0" lang="en-GB">
                <a:solidFill>
                  <a:schemeClr val="bg1"/>
                </a:solidFill>
                <a:latin typeface="Consolas"/>
              </a:rPr>
              <a:t>  "python": false,</a:t>
            </a:r>
          </a:p>
          <a:p>
            <a:pPr algn="l">
              <a:spcAft>
                <a:spcPts val="0"/>
              </a:spcAft>
            </a:pPr>
            <a:r>
              <a:rPr sz="1100" b="0" lang="en-GB">
                <a:solidFill>
                  <a:schemeClr val="bg1"/>
                </a:solidFill>
                <a:latin typeface="Consolas"/>
              </a:rPr>
              <a:t>  "markdown": false</a:t>
            </a:r>
          </a:p>
          <a:p>
            <a:pPr algn="l">
              <a:spcAft>
                <a:spcPts val="0"/>
              </a:spcAft>
            </a:pPr>
            <a:r>
              <a:rPr sz="1100" b="0" lang="en-GB">
                <a:solidFill>
                  <a:schemeClr val="bg1"/>
                </a:solidFill>
                <a:latin typeface="Consolas"/>
              </a:rPr>
              <a:t>}</a:t>
            </a:r>
          </a:p>
        </p:txBody>
      </p:sp>
      <p:sp>
        <p:nvSpPr>
          <p:cNvPr id="19" name="Onoff tip box"/>
          <p:cNvSpPr/>
          <p:nvPr/>
        </p:nvSpPr>
        <p:spPr>
          <a:xfrm>
            <a:off x="457200" y="3749040"/>
            <a:ext cx="8229600" cy="7315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Icon Onoff tip" descr=""/>
          <p:cNvPicPr>
            <a:picLocks noChangeAspect="1"/>
          </p:cNvPicPr>
          <p:nvPr/>
        </p:nvPicPr>
        <p:blipFill>
          <a:blip r:embed="rId4"/>
          <a:stretch>
            <a:fillRect/>
          </a:stretch>
        </p:blipFill>
        <p:spPr>
          <a:xfrm>
            <a:off x="658368" y="3931920"/>
            <a:ext cx="365760" cy="365760"/>
          </a:xfrm>
          <a:prstGeom prst="rect">
            <a:avLst/>
          </a:prstGeom>
        </p:spPr>
      </p:pic>
      <p:sp>
        <p:nvSpPr>
          <p:cNvPr id="21" name="Onoff tip text"/>
          <p:cNvSpPr txBox="1"/>
          <p:nvPr/>
        </p:nvSpPr>
        <p:spPr>
          <a:xfrm>
            <a:off x="1207008" y="3749040"/>
            <a:ext cx="7315200" cy="731520"/>
          </a:xfrm>
          <a:prstGeom prst="rect">
            <a:avLst/>
          </a:prstGeom>
          <a:noFill/>
        </p:spPr>
        <p:txBody>
          <a:bodyPr wrap="square" lIns="0" rIns="0" tIns="0" bIns="0" anchor="ctr">
            <a:noAutofit/>
          </a:bodyPr>
          <a:lstStyle/>
          <a:p>
            <a:pPr algn="l">
              <a:spcAft>
                <a:spcPts val="400"/>
              </a:spcAft>
            </a:pPr>
            <a:r>
              <a:rPr sz="1200" b="1" lang="en-GB">
                <a:solidFill>
                  <a:schemeClr val="bg1"/>
                </a:solidFill>
              </a:rPr>
              <a:t>Learning a new method? </a:t>
            </a:r>
            <a:r>
              <a:rPr sz="1200" b="0" lang="en-GB">
                <a:solidFill>
                  <a:schemeClr val="bg1"/>
                </a:solidFill>
              </a:rPr>
              <a:t>turn completions off while you practise; switch them on when you work on the case study.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good prompts, checking results, data protection and course rules</a:t>
            </a:r>
          </a:p>
        </p:txBody>
      </p:sp>
      <p:sp>
        <p:nvSpPr>
          <p:cNvPr id="3" name="Title 2"/>
          <p:cNvSpPr>
            <a:spLocks noGrp="1"/>
          </p:cNvSpPr>
          <p:nvPr>
            <p:ph type="ctrTitle"/>
          </p:nvPr>
        </p:nvSpPr>
        <p:spPr/>
        <p:txBody>
          <a:bodyPr/>
          <a:lstStyle/>
          <a:p>
            <a:r>
              <a:rPr sz="1600" lang="en-GB"/>
              <a:t>Use it well</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Prompts that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Weak card body"/>
          <p:cNvSpPr/>
          <p:nvPr/>
        </p:nvSpPr>
        <p:spPr>
          <a:xfrm>
            <a:off x="457200" y="164592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Weak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Weak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Weak</a:t>
            </a:r>
          </a:p>
        </p:txBody>
      </p:sp>
      <p:pic>
        <p:nvPicPr>
          <p:cNvPr id="13" name="Icon Weak card" descr=""/>
          <p:cNvPicPr>
            <a:picLocks noChangeAspect="1"/>
          </p:cNvPicPr>
          <p:nvPr/>
        </p:nvPicPr>
        <p:blipFill>
          <a:blip r:embed="rId3"/>
          <a:stretch>
            <a:fillRect/>
          </a:stretch>
        </p:blipFill>
        <p:spPr>
          <a:xfrm>
            <a:off x="4064508" y="1284732"/>
            <a:ext cx="310896" cy="310896"/>
          </a:xfrm>
          <a:prstGeom prst="rect">
            <a:avLst/>
          </a:prstGeom>
        </p:spPr>
      </p:pic>
      <p:sp>
        <p:nvSpPr>
          <p:cNvPr id="14" name="Weak card text"/>
          <p:cNvSpPr txBox="1"/>
          <p:nvPr/>
        </p:nvSpPr>
        <p:spPr>
          <a:xfrm>
            <a:off x="621792" y="178308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“Analyse my data.”</a:t>
            </a:r>
          </a:p>
          <a:p>
            <a:pPr algn="l" marL="182880" indent="-182880">
              <a:spcAft>
                <a:spcPts val="600"/>
              </a:spcAft>
              <a:buClr>
                <a:schemeClr val="accent1"/>
              </a:buClr>
              <a:buFont typeface="Arial"/>
              <a:buChar char="▪"/>
            </a:pPr>
            <a:r>
              <a:rPr sz="1300" b="0" lang="en-GB">
                <a:solidFill>
                  <a:schemeClr val="tx1"/>
                </a:solidFill>
              </a:rPr>
              <a:t>“Make a chart.”</a:t>
            </a:r>
          </a:p>
        </p:txBody>
      </p:sp>
      <p:sp>
        <p:nvSpPr>
          <p:cNvPr id="15" name="Strong card body"/>
          <p:cNvSpPr/>
          <p:nvPr/>
        </p:nvSpPr>
        <p:spPr>
          <a:xfrm>
            <a:off x="4640580" y="1645920"/>
            <a:ext cx="404622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rong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trong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Strong</a:t>
            </a:r>
          </a:p>
        </p:txBody>
      </p:sp>
      <p:pic>
        <p:nvPicPr>
          <p:cNvPr id="18" name="Icon Strong card" descr=""/>
          <p:cNvPicPr>
            <a:picLocks noChangeAspect="1"/>
          </p:cNvPicPr>
          <p:nvPr/>
        </p:nvPicPr>
        <p:blipFill>
          <a:blip r:embed="rId4"/>
          <a:stretch>
            <a:fillRect/>
          </a:stretch>
        </p:blipFill>
        <p:spPr>
          <a:xfrm>
            <a:off x="8247888" y="1284732"/>
            <a:ext cx="310896" cy="310896"/>
          </a:xfrm>
          <a:prstGeom prst="rect">
            <a:avLst/>
          </a:prstGeom>
        </p:spPr>
      </p:pic>
      <p:sp>
        <p:nvSpPr>
          <p:cNvPr id="19" name="Strong card text"/>
          <p:cNvSpPr txBox="1"/>
          <p:nvPr/>
        </p:nvSpPr>
        <p:spPr>
          <a:xfrm>
            <a:off x="4805172" y="1783080"/>
            <a:ext cx="3744468" cy="82296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“Use polars to read data/case/orders.csv and plot weekly orders by country with plotnine.”</a:t>
            </a:r>
          </a:p>
        </p:txBody>
      </p:sp>
      <p:sp>
        <p:nvSpPr>
          <p:cNvPr id="20" name="Prompt tips row 1"/>
          <p:cNvSpPr/>
          <p:nvPr/>
        </p:nvSpPr>
        <p:spPr>
          <a:xfrm>
            <a:off x="457200" y="288036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Prompt tips number 1"/>
          <p:cNvSpPr/>
          <p:nvPr/>
        </p:nvSpPr>
        <p:spPr>
          <a:xfrm>
            <a:off x="594360" y="29535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22" name="Prompt tips text 1"/>
          <p:cNvSpPr txBox="1"/>
          <p:nvPr/>
        </p:nvSpPr>
        <p:spPr>
          <a:xfrm>
            <a:off x="1051560" y="2880360"/>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Name the file, the packages and the output </a:t>
            </a:r>
            <a:r>
              <a:rPr sz="1200" b="0" lang="en-GB">
                <a:solidFill>
                  <a:schemeClr val="tx1"/>
                </a:solidFill>
              </a:rPr>
              <a:t>you want</a:t>
            </a:r>
          </a:p>
        </p:txBody>
      </p:sp>
      <p:sp>
        <p:nvSpPr>
          <p:cNvPr id="23" name="Prompt tips row 2"/>
          <p:cNvSpPr/>
          <p:nvPr/>
        </p:nvSpPr>
        <p:spPr>
          <a:xfrm>
            <a:off x="457200" y="340156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mpt tips number 2"/>
          <p:cNvSpPr/>
          <p:nvPr/>
        </p:nvSpPr>
        <p:spPr>
          <a:xfrm>
            <a:off x="594360" y="347472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25" name="Prompt tips text 2"/>
          <p:cNvSpPr txBox="1"/>
          <p:nvPr/>
        </p:nvSpPr>
        <p:spPr>
          <a:xfrm>
            <a:off x="1051560" y="3401568"/>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Say polars </a:t>
            </a:r>
            <a:r>
              <a:rPr sz="1200" b="0" lang="en-GB">
                <a:solidFill>
                  <a:schemeClr val="tx1"/>
                </a:solidFill>
              </a:rPr>
              <a:t>explicitly: the assistant often defaults to pandas</a:t>
            </a:r>
          </a:p>
        </p:txBody>
      </p:sp>
      <p:sp>
        <p:nvSpPr>
          <p:cNvPr id="26" name="Prompt tips row 3"/>
          <p:cNvSpPr/>
          <p:nvPr/>
        </p:nvSpPr>
        <p:spPr>
          <a:xfrm>
            <a:off x="457200" y="392277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Prompt tips number 3"/>
          <p:cNvSpPr/>
          <p:nvPr/>
        </p:nvSpPr>
        <p:spPr>
          <a:xfrm>
            <a:off x="594360" y="399592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8" name="Prompt tips text 3"/>
          <p:cNvSpPr txBox="1"/>
          <p:nvPr/>
        </p:nvSpPr>
        <p:spPr>
          <a:xfrm>
            <a:off x="1051560" y="3922776"/>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Ask it to explain </a:t>
            </a:r>
            <a:r>
              <a:rPr sz="1200" b="0" lang="en-GB">
                <a:solidFill>
                  <a:schemeClr val="tx1"/>
                </a:solidFill>
              </a:rPr>
              <a:t>each step, or the assumptions of a model</a:t>
            </a:r>
          </a:p>
        </p:txBody>
      </p:sp>
      <p:sp>
        <p:nvSpPr>
          <p:cNvPr id="29" name="Prompt tips row 4"/>
          <p:cNvSpPr/>
          <p:nvPr/>
        </p:nvSpPr>
        <p:spPr>
          <a:xfrm>
            <a:off x="457200" y="444398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rompt tips number 4"/>
          <p:cNvSpPr/>
          <p:nvPr/>
        </p:nvSpPr>
        <p:spPr>
          <a:xfrm>
            <a:off x="594360" y="45171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31" name="Prompt tips text 4"/>
          <p:cNvSpPr txBox="1"/>
          <p:nvPr/>
        </p:nvSpPr>
        <p:spPr>
          <a:xfrm>
            <a:off x="1051560" y="4443984"/>
            <a:ext cx="749808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One topic per chat: </a:t>
            </a:r>
            <a:r>
              <a:rPr sz="1200" b="0" lang="en-GB">
                <a:solidFill>
                  <a:schemeClr val="tx1"/>
                </a:solidFill>
              </a:rPr>
              <a:t>/new for the next one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 everything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k 1 body"/>
          <p:cNvSpPr/>
          <p:nvPr/>
        </p:nvSpPr>
        <p:spPr>
          <a:xfrm>
            <a:off x="45720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k 1 header"/>
          <p:cNvSpPr/>
          <p:nvPr/>
        </p:nvSpPr>
        <p:spPr>
          <a:xfrm>
            <a:off x="45720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k 1 heading"/>
          <p:cNvSpPr txBox="1"/>
          <p:nvPr/>
        </p:nvSpPr>
        <p:spPr>
          <a:xfrm>
            <a:off x="59436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Run it</a:t>
            </a:r>
          </a:p>
        </p:txBody>
      </p:sp>
      <p:pic>
        <p:nvPicPr>
          <p:cNvPr id="13" name="Icon Chk 1" descr=""/>
          <p:cNvPicPr>
            <a:picLocks noChangeAspect="1"/>
          </p:cNvPicPr>
          <p:nvPr/>
        </p:nvPicPr>
        <p:blipFill>
          <a:blip r:embed="rId3"/>
          <a:stretch>
            <a:fillRect/>
          </a:stretch>
        </p:blipFill>
        <p:spPr>
          <a:xfrm>
            <a:off x="2670048" y="1284732"/>
            <a:ext cx="310896" cy="310896"/>
          </a:xfrm>
          <a:prstGeom prst="rect">
            <a:avLst/>
          </a:prstGeom>
        </p:spPr>
      </p:pic>
      <p:sp>
        <p:nvSpPr>
          <p:cNvPr id="14" name="Chk 1 text"/>
          <p:cNvSpPr txBox="1"/>
          <p:nvPr/>
        </p:nvSpPr>
        <p:spPr>
          <a:xfrm>
            <a:off x="62179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Run the code yourself</a:t>
            </a:r>
          </a:p>
          <a:p>
            <a:pPr algn="l" marL="182880" indent="-182880">
              <a:spcAft>
                <a:spcPts val="600"/>
              </a:spcAft>
              <a:buClr>
                <a:schemeClr val="accent1"/>
              </a:buClr>
              <a:buFont typeface="Arial"/>
              <a:buChar char="▪"/>
            </a:pPr>
            <a:r>
              <a:rPr sz="1300" b="0" lang="en-GB">
                <a:solidFill>
                  <a:schemeClr val="tx1"/>
                </a:solidFill>
              </a:rPr>
              <a:t>Does it render from top to bottom?</a:t>
            </a:r>
          </a:p>
        </p:txBody>
      </p:sp>
      <p:sp>
        <p:nvSpPr>
          <p:cNvPr id="15" name="Chk 2 body"/>
          <p:cNvSpPr/>
          <p:nvPr/>
        </p:nvSpPr>
        <p:spPr>
          <a:xfrm>
            <a:off x="324612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hk 2 header"/>
          <p:cNvSpPr/>
          <p:nvPr/>
        </p:nvSpPr>
        <p:spPr>
          <a:xfrm>
            <a:off x="324612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k 2 heading"/>
          <p:cNvSpPr txBox="1"/>
          <p:nvPr/>
        </p:nvSpPr>
        <p:spPr>
          <a:xfrm>
            <a:off x="338328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Compare</a:t>
            </a:r>
          </a:p>
        </p:txBody>
      </p:sp>
      <p:pic>
        <p:nvPicPr>
          <p:cNvPr id="18" name="Icon Chk 2" descr=""/>
          <p:cNvPicPr>
            <a:picLocks noChangeAspect="1"/>
          </p:cNvPicPr>
          <p:nvPr/>
        </p:nvPicPr>
        <p:blipFill>
          <a:blip r:embed="rId4"/>
          <a:stretch>
            <a:fillRect/>
          </a:stretch>
        </p:blipFill>
        <p:spPr>
          <a:xfrm>
            <a:off x="5458968" y="1284732"/>
            <a:ext cx="310896" cy="310896"/>
          </a:xfrm>
          <a:prstGeom prst="rect">
            <a:avLst/>
          </a:prstGeom>
        </p:spPr>
      </p:pic>
      <p:sp>
        <p:nvSpPr>
          <p:cNvPr id="19" name="Chk 2 text"/>
          <p:cNvSpPr txBox="1"/>
          <p:nvPr/>
        </p:nvSpPr>
        <p:spPr>
          <a:xfrm>
            <a:off x="341071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Numbers against the output</a:t>
            </a:r>
          </a:p>
          <a:p>
            <a:pPr algn="l" marL="182880" indent="-182880">
              <a:spcAft>
                <a:spcPts val="600"/>
              </a:spcAft>
              <a:buClr>
                <a:schemeClr val="accent1"/>
              </a:buClr>
              <a:buFont typeface="Arial"/>
              <a:buChar char="▪"/>
            </a:pPr>
            <a:r>
              <a:rPr sz="1300" b="0" lang="en-GB">
                <a:solidFill>
                  <a:schemeClr val="tx1"/>
                </a:solidFill>
              </a:rPr>
              <a:t>Columns against the data</a:t>
            </a:r>
          </a:p>
        </p:txBody>
      </p:sp>
      <p:sp>
        <p:nvSpPr>
          <p:cNvPr id="20" name="Chk 3 body"/>
          <p:cNvSpPr/>
          <p:nvPr/>
        </p:nvSpPr>
        <p:spPr>
          <a:xfrm>
            <a:off x="6035040" y="1645920"/>
            <a:ext cx="2651760" cy="1600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hk 3 header"/>
          <p:cNvSpPr/>
          <p:nvPr/>
        </p:nvSpPr>
        <p:spPr>
          <a:xfrm>
            <a:off x="6035040" y="1234440"/>
            <a:ext cx="265176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hk 3 heading"/>
          <p:cNvSpPr txBox="1"/>
          <p:nvPr/>
        </p:nvSpPr>
        <p:spPr>
          <a:xfrm>
            <a:off x="6172200" y="1234440"/>
            <a:ext cx="196596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Understand</a:t>
            </a:r>
          </a:p>
        </p:txBody>
      </p:sp>
      <p:pic>
        <p:nvPicPr>
          <p:cNvPr id="23" name="Icon Chk 3" descr=""/>
          <p:cNvPicPr>
            <a:picLocks noChangeAspect="1"/>
          </p:cNvPicPr>
          <p:nvPr/>
        </p:nvPicPr>
        <p:blipFill>
          <a:blip r:embed="rId5"/>
          <a:stretch>
            <a:fillRect/>
          </a:stretch>
        </p:blipFill>
        <p:spPr>
          <a:xfrm>
            <a:off x="8247888" y="1284732"/>
            <a:ext cx="310896" cy="310896"/>
          </a:xfrm>
          <a:prstGeom prst="rect">
            <a:avLst/>
          </a:prstGeom>
        </p:spPr>
      </p:pic>
      <p:sp>
        <p:nvSpPr>
          <p:cNvPr id="24" name="Chk 3 text"/>
          <p:cNvSpPr txBox="1"/>
          <p:nvPr/>
        </p:nvSpPr>
        <p:spPr>
          <a:xfrm>
            <a:off x="6199632" y="1783080"/>
            <a:ext cx="2350008" cy="132588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Can you explain each line?</a:t>
            </a:r>
          </a:p>
          <a:p>
            <a:pPr algn="l" marL="182880" indent="-182880">
              <a:spcAft>
                <a:spcPts val="600"/>
              </a:spcAft>
              <a:buClr>
                <a:schemeClr val="accent1"/>
              </a:buClr>
              <a:buFont typeface="Arial"/>
              <a:buChar char="▪"/>
            </a:pPr>
            <a:r>
              <a:rPr sz="1300" b="0" lang="en-GB">
                <a:solidFill>
                  <a:schemeClr val="tx1"/>
                </a:solidFill>
              </a:rPr>
              <a:t>Is it the method we learned?</a:t>
            </a:r>
          </a:p>
        </p:txBody>
      </p:sp>
      <p:sp>
        <p:nvSpPr>
          <p:cNvPr id="25" name="Chk rows row 1"/>
          <p:cNvSpPr/>
          <p:nvPr/>
        </p:nvSpPr>
        <p:spPr>
          <a:xfrm>
            <a:off x="457200" y="338328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k rows bar 1"/>
          <p:cNvSpPr/>
          <p:nvPr/>
        </p:nvSpPr>
        <p:spPr>
          <a:xfrm>
            <a:off x="457200" y="338328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Chk rows text 1"/>
          <p:cNvSpPr txBox="1"/>
          <p:nvPr/>
        </p:nvSpPr>
        <p:spPr>
          <a:xfrm>
            <a:off x="658368" y="3383280"/>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Typical slips: </a:t>
            </a:r>
            <a:r>
              <a:rPr sz="1200" b="0" lang="en-GB">
                <a:solidFill>
                  <a:schemeClr val="tx1"/>
                </a:solidFill>
              </a:rPr>
              <a:t>pandas instead of polars, a wrong column, the wrong test, invented numbers</a:t>
            </a:r>
          </a:p>
        </p:txBody>
      </p:sp>
      <p:sp>
        <p:nvSpPr>
          <p:cNvPr id="28" name="Chk rows row 2"/>
          <p:cNvSpPr/>
          <p:nvPr/>
        </p:nvSpPr>
        <p:spPr>
          <a:xfrm>
            <a:off x="457200" y="390448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Chk rows bar 2"/>
          <p:cNvSpPr/>
          <p:nvPr/>
        </p:nvSpPr>
        <p:spPr>
          <a:xfrm>
            <a:off x="457200" y="390448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hk rows text 2"/>
          <p:cNvSpPr txBox="1"/>
          <p:nvPr/>
        </p:nvSpPr>
        <p:spPr>
          <a:xfrm>
            <a:off x="658368" y="3904488"/>
            <a:ext cx="793699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Numbers in text: </a:t>
            </a:r>
            <a:r>
              <a:rPr sz="1200" b="0" lang="en-GB">
                <a:solidFill>
                  <a:schemeClr val="tx1"/>
                </a:solidFill>
              </a:rPr>
              <a:t>always from inline code, never typed from the chat</a:t>
            </a:r>
          </a:p>
        </p:txBody>
      </p:sp>
      <p:sp>
        <p:nvSpPr>
          <p:cNvPr id="31" name="Chk own box"/>
          <p:cNvSpPr/>
          <p:nvPr/>
        </p:nvSpPr>
        <p:spPr>
          <a:xfrm>
            <a:off x="457200" y="44805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2" name="Icon Chk own" descr=""/>
          <p:cNvPicPr>
            <a:picLocks noChangeAspect="1"/>
          </p:cNvPicPr>
          <p:nvPr/>
        </p:nvPicPr>
        <p:blipFill>
          <a:blip r:embed="rId6"/>
          <a:stretch>
            <a:fillRect/>
          </a:stretch>
        </p:blipFill>
        <p:spPr>
          <a:xfrm>
            <a:off x="658368" y="4572000"/>
            <a:ext cx="365760" cy="365760"/>
          </a:xfrm>
          <a:prstGeom prst="rect">
            <a:avLst/>
          </a:prstGeom>
        </p:spPr>
      </p:pic>
      <p:sp>
        <p:nvSpPr>
          <p:cNvPr id="33" name="Chk own text"/>
          <p:cNvSpPr txBox="1"/>
          <p:nvPr/>
        </p:nvSpPr>
        <p:spPr>
          <a:xfrm>
            <a:off x="1207008" y="44805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You own every number: </a:t>
            </a:r>
            <a:r>
              <a:rPr sz="1200" b="0" lang="en-GB">
                <a:solidFill>
                  <a:schemeClr val="bg1"/>
                </a:solidFill>
              </a:rPr>
              <a:t>the assistant cannot be blamed in a report or an exam.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Data protection and course rules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ever card body"/>
          <p:cNvSpPr/>
          <p:nvPr/>
        </p:nvSpPr>
        <p:spPr>
          <a:xfrm>
            <a:off x="45720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ever card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Never card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Never in a prompt</a:t>
            </a:r>
          </a:p>
        </p:txBody>
      </p:sp>
      <p:pic>
        <p:nvPicPr>
          <p:cNvPr id="13" name="Icon Never card" descr=""/>
          <p:cNvPicPr>
            <a:picLocks noChangeAspect="1"/>
          </p:cNvPicPr>
          <p:nvPr/>
        </p:nvPicPr>
        <p:blipFill>
          <a:blip r:embed="rId3"/>
          <a:stretch>
            <a:fillRect/>
          </a:stretch>
        </p:blipFill>
        <p:spPr>
          <a:xfrm>
            <a:off x="4064508" y="1284732"/>
            <a:ext cx="310896" cy="310896"/>
          </a:xfrm>
          <a:prstGeom prst="rect">
            <a:avLst/>
          </a:prstGeom>
        </p:spPr>
      </p:pic>
      <p:sp>
        <p:nvSpPr>
          <p:cNvPr id="14" name="Never card text"/>
          <p:cNvSpPr txBox="1"/>
          <p:nvPr/>
        </p:nvSpPr>
        <p:spPr>
          <a:xfrm>
            <a:off x="62179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Names, e-mails, student or customer IDs</a:t>
            </a:r>
          </a:p>
          <a:p>
            <a:pPr algn="l" marL="182880" indent="-182880">
              <a:spcAft>
                <a:spcPts val="600"/>
              </a:spcAft>
              <a:buClr>
                <a:schemeClr val="accent1"/>
              </a:buClr>
              <a:buFont typeface="Arial"/>
              <a:buChar char="▪"/>
            </a:pPr>
            <a:r>
              <a:rPr sz="1300" b="0" lang="en-GB">
                <a:solidFill>
                  <a:schemeClr val="tx1"/>
                </a:solidFill>
              </a:rPr>
              <a:t>Passwords, API keys</a:t>
            </a:r>
          </a:p>
          <a:p>
            <a:pPr algn="l" marL="182880" indent="-182880">
              <a:spcAft>
                <a:spcPts val="600"/>
              </a:spcAft>
              <a:buClr>
                <a:schemeClr val="accent1"/>
              </a:buClr>
              <a:buFont typeface="Arial"/>
              <a:buChar char="▪"/>
            </a:pPr>
            <a:r>
              <a:rPr sz="1300" b="0" lang="en-GB">
                <a:solidFill>
                  <a:schemeClr val="tx1"/>
                </a:solidFill>
              </a:rPr>
              <a:t>Confidential or licensed data</a:t>
            </a:r>
          </a:p>
          <a:p>
            <a:pPr algn="l" marL="182880" indent="-182880">
              <a:spcAft>
                <a:spcPts val="600"/>
              </a:spcAft>
              <a:buClr>
                <a:schemeClr val="accent1"/>
              </a:buClr>
              <a:buFont typeface="Arial"/>
              <a:buChar char="▪"/>
            </a:pPr>
            <a:r>
              <a:rPr sz="1300" b="0" lang="en-GB">
                <a:solidFill>
                  <a:schemeClr val="tx1"/>
                </a:solidFill>
              </a:rPr>
              <a:t>Other students' work</a:t>
            </a:r>
          </a:p>
        </p:txBody>
      </p:sp>
      <p:sp>
        <p:nvSpPr>
          <p:cNvPr id="15" name="Rules card body"/>
          <p:cNvSpPr/>
          <p:nvPr/>
        </p:nvSpPr>
        <p:spPr>
          <a:xfrm>
            <a:off x="4640580" y="1645920"/>
            <a:ext cx="4046220" cy="2103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ules card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ules card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Course rules</a:t>
            </a:r>
          </a:p>
        </p:txBody>
      </p:sp>
      <p:pic>
        <p:nvPicPr>
          <p:cNvPr id="18" name="Icon Rules card" descr=""/>
          <p:cNvPicPr>
            <a:picLocks noChangeAspect="1"/>
          </p:cNvPicPr>
          <p:nvPr/>
        </p:nvPicPr>
        <p:blipFill>
          <a:blip r:embed="rId4"/>
          <a:stretch>
            <a:fillRect/>
          </a:stretch>
        </p:blipFill>
        <p:spPr>
          <a:xfrm>
            <a:off x="8247888" y="1284732"/>
            <a:ext cx="310896" cy="310896"/>
          </a:xfrm>
          <a:prstGeom prst="rect">
            <a:avLst/>
          </a:prstGeom>
        </p:spPr>
      </p:pic>
      <p:sp>
        <p:nvSpPr>
          <p:cNvPr id="19" name="Rules card text"/>
          <p:cNvSpPr txBox="1"/>
          <p:nvPr/>
        </p:nvSpPr>
        <p:spPr>
          <a:xfrm>
            <a:off x="4805172" y="1783080"/>
            <a:ext cx="3744468" cy="18288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AI use is allowed and encouraged</a:t>
            </a:r>
          </a:p>
          <a:p>
            <a:pPr algn="l" marL="182880" indent="-182880">
              <a:spcAft>
                <a:spcPts val="600"/>
              </a:spcAft>
              <a:buClr>
                <a:schemeClr val="accent1"/>
              </a:buClr>
              <a:buFont typeface="Arial"/>
              <a:buChar char="▪"/>
            </a:pPr>
            <a:r>
              <a:rPr sz="1300" b="0" lang="en-GB">
                <a:solidFill>
                  <a:schemeClr val="tx1"/>
                </a:solidFill>
              </a:rPr>
              <a:t>Prompt log: exercises and case study appendix</a:t>
            </a:r>
          </a:p>
          <a:p>
            <a:pPr algn="l" marL="182880" indent="-182880">
              <a:spcAft>
                <a:spcPts val="600"/>
              </a:spcAft>
              <a:buClr>
                <a:schemeClr val="accent1"/>
              </a:buClr>
              <a:buFont typeface="Arial"/>
              <a:buChar char="▪"/>
            </a:pPr>
            <a:r>
              <a:rPr sz="1300" b="0" lang="en-GB">
                <a:solidFill>
                  <a:schemeClr val="tx1"/>
                </a:solidFill>
              </a:rPr>
              <a:t>You verify and own every result</a:t>
            </a:r>
          </a:p>
          <a:p>
            <a:pPr algn="l" marL="182880" indent="-182880">
              <a:spcAft>
                <a:spcPts val="600"/>
              </a:spcAft>
              <a:buClr>
                <a:schemeClr val="accent1"/>
              </a:buClr>
              <a:buFont typeface="Arial"/>
              <a:buChar char="▪"/>
            </a:pPr>
            <a:r>
              <a:rPr sz="1300" b="0" lang="en-GB">
                <a:solidFill>
                  <a:schemeClr val="tx1"/>
                </a:solidFill>
              </a:rPr>
              <a:t>Exam: closed book, no AI</a:t>
            </a:r>
          </a:p>
        </p:txBody>
      </p:sp>
      <p:sp>
        <p:nvSpPr>
          <p:cNvPr id="20" name="Rules log box"/>
          <p:cNvSpPr/>
          <p:nvPr/>
        </p:nvSpPr>
        <p:spPr>
          <a:xfrm>
            <a:off x="457200" y="393192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Rules log" descr=""/>
          <p:cNvPicPr>
            <a:picLocks noChangeAspect="1"/>
          </p:cNvPicPr>
          <p:nvPr/>
        </p:nvPicPr>
        <p:blipFill>
          <a:blip r:embed="rId5"/>
          <a:stretch>
            <a:fillRect/>
          </a:stretch>
        </p:blipFill>
        <p:spPr>
          <a:xfrm>
            <a:off x="658368" y="4137660"/>
            <a:ext cx="365760" cy="365760"/>
          </a:xfrm>
          <a:prstGeom prst="rect">
            <a:avLst/>
          </a:prstGeom>
        </p:spPr>
      </p:pic>
      <p:sp>
        <p:nvSpPr>
          <p:cNvPr id="22" name="Rules log text"/>
          <p:cNvSpPr txBox="1"/>
          <p:nvPr/>
        </p:nvSpPr>
        <p:spPr>
          <a:xfrm>
            <a:off x="1207008" y="393192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Prompt log: </a:t>
            </a:r>
            <a:r>
              <a:rPr sz="1200" b="0" lang="en-GB">
                <a:solidFill>
                  <a:schemeClr val="bg1"/>
                </a:solidFill>
              </a:rPr>
              <a:t>copy the prompts that produced non-trivial code, and note what you kept or changed.</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common problems, outdated instructions, checklist</a:t>
            </a:r>
          </a:p>
        </p:txBody>
      </p:sp>
      <p:sp>
        <p:nvSpPr>
          <p:cNvPr id="3" name="Title 2"/>
          <p:cNvSpPr>
            <a:spLocks noGrp="1"/>
          </p:cNvSpPr>
          <p:nvPr>
            <p:ph type="ctrTitle"/>
          </p:nvPr>
        </p:nvSpPr>
        <p:spPr/>
        <p:txBody>
          <a:bodyPr/>
          <a:lstStyle/>
          <a:p>
            <a:r>
              <a:rPr sz="1600" lang="en-GB"/>
              <a:t>Fix problems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rouble table"/>
          <p:cNvGraphicFramePr>
            <a:graphicFrameLocks noGrp="1"/>
          </p:cNvGraphicFramePr>
          <p:nvPr>
            <p:ph type="tbl" idx="1"/>
          </p:nvPr>
        </p:nvGraphicFramePr>
        <p:xfrm>
          <a:off x="457200" y="1234440"/>
          <a:ext cx="8229600" cy="2595880"/>
        </p:xfrm>
        <a:graphic>
          <a:graphicData uri="http://schemas.openxmlformats.org/drawingml/2006/table">
            <a:tbl>
              <a:tblPr firstRow="1" bandRow="1">
                <a:tableStyleId>{5C22544A-7EE6-4342-B048-85BDC9FD1C3A}</a:tableStyleId>
              </a:tblPr>
              <a:tblGrid>
                <a:gridCol w="3017520"/>
                <a:gridCol w="5212080"/>
              </a:tblGrid>
              <a:tr h="370840">
                <a:tc>
                  <a:txBody>
                    <a:bodyPr/>
                    <a:lstStyle/>
                    <a:p>
                      <a:r>
                        <a:rPr sz="1300" lang="en-GB"/>
                        <a:t>Problem</a:t>
                      </a:r>
                    </a:p>
                  </a:txBody>
                  <a:tcPr marT="45000" marB="45000"/>
                </a:tc>
                <a:tc>
                  <a:txBody>
                    <a:bodyPr/>
                    <a:lstStyle/>
                    <a:p>
                      <a:r>
                        <a:rPr sz="1300" lang="en-GB"/>
                        <a:t>Fix</a:t>
                      </a:r>
                    </a:p>
                  </a:txBody>
                  <a:tcPr marT="45000" marB="45000"/>
                </a:tc>
              </a:tr>
              <a:tr h="370840">
                <a:tc>
                  <a:txBody>
                    <a:bodyPr/>
                    <a:lstStyle/>
                    <a:p>
                      <a:r>
                        <a:rPr sz="1150" b="1" lang="en-GB"/>
                        <a:t>No Posit Assistant</a:t>
                      </a:r>
                    </a:p>
                  </a:txBody>
                  <a:tcPr marT="45000" marB="45000"/>
                </a:tc>
                <a:tc>
                  <a:txBody>
                    <a:bodyPr/>
                    <a:lstStyle/>
                    <a:p>
                      <a:r>
                        <a:rPr sz="1150" lang="en-GB"/>
                        <a:t>Update Positron (2026.07+); trust the folder; View: Show Posit Assistant</a:t>
                      </a:r>
                    </a:p>
                  </a:txBody>
                  <a:tcPr marT="45000" marB="45000"/>
                </a:tc>
              </a:tr>
              <a:tr h="370840">
                <a:tc>
                  <a:txBody>
                    <a:bodyPr/>
                    <a:lstStyle/>
                    <a:p>
                      <a:r>
                        <a:rPr sz="1150" b="1" lang="en-GB"/>
                        <a:t>Signed in to GitHub, no Copilot</a:t>
                      </a:r>
                    </a:p>
                  </a:txBody>
                  <a:tcPr marT="45000" marB="45000"/>
                </a:tc>
                <a:tc>
                  <a:txBody>
                    <a:bodyPr/>
                    <a:lstStyle/>
                    <a:p>
                      <a:r>
                        <a:rPr sz="1150" lang="en-GB"/>
                        <a:t>Configure Language Model Providers → GitHub Copilot</a:t>
                      </a:r>
                    </a:p>
                  </a:txBody>
                  <a:tcPr marT="45000" marB="45000"/>
                </a:tc>
              </a:tr>
              <a:tr h="370840">
                <a:tc>
                  <a:txBody>
                    <a:bodyPr/>
                    <a:lstStyle/>
                    <a:p>
                      <a:r>
                        <a:rPr sz="1150" b="1" lang="en-GB"/>
                        <a:t>No ghost text</a:t>
                      </a:r>
                    </a:p>
                  </a:txBody>
                  <a:tcPr marT="45000" marB="45000"/>
                </a:tc>
                <a:tc>
                  <a:txBody>
                    <a:bodyPr/>
                    <a:lstStyle/>
                    <a:p>
                      <a:r>
                        <a:rPr sz="1150" lang="en-GB"/>
                        <a:t>status-bar icon: not snoozed or off; file is .py or a code cell</a:t>
                      </a:r>
                    </a:p>
                  </a:txBody>
                  <a:tcPr marT="45000" marB="45000"/>
                </a:tc>
              </a:tr>
              <a:tr h="370840">
                <a:tc>
                  <a:txBody>
                    <a:bodyPr/>
                    <a:lstStyle/>
                    <a:p>
                      <a:r>
                        <a:rPr sz="1150" b="1" lang="en-GB"/>
                        <a:t>Usage limit reached</a:t>
                      </a:r>
                    </a:p>
                  </a:txBody>
                  <a:tcPr marT="45000" marB="45000"/>
                </a:tc>
                <a:tc>
                  <a:txBody>
                    <a:bodyPr/>
                    <a:lstStyle/>
                    <a:p>
                      <a:r>
                        <a:rPr sz="1150" lang="en-GB"/>
                        <a:t>wait until the 1st; activate Copilot Student</a:t>
                      </a:r>
                    </a:p>
                  </a:txBody>
                  <a:tcPr marT="45000" marB="45000"/>
                </a:tc>
              </a:tr>
              <a:tr h="370840">
                <a:tc>
                  <a:txBody>
                    <a:bodyPr/>
                    <a:lstStyle/>
                    <a:p>
                      <a:r>
                        <a:rPr sz="1150" b="1" lang="en-GB"/>
                        <a:t>Paid checkout on github.com</a:t>
                      </a:r>
                    </a:p>
                  </a:txBody>
                  <a:tcPr marT="45000" marB="45000"/>
                </a:tc>
                <a:tc>
                  <a:txBody>
                    <a:bodyPr/>
                    <a:lstStyle/>
                    <a:p>
                      <a:r>
                        <a:rPr sz="1150" lang="en-GB"/>
                        <a:t>do not pay; wait a few days, try github.com/settings/copilot</a:t>
                      </a:r>
                    </a:p>
                  </a:txBody>
                  <a:tcPr marT="45000" marB="45000"/>
                </a:tc>
              </a:tr>
              <a:tr h="370840">
                <a:tc>
                  <a:txBody>
                    <a:bodyPr/>
                    <a:lstStyle/>
                    <a:p>
                      <a:r>
                        <a:rPr sz="1150" b="1" lang="en-GB"/>
                        <a:t>Odd answers</a:t>
                      </a:r>
                    </a:p>
                  </a:txBody>
                  <a:tcPr marT="45000" marB="45000"/>
                </a:tc>
                <a:tc>
                  <a:txBody>
                    <a:bodyPr/>
                    <a:lstStyle/>
                    <a:p>
                      <a:r>
                        <a:rPr sz="1150" lang="en-GB"/>
                        <a:t>add context (files, packages), or start again with /new</a:t>
                      </a:r>
                    </a:p>
                  </a:txBody>
                  <a:tcPr marT="45000" marB="45000"/>
                </a:tc>
              </a:tr>
            </a:tbl>
          </a:graphicData>
        </a:graphic>
      </p:graphicFrame>
      <p:sp>
        <p:nvSpPr>
          <p:cNvPr id="3" name="Title 2"/>
          <p:cNvSpPr>
            <a:spLocks noGrp="1"/>
          </p:cNvSpPr>
          <p:nvPr>
            <p:ph type="title"/>
          </p:nvPr>
        </p:nvSpPr>
        <p:spPr/>
        <p:txBody>
          <a:bodyPr/>
          <a:lstStyle/>
          <a:p>
            <a:r>
              <a:rPr sz="1600" lang="en-GB"/>
              <a:t>When it does not work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ouble diag box"/>
          <p:cNvSpPr/>
          <p:nvPr/>
        </p:nvSpPr>
        <p:spPr>
          <a:xfrm>
            <a:off x="457200" y="434340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rouble diag" descr=""/>
          <p:cNvPicPr>
            <a:picLocks noChangeAspect="1"/>
          </p:cNvPicPr>
          <p:nvPr/>
        </p:nvPicPr>
        <p:blipFill>
          <a:blip r:embed="rId3"/>
          <a:stretch>
            <a:fillRect/>
          </a:stretch>
        </p:blipFill>
        <p:spPr>
          <a:xfrm>
            <a:off x="658368" y="4434840"/>
            <a:ext cx="365760" cy="365760"/>
          </a:xfrm>
          <a:prstGeom prst="rect">
            <a:avLst/>
          </a:prstGeom>
        </p:spPr>
      </p:pic>
      <p:sp>
        <p:nvSpPr>
          <p:cNvPr id="12" name="Trouble diag text"/>
          <p:cNvSpPr txBox="1"/>
          <p:nvPr/>
        </p:nvSpPr>
        <p:spPr>
          <a:xfrm>
            <a:off x="1207008" y="434340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Diagnose: </a:t>
            </a:r>
            <a:r>
              <a:rPr sz="1200" b="0" lang="en-GB">
                <a:solidFill>
                  <a:schemeClr val="tx1"/>
                </a:solidFill>
              </a:rPr>
              <a:t>Command Palette → AI: Create Diagnostic Report.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Old table"/>
          <p:cNvGraphicFramePr>
            <a:graphicFrameLocks noGrp="1"/>
          </p:cNvGraphicFramePr>
          <p:nvPr>
            <p:ph type="tbl" idx="1"/>
          </p:nvPr>
        </p:nvGraphicFramePr>
        <p:xfrm>
          <a:off x="457200" y="1234440"/>
          <a:ext cx="8229600" cy="2225040"/>
        </p:xfrm>
        <a:graphic>
          <a:graphicData uri="http://schemas.openxmlformats.org/drawingml/2006/table">
            <a:tbl>
              <a:tblPr firstRow="1" bandRow="1">
                <a:tableStyleId>{5C22544A-7EE6-4342-B048-85BDC9FD1C3A}</a:tableStyleId>
              </a:tblPr>
              <a:tblGrid>
                <a:gridCol w="3931920"/>
                <a:gridCol w="4297680"/>
              </a:tblGrid>
              <a:tr h="370840">
                <a:tc>
                  <a:txBody>
                    <a:bodyPr/>
                    <a:lstStyle/>
                    <a:p>
                      <a:r>
                        <a:rPr sz="1300" lang="en-GB"/>
                        <a:t>If a guide says</a:t>
                      </a:r>
                    </a:p>
                  </a:txBody>
                  <a:tcPr marT="55000" marB="55000"/>
                </a:tc>
                <a:tc>
                  <a:txBody>
                    <a:bodyPr/>
                    <a:lstStyle/>
                    <a:p>
                      <a:r>
                        <a:rPr sz="1300" lang="en-GB"/>
                        <a:t>Use now</a:t>
                      </a:r>
                    </a:p>
                  </a:txBody>
                  <a:tcPr marT="55000" marB="55000"/>
                </a:tc>
              </a:tr>
              <a:tr h="370840">
                <a:tc>
                  <a:txBody>
                    <a:bodyPr/>
                    <a:lstStyle/>
                    <a:p>
                      <a:r>
                        <a:rPr sz="1200" b="1" lang="en-GB"/>
                        <a:t>Positron Assistant</a:t>
                      </a:r>
                    </a:p>
                  </a:txBody>
                  <a:tcPr marT="55000" marB="55000"/>
                </a:tc>
                <a:tc>
                  <a:txBody>
                    <a:bodyPr/>
                    <a:lstStyle/>
                    <a:p>
                      <a:r>
                        <a:rPr sz="1200" lang="en-GB"/>
                        <a:t>Posit Assistant</a:t>
                      </a:r>
                    </a:p>
                  </a:txBody>
                  <a:tcPr marT="55000" marB="55000"/>
                </a:tc>
              </a:tr>
              <a:tr h="370840">
                <a:tc>
                  <a:txBody>
                    <a:bodyPr/>
                    <a:lstStyle/>
                    <a:p>
                      <a:r>
                        <a:rPr sz="1200" b="1" lang="en-GB"/>
                        <a:t>Setting positron.assistant.enable</a:t>
                      </a:r>
                    </a:p>
                  </a:txBody>
                  <a:tcPr marT="55000" marB="55000"/>
                </a:tc>
                <a:tc>
                  <a:txBody>
                    <a:bodyPr/>
                    <a:lstStyle/>
                    <a:p>
                      <a:r>
                        <a:rPr sz="1200" lang="en-GB"/>
                        <a:t>nothing to set (assistant.enabled is on)</a:t>
                      </a:r>
                    </a:p>
                  </a:txBody>
                  <a:tcPr marT="55000" marB="55000"/>
                </a:tc>
              </a:tr>
              <a:tr h="370840">
                <a:tc>
                  <a:txBody>
                    <a:bodyPr/>
                    <a:lstStyle/>
                    <a:p>
                      <a:r>
                        <a:rPr sz="1200" b="1" lang="en-GB"/>
                        <a:t>Ask / Edit / Agent modes</a:t>
                      </a:r>
                    </a:p>
                  </a:txBody>
                  <a:tcPr marT="55000" marB="55000"/>
                </a:tc>
                <a:tc>
                  <a:txBody>
                    <a:bodyPr/>
                    <a:lstStyle/>
                    <a:p>
                      <a:r>
                        <a:rPr sz="1200" lang="en-GB"/>
                        <a:t>Normal, /ask, /plan</a:t>
                      </a:r>
                    </a:p>
                  </a:txBody>
                  <a:tcPr marT="55000" marB="55000"/>
                </a:tc>
              </a:tr>
              <a:tr h="370840">
                <a:tc>
                  <a:txBody>
                    <a:bodyPr/>
                    <a:lstStyle/>
                    <a:p>
                      <a:r>
                        <a:rPr sz="1200" b="1" lang="en-GB"/>
                        <a:t>Positron Assistant: Collect Diagnostics</a:t>
                      </a:r>
                    </a:p>
                  </a:txBody>
                  <a:tcPr marT="55000" marB="55000"/>
                </a:tc>
                <a:tc>
                  <a:txBody>
                    <a:bodyPr/>
                    <a:lstStyle/>
                    <a:p>
                      <a:r>
                        <a:rPr sz="1200" lang="en-GB"/>
                        <a:t>AI: Create Diagnostic Report</a:t>
                      </a:r>
                    </a:p>
                  </a:txBody>
                  <a:tcPr marT="55000" marB="55000"/>
                </a:tc>
              </a:tr>
              <a:tr h="370840">
                <a:tc>
                  <a:txBody>
                    <a:bodyPr/>
                    <a:lstStyle/>
                    <a:p>
                      <a:r>
                        <a:rPr sz="1200" b="1" lang="en-GB"/>
                        <a:t>Inline chat with Ctrl/Cmd + I</a:t>
                      </a:r>
                    </a:p>
                  </a:txBody>
                  <a:tcPr marT="55000" marB="55000"/>
                </a:tc>
                <a:tc>
                  <a:txBody>
                    <a:bodyPr/>
                    <a:lstStyle/>
                    <a:p>
                      <a:r>
                        <a:rPr sz="1200" lang="en-GB"/>
                        <a:t>the Posit Assistant pane</a:t>
                      </a:r>
                    </a:p>
                  </a:txBody>
                  <a:tcPr marT="55000" marB="55000"/>
                </a:tc>
              </a:tr>
            </a:tbl>
          </a:graphicData>
        </a:graphic>
      </p:graphicFrame>
      <p:sp>
        <p:nvSpPr>
          <p:cNvPr id="3" name="Title 2"/>
          <p:cNvSpPr>
            <a:spLocks noGrp="1"/>
          </p:cNvSpPr>
          <p:nvPr>
            <p:ph type="title"/>
          </p:nvPr>
        </p:nvSpPr>
        <p:spPr/>
        <p:txBody>
          <a:bodyPr/>
          <a:lstStyle/>
          <a:p>
            <a:r>
              <a:rPr sz="1600" lang="en-GB"/>
              <a:t>Old instructions, and what to use now</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ld note box"/>
          <p:cNvSpPr/>
          <p:nvPr/>
        </p:nvSpPr>
        <p:spPr>
          <a:xfrm>
            <a:off x="457200" y="397764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Old note" descr=""/>
          <p:cNvPicPr>
            <a:picLocks noChangeAspect="1"/>
          </p:cNvPicPr>
          <p:nvPr/>
        </p:nvPicPr>
        <p:blipFill>
          <a:blip r:embed="rId3"/>
          <a:stretch>
            <a:fillRect/>
          </a:stretch>
        </p:blipFill>
        <p:spPr>
          <a:xfrm>
            <a:off x="658368" y="4137660"/>
            <a:ext cx="365760" cy="365760"/>
          </a:xfrm>
          <a:prstGeom prst="rect">
            <a:avLst/>
          </a:prstGeom>
        </p:spPr>
      </p:pic>
      <p:sp>
        <p:nvSpPr>
          <p:cNvPr id="12" name="Old note text"/>
          <p:cNvSpPr txBox="1"/>
          <p:nvPr/>
        </p:nvSpPr>
        <p:spPr>
          <a:xfrm>
            <a:off x="1207008" y="397764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Check the date: </a:t>
            </a:r>
            <a:r>
              <a:rPr sz="1200" b="0" lang="en-GB">
                <a:solidFill>
                  <a:schemeClr val="bg1"/>
                </a:solidFill>
              </a:rPr>
              <a:t>AI tools change monthly. Prefer positron.posit.co and GitHub Docs over older blog posts.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Free or Student </a:t>
            </a:r>
            <a:r>
              <a:rPr sz="1200" b="0" lang="en-GB">
                <a:solidFill>
                  <a:schemeClr val="tx1"/>
                </a:solidFill>
              </a:rPr>
              <a:t>active on github.com/settings/copilot</a:t>
            </a:r>
          </a:p>
        </p:txBody>
      </p:sp>
      <p:sp>
        <p:nvSpPr>
          <p:cNvPr id="13" name="Check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eck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heck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Model training </a:t>
            </a:r>
            <a:r>
              <a:rPr sz="1200" b="0" lang="en-GB">
                <a:solidFill>
                  <a:schemeClr val="tx1"/>
                </a:solidFill>
              </a:rPr>
              <a:t>opt-out set to Disabled</a:t>
            </a:r>
          </a:p>
        </p:txBody>
      </p:sp>
      <p:sp>
        <p:nvSpPr>
          <p:cNvPr id="16" name="Check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heck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heck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Positron 2026.07 or later, </a:t>
            </a:r>
            <a:r>
              <a:rPr sz="1200" b="0" lang="en-GB">
                <a:solidFill>
                  <a:schemeClr val="tx1"/>
                </a:solidFill>
              </a:rPr>
              <a:t>project folder trusted</a:t>
            </a:r>
          </a:p>
        </p:txBody>
      </p:sp>
      <p:sp>
        <p:nvSpPr>
          <p:cNvPr id="19" name="Check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eck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heck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connected: </a:t>
            </a:r>
            <a:r>
              <a:rPr sz="1200" b="0" lang="en-GB">
                <a:solidFill>
                  <a:schemeClr val="tx1"/>
                </a:solidFill>
              </a:rPr>
              <a:t>Configure Language Model Providers</a:t>
            </a:r>
          </a:p>
        </p:txBody>
      </p:sp>
      <p:sp>
        <p:nvSpPr>
          <p:cNvPr id="22" name="Check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heck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heck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Posit Assistant </a:t>
            </a:r>
            <a:r>
              <a:rPr sz="1200" b="0" lang="en-GB">
                <a:solidFill>
                  <a:schemeClr val="tx1"/>
                </a:solidFill>
              </a:rPr>
              <a:t>answers, and ghost text appears in a code cell</a:t>
            </a:r>
          </a:p>
        </p:txBody>
      </p:sp>
      <p:sp>
        <p:nvSpPr>
          <p:cNvPr id="25" name="Check row 6"/>
          <p:cNvSpPr/>
          <p:nvPr/>
        </p:nvSpPr>
        <p:spPr>
          <a:xfrm>
            <a:off x="457200" y="416052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eck number 6"/>
          <p:cNvSpPr/>
          <p:nvPr/>
        </p:nvSpPr>
        <p:spPr>
          <a:xfrm>
            <a:off x="594360" y="426110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6</a:t>
            </a:r>
          </a:p>
        </p:txBody>
      </p:sp>
      <p:sp>
        <p:nvSpPr>
          <p:cNvPr id="27" name="Check text 6"/>
          <p:cNvSpPr txBox="1"/>
          <p:nvPr/>
        </p:nvSpPr>
        <p:spPr>
          <a:xfrm>
            <a:off x="1051560" y="416052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Prompt log </a:t>
            </a:r>
            <a:r>
              <a:rPr sz="1200" b="0" lang="en-GB">
                <a:solidFill>
                  <a:schemeClr val="tx1"/>
                </a:solidFill>
              </a:rPr>
              <a:t>started for the coding exercise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Official guides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s row 1"/>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s bar 1"/>
          <p:cNvSpPr/>
          <p:nvPr/>
        </p:nvSpPr>
        <p:spPr>
          <a:xfrm>
            <a:off x="457200" y="123444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fs text 1"/>
          <p:cNvSpPr txBox="1"/>
          <p:nvPr/>
        </p:nvSpPr>
        <p:spPr>
          <a:xfrm>
            <a:off x="658368" y="123444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3"/>
              </a:rPr>
              <a:t>Posit Assistant in Positron</a:t>
            </a:r>
          </a:p>
        </p:txBody>
      </p:sp>
      <p:sp>
        <p:nvSpPr>
          <p:cNvPr id="13" name="Refs row 2"/>
          <p:cNvSpPr/>
          <p:nvPr/>
        </p:nvSpPr>
        <p:spPr>
          <a:xfrm>
            <a:off x="457200" y="176479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s bar 2"/>
          <p:cNvSpPr/>
          <p:nvPr/>
        </p:nvSpPr>
        <p:spPr>
          <a:xfrm>
            <a:off x="457200" y="176479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fs text 2"/>
          <p:cNvSpPr txBox="1"/>
          <p:nvPr/>
        </p:nvSpPr>
        <p:spPr>
          <a:xfrm>
            <a:off x="658368" y="176479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4"/>
              </a:rPr>
              <a:t>Getting started and model providers</a:t>
            </a:r>
          </a:p>
        </p:txBody>
      </p:sp>
      <p:sp>
        <p:nvSpPr>
          <p:cNvPr id="16" name="Refs row 3"/>
          <p:cNvSpPr/>
          <p:nvPr/>
        </p:nvSpPr>
        <p:spPr>
          <a:xfrm>
            <a:off x="457200" y="22951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fs bar 3"/>
          <p:cNvSpPr/>
          <p:nvPr/>
        </p:nvSpPr>
        <p:spPr>
          <a:xfrm>
            <a:off x="457200" y="2295144"/>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fs text 3"/>
          <p:cNvSpPr txBox="1"/>
          <p:nvPr/>
        </p:nvSpPr>
        <p:spPr>
          <a:xfrm>
            <a:off x="658368" y="2295144"/>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5"/>
              </a:rPr>
              <a:t>Code completions</a:t>
            </a:r>
          </a:p>
        </p:txBody>
      </p:sp>
      <p:sp>
        <p:nvSpPr>
          <p:cNvPr id="19" name="Refs row 4"/>
          <p:cNvSpPr/>
          <p:nvPr/>
        </p:nvSpPr>
        <p:spPr>
          <a:xfrm>
            <a:off x="457200" y="282549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fs bar 4"/>
          <p:cNvSpPr/>
          <p:nvPr/>
        </p:nvSpPr>
        <p:spPr>
          <a:xfrm>
            <a:off x="457200" y="2825496"/>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fs text 4"/>
          <p:cNvSpPr txBox="1"/>
          <p:nvPr/>
        </p:nvSpPr>
        <p:spPr>
          <a:xfrm>
            <a:off x="658368" y="2825496"/>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6"/>
              </a:rPr>
              <a:t>AI configuration and privacy settings</a:t>
            </a:r>
          </a:p>
        </p:txBody>
      </p:sp>
      <p:sp>
        <p:nvSpPr>
          <p:cNvPr id="22" name="Refs row 5"/>
          <p:cNvSpPr/>
          <p:nvPr/>
        </p:nvSpPr>
        <p:spPr>
          <a:xfrm>
            <a:off x="457200" y="335584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fs bar 5"/>
          <p:cNvSpPr/>
          <p:nvPr/>
        </p:nvSpPr>
        <p:spPr>
          <a:xfrm>
            <a:off x="457200" y="3355848"/>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fs text 5"/>
          <p:cNvSpPr txBox="1"/>
          <p:nvPr/>
        </p:nvSpPr>
        <p:spPr>
          <a:xfrm>
            <a:off x="658368" y="3355848"/>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7"/>
              </a:rPr>
              <a:t>Set up Copilot for students (GitHub Docs)</a:t>
            </a:r>
          </a:p>
        </p:txBody>
      </p:sp>
      <p:sp>
        <p:nvSpPr>
          <p:cNvPr id="25" name="Refs row 6"/>
          <p:cNvSpPr/>
          <p:nvPr/>
        </p:nvSpPr>
        <p:spPr>
          <a:xfrm>
            <a:off x="457200" y="388620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efs bar 6"/>
          <p:cNvSpPr/>
          <p:nvPr/>
        </p:nvSpPr>
        <p:spPr>
          <a:xfrm>
            <a:off x="457200" y="38862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fs text 6"/>
          <p:cNvSpPr txBox="1"/>
          <p:nvPr/>
        </p:nvSpPr>
        <p:spPr>
          <a:xfrm>
            <a:off x="658368" y="3886200"/>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8"/>
              </a:rPr>
              <a:t>Copilot plans</a:t>
            </a:r>
          </a:p>
        </p:txBody>
      </p:sp>
      <p:sp>
        <p:nvSpPr>
          <p:cNvPr id="28" name="Refs row 7"/>
          <p:cNvSpPr/>
          <p:nvPr/>
        </p:nvSpPr>
        <p:spPr>
          <a:xfrm>
            <a:off x="457200" y="4416552"/>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fs bar 7"/>
          <p:cNvSpPr/>
          <p:nvPr/>
        </p:nvSpPr>
        <p:spPr>
          <a:xfrm>
            <a:off x="457200" y="4416552"/>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efs text 7"/>
          <p:cNvSpPr txBox="1"/>
          <p:nvPr/>
        </p:nvSpPr>
        <p:spPr>
          <a:xfrm>
            <a:off x="658368" y="4416552"/>
            <a:ext cx="7936992" cy="457200"/>
          </a:xfrm>
          <a:prstGeom prst="rect">
            <a:avLst/>
          </a:prstGeom>
          <a:noFill/>
        </p:spPr>
        <p:txBody>
          <a:bodyPr wrap="square" lIns="0" rIns="0" tIns="0" bIns="0" anchor="ctr">
            <a:noAutofit/>
          </a:bodyPr>
          <a:lstStyle/>
          <a:p>
            <a:pPr algn="l">
              <a:spcAft>
                <a:spcPts val="400"/>
              </a:spcAft>
            </a:pPr>
            <a:r>
              <a:rPr sz="1200" b="0" lang="en-GB">
                <a:solidFill>
                  <a:schemeClr val="accent1"/>
                </a:solidFill>
                <a:hlinkClick r:id="rId9"/>
              </a:rPr>
              <a:t>Positron release notes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