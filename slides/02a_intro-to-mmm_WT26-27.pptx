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introduces marketing mix modelling, the method the whole course builds towards. No prior analytics training is needed: we start from the business question and add the statistics step by step. The content rests on a structured search of books, papers, industry reports and software documentation; the sources are on the slides and on the further-reading slide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international brand manager runs one budget across many markets and channels. Every year the country managers ask for last year's budget plus a few per cent, because nobody can say what a euro of paid social in Poland returns compared with a euro of TV in France. That comparison is what marketing mix modelling (MMM) delivers. This session explains how it works, what it can and cannot do, and how it fits the reading for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MMM is and what it delivers, then how it relates to the other measurement tools, and why it is popular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MMM is a statistical model of aggregate sales. It is old (the founding papers are from the 1970s) and rests on the market response models of Hanssens, Parsons and Schultz. Little (1979) listed what such a model must capture: carryover, diminishing returns, competition, interaction and dynamics. Hanssens and Pauwels (2016) frame it as the link from marketing spend to financial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everything that moves sales, not only media. Leaving out price, distribution or season makes the model credit media for their effect. Outputs: contributions (how many sales each driver added), ROI or ROAS (return on ad spend: revenue per euro), marginal ROAS (revenue from the next euro, which is what budget decisions need), response curves and an optimised budget split. In practice the data come from finance (sales, prices), media agencies (spend) and market research (distribution, competitors), one row per week and country.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Multi-touch attribution (MTA) follows individual users' clicks and views and shares the credit for a conversion among the touchpoints; it only sees digital channels and suffers from cookie loss. Experiments (lift tests, geo experiments) switch spend on or off for a random group of users or regions and are the most credible causal evidence, but cover one channel at a time. Google's Modern Measurement Playbook calls the three a measurement tripod: use them together. Gordon et al. (2019) show with 15 large Facebook experiments that observational methods often miss the true lift by a wide margin.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MMM grew out of econometric market response models in the 1970s. Since the late 2010s, privacy rules (GDPR), the loss of third-party cookies and Apple's App Tracking Transparency have made user-level tracking less complete, so aggregate models that need no personal data are back. Google, Meta and PyMC Labs released open-source MMM software. Gartner (2024) found that 64 % of senior marketing leaders had adopted MMM; the WFA and Ebiquity (2026) report that 80 % of advertisers use MMM but only 13 % turn the data into insight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money is at stake, how most firms decide today which ad deserves the credit for a sale, and why that is not enough. This is why MMM is 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WPP Media's This Year Next Year (mid-year 2025) puts global advertising revenue at about $1.14 trillion in 2025, up 8.8 %, with digital at about 73 % (search, social, online video, retail media); its forecasts for 2026 are around $1.3 trillion. In Europe, IAB Europe's AdEx Benchmark 2024 counts €118.9 billion of digital advertising, up 16 %, 67 % of all ad spend. Most of this money is bought click by click and judged by reports from the platforms that sell it. That is the problem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Attribution splits the credit for one tracked sale between the ads a customer clicked or saw before buying. The journey: a TV spot (not tracked), an Instagram ad click, a YouTube video, then a Google search for the brand name and an order of EUR 40. Last click gives everything to search, first click to Instagram, linear splits equally; data-driven attribution (the GA4 default) estimates shares from paths that did and did not end in a purchase. The numbers in the last row are illustrative. TV gets nothing in every model, because no click is recorded. And no model asks whether the sale would have happened without any ad: that is a causal question for experiments and MMM.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Last-click attribution gives all the credit to the last ad clicked before the purchase. It is easy to compute and explain, and it is still the default in many shop systems and affiliate contracts. In 2023 Google removed first click, linear, time decay and position-based models from Google Ads and GA4, leaving data-driven and last click; fewer than 3 % of conversions had used the removed models. Last click favours channels that sit at the end of the journey (branded search, retargeting, coupon and affiliate sites), which often catch people who had already decided to buy. Upper-funnel media that create the demand look worthless. Li and Kannan (2014) show with path data that last click misallocates credit and over-credits search.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Correlation, not cause: ads are targeted at people who are likely to buy anyway (retargeting, branded search), so credit is not the same as extra sales. 2 Tracking gaps: cookie consent, ad blockers, browser limits and Apple's App Tracking Transparency (iOS 14.5, 2021); at launch only about 4 % of US users and 12 % worldwide allowed tracking (Flurry). 3 Offline is invisible: TV, radio, posters, word of mouth, and sales in shops. 4 Every platform counts its own conversions with its own rules and windows, so the sum of the reports is larger than the real number of orders. 5 Fraud and poaching: affiliates and ad networks can 'claim' sales that would have happened anyway; Uber found fake clicks attached to organic installs. 6 Many devices: one person on phone, tablet and laptop looks like three customers.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eBay (Blake, Nosko and Tadelis 2015, Econometrica): when eBay stopped paying for brand keywords, 99.5 % of that traffic came back through the free search results; in a test across US regions, non-brand search mainly reached people who would have bought anyway, and the return was far below what the click reports showed. Uber: Kevin Frisch turned off $100 million of $150 million yearly performance ads and saw no change in rider app installs; much of the spend was fraud. P&amp;G cut $200 million of digital ads in 2017 that did not reach real people, moved money to TV, audio and e-commerce, and its reach rose about 10 %. Airbnb cut marketing from $1.62 billion (2019) to $0.55 billion (2020), mostly performance ads, and kept about 95 % of its traffic; Covid is a confound, but Airbnb kept the shift. Gordon et al. (2019) compared 15 Facebook experiments with observational methods, which often missed the true lift, mostly overstating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building blocks. Each one is a variable or a transformation in the regression you will estimate.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(simulated data for one brand) splits German weekly sales in 2025 into a base and the part the model attributes to media. It comes from a deliberately simple regression (all five channels with the same carryover of 0.5, no saturation); in this first model media account for about 41 % of fitted sales. That number is too high: the brand raises its budgets before Christmas, when people buy anyway, so a naive model credits media with part of the seasonal demand (the endogeneity pitfall later in this deck). Session 2 builds a proper model and the media share falls considerably. The dashed line is actual sales; the gap to the coloured area is what the model cannot explain.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channel's weekly spend is first transformed (carryover, then diminishing returns) and multiplied by a coefficient; the controls form the base. In the additive form a coefficient is extra units per unit of transformed spend. In the log-log form coefficients are elasticities: the per cent change in sales for a 1 % change in the driver. Log-log is the classic constant-elasticity model of Hanssens et al.; Tellis (2006) gives a compact primer. In Session 2 you estimate both with statsmodels. Refresher: deck 01b (statistics and regression), Part 6 for log-log models and elasticities (chocolate brand 1: -3.64), Part 9 for the statsmodels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Geometric adstock carries a share lambda (the decay) of last week's advertising pressure into this week. The chart shows one burst of EUR 100k: with decay 0.3 the effect is almost gone after three weeks; with 0.7 it lasts about two months. Half-life is the number of weeks until half the pressure is gone: ln 0.5 / ln lambda. The total pressure is 1/(1 - lambda) times the first week: 1.4 versus 3.3. Jin et al. (2017) also use a delayed adstock with a peak after some weeks; Robyn offers Weibull variants. Synthetic example, made in make_mmm_figures.py.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Hill curve rises slowly, then steeply, then flattens. K is the spend at which half the maximum effect is reached; the slope s sets the shape: s of 1 or less bends from the start (C-shape), s above 1 gives an S-shape. In this synthetic example the next EUR 10k buys about 13,000 extra units at EUR 30k a week, but fewer than 2,000 at EUR 150k. Average ROAS can look good while marginal ROAS is poor: budgets should move to where the next euro earns most. Hill is the default in Meridian and Robyn; a logistic curve is an alternative. Adstock and saturation are hard to separate in the data (Meridian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data for a confectionery brand: German weekly sales peak before Christmas, Easter and Valentine's Day and dip in summer. TV spend peaks at the same time: in Christmas weeks it averages about EUR 188k a week, against about EUR 100k in other weeks. Without controls for season and holidays, the model would give TV the credit for Christmas. Seasonality is usually modelled with a few Fourier terms (pairs of sine and cosine waves), as in Prophet, PyMC-Marketing and Meridian; Hyndman and Athanasopoulos explain how many to 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you will use every week: the definition, then an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words turn model output into decisions. Marginal ROAS is the one that moves budgets.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Decades of studies give benchmarks. Use them to judge whether your own model's results are plausible and, in a Bayesian model, as priors.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elasticity is the per cent change in sales for a 1 % change in a driver. Sethuraman, Tellis and Briesch (2011) pooled published brand advertising elasticities: on average 0.12 in the short term and 0.24 in the long term. Henningsen, Heuke and Clement (2011) find 0.09 in an international database. Lodish et al. (1995): about half of 389 TV weight tests showed no significant sales effect, and Shapiro, Hitsch and Tuchman (2021) find small TV elasticities and negative marginal ROI for most of 288 brands. On the right, price: Bijmolt, van Heerde and Pieters (2005) pool 1,851 price elasticities from 81 studies, mean -2.62; the reading's Event Network example uses -2. Per per cent, price moves sales about 20 times more than advertising does. Session 2 estimates both,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Profit Ability 2 (Ebiquity for Thinkbox, 2024) pooled UK models for 141 brands: about 60 % of the profit effect of advertising arrived after the first 13 weeks. The long-term elasticity in Sethuraman et al. is about twice the short-term one. Clarke (1976) showed that estimated carryover depends on the data interval: annual or monthly data imply much longer effects than weekly data, a bias that Köhler et al. (2017) confirm in their meta-analysis of carryover. Wear-in and wear-out (Tellis 2004; Vakratsas and Ambler 1999): an ad may need repetition before it works and loses effect when shown too often or too long.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Bahadir, Bharadwaj and Srivastava (2015) model 14 emerging and developed markets: advertising and product innovation matter more in emerging markets, while price and distribution effects differ by country type. Deleersnyder et al. (2009): across 37 countries and 25 years advertising budgets rise and fall with the economy, and how strongly depends on national culture. Van Heerde et al. (2013): in downturns price sensitivity rises and advertising effectiveness falls. Fischer et al. (2011) used response elasticities to reallocate Bayer's budget across countries, products and activities and report a profit improvement of about EUR 500 million. Country data such as GDP per capita, cultural scores and retail concentration help explain such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MMM failures are data and identification problems, not software problems.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 three years of weekly data is the usual starting point: the seasonal pattern must repeat before a model can separate it from media: three years are 156 weeks per country. Spend must vary: a channel that runs at the same level every week, or always together with another, cannot be measured. Nielsen's best-practice guide (with Google and Meta, 2022) recommends modelling at the most granular geography available and including non-marketing drivers: in its comparison a media-only model overstated advertising ROI by 68 %.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 and Perry (2017) list why MMM is hard. Endogeneity: budgets follow demand, so spend and sales rise together even without any effect; TV budgets peak before Christmas, when people buy anyway. Multicollinearity: channels launched together cannot be separated; check variance inflation factors (VIF). Overfitting: five channels with a decay, a shape and an effect each are many parameters for 156 weeks. Identification: saturation and effects that change over time can mimic each other (Dew, Padilla and Shchetkina 2024). Heusch (2026, Zalando) shows a standard MMM reporting a paid-search ROAS of 10.6 where geo experiments found 4.2. Refresher on VIF, residual checks and endogeneity: deck 01b, Part 7 (assumptions and tests).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in-sample fit says little. First, hold back the last weeks and forecast them. Second, check plausibility: positive media effects, half-lives and elasticities in the ranges of Part 3. Third, calibrate with experiments: geo experiments switch spend up or down in some regions and compare them with control regions (Vaver and Koehler 2011). Gordon et al. (2019) showed with 15 large Facebook experiments, and Gordon, Moakler and Zettelmeyer (2023) with 663, that non-experimental estimates are often far off. A typical geo test raises one channel's spend in a random set of regions for six to eight weeks and compares sales with the other regions.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estimation combines a prior (what we believe before seeing the data) with the data and returns a posterior: a full distribution for every effect, so each ROAS comes with a range. Priors can come from empirical generalisations such as Sethuraman et al. (Hanssens 2018 argues for this use) or from lift tests: Google's calibration paper (Zhang et al. 2024) puts experiment-based priors on each channel's ROI, the approach Meridian, Robyn and PyMC-Marketing now support. Jin et al. (2017) is the reference model. The risk: with weak data the prior decides, so compare prior and posterior.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are free. Robyn (Meta) fits ridge regressions and searches over adstock and saturation settings with an evolutionary algorithm (Nevergrad), then picks models on fit and plausibility; its Python port is still a beta. Meridian (Google) is a hierarchical Bayesian model across geos with reach and frequency and ROI priors; it replaced LightweightMMM, which Google archived in January 2026. PyMC-Marketing (PyMC Labs) offers adstock and saturation building blocks, lift-test calibration, time-varying effects, geo models and a budget optimiser. Version numbers as listed on PyPI and GitHub on 5 October 2026. A 2026 open-access review in Customer Needs and Solutions compares the three.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for this session: Fantini, F. &amp; Narayandas, D. (2023). Analytics for Marketers: when to rely on algorithms and when to trust your gut. Harvard Business Review, May–June 2023 (on Canvas).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article sorts analytics by who decides. Descriptive: humans read aggregated past data (business intelligence, dashboards) and decide; cheap, but coarse and dependent on the manager's intuition and biases. Predictive: models estimate what will happen for different inputs (regression, elasticities, forecasts, segments); humans choose. Prescriptive: machines decide within objectives, rules and constraints set by managers, learning from many low-cost experiments and modelling uncertainty and costs; expensive to set up. MMM is mostly predictive; a budget optimiser on top makes it prescriptive.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factors decide: how relevant and plentiful the data are, and the business case (how much profit better decisions can unlock). Little data and high uncertainty: descriptive gives direction. Many repeated, granular decisions with rich data: prescriptive pays for its cost. In between, and for long horizons, noisy granular data or small gains from extreme optimisation: predictive. Strategy and innovation stay with humans, because asking the right question matters more than an accurate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Network runs gift shops in museums, zoos and aquariums in the US and Canada, with more than 100,000 SKUs. Descriptive: discount the SKUs with the highest coverage ratio (days of stock left) until the markdown budget is spent; ignores customers. Predictive: regress volume on price by category, store and week to get elasticities. With an elasticity of −2, a 10 % price cut raises units by 20 %: 100 units at $10 ($1,000) become 120 units at $9 ($1,080), 8 % more revenue. Price explained only 10 to 20 % of sales, yet the crude model beat the descriptive rule. Prescriptive: machine learning and automated optimisation over many data sources decide which products to discount, when and by how much.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scientists tend to maximise accuracy; business scientists maximise impact by weighing the cost of each kind of error. A false positive (predicted win, no win) wastes sales and marketing effort; a false negative (predicted loss, but it would have been a win) loses the opportunity. A model that cuts false positives but misses many real chances can be accurate and still unprofitable. Session 3 and task C7 of the case study do exactly this: choose the churn threshold by profit. The closing quote is the article's main message about the manager's role.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minutes in total for both slides: 15 in groups of 3 to 4, 10 in plenary. Suggested answers, with the article's two criteria (relevant data, business case). 1 Global media budget: predictive (MMM response curves; rare, high-stakes decision, moderate data); an optimiser can propose, managers approve. 2 Search bids: prescriptive (thousands of small, repeated decisions with rich data; automated bidding). 3 Launch price in a new market: descriptive plus judgement, then predictive once sales data exist; prices from similar markets help. 4 Entering a new country: descriptive and human judgement (one-off, little relevant data, strategy). 5 Markdowns: prescriptive, the Event Network case. 6 Last-click budget shifts: a descriptive rule dressed up as precision; it reads past clicks, not causes (Part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points. Q1: MMM is predictive (it estimates what happens for different budgets); a budget optimiser on top makes it prescriptive, but the yearly budget is rare, high-stakes and political, so managers approve. Q2: compare the return of a euro across countries and channels; spot saturated markets; separate price from advertising effects by country; set a defensible budget split; plan local campaigns from benchmarks of similar markets (hierarchical models). Q3: yes, if it beats the current rule (last year plus a few per cent) and its errors are cheap; small markets borrow strength from others; validate with a geo test. Q4: a false negative (cutting a channel that works) can cost long-term brand strength that weekly data hardly show; a false positive wastes budget; weigh both in money. Q5: entering a market, brand positioning, adapting the brand to a culture: little relevant data, ambiguous goals, the question matters more than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session adds one piece of the model. By Session 5 you can build and judge a full MMM.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ordinary least squares regression and how to read model fit, the base of every MMM. Session 2: the MMM itself, with log-log elasticities, dummies for holidays, non-linear effects, moderation (does an effect depend on another variable?) and mediation (does TV work through search?), adstock and saturation, and diagnostics. Session 3: logistic regression for yes/no outcomes such as purchase or churn. Session 4: ARIMA and ARIMAX for the sales baseline and forecasts. Session 5: Bayesian MMM tools and budget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this deck connects to the other course materials. The regression deck (01b) has everything the MMM builds on: log-log models and elasticities, dummies, the assumptions and tests (VIF, residual plots, endogeneity) and the statsmodels code. The short AI deck (01d) shows how to connect GitHub Copilot, the course default, and optionally Claude Code or Codex. Coding exercise 1 practises descriptive statistics, correlation and linear and log-log regression; every student gets a personal brief and data set on Canvas. All decks and class files are in the course repository (international-marketing-analytics-teaching).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study applies Sessions 1 to 4 to new data: Alpenglow's own web shop in Austria, Germany and Switzerland, plus its subscription club. Each block of the course answers one of the Head of E-commerce's questions. Details, data and assessment criteria are in the brief in assignments/group-project/ and on Canvas.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decisions are made at the margin, and an MMM is only as good as the variation in its data and the experiments that check it.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Chan and Perry (short, free) and Jin et al. (free) for the modern model, Sethuraman et al. for benchmarks, and Gordon et al. for why experiments matter. Hanssens et al. is the reference book (WU library). The full annotated list is in instructor/resources/mmm-resource-guide.md.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25.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2.png"/><Relationship Id="rId7"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8.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69.png"/><Relationship Id="rId7"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7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7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1.xml"/><Relationship Id="rId3" Type="http://schemas.openxmlformats.org/officeDocument/2006/relationships/image" Target="../media/image8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81.png"/><Relationship Id="rId4" Type="http://schemas.openxmlformats.org/officeDocument/2006/relationships/image" Target="../media/image16.png"/><Relationship Id="rId5" Type="http://schemas.openxmlformats.org/officeDocument/2006/relationships/image" Target="../media/image82.png"/><Relationship Id="rId6" Type="http://schemas.openxmlformats.org/officeDocument/2006/relationships/image" Target="../media/image8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4.png"/><Relationship Id="rId4" Type="http://schemas.openxmlformats.org/officeDocument/2006/relationships/hyperlink" Target="https://doi.org/10.1509/jmkr.48.3.457" TargetMode="External"/><Relationship Id="rId5" Type="http://schemas.openxmlformats.org/officeDocument/2006/relationships/hyperlink" Target="https://doi.org/10.1287/mksc.2018.1135" TargetMode="External"/><Relationship Id="rId6" Type="http://schemas.openxmlformats.org/officeDocument/2006/relationships/hyperlink" Target="https://research.google/pubs/pub45998/" TargetMode="External"/><Relationship Id="rId7" Type="http://schemas.openxmlformats.org/officeDocument/2006/relationships/image" Target="../media/image85.png"/><Relationship Id="rId8" Type="http://schemas.openxmlformats.org/officeDocument/2006/relationships/hyperlink" Target="https://research.google/pubs/pub46001/" TargetMode="External"/><Relationship Id="rId9" Type="http://schemas.openxmlformats.org/officeDocument/2006/relationships/hyperlink" Target="https://arxiv.org/abs/2403.14674" TargetMode="External"/><Relationship Id="rId10" Type="http://schemas.openxmlformats.org/officeDocument/2006/relationships/hyperlink" Target="https://doi.org/10.3982/ECTA12423"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Introduction to marketing mix modelling</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should the next euro go?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tuation panel"/>
          <p:cNvSpPr/>
          <p:nvPr/>
        </p:nvSpPr>
        <p:spPr>
          <a:xfrm>
            <a:off x="457200" y="1234440"/>
            <a:ext cx="3931920" cy="3154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tuation heading"/>
          <p:cNvSpPr txBox="1"/>
          <p:nvPr/>
        </p:nvSpPr>
        <p:spPr>
          <a:xfrm>
            <a:off x="640080" y="1307592"/>
            <a:ext cx="35661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Your situation</a:t>
            </a:r>
          </a:p>
        </p:txBody>
      </p:sp>
      <p:sp>
        <p:nvSpPr>
          <p:cNvPr id="12" name="Situation bar 1"/>
          <p:cNvSpPr/>
          <p:nvPr/>
        </p:nvSpPr>
        <p:spPr>
          <a:xfrm>
            <a:off x="640080" y="178308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situation 1" descr=""/>
          <p:cNvPicPr>
            <a:picLocks noChangeAspect="1"/>
          </p:cNvPicPr>
          <p:nvPr/>
        </p:nvPicPr>
        <p:blipFill>
          <a:blip r:embed="rId3"/>
          <a:stretch>
            <a:fillRect/>
          </a:stretch>
        </p:blipFill>
        <p:spPr>
          <a:xfrm>
            <a:off x="868680" y="1956816"/>
            <a:ext cx="384048" cy="384048"/>
          </a:xfrm>
          <a:prstGeom prst="rect">
            <a:avLst/>
          </a:prstGeom>
        </p:spPr>
      </p:pic>
      <p:sp>
        <p:nvSpPr>
          <p:cNvPr id="14" name="Situation text 1"/>
          <p:cNvSpPr txBox="1"/>
          <p:nvPr/>
        </p:nvSpPr>
        <p:spPr>
          <a:xfrm>
            <a:off x="1417320" y="1783080"/>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Many markets: </a:t>
            </a:r>
            <a:r>
              <a:rPr sz="1200" b="0" lang="en-GB">
                <a:solidFill>
                  <a:schemeClr val="tx1"/>
                </a:solidFill>
              </a:rPr>
              <a:t>different prices, media costs and cultures</a:t>
            </a:r>
          </a:p>
        </p:txBody>
      </p:sp>
      <p:sp>
        <p:nvSpPr>
          <p:cNvPr id="15" name="Situation bar 2"/>
          <p:cNvSpPr/>
          <p:nvPr/>
        </p:nvSpPr>
        <p:spPr>
          <a:xfrm>
            <a:off x="640080" y="263347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situation 2" descr=""/>
          <p:cNvPicPr>
            <a:picLocks noChangeAspect="1"/>
          </p:cNvPicPr>
          <p:nvPr/>
        </p:nvPicPr>
        <p:blipFill>
          <a:blip r:embed="rId4"/>
          <a:stretch>
            <a:fillRect/>
          </a:stretch>
        </p:blipFill>
        <p:spPr>
          <a:xfrm>
            <a:off x="868680" y="2807208"/>
            <a:ext cx="384048" cy="384048"/>
          </a:xfrm>
          <a:prstGeom prst="rect">
            <a:avLst/>
          </a:prstGeom>
        </p:spPr>
      </p:pic>
      <p:sp>
        <p:nvSpPr>
          <p:cNvPr id="17" name="Situation text 2"/>
          <p:cNvSpPr txBox="1"/>
          <p:nvPr/>
        </p:nvSpPr>
        <p:spPr>
          <a:xfrm>
            <a:off x="1417320" y="2633472"/>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Many channels: </a:t>
            </a:r>
            <a:r>
              <a:rPr sz="1200" b="0" lang="en-GB">
                <a:solidFill>
                  <a:schemeClr val="tx1"/>
                </a:solidFill>
              </a:rPr>
              <a:t>TV, online video, search, social, out-of-home</a:t>
            </a:r>
          </a:p>
        </p:txBody>
      </p:sp>
      <p:sp>
        <p:nvSpPr>
          <p:cNvPr id="18" name="Situation bar 3"/>
          <p:cNvSpPr/>
          <p:nvPr/>
        </p:nvSpPr>
        <p:spPr>
          <a:xfrm>
            <a:off x="640080" y="348386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situation 3" descr=""/>
          <p:cNvPicPr>
            <a:picLocks noChangeAspect="1"/>
          </p:cNvPicPr>
          <p:nvPr/>
        </p:nvPicPr>
        <p:blipFill>
          <a:blip r:embed="rId5"/>
          <a:stretch>
            <a:fillRect/>
          </a:stretch>
        </p:blipFill>
        <p:spPr>
          <a:xfrm>
            <a:off x="868680" y="3657600"/>
            <a:ext cx="384048" cy="384048"/>
          </a:xfrm>
          <a:prstGeom prst="rect">
            <a:avLst/>
          </a:prstGeom>
        </p:spPr>
      </p:pic>
      <p:sp>
        <p:nvSpPr>
          <p:cNvPr id="20" name="Situation text 3"/>
          <p:cNvSpPr txBox="1"/>
          <p:nvPr/>
        </p:nvSpPr>
        <p:spPr>
          <a:xfrm>
            <a:off x="1417320" y="3483864"/>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One budget: </a:t>
            </a:r>
            <a:r>
              <a:rPr sz="1200" b="0" lang="en-GB">
                <a:solidFill>
                  <a:schemeClr val="tx1"/>
                </a:solidFill>
              </a:rPr>
              <a:t>fixed, and negotiated every year</a:t>
            </a:r>
          </a:p>
        </p:txBody>
      </p:sp>
      <p:sp>
        <p:nvSpPr>
          <p:cNvPr id="21" name="Questions row 1"/>
          <p:cNvSpPr/>
          <p:nvPr/>
        </p:nvSpPr>
        <p:spPr>
          <a:xfrm>
            <a:off x="4526280" y="1234440"/>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estions number 1"/>
          <p:cNvSpPr/>
          <p:nvPr/>
        </p:nvSpPr>
        <p:spPr>
          <a:xfrm>
            <a:off x="4663440" y="15727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3" name="Questions text 1"/>
          <p:cNvSpPr txBox="1"/>
          <p:nvPr/>
        </p:nvSpPr>
        <p:spPr>
          <a:xfrm>
            <a:off x="5120640" y="1234440"/>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Contribution: </a:t>
            </a:r>
            <a:r>
              <a:rPr sz="1300" b="0" lang="en-GB">
                <a:solidFill>
                  <a:schemeClr val="tx1"/>
                </a:solidFill>
              </a:rPr>
              <a:t>what did each channel add to sales?</a:t>
            </a:r>
          </a:p>
        </p:txBody>
      </p:sp>
      <p:sp>
        <p:nvSpPr>
          <p:cNvPr id="24" name="Questions row 2"/>
          <p:cNvSpPr/>
          <p:nvPr/>
        </p:nvSpPr>
        <p:spPr>
          <a:xfrm>
            <a:off x="4526280" y="2318004"/>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Questions number 2"/>
          <p:cNvSpPr/>
          <p:nvPr/>
        </p:nvSpPr>
        <p:spPr>
          <a:xfrm>
            <a:off x="4663440" y="26563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6" name="Questions text 2"/>
          <p:cNvSpPr txBox="1"/>
          <p:nvPr/>
        </p:nvSpPr>
        <p:spPr>
          <a:xfrm>
            <a:off x="5120640" y="2318004"/>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Return: </a:t>
            </a:r>
            <a:r>
              <a:rPr sz="1300" b="0" lang="en-GB">
                <a:solidFill>
                  <a:schemeClr val="tx1"/>
                </a:solidFill>
              </a:rPr>
              <a:t>which euro earned more, TV in France or paid social in Poland?</a:t>
            </a:r>
          </a:p>
        </p:txBody>
      </p:sp>
      <p:sp>
        <p:nvSpPr>
          <p:cNvPr id="27" name="Questions row 3"/>
          <p:cNvSpPr/>
          <p:nvPr/>
        </p:nvSpPr>
        <p:spPr>
          <a:xfrm>
            <a:off x="4526280" y="3401568"/>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Questions number 3"/>
          <p:cNvSpPr/>
          <p:nvPr/>
        </p:nvSpPr>
        <p:spPr>
          <a:xfrm>
            <a:off x="4663440" y="37398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9" name="Questions text 3"/>
          <p:cNvSpPr txBox="1"/>
          <p:nvPr/>
        </p:nvSpPr>
        <p:spPr>
          <a:xfrm>
            <a:off x="5120640" y="3401568"/>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Allocation: </a:t>
            </a:r>
            <a:r>
              <a:rPr sz="1300" b="0" lang="en-GB">
                <a:solidFill>
                  <a:schemeClr val="tx1"/>
                </a:solidFill>
              </a:rPr>
              <a:t>how should next year's fixed budget be split?</a:t>
            </a:r>
          </a:p>
        </p:txBody>
      </p:sp>
      <p:sp>
        <p:nvSpPr>
          <p:cNvPr id="30" name="CEO box"/>
          <p:cNvSpPr/>
          <p:nvPr/>
        </p:nvSpPr>
        <p:spPr>
          <a:xfrm>
            <a:off x="457200" y="452628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CEO" descr=""/>
          <p:cNvPicPr>
            <a:picLocks noChangeAspect="1"/>
          </p:cNvPicPr>
          <p:nvPr/>
        </p:nvPicPr>
        <p:blipFill>
          <a:blip r:embed="rId6"/>
          <a:stretch>
            <a:fillRect/>
          </a:stretch>
        </p:blipFill>
        <p:spPr>
          <a:xfrm>
            <a:off x="658368" y="4617720"/>
            <a:ext cx="365760" cy="365760"/>
          </a:xfrm>
          <a:prstGeom prst="rect">
            <a:avLst/>
          </a:prstGeom>
        </p:spPr>
      </p:pic>
      <p:sp>
        <p:nvSpPr>
          <p:cNvPr id="32" name="CEO text"/>
          <p:cNvSpPr txBox="1"/>
          <p:nvPr/>
        </p:nvSpPr>
        <p:spPr>
          <a:xfrm>
            <a:off x="1207008" y="452628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CEO's brief: </a:t>
            </a:r>
            <a:r>
              <a:rPr sz="1300" b="0" lang="en-GB">
                <a:solidFill>
                  <a:schemeClr val="bg1"/>
                </a:solidFill>
              </a:rPr>
              <a:t>next year's budget stays flat. Move money only where the next euro earns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7 · definition, inputs and outputs, MMM versus attribution and experiments, history</a:t>
            </a:r>
          </a:p>
        </p:txBody>
      </p:sp>
      <p:sp>
        <p:nvSpPr>
          <p:cNvPr id="3" name="Title 2"/>
          <p:cNvSpPr>
            <a:spLocks noGrp="1"/>
          </p:cNvSpPr>
          <p:nvPr>
            <p:ph type="ctrTitle"/>
          </p:nvPr>
        </p:nvSpPr>
        <p:spPr/>
        <p:txBody>
          <a:bodyPr/>
          <a:lstStyle/>
          <a:p>
            <a:r>
              <a:rPr sz="1600" lang="en-GB"/>
              <a:t>What marketing mix modelling is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Marketing mix modelling in one sentence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finition box"/>
          <p:cNvSpPr/>
          <p:nvPr/>
        </p:nvSpPr>
        <p:spPr>
          <a:xfrm>
            <a:off x="457200" y="1234440"/>
            <a:ext cx="822960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efinition" descr=""/>
          <p:cNvPicPr>
            <a:picLocks noChangeAspect="1"/>
          </p:cNvPicPr>
          <p:nvPr/>
        </p:nvPicPr>
        <p:blipFill>
          <a:blip r:embed="rId3"/>
          <a:stretch>
            <a:fillRect/>
          </a:stretch>
        </p:blipFill>
        <p:spPr>
          <a:xfrm>
            <a:off x="658368" y="1563624"/>
            <a:ext cx="384048" cy="384048"/>
          </a:xfrm>
          <a:prstGeom prst="rect">
            <a:avLst/>
          </a:prstGeom>
        </p:spPr>
      </p:pic>
      <p:sp>
        <p:nvSpPr>
          <p:cNvPr id="12" name="Definition text"/>
          <p:cNvSpPr txBox="1"/>
          <p:nvPr/>
        </p:nvSpPr>
        <p:spPr>
          <a:xfrm>
            <a:off x="1234440" y="1234440"/>
            <a:ext cx="7269480" cy="1051560"/>
          </a:xfrm>
          <a:prstGeom prst="rect">
            <a:avLst/>
          </a:prstGeom>
          <a:noFill/>
        </p:spPr>
        <p:txBody>
          <a:bodyPr wrap="square" lIns="0" rIns="0" tIns="0" bIns="0" anchor="ctr">
            <a:noAutofit/>
          </a:bodyPr>
          <a:lstStyle/>
          <a:p>
            <a:pPr algn="l">
              <a:spcAft>
                <a:spcPts val="400"/>
              </a:spcAft>
            </a:pPr>
            <a:r>
              <a:rPr sz="1300" b="1" lang="en-GB">
                <a:solidFill>
                  <a:schemeClr val="bg1"/>
                </a:solidFill>
              </a:rPr>
              <a:t>MMM </a:t>
            </a:r>
            <a:r>
              <a:rPr sz="1300" b="0" lang="en-GB">
                <a:solidFill>
                  <a:schemeClr val="bg1"/>
                </a:solidFill>
              </a:rPr>
              <a:t>explains weekly sales with marketing and non-marketing drivers, splits sales into a base and the contribution of each activity, and turns these into budget decisions.</a:t>
            </a:r>
          </a:p>
        </p:txBody>
      </p:sp>
      <p:sp>
        <p:nvSpPr>
          <p:cNvPr id="13" name="Definition 1 tile"/>
          <p:cNvSpPr/>
          <p:nvPr/>
        </p:nvSpPr>
        <p:spPr>
          <a:xfrm>
            <a:off x="45720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Definition 1" descr=""/>
          <p:cNvPicPr>
            <a:picLocks noChangeAspect="1"/>
          </p:cNvPicPr>
          <p:nvPr/>
        </p:nvPicPr>
        <p:blipFill>
          <a:blip r:embed="rId4"/>
          <a:stretch>
            <a:fillRect/>
          </a:stretch>
        </p:blipFill>
        <p:spPr>
          <a:xfrm>
            <a:off x="594360" y="2560320"/>
            <a:ext cx="365760" cy="365760"/>
          </a:xfrm>
          <a:prstGeom prst="rect">
            <a:avLst/>
          </a:prstGeom>
        </p:spPr>
      </p:pic>
      <p:sp>
        <p:nvSpPr>
          <p:cNvPr id="15" name="Definition 1 heading"/>
          <p:cNvSpPr txBox="1"/>
          <p:nvPr/>
        </p:nvSpPr>
        <p:spPr>
          <a:xfrm>
            <a:off x="105156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Aggregate data</a:t>
            </a:r>
          </a:p>
        </p:txBody>
      </p:sp>
      <p:sp>
        <p:nvSpPr>
          <p:cNvPr id="16" name="Definition 1 text"/>
          <p:cNvSpPr txBox="1"/>
          <p:nvPr/>
        </p:nvSpPr>
        <p:spPr>
          <a:xfrm>
            <a:off x="59436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Weekly totals per country and channel</a:t>
            </a:r>
          </a:p>
          <a:p>
            <a:pPr algn="l">
              <a:spcAft>
                <a:spcPts val="400"/>
              </a:spcAft>
            </a:pPr>
            <a:r>
              <a:rPr sz="1300" b="0" lang="en-GB">
                <a:solidFill>
                  <a:schemeClr val="tx1"/>
                </a:solidFill>
              </a:rPr>
              <a:t>No tracking of individuals, so privacy-safe</a:t>
            </a:r>
          </a:p>
        </p:txBody>
      </p:sp>
      <p:sp>
        <p:nvSpPr>
          <p:cNvPr id="17" name="Definition 2 tile"/>
          <p:cNvSpPr/>
          <p:nvPr/>
        </p:nvSpPr>
        <p:spPr>
          <a:xfrm>
            <a:off x="324612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Definition 2" descr=""/>
          <p:cNvPicPr>
            <a:picLocks noChangeAspect="1"/>
          </p:cNvPicPr>
          <p:nvPr/>
        </p:nvPicPr>
        <p:blipFill>
          <a:blip r:embed="rId5"/>
          <a:stretch>
            <a:fillRect/>
          </a:stretch>
        </p:blipFill>
        <p:spPr>
          <a:xfrm>
            <a:off x="3383280" y="2560320"/>
            <a:ext cx="365760" cy="365760"/>
          </a:xfrm>
          <a:prstGeom prst="rect">
            <a:avLst/>
          </a:prstGeom>
        </p:spPr>
      </p:pic>
      <p:sp>
        <p:nvSpPr>
          <p:cNvPr id="19" name="Definition 2 heading"/>
          <p:cNvSpPr txBox="1"/>
          <p:nvPr/>
        </p:nvSpPr>
        <p:spPr>
          <a:xfrm>
            <a:off x="384048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 regression model</a:t>
            </a:r>
          </a:p>
        </p:txBody>
      </p:sp>
      <p:sp>
        <p:nvSpPr>
          <p:cNvPr id="20" name="Definition 2 text"/>
          <p:cNvSpPr txBox="1"/>
          <p:nvPr/>
        </p:nvSpPr>
        <p:spPr>
          <a:xfrm>
            <a:off x="338328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Sales explained by spend, price, season and more</a:t>
            </a:r>
          </a:p>
          <a:p>
            <a:pPr algn="l">
              <a:spcAft>
                <a:spcPts val="400"/>
              </a:spcAft>
            </a:pPr>
            <a:r>
              <a:rPr sz="1300" b="0" lang="en-GB">
                <a:solidFill>
                  <a:schemeClr val="tx1"/>
                </a:solidFill>
              </a:rPr>
              <a:t>Plus carryover and diminishing returns</a:t>
            </a:r>
          </a:p>
        </p:txBody>
      </p:sp>
      <p:sp>
        <p:nvSpPr>
          <p:cNvPr id="21" name="Definition 3 tile"/>
          <p:cNvSpPr/>
          <p:nvPr/>
        </p:nvSpPr>
        <p:spPr>
          <a:xfrm>
            <a:off x="603504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finition 3" descr=""/>
          <p:cNvPicPr>
            <a:picLocks noChangeAspect="1"/>
          </p:cNvPicPr>
          <p:nvPr/>
        </p:nvPicPr>
        <p:blipFill>
          <a:blip r:embed="rId6"/>
          <a:stretch>
            <a:fillRect/>
          </a:stretch>
        </p:blipFill>
        <p:spPr>
          <a:xfrm>
            <a:off x="6172200" y="2560320"/>
            <a:ext cx="365760" cy="365760"/>
          </a:xfrm>
          <a:prstGeom prst="rect">
            <a:avLst/>
          </a:prstGeom>
        </p:spPr>
      </p:pic>
      <p:sp>
        <p:nvSpPr>
          <p:cNvPr id="23" name="Definition 3 heading"/>
          <p:cNvSpPr txBox="1"/>
          <p:nvPr/>
        </p:nvSpPr>
        <p:spPr>
          <a:xfrm>
            <a:off x="662940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Decisions</a:t>
            </a:r>
          </a:p>
        </p:txBody>
      </p:sp>
      <p:sp>
        <p:nvSpPr>
          <p:cNvPr id="24" name="Definition 3 text"/>
          <p:cNvSpPr txBox="1"/>
          <p:nvPr/>
        </p:nvSpPr>
        <p:spPr>
          <a:xfrm>
            <a:off x="617220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What each euro returned</a:t>
            </a:r>
          </a:p>
          <a:p>
            <a:pPr algn="l">
              <a:spcAft>
                <a:spcPts val="400"/>
              </a:spcAft>
            </a:pPr>
            <a:r>
              <a:rPr sz="1300" b="0" lang="en-GB">
                <a:solidFill>
                  <a:schemeClr val="tx1"/>
                </a:solidFill>
              </a:rPr>
              <a:t>Where the next euro should go</a:t>
            </a:r>
          </a:p>
        </p:txBody>
      </p:sp>
      <p:sp>
        <p:nvSpPr>
          <p:cNvPr id="25" name="Little label"/>
          <p:cNvSpPr txBox="1"/>
          <p:nvPr/>
        </p:nvSpPr>
        <p:spPr>
          <a:xfrm>
            <a:off x="457200" y="4133088"/>
            <a:ext cx="192024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Little (1979): </a:t>
            </a:r>
            <a:r>
              <a:rPr sz="1200" b="0" lang="en-GB">
                <a:solidFill>
                  <a:schemeClr val="tx1"/>
                </a:solidFill>
              </a:rPr>
              <a:t>a model must capture</a:t>
            </a:r>
          </a:p>
        </p:txBody>
      </p:sp>
      <p:sp>
        <p:nvSpPr>
          <p:cNvPr id="26" name="Little chip 1"/>
          <p:cNvSpPr/>
          <p:nvPr/>
        </p:nvSpPr>
        <p:spPr>
          <a:xfrm>
            <a:off x="2468880"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ittle chip text 1"/>
          <p:cNvSpPr txBox="1"/>
          <p:nvPr/>
        </p:nvSpPr>
        <p:spPr>
          <a:xfrm>
            <a:off x="2514600"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carryover</a:t>
            </a:r>
          </a:p>
        </p:txBody>
      </p:sp>
      <p:sp>
        <p:nvSpPr>
          <p:cNvPr id="28" name="Little chip 2"/>
          <p:cNvSpPr/>
          <p:nvPr/>
        </p:nvSpPr>
        <p:spPr>
          <a:xfrm>
            <a:off x="3730752"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ittle chip text 2"/>
          <p:cNvSpPr txBox="1"/>
          <p:nvPr/>
        </p:nvSpPr>
        <p:spPr>
          <a:xfrm>
            <a:off x="3776472"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diminishing returns</a:t>
            </a:r>
          </a:p>
        </p:txBody>
      </p:sp>
      <p:sp>
        <p:nvSpPr>
          <p:cNvPr id="30" name="Little chip 3"/>
          <p:cNvSpPr/>
          <p:nvPr/>
        </p:nvSpPr>
        <p:spPr>
          <a:xfrm>
            <a:off x="4992624"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ittle chip text 3"/>
          <p:cNvSpPr txBox="1"/>
          <p:nvPr/>
        </p:nvSpPr>
        <p:spPr>
          <a:xfrm>
            <a:off x="5038344"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competition</a:t>
            </a:r>
          </a:p>
        </p:txBody>
      </p:sp>
      <p:sp>
        <p:nvSpPr>
          <p:cNvPr id="32" name="Little chip 4"/>
          <p:cNvSpPr/>
          <p:nvPr/>
        </p:nvSpPr>
        <p:spPr>
          <a:xfrm>
            <a:off x="6254496"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ittle chip text 4"/>
          <p:cNvSpPr txBox="1"/>
          <p:nvPr/>
        </p:nvSpPr>
        <p:spPr>
          <a:xfrm>
            <a:off x="6300216"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interaction</a:t>
            </a:r>
          </a:p>
        </p:txBody>
      </p:sp>
      <p:sp>
        <p:nvSpPr>
          <p:cNvPr id="34" name="Little chip 5"/>
          <p:cNvSpPr/>
          <p:nvPr/>
        </p:nvSpPr>
        <p:spPr>
          <a:xfrm>
            <a:off x="7516368"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ittle chip text 5"/>
          <p:cNvSpPr txBox="1"/>
          <p:nvPr/>
        </p:nvSpPr>
        <p:spPr>
          <a:xfrm>
            <a:off x="7562088"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dynamics</a:t>
            </a:r>
          </a:p>
        </p:txBody>
      </p:sp>
      <p:sp>
        <p:nvSpPr>
          <p:cNvPr id="3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Little 1979; Hanssens, Parsons &amp; Schultz 2001; Hanssens &amp; Pauwels 2016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Inputs, model, outputs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puts card body"/>
          <p:cNvSpPr/>
          <p:nvPr/>
        </p:nvSpPr>
        <p:spPr>
          <a:xfrm>
            <a:off x="457200" y="1645920"/>
            <a:ext cx="320040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puts card header"/>
          <p:cNvSpPr/>
          <p:nvPr/>
        </p:nvSpPr>
        <p:spPr>
          <a:xfrm>
            <a:off x="457200" y="1234440"/>
            <a:ext cx="32004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puts card heading"/>
          <p:cNvSpPr txBox="1"/>
          <p:nvPr/>
        </p:nvSpPr>
        <p:spPr>
          <a:xfrm>
            <a:off x="594360" y="1234440"/>
            <a:ext cx="25146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Inputs</a:t>
            </a:r>
          </a:p>
        </p:txBody>
      </p:sp>
      <p:pic>
        <p:nvPicPr>
          <p:cNvPr id="13" name="Icon Inputs card" descr=""/>
          <p:cNvPicPr>
            <a:picLocks noChangeAspect="1"/>
          </p:cNvPicPr>
          <p:nvPr/>
        </p:nvPicPr>
        <p:blipFill>
          <a:blip r:embed="rId3"/>
          <a:stretch>
            <a:fillRect/>
          </a:stretch>
        </p:blipFill>
        <p:spPr>
          <a:xfrm>
            <a:off x="3218688" y="1284732"/>
            <a:ext cx="310896" cy="310896"/>
          </a:xfrm>
          <a:prstGeom prst="rect">
            <a:avLst/>
          </a:prstGeom>
        </p:spPr>
      </p:pic>
      <p:sp>
        <p:nvSpPr>
          <p:cNvPr id="14" name="Inputs card text"/>
          <p:cNvSpPr txBox="1"/>
          <p:nvPr/>
        </p:nvSpPr>
        <p:spPr>
          <a:xfrm>
            <a:off x="621792" y="1783080"/>
            <a:ext cx="289864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Sales: </a:t>
            </a:r>
            <a:r>
              <a:rPr sz="1300" b="0" lang="en-GB">
                <a:solidFill>
                  <a:schemeClr val="tx1"/>
                </a:solidFill>
              </a:rPr>
              <a:t>units or revenue per week</a:t>
            </a:r>
          </a:p>
          <a:p>
            <a:pPr algn="l" marL="182880" indent="-182880">
              <a:spcAft>
                <a:spcPts val="600"/>
              </a:spcAft>
              <a:buClr>
                <a:schemeClr val="accent1"/>
              </a:buClr>
              <a:buFont typeface="Arial"/>
              <a:buChar char="▪"/>
            </a:pPr>
            <a:r>
              <a:rPr sz="1300" b="1" lang="en-GB">
                <a:solidFill>
                  <a:schemeClr val="tx2"/>
                </a:solidFill>
              </a:rPr>
              <a:t>Media: </a:t>
            </a:r>
            <a:r>
              <a:rPr sz="1300" b="0" lang="en-GB">
                <a:solidFill>
                  <a:schemeClr val="tx1"/>
                </a:solidFill>
              </a:rPr>
              <a:t>spend by channel</a:t>
            </a:r>
          </a:p>
          <a:p>
            <a:pPr algn="l" marL="182880" indent="-182880">
              <a:spcAft>
                <a:spcPts val="600"/>
              </a:spcAft>
              <a:buClr>
                <a:schemeClr val="accent1"/>
              </a:buClr>
              <a:buFont typeface="Arial"/>
              <a:buChar char="▪"/>
            </a:pPr>
            <a:r>
              <a:rPr sz="1300" b="1" lang="en-GB">
                <a:solidFill>
                  <a:schemeClr val="tx2"/>
                </a:solidFill>
              </a:rPr>
              <a:t>Marketing: </a:t>
            </a:r>
            <a:r>
              <a:rPr sz="1300" b="0" lang="en-GB">
                <a:solidFill>
                  <a:schemeClr val="tx1"/>
                </a:solidFill>
              </a:rPr>
              <a:t>price, promotion, distribution</a:t>
            </a:r>
          </a:p>
          <a:p>
            <a:pPr algn="l" marL="182880" indent="-182880">
              <a:spcAft>
                <a:spcPts val="600"/>
              </a:spcAft>
              <a:buClr>
                <a:schemeClr val="accent1"/>
              </a:buClr>
              <a:buFont typeface="Arial"/>
              <a:buChar char="▪"/>
            </a:pPr>
            <a:r>
              <a:rPr sz="1300" b="1" lang="en-GB">
                <a:solidFill>
                  <a:schemeClr val="tx2"/>
                </a:solidFill>
              </a:rPr>
              <a:t>Season: </a:t>
            </a:r>
            <a:r>
              <a:rPr sz="1300" b="0" lang="en-GB">
                <a:solidFill>
                  <a:schemeClr val="tx1"/>
                </a:solidFill>
              </a:rPr>
              <a:t>trend, holidays, weather</a:t>
            </a:r>
          </a:p>
          <a:p>
            <a:pPr algn="l" marL="182880" indent="-182880">
              <a:spcAft>
                <a:spcPts val="600"/>
              </a:spcAft>
              <a:buClr>
                <a:schemeClr val="accent1"/>
              </a:buClr>
              <a:buFont typeface="Arial"/>
              <a:buChar char="▪"/>
            </a:pPr>
            <a:r>
              <a:rPr sz="1300" b="1" lang="en-GB">
                <a:solidFill>
                  <a:schemeClr val="tx2"/>
                </a:solidFill>
              </a:rPr>
              <a:t>Context: </a:t>
            </a:r>
            <a:r>
              <a:rPr sz="1300" b="0" lang="en-GB">
                <a:solidFill>
                  <a:schemeClr val="tx1"/>
                </a:solidFill>
              </a:rPr>
              <a:t>economy, competitors</a:t>
            </a:r>
          </a:p>
        </p:txBody>
      </p:sp>
      <p:sp>
        <p:nvSpPr>
          <p:cNvPr id="15" name="Arrow in"/>
          <p:cNvSpPr/>
          <p:nvPr/>
        </p:nvSpPr>
        <p:spPr>
          <a:xfrm>
            <a:off x="3730752" y="2532888"/>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odel box"/>
          <p:cNvSpPr/>
          <p:nvPr/>
        </p:nvSpPr>
        <p:spPr>
          <a:xfrm>
            <a:off x="4005072" y="1234440"/>
            <a:ext cx="1133856" cy="2926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odel" descr=""/>
          <p:cNvPicPr>
            <a:picLocks noChangeAspect="1"/>
          </p:cNvPicPr>
          <p:nvPr/>
        </p:nvPicPr>
        <p:blipFill>
          <a:blip r:embed="rId4"/>
          <a:stretch>
            <a:fillRect/>
          </a:stretch>
        </p:blipFill>
        <p:spPr>
          <a:xfrm>
            <a:off x="4361688" y="1874520"/>
            <a:ext cx="420624" cy="420624"/>
          </a:xfrm>
          <a:prstGeom prst="rect">
            <a:avLst/>
          </a:prstGeom>
        </p:spPr>
      </p:pic>
      <p:sp>
        <p:nvSpPr>
          <p:cNvPr id="18" name="Model text"/>
          <p:cNvSpPr txBox="1"/>
          <p:nvPr/>
        </p:nvSpPr>
        <p:spPr>
          <a:xfrm>
            <a:off x="4050792" y="2377440"/>
            <a:ext cx="1042416" cy="1188720"/>
          </a:xfrm>
          <a:prstGeom prst="rect">
            <a:avLst/>
          </a:prstGeom>
          <a:noFill/>
        </p:spPr>
        <p:txBody>
          <a:bodyPr wrap="square" lIns="0" rIns="0" tIns="0" bIns="0" anchor="t">
            <a:noAutofit/>
          </a:bodyPr>
          <a:lstStyle/>
          <a:p>
            <a:pPr algn="ctr">
              <a:spcAft>
                <a:spcPts val="400"/>
              </a:spcAft>
            </a:pPr>
            <a:r>
              <a:rPr sz="1500" b="1" lang="en-GB">
                <a:solidFill>
                  <a:schemeClr val="bg1"/>
                </a:solidFill>
                <a:latin typeface="+mj-lt"/>
              </a:rPr>
              <a:t>Model</a:t>
            </a:r>
          </a:p>
          <a:p>
            <a:pPr algn="ctr">
              <a:spcAft>
                <a:spcPts val="400"/>
              </a:spcAft>
            </a:pPr>
            <a:r>
              <a:rPr sz="1100" b="0" lang="en-GB">
                <a:solidFill>
                  <a:schemeClr val="bg1"/>
                </a:solidFill>
              </a:rPr>
              <a:t>regression with carryover and saturation</a:t>
            </a:r>
          </a:p>
        </p:txBody>
      </p:sp>
      <p:sp>
        <p:nvSpPr>
          <p:cNvPr id="19" name="Arrow out"/>
          <p:cNvSpPr/>
          <p:nvPr/>
        </p:nvSpPr>
        <p:spPr>
          <a:xfrm>
            <a:off x="5212080" y="2532888"/>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utputs card body"/>
          <p:cNvSpPr/>
          <p:nvPr/>
        </p:nvSpPr>
        <p:spPr>
          <a:xfrm>
            <a:off x="5486400" y="1645920"/>
            <a:ext cx="320040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utputs card header"/>
          <p:cNvSpPr/>
          <p:nvPr/>
        </p:nvSpPr>
        <p:spPr>
          <a:xfrm>
            <a:off x="5486400" y="1234440"/>
            <a:ext cx="32004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utputs card heading"/>
          <p:cNvSpPr txBox="1"/>
          <p:nvPr/>
        </p:nvSpPr>
        <p:spPr>
          <a:xfrm>
            <a:off x="5623560" y="1234440"/>
            <a:ext cx="25146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Outputs</a:t>
            </a:r>
          </a:p>
        </p:txBody>
      </p:sp>
      <p:pic>
        <p:nvPicPr>
          <p:cNvPr id="23" name="Icon Outputs card" descr=""/>
          <p:cNvPicPr>
            <a:picLocks noChangeAspect="1"/>
          </p:cNvPicPr>
          <p:nvPr/>
        </p:nvPicPr>
        <p:blipFill>
          <a:blip r:embed="rId5"/>
          <a:stretch>
            <a:fillRect/>
          </a:stretch>
        </p:blipFill>
        <p:spPr>
          <a:xfrm>
            <a:off x="8247888" y="1284732"/>
            <a:ext cx="310896" cy="310896"/>
          </a:xfrm>
          <a:prstGeom prst="rect">
            <a:avLst/>
          </a:prstGeom>
        </p:spPr>
      </p:pic>
      <p:sp>
        <p:nvSpPr>
          <p:cNvPr id="24" name="Outputs card text"/>
          <p:cNvSpPr txBox="1"/>
          <p:nvPr/>
        </p:nvSpPr>
        <p:spPr>
          <a:xfrm>
            <a:off x="5650992" y="1783080"/>
            <a:ext cx="289864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Contributions: </a:t>
            </a:r>
            <a:r>
              <a:rPr sz="1300" b="0" lang="en-GB">
                <a:solidFill>
                  <a:schemeClr val="tx1"/>
                </a:solidFill>
              </a:rPr>
              <a:t>sales per driver</a:t>
            </a:r>
          </a:p>
          <a:p>
            <a:pPr algn="l" marL="182880" indent="-182880">
              <a:spcAft>
                <a:spcPts val="600"/>
              </a:spcAft>
              <a:buClr>
                <a:schemeClr val="accent1"/>
              </a:buClr>
              <a:buFont typeface="Arial"/>
              <a:buChar char="▪"/>
            </a:pPr>
            <a:r>
              <a:rPr sz="1300" b="1" lang="en-GB">
                <a:solidFill>
                  <a:schemeClr val="tx2"/>
                </a:solidFill>
              </a:rPr>
              <a:t>ROAS: </a:t>
            </a:r>
            <a:r>
              <a:rPr sz="1300" b="0" lang="en-GB">
                <a:solidFill>
                  <a:schemeClr val="tx1"/>
                </a:solidFill>
              </a:rPr>
              <a:t>revenue per euro spent</a:t>
            </a:r>
          </a:p>
          <a:p>
            <a:pPr algn="l" marL="182880" indent="-182880">
              <a:spcAft>
                <a:spcPts val="600"/>
              </a:spcAft>
              <a:buClr>
                <a:schemeClr val="accent1"/>
              </a:buClr>
              <a:buFont typeface="Arial"/>
              <a:buChar char="▪"/>
            </a:pPr>
            <a:r>
              <a:rPr sz="1300" b="1" lang="en-GB">
                <a:solidFill>
                  <a:schemeClr val="tx2"/>
                </a:solidFill>
              </a:rPr>
              <a:t>Marginal ROAS: </a:t>
            </a:r>
            <a:r>
              <a:rPr sz="1300" b="0" lang="en-GB">
                <a:solidFill>
                  <a:schemeClr val="tx1"/>
                </a:solidFill>
              </a:rPr>
              <a:t>revenue from the next euro</a:t>
            </a:r>
          </a:p>
          <a:p>
            <a:pPr algn="l" marL="182880" indent="-182880">
              <a:spcAft>
                <a:spcPts val="600"/>
              </a:spcAft>
              <a:buClr>
                <a:schemeClr val="accent1"/>
              </a:buClr>
              <a:buFont typeface="Arial"/>
              <a:buChar char="▪"/>
            </a:pPr>
            <a:r>
              <a:rPr sz="1300" b="1" lang="en-GB">
                <a:solidFill>
                  <a:schemeClr val="tx2"/>
                </a:solidFill>
              </a:rPr>
              <a:t>Response curves: </a:t>
            </a:r>
            <a:r>
              <a:rPr sz="1300" b="0" lang="en-GB">
                <a:solidFill>
                  <a:schemeClr val="tx1"/>
                </a:solidFill>
              </a:rPr>
              <a:t>sales at each spend level</a:t>
            </a:r>
          </a:p>
          <a:p>
            <a:pPr algn="l" marL="182880" indent="-182880">
              <a:spcAft>
                <a:spcPts val="600"/>
              </a:spcAft>
              <a:buClr>
                <a:schemeClr val="accent1"/>
              </a:buClr>
              <a:buFont typeface="Arial"/>
              <a:buChar char="▪"/>
            </a:pPr>
            <a:r>
              <a:rPr sz="1300" b="1" lang="en-GB">
                <a:solidFill>
                  <a:schemeClr val="tx2"/>
                </a:solidFill>
              </a:rPr>
              <a:t>Allocation: </a:t>
            </a:r>
            <a:r>
              <a:rPr sz="1300" b="0" lang="en-GB">
                <a:solidFill>
                  <a:schemeClr val="tx1"/>
                </a:solidFill>
              </a:rPr>
              <a:t>the best budget split</a:t>
            </a:r>
          </a:p>
        </p:txBody>
      </p:sp>
      <p:sp>
        <p:nvSpPr>
          <p:cNvPr id="25" name="Data sources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Data sources" descr=""/>
          <p:cNvPicPr>
            <a:picLocks noChangeAspect="1"/>
          </p:cNvPicPr>
          <p:nvPr/>
        </p:nvPicPr>
        <p:blipFill>
          <a:blip r:embed="rId6"/>
          <a:stretch>
            <a:fillRect/>
          </a:stretch>
        </p:blipFill>
        <p:spPr>
          <a:xfrm>
            <a:off x="658368" y="4434840"/>
            <a:ext cx="365760" cy="365760"/>
          </a:xfrm>
          <a:prstGeom prst="rect">
            <a:avLst/>
          </a:prstGeom>
        </p:spPr>
      </p:pic>
      <p:sp>
        <p:nvSpPr>
          <p:cNvPr id="27" name="Data sources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In practice: </a:t>
            </a:r>
            <a:r>
              <a:rPr sz="1300" b="0" lang="en-GB">
                <a:solidFill>
                  <a:schemeClr val="tx1"/>
                </a:solidFill>
              </a:rPr>
              <a:t>one row per week and country, from finance, media agencies and market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Measurement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234440"/>
                <a:gridCol w="2377440"/>
                <a:gridCol w="2331720"/>
                <a:gridCol w="2286000"/>
              </a:tblGrid>
              <a:tr h="370840">
                <a:tc>
                  <a:txBody>
                    <a:bodyPr/>
                    <a:lstStyle/>
                    <a:p>
                      <a:r>
                        <a:rPr sz="1500" lang="en-GB"/>
                        <a:t/>
                      </a:r>
                    </a:p>
                  </a:txBody>
                  <a:tcPr marT="54000" marB="54000"/>
                </a:tc>
                <a:tc>
                  <a:txBody>
                    <a:bodyPr/>
                    <a:lstStyle/>
                    <a:p>
                      <a:r>
                        <a:rPr sz="1500" lang="en-GB"/>
                        <a:t>Marketing mix modelling</a:t>
                      </a:r>
                    </a:p>
                  </a:txBody>
                  <a:tcPr marT="54000" marB="54000"/>
                </a:tc>
                <a:tc>
                  <a:txBody>
                    <a:bodyPr/>
                    <a:lstStyle/>
                    <a:p>
                      <a:r>
                        <a:rPr sz="1500" lang="en-GB"/>
                        <a:t>Multi-touch attribution</a:t>
                      </a:r>
                    </a:p>
                  </a:txBody>
                  <a:tcPr marT="54000" marB="54000"/>
                </a:tc>
                <a:tc>
                  <a:txBody>
                    <a:bodyPr/>
                    <a:lstStyle/>
                    <a:p>
                      <a:r>
                        <a:rPr sz="1500" lang="en-GB"/>
                        <a:t>Experiments</a:t>
                      </a:r>
                    </a:p>
                  </a:txBody>
                  <a:tcPr marT="54000" marB="54000"/>
                </a:tc>
              </a:tr>
              <a:tr h="370840">
                <a:tc>
                  <a:txBody>
                    <a:bodyPr/>
                    <a:lstStyle/>
                    <a:p>
                      <a:r>
                        <a:rPr sz="1300" b="1" lang="en-GB"/>
                        <a:t>Data</a:t>
                      </a:r>
                    </a:p>
                  </a:txBody>
                  <a:tcPr marT="54000" marB="54000"/>
                </a:tc>
                <a:tc>
                  <a:txBody>
                    <a:bodyPr/>
                    <a:lstStyle/>
                    <a:p>
                      <a:r>
                        <a:rPr sz="1300" lang="en-GB"/>
                        <a:t>weekly totals per channel and country</a:t>
                      </a:r>
                    </a:p>
                  </a:txBody>
                  <a:tcPr marT="54000" marB="54000"/>
                </a:tc>
                <a:tc>
                  <a:txBody>
                    <a:bodyPr/>
                    <a:lstStyle/>
                    <a:p>
                      <a:r>
                        <a:rPr sz="1300" lang="en-GB"/>
                        <a:t>clicks and views of individual users</a:t>
                      </a:r>
                    </a:p>
                  </a:txBody>
                  <a:tcPr marT="54000" marB="54000"/>
                </a:tc>
                <a:tc>
                  <a:txBody>
                    <a:bodyPr/>
                    <a:lstStyle/>
                    <a:p>
                      <a:r>
                        <a:rPr sz="1300" lang="en-GB"/>
                        <a:t>test and control groups or regions</a:t>
                      </a:r>
                    </a:p>
                  </a:txBody>
                  <a:tcPr marT="54000" marB="54000"/>
                </a:tc>
              </a:tr>
              <a:tr h="370840">
                <a:tc>
                  <a:txBody>
                    <a:bodyPr/>
                    <a:lstStyle/>
                    <a:p>
                      <a:r>
                        <a:rPr sz="1300" b="1" lang="en-GB"/>
                        <a:t>Answers</a:t>
                      </a:r>
                    </a:p>
                  </a:txBody>
                  <a:tcPr marT="54000" marB="54000"/>
                </a:tc>
                <a:tc>
                  <a:txBody>
                    <a:bodyPr/>
                    <a:lstStyle/>
                    <a:p>
                      <a:r>
                        <a:rPr sz="1300" lang="en-GB"/>
                        <a:t>what each channel added, offline too</a:t>
                      </a:r>
                    </a:p>
                  </a:txBody>
                  <a:tcPr marT="54000" marB="54000"/>
                </a:tc>
                <a:tc>
                  <a:txBody>
                    <a:bodyPr/>
                    <a:lstStyle/>
                    <a:p>
                      <a:r>
                        <a:rPr sz="1300" lang="en-GB"/>
                        <a:t>which touchpoints came before a sale</a:t>
                      </a:r>
                    </a:p>
                  </a:txBody>
                  <a:tcPr marT="54000" marB="54000"/>
                </a:tc>
                <a:tc>
                  <a:txBody>
                    <a:bodyPr/>
                    <a:lstStyle/>
                    <a:p>
                      <a:r>
                        <a:rPr sz="1300" lang="en-GB"/>
                        <a:t>the causal lift of one change</a:t>
                      </a:r>
                    </a:p>
                  </a:txBody>
                  <a:tcPr marT="54000" marB="54000"/>
                </a:tc>
              </a:tr>
              <a:tr h="370840">
                <a:tc>
                  <a:txBody>
                    <a:bodyPr/>
                    <a:lstStyle/>
                    <a:p>
                      <a:r>
                        <a:rPr sz="1300" b="1" lang="en-GB"/>
                        <a:t>Strength</a:t>
                      </a:r>
                    </a:p>
                  </a:txBody>
                  <a:tcPr marT="54000" marB="54000"/>
                </a:tc>
                <a:tc>
                  <a:txBody>
                    <a:bodyPr/>
                    <a:lstStyle/>
                    <a:p>
                      <a:r>
                        <a:rPr sz="1300" lang="en-GB"/>
                        <a:t>all channels; privacy-safe</a:t>
                      </a:r>
                    </a:p>
                  </a:txBody>
                  <a:tcPr marT="54000" marB="54000"/>
                </a:tc>
                <a:tc>
                  <a:txBody>
                    <a:bodyPr/>
                    <a:lstStyle/>
                    <a:p>
                      <a:r>
                        <a:rPr sz="1300" lang="en-GB"/>
                        <a:t>detailed and fast</a:t>
                      </a:r>
                    </a:p>
                  </a:txBody>
                  <a:tcPr marT="54000" marB="54000"/>
                </a:tc>
                <a:tc>
                  <a:txBody>
                    <a:bodyPr/>
                    <a:lstStyle/>
                    <a:p>
                      <a:r>
                        <a:rPr sz="1300" lang="en-GB"/>
                        <a:t>most credible evidence of cause</a:t>
                      </a:r>
                    </a:p>
                  </a:txBody>
                  <a:tcPr marT="54000" marB="54000"/>
                </a:tc>
              </a:tr>
              <a:tr h="370840">
                <a:tc>
                  <a:txBody>
                    <a:bodyPr/>
                    <a:lstStyle/>
                    <a:p>
                      <a:r>
                        <a:rPr sz="1300" b="1" lang="en-GB"/>
                        <a:t>Limit</a:t>
                      </a:r>
                    </a:p>
                  </a:txBody>
                  <a:tcPr marT="54000" marB="54000"/>
                </a:tc>
                <a:tc>
                  <a:txBody>
                    <a:bodyPr/>
                    <a:lstStyle/>
                    <a:p>
                      <a:r>
                        <a:rPr sz="1300" lang="en-GB"/>
                        <a:t>correlation; needs variation in spend</a:t>
                      </a:r>
                    </a:p>
                  </a:txBody>
                  <a:tcPr marT="54000" marB="54000"/>
                </a:tc>
                <a:tc>
                  <a:txBody>
                    <a:bodyPr/>
                    <a:lstStyle/>
                    <a:p>
                      <a:r>
                        <a:rPr sz="1300" lang="en-GB"/>
                        <a:t>digital only; credit is not cause</a:t>
                      </a:r>
                    </a:p>
                  </a:txBody>
                  <a:tcPr marT="54000" marB="54000"/>
                </a:tc>
                <a:tc>
                  <a:txBody>
                    <a:bodyPr/>
                    <a:lstStyle/>
                    <a:p>
                      <a:r>
                        <a:rPr sz="1300" lang="en-GB"/>
                        <a:t>one channel, one period; costly</a:t>
                      </a:r>
                    </a:p>
                  </a:txBody>
                  <a:tcPr marT="54000" marB="54000"/>
                </a:tc>
              </a:tr>
            </a:tbl>
          </a:graphicData>
        </a:graphic>
      </p:graphicFrame>
      <p:sp>
        <p:nvSpPr>
          <p:cNvPr id="3" name="Title 2"/>
          <p:cNvSpPr>
            <a:spLocks noGrp="1"/>
          </p:cNvSpPr>
          <p:nvPr>
            <p:ph type="title"/>
          </p:nvPr>
        </p:nvSpPr>
        <p:spPr/>
        <p:txBody>
          <a:bodyPr/>
          <a:lstStyle/>
          <a:p>
            <a:r>
              <a:rPr sz="1600" lang="en-GB"/>
              <a:t>Three ways to measure marketing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iangulat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iangulate" descr=""/>
          <p:cNvPicPr>
            <a:picLocks noChangeAspect="1"/>
          </p:cNvPicPr>
          <p:nvPr/>
        </p:nvPicPr>
        <p:blipFill>
          <a:blip r:embed="rId3"/>
          <a:stretch>
            <a:fillRect/>
          </a:stretch>
        </p:blipFill>
        <p:spPr>
          <a:xfrm>
            <a:off x="658368" y="4183380"/>
            <a:ext cx="365760" cy="365760"/>
          </a:xfrm>
          <a:prstGeom prst="rect">
            <a:avLst/>
          </a:prstGeom>
        </p:spPr>
      </p:pic>
      <p:sp>
        <p:nvSpPr>
          <p:cNvPr id="12" name="Triangulat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Triangulate: </a:t>
            </a:r>
            <a:r>
              <a:rPr sz="1300" b="0" lang="en-GB">
                <a:solidFill>
                  <a:schemeClr val="bg1"/>
                </a:solidFill>
              </a:rPr>
              <a:t>experiments calibrate the MMM, the MMM covers every channel, attribution steers digital campaigns day to day.</a:t>
            </a:r>
          </a:p>
        </p:txBody>
      </p:sp>
      <p:sp>
        <p:nvSpPr>
          <p:cNvPr id="1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Google Modern Measurement Playbook 2023; IAB &amp; MMA 2019; Gordon et al.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 old method, popular again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ad"/>
          <p:cNvSpPr/>
          <p:nvPr/>
        </p:nvSpPr>
        <p:spPr>
          <a:xfrm>
            <a:off x="457200" y="1435608"/>
            <a:ext cx="80010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ad end"/>
          <p:cNvSpPr/>
          <p:nvPr/>
        </p:nvSpPr>
        <p:spPr>
          <a:xfrm rot="5400000">
            <a:off x="8412480" y="1344168"/>
            <a:ext cx="274320" cy="274320"/>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lestone dot 1"/>
          <p:cNvSpPr/>
          <p:nvPr/>
        </p:nvSpPr>
        <p:spPr>
          <a:xfrm>
            <a:off x="1133856"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ilestone card 1"/>
          <p:cNvSpPr/>
          <p:nvPr/>
        </p:nvSpPr>
        <p:spPr>
          <a:xfrm>
            <a:off x="457200"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ilestone year 1"/>
          <p:cNvSpPr txBox="1"/>
          <p:nvPr/>
        </p:nvSpPr>
        <p:spPr>
          <a:xfrm>
            <a:off x="548640"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1976</a:t>
            </a:r>
          </a:p>
        </p:txBody>
      </p:sp>
      <p:sp>
        <p:nvSpPr>
          <p:cNvPr id="15" name="Milestone text 1"/>
          <p:cNvSpPr txBox="1"/>
          <p:nvPr/>
        </p:nvSpPr>
        <p:spPr>
          <a:xfrm>
            <a:off x="548640"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Clarke: how long ad effects last</a:t>
            </a:r>
          </a:p>
        </p:txBody>
      </p:sp>
      <p:sp>
        <p:nvSpPr>
          <p:cNvPr id="16" name="Milestone dot 2"/>
          <p:cNvSpPr/>
          <p:nvPr/>
        </p:nvSpPr>
        <p:spPr>
          <a:xfrm>
            <a:off x="2798064"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ilestone card 2"/>
          <p:cNvSpPr/>
          <p:nvPr/>
        </p:nvSpPr>
        <p:spPr>
          <a:xfrm>
            <a:off x="2121408"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ilestone year 2"/>
          <p:cNvSpPr txBox="1"/>
          <p:nvPr/>
        </p:nvSpPr>
        <p:spPr>
          <a:xfrm>
            <a:off x="2212848"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1979</a:t>
            </a:r>
          </a:p>
        </p:txBody>
      </p:sp>
      <p:sp>
        <p:nvSpPr>
          <p:cNvPr id="19" name="Milestone text 2"/>
          <p:cNvSpPr txBox="1"/>
          <p:nvPr/>
        </p:nvSpPr>
        <p:spPr>
          <a:xfrm>
            <a:off x="2212848"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Little: what a response model needs</a:t>
            </a:r>
          </a:p>
        </p:txBody>
      </p:sp>
      <p:sp>
        <p:nvSpPr>
          <p:cNvPr id="20" name="Milestone dot 3"/>
          <p:cNvSpPr/>
          <p:nvPr/>
        </p:nvSpPr>
        <p:spPr>
          <a:xfrm>
            <a:off x="4462272"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ilestone card 3"/>
          <p:cNvSpPr/>
          <p:nvPr/>
        </p:nvSpPr>
        <p:spPr>
          <a:xfrm>
            <a:off x="3785616"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Milestone year 3"/>
          <p:cNvSpPr txBox="1"/>
          <p:nvPr/>
        </p:nvSpPr>
        <p:spPr>
          <a:xfrm>
            <a:off x="3877056"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2001</a:t>
            </a:r>
          </a:p>
        </p:txBody>
      </p:sp>
      <p:sp>
        <p:nvSpPr>
          <p:cNvPr id="23" name="Milestone text 3"/>
          <p:cNvSpPr txBox="1"/>
          <p:nvPr/>
        </p:nvSpPr>
        <p:spPr>
          <a:xfrm>
            <a:off x="3877056"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Hanssens et al.: Market Response Models</a:t>
            </a:r>
          </a:p>
        </p:txBody>
      </p:sp>
      <p:sp>
        <p:nvSpPr>
          <p:cNvPr id="24" name="Milestone dot 4"/>
          <p:cNvSpPr/>
          <p:nvPr/>
        </p:nvSpPr>
        <p:spPr>
          <a:xfrm>
            <a:off x="6126480"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ilestone card 4"/>
          <p:cNvSpPr/>
          <p:nvPr/>
        </p:nvSpPr>
        <p:spPr>
          <a:xfrm>
            <a:off x="5449824"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Milestone year 4"/>
          <p:cNvSpPr txBox="1"/>
          <p:nvPr/>
        </p:nvSpPr>
        <p:spPr>
          <a:xfrm>
            <a:off x="5541264"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2017</a:t>
            </a:r>
          </a:p>
        </p:txBody>
      </p:sp>
      <p:sp>
        <p:nvSpPr>
          <p:cNvPr id="27" name="Milestone text 4"/>
          <p:cNvSpPr txBox="1"/>
          <p:nvPr/>
        </p:nvSpPr>
        <p:spPr>
          <a:xfrm>
            <a:off x="5541264"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Jin et al. (Google): Bayesian MMM</a:t>
            </a:r>
          </a:p>
        </p:txBody>
      </p:sp>
      <p:sp>
        <p:nvSpPr>
          <p:cNvPr id="28" name="Milestone dot 5"/>
          <p:cNvSpPr/>
          <p:nvPr/>
        </p:nvSpPr>
        <p:spPr>
          <a:xfrm>
            <a:off x="7790688"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ilestone card 5"/>
          <p:cNvSpPr/>
          <p:nvPr/>
        </p:nvSpPr>
        <p:spPr>
          <a:xfrm>
            <a:off x="7114032"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Milestone year 5"/>
          <p:cNvSpPr txBox="1"/>
          <p:nvPr/>
        </p:nvSpPr>
        <p:spPr>
          <a:xfrm>
            <a:off x="7205472"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2020s</a:t>
            </a:r>
          </a:p>
        </p:txBody>
      </p:sp>
      <p:sp>
        <p:nvSpPr>
          <p:cNvPr id="31" name="Milestone text 5"/>
          <p:cNvSpPr txBox="1"/>
          <p:nvPr/>
        </p:nvSpPr>
        <p:spPr>
          <a:xfrm>
            <a:off x="7205472"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Open source: Robyn, PyMC-Marketing, Meridian</a:t>
            </a:r>
          </a:p>
        </p:txBody>
      </p:sp>
      <p:sp>
        <p:nvSpPr>
          <p:cNvPr id="32" name="Why now card body"/>
          <p:cNvSpPr/>
          <p:nvPr/>
        </p:nvSpPr>
        <p:spPr>
          <a:xfrm>
            <a:off x="457200" y="361188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Why now card header"/>
          <p:cNvSpPr/>
          <p:nvPr/>
        </p:nvSpPr>
        <p:spPr>
          <a:xfrm>
            <a:off x="457200" y="32004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hy now card heading"/>
          <p:cNvSpPr txBox="1"/>
          <p:nvPr/>
        </p:nvSpPr>
        <p:spPr>
          <a:xfrm>
            <a:off x="594360" y="32004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Why now</a:t>
            </a:r>
          </a:p>
        </p:txBody>
      </p:sp>
      <p:pic>
        <p:nvPicPr>
          <p:cNvPr id="35" name="Icon Why now card" descr=""/>
          <p:cNvPicPr>
            <a:picLocks noChangeAspect="1"/>
          </p:cNvPicPr>
          <p:nvPr/>
        </p:nvPicPr>
        <p:blipFill>
          <a:blip r:embed="rId3"/>
          <a:stretch>
            <a:fillRect/>
          </a:stretch>
        </p:blipFill>
        <p:spPr>
          <a:xfrm>
            <a:off x="4064508" y="3250692"/>
            <a:ext cx="310896" cy="310896"/>
          </a:xfrm>
          <a:prstGeom prst="rect">
            <a:avLst/>
          </a:prstGeom>
        </p:spPr>
      </p:pic>
      <p:sp>
        <p:nvSpPr>
          <p:cNvPr id="36" name="Why now card text"/>
          <p:cNvSpPr txBox="1"/>
          <p:nvPr/>
        </p:nvSpPr>
        <p:spPr>
          <a:xfrm>
            <a:off x="621792" y="374904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GDPR, cookie loss and Apple's tracking rules weaken user-level tracking (Part 2)</a:t>
            </a:r>
          </a:p>
          <a:p>
            <a:pPr algn="l" marL="182880" indent="-182880">
              <a:spcAft>
                <a:spcPts val="600"/>
              </a:spcAft>
              <a:buClr>
                <a:schemeClr val="accent1"/>
              </a:buClr>
              <a:buFont typeface="Arial"/>
              <a:buChar char="▪"/>
            </a:pPr>
            <a:r>
              <a:rPr sz="1300" b="0" lang="en-GB">
                <a:solidFill>
                  <a:schemeClr val="tx1"/>
                </a:solidFill>
              </a:rPr>
              <a:t>MMM needs no personal data</a:t>
            </a:r>
          </a:p>
        </p:txBody>
      </p:sp>
      <p:sp>
        <p:nvSpPr>
          <p:cNvPr id="37" name="Adoption panel"/>
          <p:cNvSpPr/>
          <p:nvPr/>
        </p:nvSpPr>
        <p:spPr>
          <a:xfrm>
            <a:off x="4640580" y="320040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Adoption 1 bar"/>
          <p:cNvSpPr/>
          <p:nvPr/>
        </p:nvSpPr>
        <p:spPr>
          <a:xfrm>
            <a:off x="4777740" y="3291840"/>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Adoption 1 figure"/>
          <p:cNvSpPr txBox="1"/>
          <p:nvPr/>
        </p:nvSpPr>
        <p:spPr>
          <a:xfrm>
            <a:off x="4960620" y="3291840"/>
            <a:ext cx="1234440" cy="62179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64 %</a:t>
            </a:r>
          </a:p>
        </p:txBody>
      </p:sp>
      <p:sp>
        <p:nvSpPr>
          <p:cNvPr id="40" name="Adoption 1 label"/>
          <p:cNvSpPr txBox="1"/>
          <p:nvPr/>
        </p:nvSpPr>
        <p:spPr>
          <a:xfrm>
            <a:off x="6195060" y="3291840"/>
            <a:ext cx="2354580" cy="621792"/>
          </a:xfrm>
          <a:prstGeom prst="rect">
            <a:avLst/>
          </a:prstGeom>
          <a:noFill/>
        </p:spPr>
        <p:txBody>
          <a:bodyPr wrap="square" lIns="0" rIns="0" tIns="0" bIns="0" anchor="ctr">
            <a:noAutofit/>
          </a:bodyPr>
          <a:lstStyle/>
          <a:p>
            <a:pPr algn="l">
              <a:spcAft>
                <a:spcPts val="400"/>
              </a:spcAft>
            </a:pPr>
            <a:r>
              <a:rPr sz="1200" b="0" lang="en-GB">
                <a:solidFill>
                  <a:schemeClr val="tx1"/>
                </a:solidFill>
              </a:rPr>
              <a:t>of senior marketing leaders use MMM (Gartner 2024)</a:t>
            </a:r>
          </a:p>
        </p:txBody>
      </p:sp>
      <p:sp>
        <p:nvSpPr>
          <p:cNvPr id="41" name="Adoption 2 bar"/>
          <p:cNvSpPr/>
          <p:nvPr/>
        </p:nvSpPr>
        <p:spPr>
          <a:xfrm>
            <a:off x="4777740" y="3995928"/>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Adoption 2 figure"/>
          <p:cNvSpPr txBox="1"/>
          <p:nvPr/>
        </p:nvSpPr>
        <p:spPr>
          <a:xfrm>
            <a:off x="4960620" y="3995928"/>
            <a:ext cx="1234440" cy="62179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13 %</a:t>
            </a:r>
          </a:p>
        </p:txBody>
      </p:sp>
      <p:sp>
        <p:nvSpPr>
          <p:cNvPr id="43" name="Adoption 2 label"/>
          <p:cNvSpPr txBox="1"/>
          <p:nvPr/>
        </p:nvSpPr>
        <p:spPr>
          <a:xfrm>
            <a:off x="6195060" y="3995928"/>
            <a:ext cx="2354580" cy="621792"/>
          </a:xfrm>
          <a:prstGeom prst="rect">
            <a:avLst/>
          </a:prstGeom>
          <a:noFill/>
        </p:spPr>
        <p:txBody>
          <a:bodyPr wrap="square" lIns="0" rIns="0" tIns="0" bIns="0" anchor="ctr">
            <a:noAutofit/>
          </a:bodyPr>
          <a:lstStyle/>
          <a:p>
            <a:pPr algn="l">
              <a:spcAft>
                <a:spcPts val="400"/>
              </a:spcAft>
            </a:pPr>
            <a:r>
              <a:rPr sz="1200" b="0" lang="en-GB">
                <a:solidFill>
                  <a:schemeClr val="tx1"/>
                </a:solidFill>
              </a:rPr>
              <a:t>of advertisers turn it into insight quickly (WFA 2026)</a:t>
            </a:r>
          </a:p>
        </p:txBody>
      </p:sp>
      <p:sp>
        <p:nvSpPr>
          <p:cNvPr id="4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Clarke 1976; Little 1979; Hanssens et al. 2001; Jin et al. 2017; Gartner 2024; WFA &amp; Ebiquity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7 · where the money goes, last click, why attribution misleads, real-world tests</a:t>
            </a:r>
          </a:p>
        </p:txBody>
      </p:sp>
      <p:sp>
        <p:nvSpPr>
          <p:cNvPr id="3" name="Title 2"/>
          <p:cNvSpPr>
            <a:spLocks noGrp="1"/>
          </p:cNvSpPr>
          <p:nvPr>
            <p:ph type="ctrTitle"/>
          </p:nvPr>
        </p:nvSpPr>
        <p:spPr/>
        <p:txBody>
          <a:bodyPr/>
          <a:lstStyle/>
          <a:p>
            <a:r>
              <a:rPr sz="1600" lang="en-GB"/>
              <a:t>Why attribution is not enough</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the advertising money goes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pend row 1"/>
          <p:cNvSpPr/>
          <p:nvPr/>
        </p:nvSpPr>
        <p:spPr>
          <a:xfrm>
            <a:off x="457200" y="1234440"/>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pend stat 1 bar"/>
          <p:cNvSpPr/>
          <p:nvPr/>
        </p:nvSpPr>
        <p:spPr>
          <a:xfrm>
            <a:off x="457200" y="123444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pend stat 1 figure"/>
          <p:cNvSpPr txBox="1"/>
          <p:nvPr/>
        </p:nvSpPr>
        <p:spPr>
          <a:xfrm>
            <a:off x="640080" y="1234440"/>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$1.14 tn</a:t>
            </a:r>
          </a:p>
        </p:txBody>
      </p:sp>
      <p:sp>
        <p:nvSpPr>
          <p:cNvPr id="13" name="Spend stat 1 label"/>
          <p:cNvSpPr txBox="1"/>
          <p:nvPr/>
        </p:nvSpPr>
        <p:spPr>
          <a:xfrm>
            <a:off x="2468880" y="1234440"/>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global advertising spend in 2025, </a:t>
            </a:r>
            <a:r>
              <a:rPr sz="1200" b="1" lang="en-GB">
                <a:solidFill>
                  <a:schemeClr val="tx1"/>
                </a:solidFill>
              </a:rPr>
              <a:t>+8.8 %</a:t>
            </a:r>
          </a:p>
        </p:txBody>
      </p:sp>
      <p:sp>
        <p:nvSpPr>
          <p:cNvPr id="14" name="Spend row 2"/>
          <p:cNvSpPr/>
          <p:nvPr/>
        </p:nvSpPr>
        <p:spPr>
          <a:xfrm>
            <a:off x="457200" y="1993392"/>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pend stat 2 bar"/>
          <p:cNvSpPr/>
          <p:nvPr/>
        </p:nvSpPr>
        <p:spPr>
          <a:xfrm>
            <a:off x="457200" y="1993392"/>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pend stat 2 figure"/>
          <p:cNvSpPr txBox="1"/>
          <p:nvPr/>
        </p:nvSpPr>
        <p:spPr>
          <a:xfrm>
            <a:off x="640080" y="1993392"/>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73 %</a:t>
            </a:r>
          </a:p>
        </p:txBody>
      </p:sp>
      <p:sp>
        <p:nvSpPr>
          <p:cNvPr id="17" name="Spend stat 2 label"/>
          <p:cNvSpPr txBox="1"/>
          <p:nvPr/>
        </p:nvSpPr>
        <p:spPr>
          <a:xfrm>
            <a:off x="2468880" y="1993392"/>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of it is digital: search, social, video, retail media</a:t>
            </a:r>
          </a:p>
        </p:txBody>
      </p:sp>
      <p:sp>
        <p:nvSpPr>
          <p:cNvPr id="18" name="Spend row 3"/>
          <p:cNvSpPr/>
          <p:nvPr/>
        </p:nvSpPr>
        <p:spPr>
          <a:xfrm>
            <a:off x="457200" y="2752344"/>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pend stat 3 bar"/>
          <p:cNvSpPr/>
          <p:nvPr/>
        </p:nvSpPr>
        <p:spPr>
          <a:xfrm>
            <a:off x="457200" y="2752344"/>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pend stat 3 figure"/>
          <p:cNvSpPr txBox="1"/>
          <p:nvPr/>
        </p:nvSpPr>
        <p:spPr>
          <a:xfrm>
            <a:off x="640080" y="2752344"/>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€119 bn</a:t>
            </a:r>
          </a:p>
        </p:txBody>
      </p:sp>
      <p:sp>
        <p:nvSpPr>
          <p:cNvPr id="21" name="Spend stat 3 label"/>
          <p:cNvSpPr txBox="1"/>
          <p:nvPr/>
        </p:nvSpPr>
        <p:spPr>
          <a:xfrm>
            <a:off x="2468880" y="2752344"/>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digital advertising in Europe in 2024, </a:t>
            </a:r>
            <a:r>
              <a:rPr sz="1200" b="1" lang="en-GB">
                <a:solidFill>
                  <a:schemeClr val="tx1"/>
                </a:solidFill>
              </a:rPr>
              <a:t>+16 %</a:t>
            </a:r>
          </a:p>
        </p:txBody>
      </p:sp>
      <p:sp>
        <p:nvSpPr>
          <p:cNvPr id="22" name="Spend row 4"/>
          <p:cNvSpPr/>
          <p:nvPr/>
        </p:nvSpPr>
        <p:spPr>
          <a:xfrm>
            <a:off x="457200" y="3511296"/>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pend stat 4 bar"/>
          <p:cNvSpPr/>
          <p:nvPr/>
        </p:nvSpPr>
        <p:spPr>
          <a:xfrm>
            <a:off x="457200" y="3511296"/>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pend stat 4 figure"/>
          <p:cNvSpPr txBox="1"/>
          <p:nvPr/>
        </p:nvSpPr>
        <p:spPr>
          <a:xfrm>
            <a:off x="640080" y="3511296"/>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67 %</a:t>
            </a:r>
          </a:p>
        </p:txBody>
      </p:sp>
      <p:sp>
        <p:nvSpPr>
          <p:cNvPr id="25" name="Spend stat 4 label"/>
          <p:cNvSpPr txBox="1"/>
          <p:nvPr/>
        </p:nvSpPr>
        <p:spPr>
          <a:xfrm>
            <a:off x="2468880" y="3511296"/>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of all ad spend in Europe is digital</a:t>
            </a:r>
          </a:p>
        </p:txBody>
      </p:sp>
      <p:sp>
        <p:nvSpPr>
          <p:cNvPr id="26" name="Spend card body"/>
          <p:cNvSpPr/>
          <p:nvPr/>
        </p:nvSpPr>
        <p:spPr>
          <a:xfrm>
            <a:off x="5577840" y="1645920"/>
            <a:ext cx="3108960" cy="255117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pend card header"/>
          <p:cNvSpPr/>
          <p:nvPr/>
        </p:nvSpPr>
        <p:spPr>
          <a:xfrm>
            <a:off x="5577840" y="1234440"/>
            <a:ext cx="31089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pend card heading"/>
          <p:cNvSpPr txBox="1"/>
          <p:nvPr/>
        </p:nvSpPr>
        <p:spPr>
          <a:xfrm>
            <a:off x="5715000" y="1234440"/>
            <a:ext cx="24231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this means</a:t>
            </a:r>
          </a:p>
        </p:txBody>
      </p:sp>
      <p:pic>
        <p:nvPicPr>
          <p:cNvPr id="29" name="Icon Spend card" descr=""/>
          <p:cNvPicPr>
            <a:picLocks noChangeAspect="1"/>
          </p:cNvPicPr>
          <p:nvPr/>
        </p:nvPicPr>
        <p:blipFill>
          <a:blip r:embed="rId3"/>
          <a:stretch>
            <a:fillRect/>
          </a:stretch>
        </p:blipFill>
        <p:spPr>
          <a:xfrm>
            <a:off x="8247888" y="1284732"/>
            <a:ext cx="310896" cy="310896"/>
          </a:xfrm>
          <a:prstGeom prst="rect">
            <a:avLst/>
          </a:prstGeom>
        </p:spPr>
      </p:pic>
      <p:sp>
        <p:nvSpPr>
          <p:cNvPr id="30" name="Spend card text"/>
          <p:cNvSpPr txBox="1"/>
          <p:nvPr/>
        </p:nvSpPr>
        <p:spPr>
          <a:xfrm>
            <a:off x="5742432" y="1783080"/>
            <a:ext cx="2807208" cy="2276856"/>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Digital ads are bought click by click</a:t>
            </a:r>
          </a:p>
          <a:p>
            <a:pPr algn="l" marL="182880" indent="-182880">
              <a:spcAft>
                <a:spcPts val="600"/>
              </a:spcAft>
              <a:buClr>
                <a:schemeClr val="accent1"/>
              </a:buClr>
              <a:buFont typeface="Arial"/>
              <a:buChar char="▪"/>
            </a:pPr>
            <a:r>
              <a:rPr sz="1300" b="0" lang="en-GB">
                <a:solidFill>
                  <a:schemeClr val="tx1"/>
                </a:solidFill>
              </a:rPr>
              <a:t>The platforms that sell the ads also report their success</a:t>
            </a:r>
          </a:p>
          <a:p>
            <a:pPr algn="l" marL="182880" indent="-182880">
              <a:spcAft>
                <a:spcPts val="600"/>
              </a:spcAft>
              <a:buClr>
                <a:schemeClr val="accent1"/>
              </a:buClr>
              <a:buFont typeface="Arial"/>
              <a:buChar char="▪"/>
            </a:pPr>
            <a:r>
              <a:rPr sz="1300" b="0" lang="en-GB">
                <a:solidFill>
                  <a:schemeClr val="tx1"/>
                </a:solidFill>
              </a:rPr>
              <a:t>Small measurement errors move billions</a:t>
            </a:r>
          </a:p>
        </p:txBody>
      </p:sp>
      <p:sp>
        <p:nvSpPr>
          <p:cNvPr id="31" name="Spend question box"/>
          <p:cNvSpPr/>
          <p:nvPr/>
        </p:nvSpPr>
        <p:spPr>
          <a:xfrm>
            <a:off x="457200" y="4315968"/>
            <a:ext cx="8229600" cy="43891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Spend question" descr=""/>
          <p:cNvPicPr>
            <a:picLocks noChangeAspect="1"/>
          </p:cNvPicPr>
          <p:nvPr/>
        </p:nvPicPr>
        <p:blipFill>
          <a:blip r:embed="rId4"/>
          <a:stretch>
            <a:fillRect/>
          </a:stretch>
        </p:blipFill>
        <p:spPr>
          <a:xfrm>
            <a:off x="658368" y="4352544"/>
            <a:ext cx="365760" cy="365760"/>
          </a:xfrm>
          <a:prstGeom prst="rect">
            <a:avLst/>
          </a:prstGeom>
        </p:spPr>
      </p:pic>
      <p:sp>
        <p:nvSpPr>
          <p:cNvPr id="33" name="Spend question text"/>
          <p:cNvSpPr txBox="1"/>
          <p:nvPr/>
        </p:nvSpPr>
        <p:spPr>
          <a:xfrm>
            <a:off x="1207008" y="4315968"/>
            <a:ext cx="7315200" cy="438912"/>
          </a:xfrm>
          <a:prstGeom prst="rect">
            <a:avLst/>
          </a:prstGeom>
          <a:noFill/>
        </p:spPr>
        <p:txBody>
          <a:bodyPr wrap="square" lIns="0" rIns="0" tIns="0" bIns="0" anchor="ctr">
            <a:noAutofit/>
          </a:bodyPr>
          <a:lstStyle/>
          <a:p>
            <a:pPr algn="l">
              <a:spcAft>
                <a:spcPts val="400"/>
              </a:spcAft>
            </a:pPr>
            <a:r>
              <a:rPr sz="1200" b="1" lang="en-GB">
                <a:solidFill>
                  <a:schemeClr val="bg1"/>
                </a:solidFill>
              </a:rPr>
              <a:t>The question of this part: </a:t>
            </a:r>
            <a:r>
              <a:rPr sz="1200" b="0" lang="en-GB">
                <a:solidFill>
                  <a:schemeClr val="bg1"/>
                </a:solidFill>
              </a:rPr>
              <a:t>who gets the credit for a sale, and is it deserved?</a:t>
            </a:r>
          </a:p>
        </p:txBody>
      </p:sp>
      <p:sp>
        <p:nvSpPr>
          <p:cNvPr id="3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WPP Media, This Year Next Year, mid-year 2025; IAB Europe, AdEx Benchmark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Attribution: who gets the credit?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Journey step 1"/>
          <p:cNvSpPr/>
          <p:nvPr/>
        </p:nvSpPr>
        <p:spPr>
          <a:xfrm>
            <a:off x="457200" y="1234440"/>
            <a:ext cx="1371600" cy="960120"/>
          </a:xfrm>
          <a:prstGeom prst="rect">
            <a:avLst/>
          </a:prstGeom>
          <a:solidFill>
            <a:schemeClr val="bg1"/>
          </a:solidFill>
          <a:ln w="15875">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journey 1" descr=""/>
          <p:cNvPicPr>
            <a:picLocks noChangeAspect="1"/>
          </p:cNvPicPr>
          <p:nvPr/>
        </p:nvPicPr>
        <p:blipFill>
          <a:blip r:embed="rId3"/>
          <a:stretch>
            <a:fillRect/>
          </a:stretch>
        </p:blipFill>
        <p:spPr>
          <a:xfrm>
            <a:off x="960120" y="1298448"/>
            <a:ext cx="365760" cy="365760"/>
          </a:xfrm>
          <a:prstGeom prst="rect">
            <a:avLst/>
          </a:prstGeom>
        </p:spPr>
      </p:pic>
      <p:sp>
        <p:nvSpPr>
          <p:cNvPr id="12" name="Journey text 1"/>
          <p:cNvSpPr txBox="1"/>
          <p:nvPr/>
        </p:nvSpPr>
        <p:spPr>
          <a:xfrm>
            <a:off x="502920"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TV spot</a:t>
            </a:r>
          </a:p>
          <a:p>
            <a:pPr algn="ctr">
              <a:spcAft>
                <a:spcPts val="0"/>
              </a:spcAft>
            </a:pPr>
            <a:r>
              <a:rPr sz="1100" b="0" lang="en-GB">
                <a:solidFill>
                  <a:srgbClr val="595959"/>
                </a:solidFill>
              </a:rPr>
              <a:t>not tracked</a:t>
            </a:r>
          </a:p>
        </p:txBody>
      </p:sp>
      <p:sp>
        <p:nvSpPr>
          <p:cNvPr id="13" name="Journey arrow 1"/>
          <p:cNvSpPr/>
          <p:nvPr/>
        </p:nvSpPr>
        <p:spPr>
          <a:xfrm>
            <a:off x="1892808"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Journey step 2"/>
          <p:cNvSpPr/>
          <p:nvPr/>
        </p:nvSpPr>
        <p:spPr>
          <a:xfrm>
            <a:off x="2157984"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journey 2" descr=""/>
          <p:cNvPicPr>
            <a:picLocks noChangeAspect="1"/>
          </p:cNvPicPr>
          <p:nvPr/>
        </p:nvPicPr>
        <p:blipFill>
          <a:blip r:embed="rId4"/>
          <a:stretch>
            <a:fillRect/>
          </a:stretch>
        </p:blipFill>
        <p:spPr>
          <a:xfrm>
            <a:off x="2660904" y="1298448"/>
            <a:ext cx="365760" cy="365760"/>
          </a:xfrm>
          <a:prstGeom prst="rect">
            <a:avLst/>
          </a:prstGeom>
        </p:spPr>
      </p:pic>
      <p:sp>
        <p:nvSpPr>
          <p:cNvPr id="16" name="Journey text 2"/>
          <p:cNvSpPr txBox="1"/>
          <p:nvPr/>
        </p:nvSpPr>
        <p:spPr>
          <a:xfrm>
            <a:off x="2203704"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Instagram ad</a:t>
            </a:r>
          </a:p>
          <a:p>
            <a:pPr algn="ctr">
              <a:spcAft>
                <a:spcPts val="0"/>
              </a:spcAft>
            </a:pPr>
            <a:r>
              <a:rPr sz="1100" b="0" lang="en-GB">
                <a:solidFill>
                  <a:schemeClr val="tx2"/>
                </a:solidFill>
              </a:rPr>
              <a:t>click</a:t>
            </a:r>
          </a:p>
        </p:txBody>
      </p:sp>
      <p:sp>
        <p:nvSpPr>
          <p:cNvPr id="17" name="Journey arrow 2"/>
          <p:cNvSpPr/>
          <p:nvPr/>
        </p:nvSpPr>
        <p:spPr>
          <a:xfrm>
            <a:off x="3593592"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Journey step 3"/>
          <p:cNvSpPr/>
          <p:nvPr/>
        </p:nvSpPr>
        <p:spPr>
          <a:xfrm>
            <a:off x="3858768"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journey 3" descr=""/>
          <p:cNvPicPr>
            <a:picLocks noChangeAspect="1"/>
          </p:cNvPicPr>
          <p:nvPr/>
        </p:nvPicPr>
        <p:blipFill>
          <a:blip r:embed="rId5"/>
          <a:stretch>
            <a:fillRect/>
          </a:stretch>
        </p:blipFill>
        <p:spPr>
          <a:xfrm>
            <a:off x="4361688" y="1298448"/>
            <a:ext cx="365760" cy="365760"/>
          </a:xfrm>
          <a:prstGeom prst="rect">
            <a:avLst/>
          </a:prstGeom>
        </p:spPr>
      </p:pic>
      <p:sp>
        <p:nvSpPr>
          <p:cNvPr id="20" name="Journey text 3"/>
          <p:cNvSpPr txBox="1"/>
          <p:nvPr/>
        </p:nvSpPr>
        <p:spPr>
          <a:xfrm>
            <a:off x="3904488"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YouTube video</a:t>
            </a:r>
          </a:p>
          <a:p>
            <a:pPr algn="ctr">
              <a:spcAft>
                <a:spcPts val="0"/>
              </a:spcAft>
            </a:pPr>
            <a:r>
              <a:rPr sz="1100" b="0" lang="en-GB">
                <a:solidFill>
                  <a:schemeClr val="tx2"/>
                </a:solidFill>
              </a:rPr>
              <a:t>view</a:t>
            </a:r>
          </a:p>
        </p:txBody>
      </p:sp>
      <p:sp>
        <p:nvSpPr>
          <p:cNvPr id="21" name="Journey arrow 3"/>
          <p:cNvSpPr/>
          <p:nvPr/>
        </p:nvSpPr>
        <p:spPr>
          <a:xfrm>
            <a:off x="5294376"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Journey step 4"/>
          <p:cNvSpPr/>
          <p:nvPr/>
        </p:nvSpPr>
        <p:spPr>
          <a:xfrm>
            <a:off x="5559552"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journey 4" descr=""/>
          <p:cNvPicPr>
            <a:picLocks noChangeAspect="1"/>
          </p:cNvPicPr>
          <p:nvPr/>
        </p:nvPicPr>
        <p:blipFill>
          <a:blip r:embed="rId6"/>
          <a:stretch>
            <a:fillRect/>
          </a:stretch>
        </p:blipFill>
        <p:spPr>
          <a:xfrm>
            <a:off x="6062472" y="1298448"/>
            <a:ext cx="365760" cy="365760"/>
          </a:xfrm>
          <a:prstGeom prst="rect">
            <a:avLst/>
          </a:prstGeom>
        </p:spPr>
      </p:pic>
      <p:sp>
        <p:nvSpPr>
          <p:cNvPr id="24" name="Journey text 4"/>
          <p:cNvSpPr txBox="1"/>
          <p:nvPr/>
        </p:nvSpPr>
        <p:spPr>
          <a:xfrm>
            <a:off x="5605272"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Google search</a:t>
            </a:r>
          </a:p>
          <a:p>
            <a:pPr algn="ctr">
              <a:spcAft>
                <a:spcPts val="0"/>
              </a:spcAft>
            </a:pPr>
            <a:r>
              <a:rPr sz="1100" b="0" lang="en-GB">
                <a:solidFill>
                  <a:schemeClr val="tx2"/>
                </a:solidFill>
              </a:rPr>
              <a:t>the brand name</a:t>
            </a:r>
          </a:p>
        </p:txBody>
      </p:sp>
      <p:sp>
        <p:nvSpPr>
          <p:cNvPr id="25" name="Journey arrow 4"/>
          <p:cNvSpPr/>
          <p:nvPr/>
        </p:nvSpPr>
        <p:spPr>
          <a:xfrm>
            <a:off x="6995160"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Journey step 5"/>
          <p:cNvSpPr/>
          <p:nvPr/>
        </p:nvSpPr>
        <p:spPr>
          <a:xfrm>
            <a:off x="7260336" y="1234440"/>
            <a:ext cx="1371600" cy="960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journey 5" descr=""/>
          <p:cNvPicPr>
            <a:picLocks noChangeAspect="1"/>
          </p:cNvPicPr>
          <p:nvPr/>
        </p:nvPicPr>
        <p:blipFill>
          <a:blip r:embed="rId7"/>
          <a:stretch>
            <a:fillRect/>
          </a:stretch>
        </p:blipFill>
        <p:spPr>
          <a:xfrm>
            <a:off x="7763256" y="1298448"/>
            <a:ext cx="365760" cy="365760"/>
          </a:xfrm>
          <a:prstGeom prst="rect">
            <a:avLst/>
          </a:prstGeom>
        </p:spPr>
      </p:pic>
      <p:sp>
        <p:nvSpPr>
          <p:cNvPr id="28" name="Journey text 5"/>
          <p:cNvSpPr txBox="1"/>
          <p:nvPr/>
        </p:nvSpPr>
        <p:spPr>
          <a:xfrm>
            <a:off x="7306056"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bg1"/>
                </a:solidFill>
              </a:rPr>
              <a:t>Order</a:t>
            </a:r>
          </a:p>
          <a:p>
            <a:pPr algn="ctr">
              <a:spcAft>
                <a:spcPts val="0"/>
              </a:spcAft>
            </a:pPr>
            <a:r>
              <a:rPr sz="1100" b="0" lang="en-GB">
                <a:solidFill>
                  <a:schemeClr val="bg1"/>
                </a:solidFill>
              </a:rPr>
              <a:t>EUR 40</a:t>
            </a:r>
          </a:p>
        </p:txBody>
      </p:sp>
      <p:sp>
        <p:nvSpPr>
          <p:cNvPr id="29" name="Grid 1-1"/>
          <p:cNvSpPr/>
          <p:nvPr/>
        </p:nvSpPr>
        <p:spPr>
          <a:xfrm>
            <a:off x="457200" y="2331720"/>
            <a:ext cx="23500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rid text 1-1"/>
          <p:cNvSpPr txBox="1"/>
          <p:nvPr/>
        </p:nvSpPr>
        <p:spPr>
          <a:xfrm>
            <a:off x="548640" y="2331720"/>
            <a:ext cx="2167128" cy="356616"/>
          </a:xfrm>
          <a:prstGeom prst="rect">
            <a:avLst/>
          </a:prstGeom>
          <a:noFill/>
        </p:spPr>
        <p:txBody>
          <a:bodyPr wrap="square" lIns="0" rIns="0" tIns="0" bIns="0" anchor="ctr">
            <a:noAutofit/>
          </a:bodyPr>
          <a:lstStyle/>
          <a:p>
            <a:pPr algn="l">
              <a:spcAft>
                <a:spcPts val="400"/>
              </a:spcAft>
            </a:pPr>
            <a:r>
              <a:rPr sz="1200" b="1" lang="en-GB">
                <a:solidFill>
                  <a:schemeClr val="bg1"/>
                </a:solidFill>
              </a:rPr>
              <a:t>Credit for the order</a:t>
            </a:r>
          </a:p>
        </p:txBody>
      </p:sp>
      <p:sp>
        <p:nvSpPr>
          <p:cNvPr id="31" name="Grid 1-2"/>
          <p:cNvSpPr/>
          <p:nvPr/>
        </p:nvSpPr>
        <p:spPr>
          <a:xfrm>
            <a:off x="283464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Grid text 1-2"/>
          <p:cNvSpPr txBox="1"/>
          <p:nvPr/>
        </p:nvSpPr>
        <p:spPr>
          <a:xfrm>
            <a:off x="292608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TV</a:t>
            </a:r>
          </a:p>
        </p:txBody>
      </p:sp>
      <p:sp>
        <p:nvSpPr>
          <p:cNvPr id="33" name="Grid 1-3"/>
          <p:cNvSpPr/>
          <p:nvPr/>
        </p:nvSpPr>
        <p:spPr>
          <a:xfrm>
            <a:off x="429768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Grid text 1-3"/>
          <p:cNvSpPr txBox="1"/>
          <p:nvPr/>
        </p:nvSpPr>
        <p:spPr>
          <a:xfrm>
            <a:off x="438912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Instagram</a:t>
            </a:r>
          </a:p>
        </p:txBody>
      </p:sp>
      <p:sp>
        <p:nvSpPr>
          <p:cNvPr id="35" name="Grid 1-4"/>
          <p:cNvSpPr/>
          <p:nvPr/>
        </p:nvSpPr>
        <p:spPr>
          <a:xfrm>
            <a:off x="576072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Grid text 1-4"/>
          <p:cNvSpPr txBox="1"/>
          <p:nvPr/>
        </p:nvSpPr>
        <p:spPr>
          <a:xfrm>
            <a:off x="585216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YouTube</a:t>
            </a:r>
          </a:p>
        </p:txBody>
      </p:sp>
      <p:sp>
        <p:nvSpPr>
          <p:cNvPr id="37" name="Grid 1-5"/>
          <p:cNvSpPr/>
          <p:nvPr/>
        </p:nvSpPr>
        <p:spPr>
          <a:xfrm>
            <a:off x="7223760" y="2331720"/>
            <a:ext cx="1463040"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Grid text 1-5"/>
          <p:cNvSpPr txBox="1"/>
          <p:nvPr/>
        </p:nvSpPr>
        <p:spPr>
          <a:xfrm>
            <a:off x="7315200" y="2331720"/>
            <a:ext cx="1280160"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Search</a:t>
            </a:r>
          </a:p>
        </p:txBody>
      </p:sp>
      <p:sp>
        <p:nvSpPr>
          <p:cNvPr id="39" name="Grid 2-1"/>
          <p:cNvSpPr/>
          <p:nvPr/>
        </p:nvSpPr>
        <p:spPr>
          <a:xfrm>
            <a:off x="457200" y="2715768"/>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Grid text 2-1"/>
          <p:cNvSpPr txBox="1"/>
          <p:nvPr/>
        </p:nvSpPr>
        <p:spPr>
          <a:xfrm>
            <a:off x="548640" y="2715768"/>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Last click</a:t>
            </a:r>
          </a:p>
        </p:txBody>
      </p:sp>
      <p:sp>
        <p:nvSpPr>
          <p:cNvPr id="41" name="Grid 2-2"/>
          <p:cNvSpPr/>
          <p:nvPr/>
        </p:nvSpPr>
        <p:spPr>
          <a:xfrm>
            <a:off x="283464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Grid text 2-2"/>
          <p:cNvSpPr txBox="1"/>
          <p:nvPr/>
        </p:nvSpPr>
        <p:spPr>
          <a:xfrm>
            <a:off x="2926080" y="2715768"/>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43" name="Grid 2-3"/>
          <p:cNvSpPr/>
          <p:nvPr/>
        </p:nvSpPr>
        <p:spPr>
          <a:xfrm>
            <a:off x="429768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Grid text 2-3"/>
          <p:cNvSpPr txBox="1"/>
          <p:nvPr/>
        </p:nvSpPr>
        <p:spPr>
          <a:xfrm>
            <a:off x="4389120" y="2715768"/>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45" name="Grid 2-4"/>
          <p:cNvSpPr/>
          <p:nvPr/>
        </p:nvSpPr>
        <p:spPr>
          <a:xfrm>
            <a:off x="576072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Grid text 2-4"/>
          <p:cNvSpPr txBox="1"/>
          <p:nvPr/>
        </p:nvSpPr>
        <p:spPr>
          <a:xfrm>
            <a:off x="5852160" y="2715768"/>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47" name="Grid 2-5"/>
          <p:cNvSpPr/>
          <p:nvPr/>
        </p:nvSpPr>
        <p:spPr>
          <a:xfrm>
            <a:off x="7223760" y="2715768"/>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Grid text 2-5"/>
          <p:cNvSpPr txBox="1"/>
          <p:nvPr/>
        </p:nvSpPr>
        <p:spPr>
          <a:xfrm>
            <a:off x="7315200" y="2715768"/>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100 %</a:t>
            </a:r>
          </a:p>
        </p:txBody>
      </p:sp>
      <p:sp>
        <p:nvSpPr>
          <p:cNvPr id="49" name="Grid 3-1"/>
          <p:cNvSpPr/>
          <p:nvPr/>
        </p:nvSpPr>
        <p:spPr>
          <a:xfrm>
            <a:off x="457200" y="3099816"/>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Grid text 3-1"/>
          <p:cNvSpPr txBox="1"/>
          <p:nvPr/>
        </p:nvSpPr>
        <p:spPr>
          <a:xfrm>
            <a:off x="548640" y="3099816"/>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First click</a:t>
            </a:r>
          </a:p>
        </p:txBody>
      </p:sp>
      <p:sp>
        <p:nvSpPr>
          <p:cNvPr id="51" name="Grid 3-2"/>
          <p:cNvSpPr/>
          <p:nvPr/>
        </p:nvSpPr>
        <p:spPr>
          <a:xfrm>
            <a:off x="283464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Grid text 3-2"/>
          <p:cNvSpPr txBox="1"/>
          <p:nvPr/>
        </p:nvSpPr>
        <p:spPr>
          <a:xfrm>
            <a:off x="2926080" y="3099816"/>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53" name="Grid 3-3"/>
          <p:cNvSpPr/>
          <p:nvPr/>
        </p:nvSpPr>
        <p:spPr>
          <a:xfrm>
            <a:off x="429768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Grid text 3-3"/>
          <p:cNvSpPr txBox="1"/>
          <p:nvPr/>
        </p:nvSpPr>
        <p:spPr>
          <a:xfrm>
            <a:off x="4389120" y="3099816"/>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100 %</a:t>
            </a:r>
          </a:p>
        </p:txBody>
      </p:sp>
      <p:sp>
        <p:nvSpPr>
          <p:cNvPr id="55" name="Grid 3-4"/>
          <p:cNvSpPr/>
          <p:nvPr/>
        </p:nvSpPr>
        <p:spPr>
          <a:xfrm>
            <a:off x="576072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Grid text 3-4"/>
          <p:cNvSpPr txBox="1"/>
          <p:nvPr/>
        </p:nvSpPr>
        <p:spPr>
          <a:xfrm>
            <a:off x="5852160" y="3099816"/>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57" name="Grid 3-5"/>
          <p:cNvSpPr/>
          <p:nvPr/>
        </p:nvSpPr>
        <p:spPr>
          <a:xfrm>
            <a:off x="7223760" y="3099816"/>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Grid text 3-5"/>
          <p:cNvSpPr txBox="1"/>
          <p:nvPr/>
        </p:nvSpPr>
        <p:spPr>
          <a:xfrm>
            <a:off x="7315200" y="3099816"/>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59" name="Grid 4-1"/>
          <p:cNvSpPr/>
          <p:nvPr/>
        </p:nvSpPr>
        <p:spPr>
          <a:xfrm>
            <a:off x="457200" y="3483864"/>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Grid text 4-1"/>
          <p:cNvSpPr txBox="1"/>
          <p:nvPr/>
        </p:nvSpPr>
        <p:spPr>
          <a:xfrm>
            <a:off x="548640" y="3483864"/>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Linear</a:t>
            </a:r>
          </a:p>
        </p:txBody>
      </p:sp>
      <p:sp>
        <p:nvSpPr>
          <p:cNvPr id="61" name="Grid 4-2"/>
          <p:cNvSpPr/>
          <p:nvPr/>
        </p:nvSpPr>
        <p:spPr>
          <a:xfrm>
            <a:off x="283464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Grid text 4-2"/>
          <p:cNvSpPr txBox="1"/>
          <p:nvPr/>
        </p:nvSpPr>
        <p:spPr>
          <a:xfrm>
            <a:off x="2926080" y="3483864"/>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63" name="Grid 4-3"/>
          <p:cNvSpPr/>
          <p:nvPr/>
        </p:nvSpPr>
        <p:spPr>
          <a:xfrm>
            <a:off x="429768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Grid text 4-3"/>
          <p:cNvSpPr txBox="1"/>
          <p:nvPr/>
        </p:nvSpPr>
        <p:spPr>
          <a:xfrm>
            <a:off x="4389120" y="3483864"/>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5" name="Grid 4-4"/>
          <p:cNvSpPr/>
          <p:nvPr/>
        </p:nvSpPr>
        <p:spPr>
          <a:xfrm>
            <a:off x="576072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Grid text 4-4"/>
          <p:cNvSpPr txBox="1"/>
          <p:nvPr/>
        </p:nvSpPr>
        <p:spPr>
          <a:xfrm>
            <a:off x="5852160" y="3483864"/>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7" name="Grid 4-5"/>
          <p:cNvSpPr/>
          <p:nvPr/>
        </p:nvSpPr>
        <p:spPr>
          <a:xfrm>
            <a:off x="7223760" y="3483864"/>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Grid text 4-5"/>
          <p:cNvSpPr txBox="1"/>
          <p:nvPr/>
        </p:nvSpPr>
        <p:spPr>
          <a:xfrm>
            <a:off x="7315200" y="3483864"/>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9" name="Grid 5-1"/>
          <p:cNvSpPr/>
          <p:nvPr/>
        </p:nvSpPr>
        <p:spPr>
          <a:xfrm>
            <a:off x="457200" y="3867912"/>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Grid text 5-1"/>
          <p:cNvSpPr txBox="1"/>
          <p:nvPr/>
        </p:nvSpPr>
        <p:spPr>
          <a:xfrm>
            <a:off x="548640" y="3867912"/>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Data-driven (GA4)</a:t>
            </a:r>
          </a:p>
        </p:txBody>
      </p:sp>
      <p:sp>
        <p:nvSpPr>
          <p:cNvPr id="71" name="Grid 5-2"/>
          <p:cNvSpPr/>
          <p:nvPr/>
        </p:nvSpPr>
        <p:spPr>
          <a:xfrm>
            <a:off x="283464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Grid text 5-2"/>
          <p:cNvSpPr txBox="1"/>
          <p:nvPr/>
        </p:nvSpPr>
        <p:spPr>
          <a:xfrm>
            <a:off x="2926080" y="3867912"/>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73" name="Grid 5-3"/>
          <p:cNvSpPr/>
          <p:nvPr/>
        </p:nvSpPr>
        <p:spPr>
          <a:xfrm>
            <a:off x="429768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Grid text 5-3"/>
          <p:cNvSpPr txBox="1"/>
          <p:nvPr/>
        </p:nvSpPr>
        <p:spPr>
          <a:xfrm>
            <a:off x="4389120" y="3867912"/>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25 %</a:t>
            </a:r>
          </a:p>
        </p:txBody>
      </p:sp>
      <p:sp>
        <p:nvSpPr>
          <p:cNvPr id="75" name="Grid 5-4"/>
          <p:cNvSpPr/>
          <p:nvPr/>
        </p:nvSpPr>
        <p:spPr>
          <a:xfrm>
            <a:off x="576072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Grid text 5-4"/>
          <p:cNvSpPr txBox="1"/>
          <p:nvPr/>
        </p:nvSpPr>
        <p:spPr>
          <a:xfrm>
            <a:off x="5852160" y="3867912"/>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15 %</a:t>
            </a:r>
          </a:p>
        </p:txBody>
      </p:sp>
      <p:sp>
        <p:nvSpPr>
          <p:cNvPr id="77" name="Grid 5-5"/>
          <p:cNvSpPr/>
          <p:nvPr/>
        </p:nvSpPr>
        <p:spPr>
          <a:xfrm>
            <a:off x="7223760" y="3867912"/>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Grid text 5-5"/>
          <p:cNvSpPr txBox="1"/>
          <p:nvPr/>
        </p:nvSpPr>
        <p:spPr>
          <a:xfrm>
            <a:off x="7315200" y="3867912"/>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60 %</a:t>
            </a:r>
          </a:p>
        </p:txBody>
      </p:sp>
      <p:sp>
        <p:nvSpPr>
          <p:cNvPr id="79" name="Attribution catch box"/>
          <p:cNvSpPr/>
          <p:nvPr/>
        </p:nvSpPr>
        <p:spPr>
          <a:xfrm>
            <a:off x="457200" y="4315968"/>
            <a:ext cx="8229600" cy="43891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0" name="Icon Attribution catch" descr=""/>
          <p:cNvPicPr>
            <a:picLocks noChangeAspect="1"/>
          </p:cNvPicPr>
          <p:nvPr/>
        </p:nvPicPr>
        <p:blipFill>
          <a:blip r:embed="rId8"/>
          <a:stretch>
            <a:fillRect/>
          </a:stretch>
        </p:blipFill>
        <p:spPr>
          <a:xfrm>
            <a:off x="658368" y="4352544"/>
            <a:ext cx="365760" cy="365760"/>
          </a:xfrm>
          <a:prstGeom prst="rect">
            <a:avLst/>
          </a:prstGeom>
        </p:spPr>
      </p:pic>
      <p:sp>
        <p:nvSpPr>
          <p:cNvPr id="81" name="Attribution catch text"/>
          <p:cNvSpPr txBox="1"/>
          <p:nvPr/>
        </p:nvSpPr>
        <p:spPr>
          <a:xfrm>
            <a:off x="1207008" y="4315968"/>
            <a:ext cx="7315200" cy="438912"/>
          </a:xfrm>
          <a:prstGeom prst="rect">
            <a:avLst/>
          </a:prstGeom>
          <a:noFill/>
        </p:spPr>
        <p:txBody>
          <a:bodyPr wrap="square" lIns="0" rIns="0" tIns="0" bIns="0" anchor="ctr">
            <a:noAutofit/>
          </a:bodyPr>
          <a:lstStyle/>
          <a:p>
            <a:pPr algn="l">
              <a:spcAft>
                <a:spcPts val="400"/>
              </a:spcAft>
            </a:pPr>
            <a:r>
              <a:rPr sz="1200" b="1" lang="en-GB">
                <a:solidFill>
                  <a:schemeClr val="bg1"/>
                </a:solidFill>
              </a:rPr>
              <a:t>All four models share out one sale: </a:t>
            </a:r>
            <a:r>
              <a:rPr sz="1200" b="0" lang="en-GB">
                <a:solidFill>
                  <a:schemeClr val="bg1"/>
                </a:solidFill>
              </a:rPr>
              <a:t>none asks if it would have happened without ads.</a:t>
            </a:r>
          </a:p>
        </p:txBody>
      </p:sp>
      <p:sp>
        <p:nvSpPr>
          <p:cNvPr id="8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Google Analytics 4 documentation; journey and data-driven shares are illustrative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Last click: simple, common and biased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C card body"/>
          <p:cNvSpPr/>
          <p:nvPr/>
        </p:nvSpPr>
        <p:spPr>
          <a:xfrm>
            <a:off x="457200" y="1645920"/>
            <a:ext cx="404622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C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C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How it works</a:t>
            </a:r>
          </a:p>
        </p:txBody>
      </p:sp>
      <p:pic>
        <p:nvPicPr>
          <p:cNvPr id="13" name="Icon LC card" descr=""/>
          <p:cNvPicPr>
            <a:picLocks noChangeAspect="1"/>
          </p:cNvPicPr>
          <p:nvPr/>
        </p:nvPicPr>
        <p:blipFill>
          <a:blip r:embed="rId3"/>
          <a:stretch>
            <a:fillRect/>
          </a:stretch>
        </p:blipFill>
        <p:spPr>
          <a:xfrm>
            <a:off x="4064508" y="1284732"/>
            <a:ext cx="310896" cy="310896"/>
          </a:xfrm>
          <a:prstGeom prst="rect">
            <a:avLst/>
          </a:prstGeom>
        </p:spPr>
      </p:pic>
      <p:sp>
        <p:nvSpPr>
          <p:cNvPr id="14" name="LC card text"/>
          <p:cNvSpPr txBox="1"/>
          <p:nvPr/>
        </p:nvSpPr>
        <p:spPr>
          <a:xfrm>
            <a:off x="621792" y="1783080"/>
            <a:ext cx="3744468" cy="1097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100 % of the credit to the last ad clicked before the order</a:t>
            </a:r>
          </a:p>
          <a:p>
            <a:pPr algn="l" marL="182880" indent="-182880">
              <a:spcAft>
                <a:spcPts val="600"/>
              </a:spcAft>
              <a:buClr>
                <a:schemeClr val="accent1"/>
              </a:buClr>
              <a:buFont typeface="Arial"/>
              <a:buChar char="▪"/>
            </a:pPr>
            <a:r>
              <a:rPr sz="1300" b="0" lang="en-GB">
                <a:solidFill>
                  <a:schemeClr val="tx1"/>
                </a:solidFill>
              </a:rPr>
              <a:t>Easy to compute, easy to explain</a:t>
            </a:r>
          </a:p>
          <a:p>
            <a:pPr algn="l" marL="182880" indent="-182880">
              <a:spcAft>
                <a:spcPts val="600"/>
              </a:spcAft>
              <a:buClr>
                <a:schemeClr val="accent1"/>
              </a:buClr>
              <a:buFont typeface="Arial"/>
              <a:buChar char="▪"/>
            </a:pPr>
            <a:r>
              <a:rPr sz="1300" b="0" lang="en-GB">
                <a:solidFill>
                  <a:schemeClr val="tx1"/>
                </a:solidFill>
              </a:rPr>
              <a:t>GA4 and Google Ads: since 2023 only last click and data-driven are left</a:t>
            </a:r>
          </a:p>
        </p:txBody>
      </p:sp>
      <p:sp>
        <p:nvSpPr>
          <p:cNvPr id="15" name="WL card body"/>
          <p:cNvSpPr/>
          <p:nvPr/>
        </p:nvSpPr>
        <p:spPr>
          <a:xfrm>
            <a:off x="4640580" y="1645920"/>
            <a:ext cx="404622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L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L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Who wins, who loses</a:t>
            </a:r>
          </a:p>
        </p:txBody>
      </p:sp>
      <p:pic>
        <p:nvPicPr>
          <p:cNvPr id="18" name="Icon WL card" descr=""/>
          <p:cNvPicPr>
            <a:picLocks noChangeAspect="1"/>
          </p:cNvPicPr>
          <p:nvPr/>
        </p:nvPicPr>
        <p:blipFill>
          <a:blip r:embed="rId4"/>
          <a:stretch>
            <a:fillRect/>
          </a:stretch>
        </p:blipFill>
        <p:spPr>
          <a:xfrm>
            <a:off x="8247888" y="1284732"/>
            <a:ext cx="310896" cy="310896"/>
          </a:xfrm>
          <a:prstGeom prst="rect">
            <a:avLst/>
          </a:prstGeom>
        </p:spPr>
      </p:pic>
      <p:sp>
        <p:nvSpPr>
          <p:cNvPr id="19" name="WL card text"/>
          <p:cNvSpPr txBox="1"/>
          <p:nvPr/>
        </p:nvSpPr>
        <p:spPr>
          <a:xfrm>
            <a:off x="4805172" y="1783080"/>
            <a:ext cx="3744468" cy="1097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Wins: branded search, retargeting, coupon and affiliate sites</a:t>
            </a:r>
          </a:p>
          <a:p>
            <a:pPr algn="l" marL="182880" indent="-182880">
              <a:spcAft>
                <a:spcPts val="600"/>
              </a:spcAft>
              <a:buClr>
                <a:schemeClr val="accent1"/>
              </a:buClr>
              <a:buFont typeface="Arial"/>
              <a:buChar char="▪"/>
            </a:pPr>
            <a:r>
              <a:rPr sz="1300" b="0" lang="en-GB">
                <a:solidFill>
                  <a:schemeClr val="tx1"/>
                </a:solidFill>
              </a:rPr>
              <a:t>Loses: TV, online video, social, posters</a:t>
            </a:r>
          </a:p>
          <a:p>
            <a:pPr algn="l" marL="182880" indent="-182880">
              <a:spcAft>
                <a:spcPts val="600"/>
              </a:spcAft>
              <a:buClr>
                <a:schemeClr val="accent1"/>
              </a:buClr>
              <a:buFont typeface="Arial"/>
              <a:buChar char="▪"/>
            </a:pPr>
            <a:r>
              <a:rPr sz="1300" b="0" lang="en-GB">
                <a:solidFill>
                  <a:schemeClr val="tx1"/>
                </a:solidFill>
              </a:rPr>
              <a:t>Ignores: views without a click, offline sales</a:t>
            </a:r>
          </a:p>
        </p:txBody>
      </p:sp>
      <p:sp>
        <p:nvSpPr>
          <p:cNvPr id="20" name="Catch row 1"/>
          <p:cNvSpPr/>
          <p:nvPr/>
        </p:nvSpPr>
        <p:spPr>
          <a:xfrm>
            <a:off x="457200" y="31546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tch bar 1"/>
          <p:cNvSpPr/>
          <p:nvPr/>
        </p:nvSpPr>
        <p:spPr>
          <a:xfrm>
            <a:off x="457200" y="31546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atch text 1"/>
          <p:cNvSpPr txBox="1"/>
          <p:nvPr/>
        </p:nvSpPr>
        <p:spPr>
          <a:xfrm>
            <a:off x="658368" y="3154680"/>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catch: </a:t>
            </a:r>
            <a:r>
              <a:rPr sz="1200" b="0" lang="en-GB">
                <a:solidFill>
                  <a:schemeClr val="tx1"/>
                </a:solidFill>
              </a:rPr>
              <a:t>the last click often comes from people who had already decided to buy</a:t>
            </a:r>
          </a:p>
        </p:txBody>
      </p:sp>
      <p:sp>
        <p:nvSpPr>
          <p:cNvPr id="23" name="Catch row 2"/>
          <p:cNvSpPr/>
          <p:nvPr/>
        </p:nvSpPr>
        <p:spPr>
          <a:xfrm>
            <a:off x="457200" y="368503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tch bar 2"/>
          <p:cNvSpPr/>
          <p:nvPr/>
        </p:nvSpPr>
        <p:spPr>
          <a:xfrm>
            <a:off x="457200" y="368503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tch text 2"/>
          <p:cNvSpPr txBox="1"/>
          <p:nvPr/>
        </p:nvSpPr>
        <p:spPr>
          <a:xfrm>
            <a:off x="658368" y="3685032"/>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Example: </a:t>
            </a:r>
            <a:r>
              <a:rPr sz="1200" b="0" lang="en-GB">
                <a:solidFill>
                  <a:schemeClr val="tx1"/>
                </a:solidFill>
              </a:rPr>
              <a:t>after a TV spot, a viewer searches the brand name: search gets the sale, TV gets nothing</a:t>
            </a:r>
          </a:p>
        </p:txBody>
      </p:sp>
      <p:sp>
        <p:nvSpPr>
          <p:cNvPr id="26" name="Catch row 3"/>
          <p:cNvSpPr/>
          <p:nvPr/>
        </p:nvSpPr>
        <p:spPr>
          <a:xfrm>
            <a:off x="457200" y="421538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tch bar 3"/>
          <p:cNvSpPr/>
          <p:nvPr/>
        </p:nvSpPr>
        <p:spPr>
          <a:xfrm>
            <a:off x="457200" y="421538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atch text 3"/>
          <p:cNvSpPr txBox="1"/>
          <p:nvPr/>
        </p:nvSpPr>
        <p:spPr>
          <a:xfrm>
            <a:off x="658368" y="4215384"/>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result: </a:t>
            </a:r>
            <a:r>
              <a:rPr sz="1200" b="0" lang="en-GB">
                <a:solidFill>
                  <a:schemeClr val="tx1"/>
                </a:solidFill>
              </a:rPr>
              <a:t>budgets drift to the end of the funnel, and the demand that feeds it slowly dries up</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Search Engine Land 2023 (Google Ads and GA4); Li &amp; Kannan 2014 (Journal of Marketing Research)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Six problems of attribution models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blem 1 tile"/>
          <p:cNvSpPr/>
          <p:nvPr/>
        </p:nvSpPr>
        <p:spPr>
          <a:xfrm>
            <a:off x="45720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roblem 1" descr=""/>
          <p:cNvPicPr>
            <a:picLocks noChangeAspect="1"/>
          </p:cNvPicPr>
          <p:nvPr/>
        </p:nvPicPr>
        <p:blipFill>
          <a:blip r:embed="rId3"/>
          <a:stretch>
            <a:fillRect/>
          </a:stretch>
        </p:blipFill>
        <p:spPr>
          <a:xfrm>
            <a:off x="594360" y="1371600"/>
            <a:ext cx="365760" cy="365760"/>
          </a:xfrm>
          <a:prstGeom prst="rect">
            <a:avLst/>
          </a:prstGeom>
        </p:spPr>
      </p:pic>
      <p:sp>
        <p:nvSpPr>
          <p:cNvPr id="12" name="Proble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Correlation only</a:t>
            </a:r>
          </a:p>
        </p:txBody>
      </p:sp>
      <p:sp>
        <p:nvSpPr>
          <p:cNvPr id="13" name="Problem 1 text"/>
          <p:cNvSpPr txBox="1"/>
          <p:nvPr/>
        </p:nvSpPr>
        <p:spPr>
          <a:xfrm>
            <a:off x="59436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Ads target people who buy anyway</a:t>
            </a:r>
          </a:p>
          <a:p>
            <a:pPr algn="l">
              <a:spcAft>
                <a:spcPts val="400"/>
              </a:spcAft>
            </a:pPr>
            <a:r>
              <a:rPr sz="1200" b="0" lang="en-GB">
                <a:solidFill>
                  <a:schemeClr val="tx1"/>
                </a:solidFill>
              </a:rPr>
              <a:t>Credit is not extra sales</a:t>
            </a:r>
          </a:p>
        </p:txBody>
      </p:sp>
      <p:sp>
        <p:nvSpPr>
          <p:cNvPr id="14" name="Problem 2 tile"/>
          <p:cNvSpPr/>
          <p:nvPr/>
        </p:nvSpPr>
        <p:spPr>
          <a:xfrm>
            <a:off x="324612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Problem 2" descr=""/>
          <p:cNvPicPr>
            <a:picLocks noChangeAspect="1"/>
          </p:cNvPicPr>
          <p:nvPr/>
        </p:nvPicPr>
        <p:blipFill>
          <a:blip r:embed="rId4"/>
          <a:stretch>
            <a:fillRect/>
          </a:stretch>
        </p:blipFill>
        <p:spPr>
          <a:xfrm>
            <a:off x="3383280" y="1371600"/>
            <a:ext cx="365760" cy="365760"/>
          </a:xfrm>
          <a:prstGeom prst="rect">
            <a:avLst/>
          </a:prstGeom>
        </p:spPr>
      </p:pic>
      <p:sp>
        <p:nvSpPr>
          <p:cNvPr id="16" name="Proble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Tracking gaps</a:t>
            </a:r>
          </a:p>
        </p:txBody>
      </p:sp>
      <p:sp>
        <p:nvSpPr>
          <p:cNvPr id="17" name="Problem 2 text"/>
          <p:cNvSpPr txBox="1"/>
          <p:nvPr/>
        </p:nvSpPr>
        <p:spPr>
          <a:xfrm>
            <a:off x="338328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Cookie consent, ad blockers, Apple's ATT</a:t>
            </a:r>
          </a:p>
          <a:p>
            <a:pPr algn="l">
              <a:spcAft>
                <a:spcPts val="400"/>
              </a:spcAft>
            </a:pPr>
            <a:r>
              <a:rPr sz="1200" b="0" lang="en-GB">
                <a:solidFill>
                  <a:schemeClr val="tx1"/>
                </a:solidFill>
              </a:rPr>
              <a:t>2021: 4 % of US iPhone users allowed tracking</a:t>
            </a:r>
          </a:p>
        </p:txBody>
      </p:sp>
      <p:sp>
        <p:nvSpPr>
          <p:cNvPr id="18" name="Problem 3 tile"/>
          <p:cNvSpPr/>
          <p:nvPr/>
        </p:nvSpPr>
        <p:spPr>
          <a:xfrm>
            <a:off x="603504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roblem 3" descr=""/>
          <p:cNvPicPr>
            <a:picLocks noChangeAspect="1"/>
          </p:cNvPicPr>
          <p:nvPr/>
        </p:nvPicPr>
        <p:blipFill>
          <a:blip r:embed="rId5"/>
          <a:stretch>
            <a:fillRect/>
          </a:stretch>
        </p:blipFill>
        <p:spPr>
          <a:xfrm>
            <a:off x="6172200" y="1371600"/>
            <a:ext cx="365760" cy="365760"/>
          </a:xfrm>
          <a:prstGeom prst="rect">
            <a:avLst/>
          </a:prstGeom>
        </p:spPr>
      </p:pic>
      <p:sp>
        <p:nvSpPr>
          <p:cNvPr id="20" name="Proble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Offline is invisible</a:t>
            </a:r>
          </a:p>
        </p:txBody>
      </p:sp>
      <p:sp>
        <p:nvSpPr>
          <p:cNvPr id="21" name="Problem 3 text"/>
          <p:cNvSpPr txBox="1"/>
          <p:nvPr/>
        </p:nvSpPr>
        <p:spPr>
          <a:xfrm>
            <a:off x="617220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TV, radio, posters, word of mouth</a:t>
            </a:r>
          </a:p>
          <a:p>
            <a:pPr algn="l">
              <a:spcAft>
                <a:spcPts val="400"/>
              </a:spcAft>
            </a:pPr>
            <a:r>
              <a:rPr sz="1200" b="0" lang="en-GB">
                <a:solidFill>
                  <a:schemeClr val="tx1"/>
                </a:solidFill>
              </a:rPr>
              <a:t>Sales in shops have no click</a:t>
            </a:r>
          </a:p>
        </p:txBody>
      </p:sp>
      <p:sp>
        <p:nvSpPr>
          <p:cNvPr id="22" name="Problem 4 tile"/>
          <p:cNvSpPr/>
          <p:nvPr/>
        </p:nvSpPr>
        <p:spPr>
          <a:xfrm>
            <a:off x="45720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Problem 4" descr=""/>
          <p:cNvPicPr>
            <a:picLocks noChangeAspect="1"/>
          </p:cNvPicPr>
          <p:nvPr/>
        </p:nvPicPr>
        <p:blipFill>
          <a:blip r:embed="rId6"/>
          <a:stretch>
            <a:fillRect/>
          </a:stretch>
        </p:blipFill>
        <p:spPr>
          <a:xfrm>
            <a:off x="594360" y="2944368"/>
            <a:ext cx="365760" cy="365760"/>
          </a:xfrm>
          <a:prstGeom prst="rect">
            <a:avLst/>
          </a:prstGeom>
        </p:spPr>
      </p:pic>
      <p:sp>
        <p:nvSpPr>
          <p:cNvPr id="24" name="Problem 4 heading"/>
          <p:cNvSpPr txBox="1"/>
          <p:nvPr/>
        </p:nvSpPr>
        <p:spPr>
          <a:xfrm>
            <a:off x="105156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Double counting</a:t>
            </a:r>
          </a:p>
        </p:txBody>
      </p:sp>
      <p:sp>
        <p:nvSpPr>
          <p:cNvPr id="25" name="Problem 4 text"/>
          <p:cNvSpPr txBox="1"/>
          <p:nvPr/>
        </p:nvSpPr>
        <p:spPr>
          <a:xfrm>
            <a:off x="59436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Each platform counts its own orders</a:t>
            </a:r>
          </a:p>
          <a:p>
            <a:pPr algn="l">
              <a:spcAft>
                <a:spcPts val="400"/>
              </a:spcAft>
            </a:pPr>
            <a:r>
              <a:rPr sz="1200" b="0" lang="en-GB">
                <a:solidFill>
                  <a:schemeClr val="tx1"/>
                </a:solidFill>
              </a:rPr>
              <a:t>Sum of reports &gt; real orders</a:t>
            </a:r>
          </a:p>
        </p:txBody>
      </p:sp>
      <p:sp>
        <p:nvSpPr>
          <p:cNvPr id="26" name="Problem 5 tile"/>
          <p:cNvSpPr/>
          <p:nvPr/>
        </p:nvSpPr>
        <p:spPr>
          <a:xfrm>
            <a:off x="324612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Problem 5" descr=""/>
          <p:cNvPicPr>
            <a:picLocks noChangeAspect="1"/>
          </p:cNvPicPr>
          <p:nvPr/>
        </p:nvPicPr>
        <p:blipFill>
          <a:blip r:embed="rId7"/>
          <a:stretch>
            <a:fillRect/>
          </a:stretch>
        </p:blipFill>
        <p:spPr>
          <a:xfrm>
            <a:off x="3383280" y="2944368"/>
            <a:ext cx="365760" cy="365760"/>
          </a:xfrm>
          <a:prstGeom prst="rect">
            <a:avLst/>
          </a:prstGeom>
        </p:spPr>
      </p:pic>
      <p:sp>
        <p:nvSpPr>
          <p:cNvPr id="28" name="Problem 5 heading"/>
          <p:cNvSpPr txBox="1"/>
          <p:nvPr/>
        </p:nvSpPr>
        <p:spPr>
          <a:xfrm>
            <a:off x="384048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Click fraud</a:t>
            </a:r>
          </a:p>
        </p:txBody>
      </p:sp>
      <p:sp>
        <p:nvSpPr>
          <p:cNvPr id="29" name="Problem 5 text"/>
          <p:cNvSpPr txBox="1"/>
          <p:nvPr/>
        </p:nvSpPr>
        <p:spPr>
          <a:xfrm>
            <a:off x="338328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Affiliates claim sales that come anyway</a:t>
            </a:r>
          </a:p>
          <a:p>
            <a:pPr algn="l">
              <a:spcAft>
                <a:spcPts val="400"/>
              </a:spcAft>
            </a:pPr>
            <a:r>
              <a:rPr sz="1200" b="0" lang="en-GB">
                <a:solidFill>
                  <a:schemeClr val="tx1"/>
                </a:solidFill>
              </a:rPr>
              <a:t>Uber: fake clicks on free installs</a:t>
            </a:r>
          </a:p>
        </p:txBody>
      </p:sp>
      <p:sp>
        <p:nvSpPr>
          <p:cNvPr id="30" name="Problem 6 tile"/>
          <p:cNvSpPr/>
          <p:nvPr/>
        </p:nvSpPr>
        <p:spPr>
          <a:xfrm>
            <a:off x="603504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Problem 6" descr=""/>
          <p:cNvPicPr>
            <a:picLocks noChangeAspect="1"/>
          </p:cNvPicPr>
          <p:nvPr/>
        </p:nvPicPr>
        <p:blipFill>
          <a:blip r:embed="rId8"/>
          <a:stretch>
            <a:fillRect/>
          </a:stretch>
        </p:blipFill>
        <p:spPr>
          <a:xfrm>
            <a:off x="6172200" y="2944368"/>
            <a:ext cx="365760" cy="365760"/>
          </a:xfrm>
          <a:prstGeom prst="rect">
            <a:avLst/>
          </a:prstGeom>
        </p:spPr>
      </p:pic>
      <p:sp>
        <p:nvSpPr>
          <p:cNvPr id="32" name="Problem 6 heading"/>
          <p:cNvSpPr txBox="1"/>
          <p:nvPr/>
        </p:nvSpPr>
        <p:spPr>
          <a:xfrm>
            <a:off x="662940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Many devices</a:t>
            </a:r>
          </a:p>
        </p:txBody>
      </p:sp>
      <p:sp>
        <p:nvSpPr>
          <p:cNvPr id="33" name="Problem 6 text"/>
          <p:cNvSpPr txBox="1"/>
          <p:nvPr/>
        </p:nvSpPr>
        <p:spPr>
          <a:xfrm>
            <a:off x="617220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Phone on the sofa, laptop at work</a:t>
            </a:r>
          </a:p>
          <a:p>
            <a:pPr algn="l">
              <a:spcAft>
                <a:spcPts val="400"/>
              </a:spcAft>
            </a:pPr>
            <a:r>
              <a:rPr sz="1200" b="0" lang="en-GB">
                <a:solidFill>
                  <a:schemeClr val="tx1"/>
                </a:solidFill>
              </a:rPr>
              <a:t>One buyer looks like three</a:t>
            </a:r>
          </a:p>
        </p:txBody>
      </p:sp>
      <p:sp>
        <p:nvSpPr>
          <p:cNvPr id="34" name="Remedy box"/>
          <p:cNvSpPr/>
          <p:nvPr/>
        </p:nvSpPr>
        <p:spPr>
          <a:xfrm>
            <a:off x="457200" y="438912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emedy" descr=""/>
          <p:cNvPicPr>
            <a:picLocks noChangeAspect="1"/>
          </p:cNvPicPr>
          <p:nvPr/>
        </p:nvPicPr>
        <p:blipFill>
          <a:blip r:embed="rId9"/>
          <a:stretch>
            <a:fillRect/>
          </a:stretch>
        </p:blipFill>
        <p:spPr>
          <a:xfrm>
            <a:off x="658368" y="4398264"/>
            <a:ext cx="365760" cy="365760"/>
          </a:xfrm>
          <a:prstGeom prst="rect">
            <a:avLst/>
          </a:prstGeom>
        </p:spPr>
      </p:pic>
      <p:sp>
        <p:nvSpPr>
          <p:cNvPr id="36" name="Remedy text"/>
          <p:cNvSpPr txBox="1"/>
          <p:nvPr/>
        </p:nvSpPr>
        <p:spPr>
          <a:xfrm>
            <a:off x="1207008" y="438912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The remedy: </a:t>
            </a:r>
            <a:r>
              <a:rPr sz="1200" b="0" lang="en-GB">
                <a:solidFill>
                  <a:schemeClr val="tx1"/>
                </a:solidFill>
              </a:rPr>
              <a:t>experiments (ads off in some regions) and MMM, which needs no tracking.</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Gordon et al. 2019 (Marketing Science); Flurry Analytics 2021; WARC 2019 (Uber)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When the ads were switched off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stat 1 bar"/>
          <p:cNvSpPr/>
          <p:nvPr/>
        </p:nvSpPr>
        <p:spPr>
          <a:xfrm>
            <a:off x="457200" y="1234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st stat 1 figure"/>
          <p:cNvSpPr txBox="1"/>
          <p:nvPr/>
        </p:nvSpPr>
        <p:spPr>
          <a:xfrm>
            <a:off x="640080" y="1234440"/>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99.5 %</a:t>
            </a:r>
          </a:p>
        </p:txBody>
      </p:sp>
      <p:sp>
        <p:nvSpPr>
          <p:cNvPr id="13" name="Test stat 1 label"/>
          <p:cNvSpPr txBox="1"/>
          <p:nvPr/>
        </p:nvSpPr>
        <p:spPr>
          <a:xfrm>
            <a:off x="2697480" y="1234440"/>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eBay: </a:t>
            </a:r>
            <a:r>
              <a:rPr sz="1200" b="0" lang="en-GB">
                <a:solidFill>
                  <a:schemeClr val="tx1"/>
                </a:solidFill>
              </a:rPr>
              <a:t>brand-keyword traffic that came back through the free links when the ads were paused</a:t>
            </a:r>
          </a:p>
        </p:txBody>
      </p:sp>
      <p:sp>
        <p:nvSpPr>
          <p:cNvPr id="14" name="Test row 2"/>
          <p:cNvSpPr/>
          <p:nvPr/>
        </p:nvSpPr>
        <p:spPr>
          <a:xfrm>
            <a:off x="457200" y="1865376"/>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stat 2 bar"/>
          <p:cNvSpPr/>
          <p:nvPr/>
        </p:nvSpPr>
        <p:spPr>
          <a:xfrm>
            <a:off x="457200" y="1865376"/>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st stat 2 figure"/>
          <p:cNvSpPr txBox="1"/>
          <p:nvPr/>
        </p:nvSpPr>
        <p:spPr>
          <a:xfrm>
            <a:off x="640080" y="1865376"/>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$100 m</a:t>
            </a:r>
          </a:p>
        </p:txBody>
      </p:sp>
      <p:sp>
        <p:nvSpPr>
          <p:cNvPr id="17" name="Test stat 2 label"/>
          <p:cNvSpPr txBox="1"/>
          <p:nvPr/>
        </p:nvSpPr>
        <p:spPr>
          <a:xfrm>
            <a:off x="2697480" y="1865376"/>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Uber: </a:t>
            </a:r>
            <a:r>
              <a:rPr sz="1200" b="0" lang="en-GB">
                <a:solidFill>
                  <a:schemeClr val="tx1"/>
                </a:solidFill>
              </a:rPr>
              <a:t>of $150 m yearly performance ads switched off, with no change in app installs</a:t>
            </a:r>
          </a:p>
        </p:txBody>
      </p:sp>
      <p:sp>
        <p:nvSpPr>
          <p:cNvPr id="18" name="Test row 3"/>
          <p:cNvSpPr/>
          <p:nvPr/>
        </p:nvSpPr>
        <p:spPr>
          <a:xfrm>
            <a:off x="457200" y="2496312"/>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 3 bar"/>
          <p:cNvSpPr/>
          <p:nvPr/>
        </p:nvSpPr>
        <p:spPr>
          <a:xfrm>
            <a:off x="457200" y="2496312"/>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st stat 3 figure"/>
          <p:cNvSpPr txBox="1"/>
          <p:nvPr/>
        </p:nvSpPr>
        <p:spPr>
          <a:xfrm>
            <a:off x="640080" y="2496312"/>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$200 m</a:t>
            </a:r>
          </a:p>
        </p:txBody>
      </p:sp>
      <p:sp>
        <p:nvSpPr>
          <p:cNvPr id="21" name="Test stat 3 label"/>
          <p:cNvSpPr txBox="1"/>
          <p:nvPr/>
        </p:nvSpPr>
        <p:spPr>
          <a:xfrm>
            <a:off x="2697480" y="2496312"/>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P&amp;G: </a:t>
            </a:r>
            <a:r>
              <a:rPr sz="1200" b="0" lang="en-GB">
                <a:solidFill>
                  <a:schemeClr val="tx1"/>
                </a:solidFill>
              </a:rPr>
              <a:t>of digital ads cut in 2017; reach rose about 10 %</a:t>
            </a:r>
          </a:p>
        </p:txBody>
      </p:sp>
      <p:sp>
        <p:nvSpPr>
          <p:cNvPr id="22" name="Test row 4"/>
          <p:cNvSpPr/>
          <p:nvPr/>
        </p:nvSpPr>
        <p:spPr>
          <a:xfrm>
            <a:off x="457200" y="3127248"/>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stat 4 bar"/>
          <p:cNvSpPr/>
          <p:nvPr/>
        </p:nvSpPr>
        <p:spPr>
          <a:xfrm>
            <a:off x="457200" y="3127248"/>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st stat 4 figure"/>
          <p:cNvSpPr txBox="1"/>
          <p:nvPr/>
        </p:nvSpPr>
        <p:spPr>
          <a:xfrm>
            <a:off x="640080" y="3127248"/>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95 %</a:t>
            </a:r>
          </a:p>
        </p:txBody>
      </p:sp>
      <p:sp>
        <p:nvSpPr>
          <p:cNvPr id="25" name="Test stat 4 label"/>
          <p:cNvSpPr txBox="1"/>
          <p:nvPr/>
        </p:nvSpPr>
        <p:spPr>
          <a:xfrm>
            <a:off x="2697480" y="3127248"/>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Airbnb: </a:t>
            </a:r>
            <a:r>
              <a:rPr sz="1200" b="0" lang="en-GB">
                <a:solidFill>
                  <a:schemeClr val="tx1"/>
                </a:solidFill>
              </a:rPr>
              <a:t>of web traffic kept in 2020 after cutting marketing by more than half</a:t>
            </a:r>
          </a:p>
        </p:txBody>
      </p:sp>
      <p:sp>
        <p:nvSpPr>
          <p:cNvPr id="26" name="Test row 5"/>
          <p:cNvSpPr/>
          <p:nvPr/>
        </p:nvSpPr>
        <p:spPr>
          <a:xfrm>
            <a:off x="457200" y="3758184"/>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st stat 5 bar"/>
          <p:cNvSpPr/>
          <p:nvPr/>
        </p:nvSpPr>
        <p:spPr>
          <a:xfrm>
            <a:off x="457200" y="3758184"/>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st stat 5 figure"/>
          <p:cNvSpPr txBox="1"/>
          <p:nvPr/>
        </p:nvSpPr>
        <p:spPr>
          <a:xfrm>
            <a:off x="640080" y="3758184"/>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15</a:t>
            </a:r>
          </a:p>
        </p:txBody>
      </p:sp>
      <p:sp>
        <p:nvSpPr>
          <p:cNvPr id="29" name="Test stat 5 label"/>
          <p:cNvSpPr txBox="1"/>
          <p:nvPr/>
        </p:nvSpPr>
        <p:spPr>
          <a:xfrm>
            <a:off x="2697480" y="3758184"/>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Facebook experiments: </a:t>
            </a:r>
            <a:r>
              <a:rPr sz="1200" b="0" lang="en-GB">
                <a:solidFill>
                  <a:schemeClr val="tx1"/>
                </a:solidFill>
              </a:rPr>
              <a:t>click-based methods often missed the true lift, mostly overstating it</a:t>
            </a:r>
          </a:p>
        </p:txBody>
      </p:sp>
      <p:sp>
        <p:nvSpPr>
          <p:cNvPr id="30" name="Test lesson box"/>
          <p:cNvSpPr/>
          <p:nvPr/>
        </p:nvSpPr>
        <p:spPr>
          <a:xfrm>
            <a:off x="457200" y="4434840"/>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st lesson" descr=""/>
          <p:cNvPicPr>
            <a:picLocks noChangeAspect="1"/>
          </p:cNvPicPr>
          <p:nvPr/>
        </p:nvPicPr>
        <p:blipFill>
          <a:blip r:embed="rId3"/>
          <a:stretch>
            <a:fillRect/>
          </a:stretch>
        </p:blipFill>
        <p:spPr>
          <a:xfrm>
            <a:off x="658368" y="4434840"/>
            <a:ext cx="365760" cy="365760"/>
          </a:xfrm>
          <a:prstGeom prst="rect">
            <a:avLst/>
          </a:prstGeom>
        </p:spPr>
      </p:pic>
      <p:sp>
        <p:nvSpPr>
          <p:cNvPr id="32" name="Test lesson text"/>
          <p:cNvSpPr txBox="1"/>
          <p:nvPr/>
        </p:nvSpPr>
        <p:spPr>
          <a:xfrm>
            <a:off x="1207008" y="4434840"/>
            <a:ext cx="7315200"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Lesson: </a:t>
            </a:r>
            <a:r>
              <a:rPr sz="1200" b="0" lang="en-GB">
                <a:solidFill>
                  <a:schemeClr val="bg1"/>
                </a:solidFill>
              </a:rPr>
              <a:t>test what the ads add; do not trust the click report.</a:t>
            </a:r>
          </a:p>
        </p:txBody>
      </p:sp>
      <p:sp>
        <p:nvSpPr>
          <p:cNvPr id="33" name="Sources"/>
          <p:cNvSpPr txBox="1"/>
          <p:nvPr/>
        </p:nvSpPr>
        <p:spPr>
          <a:xfrm>
            <a:off x="457200" y="4837176"/>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Blake, Nosko &amp; Tadelis 2015; WARC 2019; Adweek 2018; Campaign Asia 2021; Gordon et al. 2019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7 · base and incremental sales, the equation, adstock, saturation, seasonality</a:t>
            </a:r>
          </a:p>
        </p:txBody>
      </p:sp>
      <p:sp>
        <p:nvSpPr>
          <p:cNvPr id="3" name="Title 2"/>
          <p:cNvSpPr>
            <a:spLocks noGrp="1"/>
          </p:cNvSpPr>
          <p:nvPr>
            <p:ph type="ctrTitle"/>
          </p:nvPr>
        </p:nvSpPr>
        <p:spPr/>
        <p:txBody>
          <a:bodyPr/>
          <a:lstStyle/>
          <a:p>
            <a:r>
              <a:rPr sz="1600" lang="en-GB"/>
              <a:t>How MMM works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Sales = base + incremental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decomposition.png" descr="Stacked area chart of weekly sales in Germany in 2025, split into a base of about 300 to 800 thousand units and a media part on top; the dashed line of actual sales follows the total closely, with a Christmas peak"/>
          <p:cNvPicPr>
            <a:picLocks noChangeAspect="1"/>
          </p:cNvPicPr>
          <p:nvPr/>
        </p:nvPicPr>
        <p:blipFill>
          <a:blip r:embed="rId3"/>
          <a:stretch>
            <a:fillRect/>
          </a:stretch>
        </p:blipFill>
        <p:spPr>
          <a:xfrm>
            <a:off x="457200" y="1234440"/>
            <a:ext cx="4937760" cy="3200400"/>
          </a:xfrm>
          <a:prstGeom prst="rect">
            <a:avLst/>
          </a:prstGeom>
        </p:spPr>
      </p:pic>
      <p:sp>
        <p:nvSpPr>
          <p:cNvPr id="11" name="Decomp row 1"/>
          <p:cNvSpPr/>
          <p:nvPr/>
        </p:nvSpPr>
        <p:spPr>
          <a:xfrm>
            <a:off x="5532120" y="12344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comp bar 1"/>
          <p:cNvSpPr/>
          <p:nvPr/>
        </p:nvSpPr>
        <p:spPr>
          <a:xfrm>
            <a:off x="5532120" y="12344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comp text 1"/>
          <p:cNvSpPr txBox="1"/>
          <p:nvPr/>
        </p:nvSpPr>
        <p:spPr>
          <a:xfrm>
            <a:off x="5715000" y="12344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Base: </a:t>
            </a:r>
            <a:r>
              <a:rPr sz="1200" b="0" lang="en-GB">
                <a:solidFill>
                  <a:schemeClr val="tx1"/>
                </a:solidFill>
              </a:rPr>
              <a:t>what would sell without media: price, distribution, season, trend</a:t>
            </a:r>
          </a:p>
        </p:txBody>
      </p:sp>
      <p:sp>
        <p:nvSpPr>
          <p:cNvPr id="14" name="Decomp row 2"/>
          <p:cNvSpPr/>
          <p:nvPr/>
        </p:nvSpPr>
        <p:spPr>
          <a:xfrm>
            <a:off x="5532120" y="21488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comp bar 2"/>
          <p:cNvSpPr/>
          <p:nvPr/>
        </p:nvSpPr>
        <p:spPr>
          <a:xfrm>
            <a:off x="5532120" y="21488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comp text 2"/>
          <p:cNvSpPr txBox="1"/>
          <p:nvPr/>
        </p:nvSpPr>
        <p:spPr>
          <a:xfrm>
            <a:off x="5715000" y="21488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Incremental: </a:t>
            </a:r>
            <a:r>
              <a:rPr sz="1200" b="0" lang="en-GB">
                <a:solidFill>
                  <a:schemeClr val="tx1"/>
                </a:solidFill>
              </a:rPr>
              <a:t>what media add on top, channel by channel</a:t>
            </a:r>
          </a:p>
        </p:txBody>
      </p:sp>
      <p:sp>
        <p:nvSpPr>
          <p:cNvPr id="17" name="Decomp row 3"/>
          <p:cNvSpPr/>
          <p:nvPr/>
        </p:nvSpPr>
        <p:spPr>
          <a:xfrm>
            <a:off x="5532120" y="30632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comp bar 3"/>
          <p:cNvSpPr/>
          <p:nvPr/>
        </p:nvSpPr>
        <p:spPr>
          <a:xfrm>
            <a:off x="5532120" y="30632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ecomp text 3"/>
          <p:cNvSpPr txBox="1"/>
          <p:nvPr/>
        </p:nvSpPr>
        <p:spPr>
          <a:xfrm>
            <a:off x="5715000" y="30632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Contribution: </a:t>
            </a:r>
            <a:r>
              <a:rPr sz="1200" b="0" lang="en-GB">
                <a:solidFill>
                  <a:schemeClr val="tx1"/>
                </a:solidFill>
              </a:rPr>
              <a:t>the sales that would disappear if a channel were switched off</a:t>
            </a:r>
          </a:p>
        </p:txBody>
      </p:sp>
      <p:sp>
        <p:nvSpPr>
          <p:cNvPr id="20" name="Decomp share box"/>
          <p:cNvSpPr/>
          <p:nvPr/>
        </p:nvSpPr>
        <p:spPr>
          <a:xfrm>
            <a:off x="5532120" y="3977640"/>
            <a:ext cx="315468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comp share text"/>
          <p:cNvSpPr txBox="1"/>
          <p:nvPr/>
        </p:nvSpPr>
        <p:spPr>
          <a:xfrm>
            <a:off x="5669280" y="3977640"/>
            <a:ext cx="29718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Naive model: </a:t>
            </a:r>
            <a:r>
              <a:rPr sz="1200" b="0" lang="en-GB">
                <a:solidFill>
                  <a:schemeClr val="bg1"/>
                </a:solidFill>
              </a:rPr>
              <a:t>media ≈ 41 %, too high</a:t>
            </a:r>
          </a:p>
        </p:txBody>
      </p:sp>
      <p:sp>
        <p:nvSpPr>
          <p:cNvPr id="22" name="Decomp caption"/>
          <p:cNvSpPr txBox="1"/>
          <p:nvPr/>
        </p:nvSpPr>
        <p:spPr>
          <a:xfrm>
            <a:off x="457200" y="4526280"/>
            <a:ext cx="8229600" cy="292608"/>
          </a:xfrm>
          <a:prstGeom prst="rect">
            <a:avLst/>
          </a:prstGeom>
          <a:noFill/>
        </p:spPr>
        <p:txBody>
          <a:bodyPr wrap="square" lIns="0" rIns="0" tIns="0" bIns="0" anchor="ctr">
            <a:noAutofit/>
          </a:bodyPr>
          <a:lstStyle/>
          <a:p>
            <a:pPr algn="l">
              <a:spcAft>
                <a:spcPts val="400"/>
              </a:spcAft>
            </a:pPr>
            <a:r>
              <a:rPr sz="1100" b="0" lang="en-GB">
                <a:solidFill>
                  <a:srgbClr val="595959"/>
                </a:solidFill>
              </a:rPr>
              <a:t>Simulated data, Germany, 2025, naive regression: budgets follow Christmas demand (see the pitfalls).</a:t>
            </a:r>
          </a:p>
        </p:txBody>
      </p:sp>
      <p:sp>
        <p:nvSpPr>
          <p:cNvPr id="2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Hanssens et al. 2001; Jin et al. 2017; own calculation on simulated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regression behind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ipeline step 1"/>
          <p:cNvSpPr/>
          <p:nvPr/>
        </p:nvSpPr>
        <p:spPr>
          <a:xfrm>
            <a:off x="457200" y="1234440"/>
            <a:ext cx="1733702" cy="603504"/>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Spend per</a:t>
            </a:r>
            <a:br/>
            <a:r>
              <a:rPr sz="1100" b="1" lang="en-GB">
                <a:solidFill>
                  <a:schemeClr val="tx2"/>
                </a:solidFill>
              </a:rPr>
              <a:t>channel</a:t>
            </a:r>
          </a:p>
        </p:txBody>
      </p:sp>
      <p:sp>
        <p:nvSpPr>
          <p:cNvPr id="11" name="Pipeline step 2"/>
          <p:cNvSpPr/>
          <p:nvPr/>
        </p:nvSpPr>
        <p:spPr>
          <a:xfrm>
            <a:off x="2081174"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Adstock:</a:t>
            </a:r>
            <a:br/>
            <a:r>
              <a:rPr sz="1100" b="1" lang="en-GB">
                <a:solidFill>
                  <a:schemeClr val="tx2"/>
                </a:solidFill>
              </a:rPr>
              <a:t>carryover</a:t>
            </a:r>
          </a:p>
        </p:txBody>
      </p:sp>
      <p:sp>
        <p:nvSpPr>
          <p:cNvPr id="12" name="Pipeline step 3"/>
          <p:cNvSpPr/>
          <p:nvPr/>
        </p:nvSpPr>
        <p:spPr>
          <a:xfrm>
            <a:off x="3705149"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Saturation:</a:t>
            </a:r>
            <a:br/>
            <a:r>
              <a:rPr sz="1100" b="1" lang="en-GB">
                <a:solidFill>
                  <a:schemeClr val="tx2"/>
                </a:solidFill>
              </a:rPr>
              <a:t>less per €</a:t>
            </a:r>
          </a:p>
        </p:txBody>
      </p:sp>
      <p:sp>
        <p:nvSpPr>
          <p:cNvPr id="13" name="Pipeline step 4"/>
          <p:cNvSpPr/>
          <p:nvPr/>
        </p:nvSpPr>
        <p:spPr>
          <a:xfrm>
            <a:off x="5329123"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 β:</a:t>
            </a:r>
            <a:br/>
            <a:r>
              <a:rPr sz="1100" b="1" lang="en-GB">
                <a:solidFill>
                  <a:schemeClr val="tx2"/>
                </a:solidFill>
              </a:rPr>
              <a:t>the effect</a:t>
            </a:r>
          </a:p>
        </p:txBody>
      </p:sp>
      <p:sp>
        <p:nvSpPr>
          <p:cNvPr id="14" name="Pipeline step 5"/>
          <p:cNvSpPr/>
          <p:nvPr/>
        </p:nvSpPr>
        <p:spPr>
          <a:xfrm>
            <a:off x="6953098"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Sales</a:t>
            </a:r>
            <a:br/>
            <a:r>
              <a:rPr sz="1100" b="1" lang="en-GB">
                <a:solidFill>
                  <a:schemeClr val="tx2"/>
                </a:solidFill>
              </a:rPr>
              <a:t>contribution</a:t>
            </a:r>
          </a:p>
        </p:txBody>
      </p:sp>
      <p:sp>
        <p:nvSpPr>
          <p:cNvPr id="15" name="Form 1 header"/>
          <p:cNvSpPr/>
          <p:nvPr/>
        </p:nvSpPr>
        <p:spPr>
          <a:xfrm>
            <a:off x="457200" y="20116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m 1 heading"/>
          <p:cNvSpPr txBox="1"/>
          <p:nvPr/>
        </p:nvSpPr>
        <p:spPr>
          <a:xfrm>
            <a:off x="594360" y="2011680"/>
            <a:ext cx="37719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Additive form</a:t>
            </a:r>
          </a:p>
        </p:txBody>
      </p:sp>
      <p:sp>
        <p:nvSpPr>
          <p:cNvPr id="17" name="Form 1 equation box"/>
          <p:cNvSpPr/>
          <p:nvPr/>
        </p:nvSpPr>
        <p:spPr>
          <a:xfrm>
            <a:off x="457200" y="2423160"/>
            <a:ext cx="404622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orm 1 equation code"/>
          <p:cNvSpPr txBox="1"/>
          <p:nvPr/>
        </p:nvSpPr>
        <p:spPr>
          <a:xfrm>
            <a:off x="594360" y="2514600"/>
            <a:ext cx="3771900" cy="59436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sales_t = β0 + Σ βc·f(spend_c,t)</a:t>
            </a:r>
          </a:p>
          <a:p>
            <a:pPr algn="l">
              <a:spcAft>
                <a:spcPts val="0"/>
              </a:spcAft>
            </a:pPr>
            <a:r>
              <a:rPr sz="1100" b="0" lang="en-GB">
                <a:solidFill>
                  <a:schemeClr val="bg1"/>
                </a:solidFill>
                <a:latin typeface="Consolas"/>
              </a:rPr>
              <a:t>          + γ·controls_t + ε_t</a:t>
            </a:r>
          </a:p>
        </p:txBody>
      </p:sp>
      <p:sp>
        <p:nvSpPr>
          <p:cNvPr id="19" name="Form 1 body"/>
          <p:cNvSpPr/>
          <p:nvPr/>
        </p:nvSpPr>
        <p:spPr>
          <a:xfrm>
            <a:off x="457200" y="32004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orm 1 text"/>
          <p:cNvSpPr txBox="1"/>
          <p:nvPr/>
        </p:nvSpPr>
        <p:spPr>
          <a:xfrm>
            <a:off x="621792" y="3273552"/>
            <a:ext cx="3744468" cy="822960"/>
          </a:xfrm>
          <a:prstGeom prst="rect">
            <a:avLst/>
          </a:prstGeom>
          <a:noFill/>
        </p:spPr>
        <p:txBody>
          <a:bodyPr wrap="square" lIns="0" rIns="0" tIns="0" bIns="0" anchor="t">
            <a:noAutofit/>
          </a:bodyPr>
          <a:lstStyle/>
          <a:p>
            <a:pPr algn="l" marL="182880" indent="-182880">
              <a:spcAft>
                <a:spcPts val="400"/>
              </a:spcAft>
              <a:buClr>
                <a:schemeClr val="accent1"/>
              </a:buClr>
              <a:buFont typeface="Arial"/>
              <a:buChar char="▪"/>
            </a:pPr>
            <a:r>
              <a:rPr sz="1200" b="1" lang="en-GB">
                <a:solidFill>
                  <a:schemeClr val="tx2"/>
                </a:solidFill>
              </a:rPr>
              <a:t>βc: </a:t>
            </a:r>
            <a:r>
              <a:rPr sz="1200" b="0" lang="en-GB">
                <a:solidFill>
                  <a:schemeClr val="tx1"/>
                </a:solidFill>
              </a:rPr>
              <a:t>extra units per unit of transformed spend</a:t>
            </a:r>
          </a:p>
          <a:p>
            <a:pPr algn="l" marL="182880" indent="-182880">
              <a:spcAft>
                <a:spcPts val="400"/>
              </a:spcAft>
              <a:buClr>
                <a:schemeClr val="accent1"/>
              </a:buClr>
              <a:buFont typeface="Arial"/>
              <a:buChar char="▪"/>
            </a:pPr>
            <a:r>
              <a:rPr sz="1200" b="1" lang="en-GB">
                <a:solidFill>
                  <a:schemeClr val="tx2"/>
                </a:solidFill>
              </a:rPr>
              <a:t>Good for: </a:t>
            </a:r>
            <a:r>
              <a:rPr sz="1200" b="0" lang="en-GB">
                <a:solidFill>
                  <a:schemeClr val="tx1"/>
                </a:solidFill>
              </a:rPr>
              <a:t>contributions in units or euros</a:t>
            </a:r>
          </a:p>
        </p:txBody>
      </p:sp>
      <p:sp>
        <p:nvSpPr>
          <p:cNvPr id="21" name="Form 2 header"/>
          <p:cNvSpPr/>
          <p:nvPr/>
        </p:nvSpPr>
        <p:spPr>
          <a:xfrm>
            <a:off x="4640580" y="20116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Form 2 heading"/>
          <p:cNvSpPr txBox="1"/>
          <p:nvPr/>
        </p:nvSpPr>
        <p:spPr>
          <a:xfrm>
            <a:off x="4777740" y="2011680"/>
            <a:ext cx="37719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Log-log form</a:t>
            </a:r>
          </a:p>
        </p:txBody>
      </p:sp>
      <p:sp>
        <p:nvSpPr>
          <p:cNvPr id="23" name="Form 2 equation box"/>
          <p:cNvSpPr/>
          <p:nvPr/>
        </p:nvSpPr>
        <p:spPr>
          <a:xfrm>
            <a:off x="4640580" y="2423160"/>
            <a:ext cx="404622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m 2 equation code"/>
          <p:cNvSpPr txBox="1"/>
          <p:nvPr/>
        </p:nvSpPr>
        <p:spPr>
          <a:xfrm>
            <a:off x="4777740" y="2514600"/>
            <a:ext cx="3771900" cy="59436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ln sales_t = β0 + βp·ln price_t</a:t>
            </a:r>
          </a:p>
          <a:p>
            <a:pPr algn="l">
              <a:spcAft>
                <a:spcPts val="0"/>
              </a:spcAft>
            </a:pPr>
            <a:r>
              <a:rPr sz="1100" b="0" lang="en-GB">
                <a:solidFill>
                  <a:schemeClr val="bg1"/>
                </a:solidFill>
                <a:latin typeface="Consolas"/>
              </a:rPr>
              <a:t>   + Σ βc·ln(1 + adstock_c,t) + … + ε_t</a:t>
            </a:r>
          </a:p>
        </p:txBody>
      </p:sp>
      <p:sp>
        <p:nvSpPr>
          <p:cNvPr id="25" name="Form 2 body"/>
          <p:cNvSpPr/>
          <p:nvPr/>
        </p:nvSpPr>
        <p:spPr>
          <a:xfrm>
            <a:off x="4640580" y="32004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orm 2 text"/>
          <p:cNvSpPr txBox="1"/>
          <p:nvPr/>
        </p:nvSpPr>
        <p:spPr>
          <a:xfrm>
            <a:off x="4805172" y="3273552"/>
            <a:ext cx="3744468" cy="822960"/>
          </a:xfrm>
          <a:prstGeom prst="rect">
            <a:avLst/>
          </a:prstGeom>
          <a:noFill/>
        </p:spPr>
        <p:txBody>
          <a:bodyPr wrap="square" lIns="0" rIns="0" tIns="0" bIns="0" anchor="t">
            <a:noAutofit/>
          </a:bodyPr>
          <a:lstStyle/>
          <a:p>
            <a:pPr algn="l" marL="182880" indent="-182880">
              <a:spcAft>
                <a:spcPts val="400"/>
              </a:spcAft>
              <a:buClr>
                <a:schemeClr val="accent1"/>
              </a:buClr>
              <a:buFont typeface="Arial"/>
              <a:buChar char="▪"/>
            </a:pPr>
            <a:r>
              <a:rPr sz="1200" b="1" lang="en-GB">
                <a:solidFill>
                  <a:schemeClr val="tx2"/>
                </a:solidFill>
              </a:rPr>
              <a:t>β: </a:t>
            </a:r>
            <a:r>
              <a:rPr sz="1200" b="0" lang="en-GB">
                <a:solidFill>
                  <a:schemeClr val="tx1"/>
                </a:solidFill>
              </a:rPr>
              <a:t>elasticity, % change in sales per 1 % change</a:t>
            </a:r>
          </a:p>
          <a:p>
            <a:pPr algn="l" marL="182880" indent="-182880">
              <a:spcAft>
                <a:spcPts val="400"/>
              </a:spcAft>
              <a:buClr>
                <a:schemeClr val="accent1"/>
              </a:buClr>
              <a:buFont typeface="Arial"/>
              <a:buChar char="▪"/>
            </a:pPr>
            <a:r>
              <a:rPr sz="1200" b="1" lang="en-GB">
                <a:solidFill>
                  <a:schemeClr val="tx2"/>
                </a:solidFill>
              </a:rPr>
              <a:t>Good for: </a:t>
            </a:r>
            <a:r>
              <a:rPr sz="1200" b="0" lang="en-GB">
                <a:solidFill>
                  <a:schemeClr val="tx1"/>
                </a:solidFill>
              </a:rPr>
              <a:t>comparing countries and drivers</a:t>
            </a:r>
          </a:p>
        </p:txBody>
      </p:sp>
      <p:sp>
        <p:nvSpPr>
          <p:cNvPr id="27" name="Controls box"/>
          <p:cNvSpPr/>
          <p:nvPr/>
        </p:nvSpPr>
        <p:spPr>
          <a:xfrm>
            <a:off x="457200" y="425196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ontrols" descr=""/>
          <p:cNvPicPr>
            <a:picLocks noChangeAspect="1"/>
          </p:cNvPicPr>
          <p:nvPr/>
        </p:nvPicPr>
        <p:blipFill>
          <a:blip r:embed="rId3"/>
          <a:stretch>
            <a:fillRect/>
          </a:stretch>
        </p:blipFill>
        <p:spPr>
          <a:xfrm>
            <a:off x="658368" y="4343400"/>
            <a:ext cx="365760" cy="365760"/>
          </a:xfrm>
          <a:prstGeom prst="rect">
            <a:avLst/>
          </a:prstGeom>
        </p:spPr>
      </p:pic>
      <p:sp>
        <p:nvSpPr>
          <p:cNvPr id="29" name="Controls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Controls: </a:t>
            </a:r>
            <a:r>
              <a:rPr sz="1200" b="0" lang="en-GB">
                <a:solidFill>
                  <a:schemeClr val="tx1"/>
                </a:solidFill>
              </a:rPr>
              <a:t>price, promotion, distribution, trend, season, holidays, weather, economy, competitor spend.</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Hanssens et al. 2001; Tellis 2006; Jin et al. 2017  ·  Refresher: deck 01b, Parts 6 and 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Adstock: advertising keeps working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adstock.png" descr="Line chart: a spend of 100 in week 1 decays to 30 in week 2 and almost zero by week 5 with decay 0.3, and to 70, 49, 34 and so on with decay 0.7, still about 2 in week 12"/>
          <p:cNvPicPr>
            <a:picLocks noChangeAspect="1"/>
          </p:cNvPicPr>
          <p:nvPr/>
        </p:nvPicPr>
        <p:blipFill>
          <a:blip r:embed="rId3"/>
          <a:stretch>
            <a:fillRect/>
          </a:stretch>
        </p:blipFill>
        <p:spPr>
          <a:xfrm>
            <a:off x="457200" y="1234440"/>
            <a:ext cx="4754880" cy="3017520"/>
          </a:xfrm>
          <a:prstGeom prst="rect">
            <a:avLst/>
          </a:prstGeom>
        </p:spPr>
      </p:pic>
      <p:sp>
        <p:nvSpPr>
          <p:cNvPr id="11" name="Adstock formula caption bar"/>
          <p:cNvSpPr/>
          <p:nvPr/>
        </p:nvSpPr>
        <p:spPr>
          <a:xfrm>
            <a:off x="5394960" y="1234440"/>
            <a:ext cx="3291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dstock formula caption"/>
          <p:cNvSpPr txBox="1"/>
          <p:nvPr/>
        </p:nvSpPr>
        <p:spPr>
          <a:xfrm>
            <a:off x="5504688" y="1234440"/>
            <a:ext cx="3072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Geometric adstock</a:t>
            </a:r>
          </a:p>
        </p:txBody>
      </p:sp>
      <p:sp>
        <p:nvSpPr>
          <p:cNvPr id="13" name="Adstock formula box"/>
          <p:cNvSpPr/>
          <p:nvPr/>
        </p:nvSpPr>
        <p:spPr>
          <a:xfrm>
            <a:off x="5394960" y="1508760"/>
            <a:ext cx="329184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dstock formula code"/>
          <p:cNvSpPr txBox="1"/>
          <p:nvPr/>
        </p:nvSpPr>
        <p:spPr>
          <a:xfrm>
            <a:off x="5532120" y="1600200"/>
            <a:ext cx="301752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A_t = spend_t + λ·A_(t−1)</a:t>
            </a:r>
          </a:p>
        </p:txBody>
      </p:sp>
      <p:sp>
        <p:nvSpPr>
          <p:cNvPr id="15" name="Adstock row 1"/>
          <p:cNvSpPr/>
          <p:nvPr/>
        </p:nvSpPr>
        <p:spPr>
          <a:xfrm>
            <a:off x="5394960" y="2148840"/>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dstock bar 1"/>
          <p:cNvSpPr/>
          <p:nvPr/>
        </p:nvSpPr>
        <p:spPr>
          <a:xfrm>
            <a:off x="5394960" y="214884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dstock text 1"/>
          <p:cNvSpPr txBox="1"/>
          <p:nvPr/>
        </p:nvSpPr>
        <p:spPr>
          <a:xfrm>
            <a:off x="5577840" y="2148840"/>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λ (decay): </a:t>
            </a:r>
            <a:r>
              <a:rPr sz="1200" b="0" lang="en-GB">
                <a:solidFill>
                  <a:schemeClr val="tx1"/>
                </a:solidFill>
              </a:rPr>
              <a:t>share of last week's pressure that carries over</a:t>
            </a:r>
          </a:p>
        </p:txBody>
      </p:sp>
      <p:sp>
        <p:nvSpPr>
          <p:cNvPr id="18" name="Adstock row 2"/>
          <p:cNvSpPr/>
          <p:nvPr/>
        </p:nvSpPr>
        <p:spPr>
          <a:xfrm>
            <a:off x="5394960" y="2862072"/>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dstock bar 2"/>
          <p:cNvSpPr/>
          <p:nvPr/>
        </p:nvSpPr>
        <p:spPr>
          <a:xfrm>
            <a:off x="5394960" y="2862072"/>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dstock text 2"/>
          <p:cNvSpPr txBox="1"/>
          <p:nvPr/>
        </p:nvSpPr>
        <p:spPr>
          <a:xfrm>
            <a:off x="5577840" y="2862072"/>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Half-life: </a:t>
            </a:r>
            <a:r>
              <a:rPr sz="1200" b="0" lang="en-GB">
                <a:solidFill>
                  <a:schemeClr val="tx1"/>
                </a:solidFill>
              </a:rPr>
              <a:t>ln 0.5 / ln λ = 0.6 or 1.9 weeks here</a:t>
            </a:r>
          </a:p>
        </p:txBody>
      </p:sp>
      <p:sp>
        <p:nvSpPr>
          <p:cNvPr id="21" name="Adstock row 3"/>
          <p:cNvSpPr/>
          <p:nvPr/>
        </p:nvSpPr>
        <p:spPr>
          <a:xfrm>
            <a:off x="5394960" y="3575304"/>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dstock bar 3"/>
          <p:cNvSpPr/>
          <p:nvPr/>
        </p:nvSpPr>
        <p:spPr>
          <a:xfrm>
            <a:off x="5394960" y="3575304"/>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dstock text 3"/>
          <p:cNvSpPr txBox="1"/>
          <p:nvPr/>
        </p:nvSpPr>
        <p:spPr>
          <a:xfrm>
            <a:off x="5577840" y="3575304"/>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Total effect: </a:t>
            </a:r>
            <a:r>
              <a:rPr sz="1200" b="0" lang="en-GB">
                <a:solidFill>
                  <a:schemeClr val="tx1"/>
                </a:solidFill>
              </a:rPr>
              <a:t>1/(1−λ) × week 1: 1.4× versus 3.3×</a:t>
            </a:r>
          </a:p>
        </p:txBody>
      </p:sp>
      <p:sp>
        <p:nvSpPr>
          <p:cNvPr id="24" name="Adstock why box"/>
          <p:cNvSpPr/>
          <p:nvPr/>
        </p:nvSpPr>
        <p:spPr>
          <a:xfrm>
            <a:off x="457200" y="438912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Adstock why" descr=""/>
          <p:cNvPicPr>
            <a:picLocks noChangeAspect="1"/>
          </p:cNvPicPr>
          <p:nvPr/>
        </p:nvPicPr>
        <p:blipFill>
          <a:blip r:embed="rId4"/>
          <a:stretch>
            <a:fillRect/>
          </a:stretch>
        </p:blipFill>
        <p:spPr>
          <a:xfrm>
            <a:off x="658368" y="4411980"/>
            <a:ext cx="365760" cy="365760"/>
          </a:xfrm>
          <a:prstGeom prst="rect">
            <a:avLst/>
          </a:prstGeom>
        </p:spPr>
      </p:pic>
      <p:sp>
        <p:nvSpPr>
          <p:cNvPr id="26" name="Adstock why text"/>
          <p:cNvSpPr txBox="1"/>
          <p:nvPr/>
        </p:nvSpPr>
        <p:spPr>
          <a:xfrm>
            <a:off x="1207008" y="438912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Without adstock, </a:t>
            </a:r>
            <a:r>
              <a:rPr sz="1200" b="0" lang="en-GB">
                <a:solidFill>
                  <a:schemeClr val="bg1"/>
                </a:solidFill>
              </a:rPr>
              <a:t>the weeks after a campaign are credited to whatever else happened then.</a:t>
            </a:r>
          </a:p>
        </p:txBody>
      </p:sp>
      <p:sp>
        <p:nvSpPr>
          <p:cNvPr id="2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Little 1979; Jin et al. 2017; Robyn documentation (geometric and Weibull adstock)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Saturation: each extra euro buys less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saturation.png" descr="S-shaped curve of extra sales against weekly spend from 0 to 200 thousand euros, flattening towards 120 thousand units; the next 10 thousand euros add 13 thousand units at 30 thousand euros spend but only 1.8 thousand at 150"/>
          <p:cNvPicPr>
            <a:picLocks noChangeAspect="1"/>
          </p:cNvPicPr>
          <p:nvPr/>
        </p:nvPicPr>
        <p:blipFill>
          <a:blip r:embed="rId3"/>
          <a:stretch>
            <a:fillRect/>
          </a:stretch>
        </p:blipFill>
        <p:spPr>
          <a:xfrm>
            <a:off x="457200" y="1234440"/>
            <a:ext cx="4754880" cy="3017520"/>
          </a:xfrm>
          <a:prstGeom prst="rect">
            <a:avLst/>
          </a:prstGeom>
        </p:spPr>
      </p:pic>
      <p:sp>
        <p:nvSpPr>
          <p:cNvPr id="11" name="Hill formula caption bar"/>
          <p:cNvSpPr/>
          <p:nvPr/>
        </p:nvSpPr>
        <p:spPr>
          <a:xfrm>
            <a:off x="5394960" y="1234440"/>
            <a:ext cx="3291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Hill formula caption"/>
          <p:cNvSpPr txBox="1"/>
          <p:nvPr/>
        </p:nvSpPr>
        <p:spPr>
          <a:xfrm>
            <a:off x="5504688" y="1234440"/>
            <a:ext cx="3072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Hill saturation</a:t>
            </a:r>
          </a:p>
        </p:txBody>
      </p:sp>
      <p:sp>
        <p:nvSpPr>
          <p:cNvPr id="13" name="Hill formula box"/>
          <p:cNvSpPr/>
          <p:nvPr/>
        </p:nvSpPr>
        <p:spPr>
          <a:xfrm>
            <a:off x="5394960" y="1508760"/>
            <a:ext cx="329184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Hill formula code"/>
          <p:cNvSpPr txBox="1"/>
          <p:nvPr/>
        </p:nvSpPr>
        <p:spPr>
          <a:xfrm>
            <a:off x="5532120" y="1600200"/>
            <a:ext cx="301752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Hill(x) = x^s / (x^s + K^s)</a:t>
            </a:r>
          </a:p>
        </p:txBody>
      </p:sp>
      <p:sp>
        <p:nvSpPr>
          <p:cNvPr id="15" name="Hill row 1"/>
          <p:cNvSpPr/>
          <p:nvPr/>
        </p:nvSpPr>
        <p:spPr>
          <a:xfrm>
            <a:off x="5394960" y="2148840"/>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ill bar 1"/>
          <p:cNvSpPr/>
          <p:nvPr/>
        </p:nvSpPr>
        <p:spPr>
          <a:xfrm>
            <a:off x="5394960" y="214884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ill text 1"/>
          <p:cNvSpPr txBox="1"/>
          <p:nvPr/>
        </p:nvSpPr>
        <p:spPr>
          <a:xfrm>
            <a:off x="5577840" y="2148840"/>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K: </a:t>
            </a:r>
            <a:r>
              <a:rPr sz="1200" b="0" lang="en-GB">
                <a:solidFill>
                  <a:schemeClr val="tx1"/>
                </a:solidFill>
              </a:rPr>
              <a:t>spend at half the maximum effect</a:t>
            </a:r>
          </a:p>
        </p:txBody>
      </p:sp>
      <p:sp>
        <p:nvSpPr>
          <p:cNvPr id="18" name="Hill row 2"/>
          <p:cNvSpPr/>
          <p:nvPr/>
        </p:nvSpPr>
        <p:spPr>
          <a:xfrm>
            <a:off x="5394960" y="2862072"/>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ill bar 2"/>
          <p:cNvSpPr/>
          <p:nvPr/>
        </p:nvSpPr>
        <p:spPr>
          <a:xfrm>
            <a:off x="5394960" y="2862072"/>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ill text 2"/>
          <p:cNvSpPr txBox="1"/>
          <p:nvPr/>
        </p:nvSpPr>
        <p:spPr>
          <a:xfrm>
            <a:off x="5577840" y="2862072"/>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s: </a:t>
            </a:r>
            <a:r>
              <a:rPr sz="1200" b="0" lang="en-GB">
                <a:solidFill>
                  <a:schemeClr val="tx1"/>
                </a:solidFill>
              </a:rPr>
              <a:t>shape; above 1 gives an S-curve</a:t>
            </a:r>
          </a:p>
        </p:txBody>
      </p:sp>
      <p:sp>
        <p:nvSpPr>
          <p:cNvPr id="21" name="Hill row 3"/>
          <p:cNvSpPr/>
          <p:nvPr/>
        </p:nvSpPr>
        <p:spPr>
          <a:xfrm>
            <a:off x="5394960" y="3575304"/>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Hill bar 3"/>
          <p:cNvSpPr/>
          <p:nvPr/>
        </p:nvSpPr>
        <p:spPr>
          <a:xfrm>
            <a:off x="5394960" y="3575304"/>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ill text 3"/>
          <p:cNvSpPr txBox="1"/>
          <p:nvPr/>
        </p:nvSpPr>
        <p:spPr>
          <a:xfrm>
            <a:off x="5577840" y="3575304"/>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Marginal ROAS: </a:t>
            </a:r>
            <a:r>
              <a:rPr sz="1200" b="0" lang="en-GB">
                <a:solidFill>
                  <a:schemeClr val="tx1"/>
                </a:solidFill>
              </a:rPr>
              <a:t>revenue from the next euro, the slope of the curve</a:t>
            </a:r>
          </a:p>
        </p:txBody>
      </p:sp>
      <p:sp>
        <p:nvSpPr>
          <p:cNvPr id="24" name="Hill why box"/>
          <p:cNvSpPr/>
          <p:nvPr/>
        </p:nvSpPr>
        <p:spPr>
          <a:xfrm>
            <a:off x="457200" y="438912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Hill why" descr=""/>
          <p:cNvPicPr>
            <a:picLocks noChangeAspect="1"/>
          </p:cNvPicPr>
          <p:nvPr/>
        </p:nvPicPr>
        <p:blipFill>
          <a:blip r:embed="rId4"/>
          <a:stretch>
            <a:fillRect/>
          </a:stretch>
        </p:blipFill>
        <p:spPr>
          <a:xfrm>
            <a:off x="658368" y="4411980"/>
            <a:ext cx="365760" cy="365760"/>
          </a:xfrm>
          <a:prstGeom prst="rect">
            <a:avLst/>
          </a:prstGeom>
        </p:spPr>
      </p:pic>
      <p:sp>
        <p:nvSpPr>
          <p:cNvPr id="26" name="Hill why text"/>
          <p:cNvSpPr txBox="1"/>
          <p:nvPr/>
        </p:nvSpPr>
        <p:spPr>
          <a:xfrm>
            <a:off x="1207008" y="438912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Decide at the margin: </a:t>
            </a:r>
            <a:r>
              <a:rPr sz="1200" b="0" lang="en-GB">
                <a:solidFill>
                  <a:schemeClr val="bg1"/>
                </a:solidFill>
              </a:rPr>
              <a:t>move money to where the next euro earns most.</a:t>
            </a:r>
          </a:p>
        </p:txBody>
      </p:sp>
      <p:sp>
        <p:nvSpPr>
          <p:cNvPr id="2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Jin et al. 2017; Google Meridian documentation (media saturation and lagging)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Seasonality, trend and holidays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de_sales_tv.png" descr="Two panels for Germany 2023 to 2025: weekly sales between about 450 and 1,750 thousand units with peaks before each Christmas, and weekly TV spend with bursts of up to about 480 thousand euros in spring and before Christmas; Christmas weeks are shaded grey"/>
          <p:cNvPicPr>
            <a:picLocks noChangeAspect="1"/>
          </p:cNvPicPr>
          <p:nvPr/>
        </p:nvPicPr>
        <p:blipFill>
          <a:blip r:embed="rId3"/>
          <a:stretch>
            <a:fillRect/>
          </a:stretch>
        </p:blipFill>
        <p:spPr>
          <a:xfrm>
            <a:off x="457200" y="1234440"/>
            <a:ext cx="5120640" cy="3108960"/>
          </a:xfrm>
          <a:prstGeom prst="rect">
            <a:avLst/>
          </a:prstGeom>
        </p:spPr>
      </p:pic>
      <p:sp>
        <p:nvSpPr>
          <p:cNvPr id="11" name="Season caption"/>
          <p:cNvSpPr txBox="1"/>
          <p:nvPr/>
        </p:nvSpPr>
        <p:spPr>
          <a:xfrm>
            <a:off x="457200" y="4343400"/>
            <a:ext cx="5120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Simulated data, Germany, 2023–2025; grey: Christmas weeks.</a:t>
            </a:r>
          </a:p>
        </p:txBody>
      </p:sp>
      <p:sp>
        <p:nvSpPr>
          <p:cNvPr id="12" name="Season row 1"/>
          <p:cNvSpPr/>
          <p:nvPr/>
        </p:nvSpPr>
        <p:spPr>
          <a:xfrm>
            <a:off x="5715000" y="1234440"/>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 bar 1"/>
          <p:cNvSpPr/>
          <p:nvPr/>
        </p:nvSpPr>
        <p:spPr>
          <a:xfrm>
            <a:off x="57150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ason text 1"/>
          <p:cNvSpPr txBox="1"/>
          <p:nvPr/>
        </p:nvSpPr>
        <p:spPr>
          <a:xfrm>
            <a:off x="5897880" y="1234440"/>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Trend: </a:t>
            </a:r>
            <a:r>
              <a:rPr sz="1200" b="0" lang="en-GB">
                <a:solidFill>
                  <a:schemeClr val="tx1"/>
                </a:solidFill>
              </a:rPr>
              <a:t>slow growth or decline, a week counter</a:t>
            </a:r>
          </a:p>
        </p:txBody>
      </p:sp>
      <p:sp>
        <p:nvSpPr>
          <p:cNvPr id="15" name="Season row 2"/>
          <p:cNvSpPr/>
          <p:nvPr/>
        </p:nvSpPr>
        <p:spPr>
          <a:xfrm>
            <a:off x="5715000" y="2020824"/>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ason bar 2"/>
          <p:cNvSpPr/>
          <p:nvPr/>
        </p:nvSpPr>
        <p:spPr>
          <a:xfrm>
            <a:off x="5715000" y="2020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 text 2"/>
          <p:cNvSpPr txBox="1"/>
          <p:nvPr/>
        </p:nvSpPr>
        <p:spPr>
          <a:xfrm>
            <a:off x="5897880" y="2020824"/>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Seasonality: </a:t>
            </a:r>
            <a:r>
              <a:rPr sz="1200" b="0" lang="en-GB">
                <a:solidFill>
                  <a:schemeClr val="tx1"/>
                </a:solidFill>
              </a:rPr>
              <a:t>the yearly wave, Fourier terms</a:t>
            </a:r>
          </a:p>
        </p:txBody>
      </p:sp>
      <p:sp>
        <p:nvSpPr>
          <p:cNvPr id="18" name="Season row 3"/>
          <p:cNvSpPr/>
          <p:nvPr/>
        </p:nvSpPr>
        <p:spPr>
          <a:xfrm>
            <a:off x="5715000" y="2807208"/>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ason bar 3"/>
          <p:cNvSpPr/>
          <p:nvPr/>
        </p:nvSpPr>
        <p:spPr>
          <a:xfrm>
            <a:off x="5715000" y="2807208"/>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eason text 3"/>
          <p:cNvSpPr txBox="1"/>
          <p:nvPr/>
        </p:nvSpPr>
        <p:spPr>
          <a:xfrm>
            <a:off x="5897880" y="2807208"/>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Holidays: </a:t>
            </a:r>
            <a:r>
              <a:rPr sz="1200" b="0" lang="en-GB">
                <a:solidFill>
                  <a:schemeClr val="tx1"/>
                </a:solidFill>
              </a:rPr>
              <a:t>dummies for Christmas, Easter, Valentine's</a:t>
            </a:r>
          </a:p>
        </p:txBody>
      </p:sp>
      <p:sp>
        <p:nvSpPr>
          <p:cNvPr id="21" name="Season row 4"/>
          <p:cNvSpPr/>
          <p:nvPr/>
        </p:nvSpPr>
        <p:spPr>
          <a:xfrm>
            <a:off x="5715000" y="3593592"/>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ason bar 4"/>
          <p:cNvSpPr/>
          <p:nvPr/>
        </p:nvSpPr>
        <p:spPr>
          <a:xfrm>
            <a:off x="5715000" y="3593592"/>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ason text 4"/>
          <p:cNvSpPr txBox="1"/>
          <p:nvPr/>
        </p:nvSpPr>
        <p:spPr>
          <a:xfrm>
            <a:off x="5897880" y="3593592"/>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Weather, economy: </a:t>
            </a:r>
            <a:r>
              <a:rPr sz="1200" b="0" lang="en-GB">
                <a:solidFill>
                  <a:schemeClr val="tx1"/>
                </a:solidFill>
              </a:rPr>
              <a:t>temperature, consumer confidence</a:t>
            </a:r>
          </a:p>
        </p:txBody>
      </p:sp>
      <p:sp>
        <p:nvSpPr>
          <p:cNvPr id="24" name="Season why box"/>
          <p:cNvSpPr/>
          <p:nvPr/>
        </p:nvSpPr>
        <p:spPr>
          <a:xfrm>
            <a:off x="457200" y="466344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eason why" descr=""/>
          <p:cNvPicPr>
            <a:picLocks noChangeAspect="1"/>
          </p:cNvPicPr>
          <p:nvPr/>
        </p:nvPicPr>
        <p:blipFill>
          <a:blip r:embed="rId4"/>
          <a:stretch>
            <a:fillRect/>
          </a:stretch>
        </p:blipFill>
        <p:spPr>
          <a:xfrm>
            <a:off x="658368" y="4686300"/>
            <a:ext cx="365760" cy="365760"/>
          </a:xfrm>
          <a:prstGeom prst="rect">
            <a:avLst/>
          </a:prstGeom>
        </p:spPr>
      </p:pic>
      <p:sp>
        <p:nvSpPr>
          <p:cNvPr id="26" name="Season why text"/>
          <p:cNvSpPr txBox="1"/>
          <p:nvPr/>
        </p:nvSpPr>
        <p:spPr>
          <a:xfrm>
            <a:off x="1207008" y="466344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TV peaks when sales peak: </a:t>
            </a:r>
            <a:r>
              <a:rPr sz="1200" b="0" lang="en-GB">
                <a:solidFill>
                  <a:schemeClr val="bg1"/>
                </a:solidFill>
              </a:rPr>
              <a:t>does TV drive Christmas, or Christmas the TV budget?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terms (1): what the model splits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rm 1 tile"/>
          <p:cNvSpPr/>
          <p:nvPr/>
        </p:nvSpPr>
        <p:spPr>
          <a:xfrm>
            <a:off x="45720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erm 1" descr=""/>
          <p:cNvPicPr>
            <a:picLocks noChangeAspect="1"/>
          </p:cNvPicPr>
          <p:nvPr/>
        </p:nvPicPr>
        <p:blipFill>
          <a:blip r:embed="rId3"/>
          <a:stretch>
            <a:fillRect/>
          </a:stretch>
        </p:blipFill>
        <p:spPr>
          <a:xfrm>
            <a:off x="594360" y="1371600"/>
            <a:ext cx="365760" cy="365760"/>
          </a:xfrm>
          <a:prstGeom prst="rect">
            <a:avLst/>
          </a:prstGeom>
        </p:spPr>
      </p:pic>
      <p:sp>
        <p:nvSpPr>
          <p:cNvPr id="12" name="Ter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Marketing mix</a:t>
            </a:r>
          </a:p>
        </p:txBody>
      </p:sp>
      <p:sp>
        <p:nvSpPr>
          <p:cNvPr id="13" name="Term 1 text"/>
          <p:cNvSpPr txBox="1"/>
          <p:nvPr/>
        </p:nvSpPr>
        <p:spPr>
          <a:xfrm>
            <a:off x="59436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levers a brand controls: product, price, place (distribution) and promotion.</a:t>
            </a:r>
          </a:p>
          <a:p>
            <a:pPr algn="l">
              <a:spcAft>
                <a:spcPts val="400"/>
              </a:spcAft>
            </a:pPr>
            <a:r>
              <a:rPr sz="1150" b="1" lang="en-GB">
                <a:solidFill>
                  <a:schemeClr val="accent1"/>
                </a:solidFill>
              </a:rPr>
              <a:t>Example: price, promotions, shelf listings and five media channels</a:t>
            </a:r>
          </a:p>
        </p:txBody>
      </p:sp>
      <p:sp>
        <p:nvSpPr>
          <p:cNvPr id="14" name="Term 2 tile"/>
          <p:cNvSpPr/>
          <p:nvPr/>
        </p:nvSpPr>
        <p:spPr>
          <a:xfrm>
            <a:off x="324612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Term 2" descr=""/>
          <p:cNvPicPr>
            <a:picLocks noChangeAspect="1"/>
          </p:cNvPicPr>
          <p:nvPr/>
        </p:nvPicPr>
        <p:blipFill>
          <a:blip r:embed="rId4"/>
          <a:stretch>
            <a:fillRect/>
          </a:stretch>
        </p:blipFill>
        <p:spPr>
          <a:xfrm>
            <a:off x="3383280" y="1371600"/>
            <a:ext cx="365760" cy="365760"/>
          </a:xfrm>
          <a:prstGeom prst="rect">
            <a:avLst/>
          </a:prstGeom>
        </p:spPr>
      </p:pic>
      <p:sp>
        <p:nvSpPr>
          <p:cNvPr id="16" name="Ter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Base sales</a:t>
            </a:r>
          </a:p>
        </p:txBody>
      </p:sp>
      <p:sp>
        <p:nvSpPr>
          <p:cNvPr id="17" name="Term 2 text"/>
          <p:cNvSpPr txBox="1"/>
          <p:nvPr/>
        </p:nvSpPr>
        <p:spPr>
          <a:xfrm>
            <a:off x="338328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What would sell without media: driven by price, distribution, season and trend.</a:t>
            </a:r>
          </a:p>
          <a:p>
            <a:pPr algn="l">
              <a:spcAft>
                <a:spcPts val="400"/>
              </a:spcAft>
            </a:pPr>
            <a:r>
              <a:rPr sz="1150" b="1" lang="en-GB">
                <a:solidFill>
                  <a:schemeClr val="accent1"/>
                </a:solidFill>
              </a:rPr>
              <a:t>The dark area in the decomposition chart</a:t>
            </a:r>
          </a:p>
        </p:txBody>
      </p:sp>
      <p:sp>
        <p:nvSpPr>
          <p:cNvPr id="18" name="Term 3 tile"/>
          <p:cNvSpPr/>
          <p:nvPr/>
        </p:nvSpPr>
        <p:spPr>
          <a:xfrm>
            <a:off x="603504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Term 3" descr=""/>
          <p:cNvPicPr>
            <a:picLocks noChangeAspect="1"/>
          </p:cNvPicPr>
          <p:nvPr/>
        </p:nvPicPr>
        <p:blipFill>
          <a:blip r:embed="rId5"/>
          <a:stretch>
            <a:fillRect/>
          </a:stretch>
        </p:blipFill>
        <p:spPr>
          <a:xfrm>
            <a:off x="6172200" y="1371600"/>
            <a:ext cx="365760" cy="365760"/>
          </a:xfrm>
          <a:prstGeom prst="rect">
            <a:avLst/>
          </a:prstGeom>
        </p:spPr>
      </p:pic>
      <p:sp>
        <p:nvSpPr>
          <p:cNvPr id="20" name="Ter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Incremental sales</a:t>
            </a:r>
          </a:p>
        </p:txBody>
      </p:sp>
      <p:sp>
        <p:nvSpPr>
          <p:cNvPr id="21" name="Term 3 text"/>
          <p:cNvSpPr txBox="1"/>
          <p:nvPr/>
        </p:nvSpPr>
        <p:spPr>
          <a:xfrm>
            <a:off x="617220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What a channel adds on top of the base: the sales lost if it were switched off.</a:t>
            </a:r>
          </a:p>
          <a:p>
            <a:pPr algn="l">
              <a:spcAft>
                <a:spcPts val="400"/>
              </a:spcAft>
            </a:pPr>
            <a:r>
              <a:rPr sz="1150" b="1" lang="en-GB">
                <a:solidFill>
                  <a:schemeClr val="accent1"/>
                </a:solidFill>
              </a:rPr>
              <a:t>Also called the channel's contribution</a:t>
            </a:r>
          </a:p>
        </p:txBody>
      </p:sp>
      <p:sp>
        <p:nvSpPr>
          <p:cNvPr id="22" name="Term 4 tile"/>
          <p:cNvSpPr/>
          <p:nvPr/>
        </p:nvSpPr>
        <p:spPr>
          <a:xfrm>
            <a:off x="45720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Term 4" descr=""/>
          <p:cNvPicPr>
            <a:picLocks noChangeAspect="1"/>
          </p:cNvPicPr>
          <p:nvPr/>
        </p:nvPicPr>
        <p:blipFill>
          <a:blip r:embed="rId6"/>
          <a:stretch>
            <a:fillRect/>
          </a:stretch>
        </p:blipFill>
        <p:spPr>
          <a:xfrm>
            <a:off x="594360" y="3383280"/>
            <a:ext cx="365760" cy="365760"/>
          </a:xfrm>
          <a:prstGeom prst="rect">
            <a:avLst/>
          </a:prstGeom>
        </p:spPr>
      </p:pic>
      <p:sp>
        <p:nvSpPr>
          <p:cNvPr id="24" name="Term 4 heading"/>
          <p:cNvSpPr txBox="1"/>
          <p:nvPr/>
        </p:nvSpPr>
        <p:spPr>
          <a:xfrm>
            <a:off x="105156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Adstock</a:t>
            </a:r>
          </a:p>
        </p:txBody>
      </p:sp>
      <p:sp>
        <p:nvSpPr>
          <p:cNvPr id="25" name="Term 4 text"/>
          <p:cNvSpPr txBox="1"/>
          <p:nvPr/>
        </p:nvSpPr>
        <p:spPr>
          <a:xfrm>
            <a:off x="59436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Advertising keeps working after the week it runs; the decay is the share that carries over.</a:t>
            </a:r>
          </a:p>
          <a:p>
            <a:pPr algn="l">
              <a:spcAft>
                <a:spcPts val="400"/>
              </a:spcAft>
            </a:pPr>
            <a:r>
              <a:rPr sz="1150" b="1" lang="en-GB">
                <a:solidFill>
                  <a:schemeClr val="accent1"/>
                </a:solidFill>
              </a:rPr>
              <a:t>Decay 0.7: half the effect is gone after about 2 weeks</a:t>
            </a:r>
          </a:p>
        </p:txBody>
      </p:sp>
      <p:sp>
        <p:nvSpPr>
          <p:cNvPr id="26" name="Term 5 tile"/>
          <p:cNvSpPr/>
          <p:nvPr/>
        </p:nvSpPr>
        <p:spPr>
          <a:xfrm>
            <a:off x="324612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Term 5" descr=""/>
          <p:cNvPicPr>
            <a:picLocks noChangeAspect="1"/>
          </p:cNvPicPr>
          <p:nvPr/>
        </p:nvPicPr>
        <p:blipFill>
          <a:blip r:embed="rId7"/>
          <a:stretch>
            <a:fillRect/>
          </a:stretch>
        </p:blipFill>
        <p:spPr>
          <a:xfrm>
            <a:off x="3383280" y="3383280"/>
            <a:ext cx="365760" cy="365760"/>
          </a:xfrm>
          <a:prstGeom prst="rect">
            <a:avLst/>
          </a:prstGeom>
        </p:spPr>
      </p:pic>
      <p:sp>
        <p:nvSpPr>
          <p:cNvPr id="28" name="Term 5 heading"/>
          <p:cNvSpPr txBox="1"/>
          <p:nvPr/>
        </p:nvSpPr>
        <p:spPr>
          <a:xfrm>
            <a:off x="384048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Saturation</a:t>
            </a:r>
          </a:p>
        </p:txBody>
      </p:sp>
      <p:sp>
        <p:nvSpPr>
          <p:cNvPr id="29" name="Term 5 text"/>
          <p:cNvSpPr txBox="1"/>
          <p:nvPr/>
        </p:nvSpPr>
        <p:spPr>
          <a:xfrm>
            <a:off x="338328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Each extra euro buys less: the response flattens as spend grows.</a:t>
            </a:r>
          </a:p>
          <a:p>
            <a:pPr algn="l">
              <a:spcAft>
                <a:spcPts val="400"/>
              </a:spcAft>
            </a:pPr>
            <a:r>
              <a:rPr sz="1150" b="1" lang="en-GB">
                <a:solidFill>
                  <a:schemeClr val="accent1"/>
                </a:solidFill>
              </a:rPr>
              <a:t>The next EUR 10k buys far fewer units at high spend</a:t>
            </a:r>
          </a:p>
        </p:txBody>
      </p:sp>
      <p:sp>
        <p:nvSpPr>
          <p:cNvPr id="30" name="Term 6 tile"/>
          <p:cNvSpPr/>
          <p:nvPr/>
        </p:nvSpPr>
        <p:spPr>
          <a:xfrm>
            <a:off x="603504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rm 6" descr=""/>
          <p:cNvPicPr>
            <a:picLocks noChangeAspect="1"/>
          </p:cNvPicPr>
          <p:nvPr/>
        </p:nvPicPr>
        <p:blipFill>
          <a:blip r:embed="rId8"/>
          <a:stretch>
            <a:fillRect/>
          </a:stretch>
        </p:blipFill>
        <p:spPr>
          <a:xfrm>
            <a:off x="6172200" y="3383280"/>
            <a:ext cx="365760" cy="365760"/>
          </a:xfrm>
          <a:prstGeom prst="rect">
            <a:avLst/>
          </a:prstGeom>
        </p:spPr>
      </p:pic>
      <p:sp>
        <p:nvSpPr>
          <p:cNvPr id="32" name="Term 6 heading"/>
          <p:cNvSpPr txBox="1"/>
          <p:nvPr/>
        </p:nvSpPr>
        <p:spPr>
          <a:xfrm>
            <a:off x="662940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Control variables</a:t>
            </a:r>
          </a:p>
        </p:txBody>
      </p:sp>
      <p:sp>
        <p:nvSpPr>
          <p:cNvPr id="33" name="Term 6 text"/>
          <p:cNvSpPr txBox="1"/>
          <p:nvPr/>
        </p:nvSpPr>
        <p:spPr>
          <a:xfrm>
            <a:off x="617220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Non-media drivers in the model, so media are not credited with their effect.</a:t>
            </a:r>
          </a:p>
          <a:p>
            <a:pPr algn="l">
              <a:spcAft>
                <a:spcPts val="400"/>
              </a:spcAft>
            </a:pPr>
            <a:r>
              <a:rPr sz="1150" b="1" lang="en-GB">
                <a:solidFill>
                  <a:schemeClr val="accent1"/>
                </a:solidFill>
              </a:rPr>
              <a:t>Price, promotions, holidays, temperature, competitors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terms (2): what the model tells you</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rm 1 tile"/>
          <p:cNvSpPr/>
          <p:nvPr/>
        </p:nvSpPr>
        <p:spPr>
          <a:xfrm>
            <a:off x="45720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erm 1" descr=""/>
          <p:cNvPicPr>
            <a:picLocks noChangeAspect="1"/>
          </p:cNvPicPr>
          <p:nvPr/>
        </p:nvPicPr>
        <p:blipFill>
          <a:blip r:embed="rId3"/>
          <a:stretch>
            <a:fillRect/>
          </a:stretch>
        </p:blipFill>
        <p:spPr>
          <a:xfrm>
            <a:off x="594360" y="1371600"/>
            <a:ext cx="365760" cy="365760"/>
          </a:xfrm>
          <a:prstGeom prst="rect">
            <a:avLst/>
          </a:prstGeom>
        </p:spPr>
      </p:pic>
      <p:sp>
        <p:nvSpPr>
          <p:cNvPr id="12" name="Ter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Elasticity</a:t>
            </a:r>
          </a:p>
        </p:txBody>
      </p:sp>
      <p:sp>
        <p:nvSpPr>
          <p:cNvPr id="13" name="Term 1 text"/>
          <p:cNvSpPr txBox="1"/>
          <p:nvPr/>
        </p:nvSpPr>
        <p:spPr>
          <a:xfrm>
            <a:off x="59436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 change in sales for a 1 % change in a driver; the coefficient in a log-log model.</a:t>
            </a:r>
          </a:p>
          <a:p>
            <a:pPr algn="l">
              <a:spcAft>
                <a:spcPts val="400"/>
              </a:spcAft>
            </a:pPr>
            <a:r>
              <a:rPr sz="1150" b="1" lang="en-GB">
                <a:solidFill>
                  <a:schemeClr val="accent1"/>
                </a:solidFill>
              </a:rPr>
              <a:t>−2: a 10 % lower price sells 20 % more units (HBR reading)</a:t>
            </a:r>
          </a:p>
        </p:txBody>
      </p:sp>
      <p:sp>
        <p:nvSpPr>
          <p:cNvPr id="14" name="Term 2 tile"/>
          <p:cNvSpPr/>
          <p:nvPr/>
        </p:nvSpPr>
        <p:spPr>
          <a:xfrm>
            <a:off x="324612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Term 2" descr=""/>
          <p:cNvPicPr>
            <a:picLocks noChangeAspect="1"/>
          </p:cNvPicPr>
          <p:nvPr/>
        </p:nvPicPr>
        <p:blipFill>
          <a:blip r:embed="rId4"/>
          <a:stretch>
            <a:fillRect/>
          </a:stretch>
        </p:blipFill>
        <p:spPr>
          <a:xfrm>
            <a:off x="3383280" y="1371600"/>
            <a:ext cx="365760" cy="365760"/>
          </a:xfrm>
          <a:prstGeom prst="rect">
            <a:avLst/>
          </a:prstGeom>
        </p:spPr>
      </p:pic>
      <p:sp>
        <p:nvSpPr>
          <p:cNvPr id="16" name="Ter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Response curve</a:t>
            </a:r>
          </a:p>
        </p:txBody>
      </p:sp>
      <p:sp>
        <p:nvSpPr>
          <p:cNvPr id="17" name="Term 2 text"/>
          <p:cNvSpPr txBox="1"/>
          <p:nvPr/>
        </p:nvSpPr>
        <p:spPr>
          <a:xfrm>
            <a:off x="338328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Incremental sales at each spend level: adstock and saturation in one picture.</a:t>
            </a:r>
          </a:p>
          <a:p>
            <a:pPr algn="l">
              <a:spcAft>
                <a:spcPts val="400"/>
              </a:spcAft>
            </a:pPr>
            <a:r>
              <a:rPr sz="1150" b="1" lang="en-GB">
                <a:solidFill>
                  <a:schemeClr val="accent1"/>
                </a:solidFill>
              </a:rPr>
              <a:t>Read it to see where a channel stops paying off</a:t>
            </a:r>
          </a:p>
        </p:txBody>
      </p:sp>
      <p:sp>
        <p:nvSpPr>
          <p:cNvPr id="18" name="Term 3 tile"/>
          <p:cNvSpPr/>
          <p:nvPr/>
        </p:nvSpPr>
        <p:spPr>
          <a:xfrm>
            <a:off x="603504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Term 3" descr=""/>
          <p:cNvPicPr>
            <a:picLocks noChangeAspect="1"/>
          </p:cNvPicPr>
          <p:nvPr/>
        </p:nvPicPr>
        <p:blipFill>
          <a:blip r:embed="rId5"/>
          <a:stretch>
            <a:fillRect/>
          </a:stretch>
        </p:blipFill>
        <p:spPr>
          <a:xfrm>
            <a:off x="6172200" y="1371600"/>
            <a:ext cx="365760" cy="365760"/>
          </a:xfrm>
          <a:prstGeom prst="rect">
            <a:avLst/>
          </a:prstGeom>
        </p:spPr>
      </p:pic>
      <p:sp>
        <p:nvSpPr>
          <p:cNvPr id="20" name="Ter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ROAS and ROI</a:t>
            </a:r>
          </a:p>
        </p:txBody>
      </p:sp>
      <p:sp>
        <p:nvSpPr>
          <p:cNvPr id="21" name="Term 3 text"/>
          <p:cNvSpPr txBox="1"/>
          <p:nvPr/>
        </p:nvSpPr>
        <p:spPr>
          <a:xfrm>
            <a:off x="617220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ROAS: incremental revenue per euro spent. ROI: incremental profit per euro spent.</a:t>
            </a:r>
          </a:p>
          <a:p>
            <a:pPr algn="l">
              <a:spcAft>
                <a:spcPts val="400"/>
              </a:spcAft>
            </a:pPr>
            <a:r>
              <a:rPr sz="1150" b="1" lang="en-GB">
                <a:solidFill>
                  <a:schemeClr val="accent1"/>
                </a:solidFill>
              </a:rPr>
              <a:t>ROAS 3: each euro returned EUR 3 of revenue</a:t>
            </a:r>
          </a:p>
        </p:txBody>
      </p:sp>
      <p:sp>
        <p:nvSpPr>
          <p:cNvPr id="22" name="Term 4 tile"/>
          <p:cNvSpPr/>
          <p:nvPr/>
        </p:nvSpPr>
        <p:spPr>
          <a:xfrm>
            <a:off x="45720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Term 4" descr=""/>
          <p:cNvPicPr>
            <a:picLocks noChangeAspect="1"/>
          </p:cNvPicPr>
          <p:nvPr/>
        </p:nvPicPr>
        <p:blipFill>
          <a:blip r:embed="rId6"/>
          <a:stretch>
            <a:fillRect/>
          </a:stretch>
        </p:blipFill>
        <p:spPr>
          <a:xfrm>
            <a:off x="594360" y="3383280"/>
            <a:ext cx="365760" cy="365760"/>
          </a:xfrm>
          <a:prstGeom prst="rect">
            <a:avLst/>
          </a:prstGeom>
        </p:spPr>
      </p:pic>
      <p:sp>
        <p:nvSpPr>
          <p:cNvPr id="24" name="Term 4 heading"/>
          <p:cNvSpPr txBox="1"/>
          <p:nvPr/>
        </p:nvSpPr>
        <p:spPr>
          <a:xfrm>
            <a:off x="105156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Marginal ROAS</a:t>
            </a:r>
          </a:p>
        </p:txBody>
      </p:sp>
      <p:sp>
        <p:nvSpPr>
          <p:cNvPr id="25" name="Term 4 text"/>
          <p:cNvSpPr txBox="1"/>
          <p:nvPr/>
        </p:nvSpPr>
        <p:spPr>
          <a:xfrm>
            <a:off x="59436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return on the next euro: the slope of the response curve.</a:t>
            </a:r>
          </a:p>
          <a:p>
            <a:pPr algn="l">
              <a:spcAft>
                <a:spcPts val="400"/>
              </a:spcAft>
            </a:pPr>
            <a:r>
              <a:rPr sz="1150" b="1" lang="en-GB">
                <a:solidFill>
                  <a:schemeClr val="accent1"/>
                </a:solidFill>
              </a:rPr>
              <a:t>Move budget to the highest marginal, not average, ROAS</a:t>
            </a:r>
          </a:p>
        </p:txBody>
      </p:sp>
      <p:sp>
        <p:nvSpPr>
          <p:cNvPr id="26" name="Term 5 tile"/>
          <p:cNvSpPr/>
          <p:nvPr/>
        </p:nvSpPr>
        <p:spPr>
          <a:xfrm>
            <a:off x="324612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Term 5" descr=""/>
          <p:cNvPicPr>
            <a:picLocks noChangeAspect="1"/>
          </p:cNvPicPr>
          <p:nvPr/>
        </p:nvPicPr>
        <p:blipFill>
          <a:blip r:embed="rId7"/>
          <a:stretch>
            <a:fillRect/>
          </a:stretch>
        </p:blipFill>
        <p:spPr>
          <a:xfrm>
            <a:off x="3383280" y="3383280"/>
            <a:ext cx="365760" cy="365760"/>
          </a:xfrm>
          <a:prstGeom prst="rect">
            <a:avLst/>
          </a:prstGeom>
        </p:spPr>
      </p:pic>
      <p:sp>
        <p:nvSpPr>
          <p:cNvPr id="28" name="Term 5 heading"/>
          <p:cNvSpPr txBox="1"/>
          <p:nvPr/>
        </p:nvSpPr>
        <p:spPr>
          <a:xfrm>
            <a:off x="384048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Holdout</a:t>
            </a:r>
          </a:p>
        </p:txBody>
      </p:sp>
      <p:sp>
        <p:nvSpPr>
          <p:cNvPr id="29" name="Term 5 text"/>
          <p:cNvSpPr txBox="1"/>
          <p:nvPr/>
        </p:nvSpPr>
        <p:spPr>
          <a:xfrm>
            <a:off x="338328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Fit on past weeks, predict weeks the model has not seen, compare the errors.</a:t>
            </a:r>
          </a:p>
          <a:p>
            <a:pPr algn="l">
              <a:spcAft>
                <a:spcPts val="400"/>
              </a:spcAft>
            </a:pPr>
            <a:r>
              <a:rPr sz="1150" b="1" lang="en-GB">
                <a:solidFill>
                  <a:schemeClr val="accent1"/>
                </a:solidFill>
              </a:rPr>
              <a:t>Fit two years, forecast the third, report the MAPE</a:t>
            </a:r>
          </a:p>
        </p:txBody>
      </p:sp>
      <p:sp>
        <p:nvSpPr>
          <p:cNvPr id="30" name="Term 6 tile"/>
          <p:cNvSpPr/>
          <p:nvPr/>
        </p:nvSpPr>
        <p:spPr>
          <a:xfrm>
            <a:off x="603504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rm 6" descr=""/>
          <p:cNvPicPr>
            <a:picLocks noChangeAspect="1"/>
          </p:cNvPicPr>
          <p:nvPr/>
        </p:nvPicPr>
        <p:blipFill>
          <a:blip r:embed="rId8"/>
          <a:stretch>
            <a:fillRect/>
          </a:stretch>
        </p:blipFill>
        <p:spPr>
          <a:xfrm>
            <a:off x="6172200" y="3383280"/>
            <a:ext cx="365760" cy="365760"/>
          </a:xfrm>
          <a:prstGeom prst="rect">
            <a:avLst/>
          </a:prstGeom>
        </p:spPr>
      </p:pic>
      <p:sp>
        <p:nvSpPr>
          <p:cNvPr id="32" name="Term 6 heading"/>
          <p:cNvSpPr txBox="1"/>
          <p:nvPr/>
        </p:nvSpPr>
        <p:spPr>
          <a:xfrm>
            <a:off x="662940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Calibration</a:t>
            </a:r>
          </a:p>
        </p:txBody>
      </p:sp>
      <p:sp>
        <p:nvSpPr>
          <p:cNvPr id="33" name="Term 6 text"/>
          <p:cNvSpPr txBox="1"/>
          <p:nvPr/>
        </p:nvSpPr>
        <p:spPr>
          <a:xfrm>
            <a:off x="617220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Checking or anchoring model effects with experiments such as geo lift tests.</a:t>
            </a:r>
          </a:p>
          <a:p>
            <a:pPr algn="l">
              <a:spcAft>
                <a:spcPts val="400"/>
              </a:spcAft>
            </a:pPr>
            <a:r>
              <a:rPr sz="1150" b="1" lang="en-GB">
                <a:solidFill>
                  <a:schemeClr val="accent1"/>
                </a:solidFill>
              </a:rPr>
              <a:t>Geo test: more spend in some regions, compare with the rest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7 · elasticities, carryover and wear-out, differences between countries</a:t>
            </a:r>
          </a:p>
        </p:txBody>
      </p:sp>
      <p:sp>
        <p:nvSpPr>
          <p:cNvPr id="3" name="Title 2"/>
          <p:cNvSpPr>
            <a:spLocks noGrp="1"/>
          </p:cNvSpPr>
          <p:nvPr>
            <p:ph type="ctrTitle"/>
          </p:nvPr>
        </p:nvSpPr>
        <p:spPr/>
        <p:txBody>
          <a:bodyPr/>
          <a:lstStyle/>
          <a:p>
            <a:r>
              <a:rPr sz="1600" lang="en-GB"/>
              <a:t>What we know: empirical generalisations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Elasticities: price versus advertising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iterature panel"/>
          <p:cNvSpPr/>
          <p:nvPr/>
        </p:nvSpPr>
        <p:spPr>
          <a:xfrm>
            <a:off x="457200" y="1234440"/>
            <a:ext cx="4114800"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iterature heading"/>
          <p:cNvSpPr txBox="1"/>
          <p:nvPr/>
        </p:nvSpPr>
        <p:spPr>
          <a:xfrm>
            <a:off x="640080" y="1298448"/>
            <a:ext cx="374904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Advertising: the meta-analyses</a:t>
            </a:r>
          </a:p>
        </p:txBody>
      </p:sp>
      <p:sp>
        <p:nvSpPr>
          <p:cNvPr id="12" name="Literature stat 1 bar"/>
          <p:cNvSpPr/>
          <p:nvPr/>
        </p:nvSpPr>
        <p:spPr>
          <a:xfrm>
            <a:off x="640080" y="173736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terature stat 1 figure"/>
          <p:cNvSpPr txBox="1"/>
          <p:nvPr/>
        </p:nvSpPr>
        <p:spPr>
          <a:xfrm>
            <a:off x="822960" y="1737360"/>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0.12</a:t>
            </a:r>
          </a:p>
        </p:txBody>
      </p:sp>
      <p:sp>
        <p:nvSpPr>
          <p:cNvPr id="14" name="Literature stat 1 label"/>
          <p:cNvSpPr txBox="1"/>
          <p:nvPr/>
        </p:nvSpPr>
        <p:spPr>
          <a:xfrm>
            <a:off x="1783080" y="1737360"/>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short-term elasticity, mean (Sethuraman et al. 2011)</a:t>
            </a:r>
          </a:p>
        </p:txBody>
      </p:sp>
      <p:sp>
        <p:nvSpPr>
          <p:cNvPr id="15" name="Literature stat 2 bar"/>
          <p:cNvSpPr/>
          <p:nvPr/>
        </p:nvSpPr>
        <p:spPr>
          <a:xfrm>
            <a:off x="640080" y="241401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terature stat 2 figure"/>
          <p:cNvSpPr txBox="1"/>
          <p:nvPr/>
        </p:nvSpPr>
        <p:spPr>
          <a:xfrm>
            <a:off x="822960" y="2414016"/>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0.24</a:t>
            </a:r>
          </a:p>
        </p:txBody>
      </p:sp>
      <p:sp>
        <p:nvSpPr>
          <p:cNvPr id="17" name="Literature stat 2 label"/>
          <p:cNvSpPr txBox="1"/>
          <p:nvPr/>
        </p:nvSpPr>
        <p:spPr>
          <a:xfrm>
            <a:off x="1783080" y="2414016"/>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long-term elasticity, mean (same study)</a:t>
            </a:r>
          </a:p>
        </p:txBody>
      </p:sp>
      <p:sp>
        <p:nvSpPr>
          <p:cNvPr id="18" name="Literature stat 3 bar"/>
          <p:cNvSpPr/>
          <p:nvPr/>
        </p:nvSpPr>
        <p:spPr>
          <a:xfrm>
            <a:off x="640080" y="309067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terature stat 3 figure"/>
          <p:cNvSpPr txBox="1"/>
          <p:nvPr/>
        </p:nvSpPr>
        <p:spPr>
          <a:xfrm>
            <a:off x="822960" y="3090672"/>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0.09</a:t>
            </a:r>
          </a:p>
        </p:txBody>
      </p:sp>
      <p:sp>
        <p:nvSpPr>
          <p:cNvPr id="20" name="Literature stat 3 label"/>
          <p:cNvSpPr txBox="1"/>
          <p:nvPr/>
        </p:nvSpPr>
        <p:spPr>
          <a:xfrm>
            <a:off x="1783080" y="3090672"/>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mean in an international database (Henningsen et al. 2011)</a:t>
            </a:r>
          </a:p>
        </p:txBody>
      </p:sp>
      <p:sp>
        <p:nvSpPr>
          <p:cNvPr id="21" name="Literature stat 4 bar"/>
          <p:cNvSpPr/>
          <p:nvPr/>
        </p:nvSpPr>
        <p:spPr>
          <a:xfrm>
            <a:off x="640080" y="376732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Literature stat 4 figure"/>
          <p:cNvSpPr txBox="1"/>
          <p:nvPr/>
        </p:nvSpPr>
        <p:spPr>
          <a:xfrm>
            <a:off x="822960" y="3767328"/>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½</a:t>
            </a:r>
          </a:p>
        </p:txBody>
      </p:sp>
      <p:sp>
        <p:nvSpPr>
          <p:cNvPr id="23" name="Literature stat 4 label"/>
          <p:cNvSpPr txBox="1"/>
          <p:nvPr/>
        </p:nvSpPr>
        <p:spPr>
          <a:xfrm>
            <a:off x="1783080" y="3767328"/>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of 389 TV weight tests: no significant sales effect (Lodish et al. 1995)</a:t>
            </a:r>
          </a:p>
        </p:txBody>
      </p:sp>
      <p:sp>
        <p:nvSpPr>
          <p:cNvPr id="24" name="Price header"/>
          <p:cNvSpPr/>
          <p:nvPr/>
        </p:nvSpPr>
        <p:spPr>
          <a:xfrm>
            <a:off x="4709160" y="1234440"/>
            <a:ext cx="397764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ice heading"/>
          <p:cNvSpPr txBox="1"/>
          <p:nvPr/>
        </p:nvSpPr>
        <p:spPr>
          <a:xfrm>
            <a:off x="4846320" y="1234440"/>
            <a:ext cx="329184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Price, for comparison</a:t>
            </a:r>
          </a:p>
        </p:txBody>
      </p:sp>
      <p:pic>
        <p:nvPicPr>
          <p:cNvPr id="26" name="Icon price" descr=""/>
          <p:cNvPicPr>
            <a:picLocks noChangeAspect="1"/>
          </p:cNvPicPr>
          <p:nvPr/>
        </p:nvPicPr>
        <p:blipFill>
          <a:blip r:embed="rId3"/>
          <a:stretch>
            <a:fillRect/>
          </a:stretch>
        </p:blipFill>
        <p:spPr>
          <a:xfrm>
            <a:off x="8247888" y="1280160"/>
            <a:ext cx="310896" cy="310896"/>
          </a:xfrm>
          <a:prstGeom prst="rect">
            <a:avLst/>
          </a:prstGeom>
        </p:spPr>
      </p:pic>
      <p:sp>
        <p:nvSpPr>
          <p:cNvPr id="27" name="Price body"/>
          <p:cNvSpPr/>
          <p:nvPr/>
        </p:nvSpPr>
        <p:spPr>
          <a:xfrm>
            <a:off x="4709160" y="1645920"/>
            <a:ext cx="397764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ice elasticity bar"/>
          <p:cNvSpPr/>
          <p:nvPr/>
        </p:nvSpPr>
        <p:spPr>
          <a:xfrm>
            <a:off x="4892040" y="178308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rice elasticity figure"/>
          <p:cNvSpPr txBox="1"/>
          <p:nvPr/>
        </p:nvSpPr>
        <p:spPr>
          <a:xfrm>
            <a:off x="5074920" y="1783080"/>
            <a:ext cx="123444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−2.62</a:t>
            </a:r>
          </a:p>
        </p:txBody>
      </p:sp>
      <p:sp>
        <p:nvSpPr>
          <p:cNvPr id="30" name="Price elasticity label"/>
          <p:cNvSpPr txBox="1"/>
          <p:nvPr/>
        </p:nvSpPr>
        <p:spPr>
          <a:xfrm>
            <a:off x="6309360" y="1783080"/>
            <a:ext cx="2194560" cy="777240"/>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1,851 estimates (Bijmolt et al. 2005)</a:t>
            </a:r>
          </a:p>
        </p:txBody>
      </p:sp>
      <p:sp>
        <p:nvSpPr>
          <p:cNvPr id="31" name="Reading elasticity bar"/>
          <p:cNvSpPr/>
          <p:nvPr/>
        </p:nvSpPr>
        <p:spPr>
          <a:xfrm>
            <a:off x="4892040" y="269748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ading elasticity figure"/>
          <p:cNvSpPr txBox="1"/>
          <p:nvPr/>
        </p:nvSpPr>
        <p:spPr>
          <a:xfrm>
            <a:off x="5074920" y="2697480"/>
            <a:ext cx="123444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33" name="Reading elasticity label"/>
          <p:cNvSpPr txBox="1"/>
          <p:nvPr/>
        </p:nvSpPr>
        <p:spPr>
          <a:xfrm>
            <a:off x="6309360" y="2697480"/>
            <a:ext cx="2194560" cy="777240"/>
          </a:xfrm>
          <a:prstGeom prst="rect">
            <a:avLst/>
          </a:prstGeom>
          <a:noFill/>
        </p:spPr>
        <p:txBody>
          <a:bodyPr wrap="square" lIns="0" rIns="0" tIns="0" bIns="0" anchor="ctr">
            <a:noAutofit/>
          </a:bodyPr>
          <a:lstStyle/>
          <a:p>
            <a:pPr algn="l">
              <a:spcAft>
                <a:spcPts val="400"/>
              </a:spcAft>
            </a:pPr>
            <a:r>
              <a:rPr sz="1200" b="0" lang="en-GB">
                <a:solidFill>
                  <a:schemeClr val="tx1"/>
                </a:solidFill>
              </a:rPr>
              <a:t>Event Network: 10 % lower price, 20 % more units (HBR reading)</a:t>
            </a:r>
          </a:p>
        </p:txBody>
      </p:sp>
      <p:sp>
        <p:nvSpPr>
          <p:cNvPr id="34" name="Price note"/>
          <p:cNvSpPr txBox="1"/>
          <p:nvPr/>
        </p:nvSpPr>
        <p:spPr>
          <a:xfrm>
            <a:off x="4892040" y="3611880"/>
            <a:ext cx="3657600" cy="777240"/>
          </a:xfrm>
          <a:prstGeom prst="rect">
            <a:avLst/>
          </a:prstGeom>
          <a:noFill/>
        </p:spPr>
        <p:txBody>
          <a:bodyPr wrap="square" lIns="0" rIns="0" tIns="0" bIns="0" anchor="ctr">
            <a:noAutofit/>
          </a:bodyPr>
          <a:lstStyle/>
          <a:p>
            <a:pPr algn="l">
              <a:spcAft>
                <a:spcPts val="400"/>
              </a:spcAft>
            </a:pPr>
            <a:r>
              <a:rPr sz="1200" b="1" lang="en-GB">
                <a:solidFill>
                  <a:schemeClr val="tx2"/>
                </a:solidFill>
              </a:rPr>
              <a:t>Per per cent, price moves sales about 20 times more than advertising.</a:t>
            </a:r>
          </a:p>
        </p:txBody>
      </p:sp>
      <p:sp>
        <p:nvSpPr>
          <p:cNvPr id="35" name="Elasticity reading box"/>
          <p:cNvSpPr/>
          <p:nvPr/>
        </p:nvSpPr>
        <p:spPr>
          <a:xfrm>
            <a:off x="457200" y="4590288"/>
            <a:ext cx="8229600" cy="4846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Icon Elasticity reading" descr=""/>
          <p:cNvPicPr>
            <a:picLocks noChangeAspect="1"/>
          </p:cNvPicPr>
          <p:nvPr/>
        </p:nvPicPr>
        <p:blipFill>
          <a:blip r:embed="rId4"/>
          <a:stretch>
            <a:fillRect/>
          </a:stretch>
        </p:blipFill>
        <p:spPr>
          <a:xfrm>
            <a:off x="658368" y="4649724"/>
            <a:ext cx="365760" cy="365760"/>
          </a:xfrm>
          <a:prstGeom prst="rect">
            <a:avLst/>
          </a:prstGeom>
        </p:spPr>
      </p:pic>
      <p:sp>
        <p:nvSpPr>
          <p:cNvPr id="37" name="Elasticity reading text"/>
          <p:cNvSpPr txBox="1"/>
          <p:nvPr/>
        </p:nvSpPr>
        <p:spPr>
          <a:xfrm>
            <a:off x="1207008" y="4590288"/>
            <a:ext cx="7315200" cy="484632"/>
          </a:xfrm>
          <a:prstGeom prst="rect">
            <a:avLst/>
          </a:prstGeom>
          <a:noFill/>
        </p:spPr>
        <p:txBody>
          <a:bodyPr wrap="square" lIns="0" rIns="0" tIns="0" bIns="0" anchor="ctr">
            <a:noAutofit/>
          </a:bodyPr>
          <a:lstStyle/>
          <a:p>
            <a:pPr algn="l">
              <a:spcAft>
                <a:spcPts val="400"/>
              </a:spcAft>
            </a:pPr>
            <a:r>
              <a:rPr sz="1200" b="1" lang="en-GB">
                <a:solidFill>
                  <a:schemeClr val="bg1"/>
                </a:solidFill>
              </a:rPr>
              <a:t>Reading 0.12: </a:t>
            </a:r>
            <a:r>
              <a:rPr sz="1200" b="0" lang="en-GB">
                <a:solidFill>
                  <a:schemeClr val="bg1"/>
                </a:solidFill>
              </a:rPr>
              <a:t>10 % more advertising lifts sales by about 1.2 %.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Carryover and wear-out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rryover panel"/>
          <p:cNvSpPr/>
          <p:nvPr/>
        </p:nvSpPr>
        <p:spPr>
          <a:xfrm>
            <a:off x="457200" y="1234440"/>
            <a:ext cx="393192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ryover heading"/>
          <p:cNvSpPr txBox="1"/>
          <p:nvPr/>
        </p:nvSpPr>
        <p:spPr>
          <a:xfrm>
            <a:off x="640080" y="1298448"/>
            <a:ext cx="35661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How long effects last</a:t>
            </a:r>
          </a:p>
        </p:txBody>
      </p:sp>
      <p:sp>
        <p:nvSpPr>
          <p:cNvPr id="12" name="Carryover stat 1 bar"/>
          <p:cNvSpPr/>
          <p:nvPr/>
        </p:nvSpPr>
        <p:spPr>
          <a:xfrm>
            <a:off x="640080" y="178308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ryover stat 1 figure"/>
          <p:cNvSpPr txBox="1"/>
          <p:nvPr/>
        </p:nvSpPr>
        <p:spPr>
          <a:xfrm>
            <a:off x="822960" y="1783080"/>
            <a:ext cx="118872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60 %</a:t>
            </a:r>
          </a:p>
        </p:txBody>
      </p:sp>
      <p:sp>
        <p:nvSpPr>
          <p:cNvPr id="14" name="Carryover stat 1 label"/>
          <p:cNvSpPr txBox="1"/>
          <p:nvPr/>
        </p:nvSpPr>
        <p:spPr>
          <a:xfrm>
            <a:off x="2011680" y="1783080"/>
            <a:ext cx="219456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of the effect came after week 13 (141 UK brands; Ebiquity &amp; Thinkbox 2024)</a:t>
            </a:r>
          </a:p>
        </p:txBody>
      </p:sp>
      <p:sp>
        <p:nvSpPr>
          <p:cNvPr id="15" name="Carryover stat 2 bar"/>
          <p:cNvSpPr/>
          <p:nvPr/>
        </p:nvSpPr>
        <p:spPr>
          <a:xfrm>
            <a:off x="640080" y="3063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ryover stat 2 figure"/>
          <p:cNvSpPr txBox="1"/>
          <p:nvPr/>
        </p:nvSpPr>
        <p:spPr>
          <a:xfrm>
            <a:off x="822960" y="3063240"/>
            <a:ext cx="118872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17" name="Carryover stat 2 label"/>
          <p:cNvSpPr txBox="1"/>
          <p:nvPr/>
        </p:nvSpPr>
        <p:spPr>
          <a:xfrm>
            <a:off x="2011680" y="3063240"/>
            <a:ext cx="219456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long-term elasticity versus short-term: 0.24 against 0.12 (Sethuraman et al. 2011)</a:t>
            </a:r>
          </a:p>
        </p:txBody>
      </p:sp>
      <p:sp>
        <p:nvSpPr>
          <p:cNvPr id="18" name="Interval tile"/>
          <p:cNvSpPr/>
          <p:nvPr/>
        </p:nvSpPr>
        <p:spPr>
          <a:xfrm>
            <a:off x="4526280" y="1234440"/>
            <a:ext cx="416052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Interval" descr=""/>
          <p:cNvPicPr>
            <a:picLocks noChangeAspect="1"/>
          </p:cNvPicPr>
          <p:nvPr/>
        </p:nvPicPr>
        <p:blipFill>
          <a:blip r:embed="rId3"/>
          <a:stretch>
            <a:fillRect/>
          </a:stretch>
        </p:blipFill>
        <p:spPr>
          <a:xfrm>
            <a:off x="4663440" y="1371600"/>
            <a:ext cx="365760" cy="365760"/>
          </a:xfrm>
          <a:prstGeom prst="rect">
            <a:avLst/>
          </a:prstGeom>
        </p:spPr>
      </p:pic>
      <p:sp>
        <p:nvSpPr>
          <p:cNvPr id="20" name="Interval heading"/>
          <p:cNvSpPr txBox="1"/>
          <p:nvPr/>
        </p:nvSpPr>
        <p:spPr>
          <a:xfrm>
            <a:off x="5120640" y="1371600"/>
            <a:ext cx="34747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Data interval matters</a:t>
            </a:r>
          </a:p>
        </p:txBody>
      </p:sp>
      <p:sp>
        <p:nvSpPr>
          <p:cNvPr id="21" name="Interval text"/>
          <p:cNvSpPr txBox="1"/>
          <p:nvPr/>
        </p:nvSpPr>
        <p:spPr>
          <a:xfrm>
            <a:off x="4663440" y="1856232"/>
            <a:ext cx="3886200" cy="777240"/>
          </a:xfrm>
          <a:prstGeom prst="rect">
            <a:avLst/>
          </a:prstGeom>
          <a:noFill/>
        </p:spPr>
        <p:txBody>
          <a:bodyPr wrap="square" lIns="0" rIns="0" tIns="0" bIns="0" anchor="t">
            <a:noAutofit/>
          </a:bodyPr>
          <a:lstStyle/>
          <a:p>
            <a:pPr algn="l">
              <a:spcAft>
                <a:spcPts val="400"/>
              </a:spcAft>
            </a:pPr>
            <a:r>
              <a:rPr sz="1200" b="0" lang="en-GB">
                <a:solidFill>
                  <a:schemeClr val="tx1"/>
                </a:solidFill>
              </a:rPr>
              <a:t>Monthly or annual data suggest longer carryover than weekly data (Clarke 1976; Köhler et al. 2017)</a:t>
            </a:r>
          </a:p>
        </p:txBody>
      </p:sp>
      <p:sp>
        <p:nvSpPr>
          <p:cNvPr id="22" name="Wearout tile"/>
          <p:cNvSpPr/>
          <p:nvPr/>
        </p:nvSpPr>
        <p:spPr>
          <a:xfrm>
            <a:off x="4526280" y="2852928"/>
            <a:ext cx="4160520" cy="1490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Wearout" descr=""/>
          <p:cNvPicPr>
            <a:picLocks noChangeAspect="1"/>
          </p:cNvPicPr>
          <p:nvPr/>
        </p:nvPicPr>
        <p:blipFill>
          <a:blip r:embed="rId4"/>
          <a:stretch>
            <a:fillRect/>
          </a:stretch>
        </p:blipFill>
        <p:spPr>
          <a:xfrm>
            <a:off x="4663440" y="2990088"/>
            <a:ext cx="365760" cy="365760"/>
          </a:xfrm>
          <a:prstGeom prst="rect">
            <a:avLst/>
          </a:prstGeom>
        </p:spPr>
      </p:pic>
      <p:sp>
        <p:nvSpPr>
          <p:cNvPr id="24" name="Wearout heading"/>
          <p:cNvSpPr txBox="1"/>
          <p:nvPr/>
        </p:nvSpPr>
        <p:spPr>
          <a:xfrm>
            <a:off x="5120640" y="2990088"/>
            <a:ext cx="34747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Wear-in and wear-out</a:t>
            </a:r>
          </a:p>
        </p:txBody>
      </p:sp>
      <p:sp>
        <p:nvSpPr>
          <p:cNvPr id="25" name="Wearout text"/>
          <p:cNvSpPr txBox="1"/>
          <p:nvPr/>
        </p:nvSpPr>
        <p:spPr>
          <a:xfrm>
            <a:off x="4663440" y="3474720"/>
            <a:ext cx="3886200" cy="804672"/>
          </a:xfrm>
          <a:prstGeom prst="rect">
            <a:avLst/>
          </a:prstGeom>
          <a:noFill/>
        </p:spPr>
        <p:txBody>
          <a:bodyPr wrap="square" lIns="0" rIns="0" tIns="0" bIns="0" anchor="t">
            <a:noAutofit/>
          </a:bodyPr>
          <a:lstStyle/>
          <a:p>
            <a:pPr algn="l">
              <a:spcAft>
                <a:spcPts val="400"/>
              </a:spcAft>
            </a:pPr>
            <a:r>
              <a:rPr sz="1200" b="0" lang="en-GB">
                <a:solidFill>
                  <a:schemeClr val="tx1"/>
                </a:solidFill>
              </a:rPr>
              <a:t>Ads may need repetition to work, and lose effect when shown too often or too long (Tellis 2004; Vakratsas &amp; Ambler 1999)</a:t>
            </a:r>
          </a:p>
        </p:txBody>
      </p:sp>
      <p:sp>
        <p:nvSpPr>
          <p:cNvPr id="26" name="Carryover rule box"/>
          <p:cNvSpPr/>
          <p:nvPr/>
        </p:nvSpPr>
        <p:spPr>
          <a:xfrm>
            <a:off x="457200" y="4498848"/>
            <a:ext cx="8229600" cy="57607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Carryover rule" descr=""/>
          <p:cNvPicPr>
            <a:picLocks noChangeAspect="1"/>
          </p:cNvPicPr>
          <p:nvPr/>
        </p:nvPicPr>
        <p:blipFill>
          <a:blip r:embed="rId5"/>
          <a:stretch>
            <a:fillRect/>
          </a:stretch>
        </p:blipFill>
        <p:spPr>
          <a:xfrm>
            <a:off x="658368" y="4604004"/>
            <a:ext cx="365760" cy="365760"/>
          </a:xfrm>
          <a:prstGeom prst="rect">
            <a:avLst/>
          </a:prstGeom>
        </p:spPr>
      </p:pic>
      <p:sp>
        <p:nvSpPr>
          <p:cNvPr id="28" name="Carryover rule text"/>
          <p:cNvSpPr txBox="1"/>
          <p:nvPr/>
        </p:nvSpPr>
        <p:spPr>
          <a:xfrm>
            <a:off x="1207008" y="4498848"/>
            <a:ext cx="7315200" cy="576072"/>
          </a:xfrm>
          <a:prstGeom prst="rect">
            <a:avLst/>
          </a:prstGeom>
          <a:noFill/>
        </p:spPr>
        <p:txBody>
          <a:bodyPr wrap="square" lIns="0" rIns="0" tIns="0" bIns="0" anchor="ctr">
            <a:noAutofit/>
          </a:bodyPr>
          <a:lstStyle/>
          <a:p>
            <a:pPr algn="l">
              <a:spcAft>
                <a:spcPts val="400"/>
              </a:spcAft>
            </a:pPr>
            <a:r>
              <a:rPr sz="1200" b="1" lang="en-GB">
                <a:solidFill>
                  <a:schemeClr val="bg1"/>
                </a:solidFill>
              </a:rPr>
              <a:t>For your model: </a:t>
            </a:r>
            <a:r>
              <a:rPr sz="1200" b="0" lang="en-GB">
                <a:solidFill>
                  <a:schemeClr val="bg1"/>
                </a:solidFill>
              </a:rPr>
              <a:t>estimate carryover per channel from weekly data and check half-lives against these benchmarks.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Effects differ between countries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untry row 1"/>
          <p:cNvSpPr/>
          <p:nvPr/>
        </p:nvSpPr>
        <p:spPr>
          <a:xfrm>
            <a:off x="457200" y="1234440"/>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untry bar 1"/>
          <p:cNvSpPr/>
          <p:nvPr/>
        </p:nvSpPr>
        <p:spPr>
          <a:xfrm>
            <a:off x="457200" y="1234440"/>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country 1" descr=""/>
          <p:cNvPicPr>
            <a:picLocks noChangeAspect="1"/>
          </p:cNvPicPr>
          <p:nvPr/>
        </p:nvPicPr>
        <p:blipFill>
          <a:blip r:embed="rId3"/>
          <a:stretch>
            <a:fillRect/>
          </a:stretch>
        </p:blipFill>
        <p:spPr>
          <a:xfrm>
            <a:off x="685800" y="1389888"/>
            <a:ext cx="384048" cy="384048"/>
          </a:xfrm>
          <a:prstGeom prst="rect">
            <a:avLst/>
          </a:prstGeom>
        </p:spPr>
      </p:pic>
      <p:sp>
        <p:nvSpPr>
          <p:cNvPr id="13" name="Country text 1"/>
          <p:cNvSpPr txBox="1"/>
          <p:nvPr/>
        </p:nvSpPr>
        <p:spPr>
          <a:xfrm>
            <a:off x="1234440" y="1234440"/>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Market type: </a:t>
            </a:r>
            <a:r>
              <a:rPr sz="1200" b="0" lang="en-GB">
                <a:solidFill>
                  <a:schemeClr val="tx1"/>
                </a:solidFill>
              </a:rPr>
              <a:t>advertising matters more in emerging markets; price and distribution effects differ too (Bahadir et al. 2015, 14 markets)</a:t>
            </a:r>
          </a:p>
        </p:txBody>
      </p:sp>
      <p:sp>
        <p:nvSpPr>
          <p:cNvPr id="14" name="Country row 2"/>
          <p:cNvSpPr/>
          <p:nvPr/>
        </p:nvSpPr>
        <p:spPr>
          <a:xfrm>
            <a:off x="457200" y="2002536"/>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untry bar 2"/>
          <p:cNvSpPr/>
          <p:nvPr/>
        </p:nvSpPr>
        <p:spPr>
          <a:xfrm>
            <a:off x="457200" y="2002536"/>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country 2" descr=""/>
          <p:cNvPicPr>
            <a:picLocks noChangeAspect="1"/>
          </p:cNvPicPr>
          <p:nvPr/>
        </p:nvPicPr>
        <p:blipFill>
          <a:blip r:embed="rId4"/>
          <a:stretch>
            <a:fillRect/>
          </a:stretch>
        </p:blipFill>
        <p:spPr>
          <a:xfrm>
            <a:off x="685800" y="2157984"/>
            <a:ext cx="384048" cy="384048"/>
          </a:xfrm>
          <a:prstGeom prst="rect">
            <a:avLst/>
          </a:prstGeom>
        </p:spPr>
      </p:pic>
      <p:sp>
        <p:nvSpPr>
          <p:cNvPr id="17" name="Country text 2"/>
          <p:cNvSpPr txBox="1"/>
          <p:nvPr/>
        </p:nvSpPr>
        <p:spPr>
          <a:xfrm>
            <a:off x="1234440" y="2002536"/>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Business cycle: </a:t>
            </a:r>
            <a:r>
              <a:rPr sz="1200" b="0" lang="en-GB">
                <a:solidFill>
                  <a:schemeClr val="tx1"/>
                </a:solidFill>
              </a:rPr>
              <a:t>in downturns price sensitivity rises and advertising works less (van Heerde et al. 2013)</a:t>
            </a:r>
          </a:p>
        </p:txBody>
      </p:sp>
      <p:sp>
        <p:nvSpPr>
          <p:cNvPr id="18" name="Country row 3"/>
          <p:cNvSpPr/>
          <p:nvPr/>
        </p:nvSpPr>
        <p:spPr>
          <a:xfrm>
            <a:off x="457200" y="2770632"/>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untry bar 3"/>
          <p:cNvSpPr/>
          <p:nvPr/>
        </p:nvSpPr>
        <p:spPr>
          <a:xfrm>
            <a:off x="457200" y="2770632"/>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country 3" descr=""/>
          <p:cNvPicPr>
            <a:picLocks noChangeAspect="1"/>
          </p:cNvPicPr>
          <p:nvPr/>
        </p:nvPicPr>
        <p:blipFill>
          <a:blip r:embed="rId5"/>
          <a:stretch>
            <a:fillRect/>
          </a:stretch>
        </p:blipFill>
        <p:spPr>
          <a:xfrm>
            <a:off x="685800" y="2926080"/>
            <a:ext cx="384048" cy="384048"/>
          </a:xfrm>
          <a:prstGeom prst="rect">
            <a:avLst/>
          </a:prstGeom>
        </p:spPr>
      </p:pic>
      <p:sp>
        <p:nvSpPr>
          <p:cNvPr id="21" name="Country text 3"/>
          <p:cNvSpPr txBox="1"/>
          <p:nvPr/>
        </p:nvSpPr>
        <p:spPr>
          <a:xfrm>
            <a:off x="1234440" y="2770632"/>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Culture: </a:t>
            </a:r>
            <a:r>
              <a:rPr sz="1200" b="0" lang="en-GB">
                <a:solidFill>
                  <a:schemeClr val="tx1"/>
                </a:solidFill>
              </a:rPr>
              <a:t>how strongly ad budgets follow the economy depends on national culture (Deleersnyder et al. 2009, 37 countries)</a:t>
            </a:r>
          </a:p>
        </p:txBody>
      </p:sp>
      <p:sp>
        <p:nvSpPr>
          <p:cNvPr id="22" name="Country row 4"/>
          <p:cNvSpPr/>
          <p:nvPr/>
        </p:nvSpPr>
        <p:spPr>
          <a:xfrm>
            <a:off x="457200" y="3538728"/>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untry bar 4"/>
          <p:cNvSpPr/>
          <p:nvPr/>
        </p:nvSpPr>
        <p:spPr>
          <a:xfrm>
            <a:off x="457200" y="3538728"/>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country 4" descr=""/>
          <p:cNvPicPr>
            <a:picLocks noChangeAspect="1"/>
          </p:cNvPicPr>
          <p:nvPr/>
        </p:nvPicPr>
        <p:blipFill>
          <a:blip r:embed="rId6"/>
          <a:stretch>
            <a:fillRect/>
          </a:stretch>
        </p:blipFill>
        <p:spPr>
          <a:xfrm>
            <a:off x="685800" y="3694176"/>
            <a:ext cx="384048" cy="384048"/>
          </a:xfrm>
          <a:prstGeom prst="rect">
            <a:avLst/>
          </a:prstGeom>
        </p:spPr>
      </p:pic>
      <p:sp>
        <p:nvSpPr>
          <p:cNvPr id="25" name="Country text 4"/>
          <p:cNvSpPr txBox="1"/>
          <p:nvPr/>
        </p:nvSpPr>
        <p:spPr>
          <a:xfrm>
            <a:off x="1234440" y="3538728"/>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Payoff: </a:t>
            </a:r>
            <a:r>
              <a:rPr sz="1200" b="0" lang="en-GB">
                <a:solidFill>
                  <a:schemeClr val="tx1"/>
                </a:solidFill>
              </a:rPr>
              <a:t>reallocating across countries with elasticities: about EUR 500m more profit at Bayer (Fischer et al. 2011)</a:t>
            </a:r>
          </a:p>
        </p:txBody>
      </p:sp>
      <p:sp>
        <p:nvSpPr>
          <p:cNvPr id="26" name="Country rule box"/>
          <p:cNvSpPr/>
          <p:nvPr/>
        </p:nvSpPr>
        <p:spPr>
          <a:xfrm>
            <a:off x="457200" y="43434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Country rule" descr=""/>
          <p:cNvPicPr>
            <a:picLocks noChangeAspect="1"/>
          </p:cNvPicPr>
          <p:nvPr/>
        </p:nvPicPr>
        <p:blipFill>
          <a:blip r:embed="rId7"/>
          <a:stretch>
            <a:fillRect/>
          </a:stretch>
        </p:blipFill>
        <p:spPr>
          <a:xfrm>
            <a:off x="658368" y="4526280"/>
            <a:ext cx="365760" cy="365760"/>
          </a:xfrm>
          <a:prstGeom prst="rect">
            <a:avLst/>
          </a:prstGeom>
        </p:spPr>
      </p:pic>
      <p:sp>
        <p:nvSpPr>
          <p:cNvPr id="28" name="Country rule text"/>
          <p:cNvSpPr txBox="1"/>
          <p:nvPr/>
        </p:nvSpPr>
        <p:spPr>
          <a:xfrm>
            <a:off x="1207008" y="43434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For international brands: </a:t>
            </a:r>
            <a:r>
              <a:rPr sz="1200" b="0" lang="en-GB">
                <a:solidFill>
                  <a:schemeClr val="bg1"/>
                </a:solidFill>
              </a:rPr>
              <a:t>expect markets to respond differently. Hierarchical models let countries differ while borrowing strength from each other (Sun et al. 2017).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7 · data, pitfalls, validation, Bayesian priors, open-source tools</a:t>
            </a:r>
          </a:p>
        </p:txBody>
      </p:sp>
      <p:sp>
        <p:nvSpPr>
          <p:cNvPr id="3" name="Title 2"/>
          <p:cNvSpPr>
            <a:spLocks noGrp="1"/>
          </p:cNvSpPr>
          <p:nvPr>
            <p:ph type="ctrTitle"/>
          </p:nvPr>
        </p:nvSpPr>
        <p:spPr/>
        <p:txBody>
          <a:bodyPr/>
          <a:lstStyle/>
          <a:p>
            <a:r>
              <a:rPr sz="1600" lang="en-GB"/>
              <a:t>Doing it well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the data must offer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tile 1 tile"/>
          <p:cNvSpPr/>
          <p:nvPr/>
        </p:nvSpPr>
        <p:spPr>
          <a:xfrm>
            <a:off x="457200" y="123444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tile 1" descr=""/>
          <p:cNvPicPr>
            <a:picLocks noChangeAspect="1"/>
          </p:cNvPicPr>
          <p:nvPr/>
        </p:nvPicPr>
        <p:blipFill>
          <a:blip r:embed="rId3"/>
          <a:stretch>
            <a:fillRect/>
          </a:stretch>
        </p:blipFill>
        <p:spPr>
          <a:xfrm>
            <a:off x="594360" y="1371600"/>
            <a:ext cx="365760" cy="365760"/>
          </a:xfrm>
          <a:prstGeom prst="rect">
            <a:avLst/>
          </a:prstGeom>
        </p:spPr>
      </p:pic>
      <p:sp>
        <p:nvSpPr>
          <p:cNvPr id="12" name="Data tile 1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Two to three years, weekly</a:t>
            </a:r>
          </a:p>
        </p:txBody>
      </p:sp>
      <p:sp>
        <p:nvSpPr>
          <p:cNvPr id="13" name="Data tile 1 text"/>
          <p:cNvSpPr txBox="1"/>
          <p:nvPr/>
        </p:nvSpPr>
        <p:spPr>
          <a:xfrm>
            <a:off x="594360" y="185623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Seasons must repeat: three years are 156 weeks per country</a:t>
            </a:r>
          </a:p>
        </p:txBody>
      </p:sp>
      <p:sp>
        <p:nvSpPr>
          <p:cNvPr id="14" name="Data tile 2 tile"/>
          <p:cNvSpPr/>
          <p:nvPr/>
        </p:nvSpPr>
        <p:spPr>
          <a:xfrm>
            <a:off x="4640580" y="123444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ata tile 2" descr=""/>
          <p:cNvPicPr>
            <a:picLocks noChangeAspect="1"/>
          </p:cNvPicPr>
          <p:nvPr/>
        </p:nvPicPr>
        <p:blipFill>
          <a:blip r:embed="rId4"/>
          <a:stretch>
            <a:fillRect/>
          </a:stretch>
        </p:blipFill>
        <p:spPr>
          <a:xfrm>
            <a:off x="4777740" y="1371600"/>
            <a:ext cx="365760" cy="365760"/>
          </a:xfrm>
          <a:prstGeom prst="rect">
            <a:avLst/>
          </a:prstGeom>
        </p:spPr>
      </p:pic>
      <p:sp>
        <p:nvSpPr>
          <p:cNvPr id="16" name="Data tile 2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Variation in spend</a:t>
            </a:r>
          </a:p>
        </p:txBody>
      </p:sp>
      <p:sp>
        <p:nvSpPr>
          <p:cNvPr id="17" name="Data tile 2 text"/>
          <p:cNvSpPr txBox="1"/>
          <p:nvPr/>
        </p:nvSpPr>
        <p:spPr>
          <a:xfrm>
            <a:off x="4777740" y="185623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Channels must move up and down, and not always together</a:t>
            </a:r>
          </a:p>
        </p:txBody>
      </p:sp>
      <p:sp>
        <p:nvSpPr>
          <p:cNvPr id="18" name="Data tile 3 tile"/>
          <p:cNvSpPr/>
          <p:nvPr/>
        </p:nvSpPr>
        <p:spPr>
          <a:xfrm>
            <a:off x="457200" y="269748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Data tile 3" descr=""/>
          <p:cNvPicPr>
            <a:picLocks noChangeAspect="1"/>
          </p:cNvPicPr>
          <p:nvPr/>
        </p:nvPicPr>
        <p:blipFill>
          <a:blip r:embed="rId5"/>
          <a:stretch>
            <a:fillRect/>
          </a:stretch>
        </p:blipFill>
        <p:spPr>
          <a:xfrm>
            <a:off x="594360" y="2834640"/>
            <a:ext cx="365760" cy="365760"/>
          </a:xfrm>
          <a:prstGeom prst="rect">
            <a:avLst/>
          </a:prstGeom>
        </p:spPr>
      </p:pic>
      <p:sp>
        <p:nvSpPr>
          <p:cNvPr id="20" name="Data tile 3 heading"/>
          <p:cNvSpPr txBox="1"/>
          <p:nvPr/>
        </p:nvSpPr>
        <p:spPr>
          <a:xfrm>
            <a:off x="1051560" y="283464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Fine geography</a:t>
            </a:r>
          </a:p>
        </p:txBody>
      </p:sp>
      <p:sp>
        <p:nvSpPr>
          <p:cNvPr id="21" name="Data tile 3 text"/>
          <p:cNvSpPr txBox="1"/>
          <p:nvPr/>
        </p:nvSpPr>
        <p:spPr>
          <a:xfrm>
            <a:off x="594360" y="331927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Countries or regions, not one national total (Nielsen 2022)</a:t>
            </a:r>
          </a:p>
        </p:txBody>
      </p:sp>
      <p:sp>
        <p:nvSpPr>
          <p:cNvPr id="22" name="Data tile 4 tile"/>
          <p:cNvSpPr/>
          <p:nvPr/>
        </p:nvSpPr>
        <p:spPr>
          <a:xfrm>
            <a:off x="4640580" y="269748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Data tile 4" descr=""/>
          <p:cNvPicPr>
            <a:picLocks noChangeAspect="1"/>
          </p:cNvPicPr>
          <p:nvPr/>
        </p:nvPicPr>
        <p:blipFill>
          <a:blip r:embed="rId6"/>
          <a:stretch>
            <a:fillRect/>
          </a:stretch>
        </p:blipFill>
        <p:spPr>
          <a:xfrm>
            <a:off x="4777740" y="2834640"/>
            <a:ext cx="365760" cy="365760"/>
          </a:xfrm>
          <a:prstGeom prst="rect">
            <a:avLst/>
          </a:prstGeom>
        </p:spPr>
      </p:pic>
      <p:sp>
        <p:nvSpPr>
          <p:cNvPr id="24" name="Data tile 4 heading"/>
          <p:cNvSpPr txBox="1"/>
          <p:nvPr/>
        </p:nvSpPr>
        <p:spPr>
          <a:xfrm>
            <a:off x="5234940" y="283464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All drivers</a:t>
            </a:r>
          </a:p>
        </p:txBody>
      </p:sp>
      <p:sp>
        <p:nvSpPr>
          <p:cNvPr id="25" name="Data tile 4 text"/>
          <p:cNvSpPr txBox="1"/>
          <p:nvPr/>
        </p:nvSpPr>
        <p:spPr>
          <a:xfrm>
            <a:off x="4777740" y="331927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Price, distribution, season and competitors, not only media</a:t>
            </a:r>
          </a:p>
        </p:txBody>
      </p:sp>
      <p:sp>
        <p:nvSpPr>
          <p:cNvPr id="26" name="Media-only box"/>
          <p:cNvSpPr/>
          <p:nvPr/>
        </p:nvSpPr>
        <p:spPr>
          <a:xfrm>
            <a:off x="457200" y="411480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edia-only figure"/>
          <p:cNvSpPr txBox="1"/>
          <p:nvPr/>
        </p:nvSpPr>
        <p:spPr>
          <a:xfrm>
            <a:off x="685800" y="4114800"/>
            <a:ext cx="1463040" cy="868680"/>
          </a:xfrm>
          <a:prstGeom prst="rect">
            <a:avLst/>
          </a:prstGeom>
          <a:noFill/>
        </p:spPr>
        <p:txBody>
          <a:bodyPr wrap="square" lIns="0" rIns="0" tIns="0" bIns="0" anchor="ctr">
            <a:noAutofit/>
          </a:bodyPr>
          <a:lstStyle/>
          <a:p>
            <a:pPr algn="l">
              <a:spcAft>
                <a:spcPts val="400"/>
              </a:spcAft>
            </a:pPr>
            <a:r>
              <a:rPr sz="2800" b="1" lang="en-GB">
                <a:solidFill>
                  <a:schemeClr val="bg1"/>
                </a:solidFill>
                <a:latin typeface="+mj-lt"/>
              </a:rPr>
              <a:t>+68 %</a:t>
            </a:r>
          </a:p>
        </p:txBody>
      </p:sp>
      <p:sp>
        <p:nvSpPr>
          <p:cNvPr id="28" name="Media-only text"/>
          <p:cNvSpPr txBox="1"/>
          <p:nvPr/>
        </p:nvSpPr>
        <p:spPr>
          <a:xfrm>
            <a:off x="2194560" y="4114800"/>
            <a:ext cx="630936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A media-only model </a:t>
            </a:r>
            <a:r>
              <a:rPr sz="1200" b="0" lang="en-GB">
                <a:solidFill>
                  <a:schemeClr val="bg1"/>
                </a:solidFill>
              </a:rPr>
              <a:t>overstated advertising ROI by 68 % compared with a model that included the other drivers (Nielsen 2022).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Four pitfalls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itfall 1 body"/>
          <p:cNvSpPr/>
          <p:nvPr/>
        </p:nvSpPr>
        <p:spPr>
          <a:xfrm>
            <a:off x="457200" y="164592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itfall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itfall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Endogeneity</a:t>
            </a:r>
          </a:p>
        </p:txBody>
      </p:sp>
      <p:pic>
        <p:nvPicPr>
          <p:cNvPr id="13" name="Icon Pitfall 1" descr=""/>
          <p:cNvPicPr>
            <a:picLocks noChangeAspect="1"/>
          </p:cNvPicPr>
          <p:nvPr/>
        </p:nvPicPr>
        <p:blipFill>
          <a:blip r:embed="rId3"/>
          <a:stretch>
            <a:fillRect/>
          </a:stretch>
        </p:blipFill>
        <p:spPr>
          <a:xfrm>
            <a:off x="4064508" y="1284732"/>
            <a:ext cx="310896" cy="310896"/>
          </a:xfrm>
          <a:prstGeom prst="rect">
            <a:avLst/>
          </a:prstGeom>
        </p:spPr>
      </p:pic>
      <p:sp>
        <p:nvSpPr>
          <p:cNvPr id="14" name="Pitfall 1 text"/>
          <p:cNvSpPr txBox="1"/>
          <p:nvPr/>
        </p:nvSpPr>
        <p:spPr>
          <a:xfrm>
            <a:off x="621792" y="178308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Budgets follow demand: TV peaks before Christmas, when people buy anyway</a:t>
            </a:r>
          </a:p>
        </p:txBody>
      </p:sp>
      <p:sp>
        <p:nvSpPr>
          <p:cNvPr id="15" name="Pitfall 2 body"/>
          <p:cNvSpPr/>
          <p:nvPr/>
        </p:nvSpPr>
        <p:spPr>
          <a:xfrm>
            <a:off x="4640580" y="164592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itfall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itfall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Multicollinearity</a:t>
            </a:r>
          </a:p>
        </p:txBody>
      </p:sp>
      <p:pic>
        <p:nvPicPr>
          <p:cNvPr id="18" name="Icon Pitfall 2" descr=""/>
          <p:cNvPicPr>
            <a:picLocks noChangeAspect="1"/>
          </p:cNvPicPr>
          <p:nvPr/>
        </p:nvPicPr>
        <p:blipFill>
          <a:blip r:embed="rId4"/>
          <a:stretch>
            <a:fillRect/>
          </a:stretch>
        </p:blipFill>
        <p:spPr>
          <a:xfrm>
            <a:off x="8247888" y="1284732"/>
            <a:ext cx="310896" cy="310896"/>
          </a:xfrm>
          <a:prstGeom prst="rect">
            <a:avLst/>
          </a:prstGeom>
        </p:spPr>
      </p:pic>
      <p:sp>
        <p:nvSpPr>
          <p:cNvPr id="19" name="Pitfall 2 text"/>
          <p:cNvSpPr txBox="1"/>
          <p:nvPr/>
        </p:nvSpPr>
        <p:spPr>
          <a:xfrm>
            <a:off x="4805172" y="178308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Channels that move together cannot be told apart; check the VIF</a:t>
            </a:r>
          </a:p>
        </p:txBody>
      </p:sp>
      <p:sp>
        <p:nvSpPr>
          <p:cNvPr id="20" name="Pitfall 3 body"/>
          <p:cNvSpPr/>
          <p:nvPr/>
        </p:nvSpPr>
        <p:spPr>
          <a:xfrm>
            <a:off x="457200" y="310896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itfall 3 header"/>
          <p:cNvSpPr/>
          <p:nvPr/>
        </p:nvSpPr>
        <p:spPr>
          <a:xfrm>
            <a:off x="457200" y="26974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itfall 3 heading"/>
          <p:cNvSpPr txBox="1"/>
          <p:nvPr/>
        </p:nvSpPr>
        <p:spPr>
          <a:xfrm>
            <a:off x="594360" y="26974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Overfitting</a:t>
            </a:r>
          </a:p>
        </p:txBody>
      </p:sp>
      <p:pic>
        <p:nvPicPr>
          <p:cNvPr id="23" name="Icon Pitfall 3" descr=""/>
          <p:cNvPicPr>
            <a:picLocks noChangeAspect="1"/>
          </p:cNvPicPr>
          <p:nvPr/>
        </p:nvPicPr>
        <p:blipFill>
          <a:blip r:embed="rId5"/>
          <a:stretch>
            <a:fillRect/>
          </a:stretch>
        </p:blipFill>
        <p:spPr>
          <a:xfrm>
            <a:off x="4064508" y="2747772"/>
            <a:ext cx="310896" cy="310896"/>
          </a:xfrm>
          <a:prstGeom prst="rect">
            <a:avLst/>
          </a:prstGeom>
        </p:spPr>
      </p:pic>
      <p:sp>
        <p:nvSpPr>
          <p:cNvPr id="24" name="Pitfall 3 text"/>
          <p:cNvSpPr txBox="1"/>
          <p:nvPr/>
        </p:nvSpPr>
        <p:spPr>
          <a:xfrm>
            <a:off x="621792" y="324612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Many parameters, few weeks: the fit looks great, the forecast fails</a:t>
            </a:r>
          </a:p>
        </p:txBody>
      </p:sp>
      <p:sp>
        <p:nvSpPr>
          <p:cNvPr id="25" name="Pitfall 4 body"/>
          <p:cNvSpPr/>
          <p:nvPr/>
        </p:nvSpPr>
        <p:spPr>
          <a:xfrm>
            <a:off x="4640580" y="310896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itfall 4 header"/>
          <p:cNvSpPr/>
          <p:nvPr/>
        </p:nvSpPr>
        <p:spPr>
          <a:xfrm>
            <a:off x="4640580" y="26974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itfall 4 heading"/>
          <p:cNvSpPr txBox="1"/>
          <p:nvPr/>
        </p:nvSpPr>
        <p:spPr>
          <a:xfrm>
            <a:off x="4777740" y="26974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Identification</a:t>
            </a:r>
          </a:p>
        </p:txBody>
      </p:sp>
      <p:pic>
        <p:nvPicPr>
          <p:cNvPr id="28" name="Icon Pitfall 4" descr=""/>
          <p:cNvPicPr>
            <a:picLocks noChangeAspect="1"/>
          </p:cNvPicPr>
          <p:nvPr/>
        </p:nvPicPr>
        <p:blipFill>
          <a:blip r:embed="rId6"/>
          <a:stretch>
            <a:fillRect/>
          </a:stretch>
        </p:blipFill>
        <p:spPr>
          <a:xfrm>
            <a:off x="8247888" y="2747772"/>
            <a:ext cx="310896" cy="310896"/>
          </a:xfrm>
          <a:prstGeom prst="rect">
            <a:avLst/>
          </a:prstGeom>
        </p:spPr>
      </p:pic>
      <p:sp>
        <p:nvSpPr>
          <p:cNvPr id="29" name="Pitfall 4 text"/>
          <p:cNvSpPr txBox="1"/>
          <p:nvPr/>
        </p:nvSpPr>
        <p:spPr>
          <a:xfrm>
            <a:off x="4805172" y="324612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Saturation and effects that change over time can mimic each other</a:t>
            </a:r>
          </a:p>
        </p:txBody>
      </p:sp>
      <p:sp>
        <p:nvSpPr>
          <p:cNvPr id="30" name="Heusch box"/>
          <p:cNvSpPr/>
          <p:nvPr/>
        </p:nvSpPr>
        <p:spPr>
          <a:xfrm>
            <a:off x="457200" y="411480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Heusch figure"/>
          <p:cNvSpPr txBox="1"/>
          <p:nvPr/>
        </p:nvSpPr>
        <p:spPr>
          <a:xfrm>
            <a:off x="685800" y="4114800"/>
            <a:ext cx="1737360" cy="868680"/>
          </a:xfrm>
          <a:prstGeom prst="rect">
            <a:avLst/>
          </a:prstGeom>
          <a:noFill/>
        </p:spPr>
        <p:txBody>
          <a:bodyPr wrap="square" lIns="0" rIns="0" tIns="0" bIns="0" anchor="ctr">
            <a:noAutofit/>
          </a:bodyPr>
          <a:lstStyle/>
          <a:p>
            <a:pPr algn="l">
              <a:spcAft>
                <a:spcPts val="400"/>
              </a:spcAft>
            </a:pPr>
            <a:r>
              <a:rPr sz="2200" b="1" lang="en-GB">
                <a:solidFill>
                  <a:schemeClr val="bg1"/>
                </a:solidFill>
                <a:latin typeface="+mj-lt"/>
              </a:rPr>
              <a:t>10.6 vs 4.2</a:t>
            </a:r>
          </a:p>
        </p:txBody>
      </p:sp>
      <p:sp>
        <p:nvSpPr>
          <p:cNvPr id="32" name="Heusch text"/>
          <p:cNvSpPr txBox="1"/>
          <p:nvPr/>
        </p:nvSpPr>
        <p:spPr>
          <a:xfrm>
            <a:off x="2514600" y="4114800"/>
            <a:ext cx="598932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Paid-search ROAS: </a:t>
            </a:r>
            <a:r>
              <a:rPr sz="1200" b="0" lang="en-GB">
                <a:solidFill>
                  <a:schemeClr val="bg1"/>
                </a:solidFill>
              </a:rPr>
              <a:t>a standard MMM against geo experiments at Zalando (Heusch 2026).</a:t>
            </a:r>
          </a:p>
        </p:txBody>
      </p:sp>
      <p:sp>
        <p:nvSpPr>
          <p:cNvPr id="33" name="Sources"/>
          <p:cNvSpPr txBox="1"/>
          <p:nvPr/>
        </p:nvSpPr>
        <p:spPr>
          <a:xfrm>
            <a:off x="457200" y="500176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Chan &amp; Perry 2017; Dew et al. 2024; Heusch 2026  ·  VIF, tests, endogeneity: deck 01b, Part 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Validate before you trust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lidation steps step 1"/>
          <p:cNvSpPr/>
          <p:nvPr/>
        </p:nvSpPr>
        <p:spPr>
          <a:xfrm>
            <a:off x="457200" y="1234440"/>
            <a:ext cx="2139696"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Fit</a:t>
            </a:r>
          </a:p>
        </p:txBody>
      </p:sp>
      <p:sp>
        <p:nvSpPr>
          <p:cNvPr id="11" name="Validation steps step 2"/>
          <p:cNvSpPr/>
          <p:nvPr/>
        </p:nvSpPr>
        <p:spPr>
          <a:xfrm>
            <a:off x="2487168"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Holdout</a:t>
            </a:r>
            <a:br/>
            <a:r>
              <a:rPr sz="1200" b="1" lang="en-GB">
                <a:solidFill>
                  <a:schemeClr val="tx2"/>
                </a:solidFill>
              </a:rPr>
              <a:t>forecast</a:t>
            </a:r>
          </a:p>
        </p:txBody>
      </p:sp>
      <p:sp>
        <p:nvSpPr>
          <p:cNvPr id="12" name="Validation steps step 3"/>
          <p:cNvSpPr/>
          <p:nvPr/>
        </p:nvSpPr>
        <p:spPr>
          <a:xfrm>
            <a:off x="4517136"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Plausibility</a:t>
            </a:r>
            <a:br/>
            <a:r>
              <a:rPr sz="1200" b="1" lang="en-GB">
                <a:solidFill>
                  <a:schemeClr val="tx2"/>
                </a:solidFill>
              </a:rPr>
              <a:t>checks</a:t>
            </a:r>
          </a:p>
        </p:txBody>
      </p:sp>
      <p:sp>
        <p:nvSpPr>
          <p:cNvPr id="13" name="Validation steps step 4"/>
          <p:cNvSpPr/>
          <p:nvPr/>
        </p:nvSpPr>
        <p:spPr>
          <a:xfrm>
            <a:off x="6547104" y="1234440"/>
            <a:ext cx="2139696" cy="548640"/>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Calibrate with</a:t>
            </a:r>
            <a:br/>
            <a:r>
              <a:rPr sz="1200" b="1" lang="en-GB">
                <a:solidFill>
                  <a:schemeClr val="bg1"/>
                </a:solidFill>
              </a:rPr>
              <a:t>experiments</a:t>
            </a:r>
          </a:p>
        </p:txBody>
      </p:sp>
      <p:sp>
        <p:nvSpPr>
          <p:cNvPr id="14" name="Validation card 1 body"/>
          <p:cNvSpPr/>
          <p:nvPr/>
        </p:nvSpPr>
        <p:spPr>
          <a:xfrm>
            <a:off x="45720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alidatio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alidatio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Holdout</a:t>
            </a:r>
          </a:p>
        </p:txBody>
      </p:sp>
      <p:pic>
        <p:nvPicPr>
          <p:cNvPr id="17" name="Icon Validation card 1" descr=""/>
          <p:cNvPicPr>
            <a:picLocks noChangeAspect="1"/>
          </p:cNvPicPr>
          <p:nvPr/>
        </p:nvPicPr>
        <p:blipFill>
          <a:blip r:embed="rId3"/>
          <a:stretch>
            <a:fillRect/>
          </a:stretch>
        </p:blipFill>
        <p:spPr>
          <a:xfrm>
            <a:off x="2670048" y="2016252"/>
            <a:ext cx="310896" cy="310896"/>
          </a:xfrm>
          <a:prstGeom prst="rect">
            <a:avLst/>
          </a:prstGeom>
        </p:spPr>
      </p:pic>
      <p:sp>
        <p:nvSpPr>
          <p:cNvPr id="18" name="Validation card 1 text"/>
          <p:cNvSpPr txBox="1"/>
          <p:nvPr/>
        </p:nvSpPr>
        <p:spPr>
          <a:xfrm>
            <a:off x="62179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Fit to two years</a:t>
            </a:r>
          </a:p>
          <a:p>
            <a:pPr algn="l" marL="182880" indent="-182880">
              <a:spcAft>
                <a:spcPts val="600"/>
              </a:spcAft>
              <a:buClr>
                <a:schemeClr val="accent1"/>
              </a:buClr>
              <a:buFont typeface="Arial"/>
              <a:buChar char="▪"/>
            </a:pPr>
            <a:r>
              <a:rPr sz="1300" b="0" lang="en-GB">
                <a:solidFill>
                  <a:schemeClr val="tx1"/>
                </a:solidFill>
              </a:rPr>
              <a:t>Forecast the third</a:t>
            </a:r>
          </a:p>
          <a:p>
            <a:pPr algn="l" marL="182880" indent="-182880">
              <a:spcAft>
                <a:spcPts val="600"/>
              </a:spcAft>
              <a:buClr>
                <a:schemeClr val="accent1"/>
              </a:buClr>
              <a:buFont typeface="Arial"/>
              <a:buChar char="▪"/>
            </a:pPr>
            <a:r>
              <a:rPr sz="1300" b="0" lang="en-GB">
                <a:solidFill>
                  <a:schemeClr val="tx1"/>
                </a:solidFill>
              </a:rPr>
              <a:t>Compare errors (MAPE)</a:t>
            </a:r>
          </a:p>
        </p:txBody>
      </p:sp>
      <p:sp>
        <p:nvSpPr>
          <p:cNvPr id="19" name="Validation card 2 body"/>
          <p:cNvSpPr/>
          <p:nvPr/>
        </p:nvSpPr>
        <p:spPr>
          <a:xfrm>
            <a:off x="324612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alidatio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alidatio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Plausibility</a:t>
            </a:r>
          </a:p>
        </p:txBody>
      </p:sp>
      <p:pic>
        <p:nvPicPr>
          <p:cNvPr id="22" name="Icon Validation card 2" descr=""/>
          <p:cNvPicPr>
            <a:picLocks noChangeAspect="1"/>
          </p:cNvPicPr>
          <p:nvPr/>
        </p:nvPicPr>
        <p:blipFill>
          <a:blip r:embed="rId4"/>
          <a:stretch>
            <a:fillRect/>
          </a:stretch>
        </p:blipFill>
        <p:spPr>
          <a:xfrm>
            <a:off x="5458968" y="2016252"/>
            <a:ext cx="310896" cy="310896"/>
          </a:xfrm>
          <a:prstGeom prst="rect">
            <a:avLst/>
          </a:prstGeom>
        </p:spPr>
      </p:pic>
      <p:sp>
        <p:nvSpPr>
          <p:cNvPr id="23" name="Validation card 2 text"/>
          <p:cNvSpPr txBox="1"/>
          <p:nvPr/>
        </p:nvSpPr>
        <p:spPr>
          <a:xfrm>
            <a:off x="341071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Media effects positive</a:t>
            </a:r>
          </a:p>
          <a:p>
            <a:pPr algn="l" marL="182880" indent="-182880">
              <a:spcAft>
                <a:spcPts val="600"/>
              </a:spcAft>
              <a:buClr>
                <a:schemeClr val="accent1"/>
              </a:buClr>
              <a:buFont typeface="Arial"/>
              <a:buChar char="▪"/>
            </a:pPr>
            <a:r>
              <a:rPr sz="1300" b="0" lang="en-GB">
                <a:solidFill>
                  <a:schemeClr val="tx1"/>
                </a:solidFill>
              </a:rPr>
              <a:t>Half-lives and elasticities near benchmarks</a:t>
            </a:r>
          </a:p>
          <a:p>
            <a:pPr algn="l" marL="182880" indent="-182880">
              <a:spcAft>
                <a:spcPts val="600"/>
              </a:spcAft>
              <a:buClr>
                <a:schemeClr val="accent1"/>
              </a:buClr>
              <a:buFont typeface="Arial"/>
              <a:buChar char="▪"/>
            </a:pPr>
            <a:r>
              <a:rPr sz="1300" b="0" lang="en-GB">
                <a:solidFill>
                  <a:schemeClr val="tx1"/>
                </a:solidFill>
              </a:rPr>
              <a:t>Stable when data change</a:t>
            </a:r>
          </a:p>
        </p:txBody>
      </p:sp>
      <p:sp>
        <p:nvSpPr>
          <p:cNvPr id="24" name="Validation card 3 body"/>
          <p:cNvSpPr/>
          <p:nvPr/>
        </p:nvSpPr>
        <p:spPr>
          <a:xfrm>
            <a:off x="603504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Validatio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Validatio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Experiments</a:t>
            </a:r>
          </a:p>
        </p:txBody>
      </p:sp>
      <p:pic>
        <p:nvPicPr>
          <p:cNvPr id="27" name="Icon Validation card 3" descr=""/>
          <p:cNvPicPr>
            <a:picLocks noChangeAspect="1"/>
          </p:cNvPicPr>
          <p:nvPr/>
        </p:nvPicPr>
        <p:blipFill>
          <a:blip r:embed="rId5"/>
          <a:stretch>
            <a:fillRect/>
          </a:stretch>
        </p:blipFill>
        <p:spPr>
          <a:xfrm>
            <a:off x="8247888" y="2016252"/>
            <a:ext cx="310896" cy="310896"/>
          </a:xfrm>
          <a:prstGeom prst="rect">
            <a:avLst/>
          </a:prstGeom>
        </p:spPr>
      </p:pic>
      <p:sp>
        <p:nvSpPr>
          <p:cNvPr id="28" name="Validation card 3 text"/>
          <p:cNvSpPr txBox="1"/>
          <p:nvPr/>
        </p:nvSpPr>
        <p:spPr>
          <a:xfrm>
            <a:off x="619963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Spend up or off in test regions</a:t>
            </a:r>
          </a:p>
          <a:p>
            <a:pPr algn="l" marL="182880" indent="-182880">
              <a:spcAft>
                <a:spcPts val="600"/>
              </a:spcAft>
              <a:buClr>
                <a:schemeClr val="accent1"/>
              </a:buClr>
              <a:buFont typeface="Arial"/>
              <a:buChar char="▪"/>
            </a:pPr>
            <a:r>
              <a:rPr sz="1300" b="0" lang="en-GB">
                <a:solidFill>
                  <a:schemeClr val="tx1"/>
                </a:solidFill>
              </a:rPr>
              <a:t>Lift = test minus control</a:t>
            </a:r>
          </a:p>
          <a:p>
            <a:pPr algn="l" marL="182880" indent="-182880">
              <a:spcAft>
                <a:spcPts val="600"/>
              </a:spcAft>
              <a:buClr>
                <a:schemeClr val="accent1"/>
              </a:buClr>
              <a:buFont typeface="Arial"/>
              <a:buChar char="▪"/>
            </a:pPr>
            <a:r>
              <a:rPr sz="1300" b="0" lang="en-GB">
                <a:solidFill>
                  <a:schemeClr val="tx1"/>
                </a:solidFill>
              </a:rPr>
              <a:t>Geo tests: test versus control regions</a:t>
            </a:r>
          </a:p>
        </p:txBody>
      </p:sp>
      <p:sp>
        <p:nvSpPr>
          <p:cNvPr id="29" name="Gordon box"/>
          <p:cNvSpPr/>
          <p:nvPr/>
        </p:nvSpPr>
        <p:spPr>
          <a:xfrm>
            <a:off x="457200" y="41605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Gordon" descr=""/>
          <p:cNvPicPr>
            <a:picLocks noChangeAspect="1"/>
          </p:cNvPicPr>
          <p:nvPr/>
        </p:nvPicPr>
        <p:blipFill>
          <a:blip r:embed="rId6"/>
          <a:stretch>
            <a:fillRect/>
          </a:stretch>
        </p:blipFill>
        <p:spPr>
          <a:xfrm>
            <a:off x="658368" y="4366260"/>
            <a:ext cx="365760" cy="365760"/>
          </a:xfrm>
          <a:prstGeom prst="rect">
            <a:avLst/>
          </a:prstGeom>
        </p:spPr>
      </p:pic>
      <p:sp>
        <p:nvSpPr>
          <p:cNvPr id="31" name="Gordon text"/>
          <p:cNvSpPr txBox="1"/>
          <p:nvPr/>
        </p:nvSpPr>
        <p:spPr>
          <a:xfrm>
            <a:off x="1207008" y="41605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Why experiments: </a:t>
            </a:r>
            <a:r>
              <a:rPr sz="1200" b="0" lang="en-GB">
                <a:solidFill>
                  <a:schemeClr val="bg1"/>
                </a:solidFill>
              </a:rPr>
              <a:t>across 663 Facebook experiments, non-experimental estimates were often far from the true lift (Part 2 showed the switch-off tests).</a:t>
            </a:r>
          </a:p>
        </p:txBody>
      </p:sp>
      <p:sp>
        <p:nvSpPr>
          <p:cNvPr id="32" name="Sources"/>
          <p:cNvSpPr txBox="1"/>
          <p:nvPr/>
        </p:nvSpPr>
        <p:spPr>
          <a:xfrm>
            <a:off x="457200" y="4965192"/>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Vaver &amp; Koehler 2011; Gordon et al. 2019; Gordon, Moakler &amp; Zettelmeyer 2023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Bayesian MMM: start from what we know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ayes box 1"/>
          <p:cNvSpPr/>
          <p:nvPr/>
        </p:nvSpPr>
        <p:spPr>
          <a:xfrm>
            <a:off x="457200" y="1234440"/>
            <a:ext cx="246888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bayes 1" descr=""/>
          <p:cNvPicPr>
            <a:picLocks noChangeAspect="1"/>
          </p:cNvPicPr>
          <p:nvPr/>
        </p:nvPicPr>
        <p:blipFill>
          <a:blip r:embed="rId3"/>
          <a:stretch>
            <a:fillRect/>
          </a:stretch>
        </p:blipFill>
        <p:spPr>
          <a:xfrm>
            <a:off x="594360" y="1344168"/>
            <a:ext cx="365760" cy="365760"/>
          </a:xfrm>
          <a:prstGeom prst="rect">
            <a:avLst/>
          </a:prstGeom>
        </p:spPr>
      </p:pic>
      <p:sp>
        <p:nvSpPr>
          <p:cNvPr id="12" name="Bayes head 1"/>
          <p:cNvSpPr txBox="1"/>
          <p:nvPr/>
        </p:nvSpPr>
        <p:spPr>
          <a:xfrm>
            <a:off x="105156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Prior</a:t>
            </a:r>
          </a:p>
        </p:txBody>
      </p:sp>
      <p:sp>
        <p:nvSpPr>
          <p:cNvPr id="13" name="Bayes text 1"/>
          <p:cNvSpPr txBox="1"/>
          <p:nvPr/>
        </p:nvSpPr>
        <p:spPr>
          <a:xfrm>
            <a:off x="59436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tx1"/>
                </a:solidFill>
              </a:rPr>
              <a:t>what we believe first: elasticities near 0.1, a lift-test result</a:t>
            </a:r>
          </a:p>
        </p:txBody>
      </p:sp>
      <p:sp>
        <p:nvSpPr>
          <p:cNvPr id="14" name="Bayes operator 1"/>
          <p:cNvSpPr txBox="1"/>
          <p:nvPr/>
        </p:nvSpPr>
        <p:spPr>
          <a:xfrm>
            <a:off x="2926080" y="1234440"/>
            <a:ext cx="411480" cy="1325880"/>
          </a:xfrm>
          <a:prstGeom prst="rect">
            <a:avLst/>
          </a:prstGeom>
          <a:noFill/>
        </p:spPr>
        <p:txBody>
          <a:bodyPr wrap="square" lIns="0" rIns="0" tIns="0" bIns="0" anchor="ctr">
            <a:noAutofit/>
          </a:bodyPr>
          <a:lstStyle/>
          <a:p>
            <a:pPr algn="ctr">
              <a:spcAft>
                <a:spcPts val="400"/>
              </a:spcAft>
            </a:pPr>
            <a:r>
              <a:rPr sz="2600" b="1" lang="en-GB">
                <a:solidFill>
                  <a:schemeClr val="accent1"/>
                </a:solidFill>
              </a:rPr>
              <a:t>+</a:t>
            </a:r>
          </a:p>
        </p:txBody>
      </p:sp>
      <p:sp>
        <p:nvSpPr>
          <p:cNvPr id="15" name="Bayes box 2"/>
          <p:cNvSpPr/>
          <p:nvPr/>
        </p:nvSpPr>
        <p:spPr>
          <a:xfrm>
            <a:off x="3337560" y="1234440"/>
            <a:ext cx="246888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bayes 2" descr=""/>
          <p:cNvPicPr>
            <a:picLocks noChangeAspect="1"/>
          </p:cNvPicPr>
          <p:nvPr/>
        </p:nvPicPr>
        <p:blipFill>
          <a:blip r:embed="rId4"/>
          <a:stretch>
            <a:fillRect/>
          </a:stretch>
        </p:blipFill>
        <p:spPr>
          <a:xfrm>
            <a:off x="3474720" y="1344168"/>
            <a:ext cx="365760" cy="365760"/>
          </a:xfrm>
          <a:prstGeom prst="rect">
            <a:avLst/>
          </a:prstGeom>
        </p:spPr>
      </p:pic>
      <p:sp>
        <p:nvSpPr>
          <p:cNvPr id="17" name="Bayes head 2"/>
          <p:cNvSpPr txBox="1"/>
          <p:nvPr/>
        </p:nvSpPr>
        <p:spPr>
          <a:xfrm>
            <a:off x="393192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Data</a:t>
            </a:r>
          </a:p>
        </p:txBody>
      </p:sp>
      <p:sp>
        <p:nvSpPr>
          <p:cNvPr id="18" name="Bayes text 2"/>
          <p:cNvSpPr txBox="1"/>
          <p:nvPr/>
        </p:nvSpPr>
        <p:spPr>
          <a:xfrm>
            <a:off x="347472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tx1"/>
                </a:solidFill>
              </a:rPr>
              <a:t>156 weeks of sales, spend and controls per country</a:t>
            </a:r>
          </a:p>
        </p:txBody>
      </p:sp>
      <p:sp>
        <p:nvSpPr>
          <p:cNvPr id="19" name="Bayes operator 2"/>
          <p:cNvSpPr txBox="1"/>
          <p:nvPr/>
        </p:nvSpPr>
        <p:spPr>
          <a:xfrm>
            <a:off x="5806440" y="1234440"/>
            <a:ext cx="411480" cy="1325880"/>
          </a:xfrm>
          <a:prstGeom prst="rect">
            <a:avLst/>
          </a:prstGeom>
          <a:noFill/>
        </p:spPr>
        <p:txBody>
          <a:bodyPr wrap="square" lIns="0" rIns="0" tIns="0" bIns="0" anchor="ctr">
            <a:noAutofit/>
          </a:bodyPr>
          <a:lstStyle/>
          <a:p>
            <a:pPr algn="ctr">
              <a:spcAft>
                <a:spcPts val="400"/>
              </a:spcAft>
            </a:pPr>
            <a:r>
              <a:rPr sz="2600" b="1" lang="en-GB">
                <a:solidFill>
                  <a:schemeClr val="accent1"/>
                </a:solidFill>
              </a:rPr>
              <a:t>→</a:t>
            </a:r>
          </a:p>
        </p:txBody>
      </p:sp>
      <p:sp>
        <p:nvSpPr>
          <p:cNvPr id="20" name="Bayes box 3"/>
          <p:cNvSpPr/>
          <p:nvPr/>
        </p:nvSpPr>
        <p:spPr>
          <a:xfrm>
            <a:off x="6217920" y="1234440"/>
            <a:ext cx="2468880" cy="1325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bayes 3" descr=""/>
          <p:cNvPicPr>
            <a:picLocks noChangeAspect="1"/>
          </p:cNvPicPr>
          <p:nvPr/>
        </p:nvPicPr>
        <p:blipFill>
          <a:blip r:embed="rId5"/>
          <a:stretch>
            <a:fillRect/>
          </a:stretch>
        </p:blipFill>
        <p:spPr>
          <a:xfrm>
            <a:off x="6355080" y="1344168"/>
            <a:ext cx="365760" cy="365760"/>
          </a:xfrm>
          <a:prstGeom prst="rect">
            <a:avLst/>
          </a:prstGeom>
        </p:spPr>
      </p:pic>
      <p:sp>
        <p:nvSpPr>
          <p:cNvPr id="22" name="Bayes head 3"/>
          <p:cNvSpPr txBox="1"/>
          <p:nvPr/>
        </p:nvSpPr>
        <p:spPr>
          <a:xfrm>
            <a:off x="681228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Posterior</a:t>
            </a:r>
          </a:p>
        </p:txBody>
      </p:sp>
      <p:sp>
        <p:nvSpPr>
          <p:cNvPr id="23" name="Bayes text 3"/>
          <p:cNvSpPr txBox="1"/>
          <p:nvPr/>
        </p:nvSpPr>
        <p:spPr>
          <a:xfrm>
            <a:off x="635508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bg1"/>
                </a:solidFill>
              </a:rPr>
              <a:t>updated belief: every effect and ROAS with a range</a:t>
            </a:r>
          </a:p>
        </p:txBody>
      </p:sp>
      <p:sp>
        <p:nvSpPr>
          <p:cNvPr id="24" name="Bayes why card body"/>
          <p:cNvSpPr/>
          <p:nvPr/>
        </p:nvSpPr>
        <p:spPr>
          <a:xfrm>
            <a:off x="457200" y="315468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Bayes why card header"/>
          <p:cNvSpPr/>
          <p:nvPr/>
        </p:nvSpPr>
        <p:spPr>
          <a:xfrm>
            <a:off x="457200" y="27432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yes why card heading"/>
          <p:cNvSpPr txBox="1"/>
          <p:nvPr/>
        </p:nvSpPr>
        <p:spPr>
          <a:xfrm>
            <a:off x="594360" y="27432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Why it suits MMM</a:t>
            </a:r>
          </a:p>
        </p:txBody>
      </p:sp>
      <p:pic>
        <p:nvPicPr>
          <p:cNvPr id="27" name="Icon Bayes why card" descr=""/>
          <p:cNvPicPr>
            <a:picLocks noChangeAspect="1"/>
          </p:cNvPicPr>
          <p:nvPr/>
        </p:nvPicPr>
        <p:blipFill>
          <a:blip r:embed="rId6"/>
          <a:stretch>
            <a:fillRect/>
          </a:stretch>
        </p:blipFill>
        <p:spPr>
          <a:xfrm>
            <a:off x="4064508" y="2793492"/>
            <a:ext cx="310896" cy="310896"/>
          </a:xfrm>
          <a:prstGeom prst="rect">
            <a:avLst/>
          </a:prstGeom>
        </p:spPr>
      </p:pic>
      <p:sp>
        <p:nvSpPr>
          <p:cNvPr id="28" name="Bayes why card text"/>
          <p:cNvSpPr txBox="1"/>
          <p:nvPr/>
        </p:nvSpPr>
        <p:spPr>
          <a:xfrm>
            <a:off x="621792" y="329184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Short series, many parameters: priors keep estimates sensible</a:t>
            </a:r>
          </a:p>
          <a:p>
            <a:pPr algn="l" marL="182880" indent="-182880">
              <a:spcAft>
                <a:spcPts val="600"/>
              </a:spcAft>
              <a:buClr>
                <a:schemeClr val="accent1"/>
              </a:buClr>
              <a:buFont typeface="Arial"/>
              <a:buChar char="▪"/>
            </a:pPr>
            <a:r>
              <a:rPr sz="1300" b="0" lang="en-GB">
                <a:solidFill>
                  <a:schemeClr val="tx1"/>
                </a:solidFill>
              </a:rPr>
              <a:t>Uncertainty for every output</a:t>
            </a:r>
          </a:p>
          <a:p>
            <a:pPr algn="l" marL="182880" indent="-182880">
              <a:spcAft>
                <a:spcPts val="600"/>
              </a:spcAft>
              <a:buClr>
                <a:schemeClr val="accent1"/>
              </a:buClr>
              <a:buFont typeface="Arial"/>
              <a:buChar char="▪"/>
            </a:pPr>
            <a:r>
              <a:rPr sz="1300" b="0" lang="en-GB">
                <a:solidFill>
                  <a:schemeClr val="tx1"/>
                </a:solidFill>
              </a:rPr>
              <a:t>Experiments enter as priors</a:t>
            </a:r>
          </a:p>
        </p:txBody>
      </p:sp>
      <p:sp>
        <p:nvSpPr>
          <p:cNvPr id="29" name="Bayes watch card body"/>
          <p:cNvSpPr/>
          <p:nvPr/>
        </p:nvSpPr>
        <p:spPr>
          <a:xfrm>
            <a:off x="4640580" y="315468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ayes watch card header"/>
          <p:cNvSpPr/>
          <p:nvPr/>
        </p:nvSpPr>
        <p:spPr>
          <a:xfrm>
            <a:off x="4640580" y="27432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Bayes watch card heading"/>
          <p:cNvSpPr txBox="1"/>
          <p:nvPr/>
        </p:nvSpPr>
        <p:spPr>
          <a:xfrm>
            <a:off x="4777740" y="27432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to watch</a:t>
            </a:r>
          </a:p>
        </p:txBody>
      </p:sp>
      <p:pic>
        <p:nvPicPr>
          <p:cNvPr id="32" name="Icon Bayes watch card" descr=""/>
          <p:cNvPicPr>
            <a:picLocks noChangeAspect="1"/>
          </p:cNvPicPr>
          <p:nvPr/>
        </p:nvPicPr>
        <p:blipFill>
          <a:blip r:embed="rId7"/>
          <a:stretch>
            <a:fillRect/>
          </a:stretch>
        </p:blipFill>
        <p:spPr>
          <a:xfrm>
            <a:off x="8247888" y="2793492"/>
            <a:ext cx="310896" cy="310896"/>
          </a:xfrm>
          <a:prstGeom prst="rect">
            <a:avLst/>
          </a:prstGeom>
        </p:spPr>
      </p:pic>
      <p:sp>
        <p:nvSpPr>
          <p:cNvPr id="33" name="Bayes watch card text"/>
          <p:cNvSpPr txBox="1"/>
          <p:nvPr/>
        </p:nvSpPr>
        <p:spPr>
          <a:xfrm>
            <a:off x="4805172" y="329184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Weak data: the prior decides; compare prior and posterior</a:t>
            </a:r>
          </a:p>
          <a:p>
            <a:pPr algn="l" marL="182880" indent="-182880">
              <a:spcAft>
                <a:spcPts val="600"/>
              </a:spcAft>
              <a:buClr>
                <a:schemeClr val="accent1"/>
              </a:buClr>
              <a:buFont typeface="Arial"/>
              <a:buChar char="▪"/>
            </a:pPr>
            <a:r>
              <a:rPr sz="1300" b="0" lang="en-GB">
                <a:solidFill>
                  <a:schemeClr val="tx1"/>
                </a:solidFill>
              </a:rPr>
              <a:t>Check that the sampler converged</a:t>
            </a:r>
          </a:p>
          <a:p>
            <a:pPr algn="l" marL="182880" indent="-182880">
              <a:spcAft>
                <a:spcPts val="600"/>
              </a:spcAft>
              <a:buClr>
                <a:schemeClr val="accent1"/>
              </a:buClr>
              <a:buFont typeface="Arial"/>
              <a:buChar char="▪"/>
            </a:pPr>
            <a:r>
              <a:rPr sz="1300" b="0" lang="en-GB">
                <a:solidFill>
                  <a:schemeClr val="tx1"/>
                </a:solidFill>
              </a:rPr>
              <a:t>State and justify every prior</a:t>
            </a:r>
          </a:p>
        </p:txBody>
      </p:sp>
      <p:sp>
        <p:nvSpPr>
          <p:cNvPr id="3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Jin et al. 2017; Hanssens 2018; Zhang et al. 2024 (Google)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ools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1371600"/>
                <a:gridCol w="2286000"/>
                <a:gridCol w="2286000"/>
                <a:gridCol w="2286000"/>
              </a:tblGrid>
              <a:tr h="370840">
                <a:tc>
                  <a:txBody>
                    <a:bodyPr/>
                    <a:lstStyle/>
                    <a:p>
                      <a:r>
                        <a:rPr sz="1500" lang="en-GB"/>
                        <a:t/>
                      </a:r>
                    </a:p>
                  </a:txBody>
                  <a:tcPr marT="60000" marB="60000"/>
                </a:tc>
                <a:tc>
                  <a:txBody>
                    <a:bodyPr/>
                    <a:lstStyle/>
                    <a:p>
                      <a:r>
                        <a:rPr sz="1500" lang="en-GB"/>
                        <a:t>Robyn</a:t>
                      </a:r>
                    </a:p>
                  </a:txBody>
                  <a:tcPr marT="60000" marB="60000"/>
                </a:tc>
                <a:tc>
                  <a:txBody>
                    <a:bodyPr/>
                    <a:lstStyle/>
                    <a:p>
                      <a:r>
                        <a:rPr sz="1500" lang="en-GB"/>
                        <a:t>Meridian</a:t>
                      </a:r>
                    </a:p>
                  </a:txBody>
                  <a:tcPr marT="60000" marB="60000"/>
                </a:tc>
                <a:tc>
                  <a:txBody>
                    <a:bodyPr/>
                    <a:lstStyle/>
                    <a:p>
                      <a:r>
                        <a:rPr sz="1500" lang="en-GB"/>
                        <a:t>PyMC-Marketing</a:t>
                      </a:r>
                    </a:p>
                  </a:txBody>
                  <a:tcPr marT="60000" marB="60000"/>
                </a:tc>
              </a:tr>
              <a:tr h="370840">
                <a:tc>
                  <a:txBody>
                    <a:bodyPr/>
                    <a:lstStyle/>
                    <a:p>
                      <a:r>
                        <a:rPr sz="1300" b="1" lang="en-GB"/>
                        <a:t>Maker</a:t>
                      </a:r>
                    </a:p>
                  </a:txBody>
                  <a:tcPr marT="60000" marB="60000"/>
                </a:tc>
                <a:tc>
                  <a:txBody>
                    <a:bodyPr/>
                    <a:lstStyle/>
                    <a:p>
                      <a:r>
                        <a:rPr sz="1300" lang="en-GB"/>
                        <a:t>Meta</a:t>
                      </a:r>
                    </a:p>
                  </a:txBody>
                  <a:tcPr marT="60000" marB="60000"/>
                </a:tc>
                <a:tc>
                  <a:txBody>
                    <a:bodyPr/>
                    <a:lstStyle/>
                    <a:p>
                      <a:r>
                        <a:rPr sz="1300" lang="en-GB"/>
                        <a:t>Google</a:t>
                      </a:r>
                    </a:p>
                  </a:txBody>
                  <a:tcPr marT="60000" marB="60000"/>
                </a:tc>
                <a:tc>
                  <a:txBody>
                    <a:bodyPr/>
                    <a:lstStyle/>
                    <a:p>
                      <a:r>
                        <a:rPr sz="1300" lang="en-GB"/>
                        <a:t>PyMC Labs</a:t>
                      </a:r>
                    </a:p>
                  </a:txBody>
                  <a:tcPr marT="60000" marB="60000"/>
                </a:tc>
              </a:tr>
              <a:tr h="370840">
                <a:tc>
                  <a:txBody>
                    <a:bodyPr/>
                    <a:lstStyle/>
                    <a:p>
                      <a:r>
                        <a:rPr sz="1300" b="1" lang="en-GB"/>
                        <a:t>Language</a:t>
                      </a:r>
                    </a:p>
                  </a:txBody>
                  <a:tcPr marT="60000" marB="60000"/>
                </a:tc>
                <a:tc>
                  <a:txBody>
                    <a:bodyPr/>
                    <a:lstStyle/>
                    <a:p>
                      <a:r>
                        <a:rPr sz="1300" lang="en-GB"/>
                        <a:t>R (Python beta)</a:t>
                      </a:r>
                    </a:p>
                  </a:txBody>
                  <a:tcPr marT="60000" marB="60000"/>
                </a:tc>
                <a:tc>
                  <a:txBody>
                    <a:bodyPr/>
                    <a:lstStyle/>
                    <a:p>
                      <a:r>
                        <a:rPr sz="1300" lang="en-GB"/>
                        <a:t>Python</a:t>
                      </a:r>
                    </a:p>
                  </a:txBody>
                  <a:tcPr marT="60000" marB="60000"/>
                </a:tc>
                <a:tc>
                  <a:txBody>
                    <a:bodyPr/>
                    <a:lstStyle/>
                    <a:p>
                      <a:r>
                        <a:rPr sz="1300" lang="en-GB"/>
                        <a:t>Python</a:t>
                      </a:r>
                    </a:p>
                  </a:txBody>
                  <a:tcPr marT="60000" marB="60000"/>
                </a:tc>
              </a:tr>
              <a:tr h="370840">
                <a:tc>
                  <a:txBody>
                    <a:bodyPr/>
                    <a:lstStyle/>
                    <a:p>
                      <a:r>
                        <a:rPr sz="1300" b="1" lang="en-GB"/>
                        <a:t>Method</a:t>
                      </a:r>
                    </a:p>
                  </a:txBody>
                  <a:tcPr marT="60000" marB="60000"/>
                </a:tc>
                <a:tc>
                  <a:txBody>
                    <a:bodyPr/>
                    <a:lstStyle/>
                    <a:p>
                      <a:r>
                        <a:rPr sz="1300" lang="en-GB"/>
                        <a:t>ridge regression with automated search</a:t>
                      </a:r>
                    </a:p>
                  </a:txBody>
                  <a:tcPr marT="60000" marB="60000"/>
                </a:tc>
                <a:tc>
                  <a:txBody>
                    <a:bodyPr/>
                    <a:lstStyle/>
                    <a:p>
                      <a:r>
                        <a:rPr sz="1300" lang="en-GB"/>
                        <a:t>hierarchical Bayesian, by geo</a:t>
                      </a:r>
                    </a:p>
                  </a:txBody>
                  <a:tcPr marT="60000" marB="60000"/>
                </a:tc>
                <a:tc>
                  <a:txBody>
                    <a:bodyPr/>
                    <a:lstStyle/>
                    <a:p>
                      <a:r>
                        <a:rPr sz="1300" lang="en-GB"/>
                        <a:t>Bayesian, modular</a:t>
                      </a:r>
                    </a:p>
                  </a:txBody>
                  <a:tcPr marT="60000" marB="60000"/>
                </a:tc>
              </a:tr>
              <a:tr h="370840">
                <a:tc>
                  <a:txBody>
                    <a:bodyPr/>
                    <a:lstStyle/>
                    <a:p>
                      <a:r>
                        <a:rPr sz="1300" b="1" lang="en-GB"/>
                        <a:t>Strengths</a:t>
                      </a:r>
                    </a:p>
                  </a:txBody>
                  <a:tcPr marT="60000" marB="60000"/>
                </a:tc>
                <a:tc>
                  <a:txBody>
                    <a:bodyPr/>
                    <a:lstStyle/>
                    <a:p>
                      <a:r>
                        <a:rPr sz="1300" lang="en-GB"/>
                        <a:t>calibration, budget allocator, widely used</a:t>
                      </a:r>
                    </a:p>
                  </a:txBody>
                  <a:tcPr marT="60000" marB="60000"/>
                </a:tc>
                <a:tc>
                  <a:txBody>
                    <a:bodyPr/>
                    <a:lstStyle/>
                    <a:p>
                      <a:r>
                        <a:rPr sz="1300" lang="en-GB"/>
                        <a:t>many geos, reach and frequency, ROI priors</a:t>
                      </a:r>
                    </a:p>
                  </a:txBody>
                  <a:tcPr marT="60000" marB="60000"/>
                </a:tc>
                <a:tc>
                  <a:txBody>
                    <a:bodyPr/>
                    <a:lstStyle/>
                    <a:p>
                      <a:r>
                        <a:rPr sz="1300" lang="en-GB"/>
                        <a:t>lift-test calibration, time-varying effects, optimiser</a:t>
                      </a:r>
                    </a:p>
                  </a:txBody>
                  <a:tcPr marT="60000" marB="60000"/>
                </a:tc>
              </a:tr>
              <a:tr h="370840">
                <a:tc>
                  <a:txBody>
                    <a:bodyPr/>
                    <a:lstStyle/>
                    <a:p>
                      <a:r>
                        <a:rPr sz="1300" b="1" lang="en-GB"/>
                        <a:t>Version</a:t>
                      </a:r>
                    </a:p>
                  </a:txBody>
                  <a:tcPr marT="60000" marB="60000"/>
                </a:tc>
                <a:tc>
                  <a:txBody>
                    <a:bodyPr/>
                    <a:lstStyle/>
                    <a:p>
                      <a:r>
                        <a:rPr sz="1300" lang="en-GB"/>
                        <a:t>3.12.0 (Dec 2024)</a:t>
                      </a:r>
                    </a:p>
                  </a:txBody>
                  <a:tcPr marT="60000" marB="60000"/>
                </a:tc>
                <a:tc>
                  <a:txBody>
                    <a:bodyPr/>
                    <a:lstStyle/>
                    <a:p>
                      <a:r>
                        <a:rPr sz="1300" lang="en-GB"/>
                        <a:t>2.1.0 (Sep 2026)</a:t>
                      </a:r>
                    </a:p>
                  </a:txBody>
                  <a:tcPr marT="60000" marB="60000"/>
                </a:tc>
                <a:tc>
                  <a:txBody>
                    <a:bodyPr/>
                    <a:lstStyle/>
                    <a:p>
                      <a:r>
                        <a:rPr sz="1300" lang="en-GB"/>
                        <a:t>1.2.0 (Sep 2026)</a:t>
                      </a:r>
                    </a:p>
                  </a:txBody>
                  <a:tcPr marT="60000" marB="60000"/>
                </a:tc>
              </a:tr>
            </a:tbl>
          </a:graphicData>
        </a:graphic>
      </p:graphicFrame>
      <p:sp>
        <p:nvSpPr>
          <p:cNvPr id="3" name="Title 2"/>
          <p:cNvSpPr>
            <a:spLocks noGrp="1"/>
          </p:cNvSpPr>
          <p:nvPr>
            <p:ph type="title"/>
          </p:nvPr>
        </p:nvSpPr>
        <p:spPr/>
        <p:txBody>
          <a:bodyPr/>
          <a:lstStyle/>
          <a:p>
            <a:r>
              <a:rPr sz="1600" lang="en-GB"/>
              <a:t>Open-source MMM tools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s course box"/>
          <p:cNvSpPr/>
          <p:nvPr/>
        </p:nvSpPr>
        <p:spPr>
          <a:xfrm>
            <a:off x="457200" y="4224528"/>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ools course" descr=""/>
          <p:cNvPicPr>
            <a:picLocks noChangeAspect="1"/>
          </p:cNvPicPr>
          <p:nvPr/>
        </p:nvPicPr>
        <p:blipFill>
          <a:blip r:embed="rId3"/>
          <a:stretch>
            <a:fillRect/>
          </a:stretch>
        </p:blipFill>
        <p:spPr>
          <a:xfrm>
            <a:off x="658368" y="4315968"/>
            <a:ext cx="365760" cy="365760"/>
          </a:xfrm>
          <a:prstGeom prst="rect">
            <a:avLst/>
          </a:prstGeom>
        </p:spPr>
      </p:pic>
      <p:sp>
        <p:nvSpPr>
          <p:cNvPr id="12" name="Tools course text"/>
          <p:cNvSpPr txBox="1"/>
          <p:nvPr/>
        </p:nvSpPr>
        <p:spPr>
          <a:xfrm>
            <a:off x="1207008" y="4224528"/>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In this course: </a:t>
            </a:r>
            <a:r>
              <a:rPr sz="1200" b="0" lang="en-GB">
                <a:solidFill>
                  <a:schemeClr val="tx1"/>
                </a:solidFill>
              </a:rPr>
              <a:t>PyMC-Marketing and Meridian in Python, Session 5; set up your AI assistant with deck 01d.</a:t>
            </a:r>
          </a:p>
        </p:txBody>
      </p:sp>
      <p:sp>
        <p:nvSpPr>
          <p:cNvPr id="1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Runge et al. 2024; Meridian and PyMC-Marketing documentation; open-source MMM review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7 · Fantini &amp; Narayandas (HBR 2023) and an in-class discussion</a:t>
            </a:r>
          </a:p>
        </p:txBody>
      </p:sp>
      <p:sp>
        <p:nvSpPr>
          <p:cNvPr id="3" name="Title 2"/>
          <p:cNvSpPr>
            <a:spLocks noGrp="1"/>
          </p:cNvSpPr>
          <p:nvPr>
            <p:ph type="ctrTitle"/>
          </p:nvPr>
        </p:nvSpPr>
        <p:spPr/>
        <p:txBody>
          <a:bodyPr/>
          <a:lstStyle/>
          <a:p>
            <a:r>
              <a:rPr sz="1600" lang="en-GB"/>
              <a:t>Reading: Analytics for Marketers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approaches to analytics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pproach steps step 1"/>
          <p:cNvSpPr/>
          <p:nvPr/>
        </p:nvSpPr>
        <p:spPr>
          <a:xfrm>
            <a:off x="457200" y="1234440"/>
            <a:ext cx="281635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Descriptive:</a:t>
            </a:r>
            <a:br/>
            <a:r>
              <a:rPr sz="1200" b="1" lang="en-GB">
                <a:solidFill>
                  <a:schemeClr val="tx2"/>
                </a:solidFill>
              </a:rPr>
              <a:t>humans decide</a:t>
            </a:r>
          </a:p>
        </p:txBody>
      </p:sp>
      <p:sp>
        <p:nvSpPr>
          <p:cNvPr id="11" name="Approach steps step 2"/>
          <p:cNvSpPr/>
          <p:nvPr/>
        </p:nvSpPr>
        <p:spPr>
          <a:xfrm>
            <a:off x="3163824"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Predictive: machines</a:t>
            </a:r>
            <a:br/>
            <a:r>
              <a:rPr sz="1200" b="1" lang="en-GB">
                <a:solidFill>
                  <a:schemeClr val="tx2"/>
                </a:solidFill>
              </a:rPr>
              <a:t>predict, humans choose</a:t>
            </a:r>
          </a:p>
        </p:txBody>
      </p:sp>
      <p:sp>
        <p:nvSpPr>
          <p:cNvPr id="12" name="Approach steps step 3"/>
          <p:cNvSpPr/>
          <p:nvPr/>
        </p:nvSpPr>
        <p:spPr>
          <a:xfrm>
            <a:off x="5870448"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Prescriptive:</a:t>
            </a:r>
            <a:br/>
            <a:r>
              <a:rPr sz="1200" b="1" lang="en-GB">
                <a:solidFill>
                  <a:schemeClr val="tx2"/>
                </a:solidFill>
              </a:rPr>
              <a:t>machines decide</a:t>
            </a:r>
          </a:p>
        </p:txBody>
      </p:sp>
      <p:sp>
        <p:nvSpPr>
          <p:cNvPr id="13" name="Approach card 1 body"/>
          <p:cNvSpPr/>
          <p:nvPr/>
        </p:nvSpPr>
        <p:spPr>
          <a:xfrm>
            <a:off x="45720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pproach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pproach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happened?</a:t>
            </a:r>
          </a:p>
        </p:txBody>
      </p:sp>
      <p:pic>
        <p:nvPicPr>
          <p:cNvPr id="16" name="Icon Approach card 1" descr=""/>
          <p:cNvPicPr>
            <a:picLocks noChangeAspect="1"/>
          </p:cNvPicPr>
          <p:nvPr/>
        </p:nvPicPr>
        <p:blipFill>
          <a:blip r:embed="rId3"/>
          <a:stretch>
            <a:fillRect/>
          </a:stretch>
        </p:blipFill>
        <p:spPr>
          <a:xfrm>
            <a:off x="2670048" y="2016252"/>
            <a:ext cx="310896" cy="310896"/>
          </a:xfrm>
          <a:prstGeom prst="rect">
            <a:avLst/>
          </a:prstGeom>
        </p:spPr>
      </p:pic>
      <p:sp>
        <p:nvSpPr>
          <p:cNvPr id="17" name="Approach card 1 text"/>
          <p:cNvSpPr txBox="1"/>
          <p:nvPr/>
        </p:nvSpPr>
        <p:spPr>
          <a:xfrm>
            <a:off x="62179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Dashboards of aggregated past data</a:t>
            </a:r>
          </a:p>
          <a:p>
            <a:pPr algn="l" marL="182880" indent="-182880">
              <a:spcAft>
                <a:spcPts val="600"/>
              </a:spcAft>
              <a:buClr>
                <a:schemeClr val="accent1"/>
              </a:buClr>
              <a:buFont typeface="Arial"/>
              <a:buChar char="▪"/>
            </a:pPr>
            <a:r>
              <a:rPr sz="1300" b="0" lang="en-GB">
                <a:solidFill>
                  <a:schemeClr val="tx1"/>
                </a:solidFill>
              </a:rPr>
              <a:t>Managers add experience and gut feeling</a:t>
            </a:r>
          </a:p>
          <a:p>
            <a:pPr algn="l" marL="182880" indent="-182880">
              <a:spcAft>
                <a:spcPts val="600"/>
              </a:spcAft>
              <a:buClr>
                <a:schemeClr val="accent1"/>
              </a:buClr>
              <a:buFont typeface="Arial"/>
              <a:buChar char="▪"/>
            </a:pPr>
            <a:r>
              <a:rPr sz="1300" b="0" lang="en-GB">
                <a:solidFill>
                  <a:schemeClr val="tx1"/>
                </a:solidFill>
              </a:rPr>
              <a:t>Low pain, low gain</a:t>
            </a:r>
          </a:p>
        </p:txBody>
      </p:sp>
      <p:sp>
        <p:nvSpPr>
          <p:cNvPr id="18" name="Approach card 2 body"/>
          <p:cNvSpPr/>
          <p:nvPr/>
        </p:nvSpPr>
        <p:spPr>
          <a:xfrm>
            <a:off x="324612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pproach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pproach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if …?</a:t>
            </a:r>
          </a:p>
        </p:txBody>
      </p:sp>
      <p:pic>
        <p:nvPicPr>
          <p:cNvPr id="21" name="Icon Approach card 2" descr=""/>
          <p:cNvPicPr>
            <a:picLocks noChangeAspect="1"/>
          </p:cNvPicPr>
          <p:nvPr/>
        </p:nvPicPr>
        <p:blipFill>
          <a:blip r:embed="rId4"/>
          <a:stretch>
            <a:fillRect/>
          </a:stretch>
        </p:blipFill>
        <p:spPr>
          <a:xfrm>
            <a:off x="5458968" y="2016252"/>
            <a:ext cx="310896" cy="310896"/>
          </a:xfrm>
          <a:prstGeom prst="rect">
            <a:avLst/>
          </a:prstGeom>
        </p:spPr>
      </p:pic>
      <p:sp>
        <p:nvSpPr>
          <p:cNvPr id="22" name="Approach card 2 text"/>
          <p:cNvSpPr txBox="1"/>
          <p:nvPr/>
        </p:nvSpPr>
        <p:spPr>
          <a:xfrm>
            <a:off x="341071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Regression, elasticities, forecasts</a:t>
            </a:r>
          </a:p>
          <a:p>
            <a:pPr algn="l" marL="182880" indent="-182880">
              <a:spcAft>
                <a:spcPts val="600"/>
              </a:spcAft>
              <a:buClr>
                <a:schemeClr val="accent1"/>
              </a:buClr>
              <a:buFont typeface="Arial"/>
              <a:buChar char="▪"/>
            </a:pPr>
            <a:r>
              <a:rPr sz="1300" b="0" lang="en-GB">
                <a:solidFill>
                  <a:schemeClr val="tx1"/>
                </a:solidFill>
              </a:rPr>
              <a:t>Finer, tactical decisions</a:t>
            </a:r>
          </a:p>
          <a:p>
            <a:pPr algn="l" marL="182880" indent="-182880">
              <a:spcAft>
                <a:spcPts val="600"/>
              </a:spcAft>
              <a:buClr>
                <a:schemeClr val="accent1"/>
              </a:buClr>
              <a:buFont typeface="Arial"/>
              <a:buChar char="▪"/>
            </a:pPr>
            <a:r>
              <a:rPr sz="1300" b="0" lang="en-GB">
                <a:solidFill>
                  <a:schemeClr val="tx1"/>
                </a:solidFill>
              </a:rPr>
              <a:t>Few variables, uncertain inputs</a:t>
            </a:r>
          </a:p>
        </p:txBody>
      </p:sp>
      <p:sp>
        <p:nvSpPr>
          <p:cNvPr id="23" name="Approach card 3 body"/>
          <p:cNvSpPr/>
          <p:nvPr/>
        </p:nvSpPr>
        <p:spPr>
          <a:xfrm>
            <a:off x="603504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pproach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pproach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to do?</a:t>
            </a:r>
          </a:p>
        </p:txBody>
      </p:sp>
      <p:pic>
        <p:nvPicPr>
          <p:cNvPr id="26" name="Icon Approach card 3" descr=""/>
          <p:cNvPicPr>
            <a:picLocks noChangeAspect="1"/>
          </p:cNvPicPr>
          <p:nvPr/>
        </p:nvPicPr>
        <p:blipFill>
          <a:blip r:embed="rId5"/>
          <a:stretch>
            <a:fillRect/>
          </a:stretch>
        </p:blipFill>
        <p:spPr>
          <a:xfrm>
            <a:off x="8247888" y="2016252"/>
            <a:ext cx="310896" cy="310896"/>
          </a:xfrm>
          <a:prstGeom prst="rect">
            <a:avLst/>
          </a:prstGeom>
        </p:spPr>
      </p:pic>
      <p:sp>
        <p:nvSpPr>
          <p:cNvPr id="27" name="Approach card 3 text"/>
          <p:cNvSpPr txBox="1"/>
          <p:nvPr/>
        </p:nvSpPr>
        <p:spPr>
          <a:xfrm>
            <a:off x="619963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Optimises towards goals and rules set by managers</a:t>
            </a:r>
          </a:p>
          <a:p>
            <a:pPr algn="l" marL="182880" indent="-182880">
              <a:spcAft>
                <a:spcPts val="600"/>
              </a:spcAft>
              <a:buClr>
                <a:schemeClr val="accent1"/>
              </a:buClr>
              <a:buFont typeface="Arial"/>
              <a:buChar char="▪"/>
            </a:pPr>
            <a:r>
              <a:rPr sz="1300" b="0" lang="en-GB">
                <a:solidFill>
                  <a:schemeClr val="tx1"/>
                </a:solidFill>
              </a:rPr>
              <a:t>Learns from many cheap experiments</a:t>
            </a:r>
          </a:p>
          <a:p>
            <a:pPr algn="l" marL="182880" indent="-182880">
              <a:spcAft>
                <a:spcPts val="600"/>
              </a:spcAft>
              <a:buClr>
                <a:schemeClr val="accent1"/>
              </a:buClr>
              <a:buFont typeface="Arial"/>
              <a:buChar char="▪"/>
            </a:pPr>
            <a:r>
              <a:rPr sz="1300" b="0" lang="en-GB">
                <a:solidFill>
                  <a:schemeClr val="tx1"/>
                </a:solidFill>
              </a:rPr>
              <a:t>Costly to build and run</a:t>
            </a:r>
          </a:p>
        </p:txBody>
      </p:sp>
      <p:sp>
        <p:nvSpPr>
          <p:cNvPr id="28" name="MMM approach box"/>
          <p:cNvSpPr/>
          <p:nvPr/>
        </p:nvSpPr>
        <p:spPr>
          <a:xfrm>
            <a:off x="457200" y="43434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MMM approach" descr=""/>
          <p:cNvPicPr>
            <a:picLocks noChangeAspect="1"/>
          </p:cNvPicPr>
          <p:nvPr/>
        </p:nvPicPr>
        <p:blipFill>
          <a:blip r:embed="rId6"/>
          <a:stretch>
            <a:fillRect/>
          </a:stretch>
        </p:blipFill>
        <p:spPr>
          <a:xfrm>
            <a:off x="658368" y="4389120"/>
            <a:ext cx="365760" cy="365760"/>
          </a:xfrm>
          <a:prstGeom prst="rect">
            <a:avLst/>
          </a:prstGeom>
        </p:spPr>
      </p:pic>
      <p:sp>
        <p:nvSpPr>
          <p:cNvPr id="30" name="MMM approach text"/>
          <p:cNvSpPr txBox="1"/>
          <p:nvPr/>
        </p:nvSpPr>
        <p:spPr>
          <a:xfrm>
            <a:off x="1207008" y="434340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in mind: </a:t>
            </a:r>
            <a:r>
              <a:rPr sz="1200" b="0" lang="en-GB">
                <a:solidFill>
                  <a:schemeClr val="tx1"/>
                </a:solidFill>
              </a:rPr>
              <a:t>where does MMM sit? You decide in the discussion.</a:t>
            </a:r>
          </a:p>
        </p:txBody>
      </p:sp>
      <p:sp>
        <p:nvSpPr>
          <p:cNvPr id="3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When to use which approach</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ap area"/>
          <p:cNvSpPr/>
          <p:nvPr/>
        </p:nvSpPr>
        <p:spPr>
          <a:xfrm>
            <a:off x="457200" y="1234440"/>
            <a:ext cx="420624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ap y axis"/>
          <p:cNvSpPr/>
          <p:nvPr/>
        </p:nvSpPr>
        <p:spPr>
          <a:xfrm>
            <a:off x="868680" y="1417320"/>
            <a:ext cx="27432" cy="2743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p x axis"/>
          <p:cNvSpPr/>
          <p:nvPr/>
        </p:nvSpPr>
        <p:spPr>
          <a:xfrm>
            <a:off x="868680" y="4133088"/>
            <a:ext cx="3657600" cy="274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ap y label"/>
          <p:cNvSpPr txBox="1"/>
          <p:nvPr/>
        </p:nvSpPr>
        <p:spPr>
          <a:xfrm rot="16200000">
            <a:off x="-777240" y="2633472"/>
            <a:ext cx="2743200" cy="320040"/>
          </a:xfrm>
          <a:prstGeom prst="rect">
            <a:avLst/>
          </a:prstGeom>
          <a:noFill/>
        </p:spPr>
        <p:txBody>
          <a:bodyPr wrap="square" lIns="0" rIns="0" tIns="0" bIns="0" anchor="ctr">
            <a:noAutofit/>
          </a:bodyPr>
          <a:lstStyle/>
          <a:p>
            <a:pPr algn="l">
              <a:spcAft>
                <a:spcPts val="400"/>
              </a:spcAft>
            </a:pPr>
            <a:r>
              <a:rPr sz="1100" b="1" lang="en-GB">
                <a:solidFill>
                  <a:schemeClr val="tx2"/>
                </a:solidFill>
              </a:rPr>
              <a:t>business case</a:t>
            </a:r>
          </a:p>
        </p:txBody>
      </p:sp>
      <p:sp>
        <p:nvSpPr>
          <p:cNvPr id="14" name="Map x label"/>
          <p:cNvSpPr txBox="1"/>
          <p:nvPr/>
        </p:nvSpPr>
        <p:spPr>
          <a:xfrm>
            <a:off x="868680" y="4206240"/>
            <a:ext cx="3657600" cy="320040"/>
          </a:xfrm>
          <a:prstGeom prst="rect">
            <a:avLst/>
          </a:prstGeom>
          <a:noFill/>
        </p:spPr>
        <p:txBody>
          <a:bodyPr wrap="square" lIns="0" rIns="0" tIns="0" bIns="0" anchor="t">
            <a:noAutofit/>
          </a:bodyPr>
          <a:lstStyle/>
          <a:p>
            <a:pPr algn="ctr">
              <a:spcAft>
                <a:spcPts val="400"/>
              </a:spcAft>
            </a:pPr>
            <a:r>
              <a:rPr sz="1100" b="1" lang="en-GB">
                <a:solidFill>
                  <a:schemeClr val="tx2"/>
                </a:solidFill>
              </a:rPr>
              <a:t>relevant data, decisions repeated often</a:t>
            </a:r>
          </a:p>
        </p:txBody>
      </p:sp>
      <p:sp>
        <p:nvSpPr>
          <p:cNvPr id="15" name="Zone 1"/>
          <p:cNvSpPr/>
          <p:nvPr/>
        </p:nvSpPr>
        <p:spPr>
          <a:xfrm>
            <a:off x="1051560" y="3291840"/>
            <a:ext cx="1783080" cy="685800"/>
          </a:xfrm>
          <a:prstGeom prst="roundRect">
            <a:avLst/>
          </a:prstGeom>
          <a:solidFill>
            <a:srgbClr val="C8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Zone text 1"/>
          <p:cNvSpPr txBox="1"/>
          <p:nvPr/>
        </p:nvSpPr>
        <p:spPr>
          <a:xfrm>
            <a:off x="1143000" y="3291840"/>
            <a:ext cx="1600200" cy="685800"/>
          </a:xfrm>
          <a:prstGeom prst="rect">
            <a:avLst/>
          </a:prstGeom>
          <a:noFill/>
        </p:spPr>
        <p:txBody>
          <a:bodyPr wrap="square" lIns="0" rIns="0" tIns="0" bIns="0" anchor="ctr">
            <a:noAutofit/>
          </a:bodyPr>
          <a:lstStyle/>
          <a:p>
            <a:pPr algn="l">
              <a:spcAft>
                <a:spcPts val="0"/>
              </a:spcAft>
            </a:pPr>
            <a:r>
              <a:rPr sz="1200" b="1" lang="en-GB">
                <a:solidFill>
                  <a:schemeClr val="tx2"/>
                </a:solidFill>
              </a:rPr>
              <a:t>Descriptive</a:t>
            </a:r>
          </a:p>
          <a:p>
            <a:pPr algn="l">
              <a:spcAft>
                <a:spcPts val="0"/>
              </a:spcAft>
            </a:pPr>
            <a:r>
              <a:rPr sz="1100" b="0" lang="en-GB">
                <a:solidFill>
                  <a:schemeClr val="tx2"/>
                </a:solidFill>
              </a:rPr>
              <a:t>little data, high uncertainty</a:t>
            </a:r>
          </a:p>
        </p:txBody>
      </p:sp>
      <p:sp>
        <p:nvSpPr>
          <p:cNvPr id="17" name="Zone 2"/>
          <p:cNvSpPr/>
          <p:nvPr/>
        </p:nvSpPr>
        <p:spPr>
          <a:xfrm>
            <a:off x="1874520" y="2514600"/>
            <a:ext cx="1783080" cy="6858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Zone text 2"/>
          <p:cNvSpPr txBox="1"/>
          <p:nvPr/>
        </p:nvSpPr>
        <p:spPr>
          <a:xfrm>
            <a:off x="1965960" y="2514600"/>
            <a:ext cx="1600200" cy="685800"/>
          </a:xfrm>
          <a:prstGeom prst="rect">
            <a:avLst/>
          </a:prstGeom>
          <a:noFill/>
        </p:spPr>
        <p:txBody>
          <a:bodyPr wrap="square" lIns="0" rIns="0" tIns="0" bIns="0" anchor="ctr">
            <a:noAutofit/>
          </a:bodyPr>
          <a:lstStyle/>
          <a:p>
            <a:pPr algn="l">
              <a:spcAft>
                <a:spcPts val="0"/>
              </a:spcAft>
            </a:pPr>
            <a:r>
              <a:rPr sz="1200" b="1" lang="en-GB">
                <a:solidFill>
                  <a:schemeClr val="bg1"/>
                </a:solidFill>
              </a:rPr>
              <a:t>Predictive</a:t>
            </a:r>
          </a:p>
          <a:p>
            <a:pPr algn="l">
              <a:spcAft>
                <a:spcPts val="0"/>
              </a:spcAft>
            </a:pPr>
            <a:r>
              <a:rPr sz="1100" b="0" lang="en-GB">
                <a:solidFill>
                  <a:schemeClr val="bg1"/>
                </a:solidFill>
              </a:rPr>
              <a:t>the middle ground</a:t>
            </a:r>
          </a:p>
        </p:txBody>
      </p:sp>
      <p:sp>
        <p:nvSpPr>
          <p:cNvPr id="19" name="Zone 3"/>
          <p:cNvSpPr/>
          <p:nvPr/>
        </p:nvSpPr>
        <p:spPr>
          <a:xfrm>
            <a:off x="2697480" y="1600200"/>
            <a:ext cx="1783080" cy="685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Zone text 3"/>
          <p:cNvSpPr txBox="1"/>
          <p:nvPr/>
        </p:nvSpPr>
        <p:spPr>
          <a:xfrm>
            <a:off x="2788920" y="1600200"/>
            <a:ext cx="1600200" cy="685800"/>
          </a:xfrm>
          <a:prstGeom prst="rect">
            <a:avLst/>
          </a:prstGeom>
          <a:noFill/>
        </p:spPr>
        <p:txBody>
          <a:bodyPr wrap="square" lIns="0" rIns="0" tIns="0" bIns="0" anchor="ctr">
            <a:noAutofit/>
          </a:bodyPr>
          <a:lstStyle/>
          <a:p>
            <a:pPr algn="l">
              <a:spcAft>
                <a:spcPts val="0"/>
              </a:spcAft>
            </a:pPr>
            <a:r>
              <a:rPr sz="1200" b="1" lang="en-GB">
                <a:solidFill>
                  <a:schemeClr val="bg1"/>
                </a:solidFill>
              </a:rPr>
              <a:t>Prescriptive</a:t>
            </a:r>
          </a:p>
          <a:p>
            <a:pPr algn="l">
              <a:spcAft>
                <a:spcPts val="0"/>
              </a:spcAft>
            </a:pPr>
            <a:r>
              <a:rPr sz="1100" b="0" lang="en-GB">
                <a:solidFill>
                  <a:schemeClr val="bg1"/>
                </a:solidFill>
              </a:rPr>
              <a:t>rich data, many decisions</a:t>
            </a:r>
          </a:p>
        </p:txBody>
      </p:sp>
      <p:sp>
        <p:nvSpPr>
          <p:cNvPr id="21" name="Use row 1"/>
          <p:cNvSpPr/>
          <p:nvPr/>
        </p:nvSpPr>
        <p:spPr>
          <a:xfrm>
            <a:off x="4800600" y="123444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use 1" descr=""/>
          <p:cNvPicPr>
            <a:picLocks noChangeAspect="1"/>
          </p:cNvPicPr>
          <p:nvPr/>
        </p:nvPicPr>
        <p:blipFill>
          <a:blip r:embed="rId3"/>
          <a:stretch>
            <a:fillRect/>
          </a:stretch>
        </p:blipFill>
        <p:spPr>
          <a:xfrm>
            <a:off x="4983480" y="1581912"/>
            <a:ext cx="402336" cy="402336"/>
          </a:xfrm>
          <a:prstGeom prst="rect">
            <a:avLst/>
          </a:prstGeom>
        </p:spPr>
      </p:pic>
      <p:sp>
        <p:nvSpPr>
          <p:cNvPr id="23" name="Use text 1"/>
          <p:cNvSpPr txBox="1"/>
          <p:nvPr/>
        </p:nvSpPr>
        <p:spPr>
          <a:xfrm>
            <a:off x="5532120" y="123444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Humans lead: </a:t>
            </a:r>
            <a:r>
              <a:rPr sz="1200" b="0" lang="en-GB">
                <a:solidFill>
                  <a:schemeClr val="tx1"/>
                </a:solidFill>
              </a:rPr>
              <a:t>strategy, innovation, entering a new market</a:t>
            </a:r>
          </a:p>
        </p:txBody>
      </p:sp>
      <p:sp>
        <p:nvSpPr>
          <p:cNvPr id="24" name="Use row 2"/>
          <p:cNvSpPr/>
          <p:nvPr/>
        </p:nvSpPr>
        <p:spPr>
          <a:xfrm>
            <a:off x="4800600" y="240030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use 2" descr=""/>
          <p:cNvPicPr>
            <a:picLocks noChangeAspect="1"/>
          </p:cNvPicPr>
          <p:nvPr/>
        </p:nvPicPr>
        <p:blipFill>
          <a:blip r:embed="rId4"/>
          <a:stretch>
            <a:fillRect/>
          </a:stretch>
        </p:blipFill>
        <p:spPr>
          <a:xfrm>
            <a:off x="4983480" y="2747772"/>
            <a:ext cx="402336" cy="402336"/>
          </a:xfrm>
          <a:prstGeom prst="rect">
            <a:avLst/>
          </a:prstGeom>
        </p:spPr>
      </p:pic>
      <p:sp>
        <p:nvSpPr>
          <p:cNvPr id="26" name="Use text 2"/>
          <p:cNvSpPr txBox="1"/>
          <p:nvPr/>
        </p:nvSpPr>
        <p:spPr>
          <a:xfrm>
            <a:off x="5532120" y="240030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Predictive fits: </a:t>
            </a:r>
            <a:r>
              <a:rPr sz="1200" b="0" lang="en-GB">
                <a:solidFill>
                  <a:schemeClr val="tx1"/>
                </a:solidFill>
              </a:rPr>
              <a:t>planning, noisy customer data, small gains from fine-tuning</a:t>
            </a:r>
          </a:p>
        </p:txBody>
      </p:sp>
      <p:sp>
        <p:nvSpPr>
          <p:cNvPr id="27" name="Use row 3"/>
          <p:cNvSpPr/>
          <p:nvPr/>
        </p:nvSpPr>
        <p:spPr>
          <a:xfrm>
            <a:off x="4800600" y="356616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use 3" descr=""/>
          <p:cNvPicPr>
            <a:picLocks noChangeAspect="1"/>
          </p:cNvPicPr>
          <p:nvPr/>
        </p:nvPicPr>
        <p:blipFill>
          <a:blip r:embed="rId5"/>
          <a:stretch>
            <a:fillRect/>
          </a:stretch>
        </p:blipFill>
        <p:spPr>
          <a:xfrm>
            <a:off x="4983480" y="3913632"/>
            <a:ext cx="402336" cy="402336"/>
          </a:xfrm>
          <a:prstGeom prst="rect">
            <a:avLst/>
          </a:prstGeom>
        </p:spPr>
      </p:pic>
      <p:sp>
        <p:nvSpPr>
          <p:cNvPr id="29" name="Use text 3"/>
          <p:cNvSpPr txBox="1"/>
          <p:nvPr/>
        </p:nvSpPr>
        <p:spPr>
          <a:xfrm>
            <a:off x="5532120" y="356616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Prescriptive pays: </a:t>
            </a:r>
            <a:r>
              <a:rPr sz="1200" b="0" lang="en-GB">
                <a:solidFill>
                  <a:schemeClr val="tx1"/>
                </a:solidFill>
              </a:rPr>
              <a:t>prices, stock, marketing spend, decided often with rich data</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 simplified illustration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Case: markdowns at Event Network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N card 1 body"/>
          <p:cNvSpPr/>
          <p:nvPr/>
        </p:nvSpPr>
        <p:spPr>
          <a:xfrm>
            <a:off x="45720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N card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N card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Descriptive</a:t>
            </a:r>
          </a:p>
        </p:txBody>
      </p:sp>
      <p:pic>
        <p:nvPicPr>
          <p:cNvPr id="13" name="Icon EN card 1" descr=""/>
          <p:cNvPicPr>
            <a:picLocks noChangeAspect="1"/>
          </p:cNvPicPr>
          <p:nvPr/>
        </p:nvPicPr>
        <p:blipFill>
          <a:blip r:embed="rId3"/>
          <a:stretch>
            <a:fillRect/>
          </a:stretch>
        </p:blipFill>
        <p:spPr>
          <a:xfrm>
            <a:off x="2670048" y="1284732"/>
            <a:ext cx="310896" cy="310896"/>
          </a:xfrm>
          <a:prstGeom prst="rect">
            <a:avLst/>
          </a:prstGeom>
        </p:spPr>
      </p:pic>
      <p:sp>
        <p:nvSpPr>
          <p:cNvPr id="14" name="EN card 1 text"/>
          <p:cNvSpPr txBox="1"/>
          <p:nvPr/>
        </p:nvSpPr>
        <p:spPr>
          <a:xfrm>
            <a:off x="62179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Discount SKUs with the most days of stock</a:t>
            </a:r>
          </a:p>
          <a:p>
            <a:pPr algn="l" marL="182880" indent="-182880">
              <a:spcAft>
                <a:spcPts val="600"/>
              </a:spcAft>
              <a:buClr>
                <a:schemeClr val="accent1"/>
              </a:buClr>
              <a:buFont typeface="Arial"/>
              <a:buChar char="▪"/>
            </a:pPr>
            <a:r>
              <a:rPr sz="1300" b="0" lang="en-GB">
                <a:solidFill>
                  <a:schemeClr val="tx1"/>
                </a:solidFill>
              </a:rPr>
              <a:t>Until the markdown budget is spent</a:t>
            </a:r>
          </a:p>
          <a:p>
            <a:pPr algn="l" marL="182880" indent="-182880">
              <a:spcAft>
                <a:spcPts val="600"/>
              </a:spcAft>
              <a:buClr>
                <a:schemeClr val="accent1"/>
              </a:buClr>
              <a:buFont typeface="Arial"/>
              <a:buChar char="▪"/>
            </a:pPr>
            <a:r>
              <a:rPr sz="1300" b="0" lang="en-GB">
                <a:solidFill>
                  <a:schemeClr val="tx1"/>
                </a:solidFill>
              </a:rPr>
              <a:t>Ignores customers and context</a:t>
            </a:r>
          </a:p>
        </p:txBody>
      </p:sp>
      <p:sp>
        <p:nvSpPr>
          <p:cNvPr id="15" name="EN card 2 body"/>
          <p:cNvSpPr/>
          <p:nvPr/>
        </p:nvSpPr>
        <p:spPr>
          <a:xfrm>
            <a:off x="324612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N card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 card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Predictive</a:t>
            </a:r>
          </a:p>
        </p:txBody>
      </p:sp>
      <p:pic>
        <p:nvPicPr>
          <p:cNvPr id="18" name="Icon EN card 2" descr=""/>
          <p:cNvPicPr>
            <a:picLocks noChangeAspect="1"/>
          </p:cNvPicPr>
          <p:nvPr/>
        </p:nvPicPr>
        <p:blipFill>
          <a:blip r:embed="rId4"/>
          <a:stretch>
            <a:fillRect/>
          </a:stretch>
        </p:blipFill>
        <p:spPr>
          <a:xfrm>
            <a:off x="5458968" y="1284732"/>
            <a:ext cx="310896" cy="310896"/>
          </a:xfrm>
          <a:prstGeom prst="rect">
            <a:avLst/>
          </a:prstGeom>
        </p:spPr>
      </p:pic>
      <p:sp>
        <p:nvSpPr>
          <p:cNvPr id="19" name="EN card 2 text"/>
          <p:cNvSpPr txBox="1"/>
          <p:nvPr/>
        </p:nvSpPr>
        <p:spPr>
          <a:xfrm>
            <a:off x="341071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Regression of volume on price</a:t>
            </a:r>
          </a:p>
          <a:p>
            <a:pPr algn="l" marL="182880" indent="-182880">
              <a:spcAft>
                <a:spcPts val="600"/>
              </a:spcAft>
              <a:buClr>
                <a:schemeClr val="accent1"/>
              </a:buClr>
              <a:buFont typeface="Arial"/>
              <a:buChar char="▪"/>
            </a:pPr>
            <a:r>
              <a:rPr sz="1300" b="0" lang="en-GB">
                <a:solidFill>
                  <a:schemeClr val="tx1"/>
                </a:solidFill>
              </a:rPr>
              <a:t>Elasticity by category, store and week</a:t>
            </a:r>
          </a:p>
          <a:p>
            <a:pPr algn="l" marL="182880" indent="-182880">
              <a:spcAft>
                <a:spcPts val="600"/>
              </a:spcAft>
              <a:buClr>
                <a:schemeClr val="accent1"/>
              </a:buClr>
              <a:buFont typeface="Arial"/>
              <a:buChar char="▪"/>
            </a:pPr>
            <a:r>
              <a:rPr sz="1300" b="0" lang="en-GB">
                <a:solidFill>
                  <a:schemeClr val="tx1"/>
                </a:solidFill>
              </a:rPr>
              <a:t>Crude, but better than the rule</a:t>
            </a:r>
          </a:p>
        </p:txBody>
      </p:sp>
      <p:sp>
        <p:nvSpPr>
          <p:cNvPr id="20" name="EN card 3 body"/>
          <p:cNvSpPr/>
          <p:nvPr/>
        </p:nvSpPr>
        <p:spPr>
          <a:xfrm>
            <a:off x="603504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N card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N card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3 Prescriptive</a:t>
            </a:r>
          </a:p>
        </p:txBody>
      </p:sp>
      <p:pic>
        <p:nvPicPr>
          <p:cNvPr id="23" name="Icon EN card 3" descr=""/>
          <p:cNvPicPr>
            <a:picLocks noChangeAspect="1"/>
          </p:cNvPicPr>
          <p:nvPr/>
        </p:nvPicPr>
        <p:blipFill>
          <a:blip r:embed="rId5"/>
          <a:stretch>
            <a:fillRect/>
          </a:stretch>
        </p:blipFill>
        <p:spPr>
          <a:xfrm>
            <a:off x="8247888" y="1284732"/>
            <a:ext cx="310896" cy="310896"/>
          </a:xfrm>
          <a:prstGeom prst="rect">
            <a:avLst/>
          </a:prstGeom>
        </p:spPr>
      </p:pic>
      <p:sp>
        <p:nvSpPr>
          <p:cNvPr id="24" name="EN card 3 text"/>
          <p:cNvSpPr txBox="1"/>
          <p:nvPr/>
        </p:nvSpPr>
        <p:spPr>
          <a:xfrm>
            <a:off x="619963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Machine learning plus optimisation</a:t>
            </a:r>
          </a:p>
          <a:p>
            <a:pPr algn="l" marL="182880" indent="-182880">
              <a:spcAft>
                <a:spcPts val="600"/>
              </a:spcAft>
              <a:buClr>
                <a:schemeClr val="accent1"/>
              </a:buClr>
              <a:buFont typeface="Arial"/>
              <a:buChar char="▪"/>
            </a:pPr>
            <a:r>
              <a:rPr sz="1300" b="0" lang="en-GB">
                <a:solidFill>
                  <a:schemeClr val="tx1"/>
                </a:solidFill>
              </a:rPr>
              <a:t>Many data sources, 100,000+ SKUs</a:t>
            </a:r>
          </a:p>
          <a:p>
            <a:pPr algn="l" marL="182880" indent="-182880">
              <a:spcAft>
                <a:spcPts val="600"/>
              </a:spcAft>
              <a:buClr>
                <a:schemeClr val="accent1"/>
              </a:buClr>
              <a:buFont typeface="Arial"/>
              <a:buChar char="▪"/>
            </a:pPr>
            <a:r>
              <a:rPr sz="1300" b="0" lang="en-GB">
                <a:solidFill>
                  <a:schemeClr val="tx1"/>
                </a:solidFill>
              </a:rPr>
              <a:t>Learns and improves over time</a:t>
            </a:r>
          </a:p>
        </p:txBody>
      </p:sp>
      <p:sp>
        <p:nvSpPr>
          <p:cNvPr id="25" name="EN stat 1"/>
          <p:cNvSpPr/>
          <p:nvPr/>
        </p:nvSpPr>
        <p:spPr>
          <a:xfrm>
            <a:off x="45720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N stat bar 1"/>
          <p:cNvSpPr/>
          <p:nvPr/>
        </p:nvSpPr>
        <p:spPr>
          <a:xfrm>
            <a:off x="45720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N stat figure 1"/>
          <p:cNvSpPr txBox="1"/>
          <p:nvPr/>
        </p:nvSpPr>
        <p:spPr>
          <a:xfrm>
            <a:off x="64008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28" name="EN stat label 1"/>
          <p:cNvSpPr txBox="1"/>
          <p:nvPr/>
        </p:nvSpPr>
        <p:spPr>
          <a:xfrm>
            <a:off x="64008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price elasticity</a:t>
            </a:r>
          </a:p>
        </p:txBody>
      </p:sp>
      <p:sp>
        <p:nvSpPr>
          <p:cNvPr id="29" name="EN stat 2"/>
          <p:cNvSpPr/>
          <p:nvPr/>
        </p:nvSpPr>
        <p:spPr>
          <a:xfrm>
            <a:off x="254889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N stat bar 2"/>
          <p:cNvSpPr/>
          <p:nvPr/>
        </p:nvSpPr>
        <p:spPr>
          <a:xfrm>
            <a:off x="254889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N stat figure 2"/>
          <p:cNvSpPr txBox="1"/>
          <p:nvPr/>
        </p:nvSpPr>
        <p:spPr>
          <a:xfrm>
            <a:off x="273177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+20 %</a:t>
            </a:r>
          </a:p>
        </p:txBody>
      </p:sp>
      <p:sp>
        <p:nvSpPr>
          <p:cNvPr id="32" name="EN stat label 2"/>
          <p:cNvSpPr txBox="1"/>
          <p:nvPr/>
        </p:nvSpPr>
        <p:spPr>
          <a:xfrm>
            <a:off x="273177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units after a 10 % price cut</a:t>
            </a:r>
          </a:p>
        </p:txBody>
      </p:sp>
      <p:sp>
        <p:nvSpPr>
          <p:cNvPr id="33" name="EN stat 3"/>
          <p:cNvSpPr/>
          <p:nvPr/>
        </p:nvSpPr>
        <p:spPr>
          <a:xfrm>
            <a:off x="464058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N stat bar 3"/>
          <p:cNvSpPr/>
          <p:nvPr/>
        </p:nvSpPr>
        <p:spPr>
          <a:xfrm>
            <a:off x="464058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N stat figure 3"/>
          <p:cNvSpPr txBox="1"/>
          <p:nvPr/>
        </p:nvSpPr>
        <p:spPr>
          <a:xfrm>
            <a:off x="482346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+8 %</a:t>
            </a:r>
          </a:p>
        </p:txBody>
      </p:sp>
      <p:sp>
        <p:nvSpPr>
          <p:cNvPr id="36" name="EN stat label 3"/>
          <p:cNvSpPr txBox="1"/>
          <p:nvPr/>
        </p:nvSpPr>
        <p:spPr>
          <a:xfrm>
            <a:off x="482346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revenue: $1,000 → $1,080</a:t>
            </a:r>
          </a:p>
        </p:txBody>
      </p:sp>
      <p:sp>
        <p:nvSpPr>
          <p:cNvPr id="37" name="EN stat 4"/>
          <p:cNvSpPr/>
          <p:nvPr/>
        </p:nvSpPr>
        <p:spPr>
          <a:xfrm>
            <a:off x="673227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N stat bar 4"/>
          <p:cNvSpPr/>
          <p:nvPr/>
        </p:nvSpPr>
        <p:spPr>
          <a:xfrm>
            <a:off x="673227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EN stat figure 4"/>
          <p:cNvSpPr txBox="1"/>
          <p:nvPr/>
        </p:nvSpPr>
        <p:spPr>
          <a:xfrm>
            <a:off x="691515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10–20 %</a:t>
            </a:r>
          </a:p>
        </p:txBody>
      </p:sp>
      <p:sp>
        <p:nvSpPr>
          <p:cNvPr id="40" name="EN stat label 4"/>
          <p:cNvSpPr txBox="1"/>
          <p:nvPr/>
        </p:nvSpPr>
        <p:spPr>
          <a:xfrm>
            <a:off x="691515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of sales explained by price</a:t>
            </a:r>
          </a:p>
        </p:txBody>
      </p:sp>
      <p:sp>
        <p:nvSpPr>
          <p:cNvPr id="41" name="EN lesson box"/>
          <p:cNvSpPr/>
          <p:nvPr/>
        </p:nvSpPr>
        <p:spPr>
          <a:xfrm>
            <a:off x="457200" y="438912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Icon EN lesson" descr=""/>
          <p:cNvPicPr>
            <a:picLocks noChangeAspect="1"/>
          </p:cNvPicPr>
          <p:nvPr/>
        </p:nvPicPr>
        <p:blipFill>
          <a:blip r:embed="rId6"/>
          <a:stretch>
            <a:fillRect/>
          </a:stretch>
        </p:blipFill>
        <p:spPr>
          <a:xfrm>
            <a:off x="658368" y="4398264"/>
            <a:ext cx="365760" cy="365760"/>
          </a:xfrm>
          <a:prstGeom prst="rect">
            <a:avLst/>
          </a:prstGeom>
        </p:spPr>
      </p:pic>
      <p:sp>
        <p:nvSpPr>
          <p:cNvPr id="43" name="EN lesson text"/>
          <p:cNvSpPr txBox="1"/>
          <p:nvPr/>
        </p:nvSpPr>
        <p:spPr>
          <a:xfrm>
            <a:off x="1207008" y="438912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Lesson: </a:t>
            </a:r>
            <a:r>
              <a:rPr sz="1200" b="0" lang="en-GB">
                <a:solidFill>
                  <a:schemeClr val="tx1"/>
                </a:solidFill>
              </a:rPr>
              <a:t>a crude model can still beat a rule of thumb.</a:t>
            </a:r>
          </a:p>
        </p:txBody>
      </p:sp>
      <p:sp>
        <p:nvSpPr>
          <p:cNvPr id="4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Accuracy is not the goal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S card body"/>
          <p:cNvSpPr/>
          <p:nvPr/>
        </p:nvSpPr>
        <p:spPr>
          <a:xfrm>
            <a:off x="457200" y="16459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S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S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Data scientists</a:t>
            </a:r>
          </a:p>
        </p:txBody>
      </p:sp>
      <p:pic>
        <p:nvPicPr>
          <p:cNvPr id="13" name="Icon DS card" descr=""/>
          <p:cNvPicPr>
            <a:picLocks noChangeAspect="1"/>
          </p:cNvPicPr>
          <p:nvPr/>
        </p:nvPicPr>
        <p:blipFill>
          <a:blip r:embed="rId3"/>
          <a:stretch>
            <a:fillRect/>
          </a:stretch>
        </p:blipFill>
        <p:spPr>
          <a:xfrm>
            <a:off x="4064508" y="1284732"/>
            <a:ext cx="310896" cy="310896"/>
          </a:xfrm>
          <a:prstGeom prst="rect">
            <a:avLst/>
          </a:prstGeom>
        </p:spPr>
      </p:pic>
      <p:sp>
        <p:nvSpPr>
          <p:cNvPr id="14" name="DS card text"/>
          <p:cNvSpPr txBox="1"/>
          <p:nvPr/>
        </p:nvSpPr>
        <p:spPr>
          <a:xfrm>
            <a:off x="621792" y="1783080"/>
            <a:ext cx="3744468" cy="914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Aim: the most accurate model</a:t>
            </a:r>
          </a:p>
          <a:p>
            <a:pPr algn="l" marL="182880" indent="-182880">
              <a:spcAft>
                <a:spcPts val="600"/>
              </a:spcAft>
              <a:buClr>
                <a:schemeClr val="accent1"/>
              </a:buClr>
              <a:buFont typeface="Arial"/>
              <a:buChar char="▪"/>
            </a:pPr>
            <a:r>
              <a:rPr sz="1300" b="0" lang="en-GB">
                <a:solidFill>
                  <a:schemeClr val="tx1"/>
                </a:solidFill>
              </a:rPr>
              <a:t>Judge by statistical fit</a:t>
            </a:r>
          </a:p>
        </p:txBody>
      </p:sp>
      <p:sp>
        <p:nvSpPr>
          <p:cNvPr id="15" name="BS card body"/>
          <p:cNvSpPr/>
          <p:nvPr/>
        </p:nvSpPr>
        <p:spPr>
          <a:xfrm>
            <a:off x="4640580" y="16459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Business scientists</a:t>
            </a:r>
          </a:p>
        </p:txBody>
      </p:sp>
      <p:pic>
        <p:nvPicPr>
          <p:cNvPr id="18" name="Icon BS card" descr=""/>
          <p:cNvPicPr>
            <a:picLocks noChangeAspect="1"/>
          </p:cNvPicPr>
          <p:nvPr/>
        </p:nvPicPr>
        <p:blipFill>
          <a:blip r:embed="rId4"/>
          <a:stretch>
            <a:fillRect/>
          </a:stretch>
        </p:blipFill>
        <p:spPr>
          <a:xfrm>
            <a:off x="8247888" y="1284732"/>
            <a:ext cx="310896" cy="310896"/>
          </a:xfrm>
          <a:prstGeom prst="rect">
            <a:avLst/>
          </a:prstGeom>
        </p:spPr>
      </p:pic>
      <p:sp>
        <p:nvSpPr>
          <p:cNvPr id="19" name="BS card text"/>
          <p:cNvSpPr txBox="1"/>
          <p:nvPr/>
        </p:nvSpPr>
        <p:spPr>
          <a:xfrm>
            <a:off x="4805172" y="1783080"/>
            <a:ext cx="3744468" cy="914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Aim: the most profitable decision</a:t>
            </a:r>
          </a:p>
          <a:p>
            <a:pPr algn="l" marL="182880" indent="-182880">
              <a:spcAft>
                <a:spcPts val="600"/>
              </a:spcAft>
              <a:buClr>
                <a:schemeClr val="accent1"/>
              </a:buClr>
              <a:buFont typeface="Arial"/>
              <a:buChar char="▪"/>
            </a:pPr>
            <a:r>
              <a:rPr sz="1300" b="0" lang="en-GB">
                <a:solidFill>
                  <a:schemeClr val="tx1"/>
                </a:solidFill>
              </a:rPr>
              <a:t>Judge by the cost of each error</a:t>
            </a:r>
          </a:p>
        </p:txBody>
      </p:sp>
      <p:sp>
        <p:nvSpPr>
          <p:cNvPr id="20" name="Error row 1"/>
          <p:cNvSpPr/>
          <p:nvPr/>
        </p:nvSpPr>
        <p:spPr>
          <a:xfrm>
            <a:off x="457200" y="2971800"/>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rror bar 1"/>
          <p:cNvSpPr/>
          <p:nvPr/>
        </p:nvSpPr>
        <p:spPr>
          <a:xfrm>
            <a:off x="457200" y="2971800"/>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rror text 1"/>
          <p:cNvSpPr txBox="1"/>
          <p:nvPr/>
        </p:nvSpPr>
        <p:spPr>
          <a:xfrm>
            <a:off x="658368" y="2971800"/>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False positive: </a:t>
            </a:r>
            <a:r>
              <a:rPr sz="1200" b="0" lang="en-GB">
                <a:solidFill>
                  <a:schemeClr val="tx1"/>
                </a:solidFill>
              </a:rPr>
              <a:t>predicted a win that does not come: wasted sales and marketing effort</a:t>
            </a:r>
          </a:p>
        </p:txBody>
      </p:sp>
      <p:sp>
        <p:nvSpPr>
          <p:cNvPr id="23" name="Error row 2"/>
          <p:cNvSpPr/>
          <p:nvPr/>
        </p:nvSpPr>
        <p:spPr>
          <a:xfrm>
            <a:off x="457200" y="3447288"/>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rror bar 2"/>
          <p:cNvSpPr/>
          <p:nvPr/>
        </p:nvSpPr>
        <p:spPr>
          <a:xfrm>
            <a:off x="457200" y="3447288"/>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rror text 2"/>
          <p:cNvSpPr txBox="1"/>
          <p:nvPr/>
        </p:nvSpPr>
        <p:spPr>
          <a:xfrm>
            <a:off x="658368" y="3447288"/>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False negative: </a:t>
            </a:r>
            <a:r>
              <a:rPr sz="1200" b="0" lang="en-GB">
                <a:solidFill>
                  <a:schemeClr val="tx1"/>
                </a:solidFill>
              </a:rPr>
              <a:t>predicted a loss that would have been a win: a lost opportunity</a:t>
            </a:r>
          </a:p>
        </p:txBody>
      </p:sp>
      <p:sp>
        <p:nvSpPr>
          <p:cNvPr id="26" name="Error row 3"/>
          <p:cNvSpPr/>
          <p:nvPr/>
        </p:nvSpPr>
        <p:spPr>
          <a:xfrm>
            <a:off x="457200" y="3922776"/>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rror bar 3"/>
          <p:cNvSpPr/>
          <p:nvPr/>
        </p:nvSpPr>
        <p:spPr>
          <a:xfrm>
            <a:off x="457200" y="3922776"/>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rror text 3"/>
          <p:cNvSpPr txBox="1"/>
          <p:nvPr/>
        </p:nvSpPr>
        <p:spPr>
          <a:xfrm>
            <a:off x="658368" y="3922776"/>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In this course: </a:t>
            </a:r>
            <a:r>
              <a:rPr sz="1200" b="0" lang="en-GB">
                <a:solidFill>
                  <a:schemeClr val="tx1"/>
                </a:solidFill>
              </a:rPr>
              <a:t>Session 3 and case task C7 set the churn threshold by profit, not accuracy</a:t>
            </a:r>
          </a:p>
        </p:txBody>
      </p:sp>
      <p:sp>
        <p:nvSpPr>
          <p:cNvPr id="29" name="Quote box"/>
          <p:cNvSpPr/>
          <p:nvPr/>
        </p:nvSpPr>
        <p:spPr>
          <a:xfrm>
            <a:off x="457200" y="4370832"/>
            <a:ext cx="8229600" cy="429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Quote" descr=""/>
          <p:cNvPicPr>
            <a:picLocks noChangeAspect="1"/>
          </p:cNvPicPr>
          <p:nvPr/>
        </p:nvPicPr>
        <p:blipFill>
          <a:blip r:embed="rId5"/>
          <a:stretch>
            <a:fillRect/>
          </a:stretch>
        </p:blipFill>
        <p:spPr>
          <a:xfrm>
            <a:off x="658368" y="4402836"/>
            <a:ext cx="365760" cy="365760"/>
          </a:xfrm>
          <a:prstGeom prst="rect">
            <a:avLst/>
          </a:prstGeom>
        </p:spPr>
      </p:pic>
      <p:sp>
        <p:nvSpPr>
          <p:cNvPr id="31" name="Quote text"/>
          <p:cNvSpPr txBox="1"/>
          <p:nvPr/>
        </p:nvSpPr>
        <p:spPr>
          <a:xfrm>
            <a:off x="1207008" y="4370832"/>
            <a:ext cx="7315200" cy="429768"/>
          </a:xfrm>
          <a:prstGeom prst="rect">
            <a:avLst/>
          </a:prstGeom>
          <a:noFill/>
        </p:spPr>
        <p:txBody>
          <a:bodyPr wrap="square" lIns="0" rIns="0" tIns="0" bIns="0" anchor="ctr">
            <a:noAutofit/>
          </a:bodyPr>
          <a:lstStyle/>
          <a:p>
            <a:pPr algn="l">
              <a:spcAft>
                <a:spcPts val="400"/>
              </a:spcAft>
            </a:pPr>
            <a:r>
              <a:rPr sz="1150" b="1" lang="en-GB">
                <a:solidFill>
                  <a:schemeClr val="bg1"/>
                </a:solidFill>
              </a:rPr>
              <a:t>The manager's new role: </a:t>
            </a:r>
            <a:r>
              <a:rPr sz="1150" b="0" lang="en-GB">
                <a:solidFill>
                  <a:schemeClr val="bg1"/>
                </a:solidFill>
              </a:rPr>
              <a:t>“from the person who has all the answers to the one who asks the right questions”</a:t>
            </a:r>
          </a:p>
        </p:txBody>
      </p:sp>
      <p:sp>
        <p:nvSpPr>
          <p:cNvPr id="3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ecision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411480"/>
                <a:gridCol w="3794760"/>
                <a:gridCol w="1600200"/>
                <a:gridCol w="2423160"/>
              </a:tblGrid>
              <a:tr h="370840">
                <a:tc>
                  <a:txBody>
                    <a:bodyPr/>
                    <a:lstStyle/>
                    <a:p>
                      <a:r>
                        <a:rPr sz="1500" lang="en-GB"/>
                        <a:t/>
                      </a:r>
                    </a:p>
                  </a:txBody>
                  <a:tcPr marT="45000" marB="45000"/>
                </a:tc>
                <a:tc>
                  <a:txBody>
                    <a:bodyPr/>
                    <a:lstStyle/>
                    <a:p>
                      <a:r>
                        <a:rPr sz="1500" lang="en-GB"/>
                        <a:t>Decision of an international brand manager</a:t>
                      </a:r>
                    </a:p>
                  </a:txBody>
                  <a:tcPr marT="45000" marB="45000"/>
                </a:tc>
                <a:tc>
                  <a:txBody>
                    <a:bodyPr/>
                    <a:lstStyle/>
                    <a:p>
                      <a:r>
                        <a:rPr sz="1500" lang="en-GB"/>
                        <a:t>How often</a:t>
                      </a:r>
                    </a:p>
                  </a:txBody>
                  <a:tcPr marT="45000" marB="45000"/>
                </a:tc>
                <a:tc>
                  <a:txBody>
                    <a:bodyPr/>
                    <a:lstStyle/>
                    <a:p>
                      <a:r>
                        <a:rPr sz="1500" lang="en-GB"/>
                        <a:t>Data available</a:t>
                      </a:r>
                    </a:p>
                  </a:txBody>
                  <a:tcPr marT="45000" marB="45000"/>
                </a:tc>
              </a:tr>
              <a:tr h="370840">
                <a:tc>
                  <a:txBody>
                    <a:bodyPr/>
                    <a:lstStyle/>
                    <a:p>
                      <a:pPr algn="ctr"/>
                      <a:r>
                        <a:rPr sz="1200" b="1" lang="en-GB"/>
                        <a:t>1</a:t>
                      </a:r>
                    </a:p>
                  </a:txBody>
                  <a:tcPr marT="45000" marB="45000"/>
                </a:tc>
                <a:tc>
                  <a:txBody>
                    <a:bodyPr/>
                    <a:lstStyle/>
                    <a:p>
                      <a:r>
                        <a:rPr sz="1200" lang="en-GB"/>
                        <a:t>Split the global media budget over 20 countries and 6 channels</a:t>
                      </a:r>
                    </a:p>
                  </a:txBody>
                  <a:tcPr marT="45000" marB="45000"/>
                </a:tc>
                <a:tc>
                  <a:txBody>
                    <a:bodyPr/>
                    <a:lstStyle/>
                    <a:p>
                      <a:r>
                        <a:rPr sz="1200" lang="en-GB"/>
                        <a:t>once a year</a:t>
                      </a:r>
                    </a:p>
                  </a:txBody>
                  <a:tcPr marT="45000" marB="45000"/>
                </a:tc>
                <a:tc>
                  <a:txBody>
                    <a:bodyPr/>
                    <a:lstStyle/>
                    <a:p>
                      <a:r>
                        <a:rPr sz="1200" lang="en-GB"/>
                        <a:t>3 years of weekly sales and spend per country</a:t>
                      </a:r>
                    </a:p>
                  </a:txBody>
                  <a:tcPr marT="45000" marB="45000"/>
                </a:tc>
              </a:tr>
              <a:tr h="370840">
                <a:tc>
                  <a:txBody>
                    <a:bodyPr/>
                    <a:lstStyle/>
                    <a:p>
                      <a:pPr algn="ctr"/>
                      <a:r>
                        <a:rPr sz="1200" b="1" lang="en-GB"/>
                        <a:t>2</a:t>
                      </a:r>
                    </a:p>
                  </a:txBody>
                  <a:tcPr marT="45000" marB="45000"/>
                </a:tc>
                <a:tc>
                  <a:txBody>
                    <a:bodyPr/>
                    <a:lstStyle/>
                    <a:p>
                      <a:r>
                        <a:rPr sz="1200" lang="en-GB"/>
                        <a:t>Set the bids for search keywords in each market</a:t>
                      </a:r>
                    </a:p>
                  </a:txBody>
                  <a:tcPr marT="45000" marB="45000"/>
                </a:tc>
                <a:tc>
                  <a:txBody>
                    <a:bodyPr/>
                    <a:lstStyle/>
                    <a:p>
                      <a:r>
                        <a:rPr sz="1200" lang="en-GB"/>
                        <a:t>every day</a:t>
                      </a:r>
                    </a:p>
                  </a:txBody>
                  <a:tcPr marT="45000" marB="45000"/>
                </a:tc>
                <a:tc>
                  <a:txBody>
                    <a:bodyPr/>
                    <a:lstStyle/>
                    <a:p>
                      <a:r>
                        <a:rPr sz="1200" lang="en-GB"/>
                        <a:t>clicks, costs and sales per keyword</a:t>
                      </a:r>
                    </a:p>
                  </a:txBody>
                  <a:tcPr marT="45000" marB="45000"/>
                </a:tc>
              </a:tr>
              <a:tr h="370840">
                <a:tc>
                  <a:txBody>
                    <a:bodyPr/>
                    <a:lstStyle/>
                    <a:p>
                      <a:pPr algn="ctr"/>
                      <a:r>
                        <a:rPr sz="1200" b="1" lang="en-GB"/>
                        <a:t>3</a:t>
                      </a:r>
                    </a:p>
                  </a:txBody>
                  <a:tcPr marT="45000" marB="45000"/>
                </a:tc>
                <a:tc>
                  <a:txBody>
                    <a:bodyPr/>
                    <a:lstStyle/>
                    <a:p>
                      <a:r>
                        <a:rPr sz="1200" lang="en-GB"/>
                        <a:t>Set the launch price in a newly entered market</a:t>
                      </a:r>
                    </a:p>
                  </a:txBody>
                  <a:tcPr marT="45000" marB="45000"/>
                </a:tc>
                <a:tc>
                  <a:txBody>
                    <a:bodyPr/>
                    <a:lstStyle/>
                    <a:p>
                      <a:r>
                        <a:rPr sz="1200" lang="en-GB"/>
                        <a:t>once per market</a:t>
                      </a:r>
                    </a:p>
                  </a:txBody>
                  <a:tcPr marT="45000" marB="45000"/>
                </a:tc>
                <a:tc>
                  <a:txBody>
                    <a:bodyPr/>
                    <a:lstStyle/>
                    <a:p>
                      <a:r>
                        <a:rPr sz="1200" lang="en-GB"/>
                        <a:t>almost none from that market</a:t>
                      </a:r>
                    </a:p>
                  </a:txBody>
                  <a:tcPr marT="45000" marB="45000"/>
                </a:tc>
              </a:tr>
              <a:tr h="370840">
                <a:tc>
                  <a:txBody>
                    <a:bodyPr/>
                    <a:lstStyle/>
                    <a:p>
                      <a:pPr algn="ctr"/>
                      <a:r>
                        <a:rPr sz="1200" b="1" lang="en-GB"/>
                        <a:t>4</a:t>
                      </a:r>
                    </a:p>
                  </a:txBody>
                  <a:tcPr marT="45000" marB="45000"/>
                </a:tc>
                <a:tc>
                  <a:txBody>
                    <a:bodyPr/>
                    <a:lstStyle/>
                    <a:p>
                      <a:r>
                        <a:rPr sz="1200" lang="en-GB"/>
                        <a:t>Decide whether to enter Brazil</a:t>
                      </a:r>
                    </a:p>
                  </a:txBody>
                  <a:tcPr marT="45000" marB="45000"/>
                </a:tc>
                <a:tc>
                  <a:txBody>
                    <a:bodyPr/>
                    <a:lstStyle/>
                    <a:p>
                      <a:r>
                        <a:rPr sz="1200" lang="en-GB"/>
                        <a:t>once</a:t>
                      </a:r>
                    </a:p>
                  </a:txBody>
                  <a:tcPr marT="45000" marB="45000"/>
                </a:tc>
                <a:tc>
                  <a:txBody>
                    <a:bodyPr/>
                    <a:lstStyle/>
                    <a:p>
                      <a:r>
                        <a:rPr sz="1200" lang="en-GB"/>
                        <a:t>market studies, no own sales</a:t>
                      </a:r>
                    </a:p>
                  </a:txBody>
                  <a:tcPr marT="45000" marB="45000"/>
                </a:tc>
              </a:tr>
              <a:tr h="370840">
                <a:tc>
                  <a:txBody>
                    <a:bodyPr/>
                    <a:lstStyle/>
                    <a:p>
                      <a:pPr algn="ctr"/>
                      <a:r>
                        <a:rPr sz="1200" b="1" lang="en-GB"/>
                        <a:t>5</a:t>
                      </a:r>
                    </a:p>
                  </a:txBody>
                  <a:tcPr marT="45000" marB="45000"/>
                </a:tc>
                <a:tc>
                  <a:txBody>
                    <a:bodyPr/>
                    <a:lstStyle/>
                    <a:p>
                      <a:r>
                        <a:rPr sz="1200" lang="en-GB"/>
                        <a:t>Mark down 10,000 SKUs in 300 stores after the season</a:t>
                      </a:r>
                    </a:p>
                  </a:txBody>
                  <a:tcPr marT="45000" marB="45000"/>
                </a:tc>
                <a:tc>
                  <a:txBody>
                    <a:bodyPr/>
                    <a:lstStyle/>
                    <a:p>
                      <a:r>
                        <a:rPr sz="1200" lang="en-GB"/>
                        <a:t>every season</a:t>
                      </a:r>
                    </a:p>
                  </a:txBody>
                  <a:tcPr marT="45000" marB="45000"/>
                </a:tc>
                <a:tc>
                  <a:txBody>
                    <a:bodyPr/>
                    <a:lstStyle/>
                    <a:p>
                      <a:r>
                        <a:rPr sz="1200" lang="en-GB"/>
                        <a:t>sales and stock per SKU and store</a:t>
                      </a:r>
                    </a:p>
                  </a:txBody>
                  <a:tcPr marT="45000" marB="45000"/>
                </a:tc>
              </a:tr>
              <a:tr h="370840">
                <a:tc>
                  <a:txBody>
                    <a:bodyPr/>
                    <a:lstStyle/>
                    <a:p>
                      <a:pPr algn="ctr"/>
                      <a:r>
                        <a:rPr sz="1200" b="1" lang="en-GB"/>
                        <a:t>6</a:t>
                      </a:r>
                    </a:p>
                  </a:txBody>
                  <a:tcPr marT="45000" marB="45000"/>
                </a:tc>
                <a:tc>
                  <a:txBody>
                    <a:bodyPr/>
                    <a:lstStyle/>
                    <a:p>
                      <a:r>
                        <a:rPr sz="1200" lang="en-GB"/>
                        <a:t>Shift digital budget between channels by last-click reports</a:t>
                      </a:r>
                    </a:p>
                  </a:txBody>
                  <a:tcPr marT="45000" marB="45000"/>
                </a:tc>
                <a:tc>
                  <a:txBody>
                    <a:bodyPr/>
                    <a:lstStyle/>
                    <a:p>
                      <a:r>
                        <a:rPr sz="1200" lang="en-GB"/>
                        <a:t>every month</a:t>
                      </a:r>
                    </a:p>
                  </a:txBody>
                  <a:tcPr marT="45000" marB="45000"/>
                </a:tc>
                <a:tc>
                  <a:txBody>
                    <a:bodyPr/>
                    <a:lstStyle/>
                    <a:p>
                      <a:r>
                        <a:rPr sz="1200" lang="en-GB"/>
                        <a:t>clicks of tracked users only</a:t>
                      </a:r>
                    </a:p>
                  </a:txBody>
                  <a:tcPr marT="45000" marB="45000"/>
                </a:tc>
              </a:tr>
            </a:tbl>
          </a:graphicData>
        </a:graphic>
      </p:graphicFrame>
      <p:sp>
        <p:nvSpPr>
          <p:cNvPr id="3" name="Title 2"/>
          <p:cNvSpPr>
            <a:spLocks noGrp="1"/>
          </p:cNvSpPr>
          <p:nvPr>
            <p:ph type="title"/>
          </p:nvPr>
        </p:nvSpPr>
        <p:spPr/>
        <p:txBody>
          <a:bodyPr/>
          <a:lstStyle/>
          <a:p>
            <a:r>
              <a:rPr sz="1600" lang="en-GB"/>
              <a:t>In-class discussion (1): classify the decisions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sk line"/>
          <p:cNvSpPr txBox="1"/>
          <p:nvPr/>
        </p:nvSpPr>
        <p:spPr>
          <a:xfrm>
            <a:off x="457200" y="4526280"/>
            <a:ext cx="82296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Your task: </a:t>
            </a:r>
            <a:r>
              <a:rPr sz="1200" b="0" lang="en-GB">
                <a:solidFill>
                  <a:schemeClr val="tx1"/>
                </a:solidFill>
              </a:rPr>
              <a:t>classify each decision as descriptive, predictive or prescriptive, using the article's two criteria, and say who should decide.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discussion (2): MMM for international brands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iming steps step 1"/>
          <p:cNvSpPr/>
          <p:nvPr/>
        </p:nvSpPr>
        <p:spPr>
          <a:xfrm>
            <a:off x="457200" y="1234440"/>
            <a:ext cx="2816352" cy="50292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3–4:</a:t>
            </a:r>
            <a:br/>
            <a:r>
              <a:rPr sz="1200" b="1" lang="en-GB">
                <a:solidFill>
                  <a:schemeClr val="tx2"/>
                </a:solidFill>
              </a:rPr>
              <a:t>15 minutes</a:t>
            </a:r>
          </a:p>
        </p:txBody>
      </p:sp>
      <p:sp>
        <p:nvSpPr>
          <p:cNvPr id="11" name="Timing steps step 2"/>
          <p:cNvSpPr/>
          <p:nvPr/>
        </p:nvSpPr>
        <p:spPr>
          <a:xfrm>
            <a:off x="3163824" y="1234440"/>
            <a:ext cx="2816352" cy="50292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10 minutes</a:t>
            </a:r>
          </a:p>
        </p:txBody>
      </p:sp>
      <p:sp>
        <p:nvSpPr>
          <p:cNvPr id="12" name="Timing steps step 3"/>
          <p:cNvSpPr/>
          <p:nvPr/>
        </p:nvSpPr>
        <p:spPr>
          <a:xfrm>
            <a:off x="5870448" y="1234440"/>
            <a:ext cx="2816352" cy="50292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Hand in: one</a:t>
            </a:r>
            <a:br/>
            <a:r>
              <a:rPr sz="1200" b="1" lang="en-GB">
                <a:solidFill>
                  <a:schemeClr val="tx2"/>
                </a:solidFill>
              </a:rPr>
              <a:t>photo of your answers</a:t>
            </a:r>
          </a:p>
        </p:txBody>
      </p:sp>
      <p:sp>
        <p:nvSpPr>
          <p:cNvPr id="13" name="Questions row 1"/>
          <p:cNvSpPr/>
          <p:nvPr/>
        </p:nvSpPr>
        <p:spPr>
          <a:xfrm>
            <a:off x="457200" y="1874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estions number 1"/>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Questions text 1"/>
          <p:cNvSpPr txBox="1"/>
          <p:nvPr/>
        </p:nvSpPr>
        <p:spPr>
          <a:xfrm>
            <a:off x="1051560" y="1874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MMM in the framework: </a:t>
            </a:r>
            <a:r>
              <a:rPr sz="1200" b="0" lang="en-GB">
                <a:solidFill>
                  <a:schemeClr val="tx1"/>
                </a:solidFill>
              </a:rPr>
              <a:t>descriptive, predictive or prescriptive? What would make it prescriptive?</a:t>
            </a:r>
          </a:p>
        </p:txBody>
      </p:sp>
      <p:sp>
        <p:nvSpPr>
          <p:cNvPr id="16" name="Questions row 2"/>
          <p:cNvSpPr/>
          <p:nvPr/>
        </p:nvSpPr>
        <p:spPr>
          <a:xfrm>
            <a:off x="457200" y="245973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estions number 2"/>
          <p:cNvSpPr/>
          <p:nvPr/>
        </p:nvSpPr>
        <p:spPr>
          <a:xfrm>
            <a:off x="594360" y="25603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Questions text 2"/>
          <p:cNvSpPr txBox="1"/>
          <p:nvPr/>
        </p:nvSpPr>
        <p:spPr>
          <a:xfrm>
            <a:off x="1051560" y="245973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International brand managers: </a:t>
            </a:r>
            <a:r>
              <a:rPr sz="1200" b="0" lang="en-GB">
                <a:solidFill>
                  <a:schemeClr val="tx1"/>
                </a:solidFill>
              </a:rPr>
              <a:t>how can MMM help them? Name two decisions across countries it improves.</a:t>
            </a:r>
          </a:p>
        </p:txBody>
      </p:sp>
      <p:sp>
        <p:nvSpPr>
          <p:cNvPr id="19" name="Questions row 3"/>
          <p:cNvSpPr/>
          <p:nvPr/>
        </p:nvSpPr>
        <p:spPr>
          <a:xfrm>
            <a:off x="457200" y="304495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estions number 3"/>
          <p:cNvSpPr/>
          <p:nvPr/>
        </p:nvSpPr>
        <p:spPr>
          <a:xfrm>
            <a:off x="594360" y="3145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Questions text 3"/>
          <p:cNvSpPr txBox="1"/>
          <p:nvPr/>
        </p:nvSpPr>
        <p:spPr>
          <a:xfrm>
            <a:off x="1051560" y="304495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Crude models: </a:t>
            </a:r>
            <a:r>
              <a:rPr sz="1200" b="0" lang="en-GB">
                <a:solidFill>
                  <a:schemeClr val="tx1"/>
                </a:solidFill>
              </a:rPr>
              <a:t>Event Network's price model explained 10–20 % of sales. Is a rough MMM for a small market still worth it?</a:t>
            </a:r>
          </a:p>
        </p:txBody>
      </p:sp>
      <p:sp>
        <p:nvSpPr>
          <p:cNvPr id="22" name="Questions row 4"/>
          <p:cNvSpPr/>
          <p:nvPr/>
        </p:nvSpPr>
        <p:spPr>
          <a:xfrm>
            <a:off x="457200" y="363016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estions number 4"/>
          <p:cNvSpPr/>
          <p:nvPr/>
        </p:nvSpPr>
        <p:spPr>
          <a:xfrm>
            <a:off x="594360" y="37307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Questions text 4"/>
          <p:cNvSpPr txBox="1"/>
          <p:nvPr/>
        </p:nvSpPr>
        <p:spPr>
          <a:xfrm>
            <a:off x="1051560" y="363016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Errors: </a:t>
            </a:r>
            <a:r>
              <a:rPr sz="1200" b="0" lang="en-GB">
                <a:solidFill>
                  <a:schemeClr val="tx1"/>
                </a:solidFill>
              </a:rPr>
              <a:t>the MMM says TV does not pay in one country. What would a false negative cost?</a:t>
            </a:r>
          </a:p>
        </p:txBody>
      </p:sp>
      <p:sp>
        <p:nvSpPr>
          <p:cNvPr id="25" name="Questions row 5"/>
          <p:cNvSpPr/>
          <p:nvPr/>
        </p:nvSpPr>
        <p:spPr>
          <a:xfrm>
            <a:off x="457200" y="42153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estions number 5"/>
          <p:cNvSpPr/>
          <p:nvPr/>
        </p:nvSpPr>
        <p:spPr>
          <a:xfrm>
            <a:off x="594360" y="43159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7" name="Questions text 5"/>
          <p:cNvSpPr txBox="1"/>
          <p:nvPr/>
        </p:nvSpPr>
        <p:spPr>
          <a:xfrm>
            <a:off x="1051560" y="42153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manager's job: </a:t>
            </a:r>
            <a:r>
              <a:rPr sz="1200" b="0" lang="en-GB">
                <a:solidFill>
                  <a:schemeClr val="tx1"/>
                </a:solidFill>
              </a:rPr>
              <a:t>name one international decision no model should make, with the article's argument.</a:t>
            </a:r>
          </a:p>
        </p:txBody>
      </p:sp>
      <p:sp>
        <p:nvSpPr>
          <p:cNvPr id="28" name="Sources"/>
          <p:cNvSpPr txBox="1"/>
          <p:nvPr/>
        </p:nvSpPr>
        <p:spPr>
          <a:xfrm>
            <a:off x="457200" y="484632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Reading: Fantini &amp; Narayandas 2023, Analytics for Marketers, Harvard Business Review (on Canvas)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7 · how the sessions build the skills, the group case study</a:t>
            </a:r>
          </a:p>
        </p:txBody>
      </p:sp>
      <p:sp>
        <p:nvSpPr>
          <p:cNvPr id="3" name="Title 2"/>
          <p:cNvSpPr>
            <a:spLocks noGrp="1"/>
          </p:cNvSpPr>
          <p:nvPr>
            <p:ph type="ctrTitle"/>
          </p:nvPr>
        </p:nvSpPr>
        <p:spPr/>
        <p:txBody>
          <a:bodyPr/>
          <a:lstStyle/>
          <a:p>
            <a:r>
              <a:rPr sz="1600" lang="en-GB"/>
              <a:t>MMM in this course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Five sessions, one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ssion row 1"/>
          <p:cNvSpPr/>
          <p:nvPr/>
        </p:nvSpPr>
        <p:spPr>
          <a:xfrm>
            <a:off x="457200" y="123444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ssion bar 1"/>
          <p:cNvSpPr/>
          <p:nvPr/>
        </p:nvSpPr>
        <p:spPr>
          <a:xfrm>
            <a:off x="457200" y="123444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ssion number 1"/>
          <p:cNvSpPr/>
          <p:nvPr/>
        </p:nvSpPr>
        <p:spPr>
          <a:xfrm>
            <a:off x="658368" y="138074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1</a:t>
            </a:r>
          </a:p>
        </p:txBody>
      </p:sp>
      <p:sp>
        <p:nvSpPr>
          <p:cNvPr id="13" name="Session topic 1"/>
          <p:cNvSpPr txBox="1"/>
          <p:nvPr/>
        </p:nvSpPr>
        <p:spPr>
          <a:xfrm>
            <a:off x="1188720" y="123444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Introduction and linear regression</a:t>
            </a:r>
          </a:p>
        </p:txBody>
      </p:sp>
      <p:sp>
        <p:nvSpPr>
          <p:cNvPr id="14" name="Session methods 1"/>
          <p:cNvSpPr txBox="1"/>
          <p:nvPr/>
        </p:nvSpPr>
        <p:spPr>
          <a:xfrm>
            <a:off x="3291840" y="123444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OLS, model fit and interpretation</a:t>
            </a:r>
          </a:p>
        </p:txBody>
      </p:sp>
      <p:sp>
        <p:nvSpPr>
          <p:cNvPr id="15" name="Session role 1"/>
          <p:cNvSpPr txBox="1"/>
          <p:nvPr/>
        </p:nvSpPr>
        <p:spPr>
          <a:xfrm>
            <a:off x="6675120" y="123444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base regression</a:t>
            </a:r>
          </a:p>
        </p:txBody>
      </p:sp>
      <p:sp>
        <p:nvSpPr>
          <p:cNvPr id="16" name="Session row 2"/>
          <p:cNvSpPr/>
          <p:nvPr/>
        </p:nvSpPr>
        <p:spPr>
          <a:xfrm>
            <a:off x="457200" y="198882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ssion bar 2"/>
          <p:cNvSpPr/>
          <p:nvPr/>
        </p:nvSpPr>
        <p:spPr>
          <a:xfrm>
            <a:off x="457200" y="198882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ession number 2"/>
          <p:cNvSpPr/>
          <p:nvPr/>
        </p:nvSpPr>
        <p:spPr>
          <a:xfrm>
            <a:off x="658368" y="213512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2</a:t>
            </a:r>
          </a:p>
        </p:txBody>
      </p:sp>
      <p:sp>
        <p:nvSpPr>
          <p:cNvPr id="19" name="Session topic 2"/>
          <p:cNvSpPr txBox="1"/>
          <p:nvPr/>
        </p:nvSpPr>
        <p:spPr>
          <a:xfrm>
            <a:off x="1188720" y="198882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Advanced regression</a:t>
            </a:r>
          </a:p>
        </p:txBody>
      </p:sp>
      <p:sp>
        <p:nvSpPr>
          <p:cNvPr id="20" name="Session methods 2"/>
          <p:cNvSpPr txBox="1"/>
          <p:nvPr/>
        </p:nvSpPr>
        <p:spPr>
          <a:xfrm>
            <a:off x="3291840" y="198882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log-log elasticities, dummies, non-linear effects, moderation and mediation, adstock and saturation, diagnostics</a:t>
            </a:r>
          </a:p>
        </p:txBody>
      </p:sp>
      <p:sp>
        <p:nvSpPr>
          <p:cNvPr id="21" name="Session role 2"/>
          <p:cNvSpPr txBox="1"/>
          <p:nvPr/>
        </p:nvSpPr>
        <p:spPr>
          <a:xfrm>
            <a:off x="6675120" y="198882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MMM itself</a:t>
            </a:r>
          </a:p>
        </p:txBody>
      </p:sp>
      <p:sp>
        <p:nvSpPr>
          <p:cNvPr id="22" name="Session row 3"/>
          <p:cNvSpPr/>
          <p:nvPr/>
        </p:nvSpPr>
        <p:spPr>
          <a:xfrm>
            <a:off x="457200" y="274320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ssion bar 3"/>
          <p:cNvSpPr/>
          <p:nvPr/>
        </p:nvSpPr>
        <p:spPr>
          <a:xfrm>
            <a:off x="457200" y="274320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ession number 3"/>
          <p:cNvSpPr/>
          <p:nvPr/>
        </p:nvSpPr>
        <p:spPr>
          <a:xfrm>
            <a:off x="658368" y="288950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3</a:t>
            </a:r>
          </a:p>
        </p:txBody>
      </p:sp>
      <p:sp>
        <p:nvSpPr>
          <p:cNvPr id="25" name="Session topic 3"/>
          <p:cNvSpPr txBox="1"/>
          <p:nvPr/>
        </p:nvSpPr>
        <p:spPr>
          <a:xfrm>
            <a:off x="1188720" y="274320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Logistic regression</a:t>
            </a:r>
          </a:p>
        </p:txBody>
      </p:sp>
      <p:sp>
        <p:nvSpPr>
          <p:cNvPr id="26" name="Session methods 3"/>
          <p:cNvSpPr txBox="1"/>
          <p:nvPr/>
        </p:nvSpPr>
        <p:spPr>
          <a:xfrm>
            <a:off x="3291840" y="274320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binary outcomes: purchase, churn; odds ratios</a:t>
            </a:r>
          </a:p>
        </p:txBody>
      </p:sp>
      <p:sp>
        <p:nvSpPr>
          <p:cNvPr id="27" name="Session role 3"/>
          <p:cNvSpPr txBox="1"/>
          <p:nvPr/>
        </p:nvSpPr>
        <p:spPr>
          <a:xfrm>
            <a:off x="6675120" y="274320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customer-level questions</a:t>
            </a:r>
          </a:p>
        </p:txBody>
      </p:sp>
      <p:sp>
        <p:nvSpPr>
          <p:cNvPr id="28" name="Session row 4"/>
          <p:cNvSpPr/>
          <p:nvPr/>
        </p:nvSpPr>
        <p:spPr>
          <a:xfrm>
            <a:off x="457200" y="349758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ssion bar 4"/>
          <p:cNvSpPr/>
          <p:nvPr/>
        </p:nvSpPr>
        <p:spPr>
          <a:xfrm>
            <a:off x="457200" y="349758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ession number 4"/>
          <p:cNvSpPr/>
          <p:nvPr/>
        </p:nvSpPr>
        <p:spPr>
          <a:xfrm>
            <a:off x="658368" y="364388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4</a:t>
            </a:r>
          </a:p>
        </p:txBody>
      </p:sp>
      <p:sp>
        <p:nvSpPr>
          <p:cNvPr id="31" name="Session topic 4"/>
          <p:cNvSpPr txBox="1"/>
          <p:nvPr/>
        </p:nvSpPr>
        <p:spPr>
          <a:xfrm>
            <a:off x="1188720" y="349758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ARIMA</a:t>
            </a:r>
          </a:p>
        </p:txBody>
      </p:sp>
      <p:sp>
        <p:nvSpPr>
          <p:cNvPr id="32" name="Session methods 4"/>
          <p:cNvSpPr txBox="1"/>
          <p:nvPr/>
        </p:nvSpPr>
        <p:spPr>
          <a:xfrm>
            <a:off x="3291840" y="349758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trend, seasonality, ARIMA and ARIMAX forecasts</a:t>
            </a:r>
          </a:p>
        </p:txBody>
      </p:sp>
      <p:sp>
        <p:nvSpPr>
          <p:cNvPr id="33" name="Session role 4"/>
          <p:cNvSpPr txBox="1"/>
          <p:nvPr/>
        </p:nvSpPr>
        <p:spPr>
          <a:xfrm>
            <a:off x="6675120" y="349758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sales baseline</a:t>
            </a:r>
          </a:p>
        </p:txBody>
      </p:sp>
      <p:sp>
        <p:nvSpPr>
          <p:cNvPr id="34" name="Session row 5"/>
          <p:cNvSpPr/>
          <p:nvPr/>
        </p:nvSpPr>
        <p:spPr>
          <a:xfrm>
            <a:off x="457200" y="425196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ession bar 5"/>
          <p:cNvSpPr/>
          <p:nvPr/>
        </p:nvSpPr>
        <p:spPr>
          <a:xfrm>
            <a:off x="457200" y="425196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Session number 5"/>
          <p:cNvSpPr/>
          <p:nvPr/>
        </p:nvSpPr>
        <p:spPr>
          <a:xfrm>
            <a:off x="658368" y="439826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5</a:t>
            </a:r>
          </a:p>
        </p:txBody>
      </p:sp>
      <p:sp>
        <p:nvSpPr>
          <p:cNvPr id="37" name="Session topic 5"/>
          <p:cNvSpPr txBox="1"/>
          <p:nvPr/>
        </p:nvSpPr>
        <p:spPr>
          <a:xfrm>
            <a:off x="1188720" y="425196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Advanced MMM tools</a:t>
            </a:r>
          </a:p>
        </p:txBody>
      </p:sp>
      <p:sp>
        <p:nvSpPr>
          <p:cNvPr id="38" name="Session methods 5"/>
          <p:cNvSpPr txBox="1"/>
          <p:nvPr/>
        </p:nvSpPr>
        <p:spPr>
          <a:xfrm>
            <a:off x="3291840" y="425196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Bayesian MMM, budget optimisation</a:t>
            </a:r>
          </a:p>
        </p:txBody>
      </p:sp>
      <p:sp>
        <p:nvSpPr>
          <p:cNvPr id="39" name="Session role 5"/>
          <p:cNvSpPr txBox="1"/>
          <p:nvPr/>
        </p:nvSpPr>
        <p:spPr>
          <a:xfrm>
            <a:off x="6675120" y="425196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full workflow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Find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108960"/>
                <a:gridCol w="5120640"/>
              </a:tblGrid>
              <a:tr h="370840">
                <a:tc>
                  <a:txBody>
                    <a:bodyPr/>
                    <a:lstStyle/>
                    <a:p>
                      <a:r>
                        <a:rPr sz="1300" lang="en-GB"/>
                        <a:t>In this deck</a:t>
                      </a:r>
                    </a:p>
                  </a:txBody>
                  <a:tcPr marT="45000" marB="45000"/>
                </a:tc>
                <a:tc>
                  <a:txBody>
                    <a:bodyPr/>
                    <a:lstStyle/>
                    <a:p>
                      <a:r>
                        <a:rPr sz="1300" lang="en-GB"/>
                        <a:t>Where to look</a:t>
                      </a:r>
                    </a:p>
                  </a:txBody>
                  <a:tcPr marT="45000" marB="45000"/>
                </a:tc>
              </a:tr>
              <a:tr h="370840">
                <a:tc>
                  <a:txBody>
                    <a:bodyPr/>
                    <a:lstStyle/>
                    <a:p>
                      <a:r>
                        <a:rPr sz="1200" b="1" lang="en-GB"/>
                        <a:t>Regression, log-log, elasticities</a:t>
                      </a:r>
                    </a:p>
                  </a:txBody>
                  <a:tcPr marT="45000" marB="45000"/>
                </a:tc>
                <a:tc>
                  <a:txBody>
                    <a:bodyPr/>
                    <a:lstStyle/>
                    <a:p>
                      <a:r>
                        <a:rPr sz="1200" lang="en-GB"/>
                        <a:t>deck 01b, Parts 6 and 9; sessions/01-foundations/regression_chocolate.qmd</a:t>
                      </a:r>
                    </a:p>
                  </a:txBody>
                  <a:tcPr marT="45000" marB="45000"/>
                </a:tc>
              </a:tr>
              <a:tr h="370840">
                <a:tc>
                  <a:txBody>
                    <a:bodyPr/>
                    <a:lstStyle/>
                    <a:p>
                      <a:r>
                        <a:rPr sz="1200" b="1" lang="en-GB"/>
                        <a:t>VIF, tests, endogeneity (pitfalls)</a:t>
                      </a:r>
                    </a:p>
                  </a:txBody>
                  <a:tcPr marT="45000" marB="45000"/>
                </a:tc>
                <a:tc>
                  <a:txBody>
                    <a:bodyPr/>
                    <a:lstStyle/>
                    <a:p>
                      <a:r>
                        <a:rPr sz="1200" lang="en-GB"/>
                        <a:t>deck 01b, Part 7: assumptions and tests</a:t>
                      </a:r>
                    </a:p>
                  </a:txBody>
                  <a:tcPr marT="45000" marB="45000"/>
                </a:tc>
              </a:tr>
              <a:tr h="370840">
                <a:tc>
                  <a:txBody>
                    <a:bodyPr/>
                    <a:lstStyle/>
                    <a:p>
                      <a:r>
                        <a:rPr sz="1200" b="1" lang="en-GB"/>
                        <a:t>Coding in Python with an AI assistant</a:t>
                      </a:r>
                    </a:p>
                  </a:txBody>
                  <a:tcPr marT="45000" marB="45000"/>
                </a:tc>
                <a:tc>
                  <a:txBody>
                    <a:bodyPr/>
                    <a:lstStyle/>
                    <a:p>
                      <a:r>
                        <a:rPr sz="1200" lang="en-GB"/>
                        <a:t>deck 01d: GitHub Copilot, Claude Code, Codex in Positron</a:t>
                      </a:r>
                    </a:p>
                  </a:txBody>
                  <a:tcPr marT="45000" marB="45000"/>
                </a:tc>
              </a:tr>
              <a:tr h="370840">
                <a:tc>
                  <a:txBody>
                    <a:bodyPr/>
                    <a:lstStyle/>
                    <a:p>
                      <a:r>
                        <a:rPr sz="1200" b="1" lang="en-GB"/>
                        <a:t>Practice: regression on real data</a:t>
                      </a:r>
                    </a:p>
                  </a:txBody>
                  <a:tcPr marT="45000" marB="45000"/>
                </a:tc>
                <a:tc>
                  <a:txBody>
                    <a:bodyPr/>
                    <a:lstStyle/>
                    <a:p>
                      <a:r>
                        <a:rPr sz="1200" lang="en-GB"/>
                        <a:t>coding exercise 1: your personal brief and data on Canvas</a:t>
                      </a:r>
                    </a:p>
                  </a:txBody>
                  <a:tcPr marT="45000" marB="45000"/>
                </a:tc>
              </a:tr>
              <a:tr h="370840">
                <a:tc>
                  <a:txBody>
                    <a:bodyPr/>
                    <a:lstStyle/>
                    <a:p>
                      <a:r>
                        <a:rPr sz="1200" b="1" lang="en-GB"/>
                        <a:t>The full MMM, step by step</a:t>
                      </a:r>
                    </a:p>
                  </a:txBody>
                  <a:tcPr marT="45000" marB="45000"/>
                </a:tc>
                <a:tc>
                  <a:txBody>
                    <a:bodyPr/>
                    <a:lstStyle/>
                    <a:p>
                      <a:r>
                        <a:rPr sz="1200" lang="en-GB"/>
                        <a:t>Sessions 2 to 5 and the group case study</a:t>
                      </a:r>
                    </a:p>
                  </a:txBody>
                  <a:tcPr marT="45000" marB="45000"/>
                </a:tc>
              </a:tr>
            </a:tbl>
          </a:graphicData>
        </a:graphic>
      </p:graphicFrame>
      <p:sp>
        <p:nvSpPr>
          <p:cNvPr id="3" name="Title 2"/>
          <p:cNvSpPr>
            <a:spLocks noGrp="1"/>
          </p:cNvSpPr>
          <p:nvPr>
            <p:ph type="title"/>
          </p:nvPr>
        </p:nvSpPr>
        <p:spPr/>
        <p:txBody>
          <a:bodyPr/>
          <a:lstStyle/>
          <a:p>
            <a:r>
              <a:rPr sz="1600" lang="en-GB"/>
              <a:t>Where to find what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Find repo box"/>
          <p:cNvSpPr/>
          <p:nvPr/>
        </p:nvSpPr>
        <p:spPr>
          <a:xfrm>
            <a:off x="457200" y="416052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Find repo" descr=""/>
          <p:cNvPicPr>
            <a:picLocks noChangeAspect="1"/>
          </p:cNvPicPr>
          <p:nvPr/>
        </p:nvPicPr>
        <p:blipFill>
          <a:blip r:embed="rId3"/>
          <a:stretch>
            <a:fillRect/>
          </a:stretch>
        </p:blipFill>
        <p:spPr>
          <a:xfrm>
            <a:off x="658368" y="4297680"/>
            <a:ext cx="365760" cy="365760"/>
          </a:xfrm>
          <a:prstGeom prst="rect">
            <a:avLst/>
          </a:prstGeom>
        </p:spPr>
      </p:pic>
      <p:sp>
        <p:nvSpPr>
          <p:cNvPr id="12" name="Find repo text"/>
          <p:cNvSpPr txBox="1"/>
          <p:nvPr/>
        </p:nvSpPr>
        <p:spPr>
          <a:xfrm>
            <a:off x="1207008" y="416052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All decks and class files: </a:t>
            </a:r>
            <a:r>
              <a:rPr sz="1200" b="0" lang="en-GB">
                <a:solidFill>
                  <a:schemeClr val="bg1"/>
                </a:solidFill>
              </a:rPr>
              <a:t>the course repository; pull it before every session.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group case study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se steps step 1"/>
          <p:cNvSpPr/>
          <p:nvPr/>
        </p:nvSpPr>
        <p:spPr>
          <a:xfrm>
            <a:off x="457200" y="1234440"/>
            <a:ext cx="2139696" cy="603504"/>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S1: what drives</a:t>
            </a:r>
            <a:br/>
            <a:r>
              <a:rPr sz="1200" b="1" lang="en-GB">
                <a:solidFill>
                  <a:schemeClr val="tx2"/>
                </a:solidFill>
              </a:rPr>
              <a:t>weekly orders?</a:t>
            </a:r>
          </a:p>
        </p:txBody>
      </p:sp>
      <p:sp>
        <p:nvSpPr>
          <p:cNvPr id="11" name="Case steps step 2"/>
          <p:cNvSpPr/>
          <p:nvPr/>
        </p:nvSpPr>
        <p:spPr>
          <a:xfrm>
            <a:off x="2487168"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S2: price and</a:t>
            </a:r>
            <a:br/>
            <a:r>
              <a:rPr sz="1200" b="1" lang="en-GB">
                <a:solidFill>
                  <a:schemeClr val="tx2"/>
                </a:solidFill>
              </a:rPr>
              <a:t>advertising</a:t>
            </a:r>
          </a:p>
        </p:txBody>
      </p:sp>
      <p:sp>
        <p:nvSpPr>
          <p:cNvPr id="12" name="Case steps step 3"/>
          <p:cNvSpPr/>
          <p:nvPr/>
        </p:nvSpPr>
        <p:spPr>
          <a:xfrm>
            <a:off x="4517136"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S3: who will</a:t>
            </a:r>
            <a:br/>
            <a:r>
              <a:rPr sz="1200" b="1" lang="en-GB">
                <a:solidFill>
                  <a:schemeClr val="tx2"/>
                </a:solidFill>
              </a:rPr>
              <a:t>cancel?</a:t>
            </a:r>
          </a:p>
        </p:txBody>
      </p:sp>
      <p:sp>
        <p:nvSpPr>
          <p:cNvPr id="13" name="Case steps step 4"/>
          <p:cNvSpPr/>
          <p:nvPr/>
        </p:nvSpPr>
        <p:spPr>
          <a:xfrm>
            <a:off x="6547104"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S4: Q1 2026</a:t>
            </a:r>
            <a:br/>
            <a:r>
              <a:rPr sz="1200" b="1" lang="en-GB">
                <a:solidFill>
                  <a:schemeClr val="tx2"/>
                </a:solidFill>
              </a:rPr>
              <a:t>baseline</a:t>
            </a:r>
          </a:p>
        </p:txBody>
      </p:sp>
      <p:sp>
        <p:nvSpPr>
          <p:cNvPr id="14" name="Case card 1 body"/>
          <p:cNvSpPr/>
          <p:nvPr/>
        </p:nvSpPr>
        <p:spPr>
          <a:xfrm>
            <a:off x="45720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se card 1 header"/>
          <p:cNvSpPr/>
          <p:nvPr/>
        </p:nvSpPr>
        <p:spPr>
          <a:xfrm>
            <a:off x="45720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se card 1 heading"/>
          <p:cNvSpPr txBox="1"/>
          <p:nvPr/>
        </p:nvSpPr>
        <p:spPr>
          <a:xfrm>
            <a:off x="59436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brief</a:t>
            </a:r>
          </a:p>
        </p:txBody>
      </p:sp>
      <p:pic>
        <p:nvPicPr>
          <p:cNvPr id="17" name="Icon Case card 1" descr=""/>
          <p:cNvPicPr>
            <a:picLocks noChangeAspect="1"/>
          </p:cNvPicPr>
          <p:nvPr/>
        </p:nvPicPr>
        <p:blipFill>
          <a:blip r:embed="rId3"/>
          <a:stretch>
            <a:fillRect/>
          </a:stretch>
        </p:blipFill>
        <p:spPr>
          <a:xfrm>
            <a:off x="2670048" y="2061972"/>
            <a:ext cx="310896" cy="310896"/>
          </a:xfrm>
          <a:prstGeom prst="rect">
            <a:avLst/>
          </a:prstGeom>
        </p:spPr>
      </p:pic>
      <p:sp>
        <p:nvSpPr>
          <p:cNvPr id="18" name="Case card 1 text"/>
          <p:cNvSpPr txBox="1"/>
          <p:nvPr/>
        </p:nvSpPr>
        <p:spPr>
          <a:xfrm>
            <a:off x="62179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Alpenglow's web shop in AT, DE and CH</a:t>
            </a:r>
          </a:p>
          <a:p>
            <a:pPr algn="l" marL="182880" indent="-182880">
              <a:spcAft>
                <a:spcPts val="600"/>
              </a:spcAft>
              <a:buClr>
                <a:schemeClr val="accent1"/>
              </a:buClr>
              <a:buFont typeface="Arial"/>
              <a:buChar char="▪"/>
            </a:pPr>
            <a:r>
              <a:rPr sz="1300" b="0" lang="en-GB">
                <a:solidFill>
                  <a:schemeClr val="tx1"/>
                </a:solidFill>
              </a:rPr>
              <a:t>Four questions from the Head of E-commerce</a:t>
            </a:r>
          </a:p>
        </p:txBody>
      </p:sp>
      <p:sp>
        <p:nvSpPr>
          <p:cNvPr id="19" name="Case card 2 body"/>
          <p:cNvSpPr/>
          <p:nvPr/>
        </p:nvSpPr>
        <p:spPr>
          <a:xfrm>
            <a:off x="324612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se card 2 header"/>
          <p:cNvSpPr/>
          <p:nvPr/>
        </p:nvSpPr>
        <p:spPr>
          <a:xfrm>
            <a:off x="324612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se card 2 heading"/>
          <p:cNvSpPr txBox="1"/>
          <p:nvPr/>
        </p:nvSpPr>
        <p:spPr>
          <a:xfrm>
            <a:off x="338328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data</a:t>
            </a:r>
          </a:p>
        </p:txBody>
      </p:sp>
      <p:pic>
        <p:nvPicPr>
          <p:cNvPr id="22" name="Icon Case card 2" descr=""/>
          <p:cNvPicPr>
            <a:picLocks noChangeAspect="1"/>
          </p:cNvPicPr>
          <p:nvPr/>
        </p:nvPicPr>
        <p:blipFill>
          <a:blip r:embed="rId4"/>
          <a:stretch>
            <a:fillRect/>
          </a:stretch>
        </p:blipFill>
        <p:spPr>
          <a:xfrm>
            <a:off x="5458968" y="2061972"/>
            <a:ext cx="310896" cy="310896"/>
          </a:xfrm>
          <a:prstGeom prst="rect">
            <a:avLst/>
          </a:prstGeom>
        </p:spPr>
      </p:pic>
      <p:sp>
        <p:nvSpPr>
          <p:cNvPr id="23" name="Case card 2 text"/>
          <p:cNvSpPr txBox="1"/>
          <p:nvPr/>
        </p:nvSpPr>
        <p:spPr>
          <a:xfrm>
            <a:off x="341071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Weekly shop data, 3 countries × 156 weeks</a:t>
            </a:r>
          </a:p>
          <a:p>
            <a:pPr algn="l" marL="182880" indent="-182880">
              <a:spcAft>
                <a:spcPts val="600"/>
              </a:spcAft>
              <a:buClr>
                <a:schemeClr val="accent1"/>
              </a:buClr>
              <a:buFont typeface="Arial"/>
              <a:buChar char="▪"/>
            </a:pPr>
            <a:r>
              <a:rPr sz="1300" b="0" lang="en-GB">
                <a:solidFill>
                  <a:schemeClr val="tx1"/>
                </a:solidFill>
              </a:rPr>
              <a:t>Club subscribers</a:t>
            </a:r>
          </a:p>
          <a:p>
            <a:pPr algn="l" marL="182880" indent="-182880">
              <a:spcAft>
                <a:spcPts val="600"/>
              </a:spcAft>
              <a:buClr>
                <a:schemeClr val="accent1"/>
              </a:buClr>
              <a:buFont typeface="Arial"/>
              <a:buChar char="▪"/>
            </a:pPr>
            <a:r>
              <a:rPr sz="1300" b="0" lang="en-GB">
                <a:solidFill>
                  <a:schemeClr val="tx1"/>
                </a:solidFill>
              </a:rPr>
              <a:t>The Q1 2026 plan</a:t>
            </a:r>
          </a:p>
        </p:txBody>
      </p:sp>
      <p:sp>
        <p:nvSpPr>
          <p:cNvPr id="24" name="Case card 3 body"/>
          <p:cNvSpPr/>
          <p:nvPr/>
        </p:nvSpPr>
        <p:spPr>
          <a:xfrm>
            <a:off x="603504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se card 3 header"/>
          <p:cNvSpPr/>
          <p:nvPr/>
        </p:nvSpPr>
        <p:spPr>
          <a:xfrm>
            <a:off x="603504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ase card 3 heading"/>
          <p:cNvSpPr txBox="1"/>
          <p:nvPr/>
        </p:nvSpPr>
        <p:spPr>
          <a:xfrm>
            <a:off x="617220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 deliver</a:t>
            </a:r>
          </a:p>
        </p:txBody>
      </p:sp>
      <p:pic>
        <p:nvPicPr>
          <p:cNvPr id="27" name="Icon Case card 3" descr=""/>
          <p:cNvPicPr>
            <a:picLocks noChangeAspect="1"/>
          </p:cNvPicPr>
          <p:nvPr/>
        </p:nvPicPr>
        <p:blipFill>
          <a:blip r:embed="rId5"/>
          <a:stretch>
            <a:fillRect/>
          </a:stretch>
        </p:blipFill>
        <p:spPr>
          <a:xfrm>
            <a:off x="8247888" y="2061972"/>
            <a:ext cx="310896" cy="310896"/>
          </a:xfrm>
          <a:prstGeom prst="rect">
            <a:avLst/>
          </a:prstGeom>
        </p:spPr>
      </p:pic>
      <p:sp>
        <p:nvSpPr>
          <p:cNvPr id="28" name="Case card 3 text"/>
          <p:cNvSpPr txBox="1"/>
          <p:nvPr/>
        </p:nvSpPr>
        <p:spPr>
          <a:xfrm>
            <a:off x="619963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Quarto report with all code</a:t>
            </a:r>
          </a:p>
          <a:p>
            <a:pPr algn="l" marL="182880" indent="-182880">
              <a:spcAft>
                <a:spcPts val="600"/>
              </a:spcAft>
              <a:buClr>
                <a:schemeClr val="accent1"/>
              </a:buClr>
              <a:buFont typeface="Arial"/>
              <a:buChar char="▪"/>
            </a:pPr>
            <a:r>
              <a:rPr sz="1300" b="0" lang="en-GB">
                <a:solidFill>
                  <a:schemeClr val="tx1"/>
                </a:solidFill>
              </a:rPr>
              <a:t>Groups of at most 4</a:t>
            </a:r>
          </a:p>
          <a:p>
            <a:pPr algn="l" marL="182880" indent="-182880">
              <a:spcAft>
                <a:spcPts val="600"/>
              </a:spcAft>
              <a:buClr>
                <a:schemeClr val="accent1"/>
              </a:buClr>
              <a:buFont typeface="Arial"/>
              <a:buChar char="▪"/>
            </a:pPr>
            <a:r>
              <a:rPr sz="1300" b="0" lang="en-GB">
                <a:solidFill>
                  <a:schemeClr val="tx1"/>
                </a:solidFill>
              </a:rPr>
              <a:t>30 % of the grade</a:t>
            </a:r>
          </a:p>
        </p:txBody>
      </p:sp>
      <p:sp>
        <p:nvSpPr>
          <p:cNvPr id="29" name="Case rule box"/>
          <p:cNvSpPr/>
          <p:nvPr/>
        </p:nvSpPr>
        <p:spPr>
          <a:xfrm>
            <a:off x="457200" y="4005072"/>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Case rule" descr=""/>
          <p:cNvPicPr>
            <a:picLocks noChangeAspect="1"/>
          </p:cNvPicPr>
          <p:nvPr/>
        </p:nvPicPr>
        <p:blipFill>
          <a:blip r:embed="rId6"/>
          <a:stretch>
            <a:fillRect/>
          </a:stretch>
        </p:blipFill>
        <p:spPr>
          <a:xfrm>
            <a:off x="658368" y="4165092"/>
            <a:ext cx="365760" cy="365760"/>
          </a:xfrm>
          <a:prstGeom prst="rect">
            <a:avLst/>
          </a:prstGeom>
        </p:spPr>
      </p:pic>
      <p:sp>
        <p:nvSpPr>
          <p:cNvPr id="31" name="Case rule text"/>
          <p:cNvSpPr txBox="1"/>
          <p:nvPr/>
        </p:nvSpPr>
        <p:spPr>
          <a:xfrm>
            <a:off x="1207008" y="4005072"/>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Every number from code: </a:t>
            </a:r>
            <a:r>
              <a:rPr sz="1200" b="0" lang="en-GB">
                <a:solidFill>
                  <a:schemeClr val="bg1"/>
                </a:solidFill>
              </a:rPr>
              <a:t>the report renders from a fresh copy of your project folder.</a:t>
            </a:r>
          </a:p>
        </p:txBody>
      </p:sp>
      <p:sp>
        <p:nvSpPr>
          <p:cNvPr id="32" name="Case where"/>
          <p:cNvSpPr txBox="1"/>
          <p:nvPr/>
        </p:nvSpPr>
        <p:spPr>
          <a:xfrm>
            <a:off x="457200" y="4754880"/>
            <a:ext cx="8229600"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Brief, data and assessment criteria: </a:t>
            </a:r>
            <a:r>
              <a:rPr sz="1200" b="0" lang="en-GB">
                <a:solidFill>
                  <a:schemeClr val="tx2"/>
                </a:solidFill>
                <a:latin typeface="Consolas"/>
              </a:rPr>
              <a:t>assignments/group-project/ and Canvas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MMM </a:t>
            </a:r>
            <a:r>
              <a:rPr sz="1200" b="0" lang="en-GB">
                <a:solidFill>
                  <a:schemeClr val="tx1"/>
                </a:solidFill>
              </a:rPr>
              <a:t>explains weekly sales with marketing and other drivers and splits them into base and incremental</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Adstock and saturation </a:t>
            </a:r>
            <a:r>
              <a:rPr sz="1200" b="0" lang="en-GB">
                <a:solidFill>
                  <a:schemeClr val="tx1"/>
                </a:solidFill>
              </a:rPr>
              <a:t>capture carryover and diminishing returns; decide on marginal, not average, ROAS</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Benchmarks: </a:t>
            </a:r>
            <a:r>
              <a:rPr sz="1200" b="0" lang="en-GB">
                <a:solidFill>
                  <a:schemeClr val="tx1"/>
                </a:solidFill>
              </a:rPr>
              <a:t>advertising elasticities around 0.1 short term, larger price effects, differences by country</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Clicks are not causes: </a:t>
            </a:r>
            <a:r>
              <a:rPr sz="1200" b="0" lang="en-GB">
                <a:solidFill>
                  <a:schemeClr val="tx1"/>
                </a:solidFill>
              </a:rPr>
              <a:t>attribution shares out sales; validate MMM on a holdout and calibrate it with experiments</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Open-source Bayesian tools </a:t>
            </a:r>
            <a:r>
              <a:rPr sz="1200" b="0" lang="en-GB">
                <a:solidFill>
                  <a:schemeClr val="tx1"/>
                </a:solidFill>
              </a:rPr>
              <a:t>make it doable in Python: you will build one</a:t>
            </a:r>
          </a:p>
        </p:txBody>
      </p:sp>
      <p:sp>
        <p:nvSpPr>
          <p:cNvPr id="25" name="Final question box"/>
          <p:cNvSpPr/>
          <p:nvPr/>
        </p:nvSpPr>
        <p:spPr>
          <a:xfrm>
            <a:off x="457200" y="45720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Final question" descr=""/>
          <p:cNvPicPr>
            <a:picLocks noChangeAspect="1"/>
          </p:cNvPicPr>
          <p:nvPr/>
        </p:nvPicPr>
        <p:blipFill>
          <a:blip r:embed="rId3"/>
          <a:stretch>
            <a:fillRect/>
          </a:stretch>
        </p:blipFill>
        <p:spPr>
          <a:xfrm>
            <a:off x="658368" y="4640580"/>
            <a:ext cx="365760" cy="365760"/>
          </a:xfrm>
          <a:prstGeom prst="rect">
            <a:avLst/>
          </a:prstGeom>
        </p:spPr>
      </p:pic>
      <p:sp>
        <p:nvSpPr>
          <p:cNvPr id="27" name="Final question text"/>
          <p:cNvSpPr txBox="1"/>
          <p:nvPr/>
        </p:nvSpPr>
        <p:spPr>
          <a:xfrm>
            <a:off x="1207008" y="457200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The question stays the same: </a:t>
            </a:r>
            <a:r>
              <a:rPr sz="1200" b="0" lang="en-GB">
                <a:solidFill>
                  <a:schemeClr val="bg1"/>
                </a:solidFill>
              </a:rPr>
              <a:t>where should the next euro go?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Further reading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ding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ading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Foundations and evidence</a:t>
            </a:r>
          </a:p>
        </p:txBody>
      </p:sp>
      <p:pic>
        <p:nvPicPr>
          <p:cNvPr id="12" name="Icon reading 1" descr=""/>
          <p:cNvPicPr>
            <a:picLocks noChangeAspect="1"/>
          </p:cNvPicPr>
          <p:nvPr/>
        </p:nvPicPr>
        <p:blipFill>
          <a:blip r:embed="rId3"/>
          <a:stretch>
            <a:fillRect/>
          </a:stretch>
        </p:blipFill>
        <p:spPr>
          <a:xfrm>
            <a:off x="4064508" y="1280160"/>
            <a:ext cx="310896" cy="310896"/>
          </a:xfrm>
          <a:prstGeom prst="rect">
            <a:avLst/>
          </a:prstGeom>
        </p:spPr>
      </p:pic>
      <p:sp>
        <p:nvSpPr>
          <p:cNvPr id="13" name="Reading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ading 1 text"/>
          <p:cNvSpPr txBox="1"/>
          <p:nvPr/>
        </p:nvSpPr>
        <p:spPr>
          <a:xfrm>
            <a:off x="621792" y="1755648"/>
            <a:ext cx="3744468" cy="3246120"/>
          </a:xfrm>
          <a:prstGeom prst="rect">
            <a:avLst/>
          </a:prstGeom>
          <a:noFill/>
        </p:spPr>
        <p:txBody>
          <a:bodyPr wrap="square" lIns="0" rIns="0" tIns="0" bIns="0" anchor="t">
            <a:noAutofit/>
          </a:bodyPr>
          <a:lstStyle/>
          <a:p>
            <a:pPr algn="l">
              <a:spcAft>
                <a:spcPts val="500"/>
              </a:spcAft>
            </a:pPr>
            <a:r>
              <a:rPr sz="1100" b="1" lang="en-GB">
                <a:solidFill>
                  <a:schemeClr val="tx2"/>
                </a:solidFill>
              </a:rPr>
              <a:t>Hanssens, D. M., Parsons, L. J. &amp; Schultz, R. L. (2001). </a:t>
            </a:r>
            <a:r>
              <a:rPr sz="1100" b="0" lang="en-GB">
                <a:solidFill>
                  <a:schemeClr val="tx1"/>
                </a:solidFill>
              </a:rPr>
              <a:t>Market Response Models. 2nd ed. Kluwer.</a:t>
            </a:r>
          </a:p>
          <a:p>
            <a:pPr algn="l">
              <a:spcAft>
                <a:spcPts val="500"/>
              </a:spcAft>
            </a:pPr>
            <a:r>
              <a:rPr sz="1100" b="1" lang="en-GB">
                <a:solidFill>
                  <a:schemeClr val="tx2"/>
                </a:solidFill>
              </a:rPr>
              <a:t>Sethuraman, R., Tellis, G. J. &amp; Briesch, R. A. (2011). </a:t>
            </a:r>
            <a:r>
              <a:rPr sz="1100" b="0" lang="en-GB">
                <a:solidFill>
                  <a:schemeClr val="tx1"/>
                </a:solidFill>
              </a:rPr>
              <a:t>How well does advertising work? Journal of Marketing Research 48(3), 457–471.</a:t>
            </a:r>
          </a:p>
          <a:p>
            <a:pPr algn="l">
              <a:spcAft>
                <a:spcPts val="500"/>
              </a:spcAft>
            </a:pPr>
            <a:r>
              <a:rPr sz="1100" b="0" lang="en-GB">
                <a:solidFill>
                  <a:schemeClr val="accent1"/>
                </a:solidFill>
                <a:hlinkClick r:id="rId4"/>
              </a:rPr>
              <a:t>doi.org/10.1509/jmkr.48.3.457</a:t>
            </a:r>
          </a:p>
          <a:p>
            <a:pPr algn="l">
              <a:spcAft>
                <a:spcPts val="500"/>
              </a:spcAft>
            </a:pPr>
            <a:r>
              <a:rPr sz="1100" b="1" lang="en-GB">
                <a:solidFill>
                  <a:schemeClr val="tx2"/>
                </a:solidFill>
              </a:rPr>
              <a:t>Gordon, B. R., Zettelmeyer, F., Bhargava, N. &amp; Chapsky, D. (2019). </a:t>
            </a:r>
            <a:r>
              <a:rPr sz="1100" b="0" lang="en-GB">
                <a:solidFill>
                  <a:schemeClr val="tx1"/>
                </a:solidFill>
              </a:rPr>
              <a:t>A comparison of approaches to advertising measurement. Marketing Science 38(2), 193–225.</a:t>
            </a:r>
          </a:p>
          <a:p>
            <a:pPr algn="l">
              <a:spcAft>
                <a:spcPts val="500"/>
              </a:spcAft>
            </a:pPr>
            <a:r>
              <a:rPr sz="1100" b="0" lang="en-GB">
                <a:solidFill>
                  <a:schemeClr val="accent1"/>
                </a:solidFill>
                <a:hlinkClick r:id="rId5"/>
              </a:rPr>
              <a:t>doi.org/10.1287/mksc.2018.1135</a:t>
            </a:r>
          </a:p>
          <a:p>
            <a:pPr algn="l">
              <a:spcAft>
                <a:spcPts val="500"/>
              </a:spcAft>
            </a:pPr>
            <a:r>
              <a:rPr sz="1100" b="1" lang="en-GB">
                <a:solidFill>
                  <a:schemeClr val="tx2"/>
                </a:solidFill>
              </a:rPr>
              <a:t>Chan, D. &amp; Perry, M. (2017). </a:t>
            </a:r>
            <a:r>
              <a:rPr sz="1100" b="0" lang="en-GB">
                <a:solidFill>
                  <a:schemeClr val="tx1"/>
                </a:solidFill>
              </a:rPr>
              <a:t>Challenges and opportunities in media mix modeling. Google.</a:t>
            </a:r>
          </a:p>
          <a:p>
            <a:pPr algn="l">
              <a:spcAft>
                <a:spcPts val="500"/>
              </a:spcAft>
            </a:pPr>
            <a:r>
              <a:rPr sz="1100" b="0" lang="en-GB">
                <a:solidFill>
                  <a:schemeClr val="accent1"/>
                </a:solidFill>
                <a:hlinkClick r:id="rId6"/>
              </a:rPr>
              <a:t>research.google/pubs/pub45998/</a:t>
            </a:r>
          </a:p>
        </p:txBody>
      </p:sp>
      <p:sp>
        <p:nvSpPr>
          <p:cNvPr id="15" name="Reading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ading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Modern MMM, attribution, reading</a:t>
            </a:r>
          </a:p>
        </p:txBody>
      </p:sp>
      <p:pic>
        <p:nvPicPr>
          <p:cNvPr id="17" name="Icon reading 2" descr=""/>
          <p:cNvPicPr>
            <a:picLocks noChangeAspect="1"/>
          </p:cNvPicPr>
          <p:nvPr/>
        </p:nvPicPr>
        <p:blipFill>
          <a:blip r:embed="rId7"/>
          <a:stretch>
            <a:fillRect/>
          </a:stretch>
        </p:blipFill>
        <p:spPr>
          <a:xfrm>
            <a:off x="8247888" y="1280160"/>
            <a:ext cx="310896" cy="310896"/>
          </a:xfrm>
          <a:prstGeom prst="rect">
            <a:avLst/>
          </a:prstGeom>
        </p:spPr>
      </p:pic>
      <p:sp>
        <p:nvSpPr>
          <p:cNvPr id="18" name="Reading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ading 2 text"/>
          <p:cNvSpPr txBox="1"/>
          <p:nvPr/>
        </p:nvSpPr>
        <p:spPr>
          <a:xfrm>
            <a:off x="4805172" y="1755648"/>
            <a:ext cx="3744468" cy="3246120"/>
          </a:xfrm>
          <a:prstGeom prst="rect">
            <a:avLst/>
          </a:prstGeom>
          <a:noFill/>
        </p:spPr>
        <p:txBody>
          <a:bodyPr wrap="square" lIns="0" rIns="0" tIns="0" bIns="0" anchor="t">
            <a:noAutofit/>
          </a:bodyPr>
          <a:lstStyle/>
          <a:p>
            <a:pPr algn="l">
              <a:spcAft>
                <a:spcPts val="500"/>
              </a:spcAft>
            </a:pPr>
            <a:r>
              <a:rPr sz="1100" b="1" lang="en-GB">
                <a:solidFill>
                  <a:schemeClr val="tx2"/>
                </a:solidFill>
              </a:rPr>
              <a:t>Jin, Y., Wang, Y., Sun, Y., Chan, D. &amp; Koehler, J. (2017). </a:t>
            </a:r>
            <a:r>
              <a:rPr sz="1100" b="0" lang="en-GB">
                <a:solidFill>
                  <a:schemeClr val="tx1"/>
                </a:solidFill>
              </a:rPr>
              <a:t>Bayesian methods for media mix modeling with carryover and shape effects. Google.</a:t>
            </a:r>
          </a:p>
          <a:p>
            <a:pPr algn="l">
              <a:spcAft>
                <a:spcPts val="500"/>
              </a:spcAft>
            </a:pPr>
            <a:r>
              <a:rPr sz="1100" b="0" lang="en-GB">
                <a:solidFill>
                  <a:schemeClr val="accent1"/>
                </a:solidFill>
                <a:hlinkClick r:id="rId8"/>
              </a:rPr>
              <a:t>research.google/pubs/pub46001/</a:t>
            </a:r>
          </a:p>
          <a:p>
            <a:pPr algn="l">
              <a:spcAft>
                <a:spcPts val="500"/>
              </a:spcAft>
            </a:pPr>
            <a:r>
              <a:rPr sz="1100" b="1" lang="en-GB">
                <a:solidFill>
                  <a:schemeClr val="tx2"/>
                </a:solidFill>
              </a:rPr>
              <a:t>Runge, J., Skokan, I., Zhou, G. &amp; Pauwels, K. (2024). </a:t>
            </a:r>
            <a:r>
              <a:rPr sz="1100" b="0" lang="en-GB">
                <a:solidFill>
                  <a:schemeClr val="tx1"/>
                </a:solidFill>
              </a:rPr>
              <a:t>Packaging up media mix modeling: Robyn's open-source approach. arXiv 2403.14674.</a:t>
            </a:r>
          </a:p>
          <a:p>
            <a:pPr algn="l">
              <a:spcAft>
                <a:spcPts val="500"/>
              </a:spcAft>
            </a:pPr>
            <a:r>
              <a:rPr sz="1100" b="0" lang="en-GB">
                <a:solidFill>
                  <a:schemeClr val="accent1"/>
                </a:solidFill>
                <a:hlinkClick r:id="rId9"/>
              </a:rPr>
              <a:t>arxiv.org/abs/2403.14674</a:t>
            </a:r>
          </a:p>
          <a:p>
            <a:pPr algn="l">
              <a:spcAft>
                <a:spcPts val="500"/>
              </a:spcAft>
            </a:pPr>
            <a:r>
              <a:rPr sz="1100" b="1" lang="en-GB">
                <a:solidFill>
                  <a:schemeClr val="tx2"/>
                </a:solidFill>
              </a:rPr>
              <a:t>Fantini, F. &amp; Narayandas, D. (2023). </a:t>
            </a:r>
            <a:r>
              <a:rPr sz="1100" b="0" lang="en-GB">
                <a:solidFill>
                  <a:schemeClr val="tx1"/>
                </a:solidFill>
              </a:rPr>
              <a:t>Analytics for marketers. Harvard Business Review 101(3). Today's reading, on Canvas.</a:t>
            </a:r>
          </a:p>
          <a:p>
            <a:pPr algn="l">
              <a:spcAft>
                <a:spcPts val="500"/>
              </a:spcAft>
            </a:pPr>
            <a:r>
              <a:rPr sz="1100" b="1" lang="en-GB">
                <a:solidFill>
                  <a:schemeClr val="tx2"/>
                </a:solidFill>
              </a:rPr>
              <a:t>Blake, T., Nosko, C. &amp; Tadelis, S. (2015). </a:t>
            </a:r>
            <a:r>
              <a:rPr sz="1100" b="0" lang="en-GB">
                <a:solidFill>
                  <a:schemeClr val="tx1"/>
                </a:solidFill>
              </a:rPr>
              <a:t>Consumer heterogeneity and paid search effectiveness. Econometrica 83(1), 155–174.</a:t>
            </a:r>
          </a:p>
          <a:p>
            <a:pPr algn="l">
              <a:spcAft>
                <a:spcPts val="500"/>
              </a:spcAft>
            </a:pPr>
            <a:r>
              <a:rPr sz="1100" b="0" lang="en-GB">
                <a:solidFill>
                  <a:schemeClr val="accent1"/>
                </a:solidFill>
                <a:hlinkClick r:id="rId10"/>
              </a:rPr>
              <a:t>doi.org/10.3982/ECTA12423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