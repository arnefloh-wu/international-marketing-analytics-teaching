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ways to get an AI assistant into Positron: GitHub Copilot in Posit Assistant (course default, free for students), Claude Code and Codex in the terminal (optional). Positron 2026.10.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GitHub Copilot is the course default: it works inside Posit Assistant (chat) and as grey suggestions while you type, and it is free for verified students. Claude Code and Codex are coding agents that run in Positron's terminal; they are optional and need a Claude or ChatGPT account. Nobody has to pay for anything in this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course default. Five steps, then a quick test.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Copilot must be active on the GitHub account first (github.com/settings/copilot: Copilot Free, Student or Pro). In Positron, providers are added with Authentication: Configure Language Model Providers; signing in to GitHub through the Accounts menu does not connect Copilot. After connecting, quit Positron completely and start it again: Positron sometimes loads the models only after a restart. On Copilot Free and Student the model picker offers Auto.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Typical message: 'To use Posit Assistant, configure a language model provider', although the provider list says GitHub Copilot (Preview) is connected. 'Preview' is only Posit's label for the integration. The fix is almost always a full restart; if the picker stays empty, the GitHub account has no Copilot plan or a different account is connected. The diagnostic report lists the models each provider delivers: zero models means the GitHub account, models listed but none in the picker means Positron.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Needs a paid Claude plan or a Console account. Install once, sign in, start it in the project folder.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Anthropic's native installer needs no Node.js and updates itself. Windows runs natively (Windows 10 1809 or later); Git for Windows is optional, without it Claude uses PowerShell. Alternatives: winget install Anthropic.ClaudeCode, or brew install --cask claude-code. After installing, open a new terminal.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needed to run claude in Positron's terminal (Terminal &gt; New Terminal). Account: a paid Claude plan (Pro, Max, Team, Enterprise) or a Claude Console account; the free claude.ai plan does not include Claude Code, and no API key is needed. Install once with the native installer of the previous slide (no admin rights, no WSL; Git for Windows optional, without it Claude runs commands in PowerShell), or with winget install Anthropic.ClaudeCode or brew install --cask claude-code, which do not update themselves. Check in a new terminal tab with claude --version and claude doctor; 'command not found' usually means the old terminal or Positron needs a restart. Start claude in the project folder, sign in in the browser, check with /status that the subscription (not an API key) is used, end with /exit. On its own the terminal agent has no diffs in the editor; for those, also install the Claude Code extension and run /ide. Claude Code does not list Positron among the editors it detects, so test /ide once before teaching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Signs in with a ChatGPT account. Install once, sign in, start it in the project folder.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openai/codex README: standalone installers for macOS and Windows, or npm install -g @openai/codex, or brew install --cask codex. codex login status shows whether you are signed in; codex login --device-auth helps when the browser redirect fails.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Codex is OpenAI's coding agent for the terminal; there is no separate ChatGPT terminal app, Codex signs in with the ChatGPT account. Account: ChatGPT Plus, Pro, Business, Edu or Enterprise; Free and Go also include Codex with tighter limits (official statement, seen only in search snippets, so check before promising it); or an OpenAI API key, billed per use. Install once with the installer of the previous slide, or brew install --cask codex, or npm install -g @openai/codex. On Windows the native install has its own sandbox; WSL2 only for projects that need Linux tools. Check in a new terminal tab with codex login status. Sign in: codex, then Sign in with ChatGPT; if the browser redirect fails, codex login --device-auth. Live session: tick ai.mcp.enabled (experimental), run Positron MCP: Add to Coding Agent and choose Codex (this writes into ~/.codex/config.toml), then start codex from a Positron terminal so it gets the connection details. Claude Code and Codex can be installed side by side.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rules for all three: the assistant proposes, you decide. Stay in the normal ask-first mode (Posit Assistant: Normal; Claude Code and Codex: approve each change), never switch to approve-everything modes such as /yolo. Check every number against your own run. Never put personal, customer or confidential data into a prompt or a session an agent can see. Turn off training on your data in the account settings of Claude or ChatGPT.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International Marketing Analytics</a:t>
            </a:r>
          </a:p>
        </p:txBody>
      </p:sp>
      <p:sp>
        <p:nvSpPr>
          <p:cNvPr id="3" name="Subtitle 2"/>
          <p:cNvSpPr>
            <a:spLocks noGrp="1"/>
          </p:cNvSpPr>
          <p:nvPr>
            <p:ph type="subTitle" idx="1"/>
          </p:nvPr>
        </p:nvSpPr>
        <p:spPr/>
        <p:txBody>
          <a:bodyPr/>
          <a:lstStyle/>
          <a:p>
            <a:r>
              <a:rPr lang="en-GB"/>
              <a:t>Connect an AI assistant in Positron</a:t>
            </a:r>
          </a:p>
        </p:txBody>
      </p:sp>
      <p:sp>
        <p:nvSpPr>
          <p:cNvPr id="4" name="Text Placeholder 3"/>
          <p:cNvSpPr>
            <a:spLocks noGrp="1"/>
          </p:cNvSpPr>
          <p:nvPr>
            <p:ph type="body" idx="12" sz="quarter"/>
          </p:nvPr>
        </p:nvSpPr>
        <p:spPr/>
        <p:txBody>
          <a:bodyPr/>
          <a:lstStyle/>
          <a:p>
            <a:r>
              <a:rPr lang="en-GB"/>
              <a:t>Session 1 · 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Overview table"/>
          <p:cNvGraphicFramePr>
            <a:graphicFrameLocks noGrp="1"/>
          </p:cNvGraphicFramePr>
          <p:nvPr>
            <p:ph type="tbl" idx="1"/>
          </p:nvPr>
        </p:nvGraphicFramePr>
        <p:xfrm>
          <a:off x="457200" y="1234440"/>
          <a:ext cx="8229600" cy="1483360"/>
        </p:xfrm>
        <a:graphic>
          <a:graphicData uri="http://schemas.openxmlformats.org/drawingml/2006/table">
            <a:tbl>
              <a:tblPr firstRow="1" bandRow="1">
                <a:tableStyleId>{5C22544A-7EE6-4342-B048-85BDC9FD1C3A}</a:tableStyleId>
              </a:tblPr>
              <a:tblGrid>
                <a:gridCol w="1645920"/>
                <a:gridCol w="2468880"/>
                <a:gridCol w="2651760"/>
                <a:gridCol w="1463040"/>
              </a:tblGrid>
              <a:tr h="370840">
                <a:tc>
                  <a:txBody>
                    <a:bodyPr/>
                    <a:lstStyle/>
                    <a:p>
                      <a:r>
                        <a:rPr sz="1300" lang="en-GB"/>
                        <a:t>Assistant</a:t>
                      </a:r>
                    </a:p>
                  </a:txBody>
                  <a:tcPr marT="45000" marB="45000"/>
                </a:tc>
                <a:tc>
                  <a:txBody>
                    <a:bodyPr/>
                    <a:lstStyle/>
                    <a:p>
                      <a:r>
                        <a:rPr sz="1300" lang="en-GB"/>
                        <a:t>Where in Positron</a:t>
                      </a:r>
                    </a:p>
                  </a:txBody>
                  <a:tcPr marT="45000" marB="45000"/>
                </a:tc>
                <a:tc>
                  <a:txBody>
                    <a:bodyPr/>
                    <a:lstStyle/>
                    <a:p>
                      <a:r>
                        <a:rPr sz="1300" lang="en-GB"/>
                        <a:t>Account</a:t>
                      </a:r>
                    </a:p>
                  </a:txBody>
                  <a:tcPr marT="45000" marB="45000"/>
                </a:tc>
                <a:tc>
                  <a:txBody>
                    <a:bodyPr/>
                    <a:lstStyle/>
                    <a:p>
                      <a:r>
                        <a:rPr sz="1300" lang="en-GB"/>
                        <a:t>Cost</a:t>
                      </a:r>
                    </a:p>
                  </a:txBody>
                  <a:tcPr marT="45000" marB="45000"/>
                </a:tc>
              </a:tr>
              <a:tr h="370840">
                <a:tc>
                  <a:txBody>
                    <a:bodyPr/>
                    <a:lstStyle/>
                    <a:p>
                      <a:r>
                        <a:rPr sz="1200" b="1" lang="en-GB"/>
                        <a:t>GitHub Copilot</a:t>
                      </a:r>
                    </a:p>
                  </a:txBody>
                  <a:tcPr marT="45000" marB="45000"/>
                </a:tc>
                <a:tc>
                  <a:txBody>
                    <a:bodyPr/>
                    <a:lstStyle/>
                    <a:p>
                      <a:r>
                        <a:rPr sz="1200" lang="en-GB"/>
                        <a:t>Posit Assistant chat and suggestions</a:t>
                      </a:r>
                    </a:p>
                  </a:txBody>
                  <a:tcPr marT="45000" marB="45000"/>
                </a:tc>
                <a:tc>
                  <a:txBody>
                    <a:bodyPr/>
                    <a:lstStyle/>
                    <a:p>
                      <a:r>
                        <a:rPr sz="1200" lang="en-GB"/>
                        <a:t>GitHub account with Copilot</a:t>
                      </a:r>
                    </a:p>
                  </a:txBody>
                  <a:tcPr marT="45000" marB="45000"/>
                </a:tc>
                <a:tc>
                  <a:txBody>
                    <a:bodyPr/>
                    <a:lstStyle/>
                    <a:p>
                      <a:r>
                        <a:rPr sz="1200" lang="en-GB"/>
                        <a:t>free for students</a:t>
                      </a:r>
                    </a:p>
                  </a:txBody>
                  <a:tcPr marT="45000" marB="45000"/>
                </a:tc>
              </a:tr>
              <a:tr h="370840">
                <a:tc>
                  <a:txBody>
                    <a:bodyPr/>
                    <a:lstStyle/>
                    <a:p>
                      <a:r>
                        <a:rPr sz="1200" b="1" lang="en-GB"/>
                        <a:t>Claude Code</a:t>
                      </a:r>
                    </a:p>
                  </a:txBody>
                  <a:tcPr marT="45000" marB="45000"/>
                </a:tc>
                <a:tc>
                  <a:txBody>
                    <a:bodyPr/>
                    <a:lstStyle/>
                    <a:p>
                      <a:r>
                        <a:rPr sz="1200" lang="en-GB"/>
                        <a:t>the terminal</a:t>
                      </a:r>
                    </a:p>
                  </a:txBody>
                  <a:tcPr marT="45000" marB="45000"/>
                </a:tc>
                <a:tc>
                  <a:txBody>
                    <a:bodyPr/>
                    <a:lstStyle/>
                    <a:p>
                      <a:r>
                        <a:rPr sz="1200" lang="en-GB"/>
                        <a:t>Claude Pro, Max, Team, Enterprise or Console</a:t>
                      </a:r>
                    </a:p>
                  </a:txBody>
                  <a:tcPr marT="45000" marB="45000"/>
                </a:tc>
                <a:tc>
                  <a:txBody>
                    <a:bodyPr/>
                    <a:lstStyle/>
                    <a:p>
                      <a:r>
                        <a:rPr sz="1200" lang="en-GB"/>
                        <a:t>paid plan</a:t>
                      </a:r>
                    </a:p>
                  </a:txBody>
                  <a:tcPr marT="45000" marB="45000"/>
                </a:tc>
              </a:tr>
              <a:tr h="370840">
                <a:tc>
                  <a:txBody>
                    <a:bodyPr/>
                    <a:lstStyle/>
                    <a:p>
                      <a:r>
                        <a:rPr sz="1200" b="1" lang="en-GB"/>
                        <a:t>Codex</a:t>
                      </a:r>
                    </a:p>
                  </a:txBody>
                  <a:tcPr marT="45000" marB="45000"/>
                </a:tc>
                <a:tc>
                  <a:txBody>
                    <a:bodyPr/>
                    <a:lstStyle/>
                    <a:p>
                      <a:r>
                        <a:rPr sz="1200" lang="en-GB"/>
                        <a:t>the terminal</a:t>
                      </a:r>
                    </a:p>
                  </a:txBody>
                  <a:tcPr marT="45000" marB="45000"/>
                </a:tc>
                <a:tc>
                  <a:txBody>
                    <a:bodyPr/>
                    <a:lstStyle/>
                    <a:p>
                      <a:r>
                        <a:rPr sz="1200" lang="en-GB"/>
                        <a:t>ChatGPT account or OpenAI API key</a:t>
                      </a:r>
                    </a:p>
                  </a:txBody>
                  <a:tcPr marT="45000" marB="45000"/>
                </a:tc>
                <a:tc>
                  <a:txBody>
                    <a:bodyPr/>
                    <a:lstStyle/>
                    <a:p>
                      <a:r>
                        <a:rPr sz="1200" lang="en-GB"/>
                        <a:t>best with Plus or higher</a:t>
                      </a:r>
                    </a:p>
                  </a:txBody>
                  <a:tcPr marT="45000" marB="45000"/>
                </a:tc>
              </a:tr>
            </a:tbl>
          </a:graphicData>
        </a:graphic>
      </p:graphicFrame>
      <p:sp>
        <p:nvSpPr>
          <p:cNvPr id="3" name="Title 2"/>
          <p:cNvSpPr>
            <a:spLocks noGrp="1"/>
          </p:cNvSpPr>
          <p:nvPr>
            <p:ph type="title"/>
          </p:nvPr>
        </p:nvSpPr>
        <p:spPr/>
        <p:txBody>
          <a:bodyPr/>
          <a:lstStyle/>
          <a:p>
            <a:r>
              <a:rPr sz="1600" lang="en-GB"/>
              <a:t>Three assistants, three ways in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Overview default box"/>
          <p:cNvSpPr/>
          <p:nvPr/>
        </p:nvSpPr>
        <p:spPr>
          <a:xfrm>
            <a:off x="457200" y="3931920"/>
            <a:ext cx="822960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Overview default" descr=""/>
          <p:cNvPicPr>
            <a:picLocks noChangeAspect="1"/>
          </p:cNvPicPr>
          <p:nvPr/>
        </p:nvPicPr>
        <p:blipFill>
          <a:blip r:embed="rId3"/>
          <a:stretch>
            <a:fillRect/>
          </a:stretch>
        </p:blipFill>
        <p:spPr>
          <a:xfrm>
            <a:off x="658368" y="4091940"/>
            <a:ext cx="365760" cy="365760"/>
          </a:xfrm>
          <a:prstGeom prst="rect">
            <a:avLst/>
          </a:prstGeom>
        </p:spPr>
      </p:pic>
      <p:sp>
        <p:nvSpPr>
          <p:cNvPr id="12" name="Overview default text"/>
          <p:cNvSpPr txBox="1"/>
          <p:nvPr/>
        </p:nvSpPr>
        <p:spPr>
          <a:xfrm>
            <a:off x="1207008" y="3931920"/>
            <a:ext cx="7315200" cy="685800"/>
          </a:xfrm>
          <a:prstGeom prst="rect">
            <a:avLst/>
          </a:prstGeom>
          <a:noFill/>
        </p:spPr>
        <p:txBody>
          <a:bodyPr wrap="square" lIns="0" rIns="0" tIns="0" bIns="0" anchor="ctr">
            <a:noAutofit/>
          </a:bodyPr>
          <a:lstStyle/>
          <a:p>
            <a:pPr algn="l">
              <a:spcAft>
                <a:spcPts val="400"/>
              </a:spcAft>
            </a:pPr>
            <a:r>
              <a:rPr sz="1200" b="1" lang="en-GB">
                <a:solidFill>
                  <a:schemeClr val="bg1"/>
                </a:solidFill>
              </a:rPr>
              <a:t>Course default: </a:t>
            </a:r>
            <a:r>
              <a:rPr sz="1200" b="0" lang="en-GB">
                <a:solidFill>
                  <a:schemeClr val="bg1"/>
                </a:solidFill>
              </a:rPr>
              <a:t>GitHub Copilot. Claude Code and Codex are optional; nobody has to pay for anything.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3 · connect it to Posit Assistant</a:t>
            </a:r>
          </a:p>
        </p:txBody>
      </p:sp>
      <p:sp>
        <p:nvSpPr>
          <p:cNvPr id="3" name="Title 2"/>
          <p:cNvSpPr>
            <a:spLocks noGrp="1"/>
          </p:cNvSpPr>
          <p:nvPr>
            <p:ph type="ctrTitle"/>
          </p:nvPr>
        </p:nvSpPr>
        <p:spPr/>
        <p:txBody>
          <a:bodyPr/>
          <a:lstStyle/>
          <a:p>
            <a:r>
              <a:rPr sz="1600" lang="en-GB"/>
              <a:t>GitHub Copilot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Connect GitHub Copilot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opilot steps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opilot steps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opilot steps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Copilot on GitHub: </a:t>
            </a:r>
            <a:r>
              <a:rPr sz="1200" b="0" lang="en-GB">
                <a:solidFill>
                  <a:schemeClr val="tx1"/>
                </a:solidFill>
              </a:rPr>
              <a:t>github.com/settings/copilot shows Copilot Free, Student or Pro</a:t>
            </a:r>
          </a:p>
        </p:txBody>
      </p:sp>
      <p:sp>
        <p:nvSpPr>
          <p:cNvPr id="13" name="Copilot steps row 2"/>
          <p:cNvSpPr/>
          <p:nvPr/>
        </p:nvSpPr>
        <p:spPr>
          <a:xfrm>
            <a:off x="457200" y="18105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opilot steps number 2"/>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opilot steps text 2"/>
          <p:cNvSpPr txBox="1"/>
          <p:nvPr/>
        </p:nvSpPr>
        <p:spPr>
          <a:xfrm>
            <a:off x="1051560" y="181051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Command Palette: </a:t>
            </a:r>
            <a:r>
              <a:rPr sz="1200" b="0" lang="en-GB">
                <a:solidFill>
                  <a:schemeClr val="tx1"/>
                </a:solidFill>
              </a:rPr>
              <a:t>Ctrl/Cmd + Shift + P, run Authentication: Configure Language Model Providers</a:t>
            </a:r>
          </a:p>
        </p:txBody>
      </p:sp>
      <p:sp>
        <p:nvSpPr>
          <p:cNvPr id="16" name="Copilot steps row 3"/>
          <p:cNvSpPr/>
          <p:nvPr/>
        </p:nvSpPr>
        <p:spPr>
          <a:xfrm>
            <a:off x="457200" y="23865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opilot steps number 3"/>
          <p:cNvSpPr/>
          <p:nvPr/>
        </p:nvSpPr>
        <p:spPr>
          <a:xfrm>
            <a:off x="594360" y="24871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opilot steps text 3"/>
          <p:cNvSpPr txBox="1"/>
          <p:nvPr/>
        </p:nvSpPr>
        <p:spPr>
          <a:xfrm>
            <a:off x="1051560" y="23865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GitHub Copilot: </a:t>
            </a:r>
            <a:r>
              <a:rPr sz="1200" b="0" lang="en-GB">
                <a:solidFill>
                  <a:schemeClr val="tx1"/>
                </a:solidFill>
              </a:rPr>
              <a:t>choose it and sign in in the browser, with the same GitHub account</a:t>
            </a:r>
          </a:p>
        </p:txBody>
      </p:sp>
      <p:sp>
        <p:nvSpPr>
          <p:cNvPr id="19" name="Copilot steps row 4"/>
          <p:cNvSpPr/>
          <p:nvPr/>
        </p:nvSpPr>
        <p:spPr>
          <a:xfrm>
            <a:off x="457200" y="2962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opilot steps number 4"/>
          <p:cNvSpPr/>
          <p:nvPr/>
        </p:nvSpPr>
        <p:spPr>
          <a:xfrm>
            <a:off x="594360" y="3063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opilot steps text 4"/>
          <p:cNvSpPr txBox="1"/>
          <p:nvPr/>
        </p:nvSpPr>
        <p:spPr>
          <a:xfrm>
            <a:off x="1051560" y="2962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Restart: </a:t>
            </a:r>
            <a:r>
              <a:rPr sz="1200" b="0" lang="en-GB">
                <a:solidFill>
                  <a:schemeClr val="tx1"/>
                </a:solidFill>
              </a:rPr>
              <a:t>quit Positron completely (macOS: Cmd + Q) and start it again</a:t>
            </a:r>
          </a:p>
        </p:txBody>
      </p:sp>
      <p:sp>
        <p:nvSpPr>
          <p:cNvPr id="22" name="Copilot steps row 5"/>
          <p:cNvSpPr/>
          <p:nvPr/>
        </p:nvSpPr>
        <p:spPr>
          <a:xfrm>
            <a:off x="457200" y="353872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opilot steps number 5"/>
          <p:cNvSpPr/>
          <p:nvPr/>
        </p:nvSpPr>
        <p:spPr>
          <a:xfrm>
            <a:off x="594360" y="3639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opilot steps text 5"/>
          <p:cNvSpPr txBox="1"/>
          <p:nvPr/>
        </p:nvSpPr>
        <p:spPr>
          <a:xfrm>
            <a:off x="1051560" y="353872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Test: </a:t>
            </a:r>
            <a:r>
              <a:rPr sz="1200" b="0" lang="en-GB">
                <a:solidFill>
                  <a:schemeClr val="tx1"/>
                </a:solidFill>
              </a:rPr>
              <a:t>View: Show Posit Assistant, pick a model (Auto), type: Say hello</a:t>
            </a:r>
          </a:p>
        </p:txBody>
      </p:sp>
      <p:sp>
        <p:nvSpPr>
          <p:cNvPr id="25" name="Copilot trap box"/>
          <p:cNvSpPr/>
          <p:nvPr/>
        </p:nvSpPr>
        <p:spPr>
          <a:xfrm>
            <a:off x="457200" y="42519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Copilot trap" descr=""/>
          <p:cNvPicPr>
            <a:picLocks noChangeAspect="1"/>
          </p:cNvPicPr>
          <p:nvPr/>
        </p:nvPicPr>
        <p:blipFill>
          <a:blip r:embed="rId3"/>
          <a:stretch>
            <a:fillRect/>
          </a:stretch>
        </p:blipFill>
        <p:spPr>
          <a:xfrm>
            <a:off x="658368" y="4343400"/>
            <a:ext cx="365760" cy="365760"/>
          </a:xfrm>
          <a:prstGeom prst="rect">
            <a:avLst/>
          </a:prstGeom>
        </p:spPr>
      </p:pic>
      <p:sp>
        <p:nvSpPr>
          <p:cNvPr id="27" name="Copilot trap text"/>
          <p:cNvSpPr txBox="1"/>
          <p:nvPr/>
        </p:nvSpPr>
        <p:spPr>
          <a:xfrm>
            <a:off x="1207008" y="425196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Not enough: </a:t>
            </a:r>
            <a:r>
              <a:rPr sz="1200" b="0" lang="en-GB">
                <a:solidFill>
                  <a:schemeClr val="bg1"/>
                </a:solidFill>
              </a:rPr>
              <a:t>signing in through the Accounts menu. Use Configure Language Model Providers.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No model in the picker?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omodel steps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omodel steps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Nomodel steps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“Configure a language model provider” although connected: </a:t>
            </a:r>
            <a:r>
              <a:rPr sz="1200" b="0" lang="en-GB">
                <a:solidFill>
                  <a:schemeClr val="tx1"/>
                </a:solidFill>
              </a:rPr>
              <a:t>quit Positron completely, start again</a:t>
            </a:r>
          </a:p>
        </p:txBody>
      </p:sp>
      <p:sp>
        <p:nvSpPr>
          <p:cNvPr id="13" name="Nomodel steps row 2"/>
          <p:cNvSpPr/>
          <p:nvPr/>
        </p:nvSpPr>
        <p:spPr>
          <a:xfrm>
            <a:off x="457200" y="18105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Nomodel steps number 2"/>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Nomodel steps text 2"/>
          <p:cNvSpPr txBox="1"/>
          <p:nvPr/>
        </p:nvSpPr>
        <p:spPr>
          <a:xfrm>
            <a:off x="1051560" y="181051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Still empty: </a:t>
            </a:r>
            <a:r>
              <a:rPr sz="1200" b="0" lang="en-GB">
                <a:solidFill>
                  <a:schemeClr val="tx1"/>
                </a:solidFill>
              </a:rPr>
              <a:t>github.com/settings/copilot, turn on Copilot Free or Student for this account</a:t>
            </a:r>
          </a:p>
        </p:txBody>
      </p:sp>
      <p:sp>
        <p:nvSpPr>
          <p:cNvPr id="16" name="Nomodel steps row 3"/>
          <p:cNvSpPr/>
          <p:nvPr/>
        </p:nvSpPr>
        <p:spPr>
          <a:xfrm>
            <a:off x="457200" y="23865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omodel steps number 3"/>
          <p:cNvSpPr/>
          <p:nvPr/>
        </p:nvSpPr>
        <p:spPr>
          <a:xfrm>
            <a:off x="594360" y="24871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Nomodel steps text 3"/>
          <p:cNvSpPr txBox="1"/>
          <p:nvPr/>
        </p:nvSpPr>
        <p:spPr>
          <a:xfrm>
            <a:off x="1051560" y="23865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Wrong account: </a:t>
            </a:r>
            <a:r>
              <a:rPr sz="1200" b="0" lang="en-GB">
                <a:solidFill>
                  <a:schemeClr val="tx1"/>
                </a:solidFill>
              </a:rPr>
              <a:t>Configure Language Model Providers, sign out of Copilot, sign in again</a:t>
            </a:r>
          </a:p>
        </p:txBody>
      </p:sp>
      <p:sp>
        <p:nvSpPr>
          <p:cNvPr id="19" name="Nomodel steps row 4"/>
          <p:cNvSpPr/>
          <p:nvPr/>
        </p:nvSpPr>
        <p:spPr>
          <a:xfrm>
            <a:off x="457200" y="2962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Nomodel steps number 4"/>
          <p:cNvSpPr/>
          <p:nvPr/>
        </p:nvSpPr>
        <p:spPr>
          <a:xfrm>
            <a:off x="594360" y="3063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Nomodel steps text 4"/>
          <p:cNvSpPr txBox="1"/>
          <p:nvPr/>
        </p:nvSpPr>
        <p:spPr>
          <a:xfrm>
            <a:off x="1051560" y="2962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Restricted Mode in the status bar: </a:t>
            </a:r>
            <a:r>
              <a:rPr sz="1200" b="0" lang="en-GB">
                <a:solidFill>
                  <a:schemeClr val="tx1"/>
                </a:solidFill>
              </a:rPr>
              <a:t>click it and trust the folder</a:t>
            </a:r>
          </a:p>
        </p:txBody>
      </p:sp>
      <p:sp>
        <p:nvSpPr>
          <p:cNvPr id="22" name="Nomodel steps row 5"/>
          <p:cNvSpPr/>
          <p:nvPr/>
        </p:nvSpPr>
        <p:spPr>
          <a:xfrm>
            <a:off x="457200" y="353872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Nomodel steps number 5"/>
          <p:cNvSpPr/>
          <p:nvPr/>
        </p:nvSpPr>
        <p:spPr>
          <a:xfrm>
            <a:off x="594360" y="3639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Nomodel steps text 5"/>
          <p:cNvSpPr txBox="1"/>
          <p:nvPr/>
        </p:nvSpPr>
        <p:spPr>
          <a:xfrm>
            <a:off x="1051560" y="353872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Diagnose: </a:t>
            </a:r>
            <a:r>
              <a:rPr sz="1200" b="0" lang="en-GB">
                <a:solidFill>
                  <a:schemeClr val="tx1"/>
                </a:solidFill>
              </a:rPr>
              <a:t>AI: Create Diagnostic Report; 0 models means the GitHub account</a:t>
            </a:r>
          </a:p>
        </p:txBody>
      </p:sp>
      <p:sp>
        <p:nvSpPr>
          <p:cNvPr id="25" name="Nomodel ok box"/>
          <p:cNvSpPr/>
          <p:nvPr/>
        </p:nvSpPr>
        <p:spPr>
          <a:xfrm>
            <a:off x="457200" y="4251960"/>
            <a:ext cx="8229600" cy="5486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Nomodel ok" descr=""/>
          <p:cNvPicPr>
            <a:picLocks noChangeAspect="1"/>
          </p:cNvPicPr>
          <p:nvPr/>
        </p:nvPicPr>
        <p:blipFill>
          <a:blip r:embed="rId3"/>
          <a:stretch>
            <a:fillRect/>
          </a:stretch>
        </p:blipFill>
        <p:spPr>
          <a:xfrm>
            <a:off x="658368" y="4343400"/>
            <a:ext cx="365760" cy="365760"/>
          </a:xfrm>
          <a:prstGeom prst="rect">
            <a:avLst/>
          </a:prstGeom>
        </p:spPr>
      </p:pic>
      <p:sp>
        <p:nvSpPr>
          <p:cNvPr id="27" name="Nomodel ok text"/>
          <p:cNvSpPr txBox="1"/>
          <p:nvPr/>
        </p:nvSpPr>
        <p:spPr>
          <a:xfrm>
            <a:off x="1207008" y="4251960"/>
            <a:ext cx="7315200" cy="548640"/>
          </a:xfrm>
          <a:prstGeom prst="rect">
            <a:avLst/>
          </a:prstGeom>
          <a:noFill/>
        </p:spPr>
        <p:txBody>
          <a:bodyPr wrap="square" lIns="0" rIns="0" tIns="0" bIns="0" anchor="ctr">
            <a:noAutofit/>
          </a:bodyPr>
          <a:lstStyle/>
          <a:p>
            <a:pPr algn="l">
              <a:spcAft>
                <a:spcPts val="400"/>
              </a:spcAft>
            </a:pPr>
            <a:r>
              <a:rPr sz="1200" b="1" lang="en-GB">
                <a:solidFill>
                  <a:schemeClr val="tx2"/>
                </a:solidFill>
              </a:rPr>
              <a:t>Works? </a:t>
            </a:r>
            <a:r>
              <a:rPr sz="1200" b="0" lang="en-GB">
                <a:solidFill>
                  <a:schemeClr val="tx1"/>
                </a:solidFill>
              </a:rPr>
              <a:t>run a cell first, then ask about your data: Posit Assistant sees your Python session.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3 · the agent in Positron's terminal</a:t>
            </a:r>
          </a:p>
        </p:txBody>
      </p:sp>
      <p:sp>
        <p:nvSpPr>
          <p:cNvPr id="3" name="Title 2"/>
          <p:cNvSpPr>
            <a:spLocks noGrp="1"/>
          </p:cNvSpPr>
          <p:nvPr>
            <p:ph type="ctrTitle"/>
          </p:nvPr>
        </p:nvSpPr>
        <p:spPr/>
        <p:txBody>
          <a:bodyPr/>
          <a:lstStyle/>
          <a:p>
            <a:r>
              <a:rPr sz="1600" lang="en-GB"/>
              <a:t>Claude Code</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Install Claude Code in the terminal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C win caption bar"/>
          <p:cNvSpPr/>
          <p:nvPr/>
        </p:nvSpPr>
        <p:spPr>
          <a:xfrm>
            <a:off x="457200" y="123444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C win caption"/>
          <p:cNvSpPr txBox="1"/>
          <p:nvPr/>
        </p:nvSpPr>
        <p:spPr>
          <a:xfrm>
            <a:off x="566928" y="123444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Windows: Positron terminal (PowerShell)</a:t>
            </a:r>
          </a:p>
        </p:txBody>
      </p:sp>
      <p:sp>
        <p:nvSpPr>
          <p:cNvPr id="12" name="CC win box"/>
          <p:cNvSpPr/>
          <p:nvPr/>
        </p:nvSpPr>
        <p:spPr>
          <a:xfrm>
            <a:off x="457200" y="15087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C win code"/>
          <p:cNvSpPr txBox="1"/>
          <p:nvPr/>
        </p:nvSpPr>
        <p:spPr>
          <a:xfrm>
            <a:off x="594360" y="1600200"/>
            <a:ext cx="7955280" cy="2286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irm https://claude.ai/install.ps1 | iex</a:t>
            </a:r>
          </a:p>
        </p:txBody>
      </p:sp>
      <p:sp>
        <p:nvSpPr>
          <p:cNvPr id="14" name="CC mac caption bar"/>
          <p:cNvSpPr/>
          <p:nvPr/>
        </p:nvSpPr>
        <p:spPr>
          <a:xfrm>
            <a:off x="457200" y="201168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C mac caption"/>
          <p:cNvSpPr txBox="1"/>
          <p:nvPr/>
        </p:nvSpPr>
        <p:spPr>
          <a:xfrm>
            <a:off x="566928" y="201168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macOS: Positron terminal</a:t>
            </a:r>
          </a:p>
        </p:txBody>
      </p:sp>
      <p:sp>
        <p:nvSpPr>
          <p:cNvPr id="16" name="CC mac box"/>
          <p:cNvSpPr/>
          <p:nvPr/>
        </p:nvSpPr>
        <p:spPr>
          <a:xfrm>
            <a:off x="457200" y="228600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C mac code"/>
          <p:cNvSpPr txBox="1"/>
          <p:nvPr/>
        </p:nvSpPr>
        <p:spPr>
          <a:xfrm>
            <a:off x="594360" y="2377440"/>
            <a:ext cx="7955280" cy="2286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curl -fsSL https://claude.ai/install.sh | bash</a:t>
            </a:r>
          </a:p>
        </p:txBody>
      </p:sp>
      <p:sp>
        <p:nvSpPr>
          <p:cNvPr id="18" name="CC start caption bar"/>
          <p:cNvSpPr/>
          <p:nvPr/>
        </p:nvSpPr>
        <p:spPr>
          <a:xfrm>
            <a:off x="457200" y="278892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C start caption"/>
          <p:cNvSpPr txBox="1"/>
          <p:nvPr/>
        </p:nvSpPr>
        <p:spPr>
          <a:xfrm>
            <a:off x="566928" y="278892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New terminal: check, then start</a:t>
            </a:r>
          </a:p>
        </p:txBody>
      </p:sp>
      <p:sp>
        <p:nvSpPr>
          <p:cNvPr id="20" name="CC start box"/>
          <p:cNvSpPr/>
          <p:nvPr/>
        </p:nvSpPr>
        <p:spPr>
          <a:xfrm>
            <a:off x="457200" y="3063240"/>
            <a:ext cx="402336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C start code"/>
          <p:cNvSpPr txBox="1"/>
          <p:nvPr/>
        </p:nvSpPr>
        <p:spPr>
          <a:xfrm>
            <a:off x="594360" y="3154680"/>
            <a:ext cx="3749040" cy="64008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claude --version</a:t>
            </a:r>
          </a:p>
          <a:p>
            <a:pPr algn="l">
              <a:spcAft>
                <a:spcPts val="0"/>
              </a:spcAft>
            </a:pPr>
            <a:r>
              <a:rPr sz="1200" b="0" lang="en-GB">
                <a:solidFill>
                  <a:schemeClr val="bg1"/>
                </a:solidFill>
                <a:latin typeface="Consolas"/>
              </a:rPr>
              <a:t>claude</a:t>
            </a:r>
          </a:p>
        </p:txBody>
      </p:sp>
      <p:sp>
        <p:nvSpPr>
          <p:cNvPr id="22" name="CC sign body"/>
          <p:cNvSpPr/>
          <p:nvPr/>
        </p:nvSpPr>
        <p:spPr>
          <a:xfrm>
            <a:off x="4663440" y="3154680"/>
            <a:ext cx="40233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C sign header"/>
          <p:cNvSpPr/>
          <p:nvPr/>
        </p:nvSpPr>
        <p:spPr>
          <a:xfrm>
            <a:off x="4663440" y="2788920"/>
            <a:ext cx="4023360"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C sign heading"/>
          <p:cNvSpPr txBox="1"/>
          <p:nvPr/>
        </p:nvSpPr>
        <p:spPr>
          <a:xfrm>
            <a:off x="4800600" y="2788920"/>
            <a:ext cx="3337560" cy="36576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Sign in</a:t>
            </a:r>
          </a:p>
        </p:txBody>
      </p:sp>
      <p:pic>
        <p:nvPicPr>
          <p:cNvPr id="25" name="Icon CC sign" descr=""/>
          <p:cNvPicPr>
            <a:picLocks noChangeAspect="1"/>
          </p:cNvPicPr>
          <p:nvPr/>
        </p:nvPicPr>
        <p:blipFill>
          <a:blip r:embed="rId3"/>
          <a:stretch>
            <a:fillRect/>
          </a:stretch>
        </p:blipFill>
        <p:spPr>
          <a:xfrm>
            <a:off x="8247888" y="2816352"/>
            <a:ext cx="310896" cy="310896"/>
          </a:xfrm>
          <a:prstGeom prst="rect">
            <a:avLst/>
          </a:prstGeom>
        </p:spPr>
      </p:pic>
      <p:sp>
        <p:nvSpPr>
          <p:cNvPr id="26" name="CC sign text"/>
          <p:cNvSpPr txBox="1"/>
          <p:nvPr/>
        </p:nvSpPr>
        <p:spPr>
          <a:xfrm>
            <a:off x="4828032" y="3291840"/>
            <a:ext cx="3721608" cy="4572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Pro, Max or Console account</a:t>
            </a:r>
          </a:p>
          <a:p>
            <a:pPr algn="l" marL="182880" indent="-182880">
              <a:spcAft>
                <a:spcPts val="600"/>
              </a:spcAft>
              <a:buClr>
                <a:schemeClr val="accent1"/>
              </a:buClr>
              <a:buFont typeface="Arial"/>
              <a:buChar char="▪"/>
            </a:pPr>
            <a:r>
              <a:rPr sz="1300" b="0" lang="en-GB">
                <a:solidFill>
                  <a:schemeClr val="tx1"/>
                </a:solidFill>
              </a:rPr>
              <a:t>Code shown? Paste it</a:t>
            </a:r>
          </a:p>
        </p:txBody>
      </p:sp>
      <p:sp>
        <p:nvSpPr>
          <p:cNvPr id="27" name="CC trap box"/>
          <p:cNvSpPr/>
          <p:nvPr/>
        </p:nvSpPr>
        <p:spPr>
          <a:xfrm>
            <a:off x="457200" y="4023360"/>
            <a:ext cx="8229600" cy="7772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CC trap" descr=""/>
          <p:cNvPicPr>
            <a:picLocks noChangeAspect="1"/>
          </p:cNvPicPr>
          <p:nvPr/>
        </p:nvPicPr>
        <p:blipFill>
          <a:blip r:embed="rId4"/>
          <a:stretch>
            <a:fillRect/>
          </a:stretch>
        </p:blipFill>
        <p:spPr>
          <a:xfrm>
            <a:off x="658368" y="4229100"/>
            <a:ext cx="365760" cy="365760"/>
          </a:xfrm>
          <a:prstGeom prst="rect">
            <a:avLst/>
          </a:prstGeom>
        </p:spPr>
      </p:pic>
      <p:sp>
        <p:nvSpPr>
          <p:cNvPr id="29" name="CC trap text"/>
          <p:cNvSpPr txBox="1"/>
          <p:nvPr/>
        </p:nvSpPr>
        <p:spPr>
          <a:xfrm>
            <a:off x="1207008" y="4023360"/>
            <a:ext cx="7315200" cy="777240"/>
          </a:xfrm>
          <a:prstGeom prst="rect">
            <a:avLst/>
          </a:prstGeom>
          <a:noFill/>
        </p:spPr>
        <p:txBody>
          <a:bodyPr wrap="square" lIns="0" rIns="0" tIns="0" bIns="0" anchor="ctr">
            <a:noAutofit/>
          </a:bodyPr>
          <a:lstStyle/>
          <a:p>
            <a:pPr algn="l">
              <a:spcAft>
                <a:spcPts val="400"/>
              </a:spcAft>
            </a:pPr>
            <a:r>
              <a:rPr sz="1200" b="1" lang="en-GB">
                <a:solidFill>
                  <a:schemeClr val="bg1"/>
                </a:solidFill>
              </a:rPr>
              <a:t>Billed to the API by mistake? </a:t>
            </a:r>
            <a:r>
              <a:rPr sz="1200" b="0" lang="en-GB">
                <a:solidFill>
                  <a:schemeClr val="bg1"/>
                </a:solidFill>
              </a:rPr>
              <a:t>if ANTHROPIC_API_KEY is set, Claude Code may use it instead of Pro. Type /status to check.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Claude in the Positron terminal: checklist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C 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C 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C 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Account: </a:t>
            </a:r>
            <a:r>
              <a:rPr sz="1200" b="0" lang="en-GB">
                <a:solidFill>
                  <a:schemeClr val="tx1"/>
                </a:solidFill>
              </a:rPr>
              <a:t>Claude Pro, Max, Team or Enterprise, or a Console account; free claude.ai plan: no Claude Code</a:t>
            </a:r>
          </a:p>
        </p:txBody>
      </p:sp>
      <p:sp>
        <p:nvSpPr>
          <p:cNvPr id="13" name="CC check row 2"/>
          <p:cNvSpPr/>
          <p:nvPr/>
        </p:nvSpPr>
        <p:spPr>
          <a:xfrm>
            <a:off x="457200" y="18105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C check number 2"/>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C check text 2"/>
          <p:cNvSpPr txBox="1"/>
          <p:nvPr/>
        </p:nvSpPr>
        <p:spPr>
          <a:xfrm>
            <a:off x="1051560" y="181051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Install once: </a:t>
            </a:r>
            <a:r>
              <a:rPr sz="1200" b="0" lang="en-GB">
                <a:solidFill>
                  <a:schemeClr val="tx1"/>
                </a:solidFill>
              </a:rPr>
              <a:t>the installer of the last slide; no admin rights, no WSL; Git for Windows is optional</a:t>
            </a:r>
          </a:p>
        </p:txBody>
      </p:sp>
      <p:sp>
        <p:nvSpPr>
          <p:cNvPr id="16" name="CC check row 3"/>
          <p:cNvSpPr/>
          <p:nvPr/>
        </p:nvSpPr>
        <p:spPr>
          <a:xfrm>
            <a:off x="457200" y="23865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C check number 3"/>
          <p:cNvSpPr/>
          <p:nvPr/>
        </p:nvSpPr>
        <p:spPr>
          <a:xfrm>
            <a:off x="594360" y="24871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C check text 3"/>
          <p:cNvSpPr txBox="1"/>
          <p:nvPr/>
        </p:nvSpPr>
        <p:spPr>
          <a:xfrm>
            <a:off x="1051560" y="23865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Check: </a:t>
            </a:r>
            <a:r>
              <a:rPr sz="1200" b="0" lang="en-GB">
                <a:solidFill>
                  <a:schemeClr val="tx1"/>
                </a:solidFill>
              </a:rPr>
              <a:t>new terminal tab, claude --version and claude doctor; command not found? restart Positron</a:t>
            </a:r>
          </a:p>
        </p:txBody>
      </p:sp>
      <p:sp>
        <p:nvSpPr>
          <p:cNvPr id="19" name="CC check row 4"/>
          <p:cNvSpPr/>
          <p:nvPr/>
        </p:nvSpPr>
        <p:spPr>
          <a:xfrm>
            <a:off x="457200" y="2962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C check number 4"/>
          <p:cNvSpPr/>
          <p:nvPr/>
        </p:nvSpPr>
        <p:spPr>
          <a:xfrm>
            <a:off x="594360" y="3063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C check text 4"/>
          <p:cNvSpPr txBox="1"/>
          <p:nvPr/>
        </p:nvSpPr>
        <p:spPr>
          <a:xfrm>
            <a:off x="1051560" y="2962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Start and sign in: </a:t>
            </a:r>
            <a:r>
              <a:rPr sz="1200" b="0" lang="en-GB">
                <a:solidFill>
                  <a:schemeClr val="tx1"/>
                </a:solidFill>
              </a:rPr>
              <a:t>claude in the project folder, sign in in the browser; /status shows the account; /exit ends</a:t>
            </a:r>
          </a:p>
        </p:txBody>
      </p:sp>
      <p:sp>
        <p:nvSpPr>
          <p:cNvPr id="22" name="CC check row 5"/>
          <p:cNvSpPr/>
          <p:nvPr/>
        </p:nvSpPr>
        <p:spPr>
          <a:xfrm>
            <a:off x="457200" y="353872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C check number 5"/>
          <p:cNvSpPr/>
          <p:nvPr/>
        </p:nvSpPr>
        <p:spPr>
          <a:xfrm>
            <a:off x="594360" y="3639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C check text 5"/>
          <p:cNvSpPr txBox="1"/>
          <p:nvPr/>
        </p:nvSpPr>
        <p:spPr>
          <a:xfrm>
            <a:off x="1051560" y="353872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Optional, diffs in the editor: </a:t>
            </a:r>
            <a:r>
              <a:rPr sz="1200" b="0" lang="en-GB">
                <a:solidFill>
                  <a:schemeClr val="tx1"/>
                </a:solidFill>
              </a:rPr>
              <a:t>also install the Claude Code extension, then type /ide (test it once)</a:t>
            </a:r>
          </a:p>
        </p:txBody>
      </p:sp>
      <p:sp>
        <p:nvSpPr>
          <p:cNvPr id="25" name="CC optional box"/>
          <p:cNvSpPr/>
          <p:nvPr/>
        </p:nvSpPr>
        <p:spPr>
          <a:xfrm>
            <a:off x="457200" y="42519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CC optional" descr=""/>
          <p:cNvPicPr>
            <a:picLocks noChangeAspect="1"/>
          </p:cNvPicPr>
          <p:nvPr/>
        </p:nvPicPr>
        <p:blipFill>
          <a:blip r:embed="rId3"/>
          <a:stretch>
            <a:fillRect/>
          </a:stretch>
        </p:blipFill>
        <p:spPr>
          <a:xfrm>
            <a:off x="658368" y="4343400"/>
            <a:ext cx="365760" cy="365760"/>
          </a:xfrm>
          <a:prstGeom prst="rect">
            <a:avLst/>
          </a:prstGeom>
        </p:spPr>
      </p:pic>
      <p:sp>
        <p:nvSpPr>
          <p:cNvPr id="27" name="CC optional text"/>
          <p:cNvSpPr txBox="1"/>
          <p:nvPr/>
        </p:nvSpPr>
        <p:spPr>
          <a:xfrm>
            <a:off x="1207008" y="425196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Optional: </a:t>
            </a:r>
            <a:r>
              <a:rPr sz="1200" b="0" lang="en-GB">
                <a:solidFill>
                  <a:schemeClr val="bg1"/>
                </a:solidFill>
              </a:rPr>
              <a:t>needs a paid Claude plan. Course default: Posit Assistant with GitHub Copilot, free for students.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3 · OpenAI's agent in Positron's terminal</a:t>
            </a:r>
          </a:p>
        </p:txBody>
      </p:sp>
      <p:sp>
        <p:nvSpPr>
          <p:cNvPr id="3" name="Title 2"/>
          <p:cNvSpPr>
            <a:spLocks noGrp="1"/>
          </p:cNvSpPr>
          <p:nvPr>
            <p:ph type="ctrTitle"/>
          </p:nvPr>
        </p:nvSpPr>
        <p:spPr/>
        <p:txBody>
          <a:bodyPr/>
          <a:lstStyle/>
          <a:p>
            <a:r>
              <a:rPr sz="1600" lang="en-GB"/>
              <a:t>Codex</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Install Codex in the terminal</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x win caption bar"/>
          <p:cNvSpPr/>
          <p:nvPr/>
        </p:nvSpPr>
        <p:spPr>
          <a:xfrm>
            <a:off x="457200" y="123444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x win caption"/>
          <p:cNvSpPr txBox="1"/>
          <p:nvPr/>
        </p:nvSpPr>
        <p:spPr>
          <a:xfrm>
            <a:off x="566928" y="123444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Windows: Positron terminal (PowerShell)</a:t>
            </a:r>
          </a:p>
        </p:txBody>
      </p:sp>
      <p:sp>
        <p:nvSpPr>
          <p:cNvPr id="12" name="Cx win box"/>
          <p:cNvSpPr/>
          <p:nvPr/>
        </p:nvSpPr>
        <p:spPr>
          <a:xfrm>
            <a:off x="457200" y="15087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x win code"/>
          <p:cNvSpPr txBox="1"/>
          <p:nvPr/>
        </p:nvSpPr>
        <p:spPr>
          <a:xfrm>
            <a:off x="594360" y="1600200"/>
            <a:ext cx="7955280" cy="22860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powershell -ExecutionPolicy ByPass -c "irm https://chatgpt.com/codex/install.ps1 | iex"</a:t>
            </a:r>
          </a:p>
        </p:txBody>
      </p:sp>
      <p:sp>
        <p:nvSpPr>
          <p:cNvPr id="14" name="Cx mac caption bar"/>
          <p:cNvSpPr/>
          <p:nvPr/>
        </p:nvSpPr>
        <p:spPr>
          <a:xfrm>
            <a:off x="457200" y="2011680"/>
            <a:ext cx="822960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x mac caption"/>
          <p:cNvSpPr txBox="1"/>
          <p:nvPr/>
        </p:nvSpPr>
        <p:spPr>
          <a:xfrm>
            <a:off x="566928" y="2011680"/>
            <a:ext cx="801014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macOS: Positron terminal</a:t>
            </a:r>
          </a:p>
        </p:txBody>
      </p:sp>
      <p:sp>
        <p:nvSpPr>
          <p:cNvPr id="16" name="Cx mac box"/>
          <p:cNvSpPr/>
          <p:nvPr/>
        </p:nvSpPr>
        <p:spPr>
          <a:xfrm>
            <a:off x="457200" y="228600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x mac code"/>
          <p:cNvSpPr txBox="1"/>
          <p:nvPr/>
        </p:nvSpPr>
        <p:spPr>
          <a:xfrm>
            <a:off x="594360" y="2377440"/>
            <a:ext cx="7955280" cy="22860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curl -fsSL https://chatgpt.com/codex/install.sh | sh</a:t>
            </a:r>
          </a:p>
        </p:txBody>
      </p:sp>
      <p:sp>
        <p:nvSpPr>
          <p:cNvPr id="18" name="Cx start caption bar"/>
          <p:cNvSpPr/>
          <p:nvPr/>
        </p:nvSpPr>
        <p:spPr>
          <a:xfrm>
            <a:off x="457200" y="2788920"/>
            <a:ext cx="40233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x start caption"/>
          <p:cNvSpPr txBox="1"/>
          <p:nvPr/>
        </p:nvSpPr>
        <p:spPr>
          <a:xfrm>
            <a:off x="566928" y="2788920"/>
            <a:ext cx="38039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New terminal: start, check</a:t>
            </a:r>
          </a:p>
        </p:txBody>
      </p:sp>
      <p:sp>
        <p:nvSpPr>
          <p:cNvPr id="20" name="Cx start box"/>
          <p:cNvSpPr/>
          <p:nvPr/>
        </p:nvSpPr>
        <p:spPr>
          <a:xfrm>
            <a:off x="457200" y="3063240"/>
            <a:ext cx="4023360" cy="8229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x start code"/>
          <p:cNvSpPr txBox="1"/>
          <p:nvPr/>
        </p:nvSpPr>
        <p:spPr>
          <a:xfrm>
            <a:off x="594360" y="3154680"/>
            <a:ext cx="3749040" cy="640080"/>
          </a:xfrm>
          <a:prstGeom prst="rect">
            <a:avLst/>
          </a:prstGeom>
          <a:noFill/>
        </p:spPr>
        <p:txBody>
          <a:bodyPr wrap="square" lIns="0" rIns="0" tIns="0" bIns="0" anchor="t">
            <a:noAutofit/>
          </a:bodyPr>
          <a:lstStyle/>
          <a:p>
            <a:pPr algn="l">
              <a:spcAft>
                <a:spcPts val="0"/>
              </a:spcAft>
            </a:pPr>
            <a:r>
              <a:rPr sz="1200" b="0" lang="en-GB">
                <a:solidFill>
                  <a:schemeClr val="bg1"/>
                </a:solidFill>
                <a:latin typeface="Consolas"/>
              </a:rPr>
              <a:t>codex</a:t>
            </a:r>
          </a:p>
          <a:p>
            <a:pPr algn="l">
              <a:spcAft>
                <a:spcPts val="0"/>
              </a:spcAft>
            </a:pPr>
            <a:r>
              <a:rPr sz="1200" b="0" lang="en-GB">
                <a:solidFill>
                  <a:schemeClr val="bg1"/>
                </a:solidFill>
                <a:latin typeface="Consolas"/>
              </a:rPr>
              <a:t>codex login status</a:t>
            </a:r>
          </a:p>
        </p:txBody>
      </p:sp>
      <p:sp>
        <p:nvSpPr>
          <p:cNvPr id="22" name="Cx sign body"/>
          <p:cNvSpPr/>
          <p:nvPr/>
        </p:nvSpPr>
        <p:spPr>
          <a:xfrm>
            <a:off x="4663440" y="3154680"/>
            <a:ext cx="4023360" cy="7315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x sign header"/>
          <p:cNvSpPr/>
          <p:nvPr/>
        </p:nvSpPr>
        <p:spPr>
          <a:xfrm>
            <a:off x="4663440" y="2788920"/>
            <a:ext cx="4023360"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x sign heading"/>
          <p:cNvSpPr txBox="1"/>
          <p:nvPr/>
        </p:nvSpPr>
        <p:spPr>
          <a:xfrm>
            <a:off x="4800600" y="2788920"/>
            <a:ext cx="3337560" cy="36576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Sign in</a:t>
            </a:r>
          </a:p>
        </p:txBody>
      </p:sp>
      <p:pic>
        <p:nvPicPr>
          <p:cNvPr id="25" name="Icon Cx sign" descr=""/>
          <p:cNvPicPr>
            <a:picLocks noChangeAspect="1"/>
          </p:cNvPicPr>
          <p:nvPr/>
        </p:nvPicPr>
        <p:blipFill>
          <a:blip r:embed="rId3"/>
          <a:stretch>
            <a:fillRect/>
          </a:stretch>
        </p:blipFill>
        <p:spPr>
          <a:xfrm>
            <a:off x="8247888" y="2816352"/>
            <a:ext cx="310896" cy="310896"/>
          </a:xfrm>
          <a:prstGeom prst="rect">
            <a:avLst/>
          </a:prstGeom>
        </p:spPr>
      </p:pic>
      <p:sp>
        <p:nvSpPr>
          <p:cNvPr id="26" name="Cx sign text"/>
          <p:cNvSpPr txBox="1"/>
          <p:nvPr/>
        </p:nvSpPr>
        <p:spPr>
          <a:xfrm>
            <a:off x="4828032" y="3291840"/>
            <a:ext cx="3721608" cy="45720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Choose Sign in with ChatGPT</a:t>
            </a:r>
          </a:p>
          <a:p>
            <a:pPr algn="l" marL="182880" indent="-182880">
              <a:spcAft>
                <a:spcPts val="600"/>
              </a:spcAft>
              <a:buClr>
                <a:schemeClr val="accent1"/>
              </a:buClr>
              <a:buFont typeface="Arial"/>
              <a:buChar char="▪"/>
            </a:pPr>
            <a:r>
              <a:rPr sz="1300" b="0" lang="en-GB">
                <a:solidFill>
                  <a:schemeClr val="tx1"/>
                </a:solidFill>
              </a:rPr>
              <a:t>Browser fails? codex login --device-auth</a:t>
            </a:r>
          </a:p>
        </p:txBody>
      </p:sp>
      <p:sp>
        <p:nvSpPr>
          <p:cNvPr id="27" name="Cx ok box"/>
          <p:cNvSpPr/>
          <p:nvPr/>
        </p:nvSpPr>
        <p:spPr>
          <a:xfrm>
            <a:off x="457200" y="4023360"/>
            <a:ext cx="822960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8" name="Icon Cx ok" descr=""/>
          <p:cNvPicPr>
            <a:picLocks noChangeAspect="1"/>
          </p:cNvPicPr>
          <p:nvPr/>
        </p:nvPicPr>
        <p:blipFill>
          <a:blip r:embed="rId4"/>
          <a:stretch>
            <a:fillRect/>
          </a:stretch>
        </p:blipFill>
        <p:spPr>
          <a:xfrm>
            <a:off x="658368" y="4183380"/>
            <a:ext cx="365760" cy="365760"/>
          </a:xfrm>
          <a:prstGeom prst="rect">
            <a:avLst/>
          </a:prstGeom>
        </p:spPr>
      </p:pic>
      <p:sp>
        <p:nvSpPr>
          <p:cNvPr id="29" name="Cx ok text"/>
          <p:cNvSpPr txBox="1"/>
          <p:nvPr/>
        </p:nvSpPr>
        <p:spPr>
          <a:xfrm>
            <a:off x="1207008" y="4023360"/>
            <a:ext cx="7315200" cy="685800"/>
          </a:xfrm>
          <a:prstGeom prst="rect">
            <a:avLst/>
          </a:prstGeom>
          <a:noFill/>
        </p:spPr>
        <p:txBody>
          <a:bodyPr wrap="square" lIns="0" rIns="0" tIns="0" bIns="0" anchor="ctr">
            <a:noAutofit/>
          </a:bodyPr>
          <a:lstStyle/>
          <a:p>
            <a:pPr algn="l">
              <a:spcAft>
                <a:spcPts val="400"/>
              </a:spcAft>
            </a:pPr>
            <a:r>
              <a:rPr sz="1200" b="1" lang="en-GB">
                <a:solidFill>
                  <a:schemeClr val="tx2"/>
                </a:solidFill>
              </a:rPr>
              <a:t>Works without the extension: </a:t>
            </a:r>
            <a:r>
              <a:rPr sz="1200" b="0" lang="en-GB">
                <a:solidFill>
                  <a:schemeClr val="tx1"/>
                </a:solidFill>
              </a:rPr>
              <a:t>the terminal route is the most reliable way in Positron.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Codex in the Positron terminal: checklist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Cx check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Cx check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Cx check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Account: </a:t>
            </a:r>
            <a:r>
              <a:rPr sz="1200" b="0" lang="en-GB">
                <a:solidFill>
                  <a:schemeClr val="tx1"/>
                </a:solidFill>
              </a:rPr>
              <a:t>ChatGPT Plus, Pro, Business, Edu or Enterprise; Free and Go with tighter limits; or an API key</a:t>
            </a:r>
          </a:p>
        </p:txBody>
      </p:sp>
      <p:sp>
        <p:nvSpPr>
          <p:cNvPr id="13" name="Cx check row 2"/>
          <p:cNvSpPr/>
          <p:nvPr/>
        </p:nvSpPr>
        <p:spPr>
          <a:xfrm>
            <a:off x="457200" y="18105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x check number 2"/>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Cx check text 2"/>
          <p:cNvSpPr txBox="1"/>
          <p:nvPr/>
        </p:nvSpPr>
        <p:spPr>
          <a:xfrm>
            <a:off x="1051560" y="181051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Install once: </a:t>
            </a:r>
            <a:r>
              <a:rPr sz="1200" b="0" lang="en-GB">
                <a:solidFill>
                  <a:schemeClr val="tx1"/>
                </a:solidFill>
              </a:rPr>
              <a:t>the installer of the last slide, or brew install --cask codex; Windows: no WSL needed</a:t>
            </a:r>
          </a:p>
        </p:txBody>
      </p:sp>
      <p:sp>
        <p:nvSpPr>
          <p:cNvPr id="16" name="Cx check row 3"/>
          <p:cNvSpPr/>
          <p:nvPr/>
        </p:nvSpPr>
        <p:spPr>
          <a:xfrm>
            <a:off x="457200" y="23865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Cx check number 3"/>
          <p:cNvSpPr/>
          <p:nvPr/>
        </p:nvSpPr>
        <p:spPr>
          <a:xfrm>
            <a:off x="594360" y="24871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Cx check text 3"/>
          <p:cNvSpPr txBox="1"/>
          <p:nvPr/>
        </p:nvSpPr>
        <p:spPr>
          <a:xfrm>
            <a:off x="1051560" y="23865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Check: </a:t>
            </a:r>
            <a:r>
              <a:rPr sz="1200" b="0" lang="en-GB">
                <a:solidFill>
                  <a:schemeClr val="tx1"/>
                </a:solidFill>
              </a:rPr>
              <a:t>new terminal tab, codex login status; command not found? restart Positron</a:t>
            </a:r>
          </a:p>
        </p:txBody>
      </p:sp>
      <p:sp>
        <p:nvSpPr>
          <p:cNvPr id="19" name="Cx check row 4"/>
          <p:cNvSpPr/>
          <p:nvPr/>
        </p:nvSpPr>
        <p:spPr>
          <a:xfrm>
            <a:off x="457200" y="2962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x check number 4"/>
          <p:cNvSpPr/>
          <p:nvPr/>
        </p:nvSpPr>
        <p:spPr>
          <a:xfrm>
            <a:off x="594360" y="3063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Cx check text 4"/>
          <p:cNvSpPr txBox="1"/>
          <p:nvPr/>
        </p:nvSpPr>
        <p:spPr>
          <a:xfrm>
            <a:off x="1051560" y="2962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Start and sign in: </a:t>
            </a:r>
            <a:r>
              <a:rPr sz="1200" b="0" lang="en-GB">
                <a:solidFill>
                  <a:schemeClr val="tx1"/>
                </a:solidFill>
              </a:rPr>
              <a:t>codex in the project folder, Sign in with ChatGPT; browser fails? codex login --device-auth</a:t>
            </a:r>
          </a:p>
        </p:txBody>
      </p:sp>
      <p:sp>
        <p:nvSpPr>
          <p:cNvPr id="22" name="Cx check row 5"/>
          <p:cNvSpPr/>
          <p:nvPr/>
        </p:nvSpPr>
        <p:spPr>
          <a:xfrm>
            <a:off x="457200" y="353872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Cx check number 5"/>
          <p:cNvSpPr/>
          <p:nvPr/>
        </p:nvSpPr>
        <p:spPr>
          <a:xfrm>
            <a:off x="594360" y="3639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Cx check text 5"/>
          <p:cNvSpPr txBox="1"/>
          <p:nvPr/>
        </p:nvSpPr>
        <p:spPr>
          <a:xfrm>
            <a:off x="1051560" y="353872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Optional, live session: </a:t>
            </a:r>
            <a:r>
              <a:rPr sz="1200" b="0" lang="en-GB">
                <a:solidFill>
                  <a:schemeClr val="tx1"/>
                </a:solidFill>
              </a:rPr>
              <a:t>tick ai.mcp.enabled, Positron MCP: Add to Coding Agent → Codex, start codex here</a:t>
            </a:r>
          </a:p>
        </p:txBody>
      </p:sp>
      <p:sp>
        <p:nvSpPr>
          <p:cNvPr id="25" name="Cx optional box"/>
          <p:cNvSpPr/>
          <p:nvPr/>
        </p:nvSpPr>
        <p:spPr>
          <a:xfrm>
            <a:off x="457200" y="42519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Cx optional" descr=""/>
          <p:cNvPicPr>
            <a:picLocks noChangeAspect="1"/>
          </p:cNvPicPr>
          <p:nvPr/>
        </p:nvPicPr>
        <p:blipFill>
          <a:blip r:embed="rId3"/>
          <a:stretch>
            <a:fillRect/>
          </a:stretch>
        </p:blipFill>
        <p:spPr>
          <a:xfrm>
            <a:off x="658368" y="4343400"/>
            <a:ext cx="365760" cy="365760"/>
          </a:xfrm>
          <a:prstGeom prst="rect">
            <a:avLst/>
          </a:prstGeom>
        </p:spPr>
      </p:pic>
      <p:sp>
        <p:nvSpPr>
          <p:cNvPr id="27" name="Cx optional text"/>
          <p:cNvSpPr txBox="1"/>
          <p:nvPr/>
        </p:nvSpPr>
        <p:spPr>
          <a:xfrm>
            <a:off x="1207008" y="425196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Optional: </a:t>
            </a:r>
            <a:r>
              <a:rPr sz="1200" b="0" lang="en-GB">
                <a:solidFill>
                  <a:schemeClr val="bg1"/>
                </a:solidFill>
              </a:rPr>
              <a:t>best with ChatGPT Plus or higher. Course default: Posit Assistant with GitHub Copilot, free for students.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Use them safely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afe steps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afe steps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Safe steps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Ask first: </a:t>
            </a:r>
            <a:r>
              <a:rPr sz="1200" b="0" lang="en-GB">
                <a:solidFill>
                  <a:schemeClr val="tx1"/>
                </a:solidFill>
              </a:rPr>
              <a:t>read every proposed change and command before you approve it; never /yolo</a:t>
            </a:r>
          </a:p>
        </p:txBody>
      </p:sp>
      <p:sp>
        <p:nvSpPr>
          <p:cNvPr id="13" name="Safe steps row 2"/>
          <p:cNvSpPr/>
          <p:nvPr/>
        </p:nvSpPr>
        <p:spPr>
          <a:xfrm>
            <a:off x="457200" y="181051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Safe steps number 2"/>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Safe steps text 2"/>
          <p:cNvSpPr txBox="1"/>
          <p:nvPr/>
        </p:nvSpPr>
        <p:spPr>
          <a:xfrm>
            <a:off x="1051560" y="1810512"/>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Check: </a:t>
            </a:r>
            <a:r>
              <a:rPr sz="1200" b="0" lang="en-GB">
                <a:solidFill>
                  <a:schemeClr val="tx1"/>
                </a:solidFill>
              </a:rPr>
              <a:t>run the code yourself and compare every number; you own every number</a:t>
            </a:r>
          </a:p>
        </p:txBody>
      </p:sp>
      <p:sp>
        <p:nvSpPr>
          <p:cNvPr id="16" name="Safe steps row 3"/>
          <p:cNvSpPr/>
          <p:nvPr/>
        </p:nvSpPr>
        <p:spPr>
          <a:xfrm>
            <a:off x="457200" y="238658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afe steps number 3"/>
          <p:cNvSpPr/>
          <p:nvPr/>
        </p:nvSpPr>
        <p:spPr>
          <a:xfrm>
            <a:off x="594360" y="248716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Safe steps text 3"/>
          <p:cNvSpPr txBox="1"/>
          <p:nvPr/>
        </p:nvSpPr>
        <p:spPr>
          <a:xfrm>
            <a:off x="1051560" y="2386584"/>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No personal data: </a:t>
            </a:r>
            <a:r>
              <a:rPr sz="1200" b="0" lang="en-GB">
                <a:solidFill>
                  <a:schemeClr val="tx1"/>
                </a:solidFill>
              </a:rPr>
              <a:t>no names, e-mails or IDs in prompts or in a session an agent can see</a:t>
            </a:r>
          </a:p>
        </p:txBody>
      </p:sp>
      <p:sp>
        <p:nvSpPr>
          <p:cNvPr id="19" name="Safe steps row 4"/>
          <p:cNvSpPr/>
          <p:nvPr/>
        </p:nvSpPr>
        <p:spPr>
          <a:xfrm>
            <a:off x="457200" y="2962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afe steps number 4"/>
          <p:cNvSpPr/>
          <p:nvPr/>
        </p:nvSpPr>
        <p:spPr>
          <a:xfrm>
            <a:off x="594360" y="3063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Safe steps text 4"/>
          <p:cNvSpPr txBox="1"/>
          <p:nvPr/>
        </p:nvSpPr>
        <p:spPr>
          <a:xfrm>
            <a:off x="1051560" y="2962656"/>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Training off: </a:t>
            </a:r>
            <a:r>
              <a:rPr sz="1200" b="0" lang="en-GB">
                <a:solidFill>
                  <a:schemeClr val="tx1"/>
                </a:solidFill>
              </a:rPr>
              <a:t>in the Claude or ChatGPT privacy settings, and on github.com/settings/copilot</a:t>
            </a:r>
          </a:p>
        </p:txBody>
      </p:sp>
      <p:sp>
        <p:nvSpPr>
          <p:cNvPr id="22" name="Safe steps row 5"/>
          <p:cNvSpPr/>
          <p:nvPr/>
        </p:nvSpPr>
        <p:spPr>
          <a:xfrm>
            <a:off x="457200" y="353872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afe steps number 5"/>
          <p:cNvSpPr/>
          <p:nvPr/>
        </p:nvSpPr>
        <p:spPr>
          <a:xfrm>
            <a:off x="594360" y="363931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Safe steps text 5"/>
          <p:cNvSpPr txBox="1"/>
          <p:nvPr/>
        </p:nvSpPr>
        <p:spPr>
          <a:xfrm>
            <a:off x="1051560" y="3538728"/>
            <a:ext cx="7498080" cy="512064"/>
          </a:xfrm>
          <a:prstGeom prst="rect">
            <a:avLst/>
          </a:prstGeom>
          <a:noFill/>
        </p:spPr>
        <p:txBody>
          <a:bodyPr wrap="square" lIns="0" rIns="0" tIns="0" bIns="0" anchor="ctr">
            <a:noAutofit/>
          </a:bodyPr>
          <a:lstStyle/>
          <a:p>
            <a:pPr algn="l">
              <a:spcAft>
                <a:spcPts val="400"/>
              </a:spcAft>
            </a:pPr>
            <a:r>
              <a:rPr sz="1200" b="1" lang="en-GB">
                <a:solidFill>
                  <a:schemeClr val="tx2"/>
                </a:solidFill>
              </a:rPr>
              <a:t>Course rule: </a:t>
            </a:r>
            <a:r>
              <a:rPr sz="1200" b="0" lang="en-GB">
                <a:solidFill>
                  <a:schemeClr val="tx1"/>
                </a:solidFill>
              </a:rPr>
              <a:t>AI is allowed; keep a prompt log in your exercises</a:t>
            </a:r>
          </a:p>
        </p:txBody>
      </p:sp>
      <p:sp>
        <p:nvSpPr>
          <p:cNvPr id="25" name="Safe short box"/>
          <p:cNvSpPr/>
          <p:nvPr/>
        </p:nvSpPr>
        <p:spPr>
          <a:xfrm>
            <a:off x="457200" y="425196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6" name="Icon Safe short" descr=""/>
          <p:cNvPicPr>
            <a:picLocks noChangeAspect="1"/>
          </p:cNvPicPr>
          <p:nvPr/>
        </p:nvPicPr>
        <p:blipFill>
          <a:blip r:embed="rId3"/>
          <a:stretch>
            <a:fillRect/>
          </a:stretch>
        </p:blipFill>
        <p:spPr>
          <a:xfrm>
            <a:off x="658368" y="4343400"/>
            <a:ext cx="365760" cy="365760"/>
          </a:xfrm>
          <a:prstGeom prst="rect">
            <a:avLst/>
          </a:prstGeom>
        </p:spPr>
      </p:pic>
      <p:sp>
        <p:nvSpPr>
          <p:cNvPr id="27" name="Safe short text"/>
          <p:cNvSpPr txBox="1"/>
          <p:nvPr/>
        </p:nvSpPr>
        <p:spPr>
          <a:xfrm>
            <a:off x="1207008" y="4251960"/>
            <a:ext cx="7315200" cy="548640"/>
          </a:xfrm>
          <a:prstGeom prst="rect">
            <a:avLst/>
          </a:prstGeom>
          <a:noFill/>
        </p:spPr>
        <p:txBody>
          <a:bodyPr wrap="square" lIns="0" rIns="0" tIns="0" bIns="0" anchor="ctr">
            <a:noAutofit/>
          </a:bodyPr>
          <a:lstStyle/>
          <a:p>
            <a:pPr algn="l">
              <a:spcAft>
                <a:spcPts val="400"/>
              </a:spcAft>
            </a:pPr>
            <a:r>
              <a:rPr sz="1200" b="1" lang="en-GB">
                <a:solidFill>
                  <a:schemeClr val="bg1"/>
                </a:solidFill>
              </a:rPr>
              <a:t>In short: </a:t>
            </a:r>
            <a:r>
              <a:rPr sz="1200" b="0" lang="en-GB">
                <a:solidFill>
                  <a:schemeClr val="bg1"/>
                </a:solidFill>
              </a:rPr>
              <a:t>the assistant proposes, you decide and check.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