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step-by-step guide in two halves: GitHub with GitHub Desktop (Parts 1 to 6), then GitHub Copilot inside Positron (Parts 7 to 12). Everything with clicks, no command line. Sources: GitHub Docs and positron.posit.co, checked 14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GitHub first, because Copilot needs the GitHub account and the GitHub Education approval, which can take a few days. Then Copilot in Positron: connect it, chat with Posit Assistant, code completions and using AI responsibly.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the version-control program: it records snapshots (commits) of a folder. GitHub is the website that stores a copy of that folder online, the remote repository. GitHub Desktop is a free app that runs Git for you with buttons; it installs its own Git, so nothing else is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personal account per person, for life. Keep it after your studies: it becomes part of your CV.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GitHub's terms allow one personal account per person. Use your WU address, or add it later as a second address: GitHub Education needs it verified on the account. The free plan has unlimited public and private repositories and unlimited collaborators.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requires 2FA for accounts that contribute code; once your account is selected you have 45 days to set it up. GitHub recommends an authenticator (TOTP) app as the main method and GitHub Mobile or a passkey as backup. Recovery codes are the only way back in if the phone is lost: store them in a password manager.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commit carries an e-mail address; in a public repository anyone can read it. GitHub offers a noreply address of the form ID+USERNAME@users.noreply.github.com. Turn on Keep my email addresses private, then pick the noreply address as commit e-mail in GitHub Desktop (Part 3). Commits still count as yours.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student benefits, including GitHub Copilot. Apply early: the review can take several days.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GitHub Docs (October 2026): verified students get free access to GitHub Copilot and its premium features, free GitHub Codespaces up to 180 core hours a month, and the partner offers of the Student Developer Pack. Benefits are re-checked; when your studies end, they end. Copilot plan details change often: check github.com/settings/copilot.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GitHub Docs: enrolled in a degree- or diploma-granting programme, a personal GitHub account, at least 13 years old, and documents that prove current student status. If recent applicants from WU verified with their academic e-mail, GitHub asks you for yours too, so add and verify the WU address first.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lives in your GitHub settings under Education benefits. Use a clear, well-lit photo of the document; blurry images and documents without a current date are the most common reasons for rejection. The decision arrives by e-mail; the status is also shown on the same settings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GitHub Docs, Troubleshooting access. An academic e-mail can only be used for one account's Student Pack; a second account is against GitHub's terms, so merge accounts instead. After a rejection you can reapply straight away with better proof.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Desktop is free and brings its own Git. Supported: Windows 10 64-bit or later, macOS 12 or later; no Linux.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Download from desktop.github.com. On Windows it installs per user, no admin rights needed, and starts by itself. On macOS the download is a zip file containing the app; move it to Applications so updates work. GitHub Desktop updates itself; check under Help → About GitHub Desktop (Windows) or GitHub Desktop → About (macOS).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Sign-in always runs in the browser, including 2FA. If the browser does not return you to the app, click the link on the browser page again. Errors such as Bad credentials: sign out and in again (same pane).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Desktop writes these into your global Git configuration. Choose the noreply address from Part 1 so your real address never appears in a public commit. If the address does not belong to your account, GitHub Desktop warns you before committing and the commits will not show on your profile.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Cloning downloads a repository with its full history and keeps the link to GitHub, so updates arrive with one click.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Way A starts on the website: the Code button offers Open with GitHub Desktop. Way B starts in the app: the GitHub.com tab lists your own repositories; for any other public repository paste its URL in the URL tab. The course repository is public, so no invitation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Cloud-synced folders (OneDrive, iCloud Drive, Dropbox) and Windows folder redirection break Git: two programs then fight over the same files. Spaces and umlauts in paths cause trouble in Python and Quarto.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treats the opened folder as the project: the Files pane, the terminal and the Python environment all start there. GitHub Desktop and Positron work side by side on the same folder: edit in Positron, commit and push in GitHub Desktop.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before you start, commit when a step works, push when you stop. Show it live with a small change.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sync button in the repository bar changes its label: Fetch origin (nothing known yet), Pull origin with a down arrow and a number (new commits on GitHub), Push origin with an up arrow (your commits not yet on GitHub). In the course repository you only ever pull.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changed a file in the course repository that the update also changes, Git refuses to overwrite your work. Easiest fix for students: right-click the file in the Changes tab, Discard changes, then pull. That is why everyone copies files into their own folder before editing.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Changes tab lists every changed file: green plus added, yellow dot modified, red minus deleted. Only ticked files go into the commit. With Copilot access, the Copilot button under the summary drafts a commit message from the changes; check it before you commit.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only works where you have write access: your own repositories and those you were invited to. If you try to push to the course repository, GitHub Desktop offers to create a fork; decline. Pushes with a file over 100 MiB are rejected; GitHub warns from 50 MiB.</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Discarded changes go to the Trash or Recycle Bin and can be restored from there until it is emptied. Undo works for the last commit if it is not pushed yet. Revert creates a new commit that reverses an old one and is safe after pushing. A merge conflict only happens when two people change the same lines.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pushed, a file stays in the history even after you delete it, and in a public repository anyone may have copied it. The .gitignore file lists what Git should not track. GitHub Desktop: right-click a file in Changes → Ignore file, or Repository → Repository settings → Ignored files. New repositories: choose the Python template under Git ignore, which already excludes .venv.</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Private is the safe default. Public is for work you are happy for the whole world, and future employers, to see.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are free and unlimited on GitHub Free, with unlimited collaborators. In a private repository only you and the people you invite see anything. A public repository can be read, cloned and forked by anyone on the internet, but only invited collaborators can push.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repository creates the folder, a README and a .gitignore on your laptop. Publish repository uploads it; Keep this code private is ticked by default: leave it ticked. For an existing folder: File → Add local repository; GitHub Desktop offers to create a repository there, then publish it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Inviting happens on github.com, not in GitHub Desktop. Collaborators on a personal repository can read and push. The invitation arrives by e-mail and in github.com notifications; it expires after seven days. Then every member clones the repository (Part 4) and uses pull, commit, push.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owner (admin) can change visibility, on github.com under Settings → General → Danger Zone. From private to public: the code becomes visible to everyone and anyone can fork it, including the full commit history, so check the history for secrets and personal data first. From public to private: stars and watchers are erased and existing public forks stay public.</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problems are solved by signing out and in again, or by pulling before pushing. Log files: Help → Show Logs in Explorer (Windows) or Show Logs in Finder (macOS).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tick these off in class. Everything except the GitHub Education approval should be done today.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names and what Copilot does in Positron, then the plans on github.com. Connecting comes in Part 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web tutorials still describe Positron Assistant, which was a preview from Positron 2025.07 and was removed in 2026.07. Its successor Posit Assistant is the default AI in Positron since 2026.07. The current release is Positron 2026.10.0. If a tutorial mentions Ask/Edit/Agent modes or the setting positron.assistant.enable, it is out of date.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 Assistant sends your prompt and context to the provider you connect. Only two providers give both chat and code completions: GitHub Copilot (free for students) and Posit AI Pass (paid, 20 USD a month). Anthropic and OpenAI need a paid API key and do chat only; a Claude Pro subscription does not work. GitHub Copilot is marked Preview in Positron.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1 June 2026 GitHub bills Copilot in AI credits (1 credit = 1 US cent); allowances reset on the 1st of each month at 00:00 UTC. GitHub Docs give no number for the Student credit allowance; third-party guides say 200 a month, unconfirmed. Both free plans use automatic model selection only. Paid plans start at 10 USD a month: students should not need them.</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GitHub Docs (set up Copilot for students). Approval for GitHub Education and activation of Copilot Student are separate steps and can take several days. New Student sign-ups were paused from 20 April 2026 and reopened gradually from 16 June 2026 (GitHub Community announcement). If the page offers a paid checkout: do not pay; wait and try again, or use Copilot Free meanwhile.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announced that from 24 April 2026 it may use interactions with Copilot Free, Pro, Pro+ and Max to train models unless users opt out; the Student plan is not named, so everyone checks the setting. Posit does not see prompts: they go from the laptop straight to GitHub/Microsoft, whose terms apply.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2026.07 or later is needed; the course uses 2026.10. Everything else is on by default.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Help → Check for Updates installs the current Positron. Posit Assistant only runs in trusted workspaces; untrusted ones run in Restricted mode. The AI settings ai.enabled and assistant.enabled are on by default; nothing is active until a provider is connected.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command name in Positron 2026.10: Authentication: Configure Language Model Providers. The same entry is in the Accounts menu (person icon, bottom left). If Positron already has a GitHub session, it asks whether to reuse it. Signing in to GitHub alone, for example for Git, does NOT turn on Copilot.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Create Diagnostic Report lists enabled features, signed-in providers and models; read it before sharing, because keys are redacted but URLs are not. Since 2026.08 the Copilot status-bar icon shows usage.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includes GitHub's device-code sign-in. It is used automatically when the normal redirect fails and can be forced with the setting github-authentication.preferDeviceCodeFlow. Since 2026.01 Copilot follows the proxy settings (http.proxy), relevant on some university or company networks.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 Assistant can read your session and run code, but only after you say yes.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it with its icon in the activity bar or View: Show Posit Assistant; View: Agent Layout opens it in the editor area. Attach files with the paperclip, drag and drop, paste, or type @ to mention a file. Thinking effort trades speed for care. A token counter shows how full the conversation is; long ones are compacted.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connected to Python, Posit Assistant automatically includes the language and version, variable names and types, data-frame shapes and columns, plots and console history, plus open files and the project structure. Since 2026.10 it can also operate Positron itself in preview (Data Explorer, Viewer). Files can be excluded with the setting positron.assistant.aiExcludes; console history with console.historyApiEnabled.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time Posit Assistant wants to run code or change files, it asks: Accept, Decline, or reply with what to do instead. Approval can be given once, for the session or for the project. Approval modes: Normal (default), Restricted (every action confirmed; automatic in untrusted folders), Auto and YOLO. Students stay in Normal; YOLO is never used in this course. Plan mode (/plan) explores and writes a plan without changing code.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the slash command at the start of a message. /report writes a Quarto .qmd from the conversation; Preview it and check that it renders. Fix and Explain appear on errors in the Console and, since 2026.08, in Quarto inline output; they send the error to Posit Assistant.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 request names the file, the packages and the output. Posit's own Python tutorial prompt uses pandas, so ask for polars explicitly. After Accept, compare the numbers with the course results: slope about -669 and R-squared 0.88 for sales ~ price1.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Copilot suggests the next lines in grey as you type, in .py files and in Quarto code cells.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Keys from Positron's completion docs. Manual trigger: Alt+\ on Windows, Option+\ on macOS. Markdown and plain text are off by default, so suggestions appear in code cells but not in the prose of a .qmd.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status-bar menu is the easy way. The setting github.copilot.enable controls languages, default {"*": true, "plaintext": false, "markdown": false}. editor.inlineSuggest.enabled turns off all inline suggestions. Some students learn better with completions off while practising; turn them on for the case study.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assistant makes you faster, not right. You are responsible for every number you report.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Posit's advice: name the files, the packages and the outputs, and predict what a correct answer looks like before you send. Keep one topic per conversation; start a new one with /new.</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Typical AI errors in this course: pandas instead of polars, a wrong column name, the wrong test or model, invented numbers in explanations, and numbers in text that do not match the output. The course rules treat fabricated results as misconduct.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syllabus: AI assistants are expected and encouraged; students verify outputs, document prompts that produced non-trivial code (prompt log in coding exercises, appendix of the case study report), and the written exam is closed book. Fabricated references or results are misconduct under WU rules.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problems are a missing sign-in, an old Positron, or an untrusted folder.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Positron's AI troubleshooting pages. AI: Create Diagnostic Report shows what is on and which providers are signed in; read it before sending, URLs are not redacted.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Mapping from the deprecated Positron Assistant to Posit Assistant (Positron 2026.07 and later). The old VS Code-style Copilot Chat with Ask, Edit and Agent and inline chat is hidden by default; it can be brought back with chat.disableAIFeatures = false, but the course uses Posit Assistant.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tick these off in class. Copilot Student may still be pending; Copilot Free covers the time until approval.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links lead to GitHub's own documentation, which is updated when the apps change.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Checked 14 October 2026 against the documentation sources of Positron (posit-dev/positron-website) and GitHub (github/docs). The Student plan's monthly credit amount is not stated officially.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signup" TargetMode="External"/><Relationship Id="rId4" Type="http://schemas.openxmlformats.org/officeDocument/2006/relationships/image" Target="../media/image15.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settings/education/benefits" TargetMode="Externa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desktop.github.com" TargetMode="External"/><Relationship Id="rId5"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9.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14.png"/><Relationship Id="rId5"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16.png"/><Relationship Id="rId5"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9.png"/><Relationship Id="rId5"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1.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2.png"/><Relationship Id="rId4" Type="http://schemas.openxmlformats.org/officeDocument/2006/relationships/image" Target="../media/image48.png"/><Relationship Id="rId5"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16.png"/><Relationship Id="rId5"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 Id="rId3"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 Id="rId3" Type="http://schemas.openxmlformats.org/officeDocument/2006/relationships/image" Target="../media/image5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7.png"/><Relationship Id="rId4" Type="http://schemas.openxmlformats.org/officeDocument/2006/relationships/hyperlink" Target="https://github.com/settings/education/benefits" TargetMode="External"/><Relationship Id="rId5" Type="http://schemas.openxmlformats.org/officeDocument/2006/relationships/hyperlink" Target="https://github.com/settings/copilot" TargetMode="External"/><Relationship Id="rId6" Type="http://schemas.openxmlformats.org/officeDocument/2006/relationships/image" Target="../media/image58.png"/><Relationship Id="rId7" Type="http://schemas.openxmlformats.org/officeDocument/2006/relationships/image" Target="../media/image5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9.png"/><Relationship Id="rId4" Type="http://schemas.openxmlformats.org/officeDocument/2006/relationships/hyperlink" Target="https://github.com/settings/copilot" TargetMode="External"/><Relationship Id="rId5"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6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55.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24.png"/><Relationship Id="rId6" Type="http://schemas.openxmlformats.org/officeDocument/2006/relationships/image" Target="../media/image7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74.png"/><Relationship Id="rId4" Type="http://schemas.openxmlformats.org/officeDocument/2006/relationships/image" Target="../media/image6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1.png"/><Relationship Id="rId4" Type="http://schemas.openxmlformats.org/officeDocument/2006/relationships/image" Target="../media/image7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76.png"/><Relationship Id="rId4"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3.png"/><Relationship Id="rId4" Type="http://schemas.openxmlformats.org/officeDocument/2006/relationships/image" Target="../media/image81.png"/><Relationship Id="rId5" Type="http://schemas.openxmlformats.org/officeDocument/2006/relationships/image" Target="../media/image8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0.xml"/><Relationship Id="rId3"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1.xml"/><Relationship Id="rId3" Type="http://schemas.openxmlformats.org/officeDocument/2006/relationships/image" Target="../media/image8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hyperlink" Target="https://docs.github.com/en/desktop/overview/getting-started-with-github-desktop" TargetMode="External"/><Relationship Id="rId4" Type="http://schemas.openxmlformats.org/officeDocument/2006/relationships/hyperlink" Target="https://docs.github.com/en/desktop/adding-and-cloning-repositories/cloning-and-forking-repositories-from-github-desktop" TargetMode="External"/><Relationship Id="rId5" Type="http://schemas.openxmlformats.org/officeDocument/2006/relationships/hyperlink" Target="https://docs.github.com/en/desktop/making-changes-in-a-branch/committing-and-reviewing-changes-to-your-project-in-github-desktop" TargetMode="External"/><Relationship Id="rId6" Type="http://schemas.openxmlformats.org/officeDocument/2006/relationships/hyperlink" Target="https://docs.github.com/en/authentication/securing-your-account-with-two-factor-authentication-2fa" TargetMode="External"/><Relationship Id="rId7" Type="http://schemas.openxmlformats.org/officeDocument/2006/relationships/hyperlink" Target="https://docs.github.com/en/education/about-github-education/github-education-for-students/apply-to-github-education-as-a-student" TargetMode="External"/><Relationship Id="rId8" Type="http://schemas.openxmlformats.org/officeDocument/2006/relationships/hyperlink" Target="https://docs.github.com/en/repositories/managing-your-repositorys-settings-and-features/managing-repository-settings/setting-repository-visibility" TargetMode="External"/><Relationship Id="rId9" Type="http://schemas.openxmlformats.org/officeDocument/2006/relationships/hyperlink" Target="https://skills.github.com"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hyperlink" Target="https://positron.posit.co/assistant.html" TargetMode="External"/><Relationship Id="rId4" Type="http://schemas.openxmlformats.org/officeDocument/2006/relationships/hyperlink" Target="https://positron.posit.co/assistant-providers.html" TargetMode="External"/><Relationship Id="rId5" Type="http://schemas.openxmlformats.org/officeDocument/2006/relationships/hyperlink" Target="https://positron.posit.co/assistant-completions.html" TargetMode="External"/><Relationship Id="rId6" Type="http://schemas.openxmlformats.org/officeDocument/2006/relationships/hyperlink" Target="https://positron.posit.co/ai-configuration.html" TargetMode="External"/><Relationship Id="rId7" Type="http://schemas.openxmlformats.org/officeDocument/2006/relationships/hyperlink" Target="https://docs.github.com/en/copilot/how-tos/copilot-on-github/set-up-copilot/enable-copilot/set-up-for-students" TargetMode="External"/><Relationship Id="rId8" Type="http://schemas.openxmlformats.org/officeDocument/2006/relationships/hyperlink" Target="https://github.com/features/copilot/plans" TargetMode="External"/><Relationship Id="rId9" Type="http://schemas.openxmlformats.org/officeDocument/2006/relationships/hyperlink" Target="https://positron.posit.co/release-notes.html"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GitHub, GitHub Desktop and Copilot</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 GitHub and Copilot, step by step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Account</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Education</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Desktop</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Clone</a:t>
            </a:r>
            <a:br/>
            <a:r>
              <a:rPr sz="1100" b="1" lang="en-GB">
                <a:solidFill>
                  <a:schemeClr val="tx2"/>
                </a:solidFill>
              </a:rPr>
              <a:t>and sync</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Copilot</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Use AI</a:t>
            </a:r>
            <a:br/>
            <a:r>
              <a:rPr sz="1100" b="1" lang="en-GB">
                <a:solidFill>
                  <a:schemeClr val="tx2"/>
                </a:solidFill>
              </a:rPr>
              <a:t>well</a:t>
            </a:r>
          </a:p>
        </p:txBody>
      </p:sp>
      <p:sp>
        <p:nvSpPr>
          <p:cNvPr id="16" name="GitHub card body"/>
          <p:cNvSpPr/>
          <p:nvPr/>
        </p:nvSpPr>
        <p:spPr>
          <a:xfrm>
            <a:off x="45720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GitHub card header"/>
          <p:cNvSpPr/>
          <p:nvPr/>
        </p:nvSpPr>
        <p:spPr>
          <a:xfrm>
            <a:off x="45720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GitHub card heading"/>
          <p:cNvSpPr txBox="1"/>
          <p:nvPr/>
        </p:nvSpPr>
        <p:spPr>
          <a:xfrm>
            <a:off x="59436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GitHub, Parts 1 to 6</a:t>
            </a:r>
          </a:p>
        </p:txBody>
      </p:sp>
      <p:pic>
        <p:nvPicPr>
          <p:cNvPr id="19" name="Icon GitHub card" descr=""/>
          <p:cNvPicPr>
            <a:picLocks noChangeAspect="1"/>
          </p:cNvPicPr>
          <p:nvPr/>
        </p:nvPicPr>
        <p:blipFill>
          <a:blip r:embed="rId3"/>
          <a:stretch>
            <a:fillRect/>
          </a:stretch>
        </p:blipFill>
        <p:spPr>
          <a:xfrm>
            <a:off x="4064508" y="1970532"/>
            <a:ext cx="310896" cy="310896"/>
          </a:xfrm>
          <a:prstGeom prst="rect">
            <a:avLst/>
          </a:prstGeom>
        </p:spPr>
      </p:pic>
      <p:sp>
        <p:nvSpPr>
          <p:cNvPr id="20" name="GitHub card text"/>
          <p:cNvSpPr txBox="1"/>
          <p:nvPr/>
        </p:nvSpPr>
        <p:spPr>
          <a:xfrm>
            <a:off x="62179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Account, two-factor sign-in, private e-mail</a:t>
            </a:r>
          </a:p>
          <a:p>
            <a:pPr algn="l" marL="182880" indent="-182880">
              <a:spcAft>
                <a:spcPts val="600"/>
              </a:spcAft>
              <a:buClr>
                <a:schemeClr val="accent1"/>
              </a:buClr>
              <a:buFont typeface="Arial"/>
              <a:buChar char="▪"/>
            </a:pPr>
            <a:r>
              <a:rPr sz="1300" b="0" lang="en-GB">
                <a:solidFill>
                  <a:schemeClr val="tx1"/>
                </a:solidFill>
              </a:rPr>
              <a:t>GitHub Education for student benefits</a:t>
            </a:r>
          </a:p>
          <a:p>
            <a:pPr algn="l" marL="182880" indent="-182880">
              <a:spcAft>
                <a:spcPts val="600"/>
              </a:spcAft>
              <a:buClr>
                <a:schemeClr val="accent1"/>
              </a:buClr>
              <a:buFont typeface="Arial"/>
              <a:buChar char="▪"/>
            </a:pPr>
            <a:r>
              <a:rPr sz="1300" b="0" lang="en-GB">
                <a:solidFill>
                  <a:schemeClr val="tx1"/>
                </a:solidFill>
              </a:rPr>
              <a:t>Install and set up GitHub Desktop</a:t>
            </a:r>
          </a:p>
          <a:p>
            <a:pPr algn="l" marL="182880" indent="-182880">
              <a:spcAft>
                <a:spcPts val="600"/>
              </a:spcAft>
              <a:buClr>
                <a:schemeClr val="accent1"/>
              </a:buClr>
              <a:buFont typeface="Arial"/>
              <a:buChar char="▪"/>
            </a:pPr>
            <a:r>
              <a:rPr sz="1300" b="0" lang="en-GB">
                <a:solidFill>
                  <a:schemeClr val="tx1"/>
                </a:solidFill>
              </a:rPr>
              <a:t>Clone, fetch, pull, commit, push</a:t>
            </a:r>
          </a:p>
          <a:p>
            <a:pPr algn="l" marL="182880" indent="-182880">
              <a:spcAft>
                <a:spcPts val="600"/>
              </a:spcAft>
              <a:buClr>
                <a:schemeClr val="accent1"/>
              </a:buClr>
              <a:buFont typeface="Arial"/>
              <a:buChar char="▪"/>
            </a:pPr>
            <a:r>
              <a:rPr sz="1300" b="0" lang="en-GB">
                <a:solidFill>
                  <a:schemeClr val="tx1"/>
                </a:solidFill>
              </a:rPr>
              <a:t>Private or public repositories</a:t>
            </a:r>
          </a:p>
        </p:txBody>
      </p:sp>
      <p:sp>
        <p:nvSpPr>
          <p:cNvPr id="21" name="Copilot card body"/>
          <p:cNvSpPr/>
          <p:nvPr/>
        </p:nvSpPr>
        <p:spPr>
          <a:xfrm>
            <a:off x="464058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opilot card header"/>
          <p:cNvSpPr/>
          <p:nvPr/>
        </p:nvSpPr>
        <p:spPr>
          <a:xfrm>
            <a:off x="464058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pilot card heading"/>
          <p:cNvSpPr txBox="1"/>
          <p:nvPr/>
        </p:nvSpPr>
        <p:spPr>
          <a:xfrm>
            <a:off x="477774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Copilot, Parts 7 to 12</a:t>
            </a:r>
          </a:p>
        </p:txBody>
      </p:sp>
      <p:pic>
        <p:nvPicPr>
          <p:cNvPr id="24" name="Icon Copilot card" descr=""/>
          <p:cNvPicPr>
            <a:picLocks noChangeAspect="1"/>
          </p:cNvPicPr>
          <p:nvPr/>
        </p:nvPicPr>
        <p:blipFill>
          <a:blip r:embed="rId4"/>
          <a:stretch>
            <a:fillRect/>
          </a:stretch>
        </p:blipFill>
        <p:spPr>
          <a:xfrm>
            <a:off x="8247888" y="1970532"/>
            <a:ext cx="310896" cy="310896"/>
          </a:xfrm>
          <a:prstGeom prst="rect">
            <a:avLst/>
          </a:prstGeom>
        </p:spPr>
      </p:pic>
      <p:sp>
        <p:nvSpPr>
          <p:cNvPr id="25" name="Copilot card text"/>
          <p:cNvSpPr txBox="1"/>
          <p:nvPr/>
        </p:nvSpPr>
        <p:spPr>
          <a:xfrm>
            <a:off x="480517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Copilot Free and Copilot Student</a:t>
            </a:r>
          </a:p>
          <a:p>
            <a:pPr algn="l" marL="182880" indent="-182880">
              <a:spcAft>
                <a:spcPts val="600"/>
              </a:spcAft>
              <a:buClr>
                <a:schemeClr val="accent1"/>
              </a:buClr>
              <a:buFont typeface="Arial"/>
              <a:buChar char="▪"/>
            </a:pPr>
            <a:r>
              <a:rPr sz="1300" b="0" lang="en-GB">
                <a:solidFill>
                  <a:schemeClr val="tx1"/>
                </a:solidFill>
              </a:rPr>
              <a:t>Connect Copilot to Positron</a:t>
            </a:r>
          </a:p>
          <a:p>
            <a:pPr algn="l" marL="182880" indent="-182880">
              <a:spcAft>
                <a:spcPts val="600"/>
              </a:spcAft>
              <a:buClr>
                <a:schemeClr val="accent1"/>
              </a:buClr>
              <a:buFont typeface="Arial"/>
              <a:buChar char="▪"/>
            </a:pPr>
            <a:r>
              <a:rPr sz="1300" b="0" lang="en-GB">
                <a:solidFill>
                  <a:schemeClr val="tx1"/>
                </a:solidFill>
              </a:rPr>
              <a:t>Chat with Posit Assistant</a:t>
            </a:r>
          </a:p>
          <a:p>
            <a:pPr algn="l" marL="182880" indent="-182880">
              <a:spcAft>
                <a:spcPts val="600"/>
              </a:spcAft>
              <a:buClr>
                <a:schemeClr val="accent1"/>
              </a:buClr>
              <a:buFont typeface="Arial"/>
              <a:buChar char="▪"/>
            </a:pPr>
            <a:r>
              <a:rPr sz="1300" b="0" lang="en-GB">
                <a:solidFill>
                  <a:schemeClr val="tx1"/>
                </a:solidFill>
              </a:rPr>
              <a:t>Code completions</a:t>
            </a:r>
          </a:p>
          <a:p>
            <a:pPr algn="l" marL="182880" indent="-182880">
              <a:spcAft>
                <a:spcPts val="600"/>
              </a:spcAft>
              <a:buClr>
                <a:schemeClr val="accent1"/>
              </a:buClr>
              <a:buFont typeface="Arial"/>
              <a:buChar char="▪"/>
            </a:pPr>
            <a:r>
              <a:rPr sz="1300" b="0" lang="en-GB">
                <a:solidFill>
                  <a:schemeClr val="tx1"/>
                </a:solidFill>
              </a:rPr>
              <a:t>Use it well, fix problems</a:t>
            </a:r>
          </a:p>
        </p:txBody>
      </p:sp>
      <p:sp>
        <p:nvSpPr>
          <p:cNvPr id="26" name="No CLI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No CLI" descr=""/>
          <p:cNvPicPr>
            <a:picLocks noChangeAspect="1"/>
          </p:cNvPicPr>
          <p:nvPr/>
        </p:nvPicPr>
        <p:blipFill>
          <a:blip r:embed="rId5"/>
          <a:stretch>
            <a:fillRect/>
          </a:stretch>
        </p:blipFill>
        <p:spPr>
          <a:xfrm>
            <a:off x="658368" y="4480560"/>
            <a:ext cx="365760" cy="365760"/>
          </a:xfrm>
          <a:prstGeom prst="rect">
            <a:avLst/>
          </a:prstGeom>
        </p:spPr>
      </p:pic>
      <p:sp>
        <p:nvSpPr>
          <p:cNvPr id="28" name="No CLI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No command line: </a:t>
            </a:r>
            <a:r>
              <a:rPr sz="1200" b="0" lang="en-GB">
                <a:solidFill>
                  <a:schemeClr val="bg1"/>
                </a:solidFill>
              </a:rPr>
              <a:t>every step is a click in GitHub Desktop, Positron or on github.com.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Git, GitHub and GitHub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hat 1 tile"/>
          <p:cNvSpPr/>
          <p:nvPr/>
        </p:nvSpPr>
        <p:spPr>
          <a:xfrm>
            <a:off x="457200" y="1234440"/>
            <a:ext cx="26517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What 1" descr=""/>
          <p:cNvPicPr>
            <a:picLocks noChangeAspect="1"/>
          </p:cNvPicPr>
          <p:nvPr/>
        </p:nvPicPr>
        <p:blipFill>
          <a:blip r:embed="rId3"/>
          <a:stretch>
            <a:fillRect/>
          </a:stretch>
        </p:blipFill>
        <p:spPr>
          <a:xfrm>
            <a:off x="594360" y="1371600"/>
            <a:ext cx="365760" cy="365760"/>
          </a:xfrm>
          <a:prstGeom prst="rect">
            <a:avLst/>
          </a:prstGeom>
        </p:spPr>
      </p:pic>
      <p:sp>
        <p:nvSpPr>
          <p:cNvPr id="12" name="What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a:t>
            </a:r>
          </a:p>
        </p:txBody>
      </p:sp>
      <p:sp>
        <p:nvSpPr>
          <p:cNvPr id="13" name="What 1 text"/>
          <p:cNvSpPr txBox="1"/>
          <p:nvPr/>
        </p:nvSpPr>
        <p:spPr>
          <a:xfrm>
            <a:off x="594360" y="1856232"/>
            <a:ext cx="2377440" cy="640080"/>
          </a:xfrm>
          <a:prstGeom prst="rect">
            <a:avLst/>
          </a:prstGeom>
          <a:noFill/>
        </p:spPr>
        <p:txBody>
          <a:bodyPr wrap="square" lIns="0" rIns="0" tIns="0" bIns="0" anchor="t">
            <a:noAutofit/>
          </a:bodyPr>
          <a:lstStyle/>
          <a:p>
            <a:pPr algn="l">
              <a:spcAft>
                <a:spcPts val="400"/>
              </a:spcAft>
            </a:pPr>
            <a:r>
              <a:rPr sz="1200" b="0" lang="en-GB">
                <a:solidFill>
                  <a:schemeClr val="tx1"/>
                </a:solidFill>
              </a:rPr>
              <a:t>The engine: records every saved version of a folder</a:t>
            </a:r>
          </a:p>
        </p:txBody>
      </p:sp>
      <p:sp>
        <p:nvSpPr>
          <p:cNvPr id="14" name="What 2 tile"/>
          <p:cNvSpPr/>
          <p:nvPr/>
        </p:nvSpPr>
        <p:spPr>
          <a:xfrm>
            <a:off x="3246120" y="1234440"/>
            <a:ext cx="26517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What 2" descr=""/>
          <p:cNvPicPr>
            <a:picLocks noChangeAspect="1"/>
          </p:cNvPicPr>
          <p:nvPr/>
        </p:nvPicPr>
        <p:blipFill>
          <a:blip r:embed="rId4"/>
          <a:stretch>
            <a:fillRect/>
          </a:stretch>
        </p:blipFill>
        <p:spPr>
          <a:xfrm>
            <a:off x="3383280" y="1371600"/>
            <a:ext cx="365760" cy="365760"/>
          </a:xfrm>
          <a:prstGeom prst="rect">
            <a:avLst/>
          </a:prstGeom>
        </p:spPr>
      </p:pic>
      <p:sp>
        <p:nvSpPr>
          <p:cNvPr id="16" name="What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GitHub</a:t>
            </a:r>
          </a:p>
        </p:txBody>
      </p:sp>
      <p:sp>
        <p:nvSpPr>
          <p:cNvPr id="17" name="What 2 text"/>
          <p:cNvSpPr txBox="1"/>
          <p:nvPr/>
        </p:nvSpPr>
        <p:spPr>
          <a:xfrm>
            <a:off x="3383280" y="1856232"/>
            <a:ext cx="2377440" cy="640080"/>
          </a:xfrm>
          <a:prstGeom prst="rect">
            <a:avLst/>
          </a:prstGeom>
          <a:noFill/>
        </p:spPr>
        <p:txBody>
          <a:bodyPr wrap="square" lIns="0" rIns="0" tIns="0" bIns="0" anchor="t">
            <a:noAutofit/>
          </a:bodyPr>
          <a:lstStyle/>
          <a:p>
            <a:pPr algn="l">
              <a:spcAft>
                <a:spcPts val="400"/>
              </a:spcAft>
            </a:pPr>
            <a:r>
              <a:rPr sz="1200" b="0" lang="en-GB">
                <a:solidFill>
                  <a:schemeClr val="tx1"/>
                </a:solidFill>
              </a:rPr>
              <a:t>The website: keeps a copy online and lets others access it</a:t>
            </a:r>
          </a:p>
        </p:txBody>
      </p:sp>
      <p:sp>
        <p:nvSpPr>
          <p:cNvPr id="18" name="What 3 tile"/>
          <p:cNvSpPr/>
          <p:nvPr/>
        </p:nvSpPr>
        <p:spPr>
          <a:xfrm>
            <a:off x="6035040" y="1234440"/>
            <a:ext cx="26517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What 3" descr=""/>
          <p:cNvPicPr>
            <a:picLocks noChangeAspect="1"/>
          </p:cNvPicPr>
          <p:nvPr/>
        </p:nvPicPr>
        <p:blipFill>
          <a:blip r:embed="rId5"/>
          <a:stretch>
            <a:fillRect/>
          </a:stretch>
        </p:blipFill>
        <p:spPr>
          <a:xfrm>
            <a:off x="6172200" y="1371600"/>
            <a:ext cx="365760" cy="365760"/>
          </a:xfrm>
          <a:prstGeom prst="rect">
            <a:avLst/>
          </a:prstGeom>
        </p:spPr>
      </p:pic>
      <p:sp>
        <p:nvSpPr>
          <p:cNvPr id="20" name="What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GitHub Desktop</a:t>
            </a:r>
          </a:p>
        </p:txBody>
      </p:sp>
      <p:sp>
        <p:nvSpPr>
          <p:cNvPr id="21" name="What 3 text"/>
          <p:cNvSpPr txBox="1"/>
          <p:nvPr/>
        </p:nvSpPr>
        <p:spPr>
          <a:xfrm>
            <a:off x="6172200" y="1856232"/>
            <a:ext cx="2377440" cy="640080"/>
          </a:xfrm>
          <a:prstGeom prst="rect">
            <a:avLst/>
          </a:prstGeom>
          <a:noFill/>
        </p:spPr>
        <p:txBody>
          <a:bodyPr wrap="square" lIns="0" rIns="0" tIns="0" bIns="0" anchor="t">
            <a:noAutofit/>
          </a:bodyPr>
          <a:lstStyle/>
          <a:p>
            <a:pPr algn="l">
              <a:spcAft>
                <a:spcPts val="400"/>
              </a:spcAft>
            </a:pPr>
            <a:r>
              <a:rPr sz="1200" b="0" lang="en-GB">
                <a:solidFill>
                  <a:schemeClr val="tx1"/>
                </a:solidFill>
              </a:rPr>
              <a:t>The app: runs Git with buttons and brings its own Git</a:t>
            </a:r>
          </a:p>
        </p:txBody>
      </p:sp>
      <p:sp>
        <p:nvSpPr>
          <p:cNvPr id="22" name="Words 1-1"/>
          <p:cNvSpPr/>
          <p:nvPr/>
        </p:nvSpPr>
        <p:spPr>
          <a:xfrm>
            <a:off x="457200" y="2743200"/>
            <a:ext cx="18013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Words text 1-1"/>
          <p:cNvSpPr txBox="1"/>
          <p:nvPr/>
        </p:nvSpPr>
        <p:spPr>
          <a:xfrm>
            <a:off x="548640" y="2743200"/>
            <a:ext cx="16184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Word</a:t>
            </a:r>
          </a:p>
        </p:txBody>
      </p:sp>
      <p:sp>
        <p:nvSpPr>
          <p:cNvPr id="24" name="Words 1-2"/>
          <p:cNvSpPr/>
          <p:nvPr/>
        </p:nvSpPr>
        <p:spPr>
          <a:xfrm>
            <a:off x="2286000" y="2743200"/>
            <a:ext cx="36301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Words text 1-2"/>
          <p:cNvSpPr txBox="1"/>
          <p:nvPr/>
        </p:nvSpPr>
        <p:spPr>
          <a:xfrm>
            <a:off x="2377440" y="2743200"/>
            <a:ext cx="34472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Meaning</a:t>
            </a:r>
          </a:p>
        </p:txBody>
      </p:sp>
      <p:sp>
        <p:nvSpPr>
          <p:cNvPr id="26" name="Words 1-3"/>
          <p:cNvSpPr/>
          <p:nvPr/>
        </p:nvSpPr>
        <p:spPr>
          <a:xfrm>
            <a:off x="5943600" y="2743200"/>
            <a:ext cx="27157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Words text 1-3"/>
          <p:cNvSpPr txBox="1"/>
          <p:nvPr/>
        </p:nvSpPr>
        <p:spPr>
          <a:xfrm>
            <a:off x="6035040" y="2743200"/>
            <a:ext cx="25328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Button in GitHub Desktop</a:t>
            </a:r>
          </a:p>
        </p:txBody>
      </p:sp>
      <p:sp>
        <p:nvSpPr>
          <p:cNvPr id="28" name="Words 2-1"/>
          <p:cNvSpPr/>
          <p:nvPr/>
        </p:nvSpPr>
        <p:spPr>
          <a:xfrm>
            <a:off x="457200" y="3099816"/>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Words text 2-1"/>
          <p:cNvSpPr txBox="1"/>
          <p:nvPr/>
        </p:nvSpPr>
        <p:spPr>
          <a:xfrm>
            <a:off x="548640" y="3099816"/>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Repository (repo)</a:t>
            </a:r>
          </a:p>
        </p:txBody>
      </p:sp>
      <p:sp>
        <p:nvSpPr>
          <p:cNvPr id="30" name="Words 2-2"/>
          <p:cNvSpPr/>
          <p:nvPr/>
        </p:nvSpPr>
        <p:spPr>
          <a:xfrm>
            <a:off x="2286000" y="3099816"/>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Words text 2-2"/>
          <p:cNvSpPr txBox="1"/>
          <p:nvPr/>
        </p:nvSpPr>
        <p:spPr>
          <a:xfrm>
            <a:off x="2377440" y="3099816"/>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a project folder with its full history</a:t>
            </a:r>
          </a:p>
        </p:txBody>
      </p:sp>
      <p:sp>
        <p:nvSpPr>
          <p:cNvPr id="32" name="Words 2-3"/>
          <p:cNvSpPr/>
          <p:nvPr/>
        </p:nvSpPr>
        <p:spPr>
          <a:xfrm>
            <a:off x="5943600" y="3099816"/>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Words text 2-3"/>
          <p:cNvSpPr txBox="1"/>
          <p:nvPr/>
        </p:nvSpPr>
        <p:spPr>
          <a:xfrm>
            <a:off x="6035040" y="3099816"/>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Current repository</a:t>
            </a:r>
          </a:p>
        </p:txBody>
      </p:sp>
      <p:sp>
        <p:nvSpPr>
          <p:cNvPr id="34" name="Words 3-1"/>
          <p:cNvSpPr/>
          <p:nvPr/>
        </p:nvSpPr>
        <p:spPr>
          <a:xfrm>
            <a:off x="457200" y="3456432"/>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Words text 3-1"/>
          <p:cNvSpPr txBox="1"/>
          <p:nvPr/>
        </p:nvSpPr>
        <p:spPr>
          <a:xfrm>
            <a:off x="548640" y="3456432"/>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Clone</a:t>
            </a:r>
          </a:p>
        </p:txBody>
      </p:sp>
      <p:sp>
        <p:nvSpPr>
          <p:cNvPr id="36" name="Words 3-2"/>
          <p:cNvSpPr/>
          <p:nvPr/>
        </p:nvSpPr>
        <p:spPr>
          <a:xfrm>
            <a:off x="2286000" y="3456432"/>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Words text 3-2"/>
          <p:cNvSpPr txBox="1"/>
          <p:nvPr/>
        </p:nvSpPr>
        <p:spPr>
          <a:xfrm>
            <a:off x="2377440" y="3456432"/>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download a repo to your laptop, linked to GitHub</a:t>
            </a:r>
          </a:p>
        </p:txBody>
      </p:sp>
      <p:sp>
        <p:nvSpPr>
          <p:cNvPr id="38" name="Words 3-3"/>
          <p:cNvSpPr/>
          <p:nvPr/>
        </p:nvSpPr>
        <p:spPr>
          <a:xfrm>
            <a:off x="5943600" y="3456432"/>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Words text 3-3"/>
          <p:cNvSpPr txBox="1"/>
          <p:nvPr/>
        </p:nvSpPr>
        <p:spPr>
          <a:xfrm>
            <a:off x="6035040" y="3456432"/>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File → Clone repository</a:t>
            </a:r>
          </a:p>
        </p:txBody>
      </p:sp>
      <p:sp>
        <p:nvSpPr>
          <p:cNvPr id="40" name="Words 4-1"/>
          <p:cNvSpPr/>
          <p:nvPr/>
        </p:nvSpPr>
        <p:spPr>
          <a:xfrm>
            <a:off x="457200" y="3813048"/>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Words text 4-1"/>
          <p:cNvSpPr txBox="1"/>
          <p:nvPr/>
        </p:nvSpPr>
        <p:spPr>
          <a:xfrm>
            <a:off x="548640" y="3813048"/>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Commit</a:t>
            </a:r>
          </a:p>
        </p:txBody>
      </p:sp>
      <p:sp>
        <p:nvSpPr>
          <p:cNvPr id="42" name="Words 4-2"/>
          <p:cNvSpPr/>
          <p:nvPr/>
        </p:nvSpPr>
        <p:spPr>
          <a:xfrm>
            <a:off x="2286000" y="3813048"/>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Words text 4-2"/>
          <p:cNvSpPr txBox="1"/>
          <p:nvPr/>
        </p:nvSpPr>
        <p:spPr>
          <a:xfrm>
            <a:off x="2377440" y="3813048"/>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save a snapshot with a short message</a:t>
            </a:r>
          </a:p>
        </p:txBody>
      </p:sp>
      <p:sp>
        <p:nvSpPr>
          <p:cNvPr id="44" name="Words 4-3"/>
          <p:cNvSpPr/>
          <p:nvPr/>
        </p:nvSpPr>
        <p:spPr>
          <a:xfrm>
            <a:off x="5943600" y="3813048"/>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Words text 4-3"/>
          <p:cNvSpPr txBox="1"/>
          <p:nvPr/>
        </p:nvSpPr>
        <p:spPr>
          <a:xfrm>
            <a:off x="6035040" y="3813048"/>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Commit to main</a:t>
            </a:r>
          </a:p>
        </p:txBody>
      </p:sp>
      <p:sp>
        <p:nvSpPr>
          <p:cNvPr id="46" name="Words 5-1"/>
          <p:cNvSpPr/>
          <p:nvPr/>
        </p:nvSpPr>
        <p:spPr>
          <a:xfrm>
            <a:off x="457200" y="4169664"/>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Words text 5-1"/>
          <p:cNvSpPr txBox="1"/>
          <p:nvPr/>
        </p:nvSpPr>
        <p:spPr>
          <a:xfrm>
            <a:off x="548640" y="4169664"/>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Push / pull</a:t>
            </a:r>
          </a:p>
        </p:txBody>
      </p:sp>
      <p:sp>
        <p:nvSpPr>
          <p:cNvPr id="48" name="Words 5-2"/>
          <p:cNvSpPr/>
          <p:nvPr/>
        </p:nvSpPr>
        <p:spPr>
          <a:xfrm>
            <a:off x="2286000" y="4169664"/>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Words text 5-2"/>
          <p:cNvSpPr txBox="1"/>
          <p:nvPr/>
        </p:nvSpPr>
        <p:spPr>
          <a:xfrm>
            <a:off x="2377440" y="4169664"/>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send your commits up / get new commits down</a:t>
            </a:r>
          </a:p>
        </p:txBody>
      </p:sp>
      <p:sp>
        <p:nvSpPr>
          <p:cNvPr id="50" name="Words 5-3"/>
          <p:cNvSpPr/>
          <p:nvPr/>
        </p:nvSpPr>
        <p:spPr>
          <a:xfrm>
            <a:off x="5943600" y="4169664"/>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Words text 5-3"/>
          <p:cNvSpPr txBox="1"/>
          <p:nvPr/>
        </p:nvSpPr>
        <p:spPr>
          <a:xfrm>
            <a:off x="6035040" y="4169664"/>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Push origin / Pull origin</a:t>
            </a:r>
          </a:p>
        </p:txBody>
      </p:sp>
      <p:sp>
        <p:nvSpPr>
          <p:cNvPr id="52" name="Words 6-1"/>
          <p:cNvSpPr/>
          <p:nvPr/>
        </p:nvSpPr>
        <p:spPr>
          <a:xfrm>
            <a:off x="457200" y="4526280"/>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Words text 6-1"/>
          <p:cNvSpPr txBox="1"/>
          <p:nvPr/>
        </p:nvSpPr>
        <p:spPr>
          <a:xfrm>
            <a:off x="548640" y="4526280"/>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Fetch</a:t>
            </a:r>
          </a:p>
        </p:txBody>
      </p:sp>
      <p:sp>
        <p:nvSpPr>
          <p:cNvPr id="54" name="Words 6-2"/>
          <p:cNvSpPr/>
          <p:nvPr/>
        </p:nvSpPr>
        <p:spPr>
          <a:xfrm>
            <a:off x="2286000" y="4526280"/>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Words text 6-2"/>
          <p:cNvSpPr txBox="1"/>
          <p:nvPr/>
        </p:nvSpPr>
        <p:spPr>
          <a:xfrm>
            <a:off x="2377440" y="4526280"/>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check GitHub for new commits, change nothing</a:t>
            </a:r>
          </a:p>
        </p:txBody>
      </p:sp>
      <p:sp>
        <p:nvSpPr>
          <p:cNvPr id="56" name="Words 6-3"/>
          <p:cNvSpPr/>
          <p:nvPr/>
        </p:nvSpPr>
        <p:spPr>
          <a:xfrm>
            <a:off x="5943600" y="4526280"/>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Words text 6-3"/>
          <p:cNvSpPr txBox="1"/>
          <p:nvPr/>
        </p:nvSpPr>
        <p:spPr>
          <a:xfrm>
            <a:off x="6035040" y="4526280"/>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Fetch origin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12 · sign up, two-factor sign-in, a private e-mail address</a:t>
            </a:r>
          </a:p>
        </p:txBody>
      </p:sp>
      <p:sp>
        <p:nvSpPr>
          <p:cNvPr id="3" name="Title 2"/>
          <p:cNvSpPr>
            <a:spLocks noGrp="1"/>
          </p:cNvSpPr>
          <p:nvPr>
            <p:ph type="ctrTitle"/>
          </p:nvPr>
        </p:nvSpPr>
        <p:spPr/>
        <p:txBody>
          <a:bodyPr/>
          <a:lstStyle/>
          <a:p>
            <a:r>
              <a:rPr sz="1600" lang="en-GB"/>
              <a:t>Your GitHub account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Create your GitHub account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gnup row 1"/>
          <p:cNvSpPr/>
          <p:nvPr/>
        </p:nvSpPr>
        <p:spPr>
          <a:xfrm>
            <a:off x="457200" y="1234440"/>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gnup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Signup text 1"/>
          <p:cNvSpPr txBox="1"/>
          <p:nvPr/>
        </p:nvSpPr>
        <p:spPr>
          <a:xfrm>
            <a:off x="1051560" y="1234440"/>
            <a:ext cx="4389120" cy="512064"/>
          </a:xfrm>
          <a:prstGeom prst="rect">
            <a:avLst/>
          </a:prstGeom>
          <a:noFill/>
        </p:spPr>
        <p:txBody>
          <a:bodyPr wrap="square" lIns="0" rIns="0" tIns="0" bIns="0" anchor="ctr">
            <a:noAutofit/>
          </a:bodyPr>
          <a:lstStyle/>
          <a:p>
            <a:pPr algn="l">
              <a:spcAft>
                <a:spcPts val="400"/>
              </a:spcAft>
            </a:pPr>
            <a:r>
              <a:rPr sz="1200" b="0" lang="en-GB">
                <a:solidFill>
                  <a:schemeClr val="tx1"/>
                </a:solidFill>
              </a:rPr>
              <a:t>Open </a:t>
            </a:r>
            <a:r>
              <a:rPr sz="1200" b="0" lang="en-GB">
                <a:solidFill>
                  <a:schemeClr val="accent1"/>
                </a:solidFill>
                <a:hlinkClick r:id="rId3"/>
              </a:rPr>
              <a:t>github.com/signup</a:t>
            </a:r>
          </a:p>
        </p:txBody>
      </p:sp>
      <p:sp>
        <p:nvSpPr>
          <p:cNvPr id="13" name="Signup row 2"/>
          <p:cNvSpPr/>
          <p:nvPr/>
        </p:nvSpPr>
        <p:spPr>
          <a:xfrm>
            <a:off x="457200" y="1819656"/>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ignup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Signup text 2"/>
          <p:cNvSpPr txBox="1"/>
          <p:nvPr/>
        </p:nvSpPr>
        <p:spPr>
          <a:xfrm>
            <a:off x="1051560" y="1819656"/>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E-mail: </a:t>
            </a:r>
            <a:r>
              <a:rPr sz="1200" b="0" lang="en-GB">
                <a:solidFill>
                  <a:schemeClr val="tx1"/>
                </a:solidFill>
              </a:rPr>
              <a:t>your WU student address</a:t>
            </a:r>
          </a:p>
        </p:txBody>
      </p:sp>
      <p:sp>
        <p:nvSpPr>
          <p:cNvPr id="16" name="Signup row 3"/>
          <p:cNvSpPr/>
          <p:nvPr/>
        </p:nvSpPr>
        <p:spPr>
          <a:xfrm>
            <a:off x="457200" y="2404872"/>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gnup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Signup text 3"/>
          <p:cNvSpPr txBox="1"/>
          <p:nvPr/>
        </p:nvSpPr>
        <p:spPr>
          <a:xfrm>
            <a:off x="1051560" y="2404872"/>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Password </a:t>
            </a:r>
            <a:r>
              <a:rPr sz="1200" b="0" lang="en-GB">
                <a:solidFill>
                  <a:schemeClr val="tx1"/>
                </a:solidFill>
              </a:rPr>
              <a:t>of at least 15 characters, or 8 with a number and a lower-case letter</a:t>
            </a:r>
          </a:p>
        </p:txBody>
      </p:sp>
      <p:sp>
        <p:nvSpPr>
          <p:cNvPr id="19" name="Signup row 4"/>
          <p:cNvSpPr/>
          <p:nvPr/>
        </p:nvSpPr>
        <p:spPr>
          <a:xfrm>
            <a:off x="457200" y="2990088"/>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ignup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Signup text 4"/>
          <p:cNvSpPr txBox="1"/>
          <p:nvPr/>
        </p:nvSpPr>
        <p:spPr>
          <a:xfrm>
            <a:off x="1051560" y="2990088"/>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Username: </a:t>
            </a:r>
            <a:r>
              <a:rPr sz="1200" b="0" lang="en-GB">
                <a:solidFill>
                  <a:schemeClr val="tx1"/>
                </a:solidFill>
              </a:rPr>
              <a:t>short and professional, e.g. anna-berger; it is public</a:t>
            </a:r>
          </a:p>
        </p:txBody>
      </p:sp>
      <p:sp>
        <p:nvSpPr>
          <p:cNvPr id="22" name="Signup row 5"/>
          <p:cNvSpPr/>
          <p:nvPr/>
        </p:nvSpPr>
        <p:spPr>
          <a:xfrm>
            <a:off x="457200" y="3575304"/>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ignup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Signup text 5"/>
          <p:cNvSpPr txBox="1"/>
          <p:nvPr/>
        </p:nvSpPr>
        <p:spPr>
          <a:xfrm>
            <a:off x="1051560" y="3575304"/>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Verify: </a:t>
            </a:r>
            <a:r>
              <a:rPr sz="1200" b="0" lang="en-GB">
                <a:solidFill>
                  <a:schemeClr val="tx1"/>
                </a:solidFill>
              </a:rPr>
              <a:t>type the code GitHub sends to your inbox</a:t>
            </a:r>
          </a:p>
        </p:txBody>
      </p:sp>
      <p:sp>
        <p:nvSpPr>
          <p:cNvPr id="25" name="Signup row 6"/>
          <p:cNvSpPr/>
          <p:nvPr/>
        </p:nvSpPr>
        <p:spPr>
          <a:xfrm>
            <a:off x="457200" y="4160520"/>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ignup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Signup text 6"/>
          <p:cNvSpPr txBox="1"/>
          <p:nvPr/>
        </p:nvSpPr>
        <p:spPr>
          <a:xfrm>
            <a:off x="1051560" y="4160520"/>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Plan: </a:t>
            </a:r>
            <a:r>
              <a:rPr sz="1200" b="0" lang="en-GB">
                <a:solidFill>
                  <a:schemeClr val="tx1"/>
                </a:solidFill>
              </a:rPr>
              <a:t>choose Free; skip the questions if you like</a:t>
            </a:r>
          </a:p>
        </p:txBody>
      </p:sp>
      <p:sp>
        <p:nvSpPr>
          <p:cNvPr id="28" name="Signup card body"/>
          <p:cNvSpPr/>
          <p:nvPr/>
        </p:nvSpPr>
        <p:spPr>
          <a:xfrm>
            <a:off x="5715000" y="1645920"/>
            <a:ext cx="297180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ignup card header"/>
          <p:cNvSpPr/>
          <p:nvPr/>
        </p:nvSpPr>
        <p:spPr>
          <a:xfrm>
            <a:off x="5715000" y="1234440"/>
            <a:ext cx="297180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ignup card heading"/>
          <p:cNvSpPr txBox="1"/>
          <p:nvPr/>
        </p:nvSpPr>
        <p:spPr>
          <a:xfrm>
            <a:off x="5852160" y="1234440"/>
            <a:ext cx="22860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31" name="Icon Signup card" descr=""/>
          <p:cNvPicPr>
            <a:picLocks noChangeAspect="1"/>
          </p:cNvPicPr>
          <p:nvPr/>
        </p:nvPicPr>
        <p:blipFill>
          <a:blip r:embed="rId4"/>
          <a:stretch>
            <a:fillRect/>
          </a:stretch>
        </p:blipFill>
        <p:spPr>
          <a:xfrm>
            <a:off x="8247888" y="1284732"/>
            <a:ext cx="310896" cy="310896"/>
          </a:xfrm>
          <a:prstGeom prst="rect">
            <a:avLst/>
          </a:prstGeom>
        </p:spPr>
      </p:pic>
      <p:sp>
        <p:nvSpPr>
          <p:cNvPr id="32" name="Signup card text"/>
          <p:cNvSpPr txBox="1"/>
          <p:nvPr/>
        </p:nvSpPr>
        <p:spPr>
          <a:xfrm>
            <a:off x="5879592" y="1783080"/>
            <a:ext cx="267004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One account per person: keep it for life</a:t>
            </a:r>
          </a:p>
          <a:p>
            <a:pPr algn="l" marL="182880" indent="-182880">
              <a:spcAft>
                <a:spcPts val="600"/>
              </a:spcAft>
              <a:buClr>
                <a:schemeClr val="accent1"/>
              </a:buClr>
              <a:buFont typeface="Arial"/>
              <a:buChar char="▪"/>
            </a:pPr>
            <a:r>
              <a:rPr sz="1300" b="0" lang="en-GB">
                <a:solidFill>
                  <a:schemeClr val="tx1"/>
                </a:solidFill>
              </a:rPr>
              <a:t>Free plan: unlimited public and private repos</a:t>
            </a:r>
          </a:p>
          <a:p>
            <a:pPr algn="l" marL="182880" indent="-182880">
              <a:spcAft>
                <a:spcPts val="600"/>
              </a:spcAft>
              <a:buClr>
                <a:schemeClr val="accent1"/>
              </a:buClr>
              <a:buFont typeface="Arial"/>
              <a:buChar char="▪"/>
            </a:pPr>
            <a:r>
              <a:rPr sz="1300" b="0" lang="en-GB">
                <a:solidFill>
                  <a:schemeClr val="tx1"/>
                </a:solidFill>
              </a:rPr>
              <a:t>Your username appears on every commit</a:t>
            </a:r>
          </a:p>
        </p:txBody>
      </p:sp>
      <p:sp>
        <p:nvSpPr>
          <p:cNvPr id="33" name="Signup note box"/>
          <p:cNvSpPr/>
          <p:nvPr/>
        </p:nvSpPr>
        <p:spPr>
          <a:xfrm>
            <a:off x="5715000" y="3703320"/>
            <a:ext cx="2971800" cy="11887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Icon Signup note" descr=""/>
          <p:cNvPicPr>
            <a:picLocks noChangeAspect="1"/>
          </p:cNvPicPr>
          <p:nvPr/>
        </p:nvPicPr>
        <p:blipFill>
          <a:blip r:embed="rId5"/>
          <a:stretch>
            <a:fillRect/>
          </a:stretch>
        </p:blipFill>
        <p:spPr>
          <a:xfrm>
            <a:off x="5916168" y="4114800"/>
            <a:ext cx="365760" cy="365760"/>
          </a:xfrm>
          <a:prstGeom prst="rect">
            <a:avLst/>
          </a:prstGeom>
        </p:spPr>
      </p:pic>
      <p:sp>
        <p:nvSpPr>
          <p:cNvPr id="35" name="Signup note text"/>
          <p:cNvSpPr txBox="1"/>
          <p:nvPr/>
        </p:nvSpPr>
        <p:spPr>
          <a:xfrm>
            <a:off x="6464808" y="3703320"/>
            <a:ext cx="2057400" cy="1188720"/>
          </a:xfrm>
          <a:prstGeom prst="rect">
            <a:avLst/>
          </a:prstGeom>
          <a:noFill/>
        </p:spPr>
        <p:txBody>
          <a:bodyPr wrap="square" lIns="0" rIns="0" tIns="0" bIns="0" anchor="ctr">
            <a:noAutofit/>
          </a:bodyPr>
          <a:lstStyle/>
          <a:p>
            <a:pPr algn="l">
              <a:spcAft>
                <a:spcPts val="400"/>
              </a:spcAft>
            </a:pPr>
            <a:r>
              <a:rPr sz="1150" b="1" lang="en-GB">
                <a:solidFill>
                  <a:schemeClr val="bg1"/>
                </a:solidFill>
              </a:rPr>
              <a:t>Have an account? </a:t>
            </a:r>
            <a:r>
              <a:rPr sz="1150" b="0" lang="en-GB">
                <a:solidFill>
                  <a:schemeClr val="bg1"/>
                </a:solidFill>
              </a:rPr>
              <a:t>Keep it; add your WU address under Settings → Emails.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Secure it: two-factor authentication (2FA)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woFA body"/>
          <p:cNvSpPr/>
          <p:nvPr/>
        </p:nvSpPr>
        <p:spPr>
          <a:xfrm>
            <a:off x="457200" y="1645920"/>
            <a:ext cx="4937760"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woFA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woFA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Turn on 2FA</a:t>
            </a:r>
          </a:p>
        </p:txBody>
      </p:sp>
      <p:pic>
        <p:nvPicPr>
          <p:cNvPr id="13" name="Icon TwoFA" descr=""/>
          <p:cNvPicPr>
            <a:picLocks noChangeAspect="1"/>
          </p:cNvPicPr>
          <p:nvPr/>
        </p:nvPicPr>
        <p:blipFill>
          <a:blip r:embed="rId3"/>
          <a:stretch>
            <a:fillRect/>
          </a:stretch>
        </p:blipFill>
        <p:spPr>
          <a:xfrm>
            <a:off x="4956048" y="1284732"/>
            <a:ext cx="310896" cy="310896"/>
          </a:xfrm>
          <a:prstGeom prst="rect">
            <a:avLst/>
          </a:prstGeom>
        </p:spPr>
      </p:pic>
      <p:sp>
        <p:nvSpPr>
          <p:cNvPr id="14" name="TwoFA text"/>
          <p:cNvSpPr txBox="1"/>
          <p:nvPr/>
        </p:nvSpPr>
        <p:spPr>
          <a:xfrm>
            <a:off x="621792" y="1783080"/>
            <a:ext cx="4636008" cy="25146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Profile picture → </a:t>
            </a:r>
            <a:r>
              <a:rPr sz="1300" b="0" lang="en-GB">
                <a:solidFill>
                  <a:schemeClr val="tx1"/>
                </a:solidFill>
              </a:rPr>
              <a:t>Settings</a:t>
            </a:r>
          </a:p>
          <a:p>
            <a:pPr algn="l">
              <a:spcAft>
                <a:spcPts val="900"/>
              </a:spcAft>
            </a:pPr>
            <a:r>
              <a:rPr sz="1300" b="1" lang="en-GB">
                <a:solidFill>
                  <a:schemeClr val="accent1"/>
                </a:solidFill>
              </a:rPr>
              <a:t>2  </a:t>
            </a:r>
            <a:r>
              <a:rPr sz="1300" b="1" lang="en-GB">
                <a:solidFill>
                  <a:schemeClr val="tx2"/>
                </a:solidFill>
              </a:rPr>
              <a:t>Password and authentication → </a:t>
            </a:r>
            <a:r>
              <a:rPr sz="1300" b="0" lang="en-GB">
                <a:solidFill>
                  <a:schemeClr val="tx1"/>
                </a:solidFill>
              </a:rPr>
              <a:t>Enable two-factor authentication</a:t>
            </a:r>
          </a:p>
          <a:p>
            <a:pPr algn="l">
              <a:spcAft>
                <a:spcPts val="900"/>
              </a:spcAft>
            </a:pPr>
            <a:r>
              <a:rPr sz="1300" b="1" lang="en-GB">
                <a:solidFill>
                  <a:schemeClr val="accent1"/>
                </a:solidFill>
              </a:rPr>
              <a:t>3  </a:t>
            </a:r>
            <a:r>
              <a:rPr sz="1300" b="1" lang="en-GB">
                <a:solidFill>
                  <a:schemeClr val="tx2"/>
                </a:solidFill>
              </a:rPr>
              <a:t>Scan the QR code </a:t>
            </a:r>
            <a:r>
              <a:rPr sz="1300" b="0" lang="en-GB">
                <a:solidFill>
                  <a:schemeClr val="tx1"/>
                </a:solidFill>
              </a:rPr>
              <a:t>with an authenticator app</a:t>
            </a:r>
          </a:p>
          <a:p>
            <a:pPr algn="l">
              <a:spcAft>
                <a:spcPts val="900"/>
              </a:spcAft>
            </a:pPr>
            <a:r>
              <a:rPr sz="1300" b="1" lang="en-GB">
                <a:solidFill>
                  <a:schemeClr val="accent1"/>
                </a:solidFill>
              </a:rPr>
              <a:t>4  </a:t>
            </a:r>
            <a:r>
              <a:rPr sz="1300" b="1" lang="en-GB">
                <a:solidFill>
                  <a:schemeClr val="tx2"/>
                </a:solidFill>
              </a:rPr>
              <a:t>Type </a:t>
            </a:r>
            <a:r>
              <a:rPr sz="1300" b="0" lang="en-GB">
                <a:solidFill>
                  <a:schemeClr val="tx1"/>
                </a:solidFill>
              </a:rPr>
              <a:t>the 6-digit code from the app</a:t>
            </a:r>
          </a:p>
          <a:p>
            <a:pPr algn="l">
              <a:spcAft>
                <a:spcPts val="900"/>
              </a:spcAft>
            </a:pPr>
            <a:r>
              <a:rPr sz="1300" b="1" lang="en-GB">
                <a:solidFill>
                  <a:schemeClr val="accent1"/>
                </a:solidFill>
              </a:rPr>
              <a:t>5  </a:t>
            </a:r>
            <a:r>
              <a:rPr sz="1300" b="1" lang="en-GB">
                <a:solidFill>
                  <a:schemeClr val="tx2"/>
                </a:solidFill>
              </a:rPr>
              <a:t>Download </a:t>
            </a:r>
            <a:r>
              <a:rPr sz="1300" b="0" lang="en-GB">
                <a:solidFill>
                  <a:schemeClr val="tx1"/>
                </a:solidFill>
              </a:rPr>
              <a:t>your recovery codes and keep them safe</a:t>
            </a:r>
          </a:p>
          <a:p>
            <a:pPr algn="l">
              <a:spcAft>
                <a:spcPts val="900"/>
              </a:spcAft>
            </a:pPr>
            <a:r>
              <a:rPr sz="1300" b="1" lang="en-GB">
                <a:solidFill>
                  <a:schemeClr val="accent1"/>
                </a:solidFill>
              </a:rPr>
              <a:t>6  </a:t>
            </a:r>
            <a:r>
              <a:rPr sz="1300" b="1" lang="en-GB">
                <a:solidFill>
                  <a:schemeClr val="tx2"/>
                </a:solidFill>
              </a:rPr>
              <a:t>Add a backup: </a:t>
            </a:r>
            <a:r>
              <a:rPr sz="1300" b="0" lang="en-GB">
                <a:solidFill>
                  <a:schemeClr val="tx1"/>
                </a:solidFill>
              </a:rPr>
              <a:t>GitHub Mobile or a passkey</a:t>
            </a:r>
          </a:p>
        </p:txBody>
      </p:sp>
      <p:sp>
        <p:nvSpPr>
          <p:cNvPr id="15" name="2FA facts box"/>
          <p:cNvSpPr/>
          <p:nvPr/>
        </p:nvSpPr>
        <p:spPr>
          <a:xfrm>
            <a:off x="5532120" y="1234440"/>
            <a:ext cx="3154680" cy="3154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2FA bar 1"/>
          <p:cNvSpPr/>
          <p:nvPr/>
        </p:nvSpPr>
        <p:spPr>
          <a:xfrm>
            <a:off x="5669280" y="137160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2FA fact 1"/>
          <p:cNvSpPr txBox="1"/>
          <p:nvPr/>
        </p:nvSpPr>
        <p:spPr>
          <a:xfrm>
            <a:off x="5852160" y="1371600"/>
            <a:ext cx="2743200" cy="82296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45</a:t>
            </a:r>
          </a:p>
          <a:p>
            <a:pPr algn="l">
              <a:spcAft>
                <a:spcPts val="0"/>
              </a:spcAft>
            </a:pPr>
            <a:r>
              <a:rPr sz="1200" b="0" lang="en-GB">
                <a:solidFill>
                  <a:schemeClr val="tx1"/>
                </a:solidFill>
              </a:rPr>
              <a:t>days to set it up once GitHub asks</a:t>
            </a:r>
          </a:p>
        </p:txBody>
      </p:sp>
      <p:sp>
        <p:nvSpPr>
          <p:cNvPr id="18" name="2FA bar 2"/>
          <p:cNvSpPr/>
          <p:nvPr/>
        </p:nvSpPr>
        <p:spPr>
          <a:xfrm>
            <a:off x="5669280" y="2359152"/>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2FA fact 2"/>
          <p:cNvSpPr txBox="1"/>
          <p:nvPr/>
        </p:nvSpPr>
        <p:spPr>
          <a:xfrm>
            <a:off x="5852160" y="2359152"/>
            <a:ext cx="2743200" cy="82296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TOTP</a:t>
            </a:r>
          </a:p>
          <a:p>
            <a:pPr algn="l">
              <a:spcAft>
                <a:spcPts val="0"/>
              </a:spcAft>
            </a:pPr>
            <a:r>
              <a:rPr sz="1200" b="0" lang="en-GB">
                <a:solidFill>
                  <a:schemeClr val="tx1"/>
                </a:solidFill>
              </a:rPr>
              <a:t>app recommended as main method</a:t>
            </a:r>
          </a:p>
        </p:txBody>
      </p:sp>
      <p:sp>
        <p:nvSpPr>
          <p:cNvPr id="20" name="2FA bar 3"/>
          <p:cNvSpPr/>
          <p:nvPr/>
        </p:nvSpPr>
        <p:spPr>
          <a:xfrm>
            <a:off x="5669280" y="3346704"/>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2FA fact 3"/>
          <p:cNvSpPr txBox="1"/>
          <p:nvPr/>
        </p:nvSpPr>
        <p:spPr>
          <a:xfrm>
            <a:off x="5852160" y="3346704"/>
            <a:ext cx="2743200" cy="82296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16</a:t>
            </a:r>
          </a:p>
          <a:p>
            <a:pPr algn="l">
              <a:spcAft>
                <a:spcPts val="0"/>
              </a:spcAft>
            </a:pPr>
            <a:r>
              <a:rPr sz="1200" b="0" lang="en-GB">
                <a:solidFill>
                  <a:schemeClr val="tx1"/>
                </a:solidFill>
              </a:rPr>
              <a:t>recovery codes: your way back in</a:t>
            </a:r>
          </a:p>
        </p:txBody>
      </p:sp>
      <p:sp>
        <p:nvSpPr>
          <p:cNvPr id="22" name="2FA apps box"/>
          <p:cNvSpPr/>
          <p:nvPr/>
        </p:nvSpPr>
        <p:spPr>
          <a:xfrm>
            <a:off x="457200" y="452628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2FA apps" descr=""/>
          <p:cNvPicPr>
            <a:picLocks noChangeAspect="1"/>
          </p:cNvPicPr>
          <p:nvPr/>
        </p:nvPicPr>
        <p:blipFill>
          <a:blip r:embed="rId4"/>
          <a:stretch>
            <a:fillRect/>
          </a:stretch>
        </p:blipFill>
        <p:spPr>
          <a:xfrm>
            <a:off x="658368" y="4617720"/>
            <a:ext cx="365760" cy="365760"/>
          </a:xfrm>
          <a:prstGeom prst="rect">
            <a:avLst/>
          </a:prstGeom>
        </p:spPr>
      </p:pic>
      <p:sp>
        <p:nvSpPr>
          <p:cNvPr id="24" name="2FA apps text"/>
          <p:cNvSpPr txBox="1"/>
          <p:nvPr/>
        </p:nvSpPr>
        <p:spPr>
          <a:xfrm>
            <a:off x="1207008" y="452628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Apps that work: </a:t>
            </a:r>
            <a:r>
              <a:rPr sz="1200" b="0" lang="en-GB">
                <a:solidFill>
                  <a:schemeClr val="tx1"/>
                </a:solidFill>
              </a:rPr>
              <a:t>Microsoft Authenticator, Google Authenticator, 1Password, or GitHub Mobile as backup.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Keep your e-mail address private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mail body"/>
          <p:cNvSpPr/>
          <p:nvPr/>
        </p:nvSpPr>
        <p:spPr>
          <a:xfrm>
            <a:off x="457200" y="1645920"/>
            <a:ext cx="49377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mail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mail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your GitHub settings</a:t>
            </a:r>
          </a:p>
        </p:txBody>
      </p:sp>
      <p:pic>
        <p:nvPicPr>
          <p:cNvPr id="13" name="Icon Email" descr=""/>
          <p:cNvPicPr>
            <a:picLocks noChangeAspect="1"/>
          </p:cNvPicPr>
          <p:nvPr/>
        </p:nvPicPr>
        <p:blipFill>
          <a:blip r:embed="rId3"/>
          <a:stretch>
            <a:fillRect/>
          </a:stretch>
        </p:blipFill>
        <p:spPr>
          <a:xfrm>
            <a:off x="4956048" y="1284732"/>
            <a:ext cx="310896" cy="310896"/>
          </a:xfrm>
          <a:prstGeom prst="rect">
            <a:avLst/>
          </a:prstGeom>
        </p:spPr>
      </p:pic>
      <p:sp>
        <p:nvSpPr>
          <p:cNvPr id="14" name="Email text"/>
          <p:cNvSpPr txBox="1"/>
          <p:nvPr/>
        </p:nvSpPr>
        <p:spPr>
          <a:xfrm>
            <a:off x="621792" y="1783080"/>
            <a:ext cx="4636008" cy="20116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Settings → </a:t>
            </a:r>
            <a:r>
              <a:rPr sz="1300" b="0" lang="en-GB">
                <a:solidFill>
                  <a:schemeClr val="tx1"/>
                </a:solidFill>
              </a:rPr>
              <a:t>Emails</a:t>
            </a:r>
          </a:p>
          <a:p>
            <a:pPr algn="l">
              <a:spcAft>
                <a:spcPts val="900"/>
              </a:spcAft>
            </a:pPr>
            <a:r>
              <a:rPr sz="1300" b="1" lang="en-GB">
                <a:solidFill>
                  <a:schemeClr val="accent1"/>
                </a:solidFill>
              </a:rPr>
              <a:t>2  </a:t>
            </a:r>
            <a:r>
              <a:rPr sz="1300" b="1" lang="en-GB">
                <a:solidFill>
                  <a:schemeClr val="tx2"/>
                </a:solidFill>
              </a:rPr>
              <a:t>Add </a:t>
            </a:r>
            <a:r>
              <a:rPr sz="1300" b="0" lang="en-GB">
                <a:solidFill>
                  <a:schemeClr val="tx1"/>
                </a:solidFill>
              </a:rPr>
              <a:t>your WU address if it is missing, and verify it</a:t>
            </a:r>
          </a:p>
          <a:p>
            <a:pPr algn="l">
              <a:spcAft>
                <a:spcPts val="900"/>
              </a:spcAft>
            </a:pPr>
            <a:r>
              <a:rPr sz="1300" b="1" lang="en-GB">
                <a:solidFill>
                  <a:schemeClr val="accent1"/>
                </a:solidFill>
              </a:rPr>
              <a:t>3  </a:t>
            </a:r>
            <a:r>
              <a:rPr sz="1300" b="1" lang="en-GB">
                <a:solidFill>
                  <a:schemeClr val="tx2"/>
                </a:solidFill>
              </a:rPr>
              <a:t>Tick </a:t>
            </a:r>
            <a:r>
              <a:rPr sz="1300" b="0" lang="en-GB">
                <a:solidFill>
                  <a:schemeClr val="tx1"/>
                </a:solidFill>
              </a:rPr>
              <a:t>Keep my email addresses private</a:t>
            </a:r>
          </a:p>
          <a:p>
            <a:pPr algn="l">
              <a:spcAft>
                <a:spcPts val="900"/>
              </a:spcAft>
            </a:pPr>
            <a:r>
              <a:rPr sz="1300" b="1" lang="en-GB">
                <a:solidFill>
                  <a:schemeClr val="accent1"/>
                </a:solidFill>
              </a:rPr>
              <a:t>4  </a:t>
            </a:r>
            <a:r>
              <a:rPr sz="1300" b="1" lang="en-GB">
                <a:solidFill>
                  <a:schemeClr val="tx2"/>
                </a:solidFill>
              </a:rPr>
              <a:t>Tick </a:t>
            </a:r>
            <a:r>
              <a:rPr sz="1300" b="0" lang="en-GB">
                <a:solidFill>
                  <a:schemeClr val="tx1"/>
                </a:solidFill>
              </a:rPr>
              <a:t>Block command line pushes that expose my email</a:t>
            </a:r>
          </a:p>
          <a:p>
            <a:pPr algn="l">
              <a:spcAft>
                <a:spcPts val="900"/>
              </a:spcAft>
            </a:pPr>
            <a:r>
              <a:rPr sz="1300" b="1" lang="en-GB">
                <a:solidFill>
                  <a:schemeClr val="accent1"/>
                </a:solidFill>
              </a:rPr>
              <a:t>5  </a:t>
            </a:r>
            <a:r>
              <a:rPr sz="1300" b="1" lang="en-GB">
                <a:solidFill>
                  <a:schemeClr val="tx2"/>
                </a:solidFill>
              </a:rPr>
              <a:t>Copy </a:t>
            </a:r>
            <a:r>
              <a:rPr sz="1300" b="0" lang="en-GB">
                <a:solidFill>
                  <a:schemeClr val="tx1"/>
                </a:solidFill>
              </a:rPr>
              <a:t>the noreply address shown there</a:t>
            </a:r>
          </a:p>
        </p:txBody>
      </p:sp>
      <p:sp>
        <p:nvSpPr>
          <p:cNvPr id="15" name="Noreply caption bar"/>
          <p:cNvSpPr/>
          <p:nvPr/>
        </p:nvSpPr>
        <p:spPr>
          <a:xfrm>
            <a:off x="5532120" y="1234440"/>
            <a:ext cx="31546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oreply caption"/>
          <p:cNvSpPr txBox="1"/>
          <p:nvPr/>
        </p:nvSpPr>
        <p:spPr>
          <a:xfrm>
            <a:off x="5641848" y="1234440"/>
            <a:ext cx="29352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Your noreply address (example)</a:t>
            </a:r>
          </a:p>
        </p:txBody>
      </p:sp>
      <p:sp>
        <p:nvSpPr>
          <p:cNvPr id="17" name="Noreply box"/>
          <p:cNvSpPr/>
          <p:nvPr/>
        </p:nvSpPr>
        <p:spPr>
          <a:xfrm>
            <a:off x="5532120" y="1508760"/>
            <a:ext cx="315468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oreply code"/>
          <p:cNvSpPr txBox="1"/>
          <p:nvPr/>
        </p:nvSpPr>
        <p:spPr>
          <a:xfrm>
            <a:off x="5669280" y="1600200"/>
            <a:ext cx="2880360" cy="5486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1234567+anna-berger@</a:t>
            </a:r>
          </a:p>
          <a:p>
            <a:pPr algn="l">
              <a:spcAft>
                <a:spcPts val="0"/>
              </a:spcAft>
            </a:pPr>
            <a:r>
              <a:rPr sz="1100" b="0" lang="en-GB">
                <a:solidFill>
                  <a:schemeClr val="bg1"/>
                </a:solidFill>
                <a:latin typeface="Consolas"/>
              </a:rPr>
              <a:t>  users.noreply.github.com</a:t>
            </a:r>
          </a:p>
        </p:txBody>
      </p:sp>
      <p:sp>
        <p:nvSpPr>
          <p:cNvPr id="19" name="Email rows row 1"/>
          <p:cNvSpPr/>
          <p:nvPr/>
        </p:nvSpPr>
        <p:spPr>
          <a:xfrm>
            <a:off x="5532120" y="2377440"/>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mail rows bar 1"/>
          <p:cNvSpPr/>
          <p:nvPr/>
        </p:nvSpPr>
        <p:spPr>
          <a:xfrm>
            <a:off x="5532120" y="2377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mail rows text 1"/>
          <p:cNvSpPr txBox="1"/>
          <p:nvPr/>
        </p:nvSpPr>
        <p:spPr>
          <a:xfrm>
            <a:off x="5733288" y="2377440"/>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Public commits </a:t>
            </a:r>
            <a:r>
              <a:rPr sz="1200" b="0" lang="en-GB">
                <a:solidFill>
                  <a:schemeClr val="tx1"/>
                </a:solidFill>
              </a:rPr>
              <a:t>show the commit e-mail to anyone</a:t>
            </a:r>
          </a:p>
        </p:txBody>
      </p:sp>
      <p:sp>
        <p:nvSpPr>
          <p:cNvPr id="22" name="Email rows row 2"/>
          <p:cNvSpPr/>
          <p:nvPr/>
        </p:nvSpPr>
        <p:spPr>
          <a:xfrm>
            <a:off x="5532120" y="3163824"/>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mail rows bar 2"/>
          <p:cNvSpPr/>
          <p:nvPr/>
        </p:nvSpPr>
        <p:spPr>
          <a:xfrm>
            <a:off x="5532120" y="316382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mail rows text 2"/>
          <p:cNvSpPr txBox="1"/>
          <p:nvPr/>
        </p:nvSpPr>
        <p:spPr>
          <a:xfrm>
            <a:off x="5733288" y="3163824"/>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The noreply address </a:t>
            </a:r>
            <a:r>
              <a:rPr sz="1200" b="0" lang="en-GB">
                <a:solidFill>
                  <a:schemeClr val="tx1"/>
                </a:solidFill>
              </a:rPr>
              <a:t>still links commits to you</a:t>
            </a:r>
          </a:p>
        </p:txBody>
      </p:sp>
      <p:sp>
        <p:nvSpPr>
          <p:cNvPr id="25" name="Email WU box"/>
          <p:cNvSpPr/>
          <p:nvPr/>
        </p:nvSpPr>
        <p:spPr>
          <a:xfrm>
            <a:off x="457200" y="406908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Email WU" descr=""/>
          <p:cNvPicPr>
            <a:picLocks noChangeAspect="1"/>
          </p:cNvPicPr>
          <p:nvPr/>
        </p:nvPicPr>
        <p:blipFill>
          <a:blip r:embed="rId4"/>
          <a:stretch>
            <a:fillRect/>
          </a:stretch>
        </p:blipFill>
        <p:spPr>
          <a:xfrm>
            <a:off x="658368" y="4251960"/>
            <a:ext cx="365760" cy="365760"/>
          </a:xfrm>
          <a:prstGeom prst="rect">
            <a:avLst/>
          </a:prstGeom>
        </p:spPr>
      </p:pic>
      <p:sp>
        <p:nvSpPr>
          <p:cNvPr id="27" name="Email WU text"/>
          <p:cNvSpPr txBox="1"/>
          <p:nvPr/>
        </p:nvSpPr>
        <p:spPr>
          <a:xfrm>
            <a:off x="1207008" y="406908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WU address: </a:t>
            </a:r>
            <a:r>
              <a:rPr sz="1200" b="0" lang="en-GB">
                <a:solidFill>
                  <a:schemeClr val="bg1"/>
                </a:solidFill>
              </a:rPr>
              <a:t>keep it verified on your account. GitHub Education checks it, even when your commits use the noreply address.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12 · who qualifies, what you get, how to apply</a:t>
            </a:r>
          </a:p>
        </p:txBody>
      </p:sp>
      <p:sp>
        <p:nvSpPr>
          <p:cNvPr id="3" name="Title 2"/>
          <p:cNvSpPr>
            <a:spLocks noGrp="1"/>
          </p:cNvSpPr>
          <p:nvPr>
            <p:ph type="ctrTitle"/>
          </p:nvPr>
        </p:nvSpPr>
        <p:spPr/>
        <p:txBody>
          <a:bodyPr/>
          <a:lstStyle/>
          <a:p>
            <a:r>
              <a:rPr sz="1600" lang="en-GB"/>
              <a:t>GitHub Education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GitHub Education: what students get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et 1 body"/>
          <p:cNvSpPr/>
          <p:nvPr/>
        </p:nvSpPr>
        <p:spPr>
          <a:xfrm>
            <a:off x="457200" y="164592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et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et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GitHub Copilot</a:t>
            </a:r>
          </a:p>
        </p:txBody>
      </p:sp>
      <p:pic>
        <p:nvPicPr>
          <p:cNvPr id="13" name="Icon Get 1" descr=""/>
          <p:cNvPicPr>
            <a:picLocks noChangeAspect="1"/>
          </p:cNvPicPr>
          <p:nvPr/>
        </p:nvPicPr>
        <p:blipFill>
          <a:blip r:embed="rId3"/>
          <a:stretch>
            <a:fillRect/>
          </a:stretch>
        </p:blipFill>
        <p:spPr>
          <a:xfrm>
            <a:off x="2670048" y="1284732"/>
            <a:ext cx="310896" cy="310896"/>
          </a:xfrm>
          <a:prstGeom prst="rect">
            <a:avLst/>
          </a:prstGeom>
        </p:spPr>
      </p:pic>
      <p:sp>
        <p:nvSpPr>
          <p:cNvPr id="14" name="Get 1 text"/>
          <p:cNvSpPr txBox="1"/>
          <p:nvPr/>
        </p:nvSpPr>
        <p:spPr>
          <a:xfrm>
            <a:off x="621792" y="178308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Free for verified students, with premium features</a:t>
            </a:r>
          </a:p>
          <a:p>
            <a:pPr algn="l" marL="182880" indent="-182880">
              <a:spcAft>
                <a:spcPts val="600"/>
              </a:spcAft>
              <a:buClr>
                <a:schemeClr val="accent1"/>
              </a:buClr>
              <a:buFont typeface="Arial"/>
              <a:buChar char="▪"/>
            </a:pPr>
            <a:r>
              <a:rPr sz="1300" b="0" lang="en-GB">
                <a:solidFill>
                  <a:schemeClr val="tx1"/>
                </a:solidFill>
              </a:rPr>
              <a:t>Set up in Parts 7 to 12</a:t>
            </a:r>
          </a:p>
        </p:txBody>
      </p:sp>
      <p:sp>
        <p:nvSpPr>
          <p:cNvPr id="15" name="Get 2 body"/>
          <p:cNvSpPr/>
          <p:nvPr/>
        </p:nvSpPr>
        <p:spPr>
          <a:xfrm>
            <a:off x="3246120" y="164592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Get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Get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Codespaces</a:t>
            </a:r>
          </a:p>
        </p:txBody>
      </p:sp>
      <p:pic>
        <p:nvPicPr>
          <p:cNvPr id="18" name="Icon Get 2" descr=""/>
          <p:cNvPicPr>
            <a:picLocks noChangeAspect="1"/>
          </p:cNvPicPr>
          <p:nvPr/>
        </p:nvPicPr>
        <p:blipFill>
          <a:blip r:embed="rId4"/>
          <a:stretch>
            <a:fillRect/>
          </a:stretch>
        </p:blipFill>
        <p:spPr>
          <a:xfrm>
            <a:off x="5458968" y="1284732"/>
            <a:ext cx="310896" cy="310896"/>
          </a:xfrm>
          <a:prstGeom prst="rect">
            <a:avLst/>
          </a:prstGeom>
        </p:spPr>
      </p:pic>
      <p:sp>
        <p:nvSpPr>
          <p:cNvPr id="19" name="Get 2 text"/>
          <p:cNvSpPr txBox="1"/>
          <p:nvPr/>
        </p:nvSpPr>
        <p:spPr>
          <a:xfrm>
            <a:off x="3410712" y="178308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Cloud computers: up to 180 core hours a month</a:t>
            </a:r>
          </a:p>
          <a:p>
            <a:pPr algn="l" marL="182880" indent="-182880">
              <a:spcAft>
                <a:spcPts val="600"/>
              </a:spcAft>
              <a:buClr>
                <a:schemeClr val="accent1"/>
              </a:buClr>
              <a:buFont typeface="Arial"/>
              <a:buChar char="▪"/>
            </a:pPr>
            <a:r>
              <a:rPr sz="1300" b="0" lang="en-GB">
                <a:solidFill>
                  <a:schemeClr val="tx1"/>
                </a:solidFill>
              </a:rPr>
              <a:t>Not needed for this course</a:t>
            </a:r>
          </a:p>
        </p:txBody>
      </p:sp>
      <p:sp>
        <p:nvSpPr>
          <p:cNvPr id="20" name="Get 3 body"/>
          <p:cNvSpPr/>
          <p:nvPr/>
        </p:nvSpPr>
        <p:spPr>
          <a:xfrm>
            <a:off x="6035040" y="164592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Get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Get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Developer Pack</a:t>
            </a:r>
          </a:p>
        </p:txBody>
      </p:sp>
      <p:pic>
        <p:nvPicPr>
          <p:cNvPr id="23" name="Icon Get 3" descr=""/>
          <p:cNvPicPr>
            <a:picLocks noChangeAspect="1"/>
          </p:cNvPicPr>
          <p:nvPr/>
        </p:nvPicPr>
        <p:blipFill>
          <a:blip r:embed="rId5"/>
          <a:stretch>
            <a:fillRect/>
          </a:stretch>
        </p:blipFill>
        <p:spPr>
          <a:xfrm>
            <a:off x="8247888" y="1284732"/>
            <a:ext cx="310896" cy="310896"/>
          </a:xfrm>
          <a:prstGeom prst="rect">
            <a:avLst/>
          </a:prstGeom>
        </p:spPr>
      </p:pic>
      <p:sp>
        <p:nvSpPr>
          <p:cNvPr id="24" name="Get 3 text"/>
          <p:cNvSpPr txBox="1"/>
          <p:nvPr/>
        </p:nvSpPr>
        <p:spPr>
          <a:xfrm>
            <a:off x="6199632" y="178308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Free offers from partner companies</a:t>
            </a:r>
          </a:p>
          <a:p>
            <a:pPr algn="l" marL="182880" indent="-182880">
              <a:spcAft>
                <a:spcPts val="600"/>
              </a:spcAft>
              <a:buClr>
                <a:schemeClr val="accent1"/>
              </a:buClr>
              <a:buFont typeface="Arial"/>
              <a:buChar char="▪"/>
            </a:pPr>
            <a:r>
              <a:rPr sz="1300" b="0" lang="en-GB">
                <a:solidFill>
                  <a:schemeClr val="tx1"/>
                </a:solidFill>
              </a:rPr>
              <a:t>Tools, domains, learning platforms</a:t>
            </a:r>
          </a:p>
        </p:txBody>
      </p:sp>
      <p:sp>
        <p:nvSpPr>
          <p:cNvPr id="25" name="Get rows row 1"/>
          <p:cNvSpPr/>
          <p:nvPr/>
        </p:nvSpPr>
        <p:spPr>
          <a:xfrm>
            <a:off x="457200" y="36118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Get rows bar 1"/>
          <p:cNvSpPr/>
          <p:nvPr/>
        </p:nvSpPr>
        <p:spPr>
          <a:xfrm>
            <a:off x="457200" y="36118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Get rows text 1"/>
          <p:cNvSpPr txBox="1"/>
          <p:nvPr/>
        </p:nvSpPr>
        <p:spPr>
          <a:xfrm>
            <a:off x="658368" y="36118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Portal: </a:t>
            </a:r>
            <a:r>
              <a:rPr sz="1200" b="0" lang="en-GB">
                <a:solidFill>
                  <a:schemeClr val="tx1"/>
                </a:solidFill>
              </a:rPr>
              <a:t>education.github.com shows your benefits once you are verified</a:t>
            </a:r>
          </a:p>
        </p:txBody>
      </p:sp>
      <p:sp>
        <p:nvSpPr>
          <p:cNvPr id="28" name="Get rows row 2"/>
          <p:cNvSpPr/>
          <p:nvPr/>
        </p:nvSpPr>
        <p:spPr>
          <a:xfrm>
            <a:off x="457200" y="41330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Get rows bar 2"/>
          <p:cNvSpPr/>
          <p:nvPr/>
        </p:nvSpPr>
        <p:spPr>
          <a:xfrm>
            <a:off x="457200" y="41330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Get rows text 2"/>
          <p:cNvSpPr txBox="1"/>
          <p:nvPr/>
        </p:nvSpPr>
        <p:spPr>
          <a:xfrm>
            <a:off x="658368" y="41330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Time-limited: </a:t>
            </a:r>
            <a:r>
              <a:rPr sz="1200" b="0" lang="en-GB">
                <a:solidFill>
                  <a:schemeClr val="tx1"/>
                </a:solidFill>
              </a:rPr>
              <a:t>GitHub re-checks your status; benefits end when you are no longer a student</a:t>
            </a:r>
          </a:p>
        </p:txBody>
      </p:sp>
      <p:sp>
        <p:nvSpPr>
          <p:cNvPr id="31" name="Sources"/>
          <p:cNvSpPr txBox="1"/>
          <p:nvPr/>
        </p:nvSpPr>
        <p:spPr>
          <a:xfrm>
            <a:off x="457200" y="470916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GitHub Docs, About GitHub Education for students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Who qualifies, and which proof works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alify card body"/>
          <p:cNvSpPr/>
          <p:nvPr/>
        </p:nvSpPr>
        <p:spPr>
          <a:xfrm>
            <a:off x="457200" y="1645920"/>
            <a:ext cx="40233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alify card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alify card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 qualify if you</a:t>
            </a:r>
          </a:p>
        </p:txBody>
      </p:sp>
      <p:pic>
        <p:nvPicPr>
          <p:cNvPr id="13" name="Icon Qualify card" descr=""/>
          <p:cNvPicPr>
            <a:picLocks noChangeAspect="1"/>
          </p:cNvPicPr>
          <p:nvPr/>
        </p:nvPicPr>
        <p:blipFill>
          <a:blip r:embed="rId3"/>
          <a:stretch>
            <a:fillRect/>
          </a:stretch>
        </p:blipFill>
        <p:spPr>
          <a:xfrm>
            <a:off x="4041648" y="1284732"/>
            <a:ext cx="310896" cy="310896"/>
          </a:xfrm>
          <a:prstGeom prst="rect">
            <a:avLst/>
          </a:prstGeom>
        </p:spPr>
      </p:pic>
      <p:sp>
        <p:nvSpPr>
          <p:cNvPr id="14" name="Qualify card text"/>
          <p:cNvSpPr txBox="1"/>
          <p:nvPr/>
        </p:nvSpPr>
        <p:spPr>
          <a:xfrm>
            <a:off x="621792" y="1783080"/>
            <a:ext cx="37216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Study in a degree programme (WU: yes)</a:t>
            </a:r>
          </a:p>
          <a:p>
            <a:pPr algn="l" marL="182880" indent="-182880">
              <a:spcAft>
                <a:spcPts val="600"/>
              </a:spcAft>
              <a:buClr>
                <a:schemeClr val="accent1"/>
              </a:buClr>
              <a:buFont typeface="Arial"/>
              <a:buChar char="▪"/>
            </a:pPr>
            <a:r>
              <a:rPr sz="1300" b="0" lang="en-GB">
                <a:solidFill>
                  <a:schemeClr val="tx1"/>
                </a:solidFill>
              </a:rPr>
              <a:t>Have your own personal GitHub account</a:t>
            </a:r>
          </a:p>
          <a:p>
            <a:pPr algn="l" marL="182880" indent="-182880">
              <a:spcAft>
                <a:spcPts val="600"/>
              </a:spcAft>
              <a:buClr>
                <a:schemeClr val="accent1"/>
              </a:buClr>
              <a:buFont typeface="Arial"/>
              <a:buChar char="▪"/>
            </a:pPr>
            <a:r>
              <a:rPr sz="1300" b="0" lang="en-GB">
                <a:solidFill>
                  <a:schemeClr val="tx1"/>
                </a:solidFill>
              </a:rPr>
              <a:t>Are at least 13 years old</a:t>
            </a:r>
          </a:p>
          <a:p>
            <a:pPr algn="l" marL="182880" indent="-182880">
              <a:spcAft>
                <a:spcPts val="600"/>
              </a:spcAft>
              <a:buClr>
                <a:schemeClr val="accent1"/>
              </a:buClr>
              <a:buFont typeface="Arial"/>
              <a:buChar char="▪"/>
            </a:pPr>
            <a:r>
              <a:rPr sz="1300" b="0" lang="en-GB">
                <a:solidFill>
                  <a:schemeClr val="tx1"/>
                </a:solidFill>
              </a:rPr>
              <a:t>Can prove current enrolment</a:t>
            </a:r>
          </a:p>
        </p:txBody>
      </p:sp>
      <p:sp>
        <p:nvSpPr>
          <p:cNvPr id="15" name="Proof card body"/>
          <p:cNvSpPr/>
          <p:nvPr/>
        </p:nvSpPr>
        <p:spPr>
          <a:xfrm>
            <a:off x="4663440" y="1645920"/>
            <a:ext cx="40233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oof card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oof card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Proof GitHub accepts</a:t>
            </a:r>
          </a:p>
        </p:txBody>
      </p:sp>
      <p:pic>
        <p:nvPicPr>
          <p:cNvPr id="18" name="Icon Proof card" descr=""/>
          <p:cNvPicPr>
            <a:picLocks noChangeAspect="1"/>
          </p:cNvPicPr>
          <p:nvPr/>
        </p:nvPicPr>
        <p:blipFill>
          <a:blip r:embed="rId4"/>
          <a:stretch>
            <a:fillRect/>
          </a:stretch>
        </p:blipFill>
        <p:spPr>
          <a:xfrm>
            <a:off x="8247888" y="1284732"/>
            <a:ext cx="310896" cy="310896"/>
          </a:xfrm>
          <a:prstGeom prst="rect">
            <a:avLst/>
          </a:prstGeom>
        </p:spPr>
      </p:pic>
      <p:sp>
        <p:nvSpPr>
          <p:cNvPr id="19" name="Proof card text"/>
          <p:cNvSpPr txBox="1"/>
          <p:nvPr/>
        </p:nvSpPr>
        <p:spPr>
          <a:xfrm>
            <a:off x="4828032" y="1783080"/>
            <a:ext cx="37216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Student ID showing the current enrolment date</a:t>
            </a:r>
          </a:p>
          <a:p>
            <a:pPr algn="l" marL="182880" indent="-182880">
              <a:spcAft>
                <a:spcPts val="600"/>
              </a:spcAft>
              <a:buClr>
                <a:schemeClr val="accent1"/>
              </a:buClr>
              <a:buFont typeface="Arial"/>
              <a:buChar char="▪"/>
            </a:pPr>
            <a:r>
              <a:rPr sz="1300" b="0" lang="en-GB">
                <a:solidFill>
                  <a:schemeClr val="tx1"/>
                </a:solidFill>
              </a:rPr>
              <a:t>Enrolment confirmation (Studienbestätigung)</a:t>
            </a:r>
          </a:p>
          <a:p>
            <a:pPr algn="l" marL="182880" indent="-182880">
              <a:spcAft>
                <a:spcPts val="600"/>
              </a:spcAft>
              <a:buClr>
                <a:schemeClr val="accent1"/>
              </a:buClr>
              <a:buFont typeface="Arial"/>
              <a:buChar char="▪"/>
            </a:pPr>
            <a:r>
              <a:rPr sz="1300" b="0" lang="en-GB">
                <a:solidFill>
                  <a:schemeClr val="tx1"/>
                </a:solidFill>
              </a:rPr>
              <a:t>Transcript of records</a:t>
            </a:r>
          </a:p>
          <a:p>
            <a:pPr algn="l" marL="182880" indent="-182880">
              <a:spcAft>
                <a:spcPts val="600"/>
              </a:spcAft>
              <a:buClr>
                <a:schemeClr val="accent1"/>
              </a:buClr>
              <a:buFont typeface="Arial"/>
              <a:buChar char="▪"/>
            </a:pPr>
            <a:r>
              <a:rPr sz="1300" b="0" lang="en-GB">
                <a:solidFill>
                  <a:schemeClr val="tx1"/>
                </a:solidFill>
              </a:rPr>
              <a:t>Your class schedule</a:t>
            </a:r>
          </a:p>
        </p:txBody>
      </p:sp>
      <p:sp>
        <p:nvSpPr>
          <p:cNvPr id="20" name="Qualify mail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Qualify mail" descr=""/>
          <p:cNvPicPr>
            <a:picLocks noChangeAspect="1"/>
          </p:cNvPicPr>
          <p:nvPr/>
        </p:nvPicPr>
        <p:blipFill>
          <a:blip r:embed="rId5"/>
          <a:stretch>
            <a:fillRect/>
          </a:stretch>
        </p:blipFill>
        <p:spPr>
          <a:xfrm>
            <a:off x="658368" y="4114800"/>
            <a:ext cx="365760" cy="365760"/>
          </a:xfrm>
          <a:prstGeom prst="rect">
            <a:avLst/>
          </a:prstGeom>
        </p:spPr>
      </p:pic>
      <p:sp>
        <p:nvSpPr>
          <p:cNvPr id="22" name="Qualify mail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Academic e-mail first: </a:t>
            </a:r>
            <a:r>
              <a:rPr sz="1200" b="0" lang="en-GB">
                <a:solidFill>
                  <a:schemeClr val="bg1"/>
                </a:solidFill>
              </a:rPr>
              <a:t>add and verify your WU address in GitHub before you apply; lower case, no plus sign (anna+x@...).</a:t>
            </a:r>
          </a:p>
        </p:txBody>
      </p:sp>
      <p:sp>
        <p:nvSpPr>
          <p:cNvPr id="23"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GitHub Docs, Apply to GitHub Education as a student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Apply in six steps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pply row 1"/>
          <p:cNvSpPr/>
          <p:nvPr/>
        </p:nvSpPr>
        <p:spPr>
          <a:xfrm>
            <a:off x="457200" y="1234440"/>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pply number 1"/>
          <p:cNvSpPr/>
          <p:nvPr/>
        </p:nvSpPr>
        <p:spPr>
          <a:xfrm>
            <a:off x="594360" y="13167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Apply text 1"/>
          <p:cNvSpPr txBox="1"/>
          <p:nvPr/>
        </p:nvSpPr>
        <p:spPr>
          <a:xfrm>
            <a:off x="1051560" y="1234440"/>
            <a:ext cx="4526280" cy="475488"/>
          </a:xfrm>
          <a:prstGeom prst="rect">
            <a:avLst/>
          </a:prstGeom>
          <a:noFill/>
        </p:spPr>
        <p:txBody>
          <a:bodyPr wrap="square" lIns="0" rIns="0" tIns="0" bIns="0" anchor="ctr">
            <a:noAutofit/>
          </a:bodyPr>
          <a:lstStyle/>
          <a:p>
            <a:pPr algn="l">
              <a:spcAft>
                <a:spcPts val="400"/>
              </a:spcAft>
            </a:pPr>
            <a:r>
              <a:rPr sz="1200" b="0" lang="en-GB">
                <a:solidFill>
                  <a:schemeClr val="tx1"/>
                </a:solidFill>
              </a:rPr>
              <a:t>Open </a:t>
            </a:r>
            <a:r>
              <a:rPr sz="1200" b="0" lang="en-GB">
                <a:solidFill>
                  <a:schemeClr val="accent1"/>
                </a:solidFill>
                <a:hlinkClick r:id="rId3"/>
              </a:rPr>
              <a:t>github.com/settings/education/benefits</a:t>
            </a:r>
          </a:p>
        </p:txBody>
      </p:sp>
      <p:sp>
        <p:nvSpPr>
          <p:cNvPr id="13" name="Apply row 2"/>
          <p:cNvSpPr/>
          <p:nvPr/>
        </p:nvSpPr>
        <p:spPr>
          <a:xfrm>
            <a:off x="457200" y="1773936"/>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Apply number 2"/>
          <p:cNvSpPr/>
          <p:nvPr/>
        </p:nvSpPr>
        <p:spPr>
          <a:xfrm>
            <a:off x="594360" y="185623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Apply text 2"/>
          <p:cNvSpPr txBox="1"/>
          <p:nvPr/>
        </p:nvSpPr>
        <p:spPr>
          <a:xfrm>
            <a:off x="1051560" y="1773936"/>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Click </a:t>
            </a:r>
            <a:r>
              <a:rPr sz="1200" b="0" lang="en-GB">
                <a:solidFill>
                  <a:schemeClr val="tx1"/>
                </a:solidFill>
              </a:rPr>
              <a:t>Start an application; choose Student</a:t>
            </a:r>
          </a:p>
        </p:txBody>
      </p:sp>
      <p:sp>
        <p:nvSpPr>
          <p:cNvPr id="16" name="Apply row 3"/>
          <p:cNvSpPr/>
          <p:nvPr/>
        </p:nvSpPr>
        <p:spPr>
          <a:xfrm>
            <a:off x="457200" y="2313432"/>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pply number 3"/>
          <p:cNvSpPr/>
          <p:nvPr/>
        </p:nvSpPr>
        <p:spPr>
          <a:xfrm>
            <a:off x="594360" y="239572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Apply text 3"/>
          <p:cNvSpPr txBox="1"/>
          <p:nvPr/>
        </p:nvSpPr>
        <p:spPr>
          <a:xfrm>
            <a:off x="1051560" y="2313432"/>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School: </a:t>
            </a:r>
            <a:r>
              <a:rPr sz="1200" b="0" lang="en-GB">
                <a:solidFill>
                  <a:schemeClr val="tx1"/>
                </a:solidFill>
              </a:rPr>
              <a:t>Vienna University of Economics and Business</a:t>
            </a:r>
          </a:p>
        </p:txBody>
      </p:sp>
      <p:sp>
        <p:nvSpPr>
          <p:cNvPr id="19" name="Apply row 4"/>
          <p:cNvSpPr/>
          <p:nvPr/>
        </p:nvSpPr>
        <p:spPr>
          <a:xfrm>
            <a:off x="457200" y="2852928"/>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pply number 4"/>
          <p:cNvSpPr/>
          <p:nvPr/>
        </p:nvSpPr>
        <p:spPr>
          <a:xfrm>
            <a:off x="594360" y="29352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Apply text 4"/>
          <p:cNvSpPr txBox="1"/>
          <p:nvPr/>
        </p:nvSpPr>
        <p:spPr>
          <a:xfrm>
            <a:off x="1051560" y="2852928"/>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E-mail: </a:t>
            </a:r>
            <a:r>
              <a:rPr sz="1200" b="0" lang="en-GB">
                <a:solidFill>
                  <a:schemeClr val="tx1"/>
                </a:solidFill>
              </a:rPr>
              <a:t>select your verified WU address</a:t>
            </a:r>
          </a:p>
        </p:txBody>
      </p:sp>
      <p:sp>
        <p:nvSpPr>
          <p:cNvPr id="22" name="Apply row 5"/>
          <p:cNvSpPr/>
          <p:nvPr/>
        </p:nvSpPr>
        <p:spPr>
          <a:xfrm>
            <a:off x="457200" y="3392424"/>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pply number 5"/>
          <p:cNvSpPr/>
          <p:nvPr/>
        </p:nvSpPr>
        <p:spPr>
          <a:xfrm>
            <a:off x="594360" y="347472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Apply text 5"/>
          <p:cNvSpPr txBox="1"/>
          <p:nvPr/>
        </p:nvSpPr>
        <p:spPr>
          <a:xfrm>
            <a:off x="1051560" y="3392424"/>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Proof: </a:t>
            </a:r>
            <a:r>
              <a:rPr sz="1200" b="0" lang="en-GB">
                <a:solidFill>
                  <a:schemeClr val="tx1"/>
                </a:solidFill>
              </a:rPr>
              <a:t>upload or photograph your document</a:t>
            </a:r>
          </a:p>
        </p:txBody>
      </p:sp>
      <p:sp>
        <p:nvSpPr>
          <p:cNvPr id="25" name="Apply row 6"/>
          <p:cNvSpPr/>
          <p:nvPr/>
        </p:nvSpPr>
        <p:spPr>
          <a:xfrm>
            <a:off x="457200" y="3931920"/>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Apply number 6"/>
          <p:cNvSpPr/>
          <p:nvPr/>
        </p:nvSpPr>
        <p:spPr>
          <a:xfrm>
            <a:off x="594360" y="40142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Apply text 6"/>
          <p:cNvSpPr txBox="1"/>
          <p:nvPr/>
        </p:nvSpPr>
        <p:spPr>
          <a:xfrm>
            <a:off x="1051560" y="3931920"/>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Submit </a:t>
            </a:r>
            <a:r>
              <a:rPr sz="1200" b="0" lang="en-GB">
                <a:solidFill>
                  <a:schemeClr val="tx1"/>
                </a:solidFill>
              </a:rPr>
              <a:t>and wait for the e-mail with the decision</a:t>
            </a:r>
          </a:p>
        </p:txBody>
      </p:sp>
      <p:sp>
        <p:nvSpPr>
          <p:cNvPr id="28" name="Apply tips box"/>
          <p:cNvSpPr/>
          <p:nvPr/>
        </p:nvSpPr>
        <p:spPr>
          <a:xfrm>
            <a:off x="5852160" y="1234440"/>
            <a:ext cx="2834640" cy="37307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Apply tips head"/>
          <p:cNvSpPr txBox="1"/>
          <p:nvPr/>
        </p:nvSpPr>
        <p:spPr>
          <a:xfrm>
            <a:off x="5989320" y="1325880"/>
            <a:ext cx="260604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Photo tips</a:t>
            </a:r>
          </a:p>
        </p:txBody>
      </p:sp>
      <p:sp>
        <p:nvSpPr>
          <p:cNvPr id="30" name="Apply tips"/>
          <p:cNvSpPr txBox="1"/>
          <p:nvPr/>
        </p:nvSpPr>
        <p:spPr>
          <a:xfrm>
            <a:off x="5989320" y="1737360"/>
            <a:ext cx="2606040" cy="3108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200" b="0" lang="en-GB">
                <a:solidFill>
                  <a:schemeClr val="tx1"/>
                </a:solidFill>
              </a:rPr>
              <a:t>Whole document in the frame</a:t>
            </a:r>
          </a:p>
          <a:p>
            <a:pPr algn="l" marL="182880" indent="-182880">
              <a:spcAft>
                <a:spcPts val="600"/>
              </a:spcAft>
              <a:buClr>
                <a:schemeClr val="accent1"/>
              </a:buClr>
              <a:buFont typeface="Arial"/>
              <a:buChar char="▪"/>
            </a:pPr>
            <a:r>
              <a:rPr sz="1200" b="0" lang="en-GB">
                <a:solidFill>
                  <a:schemeClr val="tx1"/>
                </a:solidFill>
              </a:rPr>
              <a:t>Name, school and current date readable</a:t>
            </a:r>
          </a:p>
          <a:p>
            <a:pPr algn="l" marL="182880" indent="-182880">
              <a:spcAft>
                <a:spcPts val="600"/>
              </a:spcAft>
              <a:buClr>
                <a:schemeClr val="accent1"/>
              </a:buClr>
              <a:buFont typeface="Arial"/>
              <a:buChar char="▪"/>
            </a:pPr>
            <a:r>
              <a:rPr sz="1200" b="0" lang="en-GB">
                <a:solidFill>
                  <a:schemeClr val="tx1"/>
                </a:solidFill>
              </a:rPr>
              <a:t>Daylight, no glare</a:t>
            </a:r>
          </a:p>
          <a:p>
            <a:pPr algn="l" marL="182880" indent="-182880">
              <a:spcAft>
                <a:spcPts val="600"/>
              </a:spcAft>
              <a:buClr>
                <a:schemeClr val="accent1"/>
              </a:buClr>
              <a:buFont typeface="Arial"/>
              <a:buChar char="▪"/>
            </a:pPr>
            <a:r>
              <a:rPr sz="1200" b="0" lang="en-GB">
                <a:solidFill>
                  <a:schemeClr val="tx1"/>
                </a:solidFill>
              </a:rPr>
              <a:t>Allow camera and location if the browser asks</a:t>
            </a:r>
          </a:p>
          <a:p>
            <a:pPr algn="l" marL="182880" indent="-182880">
              <a:spcAft>
                <a:spcPts val="600"/>
              </a:spcAft>
              <a:buClr>
                <a:schemeClr val="accent1"/>
              </a:buClr>
              <a:buFont typeface="Arial"/>
              <a:buChar char="▪"/>
            </a:pPr>
            <a:r>
              <a:rPr sz="1200" b="0" lang="en-GB">
                <a:solidFill>
                  <a:schemeClr val="tx1"/>
                </a:solidFill>
              </a:rPr>
              <a:t>Check the status on the same page</a:t>
            </a:r>
          </a:p>
        </p:txBody>
      </p:sp>
      <p:sp>
        <p:nvSpPr>
          <p:cNvPr id="31" name="Apply wait box"/>
          <p:cNvSpPr/>
          <p:nvPr/>
        </p:nvSpPr>
        <p:spPr>
          <a:xfrm>
            <a:off x="457200" y="4480560"/>
            <a:ext cx="5257800" cy="4846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Apply wait" descr=""/>
          <p:cNvPicPr>
            <a:picLocks noChangeAspect="1"/>
          </p:cNvPicPr>
          <p:nvPr/>
        </p:nvPicPr>
        <p:blipFill>
          <a:blip r:embed="rId4"/>
          <a:stretch>
            <a:fillRect/>
          </a:stretch>
        </p:blipFill>
        <p:spPr>
          <a:xfrm>
            <a:off x="658368" y="4539996"/>
            <a:ext cx="365760" cy="365760"/>
          </a:xfrm>
          <a:prstGeom prst="rect">
            <a:avLst/>
          </a:prstGeom>
        </p:spPr>
      </p:pic>
      <p:sp>
        <p:nvSpPr>
          <p:cNvPr id="33" name="Apply wait text"/>
          <p:cNvSpPr txBox="1"/>
          <p:nvPr/>
        </p:nvSpPr>
        <p:spPr>
          <a:xfrm>
            <a:off x="1207008" y="4480560"/>
            <a:ext cx="4343400" cy="484632"/>
          </a:xfrm>
          <a:prstGeom prst="rect">
            <a:avLst/>
          </a:prstGeom>
          <a:noFill/>
        </p:spPr>
        <p:txBody>
          <a:bodyPr wrap="square" lIns="0" rIns="0" tIns="0" bIns="0" anchor="ctr">
            <a:noAutofit/>
          </a:bodyPr>
          <a:lstStyle/>
          <a:p>
            <a:pPr algn="l">
              <a:spcAft>
                <a:spcPts val="400"/>
              </a:spcAft>
            </a:pPr>
            <a:r>
              <a:rPr sz="1200" b="1" lang="en-GB">
                <a:solidFill>
                  <a:schemeClr val="bg1"/>
                </a:solidFill>
              </a:rPr>
              <a:t>Minutes to several days: </a:t>
            </a:r>
            <a:r>
              <a:rPr sz="1200" b="0" lang="en-GB">
                <a:solidFill>
                  <a:schemeClr val="bg1"/>
                </a:solidFill>
              </a:rPr>
              <a:t>carry on with Part 3 meanwhile.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Reject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291840"/>
                <a:gridCol w="4937760"/>
              </a:tblGrid>
              <a:tr h="370840">
                <a:tc>
                  <a:txBody>
                    <a:bodyPr/>
                    <a:lstStyle/>
                    <a:p>
                      <a:r>
                        <a:rPr sz="1300" lang="en-GB"/>
                        <a:t>Reason</a:t>
                      </a:r>
                    </a:p>
                  </a:txBody>
                  <a:tcPr marT="55000" marB="55000"/>
                </a:tc>
                <a:tc>
                  <a:txBody>
                    <a:bodyPr/>
                    <a:lstStyle/>
                    <a:p>
                      <a:r>
                        <a:rPr sz="1300" lang="en-GB"/>
                        <a:t>What to do</a:t>
                      </a:r>
                    </a:p>
                  </a:txBody>
                  <a:tcPr marT="55000" marB="55000"/>
                </a:tc>
              </a:tr>
              <a:tr h="370840">
                <a:tc>
                  <a:txBody>
                    <a:bodyPr/>
                    <a:lstStyle/>
                    <a:p>
                      <a:r>
                        <a:rPr sz="1200" b="1" lang="en-GB"/>
                        <a:t>Blurry document, or no current date</a:t>
                      </a:r>
                    </a:p>
                  </a:txBody>
                  <a:tcPr marT="55000" marB="55000"/>
                </a:tc>
                <a:tc>
                  <a:txBody>
                    <a:bodyPr/>
                    <a:lstStyle/>
                    <a:p>
                      <a:r>
                        <a:rPr sz="1200" lang="en-GB"/>
                        <a:t>Reapply with a sharp photo of a dated enrolment confirmation</a:t>
                      </a:r>
                    </a:p>
                  </a:txBody>
                  <a:tcPr marT="55000" marB="55000"/>
                </a:tc>
              </a:tr>
              <a:tr h="370840">
                <a:tc>
                  <a:txBody>
                    <a:bodyPr/>
                    <a:lstStyle/>
                    <a:p>
                      <a:r>
                        <a:rPr sz="1200" b="1" lang="en-GB"/>
                        <a:t>WU address not added or not verified</a:t>
                      </a:r>
                    </a:p>
                  </a:txBody>
                  <a:tcPr marT="55000" marB="55000"/>
                </a:tc>
                <a:tc>
                  <a:txBody>
                    <a:bodyPr/>
                    <a:lstStyle/>
                    <a:p>
                      <a:r>
                        <a:rPr sz="1200" lang="en-GB"/>
                        <a:t>Settings → Emails: add it, click the link in the confirmation e-mail</a:t>
                      </a:r>
                    </a:p>
                  </a:txBody>
                  <a:tcPr marT="55000" marB="55000"/>
                </a:tc>
              </a:tr>
              <a:tr h="370840">
                <a:tc>
                  <a:txBody>
                    <a:bodyPr/>
                    <a:lstStyle/>
                    <a:p>
                      <a:r>
                        <a:rPr sz="1200" b="1" lang="en-GB"/>
                        <a:t>Address with capitals or a plus sign</a:t>
                      </a:r>
                    </a:p>
                  </a:txBody>
                  <a:tcPr marT="55000" marB="55000"/>
                </a:tc>
                <a:tc>
                  <a:txBody>
                    <a:bodyPr/>
                    <a:lstStyle/>
                    <a:p>
                      <a:r>
                        <a:rPr sz="1200" lang="en-GB"/>
                        <a:t>Delete it, add it again in lower case without +</a:t>
                      </a:r>
                    </a:p>
                  </a:txBody>
                  <a:tcPr marT="55000" marB="55000"/>
                </a:tc>
              </a:tr>
              <a:tr h="370840">
                <a:tc>
                  <a:txBody>
                    <a:bodyPr/>
                    <a:lstStyle/>
                    <a:p>
                      <a:r>
                        <a:rPr sz="1200" b="1" lang="en-GB"/>
                        <a:t>Address already used by another account</a:t>
                      </a:r>
                    </a:p>
                  </a:txBody>
                  <a:tcPr marT="55000" marB="55000"/>
                </a:tc>
                <a:tc>
                  <a:txBody>
                    <a:bodyPr/>
                    <a:lstStyle/>
                    <a:p>
                      <a:r>
                        <a:rPr sz="1200" lang="en-GB"/>
                        <a:t>Use the account that got the pack; merge accounts</a:t>
                      </a:r>
                    </a:p>
                  </a:txBody>
                  <a:tcPr marT="55000" marB="55000"/>
                </a:tc>
              </a:tr>
              <a:tr h="370840">
                <a:tc>
                  <a:txBody>
                    <a:bodyPr/>
                    <a:lstStyle/>
                    <a:p>
                      <a:r>
                        <a:rPr sz="1200" b="1" lang="en-GB"/>
                        <a:t>Still stuck</a:t>
                      </a:r>
                    </a:p>
                  </a:txBody>
                  <a:tcPr marT="55000" marB="55000"/>
                </a:tc>
                <a:tc>
                  <a:txBody>
                    <a:bodyPr/>
                    <a:lstStyle/>
                    <a:p>
                      <a:r>
                        <a:rPr sz="1200" lang="en-GB"/>
                        <a:t>support.github.com/contact/education, describe each step you tried</a:t>
                      </a:r>
                    </a:p>
                  </a:txBody>
                  <a:tcPr marT="55000" marB="55000"/>
                </a:tc>
              </a:tr>
            </a:tbl>
          </a:graphicData>
        </a:graphic>
      </p:graphicFrame>
      <p:sp>
        <p:nvSpPr>
          <p:cNvPr id="3" name="Title 2"/>
          <p:cNvSpPr>
            <a:spLocks noGrp="1"/>
          </p:cNvSpPr>
          <p:nvPr>
            <p:ph type="title"/>
          </p:nvPr>
        </p:nvSpPr>
        <p:spPr/>
        <p:txBody>
          <a:bodyPr/>
          <a:lstStyle/>
          <a:p>
            <a:r>
              <a:rPr sz="1600" lang="en-GB"/>
              <a:t>Not approved? Common reasons and fixes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apply box"/>
          <p:cNvSpPr/>
          <p:nvPr/>
        </p:nvSpPr>
        <p:spPr>
          <a:xfrm>
            <a:off x="457200" y="416052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Reapply" descr=""/>
          <p:cNvPicPr>
            <a:picLocks noChangeAspect="1"/>
          </p:cNvPicPr>
          <p:nvPr/>
        </p:nvPicPr>
        <p:blipFill>
          <a:blip r:embed="rId3"/>
          <a:stretch>
            <a:fillRect/>
          </a:stretch>
        </p:blipFill>
        <p:spPr>
          <a:xfrm>
            <a:off x="658368" y="4274820"/>
            <a:ext cx="365760" cy="365760"/>
          </a:xfrm>
          <a:prstGeom prst="rect">
            <a:avLst/>
          </a:prstGeom>
        </p:spPr>
      </p:pic>
      <p:sp>
        <p:nvSpPr>
          <p:cNvPr id="12" name="Reapply text"/>
          <p:cNvSpPr txBox="1"/>
          <p:nvPr/>
        </p:nvSpPr>
        <p:spPr>
          <a:xfrm>
            <a:off x="1207008" y="416052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Reapply any time: </a:t>
            </a:r>
            <a:r>
              <a:rPr sz="1200" b="0" lang="en-GB">
                <a:solidFill>
                  <a:schemeClr val="tx1"/>
                </a:solidFill>
              </a:rPr>
              <a:t>same page, Start an application.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12 · download, sign in, your name and e-mail for commits</a:t>
            </a:r>
          </a:p>
        </p:txBody>
      </p:sp>
      <p:sp>
        <p:nvSpPr>
          <p:cNvPr id="3" name="Title 2"/>
          <p:cNvSpPr>
            <a:spLocks noGrp="1"/>
          </p:cNvSpPr>
          <p:nvPr>
            <p:ph type="ctrTitle"/>
          </p:nvPr>
        </p:nvSpPr>
        <p:spPr/>
        <p:txBody>
          <a:bodyPr/>
          <a:lstStyle/>
          <a:p>
            <a:r>
              <a:rPr sz="1600" lang="en-GB"/>
              <a:t>Install and set up GitHub Desktop</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GitHub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in body"/>
          <p:cNvSpPr/>
          <p:nvPr/>
        </p:nvSpPr>
        <p:spPr>
          <a:xfrm>
            <a:off x="457200" y="1645920"/>
            <a:ext cx="4046220" cy="2011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Win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in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Windows 10/11 (64-bit)</a:t>
            </a:r>
          </a:p>
        </p:txBody>
      </p:sp>
      <p:pic>
        <p:nvPicPr>
          <p:cNvPr id="13" name="Icon Win" descr=""/>
          <p:cNvPicPr>
            <a:picLocks noChangeAspect="1"/>
          </p:cNvPicPr>
          <p:nvPr/>
        </p:nvPicPr>
        <p:blipFill>
          <a:blip r:embed="rId3"/>
          <a:stretch>
            <a:fillRect/>
          </a:stretch>
        </p:blipFill>
        <p:spPr>
          <a:xfrm>
            <a:off x="4064508" y="1284732"/>
            <a:ext cx="310896" cy="310896"/>
          </a:xfrm>
          <a:prstGeom prst="rect">
            <a:avLst/>
          </a:prstGeom>
        </p:spPr>
      </p:pic>
      <p:sp>
        <p:nvSpPr>
          <p:cNvPr id="14" name="Win text"/>
          <p:cNvSpPr txBox="1"/>
          <p:nvPr/>
        </p:nvSpPr>
        <p:spPr>
          <a:xfrm>
            <a:off x="621792" y="1783080"/>
            <a:ext cx="3744468" cy="17830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desktop.github.com</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Download for Windows</a:t>
            </a:r>
          </a:p>
          <a:p>
            <a:pPr algn="l">
              <a:spcAft>
                <a:spcPts val="900"/>
              </a:spcAft>
            </a:pPr>
            <a:r>
              <a:rPr sz="1300" b="1" lang="en-GB">
                <a:solidFill>
                  <a:schemeClr val="accent1"/>
                </a:solidFill>
              </a:rPr>
              <a:t>3  </a:t>
            </a:r>
            <a:r>
              <a:rPr sz="1300" b="1" lang="en-GB">
                <a:solidFill>
                  <a:schemeClr val="tx2"/>
                </a:solidFill>
              </a:rPr>
              <a:t>Double-click </a:t>
            </a:r>
            <a:r>
              <a:rPr sz="1300" b="0" lang="en-GB">
                <a:solidFill>
                  <a:schemeClr val="tx1"/>
                </a:solidFill>
              </a:rPr>
              <a:t>the setup file in Downloads</a:t>
            </a:r>
          </a:p>
          <a:p>
            <a:pPr algn="l">
              <a:spcAft>
                <a:spcPts val="900"/>
              </a:spcAft>
            </a:pPr>
            <a:r>
              <a:rPr sz="1300" b="1" lang="en-GB">
                <a:solidFill>
                  <a:schemeClr val="accent1"/>
                </a:solidFill>
              </a:rPr>
              <a:t>4  </a:t>
            </a:r>
            <a:r>
              <a:rPr sz="1300" b="1" lang="en-GB">
                <a:solidFill>
                  <a:schemeClr val="tx2"/>
                </a:solidFill>
              </a:rPr>
              <a:t>Wait: </a:t>
            </a:r>
            <a:r>
              <a:rPr sz="1300" b="0" lang="en-GB">
                <a:solidFill>
                  <a:schemeClr val="tx1"/>
                </a:solidFill>
              </a:rPr>
              <a:t>GitHub Desktop opens by itself</a:t>
            </a:r>
          </a:p>
        </p:txBody>
      </p:sp>
      <p:sp>
        <p:nvSpPr>
          <p:cNvPr id="15" name="Mac body"/>
          <p:cNvSpPr/>
          <p:nvPr/>
        </p:nvSpPr>
        <p:spPr>
          <a:xfrm>
            <a:off x="4640580" y="1645920"/>
            <a:ext cx="4046220" cy="2011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ac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ac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macOS 12 or later</a:t>
            </a:r>
          </a:p>
        </p:txBody>
      </p:sp>
      <p:pic>
        <p:nvPicPr>
          <p:cNvPr id="18" name="Icon Mac" descr=""/>
          <p:cNvPicPr>
            <a:picLocks noChangeAspect="1"/>
          </p:cNvPicPr>
          <p:nvPr/>
        </p:nvPicPr>
        <p:blipFill>
          <a:blip r:embed="rId5"/>
          <a:stretch>
            <a:fillRect/>
          </a:stretch>
        </p:blipFill>
        <p:spPr>
          <a:xfrm>
            <a:off x="8247888" y="1284732"/>
            <a:ext cx="310896" cy="310896"/>
          </a:xfrm>
          <a:prstGeom prst="rect">
            <a:avLst/>
          </a:prstGeom>
        </p:spPr>
      </p:pic>
      <p:sp>
        <p:nvSpPr>
          <p:cNvPr id="19" name="Mac text"/>
          <p:cNvSpPr txBox="1"/>
          <p:nvPr/>
        </p:nvSpPr>
        <p:spPr>
          <a:xfrm>
            <a:off x="4805172" y="1783080"/>
            <a:ext cx="3744468" cy="17830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desktop.github.com</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Download for macOS</a:t>
            </a:r>
          </a:p>
          <a:p>
            <a:pPr algn="l">
              <a:spcAft>
                <a:spcPts val="900"/>
              </a:spcAft>
            </a:pPr>
            <a:r>
              <a:rPr sz="1300" b="1" lang="en-GB">
                <a:solidFill>
                  <a:schemeClr val="accent1"/>
                </a:solidFill>
              </a:rPr>
              <a:t>3  </a:t>
            </a:r>
            <a:r>
              <a:rPr sz="1300" b="1" lang="en-GB">
                <a:solidFill>
                  <a:schemeClr val="tx2"/>
                </a:solidFill>
              </a:rPr>
              <a:t>Double-click </a:t>
            </a:r>
            <a:r>
              <a:rPr sz="1300" b="0" lang="en-GB">
                <a:solidFill>
                  <a:schemeClr val="tx1"/>
                </a:solidFill>
              </a:rPr>
              <a:t>the zip file, then drag the app to Applications</a:t>
            </a:r>
          </a:p>
          <a:p>
            <a:pPr algn="l">
              <a:spcAft>
                <a:spcPts val="900"/>
              </a:spcAft>
            </a:pPr>
            <a:r>
              <a:rPr sz="1300" b="1" lang="en-GB">
                <a:solidFill>
                  <a:schemeClr val="accent1"/>
                </a:solidFill>
              </a:rPr>
              <a:t>4  </a:t>
            </a:r>
            <a:r>
              <a:rPr sz="1300" b="1" lang="en-GB">
                <a:solidFill>
                  <a:schemeClr val="tx2"/>
                </a:solidFill>
              </a:rPr>
              <a:t>Open </a:t>
            </a:r>
            <a:r>
              <a:rPr sz="1300" b="0" lang="en-GB">
                <a:solidFill>
                  <a:schemeClr val="tx1"/>
                </a:solidFill>
              </a:rPr>
              <a:t>GitHub Desktop from Applications</a:t>
            </a:r>
          </a:p>
        </p:txBody>
      </p:sp>
      <p:sp>
        <p:nvSpPr>
          <p:cNvPr id="20" name="Install rows row 1"/>
          <p:cNvSpPr/>
          <p:nvPr/>
        </p:nvSpPr>
        <p:spPr>
          <a:xfrm>
            <a:off x="457200" y="379476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nstall rows bar 1"/>
          <p:cNvSpPr/>
          <p:nvPr/>
        </p:nvSpPr>
        <p:spPr>
          <a:xfrm>
            <a:off x="457200" y="379476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nstall rows text 1"/>
          <p:cNvSpPr txBox="1"/>
          <p:nvPr/>
        </p:nvSpPr>
        <p:spPr>
          <a:xfrm>
            <a:off x="658368" y="379476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Git included: </a:t>
            </a:r>
            <a:r>
              <a:rPr sz="1200" b="0" lang="en-GB">
                <a:solidFill>
                  <a:schemeClr val="tx1"/>
                </a:solidFill>
              </a:rPr>
              <a:t>you do not need to install Git separately</a:t>
            </a:r>
          </a:p>
        </p:txBody>
      </p:sp>
      <p:sp>
        <p:nvSpPr>
          <p:cNvPr id="23" name="Install rows row 2"/>
          <p:cNvSpPr/>
          <p:nvPr/>
        </p:nvSpPr>
        <p:spPr>
          <a:xfrm>
            <a:off x="457200" y="429768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nstall rows bar 2"/>
          <p:cNvSpPr/>
          <p:nvPr/>
        </p:nvSpPr>
        <p:spPr>
          <a:xfrm>
            <a:off x="457200" y="429768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nstall rows text 2"/>
          <p:cNvSpPr txBox="1"/>
          <p:nvPr/>
        </p:nvSpPr>
        <p:spPr>
          <a:xfrm>
            <a:off x="658368" y="429768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Updates: </a:t>
            </a:r>
            <a:r>
              <a:rPr sz="1200" b="0" lang="en-GB">
                <a:solidFill>
                  <a:schemeClr val="tx1"/>
                </a:solidFill>
              </a:rPr>
              <a:t>GitHub Desktop updates itself; restart it when it says 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Sign in to GitHub in GitHub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gnA body"/>
          <p:cNvSpPr/>
          <p:nvPr/>
        </p:nvSpPr>
        <p:spPr>
          <a:xfrm>
            <a:off x="457200" y="1645920"/>
            <a:ext cx="40233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gnA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ignA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Open the Accounts pane</a:t>
            </a:r>
          </a:p>
        </p:txBody>
      </p:sp>
      <p:pic>
        <p:nvPicPr>
          <p:cNvPr id="13" name="Icon SignA" descr=""/>
          <p:cNvPicPr>
            <a:picLocks noChangeAspect="1"/>
          </p:cNvPicPr>
          <p:nvPr/>
        </p:nvPicPr>
        <p:blipFill>
          <a:blip r:embed="rId3"/>
          <a:stretch>
            <a:fillRect/>
          </a:stretch>
        </p:blipFill>
        <p:spPr>
          <a:xfrm>
            <a:off x="4041648" y="1284732"/>
            <a:ext cx="310896" cy="310896"/>
          </a:xfrm>
          <a:prstGeom prst="rect">
            <a:avLst/>
          </a:prstGeom>
        </p:spPr>
      </p:pic>
      <p:sp>
        <p:nvSpPr>
          <p:cNvPr id="14" name="SignA text"/>
          <p:cNvSpPr txBox="1"/>
          <p:nvPr/>
        </p:nvSpPr>
        <p:spPr>
          <a:xfrm>
            <a:off x="621792" y="1783080"/>
            <a:ext cx="372160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Windows: </a:t>
            </a:r>
            <a:r>
              <a:rPr sz="1300" b="0" lang="en-GB">
                <a:solidFill>
                  <a:schemeClr val="tx1"/>
                </a:solidFill>
              </a:rPr>
              <a:t>File → Options → Accounts</a:t>
            </a:r>
          </a:p>
          <a:p>
            <a:pPr algn="l">
              <a:spcAft>
                <a:spcPts val="900"/>
              </a:spcAft>
            </a:pPr>
            <a:r>
              <a:rPr sz="1300" b="1" lang="en-GB">
                <a:solidFill>
                  <a:schemeClr val="accent1"/>
                </a:solidFill>
              </a:rPr>
              <a:t>2  </a:t>
            </a:r>
            <a:r>
              <a:rPr sz="1300" b="1" lang="en-GB">
                <a:solidFill>
                  <a:schemeClr val="tx2"/>
                </a:solidFill>
              </a:rPr>
              <a:t>macOS: </a:t>
            </a:r>
            <a:r>
              <a:rPr sz="1300" b="0" lang="en-GB">
                <a:solidFill>
                  <a:schemeClr val="tx1"/>
                </a:solidFill>
              </a:rPr>
              <a:t>GitHub Desktop → Settings → Accounts</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Sign in to GitHub.com</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Continue with browser</a:t>
            </a:r>
          </a:p>
        </p:txBody>
      </p:sp>
      <p:sp>
        <p:nvSpPr>
          <p:cNvPr id="15" name="SignB body"/>
          <p:cNvSpPr/>
          <p:nvPr/>
        </p:nvSpPr>
        <p:spPr>
          <a:xfrm>
            <a:off x="4663440" y="1645920"/>
            <a:ext cx="40233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ignB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gnB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the browser</a:t>
            </a:r>
          </a:p>
        </p:txBody>
      </p:sp>
      <p:pic>
        <p:nvPicPr>
          <p:cNvPr id="18" name="Icon SignB" descr=""/>
          <p:cNvPicPr>
            <a:picLocks noChangeAspect="1"/>
          </p:cNvPicPr>
          <p:nvPr/>
        </p:nvPicPr>
        <p:blipFill>
          <a:blip r:embed="rId4"/>
          <a:stretch>
            <a:fillRect/>
          </a:stretch>
        </p:blipFill>
        <p:spPr>
          <a:xfrm>
            <a:off x="8247888" y="1284732"/>
            <a:ext cx="310896" cy="310896"/>
          </a:xfrm>
          <a:prstGeom prst="rect">
            <a:avLst/>
          </a:prstGeom>
        </p:spPr>
      </p:pic>
      <p:sp>
        <p:nvSpPr>
          <p:cNvPr id="19" name="SignB text"/>
          <p:cNvSpPr txBox="1"/>
          <p:nvPr/>
        </p:nvSpPr>
        <p:spPr>
          <a:xfrm>
            <a:off x="4828032" y="1783080"/>
            <a:ext cx="372160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Sign in </a:t>
            </a:r>
            <a:r>
              <a:rPr sz="1300" b="0" lang="en-GB">
                <a:solidFill>
                  <a:schemeClr val="tx1"/>
                </a:solidFill>
              </a:rPr>
              <a:t>with username and password</a:t>
            </a:r>
          </a:p>
          <a:p>
            <a:pPr algn="l">
              <a:spcAft>
                <a:spcPts val="900"/>
              </a:spcAft>
            </a:pPr>
            <a:r>
              <a:rPr sz="1300" b="1" lang="en-GB">
                <a:solidFill>
                  <a:schemeClr val="accent1"/>
                </a:solidFill>
              </a:rPr>
              <a:t>2  </a:t>
            </a:r>
            <a:r>
              <a:rPr sz="1300" b="1" lang="en-GB">
                <a:solidFill>
                  <a:schemeClr val="tx2"/>
                </a:solidFill>
              </a:rPr>
              <a:t>Enter </a:t>
            </a:r>
            <a:r>
              <a:rPr sz="1300" b="0" lang="en-GB">
                <a:solidFill>
                  <a:schemeClr val="tx1"/>
                </a:solidFill>
              </a:rPr>
              <a:t>the 2FA code from your app</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Authorize desktop</a:t>
            </a:r>
          </a:p>
          <a:p>
            <a:pPr algn="l">
              <a:spcAft>
                <a:spcPts val="900"/>
              </a:spcAft>
            </a:pPr>
            <a:r>
              <a:rPr sz="1300" b="1" lang="en-GB">
                <a:solidFill>
                  <a:schemeClr val="accent1"/>
                </a:solidFill>
              </a:rPr>
              <a:t>4  </a:t>
            </a:r>
            <a:r>
              <a:rPr sz="1300" b="1" lang="en-GB">
                <a:solidFill>
                  <a:schemeClr val="tx2"/>
                </a:solidFill>
              </a:rPr>
              <a:t>Allow </a:t>
            </a:r>
            <a:r>
              <a:rPr sz="1300" b="0" lang="en-GB">
                <a:solidFill>
                  <a:schemeClr val="tx1"/>
                </a:solidFill>
              </a:rPr>
              <a:t>the browser to open GitHub Desktop</a:t>
            </a:r>
          </a:p>
        </p:txBody>
      </p:sp>
      <p:sp>
        <p:nvSpPr>
          <p:cNvPr id="20" name="Sign done box"/>
          <p:cNvSpPr/>
          <p:nvPr/>
        </p:nvSpPr>
        <p:spPr>
          <a:xfrm>
            <a:off x="457200" y="429768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Sign done" descr=""/>
          <p:cNvPicPr>
            <a:picLocks noChangeAspect="1"/>
          </p:cNvPicPr>
          <p:nvPr/>
        </p:nvPicPr>
        <p:blipFill>
          <a:blip r:embed="rId5"/>
          <a:stretch>
            <a:fillRect/>
          </a:stretch>
        </p:blipFill>
        <p:spPr>
          <a:xfrm>
            <a:off x="658368" y="4457700"/>
            <a:ext cx="365760" cy="365760"/>
          </a:xfrm>
          <a:prstGeom prst="rect">
            <a:avLst/>
          </a:prstGeom>
        </p:spPr>
      </p:pic>
      <p:sp>
        <p:nvSpPr>
          <p:cNvPr id="22" name="Sign done text"/>
          <p:cNvSpPr txBox="1"/>
          <p:nvPr/>
        </p:nvSpPr>
        <p:spPr>
          <a:xfrm>
            <a:off x="1207008" y="429768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Done when: </a:t>
            </a:r>
            <a:r>
              <a:rPr sz="1300" b="0" lang="en-GB">
                <a:solidFill>
                  <a:schemeClr val="bg1"/>
                </a:solidFill>
              </a:rPr>
              <a:t>your name and avatar appear in the Accounts pane.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name and e-mail for commits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itCfg body"/>
          <p:cNvSpPr/>
          <p:nvPr/>
        </p:nvSpPr>
        <p:spPr>
          <a:xfrm>
            <a:off x="457200" y="1645920"/>
            <a:ext cx="49377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itCfg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itCfg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Options / Settings → Git</a:t>
            </a:r>
          </a:p>
        </p:txBody>
      </p:sp>
      <p:pic>
        <p:nvPicPr>
          <p:cNvPr id="13" name="Icon GitCfg" descr=""/>
          <p:cNvPicPr>
            <a:picLocks noChangeAspect="1"/>
          </p:cNvPicPr>
          <p:nvPr/>
        </p:nvPicPr>
        <p:blipFill>
          <a:blip r:embed="rId3"/>
          <a:stretch>
            <a:fillRect/>
          </a:stretch>
        </p:blipFill>
        <p:spPr>
          <a:xfrm>
            <a:off x="4956048" y="1284732"/>
            <a:ext cx="310896" cy="310896"/>
          </a:xfrm>
          <a:prstGeom prst="rect">
            <a:avLst/>
          </a:prstGeom>
        </p:spPr>
      </p:pic>
      <p:sp>
        <p:nvSpPr>
          <p:cNvPr id="14" name="GitCfg text"/>
          <p:cNvSpPr txBox="1"/>
          <p:nvPr/>
        </p:nvSpPr>
        <p:spPr>
          <a:xfrm>
            <a:off x="621792" y="1783080"/>
            <a:ext cx="4636008" cy="210312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Windows: </a:t>
            </a:r>
            <a:r>
              <a:rPr sz="1300" b="0" lang="en-GB">
                <a:solidFill>
                  <a:schemeClr val="tx1"/>
                </a:solidFill>
              </a:rPr>
              <a:t>File → Options → Git</a:t>
            </a:r>
          </a:p>
          <a:p>
            <a:pPr algn="l">
              <a:spcAft>
                <a:spcPts val="900"/>
              </a:spcAft>
            </a:pPr>
            <a:r>
              <a:rPr sz="1300" b="1" lang="en-GB">
                <a:solidFill>
                  <a:schemeClr val="accent1"/>
                </a:solidFill>
              </a:rPr>
              <a:t>2  </a:t>
            </a:r>
            <a:r>
              <a:rPr sz="1300" b="1" lang="en-GB">
                <a:solidFill>
                  <a:schemeClr val="tx2"/>
                </a:solidFill>
              </a:rPr>
              <a:t>macOS: </a:t>
            </a:r>
            <a:r>
              <a:rPr sz="1300" b="0" lang="en-GB">
                <a:solidFill>
                  <a:schemeClr val="tx1"/>
                </a:solidFill>
              </a:rPr>
              <a:t>GitHub Desktop → Settings → Git</a:t>
            </a:r>
          </a:p>
          <a:p>
            <a:pPr algn="l">
              <a:spcAft>
                <a:spcPts val="900"/>
              </a:spcAft>
            </a:pPr>
            <a:r>
              <a:rPr sz="1300" b="1" lang="en-GB">
                <a:solidFill>
                  <a:schemeClr val="accent1"/>
                </a:solidFill>
              </a:rPr>
              <a:t>3  </a:t>
            </a:r>
            <a:r>
              <a:rPr sz="1300" b="1" lang="en-GB">
                <a:solidFill>
                  <a:schemeClr val="tx2"/>
                </a:solidFill>
              </a:rPr>
              <a:t>Name: </a:t>
            </a:r>
            <a:r>
              <a:rPr sz="1300" b="0" lang="en-GB">
                <a:solidFill>
                  <a:schemeClr val="tx1"/>
                </a:solidFill>
              </a:rPr>
              <a:t>your real name, e.g. Anna Berger</a:t>
            </a:r>
          </a:p>
          <a:p>
            <a:pPr algn="l">
              <a:spcAft>
                <a:spcPts val="900"/>
              </a:spcAft>
            </a:pPr>
            <a:r>
              <a:rPr sz="1300" b="1" lang="en-GB">
                <a:solidFill>
                  <a:schemeClr val="accent1"/>
                </a:solidFill>
              </a:rPr>
              <a:t>4  </a:t>
            </a:r>
            <a:r>
              <a:rPr sz="1300" b="1" lang="en-GB">
                <a:solidFill>
                  <a:schemeClr val="tx2"/>
                </a:solidFill>
              </a:rPr>
              <a:t>Email: </a:t>
            </a:r>
            <a:r>
              <a:rPr sz="1300" b="0" lang="en-GB">
                <a:solidFill>
                  <a:schemeClr val="tx1"/>
                </a:solidFill>
              </a:rPr>
              <a:t>pick the …@users.noreply.github.com address</a:t>
            </a:r>
          </a:p>
          <a:p>
            <a:pPr algn="l">
              <a:spcAft>
                <a:spcPts val="900"/>
              </a:spcAft>
            </a:pPr>
            <a:r>
              <a:rPr sz="1300" b="1" lang="en-GB">
                <a:solidFill>
                  <a:schemeClr val="accent1"/>
                </a:solidFill>
              </a:rPr>
              <a:t>5  </a:t>
            </a:r>
            <a:r>
              <a:rPr sz="1300" b="1" lang="en-GB">
                <a:solidFill>
                  <a:schemeClr val="tx2"/>
                </a:solidFill>
              </a:rPr>
              <a:t>Default branch: </a:t>
            </a:r>
            <a:r>
              <a:rPr sz="1300" b="0" lang="en-GB">
                <a:solidFill>
                  <a:schemeClr val="tx1"/>
                </a:solidFill>
              </a:rPr>
              <a:t>leave it at main; click Save</a:t>
            </a:r>
          </a:p>
        </p:txBody>
      </p:sp>
      <p:sp>
        <p:nvSpPr>
          <p:cNvPr id="15" name="Git form"/>
          <p:cNvSpPr/>
          <p:nvPr/>
        </p:nvSpPr>
        <p:spPr>
          <a:xfrm>
            <a:off x="5532120" y="1234440"/>
            <a:ext cx="3154680" cy="27432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orm label 1"/>
          <p:cNvSpPr txBox="1"/>
          <p:nvPr/>
        </p:nvSpPr>
        <p:spPr>
          <a:xfrm>
            <a:off x="5669280" y="1371600"/>
            <a:ext cx="2926080" cy="274320"/>
          </a:xfrm>
          <a:prstGeom prst="rect">
            <a:avLst/>
          </a:prstGeom>
          <a:noFill/>
        </p:spPr>
        <p:txBody>
          <a:bodyPr wrap="square" lIns="0" rIns="0" tIns="0" bIns="0" anchor="t">
            <a:noAutofit/>
          </a:bodyPr>
          <a:lstStyle/>
          <a:p>
            <a:pPr algn="l">
              <a:spcAft>
                <a:spcPts val="400"/>
              </a:spcAft>
            </a:pPr>
            <a:r>
              <a:rPr sz="1100" b="1" lang="en-GB">
                <a:solidFill>
                  <a:schemeClr val="tx2"/>
                </a:solidFill>
              </a:rPr>
              <a:t>Name</a:t>
            </a:r>
          </a:p>
        </p:txBody>
      </p:sp>
      <p:sp>
        <p:nvSpPr>
          <p:cNvPr id="17" name="Form field 1"/>
          <p:cNvSpPr/>
          <p:nvPr/>
        </p:nvSpPr>
        <p:spPr>
          <a:xfrm>
            <a:off x="5669280" y="1664208"/>
            <a:ext cx="2880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Form value 1"/>
          <p:cNvSpPr txBox="1"/>
          <p:nvPr/>
        </p:nvSpPr>
        <p:spPr>
          <a:xfrm>
            <a:off x="5760720" y="1664208"/>
            <a:ext cx="2743200" cy="365760"/>
          </a:xfrm>
          <a:prstGeom prst="rect">
            <a:avLst/>
          </a:prstGeom>
          <a:noFill/>
        </p:spPr>
        <p:txBody>
          <a:bodyPr wrap="square" lIns="0" rIns="0" tIns="0" bIns="0" anchor="ctr">
            <a:noAutofit/>
          </a:bodyPr>
          <a:lstStyle/>
          <a:p>
            <a:pPr algn="l">
              <a:spcAft>
                <a:spcPts val="400"/>
              </a:spcAft>
            </a:pPr>
            <a:r>
              <a:rPr sz="1050" b="0" lang="en-GB">
                <a:solidFill>
                  <a:schemeClr val="tx1"/>
                </a:solidFill>
                <a:latin typeface="Consolas"/>
              </a:rPr>
              <a:t>Anna Berger</a:t>
            </a:r>
          </a:p>
        </p:txBody>
      </p:sp>
      <p:sp>
        <p:nvSpPr>
          <p:cNvPr id="19" name="Form label 2"/>
          <p:cNvSpPr txBox="1"/>
          <p:nvPr/>
        </p:nvSpPr>
        <p:spPr>
          <a:xfrm>
            <a:off x="5669280" y="2148840"/>
            <a:ext cx="2926080" cy="274320"/>
          </a:xfrm>
          <a:prstGeom prst="rect">
            <a:avLst/>
          </a:prstGeom>
          <a:noFill/>
        </p:spPr>
        <p:txBody>
          <a:bodyPr wrap="square" lIns="0" rIns="0" tIns="0" bIns="0" anchor="t">
            <a:noAutofit/>
          </a:bodyPr>
          <a:lstStyle/>
          <a:p>
            <a:pPr algn="l">
              <a:spcAft>
                <a:spcPts val="400"/>
              </a:spcAft>
            </a:pPr>
            <a:r>
              <a:rPr sz="1100" b="1" lang="en-GB">
                <a:solidFill>
                  <a:schemeClr val="tx2"/>
                </a:solidFill>
              </a:rPr>
              <a:t>Email</a:t>
            </a:r>
          </a:p>
        </p:txBody>
      </p:sp>
      <p:sp>
        <p:nvSpPr>
          <p:cNvPr id="20" name="Form field 2"/>
          <p:cNvSpPr/>
          <p:nvPr/>
        </p:nvSpPr>
        <p:spPr>
          <a:xfrm>
            <a:off x="5669280" y="2441448"/>
            <a:ext cx="2880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orm value 2"/>
          <p:cNvSpPr txBox="1"/>
          <p:nvPr/>
        </p:nvSpPr>
        <p:spPr>
          <a:xfrm>
            <a:off x="5760720" y="2441448"/>
            <a:ext cx="2743200" cy="365760"/>
          </a:xfrm>
          <a:prstGeom prst="rect">
            <a:avLst/>
          </a:prstGeom>
          <a:noFill/>
        </p:spPr>
        <p:txBody>
          <a:bodyPr wrap="square" lIns="0" rIns="0" tIns="0" bIns="0" anchor="ctr">
            <a:noAutofit/>
          </a:bodyPr>
          <a:lstStyle/>
          <a:p>
            <a:pPr algn="l">
              <a:spcAft>
                <a:spcPts val="400"/>
              </a:spcAft>
            </a:pPr>
            <a:r>
              <a:rPr sz="1050" b="0" lang="en-GB">
                <a:solidFill>
                  <a:schemeClr val="tx1"/>
                </a:solidFill>
                <a:latin typeface="Consolas"/>
              </a:rPr>
              <a:t>1234567+anna-berger@users…</a:t>
            </a:r>
          </a:p>
        </p:txBody>
      </p:sp>
      <p:sp>
        <p:nvSpPr>
          <p:cNvPr id="22" name="Form label 3"/>
          <p:cNvSpPr txBox="1"/>
          <p:nvPr/>
        </p:nvSpPr>
        <p:spPr>
          <a:xfrm>
            <a:off x="5669280" y="2926080"/>
            <a:ext cx="2926080" cy="274320"/>
          </a:xfrm>
          <a:prstGeom prst="rect">
            <a:avLst/>
          </a:prstGeom>
          <a:noFill/>
        </p:spPr>
        <p:txBody>
          <a:bodyPr wrap="square" lIns="0" rIns="0" tIns="0" bIns="0" anchor="t">
            <a:noAutofit/>
          </a:bodyPr>
          <a:lstStyle/>
          <a:p>
            <a:pPr algn="l">
              <a:spcAft>
                <a:spcPts val="400"/>
              </a:spcAft>
            </a:pPr>
            <a:r>
              <a:rPr sz="1100" b="1" lang="en-GB">
                <a:solidFill>
                  <a:schemeClr val="tx2"/>
                </a:solidFill>
              </a:rPr>
              <a:t>Default branch</a:t>
            </a:r>
          </a:p>
        </p:txBody>
      </p:sp>
      <p:sp>
        <p:nvSpPr>
          <p:cNvPr id="23" name="Form field 3"/>
          <p:cNvSpPr/>
          <p:nvPr/>
        </p:nvSpPr>
        <p:spPr>
          <a:xfrm>
            <a:off x="5669280" y="3218688"/>
            <a:ext cx="2880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orm value 3"/>
          <p:cNvSpPr txBox="1"/>
          <p:nvPr/>
        </p:nvSpPr>
        <p:spPr>
          <a:xfrm>
            <a:off x="5760720" y="3218688"/>
            <a:ext cx="2743200" cy="365760"/>
          </a:xfrm>
          <a:prstGeom prst="rect">
            <a:avLst/>
          </a:prstGeom>
          <a:noFill/>
        </p:spPr>
        <p:txBody>
          <a:bodyPr wrap="square" lIns="0" rIns="0" tIns="0" bIns="0" anchor="ctr">
            <a:noAutofit/>
          </a:bodyPr>
          <a:lstStyle/>
          <a:p>
            <a:pPr algn="l">
              <a:spcAft>
                <a:spcPts val="400"/>
              </a:spcAft>
            </a:pPr>
            <a:r>
              <a:rPr sz="1050" b="0" lang="en-GB">
                <a:solidFill>
                  <a:schemeClr val="tx1"/>
                </a:solidFill>
                <a:latin typeface="Consolas"/>
              </a:rPr>
              <a:t>main</a:t>
            </a:r>
          </a:p>
        </p:txBody>
      </p:sp>
      <p:sp>
        <p:nvSpPr>
          <p:cNvPr id="25" name="GitCfg note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GitCfg note" descr=""/>
          <p:cNvPicPr>
            <a:picLocks noChangeAspect="1"/>
          </p:cNvPicPr>
          <p:nvPr/>
        </p:nvPicPr>
        <p:blipFill>
          <a:blip r:embed="rId4"/>
          <a:stretch>
            <a:fillRect/>
          </a:stretch>
        </p:blipFill>
        <p:spPr>
          <a:xfrm>
            <a:off x="658368" y="4274820"/>
            <a:ext cx="365760" cy="365760"/>
          </a:xfrm>
          <a:prstGeom prst="rect">
            <a:avLst/>
          </a:prstGeom>
        </p:spPr>
      </p:pic>
      <p:sp>
        <p:nvSpPr>
          <p:cNvPr id="27" name="GitCfg note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Privacy: </a:t>
            </a:r>
            <a:r>
              <a:rPr sz="1200" b="0" lang="en-GB">
                <a:solidFill>
                  <a:schemeClr val="bg1"/>
                </a:solidFill>
              </a:rPr>
              <a:t>with the noreply address your WU or private e-mail never shows in a public repository.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12 · two ways to clone, where to put the folder, opening it in Positron</a:t>
            </a:r>
          </a:p>
        </p:txBody>
      </p:sp>
      <p:sp>
        <p:nvSpPr>
          <p:cNvPr id="3" name="Title 2"/>
          <p:cNvSpPr>
            <a:spLocks noGrp="1"/>
          </p:cNvSpPr>
          <p:nvPr>
            <p:ph type="ctrTitle"/>
          </p:nvPr>
        </p:nvSpPr>
        <p:spPr/>
        <p:txBody>
          <a:bodyPr/>
          <a:lstStyle/>
          <a:p>
            <a:r>
              <a:rPr sz="1600" lang="en-GB"/>
              <a:t>Clone a repository</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Clone: two ways, same result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loneA body"/>
          <p:cNvSpPr/>
          <p:nvPr/>
        </p:nvSpPr>
        <p:spPr>
          <a:xfrm>
            <a:off x="457200" y="1645920"/>
            <a:ext cx="404622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loneA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loneA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  From github.com</a:t>
            </a:r>
          </a:p>
        </p:txBody>
      </p:sp>
      <p:pic>
        <p:nvPicPr>
          <p:cNvPr id="13" name="Icon CloneA" descr=""/>
          <p:cNvPicPr>
            <a:picLocks noChangeAspect="1"/>
          </p:cNvPicPr>
          <p:nvPr/>
        </p:nvPicPr>
        <p:blipFill>
          <a:blip r:embed="rId3"/>
          <a:stretch>
            <a:fillRect/>
          </a:stretch>
        </p:blipFill>
        <p:spPr>
          <a:xfrm>
            <a:off x="4064508" y="1284732"/>
            <a:ext cx="310896" cy="310896"/>
          </a:xfrm>
          <a:prstGeom prst="rect">
            <a:avLst/>
          </a:prstGeom>
        </p:spPr>
      </p:pic>
      <p:sp>
        <p:nvSpPr>
          <p:cNvPr id="14" name="CloneA text"/>
          <p:cNvSpPr txBox="1"/>
          <p:nvPr/>
        </p:nvSpPr>
        <p:spPr>
          <a:xfrm>
            <a:off x="621792" y="1783080"/>
            <a:ext cx="3744468" cy="20116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Open </a:t>
            </a:r>
            <a:r>
              <a:rPr sz="1300" b="0" lang="en-GB">
                <a:solidFill>
                  <a:schemeClr val="tx1"/>
                </a:solidFill>
              </a:rPr>
              <a:t>the repository page on github.com</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the green Code button</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Open with GitHub Desktop</a:t>
            </a:r>
          </a:p>
          <a:p>
            <a:pPr algn="l">
              <a:spcAft>
                <a:spcPts val="900"/>
              </a:spcAft>
            </a:pPr>
            <a:r>
              <a:rPr sz="1300" b="1" lang="en-GB">
                <a:solidFill>
                  <a:schemeClr val="accent1"/>
                </a:solidFill>
              </a:rPr>
              <a:t>4  </a:t>
            </a:r>
            <a:r>
              <a:rPr sz="1300" b="1" lang="en-GB">
                <a:solidFill>
                  <a:schemeClr val="tx2"/>
                </a:solidFill>
              </a:rPr>
              <a:t>Choose… </a:t>
            </a:r>
            <a:r>
              <a:rPr sz="1300" b="0" lang="en-GB">
                <a:solidFill>
                  <a:schemeClr val="tx1"/>
                </a:solidFill>
              </a:rPr>
              <a:t>a local folder, then Clone</a:t>
            </a:r>
          </a:p>
        </p:txBody>
      </p:sp>
      <p:sp>
        <p:nvSpPr>
          <p:cNvPr id="15" name="CloneB body"/>
          <p:cNvSpPr/>
          <p:nvPr/>
        </p:nvSpPr>
        <p:spPr>
          <a:xfrm>
            <a:off x="4640580" y="1645920"/>
            <a:ext cx="404622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loneB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loneB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  In GitHub Desktop</a:t>
            </a:r>
          </a:p>
        </p:txBody>
      </p:sp>
      <p:pic>
        <p:nvPicPr>
          <p:cNvPr id="18" name="Icon CloneB" descr=""/>
          <p:cNvPicPr>
            <a:picLocks noChangeAspect="1"/>
          </p:cNvPicPr>
          <p:nvPr/>
        </p:nvPicPr>
        <p:blipFill>
          <a:blip r:embed="rId4"/>
          <a:stretch>
            <a:fillRect/>
          </a:stretch>
        </p:blipFill>
        <p:spPr>
          <a:xfrm>
            <a:off x="8247888" y="1284732"/>
            <a:ext cx="310896" cy="310896"/>
          </a:xfrm>
          <a:prstGeom prst="rect">
            <a:avLst/>
          </a:prstGeom>
        </p:spPr>
      </p:pic>
      <p:sp>
        <p:nvSpPr>
          <p:cNvPr id="19" name="CloneB text"/>
          <p:cNvSpPr txBox="1"/>
          <p:nvPr/>
        </p:nvSpPr>
        <p:spPr>
          <a:xfrm>
            <a:off x="4805172" y="1783080"/>
            <a:ext cx="3744468" cy="20116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File → </a:t>
            </a:r>
            <a:r>
              <a:rPr sz="1300" b="0" lang="en-GB">
                <a:solidFill>
                  <a:schemeClr val="tx1"/>
                </a:solidFill>
              </a:rPr>
              <a:t>Clone repository</a:t>
            </a:r>
          </a:p>
          <a:p>
            <a:pPr algn="l">
              <a:spcAft>
                <a:spcPts val="900"/>
              </a:spcAft>
            </a:pPr>
            <a:r>
              <a:rPr sz="1300" b="1" lang="en-GB">
                <a:solidFill>
                  <a:schemeClr val="accent1"/>
                </a:solidFill>
              </a:rPr>
              <a:t>2  </a:t>
            </a:r>
            <a:r>
              <a:rPr sz="1300" b="1" lang="en-GB">
                <a:solidFill>
                  <a:schemeClr val="tx2"/>
                </a:solidFill>
              </a:rPr>
              <a:t>Tab URL: </a:t>
            </a:r>
            <a:r>
              <a:rPr sz="1300" b="0" lang="en-GB">
                <a:solidFill>
                  <a:schemeClr val="tx1"/>
                </a:solidFill>
              </a:rPr>
              <a:t>paste the repository address</a:t>
            </a:r>
          </a:p>
          <a:p>
            <a:pPr algn="l">
              <a:spcAft>
                <a:spcPts val="900"/>
              </a:spcAft>
            </a:pPr>
            <a:r>
              <a:rPr sz="1300" b="1" lang="en-GB">
                <a:solidFill>
                  <a:schemeClr val="accent1"/>
                </a:solidFill>
              </a:rPr>
              <a:t>3  </a:t>
            </a:r>
            <a:r>
              <a:rPr sz="1300" b="1" lang="en-GB">
                <a:solidFill>
                  <a:schemeClr val="tx2"/>
                </a:solidFill>
              </a:rPr>
              <a:t>Local path: </a:t>
            </a:r>
            <a:r>
              <a:rPr sz="1300" b="0" lang="en-GB">
                <a:solidFill>
                  <a:schemeClr val="tx1"/>
                </a:solidFill>
              </a:rPr>
              <a:t>Choose… a folder</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Clone</a:t>
            </a:r>
          </a:p>
        </p:txBody>
      </p:sp>
      <p:sp>
        <p:nvSpPr>
          <p:cNvPr id="20" name="Course URL caption bar"/>
          <p:cNvSpPr/>
          <p:nvPr/>
        </p:nvSpPr>
        <p:spPr>
          <a:xfrm>
            <a:off x="457200" y="402336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urse URL caption"/>
          <p:cNvSpPr txBox="1"/>
          <p:nvPr/>
        </p:nvSpPr>
        <p:spPr>
          <a:xfrm>
            <a:off x="566928" y="402336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The course repository (public: no sign-in needed to clone)</a:t>
            </a:r>
          </a:p>
        </p:txBody>
      </p:sp>
      <p:sp>
        <p:nvSpPr>
          <p:cNvPr id="22" name="Course URL box"/>
          <p:cNvSpPr/>
          <p:nvPr/>
        </p:nvSpPr>
        <p:spPr>
          <a:xfrm>
            <a:off x="457200" y="429768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urse URL code"/>
          <p:cNvSpPr txBox="1"/>
          <p:nvPr/>
        </p:nvSpPr>
        <p:spPr>
          <a:xfrm>
            <a:off x="594360" y="4389120"/>
            <a:ext cx="7955280" cy="411480"/>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https://github.com/arnefloh-wu/international-marketing-analytics-teaching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the folder should live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ood place body"/>
          <p:cNvSpPr/>
          <p:nvPr/>
        </p:nvSpPr>
        <p:spPr>
          <a:xfrm>
            <a:off x="457200" y="1645920"/>
            <a:ext cx="404622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ood place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ood place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places</a:t>
            </a:r>
          </a:p>
        </p:txBody>
      </p:sp>
      <p:pic>
        <p:nvPicPr>
          <p:cNvPr id="13" name="Icon Good place" descr=""/>
          <p:cNvPicPr>
            <a:picLocks noChangeAspect="1"/>
          </p:cNvPicPr>
          <p:nvPr/>
        </p:nvPicPr>
        <p:blipFill>
          <a:blip r:embed="rId3"/>
          <a:stretch>
            <a:fillRect/>
          </a:stretch>
        </p:blipFill>
        <p:spPr>
          <a:xfrm>
            <a:off x="4064508" y="1284732"/>
            <a:ext cx="310896" cy="310896"/>
          </a:xfrm>
          <a:prstGeom prst="rect">
            <a:avLst/>
          </a:prstGeom>
        </p:spPr>
      </p:pic>
      <p:sp>
        <p:nvSpPr>
          <p:cNvPr id="14" name="Good place text"/>
          <p:cNvSpPr txBox="1"/>
          <p:nvPr/>
        </p:nvSpPr>
        <p:spPr>
          <a:xfrm>
            <a:off x="621792" y="1783080"/>
            <a:ext cx="374446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Windows: C:\Users\anna\wu\ima</a:t>
            </a:r>
          </a:p>
          <a:p>
            <a:pPr algn="l" marL="182880" indent="-182880">
              <a:spcAft>
                <a:spcPts val="600"/>
              </a:spcAft>
              <a:buClr>
                <a:schemeClr val="accent1"/>
              </a:buClr>
              <a:buFont typeface="Arial"/>
              <a:buChar char="▪"/>
            </a:pPr>
            <a:r>
              <a:rPr sz="1300" b="0" lang="en-GB">
                <a:solidFill>
                  <a:schemeClr val="tx1"/>
                </a:solidFill>
              </a:rPr>
              <a:t>macOS: /Users/anna/wu/ima</a:t>
            </a:r>
          </a:p>
          <a:p>
            <a:pPr algn="l" marL="182880" indent="-182880">
              <a:spcAft>
                <a:spcPts val="600"/>
              </a:spcAft>
              <a:buClr>
                <a:schemeClr val="accent1"/>
              </a:buClr>
              <a:buFont typeface="Arial"/>
              <a:buChar char="▪"/>
            </a:pPr>
            <a:r>
              <a:rPr sz="1300" b="0" lang="en-GB">
                <a:solidFill>
                  <a:schemeClr val="tx1"/>
                </a:solidFill>
              </a:rPr>
              <a:t>Short path, no spaces, no umlauts</a:t>
            </a:r>
          </a:p>
          <a:p>
            <a:pPr algn="l" marL="182880" indent="-182880">
              <a:spcAft>
                <a:spcPts val="600"/>
              </a:spcAft>
              <a:buClr>
                <a:schemeClr val="accent1"/>
              </a:buClr>
              <a:buFont typeface="Arial"/>
              <a:buChar char="▪"/>
            </a:pPr>
            <a:r>
              <a:rPr sz="1300" b="0" lang="en-GB">
                <a:solidFill>
                  <a:schemeClr val="tx1"/>
                </a:solidFill>
              </a:rPr>
              <a:t>On the laptop's own disk</a:t>
            </a:r>
          </a:p>
        </p:txBody>
      </p:sp>
      <p:sp>
        <p:nvSpPr>
          <p:cNvPr id="15" name="Bad place body"/>
          <p:cNvSpPr/>
          <p:nvPr/>
        </p:nvSpPr>
        <p:spPr>
          <a:xfrm>
            <a:off x="4640580" y="1645920"/>
            <a:ext cx="404622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ad place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ad place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Avoid</a:t>
            </a:r>
          </a:p>
        </p:txBody>
      </p:sp>
      <p:pic>
        <p:nvPicPr>
          <p:cNvPr id="18" name="Icon Bad place" descr=""/>
          <p:cNvPicPr>
            <a:picLocks noChangeAspect="1"/>
          </p:cNvPicPr>
          <p:nvPr/>
        </p:nvPicPr>
        <p:blipFill>
          <a:blip r:embed="rId4"/>
          <a:stretch>
            <a:fillRect/>
          </a:stretch>
        </p:blipFill>
        <p:spPr>
          <a:xfrm>
            <a:off x="8247888" y="1284732"/>
            <a:ext cx="310896" cy="310896"/>
          </a:xfrm>
          <a:prstGeom prst="rect">
            <a:avLst/>
          </a:prstGeom>
        </p:spPr>
      </p:pic>
      <p:sp>
        <p:nvSpPr>
          <p:cNvPr id="19" name="Bad place text"/>
          <p:cNvSpPr txBox="1"/>
          <p:nvPr/>
        </p:nvSpPr>
        <p:spPr>
          <a:xfrm>
            <a:off x="4805172" y="1783080"/>
            <a:ext cx="374446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OneDrive, iCloud Drive, Dropbox folders</a:t>
            </a:r>
          </a:p>
          <a:p>
            <a:pPr algn="l" marL="182880" indent="-182880">
              <a:spcAft>
                <a:spcPts val="600"/>
              </a:spcAft>
              <a:buClr>
                <a:schemeClr val="accent1"/>
              </a:buClr>
              <a:buFont typeface="Arial"/>
              <a:buChar char="▪"/>
            </a:pPr>
            <a:r>
              <a:rPr sz="1300" b="0" lang="en-GB">
                <a:solidFill>
                  <a:schemeClr val="tx1"/>
                </a:solidFill>
              </a:rPr>
              <a:t>Desktop and Documents if they sync to the cloud</a:t>
            </a:r>
          </a:p>
          <a:p>
            <a:pPr algn="l" marL="182880" indent="-182880">
              <a:spcAft>
                <a:spcPts val="600"/>
              </a:spcAft>
              <a:buClr>
                <a:schemeClr val="accent1"/>
              </a:buClr>
              <a:buFont typeface="Arial"/>
              <a:buChar char="▪"/>
            </a:pPr>
            <a:r>
              <a:rPr sz="1300" b="0" lang="en-GB">
                <a:solidFill>
                  <a:schemeClr val="tx1"/>
                </a:solidFill>
              </a:rPr>
              <a:t>Paths like …/Mein Kurs (WU)/</a:t>
            </a:r>
          </a:p>
          <a:p>
            <a:pPr algn="l" marL="182880" indent="-182880">
              <a:spcAft>
                <a:spcPts val="600"/>
              </a:spcAft>
              <a:buClr>
                <a:schemeClr val="accent1"/>
              </a:buClr>
              <a:buFont typeface="Arial"/>
              <a:buChar char="▪"/>
            </a:pPr>
            <a:r>
              <a:rPr sz="1300" b="0" lang="en-GB">
                <a:solidFill>
                  <a:schemeClr val="tx1"/>
                </a:solidFill>
              </a:rPr>
              <a:t>USB sticks and network drives</a:t>
            </a:r>
          </a:p>
        </p:txBody>
      </p:sp>
      <p:sp>
        <p:nvSpPr>
          <p:cNvPr id="20" name="Place rows row 1"/>
          <p:cNvSpPr/>
          <p:nvPr/>
        </p:nvSpPr>
        <p:spPr>
          <a:xfrm>
            <a:off x="457200" y="361188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lace rows bar 1"/>
          <p:cNvSpPr/>
          <p:nvPr/>
        </p:nvSpPr>
        <p:spPr>
          <a:xfrm>
            <a:off x="457200" y="3611880"/>
            <a:ext cx="64008"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lace rows text 1"/>
          <p:cNvSpPr txBox="1"/>
          <p:nvPr/>
        </p:nvSpPr>
        <p:spPr>
          <a:xfrm>
            <a:off x="658368" y="3611880"/>
            <a:ext cx="7936992"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Find the folder later: </a:t>
            </a:r>
            <a:r>
              <a:rPr sz="1200" b="0" lang="en-GB">
                <a:solidFill>
                  <a:schemeClr val="tx1"/>
                </a:solidFill>
              </a:rPr>
              <a:t>Repository → Show in Explorer (Windows) / Show in Finder (macOS)</a:t>
            </a:r>
          </a:p>
        </p:txBody>
      </p:sp>
      <p:sp>
        <p:nvSpPr>
          <p:cNvPr id="23" name="Place rows row 2"/>
          <p:cNvSpPr/>
          <p:nvPr/>
        </p:nvSpPr>
        <p:spPr>
          <a:xfrm>
            <a:off x="457200" y="4151376"/>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lace rows bar 2"/>
          <p:cNvSpPr/>
          <p:nvPr/>
        </p:nvSpPr>
        <p:spPr>
          <a:xfrm>
            <a:off x="457200" y="4151376"/>
            <a:ext cx="64008"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lace rows text 2"/>
          <p:cNvSpPr txBox="1"/>
          <p:nvPr/>
        </p:nvSpPr>
        <p:spPr>
          <a:xfrm>
            <a:off x="658368" y="4151376"/>
            <a:ext cx="7936992"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Moved it by mistake? </a:t>
            </a:r>
            <a:r>
              <a:rPr sz="1200" b="0" lang="en-GB">
                <a:solidFill>
                  <a:schemeClr val="tx1"/>
                </a:solidFill>
              </a:rPr>
              <a:t>GitHub Desktop says it cannot find it: click Locate… and pick the new place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Open the clone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pen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Clone in</a:t>
            </a:r>
            <a:br/>
            <a:r>
              <a:rPr sz="1100" b="1" lang="en-GB">
                <a:solidFill>
                  <a:schemeClr val="tx2"/>
                </a:solidFill>
              </a:rPr>
              <a:t>GitHub Desktop</a:t>
            </a:r>
          </a:p>
        </p:txBody>
      </p:sp>
      <p:sp>
        <p:nvSpPr>
          <p:cNvPr id="11" name="Open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Positron:</a:t>
            </a:r>
            <a:br/>
            <a:r>
              <a:rPr sz="1100" b="1" lang="en-GB">
                <a:solidFill>
                  <a:schemeClr val="tx2"/>
                </a:solidFill>
              </a:rPr>
              <a:t>Open Folder</a:t>
            </a:r>
          </a:p>
        </p:txBody>
      </p:sp>
      <p:sp>
        <p:nvSpPr>
          <p:cNvPr id="12" name="Open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Pick the</a:t>
            </a:r>
            <a:br/>
            <a:r>
              <a:rPr sz="1100" b="1" lang="en-GB">
                <a:solidFill>
                  <a:schemeClr val="tx2"/>
                </a:solidFill>
              </a:rPr>
              <a:t>cloned folder</a:t>
            </a:r>
          </a:p>
        </p:txBody>
      </p:sp>
      <p:sp>
        <p:nvSpPr>
          <p:cNvPr id="13" name="Open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Work, save</a:t>
            </a:r>
          </a:p>
        </p:txBody>
      </p:sp>
      <p:sp>
        <p:nvSpPr>
          <p:cNvPr id="14" name="Open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Back to</a:t>
            </a:r>
            <a:br/>
            <a:r>
              <a:rPr sz="1100" b="1" lang="en-GB">
                <a:solidFill>
                  <a:schemeClr val="tx2"/>
                </a:solidFill>
              </a:rPr>
              <a:t>GitHub Desktop</a:t>
            </a:r>
          </a:p>
        </p:txBody>
      </p:sp>
      <p:sp>
        <p:nvSpPr>
          <p:cNvPr id="15" name="Open P tile"/>
          <p:cNvSpPr/>
          <p:nvPr/>
        </p:nvSpPr>
        <p:spPr>
          <a:xfrm>
            <a:off x="457200" y="196596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Open P" descr=""/>
          <p:cNvPicPr>
            <a:picLocks noChangeAspect="1"/>
          </p:cNvPicPr>
          <p:nvPr/>
        </p:nvPicPr>
        <p:blipFill>
          <a:blip r:embed="rId3"/>
          <a:stretch>
            <a:fillRect/>
          </a:stretch>
        </p:blipFill>
        <p:spPr>
          <a:xfrm>
            <a:off x="594360" y="2103120"/>
            <a:ext cx="365760" cy="365760"/>
          </a:xfrm>
          <a:prstGeom prst="rect">
            <a:avLst/>
          </a:prstGeom>
        </p:spPr>
      </p:pic>
      <p:sp>
        <p:nvSpPr>
          <p:cNvPr id="17" name="Open P heading"/>
          <p:cNvSpPr txBox="1"/>
          <p:nvPr/>
        </p:nvSpPr>
        <p:spPr>
          <a:xfrm>
            <a:off x="1051560" y="210312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Positron</a:t>
            </a:r>
          </a:p>
        </p:txBody>
      </p:sp>
      <p:sp>
        <p:nvSpPr>
          <p:cNvPr id="18" name="Open P text"/>
          <p:cNvSpPr txBox="1"/>
          <p:nvPr/>
        </p:nvSpPr>
        <p:spPr>
          <a:xfrm>
            <a:off x="594360" y="2587752"/>
            <a:ext cx="3771900" cy="1234440"/>
          </a:xfrm>
          <a:prstGeom prst="rect">
            <a:avLst/>
          </a:prstGeom>
          <a:noFill/>
        </p:spPr>
        <p:txBody>
          <a:bodyPr wrap="square" lIns="0" rIns="0" tIns="0" bIns="0" anchor="t">
            <a:noAutofit/>
          </a:bodyPr>
          <a:lstStyle/>
          <a:p>
            <a:pPr algn="l">
              <a:spcAft>
                <a:spcPts val="400"/>
              </a:spcAft>
            </a:pPr>
            <a:r>
              <a:rPr sz="1200" b="0" lang="en-GB">
                <a:solidFill>
                  <a:schemeClr val="tx1"/>
                </a:solidFill>
              </a:rPr>
              <a:t>Edit and run code, render Quarto files. </a:t>
            </a:r>
          </a:p>
          <a:p>
            <a:pPr algn="l">
              <a:spcAft>
                <a:spcPts val="400"/>
              </a:spcAft>
            </a:pPr>
            <a:r>
              <a:rPr sz="1200" b="0" lang="en-GB">
                <a:solidFill>
                  <a:schemeClr val="tx1"/>
                </a:solidFill>
              </a:rPr>
              <a:t>Saved changes show up in GitHub Desktop at once.</a:t>
            </a:r>
          </a:p>
        </p:txBody>
      </p:sp>
      <p:sp>
        <p:nvSpPr>
          <p:cNvPr id="19" name="Open G tile"/>
          <p:cNvSpPr/>
          <p:nvPr/>
        </p:nvSpPr>
        <p:spPr>
          <a:xfrm>
            <a:off x="4640580" y="196596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Open G" descr=""/>
          <p:cNvPicPr>
            <a:picLocks noChangeAspect="1"/>
          </p:cNvPicPr>
          <p:nvPr/>
        </p:nvPicPr>
        <p:blipFill>
          <a:blip r:embed="rId4"/>
          <a:stretch>
            <a:fillRect/>
          </a:stretch>
        </p:blipFill>
        <p:spPr>
          <a:xfrm>
            <a:off x="4777740" y="2103120"/>
            <a:ext cx="365760" cy="365760"/>
          </a:xfrm>
          <a:prstGeom prst="rect">
            <a:avLst/>
          </a:prstGeom>
        </p:spPr>
      </p:pic>
      <p:sp>
        <p:nvSpPr>
          <p:cNvPr id="21" name="Open G heading"/>
          <p:cNvSpPr txBox="1"/>
          <p:nvPr/>
        </p:nvSpPr>
        <p:spPr>
          <a:xfrm>
            <a:off x="5234940" y="210312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GitHub Desktop</a:t>
            </a:r>
          </a:p>
        </p:txBody>
      </p:sp>
      <p:sp>
        <p:nvSpPr>
          <p:cNvPr id="22" name="Open G text"/>
          <p:cNvSpPr txBox="1"/>
          <p:nvPr/>
        </p:nvSpPr>
        <p:spPr>
          <a:xfrm>
            <a:off x="4777740" y="2587752"/>
            <a:ext cx="3771900" cy="1234440"/>
          </a:xfrm>
          <a:prstGeom prst="rect">
            <a:avLst/>
          </a:prstGeom>
          <a:noFill/>
        </p:spPr>
        <p:txBody>
          <a:bodyPr wrap="square" lIns="0" rIns="0" tIns="0" bIns="0" anchor="t">
            <a:noAutofit/>
          </a:bodyPr>
          <a:lstStyle/>
          <a:p>
            <a:pPr algn="l">
              <a:spcAft>
                <a:spcPts val="400"/>
              </a:spcAft>
            </a:pPr>
            <a:r>
              <a:rPr sz="1200" b="0" lang="en-GB">
                <a:solidFill>
                  <a:schemeClr val="tx1"/>
                </a:solidFill>
              </a:rPr>
              <a:t>Fetch, pull, commit and push. </a:t>
            </a:r>
          </a:p>
          <a:p>
            <a:pPr algn="l">
              <a:spcAft>
                <a:spcPts val="400"/>
              </a:spcAft>
            </a:pPr>
            <a:r>
              <a:rPr sz="1200" b="0" lang="en-GB">
                <a:solidFill>
                  <a:schemeClr val="tx1"/>
                </a:solidFill>
              </a:rPr>
              <a:t>Keep it open next to Positron.</a:t>
            </a:r>
          </a:p>
        </p:txBody>
      </p:sp>
      <p:sp>
        <p:nvSpPr>
          <p:cNvPr id="23" name="Open tip box"/>
          <p:cNvSpPr/>
          <p:nvPr/>
        </p:nvSpPr>
        <p:spPr>
          <a:xfrm>
            <a:off x="457200" y="406908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Open tip" descr=""/>
          <p:cNvPicPr>
            <a:picLocks noChangeAspect="1"/>
          </p:cNvPicPr>
          <p:nvPr/>
        </p:nvPicPr>
        <p:blipFill>
          <a:blip r:embed="rId5"/>
          <a:stretch>
            <a:fillRect/>
          </a:stretch>
        </p:blipFill>
        <p:spPr>
          <a:xfrm>
            <a:off x="658368" y="4229100"/>
            <a:ext cx="365760" cy="365760"/>
          </a:xfrm>
          <a:prstGeom prst="rect">
            <a:avLst/>
          </a:prstGeom>
        </p:spPr>
      </p:pic>
      <p:sp>
        <p:nvSpPr>
          <p:cNvPr id="25" name="Open tip text"/>
          <p:cNvSpPr txBox="1"/>
          <p:nvPr/>
        </p:nvSpPr>
        <p:spPr>
          <a:xfrm>
            <a:off x="1207008" y="406908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Tip: </a:t>
            </a:r>
            <a:r>
              <a:rPr sz="1200" b="0" lang="en-GB">
                <a:solidFill>
                  <a:schemeClr val="bg1"/>
                </a:solidFill>
              </a:rPr>
              <a:t>under Options → Integrations you can set an external editor; if Positron is not listed, simply open the folder from Positron.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12 · the everyday cycle, undoing mistakes, what never goes in</a:t>
            </a:r>
          </a:p>
        </p:txBody>
      </p:sp>
      <p:sp>
        <p:nvSpPr>
          <p:cNvPr id="3" name="Title 2"/>
          <p:cNvSpPr>
            <a:spLocks noGrp="1"/>
          </p:cNvSpPr>
          <p:nvPr>
            <p:ph type="ctrTitle"/>
          </p:nvPr>
        </p:nvSpPr>
        <p:spPr/>
        <p:txBody>
          <a:bodyPr/>
          <a:lstStyle/>
          <a:p>
            <a:r>
              <a:rPr sz="1600" lang="en-GB"/>
              <a:t>Pull, commit, push</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everyday cycle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ycle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1 Fetch</a:t>
            </a:r>
            <a:br/>
            <a:r>
              <a:rPr sz="1100" b="1" lang="en-GB">
                <a:solidFill>
                  <a:schemeClr val="tx2"/>
                </a:solidFill>
              </a:rPr>
              <a:t>origin</a:t>
            </a:r>
          </a:p>
        </p:txBody>
      </p:sp>
      <p:sp>
        <p:nvSpPr>
          <p:cNvPr id="11" name="Cycle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2 Pull</a:t>
            </a:r>
            <a:br/>
            <a:r>
              <a:rPr sz="1100" b="1" lang="en-GB">
                <a:solidFill>
                  <a:schemeClr val="tx2"/>
                </a:solidFill>
              </a:rPr>
              <a:t>origin</a:t>
            </a:r>
          </a:p>
        </p:txBody>
      </p:sp>
      <p:sp>
        <p:nvSpPr>
          <p:cNvPr id="12" name="Cycle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3 Work</a:t>
            </a:r>
            <a:br/>
            <a:r>
              <a:rPr sz="1100" b="1" lang="en-GB">
                <a:solidFill>
                  <a:schemeClr val="tx2"/>
                </a:solidFill>
              </a:rPr>
              <a:t>in Positron</a:t>
            </a:r>
          </a:p>
        </p:txBody>
      </p:sp>
      <p:sp>
        <p:nvSpPr>
          <p:cNvPr id="13" name="Cycle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4 Commit</a:t>
            </a:r>
            <a:br/>
            <a:r>
              <a:rPr sz="1100" b="1" lang="en-GB">
                <a:solidFill>
                  <a:schemeClr val="tx2"/>
                </a:solidFill>
              </a:rPr>
              <a:t>to main</a:t>
            </a:r>
          </a:p>
        </p:txBody>
      </p:sp>
      <p:sp>
        <p:nvSpPr>
          <p:cNvPr id="14" name="Cycle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5 Push</a:t>
            </a:r>
            <a:br/>
            <a:r>
              <a:rPr sz="1100" b="1" lang="en-GB">
                <a:solidFill>
                  <a:schemeClr val="tx2"/>
                </a:solidFill>
              </a:rPr>
              <a:t>origin</a:t>
            </a:r>
          </a:p>
        </p:txBody>
      </p:sp>
      <p:sp>
        <p:nvSpPr>
          <p:cNvPr id="15" name="Btn 1"/>
          <p:cNvSpPr/>
          <p:nvPr/>
        </p:nvSpPr>
        <p:spPr>
          <a:xfrm>
            <a:off x="457200" y="196596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tn text 1"/>
          <p:cNvSpPr txBox="1"/>
          <p:nvPr/>
        </p:nvSpPr>
        <p:spPr>
          <a:xfrm>
            <a:off x="457200" y="196596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Fetch origin</a:t>
            </a:r>
          </a:p>
        </p:txBody>
      </p:sp>
      <p:sp>
        <p:nvSpPr>
          <p:cNvPr id="17" name="Btn row 1"/>
          <p:cNvSpPr/>
          <p:nvPr/>
        </p:nvSpPr>
        <p:spPr>
          <a:xfrm>
            <a:off x="2926080" y="196596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tn desc 1"/>
          <p:cNvSpPr txBox="1"/>
          <p:nvPr/>
        </p:nvSpPr>
        <p:spPr>
          <a:xfrm>
            <a:off x="3063240" y="196596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asks GitHub what is new; changes nothing on your laptop</a:t>
            </a:r>
          </a:p>
        </p:txBody>
      </p:sp>
      <p:sp>
        <p:nvSpPr>
          <p:cNvPr id="19" name="Btn 2"/>
          <p:cNvSpPr/>
          <p:nvPr/>
        </p:nvSpPr>
        <p:spPr>
          <a:xfrm>
            <a:off x="457200" y="251460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tn text 2"/>
          <p:cNvSpPr txBox="1"/>
          <p:nvPr/>
        </p:nvSpPr>
        <p:spPr>
          <a:xfrm>
            <a:off x="457200" y="251460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Pull origin  ↓ 3</a:t>
            </a:r>
          </a:p>
        </p:txBody>
      </p:sp>
      <p:sp>
        <p:nvSpPr>
          <p:cNvPr id="21" name="Btn row 2"/>
          <p:cNvSpPr/>
          <p:nvPr/>
        </p:nvSpPr>
        <p:spPr>
          <a:xfrm>
            <a:off x="2926080" y="251460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tn desc 2"/>
          <p:cNvSpPr txBox="1"/>
          <p:nvPr/>
        </p:nvSpPr>
        <p:spPr>
          <a:xfrm>
            <a:off x="3063240" y="251460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downloads 3 new commits into your folder</a:t>
            </a:r>
          </a:p>
        </p:txBody>
      </p:sp>
      <p:sp>
        <p:nvSpPr>
          <p:cNvPr id="23" name="Btn 3"/>
          <p:cNvSpPr/>
          <p:nvPr/>
        </p:nvSpPr>
        <p:spPr>
          <a:xfrm>
            <a:off x="457200" y="306324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Btn text 3"/>
          <p:cNvSpPr txBox="1"/>
          <p:nvPr/>
        </p:nvSpPr>
        <p:spPr>
          <a:xfrm>
            <a:off x="457200" y="306324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Commit to main</a:t>
            </a:r>
          </a:p>
        </p:txBody>
      </p:sp>
      <p:sp>
        <p:nvSpPr>
          <p:cNvPr id="25" name="Btn row 3"/>
          <p:cNvSpPr/>
          <p:nvPr/>
        </p:nvSpPr>
        <p:spPr>
          <a:xfrm>
            <a:off x="2926080" y="306324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tn desc 3"/>
          <p:cNvSpPr txBox="1"/>
          <p:nvPr/>
        </p:nvSpPr>
        <p:spPr>
          <a:xfrm>
            <a:off x="3063240" y="306324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saves a snapshot of your checked files, on your laptop only</a:t>
            </a:r>
          </a:p>
        </p:txBody>
      </p:sp>
      <p:sp>
        <p:nvSpPr>
          <p:cNvPr id="27" name="Btn 4"/>
          <p:cNvSpPr/>
          <p:nvPr/>
        </p:nvSpPr>
        <p:spPr>
          <a:xfrm>
            <a:off x="457200" y="361188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Btn text 4"/>
          <p:cNvSpPr txBox="1"/>
          <p:nvPr/>
        </p:nvSpPr>
        <p:spPr>
          <a:xfrm>
            <a:off x="457200" y="361188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Push origin  ↑ 1</a:t>
            </a:r>
          </a:p>
        </p:txBody>
      </p:sp>
      <p:sp>
        <p:nvSpPr>
          <p:cNvPr id="29" name="Btn row 4"/>
          <p:cNvSpPr/>
          <p:nvPr/>
        </p:nvSpPr>
        <p:spPr>
          <a:xfrm>
            <a:off x="2926080" y="361188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Btn desc 4"/>
          <p:cNvSpPr txBox="1"/>
          <p:nvPr/>
        </p:nvSpPr>
        <p:spPr>
          <a:xfrm>
            <a:off x="3063240" y="361188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uploads your 1 new commit to GitHub</a:t>
            </a:r>
          </a:p>
        </p:txBody>
      </p:sp>
      <p:sp>
        <p:nvSpPr>
          <p:cNvPr id="31" name="Cycle rule box"/>
          <p:cNvSpPr/>
          <p:nvPr/>
        </p:nvSpPr>
        <p:spPr>
          <a:xfrm>
            <a:off x="457200" y="42519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Cycle rule" descr=""/>
          <p:cNvPicPr>
            <a:picLocks noChangeAspect="1"/>
          </p:cNvPicPr>
          <p:nvPr/>
        </p:nvPicPr>
        <p:blipFill>
          <a:blip r:embed="rId3"/>
          <a:stretch>
            <a:fillRect/>
          </a:stretch>
        </p:blipFill>
        <p:spPr>
          <a:xfrm>
            <a:off x="658368" y="4411980"/>
            <a:ext cx="365760" cy="365760"/>
          </a:xfrm>
          <a:prstGeom prst="rect">
            <a:avLst/>
          </a:prstGeom>
        </p:spPr>
      </p:pic>
      <p:sp>
        <p:nvSpPr>
          <p:cNvPr id="33" name="Cycle rule text"/>
          <p:cNvSpPr txBox="1"/>
          <p:nvPr/>
        </p:nvSpPr>
        <p:spPr>
          <a:xfrm>
            <a:off x="1207008" y="42519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Course repository: </a:t>
            </a:r>
            <a:r>
              <a:rPr sz="1200" b="0" lang="en-GB">
                <a:solidFill>
                  <a:schemeClr val="bg1"/>
                </a:solidFill>
              </a:rPr>
              <a:t>only fetch and pull, before every session. Your own work goes into your own folder or repository.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Pull: get the latest version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ull body"/>
          <p:cNvSpPr/>
          <p:nvPr/>
        </p:nvSpPr>
        <p:spPr>
          <a:xfrm>
            <a:off x="457200" y="1645920"/>
            <a:ext cx="4937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ull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ull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Before every session</a:t>
            </a:r>
          </a:p>
        </p:txBody>
      </p:sp>
      <p:pic>
        <p:nvPicPr>
          <p:cNvPr id="13" name="Icon Pull" descr=""/>
          <p:cNvPicPr>
            <a:picLocks noChangeAspect="1"/>
          </p:cNvPicPr>
          <p:nvPr/>
        </p:nvPicPr>
        <p:blipFill>
          <a:blip r:embed="rId3"/>
          <a:stretch>
            <a:fillRect/>
          </a:stretch>
        </p:blipFill>
        <p:spPr>
          <a:xfrm>
            <a:off x="4956048" y="1284732"/>
            <a:ext cx="310896" cy="310896"/>
          </a:xfrm>
          <a:prstGeom prst="rect">
            <a:avLst/>
          </a:prstGeom>
        </p:spPr>
      </p:pic>
      <p:sp>
        <p:nvSpPr>
          <p:cNvPr id="14" name="Pull text"/>
          <p:cNvSpPr txBox="1"/>
          <p:nvPr/>
        </p:nvSpPr>
        <p:spPr>
          <a:xfrm>
            <a:off x="621792" y="1783080"/>
            <a:ext cx="4636008" cy="187452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Current repository: </a:t>
            </a:r>
            <a:r>
              <a:rPr sz="1300" b="0" lang="en-GB">
                <a:solidFill>
                  <a:schemeClr val="tx1"/>
                </a:solidFill>
              </a:rPr>
              <a:t>pick the course repository</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Fetch origin</a:t>
            </a:r>
          </a:p>
          <a:p>
            <a:pPr algn="l">
              <a:spcAft>
                <a:spcPts val="900"/>
              </a:spcAft>
            </a:pPr>
            <a:r>
              <a:rPr sz="1300" b="1" lang="en-GB">
                <a:solidFill>
                  <a:schemeClr val="accent1"/>
                </a:solidFill>
              </a:rPr>
              <a:t>3  </a:t>
            </a:r>
            <a:r>
              <a:rPr sz="1300" b="1" lang="en-GB">
                <a:solidFill>
                  <a:schemeClr val="tx2"/>
                </a:solidFill>
              </a:rPr>
              <a:t>If it shows Pull origin ↓: </a:t>
            </a:r>
            <a:r>
              <a:rPr sz="1300" b="0" lang="en-GB">
                <a:solidFill>
                  <a:schemeClr val="tx1"/>
                </a:solidFill>
              </a:rPr>
              <a:t>click it</a:t>
            </a:r>
          </a:p>
          <a:p>
            <a:pPr algn="l">
              <a:spcAft>
                <a:spcPts val="900"/>
              </a:spcAft>
            </a:pPr>
            <a:r>
              <a:rPr sz="1300" b="1" lang="en-GB">
                <a:solidFill>
                  <a:schemeClr val="accent1"/>
                </a:solidFill>
              </a:rPr>
              <a:t>4  </a:t>
            </a:r>
            <a:r>
              <a:rPr sz="1300" b="1" lang="en-GB">
                <a:solidFill>
                  <a:schemeClr val="tx2"/>
                </a:solidFill>
              </a:rPr>
              <a:t>Done: </a:t>
            </a:r>
            <a:r>
              <a:rPr sz="1300" b="0" lang="en-GB">
                <a:solidFill>
                  <a:schemeClr val="tx1"/>
                </a:solidFill>
              </a:rPr>
              <a:t>the button says Fetch origin again</a:t>
            </a:r>
          </a:p>
        </p:txBody>
      </p:sp>
      <p:sp>
        <p:nvSpPr>
          <p:cNvPr id="15" name="Pull card body"/>
          <p:cNvSpPr/>
          <p:nvPr/>
        </p:nvSpPr>
        <p:spPr>
          <a:xfrm>
            <a:off x="5532120" y="1645920"/>
            <a:ext cx="315468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ull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ull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Pull refused?</a:t>
            </a:r>
          </a:p>
        </p:txBody>
      </p:sp>
      <p:pic>
        <p:nvPicPr>
          <p:cNvPr id="18" name="Icon Pull card" descr=""/>
          <p:cNvPicPr>
            <a:picLocks noChangeAspect="1"/>
          </p:cNvPicPr>
          <p:nvPr/>
        </p:nvPicPr>
        <p:blipFill>
          <a:blip r:embed="rId4"/>
          <a:stretch>
            <a:fillRect/>
          </a:stretch>
        </p:blipFill>
        <p:spPr>
          <a:xfrm>
            <a:off x="8247888" y="1284732"/>
            <a:ext cx="310896" cy="310896"/>
          </a:xfrm>
          <a:prstGeom prst="rect">
            <a:avLst/>
          </a:prstGeom>
        </p:spPr>
      </p:pic>
      <p:sp>
        <p:nvSpPr>
          <p:cNvPr id="19" name="Pull card text"/>
          <p:cNvSpPr txBox="1"/>
          <p:nvPr/>
        </p:nvSpPr>
        <p:spPr>
          <a:xfrm>
            <a:off x="5696712" y="1783080"/>
            <a:ext cx="285292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You edited a file that the update changes</a:t>
            </a:r>
          </a:p>
          <a:p>
            <a:pPr algn="l" marL="182880" indent="-182880">
              <a:spcAft>
                <a:spcPts val="600"/>
              </a:spcAft>
              <a:buClr>
                <a:schemeClr val="accent1"/>
              </a:buClr>
              <a:buFont typeface="Arial"/>
              <a:buChar char="▪"/>
            </a:pPr>
            <a:r>
              <a:rPr sz="1300" b="0" lang="en-GB">
                <a:solidFill>
                  <a:schemeClr val="tx1"/>
                </a:solidFill>
              </a:rPr>
              <a:t>Changes tab: right-click it → Discard changes</a:t>
            </a:r>
          </a:p>
          <a:p>
            <a:pPr algn="l" marL="182880" indent="-182880">
              <a:spcAft>
                <a:spcPts val="600"/>
              </a:spcAft>
              <a:buClr>
                <a:schemeClr val="accent1"/>
              </a:buClr>
              <a:buFont typeface="Arial"/>
              <a:buChar char="▪"/>
            </a:pPr>
            <a:r>
              <a:rPr sz="1300" b="0" lang="en-GB">
                <a:solidFill>
                  <a:schemeClr val="tx1"/>
                </a:solidFill>
              </a:rPr>
              <a:t>Then click Pull origin again</a:t>
            </a:r>
          </a:p>
        </p:txBody>
      </p:sp>
      <p:sp>
        <p:nvSpPr>
          <p:cNvPr id="20" name="Pull rule box"/>
          <p:cNvSpPr/>
          <p:nvPr/>
        </p:nvSpPr>
        <p:spPr>
          <a:xfrm>
            <a:off x="457200" y="388620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Pull rule" descr=""/>
          <p:cNvPicPr>
            <a:picLocks noChangeAspect="1"/>
          </p:cNvPicPr>
          <p:nvPr/>
        </p:nvPicPr>
        <p:blipFill>
          <a:blip r:embed="rId5"/>
          <a:stretch>
            <a:fillRect/>
          </a:stretch>
        </p:blipFill>
        <p:spPr>
          <a:xfrm>
            <a:off x="658368" y="4069080"/>
            <a:ext cx="365760" cy="365760"/>
          </a:xfrm>
          <a:prstGeom prst="rect">
            <a:avLst/>
          </a:prstGeom>
        </p:spPr>
      </p:pic>
      <p:sp>
        <p:nvSpPr>
          <p:cNvPr id="22" name="Pull rule text"/>
          <p:cNvSpPr txBox="1"/>
          <p:nvPr/>
        </p:nvSpPr>
        <p:spPr>
          <a:xfrm>
            <a:off x="1207008" y="388620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Golden rule: </a:t>
            </a:r>
            <a:r>
              <a:rPr sz="1200" b="0" lang="en-GB">
                <a:solidFill>
                  <a:schemeClr val="bg1"/>
                </a:solidFill>
              </a:rPr>
              <a:t>never edit files inside the course repository. Copy them into your own project folder first.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Commit: save a snapshot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mmit body"/>
          <p:cNvSpPr/>
          <p:nvPr/>
        </p:nvSpPr>
        <p:spPr>
          <a:xfrm>
            <a:off x="457200" y="1645920"/>
            <a:ext cx="4937760"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mmi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mmi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the Changes tab</a:t>
            </a:r>
          </a:p>
        </p:txBody>
      </p:sp>
      <p:pic>
        <p:nvPicPr>
          <p:cNvPr id="13" name="Icon Commit" descr=""/>
          <p:cNvPicPr>
            <a:picLocks noChangeAspect="1"/>
          </p:cNvPicPr>
          <p:nvPr/>
        </p:nvPicPr>
        <p:blipFill>
          <a:blip r:embed="rId3"/>
          <a:stretch>
            <a:fillRect/>
          </a:stretch>
        </p:blipFill>
        <p:spPr>
          <a:xfrm>
            <a:off x="4956048" y="1284732"/>
            <a:ext cx="310896" cy="310896"/>
          </a:xfrm>
          <a:prstGeom prst="rect">
            <a:avLst/>
          </a:prstGeom>
        </p:spPr>
      </p:pic>
      <p:sp>
        <p:nvSpPr>
          <p:cNvPr id="14" name="Commit text"/>
          <p:cNvSpPr txBox="1"/>
          <p:nvPr/>
        </p:nvSpPr>
        <p:spPr>
          <a:xfrm>
            <a:off x="621792" y="1783080"/>
            <a:ext cx="4636008" cy="21488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Look </a:t>
            </a:r>
            <a:r>
              <a:rPr sz="1300" b="0" lang="en-GB">
                <a:solidFill>
                  <a:schemeClr val="tx1"/>
                </a:solidFill>
              </a:rPr>
              <a:t>at the list of changed files</a:t>
            </a:r>
          </a:p>
          <a:p>
            <a:pPr algn="l">
              <a:spcAft>
                <a:spcPts val="900"/>
              </a:spcAft>
            </a:pPr>
            <a:r>
              <a:rPr sz="1300" b="1" lang="en-GB">
                <a:solidFill>
                  <a:schemeClr val="accent1"/>
                </a:solidFill>
              </a:rPr>
              <a:t>2  </a:t>
            </a:r>
            <a:r>
              <a:rPr sz="1300" b="1" lang="en-GB">
                <a:solidFill>
                  <a:schemeClr val="tx2"/>
                </a:solidFill>
              </a:rPr>
              <a:t>Click a file </a:t>
            </a:r>
            <a:r>
              <a:rPr sz="1300" b="0" lang="en-GB">
                <a:solidFill>
                  <a:schemeClr val="tx1"/>
                </a:solidFill>
              </a:rPr>
              <a:t>to see the diff: red removed, green added</a:t>
            </a:r>
          </a:p>
          <a:p>
            <a:pPr algn="l">
              <a:spcAft>
                <a:spcPts val="900"/>
              </a:spcAft>
            </a:pPr>
            <a:r>
              <a:rPr sz="1300" b="1" lang="en-GB">
                <a:solidFill>
                  <a:schemeClr val="accent1"/>
                </a:solidFill>
              </a:rPr>
              <a:t>3  </a:t>
            </a:r>
            <a:r>
              <a:rPr sz="1300" b="1" lang="en-GB">
                <a:solidFill>
                  <a:schemeClr val="tx2"/>
                </a:solidFill>
              </a:rPr>
              <a:t>Tick </a:t>
            </a:r>
            <a:r>
              <a:rPr sz="1300" b="0" lang="en-GB">
                <a:solidFill>
                  <a:schemeClr val="tx1"/>
                </a:solidFill>
              </a:rPr>
              <a:t>the files that belong together</a:t>
            </a:r>
          </a:p>
          <a:p>
            <a:pPr algn="l">
              <a:spcAft>
                <a:spcPts val="900"/>
              </a:spcAft>
            </a:pPr>
            <a:r>
              <a:rPr sz="1300" b="1" lang="en-GB">
                <a:solidFill>
                  <a:schemeClr val="accent1"/>
                </a:solidFill>
              </a:rPr>
              <a:t>4  </a:t>
            </a:r>
            <a:r>
              <a:rPr sz="1300" b="1" lang="en-GB">
                <a:solidFill>
                  <a:schemeClr val="tx2"/>
                </a:solidFill>
              </a:rPr>
              <a:t>Summary: </a:t>
            </a:r>
            <a:r>
              <a:rPr sz="1300" b="0" lang="en-GB">
                <a:solidFill>
                  <a:schemeClr val="tx1"/>
                </a:solidFill>
              </a:rPr>
              <a:t>what changed, e.g. Add Austria sales chart</a:t>
            </a:r>
          </a:p>
          <a:p>
            <a:pPr algn="l">
              <a:spcAft>
                <a:spcPts val="900"/>
              </a:spcAft>
            </a:pPr>
            <a:r>
              <a:rPr sz="1300" b="1" lang="en-GB">
                <a:solidFill>
                  <a:schemeClr val="accent1"/>
                </a:solidFill>
              </a:rPr>
              <a:t>5  </a:t>
            </a:r>
            <a:r>
              <a:rPr sz="1300" b="1" lang="en-GB">
                <a:solidFill>
                  <a:schemeClr val="tx2"/>
                </a:solidFill>
              </a:rPr>
              <a:t>Click </a:t>
            </a:r>
            <a:r>
              <a:rPr sz="1300" b="0" lang="en-GB">
                <a:solidFill>
                  <a:schemeClr val="tx1"/>
                </a:solidFill>
              </a:rPr>
              <a:t>Commit to main</a:t>
            </a:r>
          </a:p>
        </p:txBody>
      </p:sp>
      <p:sp>
        <p:nvSpPr>
          <p:cNvPr id="15" name="Commit card body"/>
          <p:cNvSpPr/>
          <p:nvPr/>
        </p:nvSpPr>
        <p:spPr>
          <a:xfrm>
            <a:off x="5532120" y="1645920"/>
            <a:ext cx="3154680"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mmit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mmit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commits</a:t>
            </a:r>
          </a:p>
        </p:txBody>
      </p:sp>
      <p:pic>
        <p:nvPicPr>
          <p:cNvPr id="18" name="Icon Commit card" descr=""/>
          <p:cNvPicPr>
            <a:picLocks noChangeAspect="1"/>
          </p:cNvPicPr>
          <p:nvPr/>
        </p:nvPicPr>
        <p:blipFill>
          <a:blip r:embed="rId4"/>
          <a:stretch>
            <a:fillRect/>
          </a:stretch>
        </p:blipFill>
        <p:spPr>
          <a:xfrm>
            <a:off x="8247888" y="1284732"/>
            <a:ext cx="310896" cy="310896"/>
          </a:xfrm>
          <a:prstGeom prst="rect">
            <a:avLst/>
          </a:prstGeom>
        </p:spPr>
      </p:pic>
      <p:sp>
        <p:nvSpPr>
          <p:cNvPr id="19" name="Commit card text"/>
          <p:cNvSpPr txBox="1"/>
          <p:nvPr/>
        </p:nvSpPr>
        <p:spPr>
          <a:xfrm>
            <a:off x="5696712" y="1783080"/>
            <a:ext cx="2852928" cy="21031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Small: one step per commit</a:t>
            </a:r>
          </a:p>
          <a:p>
            <a:pPr algn="l" marL="182880" indent="-182880">
              <a:spcAft>
                <a:spcPts val="600"/>
              </a:spcAft>
              <a:buClr>
                <a:schemeClr val="accent1"/>
              </a:buClr>
              <a:buFont typeface="Arial"/>
              <a:buChar char="▪"/>
            </a:pPr>
            <a:r>
              <a:rPr sz="1300" b="0" lang="en-GB">
                <a:solidFill>
                  <a:schemeClr val="tx1"/>
                </a:solidFill>
              </a:rPr>
              <a:t>Summary in the imperative: Add, Fix, Update</a:t>
            </a:r>
          </a:p>
          <a:p>
            <a:pPr algn="l" marL="182880" indent="-182880">
              <a:spcAft>
                <a:spcPts val="600"/>
              </a:spcAft>
              <a:buClr>
                <a:schemeClr val="accent1"/>
              </a:buClr>
              <a:buFont typeface="Arial"/>
              <a:buChar char="▪"/>
            </a:pPr>
            <a:r>
              <a:rPr sz="1300" b="0" lang="en-GB">
                <a:solidFill>
                  <a:schemeClr val="tx1"/>
                </a:solidFill>
              </a:rPr>
              <a:t>Commit when something works</a:t>
            </a:r>
          </a:p>
          <a:p>
            <a:pPr algn="l" marL="182880" indent="-182880">
              <a:spcAft>
                <a:spcPts val="600"/>
              </a:spcAft>
              <a:buClr>
                <a:schemeClr val="accent1"/>
              </a:buClr>
              <a:buFont typeface="Arial"/>
              <a:buChar char="▪"/>
            </a:pPr>
            <a:r>
              <a:rPr sz="1300" b="0" lang="en-GB">
                <a:solidFill>
                  <a:schemeClr val="tx1"/>
                </a:solidFill>
              </a:rPr>
              <a:t>Copilot button: draft message, then check</a:t>
            </a:r>
          </a:p>
        </p:txBody>
      </p:sp>
      <p:sp>
        <p:nvSpPr>
          <p:cNvPr id="20" name="Commit hist box"/>
          <p:cNvSpPr/>
          <p:nvPr/>
        </p:nvSpPr>
        <p:spPr>
          <a:xfrm>
            <a:off x="457200" y="4160520"/>
            <a:ext cx="822960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ommit hist" descr=""/>
          <p:cNvPicPr>
            <a:picLocks noChangeAspect="1"/>
          </p:cNvPicPr>
          <p:nvPr/>
        </p:nvPicPr>
        <p:blipFill>
          <a:blip r:embed="rId5"/>
          <a:stretch>
            <a:fillRect/>
          </a:stretch>
        </p:blipFill>
        <p:spPr>
          <a:xfrm>
            <a:off x="658368" y="4320540"/>
            <a:ext cx="365760" cy="365760"/>
          </a:xfrm>
          <a:prstGeom prst="rect">
            <a:avLst/>
          </a:prstGeom>
        </p:spPr>
      </p:pic>
      <p:sp>
        <p:nvSpPr>
          <p:cNvPr id="22" name="Commit hist text"/>
          <p:cNvSpPr txBox="1"/>
          <p:nvPr/>
        </p:nvSpPr>
        <p:spPr>
          <a:xfrm>
            <a:off x="1207008" y="4160520"/>
            <a:ext cx="7315200" cy="685800"/>
          </a:xfrm>
          <a:prstGeom prst="rect">
            <a:avLst/>
          </a:prstGeom>
          <a:noFill/>
        </p:spPr>
        <p:txBody>
          <a:bodyPr wrap="square" lIns="0" rIns="0" tIns="0" bIns="0" anchor="ctr">
            <a:noAutofit/>
          </a:bodyPr>
          <a:lstStyle/>
          <a:p>
            <a:pPr algn="l">
              <a:spcAft>
                <a:spcPts val="400"/>
              </a:spcAft>
            </a:pPr>
            <a:r>
              <a:rPr sz="1200" b="1" lang="en-GB">
                <a:solidFill>
                  <a:schemeClr val="tx2"/>
                </a:solidFill>
              </a:rPr>
              <a:t>History tab: </a:t>
            </a:r>
            <a:r>
              <a:rPr sz="1200" b="0" lang="en-GB">
                <a:solidFill>
                  <a:schemeClr val="tx1"/>
                </a:solidFill>
              </a:rPr>
              <a:t>every commit with author, date and diff. You can always go back.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Push: upload your commits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ush body"/>
          <p:cNvSpPr/>
          <p:nvPr/>
        </p:nvSpPr>
        <p:spPr>
          <a:xfrm>
            <a:off x="457200" y="1645920"/>
            <a:ext cx="4937760" cy="1965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ush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ush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Push</a:t>
            </a:r>
          </a:p>
        </p:txBody>
      </p:sp>
      <p:pic>
        <p:nvPicPr>
          <p:cNvPr id="13" name="Icon Push" descr=""/>
          <p:cNvPicPr>
            <a:picLocks noChangeAspect="1"/>
          </p:cNvPicPr>
          <p:nvPr/>
        </p:nvPicPr>
        <p:blipFill>
          <a:blip r:embed="rId3"/>
          <a:stretch>
            <a:fillRect/>
          </a:stretch>
        </p:blipFill>
        <p:spPr>
          <a:xfrm>
            <a:off x="4956048" y="1284732"/>
            <a:ext cx="310896" cy="310896"/>
          </a:xfrm>
          <a:prstGeom prst="rect">
            <a:avLst/>
          </a:prstGeom>
        </p:spPr>
      </p:pic>
      <p:sp>
        <p:nvSpPr>
          <p:cNvPr id="14" name="Push text"/>
          <p:cNvSpPr txBox="1"/>
          <p:nvPr/>
        </p:nvSpPr>
        <p:spPr>
          <a:xfrm>
            <a:off x="621792" y="1783080"/>
            <a:ext cx="4636008" cy="17373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After committing, click </a:t>
            </a:r>
            <a:r>
              <a:rPr sz="1300" b="0" lang="en-GB">
                <a:solidFill>
                  <a:schemeClr val="tx1"/>
                </a:solidFill>
              </a:rPr>
              <a:t>Push origin ↑</a:t>
            </a:r>
          </a:p>
          <a:p>
            <a:pPr algn="l">
              <a:spcAft>
                <a:spcPts val="900"/>
              </a:spcAft>
            </a:pPr>
            <a:r>
              <a:rPr sz="1300" b="1" lang="en-GB">
                <a:solidFill>
                  <a:schemeClr val="accent1"/>
                </a:solidFill>
              </a:rPr>
              <a:t>2  </a:t>
            </a:r>
            <a:r>
              <a:rPr sz="1300" b="1" lang="en-GB">
                <a:solidFill>
                  <a:schemeClr val="tx2"/>
                </a:solidFill>
              </a:rPr>
              <a:t>New commits on remote? </a:t>
            </a:r>
            <a:r>
              <a:rPr sz="1300" b="0" lang="en-GB">
                <a:solidFill>
                  <a:schemeClr val="tx1"/>
                </a:solidFill>
              </a:rPr>
              <a:t>click Fetch, then Pull origin</a:t>
            </a:r>
          </a:p>
          <a:p>
            <a:pPr algn="l">
              <a:spcAft>
                <a:spcPts val="900"/>
              </a:spcAft>
            </a:pPr>
            <a:r>
              <a:rPr sz="1300" b="1" lang="en-GB">
                <a:solidFill>
                  <a:schemeClr val="accent1"/>
                </a:solidFill>
              </a:rPr>
              <a:t>3  </a:t>
            </a:r>
            <a:r>
              <a:rPr sz="1300" b="1" lang="en-GB">
                <a:solidFill>
                  <a:schemeClr val="tx2"/>
                </a:solidFill>
              </a:rPr>
              <a:t>Then </a:t>
            </a:r>
            <a:r>
              <a:rPr sz="1300" b="0" lang="en-GB">
                <a:solidFill>
                  <a:schemeClr val="tx1"/>
                </a:solidFill>
              </a:rPr>
              <a:t>Push origin again</a:t>
            </a:r>
          </a:p>
          <a:p>
            <a:pPr algn="l">
              <a:spcAft>
                <a:spcPts val="900"/>
              </a:spcAft>
            </a:pPr>
            <a:r>
              <a:rPr sz="1300" b="1" lang="en-GB">
                <a:solidFill>
                  <a:schemeClr val="accent1"/>
                </a:solidFill>
              </a:rPr>
              <a:t>4  </a:t>
            </a:r>
            <a:r>
              <a:rPr sz="1300" b="1" lang="en-GB">
                <a:solidFill>
                  <a:schemeClr val="tx2"/>
                </a:solidFill>
              </a:rPr>
              <a:t>Check </a:t>
            </a:r>
            <a:r>
              <a:rPr sz="1300" b="0" lang="en-GB">
                <a:solidFill>
                  <a:schemeClr val="tx1"/>
                </a:solidFill>
              </a:rPr>
              <a:t>on github.com: Repository → View on GitHub</a:t>
            </a:r>
          </a:p>
        </p:txBody>
      </p:sp>
      <p:sp>
        <p:nvSpPr>
          <p:cNvPr id="15" name="Push limits box"/>
          <p:cNvSpPr/>
          <p:nvPr/>
        </p:nvSpPr>
        <p:spPr>
          <a:xfrm>
            <a:off x="5532120" y="1234440"/>
            <a:ext cx="3154680"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im bar 1"/>
          <p:cNvSpPr/>
          <p:nvPr/>
        </p:nvSpPr>
        <p:spPr>
          <a:xfrm>
            <a:off x="5669280" y="137160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im 1"/>
          <p:cNvSpPr txBox="1"/>
          <p:nvPr/>
        </p:nvSpPr>
        <p:spPr>
          <a:xfrm>
            <a:off x="5852160" y="1371600"/>
            <a:ext cx="2743200" cy="91440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100 MiB</a:t>
            </a:r>
          </a:p>
          <a:p>
            <a:pPr algn="l">
              <a:spcAft>
                <a:spcPts val="0"/>
              </a:spcAft>
            </a:pPr>
            <a:r>
              <a:rPr sz="1200" b="0" lang="en-GB">
                <a:solidFill>
                  <a:schemeClr val="tx1"/>
                </a:solidFill>
              </a:rPr>
              <a:t>largest file GitHub accepts</a:t>
            </a:r>
          </a:p>
        </p:txBody>
      </p:sp>
      <p:sp>
        <p:nvSpPr>
          <p:cNvPr id="18" name="Lim bar 2"/>
          <p:cNvSpPr/>
          <p:nvPr/>
        </p:nvSpPr>
        <p:spPr>
          <a:xfrm>
            <a:off x="5669280" y="246888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im 2"/>
          <p:cNvSpPr txBox="1"/>
          <p:nvPr/>
        </p:nvSpPr>
        <p:spPr>
          <a:xfrm>
            <a:off x="5852160" y="2468880"/>
            <a:ext cx="2743200" cy="91440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50 MiB</a:t>
            </a:r>
          </a:p>
          <a:p>
            <a:pPr algn="l">
              <a:spcAft>
                <a:spcPts val="0"/>
              </a:spcAft>
            </a:pPr>
            <a:r>
              <a:rPr sz="1200" b="0" lang="en-GB">
                <a:solidFill>
                  <a:schemeClr val="tx1"/>
                </a:solidFill>
              </a:rPr>
              <a:t>GitHub warns from this size</a:t>
            </a:r>
          </a:p>
        </p:txBody>
      </p:sp>
      <p:sp>
        <p:nvSpPr>
          <p:cNvPr id="20" name="Push fork box"/>
          <p:cNvSpPr/>
          <p:nvPr/>
        </p:nvSpPr>
        <p:spPr>
          <a:xfrm>
            <a:off x="457200" y="3749040"/>
            <a:ext cx="82296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Push fork" descr=""/>
          <p:cNvPicPr>
            <a:picLocks noChangeAspect="1"/>
          </p:cNvPicPr>
          <p:nvPr/>
        </p:nvPicPr>
        <p:blipFill>
          <a:blip r:embed="rId4"/>
          <a:stretch>
            <a:fillRect/>
          </a:stretch>
        </p:blipFill>
        <p:spPr>
          <a:xfrm>
            <a:off x="658368" y="4000500"/>
            <a:ext cx="365760" cy="365760"/>
          </a:xfrm>
          <a:prstGeom prst="rect">
            <a:avLst/>
          </a:prstGeom>
        </p:spPr>
      </p:pic>
      <p:sp>
        <p:nvSpPr>
          <p:cNvPr id="22" name="Push fork text"/>
          <p:cNvSpPr txBox="1"/>
          <p:nvPr/>
        </p:nvSpPr>
        <p:spPr>
          <a:xfrm>
            <a:off x="1207008" y="3749040"/>
            <a:ext cx="7315200" cy="868680"/>
          </a:xfrm>
          <a:prstGeom prst="rect">
            <a:avLst/>
          </a:prstGeom>
          <a:noFill/>
        </p:spPr>
        <p:txBody>
          <a:bodyPr wrap="square" lIns="0" rIns="0" tIns="0" bIns="0" anchor="ctr">
            <a:noAutofit/>
          </a:bodyPr>
          <a:lstStyle/>
          <a:p>
            <a:pPr algn="l">
              <a:spcAft>
                <a:spcPts val="400"/>
              </a:spcAft>
            </a:pPr>
            <a:r>
              <a:rPr sz="1200" b="1" lang="en-GB">
                <a:solidFill>
                  <a:schemeClr val="bg1"/>
                </a:solidFill>
              </a:rPr>
              <a:t>Asked to create a fork? </a:t>
            </a:r>
            <a:r>
              <a:rPr sz="1200" b="0" lang="en-GB">
                <a:solidFill>
                  <a:schemeClr val="bg1"/>
                </a:solidFill>
              </a:rPr>
              <a:t>you tried to push to a repository you cannot write to, such as the course repository. Cancel, and keep your work in your own repository.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Undo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200400"/>
                <a:gridCol w="5029200"/>
              </a:tblGrid>
              <a:tr h="370840">
                <a:tc>
                  <a:txBody>
                    <a:bodyPr/>
                    <a:lstStyle/>
                    <a:p>
                      <a:r>
                        <a:rPr sz="1300" lang="en-GB"/>
                        <a:t>Situation</a:t>
                      </a:r>
                    </a:p>
                  </a:txBody>
                  <a:tcPr marT="55000" marB="55000"/>
                </a:tc>
                <a:tc>
                  <a:txBody>
                    <a:bodyPr/>
                    <a:lstStyle/>
                    <a:p>
                      <a:r>
                        <a:rPr sz="1300" lang="en-GB"/>
                        <a:t>In GitHub Desktop</a:t>
                      </a:r>
                    </a:p>
                  </a:txBody>
                  <a:tcPr marT="55000" marB="55000"/>
                </a:tc>
              </a:tr>
              <a:tr h="370840">
                <a:tc>
                  <a:txBody>
                    <a:bodyPr/>
                    <a:lstStyle/>
                    <a:p>
                      <a:r>
                        <a:rPr sz="1200" b="1" lang="en-GB"/>
                        <a:t>Changed a file, want the old version</a:t>
                      </a:r>
                    </a:p>
                  </a:txBody>
                  <a:tcPr marT="55000" marB="55000"/>
                </a:tc>
                <a:tc>
                  <a:txBody>
                    <a:bodyPr/>
                    <a:lstStyle/>
                    <a:p>
                      <a:r>
                        <a:rPr sz="1200" lang="en-GB"/>
                        <a:t>Changes tab: right-click the file → Discard changes</a:t>
                      </a:r>
                    </a:p>
                  </a:txBody>
                  <a:tcPr marT="55000" marB="55000"/>
                </a:tc>
              </a:tr>
              <a:tr h="370840">
                <a:tc>
                  <a:txBody>
                    <a:bodyPr/>
                    <a:lstStyle/>
                    <a:p>
                      <a:r>
                        <a:rPr sz="1200" b="1" lang="en-GB"/>
                        <a:t>Last commit was wrong, not pushed yet</a:t>
                      </a:r>
                    </a:p>
                  </a:txBody>
                  <a:tcPr marT="55000" marB="55000"/>
                </a:tc>
                <a:tc>
                  <a:txBody>
                    <a:bodyPr/>
                    <a:lstStyle/>
                    <a:p>
                      <a:r>
                        <a:rPr sz="1200" lang="en-GB"/>
                        <a:t>Click Undo next to the commit message</a:t>
                      </a:r>
                    </a:p>
                  </a:txBody>
                  <a:tcPr marT="55000" marB="55000"/>
                </a:tc>
              </a:tr>
              <a:tr h="370840">
                <a:tc>
                  <a:txBody>
                    <a:bodyPr/>
                    <a:lstStyle/>
                    <a:p>
                      <a:r>
                        <a:rPr sz="1200" b="1" lang="en-GB"/>
                        <a:t>A pushed commit was wrong</a:t>
                      </a:r>
                    </a:p>
                  </a:txBody>
                  <a:tcPr marT="55000" marB="55000"/>
                </a:tc>
                <a:tc>
                  <a:txBody>
                    <a:bodyPr/>
                    <a:lstStyle/>
                    <a:p>
                      <a:r>
                        <a:rPr sz="1200" lang="en-GB"/>
                        <a:t>History: right-click the commit → Revert changes in commit</a:t>
                      </a:r>
                    </a:p>
                  </a:txBody>
                  <a:tcPr marT="55000" marB="55000"/>
                </a:tc>
              </a:tr>
              <a:tr h="370840">
                <a:tc>
                  <a:txBody>
                    <a:bodyPr/>
                    <a:lstStyle/>
                    <a:p>
                      <a:r>
                        <a:rPr sz="1200" b="1" lang="en-GB"/>
                        <a:t>Merge conflict after a pull</a:t>
                      </a:r>
                    </a:p>
                  </a:txBody>
                  <a:tcPr marT="55000" marB="55000"/>
                </a:tc>
                <a:tc>
                  <a:txBody>
                    <a:bodyPr/>
                    <a:lstStyle/>
                    <a:p>
                      <a:r>
                        <a:rPr sz="1200" lang="en-GB"/>
                        <a:t>Open the file, keep the right lines, delete &lt;&lt;&lt;&lt;&lt;&lt;&lt; ======= &gt;&gt;&gt;&gt;&gt;&gt;&gt;, commit</a:t>
                      </a:r>
                    </a:p>
                  </a:txBody>
                  <a:tcPr marT="55000" marB="55000"/>
                </a:tc>
              </a:tr>
              <a:tr h="370840">
                <a:tc>
                  <a:txBody>
                    <a:bodyPr/>
                    <a:lstStyle/>
                    <a:p>
                      <a:r>
                        <a:rPr sz="1200" b="1" lang="en-GB"/>
                        <a:t>Folder moved or renamed</a:t>
                      </a:r>
                    </a:p>
                  </a:txBody>
                  <a:tcPr marT="55000" marB="55000"/>
                </a:tc>
                <a:tc>
                  <a:txBody>
                    <a:bodyPr/>
                    <a:lstStyle/>
                    <a:p>
                      <a:r>
                        <a:rPr sz="1200" lang="en-GB"/>
                        <a:t>Click Locate… and pick the folder</a:t>
                      </a:r>
                    </a:p>
                  </a:txBody>
                  <a:tcPr marT="55000" marB="55000"/>
                </a:tc>
              </a:tr>
            </a:tbl>
          </a:graphicData>
        </a:graphic>
      </p:graphicFrame>
      <p:sp>
        <p:nvSpPr>
          <p:cNvPr id="3" name="Title 2"/>
          <p:cNvSpPr>
            <a:spLocks noGrp="1"/>
          </p:cNvSpPr>
          <p:nvPr>
            <p:ph type="title"/>
          </p:nvPr>
        </p:nvSpPr>
        <p:spPr/>
        <p:txBody>
          <a:bodyPr/>
          <a:lstStyle/>
          <a:p>
            <a:r>
              <a:rPr sz="1600" lang="en-GB"/>
              <a:t>Oops: undo and fix</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Undo help box"/>
          <p:cNvSpPr/>
          <p:nvPr/>
        </p:nvSpPr>
        <p:spPr>
          <a:xfrm>
            <a:off x="457200" y="420624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Undo help" descr=""/>
          <p:cNvPicPr>
            <a:picLocks noChangeAspect="1"/>
          </p:cNvPicPr>
          <p:nvPr/>
        </p:nvPicPr>
        <p:blipFill>
          <a:blip r:embed="rId3"/>
          <a:stretch>
            <a:fillRect/>
          </a:stretch>
        </p:blipFill>
        <p:spPr>
          <a:xfrm>
            <a:off x="658368" y="4320540"/>
            <a:ext cx="365760" cy="365760"/>
          </a:xfrm>
          <a:prstGeom prst="rect">
            <a:avLst/>
          </a:prstGeom>
        </p:spPr>
      </p:pic>
      <p:sp>
        <p:nvSpPr>
          <p:cNvPr id="12" name="Undo help text"/>
          <p:cNvSpPr txBox="1"/>
          <p:nvPr/>
        </p:nvSpPr>
        <p:spPr>
          <a:xfrm>
            <a:off x="1207008" y="420624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Lost? </a:t>
            </a:r>
            <a:r>
              <a:rPr sz="1200" b="0" lang="en-GB">
                <a:solidFill>
                  <a:schemeClr val="tx1"/>
                </a:solidFill>
              </a:rPr>
              <a:t>Do not delete the folder. Ask first: almost everything can be recovered.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never goes into a repository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ever 1 tile"/>
          <p:cNvSpPr/>
          <p:nvPr/>
        </p:nvSpPr>
        <p:spPr>
          <a:xfrm>
            <a:off x="457200" y="1234440"/>
            <a:ext cx="265176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Never 1" descr=""/>
          <p:cNvPicPr>
            <a:picLocks noChangeAspect="1"/>
          </p:cNvPicPr>
          <p:nvPr/>
        </p:nvPicPr>
        <p:blipFill>
          <a:blip r:embed="rId3"/>
          <a:stretch>
            <a:fillRect/>
          </a:stretch>
        </p:blipFill>
        <p:spPr>
          <a:xfrm>
            <a:off x="594360" y="1371600"/>
            <a:ext cx="365760" cy="365760"/>
          </a:xfrm>
          <a:prstGeom prst="rect">
            <a:avLst/>
          </a:prstGeom>
        </p:spPr>
      </p:pic>
      <p:sp>
        <p:nvSpPr>
          <p:cNvPr id="12" name="Never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Secrets</a:t>
            </a:r>
          </a:p>
        </p:txBody>
      </p:sp>
      <p:sp>
        <p:nvSpPr>
          <p:cNvPr id="13" name="Never 1 text"/>
          <p:cNvSpPr txBox="1"/>
          <p:nvPr/>
        </p:nvSpPr>
        <p:spPr>
          <a:xfrm>
            <a:off x="594360" y="1856232"/>
            <a:ext cx="2377440" cy="1005840"/>
          </a:xfrm>
          <a:prstGeom prst="rect">
            <a:avLst/>
          </a:prstGeom>
          <a:noFill/>
        </p:spPr>
        <p:txBody>
          <a:bodyPr wrap="square" lIns="0" rIns="0" tIns="0" bIns="0" anchor="t">
            <a:noAutofit/>
          </a:bodyPr>
          <a:lstStyle/>
          <a:p>
            <a:pPr algn="l">
              <a:spcAft>
                <a:spcPts val="400"/>
              </a:spcAft>
            </a:pPr>
            <a:r>
              <a:rPr sz="1200" b="0" lang="en-GB">
                <a:solidFill>
                  <a:schemeClr val="tx1"/>
                </a:solidFill>
              </a:rPr>
              <a:t>Passwords, API keys, tokens</a:t>
            </a:r>
          </a:p>
          <a:p>
            <a:pPr algn="l">
              <a:spcAft>
                <a:spcPts val="400"/>
              </a:spcAft>
            </a:pPr>
            <a:r>
              <a:rPr sz="1200" b="0" lang="en-GB">
                <a:solidFill>
                  <a:schemeClr val="tx1"/>
                </a:solidFill>
              </a:rPr>
              <a:t>Files such as .env</a:t>
            </a:r>
          </a:p>
        </p:txBody>
      </p:sp>
      <p:sp>
        <p:nvSpPr>
          <p:cNvPr id="14" name="Never 2 tile"/>
          <p:cNvSpPr/>
          <p:nvPr/>
        </p:nvSpPr>
        <p:spPr>
          <a:xfrm>
            <a:off x="3246120" y="1234440"/>
            <a:ext cx="265176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Never 2" descr=""/>
          <p:cNvPicPr>
            <a:picLocks noChangeAspect="1"/>
          </p:cNvPicPr>
          <p:nvPr/>
        </p:nvPicPr>
        <p:blipFill>
          <a:blip r:embed="rId4"/>
          <a:stretch>
            <a:fillRect/>
          </a:stretch>
        </p:blipFill>
        <p:spPr>
          <a:xfrm>
            <a:off x="3383280" y="1371600"/>
            <a:ext cx="365760" cy="365760"/>
          </a:xfrm>
          <a:prstGeom prst="rect">
            <a:avLst/>
          </a:prstGeom>
        </p:spPr>
      </p:pic>
      <p:sp>
        <p:nvSpPr>
          <p:cNvPr id="16" name="Never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Personal data</a:t>
            </a:r>
          </a:p>
        </p:txBody>
      </p:sp>
      <p:sp>
        <p:nvSpPr>
          <p:cNvPr id="17" name="Never 2 text"/>
          <p:cNvSpPr txBox="1"/>
          <p:nvPr/>
        </p:nvSpPr>
        <p:spPr>
          <a:xfrm>
            <a:off x="3383280" y="1856232"/>
            <a:ext cx="2377440" cy="1005840"/>
          </a:xfrm>
          <a:prstGeom prst="rect">
            <a:avLst/>
          </a:prstGeom>
          <a:noFill/>
        </p:spPr>
        <p:txBody>
          <a:bodyPr wrap="square" lIns="0" rIns="0" tIns="0" bIns="0" anchor="t">
            <a:noAutofit/>
          </a:bodyPr>
          <a:lstStyle/>
          <a:p>
            <a:pPr algn="l">
              <a:spcAft>
                <a:spcPts val="400"/>
              </a:spcAft>
            </a:pPr>
            <a:r>
              <a:rPr sz="1200" b="0" lang="en-GB">
                <a:solidFill>
                  <a:schemeClr val="tx1"/>
                </a:solidFill>
              </a:rPr>
              <a:t>Names, e-mails, survey answers</a:t>
            </a:r>
          </a:p>
          <a:p>
            <a:pPr algn="l">
              <a:spcAft>
                <a:spcPts val="400"/>
              </a:spcAft>
            </a:pPr>
            <a:r>
              <a:rPr sz="1200" b="0" lang="en-GB">
                <a:solidFill>
                  <a:schemeClr val="tx1"/>
                </a:solidFill>
              </a:rPr>
              <a:t>Licensed or confidential data</a:t>
            </a:r>
          </a:p>
        </p:txBody>
      </p:sp>
      <p:sp>
        <p:nvSpPr>
          <p:cNvPr id="18" name="Never 3 tile"/>
          <p:cNvSpPr/>
          <p:nvPr/>
        </p:nvSpPr>
        <p:spPr>
          <a:xfrm>
            <a:off x="6035040" y="1234440"/>
            <a:ext cx="265176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Never 3" descr=""/>
          <p:cNvPicPr>
            <a:picLocks noChangeAspect="1"/>
          </p:cNvPicPr>
          <p:nvPr/>
        </p:nvPicPr>
        <p:blipFill>
          <a:blip r:embed="rId5"/>
          <a:stretch>
            <a:fillRect/>
          </a:stretch>
        </p:blipFill>
        <p:spPr>
          <a:xfrm>
            <a:off x="6172200" y="1371600"/>
            <a:ext cx="365760" cy="365760"/>
          </a:xfrm>
          <a:prstGeom prst="rect">
            <a:avLst/>
          </a:prstGeom>
        </p:spPr>
      </p:pic>
      <p:sp>
        <p:nvSpPr>
          <p:cNvPr id="20" name="Never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Big or generated</a:t>
            </a:r>
          </a:p>
        </p:txBody>
      </p:sp>
      <p:sp>
        <p:nvSpPr>
          <p:cNvPr id="21" name="Never 3 text"/>
          <p:cNvSpPr txBox="1"/>
          <p:nvPr/>
        </p:nvSpPr>
        <p:spPr>
          <a:xfrm>
            <a:off x="6172200" y="1856232"/>
            <a:ext cx="2377440" cy="1005840"/>
          </a:xfrm>
          <a:prstGeom prst="rect">
            <a:avLst/>
          </a:prstGeom>
          <a:noFill/>
        </p:spPr>
        <p:txBody>
          <a:bodyPr wrap="square" lIns="0" rIns="0" tIns="0" bIns="0" anchor="t">
            <a:noAutofit/>
          </a:bodyPr>
          <a:lstStyle/>
          <a:p>
            <a:pPr algn="l">
              <a:spcAft>
                <a:spcPts val="400"/>
              </a:spcAft>
            </a:pPr>
            <a:r>
              <a:rPr sz="1200" b="0" lang="en-GB">
                <a:solidFill>
                  <a:schemeClr val="tx1"/>
                </a:solidFill>
              </a:rPr>
              <a:t>The .venv folder</a:t>
            </a:r>
          </a:p>
          <a:p>
            <a:pPr algn="l">
              <a:spcAft>
                <a:spcPts val="400"/>
              </a:spcAft>
            </a:pPr>
            <a:r>
              <a:rPr sz="1200" b="0" lang="en-GB">
                <a:solidFill>
                  <a:schemeClr val="tx1"/>
                </a:solidFill>
              </a:rPr>
              <a:t>Files over 50 MiB, rendered _files</a:t>
            </a:r>
          </a:p>
        </p:txBody>
      </p:sp>
      <p:sp>
        <p:nvSpPr>
          <p:cNvPr id="22" name="Gitignore caption bar"/>
          <p:cNvSpPr/>
          <p:nvPr/>
        </p:nvSpPr>
        <p:spPr>
          <a:xfrm>
            <a:off x="457200" y="30632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Gitignore caption"/>
          <p:cNvSpPr txBox="1"/>
          <p:nvPr/>
        </p:nvSpPr>
        <p:spPr>
          <a:xfrm>
            <a:off x="566928" y="30632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.gitignore (example)</a:t>
            </a:r>
          </a:p>
        </p:txBody>
      </p:sp>
      <p:sp>
        <p:nvSpPr>
          <p:cNvPr id="24" name="Gitignore box"/>
          <p:cNvSpPr/>
          <p:nvPr/>
        </p:nvSpPr>
        <p:spPr>
          <a:xfrm>
            <a:off x="457200" y="3337560"/>
            <a:ext cx="4023360" cy="1417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Gitignore code"/>
          <p:cNvSpPr txBox="1"/>
          <p:nvPr/>
        </p:nvSpPr>
        <p:spPr>
          <a:xfrm>
            <a:off x="594360" y="3429000"/>
            <a:ext cx="3749040" cy="12344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.venv/</a:t>
            </a:r>
          </a:p>
          <a:p>
            <a:pPr algn="l">
              <a:spcAft>
                <a:spcPts val="0"/>
              </a:spcAft>
            </a:pPr>
            <a:r>
              <a:rPr sz="1100" b="0" lang="en-GB">
                <a:solidFill>
                  <a:schemeClr val="bg1"/>
                </a:solidFill>
                <a:latin typeface="Consolas"/>
              </a:rPr>
              <a:t>.env</a:t>
            </a:r>
          </a:p>
          <a:p>
            <a:pPr algn="l">
              <a:spcAft>
                <a:spcPts val="0"/>
              </a:spcAft>
            </a:pPr>
            <a:r>
              <a:rPr sz="1100" b="0" lang="en-GB">
                <a:solidFill>
                  <a:schemeClr val="bg1"/>
                </a:solidFill>
                <a:latin typeface="Consolas"/>
              </a:rPr>
              <a:t>__pycache__/</a:t>
            </a:r>
          </a:p>
          <a:p>
            <a:pPr algn="l">
              <a:spcAft>
                <a:spcPts val="0"/>
              </a:spcAft>
            </a:pPr>
            <a:r>
              <a:rPr sz="1100" b="0" lang="en-GB">
                <a:solidFill>
                  <a:schemeClr val="bg1"/>
                </a:solidFill>
                <a:latin typeface="Consolas"/>
              </a:rPr>
              <a:t>*_files/</a:t>
            </a:r>
          </a:p>
          <a:p>
            <a:pPr algn="l">
              <a:spcAft>
                <a:spcPts val="0"/>
              </a:spcAft>
            </a:pPr>
            <a:r>
              <a:rPr sz="1100" b="0" lang="en-GB">
                <a:solidFill>
                  <a:schemeClr val="bg1"/>
                </a:solidFill>
                <a:latin typeface="Consolas"/>
              </a:rPr>
              <a:t>.DS_Store</a:t>
            </a:r>
          </a:p>
        </p:txBody>
      </p:sp>
      <p:sp>
        <p:nvSpPr>
          <p:cNvPr id="26" name="Never rows row 1"/>
          <p:cNvSpPr/>
          <p:nvPr/>
        </p:nvSpPr>
        <p:spPr>
          <a:xfrm>
            <a:off x="4663440" y="3063240"/>
            <a:ext cx="4023360" cy="5212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ever rows bar 1"/>
          <p:cNvSpPr/>
          <p:nvPr/>
        </p:nvSpPr>
        <p:spPr>
          <a:xfrm>
            <a:off x="4663440" y="3063240"/>
            <a:ext cx="64008" cy="5212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ever rows text 1"/>
          <p:cNvSpPr txBox="1"/>
          <p:nvPr/>
        </p:nvSpPr>
        <p:spPr>
          <a:xfrm>
            <a:off x="4864608" y="3063240"/>
            <a:ext cx="3730752" cy="521208"/>
          </a:xfrm>
          <a:prstGeom prst="rect">
            <a:avLst/>
          </a:prstGeom>
          <a:noFill/>
        </p:spPr>
        <p:txBody>
          <a:bodyPr wrap="square" lIns="0" rIns="0" tIns="0" bIns="0" anchor="ctr">
            <a:noAutofit/>
          </a:bodyPr>
          <a:lstStyle/>
          <a:p>
            <a:pPr algn="l">
              <a:spcAft>
                <a:spcPts val="400"/>
              </a:spcAft>
            </a:pPr>
            <a:r>
              <a:rPr sz="1150" b="1" lang="en-GB">
                <a:solidFill>
                  <a:schemeClr val="tx2"/>
                </a:solidFill>
              </a:rPr>
              <a:t>Ignore a file: </a:t>
            </a:r>
            <a:r>
              <a:rPr sz="1150" b="0" lang="en-GB">
                <a:solidFill>
                  <a:schemeClr val="tx1"/>
                </a:solidFill>
              </a:rPr>
              <a:t>Changes tab → right-click → Ignore file</a:t>
            </a:r>
          </a:p>
        </p:txBody>
      </p:sp>
      <p:sp>
        <p:nvSpPr>
          <p:cNvPr id="29" name="Never rows row 2"/>
          <p:cNvSpPr/>
          <p:nvPr/>
        </p:nvSpPr>
        <p:spPr>
          <a:xfrm>
            <a:off x="4663440" y="3648456"/>
            <a:ext cx="4023360" cy="5212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ever rows bar 2"/>
          <p:cNvSpPr/>
          <p:nvPr/>
        </p:nvSpPr>
        <p:spPr>
          <a:xfrm>
            <a:off x="4663440" y="3648456"/>
            <a:ext cx="64008" cy="5212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Never rows text 2"/>
          <p:cNvSpPr txBox="1"/>
          <p:nvPr/>
        </p:nvSpPr>
        <p:spPr>
          <a:xfrm>
            <a:off x="4864608" y="3648456"/>
            <a:ext cx="3730752" cy="521208"/>
          </a:xfrm>
          <a:prstGeom prst="rect">
            <a:avLst/>
          </a:prstGeom>
          <a:noFill/>
        </p:spPr>
        <p:txBody>
          <a:bodyPr wrap="square" lIns="0" rIns="0" tIns="0" bIns="0" anchor="ctr">
            <a:noAutofit/>
          </a:bodyPr>
          <a:lstStyle/>
          <a:p>
            <a:pPr algn="l">
              <a:spcAft>
                <a:spcPts val="400"/>
              </a:spcAft>
            </a:pPr>
            <a:r>
              <a:rPr sz="1150" b="1" lang="en-GB">
                <a:solidFill>
                  <a:schemeClr val="tx2"/>
                </a:solidFill>
              </a:rPr>
              <a:t>Edit the list: </a:t>
            </a:r>
            <a:r>
              <a:rPr sz="1150" b="0" lang="en-GB">
                <a:solidFill>
                  <a:schemeClr val="tx1"/>
                </a:solidFill>
              </a:rPr>
              <a:t>Repository → Repository settings → Ignored files</a:t>
            </a:r>
          </a:p>
        </p:txBody>
      </p:sp>
      <p:sp>
        <p:nvSpPr>
          <p:cNvPr id="32" name="Never rows row 3"/>
          <p:cNvSpPr/>
          <p:nvPr/>
        </p:nvSpPr>
        <p:spPr>
          <a:xfrm>
            <a:off x="4663440" y="4233672"/>
            <a:ext cx="4023360" cy="5212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Never rows bar 3"/>
          <p:cNvSpPr/>
          <p:nvPr/>
        </p:nvSpPr>
        <p:spPr>
          <a:xfrm>
            <a:off x="4663440" y="4233672"/>
            <a:ext cx="64008" cy="5212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ever rows text 3"/>
          <p:cNvSpPr txBox="1"/>
          <p:nvPr/>
        </p:nvSpPr>
        <p:spPr>
          <a:xfrm>
            <a:off x="4864608" y="4233672"/>
            <a:ext cx="3730752" cy="521208"/>
          </a:xfrm>
          <a:prstGeom prst="rect">
            <a:avLst/>
          </a:prstGeom>
          <a:noFill/>
        </p:spPr>
        <p:txBody>
          <a:bodyPr wrap="square" lIns="0" rIns="0" tIns="0" bIns="0" anchor="ctr">
            <a:noAutofit/>
          </a:bodyPr>
          <a:lstStyle/>
          <a:p>
            <a:pPr algn="l">
              <a:spcAft>
                <a:spcPts val="400"/>
              </a:spcAft>
            </a:pPr>
            <a:r>
              <a:rPr sz="1150" b="1" lang="en-GB">
                <a:solidFill>
                  <a:schemeClr val="tx2"/>
                </a:solidFill>
              </a:rPr>
              <a:t>Pushed a secret? </a:t>
            </a:r>
            <a:r>
              <a:rPr sz="1150" b="0" lang="en-GB">
                <a:solidFill>
                  <a:schemeClr val="tx1"/>
                </a:solidFill>
              </a:rPr>
              <a:t>Change the password or key at once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12 · your own repository, inviting your group, changing visibility</a:t>
            </a:r>
          </a:p>
        </p:txBody>
      </p:sp>
      <p:sp>
        <p:nvSpPr>
          <p:cNvPr id="3" name="Title 2"/>
          <p:cNvSpPr>
            <a:spLocks noGrp="1"/>
          </p:cNvSpPr>
          <p:nvPr>
            <p:ph type="ctrTitle"/>
          </p:nvPr>
        </p:nvSpPr>
        <p:spPr/>
        <p:txBody>
          <a:bodyPr/>
          <a:lstStyle/>
          <a:p>
            <a:r>
              <a:rPr sz="1600" lang="en-GB"/>
              <a:t>Private or public?</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Vis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2103120"/>
                <a:gridCol w="3063240"/>
                <a:gridCol w="3063240"/>
              </a:tblGrid>
              <a:tr h="370840">
                <a:tc>
                  <a:txBody>
                    <a:bodyPr/>
                    <a:lstStyle/>
                    <a:p>
                      <a:r>
                        <a:rPr sz="1300" lang="en-GB"/>
                        <a:t/>
                      </a:r>
                    </a:p>
                  </a:txBody>
                  <a:tcPr marT="55000" marB="55000"/>
                </a:tc>
                <a:tc>
                  <a:txBody>
                    <a:bodyPr/>
                    <a:lstStyle/>
                    <a:p>
                      <a:r>
                        <a:rPr sz="1300" lang="en-GB"/>
                        <a:t>Private</a:t>
                      </a:r>
                    </a:p>
                  </a:txBody>
                  <a:tcPr marT="55000" marB="55000"/>
                </a:tc>
                <a:tc>
                  <a:txBody>
                    <a:bodyPr/>
                    <a:lstStyle/>
                    <a:p>
                      <a:r>
                        <a:rPr sz="1300" lang="en-GB"/>
                        <a:t>Public</a:t>
                      </a:r>
                    </a:p>
                  </a:txBody>
                  <a:tcPr marT="55000" marB="55000"/>
                </a:tc>
              </a:tr>
              <a:tr h="370840">
                <a:tc>
                  <a:txBody>
                    <a:bodyPr/>
                    <a:lstStyle/>
                    <a:p>
                      <a:r>
                        <a:rPr sz="1200" b="1" lang="en-GB"/>
                        <a:t>Who can see it</a:t>
                      </a:r>
                    </a:p>
                  </a:txBody>
                  <a:tcPr marT="55000" marB="55000"/>
                </a:tc>
                <a:tc>
                  <a:txBody>
                    <a:bodyPr/>
                    <a:lstStyle/>
                    <a:p>
                      <a:r>
                        <a:rPr sz="1200" lang="en-GB"/>
                        <a:t>you and people you invite</a:t>
                      </a:r>
                    </a:p>
                  </a:txBody>
                  <a:tcPr marT="55000" marB="55000"/>
                </a:tc>
                <a:tc>
                  <a:txBody>
                    <a:bodyPr/>
                    <a:lstStyle/>
                    <a:p>
                      <a:r>
                        <a:rPr sz="1200" lang="en-GB"/>
                        <a:t>everyone on the internet</a:t>
                      </a:r>
                    </a:p>
                  </a:txBody>
                  <a:tcPr marT="55000" marB="55000"/>
                </a:tc>
              </a:tr>
              <a:tr h="370840">
                <a:tc>
                  <a:txBody>
                    <a:bodyPr/>
                    <a:lstStyle/>
                    <a:p>
                      <a:r>
                        <a:rPr sz="1200" b="1" lang="en-GB"/>
                        <a:t>Who can clone it</a:t>
                      </a:r>
                    </a:p>
                  </a:txBody>
                  <a:tcPr marT="55000" marB="55000"/>
                </a:tc>
                <a:tc>
                  <a:txBody>
                    <a:bodyPr/>
                    <a:lstStyle/>
                    <a:p>
                      <a:r>
                        <a:rPr sz="1200" lang="en-GB"/>
                        <a:t>you and invited people</a:t>
                      </a:r>
                    </a:p>
                  </a:txBody>
                  <a:tcPr marT="55000" marB="55000"/>
                </a:tc>
                <a:tc>
                  <a:txBody>
                    <a:bodyPr/>
                    <a:lstStyle/>
                    <a:p>
                      <a:r>
                        <a:rPr sz="1200" lang="en-GB"/>
                        <a:t>anyone, without an account</a:t>
                      </a:r>
                    </a:p>
                  </a:txBody>
                  <a:tcPr marT="55000" marB="55000"/>
                </a:tc>
              </a:tr>
              <a:tr h="370840">
                <a:tc>
                  <a:txBody>
                    <a:bodyPr/>
                    <a:lstStyle/>
                    <a:p>
                      <a:r>
                        <a:rPr sz="1200" b="1" lang="en-GB"/>
                        <a:t>Who can push</a:t>
                      </a:r>
                    </a:p>
                  </a:txBody>
                  <a:tcPr marT="55000" marB="55000"/>
                </a:tc>
                <a:tc>
                  <a:txBody>
                    <a:bodyPr/>
                    <a:lstStyle/>
                    <a:p>
                      <a:r>
                        <a:rPr sz="1200" lang="en-GB"/>
                        <a:t>you and invited collaborators</a:t>
                      </a:r>
                    </a:p>
                  </a:txBody>
                  <a:tcPr marT="55000" marB="55000"/>
                </a:tc>
                <a:tc>
                  <a:txBody>
                    <a:bodyPr/>
                    <a:lstStyle/>
                    <a:p>
                      <a:r>
                        <a:rPr sz="1200" lang="en-GB"/>
                        <a:t>you and invited collaborators</a:t>
                      </a:r>
                    </a:p>
                  </a:txBody>
                  <a:tcPr marT="55000" marB="55000"/>
                </a:tc>
              </a:tr>
              <a:tr h="370840">
                <a:tc>
                  <a:txBody>
                    <a:bodyPr/>
                    <a:lstStyle/>
                    <a:p>
                      <a:r>
                        <a:rPr sz="1200" b="1" lang="en-GB"/>
                        <a:t>Cost on GitHub Free</a:t>
                      </a:r>
                    </a:p>
                  </a:txBody>
                  <a:tcPr marT="55000" marB="55000"/>
                </a:tc>
                <a:tc>
                  <a:txBody>
                    <a:bodyPr/>
                    <a:lstStyle/>
                    <a:p>
                      <a:r>
                        <a:rPr sz="1200" lang="en-GB"/>
                        <a:t>free, unlimited</a:t>
                      </a:r>
                    </a:p>
                  </a:txBody>
                  <a:tcPr marT="55000" marB="55000"/>
                </a:tc>
                <a:tc>
                  <a:txBody>
                    <a:bodyPr/>
                    <a:lstStyle/>
                    <a:p>
                      <a:r>
                        <a:rPr sz="1200" lang="en-GB"/>
                        <a:t>free, unlimited</a:t>
                      </a:r>
                    </a:p>
                  </a:txBody>
                  <a:tcPr marT="55000" marB="55000"/>
                </a:tc>
              </a:tr>
              <a:tr h="370840">
                <a:tc>
                  <a:txBody>
                    <a:bodyPr/>
                    <a:lstStyle/>
                    <a:p>
                      <a:r>
                        <a:rPr sz="1200" b="1" lang="en-GB"/>
                        <a:t>Use it for</a:t>
                      </a:r>
                    </a:p>
                  </a:txBody>
                  <a:tcPr marT="55000" marB="55000"/>
                </a:tc>
                <a:tc>
                  <a:txBody>
                    <a:bodyPr/>
                    <a:lstStyle/>
                    <a:p>
                      <a:r>
                        <a:rPr sz="1200" lang="en-GB"/>
                        <a:t>group work, assignments, drafts</a:t>
                      </a:r>
                    </a:p>
                  </a:txBody>
                  <a:tcPr marT="55000" marB="55000"/>
                </a:tc>
                <a:tc>
                  <a:txBody>
                    <a:bodyPr/>
                    <a:lstStyle/>
                    <a:p>
                      <a:r>
                        <a:rPr sz="1200" lang="en-GB"/>
                        <a:t>portfolio, open-source, the course materials</a:t>
                      </a:r>
                    </a:p>
                  </a:txBody>
                  <a:tcPr marT="55000" marB="55000"/>
                </a:tc>
              </a:tr>
            </a:tbl>
          </a:graphicData>
        </a:graphic>
      </p:graphicFrame>
      <p:sp>
        <p:nvSpPr>
          <p:cNvPr id="3" name="Title 2"/>
          <p:cNvSpPr>
            <a:spLocks noGrp="1"/>
          </p:cNvSpPr>
          <p:nvPr>
            <p:ph type="title"/>
          </p:nvPr>
        </p:nvSpPr>
        <p:spPr/>
        <p:txBody>
          <a:bodyPr/>
          <a:lstStyle/>
          <a:p>
            <a:r>
              <a:rPr sz="1600" lang="en-GB"/>
              <a:t>Private and public repositories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is rule box"/>
          <p:cNvSpPr/>
          <p:nvPr/>
        </p:nvSpPr>
        <p:spPr>
          <a:xfrm>
            <a:off x="457200" y="4069080"/>
            <a:ext cx="822960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Vis rule" descr=""/>
          <p:cNvPicPr>
            <a:picLocks noChangeAspect="1"/>
          </p:cNvPicPr>
          <p:nvPr/>
        </p:nvPicPr>
        <p:blipFill>
          <a:blip r:embed="rId3"/>
          <a:stretch>
            <a:fillRect/>
          </a:stretch>
        </p:blipFill>
        <p:spPr>
          <a:xfrm>
            <a:off x="658368" y="4297680"/>
            <a:ext cx="365760" cy="365760"/>
          </a:xfrm>
          <a:prstGeom prst="rect">
            <a:avLst/>
          </a:prstGeom>
        </p:spPr>
      </p:pic>
      <p:sp>
        <p:nvSpPr>
          <p:cNvPr id="12" name="Vis rule text"/>
          <p:cNvSpPr txBox="1"/>
          <p:nvPr/>
        </p:nvSpPr>
        <p:spPr>
          <a:xfrm>
            <a:off x="1207008" y="4069080"/>
            <a:ext cx="7315200" cy="822960"/>
          </a:xfrm>
          <a:prstGeom prst="rect">
            <a:avLst/>
          </a:prstGeom>
          <a:noFill/>
        </p:spPr>
        <p:txBody>
          <a:bodyPr wrap="square" lIns="0" rIns="0" tIns="0" bIns="0" anchor="ctr">
            <a:noAutofit/>
          </a:bodyPr>
          <a:lstStyle/>
          <a:p>
            <a:pPr algn="l">
              <a:spcAft>
                <a:spcPts val="400"/>
              </a:spcAft>
            </a:pPr>
            <a:r>
              <a:rPr sz="1200" b="1" lang="en-GB">
                <a:solidFill>
                  <a:schemeClr val="bg1"/>
                </a:solidFill>
              </a:rPr>
              <a:t>Rule for this course: </a:t>
            </a:r>
            <a:r>
              <a:rPr sz="1200" b="0" lang="en-GB">
                <a:solidFill>
                  <a:schemeClr val="bg1"/>
                </a:solidFill>
              </a:rPr>
              <a:t>keep group and assignment repositories private. Never publish data you received under licence or solutions others could copy.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Create your own repository and publish 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reate body"/>
          <p:cNvSpPr/>
          <p:nvPr/>
        </p:nvSpPr>
        <p:spPr>
          <a:xfrm>
            <a:off x="457200" y="1645920"/>
            <a:ext cx="404622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reate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reate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1  Create on your laptop</a:t>
            </a:r>
          </a:p>
        </p:txBody>
      </p:sp>
      <p:pic>
        <p:nvPicPr>
          <p:cNvPr id="13" name="Icon Create" descr=""/>
          <p:cNvPicPr>
            <a:picLocks noChangeAspect="1"/>
          </p:cNvPicPr>
          <p:nvPr/>
        </p:nvPicPr>
        <p:blipFill>
          <a:blip r:embed="rId3"/>
          <a:stretch>
            <a:fillRect/>
          </a:stretch>
        </p:blipFill>
        <p:spPr>
          <a:xfrm>
            <a:off x="4064508" y="1284732"/>
            <a:ext cx="310896" cy="310896"/>
          </a:xfrm>
          <a:prstGeom prst="rect">
            <a:avLst/>
          </a:prstGeom>
        </p:spPr>
      </p:pic>
      <p:sp>
        <p:nvSpPr>
          <p:cNvPr id="14" name="Create text"/>
          <p:cNvSpPr txBox="1"/>
          <p:nvPr/>
        </p:nvSpPr>
        <p:spPr>
          <a:xfrm>
            <a:off x="621792" y="1783080"/>
            <a:ext cx="374446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File → </a:t>
            </a:r>
            <a:r>
              <a:rPr sz="1300" b="0" lang="en-GB">
                <a:solidFill>
                  <a:schemeClr val="tx1"/>
                </a:solidFill>
              </a:rPr>
              <a:t>New repository</a:t>
            </a:r>
          </a:p>
          <a:p>
            <a:pPr algn="l">
              <a:spcAft>
                <a:spcPts val="900"/>
              </a:spcAft>
            </a:pPr>
            <a:r>
              <a:rPr sz="1300" b="1" lang="en-GB">
                <a:solidFill>
                  <a:schemeClr val="accent1"/>
                </a:solidFill>
              </a:rPr>
              <a:t>2  </a:t>
            </a:r>
            <a:r>
              <a:rPr sz="1300" b="1" lang="en-GB">
                <a:solidFill>
                  <a:schemeClr val="tx2"/>
                </a:solidFill>
              </a:rPr>
              <a:t>Name: </a:t>
            </a:r>
            <a:r>
              <a:rPr sz="1300" b="0" lang="en-GB">
                <a:solidFill>
                  <a:schemeClr val="tx1"/>
                </a:solidFill>
              </a:rPr>
              <a:t>e.g. ima-group-3, no spaces</a:t>
            </a:r>
          </a:p>
          <a:p>
            <a:pPr algn="l">
              <a:spcAft>
                <a:spcPts val="900"/>
              </a:spcAft>
            </a:pPr>
            <a:r>
              <a:rPr sz="1300" b="1" lang="en-GB">
                <a:solidFill>
                  <a:schemeClr val="accent1"/>
                </a:solidFill>
              </a:rPr>
              <a:t>3  </a:t>
            </a:r>
            <a:r>
              <a:rPr sz="1300" b="1" lang="en-GB">
                <a:solidFill>
                  <a:schemeClr val="tx2"/>
                </a:solidFill>
              </a:rPr>
              <a:t>Local path: </a:t>
            </a:r>
            <a:r>
              <a:rPr sz="1300" b="0" lang="en-GB">
                <a:solidFill>
                  <a:schemeClr val="tx1"/>
                </a:solidFill>
              </a:rPr>
              <a:t>Choose… your wu folder</a:t>
            </a:r>
          </a:p>
          <a:p>
            <a:pPr algn="l">
              <a:spcAft>
                <a:spcPts val="900"/>
              </a:spcAft>
            </a:pPr>
            <a:r>
              <a:rPr sz="1300" b="1" lang="en-GB">
                <a:solidFill>
                  <a:schemeClr val="accent1"/>
                </a:solidFill>
              </a:rPr>
              <a:t>4  </a:t>
            </a:r>
            <a:r>
              <a:rPr sz="1300" b="1" lang="en-GB">
                <a:solidFill>
                  <a:schemeClr val="tx2"/>
                </a:solidFill>
              </a:rPr>
              <a:t>Tick </a:t>
            </a:r>
            <a:r>
              <a:rPr sz="1300" b="0" lang="en-GB">
                <a:solidFill>
                  <a:schemeClr val="tx1"/>
                </a:solidFill>
              </a:rPr>
              <a:t>Initialize with a README</a:t>
            </a:r>
          </a:p>
          <a:p>
            <a:pPr algn="l">
              <a:spcAft>
                <a:spcPts val="900"/>
              </a:spcAft>
            </a:pPr>
            <a:r>
              <a:rPr sz="1300" b="1" lang="en-GB">
                <a:solidFill>
                  <a:schemeClr val="accent1"/>
                </a:solidFill>
              </a:rPr>
              <a:t>5  </a:t>
            </a:r>
            <a:r>
              <a:rPr sz="1300" b="1" lang="en-GB">
                <a:solidFill>
                  <a:schemeClr val="tx2"/>
                </a:solidFill>
              </a:rPr>
              <a:t>Git ignore: </a:t>
            </a:r>
            <a:r>
              <a:rPr sz="1300" b="0" lang="en-GB">
                <a:solidFill>
                  <a:schemeClr val="tx1"/>
                </a:solidFill>
              </a:rPr>
              <a:t>Python; click Create</a:t>
            </a:r>
          </a:p>
        </p:txBody>
      </p:sp>
      <p:sp>
        <p:nvSpPr>
          <p:cNvPr id="15" name="Publish body"/>
          <p:cNvSpPr/>
          <p:nvPr/>
        </p:nvSpPr>
        <p:spPr>
          <a:xfrm>
            <a:off x="4640580" y="1645920"/>
            <a:ext cx="404622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ublish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ublish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2  Publish to GitHub</a:t>
            </a:r>
          </a:p>
        </p:txBody>
      </p:sp>
      <p:pic>
        <p:nvPicPr>
          <p:cNvPr id="18" name="Icon Publish" descr=""/>
          <p:cNvPicPr>
            <a:picLocks noChangeAspect="1"/>
          </p:cNvPicPr>
          <p:nvPr/>
        </p:nvPicPr>
        <p:blipFill>
          <a:blip r:embed="rId4"/>
          <a:stretch>
            <a:fillRect/>
          </a:stretch>
        </p:blipFill>
        <p:spPr>
          <a:xfrm>
            <a:off x="8247888" y="1284732"/>
            <a:ext cx="310896" cy="310896"/>
          </a:xfrm>
          <a:prstGeom prst="rect">
            <a:avLst/>
          </a:prstGeom>
        </p:spPr>
      </p:pic>
      <p:sp>
        <p:nvSpPr>
          <p:cNvPr id="19" name="Publish text"/>
          <p:cNvSpPr txBox="1"/>
          <p:nvPr/>
        </p:nvSpPr>
        <p:spPr>
          <a:xfrm>
            <a:off x="4805172" y="1783080"/>
            <a:ext cx="374446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Click </a:t>
            </a:r>
            <a:r>
              <a:rPr sz="1300" b="0" lang="en-GB">
                <a:solidFill>
                  <a:schemeClr val="tx1"/>
                </a:solidFill>
              </a:rPr>
              <a:t>Publish repository</a:t>
            </a:r>
          </a:p>
          <a:p>
            <a:pPr algn="l">
              <a:spcAft>
                <a:spcPts val="900"/>
              </a:spcAft>
            </a:pPr>
            <a:r>
              <a:rPr sz="1300" b="1" lang="en-GB">
                <a:solidFill>
                  <a:schemeClr val="accent1"/>
                </a:solidFill>
              </a:rPr>
              <a:t>2  </a:t>
            </a:r>
            <a:r>
              <a:rPr sz="1300" b="1" lang="en-GB">
                <a:solidFill>
                  <a:schemeClr val="tx2"/>
                </a:solidFill>
              </a:rPr>
              <a:t>Check </a:t>
            </a:r>
            <a:r>
              <a:rPr sz="1300" b="0" lang="en-GB">
                <a:solidFill>
                  <a:schemeClr val="tx1"/>
                </a:solidFill>
              </a:rPr>
              <a:t>name and description</a:t>
            </a:r>
          </a:p>
          <a:p>
            <a:pPr algn="l">
              <a:spcAft>
                <a:spcPts val="900"/>
              </a:spcAft>
            </a:pPr>
            <a:r>
              <a:rPr sz="1300" b="1" lang="en-GB">
                <a:solidFill>
                  <a:schemeClr val="accent1"/>
                </a:solidFill>
              </a:rPr>
              <a:t>3  </a:t>
            </a:r>
            <a:r>
              <a:rPr sz="1300" b="1" lang="en-GB">
                <a:solidFill>
                  <a:schemeClr val="tx2"/>
                </a:solidFill>
              </a:rPr>
              <a:t>Keep this code private: </a:t>
            </a:r>
            <a:r>
              <a:rPr sz="1300" b="0" lang="en-GB">
                <a:solidFill>
                  <a:schemeClr val="tx1"/>
                </a:solidFill>
              </a:rPr>
              <a:t>leave it ticked</a:t>
            </a:r>
          </a:p>
          <a:p>
            <a:pPr algn="l">
              <a:spcAft>
                <a:spcPts val="900"/>
              </a:spcAft>
            </a:pPr>
            <a:r>
              <a:rPr sz="1300" b="1" lang="en-GB">
                <a:solidFill>
                  <a:schemeClr val="accent1"/>
                </a:solidFill>
              </a:rPr>
              <a:t>4  </a:t>
            </a:r>
            <a:r>
              <a:rPr sz="1300" b="1" lang="en-GB">
                <a:solidFill>
                  <a:schemeClr val="tx2"/>
                </a:solidFill>
              </a:rPr>
              <a:t>Organization: </a:t>
            </a:r>
            <a:r>
              <a:rPr sz="1300" b="0" lang="en-GB">
                <a:solidFill>
                  <a:schemeClr val="tx1"/>
                </a:solidFill>
              </a:rPr>
              <a:t>None (your account)</a:t>
            </a:r>
          </a:p>
          <a:p>
            <a:pPr algn="l">
              <a:spcAft>
                <a:spcPts val="900"/>
              </a:spcAft>
            </a:pPr>
            <a:r>
              <a:rPr sz="1300" b="1" lang="en-GB">
                <a:solidFill>
                  <a:schemeClr val="accent1"/>
                </a:solidFill>
              </a:rPr>
              <a:t>5  </a:t>
            </a:r>
            <a:r>
              <a:rPr sz="1300" b="1" lang="en-GB">
                <a:solidFill>
                  <a:schemeClr val="tx2"/>
                </a:solidFill>
              </a:rPr>
              <a:t>Click </a:t>
            </a:r>
            <a:r>
              <a:rPr sz="1300" b="0" lang="en-GB">
                <a:solidFill>
                  <a:schemeClr val="tx1"/>
                </a:solidFill>
              </a:rPr>
              <a:t>Publish repository</a:t>
            </a:r>
          </a:p>
        </p:txBody>
      </p:sp>
      <p:sp>
        <p:nvSpPr>
          <p:cNvPr id="20" name="Create note box"/>
          <p:cNvSpPr/>
          <p:nvPr/>
        </p:nvSpPr>
        <p:spPr>
          <a:xfrm>
            <a:off x="457200" y="429768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reate note" descr=""/>
          <p:cNvPicPr>
            <a:picLocks noChangeAspect="1"/>
          </p:cNvPicPr>
          <p:nvPr/>
        </p:nvPicPr>
        <p:blipFill>
          <a:blip r:embed="rId5"/>
          <a:stretch>
            <a:fillRect/>
          </a:stretch>
        </p:blipFill>
        <p:spPr>
          <a:xfrm>
            <a:off x="658368" y="4411980"/>
            <a:ext cx="365760" cy="365760"/>
          </a:xfrm>
          <a:prstGeom prst="rect">
            <a:avLst/>
          </a:prstGeom>
        </p:spPr>
      </p:pic>
      <p:sp>
        <p:nvSpPr>
          <p:cNvPr id="22" name="Create note text"/>
          <p:cNvSpPr txBox="1"/>
          <p:nvPr/>
        </p:nvSpPr>
        <p:spPr>
          <a:xfrm>
            <a:off x="1207008" y="429768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Existing folder? </a:t>
            </a:r>
            <a:r>
              <a:rPr sz="1200" b="0" lang="en-GB">
                <a:solidFill>
                  <a:schemeClr val="tx1"/>
                </a:solidFill>
              </a:rPr>
              <a:t>File → Add local repository, create a repository there, then publish.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Invite your group members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vite body"/>
          <p:cNvSpPr/>
          <p:nvPr/>
        </p:nvSpPr>
        <p:spPr>
          <a:xfrm>
            <a:off x="457200" y="1645920"/>
            <a:ext cx="49377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nvite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nvite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Owner: on github.com</a:t>
            </a:r>
          </a:p>
        </p:txBody>
      </p:sp>
      <p:pic>
        <p:nvPicPr>
          <p:cNvPr id="13" name="Icon Invite" descr=""/>
          <p:cNvPicPr>
            <a:picLocks noChangeAspect="1"/>
          </p:cNvPicPr>
          <p:nvPr/>
        </p:nvPicPr>
        <p:blipFill>
          <a:blip r:embed="rId3"/>
          <a:stretch>
            <a:fillRect/>
          </a:stretch>
        </p:blipFill>
        <p:spPr>
          <a:xfrm>
            <a:off x="4956048" y="1284732"/>
            <a:ext cx="310896" cy="310896"/>
          </a:xfrm>
          <a:prstGeom prst="rect">
            <a:avLst/>
          </a:prstGeom>
        </p:spPr>
      </p:pic>
      <p:sp>
        <p:nvSpPr>
          <p:cNvPr id="14" name="Invite text"/>
          <p:cNvSpPr txBox="1"/>
          <p:nvPr/>
        </p:nvSpPr>
        <p:spPr>
          <a:xfrm>
            <a:off x="621792" y="1783080"/>
            <a:ext cx="463600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GitHub Desktop: </a:t>
            </a:r>
            <a:r>
              <a:rPr sz="1300" b="0" lang="en-GB">
                <a:solidFill>
                  <a:schemeClr val="tx1"/>
                </a:solidFill>
              </a:rPr>
              <a:t>Repository → View on GitHub</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Settings (the repository's, top right)</a:t>
            </a:r>
          </a:p>
          <a:p>
            <a:pPr algn="l">
              <a:spcAft>
                <a:spcPts val="900"/>
              </a:spcAft>
            </a:pPr>
            <a:r>
              <a:rPr sz="1300" b="1" lang="en-GB">
                <a:solidFill>
                  <a:schemeClr val="accent1"/>
                </a:solidFill>
              </a:rPr>
              <a:t>3  </a:t>
            </a:r>
            <a:r>
              <a:rPr sz="1300" b="1" lang="en-GB">
                <a:solidFill>
                  <a:schemeClr val="tx2"/>
                </a:solidFill>
              </a:rPr>
              <a:t>Left menu: </a:t>
            </a:r>
            <a:r>
              <a:rPr sz="1300" b="0" lang="en-GB">
                <a:solidFill>
                  <a:schemeClr val="tx1"/>
                </a:solidFill>
              </a:rPr>
              <a:t>Collaborators</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Add people, type the username</a:t>
            </a:r>
          </a:p>
          <a:p>
            <a:pPr algn="l">
              <a:spcAft>
                <a:spcPts val="900"/>
              </a:spcAft>
            </a:pPr>
            <a:r>
              <a:rPr sz="1300" b="1" lang="en-GB">
                <a:solidFill>
                  <a:schemeClr val="accent1"/>
                </a:solidFill>
              </a:rPr>
              <a:t>5  </a:t>
            </a:r>
            <a:r>
              <a:rPr sz="1300" b="1" lang="en-GB">
                <a:solidFill>
                  <a:schemeClr val="tx2"/>
                </a:solidFill>
              </a:rPr>
              <a:t>Click </a:t>
            </a:r>
            <a:r>
              <a:rPr sz="1300" b="0" lang="en-GB">
                <a:solidFill>
                  <a:schemeClr val="tx1"/>
                </a:solidFill>
              </a:rPr>
              <a:t>Add … to this repository</a:t>
            </a:r>
          </a:p>
        </p:txBody>
      </p:sp>
      <p:sp>
        <p:nvSpPr>
          <p:cNvPr id="15" name="Members card body"/>
          <p:cNvSpPr/>
          <p:nvPr/>
        </p:nvSpPr>
        <p:spPr>
          <a:xfrm>
            <a:off x="5532120" y="1645920"/>
            <a:ext cx="315468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embers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embers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Members</a:t>
            </a:r>
          </a:p>
        </p:txBody>
      </p:sp>
      <p:pic>
        <p:nvPicPr>
          <p:cNvPr id="18" name="Icon Members card" descr=""/>
          <p:cNvPicPr>
            <a:picLocks noChangeAspect="1"/>
          </p:cNvPicPr>
          <p:nvPr/>
        </p:nvPicPr>
        <p:blipFill>
          <a:blip r:embed="rId4"/>
          <a:stretch>
            <a:fillRect/>
          </a:stretch>
        </p:blipFill>
        <p:spPr>
          <a:xfrm>
            <a:off x="8247888" y="1284732"/>
            <a:ext cx="310896" cy="310896"/>
          </a:xfrm>
          <a:prstGeom prst="rect">
            <a:avLst/>
          </a:prstGeom>
        </p:spPr>
      </p:pic>
      <p:sp>
        <p:nvSpPr>
          <p:cNvPr id="19" name="Members card text"/>
          <p:cNvSpPr txBox="1"/>
          <p:nvPr/>
        </p:nvSpPr>
        <p:spPr>
          <a:xfrm>
            <a:off x="5696712" y="1783080"/>
            <a:ext cx="2852928" cy="2240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Accept the invitation: e-mail or github.com/notifications</a:t>
            </a:r>
          </a:p>
          <a:p>
            <a:pPr algn="l" marL="182880" indent="-182880">
              <a:spcAft>
                <a:spcPts val="600"/>
              </a:spcAft>
              <a:buClr>
                <a:schemeClr val="accent1"/>
              </a:buClr>
              <a:buFont typeface="Arial"/>
              <a:buChar char="▪"/>
            </a:pPr>
            <a:r>
              <a:rPr sz="1300" b="0" lang="en-GB">
                <a:solidFill>
                  <a:schemeClr val="tx1"/>
                </a:solidFill>
              </a:rPr>
              <a:t>Clone the repository (Part 4)</a:t>
            </a:r>
          </a:p>
          <a:p>
            <a:pPr algn="l" marL="182880" indent="-182880">
              <a:spcAft>
                <a:spcPts val="600"/>
              </a:spcAft>
              <a:buClr>
                <a:schemeClr val="accent1"/>
              </a:buClr>
              <a:buFont typeface="Arial"/>
              <a:buChar char="▪"/>
            </a:pPr>
            <a:r>
              <a:rPr sz="1300" b="0" lang="en-GB">
                <a:solidFill>
                  <a:schemeClr val="tx1"/>
                </a:solidFill>
              </a:rPr>
              <a:t>Pull before you start, push when you stop</a:t>
            </a:r>
          </a:p>
          <a:p>
            <a:pPr algn="l" marL="182880" indent="-182880">
              <a:spcAft>
                <a:spcPts val="600"/>
              </a:spcAft>
              <a:buClr>
                <a:schemeClr val="accent1"/>
              </a:buClr>
              <a:buFont typeface="Arial"/>
              <a:buChar char="▪"/>
            </a:pPr>
            <a:r>
              <a:rPr sz="1300" b="0" lang="en-GB">
                <a:solidFill>
                  <a:schemeClr val="tx1"/>
                </a:solidFill>
              </a:rPr>
              <a:t>One person per file where possible</a:t>
            </a:r>
          </a:p>
        </p:txBody>
      </p:sp>
      <p:sp>
        <p:nvSpPr>
          <p:cNvPr id="20" name="Invite exp box"/>
          <p:cNvSpPr/>
          <p:nvPr/>
        </p:nvSpPr>
        <p:spPr>
          <a:xfrm>
            <a:off x="457200" y="429768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Invite exp" descr=""/>
          <p:cNvPicPr>
            <a:picLocks noChangeAspect="1"/>
          </p:cNvPicPr>
          <p:nvPr/>
        </p:nvPicPr>
        <p:blipFill>
          <a:blip r:embed="rId5"/>
          <a:stretch>
            <a:fillRect/>
          </a:stretch>
        </p:blipFill>
        <p:spPr>
          <a:xfrm>
            <a:off x="658368" y="4411980"/>
            <a:ext cx="365760" cy="365760"/>
          </a:xfrm>
          <a:prstGeom prst="rect">
            <a:avLst/>
          </a:prstGeom>
        </p:spPr>
      </p:pic>
      <p:sp>
        <p:nvSpPr>
          <p:cNvPr id="22" name="Invite exp text"/>
          <p:cNvSpPr txBox="1"/>
          <p:nvPr/>
        </p:nvSpPr>
        <p:spPr>
          <a:xfrm>
            <a:off x="1207008" y="429768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Invitations expire </a:t>
            </a:r>
            <a:r>
              <a:rPr sz="1200" b="0" lang="en-GB">
                <a:solidFill>
                  <a:schemeClr val="tx1"/>
                </a:solidFill>
              </a:rPr>
              <a:t>after seven days; the owner can resend them.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Change visibility later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isib body"/>
          <p:cNvSpPr/>
          <p:nvPr/>
        </p:nvSpPr>
        <p:spPr>
          <a:xfrm>
            <a:off x="457200" y="1645920"/>
            <a:ext cx="4023360" cy="2194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Visib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Visib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 github.com</a:t>
            </a:r>
          </a:p>
        </p:txBody>
      </p:sp>
      <p:pic>
        <p:nvPicPr>
          <p:cNvPr id="13" name="Icon Visib" descr=""/>
          <p:cNvPicPr>
            <a:picLocks noChangeAspect="1"/>
          </p:cNvPicPr>
          <p:nvPr/>
        </p:nvPicPr>
        <p:blipFill>
          <a:blip r:embed="rId3"/>
          <a:stretch>
            <a:fillRect/>
          </a:stretch>
        </p:blipFill>
        <p:spPr>
          <a:xfrm>
            <a:off x="4041648" y="1284732"/>
            <a:ext cx="310896" cy="310896"/>
          </a:xfrm>
          <a:prstGeom prst="rect">
            <a:avLst/>
          </a:prstGeom>
        </p:spPr>
      </p:pic>
      <p:sp>
        <p:nvSpPr>
          <p:cNvPr id="14" name="Visib text"/>
          <p:cNvSpPr txBox="1"/>
          <p:nvPr/>
        </p:nvSpPr>
        <p:spPr>
          <a:xfrm>
            <a:off x="621792" y="1783080"/>
            <a:ext cx="3721608" cy="19659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Open </a:t>
            </a:r>
            <a:r>
              <a:rPr sz="1300" b="0" lang="en-GB">
                <a:solidFill>
                  <a:schemeClr val="tx1"/>
                </a:solidFill>
              </a:rPr>
              <a:t>the repository → Settings</a:t>
            </a:r>
          </a:p>
          <a:p>
            <a:pPr algn="l">
              <a:spcAft>
                <a:spcPts val="900"/>
              </a:spcAft>
            </a:pPr>
            <a:r>
              <a:rPr sz="1300" b="1" lang="en-GB">
                <a:solidFill>
                  <a:schemeClr val="accent1"/>
                </a:solidFill>
              </a:rPr>
              <a:t>2  </a:t>
            </a:r>
            <a:r>
              <a:rPr sz="1300" b="1" lang="en-GB">
                <a:solidFill>
                  <a:schemeClr val="tx2"/>
                </a:solidFill>
              </a:rPr>
              <a:t>General: </a:t>
            </a:r>
            <a:r>
              <a:rPr sz="1300" b="0" lang="en-GB">
                <a:solidFill>
                  <a:schemeClr val="tx1"/>
                </a:solidFill>
              </a:rPr>
              <a:t>scroll to the Danger Zone</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Change visibility</a:t>
            </a:r>
          </a:p>
          <a:p>
            <a:pPr algn="l">
              <a:spcAft>
                <a:spcPts val="900"/>
              </a:spcAft>
            </a:pPr>
            <a:r>
              <a:rPr sz="1300" b="1" lang="en-GB">
                <a:solidFill>
                  <a:schemeClr val="accent1"/>
                </a:solidFill>
              </a:rPr>
              <a:t>4  </a:t>
            </a:r>
            <a:r>
              <a:rPr sz="1300" b="1" lang="en-GB">
                <a:solidFill>
                  <a:schemeClr val="tx2"/>
                </a:solidFill>
              </a:rPr>
              <a:t>Confirm </a:t>
            </a:r>
            <a:r>
              <a:rPr sz="1300" b="0" lang="en-GB">
                <a:solidFill>
                  <a:schemeClr val="tx1"/>
                </a:solidFill>
              </a:rPr>
              <a:t>with the repository name</a:t>
            </a:r>
          </a:p>
        </p:txBody>
      </p:sp>
      <p:sp>
        <p:nvSpPr>
          <p:cNvPr id="15" name="Public card body"/>
          <p:cNvSpPr/>
          <p:nvPr/>
        </p:nvSpPr>
        <p:spPr>
          <a:xfrm>
            <a:off x="4663440" y="1645920"/>
            <a:ext cx="4023360" cy="2194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ublic card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ublic card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Before you go public</a:t>
            </a:r>
          </a:p>
        </p:txBody>
      </p:sp>
      <p:pic>
        <p:nvPicPr>
          <p:cNvPr id="18" name="Icon Public card" descr=""/>
          <p:cNvPicPr>
            <a:picLocks noChangeAspect="1"/>
          </p:cNvPicPr>
          <p:nvPr/>
        </p:nvPicPr>
        <p:blipFill>
          <a:blip r:embed="rId4"/>
          <a:stretch>
            <a:fillRect/>
          </a:stretch>
        </p:blipFill>
        <p:spPr>
          <a:xfrm>
            <a:off x="8247888" y="1284732"/>
            <a:ext cx="310896" cy="310896"/>
          </a:xfrm>
          <a:prstGeom prst="rect">
            <a:avLst/>
          </a:prstGeom>
        </p:spPr>
      </p:pic>
      <p:sp>
        <p:nvSpPr>
          <p:cNvPr id="19" name="Public card text"/>
          <p:cNvSpPr txBox="1"/>
          <p:nvPr/>
        </p:nvSpPr>
        <p:spPr>
          <a:xfrm>
            <a:off x="4828032" y="1783080"/>
            <a:ext cx="3721608" cy="19202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The whole history becomes visible, not just today's files</a:t>
            </a:r>
          </a:p>
          <a:p>
            <a:pPr algn="l" marL="182880" indent="-182880">
              <a:spcAft>
                <a:spcPts val="600"/>
              </a:spcAft>
              <a:buClr>
                <a:schemeClr val="accent1"/>
              </a:buClr>
              <a:buFont typeface="Arial"/>
              <a:buChar char="▪"/>
            </a:pPr>
            <a:r>
              <a:rPr sz="1300" b="0" lang="en-GB">
                <a:solidFill>
                  <a:schemeClr val="tx1"/>
                </a:solidFill>
              </a:rPr>
              <a:t>Anyone can copy and fork it, for good</a:t>
            </a:r>
          </a:p>
          <a:p>
            <a:pPr algn="l" marL="182880" indent="-182880">
              <a:spcAft>
                <a:spcPts val="600"/>
              </a:spcAft>
              <a:buClr>
                <a:schemeClr val="accent1"/>
              </a:buClr>
              <a:buFont typeface="Arial"/>
              <a:buChar char="▪"/>
            </a:pPr>
            <a:r>
              <a:rPr sz="1300" b="0" lang="en-GB">
                <a:solidFill>
                  <a:schemeClr val="tx1"/>
                </a:solidFill>
              </a:rPr>
              <a:t>Check: no secrets, no personal or licensed data</a:t>
            </a:r>
          </a:p>
        </p:txBody>
      </p:sp>
      <p:sp>
        <p:nvSpPr>
          <p:cNvPr id="20" name="Visib note box"/>
          <p:cNvSpPr/>
          <p:nvPr/>
        </p:nvSpPr>
        <p:spPr>
          <a:xfrm>
            <a:off x="457200" y="39776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Visib note" descr=""/>
          <p:cNvPicPr>
            <a:picLocks noChangeAspect="1"/>
          </p:cNvPicPr>
          <p:nvPr/>
        </p:nvPicPr>
        <p:blipFill>
          <a:blip r:embed="rId5"/>
          <a:stretch>
            <a:fillRect/>
          </a:stretch>
        </p:blipFill>
        <p:spPr>
          <a:xfrm>
            <a:off x="658368" y="4183380"/>
            <a:ext cx="365760" cy="365760"/>
          </a:xfrm>
          <a:prstGeom prst="rect">
            <a:avLst/>
          </a:prstGeom>
        </p:spPr>
      </p:pic>
      <p:sp>
        <p:nvSpPr>
          <p:cNvPr id="22" name="Visib note text"/>
          <p:cNvSpPr txBox="1"/>
          <p:nvPr/>
        </p:nvSpPr>
        <p:spPr>
          <a:xfrm>
            <a:off x="1207008" y="39776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Public to private: </a:t>
            </a:r>
            <a:r>
              <a:rPr sz="1200" b="0" lang="en-GB">
                <a:solidFill>
                  <a:schemeClr val="bg1"/>
                </a:solidFill>
              </a:rPr>
              <a:t>stars and watchers are erased, and copies others already forked stay public.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rouble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3566160"/>
                <a:gridCol w="4663440"/>
              </a:tblGrid>
              <a:tr h="370840">
                <a:tc>
                  <a:txBody>
                    <a:bodyPr/>
                    <a:lstStyle/>
                    <a:p>
                      <a:r>
                        <a:rPr sz="1300" lang="en-GB"/>
                        <a:t>Message or problem</a:t>
                      </a:r>
                    </a:p>
                  </a:txBody>
                  <a:tcPr marT="45000" marB="45000"/>
                </a:tc>
                <a:tc>
                  <a:txBody>
                    <a:bodyPr/>
                    <a:lstStyle/>
                    <a:p>
                      <a:r>
                        <a:rPr sz="1300" lang="en-GB"/>
                        <a:t>Fix</a:t>
                      </a:r>
                    </a:p>
                  </a:txBody>
                  <a:tcPr marT="45000" marB="45000"/>
                </a:tc>
              </a:tr>
              <a:tr h="370840">
                <a:tc>
                  <a:txBody>
                    <a:bodyPr/>
                    <a:lstStyle/>
                    <a:p>
                      <a:r>
                        <a:rPr sz="1150" b="1" lang="en-GB"/>
                        <a:t>Authentication failed / Bad credentials</a:t>
                      </a:r>
                    </a:p>
                  </a:txBody>
                  <a:tcPr marT="45000" marB="45000"/>
                </a:tc>
                <a:tc>
                  <a:txBody>
                    <a:bodyPr/>
                    <a:lstStyle/>
                    <a:p>
                      <a:r>
                        <a:rPr sz="1150" lang="en-GB"/>
                        <a:t>Options or Settings → Accounts: sign out, sign in again</a:t>
                      </a:r>
                    </a:p>
                  </a:txBody>
                  <a:tcPr marT="45000" marB="45000"/>
                </a:tc>
              </a:tr>
              <a:tr h="370840">
                <a:tc>
                  <a:txBody>
                    <a:bodyPr/>
                    <a:lstStyle/>
                    <a:p>
                      <a:r>
                        <a:rPr sz="1150" b="1" lang="en-GB"/>
                        <a:t>Push rejected: new commits on remote</a:t>
                      </a:r>
                    </a:p>
                  </a:txBody>
                  <a:tcPr marT="45000" marB="45000"/>
                </a:tc>
                <a:tc>
                  <a:txBody>
                    <a:bodyPr/>
                    <a:lstStyle/>
                    <a:p>
                      <a:r>
                        <a:rPr sz="1150" lang="en-GB"/>
                        <a:t>Fetch origin, Pull origin, then Push origin</a:t>
                      </a:r>
                    </a:p>
                  </a:txBody>
                  <a:tcPr marT="45000" marB="45000"/>
                </a:tc>
              </a:tr>
              <a:tr h="370840">
                <a:tc>
                  <a:txBody>
                    <a:bodyPr/>
                    <a:lstStyle/>
                    <a:p>
                      <a:r>
                        <a:rPr sz="1150" b="1" lang="en-GB"/>
                        <a:t>File over 100 MiB</a:t>
                      </a:r>
                    </a:p>
                  </a:txBody>
                  <a:tcPr marT="45000" marB="45000"/>
                </a:tc>
                <a:tc>
                  <a:txBody>
                    <a:bodyPr/>
                    <a:lstStyle/>
                    <a:p>
                      <a:r>
                        <a:rPr sz="1150" lang="en-GB"/>
                        <a:t>Remove it from the commit; add it to .gitignore</a:t>
                      </a:r>
                    </a:p>
                  </a:txBody>
                  <a:tcPr marT="45000" marB="45000"/>
                </a:tc>
              </a:tr>
              <a:tr h="370840">
                <a:tc>
                  <a:txBody>
                    <a:bodyPr/>
                    <a:lstStyle/>
                    <a:p>
                      <a:r>
                        <a:rPr sz="1150" b="1" lang="en-GB"/>
                        <a:t>Clone failed in OneDrive or a redirected folder</a:t>
                      </a:r>
                    </a:p>
                  </a:txBody>
                  <a:tcPr marT="45000" marB="45000"/>
                </a:tc>
                <a:tc>
                  <a:txBody>
                    <a:bodyPr/>
                    <a:lstStyle/>
                    <a:p>
                      <a:r>
                        <a:rPr sz="1150" lang="en-GB"/>
                        <a:t>Clone into a local folder such as C:\Users\you\wu</a:t>
                      </a:r>
                    </a:p>
                  </a:txBody>
                  <a:tcPr marT="45000" marB="45000"/>
                </a:tc>
              </a:tr>
              <a:tr h="370840">
                <a:tc>
                  <a:txBody>
                    <a:bodyPr/>
                    <a:lstStyle/>
                    <a:p>
                      <a:r>
                        <a:rPr sz="1150" b="1" lang="en-GB"/>
                        <a:t>macOS: username or passphrase not correct</a:t>
                      </a:r>
                    </a:p>
                  </a:txBody>
                  <a:tcPr marT="45000" marB="45000"/>
                </a:tc>
                <a:tc>
                  <a:txBody>
                    <a:bodyPr/>
                    <a:lstStyle/>
                    <a:p>
                      <a:r>
                        <a:rPr sz="1150" lang="en-GB"/>
                        <a:t>Keychain Access: lock, then unlock 'login'; sign in again</a:t>
                      </a:r>
                    </a:p>
                  </a:txBody>
                  <a:tcPr marT="45000" marB="45000"/>
                </a:tc>
              </a:tr>
              <a:tr h="370840">
                <a:tc>
                  <a:txBody>
                    <a:bodyPr/>
                    <a:lstStyle/>
                    <a:p>
                      <a:r>
                        <a:rPr sz="1150" b="1" lang="en-GB"/>
                        <a:t>Cannot find the repository</a:t>
                      </a:r>
                    </a:p>
                  </a:txBody>
                  <a:tcPr marT="45000" marB="45000"/>
                </a:tc>
                <a:tc>
                  <a:txBody>
                    <a:bodyPr/>
                    <a:lstStyle/>
                    <a:p>
                      <a:r>
                        <a:rPr sz="1150" lang="en-GB"/>
                        <a:t>Click Locate… and choose the folder</a:t>
                      </a:r>
                    </a:p>
                  </a:txBody>
                  <a:tcPr marT="45000" marB="45000"/>
                </a:tc>
              </a:tr>
            </a:tbl>
          </a:graphicData>
        </a:graphic>
      </p:graphicFrame>
      <p:sp>
        <p:nvSpPr>
          <p:cNvPr id="3" name="Title 2"/>
          <p:cNvSpPr>
            <a:spLocks noGrp="1"/>
          </p:cNvSpPr>
          <p:nvPr>
            <p:ph type="title"/>
          </p:nvPr>
        </p:nvSpPr>
        <p:spPr/>
        <p:txBody>
          <a:bodyPr/>
          <a:lstStyle/>
          <a:p>
            <a:r>
              <a:rPr sz="1600" lang="en-GB"/>
              <a:t>When GitHub Desktop goes wrong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ouble logs box"/>
          <p:cNvSpPr/>
          <p:nvPr/>
        </p:nvSpPr>
        <p:spPr>
          <a:xfrm>
            <a:off x="457200" y="4297680"/>
            <a:ext cx="822960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ouble logs" descr=""/>
          <p:cNvPicPr>
            <a:picLocks noChangeAspect="1"/>
          </p:cNvPicPr>
          <p:nvPr/>
        </p:nvPicPr>
        <p:blipFill>
          <a:blip r:embed="rId3"/>
          <a:stretch>
            <a:fillRect/>
          </a:stretch>
        </p:blipFill>
        <p:spPr>
          <a:xfrm>
            <a:off x="658368" y="4434840"/>
            <a:ext cx="365760" cy="365760"/>
          </a:xfrm>
          <a:prstGeom prst="rect">
            <a:avLst/>
          </a:prstGeom>
        </p:spPr>
      </p:pic>
      <p:sp>
        <p:nvSpPr>
          <p:cNvPr id="12" name="Trouble logs text"/>
          <p:cNvSpPr txBox="1"/>
          <p:nvPr/>
        </p:nvSpPr>
        <p:spPr>
          <a:xfrm>
            <a:off x="1207008" y="4297680"/>
            <a:ext cx="7315200"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Log files: </a:t>
            </a:r>
            <a:r>
              <a:rPr sz="1200" b="0" lang="en-GB">
                <a:solidFill>
                  <a:schemeClr val="tx1"/>
                </a:solidFill>
              </a:rPr>
              <a:t>Help → Show Logs in Explorer (Windows) or Show Logs in Finder (macOS); send them when you ask for help.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Checklist: GitHub</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Account </a:t>
            </a:r>
            <a:r>
              <a:rPr sz="1200" b="0" lang="en-GB">
                <a:solidFill>
                  <a:schemeClr val="tx1"/>
                </a:solidFill>
              </a:rPr>
              <a:t>with 2FA and recovery codes stored</a:t>
            </a:r>
          </a:p>
        </p:txBody>
      </p:sp>
      <p:sp>
        <p:nvSpPr>
          <p:cNvPr id="13" name="Check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eck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heck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E-mail: </a:t>
            </a:r>
            <a:r>
              <a:rPr sz="1200" b="0" lang="en-GB">
                <a:solidFill>
                  <a:schemeClr val="tx1"/>
                </a:solidFill>
              </a:rPr>
              <a:t>WU address verified, Keep my email addresses private on</a:t>
            </a:r>
          </a:p>
        </p:txBody>
      </p:sp>
      <p:sp>
        <p:nvSpPr>
          <p:cNvPr id="16" name="Check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eck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heck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GitHub Education </a:t>
            </a:r>
            <a:r>
              <a:rPr sz="1200" b="0" lang="en-GB">
                <a:solidFill>
                  <a:schemeClr val="tx1"/>
                </a:solidFill>
              </a:rPr>
              <a:t>application submitted</a:t>
            </a:r>
          </a:p>
        </p:txBody>
      </p:sp>
      <p:sp>
        <p:nvSpPr>
          <p:cNvPr id="19" name="Check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eck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heck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GitHub Desktop </a:t>
            </a:r>
            <a:r>
              <a:rPr sz="1200" b="0" lang="en-GB">
                <a:solidFill>
                  <a:schemeClr val="tx1"/>
                </a:solidFill>
              </a:rPr>
              <a:t>installed, signed in, noreply address under Git</a:t>
            </a:r>
          </a:p>
        </p:txBody>
      </p:sp>
      <p:sp>
        <p:nvSpPr>
          <p:cNvPr id="22" name="Check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heck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heck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Course repository </a:t>
            </a:r>
            <a:r>
              <a:rPr sz="1200" b="0" lang="en-GB">
                <a:solidFill>
                  <a:schemeClr val="tx1"/>
                </a:solidFill>
              </a:rPr>
              <a:t>cloned to a local folder and opened in Positron</a:t>
            </a:r>
          </a:p>
        </p:txBody>
      </p:sp>
      <p:sp>
        <p:nvSpPr>
          <p:cNvPr id="25" name="Check row 6"/>
          <p:cNvSpPr/>
          <p:nvPr/>
        </p:nvSpPr>
        <p:spPr>
          <a:xfrm>
            <a:off x="457200" y="41605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ck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Check text 6"/>
          <p:cNvSpPr txBox="1"/>
          <p:nvPr/>
        </p:nvSpPr>
        <p:spPr>
          <a:xfrm>
            <a:off x="1051560" y="416052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Group repository </a:t>
            </a:r>
            <a:r>
              <a:rPr sz="1200" b="0" lang="en-GB">
                <a:solidFill>
                  <a:schemeClr val="tx1"/>
                </a:solidFill>
              </a:rPr>
              <a:t>created, private, members invited (optional)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7 of 12 · Posit Assistant, what Copilot does, the free plans, privacy settings</a:t>
            </a:r>
          </a:p>
        </p:txBody>
      </p:sp>
      <p:sp>
        <p:nvSpPr>
          <p:cNvPr id="3" name="Title 2"/>
          <p:cNvSpPr>
            <a:spLocks noGrp="1"/>
          </p:cNvSpPr>
          <p:nvPr>
            <p:ph type="ctrTitle"/>
          </p:nvPr>
        </p:nvSpPr>
        <p:spPr/>
        <p:txBody>
          <a:bodyPr/>
          <a:lstStyle/>
          <a:p>
            <a:r>
              <a:rPr sz="1600" lang="en-GB"/>
              <a:t>Get GitHub Copilot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Positron Assistant is now Posit Assistant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ime box 1"/>
          <p:cNvSpPr/>
          <p:nvPr/>
        </p:nvSpPr>
        <p:spPr>
          <a:xfrm>
            <a:off x="457200" y="1234440"/>
            <a:ext cx="1536192"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ime year 1"/>
          <p:cNvSpPr txBox="1"/>
          <p:nvPr/>
        </p:nvSpPr>
        <p:spPr>
          <a:xfrm>
            <a:off x="548640"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tx2"/>
                </a:solidFill>
                <a:latin typeface="+mj-lt"/>
              </a:rPr>
              <a:t>2025.07</a:t>
            </a:r>
          </a:p>
        </p:txBody>
      </p:sp>
      <p:sp>
        <p:nvSpPr>
          <p:cNvPr id="12" name="Time label 1"/>
          <p:cNvSpPr txBox="1"/>
          <p:nvPr/>
        </p:nvSpPr>
        <p:spPr>
          <a:xfrm>
            <a:off x="548640"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tx1"/>
                </a:solidFill>
              </a:rPr>
              <a:t>Positron Assistant (preview)</a:t>
            </a:r>
          </a:p>
        </p:txBody>
      </p:sp>
      <p:sp>
        <p:nvSpPr>
          <p:cNvPr id="13" name="Time box 2"/>
          <p:cNvSpPr/>
          <p:nvPr/>
        </p:nvSpPr>
        <p:spPr>
          <a:xfrm>
            <a:off x="2130552" y="1234440"/>
            <a:ext cx="1536192"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ime year 2"/>
          <p:cNvSpPr txBox="1"/>
          <p:nvPr/>
        </p:nvSpPr>
        <p:spPr>
          <a:xfrm>
            <a:off x="2221992"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tx2"/>
                </a:solidFill>
                <a:latin typeface="+mj-lt"/>
              </a:rPr>
              <a:t>2025.10</a:t>
            </a:r>
          </a:p>
        </p:txBody>
      </p:sp>
      <p:sp>
        <p:nvSpPr>
          <p:cNvPr id="15" name="Time label 2"/>
          <p:cNvSpPr txBox="1"/>
          <p:nvPr/>
        </p:nvSpPr>
        <p:spPr>
          <a:xfrm>
            <a:off x="2221992"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tx1"/>
                </a:solidFill>
              </a:rPr>
              <a:t>Copilot also for chat</a:t>
            </a:r>
          </a:p>
        </p:txBody>
      </p:sp>
      <p:sp>
        <p:nvSpPr>
          <p:cNvPr id="16" name="Time box 3"/>
          <p:cNvSpPr/>
          <p:nvPr/>
        </p:nvSpPr>
        <p:spPr>
          <a:xfrm>
            <a:off x="3803904" y="1234440"/>
            <a:ext cx="1536192"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ime year 3"/>
          <p:cNvSpPr txBox="1"/>
          <p:nvPr/>
        </p:nvSpPr>
        <p:spPr>
          <a:xfrm>
            <a:off x="3895344"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tx2"/>
                </a:solidFill>
                <a:latin typeface="+mj-lt"/>
              </a:rPr>
              <a:t>2026.04</a:t>
            </a:r>
          </a:p>
        </p:txBody>
      </p:sp>
      <p:sp>
        <p:nvSpPr>
          <p:cNvPr id="18" name="Time label 3"/>
          <p:cNvSpPr txBox="1"/>
          <p:nvPr/>
        </p:nvSpPr>
        <p:spPr>
          <a:xfrm>
            <a:off x="3895344"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tx1"/>
                </a:solidFill>
              </a:rPr>
              <a:t>Posit Assistant (preview)</a:t>
            </a:r>
          </a:p>
        </p:txBody>
      </p:sp>
      <p:sp>
        <p:nvSpPr>
          <p:cNvPr id="19" name="Time box 4"/>
          <p:cNvSpPr/>
          <p:nvPr/>
        </p:nvSpPr>
        <p:spPr>
          <a:xfrm>
            <a:off x="5477256" y="1234440"/>
            <a:ext cx="1536192" cy="1417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ime year 4"/>
          <p:cNvSpPr txBox="1"/>
          <p:nvPr/>
        </p:nvSpPr>
        <p:spPr>
          <a:xfrm>
            <a:off x="5568696"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bg1"/>
                </a:solidFill>
                <a:latin typeface="+mj-lt"/>
              </a:rPr>
              <a:t>2026.07</a:t>
            </a:r>
          </a:p>
        </p:txBody>
      </p:sp>
      <p:sp>
        <p:nvSpPr>
          <p:cNvPr id="21" name="Time label 4"/>
          <p:cNvSpPr txBox="1"/>
          <p:nvPr/>
        </p:nvSpPr>
        <p:spPr>
          <a:xfrm>
            <a:off x="5568696"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bg1"/>
                </a:solidFill>
              </a:rPr>
              <a:t>Posit Assistant default; old one removed</a:t>
            </a:r>
          </a:p>
        </p:txBody>
      </p:sp>
      <p:sp>
        <p:nvSpPr>
          <p:cNvPr id="22" name="Time box 5"/>
          <p:cNvSpPr/>
          <p:nvPr/>
        </p:nvSpPr>
        <p:spPr>
          <a:xfrm>
            <a:off x="7150608" y="1234440"/>
            <a:ext cx="1536192" cy="1417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ime year 5"/>
          <p:cNvSpPr txBox="1"/>
          <p:nvPr/>
        </p:nvSpPr>
        <p:spPr>
          <a:xfrm>
            <a:off x="7242048"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bg1"/>
                </a:solidFill>
                <a:latin typeface="+mj-lt"/>
              </a:rPr>
              <a:t>2026.10</a:t>
            </a:r>
          </a:p>
        </p:txBody>
      </p:sp>
      <p:sp>
        <p:nvSpPr>
          <p:cNvPr id="24" name="Time label 5"/>
          <p:cNvSpPr txBox="1"/>
          <p:nvPr/>
        </p:nvSpPr>
        <p:spPr>
          <a:xfrm>
            <a:off x="7242048"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bg1"/>
                </a:solidFill>
              </a:rPr>
              <a:t>current Positron release</a:t>
            </a:r>
          </a:p>
        </p:txBody>
      </p:sp>
      <p:sp>
        <p:nvSpPr>
          <p:cNvPr id="25" name="Names rows row 1"/>
          <p:cNvSpPr/>
          <p:nvPr/>
        </p:nvSpPr>
        <p:spPr>
          <a:xfrm>
            <a:off x="457200" y="283464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mes rows bar 1"/>
          <p:cNvSpPr/>
          <p:nvPr/>
        </p:nvSpPr>
        <p:spPr>
          <a:xfrm>
            <a:off x="457200" y="283464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ames rows text 1"/>
          <p:cNvSpPr txBox="1"/>
          <p:nvPr/>
        </p:nvSpPr>
        <p:spPr>
          <a:xfrm>
            <a:off x="658368" y="283464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Positron: </a:t>
            </a:r>
            <a:r>
              <a:rPr sz="1200" b="0" lang="en-GB">
                <a:solidFill>
                  <a:schemeClr val="tx1"/>
                </a:solidFill>
              </a:rPr>
              <a:t>the free editor by Posit, where you write and run Python</a:t>
            </a:r>
          </a:p>
        </p:txBody>
      </p:sp>
      <p:sp>
        <p:nvSpPr>
          <p:cNvPr id="28" name="Names rows row 2"/>
          <p:cNvSpPr/>
          <p:nvPr/>
        </p:nvSpPr>
        <p:spPr>
          <a:xfrm>
            <a:off x="457200" y="333756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Names rows bar 2"/>
          <p:cNvSpPr/>
          <p:nvPr/>
        </p:nvSpPr>
        <p:spPr>
          <a:xfrm>
            <a:off x="457200" y="333756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mes rows text 2"/>
          <p:cNvSpPr txBox="1"/>
          <p:nvPr/>
        </p:nvSpPr>
        <p:spPr>
          <a:xfrm>
            <a:off x="658368" y="333756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Posit Assistant: </a:t>
            </a:r>
            <a:r>
              <a:rPr sz="1200" b="0" lang="en-GB">
                <a:solidFill>
                  <a:schemeClr val="tx1"/>
                </a:solidFill>
              </a:rPr>
              <a:t>the AI chat built into Positron; it has no model of its own</a:t>
            </a:r>
          </a:p>
        </p:txBody>
      </p:sp>
      <p:sp>
        <p:nvSpPr>
          <p:cNvPr id="31" name="Names rows row 3"/>
          <p:cNvSpPr/>
          <p:nvPr/>
        </p:nvSpPr>
        <p:spPr>
          <a:xfrm>
            <a:off x="457200" y="384048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mes rows bar 3"/>
          <p:cNvSpPr/>
          <p:nvPr/>
        </p:nvSpPr>
        <p:spPr>
          <a:xfrm>
            <a:off x="457200" y="384048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Names rows text 3"/>
          <p:cNvSpPr txBox="1"/>
          <p:nvPr/>
        </p:nvSpPr>
        <p:spPr>
          <a:xfrm>
            <a:off x="658368" y="384048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GitHub Copilot: </a:t>
            </a:r>
            <a:r>
              <a:rPr sz="1200" b="0" lang="en-GB">
                <a:solidFill>
                  <a:schemeClr val="tx1"/>
                </a:solidFill>
              </a:rPr>
              <a:t>the model provider: it answers in the chat and suggests code</a:t>
            </a:r>
          </a:p>
        </p:txBody>
      </p:sp>
      <p:sp>
        <p:nvSpPr>
          <p:cNvPr id="34" name="Names old box"/>
          <p:cNvSpPr/>
          <p:nvPr/>
        </p:nvSpPr>
        <p:spPr>
          <a:xfrm>
            <a:off x="457200" y="434340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Names old" descr=""/>
          <p:cNvPicPr>
            <a:picLocks noChangeAspect="1"/>
          </p:cNvPicPr>
          <p:nvPr/>
        </p:nvPicPr>
        <p:blipFill>
          <a:blip r:embed="rId3"/>
          <a:stretch>
            <a:fillRect/>
          </a:stretch>
        </p:blipFill>
        <p:spPr>
          <a:xfrm>
            <a:off x="658368" y="4457700"/>
            <a:ext cx="365760" cy="365760"/>
          </a:xfrm>
          <a:prstGeom prst="rect">
            <a:avLst/>
          </a:prstGeom>
        </p:spPr>
      </p:pic>
      <p:sp>
        <p:nvSpPr>
          <p:cNvPr id="36" name="Names old text"/>
          <p:cNvSpPr txBox="1"/>
          <p:nvPr/>
        </p:nvSpPr>
        <p:spPr>
          <a:xfrm>
            <a:off x="1207008" y="434340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Old tutorials? </a:t>
            </a:r>
            <a:r>
              <a:rPr sz="1200" b="0" lang="en-GB">
                <a:solidFill>
                  <a:schemeClr val="bg1"/>
                </a:solidFill>
              </a:rPr>
              <a:t>Ask/Edit/Agent modes or positron.assistant.enable mean the guide is outdated.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rov table"/>
          <p:cNvGraphicFramePr>
            <a:graphicFrameLocks noGrp="1"/>
          </p:cNvGraphicFramePr>
          <p:nvPr>
            <p:ph type="tbl" idx="1"/>
          </p:nvPr>
        </p:nvGraphicFramePr>
        <p:xfrm>
          <a:off x="457200" y="1234440"/>
          <a:ext cx="8229600" cy="1483360"/>
        </p:xfrm>
        <a:graphic>
          <a:graphicData uri="http://schemas.openxmlformats.org/drawingml/2006/table">
            <a:tbl>
              <a:tblPr firstRow="1" bandRow="1">
                <a:tableStyleId>{5C22544A-7EE6-4342-B048-85BDC9FD1C3A}</a:tableStyleId>
              </a:tblPr>
              <a:tblGrid>
                <a:gridCol w="2743200"/>
                <a:gridCol w="1097280"/>
                <a:gridCol w="1737360"/>
                <a:gridCol w="2651760"/>
              </a:tblGrid>
              <a:tr h="370840">
                <a:tc>
                  <a:txBody>
                    <a:bodyPr/>
                    <a:lstStyle/>
                    <a:p>
                      <a:r>
                        <a:rPr sz="1300" lang="en-GB"/>
                        <a:t>Provider</a:t>
                      </a:r>
                    </a:p>
                  </a:txBody>
                  <a:tcPr marT="45000" marB="45000"/>
                </a:tc>
                <a:tc>
                  <a:txBody>
                    <a:bodyPr/>
                    <a:lstStyle/>
                    <a:p>
                      <a:r>
                        <a:rPr sz="1300" lang="en-GB"/>
                        <a:t>Chat</a:t>
                      </a:r>
                    </a:p>
                  </a:txBody>
                  <a:tcPr marT="45000" marB="45000"/>
                </a:tc>
                <a:tc>
                  <a:txBody>
                    <a:bodyPr/>
                    <a:lstStyle/>
                    <a:p>
                      <a:r>
                        <a:rPr sz="1300" lang="en-GB"/>
                        <a:t>Completions</a:t>
                      </a:r>
                    </a:p>
                  </a:txBody>
                  <a:tcPr marT="45000" marB="45000"/>
                </a:tc>
                <a:tc>
                  <a:txBody>
                    <a:bodyPr/>
                    <a:lstStyle/>
                    <a:p>
                      <a:r>
                        <a:rPr sz="1300" lang="en-GB"/>
                        <a:t>Cost for you</a:t>
                      </a:r>
                    </a:p>
                  </a:txBody>
                  <a:tcPr marT="45000" marB="45000"/>
                </a:tc>
              </a:tr>
              <a:tr h="370840">
                <a:tc>
                  <a:txBody>
                    <a:bodyPr/>
                    <a:lstStyle/>
                    <a:p>
                      <a:r>
                        <a:rPr sz="1200" b="1" lang="en-GB"/>
                        <a:t>GitHub Copilot (Preview)</a:t>
                      </a:r>
                    </a:p>
                  </a:txBody>
                  <a:tcPr marT="45000" marB="45000"/>
                </a:tc>
                <a:tc>
                  <a:txBody>
                    <a:bodyPr/>
                    <a:lstStyle/>
                    <a:p>
                      <a:r>
                        <a:rPr sz="1200" lang="en-GB"/>
                        <a:t>yes</a:t>
                      </a:r>
                    </a:p>
                  </a:txBody>
                  <a:tcPr marT="45000" marB="45000"/>
                </a:tc>
                <a:tc>
                  <a:txBody>
                    <a:bodyPr/>
                    <a:lstStyle/>
                    <a:p>
                      <a:r>
                        <a:rPr sz="1200" lang="en-GB"/>
                        <a:t>yes, ghost text</a:t>
                      </a:r>
                    </a:p>
                  </a:txBody>
                  <a:tcPr marT="45000" marB="45000"/>
                </a:tc>
                <a:tc>
                  <a:txBody>
                    <a:bodyPr/>
                    <a:lstStyle/>
                    <a:p>
                      <a:r>
                        <a:rPr sz="1200" lang="en-GB"/>
                        <a:t>free with Copilot Student or Free</a:t>
                      </a:r>
                    </a:p>
                  </a:txBody>
                  <a:tcPr marT="45000" marB="45000"/>
                </a:tc>
              </a:tr>
              <a:tr h="370840">
                <a:tc>
                  <a:txBody>
                    <a:bodyPr/>
                    <a:lstStyle/>
                    <a:p>
                      <a:r>
                        <a:rPr sz="1200" b="1" lang="en-GB"/>
                        <a:t>Posit AI Pass</a:t>
                      </a:r>
                    </a:p>
                  </a:txBody>
                  <a:tcPr marT="45000" marB="45000"/>
                </a:tc>
                <a:tc>
                  <a:txBody>
                    <a:bodyPr/>
                    <a:lstStyle/>
                    <a:p>
                      <a:r>
                        <a:rPr sz="1200" lang="en-GB"/>
                        <a:t>yes</a:t>
                      </a:r>
                    </a:p>
                  </a:txBody>
                  <a:tcPr marT="45000" marB="45000"/>
                </a:tc>
                <a:tc>
                  <a:txBody>
                    <a:bodyPr/>
                    <a:lstStyle/>
                    <a:p>
                      <a:r>
                        <a:rPr sz="1200" lang="en-GB"/>
                        <a:t>yes</a:t>
                      </a:r>
                    </a:p>
                  </a:txBody>
                  <a:tcPr marT="45000" marB="45000"/>
                </a:tc>
                <a:tc>
                  <a:txBody>
                    <a:bodyPr/>
                    <a:lstStyle/>
                    <a:p>
                      <a:r>
                        <a:rPr sz="1200" lang="en-GB"/>
                        <a:t>20 USD a month</a:t>
                      </a:r>
                    </a:p>
                  </a:txBody>
                  <a:tcPr marT="45000" marB="45000"/>
                </a:tc>
              </a:tr>
              <a:tr h="370840">
                <a:tc>
                  <a:txBody>
                    <a:bodyPr/>
                    <a:lstStyle/>
                    <a:p>
                      <a:r>
                        <a:rPr sz="1200" b="1" lang="en-GB"/>
                        <a:t>Anthropic, OpenAI, others</a:t>
                      </a:r>
                    </a:p>
                  </a:txBody>
                  <a:tcPr marT="45000" marB="45000"/>
                </a:tc>
                <a:tc>
                  <a:txBody>
                    <a:bodyPr/>
                    <a:lstStyle/>
                    <a:p>
                      <a:r>
                        <a:rPr sz="1200" lang="en-GB"/>
                        <a:t>yes</a:t>
                      </a:r>
                    </a:p>
                  </a:txBody>
                  <a:tcPr marT="45000" marB="45000"/>
                </a:tc>
                <a:tc>
                  <a:txBody>
                    <a:bodyPr/>
                    <a:lstStyle/>
                    <a:p>
                      <a:r>
                        <a:rPr sz="1200" lang="en-GB"/>
                        <a:t>no</a:t>
                      </a:r>
                    </a:p>
                  </a:txBody>
                  <a:tcPr marT="45000" marB="45000"/>
                </a:tc>
                <a:tc>
                  <a:txBody>
                    <a:bodyPr/>
                    <a:lstStyle/>
                    <a:p>
                      <a:r>
                        <a:rPr sz="1200" lang="en-GB"/>
                        <a:t>paid API key</a:t>
                      </a:r>
                    </a:p>
                  </a:txBody>
                  <a:tcPr marT="45000" marB="45000"/>
                </a:tc>
              </a:tr>
            </a:tbl>
          </a:graphicData>
        </a:graphic>
      </p:graphicFrame>
      <p:sp>
        <p:nvSpPr>
          <p:cNvPr id="3" name="Title 2"/>
          <p:cNvSpPr>
            <a:spLocks noGrp="1"/>
          </p:cNvSpPr>
          <p:nvPr>
            <p:ph type="title"/>
          </p:nvPr>
        </p:nvSpPr>
        <p:spPr/>
        <p:txBody>
          <a:bodyPr/>
          <a:lstStyle/>
          <a:p>
            <a:r>
              <a:rPr sz="1600" lang="en-GB"/>
              <a:t>What Copilot does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Job chat tile"/>
          <p:cNvSpPr/>
          <p:nvPr/>
        </p:nvSpPr>
        <p:spPr>
          <a:xfrm>
            <a:off x="457200" y="3017520"/>
            <a:ext cx="404622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Job chat" descr=""/>
          <p:cNvPicPr>
            <a:picLocks noChangeAspect="1"/>
          </p:cNvPicPr>
          <p:nvPr/>
        </p:nvPicPr>
        <p:blipFill>
          <a:blip r:embed="rId3"/>
          <a:stretch>
            <a:fillRect/>
          </a:stretch>
        </p:blipFill>
        <p:spPr>
          <a:xfrm>
            <a:off x="594360" y="3154680"/>
            <a:ext cx="365760" cy="365760"/>
          </a:xfrm>
          <a:prstGeom prst="rect">
            <a:avLst/>
          </a:prstGeom>
        </p:spPr>
      </p:pic>
      <p:sp>
        <p:nvSpPr>
          <p:cNvPr id="12" name="Job chat heading"/>
          <p:cNvSpPr txBox="1"/>
          <p:nvPr/>
        </p:nvSpPr>
        <p:spPr>
          <a:xfrm>
            <a:off x="1051560" y="31546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Chat</a:t>
            </a:r>
          </a:p>
        </p:txBody>
      </p:sp>
      <p:sp>
        <p:nvSpPr>
          <p:cNvPr id="13" name="Job chat text"/>
          <p:cNvSpPr txBox="1"/>
          <p:nvPr/>
        </p:nvSpPr>
        <p:spPr>
          <a:xfrm>
            <a:off x="594360" y="3639312"/>
            <a:ext cx="3771900" cy="502920"/>
          </a:xfrm>
          <a:prstGeom prst="rect">
            <a:avLst/>
          </a:prstGeom>
          <a:noFill/>
        </p:spPr>
        <p:txBody>
          <a:bodyPr wrap="square" lIns="0" rIns="0" tIns="0" bIns="0" anchor="t">
            <a:noAutofit/>
          </a:bodyPr>
          <a:lstStyle/>
          <a:p>
            <a:pPr algn="l">
              <a:spcAft>
                <a:spcPts val="400"/>
              </a:spcAft>
            </a:pPr>
            <a:r>
              <a:rPr sz="1200" b="0" lang="en-GB">
                <a:solidFill>
                  <a:schemeClr val="tx1"/>
                </a:solidFill>
              </a:rPr>
              <a:t>Ask, plan, run code after your OK, explain errors</a:t>
            </a:r>
          </a:p>
        </p:txBody>
      </p:sp>
      <p:sp>
        <p:nvSpPr>
          <p:cNvPr id="14" name="Job comp tile"/>
          <p:cNvSpPr/>
          <p:nvPr/>
        </p:nvSpPr>
        <p:spPr>
          <a:xfrm>
            <a:off x="4640580" y="3017520"/>
            <a:ext cx="404622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Job comp" descr=""/>
          <p:cNvPicPr>
            <a:picLocks noChangeAspect="1"/>
          </p:cNvPicPr>
          <p:nvPr/>
        </p:nvPicPr>
        <p:blipFill>
          <a:blip r:embed="rId4"/>
          <a:stretch>
            <a:fillRect/>
          </a:stretch>
        </p:blipFill>
        <p:spPr>
          <a:xfrm>
            <a:off x="4777740" y="3154680"/>
            <a:ext cx="365760" cy="365760"/>
          </a:xfrm>
          <a:prstGeom prst="rect">
            <a:avLst/>
          </a:prstGeom>
        </p:spPr>
      </p:pic>
      <p:sp>
        <p:nvSpPr>
          <p:cNvPr id="16" name="Job comp heading"/>
          <p:cNvSpPr txBox="1"/>
          <p:nvPr/>
        </p:nvSpPr>
        <p:spPr>
          <a:xfrm>
            <a:off x="5234940" y="31546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Completions</a:t>
            </a:r>
          </a:p>
        </p:txBody>
      </p:sp>
      <p:sp>
        <p:nvSpPr>
          <p:cNvPr id="17" name="Job comp text"/>
          <p:cNvSpPr txBox="1"/>
          <p:nvPr/>
        </p:nvSpPr>
        <p:spPr>
          <a:xfrm>
            <a:off x="4777740" y="3639312"/>
            <a:ext cx="3771900" cy="502920"/>
          </a:xfrm>
          <a:prstGeom prst="rect">
            <a:avLst/>
          </a:prstGeom>
          <a:noFill/>
        </p:spPr>
        <p:txBody>
          <a:bodyPr wrap="square" lIns="0" rIns="0" tIns="0" bIns="0" anchor="t">
            <a:noAutofit/>
          </a:bodyPr>
          <a:lstStyle/>
          <a:p>
            <a:pPr algn="l">
              <a:spcAft>
                <a:spcPts val="400"/>
              </a:spcAft>
            </a:pPr>
            <a:r>
              <a:rPr sz="1200" b="0" lang="en-GB">
                <a:solidFill>
                  <a:schemeClr val="tx1"/>
                </a:solidFill>
              </a:rPr>
              <a:t>Grey suggestions while you type; Tab accepts</a:t>
            </a:r>
          </a:p>
        </p:txBody>
      </p:sp>
      <p:sp>
        <p:nvSpPr>
          <p:cNvPr id="18" name="Prov course box"/>
          <p:cNvSpPr/>
          <p:nvPr/>
        </p:nvSpPr>
        <p:spPr>
          <a:xfrm>
            <a:off x="457200" y="434340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Prov course" descr=""/>
          <p:cNvPicPr>
            <a:picLocks noChangeAspect="1"/>
          </p:cNvPicPr>
          <p:nvPr/>
        </p:nvPicPr>
        <p:blipFill>
          <a:blip r:embed="rId5"/>
          <a:stretch>
            <a:fillRect/>
          </a:stretch>
        </p:blipFill>
        <p:spPr>
          <a:xfrm>
            <a:off x="658368" y="4434840"/>
            <a:ext cx="365760" cy="365760"/>
          </a:xfrm>
          <a:prstGeom prst="rect">
            <a:avLst/>
          </a:prstGeom>
        </p:spPr>
      </p:pic>
      <p:sp>
        <p:nvSpPr>
          <p:cNvPr id="20" name="Prov course text"/>
          <p:cNvSpPr txBox="1"/>
          <p:nvPr/>
        </p:nvSpPr>
        <p:spPr>
          <a:xfrm>
            <a:off x="1207008" y="434340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For this course: </a:t>
            </a:r>
            <a:r>
              <a:rPr sz="1200" b="0" lang="en-GB">
                <a:solidFill>
                  <a:schemeClr val="bg1"/>
                </a:solidFill>
              </a:rPr>
              <a:t>GitHub Copilot. It costs nothing with GitHub Education.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lan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2194560"/>
                <a:gridCol w="3017520"/>
                <a:gridCol w="3017520"/>
              </a:tblGrid>
              <a:tr h="370840">
                <a:tc>
                  <a:txBody>
                    <a:bodyPr/>
                    <a:lstStyle/>
                    <a:p>
                      <a:r>
                        <a:rPr sz="1300" lang="en-GB"/>
                        <a:t/>
                      </a:r>
                    </a:p>
                  </a:txBody>
                  <a:tcPr marT="55000" marB="55000"/>
                </a:tc>
                <a:tc>
                  <a:txBody>
                    <a:bodyPr/>
                    <a:lstStyle/>
                    <a:p>
                      <a:r>
                        <a:rPr sz="1300" lang="en-GB"/>
                        <a:t>Copilot Free</a:t>
                      </a:r>
                    </a:p>
                  </a:txBody>
                  <a:tcPr marT="55000" marB="55000"/>
                </a:tc>
                <a:tc>
                  <a:txBody>
                    <a:bodyPr/>
                    <a:lstStyle/>
                    <a:p>
                      <a:r>
                        <a:rPr sz="1300" lang="en-GB"/>
                        <a:t>Copilot Student</a:t>
                      </a:r>
                    </a:p>
                  </a:txBody>
                  <a:tcPr marT="55000" marB="55000"/>
                </a:tc>
              </a:tr>
              <a:tr h="370840">
                <a:tc>
                  <a:txBody>
                    <a:bodyPr/>
                    <a:lstStyle/>
                    <a:p>
                      <a:r>
                        <a:rPr sz="1200" b="1" lang="en-GB"/>
                        <a:t>Who</a:t>
                      </a:r>
                    </a:p>
                  </a:txBody>
                  <a:tcPr marT="55000" marB="55000"/>
                </a:tc>
                <a:tc>
                  <a:txBody>
                    <a:bodyPr/>
                    <a:lstStyle/>
                    <a:p>
                      <a:r>
                        <a:rPr sz="1200" lang="en-GB"/>
                        <a:t>anyone with a GitHub account</a:t>
                      </a:r>
                    </a:p>
                  </a:txBody>
                  <a:tcPr marT="55000" marB="55000"/>
                </a:tc>
                <a:tc>
                  <a:txBody>
                    <a:bodyPr/>
                    <a:lstStyle/>
                    <a:p>
                      <a:r>
                        <a:rPr sz="1200" lang="en-GB"/>
                        <a:t>verified students (GitHub Education)</a:t>
                      </a:r>
                    </a:p>
                  </a:txBody>
                  <a:tcPr marT="55000" marB="55000"/>
                </a:tc>
              </a:tr>
              <a:tr h="370840">
                <a:tc>
                  <a:txBody>
                    <a:bodyPr/>
                    <a:lstStyle/>
                    <a:p>
                      <a:r>
                        <a:rPr sz="1200" b="1" lang="en-GB"/>
                        <a:t>Code completions</a:t>
                      </a:r>
                    </a:p>
                  </a:txBody>
                  <a:tcPr marT="55000" marB="55000"/>
                </a:tc>
                <a:tc>
                  <a:txBody>
                    <a:bodyPr/>
                    <a:lstStyle/>
                    <a:p>
                      <a:r>
                        <a:rPr sz="1200" lang="en-GB"/>
                        <a:t>2,000 a month</a:t>
                      </a:r>
                    </a:p>
                  </a:txBody>
                  <a:tcPr marT="55000" marB="55000"/>
                </a:tc>
                <a:tc>
                  <a:txBody>
                    <a:bodyPr/>
                    <a:lstStyle/>
                    <a:p>
                      <a:r>
                        <a:rPr sz="1200" lang="en-GB"/>
                        <a:t>unlimited</a:t>
                      </a:r>
                    </a:p>
                  </a:txBody>
                  <a:tcPr marT="55000" marB="55000"/>
                </a:tc>
              </a:tr>
              <a:tr h="370840">
                <a:tc>
                  <a:txBody>
                    <a:bodyPr/>
                    <a:lstStyle/>
                    <a:p>
                      <a:r>
                        <a:rPr sz="1200" b="1" lang="en-GB"/>
                        <a:t>Chat and agent</a:t>
                      </a:r>
                    </a:p>
                  </a:txBody>
                  <a:tcPr marT="55000" marB="55000"/>
                </a:tc>
                <a:tc>
                  <a:txBody>
                    <a:bodyPr/>
                    <a:lstStyle/>
                    <a:p>
                      <a:r>
                        <a:rPr sz="1200" lang="en-GB"/>
                        <a:t>an allowance of AI credits</a:t>
                      </a:r>
                    </a:p>
                  </a:txBody>
                  <a:tcPr marT="55000" marB="55000"/>
                </a:tc>
                <a:tc>
                  <a:txBody>
                    <a:bodyPr/>
                    <a:lstStyle/>
                    <a:p>
                      <a:r>
                        <a:rPr sz="1200" lang="en-GB"/>
                        <a:t>a larger allowance of AI credits</a:t>
                      </a:r>
                    </a:p>
                  </a:txBody>
                  <a:tcPr marT="55000" marB="55000"/>
                </a:tc>
              </a:tr>
              <a:tr h="370840">
                <a:tc>
                  <a:txBody>
                    <a:bodyPr/>
                    <a:lstStyle/>
                    <a:p>
                      <a:r>
                        <a:rPr sz="1200" b="1" lang="en-GB"/>
                        <a:t>Models</a:t>
                      </a:r>
                    </a:p>
                  </a:txBody>
                  <a:tcPr marT="55000" marB="55000"/>
                </a:tc>
                <a:tc>
                  <a:txBody>
                    <a:bodyPr/>
                    <a:lstStyle/>
                    <a:p>
                      <a:r>
                        <a:rPr sz="1200" lang="en-GB"/>
                        <a:t>automatic selection only</a:t>
                      </a:r>
                    </a:p>
                  </a:txBody>
                  <a:tcPr marT="55000" marB="55000"/>
                </a:tc>
                <a:tc>
                  <a:txBody>
                    <a:bodyPr/>
                    <a:lstStyle/>
                    <a:p>
                      <a:r>
                        <a:rPr sz="1200" lang="en-GB"/>
                        <a:t>automatic selection only</a:t>
                      </a:r>
                    </a:p>
                  </a:txBody>
                  <a:tcPr marT="55000" marB="55000"/>
                </a:tc>
              </a:tr>
              <a:tr h="370840">
                <a:tc>
                  <a:txBody>
                    <a:bodyPr/>
                    <a:lstStyle/>
                    <a:p>
                      <a:r>
                        <a:rPr sz="1200" b="1" lang="en-GB"/>
                        <a:t>Price</a:t>
                      </a:r>
                    </a:p>
                  </a:txBody>
                  <a:tcPr marT="55000" marB="55000"/>
                </a:tc>
                <a:tc>
                  <a:txBody>
                    <a:bodyPr/>
                    <a:lstStyle/>
                    <a:p>
                      <a:r>
                        <a:rPr sz="1200" lang="en-GB"/>
                        <a:t>free</a:t>
                      </a:r>
                    </a:p>
                  </a:txBody>
                  <a:tcPr marT="55000" marB="55000"/>
                </a:tc>
                <a:tc>
                  <a:txBody>
                    <a:bodyPr/>
                    <a:lstStyle/>
                    <a:p>
                      <a:r>
                        <a:rPr sz="1200" lang="en-GB"/>
                        <a:t>free while you study</a:t>
                      </a:r>
                    </a:p>
                  </a:txBody>
                  <a:tcPr marT="55000" marB="55000"/>
                </a:tc>
              </a:tr>
            </a:tbl>
          </a:graphicData>
        </a:graphic>
      </p:graphicFrame>
      <p:sp>
        <p:nvSpPr>
          <p:cNvPr id="3" name="Title 2"/>
          <p:cNvSpPr>
            <a:spLocks noGrp="1"/>
          </p:cNvSpPr>
          <p:nvPr>
            <p:ph type="title"/>
          </p:nvPr>
        </p:nvSpPr>
        <p:spPr/>
        <p:txBody>
          <a:bodyPr/>
          <a:lstStyle/>
          <a:p>
            <a:r>
              <a:rPr sz="1600" lang="en-GB"/>
              <a:t>Two free Copilot plans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credits box"/>
          <p:cNvSpPr/>
          <p:nvPr/>
        </p:nvSpPr>
        <p:spPr>
          <a:xfrm>
            <a:off x="457200" y="4069080"/>
            <a:ext cx="822960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Plan credits" descr=""/>
          <p:cNvPicPr>
            <a:picLocks noChangeAspect="1"/>
          </p:cNvPicPr>
          <p:nvPr/>
        </p:nvPicPr>
        <p:blipFill>
          <a:blip r:embed="rId3"/>
          <a:stretch>
            <a:fillRect/>
          </a:stretch>
        </p:blipFill>
        <p:spPr>
          <a:xfrm>
            <a:off x="658368" y="4297680"/>
            <a:ext cx="365760" cy="365760"/>
          </a:xfrm>
          <a:prstGeom prst="rect">
            <a:avLst/>
          </a:prstGeom>
        </p:spPr>
      </p:pic>
      <p:sp>
        <p:nvSpPr>
          <p:cNvPr id="12" name="Plan credits text"/>
          <p:cNvSpPr txBox="1"/>
          <p:nvPr/>
        </p:nvSpPr>
        <p:spPr>
          <a:xfrm>
            <a:off x="1207008" y="4069080"/>
            <a:ext cx="7315200" cy="822960"/>
          </a:xfrm>
          <a:prstGeom prst="rect">
            <a:avLst/>
          </a:prstGeom>
          <a:noFill/>
        </p:spPr>
        <p:txBody>
          <a:bodyPr wrap="square" lIns="0" rIns="0" tIns="0" bIns="0" anchor="ctr">
            <a:noAutofit/>
          </a:bodyPr>
          <a:lstStyle/>
          <a:p>
            <a:pPr algn="l">
              <a:spcAft>
                <a:spcPts val="400"/>
              </a:spcAft>
            </a:pPr>
            <a:r>
              <a:rPr sz="1200" b="1" lang="en-GB">
                <a:solidFill>
                  <a:schemeClr val="bg1"/>
                </a:solidFill>
              </a:rPr>
              <a:t>Credits run out? </a:t>
            </a:r>
            <a:r>
              <a:rPr sz="1200" b="0" lang="en-GB">
                <a:solidFill>
                  <a:schemeClr val="bg1"/>
                </a:solidFill>
              </a:rPr>
              <a:t>they reset on the 1st of the month. The Copilot icon in Positron's status bar shows how much you have used.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Activate Copilot Student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ctivate body"/>
          <p:cNvSpPr/>
          <p:nvPr/>
        </p:nvSpPr>
        <p:spPr>
          <a:xfrm>
            <a:off x="457200" y="1645920"/>
            <a:ext cx="493776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ctivate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ctivate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Copilot Student</a:t>
            </a:r>
          </a:p>
        </p:txBody>
      </p:sp>
      <p:pic>
        <p:nvPicPr>
          <p:cNvPr id="13" name="Icon Activate" descr=""/>
          <p:cNvPicPr>
            <a:picLocks noChangeAspect="1"/>
          </p:cNvPicPr>
          <p:nvPr/>
        </p:nvPicPr>
        <p:blipFill>
          <a:blip r:embed="rId3"/>
          <a:stretch>
            <a:fillRect/>
          </a:stretch>
        </p:blipFill>
        <p:spPr>
          <a:xfrm>
            <a:off x="4956048" y="1284732"/>
            <a:ext cx="310896" cy="310896"/>
          </a:xfrm>
          <a:prstGeom prst="rect">
            <a:avLst/>
          </a:prstGeom>
        </p:spPr>
      </p:pic>
      <p:sp>
        <p:nvSpPr>
          <p:cNvPr id="14" name="Activate text"/>
          <p:cNvSpPr txBox="1"/>
          <p:nvPr/>
        </p:nvSpPr>
        <p:spPr>
          <a:xfrm>
            <a:off x="621792" y="1783080"/>
            <a:ext cx="4636008" cy="23774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Be verified </a:t>
            </a:r>
            <a:r>
              <a:rPr sz="1300" b="0" lang="en-GB">
                <a:solidFill>
                  <a:schemeClr val="tx1"/>
                </a:solidFill>
              </a:rPr>
              <a:t>in GitHub Education (Part 2)</a:t>
            </a:r>
          </a:p>
          <a:p>
            <a:pPr algn="l">
              <a:spcAft>
                <a:spcPts val="900"/>
              </a:spcAft>
            </a:pPr>
            <a:r>
              <a:rPr sz="1300" b="1" lang="en-GB">
                <a:solidFill>
                  <a:schemeClr val="accent1"/>
                </a:solidFill>
              </a:rPr>
              <a:t>2  </a:t>
            </a:r>
            <a:r>
              <a:rPr sz="1300" b="0" lang="en-GB">
                <a:solidFill>
                  <a:schemeClr val="tx1"/>
                </a:solidFill>
              </a:rPr>
              <a:t>Open </a:t>
            </a:r>
            <a:r>
              <a:rPr sz="1300" b="0" lang="en-GB">
                <a:solidFill>
                  <a:schemeClr val="accent1"/>
                </a:solidFill>
                <a:hlinkClick r:id="rId4"/>
              </a:rPr>
              <a:t>github.com/settings/education/benefits</a:t>
            </a:r>
          </a:p>
          <a:p>
            <a:pPr algn="l">
              <a:spcAft>
                <a:spcPts val="900"/>
              </a:spcAft>
            </a:pPr>
            <a:r>
              <a:rPr sz="1300" b="1" lang="en-GB">
                <a:solidFill>
                  <a:schemeClr val="accent1"/>
                </a:solidFill>
              </a:rPr>
              <a:t>3  </a:t>
            </a:r>
            <a:r>
              <a:rPr sz="1300" b="1" lang="en-GB">
                <a:solidFill>
                  <a:schemeClr val="tx2"/>
                </a:solidFill>
              </a:rPr>
              <a:t>Under Free GitHub developer resources: </a:t>
            </a:r>
            <a:r>
              <a:rPr sz="1300" b="0" lang="en-GB">
                <a:solidFill>
                  <a:schemeClr val="tx1"/>
                </a:solidFill>
              </a:rPr>
              <a:t>Learn more</a:t>
            </a:r>
          </a:p>
          <a:p>
            <a:pPr algn="l">
              <a:spcAft>
                <a:spcPts val="900"/>
              </a:spcAft>
            </a:pPr>
            <a:r>
              <a:rPr sz="1300" b="1" lang="en-GB">
                <a:solidFill>
                  <a:schemeClr val="accent1"/>
                </a:solidFill>
              </a:rPr>
              <a:t>4  </a:t>
            </a:r>
            <a:r>
              <a:rPr sz="1300" b="1" lang="en-GB">
                <a:solidFill>
                  <a:schemeClr val="tx2"/>
                </a:solidFill>
              </a:rPr>
              <a:t>Follow the prompts </a:t>
            </a:r>
            <a:r>
              <a:rPr sz="1300" b="0" lang="en-GB">
                <a:solidFill>
                  <a:schemeClr val="tx1"/>
                </a:solidFill>
              </a:rPr>
              <a:t>to activate Copilot Student</a:t>
            </a:r>
          </a:p>
          <a:p>
            <a:pPr algn="l">
              <a:spcAft>
                <a:spcPts val="900"/>
              </a:spcAft>
            </a:pPr>
            <a:r>
              <a:rPr sz="1300" b="1" lang="en-GB">
                <a:solidFill>
                  <a:schemeClr val="accent1"/>
                </a:solidFill>
              </a:rPr>
              <a:t>5  </a:t>
            </a:r>
            <a:r>
              <a:rPr sz="1300" b="1" lang="en-GB">
                <a:solidFill>
                  <a:schemeClr val="tx2"/>
                </a:solidFill>
              </a:rPr>
              <a:t>Check </a:t>
            </a:r>
            <a:r>
              <a:rPr sz="1300" b="0" lang="en-GB">
                <a:solidFill>
                  <a:schemeClr val="accent1"/>
                </a:solidFill>
                <a:hlinkClick r:id="rId5"/>
              </a:rPr>
              <a:t>github.com/settings/copilot</a:t>
            </a:r>
          </a:p>
        </p:txBody>
      </p:sp>
      <p:sp>
        <p:nvSpPr>
          <p:cNvPr id="15" name="Activate card body"/>
          <p:cNvSpPr/>
          <p:nvPr/>
        </p:nvSpPr>
        <p:spPr>
          <a:xfrm>
            <a:off x="5532120" y="1645920"/>
            <a:ext cx="315468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ctivate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ctivate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Not approved yet?</a:t>
            </a:r>
          </a:p>
        </p:txBody>
      </p:sp>
      <p:pic>
        <p:nvPicPr>
          <p:cNvPr id="18" name="Icon Activate card" descr=""/>
          <p:cNvPicPr>
            <a:picLocks noChangeAspect="1"/>
          </p:cNvPicPr>
          <p:nvPr/>
        </p:nvPicPr>
        <p:blipFill>
          <a:blip r:embed="rId6"/>
          <a:stretch>
            <a:fillRect/>
          </a:stretch>
        </p:blipFill>
        <p:spPr>
          <a:xfrm>
            <a:off x="8247888" y="1284732"/>
            <a:ext cx="310896" cy="310896"/>
          </a:xfrm>
          <a:prstGeom prst="rect">
            <a:avLst/>
          </a:prstGeom>
        </p:spPr>
      </p:pic>
      <p:sp>
        <p:nvSpPr>
          <p:cNvPr id="19" name="Activate card text"/>
          <p:cNvSpPr txBox="1"/>
          <p:nvPr/>
        </p:nvSpPr>
        <p:spPr>
          <a:xfrm>
            <a:off x="5696712" y="1783080"/>
            <a:ext cx="2852928" cy="2331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Use Copilot Free meanwhile</a:t>
            </a:r>
          </a:p>
          <a:p>
            <a:pPr algn="l" marL="182880" indent="-182880">
              <a:spcAft>
                <a:spcPts val="600"/>
              </a:spcAft>
              <a:buClr>
                <a:schemeClr val="accent1"/>
              </a:buClr>
              <a:buFont typeface="Arial"/>
              <a:buChar char="▪"/>
            </a:pPr>
            <a:r>
              <a:rPr sz="1300" b="0" lang="en-GB">
                <a:solidFill>
                  <a:schemeClr val="tx1"/>
                </a:solidFill>
              </a:rPr>
              <a:t>github.com/settings/copilot → Start using Copilot Free</a:t>
            </a:r>
          </a:p>
          <a:p>
            <a:pPr algn="l" marL="182880" indent="-182880">
              <a:spcAft>
                <a:spcPts val="600"/>
              </a:spcAft>
              <a:buClr>
                <a:schemeClr val="accent1"/>
              </a:buClr>
              <a:buFont typeface="Arial"/>
              <a:buChar char="▪"/>
            </a:pPr>
            <a:r>
              <a:rPr sz="1300" b="0" lang="en-GB">
                <a:solidFill>
                  <a:schemeClr val="tx1"/>
                </a:solidFill>
              </a:rPr>
              <a:t>Shown a paid checkout? Do not pay; wait a few days</a:t>
            </a:r>
          </a:p>
        </p:txBody>
      </p:sp>
      <p:sp>
        <p:nvSpPr>
          <p:cNvPr id="20" name="Activate note box"/>
          <p:cNvSpPr/>
          <p:nvPr/>
        </p:nvSpPr>
        <p:spPr>
          <a:xfrm>
            <a:off x="457200" y="43891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Activate note" descr=""/>
          <p:cNvPicPr>
            <a:picLocks noChangeAspect="1"/>
          </p:cNvPicPr>
          <p:nvPr/>
        </p:nvPicPr>
        <p:blipFill>
          <a:blip r:embed="rId7"/>
          <a:stretch>
            <a:fillRect/>
          </a:stretch>
        </p:blipFill>
        <p:spPr>
          <a:xfrm>
            <a:off x="658368" y="4480560"/>
            <a:ext cx="365760" cy="365760"/>
          </a:xfrm>
          <a:prstGeom prst="rect">
            <a:avLst/>
          </a:prstGeom>
        </p:spPr>
      </p:pic>
      <p:sp>
        <p:nvSpPr>
          <p:cNvPr id="22" name="Activate note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Re-checked monthly: </a:t>
            </a:r>
            <a:r>
              <a:rPr sz="1200" b="0" lang="en-GB">
                <a:solidFill>
                  <a:schemeClr val="tx1"/>
                </a:solidFill>
              </a:rPr>
              <a:t>the free plan ends when you are no longer a student.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Privacy settings on github.com</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ptout body"/>
          <p:cNvSpPr/>
          <p:nvPr/>
        </p:nvSpPr>
        <p:spPr>
          <a:xfrm>
            <a:off x="457200" y="1645920"/>
            <a:ext cx="493776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ptou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ptou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Opt out of model training</a:t>
            </a:r>
          </a:p>
        </p:txBody>
      </p:sp>
      <p:pic>
        <p:nvPicPr>
          <p:cNvPr id="13" name="Icon Optout" descr=""/>
          <p:cNvPicPr>
            <a:picLocks noChangeAspect="1"/>
          </p:cNvPicPr>
          <p:nvPr/>
        </p:nvPicPr>
        <p:blipFill>
          <a:blip r:embed="rId3"/>
          <a:stretch>
            <a:fillRect/>
          </a:stretch>
        </p:blipFill>
        <p:spPr>
          <a:xfrm>
            <a:off x="4956048" y="1284732"/>
            <a:ext cx="310896" cy="310896"/>
          </a:xfrm>
          <a:prstGeom prst="rect">
            <a:avLst/>
          </a:prstGeom>
        </p:spPr>
      </p:pic>
      <p:sp>
        <p:nvSpPr>
          <p:cNvPr id="14" name="Optout text"/>
          <p:cNvSpPr txBox="1"/>
          <p:nvPr/>
        </p:nvSpPr>
        <p:spPr>
          <a:xfrm>
            <a:off x="621792" y="1783080"/>
            <a:ext cx="4636008" cy="16916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github.com/settings/copilot</a:t>
            </a:r>
          </a:p>
          <a:p>
            <a:pPr algn="l">
              <a:spcAft>
                <a:spcPts val="900"/>
              </a:spcAft>
            </a:pPr>
            <a:r>
              <a:rPr sz="1300" b="1" lang="en-GB">
                <a:solidFill>
                  <a:schemeClr val="accent1"/>
                </a:solidFill>
              </a:rPr>
              <a:t>2  </a:t>
            </a:r>
            <a:r>
              <a:rPr sz="1300" b="1" lang="en-GB">
                <a:solidFill>
                  <a:schemeClr val="tx2"/>
                </a:solidFill>
              </a:rPr>
              <a:t>Find </a:t>
            </a:r>
            <a:r>
              <a:rPr sz="1300" b="0" lang="en-GB">
                <a:solidFill>
                  <a:schemeClr val="tx1"/>
                </a:solidFill>
              </a:rPr>
              <a:t>Allow GitHub to use my data for AI model training</a:t>
            </a:r>
          </a:p>
          <a:p>
            <a:pPr algn="l">
              <a:spcAft>
                <a:spcPts val="900"/>
              </a:spcAft>
            </a:pPr>
            <a:r>
              <a:rPr sz="1300" b="1" lang="en-GB">
                <a:solidFill>
                  <a:schemeClr val="accent1"/>
                </a:solidFill>
              </a:rPr>
              <a:t>3  </a:t>
            </a:r>
            <a:r>
              <a:rPr sz="1300" b="1" lang="en-GB">
                <a:solidFill>
                  <a:schemeClr val="tx2"/>
                </a:solidFill>
              </a:rPr>
              <a:t>Set it to </a:t>
            </a:r>
            <a:r>
              <a:rPr sz="1300" b="0" lang="en-GB">
                <a:solidFill>
                  <a:schemeClr val="tx1"/>
                </a:solidFill>
              </a:rPr>
              <a:t>Disabled</a:t>
            </a:r>
          </a:p>
          <a:p>
            <a:pPr algn="l">
              <a:spcAft>
                <a:spcPts val="900"/>
              </a:spcAft>
            </a:pPr>
            <a:r>
              <a:rPr sz="1300" b="1" lang="en-GB">
                <a:solidFill>
                  <a:schemeClr val="accent1"/>
                </a:solidFill>
              </a:rPr>
              <a:t>4  </a:t>
            </a:r>
            <a:r>
              <a:rPr sz="1300" b="1" lang="en-GB">
                <a:solidFill>
                  <a:schemeClr val="tx2"/>
                </a:solidFill>
              </a:rPr>
              <a:t>Done: </a:t>
            </a:r>
            <a:r>
              <a:rPr sz="1300" b="0" lang="en-GB">
                <a:solidFill>
                  <a:schemeClr val="tx1"/>
                </a:solidFill>
              </a:rPr>
              <a:t>the setting saves at once</a:t>
            </a:r>
          </a:p>
        </p:txBody>
      </p:sp>
      <p:sp>
        <p:nvSpPr>
          <p:cNvPr id="15" name="Priv rows row 1"/>
          <p:cNvSpPr/>
          <p:nvPr/>
        </p:nvSpPr>
        <p:spPr>
          <a:xfrm>
            <a:off x="5532120" y="1234440"/>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iv rows bar 1"/>
          <p:cNvSpPr/>
          <p:nvPr/>
        </p:nvSpPr>
        <p:spPr>
          <a:xfrm>
            <a:off x="553212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iv rows text 1"/>
          <p:cNvSpPr txBox="1"/>
          <p:nvPr/>
        </p:nvSpPr>
        <p:spPr>
          <a:xfrm>
            <a:off x="5733288" y="1234440"/>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Posit </a:t>
            </a:r>
            <a:r>
              <a:rPr sz="1200" b="0" lang="en-GB">
                <a:solidFill>
                  <a:schemeClr val="tx1"/>
                </a:solidFill>
              </a:rPr>
              <a:t>does not see your prompts</a:t>
            </a:r>
          </a:p>
        </p:txBody>
      </p:sp>
      <p:sp>
        <p:nvSpPr>
          <p:cNvPr id="18" name="Priv rows row 2"/>
          <p:cNvSpPr/>
          <p:nvPr/>
        </p:nvSpPr>
        <p:spPr>
          <a:xfrm>
            <a:off x="5532120" y="2039112"/>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riv rows bar 2"/>
          <p:cNvSpPr/>
          <p:nvPr/>
        </p:nvSpPr>
        <p:spPr>
          <a:xfrm>
            <a:off x="5532120" y="2039112"/>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riv rows text 2"/>
          <p:cNvSpPr txBox="1"/>
          <p:nvPr/>
        </p:nvSpPr>
        <p:spPr>
          <a:xfrm>
            <a:off x="5733288" y="2039112"/>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GitHub / Microsoft </a:t>
            </a:r>
            <a:r>
              <a:rPr sz="1200" b="0" lang="en-GB">
                <a:solidFill>
                  <a:schemeClr val="tx1"/>
                </a:solidFill>
              </a:rPr>
              <a:t>receive prompt and context</a:t>
            </a:r>
          </a:p>
        </p:txBody>
      </p:sp>
      <p:sp>
        <p:nvSpPr>
          <p:cNvPr id="21" name="Priv rows row 3"/>
          <p:cNvSpPr/>
          <p:nvPr/>
        </p:nvSpPr>
        <p:spPr>
          <a:xfrm>
            <a:off x="5532120" y="2843784"/>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iv rows bar 3"/>
          <p:cNvSpPr/>
          <p:nvPr/>
        </p:nvSpPr>
        <p:spPr>
          <a:xfrm>
            <a:off x="5532120" y="284378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riv rows text 3"/>
          <p:cNvSpPr txBox="1"/>
          <p:nvPr/>
        </p:nvSpPr>
        <p:spPr>
          <a:xfrm>
            <a:off x="5733288" y="2843784"/>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Their terms </a:t>
            </a:r>
            <a:r>
              <a:rPr sz="1200" b="0" lang="en-GB">
                <a:solidFill>
                  <a:schemeClr val="tx1"/>
                </a:solidFill>
              </a:rPr>
              <a:t>apply to what you send</a:t>
            </a:r>
          </a:p>
        </p:txBody>
      </p:sp>
      <p:sp>
        <p:nvSpPr>
          <p:cNvPr id="24" name="Priv rule box"/>
          <p:cNvSpPr/>
          <p:nvPr/>
        </p:nvSpPr>
        <p:spPr>
          <a:xfrm>
            <a:off x="457200" y="37490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Priv rule" descr=""/>
          <p:cNvPicPr>
            <a:picLocks noChangeAspect="1"/>
          </p:cNvPicPr>
          <p:nvPr/>
        </p:nvPicPr>
        <p:blipFill>
          <a:blip r:embed="rId5"/>
          <a:stretch>
            <a:fillRect/>
          </a:stretch>
        </p:blipFill>
        <p:spPr>
          <a:xfrm>
            <a:off x="658368" y="3954780"/>
            <a:ext cx="365760" cy="365760"/>
          </a:xfrm>
          <a:prstGeom prst="rect">
            <a:avLst/>
          </a:prstGeom>
        </p:spPr>
      </p:pic>
      <p:sp>
        <p:nvSpPr>
          <p:cNvPr id="26" name="Priv rule text"/>
          <p:cNvSpPr txBox="1"/>
          <p:nvPr/>
        </p:nvSpPr>
        <p:spPr>
          <a:xfrm>
            <a:off x="1207008" y="37490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Rule: </a:t>
            </a:r>
            <a:r>
              <a:rPr sz="1200" b="0" lang="en-GB">
                <a:solidFill>
                  <a:schemeClr val="bg1"/>
                </a:solidFill>
              </a:rPr>
              <a:t>send code and anonymised data only. Names, e-mails, customer IDs and confidential files never go into a prompt.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8 of 12 · check the version, sign in, test that it works</a:t>
            </a:r>
          </a:p>
        </p:txBody>
      </p:sp>
      <p:sp>
        <p:nvSpPr>
          <p:cNvPr id="3" name="Title 2"/>
          <p:cNvSpPr>
            <a:spLocks noGrp="1"/>
          </p:cNvSpPr>
          <p:nvPr>
            <p:ph type="ctrTitle"/>
          </p:nvPr>
        </p:nvSpPr>
        <p:spPr/>
        <p:txBody>
          <a:bodyPr/>
          <a:lstStyle/>
          <a:p>
            <a:r>
              <a:rPr sz="1600" lang="en-GB"/>
              <a:t>Connect Copilot to Positron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Before you start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efore row 1"/>
          <p:cNvSpPr/>
          <p:nvPr/>
        </p:nvSpPr>
        <p:spPr>
          <a:xfrm>
            <a:off x="457200" y="12344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efore number 1"/>
          <p:cNvSpPr/>
          <p:nvPr/>
        </p:nvSpPr>
        <p:spPr>
          <a:xfrm>
            <a:off x="594360" y="1353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Before text 1"/>
          <p:cNvSpPr txBox="1"/>
          <p:nvPr/>
        </p:nvSpPr>
        <p:spPr>
          <a:xfrm>
            <a:off x="1051560" y="1234440"/>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Positron 2026.07 or later: </a:t>
            </a:r>
            <a:r>
              <a:rPr sz="1200" b="0" lang="en-GB">
                <a:solidFill>
                  <a:schemeClr val="tx1"/>
                </a:solidFill>
              </a:rPr>
              <a:t>Help → Check for Updates (current: 2026.10)</a:t>
            </a:r>
          </a:p>
        </p:txBody>
      </p:sp>
      <p:sp>
        <p:nvSpPr>
          <p:cNvPr id="13" name="Before row 2"/>
          <p:cNvSpPr/>
          <p:nvPr/>
        </p:nvSpPr>
        <p:spPr>
          <a:xfrm>
            <a:off x="457200" y="1856232"/>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efore number 2"/>
          <p:cNvSpPr/>
          <p:nvPr/>
        </p:nvSpPr>
        <p:spPr>
          <a:xfrm>
            <a:off x="594360" y="1975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Before text 2"/>
          <p:cNvSpPr txBox="1"/>
          <p:nvPr/>
        </p:nvSpPr>
        <p:spPr>
          <a:xfrm>
            <a:off x="1051560" y="1856232"/>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Open your project folder: </a:t>
            </a:r>
            <a:r>
              <a:rPr sz="1200" b="0" lang="en-GB">
                <a:solidFill>
                  <a:schemeClr val="tx1"/>
                </a:solidFill>
              </a:rPr>
              <a:t>File → Open Folder</a:t>
            </a:r>
          </a:p>
        </p:txBody>
      </p:sp>
      <p:sp>
        <p:nvSpPr>
          <p:cNvPr id="16" name="Before row 3"/>
          <p:cNvSpPr/>
          <p:nvPr/>
        </p:nvSpPr>
        <p:spPr>
          <a:xfrm>
            <a:off x="457200" y="2478024"/>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efore number 3"/>
          <p:cNvSpPr/>
          <p:nvPr/>
        </p:nvSpPr>
        <p:spPr>
          <a:xfrm>
            <a:off x="594360" y="25968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Before text 3"/>
          <p:cNvSpPr txBox="1"/>
          <p:nvPr/>
        </p:nvSpPr>
        <p:spPr>
          <a:xfrm>
            <a:off x="1051560" y="2478024"/>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Trust the folder </a:t>
            </a:r>
            <a:r>
              <a:rPr sz="1200" b="0" lang="en-GB">
                <a:solidFill>
                  <a:schemeClr val="tx1"/>
                </a:solidFill>
              </a:rPr>
              <a:t>when Positron asks: Yes, I trust the authors</a:t>
            </a:r>
          </a:p>
        </p:txBody>
      </p:sp>
      <p:sp>
        <p:nvSpPr>
          <p:cNvPr id="19" name="Before row 4"/>
          <p:cNvSpPr/>
          <p:nvPr/>
        </p:nvSpPr>
        <p:spPr>
          <a:xfrm>
            <a:off x="457200" y="3099816"/>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efore number 4"/>
          <p:cNvSpPr/>
          <p:nvPr/>
        </p:nvSpPr>
        <p:spPr>
          <a:xfrm>
            <a:off x="594360" y="32186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Before text 4"/>
          <p:cNvSpPr txBox="1"/>
          <p:nvPr/>
        </p:nvSpPr>
        <p:spPr>
          <a:xfrm>
            <a:off x="1051560" y="3099816"/>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Python running: </a:t>
            </a:r>
            <a:r>
              <a:rPr sz="1200" b="0" lang="en-GB">
                <a:solidFill>
                  <a:schemeClr val="tx1"/>
                </a:solidFill>
              </a:rPr>
              <a:t>pick Python 3.14 (.venv) at the top right</a:t>
            </a:r>
          </a:p>
        </p:txBody>
      </p:sp>
      <p:sp>
        <p:nvSpPr>
          <p:cNvPr id="22" name="Before row 5"/>
          <p:cNvSpPr/>
          <p:nvPr/>
        </p:nvSpPr>
        <p:spPr>
          <a:xfrm>
            <a:off x="457200" y="3721608"/>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efore number 5"/>
          <p:cNvSpPr/>
          <p:nvPr/>
        </p:nvSpPr>
        <p:spPr>
          <a:xfrm>
            <a:off x="594360" y="384048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Before text 5"/>
          <p:cNvSpPr txBox="1"/>
          <p:nvPr/>
        </p:nvSpPr>
        <p:spPr>
          <a:xfrm>
            <a:off x="1051560" y="3721608"/>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GitHub account </a:t>
            </a:r>
            <a:r>
              <a:rPr sz="1200" b="0" lang="en-GB">
                <a:solidFill>
                  <a:schemeClr val="tx1"/>
                </a:solidFill>
              </a:rPr>
              <a:t>with Copilot Free or Copilot Student active</a:t>
            </a:r>
          </a:p>
        </p:txBody>
      </p:sp>
      <p:sp>
        <p:nvSpPr>
          <p:cNvPr id="25" name="Before note box"/>
          <p:cNvSpPr/>
          <p:nvPr/>
        </p:nvSpPr>
        <p:spPr>
          <a:xfrm>
            <a:off x="457200" y="45720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Before note" descr=""/>
          <p:cNvPicPr>
            <a:picLocks noChangeAspect="1"/>
          </p:cNvPicPr>
          <p:nvPr/>
        </p:nvPicPr>
        <p:blipFill>
          <a:blip r:embed="rId3"/>
          <a:stretch>
            <a:fillRect/>
          </a:stretch>
        </p:blipFill>
        <p:spPr>
          <a:xfrm>
            <a:off x="658368" y="4617720"/>
            <a:ext cx="365760" cy="365760"/>
          </a:xfrm>
          <a:prstGeom prst="rect">
            <a:avLst/>
          </a:prstGeom>
        </p:spPr>
      </p:pic>
      <p:sp>
        <p:nvSpPr>
          <p:cNvPr id="27" name="Before note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Nothing to switch on: </a:t>
            </a:r>
            <a:r>
              <a:rPr sz="1200" b="0" lang="en-GB">
                <a:solidFill>
                  <a:schemeClr val="tx1"/>
                </a:solidFill>
              </a:rPr>
              <a:t>AI is ready; it waits for a provider.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Connect GitHub Copilot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gnin body"/>
          <p:cNvSpPr/>
          <p:nvPr/>
        </p:nvSpPr>
        <p:spPr>
          <a:xfrm>
            <a:off x="457200" y="1645920"/>
            <a:ext cx="493776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gnin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ignin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Positron</a:t>
            </a:r>
          </a:p>
        </p:txBody>
      </p:sp>
      <p:pic>
        <p:nvPicPr>
          <p:cNvPr id="13" name="Icon Signin" descr=""/>
          <p:cNvPicPr>
            <a:picLocks noChangeAspect="1"/>
          </p:cNvPicPr>
          <p:nvPr/>
        </p:nvPicPr>
        <p:blipFill>
          <a:blip r:embed="rId3"/>
          <a:stretch>
            <a:fillRect/>
          </a:stretch>
        </p:blipFill>
        <p:spPr>
          <a:xfrm>
            <a:off x="4956048" y="1284732"/>
            <a:ext cx="310896" cy="310896"/>
          </a:xfrm>
          <a:prstGeom prst="rect">
            <a:avLst/>
          </a:prstGeom>
        </p:spPr>
      </p:pic>
      <p:sp>
        <p:nvSpPr>
          <p:cNvPr id="14" name="Signin text"/>
          <p:cNvSpPr txBox="1"/>
          <p:nvPr/>
        </p:nvSpPr>
        <p:spPr>
          <a:xfrm>
            <a:off x="621792" y="1783080"/>
            <a:ext cx="4636008" cy="24231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Command Palette: </a:t>
            </a:r>
            <a:r>
              <a:rPr sz="1300" b="0" lang="en-GB">
                <a:solidFill>
                  <a:schemeClr val="tx1"/>
                </a:solidFill>
              </a:rPr>
              <a:t>Ctrl/Cmd + Shift + P</a:t>
            </a:r>
          </a:p>
          <a:p>
            <a:pPr algn="l">
              <a:spcAft>
                <a:spcPts val="900"/>
              </a:spcAft>
            </a:pPr>
            <a:r>
              <a:rPr sz="1300" b="1" lang="en-GB">
                <a:solidFill>
                  <a:schemeClr val="accent1"/>
                </a:solidFill>
              </a:rPr>
              <a:t>2  </a:t>
            </a:r>
            <a:r>
              <a:rPr sz="1300" b="1" lang="en-GB">
                <a:solidFill>
                  <a:schemeClr val="tx2"/>
                </a:solidFill>
              </a:rPr>
              <a:t>Type and run: </a:t>
            </a:r>
            <a:r>
              <a:rPr sz="1300" b="0" lang="en-GB">
                <a:solidFill>
                  <a:schemeClr val="tx1"/>
                </a:solidFill>
              </a:rPr>
              <a:t>Authentication: Configure Language Model Providers</a:t>
            </a:r>
          </a:p>
          <a:p>
            <a:pPr algn="l">
              <a:spcAft>
                <a:spcPts val="900"/>
              </a:spcAft>
            </a:pPr>
            <a:r>
              <a:rPr sz="1300" b="1" lang="en-GB">
                <a:solidFill>
                  <a:schemeClr val="accent1"/>
                </a:solidFill>
              </a:rPr>
              <a:t>3  </a:t>
            </a:r>
            <a:r>
              <a:rPr sz="1300" b="1" lang="en-GB">
                <a:solidFill>
                  <a:schemeClr val="tx2"/>
                </a:solidFill>
              </a:rPr>
              <a:t>Pick </a:t>
            </a:r>
            <a:r>
              <a:rPr sz="1300" b="0" lang="en-GB">
                <a:solidFill>
                  <a:schemeClr val="tx1"/>
                </a:solidFill>
              </a:rPr>
              <a:t>GitHub Copilot</a:t>
            </a:r>
          </a:p>
          <a:p>
            <a:pPr algn="l">
              <a:spcAft>
                <a:spcPts val="900"/>
              </a:spcAft>
            </a:pPr>
            <a:r>
              <a:rPr sz="1300" b="1" lang="en-GB">
                <a:solidFill>
                  <a:schemeClr val="accent1"/>
                </a:solidFill>
              </a:rPr>
              <a:t>4  </a:t>
            </a:r>
            <a:r>
              <a:rPr sz="1300" b="1" lang="en-GB">
                <a:solidFill>
                  <a:schemeClr val="tx2"/>
                </a:solidFill>
              </a:rPr>
              <a:t>Sign in </a:t>
            </a:r>
            <a:r>
              <a:rPr sz="1300" b="0" lang="en-GB">
                <a:solidFill>
                  <a:schemeClr val="tx1"/>
                </a:solidFill>
              </a:rPr>
              <a:t>in the browser, click Authorize</a:t>
            </a:r>
          </a:p>
          <a:p>
            <a:pPr algn="l">
              <a:spcAft>
                <a:spcPts val="900"/>
              </a:spcAft>
            </a:pPr>
            <a:r>
              <a:rPr sz="1300" b="1" lang="en-GB">
                <a:solidFill>
                  <a:schemeClr val="accent1"/>
                </a:solidFill>
              </a:rPr>
              <a:t>5  </a:t>
            </a:r>
            <a:r>
              <a:rPr sz="1300" b="1" lang="en-GB">
                <a:solidFill>
                  <a:schemeClr val="tx2"/>
                </a:solidFill>
              </a:rPr>
              <a:t>Back in Positron: </a:t>
            </a:r>
            <a:r>
              <a:rPr sz="1300" b="0" lang="en-GB">
                <a:solidFill>
                  <a:schemeClr val="tx1"/>
                </a:solidFill>
              </a:rPr>
              <a:t>Copilot shows as connected</a:t>
            </a:r>
          </a:p>
        </p:txBody>
      </p:sp>
      <p:sp>
        <p:nvSpPr>
          <p:cNvPr id="15" name="Signin cmd caption bar"/>
          <p:cNvSpPr/>
          <p:nvPr/>
        </p:nvSpPr>
        <p:spPr>
          <a:xfrm>
            <a:off x="5532120" y="1234440"/>
            <a:ext cx="31546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ignin cmd caption"/>
          <p:cNvSpPr txBox="1"/>
          <p:nvPr/>
        </p:nvSpPr>
        <p:spPr>
          <a:xfrm>
            <a:off x="5641848" y="1234440"/>
            <a:ext cx="29352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Command Palette</a:t>
            </a:r>
          </a:p>
        </p:txBody>
      </p:sp>
      <p:sp>
        <p:nvSpPr>
          <p:cNvPr id="17" name="Signin cmd box"/>
          <p:cNvSpPr/>
          <p:nvPr/>
        </p:nvSpPr>
        <p:spPr>
          <a:xfrm>
            <a:off x="5532120" y="1508760"/>
            <a:ext cx="315468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ignin cmd code"/>
          <p:cNvSpPr txBox="1"/>
          <p:nvPr/>
        </p:nvSpPr>
        <p:spPr>
          <a:xfrm>
            <a:off x="5669280" y="1600200"/>
            <a:ext cx="2880360" cy="6400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Authentication:</a:t>
            </a:r>
          </a:p>
          <a:p>
            <a:pPr algn="l">
              <a:spcAft>
                <a:spcPts val="0"/>
              </a:spcAft>
            </a:pPr>
            <a:r>
              <a:rPr sz="1100" b="0" lang="en-GB">
                <a:solidFill>
                  <a:schemeClr val="bg1"/>
                </a:solidFill>
                <a:latin typeface="Consolas"/>
              </a:rPr>
              <a:t>  Configure Language</a:t>
            </a:r>
          </a:p>
          <a:p>
            <a:pPr algn="l">
              <a:spcAft>
                <a:spcPts val="0"/>
              </a:spcAft>
            </a:pPr>
            <a:r>
              <a:rPr sz="1100" b="0" lang="en-GB">
                <a:solidFill>
                  <a:schemeClr val="bg1"/>
                </a:solidFill>
                <a:latin typeface="Consolas"/>
              </a:rPr>
              <a:t>  Model Providers</a:t>
            </a:r>
          </a:p>
        </p:txBody>
      </p:sp>
      <p:sp>
        <p:nvSpPr>
          <p:cNvPr id="19" name="Signin card body"/>
          <p:cNvSpPr/>
          <p:nvPr/>
        </p:nvSpPr>
        <p:spPr>
          <a:xfrm>
            <a:off x="5532120" y="2880360"/>
            <a:ext cx="315468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ignin card header"/>
          <p:cNvSpPr/>
          <p:nvPr/>
        </p:nvSpPr>
        <p:spPr>
          <a:xfrm>
            <a:off x="5532120" y="246888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ignin card heading"/>
          <p:cNvSpPr txBox="1"/>
          <p:nvPr/>
        </p:nvSpPr>
        <p:spPr>
          <a:xfrm>
            <a:off x="5669280" y="246888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Shortcut</a:t>
            </a:r>
          </a:p>
        </p:txBody>
      </p:sp>
      <p:pic>
        <p:nvPicPr>
          <p:cNvPr id="22" name="Icon Signin card" descr=""/>
          <p:cNvPicPr>
            <a:picLocks noChangeAspect="1"/>
          </p:cNvPicPr>
          <p:nvPr/>
        </p:nvPicPr>
        <p:blipFill>
          <a:blip r:embed="rId4"/>
          <a:stretch>
            <a:fillRect/>
          </a:stretch>
        </p:blipFill>
        <p:spPr>
          <a:xfrm>
            <a:off x="8247888" y="2519172"/>
            <a:ext cx="310896" cy="310896"/>
          </a:xfrm>
          <a:prstGeom prst="rect">
            <a:avLst/>
          </a:prstGeom>
        </p:spPr>
      </p:pic>
      <p:sp>
        <p:nvSpPr>
          <p:cNvPr id="23" name="Signin card text"/>
          <p:cNvSpPr txBox="1"/>
          <p:nvPr/>
        </p:nvSpPr>
        <p:spPr>
          <a:xfrm>
            <a:off x="5696712" y="3017520"/>
            <a:ext cx="285292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Accounts menu (person icon, bottom left)</a:t>
            </a:r>
          </a:p>
          <a:p>
            <a:pPr algn="l" marL="182880" indent="-182880">
              <a:spcAft>
                <a:spcPts val="600"/>
              </a:spcAft>
              <a:buClr>
                <a:schemeClr val="accent1"/>
              </a:buClr>
              <a:buFont typeface="Arial"/>
              <a:buChar char="▪"/>
            </a:pPr>
            <a:r>
              <a:rPr sz="1300" b="0" lang="en-GB">
                <a:solidFill>
                  <a:schemeClr val="tx1"/>
                </a:solidFill>
              </a:rPr>
              <a:t>→ Configure Language Model Providers</a:t>
            </a:r>
          </a:p>
        </p:txBody>
      </p:sp>
      <p:sp>
        <p:nvSpPr>
          <p:cNvPr id="24" name="Signin gotcha box"/>
          <p:cNvSpPr/>
          <p:nvPr/>
        </p:nvSpPr>
        <p:spPr>
          <a:xfrm>
            <a:off x="457200" y="44348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Signin gotcha" descr=""/>
          <p:cNvPicPr>
            <a:picLocks noChangeAspect="1"/>
          </p:cNvPicPr>
          <p:nvPr/>
        </p:nvPicPr>
        <p:blipFill>
          <a:blip r:embed="rId5"/>
          <a:stretch>
            <a:fillRect/>
          </a:stretch>
        </p:blipFill>
        <p:spPr>
          <a:xfrm>
            <a:off x="658368" y="4526280"/>
            <a:ext cx="365760" cy="365760"/>
          </a:xfrm>
          <a:prstGeom prst="rect">
            <a:avLst/>
          </a:prstGeom>
        </p:spPr>
      </p:pic>
      <p:sp>
        <p:nvSpPr>
          <p:cNvPr id="26" name="Signin gotcha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Signed in to GitHub, but no Copilot? </a:t>
            </a:r>
            <a:r>
              <a:rPr sz="1200" b="0" lang="en-GB">
                <a:solidFill>
                  <a:schemeClr val="bg1"/>
                </a:solidFill>
              </a:rPr>
              <a:t>you must use Configure Language Model Providers.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 that it works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check 1" descr=""/>
          <p:cNvPicPr>
            <a:picLocks noChangeAspect="1"/>
          </p:cNvPicPr>
          <p:nvPr/>
        </p:nvPicPr>
        <p:blipFill>
          <a:blip r:embed="rId3"/>
          <a:stretch>
            <a:fillRect/>
          </a:stretch>
        </p:blipFill>
        <p:spPr>
          <a:xfrm>
            <a:off x="621792" y="1362456"/>
            <a:ext cx="365760" cy="365760"/>
          </a:xfrm>
          <a:prstGeom prst="rect">
            <a:avLst/>
          </a:prstGeom>
        </p:spPr>
      </p:pic>
      <p:sp>
        <p:nvSpPr>
          <p:cNvPr id="12" name="Check text 1"/>
          <p:cNvSpPr txBox="1"/>
          <p:nvPr/>
        </p:nvSpPr>
        <p:spPr>
          <a:xfrm>
            <a:off x="1143000" y="1234440"/>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Connected: </a:t>
            </a:r>
            <a:r>
              <a:rPr sz="1200" b="0" lang="en-GB">
                <a:solidFill>
                  <a:schemeClr val="tx1"/>
                </a:solidFill>
              </a:rPr>
              <a:t>the provider dialog shows GitHub Copilot as connected</a:t>
            </a:r>
          </a:p>
        </p:txBody>
      </p:sp>
      <p:sp>
        <p:nvSpPr>
          <p:cNvPr id="13" name="Check row 2"/>
          <p:cNvSpPr/>
          <p:nvPr/>
        </p:nvSpPr>
        <p:spPr>
          <a:xfrm>
            <a:off x="457200" y="1929384"/>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check 2" descr=""/>
          <p:cNvPicPr>
            <a:picLocks noChangeAspect="1"/>
          </p:cNvPicPr>
          <p:nvPr/>
        </p:nvPicPr>
        <p:blipFill>
          <a:blip r:embed="rId4"/>
          <a:stretch>
            <a:fillRect/>
          </a:stretch>
        </p:blipFill>
        <p:spPr>
          <a:xfrm>
            <a:off x="621792" y="2057400"/>
            <a:ext cx="365760" cy="365760"/>
          </a:xfrm>
          <a:prstGeom prst="rect">
            <a:avLst/>
          </a:prstGeom>
        </p:spPr>
      </p:pic>
      <p:sp>
        <p:nvSpPr>
          <p:cNvPr id="15" name="Check text 2"/>
          <p:cNvSpPr txBox="1"/>
          <p:nvPr/>
        </p:nvSpPr>
        <p:spPr>
          <a:xfrm>
            <a:off x="1143000" y="1929384"/>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Chat: </a:t>
            </a:r>
            <a:r>
              <a:rPr sz="1200" b="0" lang="en-GB">
                <a:solidFill>
                  <a:schemeClr val="tx1"/>
                </a:solidFill>
              </a:rPr>
              <a:t>View: Show Posit Assistant opens; Copilot models in the model picker</a:t>
            </a:r>
          </a:p>
        </p:txBody>
      </p:sp>
      <p:sp>
        <p:nvSpPr>
          <p:cNvPr id="16" name="Check row 3"/>
          <p:cNvSpPr/>
          <p:nvPr/>
        </p:nvSpPr>
        <p:spPr>
          <a:xfrm>
            <a:off x="457200" y="2624328"/>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check 3" descr=""/>
          <p:cNvPicPr>
            <a:picLocks noChangeAspect="1"/>
          </p:cNvPicPr>
          <p:nvPr/>
        </p:nvPicPr>
        <p:blipFill>
          <a:blip r:embed="rId5"/>
          <a:stretch>
            <a:fillRect/>
          </a:stretch>
        </p:blipFill>
        <p:spPr>
          <a:xfrm>
            <a:off x="621792" y="2752344"/>
            <a:ext cx="365760" cy="365760"/>
          </a:xfrm>
          <a:prstGeom prst="rect">
            <a:avLst/>
          </a:prstGeom>
        </p:spPr>
      </p:pic>
      <p:sp>
        <p:nvSpPr>
          <p:cNvPr id="18" name="Check text 3"/>
          <p:cNvSpPr txBox="1"/>
          <p:nvPr/>
        </p:nvSpPr>
        <p:spPr>
          <a:xfrm>
            <a:off x="1143000" y="2624328"/>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Ghost text: </a:t>
            </a:r>
            <a:r>
              <a:rPr sz="1200" b="0" lang="en-GB">
                <a:solidFill>
                  <a:schemeClr val="tx1"/>
                </a:solidFill>
              </a:rPr>
              <a:t>typing in a .py file or a Quarto code cell shows grey suggestions</a:t>
            </a:r>
          </a:p>
        </p:txBody>
      </p:sp>
      <p:sp>
        <p:nvSpPr>
          <p:cNvPr id="19" name="Check row 4"/>
          <p:cNvSpPr/>
          <p:nvPr/>
        </p:nvSpPr>
        <p:spPr>
          <a:xfrm>
            <a:off x="457200" y="3319272"/>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check 4" descr=""/>
          <p:cNvPicPr>
            <a:picLocks noChangeAspect="1"/>
          </p:cNvPicPr>
          <p:nvPr/>
        </p:nvPicPr>
        <p:blipFill>
          <a:blip r:embed="rId6"/>
          <a:stretch>
            <a:fillRect/>
          </a:stretch>
        </p:blipFill>
        <p:spPr>
          <a:xfrm>
            <a:off x="621792" y="3447288"/>
            <a:ext cx="365760" cy="365760"/>
          </a:xfrm>
          <a:prstGeom prst="rect">
            <a:avLst/>
          </a:prstGeom>
        </p:spPr>
      </p:pic>
      <p:sp>
        <p:nvSpPr>
          <p:cNvPr id="21" name="Check text 4"/>
          <p:cNvSpPr txBox="1"/>
          <p:nvPr/>
        </p:nvSpPr>
        <p:spPr>
          <a:xfrm>
            <a:off x="1143000" y="3319272"/>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Status bar: </a:t>
            </a:r>
            <a:r>
              <a:rPr sz="1200" b="0" lang="en-GB">
                <a:solidFill>
                  <a:schemeClr val="tx1"/>
                </a:solidFill>
              </a:rPr>
              <a:t>the Copilot icon at the bottom shows your usage</a:t>
            </a:r>
          </a:p>
        </p:txBody>
      </p:sp>
      <p:sp>
        <p:nvSpPr>
          <p:cNvPr id="22" name="Check row 5"/>
          <p:cNvSpPr/>
          <p:nvPr/>
        </p:nvSpPr>
        <p:spPr>
          <a:xfrm>
            <a:off x="457200" y="4014216"/>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check 5" descr=""/>
          <p:cNvPicPr>
            <a:picLocks noChangeAspect="1"/>
          </p:cNvPicPr>
          <p:nvPr/>
        </p:nvPicPr>
        <p:blipFill>
          <a:blip r:embed="rId7"/>
          <a:stretch>
            <a:fillRect/>
          </a:stretch>
        </p:blipFill>
        <p:spPr>
          <a:xfrm>
            <a:off x="621792" y="4142232"/>
            <a:ext cx="365760" cy="365760"/>
          </a:xfrm>
          <a:prstGeom prst="rect">
            <a:avLst/>
          </a:prstGeom>
        </p:spPr>
      </p:pic>
      <p:sp>
        <p:nvSpPr>
          <p:cNvPr id="24" name="Check text 5"/>
          <p:cNvSpPr txBox="1"/>
          <p:nvPr/>
        </p:nvSpPr>
        <p:spPr>
          <a:xfrm>
            <a:off x="1143000" y="4014216"/>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Report: </a:t>
            </a:r>
            <a:r>
              <a:rPr sz="1200" b="0" lang="en-GB">
                <a:solidFill>
                  <a:schemeClr val="tx1"/>
                </a:solidFill>
              </a:rPr>
              <a:t>Command Palette → AI: Create Diagnostic Report</a:t>
            </a:r>
          </a:p>
        </p:txBody>
      </p:sp>
      <p:sp>
        <p:nvSpPr>
          <p:cNvPr id="25" name="Check ok box"/>
          <p:cNvSpPr/>
          <p:nvPr/>
        </p:nvSpPr>
        <p:spPr>
          <a:xfrm>
            <a:off x="457200" y="475488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heck ok" descr=""/>
          <p:cNvPicPr>
            <a:picLocks noChangeAspect="1"/>
          </p:cNvPicPr>
          <p:nvPr/>
        </p:nvPicPr>
        <p:blipFill>
          <a:blip r:embed="rId8"/>
          <a:stretch>
            <a:fillRect/>
          </a:stretch>
        </p:blipFill>
        <p:spPr>
          <a:xfrm>
            <a:off x="658368" y="4764024"/>
            <a:ext cx="365760" cy="365760"/>
          </a:xfrm>
          <a:prstGeom prst="rect">
            <a:avLst/>
          </a:prstGeom>
        </p:spPr>
      </p:pic>
      <p:sp>
        <p:nvSpPr>
          <p:cNvPr id="27" name="Check ok text"/>
          <p:cNvSpPr txBox="1"/>
          <p:nvPr/>
        </p:nvSpPr>
        <p:spPr>
          <a:xfrm>
            <a:off x="1207008" y="4754880"/>
            <a:ext cx="7315200"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All five fine? </a:t>
            </a:r>
            <a:r>
              <a:rPr sz="1200" b="0" lang="en-GB">
                <a:solidFill>
                  <a:schemeClr val="tx1"/>
                </a:solidFill>
              </a:rPr>
              <a:t>you are ready.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If the browser does not return to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evice body"/>
          <p:cNvSpPr/>
          <p:nvPr/>
        </p:nvSpPr>
        <p:spPr>
          <a:xfrm>
            <a:off x="457200" y="1645920"/>
            <a:ext cx="49377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evice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evice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Sign in with a device code</a:t>
            </a:r>
          </a:p>
        </p:txBody>
      </p:sp>
      <p:pic>
        <p:nvPicPr>
          <p:cNvPr id="13" name="Icon Device" descr=""/>
          <p:cNvPicPr>
            <a:picLocks noChangeAspect="1"/>
          </p:cNvPicPr>
          <p:nvPr/>
        </p:nvPicPr>
        <p:blipFill>
          <a:blip r:embed="rId3"/>
          <a:stretch>
            <a:fillRect/>
          </a:stretch>
        </p:blipFill>
        <p:spPr>
          <a:xfrm>
            <a:off x="4956048" y="1284732"/>
            <a:ext cx="310896" cy="310896"/>
          </a:xfrm>
          <a:prstGeom prst="rect">
            <a:avLst/>
          </a:prstGeom>
        </p:spPr>
      </p:pic>
      <p:sp>
        <p:nvSpPr>
          <p:cNvPr id="14" name="Device text"/>
          <p:cNvSpPr txBox="1"/>
          <p:nvPr/>
        </p:nvSpPr>
        <p:spPr>
          <a:xfrm>
            <a:off x="621792" y="1783080"/>
            <a:ext cx="4636008" cy="210312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Settings: </a:t>
            </a:r>
            <a:r>
              <a:rPr sz="1300" b="0" lang="en-GB">
                <a:solidFill>
                  <a:schemeClr val="tx1"/>
                </a:solidFill>
              </a:rPr>
              <a:t>search preferDeviceCodeFlow, tick it</a:t>
            </a:r>
          </a:p>
          <a:p>
            <a:pPr algn="l">
              <a:spcAft>
                <a:spcPts val="900"/>
              </a:spcAft>
            </a:pPr>
            <a:r>
              <a:rPr sz="1300" b="1" lang="en-GB">
                <a:solidFill>
                  <a:schemeClr val="accent1"/>
                </a:solidFill>
              </a:rPr>
              <a:t>2  </a:t>
            </a:r>
            <a:r>
              <a:rPr sz="1300" b="1" lang="en-GB">
                <a:solidFill>
                  <a:schemeClr val="tx2"/>
                </a:solidFill>
              </a:rPr>
              <a:t>Run again: </a:t>
            </a:r>
            <a:r>
              <a:rPr sz="1300" b="0" lang="en-GB">
                <a:solidFill>
                  <a:schemeClr val="tx1"/>
                </a:solidFill>
              </a:rPr>
              <a:t>Configure Language Model Providers</a:t>
            </a:r>
          </a:p>
          <a:p>
            <a:pPr algn="l">
              <a:spcAft>
                <a:spcPts val="900"/>
              </a:spcAft>
            </a:pPr>
            <a:r>
              <a:rPr sz="1300" b="1" lang="en-GB">
                <a:solidFill>
                  <a:schemeClr val="accent1"/>
                </a:solidFill>
              </a:rPr>
              <a:t>3  </a:t>
            </a:r>
            <a:r>
              <a:rPr sz="1300" b="1" lang="en-GB">
                <a:solidFill>
                  <a:schemeClr val="tx2"/>
                </a:solidFill>
              </a:rPr>
              <a:t>Dialog shows </a:t>
            </a:r>
            <a:r>
              <a:rPr sz="1300" b="0" lang="en-GB">
                <a:solidFill>
                  <a:schemeClr val="tx1"/>
                </a:solidFill>
              </a:rPr>
              <a:t>Your Code: e.g. 4F2A-91C7</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Copy &amp; Continue to Browser</a:t>
            </a:r>
          </a:p>
          <a:p>
            <a:pPr algn="l">
              <a:spcAft>
                <a:spcPts val="900"/>
              </a:spcAft>
            </a:pPr>
            <a:r>
              <a:rPr sz="1300" b="1" lang="en-GB">
                <a:solidFill>
                  <a:schemeClr val="accent1"/>
                </a:solidFill>
              </a:rPr>
              <a:t>5  </a:t>
            </a:r>
            <a:r>
              <a:rPr sz="1300" b="1" lang="en-GB">
                <a:solidFill>
                  <a:schemeClr val="tx2"/>
                </a:solidFill>
              </a:rPr>
              <a:t>Paste the code </a:t>
            </a:r>
            <a:r>
              <a:rPr sz="1300" b="0" lang="en-GB">
                <a:solidFill>
                  <a:schemeClr val="tx1"/>
                </a:solidFill>
              </a:rPr>
              <a:t>on GitHub, click Authorize</a:t>
            </a:r>
          </a:p>
        </p:txBody>
      </p:sp>
      <p:sp>
        <p:nvSpPr>
          <p:cNvPr id="15" name="Device card body"/>
          <p:cNvSpPr/>
          <p:nvPr/>
        </p:nvSpPr>
        <p:spPr>
          <a:xfrm>
            <a:off x="5532120" y="1645920"/>
            <a:ext cx="315468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evice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evice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Still stuck?</a:t>
            </a:r>
          </a:p>
        </p:txBody>
      </p:sp>
      <p:pic>
        <p:nvPicPr>
          <p:cNvPr id="18" name="Icon Device card" descr=""/>
          <p:cNvPicPr>
            <a:picLocks noChangeAspect="1"/>
          </p:cNvPicPr>
          <p:nvPr/>
        </p:nvPicPr>
        <p:blipFill>
          <a:blip r:embed="rId4"/>
          <a:stretch>
            <a:fillRect/>
          </a:stretch>
        </p:blipFill>
        <p:spPr>
          <a:xfrm>
            <a:off x="8247888" y="1284732"/>
            <a:ext cx="310896" cy="310896"/>
          </a:xfrm>
          <a:prstGeom prst="rect">
            <a:avLst/>
          </a:prstGeom>
        </p:spPr>
      </p:pic>
      <p:sp>
        <p:nvSpPr>
          <p:cNvPr id="19" name="Device card text"/>
          <p:cNvSpPr txBox="1"/>
          <p:nvPr/>
        </p:nvSpPr>
        <p:spPr>
          <a:xfrm>
            <a:off x="5696712" y="1783080"/>
            <a:ext cx="2852928" cy="20574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Accounts → Manage Accounts: sign out, sign in again</a:t>
            </a:r>
          </a:p>
          <a:p>
            <a:pPr algn="l" marL="182880" indent="-182880">
              <a:spcAft>
                <a:spcPts val="600"/>
              </a:spcAft>
              <a:buClr>
                <a:schemeClr val="accent1"/>
              </a:buClr>
              <a:buFont typeface="Arial"/>
              <a:buChar char="▪"/>
            </a:pPr>
            <a:r>
              <a:rPr sz="1300" b="0" lang="en-GB">
                <a:solidFill>
                  <a:schemeClr val="tx1"/>
                </a:solidFill>
              </a:rPr>
              <a:t>Check Copilot is active on github.com/settings/copilot</a:t>
            </a:r>
          </a:p>
          <a:p>
            <a:pPr algn="l" marL="182880" indent="-182880">
              <a:spcAft>
                <a:spcPts val="600"/>
              </a:spcAft>
              <a:buClr>
                <a:schemeClr val="accent1"/>
              </a:buClr>
              <a:buFont typeface="Arial"/>
              <a:buChar char="▪"/>
            </a:pPr>
            <a:r>
              <a:rPr sz="1300" b="0" lang="en-GB">
                <a:solidFill>
                  <a:schemeClr val="tx1"/>
                </a:solidFill>
              </a:rPr>
              <a:t>Restart Positron</a:t>
            </a:r>
          </a:p>
        </p:txBody>
      </p:sp>
      <p:sp>
        <p:nvSpPr>
          <p:cNvPr id="20" name="Device net box"/>
          <p:cNvSpPr/>
          <p:nvPr/>
        </p:nvSpPr>
        <p:spPr>
          <a:xfrm>
            <a:off x="457200" y="41148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Device net" descr=""/>
          <p:cNvPicPr>
            <a:picLocks noChangeAspect="1"/>
          </p:cNvPicPr>
          <p:nvPr/>
        </p:nvPicPr>
        <p:blipFill>
          <a:blip r:embed="rId5"/>
          <a:stretch>
            <a:fillRect/>
          </a:stretch>
        </p:blipFill>
        <p:spPr>
          <a:xfrm>
            <a:off x="658368" y="4251960"/>
            <a:ext cx="365760" cy="365760"/>
          </a:xfrm>
          <a:prstGeom prst="rect">
            <a:avLst/>
          </a:prstGeom>
        </p:spPr>
      </p:pic>
      <p:sp>
        <p:nvSpPr>
          <p:cNvPr id="22" name="Device net text"/>
          <p:cNvSpPr txBox="1"/>
          <p:nvPr/>
        </p:nvSpPr>
        <p:spPr>
          <a:xfrm>
            <a:off x="1207008" y="411480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University or company network? </a:t>
            </a:r>
            <a:r>
              <a:rPr sz="1200" b="0" lang="en-GB">
                <a:solidFill>
                  <a:schemeClr val="bg1"/>
                </a:solidFill>
              </a:rPr>
              <a:t>proxies can block the redirect; the device code usually works.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9 of 12 · the pane, what it sees, permissions, slash commands, Fix and Explain</a:t>
            </a:r>
          </a:p>
        </p:txBody>
      </p:sp>
      <p:sp>
        <p:nvSpPr>
          <p:cNvPr id="3" name="Title 2"/>
          <p:cNvSpPr>
            <a:spLocks noGrp="1"/>
          </p:cNvSpPr>
          <p:nvPr>
            <p:ph type="ctrTitle"/>
          </p:nvPr>
        </p:nvSpPr>
        <p:spPr/>
        <p:txBody>
          <a:bodyPr/>
          <a:lstStyle/>
          <a:p>
            <a:r>
              <a:rPr sz="1600" lang="en-GB"/>
              <a:t>Chat with Posit Assistant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Posit Assistant pane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ane frame"/>
          <p:cNvSpPr/>
          <p:nvPr/>
        </p:nvSpPr>
        <p:spPr>
          <a:xfrm>
            <a:off x="457200" y="1234440"/>
            <a:ext cx="4206240" cy="361188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ane head"/>
          <p:cNvSpPr/>
          <p:nvPr/>
        </p:nvSpPr>
        <p:spPr>
          <a:xfrm>
            <a:off x="457200" y="1234440"/>
            <a:ext cx="4206240" cy="38404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ane head text"/>
          <p:cNvSpPr txBox="1"/>
          <p:nvPr/>
        </p:nvSpPr>
        <p:spPr>
          <a:xfrm>
            <a:off x="594360" y="1234440"/>
            <a:ext cx="3931920" cy="384048"/>
          </a:xfrm>
          <a:prstGeom prst="rect">
            <a:avLst/>
          </a:prstGeom>
          <a:noFill/>
        </p:spPr>
        <p:txBody>
          <a:bodyPr wrap="square" lIns="0" rIns="0" tIns="0" bIns="0" anchor="ctr">
            <a:noAutofit/>
          </a:bodyPr>
          <a:lstStyle/>
          <a:p>
            <a:pPr algn="l">
              <a:spcAft>
                <a:spcPts val="400"/>
              </a:spcAft>
            </a:pPr>
            <a:r>
              <a:rPr sz="1100" b="1" lang="en-GB">
                <a:solidFill>
                  <a:schemeClr val="bg1"/>
                </a:solidFill>
              </a:rPr>
              <a:t>POSIT ASSISTANT</a:t>
            </a:r>
          </a:p>
        </p:txBody>
      </p:sp>
      <p:sp>
        <p:nvSpPr>
          <p:cNvPr id="13" name="Pane user msg"/>
          <p:cNvSpPr/>
          <p:nvPr/>
        </p:nvSpPr>
        <p:spPr>
          <a:xfrm>
            <a:off x="2103120" y="1737360"/>
            <a:ext cx="242316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ne user text"/>
          <p:cNvSpPr txBox="1"/>
          <p:nvPr/>
        </p:nvSpPr>
        <p:spPr>
          <a:xfrm>
            <a:off x="2176272" y="1737360"/>
            <a:ext cx="2331720" cy="566928"/>
          </a:xfrm>
          <a:prstGeom prst="rect">
            <a:avLst/>
          </a:prstGeom>
          <a:noFill/>
        </p:spPr>
        <p:txBody>
          <a:bodyPr wrap="square" lIns="0" rIns="0" tIns="0" bIns="0" anchor="ctr">
            <a:noAutofit/>
          </a:bodyPr>
          <a:lstStyle/>
          <a:p>
            <a:pPr algn="l">
              <a:spcAft>
                <a:spcPts val="400"/>
              </a:spcAft>
            </a:pPr>
            <a:r>
              <a:rPr sz="1050" b="0" lang="en-GB">
                <a:solidFill>
                  <a:schemeClr val="tx1"/>
                </a:solidFill>
              </a:rPr>
              <a:t>Plot sales against price1 with plotnine</a:t>
            </a:r>
          </a:p>
        </p:txBody>
      </p:sp>
      <p:sp>
        <p:nvSpPr>
          <p:cNvPr id="15" name="Pane reply"/>
          <p:cNvSpPr txBox="1"/>
          <p:nvPr/>
        </p:nvSpPr>
        <p:spPr>
          <a:xfrm>
            <a:off x="594360" y="2395728"/>
            <a:ext cx="3931920" cy="914400"/>
          </a:xfrm>
          <a:prstGeom prst="rect">
            <a:avLst/>
          </a:prstGeom>
          <a:noFill/>
        </p:spPr>
        <p:txBody>
          <a:bodyPr wrap="square" lIns="0" rIns="0" tIns="0" bIns="0" anchor="t">
            <a:noAutofit/>
          </a:bodyPr>
          <a:lstStyle/>
          <a:p>
            <a:pPr algn="l">
              <a:spcAft>
                <a:spcPts val="400"/>
              </a:spcAft>
            </a:pPr>
            <a:r>
              <a:rPr sz="1050" b="0" lang="en-GB">
                <a:solidFill>
                  <a:schemeClr val="tx1"/>
                </a:solidFill>
              </a:rPr>
              <a:t>I will read the data with polars and draw a scatter plot. Run this code?</a:t>
            </a:r>
          </a:p>
        </p:txBody>
      </p:sp>
      <p:sp>
        <p:nvSpPr>
          <p:cNvPr id="16" name="Pane btn 1"/>
          <p:cNvSpPr/>
          <p:nvPr/>
        </p:nvSpPr>
        <p:spPr>
          <a:xfrm>
            <a:off x="594360" y="3154680"/>
            <a:ext cx="1005840" cy="3291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ane btn text 1"/>
          <p:cNvSpPr txBox="1"/>
          <p:nvPr/>
        </p:nvSpPr>
        <p:spPr>
          <a:xfrm>
            <a:off x="594360" y="3154680"/>
            <a:ext cx="1005840" cy="329184"/>
          </a:xfrm>
          <a:prstGeom prst="rect">
            <a:avLst/>
          </a:prstGeom>
          <a:noFill/>
        </p:spPr>
        <p:txBody>
          <a:bodyPr wrap="square" lIns="0" rIns="0" tIns="0" bIns="0" anchor="ctr">
            <a:noAutofit/>
          </a:bodyPr>
          <a:lstStyle/>
          <a:p>
            <a:pPr algn="ctr">
              <a:spcAft>
                <a:spcPts val="400"/>
              </a:spcAft>
            </a:pPr>
            <a:r>
              <a:rPr sz="1050" b="1" lang="en-GB">
                <a:solidFill>
                  <a:schemeClr val="bg1"/>
                </a:solidFill>
              </a:rPr>
              <a:t>Accept</a:t>
            </a:r>
          </a:p>
        </p:txBody>
      </p:sp>
      <p:sp>
        <p:nvSpPr>
          <p:cNvPr id="18" name="Pane btn 2"/>
          <p:cNvSpPr/>
          <p:nvPr/>
        </p:nvSpPr>
        <p:spPr>
          <a:xfrm>
            <a:off x="1691640" y="3154680"/>
            <a:ext cx="1005840" cy="329184"/>
          </a:xfrm>
          <a:prstGeom prst="round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ne btn text 2"/>
          <p:cNvSpPr txBox="1"/>
          <p:nvPr/>
        </p:nvSpPr>
        <p:spPr>
          <a:xfrm>
            <a:off x="1691640" y="3154680"/>
            <a:ext cx="1005840" cy="329184"/>
          </a:xfrm>
          <a:prstGeom prst="rect">
            <a:avLst/>
          </a:prstGeom>
          <a:noFill/>
        </p:spPr>
        <p:txBody>
          <a:bodyPr wrap="square" lIns="0" rIns="0" tIns="0" bIns="0" anchor="ctr">
            <a:noAutofit/>
          </a:bodyPr>
          <a:lstStyle/>
          <a:p>
            <a:pPr algn="ctr">
              <a:spcAft>
                <a:spcPts val="400"/>
              </a:spcAft>
            </a:pPr>
            <a:r>
              <a:rPr sz="1050" b="1" lang="en-GB">
                <a:solidFill>
                  <a:schemeClr val="tx2"/>
                </a:solidFill>
              </a:rPr>
              <a:t>Decline</a:t>
            </a:r>
          </a:p>
        </p:txBody>
      </p:sp>
      <p:sp>
        <p:nvSpPr>
          <p:cNvPr id="20" name="Pane input"/>
          <p:cNvSpPr/>
          <p:nvPr/>
        </p:nvSpPr>
        <p:spPr>
          <a:xfrm>
            <a:off x="548640" y="3977640"/>
            <a:ext cx="4023360" cy="7498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ne input text"/>
          <p:cNvSpPr txBox="1"/>
          <p:nvPr/>
        </p:nvSpPr>
        <p:spPr>
          <a:xfrm>
            <a:off x="640080" y="3977640"/>
            <a:ext cx="3840480" cy="411480"/>
          </a:xfrm>
          <a:prstGeom prst="rect">
            <a:avLst/>
          </a:prstGeom>
          <a:noFill/>
        </p:spPr>
        <p:txBody>
          <a:bodyPr wrap="square" lIns="0" rIns="0" tIns="0" bIns="0" anchor="ctr">
            <a:noAutofit/>
          </a:bodyPr>
          <a:lstStyle/>
          <a:p>
            <a:pPr algn="l">
              <a:spcAft>
                <a:spcPts val="400"/>
              </a:spcAft>
            </a:pPr>
            <a:r>
              <a:rPr sz="1050" b="0" lang="en-GB">
                <a:solidFill>
                  <a:srgbClr val="595959"/>
                </a:solidFill>
              </a:rPr>
              <a:t>Ask anything, @ to add a file…</a:t>
            </a:r>
          </a:p>
        </p:txBody>
      </p:sp>
      <p:sp>
        <p:nvSpPr>
          <p:cNvPr id="22" name="Pane input bar"/>
          <p:cNvSpPr txBox="1"/>
          <p:nvPr/>
        </p:nvSpPr>
        <p:spPr>
          <a:xfrm>
            <a:off x="640080" y="4343400"/>
            <a:ext cx="3840480" cy="365760"/>
          </a:xfrm>
          <a:prstGeom prst="rect">
            <a:avLst/>
          </a:prstGeom>
          <a:noFill/>
        </p:spPr>
        <p:txBody>
          <a:bodyPr wrap="square" lIns="0" rIns="0" tIns="0" bIns="0" anchor="ctr">
            <a:noAutofit/>
          </a:bodyPr>
          <a:lstStyle/>
          <a:p>
            <a:pPr algn="l">
              <a:spcAft>
                <a:spcPts val="400"/>
              </a:spcAft>
            </a:pPr>
            <a:r>
              <a:rPr sz="1050" b="0" lang="en-GB">
                <a:solidFill>
                  <a:schemeClr val="tx2"/>
                </a:solidFill>
              </a:rPr>
              <a:t>Attach    Auto (Copilot) ▾      Thinking: Low ▾</a:t>
            </a:r>
          </a:p>
        </p:txBody>
      </p:sp>
      <p:sp>
        <p:nvSpPr>
          <p:cNvPr id="23" name="Pane legend 1"/>
          <p:cNvSpPr/>
          <p:nvPr/>
        </p:nvSpPr>
        <p:spPr>
          <a:xfrm>
            <a:off x="4846320" y="123444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ne legend badge 1"/>
          <p:cNvSpPr/>
          <p:nvPr/>
        </p:nvSpPr>
        <p:spPr>
          <a:xfrm>
            <a:off x="4956048" y="14081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25" name="Pane legend text 1"/>
          <p:cNvSpPr txBox="1"/>
          <p:nvPr/>
        </p:nvSpPr>
        <p:spPr>
          <a:xfrm>
            <a:off x="5376672" y="123444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Open it</a:t>
            </a:r>
          </a:p>
          <a:p>
            <a:pPr algn="l">
              <a:spcAft>
                <a:spcPts val="0"/>
              </a:spcAft>
            </a:pPr>
            <a:r>
              <a:rPr sz="1100" b="0" lang="en-GB">
                <a:solidFill>
                  <a:schemeClr val="tx1"/>
                </a:solidFill>
              </a:rPr>
              <a:t>activity-bar icon or View: Show Posit Assistant</a:t>
            </a:r>
          </a:p>
        </p:txBody>
      </p:sp>
      <p:sp>
        <p:nvSpPr>
          <p:cNvPr id="26" name="Pane legend 2"/>
          <p:cNvSpPr/>
          <p:nvPr/>
        </p:nvSpPr>
        <p:spPr>
          <a:xfrm>
            <a:off x="4846320" y="196596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ane legend badge 2"/>
          <p:cNvSpPr/>
          <p:nvPr/>
        </p:nvSpPr>
        <p:spPr>
          <a:xfrm>
            <a:off x="4956048" y="21396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8" name="Pane legend text 2"/>
          <p:cNvSpPr txBox="1"/>
          <p:nvPr/>
        </p:nvSpPr>
        <p:spPr>
          <a:xfrm>
            <a:off x="5376672" y="196596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Your request</a:t>
            </a:r>
          </a:p>
          <a:p>
            <a:pPr algn="l">
              <a:spcAft>
                <a:spcPts val="0"/>
              </a:spcAft>
            </a:pPr>
            <a:r>
              <a:rPr sz="1100" b="0" lang="en-GB">
                <a:solidFill>
                  <a:schemeClr val="tx1"/>
                </a:solidFill>
              </a:rPr>
              <a:t>plain English; name files, packages, outputs</a:t>
            </a:r>
          </a:p>
        </p:txBody>
      </p:sp>
      <p:sp>
        <p:nvSpPr>
          <p:cNvPr id="29" name="Pane legend 3"/>
          <p:cNvSpPr/>
          <p:nvPr/>
        </p:nvSpPr>
        <p:spPr>
          <a:xfrm>
            <a:off x="4846320" y="269748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Pane legend badge 3"/>
          <p:cNvSpPr/>
          <p:nvPr/>
        </p:nvSpPr>
        <p:spPr>
          <a:xfrm>
            <a:off x="4956048" y="28712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31" name="Pane legend text 3"/>
          <p:cNvSpPr txBox="1"/>
          <p:nvPr/>
        </p:nvSpPr>
        <p:spPr>
          <a:xfrm>
            <a:off x="5376672" y="269748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Accept / Decline</a:t>
            </a:r>
          </a:p>
          <a:p>
            <a:pPr algn="l">
              <a:spcAft>
                <a:spcPts val="0"/>
              </a:spcAft>
            </a:pPr>
            <a:r>
              <a:rPr sz="1100" b="0" lang="en-GB">
                <a:solidFill>
                  <a:schemeClr val="tx1"/>
                </a:solidFill>
              </a:rPr>
              <a:t>nothing runs without your OK</a:t>
            </a:r>
          </a:p>
        </p:txBody>
      </p:sp>
      <p:sp>
        <p:nvSpPr>
          <p:cNvPr id="32" name="Pane legend 4"/>
          <p:cNvSpPr/>
          <p:nvPr/>
        </p:nvSpPr>
        <p:spPr>
          <a:xfrm>
            <a:off x="4846320" y="342900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ne legend badge 4"/>
          <p:cNvSpPr/>
          <p:nvPr/>
        </p:nvSpPr>
        <p:spPr>
          <a:xfrm>
            <a:off x="4956048" y="36027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34" name="Pane legend text 4"/>
          <p:cNvSpPr txBox="1"/>
          <p:nvPr/>
        </p:nvSpPr>
        <p:spPr>
          <a:xfrm>
            <a:off x="5376672" y="342900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 and paperclip</a:t>
            </a:r>
          </a:p>
          <a:p>
            <a:pPr algn="l">
              <a:spcAft>
                <a:spcPts val="0"/>
              </a:spcAft>
            </a:pPr>
            <a:r>
              <a:rPr sz="1100" b="0" lang="en-GB">
                <a:solidFill>
                  <a:schemeClr val="tx1"/>
                </a:solidFill>
              </a:rPr>
              <a:t>add files, images or the .qmd you work on</a:t>
            </a:r>
          </a:p>
        </p:txBody>
      </p:sp>
      <p:sp>
        <p:nvSpPr>
          <p:cNvPr id="35" name="Pane legend 5"/>
          <p:cNvSpPr/>
          <p:nvPr/>
        </p:nvSpPr>
        <p:spPr>
          <a:xfrm>
            <a:off x="4846320" y="416052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Pane legend badge 5"/>
          <p:cNvSpPr/>
          <p:nvPr/>
        </p:nvSpPr>
        <p:spPr>
          <a:xfrm>
            <a:off x="4956048" y="43342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37" name="Pane legend text 5"/>
          <p:cNvSpPr txBox="1"/>
          <p:nvPr/>
        </p:nvSpPr>
        <p:spPr>
          <a:xfrm>
            <a:off x="5376672" y="416052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Model and thinking</a:t>
            </a:r>
          </a:p>
          <a:p>
            <a:pPr algn="l">
              <a:spcAft>
                <a:spcPts val="0"/>
              </a:spcAft>
            </a:pPr>
            <a:r>
              <a:rPr sz="1100" b="0" lang="en-GB">
                <a:solidFill>
                  <a:schemeClr val="tx1"/>
                </a:solidFill>
              </a:rPr>
              <a:t>Auto with Copilot; more thinking = slower, more careful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Posit Assistant can see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es 1 body"/>
          <p:cNvSpPr/>
          <p:nvPr/>
        </p:nvSpPr>
        <p:spPr>
          <a:xfrm>
            <a:off x="45720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es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ees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Your session</a:t>
            </a:r>
          </a:p>
        </p:txBody>
      </p:sp>
      <p:pic>
        <p:nvPicPr>
          <p:cNvPr id="13" name="Icon Sees 1" descr=""/>
          <p:cNvPicPr>
            <a:picLocks noChangeAspect="1"/>
          </p:cNvPicPr>
          <p:nvPr/>
        </p:nvPicPr>
        <p:blipFill>
          <a:blip r:embed="rId3"/>
          <a:stretch>
            <a:fillRect/>
          </a:stretch>
        </p:blipFill>
        <p:spPr>
          <a:xfrm>
            <a:off x="2670048" y="1284732"/>
            <a:ext cx="310896" cy="310896"/>
          </a:xfrm>
          <a:prstGeom prst="rect">
            <a:avLst/>
          </a:prstGeom>
        </p:spPr>
      </p:pic>
      <p:sp>
        <p:nvSpPr>
          <p:cNvPr id="14" name="Sees 1 text"/>
          <p:cNvSpPr txBox="1"/>
          <p:nvPr/>
        </p:nvSpPr>
        <p:spPr>
          <a:xfrm>
            <a:off x="62179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Python version</a:t>
            </a:r>
          </a:p>
          <a:p>
            <a:pPr algn="l" marL="182880" indent="-182880">
              <a:spcAft>
                <a:spcPts val="600"/>
              </a:spcAft>
              <a:buClr>
                <a:schemeClr val="accent1"/>
              </a:buClr>
              <a:buFont typeface="Arial"/>
              <a:buChar char="▪"/>
            </a:pPr>
            <a:r>
              <a:rPr sz="1300" b="0" lang="en-GB">
                <a:solidFill>
                  <a:schemeClr val="tx1"/>
                </a:solidFill>
              </a:rPr>
              <a:t>Variable names and types</a:t>
            </a:r>
          </a:p>
          <a:p>
            <a:pPr algn="l" marL="182880" indent="-182880">
              <a:spcAft>
                <a:spcPts val="600"/>
              </a:spcAft>
              <a:buClr>
                <a:schemeClr val="accent1"/>
              </a:buClr>
              <a:buFont typeface="Arial"/>
              <a:buChar char="▪"/>
            </a:pPr>
            <a:r>
              <a:rPr sz="1300" b="0" lang="en-GB">
                <a:solidFill>
                  <a:schemeClr val="tx1"/>
                </a:solidFill>
              </a:rPr>
              <a:t>Data-frame columns and shape</a:t>
            </a:r>
          </a:p>
        </p:txBody>
      </p:sp>
      <p:sp>
        <p:nvSpPr>
          <p:cNvPr id="15" name="Sees 2 body"/>
          <p:cNvSpPr/>
          <p:nvPr/>
        </p:nvSpPr>
        <p:spPr>
          <a:xfrm>
            <a:off x="324612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ees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es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Your output</a:t>
            </a:r>
          </a:p>
        </p:txBody>
      </p:sp>
      <p:pic>
        <p:nvPicPr>
          <p:cNvPr id="18" name="Icon Sees 2" descr=""/>
          <p:cNvPicPr>
            <a:picLocks noChangeAspect="1"/>
          </p:cNvPicPr>
          <p:nvPr/>
        </p:nvPicPr>
        <p:blipFill>
          <a:blip r:embed="rId4"/>
          <a:stretch>
            <a:fillRect/>
          </a:stretch>
        </p:blipFill>
        <p:spPr>
          <a:xfrm>
            <a:off x="5458968" y="1284732"/>
            <a:ext cx="310896" cy="310896"/>
          </a:xfrm>
          <a:prstGeom prst="rect">
            <a:avLst/>
          </a:prstGeom>
        </p:spPr>
      </p:pic>
      <p:sp>
        <p:nvSpPr>
          <p:cNvPr id="19" name="Sees 2 text"/>
          <p:cNvSpPr txBox="1"/>
          <p:nvPr/>
        </p:nvSpPr>
        <p:spPr>
          <a:xfrm>
            <a:off x="341071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Plots</a:t>
            </a:r>
          </a:p>
          <a:p>
            <a:pPr algn="l" marL="182880" indent="-182880">
              <a:spcAft>
                <a:spcPts val="600"/>
              </a:spcAft>
              <a:buClr>
                <a:schemeClr val="accent1"/>
              </a:buClr>
              <a:buFont typeface="Arial"/>
              <a:buChar char="▪"/>
            </a:pPr>
            <a:r>
              <a:rPr sz="1300" b="0" lang="en-GB">
                <a:solidFill>
                  <a:schemeClr val="tx1"/>
                </a:solidFill>
              </a:rPr>
              <a:t>Console history</a:t>
            </a:r>
          </a:p>
          <a:p>
            <a:pPr algn="l" marL="182880" indent="-182880">
              <a:spcAft>
                <a:spcPts val="600"/>
              </a:spcAft>
              <a:buClr>
                <a:schemeClr val="accent1"/>
              </a:buClr>
              <a:buFont typeface="Arial"/>
              <a:buChar char="▪"/>
            </a:pPr>
            <a:r>
              <a:rPr sz="1300" b="0" lang="en-GB">
                <a:solidFill>
                  <a:schemeClr val="tx1"/>
                </a:solidFill>
              </a:rPr>
              <a:t>Errors</a:t>
            </a:r>
          </a:p>
        </p:txBody>
      </p:sp>
      <p:sp>
        <p:nvSpPr>
          <p:cNvPr id="20" name="Sees 3 body"/>
          <p:cNvSpPr/>
          <p:nvPr/>
        </p:nvSpPr>
        <p:spPr>
          <a:xfrm>
            <a:off x="603504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es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ees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Your files</a:t>
            </a:r>
          </a:p>
        </p:txBody>
      </p:sp>
      <p:pic>
        <p:nvPicPr>
          <p:cNvPr id="23" name="Icon Sees 3" descr=""/>
          <p:cNvPicPr>
            <a:picLocks noChangeAspect="1"/>
          </p:cNvPicPr>
          <p:nvPr/>
        </p:nvPicPr>
        <p:blipFill>
          <a:blip r:embed="rId5"/>
          <a:stretch>
            <a:fillRect/>
          </a:stretch>
        </p:blipFill>
        <p:spPr>
          <a:xfrm>
            <a:off x="8247888" y="1284732"/>
            <a:ext cx="310896" cy="310896"/>
          </a:xfrm>
          <a:prstGeom prst="rect">
            <a:avLst/>
          </a:prstGeom>
        </p:spPr>
      </p:pic>
      <p:sp>
        <p:nvSpPr>
          <p:cNvPr id="24" name="Sees 3 text"/>
          <p:cNvSpPr txBox="1"/>
          <p:nvPr/>
        </p:nvSpPr>
        <p:spPr>
          <a:xfrm>
            <a:off x="619963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Open files and selection</a:t>
            </a:r>
          </a:p>
          <a:p>
            <a:pPr algn="l" marL="182880" indent="-182880">
              <a:spcAft>
                <a:spcPts val="600"/>
              </a:spcAft>
              <a:buClr>
                <a:schemeClr val="accent1"/>
              </a:buClr>
              <a:buFont typeface="Arial"/>
              <a:buChar char="▪"/>
            </a:pPr>
            <a:r>
              <a:rPr sz="1300" b="0" lang="en-GB">
                <a:solidFill>
                  <a:schemeClr val="tx1"/>
                </a:solidFill>
              </a:rPr>
              <a:t>Project folder structure</a:t>
            </a:r>
          </a:p>
          <a:p>
            <a:pPr algn="l" marL="182880" indent="-182880">
              <a:spcAft>
                <a:spcPts val="600"/>
              </a:spcAft>
              <a:buClr>
                <a:schemeClr val="accent1"/>
              </a:buClr>
              <a:buFont typeface="Arial"/>
              <a:buChar char="▪"/>
            </a:pPr>
            <a:r>
              <a:rPr sz="1300" b="0" lang="en-GB">
                <a:solidFill>
                  <a:schemeClr val="tx1"/>
                </a:solidFill>
              </a:rPr>
              <a:t>Files you attach</a:t>
            </a:r>
          </a:p>
        </p:txBody>
      </p:sp>
      <p:sp>
        <p:nvSpPr>
          <p:cNvPr id="25" name="Sees rows row 1"/>
          <p:cNvSpPr/>
          <p:nvPr/>
        </p:nvSpPr>
        <p:spPr>
          <a:xfrm>
            <a:off x="457200" y="3520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ees rows bar 1"/>
          <p:cNvSpPr/>
          <p:nvPr/>
        </p:nvSpPr>
        <p:spPr>
          <a:xfrm>
            <a:off x="457200" y="3520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ees rows text 1"/>
          <p:cNvSpPr txBox="1"/>
          <p:nvPr/>
        </p:nvSpPr>
        <p:spPr>
          <a:xfrm>
            <a:off x="658368" y="352044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Tip: </a:t>
            </a:r>
            <a:r>
              <a:rPr sz="1200" b="0" lang="en-GB">
                <a:solidFill>
                  <a:schemeClr val="tx1"/>
                </a:solidFill>
              </a:rPr>
              <a:t>load the data first, then ask; the assistant sees the column names and gets them right</a:t>
            </a:r>
          </a:p>
        </p:txBody>
      </p:sp>
      <p:sp>
        <p:nvSpPr>
          <p:cNvPr id="28" name="Sees rows row 2"/>
          <p:cNvSpPr/>
          <p:nvPr/>
        </p:nvSpPr>
        <p:spPr>
          <a:xfrm>
            <a:off x="457200" y="40416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es rows bar 2"/>
          <p:cNvSpPr/>
          <p:nvPr/>
        </p:nvSpPr>
        <p:spPr>
          <a:xfrm>
            <a:off x="457200" y="40416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ees rows text 2"/>
          <p:cNvSpPr txBox="1"/>
          <p:nvPr/>
        </p:nvSpPr>
        <p:spPr>
          <a:xfrm>
            <a:off x="658368" y="40416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Keep files out: </a:t>
            </a:r>
            <a:r>
              <a:rPr sz="1200" b="0" lang="en-GB">
                <a:solidFill>
                  <a:schemeClr val="tx1"/>
                </a:solidFill>
              </a:rPr>
              <a:t>setting positron.assistant.aiExcludes, e.g. data/personal/**</a:t>
            </a:r>
          </a:p>
        </p:txBody>
      </p:sp>
      <p:sp>
        <p:nvSpPr>
          <p:cNvPr id="31" name="Sees note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Sees note" descr=""/>
          <p:cNvPicPr>
            <a:picLocks noChangeAspect="1"/>
          </p:cNvPicPr>
          <p:nvPr/>
        </p:nvPicPr>
        <p:blipFill>
          <a:blip r:embed="rId6"/>
          <a:stretch>
            <a:fillRect/>
          </a:stretch>
        </p:blipFill>
        <p:spPr>
          <a:xfrm>
            <a:off x="658368" y="4617720"/>
            <a:ext cx="365760" cy="365760"/>
          </a:xfrm>
          <a:prstGeom prst="rect">
            <a:avLst/>
          </a:prstGeom>
        </p:spPr>
      </p:pic>
      <p:sp>
        <p:nvSpPr>
          <p:cNvPr id="33" name="Sees note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It sees what you see: </a:t>
            </a:r>
            <a:r>
              <a:rPr sz="1200" b="0" lang="en-GB">
                <a:solidFill>
                  <a:schemeClr val="bg1"/>
                </a:solidFill>
              </a:rPr>
              <a:t>never load personal data you may not share.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erm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2194560"/>
                <a:gridCol w="3749040"/>
                <a:gridCol w="2286000"/>
              </a:tblGrid>
              <a:tr h="370840">
                <a:tc>
                  <a:txBody>
                    <a:bodyPr/>
                    <a:lstStyle/>
                    <a:p>
                      <a:r>
                        <a:rPr sz="1300" lang="en-GB"/>
                        <a:t>Mode</a:t>
                      </a:r>
                    </a:p>
                  </a:txBody>
                  <a:tcPr marT="50000" marB="50000"/>
                </a:tc>
                <a:tc>
                  <a:txBody>
                    <a:bodyPr/>
                    <a:lstStyle/>
                    <a:p>
                      <a:r>
                        <a:rPr sz="1300" lang="en-GB"/>
                        <a:t>What happens</a:t>
                      </a:r>
                    </a:p>
                  </a:txBody>
                  <a:tcPr marT="50000" marB="50000"/>
                </a:tc>
                <a:tc>
                  <a:txBody>
                    <a:bodyPr/>
                    <a:lstStyle/>
                    <a:p>
                      <a:r>
                        <a:rPr sz="1300" lang="en-GB"/>
                        <a:t>For you</a:t>
                      </a:r>
                    </a:p>
                  </a:txBody>
                  <a:tcPr marT="50000" marB="50000"/>
                </a:tc>
              </a:tr>
              <a:tr h="370840">
                <a:tc>
                  <a:txBody>
                    <a:bodyPr/>
                    <a:lstStyle/>
                    <a:p>
                      <a:r>
                        <a:rPr sz="1200" b="1" lang="en-GB"/>
                        <a:t>Normal (default)</a:t>
                      </a:r>
                    </a:p>
                  </a:txBody>
                  <a:tcPr marT="50000" marB="50000"/>
                </a:tc>
                <a:tc>
                  <a:txBody>
                    <a:bodyPr/>
                    <a:lstStyle/>
                    <a:p>
                      <a:r>
                        <a:rPr sz="1200" lang="en-GB"/>
                        <a:t>safe actions run; risky ones ask first</a:t>
                      </a:r>
                    </a:p>
                  </a:txBody>
                  <a:tcPr marT="50000" marB="50000"/>
                </a:tc>
                <a:tc>
                  <a:txBody>
                    <a:bodyPr/>
                    <a:lstStyle/>
                    <a:p>
                      <a:r>
                        <a:rPr sz="1200" lang="en-GB"/>
                        <a:t>use this</a:t>
                      </a:r>
                    </a:p>
                  </a:txBody>
                  <a:tcPr marT="50000" marB="50000"/>
                </a:tc>
              </a:tr>
              <a:tr h="370840">
                <a:tc>
                  <a:txBody>
                    <a:bodyPr/>
                    <a:lstStyle/>
                    <a:p>
                      <a:r>
                        <a:rPr sz="1200" b="1" lang="en-GB"/>
                        <a:t>Restricted</a:t>
                      </a:r>
                    </a:p>
                  </a:txBody>
                  <a:tcPr marT="50000" marB="50000"/>
                </a:tc>
                <a:tc>
                  <a:txBody>
                    <a:bodyPr/>
                    <a:lstStyle/>
                    <a:p>
                      <a:r>
                        <a:rPr sz="1200" lang="en-GB"/>
                        <a:t>every action asks first</a:t>
                      </a:r>
                    </a:p>
                  </a:txBody>
                  <a:tcPr marT="50000" marB="50000"/>
                </a:tc>
                <a:tc>
                  <a:txBody>
                    <a:bodyPr/>
                    <a:lstStyle/>
                    <a:p>
                      <a:r>
                        <a:rPr sz="1200" lang="en-GB"/>
                        <a:t>fine, automatic in untrusted folders</a:t>
                      </a:r>
                    </a:p>
                  </a:txBody>
                  <a:tcPr marT="50000" marB="50000"/>
                </a:tc>
              </a:tr>
              <a:tr h="370840">
                <a:tc>
                  <a:txBody>
                    <a:bodyPr/>
                    <a:lstStyle/>
                    <a:p>
                      <a:r>
                        <a:rPr sz="1200" b="1" lang="en-GB"/>
                        <a:t>Plan (/plan)</a:t>
                      </a:r>
                    </a:p>
                  </a:txBody>
                  <a:tcPr marT="50000" marB="50000"/>
                </a:tc>
                <a:tc>
                  <a:txBody>
                    <a:bodyPr/>
                    <a:lstStyle/>
                    <a:p>
                      <a:r>
                        <a:rPr sz="1200" lang="en-GB"/>
                        <a:t>writes a plan, changes nothing until you approve</a:t>
                      </a:r>
                    </a:p>
                  </a:txBody>
                  <a:tcPr marT="50000" marB="50000"/>
                </a:tc>
                <a:tc>
                  <a:txBody>
                    <a:bodyPr/>
                    <a:lstStyle/>
                    <a:p>
                      <a:r>
                        <a:rPr sz="1200" lang="en-GB"/>
                        <a:t>good for bigger tasks</a:t>
                      </a:r>
                    </a:p>
                  </a:txBody>
                  <a:tcPr marT="50000" marB="50000"/>
                </a:tc>
              </a:tr>
              <a:tr h="370840">
                <a:tc>
                  <a:txBody>
                    <a:bodyPr/>
                    <a:lstStyle/>
                    <a:p>
                      <a:r>
                        <a:rPr sz="1200" b="1" lang="en-GB"/>
                        <a:t>Ask (/ask)</a:t>
                      </a:r>
                    </a:p>
                  </a:txBody>
                  <a:tcPr marT="50000" marB="50000"/>
                </a:tc>
                <a:tc>
                  <a:txBody>
                    <a:bodyPr/>
                    <a:lstStyle/>
                    <a:p>
                      <a:r>
                        <a:rPr sz="1200" lang="en-GB"/>
                        <a:t>answers only, read-only</a:t>
                      </a:r>
                    </a:p>
                  </a:txBody>
                  <a:tcPr marT="50000" marB="50000"/>
                </a:tc>
                <a:tc>
                  <a:txBody>
                    <a:bodyPr/>
                    <a:lstStyle/>
                    <a:p>
                      <a:r>
                        <a:rPr sz="1200" lang="en-GB"/>
                        <a:t>good for questions</a:t>
                      </a:r>
                    </a:p>
                  </a:txBody>
                  <a:tcPr marT="50000" marB="50000"/>
                </a:tc>
              </a:tr>
              <a:tr h="370840">
                <a:tc>
                  <a:txBody>
                    <a:bodyPr/>
                    <a:lstStyle/>
                    <a:p>
                      <a:r>
                        <a:rPr sz="1200" b="1" lang="en-GB"/>
                        <a:t>Auto, YOLO</a:t>
                      </a:r>
                    </a:p>
                  </a:txBody>
                  <a:tcPr marT="50000" marB="50000"/>
                </a:tc>
                <a:tc>
                  <a:txBody>
                    <a:bodyPr/>
                    <a:lstStyle/>
                    <a:p>
                      <a:r>
                        <a:rPr sz="1200" lang="en-GB"/>
                        <a:t>approves actions automatically</a:t>
                      </a:r>
                    </a:p>
                  </a:txBody>
                  <a:tcPr marT="50000" marB="50000"/>
                </a:tc>
                <a:tc>
                  <a:txBody>
                    <a:bodyPr/>
                    <a:lstStyle/>
                    <a:p>
                      <a:r>
                        <a:rPr sz="1200" lang="en-GB"/>
                        <a:t>do not use</a:t>
                      </a:r>
                    </a:p>
                  </a:txBody>
                  <a:tcPr marT="50000" marB="50000"/>
                </a:tc>
              </a:tr>
            </a:tbl>
          </a:graphicData>
        </a:graphic>
      </p:graphicFrame>
      <p:sp>
        <p:nvSpPr>
          <p:cNvPr id="3" name="Title 2"/>
          <p:cNvSpPr>
            <a:spLocks noGrp="1"/>
          </p:cNvSpPr>
          <p:nvPr>
            <p:ph type="title"/>
          </p:nvPr>
        </p:nvSpPr>
        <p:spPr/>
        <p:txBody>
          <a:bodyPr/>
          <a:lstStyle/>
          <a:p>
            <a:r>
              <a:rPr sz="1600" lang="en-GB"/>
              <a:t>It asks before it runs code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erm rule box"/>
          <p:cNvSpPr/>
          <p:nvPr/>
        </p:nvSpPr>
        <p:spPr>
          <a:xfrm>
            <a:off x="457200" y="406908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Perm rule" descr=""/>
          <p:cNvPicPr>
            <a:picLocks noChangeAspect="1"/>
          </p:cNvPicPr>
          <p:nvPr/>
        </p:nvPicPr>
        <p:blipFill>
          <a:blip r:embed="rId3"/>
          <a:stretch>
            <a:fillRect/>
          </a:stretch>
        </p:blipFill>
        <p:spPr>
          <a:xfrm>
            <a:off x="658368" y="4274820"/>
            <a:ext cx="365760" cy="365760"/>
          </a:xfrm>
          <a:prstGeom prst="rect">
            <a:avLst/>
          </a:prstGeom>
        </p:spPr>
      </p:pic>
      <p:sp>
        <p:nvSpPr>
          <p:cNvPr id="12" name="Perm rule text"/>
          <p:cNvSpPr txBox="1"/>
          <p:nvPr/>
        </p:nvSpPr>
        <p:spPr>
          <a:xfrm>
            <a:off x="1207008" y="406908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Before you click Accept: </a:t>
            </a:r>
            <a:r>
              <a:rPr sz="1200" b="0" lang="en-GB">
                <a:solidFill>
                  <a:schemeClr val="bg1"/>
                </a:solidFill>
              </a:rPr>
              <a:t>read the code. Does it use polars, the right file and the right columns? If not, Decline and say what to change.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Slash commands, Fix and Explain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lash 1-1"/>
          <p:cNvSpPr/>
          <p:nvPr/>
        </p:nvSpPr>
        <p:spPr>
          <a:xfrm>
            <a:off x="457200" y="1234440"/>
            <a:ext cx="11612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lash text 1-1"/>
          <p:cNvSpPr txBox="1"/>
          <p:nvPr/>
        </p:nvSpPr>
        <p:spPr>
          <a:xfrm>
            <a:off x="548640" y="1234440"/>
            <a:ext cx="97840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Type</a:t>
            </a:r>
          </a:p>
        </p:txBody>
      </p:sp>
      <p:sp>
        <p:nvSpPr>
          <p:cNvPr id="12" name="Slash 1-2"/>
          <p:cNvSpPr/>
          <p:nvPr/>
        </p:nvSpPr>
        <p:spPr>
          <a:xfrm>
            <a:off x="1645920" y="1234440"/>
            <a:ext cx="28072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lash text 1-2"/>
          <p:cNvSpPr txBox="1"/>
          <p:nvPr/>
        </p:nvSpPr>
        <p:spPr>
          <a:xfrm>
            <a:off x="1737360" y="1234440"/>
            <a:ext cx="262432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What it does</a:t>
            </a:r>
          </a:p>
        </p:txBody>
      </p:sp>
      <p:sp>
        <p:nvSpPr>
          <p:cNvPr id="14" name="Slash 2-1"/>
          <p:cNvSpPr/>
          <p:nvPr/>
        </p:nvSpPr>
        <p:spPr>
          <a:xfrm>
            <a:off x="457200" y="164592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lash text 2-1"/>
          <p:cNvSpPr txBox="1"/>
          <p:nvPr/>
        </p:nvSpPr>
        <p:spPr>
          <a:xfrm>
            <a:off x="548640" y="164592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/new</a:t>
            </a:r>
          </a:p>
        </p:txBody>
      </p:sp>
      <p:sp>
        <p:nvSpPr>
          <p:cNvPr id="16" name="Slash 2-2"/>
          <p:cNvSpPr/>
          <p:nvPr/>
        </p:nvSpPr>
        <p:spPr>
          <a:xfrm>
            <a:off x="1645920" y="164592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lash text 2-2"/>
          <p:cNvSpPr txBox="1"/>
          <p:nvPr/>
        </p:nvSpPr>
        <p:spPr>
          <a:xfrm>
            <a:off x="1737360" y="164592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start a new conversation (new topic)</a:t>
            </a:r>
          </a:p>
        </p:txBody>
      </p:sp>
      <p:sp>
        <p:nvSpPr>
          <p:cNvPr id="18" name="Slash 3-1"/>
          <p:cNvSpPr/>
          <p:nvPr/>
        </p:nvSpPr>
        <p:spPr>
          <a:xfrm>
            <a:off x="457200" y="205740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lash text 3-1"/>
          <p:cNvSpPr txBox="1"/>
          <p:nvPr/>
        </p:nvSpPr>
        <p:spPr>
          <a:xfrm>
            <a:off x="548640" y="205740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/plan</a:t>
            </a:r>
          </a:p>
        </p:txBody>
      </p:sp>
      <p:sp>
        <p:nvSpPr>
          <p:cNvPr id="20" name="Slash 3-2"/>
          <p:cNvSpPr/>
          <p:nvPr/>
        </p:nvSpPr>
        <p:spPr>
          <a:xfrm>
            <a:off x="1645920" y="205740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lash text 3-2"/>
          <p:cNvSpPr txBox="1"/>
          <p:nvPr/>
        </p:nvSpPr>
        <p:spPr>
          <a:xfrm>
            <a:off x="1737360" y="205740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plan first, code later</a:t>
            </a:r>
          </a:p>
        </p:txBody>
      </p:sp>
      <p:sp>
        <p:nvSpPr>
          <p:cNvPr id="22" name="Slash 4-1"/>
          <p:cNvSpPr/>
          <p:nvPr/>
        </p:nvSpPr>
        <p:spPr>
          <a:xfrm>
            <a:off x="457200" y="246888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lash text 4-1"/>
          <p:cNvSpPr txBox="1"/>
          <p:nvPr/>
        </p:nvSpPr>
        <p:spPr>
          <a:xfrm>
            <a:off x="548640" y="246888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/ask</a:t>
            </a:r>
          </a:p>
        </p:txBody>
      </p:sp>
      <p:sp>
        <p:nvSpPr>
          <p:cNvPr id="24" name="Slash 4-2"/>
          <p:cNvSpPr/>
          <p:nvPr/>
        </p:nvSpPr>
        <p:spPr>
          <a:xfrm>
            <a:off x="1645920" y="246888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lash text 4-2"/>
          <p:cNvSpPr txBox="1"/>
          <p:nvPr/>
        </p:nvSpPr>
        <p:spPr>
          <a:xfrm>
            <a:off x="1737360" y="246888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questions only, no changes</a:t>
            </a:r>
          </a:p>
        </p:txBody>
      </p:sp>
      <p:sp>
        <p:nvSpPr>
          <p:cNvPr id="26" name="Slash 5-1"/>
          <p:cNvSpPr/>
          <p:nvPr/>
        </p:nvSpPr>
        <p:spPr>
          <a:xfrm>
            <a:off x="457200" y="288036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lash text 5-1"/>
          <p:cNvSpPr txBox="1"/>
          <p:nvPr/>
        </p:nvSpPr>
        <p:spPr>
          <a:xfrm>
            <a:off x="548640" y="288036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/report</a:t>
            </a:r>
          </a:p>
        </p:txBody>
      </p:sp>
      <p:sp>
        <p:nvSpPr>
          <p:cNvPr id="28" name="Slash 5-2"/>
          <p:cNvSpPr/>
          <p:nvPr/>
        </p:nvSpPr>
        <p:spPr>
          <a:xfrm>
            <a:off x="1645920" y="288036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lash text 5-2"/>
          <p:cNvSpPr txBox="1"/>
          <p:nvPr/>
        </p:nvSpPr>
        <p:spPr>
          <a:xfrm>
            <a:off x="1737360" y="288036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turn the chat into a Quarto .qmd</a:t>
            </a:r>
          </a:p>
        </p:txBody>
      </p:sp>
      <p:sp>
        <p:nvSpPr>
          <p:cNvPr id="30" name="Slash 6-1"/>
          <p:cNvSpPr/>
          <p:nvPr/>
        </p:nvSpPr>
        <p:spPr>
          <a:xfrm>
            <a:off x="457200" y="329184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lash text 6-1"/>
          <p:cNvSpPr txBox="1"/>
          <p:nvPr/>
        </p:nvSpPr>
        <p:spPr>
          <a:xfrm>
            <a:off x="548640" y="329184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/notebook</a:t>
            </a:r>
          </a:p>
        </p:txBody>
      </p:sp>
      <p:sp>
        <p:nvSpPr>
          <p:cNvPr id="32" name="Slash 6-2"/>
          <p:cNvSpPr/>
          <p:nvPr/>
        </p:nvSpPr>
        <p:spPr>
          <a:xfrm>
            <a:off x="1645920" y="329184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lash text 6-2"/>
          <p:cNvSpPr txBox="1"/>
          <p:nvPr/>
        </p:nvSpPr>
        <p:spPr>
          <a:xfrm>
            <a:off x="1737360" y="329184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export the chat to a notebook</a:t>
            </a:r>
          </a:p>
        </p:txBody>
      </p:sp>
      <p:sp>
        <p:nvSpPr>
          <p:cNvPr id="34" name="FE box"/>
          <p:cNvSpPr/>
          <p:nvPr/>
        </p:nvSpPr>
        <p:spPr>
          <a:xfrm>
            <a:off x="4663440" y="1234440"/>
            <a:ext cx="40233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FE err caption bar"/>
          <p:cNvSpPr/>
          <p:nvPr/>
        </p:nvSpPr>
        <p:spPr>
          <a:xfrm>
            <a:off x="4800600" y="1371600"/>
            <a:ext cx="3749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FE err caption"/>
          <p:cNvSpPr txBox="1"/>
          <p:nvPr/>
        </p:nvSpPr>
        <p:spPr>
          <a:xfrm>
            <a:off x="4910328" y="1371600"/>
            <a:ext cx="3529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Error in the Console</a:t>
            </a:r>
          </a:p>
        </p:txBody>
      </p:sp>
      <p:sp>
        <p:nvSpPr>
          <p:cNvPr id="37" name="FE err box"/>
          <p:cNvSpPr/>
          <p:nvPr/>
        </p:nvSpPr>
        <p:spPr>
          <a:xfrm>
            <a:off x="4800600" y="1645920"/>
            <a:ext cx="374904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FE err code"/>
          <p:cNvSpPr txBox="1"/>
          <p:nvPr/>
        </p:nvSpPr>
        <p:spPr>
          <a:xfrm>
            <a:off x="4937760" y="1737360"/>
            <a:ext cx="3474720" cy="41148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ColumnNotFoundError:</a:t>
            </a:r>
          </a:p>
          <a:p>
            <a:pPr algn="l">
              <a:spcAft>
                <a:spcPts val="0"/>
              </a:spcAft>
            </a:pPr>
            <a:r>
              <a:rPr sz="1050" b="0" lang="en-GB">
                <a:solidFill>
                  <a:schemeClr val="bg1"/>
                </a:solidFill>
                <a:latin typeface="Consolas"/>
              </a:rPr>
              <a:t>  unable to find column "Sales"</a:t>
            </a:r>
          </a:p>
        </p:txBody>
      </p:sp>
      <p:sp>
        <p:nvSpPr>
          <p:cNvPr id="39" name="FE btn 1"/>
          <p:cNvSpPr/>
          <p:nvPr/>
        </p:nvSpPr>
        <p:spPr>
          <a:xfrm>
            <a:off x="4800600" y="2377440"/>
            <a:ext cx="1005840" cy="36576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FE btn text 1"/>
          <p:cNvSpPr txBox="1"/>
          <p:nvPr/>
        </p:nvSpPr>
        <p:spPr>
          <a:xfrm>
            <a:off x="4800600" y="2377440"/>
            <a:ext cx="1005840" cy="365760"/>
          </a:xfrm>
          <a:prstGeom prst="rect">
            <a:avLst/>
          </a:prstGeom>
          <a:noFill/>
        </p:spPr>
        <p:txBody>
          <a:bodyPr wrap="square" lIns="0" rIns="0" tIns="0" bIns="0" anchor="ctr">
            <a:noAutofit/>
          </a:bodyPr>
          <a:lstStyle/>
          <a:p>
            <a:pPr algn="ctr">
              <a:spcAft>
                <a:spcPts val="400"/>
              </a:spcAft>
            </a:pPr>
            <a:r>
              <a:rPr sz="1100" b="1" lang="en-GB">
                <a:solidFill>
                  <a:schemeClr val="bg1"/>
                </a:solidFill>
              </a:rPr>
              <a:t>Fix</a:t>
            </a:r>
          </a:p>
        </p:txBody>
      </p:sp>
      <p:sp>
        <p:nvSpPr>
          <p:cNvPr id="41" name="FE btn 2"/>
          <p:cNvSpPr/>
          <p:nvPr/>
        </p:nvSpPr>
        <p:spPr>
          <a:xfrm>
            <a:off x="5943600" y="2377440"/>
            <a:ext cx="1005840" cy="36576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FE btn text 2"/>
          <p:cNvSpPr txBox="1"/>
          <p:nvPr/>
        </p:nvSpPr>
        <p:spPr>
          <a:xfrm>
            <a:off x="5943600" y="2377440"/>
            <a:ext cx="1005840" cy="365760"/>
          </a:xfrm>
          <a:prstGeom prst="rect">
            <a:avLst/>
          </a:prstGeom>
          <a:noFill/>
        </p:spPr>
        <p:txBody>
          <a:bodyPr wrap="square" lIns="0" rIns="0" tIns="0" bIns="0" anchor="ctr">
            <a:noAutofit/>
          </a:bodyPr>
          <a:lstStyle/>
          <a:p>
            <a:pPr algn="ctr">
              <a:spcAft>
                <a:spcPts val="400"/>
              </a:spcAft>
            </a:pPr>
            <a:r>
              <a:rPr sz="1100" b="1" lang="en-GB">
                <a:solidFill>
                  <a:schemeClr val="bg1"/>
                </a:solidFill>
              </a:rPr>
              <a:t>Explain</a:t>
            </a:r>
          </a:p>
        </p:txBody>
      </p:sp>
      <p:sp>
        <p:nvSpPr>
          <p:cNvPr id="43" name="FE text"/>
          <p:cNvSpPr txBox="1"/>
          <p:nvPr/>
        </p:nvSpPr>
        <p:spPr>
          <a:xfrm>
            <a:off x="4800600" y="2834640"/>
            <a:ext cx="3749040" cy="685800"/>
          </a:xfrm>
          <a:prstGeom prst="rect">
            <a:avLst/>
          </a:prstGeom>
          <a:noFill/>
        </p:spPr>
        <p:txBody>
          <a:bodyPr wrap="square" lIns="0" rIns="0" tIns="0" bIns="0" anchor="t">
            <a:noAutofit/>
          </a:bodyPr>
          <a:lstStyle/>
          <a:p>
            <a:pPr algn="l">
              <a:spcAft>
                <a:spcPts val="400"/>
              </a:spcAft>
            </a:pPr>
            <a:r>
              <a:rPr sz="1200" b="1" lang="en-GB">
                <a:solidFill>
                  <a:schemeClr val="tx2"/>
                </a:solidFill>
              </a:rPr>
              <a:t>Explain first: </a:t>
            </a:r>
            <a:r>
              <a:rPr sz="1200" b="0" lang="en-GB">
                <a:solidFill>
                  <a:schemeClr val="tx1"/>
                </a:solidFill>
              </a:rPr>
              <a:t>understand the error, then fix it yourself or with Fix.</a:t>
            </a:r>
          </a:p>
        </p:txBody>
      </p:sp>
      <p:sp>
        <p:nvSpPr>
          <p:cNvPr id="44" name="FE tip box"/>
          <p:cNvSpPr/>
          <p:nvPr/>
        </p:nvSpPr>
        <p:spPr>
          <a:xfrm>
            <a:off x="457200" y="37947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Icon FE tip" descr=""/>
          <p:cNvPicPr>
            <a:picLocks noChangeAspect="1"/>
          </p:cNvPicPr>
          <p:nvPr/>
        </p:nvPicPr>
        <p:blipFill>
          <a:blip r:embed="rId3"/>
          <a:stretch>
            <a:fillRect/>
          </a:stretch>
        </p:blipFill>
        <p:spPr>
          <a:xfrm>
            <a:off x="658368" y="3954780"/>
            <a:ext cx="365760" cy="365760"/>
          </a:xfrm>
          <a:prstGeom prst="rect">
            <a:avLst/>
          </a:prstGeom>
        </p:spPr>
      </p:pic>
      <p:sp>
        <p:nvSpPr>
          <p:cNvPr id="46" name="FE tip text"/>
          <p:cNvSpPr txBox="1"/>
          <p:nvPr/>
        </p:nvSpPr>
        <p:spPr>
          <a:xfrm>
            <a:off x="1207008" y="37947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Learning tip: </a:t>
            </a:r>
            <a:r>
              <a:rPr sz="1200" b="0" lang="en-GB">
                <a:solidFill>
                  <a:schemeClr val="bg1"/>
                </a:solidFill>
              </a:rPr>
              <a:t>use Explain more than Fix. You will meet the same error in the exam, without the assistant.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Example: the chocolate data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mpt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ompt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Your prompt</a:t>
            </a:r>
          </a:p>
        </p:txBody>
      </p:sp>
      <p:sp>
        <p:nvSpPr>
          <p:cNvPr id="12" name="Prompt box"/>
          <p:cNvSpPr/>
          <p:nvPr/>
        </p:nvSpPr>
        <p:spPr>
          <a:xfrm>
            <a:off x="457200" y="1508760"/>
            <a:ext cx="4937760" cy="1965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rompt code"/>
          <p:cNvSpPr txBox="1"/>
          <p:nvPr/>
        </p:nvSpPr>
        <p:spPr>
          <a:xfrm>
            <a:off x="594360" y="1600200"/>
            <a:ext cx="4663440" cy="1783080"/>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Use polars, not pandas, to read</a:t>
            </a:r>
          </a:p>
          <a:p>
            <a:pPr algn="l">
              <a:spcAft>
                <a:spcPts val="0"/>
              </a:spcAft>
            </a:pPr>
            <a:r>
              <a:rPr sz="1150" b="0" lang="en-GB">
                <a:solidFill>
                  <a:schemeClr val="bg1"/>
                </a:solidFill>
                <a:latin typeface="Consolas"/>
              </a:rPr>
              <a:t>data/legacy/chocolate_dataset.csv.</a:t>
            </a:r>
          </a:p>
          <a:p>
            <a:pPr algn="l">
              <a:spcAft>
                <a:spcPts val="0"/>
              </a:spcAft>
            </a:pPr>
            <a:r>
              <a:rPr sz="1150" b="0" lang="en-GB">
                <a:solidFill>
                  <a:schemeClr val="bg1"/>
                </a:solidFill>
                <a:latin typeface="Consolas"/>
              </a:rPr>
              <a:t>Plot sales against price1 with</a:t>
            </a:r>
          </a:p>
          <a:p>
            <a:pPr algn="l">
              <a:spcAft>
                <a:spcPts val="0"/>
              </a:spcAft>
            </a:pPr>
            <a:r>
              <a:rPr sz="1150" b="0" lang="en-GB">
                <a:solidFill>
                  <a:schemeClr val="bg1"/>
                </a:solidFill>
                <a:latin typeface="Consolas"/>
              </a:rPr>
              <a:t>plotnine. Fit sales ~ price1 with the</a:t>
            </a:r>
          </a:p>
          <a:p>
            <a:pPr algn="l">
              <a:spcAft>
                <a:spcPts val="0"/>
              </a:spcAft>
            </a:pPr>
            <a:r>
              <a:rPr sz="1150" b="0" lang="en-GB">
                <a:solidFill>
                  <a:schemeClr val="bg1"/>
                </a:solidFill>
                <a:latin typeface="Consolas"/>
              </a:rPr>
              <a:t>statsmodels formula API. Explain</a:t>
            </a:r>
          </a:p>
          <a:p>
            <a:pPr algn="l">
              <a:spcAft>
                <a:spcPts val="0"/>
              </a:spcAft>
            </a:pPr>
            <a:r>
              <a:rPr sz="1150" b="0" lang="en-GB">
                <a:solidFill>
                  <a:schemeClr val="bg1"/>
                </a:solidFill>
                <a:latin typeface="Consolas"/>
              </a:rPr>
              <a:t>each step in two sentences.</a:t>
            </a:r>
          </a:p>
        </p:txBody>
      </p:sp>
      <p:sp>
        <p:nvSpPr>
          <p:cNvPr id="14" name="Example body"/>
          <p:cNvSpPr/>
          <p:nvPr/>
        </p:nvSpPr>
        <p:spPr>
          <a:xfrm>
            <a:off x="5532120" y="1645920"/>
            <a:ext cx="315468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xample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xample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Then</a:t>
            </a:r>
          </a:p>
        </p:txBody>
      </p:sp>
      <p:pic>
        <p:nvPicPr>
          <p:cNvPr id="17" name="Icon Example" descr=""/>
          <p:cNvPicPr>
            <a:picLocks noChangeAspect="1"/>
          </p:cNvPicPr>
          <p:nvPr/>
        </p:nvPicPr>
        <p:blipFill>
          <a:blip r:embed="rId3"/>
          <a:stretch>
            <a:fillRect/>
          </a:stretch>
        </p:blipFill>
        <p:spPr>
          <a:xfrm>
            <a:off x="8247888" y="1284732"/>
            <a:ext cx="310896" cy="310896"/>
          </a:xfrm>
          <a:prstGeom prst="rect">
            <a:avLst/>
          </a:prstGeom>
        </p:spPr>
      </p:pic>
      <p:sp>
        <p:nvSpPr>
          <p:cNvPr id="18" name="Example text"/>
          <p:cNvSpPr txBox="1"/>
          <p:nvPr/>
        </p:nvSpPr>
        <p:spPr>
          <a:xfrm>
            <a:off x="5696712" y="1783080"/>
            <a:ext cx="2852928" cy="1600200"/>
          </a:xfrm>
          <a:prstGeom prst="rect">
            <a:avLst/>
          </a:prstGeom>
          <a:noFill/>
        </p:spPr>
        <p:txBody>
          <a:bodyPr wrap="square" lIns="0" rIns="0" tIns="0" bIns="0" anchor="t">
            <a:noAutofit/>
          </a:bodyPr>
          <a:lstStyle/>
          <a:p>
            <a:pPr algn="l">
              <a:spcAft>
                <a:spcPts val="900"/>
              </a:spcAft>
            </a:pPr>
            <a:r>
              <a:rPr sz="1200" b="1" lang="en-GB">
                <a:solidFill>
                  <a:schemeClr val="accent1"/>
                </a:solidFill>
              </a:rPr>
              <a:t>1  </a:t>
            </a:r>
            <a:r>
              <a:rPr sz="1200" b="1" lang="en-GB">
                <a:solidFill>
                  <a:schemeClr val="tx2"/>
                </a:solidFill>
              </a:rPr>
              <a:t>Read </a:t>
            </a:r>
            <a:r>
              <a:rPr sz="1200" b="0" lang="en-GB">
                <a:solidFill>
                  <a:schemeClr val="tx1"/>
                </a:solidFill>
              </a:rPr>
              <a:t>the plan and code</a:t>
            </a:r>
          </a:p>
          <a:p>
            <a:pPr algn="l">
              <a:spcAft>
                <a:spcPts val="900"/>
              </a:spcAft>
            </a:pPr>
            <a:r>
              <a:rPr sz="1200" b="1" lang="en-GB">
                <a:solidFill>
                  <a:schemeClr val="accent1"/>
                </a:solidFill>
              </a:rPr>
              <a:t>2  </a:t>
            </a:r>
            <a:r>
              <a:rPr sz="1200" b="1" lang="en-GB">
                <a:solidFill>
                  <a:schemeClr val="tx2"/>
                </a:solidFill>
              </a:rPr>
              <a:t>Accept </a:t>
            </a:r>
            <a:r>
              <a:rPr sz="1200" b="0" lang="en-GB">
                <a:solidFill>
                  <a:schemeClr val="tx1"/>
                </a:solidFill>
              </a:rPr>
              <a:t>if it fits</a:t>
            </a:r>
          </a:p>
          <a:p>
            <a:pPr algn="l">
              <a:spcAft>
                <a:spcPts val="900"/>
              </a:spcAft>
            </a:pPr>
            <a:r>
              <a:rPr sz="1200" b="1" lang="en-GB">
                <a:solidFill>
                  <a:schemeClr val="accent1"/>
                </a:solidFill>
              </a:rPr>
              <a:t>3  </a:t>
            </a:r>
            <a:r>
              <a:rPr sz="1200" b="1" lang="en-GB">
                <a:solidFill>
                  <a:schemeClr val="tx2"/>
                </a:solidFill>
              </a:rPr>
              <a:t>Check: </a:t>
            </a:r>
            <a:r>
              <a:rPr sz="1200" b="0" lang="en-GB">
                <a:solidFill>
                  <a:schemeClr val="tx1"/>
                </a:solidFill>
              </a:rPr>
              <a:t>slope ≈ −669, R² ≈ 0.88</a:t>
            </a:r>
          </a:p>
          <a:p>
            <a:pPr algn="l">
              <a:spcAft>
                <a:spcPts val="900"/>
              </a:spcAft>
            </a:pPr>
            <a:r>
              <a:rPr sz="1200" b="1" lang="en-GB">
                <a:solidFill>
                  <a:schemeClr val="accent1"/>
                </a:solidFill>
              </a:rPr>
              <a:t>4  </a:t>
            </a:r>
            <a:r>
              <a:rPr sz="1200" b="1" lang="en-GB">
                <a:solidFill>
                  <a:schemeClr val="tx2"/>
                </a:solidFill>
              </a:rPr>
              <a:t>Ask </a:t>
            </a:r>
            <a:r>
              <a:rPr sz="1200" b="0" lang="en-GB">
                <a:solidFill>
                  <a:schemeClr val="tx1"/>
                </a:solidFill>
              </a:rPr>
              <a:t>why, if unsure</a:t>
            </a:r>
          </a:p>
        </p:txBody>
      </p:sp>
      <p:sp>
        <p:nvSpPr>
          <p:cNvPr id="19" name="Example rows row 1"/>
          <p:cNvSpPr/>
          <p:nvPr/>
        </p:nvSpPr>
        <p:spPr>
          <a:xfrm>
            <a:off x="457200" y="36118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xample rows bar 1"/>
          <p:cNvSpPr/>
          <p:nvPr/>
        </p:nvSpPr>
        <p:spPr>
          <a:xfrm>
            <a:off x="457200" y="36118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xample rows text 1"/>
          <p:cNvSpPr txBox="1"/>
          <p:nvPr/>
        </p:nvSpPr>
        <p:spPr>
          <a:xfrm>
            <a:off x="658368" y="36118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Names the file </a:t>
            </a:r>
            <a:r>
              <a:rPr sz="1200" b="0" lang="en-GB">
                <a:solidFill>
                  <a:schemeClr val="tx1"/>
                </a:solidFill>
              </a:rPr>
              <a:t>so it reads the right data</a:t>
            </a:r>
          </a:p>
        </p:txBody>
      </p:sp>
      <p:sp>
        <p:nvSpPr>
          <p:cNvPr id="22" name="Example rows row 2"/>
          <p:cNvSpPr/>
          <p:nvPr/>
        </p:nvSpPr>
        <p:spPr>
          <a:xfrm>
            <a:off x="457200" y="41330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xample rows bar 2"/>
          <p:cNvSpPr/>
          <p:nvPr/>
        </p:nvSpPr>
        <p:spPr>
          <a:xfrm>
            <a:off x="457200" y="41330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xample rows text 2"/>
          <p:cNvSpPr txBox="1"/>
          <p:nvPr/>
        </p:nvSpPr>
        <p:spPr>
          <a:xfrm>
            <a:off x="658368" y="41330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Names the packages </a:t>
            </a:r>
            <a:r>
              <a:rPr sz="1200" b="0" lang="en-GB">
                <a:solidFill>
                  <a:schemeClr val="tx1"/>
                </a:solidFill>
              </a:rPr>
              <a:t>so the code matches the course: polars, plotnine, statsmodels</a:t>
            </a:r>
          </a:p>
        </p:txBody>
      </p:sp>
      <p:sp>
        <p:nvSpPr>
          <p:cNvPr id="25" name="Example ok box"/>
          <p:cNvSpPr/>
          <p:nvPr/>
        </p:nvSpPr>
        <p:spPr>
          <a:xfrm>
            <a:off x="457200" y="4663440"/>
            <a:ext cx="822960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Example ok" descr=""/>
          <p:cNvPicPr>
            <a:picLocks noChangeAspect="1"/>
          </p:cNvPicPr>
          <p:nvPr/>
        </p:nvPicPr>
        <p:blipFill>
          <a:blip r:embed="rId4"/>
          <a:stretch>
            <a:fillRect/>
          </a:stretch>
        </p:blipFill>
        <p:spPr>
          <a:xfrm>
            <a:off x="658368" y="4686300"/>
            <a:ext cx="365760" cy="365760"/>
          </a:xfrm>
          <a:prstGeom prst="rect">
            <a:avLst/>
          </a:prstGeom>
        </p:spPr>
      </p:pic>
      <p:sp>
        <p:nvSpPr>
          <p:cNvPr id="27" name="Example ok text"/>
          <p:cNvSpPr txBox="1"/>
          <p:nvPr/>
        </p:nvSpPr>
        <p:spPr>
          <a:xfrm>
            <a:off x="1207008" y="4663440"/>
            <a:ext cx="7315200" cy="411480"/>
          </a:xfrm>
          <a:prstGeom prst="rect">
            <a:avLst/>
          </a:prstGeom>
          <a:noFill/>
        </p:spPr>
        <p:txBody>
          <a:bodyPr wrap="square" lIns="0" rIns="0" tIns="0" bIns="0" anchor="ctr">
            <a:noAutofit/>
          </a:bodyPr>
          <a:lstStyle/>
          <a:p>
            <a:pPr algn="l">
              <a:spcAft>
                <a:spcPts val="400"/>
              </a:spcAft>
            </a:pPr>
            <a:r>
              <a:rPr sz="1200" b="1" lang="en-GB">
                <a:solidFill>
                  <a:schemeClr val="tx2"/>
                </a:solidFill>
              </a:rPr>
              <a:t>Same numbers as on the slides? </a:t>
            </a:r>
            <a:r>
              <a:rPr sz="1200" b="0" lang="en-GB">
                <a:solidFill>
                  <a:schemeClr val="tx1"/>
                </a:solidFill>
              </a:rPr>
              <a:t>then the code is right.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10 of 12 · ghost text, keys, switching it on and off</a:t>
            </a:r>
          </a:p>
        </p:txBody>
      </p:sp>
      <p:sp>
        <p:nvSpPr>
          <p:cNvPr id="3" name="Title 2"/>
          <p:cNvSpPr>
            <a:spLocks noGrp="1"/>
          </p:cNvSpPr>
          <p:nvPr>
            <p:ph type="ctrTitle"/>
          </p:nvPr>
        </p:nvSpPr>
        <p:spPr/>
        <p:txBody>
          <a:bodyPr/>
          <a:lstStyle/>
          <a:p>
            <a:r>
              <a:rPr sz="1600" lang="en-GB"/>
              <a:t>Code completions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Ghost text: accept, take part, or ignore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host box"/>
          <p:cNvSpPr/>
          <p:nvPr/>
        </p:nvSpPr>
        <p:spPr>
          <a:xfrm>
            <a:off x="457200" y="1234440"/>
            <a:ext cx="4572000" cy="1600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host code"/>
          <p:cNvSpPr txBox="1"/>
          <p:nvPr/>
        </p:nvSpPr>
        <p:spPr>
          <a:xfrm>
            <a:off x="594360" y="1325880"/>
            <a:ext cx="4297680" cy="1417320"/>
          </a:xfrm>
          <a:prstGeom prst="rect">
            <a:avLst/>
          </a:prstGeom>
          <a:noFill/>
        </p:spPr>
        <p:txBody>
          <a:bodyPr wrap="square" lIns="0" rIns="0" tIns="0" bIns="0" anchor="t">
            <a:noAutofit/>
          </a:bodyPr>
          <a:lstStyle/>
          <a:p>
            <a:pPr algn="l">
              <a:spcAft>
                <a:spcPts val="400"/>
              </a:spcAft>
            </a:pPr>
            <a:r>
              <a:rPr sz="1100" b="0" lang="en-GB">
                <a:solidFill>
                  <a:schemeClr val="bg1"/>
                </a:solidFill>
                <a:latin typeface="Consolas"/>
              </a:rPr>
              <a:t>choc = pl.read_csv(path)</a:t>
            </a:r>
          </a:p>
          <a:p>
            <a:pPr algn="l">
              <a:spcAft>
                <a:spcPts val="400"/>
              </a:spcAft>
            </a:pPr>
            <a:r>
              <a:rPr sz="1100" b="0" lang="en-GB">
                <a:solidFill>
                  <a:schemeClr val="bg1"/>
                </a:solidFill>
                <a:latin typeface="Consolas"/>
              </a:rPr>
              <a:t>model = smf.ols(</a:t>
            </a:r>
            <a:r>
              <a:rPr sz="1100" b="0" lang="en-GB">
                <a:solidFill>
                  <a:srgbClr val="8FA3BF"/>
                </a:solidFill>
                <a:latin typeface="Consolas"/>
              </a:rPr>
              <a:t>"sales ~ price1", data=choc</a:t>
            </a:r>
          </a:p>
          <a:p>
            <a:pPr algn="l">
              <a:spcAft>
                <a:spcPts val="400"/>
              </a:spcAft>
            </a:pPr>
            <a:r>
              <a:rPr sz="1100" b="0" lang="en-GB">
                <a:solidFill>
                  <a:srgbClr val="8FA3BF"/>
                </a:solidFill>
                <a:latin typeface="Consolas"/>
              </a:rPr>
              <a:t>.to_pandas()).fit()</a:t>
            </a:r>
          </a:p>
        </p:txBody>
      </p:sp>
      <p:sp>
        <p:nvSpPr>
          <p:cNvPr id="12" name="Ghost caption"/>
          <p:cNvSpPr txBox="1"/>
          <p:nvPr/>
        </p:nvSpPr>
        <p:spPr>
          <a:xfrm>
            <a:off x="457200" y="2880360"/>
            <a:ext cx="4572000" cy="320040"/>
          </a:xfrm>
          <a:prstGeom prst="rect">
            <a:avLst/>
          </a:prstGeom>
          <a:noFill/>
        </p:spPr>
        <p:txBody>
          <a:bodyPr wrap="square" lIns="0" rIns="0" tIns="0" bIns="0" anchor="t">
            <a:noAutofit/>
          </a:bodyPr>
          <a:lstStyle/>
          <a:p>
            <a:pPr algn="l">
              <a:spcAft>
                <a:spcPts val="400"/>
              </a:spcAft>
            </a:pPr>
            <a:r>
              <a:rPr sz="1100" b="0" lang="en-GB">
                <a:solidFill>
                  <a:srgbClr val="595959"/>
                </a:solidFill>
              </a:rPr>
              <a:t>Grey text = Copilot's suggestion, not yet in your file</a:t>
            </a:r>
          </a:p>
        </p:txBody>
      </p:sp>
      <p:sp>
        <p:nvSpPr>
          <p:cNvPr id="13" name="Keys 1-1"/>
          <p:cNvSpPr/>
          <p:nvPr/>
        </p:nvSpPr>
        <p:spPr>
          <a:xfrm>
            <a:off x="5166360" y="1234440"/>
            <a:ext cx="1572768" cy="4023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Keys text 1-1"/>
          <p:cNvSpPr txBox="1"/>
          <p:nvPr/>
        </p:nvSpPr>
        <p:spPr>
          <a:xfrm>
            <a:off x="5257800" y="1234440"/>
            <a:ext cx="1389888" cy="402336"/>
          </a:xfrm>
          <a:prstGeom prst="rect">
            <a:avLst/>
          </a:prstGeom>
          <a:noFill/>
        </p:spPr>
        <p:txBody>
          <a:bodyPr wrap="square" lIns="0" rIns="0" tIns="0" bIns="0" anchor="ctr">
            <a:noAutofit/>
          </a:bodyPr>
          <a:lstStyle/>
          <a:p>
            <a:pPr algn="l">
              <a:spcAft>
                <a:spcPts val="400"/>
              </a:spcAft>
            </a:pPr>
            <a:r>
              <a:rPr sz="1200" b="1" lang="en-GB">
                <a:solidFill>
                  <a:schemeClr val="bg1"/>
                </a:solidFill>
              </a:rPr>
              <a:t>Key</a:t>
            </a:r>
          </a:p>
        </p:txBody>
      </p:sp>
      <p:sp>
        <p:nvSpPr>
          <p:cNvPr id="15" name="Keys 1-2"/>
          <p:cNvSpPr/>
          <p:nvPr/>
        </p:nvSpPr>
        <p:spPr>
          <a:xfrm>
            <a:off x="6766560" y="1234440"/>
            <a:ext cx="1892808" cy="4023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Keys text 1-2"/>
          <p:cNvSpPr txBox="1"/>
          <p:nvPr/>
        </p:nvSpPr>
        <p:spPr>
          <a:xfrm>
            <a:off x="6858000" y="1234440"/>
            <a:ext cx="1709928" cy="402336"/>
          </a:xfrm>
          <a:prstGeom prst="rect">
            <a:avLst/>
          </a:prstGeom>
          <a:noFill/>
        </p:spPr>
        <p:txBody>
          <a:bodyPr wrap="square" lIns="0" rIns="0" tIns="0" bIns="0" anchor="ctr">
            <a:noAutofit/>
          </a:bodyPr>
          <a:lstStyle/>
          <a:p>
            <a:pPr algn="l">
              <a:spcAft>
                <a:spcPts val="400"/>
              </a:spcAft>
            </a:pPr>
            <a:r>
              <a:rPr sz="1200" b="1" lang="en-GB">
                <a:solidFill>
                  <a:schemeClr val="bg1"/>
                </a:solidFill>
              </a:rPr>
              <a:t>Effect</a:t>
            </a:r>
          </a:p>
        </p:txBody>
      </p:sp>
      <p:sp>
        <p:nvSpPr>
          <p:cNvPr id="17" name="Keys 2-1"/>
          <p:cNvSpPr/>
          <p:nvPr/>
        </p:nvSpPr>
        <p:spPr>
          <a:xfrm>
            <a:off x="5166360" y="1664208"/>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Keys text 2-1"/>
          <p:cNvSpPr txBox="1"/>
          <p:nvPr/>
        </p:nvSpPr>
        <p:spPr>
          <a:xfrm>
            <a:off x="5257800" y="1664208"/>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Tab</a:t>
            </a:r>
          </a:p>
        </p:txBody>
      </p:sp>
      <p:sp>
        <p:nvSpPr>
          <p:cNvPr id="19" name="Keys 2-2"/>
          <p:cNvSpPr/>
          <p:nvPr/>
        </p:nvSpPr>
        <p:spPr>
          <a:xfrm>
            <a:off x="6766560" y="1664208"/>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Keys text 2-2"/>
          <p:cNvSpPr txBox="1"/>
          <p:nvPr/>
        </p:nvSpPr>
        <p:spPr>
          <a:xfrm>
            <a:off x="6858000" y="1664208"/>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accept the whole suggestion</a:t>
            </a:r>
          </a:p>
        </p:txBody>
      </p:sp>
      <p:sp>
        <p:nvSpPr>
          <p:cNvPr id="21" name="Keys 3-1"/>
          <p:cNvSpPr/>
          <p:nvPr/>
        </p:nvSpPr>
        <p:spPr>
          <a:xfrm>
            <a:off x="5166360" y="2093976"/>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Keys text 3-1"/>
          <p:cNvSpPr txBox="1"/>
          <p:nvPr/>
        </p:nvSpPr>
        <p:spPr>
          <a:xfrm>
            <a:off x="5257800" y="2093976"/>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Ctrl/Cmd + →</a:t>
            </a:r>
          </a:p>
        </p:txBody>
      </p:sp>
      <p:sp>
        <p:nvSpPr>
          <p:cNvPr id="23" name="Keys 3-2"/>
          <p:cNvSpPr/>
          <p:nvPr/>
        </p:nvSpPr>
        <p:spPr>
          <a:xfrm>
            <a:off x="6766560" y="2093976"/>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Keys text 3-2"/>
          <p:cNvSpPr txBox="1"/>
          <p:nvPr/>
        </p:nvSpPr>
        <p:spPr>
          <a:xfrm>
            <a:off x="6858000" y="2093976"/>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accept word by word</a:t>
            </a:r>
          </a:p>
        </p:txBody>
      </p:sp>
      <p:sp>
        <p:nvSpPr>
          <p:cNvPr id="25" name="Keys 4-1"/>
          <p:cNvSpPr/>
          <p:nvPr/>
        </p:nvSpPr>
        <p:spPr>
          <a:xfrm>
            <a:off x="5166360" y="2523744"/>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Keys text 4-1"/>
          <p:cNvSpPr txBox="1"/>
          <p:nvPr/>
        </p:nvSpPr>
        <p:spPr>
          <a:xfrm>
            <a:off x="5257800" y="2523744"/>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Esc or keep typing</a:t>
            </a:r>
          </a:p>
        </p:txBody>
      </p:sp>
      <p:sp>
        <p:nvSpPr>
          <p:cNvPr id="27" name="Keys 4-2"/>
          <p:cNvSpPr/>
          <p:nvPr/>
        </p:nvSpPr>
        <p:spPr>
          <a:xfrm>
            <a:off x="6766560" y="2523744"/>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Keys text 4-2"/>
          <p:cNvSpPr txBox="1"/>
          <p:nvPr/>
        </p:nvSpPr>
        <p:spPr>
          <a:xfrm>
            <a:off x="6858000" y="2523744"/>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ignore it</a:t>
            </a:r>
          </a:p>
        </p:txBody>
      </p:sp>
      <p:sp>
        <p:nvSpPr>
          <p:cNvPr id="29" name="Keys 5-1"/>
          <p:cNvSpPr/>
          <p:nvPr/>
        </p:nvSpPr>
        <p:spPr>
          <a:xfrm>
            <a:off x="5166360" y="2953512"/>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Keys text 5-1"/>
          <p:cNvSpPr txBox="1"/>
          <p:nvPr/>
        </p:nvSpPr>
        <p:spPr>
          <a:xfrm>
            <a:off x="5257800" y="2953512"/>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Alt/Option + \</a:t>
            </a:r>
          </a:p>
        </p:txBody>
      </p:sp>
      <p:sp>
        <p:nvSpPr>
          <p:cNvPr id="31" name="Keys 5-2"/>
          <p:cNvSpPr/>
          <p:nvPr/>
        </p:nvSpPr>
        <p:spPr>
          <a:xfrm>
            <a:off x="6766560" y="2953512"/>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Keys text 5-2"/>
          <p:cNvSpPr txBox="1"/>
          <p:nvPr/>
        </p:nvSpPr>
        <p:spPr>
          <a:xfrm>
            <a:off x="6858000" y="2953512"/>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ask for a suggestion</a:t>
            </a:r>
          </a:p>
        </p:txBody>
      </p:sp>
      <p:sp>
        <p:nvSpPr>
          <p:cNvPr id="33" name="Ghost warn box"/>
          <p:cNvSpPr/>
          <p:nvPr/>
        </p:nvSpPr>
        <p:spPr>
          <a:xfrm>
            <a:off x="457200" y="342900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Icon Ghost warn" descr=""/>
          <p:cNvPicPr>
            <a:picLocks noChangeAspect="1"/>
          </p:cNvPicPr>
          <p:nvPr/>
        </p:nvPicPr>
        <p:blipFill>
          <a:blip r:embed="rId3"/>
          <a:stretch>
            <a:fillRect/>
          </a:stretch>
        </p:blipFill>
        <p:spPr>
          <a:xfrm>
            <a:off x="658368" y="3611880"/>
            <a:ext cx="365760" cy="365760"/>
          </a:xfrm>
          <a:prstGeom prst="rect">
            <a:avLst/>
          </a:prstGeom>
        </p:spPr>
      </p:pic>
      <p:sp>
        <p:nvSpPr>
          <p:cNvPr id="35" name="Ghost warn text"/>
          <p:cNvSpPr txBox="1"/>
          <p:nvPr/>
        </p:nvSpPr>
        <p:spPr>
          <a:xfrm>
            <a:off x="1207008" y="342900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Tab is not a reflex: </a:t>
            </a:r>
            <a:r>
              <a:rPr sz="1200" b="0" lang="en-GB">
                <a:solidFill>
                  <a:schemeClr val="bg1"/>
                </a:solidFill>
              </a:rPr>
              <a:t>read the grey text first. It guesses from patterns and can pick the wrong column, file or method.</a:t>
            </a:r>
          </a:p>
        </p:txBody>
      </p:sp>
      <p:sp>
        <p:nvSpPr>
          <p:cNvPr id="36" name="Ghost where row 1"/>
          <p:cNvSpPr/>
          <p:nvPr/>
        </p:nvSpPr>
        <p:spPr>
          <a:xfrm>
            <a:off x="457200" y="42976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Ghost where bar 1"/>
          <p:cNvSpPr/>
          <p:nvPr/>
        </p:nvSpPr>
        <p:spPr>
          <a:xfrm>
            <a:off x="457200" y="42976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Ghost where text 1"/>
          <p:cNvSpPr txBox="1"/>
          <p:nvPr/>
        </p:nvSpPr>
        <p:spPr>
          <a:xfrm>
            <a:off x="658368" y="42976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Where: </a:t>
            </a:r>
            <a:r>
              <a:rPr sz="1200" b="0" lang="en-GB">
                <a:solidFill>
                  <a:schemeClr val="tx1"/>
                </a:solidFill>
              </a:rPr>
              <a:t>.py files and Quarto code cells; not in plain text or Markdown prose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Switch completions on and off</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noff body"/>
          <p:cNvSpPr/>
          <p:nvPr/>
        </p:nvSpPr>
        <p:spPr>
          <a:xfrm>
            <a:off x="457200" y="1645920"/>
            <a:ext cx="4023360" cy="1965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noff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noff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Quick: the status bar</a:t>
            </a:r>
          </a:p>
        </p:txBody>
      </p:sp>
      <p:pic>
        <p:nvPicPr>
          <p:cNvPr id="13" name="Icon Onoff" descr=""/>
          <p:cNvPicPr>
            <a:picLocks noChangeAspect="1"/>
          </p:cNvPicPr>
          <p:nvPr/>
        </p:nvPicPr>
        <p:blipFill>
          <a:blip r:embed="rId3"/>
          <a:stretch>
            <a:fillRect/>
          </a:stretch>
        </p:blipFill>
        <p:spPr>
          <a:xfrm>
            <a:off x="4041648" y="1284732"/>
            <a:ext cx="310896" cy="310896"/>
          </a:xfrm>
          <a:prstGeom prst="rect">
            <a:avLst/>
          </a:prstGeom>
        </p:spPr>
      </p:pic>
      <p:sp>
        <p:nvSpPr>
          <p:cNvPr id="14" name="Onoff text"/>
          <p:cNvSpPr txBox="1"/>
          <p:nvPr/>
        </p:nvSpPr>
        <p:spPr>
          <a:xfrm>
            <a:off x="621792" y="1783080"/>
            <a:ext cx="3721608" cy="17373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Click </a:t>
            </a:r>
            <a:r>
              <a:rPr sz="1300" b="0" lang="en-GB">
                <a:solidFill>
                  <a:schemeClr val="tx1"/>
                </a:solidFill>
              </a:rPr>
              <a:t>the Copilot icon at the bottom</a:t>
            </a:r>
          </a:p>
          <a:p>
            <a:pPr algn="l">
              <a:spcAft>
                <a:spcPts val="900"/>
              </a:spcAft>
            </a:pPr>
            <a:r>
              <a:rPr sz="1300" b="1" lang="en-GB">
                <a:solidFill>
                  <a:schemeClr val="accent1"/>
                </a:solidFill>
              </a:rPr>
              <a:t>2  </a:t>
            </a:r>
            <a:r>
              <a:rPr sz="1300" b="1" lang="en-GB">
                <a:solidFill>
                  <a:schemeClr val="tx2"/>
                </a:solidFill>
              </a:rPr>
              <a:t>Choose: </a:t>
            </a:r>
            <a:r>
              <a:rPr sz="1300" b="0" lang="en-GB">
                <a:solidFill>
                  <a:schemeClr val="tx1"/>
                </a:solidFill>
              </a:rPr>
              <a:t>off for this file type, or all files</a:t>
            </a:r>
          </a:p>
          <a:p>
            <a:pPr algn="l">
              <a:spcAft>
                <a:spcPts val="900"/>
              </a:spcAft>
            </a:pPr>
            <a:r>
              <a:rPr sz="1300" b="1" lang="en-GB">
                <a:solidFill>
                  <a:schemeClr val="accent1"/>
                </a:solidFill>
              </a:rPr>
              <a:t>3  </a:t>
            </a:r>
            <a:r>
              <a:rPr sz="1300" b="1" lang="en-GB">
                <a:solidFill>
                  <a:schemeClr val="tx2"/>
                </a:solidFill>
              </a:rPr>
              <a:t>Or: </a:t>
            </a:r>
            <a:r>
              <a:rPr sz="1300" b="0" lang="en-GB">
                <a:solidFill>
                  <a:schemeClr val="tx1"/>
                </a:solidFill>
              </a:rPr>
              <a:t>Snooze Inline Suggestions for a while</a:t>
            </a:r>
          </a:p>
        </p:txBody>
      </p:sp>
      <p:sp>
        <p:nvSpPr>
          <p:cNvPr id="15" name="Onoff json caption bar"/>
          <p:cNvSpPr/>
          <p:nvPr/>
        </p:nvSpPr>
        <p:spPr>
          <a:xfrm>
            <a:off x="4663440" y="12344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noff json caption"/>
          <p:cNvSpPr txBox="1"/>
          <p:nvPr/>
        </p:nvSpPr>
        <p:spPr>
          <a:xfrm>
            <a:off x="4773168" y="12344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settings.json: off for Python only</a:t>
            </a:r>
          </a:p>
        </p:txBody>
      </p:sp>
      <p:sp>
        <p:nvSpPr>
          <p:cNvPr id="17" name="Onoff json box"/>
          <p:cNvSpPr/>
          <p:nvPr/>
        </p:nvSpPr>
        <p:spPr>
          <a:xfrm>
            <a:off x="4663440" y="1508760"/>
            <a:ext cx="4023360" cy="21031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noff json code"/>
          <p:cNvSpPr txBox="1"/>
          <p:nvPr/>
        </p:nvSpPr>
        <p:spPr>
          <a:xfrm>
            <a:off x="4800600" y="1600200"/>
            <a:ext cx="3749040" cy="19202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"github.copilot.enable": {</a:t>
            </a:r>
          </a:p>
          <a:p>
            <a:pPr algn="l">
              <a:spcAft>
                <a:spcPts val="0"/>
              </a:spcAft>
            </a:pPr>
            <a:r>
              <a:rPr sz="1100" b="0" lang="en-GB">
                <a:solidFill>
                  <a:schemeClr val="bg1"/>
                </a:solidFill>
                <a:latin typeface="Consolas"/>
              </a:rPr>
              <a:t>  "*": true,</a:t>
            </a:r>
          </a:p>
          <a:p>
            <a:pPr algn="l">
              <a:spcAft>
                <a:spcPts val="0"/>
              </a:spcAft>
            </a:pPr>
            <a:r>
              <a:rPr sz="1100" b="0" lang="en-GB">
                <a:solidFill>
                  <a:schemeClr val="bg1"/>
                </a:solidFill>
                <a:latin typeface="Consolas"/>
              </a:rPr>
              <a:t>  "python": false,</a:t>
            </a:r>
          </a:p>
          <a:p>
            <a:pPr algn="l">
              <a:spcAft>
                <a:spcPts val="0"/>
              </a:spcAft>
            </a:pPr>
            <a:r>
              <a:rPr sz="1100" b="0" lang="en-GB">
                <a:solidFill>
                  <a:schemeClr val="bg1"/>
                </a:solidFill>
                <a:latin typeface="Consolas"/>
              </a:rPr>
              <a:t>  "markdown": false</a:t>
            </a:r>
          </a:p>
          <a:p>
            <a:pPr algn="l">
              <a:spcAft>
                <a:spcPts val="0"/>
              </a:spcAft>
            </a:pPr>
            <a:r>
              <a:rPr sz="1100" b="0" lang="en-GB">
                <a:solidFill>
                  <a:schemeClr val="bg1"/>
                </a:solidFill>
                <a:latin typeface="Consolas"/>
              </a:rPr>
              <a:t>}</a:t>
            </a:r>
          </a:p>
        </p:txBody>
      </p:sp>
      <p:sp>
        <p:nvSpPr>
          <p:cNvPr id="19" name="Onoff tip box"/>
          <p:cNvSpPr/>
          <p:nvPr/>
        </p:nvSpPr>
        <p:spPr>
          <a:xfrm>
            <a:off x="457200" y="374904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Onoff tip" descr=""/>
          <p:cNvPicPr>
            <a:picLocks noChangeAspect="1"/>
          </p:cNvPicPr>
          <p:nvPr/>
        </p:nvPicPr>
        <p:blipFill>
          <a:blip r:embed="rId4"/>
          <a:stretch>
            <a:fillRect/>
          </a:stretch>
        </p:blipFill>
        <p:spPr>
          <a:xfrm>
            <a:off x="658368" y="3931920"/>
            <a:ext cx="365760" cy="365760"/>
          </a:xfrm>
          <a:prstGeom prst="rect">
            <a:avLst/>
          </a:prstGeom>
        </p:spPr>
      </p:pic>
      <p:sp>
        <p:nvSpPr>
          <p:cNvPr id="21" name="Onoff tip text"/>
          <p:cNvSpPr txBox="1"/>
          <p:nvPr/>
        </p:nvSpPr>
        <p:spPr>
          <a:xfrm>
            <a:off x="1207008" y="374904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Learning a new method? </a:t>
            </a:r>
            <a:r>
              <a:rPr sz="1200" b="0" lang="en-GB">
                <a:solidFill>
                  <a:schemeClr val="bg1"/>
                </a:solidFill>
              </a:rPr>
              <a:t>turn completions off while you practise; switch them on when you work on the case study.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11 of 12 · good prompts, checking results, data protection and course rules</a:t>
            </a:r>
          </a:p>
        </p:txBody>
      </p:sp>
      <p:sp>
        <p:nvSpPr>
          <p:cNvPr id="3" name="Title 2"/>
          <p:cNvSpPr>
            <a:spLocks noGrp="1"/>
          </p:cNvSpPr>
          <p:nvPr>
            <p:ph type="ctrTitle"/>
          </p:nvPr>
        </p:nvSpPr>
        <p:spPr/>
        <p:txBody>
          <a:bodyPr/>
          <a:lstStyle/>
          <a:p>
            <a:r>
              <a:rPr sz="1600" lang="en-GB"/>
              <a:t>Use it well</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Prompts that work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eak card body"/>
          <p:cNvSpPr/>
          <p:nvPr/>
        </p:nvSpPr>
        <p:spPr>
          <a:xfrm>
            <a:off x="457200" y="1645920"/>
            <a:ext cx="404622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Weak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eak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Weak</a:t>
            </a:r>
          </a:p>
        </p:txBody>
      </p:sp>
      <p:pic>
        <p:nvPicPr>
          <p:cNvPr id="13" name="Icon Weak card" descr=""/>
          <p:cNvPicPr>
            <a:picLocks noChangeAspect="1"/>
          </p:cNvPicPr>
          <p:nvPr/>
        </p:nvPicPr>
        <p:blipFill>
          <a:blip r:embed="rId3"/>
          <a:stretch>
            <a:fillRect/>
          </a:stretch>
        </p:blipFill>
        <p:spPr>
          <a:xfrm>
            <a:off x="4064508" y="1284732"/>
            <a:ext cx="310896" cy="310896"/>
          </a:xfrm>
          <a:prstGeom prst="rect">
            <a:avLst/>
          </a:prstGeom>
        </p:spPr>
      </p:pic>
      <p:sp>
        <p:nvSpPr>
          <p:cNvPr id="14" name="Weak card text"/>
          <p:cNvSpPr txBox="1"/>
          <p:nvPr/>
        </p:nvSpPr>
        <p:spPr>
          <a:xfrm>
            <a:off x="621792" y="1783080"/>
            <a:ext cx="3744468" cy="822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“Analyse my data.”</a:t>
            </a:r>
          </a:p>
          <a:p>
            <a:pPr algn="l" marL="182880" indent="-182880">
              <a:spcAft>
                <a:spcPts val="600"/>
              </a:spcAft>
              <a:buClr>
                <a:schemeClr val="accent1"/>
              </a:buClr>
              <a:buFont typeface="Arial"/>
              <a:buChar char="▪"/>
            </a:pPr>
            <a:r>
              <a:rPr sz="1300" b="0" lang="en-GB">
                <a:solidFill>
                  <a:schemeClr val="tx1"/>
                </a:solidFill>
              </a:rPr>
              <a:t>“Make a chart.”</a:t>
            </a:r>
          </a:p>
        </p:txBody>
      </p:sp>
      <p:sp>
        <p:nvSpPr>
          <p:cNvPr id="15" name="Strong card body"/>
          <p:cNvSpPr/>
          <p:nvPr/>
        </p:nvSpPr>
        <p:spPr>
          <a:xfrm>
            <a:off x="4640580" y="1645920"/>
            <a:ext cx="404622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trong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trong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Strong</a:t>
            </a:r>
          </a:p>
        </p:txBody>
      </p:sp>
      <p:pic>
        <p:nvPicPr>
          <p:cNvPr id="18" name="Icon Strong card" descr=""/>
          <p:cNvPicPr>
            <a:picLocks noChangeAspect="1"/>
          </p:cNvPicPr>
          <p:nvPr/>
        </p:nvPicPr>
        <p:blipFill>
          <a:blip r:embed="rId4"/>
          <a:stretch>
            <a:fillRect/>
          </a:stretch>
        </p:blipFill>
        <p:spPr>
          <a:xfrm>
            <a:off x="8247888" y="1284732"/>
            <a:ext cx="310896" cy="310896"/>
          </a:xfrm>
          <a:prstGeom prst="rect">
            <a:avLst/>
          </a:prstGeom>
        </p:spPr>
      </p:pic>
      <p:sp>
        <p:nvSpPr>
          <p:cNvPr id="19" name="Strong card text"/>
          <p:cNvSpPr txBox="1"/>
          <p:nvPr/>
        </p:nvSpPr>
        <p:spPr>
          <a:xfrm>
            <a:off x="4805172" y="1783080"/>
            <a:ext cx="3744468" cy="822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“Use polars to read data/case/orders.csv and plot weekly orders by country with plotnine.”</a:t>
            </a:r>
          </a:p>
        </p:txBody>
      </p:sp>
      <p:sp>
        <p:nvSpPr>
          <p:cNvPr id="20" name="Prompt tips row 1"/>
          <p:cNvSpPr/>
          <p:nvPr/>
        </p:nvSpPr>
        <p:spPr>
          <a:xfrm>
            <a:off x="457200" y="288036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rompt tips number 1"/>
          <p:cNvSpPr/>
          <p:nvPr/>
        </p:nvSpPr>
        <p:spPr>
          <a:xfrm>
            <a:off x="594360" y="29535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22" name="Prompt tips text 1"/>
          <p:cNvSpPr txBox="1"/>
          <p:nvPr/>
        </p:nvSpPr>
        <p:spPr>
          <a:xfrm>
            <a:off x="1051560" y="2880360"/>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Name the file, the packages and the output </a:t>
            </a:r>
            <a:r>
              <a:rPr sz="1200" b="0" lang="en-GB">
                <a:solidFill>
                  <a:schemeClr val="tx1"/>
                </a:solidFill>
              </a:rPr>
              <a:t>you want</a:t>
            </a:r>
          </a:p>
        </p:txBody>
      </p:sp>
      <p:sp>
        <p:nvSpPr>
          <p:cNvPr id="23" name="Prompt tips row 2"/>
          <p:cNvSpPr/>
          <p:nvPr/>
        </p:nvSpPr>
        <p:spPr>
          <a:xfrm>
            <a:off x="457200" y="340156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ompt tips number 2"/>
          <p:cNvSpPr/>
          <p:nvPr/>
        </p:nvSpPr>
        <p:spPr>
          <a:xfrm>
            <a:off x="594360" y="347472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5" name="Prompt tips text 2"/>
          <p:cNvSpPr txBox="1"/>
          <p:nvPr/>
        </p:nvSpPr>
        <p:spPr>
          <a:xfrm>
            <a:off x="1051560" y="3401568"/>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Say polars </a:t>
            </a:r>
            <a:r>
              <a:rPr sz="1200" b="0" lang="en-GB">
                <a:solidFill>
                  <a:schemeClr val="tx1"/>
                </a:solidFill>
              </a:rPr>
              <a:t>explicitly: the assistant often defaults to pandas</a:t>
            </a:r>
          </a:p>
        </p:txBody>
      </p:sp>
      <p:sp>
        <p:nvSpPr>
          <p:cNvPr id="26" name="Prompt tips row 3"/>
          <p:cNvSpPr/>
          <p:nvPr/>
        </p:nvSpPr>
        <p:spPr>
          <a:xfrm>
            <a:off x="457200" y="392277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rompt tips number 3"/>
          <p:cNvSpPr/>
          <p:nvPr/>
        </p:nvSpPr>
        <p:spPr>
          <a:xfrm>
            <a:off x="594360" y="399592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8" name="Prompt tips text 3"/>
          <p:cNvSpPr txBox="1"/>
          <p:nvPr/>
        </p:nvSpPr>
        <p:spPr>
          <a:xfrm>
            <a:off x="1051560" y="3922776"/>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Ask it to explain </a:t>
            </a:r>
            <a:r>
              <a:rPr sz="1200" b="0" lang="en-GB">
                <a:solidFill>
                  <a:schemeClr val="tx1"/>
                </a:solidFill>
              </a:rPr>
              <a:t>each step, or the assumptions of a model</a:t>
            </a:r>
          </a:p>
        </p:txBody>
      </p:sp>
      <p:sp>
        <p:nvSpPr>
          <p:cNvPr id="29" name="Prompt tips row 4"/>
          <p:cNvSpPr/>
          <p:nvPr/>
        </p:nvSpPr>
        <p:spPr>
          <a:xfrm>
            <a:off x="457200" y="444398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Prompt tips number 4"/>
          <p:cNvSpPr/>
          <p:nvPr/>
        </p:nvSpPr>
        <p:spPr>
          <a:xfrm>
            <a:off x="594360" y="4517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31" name="Prompt tips text 4"/>
          <p:cNvSpPr txBox="1"/>
          <p:nvPr/>
        </p:nvSpPr>
        <p:spPr>
          <a:xfrm>
            <a:off x="1051560" y="4443984"/>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One topic per chat: </a:t>
            </a:r>
            <a:r>
              <a:rPr sz="1200" b="0" lang="en-GB">
                <a:solidFill>
                  <a:schemeClr val="tx1"/>
                </a:solidFill>
              </a:rPr>
              <a:t>/new for the next one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 everything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k 1 body"/>
          <p:cNvSpPr/>
          <p:nvPr/>
        </p:nvSpPr>
        <p:spPr>
          <a:xfrm>
            <a:off x="457200" y="164592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k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hk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Run it</a:t>
            </a:r>
          </a:p>
        </p:txBody>
      </p:sp>
      <p:pic>
        <p:nvPicPr>
          <p:cNvPr id="13" name="Icon Chk 1" descr=""/>
          <p:cNvPicPr>
            <a:picLocks noChangeAspect="1"/>
          </p:cNvPicPr>
          <p:nvPr/>
        </p:nvPicPr>
        <p:blipFill>
          <a:blip r:embed="rId3"/>
          <a:stretch>
            <a:fillRect/>
          </a:stretch>
        </p:blipFill>
        <p:spPr>
          <a:xfrm>
            <a:off x="2670048" y="1284732"/>
            <a:ext cx="310896" cy="310896"/>
          </a:xfrm>
          <a:prstGeom prst="rect">
            <a:avLst/>
          </a:prstGeom>
        </p:spPr>
      </p:pic>
      <p:sp>
        <p:nvSpPr>
          <p:cNvPr id="14" name="Chk 1 text"/>
          <p:cNvSpPr txBox="1"/>
          <p:nvPr/>
        </p:nvSpPr>
        <p:spPr>
          <a:xfrm>
            <a:off x="621792" y="1783080"/>
            <a:ext cx="2350008" cy="13258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Run the code yourself</a:t>
            </a:r>
          </a:p>
          <a:p>
            <a:pPr algn="l" marL="182880" indent="-182880">
              <a:spcAft>
                <a:spcPts val="600"/>
              </a:spcAft>
              <a:buClr>
                <a:schemeClr val="accent1"/>
              </a:buClr>
              <a:buFont typeface="Arial"/>
              <a:buChar char="▪"/>
            </a:pPr>
            <a:r>
              <a:rPr sz="1300" b="0" lang="en-GB">
                <a:solidFill>
                  <a:schemeClr val="tx1"/>
                </a:solidFill>
              </a:rPr>
              <a:t>Does it render from top to bottom?</a:t>
            </a:r>
          </a:p>
        </p:txBody>
      </p:sp>
      <p:sp>
        <p:nvSpPr>
          <p:cNvPr id="15" name="Chk 2 body"/>
          <p:cNvSpPr/>
          <p:nvPr/>
        </p:nvSpPr>
        <p:spPr>
          <a:xfrm>
            <a:off x="3246120" y="164592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hk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k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Compare</a:t>
            </a:r>
          </a:p>
        </p:txBody>
      </p:sp>
      <p:pic>
        <p:nvPicPr>
          <p:cNvPr id="18" name="Icon Chk 2" descr=""/>
          <p:cNvPicPr>
            <a:picLocks noChangeAspect="1"/>
          </p:cNvPicPr>
          <p:nvPr/>
        </p:nvPicPr>
        <p:blipFill>
          <a:blip r:embed="rId4"/>
          <a:stretch>
            <a:fillRect/>
          </a:stretch>
        </p:blipFill>
        <p:spPr>
          <a:xfrm>
            <a:off x="5458968" y="1284732"/>
            <a:ext cx="310896" cy="310896"/>
          </a:xfrm>
          <a:prstGeom prst="rect">
            <a:avLst/>
          </a:prstGeom>
        </p:spPr>
      </p:pic>
      <p:sp>
        <p:nvSpPr>
          <p:cNvPr id="19" name="Chk 2 text"/>
          <p:cNvSpPr txBox="1"/>
          <p:nvPr/>
        </p:nvSpPr>
        <p:spPr>
          <a:xfrm>
            <a:off x="3410712" y="1783080"/>
            <a:ext cx="2350008" cy="13258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Numbers against the output</a:t>
            </a:r>
          </a:p>
          <a:p>
            <a:pPr algn="l" marL="182880" indent="-182880">
              <a:spcAft>
                <a:spcPts val="600"/>
              </a:spcAft>
              <a:buClr>
                <a:schemeClr val="accent1"/>
              </a:buClr>
              <a:buFont typeface="Arial"/>
              <a:buChar char="▪"/>
            </a:pPr>
            <a:r>
              <a:rPr sz="1300" b="0" lang="en-GB">
                <a:solidFill>
                  <a:schemeClr val="tx1"/>
                </a:solidFill>
              </a:rPr>
              <a:t>Columns against the data</a:t>
            </a:r>
          </a:p>
        </p:txBody>
      </p:sp>
      <p:sp>
        <p:nvSpPr>
          <p:cNvPr id="20" name="Chk 3 body"/>
          <p:cNvSpPr/>
          <p:nvPr/>
        </p:nvSpPr>
        <p:spPr>
          <a:xfrm>
            <a:off x="6035040" y="164592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hk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hk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Understand</a:t>
            </a:r>
          </a:p>
        </p:txBody>
      </p:sp>
      <p:pic>
        <p:nvPicPr>
          <p:cNvPr id="23" name="Icon Chk 3" descr=""/>
          <p:cNvPicPr>
            <a:picLocks noChangeAspect="1"/>
          </p:cNvPicPr>
          <p:nvPr/>
        </p:nvPicPr>
        <p:blipFill>
          <a:blip r:embed="rId5"/>
          <a:stretch>
            <a:fillRect/>
          </a:stretch>
        </p:blipFill>
        <p:spPr>
          <a:xfrm>
            <a:off x="8247888" y="1284732"/>
            <a:ext cx="310896" cy="310896"/>
          </a:xfrm>
          <a:prstGeom prst="rect">
            <a:avLst/>
          </a:prstGeom>
        </p:spPr>
      </p:pic>
      <p:sp>
        <p:nvSpPr>
          <p:cNvPr id="24" name="Chk 3 text"/>
          <p:cNvSpPr txBox="1"/>
          <p:nvPr/>
        </p:nvSpPr>
        <p:spPr>
          <a:xfrm>
            <a:off x="6199632" y="1783080"/>
            <a:ext cx="2350008" cy="13258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Can you explain each line?</a:t>
            </a:r>
          </a:p>
          <a:p>
            <a:pPr algn="l" marL="182880" indent="-182880">
              <a:spcAft>
                <a:spcPts val="600"/>
              </a:spcAft>
              <a:buClr>
                <a:schemeClr val="accent1"/>
              </a:buClr>
              <a:buFont typeface="Arial"/>
              <a:buChar char="▪"/>
            </a:pPr>
            <a:r>
              <a:rPr sz="1300" b="0" lang="en-GB">
                <a:solidFill>
                  <a:schemeClr val="tx1"/>
                </a:solidFill>
              </a:rPr>
              <a:t>Is it the method we learned?</a:t>
            </a:r>
          </a:p>
        </p:txBody>
      </p:sp>
      <p:sp>
        <p:nvSpPr>
          <p:cNvPr id="25" name="Chk rows row 1"/>
          <p:cNvSpPr/>
          <p:nvPr/>
        </p:nvSpPr>
        <p:spPr>
          <a:xfrm>
            <a:off x="457200" y="33832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k rows bar 1"/>
          <p:cNvSpPr/>
          <p:nvPr/>
        </p:nvSpPr>
        <p:spPr>
          <a:xfrm>
            <a:off x="457200" y="33832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k rows text 1"/>
          <p:cNvSpPr txBox="1"/>
          <p:nvPr/>
        </p:nvSpPr>
        <p:spPr>
          <a:xfrm>
            <a:off x="658368" y="33832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Typical slips: </a:t>
            </a:r>
            <a:r>
              <a:rPr sz="1200" b="0" lang="en-GB">
                <a:solidFill>
                  <a:schemeClr val="tx1"/>
                </a:solidFill>
              </a:rPr>
              <a:t>pandas instead of polars, a wrong column, the wrong test, invented numbers</a:t>
            </a:r>
          </a:p>
        </p:txBody>
      </p:sp>
      <p:sp>
        <p:nvSpPr>
          <p:cNvPr id="28" name="Chk rows row 2"/>
          <p:cNvSpPr/>
          <p:nvPr/>
        </p:nvSpPr>
        <p:spPr>
          <a:xfrm>
            <a:off x="457200" y="39044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hk rows bar 2"/>
          <p:cNvSpPr/>
          <p:nvPr/>
        </p:nvSpPr>
        <p:spPr>
          <a:xfrm>
            <a:off x="457200" y="39044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hk rows text 2"/>
          <p:cNvSpPr txBox="1"/>
          <p:nvPr/>
        </p:nvSpPr>
        <p:spPr>
          <a:xfrm>
            <a:off x="658368" y="39044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Numbers in text: </a:t>
            </a:r>
            <a:r>
              <a:rPr sz="1200" b="0" lang="en-GB">
                <a:solidFill>
                  <a:schemeClr val="tx1"/>
                </a:solidFill>
              </a:rPr>
              <a:t>always from inline code, never typed from the chat</a:t>
            </a:r>
          </a:p>
        </p:txBody>
      </p:sp>
      <p:sp>
        <p:nvSpPr>
          <p:cNvPr id="31" name="Chk own box"/>
          <p:cNvSpPr/>
          <p:nvPr/>
        </p:nvSpPr>
        <p:spPr>
          <a:xfrm>
            <a:off x="457200" y="44805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Chk own" descr=""/>
          <p:cNvPicPr>
            <a:picLocks noChangeAspect="1"/>
          </p:cNvPicPr>
          <p:nvPr/>
        </p:nvPicPr>
        <p:blipFill>
          <a:blip r:embed="rId6"/>
          <a:stretch>
            <a:fillRect/>
          </a:stretch>
        </p:blipFill>
        <p:spPr>
          <a:xfrm>
            <a:off x="658368" y="4572000"/>
            <a:ext cx="365760" cy="365760"/>
          </a:xfrm>
          <a:prstGeom prst="rect">
            <a:avLst/>
          </a:prstGeom>
        </p:spPr>
      </p:pic>
      <p:sp>
        <p:nvSpPr>
          <p:cNvPr id="33" name="Chk own text"/>
          <p:cNvSpPr txBox="1"/>
          <p:nvPr/>
        </p:nvSpPr>
        <p:spPr>
          <a:xfrm>
            <a:off x="1207008" y="448056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You own every number: </a:t>
            </a:r>
            <a:r>
              <a:rPr sz="1200" b="0" lang="en-GB">
                <a:solidFill>
                  <a:schemeClr val="bg1"/>
                </a:solidFill>
              </a:rPr>
              <a:t>the assistant cannot be blamed in a report or an exam.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Data protection and course rules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ever card body"/>
          <p:cNvSpPr/>
          <p:nvPr/>
        </p:nvSpPr>
        <p:spPr>
          <a:xfrm>
            <a:off x="45720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ever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Never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Never in a prompt</a:t>
            </a:r>
          </a:p>
        </p:txBody>
      </p:sp>
      <p:pic>
        <p:nvPicPr>
          <p:cNvPr id="13" name="Icon Never card" descr=""/>
          <p:cNvPicPr>
            <a:picLocks noChangeAspect="1"/>
          </p:cNvPicPr>
          <p:nvPr/>
        </p:nvPicPr>
        <p:blipFill>
          <a:blip r:embed="rId3"/>
          <a:stretch>
            <a:fillRect/>
          </a:stretch>
        </p:blipFill>
        <p:spPr>
          <a:xfrm>
            <a:off x="4064508" y="1284732"/>
            <a:ext cx="310896" cy="310896"/>
          </a:xfrm>
          <a:prstGeom prst="rect">
            <a:avLst/>
          </a:prstGeom>
        </p:spPr>
      </p:pic>
      <p:sp>
        <p:nvSpPr>
          <p:cNvPr id="14" name="Never card text"/>
          <p:cNvSpPr txBox="1"/>
          <p:nvPr/>
        </p:nvSpPr>
        <p:spPr>
          <a:xfrm>
            <a:off x="62179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Names, e-mails, student or customer IDs</a:t>
            </a:r>
          </a:p>
          <a:p>
            <a:pPr algn="l" marL="182880" indent="-182880">
              <a:spcAft>
                <a:spcPts val="600"/>
              </a:spcAft>
              <a:buClr>
                <a:schemeClr val="accent1"/>
              </a:buClr>
              <a:buFont typeface="Arial"/>
              <a:buChar char="▪"/>
            </a:pPr>
            <a:r>
              <a:rPr sz="1300" b="0" lang="en-GB">
                <a:solidFill>
                  <a:schemeClr val="tx1"/>
                </a:solidFill>
              </a:rPr>
              <a:t>Passwords, API keys</a:t>
            </a:r>
          </a:p>
          <a:p>
            <a:pPr algn="l" marL="182880" indent="-182880">
              <a:spcAft>
                <a:spcPts val="600"/>
              </a:spcAft>
              <a:buClr>
                <a:schemeClr val="accent1"/>
              </a:buClr>
              <a:buFont typeface="Arial"/>
              <a:buChar char="▪"/>
            </a:pPr>
            <a:r>
              <a:rPr sz="1300" b="0" lang="en-GB">
                <a:solidFill>
                  <a:schemeClr val="tx1"/>
                </a:solidFill>
              </a:rPr>
              <a:t>Confidential or licensed data</a:t>
            </a:r>
          </a:p>
          <a:p>
            <a:pPr algn="l" marL="182880" indent="-182880">
              <a:spcAft>
                <a:spcPts val="600"/>
              </a:spcAft>
              <a:buClr>
                <a:schemeClr val="accent1"/>
              </a:buClr>
              <a:buFont typeface="Arial"/>
              <a:buChar char="▪"/>
            </a:pPr>
            <a:r>
              <a:rPr sz="1300" b="0" lang="en-GB">
                <a:solidFill>
                  <a:schemeClr val="tx1"/>
                </a:solidFill>
              </a:rPr>
              <a:t>Other students' work</a:t>
            </a:r>
          </a:p>
        </p:txBody>
      </p:sp>
      <p:sp>
        <p:nvSpPr>
          <p:cNvPr id="15" name="Rules card body"/>
          <p:cNvSpPr/>
          <p:nvPr/>
        </p:nvSpPr>
        <p:spPr>
          <a:xfrm>
            <a:off x="464058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ules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ules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Course rules</a:t>
            </a:r>
          </a:p>
        </p:txBody>
      </p:sp>
      <p:pic>
        <p:nvPicPr>
          <p:cNvPr id="18" name="Icon Rules card" descr=""/>
          <p:cNvPicPr>
            <a:picLocks noChangeAspect="1"/>
          </p:cNvPicPr>
          <p:nvPr/>
        </p:nvPicPr>
        <p:blipFill>
          <a:blip r:embed="rId4"/>
          <a:stretch>
            <a:fillRect/>
          </a:stretch>
        </p:blipFill>
        <p:spPr>
          <a:xfrm>
            <a:off x="8247888" y="1284732"/>
            <a:ext cx="310896" cy="310896"/>
          </a:xfrm>
          <a:prstGeom prst="rect">
            <a:avLst/>
          </a:prstGeom>
        </p:spPr>
      </p:pic>
      <p:sp>
        <p:nvSpPr>
          <p:cNvPr id="19" name="Rules card text"/>
          <p:cNvSpPr txBox="1"/>
          <p:nvPr/>
        </p:nvSpPr>
        <p:spPr>
          <a:xfrm>
            <a:off x="480517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AI use is allowed and encouraged</a:t>
            </a:r>
          </a:p>
          <a:p>
            <a:pPr algn="l" marL="182880" indent="-182880">
              <a:spcAft>
                <a:spcPts val="600"/>
              </a:spcAft>
              <a:buClr>
                <a:schemeClr val="accent1"/>
              </a:buClr>
              <a:buFont typeface="Arial"/>
              <a:buChar char="▪"/>
            </a:pPr>
            <a:r>
              <a:rPr sz="1300" b="0" lang="en-GB">
                <a:solidFill>
                  <a:schemeClr val="tx1"/>
                </a:solidFill>
              </a:rPr>
              <a:t>Prompt log: exercises and case study appendix</a:t>
            </a:r>
          </a:p>
          <a:p>
            <a:pPr algn="l" marL="182880" indent="-182880">
              <a:spcAft>
                <a:spcPts val="600"/>
              </a:spcAft>
              <a:buClr>
                <a:schemeClr val="accent1"/>
              </a:buClr>
              <a:buFont typeface="Arial"/>
              <a:buChar char="▪"/>
            </a:pPr>
            <a:r>
              <a:rPr sz="1300" b="0" lang="en-GB">
                <a:solidFill>
                  <a:schemeClr val="tx1"/>
                </a:solidFill>
              </a:rPr>
              <a:t>You verify and own every result</a:t>
            </a:r>
          </a:p>
          <a:p>
            <a:pPr algn="l" marL="182880" indent="-182880">
              <a:spcAft>
                <a:spcPts val="600"/>
              </a:spcAft>
              <a:buClr>
                <a:schemeClr val="accent1"/>
              </a:buClr>
              <a:buFont typeface="Arial"/>
              <a:buChar char="▪"/>
            </a:pPr>
            <a:r>
              <a:rPr sz="1300" b="0" lang="en-GB">
                <a:solidFill>
                  <a:schemeClr val="tx1"/>
                </a:solidFill>
              </a:rPr>
              <a:t>Exam: closed book, no AI</a:t>
            </a:r>
          </a:p>
        </p:txBody>
      </p:sp>
      <p:sp>
        <p:nvSpPr>
          <p:cNvPr id="20" name="Rules log box"/>
          <p:cNvSpPr/>
          <p:nvPr/>
        </p:nvSpPr>
        <p:spPr>
          <a:xfrm>
            <a:off x="457200" y="393192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Rules log" descr=""/>
          <p:cNvPicPr>
            <a:picLocks noChangeAspect="1"/>
          </p:cNvPicPr>
          <p:nvPr/>
        </p:nvPicPr>
        <p:blipFill>
          <a:blip r:embed="rId5"/>
          <a:stretch>
            <a:fillRect/>
          </a:stretch>
        </p:blipFill>
        <p:spPr>
          <a:xfrm>
            <a:off x="658368" y="4137660"/>
            <a:ext cx="365760" cy="365760"/>
          </a:xfrm>
          <a:prstGeom prst="rect">
            <a:avLst/>
          </a:prstGeom>
        </p:spPr>
      </p:pic>
      <p:sp>
        <p:nvSpPr>
          <p:cNvPr id="22" name="Rules log text"/>
          <p:cNvSpPr txBox="1"/>
          <p:nvPr/>
        </p:nvSpPr>
        <p:spPr>
          <a:xfrm>
            <a:off x="1207008" y="393192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Prompt log: </a:t>
            </a:r>
            <a:r>
              <a:rPr sz="1200" b="0" lang="en-GB">
                <a:solidFill>
                  <a:schemeClr val="bg1"/>
                </a:solidFill>
              </a:rPr>
              <a:t>copy the prompts that produced non-trivial code, and note what you kept or changed.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12 of 12 · common problems, outdated instructions, checklist</a:t>
            </a:r>
          </a:p>
        </p:txBody>
      </p:sp>
      <p:sp>
        <p:nvSpPr>
          <p:cNvPr id="3" name="Title 2"/>
          <p:cNvSpPr>
            <a:spLocks noGrp="1"/>
          </p:cNvSpPr>
          <p:nvPr>
            <p:ph type="ctrTitle"/>
          </p:nvPr>
        </p:nvSpPr>
        <p:spPr/>
        <p:txBody>
          <a:bodyPr/>
          <a:lstStyle/>
          <a:p>
            <a:r>
              <a:rPr sz="1600" lang="en-GB"/>
              <a:t>Fix problems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rouble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3017520"/>
                <a:gridCol w="5212080"/>
              </a:tblGrid>
              <a:tr h="370840">
                <a:tc>
                  <a:txBody>
                    <a:bodyPr/>
                    <a:lstStyle/>
                    <a:p>
                      <a:r>
                        <a:rPr sz="1300" lang="en-GB"/>
                        <a:t>Problem</a:t>
                      </a:r>
                    </a:p>
                  </a:txBody>
                  <a:tcPr marT="45000" marB="45000"/>
                </a:tc>
                <a:tc>
                  <a:txBody>
                    <a:bodyPr/>
                    <a:lstStyle/>
                    <a:p>
                      <a:r>
                        <a:rPr sz="1300" lang="en-GB"/>
                        <a:t>Fix</a:t>
                      </a:r>
                    </a:p>
                  </a:txBody>
                  <a:tcPr marT="45000" marB="45000"/>
                </a:tc>
              </a:tr>
              <a:tr h="370840">
                <a:tc>
                  <a:txBody>
                    <a:bodyPr/>
                    <a:lstStyle/>
                    <a:p>
                      <a:r>
                        <a:rPr sz="1150" b="1" lang="en-GB"/>
                        <a:t>No Posit Assistant</a:t>
                      </a:r>
                    </a:p>
                  </a:txBody>
                  <a:tcPr marT="45000" marB="45000"/>
                </a:tc>
                <a:tc>
                  <a:txBody>
                    <a:bodyPr/>
                    <a:lstStyle/>
                    <a:p>
                      <a:r>
                        <a:rPr sz="1150" lang="en-GB"/>
                        <a:t>Update Positron (2026.07+); trust the folder; View: Show Posit Assistant</a:t>
                      </a:r>
                    </a:p>
                  </a:txBody>
                  <a:tcPr marT="45000" marB="45000"/>
                </a:tc>
              </a:tr>
              <a:tr h="370840">
                <a:tc>
                  <a:txBody>
                    <a:bodyPr/>
                    <a:lstStyle/>
                    <a:p>
                      <a:r>
                        <a:rPr sz="1150" b="1" lang="en-GB"/>
                        <a:t>Signed in to GitHub, no Copilot</a:t>
                      </a:r>
                    </a:p>
                  </a:txBody>
                  <a:tcPr marT="45000" marB="45000"/>
                </a:tc>
                <a:tc>
                  <a:txBody>
                    <a:bodyPr/>
                    <a:lstStyle/>
                    <a:p>
                      <a:r>
                        <a:rPr sz="1150" lang="en-GB"/>
                        <a:t>Configure Language Model Providers → GitHub Copilot</a:t>
                      </a:r>
                    </a:p>
                  </a:txBody>
                  <a:tcPr marT="45000" marB="45000"/>
                </a:tc>
              </a:tr>
              <a:tr h="370840">
                <a:tc>
                  <a:txBody>
                    <a:bodyPr/>
                    <a:lstStyle/>
                    <a:p>
                      <a:r>
                        <a:rPr sz="1150" b="1" lang="en-GB"/>
                        <a:t>No ghost text</a:t>
                      </a:r>
                    </a:p>
                  </a:txBody>
                  <a:tcPr marT="45000" marB="45000"/>
                </a:tc>
                <a:tc>
                  <a:txBody>
                    <a:bodyPr/>
                    <a:lstStyle/>
                    <a:p>
                      <a:r>
                        <a:rPr sz="1150" lang="en-GB"/>
                        <a:t>status-bar icon: not snoozed or off; file is .py or a code cell</a:t>
                      </a:r>
                    </a:p>
                  </a:txBody>
                  <a:tcPr marT="45000" marB="45000"/>
                </a:tc>
              </a:tr>
              <a:tr h="370840">
                <a:tc>
                  <a:txBody>
                    <a:bodyPr/>
                    <a:lstStyle/>
                    <a:p>
                      <a:r>
                        <a:rPr sz="1150" b="1" lang="en-GB"/>
                        <a:t>Usage limit reached</a:t>
                      </a:r>
                    </a:p>
                  </a:txBody>
                  <a:tcPr marT="45000" marB="45000"/>
                </a:tc>
                <a:tc>
                  <a:txBody>
                    <a:bodyPr/>
                    <a:lstStyle/>
                    <a:p>
                      <a:r>
                        <a:rPr sz="1150" lang="en-GB"/>
                        <a:t>wait until the 1st; activate Copilot Student</a:t>
                      </a:r>
                    </a:p>
                  </a:txBody>
                  <a:tcPr marT="45000" marB="45000"/>
                </a:tc>
              </a:tr>
              <a:tr h="370840">
                <a:tc>
                  <a:txBody>
                    <a:bodyPr/>
                    <a:lstStyle/>
                    <a:p>
                      <a:r>
                        <a:rPr sz="1150" b="1" lang="en-GB"/>
                        <a:t>Paid checkout on github.com</a:t>
                      </a:r>
                    </a:p>
                  </a:txBody>
                  <a:tcPr marT="45000" marB="45000"/>
                </a:tc>
                <a:tc>
                  <a:txBody>
                    <a:bodyPr/>
                    <a:lstStyle/>
                    <a:p>
                      <a:r>
                        <a:rPr sz="1150" lang="en-GB"/>
                        <a:t>do not pay; wait a few days, try github.com/settings/copilot</a:t>
                      </a:r>
                    </a:p>
                  </a:txBody>
                  <a:tcPr marT="45000" marB="45000"/>
                </a:tc>
              </a:tr>
              <a:tr h="370840">
                <a:tc>
                  <a:txBody>
                    <a:bodyPr/>
                    <a:lstStyle/>
                    <a:p>
                      <a:r>
                        <a:rPr sz="1150" b="1" lang="en-GB"/>
                        <a:t>Odd answers</a:t>
                      </a:r>
                    </a:p>
                  </a:txBody>
                  <a:tcPr marT="45000" marB="45000"/>
                </a:tc>
                <a:tc>
                  <a:txBody>
                    <a:bodyPr/>
                    <a:lstStyle/>
                    <a:p>
                      <a:r>
                        <a:rPr sz="1150" lang="en-GB"/>
                        <a:t>add context (files, packages), or start again with /new</a:t>
                      </a:r>
                    </a:p>
                  </a:txBody>
                  <a:tcPr marT="45000" marB="45000"/>
                </a:tc>
              </a:tr>
            </a:tbl>
          </a:graphicData>
        </a:graphic>
      </p:graphicFrame>
      <p:sp>
        <p:nvSpPr>
          <p:cNvPr id="3" name="Title 2"/>
          <p:cNvSpPr>
            <a:spLocks noGrp="1"/>
          </p:cNvSpPr>
          <p:nvPr>
            <p:ph type="title"/>
          </p:nvPr>
        </p:nvSpPr>
        <p:spPr/>
        <p:txBody>
          <a:bodyPr/>
          <a:lstStyle/>
          <a:p>
            <a:r>
              <a:rPr sz="1600" lang="en-GB"/>
              <a:t>When Copilot does not work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ouble diag box"/>
          <p:cNvSpPr/>
          <p:nvPr/>
        </p:nvSpPr>
        <p:spPr>
          <a:xfrm>
            <a:off x="457200" y="434340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ouble diag" descr=""/>
          <p:cNvPicPr>
            <a:picLocks noChangeAspect="1"/>
          </p:cNvPicPr>
          <p:nvPr/>
        </p:nvPicPr>
        <p:blipFill>
          <a:blip r:embed="rId3"/>
          <a:stretch>
            <a:fillRect/>
          </a:stretch>
        </p:blipFill>
        <p:spPr>
          <a:xfrm>
            <a:off x="658368" y="4434840"/>
            <a:ext cx="365760" cy="365760"/>
          </a:xfrm>
          <a:prstGeom prst="rect">
            <a:avLst/>
          </a:prstGeom>
        </p:spPr>
      </p:pic>
      <p:sp>
        <p:nvSpPr>
          <p:cNvPr id="12" name="Trouble diag text"/>
          <p:cNvSpPr txBox="1"/>
          <p:nvPr/>
        </p:nvSpPr>
        <p:spPr>
          <a:xfrm>
            <a:off x="1207008" y="434340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Diagnose: </a:t>
            </a:r>
            <a:r>
              <a:rPr sz="1200" b="0" lang="en-GB">
                <a:solidFill>
                  <a:schemeClr val="tx1"/>
                </a:solidFill>
              </a:rPr>
              <a:t>Command Palette → AI: Create Diagnostic Report.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Old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931920"/>
                <a:gridCol w="4297680"/>
              </a:tblGrid>
              <a:tr h="370840">
                <a:tc>
                  <a:txBody>
                    <a:bodyPr/>
                    <a:lstStyle/>
                    <a:p>
                      <a:r>
                        <a:rPr sz="1300" lang="en-GB"/>
                        <a:t>If a guide says</a:t>
                      </a:r>
                    </a:p>
                  </a:txBody>
                  <a:tcPr marT="55000" marB="55000"/>
                </a:tc>
                <a:tc>
                  <a:txBody>
                    <a:bodyPr/>
                    <a:lstStyle/>
                    <a:p>
                      <a:r>
                        <a:rPr sz="1300" lang="en-GB"/>
                        <a:t>Use now</a:t>
                      </a:r>
                    </a:p>
                  </a:txBody>
                  <a:tcPr marT="55000" marB="55000"/>
                </a:tc>
              </a:tr>
              <a:tr h="370840">
                <a:tc>
                  <a:txBody>
                    <a:bodyPr/>
                    <a:lstStyle/>
                    <a:p>
                      <a:r>
                        <a:rPr sz="1200" b="1" lang="en-GB"/>
                        <a:t>Positron Assistant</a:t>
                      </a:r>
                    </a:p>
                  </a:txBody>
                  <a:tcPr marT="55000" marB="55000"/>
                </a:tc>
                <a:tc>
                  <a:txBody>
                    <a:bodyPr/>
                    <a:lstStyle/>
                    <a:p>
                      <a:r>
                        <a:rPr sz="1200" lang="en-GB"/>
                        <a:t>Posit Assistant</a:t>
                      </a:r>
                    </a:p>
                  </a:txBody>
                  <a:tcPr marT="55000" marB="55000"/>
                </a:tc>
              </a:tr>
              <a:tr h="370840">
                <a:tc>
                  <a:txBody>
                    <a:bodyPr/>
                    <a:lstStyle/>
                    <a:p>
                      <a:r>
                        <a:rPr sz="1200" b="1" lang="en-GB"/>
                        <a:t>Setting positron.assistant.enable</a:t>
                      </a:r>
                    </a:p>
                  </a:txBody>
                  <a:tcPr marT="55000" marB="55000"/>
                </a:tc>
                <a:tc>
                  <a:txBody>
                    <a:bodyPr/>
                    <a:lstStyle/>
                    <a:p>
                      <a:r>
                        <a:rPr sz="1200" lang="en-GB"/>
                        <a:t>nothing to set (assistant.enabled is on)</a:t>
                      </a:r>
                    </a:p>
                  </a:txBody>
                  <a:tcPr marT="55000" marB="55000"/>
                </a:tc>
              </a:tr>
              <a:tr h="370840">
                <a:tc>
                  <a:txBody>
                    <a:bodyPr/>
                    <a:lstStyle/>
                    <a:p>
                      <a:r>
                        <a:rPr sz="1200" b="1" lang="en-GB"/>
                        <a:t>Ask / Edit / Agent modes</a:t>
                      </a:r>
                    </a:p>
                  </a:txBody>
                  <a:tcPr marT="55000" marB="55000"/>
                </a:tc>
                <a:tc>
                  <a:txBody>
                    <a:bodyPr/>
                    <a:lstStyle/>
                    <a:p>
                      <a:r>
                        <a:rPr sz="1200" lang="en-GB"/>
                        <a:t>Normal, /ask, /plan</a:t>
                      </a:r>
                    </a:p>
                  </a:txBody>
                  <a:tcPr marT="55000" marB="55000"/>
                </a:tc>
              </a:tr>
              <a:tr h="370840">
                <a:tc>
                  <a:txBody>
                    <a:bodyPr/>
                    <a:lstStyle/>
                    <a:p>
                      <a:r>
                        <a:rPr sz="1200" b="1" lang="en-GB"/>
                        <a:t>Positron Assistant: Collect Diagnostics</a:t>
                      </a:r>
                    </a:p>
                  </a:txBody>
                  <a:tcPr marT="55000" marB="55000"/>
                </a:tc>
                <a:tc>
                  <a:txBody>
                    <a:bodyPr/>
                    <a:lstStyle/>
                    <a:p>
                      <a:r>
                        <a:rPr sz="1200" lang="en-GB"/>
                        <a:t>AI: Create Diagnostic Report</a:t>
                      </a:r>
                    </a:p>
                  </a:txBody>
                  <a:tcPr marT="55000" marB="55000"/>
                </a:tc>
              </a:tr>
              <a:tr h="370840">
                <a:tc>
                  <a:txBody>
                    <a:bodyPr/>
                    <a:lstStyle/>
                    <a:p>
                      <a:r>
                        <a:rPr sz="1200" b="1" lang="en-GB"/>
                        <a:t>Inline chat with Ctrl/Cmd + I</a:t>
                      </a:r>
                    </a:p>
                  </a:txBody>
                  <a:tcPr marT="55000" marB="55000"/>
                </a:tc>
                <a:tc>
                  <a:txBody>
                    <a:bodyPr/>
                    <a:lstStyle/>
                    <a:p>
                      <a:r>
                        <a:rPr sz="1200" lang="en-GB"/>
                        <a:t>the Posit Assistant pane</a:t>
                      </a:r>
                    </a:p>
                  </a:txBody>
                  <a:tcPr marT="55000" marB="55000"/>
                </a:tc>
              </a:tr>
            </a:tbl>
          </a:graphicData>
        </a:graphic>
      </p:graphicFrame>
      <p:sp>
        <p:nvSpPr>
          <p:cNvPr id="3" name="Title 2"/>
          <p:cNvSpPr>
            <a:spLocks noGrp="1"/>
          </p:cNvSpPr>
          <p:nvPr>
            <p:ph type="title"/>
          </p:nvPr>
        </p:nvSpPr>
        <p:spPr/>
        <p:txBody>
          <a:bodyPr/>
          <a:lstStyle/>
          <a:p>
            <a:r>
              <a:rPr sz="1600" lang="en-GB"/>
              <a:t>Old instructions, and what to use now</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ld note box"/>
          <p:cNvSpPr/>
          <p:nvPr/>
        </p:nvSpPr>
        <p:spPr>
          <a:xfrm>
            <a:off x="457200" y="39776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Old note" descr=""/>
          <p:cNvPicPr>
            <a:picLocks noChangeAspect="1"/>
          </p:cNvPicPr>
          <p:nvPr/>
        </p:nvPicPr>
        <p:blipFill>
          <a:blip r:embed="rId3"/>
          <a:stretch>
            <a:fillRect/>
          </a:stretch>
        </p:blipFill>
        <p:spPr>
          <a:xfrm>
            <a:off x="658368" y="4137660"/>
            <a:ext cx="365760" cy="365760"/>
          </a:xfrm>
          <a:prstGeom prst="rect">
            <a:avLst/>
          </a:prstGeom>
        </p:spPr>
      </p:pic>
      <p:sp>
        <p:nvSpPr>
          <p:cNvPr id="12" name="Old note text"/>
          <p:cNvSpPr txBox="1"/>
          <p:nvPr/>
        </p:nvSpPr>
        <p:spPr>
          <a:xfrm>
            <a:off x="1207008" y="397764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Check the date: </a:t>
            </a:r>
            <a:r>
              <a:rPr sz="1200" b="0" lang="en-GB">
                <a:solidFill>
                  <a:schemeClr val="bg1"/>
                </a:solidFill>
              </a:rPr>
              <a:t>AI tools change monthly. Prefer positron.posit.co and GitHub Docs over older blog posts.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Checklist: Copilot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Copilot Free or Student </a:t>
            </a:r>
            <a:r>
              <a:rPr sz="1200" b="0" lang="en-GB">
                <a:solidFill>
                  <a:schemeClr val="tx1"/>
                </a:solidFill>
              </a:rPr>
              <a:t>active on github.com/settings/copilot</a:t>
            </a:r>
          </a:p>
        </p:txBody>
      </p:sp>
      <p:sp>
        <p:nvSpPr>
          <p:cNvPr id="13" name="Check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eck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heck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Model training </a:t>
            </a:r>
            <a:r>
              <a:rPr sz="1200" b="0" lang="en-GB">
                <a:solidFill>
                  <a:schemeClr val="tx1"/>
                </a:solidFill>
              </a:rPr>
              <a:t>opt-out set to Disabled</a:t>
            </a:r>
          </a:p>
        </p:txBody>
      </p:sp>
      <p:sp>
        <p:nvSpPr>
          <p:cNvPr id="16" name="Check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eck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heck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Positron 2026.07 or later, </a:t>
            </a:r>
            <a:r>
              <a:rPr sz="1200" b="0" lang="en-GB">
                <a:solidFill>
                  <a:schemeClr val="tx1"/>
                </a:solidFill>
              </a:rPr>
              <a:t>project folder trusted</a:t>
            </a:r>
          </a:p>
        </p:txBody>
      </p:sp>
      <p:sp>
        <p:nvSpPr>
          <p:cNvPr id="19" name="Check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eck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heck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Copilot connected: </a:t>
            </a:r>
            <a:r>
              <a:rPr sz="1200" b="0" lang="en-GB">
                <a:solidFill>
                  <a:schemeClr val="tx1"/>
                </a:solidFill>
              </a:rPr>
              <a:t>Configure Language Model Providers</a:t>
            </a:r>
          </a:p>
        </p:txBody>
      </p:sp>
      <p:sp>
        <p:nvSpPr>
          <p:cNvPr id="22" name="Check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heck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heck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Posit Assistant </a:t>
            </a:r>
            <a:r>
              <a:rPr sz="1200" b="0" lang="en-GB">
                <a:solidFill>
                  <a:schemeClr val="tx1"/>
                </a:solidFill>
              </a:rPr>
              <a:t>answers, and ghost text appears in a code cell</a:t>
            </a:r>
          </a:p>
        </p:txBody>
      </p:sp>
      <p:sp>
        <p:nvSpPr>
          <p:cNvPr id="25" name="Check row 6"/>
          <p:cNvSpPr/>
          <p:nvPr/>
        </p:nvSpPr>
        <p:spPr>
          <a:xfrm>
            <a:off x="457200" y="41605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ck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Check text 6"/>
          <p:cNvSpPr txBox="1"/>
          <p:nvPr/>
        </p:nvSpPr>
        <p:spPr>
          <a:xfrm>
            <a:off x="1051560" y="416052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Prompt log </a:t>
            </a:r>
            <a:r>
              <a:rPr sz="1200" b="0" lang="en-GB">
                <a:solidFill>
                  <a:schemeClr val="tx1"/>
                </a:solidFill>
              </a:rPr>
              <a:t>started for the coding exercise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Official guides: GitHub</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s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s bar 1"/>
          <p:cNvSpPr/>
          <p:nvPr/>
        </p:nvSpPr>
        <p:spPr>
          <a:xfrm>
            <a:off x="457200" y="1234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fs text 1"/>
          <p:cNvSpPr txBox="1"/>
          <p:nvPr/>
        </p:nvSpPr>
        <p:spPr>
          <a:xfrm>
            <a:off x="658368" y="123444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3"/>
              </a:rPr>
              <a:t>GitHub Desktop: getting started</a:t>
            </a:r>
          </a:p>
        </p:txBody>
      </p:sp>
      <p:sp>
        <p:nvSpPr>
          <p:cNvPr id="13" name="Refs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s bar 2"/>
          <p:cNvSpPr/>
          <p:nvPr/>
        </p:nvSpPr>
        <p:spPr>
          <a:xfrm>
            <a:off x="457200" y="176479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fs text 2"/>
          <p:cNvSpPr txBox="1"/>
          <p:nvPr/>
        </p:nvSpPr>
        <p:spPr>
          <a:xfrm>
            <a:off x="658368" y="176479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4"/>
              </a:rPr>
              <a:t>Cloning a repository in GitHub Desktop</a:t>
            </a:r>
          </a:p>
        </p:txBody>
      </p:sp>
      <p:sp>
        <p:nvSpPr>
          <p:cNvPr id="16" name="Refs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fs bar 3"/>
          <p:cNvSpPr/>
          <p:nvPr/>
        </p:nvSpPr>
        <p:spPr>
          <a:xfrm>
            <a:off x="457200" y="229514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fs text 3"/>
          <p:cNvSpPr txBox="1"/>
          <p:nvPr/>
        </p:nvSpPr>
        <p:spPr>
          <a:xfrm>
            <a:off x="658368" y="2295144"/>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5"/>
              </a:rPr>
              <a:t>Committing, pushing and syncing</a:t>
            </a:r>
          </a:p>
        </p:txBody>
      </p:sp>
      <p:sp>
        <p:nvSpPr>
          <p:cNvPr id="19" name="Refs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fs bar 4"/>
          <p:cNvSpPr/>
          <p:nvPr/>
        </p:nvSpPr>
        <p:spPr>
          <a:xfrm>
            <a:off x="457200" y="2825496"/>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fs text 4"/>
          <p:cNvSpPr txBox="1"/>
          <p:nvPr/>
        </p:nvSpPr>
        <p:spPr>
          <a:xfrm>
            <a:off x="658368" y="2825496"/>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6"/>
              </a:rPr>
              <a:t>Two-factor authentication</a:t>
            </a:r>
          </a:p>
        </p:txBody>
      </p:sp>
      <p:sp>
        <p:nvSpPr>
          <p:cNvPr id="22" name="Refs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fs bar 5"/>
          <p:cNvSpPr/>
          <p:nvPr/>
        </p:nvSpPr>
        <p:spPr>
          <a:xfrm>
            <a:off x="457200" y="33558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fs text 5"/>
          <p:cNvSpPr txBox="1"/>
          <p:nvPr/>
        </p:nvSpPr>
        <p:spPr>
          <a:xfrm>
            <a:off x="658368" y="3355848"/>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7"/>
              </a:rPr>
              <a:t>Apply to GitHub Education as a student</a:t>
            </a:r>
          </a:p>
        </p:txBody>
      </p:sp>
      <p:sp>
        <p:nvSpPr>
          <p:cNvPr id="25" name="Refs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fs bar 6"/>
          <p:cNvSpPr/>
          <p:nvPr/>
        </p:nvSpPr>
        <p:spPr>
          <a:xfrm>
            <a:off x="457200" y="38862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fs text 6"/>
          <p:cNvSpPr txBox="1"/>
          <p:nvPr/>
        </p:nvSpPr>
        <p:spPr>
          <a:xfrm>
            <a:off x="658368" y="388620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8"/>
              </a:rPr>
              <a:t>Setting repository visibility</a:t>
            </a:r>
          </a:p>
        </p:txBody>
      </p:sp>
      <p:sp>
        <p:nvSpPr>
          <p:cNvPr id="28" name="Refs row 7"/>
          <p:cNvSpPr/>
          <p:nvPr/>
        </p:nvSpPr>
        <p:spPr>
          <a:xfrm>
            <a:off x="457200" y="441655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fs bar 7"/>
          <p:cNvSpPr/>
          <p:nvPr/>
        </p:nvSpPr>
        <p:spPr>
          <a:xfrm>
            <a:off x="457200" y="441655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fs text 7"/>
          <p:cNvSpPr txBox="1"/>
          <p:nvPr/>
        </p:nvSpPr>
        <p:spPr>
          <a:xfrm>
            <a:off x="658368" y="441655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9"/>
              </a:rPr>
              <a:t>GitHub Skills: free interactive courses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Official guides: Copilot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s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s bar 1"/>
          <p:cNvSpPr/>
          <p:nvPr/>
        </p:nvSpPr>
        <p:spPr>
          <a:xfrm>
            <a:off x="457200" y="1234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fs text 1"/>
          <p:cNvSpPr txBox="1"/>
          <p:nvPr/>
        </p:nvSpPr>
        <p:spPr>
          <a:xfrm>
            <a:off x="658368" y="123444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3"/>
              </a:rPr>
              <a:t>Posit Assistant in Positron</a:t>
            </a:r>
          </a:p>
        </p:txBody>
      </p:sp>
      <p:sp>
        <p:nvSpPr>
          <p:cNvPr id="13" name="Refs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s bar 2"/>
          <p:cNvSpPr/>
          <p:nvPr/>
        </p:nvSpPr>
        <p:spPr>
          <a:xfrm>
            <a:off x="457200" y="176479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fs text 2"/>
          <p:cNvSpPr txBox="1"/>
          <p:nvPr/>
        </p:nvSpPr>
        <p:spPr>
          <a:xfrm>
            <a:off x="658368" y="176479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4"/>
              </a:rPr>
              <a:t>Getting started and model providers</a:t>
            </a:r>
          </a:p>
        </p:txBody>
      </p:sp>
      <p:sp>
        <p:nvSpPr>
          <p:cNvPr id="16" name="Refs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fs bar 3"/>
          <p:cNvSpPr/>
          <p:nvPr/>
        </p:nvSpPr>
        <p:spPr>
          <a:xfrm>
            <a:off x="457200" y="229514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fs text 3"/>
          <p:cNvSpPr txBox="1"/>
          <p:nvPr/>
        </p:nvSpPr>
        <p:spPr>
          <a:xfrm>
            <a:off x="658368" y="2295144"/>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5"/>
              </a:rPr>
              <a:t>Code completions</a:t>
            </a:r>
          </a:p>
        </p:txBody>
      </p:sp>
      <p:sp>
        <p:nvSpPr>
          <p:cNvPr id="19" name="Refs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fs bar 4"/>
          <p:cNvSpPr/>
          <p:nvPr/>
        </p:nvSpPr>
        <p:spPr>
          <a:xfrm>
            <a:off x="457200" y="2825496"/>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fs text 4"/>
          <p:cNvSpPr txBox="1"/>
          <p:nvPr/>
        </p:nvSpPr>
        <p:spPr>
          <a:xfrm>
            <a:off x="658368" y="2825496"/>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6"/>
              </a:rPr>
              <a:t>AI configuration and privacy settings</a:t>
            </a:r>
          </a:p>
        </p:txBody>
      </p:sp>
      <p:sp>
        <p:nvSpPr>
          <p:cNvPr id="22" name="Refs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fs bar 5"/>
          <p:cNvSpPr/>
          <p:nvPr/>
        </p:nvSpPr>
        <p:spPr>
          <a:xfrm>
            <a:off x="457200" y="33558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fs text 5"/>
          <p:cNvSpPr txBox="1"/>
          <p:nvPr/>
        </p:nvSpPr>
        <p:spPr>
          <a:xfrm>
            <a:off x="658368" y="3355848"/>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7"/>
              </a:rPr>
              <a:t>Set up Copilot for students (GitHub Docs)</a:t>
            </a:r>
          </a:p>
        </p:txBody>
      </p:sp>
      <p:sp>
        <p:nvSpPr>
          <p:cNvPr id="25" name="Refs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fs bar 6"/>
          <p:cNvSpPr/>
          <p:nvPr/>
        </p:nvSpPr>
        <p:spPr>
          <a:xfrm>
            <a:off x="457200" y="38862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fs text 6"/>
          <p:cNvSpPr txBox="1"/>
          <p:nvPr/>
        </p:nvSpPr>
        <p:spPr>
          <a:xfrm>
            <a:off x="658368" y="388620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8"/>
              </a:rPr>
              <a:t>Copilot plans</a:t>
            </a:r>
          </a:p>
        </p:txBody>
      </p:sp>
      <p:sp>
        <p:nvSpPr>
          <p:cNvPr id="28" name="Refs row 7"/>
          <p:cNvSpPr/>
          <p:nvPr/>
        </p:nvSpPr>
        <p:spPr>
          <a:xfrm>
            <a:off x="457200" y="441655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fs bar 7"/>
          <p:cNvSpPr/>
          <p:nvPr/>
        </p:nvSpPr>
        <p:spPr>
          <a:xfrm>
            <a:off x="457200" y="441655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fs text 7"/>
          <p:cNvSpPr txBox="1"/>
          <p:nvPr/>
        </p:nvSpPr>
        <p:spPr>
          <a:xfrm>
            <a:off x="658368" y="441655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9"/>
              </a:rPr>
              <a:t>Positron release notes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