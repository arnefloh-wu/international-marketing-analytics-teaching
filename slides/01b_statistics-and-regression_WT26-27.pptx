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9" r:id="rId46"/>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20" r:id="rId77"/>
    <p:sldId id="321" r:id="rId78"/>
    <p:sldId id="322" r:id="rId79"/>
    <p:sldId id="323" r:id="rId80"/>
    <p:sldId id="324" r:id="rId81"/>
    <p:sldId id="325" r:id="rId82"/>
    <p:sldId id="326" r:id="rId83"/>
    <p:sldId id="327" r:id="rId84"/>
    <p:sldId id="328" r:id="rId85"/>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6" Type="http://schemas.openxmlformats.org/officeDocument/2006/relationships/slide" Target="slides/slide34.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eleven short parts. The refresher (Parts 1 to 5) builds the vocabulary of every regression table: means, standard errors, z-values, correlations. Regression (Parts 6 to 11)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packages cover the whole session: polars for data and descriptive statistics, plotnine for charts, great_tables for tables, statsmodels for regression and tests, numpy for logs inside model formulas, scipy for the p-value of a correlation. pyarrow and jupyter are never imported but must be installed: pyarrow lets polars hand its data to plotnine and statsmodels (.to_pandas()), jupyter lets Quarto run Python. numpy, scipy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of Steps 1 to 4 in four lines. describe() gives count, missing values, mean, standard deviation (n - 1), min, quartiles and max for every column; the 50 % row is the median. corr() gives the correlation matrix of all selected columns. pl.corr with method='spearman' correlates the ranks: use it for ordinal data such as star ratings or when the relationship is monotone but curved; here it is -1, because sales fall in every step. polars gives no p-value; scipy's pearsonr does (scipy comes with statsmodels). With five weeks p = 0.003: even five points are enough when r is -0.98. In the exercise, the same lines run on the kiosk's year: kiosk.describe() and kiosk.select(cs.numeric()).corr() with import polars.selectors as 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is Positron's chat, here with GitHub Copilot as the provider (set up in the GitHub and Copilot deck). It sees the files you attach and, once Python runs, the variables in your session: so run the first cell before you ask. It asks before it runs code; Accept, Decline or reply with instructions. Stay in Normal mode; /ask gives explanations without edits; never /yolo. Errors in the Console and in Quarto output have Fix and Explain buttons that send the error to Posit Assistant. Course rule: try each task yourself first, then ask, and check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Without 'polars, not pandas' many models switch to pandas. Typical slips to watch: pandas instead of polars, numpy's np.std (divides by n, not n - 1), a correlation over the regular weeks only when the task says all 52 weeks.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corr() the correlation matrix of sales and the four prices, the same lines as Step 6 of Part 5 (sales and price1: -0.94).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9,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6.png"/><Relationship Id="rId4"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7.png"/><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30.png"/><Relationship Id="rId4" Type="http://schemas.openxmlformats.org/officeDocument/2006/relationships/image" Target="../media/image43.png"/><Relationship Id="rId5" Type="http://schemas.openxmlformats.org/officeDocument/2006/relationships/image" Target="../media/image40.png"/><Relationship Id="rId6" Type="http://schemas.openxmlformats.org/officeDocument/2006/relationships/image" Target="../media/image44.png"/><Relationship Id="rId7"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27.png"/><Relationship Id="rId4"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8.png"/><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27.png"/><Relationship Id="rId6" Type="http://schemas.openxmlformats.org/officeDocument/2006/relationships/image" Target="../media/image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37.png"/><Relationship Id="rId4" Type="http://schemas.openxmlformats.org/officeDocument/2006/relationships/image" Target="../media/image3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2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 Id="rId3" Type="http://schemas.openxmlformats.org/officeDocument/2006/relationships/image" Target="../media/image2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3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58.png"/><Relationship Id="rId4" Type="http://schemas.openxmlformats.org/officeDocument/2006/relationships/image" Target="../media/image3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 Id="rId3" Type="http://schemas.openxmlformats.org/officeDocument/2006/relationships/image" Target="../media/image5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 Id="rId3" Type="http://schemas.openxmlformats.org/officeDocument/2006/relationships/image" Target="../media/image11.png"/><Relationship Id="rId4" Type="http://schemas.openxmlformats.org/officeDocument/2006/relationships/image" Target="../media/image6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11.png"/><Relationship Id="rId4" Type="http://schemas.openxmlformats.org/officeDocument/2006/relationships/image" Target="../media/image6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By hand in Python; the kiosk's year; quiz 1</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11</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 quiz 2</a:t>
            </a:r>
          </a:p>
          <a:p>
            <a:pPr algn="l" marL="182880" indent="-182880">
              <a:spcAft>
                <a:spcPts val="600"/>
              </a:spcAft>
              <a:buClr>
                <a:schemeClr val="accent1"/>
              </a:buClr>
              <a:buFont typeface="Arial"/>
              <a:buChar char="▪"/>
            </a:pPr>
            <a:r>
              <a:rPr sz="1300" b="0" lang="en-GB">
                <a:solidFill>
                  <a:schemeClr val="tx1"/>
                </a:solidFill>
              </a:rPr>
              <a:t>In-class assignment, coding exercise 1</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11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11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11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11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6362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6362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6362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6362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6362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6362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89280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89280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89280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89280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89280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89280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22199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22199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22199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22199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22199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22199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551176"/>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551176"/>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551176"/>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551176"/>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551176"/>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551176"/>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2880360"/>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2880360"/>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2880360"/>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2880360"/>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2880360"/>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2880360"/>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20954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20954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scipy</a:t>
            </a:r>
          </a:p>
        </p:txBody>
      </p:sp>
      <p:sp>
        <p:nvSpPr>
          <p:cNvPr id="48" name="Pkg table 7-2"/>
          <p:cNvSpPr/>
          <p:nvPr/>
        </p:nvSpPr>
        <p:spPr>
          <a:xfrm>
            <a:off x="1965960" y="320954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20954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scipy import stats</a:t>
            </a:r>
          </a:p>
        </p:txBody>
      </p:sp>
      <p:sp>
        <p:nvSpPr>
          <p:cNvPr id="50" name="Pkg table 7-3"/>
          <p:cNvSpPr/>
          <p:nvPr/>
        </p:nvSpPr>
        <p:spPr>
          <a:xfrm>
            <a:off x="5394960" y="320954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20954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p-value of a correlation</a:t>
            </a:r>
          </a:p>
        </p:txBody>
      </p:sp>
      <p:sp>
        <p:nvSpPr>
          <p:cNvPr id="52" name="Pkg table 8-1"/>
          <p:cNvSpPr/>
          <p:nvPr/>
        </p:nvSpPr>
        <p:spPr>
          <a:xfrm>
            <a:off x="457200" y="353872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53872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54" name="Pkg table 8-2"/>
          <p:cNvSpPr/>
          <p:nvPr/>
        </p:nvSpPr>
        <p:spPr>
          <a:xfrm>
            <a:off x="1965960" y="353872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53872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53872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53872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8" name="Pkg table 9-1"/>
          <p:cNvSpPr/>
          <p:nvPr/>
        </p:nvSpPr>
        <p:spPr>
          <a:xfrm>
            <a:off x="457200" y="386791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Pkg table text 9-1"/>
          <p:cNvSpPr txBox="1"/>
          <p:nvPr/>
        </p:nvSpPr>
        <p:spPr>
          <a:xfrm>
            <a:off x="548640" y="386791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60" name="Pkg table 9-2"/>
          <p:cNvSpPr/>
          <p:nvPr/>
        </p:nvSpPr>
        <p:spPr>
          <a:xfrm>
            <a:off x="1965960" y="386791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Pkg table text 9-2"/>
          <p:cNvSpPr txBox="1"/>
          <p:nvPr/>
        </p:nvSpPr>
        <p:spPr>
          <a:xfrm>
            <a:off x="2057400" y="386791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62" name="Pkg table 9-3"/>
          <p:cNvSpPr/>
          <p:nvPr/>
        </p:nvSpPr>
        <p:spPr>
          <a:xfrm>
            <a:off x="5394960" y="386791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Pkg table text 9-3"/>
          <p:cNvSpPr txBox="1"/>
          <p:nvPr/>
        </p:nvSpPr>
        <p:spPr>
          <a:xfrm>
            <a:off x="5486400" y="386791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64"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6"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scipy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descriptive statistics and correlation with polars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c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c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then scipy for p</a:t>
            </a:r>
          </a:p>
        </p:txBody>
      </p:sp>
      <p:sp>
        <p:nvSpPr>
          <p:cNvPr id="12" name="Desc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c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scipy import stats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"units").describe()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"units").corr()   # matrix</a:t>
            </a:r>
          </a:p>
          <a:p>
            <a:pPr algn="l">
              <a:spcAft>
                <a:spcPts val="0"/>
              </a:spcAft>
            </a:pPr>
            <a:r>
              <a:rPr sz="1100" b="0" lang="en-GB">
                <a:solidFill>
                  <a:schemeClr val="bg1"/>
                </a:solidFill>
                <a:latin typeface="Consolas"/>
              </a:rPr>
              <a:t>kiosk.select(pl.corr("price", "units",</a:t>
            </a:r>
          </a:p>
          <a:p>
            <a:pPr algn="l">
              <a:spcAft>
                <a:spcPts val="0"/>
              </a:spcAft>
            </a:pPr>
            <a:r>
              <a:rPr sz="1100" b="0" lang="en-GB">
                <a:solidFill>
                  <a:schemeClr val="bg1"/>
                </a:solidFill>
                <a:latin typeface="Consolas"/>
              </a:rPr>
              <a:t>             method="spearman"))        # ranks</a:t>
            </a:r>
          </a:p>
          <a:p>
            <a:pPr algn="l">
              <a:spcAft>
                <a:spcPts val="0"/>
              </a:spcAft>
            </a:pPr>
            <a:r>
              <a:rPr sz="1100" b="0" lang="en-GB">
                <a:solidFill>
                  <a:schemeClr val="bg1"/>
                </a:solidFill>
                <a:latin typeface="Consolas"/>
              </a:rPr>
              <a:t>stats.pearsonr(kiosk["price"],</a:t>
            </a:r>
          </a:p>
          <a:p>
            <a:pPr algn="l">
              <a:spcAft>
                <a:spcPts val="0"/>
              </a:spcAft>
            </a:pPr>
            <a:r>
              <a:rPr sz="1100" b="0" lang="en-GB">
                <a:solidFill>
                  <a:schemeClr val="bg1"/>
                </a:solidFill>
                <a:latin typeface="Consolas"/>
              </a:rPr>
              <a:t>               kiosk["units"])          # r and p</a:t>
            </a:r>
          </a:p>
        </p:txBody>
      </p:sp>
      <p:sp>
        <p:nvSpPr>
          <p:cNvPr id="14" name="Desc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c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Desc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sc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Desc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sc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units</a:t>
            </a:r>
          </a:p>
        </p:txBody>
      </p:sp>
      <p:sp>
        <p:nvSpPr>
          <p:cNvPr id="20" name="Desc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sc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2" name="Desc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c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units</a:t>
            </a:r>
          </a:p>
        </p:txBody>
      </p:sp>
      <p:sp>
        <p:nvSpPr>
          <p:cNvPr id="24" name="Desc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c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Desc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c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50 %, median</a:t>
            </a:r>
          </a:p>
        </p:txBody>
      </p:sp>
      <p:sp>
        <p:nvSpPr>
          <p:cNvPr id="28" name="Desc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sc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Desc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sc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 Pearson</a:t>
            </a:r>
          </a:p>
        </p:txBody>
      </p:sp>
      <p:sp>
        <p:nvSpPr>
          <p:cNvPr id="32" name="Desc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sc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Desc out 6-1"/>
          <p:cNvSpPr/>
          <p:nvPr/>
        </p:nvSpPr>
        <p:spPr>
          <a:xfrm>
            <a:off x="5532120" y="3200400"/>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sc out text 6-1"/>
          <p:cNvSpPr txBox="1"/>
          <p:nvPr/>
        </p:nvSpPr>
        <p:spPr>
          <a:xfrm>
            <a:off x="5623560" y="3200400"/>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rho, Spearman</a:t>
            </a:r>
          </a:p>
        </p:txBody>
      </p:sp>
      <p:sp>
        <p:nvSpPr>
          <p:cNvPr id="36" name="Desc out 6-2"/>
          <p:cNvSpPr/>
          <p:nvPr/>
        </p:nvSpPr>
        <p:spPr>
          <a:xfrm>
            <a:off x="7360920" y="3200400"/>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sc out text 6-2"/>
          <p:cNvSpPr txBox="1"/>
          <p:nvPr/>
        </p:nvSpPr>
        <p:spPr>
          <a:xfrm>
            <a:off x="7452360" y="3200400"/>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−1.000</a:t>
            </a:r>
          </a:p>
        </p:txBody>
      </p:sp>
      <p:sp>
        <p:nvSpPr>
          <p:cNvPr id="38" name="Desc out 7-1"/>
          <p:cNvSpPr/>
          <p:nvPr/>
        </p:nvSpPr>
        <p:spPr>
          <a:xfrm>
            <a:off x="5532120" y="359359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c out text 7-1"/>
          <p:cNvSpPr txBox="1"/>
          <p:nvPr/>
        </p:nvSpPr>
        <p:spPr>
          <a:xfrm>
            <a:off x="5623560" y="359359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p-value of r</a:t>
            </a:r>
          </a:p>
        </p:txBody>
      </p:sp>
      <p:sp>
        <p:nvSpPr>
          <p:cNvPr id="40" name="Desc out 7-2"/>
          <p:cNvSpPr/>
          <p:nvPr/>
        </p:nvSpPr>
        <p:spPr>
          <a:xfrm>
            <a:off x="7360920" y="359359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sc out text 7-2"/>
          <p:cNvSpPr txBox="1"/>
          <p:nvPr/>
        </p:nvSpPr>
        <p:spPr>
          <a:xfrm>
            <a:off x="7452360" y="359359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42" name="Desc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Desc same" descr=""/>
          <p:cNvPicPr>
            <a:picLocks noChangeAspect="1"/>
          </p:cNvPicPr>
          <p:nvPr/>
        </p:nvPicPr>
        <p:blipFill>
          <a:blip r:embed="rId3"/>
          <a:stretch>
            <a:fillRect/>
          </a:stretch>
        </p:blipFill>
        <p:spPr>
          <a:xfrm>
            <a:off x="658368" y="4251960"/>
            <a:ext cx="365760" cy="365760"/>
          </a:xfrm>
          <a:prstGeom prst="rect">
            <a:avLst/>
          </a:prstGeom>
        </p:spPr>
      </p:pic>
      <p:sp>
        <p:nvSpPr>
          <p:cNvPr id="44" name="Desc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by hand: </a:t>
            </a:r>
            <a:r>
              <a:rPr sz="1200" b="0" lang="en-GB">
                <a:solidFill>
                  <a:schemeClr val="tx1"/>
                </a:solidFill>
              </a:rPr>
              <a:t>describe() for every column at once, corr() for every pair; scipy adds the p-value.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Run the exercise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Run first: </a:t>
            </a:r>
            <a:r>
              <a:rPr sz="1200" b="0" lang="en-GB">
                <a:solidFill>
                  <a:schemeClr val="tx1"/>
                </a:solidFill>
              </a:rPr>
              <a:t>open refresher_exercise.qmd and run the first cell, so Posit Assistant sees the data frame kiosk</a:t>
            </a:r>
          </a:p>
        </p:txBody>
      </p:sp>
      <p:sp>
        <p:nvSpPr>
          <p:cNvPr id="13" name="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@refresher_exercise.qmd, then one task per prompt: the file, the packages, the output</a:t>
            </a:r>
          </a:p>
        </p:txBody>
      </p:sp>
      <p:sp>
        <p:nvSpPr>
          <p:cNvPr id="19" name="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Approve with care: </a:t>
            </a:r>
            <a:r>
              <a:rPr sz="1200" b="0" lang="en-GB">
                <a:solidFill>
                  <a:schemeClr val="tx1"/>
                </a:solidFill>
              </a:rPr>
              <a:t>it asks before it runs code: Accept, Decline or reply; read every edit first</a:t>
            </a:r>
          </a:p>
        </p:txBody>
      </p:sp>
      <p:sp>
        <p:nvSpPr>
          <p:cNvPr id="22" name="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compare its numbers with Steps 1 to 6; on an error, click Fix or Explain</a:t>
            </a:r>
          </a:p>
        </p:txBody>
      </p:sp>
      <p:sp>
        <p:nvSpPr>
          <p:cNvPr id="25" name="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Use /ask when you want an explanation without edits. You own every number.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exercise: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@refresher_exercise.qmd Task 2.</a:t>
            </a:r>
          </a:p>
          <a:p>
            <a:pPr algn="l">
              <a:spcAft>
                <a:spcPts val="0"/>
              </a:spcAft>
            </a:pPr>
            <a:r>
              <a:rPr sz="1100" b="0" lang="en-GB">
                <a:solidFill>
                  <a:schemeClr val="bg1"/>
                </a:solidFill>
                <a:latin typeface="Consolas"/>
              </a:rPr>
              <a:t>Use polars, not pandas. Mean and</a:t>
            </a:r>
          </a:p>
          <a:p>
            <a:pPr algn="l">
              <a:spcAft>
                <a:spcPts val="0"/>
              </a:spcAft>
            </a:pPr>
            <a:r>
              <a:rPr sz="1100" b="0" lang="en-GB">
                <a:solidFill>
                  <a:schemeClr val="bg1"/>
                </a:solidFill>
                <a:latin typeface="Consolas"/>
              </a:rPr>
              <a:t>median of units over all 52 weeks</a:t>
            </a:r>
          </a:p>
          <a:p>
            <a:pPr algn="l">
              <a:spcAft>
                <a:spcPts val="0"/>
              </a:spcAft>
            </a:pPr>
            <a:r>
              <a:rPr sz="1100" b="0" lang="en-GB">
                <a:solidFill>
                  <a:schemeClr val="bg1"/>
                </a:solidFill>
                <a:latin typeface="Consolas"/>
              </a:rPr>
              <a:t>and the median rating, with</a:t>
            </a:r>
          </a:p>
          <a:p>
            <a:pPr algn="l">
              <a:spcAft>
                <a:spcPts val="0"/>
              </a:spcAft>
            </a:pPr>
            <a:r>
              <a:rPr sz="1100" b="0" lang="en-GB">
                <a:solidFill>
                  <a:schemeClr val="bg1"/>
                </a:solidFill>
                <a:latin typeface="Consolas"/>
              </a:rPr>
              <a:t>kiosk.describe(). Write the code</a:t>
            </a:r>
          </a:p>
          <a:p>
            <a:pPr algn="l">
              <a:spcAft>
                <a:spcPts val="0"/>
              </a:spcAft>
            </a:pPr>
            <a:r>
              <a:rPr sz="1100" b="0" lang="en-GB">
                <a:solidFill>
                  <a:schemeClr val="bg1"/>
                </a:solidFill>
                <a:latin typeface="Consolas"/>
              </a:rPr>
              <a:t>into the Task 2 cell and explain</a:t>
            </a:r>
          </a:p>
          <a:p>
            <a:pPr algn="l">
              <a:spcAft>
                <a:spcPts val="0"/>
              </a:spcAft>
            </a:pPr>
            <a:r>
              <a:rPr sz="1100" b="0" lang="en-GB">
                <a:solidFill>
                  <a:schemeClr val="bg1"/>
                </a:solidFill>
                <a:latin typeface="Consolas"/>
              </a:rPr>
              <a:t>each line.</a:t>
            </a:r>
          </a:p>
        </p:txBody>
      </p:sp>
      <p:sp>
        <p:nvSpPr>
          <p:cNvPr id="14" name="Prompt 5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mpt 5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5</a:t>
            </a:r>
          </a:p>
        </p:txBody>
      </p:sp>
      <p:sp>
        <p:nvSpPr>
          <p:cNvPr id="16" name="Prompt 5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mpt 5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5. Correlation of units with</a:t>
            </a:r>
          </a:p>
          <a:p>
            <a:pPr algn="l">
              <a:spcAft>
                <a:spcPts val="0"/>
              </a:spcAft>
            </a:pPr>
            <a:r>
              <a:rPr sz="1100" b="0" lang="en-GB">
                <a:solidFill>
                  <a:schemeClr val="bg1"/>
                </a:solidFill>
                <a:latin typeface="Consolas"/>
              </a:rPr>
              <a:t>price and with temp in polars,</a:t>
            </a:r>
          </a:p>
          <a:p>
            <a:pPr algn="l">
              <a:spcAft>
                <a:spcPts val="0"/>
              </a:spcAft>
            </a:pPr>
            <a:r>
              <a:rPr sz="1100" b="0" lang="en-GB">
                <a:solidFill>
                  <a:schemeClr val="bg1"/>
                </a:solidFill>
                <a:latin typeface="Consolas"/>
              </a:rPr>
              <a:t>p-values with scipy.stats.pearsonr,</a:t>
            </a:r>
          </a:p>
          <a:p>
            <a:pPr algn="l">
              <a:spcAft>
                <a:spcPts val="0"/>
              </a:spcAft>
            </a:pPr>
            <a:r>
              <a:rPr sz="1100" b="0" lang="en-GB">
                <a:solidFill>
                  <a:schemeClr val="bg1"/>
                </a:solidFill>
                <a:latin typeface="Consolas"/>
              </a:rPr>
              <a:t>and a plotnine scatter of units</a:t>
            </a:r>
          </a:p>
          <a:p>
            <a:pPr algn="l">
              <a:spcAft>
                <a:spcPts val="0"/>
              </a:spcAft>
            </a:pPr>
            <a:r>
              <a:rPr sz="1100" b="0" lang="en-GB">
                <a:solidFill>
                  <a:schemeClr val="bg1"/>
                </a:solidFill>
                <a:latin typeface="Consolas"/>
              </a:rPr>
              <a:t>against temp. Run it, then explain</a:t>
            </a:r>
          </a:p>
          <a:p>
            <a:pPr algn="l">
              <a:spcAft>
                <a:spcPts val="0"/>
              </a:spcAft>
            </a:pPr>
            <a:r>
              <a:rPr sz="1100" b="0" lang="en-GB">
                <a:solidFill>
                  <a:schemeClr val="bg1"/>
                </a:solidFill>
                <a:latin typeface="Consolas"/>
              </a:rPr>
              <a:t>r and p for the kiosk owner.</a:t>
            </a:r>
          </a:p>
        </p:txBody>
      </p:sp>
      <p:sp>
        <p:nvSpPr>
          <p:cNvPr id="18" name="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plotnine, scipy), the output</a:t>
            </a:r>
          </a:p>
        </p:txBody>
      </p:sp>
      <p:sp>
        <p:nvSpPr>
          <p:cNvPr id="21" name="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Try first: </a:t>
            </a:r>
            <a:r>
              <a:rPr sz="1200" b="0" lang="en-GB">
                <a:solidFill>
                  <a:schemeClr val="tx1"/>
                </a:solidFill>
              </a:rPr>
              <a:t>ten minutes on your own, then ask; compare both answers</a:t>
            </a:r>
          </a:p>
        </p:txBody>
      </p:sp>
      <p:sp>
        <p:nvSpPr>
          <p:cNvPr id="24" name="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pandas instead of polars, np.std (divides by n), the wrong weeks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in Python:</a:t>
            </a:r>
            <a:br/>
            <a:r>
              <a:rPr sz="1200" b="1" lang="en-GB">
                <a:solidFill>
                  <a:schemeClr val="tx2"/>
                </a:solidFill>
              </a:rPr>
              <a:t>20 minutes</a:t>
            </a:r>
          </a:p>
        </p:txBody>
      </p:sp>
      <p:sp>
        <p:nvSpPr>
          <p:cNvPr id="11" name="Tur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5"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8"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1"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4"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6"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and p-value of units with price and with temp; plot units against temp</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and the tasks)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11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11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11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11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cols = ["sales", "price1", "price2",</a:t>
            </a:r>
          </a:p>
          <a:p>
            <a:pPr algn="l">
              <a:spcAft>
                <a:spcPts val="0"/>
              </a:spcAft>
            </a:pPr>
            <a:r>
              <a:rPr sz="1050" b="0" lang="en-GB">
                <a:solidFill>
                  <a:schemeClr val="bg1"/>
                </a:solidFill>
                <a:latin typeface="Consolas"/>
              </a:rPr>
              <a:t>        "price3", "price4"]</a:t>
            </a:r>
          </a:p>
          <a:p>
            <a:pPr algn="l">
              <a:spcAft>
                <a:spcPts val="0"/>
              </a:spcAft>
            </a:pPr>
            <a:r>
              <a:rPr sz="1050" b="0" lang="en-GB">
                <a:solidFill>
                  <a:schemeClr val="bg1"/>
                </a:solidFill>
                <a:latin typeface="Consolas"/>
              </a:rPr>
              <a:t>choc.select(cols).describe()</a:t>
            </a:r>
          </a:p>
          <a:p>
            <a:pPr algn="l">
              <a:spcAft>
                <a:spcPts val="0"/>
              </a:spcAft>
            </a:pPr>
            <a:r>
              <a:rPr sz="1050" b="0" lang="en-GB">
                <a:solidFill>
                  <a:schemeClr val="bg1"/>
                </a:solidFill>
                <a:latin typeface="Consolas"/>
              </a:rPr>
              <a:t>choc.select(cols).corr()</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11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9 and these questions)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11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assignments/coding-exercises/exercise-1.qmd</a:t>
            </a:r>
            <a:r>
              <a:rPr sz="1200" b="0" lang="en-GB">
                <a:solidFill>
                  <a:schemeClr val="tx1"/>
                </a:solidFill>
              </a:rPr>
              <a:t>  and on Canvas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