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7.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7.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7" r:id="rId44"/>
    <p:sldId id="288" r:id="rId45"/>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2" r:id="rId79"/>
    <p:sldId id="324" r:id="rId81"/>
    <p:sldId id="325" r:id="rId82"/>
    <p:sldId id="326" r:id="rId83"/>
    <p:sldId id="327" r:id="rId84"/>
    <p:sldId id="328" r:id="rId85"/>
    <p:sldId id="329" r:id="rId86"/>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4" Type="http://schemas.openxmlformats.org/officeDocument/2006/relationships/slide" Target="slides/slide32.xml"/><Relationship Id="rId45" Type="http://schemas.openxmlformats.org/officeDocument/2006/relationships/slide" Target="slides/slide33.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9" Type="http://schemas.openxmlformats.org/officeDocument/2006/relationships/slide" Target="slides/slide67.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then checked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ten short parts. The refresher (Parts 1 to 5) builds the vocabulary of every regression table: means, standard errors, z-values, correlations. Regression (Parts 6 to 10) uses it on real chocolate data. Each half ends with a five-question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The year starts with a price test: over five weeks the owner tried five prices. Small numbers on purpose: every result today can be checked with a calculator. The daily sales of one week (right) serve for mean and median. The same kiosk returns with its full year (52 weeks, data/kiosk/kiosk_year.csv) for the normal distribution and the in-class exercise: one example for the whole refresher.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kiosks, each sells 80 bars a week on average. In the middle our kiosk from the variance slide: sd 27.4 bars. Kiosk A is steady, 75 to 85 bars a week: sd 3.8. Kiosk B swings from 40 to 120: sd 31.6. Students can check kiosk B by hand: deviations -40, -20, 0, 20, 40, squares sum 4,000, divided by 4 is 1,000, square root 31.6. The mean alone hides these differences.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kiosk, same five weeks as on the variance slide: mean 80 bars, sd 27.4 bars. The standard deviation describes how much single weeks differ; the standard error describes how precise the average of 80 is as an estimate of a typical week. SE = s / square root of n = 27.4 / square root of 5 = 12.2 bars. With 20 weeks and the same spread it would be 27.4 / square root of 20 = 6.1: four times the data halves the standard error. A rough 95 % interval is the mean plus or minus 2 SE: 80 plus or minus 24.5, about 55 to 105 bars. The exact factor 1.96 comes from the normal distribution in Part 3; with only five weeks the exact interval is wider (t-distribution, regression part). Every 'std err' in a regression table is a standard error. Python: se_units in Step 2 of Part 5 gives 12.25.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with different spreads become comparable. The three kiosks of the spread slide all sell 80 bars a week on average. 85 bars at the steady kiosk A: z = (85 - 80) / 3.8 = +1.3. 100 bars at the volatile kiosk B: z = (100 - 80) / 31.6 = +0.6. The 85 at kiosk A is the more unusual week, although 100 looks larger.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kiosk over the whole year: after the price test it kept the regular price of 3.00 EUR in 44 weeks. Bars sold in these weeks: mean 80, sd 10 (data/kiosk/kiosk_year.csv). Why not 27.4 as in Part 2? The five test weeks mixed five different prices; at one price the weeks vary much less. The histogram is roughly bell-shaped, and the normal curve with mean 80 and sd 10 fits it. The bell curve is fully described by mean and standard deviation. The 68-95-99.7 rule: 68 % of weeks within one sd (70 to 90 bars; in our year 31 of 44), 95 % within two (60 to 100; 42 of 44; exactly 1.96 sd), 99.7 % within three (50 to 110; all 44).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Our kiosk at the regular price: how often does a week sell more than 90 bars? z = (90 - 80) / 10 = 1.0; the table gives 84.1 % below, so 15.9 % above. In our year it happened in 6 of 44 weeks (14 %): close.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 Then the in-class exercise on the kiosk's full year.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packages cover the whole session: polars for data and descriptive statistics, plotnine for charts, great_tables for tables, statsmodels for regression and tests, numpy for logs inside model formulas, scipy for the p-value of a correlation. pyarrow and jupyter are never imported but must be installed: pyarrow lets polars hand its data to plotnine and statsmodels (.to_pandas()), jupyter lets Quarto run Python. numpy, scipy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 12.25, the 12.2 bars of the standard-error slide in Part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of Steps 1 to 4 in four lines. describe() gives count, missing values, mean, standard deviation (n - 1), min, quartiles and max for every column; the 50 % row is the median. corr() gives the correlation matrix of all selected columns. pl.corr with method='spearman' correlates the ranks: use it for ordinal data such as star ratings or when the relationship is monotone but curved; here it is -1, because sales fall in every step. polars gives no p-value; scipy's pearsonr does (scipy comes with statsmodels). With five weeks p = 0.003: even five points are enough when r is -0.98. In the exercise, the same lines run on the kiosk's year: kiosk.describe() and kiosk.select(cs.numeric()).corr() with import polars.selectors as 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online quiz 1 (five questions), the coding exercise on the kiosk's year with polars, plotnine and scipy, the answers in the plenary, then the same tasks with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data/kiosk/kiosk_year.csv in the course repository: 52 weeks, six columns. Weeks 1 to 5 are the price test from the slides (2.00 to 4.00 EUR; 110, 100, 80, 70, 40 bars). From week 6 the regular price is 3.00 EUR, with four promotion weeks at 2.50 (Valentine, Easter, start of term, Christmas). A display stood next to the till in six weeks. The data are simulated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is Positron's chat, here with GitHub Copilot as the provider (set up in the GitHub and Copilot deck). It sees the files you attach and, once Python runs, the variables in your session: so run the first cell before you ask. It asks before it runs code; Accept, Decline or reply with instructions. Stay in Normal mode; /ask gives explanations without edits; never /yolo. Errors in the Console and in Quarto output have Fix and Explain buttons that send the error to Posit Assistant. Course rule: solve each task yourself with the packages first, then ask, and compare.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 prompts. Each names the file (or task), the packages and the output, and asks for an explanation. Without 'polars, not pandas' many models switch to pandas. Typical slips to watch: pandas instead of polars, numpy's np.std (divides by n, not n - 1), a correlation over the regular weeks only when the task says all 52 weeks. If a step is wrong, say so in the same chat and ask again.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sessions/01-foundations/regression_chocolate.qmd: open it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corr() the correlation matrix of sales and the four prices, the same lines as Step 6 of Part 5 (sales and price1: -0.94).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four steps as in the refresher: online quiz 2, a short coding exercise on the chocolate data with polars and statsmodels, the answers in the plenary, then the same tasks with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routine as in the refresher. Posit Assistant sees the attached file and, once Python runs, the data frames choc and df and the fitted models. It asks before it runs code. Ask it to explain, not only to compute: 'what does -3.94 mean for the brand manager?' Check every interpretation against the slides: log-log coefficients are elasticities, not units. Course rule: own solution first, then ask, then compare.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 prompts. Each names the file or task, the packages and the output, and asks for an explanation. Typical slips in regression: scikit-learn instead of statsmodels (no standard errors, no p-values), the log forgotten on one side of the formula, a log-log coefficient read as units, pandas for reading the data. If a step is wrong, say so in the same chat and ask again.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6.png"/><Relationship Id="rId4"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37.png"/><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43.png"/><Relationship Id="rId5" Type="http://schemas.openxmlformats.org/officeDocument/2006/relationships/image" Target="../media/image40.png"/><Relationship Id="rId6" Type="http://schemas.openxmlformats.org/officeDocument/2006/relationships/image" Target="../media/image44.png"/><Relationship Id="rId7"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27.png"/><Relationship Id="rId4" Type="http://schemas.openxmlformats.org/officeDocument/2006/relationships/image" Target="../media/image4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6.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48.png"/><Relationship Id="rId4" Type="http://schemas.openxmlformats.org/officeDocument/2006/relationships/image" Target="../media/image3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27.png"/><Relationship Id="rId6"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1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37.png"/><Relationship Id="rId4" Type="http://schemas.openxmlformats.org/officeDocument/2006/relationships/image" Target="../media/image3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 Id="rId3" Type="http://schemas.openxmlformats.org/officeDocument/2006/relationships/image" Target="../media/image2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image" Target="../media/image3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 Id="rId3"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11.png"/><Relationship Id="rId4" Type="http://schemas.openxmlformats.org/officeDocument/2006/relationships/image" Target="../media/image5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 Id="rId3" Type="http://schemas.openxmlformats.org/officeDocument/2006/relationships/image" Target="../media/image11.png"/><Relationship Id="rId4" Type="http://schemas.openxmlformats.org/officeDocument/2006/relationships/image" Target="../media/image5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Python; in-class exercise and quiz</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10</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a:t>
            </a:r>
          </a:p>
          <a:p>
            <a:pPr algn="l" marL="182880" indent="-182880">
              <a:spcAft>
                <a:spcPts val="600"/>
              </a:spcAft>
              <a:buClr>
                <a:schemeClr val="accent1"/>
              </a:buClr>
              <a:buFont typeface="Arial"/>
              <a:buChar char="▪"/>
            </a:pPr>
            <a:r>
              <a:rPr sz="1300" b="0" lang="en-GB">
                <a:solidFill>
                  <a:schemeClr val="tx1"/>
                </a:solidFill>
              </a:rPr>
              <a:t>In-class exercise and online quiz 2</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can be checked with a calculator, then in Python. Later: the kiosk's full year, 52 weeks.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10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10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hree rows of five dots around a dashed line at 80: kiosk A between 75 and 85, our kiosk between 40 and 110, kiosk B between 40 and 120"/>
          <p:cNvPicPr>
            <a:picLocks noChangeAspect="1"/>
          </p:cNvPicPr>
          <p:nvPr/>
        </p:nvPicPr>
        <p:blipFill>
          <a:blip r:embed="rId3"/>
          <a:stretch>
            <a:fillRect/>
          </a:stretch>
        </p:blipFill>
        <p:spPr>
          <a:xfrm>
            <a:off x="457200" y="1234440"/>
            <a:ext cx="4389120" cy="2395728"/>
          </a:xfrm>
          <a:prstGeom prst="rect">
            <a:avLst/>
          </a:prstGeom>
        </p:spPr>
      </p:pic>
      <p:sp>
        <p:nvSpPr>
          <p:cNvPr id="11" name="SD stat box 1"/>
          <p:cNvSpPr/>
          <p:nvPr/>
        </p:nvSpPr>
        <p:spPr>
          <a:xfrm>
            <a:off x="4983480" y="1234440"/>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498348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166360" y="1234440"/>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400800" y="1234440"/>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A, weeks of 75, 78, 80, 82, 85 bars</a:t>
            </a:r>
          </a:p>
        </p:txBody>
      </p:sp>
      <p:sp>
        <p:nvSpPr>
          <p:cNvPr id="15" name="SD stat box 2"/>
          <p:cNvSpPr/>
          <p:nvPr/>
        </p:nvSpPr>
        <p:spPr>
          <a:xfrm>
            <a:off x="4983480" y="2039112"/>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498348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166360" y="2039112"/>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27.4</a:t>
            </a:r>
          </a:p>
        </p:txBody>
      </p:sp>
      <p:sp>
        <p:nvSpPr>
          <p:cNvPr id="18" name="SD stat 2 label"/>
          <p:cNvSpPr txBox="1"/>
          <p:nvPr/>
        </p:nvSpPr>
        <p:spPr>
          <a:xfrm>
            <a:off x="6400800" y="2039112"/>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our kiosk, weeks of 110, 100, 80, 70, 40 bars</a:t>
            </a:r>
          </a:p>
        </p:txBody>
      </p:sp>
      <p:sp>
        <p:nvSpPr>
          <p:cNvPr id="19" name="SD stat box 3"/>
          <p:cNvSpPr/>
          <p:nvPr/>
        </p:nvSpPr>
        <p:spPr>
          <a:xfrm>
            <a:off x="4983480" y="2843784"/>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D stat 3 bar"/>
          <p:cNvSpPr/>
          <p:nvPr/>
        </p:nvSpPr>
        <p:spPr>
          <a:xfrm>
            <a:off x="498348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stat 3 figure"/>
          <p:cNvSpPr txBox="1"/>
          <p:nvPr/>
        </p:nvSpPr>
        <p:spPr>
          <a:xfrm>
            <a:off x="5166360" y="2843784"/>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22" name="SD stat 3 label"/>
          <p:cNvSpPr txBox="1"/>
          <p:nvPr/>
        </p:nvSpPr>
        <p:spPr>
          <a:xfrm>
            <a:off x="6400800" y="2843784"/>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B, weeks of 40, 60, 80, 100, 120 bars</a:t>
            </a:r>
          </a:p>
        </p:txBody>
      </p:sp>
      <p:sp>
        <p:nvSpPr>
          <p:cNvPr id="23"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5"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all three sell 80 bars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rough 95% interval ≈ x̄ ± 2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12.2</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our 5 weeks: 27.4 / √5, in bars</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6.1</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20 weeks: 27.4 / √20, in bars</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55–105</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rough 95 % interval for the mean: 80 ± 2 · 12.2 bars</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 27.4 </a:t>
            </a:r>
            <a:r>
              <a:rPr sz="1200" b="0" lang="en-GB">
                <a:solidFill>
                  <a:schemeClr val="tx1"/>
                </a:solidFill>
              </a:rPr>
              <a:t>describes the weeks: a single week is typically 27 bars away from 80</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 12.2 </a:t>
            </a:r>
            <a:r>
              <a:rPr sz="1200" b="0" lang="en-GB">
                <a:solidFill>
                  <a:schemeClr val="tx1"/>
                </a:solidFill>
              </a:rPr>
              <a:t>describes the average: it shrinks with √n; four times the weeks,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10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 (spread slide)</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A, steady</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85</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3.8</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B, volatile</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31.6</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+0.6</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85 bars at steady kiosk A lie 1.3 standard deviations above its mean, 100 bars at kiosk B only 0.6: kiosk 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kiosks,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Histogram of bars sold in the kiosk's 44 regular-price weeks with a normal curve, mean 80 and sd 10, and dashed lines at 70 and 90"/>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±1 sd, 70 to 90 bars: 31 of our 44 weeks</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±2 sd, 60 to 100 bars: 42 of our 44 weeks</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±3 sd, 50 to 110 bars: all 44 weeks</a:t>
            </a:r>
          </a:p>
        </p:txBody>
      </p:sp>
      <p:sp>
        <p:nvSpPr>
          <p:cNvPr id="23" name="Normal example"/>
          <p:cNvSpPr txBox="1"/>
          <p:nvPr/>
        </p:nvSpPr>
        <p:spPr>
          <a:xfrm>
            <a:off x="4800600" y="3657600"/>
            <a:ext cx="38862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Our kiosk: </a:t>
            </a:r>
            <a:r>
              <a:rPr sz="1200" b="0" lang="en-GB">
                <a:solidFill>
                  <a:schemeClr val="tx1"/>
                </a:solidFill>
              </a:rPr>
              <a:t>44 weeks at 3.00, mean 80, sd 10</a:t>
            </a:r>
          </a:p>
        </p:txBody>
      </p:sp>
      <p:sp>
        <p:nvSpPr>
          <p:cNvPr id="24"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6"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More than 90 bars? </a:t>
            </a:r>
            <a:r>
              <a:rPr sz="1200" b="0" lang="en-GB">
                <a:solidFill>
                  <a:schemeClr val="tx1"/>
                </a:solidFill>
              </a:rPr>
              <a:t>z = (90 − 80) / 10 = 1.0, so 100 − 84.1 = 15.9 % of weeks; our year: 6 of 44</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10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10 · mean, standard deviation, z-scores, covariance and correlation by hand, then checked; the kiosk's year</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6362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6362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6362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6362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6362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6362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89280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89280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89280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89280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89280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89280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22199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22199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22199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22199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22199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22199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551176"/>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551176"/>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551176"/>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551176"/>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551176"/>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551176"/>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2880360"/>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2880360"/>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2880360"/>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2880360"/>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2880360"/>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2880360"/>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20954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20954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scipy</a:t>
            </a:r>
          </a:p>
        </p:txBody>
      </p:sp>
      <p:sp>
        <p:nvSpPr>
          <p:cNvPr id="48" name="Pkg table 7-2"/>
          <p:cNvSpPr/>
          <p:nvPr/>
        </p:nvSpPr>
        <p:spPr>
          <a:xfrm>
            <a:off x="1965960" y="320954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20954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scipy import stats</a:t>
            </a:r>
          </a:p>
        </p:txBody>
      </p:sp>
      <p:sp>
        <p:nvSpPr>
          <p:cNvPr id="50" name="Pkg table 7-3"/>
          <p:cNvSpPr/>
          <p:nvPr/>
        </p:nvSpPr>
        <p:spPr>
          <a:xfrm>
            <a:off x="5394960" y="320954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20954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p-value of a correlation</a:t>
            </a:r>
          </a:p>
        </p:txBody>
      </p:sp>
      <p:sp>
        <p:nvSpPr>
          <p:cNvPr id="52" name="Pkg table 8-1"/>
          <p:cNvSpPr/>
          <p:nvPr/>
        </p:nvSpPr>
        <p:spPr>
          <a:xfrm>
            <a:off x="457200" y="353872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53872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54" name="Pkg table 8-2"/>
          <p:cNvSpPr/>
          <p:nvPr/>
        </p:nvSpPr>
        <p:spPr>
          <a:xfrm>
            <a:off x="1965960" y="353872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53872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53872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53872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8" name="Pkg table 9-1"/>
          <p:cNvSpPr/>
          <p:nvPr/>
        </p:nvSpPr>
        <p:spPr>
          <a:xfrm>
            <a:off x="457200" y="386791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Pkg table text 9-1"/>
          <p:cNvSpPr txBox="1"/>
          <p:nvPr/>
        </p:nvSpPr>
        <p:spPr>
          <a:xfrm>
            <a:off x="548640" y="386791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60" name="Pkg table 9-2"/>
          <p:cNvSpPr/>
          <p:nvPr/>
        </p:nvSpPr>
        <p:spPr>
          <a:xfrm>
            <a:off x="1965960" y="386791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Pkg table text 9-2"/>
          <p:cNvSpPr txBox="1"/>
          <p:nvPr/>
        </p:nvSpPr>
        <p:spPr>
          <a:xfrm>
            <a:off x="2057400" y="386791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62" name="Pkg table 9-3"/>
          <p:cNvSpPr/>
          <p:nvPr/>
        </p:nvSpPr>
        <p:spPr>
          <a:xfrm>
            <a:off x="5394960" y="386791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Pkg table text 9-3"/>
          <p:cNvSpPr txBox="1"/>
          <p:nvPr/>
        </p:nvSpPr>
        <p:spPr>
          <a:xfrm>
            <a:off x="5486400" y="386791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64"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6"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scipy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descriptive statistics and correlation with polars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sc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sc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then scipy for p</a:t>
            </a:r>
          </a:p>
        </p:txBody>
      </p:sp>
      <p:sp>
        <p:nvSpPr>
          <p:cNvPr id="12" name="Desc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sc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scipy import stats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"units").describe()</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"units").corr()   # matrix</a:t>
            </a:r>
          </a:p>
          <a:p>
            <a:pPr algn="l">
              <a:spcAft>
                <a:spcPts val="0"/>
              </a:spcAft>
            </a:pPr>
            <a:r>
              <a:rPr sz="1100" b="0" lang="en-GB">
                <a:solidFill>
                  <a:schemeClr val="bg1"/>
                </a:solidFill>
                <a:latin typeface="Consolas"/>
              </a:rPr>
              <a:t>kiosk.select(pl.corr("price", "units",</a:t>
            </a:r>
          </a:p>
          <a:p>
            <a:pPr algn="l">
              <a:spcAft>
                <a:spcPts val="0"/>
              </a:spcAft>
            </a:pPr>
            <a:r>
              <a:rPr sz="1100" b="0" lang="en-GB">
                <a:solidFill>
                  <a:schemeClr val="bg1"/>
                </a:solidFill>
                <a:latin typeface="Consolas"/>
              </a:rPr>
              <a:t>             method="spearman"))        # ranks</a:t>
            </a:r>
          </a:p>
          <a:p>
            <a:pPr algn="l">
              <a:spcAft>
                <a:spcPts val="0"/>
              </a:spcAft>
            </a:pPr>
            <a:r>
              <a:rPr sz="1100" b="0" lang="en-GB">
                <a:solidFill>
                  <a:schemeClr val="bg1"/>
                </a:solidFill>
                <a:latin typeface="Consolas"/>
              </a:rPr>
              <a:t>stats.pearsonr(kiosk["price"],</a:t>
            </a:r>
          </a:p>
          <a:p>
            <a:pPr algn="l">
              <a:spcAft>
                <a:spcPts val="0"/>
              </a:spcAft>
            </a:pPr>
            <a:r>
              <a:rPr sz="1100" b="0" lang="en-GB">
                <a:solidFill>
                  <a:schemeClr val="bg1"/>
                </a:solidFill>
                <a:latin typeface="Consolas"/>
              </a:rPr>
              <a:t>               kiosk["units"])          # r and p</a:t>
            </a:r>
          </a:p>
        </p:txBody>
      </p:sp>
      <p:sp>
        <p:nvSpPr>
          <p:cNvPr id="14" name="Desc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sc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Desc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sc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Desc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sc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units</a:t>
            </a:r>
          </a:p>
        </p:txBody>
      </p:sp>
      <p:sp>
        <p:nvSpPr>
          <p:cNvPr id="20" name="Desc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sc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2" name="Desc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sc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units</a:t>
            </a:r>
          </a:p>
        </p:txBody>
      </p:sp>
      <p:sp>
        <p:nvSpPr>
          <p:cNvPr id="24" name="Desc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sc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Desc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sc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50 %, median</a:t>
            </a:r>
          </a:p>
        </p:txBody>
      </p:sp>
      <p:sp>
        <p:nvSpPr>
          <p:cNvPr id="28" name="Desc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sc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Desc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sc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 Pearson</a:t>
            </a:r>
          </a:p>
        </p:txBody>
      </p:sp>
      <p:sp>
        <p:nvSpPr>
          <p:cNvPr id="32" name="Desc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sc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Desc out 6-1"/>
          <p:cNvSpPr/>
          <p:nvPr/>
        </p:nvSpPr>
        <p:spPr>
          <a:xfrm>
            <a:off x="5532120" y="3200400"/>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sc out text 6-1"/>
          <p:cNvSpPr txBox="1"/>
          <p:nvPr/>
        </p:nvSpPr>
        <p:spPr>
          <a:xfrm>
            <a:off x="5623560" y="3200400"/>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rho, Spearman</a:t>
            </a:r>
          </a:p>
        </p:txBody>
      </p:sp>
      <p:sp>
        <p:nvSpPr>
          <p:cNvPr id="36" name="Desc out 6-2"/>
          <p:cNvSpPr/>
          <p:nvPr/>
        </p:nvSpPr>
        <p:spPr>
          <a:xfrm>
            <a:off x="7360920" y="3200400"/>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sc out text 6-2"/>
          <p:cNvSpPr txBox="1"/>
          <p:nvPr/>
        </p:nvSpPr>
        <p:spPr>
          <a:xfrm>
            <a:off x="7452360" y="3200400"/>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−1.000</a:t>
            </a:r>
          </a:p>
        </p:txBody>
      </p:sp>
      <p:sp>
        <p:nvSpPr>
          <p:cNvPr id="38" name="Desc out 7-1"/>
          <p:cNvSpPr/>
          <p:nvPr/>
        </p:nvSpPr>
        <p:spPr>
          <a:xfrm>
            <a:off x="5532120" y="359359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sc out text 7-1"/>
          <p:cNvSpPr txBox="1"/>
          <p:nvPr/>
        </p:nvSpPr>
        <p:spPr>
          <a:xfrm>
            <a:off x="5623560" y="359359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p-value of r</a:t>
            </a:r>
          </a:p>
        </p:txBody>
      </p:sp>
      <p:sp>
        <p:nvSpPr>
          <p:cNvPr id="40" name="Desc out 7-2"/>
          <p:cNvSpPr/>
          <p:nvPr/>
        </p:nvSpPr>
        <p:spPr>
          <a:xfrm>
            <a:off x="7360920" y="359359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sc out text 7-2"/>
          <p:cNvSpPr txBox="1"/>
          <p:nvPr/>
        </p:nvSpPr>
        <p:spPr>
          <a:xfrm>
            <a:off x="7452360" y="359359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42" name="Desc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Desc same" descr=""/>
          <p:cNvPicPr>
            <a:picLocks noChangeAspect="1"/>
          </p:cNvPicPr>
          <p:nvPr/>
        </p:nvPicPr>
        <p:blipFill>
          <a:blip r:embed="rId3"/>
          <a:stretch>
            <a:fillRect/>
          </a:stretch>
        </p:blipFill>
        <p:spPr>
          <a:xfrm>
            <a:off x="658368" y="4251960"/>
            <a:ext cx="365760" cy="365760"/>
          </a:xfrm>
          <a:prstGeom prst="rect">
            <a:avLst/>
          </a:prstGeom>
        </p:spPr>
      </p:pic>
      <p:sp>
        <p:nvSpPr>
          <p:cNvPr id="44" name="Desc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as by hand: </a:t>
            </a:r>
            <a:r>
              <a:rPr sz="1200" b="0" lang="en-GB">
                <a:solidFill>
                  <a:schemeClr val="tx1"/>
                </a:solidFill>
              </a:rPr>
              <a:t>describe() for every column at once, corr() for every pair; scipy adds the p-value.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10 · online quiz, then the kiosk's year in Python, then with Posit Assistant</a:t>
            </a:r>
          </a:p>
        </p:txBody>
      </p:sp>
      <p:sp>
        <p:nvSpPr>
          <p:cNvPr id="3" name="Title 2"/>
          <p:cNvSpPr>
            <a:spLocks noGrp="1"/>
          </p:cNvSpPr>
          <p:nvPr>
            <p:ph type="ctrTitle"/>
          </p:nvPr>
        </p:nvSpPr>
        <p:spPr/>
        <p:txBody>
          <a:bodyPr/>
          <a:lstStyle/>
          <a:p>
            <a:r>
              <a:rPr sz="1600"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The kiosk records four times as many weeks.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Online on Canvas: </a:t>
            </a:r>
            <a:r>
              <a:rPr sz="1200" b="0" lang="en-GB">
                <a:solidFill>
                  <a:schemeClr val="bg1"/>
                </a:solidFill>
              </a:rPr>
              <a:t>3 minutes alone, then compare with your neighbour. Same format as the exam.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Year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621792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52; weeks 1 to 5 are the price test of the slides</a:t>
                      </a:r>
                    </a:p>
                  </a:txBody>
                  <a:tcPr marT="34000" marB="34000"/>
                </a:tc>
              </a:tr>
              <a:tr h="370840">
                <a:tc>
                  <a:txBody>
                    <a:bodyPr/>
                    <a:lstStyle/>
                    <a:p>
                      <a:r>
                        <a:rPr sz="1200" b="1" lang="en-GB"/>
                        <a:t>price</a:t>
                      </a:r>
                    </a:p>
                  </a:txBody>
                  <a:tcPr marT="34000" marB="34000"/>
                </a:tc>
                <a:tc>
                  <a:txBody>
                    <a:bodyPr/>
                    <a:lstStyle/>
                    <a:p>
                      <a:r>
                        <a:rPr sz="1200" lang="en-GB"/>
                        <a:t>price per bar, EUR: 3.00 regular, 2.50 in four promotion weeks</a:t>
                      </a:r>
                    </a:p>
                  </a:txBody>
                  <a:tcPr marT="34000" marB="34000"/>
                </a:tc>
              </a:tr>
              <a:tr h="370840">
                <a:tc>
                  <a:txBody>
                    <a:bodyPr/>
                    <a:lstStyle/>
                    <a:p>
                      <a:r>
                        <a:rPr sz="1200" b="1" lang="en-GB"/>
                        <a:t>units</a:t>
                      </a:r>
                    </a:p>
                  </a:txBody>
                  <a:tcPr marT="34000" marB="34000"/>
                </a:tc>
                <a:tc>
                  <a:txBody>
                    <a:bodyPr/>
                    <a:lstStyle/>
                    <a:p>
                      <a:r>
                        <a:rPr sz="1200" lang="en-GB"/>
                        <a:t>bars sold in the week</a:t>
                      </a:r>
                    </a:p>
                  </a:txBody>
                  <a:tcPr marT="34000" marB="34000"/>
                </a:tc>
              </a:tr>
              <a:tr h="370840">
                <a:tc>
                  <a:txBody>
                    <a:bodyPr/>
                    <a:lstStyle/>
                    <a:p>
                      <a:r>
                        <a:rPr sz="1200" b="1" lang="en-GB"/>
                        <a:t>temp</a:t>
                      </a:r>
                    </a:p>
                  </a:txBody>
                  <a:tcPr marT="34000" marB="34000"/>
                </a:tc>
                <a:tc>
                  <a:txBody>
                    <a:bodyPr/>
                    <a:lstStyle/>
                    <a:p>
                      <a:r>
                        <a:rPr sz="1200" lang="en-GB"/>
                        <a:t>average temperature of the week, °C</a:t>
                      </a:r>
                    </a:p>
                  </a:txBody>
                  <a:tcPr marT="34000" marB="34000"/>
                </a:tc>
              </a:tr>
              <a:tr h="370840">
                <a:tc>
                  <a:txBody>
                    <a:bodyPr/>
                    <a:lstStyle/>
                    <a:p>
                      <a:r>
                        <a:rPr sz="1200" b="1" lang="en-GB"/>
                        <a:t>display</a:t>
                      </a:r>
                    </a:p>
                  </a:txBody>
                  <a:tcPr marT="34000" marB="34000"/>
                </a:tc>
                <a:tc>
                  <a:txBody>
                    <a:bodyPr/>
                    <a:lstStyle/>
                    <a:p>
                      <a:r>
                        <a:rPr sz="1200" lang="en-GB"/>
                        <a:t>yes if a display stood next to the till</a:t>
                      </a:r>
                    </a:p>
                  </a:txBody>
                  <a:tcPr marT="34000" marB="34000"/>
                </a:tc>
              </a:tr>
              <a:tr h="370840">
                <a:tc>
                  <a:txBody>
                    <a:bodyPr/>
                    <a:lstStyle/>
                    <a:p>
                      <a:r>
                        <a:rPr sz="1200" b="1" lang="en-GB"/>
                        <a:t>rating</a:t>
                      </a:r>
                    </a:p>
                  </a:txBody>
                  <a:tcPr marT="34000" marB="34000"/>
                </a:tc>
                <a:tc>
                  <a:txBody>
                    <a:bodyPr/>
                    <a:lstStyle/>
                    <a:p>
                      <a:r>
                        <a:rPr sz="1200" lang="en-GB"/>
                        <a:t>median customer rating of the week, 1 to 5 stars</a:t>
                      </a:r>
                    </a:p>
                  </a:txBody>
                  <a:tcPr marT="34000" marB="34000"/>
                </a:tc>
              </a:tr>
            </a:tbl>
          </a:graphicData>
        </a:graphic>
      </p:graphicFrame>
      <p:sp>
        <p:nvSpPr>
          <p:cNvPr id="3" name="Title 2"/>
          <p:cNvSpPr>
            <a:spLocks noGrp="1"/>
          </p:cNvSpPr>
          <p:nvPr>
            <p:ph type="title"/>
          </p:nvPr>
        </p:nvSpPr>
        <p:spPr/>
        <p:txBody>
          <a:bodyPr/>
          <a:lstStyle/>
          <a:p>
            <a:r>
              <a:rPr sz="1600" lang="en-GB"/>
              <a:t>The data: one year at the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ear file"/>
          <p:cNvSpPr txBox="1"/>
          <p:nvPr/>
        </p:nvSpPr>
        <p:spPr>
          <a:xfrm>
            <a:off x="457200" y="40233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data/kiosk/kiosk_year.csv</a:t>
            </a:r>
            <a:r>
              <a:rPr sz="1200" b="0" lang="en-GB">
                <a:solidFill>
                  <a:schemeClr val="tx1"/>
                </a:solidFill>
              </a:rPr>
              <a:t>  52 weeks, one row per week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one year at the kiosk,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15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of the six columns? What may you calculate for display and rating?</a:t>
            </a:r>
          </a:p>
        </p:txBody>
      </p:sp>
      <p:sp>
        <p:nvSpPr>
          <p:cNvPr id="16" name="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units over all 52 weeks; the median rating</a:t>
            </a:r>
          </a:p>
        </p:txBody>
      </p:sp>
      <p:sp>
        <p:nvSpPr>
          <p:cNvPr id="19" name="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sd and standard error of units in the regular-price weeks (price 3.00)</a:t>
            </a:r>
          </a:p>
        </p:txBody>
      </p:sp>
      <p:sp>
        <p:nvSpPr>
          <p:cNvPr id="22" name="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Normal: </a:t>
            </a:r>
            <a:r>
              <a:rPr sz="1200" b="0" lang="en-GB">
                <a:solidFill>
                  <a:schemeClr val="tx1"/>
                </a:solidFill>
              </a:rPr>
              <a:t>how many regular weeks lie within mean ± 2 sd? z of the best regular week?</a:t>
            </a:r>
          </a:p>
        </p:txBody>
      </p:sp>
      <p:sp>
        <p:nvSpPr>
          <p:cNvPr id="25" name="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7" name="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r and p-value of units with price and with temp; plot units against temp</a:t>
            </a:r>
          </a:p>
        </p:txBody>
      </p:sp>
      <p:sp>
        <p:nvSpPr>
          <p:cNvPr id="28"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sessions/01-foundations/refresher_exercise.qmd</a:t>
            </a:r>
            <a:r>
              <a:rPr sz="1200" b="0" lang="en-GB">
                <a:solidFill>
                  <a:schemeClr val="tx1"/>
                </a:solidFill>
              </a:rPr>
              <a:t>  (data, packages, tasks, Posit Assistant)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step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steps number 1"/>
          <p:cNvSpPr/>
          <p:nvPr/>
        </p:nvSpPr>
        <p:spPr>
          <a:xfrm>
            <a:off x="594360" y="13075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Posit steps text 1"/>
          <p:cNvSpPr txBox="1"/>
          <p:nvPr/>
        </p:nvSpPr>
        <p:spPr>
          <a:xfrm>
            <a:off x="1051560" y="123444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solve the tasks with the packages; keep the first cell run, so Posit Assistant sees kiosk</a:t>
            </a:r>
          </a:p>
        </p:txBody>
      </p:sp>
      <p:sp>
        <p:nvSpPr>
          <p:cNvPr id="13" name="Posit step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osit steps number 2"/>
          <p:cNvSpPr/>
          <p:nvPr/>
        </p:nvSpPr>
        <p:spPr>
          <a:xfrm>
            <a:off x="594360" y="183794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Posit steps text 2"/>
          <p:cNvSpPr txBox="1"/>
          <p:nvPr/>
        </p:nvSpPr>
        <p:spPr>
          <a:xfrm>
            <a:off x="1051560" y="176479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Open the chat: </a:t>
            </a:r>
            <a:r>
              <a:rPr sz="1200" b="0" lang="en-GB">
                <a:solidFill>
                  <a:schemeClr val="tx1"/>
                </a:solidFill>
              </a:rPr>
              <a:t>Posit Assistant icon in the activity bar, or Ctrl/Cmd + Shift + P → View: Show Posit Assistant</a:t>
            </a:r>
          </a:p>
        </p:txBody>
      </p:sp>
      <p:sp>
        <p:nvSpPr>
          <p:cNvPr id="16" name="Posit step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osit steps number 3"/>
          <p:cNvSpPr/>
          <p:nvPr/>
        </p:nvSpPr>
        <p:spPr>
          <a:xfrm>
            <a:off x="594360" y="23682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Posit steps text 3"/>
          <p:cNvSpPr txBox="1"/>
          <p:nvPr/>
        </p:nvSpPr>
        <p:spPr>
          <a:xfrm>
            <a:off x="1051560" y="229514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Give context: </a:t>
            </a:r>
            <a:r>
              <a:rPr sz="1200" b="0" lang="en-GB">
                <a:solidFill>
                  <a:schemeClr val="tx1"/>
                </a:solidFill>
              </a:rPr>
              <a:t>type @refresher_exercise.qmd, then one task per prompt: the file, the packages, the output</a:t>
            </a:r>
          </a:p>
        </p:txBody>
      </p:sp>
      <p:sp>
        <p:nvSpPr>
          <p:cNvPr id="19" name="Posit step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osit steps number 4"/>
          <p:cNvSpPr/>
          <p:nvPr/>
        </p:nvSpPr>
        <p:spPr>
          <a:xfrm>
            <a:off x="594360" y="2898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Posit steps text 4"/>
          <p:cNvSpPr txBox="1"/>
          <p:nvPr/>
        </p:nvSpPr>
        <p:spPr>
          <a:xfrm>
            <a:off x="1051560" y="282549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Approve with care: </a:t>
            </a:r>
            <a:r>
              <a:rPr sz="1200" b="0" lang="en-GB">
                <a:solidFill>
                  <a:schemeClr val="tx1"/>
                </a:solidFill>
              </a:rPr>
              <a:t>it asks before it runs code: Accept, Decline or reply; read every edit first</a:t>
            </a:r>
          </a:p>
        </p:txBody>
      </p:sp>
      <p:sp>
        <p:nvSpPr>
          <p:cNvPr id="22" name="Posit step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osit steps number 5"/>
          <p:cNvSpPr/>
          <p:nvPr/>
        </p:nvSpPr>
        <p:spPr>
          <a:xfrm>
            <a:off x="594360" y="34290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Posit steps text 5"/>
          <p:cNvSpPr txBox="1"/>
          <p:nvPr/>
        </p:nvSpPr>
        <p:spPr>
          <a:xfrm>
            <a:off x="1051560" y="335584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its code and numbers with yours and the answers; on an error, click Fix or Explain</a:t>
            </a:r>
          </a:p>
        </p:txBody>
      </p:sp>
      <p:sp>
        <p:nvSpPr>
          <p:cNvPr id="25" name="Posit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Posit safe" descr=""/>
          <p:cNvPicPr>
            <a:picLocks noChangeAspect="1"/>
          </p:cNvPicPr>
          <p:nvPr/>
        </p:nvPicPr>
        <p:blipFill>
          <a:blip r:embed="rId3"/>
          <a:stretch>
            <a:fillRect/>
          </a:stretch>
        </p:blipFill>
        <p:spPr>
          <a:xfrm>
            <a:off x="658368" y="4183380"/>
            <a:ext cx="365760" cy="365760"/>
          </a:xfrm>
          <a:prstGeom prst="rect">
            <a:avLst/>
          </a:prstGeom>
        </p:spPr>
      </p:pic>
      <p:sp>
        <p:nvSpPr>
          <p:cNvPr id="27" name="Posit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Stay in Normal mode: </a:t>
            </a:r>
            <a:r>
              <a:rPr sz="1200" b="0" lang="en-GB">
                <a:solidFill>
                  <a:schemeClr val="bg1"/>
                </a:solidFill>
              </a:rPr>
              <a:t>never /yolo. Use /ask when you want an explanation without edits. You own every number.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for the exercise: one task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mpt 2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mpt 2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2" name="Prompt 2 box"/>
          <p:cNvSpPr/>
          <p:nvPr/>
        </p:nvSpPr>
        <p:spPr>
          <a:xfrm>
            <a:off x="45720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mpt 2 code"/>
          <p:cNvSpPr txBox="1"/>
          <p:nvPr/>
        </p:nvSpPr>
        <p:spPr>
          <a:xfrm>
            <a:off x="59436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@refresher_exercise.qmd Task 2.</a:t>
            </a:r>
          </a:p>
          <a:p>
            <a:pPr algn="l">
              <a:spcAft>
                <a:spcPts val="0"/>
              </a:spcAft>
            </a:pPr>
            <a:r>
              <a:rPr sz="1100" b="0" lang="en-GB">
                <a:solidFill>
                  <a:schemeClr val="bg1"/>
                </a:solidFill>
                <a:latin typeface="Consolas"/>
              </a:rPr>
              <a:t>Use polars, not pandas. Mean and</a:t>
            </a:r>
          </a:p>
          <a:p>
            <a:pPr algn="l">
              <a:spcAft>
                <a:spcPts val="0"/>
              </a:spcAft>
            </a:pPr>
            <a:r>
              <a:rPr sz="1100" b="0" lang="en-GB">
                <a:solidFill>
                  <a:schemeClr val="bg1"/>
                </a:solidFill>
                <a:latin typeface="Consolas"/>
              </a:rPr>
              <a:t>median of units over all 52 weeks</a:t>
            </a:r>
          </a:p>
          <a:p>
            <a:pPr algn="l">
              <a:spcAft>
                <a:spcPts val="0"/>
              </a:spcAft>
            </a:pPr>
            <a:r>
              <a:rPr sz="1100" b="0" lang="en-GB">
                <a:solidFill>
                  <a:schemeClr val="bg1"/>
                </a:solidFill>
                <a:latin typeface="Consolas"/>
              </a:rPr>
              <a:t>and the median rating, with</a:t>
            </a:r>
          </a:p>
          <a:p>
            <a:pPr algn="l">
              <a:spcAft>
                <a:spcPts val="0"/>
              </a:spcAft>
            </a:pPr>
            <a:r>
              <a:rPr sz="1100" b="0" lang="en-GB">
                <a:solidFill>
                  <a:schemeClr val="bg1"/>
                </a:solidFill>
                <a:latin typeface="Consolas"/>
              </a:rPr>
              <a:t>kiosk.describe(). Write the code</a:t>
            </a:r>
          </a:p>
          <a:p>
            <a:pPr algn="l">
              <a:spcAft>
                <a:spcPts val="0"/>
              </a:spcAft>
            </a:pPr>
            <a:r>
              <a:rPr sz="1100" b="0" lang="en-GB">
                <a:solidFill>
                  <a:schemeClr val="bg1"/>
                </a:solidFill>
                <a:latin typeface="Consolas"/>
              </a:rPr>
              <a:t>into the Task 2 cell and explain</a:t>
            </a:r>
          </a:p>
          <a:p>
            <a:pPr algn="l">
              <a:spcAft>
                <a:spcPts val="0"/>
              </a:spcAft>
            </a:pPr>
            <a:r>
              <a:rPr sz="1100" b="0" lang="en-GB">
                <a:solidFill>
                  <a:schemeClr val="bg1"/>
                </a:solidFill>
                <a:latin typeface="Consolas"/>
              </a:rPr>
              <a:t>each line.</a:t>
            </a:r>
          </a:p>
        </p:txBody>
      </p:sp>
      <p:sp>
        <p:nvSpPr>
          <p:cNvPr id="14" name="Prompt 5 caption bar"/>
          <p:cNvSpPr/>
          <p:nvPr/>
        </p:nvSpPr>
        <p:spPr>
          <a:xfrm>
            <a:off x="464058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mpt 5 caption"/>
          <p:cNvSpPr txBox="1"/>
          <p:nvPr/>
        </p:nvSpPr>
        <p:spPr>
          <a:xfrm>
            <a:off x="475030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5</a:t>
            </a:r>
          </a:p>
        </p:txBody>
      </p:sp>
      <p:sp>
        <p:nvSpPr>
          <p:cNvPr id="16" name="Prompt 5 box"/>
          <p:cNvSpPr/>
          <p:nvPr/>
        </p:nvSpPr>
        <p:spPr>
          <a:xfrm>
            <a:off x="464058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mpt 5 code"/>
          <p:cNvSpPr txBox="1"/>
          <p:nvPr/>
        </p:nvSpPr>
        <p:spPr>
          <a:xfrm>
            <a:off x="477774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Task 5. Correlation of units with</a:t>
            </a:r>
          </a:p>
          <a:p>
            <a:pPr algn="l">
              <a:spcAft>
                <a:spcPts val="0"/>
              </a:spcAft>
            </a:pPr>
            <a:r>
              <a:rPr sz="1100" b="0" lang="en-GB">
                <a:solidFill>
                  <a:schemeClr val="bg1"/>
                </a:solidFill>
                <a:latin typeface="Consolas"/>
              </a:rPr>
              <a:t>price and with temp in polars,</a:t>
            </a:r>
          </a:p>
          <a:p>
            <a:pPr algn="l">
              <a:spcAft>
                <a:spcPts val="0"/>
              </a:spcAft>
            </a:pPr>
            <a:r>
              <a:rPr sz="1100" b="0" lang="en-GB">
                <a:solidFill>
                  <a:schemeClr val="bg1"/>
                </a:solidFill>
                <a:latin typeface="Consolas"/>
              </a:rPr>
              <a:t>p-values with scipy.stats.pearsonr,</a:t>
            </a:r>
          </a:p>
          <a:p>
            <a:pPr algn="l">
              <a:spcAft>
                <a:spcPts val="0"/>
              </a:spcAft>
            </a:pPr>
            <a:r>
              <a:rPr sz="1100" b="0" lang="en-GB">
                <a:solidFill>
                  <a:schemeClr val="bg1"/>
                </a:solidFill>
                <a:latin typeface="Consolas"/>
              </a:rPr>
              <a:t>and a plotnine scatter of units</a:t>
            </a:r>
          </a:p>
          <a:p>
            <a:pPr algn="l">
              <a:spcAft>
                <a:spcPts val="0"/>
              </a:spcAft>
            </a:pPr>
            <a:r>
              <a:rPr sz="1100" b="0" lang="en-GB">
                <a:solidFill>
                  <a:schemeClr val="bg1"/>
                </a:solidFill>
                <a:latin typeface="Consolas"/>
              </a:rPr>
              <a:t>against temp. Run it, then explain</a:t>
            </a:r>
          </a:p>
          <a:p>
            <a:pPr algn="l">
              <a:spcAft>
                <a:spcPts val="0"/>
              </a:spcAft>
            </a:pPr>
            <a:r>
              <a:rPr sz="1100" b="0" lang="en-GB">
                <a:solidFill>
                  <a:schemeClr val="bg1"/>
                </a:solidFill>
                <a:latin typeface="Consolas"/>
              </a:rPr>
              <a:t>r and p for the kiosk owner.</a:t>
            </a:r>
          </a:p>
        </p:txBody>
      </p:sp>
      <p:sp>
        <p:nvSpPr>
          <p:cNvPr id="18" name="Prompt tips row 1"/>
          <p:cNvSpPr/>
          <p:nvPr/>
        </p:nvSpPr>
        <p:spPr>
          <a:xfrm>
            <a:off x="457200" y="33832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mpt tips bar 1"/>
          <p:cNvSpPr/>
          <p:nvPr/>
        </p:nvSpPr>
        <p:spPr>
          <a:xfrm>
            <a:off x="457200" y="338328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tips text 1"/>
          <p:cNvSpPr txBox="1"/>
          <p:nvPr/>
        </p:nvSpPr>
        <p:spPr>
          <a:xfrm>
            <a:off x="658368" y="338328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Name three things: </a:t>
            </a:r>
            <a:r>
              <a:rPr sz="1200" b="0" lang="en-GB">
                <a:solidFill>
                  <a:schemeClr val="tx1"/>
                </a:solidFill>
              </a:rPr>
              <a:t>the file, the packages (polars, plotnine, scipy), the output</a:t>
            </a:r>
          </a:p>
        </p:txBody>
      </p:sp>
      <p:sp>
        <p:nvSpPr>
          <p:cNvPr id="21" name="Prompt tips row 2"/>
          <p:cNvSpPr/>
          <p:nvPr/>
        </p:nvSpPr>
        <p:spPr>
          <a:xfrm>
            <a:off x="457200" y="383133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tips bar 2"/>
          <p:cNvSpPr/>
          <p:nvPr/>
        </p:nvSpPr>
        <p:spPr>
          <a:xfrm>
            <a:off x="457200" y="383133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ompt tips text 2"/>
          <p:cNvSpPr txBox="1"/>
          <p:nvPr/>
        </p:nvSpPr>
        <p:spPr>
          <a:xfrm>
            <a:off x="658368" y="383133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your own solution with the packages, then ask; compare both</a:t>
            </a:r>
          </a:p>
        </p:txBody>
      </p:sp>
      <p:sp>
        <p:nvSpPr>
          <p:cNvPr id="24" name="Prompt tips row 3"/>
          <p:cNvSpPr/>
          <p:nvPr/>
        </p:nvSpPr>
        <p:spPr>
          <a:xfrm>
            <a:off x="457200" y="427939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mpt tips bar 3"/>
          <p:cNvSpPr/>
          <p:nvPr/>
        </p:nvSpPr>
        <p:spPr>
          <a:xfrm>
            <a:off x="457200" y="427939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tips text 3"/>
          <p:cNvSpPr txBox="1"/>
          <p:nvPr/>
        </p:nvSpPr>
        <p:spPr>
          <a:xfrm>
            <a:off x="658368" y="427939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Watch for slips: </a:t>
            </a:r>
            <a:r>
              <a:rPr sz="1200" b="0" lang="en-GB">
                <a:solidFill>
                  <a:schemeClr val="tx1"/>
                </a:solidFill>
              </a:rPr>
              <a:t>pandas instead of polars, np.std (divides by n), the wrong weeks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10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10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10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10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cols = ["sales", "price1", "price2",</a:t>
            </a:r>
          </a:p>
          <a:p>
            <a:pPr algn="l">
              <a:spcAft>
                <a:spcPts val="0"/>
              </a:spcAft>
            </a:pPr>
            <a:r>
              <a:rPr sz="1050" b="0" lang="en-GB">
                <a:solidFill>
                  <a:schemeClr val="bg1"/>
                </a:solidFill>
                <a:latin typeface="Consolas"/>
              </a:rPr>
              <a:t>        "price3", "price4"]</a:t>
            </a:r>
          </a:p>
          <a:p>
            <a:pPr algn="l">
              <a:spcAft>
                <a:spcPts val="0"/>
              </a:spcAft>
            </a:pPr>
            <a:r>
              <a:rPr sz="1050" b="0" lang="en-GB">
                <a:solidFill>
                  <a:schemeClr val="bg1"/>
                </a:solidFill>
                <a:latin typeface="Consolas"/>
              </a:rPr>
              <a:t>choc.select(cols).describe()</a:t>
            </a:r>
          </a:p>
          <a:p>
            <a:pPr algn="l">
              <a:spcAft>
                <a:spcPts val="0"/>
              </a:spcAft>
            </a:pPr>
            <a:r>
              <a:rPr sz="1050" b="0" lang="en-GB">
                <a:solidFill>
                  <a:schemeClr val="bg1"/>
                </a:solidFill>
                <a:latin typeface="Consolas"/>
              </a:rPr>
              <a:t>choc.select(cols).corr()</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10 · online quiz, then the chocolate data in Python, then with Posit Assistant</a:t>
            </a:r>
          </a:p>
        </p:txBody>
      </p:sp>
      <p:sp>
        <p:nvSpPr>
          <p:cNvPr id="3" name="Title 2"/>
          <p:cNvSpPr>
            <a:spLocks noGrp="1"/>
          </p:cNvSpPr>
          <p:nvPr>
            <p:ph type="ctrTitle"/>
          </p:nvPr>
        </p:nvSpPr>
        <p:spPr/>
        <p:txBody>
          <a:bodyPr/>
          <a:lstStyle/>
          <a:p>
            <a:r>
              <a:rPr sz="1600"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 curved relationship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The residual plot shows a funnel. This suggests …</a:t>
            </a:r>
          </a:p>
          <a:p>
            <a:pPr algn="l">
              <a:spcAft>
                <a:spcPts val="100"/>
              </a:spcAft>
            </a:pPr>
            <a:r>
              <a:rPr sz="1200" b="0" lang="en-GB">
                <a:solidFill>
                  <a:schemeClr val="tx1"/>
                </a:solidFill>
              </a:rPr>
              <a:t>A unequal variance     B multicollinearity     C a missing log</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Online on Canvas: </a:t>
            </a:r>
            <a:r>
              <a:rPr sz="1200" b="0" lang="en-GB">
                <a:solidFill>
                  <a:schemeClr val="bg1"/>
                </a:solidFill>
              </a:rPr>
              <a:t>3 minutes alone, then compare with your neighbour. Same format as the exam.</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price and sales of brand 1,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g 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15 minutes</a:t>
            </a:r>
          </a:p>
        </p:txBody>
      </p:sp>
      <p:sp>
        <p:nvSpPr>
          <p:cNvPr id="11" name="Reg 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Reg 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Reg 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g 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Reg 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describe() and corr() of sales and the four prices; which competitor price moves most with sales?</a:t>
            </a:r>
          </a:p>
        </p:txBody>
      </p:sp>
      <p:sp>
        <p:nvSpPr>
          <p:cNvPr id="16" name="Reg 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g 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Reg 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np.log(sales) ~ np.log(price1) with statsmodels; elasticity and R²</a:t>
            </a:r>
          </a:p>
        </p:txBody>
      </p:sp>
      <p:sp>
        <p:nvSpPr>
          <p:cNvPr id="19" name="Reg 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 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Reg 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the full model of Step 3 gives −3.64; why does the simple model differ?</a:t>
            </a:r>
          </a:p>
        </p:txBody>
      </p:sp>
      <p:sp>
        <p:nvSpPr>
          <p:cNvPr id="22" name="Reg 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 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Reg 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0.80 and ε = −3.64: p* = cost × ε / (1 + ε); why is the real price about 1.50?</a:t>
            </a:r>
          </a:p>
        </p:txBody>
      </p:sp>
      <p:sp>
        <p:nvSpPr>
          <p:cNvPr id="25" name="Reg 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g 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7" name="Reg 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one sentence for the brand manager, with a number and one caveat</a:t>
            </a:r>
          </a:p>
        </p:txBody>
      </p:sp>
      <p:sp>
        <p:nvSpPr>
          <p:cNvPr id="28" name="Reg 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sessions/01-foundations/regression_exercise.qmd</a:t>
            </a:r>
            <a:r>
              <a:rPr sz="1200" b="0" lang="en-GB">
                <a:solidFill>
                  <a:schemeClr val="tx1"/>
                </a:solidFill>
              </a:rPr>
              <a:t>  (data, model, tasks, Posit Assistant)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regression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g posit step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g posit steps number 1"/>
          <p:cNvSpPr/>
          <p:nvPr/>
        </p:nvSpPr>
        <p:spPr>
          <a:xfrm>
            <a:off x="594360" y="13075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Reg posit steps text 1"/>
          <p:cNvSpPr txBox="1"/>
          <p:nvPr/>
        </p:nvSpPr>
        <p:spPr>
          <a:xfrm>
            <a:off x="1051560" y="123444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solve the tasks with the packages; keep the cells run, so Posit Assistant sees choc and df</a:t>
            </a:r>
          </a:p>
        </p:txBody>
      </p:sp>
      <p:sp>
        <p:nvSpPr>
          <p:cNvPr id="13" name="Reg posit step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g posit steps number 2"/>
          <p:cNvSpPr/>
          <p:nvPr/>
        </p:nvSpPr>
        <p:spPr>
          <a:xfrm>
            <a:off x="594360" y="183794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Reg posit steps text 2"/>
          <p:cNvSpPr txBox="1"/>
          <p:nvPr/>
        </p:nvSpPr>
        <p:spPr>
          <a:xfrm>
            <a:off x="1051560" y="176479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Open the chat: </a:t>
            </a:r>
            <a:r>
              <a:rPr sz="1200" b="0" lang="en-GB">
                <a:solidFill>
                  <a:schemeClr val="tx1"/>
                </a:solidFill>
              </a:rPr>
              <a:t>Posit Assistant icon in the activity bar, or Ctrl/Cmd + Shift + P → View: Show Posit Assistant</a:t>
            </a:r>
          </a:p>
        </p:txBody>
      </p:sp>
      <p:sp>
        <p:nvSpPr>
          <p:cNvPr id="16" name="Reg posit step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g posit steps number 3"/>
          <p:cNvSpPr/>
          <p:nvPr/>
        </p:nvSpPr>
        <p:spPr>
          <a:xfrm>
            <a:off x="594360" y="23682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Reg posit steps text 3"/>
          <p:cNvSpPr txBox="1"/>
          <p:nvPr/>
        </p:nvSpPr>
        <p:spPr>
          <a:xfrm>
            <a:off x="1051560" y="229514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Give context: </a:t>
            </a:r>
            <a:r>
              <a:rPr sz="1200" b="0" lang="en-GB">
                <a:solidFill>
                  <a:schemeClr val="tx1"/>
                </a:solidFill>
              </a:rPr>
              <a:t>type @regression_exercise.qmd, then one task per prompt: the file, the packages, the output</a:t>
            </a:r>
          </a:p>
        </p:txBody>
      </p:sp>
      <p:sp>
        <p:nvSpPr>
          <p:cNvPr id="19" name="Reg posit step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 posit steps number 4"/>
          <p:cNvSpPr/>
          <p:nvPr/>
        </p:nvSpPr>
        <p:spPr>
          <a:xfrm>
            <a:off x="594360" y="2898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Reg posit steps text 4"/>
          <p:cNvSpPr txBox="1"/>
          <p:nvPr/>
        </p:nvSpPr>
        <p:spPr>
          <a:xfrm>
            <a:off x="1051560" y="282549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 for meaning: </a:t>
            </a:r>
            <a:r>
              <a:rPr sz="1200" b="0" lang="en-GB">
                <a:solidFill>
                  <a:schemeClr val="tx1"/>
                </a:solidFill>
              </a:rPr>
              <a:t>let it explain each coefficient in one sentence; check it against the slides</a:t>
            </a:r>
          </a:p>
        </p:txBody>
      </p:sp>
      <p:sp>
        <p:nvSpPr>
          <p:cNvPr id="22" name="Reg posit step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 posit steps number 5"/>
          <p:cNvSpPr/>
          <p:nvPr/>
        </p:nvSpPr>
        <p:spPr>
          <a:xfrm>
            <a:off x="594360" y="34290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Reg posit steps text 5"/>
          <p:cNvSpPr txBox="1"/>
          <p:nvPr/>
        </p:nvSpPr>
        <p:spPr>
          <a:xfrm>
            <a:off x="1051560" y="335584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its code, numbers and wording with yours and the answers; Fix or Explain on errors</a:t>
            </a:r>
          </a:p>
        </p:txBody>
      </p:sp>
      <p:sp>
        <p:nvSpPr>
          <p:cNvPr id="25" name="Reg posit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Reg posit safe" descr=""/>
          <p:cNvPicPr>
            <a:picLocks noChangeAspect="1"/>
          </p:cNvPicPr>
          <p:nvPr/>
        </p:nvPicPr>
        <p:blipFill>
          <a:blip r:embed="rId3"/>
          <a:stretch>
            <a:fillRect/>
          </a:stretch>
        </p:blipFill>
        <p:spPr>
          <a:xfrm>
            <a:off x="658368" y="4183380"/>
            <a:ext cx="365760" cy="365760"/>
          </a:xfrm>
          <a:prstGeom prst="rect">
            <a:avLst/>
          </a:prstGeom>
        </p:spPr>
      </p:pic>
      <p:sp>
        <p:nvSpPr>
          <p:cNvPr id="27" name="Reg posit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Stay in Normal mode: </a:t>
            </a:r>
            <a:r>
              <a:rPr sz="1200" b="0" lang="en-GB">
                <a:solidFill>
                  <a:schemeClr val="bg1"/>
                </a:solidFill>
              </a:rPr>
              <a:t>never /yolo. Read every edit before you accept it. You own every number and every sentence.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for the regression: one task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g prompt 2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g prompt 2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2" name="Reg prompt 2 box"/>
          <p:cNvSpPr/>
          <p:nvPr/>
        </p:nvSpPr>
        <p:spPr>
          <a:xfrm>
            <a:off x="45720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g prompt 2 code"/>
          <p:cNvSpPr txBox="1"/>
          <p:nvPr/>
        </p:nvSpPr>
        <p:spPr>
          <a:xfrm>
            <a:off x="59436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@regression_exercise.qmd Task 2.</a:t>
            </a:r>
          </a:p>
          <a:p>
            <a:pPr algn="l">
              <a:spcAft>
                <a:spcPts val="0"/>
              </a:spcAft>
            </a:pPr>
            <a:r>
              <a:rPr sz="1100" b="0" lang="en-GB">
                <a:solidFill>
                  <a:schemeClr val="bg1"/>
                </a:solidFill>
                <a:latin typeface="Consolas"/>
              </a:rPr>
              <a:t>Read the data with polars, fit</a:t>
            </a:r>
          </a:p>
          <a:p>
            <a:pPr algn="l">
              <a:spcAft>
                <a:spcPts val="0"/>
              </a:spcAft>
            </a:pPr>
            <a:r>
              <a:rPr sz="1100" b="0" lang="en-GB">
                <a:solidFill>
                  <a:schemeClr val="bg1"/>
                </a:solidFill>
                <a:latin typeface="Consolas"/>
              </a:rPr>
              <a:t>np.log(sales) ~ np.log(price1)</a:t>
            </a:r>
          </a:p>
          <a:p>
            <a:pPr algn="l">
              <a:spcAft>
                <a:spcPts val="0"/>
              </a:spcAft>
            </a:pPr>
            <a:r>
              <a:rPr sz="1100" b="0" lang="en-GB">
                <a:solidFill>
                  <a:schemeClr val="bg1"/>
                </a:solidFill>
                <a:latin typeface="Consolas"/>
              </a:rPr>
              <a:t>with statsmodels' formula API.</a:t>
            </a:r>
          </a:p>
          <a:p>
            <a:pPr algn="l">
              <a:spcAft>
                <a:spcPts val="0"/>
              </a:spcAft>
            </a:pPr>
            <a:r>
              <a:rPr sz="1100" b="0" lang="en-GB">
                <a:solidFill>
                  <a:schemeClr val="bg1"/>
                </a:solidFill>
                <a:latin typeface="Consolas"/>
              </a:rPr>
              <a:t>Show the elasticity, its standard</a:t>
            </a:r>
          </a:p>
          <a:p>
            <a:pPr algn="l">
              <a:spcAft>
                <a:spcPts val="0"/>
              </a:spcAft>
            </a:pPr>
            <a:r>
              <a:rPr sz="1100" b="0" lang="en-GB">
                <a:solidFill>
                  <a:schemeClr val="bg1"/>
                </a:solidFill>
                <a:latin typeface="Consolas"/>
              </a:rPr>
              <a:t>error and R², and explain the</a:t>
            </a:r>
          </a:p>
          <a:p>
            <a:pPr algn="l">
              <a:spcAft>
                <a:spcPts val="0"/>
              </a:spcAft>
            </a:pPr>
            <a:r>
              <a:rPr sz="1100" b="0" lang="en-GB">
                <a:solidFill>
                  <a:schemeClr val="bg1"/>
                </a:solidFill>
                <a:latin typeface="Consolas"/>
              </a:rPr>
              <a:t>coefficient in one sentence.</a:t>
            </a:r>
          </a:p>
        </p:txBody>
      </p:sp>
      <p:sp>
        <p:nvSpPr>
          <p:cNvPr id="14" name="Reg prompt 3 caption bar"/>
          <p:cNvSpPr/>
          <p:nvPr/>
        </p:nvSpPr>
        <p:spPr>
          <a:xfrm>
            <a:off x="464058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g prompt 3 caption"/>
          <p:cNvSpPr txBox="1"/>
          <p:nvPr/>
        </p:nvSpPr>
        <p:spPr>
          <a:xfrm>
            <a:off x="475030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16" name="Reg prompt 3 box"/>
          <p:cNvSpPr/>
          <p:nvPr/>
        </p:nvSpPr>
        <p:spPr>
          <a:xfrm>
            <a:off x="464058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g prompt 3 code"/>
          <p:cNvSpPr txBox="1"/>
          <p:nvPr/>
        </p:nvSpPr>
        <p:spPr>
          <a:xfrm>
            <a:off x="477774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Task 3. The full model of Step 3</a:t>
            </a:r>
          </a:p>
          <a:p>
            <a:pPr algn="l">
              <a:spcAft>
                <a:spcPts val="0"/>
              </a:spcAft>
            </a:pPr>
            <a:r>
              <a:rPr sz="1100" b="0" lang="en-GB">
                <a:solidFill>
                  <a:schemeClr val="bg1"/>
                </a:solidFill>
                <a:latin typeface="Consolas"/>
              </a:rPr>
              <a:t>gives -3.64, the simple model</a:t>
            </a:r>
          </a:p>
          <a:p>
            <a:pPr algn="l">
              <a:spcAft>
                <a:spcPts val="0"/>
              </a:spcAft>
            </a:pPr>
            <a:r>
              <a:rPr sz="1100" b="0" lang="en-GB">
                <a:solidFill>
                  <a:schemeClr val="bg1"/>
                </a:solidFill>
                <a:latin typeface="Consolas"/>
              </a:rPr>
              <a:t>-3.94. Why do they differ? Check</a:t>
            </a:r>
          </a:p>
          <a:p>
            <a:pPr algn="l">
              <a:spcAft>
                <a:spcPts val="0"/>
              </a:spcAft>
            </a:pPr>
            <a:r>
              <a:rPr sz="1100" b="0" lang="en-GB">
                <a:solidFill>
                  <a:schemeClr val="bg1"/>
                </a:solidFill>
                <a:latin typeface="Consolas"/>
              </a:rPr>
              <a:t>the correlation of price1 and</a:t>
            </a:r>
          </a:p>
          <a:p>
            <a:pPr algn="l">
              <a:spcAft>
                <a:spcPts val="0"/>
              </a:spcAft>
            </a:pPr>
            <a:r>
              <a:rPr sz="1100" b="0" lang="en-GB">
                <a:solidFill>
                  <a:schemeClr val="bg1"/>
                </a:solidFill>
                <a:latin typeface="Consolas"/>
              </a:rPr>
              <a:t>feature1 in polars and explain</a:t>
            </a:r>
          </a:p>
          <a:p>
            <a:pPr algn="l">
              <a:spcAft>
                <a:spcPts val="0"/>
              </a:spcAft>
            </a:pPr>
            <a:r>
              <a:rPr sz="1100" b="0" lang="en-GB">
                <a:solidFill>
                  <a:schemeClr val="bg1"/>
                </a:solidFill>
                <a:latin typeface="Consolas"/>
              </a:rPr>
              <a:t>it for a brand manager.</a:t>
            </a:r>
          </a:p>
        </p:txBody>
      </p:sp>
      <p:sp>
        <p:nvSpPr>
          <p:cNvPr id="18" name="Reg prompt tips row 1"/>
          <p:cNvSpPr/>
          <p:nvPr/>
        </p:nvSpPr>
        <p:spPr>
          <a:xfrm>
            <a:off x="457200" y="33832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g prompt tips bar 1"/>
          <p:cNvSpPr/>
          <p:nvPr/>
        </p:nvSpPr>
        <p:spPr>
          <a:xfrm>
            <a:off x="457200" y="338328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 prompt tips text 1"/>
          <p:cNvSpPr txBox="1"/>
          <p:nvPr/>
        </p:nvSpPr>
        <p:spPr>
          <a:xfrm>
            <a:off x="658368" y="338328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Name three things: </a:t>
            </a:r>
            <a:r>
              <a:rPr sz="1200" b="0" lang="en-GB">
                <a:solidFill>
                  <a:schemeClr val="tx1"/>
                </a:solidFill>
              </a:rPr>
              <a:t>the file, the packages (polars, statsmodels), the output</a:t>
            </a:r>
          </a:p>
        </p:txBody>
      </p:sp>
      <p:sp>
        <p:nvSpPr>
          <p:cNvPr id="21" name="Reg prompt tips row 2"/>
          <p:cNvSpPr/>
          <p:nvPr/>
        </p:nvSpPr>
        <p:spPr>
          <a:xfrm>
            <a:off x="457200" y="383133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 prompt tips bar 2"/>
          <p:cNvSpPr/>
          <p:nvPr/>
        </p:nvSpPr>
        <p:spPr>
          <a:xfrm>
            <a:off x="457200" y="383133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 prompt tips text 2"/>
          <p:cNvSpPr txBox="1"/>
          <p:nvPr/>
        </p:nvSpPr>
        <p:spPr>
          <a:xfrm>
            <a:off x="658368" y="383133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your own solution with the packages, then ask; compare both</a:t>
            </a:r>
          </a:p>
        </p:txBody>
      </p:sp>
      <p:sp>
        <p:nvSpPr>
          <p:cNvPr id="24" name="Reg prompt tips row 3"/>
          <p:cNvSpPr/>
          <p:nvPr/>
        </p:nvSpPr>
        <p:spPr>
          <a:xfrm>
            <a:off x="457200" y="427939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g prompt tips bar 3"/>
          <p:cNvSpPr/>
          <p:nvPr/>
        </p:nvSpPr>
        <p:spPr>
          <a:xfrm>
            <a:off x="457200" y="427939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g prompt tips text 3"/>
          <p:cNvSpPr txBox="1"/>
          <p:nvPr/>
        </p:nvSpPr>
        <p:spPr>
          <a:xfrm>
            <a:off x="658368" y="427939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Watch for slips: </a:t>
            </a:r>
            <a:r>
              <a:rPr sz="1200" b="0" lang="en-GB">
                <a:solidFill>
                  <a:schemeClr val="tx1"/>
                </a:solidFill>
              </a:rPr>
              <a:t>scikit-learn (no p-values), a missing np.log, elasticity read as units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Homework: </a:t>
            </a:r>
            <a:r>
              <a:rPr sz="1200" b="0" lang="en-GB">
                <a:solidFill>
                  <a:schemeClr val="bg1"/>
                </a:solidFill>
              </a:rPr>
              <a:t>coding exercise 1, brief on Canvas. Next session: the marketing mix model.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