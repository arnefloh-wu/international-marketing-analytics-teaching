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7.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7" r:id="rId44"/>
    <p:sldId id="288" r:id="rId45"/>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2" r:id="rId79"/>
    <p:sldId id="324" r:id="rId81"/>
    <p:sldId id="325" r:id="rId82"/>
    <p:sldId id="326" r:id="rId83"/>
    <p:sldId id="327" r:id="rId84"/>
    <p:sldId id="328" r:id="rId85"/>
    <p:sldId id="329" r:id="rId8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4" Type="http://schemas.openxmlformats.org/officeDocument/2006/relationships/slide" Target="slides/slide32.xml"/><Relationship Id="rId45" Type="http://schemas.openxmlformats.org/officeDocument/2006/relationships/slide" Target="slides/slide33.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9" Type="http://schemas.openxmlformats.org/officeDocument/2006/relationships/slide" Target="slides/slide67.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ten short parts. The refresher (Parts 1 to 5) builds the vocabulary of every regression table: means, standard errors, z-values, correlations. Regression (Parts 6 to 10)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online quiz 1 (five questions), the coding exercise on the kiosk's year with polars, plotnine and scipy, the answers in the plenary, then the same tasks with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is Positron's chat, here with GitHub Copilot as the provider (set up in the GitHub and Copilot deck). It sees the files you attach and, once Python runs, the variables in your session: so run the first cell before you ask. It asks before it runs code; Accept, Decline or reply with instructions. Stay in Normal mode; /ask gives explanations without edits; never /yolo. Errors in the Console and in Quarto output have Fix and Explain buttons that send the error to Posit Assistant. Course rule: solve each task yourself with the packages first, then ask,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Without 'polars, not pandas' many models switch to pandas. Typical slips to watch: pandas instead of polars, numpy's np.std (divides by n, not n - 1), a correlation over the regular weeks only when the task says all 52 weeks.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four steps as in the refresher: online quiz 2, a short coding exercise on the chocolate data with polars and statsmodels, the answers in the plenary, then the same tasks with Posit Assistant.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routine as in the refresher. Posit Assistant sees the attached file and, once Python runs, the data frames choc and df and the fitted models. It asks before it runs code. Ask it to explain, not only to compute: 'what does -3.94 mean for the brand manager?' Check every interpretation against the slides: log-log coefficients are elasticities, not units. Course rule: own solution first, then ask, then compare.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Typical slips in regression: scikit-learn instead of statsmodels (no standard errors, no p-values), the log forgotten on one side of the formula, a log-log coefficient read as units, pandas for reading the data.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44.png"/><Relationship Id="rId7"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7.png"/><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8.png"/><Relationship Id="rId4"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27.png"/><Relationship Id="rId6"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7.png"/><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 Id="rId3" Type="http://schemas.openxmlformats.org/officeDocument/2006/relationships/image" Target="../media/image3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1.png"/><Relationship Id="rId4"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11.png"/><Relationship Id="rId4" Type="http://schemas.openxmlformats.org/officeDocument/2006/relationships/image" Target="../media/image5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Python; in-class exercise and quiz</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10</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a:t>
            </a:r>
          </a:p>
          <a:p>
            <a:pPr algn="l" marL="182880" indent="-182880">
              <a:spcAft>
                <a:spcPts val="600"/>
              </a:spcAft>
              <a:buClr>
                <a:schemeClr val="accent1"/>
              </a:buClr>
              <a:buFont typeface="Arial"/>
              <a:buChar char="▪"/>
            </a:pPr>
            <a:r>
              <a:rPr sz="1300" b="0" lang="en-GB">
                <a:solidFill>
                  <a:schemeClr val="tx1"/>
                </a:solidFill>
              </a:rPr>
              <a:t>In-class exercise and online quiz 2</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10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10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10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10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10 · online quiz, then the kiosk's year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6"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9"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2"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5"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8"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tasks, Posit Assistant)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first cell run, so Posit Assistant sees kiosk</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@refresher_exercise.qmd,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Approve with care: </a:t>
            </a:r>
            <a:r>
              <a:rPr sz="1200" b="0" lang="en-GB">
                <a:solidFill>
                  <a:schemeClr val="tx1"/>
                </a:solidFill>
              </a:rPr>
              <a:t>it asks before it runs code: Accept, Decline or reply; read every edit first</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and numbers with yours and the answers; on an error, click Fix or Explain</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Use /ask when you want an explanation without edits. You own every number.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exercise: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@refresher_exercise.qmd Task 2.</a:t>
            </a:r>
          </a:p>
          <a:p>
            <a:pPr algn="l">
              <a:spcAft>
                <a:spcPts val="0"/>
              </a:spcAft>
            </a:pPr>
            <a:r>
              <a:rPr sz="1100" b="0" lang="en-GB">
                <a:solidFill>
                  <a:schemeClr val="bg1"/>
                </a:solidFill>
                <a:latin typeface="Consolas"/>
              </a:rPr>
              <a:t>Use polars, not pandas. Mean and</a:t>
            </a:r>
          </a:p>
          <a:p>
            <a:pPr algn="l">
              <a:spcAft>
                <a:spcPts val="0"/>
              </a:spcAft>
            </a:pPr>
            <a:r>
              <a:rPr sz="1100" b="0" lang="en-GB">
                <a:solidFill>
                  <a:schemeClr val="bg1"/>
                </a:solidFill>
                <a:latin typeface="Consolas"/>
              </a:rPr>
              <a:t>median of units over all 52 weeks</a:t>
            </a:r>
          </a:p>
          <a:p>
            <a:pPr algn="l">
              <a:spcAft>
                <a:spcPts val="0"/>
              </a:spcAft>
            </a:pPr>
            <a:r>
              <a:rPr sz="1100" b="0" lang="en-GB">
                <a:solidFill>
                  <a:schemeClr val="bg1"/>
                </a:solidFill>
                <a:latin typeface="Consolas"/>
              </a:rPr>
              <a:t>and the median rating, with</a:t>
            </a:r>
          </a:p>
          <a:p>
            <a:pPr algn="l">
              <a:spcAft>
                <a:spcPts val="0"/>
              </a:spcAft>
            </a:pPr>
            <a:r>
              <a:rPr sz="1100" b="0" lang="en-GB">
                <a:solidFill>
                  <a:schemeClr val="bg1"/>
                </a:solidFill>
                <a:latin typeface="Consolas"/>
              </a:rPr>
              <a:t>kiosk.describe(). Write the code</a:t>
            </a:r>
          </a:p>
          <a:p>
            <a:pPr algn="l">
              <a:spcAft>
                <a:spcPts val="0"/>
              </a:spcAft>
            </a:pPr>
            <a:r>
              <a:rPr sz="1100" b="0" lang="en-GB">
                <a:solidFill>
                  <a:schemeClr val="bg1"/>
                </a:solidFill>
                <a:latin typeface="Consolas"/>
              </a:rPr>
              <a:t>into the Task 2 cell and explain</a:t>
            </a:r>
          </a:p>
          <a:p>
            <a:pPr algn="l">
              <a:spcAft>
                <a:spcPts val="0"/>
              </a:spcAft>
            </a:pPr>
            <a:r>
              <a:rPr sz="1100" b="0" lang="en-GB">
                <a:solidFill>
                  <a:schemeClr val="bg1"/>
                </a:solidFill>
                <a:latin typeface="Consolas"/>
              </a:rPr>
              <a:t>each line.</a:t>
            </a:r>
          </a:p>
        </p:txBody>
      </p:sp>
      <p:sp>
        <p:nvSpPr>
          <p:cNvPr id="14" name="Prompt 5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5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5</a:t>
            </a:r>
          </a:p>
        </p:txBody>
      </p:sp>
      <p:sp>
        <p:nvSpPr>
          <p:cNvPr id="16" name="Prompt 5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5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5. Correlation of units with</a:t>
            </a:r>
          </a:p>
          <a:p>
            <a:pPr algn="l">
              <a:spcAft>
                <a:spcPts val="0"/>
              </a:spcAft>
            </a:pPr>
            <a:r>
              <a:rPr sz="1100" b="0" lang="en-GB">
                <a:solidFill>
                  <a:schemeClr val="bg1"/>
                </a:solidFill>
                <a:latin typeface="Consolas"/>
              </a:rPr>
              <a:t>price and with temp in polars,</a:t>
            </a:r>
          </a:p>
          <a:p>
            <a:pPr algn="l">
              <a:spcAft>
                <a:spcPts val="0"/>
              </a:spcAft>
            </a:pPr>
            <a:r>
              <a:rPr sz="1100" b="0" lang="en-GB">
                <a:solidFill>
                  <a:schemeClr val="bg1"/>
                </a:solidFill>
                <a:latin typeface="Consolas"/>
              </a:rPr>
              <a:t>p-values with scipy.stats.pearsonr,</a:t>
            </a:r>
          </a:p>
          <a:p>
            <a:pPr algn="l">
              <a:spcAft>
                <a:spcPts val="0"/>
              </a:spcAft>
            </a:pPr>
            <a:r>
              <a:rPr sz="1100" b="0" lang="en-GB">
                <a:solidFill>
                  <a:schemeClr val="bg1"/>
                </a:solidFill>
                <a:latin typeface="Consolas"/>
              </a:rPr>
              <a:t>and a plotnine scatter of units</a:t>
            </a:r>
          </a:p>
          <a:p>
            <a:pPr algn="l">
              <a:spcAft>
                <a:spcPts val="0"/>
              </a:spcAft>
            </a:pPr>
            <a:r>
              <a:rPr sz="1100" b="0" lang="en-GB">
                <a:solidFill>
                  <a:schemeClr val="bg1"/>
                </a:solidFill>
                <a:latin typeface="Consolas"/>
              </a:rPr>
              <a:t>against temp. Run it, then explain</a:t>
            </a:r>
          </a:p>
          <a:p>
            <a:pPr algn="l">
              <a:spcAft>
                <a:spcPts val="0"/>
              </a:spcAft>
            </a:pPr>
            <a:r>
              <a:rPr sz="1100" b="0" lang="en-GB">
                <a:solidFill>
                  <a:schemeClr val="bg1"/>
                </a:solidFill>
                <a:latin typeface="Consolas"/>
              </a:rPr>
              <a:t>r and p for the kiosk owner.</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plotnine,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pandas instead of polars, np.std (divides by n), the wrong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10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10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10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10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10 · online quiz, then the chocolate data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 curved relationship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The residual plot shows a funnel. This suggests …</a:t>
            </a:r>
          </a:p>
          <a:p>
            <a:pPr algn="l">
              <a:spcAft>
                <a:spcPts val="100"/>
              </a:spcAft>
            </a:pPr>
            <a:r>
              <a:rPr sz="1200" b="0" lang="en-GB">
                <a:solidFill>
                  <a:schemeClr val="tx1"/>
                </a:solidFill>
              </a:rPr>
              <a:t>A unequal variance     B multicollinearity     C a missing log</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price and sales of brand 1,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Reg 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 answers:</a:t>
            </a:r>
            <a:br/>
            <a:r>
              <a:rPr sz="1200" b="1" lang="en-GB">
                <a:solidFill>
                  <a:schemeClr val="tx2"/>
                </a:solidFill>
              </a:rPr>
              <a:t>5 minutes</a:t>
            </a:r>
          </a:p>
        </p:txBody>
      </p:sp>
      <p:sp>
        <p:nvSpPr>
          <p:cNvPr id="12" name="Reg 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Reg 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Reg 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describe() and corr() of sales and the four prices; which competitor price moves most with sales?</a:t>
            </a:r>
          </a:p>
        </p:txBody>
      </p:sp>
      <p:sp>
        <p:nvSpPr>
          <p:cNvPr id="16" name="Reg 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Reg 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np.log(sales) ~ np.log(price1) with statsmodels; elasticity and R²</a:t>
            </a:r>
          </a:p>
        </p:txBody>
      </p:sp>
      <p:sp>
        <p:nvSpPr>
          <p:cNvPr id="19" name="Reg 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Reg 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the full model of Step 3 gives −3.64; why does the simple model differ?</a:t>
            </a:r>
          </a:p>
        </p:txBody>
      </p:sp>
      <p:sp>
        <p:nvSpPr>
          <p:cNvPr id="22" name="Reg 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Reg 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0.80 and ε = −3.64: p* = cost × ε / (1 + ε); why is the real price about 1.50?</a:t>
            </a:r>
          </a:p>
        </p:txBody>
      </p:sp>
      <p:sp>
        <p:nvSpPr>
          <p:cNvPr id="25" name="Reg 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Reg 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one sentence for the brand manager, with a number and one caveat</a:t>
            </a:r>
          </a:p>
        </p:txBody>
      </p:sp>
      <p:sp>
        <p:nvSpPr>
          <p:cNvPr id="28" name="Reg 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(code of Part 9, tasks, Posit Assistant)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regression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Reg 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cells run, so Posit Assistant sees choc and df</a:t>
            </a:r>
          </a:p>
        </p:txBody>
      </p:sp>
      <p:sp>
        <p:nvSpPr>
          <p:cNvPr id="13" name="Reg 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g 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Reg 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Reg 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Reg 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@regression_chocolate.qmd, then one task per prompt: the file, the packages, the output</a:t>
            </a:r>
          </a:p>
        </p:txBody>
      </p:sp>
      <p:sp>
        <p:nvSpPr>
          <p:cNvPr id="19" name="Reg 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Reg 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Ask for meaning: </a:t>
            </a:r>
            <a:r>
              <a:rPr sz="1200" b="0" lang="en-GB">
                <a:solidFill>
                  <a:schemeClr val="tx1"/>
                </a:solidFill>
              </a:rPr>
              <a:t>let it explain each coefficient in one sentence; check it against the slides</a:t>
            </a:r>
          </a:p>
        </p:txBody>
      </p:sp>
      <p:sp>
        <p:nvSpPr>
          <p:cNvPr id="22" name="Reg 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Reg 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numbers and wording with yours and the answers; Fix or Explain on errors</a:t>
            </a:r>
          </a:p>
        </p:txBody>
      </p:sp>
      <p:sp>
        <p:nvSpPr>
          <p:cNvPr id="25" name="Reg 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Reg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Reg 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Read every edit before you accept it. You own every number and every sentence.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regression: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g 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g 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Reg 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g 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@regression_chocolate.qmd Task 2.</a:t>
            </a:r>
          </a:p>
          <a:p>
            <a:pPr algn="l">
              <a:spcAft>
                <a:spcPts val="0"/>
              </a:spcAft>
            </a:pPr>
            <a:r>
              <a:rPr sz="1100" b="0" lang="en-GB">
                <a:solidFill>
                  <a:schemeClr val="bg1"/>
                </a:solidFill>
                <a:latin typeface="Consolas"/>
              </a:rPr>
              <a:t>Read the data with polars, fit</a:t>
            </a:r>
          </a:p>
          <a:p>
            <a:pPr algn="l">
              <a:spcAft>
                <a:spcPts val="0"/>
              </a:spcAft>
            </a:pPr>
            <a:r>
              <a:rPr sz="1100" b="0" lang="en-GB">
                <a:solidFill>
                  <a:schemeClr val="bg1"/>
                </a:solidFill>
                <a:latin typeface="Consolas"/>
              </a:rPr>
              <a:t>np.log(sales) ~ np.log(price1)</a:t>
            </a:r>
          </a:p>
          <a:p>
            <a:pPr algn="l">
              <a:spcAft>
                <a:spcPts val="0"/>
              </a:spcAft>
            </a:pPr>
            <a:r>
              <a:rPr sz="1100" b="0" lang="en-GB">
                <a:solidFill>
                  <a:schemeClr val="bg1"/>
                </a:solidFill>
                <a:latin typeface="Consolas"/>
              </a:rPr>
              <a:t>with statsmodels' formula API.</a:t>
            </a:r>
          </a:p>
          <a:p>
            <a:pPr algn="l">
              <a:spcAft>
                <a:spcPts val="0"/>
              </a:spcAft>
            </a:pPr>
            <a:r>
              <a:rPr sz="1100" b="0" lang="en-GB">
                <a:solidFill>
                  <a:schemeClr val="bg1"/>
                </a:solidFill>
                <a:latin typeface="Consolas"/>
              </a:rPr>
              <a:t>Show the elasticity, its standard</a:t>
            </a:r>
          </a:p>
          <a:p>
            <a:pPr algn="l">
              <a:spcAft>
                <a:spcPts val="0"/>
              </a:spcAft>
            </a:pPr>
            <a:r>
              <a:rPr sz="1100" b="0" lang="en-GB">
                <a:solidFill>
                  <a:schemeClr val="bg1"/>
                </a:solidFill>
                <a:latin typeface="Consolas"/>
              </a:rPr>
              <a:t>error and R², and explain the</a:t>
            </a:r>
          </a:p>
          <a:p>
            <a:pPr algn="l">
              <a:spcAft>
                <a:spcPts val="0"/>
              </a:spcAft>
            </a:pPr>
            <a:r>
              <a:rPr sz="1100" b="0" lang="en-GB">
                <a:solidFill>
                  <a:schemeClr val="bg1"/>
                </a:solidFill>
                <a:latin typeface="Consolas"/>
              </a:rPr>
              <a:t>coefficient in one sentence.</a:t>
            </a:r>
          </a:p>
        </p:txBody>
      </p:sp>
      <p:sp>
        <p:nvSpPr>
          <p:cNvPr id="14" name="Reg prompt 3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g prompt 3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16" name="Reg prompt 3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g prompt 3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3. The full model of Step 3</a:t>
            </a:r>
          </a:p>
          <a:p>
            <a:pPr algn="l">
              <a:spcAft>
                <a:spcPts val="0"/>
              </a:spcAft>
            </a:pPr>
            <a:r>
              <a:rPr sz="1100" b="0" lang="en-GB">
                <a:solidFill>
                  <a:schemeClr val="bg1"/>
                </a:solidFill>
                <a:latin typeface="Consolas"/>
              </a:rPr>
              <a:t>gives -3.64, the simple model</a:t>
            </a:r>
          </a:p>
          <a:p>
            <a:pPr algn="l">
              <a:spcAft>
                <a:spcPts val="0"/>
              </a:spcAft>
            </a:pPr>
            <a:r>
              <a:rPr sz="1100" b="0" lang="en-GB">
                <a:solidFill>
                  <a:schemeClr val="bg1"/>
                </a:solidFill>
                <a:latin typeface="Consolas"/>
              </a:rPr>
              <a:t>-3.94. Why do they differ? Check</a:t>
            </a:r>
          </a:p>
          <a:p>
            <a:pPr algn="l">
              <a:spcAft>
                <a:spcPts val="0"/>
              </a:spcAft>
            </a:pPr>
            <a:r>
              <a:rPr sz="1100" b="0" lang="en-GB">
                <a:solidFill>
                  <a:schemeClr val="bg1"/>
                </a:solidFill>
                <a:latin typeface="Consolas"/>
              </a:rPr>
              <a:t>the correlation of price1 and</a:t>
            </a:r>
          </a:p>
          <a:p>
            <a:pPr algn="l">
              <a:spcAft>
                <a:spcPts val="0"/>
              </a:spcAft>
            </a:pPr>
            <a:r>
              <a:rPr sz="1100" b="0" lang="en-GB">
                <a:solidFill>
                  <a:schemeClr val="bg1"/>
                </a:solidFill>
                <a:latin typeface="Consolas"/>
              </a:rPr>
              <a:t>feature1 in polars and explain</a:t>
            </a:r>
          </a:p>
          <a:p>
            <a:pPr algn="l">
              <a:spcAft>
                <a:spcPts val="0"/>
              </a:spcAft>
            </a:pPr>
            <a:r>
              <a:rPr sz="1100" b="0" lang="en-GB">
                <a:solidFill>
                  <a:schemeClr val="bg1"/>
                </a:solidFill>
                <a:latin typeface="Consolas"/>
              </a:rPr>
              <a:t>it for a brand manager.</a:t>
            </a:r>
          </a:p>
        </p:txBody>
      </p:sp>
      <p:sp>
        <p:nvSpPr>
          <p:cNvPr id="18" name="Reg 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g 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g 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statsmodels), the output</a:t>
            </a:r>
          </a:p>
        </p:txBody>
      </p:sp>
      <p:sp>
        <p:nvSpPr>
          <p:cNvPr id="21" name="Reg 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 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 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Reg 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g 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g 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scikit-learn (no p-values), a missing np.log, elasticity read as units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Homework: </a:t>
            </a:r>
            <a:r>
              <a:rPr sz="1200" b="0" lang="en-GB">
                <a:solidFill>
                  <a:schemeClr val="bg1"/>
                </a:solidFill>
              </a:rPr>
              <a:t>coding exercise 1, brief on Canvas. Next session: the marketing mix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