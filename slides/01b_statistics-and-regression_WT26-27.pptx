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removePersonalInfoOnSave="1" saveSubsetFonts="1">
  <p:sldMasterIdLst>
    <p:sldMasterId id="2147483660" r:id="rId4"/>
  </p:sldMasterIdLst>
  <p:notesMasterIdLst>
    <p:notesMasterId r:id="rId31"/>
  </p:notesMasterIdLst>
  <p:handoutMasterIdLst>
    <p:handoutMasterId r:id="rId32"/>
  </p:handout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12"/>
    <p:sldId id="275" r:id="rId11"/>
    <p:sldId id="276" r:id="rId10"/>
    <p:sldId id="277" r:id="rId9"/>
    <p:sldId id="278" r:id="rId8"/>
    <p:sldId id="279" r:id="rId7"/>
    <p:sldId id="280" r:id="rId6"/>
    <p:sldId id="281" r:id="rId5"/>
    <p:sldId id="282" r:id="rId39"/>
    <p:sldId id="283" r:id="rId40"/>
    <p:sldId id="284" r:id="rId41"/>
    <p:sldId id="285" r:id="rId42"/>
    <p:sldId id="287" r:id="rId44"/>
    <p:sldId id="288" r:id="rId45"/>
    <p:sldId id="289" r:id="rId46"/>
    <p:sldId id="290" r:id="rId47"/>
    <p:sldId id="292" r:id="rId49"/>
    <p:sldId id="293" r:id="rId50"/>
    <p:sldId id="294" r:id="rId51"/>
    <p:sldId id="295" r:id="rId52"/>
    <p:sldId id="296" r:id="rId53"/>
    <p:sldId id="297" r:id="rId54"/>
    <p:sldId id="298" r:id="rId55"/>
    <p:sldId id="299" r:id="rId56"/>
    <p:sldId id="300" r:id="rId57"/>
    <p:sldId id="301" r:id="rId58"/>
    <p:sldId id="302" r:id="rId59"/>
    <p:sldId id="303" r:id="rId60"/>
    <p:sldId id="304" r:id="rId61"/>
    <p:sldId id="305" r:id="rId62"/>
    <p:sldId id="306" r:id="rId63"/>
    <p:sldId id="307" r:id="rId64"/>
    <p:sldId id="308" r:id="rId65"/>
    <p:sldId id="309" r:id="rId66"/>
    <p:sldId id="310" r:id="rId67"/>
    <p:sldId id="311" r:id="rId68"/>
    <p:sldId id="312" r:id="rId69"/>
    <p:sldId id="313" r:id="rId70"/>
    <p:sldId id="314" r:id="rId71"/>
    <p:sldId id="315" r:id="rId72"/>
    <p:sldId id="316" r:id="rId73"/>
    <p:sldId id="317" r:id="rId74"/>
    <p:sldId id="318" r:id="rId75"/>
    <p:sldId id="319" r:id="rId76"/>
    <p:sldId id="321" r:id="rId78"/>
    <p:sldId id="322" r:id="rId79"/>
    <p:sldId id="323" r:id="rId80"/>
    <p:sldId id="324" r:id="rId81"/>
    <p:sldId id="325" r:id="rId82"/>
    <p:sldId id="326" r:id="rId83"/>
    <p:sldId id="327" r:id="rId84"/>
    <p:sldId id="328" r:id="rId85"/>
    <p:sldId id="329" r:id="rId86"/>
  </p:sldIdLst>
  <p:sldSz cx="9144000" cy="5715000" type="screen16x10"/>
  <p:notesSz cx="6858000" cy="9144000"/>
  <p:custDataLst>
    <p:tags r:id="rId33"/>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00">
          <p15:clr>
            <a:srgbClr val="A4A3A4"/>
          </p15:clr>
        </p15:guide>
        <p15:guide id="3" pos="4241">
          <p15:clr>
            <a:srgbClr val="A4A3A4"/>
          </p15:clr>
        </p15:guide>
        <p15:guide id="4" pos="4695">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9" name="Autor" initials="A" lastIdx="0" clrIdx="8"/>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EFF7"/>
    <a:srgbClr val="CBDDEF"/>
    <a:srgbClr val="0096D3"/>
    <a:srgbClr val="0C94B7"/>
    <a:srgbClr val="41B4CE"/>
    <a:srgbClr val="73BAD1"/>
    <a:srgbClr val="65B4C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D27102A9-8310-4765-A935-A1911B00CA55}" styleName="Helle Formatvorlage 1 - Akz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Helle Formatvorlage 1 - Akz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ittlere Formatvorlage 1 - Akz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9" autoAdjust="0"/>
    <p:restoredTop sz="93783" autoAdjust="0"/>
  </p:normalViewPr>
  <p:slideViewPr>
    <p:cSldViewPr snapToGrid="0" showGuides="1">
      <p:cViewPr varScale="1">
        <p:scale>
          <a:sx n="164" d="100"/>
          <a:sy n="164" d="100"/>
        </p:scale>
        <p:origin x="758" y="75"/>
      </p:cViewPr>
      <p:guideLst>
        <p:guide orient="horz" pos="1800"/>
        <p:guide pos="4241"/>
        <p:guide pos="4695"/>
      </p:guideLst>
    </p:cSldViewPr>
  </p:slideViewPr>
  <p:outlineViewPr>
    <p:cViewPr>
      <p:scale>
        <a:sx n="33" d="100"/>
        <a:sy n="33" d="100"/>
      </p:scale>
      <p:origin x="0" y="0"/>
    </p:cViewPr>
  </p:outlineViewPr>
  <p:notesTextViewPr>
    <p:cViewPr>
      <p:scale>
        <a:sx n="1" d="1"/>
        <a:sy n="1" d="1"/>
      </p:scale>
      <p:origin x="0" y="0"/>
    </p:cViewPr>
  </p:notesTextViewPr>
  <p:notesViewPr>
    <p:cSldViewPr snapToGrid="0" showGuides="1">
      <p:cViewPr varScale="1">
        <p:scale>
          <a:sx n="94" d="100"/>
          <a:sy n="94" d="100"/>
        </p:scale>
        <p:origin x="2748" y="8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26.xml"/><Relationship Id="rId6" Type="http://schemas.openxmlformats.org/officeDocument/2006/relationships/slide" Target="slides/slide25.xml"/><Relationship Id="rId7" Type="http://schemas.openxmlformats.org/officeDocument/2006/relationships/slide" Target="slides/slide24.xml"/><Relationship Id="rId8" Type="http://schemas.openxmlformats.org/officeDocument/2006/relationships/slide" Target="slides/slide23.xml"/><Relationship Id="rId9" Type="http://schemas.openxmlformats.org/officeDocument/2006/relationships/slide" Target="slides/slide22.xml"/><Relationship Id="rId10" Type="http://schemas.openxmlformats.org/officeDocument/2006/relationships/slide" Target="slides/slide21.xml"/><Relationship Id="rId11" Type="http://schemas.openxmlformats.org/officeDocument/2006/relationships/slide" Target="slides/slide20.xml"/><Relationship Id="rId12" Type="http://schemas.openxmlformats.org/officeDocument/2006/relationships/slide" Target="slides/slide19.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notesMaster" Target="notesMasters/notesMaster1.xml"/><Relationship Id="rId32" Type="http://schemas.openxmlformats.org/officeDocument/2006/relationships/handoutMaster" Target="handoutMasters/handoutMaster1.xml"/><Relationship Id="rId33" Type="http://schemas.openxmlformats.org/officeDocument/2006/relationships/tags" Target="tags/tag1.xml"/><Relationship Id="rId34" Type="http://schemas.openxmlformats.org/officeDocument/2006/relationships/commentAuthors" Target="commentAuthors.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 Id="rId55" Type="http://schemas.openxmlformats.org/officeDocument/2006/relationships/slide" Target="slides/slide43.xml"/><Relationship Id="rId56" Type="http://schemas.openxmlformats.org/officeDocument/2006/relationships/slide" Target="slides/slide44.xml"/><Relationship Id="rId57" Type="http://schemas.openxmlformats.org/officeDocument/2006/relationships/slide" Target="slides/slide45.xml"/><Relationship Id="rId58" Type="http://schemas.openxmlformats.org/officeDocument/2006/relationships/slide" Target="slides/slide46.xml"/><Relationship Id="rId59" Type="http://schemas.openxmlformats.org/officeDocument/2006/relationships/slide" Target="slides/slide47.xml"/><Relationship Id="rId60" Type="http://schemas.openxmlformats.org/officeDocument/2006/relationships/slide" Target="slides/slide48.xml"/><Relationship Id="rId61" Type="http://schemas.openxmlformats.org/officeDocument/2006/relationships/slide" Target="slides/slide49.xml"/><Relationship Id="rId62" Type="http://schemas.openxmlformats.org/officeDocument/2006/relationships/slide" Target="slides/slide50.xml"/><Relationship Id="rId63" Type="http://schemas.openxmlformats.org/officeDocument/2006/relationships/slide" Target="slides/slide51.xml"/><Relationship Id="rId64" Type="http://schemas.openxmlformats.org/officeDocument/2006/relationships/slide" Target="slides/slide52.xml"/><Relationship Id="rId65" Type="http://schemas.openxmlformats.org/officeDocument/2006/relationships/slide" Target="slides/slide53.xml"/><Relationship Id="rId66" Type="http://schemas.openxmlformats.org/officeDocument/2006/relationships/slide" Target="slides/slide54.xml"/><Relationship Id="rId67" Type="http://schemas.openxmlformats.org/officeDocument/2006/relationships/slide" Target="slides/slide55.xml"/><Relationship Id="rId68" Type="http://schemas.openxmlformats.org/officeDocument/2006/relationships/slide" Target="slides/slide56.xml"/><Relationship Id="rId69" Type="http://schemas.openxmlformats.org/officeDocument/2006/relationships/slide" Target="slides/slide57.xml"/><Relationship Id="rId70" Type="http://schemas.openxmlformats.org/officeDocument/2006/relationships/slide" Target="slides/slide58.xml"/><Relationship Id="rId71" Type="http://schemas.openxmlformats.org/officeDocument/2006/relationships/slide" Target="slides/slide59.xml"/><Relationship Id="rId72" Type="http://schemas.openxmlformats.org/officeDocument/2006/relationships/slide" Target="slides/slide60.xml"/><Relationship Id="rId73" Type="http://schemas.openxmlformats.org/officeDocument/2006/relationships/slide" Target="slides/slide61.xml"/><Relationship Id="rId74" Type="http://schemas.openxmlformats.org/officeDocument/2006/relationships/slide" Target="slides/slide62.xml"/><Relationship Id="rId75" Type="http://schemas.openxmlformats.org/officeDocument/2006/relationships/slide" Target="slides/slide63.xml"/><Relationship Id="rId76" Type="http://schemas.openxmlformats.org/officeDocument/2006/relationships/slide" Target="slides/slide64.xml"/><Relationship Id="rId78" Type="http://schemas.openxmlformats.org/officeDocument/2006/relationships/slide" Target="slides/slide66.xml"/><Relationship Id="rId79" Type="http://schemas.openxmlformats.org/officeDocument/2006/relationships/slide" Target="slides/slide67.xml"/><Relationship Id="rId80" Type="http://schemas.openxmlformats.org/officeDocument/2006/relationships/slide" Target="slides/slide68.xml"/><Relationship Id="rId81" Type="http://schemas.openxmlformats.org/officeDocument/2006/relationships/slide" Target="slides/slide69.xml"/><Relationship Id="rId82" Type="http://schemas.openxmlformats.org/officeDocument/2006/relationships/slide" Target="slides/slide70.xml"/><Relationship Id="rId83" Type="http://schemas.openxmlformats.org/officeDocument/2006/relationships/slide" Target="slides/slide71.xml"/><Relationship Id="rId84" Type="http://schemas.openxmlformats.org/officeDocument/2006/relationships/slide" Target="slides/slide72.xml"/><Relationship Id="rId85" Type="http://schemas.openxmlformats.org/officeDocument/2006/relationships/slide" Target="slides/slide73.xml"/><Relationship Id="rId86" Type="http://schemas.openxmlformats.org/officeDocument/2006/relationships/slide" Target="slides/slide7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sz="1000" dirty="0">
              <a:latin typeface="Verdana" pitchFamily="34" charset="0"/>
              <a:ea typeface="Verdana" pitchFamily="34" charset="0"/>
              <a:cs typeface="Verdana"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868817FD-8155-4502-AF78-DBC2EA4B168F}" type="datetimeFigureOut">
              <a:rPr lang="en-GB" sz="1000" smtClean="0">
                <a:latin typeface="Verdana" pitchFamily="34" charset="0"/>
                <a:ea typeface="Verdana" pitchFamily="34" charset="0"/>
                <a:cs typeface="Verdana" pitchFamily="34" charset="0"/>
              </a:rPr>
              <a:t>25/08/2023</a:t>
            </a:fld>
            <a:endParaRPr lang="en-GB" sz="1000" dirty="0">
              <a:latin typeface="Verdana" pitchFamily="34" charset="0"/>
              <a:ea typeface="Verdana" pitchFamily="34" charset="0"/>
              <a:cs typeface="Verdana"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sz="1000" dirty="0">
              <a:latin typeface="Verdana" pitchFamily="34" charset="0"/>
              <a:ea typeface="Verdana" pitchFamily="34" charset="0"/>
              <a:cs typeface="Verdana"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617F6F62-1C91-45E7-BAED-FBFBF67C82BC}" type="slidenum">
              <a:rPr lang="en-GB" sz="1000" smtClean="0">
                <a:latin typeface="Verdana" pitchFamily="34" charset="0"/>
                <a:ea typeface="Verdana" pitchFamily="34" charset="0"/>
                <a:cs typeface="Verdana" pitchFamily="34" charset="0"/>
              </a:rPr>
              <a:t>‹Nr.›</a:t>
            </a:fld>
            <a:endParaRPr lang="en-GB" sz="1000" dirty="0">
              <a:latin typeface="Verdana" pitchFamily="34" charset="0"/>
              <a:ea typeface="Verdana" pitchFamily="34" charset="0"/>
              <a:cs typeface="Verdana" pitchFamily="34" charset="0"/>
            </a:endParaRPr>
          </a:p>
        </p:txBody>
      </p:sp>
    </p:spTree>
    <p:extLst>
      <p:ext uri="{BB962C8B-B14F-4D97-AF65-F5344CB8AC3E}">
        <p14:creationId xmlns:p14="http://schemas.microsoft.com/office/powerpoint/2010/main" val="27543456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000">
                <a:latin typeface="Verdana" pitchFamily="34" charset="0"/>
                <a:ea typeface="Verdana" pitchFamily="34" charset="0"/>
                <a:cs typeface="Verdana" pitchFamily="34" charset="0"/>
              </a:defRPr>
            </a:lvl1pPr>
          </a:lstStyle>
          <a:p>
            <a:endParaRPr lang="en-GB" dirty="0"/>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000">
                <a:latin typeface="Verdana" pitchFamily="34" charset="0"/>
                <a:ea typeface="Verdana" pitchFamily="34" charset="0"/>
                <a:cs typeface="Verdana" pitchFamily="34" charset="0"/>
              </a:defRPr>
            </a:lvl1pPr>
          </a:lstStyle>
          <a:p>
            <a:fld id="{C0A972FC-F5E0-4F80-B169-F0B5EFC71333}" type="datetimeFigureOut">
              <a:rPr lang="en-GB" smtClean="0"/>
              <a:pPr/>
              <a:t>25/08/2023</a:t>
            </a:fld>
            <a:endParaRPr lang="en-GB" dirty="0"/>
          </a:p>
        </p:txBody>
      </p:sp>
      <p:sp>
        <p:nvSpPr>
          <p:cNvPr id="4" name="Folienbildplatzhalter 3"/>
          <p:cNvSpPr>
            <a:spLocks noGrp="1" noRot="1" noChangeAspect="1"/>
          </p:cNvSpPr>
          <p:nvPr>
            <p:ph type="sldImg" idx="2"/>
          </p:nvPr>
        </p:nvSpPr>
        <p:spPr>
          <a:xfrm>
            <a:off x="685800" y="685800"/>
            <a:ext cx="5486400" cy="3429000"/>
          </a:xfrm>
          <a:prstGeom prst="rect">
            <a:avLst/>
          </a:prstGeom>
          <a:noFill/>
          <a:ln w="12700">
            <a:solidFill>
              <a:prstClr val="black"/>
            </a:solidFill>
          </a:ln>
        </p:spPr>
        <p:txBody>
          <a:bodyPr vert="horz" lIns="91440" tIns="45720" rIns="91440" bIns="45720" rtlCol="0" anchor="ctr"/>
          <a:lstStyle/>
          <a:p>
            <a:endParaRPr lang="de-AT"/>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000">
                <a:latin typeface="Verdana" pitchFamily="34" charset="0"/>
                <a:ea typeface="Verdana" pitchFamily="34" charset="0"/>
                <a:cs typeface="Verdana" pitchFamily="34" charset="0"/>
              </a:defRPr>
            </a:lvl1pPr>
          </a:lstStyle>
          <a:p>
            <a:endParaRPr lang="en-GB" dirty="0"/>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000">
                <a:latin typeface="Verdana" pitchFamily="34" charset="0"/>
                <a:ea typeface="Verdana" pitchFamily="34" charset="0"/>
                <a:cs typeface="Verdana" pitchFamily="34" charset="0"/>
              </a:defRPr>
            </a:lvl1pPr>
          </a:lstStyle>
          <a:p>
            <a:fld id="{219CC2FD-B32F-4992-A15B-F95E2E35C81B}" type="slidenum">
              <a:rPr lang="en-GB" smtClean="0"/>
              <a:pPr/>
              <a:t>‹Nr.›</a:t>
            </a:fld>
            <a:endParaRPr lang="en-GB" dirty="0"/>
          </a:p>
        </p:txBody>
      </p:sp>
    </p:spTree>
    <p:extLst>
      <p:ext uri="{BB962C8B-B14F-4D97-AF65-F5344CB8AC3E}">
        <p14:creationId xmlns:p14="http://schemas.microsoft.com/office/powerpoint/2010/main" val="9151365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Verdana" pitchFamily="34" charset="0"/>
        <a:ea typeface="Verdana" pitchFamily="34" charset="0"/>
        <a:cs typeface="Verdana" pitchFamily="34" charset="0"/>
      </a:defRPr>
    </a:lvl1pPr>
    <a:lvl2pPr marL="457200" algn="l" defTabSz="914400" rtl="0" eaLnBrk="1" latinLnBrk="0" hangingPunct="1">
      <a:defRPr sz="1200" kern="1200">
        <a:solidFill>
          <a:schemeClr val="tx1"/>
        </a:solidFill>
        <a:latin typeface="Verdana" panose="020B0604030504040204" pitchFamily="34" charset="0"/>
        <a:ea typeface="+mn-ea"/>
        <a:cs typeface="+mn-cs"/>
      </a:defRPr>
    </a:lvl2pPr>
    <a:lvl3pPr marL="914400" algn="l" defTabSz="914400" rtl="0" eaLnBrk="1" latinLnBrk="0" hangingPunct="1">
      <a:defRPr sz="1200" kern="1200">
        <a:solidFill>
          <a:schemeClr val="tx1"/>
        </a:solidFill>
        <a:latin typeface="Verdana" panose="020B0604030504040204" pitchFamily="34" charset="0"/>
        <a:ea typeface="+mn-ea"/>
        <a:cs typeface="+mn-cs"/>
      </a:defRPr>
    </a:lvl3pPr>
    <a:lvl4pPr marL="1371600" algn="l" defTabSz="914400" rtl="0" eaLnBrk="1" latinLnBrk="0" hangingPunct="1">
      <a:defRPr sz="1200" kern="1200">
        <a:solidFill>
          <a:schemeClr val="tx1"/>
        </a:solidFill>
        <a:latin typeface="Verdana" panose="020B0604030504040204" pitchFamily="34" charset="0"/>
        <a:ea typeface="+mn-ea"/>
        <a:cs typeface="+mn-cs"/>
      </a:defRPr>
    </a:lvl4pPr>
    <a:lvl5pPr marL="1828800" algn="l" defTabSz="914400" rtl="0" eaLnBrk="1" latinLnBrk="0" hangingPunct="1">
      <a:defRPr sz="1200" kern="1200">
        <a:solidFill>
          <a:schemeClr val="tx1"/>
        </a:solidFill>
        <a:latin typeface="Verdana" panose="020B060403050404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halves. First a statistics refresher on a small chocolate kiosk that can be followed with a calculator, then checked in Python. Then linear regression, the workhorse of the course: every marketing mix model is a regression with transformed variables. Theory, assumptions and tests, real-world uses, and a first model on real chocolate scanner data. Readings: Bojinov, Parzen and Hamilton (2025), Skiera, Reiner and Albers (2022).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halves, eleven short parts. The refresher (Parts 1 to 5) builds the vocabulary of every regression table: means, standard errors, z-values, correlations. Regression (Parts 6 to 11) uses it on real chocolate data. Each half ends with a five-question quiz.</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kiosk at the university sells one chocolate bar. The year starts with a price test: over five weeks the owner tried five prices. Small numbers on purpose: every result today can be checked with a calculator. The daily sales of one week (right) serve for mean and median. The same kiosk returns with its full year (52 weeks, data/kiosk/kiosk_year.csv) for the normal distribution and the in-class exercise: one example for the whole refresher.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scale decides which statistics and which charts make sense.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Nominal: categories without order (brand, country, payment method): count them, report the mode. Ordinal: ordered categories with unequal or unknown distances (star rating, size S/M/L): median and percentiles. Interval: equal distances but no true zero (temperature in °C): differences and means are fine, ratios are not. Ratio: true zero (price, bars sold, revenue): everything, including 'twice as much'. Interval and ratio together are called metric; nominal and ordinal categorical.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°C is not twice as warm as 10 °C (in Kelvin it is 293 versus 283). An average of star ratings treats an ordinal scale as metric: common in practice, but a decision you should state. An 'average brand' means nothing.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are the data, how far do they scatter, and how precise is our average?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mean adds all values and divides by n. The median is the middle value of the sorted data (with an even n, the average of the two middle values). One event day with 54 bars pulls the mean to 20, but the median stays at 12, which describes a normal day much better. Use the median for skewed data (income, basket values, sales with promotions) and for ordinal scales; the mean for symmetric metric data, and whenever totals matter (20 x 5 = 100 bars sold).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by step for weekly bars sold: subtract the mean (80), square the deviations so that plus and minus do not cancel, add them up (3,000), divide by n - 1 = 4: the variance is 750 (bars squared). The square root brings us back to bars: the standard deviation is 27.4 bars, the typical distance of a week from the mean. Why n - 1: the deviations are measured from the sample mean, which sits closer to the data than the true mean; dividing by n - 1 corrects this. polars, pandas and statsmodels use n - 1 for samples.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kiosks, each sells 80 bars a week on average. In the middle our kiosk from the variance slide: sd 27.4 bars. Kiosk A is steady, 75 to 85 bars a week: sd 3.8. Kiosk B swings from 40 to 120: sd 31.6. Students can check kiosk B by hand: deviations -40, -20, 0, 20, 40, squares sum 4,000, divided by 4 is 1,000, square root 31.6. The mean alone hides these differences. For planning: kiosk B needs far more safety stock, and a forecast for kiosk B is much less certain.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kiosk, same five weeks as on the variance slide: mean 80 bars, sd 27.4 bars. The standard deviation describes how much single weeks differ; the standard error describes how precise the average of 80 is as an estimate of a typical week. SE = s / square root of n = 27.4 / square root of 5 = 12.2 bars. With 20 weeks and the same spread it would be 27.4 / square root of 20 = 6.1: four times the data halves the standard error. A rough 95 % interval is the mean plus or minus 2 SE: 80 plus or minus 24.5, about 55 to 105 bars. The exact factor 1.96 comes from the normal distribution in Part 3; with only five weeks the exact interval is wider (t-distribution, regression part). Every 'std err' in a regression table is a standard error. Python: se_units in Step 2 of Part 5 gives 12.25.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z-scores make different scales comparable; the normal distribution tells us how unusual a value is.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z-score says how many standard deviations a value lies above or below the mean. It removes the units, so values with different spreads become comparable. The three kiosks of the spread slide all sell 80 bars a week on average. 85 bars at the steady kiosk A: z = (85 - 80) / 3.8 = +1.3. 100 bars at the volatile kiosk B: z = (100 - 80) / 31.6 = +0.6. The 85 at kiosk A is the more unusual week, although 100 looks larger. In our kiosk, week 5 with 40 bars has z = (40 - 80) / 27.4 = -1.46. A standardised variable always has mean 0 and standard deviation 1; standardised regression coefficients use exactly this.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kiosk over the whole year: after the price test it kept the regular price of 3.00 EUR in 44 weeks. Bars sold in these weeks: mean 80, sd 10 (data/kiosk/kiosk_year.csv). Why not 27.4 as in Part 2? The five test weeks mixed five different prices; at one price the weeks vary much less. The histogram is roughly bell-shaped, and the normal curve with mean 80 and sd 10 fits it. The bell curve is fully described by mean and standard deviation. The 68-95-99.7 rule: 68 % of weeks within one sd (70 to 90 bars; in our year 31 of 44), 95 % within two (60 to 100; 42 of 44; exactly 1.96 sd), 99.7 % within three (50 to 110; all 44). Many sums and averages are approximately normal even when single values are not (central limit theorem): this is why means and regression coefficients can be tested with the normal curve.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Standardising any normal variable gives the standard normal distribution: mean 0, sd 1. One table (or one line of Python) then answers every question. Our kiosk at the regular price: how often does a week sell more than 90 bars? z = (90 - 80) / 10 = 1.0; the table gives 84.1 % below, so 15.9 % above. In our year it happened in 6 of 44 weeks (14 %): close. The value 1.96 cuts off 2.5 % in each tail: it is the 1.96 in confidence intervals and the critical value of a two-sided test at 5 %.</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one variable to two: price and bars sold at the kiosk.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Multiply the deviation of price by the deviation of bars sold for every week. When one is above its mean while the other is below, the product is negative (weeks 1, 2, 4 and 5); week 3 sits exactly on both means. The sum is -85; divided by n - 1 = 4 the covariance is -21.25. The sign gives the direction: negative, higher prices go with fewer bars. The size depends on the units (EUR x bars), so -21.25 alone says little about strength.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Dividing the covariance by both standard deviations removes the units: r = -21.25 / (0.79 x 27.39) = -0.98. r always lies between -1 and +1; -0.98 is an extremely strong negative relationship (rule of thumb in Bojinov et al.: above 0.8 extremely strong). The gallery shows strong positive, none, strong negative, and a U-shape where r is zero although x and y are clearly related: r only measures linear relationships.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Ice-cream sales and sunburn correlate because sunshine drives both: correlation is not causation. The regression slope through the five weeks is cov / var(price) = -21.25 / 0.625 = -34: each euro more, 34 bars fewer. The same building blocks (means, deviations, covariance, variance) produce the least-squares line of Part 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sessions/01-foundations/stats_refresher.qmd and run it cell by cell with Ctrl/Cmd + Enter. Each step first calculates by hand, then checks with the built-in function. Then the in-class exercise on the kiosk's full year.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packages cover the whole session: polars for data and descriptive statistics, plotnine for charts, great_tables for tables, statsmodels for regression and tests, numpy for logs inside model formulas, scipy for the p-value of a correlation. pyarrow and jupyter are never imported but must be installed: pyarrow lets polars hand its data to plotnine and statsmodels (.to_pandas()), jupyter lets Quarto run Python. numpy, scipy and pandas come with statsmodels automatically. Watch the one trap: the install name great-tables has a hyphen, the import name great_tables an underscore.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Install once per computer (per .venv): the packages stay. Load them at the top of every file, every time Python starts or Quarto renders. In Positron, pick Python 3.14 (.venv) at the top right first, then run the %pip line in a cell or the Console. If Quarto says 'No module named ...', the packages went to a different Python: in Positron's terminal run .venv\Scripts\python -m pip install polars plotnine great-tables statsmodels pyarrow jupyter (macOS: .venv/bin/python -m pip install ...). The same lines are at the top of stats_refresher.qmd and regression_chocolate.qmd.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polars data frame from three lists. The mean by hand is the sum divided by the number of rows; polars' mean() gives the same 80.0.</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steps as on the slide by hand: deviations, squares, sum, divide by n - 1, square root. polars' std() uses n - 1 by default (ddof=1), so it matches. The standard error of the mean is sd / sqrt(n): 12.25, the 12.2 bars of the standard-error slide in Part 2.</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with_columns adds a new column; the expression subtracts the mean and divides by the standard deviation. The z-scores have mean 0 and standard deviation 1. Week 5 lies 1.46 standard deviations below the mean.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Deviations of both variables, multiplied week by week, summed and divided by n - 1: the covariance. Divided by both standard deviations: the correlation. pl.cov and pl.corr check both in one line.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plotnine takes the polars data frame directly. Always plot two variables before you trust a correlation: the U-shape on the correlation slide had r = 0.</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of Steps 1 to 4 in four lines. describe() gives count, missing values, mean, standard deviation (n - 1), min, quartiles and max for every column; the 50 % row is the median. corr() gives the correlation matrix of all selected columns. pl.corr with method='spearman' correlates the ranks: use it for ordinal data such as star ratings or when the relationship is monotone but curved; here it is -1, because sales fall in every step. polars gives no p-value; scipy's pearsonr does (scipy comes with statsmodels). With five weeks p = 0.003: even five points are enough when r is -0.98. In the exercise, the same lines run on the kiosk's year: kiosk.describe() and kiosk.select(cs.numeric()).corr() with import polars.selectors as cs.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steps: online quiz 1 (five questions), the coding exercise on the kiosk's year with polars, plotnine and scipy, then the same tasks with Posit Assistant, and the answers at the end.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Online quiz on Canvas: three minutes alone, then compare with your neighbour.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data/kiosk/kiosk_year.csv in the course repository: 52 weeks, six columns. Weeks 1 to 5 are the price test from the slides (2.00 to 4.00 EUR; 110, 100, 80, 70, 40 bars). From week 6 the regular price is 3.00 EUR, with four promotion weeks at 2.50 (Valentine, Easter, start of term, Christmas). A display stood next to the till in six weeks. The data are simulated for teaching.</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on the tasks; we discuss them together.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 Assistant is Positron's chat, here with GitHub Copilot as the provider (set up in the GitHub and Copilot deck). It sees the files you attach and, once Python runs, the variables in your session: so run the first cell before you ask. It asks before it runs code; Accept, Decline or reply with instructions. Stay in Normal mode; /ask gives explanations without edits; never /yolo. Errors in the Console and in Quarto output have Fix and Explain buttons that send the error to Posit Assistant. Course rule: solve each task yourself with the packages first, then ask, and compare.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example prompts. Each names the file (or task), the packages and the output, and asks for an explanation. Without 'polars, not pandas' many models switch to pandas. Typical slips to watch: pandas instead of polars, numpy's np.std (divides by n, not n - 1), a correlation over the regular weeks only when the task says all 52 weeks. If a step is wrong, say so in the same chat and ask again.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vocabulary for the rest of the course: every regression table reports means, standard errors, z- or t-values and builds on covariances.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kiosk to real scanner data. Concepts first, each shown on the chocolate data. Bojinov et al. (2025) and Skiera et al. (2022) cover the same steps in more depth.</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weekly scanner data for one chocolate brand (brand 1) and three competitors: 68 weeks of unit sales, prices, feature ads and in-store displays, plus temperature and holiday weeks. Brand 1 cut its price from about 1.50 to about 1.03 in seven weeks (blue dots); sales jumped to up to five times the normal level. The brand manager wants to know how strongly sales respond to price, and whether the regular price is right.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correlation r lies between -1 and +1 and measures the direction and strength of a linear relationship. The rule of thumb in the HBS note: below 0.2 very weak, up to 0.4 weak to moderate, up to 0.6 medium to substantial, up to 0.8 very strong, above extremely strong. Sales and own price of brand 1 correlate at -0.94 over 68 real weeks, close to the kiosk's -0.98 from five made-up weeks. Real data are never a perfect line: competitors, features and the season also move sales, which is why we need multiple regression. The warnings from Part 4 still hold: linear only, not causal.</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line sales = 1,110 - 669 x price1 is the least-squares line for brand 1, built from the same pieces as the kiosk slope in Part 4 (cov / var). The slope says: one unit (one euro) more price, 669 units fewer per week; more useful, 10 cents more price, about 67 units fewer. R-squared is 0.88. But look at the chart: the points curve. The line overshoots in the middle and misses the promotion weeks, a first hint that a straight line is the wrong form (logs follow).</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residual is the vertical distance between an observed week and the line. Ordinary least squares (OLS) chooses intercept and slope so that the sum of squared residuals is as small as possible. Squaring makes positive and negative misses count equally and weighs large misses more, which is also why single extreme weeks can pull the line (outliers, Part 2).</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several explanatory variables each coefficient measures the effect of one variable while the others are held constant (ceteris paribus). This is exactly the marketing mix question: what does a price cut do if feature ads, competitor prices and the season stay the same? A variable left out of the model hands its effect to the variables that are in it (omitted variable bias).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coefficient comes with a standard error (Part 2). t = b / se tests whether the true coefficient is zero; the p-value is the probability of a t this extreme if it were zero; below 0.05 we call it significant. The 95 % confidence interval is about b plus or minus two standard errors. The F-test asks whether all slopes together are zero. For brand 1: own-price elasticity -3.64, se 0.30, t -12.1, interval -4.24 to -3.04; F = 59.5, p &lt; 0.001. The 1.96 from Part 3 is behind the 'about 2'.</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R-squared is the share of the variation in the outcome that the model explains; it never falls when a variable is added, so adjusted R-squared penalises extra variables. The residual standard error (or RMSE) is the typical miss in the units of the outcome: in a log model, 0.169 means about 17 % per week. Compare R-squared only between models with the same outcome: the simple model (sales) has 0.88, the log model (log sales) 0.87, and these are not comparable.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Logs turn a multiplicative sales response function into a linear regression (Skiera et al. 2022): in the log-log form the coefficient is an elasticity, the per cent change in sales for a 1 % change in the driver. A dummy (0/1) in a log model shifts sales by exp(b) - 1 per cent: December -0.385 means exp(-0.385) - 1 = -32 %. For small b, b x 100 is a good approximation.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a constant elasticity e below -1, the profit-maximising price is marginal cost times e / (1 + e) (the Amoroso-Robinson relation). Skiera et al. estimate e = -2.34 with unit cost $30, which gives about $52. For brand 1 e = -3.64 gives a price 1.38 times marginal cost, a 38 % markup. Caveats: this is a short-term, promotion-driven elasticity; regular-price elasticities are usually smaller, competitors react, and the retailer takes a margin.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Look first (residual plots), then test, then decide. Skiera et al. (2022) recommend checking multicollinearity, autocorrelation and heteroscedasticity in every model.</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Linearity and no omitted variables protect the coefficients themselves; homoscedasticity, no autocorrelation and normal residuals protect the standard errors and therefore the t- and F-tests. Normality matters least: with enough observations (Skiera et al.: even 10 to 20) the tests still work. Skiera et al. recommend at least three, better five times as many observations as coefficients. Exogeneity is the one no test can prove: it needs a good design (next slides).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residuals against fitted values for the main brand-1 model. No curve and no funnel, so the linear log form and constant variance look acceptable; a few price-cut weeks sit to the right. Right: the histogram is roughly bell-shaped with slightly heavy tails.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Durbin-Watson 1.41: below 2, some positive autocorrelation between neighbouring weeks, which makes the usual standard errors a little too small; Newey-West (HAC) standard errors correct this (0.32 instead of 0.30 for own price). Breusch-Pagan p = 0.14 and Jarque-Bera p = 0.07: no evidence against constant variance and normal residuals at 5 %. Largest VIF 2.4: no multicollinearity.</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fixes are one argument in statsmodels: cov_type='HC3' for heteroscedasticity-robust standard errors, cov_type='HAC' with maxlags for autocorrelation (Newey-West). Multicollinearity has no econometric cure: more variation in the data, combine variables, or run an experiment (Skiera et al.). Outliers: check the data first, report results with and without, never delete silently. Endogeneity needs design: experiments, instruments, panel data.</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Multicollinearity: brand 1 ran displays in only four weeks, mostly together with features and price cuts; adding display1 and fand1 gives VIFs of 11.4 and 10.9. Influence: there is a single Easter week; an Easter dummy fits that week perfectly (leverage 1.00), so its coefficient says nothing. Skiera et al.: mailings and salespersons correlate at 0.989; with both in the model the VIF is 53 and the salesperson coefficient turns negative and insignificant.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OLS assumes that the explanatory variables are unrelated to the error. Marketing breaks this whenever managers spend more where they expect success: then high spend and high unexplained sales go together and the coefficient is too large (Skiera et al.). Price cuts are often timed with features and displays, so the price coefficient also carries their effect. Gordon et al. (2019) compared 15 Facebook experiments with regression-based estimates: the observational methods often overstated the lift, sometimes by a factor of three or more.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Regression is everywhere in marketing practice, usually with a different name.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Bijmolt, van Heerde and Pieters (2005) pool 1,851 price elasticities: mean -2.62. Sethuraman, Tellis and Briesch (2011): short-term advertising elasticity 0.12 on average. Datta et al. (2022): across 14 Asia-Pacific countries the average price elasticity is -0.42 and lower where power distance is high. Brand 1's -3.64 is more price-sensitive than the average brand: chocolate has many close substitutes and the estimate is driven by promotion weeks.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Meta's Robyn is a ridge regression on adstocked and saturated media variables: MMM in production. Microsoft and Booking.com add the pre-period metric as a covariate in A/B tests (CUPED), which cuts the sample size needed. Google estimates ad effectiveness from geo experiments with regressions of test on control regions. Walmart's M5 competition showed that forecasts need price, promotion and event regressors. statworx (Frankfurt) estimates price elasticities from retail sales with log-log regressions. Bayer reallocated its budget across countries with estimated elasticities (Fischer et al. 2011).</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in Positron. The code on the next slides is complete; it is also in sessions/01-foundations/regression_chocolate.qmd: open it and run it cell by cell. The packages are the ones installed in Part 5 (polars, plotnine, statsmodels, numpy).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data/legacy/chocolate_dataset.csv in the course repository (also as the original .xlsx). Feature, display and fand (feature and display) are shares of stores between 0 and 1. Sales and prices are for brand 1 unless numbered otherwise; units are as delivered by the data provider.</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polars reads the CSV; describe() gives counts, means and ranges; corr() the correlation matrix of sales and the four prices, the same lines as Step 6 of Part 5 (sales and price1: -0.94). plotnine draws the scatter plot with the least-squares line in three lines of code. Always look before you model.</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statsmodels takes a pandas data frame, so .to_pandas() converts the polars frame (pyarrow does the work in the background). The formula reads like the equation. summary() prints the full table; params, bse, pvalues and rsquared give single numbers for the text.</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np.log inside the formula transforms the variables; numpy comes with statsmodels. Own price: elasticity -3.64, highly significant. Competitor prices are not significant at 5 %; the sign for brand 2 is negative, which would mean a complement and is not plausible, so we do not interpret it. December -0.385: exp(-0.385) - 1 = -32 %. Temperature: -0.66 % per degree.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functions, four numbers. Then refit with HAC standard errors because Durbin-Watson is below 2. The residual plot uses the same plotnine grammar as before.</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minutes alone, then compare with your neighbour.</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the code from Part 9, then answer the four questions. One group presents per question.</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 on the tasks; we discuss them together.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of four coding exercises. It applies the code of this session to a similar task.</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Individual work. The exercise reuses the data of this session with a different specification (display1 added, marginal cost 0.90), so the in-class code transfers but the answers differ. The file must render from top to bottom; deadline and upload on Canvas. AI assistants are allowed; the prompt log at the end shows how they were used.</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Grading on 20 points, scaled to 5 % of the final grade. Interpretation counts most, because the AI writes much of the code. Deadline: see Canvas.</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students remember one thing: in a log-log model the coefficient is an elasticity, and an elasticity turns into a price with one formula, but only if the assumptions hold and the data vary enough.</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Field is the friendliest textbook for students without a statistics background; Seeing Theory and StatQuest visualise every concept of today.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Core readings first. All sources are listed with notes in instructor/resources/regression-resource-guide.md.</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Contact details on the card; office hours via the booking link.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 Id="rId22" Type="http://schemas.openxmlformats.org/officeDocument/2006/relationships/hyperlink" Target="https://www.wu.ac.at/en/welthandel/arne-floh/"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baseline="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24" name="Gruppieren 23"/>
          <p:cNvGrpSpPr/>
          <p:nvPr userDrawn="1"/>
        </p:nvGrpSpPr>
        <p:grpSpPr>
          <a:xfrm>
            <a:off x="287338" y="603319"/>
            <a:ext cx="8552850" cy="1731679"/>
            <a:chOff x="287338" y="603319"/>
            <a:chExt cx="8552850" cy="2037600"/>
          </a:xfrm>
        </p:grpSpPr>
        <p:sp>
          <p:nvSpPr>
            <p:cNvPr id="26" name="Rechteck 25"/>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7" name="Rechteck 26"/>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8" y="1294973"/>
            <a:ext cx="5466982"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8" y="993080"/>
            <a:ext cx="5466982"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6"/>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9" name="Grafik 18">
            <a:extLst>
              <a:ext uri="{FF2B5EF4-FFF2-40B4-BE49-F238E27FC236}">
                <a16:creationId xmlns:a16="http://schemas.microsoft.com/office/drawing/2014/main" id="{BE16B78E-14FB-4C1E-8625-0D5A429E49F4}"/>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1" name="Grafik 10">
            <a:extLst>
              <a:ext uri="{FF2B5EF4-FFF2-40B4-BE49-F238E27FC236}">
                <a16:creationId xmlns:a16="http://schemas.microsoft.com/office/drawing/2014/main" id="{E9B62297-FBCA-40E7-A876-7818F7A81C7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 und Inhalt">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lvl="0"/>
            <a:r>
              <a:rPr lang="en-GB" dirty="0" err="1"/>
              <a:t>Textmasterformat</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grpSp>
        <p:nvGrpSpPr>
          <p:cNvPr id="12" name="Gruppieren 11"/>
          <p:cNvGrpSpPr/>
          <p:nvPr userDrawn="1"/>
        </p:nvGrpSpPr>
        <p:grpSpPr>
          <a:xfrm>
            <a:off x="287338" y="603319"/>
            <a:ext cx="8552850" cy="2037600"/>
            <a:chOff x="287338" y="603319"/>
            <a:chExt cx="8552850" cy="2037600"/>
          </a:xfrm>
        </p:grpSpPr>
        <p:sp>
          <p:nvSpPr>
            <p:cNvPr id="16" name="Rechteck 15"/>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0"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5"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1" name="Grafik 20">
            <a:extLst>
              <a:ext uri="{FF2B5EF4-FFF2-40B4-BE49-F238E27FC236}">
                <a16:creationId xmlns:a16="http://schemas.microsoft.com/office/drawing/2014/main" id="{BA9844F5-FA66-4582-86D9-5CEB57D81516}"/>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B702B7F6-CDD2-4C6E-BBC1-61A114A8A82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54679611"/>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4"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1" name="Grafik 20">
            <a:extLst>
              <a:ext uri="{FF2B5EF4-FFF2-40B4-BE49-F238E27FC236}">
                <a16:creationId xmlns:a16="http://schemas.microsoft.com/office/drawing/2014/main" id="{A463F4F5-A20D-4A70-B3F9-6AD8A3EE255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AB68F06-4800-4D63-9DF2-372B23A8EC2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919268004"/>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elfolie Bild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2" name="Rechteck 11"/>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3" name="Rechteck 12"/>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6"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7"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2" name="Grafik 21">
            <a:extLst>
              <a:ext uri="{FF2B5EF4-FFF2-40B4-BE49-F238E27FC236}">
                <a16:creationId xmlns:a16="http://schemas.microsoft.com/office/drawing/2014/main" id="{330D039B-1A60-42B3-A3E1-B44D86C63C0C}"/>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5D9B1B1-5069-4351-A01A-8CD097284142}"/>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3042078111"/>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elfolie Bild 2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9" name="Gruppieren 18"/>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4" name="Grafik 23">
            <a:extLst>
              <a:ext uri="{FF2B5EF4-FFF2-40B4-BE49-F238E27FC236}">
                <a16:creationId xmlns:a16="http://schemas.microsoft.com/office/drawing/2014/main" id="{ABF9D4AB-1FA6-4101-9EE8-B852A65B2A1E}"/>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4" name="Grafik 13">
            <a:extLst>
              <a:ext uri="{FF2B5EF4-FFF2-40B4-BE49-F238E27FC236}">
                <a16:creationId xmlns:a16="http://schemas.microsoft.com/office/drawing/2014/main" id="{DDF8959B-5028-481F-A01F-8628D9F2E0D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1441666851"/>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itelfolie Bild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9" name="Rechteck 18"/>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1" name="Rechteck 20"/>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2"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3"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3" name="Grafik 22">
            <a:extLst>
              <a:ext uri="{FF2B5EF4-FFF2-40B4-BE49-F238E27FC236}">
                <a16:creationId xmlns:a16="http://schemas.microsoft.com/office/drawing/2014/main" id="{904218C8-068C-46BC-ADE6-6BC8A468BF77}"/>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D487AD36-3E46-4F41-8B5C-B79909802DD4}"/>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4188316379"/>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elfolie Bild 3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8" name="Gruppieren 17"/>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7" name="Grafik 16">
            <a:extLst>
              <a:ext uri="{FF2B5EF4-FFF2-40B4-BE49-F238E27FC236}">
                <a16:creationId xmlns:a16="http://schemas.microsoft.com/office/drawing/2014/main" id="{63D0D44A-5625-4C70-A2EB-08D982355B99}"/>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3" name="Grafik 12">
            <a:extLst>
              <a:ext uri="{FF2B5EF4-FFF2-40B4-BE49-F238E27FC236}">
                <a16:creationId xmlns:a16="http://schemas.microsoft.com/office/drawing/2014/main" id="{D91D1A92-B997-47B5-A14A-E2A501C20D0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383958111"/>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Kapitelfolie">
    <p:spTree>
      <p:nvGrpSpPr>
        <p:cNvPr id="1" name=""/>
        <p:cNvGrpSpPr/>
        <p:nvPr/>
      </p:nvGrpSpPr>
      <p:grpSpPr>
        <a:xfrm>
          <a:off x="0" y="0"/>
          <a:ext cx="0" cy="0"/>
          <a:chOff x="0" y="0"/>
          <a:chExt cx="0" cy="0"/>
        </a:xfrm>
      </p:grpSpPr>
      <p:grpSp>
        <p:nvGrpSpPr>
          <p:cNvPr id="21" name="Gruppieren 20"/>
          <p:cNvGrpSpPr/>
          <p:nvPr userDrawn="1"/>
        </p:nvGrpSpPr>
        <p:grpSpPr>
          <a:xfrm>
            <a:off x="287338" y="603319"/>
            <a:ext cx="8552850" cy="2037600"/>
            <a:chOff x="287338" y="603319"/>
            <a:chExt cx="8552850" cy="2037600"/>
          </a:xfrm>
        </p:grpSpPr>
        <p:sp>
          <p:nvSpPr>
            <p:cNvPr id="22" name="Rechteck 21"/>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3" name="Rechteck 22"/>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Max. 2 lines of text for chapter header</a:t>
            </a:r>
          </a:p>
        </p:txBody>
      </p:sp>
      <p:sp>
        <p:nvSpPr>
          <p:cNvPr id="2" name="Datumsplatzhalter 1"/>
          <p:cNvSpPr>
            <a:spLocks noGrp="1"/>
          </p:cNvSpPr>
          <p:nvPr>
            <p:ph type="dt" sz="half" idx="13"/>
          </p:nvPr>
        </p:nvSpPr>
        <p:spPr/>
        <p:txBody>
          <a:bodyPr/>
          <a:lstStyle/>
          <a:p>
            <a:fld id="{529FDC53-5973-45F2-8F83-ED68F7A58508}" type="datetime1">
              <a:rPr lang="en-GB" smtClean="0"/>
              <a:t>25/08/2023</a:t>
            </a:fld>
            <a:endParaRPr lang="en-GB" dirty="0"/>
          </a:p>
        </p:txBody>
      </p:sp>
      <p:sp>
        <p:nvSpPr>
          <p:cNvPr id="3" name="Fußzeilenplatzhalter 2"/>
          <p:cNvSpPr>
            <a:spLocks noGrp="1"/>
          </p:cNvSpPr>
          <p:nvPr>
            <p:ph type="ftr" sz="quarter" idx="14"/>
          </p:nvPr>
        </p:nvSpPr>
        <p:spPr/>
        <p:txBody>
          <a:bodyPr/>
          <a:lstStyle/>
          <a:p>
            <a:r>
              <a:rPr lang="en-GB" dirty="0"/>
              <a:t>Sample Footer</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pic>
        <p:nvPicPr>
          <p:cNvPr id="18" name="Grafik 17">
            <a:extLst>
              <a:ext uri="{FF2B5EF4-FFF2-40B4-BE49-F238E27FC236}">
                <a16:creationId xmlns:a16="http://schemas.microsoft.com/office/drawing/2014/main" id="{89CCD104-DEA0-4048-8CA3-CAB740FC066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72F980AF-DDD0-4966-B1E7-E1B87083C7CB}"/>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3772976733"/>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Kapitelfolie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302593"/>
            <a:ext cx="5436000" cy="516714"/>
          </a:xfrm>
          <a:prstGeom prst="rect">
            <a:avLst/>
          </a:prstGeom>
        </p:spPr>
        <p:txBody>
          <a:bodyPr tIns="0" anchor="b"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1 line for chapter header</a:t>
            </a:r>
          </a:p>
        </p:txBody>
      </p:sp>
      <p:sp>
        <p:nvSpPr>
          <p:cNvPr id="14" name="Textplatzhalter 9"/>
          <p:cNvSpPr>
            <a:spLocks noGrp="1"/>
          </p:cNvSpPr>
          <p:nvPr>
            <p:ph type="body" sz="quarter" idx="11" hasCustomPrompt="1"/>
          </p:nvPr>
        </p:nvSpPr>
        <p:spPr bwMode="white">
          <a:xfrm>
            <a:off x="287338" y="2642907"/>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4" name="Date Placeholder 3"/>
          <p:cNvSpPr>
            <a:spLocks noGrp="1"/>
          </p:cNvSpPr>
          <p:nvPr>
            <p:ph type="dt" sz="half" idx="12"/>
          </p:nvPr>
        </p:nvSpPr>
        <p:spPr/>
        <p:txBody>
          <a:bodyPr/>
          <a:lstStyle/>
          <a:p>
            <a:fld id="{24570F99-0B5D-40DA-A3D3-DDF1CB693FD8}" type="datetime1">
              <a:rPr lang="en-GB" smtClean="0"/>
              <a:t>25/08/2023</a:t>
            </a:fld>
            <a:endParaRPr lang="en-GB" dirty="0"/>
          </a:p>
        </p:txBody>
      </p:sp>
      <p:sp>
        <p:nvSpPr>
          <p:cNvPr id="5" name="Footer Placeholder 4"/>
          <p:cNvSpPr>
            <a:spLocks noGrp="1"/>
          </p:cNvSpPr>
          <p:nvPr>
            <p:ph type="ftr" sz="quarter" idx="13"/>
          </p:nvPr>
        </p:nvSpPr>
        <p:spPr/>
        <p:txBody>
          <a:bodyPr/>
          <a:lstStyle/>
          <a:p>
            <a:r>
              <a:rPr lang="en-GB" dirty="0"/>
              <a:t>Sample Footer</a:t>
            </a:r>
          </a:p>
        </p:txBody>
      </p:sp>
      <p:sp>
        <p:nvSpPr>
          <p:cNvPr id="6" name="Slide Number Placeholder 5"/>
          <p:cNvSpPr>
            <a:spLocks noGrp="1"/>
          </p:cNvSpPr>
          <p:nvPr>
            <p:ph type="sldNum" sz="quarter" idx="14"/>
          </p:nvPr>
        </p:nvSpPr>
        <p:spPr/>
        <p:txBody>
          <a:bodyPr/>
          <a:lstStyle/>
          <a:p>
            <a:r>
              <a:rPr lang="en-GB" dirty="0"/>
              <a:t>Page </a:t>
            </a:r>
            <a:fld id="{BE3DC40E-DBBE-4E2D-9EEC-FBF0DA0E9179}" type="slidenum">
              <a:rPr lang="en-GB" smtClean="0"/>
              <a:pPr/>
              <a:t>‹Nr.›</a:t>
            </a:fld>
            <a:endParaRPr lang="en-GB" dirty="0"/>
          </a:p>
        </p:txBody>
      </p:sp>
      <p:pic>
        <p:nvPicPr>
          <p:cNvPr id="21" name="Grafik 20">
            <a:extLst>
              <a:ext uri="{FF2B5EF4-FFF2-40B4-BE49-F238E27FC236}">
                <a16:creationId xmlns:a16="http://schemas.microsoft.com/office/drawing/2014/main" id="{416AA66B-0354-461B-A799-CF3EFFC17D87}"/>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D0ECE620-FB2B-4217-AA10-439373F15D4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4164094613"/>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Nur Titel">
    <p:spTree>
      <p:nvGrpSpPr>
        <p:cNvPr id="1" name=""/>
        <p:cNvGrpSpPr/>
        <p:nvPr/>
      </p:nvGrpSpPr>
      <p:grpSpPr>
        <a:xfrm>
          <a:off x="0" y="0"/>
          <a:ext cx="0" cy="0"/>
          <a:chOff x="0" y="0"/>
          <a:chExt cx="0" cy="0"/>
        </a:xfrm>
      </p:grpSpPr>
      <p:sp>
        <p:nvSpPr>
          <p:cNvPr id="7" name="Inhaltsplatzhalter 6"/>
          <p:cNvSpPr>
            <a:spLocks noGrp="1"/>
          </p:cNvSpPr>
          <p:nvPr>
            <p:ph sz="quarter" idx="10" hasCustomPrompt="1"/>
          </p:nvPr>
        </p:nvSpPr>
        <p:spPr>
          <a:xfrm>
            <a:off x="468316" y="1344613"/>
            <a:ext cx="8210547" cy="4370387"/>
          </a:xfrm>
        </p:spPr>
        <p:txBody>
          <a:bodyPr/>
          <a:lstStyle>
            <a:lvl1pPr>
              <a:buNone/>
              <a:defRPr/>
            </a:lvl1pPr>
          </a:lstStyle>
          <a:p>
            <a:pPr lvl="0"/>
            <a:r>
              <a:rPr lang="en-GB" dirty="0"/>
              <a:t>Placeholder for objects</a:t>
            </a:r>
          </a:p>
        </p:txBody>
      </p:sp>
      <p:sp>
        <p:nvSpPr>
          <p:cNvPr id="8" name="Rechteck 7"/>
          <p:cNvSpPr/>
          <p:nvPr userDrawn="1"/>
        </p:nvSpPr>
        <p:spPr bwMode="gray">
          <a:xfrm>
            <a:off x="0" y="1043522"/>
            <a:ext cx="9144000" cy="25200"/>
          </a:xfrm>
          <a:prstGeom prst="rect">
            <a:avLst/>
          </a:prstGeom>
          <a:solidFill>
            <a:srgbClr val="0C94B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2" name="Titel 1"/>
          <p:cNvSpPr>
            <a:spLocks noGrp="1"/>
          </p:cNvSpPr>
          <p:nvPr>
            <p:ph type="title"/>
          </p:nvPr>
        </p:nvSpPr>
        <p:spPr/>
        <p:txBody>
          <a:bodyPr/>
          <a:lstStyle/>
          <a:p>
            <a:r>
              <a:rPr lang="de-DE"/>
              <a:t>Mastertitelformat bearbeiten</a:t>
            </a:r>
            <a:endParaRPr lang="en-GB" dirty="0"/>
          </a:p>
        </p:txBody>
      </p:sp>
      <p:pic>
        <p:nvPicPr>
          <p:cNvPr id="9" name="Grafik 8">
            <a:extLst>
              <a:ext uri="{FF2B5EF4-FFF2-40B4-BE49-F238E27FC236}">
                <a16:creationId xmlns:a16="http://schemas.microsoft.com/office/drawing/2014/main" id="{293310F7-117D-4045-8610-3277CC5ED29B}"/>
              </a:ext>
            </a:extLst>
          </p:cNvPr>
          <p:cNvPicPr>
            <a:picLocks noChangeAspect="1"/>
          </p:cNvPicPr>
          <p:nvPr userDrawn="1"/>
        </p:nvPicPr>
        <p:blipFill>
          <a:blip r:embed="rId2"/>
          <a:stretch>
            <a:fillRect/>
          </a:stretch>
        </p:blipFill>
        <p:spPr>
          <a:xfrm>
            <a:off x="7711621" y="288569"/>
            <a:ext cx="1170000" cy="617280"/>
          </a:xfrm>
          <a:prstGeom prst="rect">
            <a:avLst/>
          </a:prstGeom>
        </p:spPr>
      </p:pic>
    </p:spTree>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344613"/>
            <a:ext cx="3960000" cy="3859212"/>
          </a:xfrm>
        </p:spPr>
        <p:txBody>
          <a:bodyPr>
            <a:normAutofit/>
          </a:bodyPr>
          <a:lstStyle>
            <a:lvl1pPr>
              <a:buClr>
                <a:schemeClr val="accent1"/>
              </a:buClr>
              <a:defRPr sz="1600"/>
            </a:lvl1pPr>
            <a:lvl2pPr marL="541312" indent="-285750">
              <a:buClr>
                <a:schemeClr val="accent1"/>
              </a:buClr>
              <a:buFont typeface="Wingdings" charset="2"/>
              <a:buChar char="§"/>
              <a:defRPr sz="1500"/>
            </a:lvl2pPr>
            <a:lvl3pPr>
              <a:defRPr sz="1400"/>
            </a:lvl3pPr>
            <a:lvl4pPr>
              <a:buClr>
                <a:schemeClr val="accent1"/>
              </a:buClr>
              <a:defRPr sz="1200"/>
            </a:lvl4pPr>
            <a:lvl5pPr>
              <a:buClr>
                <a:schemeClr val="accent1"/>
              </a:buCl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Zwei Inhalte Vergleich">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8" name="Textplatzhalter 2"/>
          <p:cNvSpPr>
            <a:spLocks noGrp="1"/>
          </p:cNvSpPr>
          <p:nvPr>
            <p:ph type="body" idx="13" hasCustomPrompt="1"/>
          </p:nvPr>
        </p:nvSpPr>
        <p:spPr bwMode="gray">
          <a:xfrm>
            <a:off x="46831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1</a:t>
            </a:r>
          </a:p>
        </p:txBody>
      </p:sp>
      <p:sp>
        <p:nvSpPr>
          <p:cNvPr id="5" name="Datumsplatzhalter 4"/>
          <p:cNvSpPr>
            <a:spLocks noGrp="1"/>
          </p:cNvSpPr>
          <p:nvPr>
            <p:ph type="dt" sz="half" idx="14"/>
          </p:nvPr>
        </p:nvSpPr>
        <p:spPr/>
        <p:txBody>
          <a:bodyPr/>
          <a:lstStyle/>
          <a:p>
            <a:fld id="{9E16A0E8-29DE-4D75-BF66-2C047D439D41}" type="datetime1">
              <a:rPr lang="en-GB" smtClean="0"/>
              <a:t>25/08/2023</a:t>
            </a:fld>
            <a:endParaRPr lang="en-GB" dirty="0"/>
          </a:p>
        </p:txBody>
      </p:sp>
      <p:sp>
        <p:nvSpPr>
          <p:cNvPr id="11" name="Fußzeilenplatzhalter 10"/>
          <p:cNvSpPr>
            <a:spLocks noGrp="1"/>
          </p:cNvSpPr>
          <p:nvPr>
            <p:ph type="ftr" sz="quarter" idx="15"/>
          </p:nvPr>
        </p:nvSpPr>
        <p:spPr/>
        <p:txBody>
          <a:bodyPr/>
          <a:lstStyle/>
          <a:p>
            <a:r>
              <a:rPr lang="en-GB" dirty="0"/>
              <a:t>Sample Footer</a:t>
            </a:r>
          </a:p>
        </p:txBody>
      </p:sp>
      <p:sp>
        <p:nvSpPr>
          <p:cNvPr id="12" name="Foliennummernplatzhalter 11"/>
          <p:cNvSpPr>
            <a:spLocks noGrp="1"/>
          </p:cNvSpPr>
          <p:nvPr>
            <p:ph type="sldNum" sz="quarter" idx="16"/>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
        <p:nvSpPr>
          <p:cNvPr id="14" name="Textplatzhalter 2"/>
          <p:cNvSpPr>
            <a:spLocks noGrp="1"/>
          </p:cNvSpPr>
          <p:nvPr>
            <p:ph type="body" idx="17" hasCustomPrompt="1"/>
          </p:nvPr>
        </p:nvSpPr>
        <p:spPr bwMode="gray">
          <a:xfrm>
            <a:off x="472789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2</a:t>
            </a:r>
          </a:p>
        </p:txBody>
      </p:sp>
    </p:spTree>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bschlussfolie">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Textplatzhalter 10"/>
          <p:cNvSpPr>
            <a:spLocks noGrp="1"/>
          </p:cNvSpPr>
          <p:nvPr>
            <p:ph type="body" sz="quarter" idx="10" hasCustomPrompt="1"/>
          </p:nvPr>
        </p:nvSpPr>
        <p:spPr>
          <a:xfrm>
            <a:off x="1684020" y="2559843"/>
            <a:ext cx="2763926" cy="1811291"/>
          </a:xfr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marR="0" lvl="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a:pPr>
            <a:r>
              <a:rPr kumimoji="0" lang="en-GB" sz="1000" b="0" i="0" u="none" strike="noStrike" kern="1200" cap="none" spc="0" normalizeH="0" baseline="0" noProof="0" dirty="0" err="1">
                <a:ln>
                  <a:noFill/>
                </a:ln>
                <a:solidFill>
                  <a:srgbClr val="000000"/>
                </a:solidFill>
                <a:effectLst/>
                <a:uLnTx/>
                <a:uFillTx/>
                <a:latin typeface="+mn-lt"/>
                <a:ea typeface="+mn-ea"/>
                <a:cs typeface="+mn-cs"/>
              </a:rPr>
              <a:t>Hier</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Adressdaten</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eingeben</a:t>
            </a:r>
            <a:endParaRPr kumimoji="0" lang="en-GB" sz="1000" b="0" i="0" u="none" strike="noStrike" kern="1200" cap="none" spc="0" normalizeH="0" baseline="0" noProof="0" dirty="0">
              <a:ln>
                <a:noFill/>
              </a:ln>
              <a:solidFill>
                <a:srgbClr val="000000"/>
              </a:solidFill>
              <a:effectLst/>
              <a:uLnTx/>
              <a:uFillTx/>
              <a:latin typeface="+mn-lt"/>
              <a:ea typeface="+mn-ea"/>
              <a:cs typeface="+mn-cs"/>
            </a:endParaRP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Titelfolie Kontak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Kontaktdaten"/>
          <p:cNvSpPr>
            <a:spLocks noGrp="1"/>
          </p:cNvSpPr>
          <p:nvPr userDrawn="1"/>
        </p:nvSpPr>
        <p:spPr bwMode="white">
          <a:xfrm>
            <a:off x="287338" y="2941638"/>
            <a:ext cx="4284662" cy="1400000"/>
          </a:xfrm>
          <a:prstGeom prst="rect">
            <a:avLst/>
          </a:prstGeom>
          <a:solidFill>
            <a:srgbClr val="FFFFFF">
              <a:alpha val="90000"/>
            </a:srgbClr>
          </a:solidFill>
          <a:ln>
            <a:noFill/>
          </a:ln>
        </p:spPr>
        <p:txBody>
          <a:bodyPr wrap="square" lIns="324000" tIns="216000" rIns="324000" bIns="216000" rtlCol="0" anchor="t" anchorCtr="0">
            <a:spAutoFit/>
          </a:bodyPr>
          <a:lstStyle>
            <a:lvl1pPr marL="0" indent="0">
              <a:buNone/>
              <a:defRPr lang="de-DE" sz="1200" baseline="0" dirty="0" smtClean="0"/>
            </a:lvl1pPr>
          </a:lstStyle>
          <a:p>
            <a:pPr marL="0" indent="0">
              <a:buNone/>
            </a:pPr>
            <a:r>
              <a:rPr lang="en-GB" sz="1100" dirty="0">
                <a:solidFill>
                  <a:srgbClr val="000000"/>
                </a:solidFill>
                <a:latin typeface="+mn-lt"/>
              </a:rPr>
              <a:t>Dr Arne Floh, Senior Lecturer in Marketing</a:t>
            </a:r>
          </a:p>
          <a:p>
            <a:pPr marL="0" indent="0">
              <a:buNone/>
            </a:pPr>
            <a:r>
              <a:rPr lang="en-GB" sz="1100" dirty="0">
                <a:solidFill>
                  <a:srgbClr val="000000"/>
                </a:solidFill>
                <a:latin typeface="+mn-lt"/>
              </a:rPr>
              <a:t>WU Vienna, Institute for International Business</a:t>
            </a:r>
          </a:p>
          <a:p>
            <a:pPr marL="0" indent="0">
              <a:buNone/>
            </a:pPr>
            <a:endParaRPr lang="en-GB" sz="1200"/>
          </a:p>
          <a:p>
            <a:pPr marL="0" indent="0">
              <a:buNone/>
            </a:pPr>
            <a:r>
              <a:rPr lang="en-GB" sz="1100" dirty="0">
                <a:solidFill>
                  <a:srgbClr val="000000"/>
                </a:solidFill>
                <a:latin typeface="+mn-lt"/>
                <a:hlinkClick r:id="rId20"/>
              </a:rPr>
              <a:t>arne.floh@wu.ac.at</a:t>
            </a:r>
          </a:p>
          <a:p>
            <a:pPr marL="0" indent="0">
              <a:buNone/>
            </a:pPr>
            <a:r>
              <a:rPr lang="en-GB" sz="1100" dirty="0">
                <a:solidFill>
                  <a:srgbClr val="000000"/>
                </a:solidFill>
                <a:latin typeface="+mn-lt"/>
                <a:hlinkClick r:id="rId21"/>
              </a:rPr>
              <a:t>Office hours: book online (Google Calendar)</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Inhalt und Bild mit Logo">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Bildplatzhalter 3"/>
          <p:cNvSpPr>
            <a:spLocks noGrp="1"/>
          </p:cNvSpPr>
          <p:nvPr>
            <p:ph type="pic" sz="half" idx="2" hasCustomPrompt="1"/>
          </p:nvPr>
        </p:nvSpPr>
        <p:spPr>
          <a:xfrm>
            <a:off x="4715688" y="1344613"/>
            <a:ext cx="3960000" cy="3859212"/>
          </a:xfrm>
        </p:spPr>
        <p:txBody>
          <a:bodyPr anchor="ctr"/>
          <a:lstStyle>
            <a:lvl1pPr marL="0" indent="0" algn="ctr">
              <a:buNone/>
              <a:defRPr sz="1200"/>
            </a:lvl1pPr>
          </a:lstStyle>
          <a:p>
            <a:r>
              <a:rPr lang="en-GB" dirty="0"/>
              <a:t>Click icon to add picture</a:t>
            </a:r>
          </a:p>
        </p:txBody>
      </p:sp>
      <p:sp>
        <p:nvSpPr>
          <p:cNvPr id="20" name="Logoplatzhalter 19"/>
          <p:cNvSpPr>
            <a:spLocks noGrp="1"/>
          </p:cNvSpPr>
          <p:nvPr>
            <p:ph type="pic" sz="quarter" idx="13" hasCustomPrompt="1"/>
          </p:nvPr>
        </p:nvSpPr>
        <p:spPr>
          <a:xfrm>
            <a:off x="7715688" y="4243825"/>
            <a:ext cx="860000" cy="860000"/>
          </a:xfrm>
        </p:spPr>
        <p:txBody>
          <a:bodyPr anchor="ctr"/>
          <a:lstStyle>
            <a:lvl1pPr marL="0" indent="0" algn="ctr">
              <a:buNone/>
              <a:defRPr sz="1200"/>
            </a:lvl1pPr>
          </a:lstStyle>
          <a:p>
            <a:r>
              <a:rPr lang="en-GB" dirty="0"/>
              <a:t>Logo</a:t>
            </a:r>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Inhaltsplatzhalter 2"/>
          <p:cNvSpPr>
            <a:spLocks noGrp="1"/>
          </p:cNvSpPr>
          <p:nvPr>
            <p:ph type="tbl"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marL="0" indent="0">
              <a:buNone/>
            </a:pPr>
            <a:r>
              <a:rPr lang="en-GB" dirty="0"/>
              <a:t>Click icon to add table</a:t>
            </a:r>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bschlussfolie Kontakt">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Kontaktdaten"/>
          <p:cNvSpPr>
            <a:spLocks noGrp="1"/>
          </p:cNvSpPr>
          <p:nvPr userDrawn="1"/>
        </p:nvSpPr>
        <p:spPr>
          <a:xfrm>
            <a:off x="1684020" y="2559843"/>
            <a:ext cx="2763926" cy="1811291"/>
          </a:xfrm>
          <a:prstGeom prst="rect">
            <a:avLst/>
          </a:prstGeo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indent="0">
              <a:buNone/>
            </a:pPr>
            <a:r>
              <a:rPr lang="en-GB" sz="1000" b="1" dirty="0">
                <a:solidFill>
                  <a:srgbClr val="000000"/>
                </a:solidFill>
                <a:latin typeface="+mn-lt"/>
              </a:rPr>
              <a:t>INSTITUTE FOR INTERNATIONAL BUSINESS</a:t>
            </a:r>
          </a:p>
          <a:p>
            <a:pPr marL="0" indent="0">
              <a:buNone/>
            </a:pPr>
            <a:r>
              <a:rPr lang="en-GB" sz="1000" dirty="0">
                <a:solidFill>
                  <a:srgbClr val="000000"/>
                </a:solidFill>
                <a:latin typeface="+mn-lt"/>
              </a:rPr>
              <a:t>Welthandelsplatz 1, 1020 Vienna, Austria</a:t>
            </a:r>
          </a:p>
          <a:p>
            <a:pPr marL="0" indent="0">
              <a:buNone/>
            </a:pPr>
            <a:endParaRPr lang="en-GB" sz="1000" dirty="0"/>
          </a:p>
          <a:p>
            <a:pPr marL="0" indent="0">
              <a:buNone/>
            </a:pPr>
            <a:r>
              <a:rPr lang="en-GB" sz="1000" b="1" dirty="0">
                <a:solidFill>
                  <a:srgbClr val="000000"/>
                </a:solidFill>
                <a:latin typeface="+mn-lt"/>
              </a:rPr>
              <a:t>DR ARNE FLOH</a:t>
            </a:r>
          </a:p>
          <a:p>
            <a:pPr marL="0" indent="0">
              <a:buNone/>
            </a:pPr>
            <a:r>
              <a:rPr lang="en-GB" sz="1000" dirty="0">
                <a:solidFill>
                  <a:srgbClr val="000000"/>
                </a:solidFill>
                <a:latin typeface="+mn-lt"/>
              </a:rPr>
              <a:t>Senior Lecturer in Marketing</a:t>
            </a:r>
          </a:p>
          <a:p>
            <a:pPr marL="0" indent="0">
              <a:buNone/>
            </a:pPr>
            <a:endParaRPr lang="en-GB" sz="1000" dirty="0"/>
          </a:p>
          <a:p>
            <a:pPr marL="0" indent="0">
              <a:buNone/>
            </a:pPr>
            <a:r>
              <a:rPr lang="en-GB" sz="1000" dirty="0">
                <a:solidFill>
                  <a:srgbClr val="000000"/>
                </a:solidFill>
                <a:latin typeface="+mn-lt"/>
              </a:rPr>
              <a:t>F +43-31336-6367</a:t>
            </a:r>
          </a:p>
          <a:p>
            <a:pPr marL="0" indent="0">
              <a:buNone/>
            </a:pPr>
            <a:r>
              <a:rPr lang="en-GB" sz="1000" dirty="0">
                <a:solidFill>
                  <a:srgbClr val="000000"/>
                </a:solidFill>
                <a:latin typeface="+mn-lt"/>
                <a:hlinkClick r:id="rId20"/>
              </a:rPr>
              <a:t>arne.floh@wu.ac.at</a:t>
            </a:r>
          </a:p>
          <a:p>
            <a:pPr marL="0" indent="0">
              <a:buNone/>
            </a:pPr>
            <a:r>
              <a:rPr lang="en-GB" sz="900" dirty="0">
                <a:solidFill>
                  <a:srgbClr val="000000"/>
                </a:solidFill>
                <a:latin typeface="+mn-lt"/>
                <a:hlinkClick r:id="rId22"/>
              </a:rPr>
              <a:t>www.wu.ac.at/en/welthandel/arne-floh</a:t>
            </a:r>
          </a:p>
          <a:p>
            <a:pPr marL="0" indent="0">
              <a:buNone/>
            </a:pPr>
            <a:r>
              <a:rPr lang="en-GB" sz="1000" dirty="0">
                <a:solidFill>
                  <a:srgbClr val="000000"/>
                </a:solidFill>
                <a:latin typeface="+mn-lt"/>
                <a:hlinkClick r:id="rId21"/>
              </a:rPr>
              <a:t>Office hours: book online</a:t>
            </a: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 Id="rId18" Type="http://schemas.openxmlformats.org/officeDocument/2006/relationships/image" Target="../media/image2.png"/><Relationship Id="rId19" Type="http://schemas.openxmlformats.org/officeDocument/2006/relationships/slideLayout" Target="../slideLayouts/slideLayout16.xml"/><Relationship Id="rId20" Type="http://schemas.openxmlformats.org/officeDocument/2006/relationships/slideLayout" Target="../slideLayouts/slideLayout17.xml"/><Relationship Id="rId21" Type="http://schemas.openxmlformats.org/officeDocument/2006/relationships/slideLayout" Target="../slideLayouts/slideLayout18.xml"/><Relationship Id="rId22"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3" name="Textplatzhalter 2"/>
          <p:cNvSpPr>
            <a:spLocks noGrp="1"/>
          </p:cNvSpPr>
          <p:nvPr>
            <p:ph type="body" idx="1"/>
          </p:nvPr>
        </p:nvSpPr>
        <p:spPr>
          <a:xfrm>
            <a:off x="457200" y="1344613"/>
            <a:ext cx="7764463" cy="3859212"/>
          </a:xfrm>
          <a:prstGeom prst="rect">
            <a:avLst/>
          </a:prstGeom>
        </p:spPr>
        <p:txBody>
          <a:bodyPr vert="horz" lIns="0" tIns="45715" rIns="0" bIns="45715" rtlCol="0">
            <a:normAutofit/>
          </a:bodyPr>
          <a:lstStyle/>
          <a:p>
            <a:pPr lvl="0"/>
            <a:r>
              <a:rPr lang="en-GB" dirty="0" err="1"/>
              <a:t>Textmasterformate</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5" name="Fußzeilenplatzhalter 4"/>
          <p:cNvSpPr>
            <a:spLocks noGrp="1"/>
          </p:cNvSpPr>
          <p:nvPr userDrawn="1">
            <p:ph type="ftr" sz="quarter" idx="3"/>
          </p:nvPr>
        </p:nvSpPr>
        <p:spPr>
          <a:xfrm>
            <a:off x="1354561" y="5412059"/>
            <a:ext cx="3217443" cy="258085"/>
          </a:xfrm>
          <a:prstGeom prst="rect">
            <a:avLst/>
          </a:prstGeom>
        </p:spPr>
        <p:txBody>
          <a:bodyPr vert="horz" lIns="91431" tIns="45715" rIns="91431" bIns="45715" rtlCol="0" anchor="ctr"/>
          <a:lstStyle>
            <a:lvl1pPr algn="l">
              <a:defRPr sz="800" cap="all" baseline="0">
                <a:solidFill>
                  <a:schemeClr val="tx1">
                    <a:tint val="75000"/>
                  </a:schemeClr>
                </a:solidFill>
              </a:defRPr>
            </a:lvl1pPr>
          </a:lstStyle>
          <a:p>
            <a:r>
              <a:rPr lang="en-GB" dirty="0"/>
              <a:t>Sample Footer</a:t>
            </a:r>
          </a:p>
        </p:txBody>
      </p:sp>
      <p:sp>
        <p:nvSpPr>
          <p:cNvPr id="6" name="Foliennummernplatzhalter 5"/>
          <p:cNvSpPr>
            <a:spLocks noGrp="1"/>
          </p:cNvSpPr>
          <p:nvPr userDrawn="1">
            <p:ph type="sldNum" sz="quarter" idx="4"/>
          </p:nvPr>
        </p:nvSpPr>
        <p:spPr>
          <a:xfrm>
            <a:off x="462407" y="5412059"/>
            <a:ext cx="892150" cy="258085"/>
          </a:xfrm>
          <a:prstGeom prst="rect">
            <a:avLst/>
          </a:prstGeom>
        </p:spPr>
        <p:txBody>
          <a:bodyPr vert="horz" lIns="0" tIns="45715" rIns="0" bIns="45715" rtlCol="0" anchor="ctr"/>
          <a:lstStyle>
            <a:lvl1pPr algn="l">
              <a:defRPr sz="800" cap="all" baseline="0">
                <a:solidFill>
                  <a:schemeClr val="tx1">
                    <a:tint val="75000"/>
                  </a:schemeClr>
                </a:solidFill>
              </a:defRPr>
            </a:lvl1pPr>
          </a:lstStyle>
          <a:p>
            <a:r>
              <a:rPr lang="en-GB" dirty="0"/>
              <a:t>Page </a:t>
            </a:r>
            <a:fld id="{BE3DC40E-DBBE-4E2D-9EEC-FBF0DA0E9179}" type="slidenum">
              <a:rPr lang="en-GB" smtClean="0"/>
              <a:pPr/>
              <a:t>‹Nr.›</a:t>
            </a:fld>
            <a:endParaRPr lang="en-GB" dirty="0"/>
          </a:p>
        </p:txBody>
      </p:sp>
      <p:sp>
        <p:nvSpPr>
          <p:cNvPr id="7" name="Datumsplatzhalter 6"/>
          <p:cNvSpPr>
            <a:spLocks noGrp="1"/>
          </p:cNvSpPr>
          <p:nvPr userDrawn="1">
            <p:ph type="dt" sz="half" idx="2"/>
          </p:nvPr>
        </p:nvSpPr>
        <p:spPr>
          <a:xfrm>
            <a:off x="5745181" y="5412059"/>
            <a:ext cx="987407" cy="258085"/>
          </a:xfrm>
          <a:prstGeom prst="rect">
            <a:avLst/>
          </a:prstGeom>
        </p:spPr>
        <p:txBody>
          <a:bodyPr vert="horz" lIns="0" tIns="45715" rIns="0" bIns="45715" rtlCol="0" anchor="ctr"/>
          <a:lstStyle>
            <a:lvl1pPr algn="r">
              <a:defRPr lang="de-DE" sz="800" kern="1200" cap="all" baseline="0" smtClean="0">
                <a:solidFill>
                  <a:schemeClr val="tx1">
                    <a:tint val="75000"/>
                  </a:schemeClr>
                </a:solidFill>
                <a:latin typeface="+mn-lt"/>
                <a:ea typeface="+mn-ea"/>
                <a:cs typeface="+mn-cs"/>
              </a:defRPr>
            </a:lvl1pPr>
          </a:lstStyle>
          <a:p>
            <a:fld id="{AD672231-DCCE-48E5-AF73-62895FE58BB4}" type="datetime1">
              <a:rPr lang="en-GB" smtClean="0"/>
              <a:t>25/08/2023</a:t>
            </a:fld>
            <a:endParaRPr lang="en-GB" dirty="0"/>
          </a:p>
        </p:txBody>
      </p:sp>
      <p:sp>
        <p:nvSpPr>
          <p:cNvPr id="18" name="Rechteck 17"/>
          <p:cNvSpPr/>
          <p:nvPr userDrawn="1"/>
        </p:nvSpPr>
        <p:spPr bwMode="gray">
          <a:xfrm>
            <a:off x="0" y="1043522"/>
            <a:ext cx="9144000" cy="25200"/>
          </a:xfrm>
          <a:prstGeom prst="rect">
            <a:avLst/>
          </a:prstGeom>
          <a:solidFill>
            <a:srgbClr val="0C94B7"/>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15" name="Titelplatzhalter 14"/>
          <p:cNvSpPr>
            <a:spLocks noGrp="1"/>
          </p:cNvSpPr>
          <p:nvPr userDrawn="1">
            <p:ph type="title"/>
          </p:nvPr>
        </p:nvSpPr>
        <p:spPr bwMode="auto">
          <a:xfrm>
            <a:off x="462408" y="139700"/>
            <a:ext cx="6840000" cy="903822"/>
          </a:xfrm>
          <a:prstGeom prst="rect">
            <a:avLst/>
          </a:prstGeom>
        </p:spPr>
        <p:txBody>
          <a:bodyPr vert="horz" lIns="0" tIns="0" rIns="0" bIns="0" rtlCol="0" anchor="ctr">
            <a:normAutofit/>
          </a:bodyPr>
          <a:lstStyle/>
          <a:p>
            <a:r>
              <a:rPr lang="en-GB" dirty="0" err="1"/>
              <a:t>Titelmasterformat</a:t>
            </a:r>
            <a:r>
              <a:rPr lang="en-GB" dirty="0"/>
              <a:t> </a:t>
            </a:r>
            <a:r>
              <a:rPr lang="en-GB" dirty="0" err="1"/>
              <a:t>durch</a:t>
            </a:r>
            <a:r>
              <a:rPr lang="en-GB" dirty="0"/>
              <a:t> </a:t>
            </a:r>
            <a:br>
              <a:rPr lang="en-GB" dirty="0"/>
            </a:br>
            <a:r>
              <a:rPr lang="en-GB" dirty="0" err="1"/>
              <a:t>Klicken</a:t>
            </a:r>
            <a:r>
              <a:rPr lang="en-GB" dirty="0"/>
              <a:t> </a:t>
            </a:r>
            <a:r>
              <a:rPr lang="en-GB" dirty="0" err="1"/>
              <a:t>bearbeiten</a:t>
            </a:r>
            <a:endParaRPr lang="en-GB" dirty="0"/>
          </a:p>
        </p:txBody>
      </p:sp>
      <p:pic>
        <p:nvPicPr>
          <p:cNvPr id="13" name="Grafik 12">
            <a:extLst>
              <a:ext uri="{FF2B5EF4-FFF2-40B4-BE49-F238E27FC236}">
                <a16:creationId xmlns:a16="http://schemas.microsoft.com/office/drawing/2014/main" id="{49925201-EC66-4A08-AB14-A541648A67DE}"/>
              </a:ext>
            </a:extLst>
          </p:cNvPr>
          <p:cNvPicPr>
            <a:picLocks noChangeAspect="1"/>
          </p:cNvPicPr>
          <p:nvPr userDrawn="1"/>
        </p:nvPicPr>
        <p:blipFill>
          <a:blip r:embed="rId17"/>
          <a:stretch>
            <a:fillRect/>
          </a:stretch>
        </p:blipFill>
        <p:spPr>
          <a:xfrm>
            <a:off x="7711621" y="288569"/>
            <a:ext cx="1170000" cy="617280"/>
          </a:xfrm>
          <a:prstGeom prst="rect">
            <a:avLst/>
          </a:prstGeom>
        </p:spPr>
      </p:pic>
      <p:pic>
        <p:nvPicPr>
          <p:cNvPr id="11" name="Grafik 10">
            <a:extLst>
              <a:ext uri="{FF2B5EF4-FFF2-40B4-BE49-F238E27FC236}">
                <a16:creationId xmlns:a16="http://schemas.microsoft.com/office/drawing/2014/main" id="{0A212EC7-C80F-4EBC-9817-97C85E0A8AEB}"/>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cSld>
  <p:clrMap bg1="lt1" tx1="dk1" bg2="lt2" tx2="dk2" accent1="accent1" accent2="accent2" accent3="accent3" accent4="accent4" accent5="accent5" accent6="accent6" hlink="hlink" folHlink="folHlink"/>
  <p:sldLayoutIdLst>
    <p:sldLayoutId id="2147483671" r:id="rId1"/>
    <p:sldLayoutId id="2147483661" r:id="rId2"/>
    <p:sldLayoutId id="2147483663" r:id="rId3"/>
    <p:sldLayoutId id="2147483675" r:id="rId4"/>
    <p:sldLayoutId id="2147483676" r:id="rId5"/>
    <p:sldLayoutId id="2147483686" r:id="rId6"/>
    <p:sldLayoutId id="2147483687" r:id="rId7"/>
    <p:sldLayoutId id="2147483681" r:id="rId8"/>
    <p:sldLayoutId id="2147483682" r:id="rId9"/>
    <p:sldLayoutId id="2147483688" r:id="rId10"/>
    <p:sldLayoutId id="2147483691" r:id="rId11"/>
    <p:sldLayoutId id="2147483664" r:id="rId12"/>
    <p:sldLayoutId id="2147483667" r:id="rId13"/>
    <p:sldLayoutId id="2147483668" r:id="rId14"/>
    <p:sldLayoutId id="2147483670" r:id="rId15"/>
    <p:sldLayoutId id="2147483692" r:id="rId19"/>
    <p:sldLayoutId id="2147483693" r:id="rId20"/>
    <p:sldLayoutId id="2147483694" r:id="rId21"/>
    <p:sldLayoutId id="2147483695" r:id="rId22"/>
  </p:sldLayoutIdLst>
  <p:transition>
    <p:fade/>
  </p:transition>
  <p:hf hdr="0" dt="0"/>
  <p:txStyles>
    <p:titleStyle>
      <a:lvl1pPr algn="l" defTabSz="914306" rtl="0" eaLnBrk="1" latinLnBrk="0" hangingPunct="1">
        <a:lnSpc>
          <a:spcPct val="100000"/>
        </a:lnSpc>
        <a:spcBef>
          <a:spcPct val="0"/>
        </a:spcBef>
        <a:buNone/>
        <a:defRPr sz="2400" b="1" kern="1200">
          <a:solidFill>
            <a:schemeClr val="tx1"/>
          </a:solidFill>
          <a:latin typeface="Georgia" charset="0"/>
          <a:ea typeface="Georgia" charset="0"/>
          <a:cs typeface="Georgia" charset="0"/>
        </a:defRPr>
      </a:lvl1pPr>
    </p:titleStyle>
    <p:bodyStyle>
      <a:lvl1pPr marL="266700" indent="-266700" algn="l" defTabSz="914306" rtl="0" eaLnBrk="1" latinLnBrk="0" hangingPunct="1">
        <a:lnSpc>
          <a:spcPct val="100000"/>
        </a:lnSpc>
        <a:spcBef>
          <a:spcPts val="0"/>
        </a:spcBef>
        <a:spcAft>
          <a:spcPts val="600"/>
        </a:spcAft>
        <a:buClr>
          <a:schemeClr val="accent1"/>
        </a:buClr>
        <a:buFont typeface="Wingdings" charset="2"/>
        <a:buChar char="§"/>
        <a:defRPr sz="1600" kern="1200">
          <a:solidFill>
            <a:schemeClr val="tx1"/>
          </a:solidFill>
          <a:latin typeface="+mn-lt"/>
          <a:ea typeface="+mn-ea"/>
          <a:cs typeface="+mn-cs"/>
        </a:defRPr>
      </a:lvl1pPr>
      <a:lvl2pPr marL="539750" indent="-273050" algn="l" defTabSz="914306" rtl="0" eaLnBrk="1" latinLnBrk="0" hangingPunct="1">
        <a:lnSpc>
          <a:spcPct val="100000"/>
        </a:lnSpc>
        <a:spcBef>
          <a:spcPts val="0"/>
        </a:spcBef>
        <a:spcAft>
          <a:spcPts val="400"/>
        </a:spcAft>
        <a:buClr>
          <a:schemeClr val="accent1"/>
        </a:buClr>
        <a:buSzPct val="100000"/>
        <a:buFont typeface="Wingdings" charset="2"/>
        <a:buChar char="§"/>
        <a:defRPr sz="1500" kern="1200">
          <a:solidFill>
            <a:schemeClr val="tx1"/>
          </a:solidFill>
          <a:latin typeface="+mn-lt"/>
          <a:ea typeface="+mn-ea"/>
          <a:cs typeface="+mn-cs"/>
        </a:defRPr>
      </a:lvl2pPr>
      <a:lvl3pPr marL="814388" indent="-273050" algn="l" defTabSz="914306" rtl="0" eaLnBrk="1" latinLnBrk="0" hangingPunct="1">
        <a:lnSpc>
          <a:spcPct val="100000"/>
        </a:lnSpc>
        <a:spcBef>
          <a:spcPts val="0"/>
        </a:spcBef>
        <a:spcAft>
          <a:spcPts val="400"/>
        </a:spcAft>
        <a:buClr>
          <a:schemeClr val="accent1"/>
        </a:buClr>
        <a:buFont typeface="Wingdings" charset="2"/>
        <a:buChar char="§"/>
        <a:defRPr sz="1400" kern="1200">
          <a:solidFill>
            <a:schemeClr val="tx1"/>
          </a:solidFill>
          <a:latin typeface="+mn-lt"/>
          <a:ea typeface="+mn-ea"/>
          <a:cs typeface="+mn-cs"/>
        </a:defRPr>
      </a:lvl3pPr>
      <a:lvl4pPr marL="1074738" indent="-266700"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4pPr>
      <a:lvl5pPr marL="1341438" indent="-263525"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5pPr>
      <a:lvl6pPr marL="251434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496"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650"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580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306" rtl="0" eaLnBrk="1" latinLnBrk="0" hangingPunct="1">
        <a:defRPr sz="1800" kern="1200">
          <a:solidFill>
            <a:schemeClr val="tx1"/>
          </a:solidFill>
          <a:latin typeface="+mn-lt"/>
          <a:ea typeface="+mn-ea"/>
          <a:cs typeface="+mn-cs"/>
        </a:defRPr>
      </a:lvl1pPr>
      <a:lvl2pPr marL="457153" algn="l" defTabSz="914306" rtl="0" eaLnBrk="1" latinLnBrk="0" hangingPunct="1">
        <a:defRPr sz="1800" kern="1200">
          <a:solidFill>
            <a:schemeClr val="tx1"/>
          </a:solidFill>
          <a:latin typeface="+mn-lt"/>
          <a:ea typeface="+mn-ea"/>
          <a:cs typeface="+mn-cs"/>
        </a:defRPr>
      </a:lvl2pPr>
      <a:lvl3pPr marL="914306" algn="l" defTabSz="914306" rtl="0" eaLnBrk="1" latinLnBrk="0" hangingPunct="1">
        <a:defRPr sz="1800" kern="1200">
          <a:solidFill>
            <a:schemeClr val="tx1"/>
          </a:solidFill>
          <a:latin typeface="+mn-lt"/>
          <a:ea typeface="+mn-ea"/>
          <a:cs typeface="+mn-cs"/>
        </a:defRPr>
      </a:lvl3pPr>
      <a:lvl4pPr marL="1371460" algn="l" defTabSz="914306" rtl="0" eaLnBrk="1" latinLnBrk="0" hangingPunct="1">
        <a:defRPr sz="1800" kern="1200">
          <a:solidFill>
            <a:schemeClr val="tx1"/>
          </a:solidFill>
          <a:latin typeface="+mn-lt"/>
          <a:ea typeface="+mn-ea"/>
          <a:cs typeface="+mn-cs"/>
        </a:defRPr>
      </a:lvl4pPr>
      <a:lvl5pPr marL="1828613" algn="l" defTabSz="914306" rtl="0" eaLnBrk="1" latinLnBrk="0" hangingPunct="1">
        <a:defRPr sz="1800" kern="1200">
          <a:solidFill>
            <a:schemeClr val="tx1"/>
          </a:solidFill>
          <a:latin typeface="+mn-lt"/>
          <a:ea typeface="+mn-ea"/>
          <a:cs typeface="+mn-cs"/>
        </a:defRPr>
      </a:lvl5pPr>
      <a:lvl6pPr marL="2285767" algn="l" defTabSz="914306" rtl="0" eaLnBrk="1" latinLnBrk="0" hangingPunct="1">
        <a:defRPr sz="1800" kern="1200">
          <a:solidFill>
            <a:schemeClr val="tx1"/>
          </a:solidFill>
          <a:latin typeface="+mn-lt"/>
          <a:ea typeface="+mn-ea"/>
          <a:cs typeface="+mn-cs"/>
        </a:defRPr>
      </a:lvl6pPr>
      <a:lvl7pPr marL="2742920" algn="l" defTabSz="914306" rtl="0" eaLnBrk="1" latinLnBrk="0" hangingPunct="1">
        <a:defRPr sz="1800" kern="1200">
          <a:solidFill>
            <a:schemeClr val="tx1"/>
          </a:solidFill>
          <a:latin typeface="+mn-lt"/>
          <a:ea typeface="+mn-ea"/>
          <a:cs typeface="+mn-cs"/>
        </a:defRPr>
      </a:lvl7pPr>
      <a:lvl8pPr marL="3200073" algn="l" defTabSz="914306" rtl="0" eaLnBrk="1" latinLnBrk="0" hangingPunct="1">
        <a:defRPr sz="1800" kern="1200">
          <a:solidFill>
            <a:schemeClr val="tx1"/>
          </a:solidFill>
          <a:latin typeface="+mn-lt"/>
          <a:ea typeface="+mn-ea"/>
          <a:cs typeface="+mn-cs"/>
        </a:defRPr>
      </a:lvl8pPr>
      <a:lvl9pPr marL="3657227" algn="l" defTabSz="914306"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2880" userDrawn="1">
          <p15:clr>
            <a:srgbClr val="F26B43"/>
          </p15:clr>
        </p15:guide>
        <p15:guide id="3" pos="288" userDrawn="1">
          <p15:clr>
            <a:srgbClr val="F26B43"/>
          </p15:clr>
        </p15:guide>
        <p15:guide id="4" pos="5179" userDrawn="1">
          <p15:clr>
            <a:srgbClr val="F26B43"/>
          </p15:clr>
        </p15:guide>
        <p15:guide id="5" pos="5467" userDrawn="1">
          <p15:clr>
            <a:srgbClr val="F26B43"/>
          </p15:clr>
        </p15:guide>
        <p15:guide id="7" orient="horz" pos="3278" userDrawn="1">
          <p15:clr>
            <a:srgbClr val="F26B43"/>
          </p15:clr>
        </p15:guide>
        <p15:guide id="9" orient="horz" pos="182" userDrawn="1">
          <p15:clr>
            <a:srgbClr val="F26B43"/>
          </p15:clr>
        </p15:guide>
        <p15:guide id="10" orient="horz" pos="847" userDrawn="1">
          <p15:clr>
            <a:srgbClr val="F26B43"/>
          </p15:clr>
        </p15:guide>
        <p15:guide id="11" orient="horz" pos="3515" userDrawn="1">
          <p15:clr>
            <a:srgbClr val="F26B43"/>
          </p15:clr>
        </p15:guide>
        <p15:guide id="12" orient="horz" pos="109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xml"/><Relationship Id="rId3"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17.png"/><Relationship Id="rId4" Type="http://schemas.openxmlformats.org/officeDocument/2006/relationships/image" Target="../media/image1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2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21.png"/><Relationship Id="rId4" Type="http://schemas.openxmlformats.org/officeDocument/2006/relationships/image" Target="../media/image2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23.png"/><Relationship Id="rId4"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24.png"/><Relationship Id="rId4" Type="http://schemas.openxmlformats.org/officeDocument/2006/relationships/image" Target="../media/image2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26.png"/><Relationship Id="rId4" Type="http://schemas.openxmlformats.org/officeDocument/2006/relationships/image" Target="../media/image2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2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2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2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3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3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2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24.png"/><Relationship Id="rId4" Type="http://schemas.openxmlformats.org/officeDocument/2006/relationships/image" Target="../media/image3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1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3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3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10.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 Id="rId3" Type="http://schemas.openxmlformats.org/officeDocument/2006/relationships/image" Target="../media/image36.png"/><Relationship Id="rId4" Type="http://schemas.openxmlformats.org/officeDocument/2006/relationships/image" Target="../media/image1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 Id="rId3" Type="http://schemas.openxmlformats.org/officeDocument/2006/relationships/image" Target="../media/image2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 Id="rId3" Type="http://schemas.openxmlformats.org/officeDocument/2006/relationships/image" Target="../media/image37.png"/><Relationship Id="rId4" Type="http://schemas.openxmlformats.org/officeDocument/2006/relationships/image" Target="../media/image3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 Id="rId3" Type="http://schemas.openxmlformats.org/officeDocument/2006/relationships/image" Target="../media/image3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image" Target="../media/image2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 Id="rId3" Type="http://schemas.openxmlformats.org/officeDocument/2006/relationships/image" Target="../media/image30.png"/><Relationship Id="rId4" Type="http://schemas.openxmlformats.org/officeDocument/2006/relationships/image" Target="../media/image43.png"/><Relationship Id="rId5" Type="http://schemas.openxmlformats.org/officeDocument/2006/relationships/image" Target="../media/image40.png"/><Relationship Id="rId6" Type="http://schemas.openxmlformats.org/officeDocument/2006/relationships/image" Target="../media/image44.png"/><Relationship Id="rId7" Type="http://schemas.openxmlformats.org/officeDocument/2006/relationships/image" Target="../media/image2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 Id="rId3" Type="http://schemas.openxmlformats.org/officeDocument/2006/relationships/image" Target="../media/image27.png"/><Relationship Id="rId4" Type="http://schemas.openxmlformats.org/officeDocument/2006/relationships/image" Target="../media/image4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6.xml"/><Relationship Id="rId3" Type="http://schemas.openxmlformats.org/officeDocument/2006/relationships/image" Target="../media/image2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3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 Id="rId3" Type="http://schemas.openxmlformats.org/officeDocument/2006/relationships/image" Target="../media/image48.png"/><Relationship Id="rId4" Type="http://schemas.openxmlformats.org/officeDocument/2006/relationships/image" Target="../media/image3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27.png"/><Relationship Id="rId6" Type="http://schemas.openxmlformats.org/officeDocument/2006/relationships/image" Target="../media/image5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 Id="rId3" Type="http://schemas.openxmlformats.org/officeDocument/2006/relationships/image" Target="../media/image5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 Id="rId3" Type="http://schemas.openxmlformats.org/officeDocument/2006/relationships/image" Target="../media/image2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 Id="rId8" Type="http://schemas.openxmlformats.org/officeDocument/2006/relationships/image" Target="../media/image57.png"/><Relationship Id="rId9" Type="http://schemas.openxmlformats.org/officeDocument/2006/relationships/image" Target="../media/image16.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0.xml"/><Relationship Id="rId3" Type="http://schemas.openxmlformats.org/officeDocument/2006/relationships/image" Target="../media/image37.png"/><Relationship Id="rId4" Type="http://schemas.openxmlformats.org/officeDocument/2006/relationships/image" Target="../media/image3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1.xml"/><Relationship Id="rId3" Type="http://schemas.openxmlformats.org/officeDocument/2006/relationships/image" Target="../media/image27.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2.xml"/><Relationship Id="rId3" Type="http://schemas.openxmlformats.org/officeDocument/2006/relationships/image" Target="../media/image2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3.xml"/><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3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4.xml"/><Relationship Id="rId3" Type="http://schemas.openxmlformats.org/officeDocument/2006/relationships/image" Target="../media/image33.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0.xml"/><Relationship Id="rId3" Type="http://schemas.openxmlformats.org/officeDocument/2006/relationships/image" Target="../media/image58.png"/><Relationship Id="rId4" Type="http://schemas.openxmlformats.org/officeDocument/2006/relationships/image" Target="../media/image34.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1.xml"/><Relationship Id="rId3" Type="http://schemas.openxmlformats.org/officeDocument/2006/relationships/image" Target="../media/image59.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2.xml"/><Relationship Id="rId3" Type="http://schemas.openxmlformats.org/officeDocument/2006/relationships/image" Target="../media/image11.png"/><Relationship Id="rId4" Type="http://schemas.openxmlformats.org/officeDocument/2006/relationships/image" Target="../media/image60.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3.xml"/><Relationship Id="rId3" Type="http://schemas.openxmlformats.org/officeDocument/2006/relationships/image" Target="../media/image11.png"/><Relationship Id="rId4" Type="http://schemas.openxmlformats.org/officeDocument/2006/relationships/image" Target="../media/image60.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7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lang="en-GB"/>
              <a:t>International Marketing Analytics</a:t>
            </a:r>
          </a:p>
        </p:txBody>
      </p:sp>
      <p:sp>
        <p:nvSpPr>
          <p:cNvPr id="3" name="Subtitle 2"/>
          <p:cNvSpPr>
            <a:spLocks noGrp="1"/>
          </p:cNvSpPr>
          <p:nvPr>
            <p:ph type="subTitle" idx="1"/>
          </p:nvPr>
        </p:nvSpPr>
        <p:spPr/>
        <p:txBody>
          <a:bodyPr/>
          <a:lstStyle/>
          <a:p>
            <a:r>
              <a:rPr lang="en-GB"/>
              <a:t>Statistics refresher and linear regression</a:t>
            </a:r>
          </a:p>
        </p:txBody>
      </p:sp>
      <p:sp>
        <p:nvSpPr>
          <p:cNvPr id="4" name="Text Placeholder 3"/>
          <p:cNvSpPr>
            <a:spLocks noGrp="1"/>
          </p:cNvSpPr>
          <p:nvPr>
            <p:ph type="body" idx="12" sz="quarter"/>
          </p:nvPr>
        </p:nvSpPr>
        <p:spPr/>
        <p:txBody>
          <a:bodyPr/>
          <a:lstStyle/>
          <a:p>
            <a:r>
              <a:rPr lang="en-GB"/>
              <a:t>Session 1 · WT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Today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lan steps step 1"/>
          <p:cNvSpPr/>
          <p:nvPr/>
        </p:nvSpPr>
        <p:spPr>
          <a:xfrm>
            <a:off x="457200" y="1234440"/>
            <a:ext cx="1463040"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100" b="1" lang="en-GB">
                <a:solidFill>
                  <a:schemeClr val="tx2"/>
                </a:solidFill>
              </a:rPr>
              <a:t>Refresher</a:t>
            </a:r>
          </a:p>
        </p:txBody>
      </p:sp>
      <p:sp>
        <p:nvSpPr>
          <p:cNvPr id="11" name="Plan steps step 2"/>
          <p:cNvSpPr/>
          <p:nvPr/>
        </p:nvSpPr>
        <p:spPr>
          <a:xfrm>
            <a:off x="1810512"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Python</a:t>
            </a:r>
            <a:br/>
            <a:r>
              <a:rPr sz="1100" b="1" lang="en-GB">
                <a:solidFill>
                  <a:schemeClr val="tx2"/>
                </a:solidFill>
              </a:rPr>
              <a:t>by hand</a:t>
            </a:r>
          </a:p>
        </p:txBody>
      </p:sp>
      <p:sp>
        <p:nvSpPr>
          <p:cNvPr id="12" name="Plan steps step 3"/>
          <p:cNvSpPr/>
          <p:nvPr/>
        </p:nvSpPr>
        <p:spPr>
          <a:xfrm>
            <a:off x="3163824"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OLS</a:t>
            </a:r>
            <a:br/>
            <a:r>
              <a:rPr sz="1100" b="1" lang="en-GB">
                <a:solidFill>
                  <a:schemeClr val="tx2"/>
                </a:solidFill>
              </a:rPr>
              <a:t>theory</a:t>
            </a:r>
          </a:p>
        </p:txBody>
      </p:sp>
      <p:sp>
        <p:nvSpPr>
          <p:cNvPr id="13" name="Plan steps step 4"/>
          <p:cNvSpPr/>
          <p:nvPr/>
        </p:nvSpPr>
        <p:spPr>
          <a:xfrm>
            <a:off x="4517136"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Tests</a:t>
            </a:r>
          </a:p>
        </p:txBody>
      </p:sp>
      <p:sp>
        <p:nvSpPr>
          <p:cNvPr id="14" name="Plan steps step 5"/>
          <p:cNvSpPr/>
          <p:nvPr/>
        </p:nvSpPr>
        <p:spPr>
          <a:xfrm>
            <a:off x="5870448"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Chocolate</a:t>
            </a:r>
            <a:br/>
            <a:r>
              <a:rPr sz="1100" b="1" lang="en-GB">
                <a:solidFill>
                  <a:schemeClr val="tx2"/>
                </a:solidFill>
              </a:rPr>
              <a:t>in Python</a:t>
            </a:r>
          </a:p>
        </p:txBody>
      </p:sp>
      <p:sp>
        <p:nvSpPr>
          <p:cNvPr id="15" name="Plan steps step 6"/>
          <p:cNvSpPr/>
          <p:nvPr/>
        </p:nvSpPr>
        <p:spPr>
          <a:xfrm>
            <a:off x="7223760"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In class,</a:t>
            </a:r>
            <a:br/>
            <a:r>
              <a:rPr sz="1100" b="1" lang="en-GB">
                <a:solidFill>
                  <a:schemeClr val="tx2"/>
                </a:solidFill>
              </a:rPr>
              <a:t>exercise</a:t>
            </a:r>
          </a:p>
        </p:txBody>
      </p:sp>
      <p:sp>
        <p:nvSpPr>
          <p:cNvPr id="16" name="Refresher card body"/>
          <p:cNvSpPr/>
          <p:nvPr/>
        </p:nvSpPr>
        <p:spPr>
          <a:xfrm>
            <a:off x="457200" y="2331720"/>
            <a:ext cx="4046220" cy="1920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fresher card header"/>
          <p:cNvSpPr/>
          <p:nvPr/>
        </p:nvSpPr>
        <p:spPr>
          <a:xfrm>
            <a:off x="457200" y="19202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fresher card heading"/>
          <p:cNvSpPr txBox="1"/>
          <p:nvPr/>
        </p:nvSpPr>
        <p:spPr>
          <a:xfrm>
            <a:off x="594360" y="19202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Refresher, Parts 1 to 5</a:t>
            </a:r>
          </a:p>
        </p:txBody>
      </p:sp>
      <p:pic>
        <p:nvPicPr>
          <p:cNvPr id="19" name="Icon Refresher card" descr=""/>
          <p:cNvPicPr>
            <a:picLocks noChangeAspect="1"/>
          </p:cNvPicPr>
          <p:nvPr/>
        </p:nvPicPr>
        <p:blipFill>
          <a:blip r:embed="rId3"/>
          <a:stretch>
            <a:fillRect/>
          </a:stretch>
        </p:blipFill>
        <p:spPr>
          <a:xfrm>
            <a:off x="4064508" y="1970532"/>
            <a:ext cx="310896" cy="310896"/>
          </a:xfrm>
          <a:prstGeom prst="rect">
            <a:avLst/>
          </a:prstGeom>
        </p:spPr>
      </p:pic>
      <p:sp>
        <p:nvSpPr>
          <p:cNvPr id="20" name="Refresher card text"/>
          <p:cNvSpPr txBox="1"/>
          <p:nvPr/>
        </p:nvSpPr>
        <p:spPr>
          <a:xfrm>
            <a:off x="621792" y="2468880"/>
            <a:ext cx="3744468" cy="16459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Scale types: what you may calculate</a:t>
            </a:r>
          </a:p>
          <a:p>
            <a:pPr algn="l" marL="182880" indent="-182880">
              <a:spcAft>
                <a:spcPts val="600"/>
              </a:spcAft>
              <a:buClr>
                <a:schemeClr val="accent1"/>
              </a:buClr>
              <a:buFont typeface="Arial"/>
              <a:buChar char="▪"/>
            </a:pPr>
            <a:r>
              <a:rPr sz="1300" b="0" lang="en-GB">
                <a:solidFill>
                  <a:schemeClr val="tx1"/>
                </a:solidFill>
              </a:rPr>
              <a:t>Mean, median, standard deviation, standard error</a:t>
            </a:r>
          </a:p>
          <a:p>
            <a:pPr algn="l" marL="182880" indent="-182880">
              <a:spcAft>
                <a:spcPts val="600"/>
              </a:spcAft>
              <a:buClr>
                <a:schemeClr val="accent1"/>
              </a:buClr>
              <a:buFont typeface="Arial"/>
              <a:buChar char="▪"/>
            </a:pPr>
            <a:r>
              <a:rPr sz="1300" b="0" lang="en-GB">
                <a:solidFill>
                  <a:schemeClr val="tx1"/>
                </a:solidFill>
              </a:rPr>
              <a:t>z-scores and the normal distribution</a:t>
            </a:r>
          </a:p>
          <a:p>
            <a:pPr algn="l" marL="182880" indent="-182880">
              <a:spcAft>
                <a:spcPts val="600"/>
              </a:spcAft>
              <a:buClr>
                <a:schemeClr val="accent1"/>
              </a:buClr>
              <a:buFont typeface="Arial"/>
              <a:buChar char="▪"/>
            </a:pPr>
            <a:r>
              <a:rPr sz="1300" b="0" lang="en-GB">
                <a:solidFill>
                  <a:schemeClr val="tx1"/>
                </a:solidFill>
              </a:rPr>
              <a:t>Covariance and correlation</a:t>
            </a:r>
          </a:p>
          <a:p>
            <a:pPr algn="l" marL="182880" indent="-182880">
              <a:spcAft>
                <a:spcPts val="600"/>
              </a:spcAft>
              <a:buClr>
                <a:schemeClr val="accent1"/>
              </a:buClr>
              <a:buFont typeface="Arial"/>
              <a:buChar char="▪"/>
            </a:pPr>
            <a:r>
              <a:rPr sz="1300" b="0" lang="en-GB">
                <a:solidFill>
                  <a:schemeClr val="tx1"/>
                </a:solidFill>
              </a:rPr>
              <a:t>Python; in-class exercise and quiz</a:t>
            </a:r>
          </a:p>
        </p:txBody>
      </p:sp>
      <p:sp>
        <p:nvSpPr>
          <p:cNvPr id="21" name="Regression card body"/>
          <p:cNvSpPr/>
          <p:nvPr/>
        </p:nvSpPr>
        <p:spPr>
          <a:xfrm>
            <a:off x="4640580" y="2331720"/>
            <a:ext cx="4046220" cy="1920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gression card header"/>
          <p:cNvSpPr/>
          <p:nvPr/>
        </p:nvSpPr>
        <p:spPr>
          <a:xfrm>
            <a:off x="4640580" y="19202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gression card heading"/>
          <p:cNvSpPr txBox="1"/>
          <p:nvPr/>
        </p:nvSpPr>
        <p:spPr>
          <a:xfrm>
            <a:off x="4777740" y="19202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Regression, Parts 6 to 11</a:t>
            </a:r>
          </a:p>
        </p:txBody>
      </p:sp>
      <p:pic>
        <p:nvPicPr>
          <p:cNvPr id="24" name="Icon Regression card" descr=""/>
          <p:cNvPicPr>
            <a:picLocks noChangeAspect="1"/>
          </p:cNvPicPr>
          <p:nvPr/>
        </p:nvPicPr>
        <p:blipFill>
          <a:blip r:embed="rId4"/>
          <a:stretch>
            <a:fillRect/>
          </a:stretch>
        </p:blipFill>
        <p:spPr>
          <a:xfrm>
            <a:off x="8247888" y="1970532"/>
            <a:ext cx="310896" cy="310896"/>
          </a:xfrm>
          <a:prstGeom prst="rect">
            <a:avLst/>
          </a:prstGeom>
        </p:spPr>
      </p:pic>
      <p:sp>
        <p:nvSpPr>
          <p:cNvPr id="25" name="Regression card text"/>
          <p:cNvSpPr txBox="1"/>
          <p:nvPr/>
        </p:nvSpPr>
        <p:spPr>
          <a:xfrm>
            <a:off x="4805172" y="2468880"/>
            <a:ext cx="3744468" cy="16459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OLS, inference, fit, logs and elasticities</a:t>
            </a:r>
          </a:p>
          <a:p>
            <a:pPr algn="l" marL="182880" indent="-182880">
              <a:spcAft>
                <a:spcPts val="600"/>
              </a:spcAft>
              <a:buClr>
                <a:schemeClr val="accent1"/>
              </a:buClr>
              <a:buFont typeface="Arial"/>
              <a:buChar char="▪"/>
            </a:pPr>
            <a:r>
              <a:rPr sz="1300" b="0" lang="en-GB">
                <a:solidFill>
                  <a:schemeClr val="tx1"/>
                </a:solidFill>
              </a:rPr>
              <a:t>Seven assumptions and four tests</a:t>
            </a:r>
          </a:p>
          <a:p>
            <a:pPr algn="l" marL="182880" indent="-182880">
              <a:spcAft>
                <a:spcPts val="600"/>
              </a:spcAft>
              <a:buClr>
                <a:schemeClr val="accent1"/>
              </a:buClr>
              <a:buFont typeface="Arial"/>
              <a:buChar char="▪"/>
            </a:pPr>
            <a:r>
              <a:rPr sz="1300" b="0" lang="en-GB">
                <a:solidFill>
                  <a:schemeClr val="tx1"/>
                </a:solidFill>
              </a:rPr>
              <a:t>Regression in the real world</a:t>
            </a:r>
          </a:p>
          <a:p>
            <a:pPr algn="l" marL="182880" indent="-182880">
              <a:spcAft>
                <a:spcPts val="600"/>
              </a:spcAft>
              <a:buClr>
                <a:schemeClr val="accent1"/>
              </a:buClr>
              <a:buFont typeface="Arial"/>
              <a:buChar char="▪"/>
            </a:pPr>
            <a:r>
              <a:rPr sz="1300" b="0" lang="en-GB">
                <a:solidFill>
                  <a:schemeClr val="tx1"/>
                </a:solidFill>
              </a:rPr>
              <a:t>statsmodels and plotnine on real data; quiz 2</a:t>
            </a:r>
          </a:p>
          <a:p>
            <a:pPr algn="l" marL="182880" indent="-182880">
              <a:spcAft>
                <a:spcPts val="600"/>
              </a:spcAft>
              <a:buClr>
                <a:schemeClr val="accent1"/>
              </a:buClr>
              <a:buFont typeface="Arial"/>
              <a:buChar char="▪"/>
            </a:pPr>
            <a:r>
              <a:rPr sz="1300" b="0" lang="en-GB">
                <a:solidFill>
                  <a:schemeClr val="tx1"/>
                </a:solidFill>
              </a:rPr>
              <a:t>In-class assignment, coding exercise 1</a:t>
            </a:r>
          </a:p>
        </p:txBody>
      </p:sp>
      <p:sp>
        <p:nvSpPr>
          <p:cNvPr id="26" name="Readings box"/>
          <p:cNvSpPr/>
          <p:nvPr/>
        </p:nvSpPr>
        <p:spPr>
          <a:xfrm>
            <a:off x="457200" y="438912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Readings" descr=""/>
          <p:cNvPicPr>
            <a:picLocks noChangeAspect="1"/>
          </p:cNvPicPr>
          <p:nvPr/>
        </p:nvPicPr>
        <p:blipFill>
          <a:blip r:embed="rId5"/>
          <a:stretch>
            <a:fillRect/>
          </a:stretch>
        </p:blipFill>
        <p:spPr>
          <a:xfrm>
            <a:off x="658368" y="4480560"/>
            <a:ext cx="365760" cy="365760"/>
          </a:xfrm>
          <a:prstGeom prst="rect">
            <a:avLst/>
          </a:prstGeom>
        </p:spPr>
      </p:pic>
      <p:sp>
        <p:nvSpPr>
          <p:cNvPr id="28" name="Readings text"/>
          <p:cNvSpPr txBox="1"/>
          <p:nvPr/>
        </p:nvSpPr>
        <p:spPr>
          <a:xfrm>
            <a:off x="1207008" y="4389120"/>
            <a:ext cx="7315200" cy="548640"/>
          </a:xfrm>
          <a:prstGeom prst="rect">
            <a:avLst/>
          </a:prstGeom>
          <a:noFill/>
        </p:spPr>
        <p:txBody>
          <a:bodyPr wrap="square" lIns="0" rIns="0" tIns="0" bIns="0" anchor="ctr">
            <a:noAutofit/>
          </a:bodyPr>
          <a:lstStyle/>
          <a:p>
            <a:pPr algn="l">
              <a:spcAft>
                <a:spcPts val="400"/>
              </a:spcAft>
            </a:pPr>
            <a:r>
              <a:rPr sz="1200" b="1" lang="en-GB">
                <a:solidFill>
                  <a:schemeClr val="bg1"/>
                </a:solidFill>
              </a:rPr>
              <a:t>Readings: </a:t>
            </a:r>
            <a:r>
              <a:rPr sz="1200" b="0" lang="en-GB">
                <a:solidFill>
                  <a:schemeClr val="bg1"/>
                </a:solidFill>
              </a:rPr>
              <a:t>Bojinov, Parzen &amp; Hamilton (2025), Linear Regression (HBS); Skiera, Reiner &amp; Albers (2022), Regression Analysis.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Our example: a chocolate kiosk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Weeks label"/>
          <p:cNvSpPr txBox="1"/>
          <p:nvPr/>
        </p:nvSpPr>
        <p:spPr>
          <a:xfrm>
            <a:off x="457200" y="1234440"/>
            <a:ext cx="4023360" cy="347472"/>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Five weeks, five prices</a:t>
            </a:r>
          </a:p>
        </p:txBody>
      </p:sp>
      <p:sp>
        <p:nvSpPr>
          <p:cNvPr id="11" name="Weeks 1-1"/>
          <p:cNvSpPr/>
          <p:nvPr/>
        </p:nvSpPr>
        <p:spPr>
          <a:xfrm>
            <a:off x="457200" y="1645920"/>
            <a:ext cx="10698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Weeks text 1-1"/>
          <p:cNvSpPr txBox="1"/>
          <p:nvPr/>
        </p:nvSpPr>
        <p:spPr>
          <a:xfrm>
            <a:off x="548640" y="1645920"/>
            <a:ext cx="886968" cy="365760"/>
          </a:xfrm>
          <a:prstGeom prst="rect">
            <a:avLst/>
          </a:prstGeom>
          <a:noFill/>
        </p:spPr>
        <p:txBody>
          <a:bodyPr wrap="square" lIns="0" rIns="0" tIns="0" bIns="0" anchor="ctr">
            <a:noAutofit/>
          </a:bodyPr>
          <a:lstStyle/>
          <a:p>
            <a:pPr algn="l">
              <a:spcAft>
                <a:spcPts val="400"/>
              </a:spcAft>
            </a:pPr>
            <a:r>
              <a:rPr sz="1250" b="1" lang="en-GB">
                <a:solidFill>
                  <a:schemeClr val="bg1"/>
                </a:solidFill>
              </a:rPr>
              <a:t>Week</a:t>
            </a:r>
          </a:p>
        </p:txBody>
      </p:sp>
      <p:sp>
        <p:nvSpPr>
          <p:cNvPr id="13" name="Weeks 1-2"/>
          <p:cNvSpPr/>
          <p:nvPr/>
        </p:nvSpPr>
        <p:spPr>
          <a:xfrm>
            <a:off x="1554480" y="1645920"/>
            <a:ext cx="143560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Weeks text 1-2"/>
          <p:cNvSpPr txBox="1"/>
          <p:nvPr/>
        </p:nvSpPr>
        <p:spPr>
          <a:xfrm>
            <a:off x="1645920" y="1645920"/>
            <a:ext cx="1252728" cy="365760"/>
          </a:xfrm>
          <a:prstGeom prst="rect">
            <a:avLst/>
          </a:prstGeom>
          <a:noFill/>
        </p:spPr>
        <p:txBody>
          <a:bodyPr wrap="square" lIns="0" rIns="0" tIns="0" bIns="0" anchor="ctr">
            <a:noAutofit/>
          </a:bodyPr>
          <a:lstStyle/>
          <a:p>
            <a:pPr algn="r">
              <a:spcAft>
                <a:spcPts val="400"/>
              </a:spcAft>
            </a:pPr>
            <a:r>
              <a:rPr sz="1250" b="1" lang="en-GB">
                <a:solidFill>
                  <a:schemeClr val="bg1"/>
                </a:solidFill>
              </a:rPr>
              <a:t>Price (EUR)</a:t>
            </a:r>
          </a:p>
        </p:txBody>
      </p:sp>
      <p:sp>
        <p:nvSpPr>
          <p:cNvPr id="15" name="Weeks 1-3"/>
          <p:cNvSpPr/>
          <p:nvPr/>
        </p:nvSpPr>
        <p:spPr>
          <a:xfrm>
            <a:off x="3017520" y="1645920"/>
            <a:ext cx="143560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Weeks text 1-3"/>
          <p:cNvSpPr txBox="1"/>
          <p:nvPr/>
        </p:nvSpPr>
        <p:spPr>
          <a:xfrm>
            <a:off x="3108960" y="1645920"/>
            <a:ext cx="1252728" cy="365760"/>
          </a:xfrm>
          <a:prstGeom prst="rect">
            <a:avLst/>
          </a:prstGeom>
          <a:noFill/>
        </p:spPr>
        <p:txBody>
          <a:bodyPr wrap="square" lIns="0" rIns="0" tIns="0" bIns="0" anchor="ctr">
            <a:noAutofit/>
          </a:bodyPr>
          <a:lstStyle/>
          <a:p>
            <a:pPr algn="r">
              <a:spcAft>
                <a:spcPts val="400"/>
              </a:spcAft>
            </a:pPr>
            <a:r>
              <a:rPr sz="1250" b="1" lang="en-GB">
                <a:solidFill>
                  <a:schemeClr val="bg1"/>
                </a:solidFill>
              </a:rPr>
              <a:t>Bars sold</a:t>
            </a:r>
          </a:p>
        </p:txBody>
      </p:sp>
      <p:sp>
        <p:nvSpPr>
          <p:cNvPr id="17" name="Weeks 2-1"/>
          <p:cNvSpPr/>
          <p:nvPr/>
        </p:nvSpPr>
        <p:spPr>
          <a:xfrm>
            <a:off x="457200" y="2039112"/>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Weeks text 2-1"/>
          <p:cNvSpPr txBox="1"/>
          <p:nvPr/>
        </p:nvSpPr>
        <p:spPr>
          <a:xfrm>
            <a:off x="548640" y="2039112"/>
            <a:ext cx="8869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1</a:t>
            </a:r>
          </a:p>
        </p:txBody>
      </p:sp>
      <p:sp>
        <p:nvSpPr>
          <p:cNvPr id="19" name="Weeks 2-2"/>
          <p:cNvSpPr/>
          <p:nvPr/>
        </p:nvSpPr>
        <p:spPr>
          <a:xfrm>
            <a:off x="1554480" y="2039112"/>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Weeks text 2-2"/>
          <p:cNvSpPr txBox="1"/>
          <p:nvPr/>
        </p:nvSpPr>
        <p:spPr>
          <a:xfrm>
            <a:off x="1645920" y="2039112"/>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2.00</a:t>
            </a:r>
          </a:p>
        </p:txBody>
      </p:sp>
      <p:sp>
        <p:nvSpPr>
          <p:cNvPr id="21" name="Weeks 2-3"/>
          <p:cNvSpPr/>
          <p:nvPr/>
        </p:nvSpPr>
        <p:spPr>
          <a:xfrm>
            <a:off x="3017520" y="2039112"/>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Weeks text 2-3"/>
          <p:cNvSpPr txBox="1"/>
          <p:nvPr/>
        </p:nvSpPr>
        <p:spPr>
          <a:xfrm>
            <a:off x="3108960" y="2039112"/>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110</a:t>
            </a:r>
          </a:p>
        </p:txBody>
      </p:sp>
      <p:sp>
        <p:nvSpPr>
          <p:cNvPr id="23" name="Weeks 3-1"/>
          <p:cNvSpPr/>
          <p:nvPr/>
        </p:nvSpPr>
        <p:spPr>
          <a:xfrm>
            <a:off x="457200" y="2432304"/>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Weeks text 3-1"/>
          <p:cNvSpPr txBox="1"/>
          <p:nvPr/>
        </p:nvSpPr>
        <p:spPr>
          <a:xfrm>
            <a:off x="548640" y="2432304"/>
            <a:ext cx="8869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2</a:t>
            </a:r>
          </a:p>
        </p:txBody>
      </p:sp>
      <p:sp>
        <p:nvSpPr>
          <p:cNvPr id="25" name="Weeks 3-2"/>
          <p:cNvSpPr/>
          <p:nvPr/>
        </p:nvSpPr>
        <p:spPr>
          <a:xfrm>
            <a:off x="1554480" y="2432304"/>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Weeks text 3-2"/>
          <p:cNvSpPr txBox="1"/>
          <p:nvPr/>
        </p:nvSpPr>
        <p:spPr>
          <a:xfrm>
            <a:off x="1645920" y="2432304"/>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2.50</a:t>
            </a:r>
          </a:p>
        </p:txBody>
      </p:sp>
      <p:sp>
        <p:nvSpPr>
          <p:cNvPr id="27" name="Weeks 3-3"/>
          <p:cNvSpPr/>
          <p:nvPr/>
        </p:nvSpPr>
        <p:spPr>
          <a:xfrm>
            <a:off x="3017520" y="2432304"/>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Weeks text 3-3"/>
          <p:cNvSpPr txBox="1"/>
          <p:nvPr/>
        </p:nvSpPr>
        <p:spPr>
          <a:xfrm>
            <a:off x="3108960" y="2432304"/>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100</a:t>
            </a:r>
          </a:p>
        </p:txBody>
      </p:sp>
      <p:sp>
        <p:nvSpPr>
          <p:cNvPr id="29" name="Weeks 4-1"/>
          <p:cNvSpPr/>
          <p:nvPr/>
        </p:nvSpPr>
        <p:spPr>
          <a:xfrm>
            <a:off x="457200" y="2825496"/>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Weeks text 4-1"/>
          <p:cNvSpPr txBox="1"/>
          <p:nvPr/>
        </p:nvSpPr>
        <p:spPr>
          <a:xfrm>
            <a:off x="548640" y="2825496"/>
            <a:ext cx="8869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3</a:t>
            </a:r>
          </a:p>
        </p:txBody>
      </p:sp>
      <p:sp>
        <p:nvSpPr>
          <p:cNvPr id="31" name="Weeks 4-2"/>
          <p:cNvSpPr/>
          <p:nvPr/>
        </p:nvSpPr>
        <p:spPr>
          <a:xfrm>
            <a:off x="1554480" y="2825496"/>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Weeks text 4-2"/>
          <p:cNvSpPr txBox="1"/>
          <p:nvPr/>
        </p:nvSpPr>
        <p:spPr>
          <a:xfrm>
            <a:off x="1645920" y="2825496"/>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3.00</a:t>
            </a:r>
          </a:p>
        </p:txBody>
      </p:sp>
      <p:sp>
        <p:nvSpPr>
          <p:cNvPr id="33" name="Weeks 4-3"/>
          <p:cNvSpPr/>
          <p:nvPr/>
        </p:nvSpPr>
        <p:spPr>
          <a:xfrm>
            <a:off x="3017520" y="2825496"/>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Weeks text 4-3"/>
          <p:cNvSpPr txBox="1"/>
          <p:nvPr/>
        </p:nvSpPr>
        <p:spPr>
          <a:xfrm>
            <a:off x="3108960" y="2825496"/>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80</a:t>
            </a:r>
          </a:p>
        </p:txBody>
      </p:sp>
      <p:sp>
        <p:nvSpPr>
          <p:cNvPr id="35" name="Weeks 5-1"/>
          <p:cNvSpPr/>
          <p:nvPr/>
        </p:nvSpPr>
        <p:spPr>
          <a:xfrm>
            <a:off x="457200" y="3218688"/>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Weeks text 5-1"/>
          <p:cNvSpPr txBox="1"/>
          <p:nvPr/>
        </p:nvSpPr>
        <p:spPr>
          <a:xfrm>
            <a:off x="548640" y="3218688"/>
            <a:ext cx="8869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4</a:t>
            </a:r>
          </a:p>
        </p:txBody>
      </p:sp>
      <p:sp>
        <p:nvSpPr>
          <p:cNvPr id="37" name="Weeks 5-2"/>
          <p:cNvSpPr/>
          <p:nvPr/>
        </p:nvSpPr>
        <p:spPr>
          <a:xfrm>
            <a:off x="1554480" y="3218688"/>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Weeks text 5-2"/>
          <p:cNvSpPr txBox="1"/>
          <p:nvPr/>
        </p:nvSpPr>
        <p:spPr>
          <a:xfrm>
            <a:off x="1645920" y="3218688"/>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3.50</a:t>
            </a:r>
          </a:p>
        </p:txBody>
      </p:sp>
      <p:sp>
        <p:nvSpPr>
          <p:cNvPr id="39" name="Weeks 5-3"/>
          <p:cNvSpPr/>
          <p:nvPr/>
        </p:nvSpPr>
        <p:spPr>
          <a:xfrm>
            <a:off x="3017520" y="3218688"/>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Weeks text 5-3"/>
          <p:cNvSpPr txBox="1"/>
          <p:nvPr/>
        </p:nvSpPr>
        <p:spPr>
          <a:xfrm>
            <a:off x="3108960" y="3218688"/>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70</a:t>
            </a:r>
          </a:p>
        </p:txBody>
      </p:sp>
      <p:sp>
        <p:nvSpPr>
          <p:cNvPr id="41" name="Weeks 6-1"/>
          <p:cNvSpPr/>
          <p:nvPr/>
        </p:nvSpPr>
        <p:spPr>
          <a:xfrm>
            <a:off x="457200" y="3611880"/>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Weeks text 6-1"/>
          <p:cNvSpPr txBox="1"/>
          <p:nvPr/>
        </p:nvSpPr>
        <p:spPr>
          <a:xfrm>
            <a:off x="548640" y="3611880"/>
            <a:ext cx="8869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5</a:t>
            </a:r>
          </a:p>
        </p:txBody>
      </p:sp>
      <p:sp>
        <p:nvSpPr>
          <p:cNvPr id="43" name="Weeks 6-2"/>
          <p:cNvSpPr/>
          <p:nvPr/>
        </p:nvSpPr>
        <p:spPr>
          <a:xfrm>
            <a:off x="1554480" y="3611880"/>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Weeks text 6-2"/>
          <p:cNvSpPr txBox="1"/>
          <p:nvPr/>
        </p:nvSpPr>
        <p:spPr>
          <a:xfrm>
            <a:off x="1645920" y="3611880"/>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4.00</a:t>
            </a:r>
          </a:p>
        </p:txBody>
      </p:sp>
      <p:sp>
        <p:nvSpPr>
          <p:cNvPr id="45" name="Weeks 6-3"/>
          <p:cNvSpPr/>
          <p:nvPr/>
        </p:nvSpPr>
        <p:spPr>
          <a:xfrm>
            <a:off x="3017520" y="3611880"/>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Weeks text 6-3"/>
          <p:cNvSpPr txBox="1"/>
          <p:nvPr/>
        </p:nvSpPr>
        <p:spPr>
          <a:xfrm>
            <a:off x="3108960" y="3611880"/>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40</a:t>
            </a:r>
          </a:p>
        </p:txBody>
      </p:sp>
      <p:sp>
        <p:nvSpPr>
          <p:cNvPr id="47" name="Days label"/>
          <p:cNvSpPr txBox="1"/>
          <p:nvPr/>
        </p:nvSpPr>
        <p:spPr>
          <a:xfrm>
            <a:off x="4663440" y="1234440"/>
            <a:ext cx="4023360" cy="347472"/>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One week, day by day</a:t>
            </a:r>
          </a:p>
        </p:txBody>
      </p:sp>
      <p:sp>
        <p:nvSpPr>
          <p:cNvPr id="48" name="Days 1-1"/>
          <p:cNvSpPr/>
          <p:nvPr/>
        </p:nvSpPr>
        <p:spPr>
          <a:xfrm>
            <a:off x="4663440" y="1645920"/>
            <a:ext cx="19842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Days text 1-1"/>
          <p:cNvSpPr txBox="1"/>
          <p:nvPr/>
        </p:nvSpPr>
        <p:spPr>
          <a:xfrm>
            <a:off x="4754880" y="1645920"/>
            <a:ext cx="1801368" cy="365760"/>
          </a:xfrm>
          <a:prstGeom prst="rect">
            <a:avLst/>
          </a:prstGeom>
          <a:noFill/>
        </p:spPr>
        <p:txBody>
          <a:bodyPr wrap="square" lIns="0" rIns="0" tIns="0" bIns="0" anchor="ctr">
            <a:noAutofit/>
          </a:bodyPr>
          <a:lstStyle/>
          <a:p>
            <a:pPr algn="l">
              <a:spcAft>
                <a:spcPts val="400"/>
              </a:spcAft>
            </a:pPr>
            <a:r>
              <a:rPr sz="1250" b="1" lang="en-GB">
                <a:solidFill>
                  <a:schemeClr val="bg1"/>
                </a:solidFill>
              </a:rPr>
              <a:t>Day</a:t>
            </a:r>
          </a:p>
        </p:txBody>
      </p:sp>
      <p:sp>
        <p:nvSpPr>
          <p:cNvPr id="50" name="Days 1-2"/>
          <p:cNvSpPr/>
          <p:nvPr/>
        </p:nvSpPr>
        <p:spPr>
          <a:xfrm>
            <a:off x="6675120" y="1645920"/>
            <a:ext cx="19842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Days text 1-2"/>
          <p:cNvSpPr txBox="1"/>
          <p:nvPr/>
        </p:nvSpPr>
        <p:spPr>
          <a:xfrm>
            <a:off x="6766560" y="1645920"/>
            <a:ext cx="1801368" cy="365760"/>
          </a:xfrm>
          <a:prstGeom prst="rect">
            <a:avLst/>
          </a:prstGeom>
          <a:noFill/>
        </p:spPr>
        <p:txBody>
          <a:bodyPr wrap="square" lIns="0" rIns="0" tIns="0" bIns="0" anchor="ctr">
            <a:noAutofit/>
          </a:bodyPr>
          <a:lstStyle/>
          <a:p>
            <a:pPr algn="r">
              <a:spcAft>
                <a:spcPts val="400"/>
              </a:spcAft>
            </a:pPr>
            <a:r>
              <a:rPr sz="1250" b="1" lang="en-GB">
                <a:solidFill>
                  <a:schemeClr val="bg1"/>
                </a:solidFill>
              </a:rPr>
              <a:t>Bars sold</a:t>
            </a:r>
          </a:p>
        </p:txBody>
      </p:sp>
      <p:sp>
        <p:nvSpPr>
          <p:cNvPr id="52" name="Days 2-1"/>
          <p:cNvSpPr/>
          <p:nvPr/>
        </p:nvSpPr>
        <p:spPr>
          <a:xfrm>
            <a:off x="4663440" y="2039112"/>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Days text 2-1"/>
          <p:cNvSpPr txBox="1"/>
          <p:nvPr/>
        </p:nvSpPr>
        <p:spPr>
          <a:xfrm>
            <a:off x="4754880" y="2039112"/>
            <a:ext cx="18013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Mon</a:t>
            </a:r>
          </a:p>
        </p:txBody>
      </p:sp>
      <p:sp>
        <p:nvSpPr>
          <p:cNvPr id="54" name="Days 2-2"/>
          <p:cNvSpPr/>
          <p:nvPr/>
        </p:nvSpPr>
        <p:spPr>
          <a:xfrm>
            <a:off x="6675120" y="2039112"/>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Days text 2-2"/>
          <p:cNvSpPr txBox="1"/>
          <p:nvPr/>
        </p:nvSpPr>
        <p:spPr>
          <a:xfrm>
            <a:off x="6766560" y="2039112"/>
            <a:ext cx="180136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10</a:t>
            </a:r>
          </a:p>
        </p:txBody>
      </p:sp>
      <p:sp>
        <p:nvSpPr>
          <p:cNvPr id="56" name="Days 3-1"/>
          <p:cNvSpPr/>
          <p:nvPr/>
        </p:nvSpPr>
        <p:spPr>
          <a:xfrm>
            <a:off x="4663440" y="2432304"/>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Days text 3-1"/>
          <p:cNvSpPr txBox="1"/>
          <p:nvPr/>
        </p:nvSpPr>
        <p:spPr>
          <a:xfrm>
            <a:off x="4754880" y="2432304"/>
            <a:ext cx="18013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Tue</a:t>
            </a:r>
          </a:p>
        </p:txBody>
      </p:sp>
      <p:sp>
        <p:nvSpPr>
          <p:cNvPr id="58" name="Days 3-2"/>
          <p:cNvSpPr/>
          <p:nvPr/>
        </p:nvSpPr>
        <p:spPr>
          <a:xfrm>
            <a:off x="6675120" y="2432304"/>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Days text 3-2"/>
          <p:cNvSpPr txBox="1"/>
          <p:nvPr/>
        </p:nvSpPr>
        <p:spPr>
          <a:xfrm>
            <a:off x="6766560" y="2432304"/>
            <a:ext cx="180136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12</a:t>
            </a:r>
          </a:p>
        </p:txBody>
      </p:sp>
      <p:sp>
        <p:nvSpPr>
          <p:cNvPr id="60" name="Days 4-1"/>
          <p:cNvSpPr/>
          <p:nvPr/>
        </p:nvSpPr>
        <p:spPr>
          <a:xfrm>
            <a:off x="4663440" y="2825496"/>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Days text 4-1"/>
          <p:cNvSpPr txBox="1"/>
          <p:nvPr/>
        </p:nvSpPr>
        <p:spPr>
          <a:xfrm>
            <a:off x="4754880" y="2825496"/>
            <a:ext cx="18013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Wed</a:t>
            </a:r>
          </a:p>
        </p:txBody>
      </p:sp>
      <p:sp>
        <p:nvSpPr>
          <p:cNvPr id="62" name="Days 4-2"/>
          <p:cNvSpPr/>
          <p:nvPr/>
        </p:nvSpPr>
        <p:spPr>
          <a:xfrm>
            <a:off x="6675120" y="2825496"/>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Days text 4-2"/>
          <p:cNvSpPr txBox="1"/>
          <p:nvPr/>
        </p:nvSpPr>
        <p:spPr>
          <a:xfrm>
            <a:off x="6766560" y="2825496"/>
            <a:ext cx="180136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11</a:t>
            </a:r>
          </a:p>
        </p:txBody>
      </p:sp>
      <p:sp>
        <p:nvSpPr>
          <p:cNvPr id="64" name="Days 5-1"/>
          <p:cNvSpPr/>
          <p:nvPr/>
        </p:nvSpPr>
        <p:spPr>
          <a:xfrm>
            <a:off x="4663440" y="3218688"/>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Days text 5-1"/>
          <p:cNvSpPr txBox="1"/>
          <p:nvPr/>
        </p:nvSpPr>
        <p:spPr>
          <a:xfrm>
            <a:off x="4754880" y="3218688"/>
            <a:ext cx="18013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Thu</a:t>
            </a:r>
          </a:p>
        </p:txBody>
      </p:sp>
      <p:sp>
        <p:nvSpPr>
          <p:cNvPr id="66" name="Days 5-2"/>
          <p:cNvSpPr/>
          <p:nvPr/>
        </p:nvSpPr>
        <p:spPr>
          <a:xfrm>
            <a:off x="6675120" y="3218688"/>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Days text 5-2"/>
          <p:cNvSpPr txBox="1"/>
          <p:nvPr/>
        </p:nvSpPr>
        <p:spPr>
          <a:xfrm>
            <a:off x="6766560" y="3218688"/>
            <a:ext cx="180136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13</a:t>
            </a:r>
          </a:p>
        </p:txBody>
      </p:sp>
      <p:sp>
        <p:nvSpPr>
          <p:cNvPr id="68" name="Days 6-1"/>
          <p:cNvSpPr/>
          <p:nvPr/>
        </p:nvSpPr>
        <p:spPr>
          <a:xfrm>
            <a:off x="4663440" y="3611880"/>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Days text 6-1"/>
          <p:cNvSpPr txBox="1"/>
          <p:nvPr/>
        </p:nvSpPr>
        <p:spPr>
          <a:xfrm>
            <a:off x="4754880" y="3611880"/>
            <a:ext cx="18013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Fri (event)</a:t>
            </a:r>
          </a:p>
        </p:txBody>
      </p:sp>
      <p:sp>
        <p:nvSpPr>
          <p:cNvPr id="70" name="Days 6-2"/>
          <p:cNvSpPr/>
          <p:nvPr/>
        </p:nvSpPr>
        <p:spPr>
          <a:xfrm>
            <a:off x="6675120" y="3611880"/>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Days text 6-2"/>
          <p:cNvSpPr txBox="1"/>
          <p:nvPr/>
        </p:nvSpPr>
        <p:spPr>
          <a:xfrm>
            <a:off x="6766560" y="3611880"/>
            <a:ext cx="180136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54</a:t>
            </a:r>
          </a:p>
        </p:txBody>
      </p:sp>
      <p:sp>
        <p:nvSpPr>
          <p:cNvPr id="72" name="Kiosk calc box"/>
          <p:cNvSpPr/>
          <p:nvPr/>
        </p:nvSpPr>
        <p:spPr>
          <a:xfrm>
            <a:off x="457200" y="406908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3" name="Icon Kiosk calc" descr=""/>
          <p:cNvPicPr>
            <a:picLocks noChangeAspect="1"/>
          </p:cNvPicPr>
          <p:nvPr/>
        </p:nvPicPr>
        <p:blipFill>
          <a:blip r:embed="rId3"/>
          <a:stretch>
            <a:fillRect/>
          </a:stretch>
        </p:blipFill>
        <p:spPr>
          <a:xfrm>
            <a:off x="658368" y="4229100"/>
            <a:ext cx="365760" cy="365760"/>
          </a:xfrm>
          <a:prstGeom prst="rect">
            <a:avLst/>
          </a:prstGeom>
        </p:spPr>
      </p:pic>
      <p:sp>
        <p:nvSpPr>
          <p:cNvPr id="74" name="Kiosk calc text"/>
          <p:cNvSpPr txBox="1"/>
          <p:nvPr/>
        </p:nvSpPr>
        <p:spPr>
          <a:xfrm>
            <a:off x="1207008" y="4069080"/>
            <a:ext cx="731520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Small on purpose: </a:t>
            </a:r>
            <a:r>
              <a:rPr sz="1300" b="0" lang="en-GB">
                <a:solidFill>
                  <a:schemeClr val="bg1"/>
                </a:solidFill>
              </a:rPr>
              <a:t>every number can be checked with a calculator, then in Python. Later: the kiosk's full year, 52 weeks.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 of 11 · nominal, ordinal, interval, ratio</a:t>
            </a:r>
          </a:p>
        </p:txBody>
      </p:sp>
      <p:sp>
        <p:nvSpPr>
          <p:cNvPr id="3" name="Title 2"/>
          <p:cNvSpPr>
            <a:spLocks noGrp="1"/>
          </p:cNvSpPr>
          <p:nvPr>
            <p:ph type="ctrTitle"/>
          </p:nvPr>
        </p:nvSpPr>
        <p:spPr/>
        <p:txBody>
          <a:bodyPr/>
          <a:lstStyle/>
          <a:p>
            <a:r>
              <a:rPr sz="1600" lang="en-GB"/>
              <a:t>Scale types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Scales table"/>
          <p:cNvGraphicFramePr>
            <a:graphicFrameLocks noGrp="1"/>
          </p:cNvGraphicFramePr>
          <p:nvPr>
            <p:ph type="tbl" idx="1"/>
          </p:nvPr>
        </p:nvGraphicFramePr>
        <p:xfrm>
          <a:off x="457200" y="1234440"/>
          <a:ext cx="8229600" cy="1854200"/>
        </p:xfrm>
        <a:graphic>
          <a:graphicData uri="http://schemas.openxmlformats.org/drawingml/2006/table">
            <a:tbl>
              <a:tblPr firstRow="1" bandRow="1">
                <a:tableStyleId>{5C22544A-7EE6-4342-B048-85BDC9FD1C3A}</a:tableStyleId>
              </a:tblPr>
              <a:tblGrid>
                <a:gridCol w="1371600"/>
                <a:gridCol w="2377440"/>
                <a:gridCol w="2560320"/>
                <a:gridCol w="1920240"/>
              </a:tblGrid>
              <a:tr h="370840">
                <a:tc>
                  <a:txBody>
                    <a:bodyPr/>
                    <a:lstStyle/>
                    <a:p>
                      <a:r>
                        <a:rPr sz="1500" lang="en-GB"/>
                        <a:t>Scale</a:t>
                      </a:r>
                    </a:p>
                  </a:txBody>
                  <a:tcPr marT="60000" marB="60000"/>
                </a:tc>
                <a:tc>
                  <a:txBody>
                    <a:bodyPr/>
                    <a:lstStyle/>
                    <a:p>
                      <a:r>
                        <a:rPr sz="1500" lang="en-GB"/>
                        <a:t>What you can say</a:t>
                      </a:r>
                    </a:p>
                  </a:txBody>
                  <a:tcPr marT="60000" marB="60000"/>
                </a:tc>
                <a:tc>
                  <a:txBody>
                    <a:bodyPr/>
                    <a:lstStyle/>
                    <a:p>
                      <a:r>
                        <a:rPr sz="1500" lang="en-GB"/>
                        <a:t>Kiosk example</a:t>
                      </a:r>
                    </a:p>
                  </a:txBody>
                  <a:tcPr marT="60000" marB="60000"/>
                </a:tc>
                <a:tc>
                  <a:txBody>
                    <a:bodyPr/>
                    <a:lstStyle/>
                    <a:p>
                      <a:r>
                        <a:rPr sz="1500" lang="en-GB"/>
                        <a:t>Typical statistics</a:t>
                      </a:r>
                    </a:p>
                  </a:txBody>
                  <a:tcPr marT="60000" marB="60000"/>
                </a:tc>
              </a:tr>
              <a:tr h="370840">
                <a:tc>
                  <a:txBody>
                    <a:bodyPr/>
                    <a:lstStyle/>
                    <a:p>
                      <a:r>
                        <a:rPr sz="1250" b="1" lang="en-GB"/>
                        <a:t>Nominal</a:t>
                      </a:r>
                    </a:p>
                  </a:txBody>
                  <a:tcPr marT="60000" marB="60000"/>
                </a:tc>
                <a:tc>
                  <a:txBody>
                    <a:bodyPr/>
                    <a:lstStyle/>
                    <a:p>
                      <a:r>
                        <a:rPr sz="1250" lang="en-GB"/>
                        <a:t>same or different</a:t>
                      </a:r>
                    </a:p>
                  </a:txBody>
                  <a:tcPr marT="60000" marB="60000"/>
                </a:tc>
                <a:tc>
                  <a:txBody>
                    <a:bodyPr/>
                    <a:lstStyle/>
                    <a:p>
                      <a:r>
                        <a:rPr sz="1250" lang="en-GB"/>
                        <a:t>brand, payment method</a:t>
                      </a:r>
                    </a:p>
                  </a:txBody>
                  <a:tcPr marT="60000" marB="60000"/>
                </a:tc>
                <a:tc>
                  <a:txBody>
                    <a:bodyPr/>
                    <a:lstStyle/>
                    <a:p>
                      <a:r>
                        <a:rPr sz="1250" lang="en-GB"/>
                        <a:t>counts, mode</a:t>
                      </a:r>
                    </a:p>
                  </a:txBody>
                  <a:tcPr marT="60000" marB="60000"/>
                </a:tc>
              </a:tr>
              <a:tr h="370840">
                <a:tc>
                  <a:txBody>
                    <a:bodyPr/>
                    <a:lstStyle/>
                    <a:p>
                      <a:r>
                        <a:rPr sz="1250" b="1" lang="en-GB"/>
                        <a:t>Ordinal</a:t>
                      </a:r>
                    </a:p>
                  </a:txBody>
                  <a:tcPr marT="60000" marB="60000"/>
                </a:tc>
                <a:tc>
                  <a:txBody>
                    <a:bodyPr/>
                    <a:lstStyle/>
                    <a:p>
                      <a:r>
                        <a:rPr sz="1250" lang="en-GB"/>
                        <a:t>more or less</a:t>
                      </a:r>
                    </a:p>
                  </a:txBody>
                  <a:tcPr marT="60000" marB="60000"/>
                </a:tc>
                <a:tc>
                  <a:txBody>
                    <a:bodyPr/>
                    <a:lstStyle/>
                    <a:p>
                      <a:r>
                        <a:rPr sz="1250" lang="en-GB"/>
                        <a:t>rating 1 to 5 stars, size S/M/L</a:t>
                      </a:r>
                    </a:p>
                  </a:txBody>
                  <a:tcPr marT="60000" marB="60000"/>
                </a:tc>
                <a:tc>
                  <a:txBody>
                    <a:bodyPr/>
                    <a:lstStyle/>
                    <a:p>
                      <a:r>
                        <a:rPr sz="1250" lang="en-GB"/>
                        <a:t>median, percentiles</a:t>
                      </a:r>
                    </a:p>
                  </a:txBody>
                  <a:tcPr marT="60000" marB="60000"/>
                </a:tc>
              </a:tr>
              <a:tr h="370840">
                <a:tc>
                  <a:txBody>
                    <a:bodyPr/>
                    <a:lstStyle/>
                    <a:p>
                      <a:r>
                        <a:rPr sz="1250" b="1" lang="en-GB"/>
                        <a:t>Interval</a:t>
                      </a:r>
                    </a:p>
                  </a:txBody>
                  <a:tcPr marT="60000" marB="60000"/>
                </a:tc>
                <a:tc>
                  <a:txBody>
                    <a:bodyPr/>
                    <a:lstStyle/>
                    <a:p>
                      <a:r>
                        <a:rPr sz="1250" lang="en-GB"/>
                        <a:t>how much more (no true zero)</a:t>
                      </a:r>
                    </a:p>
                  </a:txBody>
                  <a:tcPr marT="60000" marB="60000"/>
                </a:tc>
                <a:tc>
                  <a:txBody>
                    <a:bodyPr/>
                    <a:lstStyle/>
                    <a:p>
                      <a:r>
                        <a:rPr sz="1250" lang="en-GB"/>
                        <a:t>temperature in °C</a:t>
                      </a:r>
                    </a:p>
                  </a:txBody>
                  <a:tcPr marT="60000" marB="60000"/>
                </a:tc>
                <a:tc>
                  <a:txBody>
                    <a:bodyPr/>
                    <a:lstStyle/>
                    <a:p>
                      <a:r>
                        <a:rPr sz="1250" lang="en-GB"/>
                        <a:t>mean, standard deviation</a:t>
                      </a:r>
                    </a:p>
                  </a:txBody>
                  <a:tcPr marT="60000" marB="60000"/>
                </a:tc>
              </a:tr>
              <a:tr h="370840">
                <a:tc>
                  <a:txBody>
                    <a:bodyPr/>
                    <a:lstStyle/>
                    <a:p>
                      <a:r>
                        <a:rPr sz="1250" b="1" lang="en-GB"/>
                        <a:t>Ratio</a:t>
                      </a:r>
                    </a:p>
                  </a:txBody>
                  <a:tcPr marT="60000" marB="60000"/>
                </a:tc>
                <a:tc>
                  <a:txBody>
                    <a:bodyPr/>
                    <a:lstStyle/>
                    <a:p>
                      <a:r>
                        <a:rPr sz="1250" lang="en-GB"/>
                        <a:t>how many times (true zero)</a:t>
                      </a:r>
                    </a:p>
                  </a:txBody>
                  <a:tcPr marT="60000" marB="60000"/>
                </a:tc>
                <a:tc>
                  <a:txBody>
                    <a:bodyPr/>
                    <a:lstStyle/>
                    <a:p>
                      <a:r>
                        <a:rPr sz="1250" lang="en-GB"/>
                        <a:t>price, bars sold, revenue</a:t>
                      </a:r>
                    </a:p>
                  </a:txBody>
                  <a:tcPr marT="60000" marB="60000"/>
                </a:tc>
                <a:tc>
                  <a:txBody>
                    <a:bodyPr/>
                    <a:lstStyle/>
                    <a:p>
                      <a:r>
                        <a:rPr sz="1250" lang="en-GB"/>
                        <a:t>all, incl. ratios</a:t>
                      </a:r>
                    </a:p>
                  </a:txBody>
                  <a:tcPr marT="60000" marB="60000"/>
                </a:tc>
              </a:tr>
            </a:tbl>
          </a:graphicData>
        </a:graphic>
      </p:graphicFrame>
      <p:sp>
        <p:nvSpPr>
          <p:cNvPr id="3" name="Title 2"/>
          <p:cNvSpPr>
            <a:spLocks noGrp="1"/>
          </p:cNvSpPr>
          <p:nvPr>
            <p:ph type="title"/>
          </p:nvPr>
        </p:nvSpPr>
        <p:spPr/>
        <p:txBody>
          <a:bodyPr/>
          <a:lstStyle/>
          <a:p>
            <a:r>
              <a:rPr sz="1600" lang="en-GB"/>
              <a:t>Four scale types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cale groups box"/>
          <p:cNvSpPr/>
          <p:nvPr/>
        </p:nvSpPr>
        <p:spPr>
          <a:xfrm>
            <a:off x="457200" y="365760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Scale groups" descr=""/>
          <p:cNvPicPr>
            <a:picLocks noChangeAspect="1"/>
          </p:cNvPicPr>
          <p:nvPr/>
        </p:nvPicPr>
        <p:blipFill>
          <a:blip r:embed="rId3"/>
          <a:stretch>
            <a:fillRect/>
          </a:stretch>
        </p:blipFill>
        <p:spPr>
          <a:xfrm>
            <a:off x="658368" y="3794760"/>
            <a:ext cx="365760" cy="365760"/>
          </a:xfrm>
          <a:prstGeom prst="rect">
            <a:avLst/>
          </a:prstGeom>
        </p:spPr>
      </p:pic>
      <p:sp>
        <p:nvSpPr>
          <p:cNvPr id="12" name="Scale groups text"/>
          <p:cNvSpPr txBox="1"/>
          <p:nvPr/>
        </p:nvSpPr>
        <p:spPr>
          <a:xfrm>
            <a:off x="1207008" y="3657600"/>
            <a:ext cx="7315200" cy="640080"/>
          </a:xfrm>
          <a:prstGeom prst="rect">
            <a:avLst/>
          </a:prstGeom>
          <a:noFill/>
        </p:spPr>
        <p:txBody>
          <a:bodyPr wrap="square" lIns="0" rIns="0" tIns="0" bIns="0" anchor="ctr">
            <a:noAutofit/>
          </a:bodyPr>
          <a:lstStyle/>
          <a:p>
            <a:pPr algn="l">
              <a:spcAft>
                <a:spcPts val="400"/>
              </a:spcAft>
            </a:pPr>
            <a:r>
              <a:rPr sz="1300" b="1" lang="en-GB">
                <a:solidFill>
                  <a:schemeClr val="bg1"/>
                </a:solidFill>
              </a:rPr>
              <a:t>Two groups: </a:t>
            </a:r>
            <a:r>
              <a:rPr sz="1300" b="0" lang="en-GB">
                <a:solidFill>
                  <a:schemeClr val="bg1"/>
                </a:solidFill>
              </a:rPr>
              <a:t>nominal and ordinal are categorical; interval and ratio are metric (numbers you can average).</a:t>
            </a:r>
          </a:p>
        </p:txBody>
      </p:sp>
      <p:sp>
        <p:nvSpPr>
          <p:cNvPr id="13" name="Scale reg"/>
          <p:cNvSpPr txBox="1"/>
          <p:nvPr/>
        </p:nvSpPr>
        <p:spPr>
          <a:xfrm>
            <a:off x="457200" y="4434840"/>
            <a:ext cx="8229600"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In regression: </a:t>
            </a:r>
            <a:r>
              <a:rPr sz="1200" b="0" lang="en-GB">
                <a:solidFill>
                  <a:schemeClr val="tx1"/>
                </a:solidFill>
              </a:rPr>
              <a:t>categorical variables enter as dummies (0/1), metric variables as they are.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Why the scale matters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atter row 1"/>
          <p:cNvSpPr/>
          <p:nvPr/>
        </p:nvSpPr>
        <p:spPr>
          <a:xfrm>
            <a:off x="457200" y="1234440"/>
            <a:ext cx="402336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atter bar 1"/>
          <p:cNvSpPr/>
          <p:nvPr/>
        </p:nvSpPr>
        <p:spPr>
          <a:xfrm>
            <a:off x="457200" y="1234440"/>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Matter text 1"/>
          <p:cNvSpPr txBox="1"/>
          <p:nvPr/>
        </p:nvSpPr>
        <p:spPr>
          <a:xfrm>
            <a:off x="658368" y="1234440"/>
            <a:ext cx="3730752" cy="713232"/>
          </a:xfrm>
          <a:prstGeom prst="rect">
            <a:avLst/>
          </a:prstGeom>
          <a:noFill/>
        </p:spPr>
        <p:txBody>
          <a:bodyPr wrap="square" lIns="0" rIns="0" tIns="0" bIns="0" anchor="ctr">
            <a:noAutofit/>
          </a:bodyPr>
          <a:lstStyle/>
          <a:p>
            <a:pPr algn="l">
              <a:spcAft>
                <a:spcPts val="400"/>
              </a:spcAft>
            </a:pPr>
            <a:r>
              <a:rPr sz="1200" b="1" lang="en-GB">
                <a:solidFill>
                  <a:schemeClr val="tx2"/>
                </a:solidFill>
              </a:rPr>
              <a:t>20 °C </a:t>
            </a:r>
            <a:r>
              <a:rPr sz="1200" b="0" lang="en-GB">
                <a:solidFill>
                  <a:schemeClr val="tx1"/>
                </a:solidFill>
              </a:rPr>
              <a:t>is not twice as warm as 10 °C: no true zero</a:t>
            </a:r>
          </a:p>
        </p:txBody>
      </p:sp>
      <p:sp>
        <p:nvSpPr>
          <p:cNvPr id="13" name="Matter row 2"/>
          <p:cNvSpPr/>
          <p:nvPr/>
        </p:nvSpPr>
        <p:spPr>
          <a:xfrm>
            <a:off x="457200" y="2020824"/>
            <a:ext cx="402336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Matter bar 2"/>
          <p:cNvSpPr/>
          <p:nvPr/>
        </p:nvSpPr>
        <p:spPr>
          <a:xfrm>
            <a:off x="457200" y="2020824"/>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Matter text 2"/>
          <p:cNvSpPr txBox="1"/>
          <p:nvPr/>
        </p:nvSpPr>
        <p:spPr>
          <a:xfrm>
            <a:off x="658368" y="2020824"/>
            <a:ext cx="3730752" cy="713232"/>
          </a:xfrm>
          <a:prstGeom prst="rect">
            <a:avLst/>
          </a:prstGeom>
          <a:noFill/>
        </p:spPr>
        <p:txBody>
          <a:bodyPr wrap="square" lIns="0" rIns="0" tIns="0" bIns="0" anchor="ctr">
            <a:noAutofit/>
          </a:bodyPr>
          <a:lstStyle/>
          <a:p>
            <a:pPr algn="l">
              <a:spcAft>
                <a:spcPts val="400"/>
              </a:spcAft>
            </a:pPr>
            <a:r>
              <a:rPr sz="1200" b="1" lang="en-GB">
                <a:solidFill>
                  <a:schemeClr val="tx2"/>
                </a:solidFill>
              </a:rPr>
              <a:t>Mean of star ratings: </a:t>
            </a:r>
            <a:r>
              <a:rPr sz="1200" b="0" lang="en-GB">
                <a:solidFill>
                  <a:schemeClr val="tx1"/>
                </a:solidFill>
              </a:rPr>
              <a:t>treats ordinal as metric; say so</a:t>
            </a:r>
          </a:p>
        </p:txBody>
      </p:sp>
      <p:sp>
        <p:nvSpPr>
          <p:cNvPr id="16" name="Matter row 3"/>
          <p:cNvSpPr/>
          <p:nvPr/>
        </p:nvSpPr>
        <p:spPr>
          <a:xfrm>
            <a:off x="457200" y="2807208"/>
            <a:ext cx="402336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atter bar 3"/>
          <p:cNvSpPr/>
          <p:nvPr/>
        </p:nvSpPr>
        <p:spPr>
          <a:xfrm>
            <a:off x="457200" y="2807208"/>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Matter text 3"/>
          <p:cNvSpPr txBox="1"/>
          <p:nvPr/>
        </p:nvSpPr>
        <p:spPr>
          <a:xfrm>
            <a:off x="658368" y="2807208"/>
            <a:ext cx="3730752" cy="713232"/>
          </a:xfrm>
          <a:prstGeom prst="rect">
            <a:avLst/>
          </a:prstGeom>
          <a:noFill/>
        </p:spPr>
        <p:txBody>
          <a:bodyPr wrap="square" lIns="0" rIns="0" tIns="0" bIns="0" anchor="ctr">
            <a:noAutofit/>
          </a:bodyPr>
          <a:lstStyle/>
          <a:p>
            <a:pPr algn="l">
              <a:spcAft>
                <a:spcPts val="400"/>
              </a:spcAft>
            </a:pPr>
            <a:r>
              <a:rPr sz="1200" b="1" lang="en-GB">
                <a:solidFill>
                  <a:schemeClr val="tx2"/>
                </a:solidFill>
              </a:rPr>
              <a:t>Store ID 17: </a:t>
            </a:r>
            <a:r>
              <a:rPr sz="1200" b="0" lang="en-GB">
                <a:solidFill>
                  <a:schemeClr val="tx1"/>
                </a:solidFill>
              </a:rPr>
              <a:t>a number, but only a label: nominal</a:t>
            </a:r>
          </a:p>
        </p:txBody>
      </p:sp>
      <p:sp>
        <p:nvSpPr>
          <p:cNvPr id="19" name="Quiz head"/>
          <p:cNvSpPr/>
          <p:nvPr/>
        </p:nvSpPr>
        <p:spPr>
          <a:xfrm>
            <a:off x="4617720" y="1234440"/>
            <a:ext cx="40690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Quiz head text"/>
          <p:cNvSpPr txBox="1"/>
          <p:nvPr/>
        </p:nvSpPr>
        <p:spPr>
          <a:xfrm>
            <a:off x="4754880" y="1234440"/>
            <a:ext cx="37947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Quick quiz: which scale?</a:t>
            </a:r>
          </a:p>
        </p:txBody>
      </p:sp>
      <p:sp>
        <p:nvSpPr>
          <p:cNvPr id="21" name="Quiz body"/>
          <p:cNvSpPr/>
          <p:nvPr/>
        </p:nvSpPr>
        <p:spPr>
          <a:xfrm>
            <a:off x="4617720" y="1645920"/>
            <a:ext cx="4069080" cy="18836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Quiz items"/>
          <p:cNvSpPr txBox="1"/>
          <p:nvPr/>
        </p:nvSpPr>
        <p:spPr>
          <a:xfrm>
            <a:off x="4800600" y="1737360"/>
            <a:ext cx="3749040" cy="1737360"/>
          </a:xfrm>
          <a:prstGeom prst="rect">
            <a:avLst/>
          </a:prstGeom>
          <a:noFill/>
        </p:spPr>
        <p:txBody>
          <a:bodyPr wrap="square" lIns="0" rIns="0" tIns="0" bIns="0" anchor="t">
            <a:noAutofit/>
          </a:bodyPr>
          <a:lstStyle/>
          <a:p>
            <a:pPr algn="l" marL="182880" indent="-182880">
              <a:spcAft>
                <a:spcPts val="500"/>
              </a:spcAft>
              <a:buClr>
                <a:schemeClr val="accent1"/>
              </a:buClr>
              <a:buFont typeface="Arial"/>
              <a:buChar char="▪"/>
            </a:pPr>
            <a:r>
              <a:rPr sz="1200" b="0" lang="en-GB">
                <a:solidFill>
                  <a:schemeClr val="tx1"/>
                </a:solidFill>
              </a:rPr>
              <a:t>Country of the customer</a:t>
            </a:r>
          </a:p>
          <a:p>
            <a:pPr algn="l" marL="182880" indent="-182880">
              <a:spcAft>
                <a:spcPts val="500"/>
              </a:spcAft>
              <a:buClr>
                <a:schemeClr val="accent1"/>
              </a:buClr>
              <a:buFont typeface="Arial"/>
              <a:buChar char="▪"/>
            </a:pPr>
            <a:r>
              <a:rPr sz="1200" b="0" lang="en-GB">
                <a:solidFill>
                  <a:schemeClr val="tx1"/>
                </a:solidFill>
              </a:rPr>
              <a:t>Satisfaction from 1 to 7</a:t>
            </a:r>
          </a:p>
          <a:p>
            <a:pPr algn="l" marL="182880" indent="-182880">
              <a:spcAft>
                <a:spcPts val="500"/>
              </a:spcAft>
              <a:buClr>
                <a:schemeClr val="accent1"/>
              </a:buClr>
              <a:buFont typeface="Arial"/>
              <a:buChar char="▪"/>
            </a:pPr>
            <a:r>
              <a:rPr sz="1200" b="0" lang="en-GB">
                <a:solidFill>
                  <a:schemeClr val="tx1"/>
                </a:solidFill>
              </a:rPr>
              <a:t>Age in years</a:t>
            </a:r>
          </a:p>
          <a:p>
            <a:pPr algn="l" marL="182880" indent="-182880">
              <a:spcAft>
                <a:spcPts val="500"/>
              </a:spcAft>
              <a:buClr>
                <a:schemeClr val="accent1"/>
              </a:buClr>
              <a:buFont typeface="Arial"/>
              <a:buChar char="▪"/>
            </a:pPr>
            <a:r>
              <a:rPr sz="1200" b="0" lang="en-GB">
                <a:solidFill>
                  <a:schemeClr val="tx1"/>
                </a:solidFill>
              </a:rPr>
              <a:t>Discount: yes or no</a:t>
            </a:r>
          </a:p>
          <a:p>
            <a:pPr algn="l" marL="182880" indent="-182880">
              <a:spcAft>
                <a:spcPts val="500"/>
              </a:spcAft>
              <a:buClr>
                <a:schemeClr val="accent1"/>
              </a:buClr>
              <a:buFont typeface="Arial"/>
              <a:buChar char="▪"/>
            </a:pPr>
            <a:r>
              <a:rPr sz="1200" b="0" lang="en-GB">
                <a:solidFill>
                  <a:schemeClr val="tx1"/>
                </a:solidFill>
              </a:rPr>
              <a:t>Temperature on the day</a:t>
            </a:r>
          </a:p>
        </p:txBody>
      </p:sp>
      <p:sp>
        <p:nvSpPr>
          <p:cNvPr id="23" name="Matter rule box"/>
          <p:cNvSpPr/>
          <p:nvPr/>
        </p:nvSpPr>
        <p:spPr>
          <a:xfrm>
            <a:off x="457200" y="370332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Icon Matter rule" descr=""/>
          <p:cNvPicPr>
            <a:picLocks noChangeAspect="1"/>
          </p:cNvPicPr>
          <p:nvPr/>
        </p:nvPicPr>
        <p:blipFill>
          <a:blip r:embed="rId3"/>
          <a:stretch>
            <a:fillRect/>
          </a:stretch>
        </p:blipFill>
        <p:spPr>
          <a:xfrm>
            <a:off x="658368" y="3840480"/>
            <a:ext cx="365760" cy="365760"/>
          </a:xfrm>
          <a:prstGeom prst="rect">
            <a:avLst/>
          </a:prstGeom>
        </p:spPr>
      </p:pic>
      <p:sp>
        <p:nvSpPr>
          <p:cNvPr id="25" name="Matter rule text"/>
          <p:cNvSpPr txBox="1"/>
          <p:nvPr/>
        </p:nvSpPr>
        <p:spPr>
          <a:xfrm>
            <a:off x="1207008" y="3703320"/>
            <a:ext cx="7315200" cy="640080"/>
          </a:xfrm>
          <a:prstGeom prst="rect">
            <a:avLst/>
          </a:prstGeom>
          <a:noFill/>
        </p:spPr>
        <p:txBody>
          <a:bodyPr wrap="square" lIns="0" rIns="0" tIns="0" bIns="0" anchor="ctr">
            <a:noAutofit/>
          </a:bodyPr>
          <a:lstStyle/>
          <a:p>
            <a:pPr algn="l">
              <a:spcAft>
                <a:spcPts val="400"/>
              </a:spcAft>
            </a:pPr>
            <a:r>
              <a:rPr sz="1300" b="1" lang="en-GB">
                <a:solidFill>
                  <a:schemeClr val="bg1"/>
                </a:solidFill>
              </a:rPr>
              <a:t>Rule: </a:t>
            </a:r>
            <a:r>
              <a:rPr sz="1300" b="0" lang="en-GB">
                <a:solidFill>
                  <a:schemeClr val="bg1"/>
                </a:solidFill>
              </a:rPr>
              <a:t>check the scale before you average, chart or put a variable into a model.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2 of 11 · mean, median, variance, standard deviation, standard error</a:t>
            </a:r>
          </a:p>
        </p:txBody>
      </p:sp>
      <p:sp>
        <p:nvSpPr>
          <p:cNvPr id="3" name="Title 2"/>
          <p:cNvSpPr>
            <a:spLocks noGrp="1"/>
          </p:cNvSpPr>
          <p:nvPr>
            <p:ph type="ctrTitle"/>
          </p:nvPr>
        </p:nvSpPr>
        <p:spPr/>
        <p:txBody>
          <a:bodyPr/>
          <a:lstStyle/>
          <a:p>
            <a:r>
              <a:rPr sz="1600" lang="en-GB"/>
              <a:t>Centre and spread</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Mean and median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ean formula box"/>
          <p:cNvSpPr/>
          <p:nvPr/>
        </p:nvSpPr>
        <p:spPr>
          <a:xfrm>
            <a:off x="457200" y="1234440"/>
            <a:ext cx="4206240" cy="868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ean formula code"/>
          <p:cNvSpPr txBox="1"/>
          <p:nvPr/>
        </p:nvSpPr>
        <p:spPr>
          <a:xfrm>
            <a:off x="594360" y="1325880"/>
            <a:ext cx="3931920" cy="68580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mean    x̄ = Σ x / n = 100 / 5 = 20</a:t>
            </a:r>
          </a:p>
          <a:p>
            <a:pPr algn="l">
              <a:spcAft>
                <a:spcPts val="0"/>
              </a:spcAft>
            </a:pPr>
            <a:r>
              <a:rPr sz="1200" b="0" lang="en-GB">
                <a:solidFill>
                  <a:schemeClr val="bg1"/>
                </a:solidFill>
                <a:latin typeface="Consolas"/>
              </a:rPr>
              <a:t>median  middle of 10 11 12 13 54 = 12</a:t>
            </a:r>
          </a:p>
        </p:txBody>
      </p:sp>
      <p:sp>
        <p:nvSpPr>
          <p:cNvPr id="12" name="MM rows row 1"/>
          <p:cNvSpPr/>
          <p:nvPr/>
        </p:nvSpPr>
        <p:spPr>
          <a:xfrm>
            <a:off x="457200" y="2240280"/>
            <a:ext cx="420624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MM rows bar 1"/>
          <p:cNvSpPr/>
          <p:nvPr/>
        </p:nvSpPr>
        <p:spPr>
          <a:xfrm>
            <a:off x="457200" y="224028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MM rows text 1"/>
          <p:cNvSpPr txBox="1"/>
          <p:nvPr/>
        </p:nvSpPr>
        <p:spPr>
          <a:xfrm>
            <a:off x="658368" y="2240280"/>
            <a:ext cx="391363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Mean </a:t>
            </a:r>
            <a:r>
              <a:rPr sz="1200" b="0" lang="en-GB">
                <a:solidFill>
                  <a:schemeClr val="tx1"/>
                </a:solidFill>
              </a:rPr>
              <a:t>uses every value; one event day pulls it up</a:t>
            </a:r>
          </a:p>
        </p:txBody>
      </p:sp>
      <p:sp>
        <p:nvSpPr>
          <p:cNvPr id="15" name="MM rows row 2"/>
          <p:cNvSpPr/>
          <p:nvPr/>
        </p:nvSpPr>
        <p:spPr>
          <a:xfrm>
            <a:off x="457200" y="2880360"/>
            <a:ext cx="420624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MM rows bar 2"/>
          <p:cNvSpPr/>
          <p:nvPr/>
        </p:nvSpPr>
        <p:spPr>
          <a:xfrm>
            <a:off x="457200" y="288036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M rows text 2"/>
          <p:cNvSpPr txBox="1"/>
          <p:nvPr/>
        </p:nvSpPr>
        <p:spPr>
          <a:xfrm>
            <a:off x="658368" y="2880360"/>
            <a:ext cx="391363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Median </a:t>
            </a:r>
            <a:r>
              <a:rPr sz="1200" b="0" lang="en-GB">
                <a:solidFill>
                  <a:schemeClr val="tx1"/>
                </a:solidFill>
              </a:rPr>
              <a:t>is robust: half the days below, half above</a:t>
            </a:r>
          </a:p>
        </p:txBody>
      </p:sp>
      <p:sp>
        <p:nvSpPr>
          <p:cNvPr id="18" name="MM rows row 3"/>
          <p:cNvSpPr/>
          <p:nvPr/>
        </p:nvSpPr>
        <p:spPr>
          <a:xfrm>
            <a:off x="457200" y="3520440"/>
            <a:ext cx="420624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MM rows bar 3"/>
          <p:cNvSpPr/>
          <p:nvPr/>
        </p:nvSpPr>
        <p:spPr>
          <a:xfrm>
            <a:off x="457200" y="352044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MM rows text 3"/>
          <p:cNvSpPr txBox="1"/>
          <p:nvPr/>
        </p:nvSpPr>
        <p:spPr>
          <a:xfrm>
            <a:off x="658368" y="3520440"/>
            <a:ext cx="391363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Use the median </a:t>
            </a:r>
            <a:r>
              <a:rPr sz="1200" b="0" lang="en-GB">
                <a:solidFill>
                  <a:schemeClr val="tx1"/>
                </a:solidFill>
              </a:rPr>
              <a:t>for skewed data and ordinal scales</a:t>
            </a:r>
          </a:p>
        </p:txBody>
      </p:sp>
      <p:pic>
        <p:nvPicPr>
          <p:cNvPr id="21" name="Chart ref_mean_median.png" descr="Dot chart of five days: four between 10 and 13 bars, Friday at 54; a solid line at the mean of 20 and a dashed line at the median of 12"/>
          <p:cNvPicPr>
            <a:picLocks noChangeAspect="1"/>
          </p:cNvPicPr>
          <p:nvPr/>
        </p:nvPicPr>
        <p:blipFill>
          <a:blip r:embed="rId3"/>
          <a:stretch>
            <a:fillRect/>
          </a:stretch>
        </p:blipFill>
        <p:spPr>
          <a:xfrm>
            <a:off x="4800600" y="1234440"/>
            <a:ext cx="3886200" cy="2651760"/>
          </a:xfrm>
          <a:prstGeom prst="rect">
            <a:avLst/>
          </a:prstGeom>
        </p:spPr>
      </p:pic>
      <p:sp>
        <p:nvSpPr>
          <p:cNvPr id="22" name="MM totals box"/>
          <p:cNvSpPr/>
          <p:nvPr/>
        </p:nvSpPr>
        <p:spPr>
          <a:xfrm>
            <a:off x="457200" y="434340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MM totals" descr=""/>
          <p:cNvPicPr>
            <a:picLocks noChangeAspect="1"/>
          </p:cNvPicPr>
          <p:nvPr/>
        </p:nvPicPr>
        <p:blipFill>
          <a:blip r:embed="rId4"/>
          <a:stretch>
            <a:fillRect/>
          </a:stretch>
        </p:blipFill>
        <p:spPr>
          <a:xfrm>
            <a:off x="658368" y="4411980"/>
            <a:ext cx="365760" cy="365760"/>
          </a:xfrm>
          <a:prstGeom prst="rect">
            <a:avLst/>
          </a:prstGeom>
        </p:spPr>
      </p:pic>
      <p:sp>
        <p:nvSpPr>
          <p:cNvPr id="24" name="MM totals text"/>
          <p:cNvSpPr txBox="1"/>
          <p:nvPr/>
        </p:nvSpPr>
        <p:spPr>
          <a:xfrm>
            <a:off x="1207008" y="4343400"/>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Totals need the mean: </a:t>
            </a:r>
            <a:r>
              <a:rPr sz="1200" b="0" lang="en-GB">
                <a:solidFill>
                  <a:schemeClr val="tx1"/>
                </a:solidFill>
              </a:rPr>
              <a:t>20 bars a day × 5 days = 100 bars in the week.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Variance and standard deviation, by hand</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Var table 1-1"/>
          <p:cNvSpPr/>
          <p:nvPr/>
        </p:nvSpPr>
        <p:spPr>
          <a:xfrm>
            <a:off x="457200" y="1234440"/>
            <a:ext cx="88696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Var table text 1-1"/>
          <p:cNvSpPr txBox="1"/>
          <p:nvPr/>
        </p:nvSpPr>
        <p:spPr>
          <a:xfrm>
            <a:off x="548640" y="1234440"/>
            <a:ext cx="704088" cy="347472"/>
          </a:xfrm>
          <a:prstGeom prst="rect">
            <a:avLst/>
          </a:prstGeom>
          <a:noFill/>
        </p:spPr>
        <p:txBody>
          <a:bodyPr wrap="square" lIns="0" rIns="0" tIns="0" bIns="0" anchor="ctr">
            <a:noAutofit/>
          </a:bodyPr>
          <a:lstStyle/>
          <a:p>
            <a:pPr algn="l">
              <a:spcAft>
                <a:spcPts val="400"/>
              </a:spcAft>
            </a:pPr>
            <a:r>
              <a:rPr sz="1200" b="1" lang="en-GB">
                <a:solidFill>
                  <a:schemeClr val="bg1"/>
                </a:solidFill>
              </a:rPr>
              <a:t>Week</a:t>
            </a:r>
          </a:p>
        </p:txBody>
      </p:sp>
      <p:sp>
        <p:nvSpPr>
          <p:cNvPr id="12" name="Var table 1-2"/>
          <p:cNvSpPr/>
          <p:nvPr/>
        </p:nvSpPr>
        <p:spPr>
          <a:xfrm>
            <a:off x="1371600" y="1234440"/>
            <a:ext cx="102412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Var table text 1-2"/>
          <p:cNvSpPr txBox="1"/>
          <p:nvPr/>
        </p:nvSpPr>
        <p:spPr>
          <a:xfrm>
            <a:off x="1463040" y="1234440"/>
            <a:ext cx="84124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Bars x</a:t>
            </a:r>
          </a:p>
        </p:txBody>
      </p:sp>
      <p:sp>
        <p:nvSpPr>
          <p:cNvPr id="14" name="Var table 1-3"/>
          <p:cNvSpPr/>
          <p:nvPr/>
        </p:nvSpPr>
        <p:spPr>
          <a:xfrm>
            <a:off x="2423160" y="1234440"/>
            <a:ext cx="102412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Var table text 1-3"/>
          <p:cNvSpPr txBox="1"/>
          <p:nvPr/>
        </p:nvSpPr>
        <p:spPr>
          <a:xfrm>
            <a:off x="2514600" y="1234440"/>
            <a:ext cx="84124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x − x̄</a:t>
            </a:r>
          </a:p>
        </p:txBody>
      </p:sp>
      <p:sp>
        <p:nvSpPr>
          <p:cNvPr id="16" name="Var table 1-4"/>
          <p:cNvSpPr/>
          <p:nvPr/>
        </p:nvSpPr>
        <p:spPr>
          <a:xfrm>
            <a:off x="3474720" y="1234440"/>
            <a:ext cx="120700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Var table text 1-4"/>
          <p:cNvSpPr txBox="1"/>
          <p:nvPr/>
        </p:nvSpPr>
        <p:spPr>
          <a:xfrm>
            <a:off x="3566160" y="1234440"/>
            <a:ext cx="102412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(x − x̄)²</a:t>
            </a:r>
          </a:p>
        </p:txBody>
      </p:sp>
      <p:sp>
        <p:nvSpPr>
          <p:cNvPr id="18" name="Var table 2-1"/>
          <p:cNvSpPr/>
          <p:nvPr/>
        </p:nvSpPr>
        <p:spPr>
          <a:xfrm>
            <a:off x="457200" y="1609344"/>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Var table text 2-1"/>
          <p:cNvSpPr txBox="1"/>
          <p:nvPr/>
        </p:nvSpPr>
        <p:spPr>
          <a:xfrm>
            <a:off x="548640" y="1609344"/>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1</a:t>
            </a:r>
          </a:p>
        </p:txBody>
      </p:sp>
      <p:sp>
        <p:nvSpPr>
          <p:cNvPr id="20" name="Var table 2-2"/>
          <p:cNvSpPr/>
          <p:nvPr/>
        </p:nvSpPr>
        <p:spPr>
          <a:xfrm>
            <a:off x="1371600" y="1609344"/>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Var table text 2-2"/>
          <p:cNvSpPr txBox="1"/>
          <p:nvPr/>
        </p:nvSpPr>
        <p:spPr>
          <a:xfrm>
            <a:off x="1463040" y="1609344"/>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110</a:t>
            </a:r>
          </a:p>
        </p:txBody>
      </p:sp>
      <p:sp>
        <p:nvSpPr>
          <p:cNvPr id="22" name="Var table 2-3"/>
          <p:cNvSpPr/>
          <p:nvPr/>
        </p:nvSpPr>
        <p:spPr>
          <a:xfrm>
            <a:off x="2423160" y="1609344"/>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Var table text 2-3"/>
          <p:cNvSpPr txBox="1"/>
          <p:nvPr/>
        </p:nvSpPr>
        <p:spPr>
          <a:xfrm>
            <a:off x="2514600" y="1609344"/>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30</a:t>
            </a:r>
          </a:p>
        </p:txBody>
      </p:sp>
      <p:sp>
        <p:nvSpPr>
          <p:cNvPr id="24" name="Var table 2-4"/>
          <p:cNvSpPr/>
          <p:nvPr/>
        </p:nvSpPr>
        <p:spPr>
          <a:xfrm>
            <a:off x="3474720" y="1609344"/>
            <a:ext cx="12070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Var table text 2-4"/>
          <p:cNvSpPr txBox="1"/>
          <p:nvPr/>
        </p:nvSpPr>
        <p:spPr>
          <a:xfrm>
            <a:off x="3566160" y="1609344"/>
            <a:ext cx="10241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900</a:t>
            </a:r>
          </a:p>
        </p:txBody>
      </p:sp>
      <p:sp>
        <p:nvSpPr>
          <p:cNvPr id="26" name="Var table 3-1"/>
          <p:cNvSpPr/>
          <p:nvPr/>
        </p:nvSpPr>
        <p:spPr>
          <a:xfrm>
            <a:off x="457200" y="1984248"/>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Var table text 3-1"/>
          <p:cNvSpPr txBox="1"/>
          <p:nvPr/>
        </p:nvSpPr>
        <p:spPr>
          <a:xfrm>
            <a:off x="548640" y="1984248"/>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2</a:t>
            </a:r>
          </a:p>
        </p:txBody>
      </p:sp>
      <p:sp>
        <p:nvSpPr>
          <p:cNvPr id="28" name="Var table 3-2"/>
          <p:cNvSpPr/>
          <p:nvPr/>
        </p:nvSpPr>
        <p:spPr>
          <a:xfrm>
            <a:off x="1371600" y="1984248"/>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Var table text 3-2"/>
          <p:cNvSpPr txBox="1"/>
          <p:nvPr/>
        </p:nvSpPr>
        <p:spPr>
          <a:xfrm>
            <a:off x="1463040" y="1984248"/>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100</a:t>
            </a:r>
          </a:p>
        </p:txBody>
      </p:sp>
      <p:sp>
        <p:nvSpPr>
          <p:cNvPr id="30" name="Var table 3-3"/>
          <p:cNvSpPr/>
          <p:nvPr/>
        </p:nvSpPr>
        <p:spPr>
          <a:xfrm>
            <a:off x="2423160" y="1984248"/>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Var table text 3-3"/>
          <p:cNvSpPr txBox="1"/>
          <p:nvPr/>
        </p:nvSpPr>
        <p:spPr>
          <a:xfrm>
            <a:off x="2514600" y="1984248"/>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20</a:t>
            </a:r>
          </a:p>
        </p:txBody>
      </p:sp>
      <p:sp>
        <p:nvSpPr>
          <p:cNvPr id="32" name="Var table 3-4"/>
          <p:cNvSpPr/>
          <p:nvPr/>
        </p:nvSpPr>
        <p:spPr>
          <a:xfrm>
            <a:off x="3474720" y="1984248"/>
            <a:ext cx="12070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Var table text 3-4"/>
          <p:cNvSpPr txBox="1"/>
          <p:nvPr/>
        </p:nvSpPr>
        <p:spPr>
          <a:xfrm>
            <a:off x="3566160" y="1984248"/>
            <a:ext cx="10241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400</a:t>
            </a:r>
          </a:p>
        </p:txBody>
      </p:sp>
      <p:sp>
        <p:nvSpPr>
          <p:cNvPr id="34" name="Var table 4-1"/>
          <p:cNvSpPr/>
          <p:nvPr/>
        </p:nvSpPr>
        <p:spPr>
          <a:xfrm>
            <a:off x="457200" y="2359152"/>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Var table text 4-1"/>
          <p:cNvSpPr txBox="1"/>
          <p:nvPr/>
        </p:nvSpPr>
        <p:spPr>
          <a:xfrm>
            <a:off x="548640" y="2359152"/>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3</a:t>
            </a:r>
          </a:p>
        </p:txBody>
      </p:sp>
      <p:sp>
        <p:nvSpPr>
          <p:cNvPr id="36" name="Var table 4-2"/>
          <p:cNvSpPr/>
          <p:nvPr/>
        </p:nvSpPr>
        <p:spPr>
          <a:xfrm>
            <a:off x="1371600" y="2359152"/>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Var table text 4-2"/>
          <p:cNvSpPr txBox="1"/>
          <p:nvPr/>
        </p:nvSpPr>
        <p:spPr>
          <a:xfrm>
            <a:off x="1463040" y="2359152"/>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80</a:t>
            </a:r>
          </a:p>
        </p:txBody>
      </p:sp>
      <p:sp>
        <p:nvSpPr>
          <p:cNvPr id="38" name="Var table 4-3"/>
          <p:cNvSpPr/>
          <p:nvPr/>
        </p:nvSpPr>
        <p:spPr>
          <a:xfrm>
            <a:off x="2423160" y="2359152"/>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Var table text 4-3"/>
          <p:cNvSpPr txBox="1"/>
          <p:nvPr/>
        </p:nvSpPr>
        <p:spPr>
          <a:xfrm>
            <a:off x="2514600" y="2359152"/>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0</a:t>
            </a:r>
          </a:p>
        </p:txBody>
      </p:sp>
      <p:sp>
        <p:nvSpPr>
          <p:cNvPr id="40" name="Var table 4-4"/>
          <p:cNvSpPr/>
          <p:nvPr/>
        </p:nvSpPr>
        <p:spPr>
          <a:xfrm>
            <a:off x="3474720" y="2359152"/>
            <a:ext cx="12070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Var table text 4-4"/>
          <p:cNvSpPr txBox="1"/>
          <p:nvPr/>
        </p:nvSpPr>
        <p:spPr>
          <a:xfrm>
            <a:off x="3566160" y="2359152"/>
            <a:ext cx="10241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0</a:t>
            </a:r>
          </a:p>
        </p:txBody>
      </p:sp>
      <p:sp>
        <p:nvSpPr>
          <p:cNvPr id="42" name="Var table 5-1"/>
          <p:cNvSpPr/>
          <p:nvPr/>
        </p:nvSpPr>
        <p:spPr>
          <a:xfrm>
            <a:off x="457200" y="2734056"/>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Var table text 5-1"/>
          <p:cNvSpPr txBox="1"/>
          <p:nvPr/>
        </p:nvSpPr>
        <p:spPr>
          <a:xfrm>
            <a:off x="548640" y="2734056"/>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4</a:t>
            </a:r>
          </a:p>
        </p:txBody>
      </p:sp>
      <p:sp>
        <p:nvSpPr>
          <p:cNvPr id="44" name="Var table 5-2"/>
          <p:cNvSpPr/>
          <p:nvPr/>
        </p:nvSpPr>
        <p:spPr>
          <a:xfrm>
            <a:off x="1371600" y="2734056"/>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Var table text 5-2"/>
          <p:cNvSpPr txBox="1"/>
          <p:nvPr/>
        </p:nvSpPr>
        <p:spPr>
          <a:xfrm>
            <a:off x="1463040" y="2734056"/>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70</a:t>
            </a:r>
          </a:p>
        </p:txBody>
      </p:sp>
      <p:sp>
        <p:nvSpPr>
          <p:cNvPr id="46" name="Var table 5-3"/>
          <p:cNvSpPr/>
          <p:nvPr/>
        </p:nvSpPr>
        <p:spPr>
          <a:xfrm>
            <a:off x="2423160" y="2734056"/>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Var table text 5-3"/>
          <p:cNvSpPr txBox="1"/>
          <p:nvPr/>
        </p:nvSpPr>
        <p:spPr>
          <a:xfrm>
            <a:off x="2514600" y="2734056"/>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48" name="Var table 5-4"/>
          <p:cNvSpPr/>
          <p:nvPr/>
        </p:nvSpPr>
        <p:spPr>
          <a:xfrm>
            <a:off x="3474720" y="2734056"/>
            <a:ext cx="12070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Var table text 5-4"/>
          <p:cNvSpPr txBox="1"/>
          <p:nvPr/>
        </p:nvSpPr>
        <p:spPr>
          <a:xfrm>
            <a:off x="3566160" y="2734056"/>
            <a:ext cx="10241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100</a:t>
            </a:r>
          </a:p>
        </p:txBody>
      </p:sp>
      <p:sp>
        <p:nvSpPr>
          <p:cNvPr id="50" name="Var table 6-1"/>
          <p:cNvSpPr/>
          <p:nvPr/>
        </p:nvSpPr>
        <p:spPr>
          <a:xfrm>
            <a:off x="457200" y="3108960"/>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Var table text 6-1"/>
          <p:cNvSpPr txBox="1"/>
          <p:nvPr/>
        </p:nvSpPr>
        <p:spPr>
          <a:xfrm>
            <a:off x="548640" y="3108960"/>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5</a:t>
            </a:r>
          </a:p>
        </p:txBody>
      </p:sp>
      <p:sp>
        <p:nvSpPr>
          <p:cNvPr id="52" name="Var table 6-2"/>
          <p:cNvSpPr/>
          <p:nvPr/>
        </p:nvSpPr>
        <p:spPr>
          <a:xfrm>
            <a:off x="1371600" y="3108960"/>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Var table text 6-2"/>
          <p:cNvSpPr txBox="1"/>
          <p:nvPr/>
        </p:nvSpPr>
        <p:spPr>
          <a:xfrm>
            <a:off x="1463040" y="3108960"/>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54" name="Var table 6-3"/>
          <p:cNvSpPr/>
          <p:nvPr/>
        </p:nvSpPr>
        <p:spPr>
          <a:xfrm>
            <a:off x="2423160" y="3108960"/>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Var table text 6-3"/>
          <p:cNvSpPr txBox="1"/>
          <p:nvPr/>
        </p:nvSpPr>
        <p:spPr>
          <a:xfrm>
            <a:off x="2514600" y="3108960"/>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56" name="Var table 6-4"/>
          <p:cNvSpPr/>
          <p:nvPr/>
        </p:nvSpPr>
        <p:spPr>
          <a:xfrm>
            <a:off x="3474720" y="3108960"/>
            <a:ext cx="12070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Var table text 6-4"/>
          <p:cNvSpPr txBox="1"/>
          <p:nvPr/>
        </p:nvSpPr>
        <p:spPr>
          <a:xfrm>
            <a:off x="3566160" y="3108960"/>
            <a:ext cx="10241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1,600</a:t>
            </a:r>
          </a:p>
        </p:txBody>
      </p:sp>
      <p:sp>
        <p:nvSpPr>
          <p:cNvPr id="58" name="Var table 7-1"/>
          <p:cNvSpPr/>
          <p:nvPr/>
        </p:nvSpPr>
        <p:spPr>
          <a:xfrm>
            <a:off x="457200" y="3483864"/>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Var table text 7-1"/>
          <p:cNvSpPr txBox="1"/>
          <p:nvPr/>
        </p:nvSpPr>
        <p:spPr>
          <a:xfrm>
            <a:off x="548640" y="3483864"/>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Sum</a:t>
            </a:r>
          </a:p>
        </p:txBody>
      </p:sp>
      <p:sp>
        <p:nvSpPr>
          <p:cNvPr id="60" name="Var table 7-2"/>
          <p:cNvSpPr/>
          <p:nvPr/>
        </p:nvSpPr>
        <p:spPr>
          <a:xfrm>
            <a:off x="1371600" y="3483864"/>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Var table text 7-2"/>
          <p:cNvSpPr txBox="1"/>
          <p:nvPr/>
        </p:nvSpPr>
        <p:spPr>
          <a:xfrm>
            <a:off x="1463040" y="3483864"/>
            <a:ext cx="84124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400</a:t>
            </a:r>
          </a:p>
        </p:txBody>
      </p:sp>
      <p:sp>
        <p:nvSpPr>
          <p:cNvPr id="62" name="Var table 7-3"/>
          <p:cNvSpPr/>
          <p:nvPr/>
        </p:nvSpPr>
        <p:spPr>
          <a:xfrm>
            <a:off x="2423160" y="3483864"/>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Var table text 7-3"/>
          <p:cNvSpPr txBox="1"/>
          <p:nvPr/>
        </p:nvSpPr>
        <p:spPr>
          <a:xfrm>
            <a:off x="2514600" y="3483864"/>
            <a:ext cx="84124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0</a:t>
            </a:r>
          </a:p>
        </p:txBody>
      </p:sp>
      <p:sp>
        <p:nvSpPr>
          <p:cNvPr id="64" name="Var table 7-4"/>
          <p:cNvSpPr/>
          <p:nvPr/>
        </p:nvSpPr>
        <p:spPr>
          <a:xfrm>
            <a:off x="3474720" y="3483864"/>
            <a:ext cx="12070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Var table text 7-4"/>
          <p:cNvSpPr txBox="1"/>
          <p:nvPr/>
        </p:nvSpPr>
        <p:spPr>
          <a:xfrm>
            <a:off x="3566160" y="3483864"/>
            <a:ext cx="102412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3,000</a:t>
            </a:r>
          </a:p>
        </p:txBody>
      </p:sp>
      <p:sp>
        <p:nvSpPr>
          <p:cNvPr id="66" name="Var formula caption bar"/>
          <p:cNvSpPr/>
          <p:nvPr/>
        </p:nvSpPr>
        <p:spPr>
          <a:xfrm>
            <a:off x="4937760" y="1234440"/>
            <a:ext cx="37490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Var formula caption"/>
          <p:cNvSpPr txBox="1"/>
          <p:nvPr/>
        </p:nvSpPr>
        <p:spPr>
          <a:xfrm>
            <a:off x="5047488" y="1234440"/>
            <a:ext cx="35295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Variance and standard deviation</a:t>
            </a:r>
          </a:p>
        </p:txBody>
      </p:sp>
      <p:sp>
        <p:nvSpPr>
          <p:cNvPr id="68" name="Var formula box"/>
          <p:cNvSpPr/>
          <p:nvPr/>
        </p:nvSpPr>
        <p:spPr>
          <a:xfrm>
            <a:off x="4937760" y="1508760"/>
            <a:ext cx="3749040" cy="9601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Var formula code"/>
          <p:cNvSpPr txBox="1"/>
          <p:nvPr/>
        </p:nvSpPr>
        <p:spPr>
          <a:xfrm>
            <a:off x="5074920" y="1600200"/>
            <a:ext cx="3474720" cy="77724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x̄  = 400 / 5 = 80</a:t>
            </a:r>
          </a:p>
          <a:p>
            <a:pPr algn="l">
              <a:spcAft>
                <a:spcPts val="0"/>
              </a:spcAft>
            </a:pPr>
            <a:r>
              <a:rPr sz="1200" b="0" lang="en-GB">
                <a:solidFill>
                  <a:schemeClr val="bg1"/>
                </a:solidFill>
                <a:latin typeface="Consolas"/>
              </a:rPr>
              <a:t>s² = 3,000 / (5 − 1) = 750</a:t>
            </a:r>
          </a:p>
          <a:p>
            <a:pPr algn="l">
              <a:spcAft>
                <a:spcPts val="0"/>
              </a:spcAft>
            </a:pPr>
            <a:r>
              <a:rPr sz="1200" b="0" lang="en-GB">
                <a:solidFill>
                  <a:schemeClr val="bg1"/>
                </a:solidFill>
                <a:latin typeface="Consolas"/>
              </a:rPr>
              <a:t>s  = √750 = 27.4 bars</a:t>
            </a:r>
          </a:p>
        </p:txBody>
      </p:sp>
      <p:sp>
        <p:nvSpPr>
          <p:cNvPr id="70" name="Var rows row 1"/>
          <p:cNvSpPr/>
          <p:nvPr/>
        </p:nvSpPr>
        <p:spPr>
          <a:xfrm>
            <a:off x="4937760" y="2606040"/>
            <a:ext cx="374904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Var rows bar 1"/>
          <p:cNvSpPr/>
          <p:nvPr/>
        </p:nvSpPr>
        <p:spPr>
          <a:xfrm>
            <a:off x="4937760" y="2606040"/>
            <a:ext cx="64008" cy="5303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Var rows text 1"/>
          <p:cNvSpPr txBox="1"/>
          <p:nvPr/>
        </p:nvSpPr>
        <p:spPr>
          <a:xfrm>
            <a:off x="5138928" y="2606040"/>
            <a:ext cx="3456432" cy="530352"/>
          </a:xfrm>
          <a:prstGeom prst="rect">
            <a:avLst/>
          </a:prstGeom>
          <a:noFill/>
        </p:spPr>
        <p:txBody>
          <a:bodyPr wrap="square" lIns="0" rIns="0" tIns="0" bIns="0" anchor="ctr">
            <a:noAutofit/>
          </a:bodyPr>
          <a:lstStyle/>
          <a:p>
            <a:pPr algn="l">
              <a:spcAft>
                <a:spcPts val="400"/>
              </a:spcAft>
            </a:pPr>
            <a:r>
              <a:rPr sz="1200" b="1" lang="en-GB">
                <a:solidFill>
                  <a:schemeClr val="tx2"/>
                </a:solidFill>
              </a:rPr>
              <a:t>Variance </a:t>
            </a:r>
            <a:r>
              <a:rPr sz="1200" b="0" lang="en-GB">
                <a:solidFill>
                  <a:schemeClr val="tx1"/>
                </a:solidFill>
              </a:rPr>
              <a:t>is in squared units (bars²)</a:t>
            </a:r>
          </a:p>
        </p:txBody>
      </p:sp>
      <p:sp>
        <p:nvSpPr>
          <p:cNvPr id="73" name="Var rows row 2"/>
          <p:cNvSpPr/>
          <p:nvPr/>
        </p:nvSpPr>
        <p:spPr>
          <a:xfrm>
            <a:off x="4937760" y="3209544"/>
            <a:ext cx="374904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Var rows bar 2"/>
          <p:cNvSpPr/>
          <p:nvPr/>
        </p:nvSpPr>
        <p:spPr>
          <a:xfrm>
            <a:off x="4937760" y="3209544"/>
            <a:ext cx="64008" cy="5303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Var rows text 2"/>
          <p:cNvSpPr txBox="1"/>
          <p:nvPr/>
        </p:nvSpPr>
        <p:spPr>
          <a:xfrm>
            <a:off x="5138928" y="3209544"/>
            <a:ext cx="3456432" cy="530352"/>
          </a:xfrm>
          <a:prstGeom prst="rect">
            <a:avLst/>
          </a:prstGeom>
          <a:noFill/>
        </p:spPr>
        <p:txBody>
          <a:bodyPr wrap="square" lIns="0" rIns="0" tIns="0" bIns="0" anchor="ctr">
            <a:noAutofit/>
          </a:bodyPr>
          <a:lstStyle/>
          <a:p>
            <a:pPr algn="l">
              <a:spcAft>
                <a:spcPts val="400"/>
              </a:spcAft>
            </a:pPr>
            <a:r>
              <a:rPr sz="1200" b="1" lang="en-GB">
                <a:solidFill>
                  <a:schemeClr val="tx2"/>
                </a:solidFill>
              </a:rPr>
              <a:t>Standard deviation </a:t>
            </a:r>
            <a:r>
              <a:rPr sz="1200" b="0" lang="en-GB">
                <a:solidFill>
                  <a:schemeClr val="tx1"/>
                </a:solidFill>
              </a:rPr>
              <a:t>is in bars: the typical distance from the mean</a:t>
            </a:r>
          </a:p>
        </p:txBody>
      </p:sp>
      <p:sp>
        <p:nvSpPr>
          <p:cNvPr id="76" name="Var n1 box"/>
          <p:cNvSpPr/>
          <p:nvPr/>
        </p:nvSpPr>
        <p:spPr>
          <a:xfrm>
            <a:off x="457200" y="3977640"/>
            <a:ext cx="8229600" cy="777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7" name="Icon Var n1" descr=""/>
          <p:cNvPicPr>
            <a:picLocks noChangeAspect="1"/>
          </p:cNvPicPr>
          <p:nvPr/>
        </p:nvPicPr>
        <p:blipFill>
          <a:blip r:embed="rId3"/>
          <a:stretch>
            <a:fillRect/>
          </a:stretch>
        </p:blipFill>
        <p:spPr>
          <a:xfrm>
            <a:off x="658368" y="4183380"/>
            <a:ext cx="365760" cy="365760"/>
          </a:xfrm>
          <a:prstGeom prst="rect">
            <a:avLst/>
          </a:prstGeom>
        </p:spPr>
      </p:pic>
      <p:sp>
        <p:nvSpPr>
          <p:cNvPr id="78" name="Var n1 text"/>
          <p:cNvSpPr txBox="1"/>
          <p:nvPr/>
        </p:nvSpPr>
        <p:spPr>
          <a:xfrm>
            <a:off x="1207008" y="3977640"/>
            <a:ext cx="7315200" cy="777240"/>
          </a:xfrm>
          <a:prstGeom prst="rect">
            <a:avLst/>
          </a:prstGeom>
          <a:noFill/>
        </p:spPr>
        <p:txBody>
          <a:bodyPr wrap="square" lIns="0" rIns="0" tIns="0" bIns="0" anchor="ctr">
            <a:noAutofit/>
          </a:bodyPr>
          <a:lstStyle/>
          <a:p>
            <a:pPr algn="l">
              <a:spcAft>
                <a:spcPts val="400"/>
              </a:spcAft>
            </a:pPr>
            <a:r>
              <a:rPr sz="1200" b="1" lang="en-GB">
                <a:solidFill>
                  <a:schemeClr val="bg1"/>
                </a:solidFill>
              </a:rPr>
              <a:t>Why n − 1? </a:t>
            </a:r>
            <a:r>
              <a:rPr sz="1200" b="0" lang="en-GB">
                <a:solidFill>
                  <a:schemeClr val="bg1"/>
                </a:solidFill>
              </a:rPr>
              <a:t>deviations from the sample mean are a little too small; dividing by n − 1 corrects this. polars and pandas do it by default.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Same mean, different spread</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f_spread.png" descr="Three rows of five dots around a dashed line at 80: kiosk A between 75 and 85, our kiosk between 40 and 110, kiosk B between 40 and 120"/>
          <p:cNvPicPr>
            <a:picLocks noChangeAspect="1"/>
          </p:cNvPicPr>
          <p:nvPr/>
        </p:nvPicPr>
        <p:blipFill>
          <a:blip r:embed="rId3"/>
          <a:stretch>
            <a:fillRect/>
          </a:stretch>
        </p:blipFill>
        <p:spPr>
          <a:xfrm>
            <a:off x="457200" y="1234440"/>
            <a:ext cx="4389120" cy="2395728"/>
          </a:xfrm>
          <a:prstGeom prst="rect">
            <a:avLst/>
          </a:prstGeom>
        </p:spPr>
      </p:pic>
      <p:sp>
        <p:nvSpPr>
          <p:cNvPr id="11" name="SD stat box 1"/>
          <p:cNvSpPr/>
          <p:nvPr/>
        </p:nvSpPr>
        <p:spPr>
          <a:xfrm>
            <a:off x="4983480" y="1234440"/>
            <a:ext cx="370332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D stat 1 bar"/>
          <p:cNvSpPr/>
          <p:nvPr/>
        </p:nvSpPr>
        <p:spPr>
          <a:xfrm>
            <a:off x="4983480" y="1234440"/>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D stat 1 figure"/>
          <p:cNvSpPr txBox="1"/>
          <p:nvPr/>
        </p:nvSpPr>
        <p:spPr>
          <a:xfrm>
            <a:off x="5166360" y="1234440"/>
            <a:ext cx="123444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3.8</a:t>
            </a:r>
          </a:p>
        </p:txBody>
      </p:sp>
      <p:sp>
        <p:nvSpPr>
          <p:cNvPr id="14" name="SD stat 1 label"/>
          <p:cNvSpPr txBox="1"/>
          <p:nvPr/>
        </p:nvSpPr>
        <p:spPr>
          <a:xfrm>
            <a:off x="6400800" y="1234440"/>
            <a:ext cx="22402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sd of kiosk A, weeks of 75, 78, 80, 82, 85 bars</a:t>
            </a:r>
          </a:p>
        </p:txBody>
      </p:sp>
      <p:sp>
        <p:nvSpPr>
          <p:cNvPr id="15" name="SD stat box 2"/>
          <p:cNvSpPr/>
          <p:nvPr/>
        </p:nvSpPr>
        <p:spPr>
          <a:xfrm>
            <a:off x="4983480" y="2039112"/>
            <a:ext cx="370332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D stat 2 bar"/>
          <p:cNvSpPr/>
          <p:nvPr/>
        </p:nvSpPr>
        <p:spPr>
          <a:xfrm>
            <a:off x="4983480" y="2039112"/>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D stat 2 figure"/>
          <p:cNvSpPr txBox="1"/>
          <p:nvPr/>
        </p:nvSpPr>
        <p:spPr>
          <a:xfrm>
            <a:off x="5166360" y="2039112"/>
            <a:ext cx="123444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27.4</a:t>
            </a:r>
          </a:p>
        </p:txBody>
      </p:sp>
      <p:sp>
        <p:nvSpPr>
          <p:cNvPr id="18" name="SD stat 2 label"/>
          <p:cNvSpPr txBox="1"/>
          <p:nvPr/>
        </p:nvSpPr>
        <p:spPr>
          <a:xfrm>
            <a:off x="6400800" y="2039112"/>
            <a:ext cx="22402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sd of our kiosk, weeks of 110, 100, 80, 70, 40 bars</a:t>
            </a:r>
          </a:p>
        </p:txBody>
      </p:sp>
      <p:sp>
        <p:nvSpPr>
          <p:cNvPr id="19" name="SD stat box 3"/>
          <p:cNvSpPr/>
          <p:nvPr/>
        </p:nvSpPr>
        <p:spPr>
          <a:xfrm>
            <a:off x="4983480" y="2843784"/>
            <a:ext cx="370332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D stat 3 bar"/>
          <p:cNvSpPr/>
          <p:nvPr/>
        </p:nvSpPr>
        <p:spPr>
          <a:xfrm>
            <a:off x="4983480" y="2843784"/>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D stat 3 figure"/>
          <p:cNvSpPr txBox="1"/>
          <p:nvPr/>
        </p:nvSpPr>
        <p:spPr>
          <a:xfrm>
            <a:off x="5166360" y="2843784"/>
            <a:ext cx="123444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31.6</a:t>
            </a:r>
          </a:p>
        </p:txBody>
      </p:sp>
      <p:sp>
        <p:nvSpPr>
          <p:cNvPr id="22" name="SD stat 3 label"/>
          <p:cNvSpPr txBox="1"/>
          <p:nvPr/>
        </p:nvSpPr>
        <p:spPr>
          <a:xfrm>
            <a:off x="6400800" y="2843784"/>
            <a:ext cx="22402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sd of kiosk B, weeks of 40, 60, 80, 100, 120 bars</a:t>
            </a:r>
          </a:p>
        </p:txBody>
      </p:sp>
      <p:sp>
        <p:nvSpPr>
          <p:cNvPr id="23" name="SD manager box"/>
          <p:cNvSpPr/>
          <p:nvPr/>
        </p:nvSpPr>
        <p:spPr>
          <a:xfrm>
            <a:off x="457200" y="393192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Icon SD manager" descr=""/>
          <p:cNvPicPr>
            <a:picLocks noChangeAspect="1"/>
          </p:cNvPicPr>
          <p:nvPr/>
        </p:nvPicPr>
        <p:blipFill>
          <a:blip r:embed="rId4"/>
          <a:stretch>
            <a:fillRect/>
          </a:stretch>
        </p:blipFill>
        <p:spPr>
          <a:xfrm>
            <a:off x="658368" y="4114800"/>
            <a:ext cx="365760" cy="365760"/>
          </a:xfrm>
          <a:prstGeom prst="rect">
            <a:avLst/>
          </a:prstGeom>
        </p:spPr>
      </p:pic>
      <p:sp>
        <p:nvSpPr>
          <p:cNvPr id="25" name="SD manager text"/>
          <p:cNvSpPr txBox="1"/>
          <p:nvPr/>
        </p:nvSpPr>
        <p:spPr>
          <a:xfrm>
            <a:off x="1207008" y="3931920"/>
            <a:ext cx="7315200" cy="731520"/>
          </a:xfrm>
          <a:prstGeom prst="rect">
            <a:avLst/>
          </a:prstGeom>
          <a:noFill/>
        </p:spPr>
        <p:txBody>
          <a:bodyPr wrap="square" lIns="0" rIns="0" tIns="0" bIns="0" anchor="ctr">
            <a:noAutofit/>
          </a:bodyPr>
          <a:lstStyle/>
          <a:p>
            <a:pPr algn="l">
              <a:spcAft>
                <a:spcPts val="400"/>
              </a:spcAft>
            </a:pPr>
            <a:r>
              <a:rPr sz="1200" b="1" lang="en-GB">
                <a:solidFill>
                  <a:schemeClr val="bg1"/>
                </a:solidFill>
              </a:rPr>
              <a:t>For the manager: </a:t>
            </a:r>
            <a:r>
              <a:rPr sz="1200" b="0" lang="en-GB">
                <a:solidFill>
                  <a:schemeClr val="bg1"/>
                </a:solidFill>
              </a:rPr>
              <a:t>all three sell 80 bars a week, but kiosk B needs much more safety stock and its forecasts are less certain.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Standard error: how precise is the mean?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E formula box"/>
          <p:cNvSpPr/>
          <p:nvPr/>
        </p:nvSpPr>
        <p:spPr>
          <a:xfrm>
            <a:off x="457200" y="12344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E formula code"/>
          <p:cNvSpPr txBox="1"/>
          <p:nvPr/>
        </p:nvSpPr>
        <p:spPr>
          <a:xfrm>
            <a:off x="594360" y="1325880"/>
            <a:ext cx="7955280" cy="36576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SE = s / √n          rough 95% interval ≈ x̄ ± 2 · SE</a:t>
            </a:r>
          </a:p>
        </p:txBody>
      </p:sp>
      <p:sp>
        <p:nvSpPr>
          <p:cNvPr id="12" name="SE box 1"/>
          <p:cNvSpPr/>
          <p:nvPr/>
        </p:nvSpPr>
        <p:spPr>
          <a:xfrm>
            <a:off x="457200" y="1920240"/>
            <a:ext cx="265176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E bar 1"/>
          <p:cNvSpPr/>
          <p:nvPr/>
        </p:nvSpPr>
        <p:spPr>
          <a:xfrm>
            <a:off x="457200" y="1920240"/>
            <a:ext cx="64008" cy="11430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SE fig 1"/>
          <p:cNvSpPr txBox="1"/>
          <p:nvPr/>
        </p:nvSpPr>
        <p:spPr>
          <a:xfrm>
            <a:off x="640080" y="1965960"/>
            <a:ext cx="2377440" cy="502920"/>
          </a:xfrm>
          <a:prstGeom prst="rect">
            <a:avLst/>
          </a:prstGeom>
          <a:noFill/>
        </p:spPr>
        <p:txBody>
          <a:bodyPr wrap="square" lIns="0" rIns="0" tIns="0" bIns="0" anchor="ctr">
            <a:noAutofit/>
          </a:bodyPr>
          <a:lstStyle/>
          <a:p>
            <a:pPr algn="l">
              <a:spcAft>
                <a:spcPts val="400"/>
              </a:spcAft>
            </a:pPr>
            <a:r>
              <a:rPr sz="2400" b="1" lang="en-GB">
                <a:solidFill>
                  <a:schemeClr val="tx2"/>
                </a:solidFill>
                <a:latin typeface="+mj-lt"/>
              </a:rPr>
              <a:t>12.2</a:t>
            </a:r>
          </a:p>
        </p:txBody>
      </p:sp>
      <p:sp>
        <p:nvSpPr>
          <p:cNvPr id="15" name="SE lab 1"/>
          <p:cNvSpPr txBox="1"/>
          <p:nvPr/>
        </p:nvSpPr>
        <p:spPr>
          <a:xfrm>
            <a:off x="640080" y="2468880"/>
            <a:ext cx="2377440" cy="548640"/>
          </a:xfrm>
          <a:prstGeom prst="rect">
            <a:avLst/>
          </a:prstGeom>
          <a:noFill/>
        </p:spPr>
        <p:txBody>
          <a:bodyPr wrap="square" lIns="0" rIns="0" tIns="0" bIns="0" anchor="t">
            <a:noAutofit/>
          </a:bodyPr>
          <a:lstStyle/>
          <a:p>
            <a:pPr algn="l">
              <a:spcAft>
                <a:spcPts val="400"/>
              </a:spcAft>
            </a:pPr>
            <a:r>
              <a:rPr sz="1200" b="0" lang="en-GB">
                <a:solidFill>
                  <a:schemeClr val="tx1"/>
                </a:solidFill>
              </a:rPr>
              <a:t>SE with our 5 weeks: 27.4 / √5, in bars</a:t>
            </a:r>
          </a:p>
        </p:txBody>
      </p:sp>
      <p:sp>
        <p:nvSpPr>
          <p:cNvPr id="16" name="SE box 2"/>
          <p:cNvSpPr/>
          <p:nvPr/>
        </p:nvSpPr>
        <p:spPr>
          <a:xfrm>
            <a:off x="3246120" y="1920240"/>
            <a:ext cx="265176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E bar 2"/>
          <p:cNvSpPr/>
          <p:nvPr/>
        </p:nvSpPr>
        <p:spPr>
          <a:xfrm>
            <a:off x="3246120" y="1920240"/>
            <a:ext cx="64008" cy="11430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SE fig 2"/>
          <p:cNvSpPr txBox="1"/>
          <p:nvPr/>
        </p:nvSpPr>
        <p:spPr>
          <a:xfrm>
            <a:off x="3429000" y="1965960"/>
            <a:ext cx="2377440" cy="502920"/>
          </a:xfrm>
          <a:prstGeom prst="rect">
            <a:avLst/>
          </a:prstGeom>
          <a:noFill/>
        </p:spPr>
        <p:txBody>
          <a:bodyPr wrap="square" lIns="0" rIns="0" tIns="0" bIns="0" anchor="ctr">
            <a:noAutofit/>
          </a:bodyPr>
          <a:lstStyle/>
          <a:p>
            <a:pPr algn="l">
              <a:spcAft>
                <a:spcPts val="400"/>
              </a:spcAft>
            </a:pPr>
            <a:r>
              <a:rPr sz="2400" b="1" lang="en-GB">
                <a:solidFill>
                  <a:schemeClr val="tx2"/>
                </a:solidFill>
                <a:latin typeface="+mj-lt"/>
              </a:rPr>
              <a:t>6.1</a:t>
            </a:r>
          </a:p>
        </p:txBody>
      </p:sp>
      <p:sp>
        <p:nvSpPr>
          <p:cNvPr id="19" name="SE lab 2"/>
          <p:cNvSpPr txBox="1"/>
          <p:nvPr/>
        </p:nvSpPr>
        <p:spPr>
          <a:xfrm>
            <a:off x="3429000" y="2468880"/>
            <a:ext cx="2377440" cy="548640"/>
          </a:xfrm>
          <a:prstGeom prst="rect">
            <a:avLst/>
          </a:prstGeom>
          <a:noFill/>
        </p:spPr>
        <p:txBody>
          <a:bodyPr wrap="square" lIns="0" rIns="0" tIns="0" bIns="0" anchor="t">
            <a:noAutofit/>
          </a:bodyPr>
          <a:lstStyle/>
          <a:p>
            <a:pPr algn="l">
              <a:spcAft>
                <a:spcPts val="400"/>
              </a:spcAft>
            </a:pPr>
            <a:r>
              <a:rPr sz="1200" b="0" lang="en-GB">
                <a:solidFill>
                  <a:schemeClr val="tx1"/>
                </a:solidFill>
              </a:rPr>
              <a:t>SE with 20 weeks: 27.4 / √20, in bars</a:t>
            </a:r>
          </a:p>
        </p:txBody>
      </p:sp>
      <p:sp>
        <p:nvSpPr>
          <p:cNvPr id="20" name="SE box 3"/>
          <p:cNvSpPr/>
          <p:nvPr/>
        </p:nvSpPr>
        <p:spPr>
          <a:xfrm>
            <a:off x="6035040" y="1920240"/>
            <a:ext cx="265176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E bar 3"/>
          <p:cNvSpPr/>
          <p:nvPr/>
        </p:nvSpPr>
        <p:spPr>
          <a:xfrm>
            <a:off x="6035040" y="1920240"/>
            <a:ext cx="64008" cy="11430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E fig 3"/>
          <p:cNvSpPr txBox="1"/>
          <p:nvPr/>
        </p:nvSpPr>
        <p:spPr>
          <a:xfrm>
            <a:off x="6217920" y="1965960"/>
            <a:ext cx="2377440" cy="502920"/>
          </a:xfrm>
          <a:prstGeom prst="rect">
            <a:avLst/>
          </a:prstGeom>
          <a:noFill/>
        </p:spPr>
        <p:txBody>
          <a:bodyPr wrap="square" lIns="0" rIns="0" tIns="0" bIns="0" anchor="ctr">
            <a:noAutofit/>
          </a:bodyPr>
          <a:lstStyle/>
          <a:p>
            <a:pPr algn="l">
              <a:spcAft>
                <a:spcPts val="400"/>
              </a:spcAft>
            </a:pPr>
            <a:r>
              <a:rPr sz="2400" b="1" lang="en-GB">
                <a:solidFill>
                  <a:schemeClr val="tx2"/>
                </a:solidFill>
                <a:latin typeface="+mj-lt"/>
              </a:rPr>
              <a:t>55–105</a:t>
            </a:r>
          </a:p>
        </p:txBody>
      </p:sp>
      <p:sp>
        <p:nvSpPr>
          <p:cNvPr id="23" name="SE lab 3"/>
          <p:cNvSpPr txBox="1"/>
          <p:nvPr/>
        </p:nvSpPr>
        <p:spPr>
          <a:xfrm>
            <a:off x="6217920" y="2468880"/>
            <a:ext cx="2377440" cy="548640"/>
          </a:xfrm>
          <a:prstGeom prst="rect">
            <a:avLst/>
          </a:prstGeom>
          <a:noFill/>
        </p:spPr>
        <p:txBody>
          <a:bodyPr wrap="square" lIns="0" rIns="0" tIns="0" bIns="0" anchor="t">
            <a:noAutofit/>
          </a:bodyPr>
          <a:lstStyle/>
          <a:p>
            <a:pPr algn="l">
              <a:spcAft>
                <a:spcPts val="400"/>
              </a:spcAft>
            </a:pPr>
            <a:r>
              <a:rPr sz="1200" b="0" lang="en-GB">
                <a:solidFill>
                  <a:schemeClr val="tx1"/>
                </a:solidFill>
              </a:rPr>
              <a:t>rough 95 % interval for the mean: 80 ± 2 · 12.2 bars</a:t>
            </a:r>
          </a:p>
        </p:txBody>
      </p:sp>
      <p:sp>
        <p:nvSpPr>
          <p:cNvPr id="24" name="SE rows row 1"/>
          <p:cNvSpPr/>
          <p:nvPr/>
        </p:nvSpPr>
        <p:spPr>
          <a:xfrm>
            <a:off x="457200" y="320040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E rows bar 1"/>
          <p:cNvSpPr/>
          <p:nvPr/>
        </p:nvSpPr>
        <p:spPr>
          <a:xfrm>
            <a:off x="457200" y="320040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SE rows text 1"/>
          <p:cNvSpPr txBox="1"/>
          <p:nvPr/>
        </p:nvSpPr>
        <p:spPr>
          <a:xfrm>
            <a:off x="658368" y="3200400"/>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sd = 27.4 </a:t>
            </a:r>
            <a:r>
              <a:rPr sz="1200" b="0" lang="en-GB">
                <a:solidFill>
                  <a:schemeClr val="tx1"/>
                </a:solidFill>
              </a:rPr>
              <a:t>describes the weeks: a single week is typically 27 bars away from 80</a:t>
            </a:r>
          </a:p>
        </p:txBody>
      </p:sp>
      <p:sp>
        <p:nvSpPr>
          <p:cNvPr id="27" name="SE rows row 2"/>
          <p:cNvSpPr/>
          <p:nvPr/>
        </p:nvSpPr>
        <p:spPr>
          <a:xfrm>
            <a:off x="457200" y="372160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SE rows bar 2"/>
          <p:cNvSpPr/>
          <p:nvPr/>
        </p:nvSpPr>
        <p:spPr>
          <a:xfrm>
            <a:off x="457200" y="3721608"/>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E rows text 2"/>
          <p:cNvSpPr txBox="1"/>
          <p:nvPr/>
        </p:nvSpPr>
        <p:spPr>
          <a:xfrm>
            <a:off x="658368" y="3721608"/>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SE = 12.2 </a:t>
            </a:r>
            <a:r>
              <a:rPr sz="1200" b="0" lang="en-GB">
                <a:solidFill>
                  <a:schemeClr val="tx1"/>
                </a:solidFill>
              </a:rPr>
              <a:t>describes the average: it shrinks with √n; four times the weeks, half the SE</a:t>
            </a:r>
          </a:p>
        </p:txBody>
      </p:sp>
      <p:sp>
        <p:nvSpPr>
          <p:cNvPr id="30" name="SE reg box"/>
          <p:cNvSpPr/>
          <p:nvPr/>
        </p:nvSpPr>
        <p:spPr>
          <a:xfrm>
            <a:off x="457200" y="429768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Icon SE reg" descr=""/>
          <p:cNvPicPr>
            <a:picLocks noChangeAspect="1"/>
          </p:cNvPicPr>
          <p:nvPr/>
        </p:nvPicPr>
        <p:blipFill>
          <a:blip r:embed="rId3"/>
          <a:stretch>
            <a:fillRect/>
          </a:stretch>
        </p:blipFill>
        <p:spPr>
          <a:xfrm>
            <a:off x="658368" y="4366260"/>
            <a:ext cx="365760" cy="365760"/>
          </a:xfrm>
          <a:prstGeom prst="rect">
            <a:avLst/>
          </a:prstGeom>
        </p:spPr>
      </p:pic>
      <p:sp>
        <p:nvSpPr>
          <p:cNvPr id="32" name="SE reg text"/>
          <p:cNvSpPr txBox="1"/>
          <p:nvPr/>
        </p:nvSpPr>
        <p:spPr>
          <a:xfrm>
            <a:off x="1207008" y="4297680"/>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In every regression table: </a:t>
            </a:r>
            <a:r>
              <a:rPr sz="1200" b="0" lang="en-GB">
                <a:solidFill>
                  <a:schemeClr val="tx1"/>
                </a:solidFill>
              </a:rPr>
              <a:t>the column 'std err' is the standard error of a coefficient.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3 of 11 · z-scores, normal and standard normal distribution</a:t>
            </a:r>
          </a:p>
        </p:txBody>
      </p:sp>
      <p:sp>
        <p:nvSpPr>
          <p:cNvPr id="3" name="Title 2"/>
          <p:cNvSpPr>
            <a:spLocks noGrp="1"/>
          </p:cNvSpPr>
          <p:nvPr>
            <p:ph type="ctrTitle"/>
          </p:nvPr>
        </p:nvSpPr>
        <p:spPr/>
        <p:txBody>
          <a:bodyPr/>
          <a:lstStyle/>
          <a:p>
            <a:r>
              <a:rPr sz="1600" lang="en-GB"/>
              <a:t>Standardisation and the normal distribution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Standardisation: z-scores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Z formula box"/>
          <p:cNvSpPr/>
          <p:nvPr/>
        </p:nvSpPr>
        <p:spPr>
          <a:xfrm>
            <a:off x="457200" y="12344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Z formula code"/>
          <p:cNvSpPr txBox="1"/>
          <p:nvPr/>
        </p:nvSpPr>
        <p:spPr>
          <a:xfrm>
            <a:off x="594360" y="1325880"/>
            <a:ext cx="7955280" cy="36576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z = (x − x̄) / s        a standardised variable has mean 0 and standard deviation 1</a:t>
            </a:r>
          </a:p>
        </p:txBody>
      </p:sp>
      <p:sp>
        <p:nvSpPr>
          <p:cNvPr id="12" name="Z table 1-1"/>
          <p:cNvSpPr/>
          <p:nvPr/>
        </p:nvSpPr>
        <p:spPr>
          <a:xfrm>
            <a:off x="457200" y="1920240"/>
            <a:ext cx="235000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Z table text 1-1"/>
          <p:cNvSpPr txBox="1"/>
          <p:nvPr/>
        </p:nvSpPr>
        <p:spPr>
          <a:xfrm>
            <a:off x="548640" y="1920240"/>
            <a:ext cx="2167128" cy="411480"/>
          </a:xfrm>
          <a:prstGeom prst="rect">
            <a:avLst/>
          </a:prstGeom>
          <a:noFill/>
        </p:spPr>
        <p:txBody>
          <a:bodyPr wrap="square" lIns="0" rIns="0" tIns="0" bIns="0" anchor="ctr">
            <a:noAutofit/>
          </a:bodyPr>
          <a:lstStyle/>
          <a:p>
            <a:pPr algn="l">
              <a:spcAft>
                <a:spcPts val="400"/>
              </a:spcAft>
            </a:pPr>
            <a:r>
              <a:rPr sz="1250" b="1" lang="en-GB">
                <a:solidFill>
                  <a:schemeClr val="bg1"/>
                </a:solidFill>
              </a:rPr>
              <a:t>Kiosk (spread slide)</a:t>
            </a:r>
          </a:p>
        </p:txBody>
      </p:sp>
      <p:sp>
        <p:nvSpPr>
          <p:cNvPr id="14" name="Z table 1-2"/>
          <p:cNvSpPr/>
          <p:nvPr/>
        </p:nvSpPr>
        <p:spPr>
          <a:xfrm>
            <a:off x="2834640" y="1920240"/>
            <a:ext cx="152704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Z table text 1-2"/>
          <p:cNvSpPr txBox="1"/>
          <p:nvPr/>
        </p:nvSpPr>
        <p:spPr>
          <a:xfrm>
            <a:off x="2926080" y="1920240"/>
            <a:ext cx="1344168" cy="411480"/>
          </a:xfrm>
          <a:prstGeom prst="rect">
            <a:avLst/>
          </a:prstGeom>
          <a:noFill/>
        </p:spPr>
        <p:txBody>
          <a:bodyPr wrap="square" lIns="0" rIns="0" tIns="0" bIns="0" anchor="ctr">
            <a:noAutofit/>
          </a:bodyPr>
          <a:lstStyle/>
          <a:p>
            <a:pPr algn="r">
              <a:spcAft>
                <a:spcPts val="400"/>
              </a:spcAft>
            </a:pPr>
            <a:r>
              <a:rPr sz="1250" b="1" lang="en-GB">
                <a:solidFill>
                  <a:schemeClr val="bg1"/>
                </a:solidFill>
              </a:rPr>
              <a:t>Bars this week</a:t>
            </a:r>
          </a:p>
        </p:txBody>
      </p:sp>
      <p:sp>
        <p:nvSpPr>
          <p:cNvPr id="16" name="Z table 1-3"/>
          <p:cNvSpPr/>
          <p:nvPr/>
        </p:nvSpPr>
        <p:spPr>
          <a:xfrm>
            <a:off x="4389120" y="1920240"/>
            <a:ext cx="125272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Z table text 1-3"/>
          <p:cNvSpPr txBox="1"/>
          <p:nvPr/>
        </p:nvSpPr>
        <p:spPr>
          <a:xfrm>
            <a:off x="4480560" y="1920240"/>
            <a:ext cx="1069848" cy="411480"/>
          </a:xfrm>
          <a:prstGeom prst="rect">
            <a:avLst/>
          </a:prstGeom>
          <a:noFill/>
        </p:spPr>
        <p:txBody>
          <a:bodyPr wrap="square" lIns="0" rIns="0" tIns="0" bIns="0" anchor="ctr">
            <a:noAutofit/>
          </a:bodyPr>
          <a:lstStyle/>
          <a:p>
            <a:pPr algn="r">
              <a:spcAft>
                <a:spcPts val="400"/>
              </a:spcAft>
            </a:pPr>
            <a:r>
              <a:rPr sz="1250" b="1" lang="en-GB">
                <a:solidFill>
                  <a:schemeClr val="bg1"/>
                </a:solidFill>
              </a:rPr>
              <a:t>Mean</a:t>
            </a:r>
          </a:p>
        </p:txBody>
      </p:sp>
      <p:sp>
        <p:nvSpPr>
          <p:cNvPr id="18" name="Z table 1-4"/>
          <p:cNvSpPr/>
          <p:nvPr/>
        </p:nvSpPr>
        <p:spPr>
          <a:xfrm>
            <a:off x="5669280" y="1920240"/>
            <a:ext cx="125272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Z table text 1-4"/>
          <p:cNvSpPr txBox="1"/>
          <p:nvPr/>
        </p:nvSpPr>
        <p:spPr>
          <a:xfrm>
            <a:off x="5760720" y="1920240"/>
            <a:ext cx="1069848" cy="411480"/>
          </a:xfrm>
          <a:prstGeom prst="rect">
            <a:avLst/>
          </a:prstGeom>
          <a:noFill/>
        </p:spPr>
        <p:txBody>
          <a:bodyPr wrap="square" lIns="0" rIns="0" tIns="0" bIns="0" anchor="ctr">
            <a:noAutofit/>
          </a:bodyPr>
          <a:lstStyle/>
          <a:p>
            <a:pPr algn="r">
              <a:spcAft>
                <a:spcPts val="400"/>
              </a:spcAft>
            </a:pPr>
            <a:r>
              <a:rPr sz="1250" b="1" lang="en-GB">
                <a:solidFill>
                  <a:schemeClr val="bg1"/>
                </a:solidFill>
              </a:rPr>
              <a:t>sd</a:t>
            </a:r>
          </a:p>
        </p:txBody>
      </p:sp>
      <p:sp>
        <p:nvSpPr>
          <p:cNvPr id="20" name="Z table 1-5"/>
          <p:cNvSpPr/>
          <p:nvPr/>
        </p:nvSpPr>
        <p:spPr>
          <a:xfrm>
            <a:off x="6949440" y="1920240"/>
            <a:ext cx="170992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Z table text 1-5"/>
          <p:cNvSpPr txBox="1"/>
          <p:nvPr/>
        </p:nvSpPr>
        <p:spPr>
          <a:xfrm>
            <a:off x="7040880" y="1920240"/>
            <a:ext cx="1527048" cy="411480"/>
          </a:xfrm>
          <a:prstGeom prst="rect">
            <a:avLst/>
          </a:prstGeom>
          <a:noFill/>
        </p:spPr>
        <p:txBody>
          <a:bodyPr wrap="square" lIns="0" rIns="0" tIns="0" bIns="0" anchor="ctr">
            <a:noAutofit/>
          </a:bodyPr>
          <a:lstStyle/>
          <a:p>
            <a:pPr algn="r">
              <a:spcAft>
                <a:spcPts val="400"/>
              </a:spcAft>
            </a:pPr>
            <a:r>
              <a:rPr sz="1250" b="1" lang="en-GB">
                <a:solidFill>
                  <a:schemeClr val="bg1"/>
                </a:solidFill>
              </a:rPr>
              <a:t>z</a:t>
            </a:r>
          </a:p>
        </p:txBody>
      </p:sp>
      <p:sp>
        <p:nvSpPr>
          <p:cNvPr id="22" name="Z table 2-1"/>
          <p:cNvSpPr/>
          <p:nvPr/>
        </p:nvSpPr>
        <p:spPr>
          <a:xfrm>
            <a:off x="457200" y="2359152"/>
            <a:ext cx="235000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Z table text 2-1"/>
          <p:cNvSpPr txBox="1"/>
          <p:nvPr/>
        </p:nvSpPr>
        <p:spPr>
          <a:xfrm>
            <a:off x="548640" y="2359152"/>
            <a:ext cx="2167128" cy="411480"/>
          </a:xfrm>
          <a:prstGeom prst="rect">
            <a:avLst/>
          </a:prstGeom>
          <a:noFill/>
        </p:spPr>
        <p:txBody>
          <a:bodyPr wrap="square" lIns="0" rIns="0" tIns="0" bIns="0" anchor="ctr">
            <a:noAutofit/>
          </a:bodyPr>
          <a:lstStyle/>
          <a:p>
            <a:pPr algn="l">
              <a:spcAft>
                <a:spcPts val="400"/>
              </a:spcAft>
            </a:pPr>
            <a:r>
              <a:rPr sz="1250" b="1" lang="en-GB">
                <a:solidFill>
                  <a:schemeClr val="tx2"/>
                </a:solidFill>
              </a:rPr>
              <a:t>Kiosk A, steady</a:t>
            </a:r>
          </a:p>
        </p:txBody>
      </p:sp>
      <p:sp>
        <p:nvSpPr>
          <p:cNvPr id="24" name="Z table 2-2"/>
          <p:cNvSpPr/>
          <p:nvPr/>
        </p:nvSpPr>
        <p:spPr>
          <a:xfrm>
            <a:off x="2834640" y="2359152"/>
            <a:ext cx="152704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Z table text 2-2"/>
          <p:cNvSpPr txBox="1"/>
          <p:nvPr/>
        </p:nvSpPr>
        <p:spPr>
          <a:xfrm>
            <a:off x="2926080" y="2359152"/>
            <a:ext cx="134416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85</a:t>
            </a:r>
          </a:p>
        </p:txBody>
      </p:sp>
      <p:sp>
        <p:nvSpPr>
          <p:cNvPr id="26" name="Z table 2-3"/>
          <p:cNvSpPr/>
          <p:nvPr/>
        </p:nvSpPr>
        <p:spPr>
          <a:xfrm>
            <a:off x="4389120" y="2359152"/>
            <a:ext cx="12527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Z table text 2-3"/>
          <p:cNvSpPr txBox="1"/>
          <p:nvPr/>
        </p:nvSpPr>
        <p:spPr>
          <a:xfrm>
            <a:off x="4480560" y="2359152"/>
            <a:ext cx="10698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80</a:t>
            </a:r>
          </a:p>
        </p:txBody>
      </p:sp>
      <p:sp>
        <p:nvSpPr>
          <p:cNvPr id="28" name="Z table 2-4"/>
          <p:cNvSpPr/>
          <p:nvPr/>
        </p:nvSpPr>
        <p:spPr>
          <a:xfrm>
            <a:off x="5669280" y="2359152"/>
            <a:ext cx="12527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Z table text 2-4"/>
          <p:cNvSpPr txBox="1"/>
          <p:nvPr/>
        </p:nvSpPr>
        <p:spPr>
          <a:xfrm>
            <a:off x="5760720" y="2359152"/>
            <a:ext cx="10698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3.8</a:t>
            </a:r>
          </a:p>
        </p:txBody>
      </p:sp>
      <p:sp>
        <p:nvSpPr>
          <p:cNvPr id="30" name="Z table 2-5"/>
          <p:cNvSpPr/>
          <p:nvPr/>
        </p:nvSpPr>
        <p:spPr>
          <a:xfrm>
            <a:off x="6949440" y="2359152"/>
            <a:ext cx="17099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Z table text 2-5"/>
          <p:cNvSpPr txBox="1"/>
          <p:nvPr/>
        </p:nvSpPr>
        <p:spPr>
          <a:xfrm>
            <a:off x="7040880" y="2359152"/>
            <a:ext cx="15270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+1.3</a:t>
            </a:r>
          </a:p>
        </p:txBody>
      </p:sp>
      <p:sp>
        <p:nvSpPr>
          <p:cNvPr id="32" name="Z table 3-1"/>
          <p:cNvSpPr/>
          <p:nvPr/>
        </p:nvSpPr>
        <p:spPr>
          <a:xfrm>
            <a:off x="457200" y="2798064"/>
            <a:ext cx="235000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Z table text 3-1"/>
          <p:cNvSpPr txBox="1"/>
          <p:nvPr/>
        </p:nvSpPr>
        <p:spPr>
          <a:xfrm>
            <a:off x="548640" y="2798064"/>
            <a:ext cx="2167128" cy="411480"/>
          </a:xfrm>
          <a:prstGeom prst="rect">
            <a:avLst/>
          </a:prstGeom>
          <a:noFill/>
        </p:spPr>
        <p:txBody>
          <a:bodyPr wrap="square" lIns="0" rIns="0" tIns="0" bIns="0" anchor="ctr">
            <a:noAutofit/>
          </a:bodyPr>
          <a:lstStyle/>
          <a:p>
            <a:pPr algn="l">
              <a:spcAft>
                <a:spcPts val="400"/>
              </a:spcAft>
            </a:pPr>
            <a:r>
              <a:rPr sz="1250" b="1" lang="en-GB">
                <a:solidFill>
                  <a:schemeClr val="tx2"/>
                </a:solidFill>
              </a:rPr>
              <a:t>Kiosk B, volatile</a:t>
            </a:r>
          </a:p>
        </p:txBody>
      </p:sp>
      <p:sp>
        <p:nvSpPr>
          <p:cNvPr id="34" name="Z table 3-2"/>
          <p:cNvSpPr/>
          <p:nvPr/>
        </p:nvSpPr>
        <p:spPr>
          <a:xfrm>
            <a:off x="2834640" y="2798064"/>
            <a:ext cx="152704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Z table text 3-2"/>
          <p:cNvSpPr txBox="1"/>
          <p:nvPr/>
        </p:nvSpPr>
        <p:spPr>
          <a:xfrm>
            <a:off x="2926080" y="2798064"/>
            <a:ext cx="134416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100</a:t>
            </a:r>
          </a:p>
        </p:txBody>
      </p:sp>
      <p:sp>
        <p:nvSpPr>
          <p:cNvPr id="36" name="Z table 3-3"/>
          <p:cNvSpPr/>
          <p:nvPr/>
        </p:nvSpPr>
        <p:spPr>
          <a:xfrm>
            <a:off x="4389120" y="2798064"/>
            <a:ext cx="12527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Z table text 3-3"/>
          <p:cNvSpPr txBox="1"/>
          <p:nvPr/>
        </p:nvSpPr>
        <p:spPr>
          <a:xfrm>
            <a:off x="4480560" y="2798064"/>
            <a:ext cx="10698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80</a:t>
            </a:r>
          </a:p>
        </p:txBody>
      </p:sp>
      <p:sp>
        <p:nvSpPr>
          <p:cNvPr id="38" name="Z table 3-4"/>
          <p:cNvSpPr/>
          <p:nvPr/>
        </p:nvSpPr>
        <p:spPr>
          <a:xfrm>
            <a:off x="5669280" y="2798064"/>
            <a:ext cx="12527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Z table text 3-4"/>
          <p:cNvSpPr txBox="1"/>
          <p:nvPr/>
        </p:nvSpPr>
        <p:spPr>
          <a:xfrm>
            <a:off x="5760720" y="2798064"/>
            <a:ext cx="10698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31.6</a:t>
            </a:r>
          </a:p>
        </p:txBody>
      </p:sp>
      <p:sp>
        <p:nvSpPr>
          <p:cNvPr id="40" name="Z table 3-5"/>
          <p:cNvSpPr/>
          <p:nvPr/>
        </p:nvSpPr>
        <p:spPr>
          <a:xfrm>
            <a:off x="6949440" y="2798064"/>
            <a:ext cx="17099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Z table text 3-5"/>
          <p:cNvSpPr txBox="1"/>
          <p:nvPr/>
        </p:nvSpPr>
        <p:spPr>
          <a:xfrm>
            <a:off x="7040880" y="2798064"/>
            <a:ext cx="15270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+0.6</a:t>
            </a:r>
          </a:p>
        </p:txBody>
      </p:sp>
      <p:sp>
        <p:nvSpPr>
          <p:cNvPr id="42" name="Z table 4-1"/>
          <p:cNvSpPr/>
          <p:nvPr/>
        </p:nvSpPr>
        <p:spPr>
          <a:xfrm>
            <a:off x="457200" y="3236976"/>
            <a:ext cx="235000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Z table text 4-1"/>
          <p:cNvSpPr txBox="1"/>
          <p:nvPr/>
        </p:nvSpPr>
        <p:spPr>
          <a:xfrm>
            <a:off x="548640" y="3236976"/>
            <a:ext cx="2167128" cy="411480"/>
          </a:xfrm>
          <a:prstGeom prst="rect">
            <a:avLst/>
          </a:prstGeom>
          <a:noFill/>
        </p:spPr>
        <p:txBody>
          <a:bodyPr wrap="square" lIns="0" rIns="0" tIns="0" bIns="0" anchor="ctr">
            <a:noAutofit/>
          </a:bodyPr>
          <a:lstStyle/>
          <a:p>
            <a:pPr algn="l">
              <a:spcAft>
                <a:spcPts val="400"/>
              </a:spcAft>
            </a:pPr>
            <a:r>
              <a:rPr sz="1250" b="1" lang="en-GB">
                <a:solidFill>
                  <a:schemeClr val="tx2"/>
                </a:solidFill>
              </a:rPr>
              <a:t>Our kiosk, week 5</a:t>
            </a:r>
          </a:p>
        </p:txBody>
      </p:sp>
      <p:sp>
        <p:nvSpPr>
          <p:cNvPr id="44" name="Z table 4-2"/>
          <p:cNvSpPr/>
          <p:nvPr/>
        </p:nvSpPr>
        <p:spPr>
          <a:xfrm>
            <a:off x="2834640" y="3236976"/>
            <a:ext cx="152704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Z table text 4-2"/>
          <p:cNvSpPr txBox="1"/>
          <p:nvPr/>
        </p:nvSpPr>
        <p:spPr>
          <a:xfrm>
            <a:off x="2926080" y="3236976"/>
            <a:ext cx="134416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40</a:t>
            </a:r>
          </a:p>
        </p:txBody>
      </p:sp>
      <p:sp>
        <p:nvSpPr>
          <p:cNvPr id="46" name="Z table 4-3"/>
          <p:cNvSpPr/>
          <p:nvPr/>
        </p:nvSpPr>
        <p:spPr>
          <a:xfrm>
            <a:off x="4389120" y="3236976"/>
            <a:ext cx="12527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Z table text 4-3"/>
          <p:cNvSpPr txBox="1"/>
          <p:nvPr/>
        </p:nvSpPr>
        <p:spPr>
          <a:xfrm>
            <a:off x="4480560" y="3236976"/>
            <a:ext cx="10698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80</a:t>
            </a:r>
          </a:p>
        </p:txBody>
      </p:sp>
      <p:sp>
        <p:nvSpPr>
          <p:cNvPr id="48" name="Z table 4-4"/>
          <p:cNvSpPr/>
          <p:nvPr/>
        </p:nvSpPr>
        <p:spPr>
          <a:xfrm>
            <a:off x="5669280" y="3236976"/>
            <a:ext cx="12527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Z table text 4-4"/>
          <p:cNvSpPr txBox="1"/>
          <p:nvPr/>
        </p:nvSpPr>
        <p:spPr>
          <a:xfrm>
            <a:off x="5760720" y="3236976"/>
            <a:ext cx="10698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27.4</a:t>
            </a:r>
          </a:p>
        </p:txBody>
      </p:sp>
      <p:sp>
        <p:nvSpPr>
          <p:cNvPr id="50" name="Z table 4-5"/>
          <p:cNvSpPr/>
          <p:nvPr/>
        </p:nvSpPr>
        <p:spPr>
          <a:xfrm>
            <a:off x="6949440" y="3236976"/>
            <a:ext cx="17099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Z table text 4-5"/>
          <p:cNvSpPr txBox="1"/>
          <p:nvPr/>
        </p:nvSpPr>
        <p:spPr>
          <a:xfrm>
            <a:off x="7040880" y="3236976"/>
            <a:ext cx="15270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−1.46</a:t>
            </a:r>
          </a:p>
        </p:txBody>
      </p:sp>
      <p:sp>
        <p:nvSpPr>
          <p:cNvPr id="52" name="Z read box"/>
          <p:cNvSpPr/>
          <p:nvPr/>
        </p:nvSpPr>
        <p:spPr>
          <a:xfrm>
            <a:off x="457200" y="374904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3" name="Icon Z read" descr=""/>
          <p:cNvPicPr>
            <a:picLocks noChangeAspect="1"/>
          </p:cNvPicPr>
          <p:nvPr/>
        </p:nvPicPr>
        <p:blipFill>
          <a:blip r:embed="rId3"/>
          <a:stretch>
            <a:fillRect/>
          </a:stretch>
        </p:blipFill>
        <p:spPr>
          <a:xfrm>
            <a:off x="658368" y="3909060"/>
            <a:ext cx="365760" cy="365760"/>
          </a:xfrm>
          <a:prstGeom prst="rect">
            <a:avLst/>
          </a:prstGeom>
        </p:spPr>
      </p:pic>
      <p:sp>
        <p:nvSpPr>
          <p:cNvPr id="54" name="Z read text"/>
          <p:cNvSpPr txBox="1"/>
          <p:nvPr/>
        </p:nvSpPr>
        <p:spPr>
          <a:xfrm>
            <a:off x="1207008" y="3749040"/>
            <a:ext cx="731520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Read it: </a:t>
            </a:r>
            <a:r>
              <a:rPr sz="1300" b="0" lang="en-GB">
                <a:solidFill>
                  <a:schemeClr val="bg1"/>
                </a:solidFill>
              </a:rPr>
              <a:t>85 bars at steady kiosk A lie 1.3 standard deviations above its mean, 100 bars at kiosk B only 0.6: kiosk A's week was the more unusual one.</a:t>
            </a:r>
          </a:p>
        </p:txBody>
      </p:sp>
      <p:sp>
        <p:nvSpPr>
          <p:cNvPr id="55" name="Z use"/>
          <p:cNvSpPr txBox="1"/>
          <p:nvPr/>
        </p:nvSpPr>
        <p:spPr>
          <a:xfrm>
            <a:off x="457200" y="4526280"/>
            <a:ext cx="8229600"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Use: </a:t>
            </a:r>
            <a:r>
              <a:rPr sz="1200" b="0" lang="en-GB">
                <a:solidFill>
                  <a:schemeClr val="tx1"/>
                </a:solidFill>
              </a:rPr>
              <a:t>compare across kiosks, countries or units; spot outliers (|z| &gt; 3); standardised coefficients.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normal distribution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f_normal.png" descr="Histogram of bars sold in the kiosk's 44 regular-price weeks with a normal curve, mean 80 and sd 10, and dashed lines at 70 and 90"/>
          <p:cNvPicPr>
            <a:picLocks noChangeAspect="1"/>
          </p:cNvPicPr>
          <p:nvPr/>
        </p:nvPicPr>
        <p:blipFill>
          <a:blip r:embed="rId3"/>
          <a:stretch>
            <a:fillRect/>
          </a:stretch>
        </p:blipFill>
        <p:spPr>
          <a:xfrm>
            <a:off x="457200" y="1234440"/>
            <a:ext cx="4206240" cy="2743200"/>
          </a:xfrm>
          <a:prstGeom prst="rect">
            <a:avLst/>
          </a:prstGeom>
        </p:spPr>
      </p:pic>
      <p:sp>
        <p:nvSpPr>
          <p:cNvPr id="11" name="Rule box 1"/>
          <p:cNvSpPr/>
          <p:nvPr/>
        </p:nvSpPr>
        <p:spPr>
          <a:xfrm>
            <a:off x="4800600" y="1234440"/>
            <a:ext cx="388620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ule stat 1 bar"/>
          <p:cNvSpPr/>
          <p:nvPr/>
        </p:nvSpPr>
        <p:spPr>
          <a:xfrm>
            <a:off x="4800600" y="1234440"/>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ule stat 1 figure"/>
          <p:cNvSpPr txBox="1"/>
          <p:nvPr/>
        </p:nvSpPr>
        <p:spPr>
          <a:xfrm>
            <a:off x="4983480" y="1234440"/>
            <a:ext cx="164592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68 %</a:t>
            </a:r>
          </a:p>
        </p:txBody>
      </p:sp>
      <p:sp>
        <p:nvSpPr>
          <p:cNvPr id="14" name="Rule stat 1 label"/>
          <p:cNvSpPr txBox="1"/>
          <p:nvPr/>
        </p:nvSpPr>
        <p:spPr>
          <a:xfrm>
            <a:off x="6629400" y="1234440"/>
            <a:ext cx="20116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±1 sd, 70 to 90 bars: 31 of our 44 weeks</a:t>
            </a:r>
          </a:p>
        </p:txBody>
      </p:sp>
      <p:sp>
        <p:nvSpPr>
          <p:cNvPr id="15" name="Rule box 2"/>
          <p:cNvSpPr/>
          <p:nvPr/>
        </p:nvSpPr>
        <p:spPr>
          <a:xfrm>
            <a:off x="4800600" y="2039112"/>
            <a:ext cx="388620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ule stat 2 bar"/>
          <p:cNvSpPr/>
          <p:nvPr/>
        </p:nvSpPr>
        <p:spPr>
          <a:xfrm>
            <a:off x="4800600" y="2039112"/>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ule stat 2 figure"/>
          <p:cNvSpPr txBox="1"/>
          <p:nvPr/>
        </p:nvSpPr>
        <p:spPr>
          <a:xfrm>
            <a:off x="4983480" y="2039112"/>
            <a:ext cx="164592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95 %</a:t>
            </a:r>
          </a:p>
        </p:txBody>
      </p:sp>
      <p:sp>
        <p:nvSpPr>
          <p:cNvPr id="18" name="Rule stat 2 label"/>
          <p:cNvSpPr txBox="1"/>
          <p:nvPr/>
        </p:nvSpPr>
        <p:spPr>
          <a:xfrm>
            <a:off x="6629400" y="2039112"/>
            <a:ext cx="20116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±2 sd, 60 to 100 bars: 42 of our 44 weeks</a:t>
            </a:r>
          </a:p>
        </p:txBody>
      </p:sp>
      <p:sp>
        <p:nvSpPr>
          <p:cNvPr id="19" name="Rule box 3"/>
          <p:cNvSpPr/>
          <p:nvPr/>
        </p:nvSpPr>
        <p:spPr>
          <a:xfrm>
            <a:off x="4800600" y="2843784"/>
            <a:ext cx="388620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ule stat 3 bar"/>
          <p:cNvSpPr/>
          <p:nvPr/>
        </p:nvSpPr>
        <p:spPr>
          <a:xfrm>
            <a:off x="4800600" y="2843784"/>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ule stat 3 figure"/>
          <p:cNvSpPr txBox="1"/>
          <p:nvPr/>
        </p:nvSpPr>
        <p:spPr>
          <a:xfrm>
            <a:off x="4983480" y="2843784"/>
            <a:ext cx="164592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99.7 %</a:t>
            </a:r>
          </a:p>
        </p:txBody>
      </p:sp>
      <p:sp>
        <p:nvSpPr>
          <p:cNvPr id="22" name="Rule stat 3 label"/>
          <p:cNvSpPr txBox="1"/>
          <p:nvPr/>
        </p:nvSpPr>
        <p:spPr>
          <a:xfrm>
            <a:off x="6629400" y="2843784"/>
            <a:ext cx="20116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±3 sd, 50 to 110 bars: all 44 weeks</a:t>
            </a:r>
          </a:p>
        </p:txBody>
      </p:sp>
      <p:sp>
        <p:nvSpPr>
          <p:cNvPr id="23" name="Normal example"/>
          <p:cNvSpPr txBox="1"/>
          <p:nvPr/>
        </p:nvSpPr>
        <p:spPr>
          <a:xfrm>
            <a:off x="4800600" y="3657600"/>
            <a:ext cx="3886200"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Our kiosk: </a:t>
            </a:r>
            <a:r>
              <a:rPr sz="1200" b="0" lang="en-GB">
                <a:solidFill>
                  <a:schemeClr val="tx1"/>
                </a:solidFill>
              </a:rPr>
              <a:t>44 weeks at 3.00, mean 80, sd 10</a:t>
            </a:r>
          </a:p>
        </p:txBody>
      </p:sp>
      <p:sp>
        <p:nvSpPr>
          <p:cNvPr id="24" name="Normal why box"/>
          <p:cNvSpPr/>
          <p:nvPr/>
        </p:nvSpPr>
        <p:spPr>
          <a:xfrm>
            <a:off x="457200" y="411480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Normal why" descr=""/>
          <p:cNvPicPr>
            <a:picLocks noChangeAspect="1"/>
          </p:cNvPicPr>
          <p:nvPr/>
        </p:nvPicPr>
        <p:blipFill>
          <a:blip r:embed="rId4"/>
          <a:stretch>
            <a:fillRect/>
          </a:stretch>
        </p:blipFill>
        <p:spPr>
          <a:xfrm>
            <a:off x="658368" y="4274820"/>
            <a:ext cx="365760" cy="365760"/>
          </a:xfrm>
          <a:prstGeom prst="rect">
            <a:avLst/>
          </a:prstGeom>
        </p:spPr>
      </p:pic>
      <p:sp>
        <p:nvSpPr>
          <p:cNvPr id="26" name="Normal why text"/>
          <p:cNvSpPr txBox="1"/>
          <p:nvPr/>
        </p:nvSpPr>
        <p:spPr>
          <a:xfrm>
            <a:off x="1207008" y="4114800"/>
            <a:ext cx="7315200" cy="685800"/>
          </a:xfrm>
          <a:prstGeom prst="rect">
            <a:avLst/>
          </a:prstGeom>
          <a:noFill/>
        </p:spPr>
        <p:txBody>
          <a:bodyPr wrap="square" lIns="0" rIns="0" tIns="0" bIns="0" anchor="ctr">
            <a:noAutofit/>
          </a:bodyPr>
          <a:lstStyle/>
          <a:p>
            <a:pPr algn="l">
              <a:spcAft>
                <a:spcPts val="400"/>
              </a:spcAft>
            </a:pPr>
            <a:r>
              <a:rPr sz="1200" b="1" lang="en-GB">
                <a:solidFill>
                  <a:schemeClr val="bg1"/>
                </a:solidFill>
              </a:rPr>
              <a:t>Why it matters: </a:t>
            </a:r>
            <a:r>
              <a:rPr sz="1200" b="0" lang="en-GB">
                <a:solidFill>
                  <a:schemeClr val="bg1"/>
                </a:solidFill>
              </a:rPr>
              <a:t>averages and regression coefficients are approximately normal (central limit theorem), so we can test them.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standard normal distribution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f_std_normal.png" descr="Standard normal curve from -3.5 to 3.5 with both tails beyond 1.96 shaded, each labelled 2.5 %, the centre 95 %"/>
          <p:cNvPicPr>
            <a:picLocks noChangeAspect="1"/>
          </p:cNvPicPr>
          <p:nvPr/>
        </p:nvPicPr>
        <p:blipFill>
          <a:blip r:embed="rId3"/>
          <a:stretch>
            <a:fillRect/>
          </a:stretch>
        </p:blipFill>
        <p:spPr>
          <a:xfrm>
            <a:off x="457200" y="1234440"/>
            <a:ext cx="4206240" cy="2743200"/>
          </a:xfrm>
          <a:prstGeom prst="rect">
            <a:avLst/>
          </a:prstGeom>
        </p:spPr>
      </p:pic>
      <p:sp>
        <p:nvSpPr>
          <p:cNvPr id="11" name="Z share 1-1"/>
          <p:cNvSpPr/>
          <p:nvPr/>
        </p:nvSpPr>
        <p:spPr>
          <a:xfrm>
            <a:off x="4800600" y="1234440"/>
            <a:ext cx="143560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Z share text 1-1"/>
          <p:cNvSpPr txBox="1"/>
          <p:nvPr/>
        </p:nvSpPr>
        <p:spPr>
          <a:xfrm>
            <a:off x="4892040" y="1234440"/>
            <a:ext cx="1252728" cy="365760"/>
          </a:xfrm>
          <a:prstGeom prst="rect">
            <a:avLst/>
          </a:prstGeom>
          <a:noFill/>
        </p:spPr>
        <p:txBody>
          <a:bodyPr wrap="square" lIns="0" rIns="0" tIns="0" bIns="0" anchor="ctr">
            <a:noAutofit/>
          </a:bodyPr>
          <a:lstStyle/>
          <a:p>
            <a:pPr algn="l">
              <a:spcAft>
                <a:spcPts val="400"/>
              </a:spcAft>
            </a:pPr>
            <a:r>
              <a:rPr sz="1250" b="1" lang="en-GB">
                <a:solidFill>
                  <a:schemeClr val="bg1"/>
                </a:solidFill>
              </a:rPr>
              <a:t>z</a:t>
            </a:r>
          </a:p>
        </p:txBody>
      </p:sp>
      <p:sp>
        <p:nvSpPr>
          <p:cNvPr id="13" name="Z share 1-2"/>
          <p:cNvSpPr/>
          <p:nvPr/>
        </p:nvSpPr>
        <p:spPr>
          <a:xfrm>
            <a:off x="6263640" y="1234440"/>
            <a:ext cx="235000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Z share text 1-2"/>
          <p:cNvSpPr txBox="1"/>
          <p:nvPr/>
        </p:nvSpPr>
        <p:spPr>
          <a:xfrm>
            <a:off x="6355080" y="1234440"/>
            <a:ext cx="2167128" cy="365760"/>
          </a:xfrm>
          <a:prstGeom prst="rect">
            <a:avLst/>
          </a:prstGeom>
          <a:noFill/>
        </p:spPr>
        <p:txBody>
          <a:bodyPr wrap="square" lIns="0" rIns="0" tIns="0" bIns="0" anchor="ctr">
            <a:noAutofit/>
          </a:bodyPr>
          <a:lstStyle/>
          <a:p>
            <a:pPr algn="r">
              <a:spcAft>
                <a:spcPts val="400"/>
              </a:spcAft>
            </a:pPr>
            <a:r>
              <a:rPr sz="1250" b="1" lang="en-GB">
                <a:solidFill>
                  <a:schemeClr val="bg1"/>
                </a:solidFill>
              </a:rPr>
              <a:t>share below z</a:t>
            </a:r>
          </a:p>
        </p:txBody>
      </p:sp>
      <p:sp>
        <p:nvSpPr>
          <p:cNvPr id="15" name="Z share 2-1"/>
          <p:cNvSpPr/>
          <p:nvPr/>
        </p:nvSpPr>
        <p:spPr>
          <a:xfrm>
            <a:off x="4800600" y="1627632"/>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Z share text 2-1"/>
          <p:cNvSpPr txBox="1"/>
          <p:nvPr/>
        </p:nvSpPr>
        <p:spPr>
          <a:xfrm>
            <a:off x="4892040" y="1627632"/>
            <a:ext cx="125272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1.00</a:t>
            </a:r>
          </a:p>
        </p:txBody>
      </p:sp>
      <p:sp>
        <p:nvSpPr>
          <p:cNvPr id="17" name="Z share 2-2"/>
          <p:cNvSpPr/>
          <p:nvPr/>
        </p:nvSpPr>
        <p:spPr>
          <a:xfrm>
            <a:off x="6263640" y="1627632"/>
            <a:ext cx="23500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Z share text 2-2"/>
          <p:cNvSpPr txBox="1"/>
          <p:nvPr/>
        </p:nvSpPr>
        <p:spPr>
          <a:xfrm>
            <a:off x="6355080" y="1627632"/>
            <a:ext cx="21671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84.1 %</a:t>
            </a:r>
          </a:p>
        </p:txBody>
      </p:sp>
      <p:sp>
        <p:nvSpPr>
          <p:cNvPr id="19" name="Z share 3-1"/>
          <p:cNvSpPr/>
          <p:nvPr/>
        </p:nvSpPr>
        <p:spPr>
          <a:xfrm>
            <a:off x="4800600" y="2020824"/>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Z share text 3-1"/>
          <p:cNvSpPr txBox="1"/>
          <p:nvPr/>
        </p:nvSpPr>
        <p:spPr>
          <a:xfrm>
            <a:off x="4892040" y="2020824"/>
            <a:ext cx="125272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1.645</a:t>
            </a:r>
          </a:p>
        </p:txBody>
      </p:sp>
      <p:sp>
        <p:nvSpPr>
          <p:cNvPr id="21" name="Z share 3-2"/>
          <p:cNvSpPr/>
          <p:nvPr/>
        </p:nvSpPr>
        <p:spPr>
          <a:xfrm>
            <a:off x="6263640" y="2020824"/>
            <a:ext cx="23500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Z share text 3-2"/>
          <p:cNvSpPr txBox="1"/>
          <p:nvPr/>
        </p:nvSpPr>
        <p:spPr>
          <a:xfrm>
            <a:off x="6355080" y="2020824"/>
            <a:ext cx="21671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95.0 %</a:t>
            </a:r>
          </a:p>
        </p:txBody>
      </p:sp>
      <p:sp>
        <p:nvSpPr>
          <p:cNvPr id="23" name="Z share 4-1"/>
          <p:cNvSpPr/>
          <p:nvPr/>
        </p:nvSpPr>
        <p:spPr>
          <a:xfrm>
            <a:off x="4800600" y="2414016"/>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Z share text 4-1"/>
          <p:cNvSpPr txBox="1"/>
          <p:nvPr/>
        </p:nvSpPr>
        <p:spPr>
          <a:xfrm>
            <a:off x="4892040" y="2414016"/>
            <a:ext cx="125272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1.96</a:t>
            </a:r>
          </a:p>
        </p:txBody>
      </p:sp>
      <p:sp>
        <p:nvSpPr>
          <p:cNvPr id="25" name="Z share 4-2"/>
          <p:cNvSpPr/>
          <p:nvPr/>
        </p:nvSpPr>
        <p:spPr>
          <a:xfrm>
            <a:off x="6263640" y="2414016"/>
            <a:ext cx="23500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Z share text 4-2"/>
          <p:cNvSpPr txBox="1"/>
          <p:nvPr/>
        </p:nvSpPr>
        <p:spPr>
          <a:xfrm>
            <a:off x="6355080" y="2414016"/>
            <a:ext cx="21671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97.5 %</a:t>
            </a:r>
          </a:p>
        </p:txBody>
      </p:sp>
      <p:sp>
        <p:nvSpPr>
          <p:cNvPr id="27" name="Z share 5-1"/>
          <p:cNvSpPr/>
          <p:nvPr/>
        </p:nvSpPr>
        <p:spPr>
          <a:xfrm>
            <a:off x="4800600" y="2807208"/>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Z share text 5-1"/>
          <p:cNvSpPr txBox="1"/>
          <p:nvPr/>
        </p:nvSpPr>
        <p:spPr>
          <a:xfrm>
            <a:off x="4892040" y="2807208"/>
            <a:ext cx="125272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2.576</a:t>
            </a:r>
          </a:p>
        </p:txBody>
      </p:sp>
      <p:sp>
        <p:nvSpPr>
          <p:cNvPr id="29" name="Z share 5-2"/>
          <p:cNvSpPr/>
          <p:nvPr/>
        </p:nvSpPr>
        <p:spPr>
          <a:xfrm>
            <a:off x="6263640" y="2807208"/>
            <a:ext cx="23500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Z share text 5-2"/>
          <p:cNvSpPr txBox="1"/>
          <p:nvPr/>
        </p:nvSpPr>
        <p:spPr>
          <a:xfrm>
            <a:off x="6355080" y="2807208"/>
            <a:ext cx="21671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99.5 %</a:t>
            </a:r>
          </a:p>
        </p:txBody>
      </p:sp>
      <p:sp>
        <p:nvSpPr>
          <p:cNvPr id="31" name="Z worked box"/>
          <p:cNvSpPr/>
          <p:nvPr/>
        </p:nvSpPr>
        <p:spPr>
          <a:xfrm>
            <a:off x="4800600" y="3200400"/>
            <a:ext cx="3886200" cy="777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Z worked bar"/>
          <p:cNvSpPr/>
          <p:nvPr/>
        </p:nvSpPr>
        <p:spPr>
          <a:xfrm>
            <a:off x="4800600" y="3200400"/>
            <a:ext cx="64008" cy="7772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Z worked"/>
          <p:cNvSpPr txBox="1"/>
          <p:nvPr/>
        </p:nvSpPr>
        <p:spPr>
          <a:xfrm>
            <a:off x="4983480" y="3200400"/>
            <a:ext cx="3657600" cy="777240"/>
          </a:xfrm>
          <a:prstGeom prst="rect">
            <a:avLst/>
          </a:prstGeom>
          <a:noFill/>
        </p:spPr>
        <p:txBody>
          <a:bodyPr wrap="square" lIns="0" rIns="0" tIns="0" bIns="0" anchor="ctr">
            <a:noAutofit/>
          </a:bodyPr>
          <a:lstStyle/>
          <a:p>
            <a:pPr algn="l">
              <a:spcAft>
                <a:spcPts val="400"/>
              </a:spcAft>
            </a:pPr>
            <a:r>
              <a:rPr sz="1200" b="1" lang="en-GB">
                <a:solidFill>
                  <a:schemeClr val="tx2"/>
                </a:solidFill>
              </a:rPr>
              <a:t>More than 90 bars? </a:t>
            </a:r>
            <a:r>
              <a:rPr sz="1200" b="0" lang="en-GB">
                <a:solidFill>
                  <a:schemeClr val="tx1"/>
                </a:solidFill>
              </a:rPr>
              <a:t>z = (90 − 80) / 10 = 1.0, so 100 − 84.1 = 15.9 % of weeks; our year: 6 of 44</a:t>
            </a:r>
          </a:p>
        </p:txBody>
      </p:sp>
      <p:sp>
        <p:nvSpPr>
          <p:cNvPr id="34" name="Z196 box"/>
          <p:cNvSpPr/>
          <p:nvPr/>
        </p:nvSpPr>
        <p:spPr>
          <a:xfrm>
            <a:off x="457200" y="416052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Z196" descr=""/>
          <p:cNvPicPr>
            <a:picLocks noChangeAspect="1"/>
          </p:cNvPicPr>
          <p:nvPr/>
        </p:nvPicPr>
        <p:blipFill>
          <a:blip r:embed="rId4"/>
          <a:stretch>
            <a:fillRect/>
          </a:stretch>
        </p:blipFill>
        <p:spPr>
          <a:xfrm>
            <a:off x="658368" y="4297680"/>
            <a:ext cx="365760" cy="365760"/>
          </a:xfrm>
          <a:prstGeom prst="rect">
            <a:avLst/>
          </a:prstGeom>
        </p:spPr>
      </p:pic>
      <p:sp>
        <p:nvSpPr>
          <p:cNvPr id="36" name="Z196 text"/>
          <p:cNvSpPr txBox="1"/>
          <p:nvPr/>
        </p:nvSpPr>
        <p:spPr>
          <a:xfrm>
            <a:off x="1207008" y="4160520"/>
            <a:ext cx="7315200" cy="640080"/>
          </a:xfrm>
          <a:prstGeom prst="rect">
            <a:avLst/>
          </a:prstGeom>
          <a:noFill/>
        </p:spPr>
        <p:txBody>
          <a:bodyPr wrap="square" lIns="0" rIns="0" tIns="0" bIns="0" anchor="ctr">
            <a:noAutofit/>
          </a:bodyPr>
          <a:lstStyle/>
          <a:p>
            <a:pPr algn="l">
              <a:spcAft>
                <a:spcPts val="400"/>
              </a:spcAft>
            </a:pPr>
            <a:r>
              <a:rPr sz="1200" b="1" lang="en-GB">
                <a:solidFill>
                  <a:schemeClr val="bg1"/>
                </a:solidFill>
              </a:rPr>
              <a:t>1.96: </a:t>
            </a:r>
            <a:r>
              <a:rPr sz="1200" b="0" lang="en-GB">
                <a:solidFill>
                  <a:schemeClr val="bg1"/>
                </a:solidFill>
              </a:rPr>
              <a:t>the number behind 95 % confidence intervals and two-sided tests at 5 %.</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4 of 11 · do two variables move together, and how strongly?</a:t>
            </a:r>
          </a:p>
        </p:txBody>
      </p:sp>
      <p:sp>
        <p:nvSpPr>
          <p:cNvPr id="3" name="Title 2"/>
          <p:cNvSpPr>
            <a:spLocks noGrp="1"/>
          </p:cNvSpPr>
          <p:nvPr>
            <p:ph type="ctrTitle"/>
          </p:nvPr>
        </p:nvSpPr>
        <p:spPr/>
        <p:txBody>
          <a:bodyPr/>
          <a:lstStyle/>
          <a:p>
            <a:r>
              <a:rPr sz="1600" lang="en-GB"/>
              <a:t>Covariance and correlation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Covariance: do price and sales move together?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f_quadrants.png" descr="Scatter plot of the five weeks, price against bars sold, split by dashed lines at the means (3.00 EUR and 80 bars); the points lie in the top-left and bottom-right quadrants, where the product of deviations is negative"/>
          <p:cNvPicPr>
            <a:picLocks noChangeAspect="1"/>
          </p:cNvPicPr>
          <p:nvPr/>
        </p:nvPicPr>
        <p:blipFill>
          <a:blip r:embed="rId3"/>
          <a:stretch>
            <a:fillRect/>
          </a:stretch>
        </p:blipFill>
        <p:spPr>
          <a:xfrm>
            <a:off x="457200" y="1234440"/>
            <a:ext cx="4023360" cy="2798064"/>
          </a:xfrm>
          <a:prstGeom prst="rect">
            <a:avLst/>
          </a:prstGeom>
        </p:spPr>
      </p:pic>
      <p:sp>
        <p:nvSpPr>
          <p:cNvPr id="11" name="Cov table 1-1"/>
          <p:cNvSpPr/>
          <p:nvPr/>
        </p:nvSpPr>
        <p:spPr>
          <a:xfrm>
            <a:off x="4617720" y="1234440"/>
            <a:ext cx="84124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ov table text 1-1"/>
          <p:cNvSpPr txBox="1"/>
          <p:nvPr/>
        </p:nvSpPr>
        <p:spPr>
          <a:xfrm>
            <a:off x="4709160" y="1234440"/>
            <a:ext cx="658368" cy="329184"/>
          </a:xfrm>
          <a:prstGeom prst="rect">
            <a:avLst/>
          </a:prstGeom>
          <a:noFill/>
        </p:spPr>
        <p:txBody>
          <a:bodyPr wrap="square" lIns="0" rIns="0" tIns="0" bIns="0" anchor="ctr">
            <a:noAutofit/>
          </a:bodyPr>
          <a:lstStyle/>
          <a:p>
            <a:pPr algn="l">
              <a:spcAft>
                <a:spcPts val="400"/>
              </a:spcAft>
            </a:pPr>
            <a:r>
              <a:rPr sz="1200" b="1" lang="en-GB">
                <a:solidFill>
                  <a:schemeClr val="bg1"/>
                </a:solidFill>
              </a:rPr>
              <a:t>Week</a:t>
            </a:r>
          </a:p>
        </p:txBody>
      </p:sp>
      <p:sp>
        <p:nvSpPr>
          <p:cNvPr id="13" name="Cov table 1-2"/>
          <p:cNvSpPr/>
          <p:nvPr/>
        </p:nvSpPr>
        <p:spPr>
          <a:xfrm>
            <a:off x="5486400" y="1234440"/>
            <a:ext cx="97840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Cov table text 1-2"/>
          <p:cNvSpPr txBox="1"/>
          <p:nvPr/>
        </p:nvSpPr>
        <p:spPr>
          <a:xfrm>
            <a:off x="5577840" y="1234440"/>
            <a:ext cx="79552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p − p̄</a:t>
            </a:r>
          </a:p>
        </p:txBody>
      </p:sp>
      <p:sp>
        <p:nvSpPr>
          <p:cNvPr id="15" name="Cov table 1-3"/>
          <p:cNvSpPr/>
          <p:nvPr/>
        </p:nvSpPr>
        <p:spPr>
          <a:xfrm>
            <a:off x="6492240" y="1234440"/>
            <a:ext cx="97840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ov table text 1-3"/>
          <p:cNvSpPr txBox="1"/>
          <p:nvPr/>
        </p:nvSpPr>
        <p:spPr>
          <a:xfrm>
            <a:off x="6583680" y="1234440"/>
            <a:ext cx="79552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x − x̄</a:t>
            </a:r>
          </a:p>
        </p:txBody>
      </p:sp>
      <p:sp>
        <p:nvSpPr>
          <p:cNvPr id="17" name="Cov table 1-4"/>
          <p:cNvSpPr/>
          <p:nvPr/>
        </p:nvSpPr>
        <p:spPr>
          <a:xfrm>
            <a:off x="7498080" y="1234440"/>
            <a:ext cx="116128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Cov table text 1-4"/>
          <p:cNvSpPr txBox="1"/>
          <p:nvPr/>
        </p:nvSpPr>
        <p:spPr>
          <a:xfrm>
            <a:off x="7589520" y="1234440"/>
            <a:ext cx="97840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product</a:t>
            </a:r>
          </a:p>
        </p:txBody>
      </p:sp>
      <p:sp>
        <p:nvSpPr>
          <p:cNvPr id="19" name="Cov table 2-1"/>
          <p:cNvSpPr/>
          <p:nvPr/>
        </p:nvSpPr>
        <p:spPr>
          <a:xfrm>
            <a:off x="4617720" y="1591056"/>
            <a:ext cx="8412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Cov table text 2-1"/>
          <p:cNvSpPr txBox="1"/>
          <p:nvPr/>
        </p:nvSpPr>
        <p:spPr>
          <a:xfrm>
            <a:off x="4709160" y="1591056"/>
            <a:ext cx="6583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1</a:t>
            </a:r>
          </a:p>
        </p:txBody>
      </p:sp>
      <p:sp>
        <p:nvSpPr>
          <p:cNvPr id="21" name="Cov table 2-2"/>
          <p:cNvSpPr/>
          <p:nvPr/>
        </p:nvSpPr>
        <p:spPr>
          <a:xfrm>
            <a:off x="5486400" y="1591056"/>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Cov table text 2-2"/>
          <p:cNvSpPr txBox="1"/>
          <p:nvPr/>
        </p:nvSpPr>
        <p:spPr>
          <a:xfrm>
            <a:off x="5577840" y="1591056"/>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23" name="Cov table 2-3"/>
          <p:cNvSpPr/>
          <p:nvPr/>
        </p:nvSpPr>
        <p:spPr>
          <a:xfrm>
            <a:off x="6492240" y="1591056"/>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Cov table text 2-3"/>
          <p:cNvSpPr txBox="1"/>
          <p:nvPr/>
        </p:nvSpPr>
        <p:spPr>
          <a:xfrm>
            <a:off x="6583680" y="1591056"/>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30</a:t>
            </a:r>
          </a:p>
        </p:txBody>
      </p:sp>
      <p:sp>
        <p:nvSpPr>
          <p:cNvPr id="25" name="Cov table 2-4"/>
          <p:cNvSpPr/>
          <p:nvPr/>
        </p:nvSpPr>
        <p:spPr>
          <a:xfrm>
            <a:off x="7498080" y="1591056"/>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Cov table text 2-4"/>
          <p:cNvSpPr txBox="1"/>
          <p:nvPr/>
        </p:nvSpPr>
        <p:spPr>
          <a:xfrm>
            <a:off x="7589520" y="1591056"/>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−30</a:t>
            </a:r>
          </a:p>
        </p:txBody>
      </p:sp>
      <p:sp>
        <p:nvSpPr>
          <p:cNvPr id="27" name="Cov table 3-1"/>
          <p:cNvSpPr/>
          <p:nvPr/>
        </p:nvSpPr>
        <p:spPr>
          <a:xfrm>
            <a:off x="4617720" y="1947672"/>
            <a:ext cx="8412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Cov table text 3-1"/>
          <p:cNvSpPr txBox="1"/>
          <p:nvPr/>
        </p:nvSpPr>
        <p:spPr>
          <a:xfrm>
            <a:off x="4709160" y="1947672"/>
            <a:ext cx="6583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2</a:t>
            </a:r>
          </a:p>
        </p:txBody>
      </p:sp>
      <p:sp>
        <p:nvSpPr>
          <p:cNvPr id="29" name="Cov table 3-2"/>
          <p:cNvSpPr/>
          <p:nvPr/>
        </p:nvSpPr>
        <p:spPr>
          <a:xfrm>
            <a:off x="5486400" y="1947672"/>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Cov table text 3-2"/>
          <p:cNvSpPr txBox="1"/>
          <p:nvPr/>
        </p:nvSpPr>
        <p:spPr>
          <a:xfrm>
            <a:off x="5577840" y="1947672"/>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−0.5</a:t>
            </a:r>
          </a:p>
        </p:txBody>
      </p:sp>
      <p:sp>
        <p:nvSpPr>
          <p:cNvPr id="31" name="Cov table 3-3"/>
          <p:cNvSpPr/>
          <p:nvPr/>
        </p:nvSpPr>
        <p:spPr>
          <a:xfrm>
            <a:off x="6492240" y="1947672"/>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Cov table text 3-3"/>
          <p:cNvSpPr txBox="1"/>
          <p:nvPr/>
        </p:nvSpPr>
        <p:spPr>
          <a:xfrm>
            <a:off x="6583680" y="1947672"/>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20</a:t>
            </a:r>
          </a:p>
        </p:txBody>
      </p:sp>
      <p:sp>
        <p:nvSpPr>
          <p:cNvPr id="33" name="Cov table 3-4"/>
          <p:cNvSpPr/>
          <p:nvPr/>
        </p:nvSpPr>
        <p:spPr>
          <a:xfrm>
            <a:off x="7498080" y="1947672"/>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Cov table text 3-4"/>
          <p:cNvSpPr txBox="1"/>
          <p:nvPr/>
        </p:nvSpPr>
        <p:spPr>
          <a:xfrm>
            <a:off x="7589520" y="1947672"/>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35" name="Cov table 4-1"/>
          <p:cNvSpPr/>
          <p:nvPr/>
        </p:nvSpPr>
        <p:spPr>
          <a:xfrm>
            <a:off x="4617720" y="2304288"/>
            <a:ext cx="8412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Cov table text 4-1"/>
          <p:cNvSpPr txBox="1"/>
          <p:nvPr/>
        </p:nvSpPr>
        <p:spPr>
          <a:xfrm>
            <a:off x="4709160" y="2304288"/>
            <a:ext cx="6583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3</a:t>
            </a:r>
          </a:p>
        </p:txBody>
      </p:sp>
      <p:sp>
        <p:nvSpPr>
          <p:cNvPr id="37" name="Cov table 4-2"/>
          <p:cNvSpPr/>
          <p:nvPr/>
        </p:nvSpPr>
        <p:spPr>
          <a:xfrm>
            <a:off x="5486400" y="2304288"/>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Cov table text 4-2"/>
          <p:cNvSpPr txBox="1"/>
          <p:nvPr/>
        </p:nvSpPr>
        <p:spPr>
          <a:xfrm>
            <a:off x="5577840" y="2304288"/>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0</a:t>
            </a:r>
          </a:p>
        </p:txBody>
      </p:sp>
      <p:sp>
        <p:nvSpPr>
          <p:cNvPr id="39" name="Cov table 4-3"/>
          <p:cNvSpPr/>
          <p:nvPr/>
        </p:nvSpPr>
        <p:spPr>
          <a:xfrm>
            <a:off x="6492240" y="2304288"/>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Cov table text 4-3"/>
          <p:cNvSpPr txBox="1"/>
          <p:nvPr/>
        </p:nvSpPr>
        <p:spPr>
          <a:xfrm>
            <a:off x="6583680" y="2304288"/>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0</a:t>
            </a:r>
          </a:p>
        </p:txBody>
      </p:sp>
      <p:sp>
        <p:nvSpPr>
          <p:cNvPr id="41" name="Cov table 4-4"/>
          <p:cNvSpPr/>
          <p:nvPr/>
        </p:nvSpPr>
        <p:spPr>
          <a:xfrm>
            <a:off x="7498080" y="2304288"/>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Cov table text 4-4"/>
          <p:cNvSpPr txBox="1"/>
          <p:nvPr/>
        </p:nvSpPr>
        <p:spPr>
          <a:xfrm>
            <a:off x="7589520" y="2304288"/>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0</a:t>
            </a:r>
          </a:p>
        </p:txBody>
      </p:sp>
      <p:sp>
        <p:nvSpPr>
          <p:cNvPr id="43" name="Cov table 5-1"/>
          <p:cNvSpPr/>
          <p:nvPr/>
        </p:nvSpPr>
        <p:spPr>
          <a:xfrm>
            <a:off x="4617720" y="2660904"/>
            <a:ext cx="8412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Cov table text 5-1"/>
          <p:cNvSpPr txBox="1"/>
          <p:nvPr/>
        </p:nvSpPr>
        <p:spPr>
          <a:xfrm>
            <a:off x="4709160" y="2660904"/>
            <a:ext cx="6583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4</a:t>
            </a:r>
          </a:p>
        </p:txBody>
      </p:sp>
      <p:sp>
        <p:nvSpPr>
          <p:cNvPr id="45" name="Cov table 5-2"/>
          <p:cNvSpPr/>
          <p:nvPr/>
        </p:nvSpPr>
        <p:spPr>
          <a:xfrm>
            <a:off x="5486400" y="2660904"/>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Cov table text 5-2"/>
          <p:cNvSpPr txBox="1"/>
          <p:nvPr/>
        </p:nvSpPr>
        <p:spPr>
          <a:xfrm>
            <a:off x="5577840" y="2660904"/>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0.5</a:t>
            </a:r>
          </a:p>
        </p:txBody>
      </p:sp>
      <p:sp>
        <p:nvSpPr>
          <p:cNvPr id="47" name="Cov table 5-3"/>
          <p:cNvSpPr/>
          <p:nvPr/>
        </p:nvSpPr>
        <p:spPr>
          <a:xfrm>
            <a:off x="6492240" y="2660904"/>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Cov table text 5-3"/>
          <p:cNvSpPr txBox="1"/>
          <p:nvPr/>
        </p:nvSpPr>
        <p:spPr>
          <a:xfrm>
            <a:off x="6583680" y="2660904"/>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49" name="Cov table 5-4"/>
          <p:cNvSpPr/>
          <p:nvPr/>
        </p:nvSpPr>
        <p:spPr>
          <a:xfrm>
            <a:off x="7498080" y="2660904"/>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Cov table text 5-4"/>
          <p:cNvSpPr txBox="1"/>
          <p:nvPr/>
        </p:nvSpPr>
        <p:spPr>
          <a:xfrm>
            <a:off x="7589520" y="2660904"/>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−5</a:t>
            </a:r>
          </a:p>
        </p:txBody>
      </p:sp>
      <p:sp>
        <p:nvSpPr>
          <p:cNvPr id="51" name="Cov table 6-1"/>
          <p:cNvSpPr/>
          <p:nvPr/>
        </p:nvSpPr>
        <p:spPr>
          <a:xfrm>
            <a:off x="4617720" y="3017520"/>
            <a:ext cx="8412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Cov table text 6-1"/>
          <p:cNvSpPr txBox="1"/>
          <p:nvPr/>
        </p:nvSpPr>
        <p:spPr>
          <a:xfrm>
            <a:off x="4709160" y="3017520"/>
            <a:ext cx="6583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5</a:t>
            </a:r>
          </a:p>
        </p:txBody>
      </p:sp>
      <p:sp>
        <p:nvSpPr>
          <p:cNvPr id="53" name="Cov table 6-2"/>
          <p:cNvSpPr/>
          <p:nvPr/>
        </p:nvSpPr>
        <p:spPr>
          <a:xfrm>
            <a:off x="5486400" y="3017520"/>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Cov table text 6-2"/>
          <p:cNvSpPr txBox="1"/>
          <p:nvPr/>
        </p:nvSpPr>
        <p:spPr>
          <a:xfrm>
            <a:off x="5577840" y="3017520"/>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55" name="Cov table 6-3"/>
          <p:cNvSpPr/>
          <p:nvPr/>
        </p:nvSpPr>
        <p:spPr>
          <a:xfrm>
            <a:off x="6492240" y="3017520"/>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Cov table text 6-3"/>
          <p:cNvSpPr txBox="1"/>
          <p:nvPr/>
        </p:nvSpPr>
        <p:spPr>
          <a:xfrm>
            <a:off x="6583680" y="3017520"/>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57" name="Cov table 6-4"/>
          <p:cNvSpPr/>
          <p:nvPr/>
        </p:nvSpPr>
        <p:spPr>
          <a:xfrm>
            <a:off x="7498080" y="3017520"/>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Cov table text 6-4"/>
          <p:cNvSpPr txBox="1"/>
          <p:nvPr/>
        </p:nvSpPr>
        <p:spPr>
          <a:xfrm>
            <a:off x="7589520" y="3017520"/>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59" name="Cov table 7-1"/>
          <p:cNvSpPr/>
          <p:nvPr/>
        </p:nvSpPr>
        <p:spPr>
          <a:xfrm>
            <a:off x="4617720" y="3374136"/>
            <a:ext cx="8412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Cov table text 7-1"/>
          <p:cNvSpPr txBox="1"/>
          <p:nvPr/>
        </p:nvSpPr>
        <p:spPr>
          <a:xfrm>
            <a:off x="4709160" y="3374136"/>
            <a:ext cx="6583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Sum</a:t>
            </a:r>
          </a:p>
        </p:txBody>
      </p:sp>
      <p:sp>
        <p:nvSpPr>
          <p:cNvPr id="61" name="Cov table 7-2"/>
          <p:cNvSpPr/>
          <p:nvPr/>
        </p:nvSpPr>
        <p:spPr>
          <a:xfrm>
            <a:off x="5486400" y="3374136"/>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Cov table text 7-2"/>
          <p:cNvSpPr txBox="1"/>
          <p:nvPr/>
        </p:nvSpPr>
        <p:spPr>
          <a:xfrm>
            <a:off x="5577840" y="3374136"/>
            <a:ext cx="795528" cy="329184"/>
          </a:xfrm>
          <a:prstGeom prst="rect">
            <a:avLst/>
          </a:prstGeom>
          <a:noFill/>
        </p:spPr>
        <p:txBody>
          <a:bodyPr wrap="square" lIns="0" rIns="0" tIns="0" bIns="0" anchor="ctr">
            <a:noAutofit/>
          </a:bodyPr>
          <a:lstStyle/>
          <a:p>
            <a:pPr algn="r">
              <a:spcAft>
                <a:spcPts val="400"/>
              </a:spcAft>
            </a:pPr>
            <a:r>
              <a:rPr sz="1200" b="1" lang="en-GB">
                <a:solidFill>
                  <a:schemeClr val="tx2"/>
                </a:solidFill>
              </a:rPr>
              <a:t/>
            </a:r>
          </a:p>
        </p:txBody>
      </p:sp>
      <p:sp>
        <p:nvSpPr>
          <p:cNvPr id="63" name="Cov table 7-3"/>
          <p:cNvSpPr/>
          <p:nvPr/>
        </p:nvSpPr>
        <p:spPr>
          <a:xfrm>
            <a:off x="6492240" y="3374136"/>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Cov table text 7-3"/>
          <p:cNvSpPr txBox="1"/>
          <p:nvPr/>
        </p:nvSpPr>
        <p:spPr>
          <a:xfrm>
            <a:off x="6583680" y="3374136"/>
            <a:ext cx="795528" cy="329184"/>
          </a:xfrm>
          <a:prstGeom prst="rect">
            <a:avLst/>
          </a:prstGeom>
          <a:noFill/>
        </p:spPr>
        <p:txBody>
          <a:bodyPr wrap="square" lIns="0" rIns="0" tIns="0" bIns="0" anchor="ctr">
            <a:noAutofit/>
          </a:bodyPr>
          <a:lstStyle/>
          <a:p>
            <a:pPr algn="r">
              <a:spcAft>
                <a:spcPts val="400"/>
              </a:spcAft>
            </a:pPr>
            <a:r>
              <a:rPr sz="1200" b="1" lang="en-GB">
                <a:solidFill>
                  <a:schemeClr val="tx2"/>
                </a:solidFill>
              </a:rPr>
              <a:t/>
            </a:r>
          </a:p>
        </p:txBody>
      </p:sp>
      <p:sp>
        <p:nvSpPr>
          <p:cNvPr id="65" name="Cov table 7-4"/>
          <p:cNvSpPr/>
          <p:nvPr/>
        </p:nvSpPr>
        <p:spPr>
          <a:xfrm>
            <a:off x="7498080" y="3374136"/>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Cov table text 7-4"/>
          <p:cNvSpPr txBox="1"/>
          <p:nvPr/>
        </p:nvSpPr>
        <p:spPr>
          <a:xfrm>
            <a:off x="7589520" y="3374136"/>
            <a:ext cx="978408" cy="329184"/>
          </a:xfrm>
          <a:prstGeom prst="rect">
            <a:avLst/>
          </a:prstGeom>
          <a:noFill/>
        </p:spPr>
        <p:txBody>
          <a:bodyPr wrap="square" lIns="0" rIns="0" tIns="0" bIns="0" anchor="ctr">
            <a:noAutofit/>
          </a:bodyPr>
          <a:lstStyle/>
          <a:p>
            <a:pPr algn="r">
              <a:spcAft>
                <a:spcPts val="400"/>
              </a:spcAft>
            </a:pPr>
            <a:r>
              <a:rPr sz="1200" b="1" lang="en-GB">
                <a:solidFill>
                  <a:schemeClr val="tx2"/>
                </a:solidFill>
              </a:rPr>
              <a:t>−85</a:t>
            </a:r>
          </a:p>
        </p:txBody>
      </p:sp>
      <p:sp>
        <p:nvSpPr>
          <p:cNvPr id="67" name="Cov formula box"/>
          <p:cNvSpPr/>
          <p:nvPr/>
        </p:nvSpPr>
        <p:spPr>
          <a:xfrm>
            <a:off x="4617720" y="3703320"/>
            <a:ext cx="406908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Cov formula code"/>
          <p:cNvSpPr txBox="1"/>
          <p:nvPr/>
        </p:nvSpPr>
        <p:spPr>
          <a:xfrm>
            <a:off x="4754880" y="3794760"/>
            <a:ext cx="3794760" cy="32004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cov = −85 / (5 − 1) = −21.25</a:t>
            </a:r>
          </a:p>
        </p:txBody>
      </p:sp>
      <p:sp>
        <p:nvSpPr>
          <p:cNvPr id="69" name="Cov sign box"/>
          <p:cNvSpPr/>
          <p:nvPr/>
        </p:nvSpPr>
        <p:spPr>
          <a:xfrm>
            <a:off x="457200" y="434340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0" name="Icon Cov sign" descr=""/>
          <p:cNvPicPr>
            <a:picLocks noChangeAspect="1"/>
          </p:cNvPicPr>
          <p:nvPr/>
        </p:nvPicPr>
        <p:blipFill>
          <a:blip r:embed="rId4"/>
          <a:stretch>
            <a:fillRect/>
          </a:stretch>
        </p:blipFill>
        <p:spPr>
          <a:xfrm>
            <a:off x="658368" y="4411980"/>
            <a:ext cx="365760" cy="365760"/>
          </a:xfrm>
          <a:prstGeom prst="rect">
            <a:avLst/>
          </a:prstGeom>
        </p:spPr>
      </p:pic>
      <p:sp>
        <p:nvSpPr>
          <p:cNvPr id="71" name="Cov sign text"/>
          <p:cNvSpPr txBox="1"/>
          <p:nvPr/>
        </p:nvSpPr>
        <p:spPr>
          <a:xfrm>
            <a:off x="1207008" y="4343400"/>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Sign = direction; </a:t>
            </a:r>
            <a:r>
              <a:rPr sz="1200" b="0" lang="en-GB">
                <a:solidFill>
                  <a:schemeClr val="tx1"/>
                </a:solidFill>
              </a:rPr>
              <a:t>the size depends on the units (EUR × bars).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Correlation: covariance without units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 formula box"/>
          <p:cNvSpPr/>
          <p:nvPr/>
        </p:nvSpPr>
        <p:spPr>
          <a:xfrm>
            <a:off x="457200" y="12344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 formula code"/>
          <p:cNvSpPr txBox="1"/>
          <p:nvPr/>
        </p:nvSpPr>
        <p:spPr>
          <a:xfrm>
            <a:off x="594360" y="1325880"/>
            <a:ext cx="7955280" cy="36576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r = cov / (s_p · s_x) = −21.25 / (0.79 · 27.39) = −0.98          −1 ≤ r ≤ +1</a:t>
            </a:r>
          </a:p>
        </p:txBody>
      </p:sp>
      <p:pic>
        <p:nvPicPr>
          <p:cNvPr id="12" name="Chart ref_corr_gallery.png" descr="Four scatter plots: a rising cloud with r about 0.9, a shapeless cloud with r about 0, a falling cloud with r about -0.9, and a U-shaped curve with r about 0"/>
          <p:cNvPicPr>
            <a:picLocks noChangeAspect="1"/>
          </p:cNvPicPr>
          <p:nvPr/>
        </p:nvPicPr>
        <p:blipFill>
          <a:blip r:embed="rId3"/>
          <a:stretch>
            <a:fillRect/>
          </a:stretch>
        </p:blipFill>
        <p:spPr>
          <a:xfrm>
            <a:off x="457200" y="1874520"/>
            <a:ext cx="8229600" cy="2103120"/>
          </a:xfrm>
          <a:prstGeom prst="rect">
            <a:avLst/>
          </a:prstGeom>
        </p:spPr>
      </p:pic>
      <p:sp>
        <p:nvSpPr>
          <p:cNvPr id="13" name="R warn box"/>
          <p:cNvSpPr/>
          <p:nvPr/>
        </p:nvSpPr>
        <p:spPr>
          <a:xfrm>
            <a:off x="457200" y="411480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Icon R warn" descr=""/>
          <p:cNvPicPr>
            <a:picLocks noChangeAspect="1"/>
          </p:cNvPicPr>
          <p:nvPr/>
        </p:nvPicPr>
        <p:blipFill>
          <a:blip r:embed="rId4"/>
          <a:stretch>
            <a:fillRect/>
          </a:stretch>
        </p:blipFill>
        <p:spPr>
          <a:xfrm>
            <a:off x="658368" y="4251960"/>
            <a:ext cx="365760" cy="365760"/>
          </a:xfrm>
          <a:prstGeom prst="rect">
            <a:avLst/>
          </a:prstGeom>
        </p:spPr>
      </p:pic>
      <p:sp>
        <p:nvSpPr>
          <p:cNvPr id="15" name="R warn text"/>
          <p:cNvSpPr txBox="1"/>
          <p:nvPr/>
        </p:nvSpPr>
        <p:spPr>
          <a:xfrm>
            <a:off x="1207008" y="4114800"/>
            <a:ext cx="7315200" cy="640080"/>
          </a:xfrm>
          <a:prstGeom prst="rect">
            <a:avLst/>
          </a:prstGeom>
          <a:noFill/>
        </p:spPr>
        <p:txBody>
          <a:bodyPr wrap="square" lIns="0" rIns="0" tIns="0" bIns="0" anchor="ctr">
            <a:noAutofit/>
          </a:bodyPr>
          <a:lstStyle/>
          <a:p>
            <a:pPr algn="l">
              <a:spcAft>
                <a:spcPts val="400"/>
              </a:spcAft>
            </a:pPr>
            <a:r>
              <a:rPr sz="1200" b="1" lang="en-GB">
                <a:solidFill>
                  <a:schemeClr val="bg1"/>
                </a:solidFill>
              </a:rPr>
              <a:t>Two warnings: </a:t>
            </a:r>
            <a:r>
              <a:rPr sz="1200" b="0" lang="en-GB">
                <a:solidFill>
                  <a:schemeClr val="bg1"/>
                </a:solidFill>
              </a:rPr>
              <a:t>r only measures straight-line relationships (the U has r ≈ 0), and correlation is not causation.</a:t>
            </a:r>
          </a:p>
        </p:txBody>
      </p:sp>
      <p:sp>
        <p:nvSpPr>
          <p:cNvPr id="16"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Bojinov, Parzen &amp; Hamilton 2025 (HBS note 9-622-100)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From correlation to regression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Bridge rows row 1"/>
          <p:cNvSpPr/>
          <p:nvPr/>
        </p:nvSpPr>
        <p:spPr>
          <a:xfrm>
            <a:off x="457200" y="123444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Bridge rows bar 1"/>
          <p:cNvSpPr/>
          <p:nvPr/>
        </p:nvSpPr>
        <p:spPr>
          <a:xfrm>
            <a:off x="457200" y="1234440"/>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Bridge rows text 1"/>
          <p:cNvSpPr txBox="1"/>
          <p:nvPr/>
        </p:nvSpPr>
        <p:spPr>
          <a:xfrm>
            <a:off x="658368" y="1234440"/>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Not causation: </a:t>
            </a:r>
            <a:r>
              <a:rPr sz="1200" b="0" lang="en-GB">
                <a:solidFill>
                  <a:schemeClr val="tx1"/>
                </a:solidFill>
              </a:rPr>
              <a:t>ice-cream sales and sunburn rise together; sunshine drives both</a:t>
            </a:r>
          </a:p>
        </p:txBody>
      </p:sp>
      <p:sp>
        <p:nvSpPr>
          <p:cNvPr id="13" name="Bridge rows row 2"/>
          <p:cNvSpPr/>
          <p:nvPr/>
        </p:nvSpPr>
        <p:spPr>
          <a:xfrm>
            <a:off x="457200" y="1856232"/>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Bridge rows bar 2"/>
          <p:cNvSpPr/>
          <p:nvPr/>
        </p:nvSpPr>
        <p:spPr>
          <a:xfrm>
            <a:off x="457200" y="1856232"/>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Bridge rows text 2"/>
          <p:cNvSpPr txBox="1"/>
          <p:nvPr/>
        </p:nvSpPr>
        <p:spPr>
          <a:xfrm>
            <a:off x="658368" y="1856232"/>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Correlation </a:t>
            </a:r>
            <a:r>
              <a:rPr sz="1200" b="0" lang="en-GB">
                <a:solidFill>
                  <a:schemeClr val="tx1"/>
                </a:solidFill>
              </a:rPr>
              <a:t>says how strongly two variables move together, from −1 to +1</a:t>
            </a:r>
          </a:p>
        </p:txBody>
      </p:sp>
      <p:sp>
        <p:nvSpPr>
          <p:cNvPr id="16" name="Bridge rows row 3"/>
          <p:cNvSpPr/>
          <p:nvPr/>
        </p:nvSpPr>
        <p:spPr>
          <a:xfrm>
            <a:off x="457200" y="2478024"/>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Bridge rows bar 3"/>
          <p:cNvSpPr/>
          <p:nvPr/>
        </p:nvSpPr>
        <p:spPr>
          <a:xfrm>
            <a:off x="457200" y="2478024"/>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Bridge rows text 3"/>
          <p:cNvSpPr txBox="1"/>
          <p:nvPr/>
        </p:nvSpPr>
        <p:spPr>
          <a:xfrm>
            <a:off x="658368" y="2478024"/>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Regression </a:t>
            </a:r>
            <a:r>
              <a:rPr sz="1200" b="0" lang="en-GB">
                <a:solidFill>
                  <a:schemeClr val="tx1"/>
                </a:solidFill>
              </a:rPr>
              <a:t>says by how much y changes when x changes by one unit</a:t>
            </a:r>
          </a:p>
        </p:txBody>
      </p:sp>
      <p:sp>
        <p:nvSpPr>
          <p:cNvPr id="19" name="Slope formula box"/>
          <p:cNvSpPr/>
          <p:nvPr/>
        </p:nvSpPr>
        <p:spPr>
          <a:xfrm>
            <a:off x="457200" y="324612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lope formula code"/>
          <p:cNvSpPr txBox="1"/>
          <p:nvPr/>
        </p:nvSpPr>
        <p:spPr>
          <a:xfrm>
            <a:off x="594360" y="3337560"/>
            <a:ext cx="7955280" cy="50292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slope b = cov(p, x) / var(p) = −21.25 / 0.625 = −34 bars per EUR</a:t>
            </a:r>
          </a:p>
          <a:p>
            <a:pPr algn="l">
              <a:spcAft>
                <a:spcPts val="0"/>
              </a:spcAft>
            </a:pPr>
            <a:r>
              <a:rPr sz="1200" b="0" lang="en-GB">
                <a:solidFill>
                  <a:schemeClr val="bg1"/>
                </a:solidFill>
                <a:latin typeface="Consolas"/>
              </a:rPr>
              <a:t>line through the means: x = 80 − 34 · (p − 3)</a:t>
            </a:r>
          </a:p>
        </p:txBody>
      </p:sp>
      <p:sp>
        <p:nvSpPr>
          <p:cNvPr id="21" name="Bridge next box"/>
          <p:cNvSpPr/>
          <p:nvPr/>
        </p:nvSpPr>
        <p:spPr>
          <a:xfrm>
            <a:off x="457200" y="411480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Icon Bridge next" descr=""/>
          <p:cNvPicPr>
            <a:picLocks noChangeAspect="1"/>
          </p:cNvPicPr>
          <p:nvPr/>
        </p:nvPicPr>
        <p:blipFill>
          <a:blip r:embed="rId3"/>
          <a:stretch>
            <a:fillRect/>
          </a:stretch>
        </p:blipFill>
        <p:spPr>
          <a:xfrm>
            <a:off x="658368" y="4251960"/>
            <a:ext cx="365760" cy="365760"/>
          </a:xfrm>
          <a:prstGeom prst="rect">
            <a:avLst/>
          </a:prstGeom>
        </p:spPr>
      </p:pic>
      <p:sp>
        <p:nvSpPr>
          <p:cNvPr id="23" name="Bridge next text"/>
          <p:cNvSpPr txBox="1"/>
          <p:nvPr/>
        </p:nvSpPr>
        <p:spPr>
          <a:xfrm>
            <a:off x="1207008" y="4114800"/>
            <a:ext cx="7315200" cy="640080"/>
          </a:xfrm>
          <a:prstGeom prst="rect">
            <a:avLst/>
          </a:prstGeom>
          <a:noFill/>
        </p:spPr>
        <p:txBody>
          <a:bodyPr wrap="square" lIns="0" rIns="0" tIns="0" bIns="0" anchor="ctr">
            <a:noAutofit/>
          </a:bodyPr>
          <a:lstStyle/>
          <a:p>
            <a:pPr algn="l">
              <a:spcAft>
                <a:spcPts val="400"/>
              </a:spcAft>
            </a:pPr>
            <a:r>
              <a:rPr sz="1300" b="1" lang="en-GB">
                <a:solidFill>
                  <a:schemeClr val="bg1"/>
                </a:solidFill>
              </a:rPr>
              <a:t>Next: </a:t>
            </a:r>
            <a:r>
              <a:rPr sz="1300" b="0" lang="en-GB">
                <a:solidFill>
                  <a:schemeClr val="bg1"/>
                </a:solidFill>
              </a:rPr>
              <a:t>the least-squares line, built from exactly these pieces.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5 of 11 · mean, standard deviation, z-scores, covariance and correlation by hand, then checked; the kiosk's year</a:t>
            </a:r>
          </a:p>
        </p:txBody>
      </p:sp>
      <p:sp>
        <p:nvSpPr>
          <p:cNvPr id="3" name="Title 2"/>
          <p:cNvSpPr>
            <a:spLocks noGrp="1"/>
          </p:cNvSpPr>
          <p:nvPr>
            <p:ph type="ctrTitle"/>
          </p:nvPr>
        </p:nvSpPr>
        <p:spPr/>
        <p:txBody>
          <a:bodyPr/>
          <a:lstStyle/>
          <a:p>
            <a:r>
              <a:rPr sz="1600" lang="en-GB"/>
              <a:t>Python in Positron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packages we use today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kg table 1-1"/>
          <p:cNvSpPr/>
          <p:nvPr/>
        </p:nvSpPr>
        <p:spPr>
          <a:xfrm>
            <a:off x="457200" y="1234440"/>
            <a:ext cx="1481328" cy="3017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kg table text 1-1"/>
          <p:cNvSpPr txBox="1"/>
          <p:nvPr/>
        </p:nvSpPr>
        <p:spPr>
          <a:xfrm>
            <a:off x="548640" y="1234440"/>
            <a:ext cx="1298448" cy="301752"/>
          </a:xfrm>
          <a:prstGeom prst="rect">
            <a:avLst/>
          </a:prstGeom>
          <a:noFill/>
        </p:spPr>
        <p:txBody>
          <a:bodyPr wrap="square" lIns="0" rIns="0" tIns="0" bIns="0" anchor="ctr">
            <a:noAutofit/>
          </a:bodyPr>
          <a:lstStyle/>
          <a:p>
            <a:pPr algn="l">
              <a:spcAft>
                <a:spcPts val="400"/>
              </a:spcAft>
            </a:pPr>
            <a:r>
              <a:rPr sz="1150" b="1" lang="en-GB">
                <a:solidFill>
                  <a:schemeClr val="bg1"/>
                </a:solidFill>
              </a:rPr>
              <a:t>Install (pip)</a:t>
            </a:r>
          </a:p>
        </p:txBody>
      </p:sp>
      <p:sp>
        <p:nvSpPr>
          <p:cNvPr id="12" name="Pkg table 1-2"/>
          <p:cNvSpPr/>
          <p:nvPr/>
        </p:nvSpPr>
        <p:spPr>
          <a:xfrm>
            <a:off x="1965960" y="1234440"/>
            <a:ext cx="3401568" cy="3017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kg table text 1-2"/>
          <p:cNvSpPr txBox="1"/>
          <p:nvPr/>
        </p:nvSpPr>
        <p:spPr>
          <a:xfrm>
            <a:off x="2057400" y="1234440"/>
            <a:ext cx="3218688" cy="301752"/>
          </a:xfrm>
          <a:prstGeom prst="rect">
            <a:avLst/>
          </a:prstGeom>
          <a:noFill/>
        </p:spPr>
        <p:txBody>
          <a:bodyPr wrap="square" lIns="0" rIns="0" tIns="0" bIns="0" anchor="ctr">
            <a:noAutofit/>
          </a:bodyPr>
          <a:lstStyle/>
          <a:p>
            <a:pPr algn="l">
              <a:spcAft>
                <a:spcPts val="400"/>
              </a:spcAft>
            </a:pPr>
            <a:r>
              <a:rPr sz="1150" b="1" lang="en-GB">
                <a:solidFill>
                  <a:schemeClr val="bg1"/>
                </a:solidFill>
              </a:rPr>
              <a:t>Load (import)</a:t>
            </a:r>
          </a:p>
        </p:txBody>
      </p:sp>
      <p:sp>
        <p:nvSpPr>
          <p:cNvPr id="14" name="Pkg table 1-3"/>
          <p:cNvSpPr/>
          <p:nvPr/>
        </p:nvSpPr>
        <p:spPr>
          <a:xfrm>
            <a:off x="5394960" y="1234440"/>
            <a:ext cx="3264408" cy="3017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Pkg table text 1-3"/>
          <p:cNvSpPr txBox="1"/>
          <p:nvPr/>
        </p:nvSpPr>
        <p:spPr>
          <a:xfrm>
            <a:off x="5486400" y="1234440"/>
            <a:ext cx="3081528" cy="301752"/>
          </a:xfrm>
          <a:prstGeom prst="rect">
            <a:avLst/>
          </a:prstGeom>
          <a:noFill/>
        </p:spPr>
        <p:txBody>
          <a:bodyPr wrap="square" lIns="0" rIns="0" tIns="0" bIns="0" anchor="ctr">
            <a:noAutofit/>
          </a:bodyPr>
          <a:lstStyle/>
          <a:p>
            <a:pPr algn="l">
              <a:spcAft>
                <a:spcPts val="400"/>
              </a:spcAft>
            </a:pPr>
            <a:r>
              <a:rPr sz="1150" b="1" lang="en-GB">
                <a:solidFill>
                  <a:schemeClr val="bg1"/>
                </a:solidFill>
              </a:rPr>
              <a:t>What for</a:t>
            </a:r>
          </a:p>
        </p:txBody>
      </p:sp>
      <p:sp>
        <p:nvSpPr>
          <p:cNvPr id="16" name="Pkg table 2-1"/>
          <p:cNvSpPr/>
          <p:nvPr/>
        </p:nvSpPr>
        <p:spPr>
          <a:xfrm>
            <a:off x="457200" y="1563624"/>
            <a:ext cx="148132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kg table text 2-1"/>
          <p:cNvSpPr txBox="1"/>
          <p:nvPr/>
        </p:nvSpPr>
        <p:spPr>
          <a:xfrm>
            <a:off x="548640" y="1563624"/>
            <a:ext cx="1298448" cy="301752"/>
          </a:xfrm>
          <a:prstGeom prst="rect">
            <a:avLst/>
          </a:prstGeom>
          <a:noFill/>
        </p:spPr>
        <p:txBody>
          <a:bodyPr wrap="square" lIns="0" rIns="0" tIns="0" bIns="0" anchor="ctr">
            <a:noAutofit/>
          </a:bodyPr>
          <a:lstStyle/>
          <a:p>
            <a:pPr algn="l">
              <a:spcAft>
                <a:spcPts val="400"/>
              </a:spcAft>
            </a:pPr>
            <a:r>
              <a:rPr sz="1150" b="1" lang="en-GB">
                <a:solidFill>
                  <a:schemeClr val="tx2"/>
                </a:solidFill>
              </a:rPr>
              <a:t>polars</a:t>
            </a:r>
          </a:p>
        </p:txBody>
      </p:sp>
      <p:sp>
        <p:nvSpPr>
          <p:cNvPr id="18" name="Pkg table 2-2"/>
          <p:cNvSpPr/>
          <p:nvPr/>
        </p:nvSpPr>
        <p:spPr>
          <a:xfrm>
            <a:off x="1965960" y="1563624"/>
            <a:ext cx="340156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Pkg table text 2-2"/>
          <p:cNvSpPr txBox="1"/>
          <p:nvPr/>
        </p:nvSpPr>
        <p:spPr>
          <a:xfrm>
            <a:off x="2057400" y="1563624"/>
            <a:ext cx="321868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import polars as pl</a:t>
            </a:r>
          </a:p>
        </p:txBody>
      </p:sp>
      <p:sp>
        <p:nvSpPr>
          <p:cNvPr id="20" name="Pkg table 2-3"/>
          <p:cNvSpPr/>
          <p:nvPr/>
        </p:nvSpPr>
        <p:spPr>
          <a:xfrm>
            <a:off x="5394960" y="1563624"/>
            <a:ext cx="326440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Pkg table text 2-3"/>
          <p:cNvSpPr txBox="1"/>
          <p:nvPr/>
        </p:nvSpPr>
        <p:spPr>
          <a:xfrm>
            <a:off x="5486400" y="1563624"/>
            <a:ext cx="308152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data frames: read, select, calculate</a:t>
            </a:r>
          </a:p>
        </p:txBody>
      </p:sp>
      <p:sp>
        <p:nvSpPr>
          <p:cNvPr id="22" name="Pkg table 3-1"/>
          <p:cNvSpPr/>
          <p:nvPr/>
        </p:nvSpPr>
        <p:spPr>
          <a:xfrm>
            <a:off x="457200" y="1892808"/>
            <a:ext cx="148132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kg table text 3-1"/>
          <p:cNvSpPr txBox="1"/>
          <p:nvPr/>
        </p:nvSpPr>
        <p:spPr>
          <a:xfrm>
            <a:off x="548640" y="1892808"/>
            <a:ext cx="1298448" cy="301752"/>
          </a:xfrm>
          <a:prstGeom prst="rect">
            <a:avLst/>
          </a:prstGeom>
          <a:noFill/>
        </p:spPr>
        <p:txBody>
          <a:bodyPr wrap="square" lIns="0" rIns="0" tIns="0" bIns="0" anchor="ctr">
            <a:noAutofit/>
          </a:bodyPr>
          <a:lstStyle/>
          <a:p>
            <a:pPr algn="l">
              <a:spcAft>
                <a:spcPts val="400"/>
              </a:spcAft>
            </a:pPr>
            <a:r>
              <a:rPr sz="1150" b="1" lang="en-GB">
                <a:solidFill>
                  <a:schemeClr val="tx2"/>
                </a:solidFill>
              </a:rPr>
              <a:t>plotnine</a:t>
            </a:r>
          </a:p>
        </p:txBody>
      </p:sp>
      <p:sp>
        <p:nvSpPr>
          <p:cNvPr id="24" name="Pkg table 3-2"/>
          <p:cNvSpPr/>
          <p:nvPr/>
        </p:nvSpPr>
        <p:spPr>
          <a:xfrm>
            <a:off x="1965960" y="1892808"/>
            <a:ext cx="340156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Pkg table text 3-2"/>
          <p:cNvSpPr txBox="1"/>
          <p:nvPr/>
        </p:nvSpPr>
        <p:spPr>
          <a:xfrm>
            <a:off x="2057400" y="1892808"/>
            <a:ext cx="321868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from plotnine import ggplot, aes, …</a:t>
            </a:r>
          </a:p>
        </p:txBody>
      </p:sp>
      <p:sp>
        <p:nvSpPr>
          <p:cNvPr id="26" name="Pkg table 3-3"/>
          <p:cNvSpPr/>
          <p:nvPr/>
        </p:nvSpPr>
        <p:spPr>
          <a:xfrm>
            <a:off x="5394960" y="1892808"/>
            <a:ext cx="326440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Pkg table text 3-3"/>
          <p:cNvSpPr txBox="1"/>
          <p:nvPr/>
        </p:nvSpPr>
        <p:spPr>
          <a:xfrm>
            <a:off x="5486400" y="1892808"/>
            <a:ext cx="308152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charts</a:t>
            </a:r>
          </a:p>
        </p:txBody>
      </p:sp>
      <p:sp>
        <p:nvSpPr>
          <p:cNvPr id="28" name="Pkg table 4-1"/>
          <p:cNvSpPr/>
          <p:nvPr/>
        </p:nvSpPr>
        <p:spPr>
          <a:xfrm>
            <a:off x="457200" y="2221992"/>
            <a:ext cx="148132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Pkg table text 4-1"/>
          <p:cNvSpPr txBox="1"/>
          <p:nvPr/>
        </p:nvSpPr>
        <p:spPr>
          <a:xfrm>
            <a:off x="548640" y="2221992"/>
            <a:ext cx="1298448" cy="301752"/>
          </a:xfrm>
          <a:prstGeom prst="rect">
            <a:avLst/>
          </a:prstGeom>
          <a:noFill/>
        </p:spPr>
        <p:txBody>
          <a:bodyPr wrap="square" lIns="0" rIns="0" tIns="0" bIns="0" anchor="ctr">
            <a:noAutofit/>
          </a:bodyPr>
          <a:lstStyle/>
          <a:p>
            <a:pPr algn="l">
              <a:spcAft>
                <a:spcPts val="400"/>
              </a:spcAft>
            </a:pPr>
            <a:r>
              <a:rPr sz="1150" b="1" lang="en-GB">
                <a:solidFill>
                  <a:schemeClr val="tx2"/>
                </a:solidFill>
              </a:rPr>
              <a:t>great-tables</a:t>
            </a:r>
          </a:p>
        </p:txBody>
      </p:sp>
      <p:sp>
        <p:nvSpPr>
          <p:cNvPr id="30" name="Pkg table 4-2"/>
          <p:cNvSpPr/>
          <p:nvPr/>
        </p:nvSpPr>
        <p:spPr>
          <a:xfrm>
            <a:off x="1965960" y="2221992"/>
            <a:ext cx="340156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Pkg table text 4-2"/>
          <p:cNvSpPr txBox="1"/>
          <p:nvPr/>
        </p:nvSpPr>
        <p:spPr>
          <a:xfrm>
            <a:off x="2057400" y="2221992"/>
            <a:ext cx="321868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from great_tables import GT</a:t>
            </a:r>
          </a:p>
        </p:txBody>
      </p:sp>
      <p:sp>
        <p:nvSpPr>
          <p:cNvPr id="32" name="Pkg table 4-3"/>
          <p:cNvSpPr/>
          <p:nvPr/>
        </p:nvSpPr>
        <p:spPr>
          <a:xfrm>
            <a:off x="5394960" y="2221992"/>
            <a:ext cx="326440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Pkg table text 4-3"/>
          <p:cNvSpPr txBox="1"/>
          <p:nvPr/>
        </p:nvSpPr>
        <p:spPr>
          <a:xfrm>
            <a:off x="5486400" y="2221992"/>
            <a:ext cx="308152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formatted tables</a:t>
            </a:r>
          </a:p>
        </p:txBody>
      </p:sp>
      <p:sp>
        <p:nvSpPr>
          <p:cNvPr id="34" name="Pkg table 5-1"/>
          <p:cNvSpPr/>
          <p:nvPr/>
        </p:nvSpPr>
        <p:spPr>
          <a:xfrm>
            <a:off x="457200" y="2551176"/>
            <a:ext cx="148132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Pkg table text 5-1"/>
          <p:cNvSpPr txBox="1"/>
          <p:nvPr/>
        </p:nvSpPr>
        <p:spPr>
          <a:xfrm>
            <a:off x="548640" y="2551176"/>
            <a:ext cx="1298448" cy="301752"/>
          </a:xfrm>
          <a:prstGeom prst="rect">
            <a:avLst/>
          </a:prstGeom>
          <a:noFill/>
        </p:spPr>
        <p:txBody>
          <a:bodyPr wrap="square" lIns="0" rIns="0" tIns="0" bIns="0" anchor="ctr">
            <a:noAutofit/>
          </a:bodyPr>
          <a:lstStyle/>
          <a:p>
            <a:pPr algn="l">
              <a:spcAft>
                <a:spcPts val="400"/>
              </a:spcAft>
            </a:pPr>
            <a:r>
              <a:rPr sz="1150" b="1" lang="en-GB">
                <a:solidFill>
                  <a:schemeClr val="tx2"/>
                </a:solidFill>
              </a:rPr>
              <a:t>statsmodels</a:t>
            </a:r>
          </a:p>
        </p:txBody>
      </p:sp>
      <p:sp>
        <p:nvSpPr>
          <p:cNvPr id="36" name="Pkg table 5-2"/>
          <p:cNvSpPr/>
          <p:nvPr/>
        </p:nvSpPr>
        <p:spPr>
          <a:xfrm>
            <a:off x="1965960" y="2551176"/>
            <a:ext cx="340156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Pkg table text 5-2"/>
          <p:cNvSpPr txBox="1"/>
          <p:nvPr/>
        </p:nvSpPr>
        <p:spPr>
          <a:xfrm>
            <a:off x="2057400" y="2551176"/>
            <a:ext cx="321868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import statsmodels.formula.api as smf</a:t>
            </a:r>
          </a:p>
        </p:txBody>
      </p:sp>
      <p:sp>
        <p:nvSpPr>
          <p:cNvPr id="38" name="Pkg table 5-3"/>
          <p:cNvSpPr/>
          <p:nvPr/>
        </p:nvSpPr>
        <p:spPr>
          <a:xfrm>
            <a:off x="5394960" y="2551176"/>
            <a:ext cx="326440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Pkg table text 5-3"/>
          <p:cNvSpPr txBox="1"/>
          <p:nvPr/>
        </p:nvSpPr>
        <p:spPr>
          <a:xfrm>
            <a:off x="5486400" y="2551176"/>
            <a:ext cx="308152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regression and tests</a:t>
            </a:r>
          </a:p>
        </p:txBody>
      </p:sp>
      <p:sp>
        <p:nvSpPr>
          <p:cNvPr id="40" name="Pkg table 6-1"/>
          <p:cNvSpPr/>
          <p:nvPr/>
        </p:nvSpPr>
        <p:spPr>
          <a:xfrm>
            <a:off x="457200" y="2880360"/>
            <a:ext cx="148132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Pkg table text 6-1"/>
          <p:cNvSpPr txBox="1"/>
          <p:nvPr/>
        </p:nvSpPr>
        <p:spPr>
          <a:xfrm>
            <a:off x="548640" y="2880360"/>
            <a:ext cx="1298448" cy="301752"/>
          </a:xfrm>
          <a:prstGeom prst="rect">
            <a:avLst/>
          </a:prstGeom>
          <a:noFill/>
        </p:spPr>
        <p:txBody>
          <a:bodyPr wrap="square" lIns="0" rIns="0" tIns="0" bIns="0" anchor="ctr">
            <a:noAutofit/>
          </a:bodyPr>
          <a:lstStyle/>
          <a:p>
            <a:pPr algn="l">
              <a:spcAft>
                <a:spcPts val="400"/>
              </a:spcAft>
            </a:pPr>
            <a:r>
              <a:rPr sz="1150" b="1" lang="en-GB">
                <a:solidFill>
                  <a:schemeClr val="tx2"/>
                </a:solidFill>
              </a:rPr>
              <a:t>numpy</a:t>
            </a:r>
          </a:p>
        </p:txBody>
      </p:sp>
      <p:sp>
        <p:nvSpPr>
          <p:cNvPr id="42" name="Pkg table 6-2"/>
          <p:cNvSpPr/>
          <p:nvPr/>
        </p:nvSpPr>
        <p:spPr>
          <a:xfrm>
            <a:off x="1965960" y="2880360"/>
            <a:ext cx="340156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Pkg table text 6-2"/>
          <p:cNvSpPr txBox="1"/>
          <p:nvPr/>
        </p:nvSpPr>
        <p:spPr>
          <a:xfrm>
            <a:off x="2057400" y="2880360"/>
            <a:ext cx="321868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import numpy as np</a:t>
            </a:r>
          </a:p>
        </p:txBody>
      </p:sp>
      <p:sp>
        <p:nvSpPr>
          <p:cNvPr id="44" name="Pkg table 6-3"/>
          <p:cNvSpPr/>
          <p:nvPr/>
        </p:nvSpPr>
        <p:spPr>
          <a:xfrm>
            <a:off x="5394960" y="2880360"/>
            <a:ext cx="326440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Pkg table text 6-3"/>
          <p:cNvSpPr txBox="1"/>
          <p:nvPr/>
        </p:nvSpPr>
        <p:spPr>
          <a:xfrm>
            <a:off x="5486400" y="2880360"/>
            <a:ext cx="308152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np.log in model formulas</a:t>
            </a:r>
          </a:p>
        </p:txBody>
      </p:sp>
      <p:sp>
        <p:nvSpPr>
          <p:cNvPr id="46" name="Pkg table 7-1"/>
          <p:cNvSpPr/>
          <p:nvPr/>
        </p:nvSpPr>
        <p:spPr>
          <a:xfrm>
            <a:off x="457200" y="3209544"/>
            <a:ext cx="148132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Pkg table text 7-1"/>
          <p:cNvSpPr txBox="1"/>
          <p:nvPr/>
        </p:nvSpPr>
        <p:spPr>
          <a:xfrm>
            <a:off x="548640" y="3209544"/>
            <a:ext cx="1298448" cy="301752"/>
          </a:xfrm>
          <a:prstGeom prst="rect">
            <a:avLst/>
          </a:prstGeom>
          <a:noFill/>
        </p:spPr>
        <p:txBody>
          <a:bodyPr wrap="square" lIns="0" rIns="0" tIns="0" bIns="0" anchor="ctr">
            <a:noAutofit/>
          </a:bodyPr>
          <a:lstStyle/>
          <a:p>
            <a:pPr algn="l">
              <a:spcAft>
                <a:spcPts val="400"/>
              </a:spcAft>
            </a:pPr>
            <a:r>
              <a:rPr sz="1150" b="1" lang="en-GB">
                <a:solidFill>
                  <a:schemeClr val="tx2"/>
                </a:solidFill>
              </a:rPr>
              <a:t>scipy</a:t>
            </a:r>
          </a:p>
        </p:txBody>
      </p:sp>
      <p:sp>
        <p:nvSpPr>
          <p:cNvPr id="48" name="Pkg table 7-2"/>
          <p:cNvSpPr/>
          <p:nvPr/>
        </p:nvSpPr>
        <p:spPr>
          <a:xfrm>
            <a:off x="1965960" y="3209544"/>
            <a:ext cx="340156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Pkg table text 7-2"/>
          <p:cNvSpPr txBox="1"/>
          <p:nvPr/>
        </p:nvSpPr>
        <p:spPr>
          <a:xfrm>
            <a:off x="2057400" y="3209544"/>
            <a:ext cx="321868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from scipy import stats</a:t>
            </a:r>
          </a:p>
        </p:txBody>
      </p:sp>
      <p:sp>
        <p:nvSpPr>
          <p:cNvPr id="50" name="Pkg table 7-3"/>
          <p:cNvSpPr/>
          <p:nvPr/>
        </p:nvSpPr>
        <p:spPr>
          <a:xfrm>
            <a:off x="5394960" y="3209544"/>
            <a:ext cx="326440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Pkg table text 7-3"/>
          <p:cNvSpPr txBox="1"/>
          <p:nvPr/>
        </p:nvSpPr>
        <p:spPr>
          <a:xfrm>
            <a:off x="5486400" y="3209544"/>
            <a:ext cx="308152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p-value of a correlation</a:t>
            </a:r>
          </a:p>
        </p:txBody>
      </p:sp>
      <p:sp>
        <p:nvSpPr>
          <p:cNvPr id="52" name="Pkg table 8-1"/>
          <p:cNvSpPr/>
          <p:nvPr/>
        </p:nvSpPr>
        <p:spPr>
          <a:xfrm>
            <a:off x="457200" y="3538728"/>
            <a:ext cx="148132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Pkg table text 8-1"/>
          <p:cNvSpPr txBox="1"/>
          <p:nvPr/>
        </p:nvSpPr>
        <p:spPr>
          <a:xfrm>
            <a:off x="548640" y="3538728"/>
            <a:ext cx="1298448" cy="301752"/>
          </a:xfrm>
          <a:prstGeom prst="rect">
            <a:avLst/>
          </a:prstGeom>
          <a:noFill/>
        </p:spPr>
        <p:txBody>
          <a:bodyPr wrap="square" lIns="0" rIns="0" tIns="0" bIns="0" anchor="ctr">
            <a:noAutofit/>
          </a:bodyPr>
          <a:lstStyle/>
          <a:p>
            <a:pPr algn="l">
              <a:spcAft>
                <a:spcPts val="400"/>
              </a:spcAft>
            </a:pPr>
            <a:r>
              <a:rPr sz="1150" b="1" lang="en-GB">
                <a:solidFill>
                  <a:schemeClr val="tx2"/>
                </a:solidFill>
              </a:rPr>
              <a:t>pyarrow</a:t>
            </a:r>
          </a:p>
        </p:txBody>
      </p:sp>
      <p:sp>
        <p:nvSpPr>
          <p:cNvPr id="54" name="Pkg table 8-2"/>
          <p:cNvSpPr/>
          <p:nvPr/>
        </p:nvSpPr>
        <p:spPr>
          <a:xfrm>
            <a:off x="1965960" y="3538728"/>
            <a:ext cx="340156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Pkg table text 8-2"/>
          <p:cNvSpPr txBox="1"/>
          <p:nvPr/>
        </p:nvSpPr>
        <p:spPr>
          <a:xfrm>
            <a:off x="2057400" y="3538728"/>
            <a:ext cx="321868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no import needed</a:t>
            </a:r>
          </a:p>
        </p:txBody>
      </p:sp>
      <p:sp>
        <p:nvSpPr>
          <p:cNvPr id="56" name="Pkg table 8-3"/>
          <p:cNvSpPr/>
          <p:nvPr/>
        </p:nvSpPr>
        <p:spPr>
          <a:xfrm>
            <a:off x="5394960" y="3538728"/>
            <a:ext cx="326440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Pkg table text 8-3"/>
          <p:cNvSpPr txBox="1"/>
          <p:nvPr/>
        </p:nvSpPr>
        <p:spPr>
          <a:xfrm>
            <a:off x="5486400" y="3538728"/>
            <a:ext cx="308152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polars → plotnine and statsmodels</a:t>
            </a:r>
          </a:p>
        </p:txBody>
      </p:sp>
      <p:sp>
        <p:nvSpPr>
          <p:cNvPr id="58" name="Pkg table 9-1"/>
          <p:cNvSpPr/>
          <p:nvPr/>
        </p:nvSpPr>
        <p:spPr>
          <a:xfrm>
            <a:off x="457200" y="3867912"/>
            <a:ext cx="148132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Pkg table text 9-1"/>
          <p:cNvSpPr txBox="1"/>
          <p:nvPr/>
        </p:nvSpPr>
        <p:spPr>
          <a:xfrm>
            <a:off x="548640" y="3867912"/>
            <a:ext cx="1298448" cy="301752"/>
          </a:xfrm>
          <a:prstGeom prst="rect">
            <a:avLst/>
          </a:prstGeom>
          <a:noFill/>
        </p:spPr>
        <p:txBody>
          <a:bodyPr wrap="square" lIns="0" rIns="0" tIns="0" bIns="0" anchor="ctr">
            <a:noAutofit/>
          </a:bodyPr>
          <a:lstStyle/>
          <a:p>
            <a:pPr algn="l">
              <a:spcAft>
                <a:spcPts val="400"/>
              </a:spcAft>
            </a:pPr>
            <a:r>
              <a:rPr sz="1150" b="1" lang="en-GB">
                <a:solidFill>
                  <a:schemeClr val="tx2"/>
                </a:solidFill>
              </a:rPr>
              <a:t>jupyter</a:t>
            </a:r>
          </a:p>
        </p:txBody>
      </p:sp>
      <p:sp>
        <p:nvSpPr>
          <p:cNvPr id="60" name="Pkg table 9-2"/>
          <p:cNvSpPr/>
          <p:nvPr/>
        </p:nvSpPr>
        <p:spPr>
          <a:xfrm>
            <a:off x="1965960" y="3867912"/>
            <a:ext cx="340156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Pkg table text 9-2"/>
          <p:cNvSpPr txBox="1"/>
          <p:nvPr/>
        </p:nvSpPr>
        <p:spPr>
          <a:xfrm>
            <a:off x="2057400" y="3867912"/>
            <a:ext cx="321868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no import needed</a:t>
            </a:r>
          </a:p>
        </p:txBody>
      </p:sp>
      <p:sp>
        <p:nvSpPr>
          <p:cNvPr id="62" name="Pkg table 9-3"/>
          <p:cNvSpPr/>
          <p:nvPr/>
        </p:nvSpPr>
        <p:spPr>
          <a:xfrm>
            <a:off x="5394960" y="3867912"/>
            <a:ext cx="3264408" cy="3017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Pkg table text 9-3"/>
          <p:cNvSpPr txBox="1"/>
          <p:nvPr/>
        </p:nvSpPr>
        <p:spPr>
          <a:xfrm>
            <a:off x="5486400" y="3867912"/>
            <a:ext cx="3081528" cy="301752"/>
          </a:xfrm>
          <a:prstGeom prst="rect">
            <a:avLst/>
          </a:prstGeom>
          <a:noFill/>
        </p:spPr>
        <p:txBody>
          <a:bodyPr wrap="square" lIns="0" rIns="0" tIns="0" bIns="0" anchor="ctr">
            <a:noAutofit/>
          </a:bodyPr>
          <a:lstStyle/>
          <a:p>
            <a:pPr algn="l">
              <a:spcAft>
                <a:spcPts val="400"/>
              </a:spcAft>
            </a:pPr>
            <a:r>
              <a:rPr sz="1150" b="0" lang="en-GB">
                <a:solidFill>
                  <a:schemeClr val="tx1"/>
                </a:solidFill>
              </a:rPr>
              <a:t>lets Quarto run Python</a:t>
            </a:r>
          </a:p>
        </p:txBody>
      </p:sp>
      <p:sp>
        <p:nvSpPr>
          <p:cNvPr id="64" name="Pkg trap box"/>
          <p:cNvSpPr/>
          <p:nvPr/>
        </p:nvSpPr>
        <p:spPr>
          <a:xfrm>
            <a:off x="457200" y="416052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5" name="Icon Pkg trap" descr=""/>
          <p:cNvPicPr>
            <a:picLocks noChangeAspect="1"/>
          </p:cNvPicPr>
          <p:nvPr/>
        </p:nvPicPr>
        <p:blipFill>
          <a:blip r:embed="rId3"/>
          <a:stretch>
            <a:fillRect/>
          </a:stretch>
        </p:blipFill>
        <p:spPr>
          <a:xfrm>
            <a:off x="658368" y="4297680"/>
            <a:ext cx="365760" cy="365760"/>
          </a:xfrm>
          <a:prstGeom prst="rect">
            <a:avLst/>
          </a:prstGeom>
        </p:spPr>
      </p:pic>
      <p:sp>
        <p:nvSpPr>
          <p:cNvPr id="66" name="Pkg trap text"/>
          <p:cNvSpPr txBox="1"/>
          <p:nvPr/>
        </p:nvSpPr>
        <p:spPr>
          <a:xfrm>
            <a:off x="1207008" y="4160520"/>
            <a:ext cx="7315200" cy="640080"/>
          </a:xfrm>
          <a:prstGeom prst="rect">
            <a:avLst/>
          </a:prstGeom>
          <a:noFill/>
        </p:spPr>
        <p:txBody>
          <a:bodyPr wrap="square" lIns="0" rIns="0" tIns="0" bIns="0" anchor="ctr">
            <a:noAutofit/>
          </a:bodyPr>
          <a:lstStyle/>
          <a:p>
            <a:pPr algn="l">
              <a:spcAft>
                <a:spcPts val="400"/>
              </a:spcAft>
            </a:pPr>
            <a:r>
              <a:rPr sz="1200" b="1" lang="en-GB">
                <a:solidFill>
                  <a:schemeClr val="bg1"/>
                </a:solidFill>
              </a:rPr>
              <a:t>Install name ≠ import name: </a:t>
            </a:r>
            <a:r>
              <a:rPr sz="1200" b="0" lang="en-GB">
                <a:solidFill>
                  <a:schemeClr val="bg1"/>
                </a:solidFill>
              </a:rPr>
              <a:t>install great-tables, load great_tables. numpy, scipy and pandas come with statsmodels.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Install once, load in every file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Install code caption bar"/>
          <p:cNvSpPr/>
          <p:nvPr/>
        </p:nvSpPr>
        <p:spPr>
          <a:xfrm>
            <a:off x="457200" y="1234440"/>
            <a:ext cx="82296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Install code caption"/>
          <p:cNvSpPr txBox="1"/>
          <p:nvPr/>
        </p:nvSpPr>
        <p:spPr>
          <a:xfrm>
            <a:off x="566928" y="1234440"/>
            <a:ext cx="80101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1  Install once: in a Positron cell or the Console, with Python 3.14 (.venv)</a:t>
            </a:r>
          </a:p>
        </p:txBody>
      </p:sp>
      <p:sp>
        <p:nvSpPr>
          <p:cNvPr id="12" name="Install code box"/>
          <p:cNvSpPr/>
          <p:nvPr/>
        </p:nvSpPr>
        <p:spPr>
          <a:xfrm>
            <a:off x="457200" y="150876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Install code code"/>
          <p:cNvSpPr txBox="1"/>
          <p:nvPr/>
        </p:nvSpPr>
        <p:spPr>
          <a:xfrm>
            <a:off x="594360" y="1600200"/>
            <a:ext cx="7955280" cy="32004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%pip install polars plotnine great-tables statsmodels pyarrow jupyter</a:t>
            </a:r>
          </a:p>
        </p:txBody>
      </p:sp>
      <p:sp>
        <p:nvSpPr>
          <p:cNvPr id="14" name="Load code caption bar"/>
          <p:cNvSpPr/>
          <p:nvPr/>
        </p:nvSpPr>
        <p:spPr>
          <a:xfrm>
            <a:off x="457200" y="2148840"/>
            <a:ext cx="42062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oad code caption"/>
          <p:cNvSpPr txBox="1"/>
          <p:nvPr/>
        </p:nvSpPr>
        <p:spPr>
          <a:xfrm>
            <a:off x="566928" y="2148840"/>
            <a:ext cx="39867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2  Load at the top of every file</a:t>
            </a:r>
          </a:p>
        </p:txBody>
      </p:sp>
      <p:sp>
        <p:nvSpPr>
          <p:cNvPr id="16" name="Load code box"/>
          <p:cNvSpPr/>
          <p:nvPr/>
        </p:nvSpPr>
        <p:spPr>
          <a:xfrm>
            <a:off x="457200" y="2423160"/>
            <a:ext cx="4206240" cy="1600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oad code code"/>
          <p:cNvSpPr txBox="1"/>
          <p:nvPr/>
        </p:nvSpPr>
        <p:spPr>
          <a:xfrm>
            <a:off x="594360" y="2514600"/>
            <a:ext cx="3931920" cy="141732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import numpy as np</a:t>
            </a:r>
          </a:p>
          <a:p>
            <a:pPr algn="l">
              <a:spcAft>
                <a:spcPts val="0"/>
              </a:spcAft>
            </a:pPr>
            <a:r>
              <a:rPr sz="1100" b="0" lang="en-GB">
                <a:solidFill>
                  <a:schemeClr val="bg1"/>
                </a:solidFill>
                <a:latin typeface="Consolas"/>
              </a:rPr>
              <a:t>import polars as pl</a:t>
            </a:r>
          </a:p>
          <a:p>
            <a:pPr algn="l">
              <a:spcAft>
                <a:spcPts val="0"/>
              </a:spcAft>
            </a:pPr>
            <a:r>
              <a:rPr sz="1100" b="0" lang="en-GB">
                <a:solidFill>
                  <a:schemeClr val="bg1"/>
                </a:solidFill>
                <a:latin typeface="Consolas"/>
              </a:rPr>
              <a:t>import statsmodels.formula.api as smf</a:t>
            </a:r>
          </a:p>
          <a:p>
            <a:pPr algn="l">
              <a:spcAft>
                <a:spcPts val="0"/>
              </a:spcAft>
            </a:pPr>
            <a:r>
              <a:rPr sz="1100" b="0" lang="en-GB">
                <a:solidFill>
                  <a:schemeClr val="bg1"/>
                </a:solidFill>
                <a:latin typeface="Consolas"/>
              </a:rPr>
              <a:t>from great_tables import GT</a:t>
            </a:r>
          </a:p>
          <a:p>
            <a:pPr algn="l">
              <a:spcAft>
                <a:spcPts val="0"/>
              </a:spcAft>
            </a:pPr>
            <a:r>
              <a:rPr sz="1100" b="0" lang="en-GB">
                <a:solidFill>
                  <a:schemeClr val="bg1"/>
                </a:solidFill>
                <a:latin typeface="Consolas"/>
              </a:rPr>
              <a:t>from plotnine import (ggplot, aes,</a:t>
            </a:r>
          </a:p>
          <a:p>
            <a:pPr algn="l">
              <a:spcAft>
                <a:spcPts val="0"/>
              </a:spcAft>
            </a:pPr>
            <a:r>
              <a:rPr sz="1100" b="0" lang="en-GB">
                <a:solidFill>
                  <a:schemeClr val="bg1"/>
                </a:solidFill>
                <a:latin typeface="Consolas"/>
              </a:rPr>
              <a:t>                      geom_point, labs)</a:t>
            </a:r>
          </a:p>
        </p:txBody>
      </p:sp>
      <p:sp>
        <p:nvSpPr>
          <p:cNvPr id="18" name="Pkg rows row 1"/>
          <p:cNvSpPr/>
          <p:nvPr/>
        </p:nvSpPr>
        <p:spPr>
          <a:xfrm>
            <a:off x="4800600" y="2148840"/>
            <a:ext cx="38862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Pkg rows bar 1"/>
          <p:cNvSpPr/>
          <p:nvPr/>
        </p:nvSpPr>
        <p:spPr>
          <a:xfrm>
            <a:off x="4800600" y="214884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Pkg rows text 1"/>
          <p:cNvSpPr txBox="1"/>
          <p:nvPr/>
        </p:nvSpPr>
        <p:spPr>
          <a:xfrm>
            <a:off x="5001768" y="2148840"/>
            <a:ext cx="359359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Install </a:t>
            </a:r>
            <a:r>
              <a:rPr sz="1200" b="0" lang="en-GB">
                <a:solidFill>
                  <a:schemeClr val="tx1"/>
                </a:solidFill>
              </a:rPr>
              <a:t>once per computer; the packages stay</a:t>
            </a:r>
          </a:p>
        </p:txBody>
      </p:sp>
      <p:sp>
        <p:nvSpPr>
          <p:cNvPr id="21" name="Pkg rows row 2"/>
          <p:cNvSpPr/>
          <p:nvPr/>
        </p:nvSpPr>
        <p:spPr>
          <a:xfrm>
            <a:off x="4800600" y="2788920"/>
            <a:ext cx="38862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kg rows bar 2"/>
          <p:cNvSpPr/>
          <p:nvPr/>
        </p:nvSpPr>
        <p:spPr>
          <a:xfrm>
            <a:off x="4800600" y="278892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kg rows text 2"/>
          <p:cNvSpPr txBox="1"/>
          <p:nvPr/>
        </p:nvSpPr>
        <p:spPr>
          <a:xfrm>
            <a:off x="5001768" y="2788920"/>
            <a:ext cx="359359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Load </a:t>
            </a:r>
            <a:r>
              <a:rPr sz="1200" b="0" lang="en-GB">
                <a:solidFill>
                  <a:schemeClr val="tx1"/>
                </a:solidFill>
              </a:rPr>
              <a:t>every time Python starts or Quarto renders</a:t>
            </a:r>
          </a:p>
        </p:txBody>
      </p:sp>
      <p:sp>
        <p:nvSpPr>
          <p:cNvPr id="24" name="Pkg rows row 3"/>
          <p:cNvSpPr/>
          <p:nvPr/>
        </p:nvSpPr>
        <p:spPr>
          <a:xfrm>
            <a:off x="4800600" y="3429000"/>
            <a:ext cx="38862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Pkg rows bar 3"/>
          <p:cNvSpPr/>
          <p:nvPr/>
        </p:nvSpPr>
        <p:spPr>
          <a:xfrm>
            <a:off x="4800600" y="342900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Pkg rows text 3"/>
          <p:cNvSpPr txBox="1"/>
          <p:nvPr/>
        </p:nvSpPr>
        <p:spPr>
          <a:xfrm>
            <a:off x="5001768" y="3429000"/>
            <a:ext cx="359359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Check: </a:t>
            </a:r>
            <a:r>
              <a:rPr sz="1200" b="0" lang="en-GB">
                <a:solidFill>
                  <a:schemeClr val="tx1"/>
                </a:solidFill>
              </a:rPr>
              <a:t>pl.__version__ prints a version number</a:t>
            </a:r>
          </a:p>
        </p:txBody>
      </p:sp>
      <p:sp>
        <p:nvSpPr>
          <p:cNvPr id="27" name="Pkg fix box"/>
          <p:cNvSpPr/>
          <p:nvPr/>
        </p:nvSpPr>
        <p:spPr>
          <a:xfrm>
            <a:off x="457200" y="416052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Icon Pkg fix" descr=""/>
          <p:cNvPicPr>
            <a:picLocks noChangeAspect="1"/>
          </p:cNvPicPr>
          <p:nvPr/>
        </p:nvPicPr>
        <p:blipFill>
          <a:blip r:embed="rId3"/>
          <a:stretch>
            <a:fillRect/>
          </a:stretch>
        </p:blipFill>
        <p:spPr>
          <a:xfrm>
            <a:off x="658368" y="4297680"/>
            <a:ext cx="365760" cy="365760"/>
          </a:xfrm>
          <a:prstGeom prst="rect">
            <a:avLst/>
          </a:prstGeom>
        </p:spPr>
      </p:pic>
      <p:sp>
        <p:nvSpPr>
          <p:cNvPr id="29" name="Pkg fix text"/>
          <p:cNvSpPr txBox="1"/>
          <p:nvPr/>
        </p:nvSpPr>
        <p:spPr>
          <a:xfrm>
            <a:off x="1207008" y="4160520"/>
            <a:ext cx="7315200" cy="640080"/>
          </a:xfrm>
          <a:prstGeom prst="rect">
            <a:avLst/>
          </a:prstGeom>
          <a:noFill/>
        </p:spPr>
        <p:txBody>
          <a:bodyPr wrap="square" lIns="0" rIns="0" tIns="0" bIns="0" anchor="ctr">
            <a:noAutofit/>
          </a:bodyPr>
          <a:lstStyle/>
          <a:p>
            <a:pPr algn="l">
              <a:spcAft>
                <a:spcPts val="400"/>
              </a:spcAft>
            </a:pPr>
            <a:r>
              <a:rPr sz="1200" b="1" lang="en-GB">
                <a:solidFill>
                  <a:schemeClr val="bg1"/>
                </a:solidFill>
              </a:rPr>
              <a:t>'No module named …'? </a:t>
            </a:r>
            <a:r>
              <a:rPr sz="1200" b="0" lang="en-GB">
                <a:solidFill>
                  <a:schemeClr val="bg1"/>
                </a:solidFill>
              </a:rPr>
              <a:t>pick Python 3.14 (.venv) at the top right and install again; the terminal fix is in the set-up guide.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1: the data and the mean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ean cod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ean cod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polars</a:t>
            </a:r>
          </a:p>
        </p:txBody>
      </p:sp>
      <p:sp>
        <p:nvSpPr>
          <p:cNvPr id="12" name="Mean code box"/>
          <p:cNvSpPr/>
          <p:nvPr/>
        </p:nvSpPr>
        <p:spPr>
          <a:xfrm>
            <a:off x="457200" y="1508760"/>
            <a:ext cx="4937760" cy="24688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Mean code code"/>
          <p:cNvSpPr txBox="1"/>
          <p:nvPr/>
        </p:nvSpPr>
        <p:spPr>
          <a:xfrm>
            <a:off x="594360" y="1600200"/>
            <a:ext cx="4663440" cy="228600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import polars as pl</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kiosk = pl.DataFrame({</a:t>
            </a:r>
          </a:p>
          <a:p>
            <a:pPr algn="l">
              <a:spcAft>
                <a:spcPts val="0"/>
              </a:spcAft>
            </a:pPr>
            <a:r>
              <a:rPr sz="1100" b="0" lang="en-GB">
                <a:solidFill>
                  <a:schemeClr val="bg1"/>
                </a:solidFill>
                <a:latin typeface="Consolas"/>
              </a:rPr>
              <a:t>    "week":  [1, 2, 3, 4, 5],</a:t>
            </a:r>
          </a:p>
          <a:p>
            <a:pPr algn="l">
              <a:spcAft>
                <a:spcPts val="0"/>
              </a:spcAft>
            </a:pPr>
            <a:r>
              <a:rPr sz="1100" b="0" lang="en-GB">
                <a:solidFill>
                  <a:schemeClr val="bg1"/>
                </a:solidFill>
                <a:latin typeface="Consolas"/>
              </a:rPr>
              <a:t>    "price": [2.0, 2.5, 3.0, 3.5, 4.0],</a:t>
            </a:r>
          </a:p>
          <a:p>
            <a:pPr algn="l">
              <a:spcAft>
                <a:spcPts val="0"/>
              </a:spcAft>
            </a:pPr>
            <a:r>
              <a:rPr sz="1100" b="0" lang="en-GB">
                <a:solidFill>
                  <a:schemeClr val="bg1"/>
                </a:solidFill>
                <a:latin typeface="Consolas"/>
              </a:rPr>
              <a:t>    "units": [110, 100, 80, 70, 40],</a:t>
            </a:r>
          </a:p>
          <a:p>
            <a:pPr algn="l">
              <a:spcAft>
                <a:spcPts val="0"/>
              </a:spcAft>
            </a:pPr>
            <a:r>
              <a:rPr sz="1100" b="0" lang="en-GB">
                <a:solidFill>
                  <a:schemeClr val="bg1"/>
                </a:solidFill>
                <a:latin typeface="Consolas"/>
              </a:rPr>
              <a:t>})</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n = kiosk.height                         # 5</a:t>
            </a:r>
          </a:p>
          <a:p>
            <a:pPr algn="l">
              <a:spcAft>
                <a:spcPts val="0"/>
              </a:spcAft>
            </a:pPr>
            <a:r>
              <a:rPr sz="1100" b="0" lang="en-GB">
                <a:solidFill>
                  <a:schemeClr val="bg1"/>
                </a:solidFill>
                <a:latin typeface="Consolas"/>
              </a:rPr>
              <a:t>mean_units = kiosk["units"].sum() / n    # by hand</a:t>
            </a:r>
          </a:p>
          <a:p>
            <a:pPr algn="l">
              <a:spcAft>
                <a:spcPts val="0"/>
              </a:spcAft>
            </a:pPr>
            <a:r>
              <a:rPr sz="1100" b="0" lang="en-GB">
                <a:solidFill>
                  <a:schemeClr val="bg1"/>
                </a:solidFill>
                <a:latin typeface="Consolas"/>
              </a:rPr>
              <a:t>kiosk["units"].mean()                    # check</a:t>
            </a:r>
          </a:p>
          <a:p>
            <a:pPr algn="l">
              <a:spcAft>
                <a:spcPts val="0"/>
              </a:spcAft>
            </a:pPr>
            <a:r>
              <a:rPr sz="1100" b="0" lang="en-GB">
                <a:solidFill>
                  <a:schemeClr val="bg1"/>
                </a:solidFill>
                <a:latin typeface="Consolas"/>
              </a:rPr>
              <a:t>kiosk["units"].median()</a:t>
            </a:r>
          </a:p>
        </p:txBody>
      </p:sp>
      <p:sp>
        <p:nvSpPr>
          <p:cNvPr id="14" name="Mean out 1-1"/>
          <p:cNvSpPr/>
          <p:nvPr/>
        </p:nvSpPr>
        <p:spPr>
          <a:xfrm>
            <a:off x="5532120" y="1234440"/>
            <a:ext cx="18013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Mean out text 1-1"/>
          <p:cNvSpPr txBox="1"/>
          <p:nvPr/>
        </p:nvSpPr>
        <p:spPr>
          <a:xfrm>
            <a:off x="5623560" y="1234440"/>
            <a:ext cx="161848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Result</a:t>
            </a:r>
          </a:p>
        </p:txBody>
      </p:sp>
      <p:sp>
        <p:nvSpPr>
          <p:cNvPr id="16" name="Mean out 1-2"/>
          <p:cNvSpPr/>
          <p:nvPr/>
        </p:nvSpPr>
        <p:spPr>
          <a:xfrm>
            <a:off x="7360920" y="1234440"/>
            <a:ext cx="12984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ean out text 1-2"/>
          <p:cNvSpPr txBox="1"/>
          <p:nvPr/>
        </p:nvSpPr>
        <p:spPr>
          <a:xfrm>
            <a:off x="7452360" y="1234440"/>
            <a:ext cx="111556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Value</a:t>
            </a:r>
          </a:p>
        </p:txBody>
      </p:sp>
      <p:sp>
        <p:nvSpPr>
          <p:cNvPr id="18" name="Mean out 2-1"/>
          <p:cNvSpPr/>
          <p:nvPr/>
        </p:nvSpPr>
        <p:spPr>
          <a:xfrm>
            <a:off x="5532120" y="1627632"/>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Mean out text 2-1"/>
          <p:cNvSpPr txBox="1"/>
          <p:nvPr/>
        </p:nvSpPr>
        <p:spPr>
          <a:xfrm>
            <a:off x="5623560" y="1627632"/>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n</a:t>
            </a:r>
          </a:p>
        </p:txBody>
      </p:sp>
      <p:sp>
        <p:nvSpPr>
          <p:cNvPr id="20" name="Mean out 2-2"/>
          <p:cNvSpPr/>
          <p:nvPr/>
        </p:nvSpPr>
        <p:spPr>
          <a:xfrm>
            <a:off x="7360920" y="1627632"/>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Mean out text 2-2"/>
          <p:cNvSpPr txBox="1"/>
          <p:nvPr/>
        </p:nvSpPr>
        <p:spPr>
          <a:xfrm>
            <a:off x="7452360" y="1627632"/>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5</a:t>
            </a:r>
          </a:p>
        </p:txBody>
      </p:sp>
      <p:sp>
        <p:nvSpPr>
          <p:cNvPr id="22" name="Mean out 3-1"/>
          <p:cNvSpPr/>
          <p:nvPr/>
        </p:nvSpPr>
        <p:spPr>
          <a:xfrm>
            <a:off x="5532120" y="2020824"/>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Mean out text 3-1"/>
          <p:cNvSpPr txBox="1"/>
          <p:nvPr/>
        </p:nvSpPr>
        <p:spPr>
          <a:xfrm>
            <a:off x="5623560" y="2020824"/>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mean, by hand</a:t>
            </a:r>
          </a:p>
        </p:txBody>
      </p:sp>
      <p:sp>
        <p:nvSpPr>
          <p:cNvPr id="24" name="Mean out 3-2"/>
          <p:cNvSpPr/>
          <p:nvPr/>
        </p:nvSpPr>
        <p:spPr>
          <a:xfrm>
            <a:off x="7360920" y="2020824"/>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Mean out text 3-2"/>
          <p:cNvSpPr txBox="1"/>
          <p:nvPr/>
        </p:nvSpPr>
        <p:spPr>
          <a:xfrm>
            <a:off x="7452360" y="2020824"/>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80.0</a:t>
            </a:r>
          </a:p>
        </p:txBody>
      </p:sp>
      <p:sp>
        <p:nvSpPr>
          <p:cNvPr id="26" name="Mean out 4-1"/>
          <p:cNvSpPr/>
          <p:nvPr/>
        </p:nvSpPr>
        <p:spPr>
          <a:xfrm>
            <a:off x="5532120" y="2414016"/>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Mean out text 4-1"/>
          <p:cNvSpPr txBox="1"/>
          <p:nvPr/>
        </p:nvSpPr>
        <p:spPr>
          <a:xfrm>
            <a:off x="5623560" y="2414016"/>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mean(), check</a:t>
            </a:r>
          </a:p>
        </p:txBody>
      </p:sp>
      <p:sp>
        <p:nvSpPr>
          <p:cNvPr id="28" name="Mean out 4-2"/>
          <p:cNvSpPr/>
          <p:nvPr/>
        </p:nvSpPr>
        <p:spPr>
          <a:xfrm>
            <a:off x="7360920" y="2414016"/>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Mean out text 4-2"/>
          <p:cNvSpPr txBox="1"/>
          <p:nvPr/>
        </p:nvSpPr>
        <p:spPr>
          <a:xfrm>
            <a:off x="7452360" y="2414016"/>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80.0</a:t>
            </a:r>
          </a:p>
        </p:txBody>
      </p:sp>
      <p:sp>
        <p:nvSpPr>
          <p:cNvPr id="30" name="Mean out 5-1"/>
          <p:cNvSpPr/>
          <p:nvPr/>
        </p:nvSpPr>
        <p:spPr>
          <a:xfrm>
            <a:off x="5532120" y="2807208"/>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Mean out text 5-1"/>
          <p:cNvSpPr txBox="1"/>
          <p:nvPr/>
        </p:nvSpPr>
        <p:spPr>
          <a:xfrm>
            <a:off x="5623560" y="2807208"/>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median()</a:t>
            </a:r>
          </a:p>
        </p:txBody>
      </p:sp>
      <p:sp>
        <p:nvSpPr>
          <p:cNvPr id="32" name="Mean out 5-2"/>
          <p:cNvSpPr/>
          <p:nvPr/>
        </p:nvSpPr>
        <p:spPr>
          <a:xfrm>
            <a:off x="7360920" y="2807208"/>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Mean out text 5-2"/>
          <p:cNvSpPr txBox="1"/>
          <p:nvPr/>
        </p:nvSpPr>
        <p:spPr>
          <a:xfrm>
            <a:off x="7452360" y="2807208"/>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80.0</a:t>
            </a:r>
          </a:p>
        </p:txBody>
      </p:sp>
      <p:sp>
        <p:nvSpPr>
          <p:cNvPr id="34" name="Run it box"/>
          <p:cNvSpPr/>
          <p:nvPr/>
        </p:nvSpPr>
        <p:spPr>
          <a:xfrm>
            <a:off x="457200" y="416052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Run it" descr=""/>
          <p:cNvPicPr>
            <a:picLocks noChangeAspect="1"/>
          </p:cNvPicPr>
          <p:nvPr/>
        </p:nvPicPr>
        <p:blipFill>
          <a:blip r:embed="rId3"/>
          <a:stretch>
            <a:fillRect/>
          </a:stretch>
        </p:blipFill>
        <p:spPr>
          <a:xfrm>
            <a:off x="658368" y="4251960"/>
            <a:ext cx="365760" cy="365760"/>
          </a:xfrm>
          <a:prstGeom prst="rect">
            <a:avLst/>
          </a:prstGeom>
        </p:spPr>
      </p:pic>
      <p:sp>
        <p:nvSpPr>
          <p:cNvPr id="36" name="Run it text"/>
          <p:cNvSpPr txBox="1"/>
          <p:nvPr/>
        </p:nvSpPr>
        <p:spPr>
          <a:xfrm>
            <a:off x="1207008" y="416052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Run it: </a:t>
            </a:r>
            <a:r>
              <a:rPr sz="1200" b="0" lang="en-GB">
                <a:solidFill>
                  <a:schemeClr val="tx1"/>
                </a:solidFill>
              </a:rPr>
              <a:t>click into a cell and press Ctrl/Cmd + Enter; the result appears in the Console.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2: variance, standard deviation, standard error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D cod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D cod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by hand, then checked</a:t>
            </a:r>
          </a:p>
        </p:txBody>
      </p:sp>
      <p:sp>
        <p:nvSpPr>
          <p:cNvPr id="12" name="SD code box"/>
          <p:cNvSpPr/>
          <p:nvPr/>
        </p:nvSpPr>
        <p:spPr>
          <a:xfrm>
            <a:off x="457200" y="1508760"/>
            <a:ext cx="4937760" cy="24688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D code code"/>
          <p:cNvSpPr txBox="1"/>
          <p:nvPr/>
        </p:nvSpPr>
        <p:spPr>
          <a:xfrm>
            <a:off x="594360" y="1600200"/>
            <a:ext cx="4663440" cy="228600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dev = kiosk["units"] - mean_units</a:t>
            </a:r>
          </a:p>
          <a:p>
            <a:pPr algn="l">
              <a:spcAft>
                <a:spcPts val="0"/>
              </a:spcAft>
            </a:pPr>
            <a:r>
              <a:rPr sz="1100" b="0" lang="en-GB">
                <a:solidFill>
                  <a:schemeClr val="bg1"/>
                </a:solidFill>
                <a:latin typeface="Consolas"/>
              </a:rPr>
              <a:t>dev        # 30, 20, 0, -10, -40</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var_units = (dev ** 2).sum() / (n - 1)   # 750.0</a:t>
            </a:r>
          </a:p>
          <a:p>
            <a:pPr algn="l">
              <a:spcAft>
                <a:spcPts val="0"/>
              </a:spcAft>
            </a:pPr>
            <a:r>
              <a:rPr sz="1100" b="0" lang="en-GB">
                <a:solidFill>
                  <a:schemeClr val="bg1"/>
                </a:solidFill>
                <a:latin typeface="Consolas"/>
              </a:rPr>
              <a:t>sd_units = var_units ** 0.5              # 27.39</a:t>
            </a:r>
          </a:p>
          <a:p>
            <a:pPr algn="l">
              <a:spcAft>
                <a:spcPts val="0"/>
              </a:spcAft>
            </a:pPr>
            <a:r>
              <a:rPr sz="1100" b="0" lang="en-GB">
                <a:solidFill>
                  <a:schemeClr val="bg1"/>
                </a:solidFill>
                <a:latin typeface="Consolas"/>
              </a:rPr>
              <a:t>kiosk["units"].std()                     # check: n - 1</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se_units = sd_units / n ** 0.5           # 12.25</a:t>
            </a:r>
          </a:p>
        </p:txBody>
      </p:sp>
      <p:sp>
        <p:nvSpPr>
          <p:cNvPr id="14" name="SD out 1-1"/>
          <p:cNvSpPr/>
          <p:nvPr/>
        </p:nvSpPr>
        <p:spPr>
          <a:xfrm>
            <a:off x="5532120" y="1234440"/>
            <a:ext cx="18013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D out text 1-1"/>
          <p:cNvSpPr txBox="1"/>
          <p:nvPr/>
        </p:nvSpPr>
        <p:spPr>
          <a:xfrm>
            <a:off x="5623560" y="1234440"/>
            <a:ext cx="161848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Result</a:t>
            </a:r>
          </a:p>
        </p:txBody>
      </p:sp>
      <p:sp>
        <p:nvSpPr>
          <p:cNvPr id="16" name="SD out 1-2"/>
          <p:cNvSpPr/>
          <p:nvPr/>
        </p:nvSpPr>
        <p:spPr>
          <a:xfrm>
            <a:off x="7360920" y="1234440"/>
            <a:ext cx="12984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D out text 1-2"/>
          <p:cNvSpPr txBox="1"/>
          <p:nvPr/>
        </p:nvSpPr>
        <p:spPr>
          <a:xfrm>
            <a:off x="7452360" y="1234440"/>
            <a:ext cx="111556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Value</a:t>
            </a:r>
          </a:p>
        </p:txBody>
      </p:sp>
      <p:sp>
        <p:nvSpPr>
          <p:cNvPr id="18" name="SD out 2-1"/>
          <p:cNvSpPr/>
          <p:nvPr/>
        </p:nvSpPr>
        <p:spPr>
          <a:xfrm>
            <a:off x="5532120" y="1627632"/>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D out text 2-1"/>
          <p:cNvSpPr txBox="1"/>
          <p:nvPr/>
        </p:nvSpPr>
        <p:spPr>
          <a:xfrm>
            <a:off x="5623560" y="1627632"/>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variance</a:t>
            </a:r>
          </a:p>
        </p:txBody>
      </p:sp>
      <p:sp>
        <p:nvSpPr>
          <p:cNvPr id="20" name="SD out 2-2"/>
          <p:cNvSpPr/>
          <p:nvPr/>
        </p:nvSpPr>
        <p:spPr>
          <a:xfrm>
            <a:off x="7360920" y="1627632"/>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D out text 2-2"/>
          <p:cNvSpPr txBox="1"/>
          <p:nvPr/>
        </p:nvSpPr>
        <p:spPr>
          <a:xfrm>
            <a:off x="7452360" y="1627632"/>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750.0</a:t>
            </a:r>
          </a:p>
        </p:txBody>
      </p:sp>
      <p:sp>
        <p:nvSpPr>
          <p:cNvPr id="22" name="SD out 3-1"/>
          <p:cNvSpPr/>
          <p:nvPr/>
        </p:nvSpPr>
        <p:spPr>
          <a:xfrm>
            <a:off x="5532120" y="2020824"/>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D out text 3-1"/>
          <p:cNvSpPr txBox="1"/>
          <p:nvPr/>
        </p:nvSpPr>
        <p:spPr>
          <a:xfrm>
            <a:off x="5623560" y="2020824"/>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sd, by hand</a:t>
            </a:r>
          </a:p>
        </p:txBody>
      </p:sp>
      <p:sp>
        <p:nvSpPr>
          <p:cNvPr id="24" name="SD out 3-2"/>
          <p:cNvSpPr/>
          <p:nvPr/>
        </p:nvSpPr>
        <p:spPr>
          <a:xfrm>
            <a:off x="7360920" y="2020824"/>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D out text 3-2"/>
          <p:cNvSpPr txBox="1"/>
          <p:nvPr/>
        </p:nvSpPr>
        <p:spPr>
          <a:xfrm>
            <a:off x="7452360" y="2020824"/>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27.39</a:t>
            </a:r>
          </a:p>
        </p:txBody>
      </p:sp>
      <p:sp>
        <p:nvSpPr>
          <p:cNvPr id="26" name="SD out 4-1"/>
          <p:cNvSpPr/>
          <p:nvPr/>
        </p:nvSpPr>
        <p:spPr>
          <a:xfrm>
            <a:off x="5532120" y="2414016"/>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D out text 4-1"/>
          <p:cNvSpPr txBox="1"/>
          <p:nvPr/>
        </p:nvSpPr>
        <p:spPr>
          <a:xfrm>
            <a:off x="5623560" y="2414016"/>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std(), check</a:t>
            </a:r>
          </a:p>
        </p:txBody>
      </p:sp>
      <p:sp>
        <p:nvSpPr>
          <p:cNvPr id="28" name="SD out 4-2"/>
          <p:cNvSpPr/>
          <p:nvPr/>
        </p:nvSpPr>
        <p:spPr>
          <a:xfrm>
            <a:off x="7360920" y="2414016"/>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D out text 4-2"/>
          <p:cNvSpPr txBox="1"/>
          <p:nvPr/>
        </p:nvSpPr>
        <p:spPr>
          <a:xfrm>
            <a:off x="7452360" y="2414016"/>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27.39</a:t>
            </a:r>
          </a:p>
        </p:txBody>
      </p:sp>
      <p:sp>
        <p:nvSpPr>
          <p:cNvPr id="30" name="SD out 5-1"/>
          <p:cNvSpPr/>
          <p:nvPr/>
        </p:nvSpPr>
        <p:spPr>
          <a:xfrm>
            <a:off x="5532120" y="2807208"/>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D out text 5-1"/>
          <p:cNvSpPr txBox="1"/>
          <p:nvPr/>
        </p:nvSpPr>
        <p:spPr>
          <a:xfrm>
            <a:off x="5623560" y="2807208"/>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standard error</a:t>
            </a:r>
          </a:p>
        </p:txBody>
      </p:sp>
      <p:sp>
        <p:nvSpPr>
          <p:cNvPr id="32" name="SD out 5-2"/>
          <p:cNvSpPr/>
          <p:nvPr/>
        </p:nvSpPr>
        <p:spPr>
          <a:xfrm>
            <a:off x="7360920" y="2807208"/>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D out text 5-2"/>
          <p:cNvSpPr txBox="1"/>
          <p:nvPr/>
        </p:nvSpPr>
        <p:spPr>
          <a:xfrm>
            <a:off x="7452360" y="2807208"/>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12.25</a:t>
            </a:r>
          </a:p>
        </p:txBody>
      </p:sp>
      <p:sp>
        <p:nvSpPr>
          <p:cNvPr id="34" name="SD note box"/>
          <p:cNvSpPr/>
          <p:nvPr/>
        </p:nvSpPr>
        <p:spPr>
          <a:xfrm>
            <a:off x="457200" y="416052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SD note" descr=""/>
          <p:cNvPicPr>
            <a:picLocks noChangeAspect="1"/>
          </p:cNvPicPr>
          <p:nvPr/>
        </p:nvPicPr>
        <p:blipFill>
          <a:blip r:embed="rId3"/>
          <a:stretch>
            <a:fillRect/>
          </a:stretch>
        </p:blipFill>
        <p:spPr>
          <a:xfrm>
            <a:off x="658368" y="4251960"/>
            <a:ext cx="365760" cy="365760"/>
          </a:xfrm>
          <a:prstGeom prst="rect">
            <a:avLst/>
          </a:prstGeom>
        </p:spPr>
      </p:pic>
      <p:sp>
        <p:nvSpPr>
          <p:cNvPr id="36" name="SD note text"/>
          <p:cNvSpPr txBox="1"/>
          <p:nvPr/>
        </p:nvSpPr>
        <p:spPr>
          <a:xfrm>
            <a:off x="1207008" y="416052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Note: </a:t>
            </a:r>
            <a:r>
              <a:rPr sz="1200" b="0" lang="en-GB">
                <a:solidFill>
                  <a:schemeClr val="tx1"/>
                </a:solidFill>
              </a:rPr>
              <a:t>std() divides by n − 1 (ddof=1), like the formula on the slide.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3: standardise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Z cod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Z cod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z-scores</a:t>
            </a:r>
          </a:p>
        </p:txBody>
      </p:sp>
      <p:sp>
        <p:nvSpPr>
          <p:cNvPr id="12" name="Z code box"/>
          <p:cNvSpPr/>
          <p:nvPr/>
        </p:nvSpPr>
        <p:spPr>
          <a:xfrm>
            <a:off x="457200" y="1508760"/>
            <a:ext cx="4937760" cy="21945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Z code code"/>
          <p:cNvSpPr txBox="1"/>
          <p:nvPr/>
        </p:nvSpPr>
        <p:spPr>
          <a:xfrm>
            <a:off x="594360" y="1600200"/>
            <a:ext cx="4663440" cy="20116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kiosk = kiosk.with_columns(</a:t>
            </a:r>
          </a:p>
          <a:p>
            <a:pPr algn="l">
              <a:spcAft>
                <a:spcPts val="0"/>
              </a:spcAft>
            </a:pPr>
            <a:r>
              <a:rPr sz="1100" b="0" lang="en-GB">
                <a:solidFill>
                  <a:schemeClr val="bg1"/>
                </a:solidFill>
                <a:latin typeface="Consolas"/>
              </a:rPr>
              <a:t>    z_units=(pl.col("units") - pl.col("units").mean())</a:t>
            </a:r>
          </a:p>
          <a:p>
            <a:pPr algn="l">
              <a:spcAft>
                <a:spcPts val="0"/>
              </a:spcAft>
            </a:pPr>
            <a:r>
              <a:rPr sz="1100" b="0" lang="en-GB">
                <a:solidFill>
                  <a:schemeClr val="bg1"/>
                </a:solidFill>
                <a:latin typeface="Consolas"/>
              </a:rPr>
              <a:t>            / pl.col("units").std()</a:t>
            </a:r>
          </a:p>
          <a:p>
            <a:pPr algn="l">
              <a:spcAft>
                <a:spcPts val="0"/>
              </a:spcAft>
            </a:pPr>
            <a:r>
              <a:rPr sz="1100" b="0" lang="en-GB">
                <a:solidFill>
                  <a:schemeClr val="bg1"/>
                </a:solidFill>
                <a:latin typeface="Consolas"/>
              </a:rPr>
              <a:t>)</a:t>
            </a:r>
          </a:p>
          <a:p>
            <a:pPr algn="l">
              <a:spcAft>
                <a:spcPts val="0"/>
              </a:spcAft>
            </a:pPr>
            <a:r>
              <a:rPr sz="1100" b="0" lang="en-GB">
                <a:solidFill>
                  <a:schemeClr val="bg1"/>
                </a:solidFill>
                <a:latin typeface="Consolas"/>
              </a:rPr>
              <a:t>kiosk</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kiosk["z_units"].mean()    # 0</a:t>
            </a:r>
          </a:p>
          <a:p>
            <a:pPr algn="l">
              <a:spcAft>
                <a:spcPts val="0"/>
              </a:spcAft>
            </a:pPr>
            <a:r>
              <a:rPr sz="1100" b="0" lang="en-GB">
                <a:solidFill>
                  <a:schemeClr val="bg1"/>
                </a:solidFill>
                <a:latin typeface="Consolas"/>
              </a:rPr>
              <a:t>kiosk["z_units"].std()     # 1</a:t>
            </a:r>
          </a:p>
        </p:txBody>
      </p:sp>
      <p:sp>
        <p:nvSpPr>
          <p:cNvPr id="14" name="Z out 1-1"/>
          <p:cNvSpPr/>
          <p:nvPr/>
        </p:nvSpPr>
        <p:spPr>
          <a:xfrm>
            <a:off x="5532120" y="1234440"/>
            <a:ext cx="8869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Z out text 1-1"/>
          <p:cNvSpPr txBox="1"/>
          <p:nvPr/>
        </p:nvSpPr>
        <p:spPr>
          <a:xfrm>
            <a:off x="5623560" y="1234440"/>
            <a:ext cx="70408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Week</a:t>
            </a:r>
          </a:p>
        </p:txBody>
      </p:sp>
      <p:sp>
        <p:nvSpPr>
          <p:cNvPr id="16" name="Z out 1-2"/>
          <p:cNvSpPr/>
          <p:nvPr/>
        </p:nvSpPr>
        <p:spPr>
          <a:xfrm>
            <a:off x="6446520" y="1234440"/>
            <a:ext cx="102412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Z out text 1-2"/>
          <p:cNvSpPr txBox="1"/>
          <p:nvPr/>
        </p:nvSpPr>
        <p:spPr>
          <a:xfrm>
            <a:off x="6537960" y="1234440"/>
            <a:ext cx="84124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Bars</a:t>
            </a:r>
          </a:p>
        </p:txBody>
      </p:sp>
      <p:sp>
        <p:nvSpPr>
          <p:cNvPr id="18" name="Z out 1-3"/>
          <p:cNvSpPr/>
          <p:nvPr/>
        </p:nvSpPr>
        <p:spPr>
          <a:xfrm>
            <a:off x="7498080" y="1234440"/>
            <a:ext cx="116128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Z out text 1-3"/>
          <p:cNvSpPr txBox="1"/>
          <p:nvPr/>
        </p:nvSpPr>
        <p:spPr>
          <a:xfrm>
            <a:off x="7589520" y="1234440"/>
            <a:ext cx="97840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z</a:t>
            </a:r>
          </a:p>
        </p:txBody>
      </p:sp>
      <p:sp>
        <p:nvSpPr>
          <p:cNvPr id="20" name="Z out 2-1"/>
          <p:cNvSpPr/>
          <p:nvPr/>
        </p:nvSpPr>
        <p:spPr>
          <a:xfrm>
            <a:off x="5532120" y="1627632"/>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Z out text 2-1"/>
          <p:cNvSpPr txBox="1"/>
          <p:nvPr/>
        </p:nvSpPr>
        <p:spPr>
          <a:xfrm>
            <a:off x="5623560" y="1627632"/>
            <a:ext cx="7040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1</a:t>
            </a:r>
          </a:p>
        </p:txBody>
      </p:sp>
      <p:sp>
        <p:nvSpPr>
          <p:cNvPr id="22" name="Z out 2-2"/>
          <p:cNvSpPr/>
          <p:nvPr/>
        </p:nvSpPr>
        <p:spPr>
          <a:xfrm>
            <a:off x="6446520" y="1627632"/>
            <a:ext cx="102412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Z out text 2-2"/>
          <p:cNvSpPr txBox="1"/>
          <p:nvPr/>
        </p:nvSpPr>
        <p:spPr>
          <a:xfrm>
            <a:off x="6537960" y="1627632"/>
            <a:ext cx="84124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110</a:t>
            </a:r>
          </a:p>
        </p:txBody>
      </p:sp>
      <p:sp>
        <p:nvSpPr>
          <p:cNvPr id="24" name="Z out 2-3"/>
          <p:cNvSpPr/>
          <p:nvPr/>
        </p:nvSpPr>
        <p:spPr>
          <a:xfrm>
            <a:off x="7498080" y="1627632"/>
            <a:ext cx="11612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Z out text 2-3"/>
          <p:cNvSpPr txBox="1"/>
          <p:nvPr/>
        </p:nvSpPr>
        <p:spPr>
          <a:xfrm>
            <a:off x="7589520" y="1627632"/>
            <a:ext cx="9784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1.10</a:t>
            </a:r>
          </a:p>
        </p:txBody>
      </p:sp>
      <p:sp>
        <p:nvSpPr>
          <p:cNvPr id="26" name="Z out 3-1"/>
          <p:cNvSpPr/>
          <p:nvPr/>
        </p:nvSpPr>
        <p:spPr>
          <a:xfrm>
            <a:off x="5532120" y="2020824"/>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Z out text 3-1"/>
          <p:cNvSpPr txBox="1"/>
          <p:nvPr/>
        </p:nvSpPr>
        <p:spPr>
          <a:xfrm>
            <a:off x="5623560" y="2020824"/>
            <a:ext cx="7040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2</a:t>
            </a:r>
          </a:p>
        </p:txBody>
      </p:sp>
      <p:sp>
        <p:nvSpPr>
          <p:cNvPr id="28" name="Z out 3-2"/>
          <p:cNvSpPr/>
          <p:nvPr/>
        </p:nvSpPr>
        <p:spPr>
          <a:xfrm>
            <a:off x="6446520" y="2020824"/>
            <a:ext cx="102412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Z out text 3-2"/>
          <p:cNvSpPr txBox="1"/>
          <p:nvPr/>
        </p:nvSpPr>
        <p:spPr>
          <a:xfrm>
            <a:off x="6537960" y="2020824"/>
            <a:ext cx="84124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100</a:t>
            </a:r>
          </a:p>
        </p:txBody>
      </p:sp>
      <p:sp>
        <p:nvSpPr>
          <p:cNvPr id="30" name="Z out 3-3"/>
          <p:cNvSpPr/>
          <p:nvPr/>
        </p:nvSpPr>
        <p:spPr>
          <a:xfrm>
            <a:off x="7498080" y="2020824"/>
            <a:ext cx="11612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Z out text 3-3"/>
          <p:cNvSpPr txBox="1"/>
          <p:nvPr/>
        </p:nvSpPr>
        <p:spPr>
          <a:xfrm>
            <a:off x="7589520" y="2020824"/>
            <a:ext cx="9784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0.73</a:t>
            </a:r>
          </a:p>
        </p:txBody>
      </p:sp>
      <p:sp>
        <p:nvSpPr>
          <p:cNvPr id="32" name="Z out 4-1"/>
          <p:cNvSpPr/>
          <p:nvPr/>
        </p:nvSpPr>
        <p:spPr>
          <a:xfrm>
            <a:off x="5532120" y="2414016"/>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Z out text 4-1"/>
          <p:cNvSpPr txBox="1"/>
          <p:nvPr/>
        </p:nvSpPr>
        <p:spPr>
          <a:xfrm>
            <a:off x="5623560" y="2414016"/>
            <a:ext cx="7040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3</a:t>
            </a:r>
          </a:p>
        </p:txBody>
      </p:sp>
      <p:sp>
        <p:nvSpPr>
          <p:cNvPr id="34" name="Z out 4-2"/>
          <p:cNvSpPr/>
          <p:nvPr/>
        </p:nvSpPr>
        <p:spPr>
          <a:xfrm>
            <a:off x="6446520" y="2414016"/>
            <a:ext cx="102412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Z out text 4-2"/>
          <p:cNvSpPr txBox="1"/>
          <p:nvPr/>
        </p:nvSpPr>
        <p:spPr>
          <a:xfrm>
            <a:off x="6537960" y="2414016"/>
            <a:ext cx="84124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80</a:t>
            </a:r>
          </a:p>
        </p:txBody>
      </p:sp>
      <p:sp>
        <p:nvSpPr>
          <p:cNvPr id="36" name="Z out 4-3"/>
          <p:cNvSpPr/>
          <p:nvPr/>
        </p:nvSpPr>
        <p:spPr>
          <a:xfrm>
            <a:off x="7498080" y="2414016"/>
            <a:ext cx="11612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Z out text 4-3"/>
          <p:cNvSpPr txBox="1"/>
          <p:nvPr/>
        </p:nvSpPr>
        <p:spPr>
          <a:xfrm>
            <a:off x="7589520" y="2414016"/>
            <a:ext cx="9784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0.00</a:t>
            </a:r>
          </a:p>
        </p:txBody>
      </p:sp>
      <p:sp>
        <p:nvSpPr>
          <p:cNvPr id="38" name="Z out 5-1"/>
          <p:cNvSpPr/>
          <p:nvPr/>
        </p:nvSpPr>
        <p:spPr>
          <a:xfrm>
            <a:off x="5532120" y="2807208"/>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Z out text 5-1"/>
          <p:cNvSpPr txBox="1"/>
          <p:nvPr/>
        </p:nvSpPr>
        <p:spPr>
          <a:xfrm>
            <a:off x="5623560" y="2807208"/>
            <a:ext cx="7040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4</a:t>
            </a:r>
          </a:p>
        </p:txBody>
      </p:sp>
      <p:sp>
        <p:nvSpPr>
          <p:cNvPr id="40" name="Z out 5-2"/>
          <p:cNvSpPr/>
          <p:nvPr/>
        </p:nvSpPr>
        <p:spPr>
          <a:xfrm>
            <a:off x="6446520" y="2807208"/>
            <a:ext cx="102412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Z out text 5-2"/>
          <p:cNvSpPr txBox="1"/>
          <p:nvPr/>
        </p:nvSpPr>
        <p:spPr>
          <a:xfrm>
            <a:off x="6537960" y="2807208"/>
            <a:ext cx="84124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70</a:t>
            </a:r>
          </a:p>
        </p:txBody>
      </p:sp>
      <p:sp>
        <p:nvSpPr>
          <p:cNvPr id="42" name="Z out 5-3"/>
          <p:cNvSpPr/>
          <p:nvPr/>
        </p:nvSpPr>
        <p:spPr>
          <a:xfrm>
            <a:off x="7498080" y="2807208"/>
            <a:ext cx="11612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Z out text 5-3"/>
          <p:cNvSpPr txBox="1"/>
          <p:nvPr/>
        </p:nvSpPr>
        <p:spPr>
          <a:xfrm>
            <a:off x="7589520" y="2807208"/>
            <a:ext cx="9784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−0.37</a:t>
            </a:r>
          </a:p>
        </p:txBody>
      </p:sp>
      <p:sp>
        <p:nvSpPr>
          <p:cNvPr id="44" name="Z out 6-1"/>
          <p:cNvSpPr/>
          <p:nvPr/>
        </p:nvSpPr>
        <p:spPr>
          <a:xfrm>
            <a:off x="5532120" y="3200400"/>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Z out text 6-1"/>
          <p:cNvSpPr txBox="1"/>
          <p:nvPr/>
        </p:nvSpPr>
        <p:spPr>
          <a:xfrm>
            <a:off x="5623560" y="3200400"/>
            <a:ext cx="7040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5</a:t>
            </a:r>
          </a:p>
        </p:txBody>
      </p:sp>
      <p:sp>
        <p:nvSpPr>
          <p:cNvPr id="46" name="Z out 6-2"/>
          <p:cNvSpPr/>
          <p:nvPr/>
        </p:nvSpPr>
        <p:spPr>
          <a:xfrm>
            <a:off x="6446520" y="3200400"/>
            <a:ext cx="102412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Z out text 6-2"/>
          <p:cNvSpPr txBox="1"/>
          <p:nvPr/>
        </p:nvSpPr>
        <p:spPr>
          <a:xfrm>
            <a:off x="6537960" y="3200400"/>
            <a:ext cx="84124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48" name="Z out 6-3"/>
          <p:cNvSpPr/>
          <p:nvPr/>
        </p:nvSpPr>
        <p:spPr>
          <a:xfrm>
            <a:off x="7498080" y="3200400"/>
            <a:ext cx="11612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Z out text 6-3"/>
          <p:cNvSpPr txBox="1"/>
          <p:nvPr/>
        </p:nvSpPr>
        <p:spPr>
          <a:xfrm>
            <a:off x="7589520" y="3200400"/>
            <a:ext cx="9784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−1.46</a:t>
            </a:r>
          </a:p>
        </p:txBody>
      </p:sp>
      <p:sp>
        <p:nvSpPr>
          <p:cNvPr id="50" name="Z out read box"/>
          <p:cNvSpPr/>
          <p:nvPr/>
        </p:nvSpPr>
        <p:spPr>
          <a:xfrm>
            <a:off x="457200" y="416052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Icon Z out read" descr=""/>
          <p:cNvPicPr>
            <a:picLocks noChangeAspect="1"/>
          </p:cNvPicPr>
          <p:nvPr/>
        </p:nvPicPr>
        <p:blipFill>
          <a:blip r:embed="rId3"/>
          <a:stretch>
            <a:fillRect/>
          </a:stretch>
        </p:blipFill>
        <p:spPr>
          <a:xfrm>
            <a:off x="658368" y="4251960"/>
            <a:ext cx="365760" cy="365760"/>
          </a:xfrm>
          <a:prstGeom prst="rect">
            <a:avLst/>
          </a:prstGeom>
        </p:spPr>
      </p:pic>
      <p:sp>
        <p:nvSpPr>
          <p:cNvPr id="52" name="Z out read text"/>
          <p:cNvSpPr txBox="1"/>
          <p:nvPr/>
        </p:nvSpPr>
        <p:spPr>
          <a:xfrm>
            <a:off x="1207008" y="416052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Read it: </a:t>
            </a:r>
            <a:r>
              <a:rPr sz="1200" b="0" lang="en-GB">
                <a:solidFill>
                  <a:schemeClr val="tx1"/>
                </a:solidFill>
              </a:rPr>
              <a:t>week 5 lies 1.46 standard deviations below an average week.</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4: covariance and correlation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ov cod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ov cod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by hand, then checked</a:t>
            </a:r>
          </a:p>
        </p:txBody>
      </p:sp>
      <p:sp>
        <p:nvSpPr>
          <p:cNvPr id="12" name="Cov code box"/>
          <p:cNvSpPr/>
          <p:nvPr/>
        </p:nvSpPr>
        <p:spPr>
          <a:xfrm>
            <a:off x="457200" y="1508760"/>
            <a:ext cx="4937760" cy="24688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ov code code"/>
          <p:cNvSpPr txBox="1"/>
          <p:nvPr/>
        </p:nvSpPr>
        <p:spPr>
          <a:xfrm>
            <a:off x="594360" y="1600200"/>
            <a:ext cx="4663440" cy="228600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dev_p = kiosk["price"] - kiosk["price"].mean()</a:t>
            </a:r>
          </a:p>
          <a:p>
            <a:pPr algn="l">
              <a:spcAft>
                <a:spcPts val="0"/>
              </a:spcAft>
            </a:pPr>
            <a:r>
              <a:rPr sz="1100" b="0" lang="en-GB">
                <a:solidFill>
                  <a:schemeClr val="bg1"/>
                </a:solidFill>
                <a:latin typeface="Consolas"/>
              </a:rPr>
              <a:t>dev_u = kiosk["units"] - kiosk["units"].mean()</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cov = (dev_p * dev_u).sum() / (n - 1)          # -21.25</a:t>
            </a:r>
          </a:p>
          <a:p>
            <a:pPr algn="l">
              <a:spcAft>
                <a:spcPts val="0"/>
              </a:spcAft>
            </a:pPr>
            <a:r>
              <a:rPr sz="1100" b="0" lang="en-GB">
                <a:solidFill>
                  <a:schemeClr val="bg1"/>
                </a:solidFill>
                <a:latin typeface="Consolas"/>
              </a:rPr>
              <a:t>r = cov / (kiosk["price"].std()</a:t>
            </a:r>
          </a:p>
          <a:p>
            <a:pPr algn="l">
              <a:spcAft>
                <a:spcPts val="0"/>
              </a:spcAft>
            </a:pPr>
            <a:r>
              <a:rPr sz="1100" b="0" lang="en-GB">
                <a:solidFill>
                  <a:schemeClr val="bg1"/>
                </a:solidFill>
                <a:latin typeface="Consolas"/>
              </a:rPr>
              <a:t>           * kiosk["units"].std())             # -0.981</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kiosk.select(</a:t>
            </a:r>
          </a:p>
          <a:p>
            <a:pPr algn="l">
              <a:spcAft>
                <a:spcPts val="0"/>
              </a:spcAft>
            </a:pPr>
            <a:r>
              <a:rPr sz="1100" b="0" lang="en-GB">
                <a:solidFill>
                  <a:schemeClr val="bg1"/>
                </a:solidFill>
                <a:latin typeface="Consolas"/>
              </a:rPr>
              <a:t>    pl.cov("price", "units").alias("cov"),</a:t>
            </a:r>
          </a:p>
          <a:p>
            <a:pPr algn="l">
              <a:spcAft>
                <a:spcPts val="0"/>
              </a:spcAft>
            </a:pPr>
            <a:r>
              <a:rPr sz="1100" b="0" lang="en-GB">
                <a:solidFill>
                  <a:schemeClr val="bg1"/>
                </a:solidFill>
                <a:latin typeface="Consolas"/>
              </a:rPr>
              <a:t>    pl.corr("price", "units").alias("r"))      # check</a:t>
            </a:r>
          </a:p>
        </p:txBody>
      </p:sp>
      <p:sp>
        <p:nvSpPr>
          <p:cNvPr id="14" name="Cov out 1-1"/>
          <p:cNvSpPr/>
          <p:nvPr/>
        </p:nvSpPr>
        <p:spPr>
          <a:xfrm>
            <a:off x="5532120" y="1234440"/>
            <a:ext cx="18013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ov out text 1-1"/>
          <p:cNvSpPr txBox="1"/>
          <p:nvPr/>
        </p:nvSpPr>
        <p:spPr>
          <a:xfrm>
            <a:off x="5623560" y="1234440"/>
            <a:ext cx="161848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Result</a:t>
            </a:r>
          </a:p>
        </p:txBody>
      </p:sp>
      <p:sp>
        <p:nvSpPr>
          <p:cNvPr id="16" name="Cov out 1-2"/>
          <p:cNvSpPr/>
          <p:nvPr/>
        </p:nvSpPr>
        <p:spPr>
          <a:xfrm>
            <a:off x="7360920" y="1234440"/>
            <a:ext cx="12984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ov out text 1-2"/>
          <p:cNvSpPr txBox="1"/>
          <p:nvPr/>
        </p:nvSpPr>
        <p:spPr>
          <a:xfrm>
            <a:off x="7452360" y="1234440"/>
            <a:ext cx="111556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Value</a:t>
            </a:r>
          </a:p>
        </p:txBody>
      </p:sp>
      <p:sp>
        <p:nvSpPr>
          <p:cNvPr id="18" name="Cov out 2-1"/>
          <p:cNvSpPr/>
          <p:nvPr/>
        </p:nvSpPr>
        <p:spPr>
          <a:xfrm>
            <a:off x="5532120" y="1627632"/>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ov out text 2-1"/>
          <p:cNvSpPr txBox="1"/>
          <p:nvPr/>
        </p:nvSpPr>
        <p:spPr>
          <a:xfrm>
            <a:off x="5623560" y="1627632"/>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covariance</a:t>
            </a:r>
          </a:p>
        </p:txBody>
      </p:sp>
      <p:sp>
        <p:nvSpPr>
          <p:cNvPr id="20" name="Cov out 2-2"/>
          <p:cNvSpPr/>
          <p:nvPr/>
        </p:nvSpPr>
        <p:spPr>
          <a:xfrm>
            <a:off x="7360920" y="1627632"/>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ov out text 2-2"/>
          <p:cNvSpPr txBox="1"/>
          <p:nvPr/>
        </p:nvSpPr>
        <p:spPr>
          <a:xfrm>
            <a:off x="7452360" y="1627632"/>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−21.25</a:t>
            </a:r>
          </a:p>
        </p:txBody>
      </p:sp>
      <p:sp>
        <p:nvSpPr>
          <p:cNvPr id="22" name="Cov out 3-1"/>
          <p:cNvSpPr/>
          <p:nvPr/>
        </p:nvSpPr>
        <p:spPr>
          <a:xfrm>
            <a:off x="5532120" y="2020824"/>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ov out text 3-1"/>
          <p:cNvSpPr txBox="1"/>
          <p:nvPr/>
        </p:nvSpPr>
        <p:spPr>
          <a:xfrm>
            <a:off x="5623560" y="2020824"/>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correlation</a:t>
            </a:r>
          </a:p>
        </p:txBody>
      </p:sp>
      <p:sp>
        <p:nvSpPr>
          <p:cNvPr id="24" name="Cov out 3-2"/>
          <p:cNvSpPr/>
          <p:nvPr/>
        </p:nvSpPr>
        <p:spPr>
          <a:xfrm>
            <a:off x="7360920" y="2020824"/>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Cov out text 3-2"/>
          <p:cNvSpPr txBox="1"/>
          <p:nvPr/>
        </p:nvSpPr>
        <p:spPr>
          <a:xfrm>
            <a:off x="7452360" y="2020824"/>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−0.981</a:t>
            </a:r>
          </a:p>
        </p:txBody>
      </p:sp>
      <p:sp>
        <p:nvSpPr>
          <p:cNvPr id="26" name="Cov out 4-1"/>
          <p:cNvSpPr/>
          <p:nvPr/>
        </p:nvSpPr>
        <p:spPr>
          <a:xfrm>
            <a:off x="5532120" y="2414016"/>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Cov out text 4-1"/>
          <p:cNvSpPr txBox="1"/>
          <p:nvPr/>
        </p:nvSpPr>
        <p:spPr>
          <a:xfrm>
            <a:off x="5623560" y="2414016"/>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pl.cov, check</a:t>
            </a:r>
          </a:p>
        </p:txBody>
      </p:sp>
      <p:sp>
        <p:nvSpPr>
          <p:cNvPr id="28" name="Cov out 4-2"/>
          <p:cNvSpPr/>
          <p:nvPr/>
        </p:nvSpPr>
        <p:spPr>
          <a:xfrm>
            <a:off x="7360920" y="2414016"/>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Cov out text 4-2"/>
          <p:cNvSpPr txBox="1"/>
          <p:nvPr/>
        </p:nvSpPr>
        <p:spPr>
          <a:xfrm>
            <a:off x="7452360" y="2414016"/>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−21.25</a:t>
            </a:r>
          </a:p>
        </p:txBody>
      </p:sp>
      <p:sp>
        <p:nvSpPr>
          <p:cNvPr id="30" name="Cov out 5-1"/>
          <p:cNvSpPr/>
          <p:nvPr/>
        </p:nvSpPr>
        <p:spPr>
          <a:xfrm>
            <a:off x="5532120" y="2807208"/>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Cov out text 5-1"/>
          <p:cNvSpPr txBox="1"/>
          <p:nvPr/>
        </p:nvSpPr>
        <p:spPr>
          <a:xfrm>
            <a:off x="5623560" y="2807208"/>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pl.corr, check</a:t>
            </a:r>
          </a:p>
        </p:txBody>
      </p:sp>
      <p:sp>
        <p:nvSpPr>
          <p:cNvPr id="32" name="Cov out 5-2"/>
          <p:cNvSpPr/>
          <p:nvPr/>
        </p:nvSpPr>
        <p:spPr>
          <a:xfrm>
            <a:off x="7360920" y="2807208"/>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Cov out text 5-2"/>
          <p:cNvSpPr txBox="1"/>
          <p:nvPr/>
        </p:nvSpPr>
        <p:spPr>
          <a:xfrm>
            <a:off x="7452360" y="2807208"/>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−0.981</a:t>
            </a:r>
          </a:p>
        </p:txBody>
      </p:sp>
      <p:sp>
        <p:nvSpPr>
          <p:cNvPr id="34" name="Cov same box"/>
          <p:cNvSpPr/>
          <p:nvPr/>
        </p:nvSpPr>
        <p:spPr>
          <a:xfrm>
            <a:off x="457200" y="416052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Cov same" descr=""/>
          <p:cNvPicPr>
            <a:picLocks noChangeAspect="1"/>
          </p:cNvPicPr>
          <p:nvPr/>
        </p:nvPicPr>
        <p:blipFill>
          <a:blip r:embed="rId3"/>
          <a:stretch>
            <a:fillRect/>
          </a:stretch>
        </p:blipFill>
        <p:spPr>
          <a:xfrm>
            <a:off x="658368" y="4251960"/>
            <a:ext cx="365760" cy="365760"/>
          </a:xfrm>
          <a:prstGeom prst="rect">
            <a:avLst/>
          </a:prstGeom>
        </p:spPr>
      </p:pic>
      <p:sp>
        <p:nvSpPr>
          <p:cNvPr id="36" name="Cov same text"/>
          <p:cNvSpPr txBox="1"/>
          <p:nvPr/>
        </p:nvSpPr>
        <p:spPr>
          <a:xfrm>
            <a:off x="1207008" y="416052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Same numbers </a:t>
            </a:r>
            <a:r>
              <a:rPr sz="1200" b="0" lang="en-GB">
                <a:solidFill>
                  <a:schemeClr val="tx1"/>
                </a:solidFill>
              </a:rPr>
              <a:t>as by hand: the computer only saves the typing.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5: look at it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lot code caption bar"/>
          <p:cNvSpPr/>
          <p:nvPr/>
        </p:nvSpPr>
        <p:spPr>
          <a:xfrm>
            <a:off x="457200" y="1234440"/>
            <a:ext cx="42062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lot code caption"/>
          <p:cNvSpPr txBox="1"/>
          <p:nvPr/>
        </p:nvSpPr>
        <p:spPr>
          <a:xfrm>
            <a:off x="566928" y="1234440"/>
            <a:ext cx="39867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plotnine</a:t>
            </a:r>
          </a:p>
        </p:txBody>
      </p:sp>
      <p:sp>
        <p:nvSpPr>
          <p:cNvPr id="12" name="Plot code box"/>
          <p:cNvSpPr/>
          <p:nvPr/>
        </p:nvSpPr>
        <p:spPr>
          <a:xfrm>
            <a:off x="457200" y="1508760"/>
            <a:ext cx="4206240" cy="1737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lot code code"/>
          <p:cNvSpPr txBox="1"/>
          <p:nvPr/>
        </p:nvSpPr>
        <p:spPr>
          <a:xfrm>
            <a:off x="594360" y="1600200"/>
            <a:ext cx="3931920" cy="15544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from plotnine import (ggplot, aes,</a:t>
            </a:r>
          </a:p>
          <a:p>
            <a:pPr algn="l">
              <a:spcAft>
                <a:spcPts val="0"/>
              </a:spcAft>
            </a:pPr>
            <a:r>
              <a:rPr sz="1100" b="0" lang="en-GB">
                <a:solidFill>
                  <a:schemeClr val="bg1"/>
                </a:solidFill>
                <a:latin typeface="Consolas"/>
              </a:rPr>
              <a:t>                      geom_point, labs)</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(ggplot(kiosk, aes("price", "units"))</a:t>
            </a:r>
          </a:p>
          <a:p>
            <a:pPr algn="l">
              <a:spcAft>
                <a:spcPts val="0"/>
              </a:spcAft>
            </a:pPr>
            <a:r>
              <a:rPr sz="1100" b="0" lang="en-GB">
                <a:solidFill>
                  <a:schemeClr val="bg1"/>
                </a:solidFill>
                <a:latin typeface="Consolas"/>
              </a:rPr>
              <a:t> + geom_point(size=3)</a:t>
            </a:r>
          </a:p>
          <a:p>
            <a:pPr algn="l">
              <a:spcAft>
                <a:spcPts val="0"/>
              </a:spcAft>
            </a:pPr>
            <a:r>
              <a:rPr sz="1100" b="0" lang="en-GB">
                <a:solidFill>
                  <a:schemeClr val="bg1"/>
                </a:solidFill>
                <a:latin typeface="Consolas"/>
              </a:rPr>
              <a:t> + labs(x="Price (EUR)",</a:t>
            </a:r>
          </a:p>
          <a:p>
            <a:pPr algn="l">
              <a:spcAft>
                <a:spcPts val="0"/>
              </a:spcAft>
            </a:pPr>
            <a:r>
              <a:rPr sz="1100" b="0" lang="en-GB">
                <a:solidFill>
                  <a:schemeClr val="bg1"/>
                </a:solidFill>
                <a:latin typeface="Consolas"/>
              </a:rPr>
              <a:t>        y="Bars sold per week"))</a:t>
            </a:r>
          </a:p>
        </p:txBody>
      </p:sp>
      <p:pic>
        <p:nvPicPr>
          <p:cNvPr id="14" name="Chart ref_quadrants.png" descr="The scatter plot of price against bars sold for the five weeks"/>
          <p:cNvPicPr>
            <a:picLocks noChangeAspect="1"/>
          </p:cNvPicPr>
          <p:nvPr/>
        </p:nvPicPr>
        <p:blipFill>
          <a:blip r:embed="rId3"/>
          <a:stretch>
            <a:fillRect/>
          </a:stretch>
        </p:blipFill>
        <p:spPr>
          <a:xfrm>
            <a:off x="4800600" y="1234440"/>
            <a:ext cx="3886200" cy="2706624"/>
          </a:xfrm>
          <a:prstGeom prst="rect">
            <a:avLst/>
          </a:prstGeom>
        </p:spPr>
      </p:pic>
      <p:sp>
        <p:nvSpPr>
          <p:cNvPr id="15" name="Plot first box"/>
          <p:cNvSpPr/>
          <p:nvPr/>
        </p:nvSpPr>
        <p:spPr>
          <a:xfrm>
            <a:off x="457200" y="411480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Icon Plot first" descr=""/>
          <p:cNvPicPr>
            <a:picLocks noChangeAspect="1"/>
          </p:cNvPicPr>
          <p:nvPr/>
        </p:nvPicPr>
        <p:blipFill>
          <a:blip r:embed="rId4"/>
          <a:stretch>
            <a:fillRect/>
          </a:stretch>
        </p:blipFill>
        <p:spPr>
          <a:xfrm>
            <a:off x="658368" y="4274820"/>
            <a:ext cx="365760" cy="365760"/>
          </a:xfrm>
          <a:prstGeom prst="rect">
            <a:avLst/>
          </a:prstGeom>
        </p:spPr>
      </p:pic>
      <p:sp>
        <p:nvSpPr>
          <p:cNvPr id="17" name="Plot first text"/>
          <p:cNvSpPr txBox="1"/>
          <p:nvPr/>
        </p:nvSpPr>
        <p:spPr>
          <a:xfrm>
            <a:off x="1207008" y="4114800"/>
            <a:ext cx="731520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Plot first: </a:t>
            </a:r>
            <a:r>
              <a:rPr sz="1300" b="0" lang="en-GB">
                <a:solidFill>
                  <a:schemeClr val="bg1"/>
                </a:solidFill>
              </a:rPr>
              <a:t>a correlation can hide a curve, an outlier or two groups.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6: descriptive statistics and correlation with polars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esc cod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Desc cod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polars, then scipy for p</a:t>
            </a:r>
          </a:p>
        </p:txBody>
      </p:sp>
      <p:sp>
        <p:nvSpPr>
          <p:cNvPr id="12" name="Desc code box"/>
          <p:cNvSpPr/>
          <p:nvPr/>
        </p:nvSpPr>
        <p:spPr>
          <a:xfrm>
            <a:off x="457200" y="1508760"/>
            <a:ext cx="4937760" cy="24688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Desc code code"/>
          <p:cNvSpPr txBox="1"/>
          <p:nvPr/>
        </p:nvSpPr>
        <p:spPr>
          <a:xfrm>
            <a:off x="594360" y="1600200"/>
            <a:ext cx="4663440" cy="228600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from scipy import stats</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kiosk.select("price", "units").describe()</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kiosk.select("price", "units").corr()   # matrix</a:t>
            </a:r>
          </a:p>
          <a:p>
            <a:pPr algn="l">
              <a:spcAft>
                <a:spcPts val="0"/>
              </a:spcAft>
            </a:pPr>
            <a:r>
              <a:rPr sz="1100" b="0" lang="en-GB">
                <a:solidFill>
                  <a:schemeClr val="bg1"/>
                </a:solidFill>
                <a:latin typeface="Consolas"/>
              </a:rPr>
              <a:t>kiosk.select(pl.corr("price", "units",</a:t>
            </a:r>
          </a:p>
          <a:p>
            <a:pPr algn="l">
              <a:spcAft>
                <a:spcPts val="0"/>
              </a:spcAft>
            </a:pPr>
            <a:r>
              <a:rPr sz="1100" b="0" lang="en-GB">
                <a:solidFill>
                  <a:schemeClr val="bg1"/>
                </a:solidFill>
                <a:latin typeface="Consolas"/>
              </a:rPr>
              <a:t>             method="spearman"))        # ranks</a:t>
            </a:r>
          </a:p>
          <a:p>
            <a:pPr algn="l">
              <a:spcAft>
                <a:spcPts val="0"/>
              </a:spcAft>
            </a:pPr>
            <a:r>
              <a:rPr sz="1100" b="0" lang="en-GB">
                <a:solidFill>
                  <a:schemeClr val="bg1"/>
                </a:solidFill>
                <a:latin typeface="Consolas"/>
              </a:rPr>
              <a:t>stats.pearsonr(kiosk["price"],</a:t>
            </a:r>
          </a:p>
          <a:p>
            <a:pPr algn="l">
              <a:spcAft>
                <a:spcPts val="0"/>
              </a:spcAft>
            </a:pPr>
            <a:r>
              <a:rPr sz="1100" b="0" lang="en-GB">
                <a:solidFill>
                  <a:schemeClr val="bg1"/>
                </a:solidFill>
                <a:latin typeface="Consolas"/>
              </a:rPr>
              <a:t>               kiosk["units"])          # r and p</a:t>
            </a:r>
          </a:p>
        </p:txBody>
      </p:sp>
      <p:sp>
        <p:nvSpPr>
          <p:cNvPr id="14" name="Desc out 1-1"/>
          <p:cNvSpPr/>
          <p:nvPr/>
        </p:nvSpPr>
        <p:spPr>
          <a:xfrm>
            <a:off x="5532120" y="1234440"/>
            <a:ext cx="18013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Desc out text 1-1"/>
          <p:cNvSpPr txBox="1"/>
          <p:nvPr/>
        </p:nvSpPr>
        <p:spPr>
          <a:xfrm>
            <a:off x="5623560" y="1234440"/>
            <a:ext cx="161848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Result</a:t>
            </a:r>
          </a:p>
        </p:txBody>
      </p:sp>
      <p:sp>
        <p:nvSpPr>
          <p:cNvPr id="16" name="Desc out 1-2"/>
          <p:cNvSpPr/>
          <p:nvPr/>
        </p:nvSpPr>
        <p:spPr>
          <a:xfrm>
            <a:off x="7360920" y="1234440"/>
            <a:ext cx="12984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Desc out text 1-2"/>
          <p:cNvSpPr txBox="1"/>
          <p:nvPr/>
        </p:nvSpPr>
        <p:spPr>
          <a:xfrm>
            <a:off x="7452360" y="1234440"/>
            <a:ext cx="111556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Value</a:t>
            </a:r>
          </a:p>
        </p:txBody>
      </p:sp>
      <p:sp>
        <p:nvSpPr>
          <p:cNvPr id="18" name="Desc out 2-1"/>
          <p:cNvSpPr/>
          <p:nvPr/>
        </p:nvSpPr>
        <p:spPr>
          <a:xfrm>
            <a:off x="5532120" y="1627632"/>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Desc out text 2-1"/>
          <p:cNvSpPr txBox="1"/>
          <p:nvPr/>
        </p:nvSpPr>
        <p:spPr>
          <a:xfrm>
            <a:off x="5623560" y="1627632"/>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mean, units</a:t>
            </a:r>
          </a:p>
        </p:txBody>
      </p:sp>
      <p:sp>
        <p:nvSpPr>
          <p:cNvPr id="20" name="Desc out 2-2"/>
          <p:cNvSpPr/>
          <p:nvPr/>
        </p:nvSpPr>
        <p:spPr>
          <a:xfrm>
            <a:off x="7360920" y="1627632"/>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Desc out text 2-2"/>
          <p:cNvSpPr txBox="1"/>
          <p:nvPr/>
        </p:nvSpPr>
        <p:spPr>
          <a:xfrm>
            <a:off x="7452360" y="1627632"/>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80.0</a:t>
            </a:r>
          </a:p>
        </p:txBody>
      </p:sp>
      <p:sp>
        <p:nvSpPr>
          <p:cNvPr id="22" name="Desc out 3-1"/>
          <p:cNvSpPr/>
          <p:nvPr/>
        </p:nvSpPr>
        <p:spPr>
          <a:xfrm>
            <a:off x="5532120" y="2020824"/>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Desc out text 3-1"/>
          <p:cNvSpPr txBox="1"/>
          <p:nvPr/>
        </p:nvSpPr>
        <p:spPr>
          <a:xfrm>
            <a:off x="5623560" y="2020824"/>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std, units</a:t>
            </a:r>
          </a:p>
        </p:txBody>
      </p:sp>
      <p:sp>
        <p:nvSpPr>
          <p:cNvPr id="24" name="Desc out 3-2"/>
          <p:cNvSpPr/>
          <p:nvPr/>
        </p:nvSpPr>
        <p:spPr>
          <a:xfrm>
            <a:off x="7360920" y="2020824"/>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Desc out text 3-2"/>
          <p:cNvSpPr txBox="1"/>
          <p:nvPr/>
        </p:nvSpPr>
        <p:spPr>
          <a:xfrm>
            <a:off x="7452360" y="2020824"/>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27.39</a:t>
            </a:r>
          </a:p>
        </p:txBody>
      </p:sp>
      <p:sp>
        <p:nvSpPr>
          <p:cNvPr id="26" name="Desc out 4-1"/>
          <p:cNvSpPr/>
          <p:nvPr/>
        </p:nvSpPr>
        <p:spPr>
          <a:xfrm>
            <a:off x="5532120" y="2414016"/>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Desc out text 4-1"/>
          <p:cNvSpPr txBox="1"/>
          <p:nvPr/>
        </p:nvSpPr>
        <p:spPr>
          <a:xfrm>
            <a:off x="5623560" y="2414016"/>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50 %, median</a:t>
            </a:r>
          </a:p>
        </p:txBody>
      </p:sp>
      <p:sp>
        <p:nvSpPr>
          <p:cNvPr id="28" name="Desc out 4-2"/>
          <p:cNvSpPr/>
          <p:nvPr/>
        </p:nvSpPr>
        <p:spPr>
          <a:xfrm>
            <a:off x="7360920" y="2414016"/>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Desc out text 4-2"/>
          <p:cNvSpPr txBox="1"/>
          <p:nvPr/>
        </p:nvSpPr>
        <p:spPr>
          <a:xfrm>
            <a:off x="7452360" y="2414016"/>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80.0</a:t>
            </a:r>
          </a:p>
        </p:txBody>
      </p:sp>
      <p:sp>
        <p:nvSpPr>
          <p:cNvPr id="30" name="Desc out 5-1"/>
          <p:cNvSpPr/>
          <p:nvPr/>
        </p:nvSpPr>
        <p:spPr>
          <a:xfrm>
            <a:off x="5532120" y="2807208"/>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Desc out text 5-1"/>
          <p:cNvSpPr txBox="1"/>
          <p:nvPr/>
        </p:nvSpPr>
        <p:spPr>
          <a:xfrm>
            <a:off x="5623560" y="2807208"/>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r, Pearson</a:t>
            </a:r>
          </a:p>
        </p:txBody>
      </p:sp>
      <p:sp>
        <p:nvSpPr>
          <p:cNvPr id="32" name="Desc out 5-2"/>
          <p:cNvSpPr/>
          <p:nvPr/>
        </p:nvSpPr>
        <p:spPr>
          <a:xfrm>
            <a:off x="7360920" y="2807208"/>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Desc out text 5-2"/>
          <p:cNvSpPr txBox="1"/>
          <p:nvPr/>
        </p:nvSpPr>
        <p:spPr>
          <a:xfrm>
            <a:off x="7452360" y="2807208"/>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−0.981</a:t>
            </a:r>
          </a:p>
        </p:txBody>
      </p:sp>
      <p:sp>
        <p:nvSpPr>
          <p:cNvPr id="34" name="Desc out 6-1"/>
          <p:cNvSpPr/>
          <p:nvPr/>
        </p:nvSpPr>
        <p:spPr>
          <a:xfrm>
            <a:off x="5532120" y="3200400"/>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Desc out text 6-1"/>
          <p:cNvSpPr txBox="1"/>
          <p:nvPr/>
        </p:nvSpPr>
        <p:spPr>
          <a:xfrm>
            <a:off x="5623560" y="3200400"/>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rho, Spearman</a:t>
            </a:r>
          </a:p>
        </p:txBody>
      </p:sp>
      <p:sp>
        <p:nvSpPr>
          <p:cNvPr id="36" name="Desc out 6-2"/>
          <p:cNvSpPr/>
          <p:nvPr/>
        </p:nvSpPr>
        <p:spPr>
          <a:xfrm>
            <a:off x="7360920" y="3200400"/>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Desc out text 6-2"/>
          <p:cNvSpPr txBox="1"/>
          <p:nvPr/>
        </p:nvSpPr>
        <p:spPr>
          <a:xfrm>
            <a:off x="7452360" y="3200400"/>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−1.000</a:t>
            </a:r>
          </a:p>
        </p:txBody>
      </p:sp>
      <p:sp>
        <p:nvSpPr>
          <p:cNvPr id="38" name="Desc out 7-1"/>
          <p:cNvSpPr/>
          <p:nvPr/>
        </p:nvSpPr>
        <p:spPr>
          <a:xfrm>
            <a:off x="5532120" y="3593592"/>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Desc out text 7-1"/>
          <p:cNvSpPr txBox="1"/>
          <p:nvPr/>
        </p:nvSpPr>
        <p:spPr>
          <a:xfrm>
            <a:off x="5623560" y="3593592"/>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p-value of r</a:t>
            </a:r>
          </a:p>
        </p:txBody>
      </p:sp>
      <p:sp>
        <p:nvSpPr>
          <p:cNvPr id="40" name="Desc out 7-2"/>
          <p:cNvSpPr/>
          <p:nvPr/>
        </p:nvSpPr>
        <p:spPr>
          <a:xfrm>
            <a:off x="7360920" y="3593592"/>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Desc out text 7-2"/>
          <p:cNvSpPr txBox="1"/>
          <p:nvPr/>
        </p:nvSpPr>
        <p:spPr>
          <a:xfrm>
            <a:off x="7452360" y="3593592"/>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0.003</a:t>
            </a:r>
          </a:p>
        </p:txBody>
      </p:sp>
      <p:sp>
        <p:nvSpPr>
          <p:cNvPr id="42" name="Desc same box"/>
          <p:cNvSpPr/>
          <p:nvPr/>
        </p:nvSpPr>
        <p:spPr>
          <a:xfrm>
            <a:off x="457200" y="416052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3" name="Icon Desc same" descr=""/>
          <p:cNvPicPr>
            <a:picLocks noChangeAspect="1"/>
          </p:cNvPicPr>
          <p:nvPr/>
        </p:nvPicPr>
        <p:blipFill>
          <a:blip r:embed="rId3"/>
          <a:stretch>
            <a:fillRect/>
          </a:stretch>
        </p:blipFill>
        <p:spPr>
          <a:xfrm>
            <a:off x="658368" y="4251960"/>
            <a:ext cx="365760" cy="365760"/>
          </a:xfrm>
          <a:prstGeom prst="rect">
            <a:avLst/>
          </a:prstGeom>
        </p:spPr>
      </p:pic>
      <p:sp>
        <p:nvSpPr>
          <p:cNvPr id="44" name="Desc same text"/>
          <p:cNvSpPr txBox="1"/>
          <p:nvPr/>
        </p:nvSpPr>
        <p:spPr>
          <a:xfrm>
            <a:off x="1207008" y="416052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Same numbers as by hand: </a:t>
            </a:r>
            <a:r>
              <a:rPr sz="1200" b="0" lang="en-GB">
                <a:solidFill>
                  <a:schemeClr val="tx1"/>
                </a:solidFill>
              </a:rPr>
              <a:t>describe() for every column at once, corr() for every pair; scipy adds the p-value.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5 of 11 · online quiz, then the kiosk's year in Python, then with Posit Assistant</a:t>
            </a:r>
          </a:p>
        </p:txBody>
      </p:sp>
      <p:sp>
        <p:nvSpPr>
          <p:cNvPr id="3" name="Title 2"/>
          <p:cNvSpPr>
            <a:spLocks noGrp="1"/>
          </p:cNvSpPr>
          <p:nvPr>
            <p:ph type="ctrTitle"/>
          </p:nvPr>
        </p:nvSpPr>
        <p:spPr/>
        <p:txBody>
          <a:bodyPr/>
          <a:lstStyle/>
          <a:p>
            <a:r>
              <a:rPr sz="1600" lang="en-GB"/>
              <a:t>In-class exercise</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Online quiz 1: statistics in five questions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Quiz row 1"/>
          <p:cNvSpPr/>
          <p:nvPr/>
        </p:nvSpPr>
        <p:spPr>
          <a:xfrm>
            <a:off x="457200" y="1234440"/>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Quiz bar 1"/>
          <p:cNvSpPr/>
          <p:nvPr/>
        </p:nvSpPr>
        <p:spPr>
          <a:xfrm>
            <a:off x="457200" y="1234440"/>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Quiz text 1"/>
          <p:cNvSpPr txBox="1"/>
          <p:nvPr/>
        </p:nvSpPr>
        <p:spPr>
          <a:xfrm>
            <a:off x="658368" y="1234440"/>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1 Satisfaction from 1 to 5 stars is measured on which scale?</a:t>
            </a:r>
          </a:p>
          <a:p>
            <a:pPr algn="l">
              <a:spcAft>
                <a:spcPts val="100"/>
              </a:spcAft>
            </a:pPr>
            <a:r>
              <a:rPr sz="1200" b="0" lang="en-GB">
                <a:solidFill>
                  <a:schemeClr val="tx1"/>
                </a:solidFill>
              </a:rPr>
              <a:t>A nominal     B ordinal     C ratio</a:t>
            </a:r>
          </a:p>
        </p:txBody>
      </p:sp>
      <p:sp>
        <p:nvSpPr>
          <p:cNvPr id="13" name="Quiz row 2"/>
          <p:cNvSpPr/>
          <p:nvPr/>
        </p:nvSpPr>
        <p:spPr>
          <a:xfrm>
            <a:off x="457200" y="1892808"/>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Quiz bar 2"/>
          <p:cNvSpPr/>
          <p:nvPr/>
        </p:nvSpPr>
        <p:spPr>
          <a:xfrm>
            <a:off x="457200" y="1892808"/>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Quiz text 2"/>
          <p:cNvSpPr txBox="1"/>
          <p:nvPr/>
        </p:nvSpPr>
        <p:spPr>
          <a:xfrm>
            <a:off x="658368" y="1892808"/>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2 Daily sales 10, 12, 11, 13, 54: what describes a typical day best?</a:t>
            </a:r>
          </a:p>
          <a:p>
            <a:pPr algn="l">
              <a:spcAft>
                <a:spcPts val="100"/>
              </a:spcAft>
            </a:pPr>
            <a:r>
              <a:rPr sz="1200" b="0" lang="en-GB">
                <a:solidFill>
                  <a:schemeClr val="tx1"/>
                </a:solidFill>
              </a:rPr>
              <a:t>A the mean (20)     B the median (12)     C the standard deviation</a:t>
            </a:r>
          </a:p>
        </p:txBody>
      </p:sp>
      <p:sp>
        <p:nvSpPr>
          <p:cNvPr id="16" name="Quiz row 3"/>
          <p:cNvSpPr/>
          <p:nvPr/>
        </p:nvSpPr>
        <p:spPr>
          <a:xfrm>
            <a:off x="457200" y="2551176"/>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Quiz bar 3"/>
          <p:cNvSpPr/>
          <p:nvPr/>
        </p:nvSpPr>
        <p:spPr>
          <a:xfrm>
            <a:off x="457200" y="2551176"/>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Quiz text 3"/>
          <p:cNvSpPr txBox="1"/>
          <p:nvPr/>
        </p:nvSpPr>
        <p:spPr>
          <a:xfrm>
            <a:off x="658368" y="2551176"/>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3 The kiosk records four times as many weeks. The standard error of the mean …</a:t>
            </a:r>
          </a:p>
          <a:p>
            <a:pPr algn="l">
              <a:spcAft>
                <a:spcPts val="100"/>
              </a:spcAft>
            </a:pPr>
            <a:r>
              <a:rPr sz="1200" b="0" lang="en-GB">
                <a:solidFill>
                  <a:schemeClr val="tx1"/>
                </a:solidFill>
              </a:rPr>
              <a:t>A halves     B falls to a quarter     C stays the same</a:t>
            </a:r>
          </a:p>
        </p:txBody>
      </p:sp>
      <p:sp>
        <p:nvSpPr>
          <p:cNvPr id="19" name="Quiz row 4"/>
          <p:cNvSpPr/>
          <p:nvPr/>
        </p:nvSpPr>
        <p:spPr>
          <a:xfrm>
            <a:off x="457200" y="3209544"/>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Quiz bar 4"/>
          <p:cNvSpPr/>
          <p:nvPr/>
        </p:nvSpPr>
        <p:spPr>
          <a:xfrm>
            <a:off x="457200" y="3209544"/>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Quiz text 4"/>
          <p:cNvSpPr txBox="1"/>
          <p:nvPr/>
        </p:nvSpPr>
        <p:spPr>
          <a:xfrm>
            <a:off x="658368" y="3209544"/>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4 A week's sales have z = −2. That week was …</a:t>
            </a:r>
          </a:p>
          <a:p>
            <a:pPr algn="l">
              <a:spcAft>
                <a:spcPts val="100"/>
              </a:spcAft>
            </a:pPr>
            <a:r>
              <a:rPr sz="1200" b="0" lang="en-GB">
                <a:solidFill>
                  <a:schemeClr val="tx1"/>
                </a:solidFill>
              </a:rPr>
              <a:t>A 2 bars below the mean     B 2 standard deviations below the mean     C 2 % below the mean</a:t>
            </a:r>
          </a:p>
        </p:txBody>
      </p:sp>
      <p:sp>
        <p:nvSpPr>
          <p:cNvPr id="22" name="Quiz row 5"/>
          <p:cNvSpPr/>
          <p:nvPr/>
        </p:nvSpPr>
        <p:spPr>
          <a:xfrm>
            <a:off x="457200" y="3867912"/>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Quiz bar 5"/>
          <p:cNvSpPr/>
          <p:nvPr/>
        </p:nvSpPr>
        <p:spPr>
          <a:xfrm>
            <a:off x="457200" y="3867912"/>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Quiz text 5"/>
          <p:cNvSpPr txBox="1"/>
          <p:nvPr/>
        </p:nvSpPr>
        <p:spPr>
          <a:xfrm>
            <a:off x="658368" y="3867912"/>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5 Price and bars sold have r = −0.98. What does this mean?</a:t>
            </a:r>
          </a:p>
          <a:p>
            <a:pPr algn="l">
              <a:spcAft>
                <a:spcPts val="100"/>
              </a:spcAft>
            </a:pPr>
            <a:r>
              <a:rPr sz="1200" b="0" lang="en-GB">
                <a:solidFill>
                  <a:schemeClr val="tx1"/>
                </a:solidFill>
              </a:rPr>
              <a:t>A higher prices cause lower sales     B opposite directions, nearly linear     C 0.98 bars fewer per EUR</a:t>
            </a:r>
          </a:p>
        </p:txBody>
      </p:sp>
      <p:sp>
        <p:nvSpPr>
          <p:cNvPr id="25" name="Quiz how box"/>
          <p:cNvSpPr/>
          <p:nvPr/>
        </p:nvSpPr>
        <p:spPr>
          <a:xfrm>
            <a:off x="457200" y="45720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Quiz how" descr=""/>
          <p:cNvPicPr>
            <a:picLocks noChangeAspect="1"/>
          </p:cNvPicPr>
          <p:nvPr/>
        </p:nvPicPr>
        <p:blipFill>
          <a:blip r:embed="rId3"/>
          <a:stretch>
            <a:fillRect/>
          </a:stretch>
        </p:blipFill>
        <p:spPr>
          <a:xfrm>
            <a:off x="658368" y="4617720"/>
            <a:ext cx="365760" cy="365760"/>
          </a:xfrm>
          <a:prstGeom prst="rect">
            <a:avLst/>
          </a:prstGeom>
        </p:spPr>
      </p:pic>
      <p:sp>
        <p:nvSpPr>
          <p:cNvPr id="27" name="Quiz how text"/>
          <p:cNvSpPr txBox="1"/>
          <p:nvPr/>
        </p:nvSpPr>
        <p:spPr>
          <a:xfrm>
            <a:off x="1207008" y="4572000"/>
            <a:ext cx="731520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Online on Canvas: </a:t>
            </a:r>
            <a:r>
              <a:rPr sz="1200" b="0" lang="en-GB">
                <a:solidFill>
                  <a:schemeClr val="bg1"/>
                </a:solidFill>
              </a:rPr>
              <a:t>3 minutes alone, then compare with your neighbour. Same format as the exam.</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Year table"/>
          <p:cNvGraphicFramePr>
            <a:graphicFrameLocks noGrp="1"/>
          </p:cNvGraphicFramePr>
          <p:nvPr>
            <p:ph type="tbl" idx="1"/>
          </p:nvPr>
        </p:nvGraphicFramePr>
        <p:xfrm>
          <a:off x="457200" y="1234440"/>
          <a:ext cx="8229600" cy="2595880"/>
        </p:xfrm>
        <a:graphic>
          <a:graphicData uri="http://schemas.openxmlformats.org/drawingml/2006/table">
            <a:tbl>
              <a:tblPr firstRow="1" bandRow="1">
                <a:tableStyleId>{5C22544A-7EE6-4342-B048-85BDC9FD1C3A}</a:tableStyleId>
              </a:tblPr>
              <a:tblGrid>
                <a:gridCol w="2011680"/>
                <a:gridCol w="6217920"/>
              </a:tblGrid>
              <a:tr h="370840">
                <a:tc>
                  <a:txBody>
                    <a:bodyPr/>
                    <a:lstStyle/>
                    <a:p>
                      <a:r>
                        <a:rPr sz="1300" lang="en-GB"/>
                        <a:t>Column</a:t>
                      </a:r>
                    </a:p>
                  </a:txBody>
                  <a:tcPr marT="34000" marB="34000"/>
                </a:tc>
                <a:tc>
                  <a:txBody>
                    <a:bodyPr/>
                    <a:lstStyle/>
                    <a:p>
                      <a:r>
                        <a:rPr sz="1300" lang="en-GB"/>
                        <a:t>Meaning</a:t>
                      </a:r>
                    </a:p>
                  </a:txBody>
                  <a:tcPr marT="34000" marB="34000"/>
                </a:tc>
              </a:tr>
              <a:tr h="370840">
                <a:tc>
                  <a:txBody>
                    <a:bodyPr/>
                    <a:lstStyle/>
                    <a:p>
                      <a:r>
                        <a:rPr sz="1200" b="1" lang="en-GB"/>
                        <a:t>week</a:t>
                      </a:r>
                    </a:p>
                  </a:txBody>
                  <a:tcPr marT="34000" marB="34000"/>
                </a:tc>
                <a:tc>
                  <a:txBody>
                    <a:bodyPr/>
                    <a:lstStyle/>
                    <a:p>
                      <a:r>
                        <a:rPr sz="1200" lang="en-GB"/>
                        <a:t>1 to 52; weeks 1 to 5 are the price test of the slides</a:t>
                      </a:r>
                    </a:p>
                  </a:txBody>
                  <a:tcPr marT="34000" marB="34000"/>
                </a:tc>
              </a:tr>
              <a:tr h="370840">
                <a:tc>
                  <a:txBody>
                    <a:bodyPr/>
                    <a:lstStyle/>
                    <a:p>
                      <a:r>
                        <a:rPr sz="1200" b="1" lang="en-GB"/>
                        <a:t>price</a:t>
                      </a:r>
                    </a:p>
                  </a:txBody>
                  <a:tcPr marT="34000" marB="34000"/>
                </a:tc>
                <a:tc>
                  <a:txBody>
                    <a:bodyPr/>
                    <a:lstStyle/>
                    <a:p>
                      <a:r>
                        <a:rPr sz="1200" lang="en-GB"/>
                        <a:t>price per bar, EUR: 3.00 regular, 2.50 in four promotion weeks</a:t>
                      </a:r>
                    </a:p>
                  </a:txBody>
                  <a:tcPr marT="34000" marB="34000"/>
                </a:tc>
              </a:tr>
              <a:tr h="370840">
                <a:tc>
                  <a:txBody>
                    <a:bodyPr/>
                    <a:lstStyle/>
                    <a:p>
                      <a:r>
                        <a:rPr sz="1200" b="1" lang="en-GB"/>
                        <a:t>units</a:t>
                      </a:r>
                    </a:p>
                  </a:txBody>
                  <a:tcPr marT="34000" marB="34000"/>
                </a:tc>
                <a:tc>
                  <a:txBody>
                    <a:bodyPr/>
                    <a:lstStyle/>
                    <a:p>
                      <a:r>
                        <a:rPr sz="1200" lang="en-GB"/>
                        <a:t>bars sold in the week</a:t>
                      </a:r>
                    </a:p>
                  </a:txBody>
                  <a:tcPr marT="34000" marB="34000"/>
                </a:tc>
              </a:tr>
              <a:tr h="370840">
                <a:tc>
                  <a:txBody>
                    <a:bodyPr/>
                    <a:lstStyle/>
                    <a:p>
                      <a:r>
                        <a:rPr sz="1200" b="1" lang="en-GB"/>
                        <a:t>temp</a:t>
                      </a:r>
                    </a:p>
                  </a:txBody>
                  <a:tcPr marT="34000" marB="34000"/>
                </a:tc>
                <a:tc>
                  <a:txBody>
                    <a:bodyPr/>
                    <a:lstStyle/>
                    <a:p>
                      <a:r>
                        <a:rPr sz="1200" lang="en-GB"/>
                        <a:t>average temperature of the week, °C</a:t>
                      </a:r>
                    </a:p>
                  </a:txBody>
                  <a:tcPr marT="34000" marB="34000"/>
                </a:tc>
              </a:tr>
              <a:tr h="370840">
                <a:tc>
                  <a:txBody>
                    <a:bodyPr/>
                    <a:lstStyle/>
                    <a:p>
                      <a:r>
                        <a:rPr sz="1200" b="1" lang="en-GB"/>
                        <a:t>display</a:t>
                      </a:r>
                    </a:p>
                  </a:txBody>
                  <a:tcPr marT="34000" marB="34000"/>
                </a:tc>
                <a:tc>
                  <a:txBody>
                    <a:bodyPr/>
                    <a:lstStyle/>
                    <a:p>
                      <a:r>
                        <a:rPr sz="1200" lang="en-GB"/>
                        <a:t>yes if a display stood next to the till</a:t>
                      </a:r>
                    </a:p>
                  </a:txBody>
                  <a:tcPr marT="34000" marB="34000"/>
                </a:tc>
              </a:tr>
              <a:tr h="370840">
                <a:tc>
                  <a:txBody>
                    <a:bodyPr/>
                    <a:lstStyle/>
                    <a:p>
                      <a:r>
                        <a:rPr sz="1200" b="1" lang="en-GB"/>
                        <a:t>rating</a:t>
                      </a:r>
                    </a:p>
                  </a:txBody>
                  <a:tcPr marT="34000" marB="34000"/>
                </a:tc>
                <a:tc>
                  <a:txBody>
                    <a:bodyPr/>
                    <a:lstStyle/>
                    <a:p>
                      <a:r>
                        <a:rPr sz="1200" lang="en-GB"/>
                        <a:t>median customer rating of the week, 1 to 5 stars</a:t>
                      </a:r>
                    </a:p>
                  </a:txBody>
                  <a:tcPr marT="34000" marB="34000"/>
                </a:tc>
              </a:tr>
            </a:tbl>
          </a:graphicData>
        </a:graphic>
      </p:graphicFrame>
      <p:sp>
        <p:nvSpPr>
          <p:cNvPr id="3" name="Title 2"/>
          <p:cNvSpPr>
            <a:spLocks noGrp="1"/>
          </p:cNvSpPr>
          <p:nvPr>
            <p:ph type="title"/>
          </p:nvPr>
        </p:nvSpPr>
        <p:spPr/>
        <p:txBody>
          <a:bodyPr/>
          <a:lstStyle/>
          <a:p>
            <a:r>
              <a:rPr sz="1600" lang="en-GB"/>
              <a:t>The data: one year at the kiosk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Year file"/>
          <p:cNvSpPr txBox="1"/>
          <p:nvPr/>
        </p:nvSpPr>
        <p:spPr>
          <a:xfrm>
            <a:off x="457200" y="402336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data/kiosk/kiosk_year.csv</a:t>
            </a:r>
            <a:r>
              <a:rPr sz="1200" b="0" lang="en-GB">
                <a:solidFill>
                  <a:schemeClr val="tx1"/>
                </a:solidFill>
              </a:rPr>
              <a:t>  52 weeks, one row per week</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Your turn: one year at the kiosk, in Python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urn steps step 1"/>
          <p:cNvSpPr/>
          <p:nvPr/>
        </p:nvSpPr>
        <p:spPr>
          <a:xfrm>
            <a:off x="457200" y="1234440"/>
            <a:ext cx="2816352" cy="45720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Pairs, with packages:</a:t>
            </a:r>
            <a:br/>
            <a:r>
              <a:rPr sz="1200" b="1" lang="en-GB">
                <a:solidFill>
                  <a:schemeClr val="tx2"/>
                </a:solidFill>
              </a:rPr>
              <a:t>15 minutes</a:t>
            </a:r>
          </a:p>
        </p:txBody>
      </p:sp>
      <p:sp>
        <p:nvSpPr>
          <p:cNvPr id="11" name="Turn steps step 2"/>
          <p:cNvSpPr/>
          <p:nvPr/>
        </p:nvSpPr>
        <p:spPr>
          <a:xfrm>
            <a:off x="3163824" y="1234440"/>
            <a:ext cx="2816352" cy="45720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Posit Assistant:</a:t>
            </a:r>
            <a:br/>
            <a:r>
              <a:rPr sz="1200" b="1" lang="en-GB">
                <a:solidFill>
                  <a:schemeClr val="tx2"/>
                </a:solidFill>
              </a:rPr>
              <a:t>10 minutes</a:t>
            </a:r>
          </a:p>
        </p:txBody>
      </p:sp>
      <p:sp>
        <p:nvSpPr>
          <p:cNvPr id="12" name="Turn steps step 3"/>
          <p:cNvSpPr/>
          <p:nvPr/>
        </p:nvSpPr>
        <p:spPr>
          <a:xfrm>
            <a:off x="5870448" y="1234440"/>
            <a:ext cx="2816352" cy="45720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Plenary:</a:t>
            </a:r>
            <a:br/>
            <a:r>
              <a:rPr sz="1200" b="1" lang="en-GB">
                <a:solidFill>
                  <a:schemeClr val="tx2"/>
                </a:solidFill>
              </a:rPr>
              <a:t>5 minutes</a:t>
            </a:r>
          </a:p>
        </p:txBody>
      </p:sp>
      <p:sp>
        <p:nvSpPr>
          <p:cNvPr id="13" name="Turn q row 1"/>
          <p:cNvSpPr/>
          <p:nvPr/>
        </p:nvSpPr>
        <p:spPr>
          <a:xfrm>
            <a:off x="457200" y="182880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urn q number 1"/>
          <p:cNvSpPr/>
          <p:nvPr/>
        </p:nvSpPr>
        <p:spPr>
          <a:xfrm>
            <a:off x="594360" y="190195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5" name="Turn q text 1"/>
          <p:cNvSpPr txBox="1"/>
          <p:nvPr/>
        </p:nvSpPr>
        <p:spPr>
          <a:xfrm>
            <a:off x="1051560" y="1828800"/>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Scales: </a:t>
            </a:r>
            <a:r>
              <a:rPr sz="1200" b="0" lang="en-GB">
                <a:solidFill>
                  <a:schemeClr val="tx1"/>
                </a:solidFill>
              </a:rPr>
              <a:t>which scale is each of the six columns? What may you calculate for display and rating?</a:t>
            </a:r>
          </a:p>
        </p:txBody>
      </p:sp>
      <p:sp>
        <p:nvSpPr>
          <p:cNvPr id="16" name="Turn q row 2"/>
          <p:cNvSpPr/>
          <p:nvPr/>
        </p:nvSpPr>
        <p:spPr>
          <a:xfrm>
            <a:off x="457200" y="235000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urn q number 2"/>
          <p:cNvSpPr/>
          <p:nvPr/>
        </p:nvSpPr>
        <p:spPr>
          <a:xfrm>
            <a:off x="594360" y="242316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8" name="Turn q text 2"/>
          <p:cNvSpPr txBox="1"/>
          <p:nvPr/>
        </p:nvSpPr>
        <p:spPr>
          <a:xfrm>
            <a:off x="1051560" y="2350008"/>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Centre: </a:t>
            </a:r>
            <a:r>
              <a:rPr sz="1200" b="0" lang="en-GB">
                <a:solidFill>
                  <a:schemeClr val="tx1"/>
                </a:solidFill>
              </a:rPr>
              <a:t>mean and median of units over all 52 weeks; the median rating</a:t>
            </a:r>
          </a:p>
        </p:txBody>
      </p:sp>
      <p:sp>
        <p:nvSpPr>
          <p:cNvPr id="19" name="Turn q row 3"/>
          <p:cNvSpPr/>
          <p:nvPr/>
        </p:nvSpPr>
        <p:spPr>
          <a:xfrm>
            <a:off x="457200" y="2871216"/>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urn q number 3"/>
          <p:cNvSpPr/>
          <p:nvPr/>
        </p:nvSpPr>
        <p:spPr>
          <a:xfrm>
            <a:off x="594360" y="294436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1" name="Turn q text 3"/>
          <p:cNvSpPr txBox="1"/>
          <p:nvPr/>
        </p:nvSpPr>
        <p:spPr>
          <a:xfrm>
            <a:off x="1051560" y="2871216"/>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Spread: </a:t>
            </a:r>
            <a:r>
              <a:rPr sz="1200" b="0" lang="en-GB">
                <a:solidFill>
                  <a:schemeClr val="tx1"/>
                </a:solidFill>
              </a:rPr>
              <a:t>sd and standard error of units in the regular-price weeks (price 3.00)</a:t>
            </a:r>
          </a:p>
        </p:txBody>
      </p:sp>
      <p:sp>
        <p:nvSpPr>
          <p:cNvPr id="22" name="Turn q row 4"/>
          <p:cNvSpPr/>
          <p:nvPr/>
        </p:nvSpPr>
        <p:spPr>
          <a:xfrm>
            <a:off x="457200" y="3392424"/>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urn q number 4"/>
          <p:cNvSpPr/>
          <p:nvPr/>
        </p:nvSpPr>
        <p:spPr>
          <a:xfrm>
            <a:off x="594360" y="346557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4" name="Turn q text 4"/>
          <p:cNvSpPr txBox="1"/>
          <p:nvPr/>
        </p:nvSpPr>
        <p:spPr>
          <a:xfrm>
            <a:off x="1051560" y="3392424"/>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Normal: </a:t>
            </a:r>
            <a:r>
              <a:rPr sz="1200" b="0" lang="en-GB">
                <a:solidFill>
                  <a:schemeClr val="tx1"/>
                </a:solidFill>
              </a:rPr>
              <a:t>how many regular weeks lie within mean ± 2 sd? z of the best regular week?</a:t>
            </a:r>
          </a:p>
        </p:txBody>
      </p:sp>
      <p:sp>
        <p:nvSpPr>
          <p:cNvPr id="25" name="Turn q row 5"/>
          <p:cNvSpPr/>
          <p:nvPr/>
        </p:nvSpPr>
        <p:spPr>
          <a:xfrm>
            <a:off x="457200" y="3913632"/>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urn q number 5"/>
          <p:cNvSpPr/>
          <p:nvPr/>
        </p:nvSpPr>
        <p:spPr>
          <a:xfrm>
            <a:off x="594360" y="398678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7" name="Turn q text 5"/>
          <p:cNvSpPr txBox="1"/>
          <p:nvPr/>
        </p:nvSpPr>
        <p:spPr>
          <a:xfrm>
            <a:off x="1051560" y="3913632"/>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Together: </a:t>
            </a:r>
            <a:r>
              <a:rPr sz="1200" b="0" lang="en-GB">
                <a:solidFill>
                  <a:schemeClr val="tx1"/>
                </a:solidFill>
              </a:rPr>
              <a:t>r and p-value of units with price and with temp; plot units against temp</a:t>
            </a:r>
          </a:p>
        </p:txBody>
      </p:sp>
      <p:sp>
        <p:nvSpPr>
          <p:cNvPr id="28" name="Turn file"/>
          <p:cNvSpPr txBox="1"/>
          <p:nvPr/>
        </p:nvSpPr>
        <p:spPr>
          <a:xfrm>
            <a:off x="457200" y="457200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sessions/01-foundations/refresher_exercise.qmd</a:t>
            </a:r>
            <a:r>
              <a:rPr sz="1200" b="0" lang="en-GB">
                <a:solidFill>
                  <a:schemeClr val="tx1"/>
                </a:solidFill>
              </a:rPr>
              <a:t>  (data, packages, tasks, Posit Assistant)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Then: the same tasks with Posit Assistant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osit steps row 1"/>
          <p:cNvSpPr/>
          <p:nvPr/>
        </p:nvSpPr>
        <p:spPr>
          <a:xfrm>
            <a:off x="457200" y="12344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osit steps number 1"/>
          <p:cNvSpPr/>
          <p:nvPr/>
        </p:nvSpPr>
        <p:spPr>
          <a:xfrm>
            <a:off x="594360" y="130759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Posit steps text 1"/>
          <p:cNvSpPr txBox="1"/>
          <p:nvPr/>
        </p:nvSpPr>
        <p:spPr>
          <a:xfrm>
            <a:off x="1051560" y="1234440"/>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Code first: </a:t>
            </a:r>
            <a:r>
              <a:rPr sz="1200" b="0" lang="en-GB">
                <a:solidFill>
                  <a:schemeClr val="tx1"/>
                </a:solidFill>
              </a:rPr>
              <a:t>solve the tasks with the packages; keep the first cell run, so Posit Assistant sees kiosk</a:t>
            </a:r>
          </a:p>
        </p:txBody>
      </p:sp>
      <p:sp>
        <p:nvSpPr>
          <p:cNvPr id="13" name="Posit steps row 2"/>
          <p:cNvSpPr/>
          <p:nvPr/>
        </p:nvSpPr>
        <p:spPr>
          <a:xfrm>
            <a:off x="457200" y="1764792"/>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Posit steps number 2"/>
          <p:cNvSpPr/>
          <p:nvPr/>
        </p:nvSpPr>
        <p:spPr>
          <a:xfrm>
            <a:off x="594360" y="183794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Posit steps text 2"/>
          <p:cNvSpPr txBox="1"/>
          <p:nvPr/>
        </p:nvSpPr>
        <p:spPr>
          <a:xfrm>
            <a:off x="1051560" y="1764792"/>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Open the chat: </a:t>
            </a:r>
            <a:r>
              <a:rPr sz="1200" b="0" lang="en-GB">
                <a:solidFill>
                  <a:schemeClr val="tx1"/>
                </a:solidFill>
              </a:rPr>
              <a:t>Posit Assistant icon in the activity bar, or Ctrl/Cmd + Shift + P → View: Show Posit Assistant</a:t>
            </a:r>
          </a:p>
        </p:txBody>
      </p:sp>
      <p:sp>
        <p:nvSpPr>
          <p:cNvPr id="16" name="Posit steps row 3"/>
          <p:cNvSpPr/>
          <p:nvPr/>
        </p:nvSpPr>
        <p:spPr>
          <a:xfrm>
            <a:off x="457200" y="2295144"/>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osit steps number 3"/>
          <p:cNvSpPr/>
          <p:nvPr/>
        </p:nvSpPr>
        <p:spPr>
          <a:xfrm>
            <a:off x="594360" y="236829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Posit steps text 3"/>
          <p:cNvSpPr txBox="1"/>
          <p:nvPr/>
        </p:nvSpPr>
        <p:spPr>
          <a:xfrm>
            <a:off x="1051560" y="2295144"/>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Give context: </a:t>
            </a:r>
            <a:r>
              <a:rPr sz="1200" b="0" lang="en-GB">
                <a:solidFill>
                  <a:schemeClr val="tx1"/>
                </a:solidFill>
              </a:rPr>
              <a:t>type @refresher_exercise.qmd, then one task per prompt: the file, the packages, the output</a:t>
            </a:r>
          </a:p>
        </p:txBody>
      </p:sp>
      <p:sp>
        <p:nvSpPr>
          <p:cNvPr id="19" name="Posit steps row 4"/>
          <p:cNvSpPr/>
          <p:nvPr/>
        </p:nvSpPr>
        <p:spPr>
          <a:xfrm>
            <a:off x="457200" y="2825496"/>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Posit steps number 4"/>
          <p:cNvSpPr/>
          <p:nvPr/>
        </p:nvSpPr>
        <p:spPr>
          <a:xfrm>
            <a:off x="594360" y="289864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Posit steps text 4"/>
          <p:cNvSpPr txBox="1"/>
          <p:nvPr/>
        </p:nvSpPr>
        <p:spPr>
          <a:xfrm>
            <a:off x="1051560" y="2825496"/>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Approve with care: </a:t>
            </a:r>
            <a:r>
              <a:rPr sz="1200" b="0" lang="en-GB">
                <a:solidFill>
                  <a:schemeClr val="tx1"/>
                </a:solidFill>
              </a:rPr>
              <a:t>it asks before it runs code: Accept, Decline or reply; read every edit first</a:t>
            </a:r>
          </a:p>
        </p:txBody>
      </p:sp>
      <p:sp>
        <p:nvSpPr>
          <p:cNvPr id="22" name="Posit steps row 5"/>
          <p:cNvSpPr/>
          <p:nvPr/>
        </p:nvSpPr>
        <p:spPr>
          <a:xfrm>
            <a:off x="457200" y="335584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osit steps number 5"/>
          <p:cNvSpPr/>
          <p:nvPr/>
        </p:nvSpPr>
        <p:spPr>
          <a:xfrm>
            <a:off x="594360" y="342900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Posit steps text 5"/>
          <p:cNvSpPr txBox="1"/>
          <p:nvPr/>
        </p:nvSpPr>
        <p:spPr>
          <a:xfrm>
            <a:off x="1051560" y="3355848"/>
            <a:ext cx="749808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Compare: </a:t>
            </a:r>
            <a:r>
              <a:rPr sz="1200" b="0" lang="en-GB">
                <a:solidFill>
                  <a:schemeClr val="tx1"/>
                </a:solidFill>
              </a:rPr>
              <a:t>its code and numbers with yours; on an error, click Fix or Explain</a:t>
            </a:r>
          </a:p>
        </p:txBody>
      </p:sp>
      <p:sp>
        <p:nvSpPr>
          <p:cNvPr id="25" name="Posit safe box"/>
          <p:cNvSpPr/>
          <p:nvPr/>
        </p:nvSpPr>
        <p:spPr>
          <a:xfrm>
            <a:off x="457200" y="402336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Posit safe" descr=""/>
          <p:cNvPicPr>
            <a:picLocks noChangeAspect="1"/>
          </p:cNvPicPr>
          <p:nvPr/>
        </p:nvPicPr>
        <p:blipFill>
          <a:blip r:embed="rId3"/>
          <a:stretch>
            <a:fillRect/>
          </a:stretch>
        </p:blipFill>
        <p:spPr>
          <a:xfrm>
            <a:off x="658368" y="4183380"/>
            <a:ext cx="365760" cy="365760"/>
          </a:xfrm>
          <a:prstGeom prst="rect">
            <a:avLst/>
          </a:prstGeom>
        </p:spPr>
      </p:pic>
      <p:sp>
        <p:nvSpPr>
          <p:cNvPr id="27" name="Posit safe text"/>
          <p:cNvSpPr txBox="1"/>
          <p:nvPr/>
        </p:nvSpPr>
        <p:spPr>
          <a:xfrm>
            <a:off x="1207008" y="4023360"/>
            <a:ext cx="7315200" cy="685800"/>
          </a:xfrm>
          <a:prstGeom prst="rect">
            <a:avLst/>
          </a:prstGeom>
          <a:noFill/>
        </p:spPr>
        <p:txBody>
          <a:bodyPr wrap="square" lIns="0" rIns="0" tIns="0" bIns="0" anchor="ctr">
            <a:noAutofit/>
          </a:bodyPr>
          <a:lstStyle/>
          <a:p>
            <a:pPr algn="l">
              <a:spcAft>
                <a:spcPts val="400"/>
              </a:spcAft>
            </a:pPr>
            <a:r>
              <a:rPr sz="1200" b="1" lang="en-GB">
                <a:solidFill>
                  <a:schemeClr val="bg1"/>
                </a:solidFill>
              </a:rPr>
              <a:t>Stay in Normal mode: </a:t>
            </a:r>
            <a:r>
              <a:rPr sz="1200" b="0" lang="en-GB">
                <a:solidFill>
                  <a:schemeClr val="bg1"/>
                </a:solidFill>
              </a:rPr>
              <a:t>never /yolo. Use /ask when you want an explanation without edits. You own every number.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Prompts for the exercise: one task at a time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ompt 2 caption bar"/>
          <p:cNvSpPr/>
          <p:nvPr/>
        </p:nvSpPr>
        <p:spPr>
          <a:xfrm>
            <a:off x="457200" y="123444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rompt 2 caption"/>
          <p:cNvSpPr txBox="1"/>
          <p:nvPr/>
        </p:nvSpPr>
        <p:spPr>
          <a:xfrm>
            <a:off x="566928" y="123444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2</a:t>
            </a:r>
          </a:p>
        </p:txBody>
      </p:sp>
      <p:sp>
        <p:nvSpPr>
          <p:cNvPr id="12" name="Prompt 2 box"/>
          <p:cNvSpPr/>
          <p:nvPr/>
        </p:nvSpPr>
        <p:spPr>
          <a:xfrm>
            <a:off x="457200" y="1508760"/>
            <a:ext cx="4046220" cy="1737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rompt 2 code"/>
          <p:cNvSpPr txBox="1"/>
          <p:nvPr/>
        </p:nvSpPr>
        <p:spPr>
          <a:xfrm>
            <a:off x="594360" y="1600200"/>
            <a:ext cx="3771900" cy="15544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@refresher_exercise.qmd Task 2.</a:t>
            </a:r>
          </a:p>
          <a:p>
            <a:pPr algn="l">
              <a:spcAft>
                <a:spcPts val="0"/>
              </a:spcAft>
            </a:pPr>
            <a:r>
              <a:rPr sz="1100" b="0" lang="en-GB">
                <a:solidFill>
                  <a:schemeClr val="bg1"/>
                </a:solidFill>
                <a:latin typeface="Consolas"/>
              </a:rPr>
              <a:t>Use polars, not pandas. Mean and</a:t>
            </a:r>
          </a:p>
          <a:p>
            <a:pPr algn="l">
              <a:spcAft>
                <a:spcPts val="0"/>
              </a:spcAft>
            </a:pPr>
            <a:r>
              <a:rPr sz="1100" b="0" lang="en-GB">
                <a:solidFill>
                  <a:schemeClr val="bg1"/>
                </a:solidFill>
                <a:latin typeface="Consolas"/>
              </a:rPr>
              <a:t>median of units over all 52 weeks</a:t>
            </a:r>
          </a:p>
          <a:p>
            <a:pPr algn="l">
              <a:spcAft>
                <a:spcPts val="0"/>
              </a:spcAft>
            </a:pPr>
            <a:r>
              <a:rPr sz="1100" b="0" lang="en-GB">
                <a:solidFill>
                  <a:schemeClr val="bg1"/>
                </a:solidFill>
                <a:latin typeface="Consolas"/>
              </a:rPr>
              <a:t>and the median rating, with</a:t>
            </a:r>
          </a:p>
          <a:p>
            <a:pPr algn="l">
              <a:spcAft>
                <a:spcPts val="0"/>
              </a:spcAft>
            </a:pPr>
            <a:r>
              <a:rPr sz="1100" b="0" lang="en-GB">
                <a:solidFill>
                  <a:schemeClr val="bg1"/>
                </a:solidFill>
                <a:latin typeface="Consolas"/>
              </a:rPr>
              <a:t>kiosk.describe(). Write the code</a:t>
            </a:r>
          </a:p>
          <a:p>
            <a:pPr algn="l">
              <a:spcAft>
                <a:spcPts val="0"/>
              </a:spcAft>
            </a:pPr>
            <a:r>
              <a:rPr sz="1100" b="0" lang="en-GB">
                <a:solidFill>
                  <a:schemeClr val="bg1"/>
                </a:solidFill>
                <a:latin typeface="Consolas"/>
              </a:rPr>
              <a:t>into the Task 2 cell and explain</a:t>
            </a:r>
          </a:p>
          <a:p>
            <a:pPr algn="l">
              <a:spcAft>
                <a:spcPts val="0"/>
              </a:spcAft>
            </a:pPr>
            <a:r>
              <a:rPr sz="1100" b="0" lang="en-GB">
                <a:solidFill>
                  <a:schemeClr val="bg1"/>
                </a:solidFill>
                <a:latin typeface="Consolas"/>
              </a:rPr>
              <a:t>each line.</a:t>
            </a:r>
          </a:p>
        </p:txBody>
      </p:sp>
      <p:sp>
        <p:nvSpPr>
          <p:cNvPr id="14" name="Prompt 5 caption bar"/>
          <p:cNvSpPr/>
          <p:nvPr/>
        </p:nvSpPr>
        <p:spPr>
          <a:xfrm>
            <a:off x="4640580" y="1234440"/>
            <a:ext cx="40462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Prompt 5 caption"/>
          <p:cNvSpPr txBox="1"/>
          <p:nvPr/>
        </p:nvSpPr>
        <p:spPr>
          <a:xfrm>
            <a:off x="4750308" y="1234440"/>
            <a:ext cx="38267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Prompt for task 5</a:t>
            </a:r>
          </a:p>
        </p:txBody>
      </p:sp>
      <p:sp>
        <p:nvSpPr>
          <p:cNvPr id="16" name="Prompt 5 box"/>
          <p:cNvSpPr/>
          <p:nvPr/>
        </p:nvSpPr>
        <p:spPr>
          <a:xfrm>
            <a:off x="4640580" y="1508760"/>
            <a:ext cx="4046220" cy="1737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rompt 5 code"/>
          <p:cNvSpPr txBox="1"/>
          <p:nvPr/>
        </p:nvSpPr>
        <p:spPr>
          <a:xfrm>
            <a:off x="4777740" y="1600200"/>
            <a:ext cx="3771900" cy="15544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Task 5. Correlation of units with</a:t>
            </a:r>
          </a:p>
          <a:p>
            <a:pPr algn="l">
              <a:spcAft>
                <a:spcPts val="0"/>
              </a:spcAft>
            </a:pPr>
            <a:r>
              <a:rPr sz="1100" b="0" lang="en-GB">
                <a:solidFill>
                  <a:schemeClr val="bg1"/>
                </a:solidFill>
                <a:latin typeface="Consolas"/>
              </a:rPr>
              <a:t>price and with temp in polars,</a:t>
            </a:r>
          </a:p>
          <a:p>
            <a:pPr algn="l">
              <a:spcAft>
                <a:spcPts val="0"/>
              </a:spcAft>
            </a:pPr>
            <a:r>
              <a:rPr sz="1100" b="0" lang="en-GB">
                <a:solidFill>
                  <a:schemeClr val="bg1"/>
                </a:solidFill>
                <a:latin typeface="Consolas"/>
              </a:rPr>
              <a:t>p-values with scipy.stats.pearsonr,</a:t>
            </a:r>
          </a:p>
          <a:p>
            <a:pPr algn="l">
              <a:spcAft>
                <a:spcPts val="0"/>
              </a:spcAft>
            </a:pPr>
            <a:r>
              <a:rPr sz="1100" b="0" lang="en-GB">
                <a:solidFill>
                  <a:schemeClr val="bg1"/>
                </a:solidFill>
                <a:latin typeface="Consolas"/>
              </a:rPr>
              <a:t>and a plotnine scatter of units</a:t>
            </a:r>
          </a:p>
          <a:p>
            <a:pPr algn="l">
              <a:spcAft>
                <a:spcPts val="0"/>
              </a:spcAft>
            </a:pPr>
            <a:r>
              <a:rPr sz="1100" b="0" lang="en-GB">
                <a:solidFill>
                  <a:schemeClr val="bg1"/>
                </a:solidFill>
                <a:latin typeface="Consolas"/>
              </a:rPr>
              <a:t>against temp. Run it, then explain</a:t>
            </a:r>
          </a:p>
          <a:p>
            <a:pPr algn="l">
              <a:spcAft>
                <a:spcPts val="0"/>
              </a:spcAft>
            </a:pPr>
            <a:r>
              <a:rPr sz="1100" b="0" lang="en-GB">
                <a:solidFill>
                  <a:schemeClr val="bg1"/>
                </a:solidFill>
                <a:latin typeface="Consolas"/>
              </a:rPr>
              <a:t>r and p for the kiosk owner.</a:t>
            </a:r>
          </a:p>
        </p:txBody>
      </p:sp>
      <p:sp>
        <p:nvSpPr>
          <p:cNvPr id="18" name="Prompt tips row 1"/>
          <p:cNvSpPr/>
          <p:nvPr/>
        </p:nvSpPr>
        <p:spPr>
          <a:xfrm>
            <a:off x="457200" y="3383280"/>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Prompt tips bar 1"/>
          <p:cNvSpPr/>
          <p:nvPr/>
        </p:nvSpPr>
        <p:spPr>
          <a:xfrm>
            <a:off x="457200" y="3383280"/>
            <a:ext cx="640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Prompt tips text 1"/>
          <p:cNvSpPr txBox="1"/>
          <p:nvPr/>
        </p:nvSpPr>
        <p:spPr>
          <a:xfrm>
            <a:off x="658368" y="3383280"/>
            <a:ext cx="7936992"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Name three things: </a:t>
            </a:r>
            <a:r>
              <a:rPr sz="1200" b="0" lang="en-GB">
                <a:solidFill>
                  <a:schemeClr val="tx1"/>
                </a:solidFill>
              </a:rPr>
              <a:t>the file, the packages (polars, plotnine, scipy), the output</a:t>
            </a:r>
          </a:p>
        </p:txBody>
      </p:sp>
      <p:sp>
        <p:nvSpPr>
          <p:cNvPr id="21" name="Prompt tips row 2"/>
          <p:cNvSpPr/>
          <p:nvPr/>
        </p:nvSpPr>
        <p:spPr>
          <a:xfrm>
            <a:off x="457200" y="3831336"/>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rompt tips bar 2"/>
          <p:cNvSpPr/>
          <p:nvPr/>
        </p:nvSpPr>
        <p:spPr>
          <a:xfrm>
            <a:off x="457200" y="3831336"/>
            <a:ext cx="640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rompt tips text 2"/>
          <p:cNvSpPr txBox="1"/>
          <p:nvPr/>
        </p:nvSpPr>
        <p:spPr>
          <a:xfrm>
            <a:off x="658368" y="3831336"/>
            <a:ext cx="7936992"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Code first: </a:t>
            </a:r>
            <a:r>
              <a:rPr sz="1200" b="0" lang="en-GB">
                <a:solidFill>
                  <a:schemeClr val="tx1"/>
                </a:solidFill>
              </a:rPr>
              <a:t>your own solution with the packages, then ask; compare both</a:t>
            </a:r>
          </a:p>
        </p:txBody>
      </p:sp>
      <p:sp>
        <p:nvSpPr>
          <p:cNvPr id="24" name="Prompt tips row 3"/>
          <p:cNvSpPr/>
          <p:nvPr/>
        </p:nvSpPr>
        <p:spPr>
          <a:xfrm>
            <a:off x="457200" y="4279392"/>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Prompt tips bar 3"/>
          <p:cNvSpPr/>
          <p:nvPr/>
        </p:nvSpPr>
        <p:spPr>
          <a:xfrm>
            <a:off x="457200" y="4279392"/>
            <a:ext cx="640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Prompt tips text 3"/>
          <p:cNvSpPr txBox="1"/>
          <p:nvPr/>
        </p:nvSpPr>
        <p:spPr>
          <a:xfrm>
            <a:off x="658368" y="4279392"/>
            <a:ext cx="7936992"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Watch for slips: </a:t>
            </a:r>
            <a:r>
              <a:rPr sz="1200" b="0" lang="en-GB">
                <a:solidFill>
                  <a:schemeClr val="tx1"/>
                </a:solidFill>
              </a:rPr>
              <a:t>pandas instead of polars, np.std (divides by n), the wrong weeks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Refresher: key takeaways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akeaways row 1"/>
          <p:cNvSpPr/>
          <p:nvPr/>
        </p:nvSpPr>
        <p:spPr>
          <a:xfrm>
            <a:off x="457200" y="1234440"/>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akeaways number 1"/>
          <p:cNvSpPr/>
          <p:nvPr/>
        </p:nvSpPr>
        <p:spPr>
          <a:xfrm>
            <a:off x="594360" y="137160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Takeaways text 1"/>
          <p:cNvSpPr txBox="1"/>
          <p:nvPr/>
        </p:nvSpPr>
        <p:spPr>
          <a:xfrm>
            <a:off x="1051560" y="1234440"/>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Scale </a:t>
            </a:r>
            <a:r>
              <a:rPr sz="1200" b="0" lang="en-GB">
                <a:solidFill>
                  <a:schemeClr val="tx1"/>
                </a:solidFill>
              </a:rPr>
              <a:t>first: it decides which statistics make sense</a:t>
            </a:r>
          </a:p>
        </p:txBody>
      </p:sp>
      <p:sp>
        <p:nvSpPr>
          <p:cNvPr id="13" name="Takeaways row 2"/>
          <p:cNvSpPr/>
          <p:nvPr/>
        </p:nvSpPr>
        <p:spPr>
          <a:xfrm>
            <a:off x="457200" y="1901952"/>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akeaways number 2"/>
          <p:cNvSpPr/>
          <p:nvPr/>
        </p:nvSpPr>
        <p:spPr>
          <a:xfrm>
            <a:off x="594360" y="20391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Takeaways text 2"/>
          <p:cNvSpPr txBox="1"/>
          <p:nvPr/>
        </p:nvSpPr>
        <p:spPr>
          <a:xfrm>
            <a:off x="1051560" y="1901952"/>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Mean and median: </a:t>
            </a:r>
            <a:r>
              <a:rPr sz="1200" b="0" lang="en-GB">
                <a:solidFill>
                  <a:schemeClr val="tx1"/>
                </a:solidFill>
              </a:rPr>
              <a:t>the median resists outliers; totals need the mean</a:t>
            </a:r>
          </a:p>
        </p:txBody>
      </p:sp>
      <p:sp>
        <p:nvSpPr>
          <p:cNvPr id="16" name="Takeaways row 3"/>
          <p:cNvSpPr/>
          <p:nvPr/>
        </p:nvSpPr>
        <p:spPr>
          <a:xfrm>
            <a:off x="457200" y="2569464"/>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akeaways number 3"/>
          <p:cNvSpPr/>
          <p:nvPr/>
        </p:nvSpPr>
        <p:spPr>
          <a:xfrm>
            <a:off x="594360" y="27066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Takeaways text 3"/>
          <p:cNvSpPr txBox="1"/>
          <p:nvPr/>
        </p:nvSpPr>
        <p:spPr>
          <a:xfrm>
            <a:off x="1051560" y="2569464"/>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sd </a:t>
            </a:r>
            <a:r>
              <a:rPr sz="1200" b="0" lang="en-GB">
                <a:solidFill>
                  <a:schemeClr val="tx1"/>
                </a:solidFill>
              </a:rPr>
              <a:t>describes the data; SE = sd / √n describes the precision of the mean</a:t>
            </a:r>
          </a:p>
        </p:txBody>
      </p:sp>
      <p:sp>
        <p:nvSpPr>
          <p:cNvPr id="19" name="Takeaways row 4"/>
          <p:cNvSpPr/>
          <p:nvPr/>
        </p:nvSpPr>
        <p:spPr>
          <a:xfrm>
            <a:off x="457200" y="3236976"/>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akeaways number 4"/>
          <p:cNvSpPr/>
          <p:nvPr/>
        </p:nvSpPr>
        <p:spPr>
          <a:xfrm>
            <a:off x="594360" y="337413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Takeaways text 4"/>
          <p:cNvSpPr txBox="1"/>
          <p:nvPr/>
        </p:nvSpPr>
        <p:spPr>
          <a:xfrm>
            <a:off x="1051560" y="3236976"/>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z = (x − x̄) / s </a:t>
            </a:r>
            <a:r>
              <a:rPr sz="1200" b="0" lang="en-GB">
                <a:solidFill>
                  <a:schemeClr val="tx1"/>
                </a:solidFill>
              </a:rPr>
              <a:t>makes values comparable; 95 % of a normal lies within ±1.96 sd</a:t>
            </a:r>
          </a:p>
        </p:txBody>
      </p:sp>
      <p:sp>
        <p:nvSpPr>
          <p:cNvPr id="22" name="Takeaways row 5"/>
          <p:cNvSpPr/>
          <p:nvPr/>
        </p:nvSpPr>
        <p:spPr>
          <a:xfrm>
            <a:off x="457200" y="3904488"/>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akeaways number 5"/>
          <p:cNvSpPr/>
          <p:nvPr/>
        </p:nvSpPr>
        <p:spPr>
          <a:xfrm>
            <a:off x="594360" y="404164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Takeaways text 5"/>
          <p:cNvSpPr txBox="1"/>
          <p:nvPr/>
        </p:nvSpPr>
        <p:spPr>
          <a:xfrm>
            <a:off x="1051560" y="3904488"/>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Covariance </a:t>
            </a:r>
            <a:r>
              <a:rPr sz="1200" b="0" lang="en-GB">
                <a:solidFill>
                  <a:schemeClr val="tx1"/>
                </a:solidFill>
              </a:rPr>
              <a:t>gives the direction, correlation the strength (−1 to +1), regression the size</a:t>
            </a:r>
          </a:p>
        </p:txBody>
      </p:sp>
      <p:sp>
        <p:nvSpPr>
          <p:cNvPr id="25" name="Take next box"/>
          <p:cNvSpPr/>
          <p:nvPr/>
        </p:nvSpPr>
        <p:spPr>
          <a:xfrm>
            <a:off x="457200" y="45720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Take next" descr=""/>
          <p:cNvPicPr>
            <a:picLocks noChangeAspect="1"/>
          </p:cNvPicPr>
          <p:nvPr/>
        </p:nvPicPr>
        <p:blipFill>
          <a:blip r:embed="rId3"/>
          <a:stretch>
            <a:fillRect/>
          </a:stretch>
        </p:blipFill>
        <p:spPr>
          <a:xfrm>
            <a:off x="658368" y="4617720"/>
            <a:ext cx="365760" cy="365760"/>
          </a:xfrm>
          <a:prstGeom prst="rect">
            <a:avLst/>
          </a:prstGeom>
        </p:spPr>
      </p:pic>
      <p:sp>
        <p:nvSpPr>
          <p:cNvPr id="27" name="Take next text"/>
          <p:cNvSpPr txBox="1"/>
          <p:nvPr/>
        </p:nvSpPr>
        <p:spPr>
          <a:xfrm>
            <a:off x="1207008" y="4572000"/>
            <a:ext cx="731520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Next: </a:t>
            </a:r>
            <a:r>
              <a:rPr sz="1200" b="0" lang="en-GB">
                <a:solidFill>
                  <a:schemeClr val="bg1"/>
                </a:solidFill>
              </a:rPr>
              <a:t>linear regression on real chocolate scanner data, Parts 6 to 11.</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6 of 11 · real data, simple and multiple regression, inference, fit, logs, from elasticity to price</a:t>
            </a:r>
          </a:p>
        </p:txBody>
      </p:sp>
      <p:sp>
        <p:nvSpPr>
          <p:cNvPr id="3" name="Title 2"/>
          <p:cNvSpPr>
            <a:spLocks noGrp="1"/>
          </p:cNvSpPr>
          <p:nvPr>
            <p:ph type="ctrTitle"/>
          </p:nvPr>
        </p:nvSpPr>
        <p:spPr/>
        <p:txBody>
          <a:bodyPr/>
          <a:lstStyle/>
          <a:p>
            <a:r>
              <a:rPr sz="1600" lang="en-GB"/>
              <a:t>Linear regression: theory</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question: what does a price cut sell?</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g_sales_time.png" descr="Line chart of weekly sales of brand 1 over 68 weeks: mostly between 60 and 120, with seven spikes up to about 530 in price-cut weeks, marked with blue dots"/>
          <p:cNvPicPr>
            <a:picLocks noChangeAspect="1"/>
          </p:cNvPicPr>
          <p:nvPr/>
        </p:nvPicPr>
        <p:blipFill>
          <a:blip r:embed="rId3"/>
          <a:stretch>
            <a:fillRect/>
          </a:stretch>
        </p:blipFill>
        <p:spPr>
          <a:xfrm>
            <a:off x="457200" y="1234440"/>
            <a:ext cx="4572000" cy="2743200"/>
          </a:xfrm>
          <a:prstGeom prst="rect">
            <a:avLst/>
          </a:prstGeom>
        </p:spPr>
      </p:pic>
      <p:sp>
        <p:nvSpPr>
          <p:cNvPr id="11" name="Sales caption"/>
          <p:cNvSpPr txBox="1"/>
          <p:nvPr/>
        </p:nvSpPr>
        <p:spPr>
          <a:xfrm>
            <a:off x="457200" y="4023360"/>
            <a:ext cx="457200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Weekly sales of brand 1; blue: weeks with a price cut (price below 1.20).</a:t>
            </a:r>
          </a:p>
        </p:txBody>
      </p:sp>
      <p:sp>
        <p:nvSpPr>
          <p:cNvPr id="12" name="Question row 1"/>
          <p:cNvSpPr/>
          <p:nvPr/>
        </p:nvSpPr>
        <p:spPr>
          <a:xfrm>
            <a:off x="5166360" y="1234440"/>
            <a:ext cx="352044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Question bar 1"/>
          <p:cNvSpPr/>
          <p:nvPr/>
        </p:nvSpPr>
        <p:spPr>
          <a:xfrm>
            <a:off x="5166360" y="1234440"/>
            <a:ext cx="64008" cy="6217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Question text 1"/>
          <p:cNvSpPr txBox="1"/>
          <p:nvPr/>
        </p:nvSpPr>
        <p:spPr>
          <a:xfrm>
            <a:off x="5367528" y="1234440"/>
            <a:ext cx="3227832" cy="621792"/>
          </a:xfrm>
          <a:prstGeom prst="rect">
            <a:avLst/>
          </a:prstGeom>
          <a:noFill/>
        </p:spPr>
        <p:txBody>
          <a:bodyPr wrap="square" lIns="0" rIns="0" tIns="0" bIns="0" anchor="ctr">
            <a:noAutofit/>
          </a:bodyPr>
          <a:lstStyle/>
          <a:p>
            <a:pPr algn="l">
              <a:spcAft>
                <a:spcPts val="400"/>
              </a:spcAft>
            </a:pPr>
            <a:r>
              <a:rPr sz="1200" b="1" lang="en-GB">
                <a:solidFill>
                  <a:schemeClr val="tx2"/>
                </a:solidFill>
              </a:rPr>
              <a:t>Data: </a:t>
            </a:r>
            <a:r>
              <a:rPr sz="1200" b="0" lang="en-GB">
                <a:solidFill>
                  <a:schemeClr val="tx1"/>
                </a:solidFill>
              </a:rPr>
              <a:t>68 weeks of real scanner data, 4 brands</a:t>
            </a:r>
          </a:p>
        </p:txBody>
      </p:sp>
      <p:sp>
        <p:nvSpPr>
          <p:cNvPr id="15" name="Question row 2"/>
          <p:cNvSpPr/>
          <p:nvPr/>
        </p:nvSpPr>
        <p:spPr>
          <a:xfrm>
            <a:off x="5166360" y="1929384"/>
            <a:ext cx="352044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Question bar 2"/>
          <p:cNvSpPr/>
          <p:nvPr/>
        </p:nvSpPr>
        <p:spPr>
          <a:xfrm>
            <a:off x="5166360" y="1929384"/>
            <a:ext cx="64008" cy="6217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Question text 2"/>
          <p:cNvSpPr txBox="1"/>
          <p:nvPr/>
        </p:nvSpPr>
        <p:spPr>
          <a:xfrm>
            <a:off x="5367528" y="1929384"/>
            <a:ext cx="3227832" cy="621792"/>
          </a:xfrm>
          <a:prstGeom prst="rect">
            <a:avLst/>
          </a:prstGeom>
          <a:noFill/>
        </p:spPr>
        <p:txBody>
          <a:bodyPr wrap="square" lIns="0" rIns="0" tIns="0" bIns="0" anchor="ctr">
            <a:noAutofit/>
          </a:bodyPr>
          <a:lstStyle/>
          <a:p>
            <a:pPr algn="l">
              <a:spcAft>
                <a:spcPts val="400"/>
              </a:spcAft>
            </a:pPr>
            <a:r>
              <a:rPr sz="1200" b="1" lang="en-GB">
                <a:solidFill>
                  <a:schemeClr val="tx2"/>
                </a:solidFill>
              </a:rPr>
              <a:t>Normal week: </a:t>
            </a:r>
            <a:r>
              <a:rPr sz="1200" b="0" lang="en-GB">
                <a:solidFill>
                  <a:schemeClr val="tx1"/>
                </a:solidFill>
              </a:rPr>
              <a:t>price about 1.50, sales about 100</a:t>
            </a:r>
          </a:p>
        </p:txBody>
      </p:sp>
      <p:sp>
        <p:nvSpPr>
          <p:cNvPr id="18" name="Question row 3"/>
          <p:cNvSpPr/>
          <p:nvPr/>
        </p:nvSpPr>
        <p:spPr>
          <a:xfrm>
            <a:off x="5166360" y="2624328"/>
            <a:ext cx="352044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Question bar 3"/>
          <p:cNvSpPr/>
          <p:nvPr/>
        </p:nvSpPr>
        <p:spPr>
          <a:xfrm>
            <a:off x="5166360" y="2624328"/>
            <a:ext cx="64008" cy="6217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Question text 3"/>
          <p:cNvSpPr txBox="1"/>
          <p:nvPr/>
        </p:nvSpPr>
        <p:spPr>
          <a:xfrm>
            <a:off x="5367528" y="2624328"/>
            <a:ext cx="3227832" cy="621792"/>
          </a:xfrm>
          <a:prstGeom prst="rect">
            <a:avLst/>
          </a:prstGeom>
          <a:noFill/>
        </p:spPr>
        <p:txBody>
          <a:bodyPr wrap="square" lIns="0" rIns="0" tIns="0" bIns="0" anchor="ctr">
            <a:noAutofit/>
          </a:bodyPr>
          <a:lstStyle/>
          <a:p>
            <a:pPr algn="l">
              <a:spcAft>
                <a:spcPts val="400"/>
              </a:spcAft>
            </a:pPr>
            <a:r>
              <a:rPr sz="1200" b="1" lang="en-GB">
                <a:solidFill>
                  <a:schemeClr val="tx2"/>
                </a:solidFill>
              </a:rPr>
              <a:t>Price-cut week: </a:t>
            </a:r>
            <a:r>
              <a:rPr sz="1200" b="0" lang="en-GB">
                <a:solidFill>
                  <a:schemeClr val="tx1"/>
                </a:solidFill>
              </a:rPr>
              <a:t>price about 1.03, sales up to 530</a:t>
            </a:r>
          </a:p>
        </p:txBody>
      </p:sp>
      <p:sp>
        <p:nvSpPr>
          <p:cNvPr id="21" name="Question row 4"/>
          <p:cNvSpPr/>
          <p:nvPr/>
        </p:nvSpPr>
        <p:spPr>
          <a:xfrm>
            <a:off x="5166360" y="3319272"/>
            <a:ext cx="352044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Question bar 4"/>
          <p:cNvSpPr/>
          <p:nvPr/>
        </p:nvSpPr>
        <p:spPr>
          <a:xfrm>
            <a:off x="5166360" y="3319272"/>
            <a:ext cx="64008" cy="6217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Question text 4"/>
          <p:cNvSpPr txBox="1"/>
          <p:nvPr/>
        </p:nvSpPr>
        <p:spPr>
          <a:xfrm>
            <a:off x="5367528" y="3319272"/>
            <a:ext cx="3227832" cy="621792"/>
          </a:xfrm>
          <a:prstGeom prst="rect">
            <a:avLst/>
          </a:prstGeom>
          <a:noFill/>
        </p:spPr>
        <p:txBody>
          <a:bodyPr wrap="square" lIns="0" rIns="0" tIns="0" bIns="0" anchor="ctr">
            <a:noAutofit/>
          </a:bodyPr>
          <a:lstStyle/>
          <a:p>
            <a:pPr algn="l">
              <a:spcAft>
                <a:spcPts val="400"/>
              </a:spcAft>
            </a:pPr>
            <a:r>
              <a:rPr sz="1200" b="1" lang="en-GB">
                <a:solidFill>
                  <a:schemeClr val="tx2"/>
                </a:solidFill>
              </a:rPr>
              <a:t>Also in the data: </a:t>
            </a:r>
            <a:r>
              <a:rPr sz="1200" b="0" lang="en-GB">
                <a:solidFill>
                  <a:schemeClr val="tx1"/>
                </a:solidFill>
              </a:rPr>
              <a:t>competitor prices, features, displays, temperature, holidays</a:t>
            </a:r>
          </a:p>
        </p:txBody>
      </p:sp>
      <p:sp>
        <p:nvSpPr>
          <p:cNvPr id="24" name="Manager question box"/>
          <p:cNvSpPr/>
          <p:nvPr/>
        </p:nvSpPr>
        <p:spPr>
          <a:xfrm>
            <a:off x="457200" y="438912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Manager question" descr=""/>
          <p:cNvPicPr>
            <a:picLocks noChangeAspect="1"/>
          </p:cNvPicPr>
          <p:nvPr/>
        </p:nvPicPr>
        <p:blipFill>
          <a:blip r:embed="rId4"/>
          <a:stretch>
            <a:fillRect/>
          </a:stretch>
        </p:blipFill>
        <p:spPr>
          <a:xfrm>
            <a:off x="658368" y="4480560"/>
            <a:ext cx="365760" cy="365760"/>
          </a:xfrm>
          <a:prstGeom prst="rect">
            <a:avLst/>
          </a:prstGeom>
        </p:spPr>
      </p:pic>
      <p:sp>
        <p:nvSpPr>
          <p:cNvPr id="26" name="Manager question text"/>
          <p:cNvSpPr txBox="1"/>
          <p:nvPr/>
        </p:nvSpPr>
        <p:spPr>
          <a:xfrm>
            <a:off x="1207008" y="4389120"/>
            <a:ext cx="7315200" cy="548640"/>
          </a:xfrm>
          <a:prstGeom prst="rect">
            <a:avLst/>
          </a:prstGeom>
          <a:noFill/>
        </p:spPr>
        <p:txBody>
          <a:bodyPr wrap="square" lIns="0" rIns="0" tIns="0" bIns="0" anchor="ctr">
            <a:noAutofit/>
          </a:bodyPr>
          <a:lstStyle/>
          <a:p>
            <a:pPr algn="l">
              <a:spcAft>
                <a:spcPts val="400"/>
              </a:spcAft>
            </a:pPr>
            <a:r>
              <a:rPr sz="1300" b="1" lang="en-GB">
                <a:solidFill>
                  <a:schemeClr val="bg1"/>
                </a:solidFill>
              </a:rPr>
              <a:t>The manager asks: </a:t>
            </a:r>
            <a:r>
              <a:rPr sz="1300" b="0" lang="en-GB">
                <a:solidFill>
                  <a:schemeClr val="bg1"/>
                </a:solidFill>
              </a:rPr>
              <a:t>how much does 1 % lower price sell, and is the regular price right?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Correlation on real data: how strong is strong?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 label"/>
          <p:cNvSpPr txBox="1"/>
          <p:nvPr/>
        </p:nvSpPr>
        <p:spPr>
          <a:xfrm>
            <a:off x="457200" y="1234440"/>
            <a:ext cx="4023360" cy="32004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Rule of thumb for |r|</a:t>
            </a:r>
          </a:p>
        </p:txBody>
      </p:sp>
      <p:sp>
        <p:nvSpPr>
          <p:cNvPr id="11" name="r table 1-1"/>
          <p:cNvSpPr/>
          <p:nvPr/>
        </p:nvSpPr>
        <p:spPr>
          <a:xfrm>
            <a:off x="457200" y="1645920"/>
            <a:ext cx="134416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 table text 1-1"/>
          <p:cNvSpPr txBox="1"/>
          <p:nvPr/>
        </p:nvSpPr>
        <p:spPr>
          <a:xfrm>
            <a:off x="548640" y="1645920"/>
            <a:ext cx="1161288" cy="347472"/>
          </a:xfrm>
          <a:prstGeom prst="rect">
            <a:avLst/>
          </a:prstGeom>
          <a:noFill/>
        </p:spPr>
        <p:txBody>
          <a:bodyPr wrap="square" lIns="0" rIns="0" tIns="0" bIns="0" anchor="ctr">
            <a:noAutofit/>
          </a:bodyPr>
          <a:lstStyle/>
          <a:p>
            <a:pPr algn="l">
              <a:spcAft>
                <a:spcPts val="400"/>
              </a:spcAft>
            </a:pPr>
            <a:r>
              <a:rPr sz="1200" b="1" lang="en-GB">
                <a:solidFill>
                  <a:schemeClr val="bg1"/>
                </a:solidFill>
              </a:rPr>
              <a:t>|r|</a:t>
            </a:r>
          </a:p>
        </p:txBody>
      </p:sp>
      <p:sp>
        <p:nvSpPr>
          <p:cNvPr id="13" name="r table 1-2"/>
          <p:cNvSpPr/>
          <p:nvPr/>
        </p:nvSpPr>
        <p:spPr>
          <a:xfrm>
            <a:off x="1828800" y="1645920"/>
            <a:ext cx="262432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 table text 1-2"/>
          <p:cNvSpPr txBox="1"/>
          <p:nvPr/>
        </p:nvSpPr>
        <p:spPr>
          <a:xfrm>
            <a:off x="1920240" y="1645920"/>
            <a:ext cx="2441448" cy="347472"/>
          </a:xfrm>
          <a:prstGeom prst="rect">
            <a:avLst/>
          </a:prstGeom>
          <a:noFill/>
        </p:spPr>
        <p:txBody>
          <a:bodyPr wrap="square" lIns="0" rIns="0" tIns="0" bIns="0" anchor="ctr">
            <a:noAutofit/>
          </a:bodyPr>
          <a:lstStyle/>
          <a:p>
            <a:pPr algn="l">
              <a:spcAft>
                <a:spcPts val="400"/>
              </a:spcAft>
            </a:pPr>
            <a:r>
              <a:rPr sz="1200" b="1" lang="en-GB">
                <a:solidFill>
                  <a:schemeClr val="bg1"/>
                </a:solidFill>
              </a:rPr>
              <a:t>Interpretation</a:t>
            </a:r>
          </a:p>
        </p:txBody>
      </p:sp>
      <p:sp>
        <p:nvSpPr>
          <p:cNvPr id="15" name="r table 2-1"/>
          <p:cNvSpPr/>
          <p:nvPr/>
        </p:nvSpPr>
        <p:spPr>
          <a:xfrm>
            <a:off x="457200" y="2020824"/>
            <a:ext cx="13441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 table text 2-1"/>
          <p:cNvSpPr txBox="1"/>
          <p:nvPr/>
        </p:nvSpPr>
        <p:spPr>
          <a:xfrm>
            <a:off x="548640" y="2020824"/>
            <a:ext cx="11612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0 to 0.2</a:t>
            </a:r>
          </a:p>
        </p:txBody>
      </p:sp>
      <p:sp>
        <p:nvSpPr>
          <p:cNvPr id="17" name="r table 2-2"/>
          <p:cNvSpPr/>
          <p:nvPr/>
        </p:nvSpPr>
        <p:spPr>
          <a:xfrm>
            <a:off x="1828800" y="2020824"/>
            <a:ext cx="26243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 table text 2-2"/>
          <p:cNvSpPr txBox="1"/>
          <p:nvPr/>
        </p:nvSpPr>
        <p:spPr>
          <a:xfrm>
            <a:off x="1920240" y="2020824"/>
            <a:ext cx="2441448" cy="347472"/>
          </a:xfrm>
          <a:prstGeom prst="rect">
            <a:avLst/>
          </a:prstGeom>
          <a:noFill/>
        </p:spPr>
        <p:txBody>
          <a:bodyPr wrap="square" lIns="0" rIns="0" tIns="0" bIns="0" anchor="ctr">
            <a:noAutofit/>
          </a:bodyPr>
          <a:lstStyle/>
          <a:p>
            <a:pPr algn="l">
              <a:spcAft>
                <a:spcPts val="400"/>
              </a:spcAft>
            </a:pPr>
            <a:r>
              <a:rPr sz="1200" b="0" lang="en-GB">
                <a:solidFill>
                  <a:schemeClr val="tx1"/>
                </a:solidFill>
              </a:rPr>
              <a:t>very weak</a:t>
            </a:r>
          </a:p>
        </p:txBody>
      </p:sp>
      <p:sp>
        <p:nvSpPr>
          <p:cNvPr id="19" name="r table 3-1"/>
          <p:cNvSpPr/>
          <p:nvPr/>
        </p:nvSpPr>
        <p:spPr>
          <a:xfrm>
            <a:off x="457200" y="2395728"/>
            <a:ext cx="13441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 table text 3-1"/>
          <p:cNvSpPr txBox="1"/>
          <p:nvPr/>
        </p:nvSpPr>
        <p:spPr>
          <a:xfrm>
            <a:off x="548640" y="2395728"/>
            <a:ext cx="11612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0.2 to 0.4</a:t>
            </a:r>
          </a:p>
        </p:txBody>
      </p:sp>
      <p:sp>
        <p:nvSpPr>
          <p:cNvPr id="21" name="r table 3-2"/>
          <p:cNvSpPr/>
          <p:nvPr/>
        </p:nvSpPr>
        <p:spPr>
          <a:xfrm>
            <a:off x="1828800" y="2395728"/>
            <a:ext cx="26243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 table text 3-2"/>
          <p:cNvSpPr txBox="1"/>
          <p:nvPr/>
        </p:nvSpPr>
        <p:spPr>
          <a:xfrm>
            <a:off x="1920240" y="2395728"/>
            <a:ext cx="2441448" cy="347472"/>
          </a:xfrm>
          <a:prstGeom prst="rect">
            <a:avLst/>
          </a:prstGeom>
          <a:noFill/>
        </p:spPr>
        <p:txBody>
          <a:bodyPr wrap="square" lIns="0" rIns="0" tIns="0" bIns="0" anchor="ctr">
            <a:noAutofit/>
          </a:bodyPr>
          <a:lstStyle/>
          <a:p>
            <a:pPr algn="l">
              <a:spcAft>
                <a:spcPts val="400"/>
              </a:spcAft>
            </a:pPr>
            <a:r>
              <a:rPr sz="1200" b="0" lang="en-GB">
                <a:solidFill>
                  <a:schemeClr val="tx1"/>
                </a:solidFill>
              </a:rPr>
              <a:t>weak to moderate</a:t>
            </a:r>
          </a:p>
        </p:txBody>
      </p:sp>
      <p:sp>
        <p:nvSpPr>
          <p:cNvPr id="23" name="r table 4-1"/>
          <p:cNvSpPr/>
          <p:nvPr/>
        </p:nvSpPr>
        <p:spPr>
          <a:xfrm>
            <a:off x="457200" y="2770632"/>
            <a:ext cx="13441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 table text 4-1"/>
          <p:cNvSpPr txBox="1"/>
          <p:nvPr/>
        </p:nvSpPr>
        <p:spPr>
          <a:xfrm>
            <a:off x="548640" y="2770632"/>
            <a:ext cx="11612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0.4 to 0.6</a:t>
            </a:r>
          </a:p>
        </p:txBody>
      </p:sp>
      <p:sp>
        <p:nvSpPr>
          <p:cNvPr id="25" name="r table 4-2"/>
          <p:cNvSpPr/>
          <p:nvPr/>
        </p:nvSpPr>
        <p:spPr>
          <a:xfrm>
            <a:off x="1828800" y="2770632"/>
            <a:ext cx="26243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 table text 4-2"/>
          <p:cNvSpPr txBox="1"/>
          <p:nvPr/>
        </p:nvSpPr>
        <p:spPr>
          <a:xfrm>
            <a:off x="1920240" y="2770632"/>
            <a:ext cx="2441448" cy="347472"/>
          </a:xfrm>
          <a:prstGeom prst="rect">
            <a:avLst/>
          </a:prstGeom>
          <a:noFill/>
        </p:spPr>
        <p:txBody>
          <a:bodyPr wrap="square" lIns="0" rIns="0" tIns="0" bIns="0" anchor="ctr">
            <a:noAutofit/>
          </a:bodyPr>
          <a:lstStyle/>
          <a:p>
            <a:pPr algn="l">
              <a:spcAft>
                <a:spcPts val="400"/>
              </a:spcAft>
            </a:pPr>
            <a:r>
              <a:rPr sz="1200" b="0" lang="en-GB">
                <a:solidFill>
                  <a:schemeClr val="tx1"/>
                </a:solidFill>
              </a:rPr>
              <a:t>medium to substantial</a:t>
            </a:r>
          </a:p>
        </p:txBody>
      </p:sp>
      <p:sp>
        <p:nvSpPr>
          <p:cNvPr id="27" name="r table 5-1"/>
          <p:cNvSpPr/>
          <p:nvPr/>
        </p:nvSpPr>
        <p:spPr>
          <a:xfrm>
            <a:off x="457200" y="3145536"/>
            <a:ext cx="13441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 table text 5-1"/>
          <p:cNvSpPr txBox="1"/>
          <p:nvPr/>
        </p:nvSpPr>
        <p:spPr>
          <a:xfrm>
            <a:off x="548640" y="3145536"/>
            <a:ext cx="11612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0.6 to 0.8</a:t>
            </a:r>
          </a:p>
        </p:txBody>
      </p:sp>
      <p:sp>
        <p:nvSpPr>
          <p:cNvPr id="29" name="r table 5-2"/>
          <p:cNvSpPr/>
          <p:nvPr/>
        </p:nvSpPr>
        <p:spPr>
          <a:xfrm>
            <a:off x="1828800" y="3145536"/>
            <a:ext cx="26243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 table text 5-2"/>
          <p:cNvSpPr txBox="1"/>
          <p:nvPr/>
        </p:nvSpPr>
        <p:spPr>
          <a:xfrm>
            <a:off x="1920240" y="3145536"/>
            <a:ext cx="2441448" cy="347472"/>
          </a:xfrm>
          <a:prstGeom prst="rect">
            <a:avLst/>
          </a:prstGeom>
          <a:noFill/>
        </p:spPr>
        <p:txBody>
          <a:bodyPr wrap="square" lIns="0" rIns="0" tIns="0" bIns="0" anchor="ctr">
            <a:noAutofit/>
          </a:bodyPr>
          <a:lstStyle/>
          <a:p>
            <a:pPr algn="l">
              <a:spcAft>
                <a:spcPts val="400"/>
              </a:spcAft>
            </a:pPr>
            <a:r>
              <a:rPr sz="1200" b="0" lang="en-GB">
                <a:solidFill>
                  <a:schemeClr val="tx1"/>
                </a:solidFill>
              </a:rPr>
              <a:t>very strong</a:t>
            </a:r>
          </a:p>
        </p:txBody>
      </p:sp>
      <p:sp>
        <p:nvSpPr>
          <p:cNvPr id="31" name="r table 6-1"/>
          <p:cNvSpPr/>
          <p:nvPr/>
        </p:nvSpPr>
        <p:spPr>
          <a:xfrm>
            <a:off x="457200" y="3520440"/>
            <a:ext cx="13441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 table text 6-1"/>
          <p:cNvSpPr txBox="1"/>
          <p:nvPr/>
        </p:nvSpPr>
        <p:spPr>
          <a:xfrm>
            <a:off x="548640" y="3520440"/>
            <a:ext cx="11612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0.8 to 1.0</a:t>
            </a:r>
          </a:p>
        </p:txBody>
      </p:sp>
      <p:sp>
        <p:nvSpPr>
          <p:cNvPr id="33" name="r table 6-2"/>
          <p:cNvSpPr/>
          <p:nvPr/>
        </p:nvSpPr>
        <p:spPr>
          <a:xfrm>
            <a:off x="1828800" y="3520440"/>
            <a:ext cx="26243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 table text 6-2"/>
          <p:cNvSpPr txBox="1"/>
          <p:nvPr/>
        </p:nvSpPr>
        <p:spPr>
          <a:xfrm>
            <a:off x="1920240" y="3520440"/>
            <a:ext cx="2441448" cy="347472"/>
          </a:xfrm>
          <a:prstGeom prst="rect">
            <a:avLst/>
          </a:prstGeom>
          <a:noFill/>
        </p:spPr>
        <p:txBody>
          <a:bodyPr wrap="square" lIns="0" rIns="0" tIns="0" bIns="0" anchor="ctr">
            <a:noAutofit/>
          </a:bodyPr>
          <a:lstStyle/>
          <a:p>
            <a:pPr algn="l">
              <a:spcAft>
                <a:spcPts val="400"/>
              </a:spcAft>
            </a:pPr>
            <a:r>
              <a:rPr sz="1200" b="0" lang="en-GB">
                <a:solidFill>
                  <a:schemeClr val="tx1"/>
                </a:solidFill>
              </a:rPr>
              <a:t>extremely strong</a:t>
            </a:r>
          </a:p>
        </p:txBody>
      </p:sp>
      <p:sp>
        <p:nvSpPr>
          <p:cNvPr id="35" name="r stat box"/>
          <p:cNvSpPr/>
          <p:nvPr/>
        </p:nvSpPr>
        <p:spPr>
          <a:xfrm>
            <a:off x="4663440" y="1234440"/>
            <a:ext cx="402336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 stat bar"/>
          <p:cNvSpPr/>
          <p:nvPr/>
        </p:nvSpPr>
        <p:spPr>
          <a:xfrm>
            <a:off x="4663440" y="1234440"/>
            <a:ext cx="64008" cy="11430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 stat figure"/>
          <p:cNvSpPr txBox="1"/>
          <p:nvPr/>
        </p:nvSpPr>
        <p:spPr>
          <a:xfrm>
            <a:off x="4846320" y="1234440"/>
            <a:ext cx="1280160" cy="11430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−0.94</a:t>
            </a:r>
          </a:p>
        </p:txBody>
      </p:sp>
      <p:sp>
        <p:nvSpPr>
          <p:cNvPr id="38" name="r stat label"/>
          <p:cNvSpPr txBox="1"/>
          <p:nvPr/>
        </p:nvSpPr>
        <p:spPr>
          <a:xfrm>
            <a:off x="6126480" y="1234440"/>
            <a:ext cx="2514600" cy="1143000"/>
          </a:xfrm>
          <a:prstGeom prst="rect">
            <a:avLst/>
          </a:prstGeom>
          <a:noFill/>
        </p:spPr>
        <p:txBody>
          <a:bodyPr wrap="square" lIns="0" rIns="0" tIns="0" bIns="0" anchor="ctr">
            <a:noAutofit/>
          </a:bodyPr>
          <a:lstStyle/>
          <a:p>
            <a:pPr algn="l">
              <a:spcAft>
                <a:spcPts val="400"/>
              </a:spcAft>
            </a:pPr>
            <a:r>
              <a:rPr sz="1200" b="0" lang="en-GB">
                <a:solidFill>
                  <a:schemeClr val="tx1"/>
                </a:solidFill>
              </a:rPr>
              <a:t>sales and own price of brand 1: an extremely strong negative relationship</a:t>
            </a:r>
          </a:p>
        </p:txBody>
      </p:sp>
      <p:sp>
        <p:nvSpPr>
          <p:cNvPr id="39" name="r warn row 1"/>
          <p:cNvSpPr/>
          <p:nvPr/>
        </p:nvSpPr>
        <p:spPr>
          <a:xfrm>
            <a:off x="4663440" y="2514600"/>
            <a:ext cx="402336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 warn bar 1"/>
          <p:cNvSpPr/>
          <p:nvPr/>
        </p:nvSpPr>
        <p:spPr>
          <a:xfrm>
            <a:off x="4663440" y="2514600"/>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 warn text 1"/>
          <p:cNvSpPr txBox="1"/>
          <p:nvPr/>
        </p:nvSpPr>
        <p:spPr>
          <a:xfrm>
            <a:off x="4864608" y="2514600"/>
            <a:ext cx="373075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Kiosk: </a:t>
            </a:r>
            <a:r>
              <a:rPr sz="1200" b="0" lang="en-GB">
                <a:solidFill>
                  <a:schemeClr val="tx1"/>
                </a:solidFill>
              </a:rPr>
              <a:t>r = −0.98, five made-up weeks (Part 4)</a:t>
            </a:r>
          </a:p>
        </p:txBody>
      </p:sp>
      <p:sp>
        <p:nvSpPr>
          <p:cNvPr id="42" name="r warn row 2"/>
          <p:cNvSpPr/>
          <p:nvPr/>
        </p:nvSpPr>
        <p:spPr>
          <a:xfrm>
            <a:off x="4663440" y="3136392"/>
            <a:ext cx="402336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 warn bar 2"/>
          <p:cNvSpPr/>
          <p:nvPr/>
        </p:nvSpPr>
        <p:spPr>
          <a:xfrm>
            <a:off x="4663440" y="3136392"/>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 warn text 2"/>
          <p:cNvSpPr txBox="1"/>
          <p:nvPr/>
        </p:nvSpPr>
        <p:spPr>
          <a:xfrm>
            <a:off x="4864608" y="3136392"/>
            <a:ext cx="373075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Both: </a:t>
            </a:r>
            <a:r>
              <a:rPr sz="1200" b="0" lang="en-GB">
                <a:solidFill>
                  <a:schemeClr val="tx1"/>
                </a:solidFill>
              </a:rPr>
              <a:t>extremely strong, yet far from a perfect line</a:t>
            </a:r>
          </a:p>
        </p:txBody>
      </p:sp>
      <p:sp>
        <p:nvSpPr>
          <p:cNvPr id="45" name="r next box"/>
          <p:cNvSpPr/>
          <p:nvPr/>
        </p:nvSpPr>
        <p:spPr>
          <a:xfrm>
            <a:off x="457200" y="402336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6" name="Icon r next" descr=""/>
          <p:cNvPicPr>
            <a:picLocks noChangeAspect="1"/>
          </p:cNvPicPr>
          <p:nvPr/>
        </p:nvPicPr>
        <p:blipFill>
          <a:blip r:embed="rId3"/>
          <a:stretch>
            <a:fillRect/>
          </a:stretch>
        </p:blipFill>
        <p:spPr>
          <a:xfrm>
            <a:off x="658368" y="4183380"/>
            <a:ext cx="365760" cy="365760"/>
          </a:xfrm>
          <a:prstGeom prst="rect">
            <a:avLst/>
          </a:prstGeom>
        </p:spPr>
      </p:pic>
      <p:sp>
        <p:nvSpPr>
          <p:cNvPr id="47" name="r next text"/>
          <p:cNvSpPr txBox="1"/>
          <p:nvPr/>
        </p:nvSpPr>
        <p:spPr>
          <a:xfrm>
            <a:off x="1207008" y="4023360"/>
            <a:ext cx="7315200" cy="685800"/>
          </a:xfrm>
          <a:prstGeom prst="rect">
            <a:avLst/>
          </a:prstGeom>
          <a:noFill/>
        </p:spPr>
        <p:txBody>
          <a:bodyPr wrap="square" lIns="0" rIns="0" tIns="0" bIns="0" anchor="ctr">
            <a:noAutofit/>
          </a:bodyPr>
          <a:lstStyle/>
          <a:p>
            <a:pPr algn="l">
              <a:spcAft>
                <a:spcPts val="400"/>
              </a:spcAft>
            </a:pPr>
            <a:r>
              <a:rPr sz="1200" b="1" lang="en-GB">
                <a:solidFill>
                  <a:schemeClr val="bg1"/>
                </a:solidFill>
              </a:rPr>
              <a:t>Real data are never a perfect line: </a:t>
            </a:r>
            <a:r>
              <a:rPr sz="1200" b="0" lang="en-GB">
                <a:solidFill>
                  <a:schemeClr val="bg1"/>
                </a:solidFill>
              </a:rPr>
              <a:t>competitors, features and the season move sales too.</a:t>
            </a:r>
          </a:p>
        </p:txBody>
      </p:sp>
      <p:sp>
        <p:nvSpPr>
          <p:cNvPr id="48"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Bojinov, Parzen &amp; Hamilton 2025 (HBS note 9-622-100)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Simple linear regression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g_scatter.png" descr="Scatter plot of weekly sales against price of brand 1 with a falling straight line; most points sit near a price of 1.5 and sales of 100, seven points near a price of 1.03 with sales of 290 to 530"/>
          <p:cNvPicPr>
            <a:picLocks noChangeAspect="1"/>
          </p:cNvPicPr>
          <p:nvPr/>
        </p:nvPicPr>
        <p:blipFill>
          <a:blip r:embed="rId3"/>
          <a:stretch>
            <a:fillRect/>
          </a:stretch>
        </p:blipFill>
        <p:spPr>
          <a:xfrm>
            <a:off x="457200" y="1234440"/>
            <a:ext cx="4480560" cy="2971800"/>
          </a:xfrm>
          <a:prstGeom prst="rect">
            <a:avLst/>
          </a:prstGeom>
        </p:spPr>
      </p:pic>
      <p:sp>
        <p:nvSpPr>
          <p:cNvPr id="11" name="Simple formula box"/>
          <p:cNvSpPr/>
          <p:nvPr/>
        </p:nvSpPr>
        <p:spPr>
          <a:xfrm>
            <a:off x="5074920" y="1234440"/>
            <a:ext cx="361188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imple formula code"/>
          <p:cNvSpPr txBox="1"/>
          <p:nvPr/>
        </p:nvSpPr>
        <p:spPr>
          <a:xfrm>
            <a:off x="5212080" y="1325880"/>
            <a:ext cx="3337560" cy="36576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sales = b0 + b1 · price1 + e</a:t>
            </a:r>
          </a:p>
        </p:txBody>
      </p:sp>
      <p:sp>
        <p:nvSpPr>
          <p:cNvPr id="13" name="Simple rows row 1"/>
          <p:cNvSpPr/>
          <p:nvPr/>
        </p:nvSpPr>
        <p:spPr>
          <a:xfrm>
            <a:off x="5074920" y="1920240"/>
            <a:ext cx="361188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Simple rows bar 1"/>
          <p:cNvSpPr/>
          <p:nvPr/>
        </p:nvSpPr>
        <p:spPr>
          <a:xfrm>
            <a:off x="5074920" y="1920240"/>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imple rows text 1"/>
          <p:cNvSpPr txBox="1"/>
          <p:nvPr/>
        </p:nvSpPr>
        <p:spPr>
          <a:xfrm>
            <a:off x="5276088" y="1920240"/>
            <a:ext cx="3319272"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b0 = 1,110: </a:t>
            </a:r>
            <a:r>
              <a:rPr sz="1200" b="0" lang="en-GB">
                <a:solidFill>
                  <a:schemeClr val="tx1"/>
                </a:solidFill>
              </a:rPr>
              <a:t>intercept, sales at price 0 (not meaningful here)</a:t>
            </a:r>
          </a:p>
        </p:txBody>
      </p:sp>
      <p:sp>
        <p:nvSpPr>
          <p:cNvPr id="16" name="Simple rows row 2"/>
          <p:cNvSpPr/>
          <p:nvPr/>
        </p:nvSpPr>
        <p:spPr>
          <a:xfrm>
            <a:off x="5074920" y="2651760"/>
            <a:ext cx="361188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imple rows bar 2"/>
          <p:cNvSpPr/>
          <p:nvPr/>
        </p:nvSpPr>
        <p:spPr>
          <a:xfrm>
            <a:off x="5074920" y="2651760"/>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Simple rows text 2"/>
          <p:cNvSpPr txBox="1"/>
          <p:nvPr/>
        </p:nvSpPr>
        <p:spPr>
          <a:xfrm>
            <a:off x="5276088" y="2651760"/>
            <a:ext cx="3319272"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b1 = −669: </a:t>
            </a:r>
            <a:r>
              <a:rPr sz="1200" b="0" lang="en-GB">
                <a:solidFill>
                  <a:schemeClr val="tx1"/>
                </a:solidFill>
              </a:rPr>
              <a:t>10 cents more price, about 67 units fewer a week</a:t>
            </a:r>
          </a:p>
        </p:txBody>
      </p:sp>
      <p:sp>
        <p:nvSpPr>
          <p:cNvPr id="19" name="Simple rows row 3"/>
          <p:cNvSpPr/>
          <p:nvPr/>
        </p:nvSpPr>
        <p:spPr>
          <a:xfrm>
            <a:off x="5074920" y="3383280"/>
            <a:ext cx="361188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imple rows bar 3"/>
          <p:cNvSpPr/>
          <p:nvPr/>
        </p:nvSpPr>
        <p:spPr>
          <a:xfrm>
            <a:off x="5074920" y="3383280"/>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imple rows text 3"/>
          <p:cNvSpPr txBox="1"/>
          <p:nvPr/>
        </p:nvSpPr>
        <p:spPr>
          <a:xfrm>
            <a:off x="5276088" y="3383280"/>
            <a:ext cx="3319272"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e: </a:t>
            </a:r>
            <a:r>
              <a:rPr sz="1200" b="0" lang="en-GB">
                <a:solidFill>
                  <a:schemeClr val="tx1"/>
                </a:solidFill>
              </a:rPr>
              <a:t>residual, what the line does not explain</a:t>
            </a:r>
          </a:p>
        </p:txBody>
      </p:sp>
      <p:sp>
        <p:nvSpPr>
          <p:cNvPr id="22" name="Simple look box"/>
          <p:cNvSpPr/>
          <p:nvPr/>
        </p:nvSpPr>
        <p:spPr>
          <a:xfrm>
            <a:off x="457200" y="434340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Simple look" descr=""/>
          <p:cNvPicPr>
            <a:picLocks noChangeAspect="1"/>
          </p:cNvPicPr>
          <p:nvPr/>
        </p:nvPicPr>
        <p:blipFill>
          <a:blip r:embed="rId4"/>
          <a:stretch>
            <a:fillRect/>
          </a:stretch>
        </p:blipFill>
        <p:spPr>
          <a:xfrm>
            <a:off x="658368" y="4411980"/>
            <a:ext cx="365760" cy="365760"/>
          </a:xfrm>
          <a:prstGeom prst="rect">
            <a:avLst/>
          </a:prstGeom>
        </p:spPr>
      </p:pic>
      <p:sp>
        <p:nvSpPr>
          <p:cNvPr id="24" name="Simple look text"/>
          <p:cNvSpPr txBox="1"/>
          <p:nvPr/>
        </p:nvSpPr>
        <p:spPr>
          <a:xfrm>
            <a:off x="1207008" y="4343400"/>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Look at the chart: </a:t>
            </a:r>
            <a:r>
              <a:rPr sz="1200" b="0" lang="en-GB">
                <a:solidFill>
                  <a:schemeClr val="tx1"/>
                </a:solidFill>
              </a:rPr>
              <a:t>the points curve, so a straight line misses the price-cut weeks.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Least squares: the line with the smallest squared errors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g_residuals.png" descr="The same scatter plot with the regression line and thin blue vertical segments from each point to the line, the residuals"/>
          <p:cNvPicPr>
            <a:picLocks noChangeAspect="1"/>
          </p:cNvPicPr>
          <p:nvPr/>
        </p:nvPicPr>
        <p:blipFill>
          <a:blip r:embed="rId3"/>
          <a:stretch>
            <a:fillRect/>
          </a:stretch>
        </p:blipFill>
        <p:spPr>
          <a:xfrm>
            <a:off x="457200" y="1234440"/>
            <a:ext cx="4206240" cy="2926080"/>
          </a:xfrm>
          <a:prstGeom prst="rect">
            <a:avLst/>
          </a:prstGeom>
        </p:spPr>
      </p:pic>
      <p:sp>
        <p:nvSpPr>
          <p:cNvPr id="11" name="LS formula box"/>
          <p:cNvSpPr/>
          <p:nvPr/>
        </p:nvSpPr>
        <p:spPr>
          <a:xfrm>
            <a:off x="4800600" y="1234440"/>
            <a:ext cx="3886200" cy="868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LS formula code"/>
          <p:cNvSpPr txBox="1"/>
          <p:nvPr/>
        </p:nvSpPr>
        <p:spPr>
          <a:xfrm>
            <a:off x="4937760" y="1325880"/>
            <a:ext cx="3611880" cy="68580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residual:  e_i = y_i − ŷ_i</a:t>
            </a:r>
          </a:p>
          <a:p>
            <a:pPr algn="l">
              <a:spcAft>
                <a:spcPts val="0"/>
              </a:spcAft>
            </a:pPr>
            <a:r>
              <a:rPr sz="1200" b="0" lang="en-GB">
                <a:solidFill>
                  <a:schemeClr val="bg1"/>
                </a:solidFill>
                <a:latin typeface="Consolas"/>
              </a:rPr>
              <a:t>OLS:       minimise Σ e_i²</a:t>
            </a:r>
          </a:p>
        </p:txBody>
      </p:sp>
      <p:sp>
        <p:nvSpPr>
          <p:cNvPr id="13" name="LS rows row 1"/>
          <p:cNvSpPr/>
          <p:nvPr/>
        </p:nvSpPr>
        <p:spPr>
          <a:xfrm>
            <a:off x="4800600" y="2240280"/>
            <a:ext cx="38862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LS rows bar 1"/>
          <p:cNvSpPr/>
          <p:nvPr/>
        </p:nvSpPr>
        <p:spPr>
          <a:xfrm>
            <a:off x="4800600" y="2240280"/>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S rows text 1"/>
          <p:cNvSpPr txBox="1"/>
          <p:nvPr/>
        </p:nvSpPr>
        <p:spPr>
          <a:xfrm>
            <a:off x="5001768" y="2240280"/>
            <a:ext cx="35935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Squared: </a:t>
            </a:r>
            <a:r>
              <a:rPr sz="1200" b="0" lang="en-GB">
                <a:solidFill>
                  <a:schemeClr val="tx1"/>
                </a:solidFill>
              </a:rPr>
              <a:t>misses above and below do not cancel</a:t>
            </a:r>
          </a:p>
        </p:txBody>
      </p:sp>
      <p:sp>
        <p:nvSpPr>
          <p:cNvPr id="16" name="LS rows row 2"/>
          <p:cNvSpPr/>
          <p:nvPr/>
        </p:nvSpPr>
        <p:spPr>
          <a:xfrm>
            <a:off x="4800600" y="2862072"/>
            <a:ext cx="38862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S rows bar 2"/>
          <p:cNvSpPr/>
          <p:nvPr/>
        </p:nvSpPr>
        <p:spPr>
          <a:xfrm>
            <a:off x="4800600" y="2862072"/>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LS rows text 2"/>
          <p:cNvSpPr txBox="1"/>
          <p:nvPr/>
        </p:nvSpPr>
        <p:spPr>
          <a:xfrm>
            <a:off x="5001768" y="2862072"/>
            <a:ext cx="35935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Large misses </a:t>
            </a:r>
            <a:r>
              <a:rPr sz="1200" b="0" lang="en-GB">
                <a:solidFill>
                  <a:schemeClr val="tx1"/>
                </a:solidFill>
              </a:rPr>
              <a:t>count much more than small ones</a:t>
            </a:r>
          </a:p>
        </p:txBody>
      </p:sp>
      <p:sp>
        <p:nvSpPr>
          <p:cNvPr id="19" name="LS rows row 3"/>
          <p:cNvSpPr/>
          <p:nvPr/>
        </p:nvSpPr>
        <p:spPr>
          <a:xfrm>
            <a:off x="4800600" y="3483864"/>
            <a:ext cx="38862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LS rows bar 3"/>
          <p:cNvSpPr/>
          <p:nvPr/>
        </p:nvSpPr>
        <p:spPr>
          <a:xfrm>
            <a:off x="4800600" y="3483864"/>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S rows text 3"/>
          <p:cNvSpPr txBox="1"/>
          <p:nvPr/>
        </p:nvSpPr>
        <p:spPr>
          <a:xfrm>
            <a:off x="5001768" y="3483864"/>
            <a:ext cx="35935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One line: </a:t>
            </a:r>
            <a:r>
              <a:rPr sz="1200" b="0" lang="en-GB">
                <a:solidFill>
                  <a:schemeClr val="tx1"/>
                </a:solidFill>
              </a:rPr>
              <a:t>the unique best fit for these data</a:t>
            </a:r>
          </a:p>
        </p:txBody>
      </p:sp>
      <p:sp>
        <p:nvSpPr>
          <p:cNvPr id="22" name="Sources"/>
          <p:cNvSpPr txBox="1"/>
          <p:nvPr/>
        </p:nvSpPr>
        <p:spPr>
          <a:xfrm>
            <a:off x="457200" y="434340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Bojinov, Parzen &amp; Hamilton 2025</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Multiple regression: holding other things constant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ultiple formula box"/>
          <p:cNvSpPr/>
          <p:nvPr/>
        </p:nvSpPr>
        <p:spPr>
          <a:xfrm>
            <a:off x="457200" y="123444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ultiple formula code"/>
          <p:cNvSpPr txBox="1"/>
          <p:nvPr/>
        </p:nvSpPr>
        <p:spPr>
          <a:xfrm>
            <a:off x="594360" y="1325880"/>
            <a:ext cx="7955280" cy="50292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ln sales = b0 + b1·ln price1 + b2·ln price2 + b3·ln price3 + b4·ln price4</a:t>
            </a:r>
          </a:p>
          <a:p>
            <a:pPr algn="l">
              <a:spcAft>
                <a:spcPts val="0"/>
              </a:spcAft>
            </a:pPr>
            <a:r>
              <a:rPr sz="1200" b="0" lang="en-GB">
                <a:solidFill>
                  <a:schemeClr val="bg1"/>
                </a:solidFill>
                <a:latin typeface="Consolas"/>
              </a:rPr>
              <a:t>           + b5·feature1 + b6·temp + b7·december + e</a:t>
            </a:r>
          </a:p>
        </p:txBody>
      </p:sp>
      <p:sp>
        <p:nvSpPr>
          <p:cNvPr id="12" name="Mix 1 tile"/>
          <p:cNvSpPr/>
          <p:nvPr/>
        </p:nvSpPr>
        <p:spPr>
          <a:xfrm>
            <a:off x="457200" y="2057400"/>
            <a:ext cx="265176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Icon Mix 1" descr=""/>
          <p:cNvPicPr>
            <a:picLocks noChangeAspect="1"/>
          </p:cNvPicPr>
          <p:nvPr/>
        </p:nvPicPr>
        <p:blipFill>
          <a:blip r:embed="rId3"/>
          <a:stretch>
            <a:fillRect/>
          </a:stretch>
        </p:blipFill>
        <p:spPr>
          <a:xfrm>
            <a:off x="594360" y="2194560"/>
            <a:ext cx="365760" cy="365760"/>
          </a:xfrm>
          <a:prstGeom prst="rect">
            <a:avLst/>
          </a:prstGeom>
        </p:spPr>
      </p:pic>
      <p:sp>
        <p:nvSpPr>
          <p:cNvPr id="14" name="Mix 1 heading"/>
          <p:cNvSpPr txBox="1"/>
          <p:nvPr/>
        </p:nvSpPr>
        <p:spPr>
          <a:xfrm>
            <a:off x="1051560" y="219456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Own mix</a:t>
            </a:r>
          </a:p>
        </p:txBody>
      </p:sp>
      <p:sp>
        <p:nvSpPr>
          <p:cNvPr id="15" name="Mix 1 text"/>
          <p:cNvSpPr txBox="1"/>
          <p:nvPr/>
        </p:nvSpPr>
        <p:spPr>
          <a:xfrm>
            <a:off x="594360" y="2679192"/>
            <a:ext cx="2377440" cy="822960"/>
          </a:xfrm>
          <a:prstGeom prst="rect">
            <a:avLst/>
          </a:prstGeom>
          <a:noFill/>
        </p:spPr>
        <p:txBody>
          <a:bodyPr wrap="square" lIns="0" rIns="0" tIns="0" bIns="0" anchor="t">
            <a:noAutofit/>
          </a:bodyPr>
          <a:lstStyle/>
          <a:p>
            <a:pPr algn="l">
              <a:spcAft>
                <a:spcPts val="400"/>
              </a:spcAft>
            </a:pPr>
            <a:r>
              <a:rPr sz="1200" b="0" lang="en-GB">
                <a:solidFill>
                  <a:schemeClr val="tx1"/>
                </a:solidFill>
              </a:rPr>
              <a:t>Price of brand 1</a:t>
            </a:r>
          </a:p>
          <a:p>
            <a:pPr algn="l">
              <a:spcAft>
                <a:spcPts val="400"/>
              </a:spcAft>
            </a:pPr>
            <a:r>
              <a:rPr sz="1200" b="0" lang="en-GB">
                <a:solidFill>
                  <a:schemeClr val="tx1"/>
                </a:solidFill>
              </a:rPr>
              <a:t>Feature ads, displays</a:t>
            </a:r>
          </a:p>
        </p:txBody>
      </p:sp>
      <p:sp>
        <p:nvSpPr>
          <p:cNvPr id="16" name="Mix 2 tile"/>
          <p:cNvSpPr/>
          <p:nvPr/>
        </p:nvSpPr>
        <p:spPr>
          <a:xfrm>
            <a:off x="3246120" y="2057400"/>
            <a:ext cx="265176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Icon Mix 2" descr=""/>
          <p:cNvPicPr>
            <a:picLocks noChangeAspect="1"/>
          </p:cNvPicPr>
          <p:nvPr/>
        </p:nvPicPr>
        <p:blipFill>
          <a:blip r:embed="rId4"/>
          <a:stretch>
            <a:fillRect/>
          </a:stretch>
        </p:blipFill>
        <p:spPr>
          <a:xfrm>
            <a:off x="3383280" y="2194560"/>
            <a:ext cx="365760" cy="365760"/>
          </a:xfrm>
          <a:prstGeom prst="rect">
            <a:avLst/>
          </a:prstGeom>
        </p:spPr>
      </p:pic>
      <p:sp>
        <p:nvSpPr>
          <p:cNvPr id="18" name="Mix 2 heading"/>
          <p:cNvSpPr txBox="1"/>
          <p:nvPr/>
        </p:nvSpPr>
        <p:spPr>
          <a:xfrm>
            <a:off x="3840480" y="219456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Competitors</a:t>
            </a:r>
          </a:p>
        </p:txBody>
      </p:sp>
      <p:sp>
        <p:nvSpPr>
          <p:cNvPr id="19" name="Mix 2 text"/>
          <p:cNvSpPr txBox="1"/>
          <p:nvPr/>
        </p:nvSpPr>
        <p:spPr>
          <a:xfrm>
            <a:off x="3383280" y="2679192"/>
            <a:ext cx="2377440" cy="822960"/>
          </a:xfrm>
          <a:prstGeom prst="rect">
            <a:avLst/>
          </a:prstGeom>
          <a:noFill/>
        </p:spPr>
        <p:txBody>
          <a:bodyPr wrap="square" lIns="0" rIns="0" tIns="0" bIns="0" anchor="t">
            <a:noAutofit/>
          </a:bodyPr>
          <a:lstStyle/>
          <a:p>
            <a:pPr algn="l">
              <a:spcAft>
                <a:spcPts val="400"/>
              </a:spcAft>
            </a:pPr>
            <a:r>
              <a:rPr sz="1200" b="0" lang="en-GB">
                <a:solidFill>
                  <a:schemeClr val="tx1"/>
                </a:solidFill>
              </a:rPr>
              <a:t>Prices of brands 2 to 4</a:t>
            </a:r>
          </a:p>
          <a:p>
            <a:pPr algn="l">
              <a:spcAft>
                <a:spcPts val="400"/>
              </a:spcAft>
            </a:pPr>
            <a:r>
              <a:rPr sz="1200" b="0" lang="en-GB">
                <a:solidFill>
                  <a:schemeClr val="tx1"/>
                </a:solidFill>
              </a:rPr>
              <a:t>Their features and displays</a:t>
            </a:r>
          </a:p>
        </p:txBody>
      </p:sp>
      <p:sp>
        <p:nvSpPr>
          <p:cNvPr id="20" name="Mix 3 tile"/>
          <p:cNvSpPr/>
          <p:nvPr/>
        </p:nvSpPr>
        <p:spPr>
          <a:xfrm>
            <a:off x="6035040" y="2057400"/>
            <a:ext cx="265176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Mix 3" descr=""/>
          <p:cNvPicPr>
            <a:picLocks noChangeAspect="1"/>
          </p:cNvPicPr>
          <p:nvPr/>
        </p:nvPicPr>
        <p:blipFill>
          <a:blip r:embed="rId5"/>
          <a:stretch>
            <a:fillRect/>
          </a:stretch>
        </p:blipFill>
        <p:spPr>
          <a:xfrm>
            <a:off x="6172200" y="2194560"/>
            <a:ext cx="365760" cy="365760"/>
          </a:xfrm>
          <a:prstGeom prst="rect">
            <a:avLst/>
          </a:prstGeom>
        </p:spPr>
      </p:pic>
      <p:sp>
        <p:nvSpPr>
          <p:cNvPr id="22" name="Mix 3 heading"/>
          <p:cNvSpPr txBox="1"/>
          <p:nvPr/>
        </p:nvSpPr>
        <p:spPr>
          <a:xfrm>
            <a:off x="6629400" y="219456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Context</a:t>
            </a:r>
          </a:p>
        </p:txBody>
      </p:sp>
      <p:sp>
        <p:nvSpPr>
          <p:cNvPr id="23" name="Mix 3 text"/>
          <p:cNvSpPr txBox="1"/>
          <p:nvPr/>
        </p:nvSpPr>
        <p:spPr>
          <a:xfrm>
            <a:off x="6172200" y="2679192"/>
            <a:ext cx="2377440" cy="822960"/>
          </a:xfrm>
          <a:prstGeom prst="rect">
            <a:avLst/>
          </a:prstGeom>
          <a:noFill/>
        </p:spPr>
        <p:txBody>
          <a:bodyPr wrap="square" lIns="0" rIns="0" tIns="0" bIns="0" anchor="t">
            <a:noAutofit/>
          </a:bodyPr>
          <a:lstStyle/>
          <a:p>
            <a:pPr algn="l">
              <a:spcAft>
                <a:spcPts val="400"/>
              </a:spcAft>
            </a:pPr>
            <a:r>
              <a:rPr sz="1200" b="0" lang="en-GB">
                <a:solidFill>
                  <a:schemeClr val="tx1"/>
                </a:solidFill>
              </a:rPr>
              <a:t>Temperature</a:t>
            </a:r>
          </a:p>
          <a:p>
            <a:pPr algn="l">
              <a:spcAft>
                <a:spcPts val="400"/>
              </a:spcAft>
            </a:pPr>
            <a:r>
              <a:rPr sz="1200" b="0" lang="en-GB">
                <a:solidFill>
                  <a:schemeClr val="tx1"/>
                </a:solidFill>
              </a:rPr>
              <a:t>December and Easter weeks</a:t>
            </a:r>
          </a:p>
        </p:txBody>
      </p:sp>
      <p:sp>
        <p:nvSpPr>
          <p:cNvPr id="24" name="Ceteris box"/>
          <p:cNvSpPr/>
          <p:nvPr/>
        </p:nvSpPr>
        <p:spPr>
          <a:xfrm>
            <a:off x="457200" y="370332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Ceteris" descr=""/>
          <p:cNvPicPr>
            <a:picLocks noChangeAspect="1"/>
          </p:cNvPicPr>
          <p:nvPr/>
        </p:nvPicPr>
        <p:blipFill>
          <a:blip r:embed="rId6"/>
          <a:stretch>
            <a:fillRect/>
          </a:stretch>
        </p:blipFill>
        <p:spPr>
          <a:xfrm>
            <a:off x="658368" y="3840480"/>
            <a:ext cx="365760" cy="365760"/>
          </a:xfrm>
          <a:prstGeom prst="rect">
            <a:avLst/>
          </a:prstGeom>
        </p:spPr>
      </p:pic>
      <p:sp>
        <p:nvSpPr>
          <p:cNvPr id="26" name="Ceteris text"/>
          <p:cNvSpPr txBox="1"/>
          <p:nvPr/>
        </p:nvSpPr>
        <p:spPr>
          <a:xfrm>
            <a:off x="1207008" y="3703320"/>
            <a:ext cx="7315200" cy="640080"/>
          </a:xfrm>
          <a:prstGeom prst="rect">
            <a:avLst/>
          </a:prstGeom>
          <a:noFill/>
        </p:spPr>
        <p:txBody>
          <a:bodyPr wrap="square" lIns="0" rIns="0" tIns="0" bIns="0" anchor="ctr">
            <a:noAutofit/>
          </a:bodyPr>
          <a:lstStyle/>
          <a:p>
            <a:pPr algn="l">
              <a:spcAft>
                <a:spcPts val="400"/>
              </a:spcAft>
            </a:pPr>
            <a:r>
              <a:rPr sz="1300" b="1" lang="en-GB">
                <a:solidFill>
                  <a:schemeClr val="bg1"/>
                </a:solidFill>
              </a:rPr>
              <a:t>Each b: </a:t>
            </a:r>
            <a:r>
              <a:rPr sz="1300" b="0" lang="en-GB">
                <a:solidFill>
                  <a:schemeClr val="bg1"/>
                </a:solidFill>
              </a:rPr>
              <a:t>the effect of one variable with all others held constant (ceteris paribus).</a:t>
            </a:r>
          </a:p>
        </p:txBody>
      </p:sp>
      <p:sp>
        <p:nvSpPr>
          <p:cNvPr id="27" name="Omitted note"/>
          <p:cNvSpPr txBox="1"/>
          <p:nvPr/>
        </p:nvSpPr>
        <p:spPr>
          <a:xfrm>
            <a:off x="457200" y="4434840"/>
            <a:ext cx="8229600"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Left out </a:t>
            </a:r>
            <a:r>
              <a:rPr sz="1200" b="0" lang="en-GB">
                <a:solidFill>
                  <a:schemeClr val="tx1"/>
                </a:solidFill>
              </a:rPr>
              <a:t>a relevant variable? Its effect ends up in the others (omitted variable bias).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Is the effect real? t-test, p-value, interval, F-test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Inf 1 tile"/>
          <p:cNvSpPr/>
          <p:nvPr/>
        </p:nvSpPr>
        <p:spPr>
          <a:xfrm>
            <a:off x="457200" y="1234440"/>
            <a:ext cx="404622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Inf 1" descr=""/>
          <p:cNvPicPr>
            <a:picLocks noChangeAspect="1"/>
          </p:cNvPicPr>
          <p:nvPr/>
        </p:nvPicPr>
        <p:blipFill>
          <a:blip r:embed="rId3"/>
          <a:stretch>
            <a:fillRect/>
          </a:stretch>
        </p:blipFill>
        <p:spPr>
          <a:xfrm>
            <a:off x="594360" y="1371600"/>
            <a:ext cx="365760" cy="365760"/>
          </a:xfrm>
          <a:prstGeom prst="rect">
            <a:avLst/>
          </a:prstGeom>
        </p:spPr>
      </p:pic>
      <p:sp>
        <p:nvSpPr>
          <p:cNvPr id="12" name="Inf 1 heading"/>
          <p:cNvSpPr txBox="1"/>
          <p:nvPr/>
        </p:nvSpPr>
        <p:spPr>
          <a:xfrm>
            <a:off x="1051560" y="137160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t-test</a:t>
            </a:r>
          </a:p>
        </p:txBody>
      </p:sp>
      <p:sp>
        <p:nvSpPr>
          <p:cNvPr id="13" name="Inf 1 text"/>
          <p:cNvSpPr txBox="1"/>
          <p:nvPr/>
        </p:nvSpPr>
        <p:spPr>
          <a:xfrm>
            <a:off x="594360" y="1856232"/>
            <a:ext cx="3771900" cy="731520"/>
          </a:xfrm>
          <a:prstGeom prst="rect">
            <a:avLst/>
          </a:prstGeom>
          <a:noFill/>
        </p:spPr>
        <p:txBody>
          <a:bodyPr wrap="square" lIns="0" rIns="0" tIns="0" bIns="0" anchor="t">
            <a:noAutofit/>
          </a:bodyPr>
          <a:lstStyle/>
          <a:p>
            <a:pPr algn="l">
              <a:spcAft>
                <a:spcPts val="400"/>
              </a:spcAft>
            </a:pPr>
            <a:r>
              <a:rPr sz="1200" b="0" lang="en-GB">
                <a:solidFill>
                  <a:schemeClr val="tx1"/>
                </a:solidFill>
              </a:rPr>
              <a:t>t = b / se</a:t>
            </a:r>
          </a:p>
          <a:p>
            <a:pPr algn="l">
              <a:spcAft>
                <a:spcPts val="400"/>
              </a:spcAft>
            </a:pPr>
            <a:r>
              <a:rPr sz="1200" b="0" lang="en-GB">
                <a:solidFill>
                  <a:schemeClr val="tx1"/>
                </a:solidFill>
              </a:rPr>
              <a:t>Own price: −3.64 / 0.30 = −12.1</a:t>
            </a:r>
          </a:p>
        </p:txBody>
      </p:sp>
      <p:sp>
        <p:nvSpPr>
          <p:cNvPr id="14" name="Inf 2 tile"/>
          <p:cNvSpPr/>
          <p:nvPr/>
        </p:nvSpPr>
        <p:spPr>
          <a:xfrm>
            <a:off x="4640580" y="1234440"/>
            <a:ext cx="404622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Icon Inf 2" descr=""/>
          <p:cNvPicPr>
            <a:picLocks noChangeAspect="1"/>
          </p:cNvPicPr>
          <p:nvPr/>
        </p:nvPicPr>
        <p:blipFill>
          <a:blip r:embed="rId4"/>
          <a:stretch>
            <a:fillRect/>
          </a:stretch>
        </p:blipFill>
        <p:spPr>
          <a:xfrm>
            <a:off x="4777740" y="1371600"/>
            <a:ext cx="365760" cy="365760"/>
          </a:xfrm>
          <a:prstGeom prst="rect">
            <a:avLst/>
          </a:prstGeom>
        </p:spPr>
      </p:pic>
      <p:sp>
        <p:nvSpPr>
          <p:cNvPr id="16" name="Inf 2 heading"/>
          <p:cNvSpPr txBox="1"/>
          <p:nvPr/>
        </p:nvSpPr>
        <p:spPr>
          <a:xfrm>
            <a:off x="5234940" y="137160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p-value</a:t>
            </a:r>
          </a:p>
        </p:txBody>
      </p:sp>
      <p:sp>
        <p:nvSpPr>
          <p:cNvPr id="17" name="Inf 2 text"/>
          <p:cNvSpPr txBox="1"/>
          <p:nvPr/>
        </p:nvSpPr>
        <p:spPr>
          <a:xfrm>
            <a:off x="4777740" y="1856232"/>
            <a:ext cx="3771900" cy="731520"/>
          </a:xfrm>
          <a:prstGeom prst="rect">
            <a:avLst/>
          </a:prstGeom>
          <a:noFill/>
        </p:spPr>
        <p:txBody>
          <a:bodyPr wrap="square" lIns="0" rIns="0" tIns="0" bIns="0" anchor="t">
            <a:noAutofit/>
          </a:bodyPr>
          <a:lstStyle/>
          <a:p>
            <a:pPr algn="l">
              <a:spcAft>
                <a:spcPts val="400"/>
              </a:spcAft>
            </a:pPr>
            <a:r>
              <a:rPr sz="1200" b="0" lang="en-GB">
                <a:solidFill>
                  <a:schemeClr val="tx1"/>
                </a:solidFill>
              </a:rPr>
              <a:t>Below 0.05: significant</a:t>
            </a:r>
          </a:p>
          <a:p>
            <a:pPr algn="l">
              <a:spcAft>
                <a:spcPts val="400"/>
              </a:spcAft>
            </a:pPr>
            <a:r>
              <a:rPr sz="1200" b="0" lang="en-GB">
                <a:solidFill>
                  <a:schemeClr val="tx1"/>
                </a:solidFill>
              </a:rPr>
              <a:t>Own price: p &lt; 0.001; brand 4: p = 0.86</a:t>
            </a:r>
          </a:p>
        </p:txBody>
      </p:sp>
      <p:sp>
        <p:nvSpPr>
          <p:cNvPr id="18" name="Inf 3 tile"/>
          <p:cNvSpPr/>
          <p:nvPr/>
        </p:nvSpPr>
        <p:spPr>
          <a:xfrm>
            <a:off x="457200" y="2788920"/>
            <a:ext cx="404622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Icon Inf 3" descr=""/>
          <p:cNvPicPr>
            <a:picLocks noChangeAspect="1"/>
          </p:cNvPicPr>
          <p:nvPr/>
        </p:nvPicPr>
        <p:blipFill>
          <a:blip r:embed="rId5"/>
          <a:stretch>
            <a:fillRect/>
          </a:stretch>
        </p:blipFill>
        <p:spPr>
          <a:xfrm>
            <a:off x="594360" y="2926080"/>
            <a:ext cx="365760" cy="365760"/>
          </a:xfrm>
          <a:prstGeom prst="rect">
            <a:avLst/>
          </a:prstGeom>
        </p:spPr>
      </p:pic>
      <p:sp>
        <p:nvSpPr>
          <p:cNvPr id="20" name="Inf 3 heading"/>
          <p:cNvSpPr txBox="1"/>
          <p:nvPr/>
        </p:nvSpPr>
        <p:spPr>
          <a:xfrm>
            <a:off x="1051560" y="292608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95 % confidence interval</a:t>
            </a:r>
          </a:p>
        </p:txBody>
      </p:sp>
      <p:sp>
        <p:nvSpPr>
          <p:cNvPr id="21" name="Inf 3 text"/>
          <p:cNvSpPr txBox="1"/>
          <p:nvPr/>
        </p:nvSpPr>
        <p:spPr>
          <a:xfrm>
            <a:off x="594360" y="3410712"/>
            <a:ext cx="3771900" cy="731520"/>
          </a:xfrm>
          <a:prstGeom prst="rect">
            <a:avLst/>
          </a:prstGeom>
          <a:noFill/>
        </p:spPr>
        <p:txBody>
          <a:bodyPr wrap="square" lIns="0" rIns="0" tIns="0" bIns="0" anchor="t">
            <a:noAutofit/>
          </a:bodyPr>
          <a:lstStyle/>
          <a:p>
            <a:pPr algn="l">
              <a:spcAft>
                <a:spcPts val="400"/>
              </a:spcAft>
            </a:pPr>
            <a:r>
              <a:rPr sz="1200" b="0" lang="en-GB">
                <a:solidFill>
                  <a:schemeClr val="tx1"/>
                </a:solidFill>
              </a:rPr>
              <a:t>About b ± 2 se</a:t>
            </a:r>
          </a:p>
          <a:p>
            <a:pPr algn="l">
              <a:spcAft>
                <a:spcPts val="400"/>
              </a:spcAft>
            </a:pPr>
            <a:r>
              <a:rPr sz="1200" b="0" lang="en-GB">
                <a:solidFill>
                  <a:schemeClr val="tx1"/>
                </a:solidFill>
              </a:rPr>
              <a:t>Own price: −4.24 to −3.04</a:t>
            </a:r>
          </a:p>
        </p:txBody>
      </p:sp>
      <p:sp>
        <p:nvSpPr>
          <p:cNvPr id="22" name="Inf 4 tile"/>
          <p:cNvSpPr/>
          <p:nvPr/>
        </p:nvSpPr>
        <p:spPr>
          <a:xfrm>
            <a:off x="4640580" y="2788920"/>
            <a:ext cx="404622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Inf 4" descr=""/>
          <p:cNvPicPr>
            <a:picLocks noChangeAspect="1"/>
          </p:cNvPicPr>
          <p:nvPr/>
        </p:nvPicPr>
        <p:blipFill>
          <a:blip r:embed="rId6"/>
          <a:stretch>
            <a:fillRect/>
          </a:stretch>
        </p:blipFill>
        <p:spPr>
          <a:xfrm>
            <a:off x="4777740" y="2926080"/>
            <a:ext cx="365760" cy="365760"/>
          </a:xfrm>
          <a:prstGeom prst="rect">
            <a:avLst/>
          </a:prstGeom>
        </p:spPr>
      </p:pic>
      <p:sp>
        <p:nvSpPr>
          <p:cNvPr id="24" name="Inf 4 heading"/>
          <p:cNvSpPr txBox="1"/>
          <p:nvPr/>
        </p:nvSpPr>
        <p:spPr>
          <a:xfrm>
            <a:off x="5234940" y="292608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F-test</a:t>
            </a:r>
          </a:p>
        </p:txBody>
      </p:sp>
      <p:sp>
        <p:nvSpPr>
          <p:cNvPr id="25" name="Inf 4 text"/>
          <p:cNvSpPr txBox="1"/>
          <p:nvPr/>
        </p:nvSpPr>
        <p:spPr>
          <a:xfrm>
            <a:off x="4777740" y="3410712"/>
            <a:ext cx="3771900" cy="731520"/>
          </a:xfrm>
          <a:prstGeom prst="rect">
            <a:avLst/>
          </a:prstGeom>
          <a:noFill/>
        </p:spPr>
        <p:txBody>
          <a:bodyPr wrap="square" lIns="0" rIns="0" tIns="0" bIns="0" anchor="t">
            <a:noAutofit/>
          </a:bodyPr>
          <a:lstStyle/>
          <a:p>
            <a:pPr algn="l">
              <a:spcAft>
                <a:spcPts val="400"/>
              </a:spcAft>
            </a:pPr>
            <a:r>
              <a:rPr sz="1200" b="0" lang="en-GB">
                <a:solidFill>
                  <a:schemeClr val="tx1"/>
                </a:solidFill>
              </a:rPr>
              <a:t>Are all slopes together zero?</a:t>
            </a:r>
          </a:p>
          <a:p>
            <a:pPr algn="l">
              <a:spcAft>
                <a:spcPts val="400"/>
              </a:spcAft>
            </a:pPr>
            <a:r>
              <a:rPr sz="1200" b="0" lang="en-GB">
                <a:solidFill>
                  <a:schemeClr val="tx1"/>
                </a:solidFill>
              </a:rPr>
              <a:t>F = 59.5, p &lt; 0.001</a:t>
            </a:r>
          </a:p>
        </p:txBody>
      </p:sp>
      <p:sp>
        <p:nvSpPr>
          <p:cNvPr id="26" name="Inf warn box"/>
          <p:cNvSpPr/>
          <p:nvPr/>
        </p:nvSpPr>
        <p:spPr>
          <a:xfrm>
            <a:off x="457200" y="434340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Inf warn" descr=""/>
          <p:cNvPicPr>
            <a:picLocks noChangeAspect="1"/>
          </p:cNvPicPr>
          <p:nvPr/>
        </p:nvPicPr>
        <p:blipFill>
          <a:blip r:embed="rId7"/>
          <a:stretch>
            <a:fillRect/>
          </a:stretch>
        </p:blipFill>
        <p:spPr>
          <a:xfrm>
            <a:off x="658368" y="4411980"/>
            <a:ext cx="365760" cy="365760"/>
          </a:xfrm>
          <a:prstGeom prst="rect">
            <a:avLst/>
          </a:prstGeom>
        </p:spPr>
      </p:pic>
      <p:sp>
        <p:nvSpPr>
          <p:cNvPr id="28" name="Inf warn text"/>
          <p:cNvSpPr txBox="1"/>
          <p:nvPr/>
        </p:nvSpPr>
        <p:spPr>
          <a:xfrm>
            <a:off x="1207008" y="4343400"/>
            <a:ext cx="7315200"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Significant is not important: </a:t>
            </a:r>
            <a:r>
              <a:rPr sz="1200" b="0" lang="en-GB">
                <a:solidFill>
                  <a:schemeClr val="bg1"/>
                </a:solidFill>
              </a:rPr>
              <a:t>read the size of b and its interval, not just the stars.</a:t>
            </a:r>
          </a:p>
        </p:txBody>
      </p:sp>
      <p:sp>
        <p:nvSpPr>
          <p:cNvPr id="29"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Bojinov, Parzen &amp; Hamilton 2025; Skiera, Reiner &amp; Albers 2022</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How well does the model fit?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Fit row 1"/>
          <p:cNvSpPr/>
          <p:nvPr/>
        </p:nvSpPr>
        <p:spPr>
          <a:xfrm>
            <a:off x="457200" y="1234440"/>
            <a:ext cx="493776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Fit stat 1 bar"/>
          <p:cNvSpPr/>
          <p:nvPr/>
        </p:nvSpPr>
        <p:spPr>
          <a:xfrm>
            <a:off x="457200" y="1234440"/>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Fit stat 1 figure"/>
          <p:cNvSpPr txBox="1"/>
          <p:nvPr/>
        </p:nvSpPr>
        <p:spPr>
          <a:xfrm>
            <a:off x="640080" y="1234440"/>
            <a:ext cx="132588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0.874</a:t>
            </a:r>
          </a:p>
        </p:txBody>
      </p:sp>
      <p:sp>
        <p:nvSpPr>
          <p:cNvPr id="13" name="Fit stat 1 label"/>
          <p:cNvSpPr txBox="1"/>
          <p:nvPr/>
        </p:nvSpPr>
        <p:spPr>
          <a:xfrm>
            <a:off x="1965960" y="1234440"/>
            <a:ext cx="33832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R²: the model explains 87 % of the weekly variation in log sales</a:t>
            </a:r>
          </a:p>
        </p:txBody>
      </p:sp>
      <p:sp>
        <p:nvSpPr>
          <p:cNvPr id="14" name="Fit row 2"/>
          <p:cNvSpPr/>
          <p:nvPr/>
        </p:nvSpPr>
        <p:spPr>
          <a:xfrm>
            <a:off x="457200" y="2039112"/>
            <a:ext cx="493776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Fit stat 2 bar"/>
          <p:cNvSpPr/>
          <p:nvPr/>
        </p:nvSpPr>
        <p:spPr>
          <a:xfrm>
            <a:off x="457200" y="2039112"/>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Fit stat 2 figure"/>
          <p:cNvSpPr txBox="1"/>
          <p:nvPr/>
        </p:nvSpPr>
        <p:spPr>
          <a:xfrm>
            <a:off x="640080" y="2039112"/>
            <a:ext cx="132588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0.859</a:t>
            </a:r>
          </a:p>
        </p:txBody>
      </p:sp>
      <p:sp>
        <p:nvSpPr>
          <p:cNvPr id="17" name="Fit stat 2 label"/>
          <p:cNvSpPr txBox="1"/>
          <p:nvPr/>
        </p:nvSpPr>
        <p:spPr>
          <a:xfrm>
            <a:off x="1965960" y="2039112"/>
            <a:ext cx="33832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adjusted R²: R² with a penalty for each extra variable</a:t>
            </a:r>
          </a:p>
        </p:txBody>
      </p:sp>
      <p:sp>
        <p:nvSpPr>
          <p:cNvPr id="18" name="Fit row 3"/>
          <p:cNvSpPr/>
          <p:nvPr/>
        </p:nvSpPr>
        <p:spPr>
          <a:xfrm>
            <a:off x="457200" y="2843784"/>
            <a:ext cx="493776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Fit stat 3 bar"/>
          <p:cNvSpPr/>
          <p:nvPr/>
        </p:nvSpPr>
        <p:spPr>
          <a:xfrm>
            <a:off x="457200" y="2843784"/>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Fit stat 3 figure"/>
          <p:cNvSpPr txBox="1"/>
          <p:nvPr/>
        </p:nvSpPr>
        <p:spPr>
          <a:xfrm>
            <a:off x="640080" y="2843784"/>
            <a:ext cx="132588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0.169</a:t>
            </a:r>
          </a:p>
        </p:txBody>
      </p:sp>
      <p:sp>
        <p:nvSpPr>
          <p:cNvPr id="21" name="Fit stat 3 label"/>
          <p:cNvSpPr txBox="1"/>
          <p:nvPr/>
        </p:nvSpPr>
        <p:spPr>
          <a:xfrm>
            <a:off x="1965960" y="2843784"/>
            <a:ext cx="33832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RMSE: the typical weekly miss, about 17 % in a log model</a:t>
            </a:r>
          </a:p>
        </p:txBody>
      </p:sp>
      <p:sp>
        <p:nvSpPr>
          <p:cNvPr id="22" name="Fit card body"/>
          <p:cNvSpPr/>
          <p:nvPr/>
        </p:nvSpPr>
        <p:spPr>
          <a:xfrm>
            <a:off x="5532120" y="1645920"/>
            <a:ext cx="3154680" cy="19293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Fit card header"/>
          <p:cNvSpPr/>
          <p:nvPr/>
        </p:nvSpPr>
        <p:spPr>
          <a:xfrm>
            <a:off x="5532120" y="1234440"/>
            <a:ext cx="31546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Fit card heading"/>
          <p:cNvSpPr txBox="1"/>
          <p:nvPr/>
        </p:nvSpPr>
        <p:spPr>
          <a:xfrm>
            <a:off x="5669280" y="1234440"/>
            <a:ext cx="24688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Careful</a:t>
            </a:r>
          </a:p>
        </p:txBody>
      </p:sp>
      <p:pic>
        <p:nvPicPr>
          <p:cNvPr id="25" name="Icon Fit card" descr=""/>
          <p:cNvPicPr>
            <a:picLocks noChangeAspect="1"/>
          </p:cNvPicPr>
          <p:nvPr/>
        </p:nvPicPr>
        <p:blipFill>
          <a:blip r:embed="rId3"/>
          <a:stretch>
            <a:fillRect/>
          </a:stretch>
        </p:blipFill>
        <p:spPr>
          <a:xfrm>
            <a:off x="8247888" y="1284732"/>
            <a:ext cx="310896" cy="310896"/>
          </a:xfrm>
          <a:prstGeom prst="rect">
            <a:avLst/>
          </a:prstGeom>
        </p:spPr>
      </p:pic>
      <p:sp>
        <p:nvSpPr>
          <p:cNvPr id="26" name="Fit card text"/>
          <p:cNvSpPr txBox="1"/>
          <p:nvPr/>
        </p:nvSpPr>
        <p:spPr>
          <a:xfrm>
            <a:off x="5696712" y="1783080"/>
            <a:ext cx="2852928" cy="1655064"/>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R² never falls when you add a variable</a:t>
            </a:r>
          </a:p>
          <a:p>
            <a:pPr algn="l" marL="182880" indent="-182880">
              <a:spcAft>
                <a:spcPts val="600"/>
              </a:spcAft>
              <a:buClr>
                <a:schemeClr val="accent1"/>
              </a:buClr>
              <a:buFont typeface="Arial"/>
              <a:buChar char="▪"/>
            </a:pPr>
            <a:r>
              <a:rPr sz="1300" b="0" lang="en-GB">
                <a:solidFill>
                  <a:schemeClr val="tx1"/>
                </a:solidFill>
              </a:rPr>
              <a:t>Compare R² only for the same outcome (sales vs log sales)</a:t>
            </a:r>
          </a:p>
          <a:p>
            <a:pPr algn="l" marL="182880" indent="-182880">
              <a:spcAft>
                <a:spcPts val="600"/>
              </a:spcAft>
              <a:buClr>
                <a:schemeClr val="accent1"/>
              </a:buClr>
              <a:buFont typeface="Arial"/>
              <a:buChar char="▪"/>
            </a:pPr>
            <a:r>
              <a:rPr sz="1300" b="0" lang="en-GB">
                <a:solidFill>
                  <a:schemeClr val="tx1"/>
                </a:solidFill>
              </a:rPr>
              <a:t>High R² does not mean causal</a:t>
            </a:r>
          </a:p>
        </p:txBody>
      </p:sp>
      <p:sp>
        <p:nvSpPr>
          <p:cNvPr id="27" name="Fit model box"/>
          <p:cNvSpPr/>
          <p:nvPr/>
        </p:nvSpPr>
        <p:spPr>
          <a:xfrm>
            <a:off x="457200" y="374904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Icon Fit model" descr=""/>
          <p:cNvPicPr>
            <a:picLocks noChangeAspect="1"/>
          </p:cNvPicPr>
          <p:nvPr/>
        </p:nvPicPr>
        <p:blipFill>
          <a:blip r:embed="rId4"/>
          <a:stretch>
            <a:fillRect/>
          </a:stretch>
        </p:blipFill>
        <p:spPr>
          <a:xfrm>
            <a:off x="658368" y="3840480"/>
            <a:ext cx="365760" cy="365760"/>
          </a:xfrm>
          <a:prstGeom prst="rect">
            <a:avLst/>
          </a:prstGeom>
        </p:spPr>
      </p:pic>
      <p:sp>
        <p:nvSpPr>
          <p:cNvPr id="29" name="Fit model text"/>
          <p:cNvSpPr txBox="1"/>
          <p:nvPr/>
        </p:nvSpPr>
        <p:spPr>
          <a:xfrm>
            <a:off x="1207008" y="374904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Main model for brand 1: </a:t>
            </a:r>
            <a:r>
              <a:rPr sz="1200" b="0" lang="en-GB">
                <a:solidFill>
                  <a:schemeClr val="tx1"/>
                </a:solidFill>
              </a:rPr>
              <a:t>log-log, own and competitor prices, feature, temperature, December; 68 weeks.</a:t>
            </a:r>
          </a:p>
        </p:txBody>
      </p:sp>
      <p:sp>
        <p:nvSpPr>
          <p:cNvPr id="30" name="Sources"/>
          <p:cNvSpPr txBox="1"/>
          <p:nvPr/>
        </p:nvSpPr>
        <p:spPr>
          <a:xfrm>
            <a:off x="457200" y="443484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Bojinov, Parzen &amp; Hamilton 2025; Skiera, Reiner &amp; Albers 2022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Forms table"/>
          <p:cNvGraphicFramePr>
            <a:graphicFrameLocks noGrp="1"/>
          </p:cNvGraphicFramePr>
          <p:nvPr>
            <p:ph type="tbl" idx="1"/>
          </p:nvPr>
        </p:nvGraphicFramePr>
        <p:xfrm>
          <a:off x="457200" y="1234440"/>
          <a:ext cx="8229600" cy="1854200"/>
        </p:xfrm>
        <a:graphic>
          <a:graphicData uri="http://schemas.openxmlformats.org/drawingml/2006/table">
            <a:tbl>
              <a:tblPr firstRow="1" bandRow="1">
                <a:tableStyleId>{5C22544A-7EE6-4342-B048-85BDC9FD1C3A}</a:tableStyleId>
              </a:tblPr>
              <a:tblGrid>
                <a:gridCol w="1737360"/>
                <a:gridCol w="2377440"/>
                <a:gridCol w="2194560"/>
                <a:gridCol w="1920240"/>
              </a:tblGrid>
              <a:tr h="370840">
                <a:tc>
                  <a:txBody>
                    <a:bodyPr/>
                    <a:lstStyle/>
                    <a:p>
                      <a:r>
                        <a:rPr sz="1500" lang="en-GB"/>
                        <a:t>Model</a:t>
                      </a:r>
                    </a:p>
                  </a:txBody>
                  <a:tcPr marT="45000" marB="45000"/>
                </a:tc>
                <a:tc>
                  <a:txBody>
                    <a:bodyPr/>
                    <a:lstStyle/>
                    <a:p>
                      <a:r>
                        <a:rPr sz="1500" lang="en-GB"/>
                        <a:t>Equation</a:t>
                      </a:r>
                    </a:p>
                  </a:txBody>
                  <a:tcPr marT="45000" marB="45000"/>
                </a:tc>
                <a:tc>
                  <a:txBody>
                    <a:bodyPr/>
                    <a:lstStyle/>
                    <a:p>
                      <a:r>
                        <a:rPr sz="1500" lang="en-GB"/>
                        <a:t>b means</a:t>
                      </a:r>
                    </a:p>
                  </a:txBody>
                  <a:tcPr marT="45000" marB="45000"/>
                </a:tc>
                <a:tc>
                  <a:txBody>
                    <a:bodyPr/>
                    <a:lstStyle/>
                    <a:p>
                      <a:r>
                        <a:rPr sz="1500" lang="en-GB"/>
                        <a:t>Brand 1</a:t>
                      </a:r>
                    </a:p>
                  </a:txBody>
                  <a:tcPr marT="45000" marB="45000"/>
                </a:tc>
              </a:tr>
              <a:tr h="370840">
                <a:tc>
                  <a:txBody>
                    <a:bodyPr/>
                    <a:lstStyle/>
                    <a:p>
                      <a:r>
                        <a:rPr sz="1200" b="1" lang="en-GB"/>
                        <a:t>Linear</a:t>
                      </a:r>
                    </a:p>
                  </a:txBody>
                  <a:tcPr marT="45000" marB="45000"/>
                </a:tc>
                <a:tc>
                  <a:txBody>
                    <a:bodyPr/>
                    <a:lstStyle/>
                    <a:p>
                      <a:r>
                        <a:rPr sz="1200" lang="en-GB"/>
                        <a:t>sales = a + b·price</a:t>
                      </a:r>
                    </a:p>
                  </a:txBody>
                  <a:tcPr marT="45000" marB="45000"/>
                </a:tc>
                <a:tc>
                  <a:txBody>
                    <a:bodyPr/>
                    <a:lstStyle/>
                    <a:p>
                      <a:r>
                        <a:rPr sz="1200" lang="en-GB"/>
                        <a:t>+1 unit price: b units</a:t>
                      </a:r>
                    </a:p>
                  </a:txBody>
                  <a:tcPr marT="45000" marB="45000"/>
                </a:tc>
                <a:tc>
                  <a:txBody>
                    <a:bodyPr/>
                    <a:lstStyle/>
                    <a:p>
                      <a:r>
                        <a:rPr sz="1200" lang="en-GB"/>
                        <a:t>b = −669 units</a:t>
                      </a:r>
                    </a:p>
                  </a:txBody>
                  <a:tcPr marT="45000" marB="45000"/>
                </a:tc>
              </a:tr>
              <a:tr h="370840">
                <a:tc>
                  <a:txBody>
                    <a:bodyPr/>
                    <a:lstStyle/>
                    <a:p>
                      <a:r>
                        <a:rPr sz="1200" b="1" lang="en-GB"/>
                        <a:t>Log-log</a:t>
                      </a:r>
                    </a:p>
                  </a:txBody>
                  <a:tcPr marT="45000" marB="45000"/>
                </a:tc>
                <a:tc>
                  <a:txBody>
                    <a:bodyPr/>
                    <a:lstStyle/>
                    <a:p>
                      <a:r>
                        <a:rPr sz="1200" lang="en-GB"/>
                        <a:t>ln sales = a + b·ln price</a:t>
                      </a:r>
                    </a:p>
                  </a:txBody>
                  <a:tcPr marT="45000" marB="45000"/>
                </a:tc>
                <a:tc>
                  <a:txBody>
                    <a:bodyPr/>
                    <a:lstStyle/>
                    <a:p>
                      <a:r>
                        <a:rPr sz="1200" lang="en-GB"/>
                        <a:t>+1 % price: b %</a:t>
                      </a:r>
                    </a:p>
                  </a:txBody>
                  <a:tcPr marT="45000" marB="45000"/>
                </a:tc>
                <a:tc>
                  <a:txBody>
                    <a:bodyPr/>
                    <a:lstStyle/>
                    <a:p>
                      <a:r>
                        <a:rPr sz="1200" lang="en-GB"/>
                        <a:t>b = −3.64 (elasticity)</a:t>
                      </a:r>
                    </a:p>
                  </a:txBody>
                  <a:tcPr marT="45000" marB="45000"/>
                </a:tc>
              </a:tr>
              <a:tr h="370840">
                <a:tc>
                  <a:txBody>
                    <a:bodyPr/>
                    <a:lstStyle/>
                    <a:p>
                      <a:r>
                        <a:rPr sz="1200" b="1" lang="en-GB"/>
                        <a:t>Log-linear</a:t>
                      </a:r>
                    </a:p>
                  </a:txBody>
                  <a:tcPr marT="45000" marB="45000"/>
                </a:tc>
                <a:tc>
                  <a:txBody>
                    <a:bodyPr/>
                    <a:lstStyle/>
                    <a:p>
                      <a:r>
                        <a:rPr sz="1200" lang="en-GB"/>
                        <a:t>ln sales = a + b·temp</a:t>
                      </a:r>
                    </a:p>
                  </a:txBody>
                  <a:tcPr marT="45000" marB="45000"/>
                </a:tc>
                <a:tc>
                  <a:txBody>
                    <a:bodyPr/>
                    <a:lstStyle/>
                    <a:p>
                      <a:r>
                        <a:rPr sz="1200" lang="en-GB"/>
                        <a:t>+1 °C: about 100·b %</a:t>
                      </a:r>
                    </a:p>
                  </a:txBody>
                  <a:tcPr marT="45000" marB="45000"/>
                </a:tc>
                <a:tc>
                  <a:txBody>
                    <a:bodyPr/>
                    <a:lstStyle/>
                    <a:p>
                      <a:r>
                        <a:rPr sz="1200" lang="en-GB"/>
                        <a:t>b = −0.0066: −0.66 %</a:t>
                      </a:r>
                    </a:p>
                  </a:txBody>
                  <a:tcPr marT="45000" marB="45000"/>
                </a:tc>
              </a:tr>
              <a:tr h="370840">
                <a:tc>
                  <a:txBody>
                    <a:bodyPr/>
                    <a:lstStyle/>
                    <a:p>
                      <a:r>
                        <a:rPr sz="1200" b="1" lang="en-GB"/>
                        <a:t>Dummy in log model</a:t>
                      </a:r>
                    </a:p>
                  </a:txBody>
                  <a:tcPr marT="45000" marB="45000"/>
                </a:tc>
                <a:tc>
                  <a:txBody>
                    <a:bodyPr/>
                    <a:lstStyle/>
                    <a:p>
                      <a:r>
                        <a:rPr sz="1200" lang="en-GB"/>
                        <a:t>ln sales = a + b·december</a:t>
                      </a:r>
                    </a:p>
                  </a:txBody>
                  <a:tcPr marT="45000" marB="45000"/>
                </a:tc>
                <a:tc>
                  <a:txBody>
                    <a:bodyPr/>
                    <a:lstStyle/>
                    <a:p>
                      <a:r>
                        <a:rPr sz="1200" lang="en-GB"/>
                        <a:t>e^b − 1, vs other weeks</a:t>
                      </a:r>
                    </a:p>
                  </a:txBody>
                  <a:tcPr marT="45000" marB="45000"/>
                </a:tc>
                <a:tc>
                  <a:txBody>
                    <a:bodyPr/>
                    <a:lstStyle/>
                    <a:p>
                      <a:r>
                        <a:rPr sz="1200" lang="en-GB"/>
                        <a:t>b = −0.385: −32 %</a:t>
                      </a:r>
                    </a:p>
                  </a:txBody>
                  <a:tcPr marT="45000" marB="45000"/>
                </a:tc>
              </a:tr>
            </a:tbl>
          </a:graphicData>
        </a:graphic>
      </p:graphicFrame>
      <p:sp>
        <p:nvSpPr>
          <p:cNvPr id="3" name="Title 2"/>
          <p:cNvSpPr>
            <a:spLocks noGrp="1"/>
          </p:cNvSpPr>
          <p:nvPr>
            <p:ph type="title"/>
          </p:nvPr>
        </p:nvSpPr>
        <p:spPr/>
        <p:txBody>
          <a:bodyPr/>
          <a:lstStyle/>
          <a:p>
            <a:r>
              <a:rPr sz="1600" lang="en-GB"/>
              <a:t>Functional forms and dummy variables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Forms why box"/>
          <p:cNvSpPr/>
          <p:nvPr/>
        </p:nvSpPr>
        <p:spPr>
          <a:xfrm>
            <a:off x="457200" y="388620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Forms why" descr=""/>
          <p:cNvPicPr>
            <a:picLocks noChangeAspect="1"/>
          </p:cNvPicPr>
          <p:nvPr/>
        </p:nvPicPr>
        <p:blipFill>
          <a:blip r:embed="rId3"/>
          <a:stretch>
            <a:fillRect/>
          </a:stretch>
        </p:blipFill>
        <p:spPr>
          <a:xfrm>
            <a:off x="658368" y="4046220"/>
            <a:ext cx="365760" cy="365760"/>
          </a:xfrm>
          <a:prstGeom prst="rect">
            <a:avLst/>
          </a:prstGeom>
        </p:spPr>
      </p:pic>
      <p:sp>
        <p:nvSpPr>
          <p:cNvPr id="12" name="Forms why text"/>
          <p:cNvSpPr txBox="1"/>
          <p:nvPr/>
        </p:nvSpPr>
        <p:spPr>
          <a:xfrm>
            <a:off x="1207008" y="3886200"/>
            <a:ext cx="731520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Why logs? </a:t>
            </a:r>
            <a:r>
              <a:rPr sz="1300" b="0" lang="en-GB">
                <a:solidFill>
                  <a:schemeClr val="bg1"/>
                </a:solidFill>
              </a:rPr>
              <a:t>sales respond in per cent, not in units, and the elasticity can be compared across brands and countries.</a:t>
            </a:r>
          </a:p>
        </p:txBody>
      </p:sp>
      <p:sp>
        <p:nvSpPr>
          <p:cNvPr id="13" name="Sources"/>
          <p:cNvSpPr txBox="1"/>
          <p:nvPr/>
        </p:nvSpPr>
        <p:spPr>
          <a:xfrm>
            <a:off x="457200" y="466344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Wooldridge 2025, ch. 6 to 7</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From elasticity to a pricing decision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ice formula box"/>
          <p:cNvSpPr/>
          <p:nvPr/>
        </p:nvSpPr>
        <p:spPr>
          <a:xfrm>
            <a:off x="457200" y="12344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rice formula code"/>
          <p:cNvSpPr txBox="1"/>
          <p:nvPr/>
        </p:nvSpPr>
        <p:spPr>
          <a:xfrm>
            <a:off x="594360" y="1325880"/>
            <a:ext cx="7955280" cy="36576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optimal price  p* = marginal cost × ε / (1 + ε)        (valid for ε &lt; −1)</a:t>
            </a:r>
          </a:p>
        </p:txBody>
      </p:sp>
      <p:sp>
        <p:nvSpPr>
          <p:cNvPr id="12" name="Skiera box"/>
          <p:cNvSpPr/>
          <p:nvPr/>
        </p:nvSpPr>
        <p:spPr>
          <a:xfrm>
            <a:off x="457200" y="1920240"/>
            <a:ext cx="4046220" cy="12344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kiera stat bar"/>
          <p:cNvSpPr/>
          <p:nvPr/>
        </p:nvSpPr>
        <p:spPr>
          <a:xfrm>
            <a:off x="457200" y="1920240"/>
            <a:ext cx="64008" cy="1234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Skiera stat figure"/>
          <p:cNvSpPr txBox="1"/>
          <p:nvPr/>
        </p:nvSpPr>
        <p:spPr>
          <a:xfrm>
            <a:off x="640080" y="1920240"/>
            <a:ext cx="1143000" cy="12344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$52</a:t>
            </a:r>
          </a:p>
        </p:txBody>
      </p:sp>
      <p:sp>
        <p:nvSpPr>
          <p:cNvPr id="15" name="Skiera stat label"/>
          <p:cNvSpPr txBox="1"/>
          <p:nvPr/>
        </p:nvSpPr>
        <p:spPr>
          <a:xfrm>
            <a:off x="1783080" y="1920240"/>
            <a:ext cx="2674620" cy="1234440"/>
          </a:xfrm>
          <a:prstGeom prst="rect">
            <a:avLst/>
          </a:prstGeom>
          <a:noFill/>
        </p:spPr>
        <p:txBody>
          <a:bodyPr wrap="square" lIns="0" rIns="0" tIns="0" bIns="0" anchor="ctr">
            <a:noAutofit/>
          </a:bodyPr>
          <a:lstStyle/>
          <a:p>
            <a:pPr algn="l">
              <a:spcAft>
                <a:spcPts val="400"/>
              </a:spcAft>
            </a:pPr>
            <a:r>
              <a:rPr sz="1200" b="0" lang="en-GB">
                <a:solidFill>
                  <a:schemeClr val="tx1"/>
                </a:solidFill>
              </a:rPr>
              <a:t>Skiera et al.: ε = −2.34, unit cost $30 → p* = 30 × 2.34 / 1.34</a:t>
            </a:r>
          </a:p>
        </p:txBody>
      </p:sp>
      <p:sp>
        <p:nvSpPr>
          <p:cNvPr id="16" name="Brand box"/>
          <p:cNvSpPr/>
          <p:nvPr/>
        </p:nvSpPr>
        <p:spPr>
          <a:xfrm>
            <a:off x="4640580" y="1920240"/>
            <a:ext cx="4046220" cy="12344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Brand stat bar"/>
          <p:cNvSpPr/>
          <p:nvPr/>
        </p:nvSpPr>
        <p:spPr>
          <a:xfrm>
            <a:off x="4640580" y="1920240"/>
            <a:ext cx="64008" cy="1234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Brand stat figure"/>
          <p:cNvSpPr txBox="1"/>
          <p:nvPr/>
        </p:nvSpPr>
        <p:spPr>
          <a:xfrm>
            <a:off x="4823460" y="1920240"/>
            <a:ext cx="1234440" cy="12344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×1.38</a:t>
            </a:r>
          </a:p>
        </p:txBody>
      </p:sp>
      <p:sp>
        <p:nvSpPr>
          <p:cNvPr id="19" name="Brand stat label"/>
          <p:cNvSpPr txBox="1"/>
          <p:nvPr/>
        </p:nvSpPr>
        <p:spPr>
          <a:xfrm>
            <a:off x="6057900" y="1920240"/>
            <a:ext cx="2583180" cy="1234440"/>
          </a:xfrm>
          <a:prstGeom prst="rect">
            <a:avLst/>
          </a:prstGeom>
          <a:noFill/>
        </p:spPr>
        <p:txBody>
          <a:bodyPr wrap="square" lIns="0" rIns="0" tIns="0" bIns="0" anchor="ctr">
            <a:noAutofit/>
          </a:bodyPr>
          <a:lstStyle/>
          <a:p>
            <a:pPr algn="l">
              <a:spcAft>
                <a:spcPts val="400"/>
              </a:spcAft>
            </a:pPr>
            <a:r>
              <a:rPr sz="1200" b="0" lang="en-GB">
                <a:solidFill>
                  <a:schemeClr val="tx1"/>
                </a:solidFill>
              </a:rPr>
              <a:t>Brand 1: ε = −3.64 → price 38 % above marginal cost</a:t>
            </a:r>
          </a:p>
        </p:txBody>
      </p:sp>
      <p:sp>
        <p:nvSpPr>
          <p:cNvPr id="20" name="Price caveats row 1"/>
          <p:cNvSpPr/>
          <p:nvPr/>
        </p:nvSpPr>
        <p:spPr>
          <a:xfrm>
            <a:off x="457200" y="32918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Price caveats bar 1"/>
          <p:cNvSpPr/>
          <p:nvPr/>
        </p:nvSpPr>
        <p:spPr>
          <a:xfrm>
            <a:off x="457200" y="329184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rice caveats text 1"/>
          <p:cNvSpPr txBox="1"/>
          <p:nvPr/>
        </p:nvSpPr>
        <p:spPr>
          <a:xfrm>
            <a:off x="658368" y="3291840"/>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Short term: </a:t>
            </a:r>
            <a:r>
              <a:rPr sz="1200" b="0" lang="en-GB">
                <a:solidFill>
                  <a:schemeClr val="tx1"/>
                </a:solidFill>
              </a:rPr>
              <a:t>promotion weeks inflate the elasticity; regular-price elasticities are smaller</a:t>
            </a:r>
          </a:p>
        </p:txBody>
      </p:sp>
      <p:sp>
        <p:nvSpPr>
          <p:cNvPr id="23" name="Price caveats row 2"/>
          <p:cNvSpPr/>
          <p:nvPr/>
        </p:nvSpPr>
        <p:spPr>
          <a:xfrm>
            <a:off x="457200" y="381304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rice caveats bar 2"/>
          <p:cNvSpPr/>
          <p:nvPr/>
        </p:nvSpPr>
        <p:spPr>
          <a:xfrm>
            <a:off x="457200" y="3813048"/>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Price caveats text 2"/>
          <p:cNvSpPr txBox="1"/>
          <p:nvPr/>
        </p:nvSpPr>
        <p:spPr>
          <a:xfrm>
            <a:off x="658368" y="3813048"/>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Competitors react, </a:t>
            </a:r>
            <a:r>
              <a:rPr sz="1200" b="0" lang="en-GB">
                <a:solidFill>
                  <a:schemeClr val="tx1"/>
                </a:solidFill>
              </a:rPr>
              <a:t>and the retailer takes its margin</a:t>
            </a:r>
          </a:p>
        </p:txBody>
      </p:sp>
      <p:sp>
        <p:nvSpPr>
          <p:cNvPr id="26" name="Sources"/>
          <p:cNvSpPr txBox="1"/>
          <p:nvPr/>
        </p:nvSpPr>
        <p:spPr>
          <a:xfrm>
            <a:off x="457200" y="434340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Hanssens, Parsons &amp; Schultz 2001</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7 of 11 · what OLS assumes, how to look, how to test, what to do</a:t>
            </a:r>
          </a:p>
        </p:txBody>
      </p:sp>
      <p:sp>
        <p:nvSpPr>
          <p:cNvPr id="3" name="Title 2"/>
          <p:cNvSpPr>
            <a:spLocks noGrp="1"/>
          </p:cNvSpPr>
          <p:nvPr>
            <p:ph type="ctrTitle"/>
          </p:nvPr>
        </p:nvSpPr>
        <p:spPr/>
        <p:txBody>
          <a:bodyPr/>
          <a:lstStyle/>
          <a:p>
            <a:r>
              <a:rPr sz="1600" lang="en-GB"/>
              <a:t>Assumptions and tests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Assumption table"/>
          <p:cNvGraphicFramePr>
            <a:graphicFrameLocks noGrp="1"/>
          </p:cNvGraphicFramePr>
          <p:nvPr>
            <p:ph type="tbl" idx="1"/>
          </p:nvPr>
        </p:nvGraphicFramePr>
        <p:xfrm>
          <a:off x="457200" y="1234440"/>
          <a:ext cx="8229600" cy="2966720"/>
        </p:xfrm>
        <a:graphic>
          <a:graphicData uri="http://schemas.openxmlformats.org/drawingml/2006/table">
            <a:tbl>
              <a:tblPr firstRow="1" bandRow="1">
                <a:tableStyleId>{5C22544A-7EE6-4342-B048-85BDC9FD1C3A}</a:tableStyleId>
              </a:tblPr>
              <a:tblGrid>
                <a:gridCol w="2834640"/>
                <a:gridCol w="2377440"/>
                <a:gridCol w="3017520"/>
              </a:tblGrid>
              <a:tr h="370840">
                <a:tc>
                  <a:txBody>
                    <a:bodyPr/>
                    <a:lstStyle/>
                    <a:p>
                      <a:r>
                        <a:rPr sz="1300" lang="en-GB"/>
                        <a:t>Assumption</a:t>
                      </a:r>
                    </a:p>
                  </a:txBody>
                  <a:tcPr marT="36000" marB="36000"/>
                </a:tc>
                <a:tc>
                  <a:txBody>
                    <a:bodyPr/>
                    <a:lstStyle/>
                    <a:p>
                      <a:r>
                        <a:rPr sz="1300" lang="en-GB"/>
                        <a:t>If violated</a:t>
                      </a:r>
                    </a:p>
                  </a:txBody>
                  <a:tcPr marT="36000" marB="36000"/>
                </a:tc>
                <a:tc>
                  <a:txBody>
                    <a:bodyPr/>
                    <a:lstStyle/>
                    <a:p>
                      <a:r>
                        <a:rPr sz="1300" lang="en-GB"/>
                        <a:t>Look or test (statsmodels)</a:t>
                      </a:r>
                    </a:p>
                  </a:txBody>
                  <a:tcPr marT="36000" marB="36000"/>
                </a:tc>
              </a:tr>
              <a:tr h="370840">
                <a:tc>
                  <a:txBody>
                    <a:bodyPr/>
                    <a:lstStyle/>
                    <a:p>
                      <a:r>
                        <a:rPr sz="1150" b="1" lang="en-GB"/>
                        <a:t>1 Linear form</a:t>
                      </a:r>
                    </a:p>
                  </a:txBody>
                  <a:tcPr marT="36000" marB="36000"/>
                </a:tc>
                <a:tc>
                  <a:txBody>
                    <a:bodyPr/>
                    <a:lstStyle/>
                    <a:p>
                      <a:r>
                        <a:rPr sz="1150" lang="en-GB"/>
                        <a:t>biased coefficients</a:t>
                      </a:r>
                    </a:p>
                  </a:txBody>
                  <a:tcPr marT="36000" marB="36000"/>
                </a:tc>
                <a:tc>
                  <a:txBody>
                    <a:bodyPr/>
                    <a:lstStyle/>
                    <a:p>
                      <a:r>
                        <a:rPr sz="1150" lang="en-GB"/>
                        <a:t>residuals vs fitted; try logs</a:t>
                      </a:r>
                    </a:p>
                  </a:txBody>
                  <a:tcPr marT="36000" marB="36000"/>
                </a:tc>
              </a:tr>
              <a:tr h="370840">
                <a:tc>
                  <a:txBody>
                    <a:bodyPr/>
                    <a:lstStyle/>
                    <a:p>
                      <a:r>
                        <a:rPr sz="1150" b="1" lang="en-GB"/>
                        <a:t>2 Exogeneity, no omitted variables</a:t>
                      </a:r>
                    </a:p>
                  </a:txBody>
                  <a:tcPr marT="36000" marB="36000"/>
                </a:tc>
                <a:tc>
                  <a:txBody>
                    <a:bodyPr/>
                    <a:lstStyle/>
                    <a:p>
                      <a:r>
                        <a:rPr sz="1150" lang="en-GB"/>
                        <a:t>biased, not causal</a:t>
                      </a:r>
                    </a:p>
                  </a:txBody>
                  <a:tcPr marT="36000" marB="36000"/>
                </a:tc>
                <a:tc>
                  <a:txBody>
                    <a:bodyPr/>
                    <a:lstStyle/>
                    <a:p>
                      <a:r>
                        <a:rPr sz="1150" lang="en-GB"/>
                        <a:t>theory, controls, experiments</a:t>
                      </a:r>
                    </a:p>
                  </a:txBody>
                  <a:tcPr marT="36000" marB="36000"/>
                </a:tc>
              </a:tr>
              <a:tr h="370840">
                <a:tc>
                  <a:txBody>
                    <a:bodyPr/>
                    <a:lstStyle/>
                    <a:p>
                      <a:r>
                        <a:rPr sz="1150" b="1" lang="en-GB"/>
                        <a:t>3 Constant error variance</a:t>
                      </a:r>
                    </a:p>
                  </a:txBody>
                  <a:tcPr marT="36000" marB="36000"/>
                </a:tc>
                <a:tc>
                  <a:txBody>
                    <a:bodyPr/>
                    <a:lstStyle/>
                    <a:p>
                      <a:r>
                        <a:rPr sz="1150" lang="en-GB"/>
                        <a:t>wrong standard errors</a:t>
                      </a:r>
                    </a:p>
                  </a:txBody>
                  <a:tcPr marT="36000" marB="36000"/>
                </a:tc>
                <a:tc>
                  <a:txBody>
                    <a:bodyPr/>
                    <a:lstStyle/>
                    <a:p>
                      <a:r>
                        <a:rPr sz="1150" lang="en-GB"/>
                        <a:t>funnel in plot; Breusch-Pagan</a:t>
                      </a:r>
                    </a:p>
                  </a:txBody>
                  <a:tcPr marT="36000" marB="36000"/>
                </a:tc>
              </a:tr>
              <a:tr h="370840">
                <a:tc>
                  <a:txBody>
                    <a:bodyPr/>
                    <a:lstStyle/>
                    <a:p>
                      <a:r>
                        <a:rPr sz="1150" b="1" lang="en-GB"/>
                        <a:t>4 No autocorrelation</a:t>
                      </a:r>
                    </a:p>
                  </a:txBody>
                  <a:tcPr marT="36000" marB="36000"/>
                </a:tc>
                <a:tc>
                  <a:txBody>
                    <a:bodyPr/>
                    <a:lstStyle/>
                    <a:p>
                      <a:r>
                        <a:rPr sz="1150" lang="en-GB"/>
                        <a:t>standard errors too small</a:t>
                      </a:r>
                    </a:p>
                  </a:txBody>
                  <a:tcPr marT="36000" marB="36000"/>
                </a:tc>
                <a:tc>
                  <a:txBody>
                    <a:bodyPr/>
                    <a:lstStyle/>
                    <a:p>
                      <a:r>
                        <a:rPr sz="1150" lang="en-GB"/>
                        <a:t>residuals over time; Durbin-Watson ≈ 2</a:t>
                      </a:r>
                    </a:p>
                  </a:txBody>
                  <a:tcPr marT="36000" marB="36000"/>
                </a:tc>
              </a:tr>
              <a:tr h="370840">
                <a:tc>
                  <a:txBody>
                    <a:bodyPr/>
                    <a:lstStyle/>
                    <a:p>
                      <a:r>
                        <a:rPr sz="1150" b="1" lang="en-GB"/>
                        <a:t>5 Normal residuals</a:t>
                      </a:r>
                    </a:p>
                  </a:txBody>
                  <a:tcPr marT="36000" marB="36000"/>
                </a:tc>
                <a:tc>
                  <a:txBody>
                    <a:bodyPr/>
                    <a:lstStyle/>
                    <a:p>
                      <a:r>
                        <a:rPr sz="1150" lang="en-GB"/>
                        <a:t>tests unreliable in small samples</a:t>
                      </a:r>
                    </a:p>
                  </a:txBody>
                  <a:tcPr marT="36000" marB="36000"/>
                </a:tc>
                <a:tc>
                  <a:txBody>
                    <a:bodyPr/>
                    <a:lstStyle/>
                    <a:p>
                      <a:r>
                        <a:rPr sz="1150" lang="en-GB"/>
                        <a:t>histogram; Jarque-Bera</a:t>
                      </a:r>
                    </a:p>
                  </a:txBody>
                  <a:tcPr marT="36000" marB="36000"/>
                </a:tc>
              </a:tr>
              <a:tr h="370840">
                <a:tc>
                  <a:txBody>
                    <a:bodyPr/>
                    <a:lstStyle/>
                    <a:p>
                      <a:r>
                        <a:rPr sz="1150" b="1" lang="en-GB"/>
                        <a:t>6 No multicollinearity</a:t>
                      </a:r>
                    </a:p>
                  </a:txBody>
                  <a:tcPr marT="36000" marB="36000"/>
                </a:tc>
                <a:tc>
                  <a:txBody>
                    <a:bodyPr/>
                    <a:lstStyle/>
                    <a:p>
                      <a:r>
                        <a:rPr sz="1150" lang="en-GB"/>
                        <a:t>unstable b, large se</a:t>
                      </a:r>
                    </a:p>
                  </a:txBody>
                  <a:tcPr marT="36000" marB="36000"/>
                </a:tc>
                <a:tc>
                  <a:txBody>
                    <a:bodyPr/>
                    <a:lstStyle/>
                    <a:p>
                      <a:r>
                        <a:rPr sz="1150" lang="en-GB"/>
                        <a:t>correlations; VIF below 10 (better 5)</a:t>
                      </a:r>
                    </a:p>
                  </a:txBody>
                  <a:tcPr marT="36000" marB="36000"/>
                </a:tc>
              </a:tr>
              <a:tr h="370840">
                <a:tc>
                  <a:txBody>
                    <a:bodyPr/>
                    <a:lstStyle/>
                    <a:p>
                      <a:r>
                        <a:rPr sz="1150" b="1" lang="en-GB"/>
                        <a:t>7 Enough data, no dominant week</a:t>
                      </a:r>
                    </a:p>
                  </a:txBody>
                  <a:tcPr marT="36000" marB="36000"/>
                </a:tc>
                <a:tc>
                  <a:txBody>
                    <a:bodyPr/>
                    <a:lstStyle/>
                    <a:p>
                      <a:r>
                        <a:rPr sz="1150" lang="en-GB"/>
                        <a:t>fragile results</a:t>
                      </a:r>
                    </a:p>
                  </a:txBody>
                  <a:tcPr marT="36000" marB="36000"/>
                </a:tc>
                <a:tc>
                  <a:txBody>
                    <a:bodyPr/>
                    <a:lstStyle/>
                    <a:p>
                      <a:r>
                        <a:rPr sz="1150" lang="en-GB"/>
                        <a:t>n ≥ 3 to 5 × coefficients; Cook's distance</a:t>
                      </a:r>
                    </a:p>
                  </a:txBody>
                  <a:tcPr marT="36000" marB="36000"/>
                </a:tc>
              </a:tr>
            </a:tbl>
          </a:graphicData>
        </a:graphic>
      </p:graphicFrame>
      <p:sp>
        <p:nvSpPr>
          <p:cNvPr id="3" name="Title 2"/>
          <p:cNvSpPr>
            <a:spLocks noGrp="1"/>
          </p:cNvSpPr>
          <p:nvPr>
            <p:ph type="title"/>
          </p:nvPr>
        </p:nvSpPr>
        <p:spPr/>
        <p:txBody>
          <a:bodyPr/>
          <a:lstStyle/>
          <a:p>
            <a:r>
              <a:rPr sz="1600" lang="en-GB"/>
              <a:t>Seven assumptions behind OLS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ources"/>
          <p:cNvSpPr txBox="1"/>
          <p:nvPr/>
        </p:nvSpPr>
        <p:spPr>
          <a:xfrm>
            <a:off x="457200" y="475488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Hair et al. 2019; Wooldridge 2025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Look first: two residual plots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g_resid_fitted.png" descr="Residuals against fitted values: a cloud around zero between -0.5 and 0.5, most fitted values near 4.5, a few near 6, no curve or funnel"/>
          <p:cNvPicPr>
            <a:picLocks noChangeAspect="1"/>
          </p:cNvPicPr>
          <p:nvPr/>
        </p:nvPicPr>
        <p:blipFill>
          <a:blip r:embed="rId3"/>
          <a:stretch>
            <a:fillRect/>
          </a:stretch>
        </p:blipFill>
        <p:spPr>
          <a:xfrm>
            <a:off x="457200" y="1234440"/>
            <a:ext cx="3977640" cy="2779776"/>
          </a:xfrm>
          <a:prstGeom prst="rect">
            <a:avLst/>
          </a:prstGeom>
        </p:spPr>
      </p:pic>
      <p:pic>
        <p:nvPicPr>
          <p:cNvPr id="11" name="Chart reg_resid_hist.png" descr="Histogram of the residuals: roughly bell-shaped around zero, a few residuals around 0.4 to 0.6"/>
          <p:cNvPicPr>
            <a:picLocks noChangeAspect="1"/>
          </p:cNvPicPr>
          <p:nvPr/>
        </p:nvPicPr>
        <p:blipFill>
          <a:blip r:embed="rId4"/>
          <a:stretch>
            <a:fillRect/>
          </a:stretch>
        </p:blipFill>
        <p:spPr>
          <a:xfrm>
            <a:off x="4709160" y="1234440"/>
            <a:ext cx="3977640" cy="2779776"/>
          </a:xfrm>
          <a:prstGeom prst="rect">
            <a:avLst/>
          </a:prstGeom>
        </p:spPr>
      </p:pic>
      <p:sp>
        <p:nvSpPr>
          <p:cNvPr id="12" name="Look left"/>
          <p:cNvSpPr txBox="1"/>
          <p:nvPr/>
        </p:nvSpPr>
        <p:spPr>
          <a:xfrm>
            <a:off x="457200" y="4041648"/>
            <a:ext cx="397764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Look for: </a:t>
            </a:r>
            <a:r>
              <a:rPr sz="1200" b="0" lang="en-GB">
                <a:solidFill>
                  <a:schemeClr val="tx1"/>
                </a:solidFill>
              </a:rPr>
              <a:t>a curve (wrong form) or a funnel (unequal variance)</a:t>
            </a:r>
          </a:p>
        </p:txBody>
      </p:sp>
      <p:sp>
        <p:nvSpPr>
          <p:cNvPr id="13" name="Look right"/>
          <p:cNvSpPr txBox="1"/>
          <p:nvPr/>
        </p:nvSpPr>
        <p:spPr>
          <a:xfrm>
            <a:off x="4709160" y="4041648"/>
            <a:ext cx="397764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Look for: </a:t>
            </a:r>
            <a:r>
              <a:rPr sz="1200" b="0" lang="en-GB">
                <a:solidFill>
                  <a:schemeClr val="tx1"/>
                </a:solidFill>
              </a:rPr>
              <a:t>a rough bell shape, no extreme weeks</a:t>
            </a:r>
          </a:p>
        </p:txBody>
      </p:sp>
      <p:sp>
        <p:nvSpPr>
          <p:cNvPr id="14" name="Look verdict box"/>
          <p:cNvSpPr/>
          <p:nvPr/>
        </p:nvSpPr>
        <p:spPr>
          <a:xfrm>
            <a:off x="457200" y="452628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Icon Look verdict" descr=""/>
          <p:cNvPicPr>
            <a:picLocks noChangeAspect="1"/>
          </p:cNvPicPr>
          <p:nvPr/>
        </p:nvPicPr>
        <p:blipFill>
          <a:blip r:embed="rId5"/>
          <a:stretch>
            <a:fillRect/>
          </a:stretch>
        </p:blipFill>
        <p:spPr>
          <a:xfrm>
            <a:off x="658368" y="4572000"/>
            <a:ext cx="365760" cy="365760"/>
          </a:xfrm>
          <a:prstGeom prst="rect">
            <a:avLst/>
          </a:prstGeom>
        </p:spPr>
      </p:pic>
      <p:sp>
        <p:nvSpPr>
          <p:cNvPr id="16" name="Look verdict text"/>
          <p:cNvSpPr txBox="1"/>
          <p:nvPr/>
        </p:nvSpPr>
        <p:spPr>
          <a:xfrm>
            <a:off x="1207008" y="4526280"/>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Brand 1: </a:t>
            </a:r>
            <a:r>
              <a:rPr sz="1200" b="0" lang="en-GB">
                <a:solidFill>
                  <a:schemeClr val="tx1"/>
                </a:solidFill>
              </a:rPr>
              <a:t>no curve, no funnel, a roughly bell-shaped histogram.</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Then test: four numbers for the brand 1 model</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est box 1"/>
          <p:cNvSpPr/>
          <p:nvPr/>
        </p:nvSpPr>
        <p:spPr>
          <a:xfrm>
            <a:off x="457200" y="1234440"/>
            <a:ext cx="40462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st stat 1 bar"/>
          <p:cNvSpPr/>
          <p:nvPr/>
        </p:nvSpPr>
        <p:spPr>
          <a:xfrm>
            <a:off x="457200" y="123444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st stat 1 figure"/>
          <p:cNvSpPr txBox="1"/>
          <p:nvPr/>
        </p:nvSpPr>
        <p:spPr>
          <a:xfrm>
            <a:off x="640080" y="1234440"/>
            <a:ext cx="109728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1.41</a:t>
            </a:r>
          </a:p>
        </p:txBody>
      </p:sp>
      <p:sp>
        <p:nvSpPr>
          <p:cNvPr id="13" name="Test stat 1 label"/>
          <p:cNvSpPr txBox="1"/>
          <p:nvPr/>
        </p:nvSpPr>
        <p:spPr>
          <a:xfrm>
            <a:off x="1737360" y="1234440"/>
            <a:ext cx="2720340" cy="914400"/>
          </a:xfrm>
          <a:prstGeom prst="rect">
            <a:avLst/>
          </a:prstGeom>
          <a:noFill/>
        </p:spPr>
        <p:txBody>
          <a:bodyPr wrap="square" lIns="0" rIns="0" tIns="0" bIns="0" anchor="ctr">
            <a:noAutofit/>
          </a:bodyPr>
          <a:lstStyle/>
          <a:p>
            <a:pPr algn="l">
              <a:spcAft>
                <a:spcPts val="400"/>
              </a:spcAft>
            </a:pPr>
            <a:r>
              <a:rPr sz="1200" b="0" lang="en-GB">
                <a:solidFill>
                  <a:schemeClr val="tx1"/>
                </a:solidFill>
              </a:rPr>
              <a:t>Durbin-Watson: below 2, some autocorrelation between weeks</a:t>
            </a:r>
          </a:p>
        </p:txBody>
      </p:sp>
      <p:sp>
        <p:nvSpPr>
          <p:cNvPr id="14" name="Test box 2"/>
          <p:cNvSpPr/>
          <p:nvPr/>
        </p:nvSpPr>
        <p:spPr>
          <a:xfrm>
            <a:off x="4640580" y="1234440"/>
            <a:ext cx="40462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st stat 2 bar"/>
          <p:cNvSpPr/>
          <p:nvPr/>
        </p:nvSpPr>
        <p:spPr>
          <a:xfrm>
            <a:off x="4640580" y="123444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st stat 2 figure"/>
          <p:cNvSpPr txBox="1"/>
          <p:nvPr/>
        </p:nvSpPr>
        <p:spPr>
          <a:xfrm>
            <a:off x="4823460" y="1234440"/>
            <a:ext cx="109728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0.14</a:t>
            </a:r>
          </a:p>
        </p:txBody>
      </p:sp>
      <p:sp>
        <p:nvSpPr>
          <p:cNvPr id="17" name="Test stat 2 label"/>
          <p:cNvSpPr txBox="1"/>
          <p:nvPr/>
        </p:nvSpPr>
        <p:spPr>
          <a:xfrm>
            <a:off x="5920740" y="1234440"/>
            <a:ext cx="2720340" cy="914400"/>
          </a:xfrm>
          <a:prstGeom prst="rect">
            <a:avLst/>
          </a:prstGeom>
          <a:noFill/>
        </p:spPr>
        <p:txBody>
          <a:bodyPr wrap="square" lIns="0" rIns="0" tIns="0" bIns="0" anchor="ctr">
            <a:noAutofit/>
          </a:bodyPr>
          <a:lstStyle/>
          <a:p>
            <a:pPr algn="l">
              <a:spcAft>
                <a:spcPts val="400"/>
              </a:spcAft>
            </a:pPr>
            <a:r>
              <a:rPr sz="1200" b="0" lang="en-GB">
                <a:solidFill>
                  <a:schemeClr val="tx1"/>
                </a:solidFill>
              </a:rPr>
              <a:t>Breusch-Pagan p: no evidence of unequal variance</a:t>
            </a:r>
          </a:p>
        </p:txBody>
      </p:sp>
      <p:sp>
        <p:nvSpPr>
          <p:cNvPr id="18" name="Test box 3"/>
          <p:cNvSpPr/>
          <p:nvPr/>
        </p:nvSpPr>
        <p:spPr>
          <a:xfrm>
            <a:off x="457200" y="2286000"/>
            <a:ext cx="40462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st stat 3 bar"/>
          <p:cNvSpPr/>
          <p:nvPr/>
        </p:nvSpPr>
        <p:spPr>
          <a:xfrm>
            <a:off x="457200" y="228600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st stat 3 figure"/>
          <p:cNvSpPr txBox="1"/>
          <p:nvPr/>
        </p:nvSpPr>
        <p:spPr>
          <a:xfrm>
            <a:off x="640080" y="2286000"/>
            <a:ext cx="109728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0.07</a:t>
            </a:r>
          </a:p>
        </p:txBody>
      </p:sp>
      <p:sp>
        <p:nvSpPr>
          <p:cNvPr id="21" name="Test stat 3 label"/>
          <p:cNvSpPr txBox="1"/>
          <p:nvPr/>
        </p:nvSpPr>
        <p:spPr>
          <a:xfrm>
            <a:off x="1737360" y="2286000"/>
            <a:ext cx="2720340" cy="914400"/>
          </a:xfrm>
          <a:prstGeom prst="rect">
            <a:avLst/>
          </a:prstGeom>
          <a:noFill/>
        </p:spPr>
        <p:txBody>
          <a:bodyPr wrap="square" lIns="0" rIns="0" tIns="0" bIns="0" anchor="ctr">
            <a:noAutofit/>
          </a:bodyPr>
          <a:lstStyle/>
          <a:p>
            <a:pPr algn="l">
              <a:spcAft>
                <a:spcPts val="400"/>
              </a:spcAft>
            </a:pPr>
            <a:r>
              <a:rPr sz="1200" b="0" lang="en-GB">
                <a:solidFill>
                  <a:schemeClr val="tx1"/>
                </a:solidFill>
              </a:rPr>
              <a:t>Jarque-Bera p: residuals roughly normal</a:t>
            </a:r>
          </a:p>
        </p:txBody>
      </p:sp>
      <p:sp>
        <p:nvSpPr>
          <p:cNvPr id="22" name="Test box 4"/>
          <p:cNvSpPr/>
          <p:nvPr/>
        </p:nvSpPr>
        <p:spPr>
          <a:xfrm>
            <a:off x="4640580" y="2286000"/>
            <a:ext cx="40462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st stat 4 bar"/>
          <p:cNvSpPr/>
          <p:nvPr/>
        </p:nvSpPr>
        <p:spPr>
          <a:xfrm>
            <a:off x="4640580" y="228600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st stat 4 figure"/>
          <p:cNvSpPr txBox="1"/>
          <p:nvPr/>
        </p:nvSpPr>
        <p:spPr>
          <a:xfrm>
            <a:off x="4823460" y="2286000"/>
            <a:ext cx="109728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2.4</a:t>
            </a:r>
          </a:p>
        </p:txBody>
      </p:sp>
      <p:sp>
        <p:nvSpPr>
          <p:cNvPr id="25" name="Test stat 4 label"/>
          <p:cNvSpPr txBox="1"/>
          <p:nvPr/>
        </p:nvSpPr>
        <p:spPr>
          <a:xfrm>
            <a:off x="5920740" y="2286000"/>
            <a:ext cx="2720340" cy="914400"/>
          </a:xfrm>
          <a:prstGeom prst="rect">
            <a:avLst/>
          </a:prstGeom>
          <a:noFill/>
        </p:spPr>
        <p:txBody>
          <a:bodyPr wrap="square" lIns="0" rIns="0" tIns="0" bIns="0" anchor="ctr">
            <a:noAutofit/>
          </a:bodyPr>
          <a:lstStyle/>
          <a:p>
            <a:pPr algn="l">
              <a:spcAft>
                <a:spcPts val="400"/>
              </a:spcAft>
            </a:pPr>
            <a:r>
              <a:rPr sz="1200" b="0" lang="en-GB">
                <a:solidFill>
                  <a:schemeClr val="tx1"/>
                </a:solidFill>
              </a:rPr>
              <a:t>largest VIF: no multicollinearity</a:t>
            </a:r>
          </a:p>
        </p:txBody>
      </p:sp>
      <p:pic>
        <p:nvPicPr>
          <p:cNvPr id="26" name="Chart reg_resid_time.png" descr="Bar chart of residuals by week: runs of positive and negative residuals, e.g. positive from week 35 to 50"/>
          <p:cNvPicPr>
            <a:picLocks noChangeAspect="1"/>
          </p:cNvPicPr>
          <p:nvPr/>
        </p:nvPicPr>
        <p:blipFill>
          <a:blip r:embed="rId3"/>
          <a:stretch>
            <a:fillRect/>
          </a:stretch>
        </p:blipFill>
        <p:spPr>
          <a:xfrm>
            <a:off x="457200" y="3291840"/>
            <a:ext cx="2377440" cy="1463040"/>
          </a:xfrm>
          <a:prstGeom prst="rect">
            <a:avLst/>
          </a:prstGeom>
        </p:spPr>
      </p:pic>
      <p:sp>
        <p:nvSpPr>
          <p:cNvPr id="27" name="Test verdict box"/>
          <p:cNvSpPr/>
          <p:nvPr/>
        </p:nvSpPr>
        <p:spPr>
          <a:xfrm>
            <a:off x="2971800" y="3291840"/>
            <a:ext cx="5715000" cy="14630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Icon Test verdict" descr=""/>
          <p:cNvPicPr>
            <a:picLocks noChangeAspect="1"/>
          </p:cNvPicPr>
          <p:nvPr/>
        </p:nvPicPr>
        <p:blipFill>
          <a:blip r:embed="rId4"/>
          <a:stretch>
            <a:fillRect/>
          </a:stretch>
        </p:blipFill>
        <p:spPr>
          <a:xfrm>
            <a:off x="3172968" y="3840480"/>
            <a:ext cx="365760" cy="365760"/>
          </a:xfrm>
          <a:prstGeom prst="rect">
            <a:avLst/>
          </a:prstGeom>
        </p:spPr>
      </p:pic>
      <p:sp>
        <p:nvSpPr>
          <p:cNvPr id="29" name="Test verdict text"/>
          <p:cNvSpPr txBox="1"/>
          <p:nvPr/>
        </p:nvSpPr>
        <p:spPr>
          <a:xfrm>
            <a:off x="3721608" y="3291840"/>
            <a:ext cx="4800600" cy="1463040"/>
          </a:xfrm>
          <a:prstGeom prst="rect">
            <a:avLst/>
          </a:prstGeom>
          <a:noFill/>
        </p:spPr>
        <p:txBody>
          <a:bodyPr wrap="square" lIns="0" rIns="0" tIns="0" bIns="0" anchor="ctr">
            <a:noAutofit/>
          </a:bodyPr>
          <a:lstStyle/>
          <a:p>
            <a:pPr algn="l">
              <a:spcAft>
                <a:spcPts val="400"/>
              </a:spcAft>
            </a:pPr>
            <a:r>
              <a:rPr sz="1200" b="1" lang="en-GB">
                <a:solidFill>
                  <a:schemeClr val="bg1"/>
                </a:solidFill>
              </a:rPr>
              <a:t>Verdict: </a:t>
            </a:r>
            <a:r>
              <a:rPr sz="1200" b="0" lang="en-GB">
                <a:solidFill>
                  <a:schemeClr val="bg1"/>
                </a:solidFill>
              </a:rPr>
              <a:t>usable. Report Newey-West (HAC) standard errors because of the autocorrelation: 0.32 instead of 0.30 for own price.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Remedy table"/>
          <p:cNvGraphicFramePr>
            <a:graphicFrameLocks noGrp="1"/>
          </p:cNvGraphicFramePr>
          <p:nvPr>
            <p:ph type="tbl" idx="1"/>
          </p:nvPr>
        </p:nvGraphicFramePr>
        <p:xfrm>
          <a:off x="457200" y="1234440"/>
          <a:ext cx="8229600" cy="2595880"/>
        </p:xfrm>
        <a:graphic>
          <a:graphicData uri="http://schemas.openxmlformats.org/drawingml/2006/table">
            <a:tbl>
              <a:tblPr firstRow="1" bandRow="1">
                <a:tableStyleId>{5C22544A-7EE6-4342-B048-85BDC9FD1C3A}</a:tableStyleId>
              </a:tblPr>
              <a:tblGrid>
                <a:gridCol w="2011680"/>
                <a:gridCol w="3108960"/>
                <a:gridCol w="3108960"/>
              </a:tblGrid>
              <a:tr h="370840">
                <a:tc>
                  <a:txBody>
                    <a:bodyPr/>
                    <a:lstStyle/>
                    <a:p>
                      <a:r>
                        <a:rPr sz="1300" lang="en-GB"/>
                        <a:t>Problem</a:t>
                      </a:r>
                    </a:p>
                  </a:txBody>
                  <a:tcPr marT="40000" marB="40000"/>
                </a:tc>
                <a:tc>
                  <a:txBody>
                    <a:bodyPr/>
                    <a:lstStyle/>
                    <a:p>
                      <a:r>
                        <a:rPr sz="1300" lang="en-GB"/>
                        <a:t>Remedy</a:t>
                      </a:r>
                    </a:p>
                  </a:txBody>
                  <a:tcPr marT="40000" marB="40000"/>
                </a:tc>
                <a:tc>
                  <a:txBody>
                    <a:bodyPr/>
                    <a:lstStyle/>
                    <a:p>
                      <a:r>
                        <a:rPr sz="1300" lang="en-GB"/>
                        <a:t>In statsmodels</a:t>
                      </a:r>
                    </a:p>
                  </a:txBody>
                  <a:tcPr marT="40000" marB="40000"/>
                </a:tc>
              </a:tr>
              <a:tr h="370840">
                <a:tc>
                  <a:txBody>
                    <a:bodyPr/>
                    <a:lstStyle/>
                    <a:p>
                      <a:r>
                        <a:rPr sz="1150" b="1" lang="en-GB"/>
                        <a:t>Curve in residuals</a:t>
                      </a:r>
                    </a:p>
                  </a:txBody>
                  <a:tcPr marT="40000" marB="40000"/>
                </a:tc>
                <a:tc>
                  <a:txBody>
                    <a:bodyPr/>
                    <a:lstStyle/>
                    <a:p>
                      <a:r>
                        <a:rPr sz="1150" lang="en-GB"/>
                        <a:t>logs, squares, interactions</a:t>
                      </a:r>
                    </a:p>
                  </a:txBody>
                  <a:tcPr marT="40000" marB="40000"/>
                </a:tc>
                <a:tc>
                  <a:txBody>
                    <a:bodyPr/>
                    <a:lstStyle/>
                    <a:p>
                      <a:r>
                        <a:rPr sz="1150" lang="en-GB"/>
                        <a:t>np.log(x), I(x**2)</a:t>
                      </a:r>
                    </a:p>
                  </a:txBody>
                  <a:tcPr marT="40000" marB="40000"/>
                </a:tc>
              </a:tr>
              <a:tr h="370840">
                <a:tc>
                  <a:txBody>
                    <a:bodyPr/>
                    <a:lstStyle/>
                    <a:p>
                      <a:r>
                        <a:rPr sz="1150" b="1" lang="en-GB"/>
                        <a:t>Unequal variance</a:t>
                      </a:r>
                    </a:p>
                  </a:txBody>
                  <a:tcPr marT="40000" marB="40000"/>
                </a:tc>
                <a:tc>
                  <a:txBody>
                    <a:bodyPr/>
                    <a:lstStyle/>
                    <a:p>
                      <a:r>
                        <a:rPr sz="1150" lang="en-GB"/>
                        <a:t>robust standard errors</a:t>
                      </a:r>
                    </a:p>
                  </a:txBody>
                  <a:tcPr marT="40000" marB="40000"/>
                </a:tc>
                <a:tc>
                  <a:txBody>
                    <a:bodyPr/>
                    <a:lstStyle/>
                    <a:p>
                      <a:r>
                        <a:rPr sz="1150" lang="en-GB"/>
                        <a:t>fit(cov_type="HC3")</a:t>
                      </a:r>
                    </a:p>
                  </a:txBody>
                  <a:tcPr marT="40000" marB="40000"/>
                </a:tc>
              </a:tr>
              <a:tr h="370840">
                <a:tc>
                  <a:txBody>
                    <a:bodyPr/>
                    <a:lstStyle/>
                    <a:p>
                      <a:r>
                        <a:rPr sz="1150" b="1" lang="en-GB"/>
                        <a:t>Autocorrelation</a:t>
                      </a:r>
                    </a:p>
                  </a:txBody>
                  <a:tcPr marT="40000" marB="40000"/>
                </a:tc>
                <a:tc>
                  <a:txBody>
                    <a:bodyPr/>
                    <a:lstStyle/>
                    <a:p>
                      <a:r>
                        <a:rPr sz="1150" lang="en-GB"/>
                        <a:t>HAC standard errors; lags; ARIMA errors (Session 4)</a:t>
                      </a:r>
                    </a:p>
                  </a:txBody>
                  <a:tcPr marT="40000" marB="40000"/>
                </a:tc>
                <a:tc>
                  <a:txBody>
                    <a:bodyPr/>
                    <a:lstStyle/>
                    <a:p>
                      <a:r>
                        <a:rPr sz="1150" lang="en-GB"/>
                        <a:t>fit(cov_type="HAC", cov_kwds={"maxlags": 1})</a:t>
                      </a:r>
                    </a:p>
                  </a:txBody>
                  <a:tcPr marT="40000" marB="40000"/>
                </a:tc>
              </a:tr>
              <a:tr h="370840">
                <a:tc>
                  <a:txBody>
                    <a:bodyPr/>
                    <a:lstStyle/>
                    <a:p>
                      <a:r>
                        <a:rPr sz="1150" b="1" lang="en-GB"/>
                        <a:t>Multicollinearity</a:t>
                      </a:r>
                    </a:p>
                  </a:txBody>
                  <a:tcPr marT="40000" marB="40000"/>
                </a:tc>
                <a:tc>
                  <a:txBody>
                    <a:bodyPr/>
                    <a:lstStyle/>
                    <a:p>
                      <a:r>
                        <a:rPr sz="1150" lang="en-GB"/>
                        <a:t>more variation, combine variables, experiments</a:t>
                      </a:r>
                    </a:p>
                  </a:txBody>
                  <a:tcPr marT="40000" marB="40000"/>
                </a:tc>
                <a:tc>
                  <a:txBody>
                    <a:bodyPr/>
                    <a:lstStyle/>
                    <a:p>
                      <a:r>
                        <a:rPr sz="1150" lang="en-GB"/>
                        <a:t>variance_inflation_factor</a:t>
                      </a:r>
                    </a:p>
                  </a:txBody>
                  <a:tcPr marT="40000" marB="40000"/>
                </a:tc>
              </a:tr>
              <a:tr h="370840">
                <a:tc>
                  <a:txBody>
                    <a:bodyPr/>
                    <a:lstStyle/>
                    <a:p>
                      <a:r>
                        <a:rPr sz="1150" b="1" lang="en-GB"/>
                        <a:t>Dominant weeks</a:t>
                      </a:r>
                    </a:p>
                  </a:txBody>
                  <a:tcPr marT="40000" marB="40000"/>
                </a:tc>
                <a:tc>
                  <a:txBody>
                    <a:bodyPr/>
                    <a:lstStyle/>
                    <a:p>
                      <a:r>
                        <a:rPr sz="1150" lang="en-GB"/>
                        <a:t>check data, report with and without</a:t>
                      </a:r>
                    </a:p>
                  </a:txBody>
                  <a:tcPr marT="40000" marB="40000"/>
                </a:tc>
                <a:tc>
                  <a:txBody>
                    <a:bodyPr/>
                    <a:lstStyle/>
                    <a:p>
                      <a:r>
                        <a:rPr sz="1150" lang="en-GB"/>
                        <a:t>get_influence().cooks_distance</a:t>
                      </a:r>
                    </a:p>
                  </a:txBody>
                  <a:tcPr marT="40000" marB="40000"/>
                </a:tc>
              </a:tr>
              <a:tr h="370840">
                <a:tc>
                  <a:txBody>
                    <a:bodyPr/>
                    <a:lstStyle/>
                    <a:p>
                      <a:r>
                        <a:rPr sz="1150" b="1" lang="en-GB"/>
                        <a:t>Endogeneity</a:t>
                      </a:r>
                    </a:p>
                  </a:txBody>
                  <a:tcPr marT="40000" marB="40000"/>
                </a:tc>
                <a:tc>
                  <a:txBody>
                    <a:bodyPr/>
                    <a:lstStyle/>
                    <a:p>
                      <a:r>
                        <a:rPr sz="1150" lang="en-GB"/>
                        <a:t>experiments, instruments, fixed effects</a:t>
                      </a:r>
                    </a:p>
                  </a:txBody>
                  <a:tcPr marT="40000" marB="40000"/>
                </a:tc>
                <a:tc>
                  <a:txBody>
                    <a:bodyPr/>
                    <a:lstStyle/>
                    <a:p>
                      <a:r>
                        <a:rPr sz="1150" lang="en-GB"/>
                        <a:t>Sessions 2 to 5</a:t>
                      </a:r>
                    </a:p>
                  </a:txBody>
                  <a:tcPr marT="40000" marB="40000"/>
                </a:tc>
              </a:tr>
            </a:tbl>
          </a:graphicData>
        </a:graphic>
      </p:graphicFrame>
      <p:sp>
        <p:nvSpPr>
          <p:cNvPr id="3" name="Title 2"/>
          <p:cNvSpPr>
            <a:spLocks noGrp="1"/>
          </p:cNvSpPr>
          <p:nvPr>
            <p:ph type="title"/>
          </p:nvPr>
        </p:nvSpPr>
        <p:spPr/>
        <p:txBody>
          <a:bodyPr/>
          <a:lstStyle/>
          <a:p>
            <a:r>
              <a:rPr sz="1600" lang="en-GB"/>
              <a:t>When a test fails: what to do</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ources"/>
          <p:cNvSpPr txBox="1"/>
          <p:nvPr/>
        </p:nvSpPr>
        <p:spPr>
          <a:xfrm>
            <a:off x="457200" y="470916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statsmodels documentation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Three warnings from real data</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Warn 1 body"/>
          <p:cNvSpPr/>
          <p:nvPr/>
        </p:nvSpPr>
        <p:spPr>
          <a:xfrm>
            <a:off x="457200" y="1645920"/>
            <a:ext cx="2651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Warn 1 header"/>
          <p:cNvSpPr/>
          <p:nvPr/>
        </p:nvSpPr>
        <p:spPr>
          <a:xfrm>
            <a:off x="45720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Warn 1 heading"/>
          <p:cNvSpPr txBox="1"/>
          <p:nvPr/>
        </p:nvSpPr>
        <p:spPr>
          <a:xfrm>
            <a:off x="59436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Displays</a:t>
            </a:r>
          </a:p>
        </p:txBody>
      </p:sp>
      <p:pic>
        <p:nvPicPr>
          <p:cNvPr id="13" name="Icon Warn 1" descr=""/>
          <p:cNvPicPr>
            <a:picLocks noChangeAspect="1"/>
          </p:cNvPicPr>
          <p:nvPr/>
        </p:nvPicPr>
        <p:blipFill>
          <a:blip r:embed="rId3"/>
          <a:stretch>
            <a:fillRect/>
          </a:stretch>
        </p:blipFill>
        <p:spPr>
          <a:xfrm>
            <a:off x="2670048" y="1284732"/>
            <a:ext cx="310896" cy="310896"/>
          </a:xfrm>
          <a:prstGeom prst="rect">
            <a:avLst/>
          </a:prstGeom>
        </p:spPr>
      </p:pic>
      <p:sp>
        <p:nvSpPr>
          <p:cNvPr id="14" name="Warn 1 text"/>
          <p:cNvSpPr txBox="1"/>
          <p:nvPr/>
        </p:nvSpPr>
        <p:spPr>
          <a:xfrm>
            <a:off x="621792" y="1783080"/>
            <a:ext cx="235000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Only 4 display weeks</a:t>
            </a:r>
          </a:p>
          <a:p>
            <a:pPr algn="l" marL="182880" indent="-182880">
              <a:spcAft>
                <a:spcPts val="600"/>
              </a:spcAft>
              <a:buClr>
                <a:schemeClr val="accent1"/>
              </a:buClr>
              <a:buFont typeface="Arial"/>
              <a:buChar char="▪"/>
            </a:pPr>
            <a:r>
              <a:rPr sz="1300" b="0" lang="en-GB">
                <a:solidFill>
                  <a:schemeClr val="tx1"/>
                </a:solidFill>
              </a:rPr>
              <a:t>VIF 11.4 and 10.9</a:t>
            </a:r>
          </a:p>
          <a:p>
            <a:pPr algn="l" marL="182880" indent="-182880">
              <a:spcAft>
                <a:spcPts val="600"/>
              </a:spcAft>
              <a:buClr>
                <a:schemeClr val="accent1"/>
              </a:buClr>
              <a:buFont typeface="Arial"/>
              <a:buChar char="▪"/>
            </a:pPr>
            <a:r>
              <a:rPr sz="1300" b="0" lang="en-GB">
                <a:solidFill>
                  <a:schemeClr val="tx1"/>
                </a:solidFill>
              </a:rPr>
              <a:t>Effects cannot be separated</a:t>
            </a:r>
          </a:p>
        </p:txBody>
      </p:sp>
      <p:sp>
        <p:nvSpPr>
          <p:cNvPr id="15" name="Warn 2 body"/>
          <p:cNvSpPr/>
          <p:nvPr/>
        </p:nvSpPr>
        <p:spPr>
          <a:xfrm>
            <a:off x="3246120" y="1645920"/>
            <a:ext cx="2651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Warn 2 header"/>
          <p:cNvSpPr/>
          <p:nvPr/>
        </p:nvSpPr>
        <p:spPr>
          <a:xfrm>
            <a:off x="324612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Warn 2 heading"/>
          <p:cNvSpPr txBox="1"/>
          <p:nvPr/>
        </p:nvSpPr>
        <p:spPr>
          <a:xfrm>
            <a:off x="338328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One Easter week</a:t>
            </a:r>
          </a:p>
        </p:txBody>
      </p:sp>
      <p:pic>
        <p:nvPicPr>
          <p:cNvPr id="18" name="Icon Warn 2" descr=""/>
          <p:cNvPicPr>
            <a:picLocks noChangeAspect="1"/>
          </p:cNvPicPr>
          <p:nvPr/>
        </p:nvPicPr>
        <p:blipFill>
          <a:blip r:embed="rId4"/>
          <a:stretch>
            <a:fillRect/>
          </a:stretch>
        </p:blipFill>
        <p:spPr>
          <a:xfrm>
            <a:off x="5458968" y="1284732"/>
            <a:ext cx="310896" cy="310896"/>
          </a:xfrm>
          <a:prstGeom prst="rect">
            <a:avLst/>
          </a:prstGeom>
        </p:spPr>
      </p:pic>
      <p:sp>
        <p:nvSpPr>
          <p:cNvPr id="19" name="Warn 2 text"/>
          <p:cNvSpPr txBox="1"/>
          <p:nvPr/>
        </p:nvSpPr>
        <p:spPr>
          <a:xfrm>
            <a:off x="3410712" y="1783080"/>
            <a:ext cx="235000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A dummy for one week fits it exactly</a:t>
            </a:r>
          </a:p>
          <a:p>
            <a:pPr algn="l" marL="182880" indent="-182880">
              <a:spcAft>
                <a:spcPts val="600"/>
              </a:spcAft>
              <a:buClr>
                <a:schemeClr val="accent1"/>
              </a:buClr>
              <a:buFont typeface="Arial"/>
              <a:buChar char="▪"/>
            </a:pPr>
            <a:r>
              <a:rPr sz="1300" b="0" lang="en-GB">
                <a:solidFill>
                  <a:schemeClr val="tx1"/>
                </a:solidFill>
              </a:rPr>
              <a:t>Leverage 1.00</a:t>
            </a:r>
          </a:p>
          <a:p>
            <a:pPr algn="l" marL="182880" indent="-182880">
              <a:spcAft>
                <a:spcPts val="600"/>
              </a:spcAft>
              <a:buClr>
                <a:schemeClr val="accent1"/>
              </a:buClr>
              <a:buFont typeface="Arial"/>
              <a:buChar char="▪"/>
            </a:pPr>
            <a:r>
              <a:rPr sz="1300" b="0" lang="en-GB">
                <a:solidFill>
                  <a:schemeClr val="tx1"/>
                </a:solidFill>
              </a:rPr>
              <a:t>No real estimate of Easter</a:t>
            </a:r>
          </a:p>
        </p:txBody>
      </p:sp>
      <p:sp>
        <p:nvSpPr>
          <p:cNvPr id="20" name="Warn 3 body"/>
          <p:cNvSpPr/>
          <p:nvPr/>
        </p:nvSpPr>
        <p:spPr>
          <a:xfrm>
            <a:off x="6035040" y="1645920"/>
            <a:ext cx="2651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Warn 3 header"/>
          <p:cNvSpPr/>
          <p:nvPr/>
        </p:nvSpPr>
        <p:spPr>
          <a:xfrm>
            <a:off x="603504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Warn 3 heading"/>
          <p:cNvSpPr txBox="1"/>
          <p:nvPr/>
        </p:nvSpPr>
        <p:spPr>
          <a:xfrm>
            <a:off x="617220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Mailings</a:t>
            </a:r>
          </a:p>
        </p:txBody>
      </p:sp>
      <p:pic>
        <p:nvPicPr>
          <p:cNvPr id="23" name="Icon Warn 3" descr=""/>
          <p:cNvPicPr>
            <a:picLocks noChangeAspect="1"/>
          </p:cNvPicPr>
          <p:nvPr/>
        </p:nvPicPr>
        <p:blipFill>
          <a:blip r:embed="rId5"/>
          <a:stretch>
            <a:fillRect/>
          </a:stretch>
        </p:blipFill>
        <p:spPr>
          <a:xfrm>
            <a:off x="8247888" y="1284732"/>
            <a:ext cx="310896" cy="310896"/>
          </a:xfrm>
          <a:prstGeom prst="rect">
            <a:avLst/>
          </a:prstGeom>
        </p:spPr>
      </p:pic>
      <p:sp>
        <p:nvSpPr>
          <p:cNvPr id="24" name="Warn 3 text"/>
          <p:cNvSpPr txBox="1"/>
          <p:nvPr/>
        </p:nvSpPr>
        <p:spPr>
          <a:xfrm>
            <a:off x="6199632" y="1783080"/>
            <a:ext cx="235000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Skiera et al.: mailings and salespersons r = 0.989</a:t>
            </a:r>
          </a:p>
          <a:p>
            <a:pPr algn="l" marL="182880" indent="-182880">
              <a:spcAft>
                <a:spcPts val="600"/>
              </a:spcAft>
              <a:buClr>
                <a:schemeClr val="accent1"/>
              </a:buClr>
              <a:buFont typeface="Arial"/>
              <a:buChar char="▪"/>
            </a:pPr>
            <a:r>
              <a:rPr sz="1300" b="0" lang="en-GB">
                <a:solidFill>
                  <a:schemeClr val="tx1"/>
                </a:solidFill>
              </a:rPr>
              <a:t>VIF 53</a:t>
            </a:r>
          </a:p>
          <a:p>
            <a:pPr algn="l" marL="182880" indent="-182880">
              <a:spcAft>
                <a:spcPts val="600"/>
              </a:spcAft>
              <a:buClr>
                <a:schemeClr val="accent1"/>
              </a:buClr>
              <a:buFont typeface="Arial"/>
              <a:buChar char="▪"/>
            </a:pPr>
            <a:r>
              <a:rPr sz="1300" b="0" lang="en-GB">
                <a:solidFill>
                  <a:schemeClr val="tx1"/>
                </a:solidFill>
              </a:rPr>
              <a:t>Salesperson effect flips sign</a:t>
            </a:r>
          </a:p>
        </p:txBody>
      </p:sp>
      <p:sp>
        <p:nvSpPr>
          <p:cNvPr id="25" name="Warn fix box"/>
          <p:cNvSpPr/>
          <p:nvPr/>
        </p:nvSpPr>
        <p:spPr>
          <a:xfrm>
            <a:off x="457200" y="393192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Warn fix" descr=""/>
          <p:cNvPicPr>
            <a:picLocks noChangeAspect="1"/>
          </p:cNvPicPr>
          <p:nvPr/>
        </p:nvPicPr>
        <p:blipFill>
          <a:blip r:embed="rId6"/>
          <a:stretch>
            <a:fillRect/>
          </a:stretch>
        </p:blipFill>
        <p:spPr>
          <a:xfrm>
            <a:off x="658368" y="4114800"/>
            <a:ext cx="365760" cy="365760"/>
          </a:xfrm>
          <a:prstGeom prst="rect">
            <a:avLst/>
          </a:prstGeom>
        </p:spPr>
      </p:pic>
      <p:sp>
        <p:nvSpPr>
          <p:cNvPr id="27" name="Warn fix text"/>
          <p:cNvSpPr txBox="1"/>
          <p:nvPr/>
        </p:nvSpPr>
        <p:spPr>
          <a:xfrm>
            <a:off x="1207008" y="3931920"/>
            <a:ext cx="7315200" cy="731520"/>
          </a:xfrm>
          <a:prstGeom prst="rect">
            <a:avLst/>
          </a:prstGeom>
          <a:noFill/>
        </p:spPr>
        <p:txBody>
          <a:bodyPr wrap="square" lIns="0" rIns="0" tIns="0" bIns="0" anchor="ctr">
            <a:noAutofit/>
          </a:bodyPr>
          <a:lstStyle/>
          <a:p>
            <a:pPr algn="l">
              <a:spcAft>
                <a:spcPts val="400"/>
              </a:spcAft>
            </a:pPr>
            <a:r>
              <a:rPr sz="1300" b="1" lang="en-GB">
                <a:solidFill>
                  <a:schemeClr val="bg1"/>
                </a:solidFill>
              </a:rPr>
              <a:t>The real fix: </a:t>
            </a:r>
            <a:r>
              <a:rPr sz="1300" b="0" lang="en-GB">
                <a:solidFill>
                  <a:schemeClr val="bg1"/>
                </a:solidFill>
              </a:rPr>
              <a:t>vary the marketing instruments independently, ideally in a field experiment.</a:t>
            </a:r>
          </a:p>
        </p:txBody>
      </p:sp>
      <p:sp>
        <p:nvSpPr>
          <p:cNvPr id="28" name="Sources"/>
          <p:cNvSpPr txBox="1"/>
          <p:nvPr/>
        </p:nvSpPr>
        <p:spPr>
          <a:xfrm>
            <a:off x="457200" y="475488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own calculation on the chocolate data</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Endogeneity: when marketing follows demand</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Endo row 1"/>
          <p:cNvSpPr/>
          <p:nvPr/>
        </p:nvSpPr>
        <p:spPr>
          <a:xfrm>
            <a:off x="457200" y="123444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ndo bar 1"/>
          <p:cNvSpPr/>
          <p:nvPr/>
        </p:nvSpPr>
        <p:spPr>
          <a:xfrm>
            <a:off x="457200" y="1234440"/>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ndo text 1"/>
          <p:cNvSpPr txBox="1"/>
          <p:nvPr/>
        </p:nvSpPr>
        <p:spPr>
          <a:xfrm>
            <a:off x="658368" y="1234440"/>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The assumption: </a:t>
            </a:r>
            <a:r>
              <a:rPr sz="1200" b="0" lang="en-GB">
                <a:solidFill>
                  <a:schemeClr val="tx1"/>
                </a:solidFill>
              </a:rPr>
              <a:t>explanatory variables are unrelated to the error term</a:t>
            </a:r>
          </a:p>
        </p:txBody>
      </p:sp>
      <p:sp>
        <p:nvSpPr>
          <p:cNvPr id="13" name="Endo row 2"/>
          <p:cNvSpPr/>
          <p:nvPr/>
        </p:nvSpPr>
        <p:spPr>
          <a:xfrm>
            <a:off x="457200" y="1856232"/>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ndo bar 2"/>
          <p:cNvSpPr/>
          <p:nvPr/>
        </p:nvSpPr>
        <p:spPr>
          <a:xfrm>
            <a:off x="457200" y="1856232"/>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ndo text 2"/>
          <p:cNvSpPr txBox="1"/>
          <p:nvPr/>
        </p:nvSpPr>
        <p:spPr>
          <a:xfrm>
            <a:off x="658368" y="1856232"/>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Marketing breaks it: </a:t>
            </a:r>
            <a:r>
              <a:rPr sz="1200" b="0" lang="en-GB">
                <a:solidFill>
                  <a:schemeClr val="tx1"/>
                </a:solidFill>
              </a:rPr>
              <a:t>budgets go where managers expect success, so spend and unexplained sales rise together</a:t>
            </a:r>
          </a:p>
        </p:txBody>
      </p:sp>
      <p:sp>
        <p:nvSpPr>
          <p:cNvPr id="16" name="Endo row 3"/>
          <p:cNvSpPr/>
          <p:nvPr/>
        </p:nvSpPr>
        <p:spPr>
          <a:xfrm>
            <a:off x="457200" y="2478024"/>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Endo bar 3"/>
          <p:cNvSpPr/>
          <p:nvPr/>
        </p:nvSpPr>
        <p:spPr>
          <a:xfrm>
            <a:off x="457200" y="2478024"/>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Endo text 3"/>
          <p:cNvSpPr txBox="1"/>
          <p:nvPr/>
        </p:nvSpPr>
        <p:spPr>
          <a:xfrm>
            <a:off x="658368" y="2478024"/>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Brand 1: </a:t>
            </a:r>
            <a:r>
              <a:rPr sz="1200" b="0" lang="en-GB">
                <a:solidFill>
                  <a:schemeClr val="tx1"/>
                </a:solidFill>
              </a:rPr>
              <a:t>price cuts come with features, so the price effect partly measures the feature</a:t>
            </a:r>
          </a:p>
        </p:txBody>
      </p:sp>
      <p:sp>
        <p:nvSpPr>
          <p:cNvPr id="19" name="Endo row 4"/>
          <p:cNvSpPr/>
          <p:nvPr/>
        </p:nvSpPr>
        <p:spPr>
          <a:xfrm>
            <a:off x="457200" y="3099816"/>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Endo bar 4"/>
          <p:cNvSpPr/>
          <p:nvPr/>
        </p:nvSpPr>
        <p:spPr>
          <a:xfrm>
            <a:off x="457200" y="3099816"/>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Endo text 4"/>
          <p:cNvSpPr txBox="1"/>
          <p:nvPr/>
        </p:nvSpPr>
        <p:spPr>
          <a:xfrm>
            <a:off x="658368" y="3099816"/>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Evidence: </a:t>
            </a:r>
            <a:r>
              <a:rPr sz="1200" b="0" lang="en-GB">
                <a:solidFill>
                  <a:schemeClr val="tx1"/>
                </a:solidFill>
              </a:rPr>
              <a:t>in 15 Facebook experiments, regression often overstated the true lift, sometimes 3 times</a:t>
            </a:r>
          </a:p>
        </p:txBody>
      </p:sp>
      <p:sp>
        <p:nvSpPr>
          <p:cNvPr id="22" name="Endo fix box"/>
          <p:cNvSpPr/>
          <p:nvPr/>
        </p:nvSpPr>
        <p:spPr>
          <a:xfrm>
            <a:off x="457200" y="3886200"/>
            <a:ext cx="8229600" cy="777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Endo fix" descr=""/>
          <p:cNvPicPr>
            <a:picLocks noChangeAspect="1"/>
          </p:cNvPicPr>
          <p:nvPr/>
        </p:nvPicPr>
        <p:blipFill>
          <a:blip r:embed="rId3"/>
          <a:stretch>
            <a:fillRect/>
          </a:stretch>
        </p:blipFill>
        <p:spPr>
          <a:xfrm>
            <a:off x="658368" y="4091940"/>
            <a:ext cx="365760" cy="365760"/>
          </a:xfrm>
          <a:prstGeom prst="rect">
            <a:avLst/>
          </a:prstGeom>
        </p:spPr>
      </p:pic>
      <p:sp>
        <p:nvSpPr>
          <p:cNvPr id="24" name="Endo fix text"/>
          <p:cNvSpPr txBox="1"/>
          <p:nvPr/>
        </p:nvSpPr>
        <p:spPr>
          <a:xfrm>
            <a:off x="1207008" y="3886200"/>
            <a:ext cx="7315200" cy="777240"/>
          </a:xfrm>
          <a:prstGeom prst="rect">
            <a:avLst/>
          </a:prstGeom>
          <a:noFill/>
        </p:spPr>
        <p:txBody>
          <a:bodyPr wrap="square" lIns="0" rIns="0" tIns="0" bIns="0" anchor="ctr">
            <a:noAutofit/>
          </a:bodyPr>
          <a:lstStyle/>
          <a:p>
            <a:pPr algn="l">
              <a:spcAft>
                <a:spcPts val="400"/>
              </a:spcAft>
            </a:pPr>
            <a:r>
              <a:rPr sz="1300" b="1" lang="en-GB">
                <a:solidFill>
                  <a:schemeClr val="bg1"/>
                </a:solidFill>
              </a:rPr>
              <a:t>Remedies: </a:t>
            </a:r>
            <a:r>
              <a:rPr sz="1300" b="0" lang="en-GB">
                <a:solidFill>
                  <a:schemeClr val="bg1"/>
                </a:solidFill>
              </a:rPr>
              <a:t>experiments (A/B, geo tests), instrumental variables such as cost shifters, panel data with fixed effects.</a:t>
            </a:r>
          </a:p>
        </p:txBody>
      </p:sp>
      <p:sp>
        <p:nvSpPr>
          <p:cNvPr id="25" name="Sources"/>
          <p:cNvSpPr txBox="1"/>
          <p:nvPr/>
        </p:nvSpPr>
        <p:spPr>
          <a:xfrm>
            <a:off x="457200" y="475488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Gordon, Zettelmeyer, Bhargava &amp; Chapsky 2019</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8 of 11 · benchmarks, companies, what transfers to MMM</a:t>
            </a:r>
          </a:p>
        </p:txBody>
      </p:sp>
      <p:sp>
        <p:nvSpPr>
          <p:cNvPr id="3" name="Title 2"/>
          <p:cNvSpPr>
            <a:spLocks noGrp="1"/>
          </p:cNvSpPr>
          <p:nvPr>
            <p:ph type="ctrTitle"/>
          </p:nvPr>
        </p:nvSpPr>
        <p:spPr/>
        <p:txBody>
          <a:bodyPr/>
          <a:lstStyle/>
          <a:p>
            <a:r>
              <a:rPr sz="1600" lang="en-GB"/>
              <a:t>Regression in the real world</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Benchmarks from decades of regressions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Bench row 1"/>
          <p:cNvSpPr/>
          <p:nvPr/>
        </p:nvSpPr>
        <p:spPr>
          <a:xfrm>
            <a:off x="457200" y="1234440"/>
            <a:ext cx="822960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Bench stat 1 bar"/>
          <p:cNvSpPr/>
          <p:nvPr/>
        </p:nvSpPr>
        <p:spPr>
          <a:xfrm>
            <a:off x="457200" y="1234440"/>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Bench stat 1 figure"/>
          <p:cNvSpPr txBox="1"/>
          <p:nvPr/>
        </p:nvSpPr>
        <p:spPr>
          <a:xfrm>
            <a:off x="640080" y="1234440"/>
            <a:ext cx="1463040" cy="713232"/>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−2.62</a:t>
            </a:r>
          </a:p>
        </p:txBody>
      </p:sp>
      <p:sp>
        <p:nvSpPr>
          <p:cNvPr id="13" name="Bench stat 1 label"/>
          <p:cNvSpPr txBox="1"/>
          <p:nvPr/>
        </p:nvSpPr>
        <p:spPr>
          <a:xfrm>
            <a:off x="2103120" y="1234440"/>
            <a:ext cx="6537960" cy="713232"/>
          </a:xfrm>
          <a:prstGeom prst="rect">
            <a:avLst/>
          </a:prstGeom>
          <a:noFill/>
        </p:spPr>
        <p:txBody>
          <a:bodyPr wrap="square" lIns="0" rIns="0" tIns="0" bIns="0" anchor="ctr">
            <a:noAutofit/>
          </a:bodyPr>
          <a:lstStyle/>
          <a:p>
            <a:pPr algn="l">
              <a:spcAft>
                <a:spcPts val="400"/>
              </a:spcAft>
            </a:pPr>
            <a:r>
              <a:rPr sz="1200" b="0" lang="en-GB">
                <a:solidFill>
                  <a:schemeClr val="tx1"/>
                </a:solidFill>
              </a:rPr>
              <a:t>mean price elasticity, 1,851 estimates (Bijmolt et al. 2005)</a:t>
            </a:r>
          </a:p>
        </p:txBody>
      </p:sp>
      <p:sp>
        <p:nvSpPr>
          <p:cNvPr id="14" name="Bench row 2"/>
          <p:cNvSpPr/>
          <p:nvPr/>
        </p:nvSpPr>
        <p:spPr>
          <a:xfrm>
            <a:off x="457200" y="2011680"/>
            <a:ext cx="822960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Bench stat 2 bar"/>
          <p:cNvSpPr/>
          <p:nvPr/>
        </p:nvSpPr>
        <p:spPr>
          <a:xfrm>
            <a:off x="457200" y="2011680"/>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Bench stat 2 figure"/>
          <p:cNvSpPr txBox="1"/>
          <p:nvPr/>
        </p:nvSpPr>
        <p:spPr>
          <a:xfrm>
            <a:off x="640080" y="2011680"/>
            <a:ext cx="1463040" cy="713232"/>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0.12</a:t>
            </a:r>
          </a:p>
        </p:txBody>
      </p:sp>
      <p:sp>
        <p:nvSpPr>
          <p:cNvPr id="17" name="Bench stat 2 label"/>
          <p:cNvSpPr txBox="1"/>
          <p:nvPr/>
        </p:nvSpPr>
        <p:spPr>
          <a:xfrm>
            <a:off x="2103120" y="2011680"/>
            <a:ext cx="6537960" cy="713232"/>
          </a:xfrm>
          <a:prstGeom prst="rect">
            <a:avLst/>
          </a:prstGeom>
          <a:noFill/>
        </p:spPr>
        <p:txBody>
          <a:bodyPr wrap="square" lIns="0" rIns="0" tIns="0" bIns="0" anchor="ctr">
            <a:noAutofit/>
          </a:bodyPr>
          <a:lstStyle/>
          <a:p>
            <a:pPr algn="l">
              <a:spcAft>
                <a:spcPts val="400"/>
              </a:spcAft>
            </a:pPr>
            <a:r>
              <a:rPr sz="1200" b="0" lang="en-GB">
                <a:solidFill>
                  <a:schemeClr val="tx1"/>
                </a:solidFill>
              </a:rPr>
              <a:t>mean short-term advertising elasticity (Sethuraman et al. 2011)</a:t>
            </a:r>
          </a:p>
        </p:txBody>
      </p:sp>
      <p:sp>
        <p:nvSpPr>
          <p:cNvPr id="18" name="Bench row 3"/>
          <p:cNvSpPr/>
          <p:nvPr/>
        </p:nvSpPr>
        <p:spPr>
          <a:xfrm>
            <a:off x="457200" y="2788920"/>
            <a:ext cx="822960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Bench stat 3 bar"/>
          <p:cNvSpPr/>
          <p:nvPr/>
        </p:nvSpPr>
        <p:spPr>
          <a:xfrm>
            <a:off x="457200" y="2788920"/>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Bench stat 3 figure"/>
          <p:cNvSpPr txBox="1"/>
          <p:nvPr/>
        </p:nvSpPr>
        <p:spPr>
          <a:xfrm>
            <a:off x="640080" y="2788920"/>
            <a:ext cx="1463040" cy="713232"/>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−0.42</a:t>
            </a:r>
          </a:p>
        </p:txBody>
      </p:sp>
      <p:sp>
        <p:nvSpPr>
          <p:cNvPr id="21" name="Bench stat 3 label"/>
          <p:cNvSpPr txBox="1"/>
          <p:nvPr/>
        </p:nvSpPr>
        <p:spPr>
          <a:xfrm>
            <a:off x="2103120" y="2788920"/>
            <a:ext cx="6537960" cy="713232"/>
          </a:xfrm>
          <a:prstGeom prst="rect">
            <a:avLst/>
          </a:prstGeom>
          <a:noFill/>
        </p:spPr>
        <p:txBody>
          <a:bodyPr wrap="square" lIns="0" rIns="0" tIns="0" bIns="0" anchor="ctr">
            <a:noAutofit/>
          </a:bodyPr>
          <a:lstStyle/>
          <a:p>
            <a:pPr algn="l">
              <a:spcAft>
                <a:spcPts val="400"/>
              </a:spcAft>
            </a:pPr>
            <a:r>
              <a:rPr sz="1200" b="0" lang="en-GB">
                <a:solidFill>
                  <a:schemeClr val="tx1"/>
                </a:solidFill>
              </a:rPr>
              <a:t>mean price elasticity in 14 Asia-Pacific countries, lower with high power distance (Datta et al. 2022)</a:t>
            </a:r>
          </a:p>
        </p:txBody>
      </p:sp>
      <p:sp>
        <p:nvSpPr>
          <p:cNvPr id="22" name="Bench row 4"/>
          <p:cNvSpPr/>
          <p:nvPr/>
        </p:nvSpPr>
        <p:spPr>
          <a:xfrm>
            <a:off x="457200" y="3566160"/>
            <a:ext cx="822960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Bench stat 4 bar"/>
          <p:cNvSpPr/>
          <p:nvPr/>
        </p:nvSpPr>
        <p:spPr>
          <a:xfrm>
            <a:off x="457200" y="3566160"/>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Bench stat 4 figure"/>
          <p:cNvSpPr txBox="1"/>
          <p:nvPr/>
        </p:nvSpPr>
        <p:spPr>
          <a:xfrm>
            <a:off x="640080" y="3566160"/>
            <a:ext cx="1463040" cy="713232"/>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−3.64</a:t>
            </a:r>
          </a:p>
        </p:txBody>
      </p:sp>
      <p:sp>
        <p:nvSpPr>
          <p:cNvPr id="25" name="Bench stat 4 label"/>
          <p:cNvSpPr txBox="1"/>
          <p:nvPr/>
        </p:nvSpPr>
        <p:spPr>
          <a:xfrm>
            <a:off x="2103120" y="3566160"/>
            <a:ext cx="6537960" cy="713232"/>
          </a:xfrm>
          <a:prstGeom prst="rect">
            <a:avLst/>
          </a:prstGeom>
          <a:noFill/>
        </p:spPr>
        <p:txBody>
          <a:bodyPr wrap="square" lIns="0" rIns="0" tIns="0" bIns="0" anchor="ctr">
            <a:noAutofit/>
          </a:bodyPr>
          <a:lstStyle/>
          <a:p>
            <a:pPr algn="l">
              <a:spcAft>
                <a:spcPts val="400"/>
              </a:spcAft>
            </a:pPr>
            <a:r>
              <a:rPr sz="1200" b="0" lang="en-GB">
                <a:solidFill>
                  <a:schemeClr val="tx1"/>
                </a:solidFill>
              </a:rPr>
              <a:t>brand 1, chocolate: promotion-driven, many substitutes</a:t>
            </a:r>
          </a:p>
        </p:txBody>
      </p:sp>
      <p:sp>
        <p:nvSpPr>
          <p:cNvPr id="26" name="Bench use box"/>
          <p:cNvSpPr/>
          <p:nvPr/>
        </p:nvSpPr>
        <p:spPr>
          <a:xfrm>
            <a:off x="457200" y="4407408"/>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Bench use" descr=""/>
          <p:cNvPicPr>
            <a:picLocks noChangeAspect="1"/>
          </p:cNvPicPr>
          <p:nvPr/>
        </p:nvPicPr>
        <p:blipFill>
          <a:blip r:embed="rId3"/>
          <a:stretch>
            <a:fillRect/>
          </a:stretch>
        </p:blipFill>
        <p:spPr>
          <a:xfrm>
            <a:off x="658368" y="4430268"/>
            <a:ext cx="365760" cy="365760"/>
          </a:xfrm>
          <a:prstGeom prst="rect">
            <a:avLst/>
          </a:prstGeom>
        </p:spPr>
      </p:pic>
      <p:sp>
        <p:nvSpPr>
          <p:cNvPr id="28" name="Bench use text"/>
          <p:cNvSpPr txBox="1"/>
          <p:nvPr/>
        </p:nvSpPr>
        <p:spPr>
          <a:xfrm>
            <a:off x="1207008" y="4407408"/>
            <a:ext cx="7315200"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Use benchmarks </a:t>
            </a:r>
            <a:r>
              <a:rPr sz="1200" b="0" lang="en-GB">
                <a:solidFill>
                  <a:schemeClr val="bg1"/>
                </a:solidFill>
              </a:rPr>
              <a:t>to judge whether your own estimate is plausible.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Where companies use regression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Use 1 tile"/>
          <p:cNvSpPr/>
          <p:nvPr/>
        </p:nvSpPr>
        <p:spPr>
          <a:xfrm>
            <a:off x="457200" y="1234440"/>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Use 1" descr=""/>
          <p:cNvPicPr>
            <a:picLocks noChangeAspect="1"/>
          </p:cNvPicPr>
          <p:nvPr/>
        </p:nvPicPr>
        <p:blipFill>
          <a:blip r:embed="rId3"/>
          <a:stretch>
            <a:fillRect/>
          </a:stretch>
        </p:blipFill>
        <p:spPr>
          <a:xfrm>
            <a:off x="594360" y="1371600"/>
            <a:ext cx="365760" cy="365760"/>
          </a:xfrm>
          <a:prstGeom prst="rect">
            <a:avLst/>
          </a:prstGeom>
        </p:spPr>
      </p:pic>
      <p:sp>
        <p:nvSpPr>
          <p:cNvPr id="12" name="Use 1 heading"/>
          <p:cNvSpPr txBox="1"/>
          <p:nvPr/>
        </p:nvSpPr>
        <p:spPr>
          <a:xfrm>
            <a:off x="105156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Meta Robyn</a:t>
            </a:r>
          </a:p>
        </p:txBody>
      </p:sp>
      <p:sp>
        <p:nvSpPr>
          <p:cNvPr id="13" name="Use 1 text"/>
          <p:cNvSpPr txBox="1"/>
          <p:nvPr/>
        </p:nvSpPr>
        <p:spPr>
          <a:xfrm>
            <a:off x="594360" y="1856232"/>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MMM in production:</a:t>
            </a:r>
          </a:p>
          <a:p>
            <a:pPr algn="l">
              <a:spcAft>
                <a:spcPts val="400"/>
              </a:spcAft>
            </a:pPr>
            <a:r>
              <a:rPr sz="1200" b="0" lang="en-GB">
                <a:solidFill>
                  <a:schemeClr val="tx1"/>
                </a:solidFill>
              </a:rPr>
              <a:t>ridge regression on media</a:t>
            </a:r>
          </a:p>
        </p:txBody>
      </p:sp>
      <p:sp>
        <p:nvSpPr>
          <p:cNvPr id="14" name="Use 2 tile"/>
          <p:cNvSpPr/>
          <p:nvPr/>
        </p:nvSpPr>
        <p:spPr>
          <a:xfrm>
            <a:off x="3246120" y="1234440"/>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Icon Use 2" descr=""/>
          <p:cNvPicPr>
            <a:picLocks noChangeAspect="1"/>
          </p:cNvPicPr>
          <p:nvPr/>
        </p:nvPicPr>
        <p:blipFill>
          <a:blip r:embed="rId4"/>
          <a:stretch>
            <a:fillRect/>
          </a:stretch>
        </p:blipFill>
        <p:spPr>
          <a:xfrm>
            <a:off x="3383280" y="1371600"/>
            <a:ext cx="365760" cy="365760"/>
          </a:xfrm>
          <a:prstGeom prst="rect">
            <a:avLst/>
          </a:prstGeom>
        </p:spPr>
      </p:pic>
      <p:sp>
        <p:nvSpPr>
          <p:cNvPr id="16" name="Use 2 heading"/>
          <p:cNvSpPr txBox="1"/>
          <p:nvPr/>
        </p:nvSpPr>
        <p:spPr>
          <a:xfrm>
            <a:off x="384048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Booking.com</a:t>
            </a:r>
          </a:p>
        </p:txBody>
      </p:sp>
      <p:sp>
        <p:nvSpPr>
          <p:cNvPr id="17" name="Use 2 text"/>
          <p:cNvSpPr txBox="1"/>
          <p:nvPr/>
        </p:nvSpPr>
        <p:spPr>
          <a:xfrm>
            <a:off x="3383280" y="1856232"/>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With Microsoft: CUPED,</a:t>
            </a:r>
          </a:p>
          <a:p>
            <a:pPr algn="l">
              <a:spcAft>
                <a:spcPts val="400"/>
              </a:spcAft>
            </a:pPr>
            <a:r>
              <a:rPr sz="1200" b="0" lang="en-GB">
                <a:solidFill>
                  <a:schemeClr val="tx1"/>
                </a:solidFill>
              </a:rPr>
              <a:t>regression makes A/B tests faster</a:t>
            </a:r>
          </a:p>
        </p:txBody>
      </p:sp>
      <p:sp>
        <p:nvSpPr>
          <p:cNvPr id="18" name="Use 3 tile"/>
          <p:cNvSpPr/>
          <p:nvPr/>
        </p:nvSpPr>
        <p:spPr>
          <a:xfrm>
            <a:off x="6035040" y="1234440"/>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Icon Use 3" descr=""/>
          <p:cNvPicPr>
            <a:picLocks noChangeAspect="1"/>
          </p:cNvPicPr>
          <p:nvPr/>
        </p:nvPicPr>
        <p:blipFill>
          <a:blip r:embed="rId5"/>
          <a:stretch>
            <a:fillRect/>
          </a:stretch>
        </p:blipFill>
        <p:spPr>
          <a:xfrm>
            <a:off x="6172200" y="1371600"/>
            <a:ext cx="365760" cy="365760"/>
          </a:xfrm>
          <a:prstGeom prst="rect">
            <a:avLst/>
          </a:prstGeom>
        </p:spPr>
      </p:pic>
      <p:sp>
        <p:nvSpPr>
          <p:cNvPr id="20" name="Use 3 heading"/>
          <p:cNvSpPr txBox="1"/>
          <p:nvPr/>
        </p:nvSpPr>
        <p:spPr>
          <a:xfrm>
            <a:off x="662940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Google</a:t>
            </a:r>
          </a:p>
        </p:txBody>
      </p:sp>
      <p:sp>
        <p:nvSpPr>
          <p:cNvPr id="21" name="Use 3 text"/>
          <p:cNvSpPr txBox="1"/>
          <p:nvPr/>
        </p:nvSpPr>
        <p:spPr>
          <a:xfrm>
            <a:off x="6172200" y="1856232"/>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Geo experiments: test vs</a:t>
            </a:r>
          </a:p>
          <a:p>
            <a:pPr algn="l">
              <a:spcAft>
                <a:spcPts val="400"/>
              </a:spcAft>
            </a:pPr>
            <a:r>
              <a:rPr sz="1200" b="0" lang="en-GB">
                <a:solidFill>
                  <a:schemeClr val="tx1"/>
                </a:solidFill>
              </a:rPr>
              <a:t>control regions by regression</a:t>
            </a:r>
          </a:p>
        </p:txBody>
      </p:sp>
      <p:sp>
        <p:nvSpPr>
          <p:cNvPr id="22" name="Use 4 tile"/>
          <p:cNvSpPr/>
          <p:nvPr/>
        </p:nvSpPr>
        <p:spPr>
          <a:xfrm>
            <a:off x="457200" y="2807208"/>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Use 4" descr=""/>
          <p:cNvPicPr>
            <a:picLocks noChangeAspect="1"/>
          </p:cNvPicPr>
          <p:nvPr/>
        </p:nvPicPr>
        <p:blipFill>
          <a:blip r:embed="rId6"/>
          <a:stretch>
            <a:fillRect/>
          </a:stretch>
        </p:blipFill>
        <p:spPr>
          <a:xfrm>
            <a:off x="594360" y="2944368"/>
            <a:ext cx="365760" cy="365760"/>
          </a:xfrm>
          <a:prstGeom prst="rect">
            <a:avLst/>
          </a:prstGeom>
        </p:spPr>
      </p:pic>
      <p:sp>
        <p:nvSpPr>
          <p:cNvPr id="24" name="Use 4 heading"/>
          <p:cNvSpPr txBox="1"/>
          <p:nvPr/>
        </p:nvSpPr>
        <p:spPr>
          <a:xfrm>
            <a:off x="1051560" y="2944368"/>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Walmart (M5)</a:t>
            </a:r>
          </a:p>
        </p:txBody>
      </p:sp>
      <p:sp>
        <p:nvSpPr>
          <p:cNvPr id="25" name="Use 4 text"/>
          <p:cNvSpPr txBox="1"/>
          <p:nvPr/>
        </p:nvSpPr>
        <p:spPr>
          <a:xfrm>
            <a:off x="594360" y="3429000"/>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Sales forecasts need price,</a:t>
            </a:r>
          </a:p>
          <a:p>
            <a:pPr algn="l">
              <a:spcAft>
                <a:spcPts val="400"/>
              </a:spcAft>
            </a:pPr>
            <a:r>
              <a:rPr sz="1200" b="0" lang="en-GB">
                <a:solidFill>
                  <a:schemeClr val="tx1"/>
                </a:solidFill>
              </a:rPr>
              <a:t>promotion and event regressors</a:t>
            </a:r>
          </a:p>
        </p:txBody>
      </p:sp>
      <p:sp>
        <p:nvSpPr>
          <p:cNvPr id="26" name="Use 5 tile"/>
          <p:cNvSpPr/>
          <p:nvPr/>
        </p:nvSpPr>
        <p:spPr>
          <a:xfrm>
            <a:off x="3246120" y="2807208"/>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Use 5" descr=""/>
          <p:cNvPicPr>
            <a:picLocks noChangeAspect="1"/>
          </p:cNvPicPr>
          <p:nvPr/>
        </p:nvPicPr>
        <p:blipFill>
          <a:blip r:embed="rId7"/>
          <a:stretch>
            <a:fillRect/>
          </a:stretch>
        </p:blipFill>
        <p:spPr>
          <a:xfrm>
            <a:off x="3383280" y="2944368"/>
            <a:ext cx="365760" cy="365760"/>
          </a:xfrm>
          <a:prstGeom prst="rect">
            <a:avLst/>
          </a:prstGeom>
        </p:spPr>
      </p:pic>
      <p:sp>
        <p:nvSpPr>
          <p:cNvPr id="28" name="Use 5 heading"/>
          <p:cNvSpPr txBox="1"/>
          <p:nvPr/>
        </p:nvSpPr>
        <p:spPr>
          <a:xfrm>
            <a:off x="3840480" y="2944368"/>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statworx</a:t>
            </a:r>
          </a:p>
        </p:txBody>
      </p:sp>
      <p:sp>
        <p:nvSpPr>
          <p:cNvPr id="29" name="Use 5 text"/>
          <p:cNvSpPr txBox="1"/>
          <p:nvPr/>
        </p:nvSpPr>
        <p:spPr>
          <a:xfrm>
            <a:off x="3383280" y="3429000"/>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Frankfurt consultancy: price</a:t>
            </a:r>
          </a:p>
          <a:p>
            <a:pPr algn="l">
              <a:spcAft>
                <a:spcPts val="400"/>
              </a:spcAft>
            </a:pPr>
            <a:r>
              <a:rPr sz="1200" b="0" lang="en-GB">
                <a:solidFill>
                  <a:schemeClr val="tx1"/>
                </a:solidFill>
              </a:rPr>
              <a:t>elasticities, log-log</a:t>
            </a:r>
          </a:p>
        </p:txBody>
      </p:sp>
      <p:sp>
        <p:nvSpPr>
          <p:cNvPr id="30" name="Use 6 tile"/>
          <p:cNvSpPr/>
          <p:nvPr/>
        </p:nvSpPr>
        <p:spPr>
          <a:xfrm>
            <a:off x="6035040" y="2807208"/>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Icon Use 6" descr=""/>
          <p:cNvPicPr>
            <a:picLocks noChangeAspect="1"/>
          </p:cNvPicPr>
          <p:nvPr/>
        </p:nvPicPr>
        <p:blipFill>
          <a:blip r:embed="rId8"/>
          <a:stretch>
            <a:fillRect/>
          </a:stretch>
        </p:blipFill>
        <p:spPr>
          <a:xfrm>
            <a:off x="6172200" y="2944368"/>
            <a:ext cx="365760" cy="365760"/>
          </a:xfrm>
          <a:prstGeom prst="rect">
            <a:avLst/>
          </a:prstGeom>
        </p:spPr>
      </p:pic>
      <p:sp>
        <p:nvSpPr>
          <p:cNvPr id="32" name="Use 6 heading"/>
          <p:cNvSpPr txBox="1"/>
          <p:nvPr/>
        </p:nvSpPr>
        <p:spPr>
          <a:xfrm>
            <a:off x="6629400" y="2944368"/>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Bayer</a:t>
            </a:r>
          </a:p>
        </p:txBody>
      </p:sp>
      <p:sp>
        <p:nvSpPr>
          <p:cNvPr id="33" name="Use 6 text"/>
          <p:cNvSpPr txBox="1"/>
          <p:nvPr/>
        </p:nvSpPr>
        <p:spPr>
          <a:xfrm>
            <a:off x="6172200" y="3429000"/>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Budget across countries</a:t>
            </a:r>
          </a:p>
          <a:p>
            <a:pPr algn="l">
              <a:spcAft>
                <a:spcPts val="400"/>
              </a:spcAft>
            </a:pPr>
            <a:r>
              <a:rPr sz="1200" b="0" lang="en-GB">
                <a:solidFill>
                  <a:schemeClr val="tx1"/>
                </a:solidFill>
              </a:rPr>
              <a:t>from estimated elasticities</a:t>
            </a:r>
          </a:p>
        </p:txBody>
      </p:sp>
      <p:sp>
        <p:nvSpPr>
          <p:cNvPr id="34" name="Use next box"/>
          <p:cNvSpPr/>
          <p:nvPr/>
        </p:nvSpPr>
        <p:spPr>
          <a:xfrm>
            <a:off x="457200" y="4407408"/>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Use next" descr=""/>
          <p:cNvPicPr>
            <a:picLocks noChangeAspect="1"/>
          </p:cNvPicPr>
          <p:nvPr/>
        </p:nvPicPr>
        <p:blipFill>
          <a:blip r:embed="rId9"/>
          <a:stretch>
            <a:fillRect/>
          </a:stretch>
        </p:blipFill>
        <p:spPr>
          <a:xfrm>
            <a:off x="658368" y="4416552"/>
            <a:ext cx="365760" cy="365760"/>
          </a:xfrm>
          <a:prstGeom prst="rect">
            <a:avLst/>
          </a:prstGeom>
        </p:spPr>
      </p:pic>
      <p:sp>
        <p:nvSpPr>
          <p:cNvPr id="36" name="Use next text"/>
          <p:cNvSpPr txBox="1"/>
          <p:nvPr/>
        </p:nvSpPr>
        <p:spPr>
          <a:xfrm>
            <a:off x="1207008" y="4407408"/>
            <a:ext cx="7315200"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Session 2: </a:t>
            </a:r>
            <a:r>
              <a:rPr sz="1200" b="0" lang="en-GB">
                <a:solidFill>
                  <a:schemeClr val="tx1"/>
                </a:solidFill>
              </a:rPr>
              <a:t>the marketing mix model is this regression with adstock and saturation.</a:t>
            </a:r>
          </a:p>
        </p:txBody>
      </p:sp>
      <p:sp>
        <p:nvSpPr>
          <p:cNvPr id="37"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Robyn docs; Deng et al. 2013; Vaver &amp; Koehler 2011; Makridakis et al. 2022; Fischer et al. 2011</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9 of 11 · load and plot, the first regression, the log-log model, the checks</a:t>
            </a:r>
          </a:p>
        </p:txBody>
      </p:sp>
      <p:sp>
        <p:nvSpPr>
          <p:cNvPr id="3" name="Title 2"/>
          <p:cNvSpPr>
            <a:spLocks noGrp="1"/>
          </p:cNvSpPr>
          <p:nvPr>
            <p:ph type="ctrTitle"/>
          </p:nvPr>
        </p:nvSpPr>
        <p:spPr/>
        <p:txBody>
          <a:bodyPr/>
          <a:lstStyle/>
          <a:p>
            <a:r>
              <a:rPr sz="1600" lang="en-GB"/>
              <a:t>The chocolate data in Python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Data table"/>
          <p:cNvGraphicFramePr>
            <a:graphicFrameLocks noGrp="1"/>
          </p:cNvGraphicFramePr>
          <p:nvPr>
            <p:ph type="tbl" idx="1"/>
          </p:nvPr>
        </p:nvGraphicFramePr>
        <p:xfrm>
          <a:off x="457200" y="1234440"/>
          <a:ext cx="8229600" cy="3337560"/>
        </p:xfrm>
        <a:graphic>
          <a:graphicData uri="http://schemas.openxmlformats.org/drawingml/2006/table">
            <a:tbl>
              <a:tblPr firstRow="1" bandRow="1">
                <a:tableStyleId>{5C22544A-7EE6-4342-B048-85BDC9FD1C3A}</a:tableStyleId>
              </a:tblPr>
              <a:tblGrid>
                <a:gridCol w="2651760"/>
                <a:gridCol w="5577840"/>
              </a:tblGrid>
              <a:tr h="370840">
                <a:tc>
                  <a:txBody>
                    <a:bodyPr/>
                    <a:lstStyle/>
                    <a:p>
                      <a:r>
                        <a:rPr sz="1300" lang="en-GB"/>
                        <a:t>Column</a:t>
                      </a:r>
                    </a:p>
                  </a:txBody>
                  <a:tcPr marT="34000" marB="34000"/>
                </a:tc>
                <a:tc>
                  <a:txBody>
                    <a:bodyPr/>
                    <a:lstStyle/>
                    <a:p>
                      <a:r>
                        <a:rPr sz="1300" lang="en-GB"/>
                        <a:t>Meaning</a:t>
                      </a:r>
                    </a:p>
                  </a:txBody>
                  <a:tcPr marT="34000" marB="34000"/>
                </a:tc>
              </a:tr>
              <a:tr h="370840">
                <a:tc>
                  <a:txBody>
                    <a:bodyPr/>
                    <a:lstStyle/>
                    <a:p>
                      <a:r>
                        <a:rPr sz="1200" b="1" lang="en-GB"/>
                        <a:t>week</a:t>
                      </a:r>
                    </a:p>
                  </a:txBody>
                  <a:tcPr marT="34000" marB="34000"/>
                </a:tc>
                <a:tc>
                  <a:txBody>
                    <a:bodyPr/>
                    <a:lstStyle/>
                    <a:p>
                      <a:r>
                        <a:rPr sz="1200" lang="en-GB"/>
                        <a:t>1 to 68</a:t>
                      </a:r>
                    </a:p>
                  </a:txBody>
                  <a:tcPr marT="34000" marB="34000"/>
                </a:tc>
              </a:tr>
              <a:tr h="370840">
                <a:tc>
                  <a:txBody>
                    <a:bodyPr/>
                    <a:lstStyle/>
                    <a:p>
                      <a:r>
                        <a:rPr sz="1200" b="1" lang="en-GB"/>
                        <a:t>sales</a:t>
                      </a:r>
                    </a:p>
                  </a:txBody>
                  <a:tcPr marT="34000" marB="34000"/>
                </a:tc>
                <a:tc>
                  <a:txBody>
                    <a:bodyPr/>
                    <a:lstStyle/>
                    <a:p>
                      <a:r>
                        <a:rPr sz="1200" lang="en-GB"/>
                        <a:t>weekly unit sales of brand 1</a:t>
                      </a:r>
                    </a:p>
                  </a:txBody>
                  <a:tcPr marT="34000" marB="34000"/>
                </a:tc>
              </a:tr>
              <a:tr h="370840">
                <a:tc>
                  <a:txBody>
                    <a:bodyPr/>
                    <a:lstStyle/>
                    <a:p>
                      <a:r>
                        <a:rPr sz="1200" b="1" lang="en-GB"/>
                        <a:t>price1 to price4</a:t>
                      </a:r>
                    </a:p>
                  </a:txBody>
                  <a:tcPr marT="34000" marB="34000"/>
                </a:tc>
                <a:tc>
                  <a:txBody>
                    <a:bodyPr/>
                    <a:lstStyle/>
                    <a:p>
                      <a:r>
                        <a:rPr sz="1200" lang="en-GB"/>
                        <a:t>prices of brands 1 to 4</a:t>
                      </a:r>
                    </a:p>
                  </a:txBody>
                  <a:tcPr marT="34000" marB="34000"/>
                </a:tc>
              </a:tr>
              <a:tr h="370840">
                <a:tc>
                  <a:txBody>
                    <a:bodyPr/>
                    <a:lstStyle/>
                    <a:p>
                      <a:r>
                        <a:rPr sz="1200" b="1" lang="en-GB"/>
                        <a:t>feature1 to feature4</a:t>
                      </a:r>
                    </a:p>
                  </a:txBody>
                  <a:tcPr marT="34000" marB="34000"/>
                </a:tc>
                <a:tc>
                  <a:txBody>
                    <a:bodyPr/>
                    <a:lstStyle/>
                    <a:p>
                      <a:r>
                        <a:rPr sz="1200" lang="en-GB"/>
                        <a:t>share of stores with a feature ad, 0 to 1</a:t>
                      </a:r>
                    </a:p>
                  </a:txBody>
                  <a:tcPr marT="34000" marB="34000"/>
                </a:tc>
              </a:tr>
              <a:tr h="370840">
                <a:tc>
                  <a:txBody>
                    <a:bodyPr/>
                    <a:lstStyle/>
                    <a:p>
                      <a:r>
                        <a:rPr sz="1200" b="1" lang="en-GB"/>
                        <a:t>display1 to display4</a:t>
                      </a:r>
                    </a:p>
                  </a:txBody>
                  <a:tcPr marT="34000" marB="34000"/>
                </a:tc>
                <a:tc>
                  <a:txBody>
                    <a:bodyPr/>
                    <a:lstStyle/>
                    <a:p>
                      <a:r>
                        <a:rPr sz="1200" lang="en-GB"/>
                        <a:t>share of stores with an in-store display</a:t>
                      </a:r>
                    </a:p>
                  </a:txBody>
                  <a:tcPr marT="34000" marB="34000"/>
                </a:tc>
              </a:tr>
              <a:tr h="370840">
                <a:tc>
                  <a:txBody>
                    <a:bodyPr/>
                    <a:lstStyle/>
                    <a:p>
                      <a:r>
                        <a:rPr sz="1200" b="1" lang="en-GB"/>
                        <a:t>fand1, fand3, fand4</a:t>
                      </a:r>
                    </a:p>
                  </a:txBody>
                  <a:tcPr marT="34000" marB="34000"/>
                </a:tc>
                <a:tc>
                  <a:txBody>
                    <a:bodyPr/>
                    <a:lstStyle/>
                    <a:p>
                      <a:r>
                        <a:rPr sz="1200" lang="en-GB"/>
                        <a:t>share with feature and display together</a:t>
                      </a:r>
                    </a:p>
                  </a:txBody>
                  <a:tcPr marT="34000" marB="34000"/>
                </a:tc>
              </a:tr>
              <a:tr h="370840">
                <a:tc>
                  <a:txBody>
                    <a:bodyPr/>
                    <a:lstStyle/>
                    <a:p>
                      <a:r>
                        <a:rPr sz="1200" b="1" lang="en-GB"/>
                        <a:t>temp</a:t>
                      </a:r>
                    </a:p>
                  </a:txBody>
                  <a:tcPr marT="34000" marB="34000"/>
                </a:tc>
                <a:tc>
                  <a:txBody>
                    <a:bodyPr/>
                    <a:lstStyle/>
                    <a:p>
                      <a:r>
                        <a:rPr sz="1200" lang="en-GB"/>
                        <a:t>temperature, °C</a:t>
                      </a:r>
                    </a:p>
                  </a:txBody>
                  <a:tcPr marT="34000" marB="34000"/>
                </a:tc>
              </a:tr>
              <a:tr h="370840">
                <a:tc>
                  <a:txBody>
                    <a:bodyPr/>
                    <a:lstStyle/>
                    <a:p>
                      <a:r>
                        <a:rPr sz="1200" b="1" lang="en-GB"/>
                        <a:t>december, easter</a:t>
                      </a:r>
                    </a:p>
                  </a:txBody>
                  <a:tcPr marT="34000" marB="34000"/>
                </a:tc>
                <a:tc>
                  <a:txBody>
                    <a:bodyPr/>
                    <a:lstStyle/>
                    <a:p>
                      <a:r>
                        <a:rPr sz="1200" lang="en-GB"/>
                        <a:t>1 in December and Easter weeks</a:t>
                      </a:r>
                    </a:p>
                  </a:txBody>
                  <a:tcPr marT="34000" marB="34000"/>
                </a:tc>
              </a:tr>
            </a:tbl>
          </a:graphicData>
        </a:graphic>
      </p:graphicFrame>
      <p:sp>
        <p:nvSpPr>
          <p:cNvPr id="3" name="Title 2"/>
          <p:cNvSpPr>
            <a:spLocks noGrp="1"/>
          </p:cNvSpPr>
          <p:nvPr>
            <p:ph type="title"/>
          </p:nvPr>
        </p:nvSpPr>
        <p:spPr/>
        <p:txBody>
          <a:bodyPr/>
          <a:lstStyle/>
          <a:p>
            <a:r>
              <a:rPr sz="1600" lang="en-GB"/>
              <a:t>The data: 68 weeks of chocolate scanner data</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ata file"/>
          <p:cNvSpPr txBox="1"/>
          <p:nvPr/>
        </p:nvSpPr>
        <p:spPr>
          <a:xfrm>
            <a:off x="457200" y="457200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data/legacy/chocolate_dataset.csv</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1: load and look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oad code caption bar"/>
          <p:cNvSpPr/>
          <p:nvPr/>
        </p:nvSpPr>
        <p:spPr>
          <a:xfrm>
            <a:off x="457200" y="1234440"/>
            <a:ext cx="42062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oad code caption"/>
          <p:cNvSpPr txBox="1"/>
          <p:nvPr/>
        </p:nvSpPr>
        <p:spPr>
          <a:xfrm>
            <a:off x="566928" y="1234440"/>
            <a:ext cx="39867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polars and plotnine</a:t>
            </a:r>
          </a:p>
        </p:txBody>
      </p:sp>
      <p:sp>
        <p:nvSpPr>
          <p:cNvPr id="12" name="Load code box"/>
          <p:cNvSpPr/>
          <p:nvPr/>
        </p:nvSpPr>
        <p:spPr>
          <a:xfrm>
            <a:off x="457200" y="1508760"/>
            <a:ext cx="4206240" cy="2743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oad code code"/>
          <p:cNvSpPr txBox="1"/>
          <p:nvPr/>
        </p:nvSpPr>
        <p:spPr>
          <a:xfrm>
            <a:off x="594360" y="1600200"/>
            <a:ext cx="3931920" cy="256032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import polars as pl</a:t>
            </a:r>
          </a:p>
          <a:p>
            <a:pPr algn="l">
              <a:spcAft>
                <a:spcPts val="0"/>
              </a:spcAft>
            </a:pPr>
            <a:r>
              <a:rPr sz="1050" b="0" lang="en-GB">
                <a:solidFill>
                  <a:schemeClr val="bg1"/>
                </a:solidFill>
                <a:latin typeface="Consolas"/>
              </a:rPr>
              <a:t>from plotnine import (ggplot, aes, geom_point,</a:t>
            </a:r>
          </a:p>
          <a:p>
            <a:pPr algn="l">
              <a:spcAft>
                <a:spcPts val="0"/>
              </a:spcAft>
            </a:pPr>
            <a:r>
              <a:rPr sz="1050" b="0" lang="en-GB">
                <a:solidFill>
                  <a:schemeClr val="bg1"/>
                </a:solidFill>
                <a:latin typeface="Consolas"/>
              </a:rPr>
              <a:t>                      geom_smooth, labs)</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choc = pl.read_csv(</a:t>
            </a:r>
          </a:p>
          <a:p>
            <a:pPr algn="l">
              <a:spcAft>
                <a:spcPts val="0"/>
              </a:spcAft>
            </a:pPr>
            <a:r>
              <a:rPr sz="1050" b="0" lang="en-GB">
                <a:solidFill>
                  <a:schemeClr val="bg1"/>
                </a:solidFill>
                <a:latin typeface="Consolas"/>
              </a:rPr>
              <a:t>    "data/legacy/chocolate_dataset.csv")</a:t>
            </a:r>
          </a:p>
          <a:p>
            <a:pPr algn="l">
              <a:spcAft>
                <a:spcPts val="0"/>
              </a:spcAft>
            </a:pPr>
            <a:r>
              <a:rPr sz="1050" b="0" lang="en-GB">
                <a:solidFill>
                  <a:schemeClr val="bg1"/>
                </a:solidFill>
                <a:latin typeface="Consolas"/>
              </a:rPr>
              <a:t>cols = ["sales", "price1", "price2",</a:t>
            </a:r>
          </a:p>
          <a:p>
            <a:pPr algn="l">
              <a:spcAft>
                <a:spcPts val="0"/>
              </a:spcAft>
            </a:pPr>
            <a:r>
              <a:rPr sz="1050" b="0" lang="en-GB">
                <a:solidFill>
                  <a:schemeClr val="bg1"/>
                </a:solidFill>
                <a:latin typeface="Consolas"/>
              </a:rPr>
              <a:t>        "price3", "price4"]</a:t>
            </a:r>
          </a:p>
          <a:p>
            <a:pPr algn="l">
              <a:spcAft>
                <a:spcPts val="0"/>
              </a:spcAft>
            </a:pPr>
            <a:r>
              <a:rPr sz="1050" b="0" lang="en-GB">
                <a:solidFill>
                  <a:schemeClr val="bg1"/>
                </a:solidFill>
                <a:latin typeface="Consolas"/>
              </a:rPr>
              <a:t>choc.select(cols).describe()</a:t>
            </a:r>
          </a:p>
          <a:p>
            <a:pPr algn="l">
              <a:spcAft>
                <a:spcPts val="0"/>
              </a:spcAft>
            </a:pPr>
            <a:r>
              <a:rPr sz="1050" b="0" lang="en-GB">
                <a:solidFill>
                  <a:schemeClr val="bg1"/>
                </a:solidFill>
                <a:latin typeface="Consolas"/>
              </a:rPr>
              <a:t>choc.select(cols).corr()</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(ggplot(choc, aes("price1", "sales"))</a:t>
            </a:r>
          </a:p>
          <a:p>
            <a:pPr algn="l">
              <a:spcAft>
                <a:spcPts val="0"/>
              </a:spcAft>
            </a:pPr>
            <a:r>
              <a:rPr sz="1050" b="0" lang="en-GB">
                <a:solidFill>
                  <a:schemeClr val="bg1"/>
                </a:solidFill>
                <a:latin typeface="Consolas"/>
              </a:rPr>
              <a:t> + geom_point()</a:t>
            </a:r>
          </a:p>
          <a:p>
            <a:pPr algn="l">
              <a:spcAft>
                <a:spcPts val="0"/>
              </a:spcAft>
            </a:pPr>
            <a:r>
              <a:rPr sz="1050" b="0" lang="en-GB">
                <a:solidFill>
                  <a:schemeClr val="bg1"/>
                </a:solidFill>
                <a:latin typeface="Consolas"/>
              </a:rPr>
              <a:t> + geom_smooth(method="lm")</a:t>
            </a:r>
          </a:p>
          <a:p>
            <a:pPr algn="l">
              <a:spcAft>
                <a:spcPts val="0"/>
              </a:spcAft>
            </a:pPr>
            <a:r>
              <a:rPr sz="1050" b="0" lang="en-GB">
                <a:solidFill>
                  <a:schemeClr val="bg1"/>
                </a:solidFill>
                <a:latin typeface="Consolas"/>
              </a:rPr>
              <a:t> + labs(x="Price of brand 1",</a:t>
            </a:r>
          </a:p>
          <a:p>
            <a:pPr algn="l">
              <a:spcAft>
                <a:spcPts val="0"/>
              </a:spcAft>
            </a:pPr>
            <a:r>
              <a:rPr sz="1050" b="0" lang="en-GB">
                <a:solidFill>
                  <a:schemeClr val="bg1"/>
                </a:solidFill>
                <a:latin typeface="Consolas"/>
              </a:rPr>
              <a:t>        y="Weekly sales"))</a:t>
            </a:r>
          </a:p>
        </p:txBody>
      </p:sp>
      <p:pic>
        <p:nvPicPr>
          <p:cNvPr id="14" name="Chart reg_scatter.png" descr="The scatter plot of sales against price of brand 1 with the least-squares line"/>
          <p:cNvPicPr>
            <a:picLocks noChangeAspect="1"/>
          </p:cNvPicPr>
          <p:nvPr/>
        </p:nvPicPr>
        <p:blipFill>
          <a:blip r:embed="rId3"/>
          <a:stretch>
            <a:fillRect/>
          </a:stretch>
        </p:blipFill>
        <p:spPr>
          <a:xfrm>
            <a:off x="4800600" y="1234440"/>
            <a:ext cx="3886200" cy="2569464"/>
          </a:xfrm>
          <a:prstGeom prst="rect">
            <a:avLst/>
          </a:prstGeom>
        </p:spPr>
      </p:pic>
      <p:sp>
        <p:nvSpPr>
          <p:cNvPr id="15" name="Load look box"/>
          <p:cNvSpPr/>
          <p:nvPr/>
        </p:nvSpPr>
        <p:spPr>
          <a:xfrm>
            <a:off x="457200" y="438912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Icon Load look" descr=""/>
          <p:cNvPicPr>
            <a:picLocks noChangeAspect="1"/>
          </p:cNvPicPr>
          <p:nvPr/>
        </p:nvPicPr>
        <p:blipFill>
          <a:blip r:embed="rId4"/>
          <a:stretch>
            <a:fillRect/>
          </a:stretch>
        </p:blipFill>
        <p:spPr>
          <a:xfrm>
            <a:off x="658368" y="4457700"/>
            <a:ext cx="365760" cy="365760"/>
          </a:xfrm>
          <a:prstGeom prst="rect">
            <a:avLst/>
          </a:prstGeom>
        </p:spPr>
      </p:pic>
      <p:sp>
        <p:nvSpPr>
          <p:cNvPr id="17" name="Load look text"/>
          <p:cNvSpPr txBox="1"/>
          <p:nvPr/>
        </p:nvSpPr>
        <p:spPr>
          <a:xfrm>
            <a:off x="1207008" y="4389120"/>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Look before you model: </a:t>
            </a:r>
            <a:r>
              <a:rPr sz="1200" b="0" lang="en-GB">
                <a:solidFill>
                  <a:schemeClr val="tx1"/>
                </a:solidFill>
              </a:rPr>
              <a:t>ranges, outliers, the shape of the relationship.</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2: the first regression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imple code caption bar"/>
          <p:cNvSpPr/>
          <p:nvPr/>
        </p:nvSpPr>
        <p:spPr>
          <a:xfrm>
            <a:off x="457200" y="1234440"/>
            <a:ext cx="44805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imple code caption"/>
          <p:cNvSpPr txBox="1"/>
          <p:nvPr/>
        </p:nvSpPr>
        <p:spPr>
          <a:xfrm>
            <a:off x="566928" y="1234440"/>
            <a:ext cx="42611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statsmodels</a:t>
            </a:r>
          </a:p>
        </p:txBody>
      </p:sp>
      <p:sp>
        <p:nvSpPr>
          <p:cNvPr id="12" name="Simple code box"/>
          <p:cNvSpPr/>
          <p:nvPr/>
        </p:nvSpPr>
        <p:spPr>
          <a:xfrm>
            <a:off x="457200" y="1508760"/>
            <a:ext cx="4480560" cy="1920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imple code code"/>
          <p:cNvSpPr txBox="1"/>
          <p:nvPr/>
        </p:nvSpPr>
        <p:spPr>
          <a:xfrm>
            <a:off x="594360" y="1600200"/>
            <a:ext cx="4206240" cy="173736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import statsmodels.formula.api as smf</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df = choc.to_pandas()</a:t>
            </a:r>
          </a:p>
          <a:p>
            <a:pPr algn="l">
              <a:spcAft>
                <a:spcPts val="0"/>
              </a:spcAft>
            </a:pPr>
            <a:r>
              <a:rPr sz="1050" b="0" lang="en-GB">
                <a:solidFill>
                  <a:schemeClr val="bg1"/>
                </a:solidFill>
                <a:latin typeface="Consolas"/>
              </a:rPr>
              <a:t>simple = smf.ols("sales ~ price1",</a:t>
            </a:r>
          </a:p>
          <a:p>
            <a:pPr algn="l">
              <a:spcAft>
                <a:spcPts val="0"/>
              </a:spcAft>
            </a:pPr>
            <a:r>
              <a:rPr sz="1050" b="0" lang="en-GB">
                <a:solidFill>
                  <a:schemeClr val="bg1"/>
                </a:solidFill>
                <a:latin typeface="Consolas"/>
              </a:rPr>
              <a:t>                 data=df).fit()</a:t>
            </a:r>
          </a:p>
          <a:p>
            <a:pPr algn="l">
              <a:spcAft>
                <a:spcPts val="0"/>
              </a:spcAft>
            </a:pPr>
            <a:r>
              <a:rPr sz="1050" b="0" lang="en-GB">
                <a:solidFill>
                  <a:schemeClr val="bg1"/>
                </a:solidFill>
                <a:latin typeface="Consolas"/>
              </a:rPr>
              <a:t>print(simple.summary())</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simple.params      # b0, b1</a:t>
            </a:r>
          </a:p>
          <a:p>
            <a:pPr algn="l">
              <a:spcAft>
                <a:spcPts val="0"/>
              </a:spcAft>
            </a:pPr>
            <a:r>
              <a:rPr sz="1050" b="0" lang="en-GB">
                <a:solidFill>
                  <a:schemeClr val="bg1"/>
                </a:solidFill>
                <a:latin typeface="Consolas"/>
              </a:rPr>
              <a:t>simple.rsquared    # 0.884</a:t>
            </a:r>
          </a:p>
        </p:txBody>
      </p:sp>
      <p:sp>
        <p:nvSpPr>
          <p:cNvPr id="14" name="Simple out 1-1"/>
          <p:cNvSpPr/>
          <p:nvPr/>
        </p:nvSpPr>
        <p:spPr>
          <a:xfrm>
            <a:off x="5074920" y="1234440"/>
            <a:ext cx="9784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imple out text 1-1"/>
          <p:cNvSpPr txBox="1"/>
          <p:nvPr/>
        </p:nvSpPr>
        <p:spPr>
          <a:xfrm>
            <a:off x="5166360" y="1234440"/>
            <a:ext cx="795528" cy="384048"/>
          </a:xfrm>
          <a:prstGeom prst="rect">
            <a:avLst/>
          </a:prstGeom>
          <a:noFill/>
        </p:spPr>
        <p:txBody>
          <a:bodyPr wrap="square" lIns="0" rIns="0" tIns="0" bIns="0" anchor="ctr">
            <a:noAutofit/>
          </a:bodyPr>
          <a:lstStyle/>
          <a:p>
            <a:pPr algn="l">
              <a:spcAft>
                <a:spcPts val="400"/>
              </a:spcAft>
            </a:pPr>
            <a:r>
              <a:rPr sz="1200" b="1" lang="en-GB">
                <a:solidFill>
                  <a:schemeClr val="bg1"/>
                </a:solidFill>
              </a:rPr>
              <a:t/>
            </a:r>
          </a:p>
        </p:txBody>
      </p:sp>
      <p:sp>
        <p:nvSpPr>
          <p:cNvPr id="16" name="Simple out 1-2"/>
          <p:cNvSpPr/>
          <p:nvPr/>
        </p:nvSpPr>
        <p:spPr>
          <a:xfrm>
            <a:off x="6080760" y="1234440"/>
            <a:ext cx="84124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imple out text 1-2"/>
          <p:cNvSpPr txBox="1"/>
          <p:nvPr/>
        </p:nvSpPr>
        <p:spPr>
          <a:xfrm>
            <a:off x="6172200" y="1234440"/>
            <a:ext cx="658368" cy="384048"/>
          </a:xfrm>
          <a:prstGeom prst="rect">
            <a:avLst/>
          </a:prstGeom>
          <a:noFill/>
        </p:spPr>
        <p:txBody>
          <a:bodyPr wrap="square" lIns="0" rIns="0" tIns="0" bIns="0" anchor="ctr">
            <a:noAutofit/>
          </a:bodyPr>
          <a:lstStyle/>
          <a:p>
            <a:pPr algn="l">
              <a:spcAft>
                <a:spcPts val="400"/>
              </a:spcAft>
            </a:pPr>
            <a:r>
              <a:rPr sz="1200" b="1" lang="en-GB">
                <a:solidFill>
                  <a:schemeClr val="bg1"/>
                </a:solidFill>
              </a:rPr>
              <a:t>coef</a:t>
            </a:r>
          </a:p>
        </p:txBody>
      </p:sp>
      <p:sp>
        <p:nvSpPr>
          <p:cNvPr id="18" name="Simple out 1-3"/>
          <p:cNvSpPr/>
          <p:nvPr/>
        </p:nvSpPr>
        <p:spPr>
          <a:xfrm>
            <a:off x="6949440" y="1234440"/>
            <a:ext cx="84124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imple out text 1-3"/>
          <p:cNvSpPr txBox="1"/>
          <p:nvPr/>
        </p:nvSpPr>
        <p:spPr>
          <a:xfrm>
            <a:off x="7040880" y="1234440"/>
            <a:ext cx="658368" cy="384048"/>
          </a:xfrm>
          <a:prstGeom prst="rect">
            <a:avLst/>
          </a:prstGeom>
          <a:noFill/>
        </p:spPr>
        <p:txBody>
          <a:bodyPr wrap="square" lIns="0" rIns="0" tIns="0" bIns="0" anchor="ctr">
            <a:noAutofit/>
          </a:bodyPr>
          <a:lstStyle/>
          <a:p>
            <a:pPr algn="l">
              <a:spcAft>
                <a:spcPts val="400"/>
              </a:spcAft>
            </a:pPr>
            <a:r>
              <a:rPr sz="1200" b="1" lang="en-GB">
                <a:solidFill>
                  <a:schemeClr val="bg1"/>
                </a:solidFill>
              </a:rPr>
              <a:t>std err</a:t>
            </a:r>
          </a:p>
        </p:txBody>
      </p:sp>
      <p:sp>
        <p:nvSpPr>
          <p:cNvPr id="20" name="Simple out 1-4"/>
          <p:cNvSpPr/>
          <p:nvPr/>
        </p:nvSpPr>
        <p:spPr>
          <a:xfrm>
            <a:off x="7818120" y="1234440"/>
            <a:ext cx="79552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imple out text 1-4"/>
          <p:cNvSpPr txBox="1"/>
          <p:nvPr/>
        </p:nvSpPr>
        <p:spPr>
          <a:xfrm>
            <a:off x="7909560" y="1234440"/>
            <a:ext cx="612648" cy="384048"/>
          </a:xfrm>
          <a:prstGeom prst="rect">
            <a:avLst/>
          </a:prstGeom>
          <a:noFill/>
        </p:spPr>
        <p:txBody>
          <a:bodyPr wrap="square" lIns="0" rIns="0" tIns="0" bIns="0" anchor="ctr">
            <a:noAutofit/>
          </a:bodyPr>
          <a:lstStyle/>
          <a:p>
            <a:pPr algn="l">
              <a:spcAft>
                <a:spcPts val="400"/>
              </a:spcAft>
            </a:pPr>
            <a:r>
              <a:rPr sz="1200" b="1" lang="en-GB">
                <a:solidFill>
                  <a:schemeClr val="bg1"/>
                </a:solidFill>
              </a:rPr>
              <a:t>P&gt;|t|</a:t>
            </a:r>
          </a:p>
        </p:txBody>
      </p:sp>
      <p:sp>
        <p:nvSpPr>
          <p:cNvPr id="22" name="Simple out 2-1"/>
          <p:cNvSpPr/>
          <p:nvPr/>
        </p:nvSpPr>
        <p:spPr>
          <a:xfrm>
            <a:off x="5074920" y="1645920"/>
            <a:ext cx="9784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imple out text 2-1"/>
          <p:cNvSpPr txBox="1"/>
          <p:nvPr/>
        </p:nvSpPr>
        <p:spPr>
          <a:xfrm>
            <a:off x="5166360" y="1645920"/>
            <a:ext cx="79552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Intercept</a:t>
            </a:r>
          </a:p>
        </p:txBody>
      </p:sp>
      <p:sp>
        <p:nvSpPr>
          <p:cNvPr id="24" name="Simple out 2-2"/>
          <p:cNvSpPr/>
          <p:nvPr/>
        </p:nvSpPr>
        <p:spPr>
          <a:xfrm>
            <a:off x="6080760" y="1645920"/>
            <a:ext cx="8412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imple out text 2-2"/>
          <p:cNvSpPr txBox="1"/>
          <p:nvPr/>
        </p:nvSpPr>
        <p:spPr>
          <a:xfrm>
            <a:off x="6172200" y="1645920"/>
            <a:ext cx="65836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1,110.0</a:t>
            </a:r>
          </a:p>
        </p:txBody>
      </p:sp>
      <p:sp>
        <p:nvSpPr>
          <p:cNvPr id="26" name="Simple out 2-3"/>
          <p:cNvSpPr/>
          <p:nvPr/>
        </p:nvSpPr>
        <p:spPr>
          <a:xfrm>
            <a:off x="6949440" y="1645920"/>
            <a:ext cx="8412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imple out text 2-3"/>
          <p:cNvSpPr txBox="1"/>
          <p:nvPr/>
        </p:nvSpPr>
        <p:spPr>
          <a:xfrm>
            <a:off x="7040880" y="1645920"/>
            <a:ext cx="65836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44.0</a:t>
            </a:r>
          </a:p>
        </p:txBody>
      </p:sp>
      <p:sp>
        <p:nvSpPr>
          <p:cNvPr id="28" name="Simple out 2-4"/>
          <p:cNvSpPr/>
          <p:nvPr/>
        </p:nvSpPr>
        <p:spPr>
          <a:xfrm>
            <a:off x="7818120" y="1645920"/>
            <a:ext cx="7955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imple out text 2-4"/>
          <p:cNvSpPr txBox="1"/>
          <p:nvPr/>
        </p:nvSpPr>
        <p:spPr>
          <a:xfrm>
            <a:off x="7909560" y="1645920"/>
            <a:ext cx="61264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0.000</a:t>
            </a:r>
          </a:p>
        </p:txBody>
      </p:sp>
      <p:sp>
        <p:nvSpPr>
          <p:cNvPr id="30" name="Simple out 3-1"/>
          <p:cNvSpPr/>
          <p:nvPr/>
        </p:nvSpPr>
        <p:spPr>
          <a:xfrm>
            <a:off x="5074920" y="2057400"/>
            <a:ext cx="9784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imple out text 3-1"/>
          <p:cNvSpPr txBox="1"/>
          <p:nvPr/>
        </p:nvSpPr>
        <p:spPr>
          <a:xfrm>
            <a:off x="5166360" y="2057400"/>
            <a:ext cx="79552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price1</a:t>
            </a:r>
          </a:p>
        </p:txBody>
      </p:sp>
      <p:sp>
        <p:nvSpPr>
          <p:cNvPr id="32" name="Simple out 3-2"/>
          <p:cNvSpPr/>
          <p:nvPr/>
        </p:nvSpPr>
        <p:spPr>
          <a:xfrm>
            <a:off x="6080760" y="2057400"/>
            <a:ext cx="8412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imple out text 3-2"/>
          <p:cNvSpPr txBox="1"/>
          <p:nvPr/>
        </p:nvSpPr>
        <p:spPr>
          <a:xfrm>
            <a:off x="6172200" y="2057400"/>
            <a:ext cx="65836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−668.8</a:t>
            </a:r>
          </a:p>
        </p:txBody>
      </p:sp>
      <p:sp>
        <p:nvSpPr>
          <p:cNvPr id="34" name="Simple out 3-3"/>
          <p:cNvSpPr/>
          <p:nvPr/>
        </p:nvSpPr>
        <p:spPr>
          <a:xfrm>
            <a:off x="6949440" y="2057400"/>
            <a:ext cx="8412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Simple out text 3-3"/>
          <p:cNvSpPr txBox="1"/>
          <p:nvPr/>
        </p:nvSpPr>
        <p:spPr>
          <a:xfrm>
            <a:off x="7040880" y="2057400"/>
            <a:ext cx="65836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29.8</a:t>
            </a:r>
          </a:p>
        </p:txBody>
      </p:sp>
      <p:sp>
        <p:nvSpPr>
          <p:cNvPr id="36" name="Simple out 3-4"/>
          <p:cNvSpPr/>
          <p:nvPr/>
        </p:nvSpPr>
        <p:spPr>
          <a:xfrm>
            <a:off x="7818120" y="2057400"/>
            <a:ext cx="7955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imple out text 3-4"/>
          <p:cNvSpPr txBox="1"/>
          <p:nvPr/>
        </p:nvSpPr>
        <p:spPr>
          <a:xfrm>
            <a:off x="7909560" y="2057400"/>
            <a:ext cx="61264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0.000</a:t>
            </a:r>
          </a:p>
        </p:txBody>
      </p:sp>
      <p:sp>
        <p:nvSpPr>
          <p:cNvPr id="38" name="Simple r2"/>
          <p:cNvSpPr txBox="1"/>
          <p:nvPr/>
        </p:nvSpPr>
        <p:spPr>
          <a:xfrm>
            <a:off x="5074920" y="2514600"/>
            <a:ext cx="3611880"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R² = 0.884, n = 68</a:t>
            </a:r>
          </a:p>
        </p:txBody>
      </p:sp>
      <p:sp>
        <p:nvSpPr>
          <p:cNvPr id="39" name="Simple read row 1"/>
          <p:cNvSpPr/>
          <p:nvPr/>
        </p:nvSpPr>
        <p:spPr>
          <a:xfrm>
            <a:off x="457200" y="361188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Simple read bar 1"/>
          <p:cNvSpPr/>
          <p:nvPr/>
        </p:nvSpPr>
        <p:spPr>
          <a:xfrm>
            <a:off x="457200" y="3611880"/>
            <a:ext cx="64008" cy="5029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Simple read text 1"/>
          <p:cNvSpPr txBox="1"/>
          <p:nvPr/>
        </p:nvSpPr>
        <p:spPr>
          <a:xfrm>
            <a:off x="658368" y="3611880"/>
            <a:ext cx="7936992"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Read it: </a:t>
            </a:r>
            <a:r>
              <a:rPr sz="1200" b="0" lang="en-GB">
                <a:solidFill>
                  <a:schemeClr val="tx1"/>
                </a:solidFill>
              </a:rPr>
              <a:t>10 cents more price, about 67 units fewer per week; the price explains 88 % of the weekly variation.</a:t>
            </a:r>
          </a:p>
        </p:txBody>
      </p:sp>
      <p:sp>
        <p:nvSpPr>
          <p:cNvPr id="42" name="Simple next box"/>
          <p:cNvSpPr/>
          <p:nvPr/>
        </p:nvSpPr>
        <p:spPr>
          <a:xfrm>
            <a:off x="457200" y="429768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3" name="Icon Simple next" descr=""/>
          <p:cNvPicPr>
            <a:picLocks noChangeAspect="1"/>
          </p:cNvPicPr>
          <p:nvPr/>
        </p:nvPicPr>
        <p:blipFill>
          <a:blip r:embed="rId3"/>
          <a:stretch>
            <a:fillRect/>
          </a:stretch>
        </p:blipFill>
        <p:spPr>
          <a:xfrm>
            <a:off x="658368" y="4366260"/>
            <a:ext cx="365760" cy="365760"/>
          </a:xfrm>
          <a:prstGeom prst="rect">
            <a:avLst/>
          </a:prstGeom>
        </p:spPr>
      </p:pic>
      <p:sp>
        <p:nvSpPr>
          <p:cNvPr id="44" name="Simple next text"/>
          <p:cNvSpPr txBox="1"/>
          <p:nvPr/>
        </p:nvSpPr>
        <p:spPr>
          <a:xfrm>
            <a:off x="1207008" y="4297680"/>
            <a:ext cx="7315200"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But: </a:t>
            </a:r>
            <a:r>
              <a:rPr sz="1200" b="0" lang="en-GB">
                <a:solidFill>
                  <a:schemeClr val="bg1"/>
                </a:solidFill>
              </a:rPr>
              <a:t>the residuals curve. Next: the log-log model with the marketing mix.</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3: the log-log model with the marketing mix</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oglog code caption bar"/>
          <p:cNvSpPr/>
          <p:nvPr/>
        </p:nvSpPr>
        <p:spPr>
          <a:xfrm>
            <a:off x="457200" y="1234440"/>
            <a:ext cx="42062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oglog code caption"/>
          <p:cNvSpPr txBox="1"/>
          <p:nvPr/>
        </p:nvSpPr>
        <p:spPr>
          <a:xfrm>
            <a:off x="566928" y="1234440"/>
            <a:ext cx="39867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statsmodels</a:t>
            </a:r>
          </a:p>
        </p:txBody>
      </p:sp>
      <p:sp>
        <p:nvSpPr>
          <p:cNvPr id="12" name="Loglog code box"/>
          <p:cNvSpPr/>
          <p:nvPr/>
        </p:nvSpPr>
        <p:spPr>
          <a:xfrm>
            <a:off x="457200" y="1508760"/>
            <a:ext cx="4206240" cy="21945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oglog code code"/>
          <p:cNvSpPr txBox="1"/>
          <p:nvPr/>
        </p:nvSpPr>
        <p:spPr>
          <a:xfrm>
            <a:off x="594360" y="1600200"/>
            <a:ext cx="3931920" cy="201168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import numpy as np</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model = smf.ols(</a:t>
            </a:r>
          </a:p>
          <a:p>
            <a:pPr algn="l">
              <a:spcAft>
                <a:spcPts val="0"/>
              </a:spcAft>
            </a:pPr>
            <a:r>
              <a:rPr sz="1050" b="0" lang="en-GB">
                <a:solidFill>
                  <a:schemeClr val="bg1"/>
                </a:solidFill>
                <a:latin typeface="Consolas"/>
              </a:rPr>
              <a:t>    "np.log(sales) ~ np.log(price1)"</a:t>
            </a:r>
          </a:p>
          <a:p>
            <a:pPr algn="l">
              <a:spcAft>
                <a:spcPts val="0"/>
              </a:spcAft>
            </a:pPr>
            <a:r>
              <a:rPr sz="1050" b="0" lang="en-GB">
                <a:solidFill>
                  <a:schemeClr val="bg1"/>
                </a:solidFill>
                <a:latin typeface="Consolas"/>
              </a:rPr>
              <a:t>    " + np.log(price2) + np.log(price3)"</a:t>
            </a:r>
          </a:p>
          <a:p>
            <a:pPr algn="l">
              <a:spcAft>
                <a:spcPts val="0"/>
              </a:spcAft>
            </a:pPr>
            <a:r>
              <a:rPr sz="1050" b="0" lang="en-GB">
                <a:solidFill>
                  <a:schemeClr val="bg1"/>
                </a:solidFill>
                <a:latin typeface="Consolas"/>
              </a:rPr>
              <a:t>    " + np.log(price4) + feature1"</a:t>
            </a:r>
          </a:p>
          <a:p>
            <a:pPr algn="l">
              <a:spcAft>
                <a:spcPts val="0"/>
              </a:spcAft>
            </a:pPr>
            <a:r>
              <a:rPr sz="1050" b="0" lang="en-GB">
                <a:solidFill>
                  <a:schemeClr val="bg1"/>
                </a:solidFill>
                <a:latin typeface="Consolas"/>
              </a:rPr>
              <a:t>    " + temp + december",</a:t>
            </a:r>
          </a:p>
          <a:p>
            <a:pPr algn="l">
              <a:spcAft>
                <a:spcPts val="0"/>
              </a:spcAft>
            </a:pPr>
            <a:r>
              <a:rPr sz="1050" b="0" lang="en-GB">
                <a:solidFill>
                  <a:schemeClr val="bg1"/>
                </a:solidFill>
                <a:latin typeface="Consolas"/>
              </a:rPr>
              <a:t>    data=df).fit()</a:t>
            </a:r>
          </a:p>
          <a:p>
            <a:pPr algn="l">
              <a:spcAft>
                <a:spcPts val="0"/>
              </a:spcAft>
            </a:pPr>
            <a:r>
              <a:rPr sz="1050" b="0" lang="en-GB">
                <a:solidFill>
                  <a:schemeClr val="bg1"/>
                </a:solidFill>
                <a:latin typeface="Consolas"/>
              </a:rPr>
              <a:t>print(model.summary())</a:t>
            </a:r>
          </a:p>
        </p:txBody>
      </p:sp>
      <p:sp>
        <p:nvSpPr>
          <p:cNvPr id="14" name="Loglog out 1-1"/>
          <p:cNvSpPr/>
          <p:nvPr/>
        </p:nvSpPr>
        <p:spPr>
          <a:xfrm>
            <a:off x="4800600" y="1234440"/>
            <a:ext cx="1435608"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oglog out text 1-1"/>
          <p:cNvSpPr txBox="1"/>
          <p:nvPr/>
        </p:nvSpPr>
        <p:spPr>
          <a:xfrm>
            <a:off x="4892040" y="1234440"/>
            <a:ext cx="1252728" cy="274320"/>
          </a:xfrm>
          <a:prstGeom prst="rect">
            <a:avLst/>
          </a:prstGeom>
          <a:noFill/>
        </p:spPr>
        <p:txBody>
          <a:bodyPr wrap="square" lIns="0" rIns="0" tIns="0" bIns="0" anchor="ctr">
            <a:noAutofit/>
          </a:bodyPr>
          <a:lstStyle/>
          <a:p>
            <a:pPr algn="l">
              <a:spcAft>
                <a:spcPts val="400"/>
              </a:spcAft>
            </a:pPr>
            <a:r>
              <a:rPr sz="1150" b="1" lang="en-GB">
                <a:solidFill>
                  <a:schemeClr val="bg1"/>
                </a:solidFill>
              </a:rPr>
              <a:t/>
            </a:r>
          </a:p>
        </p:txBody>
      </p:sp>
      <p:sp>
        <p:nvSpPr>
          <p:cNvPr id="16" name="Loglog out 1-2"/>
          <p:cNvSpPr/>
          <p:nvPr/>
        </p:nvSpPr>
        <p:spPr>
          <a:xfrm>
            <a:off x="6263640" y="1234440"/>
            <a:ext cx="1024128"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oglog out text 1-2"/>
          <p:cNvSpPr txBox="1"/>
          <p:nvPr/>
        </p:nvSpPr>
        <p:spPr>
          <a:xfrm>
            <a:off x="6355080" y="1234440"/>
            <a:ext cx="841248" cy="274320"/>
          </a:xfrm>
          <a:prstGeom prst="rect">
            <a:avLst/>
          </a:prstGeom>
          <a:noFill/>
        </p:spPr>
        <p:txBody>
          <a:bodyPr wrap="square" lIns="0" rIns="0" tIns="0" bIns="0" anchor="ctr">
            <a:noAutofit/>
          </a:bodyPr>
          <a:lstStyle/>
          <a:p>
            <a:pPr algn="l">
              <a:spcAft>
                <a:spcPts val="400"/>
              </a:spcAft>
            </a:pPr>
            <a:r>
              <a:rPr sz="1150" b="1" lang="en-GB">
                <a:solidFill>
                  <a:schemeClr val="bg1"/>
                </a:solidFill>
              </a:rPr>
              <a:t>coef</a:t>
            </a:r>
          </a:p>
        </p:txBody>
      </p:sp>
      <p:sp>
        <p:nvSpPr>
          <p:cNvPr id="18" name="Loglog out 1-3"/>
          <p:cNvSpPr/>
          <p:nvPr/>
        </p:nvSpPr>
        <p:spPr>
          <a:xfrm>
            <a:off x="7315200" y="1234440"/>
            <a:ext cx="1024128"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oglog out text 1-3"/>
          <p:cNvSpPr txBox="1"/>
          <p:nvPr/>
        </p:nvSpPr>
        <p:spPr>
          <a:xfrm>
            <a:off x="7406640" y="1234440"/>
            <a:ext cx="841248" cy="274320"/>
          </a:xfrm>
          <a:prstGeom prst="rect">
            <a:avLst/>
          </a:prstGeom>
          <a:noFill/>
        </p:spPr>
        <p:txBody>
          <a:bodyPr wrap="square" lIns="0" rIns="0" tIns="0" bIns="0" anchor="ctr">
            <a:noAutofit/>
          </a:bodyPr>
          <a:lstStyle/>
          <a:p>
            <a:pPr algn="l">
              <a:spcAft>
                <a:spcPts val="400"/>
              </a:spcAft>
            </a:pPr>
            <a:r>
              <a:rPr sz="1150" b="1" lang="en-GB">
                <a:solidFill>
                  <a:schemeClr val="bg1"/>
                </a:solidFill>
              </a:rPr>
              <a:t>p</a:t>
            </a:r>
          </a:p>
        </p:txBody>
      </p:sp>
      <p:sp>
        <p:nvSpPr>
          <p:cNvPr id="20" name="Loglog out 2-1"/>
          <p:cNvSpPr/>
          <p:nvPr/>
        </p:nvSpPr>
        <p:spPr>
          <a:xfrm>
            <a:off x="4800600" y="1536192"/>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oglog out text 2-1"/>
          <p:cNvSpPr txBox="1"/>
          <p:nvPr/>
        </p:nvSpPr>
        <p:spPr>
          <a:xfrm>
            <a:off x="4892040" y="1536192"/>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ln price1</a:t>
            </a:r>
          </a:p>
        </p:txBody>
      </p:sp>
      <p:sp>
        <p:nvSpPr>
          <p:cNvPr id="22" name="Loglog out 2-2"/>
          <p:cNvSpPr/>
          <p:nvPr/>
        </p:nvSpPr>
        <p:spPr>
          <a:xfrm>
            <a:off x="6263640" y="1536192"/>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oglog out text 2-2"/>
          <p:cNvSpPr txBox="1"/>
          <p:nvPr/>
        </p:nvSpPr>
        <p:spPr>
          <a:xfrm>
            <a:off x="6355080" y="1536192"/>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−3.64</a:t>
            </a:r>
          </a:p>
        </p:txBody>
      </p:sp>
      <p:sp>
        <p:nvSpPr>
          <p:cNvPr id="24" name="Loglog out 2-3"/>
          <p:cNvSpPr/>
          <p:nvPr/>
        </p:nvSpPr>
        <p:spPr>
          <a:xfrm>
            <a:off x="7315200" y="1536192"/>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oglog out text 2-3"/>
          <p:cNvSpPr txBox="1"/>
          <p:nvPr/>
        </p:nvSpPr>
        <p:spPr>
          <a:xfrm>
            <a:off x="7406640" y="1536192"/>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0.000</a:t>
            </a:r>
          </a:p>
        </p:txBody>
      </p:sp>
      <p:sp>
        <p:nvSpPr>
          <p:cNvPr id="26" name="Loglog out 3-1"/>
          <p:cNvSpPr/>
          <p:nvPr/>
        </p:nvSpPr>
        <p:spPr>
          <a:xfrm>
            <a:off x="4800600" y="1837944"/>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oglog out text 3-1"/>
          <p:cNvSpPr txBox="1"/>
          <p:nvPr/>
        </p:nvSpPr>
        <p:spPr>
          <a:xfrm>
            <a:off x="4892040" y="1837944"/>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ln price2</a:t>
            </a:r>
          </a:p>
        </p:txBody>
      </p:sp>
      <p:sp>
        <p:nvSpPr>
          <p:cNvPr id="28" name="Loglog out 3-2"/>
          <p:cNvSpPr/>
          <p:nvPr/>
        </p:nvSpPr>
        <p:spPr>
          <a:xfrm>
            <a:off x="6263640" y="1837944"/>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oglog out text 3-2"/>
          <p:cNvSpPr txBox="1"/>
          <p:nvPr/>
        </p:nvSpPr>
        <p:spPr>
          <a:xfrm>
            <a:off x="6355080" y="1837944"/>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−0.80</a:t>
            </a:r>
          </a:p>
        </p:txBody>
      </p:sp>
      <p:sp>
        <p:nvSpPr>
          <p:cNvPr id="30" name="Loglog out 3-3"/>
          <p:cNvSpPr/>
          <p:nvPr/>
        </p:nvSpPr>
        <p:spPr>
          <a:xfrm>
            <a:off x="7315200" y="1837944"/>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oglog out text 3-3"/>
          <p:cNvSpPr txBox="1"/>
          <p:nvPr/>
        </p:nvSpPr>
        <p:spPr>
          <a:xfrm>
            <a:off x="7406640" y="1837944"/>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0.076</a:t>
            </a:r>
          </a:p>
        </p:txBody>
      </p:sp>
      <p:sp>
        <p:nvSpPr>
          <p:cNvPr id="32" name="Loglog out 4-1"/>
          <p:cNvSpPr/>
          <p:nvPr/>
        </p:nvSpPr>
        <p:spPr>
          <a:xfrm>
            <a:off x="4800600" y="2139696"/>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oglog out text 4-1"/>
          <p:cNvSpPr txBox="1"/>
          <p:nvPr/>
        </p:nvSpPr>
        <p:spPr>
          <a:xfrm>
            <a:off x="4892040" y="2139696"/>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ln price3</a:t>
            </a:r>
          </a:p>
        </p:txBody>
      </p:sp>
      <p:sp>
        <p:nvSpPr>
          <p:cNvPr id="34" name="Loglog out 4-2"/>
          <p:cNvSpPr/>
          <p:nvPr/>
        </p:nvSpPr>
        <p:spPr>
          <a:xfrm>
            <a:off x="6263640" y="2139696"/>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oglog out text 4-2"/>
          <p:cNvSpPr txBox="1"/>
          <p:nvPr/>
        </p:nvSpPr>
        <p:spPr>
          <a:xfrm>
            <a:off x="6355080" y="2139696"/>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0.36</a:t>
            </a:r>
          </a:p>
        </p:txBody>
      </p:sp>
      <p:sp>
        <p:nvSpPr>
          <p:cNvPr id="36" name="Loglog out 4-3"/>
          <p:cNvSpPr/>
          <p:nvPr/>
        </p:nvSpPr>
        <p:spPr>
          <a:xfrm>
            <a:off x="7315200" y="2139696"/>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oglog out text 4-3"/>
          <p:cNvSpPr txBox="1"/>
          <p:nvPr/>
        </p:nvSpPr>
        <p:spPr>
          <a:xfrm>
            <a:off x="7406640" y="2139696"/>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0.109</a:t>
            </a:r>
          </a:p>
        </p:txBody>
      </p:sp>
      <p:sp>
        <p:nvSpPr>
          <p:cNvPr id="38" name="Loglog out 5-1"/>
          <p:cNvSpPr/>
          <p:nvPr/>
        </p:nvSpPr>
        <p:spPr>
          <a:xfrm>
            <a:off x="4800600" y="2441448"/>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oglog out text 5-1"/>
          <p:cNvSpPr txBox="1"/>
          <p:nvPr/>
        </p:nvSpPr>
        <p:spPr>
          <a:xfrm>
            <a:off x="4892040" y="2441448"/>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ln price4</a:t>
            </a:r>
          </a:p>
        </p:txBody>
      </p:sp>
      <p:sp>
        <p:nvSpPr>
          <p:cNvPr id="40" name="Loglog out 5-2"/>
          <p:cNvSpPr/>
          <p:nvPr/>
        </p:nvSpPr>
        <p:spPr>
          <a:xfrm>
            <a:off x="6263640" y="2441448"/>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oglog out text 5-2"/>
          <p:cNvSpPr txBox="1"/>
          <p:nvPr/>
        </p:nvSpPr>
        <p:spPr>
          <a:xfrm>
            <a:off x="6355080" y="2441448"/>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−0.03</a:t>
            </a:r>
          </a:p>
        </p:txBody>
      </p:sp>
      <p:sp>
        <p:nvSpPr>
          <p:cNvPr id="42" name="Loglog out 5-3"/>
          <p:cNvSpPr/>
          <p:nvPr/>
        </p:nvSpPr>
        <p:spPr>
          <a:xfrm>
            <a:off x="7315200" y="2441448"/>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oglog out text 5-3"/>
          <p:cNvSpPr txBox="1"/>
          <p:nvPr/>
        </p:nvSpPr>
        <p:spPr>
          <a:xfrm>
            <a:off x="7406640" y="2441448"/>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0.855</a:t>
            </a:r>
          </a:p>
        </p:txBody>
      </p:sp>
      <p:sp>
        <p:nvSpPr>
          <p:cNvPr id="44" name="Loglog out 6-1"/>
          <p:cNvSpPr/>
          <p:nvPr/>
        </p:nvSpPr>
        <p:spPr>
          <a:xfrm>
            <a:off x="4800600" y="2743200"/>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oglog out text 6-1"/>
          <p:cNvSpPr txBox="1"/>
          <p:nvPr/>
        </p:nvSpPr>
        <p:spPr>
          <a:xfrm>
            <a:off x="4892040" y="2743200"/>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feature1</a:t>
            </a:r>
          </a:p>
        </p:txBody>
      </p:sp>
      <p:sp>
        <p:nvSpPr>
          <p:cNvPr id="46" name="Loglog out 6-2"/>
          <p:cNvSpPr/>
          <p:nvPr/>
        </p:nvSpPr>
        <p:spPr>
          <a:xfrm>
            <a:off x="6263640" y="2743200"/>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Loglog out text 6-2"/>
          <p:cNvSpPr txBox="1"/>
          <p:nvPr/>
        </p:nvSpPr>
        <p:spPr>
          <a:xfrm>
            <a:off x="6355080" y="2743200"/>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0.18</a:t>
            </a:r>
          </a:p>
        </p:txBody>
      </p:sp>
      <p:sp>
        <p:nvSpPr>
          <p:cNvPr id="48" name="Loglog out 6-3"/>
          <p:cNvSpPr/>
          <p:nvPr/>
        </p:nvSpPr>
        <p:spPr>
          <a:xfrm>
            <a:off x="7315200" y="2743200"/>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Loglog out text 6-3"/>
          <p:cNvSpPr txBox="1"/>
          <p:nvPr/>
        </p:nvSpPr>
        <p:spPr>
          <a:xfrm>
            <a:off x="7406640" y="2743200"/>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0.307</a:t>
            </a:r>
          </a:p>
        </p:txBody>
      </p:sp>
      <p:sp>
        <p:nvSpPr>
          <p:cNvPr id="50" name="Loglog out 7-1"/>
          <p:cNvSpPr/>
          <p:nvPr/>
        </p:nvSpPr>
        <p:spPr>
          <a:xfrm>
            <a:off x="4800600" y="3044952"/>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Loglog out text 7-1"/>
          <p:cNvSpPr txBox="1"/>
          <p:nvPr/>
        </p:nvSpPr>
        <p:spPr>
          <a:xfrm>
            <a:off x="4892040" y="3044952"/>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temp</a:t>
            </a:r>
          </a:p>
        </p:txBody>
      </p:sp>
      <p:sp>
        <p:nvSpPr>
          <p:cNvPr id="52" name="Loglog out 7-2"/>
          <p:cNvSpPr/>
          <p:nvPr/>
        </p:nvSpPr>
        <p:spPr>
          <a:xfrm>
            <a:off x="6263640" y="3044952"/>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Loglog out text 7-2"/>
          <p:cNvSpPr txBox="1"/>
          <p:nvPr/>
        </p:nvSpPr>
        <p:spPr>
          <a:xfrm>
            <a:off x="6355080" y="3044952"/>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−0.007</a:t>
            </a:r>
          </a:p>
        </p:txBody>
      </p:sp>
      <p:sp>
        <p:nvSpPr>
          <p:cNvPr id="54" name="Loglog out 7-3"/>
          <p:cNvSpPr/>
          <p:nvPr/>
        </p:nvSpPr>
        <p:spPr>
          <a:xfrm>
            <a:off x="7315200" y="3044952"/>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Loglog out text 7-3"/>
          <p:cNvSpPr txBox="1"/>
          <p:nvPr/>
        </p:nvSpPr>
        <p:spPr>
          <a:xfrm>
            <a:off x="7406640" y="3044952"/>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0.045</a:t>
            </a:r>
          </a:p>
        </p:txBody>
      </p:sp>
      <p:sp>
        <p:nvSpPr>
          <p:cNvPr id="56" name="Loglog out 8-1"/>
          <p:cNvSpPr/>
          <p:nvPr/>
        </p:nvSpPr>
        <p:spPr>
          <a:xfrm>
            <a:off x="4800600" y="3346704"/>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Loglog out text 8-1"/>
          <p:cNvSpPr txBox="1"/>
          <p:nvPr/>
        </p:nvSpPr>
        <p:spPr>
          <a:xfrm>
            <a:off x="4892040" y="3346704"/>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december</a:t>
            </a:r>
          </a:p>
        </p:txBody>
      </p:sp>
      <p:sp>
        <p:nvSpPr>
          <p:cNvPr id="58" name="Loglog out 8-2"/>
          <p:cNvSpPr/>
          <p:nvPr/>
        </p:nvSpPr>
        <p:spPr>
          <a:xfrm>
            <a:off x="6263640" y="3346704"/>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Loglog out text 8-2"/>
          <p:cNvSpPr txBox="1"/>
          <p:nvPr/>
        </p:nvSpPr>
        <p:spPr>
          <a:xfrm>
            <a:off x="6355080" y="3346704"/>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−0.38</a:t>
            </a:r>
          </a:p>
        </p:txBody>
      </p:sp>
      <p:sp>
        <p:nvSpPr>
          <p:cNvPr id="60" name="Loglog out 8-3"/>
          <p:cNvSpPr/>
          <p:nvPr/>
        </p:nvSpPr>
        <p:spPr>
          <a:xfrm>
            <a:off x="7315200" y="3346704"/>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Loglog out text 8-3"/>
          <p:cNvSpPr txBox="1"/>
          <p:nvPr/>
        </p:nvSpPr>
        <p:spPr>
          <a:xfrm>
            <a:off x="7406640" y="3346704"/>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0.009</a:t>
            </a:r>
          </a:p>
        </p:txBody>
      </p:sp>
      <p:sp>
        <p:nvSpPr>
          <p:cNvPr id="62" name="Loglog r2"/>
          <p:cNvSpPr txBox="1"/>
          <p:nvPr/>
        </p:nvSpPr>
        <p:spPr>
          <a:xfrm>
            <a:off x="4800600" y="3767328"/>
            <a:ext cx="38862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R² = 0.874, adjusted 0.859, n = 68</a:t>
            </a:r>
          </a:p>
        </p:txBody>
      </p:sp>
      <p:sp>
        <p:nvSpPr>
          <p:cNvPr id="63" name="Loglog read box"/>
          <p:cNvSpPr/>
          <p:nvPr/>
        </p:nvSpPr>
        <p:spPr>
          <a:xfrm>
            <a:off x="457200" y="4206240"/>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4" name="Icon Loglog read" descr=""/>
          <p:cNvPicPr>
            <a:picLocks noChangeAspect="1"/>
          </p:cNvPicPr>
          <p:nvPr/>
        </p:nvPicPr>
        <p:blipFill>
          <a:blip r:embed="rId3"/>
          <a:stretch>
            <a:fillRect/>
          </a:stretch>
        </p:blipFill>
        <p:spPr>
          <a:xfrm>
            <a:off x="658368" y="4320540"/>
            <a:ext cx="365760" cy="365760"/>
          </a:xfrm>
          <a:prstGeom prst="rect">
            <a:avLst/>
          </a:prstGeom>
        </p:spPr>
      </p:pic>
      <p:sp>
        <p:nvSpPr>
          <p:cNvPr id="65" name="Loglog read text"/>
          <p:cNvSpPr txBox="1"/>
          <p:nvPr/>
        </p:nvSpPr>
        <p:spPr>
          <a:xfrm>
            <a:off x="1207008" y="4206240"/>
            <a:ext cx="7315200" cy="594360"/>
          </a:xfrm>
          <a:prstGeom prst="rect">
            <a:avLst/>
          </a:prstGeom>
          <a:noFill/>
        </p:spPr>
        <p:txBody>
          <a:bodyPr wrap="square" lIns="0" rIns="0" tIns="0" bIns="0" anchor="ctr">
            <a:noAutofit/>
          </a:bodyPr>
          <a:lstStyle/>
          <a:p>
            <a:pPr algn="l">
              <a:spcAft>
                <a:spcPts val="400"/>
              </a:spcAft>
            </a:pPr>
            <a:r>
              <a:rPr sz="1200" b="1" lang="en-GB">
                <a:solidFill>
                  <a:schemeClr val="bg1"/>
                </a:solidFill>
              </a:rPr>
              <a:t>Read it: </a:t>
            </a:r>
            <a:r>
              <a:rPr sz="1200" b="0" lang="en-GB">
                <a:solidFill>
                  <a:schemeClr val="bg1"/>
                </a:solidFill>
              </a:rPr>
              <a:t>1 % higher price, 3.6 % fewer sales; December weeks 32 % lower; each degree warmer 0.7 % lower.</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4: check the assumptions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heck code caption bar"/>
          <p:cNvSpPr/>
          <p:nvPr/>
        </p:nvSpPr>
        <p:spPr>
          <a:xfrm>
            <a:off x="457200" y="1234440"/>
            <a:ext cx="48463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heck code caption"/>
          <p:cNvSpPr txBox="1"/>
          <p:nvPr/>
        </p:nvSpPr>
        <p:spPr>
          <a:xfrm>
            <a:off x="566928" y="1234440"/>
            <a:ext cx="46268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tests and robust errors</a:t>
            </a:r>
          </a:p>
        </p:txBody>
      </p:sp>
      <p:sp>
        <p:nvSpPr>
          <p:cNvPr id="12" name="Check code box"/>
          <p:cNvSpPr/>
          <p:nvPr/>
        </p:nvSpPr>
        <p:spPr>
          <a:xfrm>
            <a:off x="457200" y="1508760"/>
            <a:ext cx="4846320" cy="25146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heck code code"/>
          <p:cNvSpPr txBox="1"/>
          <p:nvPr/>
        </p:nvSpPr>
        <p:spPr>
          <a:xfrm>
            <a:off x="594360" y="1600200"/>
            <a:ext cx="4572000" cy="233172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from statsmodels.stats.stattools import (</a:t>
            </a:r>
          </a:p>
          <a:p>
            <a:pPr algn="l">
              <a:spcAft>
                <a:spcPts val="0"/>
              </a:spcAft>
            </a:pPr>
            <a:r>
              <a:rPr sz="1000" b="0" lang="en-GB">
                <a:solidFill>
                  <a:schemeClr val="bg1"/>
                </a:solidFill>
                <a:latin typeface="Consolas"/>
              </a:rPr>
              <a:t>    durbin_watson, jarque_bera)</a:t>
            </a:r>
          </a:p>
          <a:p>
            <a:pPr algn="l">
              <a:spcAft>
                <a:spcPts val="0"/>
              </a:spcAft>
            </a:pPr>
            <a:r>
              <a:rPr sz="1000" b="0" lang="en-GB">
                <a:solidFill>
                  <a:schemeClr val="bg1"/>
                </a:solidFill>
                <a:latin typeface="Consolas"/>
              </a:rPr>
              <a:t>from statsmodels.stats.diagnostic import het_breuschpagan</a:t>
            </a:r>
          </a:p>
          <a:p>
            <a:pPr algn="l">
              <a:spcAft>
                <a:spcPts val="0"/>
              </a:spcAft>
            </a:pPr>
            <a:r>
              <a:rPr sz="1000" b="0" lang="en-GB">
                <a:solidFill>
                  <a:schemeClr val="bg1"/>
                </a:solidFill>
                <a:latin typeface="Consolas"/>
              </a:rPr>
              <a:t>from statsmodels.stats.outliers_influence import (</a:t>
            </a:r>
          </a:p>
          <a:p>
            <a:pPr algn="l">
              <a:spcAft>
                <a:spcPts val="0"/>
              </a:spcAft>
            </a:pPr>
            <a:r>
              <a:rPr sz="1000" b="0" lang="en-GB">
                <a:solidFill>
                  <a:schemeClr val="bg1"/>
                </a:solidFill>
                <a:latin typeface="Consolas"/>
              </a:rPr>
              <a:t>    variance_inflation_factor)</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durbin_watson(model.resid)                     # 1.41</a:t>
            </a:r>
          </a:p>
          <a:p>
            <a:pPr algn="l">
              <a:spcAft>
                <a:spcPts val="0"/>
              </a:spcAft>
            </a:pPr>
            <a:r>
              <a:rPr sz="1000" b="0" lang="en-GB">
                <a:solidFill>
                  <a:schemeClr val="bg1"/>
                </a:solidFill>
                <a:latin typeface="Consolas"/>
              </a:rPr>
              <a:t>het_breuschpagan(model.resid, model.model.exog)[1]  # 0.14</a:t>
            </a:r>
          </a:p>
          <a:p>
            <a:pPr algn="l">
              <a:spcAft>
                <a:spcPts val="0"/>
              </a:spcAft>
            </a:pPr>
            <a:r>
              <a:rPr sz="1000" b="0" lang="en-GB">
                <a:solidFill>
                  <a:schemeClr val="bg1"/>
                </a:solidFill>
                <a:latin typeface="Consolas"/>
              </a:rPr>
              <a:t>jarque_bera(model.resid)[1]                    # 0.07</a:t>
            </a:r>
          </a:p>
          <a:p>
            <a:pPr algn="l">
              <a:spcAft>
                <a:spcPts val="0"/>
              </a:spcAft>
            </a:pPr>
            <a:r>
              <a:rPr sz="1000" b="0" lang="en-GB">
                <a:solidFill>
                  <a:schemeClr val="bg1"/>
                </a:solidFill>
                <a:latin typeface="Consolas"/>
              </a:rPr>
              <a:t>X = model.model.exog</a:t>
            </a:r>
          </a:p>
          <a:p>
            <a:pPr algn="l">
              <a:spcAft>
                <a:spcPts val="0"/>
              </a:spcAft>
            </a:pPr>
            <a:r>
              <a:rPr sz="1000" b="0" lang="en-GB">
                <a:solidFill>
                  <a:schemeClr val="bg1"/>
                </a:solidFill>
                <a:latin typeface="Consolas"/>
              </a:rPr>
              <a:t>[variance_inflation_factor(X, i) for i in range(1, 8)]</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hac = model.model.fit(cov_type="HAC",</a:t>
            </a:r>
          </a:p>
          <a:p>
            <a:pPr algn="l">
              <a:spcAft>
                <a:spcPts val="0"/>
              </a:spcAft>
            </a:pPr>
            <a:r>
              <a:rPr sz="1000" b="0" lang="en-GB">
                <a:solidFill>
                  <a:schemeClr val="bg1"/>
                </a:solidFill>
                <a:latin typeface="Consolas"/>
              </a:rPr>
              <a:t>                      cov_kwds={"maxlags": 1})</a:t>
            </a:r>
          </a:p>
        </p:txBody>
      </p:sp>
      <p:sp>
        <p:nvSpPr>
          <p:cNvPr id="14" name="Plot code caption bar"/>
          <p:cNvSpPr/>
          <p:nvPr/>
        </p:nvSpPr>
        <p:spPr>
          <a:xfrm>
            <a:off x="5440680" y="1234440"/>
            <a:ext cx="32461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Plot code caption"/>
          <p:cNvSpPr txBox="1"/>
          <p:nvPr/>
        </p:nvSpPr>
        <p:spPr>
          <a:xfrm>
            <a:off x="5550408" y="1234440"/>
            <a:ext cx="30266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Residual plot</a:t>
            </a:r>
          </a:p>
        </p:txBody>
      </p:sp>
      <p:sp>
        <p:nvSpPr>
          <p:cNvPr id="16" name="Plot code box"/>
          <p:cNvSpPr/>
          <p:nvPr/>
        </p:nvSpPr>
        <p:spPr>
          <a:xfrm>
            <a:off x="5440680" y="1508760"/>
            <a:ext cx="3246120" cy="12801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lot code code"/>
          <p:cNvSpPr txBox="1"/>
          <p:nvPr/>
        </p:nvSpPr>
        <p:spPr>
          <a:xfrm>
            <a:off x="5577840" y="1600200"/>
            <a:ext cx="2971800" cy="109728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from plotnine import geom_hline</a:t>
            </a:r>
          </a:p>
          <a:p>
            <a:pPr algn="l">
              <a:spcAft>
                <a:spcPts val="0"/>
              </a:spcAft>
            </a:pPr>
            <a:r>
              <a:rPr sz="1000" b="0" lang="en-GB">
                <a:solidFill>
                  <a:schemeClr val="bg1"/>
                </a:solidFill>
                <a:latin typeface="Consolas"/>
              </a:rPr>
              <a:t>df["fit"] = model.fittedvalues</a:t>
            </a:r>
          </a:p>
          <a:p>
            <a:pPr algn="l">
              <a:spcAft>
                <a:spcPts val="0"/>
              </a:spcAft>
            </a:pPr>
            <a:r>
              <a:rPr sz="1000" b="0" lang="en-GB">
                <a:solidFill>
                  <a:schemeClr val="bg1"/>
                </a:solidFill>
                <a:latin typeface="Consolas"/>
              </a:rPr>
              <a:t>df["res"] = model.resid</a:t>
            </a:r>
          </a:p>
          <a:p>
            <a:pPr algn="l">
              <a:spcAft>
                <a:spcPts val="0"/>
              </a:spcAft>
            </a:pPr>
            <a:r>
              <a:rPr sz="1000" b="0" lang="en-GB">
                <a:solidFill>
                  <a:schemeClr val="bg1"/>
                </a:solidFill>
                <a:latin typeface="Consolas"/>
              </a:rPr>
              <a:t>(ggplot(df, aes("fit", "res"))</a:t>
            </a:r>
          </a:p>
          <a:p>
            <a:pPr algn="l">
              <a:spcAft>
                <a:spcPts val="0"/>
              </a:spcAft>
            </a:pPr>
            <a:r>
              <a:rPr sz="1000" b="0" lang="en-GB">
                <a:solidFill>
                  <a:schemeClr val="bg1"/>
                </a:solidFill>
                <a:latin typeface="Consolas"/>
              </a:rPr>
              <a:t> + geom_point()</a:t>
            </a:r>
          </a:p>
          <a:p>
            <a:pPr algn="l">
              <a:spcAft>
                <a:spcPts val="0"/>
              </a:spcAft>
            </a:pPr>
            <a:r>
              <a:rPr sz="1000" b="0" lang="en-GB">
                <a:solidFill>
                  <a:schemeClr val="bg1"/>
                </a:solidFill>
                <a:latin typeface="Consolas"/>
              </a:rPr>
              <a:t> + geom_hline(yintercept=0))</a:t>
            </a:r>
          </a:p>
        </p:txBody>
      </p:sp>
      <p:pic>
        <p:nvPicPr>
          <p:cNvPr id="18" name="Chart reg_resid_fitted.png" descr="Small residual plot of the main model"/>
          <p:cNvPicPr>
            <a:picLocks noChangeAspect="1"/>
          </p:cNvPicPr>
          <p:nvPr/>
        </p:nvPicPr>
        <p:blipFill>
          <a:blip r:embed="rId3"/>
          <a:stretch>
            <a:fillRect/>
          </a:stretch>
        </p:blipFill>
        <p:spPr>
          <a:xfrm>
            <a:off x="5440680" y="2852928"/>
            <a:ext cx="1691640" cy="1179576"/>
          </a:xfrm>
          <a:prstGeom prst="rect">
            <a:avLst/>
          </a:prstGeom>
        </p:spPr>
      </p:pic>
      <p:pic>
        <p:nvPicPr>
          <p:cNvPr id="19" name="Chart reg_resid_hist.png" descr="Small residual histogram of the main model"/>
          <p:cNvPicPr>
            <a:picLocks noChangeAspect="1"/>
          </p:cNvPicPr>
          <p:nvPr/>
        </p:nvPicPr>
        <p:blipFill>
          <a:blip r:embed="rId4"/>
          <a:stretch>
            <a:fillRect/>
          </a:stretch>
        </p:blipFill>
        <p:spPr>
          <a:xfrm>
            <a:off x="7178040" y="2852928"/>
            <a:ext cx="1508760" cy="1051560"/>
          </a:xfrm>
          <a:prstGeom prst="rect">
            <a:avLst/>
          </a:prstGeom>
        </p:spPr>
      </p:pic>
      <p:sp>
        <p:nvSpPr>
          <p:cNvPr id="20" name="Check decide box"/>
          <p:cNvSpPr/>
          <p:nvPr/>
        </p:nvSpPr>
        <p:spPr>
          <a:xfrm>
            <a:off x="457200" y="4206240"/>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Check decide" descr=""/>
          <p:cNvPicPr>
            <a:picLocks noChangeAspect="1"/>
          </p:cNvPicPr>
          <p:nvPr/>
        </p:nvPicPr>
        <p:blipFill>
          <a:blip r:embed="rId5"/>
          <a:stretch>
            <a:fillRect/>
          </a:stretch>
        </p:blipFill>
        <p:spPr>
          <a:xfrm>
            <a:off x="658368" y="4320540"/>
            <a:ext cx="365760" cy="365760"/>
          </a:xfrm>
          <a:prstGeom prst="rect">
            <a:avLst/>
          </a:prstGeom>
        </p:spPr>
      </p:pic>
      <p:sp>
        <p:nvSpPr>
          <p:cNvPr id="22" name="Check decide text"/>
          <p:cNvSpPr txBox="1"/>
          <p:nvPr/>
        </p:nvSpPr>
        <p:spPr>
          <a:xfrm>
            <a:off x="1207008" y="4206240"/>
            <a:ext cx="7315200" cy="594360"/>
          </a:xfrm>
          <a:prstGeom prst="rect">
            <a:avLst/>
          </a:prstGeom>
          <a:noFill/>
        </p:spPr>
        <p:txBody>
          <a:bodyPr wrap="square" lIns="0" rIns="0" tIns="0" bIns="0" anchor="ctr">
            <a:noAutofit/>
          </a:bodyPr>
          <a:lstStyle/>
          <a:p>
            <a:pPr algn="l">
              <a:spcAft>
                <a:spcPts val="400"/>
              </a:spcAft>
            </a:pPr>
            <a:r>
              <a:rPr sz="1200" b="1" lang="en-GB">
                <a:solidFill>
                  <a:schemeClr val="bg1"/>
                </a:solidFill>
              </a:rPr>
              <a:t>Decide: </a:t>
            </a:r>
            <a:r>
              <a:rPr sz="1200" b="0" lang="en-GB">
                <a:solidFill>
                  <a:schemeClr val="bg1"/>
                </a:solidFill>
              </a:rPr>
              <a:t>report the HAC result; the own-price elasticity stays −3.64, its standard error rises to 0.32.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Quiz 2: regression in five questions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Quiz row 1"/>
          <p:cNvSpPr/>
          <p:nvPr/>
        </p:nvSpPr>
        <p:spPr>
          <a:xfrm>
            <a:off x="457200" y="1234440"/>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Quiz bar 1"/>
          <p:cNvSpPr/>
          <p:nvPr/>
        </p:nvSpPr>
        <p:spPr>
          <a:xfrm>
            <a:off x="457200" y="1234440"/>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Quiz text 1"/>
          <p:cNvSpPr txBox="1"/>
          <p:nvPr/>
        </p:nvSpPr>
        <p:spPr>
          <a:xfrm>
            <a:off x="658368" y="1234440"/>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1 What does OLS minimise?</a:t>
            </a:r>
          </a:p>
          <a:p>
            <a:pPr algn="l">
              <a:spcAft>
                <a:spcPts val="100"/>
              </a:spcAft>
            </a:pPr>
            <a:r>
              <a:rPr sz="1200" b="0" lang="en-GB">
                <a:solidFill>
                  <a:schemeClr val="tx1"/>
                </a:solidFill>
              </a:rPr>
              <a:t>A the sum of residuals     B the sum of absolute residuals     C the sum of squared residuals</a:t>
            </a:r>
          </a:p>
        </p:txBody>
      </p:sp>
      <p:sp>
        <p:nvSpPr>
          <p:cNvPr id="13" name="Quiz row 2"/>
          <p:cNvSpPr/>
          <p:nvPr/>
        </p:nvSpPr>
        <p:spPr>
          <a:xfrm>
            <a:off x="457200" y="1892808"/>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Quiz bar 2"/>
          <p:cNvSpPr/>
          <p:nvPr/>
        </p:nvSpPr>
        <p:spPr>
          <a:xfrm>
            <a:off x="457200" y="1892808"/>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Quiz text 2"/>
          <p:cNvSpPr txBox="1"/>
          <p:nvPr/>
        </p:nvSpPr>
        <p:spPr>
          <a:xfrm>
            <a:off x="658368" y="1892808"/>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2 In ln sales = a + b · ln price, b = −3.64 means …</a:t>
            </a:r>
          </a:p>
          <a:p>
            <a:pPr algn="l">
              <a:spcAft>
                <a:spcPts val="100"/>
              </a:spcAft>
            </a:pPr>
            <a:r>
              <a:rPr sz="1200" b="0" lang="en-GB">
                <a:solidFill>
                  <a:schemeClr val="tx1"/>
                </a:solidFill>
              </a:rPr>
              <a:t>A 1 EUR more, 3.64 units fewer     B 1 % higher price, 3.6 % fewer sales     C 3.64 fewer per week</a:t>
            </a:r>
          </a:p>
        </p:txBody>
      </p:sp>
      <p:sp>
        <p:nvSpPr>
          <p:cNvPr id="16" name="Quiz row 3"/>
          <p:cNvSpPr/>
          <p:nvPr/>
        </p:nvSpPr>
        <p:spPr>
          <a:xfrm>
            <a:off x="457200" y="2551176"/>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Quiz bar 3"/>
          <p:cNvSpPr/>
          <p:nvPr/>
        </p:nvSpPr>
        <p:spPr>
          <a:xfrm>
            <a:off x="457200" y="2551176"/>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Quiz text 3"/>
          <p:cNvSpPr txBox="1"/>
          <p:nvPr/>
        </p:nvSpPr>
        <p:spPr>
          <a:xfrm>
            <a:off x="658368" y="2551176"/>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3 A VIF of 11 signals …</a:t>
            </a:r>
          </a:p>
          <a:p>
            <a:pPr algn="l">
              <a:spcAft>
                <a:spcPts val="100"/>
              </a:spcAft>
            </a:pPr>
            <a:r>
              <a:rPr sz="1200" b="0" lang="en-GB">
                <a:solidFill>
                  <a:schemeClr val="tx1"/>
                </a:solidFill>
              </a:rPr>
              <a:t>A autocorrelation     B multicollinearity     C heteroscedasticity</a:t>
            </a:r>
          </a:p>
        </p:txBody>
      </p:sp>
      <p:sp>
        <p:nvSpPr>
          <p:cNvPr id="19" name="Quiz row 4"/>
          <p:cNvSpPr/>
          <p:nvPr/>
        </p:nvSpPr>
        <p:spPr>
          <a:xfrm>
            <a:off x="457200" y="3209544"/>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Quiz bar 4"/>
          <p:cNvSpPr/>
          <p:nvPr/>
        </p:nvSpPr>
        <p:spPr>
          <a:xfrm>
            <a:off x="457200" y="3209544"/>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Quiz text 4"/>
          <p:cNvSpPr txBox="1"/>
          <p:nvPr/>
        </p:nvSpPr>
        <p:spPr>
          <a:xfrm>
            <a:off x="658368" y="3209544"/>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4 Weekly data, Durbin-Watson = 1.41. This suggests …</a:t>
            </a:r>
          </a:p>
          <a:p>
            <a:pPr algn="l">
              <a:spcAft>
                <a:spcPts val="100"/>
              </a:spcAft>
            </a:pPr>
            <a:r>
              <a:rPr sz="1200" b="0" lang="en-GB">
                <a:solidFill>
                  <a:schemeClr val="tx1"/>
                </a:solidFill>
              </a:rPr>
              <a:t>A positive autocorrelation     B no problem     C unequal variance</a:t>
            </a:r>
          </a:p>
        </p:txBody>
      </p:sp>
      <p:sp>
        <p:nvSpPr>
          <p:cNvPr id="22" name="Quiz row 5"/>
          <p:cNvSpPr/>
          <p:nvPr/>
        </p:nvSpPr>
        <p:spPr>
          <a:xfrm>
            <a:off x="457200" y="3867912"/>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Quiz bar 5"/>
          <p:cNvSpPr/>
          <p:nvPr/>
        </p:nvSpPr>
        <p:spPr>
          <a:xfrm>
            <a:off x="457200" y="3867912"/>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Quiz text 5"/>
          <p:cNvSpPr txBox="1"/>
          <p:nvPr/>
        </p:nvSpPr>
        <p:spPr>
          <a:xfrm>
            <a:off x="658368" y="3867912"/>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5 R² rises from 0.85 to 0.86 after adding a variable. This shows …</a:t>
            </a:r>
          </a:p>
          <a:p>
            <a:pPr algn="l">
              <a:spcAft>
                <a:spcPts val="100"/>
              </a:spcAft>
            </a:pPr>
            <a:r>
              <a:rPr sz="1200" b="0" lang="en-GB">
                <a:solidFill>
                  <a:schemeClr val="tx1"/>
                </a:solidFill>
              </a:rPr>
              <a:t>A the variable matters     B nothing: R² never falls     C the model is causal</a:t>
            </a:r>
          </a:p>
        </p:txBody>
      </p:sp>
      <p:sp>
        <p:nvSpPr>
          <p:cNvPr id="25" name="Quiz how box"/>
          <p:cNvSpPr/>
          <p:nvPr/>
        </p:nvSpPr>
        <p:spPr>
          <a:xfrm>
            <a:off x="457200" y="45720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Quiz how" descr=""/>
          <p:cNvPicPr>
            <a:picLocks noChangeAspect="1"/>
          </p:cNvPicPr>
          <p:nvPr/>
        </p:nvPicPr>
        <p:blipFill>
          <a:blip r:embed="rId3"/>
          <a:stretch>
            <a:fillRect/>
          </a:stretch>
        </p:blipFill>
        <p:spPr>
          <a:xfrm>
            <a:off x="658368" y="4617720"/>
            <a:ext cx="365760" cy="365760"/>
          </a:xfrm>
          <a:prstGeom prst="rect">
            <a:avLst/>
          </a:prstGeom>
        </p:spPr>
      </p:pic>
      <p:sp>
        <p:nvSpPr>
          <p:cNvPr id="27" name="Quiz how text"/>
          <p:cNvSpPr txBox="1"/>
          <p:nvPr/>
        </p:nvSpPr>
        <p:spPr>
          <a:xfrm>
            <a:off x="1207008" y="4572000"/>
            <a:ext cx="731520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3 minutes alone, </a:t>
            </a:r>
            <a:r>
              <a:rPr sz="1200" b="0" lang="en-GB">
                <a:solidFill>
                  <a:schemeClr val="bg1"/>
                </a:solidFill>
              </a:rPr>
              <a:t>then compare with your neighbour. Same format as the online quiz and the exam.</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10 of 11 · groups of 3, 25 minutes, on the chocolate data</a:t>
            </a:r>
          </a:p>
        </p:txBody>
      </p:sp>
      <p:sp>
        <p:nvSpPr>
          <p:cNvPr id="3" name="Title 2"/>
          <p:cNvSpPr>
            <a:spLocks noGrp="1"/>
          </p:cNvSpPr>
          <p:nvPr>
            <p:ph type="ctrTitle"/>
          </p:nvPr>
        </p:nvSpPr>
        <p:spPr/>
        <p:txBody>
          <a:bodyPr/>
          <a:lstStyle/>
          <a:p>
            <a:r>
              <a:rPr sz="1600" lang="en-GB"/>
              <a:t>In-class assignment</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In-class assignment: pricing brand 1</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Inclass steps step 1"/>
          <p:cNvSpPr/>
          <p:nvPr/>
        </p:nvSpPr>
        <p:spPr>
          <a:xfrm>
            <a:off x="457200" y="1234440"/>
            <a:ext cx="4169664" cy="45720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Groups of 3:</a:t>
            </a:r>
            <a:br/>
            <a:r>
              <a:rPr sz="1200" b="1" lang="en-GB">
                <a:solidFill>
                  <a:schemeClr val="tx2"/>
                </a:solidFill>
              </a:rPr>
              <a:t>20 minutes</a:t>
            </a:r>
          </a:p>
        </p:txBody>
      </p:sp>
      <p:sp>
        <p:nvSpPr>
          <p:cNvPr id="11" name="Inclass steps step 2"/>
          <p:cNvSpPr/>
          <p:nvPr/>
        </p:nvSpPr>
        <p:spPr>
          <a:xfrm>
            <a:off x="4517136" y="1234440"/>
            <a:ext cx="4169664" cy="45720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Plenary:</a:t>
            </a:r>
            <a:br/>
            <a:r>
              <a:rPr sz="1200" b="1" lang="en-GB">
                <a:solidFill>
                  <a:schemeClr val="tx2"/>
                </a:solidFill>
              </a:rPr>
              <a:t>5 minutes</a:t>
            </a:r>
          </a:p>
        </p:txBody>
      </p:sp>
      <p:sp>
        <p:nvSpPr>
          <p:cNvPr id="12" name="Inclass q row 1"/>
          <p:cNvSpPr/>
          <p:nvPr/>
        </p:nvSpPr>
        <p:spPr>
          <a:xfrm>
            <a:off x="457200" y="1828800"/>
            <a:ext cx="8229600" cy="60350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Inclass q number 1"/>
          <p:cNvSpPr/>
          <p:nvPr/>
        </p:nvSpPr>
        <p:spPr>
          <a:xfrm>
            <a:off x="594360" y="197510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4" name="Inclass q text 1"/>
          <p:cNvSpPr txBox="1"/>
          <p:nvPr/>
        </p:nvSpPr>
        <p:spPr>
          <a:xfrm>
            <a:off x="1051560" y="1828800"/>
            <a:ext cx="7498080" cy="603504"/>
          </a:xfrm>
          <a:prstGeom prst="rect">
            <a:avLst/>
          </a:prstGeom>
          <a:noFill/>
        </p:spPr>
        <p:txBody>
          <a:bodyPr wrap="square" lIns="0" rIns="0" tIns="0" bIns="0" anchor="ctr">
            <a:noAutofit/>
          </a:bodyPr>
          <a:lstStyle/>
          <a:p>
            <a:pPr algn="l">
              <a:spcAft>
                <a:spcPts val="400"/>
              </a:spcAft>
            </a:pPr>
            <a:r>
              <a:rPr sz="1200" b="1" lang="en-GB">
                <a:solidFill>
                  <a:schemeClr val="tx2"/>
                </a:solidFill>
              </a:rPr>
              <a:t>Competition: </a:t>
            </a:r>
            <a:r>
              <a:rPr sz="1200" b="0" lang="en-GB">
                <a:solidFill>
                  <a:schemeClr val="tx1"/>
                </a:solidFill>
              </a:rPr>
              <a:t>plot sales against price2, price3 and price4. Which brand competes most?</a:t>
            </a:r>
          </a:p>
        </p:txBody>
      </p:sp>
      <p:sp>
        <p:nvSpPr>
          <p:cNvPr id="15" name="Inclass q row 2"/>
          <p:cNvSpPr/>
          <p:nvPr/>
        </p:nvSpPr>
        <p:spPr>
          <a:xfrm>
            <a:off x="457200" y="2505456"/>
            <a:ext cx="8229600" cy="60350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Inclass q number 2"/>
          <p:cNvSpPr/>
          <p:nvPr/>
        </p:nvSpPr>
        <p:spPr>
          <a:xfrm>
            <a:off x="594360" y="265176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7" name="Inclass q text 2"/>
          <p:cNvSpPr txBox="1"/>
          <p:nvPr/>
        </p:nvSpPr>
        <p:spPr>
          <a:xfrm>
            <a:off x="1051560" y="2505456"/>
            <a:ext cx="7498080" cy="603504"/>
          </a:xfrm>
          <a:prstGeom prst="rect">
            <a:avLst/>
          </a:prstGeom>
          <a:noFill/>
        </p:spPr>
        <p:txBody>
          <a:bodyPr wrap="square" lIns="0" rIns="0" tIns="0" bIns="0" anchor="ctr">
            <a:noAutofit/>
          </a:bodyPr>
          <a:lstStyle/>
          <a:p>
            <a:pPr algn="l">
              <a:spcAft>
                <a:spcPts val="400"/>
              </a:spcAft>
            </a:pPr>
            <a:r>
              <a:rPr sz="1200" b="1" lang="en-GB">
                <a:solidFill>
                  <a:schemeClr val="tx2"/>
                </a:solidFill>
              </a:rPr>
              <a:t>Displays: </a:t>
            </a:r>
            <a:r>
              <a:rPr sz="1200" b="0" lang="en-GB">
                <a:solidFill>
                  <a:schemeClr val="tx1"/>
                </a:solidFill>
              </a:rPr>
              <a:t>add display1 and fand1 to the log-log model. What happens to the VIFs and coefficients, and why?</a:t>
            </a:r>
          </a:p>
        </p:txBody>
      </p:sp>
      <p:sp>
        <p:nvSpPr>
          <p:cNvPr id="18" name="Inclass q row 3"/>
          <p:cNvSpPr/>
          <p:nvPr/>
        </p:nvSpPr>
        <p:spPr>
          <a:xfrm>
            <a:off x="457200" y="3182112"/>
            <a:ext cx="8229600" cy="60350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Inclass q number 3"/>
          <p:cNvSpPr/>
          <p:nvPr/>
        </p:nvSpPr>
        <p:spPr>
          <a:xfrm>
            <a:off x="594360" y="332841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0" name="Inclass q text 3"/>
          <p:cNvSpPr txBox="1"/>
          <p:nvPr/>
        </p:nvSpPr>
        <p:spPr>
          <a:xfrm>
            <a:off x="1051560" y="3182112"/>
            <a:ext cx="7498080" cy="603504"/>
          </a:xfrm>
          <a:prstGeom prst="rect">
            <a:avLst/>
          </a:prstGeom>
          <a:noFill/>
        </p:spPr>
        <p:txBody>
          <a:bodyPr wrap="square" lIns="0" rIns="0" tIns="0" bIns="0" anchor="ctr">
            <a:noAutofit/>
          </a:bodyPr>
          <a:lstStyle/>
          <a:p>
            <a:pPr algn="l">
              <a:spcAft>
                <a:spcPts val="400"/>
              </a:spcAft>
            </a:pPr>
            <a:r>
              <a:rPr sz="1200" b="1" lang="en-GB">
                <a:solidFill>
                  <a:schemeClr val="tx2"/>
                </a:solidFill>
              </a:rPr>
              <a:t>Price: </a:t>
            </a:r>
            <a:r>
              <a:rPr sz="1200" b="0" lang="en-GB">
                <a:solidFill>
                  <a:schemeClr val="tx1"/>
                </a:solidFill>
              </a:rPr>
              <a:t>marginal cost is 0.80. What price does ε = −3.64 suggest? Why is the real price about 1.50?</a:t>
            </a:r>
          </a:p>
        </p:txBody>
      </p:sp>
      <p:sp>
        <p:nvSpPr>
          <p:cNvPr id="21" name="Inclass q row 4"/>
          <p:cNvSpPr/>
          <p:nvPr/>
        </p:nvSpPr>
        <p:spPr>
          <a:xfrm>
            <a:off x="457200" y="3858768"/>
            <a:ext cx="8229600" cy="60350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Inclass q number 4"/>
          <p:cNvSpPr/>
          <p:nvPr/>
        </p:nvSpPr>
        <p:spPr>
          <a:xfrm>
            <a:off x="594360" y="400507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3" name="Inclass q text 4"/>
          <p:cNvSpPr txBox="1"/>
          <p:nvPr/>
        </p:nvSpPr>
        <p:spPr>
          <a:xfrm>
            <a:off x="1051560" y="3858768"/>
            <a:ext cx="7498080" cy="603504"/>
          </a:xfrm>
          <a:prstGeom prst="rect">
            <a:avLst/>
          </a:prstGeom>
          <a:noFill/>
        </p:spPr>
        <p:txBody>
          <a:bodyPr wrap="square" lIns="0" rIns="0" tIns="0" bIns="0" anchor="ctr">
            <a:noAutofit/>
          </a:bodyPr>
          <a:lstStyle/>
          <a:p>
            <a:pPr algn="l">
              <a:spcAft>
                <a:spcPts val="400"/>
              </a:spcAft>
            </a:pPr>
            <a:r>
              <a:rPr sz="1200" b="1" lang="en-GB">
                <a:solidFill>
                  <a:schemeClr val="tx2"/>
                </a:solidFill>
              </a:rPr>
              <a:t>The manager: </a:t>
            </a:r>
            <a:r>
              <a:rPr sz="1200" b="0" lang="en-GB">
                <a:solidFill>
                  <a:schemeClr val="tx1"/>
                </a:solidFill>
              </a:rPr>
              <a:t>write one sentence for the brand manager, with a number and one caveat.</a:t>
            </a:r>
          </a:p>
        </p:txBody>
      </p:sp>
      <p:sp>
        <p:nvSpPr>
          <p:cNvPr id="24" name="Inclass file"/>
          <p:cNvSpPr txBox="1"/>
          <p:nvPr/>
        </p:nvSpPr>
        <p:spPr>
          <a:xfrm>
            <a:off x="457200" y="457200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sessions/01-foundations/regression_chocolate.qmd</a:t>
            </a:r>
            <a:r>
              <a:rPr sz="1200" b="0" lang="en-GB">
                <a:solidFill>
                  <a:schemeClr val="tx1"/>
                </a:solidFill>
              </a:rPr>
              <a:t>  (the code of Part 9 and these questions)</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11 of 11 · individual, 5 % of the grade</a:t>
            </a:r>
          </a:p>
        </p:txBody>
      </p:sp>
      <p:sp>
        <p:nvSpPr>
          <p:cNvPr id="3" name="Title 2"/>
          <p:cNvSpPr>
            <a:spLocks noGrp="1"/>
          </p:cNvSpPr>
          <p:nvPr>
            <p:ph type="ctrTitle"/>
          </p:nvPr>
        </p:nvSpPr>
        <p:spPr/>
        <p:txBody>
          <a:bodyPr/>
          <a:lstStyle/>
          <a:p>
            <a:r>
              <a:rPr sz="1600" lang="en-GB"/>
              <a:t>Coding exercise 1</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Coding exercise 1: what to do</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Ex tasks row 1"/>
          <p:cNvSpPr/>
          <p:nvPr/>
        </p:nvSpPr>
        <p:spPr>
          <a:xfrm>
            <a:off x="457200" y="123444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x tasks number 1"/>
          <p:cNvSpPr/>
          <p:nvPr/>
        </p:nvSpPr>
        <p:spPr>
          <a:xfrm>
            <a:off x="594360" y="13350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Ex tasks text 1"/>
          <p:cNvSpPr txBox="1"/>
          <p:nvPr/>
        </p:nvSpPr>
        <p:spPr>
          <a:xfrm>
            <a:off x="1051560" y="1234440"/>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Explore: </a:t>
            </a:r>
            <a:r>
              <a:rPr sz="1200" b="0" lang="en-GB">
                <a:solidFill>
                  <a:schemeClr val="tx1"/>
                </a:solidFill>
              </a:rPr>
              <a:t>a great_tables summary and two plotnine charts: sales over time, sales against price1</a:t>
            </a:r>
          </a:p>
        </p:txBody>
      </p:sp>
      <p:sp>
        <p:nvSpPr>
          <p:cNvPr id="13" name="Ex tasks row 2"/>
          <p:cNvSpPr/>
          <p:nvPr/>
        </p:nvSpPr>
        <p:spPr>
          <a:xfrm>
            <a:off x="457200" y="1810512"/>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x tasks number 2"/>
          <p:cNvSpPr/>
          <p:nvPr/>
        </p:nvSpPr>
        <p:spPr>
          <a:xfrm>
            <a:off x="594360" y="191109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Ex tasks text 2"/>
          <p:cNvSpPr txBox="1"/>
          <p:nvPr/>
        </p:nvSpPr>
        <p:spPr>
          <a:xfrm>
            <a:off x="1051560" y="1810512"/>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Simple model: </a:t>
            </a:r>
            <a:r>
              <a:rPr sz="1200" b="0" lang="en-GB">
                <a:solidFill>
                  <a:schemeClr val="tx1"/>
                </a:solidFill>
              </a:rPr>
              <a:t>sales ~ price1; interpret the slope for a 10-cent price change</a:t>
            </a:r>
          </a:p>
        </p:txBody>
      </p:sp>
      <p:sp>
        <p:nvSpPr>
          <p:cNvPr id="16" name="Ex tasks row 3"/>
          <p:cNvSpPr/>
          <p:nvPr/>
        </p:nvSpPr>
        <p:spPr>
          <a:xfrm>
            <a:off x="457200" y="2386584"/>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Ex tasks number 3"/>
          <p:cNvSpPr/>
          <p:nvPr/>
        </p:nvSpPr>
        <p:spPr>
          <a:xfrm>
            <a:off x="594360" y="248716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Ex tasks text 3"/>
          <p:cNvSpPr txBox="1"/>
          <p:nvPr/>
        </p:nvSpPr>
        <p:spPr>
          <a:xfrm>
            <a:off x="1051560" y="2386584"/>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Log-log model: </a:t>
            </a:r>
            <a:r>
              <a:rPr sz="1200" b="0" lang="en-GB">
                <a:solidFill>
                  <a:schemeClr val="tx1"/>
                </a:solidFill>
              </a:rPr>
              <a:t>own and competitor prices, feature1, display1, temp, december; interpret 3 coefficients</a:t>
            </a:r>
          </a:p>
        </p:txBody>
      </p:sp>
      <p:sp>
        <p:nvSpPr>
          <p:cNvPr id="19" name="Ex tasks row 4"/>
          <p:cNvSpPr/>
          <p:nvPr/>
        </p:nvSpPr>
        <p:spPr>
          <a:xfrm>
            <a:off x="457200" y="2962656"/>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Ex tasks number 4"/>
          <p:cNvSpPr/>
          <p:nvPr/>
        </p:nvSpPr>
        <p:spPr>
          <a:xfrm>
            <a:off x="594360" y="306324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Ex tasks text 4"/>
          <p:cNvSpPr txBox="1"/>
          <p:nvPr/>
        </p:nvSpPr>
        <p:spPr>
          <a:xfrm>
            <a:off x="1051560" y="2962656"/>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Assumptions: </a:t>
            </a:r>
            <a:r>
              <a:rPr sz="1200" b="0" lang="en-GB">
                <a:solidFill>
                  <a:schemeClr val="tx1"/>
                </a:solidFill>
              </a:rPr>
              <a:t>residual plot, histogram, Durbin-Watson, Breusch-Pagan, Jarque-Bera, VIF; one sentence each</a:t>
            </a:r>
          </a:p>
        </p:txBody>
      </p:sp>
      <p:sp>
        <p:nvSpPr>
          <p:cNvPr id="22" name="Ex tasks row 5"/>
          <p:cNvSpPr/>
          <p:nvPr/>
        </p:nvSpPr>
        <p:spPr>
          <a:xfrm>
            <a:off x="457200" y="3538728"/>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Ex tasks number 5"/>
          <p:cNvSpPr/>
          <p:nvPr/>
        </p:nvSpPr>
        <p:spPr>
          <a:xfrm>
            <a:off x="594360" y="36393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Ex tasks text 5"/>
          <p:cNvSpPr txBox="1"/>
          <p:nvPr/>
        </p:nvSpPr>
        <p:spPr>
          <a:xfrm>
            <a:off x="1051560" y="3538728"/>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Robust errors: </a:t>
            </a:r>
            <a:r>
              <a:rPr sz="1200" b="0" lang="en-GB">
                <a:solidFill>
                  <a:schemeClr val="tx1"/>
                </a:solidFill>
              </a:rPr>
              <a:t>refit with HAC standard errors; what changes and what does not?</a:t>
            </a:r>
          </a:p>
        </p:txBody>
      </p:sp>
      <p:sp>
        <p:nvSpPr>
          <p:cNvPr id="25" name="Ex tasks row 6"/>
          <p:cNvSpPr/>
          <p:nvPr/>
        </p:nvSpPr>
        <p:spPr>
          <a:xfrm>
            <a:off x="457200" y="411480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Ex tasks number 6"/>
          <p:cNvSpPr/>
          <p:nvPr/>
        </p:nvSpPr>
        <p:spPr>
          <a:xfrm>
            <a:off x="594360" y="421538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6</a:t>
            </a:r>
          </a:p>
        </p:txBody>
      </p:sp>
      <p:sp>
        <p:nvSpPr>
          <p:cNvPr id="27" name="Ex tasks text 6"/>
          <p:cNvSpPr txBox="1"/>
          <p:nvPr/>
        </p:nvSpPr>
        <p:spPr>
          <a:xfrm>
            <a:off x="1051560" y="4114800"/>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Recommend: </a:t>
            </a:r>
            <a:r>
              <a:rPr sz="1200" b="0" lang="en-GB">
                <a:solidFill>
                  <a:schemeClr val="tx1"/>
                </a:solidFill>
              </a:rPr>
              <a:t>the optimal price for marginal cost 0.90, with two caveats, in at most 100 words</a:t>
            </a:r>
          </a:p>
        </p:txBody>
      </p:sp>
      <p:sp>
        <p:nvSpPr>
          <p:cNvPr id="28" name="Ex data"/>
          <p:cNvSpPr txBox="1"/>
          <p:nvPr/>
        </p:nvSpPr>
        <p:spPr>
          <a:xfrm>
            <a:off x="457200" y="470916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Brief: </a:t>
            </a:r>
            <a:r>
              <a:rPr sz="1200" b="0" lang="en-GB">
                <a:solidFill>
                  <a:schemeClr val="tx2"/>
                </a:solidFill>
                <a:latin typeface="Consolas"/>
              </a:rPr>
              <a:t>assignments/coding-exercises/exercise-1.qmd</a:t>
            </a:r>
            <a:r>
              <a:rPr sz="1200" b="0" lang="en-GB">
                <a:solidFill>
                  <a:schemeClr val="tx1"/>
                </a:solidFill>
              </a:rPr>
              <a:t>  and on Canvas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Coding exercise 1: submission and grading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Ex submit body"/>
          <p:cNvSpPr/>
          <p:nvPr/>
        </p:nvSpPr>
        <p:spPr>
          <a:xfrm>
            <a:off x="457200" y="1645920"/>
            <a:ext cx="404622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x submit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x submit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Submit on Canvas</a:t>
            </a:r>
          </a:p>
        </p:txBody>
      </p:sp>
      <p:pic>
        <p:nvPicPr>
          <p:cNvPr id="13" name="Icon Ex submit" descr=""/>
          <p:cNvPicPr>
            <a:picLocks noChangeAspect="1"/>
          </p:cNvPicPr>
          <p:nvPr/>
        </p:nvPicPr>
        <p:blipFill>
          <a:blip r:embed="rId3"/>
          <a:stretch>
            <a:fillRect/>
          </a:stretch>
        </p:blipFill>
        <p:spPr>
          <a:xfrm>
            <a:off x="4064508" y="1284732"/>
            <a:ext cx="310896" cy="310896"/>
          </a:xfrm>
          <a:prstGeom prst="rect">
            <a:avLst/>
          </a:prstGeom>
        </p:spPr>
      </p:pic>
      <p:sp>
        <p:nvSpPr>
          <p:cNvPr id="14" name="Ex submit text"/>
          <p:cNvSpPr txBox="1"/>
          <p:nvPr/>
        </p:nvSpPr>
        <p:spPr>
          <a:xfrm>
            <a:off x="621792" y="1783080"/>
            <a:ext cx="374446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exercise1_lastname.qmd and the rendered .html</a:t>
            </a:r>
          </a:p>
          <a:p>
            <a:pPr algn="l" marL="182880" indent="-182880">
              <a:spcAft>
                <a:spcPts val="600"/>
              </a:spcAft>
              <a:buClr>
                <a:schemeClr val="accent1"/>
              </a:buClr>
              <a:buFont typeface="Arial"/>
              <a:buChar char="▪"/>
            </a:pPr>
            <a:r>
              <a:rPr sz="1300" b="0" lang="en-GB">
                <a:solidFill>
                  <a:schemeClr val="tx1"/>
                </a:solidFill>
              </a:rPr>
              <a:t>Renders from top to bottom without errors</a:t>
            </a:r>
          </a:p>
          <a:p>
            <a:pPr algn="l" marL="182880" indent="-182880">
              <a:spcAft>
                <a:spcPts val="600"/>
              </a:spcAft>
              <a:buClr>
                <a:schemeClr val="accent1"/>
              </a:buClr>
              <a:buFont typeface="Arial"/>
              <a:buChar char="▪"/>
            </a:pPr>
            <a:r>
              <a:rPr sz="1300" b="0" lang="en-GB">
                <a:solidFill>
                  <a:schemeClr val="tx1"/>
                </a:solidFill>
              </a:rPr>
              <a:t>Every number in the text from code</a:t>
            </a:r>
          </a:p>
          <a:p>
            <a:pPr algn="l" marL="182880" indent="-182880">
              <a:spcAft>
                <a:spcPts val="600"/>
              </a:spcAft>
              <a:buClr>
                <a:schemeClr val="accent1"/>
              </a:buClr>
              <a:buFont typeface="Arial"/>
              <a:buChar char="▪"/>
            </a:pPr>
            <a:r>
              <a:rPr sz="1300" b="0" lang="en-GB">
                <a:solidFill>
                  <a:schemeClr val="tx1"/>
                </a:solidFill>
              </a:rPr>
              <a:t>Prompt log at the end: what you asked, what you changed</a:t>
            </a:r>
          </a:p>
          <a:p>
            <a:pPr algn="l" marL="182880" indent="-182880">
              <a:spcAft>
                <a:spcPts val="600"/>
              </a:spcAft>
              <a:buClr>
                <a:schemeClr val="accent1"/>
              </a:buClr>
              <a:buFont typeface="Arial"/>
              <a:buChar char="▪"/>
            </a:pPr>
            <a:r>
              <a:rPr sz="1300" b="0" lang="en-GB">
                <a:solidFill>
                  <a:schemeClr val="tx1"/>
                </a:solidFill>
              </a:rPr>
              <a:t>Deadline: see Canvas</a:t>
            </a:r>
          </a:p>
        </p:txBody>
      </p:sp>
      <p:sp>
        <p:nvSpPr>
          <p:cNvPr id="15" name="Ex grid 1-1"/>
          <p:cNvSpPr/>
          <p:nvPr/>
        </p:nvSpPr>
        <p:spPr>
          <a:xfrm>
            <a:off x="4640580" y="1234440"/>
            <a:ext cx="303580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Ex grid text 1-1"/>
          <p:cNvSpPr txBox="1"/>
          <p:nvPr/>
        </p:nvSpPr>
        <p:spPr>
          <a:xfrm>
            <a:off x="4732020" y="1234440"/>
            <a:ext cx="2852928" cy="329184"/>
          </a:xfrm>
          <a:prstGeom prst="rect">
            <a:avLst/>
          </a:prstGeom>
          <a:noFill/>
        </p:spPr>
        <p:txBody>
          <a:bodyPr wrap="square" lIns="0" rIns="0" tIns="0" bIns="0" anchor="ctr">
            <a:noAutofit/>
          </a:bodyPr>
          <a:lstStyle/>
          <a:p>
            <a:pPr algn="l">
              <a:spcAft>
                <a:spcPts val="400"/>
              </a:spcAft>
            </a:pPr>
            <a:r>
              <a:rPr sz="1200" b="1" lang="en-GB">
                <a:solidFill>
                  <a:schemeClr val="bg1"/>
                </a:solidFill>
              </a:rPr>
              <a:t>Criterion</a:t>
            </a:r>
          </a:p>
        </p:txBody>
      </p:sp>
      <p:sp>
        <p:nvSpPr>
          <p:cNvPr id="17" name="Ex grid 1-2"/>
          <p:cNvSpPr/>
          <p:nvPr/>
        </p:nvSpPr>
        <p:spPr>
          <a:xfrm>
            <a:off x="7703820" y="1234440"/>
            <a:ext cx="96012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Ex grid text 1-2"/>
          <p:cNvSpPr txBox="1"/>
          <p:nvPr/>
        </p:nvSpPr>
        <p:spPr>
          <a:xfrm>
            <a:off x="7795260" y="1234440"/>
            <a:ext cx="777240" cy="329184"/>
          </a:xfrm>
          <a:prstGeom prst="rect">
            <a:avLst/>
          </a:prstGeom>
          <a:noFill/>
        </p:spPr>
        <p:txBody>
          <a:bodyPr wrap="square" lIns="0" rIns="0" tIns="0" bIns="0" anchor="ctr">
            <a:noAutofit/>
          </a:bodyPr>
          <a:lstStyle/>
          <a:p>
            <a:pPr algn="l">
              <a:spcAft>
                <a:spcPts val="400"/>
              </a:spcAft>
            </a:pPr>
            <a:r>
              <a:rPr sz="1200" b="1" lang="en-GB">
                <a:solidFill>
                  <a:schemeClr val="bg1"/>
                </a:solidFill>
              </a:rPr>
              <a:t>Points</a:t>
            </a:r>
          </a:p>
        </p:txBody>
      </p:sp>
      <p:sp>
        <p:nvSpPr>
          <p:cNvPr id="19" name="Ex grid 2-1"/>
          <p:cNvSpPr/>
          <p:nvPr/>
        </p:nvSpPr>
        <p:spPr>
          <a:xfrm>
            <a:off x="4640580" y="1591056"/>
            <a:ext cx="3035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Ex grid text 2-1"/>
          <p:cNvSpPr txBox="1"/>
          <p:nvPr/>
        </p:nvSpPr>
        <p:spPr>
          <a:xfrm>
            <a:off x="4732020" y="1591056"/>
            <a:ext cx="285292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Code runs, charts and tables clean</a:t>
            </a:r>
          </a:p>
        </p:txBody>
      </p:sp>
      <p:sp>
        <p:nvSpPr>
          <p:cNvPr id="21" name="Ex grid 2-2"/>
          <p:cNvSpPr/>
          <p:nvPr/>
        </p:nvSpPr>
        <p:spPr>
          <a:xfrm>
            <a:off x="7703820" y="1591056"/>
            <a:ext cx="9601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Ex grid text 2-2"/>
          <p:cNvSpPr txBox="1"/>
          <p:nvPr/>
        </p:nvSpPr>
        <p:spPr>
          <a:xfrm>
            <a:off x="7795260" y="1591056"/>
            <a:ext cx="777240" cy="329184"/>
          </a:xfrm>
          <a:prstGeom prst="rect">
            <a:avLst/>
          </a:prstGeom>
          <a:noFill/>
        </p:spPr>
        <p:txBody>
          <a:bodyPr wrap="square" lIns="0" rIns="0" tIns="0" bIns="0" anchor="ctr">
            <a:noAutofit/>
          </a:bodyPr>
          <a:lstStyle/>
          <a:p>
            <a:pPr algn="l">
              <a:spcAft>
                <a:spcPts val="400"/>
              </a:spcAft>
            </a:pPr>
            <a:r>
              <a:rPr sz="1200" b="0" lang="en-GB">
                <a:solidFill>
                  <a:schemeClr val="tx1"/>
                </a:solidFill>
              </a:rPr>
              <a:t>5</a:t>
            </a:r>
          </a:p>
        </p:txBody>
      </p:sp>
      <p:sp>
        <p:nvSpPr>
          <p:cNvPr id="23" name="Ex grid 3-1"/>
          <p:cNvSpPr/>
          <p:nvPr/>
        </p:nvSpPr>
        <p:spPr>
          <a:xfrm>
            <a:off x="4640580" y="1947672"/>
            <a:ext cx="3035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Ex grid text 3-1"/>
          <p:cNvSpPr txBox="1"/>
          <p:nvPr/>
        </p:nvSpPr>
        <p:spPr>
          <a:xfrm>
            <a:off x="4732020" y="1947672"/>
            <a:ext cx="285292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Interpretation of the coefficients</a:t>
            </a:r>
          </a:p>
        </p:txBody>
      </p:sp>
      <p:sp>
        <p:nvSpPr>
          <p:cNvPr id="25" name="Ex grid 3-2"/>
          <p:cNvSpPr/>
          <p:nvPr/>
        </p:nvSpPr>
        <p:spPr>
          <a:xfrm>
            <a:off x="7703820" y="1947672"/>
            <a:ext cx="9601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Ex grid text 3-2"/>
          <p:cNvSpPr txBox="1"/>
          <p:nvPr/>
        </p:nvSpPr>
        <p:spPr>
          <a:xfrm>
            <a:off x="7795260" y="1947672"/>
            <a:ext cx="777240" cy="329184"/>
          </a:xfrm>
          <a:prstGeom prst="rect">
            <a:avLst/>
          </a:prstGeom>
          <a:noFill/>
        </p:spPr>
        <p:txBody>
          <a:bodyPr wrap="square" lIns="0" rIns="0" tIns="0" bIns="0" anchor="ctr">
            <a:noAutofit/>
          </a:bodyPr>
          <a:lstStyle/>
          <a:p>
            <a:pPr algn="l">
              <a:spcAft>
                <a:spcPts val="400"/>
              </a:spcAft>
            </a:pPr>
            <a:r>
              <a:rPr sz="1200" b="0" lang="en-GB">
                <a:solidFill>
                  <a:schemeClr val="tx1"/>
                </a:solidFill>
              </a:rPr>
              <a:t>6</a:t>
            </a:r>
          </a:p>
        </p:txBody>
      </p:sp>
      <p:sp>
        <p:nvSpPr>
          <p:cNvPr id="27" name="Ex grid 4-1"/>
          <p:cNvSpPr/>
          <p:nvPr/>
        </p:nvSpPr>
        <p:spPr>
          <a:xfrm>
            <a:off x="4640580" y="2304288"/>
            <a:ext cx="3035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Ex grid text 4-1"/>
          <p:cNvSpPr txBox="1"/>
          <p:nvPr/>
        </p:nvSpPr>
        <p:spPr>
          <a:xfrm>
            <a:off x="4732020" y="2304288"/>
            <a:ext cx="285292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Assumption checks and conclusion</a:t>
            </a:r>
          </a:p>
        </p:txBody>
      </p:sp>
      <p:sp>
        <p:nvSpPr>
          <p:cNvPr id="29" name="Ex grid 4-2"/>
          <p:cNvSpPr/>
          <p:nvPr/>
        </p:nvSpPr>
        <p:spPr>
          <a:xfrm>
            <a:off x="7703820" y="2304288"/>
            <a:ext cx="9601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Ex grid text 4-2"/>
          <p:cNvSpPr txBox="1"/>
          <p:nvPr/>
        </p:nvSpPr>
        <p:spPr>
          <a:xfrm>
            <a:off x="7795260" y="2304288"/>
            <a:ext cx="777240" cy="329184"/>
          </a:xfrm>
          <a:prstGeom prst="rect">
            <a:avLst/>
          </a:prstGeom>
          <a:noFill/>
        </p:spPr>
        <p:txBody>
          <a:bodyPr wrap="square" lIns="0" rIns="0" tIns="0" bIns="0" anchor="ctr">
            <a:noAutofit/>
          </a:bodyPr>
          <a:lstStyle/>
          <a:p>
            <a:pPr algn="l">
              <a:spcAft>
                <a:spcPts val="400"/>
              </a:spcAft>
            </a:pPr>
            <a:r>
              <a:rPr sz="1200" b="0" lang="en-GB">
                <a:solidFill>
                  <a:schemeClr val="tx1"/>
                </a:solidFill>
              </a:rPr>
              <a:t>5</a:t>
            </a:r>
          </a:p>
        </p:txBody>
      </p:sp>
      <p:sp>
        <p:nvSpPr>
          <p:cNvPr id="31" name="Ex grid 5-1"/>
          <p:cNvSpPr/>
          <p:nvPr/>
        </p:nvSpPr>
        <p:spPr>
          <a:xfrm>
            <a:off x="4640580" y="2660904"/>
            <a:ext cx="3035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Ex grid text 5-1"/>
          <p:cNvSpPr txBox="1"/>
          <p:nvPr/>
        </p:nvSpPr>
        <p:spPr>
          <a:xfrm>
            <a:off x="4732020" y="2660904"/>
            <a:ext cx="285292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Recommendation with caveats</a:t>
            </a:r>
          </a:p>
        </p:txBody>
      </p:sp>
      <p:sp>
        <p:nvSpPr>
          <p:cNvPr id="33" name="Ex grid 5-2"/>
          <p:cNvSpPr/>
          <p:nvPr/>
        </p:nvSpPr>
        <p:spPr>
          <a:xfrm>
            <a:off x="7703820" y="2660904"/>
            <a:ext cx="9601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Ex grid text 5-2"/>
          <p:cNvSpPr txBox="1"/>
          <p:nvPr/>
        </p:nvSpPr>
        <p:spPr>
          <a:xfrm>
            <a:off x="7795260" y="2660904"/>
            <a:ext cx="777240" cy="329184"/>
          </a:xfrm>
          <a:prstGeom prst="rect">
            <a:avLst/>
          </a:prstGeom>
          <a:noFill/>
        </p:spPr>
        <p:txBody>
          <a:bodyPr wrap="square" lIns="0" rIns="0" tIns="0" bIns="0" anchor="ctr">
            <a:noAutofit/>
          </a:bodyPr>
          <a:lstStyle/>
          <a:p>
            <a:pPr algn="l">
              <a:spcAft>
                <a:spcPts val="400"/>
              </a:spcAft>
            </a:pPr>
            <a:r>
              <a:rPr sz="1200" b="0" lang="en-GB">
                <a:solidFill>
                  <a:schemeClr val="tx1"/>
                </a:solidFill>
              </a:rPr>
              <a:t>2</a:t>
            </a:r>
          </a:p>
        </p:txBody>
      </p:sp>
      <p:sp>
        <p:nvSpPr>
          <p:cNvPr id="35" name="Ex grid 6-1"/>
          <p:cNvSpPr/>
          <p:nvPr/>
        </p:nvSpPr>
        <p:spPr>
          <a:xfrm>
            <a:off x="4640580" y="3017520"/>
            <a:ext cx="3035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Ex grid text 6-1"/>
          <p:cNvSpPr txBox="1"/>
          <p:nvPr/>
        </p:nvSpPr>
        <p:spPr>
          <a:xfrm>
            <a:off x="4732020" y="3017520"/>
            <a:ext cx="285292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Prompt log</a:t>
            </a:r>
          </a:p>
        </p:txBody>
      </p:sp>
      <p:sp>
        <p:nvSpPr>
          <p:cNvPr id="37" name="Ex grid 6-2"/>
          <p:cNvSpPr/>
          <p:nvPr/>
        </p:nvSpPr>
        <p:spPr>
          <a:xfrm>
            <a:off x="7703820" y="3017520"/>
            <a:ext cx="9601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Ex grid text 6-2"/>
          <p:cNvSpPr txBox="1"/>
          <p:nvPr/>
        </p:nvSpPr>
        <p:spPr>
          <a:xfrm>
            <a:off x="7795260" y="3017520"/>
            <a:ext cx="777240" cy="329184"/>
          </a:xfrm>
          <a:prstGeom prst="rect">
            <a:avLst/>
          </a:prstGeom>
          <a:noFill/>
        </p:spPr>
        <p:txBody>
          <a:bodyPr wrap="square" lIns="0" rIns="0" tIns="0" bIns="0" anchor="ctr">
            <a:noAutofit/>
          </a:bodyPr>
          <a:lstStyle/>
          <a:p>
            <a:pPr algn="l">
              <a:spcAft>
                <a:spcPts val="400"/>
              </a:spcAft>
            </a:pPr>
            <a:r>
              <a:rPr sz="1200" b="0" lang="en-GB">
                <a:solidFill>
                  <a:schemeClr val="tx1"/>
                </a:solidFill>
              </a:rPr>
              <a:t>2</a:t>
            </a:r>
          </a:p>
        </p:txBody>
      </p:sp>
      <p:sp>
        <p:nvSpPr>
          <p:cNvPr id="39" name="Ex grid 7-1"/>
          <p:cNvSpPr/>
          <p:nvPr/>
        </p:nvSpPr>
        <p:spPr>
          <a:xfrm>
            <a:off x="4640580" y="3374136"/>
            <a:ext cx="3035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Ex grid text 7-1"/>
          <p:cNvSpPr txBox="1"/>
          <p:nvPr/>
        </p:nvSpPr>
        <p:spPr>
          <a:xfrm>
            <a:off x="4732020" y="3374136"/>
            <a:ext cx="285292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Total (5 % of the grade)</a:t>
            </a:r>
          </a:p>
        </p:txBody>
      </p:sp>
      <p:sp>
        <p:nvSpPr>
          <p:cNvPr id="41" name="Ex grid 7-2"/>
          <p:cNvSpPr/>
          <p:nvPr/>
        </p:nvSpPr>
        <p:spPr>
          <a:xfrm>
            <a:off x="7703820" y="3374136"/>
            <a:ext cx="9601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Ex grid text 7-2"/>
          <p:cNvSpPr txBox="1"/>
          <p:nvPr/>
        </p:nvSpPr>
        <p:spPr>
          <a:xfrm>
            <a:off x="7795260" y="3374136"/>
            <a:ext cx="777240" cy="329184"/>
          </a:xfrm>
          <a:prstGeom prst="rect">
            <a:avLst/>
          </a:prstGeom>
          <a:noFill/>
        </p:spPr>
        <p:txBody>
          <a:bodyPr wrap="square" lIns="0" rIns="0" tIns="0" bIns="0" anchor="ctr">
            <a:noAutofit/>
          </a:bodyPr>
          <a:lstStyle/>
          <a:p>
            <a:pPr algn="l">
              <a:spcAft>
                <a:spcPts val="400"/>
              </a:spcAft>
            </a:pPr>
            <a:r>
              <a:rPr sz="1200" b="0" lang="en-GB">
                <a:solidFill>
                  <a:schemeClr val="tx1"/>
                </a:solidFill>
              </a:rPr>
              <a:t>20</a:t>
            </a:r>
          </a:p>
        </p:txBody>
      </p:sp>
      <p:sp>
        <p:nvSpPr>
          <p:cNvPr id="43" name="Ex rules box"/>
          <p:cNvSpPr/>
          <p:nvPr/>
        </p:nvSpPr>
        <p:spPr>
          <a:xfrm>
            <a:off x="457200" y="393192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4" name="Icon Ex rules" descr=""/>
          <p:cNvPicPr>
            <a:picLocks noChangeAspect="1"/>
          </p:cNvPicPr>
          <p:nvPr/>
        </p:nvPicPr>
        <p:blipFill>
          <a:blip r:embed="rId4"/>
          <a:stretch>
            <a:fillRect/>
          </a:stretch>
        </p:blipFill>
        <p:spPr>
          <a:xfrm>
            <a:off x="658368" y="4114800"/>
            <a:ext cx="365760" cy="365760"/>
          </a:xfrm>
          <a:prstGeom prst="rect">
            <a:avLst/>
          </a:prstGeom>
        </p:spPr>
      </p:pic>
      <p:sp>
        <p:nvSpPr>
          <p:cNvPr id="45" name="Ex rules text"/>
          <p:cNvSpPr txBox="1"/>
          <p:nvPr/>
        </p:nvSpPr>
        <p:spPr>
          <a:xfrm>
            <a:off x="1207008" y="3931920"/>
            <a:ext cx="7315200" cy="731520"/>
          </a:xfrm>
          <a:prstGeom prst="rect">
            <a:avLst/>
          </a:prstGeom>
          <a:noFill/>
        </p:spPr>
        <p:txBody>
          <a:bodyPr wrap="square" lIns="0" rIns="0" tIns="0" bIns="0" anchor="ctr">
            <a:noAutofit/>
          </a:bodyPr>
          <a:lstStyle/>
          <a:p>
            <a:pPr algn="l">
              <a:spcAft>
                <a:spcPts val="400"/>
              </a:spcAft>
            </a:pPr>
            <a:r>
              <a:rPr sz="1200" b="1" lang="en-GB">
                <a:solidFill>
                  <a:schemeClr val="bg1"/>
                </a:solidFill>
              </a:rPr>
              <a:t>Individual work: </a:t>
            </a:r>
            <a:r>
              <a:rPr sz="1200" b="0" lang="en-GB">
                <a:solidFill>
                  <a:schemeClr val="bg1"/>
                </a:solidFill>
              </a:rPr>
              <a:t>discuss ideas, but write and check your own code. AI assistants are allowed; you own every number.</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Regression: key takeaways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akeaways row 1"/>
          <p:cNvSpPr/>
          <p:nvPr/>
        </p:nvSpPr>
        <p:spPr>
          <a:xfrm>
            <a:off x="457200" y="1234440"/>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akeaways number 1"/>
          <p:cNvSpPr/>
          <p:nvPr/>
        </p:nvSpPr>
        <p:spPr>
          <a:xfrm>
            <a:off x="594360" y="137160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Takeaways text 1"/>
          <p:cNvSpPr txBox="1"/>
          <p:nvPr/>
        </p:nvSpPr>
        <p:spPr>
          <a:xfrm>
            <a:off x="1051560" y="1234440"/>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OLS </a:t>
            </a:r>
            <a:r>
              <a:rPr sz="1200" b="0" lang="en-GB">
                <a:solidFill>
                  <a:schemeClr val="tx1"/>
                </a:solidFill>
              </a:rPr>
              <a:t>draws the line with the smallest squared errors; each b holds the other variables constant</a:t>
            </a:r>
          </a:p>
        </p:txBody>
      </p:sp>
      <p:sp>
        <p:nvSpPr>
          <p:cNvPr id="13" name="Takeaways row 2"/>
          <p:cNvSpPr/>
          <p:nvPr/>
        </p:nvSpPr>
        <p:spPr>
          <a:xfrm>
            <a:off x="457200" y="1901952"/>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akeaways number 2"/>
          <p:cNvSpPr/>
          <p:nvPr/>
        </p:nvSpPr>
        <p:spPr>
          <a:xfrm>
            <a:off x="594360" y="20391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Takeaways text 2"/>
          <p:cNvSpPr txBox="1"/>
          <p:nvPr/>
        </p:nvSpPr>
        <p:spPr>
          <a:xfrm>
            <a:off x="1051560" y="1901952"/>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Logs </a:t>
            </a:r>
            <a:r>
              <a:rPr sz="1200" b="0" lang="en-GB">
                <a:solidFill>
                  <a:schemeClr val="tx1"/>
                </a:solidFill>
              </a:rPr>
              <a:t>turn coefficients into elasticities: brand 1, −3.64</a:t>
            </a:r>
          </a:p>
        </p:txBody>
      </p:sp>
      <p:sp>
        <p:nvSpPr>
          <p:cNvPr id="16" name="Takeaways row 3"/>
          <p:cNvSpPr/>
          <p:nvPr/>
        </p:nvSpPr>
        <p:spPr>
          <a:xfrm>
            <a:off x="457200" y="2569464"/>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akeaways number 3"/>
          <p:cNvSpPr/>
          <p:nvPr/>
        </p:nvSpPr>
        <p:spPr>
          <a:xfrm>
            <a:off x="594360" y="27066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Takeaways text 3"/>
          <p:cNvSpPr txBox="1"/>
          <p:nvPr/>
        </p:nvSpPr>
        <p:spPr>
          <a:xfrm>
            <a:off x="1051560" y="2569464"/>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Look, then test: </a:t>
            </a:r>
            <a:r>
              <a:rPr sz="1200" b="0" lang="en-GB">
                <a:solidFill>
                  <a:schemeClr val="tx1"/>
                </a:solidFill>
              </a:rPr>
              <a:t>residual plots, Durbin-Watson, Breusch-Pagan, Jarque-Bera, VIF</a:t>
            </a:r>
          </a:p>
        </p:txBody>
      </p:sp>
      <p:sp>
        <p:nvSpPr>
          <p:cNvPr id="19" name="Takeaways row 4"/>
          <p:cNvSpPr/>
          <p:nvPr/>
        </p:nvSpPr>
        <p:spPr>
          <a:xfrm>
            <a:off x="457200" y="3236976"/>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akeaways number 4"/>
          <p:cNvSpPr/>
          <p:nvPr/>
        </p:nvSpPr>
        <p:spPr>
          <a:xfrm>
            <a:off x="594360" y="337413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Takeaways text 4"/>
          <p:cNvSpPr txBox="1"/>
          <p:nvPr/>
        </p:nvSpPr>
        <p:spPr>
          <a:xfrm>
            <a:off x="1051560" y="3236976"/>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Fix what fails: </a:t>
            </a:r>
            <a:r>
              <a:rPr sz="1200" b="0" lang="en-GB">
                <a:solidFill>
                  <a:schemeClr val="tx1"/>
                </a:solidFill>
              </a:rPr>
              <a:t>robust or HAC errors, better form, more variation; experiments for causality</a:t>
            </a:r>
          </a:p>
        </p:txBody>
      </p:sp>
      <p:sp>
        <p:nvSpPr>
          <p:cNvPr id="22" name="Takeaways row 5"/>
          <p:cNvSpPr/>
          <p:nvPr/>
        </p:nvSpPr>
        <p:spPr>
          <a:xfrm>
            <a:off x="457200" y="3904488"/>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akeaways number 5"/>
          <p:cNvSpPr/>
          <p:nvPr/>
        </p:nvSpPr>
        <p:spPr>
          <a:xfrm>
            <a:off x="594360" y="404164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Takeaways text 5"/>
          <p:cNvSpPr txBox="1"/>
          <p:nvPr/>
        </p:nvSpPr>
        <p:spPr>
          <a:xfrm>
            <a:off x="1051560" y="3904488"/>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Decide: </a:t>
            </a:r>
            <a:r>
              <a:rPr sz="1200" b="0" lang="en-GB">
                <a:solidFill>
                  <a:schemeClr val="tx1"/>
                </a:solidFill>
              </a:rPr>
              <a:t>p* = cost × ε / (1 + ε), with the caveats</a:t>
            </a:r>
          </a:p>
        </p:txBody>
      </p:sp>
      <p:sp>
        <p:nvSpPr>
          <p:cNvPr id="25" name="Takeaway next box"/>
          <p:cNvSpPr/>
          <p:nvPr/>
        </p:nvSpPr>
        <p:spPr>
          <a:xfrm>
            <a:off x="457200" y="45720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Takeaway next" descr=""/>
          <p:cNvPicPr>
            <a:picLocks noChangeAspect="1"/>
          </p:cNvPicPr>
          <p:nvPr/>
        </p:nvPicPr>
        <p:blipFill>
          <a:blip r:embed="rId3"/>
          <a:stretch>
            <a:fillRect/>
          </a:stretch>
        </p:blipFill>
        <p:spPr>
          <a:xfrm>
            <a:off x="658368" y="4617720"/>
            <a:ext cx="365760" cy="365760"/>
          </a:xfrm>
          <a:prstGeom prst="rect">
            <a:avLst/>
          </a:prstGeom>
        </p:spPr>
      </p:pic>
      <p:sp>
        <p:nvSpPr>
          <p:cNvPr id="27" name="Takeaway next text"/>
          <p:cNvSpPr txBox="1"/>
          <p:nvPr/>
        </p:nvSpPr>
        <p:spPr>
          <a:xfrm>
            <a:off x="1207008" y="4572000"/>
            <a:ext cx="731520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Next session: </a:t>
            </a:r>
            <a:r>
              <a:rPr sz="1200" b="0" lang="en-GB">
                <a:solidFill>
                  <a:schemeClr val="bg1"/>
                </a:solidFill>
              </a:rPr>
              <a:t>the marketing mix model, a regression with adstock and saturation.</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References: statistics refresher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ef 1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f 1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Books and readings</a:t>
            </a:r>
          </a:p>
        </p:txBody>
      </p:sp>
      <p:pic>
        <p:nvPicPr>
          <p:cNvPr id="12" name="Icon ref 1" descr=""/>
          <p:cNvPicPr>
            <a:picLocks noChangeAspect="1"/>
          </p:cNvPicPr>
          <p:nvPr/>
        </p:nvPicPr>
        <p:blipFill>
          <a:blip r:embed="rId3"/>
          <a:stretch>
            <a:fillRect/>
          </a:stretch>
        </p:blipFill>
        <p:spPr>
          <a:xfrm>
            <a:off x="4064508" y="1280160"/>
            <a:ext cx="310896" cy="310896"/>
          </a:xfrm>
          <a:prstGeom prst="rect">
            <a:avLst/>
          </a:prstGeom>
        </p:spPr>
      </p:pic>
      <p:sp>
        <p:nvSpPr>
          <p:cNvPr id="13" name="Ref 1 body"/>
          <p:cNvSpPr/>
          <p:nvPr/>
        </p:nvSpPr>
        <p:spPr>
          <a:xfrm>
            <a:off x="457200" y="1645920"/>
            <a:ext cx="4046220" cy="3429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f 1 text"/>
          <p:cNvSpPr txBox="1"/>
          <p:nvPr/>
        </p:nvSpPr>
        <p:spPr>
          <a:xfrm>
            <a:off x="621792" y="1737360"/>
            <a:ext cx="3744468" cy="3291840"/>
          </a:xfrm>
          <a:prstGeom prst="rect">
            <a:avLst/>
          </a:prstGeom>
          <a:noFill/>
        </p:spPr>
        <p:txBody>
          <a:bodyPr wrap="square" lIns="0" rIns="0" tIns="0" bIns="0" anchor="t">
            <a:noAutofit/>
          </a:bodyPr>
          <a:lstStyle/>
          <a:p>
            <a:pPr algn="l">
              <a:spcAft>
                <a:spcPts val="600"/>
              </a:spcAft>
            </a:pPr>
            <a:r>
              <a:rPr sz="1150" b="1" lang="en-GB">
                <a:solidFill>
                  <a:schemeClr val="tx2"/>
                </a:solidFill>
              </a:rPr>
              <a:t>Field, A. (2024). </a:t>
            </a:r>
            <a:r>
              <a:rPr sz="1150" b="0" lang="en-GB">
                <a:solidFill>
                  <a:schemeClr val="tx1"/>
                </a:solidFill>
              </a:rPr>
              <a:t>Discovering Statistics Using IBM SPSS Statistics, 6th ed. SAGE. Chapters 1 to 2 and 8.</a:t>
            </a:r>
          </a:p>
          <a:p>
            <a:pPr algn="l">
              <a:spcAft>
                <a:spcPts val="600"/>
              </a:spcAft>
            </a:pPr>
            <a:r>
              <a:rPr sz="1150" b="1" lang="en-GB">
                <a:solidFill>
                  <a:schemeClr val="tx2"/>
                </a:solidFill>
              </a:rPr>
              <a:t>Hair, J. F. et al. (2019). </a:t>
            </a:r>
            <a:r>
              <a:rPr sz="1150" b="0" lang="en-GB">
                <a:solidFill>
                  <a:schemeClr val="tx1"/>
                </a:solidFill>
              </a:rPr>
              <a:t>Multivariate Data Analysis, 8th ed. Cengage. Chapter 2.</a:t>
            </a:r>
          </a:p>
          <a:p>
            <a:pPr algn="l">
              <a:spcAft>
                <a:spcPts val="600"/>
              </a:spcAft>
            </a:pPr>
            <a:r>
              <a:rPr sz="1150" b="1" lang="en-GB">
                <a:solidFill>
                  <a:schemeClr val="tx2"/>
                </a:solidFill>
              </a:rPr>
              <a:t>Stock, J. H. &amp; Watson, M. W. (2019). </a:t>
            </a:r>
            <a:r>
              <a:rPr sz="1150" b="0" lang="en-GB">
                <a:solidFill>
                  <a:schemeClr val="tx1"/>
                </a:solidFill>
              </a:rPr>
              <a:t>Introduction to Econometrics, 4th ed. Pearson. Chapters 2 to 3.</a:t>
            </a:r>
          </a:p>
        </p:txBody>
      </p:sp>
      <p:sp>
        <p:nvSpPr>
          <p:cNvPr id="15" name="Ref 2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f 2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Online</a:t>
            </a:r>
          </a:p>
        </p:txBody>
      </p:sp>
      <p:pic>
        <p:nvPicPr>
          <p:cNvPr id="17" name="Icon ref 2" descr=""/>
          <p:cNvPicPr>
            <a:picLocks noChangeAspect="1"/>
          </p:cNvPicPr>
          <p:nvPr/>
        </p:nvPicPr>
        <p:blipFill>
          <a:blip r:embed="rId4"/>
          <a:stretch>
            <a:fillRect/>
          </a:stretch>
        </p:blipFill>
        <p:spPr>
          <a:xfrm>
            <a:off x="8247888" y="1280160"/>
            <a:ext cx="310896" cy="310896"/>
          </a:xfrm>
          <a:prstGeom prst="rect">
            <a:avLst/>
          </a:prstGeom>
        </p:spPr>
      </p:pic>
      <p:sp>
        <p:nvSpPr>
          <p:cNvPr id="18" name="Ref 2 body"/>
          <p:cNvSpPr/>
          <p:nvPr/>
        </p:nvSpPr>
        <p:spPr>
          <a:xfrm>
            <a:off x="4640580" y="1645920"/>
            <a:ext cx="4046220" cy="3429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f 2 text"/>
          <p:cNvSpPr txBox="1"/>
          <p:nvPr/>
        </p:nvSpPr>
        <p:spPr>
          <a:xfrm>
            <a:off x="4805172" y="1737360"/>
            <a:ext cx="3744468" cy="3291840"/>
          </a:xfrm>
          <a:prstGeom prst="rect">
            <a:avLst/>
          </a:prstGeom>
          <a:noFill/>
        </p:spPr>
        <p:txBody>
          <a:bodyPr wrap="square" lIns="0" rIns="0" tIns="0" bIns="0" anchor="t">
            <a:noAutofit/>
          </a:bodyPr>
          <a:lstStyle/>
          <a:p>
            <a:pPr algn="l">
              <a:spcAft>
                <a:spcPts val="600"/>
              </a:spcAft>
            </a:pPr>
            <a:r>
              <a:rPr sz="1150" b="1" lang="en-GB">
                <a:solidFill>
                  <a:schemeClr val="tx2"/>
                </a:solidFill>
              </a:rPr>
              <a:t>Seeing Theory. </a:t>
            </a:r>
            <a:r>
              <a:rPr sz="1150" b="0" lang="en-GB">
                <a:solidFill>
                  <a:schemeClr val="tx1"/>
                </a:solidFill>
              </a:rPr>
              <a:t>Brown University: interactive visual introduction to probability and statistics (free).</a:t>
            </a:r>
          </a:p>
          <a:p>
            <a:pPr algn="l">
              <a:spcAft>
                <a:spcPts val="600"/>
              </a:spcAft>
            </a:pPr>
            <a:r>
              <a:rPr sz="1150" b="1" lang="en-GB">
                <a:solidFill>
                  <a:schemeClr val="tx2"/>
                </a:solidFill>
              </a:rPr>
              <a:t>StatQuest. </a:t>
            </a:r>
            <a:r>
              <a:rPr sz="1150" b="0" lang="en-GB">
                <a:solidFill>
                  <a:schemeClr val="tx1"/>
                </a:solidFill>
              </a:rPr>
              <a:t>Videos on the normal distribution, standard deviation vs standard error, covariance and correlation (free).</a:t>
            </a:r>
          </a:p>
          <a:p>
            <a:pPr algn="l">
              <a:spcAft>
                <a:spcPts val="600"/>
              </a:spcAft>
            </a:pPr>
            <a:r>
              <a:rPr sz="1150" b="1" lang="en-GB">
                <a:solidFill>
                  <a:schemeClr val="tx2"/>
                </a:solidFill>
              </a:rPr>
              <a:t>polars documentation. </a:t>
            </a:r>
            <a:r>
              <a:rPr sz="1150" b="0" lang="en-GB">
                <a:solidFill>
                  <a:schemeClr val="tx1"/>
                </a:solidFill>
              </a:rPr>
              <a:t>mean, median, std, cov, corr.</a:t>
            </a:r>
          </a:p>
          <a:p>
            <a:pPr algn="l">
              <a:spcAft>
                <a:spcPts val="600"/>
              </a:spcAft>
            </a:pPr>
            <a:r>
              <a:rPr sz="1150" b="1" lang="en-GB">
                <a:solidFill>
                  <a:schemeClr val="tx2"/>
                </a:solidFill>
              </a:rPr>
              <a:t>Gelman, Hill &amp; Vehtari (2020). </a:t>
            </a:r>
            <a:r>
              <a:rPr sz="1150" b="0" lang="en-GB">
                <a:solidFill>
                  <a:schemeClr val="tx1"/>
                </a:solidFill>
              </a:rPr>
              <a:t>Regression and Other Stories, ch. 3 to 4 (free PDF).</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References: linear regression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ef 1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f 1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Academic</a:t>
            </a:r>
          </a:p>
        </p:txBody>
      </p:sp>
      <p:pic>
        <p:nvPicPr>
          <p:cNvPr id="12" name="Icon ref 1" descr=""/>
          <p:cNvPicPr>
            <a:picLocks noChangeAspect="1"/>
          </p:cNvPicPr>
          <p:nvPr/>
        </p:nvPicPr>
        <p:blipFill>
          <a:blip r:embed="rId3"/>
          <a:stretch>
            <a:fillRect/>
          </a:stretch>
        </p:blipFill>
        <p:spPr>
          <a:xfrm>
            <a:off x="4064508" y="1280160"/>
            <a:ext cx="310896" cy="310896"/>
          </a:xfrm>
          <a:prstGeom prst="rect">
            <a:avLst/>
          </a:prstGeom>
        </p:spPr>
      </p:pic>
      <p:sp>
        <p:nvSpPr>
          <p:cNvPr id="13" name="Ref 1 body"/>
          <p:cNvSpPr/>
          <p:nvPr/>
        </p:nvSpPr>
        <p:spPr>
          <a:xfrm>
            <a:off x="457200" y="1645920"/>
            <a:ext cx="4046220" cy="3429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f 1 text"/>
          <p:cNvSpPr txBox="1"/>
          <p:nvPr/>
        </p:nvSpPr>
        <p:spPr>
          <a:xfrm>
            <a:off x="621792" y="1737360"/>
            <a:ext cx="3744468" cy="3291840"/>
          </a:xfrm>
          <a:prstGeom prst="rect">
            <a:avLst/>
          </a:prstGeom>
          <a:noFill/>
        </p:spPr>
        <p:txBody>
          <a:bodyPr wrap="square" lIns="0" rIns="0" tIns="0" bIns="0" anchor="t">
            <a:noAutofit/>
          </a:bodyPr>
          <a:lstStyle/>
          <a:p>
            <a:pPr algn="l">
              <a:spcAft>
                <a:spcPts val="500"/>
              </a:spcAft>
            </a:pPr>
            <a:r>
              <a:rPr sz="1100" b="1" lang="en-GB">
                <a:solidFill>
                  <a:schemeClr val="tx2"/>
                </a:solidFill>
              </a:rPr>
              <a:t>Bojinov, I. I., Parzen, M. &amp; Hamilton, P. J. (2025). </a:t>
            </a:r>
            <a:r>
              <a:rPr sz="1100" b="0" lang="en-GB">
                <a:solidFill>
                  <a:schemeClr val="tx1"/>
                </a:solidFill>
              </a:rPr>
              <a:t>Linear Regression. HBS note 9-622-100 (Canvas).</a:t>
            </a:r>
          </a:p>
          <a:p>
            <a:pPr algn="l">
              <a:spcAft>
                <a:spcPts val="500"/>
              </a:spcAft>
            </a:pPr>
            <a:r>
              <a:rPr sz="1100" b="1" lang="en-GB">
                <a:solidFill>
                  <a:schemeClr val="tx2"/>
                </a:solidFill>
              </a:rPr>
              <a:t>Skiera, B., Reiner, J. &amp; Albers, S. (2022). </a:t>
            </a:r>
            <a:r>
              <a:rPr sz="1100" b="0" lang="en-GB">
                <a:solidFill>
                  <a:schemeClr val="tx1"/>
                </a:solidFill>
              </a:rPr>
              <a:t>Regression analysis. In Homburg et al. (eds), Handbook of Market Research, 299–327. Springer.</a:t>
            </a:r>
          </a:p>
          <a:p>
            <a:pPr algn="l">
              <a:spcAft>
                <a:spcPts val="500"/>
              </a:spcAft>
            </a:pPr>
            <a:r>
              <a:rPr sz="1100" b="1" lang="en-GB">
                <a:solidFill>
                  <a:schemeClr val="tx2"/>
                </a:solidFill>
              </a:rPr>
              <a:t>Wooldridge, J. M. (2025). </a:t>
            </a:r>
            <a:r>
              <a:rPr sz="1100" b="0" lang="en-GB">
                <a:solidFill>
                  <a:schemeClr val="tx1"/>
                </a:solidFill>
              </a:rPr>
              <a:t>Introductory Econometrics, 8th ed. Cengage.</a:t>
            </a:r>
          </a:p>
          <a:p>
            <a:pPr algn="l">
              <a:spcAft>
                <a:spcPts val="500"/>
              </a:spcAft>
            </a:pPr>
            <a:r>
              <a:rPr sz="1100" b="1" lang="en-GB">
                <a:solidFill>
                  <a:schemeClr val="tx2"/>
                </a:solidFill>
              </a:rPr>
              <a:t>Hanssens, D. M., Parsons, L. J. &amp; Schultz, R. L. (2001). </a:t>
            </a:r>
            <a:r>
              <a:rPr sz="1100" b="0" lang="en-GB">
                <a:solidFill>
                  <a:schemeClr val="tx1"/>
                </a:solidFill>
              </a:rPr>
              <a:t>Market Response Models. Kluwer.</a:t>
            </a:r>
          </a:p>
          <a:p>
            <a:pPr algn="l">
              <a:spcAft>
                <a:spcPts val="500"/>
              </a:spcAft>
            </a:pPr>
            <a:r>
              <a:rPr sz="1100" b="1" lang="en-GB">
                <a:solidFill>
                  <a:schemeClr val="tx2"/>
                </a:solidFill>
              </a:rPr>
              <a:t>Bijmolt, T., van Heerde, H. &amp; Pieters, R. (2005). </a:t>
            </a:r>
            <a:r>
              <a:rPr sz="1100" b="0" lang="en-GB">
                <a:solidFill>
                  <a:schemeClr val="tx1"/>
                </a:solidFill>
              </a:rPr>
              <a:t>Journal of Marketing Research 42(2).</a:t>
            </a:r>
          </a:p>
          <a:p>
            <a:pPr algn="l">
              <a:spcAft>
                <a:spcPts val="500"/>
              </a:spcAft>
            </a:pPr>
            <a:r>
              <a:rPr sz="1100" b="1" lang="en-GB">
                <a:solidFill>
                  <a:schemeClr val="tx2"/>
                </a:solidFill>
              </a:rPr>
              <a:t>Gordon, B. R. et al. (2019). </a:t>
            </a:r>
            <a:r>
              <a:rPr sz="1100" b="0" lang="en-GB">
                <a:solidFill>
                  <a:schemeClr val="tx1"/>
                </a:solidFill>
              </a:rPr>
              <a:t>Marketing Science 38(2).</a:t>
            </a:r>
          </a:p>
        </p:txBody>
      </p:sp>
      <p:sp>
        <p:nvSpPr>
          <p:cNvPr id="15" name="Ref 2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f 2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Learning resources</a:t>
            </a:r>
          </a:p>
        </p:txBody>
      </p:sp>
      <p:pic>
        <p:nvPicPr>
          <p:cNvPr id="17" name="Icon ref 2" descr=""/>
          <p:cNvPicPr>
            <a:picLocks noChangeAspect="1"/>
          </p:cNvPicPr>
          <p:nvPr/>
        </p:nvPicPr>
        <p:blipFill>
          <a:blip r:embed="rId4"/>
          <a:stretch>
            <a:fillRect/>
          </a:stretch>
        </p:blipFill>
        <p:spPr>
          <a:xfrm>
            <a:off x="8247888" y="1280160"/>
            <a:ext cx="310896" cy="310896"/>
          </a:xfrm>
          <a:prstGeom prst="rect">
            <a:avLst/>
          </a:prstGeom>
        </p:spPr>
      </p:pic>
      <p:sp>
        <p:nvSpPr>
          <p:cNvPr id="18" name="Ref 2 body"/>
          <p:cNvSpPr/>
          <p:nvPr/>
        </p:nvSpPr>
        <p:spPr>
          <a:xfrm>
            <a:off x="4640580" y="1645920"/>
            <a:ext cx="4046220" cy="3429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f 2 text"/>
          <p:cNvSpPr txBox="1"/>
          <p:nvPr/>
        </p:nvSpPr>
        <p:spPr>
          <a:xfrm>
            <a:off x="4805172" y="1737360"/>
            <a:ext cx="3744468" cy="3291840"/>
          </a:xfrm>
          <a:prstGeom prst="rect">
            <a:avLst/>
          </a:prstGeom>
          <a:noFill/>
        </p:spPr>
        <p:txBody>
          <a:bodyPr wrap="square" lIns="0" rIns="0" tIns="0" bIns="0" anchor="t">
            <a:noAutofit/>
          </a:bodyPr>
          <a:lstStyle/>
          <a:p>
            <a:pPr algn="l">
              <a:spcAft>
                <a:spcPts val="500"/>
              </a:spcAft>
            </a:pPr>
            <a:r>
              <a:rPr sz="1100" b="1" lang="en-GB">
                <a:solidFill>
                  <a:schemeClr val="tx2"/>
                </a:solidFill>
              </a:rPr>
              <a:t>James, G. et al. (2023). </a:t>
            </a:r>
            <a:r>
              <a:rPr sz="1100" b="0" lang="en-GB">
                <a:solidFill>
                  <a:schemeClr val="tx1"/>
                </a:solidFill>
              </a:rPr>
              <a:t>ISLP, ch. 3 and the Python lab (free).</a:t>
            </a:r>
          </a:p>
          <a:p>
            <a:pPr algn="l">
              <a:spcAft>
                <a:spcPts val="500"/>
              </a:spcAft>
            </a:pPr>
            <a:r>
              <a:rPr sz="1100" b="1" lang="en-GB">
                <a:solidFill>
                  <a:schemeClr val="tx2"/>
                </a:solidFill>
              </a:rPr>
              <a:t>Schwarz, Chapman &amp; Feit (2020). </a:t>
            </a:r>
            <a:r>
              <a:rPr sz="1100" b="0" lang="en-GB">
                <a:solidFill>
                  <a:schemeClr val="tx1"/>
                </a:solidFill>
              </a:rPr>
              <a:t>Python for Marketing Research and Analytics, ch. 7. Springer.</a:t>
            </a:r>
          </a:p>
          <a:p>
            <a:pPr algn="l">
              <a:spcAft>
                <a:spcPts val="500"/>
              </a:spcAft>
            </a:pPr>
            <a:r>
              <a:rPr sz="1100" b="1" lang="en-GB">
                <a:solidFill>
                  <a:schemeClr val="tx2"/>
                </a:solidFill>
              </a:rPr>
              <a:t>statsmodels. </a:t>
            </a:r>
            <a:r>
              <a:rPr sz="1100" b="0" lang="en-GB">
                <a:solidFill>
                  <a:schemeClr val="tx1"/>
                </a:solidFill>
              </a:rPr>
              <a:t>Documentation and example notebooks.</a:t>
            </a:r>
          </a:p>
          <a:p>
            <a:pPr algn="l">
              <a:spcAft>
                <a:spcPts val="500"/>
              </a:spcAft>
            </a:pPr>
            <a:r>
              <a:rPr sz="1100" b="1" lang="en-GB">
                <a:solidFill>
                  <a:schemeClr val="tx2"/>
                </a:solidFill>
              </a:rPr>
              <a:t>Turrell, A. </a:t>
            </a:r>
            <a:r>
              <a:rPr sz="1100" b="0" lang="en-GB">
                <a:solidFill>
                  <a:schemeClr val="tx1"/>
                </a:solidFill>
              </a:rPr>
              <a:t>Coding for Economists: regression and diagnostics (free).</a:t>
            </a:r>
          </a:p>
          <a:p>
            <a:pPr algn="l">
              <a:spcAft>
                <a:spcPts val="500"/>
              </a:spcAft>
            </a:pPr>
            <a:r>
              <a:rPr sz="1100" b="1" lang="en-GB">
                <a:solidFill>
                  <a:schemeClr val="tx2"/>
                </a:solidFill>
              </a:rPr>
              <a:t>StatQuest. </a:t>
            </a:r>
            <a:r>
              <a:rPr sz="1100" b="0" lang="en-GB">
                <a:solidFill>
                  <a:schemeClr val="tx1"/>
                </a:solidFill>
              </a:rPr>
              <a:t>Linear regression, clearly explained (video).</a:t>
            </a:r>
          </a:p>
          <a:p>
            <a:pPr algn="l">
              <a:spcAft>
                <a:spcPts val="500"/>
              </a:spcAft>
            </a:pPr>
            <a:r>
              <a:rPr sz="1100" b="1" lang="en-GB">
                <a:solidFill>
                  <a:schemeClr val="tx2"/>
                </a:solidFill>
              </a:rPr>
              <a:t>DataCamp. </a:t>
            </a:r>
            <a:r>
              <a:rPr sz="1100" b="0" lang="en-GB">
                <a:solidFill>
                  <a:schemeClr val="tx1"/>
                </a:solidFill>
              </a:rPr>
              <a:t>Introduction to Regression with statsmodels in Python.</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 name="Fußzeilenplatzhalter 8"/>
          <p:cNvSpPr>
            <a:spLocks noGrp="1"/>
          </p:cNvSpPr>
          <p:nvPr>
            <p:ph type="ftr" sz="quarter" idx="12"/>
          </p:nvPr>
        </p:nvSpPr>
        <p:spPr/>
        <p:txBody>
          <a:bodyPr/>
          <a:lstStyle/>
          <a:p>
            <a:r>
              <a:rPr lang="en-GB"/>
              <a:t>International Marketing Analytics · WT 2026/27</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ELECTEDLANGUAGE" val="English UK"/>
</p:tagLst>
</file>

<file path=ppt/theme/theme1.xml><?xml version="1.0" encoding="utf-8"?>
<a:theme xmlns:a="http://schemas.openxmlformats.org/drawingml/2006/main" name="WU 16:10">
  <a:themeElements>
    <a:clrScheme name="WU">
      <a:dk1>
        <a:srgbClr val="000000"/>
      </a:dk1>
      <a:lt1>
        <a:srgbClr val="FFFFFF"/>
      </a:lt1>
      <a:dk2>
        <a:srgbClr val="002350"/>
      </a:dk2>
      <a:lt2>
        <a:srgbClr val="E5F5FA"/>
      </a:lt2>
      <a:accent1>
        <a:srgbClr val="0096D3"/>
      </a:accent1>
      <a:accent2>
        <a:srgbClr val="002350"/>
      </a:accent2>
      <a:accent3>
        <a:srgbClr val="4B2582"/>
      </a:accent3>
      <a:accent4>
        <a:srgbClr val="457AA0"/>
      </a:accent4>
      <a:accent5>
        <a:srgbClr val="A592C0"/>
      </a:accent5>
      <a:accent6>
        <a:srgbClr val="80CFE9"/>
      </a:accent6>
      <a:hlink>
        <a:srgbClr val="405A7C"/>
      </a:hlink>
      <a:folHlink>
        <a:srgbClr val="0082AA"/>
      </a:folHlink>
    </a:clrScheme>
    <a:fontScheme name="WU neu">
      <a:majorFont>
        <a:latin typeface="Georgia"/>
        <a:ea typeface=""/>
        <a:cs typeface=""/>
      </a:majorFont>
      <a:minorFont>
        <a:latin typeface="Verdan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WU Farbschema neu">
        <a:dk1>
          <a:srgbClr val="000000"/>
        </a:dk1>
        <a:lt1>
          <a:sysClr val="window" lastClr="FFFFFF"/>
        </a:lt1>
        <a:dk2>
          <a:srgbClr val="002E60"/>
        </a:dk2>
        <a:lt2>
          <a:srgbClr val="E5F5FA"/>
        </a:lt2>
        <a:accent1>
          <a:srgbClr val="0096D3"/>
        </a:accent1>
        <a:accent2>
          <a:srgbClr val="002E60"/>
        </a:accent2>
        <a:accent3>
          <a:srgbClr val="532481"/>
        </a:accent3>
        <a:accent4>
          <a:srgbClr val="457AA0"/>
        </a:accent4>
        <a:accent5>
          <a:srgbClr val="A991C0"/>
        </a:accent5>
        <a:accent6>
          <a:srgbClr val="7FCAE9"/>
        </a:accent6>
        <a:hlink>
          <a:srgbClr val="406288"/>
        </a:hlink>
        <a:folHlink>
          <a:srgbClr val="008FAA"/>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WU Sample Presentation 16x10 V1.1.potx" id="{74DD536C-D372-4256-BA4D-24C734E7AF81}" vid="{99E22345-25BB-45DF-85CE-FC929AE6991A}"/>
    </a:ext>
  </a:extLst>
</a:theme>
</file>

<file path=ppt/theme/theme2.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Kategorie xmlns="dde413db-0745-4f3a-8dca-564dc7ff6f7d">Präsentationen</Kategorie>
    <Beschreibung xmlns="dde413db-0745-4f3a-8dca-564dc7ff6f7d">Sample presenation in format 16:10 (= WU standard)</Beschreibung>
    <TaxCatchAll xmlns="08b0a3ee-3d2a-451c-9a1a-7e5d5b0c9c77">
      <Value>266</Value>
      <Value>403</Value>
    </TaxCatchAll>
    <DokumentenartTaxHTField0 xmlns="1a8d9a65-8471-4209-a900-f8e11db75e0a">
      <Terms xmlns="http://schemas.microsoft.com/office/infopath/2007/PartnerControls">
        <TermInfo xmlns="http://schemas.microsoft.com/office/infopath/2007/PartnerControls">
          <TermName xmlns="http://schemas.microsoft.com/office/infopath/2007/PartnerControls">Vorlagen</TermName>
          <TermId xmlns="http://schemas.microsoft.com/office/infopath/2007/PartnerControls">17fc50ed-8ad1-47be-ab12-04243fd74ddb</TermId>
        </TermInfo>
      </Terms>
    </DokumentenartTaxHTField0>
    <WU_x0020_ThemaTaxHTField0 xmlns="1a8d9a65-8471-4209-a900-f8e11db75e0a">
      <Terms xmlns="http://schemas.microsoft.com/office/infopath/2007/PartnerControls">
        <TermInfo xmlns="http://schemas.microsoft.com/office/infopath/2007/PartnerControls">
          <TermName xmlns="http://schemas.microsoft.com/office/infopath/2007/PartnerControls">Corporate Design</TermName>
          <TermId xmlns="http://schemas.microsoft.com/office/infopath/2007/PartnerControls">19895bcd-b158-45ae-ab7b-f5ca217dfcec</TermId>
        </TermInfo>
      </Terms>
    </WU_x0020_ThemaTaxHTField0>
    <Format xmlns="dde413db-0745-4f3a-8dca-564dc7ff6f7d">Microsoft Office 2013/2016</Format>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BCF651A35DF3154DB01328AF51148DAE" ma:contentTypeVersion="1" ma:contentTypeDescription="Ein neues Dokument erstellen." ma:contentTypeScope="" ma:versionID="458c1b80f8d593bdc96b60ff34dd40b4">
  <xsd:schema xmlns:xsd="http://www.w3.org/2001/XMLSchema" xmlns:xs="http://www.w3.org/2001/XMLSchema" xmlns:p="http://schemas.microsoft.com/office/2006/metadata/properties" xmlns:ns2="1a8d9a65-8471-4209-a900-f8e11db75e0a" xmlns:ns3="08b0a3ee-3d2a-451c-9a1a-7e5d5b0c9c77" xmlns:ns4="dde413db-0745-4f3a-8dca-564dc7ff6f7d" targetNamespace="http://schemas.microsoft.com/office/2006/metadata/properties" ma:root="true" ma:fieldsID="2d31116d1a6b5af1b4a8b1ba7152d57a" ns2:_="" ns3:_="" ns4:_="">
    <xsd:import namespace="1a8d9a65-8471-4209-a900-f8e11db75e0a"/>
    <xsd:import namespace="08b0a3ee-3d2a-451c-9a1a-7e5d5b0c9c77"/>
    <xsd:import namespace="dde413db-0745-4f3a-8dca-564dc7ff6f7d"/>
    <xsd:element name="properties">
      <xsd:complexType>
        <xsd:sequence>
          <xsd:element name="documentManagement">
            <xsd:complexType>
              <xsd:all>
                <xsd:element ref="ns2:WU_x0020_ThemaTaxHTField0" minOccurs="0"/>
                <xsd:element ref="ns3:TaxCatchAll" minOccurs="0"/>
                <xsd:element ref="ns2:DokumentenartTaxHTField0" minOccurs="0"/>
                <xsd:element ref="ns4:Beschreibung" minOccurs="0"/>
                <xsd:element ref="ns4:Format" minOccurs="0"/>
                <xsd:element ref="ns4:Kategorie" minOccurs="0"/>
                <xsd:element ref="ns3: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a8d9a65-8471-4209-a900-f8e11db75e0a" elementFormDefault="qualified">
    <xsd:import namespace="http://schemas.microsoft.com/office/2006/documentManagement/types"/>
    <xsd:import namespace="http://schemas.microsoft.com/office/infopath/2007/PartnerControls"/>
    <xsd:element name="WU_x0020_ThemaTaxHTField0" ma:index="9" nillable="true" ma:taxonomy="true" ma:internalName="WU_x0020_ThemaTaxHTField0" ma:taxonomyFieldName="WU_x0020_Thema" ma:displayName="Schlagwort" ma:default="" ma:fieldId="{a2eb3201-e251-4055-97e9-466604fc777f}" ma:taxonomyMulti="true" ma:sspId="59da4ae5-1217-4de6-bd64-b7a740f353bb" ma:termSetId="c1edca97-812b-4584-b6b5-1e5cade81cae" ma:anchorId="00000000-0000-0000-0000-000000000000" ma:open="true" ma:isKeyword="false">
      <xsd:complexType>
        <xsd:sequence>
          <xsd:element ref="pc:Terms" minOccurs="0" maxOccurs="1"/>
        </xsd:sequence>
      </xsd:complexType>
    </xsd:element>
    <xsd:element name="DokumentenartTaxHTField0" ma:index="12" nillable="true" ma:taxonomy="true" ma:internalName="DokumentenartTaxHTField0" ma:taxonomyFieldName="Dokumentenart" ma:displayName="Dokumentenart" ma:default="" ma:fieldId="{0f2e647f-32b7-4850-b6be-ae358ed71e70}" ma:taxonomyMulti="true" ma:sspId="59da4ae5-1217-4de6-bd64-b7a740f353bb" ma:termSetId="325756d7-e24e-4b6f-ba71-3f779d34c1ea" ma:anchorId="00000000-0000-0000-0000-000000000000" ma:open="fals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08b0a3ee-3d2a-451c-9a1a-7e5d5b0c9c77" elementFormDefault="qualified">
    <xsd:import namespace="http://schemas.microsoft.com/office/2006/documentManagement/types"/>
    <xsd:import namespace="http://schemas.microsoft.com/office/infopath/2007/PartnerControls"/>
    <xsd:element name="TaxCatchAll" ma:index="10" nillable="true" ma:displayName="Taxonomy Catch All Column" ma:description="" ma:hidden="true" ma:list="{6a103bb8-3913-4e3b-a229-080a76572464}" ma:internalName="TaxCatchAll" ma:showField="CatchAllData" ma:web="08b0a3ee-3d2a-451c-9a1a-7e5d5b0c9c77">
      <xsd:complexType>
        <xsd:complexContent>
          <xsd:extension base="dms:MultiChoiceLookup">
            <xsd:sequence>
              <xsd:element name="Value" type="dms:Lookup" maxOccurs="unbounded" minOccurs="0" nillable="true"/>
            </xsd:sequence>
          </xsd:extension>
        </xsd:complexContent>
      </xsd:complexType>
    </xsd:element>
    <xsd:element name="SharedWithUsers" ma:index="16" nillable="true" ma:displayName="Freigegeben für"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dde413db-0745-4f3a-8dca-564dc7ff6f7d" elementFormDefault="qualified">
    <xsd:import namespace="http://schemas.microsoft.com/office/2006/documentManagement/types"/>
    <xsd:import namespace="http://schemas.microsoft.com/office/infopath/2007/PartnerControls"/>
    <xsd:element name="Beschreibung" ma:index="13" nillable="true" ma:displayName="Beschreibung" ma:internalName="Beschreibung">
      <xsd:simpleType>
        <xsd:restriction base="dms:Note">
          <xsd:maxLength value="255"/>
        </xsd:restriction>
      </xsd:simpleType>
    </xsd:element>
    <xsd:element name="Format" ma:index="14" nillable="true" ma:displayName="Format" ma:format="Dropdown" ma:internalName="Format">
      <xsd:simpleType>
        <xsd:union memberTypes="dms:Text">
          <xsd:simpleType>
            <xsd:restriction base="dms:Choice">
              <xsd:enumeration value="LaTeX"/>
              <xsd:enumeration value="Microsoft Office 2003"/>
              <xsd:enumeration value="Microsoft Office 2007-2013"/>
              <xsd:enumeration value="Microsoft Office 2013/2016"/>
              <xsd:enumeration value="OpenOffice 3.0"/>
            </xsd:restriction>
          </xsd:simpleType>
        </xsd:union>
      </xsd:simpleType>
    </xsd:element>
    <xsd:element name="Kategorie" ma:index="15" nillable="true" ma:displayName="Kategorie" ma:default="Anleitungen" ma:format="Dropdown" ma:internalName="Kategorie">
      <xsd:simpleType>
        <xsd:union memberTypes="dms:Text">
          <xsd:simpleType>
            <xsd:restriction base="dms:Choice">
              <xsd:enumeration value="Anleitungen"/>
              <xsd:enumeration value="Aushänge für Lift und Tür"/>
              <xsd:enumeration value="Basisvorlagen"/>
              <xsd:enumeration value="Brief-/Faxvorlagen"/>
              <xsd:enumeration value="Einladungen"/>
              <xsd:enumeration value="Etiketten"/>
              <xsd:enumeration value="Musterdateien"/>
              <xsd:enumeration value="Namensschilder"/>
              <xsd:enumeration value="Präsentationen"/>
              <xsd:enumeration value="Skripten-Cover"/>
            </xsd:restriction>
          </xsd:simpleType>
        </xsd:un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5929A89-D8E6-4794-A98F-6609FAAECB3B}">
  <ds:schemaRefs>
    <ds:schemaRef ds:uri="http://schemas.microsoft.com/office/2006/metadata/properties"/>
    <ds:schemaRef ds:uri="http://schemas.microsoft.com/office/infopath/2007/PartnerControls"/>
    <ds:schemaRef ds:uri="dde413db-0745-4f3a-8dca-564dc7ff6f7d"/>
    <ds:schemaRef ds:uri="08b0a3ee-3d2a-451c-9a1a-7e5d5b0c9c77"/>
    <ds:schemaRef ds:uri="1a8d9a65-8471-4209-a900-f8e11db75e0a"/>
  </ds:schemaRefs>
</ds:datastoreItem>
</file>

<file path=customXml/itemProps2.xml><?xml version="1.0" encoding="utf-8"?>
<ds:datastoreItem xmlns:ds="http://schemas.openxmlformats.org/officeDocument/2006/customXml" ds:itemID="{D81AF645-C4BF-4115-A9DE-6B087264731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a8d9a65-8471-4209-a900-f8e11db75e0a"/>
    <ds:schemaRef ds:uri="08b0a3ee-3d2a-451c-9a1a-7e5d5b0c9c77"/>
    <ds:schemaRef ds:uri="dde413db-0745-4f3a-8dca-564dc7ff6f7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89857B5-BC10-4782-8A0F-717F20E5E22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WU Sample Presentation 16x10</Template>
  <TotalTime>0</TotalTime>
  <Words>1441</Words>
  <Application>Microsoft Office PowerPoint</Application>
  <PresentationFormat>Bildschirmpräsentation (16:10)</PresentationFormat>
  <Paragraphs>207</Paragraphs>
  <Slides>26</Slides>
  <Notes>26</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26</vt:i4>
      </vt:variant>
    </vt:vector>
  </HeadingPairs>
  <TitlesOfParts>
    <vt:vector size="31" baseType="lpstr">
      <vt:lpstr>Arial</vt:lpstr>
      <vt:lpstr>Georgia</vt:lpstr>
      <vt:lpstr>Verdana</vt:lpstr>
      <vt:lpstr>Wingdings</vt:lpstr>
      <vt:lpstr>WU 16:10</vt:lpstr>
      <vt:lpstr>WU Presentation Template incl. Samples</vt:lpstr>
      <vt:lpstr>Basics</vt:lpstr>
      <vt:lpstr>Available slide layouts – overview</vt:lpstr>
      <vt:lpstr>Make use of the slide layouts</vt:lpstr>
      <vt:lpstr>Designing text slides</vt:lpstr>
      <vt:lpstr>Insert footer information</vt:lpstr>
      <vt:lpstr>Toner- and ink-reduced printing</vt:lpstr>
      <vt:lpstr>Sample Slides</vt:lpstr>
      <vt:lpstr>Layout „Titelfolie“ –  font Georgia 32 pt</vt:lpstr>
      <vt:lpstr>Layout „Titelfolie kurz“</vt:lpstr>
      <vt:lpstr>Layout „Titelfolie ohne Bild“ – for 2 lines of text</vt:lpstr>
      <vt:lpstr>Titleslide w/o pic. short</vt:lpstr>
      <vt:lpstr>Layout „Titelfolie Bild 2“ – for 2 lines of text</vt:lpstr>
      <vt:lpstr>Layout „Titelfolie Bild 3“ – for 2 lines of text</vt:lpstr>
      <vt:lpstr>Layout „Titel und Inhalt“ for title and content – font Georgia 24 pt</vt:lpstr>
      <vt:lpstr>Layout without footer for large graphics, tables or charts</vt:lpstr>
      <vt:lpstr>Layout “Zwei Inhalte” with two placeholders for different content types</vt:lpstr>
      <vt:lpstr>Layout „Vergleich“ – e.g. for comparison</vt:lpstr>
      <vt:lpstr>Sample table</vt:lpstr>
      <vt:lpstr>Sample for simple graphics  (based on SmartArt)</vt:lpstr>
      <vt:lpstr>Sample organizational chart  (based on SmartArt)</vt:lpstr>
      <vt:lpstr>Sample for bar chart </vt:lpstr>
      <vt:lpstr>Sample for column chart </vt:lpstr>
      <vt:lpstr>Sample for line chart </vt:lpstr>
      <vt:lpstr>Sample for doughnut chart </vt:lpstr>
      <vt:lpstr> </vt:lpstr>
    </vt:vector>
  </TitlesOfParts>
  <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2023-08-25T07:52:25Z</dcterms:created>
  <dcterms:modified xsi:type="dcterms:W3CDTF">2023-08-25T07:53:01Z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WU Thema">
    <vt:lpwstr>403;#Corporate Design|19895bcd-b158-45ae-ab7b-f5ca217dfcec</vt:lpwstr>
  </property>
  <property fmtid="{D5CDD505-2E9C-101B-9397-08002B2CF9AE}" pid="3" name="Dokumentenart">
    <vt:lpwstr>266;#Vorlagen|17fc50ed-8ad1-47be-ab12-04243fd74ddb</vt:lpwstr>
  </property>
  <property fmtid="{D5CDD505-2E9C-101B-9397-08002B2CF9AE}" pid="4" name="ContentTypeId">
    <vt:lpwstr>0x010100BCF651A35DF3154DB01328AF51148DAE</vt:lpwstr>
  </property>
</Properties>
</file>