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6" r:id="rId73"/>
    <p:sldId id="317" r:id="rId74"/>
    <p:sldId id="318" r:id="rId75"/>
    <p:sldId id="319" r:id="rId76"/>
    <p:sldId id="320" r:id="rId77"/>
    <p:sldId id="321" r:id="rId78"/>
    <p:sldId id="322" r:id="rId79"/>
    <p:sldId id="323" r:id="rId80"/>
    <p:sldId id="324" r:id="rId81"/>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then checked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eleven short parts. The refresher (Parts 1 to 5) builds the vocabulary of every regression table: means, standard errors, z-values, correlations. Regression (Parts 6 to 11) uses it on real chocolate data. Each half ends with a five-question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The year starts with a price test: over five weeks the owner tried five prices. Small numbers on purpose: every result today can be checked with a calculator. The daily sales of one week (right) serve for mean and median. The same kiosk returns with its full year (52 weeks, data/kiosk/kiosk_year.csv) for the normal distribution and the in-class exercise: one example for the whole refresher.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kiosks, each sells 80 bars a week on average. In the middle our kiosk from the variance slide: sd 27.4 bars. Kiosk A is steady, 75 to 85 bars a week: sd 3.8. Kiosk B swings from 40 to 120: sd 31.6. Students can check kiosk B by hand: deviations -40, -20, 0, 20, 40, squares sum 4,000, divided by 4 is 1,000, square root 31.6. The mean alone hides these differences.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kiosk, same five weeks as on the variance slide: mean 80 bars, sd 27.4 bars. The standard deviation describes how much single weeks differ; the standard error describes how precise the average of 80 is as an estimate of a typical week. SE = s / square root of n = 27.4 / square root of 5 = 12.2 bars. With 20 weeks and the same spread it would be 27.4 / square root of 20 = 6.1: four times the data halves the standard error. A rough 95 % interval is the mean plus or minus 2 SE: 80 plus or minus 24.5, about 55 to 105 bars. The exact factor 1.96 comes from the normal distribution in Part 3; with only five weeks the exact interval is wider (t-distribution, regression part). Every 'std err' in a regression table is a standard error. Python: se_units in Step 2 of Part 5 gives 12.25.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with different spreads become comparable. The three kiosks of the spread slide all sell 80 bars a week on average. 85 bars at the steady kiosk A: z = (85 - 80) / 3.8 = +1.3. 100 bars at the volatile kiosk B: z = (100 - 80) / 31.6 = +0.6. The 85 at kiosk A is the more unusual week, although 100 looks larger.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kiosk over the whole year: after the price test it kept the regular price of 3.00 EUR in 44 weeks. Bars sold in these weeks: mean 80, sd 10 (data/kiosk/kiosk_year.csv). Why not 27.4 as in Part 2? The five test weeks mixed five different prices; at one price the weeks vary much less. The histogram is roughly bell-shaped, and the normal curve with mean 80 and sd 10 fits it. The bell curve is fully described by mean and standard deviation. The 68-95-99.7 rule: 68 % of weeks within one sd (70 to 90 bars; in our year 31 of 44), 95 % within two (60 to 100; 42 of 44; exactly 1.96 sd), 99.7 % within three (50 to 110; all 44).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Our kiosk at the regular price: how often does a week sell more than 90 bars? z = (90 - 80) / 10 = 1.0; the table gives 84.1 % below, so 15.9 % above. In our year it happened in 6 of 44 weeks (14 %): close.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 Then the in-class exercise on the kiosk's full year.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packages cover the whole session: polars for data, plotnine for charts, great_tables for tables, statsmodels for regression and tests, numpy for logs inside model formulas. pyarrow and jupyter are never imported but must be installed: pyarrow lets polars hand its data to plotnine and statsmodels (.to_pandas()), jupyter lets Quarto run Python. numpy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 12.25, the 12.2 bars of the standard-error slide in Part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data/kiosk/kiosk_year.csv in the course repository: 52 weeks, six columns. Weeks 1 to 5 are the price test from the slides (2.00 to 4.00 EUR; 110, 100, 80, 70, 40 bars). From week 6 the regular price is 3.00 EUR, with four promotion weeks at 2.50 (Valentine, Easter, start of term, Christmas). A display stood next to the till in six weeks. The data are simulated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sessions/01-foundations/regression_chocolate.qmd: open it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code from Part 9, then answer the four questions. One group presents per question.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four coding exercises. It applies the code of this session to a similar task.</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work. The exercise reuses the data of this session with a different specification (display1 added, marginal cost 0.90), so the in-class code transfers but the answers differ. The file must render from top to bottom; deadline and upload on Canvas. AI assistants are allowed; the prompt log at the end shows how they were used.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on 20 points, scaled to 5 % of the final grade. Interpretation counts most, because the AI writes much of the code. Deadline: see Canvas.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4.png"/><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5.png"/><Relationship Id="rId4"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0.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42.png"/><Relationship Id="rId7"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7.png"/><Relationship Id="rId4" Type="http://schemas.openxmlformats.org/officeDocument/2006/relationships/image" Target="../media/image4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1.xml"/><Relationship Id="rId3"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46.png"/><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27.png"/><Relationship Id="rId6" Type="http://schemas.openxmlformats.org/officeDocument/2006/relationships/image" Target="../media/image5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5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35.pn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2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image" Target="../media/image3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57.png"/><Relationship Id="rId4" Type="http://schemas.openxmlformats.org/officeDocument/2006/relationships/image" Target="../media/image4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 Id="rId3" Type="http://schemas.openxmlformats.org/officeDocument/2006/relationships/image" Target="../media/image11.pn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 Id="rId3" Type="http://schemas.openxmlformats.org/officeDocument/2006/relationships/image" Target="../media/image11.png"/><Relationship Id="rId4" Type="http://schemas.openxmlformats.org/officeDocument/2006/relationships/image" Target="../media/image5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By hand in Python; the kiosk's year; quiz 1</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11</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 quiz 2</a:t>
            </a:r>
          </a:p>
          <a:p>
            <a:pPr algn="l" marL="182880" indent="-182880">
              <a:spcAft>
                <a:spcPts val="600"/>
              </a:spcAft>
              <a:buClr>
                <a:schemeClr val="accent1"/>
              </a:buClr>
              <a:buFont typeface="Arial"/>
              <a:buChar char="▪"/>
            </a:pPr>
            <a:r>
              <a:rPr sz="1300" b="0" lang="en-GB">
                <a:solidFill>
                  <a:schemeClr val="tx1"/>
                </a:solidFill>
              </a:rPr>
              <a:t>In-class assignment, coding exercise 1</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can be checked with a calculator, then in Python. Later: the kiosk's full year, 52 weeks.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11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11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hree rows of five dots around a dashed line at 80: kiosk A between 75 and 85, our kiosk between 40 and 110, kiosk B between 40 and 120"/>
          <p:cNvPicPr>
            <a:picLocks noChangeAspect="1"/>
          </p:cNvPicPr>
          <p:nvPr/>
        </p:nvPicPr>
        <p:blipFill>
          <a:blip r:embed="rId3"/>
          <a:stretch>
            <a:fillRect/>
          </a:stretch>
        </p:blipFill>
        <p:spPr>
          <a:xfrm>
            <a:off x="457200" y="1234440"/>
            <a:ext cx="4389120" cy="2395728"/>
          </a:xfrm>
          <a:prstGeom prst="rect">
            <a:avLst/>
          </a:prstGeom>
        </p:spPr>
      </p:pic>
      <p:sp>
        <p:nvSpPr>
          <p:cNvPr id="11" name="SD stat box 1"/>
          <p:cNvSpPr/>
          <p:nvPr/>
        </p:nvSpPr>
        <p:spPr>
          <a:xfrm>
            <a:off x="4983480" y="1234440"/>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498348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166360" y="1234440"/>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400800" y="1234440"/>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A, weeks of 75, 78, 80, 82, 85 bars</a:t>
            </a:r>
          </a:p>
        </p:txBody>
      </p:sp>
      <p:sp>
        <p:nvSpPr>
          <p:cNvPr id="15" name="SD stat box 2"/>
          <p:cNvSpPr/>
          <p:nvPr/>
        </p:nvSpPr>
        <p:spPr>
          <a:xfrm>
            <a:off x="4983480" y="2039112"/>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498348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166360" y="2039112"/>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27.4</a:t>
            </a:r>
          </a:p>
        </p:txBody>
      </p:sp>
      <p:sp>
        <p:nvSpPr>
          <p:cNvPr id="18" name="SD stat 2 label"/>
          <p:cNvSpPr txBox="1"/>
          <p:nvPr/>
        </p:nvSpPr>
        <p:spPr>
          <a:xfrm>
            <a:off x="6400800" y="2039112"/>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our kiosk, weeks of 110, 100, 80, 70, 40 bars</a:t>
            </a:r>
          </a:p>
        </p:txBody>
      </p:sp>
      <p:sp>
        <p:nvSpPr>
          <p:cNvPr id="19" name="SD stat box 3"/>
          <p:cNvSpPr/>
          <p:nvPr/>
        </p:nvSpPr>
        <p:spPr>
          <a:xfrm>
            <a:off x="4983480" y="2843784"/>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D stat 3 bar"/>
          <p:cNvSpPr/>
          <p:nvPr/>
        </p:nvSpPr>
        <p:spPr>
          <a:xfrm>
            <a:off x="498348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stat 3 figure"/>
          <p:cNvSpPr txBox="1"/>
          <p:nvPr/>
        </p:nvSpPr>
        <p:spPr>
          <a:xfrm>
            <a:off x="5166360" y="2843784"/>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22" name="SD stat 3 label"/>
          <p:cNvSpPr txBox="1"/>
          <p:nvPr/>
        </p:nvSpPr>
        <p:spPr>
          <a:xfrm>
            <a:off x="6400800" y="2843784"/>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B, weeks of 40, 60, 80, 100, 120 bars</a:t>
            </a:r>
          </a:p>
        </p:txBody>
      </p:sp>
      <p:sp>
        <p:nvSpPr>
          <p:cNvPr id="23"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5"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all three sell 80 bars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rough 95% interval ≈ x̄ ± 2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12.2</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our 5 weeks: 27.4 / √5, in bars</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6.1</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20 weeks: 27.4 / √20, in bars</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55–105</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rough 95 % interval for the mean: 80 ± 2 · 12.2 bars</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 27.4 </a:t>
            </a:r>
            <a:r>
              <a:rPr sz="1200" b="0" lang="en-GB">
                <a:solidFill>
                  <a:schemeClr val="tx1"/>
                </a:solidFill>
              </a:rPr>
              <a:t>describes the weeks: a single week is typically 27 bars away from 80</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 12.2 </a:t>
            </a:r>
            <a:r>
              <a:rPr sz="1200" b="0" lang="en-GB">
                <a:solidFill>
                  <a:schemeClr val="tx1"/>
                </a:solidFill>
              </a:rPr>
              <a:t>describes the average: it shrinks with √n; four times the weeks,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11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 (spread slide)</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A, steady</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85</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3.8</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B, volatile</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31.6</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+0.6</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85 bars at steady kiosk A lie 1.3 standard deviations above its mean, 100 bars at kiosk B only 0.6: kiosk 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kiosks,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Histogram of bars sold in the kiosk's 44 regular-price weeks with a normal curve, mean 80 and sd 10, and dashed lines at 70 and 90"/>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±1 sd, 70 to 90 bars: 31 of our 44 weeks</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±2 sd, 60 to 100 bars: 42 of our 44 weeks</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±3 sd, 50 to 110 bars: all 44 weeks</a:t>
            </a:r>
          </a:p>
        </p:txBody>
      </p:sp>
      <p:sp>
        <p:nvSpPr>
          <p:cNvPr id="23" name="Normal example"/>
          <p:cNvSpPr txBox="1"/>
          <p:nvPr/>
        </p:nvSpPr>
        <p:spPr>
          <a:xfrm>
            <a:off x="4800600" y="3657600"/>
            <a:ext cx="38862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Our kiosk: </a:t>
            </a:r>
            <a:r>
              <a:rPr sz="1200" b="0" lang="en-GB">
                <a:solidFill>
                  <a:schemeClr val="tx1"/>
                </a:solidFill>
              </a:rPr>
              <a:t>44 weeks at 3.00, mean 80, sd 10</a:t>
            </a:r>
          </a:p>
        </p:txBody>
      </p:sp>
      <p:sp>
        <p:nvSpPr>
          <p:cNvPr id="24"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6"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More than 90 bars? </a:t>
            </a:r>
            <a:r>
              <a:rPr sz="1200" b="0" lang="en-GB">
                <a:solidFill>
                  <a:schemeClr val="tx1"/>
                </a:solidFill>
              </a:rPr>
              <a:t>z = (90 − 80) / 10 = 1.0, so 100 − 84.1 = 15.9 % of weeks; our year: 6 of 44</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11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11 · mean, standard deviation, z-scores, covariance and correlation by hand, then checked; the kiosk's year</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91056"/>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91056"/>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91056"/>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91056"/>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91056"/>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91056"/>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947672"/>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947672"/>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947672"/>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947672"/>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947672"/>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947672"/>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304288"/>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304288"/>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304288"/>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304288"/>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304288"/>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304288"/>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660904"/>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660904"/>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660904"/>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660904"/>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660904"/>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660904"/>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3017520"/>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3017520"/>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3017520"/>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3017520"/>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3017520"/>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3017520"/>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374136"/>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374136"/>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48" name="Pkg table 7-2"/>
          <p:cNvSpPr/>
          <p:nvPr/>
        </p:nvSpPr>
        <p:spPr>
          <a:xfrm>
            <a:off x="1965960" y="3374136"/>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374136"/>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0" name="Pkg table 7-3"/>
          <p:cNvSpPr/>
          <p:nvPr/>
        </p:nvSpPr>
        <p:spPr>
          <a:xfrm>
            <a:off x="5394960" y="3374136"/>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374136"/>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2" name="Pkg table 8-1"/>
          <p:cNvSpPr/>
          <p:nvPr/>
        </p:nvSpPr>
        <p:spPr>
          <a:xfrm>
            <a:off x="457200" y="3730752"/>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730752"/>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54" name="Pkg table 8-2"/>
          <p:cNvSpPr/>
          <p:nvPr/>
        </p:nvSpPr>
        <p:spPr>
          <a:xfrm>
            <a:off x="1965960" y="3730752"/>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730752"/>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730752"/>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730752"/>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58"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0"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Year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621792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52; weeks 1 to 5 are the price test of the slides</a:t>
                      </a:r>
                    </a:p>
                  </a:txBody>
                  <a:tcPr marT="34000" marB="34000"/>
                </a:tc>
              </a:tr>
              <a:tr h="370840">
                <a:tc>
                  <a:txBody>
                    <a:bodyPr/>
                    <a:lstStyle/>
                    <a:p>
                      <a:r>
                        <a:rPr sz="1200" b="1" lang="en-GB"/>
                        <a:t>price</a:t>
                      </a:r>
                    </a:p>
                  </a:txBody>
                  <a:tcPr marT="34000" marB="34000"/>
                </a:tc>
                <a:tc>
                  <a:txBody>
                    <a:bodyPr/>
                    <a:lstStyle/>
                    <a:p>
                      <a:r>
                        <a:rPr sz="1200" lang="en-GB"/>
                        <a:t>price per bar, EUR: 3.00 regular, 2.50 in four promotion weeks</a:t>
                      </a:r>
                    </a:p>
                  </a:txBody>
                  <a:tcPr marT="34000" marB="34000"/>
                </a:tc>
              </a:tr>
              <a:tr h="370840">
                <a:tc>
                  <a:txBody>
                    <a:bodyPr/>
                    <a:lstStyle/>
                    <a:p>
                      <a:r>
                        <a:rPr sz="1200" b="1" lang="en-GB"/>
                        <a:t>units</a:t>
                      </a:r>
                    </a:p>
                  </a:txBody>
                  <a:tcPr marT="34000" marB="34000"/>
                </a:tc>
                <a:tc>
                  <a:txBody>
                    <a:bodyPr/>
                    <a:lstStyle/>
                    <a:p>
                      <a:r>
                        <a:rPr sz="1200" lang="en-GB"/>
                        <a:t>bars sold in the week</a:t>
                      </a:r>
                    </a:p>
                  </a:txBody>
                  <a:tcPr marT="34000" marB="34000"/>
                </a:tc>
              </a:tr>
              <a:tr h="370840">
                <a:tc>
                  <a:txBody>
                    <a:bodyPr/>
                    <a:lstStyle/>
                    <a:p>
                      <a:r>
                        <a:rPr sz="1200" b="1" lang="en-GB"/>
                        <a:t>temp</a:t>
                      </a:r>
                    </a:p>
                  </a:txBody>
                  <a:tcPr marT="34000" marB="34000"/>
                </a:tc>
                <a:tc>
                  <a:txBody>
                    <a:bodyPr/>
                    <a:lstStyle/>
                    <a:p>
                      <a:r>
                        <a:rPr sz="1200" lang="en-GB"/>
                        <a:t>average temperature of the week, °C</a:t>
                      </a:r>
                    </a:p>
                  </a:txBody>
                  <a:tcPr marT="34000" marB="34000"/>
                </a:tc>
              </a:tr>
              <a:tr h="370840">
                <a:tc>
                  <a:txBody>
                    <a:bodyPr/>
                    <a:lstStyle/>
                    <a:p>
                      <a:r>
                        <a:rPr sz="1200" b="1" lang="en-GB"/>
                        <a:t>display</a:t>
                      </a:r>
                    </a:p>
                  </a:txBody>
                  <a:tcPr marT="34000" marB="34000"/>
                </a:tc>
                <a:tc>
                  <a:txBody>
                    <a:bodyPr/>
                    <a:lstStyle/>
                    <a:p>
                      <a:r>
                        <a:rPr sz="1200" lang="en-GB"/>
                        <a:t>yes if a display stood next to the till</a:t>
                      </a:r>
                    </a:p>
                  </a:txBody>
                  <a:tcPr marT="34000" marB="34000"/>
                </a:tc>
              </a:tr>
              <a:tr h="370840">
                <a:tc>
                  <a:txBody>
                    <a:bodyPr/>
                    <a:lstStyle/>
                    <a:p>
                      <a:r>
                        <a:rPr sz="1200" b="1" lang="en-GB"/>
                        <a:t>rating</a:t>
                      </a:r>
                    </a:p>
                  </a:txBody>
                  <a:tcPr marT="34000" marB="34000"/>
                </a:tc>
                <a:tc>
                  <a:txBody>
                    <a:bodyPr/>
                    <a:lstStyle/>
                    <a:p>
                      <a:r>
                        <a:rPr sz="1200" lang="en-GB"/>
                        <a:t>median customer rating of the week, 1 to 5 stars</a:t>
                      </a:r>
                    </a:p>
                  </a:txBody>
                  <a:tcPr marT="34000" marB="34000"/>
                </a:tc>
              </a:tr>
            </a:tbl>
          </a:graphicData>
        </a:graphic>
      </p:graphicFrame>
      <p:sp>
        <p:nvSpPr>
          <p:cNvPr id="3" name="Title 2"/>
          <p:cNvSpPr>
            <a:spLocks noGrp="1"/>
          </p:cNvSpPr>
          <p:nvPr>
            <p:ph type="title"/>
          </p:nvPr>
        </p:nvSpPr>
        <p:spPr/>
        <p:txBody>
          <a:bodyPr/>
          <a:lstStyle/>
          <a:p>
            <a:r>
              <a:rPr sz="1600" lang="en-GB"/>
              <a:t>The data: one year at the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ear file"/>
          <p:cNvSpPr txBox="1"/>
          <p:nvPr/>
        </p:nvSpPr>
        <p:spPr>
          <a:xfrm>
            <a:off x="457200" y="40233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data/kiosk/kiosk_year.csv</a:t>
            </a:r>
            <a:r>
              <a:rPr sz="1200" b="0" lang="en-GB">
                <a:solidFill>
                  <a:schemeClr val="tx1"/>
                </a:solidFill>
              </a:rPr>
              <a:t>  52 weeks, one row per week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one year at the kiosk,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in Python:</a:t>
            </a:r>
            <a:br/>
            <a:r>
              <a:rPr sz="1200" b="1" lang="en-GB">
                <a:solidFill>
                  <a:schemeClr val="tx2"/>
                </a:solidFill>
              </a:rPr>
              <a:t>20 minutes</a:t>
            </a:r>
          </a:p>
        </p:txBody>
      </p:sp>
      <p:sp>
        <p:nvSpPr>
          <p:cNvPr id="11" name="Turn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of the six columns? What may you calculate for display and rating?</a:t>
            </a:r>
          </a:p>
        </p:txBody>
      </p:sp>
      <p:sp>
        <p:nvSpPr>
          <p:cNvPr id="15" name="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units over all 52 weeks; the median rating</a:t>
            </a:r>
          </a:p>
        </p:txBody>
      </p:sp>
      <p:sp>
        <p:nvSpPr>
          <p:cNvPr id="18" name="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sd and standard error of units in the regular-price weeks (price 3.00)</a:t>
            </a:r>
          </a:p>
        </p:txBody>
      </p:sp>
      <p:sp>
        <p:nvSpPr>
          <p:cNvPr id="21" name="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Normal: </a:t>
            </a:r>
            <a:r>
              <a:rPr sz="1200" b="0" lang="en-GB">
                <a:solidFill>
                  <a:schemeClr val="tx1"/>
                </a:solidFill>
              </a:rPr>
              <a:t>how many regular weeks lie within mean ± 2 sd? z of the best regular week?</a:t>
            </a:r>
          </a:p>
        </p:txBody>
      </p:sp>
      <p:sp>
        <p:nvSpPr>
          <p:cNvPr id="24" name="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6" name="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r of units with price and with temp; plot units against temp</a:t>
            </a:r>
          </a:p>
        </p:txBody>
      </p:sp>
      <p:sp>
        <p:nvSpPr>
          <p:cNvPr id="27"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sessions/01-foundations/refresher_exercise.qmd</a:t>
            </a:r>
            <a:r>
              <a:rPr sz="1200" b="0" lang="en-GB">
                <a:solidFill>
                  <a:schemeClr val="tx1"/>
                </a:solidFill>
              </a:rPr>
              <a:t>  (data, packages and the tasks)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The kiosk records four times as many weeks.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11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11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11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11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choc.select("sales", "price1",</a:t>
            </a:r>
          </a:p>
          <a:p>
            <a:pPr algn="l">
              <a:spcAft>
                <a:spcPts val="0"/>
              </a:spcAft>
            </a:pPr>
            <a:r>
              <a:rPr sz="1050" b="0" lang="en-GB">
                <a:solidFill>
                  <a:schemeClr val="bg1"/>
                </a:solidFill>
                <a:latin typeface="Consolas"/>
              </a:rPr>
              <a:t>            "price2").describe()</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autocorrelation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Weekly data, Durbin-Watson = 1.41. This suggests …</a:t>
            </a:r>
          </a:p>
          <a:p>
            <a:pPr algn="l">
              <a:spcAft>
                <a:spcPts val="100"/>
              </a:spcAft>
            </a:pPr>
            <a:r>
              <a:rPr sz="1200" b="0" lang="en-GB">
                <a:solidFill>
                  <a:schemeClr val="tx1"/>
                </a:solidFill>
              </a:rPr>
              <a:t>A positive autocorrelation     B no problem     C unequal variance</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11 · groups of 3, 25 minutes, on the chocolate data</a:t>
            </a:r>
          </a:p>
        </p:txBody>
      </p:sp>
      <p:sp>
        <p:nvSpPr>
          <p:cNvPr id="3" name="Title 2"/>
          <p:cNvSpPr>
            <a:spLocks noGrp="1"/>
          </p:cNvSpPr>
          <p:nvPr>
            <p:ph type="ctrTitle"/>
          </p:nvPr>
        </p:nvSpPr>
        <p:spPr/>
        <p:txBody>
          <a:bodyPr/>
          <a:lstStyle/>
          <a:p>
            <a:r>
              <a:rPr sz="1600" lang="en-GB"/>
              <a:t>In-class assignment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In-class assignment: pricing brand 1</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class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Groups of 3:</a:t>
            </a:r>
            <a:br/>
            <a:r>
              <a:rPr sz="1200" b="1" lang="en-GB">
                <a:solidFill>
                  <a:schemeClr val="tx2"/>
                </a:solidFill>
              </a:rPr>
              <a:t>20 minutes</a:t>
            </a:r>
          </a:p>
        </p:txBody>
      </p:sp>
      <p:sp>
        <p:nvSpPr>
          <p:cNvPr id="11" name="Inclass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Inclass q row 1"/>
          <p:cNvSpPr/>
          <p:nvPr/>
        </p:nvSpPr>
        <p:spPr>
          <a:xfrm>
            <a:off x="457200" y="1828800"/>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class q number 1"/>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Inclass q text 1"/>
          <p:cNvSpPr txBox="1"/>
          <p:nvPr/>
        </p:nvSpPr>
        <p:spPr>
          <a:xfrm>
            <a:off x="1051560" y="1828800"/>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Competition: </a:t>
            </a:r>
            <a:r>
              <a:rPr sz="1200" b="0" lang="en-GB">
                <a:solidFill>
                  <a:schemeClr val="tx1"/>
                </a:solidFill>
              </a:rPr>
              <a:t>plot sales against price2, price3 and price4. Which brand competes most?</a:t>
            </a:r>
          </a:p>
        </p:txBody>
      </p:sp>
      <p:sp>
        <p:nvSpPr>
          <p:cNvPr id="15" name="Inclass q row 2"/>
          <p:cNvSpPr/>
          <p:nvPr/>
        </p:nvSpPr>
        <p:spPr>
          <a:xfrm>
            <a:off x="457200" y="2505456"/>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class q number 2"/>
          <p:cNvSpPr/>
          <p:nvPr/>
        </p:nvSpPr>
        <p:spPr>
          <a:xfrm>
            <a:off x="594360" y="26517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Inclass q text 2"/>
          <p:cNvSpPr txBox="1"/>
          <p:nvPr/>
        </p:nvSpPr>
        <p:spPr>
          <a:xfrm>
            <a:off x="1051560" y="2505456"/>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Displays: </a:t>
            </a:r>
            <a:r>
              <a:rPr sz="1200" b="0" lang="en-GB">
                <a:solidFill>
                  <a:schemeClr val="tx1"/>
                </a:solidFill>
              </a:rPr>
              <a:t>add display1 and fand1 to the log-log model. What happens to the VIFs and coefficients, and why?</a:t>
            </a:r>
          </a:p>
        </p:txBody>
      </p:sp>
      <p:sp>
        <p:nvSpPr>
          <p:cNvPr id="18" name="Inclass q row 3"/>
          <p:cNvSpPr/>
          <p:nvPr/>
        </p:nvSpPr>
        <p:spPr>
          <a:xfrm>
            <a:off x="457200" y="3182112"/>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class q number 3"/>
          <p:cNvSpPr/>
          <p:nvPr/>
        </p:nvSpPr>
        <p:spPr>
          <a:xfrm>
            <a:off x="594360" y="33284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Inclass q text 3"/>
          <p:cNvSpPr txBox="1"/>
          <p:nvPr/>
        </p:nvSpPr>
        <p:spPr>
          <a:xfrm>
            <a:off x="1051560" y="3182112"/>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is 0.80. What price does ε = −3.64 suggest? Why is the real price about 1.50?</a:t>
            </a:r>
          </a:p>
        </p:txBody>
      </p:sp>
      <p:sp>
        <p:nvSpPr>
          <p:cNvPr id="21" name="Inclass q row 4"/>
          <p:cNvSpPr/>
          <p:nvPr/>
        </p:nvSpPr>
        <p:spPr>
          <a:xfrm>
            <a:off x="457200" y="3858768"/>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class q number 4"/>
          <p:cNvSpPr/>
          <p:nvPr/>
        </p:nvSpPr>
        <p:spPr>
          <a:xfrm>
            <a:off x="594360" y="40050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Inclass q text 4"/>
          <p:cNvSpPr txBox="1"/>
          <p:nvPr/>
        </p:nvSpPr>
        <p:spPr>
          <a:xfrm>
            <a:off x="1051560" y="3858768"/>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write one sentence for the brand manager, with a number and one caveat.</a:t>
            </a:r>
          </a:p>
        </p:txBody>
      </p:sp>
      <p:sp>
        <p:nvSpPr>
          <p:cNvPr id="24" name="Inclass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(the code of Part 9 and these questions)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11 · individual, 5 % of the grade</a:t>
            </a:r>
          </a:p>
        </p:txBody>
      </p:sp>
      <p:sp>
        <p:nvSpPr>
          <p:cNvPr id="3" name="Title 2"/>
          <p:cNvSpPr>
            <a:spLocks noGrp="1"/>
          </p:cNvSpPr>
          <p:nvPr>
            <p:ph type="ctrTitle"/>
          </p:nvPr>
        </p:nvSpPr>
        <p:spPr/>
        <p:txBody>
          <a:bodyPr/>
          <a:lstStyle/>
          <a:p>
            <a:r>
              <a:rPr sz="1600" lang="en-GB"/>
              <a:t>Coding exercise 1</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task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task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Ex task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a great_tables summary and two plotnine charts: sales over time, sales against price1</a:t>
            </a:r>
          </a:p>
        </p:txBody>
      </p:sp>
      <p:sp>
        <p:nvSpPr>
          <p:cNvPr id="13" name="Ex task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 task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Ex task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sales ~ price1; interpret the slope for a 10-cent price change</a:t>
            </a:r>
          </a:p>
        </p:txBody>
      </p:sp>
      <p:sp>
        <p:nvSpPr>
          <p:cNvPr id="16" name="Ex task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 task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Ex task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Log-log model: </a:t>
            </a:r>
            <a:r>
              <a:rPr sz="1200" b="0" lang="en-GB">
                <a:solidFill>
                  <a:schemeClr val="tx1"/>
                </a:solidFill>
              </a:rPr>
              <a:t>own and competitor prices, feature1, display1, temp, december; interpret 3 coefficients</a:t>
            </a:r>
          </a:p>
        </p:txBody>
      </p:sp>
      <p:sp>
        <p:nvSpPr>
          <p:cNvPr id="19" name="Ex task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task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Ex task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Assumptions: </a:t>
            </a:r>
            <a:r>
              <a:rPr sz="1200" b="0" lang="en-GB">
                <a:solidFill>
                  <a:schemeClr val="tx1"/>
                </a:solidFill>
              </a:rPr>
              <a:t>residual plot, histogram, Durbin-Watson, Breusch-Pagan, Jarque-Bera, VIF; one sentence each</a:t>
            </a:r>
          </a:p>
        </p:txBody>
      </p:sp>
      <p:sp>
        <p:nvSpPr>
          <p:cNvPr id="22" name="Ex task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 task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Ex task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Robust errors: </a:t>
            </a:r>
            <a:r>
              <a:rPr sz="1200" b="0" lang="en-GB">
                <a:solidFill>
                  <a:schemeClr val="tx1"/>
                </a:solidFill>
              </a:rPr>
              <a:t>refit with HAC standard errors; what changes and what does not?</a:t>
            </a:r>
          </a:p>
        </p:txBody>
      </p:sp>
      <p:sp>
        <p:nvSpPr>
          <p:cNvPr id="25" name="Ex tasks row 6"/>
          <p:cNvSpPr/>
          <p:nvPr/>
        </p:nvSpPr>
        <p:spPr>
          <a:xfrm>
            <a:off x="457200" y="411480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tasks number 6"/>
          <p:cNvSpPr/>
          <p:nvPr/>
        </p:nvSpPr>
        <p:spPr>
          <a:xfrm>
            <a:off x="594360" y="42153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Ex tasks text 6"/>
          <p:cNvSpPr txBox="1"/>
          <p:nvPr/>
        </p:nvSpPr>
        <p:spPr>
          <a:xfrm>
            <a:off x="1051560" y="411480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 </a:t>
            </a:r>
            <a:r>
              <a:rPr sz="1200" b="0" lang="en-GB">
                <a:solidFill>
                  <a:schemeClr val="tx1"/>
                </a:solidFill>
              </a:rPr>
              <a:t>the optimal price for marginal cost 0.90, with two caveats, in at most 100 words</a:t>
            </a:r>
          </a:p>
        </p:txBody>
      </p:sp>
      <p:sp>
        <p:nvSpPr>
          <p:cNvPr id="28" name="Ex data"/>
          <p:cNvSpPr txBox="1"/>
          <p:nvPr/>
        </p:nvSpPr>
        <p:spPr>
          <a:xfrm>
            <a:off x="457200" y="47091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Brief: </a:t>
            </a:r>
            <a:r>
              <a:rPr sz="1200" b="0" lang="en-GB">
                <a:solidFill>
                  <a:schemeClr val="tx2"/>
                </a:solidFill>
                <a:latin typeface="Consolas"/>
              </a:rPr>
              <a:t>assignments/coding-exercises/exercise-1.qmd</a:t>
            </a:r>
            <a:r>
              <a:rPr sz="1200" b="0" lang="en-GB">
                <a:solidFill>
                  <a:schemeClr val="tx1"/>
                </a:solidFill>
              </a:rPr>
              <a:t>  and on Canvas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submission and grading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submit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submit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x submit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Submit on Canvas</a:t>
            </a:r>
          </a:p>
        </p:txBody>
      </p:sp>
      <p:pic>
        <p:nvPicPr>
          <p:cNvPr id="13" name="Icon Ex submit" descr=""/>
          <p:cNvPicPr>
            <a:picLocks noChangeAspect="1"/>
          </p:cNvPicPr>
          <p:nvPr/>
        </p:nvPicPr>
        <p:blipFill>
          <a:blip r:embed="rId3"/>
          <a:stretch>
            <a:fillRect/>
          </a:stretch>
        </p:blipFill>
        <p:spPr>
          <a:xfrm>
            <a:off x="4064508" y="1284732"/>
            <a:ext cx="310896" cy="310896"/>
          </a:xfrm>
          <a:prstGeom prst="rect">
            <a:avLst/>
          </a:prstGeom>
        </p:spPr>
      </p:pic>
      <p:sp>
        <p:nvSpPr>
          <p:cNvPr id="14" name="Ex submit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exercise1_lastname.qmd and the rendered .html</a:t>
            </a:r>
          </a:p>
          <a:p>
            <a:pPr algn="l" marL="182880" indent="-182880">
              <a:spcAft>
                <a:spcPts val="600"/>
              </a:spcAft>
              <a:buClr>
                <a:schemeClr val="accent1"/>
              </a:buClr>
              <a:buFont typeface="Arial"/>
              <a:buChar char="▪"/>
            </a:pPr>
            <a:r>
              <a:rPr sz="1300" b="0" lang="en-GB">
                <a:solidFill>
                  <a:schemeClr val="tx1"/>
                </a:solidFill>
              </a:rPr>
              <a:t>Renders from top to bottom without errors</a:t>
            </a:r>
          </a:p>
          <a:p>
            <a:pPr algn="l" marL="182880" indent="-182880">
              <a:spcAft>
                <a:spcPts val="600"/>
              </a:spcAft>
              <a:buClr>
                <a:schemeClr val="accent1"/>
              </a:buClr>
              <a:buFont typeface="Arial"/>
              <a:buChar char="▪"/>
            </a:pPr>
            <a:r>
              <a:rPr sz="1300" b="0" lang="en-GB">
                <a:solidFill>
                  <a:schemeClr val="tx1"/>
                </a:solidFill>
              </a:rPr>
              <a:t>Every number in the text from code</a:t>
            </a:r>
          </a:p>
          <a:p>
            <a:pPr algn="l" marL="182880" indent="-182880">
              <a:spcAft>
                <a:spcPts val="600"/>
              </a:spcAft>
              <a:buClr>
                <a:schemeClr val="accent1"/>
              </a:buClr>
              <a:buFont typeface="Arial"/>
              <a:buChar char="▪"/>
            </a:pPr>
            <a:r>
              <a:rPr sz="1300" b="0" lang="en-GB">
                <a:solidFill>
                  <a:schemeClr val="tx1"/>
                </a:solidFill>
              </a:rPr>
              <a:t>Prompt log at the end: what you asked, what you changed</a:t>
            </a:r>
          </a:p>
          <a:p>
            <a:pPr algn="l" marL="182880" indent="-182880">
              <a:spcAft>
                <a:spcPts val="600"/>
              </a:spcAft>
              <a:buClr>
                <a:schemeClr val="accent1"/>
              </a:buClr>
              <a:buFont typeface="Arial"/>
              <a:buChar char="▪"/>
            </a:pPr>
            <a:r>
              <a:rPr sz="1300" b="0" lang="en-GB">
                <a:solidFill>
                  <a:schemeClr val="tx1"/>
                </a:solidFill>
              </a:rPr>
              <a:t>Deadline: see Canvas</a:t>
            </a:r>
          </a:p>
        </p:txBody>
      </p:sp>
      <p:sp>
        <p:nvSpPr>
          <p:cNvPr id="15" name="Ex grid 1-1"/>
          <p:cNvSpPr/>
          <p:nvPr/>
        </p:nvSpPr>
        <p:spPr>
          <a:xfrm>
            <a:off x="4640580" y="1234440"/>
            <a:ext cx="3035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 grid text 1-1"/>
          <p:cNvSpPr txBox="1"/>
          <p:nvPr/>
        </p:nvSpPr>
        <p:spPr>
          <a:xfrm>
            <a:off x="4732020" y="1234440"/>
            <a:ext cx="285292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Criterion</a:t>
            </a:r>
          </a:p>
        </p:txBody>
      </p:sp>
      <p:sp>
        <p:nvSpPr>
          <p:cNvPr id="17" name="Ex grid 1-2"/>
          <p:cNvSpPr/>
          <p:nvPr/>
        </p:nvSpPr>
        <p:spPr>
          <a:xfrm>
            <a:off x="7703820" y="1234440"/>
            <a:ext cx="9601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x grid text 1-2"/>
          <p:cNvSpPr txBox="1"/>
          <p:nvPr/>
        </p:nvSpPr>
        <p:spPr>
          <a:xfrm>
            <a:off x="7795260" y="1234440"/>
            <a:ext cx="777240"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Points</a:t>
            </a:r>
          </a:p>
        </p:txBody>
      </p:sp>
      <p:sp>
        <p:nvSpPr>
          <p:cNvPr id="19" name="Ex grid 2-1"/>
          <p:cNvSpPr/>
          <p:nvPr/>
        </p:nvSpPr>
        <p:spPr>
          <a:xfrm>
            <a:off x="4640580" y="159105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grid text 2-1"/>
          <p:cNvSpPr txBox="1"/>
          <p:nvPr/>
        </p:nvSpPr>
        <p:spPr>
          <a:xfrm>
            <a:off x="4732020" y="159105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Code runs, charts and tables clean</a:t>
            </a:r>
          </a:p>
        </p:txBody>
      </p:sp>
      <p:sp>
        <p:nvSpPr>
          <p:cNvPr id="21" name="Ex grid 2-2"/>
          <p:cNvSpPr/>
          <p:nvPr/>
        </p:nvSpPr>
        <p:spPr>
          <a:xfrm>
            <a:off x="7703820" y="159105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x grid text 2-2"/>
          <p:cNvSpPr txBox="1"/>
          <p:nvPr/>
        </p:nvSpPr>
        <p:spPr>
          <a:xfrm>
            <a:off x="7795260" y="159105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23" name="Ex grid 3-1"/>
          <p:cNvSpPr/>
          <p:nvPr/>
        </p:nvSpPr>
        <p:spPr>
          <a:xfrm>
            <a:off x="4640580" y="1947672"/>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 grid text 3-1"/>
          <p:cNvSpPr txBox="1"/>
          <p:nvPr/>
        </p:nvSpPr>
        <p:spPr>
          <a:xfrm>
            <a:off x="4732020" y="1947672"/>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Interpretation of the coefficients</a:t>
            </a:r>
          </a:p>
        </p:txBody>
      </p:sp>
      <p:sp>
        <p:nvSpPr>
          <p:cNvPr id="25" name="Ex grid 3-2"/>
          <p:cNvSpPr/>
          <p:nvPr/>
        </p:nvSpPr>
        <p:spPr>
          <a:xfrm>
            <a:off x="7703820" y="1947672"/>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grid text 3-2"/>
          <p:cNvSpPr txBox="1"/>
          <p:nvPr/>
        </p:nvSpPr>
        <p:spPr>
          <a:xfrm>
            <a:off x="7795260" y="1947672"/>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6</a:t>
            </a:r>
          </a:p>
        </p:txBody>
      </p:sp>
      <p:sp>
        <p:nvSpPr>
          <p:cNvPr id="27" name="Ex grid 4-1"/>
          <p:cNvSpPr/>
          <p:nvPr/>
        </p:nvSpPr>
        <p:spPr>
          <a:xfrm>
            <a:off x="4640580" y="2304288"/>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x grid text 4-1"/>
          <p:cNvSpPr txBox="1"/>
          <p:nvPr/>
        </p:nvSpPr>
        <p:spPr>
          <a:xfrm>
            <a:off x="4732020" y="2304288"/>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 checks and conclusion</a:t>
            </a:r>
          </a:p>
        </p:txBody>
      </p:sp>
      <p:sp>
        <p:nvSpPr>
          <p:cNvPr id="29" name="Ex grid 4-2"/>
          <p:cNvSpPr/>
          <p:nvPr/>
        </p:nvSpPr>
        <p:spPr>
          <a:xfrm>
            <a:off x="7703820" y="2304288"/>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x grid text 4-2"/>
          <p:cNvSpPr txBox="1"/>
          <p:nvPr/>
        </p:nvSpPr>
        <p:spPr>
          <a:xfrm>
            <a:off x="7795260" y="2304288"/>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31" name="Ex grid 5-1"/>
          <p:cNvSpPr/>
          <p:nvPr/>
        </p:nvSpPr>
        <p:spPr>
          <a:xfrm>
            <a:off x="4640580" y="2660904"/>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x grid text 5-1"/>
          <p:cNvSpPr txBox="1"/>
          <p:nvPr/>
        </p:nvSpPr>
        <p:spPr>
          <a:xfrm>
            <a:off x="4732020" y="2660904"/>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Recommendation with caveats</a:t>
            </a:r>
          </a:p>
        </p:txBody>
      </p:sp>
      <p:sp>
        <p:nvSpPr>
          <p:cNvPr id="33" name="Ex grid 5-2"/>
          <p:cNvSpPr/>
          <p:nvPr/>
        </p:nvSpPr>
        <p:spPr>
          <a:xfrm>
            <a:off x="7703820" y="2660904"/>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x grid text 5-2"/>
          <p:cNvSpPr txBox="1"/>
          <p:nvPr/>
        </p:nvSpPr>
        <p:spPr>
          <a:xfrm>
            <a:off x="7795260" y="2660904"/>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5" name="Ex grid 6-1"/>
          <p:cNvSpPr/>
          <p:nvPr/>
        </p:nvSpPr>
        <p:spPr>
          <a:xfrm>
            <a:off x="4640580" y="3017520"/>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x grid text 6-1"/>
          <p:cNvSpPr txBox="1"/>
          <p:nvPr/>
        </p:nvSpPr>
        <p:spPr>
          <a:xfrm>
            <a:off x="4732020" y="3017520"/>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a:t>
            </a:r>
          </a:p>
        </p:txBody>
      </p:sp>
      <p:sp>
        <p:nvSpPr>
          <p:cNvPr id="37" name="Ex grid 6-2"/>
          <p:cNvSpPr/>
          <p:nvPr/>
        </p:nvSpPr>
        <p:spPr>
          <a:xfrm>
            <a:off x="7703820" y="3017520"/>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x grid text 6-2"/>
          <p:cNvSpPr txBox="1"/>
          <p:nvPr/>
        </p:nvSpPr>
        <p:spPr>
          <a:xfrm>
            <a:off x="7795260" y="3017520"/>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9" name="Ex grid 7-1"/>
          <p:cNvSpPr/>
          <p:nvPr/>
        </p:nvSpPr>
        <p:spPr>
          <a:xfrm>
            <a:off x="4640580" y="337413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Ex grid text 7-1"/>
          <p:cNvSpPr txBox="1"/>
          <p:nvPr/>
        </p:nvSpPr>
        <p:spPr>
          <a:xfrm>
            <a:off x="4732020" y="337413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Total (5 % of the grade)</a:t>
            </a:r>
          </a:p>
        </p:txBody>
      </p:sp>
      <p:sp>
        <p:nvSpPr>
          <p:cNvPr id="41" name="Ex grid 7-2"/>
          <p:cNvSpPr/>
          <p:nvPr/>
        </p:nvSpPr>
        <p:spPr>
          <a:xfrm>
            <a:off x="7703820" y="337413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Ex grid text 7-2"/>
          <p:cNvSpPr txBox="1"/>
          <p:nvPr/>
        </p:nvSpPr>
        <p:spPr>
          <a:xfrm>
            <a:off x="7795260" y="337413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20</a:t>
            </a:r>
          </a:p>
        </p:txBody>
      </p:sp>
      <p:sp>
        <p:nvSpPr>
          <p:cNvPr id="43" name="Ex rules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Ex rules" descr=""/>
          <p:cNvPicPr>
            <a:picLocks noChangeAspect="1"/>
          </p:cNvPicPr>
          <p:nvPr/>
        </p:nvPicPr>
        <p:blipFill>
          <a:blip r:embed="rId4"/>
          <a:stretch>
            <a:fillRect/>
          </a:stretch>
        </p:blipFill>
        <p:spPr>
          <a:xfrm>
            <a:off x="658368" y="4114800"/>
            <a:ext cx="365760" cy="365760"/>
          </a:xfrm>
          <a:prstGeom prst="rect">
            <a:avLst/>
          </a:prstGeom>
        </p:spPr>
      </p:pic>
      <p:sp>
        <p:nvSpPr>
          <p:cNvPr id="45" name="Ex rules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Individual work: </a:t>
            </a:r>
            <a:r>
              <a:rPr sz="1200" b="0" lang="en-GB">
                <a:solidFill>
                  <a:schemeClr val="bg1"/>
                </a:solidFill>
              </a:rPr>
              <a:t>discuss ideas, but write and check your own code. AI assistants are allowed; you own every number.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session: </a:t>
            </a:r>
            <a:r>
              <a:rPr sz="1200" b="0" lang="en-GB">
                <a:solidFill>
                  <a:schemeClr val="bg1"/>
                </a:solidFill>
              </a:rPr>
              <a:t>the marketing mix model, a regression with adstock and saturation.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