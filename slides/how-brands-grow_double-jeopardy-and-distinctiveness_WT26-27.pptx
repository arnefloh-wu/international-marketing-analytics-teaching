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Penetration (% buying in a year)</a:t>
            </a:r>
          </a:p>
        </c:rich>
      </c:tx>
      <c:layout/>
      <c:overlay val="0"/>
    </c:title>
    <c:autoTitleDeleted val="0"/>
    <c:plotArea>
      <c:barChart>
        <c:barDir val="col"/>
        <c:grouping val="clustered"/>
        <c:ser>
          <c:idx val="0"/>
          <c:order val="0"/>
          <c:tx>
            <c:strRef>
              <c:f>Sheet1!$B$1</c:f>
              <c:strCache>
                <c:ptCount val="1"/>
                <c:pt idx="0">
                  <c:v>Penetration (% buying in a year)</c:v>
                </c:pt>
              </c:strCache>
            </c:strRef>
          </c:tx>
          <c:spPr>
            <a:solidFill>
              <a:schemeClr val="accent1"/>
            </a:solidFill>
          </c:spPr>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45</c:v>
                </c:pt>
                <c:pt idx="1">
                  <c:v>32</c:v>
                </c:pt>
                <c:pt idx="2">
                  <c:v>24</c:v>
                </c:pt>
                <c:pt idx="3">
                  <c:v>16</c:v>
                </c:pt>
                <c:pt idx="4">
                  <c:v>10</c:v>
                </c:pt>
                <c:pt idx="5">
                  <c:v>6</c:v>
                </c:pt>
              </c:numCache>
            </c:numRef>
          </c:val>
        </c:ser>
        <c:dLbls>
          <c:numFmt formatCode="0&quot;%&quot;"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50.0"/>
          <c:min val="0.0"/>
        </c:scaling>
        <c:delete val="0"/>
        <c:axPos val="l"/>
        <c:majorGridlines>
          <c:spPr>
            <a:ln>
              <a:solidFill>
                <a:srgbClr val="D9D9D9"/>
              </a:solidFill>
            </a:ln>
          </c:spPr>
        </c:majorGridlines>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lang="en-GB">
                <a:solidFill>
                  <a:schemeClr val="tx2"/>
                </a:solidFill>
              </a:rPr>
              <a:t>Purchases per buyer per year</a:t>
            </a:r>
          </a:p>
        </c:rich>
      </c:tx>
      <c:layout/>
      <c:overlay val="0"/>
    </c:title>
    <c:autoTitleDeleted val="0"/>
    <c:plotArea>
      <c:barChart>
        <c:barDir val="col"/>
        <c:grouping val="clustered"/>
        <c:ser>
          <c:idx val="0"/>
          <c:order val="0"/>
          <c:tx>
            <c:strRef>
              <c:f>Sheet1!$B$1</c:f>
              <c:strCache>
                <c:ptCount val="1"/>
                <c:pt idx="0">
                  <c:v>Purchases per buyer per year</c:v>
                </c:pt>
              </c:strCache>
            </c:strRef>
          </c:tx>
          <c:spPr>
            <a:solidFill>
              <a:schemeClr val="accent1"/>
            </a:solidFill>
          </c:spPr>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4.5</c:v>
                </c:pt>
                <c:pt idx="1">
                  <c:v>3.7</c:v>
                </c:pt>
                <c:pt idx="2">
                  <c:v>3.3</c:v>
                </c:pt>
                <c:pt idx="3">
                  <c:v>3.0</c:v>
                </c:pt>
                <c:pt idx="4">
                  <c:v>2.8</c:v>
                </c:pt>
                <c:pt idx="5">
                  <c:v>2.7</c:v>
                </c:pt>
              </c:numCache>
            </c:numRef>
          </c:val>
        </c:ser>
        <c:dLbls>
          <c:numFmt formatCode="0.0" sourceLinked="0"/>
          <c:txPr>
            <a:bodyPr/>
            <a:lstStyle/>
            <a:p>
              <a:pPr>
                <a:defRPr sz="1100">
                  <a:solidFill>
                    <a:schemeClr val="tx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solidFill>
                  <a:srgbClr val="595959"/>
                </a:solidFill>
              </a:defRPr>
            </a:pPr>
          </a:p>
        </c:txPr>
        <c:crossAx val="-2113994440"/>
        <c:crosses val="autoZero"/>
        <c:auto val="1"/>
        <c:lblAlgn val="ctr"/>
        <c:lblOffset val="100"/>
        <c:noMultiLvlLbl val="0"/>
      </c:catAx>
      <c:valAx>
        <c:axId val="-2113994440"/>
        <c:scaling>
          <c:max val="5.0"/>
          <c:min val="0.0"/>
        </c:scaling>
        <c:delete val="0"/>
        <c:axPos val="l"/>
        <c:majorGridlines>
          <c:spPr>
            <a:ln>
              <a:solidFill>
                <a:srgbClr val="D9D9D9"/>
              </a:solidFill>
            </a:ln>
          </c:spPr>
        </c:majorGridlines>
        <c:majorTickMark val="out"/>
        <c:minorTickMark val="none"/>
        <c:tickLblPos val="nextTo"/>
        <c:spPr>
          <a:ln>
            <a:noFill/>
          </a:ln>
        </c:spPr>
        <c:txPr>
          <a:bodyPr/>
          <a:lstStyle/>
          <a:p>
            <a:pPr>
              <a:defRPr sz="1050">
                <a:solidFill>
                  <a:srgbClr val="59595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100 minutes in six parts: brand management basics, the laws of brand buying, how brands grow, distinctiveness, critiques and boundary conditions, and a hands-on part with a data lab and a distinctive asset audit. Core reading: Sharp (2010) How Brands Grow; Romaniuk &amp; Sharp (2016) How Brands Grow Part 2; Romaniuk (2018) Building Distinctive Brand Assets.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poll: which column matches what you learned in Marketing 101? Most textbooks (Kotler &amp; Keller; Esch in the German tradition) teach the left column. Sharp (2010) challenges each point with empirical generalisations from panel data. Part 5 returns to the tension with the Binet &amp; Field and Ritson debate.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objectives map onto the six parts. The lab in Part 6 tests objectives 2 and 3 with data; the asset audit tests objectives 1 and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about 15 minutes: what a brand is, its tangible and intangible elements, why brands matter and what brand management does. Sets up the vocabulary the Ehrenberg-Bass parts build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complementary views. The AMA definition is about identification: the legal and visual marks that tell buyers who made the product. Keller's customer-based brand equity view is about memory: awareness plus associations, and the differential effect that knowledge has on consumer response (Keller 1993). Ask students to name a brand they would recognise without seeing its name.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iceberg: buyers meet the tangible elements (Keller calls them brand elements: names, logos, symbols, characters, slogans, jingles, packages). Most of a brand's value sits below the waterline in memory: associations, image, personality, heritage, trust. Link forward: tangible elements are the candidates for distinctive assets (Part 4); intangible memories are what mental availability measures (Part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Manner was founded by Josef Manner in Vienna in 1890; the cathedral symbol and the pink colour are among the best-known Austrian brand elements. The intangible column is illustrative: ask students what they associate with Manner before showing it. We return to Manner in the distinctive asset audit in Part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 of brands for buyers and firms and the four-step strategic brand management process follow Keller &amp; Swaminathan (2020), ch. 1-2. Bridge: the rest of the lecture asks which brand management activities the empirical evidence supports as drivers of growth.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about 20 minutes: what a marketing law is, Double Jeopardy, Duplication of Purchase, the Dirichlet benchmark and light buyers.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Ehrenberg's position: a single study proves little; a pattern that holds across many differentiated replications is a generalisation to build on. Uncles &amp; Kwok (2013) give a design template. This stance underlies How Brands Grow, and critics attack exactly this point (laws or just stable descriptions?).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line: penetration varies a lot between brands, loyalty very little. The approximation w(1-b) = w0 is Ehrenberg's; Graham et al. (2017, Australasian Marketing Journal, 'Double Jeopardy 50 years on') test it across 32 replications without finding a boundary condition. Ask: a tracking report says 'our loyalty is lower than the leader's'. What should the manager conclude? Probably nothing is wrong; it is Double Jeopardy.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numbers built with the Double Jeopardy approximation, so students see the shape without proprietary panel data. Real tables: Ehrenberg, Goodhardt &amp; Barwise (1990, Journal of Marketing) and Sharp (2010, ch. 2). In the lab students reproduce this chart with dunnhumby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Jeopardy follows from a world where brands differ mainly in how many people buy them (mental and physical availability) and buyers split purchases across a repertoire. Kucuk (2008) asks whether distribution alone explains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Duplication of Purchase: the share of brand X's buyers who also buy Y is roughly D times Y's penetration, with one D per category. Uses: who are my real competitors (everyone, in line with size), and where are genuine partitions (flavour, price tier, organic)? Dawes (2016, Journal of Marketing Management) tests how robust partitions are; Goodhardt &amp; Ehrenberg (1969) found the same law for TV viewing.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Dirichlet is deliberately simple: no marketing mix, no brand image. That it still fits most categories is the strongest argument for the laws. Implementation: R package NBDdirichlet (CRAN). Goodness of fit: Driesener, Banelis &amp; Rungie (2017). Overview: Driesener &amp; Rungie (2021).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for media planning and CRM. Trinh (2023, Marketing Letters) shows growth potential sits with light and non-buyers.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about 15 minutes. Students apply Category Entry Points to a category they know.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managerially relevant claim and the one practitioners push back on. It does not say loyalty is worthless, only that loyalty rises with size rather than being a separate lever. Romaniuk &amp; Sharp (2016) extend the evidence to services, durables, B2B and emerging markets.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Kantar Worldpanel (now Worldpanel by Numerator) ranks FMCG brands by Consumer Reach Points: how many households buy a brand and how often. Sources: kantar.com/brand-footprint (13th edition, 2025, 30,000+ brands in 56 markets); Kantar, 'Brand Footprint 2025: Asia remains an FMCG growth hotspot' (15 Sep 2025): 'around 80% of brands that expand their footprint do so by increasing penetration'; Kantar, 'Shoppers in Latam make 3.4% fewer FMCG brand choices year-on-year' (15 Sep 2025): 86% of brands that gained CRPs in 2024 did so by attracting new shoppers. Europanel's BG20 study reports the same: penetration growth correlates with brand growth, frequency does not.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Mental availability metrics: Romaniuk (2022) and Romaniuk (2013) on mental market share. Physical availability links to the Dollar Shave Club case: strong fame, weak shelf presence.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John Dawes (Ehrenberg-Bass) wrote the 95:5 argument for the LinkedIn B2B Institute in 2021: if firms change a provider about once every five years, about 20% are in market per year and around 5% per quarter. Dawes says 'up to' 95% are out of market; the exact share depends on the purchase cycle. Some trade press turns this into '95% of budget on brand', which is an interpretation, not his finding. Sources: marketingscience.info/news-and-insights/the-955-rule-why-b2b-growth-starts-long-before-the-purchase; Marketing Week (Weinberg &amp; Lombardo), 'The 95:5 rule is the new 60:40 rule'.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 activity (5 min): pick a category (energy drinks, beer, oat milk), brainstorm entry points along the W's, then name the brand students link to each. The share of all brand-CEP links one brand holds is its mental market share.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about 20 minutes: distinctiveness versus differentiation, the asset grid and six cases.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Ehrenberg-Bass does not say products should be identical. Functional differences matter; the claim is that perceived brand differentiation is a weak growth driver and that branding should first make the brand easy to notice and recognise. Counterpoints: Kapferer, Keller (1993), Kantar's Meaningful-Different-Salient model.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Grid from Romaniuk (2018) Building Distinctive Brand Assets. Measurement by reverse recognition: show the asset without the brand and ask which brand it belongs to; fame = share naming the right brand, uniqueness = share of all mentions that go to the right brand. Brus, Hartnett &amp; Faulkner (2025) show marketers overestimate fame and underestimate uniqueness. Phua et al. (2026) find shape-based assets strongest.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Tropicana: Ad Age, reprinted by Bloomberg (2 Apr 2009): Pure Premium unit sales fell 20% between 1 Jan and 22 Feb 2009; dollar sales fell 19%, about USD 33 million (Information Resources Inc. data). Gap: CNN Money, 'Gap reverts to classic logo after outcry' (12 Oct 2010); teaching case: Pollach, Emerald Teaching Notes (2016). Jaguar: AP, 'Radical Jaguar rebrand and new logo sparks ire online' (20 Nov 2024); Nothing's 'Copy Jaguar' parody on X. Ask students to place each lost asset on the fame x uniqueness grid.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Mastercard: press release at CES, January 2019, reprinted by Finextra; Dezeen (10 Jan 2019); Ritson in Marketing Week (9 Jan 2019); sonic logo: The Drum (8 Feb 2019). Cadbury: Court of Appeal, Societe des Produits Nestle v Cadbury UK [2013] EWCA Civ 1174; reported by Food Manufacture (7 Oct 2013); the Supreme Court refused a further appeal in 2014. Cadbury can still act against passing off. Burger King: Campaign, 'Burger King unveils first rebrand in more than 20 years' (2021, design by Jones Knowles Ritchie). Austrian contrast: Manner's pink and cathedral logo, Red Bull's can and bulls.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about 15 minutes, with a short structured debate.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Deviations are measured against the Dirichlet norm, so they are only visible because the norm exists. Ehrenberg-Bass replies: 'Answering critics' and 'A short critique of a critique of Double Jeopardy' (marketingscience.info); Scriven, Bound &amp; Graham (2017) on common deviations. Recent digital replications: Šulik (2026) on Steam and MovieLens.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Half the room argues Sharp, half Binet &amp; Field/Ritson. Readings: Ritson 'We should thank Byron Sharp, not attack him' (Marketing Week 2017); 'Byron Sharp on the legacy of How Brands Grow and why he disagrees with Les Binet' (WARC); Mi3 (2022) 'How Brands Shrink' with James Hurman's critique. The 2026 Cannes session 'Five marketing truths' shows where the camps converge.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about 10 minutes in class plus homework.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Works in R or Python (pandas plus scipy.stats.nbinom). NBDdirichlet (CRAN, v1.4) needs category penetration, category purchase rate and brand shares. Alternatives: MovieLens 32M (see Šulik 2026), Instacart on Kaggle. Check the dunnhumby licence before sharing data.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 follows Romaniuk (2018) and the Ehrenberg-Bass note on distinctive asset measurement. A Marketagent survey reported by the Tiroler Tageszeitung rated Manner's slogan the best-liked and Red Bull's the most memorable Austrian slogan; that is recall, not fame and uniqueness, and students can test the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references. Sharp, B. (2010) How Brands Grow, Oxford University Press. Romaniuk, J. (2018) Building Distinctive Brand Assets, Oxford University Press. Ehrenberg, A., Goodhardt, G. &amp; Barwise, P. (1990) Double Jeopardy revisited, Journal of Marketing 54(3), 82-91. Sharp, B. et al. (2012) It's a Dirichlet world, Journal of Advertising Research 52(2), 203-213. Keller, K. L. &amp; Swaminathan, V. (2020) Strategic Brand Management, 5th ed., Pearson. Romaniuk, J. &amp; Sharp, B. (2016) How Brands Grow Part 2. Romaniuk, J. (2022) Better Brand Health. Binet, L. &amp; Field, P. (2013) The Long and the Short of It, IPA. Fader, P. &amp; Schmittlein, D. (1993) Journal of Marketing Research 30(4), 478-493. Graham, C. et al. (2017) Australasian Marketing Journal 25(4), 278-287. Kantar Worldpanel (2025) Brand Footprint, kantar.com/brand-footprint. Dawes, J. (2021) for the LinkedIn B2B Institute; Ehrenberg-Bass summary at marketingscience.info. Ad Age, reprinted by Bloomberg (2 Apr 2009), 'Tropicana fiasco from Arnell is gift that keeps giving'. Mastercard press release (Jan 2019) via Finextra. Societe des Produits Nestle v Cadbury UK [2013] EWCA Civ 1174. More than 300 further sources with access notes: Notion page and GitHub folder 'How Brands Grow (Double Jeopardy Law and Brand Distinctiveness, Ehrenberg-Bass Institute)'.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returning to the two columns from slide 2: which claims survived the evidence, and which are still contested?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10.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image" Target="../media/image2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9.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10.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How Brands Grow</a:t>
            </a:r>
          </a:p>
        </p:txBody>
      </p:sp>
      <p:sp>
        <p:nvSpPr>
          <p:cNvPr id="3" name="Subtitle 2"/>
          <p:cNvSpPr>
            <a:spLocks noGrp="1"/>
          </p:cNvSpPr>
          <p:nvPr>
            <p:ph type="subTitle" idx="1"/>
          </p:nvPr>
        </p:nvSpPr>
        <p:spPr/>
        <p:txBody>
          <a:bodyPr/>
          <a:lstStyle/>
          <a:p>
            <a:r>
              <a:t>Double Jeopardy and distinctiveness</a:t>
            </a:r>
          </a:p>
        </p:txBody>
      </p:sp>
      <p:sp>
        <p:nvSpPr>
          <p:cNvPr id="4" name="Text Placeholder 3"/>
          <p:cNvSpPr>
            <a:spLocks noGrp="1"/>
          </p:cNvSpPr>
          <p:nvPr>
            <p:ph type="body" idx="12" sz="quarter"/>
          </p:nvPr>
        </p:nvSpPr>
        <p:spPr/>
        <p:txBody>
          <a:bodyPr/>
          <a:lstStyle/>
          <a:p>
            <a: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How do brands grow? Two answers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raditional body"/>
          <p:cNvSpPr/>
          <p:nvPr/>
        </p:nvSpPr>
        <p:spPr>
          <a:xfrm>
            <a:off x="457200" y="1280160"/>
            <a:ext cx="4032504"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raditional band"/>
          <p:cNvSpPr/>
          <p:nvPr/>
        </p:nvSpPr>
        <p:spPr>
          <a:xfrm>
            <a:off x="457200"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raditional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Traditional view</a:t>
            </a:r>
          </a:p>
        </p:txBody>
      </p:sp>
      <p:pic>
        <p:nvPicPr>
          <p:cNvPr id="9" name="Icon LuBookOpen" descr="LuBookOpen-white.png"/>
          <p:cNvPicPr>
            <a:picLocks noChangeAspect="1"/>
          </p:cNvPicPr>
          <p:nvPr/>
        </p:nvPicPr>
        <p:blipFill>
          <a:blip r:embed="rId2"/>
          <a:stretch>
            <a:fillRect/>
          </a:stretch>
        </p:blipFill>
        <p:spPr>
          <a:xfrm>
            <a:off x="4059936" y="1344168"/>
            <a:ext cx="329184" cy="329184"/>
          </a:xfrm>
          <a:prstGeom prst="rect">
            <a:avLst/>
          </a:prstGeom>
        </p:spPr>
      </p:pic>
      <p:sp>
        <p:nvSpPr>
          <p:cNvPr id="10" name="Traditional text"/>
          <p:cNvSpPr txBox="1"/>
          <p:nvPr/>
        </p:nvSpPr>
        <p:spPr>
          <a:xfrm>
            <a:off x="594360" y="1847088"/>
            <a:ext cx="3758184" cy="1673351"/>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Loyalty: </a:t>
            </a:r>
            <a:r>
              <a:rPr lang="en-GB" sz="1300" b="0" i="0">
                <a:solidFill>
                  <a:schemeClr val="tx1"/>
                </a:solidFill>
              </a:rPr>
              <a:t>grow by making customers more loyal</a:t>
            </a:r>
          </a:p>
          <a:p>
            <a:pPr algn="l">
              <a:spcAft>
                <a:spcPts val="700"/>
              </a:spcAft>
            </a:pPr>
            <a:r>
              <a:rPr lang="en-GB" sz="1300" b="1" i="0">
                <a:solidFill>
                  <a:schemeClr val="tx1"/>
                </a:solidFill>
              </a:rPr>
              <a:t>Differentiation: </a:t>
            </a:r>
            <a:r>
              <a:rPr lang="en-GB" sz="1300" b="0" i="0">
                <a:solidFill>
                  <a:schemeClr val="tx1"/>
                </a:solidFill>
              </a:rPr>
              <a:t>give a unique reason to choose</a:t>
            </a:r>
          </a:p>
          <a:p>
            <a:pPr algn="l">
              <a:spcAft>
                <a:spcPts val="700"/>
              </a:spcAft>
            </a:pPr>
            <a:r>
              <a:rPr lang="en-GB" sz="1300" b="1" i="0">
                <a:solidFill>
                  <a:schemeClr val="tx1"/>
                </a:solidFill>
              </a:rPr>
              <a:t>Targeting: </a:t>
            </a:r>
            <a:r>
              <a:rPr lang="en-GB" sz="1300" b="0" i="0">
                <a:solidFill>
                  <a:schemeClr val="tx1"/>
                </a:solidFill>
              </a:rPr>
              <a:t>tailor the message to one segment</a:t>
            </a:r>
          </a:p>
          <a:p>
            <a:pPr algn="l">
              <a:spcAft>
                <a:spcPts val="700"/>
              </a:spcAft>
            </a:pPr>
            <a:r>
              <a:rPr lang="en-GB" sz="1300" b="1" i="0">
                <a:solidFill>
                  <a:schemeClr val="tx1"/>
                </a:solidFill>
              </a:rPr>
              <a:t>Attitudes: </a:t>
            </a:r>
            <a:r>
              <a:rPr lang="en-GB" sz="1300" b="0" i="0">
                <a:solidFill>
                  <a:schemeClr val="tx1"/>
                </a:solidFill>
              </a:rPr>
              <a:t>image drives behaviour</a:t>
            </a:r>
          </a:p>
        </p:txBody>
      </p:sp>
      <p:sp>
        <p:nvSpPr>
          <p:cNvPr id="11" name="Ehrenberg-Bass body"/>
          <p:cNvSpPr/>
          <p:nvPr/>
        </p:nvSpPr>
        <p:spPr>
          <a:xfrm>
            <a:off x="4654296" y="1280160"/>
            <a:ext cx="4032504"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hrenberg-Bas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hrenberg-Bas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Ehrenberg-Bass view</a:t>
            </a:r>
          </a:p>
        </p:txBody>
      </p:sp>
      <p:pic>
        <p:nvPicPr>
          <p:cNvPr id="14" name="Icon LuChartColumn" descr="LuChartColumn-white.png"/>
          <p:cNvPicPr>
            <a:picLocks noChangeAspect="1"/>
          </p:cNvPicPr>
          <p:nvPr/>
        </p:nvPicPr>
        <p:blipFill>
          <a:blip r:embed="rId3"/>
          <a:stretch>
            <a:fillRect/>
          </a:stretch>
        </p:blipFill>
        <p:spPr>
          <a:xfrm>
            <a:off x="8257031" y="1344168"/>
            <a:ext cx="329184" cy="329184"/>
          </a:xfrm>
          <a:prstGeom prst="rect">
            <a:avLst/>
          </a:prstGeom>
        </p:spPr>
      </p:pic>
      <p:sp>
        <p:nvSpPr>
          <p:cNvPr id="15" name="Ehrenberg-Bass text"/>
          <p:cNvSpPr txBox="1"/>
          <p:nvPr/>
        </p:nvSpPr>
        <p:spPr>
          <a:xfrm>
            <a:off x="4791456" y="1847088"/>
            <a:ext cx="3758184" cy="1673351"/>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Penetration: </a:t>
            </a:r>
            <a:r>
              <a:rPr lang="en-GB" sz="1300" b="0" i="0">
                <a:solidFill>
                  <a:schemeClr val="tx1"/>
                </a:solidFill>
              </a:rPr>
              <a:t>grow by winning more buyers</a:t>
            </a:r>
          </a:p>
          <a:p>
            <a:pPr algn="l">
              <a:spcAft>
                <a:spcPts val="700"/>
              </a:spcAft>
            </a:pPr>
            <a:r>
              <a:rPr lang="en-GB" sz="1300" b="1" i="0">
                <a:solidFill>
                  <a:schemeClr val="tx1"/>
                </a:solidFill>
              </a:rPr>
              <a:t>Distinctiveness: </a:t>
            </a:r>
            <a:r>
              <a:rPr lang="en-GB" sz="1300" b="0" i="0">
                <a:solidFill>
                  <a:schemeClr val="tx1"/>
                </a:solidFill>
              </a:rPr>
              <a:t>be easy to notice and recognise</a:t>
            </a:r>
          </a:p>
          <a:p>
            <a:pPr algn="l">
              <a:spcAft>
                <a:spcPts val="700"/>
              </a:spcAft>
            </a:pPr>
            <a:r>
              <a:rPr lang="en-GB" sz="1300" b="1" i="0">
                <a:solidFill>
                  <a:schemeClr val="tx1"/>
                </a:solidFill>
              </a:rPr>
              <a:t>Reach: </a:t>
            </a:r>
            <a:r>
              <a:rPr lang="en-GB" sz="1300" b="0" i="0">
                <a:solidFill>
                  <a:schemeClr val="tx1"/>
                </a:solidFill>
              </a:rPr>
              <a:t>talk to all category buyers</a:t>
            </a:r>
          </a:p>
          <a:p>
            <a:pPr algn="l">
              <a:spcAft>
                <a:spcPts val="700"/>
              </a:spcAft>
            </a:pPr>
            <a:r>
              <a:rPr lang="en-GB" sz="1300" b="1" i="0">
                <a:solidFill>
                  <a:schemeClr val="tx1"/>
                </a:solidFill>
              </a:rPr>
              <a:t>Behaviour: </a:t>
            </a:r>
            <a:r>
              <a:rPr lang="en-GB" sz="1300" b="0" i="0">
                <a:solidFill>
                  <a:schemeClr val="tx1"/>
                </a:solidFill>
              </a:rPr>
              <a:t>buying shapes attitudes too</a:t>
            </a:r>
          </a:p>
        </p:txBody>
      </p:sp>
      <p:sp>
        <p:nvSpPr>
          <p:cNvPr id="16" name="Central question"/>
          <p:cNvSpPr/>
          <p:nvPr/>
        </p:nvSpPr>
        <p:spPr>
          <a:xfrm>
            <a:off x="457200" y="37947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entral question text"/>
          <p:cNvSpPr txBox="1"/>
          <p:nvPr/>
        </p:nvSpPr>
        <p:spPr>
          <a:xfrm>
            <a:off x="640080" y="3794760"/>
            <a:ext cx="7863840" cy="50292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Today: test the right-hand column against the evidence, then look at where it bends.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Learning objectives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Objective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Fingerprint" descr="LuFingerprint-navy.png"/>
          <p:cNvPicPr>
            <a:picLocks noChangeAspect="1"/>
          </p:cNvPicPr>
          <p:nvPr/>
        </p:nvPicPr>
        <p:blipFill>
          <a:blip r:embed="rId2"/>
          <a:stretch>
            <a:fillRect/>
          </a:stretch>
        </p:blipFill>
        <p:spPr>
          <a:xfrm>
            <a:off x="658368" y="1362456"/>
            <a:ext cx="365760" cy="365760"/>
          </a:xfrm>
          <a:prstGeom prst="rect">
            <a:avLst/>
          </a:prstGeom>
        </p:spPr>
      </p:pic>
      <p:sp>
        <p:nvSpPr>
          <p:cNvPr id="8" name="Objective text 1"/>
          <p:cNvSpPr txBox="1"/>
          <p:nvPr/>
        </p:nvSpPr>
        <p:spPr>
          <a:xfrm>
            <a:off x="1234440" y="123444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Define </a:t>
            </a:r>
            <a:r>
              <a:rPr lang="en-GB" sz="1400" b="0" i="0">
                <a:solidFill>
                  <a:schemeClr val="tx1"/>
                </a:solidFill>
              </a:rPr>
              <a:t>a brand and its tangible and intangible elements</a:t>
            </a:r>
          </a:p>
        </p:txBody>
      </p:sp>
      <p:sp>
        <p:nvSpPr>
          <p:cNvPr id="9" name="Objective row 2"/>
          <p:cNvSpPr/>
          <p:nvPr/>
        </p:nvSpPr>
        <p:spPr>
          <a:xfrm>
            <a:off x="457200" y="196596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Repeat" descr="LuRepeat-navy.png"/>
          <p:cNvPicPr>
            <a:picLocks noChangeAspect="1"/>
          </p:cNvPicPr>
          <p:nvPr/>
        </p:nvPicPr>
        <p:blipFill>
          <a:blip r:embed="rId3"/>
          <a:stretch>
            <a:fillRect/>
          </a:stretch>
        </p:blipFill>
        <p:spPr>
          <a:xfrm>
            <a:off x="658368" y="2093976"/>
            <a:ext cx="365760" cy="365760"/>
          </a:xfrm>
          <a:prstGeom prst="rect">
            <a:avLst/>
          </a:prstGeom>
        </p:spPr>
      </p:pic>
      <p:sp>
        <p:nvSpPr>
          <p:cNvPr id="11" name="Objective text 2"/>
          <p:cNvSpPr txBox="1"/>
          <p:nvPr/>
        </p:nvSpPr>
        <p:spPr>
          <a:xfrm>
            <a:off x="1234440" y="196596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Explain </a:t>
            </a:r>
            <a:r>
              <a:rPr lang="en-GB" sz="1400" b="0" i="0">
                <a:solidFill>
                  <a:schemeClr val="tx1"/>
                </a:solidFill>
              </a:rPr>
              <a:t>Double Jeopardy and the Duplication of Purchase law</a:t>
            </a:r>
          </a:p>
        </p:txBody>
      </p:sp>
      <p:sp>
        <p:nvSpPr>
          <p:cNvPr id="12" name="Objective row 3"/>
          <p:cNvSpPr/>
          <p:nvPr/>
        </p:nvSpPr>
        <p:spPr>
          <a:xfrm>
            <a:off x="457200" y="269748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Calculator" descr="LuCalculator-navy.png"/>
          <p:cNvPicPr>
            <a:picLocks noChangeAspect="1"/>
          </p:cNvPicPr>
          <p:nvPr/>
        </p:nvPicPr>
        <p:blipFill>
          <a:blip r:embed="rId4"/>
          <a:stretch>
            <a:fillRect/>
          </a:stretch>
        </p:blipFill>
        <p:spPr>
          <a:xfrm>
            <a:off x="658368" y="2825496"/>
            <a:ext cx="365760" cy="365760"/>
          </a:xfrm>
          <a:prstGeom prst="rect">
            <a:avLst/>
          </a:prstGeom>
        </p:spPr>
      </p:pic>
      <p:sp>
        <p:nvSpPr>
          <p:cNvPr id="14" name="Objective text 3"/>
          <p:cNvSpPr txBox="1"/>
          <p:nvPr/>
        </p:nvSpPr>
        <p:spPr>
          <a:xfrm>
            <a:off x="1234440" y="269748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Interpret </a:t>
            </a:r>
            <a:r>
              <a:rPr lang="en-GB" sz="1400" b="0" i="0">
                <a:solidFill>
                  <a:schemeClr val="tx1"/>
                </a:solidFill>
              </a:rPr>
              <a:t>the NBD-Dirichlet model as a benchmark for normal loyalty</a:t>
            </a:r>
          </a:p>
        </p:txBody>
      </p:sp>
      <p:sp>
        <p:nvSpPr>
          <p:cNvPr id="15" name="Objective row 4"/>
          <p:cNvSpPr/>
          <p:nvPr/>
        </p:nvSpPr>
        <p:spPr>
          <a:xfrm>
            <a:off x="457200" y="342900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Icon LuTarget" descr="LuTarget-navy.png"/>
          <p:cNvPicPr>
            <a:picLocks noChangeAspect="1"/>
          </p:cNvPicPr>
          <p:nvPr/>
        </p:nvPicPr>
        <p:blipFill>
          <a:blip r:embed="rId5"/>
          <a:stretch>
            <a:fillRect/>
          </a:stretch>
        </p:blipFill>
        <p:spPr>
          <a:xfrm>
            <a:off x="658368" y="3557016"/>
            <a:ext cx="365760" cy="365760"/>
          </a:xfrm>
          <a:prstGeom prst="rect">
            <a:avLst/>
          </a:prstGeom>
        </p:spPr>
      </p:pic>
      <p:sp>
        <p:nvSpPr>
          <p:cNvPr id="17" name="Objective text 4"/>
          <p:cNvSpPr txBox="1"/>
          <p:nvPr/>
        </p:nvSpPr>
        <p:spPr>
          <a:xfrm>
            <a:off x="1234440" y="342900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Apply </a:t>
            </a:r>
            <a:r>
              <a:rPr lang="en-GB" sz="1400" b="0" i="0">
                <a:solidFill>
                  <a:schemeClr val="tx1"/>
                </a:solidFill>
              </a:rPr>
              <a:t>mental availability, Category Entry Points and distinctive assets</a:t>
            </a:r>
          </a:p>
        </p:txBody>
      </p:sp>
      <p:sp>
        <p:nvSpPr>
          <p:cNvPr id="18" name="Objective row 5"/>
          <p:cNvSpPr/>
          <p:nvPr/>
        </p:nvSpPr>
        <p:spPr>
          <a:xfrm>
            <a:off x="457200" y="416052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Icon LuScale" descr="LuScale-navy.png"/>
          <p:cNvPicPr>
            <a:picLocks noChangeAspect="1"/>
          </p:cNvPicPr>
          <p:nvPr/>
        </p:nvPicPr>
        <p:blipFill>
          <a:blip r:embed="rId6"/>
          <a:stretch>
            <a:fillRect/>
          </a:stretch>
        </p:blipFill>
        <p:spPr>
          <a:xfrm>
            <a:off x="658368" y="4288536"/>
            <a:ext cx="365760" cy="365760"/>
          </a:xfrm>
          <a:prstGeom prst="rect">
            <a:avLst/>
          </a:prstGeom>
        </p:spPr>
      </p:pic>
      <p:sp>
        <p:nvSpPr>
          <p:cNvPr id="20" name="Objective text 5"/>
          <p:cNvSpPr txBox="1"/>
          <p:nvPr/>
        </p:nvSpPr>
        <p:spPr>
          <a:xfrm>
            <a:off x="1234440" y="4160520"/>
            <a:ext cx="7315200" cy="621792"/>
          </a:xfrm>
          <a:prstGeom prst="rect">
            <a:avLst/>
          </a:prstGeom>
          <a:noFill/>
        </p:spPr>
        <p:txBody>
          <a:bodyPr wrap="square" lIns="36576" rIns="36576" tIns="18288" bIns="18288" anchor="ctr">
            <a:spAutoFit/>
          </a:bodyPr>
          <a:lstStyle/>
          <a:p>
            <a:pPr algn="l">
              <a:spcAft>
                <a:spcPts val="0"/>
              </a:spcAft>
            </a:pPr>
            <a:r>
              <a:rPr lang="en-GB" sz="1400" b="1" i="0">
                <a:solidFill>
                  <a:schemeClr val="tx2"/>
                </a:solidFill>
              </a:rPr>
              <a:t>Evaluate </a:t>
            </a:r>
            <a:r>
              <a:rPr lang="en-GB" sz="1400" b="0" i="0">
                <a:solidFill>
                  <a:schemeClr val="tx1"/>
                </a:solidFill>
              </a:rPr>
              <a:t>critiques, boundary conditions and the Binet &amp; Field debate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1 of 6 · what a brand is</a:t>
            </a:r>
          </a:p>
        </p:txBody>
      </p:sp>
      <p:sp>
        <p:nvSpPr>
          <p:cNvPr id="3" name="Title 2"/>
          <p:cNvSpPr>
            <a:spLocks noGrp="1"/>
          </p:cNvSpPr>
          <p:nvPr>
            <p:ph type="ctrTitle"/>
          </p:nvPr>
        </p:nvSpPr>
        <p:spPr/>
        <p:txBody>
          <a:bodyPr/>
          <a:lstStyle/>
          <a:p>
            <a:r>
              <a:t>Brand management basics</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What is a brand?</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Brand identifies body"/>
          <p:cNvSpPr/>
          <p:nvPr/>
        </p:nvSpPr>
        <p:spPr>
          <a:xfrm>
            <a:off x="457200"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rand identifies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rand identifies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A brand identifies</a:t>
            </a:r>
          </a:p>
        </p:txBody>
      </p:sp>
      <p:pic>
        <p:nvPicPr>
          <p:cNvPr id="9" name="Icon LuFingerprint" descr="LuFingerprint-white.png"/>
          <p:cNvPicPr>
            <a:picLocks noChangeAspect="1"/>
          </p:cNvPicPr>
          <p:nvPr/>
        </p:nvPicPr>
        <p:blipFill>
          <a:blip r:embed="rId2"/>
          <a:stretch>
            <a:fillRect/>
          </a:stretch>
        </p:blipFill>
        <p:spPr>
          <a:xfrm>
            <a:off x="4059936" y="1344168"/>
            <a:ext cx="329184" cy="329184"/>
          </a:xfrm>
          <a:prstGeom prst="rect">
            <a:avLst/>
          </a:prstGeom>
        </p:spPr>
      </p:pic>
      <p:sp>
        <p:nvSpPr>
          <p:cNvPr id="10" name="Brand identifies text"/>
          <p:cNvSpPr txBox="1"/>
          <p:nvPr/>
        </p:nvSpPr>
        <p:spPr>
          <a:xfrm>
            <a:off x="594360" y="1847088"/>
            <a:ext cx="3758184" cy="17190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Definition: </a:t>
            </a:r>
            <a:r>
              <a:rPr lang="en-GB" sz="1300" b="0" i="0">
                <a:solidFill>
                  <a:schemeClr val="tx1"/>
                </a:solidFill>
              </a:rPr>
              <a:t>a name, term, design, symbol or other feature that sets one seller's offer apart from others (American Marketing Association)</a:t>
            </a:r>
          </a:p>
          <a:p>
            <a:pPr algn="l">
              <a:spcAft>
                <a:spcPts val="700"/>
              </a:spcAft>
            </a:pPr>
            <a:r>
              <a:rPr lang="en-GB" sz="1300" b="1" i="0">
                <a:solidFill>
                  <a:schemeClr val="tx1"/>
                </a:solidFill>
              </a:rPr>
              <a:t>Brand vs product: </a:t>
            </a:r>
            <a:r>
              <a:rPr lang="en-GB" sz="1300" b="0" i="0">
                <a:solidFill>
                  <a:schemeClr val="tx1"/>
                </a:solidFill>
              </a:rPr>
              <a:t>the product does the job; the brand tells buyers whose product it is</a:t>
            </a:r>
          </a:p>
        </p:txBody>
      </p:sp>
      <p:sp>
        <p:nvSpPr>
          <p:cNvPr id="11" name="Brand memory body"/>
          <p:cNvSpPr/>
          <p:nvPr/>
        </p:nvSpPr>
        <p:spPr>
          <a:xfrm>
            <a:off x="4654296"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rand memory band"/>
          <p:cNvSpPr/>
          <p:nvPr/>
        </p:nvSpPr>
        <p:spPr>
          <a:xfrm>
            <a:off x="4654296"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rand memory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A brand lives in memory</a:t>
            </a:r>
          </a:p>
        </p:txBody>
      </p:sp>
      <p:pic>
        <p:nvPicPr>
          <p:cNvPr id="14" name="Icon LuBrain" descr="LuBrain-white.png"/>
          <p:cNvPicPr>
            <a:picLocks noChangeAspect="1"/>
          </p:cNvPicPr>
          <p:nvPr/>
        </p:nvPicPr>
        <p:blipFill>
          <a:blip r:embed="rId3"/>
          <a:stretch>
            <a:fillRect/>
          </a:stretch>
        </p:blipFill>
        <p:spPr>
          <a:xfrm>
            <a:off x="8257031" y="1344168"/>
            <a:ext cx="329184" cy="329184"/>
          </a:xfrm>
          <a:prstGeom prst="rect">
            <a:avLst/>
          </a:prstGeom>
        </p:spPr>
      </p:pic>
      <p:sp>
        <p:nvSpPr>
          <p:cNvPr id="15" name="Brand memory text"/>
          <p:cNvSpPr txBox="1"/>
          <p:nvPr/>
        </p:nvSpPr>
        <p:spPr>
          <a:xfrm>
            <a:off x="4791456" y="1847088"/>
            <a:ext cx="3758184" cy="17190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Brand knowledge: </a:t>
            </a:r>
            <a:r>
              <a:rPr lang="en-GB" sz="1300" b="0" i="0">
                <a:solidFill>
                  <a:schemeClr val="tx1"/>
                </a:solidFill>
              </a:rPr>
              <a:t>awareness of the brand plus the associations buyers link to it (Keller 1993)</a:t>
            </a:r>
          </a:p>
          <a:p>
            <a:pPr algn="l">
              <a:spcAft>
                <a:spcPts val="700"/>
              </a:spcAft>
            </a:pPr>
            <a:r>
              <a:rPr lang="en-GB" sz="1300" b="1" i="0">
                <a:solidFill>
                  <a:schemeClr val="tx1"/>
                </a:solidFill>
              </a:rPr>
              <a:t>Brand equity: </a:t>
            </a:r>
            <a:r>
              <a:rPr lang="en-GB" sz="1300" b="0" i="0">
                <a:solidFill>
                  <a:schemeClr val="tx1"/>
                </a:solidFill>
              </a:rPr>
              <a:t>the difference that knowledge makes to how buyers respond to the marketing</a:t>
            </a:r>
          </a:p>
        </p:txBody>
      </p:sp>
      <p:sp>
        <p:nvSpPr>
          <p:cNvPr id="16" name="Brand definition takeaway"/>
          <p:cNvSpPr/>
          <p:nvPr/>
        </p:nvSpPr>
        <p:spPr>
          <a:xfrm>
            <a:off x="457200" y="384048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rand definition takeaway text"/>
          <p:cNvSpPr txBox="1"/>
          <p:nvPr/>
        </p:nvSpPr>
        <p:spPr>
          <a:xfrm>
            <a:off x="640080" y="384048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In short: </a:t>
            </a:r>
            <a:r>
              <a:rPr lang="en-GB" sz="1300" b="0" i="0">
                <a:solidFill>
                  <a:schemeClr val="tx1"/>
                </a:solidFill>
              </a:rPr>
              <a:t>what the company shows is the cue; what buyers remember is the brand.</a:t>
            </a:r>
          </a:p>
        </p:txBody>
      </p:sp>
      <p:sp>
        <p:nvSpPr>
          <p:cNvPr id="1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American Marketing Association, Dictionary; Keller (1993) Journal of Marketing; Keller &amp; Swaminathan (2020) Strategic Brand Management.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Tangible and intangible brand elements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Iceberg tip"/>
          <p:cNvSpPr/>
          <p:nvPr/>
        </p:nvSpPr>
        <p:spPr>
          <a:xfrm>
            <a:off x="960120" y="1325880"/>
            <a:ext cx="1828800" cy="1417320"/>
          </a:xfrm>
          <a:prstGeom prst="triangl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ceberg tip label"/>
          <p:cNvSpPr txBox="1"/>
          <p:nvPr/>
        </p:nvSpPr>
        <p:spPr>
          <a:xfrm>
            <a:off x="960120" y="2240280"/>
            <a:ext cx="1828800" cy="411480"/>
          </a:xfrm>
          <a:prstGeom prst="rect">
            <a:avLst/>
          </a:prstGeom>
          <a:noFill/>
        </p:spPr>
        <p:txBody>
          <a:bodyPr wrap="square" lIns="36576" rIns="36576" tIns="18288" bIns="18288" anchor="t">
            <a:spAutoFit/>
          </a:bodyPr>
          <a:lstStyle/>
          <a:p>
            <a:pPr algn="ctr">
              <a:spcAft>
                <a:spcPts val="0"/>
              </a:spcAft>
            </a:pPr>
            <a:r>
              <a:rPr lang="en-GB" sz="1300" b="1" i="0">
                <a:solidFill>
                  <a:schemeClr val="bg1"/>
                </a:solidFill>
              </a:rPr>
              <a:t>Tangible</a:t>
            </a:r>
          </a:p>
        </p:txBody>
      </p:sp>
      <p:sp>
        <p:nvSpPr>
          <p:cNvPr id="8" name="Waterline"/>
          <p:cNvSpPr/>
          <p:nvPr/>
        </p:nvSpPr>
        <p:spPr>
          <a:xfrm>
            <a:off x="457200" y="2788920"/>
            <a:ext cx="2834640"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aterline note"/>
          <p:cNvSpPr txBox="1"/>
          <p:nvPr/>
        </p:nvSpPr>
        <p:spPr>
          <a:xfrm>
            <a:off x="457200" y="2834640"/>
            <a:ext cx="2834640" cy="274320"/>
          </a:xfrm>
          <a:prstGeom prst="rect">
            <a:avLst/>
          </a:prstGeom>
          <a:noFill/>
        </p:spPr>
        <p:txBody>
          <a:bodyPr wrap="square" lIns="36576" rIns="36576" tIns="18288" bIns="18288" anchor="t">
            <a:spAutoFit/>
          </a:bodyPr>
          <a:lstStyle/>
          <a:p>
            <a:pPr algn="ctr">
              <a:spcAft>
                <a:spcPts val="0"/>
              </a:spcAft>
            </a:pPr>
            <a:r>
              <a:rPr lang="en-GB" sz="1050" b="0" i="0">
                <a:solidFill>
                  <a:srgbClr val="595959"/>
                </a:solidFill>
              </a:rPr>
              <a:t>waterline</a:t>
            </a:r>
          </a:p>
        </p:txBody>
      </p:sp>
      <p:sp>
        <p:nvSpPr>
          <p:cNvPr id="10" name="Iceberg base"/>
          <p:cNvSpPr/>
          <p:nvPr/>
        </p:nvSpPr>
        <p:spPr>
          <a:xfrm>
            <a:off x="457200" y="3154680"/>
            <a:ext cx="2834640" cy="1737360"/>
          </a:xfrm>
          <a:prstGeom prst="trapezoid">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Iceberg base label"/>
          <p:cNvSpPr txBox="1"/>
          <p:nvPr/>
        </p:nvSpPr>
        <p:spPr>
          <a:xfrm>
            <a:off x="731520" y="3520440"/>
            <a:ext cx="2286000" cy="822960"/>
          </a:xfrm>
          <a:prstGeom prst="rect">
            <a:avLst/>
          </a:prstGeom>
          <a:noFill/>
        </p:spPr>
        <p:txBody>
          <a:bodyPr wrap="square" lIns="36576" rIns="36576" tIns="18288" bIns="18288" anchor="t">
            <a:spAutoFit/>
          </a:bodyPr>
          <a:lstStyle/>
          <a:p>
            <a:pPr algn="ctr">
              <a:spcAft>
                <a:spcPts val="200"/>
              </a:spcAft>
            </a:pPr>
            <a:r>
              <a:rPr lang="en-GB" sz="1300" b="1" i="0">
                <a:solidFill>
                  <a:schemeClr val="tx2"/>
                </a:solidFill>
              </a:rPr>
              <a:t>Intangible</a:t>
            </a:r>
          </a:p>
          <a:p>
            <a:pPr algn="ctr">
              <a:spcAft>
                <a:spcPts val="200"/>
              </a:spcAft>
            </a:pPr>
            <a:r>
              <a:rPr lang="en-GB" sz="1100" b="0" i="0">
                <a:solidFill>
                  <a:schemeClr val="tx1"/>
                </a:solidFill>
              </a:rPr>
              <a:t>what buyers remember and feel</a:t>
            </a:r>
          </a:p>
        </p:txBody>
      </p:sp>
      <p:sp>
        <p:nvSpPr>
          <p:cNvPr id="12" name="Tangible elements body"/>
          <p:cNvSpPr/>
          <p:nvPr/>
        </p:nvSpPr>
        <p:spPr>
          <a:xfrm>
            <a:off x="3566160" y="1280160"/>
            <a:ext cx="5120640" cy="1691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ngible elements band"/>
          <p:cNvSpPr/>
          <p:nvPr/>
        </p:nvSpPr>
        <p:spPr>
          <a:xfrm>
            <a:off x="3566160" y="1280160"/>
            <a:ext cx="512064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ngible elements heading"/>
          <p:cNvSpPr txBox="1"/>
          <p:nvPr/>
        </p:nvSpPr>
        <p:spPr>
          <a:xfrm>
            <a:off x="3675887" y="1335024"/>
            <a:ext cx="443484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Tangible: see, hear, touch</a:t>
            </a:r>
          </a:p>
        </p:txBody>
      </p:sp>
      <p:pic>
        <p:nvPicPr>
          <p:cNvPr id="15" name="Icon LuEye" descr="LuEye-white.png"/>
          <p:cNvPicPr>
            <a:picLocks noChangeAspect="1"/>
          </p:cNvPicPr>
          <p:nvPr/>
        </p:nvPicPr>
        <p:blipFill>
          <a:blip r:embed="rId2"/>
          <a:stretch>
            <a:fillRect/>
          </a:stretch>
        </p:blipFill>
        <p:spPr>
          <a:xfrm>
            <a:off x="8257031" y="1344168"/>
            <a:ext cx="329184" cy="329184"/>
          </a:xfrm>
          <a:prstGeom prst="rect">
            <a:avLst/>
          </a:prstGeom>
        </p:spPr>
      </p:pic>
      <p:sp>
        <p:nvSpPr>
          <p:cNvPr id="16" name="Tangible elements text"/>
          <p:cNvSpPr txBox="1"/>
          <p:nvPr/>
        </p:nvSpPr>
        <p:spPr>
          <a:xfrm>
            <a:off x="3703320" y="1847088"/>
            <a:ext cx="4846320" cy="10332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Name, logo, symbol, colours, typeface</a:t>
            </a:r>
          </a:p>
          <a:p>
            <a:pPr algn="l">
              <a:spcAft>
                <a:spcPts val="700"/>
              </a:spcAft>
            </a:pPr>
            <a:r>
              <a:rPr lang="en-GB" sz="1200" b="0" i="0">
                <a:solidFill>
                  <a:schemeClr val="tx1"/>
                </a:solidFill>
              </a:rPr>
              <a:t>Packaging, product design, characters</a:t>
            </a:r>
          </a:p>
          <a:p>
            <a:pPr algn="l">
              <a:spcAft>
                <a:spcPts val="700"/>
              </a:spcAft>
            </a:pPr>
            <a:r>
              <a:rPr lang="en-GB" sz="1200" b="0" i="0">
                <a:solidFill>
                  <a:schemeClr val="tx1"/>
                </a:solidFill>
              </a:rPr>
              <a:t>Slogan, jingle and sonic logo</a:t>
            </a:r>
          </a:p>
        </p:txBody>
      </p:sp>
      <p:sp>
        <p:nvSpPr>
          <p:cNvPr id="17" name="Intangible elements body"/>
          <p:cNvSpPr/>
          <p:nvPr/>
        </p:nvSpPr>
        <p:spPr>
          <a:xfrm>
            <a:off x="3566160" y="3154680"/>
            <a:ext cx="512064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Intangible elements band"/>
          <p:cNvSpPr/>
          <p:nvPr/>
        </p:nvSpPr>
        <p:spPr>
          <a:xfrm>
            <a:off x="3566160" y="3154680"/>
            <a:ext cx="51206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ntangible elements heading"/>
          <p:cNvSpPr txBox="1"/>
          <p:nvPr/>
        </p:nvSpPr>
        <p:spPr>
          <a:xfrm>
            <a:off x="3675887" y="3209544"/>
            <a:ext cx="443484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Intangible: remember, feel, believe</a:t>
            </a:r>
          </a:p>
        </p:txBody>
      </p:sp>
      <p:pic>
        <p:nvPicPr>
          <p:cNvPr id="20" name="Icon LuSparkles" descr="LuSparkles-white.png"/>
          <p:cNvPicPr>
            <a:picLocks noChangeAspect="1"/>
          </p:cNvPicPr>
          <p:nvPr/>
        </p:nvPicPr>
        <p:blipFill>
          <a:blip r:embed="rId3"/>
          <a:stretch>
            <a:fillRect/>
          </a:stretch>
        </p:blipFill>
        <p:spPr>
          <a:xfrm>
            <a:off x="8257031" y="3218688"/>
            <a:ext cx="329184" cy="329184"/>
          </a:xfrm>
          <a:prstGeom prst="rect">
            <a:avLst/>
          </a:prstGeom>
        </p:spPr>
      </p:pic>
      <p:sp>
        <p:nvSpPr>
          <p:cNvPr id="21" name="Intangible elements text"/>
          <p:cNvSpPr txBox="1"/>
          <p:nvPr/>
        </p:nvSpPr>
        <p:spPr>
          <a:xfrm>
            <a:off x="3703320" y="3721608"/>
            <a:ext cx="4846320" cy="107899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Associations and image: </a:t>
            </a:r>
            <a:r>
              <a:rPr lang="en-GB" sz="1200" b="0" i="0">
                <a:solidFill>
                  <a:schemeClr val="tx1"/>
                </a:solidFill>
              </a:rPr>
              <a:t>what the brand is linked to</a:t>
            </a:r>
          </a:p>
          <a:p>
            <a:pPr algn="l">
              <a:spcAft>
                <a:spcPts val="700"/>
              </a:spcAft>
            </a:pPr>
            <a:r>
              <a:rPr lang="en-GB" sz="1200" b="0" i="0">
                <a:solidFill>
                  <a:schemeClr val="tx1"/>
                </a:solidFill>
              </a:rPr>
              <a:t>Personality, heritage and values</a:t>
            </a:r>
          </a:p>
          <a:p>
            <a:pPr algn="l">
              <a:spcAft>
                <a:spcPts val="700"/>
              </a:spcAft>
            </a:pPr>
            <a:r>
              <a:rPr lang="en-GB" sz="1200" b="0" i="0">
                <a:solidFill>
                  <a:schemeClr val="tx1"/>
                </a:solidFill>
              </a:rPr>
              <a:t>Trust, reputation and emotions from experience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Example: Manner, Vienna</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Manner tangible body"/>
          <p:cNvSpPr/>
          <p:nvPr/>
        </p:nvSpPr>
        <p:spPr>
          <a:xfrm>
            <a:off x="457200" y="1280160"/>
            <a:ext cx="4032504" cy="2148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anner tangible band"/>
          <p:cNvSpPr/>
          <p:nvPr/>
        </p:nvSpPr>
        <p:spPr>
          <a:xfrm>
            <a:off x="457200" y="1280160"/>
            <a:ext cx="4032504"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nner tangible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Tangible</a:t>
            </a:r>
          </a:p>
        </p:txBody>
      </p:sp>
      <p:pic>
        <p:nvPicPr>
          <p:cNvPr id="9" name="Icon LuEye" descr="LuEye-white.png"/>
          <p:cNvPicPr>
            <a:picLocks noChangeAspect="1"/>
          </p:cNvPicPr>
          <p:nvPr/>
        </p:nvPicPr>
        <p:blipFill>
          <a:blip r:embed="rId2"/>
          <a:stretch>
            <a:fillRect/>
          </a:stretch>
        </p:blipFill>
        <p:spPr>
          <a:xfrm>
            <a:off x="4059936" y="1344168"/>
            <a:ext cx="329184" cy="329184"/>
          </a:xfrm>
          <a:prstGeom prst="rect">
            <a:avLst/>
          </a:prstGeom>
        </p:spPr>
      </p:pic>
      <p:sp>
        <p:nvSpPr>
          <p:cNvPr id="10" name="Manner tangible text"/>
          <p:cNvSpPr txBox="1"/>
          <p:nvPr/>
        </p:nvSpPr>
        <p:spPr>
          <a:xfrm>
            <a:off x="594360" y="1847088"/>
            <a:ext cx="3758184" cy="14904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Colour: </a:t>
            </a:r>
            <a:r>
              <a:rPr lang="en-GB" sz="1300" b="0" i="0">
                <a:solidFill>
                  <a:schemeClr val="tx1"/>
                </a:solidFill>
              </a:rPr>
              <a:t>the pink packs</a:t>
            </a:r>
          </a:p>
          <a:p>
            <a:pPr algn="l">
              <a:spcAft>
                <a:spcPts val="700"/>
              </a:spcAft>
            </a:pPr>
            <a:r>
              <a:rPr lang="en-GB" sz="1300" b="1" i="0">
                <a:solidFill>
                  <a:schemeClr val="tx1"/>
                </a:solidFill>
              </a:rPr>
              <a:t>Symbol: </a:t>
            </a:r>
            <a:r>
              <a:rPr lang="en-GB" sz="1300" b="0" i="0">
                <a:solidFill>
                  <a:schemeClr val="tx1"/>
                </a:solidFill>
              </a:rPr>
              <a:t>St Stephen's Cathedral in the logo</a:t>
            </a:r>
          </a:p>
          <a:p>
            <a:pPr algn="l">
              <a:spcAft>
                <a:spcPts val="700"/>
              </a:spcAft>
            </a:pPr>
            <a:r>
              <a:rPr lang="en-GB" sz="1300" b="1" i="0">
                <a:solidFill>
                  <a:schemeClr val="tx1"/>
                </a:solidFill>
              </a:rPr>
              <a:t>Product: </a:t>
            </a:r>
            <a:r>
              <a:rPr lang="en-GB" sz="1300" b="0" i="0">
                <a:solidFill>
                  <a:schemeClr val="tx1"/>
                </a:solidFill>
              </a:rPr>
              <a:t>the Neapolitaner hazelnut wafers</a:t>
            </a:r>
          </a:p>
          <a:p>
            <a:pPr algn="l">
              <a:spcAft>
                <a:spcPts val="700"/>
              </a:spcAft>
            </a:pPr>
            <a:r>
              <a:rPr lang="en-GB" sz="1300" b="1" i="0">
                <a:solidFill>
                  <a:schemeClr val="tx1"/>
                </a:solidFill>
              </a:rPr>
              <a:t>Slogan: </a:t>
            </a:r>
            <a:r>
              <a:rPr lang="en-GB" sz="1300" b="0" i="0">
                <a:solidFill>
                  <a:schemeClr val="tx1"/>
                </a:solidFill>
              </a:rPr>
              <a:t>'Manner mag man eben'</a:t>
            </a:r>
          </a:p>
        </p:txBody>
      </p:sp>
      <p:sp>
        <p:nvSpPr>
          <p:cNvPr id="11" name="Manner intangible body"/>
          <p:cNvSpPr/>
          <p:nvPr/>
        </p:nvSpPr>
        <p:spPr>
          <a:xfrm>
            <a:off x="4654296" y="1280160"/>
            <a:ext cx="4032504" cy="21488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nner intangible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nner intangible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Intangible</a:t>
            </a:r>
          </a:p>
        </p:txBody>
      </p:sp>
      <p:pic>
        <p:nvPicPr>
          <p:cNvPr id="14" name="Icon LuSparkles" descr="LuSparkles-white.png"/>
          <p:cNvPicPr>
            <a:picLocks noChangeAspect="1"/>
          </p:cNvPicPr>
          <p:nvPr/>
        </p:nvPicPr>
        <p:blipFill>
          <a:blip r:embed="rId3"/>
          <a:stretch>
            <a:fillRect/>
          </a:stretch>
        </p:blipFill>
        <p:spPr>
          <a:xfrm>
            <a:off x="8257031" y="1344168"/>
            <a:ext cx="329184" cy="329184"/>
          </a:xfrm>
          <a:prstGeom prst="rect">
            <a:avLst/>
          </a:prstGeom>
        </p:spPr>
      </p:pic>
      <p:sp>
        <p:nvSpPr>
          <p:cNvPr id="15" name="Manner intangible text"/>
          <p:cNvSpPr txBox="1"/>
          <p:nvPr/>
        </p:nvSpPr>
        <p:spPr>
          <a:xfrm>
            <a:off x="4791456" y="1847088"/>
            <a:ext cx="3758184" cy="14904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Heritage: </a:t>
            </a:r>
            <a:r>
              <a:rPr lang="en-GB" sz="1300" b="0" i="0">
                <a:solidFill>
                  <a:schemeClr val="tx1"/>
                </a:solidFill>
              </a:rPr>
              <a:t>a Viennese family firm since 1890</a:t>
            </a:r>
          </a:p>
          <a:p>
            <a:pPr algn="l">
              <a:spcAft>
                <a:spcPts val="700"/>
              </a:spcAft>
            </a:pPr>
            <a:r>
              <a:rPr lang="en-GB" sz="1300" b="1" i="0">
                <a:solidFill>
                  <a:schemeClr val="tx1"/>
                </a:solidFill>
              </a:rPr>
              <a:t>Associations: </a:t>
            </a:r>
            <a:r>
              <a:rPr lang="en-GB" sz="1300" b="0" i="0">
                <a:solidFill>
                  <a:schemeClr val="tx1"/>
                </a:solidFill>
              </a:rPr>
              <a:t>Vienna, childhood, a small treat</a:t>
            </a:r>
          </a:p>
          <a:p>
            <a:pPr algn="l">
              <a:spcAft>
                <a:spcPts val="700"/>
              </a:spcAft>
            </a:pPr>
            <a:r>
              <a:rPr lang="en-GB" sz="1300" b="1" i="0">
                <a:solidFill>
                  <a:schemeClr val="tx1"/>
                </a:solidFill>
              </a:rPr>
              <a:t>Feelings: </a:t>
            </a:r>
            <a:r>
              <a:rPr lang="en-GB" sz="1300" b="0" i="0">
                <a:solidFill>
                  <a:schemeClr val="tx1"/>
                </a:solidFill>
              </a:rPr>
              <a:t>nostalgia, familiarity, local pride</a:t>
            </a:r>
          </a:p>
        </p:txBody>
      </p:sp>
      <p:sp>
        <p:nvSpPr>
          <p:cNvPr id="16" name="Manner exercise"/>
          <p:cNvSpPr/>
          <p:nvPr/>
        </p:nvSpPr>
        <p:spPr>
          <a:xfrm>
            <a:off x="457200" y="36118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nner exercise text"/>
          <p:cNvSpPr txBox="1"/>
          <p:nvPr/>
        </p:nvSpPr>
        <p:spPr>
          <a:xfrm>
            <a:off x="640080" y="361188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Your turn (3 minutes): </a:t>
            </a:r>
            <a:r>
              <a:rPr lang="en-GB" sz="1300" b="0" i="0">
                <a:solidFill>
                  <a:schemeClr val="bg1"/>
                </a:solidFill>
              </a:rPr>
              <a:t>split Red Bull or Almdudler into tangible and intangible elements.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Why brands matter, and what managers do</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Value for buyers body"/>
          <p:cNvSpPr/>
          <p:nvPr/>
        </p:nvSpPr>
        <p:spPr>
          <a:xfrm>
            <a:off x="457200" y="1234440"/>
            <a:ext cx="4032504"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Value for buyers band"/>
          <p:cNvSpPr/>
          <p:nvPr/>
        </p:nvSpPr>
        <p:spPr>
          <a:xfrm>
            <a:off x="457200" y="123444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alue for buyers heading"/>
          <p:cNvSpPr txBox="1"/>
          <p:nvPr/>
        </p:nvSpPr>
        <p:spPr>
          <a:xfrm>
            <a:off x="566928" y="128930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For buyers</a:t>
            </a:r>
          </a:p>
        </p:txBody>
      </p:sp>
      <p:pic>
        <p:nvPicPr>
          <p:cNvPr id="9" name="Icon LuUsers" descr="LuUsers-white.png"/>
          <p:cNvPicPr>
            <a:picLocks noChangeAspect="1"/>
          </p:cNvPicPr>
          <p:nvPr/>
        </p:nvPicPr>
        <p:blipFill>
          <a:blip r:embed="rId2"/>
          <a:stretch>
            <a:fillRect/>
          </a:stretch>
        </p:blipFill>
        <p:spPr>
          <a:xfrm>
            <a:off x="4059936" y="1298448"/>
            <a:ext cx="329184" cy="329184"/>
          </a:xfrm>
          <a:prstGeom prst="rect">
            <a:avLst/>
          </a:prstGeom>
        </p:spPr>
      </p:pic>
      <p:sp>
        <p:nvSpPr>
          <p:cNvPr id="10" name="Value for buyers text"/>
          <p:cNvSpPr txBox="1"/>
          <p:nvPr/>
        </p:nvSpPr>
        <p:spPr>
          <a:xfrm>
            <a:off x="594360" y="1801368"/>
            <a:ext cx="3758184" cy="43891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Identify </a:t>
            </a:r>
            <a:r>
              <a:rPr lang="en-GB" sz="1200" b="0" i="0">
                <a:solidFill>
                  <a:schemeClr val="tx1"/>
                </a:solidFill>
              </a:rPr>
              <a:t>the maker quickly; </a:t>
            </a:r>
            <a:r>
              <a:rPr lang="en-GB" sz="1200" b="1" i="0">
                <a:solidFill>
                  <a:schemeClr val="tx1"/>
                </a:solidFill>
              </a:rPr>
              <a:t>cut search </a:t>
            </a:r>
            <a:r>
              <a:rPr lang="en-GB" sz="1200" b="0" i="0">
                <a:solidFill>
                  <a:schemeClr val="tx1"/>
                </a:solidFill>
              </a:rPr>
              <a:t>time and </a:t>
            </a:r>
            <a:r>
              <a:rPr lang="en-GB" sz="1200" b="1" i="0">
                <a:solidFill>
                  <a:schemeClr val="tx1"/>
                </a:solidFill>
              </a:rPr>
              <a:t>reduce risk</a:t>
            </a:r>
          </a:p>
        </p:txBody>
      </p:sp>
      <p:sp>
        <p:nvSpPr>
          <p:cNvPr id="11" name="Value for firms body"/>
          <p:cNvSpPr/>
          <p:nvPr/>
        </p:nvSpPr>
        <p:spPr>
          <a:xfrm>
            <a:off x="4654296" y="1234440"/>
            <a:ext cx="4032504"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Value for firms band"/>
          <p:cNvSpPr/>
          <p:nvPr/>
        </p:nvSpPr>
        <p:spPr>
          <a:xfrm>
            <a:off x="4654296" y="123444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alue for firms heading"/>
          <p:cNvSpPr txBox="1"/>
          <p:nvPr/>
        </p:nvSpPr>
        <p:spPr>
          <a:xfrm>
            <a:off x="4764024" y="128930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For firms</a:t>
            </a:r>
          </a:p>
        </p:txBody>
      </p:sp>
      <p:pic>
        <p:nvPicPr>
          <p:cNvPr id="14" name="Icon LuTrendingUp" descr="LuTrendingUp-white.png"/>
          <p:cNvPicPr>
            <a:picLocks noChangeAspect="1"/>
          </p:cNvPicPr>
          <p:nvPr/>
        </p:nvPicPr>
        <p:blipFill>
          <a:blip r:embed="rId3"/>
          <a:stretch>
            <a:fillRect/>
          </a:stretch>
        </p:blipFill>
        <p:spPr>
          <a:xfrm>
            <a:off x="8257031" y="1298448"/>
            <a:ext cx="329184" cy="329184"/>
          </a:xfrm>
          <a:prstGeom prst="rect">
            <a:avLst/>
          </a:prstGeom>
        </p:spPr>
      </p:pic>
      <p:sp>
        <p:nvSpPr>
          <p:cNvPr id="15" name="Value for firms text"/>
          <p:cNvSpPr txBox="1"/>
          <p:nvPr/>
        </p:nvSpPr>
        <p:spPr>
          <a:xfrm>
            <a:off x="4791456" y="1801368"/>
            <a:ext cx="3758184" cy="43891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Legal protection, </a:t>
            </a:r>
            <a:r>
              <a:rPr lang="en-GB" sz="1200" b="0" i="0">
                <a:solidFill>
                  <a:schemeClr val="tx1"/>
                </a:solidFill>
              </a:rPr>
              <a:t>price premium, easier launches and </a:t>
            </a:r>
            <a:r>
              <a:rPr lang="en-GB" sz="1200" b="1" i="0">
                <a:solidFill>
                  <a:schemeClr val="tx1"/>
                </a:solidFill>
              </a:rPr>
              <a:t>financial value</a:t>
            </a:r>
          </a:p>
        </p:txBody>
      </p:sp>
      <p:sp>
        <p:nvSpPr>
          <p:cNvPr id="16" name="Step 1"/>
          <p:cNvSpPr/>
          <p:nvPr/>
        </p:nvSpPr>
        <p:spPr>
          <a:xfrm>
            <a:off x="457200" y="2560320"/>
            <a:ext cx="2139696" cy="45720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Position</a:t>
            </a:r>
          </a:p>
        </p:txBody>
      </p:sp>
      <p:sp>
        <p:nvSpPr>
          <p:cNvPr id="17" name="Step 2"/>
          <p:cNvSpPr/>
          <p:nvPr/>
        </p:nvSpPr>
        <p:spPr>
          <a:xfrm>
            <a:off x="2487168" y="256032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Market</a:t>
            </a:r>
          </a:p>
        </p:txBody>
      </p:sp>
      <p:sp>
        <p:nvSpPr>
          <p:cNvPr id="18" name="Step 3"/>
          <p:cNvSpPr/>
          <p:nvPr/>
        </p:nvSpPr>
        <p:spPr>
          <a:xfrm>
            <a:off x="4517136" y="256032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Measure</a:t>
            </a:r>
          </a:p>
        </p:txBody>
      </p:sp>
      <p:sp>
        <p:nvSpPr>
          <p:cNvPr id="19" name="Step 4"/>
          <p:cNvSpPr/>
          <p:nvPr/>
        </p:nvSpPr>
        <p:spPr>
          <a:xfrm>
            <a:off x="6547103" y="2560320"/>
            <a:ext cx="2139696" cy="45720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Sustain</a:t>
            </a:r>
          </a:p>
        </p:txBody>
      </p:sp>
      <p:sp>
        <p:nvSpPr>
          <p:cNvPr id="20" name="Brand step 1"/>
          <p:cNvSpPr txBox="1"/>
          <p:nvPr/>
        </p:nvSpPr>
        <p:spPr>
          <a:xfrm>
            <a:off x="548640" y="3108960"/>
            <a:ext cx="1865376" cy="502920"/>
          </a:xfrm>
          <a:prstGeom prst="rect">
            <a:avLst/>
          </a:prstGeom>
          <a:noFill/>
        </p:spPr>
        <p:txBody>
          <a:bodyPr wrap="square" lIns="36576" rIns="36576" tIns="18288" bIns="18288" anchor="t">
            <a:spAutoFit/>
          </a:bodyPr>
          <a:lstStyle/>
          <a:p>
            <a:pPr algn="l">
              <a:spcAft>
                <a:spcPts val="0"/>
              </a:spcAft>
            </a:pPr>
            <a:r>
              <a:rPr lang="en-GB" sz="1150" b="0" i="0">
                <a:solidFill>
                  <a:schemeClr val="tx1"/>
                </a:solidFill>
              </a:rPr>
              <a:t>Define positioning and values</a:t>
            </a:r>
          </a:p>
        </p:txBody>
      </p:sp>
      <p:sp>
        <p:nvSpPr>
          <p:cNvPr id="21" name="Brand step 2"/>
          <p:cNvSpPr txBox="1"/>
          <p:nvPr/>
        </p:nvSpPr>
        <p:spPr>
          <a:xfrm>
            <a:off x="2578608" y="3108960"/>
            <a:ext cx="1865376" cy="502920"/>
          </a:xfrm>
          <a:prstGeom prst="rect">
            <a:avLst/>
          </a:prstGeom>
          <a:noFill/>
        </p:spPr>
        <p:txBody>
          <a:bodyPr wrap="square" lIns="36576" rIns="36576" tIns="18288" bIns="18288" anchor="t">
            <a:spAutoFit/>
          </a:bodyPr>
          <a:lstStyle/>
          <a:p>
            <a:pPr algn="l">
              <a:spcAft>
                <a:spcPts val="0"/>
              </a:spcAft>
            </a:pPr>
            <a:r>
              <a:rPr lang="en-GB" sz="1150" b="0" i="0">
                <a:solidFill>
                  <a:schemeClr val="tx1"/>
                </a:solidFill>
              </a:rPr>
              <a:t>Design the marketing programme</a:t>
            </a:r>
          </a:p>
        </p:txBody>
      </p:sp>
      <p:sp>
        <p:nvSpPr>
          <p:cNvPr id="22" name="Brand step 3"/>
          <p:cNvSpPr txBox="1"/>
          <p:nvPr/>
        </p:nvSpPr>
        <p:spPr>
          <a:xfrm>
            <a:off x="4608575" y="3108960"/>
            <a:ext cx="1865376" cy="502920"/>
          </a:xfrm>
          <a:prstGeom prst="rect">
            <a:avLst/>
          </a:prstGeom>
          <a:noFill/>
        </p:spPr>
        <p:txBody>
          <a:bodyPr wrap="square" lIns="36576" rIns="36576" tIns="18288" bIns="18288" anchor="t">
            <a:spAutoFit/>
          </a:bodyPr>
          <a:lstStyle/>
          <a:p>
            <a:pPr algn="l">
              <a:spcAft>
                <a:spcPts val="0"/>
              </a:spcAft>
            </a:pPr>
            <a:r>
              <a:rPr lang="en-GB" sz="1150" b="0" i="0">
                <a:solidFill>
                  <a:schemeClr val="tx1"/>
                </a:solidFill>
              </a:rPr>
              <a:t>Track brand performance</a:t>
            </a:r>
          </a:p>
        </p:txBody>
      </p:sp>
      <p:sp>
        <p:nvSpPr>
          <p:cNvPr id="23" name="Brand step 4"/>
          <p:cNvSpPr txBox="1"/>
          <p:nvPr/>
        </p:nvSpPr>
        <p:spPr>
          <a:xfrm>
            <a:off x="6638543" y="3108960"/>
            <a:ext cx="1865376" cy="502920"/>
          </a:xfrm>
          <a:prstGeom prst="rect">
            <a:avLst/>
          </a:prstGeom>
          <a:noFill/>
        </p:spPr>
        <p:txBody>
          <a:bodyPr wrap="square" lIns="36576" rIns="36576" tIns="18288" bIns="18288" anchor="t">
            <a:spAutoFit/>
          </a:bodyPr>
          <a:lstStyle/>
          <a:p>
            <a:pPr algn="l">
              <a:spcAft>
                <a:spcPts val="0"/>
              </a:spcAft>
            </a:pPr>
            <a:r>
              <a:rPr lang="en-GB" sz="1150" b="0" i="0">
                <a:solidFill>
                  <a:schemeClr val="tx1"/>
                </a:solidFill>
              </a:rPr>
              <a:t>Grow brand equity over time</a:t>
            </a:r>
          </a:p>
        </p:txBody>
      </p:sp>
      <p:sp>
        <p:nvSpPr>
          <p:cNvPr id="24" name="Bridge to Ehrenberg-Bass"/>
          <p:cNvSpPr/>
          <p:nvPr/>
        </p:nvSpPr>
        <p:spPr>
          <a:xfrm>
            <a:off x="457200" y="37947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ridge to Ehrenberg-Bass text"/>
          <p:cNvSpPr txBox="1"/>
          <p:nvPr/>
        </p:nvSpPr>
        <p:spPr>
          <a:xfrm>
            <a:off x="640080" y="3794760"/>
            <a:ext cx="7863840" cy="45720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Today's lens: </a:t>
            </a:r>
            <a:r>
              <a:rPr lang="en-GB" sz="1300" b="0" i="0">
                <a:solidFill>
                  <a:schemeClr val="bg1"/>
                </a:solidFill>
              </a:rPr>
              <a:t>which of these activities actually make brands grow?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2 of 6 · laws from panel data</a:t>
            </a:r>
          </a:p>
        </p:txBody>
      </p:sp>
      <p:sp>
        <p:nvSpPr>
          <p:cNvPr id="3" name="Title 2"/>
          <p:cNvSpPr>
            <a:spLocks noGrp="1"/>
          </p:cNvSpPr>
          <p:nvPr>
            <p:ph type="ctrTitle"/>
          </p:nvPr>
        </p:nvSpPr>
        <p:spPr/>
        <p:txBody>
          <a:bodyPr/>
          <a:lstStyle/>
          <a:p>
            <a:r>
              <a:t>The laws of brand buying</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A law is a pattern that replicates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280160"/>
            <a:ext cx="2139696"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Observe</a:t>
            </a:r>
          </a:p>
        </p:txBody>
      </p:sp>
      <p:sp>
        <p:nvSpPr>
          <p:cNvPr id="7" name="Step 2"/>
          <p:cNvSpPr/>
          <p:nvPr/>
        </p:nvSpPr>
        <p:spPr>
          <a:xfrm>
            <a:off x="2487168"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Replicate</a:t>
            </a:r>
          </a:p>
        </p:txBody>
      </p:sp>
      <p:sp>
        <p:nvSpPr>
          <p:cNvPr id="8" name="Step 3"/>
          <p:cNvSpPr/>
          <p:nvPr/>
        </p:nvSpPr>
        <p:spPr>
          <a:xfrm>
            <a:off x="4517136"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Model</a:t>
            </a:r>
          </a:p>
        </p:txBody>
      </p:sp>
      <p:sp>
        <p:nvSpPr>
          <p:cNvPr id="9" name="Step 4"/>
          <p:cNvSpPr/>
          <p:nvPr/>
        </p:nvSpPr>
        <p:spPr>
          <a:xfrm>
            <a:off x="6547103" y="1280160"/>
            <a:ext cx="2139696"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Use</a:t>
            </a:r>
          </a:p>
        </p:txBody>
      </p:sp>
      <p:sp>
        <p:nvSpPr>
          <p:cNvPr id="10" name="Step text box 1"/>
          <p:cNvSpPr/>
          <p:nvPr/>
        </p:nvSpPr>
        <p:spPr>
          <a:xfrm>
            <a:off x="502920"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text 1"/>
          <p:cNvSpPr txBox="1"/>
          <p:nvPr/>
        </p:nvSpPr>
        <p:spPr>
          <a:xfrm>
            <a:off x="594360" y="2011680"/>
            <a:ext cx="1755648" cy="11887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A regularity in purchase data, e.g. small brands have lower loyalty</a:t>
            </a:r>
          </a:p>
        </p:txBody>
      </p:sp>
      <p:sp>
        <p:nvSpPr>
          <p:cNvPr id="12" name="Step text box 2"/>
          <p:cNvSpPr/>
          <p:nvPr/>
        </p:nvSpPr>
        <p:spPr>
          <a:xfrm>
            <a:off x="2532887"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ep text 2"/>
          <p:cNvSpPr txBox="1"/>
          <p:nvPr/>
        </p:nvSpPr>
        <p:spPr>
          <a:xfrm>
            <a:off x="2624327" y="2011680"/>
            <a:ext cx="1755648" cy="11887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Across categories, countries, years and data sources</a:t>
            </a:r>
          </a:p>
        </p:txBody>
      </p:sp>
      <p:sp>
        <p:nvSpPr>
          <p:cNvPr id="14" name="Step text box 3"/>
          <p:cNvSpPr/>
          <p:nvPr/>
        </p:nvSpPr>
        <p:spPr>
          <a:xfrm>
            <a:off x="4562855"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text 3"/>
          <p:cNvSpPr txBox="1"/>
          <p:nvPr/>
        </p:nvSpPr>
        <p:spPr>
          <a:xfrm>
            <a:off x="4654296" y="2011680"/>
            <a:ext cx="1755648" cy="11887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Explain and predict it: NBD (1959), Dirichlet (1984)</a:t>
            </a:r>
          </a:p>
        </p:txBody>
      </p:sp>
      <p:sp>
        <p:nvSpPr>
          <p:cNvPr id="16" name="Step text box 4"/>
          <p:cNvSpPr/>
          <p:nvPr/>
        </p:nvSpPr>
        <p:spPr>
          <a:xfrm>
            <a:off x="6592823" y="1920240"/>
            <a:ext cx="1938527"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tep text 4"/>
          <p:cNvSpPr txBox="1"/>
          <p:nvPr/>
        </p:nvSpPr>
        <p:spPr>
          <a:xfrm>
            <a:off x="6684264" y="2011680"/>
            <a:ext cx="1755648" cy="11887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Benchmark brands: is this loyalty normal for this size?</a:t>
            </a:r>
          </a:p>
        </p:txBody>
      </p:sp>
      <p:sp>
        <p:nvSpPr>
          <p:cNvPr id="18" name="Replication callout"/>
          <p:cNvSpPr/>
          <p:nvPr/>
        </p:nvSpPr>
        <p:spPr>
          <a:xfrm>
            <a:off x="457200" y="34747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plication callout text"/>
          <p:cNvSpPr txBox="1"/>
          <p:nvPr/>
        </p:nvSpPr>
        <p:spPr>
          <a:xfrm>
            <a:off x="640080" y="347472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Differentiated replication: </a:t>
            </a:r>
            <a:r>
              <a:rPr lang="en-GB" sz="1300" b="0" i="0">
                <a:solidFill>
                  <a:schemeClr val="bg1"/>
                </a:solidFill>
              </a:rPr>
              <a:t>one study proves little; a pattern that holds under varied conditions is a law.</a:t>
            </a:r>
          </a:p>
        </p:txBody>
      </p:sp>
      <p:sp>
        <p:nvSpPr>
          <p:cNvPr id="20" name="Source note"/>
          <p:cNvSpPr txBox="1"/>
          <p:nvPr/>
        </p:nvSpPr>
        <p:spPr>
          <a:xfrm>
            <a:off x="457200" y="411480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Ehrenberg (1995) Marketing Science; Uncles &amp; Kwok (2013) Journal of Business Research; Goodhardt, Ehrenberg &amp; Chatfield (1984).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Double Jeopardy: small brands lose twice</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efinition"/>
          <p:cNvSpPr txBox="1"/>
          <p:nvPr/>
        </p:nvSpPr>
        <p:spPr>
          <a:xfrm>
            <a:off x="457200" y="1280160"/>
            <a:ext cx="4846320" cy="1828800"/>
          </a:xfrm>
          <a:prstGeom prst="rect">
            <a:avLst/>
          </a:prstGeom>
          <a:noFill/>
        </p:spPr>
        <p:txBody>
          <a:bodyPr wrap="square" lIns="36576" rIns="36576" tIns="18288" bIns="18288" anchor="t">
            <a:spAutoFit/>
          </a:bodyPr>
          <a:lstStyle/>
          <a:p>
            <a:pPr algn="l">
              <a:spcAft>
                <a:spcPts val="1200"/>
              </a:spcAft>
            </a:pPr>
            <a:r>
              <a:rPr lang="en-GB" sz="1600" b="0" i="0">
                <a:solidFill>
                  <a:schemeClr val="tx1"/>
                </a:solidFill>
              </a:rPr>
              <a:t>Smaller brands have </a:t>
            </a:r>
            <a:r>
              <a:rPr lang="en-GB" sz="1600" b="1" i="0">
                <a:solidFill>
                  <a:schemeClr val="accent1"/>
                </a:solidFill>
              </a:rPr>
              <a:t>far fewer buyers</a:t>
            </a:r>
            <a:r>
              <a:rPr lang="en-GB" sz="1600" b="0" i="0">
                <a:solidFill>
                  <a:schemeClr val="tx1"/>
                </a:solidFill>
              </a:rPr>
              <a:t>, and those buyers are </a:t>
            </a:r>
            <a:r>
              <a:rPr lang="en-GB" sz="1600" b="1" i="0">
                <a:solidFill>
                  <a:schemeClr val="accent1"/>
                </a:solidFill>
              </a:rPr>
              <a:t>slightly less loyal</a:t>
            </a:r>
            <a:r>
              <a:rPr lang="en-GB" sz="1600" b="0" i="0">
                <a:solidFill>
                  <a:schemeClr val="tx1"/>
                </a:solidFill>
              </a:rPr>
              <a:t>.</a:t>
            </a:r>
          </a:p>
          <a:p>
            <a:pPr algn="l">
              <a:spcAft>
                <a:spcPts val="1200"/>
              </a:spcAft>
            </a:pPr>
            <a:r>
              <a:rPr lang="en-GB" sz="1300" b="0" i="0">
                <a:solidFill>
                  <a:schemeClr val="tx1"/>
                </a:solidFill>
              </a:rPr>
              <a:t>First seen by sociologist William McPhee (1963) for comic strips and radio presenters; established for brands by Ehrenberg, Goodhardt &amp; Barwise (1990).</a:t>
            </a:r>
          </a:p>
        </p:txBody>
      </p:sp>
      <p:sp>
        <p:nvSpPr>
          <p:cNvPr id="7" name="Formula box"/>
          <p:cNvSpPr/>
          <p:nvPr/>
        </p:nvSpPr>
        <p:spPr>
          <a:xfrm>
            <a:off x="5486400" y="1280160"/>
            <a:ext cx="3200400" cy="1965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rmula label"/>
          <p:cNvSpPr txBox="1"/>
          <p:nvPr/>
        </p:nvSpPr>
        <p:spPr>
          <a:xfrm>
            <a:off x="5669280" y="1371600"/>
            <a:ext cx="2834640" cy="365760"/>
          </a:xfrm>
          <a:prstGeom prst="rect">
            <a:avLst/>
          </a:prstGeom>
          <a:noFill/>
        </p:spPr>
        <p:txBody>
          <a:bodyPr wrap="square" lIns="36576" rIns="36576" tIns="18288" bIns="18288" anchor="t">
            <a:spAutoFit/>
          </a:bodyPr>
          <a:lstStyle/>
          <a:p>
            <a:pPr algn="l">
              <a:spcAft>
                <a:spcPts val="600"/>
              </a:spcAft>
            </a:pPr>
            <a:r>
              <a:rPr lang="en-GB" sz="1300" b="1" i="0">
                <a:solidFill>
                  <a:schemeClr val="accent6"/>
                </a:solidFill>
              </a:rPr>
              <a:t>Rule of thumb</a:t>
            </a:r>
          </a:p>
        </p:txBody>
      </p:sp>
      <p:sp>
        <p:nvSpPr>
          <p:cNvPr id="9" name="Formula"/>
          <p:cNvSpPr txBox="1"/>
          <p:nvPr/>
        </p:nvSpPr>
        <p:spPr>
          <a:xfrm>
            <a:off x="5669280" y="1737360"/>
            <a:ext cx="2834640" cy="640080"/>
          </a:xfrm>
          <a:prstGeom prst="rect">
            <a:avLst/>
          </a:prstGeom>
          <a:noFill/>
        </p:spPr>
        <p:txBody>
          <a:bodyPr wrap="square" lIns="36576" rIns="36576" tIns="18288" bIns="18288" anchor="t">
            <a:spAutoFit/>
          </a:bodyPr>
          <a:lstStyle/>
          <a:p>
            <a:pPr algn="l">
              <a:spcAft>
                <a:spcPts val="600"/>
              </a:spcAft>
            </a:pPr>
            <a:r>
              <a:rPr lang="en-GB" sz="2800" b="1" i="0">
                <a:solidFill>
                  <a:schemeClr val="bg1"/>
                </a:solidFill>
                <a:latin typeface="+mj-lt"/>
              </a:rPr>
              <a:t>w (1 − b) ≈ w</a:t>
            </a:r>
            <a:r>
              <a:rPr lang="en-GB" sz="2800" b="1" i="0" baseline="-25000">
                <a:solidFill>
                  <a:schemeClr val="bg1"/>
                </a:solidFill>
                <a:latin typeface="+mj-lt"/>
              </a:rPr>
              <a:t>0</a:t>
            </a:r>
          </a:p>
        </p:txBody>
      </p:sp>
      <p:sp>
        <p:nvSpPr>
          <p:cNvPr id="10" name="Formula legend"/>
          <p:cNvSpPr txBox="1"/>
          <p:nvPr/>
        </p:nvSpPr>
        <p:spPr>
          <a:xfrm>
            <a:off x="5669280" y="2423160"/>
            <a:ext cx="2834640" cy="777240"/>
          </a:xfrm>
          <a:prstGeom prst="rect">
            <a:avLst/>
          </a:prstGeom>
          <a:noFill/>
        </p:spPr>
        <p:txBody>
          <a:bodyPr wrap="square" lIns="36576" rIns="36576" tIns="18288" bIns="18288" anchor="t">
            <a:spAutoFit/>
          </a:bodyPr>
          <a:lstStyle/>
          <a:p>
            <a:pPr algn="l">
              <a:spcAft>
                <a:spcPts val="600"/>
              </a:spcAft>
            </a:pPr>
            <a:r>
              <a:rPr lang="en-GB" sz="1200" b="0" i="0">
                <a:solidFill>
                  <a:schemeClr val="bg1"/>
                </a:solidFill>
              </a:rPr>
              <a:t>b = penetration, w = purchases per buyer, w0 = constant for the category</a:t>
            </a:r>
          </a:p>
        </p:txBody>
      </p:sp>
      <p:sp>
        <p:nvSpPr>
          <p:cNvPr id="11" name="Implication"/>
          <p:cNvSpPr/>
          <p:nvPr/>
        </p:nvSpPr>
        <p:spPr>
          <a:xfrm>
            <a:off x="457200" y="352044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mplication text"/>
          <p:cNvSpPr txBox="1"/>
          <p:nvPr/>
        </p:nvSpPr>
        <p:spPr>
          <a:xfrm>
            <a:off x="640080" y="3520440"/>
            <a:ext cx="7863840" cy="68580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Implication: </a:t>
            </a:r>
            <a:r>
              <a:rPr lang="en-GB" sz="1300" b="0" i="0">
                <a:solidFill>
                  <a:schemeClr val="tx1"/>
                </a:solidFill>
              </a:rPr>
              <a:t>a brand cannot grow big on loyalty alone; loyalty differences mostly follow from size.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Penetration varies a lot; loyalty only a little</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Chart penetration"/>
          <p:cNvGraphicFramePr>
            <a:graphicFrameLocks noGrp="1"/>
          </p:cNvGraphicFramePr>
          <p:nvPr/>
        </p:nvGraphicFramePr>
        <p:xfrm>
          <a:off x="457200" y="1234440"/>
          <a:ext cx="4023360" cy="3337560"/>
        </p:xfrm>
        <a:graphic>
          <a:graphicData uri="http://schemas.openxmlformats.org/drawingml/2006/chart">
            <c:chart xmlns:c="http://schemas.openxmlformats.org/drawingml/2006/chart" r:id="rId2"/>
          </a:graphicData>
        </a:graphic>
      </p:graphicFrame>
      <p:graphicFrame>
        <p:nvGraphicFramePr>
          <p:cNvPr id="7" name="Chart frequency"/>
          <p:cNvGraphicFramePr>
            <a:graphicFrameLocks noGrp="1"/>
          </p:cNvGraphicFramePr>
          <p:nvPr/>
        </p:nvGraphicFramePr>
        <p:xfrm>
          <a:off x="4663440" y="1234440"/>
          <a:ext cx="4023360" cy="3337560"/>
        </p:xfrm>
        <a:graphic>
          <a:graphicData uri="http://schemas.openxmlformats.org/drawingml/2006/chart">
            <c:chart xmlns:c="http://schemas.openxmlformats.org/drawingml/2006/chart" r:id="rId3"/>
          </a:graphicData>
        </a:graphic>
      </p:graphicFrame>
      <p:sp>
        <p:nvSpPr>
          <p:cNvPr id="8" name="Source note"/>
          <p:cNvSpPr txBox="1"/>
          <p:nvPr/>
        </p:nvSpPr>
        <p:spPr>
          <a:xfrm>
            <a:off x="457200" y="46634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Brands A to F. Illustrative data from w(1 − b) ≈ w0 with w0 = 2.5: penetration differs 7.5-fold, purchase frequency only 1.7-fold.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Why Double Jeopardy happens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Reason row 1"/>
          <p:cNvSpPr/>
          <p:nvPr/>
        </p:nvSpPr>
        <p:spPr>
          <a:xfrm>
            <a:off x="457200" y="128016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Icon LuLayers" descr="LuLayers-navy.png"/>
          <p:cNvPicPr>
            <a:picLocks noChangeAspect="1"/>
          </p:cNvPicPr>
          <p:nvPr/>
        </p:nvPicPr>
        <p:blipFill>
          <a:blip r:embed="rId2"/>
          <a:stretch>
            <a:fillRect/>
          </a:stretch>
        </p:blipFill>
        <p:spPr>
          <a:xfrm>
            <a:off x="658368" y="1517904"/>
            <a:ext cx="411480" cy="411480"/>
          </a:xfrm>
          <a:prstGeom prst="rect">
            <a:avLst/>
          </a:prstGeom>
        </p:spPr>
      </p:pic>
      <p:sp>
        <p:nvSpPr>
          <p:cNvPr id="8" name="Reason text 1"/>
          <p:cNvSpPr txBox="1"/>
          <p:nvPr/>
        </p:nvSpPr>
        <p:spPr>
          <a:xfrm>
            <a:off x="1325880" y="1335024"/>
            <a:ext cx="7223760" cy="786384"/>
          </a:xfrm>
          <a:prstGeom prst="rect">
            <a:avLst/>
          </a:prstGeom>
          <a:noFill/>
        </p:spPr>
        <p:txBody>
          <a:bodyPr wrap="square" lIns="36576" rIns="36576" tIns="18288" bIns="18288" anchor="t">
            <a:spAutoFit/>
          </a:bodyPr>
          <a:lstStyle/>
          <a:p>
            <a:pPr algn="l">
              <a:spcAft>
                <a:spcPts val="300"/>
              </a:spcAft>
            </a:pPr>
            <a:r>
              <a:rPr lang="en-GB" sz="1500" b="1" i="0">
                <a:solidFill>
                  <a:schemeClr val="tx2"/>
                </a:solidFill>
                <a:latin typeface="+mj-lt"/>
              </a:rPr>
              <a:t>Buyers hold repertoires</a:t>
            </a:r>
          </a:p>
          <a:p>
            <a:pPr algn="l">
              <a:spcAft>
                <a:spcPts val="300"/>
              </a:spcAft>
            </a:pPr>
            <a:r>
              <a:rPr lang="en-GB" sz="1300" b="0" i="0">
                <a:solidFill>
                  <a:schemeClr val="tx1"/>
                </a:solidFill>
              </a:rPr>
              <a:t>Most category buyers buy several brands; 100% loyal buyers are rare and usually light buyers.</a:t>
            </a:r>
          </a:p>
        </p:txBody>
      </p:sp>
      <p:sp>
        <p:nvSpPr>
          <p:cNvPr id="9" name="Reason row 2"/>
          <p:cNvSpPr/>
          <p:nvPr/>
        </p:nvSpPr>
        <p:spPr>
          <a:xfrm>
            <a:off x="457200" y="228600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Icon LuStore" descr="LuStore-navy.png"/>
          <p:cNvPicPr>
            <a:picLocks noChangeAspect="1"/>
          </p:cNvPicPr>
          <p:nvPr/>
        </p:nvPicPr>
        <p:blipFill>
          <a:blip r:embed="rId3"/>
          <a:stretch>
            <a:fillRect/>
          </a:stretch>
        </p:blipFill>
        <p:spPr>
          <a:xfrm>
            <a:off x="658368" y="2523744"/>
            <a:ext cx="411480" cy="411480"/>
          </a:xfrm>
          <a:prstGeom prst="rect">
            <a:avLst/>
          </a:prstGeom>
        </p:spPr>
      </p:pic>
      <p:sp>
        <p:nvSpPr>
          <p:cNvPr id="11" name="Reason text 2"/>
          <p:cNvSpPr txBox="1"/>
          <p:nvPr/>
        </p:nvSpPr>
        <p:spPr>
          <a:xfrm>
            <a:off x="1325880" y="2340864"/>
            <a:ext cx="7223760" cy="786384"/>
          </a:xfrm>
          <a:prstGeom prst="rect">
            <a:avLst/>
          </a:prstGeom>
          <a:noFill/>
        </p:spPr>
        <p:txBody>
          <a:bodyPr wrap="square" lIns="36576" rIns="36576" tIns="18288" bIns="18288" anchor="t">
            <a:spAutoFit/>
          </a:bodyPr>
          <a:lstStyle/>
          <a:p>
            <a:pPr algn="l">
              <a:spcAft>
                <a:spcPts val="300"/>
              </a:spcAft>
            </a:pPr>
            <a:r>
              <a:rPr lang="en-GB" sz="1500" b="1" i="0">
                <a:solidFill>
                  <a:schemeClr val="tx2"/>
                </a:solidFill>
                <a:latin typeface="+mj-lt"/>
              </a:rPr>
              <a:t>Small brands are less available</a:t>
            </a:r>
          </a:p>
          <a:p>
            <a:pPr algn="l">
              <a:spcAft>
                <a:spcPts val="300"/>
              </a:spcAft>
            </a:pPr>
            <a:r>
              <a:rPr lang="en-GB" sz="1300" b="0" i="0">
                <a:solidFill>
                  <a:schemeClr val="tx1"/>
                </a:solidFill>
              </a:rPr>
              <a:t>Fewer people know them or find them in store, so they are noticed less often.</a:t>
            </a:r>
          </a:p>
        </p:txBody>
      </p:sp>
      <p:sp>
        <p:nvSpPr>
          <p:cNvPr id="12" name="Reason row 3"/>
          <p:cNvSpPr/>
          <p:nvPr/>
        </p:nvSpPr>
        <p:spPr>
          <a:xfrm>
            <a:off x="457200" y="3291840"/>
            <a:ext cx="8229600" cy="8961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con LuUsers" descr="LuUsers-navy.png"/>
          <p:cNvPicPr>
            <a:picLocks noChangeAspect="1"/>
          </p:cNvPicPr>
          <p:nvPr/>
        </p:nvPicPr>
        <p:blipFill>
          <a:blip r:embed="rId4"/>
          <a:stretch>
            <a:fillRect/>
          </a:stretch>
        </p:blipFill>
        <p:spPr>
          <a:xfrm>
            <a:off x="658368" y="3529584"/>
            <a:ext cx="411480" cy="411480"/>
          </a:xfrm>
          <a:prstGeom prst="rect">
            <a:avLst/>
          </a:prstGeom>
        </p:spPr>
      </p:pic>
      <p:sp>
        <p:nvSpPr>
          <p:cNvPr id="14" name="Reason text 3"/>
          <p:cNvSpPr txBox="1"/>
          <p:nvPr/>
        </p:nvSpPr>
        <p:spPr>
          <a:xfrm>
            <a:off x="1325880" y="3346704"/>
            <a:ext cx="7223760" cy="786384"/>
          </a:xfrm>
          <a:prstGeom prst="rect">
            <a:avLst/>
          </a:prstGeom>
          <a:noFill/>
        </p:spPr>
        <p:txBody>
          <a:bodyPr wrap="square" lIns="36576" rIns="36576" tIns="18288" bIns="18288" anchor="t">
            <a:spAutoFit/>
          </a:bodyPr>
          <a:lstStyle/>
          <a:p>
            <a:pPr algn="l">
              <a:spcAft>
                <a:spcPts val="300"/>
              </a:spcAft>
            </a:pPr>
            <a:r>
              <a:rPr lang="en-GB" sz="1500" b="1" i="0">
                <a:solidFill>
                  <a:schemeClr val="tx2"/>
                </a:solidFill>
                <a:latin typeface="+mj-lt"/>
              </a:rPr>
              <a:t>Their buyers also buy the leaders</a:t>
            </a:r>
          </a:p>
          <a:p>
            <a:pPr algn="l">
              <a:spcAft>
                <a:spcPts val="300"/>
              </a:spcAft>
            </a:pPr>
            <a:r>
              <a:rPr lang="en-GB" sz="1300" b="0" i="0">
                <a:solidFill>
                  <a:schemeClr val="tx1"/>
                </a:solidFill>
              </a:rPr>
              <a:t>A small brand's few buyers spend much of their category budget on big brands.</a:t>
            </a:r>
          </a:p>
        </p:txBody>
      </p:sp>
      <p:sp>
        <p:nvSpPr>
          <p:cNvPr id="15" name="Mechanism"/>
          <p:cNvSpPr/>
          <p:nvPr/>
        </p:nvSpPr>
        <p:spPr>
          <a:xfrm>
            <a:off x="457200" y="42976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echanism text"/>
          <p:cNvSpPr txBox="1"/>
          <p:nvPr/>
        </p:nvSpPr>
        <p:spPr>
          <a:xfrm>
            <a:off x="640080" y="4297680"/>
            <a:ext cx="7863840" cy="45720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The Dirichlet reproduces Double Jeopardy from market shares alone.</a:t>
            </a:r>
          </a:p>
        </p:txBody>
      </p:sp>
      <p:sp>
        <p:nvSpPr>
          <p:cNvPr id="17"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Sharp (2010), ch. 2; Ehrenberg, Goodhardt &amp; Barwise (1990); Goodhardt, Ehrenberg &amp; Chatfield (1984); Kucuk (2008).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Duplication: buyers shared by size</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Duplication table"/>
          <p:cNvGraphicFramePr>
            <a:graphicFrameLocks noGrp="1"/>
          </p:cNvGraphicFramePr>
          <p:nvPr/>
        </p:nvGraphicFramePr>
        <p:xfrm>
          <a:off x="457200" y="1280160"/>
          <a:ext cx="5120640" cy="3017520"/>
        </p:xfrm>
        <a:graphic>
          <a:graphicData uri="http://schemas.openxmlformats.org/drawingml/2006/table">
            <a:tbl>
              <a:tblPr firstRow="1" bandRow="1">
                <a:tableStyleId>{5C22544A-7EE6-4342-B048-85BDC9FD1C3A}</a:tableStyleId>
              </a:tblPr>
              <a:tblGrid>
                <a:gridCol w="1463040"/>
                <a:gridCol w="914400"/>
                <a:gridCol w="914400"/>
                <a:gridCol w="914400"/>
                <a:gridCol w="914400"/>
              </a:tblGrid>
              <a:tr h="502920">
                <a:tc>
                  <a:txBody>
                    <a:bodyPr/>
                    <a:lstStyle/>
                    <a:p>
                      <a:pPr algn="l"/>
                      <a:r>
                        <a:rPr lang="en-GB" sz="1300" b="1">
                          <a:solidFill>
                            <a:schemeClr val="bg1"/>
                          </a:solidFill>
                        </a:rPr>
                        <a:t>Buyers of …</a:t>
                      </a:r>
                    </a:p>
                  </a:txBody>
                  <a:tcPr anchor="ctr">
                    <a:solidFill>
                      <a:schemeClr val="accent1"/>
                    </a:solidFill>
                  </a:tcPr>
                </a:tc>
                <a:tc>
                  <a:txBody>
                    <a:bodyPr/>
                    <a:lstStyle/>
                    <a:p>
                      <a:pPr algn="r"/>
                      <a:r>
                        <a:rPr lang="en-GB" sz="1300" b="1">
                          <a:solidFill>
                            <a:schemeClr val="bg1"/>
                          </a:solidFill>
                        </a:rPr>
                        <a:t>also A</a:t>
                      </a:r>
                    </a:p>
                  </a:txBody>
                  <a:tcPr anchor="ctr">
                    <a:solidFill>
                      <a:schemeClr val="accent1"/>
                    </a:solidFill>
                  </a:tcPr>
                </a:tc>
                <a:tc>
                  <a:txBody>
                    <a:bodyPr/>
                    <a:lstStyle/>
                    <a:p>
                      <a:pPr algn="r"/>
                      <a:r>
                        <a:rPr lang="en-GB" sz="1300" b="1">
                          <a:solidFill>
                            <a:schemeClr val="bg1"/>
                          </a:solidFill>
                        </a:rPr>
                        <a:t>also B</a:t>
                      </a:r>
                    </a:p>
                  </a:txBody>
                  <a:tcPr anchor="ctr">
                    <a:solidFill>
                      <a:schemeClr val="accent1"/>
                    </a:solidFill>
                  </a:tcPr>
                </a:tc>
                <a:tc>
                  <a:txBody>
                    <a:bodyPr/>
                    <a:lstStyle/>
                    <a:p>
                      <a:pPr algn="r"/>
                      <a:r>
                        <a:rPr lang="en-GB" sz="1300" b="1">
                          <a:solidFill>
                            <a:schemeClr val="bg1"/>
                          </a:solidFill>
                        </a:rPr>
                        <a:t>also C</a:t>
                      </a:r>
                    </a:p>
                  </a:txBody>
                  <a:tcPr anchor="ctr">
                    <a:solidFill>
                      <a:schemeClr val="accent1"/>
                    </a:solidFill>
                  </a:tcPr>
                </a:tc>
                <a:tc>
                  <a:txBody>
                    <a:bodyPr/>
                    <a:lstStyle/>
                    <a:p>
                      <a:pPr algn="r"/>
                      <a:r>
                        <a:rPr lang="en-GB" sz="1300" b="1">
                          <a:solidFill>
                            <a:schemeClr val="bg1"/>
                          </a:solidFill>
                        </a:rPr>
                        <a:t>also D</a:t>
                      </a:r>
                    </a:p>
                  </a:txBody>
                  <a:tcPr anchor="ctr">
                    <a:solidFill>
                      <a:schemeClr val="accent1"/>
                    </a:solidFill>
                  </a:tcPr>
                </a:tc>
              </a:tr>
              <a:tr h="502920">
                <a:tc>
                  <a:txBody>
                    <a:bodyPr/>
                    <a:lstStyle/>
                    <a:p>
                      <a:pPr algn="l"/>
                      <a:r>
                        <a:rPr lang="en-GB" sz="1300">
                          <a:solidFill>
                            <a:schemeClr val="tx1"/>
                          </a:solidFill>
                        </a:rPr>
                        <a:t>Brand A</a:t>
                      </a:r>
                    </a:p>
                  </a:txBody>
                  <a:tcPr anchor="ctr">
                    <a:solidFill>
                      <a:schemeClr val="bg2"/>
                    </a:solidFill>
                  </a:tcPr>
                </a:tc>
                <a:tc>
                  <a:txBody>
                    <a:bodyPr/>
                    <a:lstStyle/>
                    <a:p>
                      <a:pPr algn="r"/>
                      <a:r>
                        <a:rPr lang="en-GB" sz="1300">
                          <a:solidFill>
                            <a:schemeClr val="tx1"/>
                          </a:solidFill>
                        </a:rPr>
                        <a:t>–</a:t>
                      </a:r>
                    </a:p>
                  </a:txBody>
                  <a:tcPr anchor="ctr">
                    <a:solidFill>
                      <a:schemeClr val="bg2"/>
                    </a:solidFill>
                  </a:tcPr>
                </a:tc>
                <a:tc>
                  <a:txBody>
                    <a:bodyPr/>
                    <a:lstStyle/>
                    <a:p>
                      <a:pPr algn="r"/>
                      <a:r>
                        <a:rPr lang="en-GB" sz="1300">
                          <a:solidFill>
                            <a:schemeClr val="tx1"/>
                          </a:solidFill>
                        </a:rPr>
                        <a:t>38</a:t>
                      </a:r>
                    </a:p>
                  </a:txBody>
                  <a:tcPr anchor="ctr">
                    <a:solidFill>
                      <a:schemeClr val="bg2"/>
                    </a:solidFill>
                  </a:tcPr>
                </a:tc>
                <a:tc>
                  <a:txBody>
                    <a:bodyPr/>
                    <a:lstStyle/>
                    <a:p>
                      <a:pPr algn="r"/>
                      <a:r>
                        <a:rPr lang="en-GB" sz="1300">
                          <a:solidFill>
                            <a:schemeClr val="tx1"/>
                          </a:solidFill>
                        </a:rPr>
                        <a:t>25</a:t>
                      </a:r>
                    </a:p>
                  </a:txBody>
                  <a:tcPr anchor="ctr">
                    <a:solidFill>
                      <a:schemeClr val="bg2"/>
                    </a:solidFill>
                  </a:tcPr>
                </a:tc>
                <a:tc>
                  <a:txBody>
                    <a:bodyPr/>
                    <a:lstStyle/>
                    <a:p>
                      <a:pPr algn="r"/>
                      <a:r>
                        <a:rPr lang="en-GB" sz="1300">
                          <a:solidFill>
                            <a:schemeClr val="tx1"/>
                          </a:solidFill>
                        </a:rPr>
                        <a:t>12</a:t>
                      </a:r>
                    </a:p>
                  </a:txBody>
                  <a:tcPr anchor="ctr">
                    <a:solidFill>
                      <a:schemeClr val="bg2"/>
                    </a:solidFill>
                  </a:tcPr>
                </a:tc>
              </a:tr>
              <a:tr h="502920">
                <a:tc>
                  <a:txBody>
                    <a:bodyPr/>
                    <a:lstStyle/>
                    <a:p>
                      <a:pPr algn="l"/>
                      <a:r>
                        <a:rPr lang="en-GB" sz="1300">
                          <a:solidFill>
                            <a:schemeClr val="tx1"/>
                          </a:solidFill>
                        </a:rPr>
                        <a:t>Brand B</a:t>
                      </a:r>
                    </a:p>
                  </a:txBody>
                  <a:tcPr anchor="ctr">
                    <a:solidFill>
                      <a:schemeClr val="bg2"/>
                    </a:solidFill>
                  </a:tcPr>
                </a:tc>
                <a:tc>
                  <a:txBody>
                    <a:bodyPr/>
                    <a:lstStyle/>
                    <a:p>
                      <a:pPr algn="r"/>
                      <a:r>
                        <a:rPr lang="en-GB" sz="1300">
                          <a:solidFill>
                            <a:schemeClr val="tx1"/>
                          </a:solidFill>
                        </a:rPr>
                        <a:t>50</a:t>
                      </a:r>
                    </a:p>
                  </a:txBody>
                  <a:tcPr anchor="ctr">
                    <a:solidFill>
                      <a:schemeClr val="bg2"/>
                    </a:solidFill>
                  </a:tcPr>
                </a:tc>
                <a:tc>
                  <a:txBody>
                    <a:bodyPr/>
                    <a:lstStyle/>
                    <a:p>
                      <a:pPr algn="r"/>
                      <a:r>
                        <a:rPr lang="en-GB" sz="1300">
                          <a:solidFill>
                            <a:schemeClr val="tx1"/>
                          </a:solidFill>
                        </a:rPr>
                        <a:t>–</a:t>
                      </a:r>
                    </a:p>
                  </a:txBody>
                  <a:tcPr anchor="ctr">
                    <a:solidFill>
                      <a:schemeClr val="bg2"/>
                    </a:solidFill>
                  </a:tcPr>
                </a:tc>
                <a:tc>
                  <a:txBody>
                    <a:bodyPr/>
                    <a:lstStyle/>
                    <a:p>
                      <a:pPr algn="r"/>
                      <a:r>
                        <a:rPr lang="en-GB" sz="1300">
                          <a:solidFill>
                            <a:schemeClr val="tx1"/>
                          </a:solidFill>
                        </a:rPr>
                        <a:t>27</a:t>
                      </a:r>
                    </a:p>
                  </a:txBody>
                  <a:tcPr anchor="ctr">
                    <a:solidFill>
                      <a:schemeClr val="bg2"/>
                    </a:solidFill>
                  </a:tcPr>
                </a:tc>
                <a:tc>
                  <a:txBody>
                    <a:bodyPr/>
                    <a:lstStyle/>
                    <a:p>
                      <a:pPr algn="r"/>
                      <a:r>
                        <a:rPr lang="en-GB" sz="1300">
                          <a:solidFill>
                            <a:schemeClr val="tx1"/>
                          </a:solidFill>
                        </a:rPr>
                        <a:t>14</a:t>
                      </a:r>
                    </a:p>
                  </a:txBody>
                  <a:tcPr anchor="ctr">
                    <a:solidFill>
                      <a:schemeClr val="bg2"/>
                    </a:solidFill>
                  </a:tcPr>
                </a:tc>
              </a:tr>
              <a:tr h="502920">
                <a:tc>
                  <a:txBody>
                    <a:bodyPr/>
                    <a:lstStyle/>
                    <a:p>
                      <a:pPr algn="l"/>
                      <a:r>
                        <a:rPr lang="en-GB" sz="1300">
                          <a:solidFill>
                            <a:schemeClr val="tx1"/>
                          </a:solidFill>
                        </a:rPr>
                        <a:t>Brand C</a:t>
                      </a:r>
                    </a:p>
                  </a:txBody>
                  <a:tcPr anchor="ctr">
                    <a:solidFill>
                      <a:schemeClr val="bg2"/>
                    </a:solidFill>
                  </a:tcPr>
                </a:tc>
                <a:tc>
                  <a:txBody>
                    <a:bodyPr/>
                    <a:lstStyle/>
                    <a:p>
                      <a:pPr algn="r"/>
                      <a:r>
                        <a:rPr lang="en-GB" sz="1300">
                          <a:solidFill>
                            <a:schemeClr val="tx1"/>
                          </a:solidFill>
                        </a:rPr>
                        <a:t>53</a:t>
                      </a:r>
                    </a:p>
                  </a:txBody>
                  <a:tcPr anchor="ctr">
                    <a:solidFill>
                      <a:schemeClr val="bg2"/>
                    </a:solidFill>
                  </a:tcPr>
                </a:tc>
                <a:tc>
                  <a:txBody>
                    <a:bodyPr/>
                    <a:lstStyle/>
                    <a:p>
                      <a:pPr algn="r"/>
                      <a:r>
                        <a:rPr lang="en-GB" sz="1300">
                          <a:solidFill>
                            <a:schemeClr val="tx1"/>
                          </a:solidFill>
                        </a:rPr>
                        <a:t>40</a:t>
                      </a:r>
                    </a:p>
                  </a:txBody>
                  <a:tcPr anchor="ctr">
                    <a:solidFill>
                      <a:schemeClr val="bg2"/>
                    </a:solidFill>
                  </a:tcPr>
                </a:tc>
                <a:tc>
                  <a:txBody>
                    <a:bodyPr/>
                    <a:lstStyle/>
                    <a:p>
                      <a:pPr algn="r"/>
                      <a:r>
                        <a:rPr lang="en-GB" sz="1300">
                          <a:solidFill>
                            <a:schemeClr val="tx1"/>
                          </a:solidFill>
                        </a:rPr>
                        <a:t>–</a:t>
                      </a:r>
                    </a:p>
                  </a:txBody>
                  <a:tcPr anchor="ctr">
                    <a:solidFill>
                      <a:schemeClr val="bg2"/>
                    </a:solidFill>
                  </a:tcPr>
                </a:tc>
                <a:tc>
                  <a:txBody>
                    <a:bodyPr/>
                    <a:lstStyle/>
                    <a:p>
                      <a:pPr algn="r"/>
                      <a:r>
                        <a:rPr lang="en-GB" sz="1300" b="1">
                          <a:solidFill>
                            <a:schemeClr val="tx1"/>
                          </a:solidFill>
                        </a:rPr>
                        <a:t>30</a:t>
                      </a:r>
                    </a:p>
                  </a:txBody>
                  <a:tcPr anchor="ctr">
                    <a:solidFill>
                      <a:schemeClr val="accent6"/>
                    </a:solidFill>
                  </a:tcPr>
                </a:tc>
              </a:tr>
              <a:tr h="502920">
                <a:tc>
                  <a:txBody>
                    <a:bodyPr/>
                    <a:lstStyle/>
                    <a:p>
                      <a:pPr algn="l"/>
                      <a:r>
                        <a:rPr lang="en-GB" sz="1300">
                          <a:solidFill>
                            <a:schemeClr val="tx1"/>
                          </a:solidFill>
                        </a:rPr>
                        <a:t>Brand D</a:t>
                      </a:r>
                    </a:p>
                  </a:txBody>
                  <a:tcPr anchor="ctr">
                    <a:solidFill>
                      <a:schemeClr val="bg2"/>
                    </a:solidFill>
                  </a:tcPr>
                </a:tc>
                <a:tc>
                  <a:txBody>
                    <a:bodyPr/>
                    <a:lstStyle/>
                    <a:p>
                      <a:pPr algn="r"/>
                      <a:r>
                        <a:rPr lang="en-GB" sz="1300">
                          <a:solidFill>
                            <a:schemeClr val="tx1"/>
                          </a:solidFill>
                        </a:rPr>
                        <a:t>51</a:t>
                      </a:r>
                    </a:p>
                  </a:txBody>
                  <a:tcPr anchor="ctr">
                    <a:solidFill>
                      <a:schemeClr val="bg2"/>
                    </a:solidFill>
                  </a:tcPr>
                </a:tc>
                <a:tc>
                  <a:txBody>
                    <a:bodyPr/>
                    <a:lstStyle/>
                    <a:p>
                      <a:pPr algn="r"/>
                      <a:r>
                        <a:rPr lang="en-GB" sz="1300">
                          <a:solidFill>
                            <a:schemeClr val="tx1"/>
                          </a:solidFill>
                        </a:rPr>
                        <a:t>37</a:t>
                      </a:r>
                    </a:p>
                  </a:txBody>
                  <a:tcPr anchor="ctr">
                    <a:solidFill>
                      <a:schemeClr val="bg2"/>
                    </a:solidFill>
                  </a:tcPr>
                </a:tc>
                <a:tc>
                  <a:txBody>
                    <a:bodyPr/>
                    <a:lstStyle/>
                    <a:p>
                      <a:pPr algn="r"/>
                      <a:r>
                        <a:rPr lang="en-GB" sz="1300" b="1">
                          <a:solidFill>
                            <a:schemeClr val="tx1"/>
                          </a:solidFill>
                        </a:rPr>
                        <a:t>55</a:t>
                      </a:r>
                    </a:p>
                  </a:txBody>
                  <a:tcPr anchor="ctr">
                    <a:solidFill>
                      <a:schemeClr val="accent6"/>
                    </a:solidFill>
                  </a:tcPr>
                </a:tc>
                <a:tc>
                  <a:txBody>
                    <a:bodyPr/>
                    <a:lstStyle/>
                    <a:p>
                      <a:pPr algn="r"/>
                      <a:r>
                        <a:rPr lang="en-GB" sz="1300">
                          <a:solidFill>
                            <a:schemeClr val="tx1"/>
                          </a:solidFill>
                        </a:rPr>
                        <a:t>–</a:t>
                      </a:r>
                    </a:p>
                  </a:txBody>
                  <a:tcPr anchor="ctr">
                    <a:solidFill>
                      <a:schemeClr val="bg2"/>
                    </a:solidFill>
                  </a:tcPr>
                </a:tc>
              </a:tr>
              <a:tr h="502920">
                <a:tc>
                  <a:txBody>
                    <a:bodyPr/>
                    <a:lstStyle/>
                    <a:p>
                      <a:pPr algn="l"/>
                      <a:r>
                        <a:rPr lang="en-GB" sz="1300" b="1">
                          <a:solidFill>
                            <a:schemeClr val="bg1"/>
                          </a:solidFill>
                        </a:rPr>
                        <a:t>Expected</a:t>
                      </a:r>
                    </a:p>
                  </a:txBody>
                  <a:tcPr anchor="ctr">
                    <a:solidFill>
                      <a:schemeClr val="tx2"/>
                    </a:solidFill>
                  </a:tcPr>
                </a:tc>
                <a:tc>
                  <a:txBody>
                    <a:bodyPr/>
                    <a:lstStyle/>
                    <a:p>
                      <a:pPr algn="r"/>
                      <a:r>
                        <a:rPr lang="en-GB" sz="1300" b="1">
                          <a:solidFill>
                            <a:schemeClr val="bg1"/>
                          </a:solidFill>
                        </a:rPr>
                        <a:t>52</a:t>
                      </a:r>
                    </a:p>
                  </a:txBody>
                  <a:tcPr anchor="ctr">
                    <a:solidFill>
                      <a:schemeClr val="tx2"/>
                    </a:solidFill>
                  </a:tcPr>
                </a:tc>
                <a:tc>
                  <a:txBody>
                    <a:bodyPr/>
                    <a:lstStyle/>
                    <a:p>
                      <a:pPr algn="r"/>
                      <a:r>
                        <a:rPr lang="en-GB" sz="1300" b="1">
                          <a:solidFill>
                            <a:schemeClr val="bg1"/>
                          </a:solidFill>
                        </a:rPr>
                        <a:t>39</a:t>
                      </a:r>
                    </a:p>
                  </a:txBody>
                  <a:tcPr anchor="ctr">
                    <a:solidFill>
                      <a:schemeClr val="tx2"/>
                    </a:solidFill>
                  </a:tcPr>
                </a:tc>
                <a:tc>
                  <a:txBody>
                    <a:bodyPr/>
                    <a:lstStyle/>
                    <a:p>
                      <a:pPr algn="r"/>
                      <a:r>
                        <a:rPr lang="en-GB" sz="1300" b="1">
                          <a:solidFill>
                            <a:schemeClr val="bg1"/>
                          </a:solidFill>
                        </a:rPr>
                        <a:t>26</a:t>
                      </a:r>
                    </a:p>
                  </a:txBody>
                  <a:tcPr anchor="ctr">
                    <a:solidFill>
                      <a:schemeClr val="tx2"/>
                    </a:solidFill>
                  </a:tcPr>
                </a:tc>
                <a:tc>
                  <a:txBody>
                    <a:bodyPr/>
                    <a:lstStyle/>
                    <a:p>
                      <a:pPr algn="r"/>
                      <a:r>
                        <a:rPr lang="en-GB" sz="1300" b="1">
                          <a:solidFill>
                            <a:schemeClr val="bg1"/>
                          </a:solidFill>
                        </a:rPr>
                        <a:t>13</a:t>
                      </a:r>
                    </a:p>
                  </a:txBody>
                  <a:tcPr anchor="ctr">
                    <a:solidFill>
                      <a:schemeClr val="tx2"/>
                    </a:solidFill>
                  </a:tcPr>
                </a:tc>
              </a:tr>
            </a:tbl>
          </a:graphicData>
        </a:graphic>
      </p:graphicFrame>
      <p:sp>
        <p:nvSpPr>
          <p:cNvPr id="7" name="Table reading"/>
          <p:cNvSpPr txBox="1"/>
          <p:nvPr/>
        </p:nvSpPr>
        <p:spPr>
          <a:xfrm>
            <a:off x="5806440" y="1280160"/>
            <a:ext cx="2880360" cy="3017520"/>
          </a:xfrm>
          <a:prstGeom prst="rect">
            <a:avLst/>
          </a:prstGeom>
          <a:noFill/>
        </p:spPr>
        <p:txBody>
          <a:bodyPr wrap="square" lIns="36576" rIns="36576" tIns="18288" bIns="18288" anchor="t">
            <a:spAutoFit/>
          </a:bodyPr>
          <a:lstStyle/>
          <a:p>
            <a:pPr algn="l">
              <a:spcAft>
                <a:spcPts val="1000"/>
              </a:spcAft>
            </a:pPr>
            <a:r>
              <a:rPr lang="en-GB" sz="1300" b="0" i="0">
                <a:solidFill>
                  <a:srgbClr val="595959"/>
                </a:solidFill>
              </a:rPr>
              <a:t>% of each brand's buyers who also bought A to D.</a:t>
            </a:r>
          </a:p>
          <a:p>
            <a:pPr algn="l">
              <a:spcAft>
                <a:spcPts val="1000"/>
              </a:spcAft>
            </a:pPr>
            <a:r>
              <a:rPr lang="en-GB" sz="1300" b="1" i="0">
                <a:solidFill>
                  <a:schemeClr val="tx1"/>
                </a:solidFill>
              </a:rPr>
              <a:t>Read down a column: </a:t>
            </a:r>
            <a:r>
              <a:rPr lang="en-GB" sz="1300" b="0" i="0">
                <a:solidFill>
                  <a:schemeClr val="tx1"/>
                </a:solidFill>
              </a:rPr>
              <a:t>all brands share buyers with A at about the same rate, set by A's size.</a:t>
            </a:r>
          </a:p>
          <a:p>
            <a:pPr algn="l">
              <a:spcAft>
                <a:spcPts val="1000"/>
              </a:spcAft>
            </a:pPr>
            <a:r>
              <a:rPr lang="en-GB" sz="1300" b="1" i="0">
                <a:solidFill>
                  <a:schemeClr val="accent1"/>
                </a:solidFill>
              </a:rPr>
              <a:t>Highlighted: </a:t>
            </a:r>
            <a:r>
              <a:rPr lang="en-GB" sz="1300" b="0" i="0">
                <a:solidFill>
                  <a:schemeClr val="tx1"/>
                </a:solidFill>
              </a:rPr>
              <a:t>C and D share far more buyers than expected, a market partition.</a:t>
            </a:r>
          </a:p>
        </p:txBody>
      </p:sp>
      <p:sp>
        <p:nvSpPr>
          <p:cNvPr id="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Illustrative data: penetration A 40%, B 30%, C 20%, D 10%; expected = D × penetration with D = 1.3. Law: Ehrenberg &amp; Goodhardt (1970).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Dirichlet predicts 'normal'</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irichlet Inputs body"/>
          <p:cNvSpPr/>
          <p:nvPr/>
        </p:nvSpPr>
        <p:spPr>
          <a:xfrm>
            <a:off x="45720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richlet Inputs band"/>
          <p:cNvSpPr/>
          <p:nvPr/>
        </p:nvSpPr>
        <p:spPr>
          <a:xfrm>
            <a:off x="457200" y="1280160"/>
            <a:ext cx="2468879"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richlet Inputs heading"/>
          <p:cNvSpPr txBox="1"/>
          <p:nvPr/>
        </p:nvSpPr>
        <p:spPr>
          <a:xfrm>
            <a:off x="566928" y="1335024"/>
            <a:ext cx="1783079"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Inputs</a:t>
            </a:r>
          </a:p>
        </p:txBody>
      </p:sp>
      <p:pic>
        <p:nvPicPr>
          <p:cNvPr id="9" name="Icon LuDatabase" descr="LuDatabase-white.png"/>
          <p:cNvPicPr>
            <a:picLocks noChangeAspect="1"/>
          </p:cNvPicPr>
          <p:nvPr/>
        </p:nvPicPr>
        <p:blipFill>
          <a:blip r:embed="rId2"/>
          <a:stretch>
            <a:fillRect/>
          </a:stretch>
        </p:blipFill>
        <p:spPr>
          <a:xfrm>
            <a:off x="2496311" y="1344168"/>
            <a:ext cx="329184" cy="329184"/>
          </a:xfrm>
          <a:prstGeom prst="rect">
            <a:avLst/>
          </a:prstGeom>
        </p:spPr>
      </p:pic>
      <p:sp>
        <p:nvSpPr>
          <p:cNvPr id="10" name="Dirichlet Inputs text"/>
          <p:cNvSpPr txBox="1"/>
          <p:nvPr/>
        </p:nvSpPr>
        <p:spPr>
          <a:xfrm>
            <a:off x="594360" y="1847088"/>
            <a:ext cx="2194560" cy="162763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Category penetration</a:t>
            </a:r>
          </a:p>
          <a:p>
            <a:pPr algn="l">
              <a:spcAft>
                <a:spcPts val="700"/>
              </a:spcAft>
            </a:pPr>
            <a:r>
              <a:rPr lang="en-GB" sz="1200" b="0" i="0">
                <a:solidFill>
                  <a:schemeClr val="tx1"/>
                </a:solidFill>
              </a:rPr>
              <a:t>Category purchase rate</a:t>
            </a:r>
          </a:p>
          <a:p>
            <a:pPr algn="l">
              <a:spcAft>
                <a:spcPts val="700"/>
              </a:spcAft>
            </a:pPr>
            <a:r>
              <a:rPr lang="en-GB" sz="1200" b="0" i="0">
                <a:solidFill>
                  <a:schemeClr val="tx1"/>
                </a:solidFill>
              </a:rPr>
              <a:t>Brand market shares</a:t>
            </a:r>
          </a:p>
        </p:txBody>
      </p:sp>
      <p:sp>
        <p:nvSpPr>
          <p:cNvPr id="11" name="Arrow 1"/>
          <p:cNvSpPr/>
          <p:nvPr/>
        </p:nvSpPr>
        <p:spPr>
          <a:xfrm>
            <a:off x="2999232" y="2377440"/>
            <a:ext cx="274320" cy="36576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richlet Model body"/>
          <p:cNvSpPr/>
          <p:nvPr/>
        </p:nvSpPr>
        <p:spPr>
          <a:xfrm>
            <a:off x="333756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richlet Model band"/>
          <p:cNvSpPr/>
          <p:nvPr/>
        </p:nvSpPr>
        <p:spPr>
          <a:xfrm>
            <a:off x="3337560" y="1280160"/>
            <a:ext cx="2468879"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richlet Model heading"/>
          <p:cNvSpPr txBox="1"/>
          <p:nvPr/>
        </p:nvSpPr>
        <p:spPr>
          <a:xfrm>
            <a:off x="3447288" y="1335024"/>
            <a:ext cx="1783079"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Model</a:t>
            </a:r>
          </a:p>
        </p:txBody>
      </p:sp>
      <p:pic>
        <p:nvPicPr>
          <p:cNvPr id="15" name="Icon LuCalculator" descr="LuCalculator-white.png"/>
          <p:cNvPicPr>
            <a:picLocks noChangeAspect="1"/>
          </p:cNvPicPr>
          <p:nvPr/>
        </p:nvPicPr>
        <p:blipFill>
          <a:blip r:embed="rId3"/>
          <a:stretch>
            <a:fillRect/>
          </a:stretch>
        </p:blipFill>
        <p:spPr>
          <a:xfrm>
            <a:off x="5376672" y="1344168"/>
            <a:ext cx="329184" cy="329184"/>
          </a:xfrm>
          <a:prstGeom prst="rect">
            <a:avLst/>
          </a:prstGeom>
        </p:spPr>
      </p:pic>
      <p:sp>
        <p:nvSpPr>
          <p:cNvPr id="16" name="Dirichlet Model text"/>
          <p:cNvSpPr txBox="1"/>
          <p:nvPr/>
        </p:nvSpPr>
        <p:spPr>
          <a:xfrm>
            <a:off x="3474720" y="1847088"/>
            <a:ext cx="2194560" cy="162763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NBD: how often people buy the category</a:t>
            </a:r>
          </a:p>
          <a:p>
            <a:pPr algn="l">
              <a:spcAft>
                <a:spcPts val="700"/>
              </a:spcAft>
            </a:pPr>
            <a:r>
              <a:rPr lang="en-GB" sz="1200" b="0" i="0">
                <a:solidFill>
                  <a:schemeClr val="tx1"/>
                </a:solidFill>
              </a:rPr>
              <a:t>Dirichlet: which brand each time</a:t>
            </a:r>
          </a:p>
          <a:p>
            <a:pPr algn="l">
              <a:spcAft>
                <a:spcPts val="700"/>
              </a:spcAft>
            </a:pPr>
            <a:r>
              <a:rPr lang="en-GB" sz="1200" b="0" i="0">
                <a:solidFill>
                  <a:schemeClr val="tx1"/>
                </a:solidFill>
              </a:rPr>
              <a:t>Assumes a stable, unpartitioned market</a:t>
            </a:r>
          </a:p>
        </p:txBody>
      </p:sp>
      <p:sp>
        <p:nvSpPr>
          <p:cNvPr id="17" name="Arrow 2"/>
          <p:cNvSpPr/>
          <p:nvPr/>
        </p:nvSpPr>
        <p:spPr>
          <a:xfrm>
            <a:off x="5879592" y="2377440"/>
            <a:ext cx="274320" cy="365760"/>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richlet Outputs body"/>
          <p:cNvSpPr/>
          <p:nvPr/>
        </p:nvSpPr>
        <p:spPr>
          <a:xfrm>
            <a:off x="6217920" y="1280160"/>
            <a:ext cx="2468879" cy="2286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irichlet Outputs band"/>
          <p:cNvSpPr/>
          <p:nvPr/>
        </p:nvSpPr>
        <p:spPr>
          <a:xfrm>
            <a:off x="6217920" y="1280160"/>
            <a:ext cx="2468879"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irichlet Outputs heading"/>
          <p:cNvSpPr txBox="1"/>
          <p:nvPr/>
        </p:nvSpPr>
        <p:spPr>
          <a:xfrm>
            <a:off x="6327648" y="1335024"/>
            <a:ext cx="1783079"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Outputs</a:t>
            </a:r>
          </a:p>
        </p:txBody>
      </p:sp>
      <p:pic>
        <p:nvPicPr>
          <p:cNvPr id="21" name="Icon LuChartColumn" descr="LuChartColumn-white.png"/>
          <p:cNvPicPr>
            <a:picLocks noChangeAspect="1"/>
          </p:cNvPicPr>
          <p:nvPr/>
        </p:nvPicPr>
        <p:blipFill>
          <a:blip r:embed="rId4"/>
          <a:stretch>
            <a:fillRect/>
          </a:stretch>
        </p:blipFill>
        <p:spPr>
          <a:xfrm>
            <a:off x="8257031" y="1344168"/>
            <a:ext cx="329184" cy="329184"/>
          </a:xfrm>
          <a:prstGeom prst="rect">
            <a:avLst/>
          </a:prstGeom>
        </p:spPr>
      </p:pic>
      <p:sp>
        <p:nvSpPr>
          <p:cNvPr id="22" name="Dirichlet Outputs text"/>
          <p:cNvSpPr txBox="1"/>
          <p:nvPr/>
        </p:nvSpPr>
        <p:spPr>
          <a:xfrm>
            <a:off x="6355080" y="1847088"/>
            <a:ext cx="2194560" cy="162763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Penetration</a:t>
            </a:r>
          </a:p>
          <a:p>
            <a:pPr algn="l">
              <a:spcAft>
                <a:spcPts val="700"/>
              </a:spcAft>
            </a:pPr>
            <a:r>
              <a:rPr lang="en-GB" sz="1200" b="0" i="0">
                <a:solidFill>
                  <a:schemeClr val="tx1"/>
                </a:solidFill>
              </a:rPr>
              <a:t>Purchase frequency</a:t>
            </a:r>
          </a:p>
          <a:p>
            <a:pPr algn="l">
              <a:spcAft>
                <a:spcPts val="700"/>
              </a:spcAft>
            </a:pPr>
            <a:r>
              <a:rPr lang="en-GB" sz="1200" b="0" i="0">
                <a:solidFill>
                  <a:schemeClr val="tx1"/>
                </a:solidFill>
              </a:rPr>
              <a:t>Share of requirements</a:t>
            </a:r>
          </a:p>
          <a:p>
            <a:pPr algn="l">
              <a:spcAft>
                <a:spcPts val="700"/>
              </a:spcAft>
            </a:pPr>
            <a:r>
              <a:rPr lang="en-GB" sz="1200" b="0" i="0">
                <a:solidFill>
                  <a:schemeClr val="tx1"/>
                </a:solidFill>
              </a:rPr>
              <a:t>% sole buyers</a:t>
            </a:r>
          </a:p>
          <a:p>
            <a:pPr algn="l">
              <a:spcAft>
                <a:spcPts val="700"/>
              </a:spcAft>
            </a:pPr>
            <a:r>
              <a:rPr lang="en-GB" sz="1200" b="0" i="0">
                <a:solidFill>
                  <a:schemeClr val="tx1"/>
                </a:solidFill>
              </a:rPr>
              <a:t>Duplication</a:t>
            </a:r>
          </a:p>
        </p:txBody>
      </p:sp>
      <p:sp>
        <p:nvSpPr>
          <p:cNvPr id="23" name="Benchmark"/>
          <p:cNvSpPr/>
          <p:nvPr/>
        </p:nvSpPr>
        <p:spPr>
          <a:xfrm>
            <a:off x="457200" y="37490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enchmark text"/>
          <p:cNvSpPr txBox="1"/>
          <p:nvPr/>
        </p:nvSpPr>
        <p:spPr>
          <a:xfrm>
            <a:off x="640080" y="3749039"/>
            <a:ext cx="7863840" cy="50292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Use the predictions as benchmarks: the deviation is the interesting finding.</a:t>
            </a:r>
          </a:p>
        </p:txBody>
      </p:sp>
      <p:sp>
        <p:nvSpPr>
          <p:cNvPr id="25" name="Source note"/>
          <p:cNvSpPr txBox="1"/>
          <p:nvPr/>
        </p:nvSpPr>
        <p:spPr>
          <a:xfrm>
            <a:off x="457200" y="434340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Goodhardt, Ehrenberg &amp; Chatfield (1984); Ehrenberg, Uncles &amp; Goodhardt (2004); R package NBDdirichlet.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Light buyers matter more than expected</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at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at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 60/20</a:t>
            </a:r>
          </a:p>
        </p:txBody>
      </p:sp>
      <p:sp>
        <p:nvSpPr>
          <p:cNvPr id="8" name="Stat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The heaviest 20% of a brand's buyers deliver about 60% of its sales, not 80%.</a:t>
            </a:r>
          </a:p>
          <a:p>
            <a:pPr algn="l">
              <a:spcAft>
                <a:spcPts val="200"/>
              </a:spcAft>
            </a:pPr>
            <a:r>
              <a:rPr lang="en-GB" sz="1050" b="0" i="0">
                <a:solidFill>
                  <a:srgbClr val="595959"/>
                </a:solidFill>
              </a:rPr>
              <a:t>Sharp, Romaniuk &amp; Graham (2019)</a:t>
            </a:r>
          </a:p>
        </p:txBody>
      </p:sp>
      <p:sp>
        <p:nvSpPr>
          <p:cNvPr id="9" name="Stat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at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&gt; 1/3</a:t>
            </a:r>
          </a:p>
        </p:txBody>
      </p:sp>
      <p:sp>
        <p:nvSpPr>
          <p:cNvPr id="11" name="Stat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of a brand's buyers buy it only once in five years, yet they are vital to sales.</a:t>
            </a:r>
          </a:p>
          <a:p>
            <a:pPr algn="l">
              <a:spcAft>
                <a:spcPts val="200"/>
              </a:spcAft>
            </a:pPr>
            <a:r>
              <a:rPr lang="en-GB" sz="1050" b="0" i="0">
                <a:solidFill>
                  <a:srgbClr val="595959"/>
                </a:solidFill>
              </a:rPr>
              <a:t>Graham &amp; Kennedy (2021)</a:t>
            </a:r>
          </a:p>
        </p:txBody>
      </p:sp>
      <p:sp>
        <p:nvSpPr>
          <p:cNvPr id="12" name="Stat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Bigger</a:t>
            </a:r>
          </a:p>
        </p:txBody>
      </p:sp>
      <p:sp>
        <p:nvSpPr>
          <p:cNvPr id="14" name="Stat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brands attract an even higher share of light category buyers (Natural Monopoly).</a:t>
            </a:r>
          </a:p>
          <a:p>
            <a:pPr algn="l">
              <a:spcAft>
                <a:spcPts val="200"/>
              </a:spcAft>
            </a:pPr>
            <a:r>
              <a:rPr lang="en-GB" sz="1050" b="0" i="0">
                <a:solidFill>
                  <a:srgbClr val="595959"/>
                </a:solidFill>
              </a:rPr>
              <a:t>Sharp (2010); Stocchi et al. (2017)</a:t>
            </a:r>
          </a:p>
        </p:txBody>
      </p:sp>
      <p:sp>
        <p:nvSpPr>
          <p:cNvPr id="15" name="Stat takeaway"/>
          <p:cNvSpPr/>
          <p:nvPr/>
        </p:nvSpPr>
        <p:spPr>
          <a:xfrm>
            <a:off x="457200" y="4114800"/>
            <a:ext cx="822960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at takeaway text"/>
          <p:cNvSpPr txBox="1"/>
          <p:nvPr/>
        </p:nvSpPr>
        <p:spPr>
          <a:xfrm>
            <a:off x="640080" y="411480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Takeaway: </a:t>
            </a:r>
            <a:r>
              <a:rPr lang="en-GB" sz="1300" b="0" i="0">
                <a:solidFill>
                  <a:schemeClr val="tx1"/>
                </a:solidFill>
              </a:rPr>
              <a:t>plans that only talk to heavy, loyal buyers miss most of the growth potential.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3 of 6 · penetration and availability</a:t>
            </a:r>
          </a:p>
        </p:txBody>
      </p:sp>
      <p:sp>
        <p:nvSpPr>
          <p:cNvPr id="3" name="Title 2"/>
          <p:cNvSpPr>
            <a:spLocks noGrp="1"/>
          </p:cNvSpPr>
          <p:nvPr>
            <p:ph type="ctrTitle"/>
          </p:nvPr>
        </p:nvSpPr>
        <p:spPr/>
        <p:txBody>
          <a:bodyPr/>
          <a:lstStyle/>
          <a:p>
            <a:r>
              <a:t>How brands grow</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Brands grow by winning more buyers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Penetration points"/>
          <p:cNvSpPr txBox="1"/>
          <p:nvPr/>
        </p:nvSpPr>
        <p:spPr>
          <a:xfrm>
            <a:off x="457200" y="1280160"/>
            <a:ext cx="4480560" cy="2743200"/>
          </a:xfrm>
          <a:prstGeom prst="rect">
            <a:avLst/>
          </a:prstGeom>
          <a:noFill/>
        </p:spPr>
        <p:txBody>
          <a:bodyPr wrap="square" lIns="36576" rIns="36576" tIns="18288" bIns="18288" anchor="t">
            <a:spAutoFit/>
          </a:bodyPr>
          <a:lstStyle/>
          <a:p>
            <a:pPr algn="l">
              <a:spcAft>
                <a:spcPts val="1400"/>
              </a:spcAft>
            </a:pPr>
            <a:r>
              <a:rPr lang="en-GB" sz="1400" b="1" i="0">
                <a:solidFill>
                  <a:schemeClr val="tx2"/>
                </a:solidFill>
              </a:rPr>
              <a:t>Penetration moves most </a:t>
            </a:r>
            <a:r>
              <a:rPr lang="en-GB" sz="1400" b="0" i="0">
                <a:solidFill>
                  <a:schemeClr val="tx1"/>
                </a:solidFill>
              </a:rPr>
              <a:t>when brands grow or decline; loyalty moves a little, as Double Jeopardy predicts.</a:t>
            </a:r>
          </a:p>
          <a:p>
            <a:pPr algn="l">
              <a:spcAft>
                <a:spcPts val="1400"/>
              </a:spcAft>
            </a:pPr>
            <a:r>
              <a:rPr lang="en-GB" sz="1400" b="1" i="0">
                <a:solidFill>
                  <a:schemeClr val="tx2"/>
                </a:solidFill>
              </a:rPr>
              <a:t>Loyalty schemes </a:t>
            </a:r>
            <a:r>
              <a:rPr lang="en-GB" sz="1400" b="0" i="0">
                <a:solidFill>
                  <a:schemeClr val="tx1"/>
                </a:solidFill>
              </a:rPr>
              <a:t>barely change repeat buying relative to Dirichlet norms.</a:t>
            </a:r>
          </a:p>
          <a:p>
            <a:pPr algn="l">
              <a:spcAft>
                <a:spcPts val="1400"/>
              </a:spcAft>
            </a:pPr>
            <a:r>
              <a:rPr lang="en-GB" sz="1400" b="1" i="0">
                <a:solidFill>
                  <a:schemeClr val="tx2"/>
                </a:solidFill>
              </a:rPr>
              <a:t>So the job is </a:t>
            </a:r>
            <a:r>
              <a:rPr lang="en-GB" sz="1400" b="0" i="0">
                <a:solidFill>
                  <a:schemeClr val="tx1"/>
                </a:solidFill>
              </a:rPr>
              <a:t>to reach and be bought by all category buyers, including light and non-buyers.</a:t>
            </a:r>
          </a:p>
        </p:txBody>
      </p:sp>
      <p:sp>
        <p:nvSpPr>
          <p:cNvPr id="7" name="Evidence body"/>
          <p:cNvSpPr/>
          <p:nvPr/>
        </p:nvSpPr>
        <p:spPr>
          <a:xfrm>
            <a:off x="5120640" y="1280160"/>
            <a:ext cx="35661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vidence band"/>
          <p:cNvSpPr/>
          <p:nvPr/>
        </p:nvSpPr>
        <p:spPr>
          <a:xfrm>
            <a:off x="5120640" y="1280160"/>
            <a:ext cx="35661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Evidence heading"/>
          <p:cNvSpPr txBox="1"/>
          <p:nvPr/>
        </p:nvSpPr>
        <p:spPr>
          <a:xfrm>
            <a:off x="5230368" y="1335024"/>
            <a:ext cx="288036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Evidence</a:t>
            </a:r>
          </a:p>
        </p:txBody>
      </p:sp>
      <p:pic>
        <p:nvPicPr>
          <p:cNvPr id="10" name="Icon LuTrendingUp" descr="LuTrendingUp-white.png"/>
          <p:cNvPicPr>
            <a:picLocks noChangeAspect="1"/>
          </p:cNvPicPr>
          <p:nvPr/>
        </p:nvPicPr>
        <p:blipFill>
          <a:blip r:embed="rId2"/>
          <a:stretch>
            <a:fillRect/>
          </a:stretch>
        </p:blipFill>
        <p:spPr>
          <a:xfrm>
            <a:off x="8257031" y="1344168"/>
            <a:ext cx="329184" cy="329184"/>
          </a:xfrm>
          <a:prstGeom prst="rect">
            <a:avLst/>
          </a:prstGeom>
        </p:spPr>
      </p:pic>
      <p:sp>
        <p:nvSpPr>
          <p:cNvPr id="11" name="Evidence text"/>
          <p:cNvSpPr txBox="1"/>
          <p:nvPr/>
        </p:nvSpPr>
        <p:spPr>
          <a:xfrm>
            <a:off x="5257800" y="1847088"/>
            <a:ext cx="3291840" cy="158191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Dawes (2016): </a:t>
            </a:r>
            <a:r>
              <a:rPr lang="en-GB" sz="1200" b="0" i="0">
                <a:solidFill>
                  <a:schemeClr val="tx1"/>
                </a:solidFill>
              </a:rPr>
              <a:t>ten growth cases, growth via penetration</a:t>
            </a:r>
          </a:p>
          <a:p>
            <a:pPr algn="l">
              <a:spcAft>
                <a:spcPts val="700"/>
              </a:spcAft>
            </a:pPr>
            <a:r>
              <a:rPr lang="en-GB" sz="1200" b="1" i="0">
                <a:solidFill>
                  <a:schemeClr val="tx1"/>
                </a:solidFill>
              </a:rPr>
              <a:t>Sharp &amp; Sharp (1997): </a:t>
            </a:r>
            <a:r>
              <a:rPr lang="en-GB" sz="1200" b="0" i="0">
                <a:solidFill>
                  <a:schemeClr val="tx1"/>
                </a:solidFill>
              </a:rPr>
              <a:t>loyalty programmes and repeat buying</a:t>
            </a:r>
          </a:p>
          <a:p>
            <a:pPr algn="l">
              <a:spcAft>
                <a:spcPts val="700"/>
              </a:spcAft>
            </a:pPr>
            <a:r>
              <a:rPr lang="en-GB" sz="1200" b="1" i="0">
                <a:solidFill>
                  <a:schemeClr val="tx1"/>
                </a:solidFill>
              </a:rPr>
              <a:t>Barker-Trowse et al. (2026): </a:t>
            </a:r>
            <a:r>
              <a:rPr lang="en-GB" sz="1200" b="0" i="0">
                <a:solidFill>
                  <a:schemeClr val="tx1"/>
                </a:solidFill>
              </a:rPr>
              <a:t>tiny brands, limits of loyalty</a:t>
            </a:r>
          </a:p>
        </p:txBody>
      </p:sp>
      <p:sp>
        <p:nvSpPr>
          <p:cNvPr id="12" name="Growth question"/>
          <p:cNvSpPr/>
          <p:nvPr/>
        </p:nvSpPr>
        <p:spPr>
          <a:xfrm>
            <a:off x="457200" y="3749039"/>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Growth question text"/>
          <p:cNvSpPr txBox="1"/>
          <p:nvPr/>
        </p:nvSpPr>
        <p:spPr>
          <a:xfrm>
            <a:off x="640080" y="3749039"/>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Ask: </a:t>
            </a:r>
            <a:r>
              <a:rPr lang="en-GB" sz="1300" b="0" i="0">
                <a:solidFill>
                  <a:schemeClr val="bg1"/>
                </a:solidFill>
              </a:rPr>
              <a:t>how do we reach more category buyers, not how do we make buyers more loyal?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Kantar data: growth means new buyers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Kantar bar 1"/>
          <p:cNvSpPr/>
          <p:nvPr/>
        </p:nvSpPr>
        <p:spPr>
          <a:xfrm>
            <a:off x="457200" y="13533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antar figure 1"/>
          <p:cNvSpPr txBox="1"/>
          <p:nvPr/>
        </p:nvSpPr>
        <p:spPr>
          <a:xfrm>
            <a:off x="640080" y="12801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 80%</a:t>
            </a:r>
          </a:p>
        </p:txBody>
      </p:sp>
      <p:sp>
        <p:nvSpPr>
          <p:cNvPr id="8" name="Kantar text 1"/>
          <p:cNvSpPr txBox="1"/>
          <p:nvPr/>
        </p:nvSpPr>
        <p:spPr>
          <a:xfrm>
            <a:off x="2560320" y="1325880"/>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of brands that grow their Brand Footprint do so by increasing penetration (global average).</a:t>
            </a:r>
          </a:p>
          <a:p>
            <a:pPr algn="l">
              <a:spcAft>
                <a:spcPts val="200"/>
              </a:spcAft>
            </a:pPr>
            <a:r>
              <a:rPr lang="en-GB" sz="1050" b="0" i="0">
                <a:solidFill>
                  <a:srgbClr val="595959"/>
                </a:solidFill>
              </a:rPr>
              <a:t>Kantar Worldpanel, Brand Footprint 2025 (15 Sep 2025)</a:t>
            </a:r>
          </a:p>
        </p:txBody>
      </p:sp>
      <p:sp>
        <p:nvSpPr>
          <p:cNvPr id="9" name="Kantar bar 2"/>
          <p:cNvSpPr/>
          <p:nvPr/>
        </p:nvSpPr>
        <p:spPr>
          <a:xfrm>
            <a:off x="457200" y="22677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Kantar figure 2"/>
          <p:cNvSpPr txBox="1"/>
          <p:nvPr/>
        </p:nvSpPr>
        <p:spPr>
          <a:xfrm>
            <a:off x="640080" y="21945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86%</a:t>
            </a:r>
          </a:p>
        </p:txBody>
      </p:sp>
      <p:sp>
        <p:nvSpPr>
          <p:cNvPr id="11" name="Kantar text 2"/>
          <p:cNvSpPr txBox="1"/>
          <p:nvPr/>
        </p:nvSpPr>
        <p:spPr>
          <a:xfrm>
            <a:off x="2560320" y="22402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of Latin American brands that gained consumer reach points in 2024 did so by attracting new shoppers.</a:t>
            </a:r>
          </a:p>
          <a:p>
            <a:pPr algn="l">
              <a:spcAft>
                <a:spcPts val="200"/>
              </a:spcAft>
            </a:pPr>
            <a:r>
              <a:rPr lang="en-GB" sz="1050" b="0" i="0">
                <a:solidFill>
                  <a:srgbClr val="595959"/>
                </a:solidFill>
              </a:rPr>
              <a:t>Kantar, Brand Footprint Latin America (15 Sep 2025)</a:t>
            </a:r>
          </a:p>
        </p:txBody>
      </p:sp>
      <p:sp>
        <p:nvSpPr>
          <p:cNvPr id="12" name="Kantar bar 3"/>
          <p:cNvSpPr/>
          <p:nvPr/>
        </p:nvSpPr>
        <p:spPr>
          <a:xfrm>
            <a:off x="457200" y="3182112"/>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Kantar figure 3"/>
          <p:cNvSpPr txBox="1"/>
          <p:nvPr/>
        </p:nvSpPr>
        <p:spPr>
          <a:xfrm>
            <a:off x="640080" y="3108960"/>
            <a:ext cx="1828800" cy="777240"/>
          </a:xfrm>
          <a:prstGeom prst="rect">
            <a:avLst/>
          </a:prstGeom>
          <a:noFill/>
        </p:spPr>
        <p:txBody>
          <a:bodyPr wrap="square" lIns="36576" rIns="36576" tIns="18288" bIns="18288" anchor="ctr">
            <a:spAutoFit/>
          </a:bodyPr>
          <a:lstStyle/>
          <a:p>
            <a:pPr algn="l">
              <a:spcAft>
                <a:spcPts val="0"/>
              </a:spcAft>
            </a:pPr>
            <a:r>
              <a:rPr lang="en-GB" sz="2800" b="1" i="0">
                <a:solidFill>
                  <a:schemeClr val="tx2"/>
                </a:solidFill>
                <a:latin typeface="+mj-lt"/>
              </a:rPr>
              <a:t>≈ 50%</a:t>
            </a:r>
          </a:p>
        </p:txBody>
      </p:sp>
      <p:sp>
        <p:nvSpPr>
          <p:cNvPr id="14" name="Kantar text 3"/>
          <p:cNvSpPr txBox="1"/>
          <p:nvPr/>
        </p:nvSpPr>
        <p:spPr>
          <a:xfrm>
            <a:off x="2560320" y="3154679"/>
            <a:ext cx="6126480" cy="731520"/>
          </a:xfrm>
          <a:prstGeom prst="rect">
            <a:avLst/>
          </a:prstGeom>
          <a:noFill/>
        </p:spPr>
        <p:txBody>
          <a:bodyPr wrap="square" lIns="36576" rIns="36576" tIns="18288" bIns="18288" anchor="t">
            <a:spAutoFit/>
          </a:bodyPr>
          <a:lstStyle/>
          <a:p>
            <a:pPr algn="l">
              <a:spcAft>
                <a:spcPts val="200"/>
              </a:spcAft>
            </a:pPr>
            <a:r>
              <a:rPr lang="en-GB" sz="1300" b="0" i="0">
                <a:solidFill>
                  <a:schemeClr val="tx1"/>
                </a:solidFill>
              </a:rPr>
              <a:t>of FMCG brands grow in a given year; the other half decline (30,000+ brands, 56 markets).</a:t>
            </a:r>
          </a:p>
          <a:p>
            <a:pPr algn="l">
              <a:spcAft>
                <a:spcPts val="200"/>
              </a:spcAft>
            </a:pPr>
            <a:r>
              <a:rPr lang="en-GB" sz="1050" b="0" i="0">
                <a:solidFill>
                  <a:srgbClr val="595959"/>
                </a:solidFill>
              </a:rPr>
              <a:t>Kantar Worldpanel, Brand Footprint 2025</a:t>
            </a:r>
          </a:p>
        </p:txBody>
      </p:sp>
      <p:sp>
        <p:nvSpPr>
          <p:cNvPr id="15" name="Kantar takeaway"/>
          <p:cNvSpPr/>
          <p:nvPr/>
        </p:nvSpPr>
        <p:spPr>
          <a:xfrm>
            <a:off x="457200" y="4114800"/>
            <a:ext cx="8229600" cy="594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Kantar takeaway text"/>
          <p:cNvSpPr txBox="1"/>
          <p:nvPr/>
        </p:nvSpPr>
        <p:spPr>
          <a:xfrm>
            <a:off x="640080" y="4114800"/>
            <a:ext cx="7863840" cy="594360"/>
          </a:xfrm>
          <a:prstGeom prst="rect">
            <a:avLst/>
          </a:prstGeom>
          <a:noFill/>
        </p:spPr>
        <p:txBody>
          <a:bodyPr wrap="square" lIns="36576" rIns="36576" tIns="18288" bIns="18288" anchor="ctr">
            <a:spAutoFit/>
          </a:bodyPr>
          <a:lstStyle/>
          <a:p>
            <a:pPr algn="l">
              <a:spcAft>
                <a:spcPts val="0"/>
              </a:spcAft>
            </a:pPr>
            <a:r>
              <a:rPr lang="en-GB" sz="1300" b="1" i="0">
                <a:solidFill>
                  <a:schemeClr val="tx1"/>
                </a:solidFill>
              </a:rPr>
              <a:t>Takeaway: </a:t>
            </a:r>
            <a:r>
              <a:rPr lang="en-GB" sz="1300" b="0" i="0">
                <a:solidFill>
                  <a:schemeClr val="tx1"/>
                </a:solidFill>
              </a:rPr>
              <a:t>an independent industry panel finds the same pattern as Ehrenberg-Bass: growth comes from more buyers.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Two kinds of availability drive penetration</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Mental body"/>
          <p:cNvSpPr/>
          <p:nvPr/>
        </p:nvSpPr>
        <p:spPr>
          <a:xfrm>
            <a:off x="457200"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Mental band"/>
          <p:cNvSpPr/>
          <p:nvPr/>
        </p:nvSpPr>
        <p:spPr>
          <a:xfrm>
            <a:off x="457200"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ntal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Mental availability</a:t>
            </a:r>
          </a:p>
        </p:txBody>
      </p:sp>
      <p:pic>
        <p:nvPicPr>
          <p:cNvPr id="9" name="Icon LuBrain" descr="LuBrain-white.png"/>
          <p:cNvPicPr>
            <a:picLocks noChangeAspect="1"/>
          </p:cNvPicPr>
          <p:nvPr/>
        </p:nvPicPr>
        <p:blipFill>
          <a:blip r:embed="rId2"/>
          <a:stretch>
            <a:fillRect/>
          </a:stretch>
        </p:blipFill>
        <p:spPr>
          <a:xfrm>
            <a:off x="4059936" y="1344168"/>
            <a:ext cx="329184" cy="329184"/>
          </a:xfrm>
          <a:prstGeom prst="rect">
            <a:avLst/>
          </a:prstGeom>
        </p:spPr>
      </p:pic>
      <p:sp>
        <p:nvSpPr>
          <p:cNvPr id="10" name="Mental text"/>
          <p:cNvSpPr txBox="1"/>
          <p:nvPr/>
        </p:nvSpPr>
        <p:spPr>
          <a:xfrm>
            <a:off x="594360" y="1847088"/>
            <a:ext cx="3758184" cy="17190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What: </a:t>
            </a:r>
            <a:r>
              <a:rPr lang="en-GB" sz="1300" b="0" i="0">
                <a:solidFill>
                  <a:schemeClr val="tx1"/>
                </a:solidFill>
              </a:rPr>
              <a:t>the chance the brand comes to mind in buying situations</a:t>
            </a:r>
          </a:p>
          <a:p>
            <a:pPr algn="l">
              <a:spcAft>
                <a:spcPts val="700"/>
              </a:spcAft>
            </a:pPr>
            <a:r>
              <a:rPr lang="en-GB" sz="1300" b="1" i="0">
                <a:solidFill>
                  <a:schemeClr val="tx1"/>
                </a:solidFill>
              </a:rPr>
              <a:t>Built by: </a:t>
            </a:r>
            <a:r>
              <a:rPr lang="en-GB" sz="1300" b="0" i="0">
                <a:solidFill>
                  <a:schemeClr val="tx1"/>
                </a:solidFill>
              </a:rPr>
              <a:t>broad reach, consistent distinctive assets, links to many entry points</a:t>
            </a:r>
          </a:p>
          <a:p>
            <a:pPr algn="l">
              <a:spcAft>
                <a:spcPts val="700"/>
              </a:spcAft>
            </a:pPr>
            <a:r>
              <a:rPr lang="en-GB" sz="1300" b="1" i="0">
                <a:solidFill>
                  <a:schemeClr val="tx1"/>
                </a:solidFill>
              </a:rPr>
              <a:t>Measured by: </a:t>
            </a:r>
            <a:r>
              <a:rPr lang="en-GB" sz="1300" b="0" i="0">
                <a:solidFill>
                  <a:schemeClr val="tx1"/>
                </a:solidFill>
              </a:rPr>
              <a:t>mental penetration, network size, mental market share</a:t>
            </a:r>
          </a:p>
        </p:txBody>
      </p:sp>
      <p:sp>
        <p:nvSpPr>
          <p:cNvPr id="11" name="Physical body"/>
          <p:cNvSpPr/>
          <p:nvPr/>
        </p:nvSpPr>
        <p:spPr>
          <a:xfrm>
            <a:off x="4654296" y="1280160"/>
            <a:ext cx="4032504" cy="23774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Physical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hysical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Physical availability</a:t>
            </a:r>
          </a:p>
        </p:txBody>
      </p:sp>
      <p:pic>
        <p:nvPicPr>
          <p:cNvPr id="14" name="Icon LuShoppingCart" descr="LuShoppingCart-white.png"/>
          <p:cNvPicPr>
            <a:picLocks noChangeAspect="1"/>
          </p:cNvPicPr>
          <p:nvPr/>
        </p:nvPicPr>
        <p:blipFill>
          <a:blip r:embed="rId3"/>
          <a:stretch>
            <a:fillRect/>
          </a:stretch>
        </p:blipFill>
        <p:spPr>
          <a:xfrm>
            <a:off x="8257031" y="1344168"/>
            <a:ext cx="329184" cy="329184"/>
          </a:xfrm>
          <a:prstGeom prst="rect">
            <a:avLst/>
          </a:prstGeom>
        </p:spPr>
      </p:pic>
      <p:sp>
        <p:nvSpPr>
          <p:cNvPr id="15" name="Physical text"/>
          <p:cNvSpPr txBox="1"/>
          <p:nvPr/>
        </p:nvSpPr>
        <p:spPr>
          <a:xfrm>
            <a:off x="4791456" y="1847088"/>
            <a:ext cx="3758184" cy="1719072"/>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What: </a:t>
            </a:r>
            <a:r>
              <a:rPr lang="en-GB" sz="1300" b="0" i="0">
                <a:solidFill>
                  <a:schemeClr val="tx1"/>
                </a:solidFill>
              </a:rPr>
              <a:t>how easy the brand is to find and buy</a:t>
            </a:r>
          </a:p>
          <a:p>
            <a:pPr algn="l">
              <a:spcAft>
                <a:spcPts val="700"/>
              </a:spcAft>
            </a:pPr>
            <a:r>
              <a:rPr lang="en-GB" sz="1300" b="1" i="0">
                <a:solidFill>
                  <a:schemeClr val="tx1"/>
                </a:solidFill>
              </a:rPr>
              <a:t>Built by: </a:t>
            </a:r>
            <a:r>
              <a:rPr lang="en-GB" sz="1300" b="0" i="0">
                <a:solidFill>
                  <a:schemeClr val="tx1"/>
                </a:solidFill>
              </a:rPr>
              <a:t>presence, relevant range and pack sizes, prominence on shelf and online</a:t>
            </a:r>
          </a:p>
          <a:p>
            <a:pPr algn="l">
              <a:spcAft>
                <a:spcPts val="700"/>
              </a:spcAft>
            </a:pPr>
            <a:r>
              <a:rPr lang="en-GB" sz="1300" b="1" i="0">
                <a:solidFill>
                  <a:schemeClr val="tx1"/>
                </a:solidFill>
              </a:rPr>
              <a:t>Measured by: </a:t>
            </a:r>
            <a:r>
              <a:rPr lang="en-GB" sz="1300" b="0" i="0">
                <a:solidFill>
                  <a:schemeClr val="tx1"/>
                </a:solidFill>
              </a:rPr>
              <a:t>weighted distribution, share of shelf, search visibility</a:t>
            </a:r>
          </a:p>
        </p:txBody>
      </p:sp>
      <p:sp>
        <p:nvSpPr>
          <p:cNvPr id="16" name="Availability callout"/>
          <p:cNvSpPr/>
          <p:nvPr/>
        </p:nvSpPr>
        <p:spPr>
          <a:xfrm>
            <a:off x="457200" y="384048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vailability callout text"/>
          <p:cNvSpPr txBox="1"/>
          <p:nvPr/>
        </p:nvSpPr>
        <p:spPr>
          <a:xfrm>
            <a:off x="640080" y="384048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Both are needed: </a:t>
            </a:r>
            <a:r>
              <a:rPr lang="en-GB" sz="1300" b="0" i="0">
                <a:solidFill>
                  <a:schemeClr val="bg1"/>
                </a:solidFill>
              </a:rPr>
              <a:t>a brand nobody thinks of, or nobody can find, cannot grow.</a:t>
            </a:r>
          </a:p>
        </p:txBody>
      </p:sp>
      <p:sp>
        <p:nvSpPr>
          <p:cNvPr id="18" name="Source note"/>
          <p:cNvSpPr txBox="1"/>
          <p:nvPr/>
        </p:nvSpPr>
        <p:spPr>
          <a:xfrm>
            <a:off x="457200" y="448056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Sharp (2010), ch. 12; Romaniuk (2022) Better Brand Health; Romaniuk (2013) Journal of Business Research.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B2B: the 95:5 rule</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Rule row 1"/>
          <p:cNvSpPr/>
          <p:nvPr/>
        </p:nvSpPr>
        <p:spPr>
          <a:xfrm>
            <a:off x="457200" y="1280160"/>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ule figure 1"/>
          <p:cNvSpPr txBox="1"/>
          <p:nvPr/>
        </p:nvSpPr>
        <p:spPr>
          <a:xfrm>
            <a:off x="594360" y="1280160"/>
            <a:ext cx="1234440" cy="731520"/>
          </a:xfrm>
          <a:prstGeom prst="rect">
            <a:avLst/>
          </a:prstGeom>
          <a:noFill/>
        </p:spPr>
        <p:txBody>
          <a:bodyPr wrap="square" lIns="36576" rIns="36576" tIns="18288" bIns="18288" anchor="ctr">
            <a:spAutoFit/>
          </a:bodyPr>
          <a:lstStyle/>
          <a:p>
            <a:pPr algn="l">
              <a:spcAft>
                <a:spcPts val="0"/>
              </a:spcAft>
            </a:pPr>
            <a:r>
              <a:rPr lang="en-GB" sz="2200" b="1" i="0">
                <a:solidFill>
                  <a:schemeClr val="tx2"/>
                </a:solidFill>
                <a:latin typeface="+mj-lt"/>
              </a:rPr>
              <a:t>5 years</a:t>
            </a:r>
          </a:p>
        </p:txBody>
      </p:sp>
      <p:sp>
        <p:nvSpPr>
          <p:cNvPr id="8" name="Rule text 1"/>
          <p:cNvSpPr txBox="1"/>
          <p:nvPr/>
        </p:nvSpPr>
        <p:spPr>
          <a:xfrm>
            <a:off x="1828800" y="1280160"/>
            <a:ext cx="2468880" cy="731520"/>
          </a:xfrm>
          <a:prstGeom prst="rect">
            <a:avLst/>
          </a:prstGeom>
          <a:noFill/>
        </p:spPr>
        <p:txBody>
          <a:bodyPr wrap="square" lIns="36576" rIns="36576" tIns="18288" bIns="18288" anchor="ctr">
            <a:spAutoFit/>
          </a:bodyPr>
          <a:lstStyle/>
          <a:p>
            <a:pPr algn="l">
              <a:spcAft>
                <a:spcPts val="0"/>
              </a:spcAft>
            </a:pPr>
            <a:r>
              <a:rPr lang="en-GB" sz="1150" b="0" i="0">
                <a:solidFill>
                  <a:schemeClr val="tx1"/>
                </a:solidFill>
              </a:rPr>
              <a:t>a firm changes a key provider, such as its bank or law firm, about once every five years</a:t>
            </a:r>
          </a:p>
        </p:txBody>
      </p:sp>
      <p:sp>
        <p:nvSpPr>
          <p:cNvPr id="9" name="Rule row 2"/>
          <p:cNvSpPr/>
          <p:nvPr/>
        </p:nvSpPr>
        <p:spPr>
          <a:xfrm>
            <a:off x="457200" y="2148839"/>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ule figure 2"/>
          <p:cNvSpPr txBox="1"/>
          <p:nvPr/>
        </p:nvSpPr>
        <p:spPr>
          <a:xfrm>
            <a:off x="594360" y="2148839"/>
            <a:ext cx="1234440" cy="731520"/>
          </a:xfrm>
          <a:prstGeom prst="rect">
            <a:avLst/>
          </a:prstGeom>
          <a:noFill/>
        </p:spPr>
        <p:txBody>
          <a:bodyPr wrap="square" lIns="36576" rIns="36576" tIns="18288" bIns="18288" anchor="ctr">
            <a:spAutoFit/>
          </a:bodyPr>
          <a:lstStyle/>
          <a:p>
            <a:pPr algn="l">
              <a:spcAft>
                <a:spcPts val="0"/>
              </a:spcAft>
            </a:pPr>
            <a:r>
              <a:rPr lang="en-GB" sz="2200" b="1" i="0">
                <a:solidFill>
                  <a:schemeClr val="tx2"/>
                </a:solidFill>
                <a:latin typeface="+mj-lt"/>
              </a:rPr>
              <a:t>20%</a:t>
            </a:r>
          </a:p>
        </p:txBody>
      </p:sp>
      <p:sp>
        <p:nvSpPr>
          <p:cNvPr id="11" name="Rule text 2"/>
          <p:cNvSpPr txBox="1"/>
          <p:nvPr/>
        </p:nvSpPr>
        <p:spPr>
          <a:xfrm>
            <a:off x="1828800" y="2148839"/>
            <a:ext cx="2468880" cy="731520"/>
          </a:xfrm>
          <a:prstGeom prst="rect">
            <a:avLst/>
          </a:prstGeom>
          <a:noFill/>
        </p:spPr>
        <p:txBody>
          <a:bodyPr wrap="square" lIns="36576" rIns="36576" tIns="18288" bIns="18288" anchor="ctr">
            <a:spAutoFit/>
          </a:bodyPr>
          <a:lstStyle/>
          <a:p>
            <a:pPr algn="l">
              <a:spcAft>
                <a:spcPts val="0"/>
              </a:spcAft>
            </a:pPr>
            <a:r>
              <a:rPr lang="en-GB" sz="1150" b="0" i="0">
                <a:solidFill>
                  <a:schemeClr val="tx1"/>
                </a:solidFill>
              </a:rPr>
              <a:t>of buyers are therefore in the market in a given year</a:t>
            </a:r>
          </a:p>
        </p:txBody>
      </p:sp>
      <p:sp>
        <p:nvSpPr>
          <p:cNvPr id="12" name="Rule row 3"/>
          <p:cNvSpPr/>
          <p:nvPr/>
        </p:nvSpPr>
        <p:spPr>
          <a:xfrm>
            <a:off x="457200" y="3017520"/>
            <a:ext cx="393192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ule figure 3"/>
          <p:cNvSpPr txBox="1"/>
          <p:nvPr/>
        </p:nvSpPr>
        <p:spPr>
          <a:xfrm>
            <a:off x="594360" y="3017520"/>
            <a:ext cx="1234440" cy="731520"/>
          </a:xfrm>
          <a:prstGeom prst="rect">
            <a:avLst/>
          </a:prstGeom>
          <a:noFill/>
        </p:spPr>
        <p:txBody>
          <a:bodyPr wrap="square" lIns="36576" rIns="36576" tIns="18288" bIns="18288" anchor="ctr">
            <a:spAutoFit/>
          </a:bodyPr>
          <a:lstStyle/>
          <a:p>
            <a:pPr algn="l">
              <a:spcAft>
                <a:spcPts val="0"/>
              </a:spcAft>
            </a:pPr>
            <a:r>
              <a:rPr lang="en-GB" sz="2200" b="1" i="0">
                <a:solidFill>
                  <a:schemeClr val="tx2"/>
                </a:solidFill>
                <a:latin typeface="+mj-lt"/>
              </a:rPr>
              <a:t>5%</a:t>
            </a:r>
          </a:p>
        </p:txBody>
      </p:sp>
      <p:sp>
        <p:nvSpPr>
          <p:cNvPr id="14" name="Rule text 3"/>
          <p:cNvSpPr txBox="1"/>
          <p:nvPr/>
        </p:nvSpPr>
        <p:spPr>
          <a:xfrm>
            <a:off x="1828800" y="3017520"/>
            <a:ext cx="2468880" cy="731520"/>
          </a:xfrm>
          <a:prstGeom prst="rect">
            <a:avLst/>
          </a:prstGeom>
          <a:noFill/>
        </p:spPr>
        <p:txBody>
          <a:bodyPr wrap="square" lIns="36576" rIns="36576" tIns="18288" bIns="18288" anchor="ctr">
            <a:spAutoFit/>
          </a:bodyPr>
          <a:lstStyle/>
          <a:p>
            <a:pPr algn="l">
              <a:spcAft>
                <a:spcPts val="0"/>
              </a:spcAft>
            </a:pPr>
            <a:r>
              <a:rPr lang="en-GB" sz="1150" b="0" i="0">
                <a:solidFill>
                  <a:schemeClr val="tx1"/>
                </a:solidFill>
              </a:rPr>
              <a:t>are in the market in a given quarter; 95% are not</a:t>
            </a:r>
          </a:p>
        </p:txBody>
      </p:sp>
      <p:sp>
        <p:nvSpPr>
          <p:cNvPr id="15" name="B2B implications body"/>
          <p:cNvSpPr/>
          <p:nvPr/>
        </p:nvSpPr>
        <p:spPr>
          <a:xfrm>
            <a:off x="4663440" y="1280160"/>
            <a:ext cx="4023360" cy="2423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2B implications band"/>
          <p:cNvSpPr/>
          <p:nvPr/>
        </p:nvSpPr>
        <p:spPr>
          <a:xfrm>
            <a:off x="4663440" y="1280160"/>
            <a:ext cx="402336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2B implications heading"/>
          <p:cNvSpPr txBox="1"/>
          <p:nvPr/>
        </p:nvSpPr>
        <p:spPr>
          <a:xfrm>
            <a:off x="4773168" y="1335024"/>
            <a:ext cx="333756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Implications</a:t>
            </a:r>
          </a:p>
        </p:txBody>
      </p:sp>
      <p:pic>
        <p:nvPicPr>
          <p:cNvPr id="18" name="Icon LuTarget" descr="LuTarget-white.png"/>
          <p:cNvPicPr>
            <a:picLocks noChangeAspect="1"/>
          </p:cNvPicPr>
          <p:nvPr/>
        </p:nvPicPr>
        <p:blipFill>
          <a:blip r:embed="rId2"/>
          <a:stretch>
            <a:fillRect/>
          </a:stretch>
        </p:blipFill>
        <p:spPr>
          <a:xfrm>
            <a:off x="8257031" y="1344168"/>
            <a:ext cx="329184" cy="329184"/>
          </a:xfrm>
          <a:prstGeom prst="rect">
            <a:avLst/>
          </a:prstGeom>
        </p:spPr>
      </p:pic>
      <p:sp>
        <p:nvSpPr>
          <p:cNvPr id="19" name="B2B implications text"/>
          <p:cNvSpPr txBox="1"/>
          <p:nvPr/>
        </p:nvSpPr>
        <p:spPr>
          <a:xfrm>
            <a:off x="4800600" y="1847088"/>
            <a:ext cx="3749040" cy="1764792"/>
          </a:xfrm>
          <a:prstGeom prst="rect">
            <a:avLst/>
          </a:prstGeom>
          <a:noFill/>
        </p:spPr>
        <p:txBody>
          <a:bodyPr wrap="square" lIns="36576" rIns="36576" tIns="18288" bIns="18288" anchor="t">
            <a:spAutoFit/>
          </a:bodyPr>
          <a:lstStyle/>
          <a:p>
            <a:pPr algn="l">
              <a:spcAft>
                <a:spcPts val="700"/>
              </a:spcAft>
            </a:pPr>
            <a:r>
              <a:rPr lang="en-GB" sz="1200" b="1" i="0">
                <a:solidFill>
                  <a:schemeClr val="tx1"/>
                </a:solidFill>
              </a:rPr>
              <a:t>Prime the 95%: </a:t>
            </a:r>
            <a:r>
              <a:rPr lang="en-GB" sz="1200" b="0" i="0">
                <a:solidFill>
                  <a:schemeClr val="tx1"/>
                </a:solidFill>
              </a:rPr>
              <a:t>build mental availability before buyers enter the market</a:t>
            </a:r>
          </a:p>
          <a:p>
            <a:pPr algn="l">
              <a:spcAft>
                <a:spcPts val="700"/>
              </a:spcAft>
            </a:pPr>
            <a:r>
              <a:rPr lang="en-GB" sz="1200" b="1" i="0">
                <a:solidFill>
                  <a:schemeClr val="tx1"/>
                </a:solidFill>
              </a:rPr>
              <a:t>Activate the 5%: </a:t>
            </a:r>
            <a:r>
              <a:rPr lang="en-GB" sz="1200" b="0" i="0">
                <a:solidFill>
                  <a:schemeClr val="tx1"/>
                </a:solidFill>
              </a:rPr>
              <a:t>sales and performance media for those ready to buy</a:t>
            </a:r>
          </a:p>
          <a:p>
            <a:pPr algn="l">
              <a:spcAft>
                <a:spcPts val="700"/>
              </a:spcAft>
            </a:pPr>
            <a:r>
              <a:rPr lang="en-GB" sz="1200" b="1" i="0">
                <a:solidFill>
                  <a:schemeClr val="tx1"/>
                </a:solidFill>
              </a:rPr>
              <a:t>Measure memory, </a:t>
            </a:r>
            <a:r>
              <a:rPr lang="en-GB" sz="1200" b="0" i="0">
                <a:solidFill>
                  <a:schemeClr val="tx1"/>
                </a:solidFill>
              </a:rPr>
              <a:t>not only leads: recall and links to entry points</a:t>
            </a:r>
          </a:p>
        </p:txBody>
      </p:sp>
      <p:sp>
        <p:nvSpPr>
          <p:cNvPr id="20" name="B2B callout"/>
          <p:cNvSpPr/>
          <p:nvPr/>
        </p:nvSpPr>
        <p:spPr>
          <a:xfrm>
            <a:off x="457200" y="39319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2B callout text"/>
          <p:cNvSpPr txBox="1"/>
          <p:nvPr/>
        </p:nvSpPr>
        <p:spPr>
          <a:xfrm>
            <a:off x="640080" y="393192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Same laws, new setting: </a:t>
            </a:r>
            <a:r>
              <a:rPr lang="en-GB" sz="1300" b="0" i="0">
                <a:solidFill>
                  <a:schemeClr val="bg1"/>
                </a:solidFill>
              </a:rPr>
              <a:t>B2B brands also grow through reach and mental availability.</a:t>
            </a:r>
          </a:p>
        </p:txBody>
      </p:sp>
      <p:sp>
        <p:nvSpPr>
          <p:cNvPr id="22" name="Source note"/>
          <p:cNvSpPr txBox="1"/>
          <p:nvPr/>
        </p:nvSpPr>
        <p:spPr>
          <a:xfrm>
            <a:off x="457200" y="452628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Dawes (2021) for the LinkedIn B2B Institute; Ehrenberg-Bass Institute, 'The 95:5 rule: why B2B growth starts long before the purchase'; Romaniuk, Dawes &amp; Faghidno (2021).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Category Entry Points: buying cues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CEP card 1"/>
          <p:cNvSpPr/>
          <p:nvPr/>
        </p:nvSpPr>
        <p:spPr>
          <a:xfrm>
            <a:off x="457200"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EP band 1"/>
          <p:cNvSpPr/>
          <p:nvPr/>
        </p:nvSpPr>
        <p:spPr>
          <a:xfrm>
            <a:off x="457200"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EP heading 1"/>
          <p:cNvSpPr txBox="1"/>
          <p:nvPr/>
        </p:nvSpPr>
        <p:spPr>
          <a:xfrm>
            <a:off x="548640" y="12801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Why</a:t>
            </a:r>
          </a:p>
        </p:txBody>
      </p:sp>
      <p:sp>
        <p:nvSpPr>
          <p:cNvPr id="9" name="CEP example 1"/>
          <p:cNvSpPr txBox="1"/>
          <p:nvPr/>
        </p:nvSpPr>
        <p:spPr>
          <a:xfrm>
            <a:off x="548640" y="17373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to wake up, to celebrate</a:t>
            </a:r>
          </a:p>
        </p:txBody>
      </p:sp>
      <p:sp>
        <p:nvSpPr>
          <p:cNvPr id="10" name="CEP card 2"/>
          <p:cNvSpPr/>
          <p:nvPr/>
        </p:nvSpPr>
        <p:spPr>
          <a:xfrm>
            <a:off x="2555748"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EP band 2"/>
          <p:cNvSpPr/>
          <p:nvPr/>
        </p:nvSpPr>
        <p:spPr>
          <a:xfrm>
            <a:off x="2555748"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EP heading 2"/>
          <p:cNvSpPr txBox="1"/>
          <p:nvPr/>
        </p:nvSpPr>
        <p:spPr>
          <a:xfrm>
            <a:off x="2647188" y="12801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When</a:t>
            </a:r>
          </a:p>
        </p:txBody>
      </p:sp>
      <p:sp>
        <p:nvSpPr>
          <p:cNvPr id="13" name="CEP example 2"/>
          <p:cNvSpPr txBox="1"/>
          <p:nvPr/>
        </p:nvSpPr>
        <p:spPr>
          <a:xfrm>
            <a:off x="2647188" y="17373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Monday morning, Christmas</a:t>
            </a:r>
          </a:p>
        </p:txBody>
      </p:sp>
      <p:sp>
        <p:nvSpPr>
          <p:cNvPr id="14" name="CEP card 3"/>
          <p:cNvSpPr/>
          <p:nvPr/>
        </p:nvSpPr>
        <p:spPr>
          <a:xfrm>
            <a:off x="4654296"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EP band 3"/>
          <p:cNvSpPr/>
          <p:nvPr/>
        </p:nvSpPr>
        <p:spPr>
          <a:xfrm>
            <a:off x="4654296"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P heading 3"/>
          <p:cNvSpPr txBox="1"/>
          <p:nvPr/>
        </p:nvSpPr>
        <p:spPr>
          <a:xfrm>
            <a:off x="4745736" y="12801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Where</a:t>
            </a:r>
          </a:p>
        </p:txBody>
      </p:sp>
      <p:sp>
        <p:nvSpPr>
          <p:cNvPr id="17" name="CEP example 3"/>
          <p:cNvSpPr txBox="1"/>
          <p:nvPr/>
        </p:nvSpPr>
        <p:spPr>
          <a:xfrm>
            <a:off x="4745736" y="17373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at work, at the ski hut</a:t>
            </a:r>
          </a:p>
        </p:txBody>
      </p:sp>
      <p:sp>
        <p:nvSpPr>
          <p:cNvPr id="18" name="CEP card 4"/>
          <p:cNvSpPr/>
          <p:nvPr/>
        </p:nvSpPr>
        <p:spPr>
          <a:xfrm>
            <a:off x="6752844" y="12801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P band 4"/>
          <p:cNvSpPr/>
          <p:nvPr/>
        </p:nvSpPr>
        <p:spPr>
          <a:xfrm>
            <a:off x="6752844" y="12801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EP heading 4"/>
          <p:cNvSpPr txBox="1"/>
          <p:nvPr/>
        </p:nvSpPr>
        <p:spPr>
          <a:xfrm>
            <a:off x="6844284" y="12801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With whom</a:t>
            </a:r>
          </a:p>
        </p:txBody>
      </p:sp>
      <p:sp>
        <p:nvSpPr>
          <p:cNvPr id="21" name="CEP example 4"/>
          <p:cNvSpPr txBox="1"/>
          <p:nvPr/>
        </p:nvSpPr>
        <p:spPr>
          <a:xfrm>
            <a:off x="6844284" y="17373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friends, kids, alone</a:t>
            </a:r>
          </a:p>
        </p:txBody>
      </p:sp>
      <p:sp>
        <p:nvSpPr>
          <p:cNvPr id="22" name="CEP card 5"/>
          <p:cNvSpPr/>
          <p:nvPr/>
        </p:nvSpPr>
        <p:spPr>
          <a:xfrm>
            <a:off x="457200"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P band 5"/>
          <p:cNvSpPr/>
          <p:nvPr/>
        </p:nvSpPr>
        <p:spPr>
          <a:xfrm>
            <a:off x="457200"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EP heading 5"/>
          <p:cNvSpPr txBox="1"/>
          <p:nvPr/>
        </p:nvSpPr>
        <p:spPr>
          <a:xfrm>
            <a:off x="548640" y="26517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With what</a:t>
            </a:r>
          </a:p>
        </p:txBody>
      </p:sp>
      <p:sp>
        <p:nvSpPr>
          <p:cNvPr id="25" name="CEP example 5"/>
          <p:cNvSpPr txBox="1"/>
          <p:nvPr/>
        </p:nvSpPr>
        <p:spPr>
          <a:xfrm>
            <a:off x="548640" y="31089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with breakfast, with pizza</a:t>
            </a:r>
          </a:p>
        </p:txBody>
      </p:sp>
      <p:sp>
        <p:nvSpPr>
          <p:cNvPr id="26" name="CEP card 6"/>
          <p:cNvSpPr/>
          <p:nvPr/>
        </p:nvSpPr>
        <p:spPr>
          <a:xfrm>
            <a:off x="2555748"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P band 6"/>
          <p:cNvSpPr/>
          <p:nvPr/>
        </p:nvSpPr>
        <p:spPr>
          <a:xfrm>
            <a:off x="2555748"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P heading 6"/>
          <p:cNvSpPr txBox="1"/>
          <p:nvPr/>
        </p:nvSpPr>
        <p:spPr>
          <a:xfrm>
            <a:off x="2647188" y="26517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While</a:t>
            </a:r>
          </a:p>
        </p:txBody>
      </p:sp>
      <p:sp>
        <p:nvSpPr>
          <p:cNvPr id="29" name="CEP example 6"/>
          <p:cNvSpPr txBox="1"/>
          <p:nvPr/>
        </p:nvSpPr>
        <p:spPr>
          <a:xfrm>
            <a:off x="2647188" y="31089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studying, driving</a:t>
            </a:r>
          </a:p>
        </p:txBody>
      </p:sp>
      <p:sp>
        <p:nvSpPr>
          <p:cNvPr id="30" name="CEP card 7"/>
          <p:cNvSpPr/>
          <p:nvPr/>
        </p:nvSpPr>
        <p:spPr>
          <a:xfrm>
            <a:off x="4654296" y="2651760"/>
            <a:ext cx="1933956" cy="12070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EP band 7"/>
          <p:cNvSpPr/>
          <p:nvPr/>
        </p:nvSpPr>
        <p:spPr>
          <a:xfrm>
            <a:off x="4654296" y="2651760"/>
            <a:ext cx="1933956"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P heading 7"/>
          <p:cNvSpPr txBox="1"/>
          <p:nvPr/>
        </p:nvSpPr>
        <p:spPr>
          <a:xfrm>
            <a:off x="4745736" y="2651760"/>
            <a:ext cx="1751076" cy="384048"/>
          </a:xfrm>
          <a:prstGeom prst="rect">
            <a:avLst/>
          </a:prstGeom>
          <a:noFill/>
        </p:spPr>
        <p:txBody>
          <a:bodyPr wrap="square" lIns="36576" rIns="36576" tIns="18288" bIns="18288" anchor="ctr">
            <a:spAutoFit/>
          </a:bodyPr>
          <a:lstStyle/>
          <a:p>
            <a:pPr algn="l">
              <a:spcAft>
                <a:spcPts val="0"/>
              </a:spcAft>
            </a:pPr>
            <a:r>
              <a:rPr lang="en-GB" sz="1400" b="1" i="0">
                <a:solidFill>
                  <a:schemeClr val="bg1"/>
                </a:solidFill>
                <a:latin typeface="+mj-lt"/>
              </a:rPr>
              <a:t>Feeling</a:t>
            </a:r>
          </a:p>
        </p:txBody>
      </p:sp>
      <p:sp>
        <p:nvSpPr>
          <p:cNvPr id="33" name="CEP example 7"/>
          <p:cNvSpPr txBox="1"/>
          <p:nvPr/>
        </p:nvSpPr>
        <p:spPr>
          <a:xfrm>
            <a:off x="4745736" y="3108960"/>
            <a:ext cx="1751076" cy="731520"/>
          </a:xfrm>
          <a:prstGeom prst="rect">
            <a:avLst/>
          </a:prstGeom>
          <a:noFill/>
        </p:spPr>
        <p:txBody>
          <a:bodyPr wrap="square" lIns="36576" rIns="36576" tIns="18288" bIns="18288" anchor="t">
            <a:spAutoFit/>
          </a:bodyPr>
          <a:lstStyle/>
          <a:p>
            <a:pPr algn="l">
              <a:spcAft>
                <a:spcPts val="600"/>
              </a:spcAft>
            </a:pPr>
            <a:r>
              <a:rPr lang="en-GB" sz="1200" b="0" i="0">
                <a:solidFill>
                  <a:schemeClr val="tx1"/>
                </a:solidFill>
              </a:rPr>
              <a:t>tired, festive, stressed</a:t>
            </a:r>
          </a:p>
        </p:txBody>
      </p:sp>
      <p:sp>
        <p:nvSpPr>
          <p:cNvPr id="34" name="CEP goal"/>
          <p:cNvSpPr/>
          <p:nvPr/>
        </p:nvSpPr>
        <p:spPr>
          <a:xfrm>
            <a:off x="6752844" y="2651760"/>
            <a:ext cx="1933956" cy="120700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EP goal text"/>
          <p:cNvSpPr txBox="1"/>
          <p:nvPr/>
        </p:nvSpPr>
        <p:spPr>
          <a:xfrm>
            <a:off x="6844284" y="2697480"/>
            <a:ext cx="1751076" cy="1115568"/>
          </a:xfrm>
          <a:prstGeom prst="rect">
            <a:avLst/>
          </a:prstGeom>
          <a:noFill/>
        </p:spPr>
        <p:txBody>
          <a:bodyPr wrap="square" lIns="36576" rIns="36576" tIns="18288" bIns="18288" anchor="ctr">
            <a:spAutoFit/>
          </a:bodyPr>
          <a:lstStyle/>
          <a:p>
            <a:pPr algn="l">
              <a:spcAft>
                <a:spcPts val="600"/>
              </a:spcAft>
            </a:pPr>
            <a:r>
              <a:rPr lang="en-GB" sz="1200" b="1" i="0">
                <a:solidFill>
                  <a:schemeClr val="bg1"/>
                </a:solidFill>
              </a:rPr>
              <a:t>Goal: link the brand to more entry points, for more buyers</a:t>
            </a:r>
          </a:p>
        </p:txBody>
      </p:sp>
      <p:sp>
        <p:nvSpPr>
          <p:cNvPr id="36" name="Source note"/>
          <p:cNvSpPr txBox="1"/>
          <p:nvPr/>
        </p:nvSpPr>
        <p:spPr>
          <a:xfrm>
            <a:off x="457200" y="406908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Examples for a coffee or energy drink brand. Romaniuk (2022); LinkedIn B2B Institute, Category Entry Points in a B2B World.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4 of 6 · recognised beats different</a:t>
            </a:r>
          </a:p>
        </p:txBody>
      </p:sp>
      <p:sp>
        <p:nvSpPr>
          <p:cNvPr id="3" name="Title 2"/>
          <p:cNvSpPr>
            <a:spLocks noGrp="1"/>
          </p:cNvSpPr>
          <p:nvPr>
            <p:ph type="ctrTitle"/>
          </p:nvPr>
        </p:nvSpPr>
        <p:spPr/>
        <p:txBody>
          <a:bodyPr/>
          <a:lstStyle/>
          <a:p>
            <a:r>
              <a:t>Brand distinctiveness</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Distinctiveness over differentiation</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ifferentiation body"/>
          <p:cNvSpPr/>
          <p:nvPr/>
        </p:nvSpPr>
        <p:spPr>
          <a:xfrm>
            <a:off x="457200" y="1280160"/>
            <a:ext cx="403250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fferentiation band"/>
          <p:cNvSpPr/>
          <p:nvPr/>
        </p:nvSpPr>
        <p:spPr>
          <a:xfrm>
            <a:off x="457200" y="1280160"/>
            <a:ext cx="4032504" cy="4572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fferentiation heading"/>
          <p:cNvSpPr txBox="1"/>
          <p:nvPr/>
        </p:nvSpPr>
        <p:spPr>
          <a:xfrm>
            <a:off x="566928"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Differentiation</a:t>
            </a:r>
          </a:p>
        </p:txBody>
      </p:sp>
      <p:pic>
        <p:nvPicPr>
          <p:cNvPr id="9" name="Icon LuScale" descr="LuScale-white.png"/>
          <p:cNvPicPr>
            <a:picLocks noChangeAspect="1"/>
          </p:cNvPicPr>
          <p:nvPr/>
        </p:nvPicPr>
        <p:blipFill>
          <a:blip r:embed="rId2"/>
          <a:stretch>
            <a:fillRect/>
          </a:stretch>
        </p:blipFill>
        <p:spPr>
          <a:xfrm>
            <a:off x="4059936" y="1344168"/>
            <a:ext cx="329184" cy="329184"/>
          </a:xfrm>
          <a:prstGeom prst="rect">
            <a:avLst/>
          </a:prstGeom>
        </p:spPr>
      </p:pic>
      <p:sp>
        <p:nvSpPr>
          <p:cNvPr id="10" name="Differentiation text"/>
          <p:cNvSpPr txBox="1"/>
          <p:nvPr/>
        </p:nvSpPr>
        <p:spPr>
          <a:xfrm>
            <a:off x="594360" y="1847088"/>
            <a:ext cx="3758184" cy="1444751"/>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Idea: </a:t>
            </a:r>
            <a:r>
              <a:rPr lang="en-GB" sz="1300" b="0" i="0">
                <a:solidFill>
                  <a:schemeClr val="tx1"/>
                </a:solidFill>
              </a:rPr>
              <a:t>a meaningful difference gives a reason to prefer the brand</a:t>
            </a:r>
          </a:p>
          <a:p>
            <a:pPr algn="l">
              <a:spcAft>
                <a:spcPts val="700"/>
              </a:spcAft>
            </a:pPr>
            <a:r>
              <a:rPr lang="en-GB" sz="1300" b="1" i="0">
                <a:solidFill>
                  <a:schemeClr val="tx1"/>
                </a:solidFill>
              </a:rPr>
              <a:t>Evidence: </a:t>
            </a:r>
            <a:r>
              <a:rPr lang="en-GB" sz="1300" b="0" i="0">
                <a:solidFill>
                  <a:schemeClr val="tx1"/>
                </a:solidFill>
              </a:rPr>
              <a:t>few buyers see competing brands as different; image profiles look alike once size is controlled</a:t>
            </a:r>
          </a:p>
        </p:txBody>
      </p:sp>
      <p:sp>
        <p:nvSpPr>
          <p:cNvPr id="11" name="Distinctiveness body"/>
          <p:cNvSpPr/>
          <p:nvPr/>
        </p:nvSpPr>
        <p:spPr>
          <a:xfrm>
            <a:off x="4654296" y="1280160"/>
            <a:ext cx="4032504"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istinctiveness band"/>
          <p:cNvSpPr/>
          <p:nvPr/>
        </p:nvSpPr>
        <p:spPr>
          <a:xfrm>
            <a:off x="4654296" y="1280160"/>
            <a:ext cx="4032504"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stinctiveness heading"/>
          <p:cNvSpPr txBox="1"/>
          <p:nvPr/>
        </p:nvSpPr>
        <p:spPr>
          <a:xfrm>
            <a:off x="4764024" y="1335024"/>
            <a:ext cx="3346704"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Distinctiveness</a:t>
            </a:r>
          </a:p>
        </p:txBody>
      </p:sp>
      <p:pic>
        <p:nvPicPr>
          <p:cNvPr id="14" name="Icon LuFingerprint" descr="LuFingerprint-white.png"/>
          <p:cNvPicPr>
            <a:picLocks noChangeAspect="1"/>
          </p:cNvPicPr>
          <p:nvPr/>
        </p:nvPicPr>
        <p:blipFill>
          <a:blip r:embed="rId3"/>
          <a:stretch>
            <a:fillRect/>
          </a:stretch>
        </p:blipFill>
        <p:spPr>
          <a:xfrm>
            <a:off x="8257031" y="1344168"/>
            <a:ext cx="329184" cy="329184"/>
          </a:xfrm>
          <a:prstGeom prst="rect">
            <a:avLst/>
          </a:prstGeom>
        </p:spPr>
      </p:pic>
      <p:sp>
        <p:nvSpPr>
          <p:cNvPr id="15" name="Distinctiveness text"/>
          <p:cNvSpPr txBox="1"/>
          <p:nvPr/>
        </p:nvSpPr>
        <p:spPr>
          <a:xfrm>
            <a:off x="4791456" y="1847088"/>
            <a:ext cx="3758184" cy="1444751"/>
          </a:xfrm>
          <a:prstGeom prst="rect">
            <a:avLst/>
          </a:prstGeom>
          <a:noFill/>
        </p:spPr>
        <p:txBody>
          <a:bodyPr wrap="square" lIns="36576" rIns="36576" tIns="18288" bIns="18288" anchor="t">
            <a:spAutoFit/>
          </a:bodyPr>
          <a:lstStyle/>
          <a:p>
            <a:pPr algn="l">
              <a:spcAft>
                <a:spcPts val="700"/>
              </a:spcAft>
            </a:pPr>
            <a:r>
              <a:rPr lang="en-GB" sz="1300" b="1" i="0">
                <a:solidFill>
                  <a:schemeClr val="tx1"/>
                </a:solidFill>
              </a:rPr>
              <a:t>Idea: </a:t>
            </a:r>
            <a:r>
              <a:rPr lang="en-GB" sz="1300" b="0" i="0">
                <a:solidFill>
                  <a:schemeClr val="tx1"/>
                </a:solidFill>
              </a:rPr>
              <a:t>branding that lets buyers identify the brand without reading the name</a:t>
            </a:r>
          </a:p>
          <a:p>
            <a:pPr algn="l">
              <a:spcAft>
                <a:spcPts val="700"/>
              </a:spcAft>
            </a:pPr>
            <a:r>
              <a:rPr lang="en-GB" sz="1300" b="1" i="0">
                <a:solidFill>
                  <a:schemeClr val="tx1"/>
                </a:solidFill>
              </a:rPr>
              <a:t>Assets: </a:t>
            </a:r>
            <a:r>
              <a:rPr lang="en-GB" sz="1300" b="0" i="0">
                <a:solidFill>
                  <a:schemeClr val="tx1"/>
                </a:solidFill>
              </a:rPr>
              <a:t>colours, logos, shapes, characters, slogans, sonic logos, fonts</a:t>
            </a:r>
          </a:p>
        </p:txBody>
      </p:sp>
      <p:sp>
        <p:nvSpPr>
          <p:cNvPr id="16" name="Source note"/>
          <p:cNvSpPr txBox="1"/>
          <p:nvPr/>
        </p:nvSpPr>
        <p:spPr>
          <a:xfrm>
            <a:off x="457200" y="429768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Ehrenberg, Barnard &amp; Scriven (1997); Romaniuk, Sharp &amp; Ehrenberg (2007); Romaniuk &amp; Gaillard (2007); Romaniuk &amp; Ehrenberg (2012).</a:t>
            </a:r>
          </a:p>
        </p:txBody>
      </p:sp>
      <p:sp>
        <p:nvSpPr>
          <p:cNvPr id="17" name="Branding job"/>
          <p:cNvSpPr/>
          <p:nvPr/>
        </p:nvSpPr>
        <p:spPr>
          <a:xfrm>
            <a:off x="457200" y="35661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randing job text"/>
          <p:cNvSpPr txBox="1"/>
          <p:nvPr/>
        </p:nvSpPr>
        <p:spPr>
          <a:xfrm>
            <a:off x="640080" y="356616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Branding's first job: </a:t>
            </a:r>
            <a:r>
              <a:rPr lang="en-GB" sz="1300" b="0" i="0">
                <a:solidFill>
                  <a:schemeClr val="bg1"/>
                </a:solidFill>
              </a:rPr>
              <a:t>be noticed and recognised; being liked comes later.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asset grid: fame × uniqueness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Quadrant Avoid solo use"/>
          <p:cNvSpPr/>
          <p:nvPr/>
        </p:nvSpPr>
        <p:spPr>
          <a:xfrm>
            <a:off x="1920240" y="123444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uadrant heading Avoid solo use"/>
          <p:cNvSpPr txBox="1"/>
          <p:nvPr/>
        </p:nvSpPr>
        <p:spPr>
          <a:xfrm>
            <a:off x="2057400" y="132588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tx2"/>
                </a:solidFill>
                <a:latin typeface="+mj-lt"/>
              </a:rPr>
              <a:t>Avoid solo use</a:t>
            </a:r>
          </a:p>
        </p:txBody>
      </p:sp>
      <p:sp>
        <p:nvSpPr>
          <p:cNvPr id="8" name="Quadrant text Avoid solo use"/>
          <p:cNvSpPr txBox="1"/>
          <p:nvPr/>
        </p:nvSpPr>
        <p:spPr>
          <a:xfrm>
            <a:off x="2057400" y="178308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Famous but shared with competitors: always pair with the name</a:t>
            </a:r>
          </a:p>
        </p:txBody>
      </p:sp>
      <p:sp>
        <p:nvSpPr>
          <p:cNvPr id="9" name="Quadrant Use or lose"/>
          <p:cNvSpPr/>
          <p:nvPr/>
        </p:nvSpPr>
        <p:spPr>
          <a:xfrm>
            <a:off x="4892040" y="1234440"/>
            <a:ext cx="288036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uadrant heading Use or lose"/>
          <p:cNvSpPr txBox="1"/>
          <p:nvPr/>
        </p:nvSpPr>
        <p:spPr>
          <a:xfrm>
            <a:off x="5029200" y="132588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bg1"/>
                </a:solidFill>
                <a:latin typeface="+mj-lt"/>
              </a:rPr>
              <a:t>Use or lose</a:t>
            </a:r>
          </a:p>
        </p:txBody>
      </p:sp>
      <p:sp>
        <p:nvSpPr>
          <p:cNvPr id="11" name="Quadrant text Use or lose"/>
          <p:cNvSpPr txBox="1"/>
          <p:nvPr/>
        </p:nvSpPr>
        <p:spPr>
          <a:xfrm>
            <a:off x="5029200" y="178308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bg1"/>
                </a:solidFill>
              </a:rPr>
              <a:t>Famous and unique: use consistently, protect it</a:t>
            </a:r>
          </a:p>
        </p:txBody>
      </p:sp>
      <p:sp>
        <p:nvSpPr>
          <p:cNvPr id="12" name="Quadrant Ignore or test"/>
          <p:cNvSpPr/>
          <p:nvPr/>
        </p:nvSpPr>
        <p:spPr>
          <a:xfrm>
            <a:off x="1920240" y="2926080"/>
            <a:ext cx="28803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Quadrant heading Ignore or test"/>
          <p:cNvSpPr txBox="1"/>
          <p:nvPr/>
        </p:nvSpPr>
        <p:spPr>
          <a:xfrm>
            <a:off x="2057400" y="301752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tx2"/>
                </a:solidFill>
                <a:latin typeface="+mj-lt"/>
              </a:rPr>
              <a:t>Ignore or test</a:t>
            </a:r>
          </a:p>
        </p:txBody>
      </p:sp>
      <p:sp>
        <p:nvSpPr>
          <p:cNvPr id="14" name="Quadrant text Ignore or test"/>
          <p:cNvSpPr txBox="1"/>
          <p:nvPr/>
        </p:nvSpPr>
        <p:spPr>
          <a:xfrm>
            <a:off x="2057400" y="347472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tx1"/>
                </a:solidFill>
              </a:rPr>
              <a:t>Neither famous nor unique: drop or test further</a:t>
            </a:r>
          </a:p>
        </p:txBody>
      </p:sp>
      <p:sp>
        <p:nvSpPr>
          <p:cNvPr id="15" name="Quadrant Investment potential"/>
          <p:cNvSpPr/>
          <p:nvPr/>
        </p:nvSpPr>
        <p:spPr>
          <a:xfrm>
            <a:off x="4892040" y="2926080"/>
            <a:ext cx="2880360" cy="1600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Quadrant heading Investment potential"/>
          <p:cNvSpPr txBox="1"/>
          <p:nvPr/>
        </p:nvSpPr>
        <p:spPr>
          <a:xfrm>
            <a:off x="5029200" y="3017520"/>
            <a:ext cx="2606040" cy="411480"/>
          </a:xfrm>
          <a:prstGeom prst="rect">
            <a:avLst/>
          </a:prstGeom>
          <a:noFill/>
        </p:spPr>
        <p:txBody>
          <a:bodyPr wrap="square" lIns="36576" rIns="36576" tIns="18288" bIns="18288" anchor="t">
            <a:spAutoFit/>
          </a:bodyPr>
          <a:lstStyle/>
          <a:p>
            <a:pPr algn="l">
              <a:spcAft>
                <a:spcPts val="600"/>
              </a:spcAft>
            </a:pPr>
            <a:r>
              <a:rPr lang="en-GB" sz="1500" b="1" i="0">
                <a:solidFill>
                  <a:schemeClr val="bg1"/>
                </a:solidFill>
                <a:latin typeface="+mj-lt"/>
              </a:rPr>
              <a:t>Investment potential</a:t>
            </a:r>
          </a:p>
        </p:txBody>
      </p:sp>
      <p:sp>
        <p:nvSpPr>
          <p:cNvPr id="17" name="Quadrant text Investment potential"/>
          <p:cNvSpPr txBox="1"/>
          <p:nvPr/>
        </p:nvSpPr>
        <p:spPr>
          <a:xfrm>
            <a:off x="5029200" y="3474720"/>
            <a:ext cx="2606040" cy="960120"/>
          </a:xfrm>
          <a:prstGeom prst="rect">
            <a:avLst/>
          </a:prstGeom>
          <a:noFill/>
        </p:spPr>
        <p:txBody>
          <a:bodyPr wrap="square" lIns="36576" rIns="36576" tIns="18288" bIns="18288" anchor="t">
            <a:spAutoFit/>
          </a:bodyPr>
          <a:lstStyle/>
          <a:p>
            <a:pPr algn="l">
              <a:spcAft>
                <a:spcPts val="600"/>
              </a:spcAft>
            </a:pPr>
            <a:r>
              <a:rPr lang="en-GB" sz="1300" b="0" i="0">
                <a:solidFill>
                  <a:schemeClr val="bg1"/>
                </a:solidFill>
              </a:rPr>
              <a:t>Unique, not yet famous: build with consistent use</a:t>
            </a:r>
          </a:p>
        </p:txBody>
      </p:sp>
      <p:sp>
        <p:nvSpPr>
          <p:cNvPr id="18" name="Axis fame"/>
          <p:cNvSpPr txBox="1"/>
          <p:nvPr/>
        </p:nvSpPr>
        <p:spPr>
          <a:xfrm>
            <a:off x="457200" y="2423160"/>
            <a:ext cx="1371600" cy="914400"/>
          </a:xfrm>
          <a:prstGeom prst="rect">
            <a:avLst/>
          </a:prstGeom>
          <a:noFill/>
        </p:spPr>
        <p:txBody>
          <a:bodyPr wrap="square" lIns="36576" rIns="36576" tIns="18288" bIns="18288" anchor="ctr">
            <a:spAutoFit/>
          </a:bodyPr>
          <a:lstStyle/>
          <a:p>
            <a:pPr algn="r">
              <a:spcAft>
                <a:spcPts val="600"/>
              </a:spcAft>
            </a:pPr>
            <a:r>
              <a:rPr lang="en-GB" sz="1100" b="0" i="0">
                <a:solidFill>
                  <a:srgbClr val="595959"/>
                </a:solidFill>
              </a:rPr>
              <a:t>Fame: % linking the asset to the brand</a:t>
            </a:r>
          </a:p>
        </p:txBody>
      </p:sp>
      <p:sp>
        <p:nvSpPr>
          <p:cNvPr id="19" name="Axis uniqueness"/>
          <p:cNvSpPr txBox="1"/>
          <p:nvPr/>
        </p:nvSpPr>
        <p:spPr>
          <a:xfrm>
            <a:off x="1920240" y="4572000"/>
            <a:ext cx="5852160" cy="274320"/>
          </a:xfrm>
          <a:prstGeom prst="rect">
            <a:avLst/>
          </a:prstGeom>
          <a:noFill/>
        </p:spPr>
        <p:txBody>
          <a:bodyPr wrap="square" lIns="36576" rIns="36576" tIns="18288" bIns="18288" anchor="t">
            <a:spAutoFit/>
          </a:bodyPr>
          <a:lstStyle/>
          <a:p>
            <a:pPr algn="ctr">
              <a:spcAft>
                <a:spcPts val="600"/>
              </a:spcAft>
            </a:pPr>
            <a:r>
              <a:rPr lang="en-GB" sz="1100" b="0" i="0">
                <a:solidFill>
                  <a:srgbClr val="595959"/>
                </a:solidFill>
              </a:rPr>
              <a:t>Uniqueness: % linking it to this brand only →</a:t>
            </a:r>
          </a:p>
        </p:txBody>
      </p:sp>
      <p:sp>
        <p:nvSpPr>
          <p:cNvPr id="20" name="Axis high"/>
          <p:cNvSpPr txBox="1"/>
          <p:nvPr/>
        </p:nvSpPr>
        <p:spPr>
          <a:xfrm>
            <a:off x="457200" y="1234440"/>
            <a:ext cx="1371600" cy="274320"/>
          </a:xfrm>
          <a:prstGeom prst="rect">
            <a:avLst/>
          </a:prstGeom>
          <a:noFill/>
        </p:spPr>
        <p:txBody>
          <a:bodyPr wrap="square" lIns="36576" rIns="36576" tIns="18288" bIns="18288" anchor="t">
            <a:spAutoFit/>
          </a:bodyPr>
          <a:lstStyle/>
          <a:p>
            <a:pPr algn="r">
              <a:spcAft>
                <a:spcPts val="600"/>
              </a:spcAft>
            </a:pPr>
            <a:r>
              <a:rPr lang="en-GB" sz="1100" b="0" i="0">
                <a:solidFill>
                  <a:srgbClr val="595959"/>
                </a:solidFill>
              </a:rPr>
              <a:t>high</a:t>
            </a:r>
          </a:p>
        </p:txBody>
      </p:sp>
      <p:sp>
        <p:nvSpPr>
          <p:cNvPr id="21" name="Axis low"/>
          <p:cNvSpPr txBox="1"/>
          <p:nvPr/>
        </p:nvSpPr>
        <p:spPr>
          <a:xfrm>
            <a:off x="457200" y="4251960"/>
            <a:ext cx="1371600" cy="274320"/>
          </a:xfrm>
          <a:prstGeom prst="rect">
            <a:avLst/>
          </a:prstGeom>
          <a:noFill/>
        </p:spPr>
        <p:txBody>
          <a:bodyPr wrap="square" lIns="36576" rIns="36576" tIns="18288" bIns="18288" anchor="t">
            <a:spAutoFit/>
          </a:bodyPr>
          <a:lstStyle/>
          <a:p>
            <a:pPr algn="r">
              <a:spcAft>
                <a:spcPts val="600"/>
              </a:spcAft>
            </a:pPr>
            <a:r>
              <a:rPr lang="en-GB" sz="1100" b="0" i="0">
                <a:solidFill>
                  <a:srgbClr val="595959"/>
                </a:solidFill>
              </a:rPr>
              <a:t>low</a:t>
            </a:r>
          </a:p>
        </p:txBody>
      </p:sp>
      <p:sp>
        <p:nvSpPr>
          <p:cNvPr id="22" name="Source note"/>
          <p:cNvSpPr txBox="1"/>
          <p:nvPr/>
        </p:nvSpPr>
        <p:spPr>
          <a:xfrm>
            <a:off x="457200" y="489204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Romaniuk (2018) Building Distinctive Brand Assets; Brus, Hartnett &amp; Faulkner (2025) Journal of Brand Management.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When brands drop famous assets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Case Tropicana, 2009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Tropicana, 2009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Tropicana, 2009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Tropicana, 2009</a:t>
            </a:r>
          </a:p>
        </p:txBody>
      </p:sp>
      <p:sp>
        <p:nvSpPr>
          <p:cNvPr id="9" name="Case Tropicana, 2009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New carton dropped the orange-with-straw image. Unit sales fell 20% from 1 Jan to 22 Feb 2009; the old pack was back by the end of February.</a:t>
            </a:r>
          </a:p>
          <a:p>
            <a:pPr algn="l">
              <a:spcAft>
                <a:spcPts val="700"/>
              </a:spcAft>
            </a:pPr>
            <a:r>
              <a:rPr lang="en-GB" sz="1200" b="1" i="0">
                <a:solidFill>
                  <a:schemeClr val="tx2"/>
                </a:solidFill>
              </a:rPr>
              <a:t>A famous, unique asset was lost</a:t>
            </a:r>
          </a:p>
          <a:p>
            <a:pPr algn="l">
              <a:spcAft>
                <a:spcPts val="700"/>
              </a:spcAft>
            </a:pPr>
            <a:r>
              <a:rPr lang="en-GB" sz="1050" b="0" i="0">
                <a:solidFill>
                  <a:srgbClr val="595959"/>
                </a:solidFill>
              </a:rPr>
              <a:t>Ad Age via Bloomberg (2 Apr 2009)</a:t>
            </a:r>
          </a:p>
        </p:txBody>
      </p:sp>
      <p:sp>
        <p:nvSpPr>
          <p:cNvPr id="10" name="Case Gap, 2010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Gap, 2010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Gap, 2010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Gap, 2010</a:t>
            </a:r>
          </a:p>
        </p:txBody>
      </p:sp>
      <p:sp>
        <p:nvSpPr>
          <p:cNvPr id="13" name="Case Gap, 2010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On 6 October a new logo replaced the blue box. After a customer outcry, Gap returned to the old logo on 12 October.</a:t>
            </a:r>
          </a:p>
          <a:p>
            <a:pPr algn="l">
              <a:spcAft>
                <a:spcPts val="700"/>
              </a:spcAft>
            </a:pPr>
            <a:r>
              <a:rPr lang="en-GB" sz="1200" b="1" i="0">
                <a:solidFill>
                  <a:schemeClr val="tx2"/>
                </a:solidFill>
              </a:rPr>
              <a:t>Fame takes years; loss takes days</a:t>
            </a:r>
          </a:p>
          <a:p>
            <a:pPr algn="l">
              <a:spcAft>
                <a:spcPts val="700"/>
              </a:spcAft>
            </a:pPr>
            <a:r>
              <a:rPr lang="en-GB" sz="1050" b="0" i="0">
                <a:solidFill>
                  <a:srgbClr val="595959"/>
                </a:solidFill>
              </a:rPr>
              <a:t>CNN Money (12 Oct 2010)</a:t>
            </a:r>
          </a:p>
        </p:txBody>
      </p:sp>
      <p:sp>
        <p:nvSpPr>
          <p:cNvPr id="14" name="Case Jaguar, 2024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Jaguar, 2024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Jaguar, 2024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Jaguar, 2024</a:t>
            </a:r>
          </a:p>
        </p:txBody>
      </p:sp>
      <p:sp>
        <p:nvSpPr>
          <p:cNvPr id="17" name="Case Jaguar, 2024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'Copy Nothing' relaunch with a new type mark and restyled leaper. The launch film showed no cars and drew heavy criticism.</a:t>
            </a:r>
          </a:p>
          <a:p>
            <a:pPr algn="l">
              <a:spcAft>
                <a:spcPts val="700"/>
              </a:spcAft>
            </a:pPr>
            <a:r>
              <a:rPr lang="en-GB" sz="1200" b="1" i="0">
                <a:solidFill>
                  <a:schemeClr val="tx2"/>
                </a:solidFill>
              </a:rPr>
              <a:t>Open case: the sales effect is still unclear</a:t>
            </a:r>
          </a:p>
          <a:p>
            <a:pPr algn="l">
              <a:spcAft>
                <a:spcPts val="700"/>
              </a:spcAft>
            </a:pPr>
            <a:r>
              <a:rPr lang="en-GB" sz="1050" b="0" i="0">
                <a:solidFill>
                  <a:srgbClr val="595959"/>
                </a:solidFill>
              </a:rPr>
              <a:t>AP via Boston.com (20 Nov 2024)</a:t>
            </a:r>
          </a:p>
        </p:txBody>
      </p:sp>
      <p:sp>
        <p:nvSpPr>
          <p:cNvPr id="18" name="Cases lost callout"/>
          <p:cNvSpPr/>
          <p:nvPr/>
        </p:nvSpPr>
        <p:spPr>
          <a:xfrm>
            <a:off x="457200" y="40233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ses lost callout text"/>
          <p:cNvSpPr txBox="1"/>
          <p:nvPr/>
        </p:nvSpPr>
        <p:spPr>
          <a:xfrm>
            <a:off x="640080" y="402336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Before you change an asset: </a:t>
            </a:r>
            <a:r>
              <a:rPr lang="en-GB" sz="1300" b="0" i="0">
                <a:solidFill>
                  <a:schemeClr val="bg1"/>
                </a:solidFill>
              </a:rPr>
              <a:t>test its fame and uniqueness with buyers.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When brands build on famous assets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Case Mastercard, 2019 body"/>
          <p:cNvSpPr/>
          <p:nvPr/>
        </p:nvSpPr>
        <p:spPr>
          <a:xfrm>
            <a:off x="457200"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se Mastercard, 2019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se Mastercard, 2019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Mastercard, 2019</a:t>
            </a:r>
          </a:p>
        </p:txBody>
      </p:sp>
      <p:sp>
        <p:nvSpPr>
          <p:cNvPr id="9" name="Case Mastercard, 2019 text"/>
          <p:cNvSpPr txBox="1"/>
          <p:nvPr/>
        </p:nvSpPr>
        <p:spPr>
          <a:xfrm>
            <a:off x="594360"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Dropped its name from the logo: over 80% of people recognised the circles without the word, said CMO Raja Rajamannar. A sonic logo followed.</a:t>
            </a:r>
          </a:p>
          <a:p>
            <a:pPr algn="l">
              <a:spcAft>
                <a:spcPts val="700"/>
              </a:spcAft>
            </a:pPr>
            <a:r>
              <a:rPr lang="en-GB" sz="1200" b="1" i="0">
                <a:solidFill>
                  <a:schemeClr val="tx2"/>
                </a:solidFill>
              </a:rPr>
              <a:t>Use or lose, in practice</a:t>
            </a:r>
          </a:p>
          <a:p>
            <a:pPr algn="l">
              <a:spcAft>
                <a:spcPts val="700"/>
              </a:spcAft>
            </a:pPr>
            <a:r>
              <a:rPr lang="en-GB" sz="1050" b="0" i="0">
                <a:solidFill>
                  <a:srgbClr val="595959"/>
                </a:solidFill>
              </a:rPr>
              <a:t>Mastercard via Finextra and Dezeen (Jan 2019)</a:t>
            </a:r>
          </a:p>
        </p:txBody>
      </p:sp>
      <p:sp>
        <p:nvSpPr>
          <p:cNvPr id="10" name="Case Cadbury purple body"/>
          <p:cNvSpPr/>
          <p:nvPr/>
        </p:nvSpPr>
        <p:spPr>
          <a:xfrm>
            <a:off x="3255264"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ase Cadbury purple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se Cadbury purple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Cadbury purple</a:t>
            </a:r>
          </a:p>
        </p:txBody>
      </p:sp>
      <p:sp>
        <p:nvSpPr>
          <p:cNvPr id="13" name="Case Cadbury purple text"/>
          <p:cNvSpPr txBox="1"/>
          <p:nvPr/>
        </p:nvSpPr>
        <p:spPr>
          <a:xfrm>
            <a:off x="3392424"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Dairy Milk's purple (Pantone 2685C) is famous, yet in 2013 the UK Court of Appeal refused it as a trademark after Nestlé's challenge.</a:t>
            </a:r>
          </a:p>
          <a:p>
            <a:pPr algn="l">
              <a:spcAft>
                <a:spcPts val="700"/>
              </a:spcAft>
            </a:pPr>
            <a:r>
              <a:rPr lang="en-GB" sz="1200" b="1" i="0">
                <a:solidFill>
                  <a:schemeClr val="tx2"/>
                </a:solidFill>
              </a:rPr>
              <a:t>Distinctive, but hard to own legally</a:t>
            </a:r>
          </a:p>
          <a:p>
            <a:pPr algn="l">
              <a:spcAft>
                <a:spcPts val="700"/>
              </a:spcAft>
            </a:pPr>
            <a:r>
              <a:rPr lang="en-GB" sz="1050" b="0" i="0">
                <a:solidFill>
                  <a:srgbClr val="595959"/>
                </a:solidFill>
              </a:rPr>
              <a:t>Nestlé v Cadbury [2013] EWCA Civ 1174</a:t>
            </a:r>
          </a:p>
        </p:txBody>
      </p:sp>
      <p:sp>
        <p:nvSpPr>
          <p:cNvPr id="14" name="Case Burger King, 2021 body"/>
          <p:cNvSpPr/>
          <p:nvPr/>
        </p:nvSpPr>
        <p:spPr>
          <a:xfrm>
            <a:off x="6053328" y="1234440"/>
            <a:ext cx="2633472"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se Burger King, 2021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se Burger King, 2021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Burger King, 2021</a:t>
            </a:r>
          </a:p>
        </p:txBody>
      </p:sp>
      <p:sp>
        <p:nvSpPr>
          <p:cNvPr id="17" name="Case Burger King, 2021 text"/>
          <p:cNvSpPr txBox="1"/>
          <p:nvPr/>
        </p:nvSpPr>
        <p:spPr>
          <a:xfrm>
            <a:off x="6190488" y="1801368"/>
            <a:ext cx="2359152" cy="194767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First rebrand in over 20 years: back to a logo close to its 1969 to 1999 design, and a custom font, designed by Jones Knowles Ritchie.</a:t>
            </a:r>
          </a:p>
          <a:p>
            <a:pPr algn="l">
              <a:spcAft>
                <a:spcPts val="700"/>
              </a:spcAft>
            </a:pPr>
            <a:r>
              <a:rPr lang="en-GB" sz="1200" b="1" i="0">
                <a:solidFill>
                  <a:schemeClr val="tx2"/>
                </a:solidFill>
              </a:rPr>
              <a:t>Heritage assets can be revived</a:t>
            </a:r>
          </a:p>
          <a:p>
            <a:pPr algn="l">
              <a:spcAft>
                <a:spcPts val="700"/>
              </a:spcAft>
            </a:pPr>
            <a:r>
              <a:rPr lang="en-GB" sz="1050" b="0" i="0">
                <a:solidFill>
                  <a:srgbClr val="595959"/>
                </a:solidFill>
              </a:rPr>
              <a:t>Campaign (2021)</a:t>
            </a:r>
          </a:p>
        </p:txBody>
      </p:sp>
      <p:sp>
        <p:nvSpPr>
          <p:cNvPr id="18" name="Cases kept callout"/>
          <p:cNvSpPr/>
          <p:nvPr/>
        </p:nvSpPr>
        <p:spPr>
          <a:xfrm>
            <a:off x="457200" y="402336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ses kept callout text"/>
          <p:cNvSpPr txBox="1"/>
          <p:nvPr/>
        </p:nvSpPr>
        <p:spPr>
          <a:xfrm>
            <a:off x="640080" y="4023360"/>
            <a:ext cx="7863840" cy="50292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Pattern: </a:t>
            </a:r>
            <a:r>
              <a:rPr lang="en-GB" sz="1300" b="0" i="0">
                <a:solidFill>
                  <a:schemeClr val="bg1"/>
                </a:solidFill>
              </a:rPr>
              <a:t>consistent use makes an asset famous; protect it legally where you can.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5 of 6 · where the laws bend</a:t>
            </a:r>
          </a:p>
        </p:txBody>
      </p:sp>
      <p:sp>
        <p:nvSpPr>
          <p:cNvPr id="3" name="Title 2"/>
          <p:cNvSpPr>
            <a:spLocks noGrp="1"/>
          </p:cNvSpPr>
          <p:nvPr>
            <p:ph type="ctrTitle"/>
          </p:nvPr>
        </p:nvSpPr>
        <p:spPr/>
        <p:txBody>
          <a:bodyPr/>
          <a:lstStyle/>
          <a:p>
            <a:r>
              <a:t>Critiques and boundary conditions</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Where the laws bend</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Deviation 1"/>
          <p:cNvSpPr/>
          <p:nvPr/>
        </p:nvSpPr>
        <p:spPr>
          <a:xfrm>
            <a:off x="457200"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viation bar 1"/>
          <p:cNvSpPr/>
          <p:nvPr/>
        </p:nvSpPr>
        <p:spPr>
          <a:xfrm>
            <a:off x="457200"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viation text 1"/>
          <p:cNvSpPr txBox="1"/>
          <p:nvPr/>
        </p:nvSpPr>
        <p:spPr>
          <a:xfrm>
            <a:off x="640080" y="1280160"/>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Big brands</a:t>
            </a:r>
          </a:p>
          <a:p>
            <a:pPr algn="l">
              <a:spcAft>
                <a:spcPts val="200"/>
              </a:spcAft>
            </a:pPr>
            <a:r>
              <a:rPr lang="en-GB" sz="1200" b="0" i="0">
                <a:solidFill>
                  <a:schemeClr val="tx1"/>
                </a:solidFill>
              </a:rPr>
              <a:t>Market leaders often show more loyalty than the Dirichlet predicts</a:t>
            </a:r>
          </a:p>
          <a:p>
            <a:pPr algn="l">
              <a:spcAft>
                <a:spcPts val="200"/>
              </a:spcAft>
            </a:pPr>
            <a:r>
              <a:rPr lang="en-GB" sz="1050" b="0" i="0">
                <a:solidFill>
                  <a:srgbClr val="595959"/>
                </a:solidFill>
              </a:rPr>
              <a:t>Fader &amp; Schmittlein (1993)</a:t>
            </a:r>
          </a:p>
        </p:txBody>
      </p:sp>
      <p:sp>
        <p:nvSpPr>
          <p:cNvPr id="9" name="Deviation 2"/>
          <p:cNvSpPr/>
          <p:nvPr/>
        </p:nvSpPr>
        <p:spPr>
          <a:xfrm>
            <a:off x="4654296" y="1234440"/>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viation bar 2"/>
          <p:cNvSpPr/>
          <p:nvPr/>
        </p:nvSpPr>
        <p:spPr>
          <a:xfrm>
            <a:off x="4654296" y="1344168"/>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viation text 2"/>
          <p:cNvSpPr txBox="1"/>
          <p:nvPr/>
        </p:nvSpPr>
        <p:spPr>
          <a:xfrm>
            <a:off x="4837176" y="1280160"/>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Small brands</a:t>
            </a:r>
          </a:p>
          <a:p>
            <a:pPr algn="l">
              <a:spcAft>
                <a:spcPts val="200"/>
              </a:spcAft>
            </a:pPr>
            <a:r>
              <a:rPr lang="en-GB" sz="1200" b="0" i="0">
                <a:solidFill>
                  <a:schemeClr val="tx1"/>
                </a:solidFill>
              </a:rPr>
              <a:t>About 60% of small UK FMCG brands sit over 10% below expected repeat rates</a:t>
            </a:r>
          </a:p>
          <a:p>
            <a:pPr algn="l">
              <a:spcAft>
                <a:spcPts val="200"/>
              </a:spcAft>
            </a:pPr>
            <a:r>
              <a:rPr lang="en-GB" sz="1050" b="0" i="0">
                <a:solidFill>
                  <a:srgbClr val="595959"/>
                </a:solidFill>
              </a:rPr>
              <a:t>Franke, Bennett &amp; Graham (2018)</a:t>
            </a:r>
          </a:p>
        </p:txBody>
      </p:sp>
      <p:sp>
        <p:nvSpPr>
          <p:cNvPr id="12" name="Deviation 3"/>
          <p:cNvSpPr/>
          <p:nvPr/>
        </p:nvSpPr>
        <p:spPr>
          <a:xfrm>
            <a:off x="457200"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eviation bar 3"/>
          <p:cNvSpPr/>
          <p:nvPr/>
        </p:nvSpPr>
        <p:spPr>
          <a:xfrm>
            <a:off x="457200"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viation text 3"/>
          <p:cNvSpPr txBox="1"/>
          <p:nvPr/>
        </p:nvSpPr>
        <p:spPr>
          <a:xfrm>
            <a:off x="640080" y="2487168"/>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Online buying</a:t>
            </a:r>
          </a:p>
          <a:p>
            <a:pPr algn="l">
              <a:spcAft>
                <a:spcPts val="200"/>
              </a:spcAft>
            </a:pPr>
            <a:r>
              <a:rPr lang="en-GB" sz="1200" b="0" i="0">
                <a:solidFill>
                  <a:schemeClr val="tx1"/>
                </a:solidFill>
              </a:rPr>
              <a:t>Large brands gain, small brands lose loyalty relative to the norm</a:t>
            </a:r>
          </a:p>
          <a:p>
            <a:pPr algn="l">
              <a:spcAft>
                <a:spcPts val="200"/>
              </a:spcAft>
            </a:pPr>
            <a:r>
              <a:rPr lang="en-GB" sz="1050" b="0" i="0">
                <a:solidFill>
                  <a:srgbClr val="595959"/>
                </a:solidFill>
              </a:rPr>
              <a:t>Danaher, Wilson &amp; Davis (2003)</a:t>
            </a:r>
          </a:p>
        </p:txBody>
      </p:sp>
      <p:sp>
        <p:nvSpPr>
          <p:cNvPr id="15" name="Deviation 4"/>
          <p:cNvSpPr/>
          <p:nvPr/>
        </p:nvSpPr>
        <p:spPr>
          <a:xfrm>
            <a:off x="4654296" y="2441448"/>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eviation bar 4"/>
          <p:cNvSpPr/>
          <p:nvPr/>
        </p:nvSpPr>
        <p:spPr>
          <a:xfrm>
            <a:off x="4654296" y="2551176"/>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eviation text 4"/>
          <p:cNvSpPr txBox="1"/>
          <p:nvPr/>
        </p:nvSpPr>
        <p:spPr>
          <a:xfrm>
            <a:off x="4837176" y="2487168"/>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Store brands</a:t>
            </a:r>
          </a:p>
          <a:p>
            <a:pPr algn="l">
              <a:spcAft>
                <a:spcPts val="200"/>
              </a:spcAft>
            </a:pPr>
            <a:r>
              <a:rPr lang="en-GB" sz="1200" b="0" i="0">
                <a:solidFill>
                  <a:schemeClr val="tx1"/>
                </a:solidFill>
              </a:rPr>
              <a:t>Private labels show relatively higher behavioural loyalty</a:t>
            </a:r>
          </a:p>
          <a:p>
            <a:pPr algn="l">
              <a:spcAft>
                <a:spcPts val="200"/>
              </a:spcAft>
            </a:pPr>
            <a:r>
              <a:rPr lang="en-GB" sz="1050" b="0" i="0">
                <a:solidFill>
                  <a:srgbClr val="595959"/>
                </a:solidFill>
              </a:rPr>
              <a:t>Dawes (2022)</a:t>
            </a:r>
          </a:p>
        </p:txBody>
      </p:sp>
      <p:sp>
        <p:nvSpPr>
          <p:cNvPr id="18" name="Deviation 5"/>
          <p:cNvSpPr/>
          <p:nvPr/>
        </p:nvSpPr>
        <p:spPr>
          <a:xfrm>
            <a:off x="457200"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eviation bar 5"/>
          <p:cNvSpPr/>
          <p:nvPr/>
        </p:nvSpPr>
        <p:spPr>
          <a:xfrm>
            <a:off x="457200"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viation text 5"/>
          <p:cNvSpPr txBox="1"/>
          <p:nvPr/>
        </p:nvSpPr>
        <p:spPr>
          <a:xfrm>
            <a:off x="640080" y="3694176"/>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Negative DJ</a:t>
            </a:r>
          </a:p>
          <a:p>
            <a:pPr algn="l">
              <a:spcAft>
                <a:spcPts val="200"/>
              </a:spcAft>
            </a:pPr>
            <a:r>
              <a:rPr lang="en-GB" sz="1200" b="0" i="0">
                <a:solidFill>
                  <a:schemeClr val="tx1"/>
                </a:solidFill>
              </a:rPr>
              <a:t>Big brands also attract more anti-brand activity online</a:t>
            </a:r>
          </a:p>
          <a:p>
            <a:pPr algn="l">
              <a:spcAft>
                <a:spcPts val="200"/>
              </a:spcAft>
            </a:pPr>
            <a:r>
              <a:rPr lang="en-GB" sz="1050" b="0" i="0">
                <a:solidFill>
                  <a:srgbClr val="595959"/>
                </a:solidFill>
              </a:rPr>
              <a:t>Kucuk (2007)</a:t>
            </a:r>
          </a:p>
        </p:txBody>
      </p:sp>
      <p:sp>
        <p:nvSpPr>
          <p:cNvPr id="21" name="Deviation 6"/>
          <p:cNvSpPr/>
          <p:nvPr/>
        </p:nvSpPr>
        <p:spPr>
          <a:xfrm>
            <a:off x="4654296" y="3648456"/>
            <a:ext cx="4032504" cy="10789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eviation bar 6"/>
          <p:cNvSpPr/>
          <p:nvPr/>
        </p:nvSpPr>
        <p:spPr>
          <a:xfrm>
            <a:off x="4654296" y="3758184"/>
            <a:ext cx="64008" cy="8595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Deviation text 6"/>
          <p:cNvSpPr txBox="1"/>
          <p:nvPr/>
        </p:nvSpPr>
        <p:spPr>
          <a:xfrm>
            <a:off x="4837176" y="3694176"/>
            <a:ext cx="3758184" cy="1005840"/>
          </a:xfrm>
          <a:prstGeom prst="rect">
            <a:avLst/>
          </a:prstGeom>
          <a:noFill/>
        </p:spPr>
        <p:txBody>
          <a:bodyPr wrap="square" lIns="36576" rIns="36576" tIns="18288" bIns="18288" anchor="t">
            <a:spAutoFit/>
          </a:bodyPr>
          <a:lstStyle/>
          <a:p>
            <a:pPr algn="l">
              <a:spcAft>
                <a:spcPts val="200"/>
              </a:spcAft>
            </a:pPr>
            <a:r>
              <a:rPr lang="en-GB" sz="1400" b="1" i="0">
                <a:solidFill>
                  <a:schemeClr val="tx2"/>
                </a:solidFill>
                <a:latin typeface="+mj-lt"/>
              </a:rPr>
              <a:t>Attitudes</a:t>
            </a:r>
          </a:p>
          <a:p>
            <a:pPr algn="l">
              <a:spcAft>
                <a:spcPts val="200"/>
              </a:spcAft>
            </a:pPr>
            <a:r>
              <a:rPr lang="en-GB" sz="1200" b="0" i="0">
                <a:solidFill>
                  <a:schemeClr val="tx1"/>
                </a:solidFill>
              </a:rPr>
              <a:t>Attitudinal loyalty predicts later behaviour change</a:t>
            </a:r>
          </a:p>
          <a:p>
            <a:pPr algn="l">
              <a:spcAft>
                <a:spcPts val="200"/>
              </a:spcAft>
            </a:pPr>
            <a:r>
              <a:rPr lang="en-GB" sz="1050" b="0" i="0">
                <a:solidFill>
                  <a:srgbClr val="595959"/>
                </a:solidFill>
              </a:rPr>
              <a:t>Baldinger &amp; Rubinson (1996)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The debate: Sharp, Binet &amp; Field, Ritson</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graphicFrame>
        <p:nvGraphicFramePr>
          <p:cNvPr id="6" name="Debate table"/>
          <p:cNvGraphicFramePr>
            <a:graphicFrameLocks noGrp="1"/>
          </p:cNvGraphicFramePr>
          <p:nvPr/>
        </p:nvGraphicFramePr>
        <p:xfrm>
          <a:off x="457200" y="1280160"/>
          <a:ext cx="8229600" cy="2743200"/>
        </p:xfrm>
        <a:graphic>
          <a:graphicData uri="http://schemas.openxmlformats.org/drawingml/2006/table">
            <a:tbl>
              <a:tblPr firstRow="1" bandRow="1">
                <a:tableStyleId>{5C22544A-7EE6-4342-B048-85BDC9FD1C3A}</a:tableStyleId>
              </a:tblPr>
              <a:tblGrid>
                <a:gridCol w="1280160"/>
                <a:gridCol w="3474720"/>
                <a:gridCol w="3474720"/>
              </a:tblGrid>
              <a:tr h="548640">
                <a:tc>
                  <a:txBody>
                    <a:bodyPr/>
                    <a:lstStyle/>
                    <a:p>
                      <a:r>
                        <a:rPr lang="en-GB" sz="1300" b="1">
                          <a:solidFill>
                            <a:schemeClr val="bg1"/>
                          </a:solidFill>
                        </a:rPr>
                        <a:t/>
                      </a:r>
                    </a:p>
                  </a:txBody>
                  <a:tcPr anchor="ctr">
                    <a:solidFill>
                      <a:schemeClr val="accent1"/>
                    </a:solidFill>
                  </a:tcPr>
                </a:tc>
                <a:tc>
                  <a:txBody>
                    <a:bodyPr/>
                    <a:lstStyle/>
                    <a:p>
                      <a:r>
                        <a:rPr lang="en-GB" sz="1300" b="1">
                          <a:solidFill>
                            <a:schemeClr val="bg1"/>
                          </a:solidFill>
                        </a:rPr>
                        <a:t>Broad agreement</a:t>
                      </a:r>
                    </a:p>
                  </a:txBody>
                  <a:tcPr anchor="ctr">
                    <a:solidFill>
                      <a:schemeClr val="accent1"/>
                    </a:solidFill>
                  </a:tcPr>
                </a:tc>
                <a:tc>
                  <a:txBody>
                    <a:bodyPr/>
                    <a:lstStyle/>
                    <a:p>
                      <a:r>
                        <a:rPr lang="en-GB" sz="1300" b="1">
                          <a:solidFill>
                            <a:schemeClr val="bg1"/>
                          </a:solidFill>
                        </a:rPr>
                        <a:t>Live disagreement</a:t>
                      </a:r>
                    </a:p>
                  </a:txBody>
                  <a:tcPr anchor="ctr">
                    <a:solidFill>
                      <a:schemeClr val="accent1"/>
                    </a:solidFill>
                  </a:tcPr>
                </a:tc>
              </a:tr>
              <a:tr h="548640">
                <a:tc>
                  <a:txBody>
                    <a:bodyPr/>
                    <a:lstStyle/>
                    <a:p>
                      <a:r>
                        <a:rPr lang="en-GB" sz="1300" b="1">
                          <a:solidFill>
                            <a:schemeClr val="bg1"/>
                          </a:solidFill>
                        </a:rPr>
                        <a:t>Reach</a:t>
                      </a:r>
                    </a:p>
                  </a:txBody>
                  <a:tcPr anchor="ctr">
                    <a:solidFill>
                      <a:schemeClr val="tx2"/>
                    </a:solidFill>
                  </a:tcPr>
                </a:tc>
                <a:tc>
                  <a:txBody>
                    <a:bodyPr/>
                    <a:lstStyle/>
                    <a:p>
                      <a:r>
                        <a:rPr lang="en-GB" sz="1300">
                          <a:solidFill>
                            <a:schemeClr val="tx1"/>
                          </a:solidFill>
                        </a:rPr>
                        <a:t>Reach broadly, stay on air</a:t>
                      </a:r>
                    </a:p>
                  </a:txBody>
                  <a:tcPr anchor="ctr">
                    <a:solidFill>
                      <a:schemeClr val="bg2"/>
                    </a:solidFill>
                  </a:tcPr>
                </a:tc>
                <a:tc>
                  <a:txBody>
                    <a:bodyPr/>
                    <a:lstStyle/>
                    <a:p>
                      <a:r>
                        <a:rPr lang="en-GB" sz="1300">
                          <a:solidFill>
                            <a:schemeClr val="tx1"/>
                          </a:solidFill>
                        </a:rPr>
                        <a:t>How much to target and segment</a:t>
                      </a:r>
                    </a:p>
                  </a:txBody>
                  <a:tcPr anchor="ctr">
                    <a:solidFill>
                      <a:schemeClr val="bg2"/>
                    </a:solidFill>
                  </a:tcPr>
                </a:tc>
              </a:tr>
              <a:tr h="548640">
                <a:tc>
                  <a:txBody>
                    <a:bodyPr/>
                    <a:lstStyle/>
                    <a:p>
                      <a:r>
                        <a:rPr lang="en-GB" sz="1300" b="1">
                          <a:solidFill>
                            <a:schemeClr val="bg1"/>
                          </a:solidFill>
                        </a:rPr>
                        <a:t>Brand</a:t>
                      </a:r>
                    </a:p>
                  </a:txBody>
                  <a:tcPr anchor="ctr">
                    <a:solidFill>
                      <a:schemeClr val="tx2"/>
                    </a:solidFill>
                  </a:tcPr>
                </a:tc>
                <a:tc>
                  <a:txBody>
                    <a:bodyPr/>
                    <a:lstStyle/>
                    <a:p>
                      <a:r>
                        <a:rPr lang="en-GB" sz="1300">
                          <a:solidFill>
                            <a:schemeClr val="tx1"/>
                          </a:solidFill>
                        </a:rPr>
                        <a:t>Brand building and assets pay off</a:t>
                      </a:r>
                    </a:p>
                  </a:txBody>
                  <a:tcPr anchor="ctr">
                    <a:solidFill>
                      <a:schemeClr val="bg2"/>
                    </a:solidFill>
                  </a:tcPr>
                </a:tc>
                <a:tc>
                  <a:txBody>
                    <a:bodyPr/>
                    <a:lstStyle/>
                    <a:p>
                      <a:r>
                        <a:rPr lang="en-GB" sz="1300">
                          <a:solidFill>
                            <a:schemeClr val="tx1"/>
                          </a:solidFill>
                        </a:rPr>
                        <a:t>Role of emotion and positioning</a:t>
                      </a:r>
                    </a:p>
                  </a:txBody>
                  <a:tcPr anchor="ctr">
                    <a:solidFill>
                      <a:schemeClr val="bg2"/>
                    </a:solidFill>
                  </a:tcPr>
                </a:tc>
              </a:tr>
              <a:tr h="548640">
                <a:tc>
                  <a:txBody>
                    <a:bodyPr/>
                    <a:lstStyle/>
                    <a:p>
                      <a:r>
                        <a:rPr lang="en-GB" sz="1300" b="1">
                          <a:solidFill>
                            <a:schemeClr val="bg1"/>
                          </a:solidFill>
                        </a:rPr>
                        <a:t>Loyalty</a:t>
                      </a:r>
                    </a:p>
                  </a:txBody>
                  <a:tcPr anchor="ctr">
                    <a:solidFill>
                      <a:schemeClr val="tx2"/>
                    </a:solidFill>
                  </a:tcPr>
                </a:tc>
                <a:tc>
                  <a:txBody>
                    <a:bodyPr/>
                    <a:lstStyle/>
                    <a:p>
                      <a:r>
                        <a:rPr lang="en-GB" sz="1300">
                          <a:solidFill>
                            <a:schemeClr val="tx1"/>
                          </a:solidFill>
                        </a:rPr>
                        <a:t>Acquisition drives growth</a:t>
                      </a:r>
                    </a:p>
                  </a:txBody>
                  <a:tcPr anchor="ctr">
                    <a:solidFill>
                      <a:schemeClr val="bg2"/>
                    </a:solidFill>
                  </a:tcPr>
                </a:tc>
                <a:tc>
                  <a:txBody>
                    <a:bodyPr/>
                    <a:lstStyle/>
                    <a:p>
                      <a:r>
                        <a:rPr lang="en-GB" sz="1300">
                          <a:solidFill>
                            <a:schemeClr val="tx1"/>
                          </a:solidFill>
                        </a:rPr>
                        <a:t>Whether loyalty is a lever at all</a:t>
                      </a:r>
                    </a:p>
                  </a:txBody>
                  <a:tcPr anchor="ctr">
                    <a:solidFill>
                      <a:schemeClr val="bg2"/>
                    </a:solidFill>
                  </a:tcPr>
                </a:tc>
              </a:tr>
              <a:tr h="548640">
                <a:tc>
                  <a:txBody>
                    <a:bodyPr/>
                    <a:lstStyle/>
                    <a:p>
                      <a:r>
                        <a:rPr lang="en-GB" sz="1300" b="1">
                          <a:solidFill>
                            <a:schemeClr val="bg1"/>
                          </a:solidFill>
                        </a:rPr>
                        <a:t>Rules</a:t>
                      </a:r>
                    </a:p>
                  </a:txBody>
                  <a:tcPr anchor="ctr">
                    <a:solidFill>
                      <a:schemeClr val="tx2"/>
                    </a:solidFill>
                  </a:tcPr>
                </a:tc>
                <a:tc>
                  <a:txBody>
                    <a:bodyPr/>
                    <a:lstStyle/>
                    <a:p>
                      <a:r>
                        <a:rPr lang="en-GB" sz="1300">
                          <a:solidFill>
                            <a:schemeClr val="tx1"/>
                          </a:solidFill>
                        </a:rPr>
                        <a:t>Evidence beats opinion</a:t>
                      </a:r>
                    </a:p>
                  </a:txBody>
                  <a:tcPr anchor="ctr">
                    <a:solidFill>
                      <a:schemeClr val="bg2"/>
                    </a:solidFill>
                  </a:tcPr>
                </a:tc>
                <a:tc>
                  <a:txBody>
                    <a:bodyPr/>
                    <a:lstStyle/>
                    <a:p>
                      <a:r>
                        <a:rPr lang="en-GB" sz="1300">
                          <a:solidFill>
                            <a:schemeClr val="tx1"/>
                          </a:solidFill>
                        </a:rPr>
                        <a:t>Status of 60:40 and share of voice</a:t>
                      </a:r>
                    </a:p>
                  </a:txBody>
                  <a:tcPr anchor="ctr">
                    <a:solidFill>
                      <a:schemeClr val="bg2"/>
                    </a:solidFill>
                  </a:tcPr>
                </a:tc>
              </a:tr>
            </a:tbl>
          </a:graphicData>
        </a:graphic>
      </p:graphicFrame>
      <p:sp>
        <p:nvSpPr>
          <p:cNvPr id="7" name="Debate motion"/>
          <p:cNvSpPr/>
          <p:nvPr/>
        </p:nvSpPr>
        <p:spPr>
          <a:xfrm>
            <a:off x="457200" y="420624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bate motion text"/>
          <p:cNvSpPr txBox="1"/>
          <p:nvPr/>
        </p:nvSpPr>
        <p:spPr>
          <a:xfrm>
            <a:off x="640080" y="4206240"/>
            <a:ext cx="7863840" cy="50292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Debate motion (10 minutes): 'Targeting is a waste of money.'</a:t>
            </a:r>
          </a:p>
        </p:txBody>
      </p:sp>
      <p:sp>
        <p:nvSpPr>
          <p:cNvPr id="9" name="Source note"/>
          <p:cNvSpPr txBox="1"/>
          <p:nvPr/>
        </p:nvSpPr>
        <p:spPr>
          <a:xfrm>
            <a:off x="457200" y="480060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Binet &amp; Field (2013) The Long and the Short of It; Sharp in WARC (2020); Marketing Week (2026) on the Sharp and Ritson session at Cannes.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Part 6 of 6 · data lab and asset audit</a:t>
            </a:r>
          </a:p>
        </p:txBody>
      </p:sp>
      <p:sp>
        <p:nvSpPr>
          <p:cNvPr id="3" name="Title 2"/>
          <p:cNvSpPr>
            <a:spLocks noGrp="1"/>
          </p:cNvSpPr>
          <p:nvPr>
            <p:ph type="ctrTitle"/>
          </p:nvPr>
        </p:nvSpPr>
        <p:spPr/>
        <p:txBody>
          <a:bodyPr/>
          <a:lstStyle/>
          <a:p>
            <a:r>
              <a:t>Apply it</a:t>
            </a:r>
          </a:p>
        </p:txBody>
      </p:sp>
      <p:sp>
        <p:nvSpPr>
          <p:cNvPr id="4" name="Footer Placeholder 3"/>
          <p:cNvSpPr>
            <a:spLocks noGrp="1"/>
          </p:cNvSpPr>
          <p:nvPr>
            <p:ph type="ftr" idx="14" sz="quarter"/>
          </p:nvPr>
        </p:nvSpPr>
        <p:spPr/>
        <p:txBody>
          <a:bodyPr/>
          <a:p>
            <a:r>
              <a:rPr lang="en-GB"/>
              <a:t>How Brands Grow | Marketing Science</a:t>
            </a:r>
          </a:p>
        </p:txBody>
      </p:sp>
      <p:sp>
        <p:nvSpPr>
          <p:cNvPr id="5" name="Slide Number Placeholder 4"/>
          <p:cNvSpPr>
            <a:spLocks noGrp="1"/>
          </p:cNvSpPr>
          <p:nvPr>
            <p:ph type="sldNum" idx="15" sz="quarter"/>
          </p:nvPr>
        </p:nvSpPr>
        <p:spPr/>
        <p:txBody>
          <a:bodyPr/>
          <a:p>
            <a:r>
              <a:rPr lang="en-GB"/>
              <a:t>PAGE </a:t>
            </a:r>
            <a:fld id="{B6F15528-21DE-4FAA-801E-634DDDAF4B2B}" type="slidenum">
              <a:rPr lang="en-GB"/>
              <a:t>‹#›</a:t>
            </a:fld>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Lab: Double Jeopardy in real data</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Step 1"/>
          <p:cNvSpPr/>
          <p:nvPr/>
        </p:nvSpPr>
        <p:spPr>
          <a:xfrm>
            <a:off x="457200" y="1280160"/>
            <a:ext cx="1733702" cy="502920"/>
          </a:xfrm>
          <a:prstGeom prst="homePlat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Data</a:t>
            </a:r>
          </a:p>
        </p:txBody>
      </p:sp>
      <p:sp>
        <p:nvSpPr>
          <p:cNvPr id="7" name="Step 2"/>
          <p:cNvSpPr/>
          <p:nvPr/>
        </p:nvSpPr>
        <p:spPr>
          <a:xfrm>
            <a:off x="2081174"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Prepare</a:t>
            </a:r>
          </a:p>
        </p:txBody>
      </p:sp>
      <p:sp>
        <p:nvSpPr>
          <p:cNvPr id="8" name="Step 3"/>
          <p:cNvSpPr/>
          <p:nvPr/>
        </p:nvSpPr>
        <p:spPr>
          <a:xfrm>
            <a:off x="3705148"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Compute</a:t>
            </a:r>
          </a:p>
        </p:txBody>
      </p:sp>
      <p:sp>
        <p:nvSpPr>
          <p:cNvPr id="9" name="Step 4"/>
          <p:cNvSpPr/>
          <p:nvPr/>
        </p:nvSpPr>
        <p:spPr>
          <a:xfrm>
            <a:off x="5329123"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Model</a:t>
            </a:r>
          </a:p>
        </p:txBody>
      </p:sp>
      <p:sp>
        <p:nvSpPr>
          <p:cNvPr id="10" name="Step 5"/>
          <p:cNvSpPr/>
          <p:nvPr/>
        </p:nvSpPr>
        <p:spPr>
          <a:xfrm>
            <a:off x="6953097" y="1280160"/>
            <a:ext cx="1733702" cy="502920"/>
          </a:xfrm>
          <a:prstGeom prst="chevron">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a:lstStyle/>
          <a:p>
            <a:pPr algn="ctr"/>
            <a:r>
              <a:rPr lang="en-GB" sz="1300" b="1">
                <a:solidFill>
                  <a:schemeClr val="bg1"/>
                </a:solidFill>
              </a:rPr>
              <a:t>Explain</a:t>
            </a:r>
          </a:p>
        </p:txBody>
      </p:sp>
      <p:sp>
        <p:nvSpPr>
          <p:cNvPr id="11" name="Lab data body"/>
          <p:cNvSpPr/>
          <p:nvPr/>
        </p:nvSpPr>
        <p:spPr>
          <a:xfrm>
            <a:off x="457200" y="1965960"/>
            <a:ext cx="329184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 data band"/>
          <p:cNvSpPr/>
          <p:nvPr/>
        </p:nvSpPr>
        <p:spPr>
          <a:xfrm>
            <a:off x="457200" y="1965960"/>
            <a:ext cx="329184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 data heading"/>
          <p:cNvSpPr txBox="1"/>
          <p:nvPr/>
        </p:nvSpPr>
        <p:spPr>
          <a:xfrm>
            <a:off x="566928" y="2020824"/>
            <a:ext cx="260604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Data</a:t>
            </a:r>
          </a:p>
        </p:txBody>
      </p:sp>
      <p:pic>
        <p:nvPicPr>
          <p:cNvPr id="14" name="Icon LuDatabase" descr="LuDatabase-white.png"/>
          <p:cNvPicPr>
            <a:picLocks noChangeAspect="1"/>
          </p:cNvPicPr>
          <p:nvPr/>
        </p:nvPicPr>
        <p:blipFill>
          <a:blip r:embed="rId2"/>
          <a:stretch>
            <a:fillRect/>
          </a:stretch>
        </p:blipFill>
        <p:spPr>
          <a:xfrm>
            <a:off x="3319272" y="2029967"/>
            <a:ext cx="329184" cy="329184"/>
          </a:xfrm>
          <a:prstGeom prst="rect">
            <a:avLst/>
          </a:prstGeom>
        </p:spPr>
      </p:pic>
      <p:sp>
        <p:nvSpPr>
          <p:cNvPr id="15" name="Lab data text"/>
          <p:cNvSpPr txBox="1"/>
          <p:nvPr/>
        </p:nvSpPr>
        <p:spPr>
          <a:xfrm>
            <a:off x="594360" y="2532888"/>
            <a:ext cx="3017520" cy="1581912"/>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dunnhumby 'The Complete Journey'</a:t>
            </a:r>
          </a:p>
          <a:p>
            <a:pPr algn="l">
              <a:spcAft>
                <a:spcPts val="700"/>
              </a:spcAft>
            </a:pPr>
            <a:r>
              <a:rPr lang="en-GB" sz="1200" b="0" i="0">
                <a:solidFill>
                  <a:schemeClr val="tx1"/>
                </a:solidFill>
              </a:rPr>
              <a:t>2 years, 2,500 households</a:t>
            </a:r>
          </a:p>
          <a:p>
            <a:pPr algn="l">
              <a:spcAft>
                <a:spcPts val="700"/>
              </a:spcAft>
            </a:pPr>
            <a:r>
              <a:rPr lang="en-GB" sz="1200" b="0" i="0">
                <a:solidFill>
                  <a:schemeClr val="tx1"/>
                </a:solidFill>
              </a:rPr>
              <a:t>Free download (check licence)</a:t>
            </a:r>
          </a:p>
        </p:txBody>
      </p:sp>
      <p:sp>
        <p:nvSpPr>
          <p:cNvPr id="16" name="Task number 1"/>
          <p:cNvSpPr/>
          <p:nvPr/>
        </p:nvSpPr>
        <p:spPr>
          <a:xfrm>
            <a:off x="3977639" y="2011679"/>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1</a:t>
            </a:r>
          </a:p>
        </p:txBody>
      </p:sp>
      <p:sp>
        <p:nvSpPr>
          <p:cNvPr id="17" name="Task 1"/>
          <p:cNvSpPr txBox="1"/>
          <p:nvPr/>
        </p:nvSpPr>
        <p:spPr>
          <a:xfrm>
            <a:off x="4434840" y="1965960"/>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Pick a category, aggregate purchases by brand</a:t>
            </a:r>
          </a:p>
        </p:txBody>
      </p:sp>
      <p:sp>
        <p:nvSpPr>
          <p:cNvPr id="18" name="Task number 2"/>
          <p:cNvSpPr/>
          <p:nvPr/>
        </p:nvSpPr>
        <p:spPr>
          <a:xfrm>
            <a:off x="3977639" y="25786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2</a:t>
            </a:r>
          </a:p>
        </p:txBody>
      </p:sp>
      <p:sp>
        <p:nvSpPr>
          <p:cNvPr id="19" name="Task 2"/>
          <p:cNvSpPr txBox="1"/>
          <p:nvPr/>
        </p:nvSpPr>
        <p:spPr>
          <a:xfrm>
            <a:off x="4434840" y="2532888"/>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Compute penetration, purchases per buyer, share of requirements</a:t>
            </a:r>
          </a:p>
        </p:txBody>
      </p:sp>
      <p:sp>
        <p:nvSpPr>
          <p:cNvPr id="20" name="Task number 3"/>
          <p:cNvSpPr/>
          <p:nvPr/>
        </p:nvSpPr>
        <p:spPr>
          <a:xfrm>
            <a:off x="3977639" y="3145535"/>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3</a:t>
            </a:r>
          </a:p>
        </p:txBody>
      </p:sp>
      <p:sp>
        <p:nvSpPr>
          <p:cNvPr id="21" name="Task 3"/>
          <p:cNvSpPr txBox="1"/>
          <p:nvPr/>
        </p:nvSpPr>
        <p:spPr>
          <a:xfrm>
            <a:off x="4434840" y="3099815"/>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Fit the Dirichlet with the R package NBDdirichlet</a:t>
            </a:r>
          </a:p>
        </p:txBody>
      </p:sp>
      <p:sp>
        <p:nvSpPr>
          <p:cNvPr id="22" name="Task number 4"/>
          <p:cNvSpPr/>
          <p:nvPr/>
        </p:nvSpPr>
        <p:spPr>
          <a:xfrm>
            <a:off x="3977639" y="37124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4</a:t>
            </a:r>
          </a:p>
        </p:txBody>
      </p:sp>
      <p:sp>
        <p:nvSpPr>
          <p:cNvPr id="23" name="Task 4"/>
          <p:cNvSpPr txBox="1"/>
          <p:nvPr/>
        </p:nvSpPr>
        <p:spPr>
          <a:xfrm>
            <a:off x="4434840" y="3666744"/>
            <a:ext cx="425196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Plot the Double Jeopardy line; explain the biggest deviation</a:t>
            </a:r>
          </a:p>
        </p:txBody>
      </p:sp>
      <p:sp>
        <p:nvSpPr>
          <p:cNvPr id="24" name="Deliverable"/>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liverable text"/>
          <p:cNvSpPr txBox="1"/>
          <p:nvPr/>
        </p:nvSpPr>
        <p:spPr>
          <a:xfrm>
            <a:off x="640080" y="4343400"/>
            <a:ext cx="7863840" cy="45720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Deliverable: one chart, one observed-versus-predicted table, half a page of interpretation.</a:t>
            </a:r>
          </a:p>
        </p:txBody>
      </p:sp>
      <p:sp>
        <p:nvSpPr>
          <p:cNvPr id="26" name="Source note"/>
          <p:cNvSpPr txBox="1"/>
          <p:nvPr/>
        </p:nvSpPr>
        <p:spPr>
          <a:xfrm>
            <a:off x="457200" y="484632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Data: dunnhumby.com/source-files. Software: NBDdirichlet (CRAN). Method: Ehrenberg, Uncles &amp; Goodhardt (2004).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Exercise: audit an Austrian brand</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Audit number 1"/>
          <p:cNvSpPr/>
          <p:nvPr/>
        </p:nvSpPr>
        <p:spPr>
          <a:xfrm>
            <a:off x="457200" y="133502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1</a:t>
            </a:r>
          </a:p>
        </p:txBody>
      </p:sp>
      <p:sp>
        <p:nvSpPr>
          <p:cNvPr id="7" name="Audit step 1"/>
          <p:cNvSpPr txBox="1"/>
          <p:nvPr/>
        </p:nvSpPr>
        <p:spPr>
          <a:xfrm>
            <a:off x="914400" y="1280160"/>
            <a:ext cx="420624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Choose a brand: Manner, Red Bull, Almdudler or Spar</a:t>
            </a:r>
          </a:p>
        </p:txBody>
      </p:sp>
      <p:sp>
        <p:nvSpPr>
          <p:cNvPr id="8" name="Audit number 2"/>
          <p:cNvSpPr/>
          <p:nvPr/>
        </p:nvSpPr>
        <p:spPr>
          <a:xfrm>
            <a:off x="457200" y="188366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2</a:t>
            </a:r>
          </a:p>
        </p:txBody>
      </p:sp>
      <p:sp>
        <p:nvSpPr>
          <p:cNvPr id="9" name="Audit step 2"/>
          <p:cNvSpPr txBox="1"/>
          <p:nvPr/>
        </p:nvSpPr>
        <p:spPr>
          <a:xfrm>
            <a:off x="914400" y="1828800"/>
            <a:ext cx="420624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List 6 to 8 candidate assets: colour, logo, shape, slogan, sound</a:t>
            </a:r>
          </a:p>
        </p:txBody>
      </p:sp>
      <p:sp>
        <p:nvSpPr>
          <p:cNvPr id="10" name="Audit number 3"/>
          <p:cNvSpPr/>
          <p:nvPr/>
        </p:nvSpPr>
        <p:spPr>
          <a:xfrm>
            <a:off x="457200" y="243230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3</a:t>
            </a:r>
          </a:p>
        </p:txBody>
      </p:sp>
      <p:sp>
        <p:nvSpPr>
          <p:cNvPr id="11" name="Audit step 3"/>
          <p:cNvSpPr txBox="1"/>
          <p:nvPr/>
        </p:nvSpPr>
        <p:spPr>
          <a:xfrm>
            <a:off x="914400" y="2377439"/>
            <a:ext cx="420624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Run a reverse-recognition survey with 30+ category buyers</a:t>
            </a:r>
          </a:p>
        </p:txBody>
      </p:sp>
      <p:sp>
        <p:nvSpPr>
          <p:cNvPr id="12" name="Audit number 4"/>
          <p:cNvSpPr/>
          <p:nvPr/>
        </p:nvSpPr>
        <p:spPr>
          <a:xfrm>
            <a:off x="457200" y="298094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4</a:t>
            </a:r>
          </a:p>
        </p:txBody>
      </p:sp>
      <p:sp>
        <p:nvSpPr>
          <p:cNvPr id="13" name="Audit step 4"/>
          <p:cNvSpPr txBox="1"/>
          <p:nvPr/>
        </p:nvSpPr>
        <p:spPr>
          <a:xfrm>
            <a:off x="914400" y="2926079"/>
            <a:ext cx="420624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Compute fame and uniqueness; plot each asset on the grid</a:t>
            </a:r>
          </a:p>
        </p:txBody>
      </p:sp>
      <p:sp>
        <p:nvSpPr>
          <p:cNvPr id="14" name="Audit number 5"/>
          <p:cNvSpPr/>
          <p:nvPr/>
        </p:nvSpPr>
        <p:spPr>
          <a:xfrm>
            <a:off x="457200" y="352958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200" b="1">
                <a:solidFill>
                  <a:schemeClr val="bg1"/>
                </a:solidFill>
                <a:latin typeface="+mj-lt"/>
              </a:rPr>
              <a:t>5</a:t>
            </a:r>
          </a:p>
        </p:txBody>
      </p:sp>
      <p:sp>
        <p:nvSpPr>
          <p:cNvPr id="15" name="Audit step 5"/>
          <p:cNvSpPr txBox="1"/>
          <p:nvPr/>
        </p:nvSpPr>
        <p:spPr>
          <a:xfrm>
            <a:off x="914400" y="3474720"/>
            <a:ext cx="4206240" cy="502920"/>
          </a:xfrm>
          <a:prstGeom prst="rect">
            <a:avLst/>
          </a:prstGeom>
          <a:noFill/>
        </p:spPr>
        <p:txBody>
          <a:bodyPr wrap="square" lIns="36576" rIns="36576" tIns="18288" bIns="18288" anchor="ctr">
            <a:spAutoFit/>
          </a:bodyPr>
          <a:lstStyle/>
          <a:p>
            <a:pPr algn="l">
              <a:spcAft>
                <a:spcPts val="0"/>
              </a:spcAft>
            </a:pPr>
            <a:r>
              <a:rPr lang="en-GB" sz="1200" b="0" i="0">
                <a:solidFill>
                  <a:schemeClr val="tx1"/>
                </a:solidFill>
              </a:rPr>
              <a:t>Recommend: use, invest, pair with the name, or drop</a:t>
            </a:r>
          </a:p>
        </p:txBody>
      </p:sp>
      <p:sp>
        <p:nvSpPr>
          <p:cNvPr id="16" name="Discussion body"/>
          <p:cNvSpPr/>
          <p:nvPr/>
        </p:nvSpPr>
        <p:spPr>
          <a:xfrm>
            <a:off x="5257800" y="1280160"/>
            <a:ext cx="342900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scussion band"/>
          <p:cNvSpPr/>
          <p:nvPr/>
        </p:nvSpPr>
        <p:spPr>
          <a:xfrm>
            <a:off x="5257800" y="1280160"/>
            <a:ext cx="342900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scussion heading"/>
          <p:cNvSpPr txBox="1"/>
          <p:nvPr/>
        </p:nvSpPr>
        <p:spPr>
          <a:xfrm>
            <a:off x="5367528" y="1335024"/>
            <a:ext cx="2743200"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Discuss</a:t>
            </a:r>
          </a:p>
        </p:txBody>
      </p:sp>
      <p:pic>
        <p:nvPicPr>
          <p:cNvPr id="19" name="Icon LuMessagesSquare" descr="LuMessagesSquare-white.png"/>
          <p:cNvPicPr>
            <a:picLocks noChangeAspect="1"/>
          </p:cNvPicPr>
          <p:nvPr/>
        </p:nvPicPr>
        <p:blipFill>
          <a:blip r:embed="rId2"/>
          <a:stretch>
            <a:fillRect/>
          </a:stretch>
        </p:blipFill>
        <p:spPr>
          <a:xfrm>
            <a:off x="8257031" y="1344168"/>
            <a:ext cx="329184" cy="329184"/>
          </a:xfrm>
          <a:prstGeom prst="rect">
            <a:avLst/>
          </a:prstGeom>
        </p:spPr>
      </p:pic>
      <p:sp>
        <p:nvSpPr>
          <p:cNvPr id="20" name="Discussion text"/>
          <p:cNvSpPr txBox="1"/>
          <p:nvPr/>
        </p:nvSpPr>
        <p:spPr>
          <a:xfrm>
            <a:off x="5394960" y="1847088"/>
            <a:ext cx="3154680" cy="1993391"/>
          </a:xfrm>
          <a:prstGeom prst="rect">
            <a:avLst/>
          </a:prstGeom>
          <a:noFill/>
        </p:spPr>
        <p:txBody>
          <a:bodyPr wrap="square" lIns="36576" rIns="36576" tIns="18288" bIns="18288" anchor="t">
            <a:spAutoFit/>
          </a:bodyPr>
          <a:lstStyle/>
          <a:p>
            <a:pPr algn="l">
              <a:spcAft>
                <a:spcPts val="700"/>
              </a:spcAft>
            </a:pPr>
            <a:r>
              <a:rPr lang="en-GB" sz="1200" b="0" i="0">
                <a:solidFill>
                  <a:schemeClr val="tx1"/>
                </a:solidFill>
              </a:rPr>
              <a:t>Which asset would you never change, and why?</a:t>
            </a:r>
          </a:p>
          <a:p>
            <a:pPr algn="l">
              <a:spcAft>
                <a:spcPts val="700"/>
              </a:spcAft>
            </a:pPr>
            <a:r>
              <a:rPr lang="en-GB" sz="1200" b="0" i="0">
                <a:solidFill>
                  <a:schemeClr val="tx1"/>
                </a:solidFill>
              </a:rPr>
              <a:t>Is 'Manner mag man eben' famous, unique, or both?</a:t>
            </a:r>
          </a:p>
          <a:p>
            <a:pPr algn="l">
              <a:spcAft>
                <a:spcPts val="700"/>
              </a:spcAft>
            </a:pPr>
            <a:r>
              <a:rPr lang="en-GB" sz="1200" b="0" i="0">
                <a:solidFill>
                  <a:schemeClr val="tx1"/>
                </a:solidFill>
              </a:rPr>
              <a:t>How would light buyers answer?</a:t>
            </a:r>
          </a:p>
        </p:txBody>
      </p:sp>
      <p:sp>
        <p:nvSpPr>
          <p:cNvPr id="21" name="Audit callout"/>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udit callout text"/>
          <p:cNvSpPr txBox="1"/>
          <p:nvPr/>
        </p:nvSpPr>
        <p:spPr>
          <a:xfrm>
            <a:off x="640080" y="4160520"/>
            <a:ext cx="7863840" cy="457200"/>
          </a:xfrm>
          <a:prstGeom prst="rect">
            <a:avLst/>
          </a:prstGeom>
          <a:noFill/>
        </p:spPr>
        <p:txBody>
          <a:bodyPr wrap="square" lIns="36576" rIns="36576" tIns="18288" bIns="18288" anchor="ctr">
            <a:spAutoFit/>
          </a:bodyPr>
          <a:lstStyle/>
          <a:p>
            <a:pPr algn="l">
              <a:spcAft>
                <a:spcPts val="0"/>
              </a:spcAft>
            </a:pPr>
            <a:r>
              <a:rPr lang="en-GB" sz="1300" b="0" i="0">
                <a:solidFill>
                  <a:schemeClr val="bg1"/>
                </a:solidFill>
              </a:rPr>
              <a:t>Work in pairs; run the survey as homework and bring the grid to the next session.</a:t>
            </a:r>
          </a:p>
        </p:txBody>
      </p:sp>
      <p:sp>
        <p:nvSpPr>
          <p:cNvPr id="23" name="Source note"/>
          <p:cNvSpPr txBox="1"/>
          <p:nvPr/>
        </p:nvSpPr>
        <p:spPr>
          <a:xfrm>
            <a:off x="457200" y="4709160"/>
            <a:ext cx="8229600" cy="320040"/>
          </a:xfrm>
          <a:prstGeom prst="rect">
            <a:avLst/>
          </a:prstGeom>
          <a:noFill/>
        </p:spPr>
        <p:txBody>
          <a:bodyPr wrap="square" lIns="36576" rIns="36576" tIns="18288" bIns="18288" anchor="t">
            <a:spAutoFit/>
          </a:bodyPr>
          <a:lstStyle/>
          <a:p>
            <a:pPr algn="l">
              <a:spcAft>
                <a:spcPts val="0"/>
              </a:spcAft>
            </a:pPr>
            <a:r>
              <a:rPr lang="en-GB" sz="1050" b="0" i="0">
                <a:solidFill>
                  <a:srgbClr val="595959"/>
                </a:solidFill>
              </a:rPr>
              <a:t>Method: Romaniuk (2018); Ehrenberg-Bass Institute, Distinctive Asset Measurement. Slogan survey: Marketagent via Tiroler Tageszeitung.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References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References core body"/>
          <p:cNvSpPr/>
          <p:nvPr/>
        </p:nvSpPr>
        <p:spPr>
          <a:xfrm>
            <a:off x="457200"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ferences core band"/>
          <p:cNvSpPr/>
          <p:nvPr/>
        </p:nvSpPr>
        <p:spPr>
          <a:xfrm>
            <a:off x="457200"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ferences core heading"/>
          <p:cNvSpPr txBox="1"/>
          <p:nvPr/>
        </p:nvSpPr>
        <p:spPr>
          <a:xfrm>
            <a:off x="566928"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Core reading</a:t>
            </a:r>
          </a:p>
        </p:txBody>
      </p:sp>
      <p:pic>
        <p:nvPicPr>
          <p:cNvPr id="9" name="Icon LuGraduationCap" descr="LuGraduationCap-white.png"/>
          <p:cNvPicPr>
            <a:picLocks noChangeAspect="1"/>
          </p:cNvPicPr>
          <p:nvPr/>
        </p:nvPicPr>
        <p:blipFill>
          <a:blip r:embed="rId2"/>
          <a:stretch>
            <a:fillRect/>
          </a:stretch>
        </p:blipFill>
        <p:spPr>
          <a:xfrm>
            <a:off x="2660904" y="1298448"/>
            <a:ext cx="329184" cy="329184"/>
          </a:xfrm>
          <a:prstGeom prst="rect">
            <a:avLst/>
          </a:prstGeom>
        </p:spPr>
      </p:pic>
      <p:sp>
        <p:nvSpPr>
          <p:cNvPr id="10" name="References core text"/>
          <p:cNvSpPr txBox="1"/>
          <p:nvPr/>
        </p:nvSpPr>
        <p:spPr>
          <a:xfrm>
            <a:off x="594360"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Sharp (2010) </a:t>
            </a:r>
            <a:r>
              <a:rPr lang="en-GB" sz="1100" b="0" i="0">
                <a:solidFill>
                  <a:schemeClr val="tx1"/>
                </a:solidFill>
              </a:rPr>
              <a:t>How Brands Grow</a:t>
            </a:r>
          </a:p>
          <a:p>
            <a:pPr algn="l">
              <a:spcAft>
                <a:spcPts val="700"/>
              </a:spcAft>
            </a:pPr>
            <a:r>
              <a:rPr lang="en-GB" sz="1100" b="1" i="0">
                <a:solidFill>
                  <a:schemeClr val="tx1"/>
                </a:solidFill>
              </a:rPr>
              <a:t>Romaniuk (2018) </a:t>
            </a:r>
            <a:r>
              <a:rPr lang="en-GB" sz="1100" b="0" i="0">
                <a:solidFill>
                  <a:schemeClr val="tx1"/>
                </a:solidFill>
              </a:rPr>
              <a:t>Building Distinctive Brand Assets</a:t>
            </a:r>
          </a:p>
          <a:p>
            <a:pPr algn="l">
              <a:spcAft>
                <a:spcPts val="700"/>
              </a:spcAft>
            </a:pPr>
            <a:r>
              <a:rPr lang="en-GB" sz="1100" b="1" i="0">
                <a:solidFill>
                  <a:schemeClr val="tx1"/>
                </a:solidFill>
              </a:rPr>
              <a:t>Ehrenberg et al. (1990) </a:t>
            </a:r>
            <a:r>
              <a:rPr lang="en-GB" sz="1100" b="0" i="0">
                <a:solidFill>
                  <a:schemeClr val="tx1"/>
                </a:solidFill>
              </a:rPr>
              <a:t>Double Jeopardy revisited, J. Marketing</a:t>
            </a:r>
          </a:p>
          <a:p>
            <a:pPr algn="l">
              <a:spcAft>
                <a:spcPts val="700"/>
              </a:spcAft>
            </a:pPr>
            <a:r>
              <a:rPr lang="en-GB" sz="1100" b="1" i="0">
                <a:solidFill>
                  <a:schemeClr val="tx1"/>
                </a:solidFill>
              </a:rPr>
              <a:t>Sharp et al. (2012) </a:t>
            </a:r>
            <a:r>
              <a:rPr lang="en-GB" sz="1100" b="0" i="0">
                <a:solidFill>
                  <a:schemeClr val="tx1"/>
                </a:solidFill>
              </a:rPr>
              <a:t>It's a Dirichlet world, JAR</a:t>
            </a:r>
          </a:p>
          <a:p>
            <a:pPr algn="l">
              <a:spcAft>
                <a:spcPts val="700"/>
              </a:spcAft>
            </a:pPr>
            <a:r>
              <a:rPr lang="en-GB" sz="1100" b="1" i="0">
                <a:solidFill>
                  <a:schemeClr val="tx1"/>
                </a:solidFill>
              </a:rPr>
              <a:t>Keller &amp; Swaminathan (2020) </a:t>
            </a:r>
            <a:r>
              <a:rPr lang="en-GB" sz="1100" b="0" i="0">
                <a:solidFill>
                  <a:schemeClr val="tx1"/>
                </a:solidFill>
              </a:rPr>
              <a:t>Strategic Brand Management</a:t>
            </a:r>
          </a:p>
        </p:txBody>
      </p:sp>
      <p:sp>
        <p:nvSpPr>
          <p:cNvPr id="11" name="References extension body"/>
          <p:cNvSpPr/>
          <p:nvPr/>
        </p:nvSpPr>
        <p:spPr>
          <a:xfrm>
            <a:off x="3255264"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ferences extension band"/>
          <p:cNvSpPr/>
          <p:nvPr/>
        </p:nvSpPr>
        <p:spPr>
          <a:xfrm>
            <a:off x="3255264"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ferences extension heading"/>
          <p:cNvSpPr txBox="1"/>
          <p:nvPr/>
        </p:nvSpPr>
        <p:spPr>
          <a:xfrm>
            <a:off x="3364992"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Extension, critique</a:t>
            </a:r>
          </a:p>
        </p:txBody>
      </p:sp>
      <p:pic>
        <p:nvPicPr>
          <p:cNvPr id="14" name="Icon LuLibrary" descr="LuLibrary-white.png"/>
          <p:cNvPicPr>
            <a:picLocks noChangeAspect="1"/>
          </p:cNvPicPr>
          <p:nvPr/>
        </p:nvPicPr>
        <p:blipFill>
          <a:blip r:embed="rId3"/>
          <a:stretch>
            <a:fillRect/>
          </a:stretch>
        </p:blipFill>
        <p:spPr>
          <a:xfrm>
            <a:off x="5458968" y="1298448"/>
            <a:ext cx="329184" cy="329184"/>
          </a:xfrm>
          <a:prstGeom prst="rect">
            <a:avLst/>
          </a:prstGeom>
        </p:spPr>
      </p:pic>
      <p:sp>
        <p:nvSpPr>
          <p:cNvPr id="15" name="References extension text"/>
          <p:cNvSpPr txBox="1"/>
          <p:nvPr/>
        </p:nvSpPr>
        <p:spPr>
          <a:xfrm>
            <a:off x="3392424"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Romaniuk &amp; Sharp (2016) </a:t>
            </a:r>
            <a:r>
              <a:rPr lang="en-GB" sz="1100" b="0" i="0">
                <a:solidFill>
                  <a:schemeClr val="tx1"/>
                </a:solidFill>
              </a:rPr>
              <a:t>How Brands Grow Part 2</a:t>
            </a:r>
          </a:p>
          <a:p>
            <a:pPr algn="l">
              <a:spcAft>
                <a:spcPts val="700"/>
              </a:spcAft>
            </a:pPr>
            <a:r>
              <a:rPr lang="en-GB" sz="1100" b="1" i="0">
                <a:solidFill>
                  <a:schemeClr val="tx1"/>
                </a:solidFill>
              </a:rPr>
              <a:t>Romaniuk (2022) </a:t>
            </a:r>
            <a:r>
              <a:rPr lang="en-GB" sz="1100" b="0" i="0">
                <a:solidFill>
                  <a:schemeClr val="tx1"/>
                </a:solidFill>
              </a:rPr>
              <a:t>Better Brand Health</a:t>
            </a:r>
          </a:p>
          <a:p>
            <a:pPr algn="l">
              <a:spcAft>
                <a:spcPts val="700"/>
              </a:spcAft>
            </a:pPr>
            <a:r>
              <a:rPr lang="en-GB" sz="1100" b="1" i="0">
                <a:solidFill>
                  <a:schemeClr val="tx1"/>
                </a:solidFill>
              </a:rPr>
              <a:t>Binet &amp; Field (2013) </a:t>
            </a:r>
            <a:r>
              <a:rPr lang="en-GB" sz="1100" b="0" i="0">
                <a:solidFill>
                  <a:schemeClr val="tx1"/>
                </a:solidFill>
              </a:rPr>
              <a:t>The Long and the Short of It</a:t>
            </a:r>
          </a:p>
          <a:p>
            <a:pPr algn="l">
              <a:spcAft>
                <a:spcPts val="700"/>
              </a:spcAft>
            </a:pPr>
            <a:r>
              <a:rPr lang="en-GB" sz="1100" b="1" i="0">
                <a:solidFill>
                  <a:schemeClr val="tx1"/>
                </a:solidFill>
              </a:rPr>
              <a:t>Fader &amp; Schmittlein (1993) </a:t>
            </a:r>
            <a:r>
              <a:rPr lang="en-GB" sz="1100" b="0" i="0">
                <a:solidFill>
                  <a:schemeClr val="tx1"/>
                </a:solidFill>
              </a:rPr>
              <a:t>Excess behavioral loyalty, JMR</a:t>
            </a:r>
          </a:p>
          <a:p>
            <a:pPr algn="l">
              <a:spcAft>
                <a:spcPts val="700"/>
              </a:spcAft>
            </a:pPr>
            <a:r>
              <a:rPr lang="en-GB" sz="1100" b="1" i="0">
                <a:solidFill>
                  <a:schemeClr val="tx1"/>
                </a:solidFill>
              </a:rPr>
              <a:t>Graham et al. (2017) </a:t>
            </a:r>
            <a:r>
              <a:rPr lang="en-GB" sz="1100" b="0" i="0">
                <a:solidFill>
                  <a:schemeClr val="tx1"/>
                </a:solidFill>
              </a:rPr>
              <a:t>Double Jeopardy 50 years on, AMJ</a:t>
            </a:r>
          </a:p>
        </p:txBody>
      </p:sp>
      <p:sp>
        <p:nvSpPr>
          <p:cNvPr id="16" name="References industry body"/>
          <p:cNvSpPr/>
          <p:nvPr/>
        </p:nvSpPr>
        <p:spPr>
          <a:xfrm>
            <a:off x="6053328" y="1234440"/>
            <a:ext cx="2633472" cy="3063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ferences industry band"/>
          <p:cNvSpPr/>
          <p:nvPr/>
        </p:nvSpPr>
        <p:spPr>
          <a:xfrm>
            <a:off x="6053328" y="1234440"/>
            <a:ext cx="2633472"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ferences industry heading"/>
          <p:cNvSpPr txBox="1"/>
          <p:nvPr/>
        </p:nvSpPr>
        <p:spPr>
          <a:xfrm>
            <a:off x="6163056" y="1289304"/>
            <a:ext cx="1947672" cy="365760"/>
          </a:xfrm>
          <a:prstGeom prst="rect">
            <a:avLst/>
          </a:prstGeom>
          <a:noFill/>
        </p:spPr>
        <p:txBody>
          <a:bodyPr wrap="square" lIns="36576" rIns="36576" tIns="18288" bIns="18288" anchor="ctr">
            <a:spAutoFit/>
          </a:bodyPr>
          <a:lstStyle/>
          <a:p>
            <a:pPr algn="l">
              <a:spcAft>
                <a:spcPts val="600"/>
              </a:spcAft>
            </a:pPr>
            <a:r>
              <a:rPr lang="en-GB" sz="1500" b="1" i="0">
                <a:solidFill>
                  <a:schemeClr val="bg1"/>
                </a:solidFill>
                <a:latin typeface="+mj-lt"/>
              </a:rPr>
              <a:t>Industry evidence</a:t>
            </a:r>
          </a:p>
        </p:txBody>
      </p:sp>
      <p:pic>
        <p:nvPicPr>
          <p:cNvPr id="19" name="Icon LuChartColumn" descr="LuChartColumn-white.png"/>
          <p:cNvPicPr>
            <a:picLocks noChangeAspect="1"/>
          </p:cNvPicPr>
          <p:nvPr/>
        </p:nvPicPr>
        <p:blipFill>
          <a:blip r:embed="rId4"/>
          <a:stretch>
            <a:fillRect/>
          </a:stretch>
        </p:blipFill>
        <p:spPr>
          <a:xfrm>
            <a:off x="8257032" y="1298448"/>
            <a:ext cx="329184" cy="329184"/>
          </a:xfrm>
          <a:prstGeom prst="rect">
            <a:avLst/>
          </a:prstGeom>
        </p:spPr>
      </p:pic>
      <p:sp>
        <p:nvSpPr>
          <p:cNvPr id="20" name="References industry text"/>
          <p:cNvSpPr txBox="1"/>
          <p:nvPr/>
        </p:nvSpPr>
        <p:spPr>
          <a:xfrm>
            <a:off x="6190488" y="1801368"/>
            <a:ext cx="2359152" cy="2404872"/>
          </a:xfrm>
          <a:prstGeom prst="rect">
            <a:avLst/>
          </a:prstGeom>
          <a:noFill/>
        </p:spPr>
        <p:txBody>
          <a:bodyPr wrap="square" lIns="36576" rIns="36576" tIns="18288" bIns="18288" anchor="t">
            <a:spAutoFit/>
          </a:bodyPr>
          <a:lstStyle/>
          <a:p>
            <a:pPr algn="l">
              <a:spcAft>
                <a:spcPts val="700"/>
              </a:spcAft>
            </a:pPr>
            <a:r>
              <a:rPr lang="en-GB" sz="1100" b="1" i="0">
                <a:solidFill>
                  <a:schemeClr val="tx1"/>
                </a:solidFill>
              </a:rPr>
              <a:t>Kantar (2025) </a:t>
            </a:r>
            <a:r>
              <a:rPr lang="en-GB" sz="1100" b="0" i="0">
                <a:solidFill>
                  <a:schemeClr val="tx1"/>
                </a:solidFill>
              </a:rPr>
              <a:t>Brand Footprint</a:t>
            </a:r>
          </a:p>
          <a:p>
            <a:pPr algn="l">
              <a:spcAft>
                <a:spcPts val="700"/>
              </a:spcAft>
            </a:pPr>
            <a:r>
              <a:rPr lang="en-GB" sz="1100" b="1" i="0">
                <a:solidFill>
                  <a:schemeClr val="tx1"/>
                </a:solidFill>
              </a:rPr>
              <a:t>Dawes (2021) </a:t>
            </a:r>
            <a:r>
              <a:rPr lang="en-GB" sz="1100" b="0" i="0">
                <a:solidFill>
                  <a:schemeClr val="tx1"/>
                </a:solidFill>
              </a:rPr>
              <a:t>The 95:5 rule, LinkedIn B2B Institute</a:t>
            </a:r>
          </a:p>
          <a:p>
            <a:pPr algn="l">
              <a:spcAft>
                <a:spcPts val="700"/>
              </a:spcAft>
            </a:pPr>
            <a:r>
              <a:rPr lang="en-GB" sz="1100" b="1" i="0">
                <a:solidFill>
                  <a:schemeClr val="tx1"/>
                </a:solidFill>
              </a:rPr>
              <a:t>Ad Age / Bloomberg (2009) </a:t>
            </a:r>
            <a:r>
              <a:rPr lang="en-GB" sz="1100" b="0" i="0">
                <a:solidFill>
                  <a:schemeClr val="tx1"/>
                </a:solidFill>
              </a:rPr>
              <a:t>Tropicana packaging</a:t>
            </a:r>
          </a:p>
          <a:p>
            <a:pPr algn="l">
              <a:spcAft>
                <a:spcPts val="700"/>
              </a:spcAft>
            </a:pPr>
            <a:r>
              <a:rPr lang="en-GB" sz="1100" b="1" i="0">
                <a:solidFill>
                  <a:schemeClr val="tx1"/>
                </a:solidFill>
              </a:rPr>
              <a:t>Mastercard (2019) </a:t>
            </a:r>
            <a:r>
              <a:rPr lang="en-GB" sz="1100" b="0" i="0">
                <a:solidFill>
                  <a:schemeClr val="tx1"/>
                </a:solidFill>
              </a:rPr>
              <a:t>Symbol without the name</a:t>
            </a:r>
          </a:p>
          <a:p>
            <a:pPr algn="l">
              <a:spcAft>
                <a:spcPts val="700"/>
              </a:spcAft>
            </a:pPr>
            <a:r>
              <a:rPr lang="en-GB" sz="1100" b="1" i="0">
                <a:solidFill>
                  <a:schemeClr val="tx1"/>
                </a:solidFill>
              </a:rPr>
              <a:t>Nestlé v Cadbury (2013) </a:t>
            </a:r>
            <a:r>
              <a:rPr lang="en-GB" sz="1100" b="0" i="0">
                <a:solidFill>
                  <a:schemeClr val="tx1"/>
                </a:solidFill>
              </a:rPr>
              <a:t>EWCA Civ 1174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lang="en-GB"/>
              <a:t>Key takeaways</a:t>
            </a:r>
          </a:p>
        </p:txBody>
      </p:sp>
      <p:sp>
        <p:nvSpPr>
          <p:cNvPr id="4" name="Footer Placeholder 3"/>
          <p:cNvSpPr>
            <a:spLocks noGrp="1"/>
          </p:cNvSpPr>
          <p:nvPr>
            <p:ph type="ftr" idx="11" sz="quarter"/>
          </p:nvPr>
        </p:nvSpPr>
        <p:spPr/>
        <p:txBody>
          <a:bodyPr/>
          <a:p>
            <a:r>
              <a:rPr lang="en-GB"/>
              <a:t>How Brands Grow | Marketing Science</a:t>
            </a:r>
          </a:p>
        </p:txBody>
      </p:sp>
      <p:sp>
        <p:nvSpPr>
          <p:cNvPr id="5" name="Slide Number Placeholder 4"/>
          <p:cNvSpPr>
            <a:spLocks noGrp="1"/>
          </p:cNvSpPr>
          <p:nvPr>
            <p:ph type="sldNum" idx="12" sz="quarter"/>
          </p:nvPr>
        </p:nvSpPr>
        <p:spPr/>
        <p:txBody>
          <a:bodyPr/>
          <a:p>
            <a:r>
              <a:rPr lang="en-GB"/>
              <a:t>PAGE </a:t>
            </a:r>
            <a:fld id="{B6F15528-21DE-4FAA-801E-634DDDAF4B2B}" type="slidenum">
              <a:rPr lang="en-GB"/>
              <a:t>‹#›</a:t>
            </a:fld>
          </a:p>
        </p:txBody>
      </p:sp>
      <p:sp>
        <p:nvSpPr>
          <p:cNvPr id="6" name="Takeaway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number 1"/>
          <p:cNvSpPr/>
          <p:nvPr/>
        </p:nvSpPr>
        <p:spPr>
          <a:xfrm>
            <a:off x="566928" y="1289304"/>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1</a:t>
            </a:r>
          </a:p>
        </p:txBody>
      </p:sp>
      <p:sp>
        <p:nvSpPr>
          <p:cNvPr id="8" name="Takeaway text 1"/>
          <p:cNvSpPr txBox="1"/>
          <p:nvPr/>
        </p:nvSpPr>
        <p:spPr>
          <a:xfrm>
            <a:off x="1097280" y="1234440"/>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Brands: </a:t>
            </a:r>
            <a:r>
              <a:rPr lang="en-GB" sz="1300" b="0" i="0">
                <a:solidFill>
                  <a:schemeClr val="tx1"/>
                </a:solidFill>
              </a:rPr>
              <a:t>tangible elements are the cues; what buyers remember is the brand.</a:t>
            </a:r>
          </a:p>
        </p:txBody>
      </p:sp>
      <p:sp>
        <p:nvSpPr>
          <p:cNvPr id="9" name="Takeaway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keaway number 2"/>
          <p:cNvSpPr/>
          <p:nvPr/>
        </p:nvSpPr>
        <p:spPr>
          <a:xfrm>
            <a:off x="566928" y="1819656"/>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2</a:t>
            </a:r>
          </a:p>
        </p:txBody>
      </p:sp>
      <p:sp>
        <p:nvSpPr>
          <p:cNvPr id="11" name="Takeaway text 2"/>
          <p:cNvSpPr txBox="1"/>
          <p:nvPr/>
        </p:nvSpPr>
        <p:spPr>
          <a:xfrm>
            <a:off x="1097280" y="1764792"/>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Double Jeopardy: </a:t>
            </a:r>
            <a:r>
              <a:rPr lang="en-GB" sz="1300" b="0" i="0">
                <a:solidFill>
                  <a:schemeClr val="tx1"/>
                </a:solidFill>
              </a:rPr>
              <a:t>small brands have fewer, slightly less loyal buyers; that is normal.</a:t>
            </a:r>
          </a:p>
        </p:txBody>
      </p:sp>
      <p:sp>
        <p:nvSpPr>
          <p:cNvPr id="12" name="Takeaway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number 3"/>
          <p:cNvSpPr/>
          <p:nvPr/>
        </p:nvSpPr>
        <p:spPr>
          <a:xfrm>
            <a:off x="566928" y="2350008"/>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3</a:t>
            </a:r>
          </a:p>
        </p:txBody>
      </p:sp>
      <p:sp>
        <p:nvSpPr>
          <p:cNvPr id="14" name="Takeaway text 3"/>
          <p:cNvSpPr txBox="1"/>
          <p:nvPr/>
        </p:nvSpPr>
        <p:spPr>
          <a:xfrm>
            <a:off x="1097280" y="2295144"/>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Duplication: </a:t>
            </a:r>
            <a:r>
              <a:rPr lang="en-GB" sz="1300" b="0" i="0">
                <a:solidFill>
                  <a:schemeClr val="tx1"/>
                </a:solidFill>
              </a:rPr>
              <a:t>brands share buyers in line with size; partitions are the exception.</a:t>
            </a:r>
          </a:p>
        </p:txBody>
      </p:sp>
      <p:sp>
        <p:nvSpPr>
          <p:cNvPr id="15" name="Takeaway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number 4"/>
          <p:cNvSpPr/>
          <p:nvPr/>
        </p:nvSpPr>
        <p:spPr>
          <a:xfrm>
            <a:off x="566928" y="2880360"/>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4</a:t>
            </a:r>
          </a:p>
        </p:txBody>
      </p:sp>
      <p:sp>
        <p:nvSpPr>
          <p:cNvPr id="17" name="Takeaway text 4"/>
          <p:cNvSpPr txBox="1"/>
          <p:nvPr/>
        </p:nvSpPr>
        <p:spPr>
          <a:xfrm>
            <a:off x="1097280" y="2825496"/>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Growth: </a:t>
            </a:r>
            <a:r>
              <a:rPr lang="en-GB" sz="1300" b="0" i="0">
                <a:solidFill>
                  <a:schemeClr val="tx1"/>
                </a:solidFill>
              </a:rPr>
              <a:t>comes mainly from penetration, via mental and physical availability.</a:t>
            </a:r>
          </a:p>
        </p:txBody>
      </p:sp>
      <p:sp>
        <p:nvSpPr>
          <p:cNvPr id="18" name="Takeaway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number 5"/>
          <p:cNvSpPr/>
          <p:nvPr/>
        </p:nvSpPr>
        <p:spPr>
          <a:xfrm>
            <a:off x="566928" y="3410712"/>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5</a:t>
            </a:r>
          </a:p>
        </p:txBody>
      </p:sp>
      <p:sp>
        <p:nvSpPr>
          <p:cNvPr id="20" name="Takeaway text 5"/>
          <p:cNvSpPr txBox="1"/>
          <p:nvPr/>
        </p:nvSpPr>
        <p:spPr>
          <a:xfrm>
            <a:off x="1097280" y="3355848"/>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Distinctiveness: </a:t>
            </a:r>
            <a:r>
              <a:rPr lang="en-GB" sz="1300" b="0" i="0">
                <a:solidFill>
                  <a:schemeClr val="tx1"/>
                </a:solidFill>
              </a:rPr>
              <a:t>build famous, unique assets and keep using them.</a:t>
            </a:r>
          </a:p>
        </p:txBody>
      </p:sp>
      <p:sp>
        <p:nvSpPr>
          <p:cNvPr id="21" name="Takeaway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 number 6"/>
          <p:cNvSpPr/>
          <p:nvPr/>
        </p:nvSpPr>
        <p:spPr>
          <a:xfrm>
            <a:off x="566928" y="3941063"/>
            <a:ext cx="347472" cy="34747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lang="en-GB" sz="1300" b="1">
                <a:solidFill>
                  <a:schemeClr val="bg1"/>
                </a:solidFill>
                <a:latin typeface="+mj-lt"/>
              </a:rPr>
              <a:t>6</a:t>
            </a:r>
          </a:p>
        </p:txBody>
      </p:sp>
      <p:sp>
        <p:nvSpPr>
          <p:cNvPr id="23" name="Takeaway text 6"/>
          <p:cNvSpPr txBox="1"/>
          <p:nvPr/>
        </p:nvSpPr>
        <p:spPr>
          <a:xfrm>
            <a:off x="1097280" y="3886200"/>
            <a:ext cx="7452360" cy="457200"/>
          </a:xfrm>
          <a:prstGeom prst="rect">
            <a:avLst/>
          </a:prstGeom>
          <a:noFill/>
        </p:spPr>
        <p:txBody>
          <a:bodyPr wrap="square" lIns="36576" rIns="36576" tIns="18288" bIns="18288" anchor="ctr">
            <a:spAutoFit/>
          </a:bodyPr>
          <a:lstStyle/>
          <a:p>
            <a:pPr algn="l">
              <a:spcAft>
                <a:spcPts val="0"/>
              </a:spcAft>
            </a:pPr>
            <a:r>
              <a:rPr lang="en-GB" sz="1300" b="1" i="0">
                <a:solidFill>
                  <a:schemeClr val="tx2"/>
                </a:solidFill>
              </a:rPr>
              <a:t>Boundaries: </a:t>
            </a:r>
            <a:r>
              <a:rPr lang="en-GB" sz="1300" b="0" i="0">
                <a:solidFill>
                  <a:schemeClr val="tx1"/>
                </a:solidFill>
              </a:rPr>
              <a:t>judge every claim against the Dirichlet benchmark.</a:t>
            </a:r>
          </a:p>
        </p:txBody>
      </p:sp>
      <p:sp>
        <p:nvSpPr>
          <p:cNvPr id="24" name="Next"/>
          <p:cNvSpPr/>
          <p:nvPr/>
        </p:nvSpPr>
        <p:spPr>
          <a:xfrm>
            <a:off x="457200" y="45262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ext text"/>
          <p:cNvSpPr txBox="1"/>
          <p:nvPr/>
        </p:nvSpPr>
        <p:spPr>
          <a:xfrm>
            <a:off x="640080" y="4526280"/>
            <a:ext cx="7863840" cy="457200"/>
          </a:xfrm>
          <a:prstGeom prst="rect">
            <a:avLst/>
          </a:prstGeom>
          <a:noFill/>
        </p:spPr>
        <p:txBody>
          <a:bodyPr wrap="square" lIns="36576" rIns="36576" tIns="18288" bIns="18288" anchor="ctr">
            <a:spAutoFit/>
          </a:bodyPr>
          <a:lstStyle/>
          <a:p>
            <a:pPr algn="l">
              <a:spcAft>
                <a:spcPts val="0"/>
              </a:spcAft>
            </a:pPr>
            <a:r>
              <a:rPr lang="en-GB" sz="1300" b="1" i="0">
                <a:solidFill>
                  <a:schemeClr val="bg1"/>
                </a:solidFill>
              </a:rPr>
              <a:t>Next: </a:t>
            </a:r>
            <a:r>
              <a:rPr lang="en-GB" sz="1300" b="0" i="0">
                <a:solidFill>
                  <a:schemeClr val="bg1"/>
                </a:solidFill>
              </a:rPr>
              <a:t>the data lab. Bring a laptop with R or Python installed.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ooter Placeholder 1"/>
          <p:cNvSpPr>
            <a:spLocks noGrp="1"/>
          </p:cNvSpPr>
          <p:nvPr>
            <p:ph type="ftr" idx="12" sz="quarter"/>
          </p:nvPr>
        </p:nvSpPr>
        <p:spPr/>
        <p:txBody>
          <a:bodyPr/>
          <a:p>
            <a:r>
              <a:rPr lang="en-GB"/>
              <a:t>How Brands Grow | Marketing Science</a:t>
            </a:r>
          </a:p>
        </p:txBody>
      </p:sp>
      <p:sp>
        <p:nvSpPr>
          <p:cNvPr id="3" name="Slide Number Placeholder 2"/>
          <p:cNvSpPr>
            <a:spLocks noGrp="1"/>
          </p:cNvSpPr>
          <p:nvPr>
            <p:ph type="sldNum" idx="13" sz="quarter"/>
          </p:nvPr>
        </p:nvSpPr>
        <p:spPr/>
        <p:txBody>
          <a:bodyPr/>
          <a:p>
            <a:r>
              <a:rPr lang="en-GB"/>
              <a:t>PAGE </a:t>
            </a:r>
            <a:fld id="{B6F15528-21DE-4FAA-801E-634DDDAF4B2B}" type="slidenum">
              <a:rPr lang="en-GB"/>
              <a:t>‹#›</a:t>
            </a:fld>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