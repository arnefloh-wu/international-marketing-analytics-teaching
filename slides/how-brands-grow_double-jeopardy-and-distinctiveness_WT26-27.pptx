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12"/>
    <p:sldId id="275" r:id="rId11"/>
    <p:sldId id="276" r:id="rId10"/>
    <p:sldId id="277" r:id="rId9"/>
    <p:sldId id="278" r:id="rId8"/>
    <p:sldId id="279" r:id="rId7"/>
    <p:sldId id="280" r:id="rId6"/>
    <p:sldId id="281" r:id="rId5"/>
    <p:sldId id="282" r:id="rId39"/>
    <p:sldId id="283" r:id="rId40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26.xml"/><Relationship Id="rId6" Type="http://schemas.openxmlformats.org/officeDocument/2006/relationships/slide" Target="slides/slide25.xml"/><Relationship Id="rId7" Type="http://schemas.openxmlformats.org/officeDocument/2006/relationships/slide" Target="slides/slide24.xml"/><Relationship Id="rId8" Type="http://schemas.openxmlformats.org/officeDocument/2006/relationships/slide" Target="slides/slide23.xml"/><Relationship Id="rId9" Type="http://schemas.openxmlformats.org/officeDocument/2006/relationships/slide" Target="slides/slide22.xml"/><Relationship Id="rId10" Type="http://schemas.openxmlformats.org/officeDocument/2006/relationships/slide" Target="slides/slide21.xml"/><Relationship Id="rId11" Type="http://schemas.openxmlformats.org/officeDocument/2006/relationships/slide" Target="slides/slide20.xml"/><Relationship Id="rId12" Type="http://schemas.openxmlformats.org/officeDocument/2006/relationships/slide" Target="slides/slide19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7.xml"/><Relationship Id="rId40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 lang="en-GB">
                <a:solidFill>
                  <a:schemeClr val="tx2"/>
                </a:solidFill>
              </a:rPr>
              <a:t>Penetration (% buying in a year)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 (% buying in a year)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</c:v>
                </c:pt>
                <c:pt idx="1">
                  <c:v>32</c:v>
                </c:pt>
                <c:pt idx="2">
                  <c:v>24</c:v>
                </c:pt>
                <c:pt idx="3">
                  <c:v>16</c:v>
                </c:pt>
                <c:pt idx="4">
                  <c:v>10</c:v>
                </c:pt>
                <c:pt idx="5">
                  <c:v>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 lang="en-GB">
                <a:solidFill>
                  <a:schemeClr val="tx2"/>
                </a:solidFill>
              </a:rPr>
              <a:t>Purchases per buyer per year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Purchases per buyer per year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4.5</c:v>
                </c:pt>
                <c:pt idx="1">
                  <c:v>3.7</c:v>
                </c:pt>
                <c:pt idx="2">
                  <c:v>3.3</c:v>
                </c:pt>
                <c:pt idx="3">
                  <c:v>3.0</c:v>
                </c:pt>
                <c:pt idx="4">
                  <c:v>2.8</c:v>
                </c:pt>
                <c:pt idx="5">
                  <c:v>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chemeClr val="tx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90 minutes in five parts: the laws of brand buying, how brands grow, distinctiveness, critiques and boundary conditions, and a hands-on part with a data lab and a distinctive asset audit. Core reading: Sharp (2010) How Brands Grow; Romaniuk &amp; Sharp (2016) How Brands Grow Part 2; Romaniuk (2018) Building Distinctive Brand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poll: which column matches what you learned in Marketing 101? Most textbooks (Kotler &amp; Keller; Esch in the German tradition) teach the left column. Sharp (2010) challenges each point with empirical generalisations from panel data. Part 4 returns to the tension with the Binet &amp; Field and Ritson debate.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objectives map onto the five parts. The lab in Part 5 tests objectives 1 and 2 with data; the asset audit tests objective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1, about 25 minutes: what a marketing law is, Double Jeopardy, Duplication of Purchase, the Dirichlet benchmark and light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Ehrenberg's position: a single study proves little; a pattern that holds across many differentiated replications is a generalisation to build on. Uncles &amp; Kwok (2013) give a design template. This stance underlies How Brands Grow, and critics attack exactly this point (laws or just stable descriptions?).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penetration varies a lot between brands, loyalty very little. The approximation w(1-b) = w0 is Ehrenberg's; Graham et al. (2017, Australasian Marketing Journal, 'Double Jeopardy 50 years on') test it across 32 replications without finding a boundary condition. Ask: a tracking report says 'our loyalty is lower than the leader's'. What should the manager conclude? Probably nothing is wrong; it is Double Jeopardy.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numbers built with the Double Jeopardy approximation, so students see the shape without proprietary panel data. Real tables: Ehrenberg, Goodhardt &amp; Barwise (1990, Journal of Marketing) and Sharp (2010, ch. 2). In the lab students reproduce this chart with dunnhumby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Double Jeopardy follows from a world where brands differ mainly in how many people buy them (mental and physical availability) and buyers split purchases across a repertoire. Kucuk (2008) asks whether distribution alone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Duplication of Purchase: the share of brand X's buyers who also buy Y is roughly D times Y's penetration, with one D per category. Uses: who are my real competitors (everyone, in line with size), and where are genuine partitions (flavour, price tier, organic)? Dawes (2016, Journal of Marketing Management) tests how robust partitions are; Goodhardt &amp; Ehrenberg (1969) found the same law for TV viewing.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Dirichlet is deliberately simple: no marketing mix, no brand image. That it still fits most categories is the strongest argument for the laws. Implementation: R package NBDdirichlet (CRAN). Goodness of fit: Driesener, Banelis &amp; Rungie (2017). Overview: Driesener &amp; Rungie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Message for media planning and CRM. Trinh (2023, Marketing Letters) shows growth potential sits with light and non-buyers.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2, about 20 minutes. Students apply Category Entry Points to a category they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managerially relevant claim and the one practitioners push back on. It does not say loyalty is worthless, only that loyalty rises with size rather than being a separate lever. Romaniuk &amp; Sharp (2016) extend the evidence to services, durables, B2B and emerging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availability metrics: Romaniuk (2022) and Romaniuk (2013) on mental market share. Physical availability links to the Dollar Shave Club case: strong fame, weak shelf presence.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activity (5 min): pick a category (energy drinks, beer, oat milk), brainstorm entry points along the W's, then name the brand students link to each. The share of all brand-CEP links one brand holds is its mental market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3, about 20 minutes: distinctiveness versus differentiation, the asset grid and four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precise: Ehrenberg-Bass does not say products should be identical. Functional differences matter; the claim is that perceived brand differentiation is a weak growth driver and that branding should first make the brand easy to notice and recognise. Counterpoints: Kapferer, Keller (1993), Kantar's Meaningful-Different-Salient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from Romaniuk (2018) Building Distinctive Brand Assets. Measurement by reverse recognition: show the asset without the brand and ask which brand it belongs to; fame = share naming the right brand, uniqueness = share of all mentions that go to the right brand. Brus, Hartnett &amp; Faulkner (2025) show marketers overestimate fame and underestimate uniqueness. Phua et al. (2026) find shape-based assets strongest.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Gap logo case (Pollach, Emerald Teaching Notes 2016); Tropicana write-ups (check the sales figure against Advertising Age before quoting); Mastercard in Dezeen and Marketing Week (2019), sonic logo in The Drum (2019); Jaguar in AP/Fortune (Nov 2024). Ask students to place each asset on the grid. Austrian contrast: Manner's pink and Stephansdom logo, Red Bull's can and bulls.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4, about 15 minutes, with a short structured debate.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Deviations are measured against the Dirichlet norm, so they are only visible because the norm exists. Ehrenberg-Bass replies: 'Answering critics' and 'A short critique of a critique of Double Jeopardy' (marketingscience.info); Scriven, Bound &amp; Graham (2017) on common deviations. Recent digital replications: Šulik (2026) on Steam and MovieLens.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Half the room argues Sharp, half Binet &amp; Field/Ritson. Readings: Ritson 'We should thank Byron Sharp, not attack him' (Marketing Week 2017); 'Byron Sharp on the legacy of How Brands Grow and why he disagrees with Les Binet' (WARC); Mi3 (2022) 'How Brands Shrink' with James Hurman's critique. The 2026 Cannes session 'Five marketing truths' shows where the camps converge.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5, about 10 minutes in class plus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 in R or Python (pandas plus scipy.stats.nbinom). NBDdirichlet (CRAN, v1.4) needs category penetration, category purchase rate and brand shares. Alternatives: MovieLens 32M (see Šulik 2026), Instacart on Kaggle. Check the dunnhumby licence before sharing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follows Romaniuk (2018) and the Ehrenberg-Bass note on distinctive asset measurement. A Marketagent survey reported by the Tiroler Tageszeitung rated Manner's slogan the best-liked and Red Bull's the most memorable Austrian slogan; that is recall, not fame and uniqueness, and students can test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more than 300 sources with access notes (WU licence, open access) and links: Notion page and GitHub folder 'How Brands Grow (Double Jeopardy Law and Brand Distinctiveness, Ehrenberg-Bass Institute)'.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returning to the two columns from slide 2: which claims survived the evidence, and which are still contested?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How Brands Grow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Double Jeopardy and distinctiveness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brands grow? Two answers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Traditional body"/>
          <p:cNvSpPr/>
          <p:nvPr/>
        </p:nvSpPr>
        <p:spPr>
          <a:xfrm>
            <a:off x="457200" y="1280160"/>
            <a:ext cx="4032504" cy="2331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raditional band"/>
          <p:cNvSpPr/>
          <p:nvPr/>
        </p:nvSpPr>
        <p:spPr>
          <a:xfrm>
            <a:off x="457200" y="1280160"/>
            <a:ext cx="403250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raditional heading"/>
          <p:cNvSpPr txBox="1"/>
          <p:nvPr/>
        </p:nvSpPr>
        <p:spPr>
          <a:xfrm>
            <a:off x="566928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Traditional view</a:t>
            </a:r>
          </a:p>
        </p:txBody>
      </p:sp>
      <p:pic>
        <p:nvPicPr>
          <p:cNvPr id="9" name="Icon LuBookOpen" descr="LuBookOpe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936" y="1344168"/>
            <a:ext cx="329184" cy="329184"/>
          </a:xfrm>
          <a:prstGeom prst="rect">
            <a:avLst/>
          </a:prstGeom>
        </p:spPr>
      </p:pic>
      <p:sp>
        <p:nvSpPr>
          <p:cNvPr id="10" name="Traditional text"/>
          <p:cNvSpPr txBox="1"/>
          <p:nvPr/>
        </p:nvSpPr>
        <p:spPr>
          <a:xfrm>
            <a:off x="594360" y="1847088"/>
            <a:ext cx="3758184" cy="16733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Loyalty: </a:t>
            </a:r>
            <a:r>
              <a:rPr lang="en-GB" sz="1300" b="0" i="0">
                <a:solidFill>
                  <a:schemeClr val="tx1"/>
                </a:solidFill>
              </a:rPr>
              <a:t>grow by making customers more loyal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Differentiation: </a:t>
            </a:r>
            <a:r>
              <a:rPr lang="en-GB" sz="1300" b="0" i="0">
                <a:solidFill>
                  <a:schemeClr val="tx1"/>
                </a:solidFill>
              </a:rPr>
              <a:t>give a unique reason to choose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Targeting: </a:t>
            </a:r>
            <a:r>
              <a:rPr lang="en-GB" sz="1300" b="0" i="0">
                <a:solidFill>
                  <a:schemeClr val="tx1"/>
                </a:solidFill>
              </a:rPr>
              <a:t>tailor the message to one segment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Attitudes: </a:t>
            </a:r>
            <a:r>
              <a:rPr lang="en-GB" sz="1300" b="0" i="0">
                <a:solidFill>
                  <a:schemeClr val="tx1"/>
                </a:solidFill>
              </a:rPr>
              <a:t>image drives behaviour</a:t>
            </a:r>
          </a:p>
        </p:txBody>
      </p:sp>
      <p:sp>
        <p:nvSpPr>
          <p:cNvPr id="11" name="Ehrenberg-Bass body"/>
          <p:cNvSpPr/>
          <p:nvPr/>
        </p:nvSpPr>
        <p:spPr>
          <a:xfrm>
            <a:off x="4654296" y="1280160"/>
            <a:ext cx="4032504" cy="23317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hrenberg-Bass band"/>
          <p:cNvSpPr/>
          <p:nvPr/>
        </p:nvSpPr>
        <p:spPr>
          <a:xfrm>
            <a:off x="4654296" y="128016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hrenberg-Bass heading"/>
          <p:cNvSpPr txBox="1"/>
          <p:nvPr/>
        </p:nvSpPr>
        <p:spPr>
          <a:xfrm>
            <a:off x="4764024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Ehrenberg-Bass view</a:t>
            </a:r>
          </a:p>
        </p:txBody>
      </p:sp>
      <p:pic>
        <p:nvPicPr>
          <p:cNvPr id="14" name="Icon LuChartColumn" descr="LuChartColum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15" name="Ehrenberg-Bass text"/>
          <p:cNvSpPr txBox="1"/>
          <p:nvPr/>
        </p:nvSpPr>
        <p:spPr>
          <a:xfrm>
            <a:off x="4791456" y="1847088"/>
            <a:ext cx="3758184" cy="16733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Penetration: </a:t>
            </a:r>
            <a:r>
              <a:rPr lang="en-GB" sz="1300" b="0" i="0">
                <a:solidFill>
                  <a:schemeClr val="tx1"/>
                </a:solidFill>
              </a:rPr>
              <a:t>grow by winning more buyers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Distinctiveness: </a:t>
            </a:r>
            <a:r>
              <a:rPr lang="en-GB" sz="1300" b="0" i="0">
                <a:solidFill>
                  <a:schemeClr val="tx1"/>
                </a:solidFill>
              </a:rPr>
              <a:t>be easy to notice and recognise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Reach: </a:t>
            </a:r>
            <a:r>
              <a:rPr lang="en-GB" sz="1300" b="0" i="0">
                <a:solidFill>
                  <a:schemeClr val="tx1"/>
                </a:solidFill>
              </a:rPr>
              <a:t>talk to all category buyers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Behaviour: </a:t>
            </a:r>
            <a:r>
              <a:rPr lang="en-GB" sz="1300" b="0" i="0">
                <a:solidFill>
                  <a:schemeClr val="tx1"/>
                </a:solidFill>
              </a:rPr>
              <a:t>buying shapes attitudes too</a:t>
            </a:r>
          </a:p>
        </p:txBody>
      </p:sp>
      <p:sp>
        <p:nvSpPr>
          <p:cNvPr id="16" name="Central question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entral question text"/>
          <p:cNvSpPr txBox="1"/>
          <p:nvPr/>
        </p:nvSpPr>
        <p:spPr>
          <a:xfrm>
            <a:off x="640080" y="379476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Today: test the right-hand column against the evidence, then look at where it bends.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objectives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Objective row 1"/>
          <p:cNvSpPr/>
          <p:nvPr/>
        </p:nvSpPr>
        <p:spPr>
          <a:xfrm>
            <a:off x="457200" y="1280160"/>
            <a:ext cx="8229600" cy="7498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 LuRepeat" descr="LuRepea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72184"/>
            <a:ext cx="365760" cy="365760"/>
          </a:xfrm>
          <a:prstGeom prst="rect">
            <a:avLst/>
          </a:prstGeom>
        </p:spPr>
      </p:pic>
      <p:sp>
        <p:nvSpPr>
          <p:cNvPr id="8" name="Objective text 1"/>
          <p:cNvSpPr txBox="1"/>
          <p:nvPr/>
        </p:nvSpPr>
        <p:spPr>
          <a:xfrm>
            <a:off x="1234440" y="1280160"/>
            <a:ext cx="731520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500" b="1" i="0">
                <a:solidFill>
                  <a:schemeClr val="tx2"/>
                </a:solidFill>
              </a:rPr>
              <a:t>Explain </a:t>
            </a:r>
            <a:r>
              <a:rPr lang="en-GB" sz="1500" b="0" i="0">
                <a:solidFill>
                  <a:schemeClr val="tx1"/>
                </a:solidFill>
              </a:rPr>
              <a:t>Double Jeopardy and the Duplication of Purchase law</a:t>
            </a:r>
          </a:p>
        </p:txBody>
      </p:sp>
      <p:sp>
        <p:nvSpPr>
          <p:cNvPr id="9" name="Objective row 2"/>
          <p:cNvSpPr/>
          <p:nvPr/>
        </p:nvSpPr>
        <p:spPr>
          <a:xfrm>
            <a:off x="457200" y="2176272"/>
            <a:ext cx="8229600" cy="7498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 LuCalculator" descr="LuCalculato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68296"/>
            <a:ext cx="365760" cy="365760"/>
          </a:xfrm>
          <a:prstGeom prst="rect">
            <a:avLst/>
          </a:prstGeom>
        </p:spPr>
      </p:pic>
      <p:sp>
        <p:nvSpPr>
          <p:cNvPr id="11" name="Objective text 2"/>
          <p:cNvSpPr txBox="1"/>
          <p:nvPr/>
        </p:nvSpPr>
        <p:spPr>
          <a:xfrm>
            <a:off x="1234440" y="2176272"/>
            <a:ext cx="731520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500" b="1" i="0">
                <a:solidFill>
                  <a:schemeClr val="tx2"/>
                </a:solidFill>
              </a:rPr>
              <a:t>Interpret </a:t>
            </a:r>
            <a:r>
              <a:rPr lang="en-GB" sz="1500" b="0" i="0">
                <a:solidFill>
                  <a:schemeClr val="tx1"/>
                </a:solidFill>
              </a:rPr>
              <a:t>the NBD-Dirichlet model as a benchmark for normal loyalty</a:t>
            </a:r>
          </a:p>
        </p:txBody>
      </p:sp>
      <p:sp>
        <p:nvSpPr>
          <p:cNvPr id="12" name="Objective row 3"/>
          <p:cNvSpPr/>
          <p:nvPr/>
        </p:nvSpPr>
        <p:spPr>
          <a:xfrm>
            <a:off x="457200" y="3072384"/>
            <a:ext cx="8229600" cy="7498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Icon LuTarget" descr="LuTarget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264408"/>
            <a:ext cx="365760" cy="365760"/>
          </a:xfrm>
          <a:prstGeom prst="rect">
            <a:avLst/>
          </a:prstGeom>
        </p:spPr>
      </p:pic>
      <p:sp>
        <p:nvSpPr>
          <p:cNvPr id="14" name="Objective text 3"/>
          <p:cNvSpPr txBox="1"/>
          <p:nvPr/>
        </p:nvSpPr>
        <p:spPr>
          <a:xfrm>
            <a:off x="1234440" y="3072384"/>
            <a:ext cx="731520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500" b="1" i="0">
                <a:solidFill>
                  <a:schemeClr val="tx2"/>
                </a:solidFill>
              </a:rPr>
              <a:t>Apply </a:t>
            </a:r>
            <a:r>
              <a:rPr lang="en-GB" sz="1500" b="0" i="0">
                <a:solidFill>
                  <a:schemeClr val="tx1"/>
                </a:solidFill>
              </a:rPr>
              <a:t>mental availability, Category Entry Points and distinctive assets</a:t>
            </a:r>
          </a:p>
        </p:txBody>
      </p:sp>
      <p:sp>
        <p:nvSpPr>
          <p:cNvPr id="15" name="Objective row 4"/>
          <p:cNvSpPr/>
          <p:nvPr/>
        </p:nvSpPr>
        <p:spPr>
          <a:xfrm>
            <a:off x="457200" y="3968496"/>
            <a:ext cx="8229600" cy="7498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con LuScale" descr="LuScale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160520"/>
            <a:ext cx="365760" cy="365760"/>
          </a:xfrm>
          <a:prstGeom prst="rect">
            <a:avLst/>
          </a:prstGeom>
        </p:spPr>
      </p:pic>
      <p:sp>
        <p:nvSpPr>
          <p:cNvPr id="17" name="Objective text 4"/>
          <p:cNvSpPr txBox="1"/>
          <p:nvPr/>
        </p:nvSpPr>
        <p:spPr>
          <a:xfrm>
            <a:off x="1234440" y="3968496"/>
            <a:ext cx="731520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500" b="1" i="0">
                <a:solidFill>
                  <a:schemeClr val="tx2"/>
                </a:solidFill>
              </a:rPr>
              <a:t>Evaluate </a:t>
            </a:r>
            <a:r>
              <a:rPr lang="en-GB" sz="1500" b="0" i="0">
                <a:solidFill>
                  <a:schemeClr val="tx1"/>
                </a:solidFill>
              </a:rPr>
              <a:t>critiques, boundary conditions and the Binet &amp; Field debate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Part 1 of 5 · laws from panel data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laws of brand buying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4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5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 law is a pattern that replicates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Step 1"/>
          <p:cNvSpPr/>
          <p:nvPr/>
        </p:nvSpPr>
        <p:spPr>
          <a:xfrm>
            <a:off x="457200" y="1280160"/>
            <a:ext cx="2139696" cy="502920"/>
          </a:xfrm>
          <a:prstGeom prst="homePlat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Observe</a:t>
            </a:r>
          </a:p>
        </p:txBody>
      </p:sp>
      <p:sp>
        <p:nvSpPr>
          <p:cNvPr id="7" name="Step 2"/>
          <p:cNvSpPr/>
          <p:nvPr/>
        </p:nvSpPr>
        <p:spPr>
          <a:xfrm>
            <a:off x="2487168" y="1280160"/>
            <a:ext cx="2139696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Replicate</a:t>
            </a:r>
          </a:p>
        </p:txBody>
      </p:sp>
      <p:sp>
        <p:nvSpPr>
          <p:cNvPr id="8" name="Step 3"/>
          <p:cNvSpPr/>
          <p:nvPr/>
        </p:nvSpPr>
        <p:spPr>
          <a:xfrm>
            <a:off x="4517136" y="1280160"/>
            <a:ext cx="2139696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Model</a:t>
            </a:r>
          </a:p>
        </p:txBody>
      </p:sp>
      <p:sp>
        <p:nvSpPr>
          <p:cNvPr id="9" name="Step 4"/>
          <p:cNvSpPr/>
          <p:nvPr/>
        </p:nvSpPr>
        <p:spPr>
          <a:xfrm>
            <a:off x="6547103" y="1280160"/>
            <a:ext cx="2139696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Use</a:t>
            </a:r>
          </a:p>
        </p:txBody>
      </p:sp>
      <p:sp>
        <p:nvSpPr>
          <p:cNvPr id="10" name="Step text box 1"/>
          <p:cNvSpPr/>
          <p:nvPr/>
        </p:nvSpPr>
        <p:spPr>
          <a:xfrm>
            <a:off x="502920" y="1920240"/>
            <a:ext cx="1938527" cy="1371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ep text 1"/>
          <p:cNvSpPr txBox="1"/>
          <p:nvPr/>
        </p:nvSpPr>
        <p:spPr>
          <a:xfrm>
            <a:off x="594360" y="2011680"/>
            <a:ext cx="175564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A regularity in purchase data, e.g. small brands have lower loyalty</a:t>
            </a:r>
          </a:p>
        </p:txBody>
      </p:sp>
      <p:sp>
        <p:nvSpPr>
          <p:cNvPr id="12" name="Step text box 2"/>
          <p:cNvSpPr/>
          <p:nvPr/>
        </p:nvSpPr>
        <p:spPr>
          <a:xfrm>
            <a:off x="2532887" y="1920240"/>
            <a:ext cx="1938527" cy="1371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ep text 2"/>
          <p:cNvSpPr txBox="1"/>
          <p:nvPr/>
        </p:nvSpPr>
        <p:spPr>
          <a:xfrm>
            <a:off x="2624327" y="2011680"/>
            <a:ext cx="175564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Across categories, countries, years and data sources</a:t>
            </a:r>
          </a:p>
        </p:txBody>
      </p:sp>
      <p:sp>
        <p:nvSpPr>
          <p:cNvPr id="14" name="Step text box 3"/>
          <p:cNvSpPr/>
          <p:nvPr/>
        </p:nvSpPr>
        <p:spPr>
          <a:xfrm>
            <a:off x="4562855" y="1920240"/>
            <a:ext cx="1938527" cy="1371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text 3"/>
          <p:cNvSpPr txBox="1"/>
          <p:nvPr/>
        </p:nvSpPr>
        <p:spPr>
          <a:xfrm>
            <a:off x="4654296" y="2011680"/>
            <a:ext cx="175564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Explain and predict it: NBD (1959), Dirichlet (1984)</a:t>
            </a:r>
          </a:p>
        </p:txBody>
      </p:sp>
      <p:sp>
        <p:nvSpPr>
          <p:cNvPr id="16" name="Step text box 4"/>
          <p:cNvSpPr/>
          <p:nvPr/>
        </p:nvSpPr>
        <p:spPr>
          <a:xfrm>
            <a:off x="6592823" y="1920240"/>
            <a:ext cx="1938527" cy="13716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ep text 4"/>
          <p:cNvSpPr txBox="1"/>
          <p:nvPr/>
        </p:nvSpPr>
        <p:spPr>
          <a:xfrm>
            <a:off x="6684264" y="2011680"/>
            <a:ext cx="1755648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Benchmark brands: is this loyalty normal for this size?</a:t>
            </a:r>
          </a:p>
        </p:txBody>
      </p:sp>
      <p:sp>
        <p:nvSpPr>
          <p:cNvPr id="18" name="Replication callout"/>
          <p:cNvSpPr/>
          <p:nvPr/>
        </p:nvSpPr>
        <p:spPr>
          <a:xfrm>
            <a:off x="457200" y="347472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plication callout text"/>
          <p:cNvSpPr txBox="1"/>
          <p:nvPr/>
        </p:nvSpPr>
        <p:spPr>
          <a:xfrm>
            <a:off x="640080" y="347472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bg1"/>
                </a:solidFill>
              </a:rPr>
              <a:t>Differentiated replication: </a:t>
            </a:r>
            <a:r>
              <a:rPr lang="en-GB" sz="1300" b="0" i="0">
                <a:solidFill>
                  <a:schemeClr val="bg1"/>
                </a:solidFill>
              </a:rPr>
              <a:t>one study proves little; a pattern that holds under varied conditions is a law.</a:t>
            </a:r>
          </a:p>
        </p:txBody>
      </p:sp>
      <p:sp>
        <p:nvSpPr>
          <p:cNvPr id="20" name="Source note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Ehrenberg (1995) Marketing Science; Uncles &amp; Kwok (2013) Journal of Business Research; Goodhardt, Ehrenberg &amp; Chatfield (1984).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Double Jeopardy: small brands lose twice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Definition"/>
          <p:cNvSpPr txBox="1"/>
          <p:nvPr/>
        </p:nvSpPr>
        <p:spPr>
          <a:xfrm>
            <a:off x="457200" y="1280160"/>
            <a:ext cx="484632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GB" sz="1600" b="0" i="0">
                <a:solidFill>
                  <a:schemeClr val="tx1"/>
                </a:solidFill>
              </a:rPr>
              <a:t>Smaller brands have </a:t>
            </a:r>
            <a:r>
              <a:rPr lang="en-GB" sz="1600" b="1" i="0">
                <a:solidFill>
                  <a:schemeClr val="accent1"/>
                </a:solidFill>
              </a:rPr>
              <a:t>far fewer buyers</a:t>
            </a:r>
            <a:r>
              <a:rPr lang="en-GB" sz="1600" b="0" i="0">
                <a:solidFill>
                  <a:schemeClr val="tx1"/>
                </a:solidFill>
              </a:rPr>
              <a:t>, and those buyers are </a:t>
            </a:r>
            <a:r>
              <a:rPr lang="en-GB" sz="1600" b="1" i="0">
                <a:solidFill>
                  <a:schemeClr val="accent1"/>
                </a:solidFill>
              </a:rPr>
              <a:t>slightly less loyal</a:t>
            </a:r>
            <a:r>
              <a:rPr lang="en-GB" sz="1600" b="0" i="0">
                <a:solidFill>
                  <a:schemeClr val="tx1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lang="en-GB" sz="1300" b="0" i="0">
                <a:solidFill>
                  <a:schemeClr val="tx1"/>
                </a:solidFill>
              </a:rPr>
              <a:t>First seen by sociologist William McPhee (1963) for comic strips and radio presenters; established for brands by Ehrenberg, Goodhardt &amp; Barwise (1990).</a:t>
            </a:r>
          </a:p>
        </p:txBody>
      </p:sp>
      <p:sp>
        <p:nvSpPr>
          <p:cNvPr id="7" name="Formula box"/>
          <p:cNvSpPr/>
          <p:nvPr/>
        </p:nvSpPr>
        <p:spPr>
          <a:xfrm>
            <a:off x="5486400" y="1280160"/>
            <a:ext cx="3200400" cy="19659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ormula label"/>
          <p:cNvSpPr txBox="1"/>
          <p:nvPr/>
        </p:nvSpPr>
        <p:spPr>
          <a:xfrm>
            <a:off x="5669280" y="1371600"/>
            <a:ext cx="2834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1" i="0">
                <a:solidFill>
                  <a:schemeClr val="accent6"/>
                </a:solidFill>
              </a:rPr>
              <a:t>Rule of thumb</a:t>
            </a:r>
          </a:p>
        </p:txBody>
      </p:sp>
      <p:sp>
        <p:nvSpPr>
          <p:cNvPr id="9" name="Formula"/>
          <p:cNvSpPr txBox="1"/>
          <p:nvPr/>
        </p:nvSpPr>
        <p:spPr>
          <a:xfrm>
            <a:off x="5669280" y="1737360"/>
            <a:ext cx="2834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2800" b="1" i="0">
                <a:solidFill>
                  <a:schemeClr val="bg1"/>
                </a:solidFill>
                <a:latin typeface="+mj-lt"/>
              </a:rPr>
              <a:t>w (1 − b) ≈ w</a:t>
            </a:r>
            <a:r>
              <a:rPr lang="en-GB" sz="2800" b="1" i="0" baseline="-25000">
                <a:solidFill>
                  <a:schemeClr val="bg1"/>
                </a:solidFill>
                <a:latin typeface="+mj-lt"/>
              </a:rPr>
              <a:t>0</a:t>
            </a:r>
          </a:p>
        </p:txBody>
      </p:sp>
      <p:sp>
        <p:nvSpPr>
          <p:cNvPr id="10" name="Formula legend"/>
          <p:cNvSpPr txBox="1"/>
          <p:nvPr/>
        </p:nvSpPr>
        <p:spPr>
          <a:xfrm>
            <a:off x="5669280" y="2423160"/>
            <a:ext cx="283464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bg1"/>
                </a:solidFill>
              </a:rPr>
              <a:t>b = penetration, w = purchases per buyer, w0 = constant for the category</a:t>
            </a:r>
          </a:p>
        </p:txBody>
      </p:sp>
      <p:sp>
        <p:nvSpPr>
          <p:cNvPr id="11" name="Implication"/>
          <p:cNvSpPr/>
          <p:nvPr/>
        </p:nvSpPr>
        <p:spPr>
          <a:xfrm>
            <a:off x="457200" y="3520440"/>
            <a:ext cx="8229600" cy="6858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mplication text"/>
          <p:cNvSpPr txBox="1"/>
          <p:nvPr/>
        </p:nvSpPr>
        <p:spPr>
          <a:xfrm>
            <a:off x="640080" y="3520440"/>
            <a:ext cx="7863840" cy="6858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1"/>
                </a:solidFill>
              </a:rPr>
              <a:t>Implication: </a:t>
            </a:r>
            <a:r>
              <a:rPr lang="en-GB" sz="1300" b="0" i="0">
                <a:solidFill>
                  <a:schemeClr val="tx1"/>
                </a:solidFill>
              </a:rPr>
              <a:t>a brand cannot grow big on loyalty alone; loyalty differences mostly follow from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Penetration varies a lot; loyalty only a little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graphicFrame>
        <p:nvGraphicFramePr>
          <p:cNvPr id="6" name="Chart penetration"/>
          <p:cNvGraphicFramePr>
            <a:graphicFrameLocks noGrp="1"/>
          </p:cNvGraphicFramePr>
          <p:nvPr/>
        </p:nvGraphicFramePr>
        <p:xfrm>
          <a:off x="457200" y="1234440"/>
          <a:ext cx="4023360" cy="3337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frequency"/>
          <p:cNvGraphicFramePr>
            <a:graphicFrameLocks noGrp="1"/>
          </p:cNvGraphicFramePr>
          <p:nvPr/>
        </p:nvGraphicFramePr>
        <p:xfrm>
          <a:off x="4663440" y="1234440"/>
          <a:ext cx="4023360" cy="3337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ource note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Brands A to F. Illustrative data from w(1 − b) ≈ w0 with w0 = 2.5: penetration differs 7.5-fold, purchase frequency only 1.7-fold.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Double Jeopardy happens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Reason row 1"/>
          <p:cNvSpPr/>
          <p:nvPr/>
        </p:nvSpPr>
        <p:spPr>
          <a:xfrm>
            <a:off x="457200" y="128016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 LuLayers" descr="LuLayers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411480" cy="411480"/>
          </a:xfrm>
          <a:prstGeom prst="rect">
            <a:avLst/>
          </a:prstGeom>
        </p:spPr>
      </p:pic>
      <p:sp>
        <p:nvSpPr>
          <p:cNvPr id="8" name="Reason text 1"/>
          <p:cNvSpPr txBox="1"/>
          <p:nvPr/>
        </p:nvSpPr>
        <p:spPr>
          <a:xfrm>
            <a:off x="1325880" y="1353312"/>
            <a:ext cx="722376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GB" sz="1500" b="1" i="0">
                <a:solidFill>
                  <a:schemeClr val="tx2"/>
                </a:solidFill>
                <a:latin typeface="+mj-lt"/>
              </a:rPr>
              <a:t>Buyers hold repertoires</a:t>
            </a:r>
          </a:p>
          <a:p>
            <a:pPr algn="l">
              <a:spcAft>
                <a:spcPts val="300"/>
              </a:spcAft>
            </a:pPr>
            <a:r>
              <a:rPr lang="en-GB" sz="1300" b="0" i="0">
                <a:solidFill>
                  <a:schemeClr val="tx1"/>
                </a:solidFill>
              </a:rPr>
              <a:t>Most category buyers buy several brands; 100% loyal buyers are rare and usually light buyers.</a:t>
            </a:r>
          </a:p>
        </p:txBody>
      </p:sp>
      <p:sp>
        <p:nvSpPr>
          <p:cNvPr id="9" name="Reason row 2"/>
          <p:cNvSpPr/>
          <p:nvPr/>
        </p:nvSpPr>
        <p:spPr>
          <a:xfrm>
            <a:off x="457200" y="2377439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Icon LuStore" descr="LuStore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51759"/>
            <a:ext cx="411480" cy="411480"/>
          </a:xfrm>
          <a:prstGeom prst="rect">
            <a:avLst/>
          </a:prstGeom>
        </p:spPr>
      </p:pic>
      <p:sp>
        <p:nvSpPr>
          <p:cNvPr id="11" name="Reason text 2"/>
          <p:cNvSpPr txBox="1"/>
          <p:nvPr/>
        </p:nvSpPr>
        <p:spPr>
          <a:xfrm>
            <a:off x="1325880" y="2450591"/>
            <a:ext cx="722376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GB" sz="1500" b="1" i="0">
                <a:solidFill>
                  <a:schemeClr val="tx2"/>
                </a:solidFill>
                <a:latin typeface="+mj-lt"/>
              </a:rPr>
              <a:t>Small brands are less available</a:t>
            </a:r>
          </a:p>
          <a:p>
            <a:pPr algn="l">
              <a:spcAft>
                <a:spcPts val="300"/>
              </a:spcAft>
            </a:pPr>
            <a:r>
              <a:rPr lang="en-GB" sz="1300" b="0" i="0">
                <a:solidFill>
                  <a:schemeClr val="tx1"/>
                </a:solidFill>
              </a:rPr>
              <a:t>Fewer people know them or find them in store, so they are noticed less often.</a:t>
            </a:r>
          </a:p>
        </p:txBody>
      </p:sp>
      <p:sp>
        <p:nvSpPr>
          <p:cNvPr id="12" name="Reason row 3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Icon LuUsers" descr="LuUsers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49039"/>
            <a:ext cx="411480" cy="411480"/>
          </a:xfrm>
          <a:prstGeom prst="rect">
            <a:avLst/>
          </a:prstGeom>
        </p:spPr>
      </p:pic>
      <p:sp>
        <p:nvSpPr>
          <p:cNvPr id="14" name="Reason text 3"/>
          <p:cNvSpPr txBox="1"/>
          <p:nvPr/>
        </p:nvSpPr>
        <p:spPr>
          <a:xfrm>
            <a:off x="1325880" y="3547872"/>
            <a:ext cx="722376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GB" sz="1500" b="1" i="0">
                <a:solidFill>
                  <a:schemeClr val="tx2"/>
                </a:solidFill>
                <a:latin typeface="+mj-lt"/>
              </a:rPr>
              <a:t>Their buyers also buy the leaders</a:t>
            </a:r>
          </a:p>
          <a:p>
            <a:pPr algn="l">
              <a:spcAft>
                <a:spcPts val="300"/>
              </a:spcAft>
            </a:pPr>
            <a:r>
              <a:rPr lang="en-GB" sz="1300" b="0" i="0">
                <a:solidFill>
                  <a:schemeClr val="tx1"/>
                </a:solidFill>
              </a:rPr>
              <a:t>A small brand's few buyers spend much of their category budget on big brands.</a:t>
            </a:r>
          </a:p>
        </p:txBody>
      </p:sp>
      <p:sp>
        <p:nvSpPr>
          <p:cNvPr id="15" name="Mechanism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chanism text"/>
          <p:cNvSpPr txBox="1"/>
          <p:nvPr/>
        </p:nvSpPr>
        <p:spPr>
          <a:xfrm>
            <a:off x="640080" y="4617720"/>
            <a:ext cx="7863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The Dirichlet reproduces Double Jeopardy from market shares alone.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Duplication: buyers shared by size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graphicFrame>
        <p:nvGraphicFramePr>
          <p:cNvPr id="6" name="Duplication table"/>
          <p:cNvGraphicFramePr>
            <a:graphicFrameLocks noGrp="1"/>
          </p:cNvGraphicFramePr>
          <p:nvPr/>
        </p:nvGraphicFramePr>
        <p:xfrm>
          <a:off x="457200" y="1280160"/>
          <a:ext cx="5120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Buyers of …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also A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also B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also C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also D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Brand A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–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38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Brand B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–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Brand C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53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–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Brand 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51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–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Expected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52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39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7" name="Table reading"/>
          <p:cNvSpPr txBox="1"/>
          <p:nvPr/>
        </p:nvSpPr>
        <p:spPr>
          <a:xfrm>
            <a:off x="5806440" y="1280160"/>
            <a:ext cx="2880360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lang="en-GB" sz="1300" b="0" i="0">
                <a:solidFill>
                  <a:srgbClr val="595959"/>
                </a:solidFill>
              </a:rPr>
              <a:t>% of each brand's buyers who also bought A to D.</a:t>
            </a:r>
          </a:p>
          <a:p>
            <a:pPr algn="l">
              <a:spcAft>
                <a:spcPts val="1000"/>
              </a:spcAft>
            </a:pPr>
            <a:r>
              <a:rPr lang="en-GB" sz="1300" b="1" i="0">
                <a:solidFill>
                  <a:schemeClr val="tx1"/>
                </a:solidFill>
              </a:rPr>
              <a:t>Read down a column: </a:t>
            </a:r>
            <a:r>
              <a:rPr lang="en-GB" sz="1300" b="0" i="0">
                <a:solidFill>
                  <a:schemeClr val="tx1"/>
                </a:solidFill>
              </a:rPr>
              <a:t>all brands share buyers with A at about the same rate, set by A's size.</a:t>
            </a:r>
          </a:p>
          <a:p>
            <a:pPr algn="l">
              <a:spcAft>
                <a:spcPts val="1000"/>
              </a:spcAft>
            </a:pPr>
            <a:r>
              <a:rPr lang="en-GB" sz="1300" b="1" i="0">
                <a:solidFill>
                  <a:schemeClr val="accent1"/>
                </a:solidFill>
              </a:rPr>
              <a:t>Highlighted: </a:t>
            </a:r>
            <a:r>
              <a:rPr lang="en-GB" sz="1300" b="0" i="0">
                <a:solidFill>
                  <a:schemeClr val="tx1"/>
                </a:solidFill>
              </a:rPr>
              <a:t>C and D share far more buyers than expected, a market partition.</a:t>
            </a:r>
          </a:p>
        </p:txBody>
      </p:sp>
      <p:sp>
        <p:nvSpPr>
          <p:cNvPr id="8" name="Source note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Illustrative data: penetration A 40%, B 30%, C 20%, D 10%; expected = D × penetration with D = 1.3. Law: Ehrenberg &amp; Goodhardt (1970).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Dirichlet predicts 'normal'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Dirichlet Inputs body"/>
          <p:cNvSpPr/>
          <p:nvPr/>
        </p:nvSpPr>
        <p:spPr>
          <a:xfrm>
            <a:off x="457200" y="1280160"/>
            <a:ext cx="2468879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richlet Inputs band"/>
          <p:cNvSpPr/>
          <p:nvPr/>
        </p:nvSpPr>
        <p:spPr>
          <a:xfrm>
            <a:off x="457200" y="1280160"/>
            <a:ext cx="2468879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richlet Inputs heading"/>
          <p:cNvSpPr txBox="1"/>
          <p:nvPr/>
        </p:nvSpPr>
        <p:spPr>
          <a:xfrm>
            <a:off x="566928" y="1335024"/>
            <a:ext cx="178307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Inputs</a:t>
            </a:r>
          </a:p>
        </p:txBody>
      </p:sp>
      <p:pic>
        <p:nvPicPr>
          <p:cNvPr id="9" name="Icon LuDatabase" descr="Lu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1" y="1344168"/>
            <a:ext cx="329184" cy="329184"/>
          </a:xfrm>
          <a:prstGeom prst="rect">
            <a:avLst/>
          </a:prstGeom>
        </p:spPr>
      </p:pic>
      <p:sp>
        <p:nvSpPr>
          <p:cNvPr id="10" name="Dirichlet Inputs text"/>
          <p:cNvSpPr txBox="1"/>
          <p:nvPr/>
        </p:nvSpPr>
        <p:spPr>
          <a:xfrm>
            <a:off x="594360" y="1847088"/>
            <a:ext cx="2194560" cy="16276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Category penetration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Category purchase rate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Brand market shares</a:t>
            </a:r>
          </a:p>
        </p:txBody>
      </p:sp>
      <p:sp>
        <p:nvSpPr>
          <p:cNvPr id="11" name="Arrow 1"/>
          <p:cNvSpPr/>
          <p:nvPr/>
        </p:nvSpPr>
        <p:spPr>
          <a:xfrm>
            <a:off x="2999232" y="2377440"/>
            <a:ext cx="274320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richlet Model body"/>
          <p:cNvSpPr/>
          <p:nvPr/>
        </p:nvSpPr>
        <p:spPr>
          <a:xfrm>
            <a:off x="3337560" y="1280160"/>
            <a:ext cx="2468879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richlet Model band"/>
          <p:cNvSpPr/>
          <p:nvPr/>
        </p:nvSpPr>
        <p:spPr>
          <a:xfrm>
            <a:off x="3337560" y="1280160"/>
            <a:ext cx="2468879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richlet Model heading"/>
          <p:cNvSpPr txBox="1"/>
          <p:nvPr/>
        </p:nvSpPr>
        <p:spPr>
          <a:xfrm>
            <a:off x="3447288" y="1335024"/>
            <a:ext cx="178307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Model</a:t>
            </a:r>
          </a:p>
        </p:txBody>
      </p:sp>
      <p:pic>
        <p:nvPicPr>
          <p:cNvPr id="15" name="Icon LuCalculator" descr="LuCalculato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344168"/>
            <a:ext cx="329184" cy="329184"/>
          </a:xfrm>
          <a:prstGeom prst="rect">
            <a:avLst/>
          </a:prstGeom>
        </p:spPr>
      </p:pic>
      <p:sp>
        <p:nvSpPr>
          <p:cNvPr id="16" name="Dirichlet Model text"/>
          <p:cNvSpPr txBox="1"/>
          <p:nvPr/>
        </p:nvSpPr>
        <p:spPr>
          <a:xfrm>
            <a:off x="3474720" y="1847088"/>
            <a:ext cx="2194560" cy="16276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NBD: how often people buy the category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Dirichlet: which brand each time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Assumes a stable, unpartitioned market</a:t>
            </a:r>
          </a:p>
        </p:txBody>
      </p:sp>
      <p:sp>
        <p:nvSpPr>
          <p:cNvPr id="17" name="Arrow 2"/>
          <p:cNvSpPr/>
          <p:nvPr/>
        </p:nvSpPr>
        <p:spPr>
          <a:xfrm>
            <a:off x="5879592" y="2377440"/>
            <a:ext cx="274320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richlet Outputs body"/>
          <p:cNvSpPr/>
          <p:nvPr/>
        </p:nvSpPr>
        <p:spPr>
          <a:xfrm>
            <a:off x="6217920" y="1280160"/>
            <a:ext cx="2468879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richlet Outputs band"/>
          <p:cNvSpPr/>
          <p:nvPr/>
        </p:nvSpPr>
        <p:spPr>
          <a:xfrm>
            <a:off x="6217920" y="1280160"/>
            <a:ext cx="2468879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richlet Outputs heading"/>
          <p:cNvSpPr txBox="1"/>
          <p:nvPr/>
        </p:nvSpPr>
        <p:spPr>
          <a:xfrm>
            <a:off x="6327648" y="1335024"/>
            <a:ext cx="178307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Outputs</a:t>
            </a:r>
          </a:p>
        </p:txBody>
      </p:sp>
      <p:pic>
        <p:nvPicPr>
          <p:cNvPr id="21" name="Icon LuChartColumn" descr="LuChartColum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22" name="Dirichlet Outputs text"/>
          <p:cNvSpPr txBox="1"/>
          <p:nvPr/>
        </p:nvSpPr>
        <p:spPr>
          <a:xfrm>
            <a:off x="6355080" y="1847088"/>
            <a:ext cx="2194560" cy="16276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Penetration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Purchase frequency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Share of requirements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% sole buyers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Duplication</a:t>
            </a:r>
          </a:p>
        </p:txBody>
      </p:sp>
      <p:sp>
        <p:nvSpPr>
          <p:cNvPr id="23" name="Benchmark"/>
          <p:cNvSpPr/>
          <p:nvPr/>
        </p:nvSpPr>
        <p:spPr>
          <a:xfrm>
            <a:off x="457200" y="3749039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enchmark text"/>
          <p:cNvSpPr txBox="1"/>
          <p:nvPr/>
        </p:nvSpPr>
        <p:spPr>
          <a:xfrm>
            <a:off x="640080" y="3749039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Use the predictions as benchmarks: the deviation is the interesting finding.</a:t>
            </a:r>
          </a:p>
        </p:txBody>
      </p:sp>
      <p:sp>
        <p:nvSpPr>
          <p:cNvPr id="25" name="Source note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Goodhardt, Ehrenberg &amp; Chatfield (1984); Ehrenberg, Uncles &amp; Goodhardt (2004); R package NBDdirichlet.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Light buyers matter more than expected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Stat bar 1"/>
          <p:cNvSpPr/>
          <p:nvPr/>
        </p:nvSpPr>
        <p:spPr>
          <a:xfrm>
            <a:off x="457200" y="1353312"/>
            <a:ext cx="64008" cy="65836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 figure 1"/>
          <p:cNvSpPr txBox="1"/>
          <p:nvPr/>
        </p:nvSpPr>
        <p:spPr>
          <a:xfrm>
            <a:off x="640080" y="1280160"/>
            <a:ext cx="18288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800" b="1" i="0">
                <a:solidFill>
                  <a:schemeClr val="tx2"/>
                </a:solidFill>
                <a:latin typeface="+mj-lt"/>
              </a:rPr>
              <a:t>≈ 60/20</a:t>
            </a:r>
          </a:p>
        </p:txBody>
      </p:sp>
      <p:sp>
        <p:nvSpPr>
          <p:cNvPr id="8" name="Stat text 1"/>
          <p:cNvSpPr txBox="1"/>
          <p:nvPr/>
        </p:nvSpPr>
        <p:spPr>
          <a:xfrm>
            <a:off x="2560320" y="1325880"/>
            <a:ext cx="6126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300" b="0" i="0">
                <a:solidFill>
                  <a:schemeClr val="tx1"/>
                </a:solidFill>
              </a:rPr>
              <a:t>The heaviest 20% of a brand's buyers deliver about 60% of its sales, not 80%.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Sharp, Romaniuk &amp; Graham (2019)</a:t>
            </a:r>
          </a:p>
        </p:txBody>
      </p:sp>
      <p:sp>
        <p:nvSpPr>
          <p:cNvPr id="9" name="Stat bar 2"/>
          <p:cNvSpPr/>
          <p:nvPr/>
        </p:nvSpPr>
        <p:spPr>
          <a:xfrm>
            <a:off x="457200" y="2267712"/>
            <a:ext cx="64008" cy="65836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 figure 2"/>
          <p:cNvSpPr txBox="1"/>
          <p:nvPr/>
        </p:nvSpPr>
        <p:spPr>
          <a:xfrm>
            <a:off x="640080" y="2194560"/>
            <a:ext cx="18288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800" b="1" i="0">
                <a:solidFill>
                  <a:schemeClr val="tx2"/>
                </a:solidFill>
                <a:latin typeface="+mj-lt"/>
              </a:rPr>
              <a:t>&gt; 1/3</a:t>
            </a:r>
          </a:p>
        </p:txBody>
      </p:sp>
      <p:sp>
        <p:nvSpPr>
          <p:cNvPr id="11" name="Stat text 2"/>
          <p:cNvSpPr txBox="1"/>
          <p:nvPr/>
        </p:nvSpPr>
        <p:spPr>
          <a:xfrm>
            <a:off x="2560320" y="2240279"/>
            <a:ext cx="6126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300" b="0" i="0">
                <a:solidFill>
                  <a:schemeClr val="tx1"/>
                </a:solidFill>
              </a:rPr>
              <a:t>of a brand's buyers buy it only once in five years, yet they are vital to sales.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Graham &amp; Kennedy (2021)</a:t>
            </a:r>
          </a:p>
        </p:txBody>
      </p:sp>
      <p:sp>
        <p:nvSpPr>
          <p:cNvPr id="12" name="Stat bar 3"/>
          <p:cNvSpPr/>
          <p:nvPr/>
        </p:nvSpPr>
        <p:spPr>
          <a:xfrm>
            <a:off x="457200" y="3182112"/>
            <a:ext cx="64008" cy="65836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at figure 3"/>
          <p:cNvSpPr txBox="1"/>
          <p:nvPr/>
        </p:nvSpPr>
        <p:spPr>
          <a:xfrm>
            <a:off x="640080" y="3108960"/>
            <a:ext cx="182880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800" b="1" i="0">
                <a:solidFill>
                  <a:schemeClr val="tx2"/>
                </a:solidFill>
                <a:latin typeface="+mj-lt"/>
              </a:rPr>
              <a:t>Bigger</a:t>
            </a:r>
          </a:p>
        </p:txBody>
      </p:sp>
      <p:sp>
        <p:nvSpPr>
          <p:cNvPr id="14" name="Stat text 3"/>
          <p:cNvSpPr txBox="1"/>
          <p:nvPr/>
        </p:nvSpPr>
        <p:spPr>
          <a:xfrm>
            <a:off x="2560320" y="3154679"/>
            <a:ext cx="61264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300" b="0" i="0">
                <a:solidFill>
                  <a:schemeClr val="tx1"/>
                </a:solidFill>
              </a:rPr>
              <a:t>brands attract an even higher share of light category buyers (Natural Monopoly).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Sharp (2010); Stocchi et al. (2017)</a:t>
            </a:r>
          </a:p>
        </p:txBody>
      </p:sp>
      <p:sp>
        <p:nvSpPr>
          <p:cNvPr id="15" name="Stat takeaway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 takeaway text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1"/>
                </a:solidFill>
              </a:rPr>
              <a:t>Takeaway: </a:t>
            </a:r>
            <a:r>
              <a:rPr lang="en-GB" sz="1300" b="0" i="0">
                <a:solidFill>
                  <a:schemeClr val="tx1"/>
                </a:solidFill>
              </a:rPr>
              <a:t>plans that only talk to heavy, loyal buyers miss most of the growth potential.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Part 2 of 5 · penetration and availability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How brands grow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4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5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Brands grow by winning more buyers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Penetration points"/>
          <p:cNvSpPr txBox="1"/>
          <p:nvPr/>
        </p:nvSpPr>
        <p:spPr>
          <a:xfrm>
            <a:off x="457200" y="1280160"/>
            <a:ext cx="448056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lang="en-GB" sz="1400" b="1" i="0">
                <a:solidFill>
                  <a:schemeClr val="tx2"/>
                </a:solidFill>
              </a:rPr>
              <a:t>Penetration moves most </a:t>
            </a:r>
            <a:r>
              <a:rPr lang="en-GB" sz="1400" b="0" i="0">
                <a:solidFill>
                  <a:schemeClr val="tx1"/>
                </a:solidFill>
              </a:rPr>
              <a:t>when brands grow or decline; loyalty moves a little, as Double Jeopardy predicts.</a:t>
            </a:r>
          </a:p>
          <a:p>
            <a:pPr algn="l">
              <a:spcAft>
                <a:spcPts val="1400"/>
              </a:spcAft>
            </a:pPr>
            <a:r>
              <a:rPr lang="en-GB" sz="1400" b="1" i="0">
                <a:solidFill>
                  <a:schemeClr val="tx2"/>
                </a:solidFill>
              </a:rPr>
              <a:t>Loyalty schemes </a:t>
            </a:r>
            <a:r>
              <a:rPr lang="en-GB" sz="1400" b="0" i="0">
                <a:solidFill>
                  <a:schemeClr val="tx1"/>
                </a:solidFill>
              </a:rPr>
              <a:t>barely change repeat buying relative to Dirichlet norms.</a:t>
            </a:r>
          </a:p>
          <a:p>
            <a:pPr algn="l">
              <a:spcAft>
                <a:spcPts val="1400"/>
              </a:spcAft>
            </a:pPr>
            <a:r>
              <a:rPr lang="en-GB" sz="1400" b="1" i="0">
                <a:solidFill>
                  <a:schemeClr val="tx2"/>
                </a:solidFill>
              </a:rPr>
              <a:t>So the job is </a:t>
            </a:r>
            <a:r>
              <a:rPr lang="en-GB" sz="1400" b="0" i="0">
                <a:solidFill>
                  <a:schemeClr val="tx1"/>
                </a:solidFill>
              </a:rPr>
              <a:t>to reach and be bought by all category buyers, including light and non-buyers.</a:t>
            </a:r>
          </a:p>
        </p:txBody>
      </p:sp>
      <p:sp>
        <p:nvSpPr>
          <p:cNvPr id="7" name="Evidence body"/>
          <p:cNvSpPr/>
          <p:nvPr/>
        </p:nvSpPr>
        <p:spPr>
          <a:xfrm>
            <a:off x="5120640" y="1280160"/>
            <a:ext cx="356616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vidence band"/>
          <p:cNvSpPr/>
          <p:nvPr/>
        </p:nvSpPr>
        <p:spPr>
          <a:xfrm>
            <a:off x="5120640" y="1280160"/>
            <a:ext cx="35661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vidence heading"/>
          <p:cNvSpPr txBox="1"/>
          <p:nvPr/>
        </p:nvSpPr>
        <p:spPr>
          <a:xfrm>
            <a:off x="5230368" y="1335024"/>
            <a:ext cx="28803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Evidence</a:t>
            </a:r>
          </a:p>
        </p:txBody>
      </p:sp>
      <p:pic>
        <p:nvPicPr>
          <p:cNvPr id="10" name="Icon LuTrendingUp" descr="LuTrendingUp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11" name="Evidence text"/>
          <p:cNvSpPr txBox="1"/>
          <p:nvPr/>
        </p:nvSpPr>
        <p:spPr>
          <a:xfrm>
            <a:off x="5257800" y="1847088"/>
            <a:ext cx="3291840" cy="1581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1"/>
                </a:solidFill>
              </a:rPr>
              <a:t>Dawes (2016): </a:t>
            </a:r>
            <a:r>
              <a:rPr lang="en-GB" sz="1200" b="0" i="0">
                <a:solidFill>
                  <a:schemeClr val="tx1"/>
                </a:solidFill>
              </a:rPr>
              <a:t>ten growth cases, growth via penetration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1"/>
                </a:solidFill>
              </a:rPr>
              <a:t>Sharp &amp; Sharp (1997): </a:t>
            </a:r>
            <a:r>
              <a:rPr lang="en-GB" sz="1200" b="0" i="0">
                <a:solidFill>
                  <a:schemeClr val="tx1"/>
                </a:solidFill>
              </a:rPr>
              <a:t>loyalty programmes and repeat buying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1"/>
                </a:solidFill>
              </a:rPr>
              <a:t>Barker-Trowse et al. (2026): </a:t>
            </a:r>
            <a:r>
              <a:rPr lang="en-GB" sz="1200" b="0" i="0">
                <a:solidFill>
                  <a:schemeClr val="tx1"/>
                </a:solidFill>
              </a:rPr>
              <a:t>tiny brands, limits of loyalty</a:t>
            </a:r>
          </a:p>
        </p:txBody>
      </p:sp>
      <p:sp>
        <p:nvSpPr>
          <p:cNvPr id="12" name="Growth question"/>
          <p:cNvSpPr/>
          <p:nvPr/>
        </p:nvSpPr>
        <p:spPr>
          <a:xfrm>
            <a:off x="457200" y="3749039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owth question text"/>
          <p:cNvSpPr txBox="1"/>
          <p:nvPr/>
        </p:nvSpPr>
        <p:spPr>
          <a:xfrm>
            <a:off x="640080" y="3749039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bg1"/>
                </a:solidFill>
              </a:rPr>
              <a:t>Ask: </a:t>
            </a:r>
            <a:r>
              <a:rPr lang="en-GB" sz="1300" b="0" i="0">
                <a:solidFill>
                  <a:schemeClr val="bg1"/>
                </a:solidFill>
              </a:rPr>
              <a:t>how do we reach more category buyers, not how do we make buyers more loyal?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Two kinds of availability drive penetration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Mental body"/>
          <p:cNvSpPr/>
          <p:nvPr/>
        </p:nvSpPr>
        <p:spPr>
          <a:xfrm>
            <a:off x="457200" y="1280160"/>
            <a:ext cx="4032504" cy="2377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ental band"/>
          <p:cNvSpPr/>
          <p:nvPr/>
        </p:nvSpPr>
        <p:spPr>
          <a:xfrm>
            <a:off x="457200" y="128016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ental heading"/>
          <p:cNvSpPr txBox="1"/>
          <p:nvPr/>
        </p:nvSpPr>
        <p:spPr>
          <a:xfrm>
            <a:off x="566928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Mental availability</a:t>
            </a:r>
          </a:p>
        </p:txBody>
      </p:sp>
      <p:pic>
        <p:nvPicPr>
          <p:cNvPr id="9" name="Icon LuBrain" descr="LuBrai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936" y="1344168"/>
            <a:ext cx="329184" cy="329184"/>
          </a:xfrm>
          <a:prstGeom prst="rect">
            <a:avLst/>
          </a:prstGeom>
        </p:spPr>
      </p:pic>
      <p:sp>
        <p:nvSpPr>
          <p:cNvPr id="10" name="Mental text"/>
          <p:cNvSpPr txBox="1"/>
          <p:nvPr/>
        </p:nvSpPr>
        <p:spPr>
          <a:xfrm>
            <a:off x="594360" y="1847088"/>
            <a:ext cx="3758184" cy="17190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What: </a:t>
            </a:r>
            <a:r>
              <a:rPr lang="en-GB" sz="1300" b="0" i="0">
                <a:solidFill>
                  <a:schemeClr val="tx1"/>
                </a:solidFill>
              </a:rPr>
              <a:t>the chance the brand comes to mind in buying situations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Built by: </a:t>
            </a:r>
            <a:r>
              <a:rPr lang="en-GB" sz="1300" b="0" i="0">
                <a:solidFill>
                  <a:schemeClr val="tx1"/>
                </a:solidFill>
              </a:rPr>
              <a:t>broad reach, consistent distinctive assets, links to many entry points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Measured by: </a:t>
            </a:r>
            <a:r>
              <a:rPr lang="en-GB" sz="1300" b="0" i="0">
                <a:solidFill>
                  <a:schemeClr val="tx1"/>
                </a:solidFill>
              </a:rPr>
              <a:t>mental penetration, network size, mental market share</a:t>
            </a:r>
          </a:p>
        </p:txBody>
      </p:sp>
      <p:sp>
        <p:nvSpPr>
          <p:cNvPr id="11" name="Physical body"/>
          <p:cNvSpPr/>
          <p:nvPr/>
        </p:nvSpPr>
        <p:spPr>
          <a:xfrm>
            <a:off x="4654296" y="1280160"/>
            <a:ext cx="4032504" cy="2377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hysical band"/>
          <p:cNvSpPr/>
          <p:nvPr/>
        </p:nvSpPr>
        <p:spPr>
          <a:xfrm>
            <a:off x="4654296" y="128016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hysical heading"/>
          <p:cNvSpPr txBox="1"/>
          <p:nvPr/>
        </p:nvSpPr>
        <p:spPr>
          <a:xfrm>
            <a:off x="4764024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Physical availability</a:t>
            </a:r>
          </a:p>
        </p:txBody>
      </p:sp>
      <p:pic>
        <p:nvPicPr>
          <p:cNvPr id="14" name="Icon LuShoppingCart" descr="LuShoppingCar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15" name="Physical text"/>
          <p:cNvSpPr txBox="1"/>
          <p:nvPr/>
        </p:nvSpPr>
        <p:spPr>
          <a:xfrm>
            <a:off x="4791456" y="1847088"/>
            <a:ext cx="3758184" cy="17190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What: </a:t>
            </a:r>
            <a:r>
              <a:rPr lang="en-GB" sz="1300" b="0" i="0">
                <a:solidFill>
                  <a:schemeClr val="tx1"/>
                </a:solidFill>
              </a:rPr>
              <a:t>how easy the brand is to find and buy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Built by: </a:t>
            </a:r>
            <a:r>
              <a:rPr lang="en-GB" sz="1300" b="0" i="0">
                <a:solidFill>
                  <a:schemeClr val="tx1"/>
                </a:solidFill>
              </a:rPr>
              <a:t>presence, relevant range and pack sizes, prominence on shelf and online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Measured by: </a:t>
            </a:r>
            <a:r>
              <a:rPr lang="en-GB" sz="1300" b="0" i="0">
                <a:solidFill>
                  <a:schemeClr val="tx1"/>
                </a:solidFill>
              </a:rPr>
              <a:t>weighted distribution, share of shelf, search visibility</a:t>
            </a:r>
          </a:p>
        </p:txBody>
      </p:sp>
      <p:sp>
        <p:nvSpPr>
          <p:cNvPr id="16" name="Availability callout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vailability callout text"/>
          <p:cNvSpPr txBox="1"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bg1"/>
                </a:solidFill>
              </a:rPr>
              <a:t>Both are needed: </a:t>
            </a:r>
            <a:r>
              <a:rPr lang="en-GB" sz="1300" b="0" i="0">
                <a:solidFill>
                  <a:schemeClr val="bg1"/>
                </a:solidFill>
              </a:rPr>
              <a:t>a brand nobody thinks of, or nobody can find, cannot grow.</a:t>
            </a:r>
          </a:p>
        </p:txBody>
      </p:sp>
      <p:sp>
        <p:nvSpPr>
          <p:cNvPr id="18" name="Source note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Sharp (2010), ch. 12; Romaniuk (2022) Better Brand Health; Romaniuk (2013) Journal of Business Research.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Category Entry Points: buying cues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CEP card 1"/>
          <p:cNvSpPr/>
          <p:nvPr/>
        </p:nvSpPr>
        <p:spPr>
          <a:xfrm>
            <a:off x="457200" y="12801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EP band 1"/>
          <p:cNvSpPr/>
          <p:nvPr/>
        </p:nvSpPr>
        <p:spPr>
          <a:xfrm>
            <a:off x="457200" y="12801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EP heading 1"/>
          <p:cNvSpPr txBox="1"/>
          <p:nvPr/>
        </p:nvSpPr>
        <p:spPr>
          <a:xfrm>
            <a:off x="548640" y="12801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Why</a:t>
            </a:r>
          </a:p>
        </p:txBody>
      </p:sp>
      <p:sp>
        <p:nvSpPr>
          <p:cNvPr id="9" name="CEP example 1"/>
          <p:cNvSpPr txBox="1"/>
          <p:nvPr/>
        </p:nvSpPr>
        <p:spPr>
          <a:xfrm>
            <a:off x="548640" y="17373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to wake up, to celebrate</a:t>
            </a:r>
          </a:p>
        </p:txBody>
      </p:sp>
      <p:sp>
        <p:nvSpPr>
          <p:cNvPr id="10" name="CEP card 2"/>
          <p:cNvSpPr/>
          <p:nvPr/>
        </p:nvSpPr>
        <p:spPr>
          <a:xfrm>
            <a:off x="2555748" y="12801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EP band 2"/>
          <p:cNvSpPr/>
          <p:nvPr/>
        </p:nvSpPr>
        <p:spPr>
          <a:xfrm>
            <a:off x="2555748" y="12801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EP heading 2"/>
          <p:cNvSpPr txBox="1"/>
          <p:nvPr/>
        </p:nvSpPr>
        <p:spPr>
          <a:xfrm>
            <a:off x="2647188" y="12801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When</a:t>
            </a:r>
          </a:p>
        </p:txBody>
      </p:sp>
      <p:sp>
        <p:nvSpPr>
          <p:cNvPr id="13" name="CEP example 2"/>
          <p:cNvSpPr txBox="1"/>
          <p:nvPr/>
        </p:nvSpPr>
        <p:spPr>
          <a:xfrm>
            <a:off x="2647188" y="17373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Monday morning, Christmas</a:t>
            </a:r>
          </a:p>
        </p:txBody>
      </p:sp>
      <p:sp>
        <p:nvSpPr>
          <p:cNvPr id="14" name="CEP card 3"/>
          <p:cNvSpPr/>
          <p:nvPr/>
        </p:nvSpPr>
        <p:spPr>
          <a:xfrm>
            <a:off x="4654296" y="12801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EP band 3"/>
          <p:cNvSpPr/>
          <p:nvPr/>
        </p:nvSpPr>
        <p:spPr>
          <a:xfrm>
            <a:off x="4654296" y="12801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EP heading 3"/>
          <p:cNvSpPr txBox="1"/>
          <p:nvPr/>
        </p:nvSpPr>
        <p:spPr>
          <a:xfrm>
            <a:off x="4745736" y="12801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Where</a:t>
            </a:r>
          </a:p>
        </p:txBody>
      </p:sp>
      <p:sp>
        <p:nvSpPr>
          <p:cNvPr id="17" name="CEP example 3"/>
          <p:cNvSpPr txBox="1"/>
          <p:nvPr/>
        </p:nvSpPr>
        <p:spPr>
          <a:xfrm>
            <a:off x="4745736" y="17373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at work, at the ski hut</a:t>
            </a:r>
          </a:p>
        </p:txBody>
      </p:sp>
      <p:sp>
        <p:nvSpPr>
          <p:cNvPr id="18" name="CEP card 4"/>
          <p:cNvSpPr/>
          <p:nvPr/>
        </p:nvSpPr>
        <p:spPr>
          <a:xfrm>
            <a:off x="6752844" y="12801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EP band 4"/>
          <p:cNvSpPr/>
          <p:nvPr/>
        </p:nvSpPr>
        <p:spPr>
          <a:xfrm>
            <a:off x="6752844" y="12801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EP heading 4"/>
          <p:cNvSpPr txBox="1"/>
          <p:nvPr/>
        </p:nvSpPr>
        <p:spPr>
          <a:xfrm>
            <a:off x="6844284" y="12801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With whom</a:t>
            </a:r>
          </a:p>
        </p:txBody>
      </p:sp>
      <p:sp>
        <p:nvSpPr>
          <p:cNvPr id="21" name="CEP example 4"/>
          <p:cNvSpPr txBox="1"/>
          <p:nvPr/>
        </p:nvSpPr>
        <p:spPr>
          <a:xfrm>
            <a:off x="6844284" y="17373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friends, kids, alone</a:t>
            </a:r>
          </a:p>
        </p:txBody>
      </p:sp>
      <p:sp>
        <p:nvSpPr>
          <p:cNvPr id="22" name="CEP card 5"/>
          <p:cNvSpPr/>
          <p:nvPr/>
        </p:nvSpPr>
        <p:spPr>
          <a:xfrm>
            <a:off x="457200" y="26517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EP band 5"/>
          <p:cNvSpPr/>
          <p:nvPr/>
        </p:nvSpPr>
        <p:spPr>
          <a:xfrm>
            <a:off x="457200" y="26517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EP heading 5"/>
          <p:cNvSpPr txBox="1"/>
          <p:nvPr/>
        </p:nvSpPr>
        <p:spPr>
          <a:xfrm>
            <a:off x="548640" y="26517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With what</a:t>
            </a:r>
          </a:p>
        </p:txBody>
      </p:sp>
      <p:sp>
        <p:nvSpPr>
          <p:cNvPr id="25" name="CEP example 5"/>
          <p:cNvSpPr txBox="1"/>
          <p:nvPr/>
        </p:nvSpPr>
        <p:spPr>
          <a:xfrm>
            <a:off x="548640" y="31089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with breakfast, with pizza</a:t>
            </a:r>
          </a:p>
        </p:txBody>
      </p:sp>
      <p:sp>
        <p:nvSpPr>
          <p:cNvPr id="26" name="CEP card 6"/>
          <p:cNvSpPr/>
          <p:nvPr/>
        </p:nvSpPr>
        <p:spPr>
          <a:xfrm>
            <a:off x="2555748" y="26517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EP band 6"/>
          <p:cNvSpPr/>
          <p:nvPr/>
        </p:nvSpPr>
        <p:spPr>
          <a:xfrm>
            <a:off x="2555748" y="26517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EP heading 6"/>
          <p:cNvSpPr txBox="1"/>
          <p:nvPr/>
        </p:nvSpPr>
        <p:spPr>
          <a:xfrm>
            <a:off x="2647188" y="26517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While</a:t>
            </a:r>
          </a:p>
        </p:txBody>
      </p:sp>
      <p:sp>
        <p:nvSpPr>
          <p:cNvPr id="29" name="CEP example 6"/>
          <p:cNvSpPr txBox="1"/>
          <p:nvPr/>
        </p:nvSpPr>
        <p:spPr>
          <a:xfrm>
            <a:off x="2647188" y="31089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studying, driving</a:t>
            </a:r>
          </a:p>
        </p:txBody>
      </p:sp>
      <p:sp>
        <p:nvSpPr>
          <p:cNvPr id="30" name="CEP card 7"/>
          <p:cNvSpPr/>
          <p:nvPr/>
        </p:nvSpPr>
        <p:spPr>
          <a:xfrm>
            <a:off x="4654296" y="2651760"/>
            <a:ext cx="1933956" cy="120700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EP band 7"/>
          <p:cNvSpPr/>
          <p:nvPr/>
        </p:nvSpPr>
        <p:spPr>
          <a:xfrm>
            <a:off x="4654296" y="2651760"/>
            <a:ext cx="1933956" cy="3840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EP heading 7"/>
          <p:cNvSpPr txBox="1"/>
          <p:nvPr/>
        </p:nvSpPr>
        <p:spPr>
          <a:xfrm>
            <a:off x="4745736" y="2651760"/>
            <a:ext cx="1751076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400" b="1" i="0">
                <a:solidFill>
                  <a:schemeClr val="bg1"/>
                </a:solidFill>
                <a:latin typeface="+mj-lt"/>
              </a:rPr>
              <a:t>Feeling</a:t>
            </a:r>
          </a:p>
        </p:txBody>
      </p:sp>
      <p:sp>
        <p:nvSpPr>
          <p:cNvPr id="33" name="CEP example 7"/>
          <p:cNvSpPr txBox="1"/>
          <p:nvPr/>
        </p:nvSpPr>
        <p:spPr>
          <a:xfrm>
            <a:off x="4745736" y="3108960"/>
            <a:ext cx="1751076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0" i="0">
                <a:solidFill>
                  <a:schemeClr val="tx1"/>
                </a:solidFill>
              </a:rPr>
              <a:t>tired, festive, stressed</a:t>
            </a:r>
          </a:p>
        </p:txBody>
      </p:sp>
      <p:sp>
        <p:nvSpPr>
          <p:cNvPr id="34" name="CEP goal"/>
          <p:cNvSpPr/>
          <p:nvPr/>
        </p:nvSpPr>
        <p:spPr>
          <a:xfrm>
            <a:off x="6752844" y="2651760"/>
            <a:ext cx="1933956" cy="120700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EP goal text"/>
          <p:cNvSpPr txBox="1"/>
          <p:nvPr/>
        </p:nvSpPr>
        <p:spPr>
          <a:xfrm>
            <a:off x="6844284" y="2697480"/>
            <a:ext cx="1751076" cy="11155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b="1" i="0">
                <a:solidFill>
                  <a:schemeClr val="bg1"/>
                </a:solidFill>
              </a:rPr>
              <a:t>Goal: link the brand to more entry points, for more buyers</a:t>
            </a:r>
          </a:p>
        </p:txBody>
      </p:sp>
      <p:sp>
        <p:nvSpPr>
          <p:cNvPr id="36" name="Source note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Examples for a coffee or energy drink brand. Romaniuk (2022); LinkedIn B2B Institute, Category Entry Points in a B2B World.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Part 3 of 5 · recognised beats different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Brand distinctiveness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4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5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Distinctiveness over differentiation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Differentiation body"/>
          <p:cNvSpPr/>
          <p:nvPr/>
        </p:nvSpPr>
        <p:spPr>
          <a:xfrm>
            <a:off x="457200" y="1280160"/>
            <a:ext cx="4032504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fferentiation band"/>
          <p:cNvSpPr/>
          <p:nvPr/>
        </p:nvSpPr>
        <p:spPr>
          <a:xfrm>
            <a:off x="457200" y="1280160"/>
            <a:ext cx="403250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fferentiation heading"/>
          <p:cNvSpPr txBox="1"/>
          <p:nvPr/>
        </p:nvSpPr>
        <p:spPr>
          <a:xfrm>
            <a:off x="566928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Differentiation</a:t>
            </a:r>
          </a:p>
        </p:txBody>
      </p:sp>
      <p:pic>
        <p:nvPicPr>
          <p:cNvPr id="9" name="Icon LuScale" descr="LuScal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936" y="1344168"/>
            <a:ext cx="329184" cy="329184"/>
          </a:xfrm>
          <a:prstGeom prst="rect">
            <a:avLst/>
          </a:prstGeom>
        </p:spPr>
      </p:pic>
      <p:sp>
        <p:nvSpPr>
          <p:cNvPr id="10" name="Differentiation text"/>
          <p:cNvSpPr txBox="1"/>
          <p:nvPr/>
        </p:nvSpPr>
        <p:spPr>
          <a:xfrm>
            <a:off x="594360" y="1847088"/>
            <a:ext cx="3758184" cy="1444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Idea: </a:t>
            </a:r>
            <a:r>
              <a:rPr lang="en-GB" sz="1300" b="0" i="0">
                <a:solidFill>
                  <a:schemeClr val="tx1"/>
                </a:solidFill>
              </a:rPr>
              <a:t>a meaningful difference gives a reason to prefer the brand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Evidence: </a:t>
            </a:r>
            <a:r>
              <a:rPr lang="en-GB" sz="1300" b="0" i="0">
                <a:solidFill>
                  <a:schemeClr val="tx1"/>
                </a:solidFill>
              </a:rPr>
              <a:t>few buyers see competing brands as different; image profiles look alike once size is controlled</a:t>
            </a:r>
          </a:p>
        </p:txBody>
      </p:sp>
      <p:sp>
        <p:nvSpPr>
          <p:cNvPr id="11" name="Distinctiveness body"/>
          <p:cNvSpPr/>
          <p:nvPr/>
        </p:nvSpPr>
        <p:spPr>
          <a:xfrm>
            <a:off x="4654296" y="1280160"/>
            <a:ext cx="4032504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stinctiveness band"/>
          <p:cNvSpPr/>
          <p:nvPr/>
        </p:nvSpPr>
        <p:spPr>
          <a:xfrm>
            <a:off x="4654296" y="128016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stinctiveness heading"/>
          <p:cNvSpPr txBox="1"/>
          <p:nvPr/>
        </p:nvSpPr>
        <p:spPr>
          <a:xfrm>
            <a:off x="4764024" y="133502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Distinctiveness</a:t>
            </a:r>
          </a:p>
        </p:txBody>
      </p:sp>
      <p:pic>
        <p:nvPicPr>
          <p:cNvPr id="14" name="Icon LuFingerprint" descr="LuFingerprin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15" name="Distinctiveness text"/>
          <p:cNvSpPr txBox="1"/>
          <p:nvPr/>
        </p:nvSpPr>
        <p:spPr>
          <a:xfrm>
            <a:off x="4791456" y="1847088"/>
            <a:ext cx="3758184" cy="1444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Idea: </a:t>
            </a:r>
            <a:r>
              <a:rPr lang="en-GB" sz="1300" b="0" i="0">
                <a:solidFill>
                  <a:schemeClr val="tx1"/>
                </a:solidFill>
              </a:rPr>
              <a:t>branding that lets buyers identify the brand without reading the name</a:t>
            </a:r>
          </a:p>
          <a:p>
            <a:pPr algn="l">
              <a:spcAft>
                <a:spcPts val="700"/>
              </a:spcAft>
            </a:pPr>
            <a:r>
              <a:rPr lang="en-GB" sz="1300" b="1" i="0">
                <a:solidFill>
                  <a:schemeClr val="tx1"/>
                </a:solidFill>
              </a:rPr>
              <a:t>Assets: </a:t>
            </a:r>
            <a:r>
              <a:rPr lang="en-GB" sz="1300" b="0" i="0">
                <a:solidFill>
                  <a:schemeClr val="tx1"/>
                </a:solidFill>
              </a:rPr>
              <a:t>colours, logos, shapes, characters, slogans, sonic logos, fonts</a:t>
            </a:r>
          </a:p>
        </p:txBody>
      </p:sp>
      <p:sp>
        <p:nvSpPr>
          <p:cNvPr id="16" name="Source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Ehrenberg, Barnard &amp; Scriven (1997); Romaniuk, Sharp &amp; Ehrenberg (2007); Romaniuk &amp; Gaillard (2007); Romaniuk &amp; Ehrenberg (2012).</a:t>
            </a:r>
          </a:p>
        </p:txBody>
      </p:sp>
      <p:sp>
        <p:nvSpPr>
          <p:cNvPr id="17" name="Branding job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randing job text"/>
          <p:cNvSpPr txBox="1"/>
          <p:nvPr/>
        </p:nvSpPr>
        <p:spPr>
          <a:xfrm>
            <a:off x="640080" y="356616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bg1"/>
                </a:solidFill>
              </a:rPr>
              <a:t>Branding's first job: </a:t>
            </a:r>
            <a:r>
              <a:rPr lang="en-GB" sz="1300" b="0" i="0">
                <a:solidFill>
                  <a:schemeClr val="bg1"/>
                </a:solidFill>
              </a:rPr>
              <a:t>be noticed and recognised; being liked comes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asset grid: fame × uniqueness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Quadrant Avoid solo use"/>
          <p:cNvSpPr/>
          <p:nvPr/>
        </p:nvSpPr>
        <p:spPr>
          <a:xfrm>
            <a:off x="1920240" y="1234440"/>
            <a:ext cx="288036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Quadrant heading Avoid solo use"/>
          <p:cNvSpPr txBox="1"/>
          <p:nvPr/>
        </p:nvSpPr>
        <p:spPr>
          <a:xfrm>
            <a:off x="2057400" y="132588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tx2"/>
                </a:solidFill>
                <a:latin typeface="+mj-lt"/>
              </a:rPr>
              <a:t>Avoid solo use</a:t>
            </a:r>
          </a:p>
        </p:txBody>
      </p:sp>
      <p:sp>
        <p:nvSpPr>
          <p:cNvPr id="8" name="Quadrant text Avoid solo use"/>
          <p:cNvSpPr txBox="1"/>
          <p:nvPr/>
        </p:nvSpPr>
        <p:spPr>
          <a:xfrm>
            <a:off x="2057400" y="1783080"/>
            <a:ext cx="26060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Famous but shared with competitors: always pair with the name</a:t>
            </a:r>
          </a:p>
        </p:txBody>
      </p:sp>
      <p:sp>
        <p:nvSpPr>
          <p:cNvPr id="9" name="Quadrant Use or lose"/>
          <p:cNvSpPr/>
          <p:nvPr/>
        </p:nvSpPr>
        <p:spPr>
          <a:xfrm>
            <a:off x="4892040" y="1234440"/>
            <a:ext cx="2880360" cy="1600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Quadrant heading Use or lose"/>
          <p:cNvSpPr txBox="1"/>
          <p:nvPr/>
        </p:nvSpPr>
        <p:spPr>
          <a:xfrm>
            <a:off x="5029200" y="132588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Use or lose</a:t>
            </a:r>
          </a:p>
        </p:txBody>
      </p:sp>
      <p:sp>
        <p:nvSpPr>
          <p:cNvPr id="11" name="Quadrant text Use or lose"/>
          <p:cNvSpPr txBox="1"/>
          <p:nvPr/>
        </p:nvSpPr>
        <p:spPr>
          <a:xfrm>
            <a:off x="5029200" y="1783080"/>
            <a:ext cx="26060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bg1"/>
                </a:solidFill>
              </a:rPr>
              <a:t>Famous and unique: use consistently, protect it</a:t>
            </a:r>
          </a:p>
        </p:txBody>
      </p:sp>
      <p:sp>
        <p:nvSpPr>
          <p:cNvPr id="12" name="Quadrant Ignore or test"/>
          <p:cNvSpPr/>
          <p:nvPr/>
        </p:nvSpPr>
        <p:spPr>
          <a:xfrm>
            <a:off x="1920240" y="2926080"/>
            <a:ext cx="288036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Quadrant heading Ignore or test"/>
          <p:cNvSpPr txBox="1"/>
          <p:nvPr/>
        </p:nvSpPr>
        <p:spPr>
          <a:xfrm>
            <a:off x="2057400" y="301752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tx2"/>
                </a:solidFill>
                <a:latin typeface="+mj-lt"/>
              </a:rPr>
              <a:t>Ignore or test</a:t>
            </a:r>
          </a:p>
        </p:txBody>
      </p:sp>
      <p:sp>
        <p:nvSpPr>
          <p:cNvPr id="14" name="Quadrant text Ignore or test"/>
          <p:cNvSpPr txBox="1"/>
          <p:nvPr/>
        </p:nvSpPr>
        <p:spPr>
          <a:xfrm>
            <a:off x="2057400" y="3474720"/>
            <a:ext cx="26060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tx1"/>
                </a:solidFill>
              </a:rPr>
              <a:t>Neither famous nor unique: drop or test further</a:t>
            </a:r>
          </a:p>
        </p:txBody>
      </p:sp>
      <p:sp>
        <p:nvSpPr>
          <p:cNvPr id="15" name="Quadrant Investment potential"/>
          <p:cNvSpPr/>
          <p:nvPr/>
        </p:nvSpPr>
        <p:spPr>
          <a:xfrm>
            <a:off x="4892040" y="2926080"/>
            <a:ext cx="2880360" cy="160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Quadrant heading Investment potential"/>
          <p:cNvSpPr txBox="1"/>
          <p:nvPr/>
        </p:nvSpPr>
        <p:spPr>
          <a:xfrm>
            <a:off x="5029200" y="3017520"/>
            <a:ext cx="260604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Investment potential</a:t>
            </a:r>
          </a:p>
        </p:txBody>
      </p:sp>
      <p:sp>
        <p:nvSpPr>
          <p:cNvPr id="17" name="Quadrant text Investment potential"/>
          <p:cNvSpPr txBox="1"/>
          <p:nvPr/>
        </p:nvSpPr>
        <p:spPr>
          <a:xfrm>
            <a:off x="5029200" y="3474720"/>
            <a:ext cx="26060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300" b="0" i="0">
                <a:solidFill>
                  <a:schemeClr val="bg1"/>
                </a:solidFill>
              </a:rPr>
              <a:t>Unique, not yet famous: build with consistent use</a:t>
            </a:r>
          </a:p>
        </p:txBody>
      </p:sp>
      <p:sp>
        <p:nvSpPr>
          <p:cNvPr id="18" name="Axis fame"/>
          <p:cNvSpPr txBox="1"/>
          <p:nvPr/>
        </p:nvSpPr>
        <p:spPr>
          <a:xfrm>
            <a:off x="457200" y="2423160"/>
            <a:ext cx="137160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lang="en-GB" sz="1100" b="0" i="0">
                <a:solidFill>
                  <a:srgbClr val="595959"/>
                </a:solidFill>
              </a:rPr>
              <a:t>Fame: % linking the asset to the brand</a:t>
            </a:r>
          </a:p>
        </p:txBody>
      </p:sp>
      <p:sp>
        <p:nvSpPr>
          <p:cNvPr id="19" name="Axis uniqueness"/>
          <p:cNvSpPr txBox="1"/>
          <p:nvPr/>
        </p:nvSpPr>
        <p:spPr>
          <a:xfrm>
            <a:off x="1920240" y="4572000"/>
            <a:ext cx="58521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1100" b="0" i="0">
                <a:solidFill>
                  <a:srgbClr val="595959"/>
                </a:solidFill>
              </a:rPr>
              <a:t>Uniqueness: % linking it to this brand only →</a:t>
            </a:r>
          </a:p>
        </p:txBody>
      </p:sp>
      <p:sp>
        <p:nvSpPr>
          <p:cNvPr id="20" name="Axis high"/>
          <p:cNvSpPr txBox="1"/>
          <p:nvPr/>
        </p:nvSpPr>
        <p:spPr>
          <a:xfrm>
            <a:off x="457200" y="1234440"/>
            <a:ext cx="1371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lang="en-GB" sz="1100" b="0" i="0">
                <a:solidFill>
                  <a:srgbClr val="595959"/>
                </a:solidFill>
              </a:rPr>
              <a:t>high</a:t>
            </a:r>
          </a:p>
        </p:txBody>
      </p:sp>
      <p:sp>
        <p:nvSpPr>
          <p:cNvPr id="21" name="Axis low"/>
          <p:cNvSpPr txBox="1"/>
          <p:nvPr/>
        </p:nvSpPr>
        <p:spPr>
          <a:xfrm>
            <a:off x="457200" y="4251960"/>
            <a:ext cx="1371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lang="en-GB" sz="1100" b="0" i="0">
                <a:solidFill>
                  <a:srgbClr val="595959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Asset decisions in practice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Case Tropicana, 2009 body"/>
          <p:cNvSpPr/>
          <p:nvPr/>
        </p:nvSpPr>
        <p:spPr>
          <a:xfrm>
            <a:off x="457200" y="1234440"/>
            <a:ext cx="4032504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se Tropicana, 2009 band"/>
          <p:cNvSpPr/>
          <p:nvPr/>
        </p:nvSpPr>
        <p:spPr>
          <a:xfrm>
            <a:off x="457200" y="12344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se Tropicana, 2009 heading"/>
          <p:cNvSpPr txBox="1"/>
          <p:nvPr/>
        </p:nvSpPr>
        <p:spPr>
          <a:xfrm>
            <a:off x="566928" y="12893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Tropicana, 2009</a:t>
            </a:r>
          </a:p>
        </p:txBody>
      </p:sp>
      <p:sp>
        <p:nvSpPr>
          <p:cNvPr id="9" name="Case Tropicana, 2009 text"/>
          <p:cNvSpPr txBox="1"/>
          <p:nvPr/>
        </p:nvSpPr>
        <p:spPr>
          <a:xfrm>
            <a:off x="594360" y="1801368"/>
            <a:ext cx="3758184" cy="941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New carton dropped the orange-with-straw image; sales reportedly fell about 20% in two months; old pack back.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2"/>
                </a:solidFill>
              </a:rPr>
              <a:t>Lost a famous, unique asset</a:t>
            </a:r>
          </a:p>
        </p:txBody>
      </p:sp>
      <p:sp>
        <p:nvSpPr>
          <p:cNvPr id="10" name="Case Gap, 2010 body"/>
          <p:cNvSpPr/>
          <p:nvPr/>
        </p:nvSpPr>
        <p:spPr>
          <a:xfrm>
            <a:off x="4654296" y="1234440"/>
            <a:ext cx="4032504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se Gap, 2010 band"/>
          <p:cNvSpPr/>
          <p:nvPr/>
        </p:nvSpPr>
        <p:spPr>
          <a:xfrm>
            <a:off x="4654296" y="12344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se Gap, 2010 heading"/>
          <p:cNvSpPr txBox="1"/>
          <p:nvPr/>
        </p:nvSpPr>
        <p:spPr>
          <a:xfrm>
            <a:off x="4764024" y="12893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Gap, 2010</a:t>
            </a:r>
          </a:p>
        </p:txBody>
      </p:sp>
      <p:sp>
        <p:nvSpPr>
          <p:cNvPr id="13" name="Case Gap, 2010 text"/>
          <p:cNvSpPr txBox="1"/>
          <p:nvPr/>
        </p:nvSpPr>
        <p:spPr>
          <a:xfrm>
            <a:off x="4791456" y="1801368"/>
            <a:ext cx="3758184" cy="941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New logo replaced the blue box; public backlash; reversed within about a week.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2"/>
                </a:solidFill>
              </a:rPr>
              <a:t>Fame takes years, loss takes days</a:t>
            </a:r>
          </a:p>
        </p:txBody>
      </p:sp>
      <p:sp>
        <p:nvSpPr>
          <p:cNvPr id="14" name="Case Mastercard, 2019 body"/>
          <p:cNvSpPr/>
          <p:nvPr/>
        </p:nvSpPr>
        <p:spPr>
          <a:xfrm>
            <a:off x="457200" y="3063240"/>
            <a:ext cx="4032504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se Mastercard, 2019 band"/>
          <p:cNvSpPr/>
          <p:nvPr/>
        </p:nvSpPr>
        <p:spPr>
          <a:xfrm>
            <a:off x="457200" y="30632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se Mastercard, 2019 heading"/>
          <p:cNvSpPr txBox="1"/>
          <p:nvPr/>
        </p:nvSpPr>
        <p:spPr>
          <a:xfrm>
            <a:off x="566928" y="31181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Mastercard, 2019</a:t>
            </a:r>
          </a:p>
        </p:txBody>
      </p:sp>
      <p:sp>
        <p:nvSpPr>
          <p:cNvPr id="17" name="Case Mastercard, 2019 text"/>
          <p:cNvSpPr txBox="1"/>
          <p:nvPr/>
        </p:nvSpPr>
        <p:spPr>
          <a:xfrm>
            <a:off x="594360" y="3630168"/>
            <a:ext cx="3758184" cy="941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Dropped the name from the logo, citing over 80% recognition of the circles; added a sonic logo.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2"/>
                </a:solidFill>
              </a:rPr>
              <a:t>Use or lose, in practice</a:t>
            </a:r>
          </a:p>
        </p:txBody>
      </p:sp>
      <p:sp>
        <p:nvSpPr>
          <p:cNvPr id="18" name="Case Jaguar, 2024 body"/>
          <p:cNvSpPr/>
          <p:nvPr/>
        </p:nvSpPr>
        <p:spPr>
          <a:xfrm>
            <a:off x="4654296" y="3063240"/>
            <a:ext cx="4032504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se Jaguar, 2024 band"/>
          <p:cNvSpPr/>
          <p:nvPr/>
        </p:nvSpPr>
        <p:spPr>
          <a:xfrm>
            <a:off x="4654296" y="30632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se Jaguar, 2024 heading"/>
          <p:cNvSpPr txBox="1"/>
          <p:nvPr/>
        </p:nvSpPr>
        <p:spPr>
          <a:xfrm>
            <a:off x="4764024" y="31181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Jaguar, 2024</a:t>
            </a:r>
          </a:p>
        </p:txBody>
      </p:sp>
      <p:sp>
        <p:nvSpPr>
          <p:cNvPr id="21" name="Case Jaguar, 2024 text"/>
          <p:cNvSpPr txBox="1"/>
          <p:nvPr/>
        </p:nvSpPr>
        <p:spPr>
          <a:xfrm>
            <a:off x="4791456" y="3630168"/>
            <a:ext cx="3758184" cy="9418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Rebrand replaced the leaper and growler with a new type mark; strong criticism; sales effect unclear.</a:t>
            </a:r>
          </a:p>
          <a:p>
            <a:pPr algn="l">
              <a:spcAft>
                <a:spcPts val="700"/>
              </a:spcAft>
            </a:pPr>
            <a:r>
              <a:rPr lang="en-GB" sz="1200" b="1" i="0">
                <a:solidFill>
                  <a:schemeClr val="tx2"/>
                </a:solidFill>
              </a:rPr>
              <a:t>Open case for discussion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Part 4 of 5 · where the laws bend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Critiques and boundary conditions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4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5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Where the laws bend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Deviation 1"/>
          <p:cNvSpPr/>
          <p:nvPr/>
        </p:nvSpPr>
        <p:spPr>
          <a:xfrm>
            <a:off x="457200" y="1234440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eviation bar 1"/>
          <p:cNvSpPr/>
          <p:nvPr/>
        </p:nvSpPr>
        <p:spPr>
          <a:xfrm>
            <a:off x="457200" y="1344168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eviation text 1"/>
          <p:cNvSpPr txBox="1"/>
          <p:nvPr/>
        </p:nvSpPr>
        <p:spPr>
          <a:xfrm>
            <a:off x="640080" y="1280160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Big brands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Market leaders often show more loyalty than the Dirichlet predicts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Fader &amp; Schmittlein (1993)</a:t>
            </a:r>
          </a:p>
        </p:txBody>
      </p:sp>
      <p:sp>
        <p:nvSpPr>
          <p:cNvPr id="9" name="Deviation 2"/>
          <p:cNvSpPr/>
          <p:nvPr/>
        </p:nvSpPr>
        <p:spPr>
          <a:xfrm>
            <a:off x="4654296" y="1234440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eviation bar 2"/>
          <p:cNvSpPr/>
          <p:nvPr/>
        </p:nvSpPr>
        <p:spPr>
          <a:xfrm>
            <a:off x="4654296" y="1344168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eviation text 2"/>
          <p:cNvSpPr txBox="1"/>
          <p:nvPr/>
        </p:nvSpPr>
        <p:spPr>
          <a:xfrm>
            <a:off x="4837176" y="1280160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Small brands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About 60% of small UK FMCG brands sit over 10% below expected repeat rates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Franke, Bennett &amp; Graham (2018)</a:t>
            </a:r>
          </a:p>
        </p:txBody>
      </p:sp>
      <p:sp>
        <p:nvSpPr>
          <p:cNvPr id="12" name="Deviation 3"/>
          <p:cNvSpPr/>
          <p:nvPr/>
        </p:nvSpPr>
        <p:spPr>
          <a:xfrm>
            <a:off x="457200" y="2441448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viation bar 3"/>
          <p:cNvSpPr/>
          <p:nvPr/>
        </p:nvSpPr>
        <p:spPr>
          <a:xfrm>
            <a:off x="457200" y="2551176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eviation text 3"/>
          <p:cNvSpPr txBox="1"/>
          <p:nvPr/>
        </p:nvSpPr>
        <p:spPr>
          <a:xfrm>
            <a:off x="640080" y="2487168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Online buying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Large brands gain, small brands lose loyalty relative to the norm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Danaher, Wilson &amp; Davis (2003)</a:t>
            </a:r>
          </a:p>
        </p:txBody>
      </p:sp>
      <p:sp>
        <p:nvSpPr>
          <p:cNvPr id="15" name="Deviation 4"/>
          <p:cNvSpPr/>
          <p:nvPr/>
        </p:nvSpPr>
        <p:spPr>
          <a:xfrm>
            <a:off x="4654296" y="2441448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eviation bar 4"/>
          <p:cNvSpPr/>
          <p:nvPr/>
        </p:nvSpPr>
        <p:spPr>
          <a:xfrm>
            <a:off x="4654296" y="2551176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eviation text 4"/>
          <p:cNvSpPr txBox="1"/>
          <p:nvPr/>
        </p:nvSpPr>
        <p:spPr>
          <a:xfrm>
            <a:off x="4837176" y="2487168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Store brands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Private labels show relatively higher behavioural loyalty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Dawes (2022)</a:t>
            </a:r>
          </a:p>
        </p:txBody>
      </p:sp>
      <p:sp>
        <p:nvSpPr>
          <p:cNvPr id="18" name="Deviation 5"/>
          <p:cNvSpPr/>
          <p:nvPr/>
        </p:nvSpPr>
        <p:spPr>
          <a:xfrm>
            <a:off x="457200" y="3648456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viation bar 5"/>
          <p:cNvSpPr/>
          <p:nvPr/>
        </p:nvSpPr>
        <p:spPr>
          <a:xfrm>
            <a:off x="457200" y="3758184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eviation text 5"/>
          <p:cNvSpPr txBox="1"/>
          <p:nvPr/>
        </p:nvSpPr>
        <p:spPr>
          <a:xfrm>
            <a:off x="640080" y="3694176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Negative DJ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Big brands also attract more anti-brand activity online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Kucuk (2007)</a:t>
            </a:r>
          </a:p>
        </p:txBody>
      </p:sp>
      <p:sp>
        <p:nvSpPr>
          <p:cNvPr id="21" name="Deviation 6"/>
          <p:cNvSpPr/>
          <p:nvPr/>
        </p:nvSpPr>
        <p:spPr>
          <a:xfrm>
            <a:off x="4654296" y="3648456"/>
            <a:ext cx="4032504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eviation bar 6"/>
          <p:cNvSpPr/>
          <p:nvPr/>
        </p:nvSpPr>
        <p:spPr>
          <a:xfrm>
            <a:off x="4654296" y="3758184"/>
            <a:ext cx="64008" cy="859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eviation text 6"/>
          <p:cNvSpPr txBox="1"/>
          <p:nvPr/>
        </p:nvSpPr>
        <p:spPr>
          <a:xfrm>
            <a:off x="4837176" y="3694176"/>
            <a:ext cx="3758184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GB" sz="1400" b="1" i="0">
                <a:solidFill>
                  <a:schemeClr val="tx2"/>
                </a:solidFill>
                <a:latin typeface="+mj-lt"/>
              </a:rPr>
              <a:t>Attitudes</a:t>
            </a:r>
          </a:p>
          <a:p>
            <a:pPr algn="l">
              <a:spcAft>
                <a:spcPts val="200"/>
              </a:spcAft>
            </a:pPr>
            <a:r>
              <a:rPr lang="en-GB" sz="1200" b="0" i="0">
                <a:solidFill>
                  <a:schemeClr val="tx1"/>
                </a:solidFill>
              </a:rPr>
              <a:t>Attitudinal loyalty predicts later behaviour change</a:t>
            </a:r>
          </a:p>
          <a:p>
            <a:pPr algn="l">
              <a:spcAft>
                <a:spcPts val="200"/>
              </a:spcAft>
            </a:pPr>
            <a:r>
              <a:rPr lang="en-GB" sz="1050" b="0" i="0">
                <a:solidFill>
                  <a:srgbClr val="595959"/>
                </a:solidFill>
              </a:rPr>
              <a:t>Baldinger &amp; Rubinson (1996)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debate: Sharp, Binet &amp; Field, Ritson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graphicFrame>
        <p:nvGraphicFramePr>
          <p:cNvPr id="6" name="Debate table"/>
          <p:cNvGraphicFramePr>
            <a:graphicFrameLocks noGrp="1"/>
          </p:cNvGraphicFramePr>
          <p:nvPr/>
        </p:nvGraphicFramePr>
        <p:xfrm>
          <a:off x="45720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</a:tblGrid>
              <a:tr h="548640"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Broad agreement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Live disagreement</a:t>
                      </a: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Reach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Reach broadly, stay on air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How much to target and segment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Brand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Brand building and assets pay off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Role of emotion and positioning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Loyalty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Acquisition drives growth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Whether loyalty is a lever at all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GB" sz="1300" b="1">
                          <a:solidFill>
                            <a:schemeClr val="bg1"/>
                          </a:solidFill>
                        </a:rPr>
                        <a:t>Rules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Evidence beats opinion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300">
                          <a:solidFill>
                            <a:schemeClr val="tx1"/>
                          </a:solidFill>
                        </a:rPr>
                        <a:t>Status of 60:40 and share of voice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Debate motion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ebate motion text"/>
          <p:cNvSpPr txBox="1"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Debate motion (10 minutes): 'Targeting is a waste of money.'</a:t>
            </a:r>
          </a:p>
        </p:txBody>
      </p:sp>
      <p:sp>
        <p:nvSpPr>
          <p:cNvPr id="9" name="Source note"/>
          <p:cNvSpPr txBox="1"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050" b="0" i="0">
                <a:solidFill>
                  <a:srgbClr val="595959"/>
                </a:solidFill>
              </a:rPr>
              <a:t>Binet &amp; Field (2013) The Long and the Short of It; Sharp in WARC (2020); Marketing Week (2026) on the Sharp and Ritson session at Cannes.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Part 5 of 5 · data lab and asset audit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Apply it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4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5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Lab: Double Jeopardy in real data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Step 1"/>
          <p:cNvSpPr/>
          <p:nvPr/>
        </p:nvSpPr>
        <p:spPr>
          <a:xfrm>
            <a:off x="457200" y="1280160"/>
            <a:ext cx="1733702" cy="502920"/>
          </a:xfrm>
          <a:prstGeom prst="homePlat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7" name="Step 2"/>
          <p:cNvSpPr/>
          <p:nvPr/>
        </p:nvSpPr>
        <p:spPr>
          <a:xfrm>
            <a:off x="2081174" y="1280160"/>
            <a:ext cx="1733702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Prepare</a:t>
            </a:r>
          </a:p>
        </p:txBody>
      </p:sp>
      <p:sp>
        <p:nvSpPr>
          <p:cNvPr id="8" name="Step 3"/>
          <p:cNvSpPr/>
          <p:nvPr/>
        </p:nvSpPr>
        <p:spPr>
          <a:xfrm>
            <a:off x="3705148" y="1280160"/>
            <a:ext cx="1733702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Compute</a:t>
            </a:r>
          </a:p>
        </p:txBody>
      </p:sp>
      <p:sp>
        <p:nvSpPr>
          <p:cNvPr id="9" name="Step 4"/>
          <p:cNvSpPr/>
          <p:nvPr/>
        </p:nvSpPr>
        <p:spPr>
          <a:xfrm>
            <a:off x="5329123" y="1280160"/>
            <a:ext cx="1733702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Model</a:t>
            </a:r>
          </a:p>
        </p:txBody>
      </p:sp>
      <p:sp>
        <p:nvSpPr>
          <p:cNvPr id="10" name="Step 5"/>
          <p:cNvSpPr/>
          <p:nvPr/>
        </p:nvSpPr>
        <p:spPr>
          <a:xfrm>
            <a:off x="6953097" y="1280160"/>
            <a:ext cx="1733702" cy="502920"/>
          </a:xfrm>
          <a:prstGeom prst="chevron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lang="en-GB" sz="1300" b="1">
                <a:solidFill>
                  <a:schemeClr val="bg1"/>
                </a:solidFill>
              </a:rPr>
              <a:t>Explain</a:t>
            </a:r>
          </a:p>
        </p:txBody>
      </p:sp>
      <p:sp>
        <p:nvSpPr>
          <p:cNvPr id="11" name="Lab data body"/>
          <p:cNvSpPr/>
          <p:nvPr/>
        </p:nvSpPr>
        <p:spPr>
          <a:xfrm>
            <a:off x="457200" y="1965960"/>
            <a:ext cx="329184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ab data band"/>
          <p:cNvSpPr/>
          <p:nvPr/>
        </p:nvSpPr>
        <p:spPr>
          <a:xfrm>
            <a:off x="457200" y="1965960"/>
            <a:ext cx="329184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ab data heading"/>
          <p:cNvSpPr txBox="1"/>
          <p:nvPr/>
        </p:nvSpPr>
        <p:spPr>
          <a:xfrm>
            <a:off x="566928" y="2020824"/>
            <a:ext cx="260604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Data</a:t>
            </a:r>
          </a:p>
        </p:txBody>
      </p:sp>
      <p:pic>
        <p:nvPicPr>
          <p:cNvPr id="14" name="Icon LuDatabase" descr="Lu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029967"/>
            <a:ext cx="329184" cy="329184"/>
          </a:xfrm>
          <a:prstGeom prst="rect">
            <a:avLst/>
          </a:prstGeom>
        </p:spPr>
      </p:pic>
      <p:sp>
        <p:nvSpPr>
          <p:cNvPr id="15" name="Lab data text"/>
          <p:cNvSpPr txBox="1"/>
          <p:nvPr/>
        </p:nvSpPr>
        <p:spPr>
          <a:xfrm>
            <a:off x="594360" y="2532888"/>
            <a:ext cx="3017520" cy="1581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dunnhumby 'The Complete Journey'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2 years, 2,500 households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Free download (check licence)</a:t>
            </a:r>
          </a:p>
        </p:txBody>
      </p:sp>
      <p:sp>
        <p:nvSpPr>
          <p:cNvPr id="16" name="Task number 1"/>
          <p:cNvSpPr/>
          <p:nvPr/>
        </p:nvSpPr>
        <p:spPr>
          <a:xfrm>
            <a:off x="3977639" y="2011679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7" name="Task 1"/>
          <p:cNvSpPr txBox="1"/>
          <p:nvPr/>
        </p:nvSpPr>
        <p:spPr>
          <a:xfrm>
            <a:off x="4434840" y="1965960"/>
            <a:ext cx="42519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Pick a category, aggregate purchases by brand</a:t>
            </a:r>
          </a:p>
        </p:txBody>
      </p:sp>
      <p:sp>
        <p:nvSpPr>
          <p:cNvPr id="18" name="Task number 2"/>
          <p:cNvSpPr/>
          <p:nvPr/>
        </p:nvSpPr>
        <p:spPr>
          <a:xfrm>
            <a:off x="3977639" y="2578608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19" name="Task 2"/>
          <p:cNvSpPr txBox="1"/>
          <p:nvPr/>
        </p:nvSpPr>
        <p:spPr>
          <a:xfrm>
            <a:off x="4434840" y="2532888"/>
            <a:ext cx="42519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Compute penetration, purchases per buyer, share of requirements</a:t>
            </a:r>
          </a:p>
        </p:txBody>
      </p:sp>
      <p:sp>
        <p:nvSpPr>
          <p:cNvPr id="20" name="Task number 3"/>
          <p:cNvSpPr/>
          <p:nvPr/>
        </p:nvSpPr>
        <p:spPr>
          <a:xfrm>
            <a:off x="3977639" y="3145535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1" name="Task 3"/>
          <p:cNvSpPr txBox="1"/>
          <p:nvPr/>
        </p:nvSpPr>
        <p:spPr>
          <a:xfrm>
            <a:off x="4434840" y="3099815"/>
            <a:ext cx="42519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Fit the Dirichlet with the R package NBDdirichlet</a:t>
            </a:r>
          </a:p>
        </p:txBody>
      </p:sp>
      <p:sp>
        <p:nvSpPr>
          <p:cNvPr id="22" name="Task number 4"/>
          <p:cNvSpPr/>
          <p:nvPr/>
        </p:nvSpPr>
        <p:spPr>
          <a:xfrm>
            <a:off x="3977639" y="3712463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23" name="Task 4"/>
          <p:cNvSpPr txBox="1"/>
          <p:nvPr/>
        </p:nvSpPr>
        <p:spPr>
          <a:xfrm>
            <a:off x="4434840" y="3666744"/>
            <a:ext cx="42519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Plot the Double Jeopardy line; explain the biggest deviation</a:t>
            </a:r>
          </a:p>
        </p:txBody>
      </p:sp>
      <p:sp>
        <p:nvSpPr>
          <p:cNvPr id="24" name="Deliverable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eliverable text"/>
          <p:cNvSpPr txBox="1"/>
          <p:nvPr/>
        </p:nvSpPr>
        <p:spPr>
          <a:xfrm>
            <a:off x="640080" y="4389120"/>
            <a:ext cx="7863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Deliverable: one chart, one observed-versus-predicted table, half a page of interpretation.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Exercise: audit an Austrian brand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Audit number 1"/>
          <p:cNvSpPr/>
          <p:nvPr/>
        </p:nvSpPr>
        <p:spPr>
          <a:xfrm>
            <a:off x="457200" y="1335024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7" name="Audit step 1"/>
          <p:cNvSpPr txBox="1"/>
          <p:nvPr/>
        </p:nvSpPr>
        <p:spPr>
          <a:xfrm>
            <a:off x="914400" y="1280160"/>
            <a:ext cx="4206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Choose a brand: Manner, Red Bull, Almdudler or Spar</a:t>
            </a:r>
          </a:p>
        </p:txBody>
      </p:sp>
      <p:sp>
        <p:nvSpPr>
          <p:cNvPr id="8" name="Audit number 2"/>
          <p:cNvSpPr/>
          <p:nvPr/>
        </p:nvSpPr>
        <p:spPr>
          <a:xfrm>
            <a:off x="457200" y="1883664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9" name="Audit step 2"/>
          <p:cNvSpPr txBox="1"/>
          <p:nvPr/>
        </p:nvSpPr>
        <p:spPr>
          <a:xfrm>
            <a:off x="914400" y="1828800"/>
            <a:ext cx="4206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List 6 to 8 candidate assets: colour, logo, shape, slogan, sound</a:t>
            </a:r>
          </a:p>
        </p:txBody>
      </p:sp>
      <p:sp>
        <p:nvSpPr>
          <p:cNvPr id="10" name="Audit number 3"/>
          <p:cNvSpPr/>
          <p:nvPr/>
        </p:nvSpPr>
        <p:spPr>
          <a:xfrm>
            <a:off x="457200" y="2432303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11" name="Audit step 3"/>
          <p:cNvSpPr txBox="1"/>
          <p:nvPr/>
        </p:nvSpPr>
        <p:spPr>
          <a:xfrm>
            <a:off x="914400" y="2377439"/>
            <a:ext cx="4206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Run a reverse-recognition survey with 30+ category buyers</a:t>
            </a:r>
          </a:p>
        </p:txBody>
      </p:sp>
      <p:sp>
        <p:nvSpPr>
          <p:cNvPr id="12" name="Audit number 4"/>
          <p:cNvSpPr/>
          <p:nvPr/>
        </p:nvSpPr>
        <p:spPr>
          <a:xfrm>
            <a:off x="457200" y="2980944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13" name="Audit step 4"/>
          <p:cNvSpPr txBox="1"/>
          <p:nvPr/>
        </p:nvSpPr>
        <p:spPr>
          <a:xfrm>
            <a:off x="914400" y="2926079"/>
            <a:ext cx="4206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Compute fame and uniqueness; plot each asset on the grid</a:t>
            </a:r>
          </a:p>
        </p:txBody>
      </p:sp>
      <p:sp>
        <p:nvSpPr>
          <p:cNvPr id="14" name="Audit number 5"/>
          <p:cNvSpPr/>
          <p:nvPr/>
        </p:nvSpPr>
        <p:spPr>
          <a:xfrm>
            <a:off x="457200" y="3529584"/>
            <a:ext cx="347472" cy="34747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200" b="1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15" name="Audit step 5"/>
          <p:cNvSpPr txBox="1"/>
          <p:nvPr/>
        </p:nvSpPr>
        <p:spPr>
          <a:xfrm>
            <a:off x="914400" y="3474720"/>
            <a:ext cx="4206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200" b="0" i="0">
                <a:solidFill>
                  <a:schemeClr val="tx1"/>
                </a:solidFill>
              </a:rPr>
              <a:t>Recommend: use, invest, pair with the name, or drop</a:t>
            </a:r>
          </a:p>
        </p:txBody>
      </p:sp>
      <p:sp>
        <p:nvSpPr>
          <p:cNvPr id="16" name="Discussion body"/>
          <p:cNvSpPr/>
          <p:nvPr/>
        </p:nvSpPr>
        <p:spPr>
          <a:xfrm>
            <a:off x="5257800" y="1280160"/>
            <a:ext cx="3429000" cy="26517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scussion band"/>
          <p:cNvSpPr/>
          <p:nvPr/>
        </p:nvSpPr>
        <p:spPr>
          <a:xfrm>
            <a:off x="5257800" y="1280160"/>
            <a:ext cx="34290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scussion heading"/>
          <p:cNvSpPr txBox="1"/>
          <p:nvPr/>
        </p:nvSpPr>
        <p:spPr>
          <a:xfrm>
            <a:off x="5367528" y="1335024"/>
            <a:ext cx="27432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Discuss</a:t>
            </a:r>
          </a:p>
        </p:txBody>
      </p:sp>
      <p:pic>
        <p:nvPicPr>
          <p:cNvPr id="19" name="Icon LuMessagesSquare" descr="LuMessagesSquar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1" y="1344168"/>
            <a:ext cx="329184" cy="329184"/>
          </a:xfrm>
          <a:prstGeom prst="rect">
            <a:avLst/>
          </a:prstGeom>
        </p:spPr>
      </p:pic>
      <p:sp>
        <p:nvSpPr>
          <p:cNvPr id="20" name="Discussion text"/>
          <p:cNvSpPr txBox="1"/>
          <p:nvPr/>
        </p:nvSpPr>
        <p:spPr>
          <a:xfrm>
            <a:off x="5394960" y="1847088"/>
            <a:ext cx="3154680" cy="199339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Which asset would you never change, and why?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Is 'Manner mag man eben' famous, unique, or both?</a:t>
            </a:r>
          </a:p>
          <a:p>
            <a:pPr algn="l">
              <a:spcAft>
                <a:spcPts val="700"/>
              </a:spcAft>
            </a:pPr>
            <a:r>
              <a:rPr lang="en-GB" sz="1200" b="0" i="0">
                <a:solidFill>
                  <a:schemeClr val="tx1"/>
                </a:solidFill>
              </a:rPr>
              <a:t>How would light buyers answer?</a:t>
            </a:r>
          </a:p>
        </p:txBody>
      </p:sp>
      <p:sp>
        <p:nvSpPr>
          <p:cNvPr id="21" name="Audit callout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udit callout text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0" i="0">
                <a:solidFill>
                  <a:schemeClr val="bg1"/>
                </a:solidFill>
              </a:rPr>
              <a:t>Work in pairs; run the survey as homework and bring the grid to the next session.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References core body"/>
          <p:cNvSpPr/>
          <p:nvPr/>
        </p:nvSpPr>
        <p:spPr>
          <a:xfrm>
            <a:off x="457200" y="1234440"/>
            <a:ext cx="4032504" cy="2788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 core band"/>
          <p:cNvSpPr/>
          <p:nvPr/>
        </p:nvSpPr>
        <p:spPr>
          <a:xfrm>
            <a:off x="457200" y="12344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ferences core heading"/>
          <p:cNvSpPr txBox="1"/>
          <p:nvPr/>
        </p:nvSpPr>
        <p:spPr>
          <a:xfrm>
            <a:off x="566928" y="12893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Core reading</a:t>
            </a:r>
          </a:p>
        </p:txBody>
      </p:sp>
      <p:pic>
        <p:nvPicPr>
          <p:cNvPr id="9" name="Icon LuGraduationCap" descr="LuGraduationCap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936" y="1298448"/>
            <a:ext cx="329184" cy="329184"/>
          </a:xfrm>
          <a:prstGeom prst="rect">
            <a:avLst/>
          </a:prstGeom>
        </p:spPr>
      </p:pic>
      <p:sp>
        <p:nvSpPr>
          <p:cNvPr id="10" name="References core text"/>
          <p:cNvSpPr txBox="1"/>
          <p:nvPr/>
        </p:nvSpPr>
        <p:spPr>
          <a:xfrm>
            <a:off x="594360" y="1801368"/>
            <a:ext cx="3758184" cy="2130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Sharp (2010) </a:t>
            </a:r>
            <a:r>
              <a:rPr lang="en-GB" sz="1150" b="0" i="0">
                <a:solidFill>
                  <a:schemeClr val="tx1"/>
                </a:solidFill>
              </a:rPr>
              <a:t>How Brands Grow, ch. 1-4 and 12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Romaniuk (2018) </a:t>
            </a:r>
            <a:r>
              <a:rPr lang="en-GB" sz="1150" b="0" i="0">
                <a:solidFill>
                  <a:schemeClr val="tx1"/>
                </a:solidFill>
              </a:rPr>
              <a:t>Building Distinctive Brand Assets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Ehrenberg, Goodhardt &amp; Barwise (1990) </a:t>
            </a:r>
            <a:r>
              <a:rPr lang="en-GB" sz="1150" b="0" i="0">
                <a:solidFill>
                  <a:schemeClr val="tx1"/>
                </a:solidFill>
              </a:rPr>
              <a:t>Double Jeopardy revisited, Journal of Marketing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Sharp et al. (2012) </a:t>
            </a:r>
            <a:r>
              <a:rPr lang="en-GB" sz="1150" b="0" i="0">
                <a:solidFill>
                  <a:schemeClr val="tx1"/>
                </a:solidFill>
              </a:rPr>
              <a:t>It's a Dirichlet world, Journal of Advertising Research</a:t>
            </a:r>
          </a:p>
        </p:txBody>
      </p:sp>
      <p:sp>
        <p:nvSpPr>
          <p:cNvPr id="11" name="References extension body"/>
          <p:cNvSpPr/>
          <p:nvPr/>
        </p:nvSpPr>
        <p:spPr>
          <a:xfrm>
            <a:off x="4654296" y="1234440"/>
            <a:ext cx="4032504" cy="2788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ferences extension band"/>
          <p:cNvSpPr/>
          <p:nvPr/>
        </p:nvSpPr>
        <p:spPr>
          <a:xfrm>
            <a:off x="4654296" y="1234440"/>
            <a:ext cx="403250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ferences extension heading"/>
          <p:cNvSpPr txBox="1"/>
          <p:nvPr/>
        </p:nvSpPr>
        <p:spPr>
          <a:xfrm>
            <a:off x="4764024" y="1289304"/>
            <a:ext cx="3346704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500" b="1" i="0">
                <a:solidFill>
                  <a:schemeClr val="bg1"/>
                </a:solidFill>
                <a:latin typeface="+mj-lt"/>
              </a:rPr>
              <a:t>Extension and critique</a:t>
            </a:r>
          </a:p>
        </p:txBody>
      </p:sp>
      <p:pic>
        <p:nvPicPr>
          <p:cNvPr id="14" name="Icon LuLibrary" descr="LuLibrary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1" y="1298448"/>
            <a:ext cx="329184" cy="329184"/>
          </a:xfrm>
          <a:prstGeom prst="rect">
            <a:avLst/>
          </a:prstGeom>
        </p:spPr>
      </p:pic>
      <p:sp>
        <p:nvSpPr>
          <p:cNvPr id="15" name="References extension text"/>
          <p:cNvSpPr txBox="1"/>
          <p:nvPr/>
        </p:nvSpPr>
        <p:spPr>
          <a:xfrm>
            <a:off x="4791456" y="1801368"/>
            <a:ext cx="3758184" cy="2130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Romaniuk &amp; Sharp (2016) </a:t>
            </a:r>
            <a:r>
              <a:rPr lang="en-GB" sz="1150" b="0" i="0">
                <a:solidFill>
                  <a:schemeClr val="tx1"/>
                </a:solidFill>
              </a:rPr>
              <a:t>How Brands Grow Part 2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Romaniuk (2022) </a:t>
            </a:r>
            <a:r>
              <a:rPr lang="en-GB" sz="1150" b="0" i="0">
                <a:solidFill>
                  <a:schemeClr val="tx1"/>
                </a:solidFill>
              </a:rPr>
              <a:t>Better Brand Health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Binet &amp; Field (2013) </a:t>
            </a:r>
            <a:r>
              <a:rPr lang="en-GB" sz="1150" b="0" i="0">
                <a:solidFill>
                  <a:schemeClr val="tx1"/>
                </a:solidFill>
              </a:rPr>
              <a:t>The Long and the Short of It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Fader &amp; Schmittlein (1993) </a:t>
            </a:r>
            <a:r>
              <a:rPr lang="en-GB" sz="1150" b="0" i="0">
                <a:solidFill>
                  <a:schemeClr val="tx1"/>
                </a:solidFill>
              </a:rPr>
              <a:t>Excess behavioral loyalty, Journal of Marketing Research</a:t>
            </a:r>
          </a:p>
          <a:p>
            <a:pPr algn="l">
              <a:spcAft>
                <a:spcPts val="700"/>
              </a:spcAft>
            </a:pPr>
            <a:r>
              <a:rPr lang="en-GB" sz="1150" b="1" i="0">
                <a:solidFill>
                  <a:schemeClr val="tx1"/>
                </a:solidFill>
              </a:rPr>
              <a:t>Graham et al. (2017) </a:t>
            </a:r>
            <a:r>
              <a:rPr lang="en-GB" sz="1150" b="0" i="0">
                <a:solidFill>
                  <a:schemeClr val="tx1"/>
                </a:solidFill>
              </a:rPr>
              <a:t>Double Jeopardy 50 years on, open manuscript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Key takeaways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11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  <p:sp>
        <p:nvSpPr>
          <p:cNvPr id="6" name="Takeaway row 1"/>
          <p:cNvSpPr/>
          <p:nvPr/>
        </p:nvSpPr>
        <p:spPr>
          <a:xfrm>
            <a:off x="457200" y="1234440"/>
            <a:ext cx="8229600" cy="5120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akeaway number 1"/>
          <p:cNvSpPr/>
          <p:nvPr/>
        </p:nvSpPr>
        <p:spPr>
          <a:xfrm>
            <a:off x="566928" y="1307592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300" b="1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8" name="Takeaway text 1"/>
          <p:cNvSpPr txBox="1"/>
          <p:nvPr/>
        </p:nvSpPr>
        <p:spPr>
          <a:xfrm>
            <a:off x="1097280" y="1234440"/>
            <a:ext cx="745236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2"/>
                </a:solidFill>
              </a:rPr>
              <a:t>Double Jeopardy: </a:t>
            </a:r>
            <a:r>
              <a:rPr lang="en-GB" sz="1300" b="0" i="0">
                <a:solidFill>
                  <a:schemeClr val="tx1"/>
                </a:solidFill>
              </a:rPr>
              <a:t>small brands have fewer, slightly less loyal buyers; that is normal.</a:t>
            </a:r>
          </a:p>
        </p:txBody>
      </p:sp>
      <p:sp>
        <p:nvSpPr>
          <p:cNvPr id="9" name="Takeaway row 2"/>
          <p:cNvSpPr/>
          <p:nvPr/>
        </p:nvSpPr>
        <p:spPr>
          <a:xfrm>
            <a:off x="457200" y="1837944"/>
            <a:ext cx="8229600" cy="5120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akeaway number 2"/>
          <p:cNvSpPr/>
          <p:nvPr/>
        </p:nvSpPr>
        <p:spPr>
          <a:xfrm>
            <a:off x="566928" y="1911096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300" b="1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11" name="Takeaway text 2"/>
          <p:cNvSpPr txBox="1"/>
          <p:nvPr/>
        </p:nvSpPr>
        <p:spPr>
          <a:xfrm>
            <a:off x="1097280" y="1837944"/>
            <a:ext cx="745236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2"/>
                </a:solidFill>
              </a:rPr>
              <a:t>Duplication: </a:t>
            </a:r>
            <a:r>
              <a:rPr lang="en-GB" sz="1300" b="0" i="0">
                <a:solidFill>
                  <a:schemeClr val="tx1"/>
                </a:solidFill>
              </a:rPr>
              <a:t>brands share buyers in line with size; partitions are the exception.</a:t>
            </a:r>
          </a:p>
        </p:txBody>
      </p:sp>
      <p:sp>
        <p:nvSpPr>
          <p:cNvPr id="12" name="Takeaway row 3"/>
          <p:cNvSpPr/>
          <p:nvPr/>
        </p:nvSpPr>
        <p:spPr>
          <a:xfrm>
            <a:off x="457200" y="2441448"/>
            <a:ext cx="8229600" cy="5120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akeaway number 3"/>
          <p:cNvSpPr/>
          <p:nvPr/>
        </p:nvSpPr>
        <p:spPr>
          <a:xfrm>
            <a:off x="566928" y="2514600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300" b="1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14" name="Takeaway text 3"/>
          <p:cNvSpPr txBox="1"/>
          <p:nvPr/>
        </p:nvSpPr>
        <p:spPr>
          <a:xfrm>
            <a:off x="1097280" y="2441448"/>
            <a:ext cx="745236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2"/>
                </a:solidFill>
              </a:rPr>
              <a:t>Growth: </a:t>
            </a:r>
            <a:r>
              <a:rPr lang="en-GB" sz="1300" b="0" i="0">
                <a:solidFill>
                  <a:schemeClr val="tx1"/>
                </a:solidFill>
              </a:rPr>
              <a:t>comes mainly from penetration, via mental and physical availability.</a:t>
            </a:r>
          </a:p>
        </p:txBody>
      </p:sp>
      <p:sp>
        <p:nvSpPr>
          <p:cNvPr id="15" name="Takeaway row 4"/>
          <p:cNvSpPr/>
          <p:nvPr/>
        </p:nvSpPr>
        <p:spPr>
          <a:xfrm>
            <a:off x="457200" y="3044952"/>
            <a:ext cx="8229600" cy="5120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akeaway number 4"/>
          <p:cNvSpPr/>
          <p:nvPr/>
        </p:nvSpPr>
        <p:spPr>
          <a:xfrm>
            <a:off x="566928" y="3118104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300" b="1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17" name="Takeaway text 4"/>
          <p:cNvSpPr txBox="1"/>
          <p:nvPr/>
        </p:nvSpPr>
        <p:spPr>
          <a:xfrm>
            <a:off x="1097280" y="3044952"/>
            <a:ext cx="745236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2"/>
                </a:solidFill>
              </a:rPr>
              <a:t>Distinctiveness: </a:t>
            </a:r>
            <a:r>
              <a:rPr lang="en-GB" sz="1300" b="0" i="0">
                <a:solidFill>
                  <a:schemeClr val="tx1"/>
                </a:solidFill>
              </a:rPr>
              <a:t>build famous, unique assets and keep using them.</a:t>
            </a:r>
          </a:p>
        </p:txBody>
      </p:sp>
      <p:sp>
        <p:nvSpPr>
          <p:cNvPr id="18" name="Takeaway row 5"/>
          <p:cNvSpPr/>
          <p:nvPr/>
        </p:nvSpPr>
        <p:spPr>
          <a:xfrm>
            <a:off x="457200" y="3648456"/>
            <a:ext cx="8229600" cy="5120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akeaway number 5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lang="en-GB" sz="1300" b="1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20" name="Takeaway text 5"/>
          <p:cNvSpPr txBox="1"/>
          <p:nvPr/>
        </p:nvSpPr>
        <p:spPr>
          <a:xfrm>
            <a:off x="1097280" y="3648456"/>
            <a:ext cx="745236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tx2"/>
                </a:solidFill>
              </a:rPr>
              <a:t>Boundaries: </a:t>
            </a:r>
            <a:r>
              <a:rPr lang="en-GB" sz="1300" b="0" i="0">
                <a:solidFill>
                  <a:schemeClr val="tx1"/>
                </a:solidFill>
              </a:rPr>
              <a:t>judge every claim against the Dirichlet benchmark.</a:t>
            </a:r>
          </a:p>
        </p:txBody>
      </p:sp>
      <p:sp>
        <p:nvSpPr>
          <p:cNvPr id="21" name="Next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ext text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1300" b="1" i="0">
                <a:solidFill>
                  <a:schemeClr val="bg1"/>
                </a:solidFill>
              </a:rPr>
              <a:t>Next: </a:t>
            </a:r>
            <a:r>
              <a:rPr lang="en-GB" sz="1300" b="0" i="0">
                <a:solidFill>
                  <a:schemeClr val="bg1"/>
                </a:solidFill>
              </a:rPr>
              <a:t>the data lab. Bring a laptop with R or Python installed.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12" sz="quarter"/>
          </p:nvPr>
        </p:nvSpPr>
        <p:spPr/>
        <p:txBody>
          <a:bodyPr/>
          <a:p>
            <a:r>
              <a:rPr lang="en-GB"/>
              <a:t>How Brands Grow | Marketing Science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3" sz="quarter"/>
          </p:nvPr>
        </p:nvSpPr>
        <p:spPr/>
        <p:txBody>
          <a:bodyPr/>
          <a:p>
            <a:r>
              <a:rPr lang="en-GB"/>
              <a:t>PAGE </a:t>
            </a:r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