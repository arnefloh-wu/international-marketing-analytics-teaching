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guide: four ways to use Claude (Anthropic) and ChatGPT or Codex (OpenAI) inside Positron 2026.10. The course default stays GitHub Copilot in Posit Assistant, free with GitHub Education; nobody has to pay for anything in this deck. Sources: code.claude.com, claude.com, positron.posit.co documentation, the openai/codex repository and OpenAI help pages, checked 14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for students who already have a Claude or ChatGPT account or want a specific model. The key question for every route: does it need a subscription (Claude Pro, ChatGPT Plus) or an API key (pay per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1 is built into Positron. Routes 2 and 3 use the vendors' own coding agents, Claude Code and Codex. Route 4 is new and experimental in Positron 2026.10: a built-in MCP server lets these agents work in the live Python session. Code completions (grey ghost text) are not available through Claude or OpenAI in any route; only GitHub Copilot and Posit AI Pass provide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Posit's documentation: Anthropic does not include API usage in Pro and Max, so signing in with a Claude subscription does not work in Posit Assistant. The same applies to ChatGPT Plus: the OpenAI API is billed separately on platform.openai.com. The free claude.ai plan does not include Claude Code; Codex is listed on all ChatGPT plans, with limits that depend on the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Positron's built-in chat. It sees your session, plots and files, and asks before it runs code. Chat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Positron's provider documentation. API credit is prepaid in the Claude Console (Settings → Billing → Buy credits); credits expire after one year and are not refundable. Set a low monthly limit and turn off auto-reload. API use is not used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 API billing is prepaid: the first purchase is at least 5 USD; auto-recharge is on by default and can be switched off. A ChatGPT subscription does not give API credit. These steps follow OpenAI's help pages; check the live pages, menus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checks the key by asking the provider for its model list. The key is stored in the operating system's secure storage (Keychain on macOS), not in ~/.posit/ai/providers.json. Environment variables ANTHROPIC_API_KEY and OPENAI_API_KEY also work, but a Positron started from the dock or Start menu may not see them: pasting the key is simpler.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API prices per million tokens (input/output), claude.com/pricing, October 2026. Worked example (own calculation): a question with 5,000 tokens of context and a 1,000-token answer costs 5,000 × 2 / 10^6 + 1,000 × 10 / 10^6 = 0.02 USD with Sonnet 5.5. Agent sessions that read many files cost far more. OpenAI prices: see platform.openai.com/pricing.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coding agents exist as extensions for VS Code-based editors. Positron installs extensions from an Open VSX mirror. Neither vendor officially supports Positron, but both are reported to work; check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documentation says the extension installs in VS Code forks from the Open VSX registry. It needs a paid Claude plan (Pro, Max, Team, Enterprise) or a Console account; no API key. It will not run in an untrusted folder. It does not put the claude command on PATH: for the terminal, install the CLI (Part 3). Anthropic has no official Positron support; users report it works, including on Windows 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extension's ID is openai.chatgpt, named Codex – OpenAI's coding agent. It signs in with a ChatGPT account or an API key. OpenAI lists Codex on Free, Go, Plus, Pro, Business, Edu and Enterprise with plan-dependent limits; cloud tasks need Plus or higher. Its availability in Positron's gallery was shown in a 2025 blog post (Stephen Turner); verify it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Positron's default gallery is Posit Public Package Manager (p3m.dev), which mirrors the Open VSX catalog. The setting positron.extensions.gallerySource can point to Open VSX directly. A downloaded .vsix file can be installed with Extensions: Install from VSIX. The CLI route always 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command-line versions are documented to work in any terminal, including Positron's. Install once, then type claude or codex in the project folder.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native installer needs no Node.js and updates itself. Windows runs natively (Windows 10 1809 or later); Git for Windows is optional, without it Claude uses PowerShell. Alternatives: winget install Anthropic.ClaudeCode, or brew install --cask claude-code. After installing, open a new terminal.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openai/codex README: standalone installers for macOS and Windows, or npm install -g @openai/codex, or brew install --cask codex. codex login status shows whether you are signed in; codex login --device-auth helps when the browser redirect fails.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agent inside the project folder: it reads files, writes and runs code, and asks before it changes files or runs commands. Standing instructions go into CLAUDE.md for Claude Code and AGENTS.md for Codex (Posit Assistant also reads AGENTS.md). Keep the agent in its normal ask-first mode.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and experimental in Positron 2026.10: a built-in MCP server that lets Claude Code or Codex run code in the Python session you have open. Demo it; do not rely on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2026.10 release notes and Posit's pull request #16196. MCP (Model Context Protocol) is a standard way for AI agents to use tools. The server listens only on the local machine, with a token per workspace. Tools: list sessions, execute or evaluate code, interrupt, read session history, get the current plot, list and run Positron commands. There is no separate variables tool: the agent inspects data by running code.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runs only when ai.enabled and ai.mcp.enabled are both on. For Claude Code, Positron registers itself automatically (claude mcp add, local scope, not written into the repository) when the claude command is installed; restart Claude Code afterwards. For Codex, the command Positron MCP: Add to Coding Agent writes an entry into ~/.codex/config.toml; start codex from a Positron terminal so it receives the connection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shows no approval dialog when an agent runs code through MCP; it relies on the agent's own permission prompts. Anything the session can reach, the agent can reach. Keep the agent in its ask-first mode and never allow it to run everything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cheapest route that does the job. For most coursework that is GitHub Copilot in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recommendation based on the documented features: default to Posit Assistant; agents are optional and advanced; completions only via Copilot or Posit AI Pass.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does not see prompts sent to an outside provider. Anthropic and OpenAI do not train on API use by default; API data is kept about 30 days. Consumer plans (Claude Free, Pro, Max, including Claude Code used with them; ChatGPT including Codex signed in with ChatGPT) can be used for training while the setting is on; Anthropic keeps such data up to 5 years when allowed. Third parties report the setting is on by default, so students switch it off.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AI rules from the syllabus apply to every assistant: AI use is allowed and encouraged, every number is verified, prompts that produced non-trivial code go into the prompt log, the written exam is closed book. Students who use paid tools do so voluntarily; nobody gains a grading advantage from paying.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 subscription where a key is needed, an empty API balance, or an untrusted folder. AI: Create Diagnostic Report shows the providers Positron sees.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for students who choose these optional routes.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14 October 2026. OpenAI pages could not be opened from the build environment; facts from them were taken from search summaries and the openai/codex repository and should be checked on the live pages.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hyperlink" Target="https://platform.claude.com"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hyperlink" Target="https://platform.openai.com"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code.claude.com/docs/en/vs-code" TargetMode="External"/><Relationship Id="rId4" Type="http://schemas.openxmlformats.org/officeDocument/2006/relationships/hyperlink" Target="https://code.claude.com/docs/en/setup" TargetMode="External"/><Relationship Id="rId5" Type="http://schemas.openxmlformats.org/officeDocument/2006/relationships/hyperlink" Target="https://code.claude.com/docs/en/data-usage" TargetMode="External"/><Relationship Id="rId6" Type="http://schemas.openxmlformats.org/officeDocument/2006/relationships/hyperlink" Target="https://claude.com/pricing" TargetMode="External"/><Relationship Id="rId7" Type="http://schemas.openxmlformats.org/officeDocument/2006/relationships/hyperlink" Target="https://positron.posit.co/assistant-providers.html" TargetMode="External"/><Relationship Id="rId8" Type="http://schemas.openxmlformats.org/officeDocument/2006/relationships/hyperlink" Target="https://github.com/openai/codex" TargetMode="External"/><Relationship Id="rId9" Type="http://schemas.openxmlformats.org/officeDocument/2006/relationships/hyperlink" Target="https://positron.posit.co/release-note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Claude and ChatGPT in Positron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Claude and ChatGPT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Pick a</a:t>
            </a:r>
            <a:br/>
            <a:r>
              <a:rPr sz="1100" b="1" lang="en-GB">
                <a:solidFill>
                  <a:schemeClr val="tx2"/>
                </a:solidFill>
              </a:rPr>
              <a:t>route</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Posit</a:t>
            </a:r>
            <a:br/>
            <a:r>
              <a:rPr sz="1100" b="1" lang="en-GB">
                <a:solidFill>
                  <a:schemeClr val="tx2"/>
                </a:solidFill>
              </a:rPr>
              <a:t>Assistant</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Extension</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Terminal</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MCP</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Use it</a:t>
            </a:r>
            <a:br/>
            <a:r>
              <a:rPr sz="1100" b="1" lang="en-GB">
                <a:solidFill>
                  <a:schemeClr val="tx2"/>
                </a:solidFill>
              </a:rPr>
              <a:t>safely</a:t>
            </a:r>
          </a:p>
        </p:txBody>
      </p:sp>
      <p:sp>
        <p:nvSpPr>
          <p:cNvPr id="16" name="Plan card 1 body"/>
          <p:cNvSpPr/>
          <p:nvPr/>
        </p:nvSpPr>
        <p:spPr>
          <a:xfrm>
            <a:off x="45720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a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la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Claude</a:t>
            </a:r>
          </a:p>
        </p:txBody>
      </p:sp>
      <p:pic>
        <p:nvPicPr>
          <p:cNvPr id="19" name="Icon Plan card 1" descr=""/>
          <p:cNvPicPr>
            <a:picLocks noChangeAspect="1"/>
          </p:cNvPicPr>
          <p:nvPr/>
        </p:nvPicPr>
        <p:blipFill>
          <a:blip r:embed="rId3"/>
          <a:stretch>
            <a:fillRect/>
          </a:stretch>
        </p:blipFill>
        <p:spPr>
          <a:xfrm>
            <a:off x="2670048" y="2016252"/>
            <a:ext cx="310896" cy="310896"/>
          </a:xfrm>
          <a:prstGeom prst="rect">
            <a:avLst/>
          </a:prstGeom>
        </p:spPr>
      </p:pic>
      <p:sp>
        <p:nvSpPr>
          <p:cNvPr id="20" name="Plan card 1 text"/>
          <p:cNvSpPr txBox="1"/>
          <p:nvPr/>
        </p:nvSpPr>
        <p:spPr>
          <a:xfrm>
            <a:off x="62179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Anthropic's models</a:t>
            </a:r>
          </a:p>
          <a:p>
            <a:pPr algn="l" marL="182880" indent="-182880">
              <a:spcAft>
                <a:spcPts val="600"/>
              </a:spcAft>
              <a:buClr>
                <a:schemeClr val="accent1"/>
              </a:buClr>
              <a:buFont typeface="Arial"/>
              <a:buChar char="▪"/>
            </a:pPr>
            <a:r>
              <a:rPr sz="1300" b="0" lang="en-GB">
                <a:solidFill>
                  <a:schemeClr val="tx1"/>
                </a:solidFill>
              </a:rPr>
              <a:t>Claude Code: the coding agent</a:t>
            </a:r>
          </a:p>
          <a:p>
            <a:pPr algn="l" marL="182880" indent="-182880">
              <a:spcAft>
                <a:spcPts val="600"/>
              </a:spcAft>
              <a:buClr>
                <a:schemeClr val="accent1"/>
              </a:buClr>
              <a:buFont typeface="Arial"/>
              <a:buChar char="▪"/>
            </a:pPr>
            <a:r>
              <a:rPr sz="1300" b="0" lang="en-GB">
                <a:solidFill>
                  <a:schemeClr val="tx1"/>
                </a:solidFill>
              </a:rPr>
              <a:t>Pro from 20 USD a month, or an API key</a:t>
            </a:r>
          </a:p>
        </p:txBody>
      </p:sp>
      <p:sp>
        <p:nvSpPr>
          <p:cNvPr id="21" name="Plan card 2 body"/>
          <p:cNvSpPr/>
          <p:nvPr/>
        </p:nvSpPr>
        <p:spPr>
          <a:xfrm>
            <a:off x="324612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ChatGPT</a:t>
            </a:r>
          </a:p>
        </p:txBody>
      </p:sp>
      <p:pic>
        <p:nvPicPr>
          <p:cNvPr id="24" name="Icon Plan card 2" descr=""/>
          <p:cNvPicPr>
            <a:picLocks noChangeAspect="1"/>
          </p:cNvPicPr>
          <p:nvPr/>
        </p:nvPicPr>
        <p:blipFill>
          <a:blip r:embed="rId4"/>
          <a:stretch>
            <a:fillRect/>
          </a:stretch>
        </p:blipFill>
        <p:spPr>
          <a:xfrm>
            <a:off x="5458968" y="2016252"/>
            <a:ext cx="310896" cy="310896"/>
          </a:xfrm>
          <a:prstGeom prst="rect">
            <a:avLst/>
          </a:prstGeom>
        </p:spPr>
      </p:pic>
      <p:sp>
        <p:nvSpPr>
          <p:cNvPr id="25" name="Plan card 2 text"/>
          <p:cNvSpPr txBox="1"/>
          <p:nvPr/>
        </p:nvSpPr>
        <p:spPr>
          <a:xfrm>
            <a:off x="341071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OpenAI's models</a:t>
            </a:r>
          </a:p>
          <a:p>
            <a:pPr algn="l" marL="182880" indent="-182880">
              <a:spcAft>
                <a:spcPts val="600"/>
              </a:spcAft>
              <a:buClr>
                <a:schemeClr val="accent1"/>
              </a:buClr>
              <a:buFont typeface="Arial"/>
              <a:buChar char="▪"/>
            </a:pPr>
            <a:r>
              <a:rPr sz="1300" b="0" lang="en-GB">
                <a:solidFill>
                  <a:schemeClr val="tx1"/>
                </a:solidFill>
              </a:rPr>
              <a:t>Codex: the coding agent</a:t>
            </a:r>
          </a:p>
          <a:p>
            <a:pPr algn="l" marL="182880" indent="-182880">
              <a:spcAft>
                <a:spcPts val="600"/>
              </a:spcAft>
              <a:buClr>
                <a:schemeClr val="accent1"/>
              </a:buClr>
              <a:buFont typeface="Arial"/>
              <a:buChar char="▪"/>
            </a:pPr>
            <a:r>
              <a:rPr sz="1300" b="0" lang="en-GB">
                <a:solidFill>
                  <a:schemeClr val="tx1"/>
                </a:solidFill>
              </a:rPr>
              <a:t>ChatGPT account, or an API key</a:t>
            </a:r>
          </a:p>
        </p:txBody>
      </p:sp>
      <p:sp>
        <p:nvSpPr>
          <p:cNvPr id="26" name="Plan card 3 body"/>
          <p:cNvSpPr/>
          <p:nvPr/>
        </p:nvSpPr>
        <p:spPr>
          <a:xfrm>
            <a:off x="603504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la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la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29" name="Icon Plan card 3" descr=""/>
          <p:cNvPicPr>
            <a:picLocks noChangeAspect="1"/>
          </p:cNvPicPr>
          <p:nvPr/>
        </p:nvPicPr>
        <p:blipFill>
          <a:blip r:embed="rId5"/>
          <a:stretch>
            <a:fillRect/>
          </a:stretch>
        </p:blipFill>
        <p:spPr>
          <a:xfrm>
            <a:off x="8247888" y="2016252"/>
            <a:ext cx="310896" cy="310896"/>
          </a:xfrm>
          <a:prstGeom prst="rect">
            <a:avLst/>
          </a:prstGeom>
        </p:spPr>
      </p:pic>
      <p:sp>
        <p:nvSpPr>
          <p:cNvPr id="30" name="Plan card 3 text"/>
          <p:cNvSpPr txBox="1"/>
          <p:nvPr/>
        </p:nvSpPr>
        <p:spPr>
          <a:xfrm>
            <a:off x="619963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Optional: Copilot stays the default</a:t>
            </a:r>
          </a:p>
          <a:p>
            <a:pPr algn="l" marL="182880" indent="-182880">
              <a:spcAft>
                <a:spcPts val="600"/>
              </a:spcAft>
              <a:buClr>
                <a:schemeClr val="accent1"/>
              </a:buClr>
              <a:buFont typeface="Arial"/>
              <a:buChar char="▪"/>
            </a:pPr>
            <a:r>
              <a:rPr sz="1300" b="0" lang="en-GB">
                <a:solidFill>
                  <a:schemeClr val="tx1"/>
                </a:solidFill>
              </a:rPr>
              <a:t>Nobody has to pay</a:t>
            </a:r>
          </a:p>
          <a:p>
            <a:pPr algn="l" marL="182880" indent="-182880">
              <a:spcAft>
                <a:spcPts val="600"/>
              </a:spcAft>
              <a:buClr>
                <a:schemeClr val="accent1"/>
              </a:buClr>
              <a:buFont typeface="Arial"/>
              <a:buChar char="▪"/>
            </a:pPr>
            <a:r>
              <a:rPr sz="1300" b="0" lang="en-GB">
                <a:solidFill>
                  <a:schemeClr val="tx1"/>
                </a:solidFill>
              </a:rPr>
              <a:t>Same rules for every AI</a:t>
            </a:r>
          </a:p>
        </p:txBody>
      </p:sp>
      <p:sp>
        <p:nvSpPr>
          <p:cNvPr id="31" name="Optional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Optional" descr=""/>
          <p:cNvPicPr>
            <a:picLocks noChangeAspect="1"/>
          </p:cNvPicPr>
          <p:nvPr/>
        </p:nvPicPr>
        <p:blipFill>
          <a:blip r:embed="rId6"/>
          <a:stretch>
            <a:fillRect/>
          </a:stretch>
        </p:blipFill>
        <p:spPr>
          <a:xfrm>
            <a:off x="658368" y="4457700"/>
            <a:ext cx="365760" cy="365760"/>
          </a:xfrm>
          <a:prstGeom prst="rect">
            <a:avLst/>
          </a:prstGeom>
        </p:spPr>
      </p:pic>
      <p:sp>
        <p:nvSpPr>
          <p:cNvPr id="33" name="Optional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Optional: </a:t>
            </a:r>
            <a:r>
              <a:rPr sz="1200" b="0" lang="en-GB">
                <a:solidFill>
                  <a:schemeClr val="bg1"/>
                </a:solidFill>
              </a:rPr>
              <a:t>GitHub Copilot in Posit Assistant remains the course default and is free with GitHub Education.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oute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2148840"/>
                <a:gridCol w="2697480"/>
                <a:gridCol w="1691640"/>
                <a:gridCol w="1691640"/>
              </a:tblGrid>
              <a:tr h="370840">
                <a:tc>
                  <a:txBody>
                    <a:bodyPr/>
                    <a:lstStyle/>
                    <a:p>
                      <a:r>
                        <a:rPr sz="1300" lang="en-GB"/>
                        <a:t>Route</a:t>
                      </a:r>
                    </a:p>
                  </a:txBody>
                  <a:tcPr marT="55000" marB="55000"/>
                </a:tc>
                <a:tc>
                  <a:txBody>
                    <a:bodyPr/>
                    <a:lstStyle/>
                    <a:p>
                      <a:r>
                        <a:rPr sz="1300" lang="en-GB"/>
                        <a:t>What you get</a:t>
                      </a:r>
                    </a:p>
                  </a:txBody>
                  <a:tcPr marT="55000" marB="55000"/>
                </a:tc>
                <a:tc>
                  <a:txBody>
                    <a:bodyPr/>
                    <a:lstStyle/>
                    <a:p>
                      <a:r>
                        <a:rPr sz="1300" lang="en-GB"/>
                        <a:t>Claude needs</a:t>
                      </a:r>
                    </a:p>
                  </a:txBody>
                  <a:tcPr marT="55000" marB="55000"/>
                </a:tc>
                <a:tc>
                  <a:txBody>
                    <a:bodyPr/>
                    <a:lstStyle/>
                    <a:p>
                      <a:r>
                        <a:rPr sz="1300" lang="en-GB"/>
                        <a:t>ChatGPT needs</a:t>
                      </a:r>
                    </a:p>
                  </a:txBody>
                  <a:tcPr marT="55000" marB="55000"/>
                </a:tc>
              </a:tr>
              <a:tr h="370840">
                <a:tc>
                  <a:txBody>
                    <a:bodyPr/>
                    <a:lstStyle/>
                    <a:p>
                      <a:r>
                        <a:rPr sz="1200" b="1" lang="en-GB"/>
                        <a:t>1  Posit Assistant</a:t>
                      </a:r>
                    </a:p>
                  </a:txBody>
                  <a:tcPr marT="55000" marB="55000"/>
                </a:tc>
                <a:tc>
                  <a:txBody>
                    <a:bodyPr/>
                    <a:lstStyle/>
                    <a:p>
                      <a:r>
                        <a:rPr sz="1200" lang="en-GB"/>
                        <a:t>chat in Positron's own AI pane</a:t>
                      </a:r>
                    </a:p>
                  </a:txBody>
                  <a:tcPr marT="55000" marB="55000"/>
                </a:tc>
                <a:tc>
                  <a:txBody>
                    <a:bodyPr/>
                    <a:lstStyle/>
                    <a:p>
                      <a:r>
                        <a:rPr sz="1200" lang="en-GB"/>
                        <a:t>API key</a:t>
                      </a:r>
                    </a:p>
                  </a:txBody>
                  <a:tcPr marT="55000" marB="55000"/>
                </a:tc>
                <a:tc>
                  <a:txBody>
                    <a:bodyPr/>
                    <a:lstStyle/>
                    <a:p>
                      <a:r>
                        <a:rPr sz="1200" lang="en-GB"/>
                        <a:t>API key</a:t>
                      </a:r>
                    </a:p>
                  </a:txBody>
                  <a:tcPr marT="55000" marB="55000"/>
                </a:tc>
              </a:tr>
              <a:tr h="370840">
                <a:tc>
                  <a:txBody>
                    <a:bodyPr/>
                    <a:lstStyle/>
                    <a:p>
                      <a:r>
                        <a:rPr sz="1200" b="1" lang="en-GB"/>
                        <a:t>2  Vendor extension</a:t>
                      </a:r>
                    </a:p>
                  </a:txBody>
                  <a:tcPr marT="55000" marB="55000"/>
                </a:tc>
                <a:tc>
                  <a:txBody>
                    <a:bodyPr/>
                    <a:lstStyle/>
                    <a:p>
                      <a:r>
                        <a:rPr sz="1200" lang="en-GB"/>
                        <a:t>an agent panel in Positron</a:t>
                      </a:r>
                    </a:p>
                  </a:txBody>
                  <a:tcPr marT="55000" marB="55000"/>
                </a:tc>
                <a:tc>
                  <a:txBody>
                    <a:bodyPr/>
                    <a:lstStyle/>
                    <a:p>
                      <a:r>
                        <a:rPr sz="1200" lang="en-GB"/>
                        <a:t>Pro or Max</a:t>
                      </a:r>
                    </a:p>
                  </a:txBody>
                  <a:tcPr marT="55000" marB="55000"/>
                </a:tc>
                <a:tc>
                  <a:txBody>
                    <a:bodyPr/>
                    <a:lstStyle/>
                    <a:p>
                      <a:r>
                        <a:rPr sz="1200" lang="en-GB"/>
                        <a:t>ChatGPT account</a:t>
                      </a:r>
                    </a:p>
                  </a:txBody>
                  <a:tcPr marT="55000" marB="55000"/>
                </a:tc>
              </a:tr>
              <a:tr h="370840">
                <a:tc>
                  <a:txBody>
                    <a:bodyPr/>
                    <a:lstStyle/>
                    <a:p>
                      <a:r>
                        <a:rPr sz="1200" b="1" lang="en-GB"/>
                        <a:t>3  Terminal</a:t>
                      </a:r>
                    </a:p>
                  </a:txBody>
                  <a:tcPr marT="55000" marB="55000"/>
                </a:tc>
                <a:tc>
                  <a:txBody>
                    <a:bodyPr/>
                    <a:lstStyle/>
                    <a:p>
                      <a:r>
                        <a:rPr sz="1200" lang="en-GB"/>
                        <a:t>the agent in Positron's terminal</a:t>
                      </a:r>
                    </a:p>
                  </a:txBody>
                  <a:tcPr marT="55000" marB="55000"/>
                </a:tc>
                <a:tc>
                  <a:txBody>
                    <a:bodyPr/>
                    <a:lstStyle/>
                    <a:p>
                      <a:r>
                        <a:rPr sz="1200" lang="en-GB"/>
                        <a:t>Pro or Max</a:t>
                      </a:r>
                    </a:p>
                  </a:txBody>
                  <a:tcPr marT="55000" marB="55000"/>
                </a:tc>
                <a:tc>
                  <a:txBody>
                    <a:bodyPr/>
                    <a:lstStyle/>
                    <a:p>
                      <a:r>
                        <a:rPr sz="1200" lang="en-GB"/>
                        <a:t>ChatGPT account</a:t>
                      </a:r>
                    </a:p>
                  </a:txBody>
                  <a:tcPr marT="55000" marB="55000"/>
                </a:tc>
              </a:tr>
              <a:tr h="370840">
                <a:tc>
                  <a:txBody>
                    <a:bodyPr/>
                    <a:lstStyle/>
                    <a:p>
                      <a:r>
                        <a:rPr sz="1200" b="1" lang="en-GB"/>
                        <a:t>4  MCP (experimental)</a:t>
                      </a:r>
                    </a:p>
                  </a:txBody>
                  <a:tcPr marT="55000" marB="55000"/>
                </a:tc>
                <a:tc>
                  <a:txBody>
                    <a:bodyPr/>
                    <a:lstStyle/>
                    <a:p>
                      <a:r>
                        <a:rPr sz="1200" lang="en-GB"/>
                        <a:t>agent works in your live session</a:t>
                      </a:r>
                    </a:p>
                  </a:txBody>
                  <a:tcPr marT="55000" marB="55000"/>
                </a:tc>
                <a:tc>
                  <a:txBody>
                    <a:bodyPr/>
                    <a:lstStyle/>
                    <a:p>
                      <a:r>
                        <a:rPr sz="1200" lang="en-GB"/>
                        <a:t>with route 2 or 3</a:t>
                      </a:r>
                    </a:p>
                  </a:txBody>
                  <a:tcPr marT="55000" marB="55000"/>
                </a:tc>
                <a:tc>
                  <a:txBody>
                    <a:bodyPr/>
                    <a:lstStyle/>
                    <a:p>
                      <a:r>
                        <a:rPr sz="1200" lang="en-GB"/>
                        <a:t>with route 2 or 3</a:t>
                      </a:r>
                    </a:p>
                  </a:txBody>
                  <a:tcPr marT="55000" marB="55000"/>
                </a:tc>
              </a:tr>
            </a:tbl>
          </a:graphicData>
        </a:graphic>
      </p:graphicFrame>
      <p:sp>
        <p:nvSpPr>
          <p:cNvPr id="3" name="Title 2"/>
          <p:cNvSpPr>
            <a:spLocks noGrp="1"/>
          </p:cNvSpPr>
          <p:nvPr>
            <p:ph type="title"/>
          </p:nvPr>
        </p:nvSpPr>
        <p:spPr/>
        <p:txBody>
          <a:bodyPr/>
          <a:lstStyle/>
          <a:p>
            <a:r>
              <a:rPr sz="1600" lang="en-GB"/>
              <a:t>Four routes at a glance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utes comp box"/>
          <p:cNvSpPr/>
          <p:nvPr/>
        </p:nvSpPr>
        <p:spPr>
          <a:xfrm>
            <a:off x="457200" y="379476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outes comp" descr=""/>
          <p:cNvPicPr>
            <a:picLocks noChangeAspect="1"/>
          </p:cNvPicPr>
          <p:nvPr/>
        </p:nvPicPr>
        <p:blipFill>
          <a:blip r:embed="rId3"/>
          <a:stretch>
            <a:fillRect/>
          </a:stretch>
        </p:blipFill>
        <p:spPr>
          <a:xfrm>
            <a:off x="658368" y="4000500"/>
            <a:ext cx="365760" cy="365760"/>
          </a:xfrm>
          <a:prstGeom prst="rect">
            <a:avLst/>
          </a:prstGeom>
        </p:spPr>
      </p:pic>
      <p:sp>
        <p:nvSpPr>
          <p:cNvPr id="12" name="Routes comp text"/>
          <p:cNvSpPr txBox="1"/>
          <p:nvPr/>
        </p:nvSpPr>
        <p:spPr>
          <a:xfrm>
            <a:off x="1207008" y="379476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No code completions: </a:t>
            </a:r>
            <a:r>
              <a:rPr sz="1200" b="0" lang="en-GB">
                <a:solidFill>
                  <a:schemeClr val="bg1"/>
                </a:solidFill>
              </a:rPr>
              <a:t>the grey suggestions while typing come only from GitHub Copilot or Posit AI Pass, not from Claude or ChatGPT.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Subscription or API key: the key question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ub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ub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ub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Subscription (monthly)</a:t>
            </a:r>
          </a:p>
        </p:txBody>
      </p:sp>
      <p:pic>
        <p:nvPicPr>
          <p:cNvPr id="13" name="Icon Sub card" descr=""/>
          <p:cNvPicPr>
            <a:picLocks noChangeAspect="1"/>
          </p:cNvPicPr>
          <p:nvPr/>
        </p:nvPicPr>
        <p:blipFill>
          <a:blip r:embed="rId3"/>
          <a:stretch>
            <a:fillRect/>
          </a:stretch>
        </p:blipFill>
        <p:spPr>
          <a:xfrm>
            <a:off x="4064508" y="1284732"/>
            <a:ext cx="310896" cy="310896"/>
          </a:xfrm>
          <a:prstGeom prst="rect">
            <a:avLst/>
          </a:prstGeom>
        </p:spPr>
      </p:pic>
      <p:sp>
        <p:nvSpPr>
          <p:cNvPr id="14" name="Sub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Claude Pro or Max, ChatGPT Plus or Pro</a:t>
            </a:r>
          </a:p>
          <a:p>
            <a:pPr algn="l" marL="182880" indent="-182880">
              <a:spcAft>
                <a:spcPts val="600"/>
              </a:spcAft>
              <a:buClr>
                <a:schemeClr val="accent1"/>
              </a:buClr>
              <a:buFont typeface="Arial"/>
              <a:buChar char="▪"/>
            </a:pPr>
            <a:r>
              <a:rPr sz="1300" b="0" lang="en-GB">
                <a:solidFill>
                  <a:schemeClr val="tx1"/>
                </a:solidFill>
              </a:rPr>
              <a:t>Works in: extension and terminal (routes 2, 3)</a:t>
            </a:r>
          </a:p>
          <a:p>
            <a:pPr algn="l" marL="182880" indent="-182880">
              <a:spcAft>
                <a:spcPts val="600"/>
              </a:spcAft>
              <a:buClr>
                <a:schemeClr val="accent1"/>
              </a:buClr>
              <a:buFont typeface="Arial"/>
              <a:buChar char="▪"/>
            </a:pPr>
            <a:r>
              <a:rPr sz="1300" b="0" lang="en-GB">
                <a:solidFill>
                  <a:schemeClr val="tx1"/>
                </a:solidFill>
              </a:rPr>
              <a:t>Not in Posit Assistant</a:t>
            </a:r>
          </a:p>
          <a:p>
            <a:pPr algn="l" marL="182880" indent="-182880">
              <a:spcAft>
                <a:spcPts val="600"/>
              </a:spcAft>
              <a:buClr>
                <a:schemeClr val="accent1"/>
              </a:buClr>
              <a:buFont typeface="Arial"/>
              <a:buChar char="▪"/>
            </a:pPr>
            <a:r>
              <a:rPr sz="1300" b="0" lang="en-GB">
                <a:solidFill>
                  <a:schemeClr val="tx1"/>
                </a:solidFill>
              </a:rPr>
              <a:t>Flat price, usage limits</a:t>
            </a:r>
          </a:p>
        </p:txBody>
      </p:sp>
      <p:sp>
        <p:nvSpPr>
          <p:cNvPr id="15" name="Key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ey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Key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API key (pay per use)</a:t>
            </a:r>
          </a:p>
        </p:txBody>
      </p:sp>
      <p:pic>
        <p:nvPicPr>
          <p:cNvPr id="18" name="Icon Key card" descr=""/>
          <p:cNvPicPr>
            <a:picLocks noChangeAspect="1"/>
          </p:cNvPicPr>
          <p:nvPr/>
        </p:nvPicPr>
        <p:blipFill>
          <a:blip r:embed="rId4"/>
          <a:stretch>
            <a:fillRect/>
          </a:stretch>
        </p:blipFill>
        <p:spPr>
          <a:xfrm>
            <a:off x="8247888" y="1284732"/>
            <a:ext cx="310896" cy="310896"/>
          </a:xfrm>
          <a:prstGeom prst="rect">
            <a:avLst/>
          </a:prstGeom>
        </p:spPr>
      </p:pic>
      <p:sp>
        <p:nvSpPr>
          <p:cNvPr id="19" name="Key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From platform.claude.com or platform.openai.com</a:t>
            </a:r>
          </a:p>
          <a:p>
            <a:pPr algn="l" marL="182880" indent="-182880">
              <a:spcAft>
                <a:spcPts val="600"/>
              </a:spcAft>
              <a:buClr>
                <a:schemeClr val="accent1"/>
              </a:buClr>
              <a:buFont typeface="Arial"/>
              <a:buChar char="▪"/>
            </a:pPr>
            <a:r>
              <a:rPr sz="1300" b="0" lang="en-GB">
                <a:solidFill>
                  <a:schemeClr val="tx1"/>
                </a:solidFill>
              </a:rPr>
              <a:t>Works in: Posit Assistant, also routes 2 and 3</a:t>
            </a:r>
          </a:p>
          <a:p>
            <a:pPr algn="l" marL="182880" indent="-182880">
              <a:spcAft>
                <a:spcPts val="600"/>
              </a:spcAft>
              <a:buClr>
                <a:schemeClr val="accent1"/>
              </a:buClr>
              <a:buFont typeface="Arial"/>
              <a:buChar char="▪"/>
            </a:pPr>
            <a:r>
              <a:rPr sz="1300" b="0" lang="en-GB">
                <a:solidFill>
                  <a:schemeClr val="tx1"/>
                </a:solidFill>
              </a:rPr>
              <a:t>Prepaid credit, billed per token</a:t>
            </a:r>
          </a:p>
          <a:p>
            <a:pPr algn="l" marL="182880" indent="-182880">
              <a:spcAft>
                <a:spcPts val="600"/>
              </a:spcAft>
              <a:buClr>
                <a:schemeClr val="accent1"/>
              </a:buClr>
              <a:buFont typeface="Arial"/>
              <a:buChar char="▪"/>
            </a:pPr>
            <a:r>
              <a:rPr sz="1300" b="0" lang="en-GB">
                <a:solidFill>
                  <a:schemeClr val="tx1"/>
                </a:solidFill>
              </a:rPr>
              <a:t>Separate from any subscription</a:t>
            </a:r>
          </a:p>
        </p:txBody>
      </p:sp>
      <p:sp>
        <p:nvSpPr>
          <p:cNvPr id="20" name="Sub surprise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ub surprise" descr=""/>
          <p:cNvPicPr>
            <a:picLocks noChangeAspect="1"/>
          </p:cNvPicPr>
          <p:nvPr/>
        </p:nvPicPr>
        <p:blipFill>
          <a:blip r:embed="rId5"/>
          <a:stretch>
            <a:fillRect/>
          </a:stretch>
        </p:blipFill>
        <p:spPr>
          <a:xfrm>
            <a:off x="658368" y="4137660"/>
            <a:ext cx="365760" cy="365760"/>
          </a:xfrm>
          <a:prstGeom prst="rect">
            <a:avLst/>
          </a:prstGeom>
        </p:spPr>
      </p:pic>
      <p:sp>
        <p:nvSpPr>
          <p:cNvPr id="22" name="Sub surprise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Common surprise: </a:t>
            </a:r>
            <a:r>
              <a:rPr sz="1200" b="0" lang="en-GB">
                <a:solidFill>
                  <a:schemeClr val="bg1"/>
                </a:solidFill>
              </a:rPr>
              <a:t>“I pay for Claude Pro, why does Positron want a key?” Because Pro does not include API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5 · get a key, connect it, what it costs</a:t>
            </a:r>
          </a:p>
        </p:txBody>
      </p:sp>
      <p:sp>
        <p:nvSpPr>
          <p:cNvPr id="3" name="Title 2"/>
          <p:cNvSpPr>
            <a:spLocks noGrp="1"/>
          </p:cNvSpPr>
          <p:nvPr>
            <p:ph type="ctrTitle"/>
          </p:nvPr>
        </p:nvSpPr>
        <p:spPr/>
        <p:txBody>
          <a:bodyPr/>
          <a:lstStyle/>
          <a:p>
            <a:r>
              <a:rPr sz="1600" lang="en-GB"/>
              <a:t>Route 1: Posit Assistant with an API key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Get an Anthropic (Claude) API key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key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key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key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Claude Console</a:t>
            </a:r>
          </a:p>
        </p:txBody>
      </p:sp>
      <p:pic>
        <p:nvPicPr>
          <p:cNvPr id="13" name="Icon Akey" descr=""/>
          <p:cNvPicPr>
            <a:picLocks noChangeAspect="1"/>
          </p:cNvPicPr>
          <p:nvPr/>
        </p:nvPicPr>
        <p:blipFill>
          <a:blip r:embed="rId3"/>
          <a:stretch>
            <a:fillRect/>
          </a:stretch>
        </p:blipFill>
        <p:spPr>
          <a:xfrm>
            <a:off x="4956048" y="1284732"/>
            <a:ext cx="310896" cy="310896"/>
          </a:xfrm>
          <a:prstGeom prst="rect">
            <a:avLst/>
          </a:prstGeom>
        </p:spPr>
      </p:pic>
      <p:sp>
        <p:nvSpPr>
          <p:cNvPr id="14" name="Akey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platform.claude.com</a:t>
            </a:r>
          </a:p>
          <a:p>
            <a:pPr algn="l">
              <a:spcAft>
                <a:spcPts val="900"/>
              </a:spcAft>
            </a:pPr>
            <a:r>
              <a:rPr sz="1300" b="1" lang="en-GB">
                <a:solidFill>
                  <a:schemeClr val="accent1"/>
                </a:solidFill>
              </a:rPr>
              <a:t>2  </a:t>
            </a:r>
            <a:r>
              <a:rPr sz="1300" b="1" lang="en-GB">
                <a:solidFill>
                  <a:schemeClr val="tx2"/>
                </a:solidFill>
              </a:rPr>
              <a:t>Settings → Billing: </a:t>
            </a:r>
            <a:r>
              <a:rPr sz="1300" b="0" lang="en-GB">
                <a:solidFill>
                  <a:schemeClr val="tx1"/>
                </a:solidFill>
              </a:rPr>
              <a:t>buy a small credit, e.g. 5 USD</a:t>
            </a:r>
          </a:p>
          <a:p>
            <a:pPr algn="l">
              <a:spcAft>
                <a:spcPts val="900"/>
              </a:spcAft>
            </a:pPr>
            <a:r>
              <a:rPr sz="1300" b="1" lang="en-GB">
                <a:solidFill>
                  <a:schemeClr val="accent1"/>
                </a:solidFill>
              </a:rPr>
              <a:t>3  </a:t>
            </a:r>
            <a:r>
              <a:rPr sz="1300" b="1" lang="en-GB">
                <a:solidFill>
                  <a:schemeClr val="tx2"/>
                </a:solidFill>
              </a:rPr>
              <a:t>Set a spend limit; </a:t>
            </a:r>
            <a:r>
              <a:rPr sz="1300" b="0" lang="en-GB">
                <a:solidFill>
                  <a:schemeClr val="tx1"/>
                </a:solidFill>
              </a:rPr>
              <a:t>auto-reload off</a:t>
            </a:r>
          </a:p>
          <a:p>
            <a:pPr algn="l">
              <a:spcAft>
                <a:spcPts val="900"/>
              </a:spcAft>
            </a:pPr>
            <a:r>
              <a:rPr sz="1300" b="1" lang="en-GB">
                <a:solidFill>
                  <a:schemeClr val="accent1"/>
                </a:solidFill>
              </a:rPr>
              <a:t>4  </a:t>
            </a:r>
            <a:r>
              <a:rPr sz="1300" b="1" lang="en-GB">
                <a:solidFill>
                  <a:schemeClr val="tx2"/>
                </a:solidFill>
              </a:rPr>
              <a:t>Settings → API keys: </a:t>
            </a:r>
            <a:r>
              <a:rPr sz="1300" b="0" lang="en-GB">
                <a:solidFill>
                  <a:schemeClr val="tx1"/>
                </a:solidFill>
              </a:rPr>
              <a:t>Create Key, then Add</a:t>
            </a:r>
          </a:p>
          <a:p>
            <a:pPr algn="l">
              <a:spcAft>
                <a:spcPts val="900"/>
              </a:spcAft>
            </a:pPr>
            <a:r>
              <a:rPr sz="1300" b="1" lang="en-GB">
                <a:solidFill>
                  <a:schemeClr val="accent1"/>
                </a:solidFill>
              </a:rPr>
              <a:t>5  </a:t>
            </a:r>
            <a:r>
              <a:rPr sz="1300" b="1" lang="en-GB">
                <a:solidFill>
                  <a:schemeClr val="tx2"/>
                </a:solidFill>
              </a:rPr>
              <a:t>Copy the key </a:t>
            </a:r>
            <a:r>
              <a:rPr sz="1300" b="0" lang="en-GB">
                <a:solidFill>
                  <a:schemeClr val="tx1"/>
                </a:solidFill>
              </a:rPr>
              <a:t>into a password manager</a:t>
            </a:r>
          </a:p>
        </p:txBody>
      </p:sp>
      <p:sp>
        <p:nvSpPr>
          <p:cNvPr id="15" name="Akey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key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key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Akey card" descr=""/>
          <p:cNvPicPr>
            <a:picLocks noChangeAspect="1"/>
          </p:cNvPicPr>
          <p:nvPr/>
        </p:nvPicPr>
        <p:blipFill>
          <a:blip r:embed="rId5"/>
          <a:stretch>
            <a:fillRect/>
          </a:stretch>
        </p:blipFill>
        <p:spPr>
          <a:xfrm>
            <a:off x="8247888" y="1284732"/>
            <a:ext cx="310896" cy="310896"/>
          </a:xfrm>
          <a:prstGeom prst="rect">
            <a:avLst/>
          </a:prstGeom>
        </p:spPr>
      </p:pic>
      <p:sp>
        <p:nvSpPr>
          <p:cNvPr id="19" name="Akey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Credits expire after one year</a:t>
            </a:r>
          </a:p>
          <a:p>
            <a:pPr algn="l" marL="182880" indent="-182880">
              <a:spcAft>
                <a:spcPts val="600"/>
              </a:spcAft>
              <a:buClr>
                <a:schemeClr val="accent1"/>
              </a:buClr>
              <a:buFont typeface="Arial"/>
              <a:buChar char="▪"/>
            </a:pPr>
            <a:r>
              <a:rPr sz="1300" b="0" lang="en-GB">
                <a:solidFill>
                  <a:schemeClr val="tx1"/>
                </a:solidFill>
              </a:rPr>
              <a:t>Claude Pro does not include API credit</a:t>
            </a:r>
          </a:p>
          <a:p>
            <a:pPr algn="l" marL="182880" indent="-182880">
              <a:spcAft>
                <a:spcPts val="600"/>
              </a:spcAft>
              <a:buClr>
                <a:schemeClr val="accent1"/>
              </a:buClr>
              <a:buFont typeface="Arial"/>
              <a:buChar char="▪"/>
            </a:pPr>
            <a:r>
              <a:rPr sz="1300" b="0" lang="en-GB">
                <a:solidFill>
                  <a:schemeClr val="tx1"/>
                </a:solidFill>
              </a:rPr>
              <a:t>API use is not used for training</a:t>
            </a:r>
          </a:p>
        </p:txBody>
      </p:sp>
      <p:sp>
        <p:nvSpPr>
          <p:cNvPr id="20" name="Akey lock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key lock" descr=""/>
          <p:cNvPicPr>
            <a:picLocks noChangeAspect="1"/>
          </p:cNvPicPr>
          <p:nvPr/>
        </p:nvPicPr>
        <p:blipFill>
          <a:blip r:embed="rId6"/>
          <a:stretch>
            <a:fillRect/>
          </a:stretch>
        </p:blipFill>
        <p:spPr>
          <a:xfrm>
            <a:off x="658368" y="4480560"/>
            <a:ext cx="365760" cy="365760"/>
          </a:xfrm>
          <a:prstGeom prst="rect">
            <a:avLst/>
          </a:prstGeom>
        </p:spPr>
      </p:pic>
      <p:sp>
        <p:nvSpPr>
          <p:cNvPr id="22" name="Akey lock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The key is a password: </a:t>
            </a:r>
            <a:r>
              <a:rPr sz="1200" b="0" lang="en-GB">
                <a:solidFill>
                  <a:schemeClr val="bg1"/>
                </a:solidFill>
              </a:rPr>
              <a:t>never in code, a .qmd file, GitHub or a chat.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Get an OpenAI (ChatGPT) API key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key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key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key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OpenAI platform</a:t>
            </a:r>
          </a:p>
        </p:txBody>
      </p:sp>
      <p:pic>
        <p:nvPicPr>
          <p:cNvPr id="13" name="Icon Okey" descr=""/>
          <p:cNvPicPr>
            <a:picLocks noChangeAspect="1"/>
          </p:cNvPicPr>
          <p:nvPr/>
        </p:nvPicPr>
        <p:blipFill>
          <a:blip r:embed="rId3"/>
          <a:stretch>
            <a:fillRect/>
          </a:stretch>
        </p:blipFill>
        <p:spPr>
          <a:xfrm>
            <a:off x="4956048" y="1284732"/>
            <a:ext cx="310896" cy="310896"/>
          </a:xfrm>
          <a:prstGeom prst="rect">
            <a:avLst/>
          </a:prstGeom>
        </p:spPr>
      </p:pic>
      <p:sp>
        <p:nvSpPr>
          <p:cNvPr id="14" name="Okey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platform.openai.com</a:t>
            </a:r>
          </a:p>
          <a:p>
            <a:pPr algn="l">
              <a:spcAft>
                <a:spcPts val="900"/>
              </a:spcAft>
            </a:pPr>
            <a:r>
              <a:rPr sz="1300" b="1" lang="en-GB">
                <a:solidFill>
                  <a:schemeClr val="accent1"/>
                </a:solidFill>
              </a:rPr>
              <a:t>2  </a:t>
            </a:r>
            <a:r>
              <a:rPr sz="1300" b="1" lang="en-GB">
                <a:solidFill>
                  <a:schemeClr val="tx2"/>
                </a:solidFill>
              </a:rPr>
              <a:t>Billing: </a:t>
            </a:r>
            <a:r>
              <a:rPr sz="1300" b="0" lang="en-GB">
                <a:solidFill>
                  <a:schemeClr val="tx1"/>
                </a:solidFill>
              </a:rPr>
              <a:t>add prepaid credit, at least 5 USD</a:t>
            </a:r>
          </a:p>
          <a:p>
            <a:pPr algn="l">
              <a:spcAft>
                <a:spcPts val="900"/>
              </a:spcAft>
            </a:pPr>
            <a:r>
              <a:rPr sz="1300" b="1" lang="en-GB">
                <a:solidFill>
                  <a:schemeClr val="accent1"/>
                </a:solidFill>
              </a:rPr>
              <a:t>3  </a:t>
            </a:r>
            <a:r>
              <a:rPr sz="1300" b="1" lang="en-GB">
                <a:solidFill>
                  <a:schemeClr val="tx2"/>
                </a:solidFill>
              </a:rPr>
              <a:t>Switch off </a:t>
            </a:r>
            <a:r>
              <a:rPr sz="1300" b="0" lang="en-GB">
                <a:solidFill>
                  <a:schemeClr val="tx1"/>
                </a:solidFill>
              </a:rPr>
              <a:t>auto-recharge; set a budget</a:t>
            </a:r>
          </a:p>
          <a:p>
            <a:pPr algn="l">
              <a:spcAft>
                <a:spcPts val="900"/>
              </a:spcAft>
            </a:pPr>
            <a:r>
              <a:rPr sz="1300" b="1" lang="en-GB">
                <a:solidFill>
                  <a:schemeClr val="accent1"/>
                </a:solidFill>
              </a:rPr>
              <a:t>4  </a:t>
            </a:r>
            <a:r>
              <a:rPr sz="1300" b="1" lang="en-GB">
                <a:solidFill>
                  <a:schemeClr val="tx2"/>
                </a:solidFill>
              </a:rPr>
              <a:t>API keys: </a:t>
            </a:r>
            <a:r>
              <a:rPr sz="1300" b="0" lang="en-GB">
                <a:solidFill>
                  <a:schemeClr val="tx1"/>
                </a:solidFill>
              </a:rPr>
              <a:t>Create new secret key</a:t>
            </a:r>
          </a:p>
          <a:p>
            <a:pPr algn="l">
              <a:spcAft>
                <a:spcPts val="900"/>
              </a:spcAft>
            </a:pPr>
            <a:r>
              <a:rPr sz="1300" b="1" lang="en-GB">
                <a:solidFill>
                  <a:schemeClr val="accent1"/>
                </a:solidFill>
              </a:rPr>
              <a:t>5  </a:t>
            </a:r>
            <a:r>
              <a:rPr sz="1300" b="1" lang="en-GB">
                <a:solidFill>
                  <a:schemeClr val="tx2"/>
                </a:solidFill>
              </a:rPr>
              <a:t>Copy the key </a:t>
            </a:r>
            <a:r>
              <a:rPr sz="1300" b="0" lang="en-GB">
                <a:solidFill>
                  <a:schemeClr val="tx1"/>
                </a:solidFill>
              </a:rPr>
              <a:t>into a password manager</a:t>
            </a:r>
          </a:p>
        </p:txBody>
      </p:sp>
      <p:sp>
        <p:nvSpPr>
          <p:cNvPr id="15" name="Okey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key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key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Okey card" descr=""/>
          <p:cNvPicPr>
            <a:picLocks noChangeAspect="1"/>
          </p:cNvPicPr>
          <p:nvPr/>
        </p:nvPicPr>
        <p:blipFill>
          <a:blip r:embed="rId5"/>
          <a:stretch>
            <a:fillRect/>
          </a:stretch>
        </p:blipFill>
        <p:spPr>
          <a:xfrm>
            <a:off x="8247888" y="1284732"/>
            <a:ext cx="310896" cy="310896"/>
          </a:xfrm>
          <a:prstGeom prst="rect">
            <a:avLst/>
          </a:prstGeom>
        </p:spPr>
      </p:pic>
      <p:sp>
        <p:nvSpPr>
          <p:cNvPr id="19" name="Okey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ChatGPT Plus does not include API credit</a:t>
            </a:r>
          </a:p>
          <a:p>
            <a:pPr algn="l" marL="182880" indent="-182880">
              <a:spcAft>
                <a:spcPts val="600"/>
              </a:spcAft>
              <a:buClr>
                <a:schemeClr val="accent1"/>
              </a:buClr>
              <a:buFont typeface="Arial"/>
              <a:buChar char="▪"/>
            </a:pPr>
            <a:r>
              <a:rPr sz="1300" b="0" lang="en-GB">
                <a:solidFill>
                  <a:schemeClr val="tx1"/>
                </a:solidFill>
              </a:rPr>
              <a:t>Any OpenAI-compatible service also works</a:t>
            </a:r>
          </a:p>
          <a:p>
            <a:pPr algn="l" marL="182880" indent="-182880">
              <a:spcAft>
                <a:spcPts val="600"/>
              </a:spcAft>
              <a:buClr>
                <a:schemeClr val="accent1"/>
              </a:buClr>
              <a:buFont typeface="Arial"/>
              <a:buChar char="▪"/>
            </a:pPr>
            <a:r>
              <a:rPr sz="1300" b="0" lang="en-GB">
                <a:solidFill>
                  <a:schemeClr val="tx1"/>
                </a:solidFill>
              </a:rPr>
              <a:t>API use is not used for training by default</a:t>
            </a:r>
          </a:p>
        </p:txBody>
      </p:sp>
      <p:sp>
        <p:nvSpPr>
          <p:cNvPr id="20" name="Okey lock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Okey lock" descr=""/>
          <p:cNvPicPr>
            <a:picLocks noChangeAspect="1"/>
          </p:cNvPicPr>
          <p:nvPr/>
        </p:nvPicPr>
        <p:blipFill>
          <a:blip r:embed="rId6"/>
          <a:stretch>
            <a:fillRect/>
          </a:stretch>
        </p:blipFill>
        <p:spPr>
          <a:xfrm>
            <a:off x="658368" y="4480560"/>
            <a:ext cx="365760" cy="365760"/>
          </a:xfrm>
          <a:prstGeom prst="rect">
            <a:avLst/>
          </a:prstGeom>
        </p:spPr>
      </p:pic>
      <p:sp>
        <p:nvSpPr>
          <p:cNvPr id="22" name="Okey lock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Leaked a key? </a:t>
            </a:r>
            <a:r>
              <a:rPr sz="1200" b="0" lang="en-GB">
                <a:solidFill>
                  <a:schemeClr val="bg1"/>
                </a:solidFill>
              </a:rPr>
              <a:t>delete it on the platform at once and create a new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the key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nnec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nnec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nnec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13" name="Icon Connect" descr=""/>
          <p:cNvPicPr>
            <a:picLocks noChangeAspect="1"/>
          </p:cNvPicPr>
          <p:nvPr/>
        </p:nvPicPr>
        <p:blipFill>
          <a:blip r:embed="rId3"/>
          <a:stretch>
            <a:fillRect/>
          </a:stretch>
        </p:blipFill>
        <p:spPr>
          <a:xfrm>
            <a:off x="4956048" y="1284732"/>
            <a:ext cx="310896" cy="310896"/>
          </a:xfrm>
          <a:prstGeom prst="rect">
            <a:avLst/>
          </a:prstGeom>
        </p:spPr>
      </p:pic>
      <p:sp>
        <p:nvSpPr>
          <p:cNvPr id="14" name="Connec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Command Palette: </a:t>
            </a:r>
            <a:r>
              <a:rPr sz="1300" b="0" lang="en-GB">
                <a:solidFill>
                  <a:schemeClr val="tx1"/>
                </a:solidFill>
              </a:rPr>
              <a:t>Ctrl/Cmd + Shift + P</a:t>
            </a:r>
          </a:p>
          <a:p>
            <a:pPr algn="l">
              <a:spcAft>
                <a:spcPts val="900"/>
              </a:spcAft>
            </a:pPr>
            <a:r>
              <a:rPr sz="1300" b="1" lang="en-GB">
                <a:solidFill>
                  <a:schemeClr val="accent1"/>
                </a:solidFill>
              </a:rPr>
              <a:t>2  </a:t>
            </a:r>
            <a:r>
              <a:rPr sz="1300" b="1" lang="en-GB">
                <a:solidFill>
                  <a:schemeClr val="tx2"/>
                </a:solidFill>
              </a:rPr>
              <a:t>Run: </a:t>
            </a:r>
            <a:r>
              <a:rPr sz="1300" b="0" lang="en-GB">
                <a:solidFill>
                  <a:schemeClr val="tx1"/>
                </a:solidFill>
              </a:rPr>
              <a:t>Authentication: Configure Language Model Providers</a:t>
            </a:r>
          </a:p>
          <a:p>
            <a:pPr algn="l">
              <a:spcAft>
                <a:spcPts val="900"/>
              </a:spcAft>
            </a:pPr>
            <a:r>
              <a:rPr sz="1300" b="1" lang="en-GB">
                <a:solidFill>
                  <a:schemeClr val="accent1"/>
                </a:solidFill>
              </a:rPr>
              <a:t>3  </a:t>
            </a:r>
            <a:r>
              <a:rPr sz="1300" b="1" lang="en-GB">
                <a:solidFill>
                  <a:schemeClr val="tx2"/>
                </a:solidFill>
              </a:rPr>
              <a:t>Pick </a:t>
            </a:r>
            <a:r>
              <a:rPr sz="1300" b="0" lang="en-GB">
                <a:solidFill>
                  <a:schemeClr val="tx1"/>
                </a:solidFill>
              </a:rPr>
              <a:t>Anthropic or OpenAI</a:t>
            </a:r>
          </a:p>
          <a:p>
            <a:pPr algn="l">
              <a:spcAft>
                <a:spcPts val="900"/>
              </a:spcAft>
            </a:pPr>
            <a:r>
              <a:rPr sz="1300" b="1" lang="en-GB">
                <a:solidFill>
                  <a:schemeClr val="accent1"/>
                </a:solidFill>
              </a:rPr>
              <a:t>4  </a:t>
            </a:r>
            <a:r>
              <a:rPr sz="1300" b="1" lang="en-GB">
                <a:solidFill>
                  <a:schemeClr val="tx2"/>
                </a:solidFill>
              </a:rPr>
              <a:t>Paste </a:t>
            </a:r>
            <a:r>
              <a:rPr sz="1300" b="0" lang="en-GB">
                <a:solidFill>
                  <a:schemeClr val="tx1"/>
                </a:solidFill>
              </a:rPr>
              <a:t>the API key; it shows as connected</a:t>
            </a:r>
          </a:p>
          <a:p>
            <a:pPr algn="l">
              <a:spcAft>
                <a:spcPts val="900"/>
              </a:spcAft>
            </a:pPr>
            <a:r>
              <a:rPr sz="1300" b="1" lang="en-GB">
                <a:solidFill>
                  <a:schemeClr val="accent1"/>
                </a:solidFill>
              </a:rPr>
              <a:t>5  </a:t>
            </a:r>
            <a:r>
              <a:rPr sz="1300" b="1" lang="en-GB">
                <a:solidFill>
                  <a:schemeClr val="tx2"/>
                </a:solidFill>
              </a:rPr>
              <a:t>View: Show Posit Assistant: </a:t>
            </a:r>
            <a:r>
              <a:rPr sz="1300" b="0" lang="en-GB">
                <a:solidFill>
                  <a:schemeClr val="tx1"/>
                </a:solidFill>
              </a:rPr>
              <a:t>pick a model</a:t>
            </a:r>
          </a:p>
        </p:txBody>
      </p:sp>
      <p:sp>
        <p:nvSpPr>
          <p:cNvPr id="15" name="Connect cmd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nnect cmd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Command Palette</a:t>
            </a:r>
          </a:p>
        </p:txBody>
      </p:sp>
      <p:sp>
        <p:nvSpPr>
          <p:cNvPr id="17" name="Connect cmd box"/>
          <p:cNvSpPr/>
          <p:nvPr/>
        </p:nvSpPr>
        <p:spPr>
          <a:xfrm>
            <a:off x="5532120" y="1508760"/>
            <a:ext cx="315468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nnect cmd code"/>
          <p:cNvSpPr txBox="1"/>
          <p:nvPr/>
        </p:nvSpPr>
        <p:spPr>
          <a:xfrm>
            <a:off x="5669280" y="1600200"/>
            <a:ext cx="2880360" cy="6400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Authentication:</a:t>
            </a:r>
          </a:p>
          <a:p>
            <a:pPr algn="l">
              <a:spcAft>
                <a:spcPts val="0"/>
              </a:spcAft>
            </a:pPr>
            <a:r>
              <a:rPr sz="1100" b="0" lang="en-GB">
                <a:solidFill>
                  <a:schemeClr val="bg1"/>
                </a:solidFill>
                <a:latin typeface="Consolas"/>
              </a:rPr>
              <a:t>  Configure Language</a:t>
            </a:r>
          </a:p>
          <a:p>
            <a:pPr algn="l">
              <a:spcAft>
                <a:spcPts val="0"/>
              </a:spcAft>
            </a:pPr>
            <a:r>
              <a:rPr sz="1100" b="0" lang="en-GB">
                <a:solidFill>
                  <a:schemeClr val="bg1"/>
                </a:solidFill>
                <a:latin typeface="Consolas"/>
              </a:rPr>
              <a:t>  Model Providers</a:t>
            </a:r>
          </a:p>
        </p:txBody>
      </p:sp>
      <p:sp>
        <p:nvSpPr>
          <p:cNvPr id="19" name="Connect rows row 1"/>
          <p:cNvSpPr/>
          <p:nvPr/>
        </p:nvSpPr>
        <p:spPr>
          <a:xfrm>
            <a:off x="5532120" y="2468880"/>
            <a:ext cx="3154680" cy="8503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nnect rows bar 1"/>
          <p:cNvSpPr/>
          <p:nvPr/>
        </p:nvSpPr>
        <p:spPr>
          <a:xfrm>
            <a:off x="5532120" y="2468880"/>
            <a:ext cx="64008" cy="8503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nnect rows text 1"/>
          <p:cNvSpPr txBox="1"/>
          <p:nvPr/>
        </p:nvSpPr>
        <p:spPr>
          <a:xfrm>
            <a:off x="5733288" y="2468880"/>
            <a:ext cx="2862072" cy="850392"/>
          </a:xfrm>
          <a:prstGeom prst="rect">
            <a:avLst/>
          </a:prstGeom>
          <a:noFill/>
        </p:spPr>
        <p:txBody>
          <a:bodyPr wrap="square" lIns="0" rIns="0" tIns="0" bIns="0" anchor="ctr">
            <a:noAutofit/>
          </a:bodyPr>
          <a:lstStyle/>
          <a:p>
            <a:pPr algn="l">
              <a:spcAft>
                <a:spcPts val="400"/>
              </a:spcAft>
            </a:pPr>
            <a:r>
              <a:rPr sz="1200" b="1" lang="en-GB">
                <a:solidFill>
                  <a:schemeClr val="tx2"/>
                </a:solidFill>
              </a:rPr>
              <a:t>Stored safely: </a:t>
            </a:r>
            <a:r>
              <a:rPr sz="1200" b="0" lang="en-GB">
                <a:solidFill>
                  <a:schemeClr val="tx1"/>
                </a:solidFill>
              </a:rPr>
              <a:t>in the system keychain, not in a file</a:t>
            </a:r>
          </a:p>
        </p:txBody>
      </p:sp>
      <p:sp>
        <p:nvSpPr>
          <p:cNvPr id="22" name="Connect rows row 2"/>
          <p:cNvSpPr/>
          <p:nvPr/>
        </p:nvSpPr>
        <p:spPr>
          <a:xfrm>
            <a:off x="5532120" y="3410712"/>
            <a:ext cx="3154680" cy="8503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nnect rows bar 2"/>
          <p:cNvSpPr/>
          <p:nvPr/>
        </p:nvSpPr>
        <p:spPr>
          <a:xfrm>
            <a:off x="5532120" y="3410712"/>
            <a:ext cx="64008" cy="8503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nnect rows text 2"/>
          <p:cNvSpPr txBox="1"/>
          <p:nvPr/>
        </p:nvSpPr>
        <p:spPr>
          <a:xfrm>
            <a:off x="5733288" y="3410712"/>
            <a:ext cx="2862072" cy="850392"/>
          </a:xfrm>
          <a:prstGeom prst="rect">
            <a:avLst/>
          </a:prstGeom>
          <a:noFill/>
        </p:spPr>
        <p:txBody>
          <a:bodyPr wrap="square" lIns="0" rIns="0" tIns="0" bIns="0" anchor="ctr">
            <a:noAutofit/>
          </a:bodyPr>
          <a:lstStyle/>
          <a:p>
            <a:pPr algn="l">
              <a:spcAft>
                <a:spcPts val="400"/>
              </a:spcAft>
            </a:pPr>
            <a:r>
              <a:rPr sz="1200" b="1" lang="en-GB">
                <a:solidFill>
                  <a:schemeClr val="tx2"/>
                </a:solidFill>
              </a:rPr>
              <a:t>Models: </a:t>
            </a:r>
            <a:r>
              <a:rPr sz="1200" b="0" lang="en-GB">
                <a:solidFill>
                  <a:schemeClr val="tx1"/>
                </a:solidFill>
              </a:rPr>
              <a:t>whatever your key may use</a:t>
            </a:r>
          </a:p>
        </p:txBody>
      </p:sp>
      <p:sp>
        <p:nvSpPr>
          <p:cNvPr id="25" name="Connect same box"/>
          <p:cNvSpPr/>
          <p:nvPr/>
        </p:nvSpPr>
        <p:spPr>
          <a:xfrm>
            <a:off x="457200" y="44348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onnect same" descr=""/>
          <p:cNvPicPr>
            <a:picLocks noChangeAspect="1"/>
          </p:cNvPicPr>
          <p:nvPr/>
        </p:nvPicPr>
        <p:blipFill>
          <a:blip r:embed="rId4"/>
          <a:stretch>
            <a:fillRect/>
          </a:stretch>
        </p:blipFill>
        <p:spPr>
          <a:xfrm>
            <a:off x="658368" y="4526280"/>
            <a:ext cx="365760" cy="365760"/>
          </a:xfrm>
          <a:prstGeom prst="rect">
            <a:avLst/>
          </a:prstGeom>
        </p:spPr>
      </p:pic>
      <p:sp>
        <p:nvSpPr>
          <p:cNvPr id="27" name="Connect same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Same pane as Copilot: </a:t>
            </a:r>
            <a:r>
              <a:rPr sz="1200" b="0" lang="en-GB">
                <a:solidFill>
                  <a:schemeClr val="tx1"/>
                </a:solidFill>
              </a:rPr>
              <a:t>everything in the Copilot guide on Posit Assistant applies.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ost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2011680"/>
                <a:gridCol w="2194560"/>
                <a:gridCol w="2194560"/>
                <a:gridCol w="1828800"/>
              </a:tblGrid>
              <a:tr h="370840">
                <a:tc>
                  <a:txBody>
                    <a:bodyPr/>
                    <a:lstStyle/>
                    <a:p>
                      <a:r>
                        <a:rPr sz="1300" lang="en-GB"/>
                        <a:t>Claude model</a:t>
                      </a:r>
                    </a:p>
                  </a:txBody>
                  <a:tcPr marT="60000" marB="60000"/>
                </a:tc>
                <a:tc>
                  <a:txBody>
                    <a:bodyPr/>
                    <a:lstStyle/>
                    <a:p>
                      <a:r>
                        <a:rPr sz="1300" lang="en-GB"/>
                        <a:t>Input (per 1M tokens)</a:t>
                      </a:r>
                    </a:p>
                  </a:txBody>
                  <a:tcPr marT="60000" marB="60000"/>
                </a:tc>
                <a:tc>
                  <a:txBody>
                    <a:bodyPr/>
                    <a:lstStyle/>
                    <a:p>
                      <a:r>
                        <a:rPr sz="1300" lang="en-GB"/>
                        <a:t>Output (per 1M tokens)</a:t>
                      </a:r>
                    </a:p>
                  </a:txBody>
                  <a:tcPr marT="60000" marB="60000"/>
                </a:tc>
                <a:tc>
                  <a:txBody>
                    <a:bodyPr/>
                    <a:lstStyle/>
                    <a:p>
                      <a:r>
                        <a:rPr sz="1300" lang="en-GB"/>
                        <a:t>One question*</a:t>
                      </a:r>
                    </a:p>
                  </a:txBody>
                  <a:tcPr marT="60000" marB="60000"/>
                </a:tc>
              </a:tr>
              <a:tr h="370840">
                <a:tc>
                  <a:txBody>
                    <a:bodyPr/>
                    <a:lstStyle/>
                    <a:p>
                      <a:r>
                        <a:rPr sz="1200" b="1" lang="en-GB"/>
                        <a:t>Haiku 5.5</a:t>
                      </a:r>
                    </a:p>
                  </a:txBody>
                  <a:tcPr marT="60000" marB="60000"/>
                </a:tc>
                <a:tc>
                  <a:txBody>
                    <a:bodyPr/>
                    <a:lstStyle/>
                    <a:p>
                      <a:r>
                        <a:rPr sz="1200" lang="en-GB"/>
                        <a:t>0.10 USD</a:t>
                      </a:r>
                    </a:p>
                  </a:txBody>
                  <a:tcPr marT="60000" marB="60000"/>
                </a:tc>
                <a:tc>
                  <a:txBody>
                    <a:bodyPr/>
                    <a:lstStyle/>
                    <a:p>
                      <a:r>
                        <a:rPr sz="1200" lang="en-GB"/>
                        <a:t>0.50 USD</a:t>
                      </a:r>
                    </a:p>
                  </a:txBody>
                  <a:tcPr marT="60000" marB="60000"/>
                </a:tc>
                <a:tc>
                  <a:txBody>
                    <a:bodyPr/>
                    <a:lstStyle/>
                    <a:p>
                      <a:r>
                        <a:rPr sz="1200" lang="en-GB"/>
                        <a:t>≈ 0.1 cent</a:t>
                      </a:r>
                    </a:p>
                  </a:txBody>
                  <a:tcPr marT="60000" marB="60000"/>
                </a:tc>
              </a:tr>
              <a:tr h="370840">
                <a:tc>
                  <a:txBody>
                    <a:bodyPr/>
                    <a:lstStyle/>
                    <a:p>
                      <a:r>
                        <a:rPr sz="1200" b="1" lang="en-GB"/>
                        <a:t>Sonnet 5.5</a:t>
                      </a:r>
                    </a:p>
                  </a:txBody>
                  <a:tcPr marT="60000" marB="60000"/>
                </a:tc>
                <a:tc>
                  <a:txBody>
                    <a:bodyPr/>
                    <a:lstStyle/>
                    <a:p>
                      <a:r>
                        <a:rPr sz="1200" lang="en-GB"/>
                        <a:t>2 USD</a:t>
                      </a:r>
                    </a:p>
                  </a:txBody>
                  <a:tcPr marT="60000" marB="60000"/>
                </a:tc>
                <a:tc>
                  <a:txBody>
                    <a:bodyPr/>
                    <a:lstStyle/>
                    <a:p>
                      <a:r>
                        <a:rPr sz="1200" lang="en-GB"/>
                        <a:t>10 USD</a:t>
                      </a:r>
                    </a:p>
                  </a:txBody>
                  <a:tcPr marT="60000" marB="60000"/>
                </a:tc>
                <a:tc>
                  <a:txBody>
                    <a:bodyPr/>
                    <a:lstStyle/>
                    <a:p>
                      <a:r>
                        <a:rPr sz="1200" lang="en-GB"/>
                        <a:t>≈ 2 cents</a:t>
                      </a:r>
                    </a:p>
                  </a:txBody>
                  <a:tcPr marT="60000" marB="60000"/>
                </a:tc>
              </a:tr>
              <a:tr h="370840">
                <a:tc>
                  <a:txBody>
                    <a:bodyPr/>
                    <a:lstStyle/>
                    <a:p>
                      <a:r>
                        <a:rPr sz="1200" b="1" lang="en-GB"/>
                        <a:t>Opus 5.5</a:t>
                      </a:r>
                    </a:p>
                  </a:txBody>
                  <a:tcPr marT="60000" marB="60000"/>
                </a:tc>
                <a:tc>
                  <a:txBody>
                    <a:bodyPr/>
                    <a:lstStyle/>
                    <a:p>
                      <a:r>
                        <a:rPr sz="1200" lang="en-GB"/>
                        <a:t>4 USD</a:t>
                      </a:r>
                    </a:p>
                  </a:txBody>
                  <a:tcPr marT="60000" marB="60000"/>
                </a:tc>
                <a:tc>
                  <a:txBody>
                    <a:bodyPr/>
                    <a:lstStyle/>
                    <a:p>
                      <a:r>
                        <a:rPr sz="1200" lang="en-GB"/>
                        <a:t>20 USD</a:t>
                      </a:r>
                    </a:p>
                  </a:txBody>
                  <a:tcPr marT="60000" marB="60000"/>
                </a:tc>
                <a:tc>
                  <a:txBody>
                    <a:bodyPr/>
                    <a:lstStyle/>
                    <a:p>
                      <a:r>
                        <a:rPr sz="1200" lang="en-GB"/>
                        <a:t>≈ 4 cents</a:t>
                      </a:r>
                    </a:p>
                  </a:txBody>
                  <a:tcPr marT="60000" marB="60000"/>
                </a:tc>
              </a:tr>
            </a:tbl>
          </a:graphicData>
        </a:graphic>
      </p:graphicFrame>
      <p:sp>
        <p:nvSpPr>
          <p:cNvPr id="3" name="Title 2"/>
          <p:cNvSpPr>
            <a:spLocks noGrp="1"/>
          </p:cNvSpPr>
          <p:nvPr>
            <p:ph type="title"/>
          </p:nvPr>
        </p:nvSpPr>
        <p:spPr/>
        <p:txBody>
          <a:bodyPr/>
          <a:lstStyle/>
          <a:p>
            <a:r>
              <a:rPr sz="1600" lang="en-GB"/>
              <a:t>What a question costs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st foot"/>
          <p:cNvSpPr txBox="1"/>
          <p:nvPr/>
        </p:nvSpPr>
        <p:spPr>
          <a:xfrm>
            <a:off x="457200" y="2880360"/>
            <a:ext cx="8229600" cy="320040"/>
          </a:xfrm>
          <a:prstGeom prst="rect">
            <a:avLst/>
          </a:prstGeom>
          <a:noFill/>
        </p:spPr>
        <p:txBody>
          <a:bodyPr wrap="square" lIns="0" rIns="0" tIns="0" bIns="0" anchor="ctr">
            <a:noAutofit/>
          </a:bodyPr>
          <a:lstStyle/>
          <a:p>
            <a:pPr algn="l">
              <a:spcAft>
                <a:spcPts val="400"/>
              </a:spcAft>
            </a:pPr>
            <a:r>
              <a:rPr sz="1100" b="0" lang="en-GB">
                <a:solidFill>
                  <a:srgbClr val="595959"/>
                </a:solidFill>
              </a:rPr>
              <a:t>* 5,000 tokens in, 1,000 out; own calculation from Anthropic's prices.</a:t>
            </a:r>
          </a:p>
        </p:txBody>
      </p:sp>
      <p:sp>
        <p:nvSpPr>
          <p:cNvPr id="11" name="Cost row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st row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st row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Chat is cheap, agents are not: </a:t>
            </a:r>
            <a:r>
              <a:rPr sz="1200" b="0" lang="en-GB">
                <a:solidFill>
                  <a:schemeClr val="tx1"/>
                </a:solidFill>
              </a:rPr>
              <a:t>an agent that reads your whole project can cost dollars</a:t>
            </a:r>
          </a:p>
        </p:txBody>
      </p:sp>
      <p:sp>
        <p:nvSpPr>
          <p:cNvPr id="14" name="Cost row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st row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st row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Protect yourself: </a:t>
            </a:r>
            <a:r>
              <a:rPr sz="1200" b="0" lang="en-GB">
                <a:solidFill>
                  <a:schemeClr val="tx1"/>
                </a:solidFill>
              </a:rPr>
              <a:t>small prepaid credit, a spend limit, no auto-reload</a:t>
            </a:r>
          </a:p>
        </p:txBody>
      </p:sp>
      <p:sp>
        <p:nvSpPr>
          <p:cNvPr id="17" name="Cost free box"/>
          <p:cNvSpPr/>
          <p:nvPr/>
        </p:nvSpPr>
        <p:spPr>
          <a:xfrm>
            <a:off x="457200" y="43891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Cost free" descr=""/>
          <p:cNvPicPr>
            <a:picLocks noChangeAspect="1"/>
          </p:cNvPicPr>
          <p:nvPr/>
        </p:nvPicPr>
        <p:blipFill>
          <a:blip r:embed="rId3"/>
          <a:stretch>
            <a:fillRect/>
          </a:stretch>
        </p:blipFill>
        <p:spPr>
          <a:xfrm>
            <a:off x="658368" y="4457700"/>
            <a:ext cx="365760" cy="365760"/>
          </a:xfrm>
          <a:prstGeom prst="rect">
            <a:avLst/>
          </a:prstGeom>
        </p:spPr>
      </p:pic>
      <p:sp>
        <p:nvSpPr>
          <p:cNvPr id="19" name="Cost free text"/>
          <p:cNvSpPr txBox="1"/>
          <p:nvPr/>
        </p:nvSpPr>
        <p:spPr>
          <a:xfrm>
            <a:off x="1207008" y="438912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Free alternative: </a:t>
            </a:r>
            <a:r>
              <a:rPr sz="1200" b="0" lang="en-GB">
                <a:solidFill>
                  <a:schemeClr val="bg1"/>
                </a:solidFill>
              </a:rPr>
              <a:t>GitHub Copilot Student in the same pane.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5 · Claude Code and Codex as panels in Positron</a:t>
            </a:r>
          </a:p>
        </p:txBody>
      </p:sp>
      <p:sp>
        <p:nvSpPr>
          <p:cNvPr id="3" name="Title 2"/>
          <p:cNvSpPr>
            <a:spLocks noGrp="1"/>
          </p:cNvSpPr>
          <p:nvPr>
            <p:ph type="ctrTitle"/>
          </p:nvPr>
        </p:nvSpPr>
        <p:spPr/>
        <p:txBody>
          <a:bodyPr/>
          <a:lstStyle/>
          <a:p>
            <a:r>
              <a:rPr sz="1600" lang="en-GB"/>
              <a:t>Route 2: the vendor's extension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Claude Code extension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ex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ex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Cex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Install and sign in</a:t>
            </a:r>
          </a:p>
        </p:txBody>
      </p:sp>
      <p:pic>
        <p:nvPicPr>
          <p:cNvPr id="13" name="Icon CCext" descr=""/>
          <p:cNvPicPr>
            <a:picLocks noChangeAspect="1"/>
          </p:cNvPicPr>
          <p:nvPr/>
        </p:nvPicPr>
        <p:blipFill>
          <a:blip r:embed="rId3"/>
          <a:stretch>
            <a:fillRect/>
          </a:stretch>
        </p:blipFill>
        <p:spPr>
          <a:xfrm>
            <a:off x="4956048" y="1284732"/>
            <a:ext cx="310896" cy="310896"/>
          </a:xfrm>
          <a:prstGeom prst="rect">
            <a:avLst/>
          </a:prstGeom>
        </p:spPr>
      </p:pic>
      <p:sp>
        <p:nvSpPr>
          <p:cNvPr id="14" name="CCex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Extensions: </a:t>
            </a:r>
            <a:r>
              <a:rPr sz="1300" b="0" lang="en-GB">
                <a:solidFill>
                  <a:schemeClr val="tx1"/>
                </a:solidFill>
              </a:rPr>
              <a:t>Ctrl/Cmd + Shift + X, search Claude Code</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publisher Anthropic, verified badge; Install</a:t>
            </a:r>
          </a:p>
          <a:p>
            <a:pPr algn="l">
              <a:spcAft>
                <a:spcPts val="900"/>
              </a:spcAft>
            </a:pPr>
            <a:r>
              <a:rPr sz="1300" b="1" lang="en-GB">
                <a:solidFill>
                  <a:schemeClr val="accent1"/>
                </a:solidFill>
              </a:rPr>
              <a:t>3  </a:t>
            </a:r>
            <a:r>
              <a:rPr sz="1300" b="1" lang="en-GB">
                <a:solidFill>
                  <a:schemeClr val="tx2"/>
                </a:solidFill>
              </a:rPr>
              <a:t>Open </a:t>
            </a:r>
            <a:r>
              <a:rPr sz="1300" b="0" lang="en-GB">
                <a:solidFill>
                  <a:schemeClr val="tx1"/>
                </a:solidFill>
              </a:rPr>
              <a:t>your project folder and trust it</a:t>
            </a:r>
          </a:p>
          <a:p>
            <a:pPr algn="l">
              <a:spcAft>
                <a:spcPts val="900"/>
              </a:spcAft>
            </a:pPr>
            <a:r>
              <a:rPr sz="1300" b="1" lang="en-GB">
                <a:solidFill>
                  <a:schemeClr val="accent1"/>
                </a:solidFill>
              </a:rPr>
              <a:t>4  </a:t>
            </a:r>
            <a:r>
              <a:rPr sz="1300" b="1" lang="en-GB">
                <a:solidFill>
                  <a:schemeClr val="tx2"/>
                </a:solidFill>
              </a:rPr>
              <a:t>Open a file, click </a:t>
            </a:r>
            <a:r>
              <a:rPr sz="1300" b="0" lang="en-GB">
                <a:solidFill>
                  <a:schemeClr val="tx1"/>
                </a:solidFill>
              </a:rPr>
              <a:t>the spark icon or ✻ Claude Code</a:t>
            </a:r>
          </a:p>
          <a:p>
            <a:pPr algn="l">
              <a:spcAft>
                <a:spcPts val="900"/>
              </a:spcAft>
            </a:pPr>
            <a:r>
              <a:rPr sz="1300" b="1" lang="en-GB">
                <a:solidFill>
                  <a:schemeClr val="accent1"/>
                </a:solidFill>
              </a:rPr>
              <a:t>5  </a:t>
            </a:r>
            <a:r>
              <a:rPr sz="1300" b="1" lang="en-GB">
                <a:solidFill>
                  <a:schemeClr val="tx2"/>
                </a:solidFill>
              </a:rPr>
              <a:t>Sign in </a:t>
            </a:r>
            <a:r>
              <a:rPr sz="1300" b="0" lang="en-GB">
                <a:solidFill>
                  <a:schemeClr val="tx1"/>
                </a:solidFill>
              </a:rPr>
              <a:t>with Claude Pro or Max in the browser</a:t>
            </a:r>
          </a:p>
        </p:txBody>
      </p:sp>
      <p:sp>
        <p:nvSpPr>
          <p:cNvPr id="15" name="CCext card body"/>
          <p:cNvSpPr/>
          <p:nvPr/>
        </p:nvSpPr>
        <p:spPr>
          <a:xfrm>
            <a:off x="5532120" y="1645920"/>
            <a:ext cx="315468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Cex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ex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CCext card" descr=""/>
          <p:cNvPicPr>
            <a:picLocks noChangeAspect="1"/>
          </p:cNvPicPr>
          <p:nvPr/>
        </p:nvPicPr>
        <p:blipFill>
          <a:blip r:embed="rId4"/>
          <a:stretch>
            <a:fillRect/>
          </a:stretch>
        </p:blipFill>
        <p:spPr>
          <a:xfrm>
            <a:off x="8247888" y="1284732"/>
            <a:ext cx="310896" cy="310896"/>
          </a:xfrm>
          <a:prstGeom prst="rect">
            <a:avLst/>
          </a:prstGeom>
        </p:spPr>
      </p:pic>
      <p:sp>
        <p:nvSpPr>
          <p:cNvPr id="19" name="CCext card text"/>
          <p:cNvSpPr txBox="1"/>
          <p:nvPr/>
        </p:nvSpPr>
        <p:spPr>
          <a:xfrm>
            <a:off x="5696712" y="1783080"/>
            <a:ext cx="2852928" cy="2377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claude.ai plan: no Claude Code</a:t>
            </a:r>
          </a:p>
          <a:p>
            <a:pPr algn="l" marL="182880" indent="-182880">
              <a:spcAft>
                <a:spcPts val="600"/>
              </a:spcAft>
              <a:buClr>
                <a:schemeClr val="accent1"/>
              </a:buClr>
              <a:buFont typeface="Arial"/>
              <a:buChar char="▪"/>
            </a:pPr>
            <a:r>
              <a:rPr sz="1300" b="0" lang="en-GB">
                <a:solidFill>
                  <a:schemeClr val="tx1"/>
                </a:solidFill>
              </a:rPr>
              <a:t>No spark icon? Open a file, Developer: Reload Window</a:t>
            </a:r>
          </a:p>
          <a:p>
            <a:pPr algn="l" marL="182880" indent="-182880">
              <a:spcAft>
                <a:spcPts val="600"/>
              </a:spcAft>
              <a:buClr>
                <a:schemeClr val="accent1"/>
              </a:buClr>
              <a:buFont typeface="Arial"/>
              <a:buChar char="▪"/>
            </a:pPr>
            <a:r>
              <a:rPr sz="1300" b="0" lang="en-GB">
                <a:solidFill>
                  <a:schemeClr val="tx1"/>
                </a:solidFill>
              </a:rPr>
              <a:t>Shows changes as diffs you accept</a:t>
            </a:r>
          </a:p>
        </p:txBody>
      </p:sp>
      <p:sp>
        <p:nvSpPr>
          <p:cNvPr id="20" name="CCext warn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Cext warn" descr=""/>
          <p:cNvPicPr>
            <a:picLocks noChangeAspect="1"/>
          </p:cNvPicPr>
          <p:nvPr/>
        </p:nvPicPr>
        <p:blipFill>
          <a:blip r:embed="rId5"/>
          <a:stretch>
            <a:fillRect/>
          </a:stretch>
        </p:blipFill>
        <p:spPr>
          <a:xfrm>
            <a:off x="658368" y="4526280"/>
            <a:ext cx="365760" cy="365760"/>
          </a:xfrm>
          <a:prstGeom prst="rect">
            <a:avLst/>
          </a:prstGeom>
        </p:spPr>
      </p:pic>
      <p:sp>
        <p:nvSpPr>
          <p:cNvPr id="22" name="CCext warn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Not officially supported in Positron: </a:t>
            </a:r>
            <a:r>
              <a:rPr sz="1200" b="0" lang="en-GB">
                <a:solidFill>
                  <a:schemeClr val="bg1"/>
                </a:solidFill>
              </a:rPr>
              <a:t>if it fails, use the terminal (Part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Codex extension (OpenAI)</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ex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ex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xex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Install and sign in</a:t>
            </a:r>
          </a:p>
        </p:txBody>
      </p:sp>
      <p:pic>
        <p:nvPicPr>
          <p:cNvPr id="13" name="Icon Cxext" descr=""/>
          <p:cNvPicPr>
            <a:picLocks noChangeAspect="1"/>
          </p:cNvPicPr>
          <p:nvPr/>
        </p:nvPicPr>
        <p:blipFill>
          <a:blip r:embed="rId3"/>
          <a:stretch>
            <a:fillRect/>
          </a:stretch>
        </p:blipFill>
        <p:spPr>
          <a:xfrm>
            <a:off x="4956048" y="1284732"/>
            <a:ext cx="310896" cy="310896"/>
          </a:xfrm>
          <a:prstGeom prst="rect">
            <a:avLst/>
          </a:prstGeom>
        </p:spPr>
      </p:pic>
      <p:sp>
        <p:nvSpPr>
          <p:cNvPr id="14" name="Cxex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Extensions: </a:t>
            </a:r>
            <a:r>
              <a:rPr sz="1300" b="0" lang="en-GB">
                <a:solidFill>
                  <a:schemeClr val="tx1"/>
                </a:solidFill>
              </a:rPr>
              <a:t>search Codex</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publisher OpenAI, ID openai.chatgpt</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Install and trust the publisher</a:t>
            </a:r>
          </a:p>
          <a:p>
            <a:pPr algn="l">
              <a:spcAft>
                <a:spcPts val="900"/>
              </a:spcAft>
            </a:pPr>
            <a:r>
              <a:rPr sz="1300" b="1" lang="en-GB">
                <a:solidFill>
                  <a:schemeClr val="accent1"/>
                </a:solidFill>
              </a:rPr>
              <a:t>4  </a:t>
            </a:r>
            <a:r>
              <a:rPr sz="1300" b="1" lang="en-GB">
                <a:solidFill>
                  <a:schemeClr val="tx2"/>
                </a:solidFill>
              </a:rPr>
              <a:t>Open </a:t>
            </a:r>
            <a:r>
              <a:rPr sz="1300" b="0" lang="en-GB">
                <a:solidFill>
                  <a:schemeClr val="tx1"/>
                </a:solidFill>
              </a:rPr>
              <a:t>the Codex panel</a:t>
            </a:r>
          </a:p>
          <a:p>
            <a:pPr algn="l">
              <a:spcAft>
                <a:spcPts val="900"/>
              </a:spcAft>
            </a:pPr>
            <a:r>
              <a:rPr sz="1300" b="1" lang="en-GB">
                <a:solidFill>
                  <a:schemeClr val="accent1"/>
                </a:solidFill>
              </a:rPr>
              <a:t>5  </a:t>
            </a:r>
            <a:r>
              <a:rPr sz="1300" b="1" lang="en-GB">
                <a:solidFill>
                  <a:schemeClr val="tx2"/>
                </a:solidFill>
              </a:rPr>
              <a:t>Sign in </a:t>
            </a:r>
            <a:r>
              <a:rPr sz="1300" b="0" lang="en-GB">
                <a:solidFill>
                  <a:schemeClr val="tx1"/>
                </a:solidFill>
              </a:rPr>
              <a:t>with your ChatGPT account</a:t>
            </a:r>
          </a:p>
        </p:txBody>
      </p:sp>
      <p:sp>
        <p:nvSpPr>
          <p:cNvPr id="15" name="Cxext card body"/>
          <p:cNvSpPr/>
          <p:nvPr/>
        </p:nvSpPr>
        <p:spPr>
          <a:xfrm>
            <a:off x="5532120" y="1645920"/>
            <a:ext cx="315468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xex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ex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Cxext card" descr=""/>
          <p:cNvPicPr>
            <a:picLocks noChangeAspect="1"/>
          </p:cNvPicPr>
          <p:nvPr/>
        </p:nvPicPr>
        <p:blipFill>
          <a:blip r:embed="rId4"/>
          <a:stretch>
            <a:fillRect/>
          </a:stretch>
        </p:blipFill>
        <p:spPr>
          <a:xfrm>
            <a:off x="8247888" y="1284732"/>
            <a:ext cx="310896" cy="310896"/>
          </a:xfrm>
          <a:prstGeom prst="rect">
            <a:avLst/>
          </a:prstGeom>
        </p:spPr>
      </p:pic>
      <p:sp>
        <p:nvSpPr>
          <p:cNvPr id="19" name="Cxext card text"/>
          <p:cNvSpPr txBox="1"/>
          <p:nvPr/>
        </p:nvSpPr>
        <p:spPr>
          <a:xfrm>
            <a:off x="5696712" y="1783080"/>
            <a:ext cx="2852928" cy="2377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Works with ChatGPT Free, Go, Plus and higher; limits differ</a:t>
            </a:r>
          </a:p>
          <a:p>
            <a:pPr algn="l" marL="182880" indent="-182880">
              <a:spcAft>
                <a:spcPts val="600"/>
              </a:spcAft>
              <a:buClr>
                <a:schemeClr val="accent1"/>
              </a:buClr>
              <a:buFont typeface="Arial"/>
              <a:buChar char="▪"/>
            </a:pPr>
            <a:r>
              <a:rPr sz="1300" b="0" lang="en-GB">
                <a:solidFill>
                  <a:schemeClr val="tx1"/>
                </a:solidFill>
              </a:rPr>
              <a:t>Same agent as the Codex CLI</a:t>
            </a:r>
          </a:p>
          <a:p>
            <a:pPr algn="l" marL="182880" indent="-182880">
              <a:spcAft>
                <a:spcPts val="600"/>
              </a:spcAft>
              <a:buClr>
                <a:schemeClr val="accent1"/>
              </a:buClr>
              <a:buFont typeface="Arial"/>
              <a:buChar char="▪"/>
            </a:pPr>
            <a:r>
              <a:rPr sz="1300" b="0" lang="en-GB">
                <a:solidFill>
                  <a:schemeClr val="tx1"/>
                </a:solidFill>
              </a:rPr>
              <a:t>Windows: native, or WSL if needed</a:t>
            </a:r>
          </a:p>
        </p:txBody>
      </p:sp>
      <p:sp>
        <p:nvSpPr>
          <p:cNvPr id="20" name="Cxext warn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xext warn" descr=""/>
          <p:cNvPicPr>
            <a:picLocks noChangeAspect="1"/>
          </p:cNvPicPr>
          <p:nvPr/>
        </p:nvPicPr>
        <p:blipFill>
          <a:blip r:embed="rId5"/>
          <a:stretch>
            <a:fillRect/>
          </a:stretch>
        </p:blipFill>
        <p:spPr>
          <a:xfrm>
            <a:off x="658368" y="4526280"/>
            <a:ext cx="365760" cy="365760"/>
          </a:xfrm>
          <a:prstGeom prst="rect">
            <a:avLst/>
          </a:prstGeom>
        </p:spPr>
      </p:pic>
      <p:sp>
        <p:nvSpPr>
          <p:cNvPr id="22" name="Cxext warn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Not in the list? </a:t>
            </a:r>
            <a:r>
              <a:rPr sz="1200" b="0" lang="en-GB">
                <a:solidFill>
                  <a:schemeClr val="bg1"/>
                </a:solidFill>
              </a:rPr>
              <a:t>use the Codex CLI in the terminal (Part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If an extension does not show up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otfound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otfound number 1"/>
          <p:cNvSpPr/>
          <p:nvPr/>
        </p:nvSpPr>
        <p:spPr>
          <a:xfrm>
            <a:off x="594360" y="1362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Notfound text 1"/>
          <p:cNvSpPr txBox="1"/>
          <p:nvPr/>
        </p:nvSpPr>
        <p:spPr>
          <a:xfrm>
            <a:off x="1051560" y="123444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Search again </a:t>
            </a:r>
            <a:r>
              <a:rPr sz="1200" b="0" lang="en-GB">
                <a:solidFill>
                  <a:schemeClr val="tx1"/>
                </a:solidFill>
              </a:rPr>
              <a:t>with the publisher name: Anthropic or OpenAI</a:t>
            </a:r>
          </a:p>
        </p:txBody>
      </p:sp>
      <p:sp>
        <p:nvSpPr>
          <p:cNvPr id="13" name="Notfound row 2"/>
          <p:cNvSpPr/>
          <p:nvPr/>
        </p:nvSpPr>
        <p:spPr>
          <a:xfrm>
            <a:off x="457200" y="187452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Notfound number 2"/>
          <p:cNvSpPr/>
          <p:nvPr/>
        </p:nvSpPr>
        <p:spPr>
          <a:xfrm>
            <a:off x="594360" y="2002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Notfound text 2"/>
          <p:cNvSpPr txBox="1"/>
          <p:nvPr/>
        </p:nvSpPr>
        <p:spPr>
          <a:xfrm>
            <a:off x="1051560" y="187452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Switch the gallery: </a:t>
            </a:r>
            <a:r>
              <a:rPr sz="1200" b="0" lang="en-GB">
                <a:solidFill>
                  <a:schemeClr val="tx1"/>
                </a:solidFill>
              </a:rPr>
              <a:t>setting positron.extensions.gallerySource → Open VSX, restart</a:t>
            </a:r>
          </a:p>
        </p:txBody>
      </p:sp>
      <p:sp>
        <p:nvSpPr>
          <p:cNvPr id="16" name="Notfound row 3"/>
          <p:cNvSpPr/>
          <p:nvPr/>
        </p:nvSpPr>
        <p:spPr>
          <a:xfrm>
            <a:off x="457200" y="251460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otfound number 3"/>
          <p:cNvSpPr/>
          <p:nvPr/>
        </p:nvSpPr>
        <p:spPr>
          <a:xfrm>
            <a:off x="594360" y="26426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Notfound text 3"/>
          <p:cNvSpPr txBox="1"/>
          <p:nvPr/>
        </p:nvSpPr>
        <p:spPr>
          <a:xfrm>
            <a:off x="1051560" y="251460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Install a file: </a:t>
            </a:r>
            <a:r>
              <a:rPr sz="1200" b="0" lang="en-GB">
                <a:solidFill>
                  <a:schemeClr val="tx1"/>
                </a:solidFill>
              </a:rPr>
              <a:t>Extensions: Install from VSIX</a:t>
            </a:r>
          </a:p>
        </p:txBody>
      </p:sp>
      <p:sp>
        <p:nvSpPr>
          <p:cNvPr id="19" name="Notfound row 4"/>
          <p:cNvSpPr/>
          <p:nvPr/>
        </p:nvSpPr>
        <p:spPr>
          <a:xfrm>
            <a:off x="457200" y="315468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otfound number 4"/>
          <p:cNvSpPr/>
          <p:nvPr/>
        </p:nvSpPr>
        <p:spPr>
          <a:xfrm>
            <a:off x="594360" y="3282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Notfound text 4"/>
          <p:cNvSpPr txBox="1"/>
          <p:nvPr/>
        </p:nvSpPr>
        <p:spPr>
          <a:xfrm>
            <a:off x="1051560" y="315468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Or skip it: </a:t>
            </a:r>
            <a:r>
              <a:rPr sz="1200" b="0" lang="en-GB">
                <a:solidFill>
                  <a:schemeClr val="tx1"/>
                </a:solidFill>
              </a:rPr>
              <a:t>the terminal route needs no extension</a:t>
            </a:r>
          </a:p>
        </p:txBody>
      </p:sp>
      <p:sp>
        <p:nvSpPr>
          <p:cNvPr id="22" name="Notfound saf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Notfound safe" descr=""/>
          <p:cNvPicPr>
            <a:picLocks noChangeAspect="1"/>
          </p:cNvPicPr>
          <p:nvPr/>
        </p:nvPicPr>
        <p:blipFill>
          <a:blip r:embed="rId3"/>
          <a:stretch>
            <a:fillRect/>
          </a:stretch>
        </p:blipFill>
        <p:spPr>
          <a:xfrm>
            <a:off x="658368" y="4183380"/>
            <a:ext cx="365760" cy="365760"/>
          </a:xfrm>
          <a:prstGeom prst="rect">
            <a:avLst/>
          </a:prstGeom>
        </p:spPr>
      </p:pic>
      <p:sp>
        <p:nvSpPr>
          <p:cNvPr id="24" name="Notfound saf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Only official publishers: </a:t>
            </a:r>
            <a:r>
              <a:rPr sz="1200" b="0" lang="en-GB">
                <a:solidFill>
                  <a:schemeClr val="bg1"/>
                </a:solidFill>
              </a:rPr>
              <a:t>fake look-alike extensions exist. Check the publisher and the verified badge.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5 · install Claude Code and Codex, sign in, work with an agent</a:t>
            </a:r>
          </a:p>
        </p:txBody>
      </p:sp>
      <p:sp>
        <p:nvSpPr>
          <p:cNvPr id="3" name="Title 2"/>
          <p:cNvSpPr>
            <a:spLocks noGrp="1"/>
          </p:cNvSpPr>
          <p:nvPr>
            <p:ph type="ctrTitle"/>
          </p:nvPr>
        </p:nvSpPr>
        <p:spPr/>
        <p:txBody>
          <a:bodyPr/>
          <a:lstStyle/>
          <a:p>
            <a:r>
              <a:rPr sz="1600" lang="en-GB"/>
              <a:t>Route 3: the agent in the terminal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Claude Code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C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C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irm https://claude.ai/install.ps1 | iex</a:t>
            </a:r>
          </a:p>
        </p:txBody>
      </p:sp>
      <p:sp>
        <p:nvSpPr>
          <p:cNvPr id="14" name="CC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C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C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https://claude.ai/install.sh | bash</a:t>
            </a:r>
          </a:p>
        </p:txBody>
      </p:sp>
      <p:sp>
        <p:nvSpPr>
          <p:cNvPr id="18" name="CC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C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check, then start</a:t>
            </a:r>
          </a:p>
        </p:txBody>
      </p:sp>
      <p:sp>
        <p:nvSpPr>
          <p:cNvPr id="20" name="CC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C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claude --version</a:t>
            </a:r>
          </a:p>
          <a:p>
            <a:pPr algn="l">
              <a:spcAft>
                <a:spcPts val="0"/>
              </a:spcAft>
            </a:pPr>
            <a:r>
              <a:rPr sz="1200" b="0" lang="en-GB">
                <a:solidFill>
                  <a:schemeClr val="bg1"/>
                </a:solidFill>
                <a:latin typeface="Consolas"/>
              </a:rPr>
              <a:t>claude</a:t>
            </a:r>
          </a:p>
        </p:txBody>
      </p:sp>
      <p:sp>
        <p:nvSpPr>
          <p:cNvPr id="22" name="CC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C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C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C sign" descr=""/>
          <p:cNvPicPr>
            <a:picLocks noChangeAspect="1"/>
          </p:cNvPicPr>
          <p:nvPr/>
        </p:nvPicPr>
        <p:blipFill>
          <a:blip r:embed="rId3"/>
          <a:stretch>
            <a:fillRect/>
          </a:stretch>
        </p:blipFill>
        <p:spPr>
          <a:xfrm>
            <a:off x="8247888" y="2816352"/>
            <a:ext cx="310896" cy="310896"/>
          </a:xfrm>
          <a:prstGeom prst="rect">
            <a:avLst/>
          </a:prstGeom>
        </p:spPr>
      </p:pic>
      <p:sp>
        <p:nvSpPr>
          <p:cNvPr id="26" name="CC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Pro, Max or Console account</a:t>
            </a:r>
          </a:p>
          <a:p>
            <a:pPr algn="l" marL="182880" indent="-182880">
              <a:spcAft>
                <a:spcPts val="600"/>
              </a:spcAft>
              <a:buClr>
                <a:schemeClr val="accent1"/>
              </a:buClr>
              <a:buFont typeface="Arial"/>
              <a:buChar char="▪"/>
            </a:pPr>
            <a:r>
              <a:rPr sz="1300" b="0" lang="en-GB">
                <a:solidFill>
                  <a:schemeClr val="tx1"/>
                </a:solidFill>
              </a:rPr>
              <a:t>Code shown? Paste it</a:t>
            </a:r>
          </a:p>
        </p:txBody>
      </p:sp>
      <p:sp>
        <p:nvSpPr>
          <p:cNvPr id="27" name="CC trap box"/>
          <p:cNvSpPr/>
          <p:nvPr/>
        </p:nvSpPr>
        <p:spPr>
          <a:xfrm>
            <a:off x="457200" y="402336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C trap" descr=""/>
          <p:cNvPicPr>
            <a:picLocks noChangeAspect="1"/>
          </p:cNvPicPr>
          <p:nvPr/>
        </p:nvPicPr>
        <p:blipFill>
          <a:blip r:embed="rId4"/>
          <a:stretch>
            <a:fillRect/>
          </a:stretch>
        </p:blipFill>
        <p:spPr>
          <a:xfrm>
            <a:off x="658368" y="4229100"/>
            <a:ext cx="365760" cy="365760"/>
          </a:xfrm>
          <a:prstGeom prst="rect">
            <a:avLst/>
          </a:prstGeom>
        </p:spPr>
      </p:pic>
      <p:sp>
        <p:nvSpPr>
          <p:cNvPr id="29" name="CC trap text"/>
          <p:cNvSpPr txBox="1"/>
          <p:nvPr/>
        </p:nvSpPr>
        <p:spPr>
          <a:xfrm>
            <a:off x="1207008" y="402336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Billed to the API by mistake? </a:t>
            </a:r>
            <a:r>
              <a:rPr sz="1200" b="0" lang="en-GB">
                <a:solidFill>
                  <a:schemeClr val="bg1"/>
                </a:solidFill>
              </a:rPr>
              <a:t>if ANTHROPIC_API_KEY is set, Claude Code may use it instead of Pro. Type /status to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Codex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x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x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powershell -ExecutionPolicy ByPass -c "irm https://chatgpt.com/codex/install.ps1 | iex"</a:t>
            </a:r>
          </a:p>
        </p:txBody>
      </p:sp>
      <p:sp>
        <p:nvSpPr>
          <p:cNvPr id="14" name="Cx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x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x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https://chatgpt.com/codex/install.sh | sh</a:t>
            </a:r>
          </a:p>
        </p:txBody>
      </p:sp>
      <p:sp>
        <p:nvSpPr>
          <p:cNvPr id="18" name="Cx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x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start, check</a:t>
            </a:r>
          </a:p>
        </p:txBody>
      </p:sp>
      <p:sp>
        <p:nvSpPr>
          <p:cNvPr id="20" name="Cx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x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codex</a:t>
            </a:r>
          </a:p>
          <a:p>
            <a:pPr algn="l">
              <a:spcAft>
                <a:spcPts val="0"/>
              </a:spcAft>
            </a:pPr>
            <a:r>
              <a:rPr sz="1200" b="0" lang="en-GB">
                <a:solidFill>
                  <a:schemeClr val="bg1"/>
                </a:solidFill>
                <a:latin typeface="Consolas"/>
              </a:rPr>
              <a:t>codex login status</a:t>
            </a:r>
          </a:p>
        </p:txBody>
      </p:sp>
      <p:sp>
        <p:nvSpPr>
          <p:cNvPr id="22" name="Cx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x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x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x sign" descr=""/>
          <p:cNvPicPr>
            <a:picLocks noChangeAspect="1"/>
          </p:cNvPicPr>
          <p:nvPr/>
        </p:nvPicPr>
        <p:blipFill>
          <a:blip r:embed="rId3"/>
          <a:stretch>
            <a:fillRect/>
          </a:stretch>
        </p:blipFill>
        <p:spPr>
          <a:xfrm>
            <a:off x="8247888" y="2816352"/>
            <a:ext cx="310896" cy="310896"/>
          </a:xfrm>
          <a:prstGeom prst="rect">
            <a:avLst/>
          </a:prstGeom>
        </p:spPr>
      </p:pic>
      <p:sp>
        <p:nvSpPr>
          <p:cNvPr id="26" name="Cx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Choose Sign in with ChatGPT</a:t>
            </a:r>
          </a:p>
          <a:p>
            <a:pPr algn="l" marL="182880" indent="-182880">
              <a:spcAft>
                <a:spcPts val="600"/>
              </a:spcAft>
              <a:buClr>
                <a:schemeClr val="accent1"/>
              </a:buClr>
              <a:buFont typeface="Arial"/>
              <a:buChar char="▪"/>
            </a:pPr>
            <a:r>
              <a:rPr sz="1300" b="0" lang="en-GB">
                <a:solidFill>
                  <a:schemeClr val="tx1"/>
                </a:solidFill>
              </a:rPr>
              <a:t>Browser fails? codex login --device-auth</a:t>
            </a:r>
          </a:p>
        </p:txBody>
      </p:sp>
      <p:sp>
        <p:nvSpPr>
          <p:cNvPr id="27" name="Cx ok box"/>
          <p:cNvSpPr/>
          <p:nvPr/>
        </p:nvSpPr>
        <p:spPr>
          <a:xfrm>
            <a:off x="457200" y="402336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x ok" descr=""/>
          <p:cNvPicPr>
            <a:picLocks noChangeAspect="1"/>
          </p:cNvPicPr>
          <p:nvPr/>
        </p:nvPicPr>
        <p:blipFill>
          <a:blip r:embed="rId4"/>
          <a:stretch>
            <a:fillRect/>
          </a:stretch>
        </p:blipFill>
        <p:spPr>
          <a:xfrm>
            <a:off x="658368" y="4183380"/>
            <a:ext cx="365760" cy="365760"/>
          </a:xfrm>
          <a:prstGeom prst="rect">
            <a:avLst/>
          </a:prstGeom>
        </p:spPr>
      </p:pic>
      <p:sp>
        <p:nvSpPr>
          <p:cNvPr id="29" name="Cx ok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Works without the extension: </a:t>
            </a:r>
            <a:r>
              <a:rPr sz="1200" b="0" lang="en-GB">
                <a:solidFill>
                  <a:schemeClr val="tx1"/>
                </a:solidFill>
              </a:rPr>
              <a:t>the terminal route is the most reliable way in Positron.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Working with a coding agent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gent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Open the</a:t>
            </a:r>
            <a:br/>
            <a:r>
              <a:rPr sz="1100" b="1" lang="en-GB">
                <a:solidFill>
                  <a:schemeClr val="tx2"/>
                </a:solidFill>
              </a:rPr>
              <a:t>project</a:t>
            </a:r>
          </a:p>
        </p:txBody>
      </p:sp>
      <p:sp>
        <p:nvSpPr>
          <p:cNvPr id="11" name="Agent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Start</a:t>
            </a:r>
            <a:br/>
            <a:r>
              <a:rPr sz="1100" b="1" lang="en-GB">
                <a:solidFill>
                  <a:schemeClr val="tx2"/>
                </a:solidFill>
              </a:rPr>
              <a:t>the agent</a:t>
            </a:r>
          </a:p>
        </p:txBody>
      </p:sp>
      <p:sp>
        <p:nvSpPr>
          <p:cNvPr id="12" name="Agent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Ask in plain</a:t>
            </a:r>
            <a:br/>
            <a:r>
              <a:rPr sz="1100" b="1" lang="en-GB">
                <a:solidFill>
                  <a:schemeClr val="tx2"/>
                </a:solidFill>
              </a:rPr>
              <a:t>English</a:t>
            </a:r>
          </a:p>
        </p:txBody>
      </p:sp>
      <p:sp>
        <p:nvSpPr>
          <p:cNvPr id="13" name="Agent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Approve</a:t>
            </a:r>
            <a:br/>
            <a:r>
              <a:rPr sz="1100" b="1" lang="en-GB">
                <a:solidFill>
                  <a:schemeClr val="tx2"/>
                </a:solidFill>
              </a:rPr>
              <a:t>changes</a:t>
            </a:r>
          </a:p>
        </p:txBody>
      </p:sp>
      <p:sp>
        <p:nvSpPr>
          <p:cNvPr id="14" name="Agent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Run and</a:t>
            </a:r>
            <a:br/>
            <a:r>
              <a:rPr sz="1100" b="1" lang="en-GB">
                <a:solidFill>
                  <a:schemeClr val="tx2"/>
                </a:solidFill>
              </a:rPr>
              <a:t>check</a:t>
            </a:r>
          </a:p>
        </p:txBody>
      </p:sp>
      <p:sp>
        <p:nvSpPr>
          <p:cNvPr id="15" name="Agent memory caption bar"/>
          <p:cNvSpPr/>
          <p:nvPr/>
        </p:nvSpPr>
        <p:spPr>
          <a:xfrm>
            <a:off x="457200" y="1920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gent memory caption"/>
          <p:cNvSpPr txBox="1"/>
          <p:nvPr/>
        </p:nvSpPr>
        <p:spPr>
          <a:xfrm>
            <a:off x="566928" y="1920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CLAUDE.md or AGENTS.md</a:t>
            </a:r>
          </a:p>
        </p:txBody>
      </p:sp>
      <p:sp>
        <p:nvSpPr>
          <p:cNvPr id="17" name="Agent memory box"/>
          <p:cNvSpPr/>
          <p:nvPr/>
        </p:nvSpPr>
        <p:spPr>
          <a:xfrm>
            <a:off x="457200" y="2194560"/>
            <a:ext cx="402336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gent memory code"/>
          <p:cNvSpPr txBox="1"/>
          <p:nvPr/>
        </p:nvSpPr>
        <p:spPr>
          <a:xfrm>
            <a:off x="594360" y="2286000"/>
            <a:ext cx="3749040" cy="868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Use polars, plotnine, great_tables</a:t>
            </a:r>
          </a:p>
          <a:p>
            <a:pPr algn="l">
              <a:spcAft>
                <a:spcPts val="0"/>
              </a:spcAft>
            </a:pPr>
            <a:r>
              <a:rPr sz="1100" b="0" lang="en-GB">
                <a:solidFill>
                  <a:schemeClr val="bg1"/>
                </a:solidFill>
                <a:latin typeface="Consolas"/>
              </a:rPr>
              <a:t>and statsmodels only. Explain each</a:t>
            </a:r>
          </a:p>
          <a:p>
            <a:pPr algn="l">
              <a:spcAft>
                <a:spcPts val="0"/>
              </a:spcAft>
            </a:pPr>
            <a:r>
              <a:rPr sz="1100" b="0" lang="en-GB">
                <a:solidFill>
                  <a:schemeClr val="bg1"/>
                </a:solidFill>
                <a:latin typeface="Consolas"/>
              </a:rPr>
              <a:t>model in two sentences. Never</a:t>
            </a:r>
          </a:p>
          <a:p>
            <a:pPr algn="l">
              <a:spcAft>
                <a:spcPts val="0"/>
              </a:spcAft>
            </a:pPr>
            <a:r>
              <a:rPr sz="1100" b="0" lang="en-GB">
                <a:solidFill>
                  <a:schemeClr val="bg1"/>
                </a:solidFill>
                <a:latin typeface="Consolas"/>
              </a:rPr>
              <a:t>read data/personal/.</a:t>
            </a:r>
          </a:p>
        </p:txBody>
      </p:sp>
      <p:sp>
        <p:nvSpPr>
          <p:cNvPr id="19" name="Agent prompt caption bar"/>
          <p:cNvSpPr/>
          <p:nvPr/>
        </p:nvSpPr>
        <p:spPr>
          <a:xfrm>
            <a:off x="4663440" y="1920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gent prompt caption"/>
          <p:cNvSpPr txBox="1"/>
          <p:nvPr/>
        </p:nvSpPr>
        <p:spPr>
          <a:xfrm>
            <a:off x="4773168" y="1920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A good request</a:t>
            </a:r>
          </a:p>
        </p:txBody>
      </p:sp>
      <p:sp>
        <p:nvSpPr>
          <p:cNvPr id="21" name="Agent prompt box"/>
          <p:cNvSpPr/>
          <p:nvPr/>
        </p:nvSpPr>
        <p:spPr>
          <a:xfrm>
            <a:off x="4663440" y="2194560"/>
            <a:ext cx="402336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gent prompt code"/>
          <p:cNvSpPr txBox="1"/>
          <p:nvPr/>
        </p:nvSpPr>
        <p:spPr>
          <a:xfrm>
            <a:off x="4800600" y="2286000"/>
            <a:ext cx="3749040" cy="868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Read report.qmd and list every</a:t>
            </a:r>
          </a:p>
          <a:p>
            <a:pPr algn="l">
              <a:spcAft>
                <a:spcPts val="0"/>
              </a:spcAft>
            </a:pPr>
            <a:r>
              <a:rPr sz="1100" b="0" lang="en-GB">
                <a:solidFill>
                  <a:schemeClr val="bg1"/>
                </a:solidFill>
                <a:latin typeface="Consolas"/>
              </a:rPr>
              <a:t>number in the text that is not</a:t>
            </a:r>
          </a:p>
          <a:p>
            <a:pPr algn="l">
              <a:spcAft>
                <a:spcPts val="0"/>
              </a:spcAft>
            </a:pPr>
            <a:r>
              <a:rPr sz="1100" b="0" lang="en-GB">
                <a:solidFill>
                  <a:schemeClr val="bg1"/>
                </a:solidFill>
                <a:latin typeface="Consolas"/>
              </a:rPr>
              <a:t>computed by inline code.</a:t>
            </a:r>
          </a:p>
        </p:txBody>
      </p:sp>
      <p:sp>
        <p:nvSpPr>
          <p:cNvPr id="23" name="Agent rows row 1"/>
          <p:cNvSpPr/>
          <p:nvPr/>
        </p:nvSpPr>
        <p:spPr>
          <a:xfrm>
            <a:off x="457200" y="3383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gent rows bar 1"/>
          <p:cNvSpPr/>
          <p:nvPr/>
        </p:nvSpPr>
        <p:spPr>
          <a:xfrm>
            <a:off x="457200" y="33832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gent rows text 1"/>
          <p:cNvSpPr txBox="1"/>
          <p:nvPr/>
        </p:nvSpPr>
        <p:spPr>
          <a:xfrm>
            <a:off x="658368" y="33832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Ask-first mode: </a:t>
            </a:r>
            <a:r>
              <a:rPr sz="1200" b="0" lang="en-GB">
                <a:solidFill>
                  <a:schemeClr val="tx1"/>
                </a:solidFill>
              </a:rPr>
              <a:t>read every proposed change and command before you approve it</a:t>
            </a:r>
          </a:p>
        </p:txBody>
      </p:sp>
      <p:sp>
        <p:nvSpPr>
          <p:cNvPr id="26" name="Agent rows row 2"/>
          <p:cNvSpPr/>
          <p:nvPr/>
        </p:nvSpPr>
        <p:spPr>
          <a:xfrm>
            <a:off x="457200" y="39044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gent rows bar 2"/>
          <p:cNvSpPr/>
          <p:nvPr/>
        </p:nvSpPr>
        <p:spPr>
          <a:xfrm>
            <a:off x="457200" y="39044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gent rows text 2"/>
          <p:cNvSpPr txBox="1"/>
          <p:nvPr/>
        </p:nvSpPr>
        <p:spPr>
          <a:xfrm>
            <a:off x="658368" y="39044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Small steps: </a:t>
            </a:r>
            <a:r>
              <a:rPr sz="1200" b="0" lang="en-GB">
                <a:solidFill>
                  <a:schemeClr val="tx1"/>
                </a:solidFill>
              </a:rPr>
              <a:t>one task at a time, then render and check</a:t>
            </a:r>
          </a:p>
        </p:txBody>
      </p:sp>
      <p:sp>
        <p:nvSpPr>
          <p:cNvPr id="29" name="Agent own box"/>
          <p:cNvSpPr/>
          <p:nvPr/>
        </p:nvSpPr>
        <p:spPr>
          <a:xfrm>
            <a:off x="457200" y="44805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Agent own" descr=""/>
          <p:cNvPicPr>
            <a:picLocks noChangeAspect="1"/>
          </p:cNvPicPr>
          <p:nvPr/>
        </p:nvPicPr>
        <p:blipFill>
          <a:blip r:embed="rId3"/>
          <a:stretch>
            <a:fillRect/>
          </a:stretch>
        </p:blipFill>
        <p:spPr>
          <a:xfrm>
            <a:off x="658368" y="4549140"/>
            <a:ext cx="365760" cy="365760"/>
          </a:xfrm>
          <a:prstGeom prst="rect">
            <a:avLst/>
          </a:prstGeom>
        </p:spPr>
      </p:pic>
      <p:sp>
        <p:nvSpPr>
          <p:cNvPr id="31" name="Agent own text"/>
          <p:cNvSpPr txBox="1"/>
          <p:nvPr/>
        </p:nvSpPr>
        <p:spPr>
          <a:xfrm>
            <a:off x="1207008" y="448056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You own every number: </a:t>
            </a:r>
            <a:r>
              <a:rPr sz="1200" b="0" lang="en-GB">
                <a:solidFill>
                  <a:schemeClr val="bg1"/>
                </a:solidFill>
              </a:rPr>
              <a:t>agents make confident mistakes.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5 · what it does, how to switch it on, why to be careful</a:t>
            </a:r>
          </a:p>
        </p:txBody>
      </p:sp>
      <p:sp>
        <p:nvSpPr>
          <p:cNvPr id="3" name="Title 2"/>
          <p:cNvSpPr>
            <a:spLocks noGrp="1"/>
          </p:cNvSpPr>
          <p:nvPr>
            <p:ph type="ctrTitle"/>
          </p:nvPr>
        </p:nvSpPr>
        <p:spPr/>
        <p:txBody>
          <a:bodyPr/>
          <a:lstStyle/>
          <a:p>
            <a:r>
              <a:rPr sz="1600" lang="en-GB"/>
              <a:t>Route 4: MCP, the agent in your live session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Positron's MCP server does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oes 1 body"/>
          <p:cNvSpPr/>
          <p:nvPr/>
        </p:nvSpPr>
        <p:spPr>
          <a:xfrm>
            <a:off x="45720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oes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oes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code</a:t>
            </a:r>
          </a:p>
        </p:txBody>
      </p:sp>
      <p:pic>
        <p:nvPicPr>
          <p:cNvPr id="13" name="Icon Does 1" descr=""/>
          <p:cNvPicPr>
            <a:picLocks noChangeAspect="1"/>
          </p:cNvPicPr>
          <p:nvPr/>
        </p:nvPicPr>
        <p:blipFill>
          <a:blip r:embed="rId3"/>
          <a:stretch>
            <a:fillRect/>
          </a:stretch>
        </p:blipFill>
        <p:spPr>
          <a:xfrm>
            <a:off x="2670048" y="1284732"/>
            <a:ext cx="310896" cy="310896"/>
          </a:xfrm>
          <a:prstGeom prst="rect">
            <a:avLst/>
          </a:prstGeom>
        </p:spPr>
      </p:pic>
      <p:sp>
        <p:nvSpPr>
          <p:cNvPr id="14" name="Does 1 text"/>
          <p:cNvSpPr txBox="1"/>
          <p:nvPr/>
        </p:nvSpPr>
        <p:spPr>
          <a:xfrm>
            <a:off x="62179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in your live Python session</a:t>
            </a:r>
          </a:p>
          <a:p>
            <a:pPr algn="l" marL="182880" indent="-182880">
              <a:spcAft>
                <a:spcPts val="600"/>
              </a:spcAft>
              <a:buClr>
                <a:schemeClr val="accent1"/>
              </a:buClr>
              <a:buFont typeface="Arial"/>
              <a:buChar char="▪"/>
            </a:pPr>
            <a:r>
              <a:rPr sz="1300" b="0" lang="en-GB">
                <a:solidFill>
                  <a:schemeClr val="tx1"/>
                </a:solidFill>
              </a:rPr>
              <a:t>labelled in the Console</a:t>
            </a:r>
          </a:p>
        </p:txBody>
      </p:sp>
      <p:sp>
        <p:nvSpPr>
          <p:cNvPr id="15" name="Does 2 body"/>
          <p:cNvSpPr/>
          <p:nvPr/>
        </p:nvSpPr>
        <p:spPr>
          <a:xfrm>
            <a:off x="324612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oes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oes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See plots</a:t>
            </a:r>
          </a:p>
        </p:txBody>
      </p:sp>
      <p:pic>
        <p:nvPicPr>
          <p:cNvPr id="18" name="Icon Does 2" descr=""/>
          <p:cNvPicPr>
            <a:picLocks noChangeAspect="1"/>
          </p:cNvPicPr>
          <p:nvPr/>
        </p:nvPicPr>
        <p:blipFill>
          <a:blip r:embed="rId4"/>
          <a:stretch>
            <a:fillRect/>
          </a:stretch>
        </p:blipFill>
        <p:spPr>
          <a:xfrm>
            <a:off x="5458968" y="1284732"/>
            <a:ext cx="310896" cy="310896"/>
          </a:xfrm>
          <a:prstGeom prst="rect">
            <a:avLst/>
          </a:prstGeom>
        </p:spPr>
      </p:pic>
      <p:sp>
        <p:nvSpPr>
          <p:cNvPr id="19" name="Does 2 text"/>
          <p:cNvSpPr txBox="1"/>
          <p:nvPr/>
        </p:nvSpPr>
        <p:spPr>
          <a:xfrm>
            <a:off x="341071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current plot</a:t>
            </a:r>
          </a:p>
          <a:p>
            <a:pPr algn="l" marL="182880" indent="-182880">
              <a:spcAft>
                <a:spcPts val="600"/>
              </a:spcAft>
              <a:buClr>
                <a:schemeClr val="accent1"/>
              </a:buClr>
              <a:buFont typeface="Arial"/>
              <a:buChar char="▪"/>
            </a:pPr>
            <a:r>
              <a:rPr sz="1300" b="0" lang="en-GB">
                <a:solidFill>
                  <a:schemeClr val="tx1"/>
                </a:solidFill>
              </a:rPr>
              <a:t>as an image</a:t>
            </a:r>
          </a:p>
        </p:txBody>
      </p:sp>
      <p:sp>
        <p:nvSpPr>
          <p:cNvPr id="20" name="Does 3 body"/>
          <p:cNvSpPr/>
          <p:nvPr/>
        </p:nvSpPr>
        <p:spPr>
          <a:xfrm>
            <a:off x="603504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oes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oes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Use Positron</a:t>
            </a:r>
          </a:p>
        </p:txBody>
      </p:sp>
      <p:pic>
        <p:nvPicPr>
          <p:cNvPr id="23" name="Icon Does 3" descr=""/>
          <p:cNvPicPr>
            <a:picLocks noChangeAspect="1"/>
          </p:cNvPicPr>
          <p:nvPr/>
        </p:nvPicPr>
        <p:blipFill>
          <a:blip r:embed="rId5"/>
          <a:stretch>
            <a:fillRect/>
          </a:stretch>
        </p:blipFill>
        <p:spPr>
          <a:xfrm>
            <a:off x="8247888" y="1284732"/>
            <a:ext cx="310896" cy="310896"/>
          </a:xfrm>
          <a:prstGeom prst="rect">
            <a:avLst/>
          </a:prstGeom>
        </p:spPr>
      </p:pic>
      <p:sp>
        <p:nvSpPr>
          <p:cNvPr id="24" name="Does 3 text"/>
          <p:cNvSpPr txBox="1"/>
          <p:nvPr/>
        </p:nvSpPr>
        <p:spPr>
          <a:xfrm>
            <a:off x="619963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run Positron commands</a:t>
            </a:r>
          </a:p>
          <a:p>
            <a:pPr algn="l" marL="182880" indent="-182880">
              <a:spcAft>
                <a:spcPts val="600"/>
              </a:spcAft>
              <a:buClr>
                <a:schemeClr val="accent1"/>
              </a:buClr>
              <a:buFont typeface="Arial"/>
              <a:buChar char="▪"/>
            </a:pPr>
            <a:r>
              <a:rPr sz="1300" b="0" lang="en-GB">
                <a:solidFill>
                  <a:schemeClr val="tx1"/>
                </a:solidFill>
              </a:rPr>
              <a:t>read session history</a:t>
            </a:r>
          </a:p>
        </p:txBody>
      </p:sp>
      <p:sp>
        <p:nvSpPr>
          <p:cNvPr id="25" name="Does row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oes row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oes row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Agents: </a:t>
            </a:r>
            <a:r>
              <a:rPr sz="1200" b="0" lang="en-GB">
                <a:solidFill>
                  <a:schemeClr val="tx1"/>
                </a:solidFill>
              </a:rPr>
              <a:t>Claude Code, Codex and Gemini CLI</a:t>
            </a:r>
          </a:p>
        </p:txBody>
      </p:sp>
      <p:sp>
        <p:nvSpPr>
          <p:cNvPr id="28" name="Does row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oes row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oes row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Why useful: </a:t>
            </a:r>
            <a:r>
              <a:rPr sz="1200" b="0" lang="en-GB">
                <a:solidFill>
                  <a:schemeClr val="tx1"/>
                </a:solidFill>
              </a:rPr>
              <a:t>the agent sees your real data frame instead of guessing its columns</a:t>
            </a:r>
          </a:p>
        </p:txBody>
      </p:sp>
      <p:sp>
        <p:nvSpPr>
          <p:cNvPr id="31" name="Does exp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Does exp" descr=""/>
          <p:cNvPicPr>
            <a:picLocks noChangeAspect="1"/>
          </p:cNvPicPr>
          <p:nvPr/>
        </p:nvPicPr>
        <p:blipFill>
          <a:blip r:embed="rId6"/>
          <a:stretch>
            <a:fillRect/>
          </a:stretch>
        </p:blipFill>
        <p:spPr>
          <a:xfrm>
            <a:off x="658368" y="4526280"/>
            <a:ext cx="365760" cy="365760"/>
          </a:xfrm>
          <a:prstGeom prst="rect">
            <a:avLst/>
          </a:prstGeom>
        </p:spPr>
      </p:pic>
      <p:sp>
        <p:nvSpPr>
          <p:cNvPr id="33" name="Does exp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Experimental: </a:t>
            </a:r>
            <a:r>
              <a:rPr sz="1200" b="0" lang="en-GB">
                <a:solidFill>
                  <a:schemeClr val="bg1"/>
                </a:solidFill>
              </a:rPr>
              <a:t>off by default; settings and behaviour may change.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Switch it 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CPcc body"/>
          <p:cNvSpPr/>
          <p:nvPr/>
        </p:nvSpPr>
        <p:spPr>
          <a:xfrm>
            <a:off x="45720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CPcc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CPcc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Claude Code</a:t>
            </a:r>
          </a:p>
        </p:txBody>
      </p:sp>
      <p:pic>
        <p:nvPicPr>
          <p:cNvPr id="13" name="Icon MCPcc" descr=""/>
          <p:cNvPicPr>
            <a:picLocks noChangeAspect="1"/>
          </p:cNvPicPr>
          <p:nvPr/>
        </p:nvPicPr>
        <p:blipFill>
          <a:blip r:embed="rId3"/>
          <a:stretch>
            <a:fillRect/>
          </a:stretch>
        </p:blipFill>
        <p:spPr>
          <a:xfrm>
            <a:off x="4041648" y="1284732"/>
            <a:ext cx="310896" cy="310896"/>
          </a:xfrm>
          <a:prstGeom prst="rect">
            <a:avLst/>
          </a:prstGeom>
        </p:spPr>
      </p:pic>
      <p:sp>
        <p:nvSpPr>
          <p:cNvPr id="14" name="MCPcc text"/>
          <p:cNvSpPr txBox="1"/>
          <p:nvPr/>
        </p:nvSpPr>
        <p:spPr>
          <a:xfrm>
            <a:off x="621792" y="1783080"/>
            <a:ext cx="3721608" cy="22860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Settings: </a:t>
            </a:r>
            <a:r>
              <a:rPr sz="1200" b="0" lang="en-GB">
                <a:solidFill>
                  <a:schemeClr val="tx1"/>
                </a:solidFill>
              </a:rPr>
              <a:t>tick ai.mcp.enabled</a:t>
            </a:r>
          </a:p>
          <a:p>
            <a:pPr algn="l">
              <a:spcAft>
                <a:spcPts val="900"/>
              </a:spcAft>
            </a:pPr>
            <a:r>
              <a:rPr sz="1200" b="1" lang="en-GB">
                <a:solidFill>
                  <a:schemeClr val="accent1"/>
                </a:solidFill>
              </a:rPr>
              <a:t>2  </a:t>
            </a:r>
            <a:r>
              <a:rPr sz="1200" b="1" lang="en-GB">
                <a:solidFill>
                  <a:schemeClr val="tx2"/>
                </a:solidFill>
              </a:rPr>
              <a:t>Open </a:t>
            </a:r>
            <a:r>
              <a:rPr sz="1200" b="0" lang="en-GB">
                <a:solidFill>
                  <a:schemeClr val="tx1"/>
                </a:solidFill>
              </a:rPr>
              <a:t>the project, start Python</a:t>
            </a:r>
          </a:p>
          <a:p>
            <a:pPr algn="l">
              <a:spcAft>
                <a:spcPts val="900"/>
              </a:spcAft>
            </a:pPr>
            <a:r>
              <a:rPr sz="1200" b="1" lang="en-GB">
                <a:solidFill>
                  <a:schemeClr val="accent1"/>
                </a:solidFill>
              </a:rPr>
              <a:t>3  </a:t>
            </a:r>
            <a:r>
              <a:rPr sz="1200" b="1" lang="en-GB">
                <a:solidFill>
                  <a:schemeClr val="tx2"/>
                </a:solidFill>
              </a:rPr>
              <a:t>Terminal: </a:t>
            </a:r>
            <a:r>
              <a:rPr sz="1200" b="0" lang="en-GB">
                <a:solidFill>
                  <a:schemeClr val="tx1"/>
                </a:solidFill>
              </a:rPr>
              <a:t>claude (restart if open)</a:t>
            </a:r>
          </a:p>
          <a:p>
            <a:pPr algn="l">
              <a:spcAft>
                <a:spcPts val="900"/>
              </a:spcAft>
            </a:pPr>
            <a:r>
              <a:rPr sz="1200" b="1" lang="en-GB">
                <a:solidFill>
                  <a:schemeClr val="accent1"/>
                </a:solidFill>
              </a:rPr>
              <a:t>4  </a:t>
            </a:r>
            <a:r>
              <a:rPr sz="1200" b="1" lang="en-GB">
                <a:solidFill>
                  <a:schemeClr val="tx2"/>
                </a:solidFill>
              </a:rPr>
              <a:t>Type </a:t>
            </a:r>
            <a:r>
              <a:rPr sz="1200" b="0" lang="en-GB">
                <a:solidFill>
                  <a:schemeClr val="tx1"/>
                </a:solidFill>
              </a:rPr>
              <a:t>/mcp: positron is listed</a:t>
            </a:r>
          </a:p>
        </p:txBody>
      </p:sp>
      <p:sp>
        <p:nvSpPr>
          <p:cNvPr id="15" name="MCPcx body"/>
          <p:cNvSpPr/>
          <p:nvPr/>
        </p:nvSpPr>
        <p:spPr>
          <a:xfrm>
            <a:off x="466344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CPcx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CPcx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Codex</a:t>
            </a:r>
          </a:p>
        </p:txBody>
      </p:sp>
      <p:pic>
        <p:nvPicPr>
          <p:cNvPr id="18" name="Icon MCPcx" descr=""/>
          <p:cNvPicPr>
            <a:picLocks noChangeAspect="1"/>
          </p:cNvPicPr>
          <p:nvPr/>
        </p:nvPicPr>
        <p:blipFill>
          <a:blip r:embed="rId3"/>
          <a:stretch>
            <a:fillRect/>
          </a:stretch>
        </p:blipFill>
        <p:spPr>
          <a:xfrm>
            <a:off x="8247888" y="1284732"/>
            <a:ext cx="310896" cy="310896"/>
          </a:xfrm>
          <a:prstGeom prst="rect">
            <a:avLst/>
          </a:prstGeom>
        </p:spPr>
      </p:pic>
      <p:sp>
        <p:nvSpPr>
          <p:cNvPr id="19" name="MCPcx text"/>
          <p:cNvSpPr txBox="1"/>
          <p:nvPr/>
        </p:nvSpPr>
        <p:spPr>
          <a:xfrm>
            <a:off x="4828032" y="1783080"/>
            <a:ext cx="3721608" cy="22860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Settings: </a:t>
            </a:r>
            <a:r>
              <a:rPr sz="1200" b="0" lang="en-GB">
                <a:solidFill>
                  <a:schemeClr val="tx1"/>
                </a:solidFill>
              </a:rPr>
              <a:t>tick ai.mcp.enabled</a:t>
            </a:r>
          </a:p>
          <a:p>
            <a:pPr algn="l">
              <a:spcAft>
                <a:spcPts val="900"/>
              </a:spcAft>
            </a:pPr>
            <a:r>
              <a:rPr sz="1200" b="1" lang="en-GB">
                <a:solidFill>
                  <a:schemeClr val="accent1"/>
                </a:solidFill>
              </a:rPr>
              <a:t>2  </a:t>
            </a:r>
            <a:r>
              <a:rPr sz="1200" b="1" lang="en-GB">
                <a:solidFill>
                  <a:schemeClr val="tx2"/>
                </a:solidFill>
              </a:rPr>
              <a:t>Command Palette: </a:t>
            </a:r>
            <a:r>
              <a:rPr sz="1200" b="0" lang="en-GB">
                <a:solidFill>
                  <a:schemeClr val="tx1"/>
                </a:solidFill>
              </a:rPr>
              <a:t>Positron MCP: Add to Coding Agent → Codex</a:t>
            </a:r>
          </a:p>
          <a:p>
            <a:pPr algn="l">
              <a:spcAft>
                <a:spcPts val="900"/>
              </a:spcAft>
            </a:pPr>
            <a:r>
              <a:rPr sz="1200" b="1" lang="en-GB">
                <a:solidFill>
                  <a:schemeClr val="accent1"/>
                </a:solidFill>
              </a:rPr>
              <a:t>3  </a:t>
            </a:r>
            <a:r>
              <a:rPr sz="1200" b="1" lang="en-GB">
                <a:solidFill>
                  <a:schemeClr val="tx2"/>
                </a:solidFill>
              </a:rPr>
              <a:t>Positron terminal: </a:t>
            </a:r>
            <a:r>
              <a:rPr sz="1200" b="0" lang="en-GB">
                <a:solidFill>
                  <a:schemeClr val="tx1"/>
                </a:solidFill>
              </a:rPr>
              <a:t>codex</a:t>
            </a:r>
          </a:p>
          <a:p>
            <a:pPr algn="l">
              <a:spcAft>
                <a:spcPts val="900"/>
              </a:spcAft>
            </a:pPr>
            <a:r>
              <a:rPr sz="1200" b="1" lang="en-GB">
                <a:solidFill>
                  <a:schemeClr val="accent1"/>
                </a:solidFill>
              </a:rPr>
              <a:t>4  </a:t>
            </a:r>
            <a:r>
              <a:rPr sz="1200" b="1" lang="en-GB">
                <a:solidFill>
                  <a:schemeClr val="tx2"/>
                </a:solidFill>
              </a:rPr>
              <a:t>Check: </a:t>
            </a:r>
            <a:r>
              <a:rPr sz="1200" b="0" lang="en-GB">
                <a:solidFill>
                  <a:schemeClr val="tx1"/>
                </a:solidFill>
              </a:rPr>
              <a:t>Positron MCP: Show Connected Agents</a:t>
            </a:r>
          </a:p>
        </p:txBody>
      </p:sp>
      <p:sp>
        <p:nvSpPr>
          <p:cNvPr id="20" name="MCP ask box"/>
          <p:cNvSpPr/>
          <p:nvPr/>
        </p:nvSpPr>
        <p:spPr>
          <a:xfrm>
            <a:off x="457200" y="429768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MCP ask" descr=""/>
          <p:cNvPicPr>
            <a:picLocks noChangeAspect="1"/>
          </p:cNvPicPr>
          <p:nvPr/>
        </p:nvPicPr>
        <p:blipFill>
          <a:blip r:embed="rId4"/>
          <a:stretch>
            <a:fillRect/>
          </a:stretch>
        </p:blipFill>
        <p:spPr>
          <a:xfrm>
            <a:off x="658368" y="4434840"/>
            <a:ext cx="365760" cy="365760"/>
          </a:xfrm>
          <a:prstGeom prst="rect">
            <a:avLst/>
          </a:prstGeom>
        </p:spPr>
      </p:pic>
      <p:sp>
        <p:nvSpPr>
          <p:cNvPr id="22" name="MCP ask text"/>
          <p:cNvSpPr txBox="1"/>
          <p:nvPr/>
        </p:nvSpPr>
        <p:spPr>
          <a:xfrm>
            <a:off x="1207008" y="429768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Then ask: </a:t>
            </a:r>
            <a:r>
              <a:rPr sz="1200" b="0" lang="en-GB">
                <a:solidFill>
                  <a:schemeClr val="bg1"/>
                </a:solidFill>
              </a:rPr>
              <a:t>“Use the positron tools to summarise the data frame choc in my Python session.”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to be careful with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reful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eful number 1"/>
          <p:cNvSpPr/>
          <p:nvPr/>
        </p:nvSpPr>
        <p:spPr>
          <a:xfrm>
            <a:off x="594360" y="1362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areful text 1"/>
          <p:cNvSpPr txBox="1"/>
          <p:nvPr/>
        </p:nvSpPr>
        <p:spPr>
          <a:xfrm>
            <a:off x="1051560" y="123444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No approval in Positron: </a:t>
            </a:r>
            <a:r>
              <a:rPr sz="1200" b="0" lang="en-GB">
                <a:solidFill>
                  <a:schemeClr val="tx1"/>
                </a:solidFill>
              </a:rPr>
              <a:t>only the agent's own prompts stand between it and your session</a:t>
            </a:r>
          </a:p>
        </p:txBody>
      </p:sp>
      <p:sp>
        <p:nvSpPr>
          <p:cNvPr id="13" name="Careful row 2"/>
          <p:cNvSpPr/>
          <p:nvPr/>
        </p:nvSpPr>
        <p:spPr>
          <a:xfrm>
            <a:off x="457200" y="187452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areful number 2"/>
          <p:cNvSpPr/>
          <p:nvPr/>
        </p:nvSpPr>
        <p:spPr>
          <a:xfrm>
            <a:off x="594360" y="2002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areful text 2"/>
          <p:cNvSpPr txBox="1"/>
          <p:nvPr/>
        </p:nvSpPr>
        <p:spPr>
          <a:xfrm>
            <a:off x="1051560" y="187452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It sees what you loaded: </a:t>
            </a:r>
            <a:r>
              <a:rPr sz="1200" b="0" lang="en-GB">
                <a:solidFill>
                  <a:schemeClr val="tx1"/>
                </a:solidFill>
              </a:rPr>
              <a:t>never load personal data in a session an agent can use</a:t>
            </a:r>
          </a:p>
        </p:txBody>
      </p:sp>
      <p:sp>
        <p:nvSpPr>
          <p:cNvPr id="16" name="Careful row 3"/>
          <p:cNvSpPr/>
          <p:nvPr/>
        </p:nvSpPr>
        <p:spPr>
          <a:xfrm>
            <a:off x="457200" y="251460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eful number 3"/>
          <p:cNvSpPr/>
          <p:nvPr/>
        </p:nvSpPr>
        <p:spPr>
          <a:xfrm>
            <a:off x="594360" y="26426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areful text 3"/>
          <p:cNvSpPr txBox="1"/>
          <p:nvPr/>
        </p:nvSpPr>
        <p:spPr>
          <a:xfrm>
            <a:off x="1051560" y="251460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Keep ask-first mode: </a:t>
            </a:r>
            <a:r>
              <a:rPr sz="1200" b="0" lang="en-GB">
                <a:solidFill>
                  <a:schemeClr val="tx1"/>
                </a:solidFill>
              </a:rPr>
              <a:t>never allow every command automatically</a:t>
            </a:r>
          </a:p>
        </p:txBody>
      </p:sp>
      <p:sp>
        <p:nvSpPr>
          <p:cNvPr id="19" name="Careful row 4"/>
          <p:cNvSpPr/>
          <p:nvPr/>
        </p:nvSpPr>
        <p:spPr>
          <a:xfrm>
            <a:off x="457200" y="315468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eful number 4"/>
          <p:cNvSpPr/>
          <p:nvPr/>
        </p:nvSpPr>
        <p:spPr>
          <a:xfrm>
            <a:off x="594360" y="3282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areful text 4"/>
          <p:cNvSpPr txBox="1"/>
          <p:nvPr/>
        </p:nvSpPr>
        <p:spPr>
          <a:xfrm>
            <a:off x="1051560" y="315468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Switch it off </a:t>
            </a:r>
            <a:r>
              <a:rPr sz="1200" b="0" lang="en-GB">
                <a:solidFill>
                  <a:schemeClr val="tx1"/>
                </a:solidFill>
              </a:rPr>
              <a:t>when you do not need it: untick ai.mcp.enabled</a:t>
            </a:r>
          </a:p>
        </p:txBody>
      </p:sp>
      <p:sp>
        <p:nvSpPr>
          <p:cNvPr id="22" name="Careful cours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areful course" descr=""/>
          <p:cNvPicPr>
            <a:picLocks noChangeAspect="1"/>
          </p:cNvPicPr>
          <p:nvPr/>
        </p:nvPicPr>
        <p:blipFill>
          <a:blip r:embed="rId3"/>
          <a:stretch>
            <a:fillRect/>
          </a:stretch>
        </p:blipFill>
        <p:spPr>
          <a:xfrm>
            <a:off x="658368" y="4183380"/>
            <a:ext cx="365760" cy="365760"/>
          </a:xfrm>
          <a:prstGeom prst="rect">
            <a:avLst/>
          </a:prstGeom>
        </p:spPr>
      </p:pic>
      <p:sp>
        <p:nvSpPr>
          <p:cNvPr id="24" name="Careful cours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For this course: </a:t>
            </a:r>
            <a:r>
              <a:rPr sz="1200" b="0" lang="en-GB">
                <a:solidFill>
                  <a:schemeClr val="bg1"/>
                </a:solidFill>
              </a:rPr>
              <a:t>a demonstration, not a requirement. Coursework never depends on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5 · which route for what, costs, privacy, course rules, problems</a:t>
            </a:r>
          </a:p>
        </p:txBody>
      </p:sp>
      <p:sp>
        <p:nvSpPr>
          <p:cNvPr id="3" name="Title 2"/>
          <p:cNvSpPr>
            <a:spLocks noGrp="1"/>
          </p:cNvSpPr>
          <p:nvPr>
            <p:ph type="ctrTitle"/>
          </p:nvPr>
        </p:nvSpPr>
        <p:spPr/>
        <p:txBody>
          <a:bodyPr/>
          <a:lstStyle/>
          <a:p>
            <a:r>
              <a:rPr sz="1600" lang="en-GB"/>
              <a:t>Choose and use it safely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Which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00400"/>
                <a:gridCol w="3108960"/>
                <a:gridCol w="1920240"/>
              </a:tblGrid>
              <a:tr h="370840">
                <a:tc>
                  <a:txBody>
                    <a:bodyPr/>
                    <a:lstStyle/>
                    <a:p>
                      <a:r>
                        <a:rPr sz="1300" lang="en-GB"/>
                        <a:t>I want …</a:t>
                      </a:r>
                    </a:p>
                  </a:txBody>
                  <a:tcPr marT="50000" marB="50000"/>
                </a:tc>
                <a:tc>
                  <a:txBody>
                    <a:bodyPr/>
                    <a:lstStyle/>
                    <a:p>
                      <a:r>
                        <a:rPr sz="1300" lang="en-GB"/>
                        <a:t>Best route</a:t>
                      </a:r>
                    </a:p>
                  </a:txBody>
                  <a:tcPr marT="50000" marB="50000"/>
                </a:tc>
                <a:tc>
                  <a:txBody>
                    <a:bodyPr/>
                    <a:lstStyle/>
                    <a:p>
                      <a:r>
                        <a:rPr sz="1300" lang="en-GB"/>
                        <a:t>Cost for a student</a:t>
                      </a:r>
                    </a:p>
                  </a:txBody>
                  <a:tcPr marT="50000" marB="50000"/>
                </a:tc>
              </a:tr>
              <a:tr h="370840">
                <a:tc>
                  <a:txBody>
                    <a:bodyPr/>
                    <a:lstStyle/>
                    <a:p>
                      <a:r>
                        <a:rPr sz="1200" b="1" lang="en-GB"/>
                        <a:t>chat about my data, free</a:t>
                      </a:r>
                    </a:p>
                  </a:txBody>
                  <a:tcPr marT="50000" marB="50000"/>
                </a:tc>
                <a:tc>
                  <a:txBody>
                    <a:bodyPr/>
                    <a:lstStyle/>
                    <a:p>
                      <a:r>
                        <a:rPr sz="1200" lang="en-GB"/>
                        <a:t>Posit Assistant + GitHub Copilot Student</a:t>
                      </a:r>
                    </a:p>
                  </a:txBody>
                  <a:tcPr marT="50000" marB="50000"/>
                </a:tc>
                <a:tc>
                  <a:txBody>
                    <a:bodyPr/>
                    <a:lstStyle/>
                    <a:p>
                      <a:r>
                        <a:rPr sz="1200" lang="en-GB"/>
                        <a:t>0 USD</a:t>
                      </a:r>
                    </a:p>
                  </a:txBody>
                  <a:tcPr marT="50000" marB="50000"/>
                </a:tc>
              </a:tr>
              <a:tr h="370840">
                <a:tc>
                  <a:txBody>
                    <a:bodyPr/>
                    <a:lstStyle/>
                    <a:p>
                      <a:r>
                        <a:rPr sz="1200" b="1" lang="en-GB"/>
                        <a:t>chat with a specific Claude or GPT model</a:t>
                      </a:r>
                    </a:p>
                  </a:txBody>
                  <a:tcPr marT="50000" marB="50000"/>
                </a:tc>
                <a:tc>
                  <a:txBody>
                    <a:bodyPr/>
                    <a:lstStyle/>
                    <a:p>
                      <a:r>
                        <a:rPr sz="1200" lang="en-GB"/>
                        <a:t>Posit Assistant + API key</a:t>
                      </a:r>
                    </a:p>
                  </a:txBody>
                  <a:tcPr marT="50000" marB="50000"/>
                </a:tc>
                <a:tc>
                  <a:txBody>
                    <a:bodyPr/>
                    <a:lstStyle/>
                    <a:p>
                      <a:r>
                        <a:rPr sz="1200" lang="en-GB"/>
                        <a:t>pay per use</a:t>
                      </a:r>
                    </a:p>
                  </a:txBody>
                  <a:tcPr marT="50000" marB="50000"/>
                </a:tc>
              </a:tr>
              <a:tr h="370840">
                <a:tc>
                  <a:txBody>
                    <a:bodyPr/>
                    <a:lstStyle/>
                    <a:p>
                      <a:r>
                        <a:rPr sz="1200" b="1" lang="en-GB"/>
                        <a:t>an agent for bigger tasks, I have Claude Pro</a:t>
                      </a:r>
                    </a:p>
                  </a:txBody>
                  <a:tcPr marT="50000" marB="50000"/>
                </a:tc>
                <a:tc>
                  <a:txBody>
                    <a:bodyPr/>
                    <a:lstStyle/>
                    <a:p>
                      <a:r>
                        <a:rPr sz="1200" lang="en-GB"/>
                        <a:t>Claude Code: terminal or extension</a:t>
                      </a:r>
                    </a:p>
                  </a:txBody>
                  <a:tcPr marT="50000" marB="50000"/>
                </a:tc>
                <a:tc>
                  <a:txBody>
                    <a:bodyPr/>
                    <a:lstStyle/>
                    <a:p>
                      <a:r>
                        <a:rPr sz="1200" lang="en-GB"/>
                        <a:t>20 USD a month (Pro)</a:t>
                      </a:r>
                    </a:p>
                  </a:txBody>
                  <a:tcPr marT="50000" marB="50000"/>
                </a:tc>
              </a:tr>
              <a:tr h="370840">
                <a:tc>
                  <a:txBody>
                    <a:bodyPr/>
                    <a:lstStyle/>
                    <a:p>
                      <a:r>
                        <a:rPr sz="1200" b="1" lang="en-GB"/>
                        <a:t>an agent, I have a ChatGPT account</a:t>
                      </a:r>
                    </a:p>
                  </a:txBody>
                  <a:tcPr marT="50000" marB="50000"/>
                </a:tc>
                <a:tc>
                  <a:txBody>
                    <a:bodyPr/>
                    <a:lstStyle/>
                    <a:p>
                      <a:r>
                        <a:rPr sz="1200" lang="en-GB"/>
                        <a:t>Codex: terminal or extension</a:t>
                      </a:r>
                    </a:p>
                  </a:txBody>
                  <a:tcPr marT="50000" marB="50000"/>
                </a:tc>
                <a:tc>
                  <a:txBody>
                    <a:bodyPr/>
                    <a:lstStyle/>
                    <a:p>
                      <a:r>
                        <a:rPr sz="1200" lang="en-GB"/>
                        <a:t>0–20 USD a month</a:t>
                      </a:r>
                    </a:p>
                  </a:txBody>
                  <a:tcPr marT="50000" marB="50000"/>
                </a:tc>
              </a:tr>
              <a:tr h="370840">
                <a:tc>
                  <a:txBody>
                    <a:bodyPr/>
                    <a:lstStyle/>
                    <a:p>
                      <a:r>
                        <a:rPr sz="1200" b="1" lang="en-GB"/>
                        <a:t>grey code suggestions while typing</a:t>
                      </a:r>
                    </a:p>
                  </a:txBody>
                  <a:tcPr marT="50000" marB="50000"/>
                </a:tc>
                <a:tc>
                  <a:txBody>
                    <a:bodyPr/>
                    <a:lstStyle/>
                    <a:p>
                      <a:r>
                        <a:rPr sz="1200" lang="en-GB"/>
                        <a:t>GitHub Copilot or Posit AI Pass</a:t>
                      </a:r>
                    </a:p>
                  </a:txBody>
                  <a:tcPr marT="50000" marB="50000"/>
                </a:tc>
                <a:tc>
                  <a:txBody>
                    <a:bodyPr/>
                    <a:lstStyle/>
                    <a:p>
                      <a:r>
                        <a:rPr sz="1200" lang="en-GB"/>
                        <a:t>0 or 20 USD a month</a:t>
                      </a:r>
                    </a:p>
                  </a:txBody>
                  <a:tcPr marT="50000" marB="50000"/>
                </a:tc>
              </a:tr>
            </a:tbl>
          </a:graphicData>
        </a:graphic>
      </p:graphicFrame>
      <p:sp>
        <p:nvSpPr>
          <p:cNvPr id="3" name="Title 2"/>
          <p:cNvSpPr>
            <a:spLocks noGrp="1"/>
          </p:cNvSpPr>
          <p:nvPr>
            <p:ph type="title"/>
          </p:nvPr>
        </p:nvSpPr>
        <p:spPr/>
        <p:txBody>
          <a:bodyPr/>
          <a:lstStyle/>
          <a:p>
            <a:r>
              <a:rPr sz="1600" lang="en-GB"/>
              <a:t>Which route for what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hich default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Which default" descr=""/>
          <p:cNvPicPr>
            <a:picLocks noChangeAspect="1"/>
          </p:cNvPicPr>
          <p:nvPr/>
        </p:nvPicPr>
        <p:blipFill>
          <a:blip r:embed="rId3"/>
          <a:stretch>
            <a:fillRect/>
          </a:stretch>
        </p:blipFill>
        <p:spPr>
          <a:xfrm>
            <a:off x="658368" y="4274820"/>
            <a:ext cx="365760" cy="365760"/>
          </a:xfrm>
          <a:prstGeom prst="rect">
            <a:avLst/>
          </a:prstGeom>
        </p:spPr>
      </p:pic>
      <p:sp>
        <p:nvSpPr>
          <p:cNvPr id="12" name="Which default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default: </a:t>
            </a:r>
            <a:r>
              <a:rPr sz="1200" b="0" lang="en-GB">
                <a:solidFill>
                  <a:schemeClr val="bg1"/>
                </a:solidFill>
              </a:rPr>
              <a:t>Posit Assistant with GitHub Copilot Student. Everything else is optional.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Privacy: who sees your prompts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iv api body"/>
          <p:cNvSpPr/>
          <p:nvPr/>
        </p:nvSpPr>
        <p:spPr>
          <a:xfrm>
            <a:off x="457200" y="1645920"/>
            <a:ext cx="404622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v api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riv api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API key (routes 1 to 3)</a:t>
            </a:r>
          </a:p>
        </p:txBody>
      </p:sp>
      <p:pic>
        <p:nvPicPr>
          <p:cNvPr id="13" name="Icon Priv api" descr=""/>
          <p:cNvPicPr>
            <a:picLocks noChangeAspect="1"/>
          </p:cNvPicPr>
          <p:nvPr/>
        </p:nvPicPr>
        <p:blipFill>
          <a:blip r:embed="rId3"/>
          <a:stretch>
            <a:fillRect/>
          </a:stretch>
        </p:blipFill>
        <p:spPr>
          <a:xfrm>
            <a:off x="4064508" y="1284732"/>
            <a:ext cx="310896" cy="310896"/>
          </a:xfrm>
          <a:prstGeom prst="rect">
            <a:avLst/>
          </a:prstGeom>
        </p:spPr>
      </p:pic>
      <p:sp>
        <p:nvSpPr>
          <p:cNvPr id="14" name="Priv api text"/>
          <p:cNvSpPr txBox="1"/>
          <p:nvPr/>
        </p:nvSpPr>
        <p:spPr>
          <a:xfrm>
            <a:off x="621792" y="1783080"/>
            <a:ext cx="3744468" cy="16916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Not used for training by default</a:t>
            </a:r>
          </a:p>
          <a:p>
            <a:pPr algn="l" marL="182880" indent="-182880">
              <a:spcAft>
                <a:spcPts val="600"/>
              </a:spcAft>
              <a:buClr>
                <a:schemeClr val="accent1"/>
              </a:buClr>
              <a:buFont typeface="Arial"/>
              <a:buChar char="▪"/>
            </a:pPr>
            <a:r>
              <a:rPr sz="1300" b="0" lang="en-GB">
                <a:solidFill>
                  <a:schemeClr val="tx1"/>
                </a:solidFill>
              </a:rPr>
              <a:t>Kept about 30 days</a:t>
            </a:r>
          </a:p>
          <a:p>
            <a:pPr algn="l" marL="182880" indent="-182880">
              <a:spcAft>
                <a:spcPts val="600"/>
              </a:spcAft>
              <a:buClr>
                <a:schemeClr val="accent1"/>
              </a:buClr>
              <a:buFont typeface="Arial"/>
              <a:buChar char="▪"/>
            </a:pPr>
            <a:r>
              <a:rPr sz="1300" b="0" lang="en-GB">
                <a:solidFill>
                  <a:schemeClr val="tx1"/>
                </a:solidFill>
              </a:rPr>
              <a:t>Posit sees nothing</a:t>
            </a:r>
          </a:p>
        </p:txBody>
      </p:sp>
      <p:sp>
        <p:nvSpPr>
          <p:cNvPr id="15" name="Priv sub body"/>
          <p:cNvSpPr/>
          <p:nvPr/>
        </p:nvSpPr>
        <p:spPr>
          <a:xfrm>
            <a:off x="4640580" y="1645920"/>
            <a:ext cx="404622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iv sub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v sub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Subscription (Pro, Plus, Free)</a:t>
            </a:r>
          </a:p>
        </p:txBody>
      </p:sp>
      <p:pic>
        <p:nvPicPr>
          <p:cNvPr id="18" name="Icon Priv sub" descr=""/>
          <p:cNvPicPr>
            <a:picLocks noChangeAspect="1"/>
          </p:cNvPicPr>
          <p:nvPr/>
        </p:nvPicPr>
        <p:blipFill>
          <a:blip r:embed="rId4"/>
          <a:stretch>
            <a:fillRect/>
          </a:stretch>
        </p:blipFill>
        <p:spPr>
          <a:xfrm>
            <a:off x="8247888" y="1284732"/>
            <a:ext cx="310896" cy="310896"/>
          </a:xfrm>
          <a:prstGeom prst="rect">
            <a:avLst/>
          </a:prstGeom>
        </p:spPr>
      </p:pic>
      <p:sp>
        <p:nvSpPr>
          <p:cNvPr id="19" name="Priv sub text"/>
          <p:cNvSpPr txBox="1"/>
          <p:nvPr/>
        </p:nvSpPr>
        <p:spPr>
          <a:xfrm>
            <a:off x="4805172" y="1783080"/>
            <a:ext cx="3744468" cy="16916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May be used for training while the setting is on</a:t>
            </a:r>
          </a:p>
          <a:p>
            <a:pPr algn="l" marL="182880" indent="-182880">
              <a:spcAft>
                <a:spcPts val="600"/>
              </a:spcAft>
              <a:buClr>
                <a:schemeClr val="accent1"/>
              </a:buClr>
              <a:buFont typeface="Arial"/>
              <a:buChar char="▪"/>
            </a:pPr>
            <a:r>
              <a:rPr sz="1300" b="0" lang="en-GB">
                <a:solidFill>
                  <a:schemeClr val="tx1"/>
                </a:solidFill>
              </a:rPr>
              <a:t>Claude: claude.ai/settings/data-privacy-controls</a:t>
            </a:r>
          </a:p>
          <a:p>
            <a:pPr algn="l" marL="182880" indent="-182880">
              <a:spcAft>
                <a:spcPts val="600"/>
              </a:spcAft>
              <a:buClr>
                <a:schemeClr val="accent1"/>
              </a:buClr>
              <a:buFont typeface="Arial"/>
              <a:buChar char="▪"/>
            </a:pPr>
            <a:r>
              <a:rPr sz="1300" b="0" lang="en-GB">
                <a:solidFill>
                  <a:schemeClr val="tx1"/>
                </a:solidFill>
              </a:rPr>
              <a:t>ChatGPT: Settings → Data Controls</a:t>
            </a:r>
          </a:p>
        </p:txBody>
      </p:sp>
      <p:sp>
        <p:nvSpPr>
          <p:cNvPr id="20" name="Priv off box"/>
          <p:cNvSpPr/>
          <p:nvPr/>
        </p:nvSpPr>
        <p:spPr>
          <a:xfrm>
            <a:off x="457200" y="37490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riv off" descr=""/>
          <p:cNvPicPr>
            <a:picLocks noChangeAspect="1"/>
          </p:cNvPicPr>
          <p:nvPr/>
        </p:nvPicPr>
        <p:blipFill>
          <a:blip r:embed="rId4"/>
          <a:stretch>
            <a:fillRect/>
          </a:stretch>
        </p:blipFill>
        <p:spPr>
          <a:xfrm>
            <a:off x="658368" y="3954780"/>
            <a:ext cx="365760" cy="365760"/>
          </a:xfrm>
          <a:prstGeom prst="rect">
            <a:avLst/>
          </a:prstGeom>
        </p:spPr>
      </p:pic>
      <p:sp>
        <p:nvSpPr>
          <p:cNvPr id="22" name="Priv off text"/>
          <p:cNvSpPr txBox="1"/>
          <p:nvPr/>
        </p:nvSpPr>
        <p:spPr>
          <a:xfrm>
            <a:off x="1207008" y="37490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Switch training off </a:t>
            </a:r>
            <a:r>
              <a:rPr sz="1200" b="0" lang="en-GB">
                <a:solidFill>
                  <a:schemeClr val="bg1"/>
                </a:solidFill>
              </a:rPr>
              <a:t>in your Claude and ChatGPT settings before you use them for coursework.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Never share, and course rules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ever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ever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Never in a prompt or a file</a:t>
            </a:r>
          </a:p>
        </p:txBody>
      </p:sp>
      <p:pic>
        <p:nvPicPr>
          <p:cNvPr id="13" name="Icon Never card" descr=""/>
          <p:cNvPicPr>
            <a:picLocks noChangeAspect="1"/>
          </p:cNvPicPr>
          <p:nvPr/>
        </p:nvPicPr>
        <p:blipFill>
          <a:blip r:embed="rId3"/>
          <a:stretch>
            <a:fillRect/>
          </a:stretch>
        </p:blipFill>
        <p:spPr>
          <a:xfrm>
            <a:off x="4064508" y="1284732"/>
            <a:ext cx="310896" cy="310896"/>
          </a:xfrm>
          <a:prstGeom prst="rect">
            <a:avLst/>
          </a:prstGeom>
        </p:spPr>
      </p:pic>
      <p:sp>
        <p:nvSpPr>
          <p:cNvPr id="14" name="Never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API keys and passwords</a:t>
            </a:r>
          </a:p>
          <a:p>
            <a:pPr algn="l" marL="182880" indent="-182880">
              <a:spcAft>
                <a:spcPts val="600"/>
              </a:spcAft>
              <a:buClr>
                <a:schemeClr val="accent1"/>
              </a:buClr>
              <a:buFont typeface="Arial"/>
              <a:buChar char="▪"/>
            </a:pPr>
            <a:r>
              <a:rPr sz="1300" b="0" lang="en-GB">
                <a:solidFill>
                  <a:schemeClr val="tx1"/>
                </a:solidFill>
              </a:rPr>
              <a:t>Names, e-mails, student or customer IDs</a:t>
            </a:r>
          </a:p>
          <a:p>
            <a:pPr algn="l" marL="182880" indent="-182880">
              <a:spcAft>
                <a:spcPts val="600"/>
              </a:spcAft>
              <a:buClr>
                <a:schemeClr val="accent1"/>
              </a:buClr>
              <a:buFont typeface="Arial"/>
              <a:buChar char="▪"/>
            </a:pPr>
            <a:r>
              <a:rPr sz="1300" b="0" lang="en-GB">
                <a:solidFill>
                  <a:schemeClr val="tx1"/>
                </a:solidFill>
              </a:rPr>
              <a:t>Confidential or licensed data</a:t>
            </a:r>
          </a:p>
          <a:p>
            <a:pPr algn="l" marL="182880" indent="-182880">
              <a:spcAft>
                <a:spcPts val="600"/>
              </a:spcAft>
              <a:buClr>
                <a:schemeClr val="accent1"/>
              </a:buClr>
              <a:buFont typeface="Arial"/>
              <a:buChar char="▪"/>
            </a:pPr>
            <a:r>
              <a:rPr sz="1300" b="0" lang="en-GB">
                <a:solidFill>
                  <a:schemeClr val="tx1"/>
                </a:solidFill>
              </a:rPr>
              <a:t>Exam or assessment content</a:t>
            </a:r>
          </a:p>
        </p:txBody>
      </p:sp>
      <p:sp>
        <p:nvSpPr>
          <p:cNvPr id="15" name="Rules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18" name="Icon Rules card" descr=""/>
          <p:cNvPicPr>
            <a:picLocks noChangeAspect="1"/>
          </p:cNvPicPr>
          <p:nvPr/>
        </p:nvPicPr>
        <p:blipFill>
          <a:blip r:embed="rId4"/>
          <a:stretch>
            <a:fillRect/>
          </a:stretch>
        </p:blipFill>
        <p:spPr>
          <a:xfrm>
            <a:off x="8247888" y="1284732"/>
            <a:ext cx="310896" cy="310896"/>
          </a:xfrm>
          <a:prstGeom prst="rect">
            <a:avLst/>
          </a:prstGeom>
        </p:spPr>
      </p:pic>
      <p:sp>
        <p:nvSpPr>
          <p:cNvPr id="19" name="Rules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Course default: GitHub Copilot</a:t>
            </a:r>
          </a:p>
          <a:p>
            <a:pPr algn="l" marL="182880" indent="-182880">
              <a:spcAft>
                <a:spcPts val="600"/>
              </a:spcAft>
              <a:buClr>
                <a:schemeClr val="accent1"/>
              </a:buClr>
              <a:buFont typeface="Arial"/>
              <a:buChar char="▪"/>
            </a:pPr>
            <a:r>
              <a:rPr sz="1300" b="0" lang="en-GB">
                <a:solidFill>
                  <a:schemeClr val="tx1"/>
                </a:solidFill>
              </a:rPr>
              <a:t>Nobody has to pay for anything</a:t>
            </a:r>
          </a:p>
          <a:p>
            <a:pPr algn="l" marL="182880" indent="-182880">
              <a:spcAft>
                <a:spcPts val="600"/>
              </a:spcAft>
              <a:buClr>
                <a:schemeClr val="accent1"/>
              </a:buClr>
              <a:buFont typeface="Arial"/>
              <a:buChar char="▪"/>
            </a:pPr>
            <a:r>
              <a:rPr sz="1300" b="0" lang="en-GB">
                <a:solidFill>
                  <a:schemeClr val="tx1"/>
                </a:solidFill>
              </a:rPr>
              <a:t>Prompt log for exercises and case study</a:t>
            </a:r>
          </a:p>
          <a:p>
            <a:pPr algn="l" marL="182880" indent="-182880">
              <a:spcAft>
                <a:spcPts val="600"/>
              </a:spcAft>
              <a:buClr>
                <a:schemeClr val="accent1"/>
              </a:buClr>
              <a:buFont typeface="Arial"/>
              <a:buChar char="▪"/>
            </a:pPr>
            <a:r>
              <a:rPr sz="1300" b="0" lang="en-GB">
                <a:solidFill>
                  <a:schemeClr val="tx1"/>
                </a:solidFill>
              </a:rPr>
              <a:t>You verify and own every number</a:t>
            </a:r>
          </a:p>
        </p:txBody>
      </p:sp>
      <p:sp>
        <p:nvSpPr>
          <p:cNvPr id="20" name="Rules log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Rules log" descr=""/>
          <p:cNvPicPr>
            <a:picLocks noChangeAspect="1"/>
          </p:cNvPicPr>
          <p:nvPr/>
        </p:nvPicPr>
        <p:blipFill>
          <a:blip r:embed="rId5"/>
          <a:stretch>
            <a:fillRect/>
          </a:stretch>
        </p:blipFill>
        <p:spPr>
          <a:xfrm>
            <a:off x="658368" y="4137660"/>
            <a:ext cx="365760" cy="365760"/>
          </a:xfrm>
          <a:prstGeom prst="rect">
            <a:avLst/>
          </a:prstGeom>
        </p:spPr>
      </p:pic>
      <p:sp>
        <p:nvSpPr>
          <p:cNvPr id="22" name="Rules log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Prompt log: </a:t>
            </a:r>
            <a:r>
              <a:rPr sz="1200" b="0" lang="en-GB">
                <a:solidFill>
                  <a:schemeClr val="bg1"/>
                </a:solidFill>
              </a:rPr>
              <a:t>note which tool and model you used, the prompt, and what you kept or changed.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383280"/>
                <a:gridCol w="4846320"/>
              </a:tblGrid>
              <a:tr h="370840">
                <a:tc>
                  <a:txBody>
                    <a:bodyPr/>
                    <a:lstStyle/>
                    <a:p>
                      <a:r>
                        <a:rPr sz="1300" lang="en-GB"/>
                        <a:t>Problem</a:t>
                      </a:r>
                    </a:p>
                  </a:txBody>
                  <a:tcPr marT="45000" marB="45000"/>
                </a:tc>
                <a:tc>
                  <a:txBody>
                    <a:bodyPr/>
                    <a:lstStyle/>
                    <a:p>
                      <a:r>
                        <a:rPr sz="1300" lang="en-GB"/>
                        <a:t>Fix</a:t>
                      </a:r>
                    </a:p>
                  </a:txBody>
                  <a:tcPr marT="45000" marB="45000"/>
                </a:tc>
              </a:tr>
              <a:tr h="370840">
                <a:tc>
                  <a:txBody>
                    <a:bodyPr/>
                    <a:lstStyle/>
                    <a:p>
                      <a:r>
                        <a:rPr sz="1150" b="1" lang="en-GB"/>
                        <a:t>Claude Pro, but Positron wants a key</a:t>
                      </a:r>
                    </a:p>
                  </a:txBody>
                  <a:tcPr marT="45000" marB="45000"/>
                </a:tc>
                <a:tc>
                  <a:txBody>
                    <a:bodyPr/>
                    <a:lstStyle/>
                    <a:p>
                      <a:r>
                        <a:rPr sz="1150" lang="en-GB"/>
                        <a:t>expected: use a Console API key, or Claude Code (routes 2, 3)</a:t>
                      </a:r>
                    </a:p>
                  </a:txBody>
                  <a:tcPr marT="45000" marB="45000"/>
                </a:tc>
              </a:tr>
              <a:tr h="370840">
                <a:tc>
                  <a:txBody>
                    <a:bodyPr/>
                    <a:lstStyle/>
                    <a:p>
                      <a:r>
                        <a:rPr sz="1150" b="1" lang="en-GB"/>
                        <a:t>Key rejected</a:t>
                      </a:r>
                    </a:p>
                  </a:txBody>
                  <a:tcPr marT="45000" marB="45000"/>
                </a:tc>
                <a:tc>
                  <a:txBody>
                    <a:bodyPr/>
                    <a:lstStyle/>
                    <a:p>
                      <a:r>
                        <a:rPr sz="1150" lang="en-GB"/>
                        <a:t>copy again without spaces; is there credit on the account?</a:t>
                      </a:r>
                    </a:p>
                  </a:txBody>
                  <a:tcPr marT="45000" marB="45000"/>
                </a:tc>
              </a:tr>
              <a:tr h="370840">
                <a:tc>
                  <a:txBody>
                    <a:bodyPr/>
                    <a:lstStyle/>
                    <a:p>
                      <a:r>
                        <a:rPr sz="1150" b="1" lang="en-GB"/>
                        <a:t>No code completions</a:t>
                      </a:r>
                    </a:p>
                  </a:txBody>
                  <a:tcPr marT="45000" marB="45000"/>
                </a:tc>
                <a:tc>
                  <a:txBody>
                    <a:bodyPr/>
                    <a:lstStyle/>
                    <a:p>
                      <a:r>
                        <a:rPr sz="1150" lang="en-GB"/>
                        <a:t>not offered by Claude or OpenAI; use GitHub Copilot</a:t>
                      </a:r>
                    </a:p>
                  </a:txBody>
                  <a:tcPr marT="45000" marB="45000"/>
                </a:tc>
              </a:tr>
              <a:tr h="370840">
                <a:tc>
                  <a:txBody>
                    <a:bodyPr/>
                    <a:lstStyle/>
                    <a:p>
                      <a:r>
                        <a:rPr sz="1150" b="1" lang="en-GB"/>
                        <a:t>claude or codex: command not found</a:t>
                      </a:r>
                    </a:p>
                  </a:txBody>
                  <a:tcPr marT="45000" marB="45000"/>
                </a:tc>
                <a:tc>
                  <a:txBody>
                    <a:bodyPr/>
                    <a:lstStyle/>
                    <a:p>
                      <a:r>
                        <a:rPr sz="1150" lang="en-GB"/>
                        <a:t>open a new terminal; run the installer again</a:t>
                      </a:r>
                    </a:p>
                  </a:txBody>
                  <a:tcPr marT="45000" marB="45000"/>
                </a:tc>
              </a:tr>
              <a:tr h="370840">
                <a:tc>
                  <a:txBody>
                    <a:bodyPr/>
                    <a:lstStyle/>
                    <a:p>
                      <a:r>
                        <a:rPr sz="1150" b="1" lang="en-GB"/>
                        <a:t>Claude Code bills the API, not Pro</a:t>
                      </a:r>
                    </a:p>
                  </a:txBody>
                  <a:tcPr marT="45000" marB="45000"/>
                </a:tc>
                <a:tc>
                  <a:txBody>
                    <a:bodyPr/>
                    <a:lstStyle/>
                    <a:p>
                      <a:r>
                        <a:rPr sz="1150" lang="en-GB"/>
                        <a:t>unset ANTHROPIC_API_KEY; check with /status</a:t>
                      </a:r>
                    </a:p>
                  </a:txBody>
                  <a:tcPr marT="45000" marB="45000"/>
                </a:tc>
              </a:tr>
              <a:tr h="370840">
                <a:tc>
                  <a:txBody>
                    <a:bodyPr/>
                    <a:lstStyle/>
                    <a:p>
                      <a:r>
                        <a:rPr sz="1150" b="1" lang="en-GB"/>
                        <a:t>Agent cannot see the session (MCP)</a:t>
                      </a:r>
                    </a:p>
                  </a:txBody>
                  <a:tcPr marT="45000" marB="45000"/>
                </a:tc>
                <a:tc>
                  <a:txBody>
                    <a:bodyPr/>
                    <a:lstStyle/>
                    <a:p>
                      <a:r>
                        <a:rPr sz="1150" lang="en-GB"/>
                        <a:t>ai.mcp.enabled on, Python running, restart the agent</a:t>
                      </a:r>
                    </a:p>
                  </a:txBody>
                  <a:tcPr marT="45000" marB="45000"/>
                </a:tc>
              </a:tr>
            </a:tbl>
          </a:graphicData>
        </a:graphic>
      </p:graphicFrame>
      <p:sp>
        <p:nvSpPr>
          <p:cNvPr id="3" name="Title 2"/>
          <p:cNvSpPr>
            <a:spLocks noGrp="1"/>
          </p:cNvSpPr>
          <p:nvPr>
            <p:ph type="title"/>
          </p:nvPr>
        </p:nvSpPr>
        <p:spPr/>
        <p:txBody>
          <a:bodyPr/>
          <a:lstStyle/>
          <a:p>
            <a:r>
              <a:rPr sz="1600" lang="en-GB"/>
              <a:t>When it does not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diag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diag" descr=""/>
          <p:cNvPicPr>
            <a:picLocks noChangeAspect="1"/>
          </p:cNvPicPr>
          <p:nvPr/>
        </p:nvPicPr>
        <p:blipFill>
          <a:blip r:embed="rId3"/>
          <a:stretch>
            <a:fillRect/>
          </a:stretch>
        </p:blipFill>
        <p:spPr>
          <a:xfrm>
            <a:off x="658368" y="4434840"/>
            <a:ext cx="365760" cy="365760"/>
          </a:xfrm>
          <a:prstGeom prst="rect">
            <a:avLst/>
          </a:prstGeom>
        </p:spPr>
      </p:pic>
      <p:sp>
        <p:nvSpPr>
          <p:cNvPr id="12" name="Trouble diag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Command Palette → AI: Create Diagnostic Report.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Route chosen: </a:t>
            </a:r>
            <a:r>
              <a:rPr sz="1200" b="0" lang="en-GB">
                <a:solidFill>
                  <a:schemeClr val="tx1"/>
                </a:solidFill>
              </a:rPr>
              <a:t>Posit Assistant, extension, terminal, or MCP</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ready: </a:t>
            </a:r>
            <a:r>
              <a:rPr sz="1200" b="0" lang="en-GB">
                <a:solidFill>
                  <a:schemeClr val="tx1"/>
                </a:solidFill>
              </a:rPr>
              <a:t>API key with a spend limit, or Claude Pro / ChatGPT account</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Training off </a:t>
            </a:r>
            <a:r>
              <a:rPr sz="1200" b="0" lang="en-GB">
                <a:solidFill>
                  <a:schemeClr val="tx1"/>
                </a:solidFill>
              </a:rPr>
              <a:t>in your Claude or ChatGPT privacy settings</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Connected and tested </a:t>
            </a:r>
            <a:r>
              <a:rPr sz="1200" b="0" lang="en-GB">
                <a:solidFill>
                  <a:schemeClr val="tx1"/>
                </a:solidFill>
              </a:rPr>
              <a:t>with one small question about your data</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Standing instructions </a:t>
            </a:r>
            <a:r>
              <a:rPr sz="1200" b="0" lang="en-GB">
                <a:solidFill>
                  <a:schemeClr val="tx1"/>
                </a:solidFill>
              </a:rPr>
              <a:t>in CLAUDE.md or AGENTS.md</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 </a:t>
            </a:r>
            <a:r>
              <a:rPr sz="1200" b="0" lang="en-GB">
                <a:solidFill>
                  <a:schemeClr val="tx1"/>
                </a:solidFill>
              </a:rPr>
              <a:t>started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Claude Code in VS Code and other editors</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Claude Code: install and set up</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Claude Code: data usage and privacy</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Claude plans and API prices</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Posit Assistant model providers</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OpenAI Codex (repository and install)</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Positron release notes (MCP server)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