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3660" r:id="rId4"/>
  </p:sldMasterIdLst>
  <p:notesMasterIdLst>
    <p:notesMasterId r:id="rId31"/>
  </p:notesMasterIdLst>
  <p:handoutMasterIdLst>
    <p:handoutMasterId r:id="rId32"/>
  </p:handout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12"/>
    <p:sldId id="275" r:id="rId11"/>
    <p:sldId id="276" r:id="rId10"/>
    <p:sldId id="277" r:id="rId9"/>
    <p:sldId id="278" r:id="rId8"/>
    <p:sldId id="279" r:id="rId7"/>
    <p:sldId id="280" r:id="rId6"/>
    <p:sldId id="281" r:id="rId5"/>
    <p:sldId id="282" r:id="rId39"/>
    <p:sldId id="283" r:id="rId40"/>
    <p:sldId id="284" r:id="rId41"/>
    <p:sldId id="285" r:id="rId42"/>
    <p:sldId id="286" r:id="rId43"/>
    <p:sldId id="287" r:id="rId44"/>
    <p:sldId id="288" r:id="rId45"/>
    <p:sldId id="289" r:id="rId46"/>
    <p:sldId id="290" r:id="rId47"/>
    <p:sldId id="291" r:id="rId48"/>
    <p:sldId id="292" r:id="rId49"/>
    <p:sldId id="293" r:id="rId50"/>
    <p:sldId id="294" r:id="rId51"/>
    <p:sldId id="295" r:id="rId52"/>
    <p:sldId id="296" r:id="rId53"/>
    <p:sldId id="297" r:id="rId54"/>
    <p:sldId id="298" r:id="rId55"/>
    <p:sldId id="299" r:id="rId56"/>
    <p:sldId id="300" r:id="rId57"/>
    <p:sldId id="301" r:id="rId58"/>
    <p:sldId id="302" r:id="rId59"/>
    <p:sldId id="303" r:id="rId60"/>
    <p:sldId id="304" r:id="rId61"/>
    <p:sldId id="305" r:id="rId62"/>
    <p:sldId id="306" r:id="rId63"/>
    <p:sldId id="307" r:id="rId64"/>
    <p:sldId id="308" r:id="rId65"/>
  </p:sldIdLst>
  <p:sldSz cx="9144000" cy="5715000" type="screen16x10"/>
  <p:notesSz cx="6858000" cy="9144000"/>
  <p:custDataLst>
    <p:tags r:id="rId33"/>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3" pos="4241">
          <p15:clr>
            <a:srgbClr val="A4A3A4"/>
          </p15:clr>
        </p15:guide>
        <p15:guide id="4" pos="4695">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9" name="Autor" initials="A" lastIdx="0" clrIdx="8"/>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EFF7"/>
    <a:srgbClr val="CBDDEF"/>
    <a:srgbClr val="0096D3"/>
    <a:srgbClr val="0C94B7"/>
    <a:srgbClr val="41B4CE"/>
    <a:srgbClr val="73BAD1"/>
    <a:srgbClr val="65B4C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3B4B98B0-60AC-42C2-AFA5-B58CD77FA1E5}" styleName="Helle Formatvorlage 1 - Akz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Helle Formatvorlage 1 - Akz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ittlere Formatvorlage 1 - Akz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9" autoAdjust="0"/>
    <p:restoredTop sz="93783" autoAdjust="0"/>
  </p:normalViewPr>
  <p:slideViewPr>
    <p:cSldViewPr snapToGrid="0" showGuides="1">
      <p:cViewPr varScale="1">
        <p:scale>
          <a:sx n="164" d="100"/>
          <a:sy n="164" d="100"/>
        </p:scale>
        <p:origin x="758" y="75"/>
      </p:cViewPr>
      <p:guideLst>
        <p:guide orient="horz" pos="1800"/>
        <p:guide pos="4241"/>
        <p:guide pos="4695"/>
      </p:guideLst>
    </p:cSldViewPr>
  </p:slideViewPr>
  <p:outlineViewPr>
    <p:cViewPr>
      <p:scale>
        <a:sx n="33" d="100"/>
        <a:sy n="33" d="100"/>
      </p:scale>
      <p:origin x="0" y="0"/>
    </p:cViewPr>
  </p:outlineViewPr>
  <p:notesTextViewPr>
    <p:cViewPr>
      <p:scale>
        <a:sx n="1" d="1"/>
        <a:sy n="1" d="1"/>
      </p:scale>
      <p:origin x="0" y="0"/>
    </p:cViewPr>
  </p:notesTextViewPr>
  <p:notesViewPr>
    <p:cSldViewPr snapToGrid="0" showGuides="1">
      <p:cViewPr varScale="1">
        <p:scale>
          <a:sx n="94" d="100"/>
          <a:sy n="94" d="100"/>
        </p:scale>
        <p:origin x="2748"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6.xml"/><Relationship Id="rId6" Type="http://schemas.openxmlformats.org/officeDocument/2006/relationships/slide" Target="slides/slide25.xml"/><Relationship Id="rId7" Type="http://schemas.openxmlformats.org/officeDocument/2006/relationships/slide" Target="slides/slide24.xml"/><Relationship Id="rId8" Type="http://schemas.openxmlformats.org/officeDocument/2006/relationships/slide" Target="slides/slide23.xml"/><Relationship Id="rId9" Type="http://schemas.openxmlformats.org/officeDocument/2006/relationships/slide" Target="slides/slide22.xml"/><Relationship Id="rId10" Type="http://schemas.openxmlformats.org/officeDocument/2006/relationships/slide" Target="slides/slide21.xml"/><Relationship Id="rId11" Type="http://schemas.openxmlformats.org/officeDocument/2006/relationships/slide" Target="slides/slide20.xml"/><Relationship Id="rId12" Type="http://schemas.openxmlformats.org/officeDocument/2006/relationships/slide" Target="slides/slide19.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notesMaster" Target="notesMasters/notesMaster1.xml"/><Relationship Id="rId32" Type="http://schemas.openxmlformats.org/officeDocument/2006/relationships/handoutMaster" Target="handoutMasters/handoutMaster1.xml"/><Relationship Id="rId33" Type="http://schemas.openxmlformats.org/officeDocument/2006/relationships/tags" Target="tags/tag1.xml"/><Relationship Id="rId34" Type="http://schemas.openxmlformats.org/officeDocument/2006/relationships/commentAuthors" Target="commentAuthors.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 Id="rId39" Type="http://schemas.openxmlformats.org/officeDocument/2006/relationships/slide" Target="slides/slide27.xml"/><Relationship Id="rId40" Type="http://schemas.openxmlformats.org/officeDocument/2006/relationships/slide" Target="slides/slide28.xml"/><Relationship Id="rId41" Type="http://schemas.openxmlformats.org/officeDocument/2006/relationships/slide" Target="slides/slide29.xml"/><Relationship Id="rId42" Type="http://schemas.openxmlformats.org/officeDocument/2006/relationships/slide" Target="slides/slide30.xml"/><Relationship Id="rId43" Type="http://schemas.openxmlformats.org/officeDocument/2006/relationships/slide" Target="slides/slide31.xml"/><Relationship Id="rId44" Type="http://schemas.openxmlformats.org/officeDocument/2006/relationships/slide" Target="slides/slide32.xml"/><Relationship Id="rId45" Type="http://schemas.openxmlformats.org/officeDocument/2006/relationships/slide" Target="slides/slide33.xml"/><Relationship Id="rId46" Type="http://schemas.openxmlformats.org/officeDocument/2006/relationships/slide" Target="slides/slide34.xml"/><Relationship Id="rId47" Type="http://schemas.openxmlformats.org/officeDocument/2006/relationships/slide" Target="slides/slide35.xml"/><Relationship Id="rId48" Type="http://schemas.openxmlformats.org/officeDocument/2006/relationships/slide" Target="slides/slide36.xml"/><Relationship Id="rId49" Type="http://schemas.openxmlformats.org/officeDocument/2006/relationships/slide" Target="slides/slide37.xml"/><Relationship Id="rId50" Type="http://schemas.openxmlformats.org/officeDocument/2006/relationships/slide" Target="slides/slide38.xml"/><Relationship Id="rId51" Type="http://schemas.openxmlformats.org/officeDocument/2006/relationships/slide" Target="slides/slide39.xml"/><Relationship Id="rId52" Type="http://schemas.openxmlformats.org/officeDocument/2006/relationships/slide" Target="slides/slide40.xml"/><Relationship Id="rId53" Type="http://schemas.openxmlformats.org/officeDocument/2006/relationships/slide" Target="slides/slide41.xml"/><Relationship Id="rId54" Type="http://schemas.openxmlformats.org/officeDocument/2006/relationships/slide" Target="slides/slide42.xml"/><Relationship Id="rId55" Type="http://schemas.openxmlformats.org/officeDocument/2006/relationships/slide" Target="slides/slide43.xml"/><Relationship Id="rId56" Type="http://schemas.openxmlformats.org/officeDocument/2006/relationships/slide" Target="slides/slide44.xml"/><Relationship Id="rId57" Type="http://schemas.openxmlformats.org/officeDocument/2006/relationships/slide" Target="slides/slide45.xml"/><Relationship Id="rId58" Type="http://schemas.openxmlformats.org/officeDocument/2006/relationships/slide" Target="slides/slide46.xml"/><Relationship Id="rId59" Type="http://schemas.openxmlformats.org/officeDocument/2006/relationships/slide" Target="slides/slide47.xml"/><Relationship Id="rId60" Type="http://schemas.openxmlformats.org/officeDocument/2006/relationships/slide" Target="slides/slide48.xml"/><Relationship Id="rId61" Type="http://schemas.openxmlformats.org/officeDocument/2006/relationships/slide" Target="slides/slide49.xml"/><Relationship Id="rId62" Type="http://schemas.openxmlformats.org/officeDocument/2006/relationships/slide" Target="slides/slide50.xml"/><Relationship Id="rId63" Type="http://schemas.openxmlformats.org/officeDocument/2006/relationships/slide" Target="slides/slide51.xml"/><Relationship Id="rId64" Type="http://schemas.openxmlformats.org/officeDocument/2006/relationships/slide" Target="slides/slide52.xml"/><Relationship Id="rId65" Type="http://schemas.openxmlformats.org/officeDocument/2006/relationships/slide" Target="slides/slide5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sz="1000" dirty="0">
              <a:latin typeface="Verdana" pitchFamily="34" charset="0"/>
              <a:ea typeface="Verdana" pitchFamily="34" charset="0"/>
              <a:cs typeface="Verdana" pitchFamily="34" charset="0"/>
            </a:endParaRPr>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68817FD-8155-4502-AF78-DBC2EA4B168F}" type="datetimeFigureOut">
              <a:rPr lang="en-GB" sz="1000" smtClean="0">
                <a:latin typeface="Verdana" pitchFamily="34" charset="0"/>
                <a:ea typeface="Verdana" pitchFamily="34" charset="0"/>
                <a:cs typeface="Verdana" pitchFamily="34" charset="0"/>
              </a:rPr>
              <a:t>25/08/2023</a:t>
            </a:fld>
            <a:endParaRPr lang="en-GB" sz="1000" dirty="0">
              <a:latin typeface="Verdana" pitchFamily="34" charset="0"/>
              <a:ea typeface="Verdana" pitchFamily="34" charset="0"/>
              <a:cs typeface="Verdana" pitchFamily="34" charset="0"/>
            </a:endParaRPr>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sz="1000" dirty="0">
              <a:latin typeface="Verdana" pitchFamily="34" charset="0"/>
              <a:ea typeface="Verdana" pitchFamily="34" charset="0"/>
              <a:cs typeface="Verdana" pitchFamily="34" charset="0"/>
            </a:endParaRPr>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617F6F62-1C91-45E7-BAED-FBFBF67C82BC}" type="slidenum">
              <a:rPr lang="en-GB" sz="1000" smtClean="0">
                <a:latin typeface="Verdana" pitchFamily="34" charset="0"/>
                <a:ea typeface="Verdana" pitchFamily="34" charset="0"/>
                <a:cs typeface="Verdana" pitchFamily="34" charset="0"/>
              </a:rPr>
              <a:t>‹Nr.›</a:t>
            </a:fld>
            <a:endParaRPr lang="en-GB" sz="10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7543456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000">
                <a:latin typeface="Verdana" pitchFamily="34" charset="0"/>
                <a:ea typeface="Verdana" pitchFamily="34" charset="0"/>
                <a:cs typeface="Verdana" pitchFamily="34" charset="0"/>
              </a:defRPr>
            </a:lvl1pPr>
          </a:lstStyle>
          <a:p>
            <a:endParaRPr lang="en-GB" dirty="0"/>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000">
                <a:latin typeface="Verdana" pitchFamily="34" charset="0"/>
                <a:ea typeface="Verdana" pitchFamily="34" charset="0"/>
                <a:cs typeface="Verdana" pitchFamily="34" charset="0"/>
              </a:defRPr>
            </a:lvl1pPr>
          </a:lstStyle>
          <a:p>
            <a:fld id="{C0A972FC-F5E0-4F80-B169-F0B5EFC71333}" type="datetimeFigureOut">
              <a:rPr lang="en-GB" smtClean="0"/>
              <a:pPr/>
              <a:t>25/08/2023</a:t>
            </a:fld>
            <a:endParaRPr lang="en-GB" dirty="0"/>
          </a:p>
        </p:txBody>
      </p:sp>
      <p:sp>
        <p:nvSpPr>
          <p:cNvPr id="4" name="Folienbildplatzhalter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000">
                <a:latin typeface="Verdana" pitchFamily="34" charset="0"/>
                <a:ea typeface="Verdana" pitchFamily="34" charset="0"/>
                <a:cs typeface="Verdana" pitchFamily="34" charset="0"/>
              </a:defRPr>
            </a:lvl1pPr>
          </a:lstStyle>
          <a:p>
            <a:endParaRPr lang="en-GB" dirty="0"/>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000">
                <a:latin typeface="Verdana" pitchFamily="34" charset="0"/>
                <a:ea typeface="Verdana" pitchFamily="34" charset="0"/>
                <a:cs typeface="Verdana" pitchFamily="34" charset="0"/>
              </a:defRPr>
            </a:lvl1pPr>
          </a:lstStyle>
          <a:p>
            <a:fld id="{219CC2FD-B32F-4992-A15B-F95E2E35C81B}" type="slidenum">
              <a:rPr lang="en-GB" smtClean="0"/>
              <a:pPr/>
              <a:t>‹Nr.›</a:t>
            </a:fld>
            <a:endParaRPr lang="en-GB" dirty="0"/>
          </a:p>
        </p:txBody>
      </p:sp>
    </p:spTree>
    <p:extLst>
      <p:ext uri="{BB962C8B-B14F-4D97-AF65-F5344CB8AC3E}">
        <p14:creationId xmlns:p14="http://schemas.microsoft.com/office/powerpoint/2010/main" val="915136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Verdana" pitchFamily="34" charset="0"/>
        <a:ea typeface="Verdana" pitchFamily="34" charset="0"/>
        <a:cs typeface="Verdana" pitchFamily="34" charset="0"/>
      </a:defRPr>
    </a:lvl1pPr>
    <a:lvl2pPr marL="457200" algn="l" defTabSz="914400" rtl="0" eaLnBrk="1" latinLnBrk="0" hangingPunct="1">
      <a:defRPr sz="1200" kern="1200">
        <a:solidFill>
          <a:schemeClr val="tx1"/>
        </a:solidFill>
        <a:latin typeface="Verdana" panose="020B0604030504040204" pitchFamily="34" charset="0"/>
        <a:ea typeface="+mn-ea"/>
        <a:cs typeface="+mn-cs"/>
      </a:defRPr>
    </a:lvl2pPr>
    <a:lvl3pPr marL="914400" algn="l" defTabSz="914400" rtl="0" eaLnBrk="1" latinLnBrk="0" hangingPunct="1">
      <a:defRPr sz="1200" kern="1200">
        <a:solidFill>
          <a:schemeClr val="tx1"/>
        </a:solidFill>
        <a:latin typeface="Verdana" panose="020B0604030504040204" pitchFamily="34" charset="0"/>
        <a:ea typeface="+mn-ea"/>
        <a:cs typeface="+mn-cs"/>
      </a:defRPr>
    </a:lvl3pPr>
    <a:lvl4pPr marL="1371600" algn="l" defTabSz="914400" rtl="0" eaLnBrk="1" latinLnBrk="0" hangingPunct="1">
      <a:defRPr sz="1200" kern="1200">
        <a:solidFill>
          <a:schemeClr val="tx1"/>
        </a:solidFill>
        <a:latin typeface="Verdana" panose="020B0604030504040204" pitchFamily="34" charset="0"/>
        <a:ea typeface="+mn-ea"/>
        <a:cs typeface="+mn-cs"/>
      </a:defRPr>
    </a:lvl4pPr>
    <a:lvl5pPr marL="1828800" algn="l" defTabSz="914400" rtl="0" eaLnBrk="1" latinLnBrk="0" hangingPunct="1">
      <a:defRPr sz="1200" kern="1200">
        <a:solidFill>
          <a:schemeClr val="tx1"/>
        </a:solidFill>
        <a:latin typeface="Verdana" panose="020B060403050404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the session on forecasting and time series. Forecasting is planning: how much will we sell next week, next quarter, next December? We start with two tiny shops whose numbers fit on a calculator, so that you can check every forecast by hand. Then we take real monthly retail data and end with the same analysis in Python. The code is in sessions/01-foundations/forecasting.qmd.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theory parts on two tiny shops, then real data, Python and the in-class exercise. Part 1 names what we see in a time plot and says in plain words what stationary means. Part 2 computes simple forecasts by hand, week by week in tables, so every one of them can be checked with a calculator, and smooths a series with a rolling average. Part 3 asks which forecast to trust. Parts 4 to 6 bring a real series, the Python code as a ladder of ten small steps, and the exercise. Keep the question of the day in mind: every part answers a piece of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business question. A marketing manager has to decide before demand arrives: how much stock to order before the peak, how many staff to put on the busy weeks, and when to spend the media budget. A third use: the lift of a campaign is actual sales minus the forecast without the campaign. Our two shops are invented, so that every number can be checked by hand; the phone shop can be read as one shop of the mobile operator from the churn session. Ask the room: what do you forecast in your own job or internship?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 series is one value per period, in time order, with equal steps. Each value here is one period: a week for the phone shop, a quarter for the chocolate shop. The long file has the columns example, period, value, 20 rows; the first row is contracts, 1, 40, the last row is webshop, 12, 40. Unlike the churn data, the rows cannot be shuffled: the order is the information. Real data later have a date column (the month) instead of a period number. Ask: which row would you forecast next?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time plot, with the period on the x axis and the value on the y axis, is step one of every forecast. The phone shop rises by about 2 contracts a week, with two small dips in weeks 3 and 6. The chocolate shop rises every year and peaks at Christmas: Q4 sales are 30, 35 and 40 k EUR. Ask the room for a guess for week 9 and for Q4 of year 4, and keep the guesses for Part 2 (slides 12 to 19).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1 gives us four words for what we see in a time plot: trend, season, cycle and irregular. Then one question about the size of the season: does it stay the same or grow with the level? And finally the one property most forecasting methods need, first in plain words with six small examples, then the fix: a stationary series.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series can be read as four parts. The trend is the long-run direction; the season is a pattern that repeats every year with a fixed length, such as Christmas or summer; the cycle is ups and downs over several years without a fixed length, driven by the economy; the irregular part is what is left: noise and one-off events. Trend and cycle are often estimated together as the trend-cycle (Hyndman and Athanasopoulos, FPP3, chapter 3). The clothing series of Part 4 shows a cycle: flat to 2012, then growth (slide 27). The irregular part cannot be forecast, which is why every forecast needs a band (slide 31).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season can stay the same size or grow with the level. In the chocolate shop the Q4 gaps to the year mean are +8.5, +9.5 and +10.5 k EUR: close to constant, so an additive season is fine. In the Australian clothing data the December swing grows from about +890 AUD m in 2009 to +1,257 AUD m in 2018: a multiplicative season. So in Part 4 we use logs or multiplicative models (slides 27 and 29). Logs turn percentages into constant gaps, which makes a multiplicative season additive.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plain definition: a series is stationary when its level and its ups and downs stay the same over time, so any stretch of it looks like any other stretch. Cover half of a chart with your hand: if the visible half tells you nothing about where you are in time, the series is stationary. The top row passes the test: pure noise, a series that wobbles but is always pulled back to its mean (an AR(1) process), and real data: clothing sales minus the same month a year earlier, which moves around +51 AUD m a month (slide 25). The bottom row fails: a trend moves the level, a random walk wanders off and never comes back, and a season whose swings grow changes the ups and downs. Why it matters: many methods, ARIMA among them, assume that the past looks like the future; qmd Extra B simulates the noise and the random walk. A test comes in Part 4: the ADF test (slide 28) gives p 0.003 for the yearly change of clothing sales. Ask: is the phone shop stationary?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showed what stationary looks like; this slide shows the fix when a series is not. Differencing means: this period minus the previous one. The random walk on the left rises and wanders; its changes on the right move around one fixed mean, the average change, so they are stationary again. The phone shop works the same way: the contracts rise, the changes +4, −2, +4, +4, −1, +4, +1 do not, and their average, +2 a week, is the drift of slide 12. For a season, take the change on the same period last year (December minus last December), as for the clothing example of slide 9. ARIMA-type models difference the series for us (slides 28 and 29); code: qmd Extra B. Ask: is the chocolate shop stationary?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part gives a manager five ideas that work on a calculator: no change, same change, averages, smoothing and regression. They give six forecasts for the same number, new contracts in week 9 of the phone shop, from the 8 weeks we know: naive, drift, the mean, a moving average, exponential smoothing and the trend regression. Each method gets a week-by-week table, so you can follow every step, and one slide shows how a rolling average smooths a series instead of forecasting it. Then we add the season, with the chocolate shop and its Christmas quarter. Keep the results in mind: Part 3 tests which rule would have been best. Bring out your calculator.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forecast is the value we predict for a future period; the horizon is how many periods ahead, here one week. Read the table row by row: naive, or no change, forecasts each week with the week before, so week 2 gets 40 and week 8 gets 53; for week 9 it says 54. The error is actual − forecast, and for naive it is simply the change on last week, the changes of slide 10. Drift, or same change, adds the average of these errors: they add up to 54 − 40, so their average is (54 − 40) / 7 = 2, and week 9 is 54 + 2 = 56 (week 10 would be 58). Naive sounds too simple, but it is hard to beat for prices and anything that wanders like a random walk. Ask the room: which of the two would you trust after a one-off promotion in week 8? The table in Python: qmd Extra 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mean is the average of all past values: 378 / 8 = 47.25. It treats week 1 like week 8, which is fine for a series without trend and poor here. A moving average keeps only the last k weeks; with k = 3 the forecast for week 4 is (40 + 44 + 42) / 3 = 42, and the table moves the window on one week at a time, until week 9: (49 + 53 + 54) / 3 = 52. Look at the error column: every error is positive, on average +4.20, so the moving average is always too low. Averages smooth out noise but lag behind a trend; a small k reacts faster, a large k smooths more. The next slide uses the same averages to smooth the series instead of forecasting it. In Python: shift(1) and rolling_mean(3), qmd Extra 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rolling average averages a window of weeks that moves along the series, one week at a time. To smooth a series, centre the window: week 2 gets the average of weeks 1, 2 and 3, (40 + 44 + 42) / 3 = 42. That looks back and forward, so the smooth line runs through the middle of the data and shows the trend without the noise. To forecast, we may only look back: the same 42 becomes the forecast for week 4 (slide 13). Same numbers, two weeks later: that is why the forecast lags behind a growing shop. In Part 4 a 12-month rolling average shows the trend of clothing sales (slide 26), and STL does a smarter version of the same idea (slide 27). Code: rolling_mean(12, center=True) for the clothing series, Step 5 (slide 39). Ask: why can the smooth line not forecast week 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Simple exponential smoothing keeps one number, the level, and updates it every week: α times the new value plus 1 − α times the old level. Read the table row by row: week 2 is 0.5 × 44 + 0.5 × 40 = 42, and so on, until the level after week 8, 52.25, which is the forecast for week 9. It is a weighted average whose weights shrink by 1 − α per week back: with α 0.5 the last week counts 0.5, the week before 0.25, then 0.125. We start with the first value as the first level (software estimates the start); α 0.2 moves more slowly, with levels 40, 40.80, 41.04, 42.03, 43.63, 44.70, 46.36, 47.89, so it gives 47.89; α 1 is naive (54). The forecast is flat, so it lags behind a trend: Holt adds a trend and Holt-Winters a season (slide 29); statsmodels picks α by minimising the errors (α 0.078 for clothing in Part 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ordinary regression from the statistics session, with time t = 1, 2, … 8 as the only x. By hand: t̄ = 4.5 and ȳ = 47.25; the deviations t − t̄ run from −3.5 to +3.5, their squares add up to 42, and the products (t − t̄)(y − ȳ) add up to 84. So the slope is 84 / 42 = 2 contracts a week, the same as drift here, and the line goes through the middle point: b0 = 38.25; slide 17 shows every step in a table. Week 9 is 56.25, week 10 58.25; R² = 1 − 13.5 / 181.5 = 0.926: the squared residuals add up to 13.5, the squared deviations of the weeks from their mean ȳ to 181.5, so the line explains most of the ups and downs. For seasonal data we add dummies (slide 19); in Python smf.ols("value ~ period", ...), qmd Extra A. Warn early: OLS assumes independent errors, which time series often violate (slide 32).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table is the calculation of slide 16, one week per row. First the means: t̄ = 4.5 and ȳ = 47.25. Then each week's distance from them: week 1 is −3.5 weeks and −7.25 contracts away. Their product is +25.375; the products add up to 84, the squared time distances to 42, so the slope is b1 = 84 / 42 = 2; the intercept is b0 = 47.25 − 2 × 4.5 = 38.25. The fitted value of each week is 38.25 + 2 × t, and the residual is what the line misses: actual − fitted, from −2.25 to +1.75, adding up to 0. Both distance columns add up to 0 too, which is a quick check of your sums. The trend line in Python: qmd Extra A. Ask: which week does the line miss most?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gap of a quarter is its value minus the mean of its year: Q4 of year 1 is 30 − 21.5 = +8.5. The year mean is the year total divided by 4, e.g. 86 / 4 = 21.5. Averaged over the three years, the gaps give the seasonal effect of each quarter: −1.5, −5.5, −2.5, +9.5; the four effects add up to zero. This is a classical additive decomposition by hand (slide 8); qmd Extra A fits the seasonal regression of slide 19. Ask the room: what is the seasonally adjusted value of Q4 in year 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Seasonal naive is to seasonal data what naive is to data without a season: the benchmark (slide 23). It repeats the same quarter of last year: 28, 24, 26, 40. The regression has a trend t = 1 … 12 and three dummies for Q2, Q3 and Q4 (Q1 is the baseline), so Q4 sits 8 above Q1 at the same t; year 4 is t = 13 to 16: 19 + 1 × 13 = 32; 19 + 1 × 14 − 5 = 28; 19 + 1 × 15 − 3 = 31; 19 + 1 × 16 + 8 = 43. Seasonal naive with drift (last year plus the average yearly change) would give 32, 28, 29, 45. The software estimates the coefficients; on the slide you only plug in t and the quarter dummies. In Python smf.ols("value ~ period + C(quarter)", ...), qmd Extra A. Ask the room: which forecast would you order Christmas stock with?</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2 gave us six rules for week 9, and they give six different answers. Which one should the phone shop trust when it orders handsets and plans staff? The only fair judge is the future, and we do not have it yet. So we pretend that part of the past is the future: we hide the last weeks, forecast them and measure how far off each method is. That is all this part does: hold out, measure, compare.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week-9 forecasts from slides 12 to 16, sorted: from 47.25 (mean) to 56.25 (trend regression), 9 contracts apart. A good fit to the past says little about the future, because every method can be tuned to fit the weeks it has seen. The holdout imitates real life: we fit each method on what we knew in week 5, forecast weeks 6–8 and check against the actual 49, 53, 54. A random split, as in the churn session, would let the model see the future (week 7 to forecast week 6), so the test weeks always come last. With the real data in Part 4 we do the same, training period 2009–2016 and holdout 2017–2018 (slide 25); a more thorough test moves the forecast origin forward one period at a time (rolling origin, FPP3 §5.10).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Naive from week 5 forecasts 50 for weeks 6–8. The error is actual minus forecast: −1, +3, +4; we drop the sign before averaging, because −1 and +3 must not cancel (the mean error with its sign, +2.0, is the bias: naive is too low in a rising series). MAE (2.67) is in contracts and easy to explain; RMSE squares first (1, 9, 16, mean 8.67, root 2.94), so one big miss counts more: use it when big misses are expensive, such as stock-outs before Christmas. MAPE (5.0 %) is in per cent and compares series of different size, but breaks down near zero sales (FPP3 §5.8; Hyndman and Koehler, 2006, compare these measures). Slide 30 uses the same measures on real data, and Step 4 (slide 38) computes the MAE in Python in one line. Ask a student for the MAE of drift (forecasts 52.5, 55, 57.5).</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Fitted on weeks 1–5, the six methods forecast weeks 6–8 as follows: trend regression 37.8 + 2.2 × week = 51, 53.2, 55.4; naive 50; drift 52.5, 55, 57.5; exponential smoothing 47; moving average (3) 46; mean 44.4; against the actual 49, 53, 54 this gives the MAE ranking trend regression 1.20, naive 2.67, drift 3.00, exponential smoothing 5.00, moving average (3) 6.00, mean 7.60. With a clear trend the trend line wins and the averages lose, because they lag behind the trend; drift is close to naive here. RMSE (1.41, 2.94, 3.08, 5.45, 6.38, 7.90) and MAPE (2.4, 5.0, 5.8, 9.5, 11.4, 14.5) give the same order. For the chocolate shop, fitted on years 1–2 and tested on year 3, the regression with quarter dummies reaches MAE 0.75, the seasonal naive 4.00, the mean 6.00 and naive 8.00: for seasonal data the seasonal naive is the bar to beat (slide 30 uses it for the real series). Large forecasting competitions such as M4 (Makridakis et al., 2020) also found simple benchmarks hard to beat, but three test weeks are very few: real data next (Part 4; the MAE in Python: Step 4, slide 38).</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4 asks the questions of Parts 1 to 3 again, now on ten years of real monthly sales. The frame is a fashion retailer that plans its stock for 2019 from the market's monthly sales. We look at the series, smooth it with a 12-month rolling average, split it into trend and season, check whether it is stationary, compare the methods on a holdout and forecast 2019 with a band. The last slide of the part asks whether we can trust that band.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series is the monthly turnover of clothing, footwear and personal accessory retailing in all of Australia, published by the ABS every month since April 1982. It is not seasonally adjusted, so the December peak stays in (official statistics often publish both versions), and it is in current prices, not adjusted for inflation. We use ten years, 2009–2018, which end before COVID-19, so the holdout has no structural break. Why Australia: the licence is open and FPP3 uses the same series, so you can compare your results with the textbook. The lowest month is February 2009 (1,259 AUD m), the highest December 2018 (3,352); code: Step 1, slide 35.</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rolling average of 12 months contains every month of the year exactly once, one December, one February, so the season cancels out and the trend is left, as the 3-week rolling average did for the phone shop (slide 14). We centre it: each month gets the average of the 12 months around it, the 6 before, the month itself and the 5 after (polars puts an even window that way). So Jul 2009 holds the average month of 2009, 1,629 AUD m = 19,546 / 12, and Jul 2018 the average month of 2018, 2,090 = 25,077 / 12: +28 %. The first 6 and last 5 months have no value, because the window needs months on both sides. The line is flat to Jun 2011 (1,591), then it grows: the cycle of slide 27. A trailing average (only the past 12 months, the moving average of a forecast) would show the same line about half a year late. STL on the next slide does a smarter version of the same idea: a flexible trend that follows the data, and a season that may change slowly. Code: Step 5, slide 39.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STL is a smarter version of the rolling average of slide 26: it fits the trend with local, flexible averages and takes out the season at the same time. It splits the series as we did by hand for the chocolate shop (slide 18), but lets trend and season change slowly over the years. On a scale from 0 to 1 the strength of the season is 0.99 and of the trend 0.97: both very strong. December alone brings 13.4 per cent of a year's sales, and December 2018 was 47.7 per cent above November. Year totals were flat from 2009 to 2012 (19,546 to 19,780 AUD m) and then grew to 25,077 in 2018: that slow swing is the cycle. The December swing grows with the level, from +890 to +1,257, so the season is multiplicative (slide 8) and we use logs or multiplicative models; code: qmd Extra C.</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ADF stands for the augmented Dickey–Fuller test (Dickey &amp; Fuller, 1979). Its null hypothesis is “the series wanders” (a unit root), so a small p is good news here. Sales and log sales clearly wander (p 0.992 and 0.987). One change on last month or one change on the same month last year already passes at 5 per cent (0.011 and 0.003); both changes of the log together pass clearly. ADF checks wandering, not the season; that is why we take both changes: the change on last month still has the December peak in it, and the row “change on last year” means the change on the same month a year ago. A second test, KPSS, has the opposite null (stationary) and agrees for the double difference (p 0.100, which means 0.10 or more); do not difference more than needed (FPP3 §9.1; code: qmd Extra C).</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Holt-Winters is simple exponential smoothing (slide 15) with two more smoothed parts, trend and season. Fitted on 2009–2016, the multiplicative version has α 0.156, β 0.090 and γ 0.000; γ = 0 means it keeps its first seasonal pattern. ETS(M,A,M), with multiplicative errors, additive trend and multiplicative season, is the state-space version (Hyndman et al., 2008): it is fitted differently and here forecasts better than Holt-Winters. SARIMA's two memory terms are θ −0.525 for last month and Θ −0.713 for last year; its residuals show no autocorrelation left (Ljung–Box at lag 24, p 0.265); it is the classic “airline model” of Box &amp; Jenkins, and its first step is the differencing of slide 28. The full ARIMA family of the original deck (AR, MA, ACF fingerprints) is in FPP3 chapter 9 for those who want more. Code: Steps 6 and 8, slides 40 and 42.</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methods are fitted on 2009–2016 and forecast the 24 months of 2017–2018, 1 to 24 months ahead; the log regression wins on MAE, RMSE and MAPE (54.5, 69.3, 2.5 %), though it was too low in 20 of the 24 months. The plain regression (67.0) beats the seasonal naive (67.2) by only 0.2, a tie, and Holt-Winters (96.6) and SARIMA (94.9) lose to it here: test, do not assume. Naive repeats December 2016 (3,330.5) and drift adds 18.81 a month, so both forecast a Christmas every month (mean errors −1,275.8 and −1,510.9). Not in the chart: the moving averages of 12 and 3 months (226.9, 534.2) and the trend regression and Holt (233.0 both; Holt has α = β = 0.000); Steps 3 to 9 (slides 37 to 43) compute five of them, the December trap included, and in the M4 competition, too, simple benchmarks were hard to beat. Ask the room: why does naive work for the phone shop but fail here?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winner, the log regression, is refitted on all 120 months and forecasts the twelve months of 2019. The band says: in 95 of 100 Decembers like this one, sales should fall between 3,178 and 3,702 AUD m; for stock this is the useful number, so order towards the upper part of the band if a stock-out is expensive. The log model is back-transformed with exp(), which gives the median, not the mean (no bias correction). January to April 2019 are real outcomes the model never saw: MAE 19.0, MAPE 1.0 %. SARIMA forecasts December at 3,509 (band 3,227 to 3,816) and ETS at 3,456, close to the regression. Next slide: can we trust this band (code: Step 10, slide 44)?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Autocorrelation is the correlation of a series, here of the errors, with itself one period earlier; the log regression's errors on the training months run in long waves, 20 months in a row below zero from October 2010 to May 2012 (Ljung–Box p about 2e-50). OLS assumes each month brings independent news, so it treats 96 months as 96 independent pieces of information, and its band has the same width on the log scale 1 and 12 months ahead. SARIMA models the memory and leaves none (residual autocorrelation −0.05, Ljung–Box p 0.265), so its band widens from 209 in January to 589 in December. To be fair: in January the regression band is wider (309), and January to April 2019 fell inside both bands. The same problem fakes significance when two wandering series are regressed on each other (spurious regression, Granger &amp; Newbold, 1974), so check the errors before you trust a regression on time series (qmd Extra D).</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in Positron, with sessions/01-foundations/forecasting.qmd open: run it chunk by chunk. We start with loading and plotting the clothing series and add one new thing per step, ten steps in all: load and look, split, naive and seasonal naive, the MAE, a rolling average, exponential smoothing, the regression, SARIMA, a comparison and the 2019 forecast. Every slide shows the full code of its step, character for character as in the qmd, the part of the output to look at and one sentence on how to read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new to install: polars, numpy, plotnine and statsmodels are the packages of Session 1. polars loads and filters the data, numpy repeats values and computes the MAE in one line, plotnine draws the line chart. statsmodels has two parts: statsmodels.tsa.api, imported as tsa, holds the time-series models (ExponentialSmoothing, SARIMAX), and statsmodels.formula.api, imported as smf, fits the regression with a formula, as in the regression sessions.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polars reads the csv; the qmd sits in sessions/01-foundations, hence the path two folders up. try_parse_dates=True turns the month column into dates, and filter keeps the ten years 2009 to 2018, 120 months. print(df.head()) shows the first five rows; the chart is the one on slide 25: an upward trend and a December peak that grows every year. Look at the plot before you fit anything. Code: forecasting.qmd, Step 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to_numpy() turns the value column into a plain array of numbers, in time order. y[:-24] is every month except the last 24, y[-24:] the last 24: the rows are in time order, so the holdout is the future. 96 months (2009–2016) to fit, 24 months (2017–2018) to test. Never shuffle a time series. Code: forecasting.qmd, Step 2.</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np.repeat(train[-1], 24) repeats the last training month, December 2016 (3,330.5 AUD m), 24 times: the naive forecast of slide 12. np.resize(train[-12:], 24) repeats the last training year, 2016, twice: the seasonal naive, as for the chocolate shop (slide 19). The prints show the first 12 forecasts of each, January to December 2017. Code: forecasting.qmd, Step 3.</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test - snaive gives the 24 errors, actual minus forecast; np.abs drops the signs and np.mean averages them: the MAE of slide 22 in one line. The seasonal naive misses by 67.2 AUD m a month, naive by 1,277.5, because it repeats the December peak for 24 months: the December trap of slide 30. On seasonal data the seasonal naive is the benchmark every other method must beat. Code: forecasting.qmd, Step 4.</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rolling_mean(12, center=True) gives each month the average of the 12 months around it: the 6 before, the month itself and the 5 after. Every month of the year is in the window once, so the season cancels out and the trend is left (slide 26). Jul 2009 holds the average month of 2009, 1,628.8 AUD m, and Jul 2018 the average month of 2018, 2,089.8: +28 %. drop_nulls() leaves out the first 6 and last 5 months, which have no value. The chart is the one on slide 26. Code: forecasting.qmd, Step 5.</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Holt-Winters (slide 29): trend="add" adds a smoothed trend, seasonal="mul" a season that grows with the level, seasonal_periods=12 says the data are monthly, and initialization_method="estimated" lets statsmodels find the starting values. The fitted weights are α 0.156, β 0.090 and γ 0.000 (hw.params). hw.forecast(24) forecasts the holdout, and the MAE is the line of Step 4. MAE 96.6: worse than the seasonal naive (67.2). Code: forecasting.qmd, Step 6.</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with_columns adds two columns: t counts the months 1 to 120 and m is the month of the year. C(m) turns m into 11 dummies with January as the baseline, as for the quarters of the chocolate shop (slide 19). We fit on the first 96 rows, d[:-24], on log sales, because the season grows with the level; np.exp() brings the forecast back to AUD m. MAE 54.5: the first method that beats the seasonal naive. reg.summary() shows the coefficients. Code: forecasting.qmd, Step 7.</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SARIMA on log sales (slides 28 and 29): order=(0, 1, 1) takes the change on last month and one memory term, seasonal_order=(0, 1, 1, 12) the same for the change on last year; disp=0 silences the optimiser. The memory terms are θ −0.525 and Θ −0.713. np.exp() brings the forecast back to AUD m. MAE 94.9: also worse than the seasonal naive on this holdout. Test, do not assume. Code: forecasting.qmd, Step 8.</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small polars table, written out by hand: one column with the names, one with the four MAEs of Steps 4, 6, 7 and 8. The regression wins (54.5), the seasonal naive (67.2) comes second, ahead of SARIMA (94.9) and Holt-Winters (96.6). Slide 30 shows the same ranking with eleven methods. Ask the room: which method would you use for 2019?</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winner is refitted on all 120 months (data=d). new holds the twelve months of 2019, t = 121 to 132 and m = 1 to 12. get_prediction(new).summary_frame() gives the forecast (mean) and the 95 per cent band (obs_ci_lower, obs_ci_upper) on the log scale; np.exp() brings them back to AUD m. December 2019, row 11: 3,430.2, with a band from 3,178.2 to 3,702.2, as on slide 31. Can we trust this band? Slide 32 and Extra D of the qmd. Code: forecasting.qmd, Step 10.</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part hands the methods over to you. First a five-question online quiz on the whole session, then we go through it together. Then you work in pairs on a second real series, café and restaurant sales in Australia, with the code of forecasting.qmd. Finally you repeat the same tasks with Posit Assistant and check its numbers against your own.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Online quiz on Canvas: three minutes alone, then compare with your neighbour. Question 1 goes back to drift on slide 12, question 2 to exponential smoothing on slide 15, question 3 to the error measures on slide 22, question 4 to the December trap on slide 30 and question 5 to the ADF test on slide 28. Ask for a show of hands per option before you move 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answers follow in class.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Work in pairs with the packages for 35 minutes, then five minutes in the plenary, then ten minutes with Posit Assistant (next slide). Open forecasting_exercise.qmd: the setup cell loads the cafés series and the café bookings of task 1 are typed in it; the other cells are empty, and the step numbers point to the code in forecasting.qmd. Task 1 is on paper first, then a check in Python. Fast pairs do the extra task: ETS(M,A,M) with tsa.ETSModel, added to the table of task 3.</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routine of the earlier sessions. Solve the tasks with your own code first and keep the setup cell run, so Posit Assistant sees cafes, df, y, train, test and BOOKINGS. Open the chat, type @forecasting_exercise.qmd and give one task per prompt; the four prompts are also in the Posit section of forecasting_exercise.qmd. Typical slips to watch: a random train/test split, the log forecast not transformed back with np.exp(), the seasonal naive misaligned (it must repeat the last 12 training months), accuracy measured on the training months, and the regression band trusted although its errors are autocorrelated. Stay in Normal mode and read every edit before you accept it.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open sources for your own forecasting project; the links and loading code are in the appendix of forecasting.qmd. The ABS file 8501.0, Table 11, has every state and retail industry; the workbook copy we used is named in data/get_forecasting_data.py. The Eurostat datasets are sts_trtu_m (retail trade) and tour_occ_nim (tourism nights), the codes of the original deck's task 4, useful for a cross-country project in this course: compare the same series across EU markets. M5 is the data of the 2020 M5 competition (Makridakis, Spiliotis &amp; Assimakopoulos 2022): hierarchical store and product sales with prices and calendar events. The licence decides what may go into a public repository.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sentence per takeaway. Plot the series first, smooth it with a rolling average to see the trend, and name what you see: trend, season, cycle and irregular, whether the season is additive or multiplicative, and whether the series is stationary. Start with the simple forecasts you can compute on a calculator. Judge every method on held-out periods with MAE, RMSE and MAPE, never on the months it was fitted on, and keep a method only if it beats the simplest benchmark, the seasonal naive on seasonal data. Report the 95 per cent band with the forecast and check the residuals: autocorrelated errors make the band too narrow. Next: run the ten steps of forecasting.qmd, the code ladder of slides 35 to 44, chunk by chunk; the extras A to D after them repeat a few theory slides in Python.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free textbook by Hyndman and Athanasopoulos: chapter 3 on time series decomposition, chapter 5 on the simple benchmark methods and forecast accuracy, chapter 8 on exponential smoothing and chapter 9 on ARIMA models; a Python edition is online too. Box, Jenkins, Reinsel and Ljung is the classic reference for ARIMA, Cleveland et al. for the STL decomposition on slide 27, and Hyndman and Koehler for the error measures on slide 22. The M-competitions are the evidence behind “beat the simplest benchmark first”: in the M4 competition simple benchmarks were hard to beat and combinations of methods did well; M5 is the Walmart data of slide 50.</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Questions? Contact details on the card; office hours via the booking link.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 Id="rId3" Type="http://schemas.openxmlformats.org/officeDocument/2006/relationships/image" Target="../media/image1.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 Id="rId3" Type="http://schemas.openxmlformats.org/officeDocument/2006/relationships/image" Target="../media/image1.png"/><Relationship Id="rId4"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1.png"/><Relationship Id="rId4" Type="http://schemas.openxmlformats.org/officeDocument/2006/relationships/image" Target="../media/image4.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20" Type="http://schemas.openxmlformats.org/officeDocument/2006/relationships/hyperlink" Target="mailto:arne.floh@wu.ac.at" TargetMode="External"/><Relationship Id="rId21" Type="http://schemas.openxmlformats.org/officeDocument/2006/relationships/hyperlink" Target="https://calendar.app.google/o4FuKoF1YcarRfnC8" TargetMode="External"/><Relationship Id="rId22" Type="http://schemas.openxmlformats.org/officeDocument/2006/relationships/hyperlink" Target="https://www.wu.ac.at/en/welthandel/arne-floh/" TargetMode="Externa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elfoli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baseline="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folie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4" name="Gruppieren 23"/>
          <p:cNvGrpSpPr/>
          <p:nvPr userDrawn="1"/>
        </p:nvGrpSpPr>
        <p:grpSpPr>
          <a:xfrm>
            <a:off x="287338" y="603319"/>
            <a:ext cx="8552850" cy="1731679"/>
            <a:chOff x="287338" y="603319"/>
            <a:chExt cx="8552850" cy="2037600"/>
          </a:xfrm>
        </p:grpSpPr>
        <p:sp>
          <p:nvSpPr>
            <p:cNvPr id="26" name="Rechteck 25"/>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7" name="Rechteck 26"/>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8" y="1294973"/>
            <a:ext cx="5466982"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8" y="993080"/>
            <a:ext cx="5466982"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6"/>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9" name="Grafik 18">
            <a:extLst>
              <a:ext uri="{FF2B5EF4-FFF2-40B4-BE49-F238E27FC236}">
                <a16:creationId xmlns:a16="http://schemas.microsoft.com/office/drawing/2014/main" id="{BE16B78E-14FB-4C1E-8625-0D5A429E49F4}"/>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1" name="Grafik 10">
            <a:extLst>
              <a:ext uri="{FF2B5EF4-FFF2-40B4-BE49-F238E27FC236}">
                <a16:creationId xmlns:a16="http://schemas.microsoft.com/office/drawing/2014/main" id="{E9B62297-FBCA-40E7-A876-7818F7A81C7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el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lvl="0"/>
            <a:r>
              <a:rPr lang="en-GB" dirty="0" err="1"/>
              <a:t>Textmasterformat</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p:spTree>
      <p:nvGrpSpPr>
        <p:cNvPr id="1" name=""/>
        <p:cNvGrpSpPr/>
        <p:nvPr/>
      </p:nvGrpSpPr>
      <p:grpSpPr>
        <a:xfrm>
          <a:off x="0" y="0"/>
          <a:ext cx="0" cy="0"/>
          <a:chOff x="0" y="0"/>
          <a:chExt cx="0" cy="0"/>
        </a:xfrm>
      </p:grpSpPr>
      <p:grpSp>
        <p:nvGrpSpPr>
          <p:cNvPr id="12" name="Gruppieren 11"/>
          <p:cNvGrpSpPr/>
          <p:nvPr userDrawn="1"/>
        </p:nvGrpSpPr>
        <p:grpSpPr>
          <a:xfrm>
            <a:off x="287338" y="603319"/>
            <a:ext cx="8552850" cy="2037600"/>
            <a:chOff x="287338" y="603319"/>
            <a:chExt cx="8552850" cy="2037600"/>
          </a:xfrm>
        </p:grpSpPr>
        <p:sp>
          <p:nvSpPr>
            <p:cNvPr id="16" name="Rechteck 15"/>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0"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5"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1" name="Grafik 20">
            <a:extLst>
              <a:ext uri="{FF2B5EF4-FFF2-40B4-BE49-F238E27FC236}">
                <a16:creationId xmlns:a16="http://schemas.microsoft.com/office/drawing/2014/main" id="{BA9844F5-FA66-4582-86D9-5CEB57D81516}"/>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B702B7F6-CDD2-4C6E-BBC1-61A114A8A82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54679611"/>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elfolie ohne Bild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4"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1" name="Grafik 20">
            <a:extLst>
              <a:ext uri="{FF2B5EF4-FFF2-40B4-BE49-F238E27FC236}">
                <a16:creationId xmlns:a16="http://schemas.microsoft.com/office/drawing/2014/main" id="{A463F4F5-A20D-4A70-B3F9-6AD8A3EE255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AB68F06-4800-4D63-9DF2-372B23A8EC2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617341" y="5129960"/>
            <a:ext cx="1831485" cy="317581"/>
          </a:xfrm>
          <a:prstGeom prst="rect">
            <a:avLst/>
          </a:prstGeom>
        </p:spPr>
      </p:pic>
    </p:spTree>
    <p:extLst>
      <p:ext uri="{BB962C8B-B14F-4D97-AF65-F5344CB8AC3E}">
        <p14:creationId xmlns:p14="http://schemas.microsoft.com/office/powerpoint/2010/main" val="191926800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Titelfolie Bild 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2" name="Rechteck 11"/>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3" name="Rechteck 12"/>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6"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7"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2" name="Grafik 21">
            <a:extLst>
              <a:ext uri="{FF2B5EF4-FFF2-40B4-BE49-F238E27FC236}">
                <a16:creationId xmlns:a16="http://schemas.microsoft.com/office/drawing/2014/main" id="{330D039B-1A60-42B3-A3E1-B44D86C63C0C}"/>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8" name="Grafik 17">
            <a:extLst>
              <a:ext uri="{FF2B5EF4-FFF2-40B4-BE49-F238E27FC236}">
                <a16:creationId xmlns:a16="http://schemas.microsoft.com/office/drawing/2014/main" id="{25D9B1B1-5069-4351-A01A-8CD09728414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3042078111"/>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elfolie Bild 2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9" name="Gruppieren 18"/>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tx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24" name="Grafik 23">
            <a:extLst>
              <a:ext uri="{FF2B5EF4-FFF2-40B4-BE49-F238E27FC236}">
                <a16:creationId xmlns:a16="http://schemas.microsoft.com/office/drawing/2014/main" id="{ABF9D4AB-1FA6-4101-9EE8-B852A65B2A1E}"/>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4" name="Grafik 13">
            <a:extLst>
              <a:ext uri="{FF2B5EF4-FFF2-40B4-BE49-F238E27FC236}">
                <a16:creationId xmlns:a16="http://schemas.microsoft.com/office/drawing/2014/main" id="{DDF8959B-5028-481F-A01F-8628D9F2E0D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0"/>
          </a:xfrm>
          <a:prstGeom prst="rect">
            <a:avLst/>
          </a:prstGeom>
        </p:spPr>
      </p:pic>
    </p:spTree>
    <p:extLst>
      <p:ext uri="{BB962C8B-B14F-4D97-AF65-F5344CB8AC3E}">
        <p14:creationId xmlns:p14="http://schemas.microsoft.com/office/powerpoint/2010/main" val="144166685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elfolie Bild 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9" name="Rechteck 18"/>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1" name="Rechteck 20"/>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0" name="Textplatzhalter 9"/>
          <p:cNvSpPr>
            <a:spLocks noGrp="1"/>
          </p:cNvSpPr>
          <p:nvPr>
            <p:ph type="body" sz="quarter" idx="11" hasCustomPrompt="1"/>
          </p:nvPr>
        </p:nvSpPr>
        <p:spPr bwMode="white">
          <a:xfrm>
            <a:off x="287338" y="2941638"/>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4"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sp>
        <p:nvSpPr>
          <p:cNvPr id="12"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13" name="Untertitel 2"/>
          <p:cNvSpPr>
            <a:spLocks noGrp="1"/>
          </p:cNvSpPr>
          <p:nvPr>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pic>
        <p:nvPicPr>
          <p:cNvPr id="23" name="Grafik 22">
            <a:extLst>
              <a:ext uri="{FF2B5EF4-FFF2-40B4-BE49-F238E27FC236}">
                <a16:creationId xmlns:a16="http://schemas.microsoft.com/office/drawing/2014/main" id="{904218C8-068C-46BC-ADE6-6BC8A468BF77}"/>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D487AD36-3E46-4F41-8B5C-B79909802DD4}"/>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418831637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elfolie Bild 3 kurz">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8" name="Gruppieren 17"/>
          <p:cNvGrpSpPr/>
          <p:nvPr userDrawn="1"/>
        </p:nvGrpSpPr>
        <p:grpSpPr>
          <a:xfrm>
            <a:off x="287338" y="603319"/>
            <a:ext cx="8552850" cy="1731679"/>
            <a:chOff x="287338" y="603319"/>
            <a:chExt cx="8552850" cy="2037600"/>
          </a:xfrm>
        </p:grpSpPr>
        <p:sp>
          <p:nvSpPr>
            <p:cNvPr id="21" name="Rechteck 20"/>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2" name="Rechteck 21"/>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294973"/>
            <a:ext cx="5436000" cy="516714"/>
          </a:xfrm>
          <a:prstGeom prst="rect">
            <a:avLst/>
          </a:prstGeom>
        </p:spPr>
        <p:txBody>
          <a:bodyPr tIns="0" anchor="b"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1 line for header</a:t>
            </a:r>
          </a:p>
        </p:txBody>
      </p:sp>
      <p:sp>
        <p:nvSpPr>
          <p:cNvPr id="3" name="Untertitel 2"/>
          <p:cNvSpPr>
            <a:spLocks noGrp="1"/>
          </p:cNvSpPr>
          <p:nvPr>
            <p:ph type="subTitle" idx="1" hasCustomPrompt="1"/>
          </p:nvPr>
        </p:nvSpPr>
        <p:spPr bwMode="black">
          <a:xfrm>
            <a:off x="605407" y="993080"/>
            <a:ext cx="5436000" cy="304511"/>
          </a:xfrm>
        </p:spPr>
        <p:txBody>
          <a:bodyPr tIns="0" bIns="0">
            <a:noAutofit/>
          </a:bodyPr>
          <a:lstStyle>
            <a:lvl1pPr marL="0" indent="0" algn="l">
              <a:lnSpc>
                <a:spcPct val="100000"/>
              </a:lnSpc>
              <a:buNone/>
              <a:defRPr sz="1800" b="1" i="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6" name="Textplatzhalter 9"/>
          <p:cNvSpPr>
            <a:spLocks noGrp="1"/>
          </p:cNvSpPr>
          <p:nvPr>
            <p:ph type="body" sz="quarter" idx="11" hasCustomPrompt="1"/>
          </p:nvPr>
        </p:nvSpPr>
        <p:spPr bwMode="white">
          <a:xfrm>
            <a:off x="287338" y="2642907"/>
            <a:ext cx="4284662" cy="805551"/>
          </a:xfrm>
          <a:solidFill>
            <a:schemeClr val="bg1">
              <a:alpha val="90000"/>
            </a:schemeClr>
          </a:solidFill>
        </p:spPr>
        <p:txBody>
          <a:bodyPr wrap="square" lIns="324000" tIns="216000" rIns="324000" bIns="216000" rtlCol="0" anchor="t" anchorCtr="0">
            <a:spAutoFit/>
          </a:bodyPr>
          <a:lstStyle>
            <a:lvl1pPr marL="0" indent="0">
              <a:buNone/>
              <a:defRPr lang="de-DE" sz="1200" dirty="0" smtClean="0"/>
            </a:lvl1pPr>
          </a:lstStyle>
          <a:p>
            <a:r>
              <a:rPr lang="en-GB" dirty="0"/>
              <a:t>Information about presentation (author, version No. etc.)</a:t>
            </a:r>
          </a:p>
        </p:txBody>
      </p:sp>
      <p:sp>
        <p:nvSpPr>
          <p:cNvPr id="12" name="Textplatzhalter 7"/>
          <p:cNvSpPr>
            <a:spLocks noGrp="1"/>
          </p:cNvSpPr>
          <p:nvPr>
            <p:ph type="body" sz="quarter" idx="12" hasCustomPrompt="1"/>
          </p:nvPr>
        </p:nvSpPr>
        <p:spPr>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7" name="Grafik 16">
            <a:extLst>
              <a:ext uri="{FF2B5EF4-FFF2-40B4-BE49-F238E27FC236}">
                <a16:creationId xmlns:a16="http://schemas.microsoft.com/office/drawing/2014/main" id="{63D0D44A-5625-4C70-A2EB-08D982355B99}"/>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3" name="Grafik 12">
            <a:extLst>
              <a:ext uri="{FF2B5EF4-FFF2-40B4-BE49-F238E27FC236}">
                <a16:creationId xmlns:a16="http://schemas.microsoft.com/office/drawing/2014/main" id="{D91D1A92-B997-47B5-A14A-E2A501C20D08}"/>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383958111"/>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Kapitelfolie">
    <p:spTree>
      <p:nvGrpSpPr>
        <p:cNvPr id="1" name=""/>
        <p:cNvGrpSpPr/>
        <p:nvPr/>
      </p:nvGrpSpPr>
      <p:grpSpPr>
        <a:xfrm>
          <a:off x="0" y="0"/>
          <a:ext cx="0" cy="0"/>
          <a:chOff x="0" y="0"/>
          <a:chExt cx="0" cy="0"/>
        </a:xfrm>
      </p:grpSpPr>
      <p:grpSp>
        <p:nvGrpSpPr>
          <p:cNvPr id="21" name="Gruppieren 20"/>
          <p:cNvGrpSpPr/>
          <p:nvPr userDrawn="1"/>
        </p:nvGrpSpPr>
        <p:grpSpPr>
          <a:xfrm>
            <a:off x="287338" y="603319"/>
            <a:ext cx="8552850" cy="2037600"/>
            <a:chOff x="287338" y="603319"/>
            <a:chExt cx="8552850" cy="2037600"/>
          </a:xfrm>
        </p:grpSpPr>
        <p:sp>
          <p:nvSpPr>
            <p:cNvPr id="22" name="Rechteck 21"/>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23" name="Rechteck 22"/>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14" name="Textplatzhalter 9"/>
          <p:cNvSpPr>
            <a:spLocks noGrp="1"/>
          </p:cNvSpPr>
          <p:nvPr>
            <p:ph type="body" sz="quarter" idx="11" hasCustomPrompt="1"/>
          </p:nvPr>
        </p:nvSpPr>
        <p:spPr bwMode="white">
          <a:xfrm>
            <a:off x="287338" y="2941638"/>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13" name="Titel 1"/>
          <p:cNvSpPr>
            <a:spLocks noGrp="1"/>
          </p:cNvSpPr>
          <p:nvPr>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Max. 2 lines of text for chapter header</a:t>
            </a:r>
          </a:p>
        </p:txBody>
      </p:sp>
      <p:sp>
        <p:nvSpPr>
          <p:cNvPr id="2" name="Datumsplatzhalter 1"/>
          <p:cNvSpPr>
            <a:spLocks noGrp="1"/>
          </p:cNvSpPr>
          <p:nvPr>
            <p:ph type="dt" sz="half" idx="13"/>
          </p:nvPr>
        </p:nvSpPr>
        <p:spPr/>
        <p:txBody>
          <a:bodyPr/>
          <a:lstStyle/>
          <a:p>
            <a:fld id="{529FDC53-5973-45F2-8F83-ED68F7A58508}" type="datetime1">
              <a:rPr lang="en-GB" smtClean="0"/>
              <a:t>25/08/2023</a:t>
            </a:fld>
            <a:endParaRPr lang="en-GB" dirty="0"/>
          </a:p>
        </p:txBody>
      </p:sp>
      <p:sp>
        <p:nvSpPr>
          <p:cNvPr id="3" name="Fußzeilenplatzhalter 2"/>
          <p:cNvSpPr>
            <a:spLocks noGrp="1"/>
          </p:cNvSpPr>
          <p:nvPr>
            <p:ph type="ftr" sz="quarter" idx="14"/>
          </p:nvPr>
        </p:nvSpPr>
        <p:spPr/>
        <p:txBody>
          <a:bodyPr/>
          <a:lstStyle/>
          <a:p>
            <a:r>
              <a:rPr lang="en-GB" dirty="0"/>
              <a:t>Sample Footer</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pic>
        <p:nvPicPr>
          <p:cNvPr id="18" name="Grafik 17">
            <a:extLst>
              <a:ext uri="{FF2B5EF4-FFF2-40B4-BE49-F238E27FC236}">
                <a16:creationId xmlns:a16="http://schemas.microsoft.com/office/drawing/2014/main" id="{89CCD104-DEA0-4048-8CA3-CAB740FC066E}"/>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72F980AF-DDD0-4966-B1E7-E1B87083C7C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3772976733"/>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Kapitelfolie kurz">
    <p:spTree>
      <p:nvGrpSpPr>
        <p:cNvPr id="1" name=""/>
        <p:cNvGrpSpPr/>
        <p:nvPr/>
      </p:nvGrpSpPr>
      <p:grpSpPr>
        <a:xfrm>
          <a:off x="0" y="0"/>
          <a:ext cx="0" cy="0"/>
          <a:chOff x="0" y="0"/>
          <a:chExt cx="0" cy="0"/>
        </a:xfrm>
      </p:grpSpPr>
      <p:grpSp>
        <p:nvGrpSpPr>
          <p:cNvPr id="13" name="Gruppieren 12"/>
          <p:cNvGrpSpPr/>
          <p:nvPr userDrawn="1"/>
        </p:nvGrpSpPr>
        <p:grpSpPr>
          <a:xfrm>
            <a:off x="287338" y="603319"/>
            <a:ext cx="8552850" cy="1731679"/>
            <a:chOff x="287338" y="603319"/>
            <a:chExt cx="8552850" cy="2037600"/>
          </a:xfrm>
        </p:grpSpPr>
        <p:sp>
          <p:nvSpPr>
            <p:cNvPr id="15" name="Rechteck 14"/>
            <p:cNvSpPr/>
            <p:nvPr userDrawn="1"/>
          </p:nvSpPr>
          <p:spPr>
            <a:xfrm>
              <a:off x="6192000" y="603319"/>
              <a:ext cx="2648188" cy="2037600"/>
            </a:xfrm>
            <a:prstGeom prst="rect">
              <a:avLst/>
            </a:prstGeom>
            <a:solidFill>
              <a:schemeClr val="bg1"/>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7" name="Rechteck 16"/>
            <p:cNvSpPr/>
            <p:nvPr userDrawn="1"/>
          </p:nvSpPr>
          <p:spPr bwMode="blackWhite">
            <a:xfrm>
              <a:off x="287338" y="603319"/>
              <a:ext cx="5904662" cy="2037600"/>
            </a:xfrm>
            <a:prstGeom prst="rect">
              <a:avLst/>
            </a:prstGeom>
            <a:solidFill>
              <a:srgbClr val="0096D3"/>
            </a:solidFill>
            <a:ln>
              <a:solidFill>
                <a:schemeClr val="accent1"/>
              </a:solid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p:ph type="ctrTitle" hasCustomPrompt="1"/>
          </p:nvPr>
        </p:nvSpPr>
        <p:spPr bwMode="black">
          <a:xfrm>
            <a:off x="605407" y="1302593"/>
            <a:ext cx="5436000" cy="516714"/>
          </a:xfrm>
          <a:prstGeom prst="rect">
            <a:avLst/>
          </a:prstGeom>
        </p:spPr>
        <p:txBody>
          <a:bodyPr tIns="0" anchor="b" anchorCtr="0">
            <a:noAutofit/>
          </a:bodyPr>
          <a:lstStyle>
            <a:lvl1pPr algn="l">
              <a:lnSpc>
                <a:spcPct val="100000"/>
              </a:lnSpc>
              <a:defRPr sz="2800" b="1" i="0" baseline="0">
                <a:solidFill>
                  <a:schemeClr val="bg1"/>
                </a:solidFill>
                <a:latin typeface="Georgia" charset="0"/>
                <a:ea typeface="Georgia" charset="0"/>
                <a:cs typeface="Georgia" charset="0"/>
              </a:defRPr>
            </a:lvl1pPr>
          </a:lstStyle>
          <a:p>
            <a:r>
              <a:rPr lang="en-GB" dirty="0"/>
              <a:t>1 line for chapter header</a:t>
            </a:r>
          </a:p>
        </p:txBody>
      </p:sp>
      <p:sp>
        <p:nvSpPr>
          <p:cNvPr id="14" name="Textplatzhalter 9"/>
          <p:cNvSpPr>
            <a:spLocks noGrp="1"/>
          </p:cNvSpPr>
          <p:nvPr>
            <p:ph type="body" sz="quarter" idx="11" hasCustomPrompt="1"/>
          </p:nvPr>
        </p:nvSpPr>
        <p:spPr bwMode="white">
          <a:xfrm>
            <a:off x="287338" y="2642907"/>
            <a:ext cx="4284662" cy="620885"/>
          </a:xfrm>
          <a:solidFill>
            <a:schemeClr val="bg1">
              <a:alpha val="90000"/>
            </a:schemeClr>
          </a:solidFill>
        </p:spPr>
        <p:txBody>
          <a:bodyPr wrap="square" lIns="324000" tIns="216000" rIns="324000" bIns="216000" rtlCol="0" anchor="t" anchorCtr="0">
            <a:spAutoFit/>
          </a:bodyPr>
          <a:lstStyle>
            <a:lvl1pPr marL="0" indent="0" defTabSz="914400">
              <a:buNone/>
              <a:defRPr lang="de-DE" sz="1200" dirty="0" smtClean="0"/>
            </a:lvl1pPr>
          </a:lstStyle>
          <a:p>
            <a:pPr marL="0" lvl="0" defTabSz="914400"/>
            <a:r>
              <a:rPr lang="en-GB" dirty="0"/>
              <a:t>Subtitle chapter</a:t>
            </a:r>
          </a:p>
        </p:txBody>
      </p:sp>
      <p:sp>
        <p:nvSpPr>
          <p:cNvPr id="4" name="Date Placeholder 3"/>
          <p:cNvSpPr>
            <a:spLocks noGrp="1"/>
          </p:cNvSpPr>
          <p:nvPr>
            <p:ph type="dt" sz="half" idx="12"/>
          </p:nvPr>
        </p:nvSpPr>
        <p:spPr/>
        <p:txBody>
          <a:bodyPr/>
          <a:lstStyle/>
          <a:p>
            <a:fld id="{24570F99-0B5D-40DA-A3D3-DDF1CB693FD8}" type="datetime1">
              <a:rPr lang="en-GB" smtClean="0"/>
              <a:t>25/08/2023</a:t>
            </a:fld>
            <a:endParaRPr lang="en-GB" dirty="0"/>
          </a:p>
        </p:txBody>
      </p:sp>
      <p:sp>
        <p:nvSpPr>
          <p:cNvPr id="5" name="Footer Placeholder 4"/>
          <p:cNvSpPr>
            <a:spLocks noGrp="1"/>
          </p:cNvSpPr>
          <p:nvPr>
            <p:ph type="ftr" sz="quarter" idx="13"/>
          </p:nvPr>
        </p:nvSpPr>
        <p:spPr/>
        <p:txBody>
          <a:bodyPr/>
          <a:lstStyle/>
          <a:p>
            <a:r>
              <a:rPr lang="en-GB" dirty="0"/>
              <a:t>Sample Footer</a:t>
            </a:r>
          </a:p>
        </p:txBody>
      </p:sp>
      <p:sp>
        <p:nvSpPr>
          <p:cNvPr id="6" name="Slide Number Placeholder 5"/>
          <p:cNvSpPr>
            <a:spLocks noGrp="1"/>
          </p:cNvSpPr>
          <p:nvPr>
            <p:ph type="sldNum" sz="quarter" idx="14"/>
          </p:nvPr>
        </p:nvSpPr>
        <p:spPr/>
        <p:txBody>
          <a:bodyPr/>
          <a:lstStyle/>
          <a:p>
            <a:r>
              <a:rPr lang="en-GB" dirty="0"/>
              <a:t>Page </a:t>
            </a:r>
            <a:fld id="{BE3DC40E-DBBE-4E2D-9EEC-FBF0DA0E9179}" type="slidenum">
              <a:rPr lang="en-GB" smtClean="0"/>
              <a:pPr/>
              <a:t>‹Nr.›</a:t>
            </a:fld>
            <a:endParaRPr lang="en-GB" dirty="0"/>
          </a:p>
        </p:txBody>
      </p:sp>
      <p:pic>
        <p:nvPicPr>
          <p:cNvPr id="21" name="Grafik 20">
            <a:extLst>
              <a:ext uri="{FF2B5EF4-FFF2-40B4-BE49-F238E27FC236}">
                <a16:creationId xmlns:a16="http://schemas.microsoft.com/office/drawing/2014/main" id="{416AA66B-0354-461B-A799-CF3EFFC17D87}"/>
              </a:ext>
            </a:extLst>
          </p:cNvPr>
          <p:cNvPicPr>
            <a:picLocks noChangeAspect="1"/>
          </p:cNvPicPr>
          <p:nvPr userDrawn="1"/>
        </p:nvPicPr>
        <p:blipFill>
          <a:blip r:embed="rId2"/>
          <a:stretch>
            <a:fillRect/>
          </a:stretch>
        </p:blipFill>
        <p:spPr>
          <a:xfrm>
            <a:off x="6579375" y="1065910"/>
            <a:ext cx="1849165" cy="975600"/>
          </a:xfrm>
          <a:prstGeom prst="rect">
            <a:avLst/>
          </a:prstGeom>
        </p:spPr>
      </p:pic>
      <p:pic>
        <p:nvPicPr>
          <p:cNvPr id="12" name="Grafik 11">
            <a:extLst>
              <a:ext uri="{FF2B5EF4-FFF2-40B4-BE49-F238E27FC236}">
                <a16:creationId xmlns:a16="http://schemas.microsoft.com/office/drawing/2014/main" id="{D0ECE620-FB2B-4217-AA10-439373F15D4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extLst>
      <p:ext uri="{BB962C8B-B14F-4D97-AF65-F5344CB8AC3E}">
        <p14:creationId xmlns:p14="http://schemas.microsoft.com/office/powerpoint/2010/main" val="416409461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Nur Titel">
    <p:spTree>
      <p:nvGrpSpPr>
        <p:cNvPr id="1" name=""/>
        <p:cNvGrpSpPr/>
        <p:nvPr/>
      </p:nvGrpSpPr>
      <p:grpSpPr>
        <a:xfrm>
          <a:off x="0" y="0"/>
          <a:ext cx="0" cy="0"/>
          <a:chOff x="0" y="0"/>
          <a:chExt cx="0" cy="0"/>
        </a:xfrm>
      </p:grpSpPr>
      <p:sp>
        <p:nvSpPr>
          <p:cNvPr id="7" name="Inhaltsplatzhalter 6"/>
          <p:cNvSpPr>
            <a:spLocks noGrp="1"/>
          </p:cNvSpPr>
          <p:nvPr>
            <p:ph sz="quarter" idx="10" hasCustomPrompt="1"/>
          </p:nvPr>
        </p:nvSpPr>
        <p:spPr>
          <a:xfrm>
            <a:off x="468316" y="1344613"/>
            <a:ext cx="8210547" cy="4370387"/>
          </a:xfrm>
        </p:spPr>
        <p:txBody>
          <a:bodyPr/>
          <a:lstStyle>
            <a:lvl1pPr>
              <a:buNone/>
              <a:defRPr/>
            </a:lvl1pPr>
          </a:lstStyle>
          <a:p>
            <a:pPr lvl="0"/>
            <a:r>
              <a:rPr lang="en-GB" dirty="0"/>
              <a:t>Placeholder for objects</a:t>
            </a:r>
          </a:p>
        </p:txBody>
      </p:sp>
      <p:sp>
        <p:nvSpPr>
          <p:cNvPr id="8" name="Rechteck 7"/>
          <p:cNvSpPr/>
          <p:nvPr userDrawn="1"/>
        </p:nvSpPr>
        <p:spPr bwMode="gray">
          <a:xfrm>
            <a:off x="0" y="1043522"/>
            <a:ext cx="9144000" cy="25200"/>
          </a:xfrm>
          <a:prstGeom prst="rect">
            <a:avLst/>
          </a:prstGeom>
          <a:solidFill>
            <a:srgbClr val="0C94B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2" name="Titel 1"/>
          <p:cNvSpPr>
            <a:spLocks noGrp="1"/>
          </p:cNvSpPr>
          <p:nvPr>
            <p:ph type="title"/>
          </p:nvPr>
        </p:nvSpPr>
        <p:spPr/>
        <p:txBody>
          <a:bodyPr/>
          <a:lstStyle/>
          <a:p>
            <a:r>
              <a:rPr lang="de-DE"/>
              <a:t>Mastertitelformat bearbeiten</a:t>
            </a:r>
            <a:endParaRPr lang="en-GB" dirty="0"/>
          </a:p>
        </p:txBody>
      </p:sp>
      <p:pic>
        <p:nvPicPr>
          <p:cNvPr id="9" name="Grafik 8">
            <a:extLst>
              <a:ext uri="{FF2B5EF4-FFF2-40B4-BE49-F238E27FC236}">
                <a16:creationId xmlns:a16="http://schemas.microsoft.com/office/drawing/2014/main" id="{293310F7-117D-4045-8610-3277CC5ED29B}"/>
              </a:ext>
            </a:extLst>
          </p:cNvPr>
          <p:cNvPicPr>
            <a:picLocks noChangeAspect="1"/>
          </p:cNvPicPr>
          <p:nvPr userDrawn="1"/>
        </p:nvPicPr>
        <p:blipFill>
          <a:blip r:embed="rId2"/>
          <a:stretch>
            <a:fillRect/>
          </a:stretch>
        </p:blipFill>
        <p:spPr>
          <a:xfrm>
            <a:off x="7711621" y="288569"/>
            <a:ext cx="1170000" cy="617280"/>
          </a:xfrm>
          <a:prstGeom prst="rect">
            <a:avLst/>
          </a:prstGeom>
        </p:spPr>
      </p:pic>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344613"/>
            <a:ext cx="3960000" cy="3859212"/>
          </a:xfrm>
        </p:spPr>
        <p:txBody>
          <a:bodyPr>
            <a:normAutofit/>
          </a:bodyPr>
          <a:lstStyle>
            <a:lvl1pPr>
              <a:buClr>
                <a:schemeClr val="accent1"/>
              </a:buClr>
              <a:defRPr sz="1600"/>
            </a:lvl1pPr>
            <a:lvl2pPr marL="541312" indent="-285750">
              <a:buClr>
                <a:schemeClr val="accent1"/>
              </a:buClr>
              <a:buFont typeface="Wingdings" charset="2"/>
              <a:buChar char="§"/>
              <a:defRPr sz="1500"/>
            </a:lvl2pPr>
            <a:lvl3pPr>
              <a:defRPr sz="1400"/>
            </a:lvl3pPr>
            <a:lvl4pPr>
              <a:buClr>
                <a:schemeClr val="accent1"/>
              </a:buClr>
              <a:defRPr sz="1200"/>
            </a:lvl4pPr>
            <a:lvl5pPr>
              <a:buClr>
                <a:schemeClr val="accent1"/>
              </a:buCl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Zwei Inhalte Vergleich">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Inhaltsplatzhalter 3"/>
          <p:cNvSpPr>
            <a:spLocks noGrp="1"/>
          </p:cNvSpPr>
          <p:nvPr>
            <p:ph sz="half" idx="2" hasCustomPrompt="1"/>
          </p:nvPr>
        </p:nvSpPr>
        <p:spPr>
          <a:xfrm>
            <a:off x="4715688" y="1935991"/>
            <a:ext cx="3960000" cy="3267834"/>
          </a:xfrm>
        </p:spPr>
        <p:txBody>
          <a:bodyPr>
            <a:normAutofit/>
          </a:bodyPr>
          <a:lstStyle>
            <a:lvl1pPr>
              <a:defRPr sz="1600"/>
            </a:lvl1pPr>
            <a:lvl2pPr>
              <a:defRPr sz="1500"/>
            </a:lvl2pPr>
            <a:lvl3pPr>
              <a:defRPr sz="1200"/>
            </a:lvl3pPr>
            <a:lvl4pPr>
              <a:defRPr sz="1100"/>
            </a:lvl4pPr>
            <a:lvl5pPr>
              <a:defRPr sz="11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8" name="Textplatzhalter 2"/>
          <p:cNvSpPr>
            <a:spLocks noGrp="1"/>
          </p:cNvSpPr>
          <p:nvPr>
            <p:ph type="body" idx="13" hasCustomPrompt="1"/>
          </p:nvPr>
        </p:nvSpPr>
        <p:spPr bwMode="gray">
          <a:xfrm>
            <a:off x="46831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1</a:t>
            </a:r>
          </a:p>
        </p:txBody>
      </p:sp>
      <p:sp>
        <p:nvSpPr>
          <p:cNvPr id="5" name="Datumsplatzhalter 4"/>
          <p:cNvSpPr>
            <a:spLocks noGrp="1"/>
          </p:cNvSpPr>
          <p:nvPr>
            <p:ph type="dt" sz="half" idx="14"/>
          </p:nvPr>
        </p:nvSpPr>
        <p:spPr/>
        <p:txBody>
          <a:bodyPr/>
          <a:lstStyle/>
          <a:p>
            <a:fld id="{9E16A0E8-29DE-4D75-BF66-2C047D439D41}" type="datetime1">
              <a:rPr lang="en-GB" smtClean="0"/>
              <a:t>25/08/2023</a:t>
            </a:fld>
            <a:endParaRPr lang="en-GB" dirty="0"/>
          </a:p>
        </p:txBody>
      </p:sp>
      <p:sp>
        <p:nvSpPr>
          <p:cNvPr id="11" name="Fußzeilenplatzhalter 10"/>
          <p:cNvSpPr>
            <a:spLocks noGrp="1"/>
          </p:cNvSpPr>
          <p:nvPr>
            <p:ph type="ftr" sz="quarter" idx="15"/>
          </p:nvPr>
        </p:nvSpPr>
        <p:spPr/>
        <p:txBody>
          <a:bodyPr/>
          <a:lstStyle/>
          <a:p>
            <a:r>
              <a:rPr lang="en-GB" dirty="0"/>
              <a:t>Sample Footer</a:t>
            </a:r>
          </a:p>
        </p:txBody>
      </p:sp>
      <p:sp>
        <p:nvSpPr>
          <p:cNvPr id="12" name="Foliennummernplatzhalter 11"/>
          <p:cNvSpPr>
            <a:spLocks noGrp="1"/>
          </p:cNvSpPr>
          <p:nvPr>
            <p:ph type="sldNum" sz="quarter" idx="16"/>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
        <p:nvSpPr>
          <p:cNvPr id="14" name="Textplatzhalter 2"/>
          <p:cNvSpPr>
            <a:spLocks noGrp="1"/>
          </p:cNvSpPr>
          <p:nvPr>
            <p:ph type="body" idx="17" hasCustomPrompt="1"/>
          </p:nvPr>
        </p:nvSpPr>
        <p:spPr bwMode="gray">
          <a:xfrm>
            <a:off x="4727894" y="1344613"/>
            <a:ext cx="3960811" cy="533136"/>
          </a:xfrm>
          <a:solidFill>
            <a:schemeClr val="accent1"/>
          </a:solidFill>
          <a:ln>
            <a:solidFill>
              <a:schemeClr val="accent1"/>
            </a:solidFill>
          </a:ln>
        </p:spPr>
        <p:style>
          <a:lnRef idx="2">
            <a:schemeClr val="accent3">
              <a:shade val="50000"/>
            </a:schemeClr>
          </a:lnRef>
          <a:fillRef idx="1">
            <a:schemeClr val="accent3"/>
          </a:fillRef>
          <a:effectRef idx="0">
            <a:schemeClr val="accent3"/>
          </a:effectRef>
          <a:fontRef idx="none"/>
        </p:style>
        <p:txBody>
          <a:bodyPr anchor="ctr" anchorCtr="0">
            <a:noAutofit/>
          </a:bodyPr>
          <a:lstStyle>
            <a:lvl1pPr marL="92066" indent="0">
              <a:buNone/>
              <a:tabLst/>
              <a:defRPr sz="1800" b="1" baseline="0">
                <a:solidFill>
                  <a:schemeClr val="bg1"/>
                </a:solidFill>
                <a:latin typeface="+mj-lt"/>
              </a:defRPr>
            </a:lvl1pPr>
            <a:lvl2pPr marL="457153" indent="0">
              <a:buNone/>
              <a:defRPr sz="2000" b="1"/>
            </a:lvl2pPr>
            <a:lvl3pPr marL="914306" indent="0">
              <a:buNone/>
              <a:defRPr sz="1800" b="1"/>
            </a:lvl3pPr>
            <a:lvl4pPr marL="1371460" indent="0">
              <a:buNone/>
              <a:defRPr sz="1600" b="1"/>
            </a:lvl4pPr>
            <a:lvl5pPr marL="1828613" indent="0">
              <a:buNone/>
              <a:defRPr sz="1600" b="1"/>
            </a:lvl5pPr>
            <a:lvl6pPr marL="2285767" indent="0">
              <a:buNone/>
              <a:defRPr sz="1600" b="1"/>
            </a:lvl6pPr>
            <a:lvl7pPr marL="2742920" indent="0">
              <a:buNone/>
              <a:defRPr sz="1600" b="1"/>
            </a:lvl7pPr>
            <a:lvl8pPr marL="3200073" indent="0">
              <a:buNone/>
              <a:defRPr sz="1600" b="1"/>
            </a:lvl8pPr>
            <a:lvl9pPr marL="3657227" indent="0">
              <a:buNone/>
              <a:defRPr sz="1600" b="1"/>
            </a:lvl9pPr>
          </a:lstStyle>
          <a:p>
            <a:pPr lvl="0"/>
            <a:r>
              <a:rPr lang="en-GB" dirty="0"/>
              <a:t>Subtitle 2</a:t>
            </a:r>
          </a:p>
        </p:txBody>
      </p:sp>
    </p:spTree>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Textplatzhalter 10"/>
          <p:cNvSpPr>
            <a:spLocks noGrp="1"/>
          </p:cNvSpPr>
          <p:nvPr>
            <p:ph type="body" sz="quarter" idx="10" hasCustomPrompt="1"/>
          </p:nvPr>
        </p:nvSpPr>
        <p:spPr>
          <a:xfrm>
            <a:off x="1684020" y="2559843"/>
            <a:ext cx="2763926" cy="1811291"/>
          </a:xfr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marR="0" lvl="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a:pPr>
            <a:r>
              <a:rPr kumimoji="0" lang="en-GB" sz="1000" b="0" i="0" u="none" strike="noStrike" kern="1200" cap="none" spc="0" normalizeH="0" baseline="0" noProof="0" dirty="0" err="1">
                <a:ln>
                  <a:noFill/>
                </a:ln>
                <a:solidFill>
                  <a:srgbClr val="000000"/>
                </a:solidFill>
                <a:effectLst/>
                <a:uLnTx/>
                <a:uFillTx/>
                <a:latin typeface="+mn-lt"/>
                <a:ea typeface="+mn-ea"/>
                <a:cs typeface="+mn-cs"/>
              </a:rPr>
              <a:t>Hier</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Adressdaten</a:t>
            </a:r>
            <a:r>
              <a:rPr kumimoji="0" lang="en-GB" sz="1000" b="0" i="0" u="none" strike="noStrike" kern="1200" cap="none" spc="0" normalizeH="0" baseline="0" noProof="0" dirty="0">
                <a:ln>
                  <a:noFill/>
                </a:ln>
                <a:solidFill>
                  <a:srgbClr val="000000"/>
                </a:solidFill>
                <a:effectLst/>
                <a:uLnTx/>
                <a:uFillTx/>
                <a:latin typeface="+mn-lt"/>
                <a:ea typeface="+mn-ea"/>
                <a:cs typeface="+mn-cs"/>
              </a:rPr>
              <a:t> </a:t>
            </a:r>
            <a:r>
              <a:rPr kumimoji="0" lang="en-GB" sz="1000" b="0" i="0" u="none" strike="noStrike" kern="1200" cap="none" spc="0" normalizeH="0" baseline="0" noProof="0" dirty="0" err="1">
                <a:ln>
                  <a:noFill/>
                </a:ln>
                <a:solidFill>
                  <a:srgbClr val="000000"/>
                </a:solidFill>
                <a:effectLst/>
                <a:uLnTx/>
                <a:uFillTx/>
                <a:latin typeface="+mn-lt"/>
                <a:ea typeface="+mn-ea"/>
                <a:cs typeface="+mn-cs"/>
              </a:rPr>
              <a:t>eingeben</a:t>
            </a:r>
            <a:endParaRPr kumimoji="0" lang="en-GB" sz="1000" b="0" i="0" u="none" strike="noStrike" kern="1200" cap="none" spc="0" normalizeH="0" baseline="0" noProof="0" dirty="0">
              <a:ln>
                <a:noFill/>
              </a:ln>
              <a:solidFill>
                <a:srgbClr val="000000"/>
              </a:solidFill>
              <a:effectLst/>
              <a:uLnTx/>
              <a:uFillTx/>
              <a:latin typeface="+mn-lt"/>
              <a:ea typeface="+mn-ea"/>
              <a:cs typeface="+mn-cs"/>
            </a:endParaRP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Titelfolie Kontak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11" name="Gruppieren 10"/>
          <p:cNvGrpSpPr/>
          <p:nvPr userDrawn="1"/>
        </p:nvGrpSpPr>
        <p:grpSpPr>
          <a:xfrm>
            <a:off x="287338" y="603319"/>
            <a:ext cx="8552850" cy="2037600"/>
            <a:chOff x="287338" y="603319"/>
            <a:chExt cx="8552850" cy="2037600"/>
          </a:xfrm>
        </p:grpSpPr>
        <p:sp>
          <p:nvSpPr>
            <p:cNvPr id="14" name="Rechteck 13"/>
            <p:cNvSpPr/>
            <p:nvPr userDrawn="1"/>
          </p:nvSpPr>
          <p:spPr>
            <a:xfrm>
              <a:off x="6192000" y="603319"/>
              <a:ext cx="2648188" cy="2037600"/>
            </a:xfrm>
            <a:prstGeom prst="rect">
              <a:avLst/>
            </a:prstGeom>
            <a:solidFill>
              <a:schemeClr val="bg1"/>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sp>
          <p:nvSpPr>
            <p:cNvPr id="15" name="Rechteck 14"/>
            <p:cNvSpPr/>
            <p:nvPr userDrawn="1"/>
          </p:nvSpPr>
          <p:spPr bwMode="blackWhite">
            <a:xfrm>
              <a:off x="287338" y="603319"/>
              <a:ext cx="5904662" cy="2037600"/>
            </a:xfrm>
            <a:prstGeom prst="rect">
              <a:avLst/>
            </a:prstGeom>
            <a:solidFill>
              <a:srgbClr val="0096D3">
                <a:alpha val="89804"/>
              </a:srgbClr>
            </a:solidFill>
            <a:ln>
              <a:noFill/>
            </a:ln>
          </p:spPr>
          <p:style>
            <a:lnRef idx="3">
              <a:schemeClr val="lt1"/>
            </a:lnRef>
            <a:fillRef idx="1">
              <a:schemeClr val="accent1"/>
            </a:fillRef>
            <a:effectRef idx="1">
              <a:schemeClr val="accent1"/>
            </a:effectRef>
            <a:fontRef idx="minor">
              <a:schemeClr val="lt1"/>
            </a:fontRef>
          </p:style>
          <p:txBody>
            <a:bodyPr rtlCol="0" anchor="ctr"/>
            <a:lstStyle/>
            <a:p>
              <a:pPr algn="ctr"/>
              <a:endParaRPr lang="en-GB" dirty="0"/>
            </a:p>
          </p:txBody>
        </p:sp>
      </p:grpSp>
      <p:sp>
        <p:nvSpPr>
          <p:cNvPr id="2" name="Titel 1"/>
          <p:cNvSpPr>
            <a:spLocks noGrp="1"/>
          </p:cNvSpPr>
          <p:nvPr userDrawn="1">
            <p:ph type="ctrTitle" hasCustomPrompt="1"/>
          </p:nvPr>
        </p:nvSpPr>
        <p:spPr bwMode="black">
          <a:xfrm>
            <a:off x="605406" y="1301365"/>
            <a:ext cx="5436000" cy="1026000"/>
          </a:xfrm>
          <a:prstGeom prst="rect">
            <a:avLst/>
          </a:prstGeom>
        </p:spPr>
        <p:txBody>
          <a:bodyPr tIns="0" anchor="ctr" anchorCtr="0">
            <a:noAutofit/>
          </a:bodyPr>
          <a:lstStyle>
            <a:lvl1pPr algn="l">
              <a:lnSpc>
                <a:spcPct val="100000"/>
              </a:lnSpc>
              <a:defRPr sz="3200" b="1" i="0" baseline="0">
                <a:solidFill>
                  <a:schemeClr val="bg1"/>
                </a:solidFill>
                <a:latin typeface="Georgia" charset="0"/>
                <a:ea typeface="Georgia" charset="0"/>
                <a:cs typeface="Georgia" charset="0"/>
              </a:defRPr>
            </a:lvl1pPr>
          </a:lstStyle>
          <a:p>
            <a:r>
              <a:rPr lang="en-GB" dirty="0"/>
              <a:t>Max. 2 lines of text for header</a:t>
            </a:r>
          </a:p>
        </p:txBody>
      </p:sp>
      <p:sp>
        <p:nvSpPr>
          <p:cNvPr id="3" name="Untertitel 2"/>
          <p:cNvSpPr>
            <a:spLocks noGrp="1"/>
          </p:cNvSpPr>
          <p:nvPr userDrawn="1">
            <p:ph type="subTitle" idx="1" hasCustomPrompt="1"/>
          </p:nvPr>
        </p:nvSpPr>
        <p:spPr bwMode="black">
          <a:xfrm>
            <a:off x="605406" y="993080"/>
            <a:ext cx="5436000" cy="351533"/>
          </a:xfrm>
        </p:spPr>
        <p:txBody>
          <a:bodyPr tIns="0" bIns="0">
            <a:noAutofit/>
          </a:bodyPr>
          <a:lstStyle>
            <a:lvl1pPr marL="0" indent="0" algn="l">
              <a:lnSpc>
                <a:spcPct val="100000"/>
              </a:lnSpc>
              <a:buNone/>
              <a:defRPr sz="1800" b="1" i="0" baseline="0">
                <a:solidFill>
                  <a:schemeClr val="tx1"/>
                </a:solidFill>
                <a:latin typeface="Verdana" charset="0"/>
                <a:ea typeface="Verdana" charset="0"/>
                <a:cs typeface="Verdana" charset="0"/>
              </a:defRPr>
            </a:lvl1pPr>
            <a:lvl2pPr marL="457153" indent="0" algn="ctr">
              <a:buNone/>
              <a:defRPr>
                <a:solidFill>
                  <a:schemeClr val="tx1">
                    <a:tint val="75000"/>
                  </a:schemeClr>
                </a:solidFill>
              </a:defRPr>
            </a:lvl2pPr>
            <a:lvl3pPr marL="914306" indent="0" algn="ctr">
              <a:buNone/>
              <a:defRPr>
                <a:solidFill>
                  <a:schemeClr val="tx1">
                    <a:tint val="75000"/>
                  </a:schemeClr>
                </a:solidFill>
              </a:defRPr>
            </a:lvl3pPr>
            <a:lvl4pPr marL="1371460" indent="0" algn="ctr">
              <a:buNone/>
              <a:defRPr>
                <a:solidFill>
                  <a:schemeClr val="tx1">
                    <a:tint val="75000"/>
                  </a:schemeClr>
                </a:solidFill>
              </a:defRPr>
            </a:lvl4pPr>
            <a:lvl5pPr marL="1828613" indent="0" algn="ctr">
              <a:buNone/>
              <a:defRPr>
                <a:solidFill>
                  <a:schemeClr val="tx1">
                    <a:tint val="75000"/>
                  </a:schemeClr>
                </a:solidFill>
              </a:defRPr>
            </a:lvl5pPr>
            <a:lvl6pPr marL="2285767" indent="0" algn="ctr">
              <a:buNone/>
              <a:defRPr>
                <a:solidFill>
                  <a:schemeClr val="tx1">
                    <a:tint val="75000"/>
                  </a:schemeClr>
                </a:solidFill>
              </a:defRPr>
            </a:lvl6pPr>
            <a:lvl7pPr marL="2742920" indent="0" algn="ctr">
              <a:buNone/>
              <a:defRPr>
                <a:solidFill>
                  <a:schemeClr val="tx1">
                    <a:tint val="75000"/>
                  </a:schemeClr>
                </a:solidFill>
              </a:defRPr>
            </a:lvl7pPr>
            <a:lvl8pPr marL="3200073" indent="0" algn="ctr">
              <a:buNone/>
              <a:defRPr>
                <a:solidFill>
                  <a:schemeClr val="tx1">
                    <a:tint val="75000"/>
                  </a:schemeClr>
                </a:solidFill>
              </a:defRPr>
            </a:lvl8pPr>
            <a:lvl9pPr marL="3657227" indent="0" algn="ctr">
              <a:buNone/>
              <a:defRPr>
                <a:solidFill>
                  <a:schemeClr val="tx1">
                    <a:tint val="75000"/>
                  </a:schemeClr>
                </a:solidFill>
              </a:defRPr>
            </a:lvl9pPr>
          </a:lstStyle>
          <a:p>
            <a:r>
              <a:rPr lang="en-GB" dirty="0"/>
              <a:t>Add subtitle here if required</a:t>
            </a:r>
          </a:p>
        </p:txBody>
      </p:sp>
      <p:sp>
        <p:nvSpPr>
          <p:cNvPr id="10" name="Kontaktdaten"/>
          <p:cNvSpPr>
            <a:spLocks noGrp="1"/>
          </p:cNvSpPr>
          <p:nvPr userDrawn="1"/>
        </p:nvSpPr>
        <p:spPr bwMode="white">
          <a:xfrm>
            <a:off x="287338" y="2941638"/>
            <a:ext cx="4284662" cy="1400000"/>
          </a:xfrm>
          <a:prstGeom prst="rect">
            <a:avLst/>
          </a:prstGeom>
          <a:solidFill>
            <a:srgbClr val="FFFFFF">
              <a:alpha val="90000"/>
            </a:srgbClr>
          </a:solidFill>
          <a:ln>
            <a:noFill/>
          </a:ln>
        </p:spPr>
        <p:txBody>
          <a:bodyPr wrap="square" lIns="324000" tIns="216000" rIns="324000" bIns="216000" rtlCol="0" anchor="t" anchorCtr="0">
            <a:spAutoFit/>
          </a:bodyPr>
          <a:lstStyle>
            <a:lvl1pPr marL="0" indent="0">
              <a:buNone/>
              <a:defRPr lang="de-DE" sz="1200" baseline="0" dirty="0" smtClean="0"/>
            </a:lvl1pPr>
          </a:lstStyle>
          <a:p>
            <a:pPr marL="0" indent="0">
              <a:buNone/>
            </a:pPr>
            <a:r>
              <a:rPr lang="en-GB" sz="1100" dirty="0">
                <a:solidFill>
                  <a:srgbClr val="000000"/>
                </a:solidFill>
                <a:latin typeface="+mn-lt"/>
              </a:rPr>
              <a:t>Dr Arne Floh, Senior Lecturer in Marketing</a:t>
            </a:r>
          </a:p>
          <a:p>
            <a:pPr marL="0" indent="0">
              <a:buNone/>
            </a:pPr>
            <a:r>
              <a:rPr lang="en-GB" sz="1100" dirty="0">
                <a:solidFill>
                  <a:srgbClr val="000000"/>
                </a:solidFill>
                <a:latin typeface="+mn-lt"/>
              </a:rPr>
              <a:t>WU Vienna, Institute for International Business</a:t>
            </a:r>
          </a:p>
          <a:p>
            <a:pPr marL="0" indent="0">
              <a:buNone/>
            </a:pPr>
            <a:endParaRPr lang="en-GB" sz="1200"/>
          </a:p>
          <a:p>
            <a:pPr marL="0" indent="0">
              <a:buNone/>
            </a:pPr>
            <a:r>
              <a:rPr lang="en-GB" sz="1100" dirty="0">
                <a:solidFill>
                  <a:srgbClr val="000000"/>
                </a:solidFill>
                <a:latin typeface="+mn-lt"/>
                <a:hlinkClick r:id="rId20"/>
              </a:rPr>
              <a:t>arne.floh@wu.ac.at</a:t>
            </a:r>
          </a:p>
          <a:p>
            <a:pPr marL="0" indent="0">
              <a:buNone/>
            </a:pPr>
            <a:r>
              <a:rPr lang="en-GB" sz="1100" dirty="0">
                <a:solidFill>
                  <a:srgbClr val="000000"/>
                </a:solidFill>
                <a:latin typeface="+mn-lt"/>
                <a:hlinkClick r:id="rId21"/>
              </a:rPr>
              <a:t>Office hours: book online (Google Calendar)</a:t>
            </a:r>
          </a:p>
        </p:txBody>
      </p:sp>
      <p:sp>
        <p:nvSpPr>
          <p:cNvPr id="12" name="Textplatzhalter 7"/>
          <p:cNvSpPr>
            <a:spLocks noGrp="1"/>
          </p:cNvSpPr>
          <p:nvPr>
            <p:ph type="body" sz="quarter" idx="12" hasCustomPrompt="1"/>
          </p:nvPr>
        </p:nvSpPr>
        <p:spPr bwMode="auto">
          <a:xfrm>
            <a:off x="457200" y="5426926"/>
            <a:ext cx="1638300" cy="243623"/>
          </a:xfrm>
        </p:spPr>
        <p:txBody>
          <a:bodyPr>
            <a:noAutofit/>
          </a:bodyPr>
          <a:lstStyle>
            <a:lvl1pPr marL="0" indent="0">
              <a:buNone/>
              <a:defRPr sz="900" cap="all" baseline="0">
                <a:solidFill>
                  <a:schemeClr val="bg1"/>
                </a:solidFill>
              </a:defRPr>
            </a:lvl1pPr>
            <a:lvl2pPr marL="266700" indent="0">
              <a:buNone/>
              <a:defRPr sz="1050"/>
            </a:lvl2pPr>
            <a:lvl3pPr marL="541338" indent="0">
              <a:buNone/>
              <a:defRPr sz="1050"/>
            </a:lvl3pPr>
            <a:lvl4pPr marL="808038" indent="0">
              <a:buNone/>
              <a:defRPr sz="1000"/>
            </a:lvl4pPr>
            <a:lvl5pPr marL="1077913" indent="0">
              <a:buNone/>
              <a:defRPr sz="1000"/>
            </a:lvl5pPr>
          </a:lstStyle>
          <a:p>
            <a:pPr lvl="0"/>
            <a:r>
              <a:rPr lang="en-GB" dirty="0"/>
              <a:t>State: </a:t>
            </a:r>
            <a:r>
              <a:rPr lang="en-GB" dirty="0" err="1"/>
              <a:t>xx.xx.xxxx</a:t>
            </a:r>
            <a:endParaRPr lang="en-GB" dirty="0"/>
          </a:p>
        </p:txBody>
      </p:sp>
      <p:pic>
        <p:nvPicPr>
          <p:cNvPr id="18" name="Grafik 17">
            <a:extLst>
              <a:ext uri="{FF2B5EF4-FFF2-40B4-BE49-F238E27FC236}">
                <a16:creationId xmlns:a16="http://schemas.microsoft.com/office/drawing/2014/main" id="{35A845CD-2D10-42BB-97DB-CDA723EE9EBF}"/>
              </a:ext>
            </a:extLst>
          </p:cNvPr>
          <p:cNvPicPr>
            <a:picLocks noChangeAspect="1"/>
          </p:cNvPicPr>
          <p:nvPr userDrawn="1"/>
        </p:nvPicPr>
        <p:blipFill>
          <a:blip r:embed="rId3"/>
          <a:stretch>
            <a:fillRect/>
          </a:stretch>
        </p:blipFill>
        <p:spPr>
          <a:xfrm>
            <a:off x="6579375" y="1065910"/>
            <a:ext cx="1849165" cy="975600"/>
          </a:xfrm>
          <a:prstGeom prst="rect">
            <a:avLst/>
          </a:prstGeom>
        </p:spPr>
      </p:pic>
      <p:pic>
        <p:nvPicPr>
          <p:cNvPr id="16" name="Grafik 15">
            <a:extLst>
              <a:ext uri="{FF2B5EF4-FFF2-40B4-BE49-F238E27FC236}">
                <a16:creationId xmlns:a16="http://schemas.microsoft.com/office/drawing/2014/main" id="{1A49BD17-4238-4565-A4B6-2E20A7C19FA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615113" y="5129960"/>
            <a:ext cx="1835942" cy="317581"/>
          </a:xfrm>
          <a:prstGeom prst="rect">
            <a:avLst/>
          </a:prstGeom>
        </p:spPr>
      </p:pic>
    </p:spTree>
    <p:extLst>
      <p:ext uri="{BB962C8B-B14F-4D97-AF65-F5344CB8AC3E}">
        <p14:creationId xmlns:p14="http://schemas.microsoft.com/office/powerpoint/2010/main" val="1096689772"/>
      </p:ext>
    </p:extLst>
  </p:cSld>
  <p:clrMapOvr>
    <a:masterClrMapping/>
  </p:clrMapOvr>
  <p:transition>
    <p:fade/>
  </p:transition>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nhalt und Bild mit Logo">
    <p:spTree>
      <p:nvGrpSpPr>
        <p:cNvPr id="1" name=""/>
        <p:cNvGrpSpPr/>
        <p:nvPr/>
      </p:nvGrpSpPr>
      <p:grpSpPr>
        <a:xfrm>
          <a:off x="0" y="0"/>
          <a:ext cx="0" cy="0"/>
          <a:chOff x="0" y="0"/>
          <a:chExt cx="0" cy="0"/>
        </a:xfrm>
      </p:grpSpPr>
      <p:sp>
        <p:nvSpPr>
          <p:cNvPr id="3" name="Inhaltsplatzhalter 2"/>
          <p:cNvSpPr>
            <a:spLocks noGrp="1"/>
          </p:cNvSpPr>
          <p:nvPr>
            <p:ph sz="half" idx="1" hasCustomPrompt="1"/>
          </p:nvPr>
        </p:nvSpPr>
        <p:spPr>
          <a:xfrm>
            <a:off x="462405" y="1344613"/>
            <a:ext cx="3960000" cy="3859212"/>
          </a:xfrm>
        </p:spPr>
        <p:txBody>
          <a:bodyPr>
            <a:normAutofit/>
          </a:bodyPr>
          <a:lstStyle>
            <a:lvl1pPr>
              <a:defRPr sz="1600"/>
            </a:lvl1pPr>
            <a:lvl2pPr marL="541312" indent="-285750">
              <a:buClr>
                <a:schemeClr val="accent1"/>
              </a:buClr>
              <a:buFont typeface="Wingdings" charset="2"/>
              <a:buChar char="§"/>
              <a:defRPr sz="1500"/>
            </a:lvl2pPr>
            <a:lvl3pPr>
              <a:defRPr sz="1400"/>
            </a:lvl3pPr>
            <a:lvl4pPr>
              <a:buClr>
                <a:schemeClr val="accent1"/>
              </a:buClr>
              <a:defRPr sz="1200"/>
            </a:lvl4pPr>
            <a:lvl5pPr>
              <a:defRPr sz="1200"/>
            </a:lvl5pPr>
            <a:lvl6pPr>
              <a:defRPr sz="1800"/>
            </a:lvl6pPr>
            <a:lvl7pPr>
              <a:defRPr sz="1800"/>
            </a:lvl7pPr>
            <a:lvl8pPr>
              <a:defRPr sz="1800"/>
            </a:lvl8pPr>
            <a:lvl9pPr>
              <a:defRPr sz="1800"/>
            </a:lvl9pPr>
          </a:lstStyle>
          <a:p>
            <a:pPr lvl="0"/>
            <a:r>
              <a:rPr lang="en-GB" dirty="0" err="1"/>
              <a:t>Textmasterformat</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p:txBody>
      </p:sp>
      <p:sp>
        <p:nvSpPr>
          <p:cNvPr id="4" name="Bildplatzhalter 3"/>
          <p:cNvSpPr>
            <a:spLocks noGrp="1"/>
          </p:cNvSpPr>
          <p:nvPr>
            <p:ph type="pic" sz="half" idx="2" hasCustomPrompt="1"/>
          </p:nvPr>
        </p:nvSpPr>
        <p:spPr>
          <a:xfrm>
            <a:off x="4715688" y="1344613"/>
            <a:ext cx="3960000" cy="3859212"/>
          </a:xfrm>
        </p:spPr>
        <p:txBody>
          <a:bodyPr anchor="ctr"/>
          <a:lstStyle>
            <a:lvl1pPr marL="0" indent="0" algn="ctr">
              <a:buNone/>
              <a:defRPr sz="1200"/>
            </a:lvl1pPr>
          </a:lstStyle>
          <a:p>
            <a:r>
              <a:rPr lang="en-GB" dirty="0"/>
              <a:t>Click icon to add picture</a:t>
            </a:r>
          </a:p>
        </p:txBody>
      </p:sp>
      <p:sp>
        <p:nvSpPr>
          <p:cNvPr id="20" name="Logoplatzhalter 19"/>
          <p:cNvSpPr>
            <a:spLocks noGrp="1"/>
          </p:cNvSpPr>
          <p:nvPr>
            <p:ph type="pic" sz="quarter" idx="13" hasCustomPrompt="1"/>
          </p:nvPr>
        </p:nvSpPr>
        <p:spPr>
          <a:xfrm>
            <a:off x="7715688" y="4243825"/>
            <a:ext cx="860000" cy="860000"/>
          </a:xfrm>
        </p:spPr>
        <p:txBody>
          <a:bodyPr anchor="ctr"/>
          <a:lstStyle>
            <a:lvl1pPr marL="0" indent="0" algn="ctr">
              <a:buNone/>
              <a:defRPr sz="1200"/>
            </a:lvl1pPr>
          </a:lstStyle>
          <a:p>
            <a:r>
              <a:rPr lang="en-GB" dirty="0"/>
              <a:t>Logo</a:t>
            </a:r>
          </a:p>
        </p:txBody>
      </p:sp>
      <p:sp>
        <p:nvSpPr>
          <p:cNvPr id="5" name="Datumsplatzhalter 4"/>
          <p:cNvSpPr>
            <a:spLocks noGrp="1"/>
          </p:cNvSpPr>
          <p:nvPr>
            <p:ph type="dt" sz="half" idx="10"/>
          </p:nvPr>
        </p:nvSpPr>
        <p:spPr/>
        <p:txBody>
          <a:bodyPr/>
          <a:lstStyle/>
          <a:p>
            <a:fld id="{C2FD44FF-326E-4934-AE8D-65DEFF191BB1}" type="datetime1">
              <a:rPr lang="en-GB" smtClean="0"/>
              <a:t>25/08/2023</a:t>
            </a:fld>
            <a:endParaRPr lang="en-GB" dirty="0"/>
          </a:p>
        </p:txBody>
      </p:sp>
      <p:sp>
        <p:nvSpPr>
          <p:cNvPr id="9" name="Fußzeilenplatzhalter 8"/>
          <p:cNvSpPr>
            <a:spLocks noGrp="1"/>
          </p:cNvSpPr>
          <p:nvPr>
            <p:ph type="ftr" sz="quarter" idx="11"/>
          </p:nvPr>
        </p:nvSpPr>
        <p:spPr/>
        <p:txBody>
          <a:bodyPr/>
          <a:lstStyle/>
          <a:p>
            <a:r>
              <a:rPr lang="en-GB" dirty="0"/>
              <a:t>Sample Footer</a:t>
            </a:r>
          </a:p>
        </p:txBody>
      </p:sp>
      <p:sp>
        <p:nvSpPr>
          <p:cNvPr id="10" name="Foliennummernplatzhalter 9"/>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el und Tabelle">
    <p:spTree>
      <p:nvGrpSpPr>
        <p:cNvPr id="1" name=""/>
        <p:cNvGrpSpPr/>
        <p:nvPr/>
      </p:nvGrpSpPr>
      <p:grpSpPr>
        <a:xfrm>
          <a:off x="0" y="0"/>
          <a:ext cx="0" cy="0"/>
          <a:chOff x="0" y="0"/>
          <a:chExt cx="0" cy="0"/>
        </a:xfrm>
      </p:grpSpPr>
      <p:sp>
        <p:nvSpPr>
          <p:cNvPr id="3" name="Inhaltsplatzhalter 2"/>
          <p:cNvSpPr>
            <a:spLocks noGrp="1"/>
          </p:cNvSpPr>
          <p:nvPr>
            <p:ph type="tbl" idx="1" hasCustomPrompt="1"/>
          </p:nvPr>
        </p:nvSpPr>
        <p:spPr>
          <a:xfrm>
            <a:off x="462019" y="1344613"/>
            <a:ext cx="7759644" cy="3853905"/>
          </a:xfrm>
        </p:spPr>
        <p:txBody>
          <a:bodyPr lIns="0" rIns="0">
            <a:normAutofit/>
          </a:bodyPr>
          <a:lstStyle>
            <a:lvl1pPr>
              <a:defRPr sz="1600"/>
            </a:lvl1pPr>
            <a:lvl2pPr>
              <a:defRPr sz="1500"/>
            </a:lvl2pPr>
            <a:lvl3pPr>
              <a:defRPr sz="1400"/>
            </a:lvl3pPr>
            <a:lvl4pPr>
              <a:defRPr sz="1200"/>
            </a:lvl4pPr>
            <a:lvl5pPr>
              <a:defRPr sz="1200"/>
            </a:lvl5pPr>
          </a:lstStyle>
          <a:p>
            <a:pPr marL="0" indent="0">
              <a:buNone/>
            </a:pPr>
            <a:r>
              <a:rPr lang="en-GB" dirty="0"/>
              <a:t>Click icon to add table</a:t>
            </a:r>
          </a:p>
        </p:txBody>
      </p:sp>
      <p:sp>
        <p:nvSpPr>
          <p:cNvPr id="4" name="Datumsplatzhalter 3"/>
          <p:cNvSpPr>
            <a:spLocks noGrp="1"/>
          </p:cNvSpPr>
          <p:nvPr>
            <p:ph type="dt" sz="half" idx="10"/>
          </p:nvPr>
        </p:nvSpPr>
        <p:spPr/>
        <p:txBody>
          <a:bodyPr/>
          <a:lstStyle/>
          <a:p>
            <a:fld id="{E40E7AAB-A700-485E-A2FB-EAC3CFB07074}" type="datetime1">
              <a:rPr lang="en-GB" smtClean="0"/>
              <a:t>25/08/2023</a:t>
            </a:fld>
            <a:endParaRPr lang="en-GB" dirty="0"/>
          </a:p>
        </p:txBody>
      </p:sp>
      <p:sp>
        <p:nvSpPr>
          <p:cNvPr id="8" name="Fußzeilenplatzhalter 7"/>
          <p:cNvSpPr>
            <a:spLocks noGrp="1"/>
          </p:cNvSpPr>
          <p:nvPr>
            <p:ph type="ftr" sz="quarter" idx="11"/>
          </p:nvPr>
        </p:nvSpPr>
        <p:spPr/>
        <p:txBody>
          <a:bodyPr/>
          <a:lstStyle/>
          <a:p>
            <a:r>
              <a:rPr lang="en-GB" dirty="0"/>
              <a:t>Sample Footer</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2" name="Titel 1"/>
          <p:cNvSpPr>
            <a:spLocks noGrp="1"/>
          </p:cNvSpPr>
          <p:nvPr>
            <p:ph type="title"/>
          </p:nvPr>
        </p:nvSpPr>
        <p:spPr/>
        <p:txBody>
          <a:bodyPr/>
          <a:lstStyle/>
          <a:p>
            <a:r>
              <a:rPr lang="de-DE"/>
              <a:t>Mastertitelformat bearbeiten</a:t>
            </a:r>
            <a:endParaRPr lang="en-GB" dirty="0"/>
          </a:p>
        </p:txBody>
      </p:sp>
    </p:spTree>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Abschlussfolie Kontakt">
    <p:spTree>
      <p:nvGrpSpPr>
        <p:cNvPr id="1" name=""/>
        <p:cNvGrpSpPr/>
        <p:nvPr/>
      </p:nvGrpSpPr>
      <p:grpSpPr>
        <a:xfrm>
          <a:off x="0" y="0"/>
          <a:ext cx="0" cy="0"/>
          <a:chOff x="0" y="0"/>
          <a:chExt cx="0" cy="0"/>
        </a:xfrm>
      </p:grpSpPr>
      <p:sp>
        <p:nvSpPr>
          <p:cNvPr id="5" name="Rechteck 4"/>
          <p:cNvSpPr/>
          <p:nvPr/>
        </p:nvSpPr>
        <p:spPr>
          <a:xfrm>
            <a:off x="467544" y="1964530"/>
            <a:ext cx="4319712" cy="2716954"/>
          </a:xfrm>
          <a:prstGeom prst="rect">
            <a:avLst/>
          </a:prstGeom>
          <a:ln w="12700">
            <a:solidFill>
              <a:schemeClr val="bg1">
                <a:lumMod val="50000"/>
              </a:schemeClr>
            </a:solidFill>
          </a:ln>
          <a:effectLst/>
        </p:spPr>
        <p:style>
          <a:lnRef idx="2">
            <a:schemeClr val="dk1"/>
          </a:lnRef>
          <a:fillRef idx="1">
            <a:schemeClr val="lt1"/>
          </a:fillRef>
          <a:effectRef idx="0">
            <a:schemeClr val="dk1"/>
          </a:effectRef>
          <a:fontRef idx="minor">
            <a:schemeClr val="dk1"/>
          </a:fontRef>
        </p:style>
        <p:txBody>
          <a:bodyPr lIns="91431" tIns="45715" rIns="91431" bIns="45715" rtlCol="0" anchor="ctr"/>
          <a:lstStyle/>
          <a:p>
            <a:pPr algn="ctr"/>
            <a:endParaRPr lang="en-GB" dirty="0"/>
          </a:p>
        </p:txBody>
      </p:sp>
      <p:pic>
        <p:nvPicPr>
          <p:cNvPr id="7" name="Grafik 6" descr="Logo-für-VK.png"/>
          <p:cNvPicPr>
            <a:picLocks noChangeAspect="1"/>
          </p:cNvPicPr>
          <p:nvPr/>
        </p:nvPicPr>
        <p:blipFill>
          <a:blip r:embed="rId2" cstate="print"/>
          <a:stretch>
            <a:fillRect/>
          </a:stretch>
        </p:blipFill>
        <p:spPr>
          <a:xfrm>
            <a:off x="611560" y="2127250"/>
            <a:ext cx="492443" cy="2252663"/>
          </a:xfrm>
          <a:prstGeom prst="rect">
            <a:avLst/>
          </a:prstGeom>
        </p:spPr>
      </p:pic>
      <p:sp>
        <p:nvSpPr>
          <p:cNvPr id="11" name="Kontaktdaten"/>
          <p:cNvSpPr>
            <a:spLocks noGrp="1"/>
          </p:cNvSpPr>
          <p:nvPr userDrawn="1"/>
        </p:nvSpPr>
        <p:spPr>
          <a:xfrm>
            <a:off x="1684020" y="2559843"/>
            <a:ext cx="2763926" cy="1811291"/>
          </a:xfrm>
          <a:prstGeom prst="rect">
            <a:avLst/>
          </a:prstGeom>
        </p:spPr>
        <p:txBody>
          <a:bodyPr>
            <a:normAutofit/>
          </a:bodyPr>
          <a:lstStyle>
            <a:lvl1pPr marL="0" marR="0" indent="0" algn="l" defTabSz="914306" rtl="0" eaLnBrk="1" fontAlgn="auto" latinLnBrk="0" hangingPunct="1">
              <a:lnSpc>
                <a:spcPct val="100000"/>
              </a:lnSpc>
              <a:spcBef>
                <a:spcPts val="0"/>
              </a:spcBef>
              <a:spcAft>
                <a:spcPts val="0"/>
              </a:spcAft>
              <a:buClr>
                <a:srgbClr val="4B2582"/>
              </a:buClr>
              <a:buSzTx/>
              <a:buFont typeface="Wingdings" pitchFamily="2" charset="2"/>
              <a:buNone/>
              <a:tabLst/>
              <a:defRPr sz="1100" baseline="0"/>
            </a:lvl1pPr>
            <a:lvl2pPr marL="0" indent="0">
              <a:buNone/>
              <a:defRPr/>
            </a:lvl2pPr>
            <a:lvl3pPr marL="0" indent="0">
              <a:buNone/>
              <a:defRPr/>
            </a:lvl3pPr>
            <a:lvl4pPr marL="0" indent="0">
              <a:buNone/>
              <a:defRPr/>
            </a:lvl4pPr>
            <a:lvl5pPr marL="0" indent="0">
              <a:buNone/>
              <a:defRPr/>
            </a:lvl5pPr>
          </a:lstStyle>
          <a:p>
            <a:pPr marL="0" indent="0">
              <a:buNone/>
            </a:pPr>
            <a:r>
              <a:rPr lang="en-GB" sz="1000" b="1" dirty="0">
                <a:solidFill>
                  <a:srgbClr val="000000"/>
                </a:solidFill>
                <a:latin typeface="+mn-lt"/>
              </a:rPr>
              <a:t>INSTITUTE FOR INTERNATIONAL BUSINESS</a:t>
            </a:r>
          </a:p>
          <a:p>
            <a:pPr marL="0" indent="0">
              <a:buNone/>
            </a:pPr>
            <a:r>
              <a:rPr lang="en-GB" sz="1000" dirty="0">
                <a:solidFill>
                  <a:srgbClr val="000000"/>
                </a:solidFill>
                <a:latin typeface="+mn-lt"/>
              </a:rPr>
              <a:t>Welthandelsplatz 1, 1020 Vienna, Austria</a:t>
            </a:r>
          </a:p>
          <a:p>
            <a:pPr marL="0" indent="0">
              <a:buNone/>
            </a:pPr>
            <a:endParaRPr lang="en-GB" sz="1000" dirty="0"/>
          </a:p>
          <a:p>
            <a:pPr marL="0" indent="0">
              <a:buNone/>
            </a:pPr>
            <a:r>
              <a:rPr lang="en-GB" sz="1000" b="1" dirty="0">
                <a:solidFill>
                  <a:srgbClr val="000000"/>
                </a:solidFill>
                <a:latin typeface="+mn-lt"/>
              </a:rPr>
              <a:t>DR ARNE FLOH</a:t>
            </a:r>
          </a:p>
          <a:p>
            <a:pPr marL="0" indent="0">
              <a:buNone/>
            </a:pPr>
            <a:r>
              <a:rPr lang="en-GB" sz="1000" dirty="0">
                <a:solidFill>
                  <a:srgbClr val="000000"/>
                </a:solidFill>
                <a:latin typeface="+mn-lt"/>
              </a:rPr>
              <a:t>Senior Lecturer in Marketing</a:t>
            </a:r>
          </a:p>
          <a:p>
            <a:pPr marL="0" indent="0">
              <a:buNone/>
            </a:pPr>
            <a:endParaRPr lang="en-GB" sz="1000" dirty="0"/>
          </a:p>
          <a:p>
            <a:pPr marL="0" indent="0">
              <a:buNone/>
            </a:pPr>
            <a:r>
              <a:rPr lang="en-GB" sz="1000" dirty="0">
                <a:solidFill>
                  <a:srgbClr val="000000"/>
                </a:solidFill>
                <a:latin typeface="+mn-lt"/>
              </a:rPr>
              <a:t>F +43-31336-6367</a:t>
            </a:r>
          </a:p>
          <a:p>
            <a:pPr marL="0" indent="0">
              <a:buNone/>
            </a:pPr>
            <a:r>
              <a:rPr lang="en-GB" sz="1000" dirty="0">
                <a:solidFill>
                  <a:srgbClr val="000000"/>
                </a:solidFill>
                <a:latin typeface="+mn-lt"/>
                <a:hlinkClick r:id="rId20"/>
              </a:rPr>
              <a:t>arne.floh@wu.ac.at</a:t>
            </a:r>
          </a:p>
          <a:p>
            <a:pPr marL="0" indent="0">
              <a:buNone/>
            </a:pPr>
            <a:r>
              <a:rPr lang="en-GB" sz="900" dirty="0">
                <a:solidFill>
                  <a:srgbClr val="000000"/>
                </a:solidFill>
                <a:latin typeface="+mn-lt"/>
                <a:hlinkClick r:id="rId22"/>
              </a:rPr>
              <a:t>www.wu.ac.at/en/welthandel/arne-floh</a:t>
            </a:r>
          </a:p>
          <a:p>
            <a:pPr marL="0" indent="0">
              <a:buNone/>
            </a:pPr>
            <a:r>
              <a:rPr lang="en-GB" sz="1000" dirty="0">
                <a:solidFill>
                  <a:srgbClr val="000000"/>
                </a:solidFill>
                <a:latin typeface="+mn-lt"/>
                <a:hlinkClick r:id="rId21"/>
              </a:rPr>
              <a:t>Office hours: book online</a:t>
            </a:r>
          </a:p>
        </p:txBody>
      </p:sp>
      <p:sp>
        <p:nvSpPr>
          <p:cNvPr id="8" name="Datumsplatzhalter 7"/>
          <p:cNvSpPr>
            <a:spLocks noGrp="1"/>
          </p:cNvSpPr>
          <p:nvPr>
            <p:ph type="dt" sz="half" idx="11"/>
          </p:nvPr>
        </p:nvSpPr>
        <p:spPr/>
        <p:txBody>
          <a:bodyPr/>
          <a:lstStyle/>
          <a:p>
            <a:fld id="{D1DA7DE9-F6B6-4FDA-A00F-1221D494593B}" type="datetime1">
              <a:rPr lang="en-GB" smtClean="0"/>
              <a:t>25/08/2023</a:t>
            </a:fld>
            <a:endParaRPr lang="en-GB" dirty="0"/>
          </a:p>
        </p:txBody>
      </p:sp>
      <p:sp>
        <p:nvSpPr>
          <p:cNvPr id="9" name="Fußzeilenplatzhalter 8"/>
          <p:cNvSpPr>
            <a:spLocks noGrp="1"/>
          </p:cNvSpPr>
          <p:nvPr>
            <p:ph type="ftr" sz="quarter" idx="12"/>
          </p:nvPr>
        </p:nvSpPr>
        <p:spPr/>
        <p:txBody>
          <a:bodyPr/>
          <a:lstStyle/>
          <a:p>
            <a:r>
              <a:rPr lang="en-GB" dirty="0"/>
              <a:t>Sample Footer</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 Id="rId18" Type="http://schemas.openxmlformats.org/officeDocument/2006/relationships/image" Target="../media/image2.png"/><Relationship Id="rId19" Type="http://schemas.openxmlformats.org/officeDocument/2006/relationships/slideLayout" Target="../slideLayouts/slideLayout16.xml"/><Relationship Id="rId20" Type="http://schemas.openxmlformats.org/officeDocument/2006/relationships/slideLayout" Target="../slideLayouts/slideLayout17.xml"/><Relationship Id="rId21" Type="http://schemas.openxmlformats.org/officeDocument/2006/relationships/slideLayout" Target="../slideLayouts/slideLayout18.xml"/><Relationship Id="rId22"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Textplatzhalter 2"/>
          <p:cNvSpPr>
            <a:spLocks noGrp="1"/>
          </p:cNvSpPr>
          <p:nvPr>
            <p:ph type="body" idx="1"/>
          </p:nvPr>
        </p:nvSpPr>
        <p:spPr>
          <a:xfrm>
            <a:off x="457200" y="1344613"/>
            <a:ext cx="7764463" cy="3859212"/>
          </a:xfrm>
          <a:prstGeom prst="rect">
            <a:avLst/>
          </a:prstGeom>
        </p:spPr>
        <p:txBody>
          <a:bodyPr vert="horz" lIns="0" tIns="45715" rIns="0" bIns="45715" rtlCol="0">
            <a:normAutofit/>
          </a:bodyPr>
          <a:lstStyle/>
          <a:p>
            <a:pPr lvl="0"/>
            <a:r>
              <a:rPr lang="en-GB" dirty="0" err="1"/>
              <a:t>Textmasterformate</a:t>
            </a:r>
            <a:r>
              <a:rPr lang="en-GB" dirty="0"/>
              <a:t> </a:t>
            </a:r>
            <a:r>
              <a:rPr lang="en-GB" dirty="0" err="1"/>
              <a:t>durch</a:t>
            </a:r>
            <a:r>
              <a:rPr lang="en-GB" dirty="0"/>
              <a:t> </a:t>
            </a:r>
            <a:r>
              <a:rPr lang="en-GB" dirty="0" err="1"/>
              <a:t>Klicken</a:t>
            </a:r>
            <a:r>
              <a:rPr lang="en-GB" dirty="0"/>
              <a:t> </a:t>
            </a:r>
            <a:r>
              <a:rPr lang="en-GB" dirty="0" err="1"/>
              <a:t>bearbeiten</a:t>
            </a:r>
            <a:endParaRPr lang="en-GB" dirty="0"/>
          </a:p>
          <a:p>
            <a:pPr lvl="1"/>
            <a:r>
              <a:rPr lang="en-GB" dirty="0" err="1"/>
              <a:t>Zweite</a:t>
            </a:r>
            <a:r>
              <a:rPr lang="en-GB" dirty="0"/>
              <a:t> </a:t>
            </a:r>
            <a:r>
              <a:rPr lang="en-GB" dirty="0" err="1"/>
              <a:t>Ebene</a:t>
            </a:r>
            <a:endParaRPr lang="en-GB" dirty="0"/>
          </a:p>
          <a:p>
            <a:pPr lvl="2"/>
            <a:r>
              <a:rPr lang="en-GB" dirty="0" err="1"/>
              <a:t>Dritte</a:t>
            </a:r>
            <a:r>
              <a:rPr lang="en-GB" dirty="0"/>
              <a:t> </a:t>
            </a:r>
            <a:r>
              <a:rPr lang="en-GB" dirty="0" err="1"/>
              <a:t>Ebene</a:t>
            </a:r>
            <a:endParaRPr lang="en-GB" dirty="0"/>
          </a:p>
          <a:p>
            <a:pPr lvl="3"/>
            <a:r>
              <a:rPr lang="en-GB" dirty="0" err="1"/>
              <a:t>Vierte</a:t>
            </a:r>
            <a:r>
              <a:rPr lang="en-GB" dirty="0"/>
              <a:t> </a:t>
            </a:r>
            <a:r>
              <a:rPr lang="en-GB" dirty="0" err="1"/>
              <a:t>Ebene</a:t>
            </a:r>
            <a:endParaRPr lang="en-GB" dirty="0"/>
          </a:p>
          <a:p>
            <a:pPr lvl="4"/>
            <a:r>
              <a:rPr lang="en-GB" dirty="0" err="1"/>
              <a:t>Fünfte</a:t>
            </a:r>
            <a:r>
              <a:rPr lang="en-GB" dirty="0"/>
              <a:t> </a:t>
            </a:r>
            <a:r>
              <a:rPr lang="en-GB" dirty="0" err="1"/>
              <a:t>Ebene</a:t>
            </a:r>
            <a:endParaRPr lang="en-GB" dirty="0"/>
          </a:p>
        </p:txBody>
      </p:sp>
      <p:sp>
        <p:nvSpPr>
          <p:cNvPr id="5" name="Fußzeilenplatzhalter 4"/>
          <p:cNvSpPr>
            <a:spLocks noGrp="1"/>
          </p:cNvSpPr>
          <p:nvPr userDrawn="1">
            <p:ph type="ftr" sz="quarter" idx="3"/>
          </p:nvPr>
        </p:nvSpPr>
        <p:spPr>
          <a:xfrm>
            <a:off x="1354561" y="5412059"/>
            <a:ext cx="3217443" cy="258085"/>
          </a:xfrm>
          <a:prstGeom prst="rect">
            <a:avLst/>
          </a:prstGeom>
        </p:spPr>
        <p:txBody>
          <a:bodyPr vert="horz" lIns="91431" tIns="45715" rIns="91431" bIns="45715" rtlCol="0" anchor="ctr"/>
          <a:lstStyle>
            <a:lvl1pPr algn="l">
              <a:defRPr sz="800" cap="all" baseline="0">
                <a:solidFill>
                  <a:schemeClr val="tx1">
                    <a:tint val="75000"/>
                  </a:schemeClr>
                </a:solidFill>
              </a:defRPr>
            </a:lvl1pPr>
          </a:lstStyle>
          <a:p>
            <a:r>
              <a:rPr lang="en-GB" dirty="0"/>
              <a:t>Sample Footer</a:t>
            </a:r>
          </a:p>
        </p:txBody>
      </p:sp>
      <p:sp>
        <p:nvSpPr>
          <p:cNvPr id="6" name="Foliennummernplatzhalter 5"/>
          <p:cNvSpPr>
            <a:spLocks noGrp="1"/>
          </p:cNvSpPr>
          <p:nvPr userDrawn="1">
            <p:ph type="sldNum" sz="quarter" idx="4"/>
          </p:nvPr>
        </p:nvSpPr>
        <p:spPr>
          <a:xfrm>
            <a:off x="462407" y="5412059"/>
            <a:ext cx="892150" cy="258085"/>
          </a:xfrm>
          <a:prstGeom prst="rect">
            <a:avLst/>
          </a:prstGeom>
        </p:spPr>
        <p:txBody>
          <a:bodyPr vert="horz" lIns="0" tIns="45715" rIns="0" bIns="45715" rtlCol="0" anchor="ctr"/>
          <a:lstStyle>
            <a:lvl1pPr algn="l">
              <a:defRPr sz="800" cap="all" baseline="0">
                <a:solidFill>
                  <a:schemeClr val="tx1">
                    <a:tint val="75000"/>
                  </a:schemeClr>
                </a:solidFill>
              </a:defRPr>
            </a:lvl1pPr>
          </a:lstStyle>
          <a:p>
            <a:r>
              <a:rPr lang="en-GB" dirty="0"/>
              <a:t>Page </a:t>
            </a:r>
            <a:fld id="{BE3DC40E-DBBE-4E2D-9EEC-FBF0DA0E9179}" type="slidenum">
              <a:rPr lang="en-GB" smtClean="0"/>
              <a:pPr/>
              <a:t>‹Nr.›</a:t>
            </a:fld>
            <a:endParaRPr lang="en-GB" dirty="0"/>
          </a:p>
        </p:txBody>
      </p:sp>
      <p:sp>
        <p:nvSpPr>
          <p:cNvPr id="7" name="Datumsplatzhalter 6"/>
          <p:cNvSpPr>
            <a:spLocks noGrp="1"/>
          </p:cNvSpPr>
          <p:nvPr userDrawn="1">
            <p:ph type="dt" sz="half" idx="2"/>
          </p:nvPr>
        </p:nvSpPr>
        <p:spPr>
          <a:xfrm>
            <a:off x="5745181" y="5412059"/>
            <a:ext cx="987407" cy="258085"/>
          </a:xfrm>
          <a:prstGeom prst="rect">
            <a:avLst/>
          </a:prstGeom>
        </p:spPr>
        <p:txBody>
          <a:bodyPr vert="horz" lIns="0" tIns="45715" rIns="0" bIns="45715" rtlCol="0" anchor="ctr"/>
          <a:lstStyle>
            <a:lvl1pPr algn="r">
              <a:defRPr lang="de-DE" sz="800" kern="1200" cap="all" baseline="0" smtClean="0">
                <a:solidFill>
                  <a:schemeClr val="tx1">
                    <a:tint val="75000"/>
                  </a:schemeClr>
                </a:solidFill>
                <a:latin typeface="+mn-lt"/>
                <a:ea typeface="+mn-ea"/>
                <a:cs typeface="+mn-cs"/>
              </a:defRPr>
            </a:lvl1pPr>
          </a:lstStyle>
          <a:p>
            <a:fld id="{AD672231-DCCE-48E5-AF73-62895FE58BB4}" type="datetime1">
              <a:rPr lang="en-GB" smtClean="0"/>
              <a:t>25/08/2023</a:t>
            </a:fld>
            <a:endParaRPr lang="en-GB" dirty="0"/>
          </a:p>
        </p:txBody>
      </p:sp>
      <p:sp>
        <p:nvSpPr>
          <p:cNvPr id="18" name="Rechteck 17"/>
          <p:cNvSpPr/>
          <p:nvPr userDrawn="1"/>
        </p:nvSpPr>
        <p:spPr bwMode="gray">
          <a:xfrm>
            <a:off x="0" y="1043522"/>
            <a:ext cx="9144000" cy="25200"/>
          </a:xfrm>
          <a:prstGeom prst="rect">
            <a:avLst/>
          </a:prstGeom>
          <a:solidFill>
            <a:srgbClr val="0C94B7"/>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      </a:t>
            </a:r>
          </a:p>
        </p:txBody>
      </p:sp>
      <p:sp>
        <p:nvSpPr>
          <p:cNvPr id="15" name="Titelplatzhalter 14"/>
          <p:cNvSpPr>
            <a:spLocks noGrp="1"/>
          </p:cNvSpPr>
          <p:nvPr userDrawn="1">
            <p:ph type="title"/>
          </p:nvPr>
        </p:nvSpPr>
        <p:spPr bwMode="auto">
          <a:xfrm>
            <a:off x="462408" y="139700"/>
            <a:ext cx="6840000" cy="903822"/>
          </a:xfrm>
          <a:prstGeom prst="rect">
            <a:avLst/>
          </a:prstGeom>
        </p:spPr>
        <p:txBody>
          <a:bodyPr vert="horz" lIns="0" tIns="0" rIns="0" bIns="0" rtlCol="0" anchor="ctr">
            <a:normAutofit/>
          </a:bodyPr>
          <a:lstStyle/>
          <a:p>
            <a:r>
              <a:rPr lang="en-GB" dirty="0" err="1"/>
              <a:t>Titelmasterformat</a:t>
            </a:r>
            <a:r>
              <a:rPr lang="en-GB" dirty="0"/>
              <a:t> </a:t>
            </a:r>
            <a:r>
              <a:rPr lang="en-GB" dirty="0" err="1"/>
              <a:t>durch</a:t>
            </a:r>
            <a:r>
              <a:rPr lang="en-GB" dirty="0"/>
              <a:t> </a:t>
            </a:r>
            <a:br>
              <a:rPr lang="en-GB" dirty="0"/>
            </a:br>
            <a:r>
              <a:rPr lang="en-GB" dirty="0" err="1"/>
              <a:t>Klicken</a:t>
            </a:r>
            <a:r>
              <a:rPr lang="en-GB" dirty="0"/>
              <a:t> </a:t>
            </a:r>
            <a:r>
              <a:rPr lang="en-GB" dirty="0" err="1"/>
              <a:t>bearbeiten</a:t>
            </a:r>
            <a:endParaRPr lang="en-GB" dirty="0"/>
          </a:p>
        </p:txBody>
      </p:sp>
      <p:pic>
        <p:nvPicPr>
          <p:cNvPr id="13" name="Grafik 12">
            <a:extLst>
              <a:ext uri="{FF2B5EF4-FFF2-40B4-BE49-F238E27FC236}">
                <a16:creationId xmlns:a16="http://schemas.microsoft.com/office/drawing/2014/main" id="{49925201-EC66-4A08-AB14-A541648A67DE}"/>
              </a:ext>
            </a:extLst>
          </p:cNvPr>
          <p:cNvPicPr>
            <a:picLocks noChangeAspect="1"/>
          </p:cNvPicPr>
          <p:nvPr userDrawn="1"/>
        </p:nvPicPr>
        <p:blipFill>
          <a:blip r:embed="rId17"/>
          <a:stretch>
            <a:fillRect/>
          </a:stretch>
        </p:blipFill>
        <p:spPr>
          <a:xfrm>
            <a:off x="7711621" y="288569"/>
            <a:ext cx="1170000" cy="617280"/>
          </a:xfrm>
          <a:prstGeom prst="rect">
            <a:avLst/>
          </a:prstGeom>
        </p:spPr>
      </p:pic>
      <p:pic>
        <p:nvPicPr>
          <p:cNvPr id="11" name="Grafik 10">
            <a:extLst>
              <a:ext uri="{FF2B5EF4-FFF2-40B4-BE49-F238E27FC236}">
                <a16:creationId xmlns:a16="http://schemas.microsoft.com/office/drawing/2014/main" id="{0A212EC7-C80F-4EBC-9817-97C85E0A8AEB}"/>
              </a:ext>
            </a:extLst>
          </p:cNvPr>
          <p:cNvPicPr>
            <a:picLocks noChangeAspect="1"/>
          </p:cNvPicPr>
          <p:nvPr userDrawn="1"/>
        </p:nvPicPr>
        <p:blipFill>
          <a:blip r:embed="rId18">
            <a:extLst>
              <a:ext uri="{28A0092B-C50C-407E-A947-70E740481C1C}">
                <a14:useLocalDpi xmlns:a14="http://schemas.microsoft.com/office/drawing/2010/main" val="0"/>
              </a:ext>
            </a:extLst>
          </a:blip>
          <a:stretch>
            <a:fillRect/>
          </a:stretch>
        </p:blipFill>
        <p:spPr>
          <a:xfrm>
            <a:off x="7567613" y="5351511"/>
            <a:ext cx="1318058" cy="228552"/>
          </a:xfrm>
          <a:prstGeom prst="rect">
            <a:avLst/>
          </a:prstGeom>
        </p:spPr>
      </p:pic>
    </p:spTree>
  </p:cSld>
  <p:clrMap bg1="lt1" tx1="dk1" bg2="lt2" tx2="dk2" accent1="accent1" accent2="accent2" accent3="accent3" accent4="accent4" accent5="accent5" accent6="accent6" hlink="hlink" folHlink="folHlink"/>
  <p:sldLayoutIdLst>
    <p:sldLayoutId id="2147483671" r:id="rId1"/>
    <p:sldLayoutId id="2147483661" r:id="rId2"/>
    <p:sldLayoutId id="2147483663" r:id="rId3"/>
    <p:sldLayoutId id="2147483675" r:id="rId4"/>
    <p:sldLayoutId id="2147483676" r:id="rId5"/>
    <p:sldLayoutId id="2147483686" r:id="rId6"/>
    <p:sldLayoutId id="2147483687" r:id="rId7"/>
    <p:sldLayoutId id="2147483681" r:id="rId8"/>
    <p:sldLayoutId id="2147483682" r:id="rId9"/>
    <p:sldLayoutId id="2147483688" r:id="rId10"/>
    <p:sldLayoutId id="2147483691" r:id="rId11"/>
    <p:sldLayoutId id="2147483664" r:id="rId12"/>
    <p:sldLayoutId id="2147483667" r:id="rId13"/>
    <p:sldLayoutId id="2147483668" r:id="rId14"/>
    <p:sldLayoutId id="2147483670" r:id="rId15"/>
    <p:sldLayoutId id="2147483692" r:id="rId19"/>
    <p:sldLayoutId id="2147483693" r:id="rId20"/>
    <p:sldLayoutId id="2147483694" r:id="rId21"/>
    <p:sldLayoutId id="2147483695" r:id="rId22"/>
  </p:sldLayoutIdLst>
  <p:transition>
    <p:fade/>
  </p:transition>
  <p:hf hdr="0" dt="0"/>
  <p:txStyles>
    <p:titleStyle>
      <a:lvl1pPr algn="l" defTabSz="914306" rtl="0" eaLnBrk="1" latinLnBrk="0" hangingPunct="1">
        <a:lnSpc>
          <a:spcPct val="100000"/>
        </a:lnSpc>
        <a:spcBef>
          <a:spcPct val="0"/>
        </a:spcBef>
        <a:buNone/>
        <a:defRPr sz="2400" b="1" kern="1200">
          <a:solidFill>
            <a:schemeClr val="tx1"/>
          </a:solidFill>
          <a:latin typeface="Georgia" charset="0"/>
          <a:ea typeface="Georgia" charset="0"/>
          <a:cs typeface="Georgia" charset="0"/>
        </a:defRPr>
      </a:lvl1pPr>
    </p:titleStyle>
    <p:bodyStyle>
      <a:lvl1pPr marL="266700" indent="-266700" algn="l" defTabSz="914306" rtl="0" eaLnBrk="1" latinLnBrk="0" hangingPunct="1">
        <a:lnSpc>
          <a:spcPct val="100000"/>
        </a:lnSpc>
        <a:spcBef>
          <a:spcPts val="0"/>
        </a:spcBef>
        <a:spcAft>
          <a:spcPts val="600"/>
        </a:spcAft>
        <a:buClr>
          <a:schemeClr val="accent1"/>
        </a:buClr>
        <a:buFont typeface="Wingdings" charset="2"/>
        <a:buChar char="§"/>
        <a:defRPr sz="1600" kern="1200">
          <a:solidFill>
            <a:schemeClr val="tx1"/>
          </a:solidFill>
          <a:latin typeface="+mn-lt"/>
          <a:ea typeface="+mn-ea"/>
          <a:cs typeface="+mn-cs"/>
        </a:defRPr>
      </a:lvl1pPr>
      <a:lvl2pPr marL="539750" indent="-273050" algn="l" defTabSz="914306" rtl="0" eaLnBrk="1" latinLnBrk="0" hangingPunct="1">
        <a:lnSpc>
          <a:spcPct val="100000"/>
        </a:lnSpc>
        <a:spcBef>
          <a:spcPts val="0"/>
        </a:spcBef>
        <a:spcAft>
          <a:spcPts val="400"/>
        </a:spcAft>
        <a:buClr>
          <a:schemeClr val="accent1"/>
        </a:buClr>
        <a:buSzPct val="100000"/>
        <a:buFont typeface="Wingdings" charset="2"/>
        <a:buChar char="§"/>
        <a:defRPr sz="1500" kern="1200">
          <a:solidFill>
            <a:schemeClr val="tx1"/>
          </a:solidFill>
          <a:latin typeface="+mn-lt"/>
          <a:ea typeface="+mn-ea"/>
          <a:cs typeface="+mn-cs"/>
        </a:defRPr>
      </a:lvl2pPr>
      <a:lvl3pPr marL="814388" indent="-273050" algn="l" defTabSz="914306" rtl="0" eaLnBrk="1" latinLnBrk="0" hangingPunct="1">
        <a:lnSpc>
          <a:spcPct val="100000"/>
        </a:lnSpc>
        <a:spcBef>
          <a:spcPts val="0"/>
        </a:spcBef>
        <a:spcAft>
          <a:spcPts val="400"/>
        </a:spcAft>
        <a:buClr>
          <a:schemeClr val="accent1"/>
        </a:buClr>
        <a:buFont typeface="Wingdings" charset="2"/>
        <a:buChar char="§"/>
        <a:defRPr sz="1400" kern="1200">
          <a:solidFill>
            <a:schemeClr val="tx1"/>
          </a:solidFill>
          <a:latin typeface="+mn-lt"/>
          <a:ea typeface="+mn-ea"/>
          <a:cs typeface="+mn-cs"/>
        </a:defRPr>
      </a:lvl3pPr>
      <a:lvl4pPr marL="1074738" indent="-266700"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4pPr>
      <a:lvl5pPr marL="1341438" indent="-263525" algn="l" defTabSz="914306" rtl="0" eaLnBrk="1" latinLnBrk="0" hangingPunct="1">
        <a:lnSpc>
          <a:spcPct val="100000"/>
        </a:lnSpc>
        <a:spcBef>
          <a:spcPts val="0"/>
        </a:spcBef>
        <a:spcAft>
          <a:spcPts val="400"/>
        </a:spcAft>
        <a:buClr>
          <a:schemeClr val="accent1"/>
        </a:buClr>
        <a:buFont typeface="Wingdings" charset="2"/>
        <a:buChar char="§"/>
        <a:defRPr sz="1200" kern="1200">
          <a:solidFill>
            <a:schemeClr val="tx1"/>
          </a:solidFill>
          <a:latin typeface="+mn-lt"/>
          <a:ea typeface="+mn-ea"/>
          <a:cs typeface="+mn-cs"/>
        </a:defRPr>
      </a:lvl5pPr>
      <a:lvl6pPr marL="251434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496"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650"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803" indent="-228577" algn="l" defTabSz="914306"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306" rtl="0" eaLnBrk="1" latinLnBrk="0" hangingPunct="1">
        <a:defRPr sz="1800" kern="1200">
          <a:solidFill>
            <a:schemeClr val="tx1"/>
          </a:solidFill>
          <a:latin typeface="+mn-lt"/>
          <a:ea typeface="+mn-ea"/>
          <a:cs typeface="+mn-cs"/>
        </a:defRPr>
      </a:lvl1pPr>
      <a:lvl2pPr marL="457153" algn="l" defTabSz="914306" rtl="0" eaLnBrk="1" latinLnBrk="0" hangingPunct="1">
        <a:defRPr sz="1800" kern="1200">
          <a:solidFill>
            <a:schemeClr val="tx1"/>
          </a:solidFill>
          <a:latin typeface="+mn-lt"/>
          <a:ea typeface="+mn-ea"/>
          <a:cs typeface="+mn-cs"/>
        </a:defRPr>
      </a:lvl2pPr>
      <a:lvl3pPr marL="914306" algn="l" defTabSz="914306" rtl="0" eaLnBrk="1" latinLnBrk="0" hangingPunct="1">
        <a:defRPr sz="1800" kern="1200">
          <a:solidFill>
            <a:schemeClr val="tx1"/>
          </a:solidFill>
          <a:latin typeface="+mn-lt"/>
          <a:ea typeface="+mn-ea"/>
          <a:cs typeface="+mn-cs"/>
        </a:defRPr>
      </a:lvl3pPr>
      <a:lvl4pPr marL="1371460" algn="l" defTabSz="914306" rtl="0" eaLnBrk="1" latinLnBrk="0" hangingPunct="1">
        <a:defRPr sz="1800" kern="1200">
          <a:solidFill>
            <a:schemeClr val="tx1"/>
          </a:solidFill>
          <a:latin typeface="+mn-lt"/>
          <a:ea typeface="+mn-ea"/>
          <a:cs typeface="+mn-cs"/>
        </a:defRPr>
      </a:lvl4pPr>
      <a:lvl5pPr marL="1828613" algn="l" defTabSz="914306" rtl="0" eaLnBrk="1" latinLnBrk="0" hangingPunct="1">
        <a:defRPr sz="1800" kern="1200">
          <a:solidFill>
            <a:schemeClr val="tx1"/>
          </a:solidFill>
          <a:latin typeface="+mn-lt"/>
          <a:ea typeface="+mn-ea"/>
          <a:cs typeface="+mn-cs"/>
        </a:defRPr>
      </a:lvl5pPr>
      <a:lvl6pPr marL="2285767" algn="l" defTabSz="914306" rtl="0" eaLnBrk="1" latinLnBrk="0" hangingPunct="1">
        <a:defRPr sz="1800" kern="1200">
          <a:solidFill>
            <a:schemeClr val="tx1"/>
          </a:solidFill>
          <a:latin typeface="+mn-lt"/>
          <a:ea typeface="+mn-ea"/>
          <a:cs typeface="+mn-cs"/>
        </a:defRPr>
      </a:lvl6pPr>
      <a:lvl7pPr marL="2742920" algn="l" defTabSz="914306" rtl="0" eaLnBrk="1" latinLnBrk="0" hangingPunct="1">
        <a:defRPr sz="1800" kern="1200">
          <a:solidFill>
            <a:schemeClr val="tx1"/>
          </a:solidFill>
          <a:latin typeface="+mn-lt"/>
          <a:ea typeface="+mn-ea"/>
          <a:cs typeface="+mn-cs"/>
        </a:defRPr>
      </a:lvl7pPr>
      <a:lvl8pPr marL="3200073" algn="l" defTabSz="914306" rtl="0" eaLnBrk="1" latinLnBrk="0" hangingPunct="1">
        <a:defRPr sz="1800" kern="1200">
          <a:solidFill>
            <a:schemeClr val="tx1"/>
          </a:solidFill>
          <a:latin typeface="+mn-lt"/>
          <a:ea typeface="+mn-ea"/>
          <a:cs typeface="+mn-cs"/>
        </a:defRPr>
      </a:lvl8pPr>
      <a:lvl9pPr marL="3657227" algn="l" defTabSz="91430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2880" userDrawn="1">
          <p15:clr>
            <a:srgbClr val="F26B43"/>
          </p15:clr>
        </p15:guide>
        <p15:guide id="3" pos="288" userDrawn="1">
          <p15:clr>
            <a:srgbClr val="F26B43"/>
          </p15:clr>
        </p15:guide>
        <p15:guide id="4" pos="5179" userDrawn="1">
          <p15:clr>
            <a:srgbClr val="F26B43"/>
          </p15:clr>
        </p15:guide>
        <p15:guide id="5" pos="5467" userDrawn="1">
          <p15:clr>
            <a:srgbClr val="F26B43"/>
          </p15:clr>
        </p15:guide>
        <p15:guide id="7" orient="horz" pos="3278" userDrawn="1">
          <p15:clr>
            <a:srgbClr val="F26B43"/>
          </p15:clr>
        </p15:guide>
        <p15:guide id="9" orient="horz" pos="182" userDrawn="1">
          <p15:clr>
            <a:srgbClr val="F26B43"/>
          </p15:clr>
        </p15:guide>
        <p15:guide id="10" orient="horz" pos="847" userDrawn="1">
          <p15:clr>
            <a:srgbClr val="F26B43"/>
          </p15:clr>
        </p15:guide>
        <p15:guide id="11" orient="horz" pos="3515" userDrawn="1">
          <p15:clr>
            <a:srgbClr val="F26B43"/>
          </p15:clr>
        </p15:guide>
        <p15:guide id="12" orient="horz" pos="1097"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7.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 Id="rId7" Type="http://schemas.openxmlformats.org/officeDocument/2006/relationships/image" Target="../media/image25.png"/><Relationship Id="rId8" Type="http://schemas.openxmlformats.org/officeDocument/2006/relationships/image" Target="../media/image26.png"/><Relationship Id="rId9" Type="http://schemas.openxmlformats.org/officeDocument/2006/relationships/image" Target="../media/image2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32.png"/><Relationship Id="rId4" Type="http://schemas.openxmlformats.org/officeDocument/2006/relationships/image" Target="../media/image3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3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35.png"/><Relationship Id="rId4" Type="http://schemas.openxmlformats.org/officeDocument/2006/relationships/image" Target="../media/image3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3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39.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40.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4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4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4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4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1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4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4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4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4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5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5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5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54.png"/><Relationship Id="rId4" Type="http://schemas.openxmlformats.org/officeDocument/2006/relationships/image" Target="../media/image55.png"/><Relationship Id="rId5" Type="http://schemas.openxmlformats.org/officeDocument/2006/relationships/image" Target="../media/image35.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56.png"/><Relationship Id="rId4" Type="http://schemas.openxmlformats.org/officeDocument/2006/relationships/image" Target="../media/image57.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rPr lang="en-GB"/>
              <a:t>Forecasting and</a:t>
            </a:r>
            <a:br/>
            <a:r>
              <a:rPr lang="en-GB"/>
              <a:t>time series</a:t>
            </a:r>
          </a:p>
        </p:txBody>
      </p:sp>
      <p:sp>
        <p:nvSpPr>
          <p:cNvPr id="3" name="Subtitle 2"/>
          <p:cNvSpPr>
            <a:spLocks noGrp="1"/>
          </p:cNvSpPr>
          <p:nvPr>
            <p:ph type="subTitle" idx="1"/>
          </p:nvPr>
        </p:nvSpPr>
        <p:spPr/>
        <p:txBody>
          <a:bodyPr/>
          <a:lstStyle/>
          <a:p>
            <a:r>
              <a:rPr lang="en-GB"/>
              <a:t>International Marketing Analytics</a:t>
            </a:r>
          </a:p>
        </p:txBody>
      </p:sp>
      <p:sp>
        <p:nvSpPr>
          <p:cNvPr id="4" name="Text Placeholder 3"/>
          <p:cNvSpPr>
            <a:spLocks noGrp="1"/>
          </p:cNvSpPr>
          <p:nvPr>
            <p:ph type="body" idx="12" sz="quarter"/>
          </p:nvPr>
        </p:nvSpPr>
        <p:spPr/>
        <p:txBody>
          <a:bodyPr/>
          <a:lstStyle/>
          <a:p>
            <a:r>
              <a:rPr lang="en-GB"/>
              <a:t>WT 2026/27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Today</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lan steps step 1"/>
          <p:cNvSpPr/>
          <p:nvPr/>
        </p:nvSpPr>
        <p:spPr>
          <a:xfrm>
            <a:off x="457200" y="1234440"/>
            <a:ext cx="1463040" cy="54864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100" b="1" lang="en-GB">
                <a:solidFill>
                  <a:schemeClr val="tx2"/>
                </a:solidFill>
              </a:rPr>
              <a:t>Concepts</a:t>
            </a:r>
          </a:p>
        </p:txBody>
      </p:sp>
      <p:sp>
        <p:nvSpPr>
          <p:cNvPr id="11" name="Plan steps step 2"/>
          <p:cNvSpPr/>
          <p:nvPr/>
        </p:nvSpPr>
        <p:spPr>
          <a:xfrm>
            <a:off x="1810512"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By</a:t>
            </a:r>
            <a:br/>
            <a:r>
              <a:rPr sz="1100" b="1" lang="en-GB">
                <a:solidFill>
                  <a:schemeClr val="tx2"/>
                </a:solidFill>
              </a:rPr>
              <a:t>hand</a:t>
            </a:r>
          </a:p>
        </p:txBody>
      </p:sp>
      <p:sp>
        <p:nvSpPr>
          <p:cNvPr id="12" name="Plan steps step 3"/>
          <p:cNvSpPr/>
          <p:nvPr/>
        </p:nvSpPr>
        <p:spPr>
          <a:xfrm>
            <a:off x="3163824"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How</a:t>
            </a:r>
            <a:br/>
            <a:r>
              <a:rPr sz="1100" b="1" lang="en-GB">
                <a:solidFill>
                  <a:schemeClr val="tx2"/>
                </a:solidFill>
              </a:rPr>
              <a:t>good?</a:t>
            </a:r>
          </a:p>
        </p:txBody>
      </p:sp>
      <p:sp>
        <p:nvSpPr>
          <p:cNvPr id="13" name="Plan steps step 4"/>
          <p:cNvSpPr/>
          <p:nvPr/>
        </p:nvSpPr>
        <p:spPr>
          <a:xfrm>
            <a:off x="4517136"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Real</a:t>
            </a:r>
            <a:br/>
            <a:r>
              <a:rPr sz="1100" b="1" lang="en-GB">
                <a:solidFill>
                  <a:schemeClr val="tx2"/>
                </a:solidFill>
              </a:rPr>
              <a:t>data</a:t>
            </a:r>
          </a:p>
        </p:txBody>
      </p:sp>
      <p:sp>
        <p:nvSpPr>
          <p:cNvPr id="14" name="Plan steps step 5"/>
          <p:cNvSpPr/>
          <p:nvPr/>
        </p:nvSpPr>
        <p:spPr>
          <a:xfrm>
            <a:off x="5870448"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Python</a:t>
            </a:r>
          </a:p>
        </p:txBody>
      </p:sp>
      <p:sp>
        <p:nvSpPr>
          <p:cNvPr id="15" name="Plan steps step 6"/>
          <p:cNvSpPr/>
          <p:nvPr/>
        </p:nvSpPr>
        <p:spPr>
          <a:xfrm>
            <a:off x="7223760" y="1234440"/>
            <a:ext cx="1463040" cy="54864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100" b="1" lang="en-GB">
                <a:solidFill>
                  <a:schemeClr val="tx2"/>
                </a:solidFill>
              </a:rPr>
              <a:t>In class</a:t>
            </a:r>
          </a:p>
        </p:txBody>
      </p:sp>
      <p:sp>
        <p:nvSpPr>
          <p:cNvPr id="16" name="Theory card body"/>
          <p:cNvSpPr/>
          <p:nvPr/>
        </p:nvSpPr>
        <p:spPr>
          <a:xfrm>
            <a:off x="457200" y="23317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heory card header"/>
          <p:cNvSpPr/>
          <p:nvPr/>
        </p:nvSpPr>
        <p:spPr>
          <a:xfrm>
            <a:off x="45720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heory card heading"/>
          <p:cNvSpPr txBox="1"/>
          <p:nvPr/>
        </p:nvSpPr>
        <p:spPr>
          <a:xfrm>
            <a:off x="59436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Theory, Parts 1 to 3</a:t>
            </a:r>
          </a:p>
        </p:txBody>
      </p:sp>
      <p:pic>
        <p:nvPicPr>
          <p:cNvPr id="19" name="Icon Theory card" descr=""/>
          <p:cNvPicPr>
            <a:picLocks noChangeAspect="1"/>
          </p:cNvPicPr>
          <p:nvPr/>
        </p:nvPicPr>
        <p:blipFill>
          <a:blip r:embed="rId3"/>
          <a:stretch>
            <a:fillRect/>
          </a:stretch>
        </p:blipFill>
        <p:spPr>
          <a:xfrm>
            <a:off x="4064508" y="1970532"/>
            <a:ext cx="310896" cy="310896"/>
          </a:xfrm>
          <a:prstGeom prst="rect">
            <a:avLst/>
          </a:prstGeom>
        </p:spPr>
      </p:pic>
      <p:sp>
        <p:nvSpPr>
          <p:cNvPr id="20" name="Theory card text"/>
          <p:cNvSpPr txBox="1"/>
          <p:nvPr/>
        </p:nvSpPr>
        <p:spPr>
          <a:xfrm>
            <a:off x="621792" y="24688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Trend, season, cycle; stationary or not?</a:t>
            </a:r>
          </a:p>
          <a:p>
            <a:pPr algn="l" marL="182880" indent="-182880">
              <a:spcAft>
                <a:spcPts val="600"/>
              </a:spcAft>
              <a:buClr>
                <a:schemeClr val="accent1"/>
              </a:buClr>
              <a:buFont typeface="Arial"/>
              <a:buChar char="▪"/>
            </a:pPr>
            <a:r>
              <a:rPr sz="1300" b="0" lang="en-GB">
                <a:solidFill>
                  <a:schemeClr val="tx1"/>
                </a:solidFill>
              </a:rPr>
              <a:t>Simple forecasts and smoothing by hand</a:t>
            </a:r>
          </a:p>
          <a:p>
            <a:pPr algn="l" marL="182880" indent="-182880">
              <a:spcAft>
                <a:spcPts val="600"/>
              </a:spcAft>
              <a:buClr>
                <a:schemeClr val="accent1"/>
              </a:buClr>
              <a:buFont typeface="Arial"/>
              <a:buChar char="▪"/>
            </a:pPr>
            <a:r>
              <a:rPr sz="1300" b="0" lang="en-GB">
                <a:solidFill>
                  <a:schemeClr val="tx1"/>
                </a:solidFill>
              </a:rPr>
              <a:t>How good is a forecast?</a:t>
            </a:r>
          </a:p>
        </p:txBody>
      </p:sp>
      <p:sp>
        <p:nvSpPr>
          <p:cNvPr id="21" name="Practice card body"/>
          <p:cNvSpPr/>
          <p:nvPr/>
        </p:nvSpPr>
        <p:spPr>
          <a:xfrm>
            <a:off x="4640580" y="2331720"/>
            <a:ext cx="404622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actice card header"/>
          <p:cNvSpPr/>
          <p:nvPr/>
        </p:nvSpPr>
        <p:spPr>
          <a:xfrm>
            <a:off x="4640580" y="19202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ractice card heading"/>
          <p:cNvSpPr txBox="1"/>
          <p:nvPr/>
        </p:nvSpPr>
        <p:spPr>
          <a:xfrm>
            <a:off x="4777740" y="19202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Practice, Parts 4 to 6</a:t>
            </a:r>
          </a:p>
        </p:txBody>
      </p:sp>
      <p:pic>
        <p:nvPicPr>
          <p:cNvPr id="24" name="Icon Practice card" descr=""/>
          <p:cNvPicPr>
            <a:picLocks noChangeAspect="1"/>
          </p:cNvPicPr>
          <p:nvPr/>
        </p:nvPicPr>
        <p:blipFill>
          <a:blip r:embed="rId4"/>
          <a:stretch>
            <a:fillRect/>
          </a:stretch>
        </p:blipFill>
        <p:spPr>
          <a:xfrm>
            <a:off x="8247888" y="1970532"/>
            <a:ext cx="310896" cy="310896"/>
          </a:xfrm>
          <a:prstGeom prst="rect">
            <a:avLst/>
          </a:prstGeom>
        </p:spPr>
      </p:pic>
      <p:sp>
        <p:nvSpPr>
          <p:cNvPr id="25" name="Practice card text"/>
          <p:cNvSpPr txBox="1"/>
          <p:nvPr/>
        </p:nvSpPr>
        <p:spPr>
          <a:xfrm>
            <a:off x="4805172" y="2468880"/>
            <a:ext cx="3744468" cy="10058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Real data: clothing sales in Australia</a:t>
            </a:r>
          </a:p>
          <a:p>
            <a:pPr algn="l" marL="182880" indent="-182880">
              <a:spcAft>
                <a:spcPts val="600"/>
              </a:spcAft>
              <a:buClr>
                <a:schemeClr val="accent1"/>
              </a:buClr>
              <a:buFont typeface="Arial"/>
              <a:buChar char="▪"/>
            </a:pPr>
            <a:r>
              <a:rPr sz="1300" b="0" lang="en-GB">
                <a:solidFill>
                  <a:schemeClr val="tx1"/>
                </a:solidFill>
              </a:rPr>
              <a:t>Python: a code ladder in ten steps</a:t>
            </a:r>
          </a:p>
          <a:p>
            <a:pPr algn="l" marL="182880" indent="-182880">
              <a:spcAft>
                <a:spcPts val="600"/>
              </a:spcAft>
              <a:buClr>
                <a:schemeClr val="accent1"/>
              </a:buClr>
              <a:buFont typeface="Arial"/>
              <a:buChar char="▪"/>
            </a:pPr>
            <a:r>
              <a:rPr sz="1300" b="0" lang="en-GB">
                <a:solidFill>
                  <a:schemeClr val="tx1"/>
                </a:solidFill>
              </a:rPr>
              <a:t>Online quiz and its answers</a:t>
            </a:r>
          </a:p>
          <a:p>
            <a:pPr algn="l" marL="182880" indent="-182880">
              <a:spcAft>
                <a:spcPts val="600"/>
              </a:spcAft>
              <a:buClr>
                <a:schemeClr val="accent1"/>
              </a:buClr>
              <a:buFont typeface="Arial"/>
              <a:buChar char="▪"/>
            </a:pPr>
            <a:r>
              <a:rPr sz="1300" b="0" lang="en-GB">
                <a:solidFill>
                  <a:schemeClr val="tx1"/>
                </a:solidFill>
              </a:rPr>
              <a:t>Coding exercise and Posit Assistant</a:t>
            </a:r>
          </a:p>
        </p:txBody>
      </p:sp>
      <p:sp>
        <p:nvSpPr>
          <p:cNvPr id="26" name="Question box"/>
          <p:cNvSpPr/>
          <p:nvPr/>
        </p:nvSpPr>
        <p:spPr>
          <a:xfrm>
            <a:off x="457200" y="3749040"/>
            <a:ext cx="8229600" cy="5486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7" name="Icon Question" descr=""/>
          <p:cNvPicPr>
            <a:picLocks noChangeAspect="1"/>
          </p:cNvPicPr>
          <p:nvPr/>
        </p:nvPicPr>
        <p:blipFill>
          <a:blip r:embed="rId5"/>
          <a:stretch>
            <a:fillRect/>
          </a:stretch>
        </p:blipFill>
        <p:spPr>
          <a:xfrm>
            <a:off x="658368" y="3840480"/>
            <a:ext cx="365760" cy="365760"/>
          </a:xfrm>
          <a:prstGeom prst="rect">
            <a:avLst/>
          </a:prstGeom>
        </p:spPr>
      </p:pic>
      <p:sp>
        <p:nvSpPr>
          <p:cNvPr id="28" name="Question text"/>
          <p:cNvSpPr txBox="1"/>
          <p:nvPr/>
        </p:nvSpPr>
        <p:spPr>
          <a:xfrm>
            <a:off x="1207008" y="3749040"/>
            <a:ext cx="7315200" cy="548640"/>
          </a:xfrm>
          <a:prstGeom prst="rect">
            <a:avLst/>
          </a:prstGeom>
          <a:noFill/>
        </p:spPr>
        <p:txBody>
          <a:bodyPr wrap="square" lIns="0" rIns="0" tIns="0" bIns="0" anchor="ctr">
            <a:noAutofit/>
          </a:bodyPr>
          <a:lstStyle/>
          <a:p>
            <a:pPr algn="l">
              <a:spcAft>
                <a:spcPts val="400"/>
              </a:spcAft>
            </a:pPr>
            <a:r>
              <a:rPr sz="1300" b="1" lang="en-GB">
                <a:solidFill>
                  <a:schemeClr val="bg1"/>
                </a:solidFill>
              </a:rPr>
              <a:t>Question of the day: </a:t>
            </a:r>
            <a:r>
              <a:rPr sz="1300" b="0" lang="en-GB">
                <a:solidFill>
                  <a:schemeClr val="bg1"/>
                </a:solidFill>
              </a:rPr>
              <a:t>how much will we sell next month, and how sure can we be?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Our example: planning demand in two shops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tory band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Story 1" descr=""/>
          <p:cNvPicPr>
            <a:picLocks noChangeAspect="1"/>
          </p:cNvPicPr>
          <p:nvPr/>
        </p:nvPicPr>
        <p:blipFill>
          <a:blip r:embed="rId3"/>
          <a:stretch>
            <a:fillRect/>
          </a:stretch>
        </p:blipFill>
        <p:spPr>
          <a:xfrm>
            <a:off x="621792" y="1335024"/>
            <a:ext cx="310896" cy="310896"/>
          </a:xfrm>
          <a:prstGeom prst="rect">
            <a:avLst/>
          </a:prstGeom>
        </p:spPr>
      </p:pic>
      <p:sp>
        <p:nvSpPr>
          <p:cNvPr id="12" name="Story text 1"/>
          <p:cNvSpPr txBox="1"/>
          <p:nvPr/>
        </p:nvSpPr>
        <p:spPr>
          <a:xfrm>
            <a:off x="1115568" y="1234440"/>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problem: </a:t>
            </a:r>
            <a:r>
              <a:rPr sz="1300" b="0" lang="en-GB">
                <a:solidFill>
                  <a:schemeClr val="tx1"/>
                </a:solidFill>
              </a:rPr>
              <a:t>a marketing manager must plan before demand arrives.</a:t>
            </a:r>
          </a:p>
        </p:txBody>
      </p:sp>
      <p:sp>
        <p:nvSpPr>
          <p:cNvPr id="13" name="Story band 2"/>
          <p:cNvSpPr/>
          <p:nvPr/>
        </p:nvSpPr>
        <p:spPr>
          <a:xfrm>
            <a:off x="457200" y="188366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4" name="Icon Story 2" descr=""/>
          <p:cNvPicPr>
            <a:picLocks noChangeAspect="1"/>
          </p:cNvPicPr>
          <p:nvPr/>
        </p:nvPicPr>
        <p:blipFill>
          <a:blip r:embed="rId4"/>
          <a:stretch>
            <a:fillRect/>
          </a:stretch>
        </p:blipFill>
        <p:spPr>
          <a:xfrm>
            <a:off x="621792" y="1984248"/>
            <a:ext cx="310896" cy="310896"/>
          </a:xfrm>
          <a:prstGeom prst="rect">
            <a:avLst/>
          </a:prstGeom>
        </p:spPr>
      </p:pic>
      <p:sp>
        <p:nvSpPr>
          <p:cNvPr id="15" name="Story text 2"/>
          <p:cNvSpPr txBox="1"/>
          <p:nvPr/>
        </p:nvSpPr>
        <p:spPr>
          <a:xfrm>
            <a:off x="1115568" y="1883664"/>
            <a:ext cx="7452360" cy="512064"/>
          </a:xfrm>
          <a:prstGeom prst="rect">
            <a:avLst/>
          </a:prstGeom>
          <a:noFill/>
        </p:spPr>
        <p:txBody>
          <a:bodyPr wrap="square" lIns="0" rIns="0" tIns="0" bIns="0" anchor="ctr">
            <a:noAutofit/>
          </a:bodyPr>
          <a:lstStyle/>
          <a:p>
            <a:pPr algn="l">
              <a:spcAft>
                <a:spcPts val="400"/>
              </a:spcAft>
            </a:pPr>
            <a:r>
              <a:rPr sz="1300" b="1" lang="en-GB">
                <a:solidFill>
                  <a:schemeClr val="tx2"/>
                </a:solidFill>
              </a:rPr>
              <a:t>The question: </a:t>
            </a:r>
            <a:r>
              <a:rPr sz="1300" b="0" lang="en-GB">
                <a:solidFill>
                  <a:schemeClr val="tx1"/>
                </a:solidFill>
              </a:rPr>
              <a:t>how much will we sell next week, next quarter, next Christmas?</a:t>
            </a:r>
          </a:p>
        </p:txBody>
      </p:sp>
      <p:sp>
        <p:nvSpPr>
          <p:cNvPr id="16" name="Use Stock tile"/>
          <p:cNvSpPr/>
          <p:nvPr/>
        </p:nvSpPr>
        <p:spPr>
          <a:xfrm>
            <a:off x="45720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7" name="Icon Use Stock" descr=""/>
          <p:cNvPicPr>
            <a:picLocks noChangeAspect="1"/>
          </p:cNvPicPr>
          <p:nvPr/>
        </p:nvPicPr>
        <p:blipFill>
          <a:blip r:embed="rId5"/>
          <a:stretch>
            <a:fillRect/>
          </a:stretch>
        </p:blipFill>
        <p:spPr>
          <a:xfrm>
            <a:off x="594360" y="2670048"/>
            <a:ext cx="365760" cy="365760"/>
          </a:xfrm>
          <a:prstGeom prst="rect">
            <a:avLst/>
          </a:prstGeom>
        </p:spPr>
      </p:pic>
      <p:sp>
        <p:nvSpPr>
          <p:cNvPr id="18" name="Use Stock heading"/>
          <p:cNvSpPr txBox="1"/>
          <p:nvPr/>
        </p:nvSpPr>
        <p:spPr>
          <a:xfrm>
            <a:off x="105156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Stock</a:t>
            </a:r>
          </a:p>
        </p:txBody>
      </p:sp>
      <p:sp>
        <p:nvSpPr>
          <p:cNvPr id="19" name="Use Stock text"/>
          <p:cNvSpPr txBox="1"/>
          <p:nvPr/>
        </p:nvSpPr>
        <p:spPr>
          <a:xfrm>
            <a:off x="59436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order before the peak</a:t>
            </a:r>
          </a:p>
        </p:txBody>
      </p:sp>
      <p:sp>
        <p:nvSpPr>
          <p:cNvPr id="20" name="Use Staff tile"/>
          <p:cNvSpPr/>
          <p:nvPr/>
        </p:nvSpPr>
        <p:spPr>
          <a:xfrm>
            <a:off x="324612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Use Staff" descr=""/>
          <p:cNvPicPr>
            <a:picLocks noChangeAspect="1"/>
          </p:cNvPicPr>
          <p:nvPr/>
        </p:nvPicPr>
        <p:blipFill>
          <a:blip r:embed="rId6"/>
          <a:stretch>
            <a:fillRect/>
          </a:stretch>
        </p:blipFill>
        <p:spPr>
          <a:xfrm>
            <a:off x="3383280" y="2670048"/>
            <a:ext cx="365760" cy="365760"/>
          </a:xfrm>
          <a:prstGeom prst="rect">
            <a:avLst/>
          </a:prstGeom>
        </p:spPr>
      </p:pic>
      <p:sp>
        <p:nvSpPr>
          <p:cNvPr id="22" name="Use Staff heading"/>
          <p:cNvSpPr txBox="1"/>
          <p:nvPr/>
        </p:nvSpPr>
        <p:spPr>
          <a:xfrm>
            <a:off x="384048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Staff</a:t>
            </a:r>
          </a:p>
        </p:txBody>
      </p:sp>
      <p:sp>
        <p:nvSpPr>
          <p:cNvPr id="23" name="Use Staff text"/>
          <p:cNvSpPr txBox="1"/>
          <p:nvPr/>
        </p:nvSpPr>
        <p:spPr>
          <a:xfrm>
            <a:off x="338328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shifts for the busy weeks</a:t>
            </a:r>
          </a:p>
        </p:txBody>
      </p:sp>
      <p:sp>
        <p:nvSpPr>
          <p:cNvPr id="24" name="Use Media budget tile"/>
          <p:cNvSpPr/>
          <p:nvPr/>
        </p:nvSpPr>
        <p:spPr>
          <a:xfrm>
            <a:off x="6035040" y="2532888"/>
            <a:ext cx="2651760" cy="1143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5" name="Icon Use Media budget" descr=""/>
          <p:cNvPicPr>
            <a:picLocks noChangeAspect="1"/>
          </p:cNvPicPr>
          <p:nvPr/>
        </p:nvPicPr>
        <p:blipFill>
          <a:blip r:embed="rId7"/>
          <a:stretch>
            <a:fillRect/>
          </a:stretch>
        </p:blipFill>
        <p:spPr>
          <a:xfrm>
            <a:off x="6172200" y="2670048"/>
            <a:ext cx="365760" cy="365760"/>
          </a:xfrm>
          <a:prstGeom prst="rect">
            <a:avLst/>
          </a:prstGeom>
        </p:spPr>
      </p:pic>
      <p:sp>
        <p:nvSpPr>
          <p:cNvPr id="26" name="Use Media budget heading"/>
          <p:cNvSpPr txBox="1"/>
          <p:nvPr/>
        </p:nvSpPr>
        <p:spPr>
          <a:xfrm>
            <a:off x="6629400" y="2670048"/>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Media budget</a:t>
            </a:r>
          </a:p>
        </p:txBody>
      </p:sp>
      <p:sp>
        <p:nvSpPr>
          <p:cNvPr id="27" name="Use Media budget text"/>
          <p:cNvSpPr txBox="1"/>
          <p:nvPr/>
        </p:nvSpPr>
        <p:spPr>
          <a:xfrm>
            <a:off x="6172200" y="3154680"/>
            <a:ext cx="2377440" cy="457200"/>
          </a:xfrm>
          <a:prstGeom prst="rect">
            <a:avLst/>
          </a:prstGeom>
          <a:noFill/>
        </p:spPr>
        <p:txBody>
          <a:bodyPr wrap="square" lIns="0" rIns="0" tIns="0" bIns="0" anchor="t">
            <a:noAutofit/>
          </a:bodyPr>
          <a:lstStyle/>
          <a:p>
            <a:pPr algn="l">
              <a:spcAft>
                <a:spcPts val="400"/>
              </a:spcAft>
            </a:pPr>
            <a:r>
              <a:rPr sz="1200" b="0" lang="en-GB">
                <a:solidFill>
                  <a:schemeClr val="tx1"/>
                </a:solidFill>
              </a:rPr>
              <a:t>spend when buyers are there</a:t>
            </a:r>
          </a:p>
        </p:txBody>
      </p:sp>
      <p:sp>
        <p:nvSpPr>
          <p:cNvPr id="28" name="Shops message box"/>
          <p:cNvSpPr/>
          <p:nvPr/>
        </p:nvSpPr>
        <p:spPr>
          <a:xfrm>
            <a:off x="457200" y="3813048"/>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hops message text"/>
          <p:cNvSpPr txBox="1"/>
          <p:nvPr/>
        </p:nvSpPr>
        <p:spPr>
          <a:xfrm>
            <a:off x="658368" y="3813048"/>
            <a:ext cx="7827264" cy="594360"/>
          </a:xfrm>
          <a:prstGeom prst="rect">
            <a:avLst/>
          </a:prstGeom>
          <a:noFill/>
        </p:spPr>
        <p:txBody>
          <a:bodyPr wrap="square" lIns="0" rIns="0" tIns="0" bIns="0" anchor="ctr">
            <a:noAutofit/>
          </a:bodyPr>
          <a:lstStyle/>
          <a:p>
            <a:pPr algn="l">
              <a:spcAft>
                <a:spcPts val="400"/>
              </a:spcAft>
            </a:pPr>
            <a:r>
              <a:rPr sz="1200" b="1" lang="en-GB">
                <a:solidFill>
                  <a:schemeClr val="bg1"/>
                </a:solidFill>
              </a:rPr>
              <a:t>Two tiny shops first: </a:t>
            </a:r>
            <a:r>
              <a:rPr sz="1200" b="0" lang="en-GB">
                <a:solidFill>
                  <a:schemeClr val="bg1"/>
                </a:solidFill>
              </a:rPr>
              <a:t>a phone shop (contracts per week) and a chocolate web shop (sales per quarter); real data in Part 4.</a:t>
            </a:r>
          </a:p>
        </p:txBody>
      </p:sp>
      <p:sp>
        <p:nvSpPr>
          <p:cNvPr id="30"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 built for this course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data: one row per period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hone label"/>
          <p:cNvSpPr txBox="1"/>
          <p:nvPr/>
        </p:nvSpPr>
        <p:spPr>
          <a:xfrm>
            <a:off x="457200" y="1234440"/>
            <a:ext cx="822960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Phone shop: new contracts per week</a:t>
            </a:r>
          </a:p>
        </p:txBody>
      </p:sp>
      <p:sp>
        <p:nvSpPr>
          <p:cNvPr id="11" name="Phone grid 1-1"/>
          <p:cNvSpPr/>
          <p:nvPr/>
        </p:nvSpPr>
        <p:spPr>
          <a:xfrm>
            <a:off x="457200" y="1572768"/>
            <a:ext cx="161848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hone grid text 1-1"/>
          <p:cNvSpPr txBox="1"/>
          <p:nvPr/>
        </p:nvSpPr>
        <p:spPr>
          <a:xfrm>
            <a:off x="548640" y="1572768"/>
            <a:ext cx="1435608" cy="329184"/>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3" name="Phone grid 1-2"/>
          <p:cNvSpPr/>
          <p:nvPr/>
        </p:nvSpPr>
        <p:spPr>
          <a:xfrm>
            <a:off x="210312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hone grid text 1-2"/>
          <p:cNvSpPr txBox="1"/>
          <p:nvPr/>
        </p:nvSpPr>
        <p:spPr>
          <a:xfrm>
            <a:off x="219456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1</a:t>
            </a:r>
          </a:p>
        </p:txBody>
      </p:sp>
      <p:sp>
        <p:nvSpPr>
          <p:cNvPr id="15" name="Phone grid 1-3"/>
          <p:cNvSpPr/>
          <p:nvPr/>
        </p:nvSpPr>
        <p:spPr>
          <a:xfrm>
            <a:off x="292608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hone grid text 1-3"/>
          <p:cNvSpPr txBox="1"/>
          <p:nvPr/>
        </p:nvSpPr>
        <p:spPr>
          <a:xfrm>
            <a:off x="301752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2</a:t>
            </a:r>
          </a:p>
        </p:txBody>
      </p:sp>
      <p:sp>
        <p:nvSpPr>
          <p:cNvPr id="17" name="Phone grid 1-4"/>
          <p:cNvSpPr/>
          <p:nvPr/>
        </p:nvSpPr>
        <p:spPr>
          <a:xfrm>
            <a:off x="374904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hone grid text 1-4"/>
          <p:cNvSpPr txBox="1"/>
          <p:nvPr/>
        </p:nvSpPr>
        <p:spPr>
          <a:xfrm>
            <a:off x="384048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3</a:t>
            </a:r>
          </a:p>
        </p:txBody>
      </p:sp>
      <p:sp>
        <p:nvSpPr>
          <p:cNvPr id="19" name="Phone grid 1-5"/>
          <p:cNvSpPr/>
          <p:nvPr/>
        </p:nvSpPr>
        <p:spPr>
          <a:xfrm>
            <a:off x="457200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hone grid text 1-5"/>
          <p:cNvSpPr txBox="1"/>
          <p:nvPr/>
        </p:nvSpPr>
        <p:spPr>
          <a:xfrm>
            <a:off x="466344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4</a:t>
            </a:r>
          </a:p>
        </p:txBody>
      </p:sp>
      <p:sp>
        <p:nvSpPr>
          <p:cNvPr id="21" name="Phone grid 1-6"/>
          <p:cNvSpPr/>
          <p:nvPr/>
        </p:nvSpPr>
        <p:spPr>
          <a:xfrm>
            <a:off x="539496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hone grid text 1-6"/>
          <p:cNvSpPr txBox="1"/>
          <p:nvPr/>
        </p:nvSpPr>
        <p:spPr>
          <a:xfrm>
            <a:off x="548640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5</a:t>
            </a:r>
          </a:p>
        </p:txBody>
      </p:sp>
      <p:sp>
        <p:nvSpPr>
          <p:cNvPr id="23" name="Phone grid 1-7"/>
          <p:cNvSpPr/>
          <p:nvPr/>
        </p:nvSpPr>
        <p:spPr>
          <a:xfrm>
            <a:off x="621792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hone grid text 1-7"/>
          <p:cNvSpPr txBox="1"/>
          <p:nvPr/>
        </p:nvSpPr>
        <p:spPr>
          <a:xfrm>
            <a:off x="630936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6</a:t>
            </a:r>
          </a:p>
        </p:txBody>
      </p:sp>
      <p:sp>
        <p:nvSpPr>
          <p:cNvPr id="25" name="Phone grid 1-8"/>
          <p:cNvSpPr/>
          <p:nvPr/>
        </p:nvSpPr>
        <p:spPr>
          <a:xfrm>
            <a:off x="7040880" y="1572768"/>
            <a:ext cx="79552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hone grid text 1-8"/>
          <p:cNvSpPr txBox="1"/>
          <p:nvPr/>
        </p:nvSpPr>
        <p:spPr>
          <a:xfrm>
            <a:off x="713232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7</a:t>
            </a:r>
          </a:p>
        </p:txBody>
      </p:sp>
      <p:sp>
        <p:nvSpPr>
          <p:cNvPr id="27" name="Phone grid 1-9"/>
          <p:cNvSpPr/>
          <p:nvPr/>
        </p:nvSpPr>
        <p:spPr>
          <a:xfrm>
            <a:off x="7863840" y="1572768"/>
            <a:ext cx="8229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hone grid text 1-9"/>
          <p:cNvSpPr txBox="1"/>
          <p:nvPr/>
        </p:nvSpPr>
        <p:spPr>
          <a:xfrm>
            <a:off x="7955280" y="1572768"/>
            <a:ext cx="612648" cy="329184"/>
          </a:xfrm>
          <a:prstGeom prst="rect">
            <a:avLst/>
          </a:prstGeom>
          <a:noFill/>
        </p:spPr>
        <p:txBody>
          <a:bodyPr wrap="square" lIns="0" rIns="0" tIns="0" bIns="0" anchor="ctr">
            <a:noAutofit/>
          </a:bodyPr>
          <a:lstStyle/>
          <a:p>
            <a:pPr algn="r">
              <a:spcAft>
                <a:spcPts val="400"/>
              </a:spcAft>
            </a:pPr>
            <a:r>
              <a:rPr sz="1200" b="1" lang="en-GB">
                <a:solidFill>
                  <a:schemeClr val="bg1"/>
                </a:solidFill>
              </a:rPr>
              <a:t>8</a:t>
            </a:r>
          </a:p>
        </p:txBody>
      </p:sp>
      <p:sp>
        <p:nvSpPr>
          <p:cNvPr id="29" name="Phone grid 2-1"/>
          <p:cNvSpPr/>
          <p:nvPr/>
        </p:nvSpPr>
        <p:spPr>
          <a:xfrm>
            <a:off x="457200" y="1929384"/>
            <a:ext cx="161848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Phone grid text 2-1"/>
          <p:cNvSpPr txBox="1"/>
          <p:nvPr/>
        </p:nvSpPr>
        <p:spPr>
          <a:xfrm>
            <a:off x="548640" y="1929384"/>
            <a:ext cx="1435608" cy="329184"/>
          </a:xfrm>
          <a:prstGeom prst="rect">
            <a:avLst/>
          </a:prstGeom>
          <a:noFill/>
        </p:spPr>
        <p:txBody>
          <a:bodyPr wrap="square" lIns="0" rIns="0" tIns="0" bIns="0" anchor="ctr">
            <a:noAutofit/>
          </a:bodyPr>
          <a:lstStyle/>
          <a:p>
            <a:pPr algn="l">
              <a:spcAft>
                <a:spcPts val="400"/>
              </a:spcAft>
            </a:pPr>
            <a:r>
              <a:rPr sz="1200" b="1" lang="en-GB">
                <a:solidFill>
                  <a:schemeClr val="tx2"/>
                </a:solidFill>
              </a:rPr>
              <a:t>Contracts</a:t>
            </a:r>
          </a:p>
        </p:txBody>
      </p:sp>
      <p:sp>
        <p:nvSpPr>
          <p:cNvPr id="31" name="Phone grid 2-2"/>
          <p:cNvSpPr/>
          <p:nvPr/>
        </p:nvSpPr>
        <p:spPr>
          <a:xfrm>
            <a:off x="210312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Phone grid text 2-2"/>
          <p:cNvSpPr txBox="1"/>
          <p:nvPr/>
        </p:nvSpPr>
        <p:spPr>
          <a:xfrm>
            <a:off x="219456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33" name="Phone grid 2-3"/>
          <p:cNvSpPr/>
          <p:nvPr/>
        </p:nvSpPr>
        <p:spPr>
          <a:xfrm>
            <a:off x="292608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hone grid text 2-3"/>
          <p:cNvSpPr txBox="1"/>
          <p:nvPr/>
        </p:nvSpPr>
        <p:spPr>
          <a:xfrm>
            <a:off x="301752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44</a:t>
            </a:r>
          </a:p>
        </p:txBody>
      </p:sp>
      <p:sp>
        <p:nvSpPr>
          <p:cNvPr id="35" name="Phone grid 2-4"/>
          <p:cNvSpPr/>
          <p:nvPr/>
        </p:nvSpPr>
        <p:spPr>
          <a:xfrm>
            <a:off x="374904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Phone grid text 2-4"/>
          <p:cNvSpPr txBox="1"/>
          <p:nvPr/>
        </p:nvSpPr>
        <p:spPr>
          <a:xfrm>
            <a:off x="384048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42</a:t>
            </a:r>
          </a:p>
        </p:txBody>
      </p:sp>
      <p:sp>
        <p:nvSpPr>
          <p:cNvPr id="37" name="Phone grid 2-5"/>
          <p:cNvSpPr/>
          <p:nvPr/>
        </p:nvSpPr>
        <p:spPr>
          <a:xfrm>
            <a:off x="457200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Phone grid text 2-5"/>
          <p:cNvSpPr txBox="1"/>
          <p:nvPr/>
        </p:nvSpPr>
        <p:spPr>
          <a:xfrm>
            <a:off x="466344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46</a:t>
            </a:r>
          </a:p>
        </p:txBody>
      </p:sp>
      <p:sp>
        <p:nvSpPr>
          <p:cNvPr id="39" name="Phone grid 2-6"/>
          <p:cNvSpPr/>
          <p:nvPr/>
        </p:nvSpPr>
        <p:spPr>
          <a:xfrm>
            <a:off x="539496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Phone grid text 2-6"/>
          <p:cNvSpPr txBox="1"/>
          <p:nvPr/>
        </p:nvSpPr>
        <p:spPr>
          <a:xfrm>
            <a:off x="548640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41" name="Phone grid 2-7"/>
          <p:cNvSpPr/>
          <p:nvPr/>
        </p:nvSpPr>
        <p:spPr>
          <a:xfrm>
            <a:off x="621792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Phone grid text 2-7"/>
          <p:cNvSpPr txBox="1"/>
          <p:nvPr/>
        </p:nvSpPr>
        <p:spPr>
          <a:xfrm>
            <a:off x="630936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49</a:t>
            </a:r>
          </a:p>
        </p:txBody>
      </p:sp>
      <p:sp>
        <p:nvSpPr>
          <p:cNvPr id="43" name="Phone grid 2-8"/>
          <p:cNvSpPr/>
          <p:nvPr/>
        </p:nvSpPr>
        <p:spPr>
          <a:xfrm>
            <a:off x="7040880" y="1929384"/>
            <a:ext cx="79552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Phone grid text 2-8"/>
          <p:cNvSpPr txBox="1"/>
          <p:nvPr/>
        </p:nvSpPr>
        <p:spPr>
          <a:xfrm>
            <a:off x="713232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53</a:t>
            </a:r>
          </a:p>
        </p:txBody>
      </p:sp>
      <p:sp>
        <p:nvSpPr>
          <p:cNvPr id="45" name="Phone grid 2-9"/>
          <p:cNvSpPr/>
          <p:nvPr/>
        </p:nvSpPr>
        <p:spPr>
          <a:xfrm>
            <a:off x="7863840" y="1929384"/>
            <a:ext cx="8229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Phone grid text 2-9"/>
          <p:cNvSpPr txBox="1"/>
          <p:nvPr/>
        </p:nvSpPr>
        <p:spPr>
          <a:xfrm>
            <a:off x="7955280" y="1929384"/>
            <a:ext cx="612648" cy="329184"/>
          </a:xfrm>
          <a:prstGeom prst="rect">
            <a:avLst/>
          </a:prstGeom>
          <a:noFill/>
        </p:spPr>
        <p:txBody>
          <a:bodyPr wrap="square" lIns="0" rIns="0" tIns="0" bIns="0" anchor="ctr">
            <a:noAutofit/>
          </a:bodyPr>
          <a:lstStyle/>
          <a:p>
            <a:pPr algn="r">
              <a:spcAft>
                <a:spcPts val="400"/>
              </a:spcAft>
            </a:pPr>
            <a:r>
              <a:rPr sz="1200" b="0" lang="en-GB">
                <a:solidFill>
                  <a:schemeClr val="tx1"/>
                </a:solidFill>
              </a:rPr>
              <a:t>54</a:t>
            </a:r>
          </a:p>
        </p:txBody>
      </p:sp>
      <p:sp>
        <p:nvSpPr>
          <p:cNvPr id="47" name="Chocolate label"/>
          <p:cNvSpPr txBox="1"/>
          <p:nvPr/>
        </p:nvSpPr>
        <p:spPr>
          <a:xfrm>
            <a:off x="457200" y="2423160"/>
            <a:ext cx="8229600" cy="329184"/>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Chocolate shop: sales per quarter, k EUR</a:t>
            </a:r>
          </a:p>
        </p:txBody>
      </p:sp>
      <p:sp>
        <p:nvSpPr>
          <p:cNvPr id="48" name="Chocolate grid 1-1"/>
          <p:cNvSpPr/>
          <p:nvPr/>
        </p:nvSpPr>
        <p:spPr>
          <a:xfrm>
            <a:off x="457200" y="2761488"/>
            <a:ext cx="88696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Chocolate grid text 1-1"/>
          <p:cNvSpPr txBox="1"/>
          <p:nvPr/>
        </p:nvSpPr>
        <p:spPr>
          <a:xfrm>
            <a:off x="548640" y="2761488"/>
            <a:ext cx="704088" cy="310896"/>
          </a:xfrm>
          <a:prstGeom prst="rect">
            <a:avLst/>
          </a:prstGeom>
          <a:noFill/>
        </p:spPr>
        <p:txBody>
          <a:bodyPr wrap="square" lIns="0" rIns="0" tIns="0" bIns="0" anchor="ctr">
            <a:noAutofit/>
          </a:bodyPr>
          <a:lstStyle/>
          <a:p>
            <a:pPr algn="l">
              <a:spcAft>
                <a:spcPts val="400"/>
              </a:spcAft>
            </a:pPr>
            <a:r>
              <a:rPr sz="1200" b="1" lang="en-GB">
                <a:solidFill>
                  <a:schemeClr val="bg1"/>
                </a:solidFill>
              </a:rPr>
              <a:t/>
            </a:r>
          </a:p>
        </p:txBody>
      </p:sp>
      <p:sp>
        <p:nvSpPr>
          <p:cNvPr id="50" name="Chocolate grid 1-2"/>
          <p:cNvSpPr/>
          <p:nvPr/>
        </p:nvSpPr>
        <p:spPr>
          <a:xfrm>
            <a:off x="1371600" y="2761488"/>
            <a:ext cx="61264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Chocolate grid text 1-2"/>
          <p:cNvSpPr txBox="1"/>
          <p:nvPr/>
        </p:nvSpPr>
        <p:spPr>
          <a:xfrm>
            <a:off x="1463040" y="2761488"/>
            <a:ext cx="429768" cy="310896"/>
          </a:xfrm>
          <a:prstGeom prst="rect">
            <a:avLst/>
          </a:prstGeom>
          <a:noFill/>
        </p:spPr>
        <p:txBody>
          <a:bodyPr wrap="square" lIns="0" rIns="0" tIns="0" bIns="0" anchor="ctr">
            <a:noAutofit/>
          </a:bodyPr>
          <a:lstStyle/>
          <a:p>
            <a:pPr algn="r">
              <a:spcAft>
                <a:spcPts val="400"/>
              </a:spcAft>
            </a:pPr>
            <a:r>
              <a:rPr sz="1200" b="1" lang="en-GB">
                <a:solidFill>
                  <a:schemeClr val="bg1"/>
                </a:solidFill>
              </a:rPr>
              <a:t>Q1</a:t>
            </a:r>
          </a:p>
        </p:txBody>
      </p:sp>
      <p:sp>
        <p:nvSpPr>
          <p:cNvPr id="52" name="Chocolate grid 1-3"/>
          <p:cNvSpPr/>
          <p:nvPr/>
        </p:nvSpPr>
        <p:spPr>
          <a:xfrm>
            <a:off x="2011680" y="2761488"/>
            <a:ext cx="61264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Chocolate grid text 1-3"/>
          <p:cNvSpPr txBox="1"/>
          <p:nvPr/>
        </p:nvSpPr>
        <p:spPr>
          <a:xfrm>
            <a:off x="2103120" y="2761488"/>
            <a:ext cx="429768" cy="310896"/>
          </a:xfrm>
          <a:prstGeom prst="rect">
            <a:avLst/>
          </a:prstGeom>
          <a:noFill/>
        </p:spPr>
        <p:txBody>
          <a:bodyPr wrap="square" lIns="0" rIns="0" tIns="0" bIns="0" anchor="ctr">
            <a:noAutofit/>
          </a:bodyPr>
          <a:lstStyle/>
          <a:p>
            <a:pPr algn="r">
              <a:spcAft>
                <a:spcPts val="400"/>
              </a:spcAft>
            </a:pPr>
            <a:r>
              <a:rPr sz="1200" b="1" lang="en-GB">
                <a:solidFill>
                  <a:schemeClr val="bg1"/>
                </a:solidFill>
              </a:rPr>
              <a:t>Q2</a:t>
            </a:r>
          </a:p>
        </p:txBody>
      </p:sp>
      <p:sp>
        <p:nvSpPr>
          <p:cNvPr id="54" name="Chocolate grid 1-4"/>
          <p:cNvSpPr/>
          <p:nvPr/>
        </p:nvSpPr>
        <p:spPr>
          <a:xfrm>
            <a:off x="2651760" y="2761488"/>
            <a:ext cx="612648"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Chocolate grid text 1-4"/>
          <p:cNvSpPr txBox="1"/>
          <p:nvPr/>
        </p:nvSpPr>
        <p:spPr>
          <a:xfrm>
            <a:off x="2743200" y="2761488"/>
            <a:ext cx="429768" cy="310896"/>
          </a:xfrm>
          <a:prstGeom prst="rect">
            <a:avLst/>
          </a:prstGeom>
          <a:noFill/>
        </p:spPr>
        <p:txBody>
          <a:bodyPr wrap="square" lIns="0" rIns="0" tIns="0" bIns="0" anchor="ctr">
            <a:noAutofit/>
          </a:bodyPr>
          <a:lstStyle/>
          <a:p>
            <a:pPr algn="r">
              <a:spcAft>
                <a:spcPts val="400"/>
              </a:spcAft>
            </a:pPr>
            <a:r>
              <a:rPr sz="1200" b="1" lang="en-GB">
                <a:solidFill>
                  <a:schemeClr val="bg1"/>
                </a:solidFill>
              </a:rPr>
              <a:t>Q3</a:t>
            </a:r>
          </a:p>
        </p:txBody>
      </p:sp>
      <p:sp>
        <p:nvSpPr>
          <p:cNvPr id="56" name="Chocolate grid 1-5"/>
          <p:cNvSpPr/>
          <p:nvPr/>
        </p:nvSpPr>
        <p:spPr>
          <a:xfrm>
            <a:off x="3291840" y="2761488"/>
            <a:ext cx="640080" cy="31089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Chocolate grid text 1-5"/>
          <p:cNvSpPr txBox="1"/>
          <p:nvPr/>
        </p:nvSpPr>
        <p:spPr>
          <a:xfrm>
            <a:off x="3383280" y="2761488"/>
            <a:ext cx="429768" cy="310896"/>
          </a:xfrm>
          <a:prstGeom prst="rect">
            <a:avLst/>
          </a:prstGeom>
          <a:noFill/>
        </p:spPr>
        <p:txBody>
          <a:bodyPr wrap="square" lIns="0" rIns="0" tIns="0" bIns="0" anchor="ctr">
            <a:noAutofit/>
          </a:bodyPr>
          <a:lstStyle/>
          <a:p>
            <a:pPr algn="r">
              <a:spcAft>
                <a:spcPts val="400"/>
              </a:spcAft>
            </a:pPr>
            <a:r>
              <a:rPr sz="1200" b="1" lang="en-GB">
                <a:solidFill>
                  <a:schemeClr val="bg1"/>
                </a:solidFill>
              </a:rPr>
              <a:t>Q4</a:t>
            </a:r>
          </a:p>
        </p:txBody>
      </p:sp>
      <p:sp>
        <p:nvSpPr>
          <p:cNvPr id="58" name="Chocolate grid 2-1"/>
          <p:cNvSpPr/>
          <p:nvPr/>
        </p:nvSpPr>
        <p:spPr>
          <a:xfrm>
            <a:off x="457200" y="3099816"/>
            <a:ext cx="88696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Chocolate grid text 2-1"/>
          <p:cNvSpPr txBox="1"/>
          <p:nvPr/>
        </p:nvSpPr>
        <p:spPr>
          <a:xfrm>
            <a:off x="548640" y="3099816"/>
            <a:ext cx="704088" cy="310896"/>
          </a:xfrm>
          <a:prstGeom prst="rect">
            <a:avLst/>
          </a:prstGeom>
          <a:noFill/>
        </p:spPr>
        <p:txBody>
          <a:bodyPr wrap="square" lIns="0" rIns="0" tIns="0" bIns="0" anchor="ctr">
            <a:noAutofit/>
          </a:bodyPr>
          <a:lstStyle/>
          <a:p>
            <a:pPr algn="l">
              <a:spcAft>
                <a:spcPts val="400"/>
              </a:spcAft>
            </a:pPr>
            <a:r>
              <a:rPr sz="1200" b="1" lang="en-GB">
                <a:solidFill>
                  <a:schemeClr val="tx2"/>
                </a:solidFill>
              </a:rPr>
              <a:t>Year 1</a:t>
            </a:r>
          </a:p>
        </p:txBody>
      </p:sp>
      <p:sp>
        <p:nvSpPr>
          <p:cNvPr id="60" name="Chocolate grid 2-2"/>
          <p:cNvSpPr/>
          <p:nvPr/>
        </p:nvSpPr>
        <p:spPr>
          <a:xfrm>
            <a:off x="1371600" y="3099816"/>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Chocolate grid text 2-2"/>
          <p:cNvSpPr txBox="1"/>
          <p:nvPr/>
        </p:nvSpPr>
        <p:spPr>
          <a:xfrm>
            <a:off x="1463040" y="3099816"/>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62" name="Chocolate grid 2-3"/>
          <p:cNvSpPr/>
          <p:nvPr/>
        </p:nvSpPr>
        <p:spPr>
          <a:xfrm>
            <a:off x="2011680" y="3099816"/>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Chocolate grid text 2-3"/>
          <p:cNvSpPr txBox="1"/>
          <p:nvPr/>
        </p:nvSpPr>
        <p:spPr>
          <a:xfrm>
            <a:off x="2103120" y="3099816"/>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16</a:t>
            </a:r>
          </a:p>
        </p:txBody>
      </p:sp>
      <p:sp>
        <p:nvSpPr>
          <p:cNvPr id="64" name="Chocolate grid 2-4"/>
          <p:cNvSpPr/>
          <p:nvPr/>
        </p:nvSpPr>
        <p:spPr>
          <a:xfrm>
            <a:off x="2651760" y="3099816"/>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Chocolate grid text 2-4"/>
          <p:cNvSpPr txBox="1"/>
          <p:nvPr/>
        </p:nvSpPr>
        <p:spPr>
          <a:xfrm>
            <a:off x="2743200" y="3099816"/>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66" name="Chocolate grid 2-5"/>
          <p:cNvSpPr/>
          <p:nvPr/>
        </p:nvSpPr>
        <p:spPr>
          <a:xfrm>
            <a:off x="3291840" y="3099816"/>
            <a:ext cx="6400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Chocolate grid text 2-5"/>
          <p:cNvSpPr txBox="1"/>
          <p:nvPr/>
        </p:nvSpPr>
        <p:spPr>
          <a:xfrm>
            <a:off x="3383280" y="3099816"/>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30</a:t>
            </a:r>
          </a:p>
        </p:txBody>
      </p:sp>
      <p:sp>
        <p:nvSpPr>
          <p:cNvPr id="68" name="Chocolate grid 3-1"/>
          <p:cNvSpPr/>
          <p:nvPr/>
        </p:nvSpPr>
        <p:spPr>
          <a:xfrm>
            <a:off x="457200" y="3438144"/>
            <a:ext cx="88696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Chocolate grid text 3-1"/>
          <p:cNvSpPr txBox="1"/>
          <p:nvPr/>
        </p:nvSpPr>
        <p:spPr>
          <a:xfrm>
            <a:off x="548640" y="3438144"/>
            <a:ext cx="704088" cy="310896"/>
          </a:xfrm>
          <a:prstGeom prst="rect">
            <a:avLst/>
          </a:prstGeom>
          <a:noFill/>
        </p:spPr>
        <p:txBody>
          <a:bodyPr wrap="square" lIns="0" rIns="0" tIns="0" bIns="0" anchor="ctr">
            <a:noAutofit/>
          </a:bodyPr>
          <a:lstStyle/>
          <a:p>
            <a:pPr algn="l">
              <a:spcAft>
                <a:spcPts val="400"/>
              </a:spcAft>
            </a:pPr>
            <a:r>
              <a:rPr sz="1200" b="1" lang="en-GB">
                <a:solidFill>
                  <a:schemeClr val="tx2"/>
                </a:solidFill>
              </a:rPr>
              <a:t>Year 2</a:t>
            </a:r>
          </a:p>
        </p:txBody>
      </p:sp>
      <p:sp>
        <p:nvSpPr>
          <p:cNvPr id="70" name="Chocolate grid 3-2"/>
          <p:cNvSpPr/>
          <p:nvPr/>
        </p:nvSpPr>
        <p:spPr>
          <a:xfrm>
            <a:off x="1371600" y="3438144"/>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Chocolate grid text 3-2"/>
          <p:cNvSpPr txBox="1"/>
          <p:nvPr/>
        </p:nvSpPr>
        <p:spPr>
          <a:xfrm>
            <a:off x="1463040" y="3438144"/>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24</a:t>
            </a:r>
          </a:p>
        </p:txBody>
      </p:sp>
      <p:sp>
        <p:nvSpPr>
          <p:cNvPr id="72" name="Chocolate grid 3-3"/>
          <p:cNvSpPr/>
          <p:nvPr/>
        </p:nvSpPr>
        <p:spPr>
          <a:xfrm>
            <a:off x="2011680" y="3438144"/>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Chocolate grid text 3-3"/>
          <p:cNvSpPr txBox="1"/>
          <p:nvPr/>
        </p:nvSpPr>
        <p:spPr>
          <a:xfrm>
            <a:off x="2103120" y="3438144"/>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20</a:t>
            </a:r>
          </a:p>
        </p:txBody>
      </p:sp>
      <p:sp>
        <p:nvSpPr>
          <p:cNvPr id="74" name="Chocolate grid 3-4"/>
          <p:cNvSpPr/>
          <p:nvPr/>
        </p:nvSpPr>
        <p:spPr>
          <a:xfrm>
            <a:off x="2651760" y="3438144"/>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Chocolate grid text 3-4"/>
          <p:cNvSpPr txBox="1"/>
          <p:nvPr/>
        </p:nvSpPr>
        <p:spPr>
          <a:xfrm>
            <a:off x="2743200" y="3438144"/>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23</a:t>
            </a:r>
          </a:p>
        </p:txBody>
      </p:sp>
      <p:sp>
        <p:nvSpPr>
          <p:cNvPr id="76" name="Chocolate grid 3-5"/>
          <p:cNvSpPr/>
          <p:nvPr/>
        </p:nvSpPr>
        <p:spPr>
          <a:xfrm>
            <a:off x="3291840" y="3438144"/>
            <a:ext cx="6400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Chocolate grid text 3-5"/>
          <p:cNvSpPr txBox="1"/>
          <p:nvPr/>
        </p:nvSpPr>
        <p:spPr>
          <a:xfrm>
            <a:off x="3383280" y="3438144"/>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35</a:t>
            </a:r>
          </a:p>
        </p:txBody>
      </p:sp>
      <p:sp>
        <p:nvSpPr>
          <p:cNvPr id="78" name="Chocolate grid 4-1"/>
          <p:cNvSpPr/>
          <p:nvPr/>
        </p:nvSpPr>
        <p:spPr>
          <a:xfrm>
            <a:off x="457200" y="3776472"/>
            <a:ext cx="88696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Chocolate grid text 4-1"/>
          <p:cNvSpPr txBox="1"/>
          <p:nvPr/>
        </p:nvSpPr>
        <p:spPr>
          <a:xfrm>
            <a:off x="548640" y="3776472"/>
            <a:ext cx="704088" cy="310896"/>
          </a:xfrm>
          <a:prstGeom prst="rect">
            <a:avLst/>
          </a:prstGeom>
          <a:noFill/>
        </p:spPr>
        <p:txBody>
          <a:bodyPr wrap="square" lIns="0" rIns="0" tIns="0" bIns="0" anchor="ctr">
            <a:noAutofit/>
          </a:bodyPr>
          <a:lstStyle/>
          <a:p>
            <a:pPr algn="l">
              <a:spcAft>
                <a:spcPts val="400"/>
              </a:spcAft>
            </a:pPr>
            <a:r>
              <a:rPr sz="1200" b="1" lang="en-GB">
                <a:solidFill>
                  <a:schemeClr val="tx2"/>
                </a:solidFill>
              </a:rPr>
              <a:t>Year 3</a:t>
            </a:r>
          </a:p>
        </p:txBody>
      </p:sp>
      <p:sp>
        <p:nvSpPr>
          <p:cNvPr id="80" name="Chocolate grid 4-2"/>
          <p:cNvSpPr/>
          <p:nvPr/>
        </p:nvSpPr>
        <p:spPr>
          <a:xfrm>
            <a:off x="1371600" y="3776472"/>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Chocolate grid text 4-2"/>
          <p:cNvSpPr txBox="1"/>
          <p:nvPr/>
        </p:nvSpPr>
        <p:spPr>
          <a:xfrm>
            <a:off x="1463040" y="3776472"/>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28</a:t>
            </a:r>
          </a:p>
        </p:txBody>
      </p:sp>
      <p:sp>
        <p:nvSpPr>
          <p:cNvPr id="82" name="Chocolate grid 4-3"/>
          <p:cNvSpPr/>
          <p:nvPr/>
        </p:nvSpPr>
        <p:spPr>
          <a:xfrm>
            <a:off x="2011680" y="3776472"/>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Chocolate grid text 4-3"/>
          <p:cNvSpPr txBox="1"/>
          <p:nvPr/>
        </p:nvSpPr>
        <p:spPr>
          <a:xfrm>
            <a:off x="2103120" y="3776472"/>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24</a:t>
            </a:r>
          </a:p>
        </p:txBody>
      </p:sp>
      <p:sp>
        <p:nvSpPr>
          <p:cNvPr id="84" name="Chocolate grid 4-4"/>
          <p:cNvSpPr/>
          <p:nvPr/>
        </p:nvSpPr>
        <p:spPr>
          <a:xfrm>
            <a:off x="2651760" y="3776472"/>
            <a:ext cx="612648"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Chocolate grid text 4-4"/>
          <p:cNvSpPr txBox="1"/>
          <p:nvPr/>
        </p:nvSpPr>
        <p:spPr>
          <a:xfrm>
            <a:off x="2743200" y="3776472"/>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26</a:t>
            </a:r>
          </a:p>
        </p:txBody>
      </p:sp>
      <p:sp>
        <p:nvSpPr>
          <p:cNvPr id="86" name="Chocolate grid 4-5"/>
          <p:cNvSpPr/>
          <p:nvPr/>
        </p:nvSpPr>
        <p:spPr>
          <a:xfrm>
            <a:off x="3291840" y="3776472"/>
            <a:ext cx="640080"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Chocolate grid text 4-5"/>
          <p:cNvSpPr txBox="1"/>
          <p:nvPr/>
        </p:nvSpPr>
        <p:spPr>
          <a:xfrm>
            <a:off x="3383280" y="3776472"/>
            <a:ext cx="429768" cy="310896"/>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88" name="Data terms 1 row"/>
          <p:cNvSpPr/>
          <p:nvPr/>
        </p:nvSpPr>
        <p:spPr>
          <a:xfrm>
            <a:off x="4069080" y="2761488"/>
            <a:ext cx="4617720" cy="3931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Data terms 1 bar"/>
          <p:cNvSpPr/>
          <p:nvPr/>
        </p:nvSpPr>
        <p:spPr>
          <a:xfrm>
            <a:off x="4069080" y="2761488"/>
            <a:ext cx="64008" cy="3931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Data terms 1 text"/>
          <p:cNvSpPr txBox="1"/>
          <p:nvPr/>
        </p:nvSpPr>
        <p:spPr>
          <a:xfrm>
            <a:off x="4270248" y="2761488"/>
            <a:ext cx="4325112" cy="393192"/>
          </a:xfrm>
          <a:prstGeom prst="rect">
            <a:avLst/>
          </a:prstGeom>
          <a:noFill/>
        </p:spPr>
        <p:txBody>
          <a:bodyPr wrap="square" lIns="0" rIns="0" tIns="0" bIns="0" anchor="ctr">
            <a:noAutofit/>
          </a:bodyPr>
          <a:lstStyle/>
          <a:p>
            <a:pPr algn="l">
              <a:spcAft>
                <a:spcPts val="400"/>
              </a:spcAft>
            </a:pPr>
            <a:r>
              <a:rPr sz="1200" b="1" lang="en-GB">
                <a:solidFill>
                  <a:schemeClr val="tx2"/>
                </a:solidFill>
              </a:rPr>
              <a:t>period: </a:t>
            </a:r>
            <a:r>
              <a:rPr sz="1200" b="0" lang="en-GB">
                <a:solidFill>
                  <a:schemeClr val="tx1"/>
                </a:solidFill>
              </a:rPr>
              <a:t>the time step: week 1 to 8, quarter 1 to 12</a:t>
            </a:r>
          </a:p>
        </p:txBody>
      </p:sp>
      <p:sp>
        <p:nvSpPr>
          <p:cNvPr id="91" name="Data terms 2 row"/>
          <p:cNvSpPr/>
          <p:nvPr/>
        </p:nvSpPr>
        <p:spPr>
          <a:xfrm>
            <a:off x="4069080" y="3227832"/>
            <a:ext cx="4617720" cy="3931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Data terms 2 bar"/>
          <p:cNvSpPr/>
          <p:nvPr/>
        </p:nvSpPr>
        <p:spPr>
          <a:xfrm>
            <a:off x="4069080" y="3227832"/>
            <a:ext cx="64008" cy="3931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Data terms 2 text"/>
          <p:cNvSpPr txBox="1"/>
          <p:nvPr/>
        </p:nvSpPr>
        <p:spPr>
          <a:xfrm>
            <a:off x="4270248" y="3227832"/>
            <a:ext cx="4325112" cy="393192"/>
          </a:xfrm>
          <a:prstGeom prst="rect">
            <a:avLst/>
          </a:prstGeom>
          <a:noFill/>
        </p:spPr>
        <p:txBody>
          <a:bodyPr wrap="square" lIns="0" rIns="0" tIns="0" bIns="0" anchor="ctr">
            <a:noAutofit/>
          </a:bodyPr>
          <a:lstStyle/>
          <a:p>
            <a:pPr algn="l">
              <a:spcAft>
                <a:spcPts val="400"/>
              </a:spcAft>
            </a:pPr>
            <a:r>
              <a:rPr sz="1200" b="1" lang="en-GB">
                <a:solidFill>
                  <a:schemeClr val="tx2"/>
                </a:solidFill>
              </a:rPr>
              <a:t>value: </a:t>
            </a:r>
            <a:r>
              <a:rPr sz="1200" b="0" lang="en-GB">
                <a:solidFill>
                  <a:schemeClr val="tx1"/>
                </a:solidFill>
              </a:rPr>
              <a:t>what we forecast</a:t>
            </a:r>
          </a:p>
        </p:txBody>
      </p:sp>
      <p:sp>
        <p:nvSpPr>
          <p:cNvPr id="94" name="Data terms 3 row"/>
          <p:cNvSpPr/>
          <p:nvPr/>
        </p:nvSpPr>
        <p:spPr>
          <a:xfrm>
            <a:off x="4069080" y="3694176"/>
            <a:ext cx="4617720" cy="39319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Data terms 3 bar"/>
          <p:cNvSpPr/>
          <p:nvPr/>
        </p:nvSpPr>
        <p:spPr>
          <a:xfrm>
            <a:off x="4069080" y="3694176"/>
            <a:ext cx="64008" cy="39319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6" name="Data terms 3 text"/>
          <p:cNvSpPr txBox="1"/>
          <p:nvPr/>
        </p:nvSpPr>
        <p:spPr>
          <a:xfrm>
            <a:off x="4270248" y="3694176"/>
            <a:ext cx="4325112" cy="393192"/>
          </a:xfrm>
          <a:prstGeom prst="rect">
            <a:avLst/>
          </a:prstGeom>
          <a:noFill/>
        </p:spPr>
        <p:txBody>
          <a:bodyPr wrap="square" lIns="0" rIns="0" tIns="0" bIns="0" anchor="ctr">
            <a:noAutofit/>
          </a:bodyPr>
          <a:lstStyle/>
          <a:p>
            <a:pPr algn="l">
              <a:spcAft>
                <a:spcPts val="400"/>
              </a:spcAft>
            </a:pPr>
            <a:r>
              <a:rPr sz="1200" b="1" lang="en-GB">
                <a:solidFill>
                  <a:schemeClr val="tx2"/>
                </a:solidFill>
              </a:rPr>
              <a:t>rules: </a:t>
            </a:r>
            <a:r>
              <a:rPr sz="1200" b="0" lang="en-GB">
                <a:solidFill>
                  <a:schemeClr val="tx1"/>
                </a:solidFill>
              </a:rPr>
              <a:t>time order, equal steps, no gaps</a:t>
            </a:r>
          </a:p>
        </p:txBody>
      </p:sp>
      <p:sp>
        <p:nvSpPr>
          <p:cNvPr id="97" name="Data file"/>
          <p:cNvSpPr txBox="1"/>
          <p:nvPr/>
        </p:nvSpPr>
        <p:spPr>
          <a:xfrm>
            <a:off x="457200" y="4224528"/>
            <a:ext cx="8229600"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data/forecasting/hand_examples.csv</a:t>
            </a:r>
            <a:r>
              <a:rPr sz="1100" b="0" lang="en-GB">
                <a:solidFill>
                  <a:srgbClr val="595959"/>
                </a:solidFill>
              </a:rPr>
              <a:t>   invented, 20 rows: example, period, value</a:t>
            </a:r>
          </a:p>
        </p:txBody>
      </p:sp>
      <p:sp>
        <p:nvSpPr>
          <p:cNvPr id="9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First look: plot the series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0_phone.png" descr="Phone shop, new contracts per week 1 to 8: 40, 44, 42, 46, 50, 49, 53, 54; rising by about 2 a week."/>
          <p:cNvPicPr>
            <a:picLocks noChangeAspect="1"/>
          </p:cNvPicPr>
          <p:nvPr/>
        </p:nvPicPr>
        <p:blipFill>
          <a:blip r:embed="rId3"/>
          <a:stretch>
            <a:fillRect/>
          </a:stretch>
        </p:blipFill>
        <p:spPr>
          <a:xfrm>
            <a:off x="457200" y="1234440"/>
            <a:ext cx="4046220" cy="2697480"/>
          </a:xfrm>
          <a:prstGeom prst="rect">
            <a:avLst/>
          </a:prstGeom>
        </p:spPr>
      </p:pic>
      <p:pic>
        <p:nvPicPr>
          <p:cNvPr id="11" name="Chart fc_f0_choc.png" descr="Chocolate shop, sales per quarter in k EUR, quarters 1 to 12: 20, 16, 20, 30; 24, 20, 23, 35; 28, 24, 26, 40. Every Q4 peaks."/>
          <p:cNvPicPr>
            <a:picLocks noChangeAspect="1"/>
          </p:cNvPicPr>
          <p:nvPr/>
        </p:nvPicPr>
        <p:blipFill>
          <a:blip r:embed="rId4"/>
          <a:stretch>
            <a:fillRect/>
          </a:stretch>
        </p:blipFill>
        <p:spPr>
          <a:xfrm>
            <a:off x="4640580" y="1234440"/>
            <a:ext cx="4046220" cy="2697480"/>
          </a:xfrm>
          <a:prstGeom prst="rect">
            <a:avLst/>
          </a:prstGeom>
        </p:spPr>
      </p:pic>
      <p:sp>
        <p:nvSpPr>
          <p:cNvPr id="12" name="Phone caption"/>
          <p:cNvSpPr txBox="1"/>
          <p:nvPr/>
        </p:nvSpPr>
        <p:spPr>
          <a:xfrm>
            <a:off x="457200" y="3977640"/>
            <a:ext cx="404622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Trend: up about 2 a week</a:t>
            </a:r>
          </a:p>
        </p:txBody>
      </p:sp>
      <p:sp>
        <p:nvSpPr>
          <p:cNvPr id="13" name="Chocolate caption"/>
          <p:cNvSpPr txBox="1"/>
          <p:nvPr/>
        </p:nvSpPr>
        <p:spPr>
          <a:xfrm>
            <a:off x="4640580" y="3977640"/>
            <a:ext cx="404622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Trend and season: every Q4 peaks</a:t>
            </a:r>
          </a:p>
        </p:txBody>
      </p:sp>
      <p:sp>
        <p:nvSpPr>
          <p:cNvPr id="14" name="First look message box"/>
          <p:cNvSpPr/>
          <p:nvPr/>
        </p:nvSpPr>
        <p:spPr>
          <a:xfrm>
            <a:off x="457200" y="429768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First look message text"/>
          <p:cNvSpPr txBox="1"/>
          <p:nvPr/>
        </p:nvSpPr>
        <p:spPr>
          <a:xfrm>
            <a:off x="658368" y="429768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Plot first: </a:t>
            </a:r>
            <a:r>
              <a:rPr sz="1200" b="0" lang="en-GB">
                <a:solidFill>
                  <a:schemeClr val="bg1"/>
                </a:solidFill>
              </a:rPr>
              <a:t>the eye finds trend and season before any model.</a:t>
            </a:r>
          </a:p>
        </p:txBody>
      </p:sp>
      <p:sp>
        <p:nvSpPr>
          <p:cNvPr id="1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1 of 6 · trend, season, cycle, stationarity</a:t>
            </a:r>
          </a:p>
        </p:txBody>
      </p:sp>
      <p:sp>
        <p:nvSpPr>
          <p:cNvPr id="3" name="Title 2"/>
          <p:cNvSpPr>
            <a:spLocks noGrp="1"/>
          </p:cNvSpPr>
          <p:nvPr>
            <p:ph type="ctrTitle"/>
          </p:nvPr>
        </p:nvSpPr>
        <p:spPr/>
        <p:txBody>
          <a:bodyPr/>
          <a:lstStyle/>
          <a:p>
            <a:r>
              <a:rPr lang="en-GB"/>
              <a:t>Time series concepts</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Trend, season, cycle and irregular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0_components.png" descr="Four panels of a simulated monthly series over ten years: a rising straight trend, the same 12-month season with a December peak every year, a slow cycle of about five years, and irregular noise."/>
          <p:cNvPicPr>
            <a:picLocks noChangeAspect="1"/>
          </p:cNvPicPr>
          <p:nvPr/>
        </p:nvPicPr>
        <p:blipFill>
          <a:blip r:embed="rId3"/>
          <a:stretch>
            <a:fillRect/>
          </a:stretch>
        </p:blipFill>
        <p:spPr>
          <a:xfrm>
            <a:off x="457200" y="1234440"/>
            <a:ext cx="4754880" cy="2834640"/>
          </a:xfrm>
          <a:prstGeom prst="rect">
            <a:avLst/>
          </a:prstGeom>
        </p:spPr>
      </p:pic>
      <p:sp>
        <p:nvSpPr>
          <p:cNvPr id="11" name="Components 1 row"/>
          <p:cNvSpPr/>
          <p:nvPr/>
        </p:nvSpPr>
        <p:spPr>
          <a:xfrm>
            <a:off x="5349240" y="1234440"/>
            <a:ext cx="333756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omponents 1 bar"/>
          <p:cNvSpPr/>
          <p:nvPr/>
        </p:nvSpPr>
        <p:spPr>
          <a:xfrm>
            <a:off x="5349240" y="123444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Components 1 text"/>
          <p:cNvSpPr txBox="1"/>
          <p:nvPr/>
        </p:nvSpPr>
        <p:spPr>
          <a:xfrm>
            <a:off x="5550408" y="1234440"/>
            <a:ext cx="304495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Trend: </a:t>
            </a:r>
            <a:r>
              <a:rPr sz="1200" b="0" lang="en-GB">
                <a:solidFill>
                  <a:schemeClr val="tx1"/>
                </a:solidFill>
              </a:rPr>
              <a:t>the long-run direction</a:t>
            </a:r>
          </a:p>
        </p:txBody>
      </p:sp>
      <p:sp>
        <p:nvSpPr>
          <p:cNvPr id="14" name="Components 2 row"/>
          <p:cNvSpPr/>
          <p:nvPr/>
        </p:nvSpPr>
        <p:spPr>
          <a:xfrm>
            <a:off x="5349240" y="1965960"/>
            <a:ext cx="333756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Components 2 bar"/>
          <p:cNvSpPr/>
          <p:nvPr/>
        </p:nvSpPr>
        <p:spPr>
          <a:xfrm>
            <a:off x="5349240" y="196596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omponents 2 text"/>
          <p:cNvSpPr txBox="1"/>
          <p:nvPr/>
        </p:nvSpPr>
        <p:spPr>
          <a:xfrm>
            <a:off x="5550408" y="1965960"/>
            <a:ext cx="304495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Season: </a:t>
            </a:r>
            <a:r>
              <a:rPr sz="1200" b="0" lang="en-GB">
                <a:solidFill>
                  <a:schemeClr val="tx1"/>
                </a:solidFill>
              </a:rPr>
              <a:t>repeats every year, fixed length (Christmas)</a:t>
            </a:r>
          </a:p>
        </p:txBody>
      </p:sp>
      <p:sp>
        <p:nvSpPr>
          <p:cNvPr id="17" name="Components 3 row"/>
          <p:cNvSpPr/>
          <p:nvPr/>
        </p:nvSpPr>
        <p:spPr>
          <a:xfrm>
            <a:off x="5349240" y="2697480"/>
            <a:ext cx="333756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omponents 3 bar"/>
          <p:cNvSpPr/>
          <p:nvPr/>
        </p:nvSpPr>
        <p:spPr>
          <a:xfrm>
            <a:off x="5349240" y="269748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Components 3 text"/>
          <p:cNvSpPr txBox="1"/>
          <p:nvPr/>
        </p:nvSpPr>
        <p:spPr>
          <a:xfrm>
            <a:off x="5550408" y="2697480"/>
            <a:ext cx="304495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Cycle: </a:t>
            </a:r>
            <a:r>
              <a:rPr sz="1200" b="0" lang="en-GB">
                <a:solidFill>
                  <a:schemeClr val="tx1"/>
                </a:solidFill>
              </a:rPr>
              <a:t>ups and downs over years, no fixed length (the economy)</a:t>
            </a:r>
          </a:p>
        </p:txBody>
      </p:sp>
      <p:sp>
        <p:nvSpPr>
          <p:cNvPr id="20" name="Components 4 row"/>
          <p:cNvSpPr/>
          <p:nvPr/>
        </p:nvSpPr>
        <p:spPr>
          <a:xfrm>
            <a:off x="5349240" y="3429000"/>
            <a:ext cx="3337560" cy="65836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Components 4 bar"/>
          <p:cNvSpPr/>
          <p:nvPr/>
        </p:nvSpPr>
        <p:spPr>
          <a:xfrm>
            <a:off x="5349240" y="3429000"/>
            <a:ext cx="64008" cy="65836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omponents 4 text"/>
          <p:cNvSpPr txBox="1"/>
          <p:nvPr/>
        </p:nvSpPr>
        <p:spPr>
          <a:xfrm>
            <a:off x="5550408" y="3429000"/>
            <a:ext cx="3044952" cy="658368"/>
          </a:xfrm>
          <a:prstGeom prst="rect">
            <a:avLst/>
          </a:prstGeom>
          <a:noFill/>
        </p:spPr>
        <p:txBody>
          <a:bodyPr wrap="square" lIns="0" rIns="0" tIns="0" bIns="0" anchor="ctr">
            <a:noAutofit/>
          </a:bodyPr>
          <a:lstStyle/>
          <a:p>
            <a:pPr algn="l">
              <a:spcAft>
                <a:spcPts val="400"/>
              </a:spcAft>
            </a:pPr>
            <a:r>
              <a:rPr sz="1200" b="1" lang="en-GB">
                <a:solidFill>
                  <a:schemeClr val="tx2"/>
                </a:solidFill>
              </a:rPr>
              <a:t>Irregular: </a:t>
            </a:r>
            <a:r>
              <a:rPr sz="1200" b="0" lang="en-GB">
                <a:solidFill>
                  <a:schemeClr val="tx1"/>
                </a:solidFill>
              </a:rPr>
              <a:t>what is left: noise, one-off events</a:t>
            </a:r>
          </a:p>
        </p:txBody>
      </p:sp>
      <p:sp>
        <p:nvSpPr>
          <p:cNvPr id="23" name="Components message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omponents message text"/>
          <p:cNvSpPr txBox="1"/>
          <p:nvPr/>
        </p:nvSpPr>
        <p:spPr>
          <a:xfrm>
            <a:off x="658368" y="420624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Series = trend + season + cycle + irregular (or ×, slide 8): </a:t>
            </a:r>
            <a:r>
              <a:rPr sz="1200" b="0" lang="en-GB">
                <a:solidFill>
                  <a:schemeClr val="bg1"/>
                </a:solidFill>
              </a:rPr>
              <a:t>a forecast extends the first three.</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series for illustration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Additive or multiplicative season?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0_addmult.png" descr="Two simulated quarterly series on the same rising trend (grey dashed): on the left the seasonal swings stay the same size (additive), on the right they grow with the level (multiplicative)."/>
          <p:cNvPicPr>
            <a:picLocks noChangeAspect="1"/>
          </p:cNvPicPr>
          <p:nvPr/>
        </p:nvPicPr>
        <p:blipFill>
          <a:blip r:embed="rId3"/>
          <a:stretch>
            <a:fillRect/>
          </a:stretch>
        </p:blipFill>
        <p:spPr>
          <a:xfrm>
            <a:off x="457200" y="1234440"/>
            <a:ext cx="4754880" cy="2788920"/>
          </a:xfrm>
          <a:prstGeom prst="rect">
            <a:avLst/>
          </a:prstGeom>
        </p:spPr>
      </p:pic>
      <p:sp>
        <p:nvSpPr>
          <p:cNvPr id="11" name="Additive stat box"/>
          <p:cNvSpPr/>
          <p:nvPr/>
        </p:nvSpPr>
        <p:spPr>
          <a:xfrm>
            <a:off x="5349240" y="1234440"/>
            <a:ext cx="33375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Additive stat bar"/>
          <p:cNvSpPr/>
          <p:nvPr/>
        </p:nvSpPr>
        <p:spPr>
          <a:xfrm>
            <a:off x="5349240" y="1234440"/>
            <a:ext cx="64008" cy="1325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dditive stat figure"/>
          <p:cNvSpPr txBox="1"/>
          <p:nvPr/>
        </p:nvSpPr>
        <p:spPr>
          <a:xfrm>
            <a:off x="5550408" y="1344168"/>
            <a:ext cx="2999232" cy="5029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+9.5</a:t>
            </a:r>
          </a:p>
        </p:txBody>
      </p:sp>
      <p:sp>
        <p:nvSpPr>
          <p:cNvPr id="14" name="Additive stat label"/>
          <p:cNvSpPr txBox="1"/>
          <p:nvPr/>
        </p:nvSpPr>
        <p:spPr>
          <a:xfrm>
            <a:off x="5550408" y="1847088"/>
            <a:ext cx="2999232"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chocolate shop: </a:t>
            </a:r>
            <a:r>
              <a:rPr sz="1200" b="0" lang="en-GB">
                <a:solidFill>
                  <a:schemeClr val="tx1"/>
                </a:solidFill>
              </a:rPr>
              <a:t>Q4 about 9.5 k EUR above the year mean on average (8.5 to 10.5): additive</a:t>
            </a:r>
          </a:p>
        </p:txBody>
      </p:sp>
      <p:sp>
        <p:nvSpPr>
          <p:cNvPr id="15" name="Multiplicative stat box"/>
          <p:cNvSpPr/>
          <p:nvPr/>
        </p:nvSpPr>
        <p:spPr>
          <a:xfrm>
            <a:off x="5349240" y="2697480"/>
            <a:ext cx="3337560" cy="13258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ultiplicative stat bar"/>
          <p:cNvSpPr/>
          <p:nvPr/>
        </p:nvSpPr>
        <p:spPr>
          <a:xfrm>
            <a:off x="5349240" y="2697480"/>
            <a:ext cx="64008" cy="13258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ultiplicative stat figure"/>
          <p:cNvSpPr txBox="1"/>
          <p:nvPr/>
        </p:nvSpPr>
        <p:spPr>
          <a:xfrm>
            <a:off x="5550408" y="2807208"/>
            <a:ext cx="2999232" cy="5029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1.59</a:t>
            </a:r>
          </a:p>
        </p:txBody>
      </p:sp>
      <p:sp>
        <p:nvSpPr>
          <p:cNvPr id="18" name="Multiplicative stat label"/>
          <p:cNvSpPr txBox="1"/>
          <p:nvPr/>
        </p:nvSpPr>
        <p:spPr>
          <a:xfrm>
            <a:off x="5550408" y="3310128"/>
            <a:ext cx="2999232" cy="603504"/>
          </a:xfrm>
          <a:prstGeom prst="rect">
            <a:avLst/>
          </a:prstGeom>
          <a:noFill/>
        </p:spPr>
        <p:txBody>
          <a:bodyPr wrap="square" lIns="0" rIns="0" tIns="0" bIns="0" anchor="ctr">
            <a:noAutofit/>
          </a:bodyPr>
          <a:lstStyle/>
          <a:p>
            <a:pPr algn="l">
              <a:spcAft>
                <a:spcPts val="400"/>
              </a:spcAft>
            </a:pPr>
            <a:r>
              <a:rPr sz="1200" b="1" lang="en-GB">
                <a:solidFill>
                  <a:schemeClr val="tx2"/>
                </a:solidFill>
              </a:rPr>
              <a:t>clothing (Part 4): </a:t>
            </a:r>
            <a:r>
              <a:rPr sz="1200" b="0" lang="en-GB">
                <a:solidFill>
                  <a:schemeClr val="tx1"/>
                </a:solidFill>
              </a:rPr>
              <a:t>December 59 % above an average month, and the swing grows: multiplicative</a:t>
            </a:r>
          </a:p>
        </p:txBody>
      </p:sp>
      <p:sp>
        <p:nvSpPr>
          <p:cNvPr id="19" name="Season message box"/>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eason message text"/>
          <p:cNvSpPr txBox="1"/>
          <p:nvPr/>
        </p:nvSpPr>
        <p:spPr>
          <a:xfrm>
            <a:off x="658368" y="416052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Multiplicative season: </a:t>
            </a:r>
            <a:r>
              <a:rPr sz="1200" b="0" lang="en-GB">
                <a:solidFill>
                  <a:schemeClr val="bg1"/>
                </a:solidFill>
              </a:rPr>
              <a:t>use a multiplicative model or take logs, which makes it additive.</a:t>
            </a:r>
          </a:p>
        </p:txBody>
      </p:sp>
      <p:sp>
        <p:nvSpPr>
          <p:cNvPr id="21" name="Sources"/>
          <p:cNvSpPr txBox="1"/>
          <p:nvPr/>
        </p:nvSpPr>
        <p:spPr>
          <a:xfrm>
            <a:off x="457200" y="4663440"/>
            <a:ext cx="8229600" cy="411480"/>
          </a:xfrm>
          <a:prstGeom prst="rect">
            <a:avLst/>
          </a:prstGeom>
          <a:noFill/>
        </p:spPr>
        <p:txBody>
          <a:bodyPr wrap="square" lIns="0" rIns="0" tIns="0" bIns="0" anchor="b">
            <a:noAutofit/>
          </a:bodyPr>
          <a:lstStyle/>
          <a:p>
            <a:pPr algn="l">
              <a:spcAft>
                <a:spcPts val="0"/>
              </a:spcAft>
            </a:pPr>
            <a:r>
              <a:rPr sz="1100" b="0" lang="en-GB">
                <a:solidFill>
                  <a:srgbClr val="595959"/>
                </a:solidFill>
              </a:rPr>
              <a:t>Simulated series for illustration; chocolate shop: invented; clothing: ABS Retail Trade (8501.0), CC BY 4.0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What does stationary mean?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efinition box"/>
          <p:cNvSpPr/>
          <p:nvPr/>
        </p:nvSpPr>
        <p:spPr>
          <a:xfrm>
            <a:off x="457200" y="1234440"/>
            <a:ext cx="8229600" cy="5943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efinition" descr=""/>
          <p:cNvPicPr>
            <a:picLocks noChangeAspect="1"/>
          </p:cNvPicPr>
          <p:nvPr/>
        </p:nvPicPr>
        <p:blipFill>
          <a:blip r:embed="rId3"/>
          <a:stretch>
            <a:fillRect/>
          </a:stretch>
        </p:blipFill>
        <p:spPr>
          <a:xfrm>
            <a:off x="658368" y="1348740"/>
            <a:ext cx="365760" cy="365760"/>
          </a:xfrm>
          <a:prstGeom prst="rect">
            <a:avLst/>
          </a:prstGeom>
        </p:spPr>
      </p:pic>
      <p:sp>
        <p:nvSpPr>
          <p:cNvPr id="12" name="Definition text"/>
          <p:cNvSpPr txBox="1"/>
          <p:nvPr/>
        </p:nvSpPr>
        <p:spPr>
          <a:xfrm>
            <a:off x="1207008" y="1234440"/>
            <a:ext cx="7315200" cy="594360"/>
          </a:xfrm>
          <a:prstGeom prst="rect">
            <a:avLst/>
          </a:prstGeom>
          <a:noFill/>
        </p:spPr>
        <p:txBody>
          <a:bodyPr wrap="square" lIns="0" rIns="0" tIns="0" bIns="0" anchor="ctr">
            <a:noAutofit/>
          </a:bodyPr>
          <a:lstStyle/>
          <a:p>
            <a:pPr algn="l">
              <a:spcAft>
                <a:spcPts val="400"/>
              </a:spcAft>
            </a:pPr>
            <a:r>
              <a:rPr sz="1250" b="1" lang="en-GB">
                <a:solidFill>
                  <a:schemeClr val="bg1"/>
                </a:solidFill>
              </a:rPr>
              <a:t>Stationary: </a:t>
            </a:r>
            <a:r>
              <a:rPr sz="1250" b="0" lang="en-GB">
                <a:solidFill>
                  <a:schemeClr val="bg1"/>
                </a:solidFill>
              </a:rPr>
              <a:t>the level and the ups and downs stay the same over time; any stretch of the series looks like any other stretch.</a:t>
            </a:r>
          </a:p>
        </p:txBody>
      </p:sp>
      <p:sp>
        <p:nvSpPr>
          <p:cNvPr id="13" name="Example 1 card"/>
          <p:cNvSpPr/>
          <p:nvPr/>
        </p:nvSpPr>
        <p:spPr>
          <a:xfrm>
            <a:off x="457200" y="196596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Example 1 heading"/>
          <p:cNvSpPr txBox="1"/>
          <p:nvPr/>
        </p:nvSpPr>
        <p:spPr>
          <a:xfrm>
            <a:off x="594360" y="2020824"/>
            <a:ext cx="2377440" cy="402336"/>
          </a:xfrm>
          <a:prstGeom prst="rect">
            <a:avLst/>
          </a:prstGeom>
          <a:noFill/>
        </p:spPr>
        <p:txBody>
          <a:bodyPr wrap="square" lIns="0" rIns="0" tIns="0" bIns="0" anchor="ctr">
            <a:noAutofit/>
          </a:bodyPr>
          <a:lstStyle/>
          <a:p>
            <a:pPr algn="l">
              <a:spcAft>
                <a:spcPts val="0"/>
              </a:spcAft>
            </a:pPr>
            <a:r>
              <a:rPr sz="1200" b="1" lang="en-GB">
                <a:solidFill>
                  <a:schemeClr val="accent1"/>
                </a:solidFill>
              </a:rPr>
              <a:t>Stationary</a:t>
            </a:r>
          </a:p>
          <a:p>
            <a:pPr algn="l">
              <a:spcAft>
                <a:spcPts val="0"/>
              </a:spcAft>
            </a:pPr>
            <a:r>
              <a:rPr sz="1150" b="0" lang="en-GB">
                <a:solidFill>
                  <a:schemeClr val="tx1"/>
                </a:solidFill>
              </a:rPr>
              <a:t>noise around a fixed mean</a:t>
            </a:r>
          </a:p>
        </p:txBody>
      </p:sp>
      <p:pic>
        <p:nvPicPr>
          <p:cNvPr id="15" name="Chart fc_f0_gallery_1.png" descr="Stationary: noise around a fixed mean (random numbers). The line stays inside a band around its dashed mean."/>
          <p:cNvPicPr>
            <a:picLocks noChangeAspect="1"/>
          </p:cNvPicPr>
          <p:nvPr/>
        </p:nvPicPr>
        <p:blipFill>
          <a:blip r:embed="rId4"/>
          <a:stretch>
            <a:fillRect/>
          </a:stretch>
        </p:blipFill>
        <p:spPr>
          <a:xfrm>
            <a:off x="457200" y="2423160"/>
            <a:ext cx="2651760" cy="822960"/>
          </a:xfrm>
          <a:prstGeom prst="rect">
            <a:avLst/>
          </a:prstGeom>
        </p:spPr>
      </p:pic>
      <p:sp>
        <p:nvSpPr>
          <p:cNvPr id="16" name="Example 2 card"/>
          <p:cNvSpPr/>
          <p:nvPr/>
        </p:nvSpPr>
        <p:spPr>
          <a:xfrm>
            <a:off x="3246120" y="196596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xample 2 heading"/>
          <p:cNvSpPr txBox="1"/>
          <p:nvPr/>
        </p:nvSpPr>
        <p:spPr>
          <a:xfrm>
            <a:off x="3383280" y="2020824"/>
            <a:ext cx="2377440" cy="402336"/>
          </a:xfrm>
          <a:prstGeom prst="rect">
            <a:avLst/>
          </a:prstGeom>
          <a:noFill/>
        </p:spPr>
        <p:txBody>
          <a:bodyPr wrap="square" lIns="0" rIns="0" tIns="0" bIns="0" anchor="ctr">
            <a:noAutofit/>
          </a:bodyPr>
          <a:lstStyle/>
          <a:p>
            <a:pPr algn="l">
              <a:spcAft>
                <a:spcPts val="0"/>
              </a:spcAft>
            </a:pPr>
            <a:r>
              <a:rPr sz="1200" b="1" lang="en-GB">
                <a:solidFill>
                  <a:schemeClr val="accent1"/>
                </a:solidFill>
              </a:rPr>
              <a:t>Stationary</a:t>
            </a:r>
          </a:p>
          <a:p>
            <a:pPr algn="l">
              <a:spcAft>
                <a:spcPts val="0"/>
              </a:spcAft>
            </a:pPr>
            <a:r>
              <a:rPr sz="1150" b="0" lang="en-GB">
                <a:solidFill>
                  <a:schemeClr val="tx1"/>
                </a:solidFill>
              </a:rPr>
              <a:t>wobbles, returns to its mean</a:t>
            </a:r>
          </a:p>
        </p:txBody>
      </p:sp>
      <p:pic>
        <p:nvPicPr>
          <p:cNvPr id="18" name="Chart fc_f0_gallery_2.png" descr="Stationary: wobbles, returns to its mean (an AR(1) series). The line stays inside a band around its dashed mean."/>
          <p:cNvPicPr>
            <a:picLocks noChangeAspect="1"/>
          </p:cNvPicPr>
          <p:nvPr/>
        </p:nvPicPr>
        <p:blipFill>
          <a:blip r:embed="rId5"/>
          <a:stretch>
            <a:fillRect/>
          </a:stretch>
        </p:blipFill>
        <p:spPr>
          <a:xfrm>
            <a:off x="3246120" y="2423160"/>
            <a:ext cx="2651760" cy="822960"/>
          </a:xfrm>
          <a:prstGeom prst="rect">
            <a:avLst/>
          </a:prstGeom>
        </p:spPr>
      </p:pic>
      <p:sp>
        <p:nvSpPr>
          <p:cNvPr id="19" name="Example 3 card"/>
          <p:cNvSpPr/>
          <p:nvPr/>
        </p:nvSpPr>
        <p:spPr>
          <a:xfrm>
            <a:off x="6035040" y="196596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Example 3 heading"/>
          <p:cNvSpPr txBox="1"/>
          <p:nvPr/>
        </p:nvSpPr>
        <p:spPr>
          <a:xfrm>
            <a:off x="6172200" y="2020824"/>
            <a:ext cx="2377440" cy="402336"/>
          </a:xfrm>
          <a:prstGeom prst="rect">
            <a:avLst/>
          </a:prstGeom>
          <a:noFill/>
        </p:spPr>
        <p:txBody>
          <a:bodyPr wrap="square" lIns="0" rIns="0" tIns="0" bIns="0" anchor="ctr">
            <a:noAutofit/>
          </a:bodyPr>
          <a:lstStyle/>
          <a:p>
            <a:pPr algn="l">
              <a:spcAft>
                <a:spcPts val="0"/>
              </a:spcAft>
            </a:pPr>
            <a:r>
              <a:rPr sz="1200" b="1" lang="en-GB">
                <a:solidFill>
                  <a:schemeClr val="accent1"/>
                </a:solidFill>
              </a:rPr>
              <a:t>Stationary</a:t>
            </a:r>
          </a:p>
          <a:p>
            <a:pPr algn="l">
              <a:spcAft>
                <a:spcPts val="0"/>
              </a:spcAft>
            </a:pPr>
            <a:r>
              <a:rPr sz="1150" b="0" lang="en-GB">
                <a:solidFill>
                  <a:schemeClr val="tx1"/>
                </a:solidFill>
              </a:rPr>
              <a:t>clothing: change on last year</a:t>
            </a:r>
          </a:p>
        </p:txBody>
      </p:sp>
      <p:pic>
        <p:nvPicPr>
          <p:cNvPr id="21" name="Chart fc_f0_gallery_3.png" descr="Stationary: clothing: change on last year (real ABS data, 2010 to 2018). The line stays inside a band around its dashed mean."/>
          <p:cNvPicPr>
            <a:picLocks noChangeAspect="1"/>
          </p:cNvPicPr>
          <p:nvPr/>
        </p:nvPicPr>
        <p:blipFill>
          <a:blip r:embed="rId6"/>
          <a:stretch>
            <a:fillRect/>
          </a:stretch>
        </p:blipFill>
        <p:spPr>
          <a:xfrm>
            <a:off x="6035040" y="2423160"/>
            <a:ext cx="2651760" cy="822960"/>
          </a:xfrm>
          <a:prstGeom prst="rect">
            <a:avLst/>
          </a:prstGeom>
        </p:spPr>
      </p:pic>
      <p:sp>
        <p:nvSpPr>
          <p:cNvPr id="22" name="Example 4 card"/>
          <p:cNvSpPr/>
          <p:nvPr/>
        </p:nvSpPr>
        <p:spPr>
          <a:xfrm>
            <a:off x="457200" y="338328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xample 4 heading"/>
          <p:cNvSpPr txBox="1"/>
          <p:nvPr/>
        </p:nvSpPr>
        <p:spPr>
          <a:xfrm>
            <a:off x="594360" y="3438144"/>
            <a:ext cx="2377440" cy="402336"/>
          </a:xfrm>
          <a:prstGeom prst="rect">
            <a:avLst/>
          </a:prstGeom>
          <a:noFill/>
        </p:spPr>
        <p:txBody>
          <a:bodyPr wrap="square" lIns="0" rIns="0" tIns="0" bIns="0" anchor="ctr">
            <a:noAutofit/>
          </a:bodyPr>
          <a:lstStyle/>
          <a:p>
            <a:pPr algn="l">
              <a:spcAft>
                <a:spcPts val="0"/>
              </a:spcAft>
            </a:pPr>
            <a:r>
              <a:rPr sz="1200" b="1" lang="en-GB">
                <a:solidFill>
                  <a:schemeClr val="tx2"/>
                </a:solidFill>
              </a:rPr>
              <a:t>Not stationary</a:t>
            </a:r>
          </a:p>
          <a:p>
            <a:pPr algn="l">
              <a:spcAft>
                <a:spcPts val="0"/>
              </a:spcAft>
            </a:pPr>
            <a:r>
              <a:rPr sz="1150" b="0" lang="en-GB">
                <a:solidFill>
                  <a:schemeClr val="tx1"/>
                </a:solidFill>
              </a:rPr>
              <a:t>a trend: the level rises</a:t>
            </a:r>
          </a:p>
        </p:txBody>
      </p:sp>
      <p:pic>
        <p:nvPicPr>
          <p:cNvPr id="24" name="Chart fc_f0_gallery_4.png" descr="Not stationary: a trend: the level rises (a straight trend plus noise). The line leaves any band it starts in."/>
          <p:cNvPicPr>
            <a:picLocks noChangeAspect="1"/>
          </p:cNvPicPr>
          <p:nvPr/>
        </p:nvPicPr>
        <p:blipFill>
          <a:blip r:embed="rId7"/>
          <a:stretch>
            <a:fillRect/>
          </a:stretch>
        </p:blipFill>
        <p:spPr>
          <a:xfrm>
            <a:off x="457200" y="3840480"/>
            <a:ext cx="2651760" cy="822960"/>
          </a:xfrm>
          <a:prstGeom prst="rect">
            <a:avLst/>
          </a:prstGeom>
        </p:spPr>
      </p:pic>
      <p:sp>
        <p:nvSpPr>
          <p:cNvPr id="25" name="Example 5 card"/>
          <p:cNvSpPr/>
          <p:nvPr/>
        </p:nvSpPr>
        <p:spPr>
          <a:xfrm>
            <a:off x="3246120" y="338328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Example 5 heading"/>
          <p:cNvSpPr txBox="1"/>
          <p:nvPr/>
        </p:nvSpPr>
        <p:spPr>
          <a:xfrm>
            <a:off x="3383280" y="3438144"/>
            <a:ext cx="2377440" cy="402336"/>
          </a:xfrm>
          <a:prstGeom prst="rect">
            <a:avLst/>
          </a:prstGeom>
          <a:noFill/>
        </p:spPr>
        <p:txBody>
          <a:bodyPr wrap="square" lIns="0" rIns="0" tIns="0" bIns="0" anchor="ctr">
            <a:noAutofit/>
          </a:bodyPr>
          <a:lstStyle/>
          <a:p>
            <a:pPr algn="l">
              <a:spcAft>
                <a:spcPts val="0"/>
              </a:spcAft>
            </a:pPr>
            <a:r>
              <a:rPr sz="1200" b="1" lang="en-GB">
                <a:solidFill>
                  <a:schemeClr val="tx2"/>
                </a:solidFill>
              </a:rPr>
              <a:t>Not stationary</a:t>
            </a:r>
          </a:p>
          <a:p>
            <a:pPr algn="l">
              <a:spcAft>
                <a:spcPts val="0"/>
              </a:spcAft>
            </a:pPr>
            <a:r>
              <a:rPr sz="1150" b="0" lang="en-GB">
                <a:solidFill>
                  <a:schemeClr val="tx1"/>
                </a:solidFill>
              </a:rPr>
              <a:t>a random walk wanders off</a:t>
            </a:r>
          </a:p>
        </p:txBody>
      </p:sp>
      <p:pic>
        <p:nvPicPr>
          <p:cNvPr id="27" name="Chart fc_f0_gallery_5.png" descr="Not stationary: a random walk wanders off (the running sum of the noise). The line leaves any band it starts in."/>
          <p:cNvPicPr>
            <a:picLocks noChangeAspect="1"/>
          </p:cNvPicPr>
          <p:nvPr/>
        </p:nvPicPr>
        <p:blipFill>
          <a:blip r:embed="rId8"/>
          <a:stretch>
            <a:fillRect/>
          </a:stretch>
        </p:blipFill>
        <p:spPr>
          <a:xfrm>
            <a:off x="3246120" y="3840480"/>
            <a:ext cx="2651760" cy="822960"/>
          </a:xfrm>
          <a:prstGeom prst="rect">
            <a:avLst/>
          </a:prstGeom>
        </p:spPr>
      </p:pic>
      <p:sp>
        <p:nvSpPr>
          <p:cNvPr id="28" name="Example 6 card"/>
          <p:cNvSpPr/>
          <p:nvPr/>
        </p:nvSpPr>
        <p:spPr>
          <a:xfrm>
            <a:off x="6035040" y="3383280"/>
            <a:ext cx="2651760" cy="1280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xample 6 heading"/>
          <p:cNvSpPr txBox="1"/>
          <p:nvPr/>
        </p:nvSpPr>
        <p:spPr>
          <a:xfrm>
            <a:off x="6172200" y="3438144"/>
            <a:ext cx="2377440" cy="402336"/>
          </a:xfrm>
          <a:prstGeom prst="rect">
            <a:avLst/>
          </a:prstGeom>
          <a:noFill/>
        </p:spPr>
        <p:txBody>
          <a:bodyPr wrap="square" lIns="0" rIns="0" tIns="0" bIns="0" anchor="ctr">
            <a:noAutofit/>
          </a:bodyPr>
          <a:lstStyle/>
          <a:p>
            <a:pPr algn="l">
              <a:spcAft>
                <a:spcPts val="0"/>
              </a:spcAft>
            </a:pPr>
            <a:r>
              <a:rPr sz="1200" b="1" lang="en-GB">
                <a:solidFill>
                  <a:schemeClr val="tx2"/>
                </a:solidFill>
              </a:rPr>
              <a:t>Not stationary</a:t>
            </a:r>
          </a:p>
          <a:p>
            <a:pPr algn="l">
              <a:spcAft>
                <a:spcPts val="0"/>
              </a:spcAft>
            </a:pPr>
            <a:r>
              <a:rPr sz="1150" b="0" lang="en-GB">
                <a:solidFill>
                  <a:schemeClr val="tx1"/>
                </a:solidFill>
              </a:rPr>
              <a:t>a season whose swings grow</a:t>
            </a:r>
          </a:p>
        </p:txBody>
      </p:sp>
      <p:pic>
        <p:nvPicPr>
          <p:cNvPr id="30" name="Chart fc_f0_gallery_6.png" descr="Not stationary: a season whose swings grow (a growing 12-period season). The line leaves any band it starts in."/>
          <p:cNvPicPr>
            <a:picLocks noChangeAspect="1"/>
          </p:cNvPicPr>
          <p:nvPr/>
        </p:nvPicPr>
        <p:blipFill>
          <a:blip r:embed="rId9"/>
          <a:stretch>
            <a:fillRect/>
          </a:stretch>
        </p:blipFill>
        <p:spPr>
          <a:xfrm>
            <a:off x="6035040" y="3840480"/>
            <a:ext cx="2651760" cy="822960"/>
          </a:xfrm>
          <a:prstGeom prst="rect">
            <a:avLst/>
          </a:prstGeom>
        </p:spPr>
      </p:pic>
      <p:sp>
        <p:nvSpPr>
          <p:cNvPr id="3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series for illustration; clothing: ABS Retail Trade (8501.0), CC BY 4.0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Not stationary? Differencing is the fix</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0_stationary.png" descr="Two simulated series of 60 periods: a random walk with drift that rises and wanders (non-stationary), and its period-to-period changes, which move around a fixed mean inside a band (stationary)."/>
          <p:cNvPicPr>
            <a:picLocks noChangeAspect="1"/>
          </p:cNvPicPr>
          <p:nvPr/>
        </p:nvPicPr>
        <p:blipFill>
          <a:blip r:embed="rId3"/>
          <a:stretch>
            <a:fillRect/>
          </a:stretch>
        </p:blipFill>
        <p:spPr>
          <a:xfrm>
            <a:off x="457200" y="1234440"/>
            <a:ext cx="8229600" cy="1691640"/>
          </a:xfrm>
          <a:prstGeom prst="rect">
            <a:avLst/>
          </a:prstGeom>
        </p:spPr>
      </p:pic>
      <p:sp>
        <p:nvSpPr>
          <p:cNvPr id="11" name="Change grid 1-1"/>
          <p:cNvSpPr/>
          <p:nvPr/>
        </p:nvSpPr>
        <p:spPr>
          <a:xfrm>
            <a:off x="457200" y="3063240"/>
            <a:ext cx="13441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Change grid text 1-1"/>
          <p:cNvSpPr txBox="1"/>
          <p:nvPr/>
        </p:nvSpPr>
        <p:spPr>
          <a:xfrm>
            <a:off x="548640" y="3063240"/>
            <a:ext cx="1161288" cy="292608"/>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3" name="Change grid 1-2"/>
          <p:cNvSpPr/>
          <p:nvPr/>
        </p:nvSpPr>
        <p:spPr>
          <a:xfrm>
            <a:off x="18288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Change grid text 1-2"/>
          <p:cNvSpPr txBox="1"/>
          <p:nvPr/>
        </p:nvSpPr>
        <p:spPr>
          <a:xfrm>
            <a:off x="19202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1</a:t>
            </a:r>
          </a:p>
        </p:txBody>
      </p:sp>
      <p:sp>
        <p:nvSpPr>
          <p:cNvPr id="15" name="Change grid 1-3"/>
          <p:cNvSpPr/>
          <p:nvPr/>
        </p:nvSpPr>
        <p:spPr>
          <a:xfrm>
            <a:off x="25146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Change grid text 1-3"/>
          <p:cNvSpPr txBox="1"/>
          <p:nvPr/>
        </p:nvSpPr>
        <p:spPr>
          <a:xfrm>
            <a:off x="26060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2</a:t>
            </a:r>
          </a:p>
        </p:txBody>
      </p:sp>
      <p:sp>
        <p:nvSpPr>
          <p:cNvPr id="17" name="Change grid 1-4"/>
          <p:cNvSpPr/>
          <p:nvPr/>
        </p:nvSpPr>
        <p:spPr>
          <a:xfrm>
            <a:off x="32004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Change grid text 1-4"/>
          <p:cNvSpPr txBox="1"/>
          <p:nvPr/>
        </p:nvSpPr>
        <p:spPr>
          <a:xfrm>
            <a:off x="32918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3</a:t>
            </a:r>
          </a:p>
        </p:txBody>
      </p:sp>
      <p:sp>
        <p:nvSpPr>
          <p:cNvPr id="19" name="Change grid 1-5"/>
          <p:cNvSpPr/>
          <p:nvPr/>
        </p:nvSpPr>
        <p:spPr>
          <a:xfrm>
            <a:off x="38862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Change grid text 1-5"/>
          <p:cNvSpPr txBox="1"/>
          <p:nvPr/>
        </p:nvSpPr>
        <p:spPr>
          <a:xfrm>
            <a:off x="39776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4</a:t>
            </a:r>
          </a:p>
        </p:txBody>
      </p:sp>
      <p:sp>
        <p:nvSpPr>
          <p:cNvPr id="21" name="Change grid 1-6"/>
          <p:cNvSpPr/>
          <p:nvPr/>
        </p:nvSpPr>
        <p:spPr>
          <a:xfrm>
            <a:off x="45720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Change grid text 1-6"/>
          <p:cNvSpPr txBox="1"/>
          <p:nvPr/>
        </p:nvSpPr>
        <p:spPr>
          <a:xfrm>
            <a:off x="46634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5</a:t>
            </a:r>
          </a:p>
        </p:txBody>
      </p:sp>
      <p:sp>
        <p:nvSpPr>
          <p:cNvPr id="23" name="Change grid 1-7"/>
          <p:cNvSpPr/>
          <p:nvPr/>
        </p:nvSpPr>
        <p:spPr>
          <a:xfrm>
            <a:off x="52578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Change grid text 1-7"/>
          <p:cNvSpPr txBox="1"/>
          <p:nvPr/>
        </p:nvSpPr>
        <p:spPr>
          <a:xfrm>
            <a:off x="53492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6</a:t>
            </a:r>
          </a:p>
        </p:txBody>
      </p:sp>
      <p:sp>
        <p:nvSpPr>
          <p:cNvPr id="25" name="Change grid 1-8"/>
          <p:cNvSpPr/>
          <p:nvPr/>
        </p:nvSpPr>
        <p:spPr>
          <a:xfrm>
            <a:off x="59436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Change grid text 1-8"/>
          <p:cNvSpPr txBox="1"/>
          <p:nvPr/>
        </p:nvSpPr>
        <p:spPr>
          <a:xfrm>
            <a:off x="60350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7</a:t>
            </a:r>
          </a:p>
        </p:txBody>
      </p:sp>
      <p:sp>
        <p:nvSpPr>
          <p:cNvPr id="27" name="Change grid 1-9"/>
          <p:cNvSpPr/>
          <p:nvPr/>
        </p:nvSpPr>
        <p:spPr>
          <a:xfrm>
            <a:off x="6629400" y="3063240"/>
            <a:ext cx="658368"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Change grid text 1-9"/>
          <p:cNvSpPr txBox="1"/>
          <p:nvPr/>
        </p:nvSpPr>
        <p:spPr>
          <a:xfrm>
            <a:off x="6720840" y="3063240"/>
            <a:ext cx="4754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8</a:t>
            </a:r>
          </a:p>
        </p:txBody>
      </p:sp>
      <p:sp>
        <p:nvSpPr>
          <p:cNvPr id="29" name="Change grid 1-10"/>
          <p:cNvSpPr/>
          <p:nvPr/>
        </p:nvSpPr>
        <p:spPr>
          <a:xfrm>
            <a:off x="7315200" y="3063240"/>
            <a:ext cx="1371600" cy="2926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Change grid text 1-10"/>
          <p:cNvSpPr txBox="1"/>
          <p:nvPr/>
        </p:nvSpPr>
        <p:spPr>
          <a:xfrm>
            <a:off x="7406640" y="3063240"/>
            <a:ext cx="1161288" cy="292608"/>
          </a:xfrm>
          <a:prstGeom prst="rect">
            <a:avLst/>
          </a:prstGeom>
          <a:noFill/>
        </p:spPr>
        <p:txBody>
          <a:bodyPr wrap="square" lIns="0" rIns="0" tIns="0" bIns="0" anchor="ctr">
            <a:noAutofit/>
          </a:bodyPr>
          <a:lstStyle/>
          <a:p>
            <a:pPr algn="r">
              <a:spcAft>
                <a:spcPts val="400"/>
              </a:spcAft>
            </a:pPr>
            <a:r>
              <a:rPr sz="1200" b="1" lang="en-GB">
                <a:solidFill>
                  <a:schemeClr val="bg1"/>
                </a:solidFill>
              </a:rPr>
              <a:t>Average</a:t>
            </a:r>
          </a:p>
        </p:txBody>
      </p:sp>
      <p:sp>
        <p:nvSpPr>
          <p:cNvPr id="31" name="Change grid 2-1"/>
          <p:cNvSpPr/>
          <p:nvPr/>
        </p:nvSpPr>
        <p:spPr>
          <a:xfrm>
            <a:off x="457200" y="3383280"/>
            <a:ext cx="13441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Change grid text 2-1"/>
          <p:cNvSpPr txBox="1"/>
          <p:nvPr/>
        </p:nvSpPr>
        <p:spPr>
          <a:xfrm>
            <a:off x="548640" y="3383280"/>
            <a:ext cx="1161288"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Contracts</a:t>
            </a:r>
          </a:p>
        </p:txBody>
      </p:sp>
      <p:sp>
        <p:nvSpPr>
          <p:cNvPr id="33" name="Change grid 2-2"/>
          <p:cNvSpPr/>
          <p:nvPr/>
        </p:nvSpPr>
        <p:spPr>
          <a:xfrm>
            <a:off x="18288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Change grid text 2-2"/>
          <p:cNvSpPr txBox="1"/>
          <p:nvPr/>
        </p:nvSpPr>
        <p:spPr>
          <a:xfrm>
            <a:off x="19202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40</a:t>
            </a:r>
          </a:p>
        </p:txBody>
      </p:sp>
      <p:sp>
        <p:nvSpPr>
          <p:cNvPr id="35" name="Change grid 2-3"/>
          <p:cNvSpPr/>
          <p:nvPr/>
        </p:nvSpPr>
        <p:spPr>
          <a:xfrm>
            <a:off x="25146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Change grid text 2-3"/>
          <p:cNvSpPr txBox="1"/>
          <p:nvPr/>
        </p:nvSpPr>
        <p:spPr>
          <a:xfrm>
            <a:off x="26060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44</a:t>
            </a:r>
          </a:p>
        </p:txBody>
      </p:sp>
      <p:sp>
        <p:nvSpPr>
          <p:cNvPr id="37" name="Change grid 2-4"/>
          <p:cNvSpPr/>
          <p:nvPr/>
        </p:nvSpPr>
        <p:spPr>
          <a:xfrm>
            <a:off x="32004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Change grid text 2-4"/>
          <p:cNvSpPr txBox="1"/>
          <p:nvPr/>
        </p:nvSpPr>
        <p:spPr>
          <a:xfrm>
            <a:off x="32918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42</a:t>
            </a:r>
          </a:p>
        </p:txBody>
      </p:sp>
      <p:sp>
        <p:nvSpPr>
          <p:cNvPr id="39" name="Change grid 2-5"/>
          <p:cNvSpPr/>
          <p:nvPr/>
        </p:nvSpPr>
        <p:spPr>
          <a:xfrm>
            <a:off x="38862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Change grid text 2-5"/>
          <p:cNvSpPr txBox="1"/>
          <p:nvPr/>
        </p:nvSpPr>
        <p:spPr>
          <a:xfrm>
            <a:off x="39776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46</a:t>
            </a:r>
          </a:p>
        </p:txBody>
      </p:sp>
      <p:sp>
        <p:nvSpPr>
          <p:cNvPr id="41" name="Change grid 2-6"/>
          <p:cNvSpPr/>
          <p:nvPr/>
        </p:nvSpPr>
        <p:spPr>
          <a:xfrm>
            <a:off x="45720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Change grid text 2-6"/>
          <p:cNvSpPr txBox="1"/>
          <p:nvPr/>
        </p:nvSpPr>
        <p:spPr>
          <a:xfrm>
            <a:off x="46634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43" name="Change grid 2-7"/>
          <p:cNvSpPr/>
          <p:nvPr/>
        </p:nvSpPr>
        <p:spPr>
          <a:xfrm>
            <a:off x="52578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Change grid text 2-7"/>
          <p:cNvSpPr txBox="1"/>
          <p:nvPr/>
        </p:nvSpPr>
        <p:spPr>
          <a:xfrm>
            <a:off x="53492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49</a:t>
            </a:r>
          </a:p>
        </p:txBody>
      </p:sp>
      <p:sp>
        <p:nvSpPr>
          <p:cNvPr id="45" name="Change grid 2-8"/>
          <p:cNvSpPr/>
          <p:nvPr/>
        </p:nvSpPr>
        <p:spPr>
          <a:xfrm>
            <a:off x="59436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Change grid text 2-8"/>
          <p:cNvSpPr txBox="1"/>
          <p:nvPr/>
        </p:nvSpPr>
        <p:spPr>
          <a:xfrm>
            <a:off x="60350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53</a:t>
            </a:r>
          </a:p>
        </p:txBody>
      </p:sp>
      <p:sp>
        <p:nvSpPr>
          <p:cNvPr id="47" name="Change grid 2-9"/>
          <p:cNvSpPr/>
          <p:nvPr/>
        </p:nvSpPr>
        <p:spPr>
          <a:xfrm>
            <a:off x="6629400" y="338328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Change grid text 2-9"/>
          <p:cNvSpPr txBox="1"/>
          <p:nvPr/>
        </p:nvSpPr>
        <p:spPr>
          <a:xfrm>
            <a:off x="6720840" y="338328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54</a:t>
            </a:r>
          </a:p>
        </p:txBody>
      </p:sp>
      <p:sp>
        <p:nvSpPr>
          <p:cNvPr id="49" name="Change grid 2-10"/>
          <p:cNvSpPr/>
          <p:nvPr/>
        </p:nvSpPr>
        <p:spPr>
          <a:xfrm>
            <a:off x="7315200" y="3383280"/>
            <a:ext cx="137160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Change grid text 2-10"/>
          <p:cNvSpPr txBox="1"/>
          <p:nvPr/>
        </p:nvSpPr>
        <p:spPr>
          <a:xfrm>
            <a:off x="7406640" y="3383280"/>
            <a:ext cx="11612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
            </a:r>
          </a:p>
        </p:txBody>
      </p:sp>
      <p:sp>
        <p:nvSpPr>
          <p:cNvPr id="51" name="Change grid 3-1"/>
          <p:cNvSpPr/>
          <p:nvPr/>
        </p:nvSpPr>
        <p:spPr>
          <a:xfrm>
            <a:off x="457200" y="3703320"/>
            <a:ext cx="13441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Change grid text 3-1"/>
          <p:cNvSpPr txBox="1"/>
          <p:nvPr/>
        </p:nvSpPr>
        <p:spPr>
          <a:xfrm>
            <a:off x="548640" y="3703320"/>
            <a:ext cx="1161288" cy="292608"/>
          </a:xfrm>
          <a:prstGeom prst="rect">
            <a:avLst/>
          </a:prstGeom>
          <a:noFill/>
        </p:spPr>
        <p:txBody>
          <a:bodyPr wrap="square" lIns="0" rIns="0" tIns="0" bIns="0" anchor="ctr">
            <a:noAutofit/>
          </a:bodyPr>
          <a:lstStyle/>
          <a:p>
            <a:pPr algn="l">
              <a:spcAft>
                <a:spcPts val="400"/>
              </a:spcAft>
            </a:pPr>
            <a:r>
              <a:rPr sz="1200" b="1" lang="en-GB">
                <a:solidFill>
                  <a:schemeClr val="tx2"/>
                </a:solidFill>
              </a:rPr>
              <a:t>Change</a:t>
            </a:r>
          </a:p>
        </p:txBody>
      </p:sp>
      <p:sp>
        <p:nvSpPr>
          <p:cNvPr id="53" name="Change grid 3-2"/>
          <p:cNvSpPr/>
          <p:nvPr/>
        </p:nvSpPr>
        <p:spPr>
          <a:xfrm>
            <a:off x="18288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Change grid text 3-2"/>
          <p:cNvSpPr txBox="1"/>
          <p:nvPr/>
        </p:nvSpPr>
        <p:spPr>
          <a:xfrm>
            <a:off x="19202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a:t>
            </a:r>
          </a:p>
        </p:txBody>
      </p:sp>
      <p:sp>
        <p:nvSpPr>
          <p:cNvPr id="55" name="Change grid 3-3"/>
          <p:cNvSpPr/>
          <p:nvPr/>
        </p:nvSpPr>
        <p:spPr>
          <a:xfrm>
            <a:off x="25146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Change grid text 3-3"/>
          <p:cNvSpPr txBox="1"/>
          <p:nvPr/>
        </p:nvSpPr>
        <p:spPr>
          <a:xfrm>
            <a:off x="26060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57" name="Change grid 3-4"/>
          <p:cNvSpPr/>
          <p:nvPr/>
        </p:nvSpPr>
        <p:spPr>
          <a:xfrm>
            <a:off x="32004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Change grid text 3-4"/>
          <p:cNvSpPr txBox="1"/>
          <p:nvPr/>
        </p:nvSpPr>
        <p:spPr>
          <a:xfrm>
            <a:off x="32918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−2</a:t>
            </a:r>
          </a:p>
        </p:txBody>
      </p:sp>
      <p:sp>
        <p:nvSpPr>
          <p:cNvPr id="59" name="Change grid 3-5"/>
          <p:cNvSpPr/>
          <p:nvPr/>
        </p:nvSpPr>
        <p:spPr>
          <a:xfrm>
            <a:off x="38862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Change grid text 3-5"/>
          <p:cNvSpPr txBox="1"/>
          <p:nvPr/>
        </p:nvSpPr>
        <p:spPr>
          <a:xfrm>
            <a:off x="39776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61" name="Change grid 3-6"/>
          <p:cNvSpPr/>
          <p:nvPr/>
        </p:nvSpPr>
        <p:spPr>
          <a:xfrm>
            <a:off x="45720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Change grid text 3-6"/>
          <p:cNvSpPr txBox="1"/>
          <p:nvPr/>
        </p:nvSpPr>
        <p:spPr>
          <a:xfrm>
            <a:off x="46634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63" name="Change grid 3-7"/>
          <p:cNvSpPr/>
          <p:nvPr/>
        </p:nvSpPr>
        <p:spPr>
          <a:xfrm>
            <a:off x="52578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Change grid text 3-7"/>
          <p:cNvSpPr txBox="1"/>
          <p:nvPr/>
        </p:nvSpPr>
        <p:spPr>
          <a:xfrm>
            <a:off x="53492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65" name="Change grid 3-8"/>
          <p:cNvSpPr/>
          <p:nvPr/>
        </p:nvSpPr>
        <p:spPr>
          <a:xfrm>
            <a:off x="59436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6" name="Change grid text 3-8"/>
          <p:cNvSpPr txBox="1"/>
          <p:nvPr/>
        </p:nvSpPr>
        <p:spPr>
          <a:xfrm>
            <a:off x="60350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67" name="Change grid 3-9"/>
          <p:cNvSpPr/>
          <p:nvPr/>
        </p:nvSpPr>
        <p:spPr>
          <a:xfrm>
            <a:off x="6629400" y="3703320"/>
            <a:ext cx="658368"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Change grid text 3-9"/>
          <p:cNvSpPr txBox="1"/>
          <p:nvPr/>
        </p:nvSpPr>
        <p:spPr>
          <a:xfrm>
            <a:off x="6720840" y="3703320"/>
            <a:ext cx="4754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69" name="Change grid 3-10"/>
          <p:cNvSpPr/>
          <p:nvPr/>
        </p:nvSpPr>
        <p:spPr>
          <a:xfrm>
            <a:off x="7315200" y="3703320"/>
            <a:ext cx="1371600" cy="2926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0" name="Change grid text 3-10"/>
          <p:cNvSpPr txBox="1"/>
          <p:nvPr/>
        </p:nvSpPr>
        <p:spPr>
          <a:xfrm>
            <a:off x="7406640" y="3703320"/>
            <a:ext cx="1161288" cy="292608"/>
          </a:xfrm>
          <a:prstGeom prst="rect">
            <a:avLst/>
          </a:prstGeom>
          <a:noFill/>
        </p:spPr>
        <p:txBody>
          <a:bodyPr wrap="square" lIns="0" rIns="0" tIns="0" bIns="0" anchor="ctr">
            <a:noAutofit/>
          </a:bodyPr>
          <a:lstStyle/>
          <a:p>
            <a:pPr algn="r">
              <a:spcAft>
                <a:spcPts val="400"/>
              </a:spcAft>
            </a:pPr>
            <a:r>
              <a:rPr sz="1200" b="0" lang="en-GB">
                <a:solidFill>
                  <a:schemeClr val="tx1"/>
                </a:solidFill>
              </a:rPr>
              <a:t>+2</a:t>
            </a:r>
          </a:p>
        </p:txBody>
      </p:sp>
      <p:sp>
        <p:nvSpPr>
          <p:cNvPr id="71" name="Stationary message box"/>
          <p:cNvSpPr/>
          <p:nvPr/>
        </p:nvSpPr>
        <p:spPr>
          <a:xfrm>
            <a:off x="457200" y="4133088"/>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Stationary message text"/>
          <p:cNvSpPr txBox="1"/>
          <p:nvPr/>
        </p:nvSpPr>
        <p:spPr>
          <a:xfrm>
            <a:off x="658368" y="4133088"/>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Differencing: </a:t>
            </a:r>
            <a:r>
              <a:rPr sz="1200" b="0" lang="en-GB">
                <a:solidFill>
                  <a:schemeClr val="bg1"/>
                </a:solidFill>
              </a:rPr>
              <a:t>this period − the last; for a season: minus the same period last year. ARIMA-type models need it.</a:t>
            </a:r>
          </a:p>
        </p:txBody>
      </p:sp>
      <p:sp>
        <p:nvSpPr>
          <p:cNvPr id="7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Simulated series for illustration; phone shop: invented round numbers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2 of 6 · five methods and smoothing</a:t>
            </a:r>
          </a:p>
        </p:txBody>
      </p:sp>
      <p:sp>
        <p:nvSpPr>
          <p:cNvPr id="3" name="Title 2"/>
          <p:cNvSpPr>
            <a:spLocks noGrp="1"/>
          </p:cNvSpPr>
          <p:nvPr>
            <p:ph type="ctrTitle"/>
          </p:nvPr>
        </p:nvSpPr>
        <p:spPr/>
        <p:txBody>
          <a:bodyPr/>
          <a:lstStyle/>
          <a:p>
            <a:r>
              <a:rPr lang="en-GB"/>
              <a:t>Simple forecasts by hand</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No change and same change: naive and drift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Naive grid 1-1"/>
          <p:cNvSpPr/>
          <p:nvPr/>
        </p:nvSpPr>
        <p:spPr>
          <a:xfrm>
            <a:off x="457200" y="1234440"/>
            <a:ext cx="70408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Naive grid text 1-1"/>
          <p:cNvSpPr txBox="1"/>
          <p:nvPr/>
        </p:nvSpPr>
        <p:spPr>
          <a:xfrm>
            <a:off x="548640" y="1234440"/>
            <a:ext cx="521208" cy="280416"/>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2" name="Naive grid 1-2"/>
          <p:cNvSpPr/>
          <p:nvPr/>
        </p:nvSpPr>
        <p:spPr>
          <a:xfrm>
            <a:off x="1188720" y="1234440"/>
            <a:ext cx="102412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Naive grid text 1-2"/>
          <p:cNvSpPr txBox="1"/>
          <p:nvPr/>
        </p:nvSpPr>
        <p:spPr>
          <a:xfrm>
            <a:off x="1280160" y="1234440"/>
            <a:ext cx="84124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Contracts</a:t>
            </a:r>
          </a:p>
        </p:txBody>
      </p:sp>
      <p:sp>
        <p:nvSpPr>
          <p:cNvPr id="14" name="Naive grid 1-3"/>
          <p:cNvSpPr/>
          <p:nvPr/>
        </p:nvSpPr>
        <p:spPr>
          <a:xfrm>
            <a:off x="2240280" y="1234440"/>
            <a:ext cx="157276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Naive grid text 1-3"/>
          <p:cNvSpPr txBox="1"/>
          <p:nvPr/>
        </p:nvSpPr>
        <p:spPr>
          <a:xfrm>
            <a:off x="2331720" y="1234440"/>
            <a:ext cx="138988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Naive</a:t>
            </a:r>
          </a:p>
        </p:txBody>
      </p:sp>
      <p:sp>
        <p:nvSpPr>
          <p:cNvPr id="16" name="Naive grid 1-4"/>
          <p:cNvSpPr/>
          <p:nvPr/>
        </p:nvSpPr>
        <p:spPr>
          <a:xfrm>
            <a:off x="3840480" y="1234440"/>
            <a:ext cx="1828800"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Naive grid text 1-4"/>
          <p:cNvSpPr txBox="1"/>
          <p:nvPr/>
        </p:nvSpPr>
        <p:spPr>
          <a:xfrm>
            <a:off x="3931920" y="1234440"/>
            <a:ext cx="161848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Error = change</a:t>
            </a:r>
          </a:p>
        </p:txBody>
      </p:sp>
      <p:sp>
        <p:nvSpPr>
          <p:cNvPr id="18" name="Naive grid 2-1"/>
          <p:cNvSpPr/>
          <p:nvPr/>
        </p:nvSpPr>
        <p:spPr>
          <a:xfrm>
            <a:off x="457200" y="154228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Naive grid text 2-1"/>
          <p:cNvSpPr txBox="1"/>
          <p:nvPr/>
        </p:nvSpPr>
        <p:spPr>
          <a:xfrm>
            <a:off x="548640" y="154228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1</a:t>
            </a:r>
          </a:p>
        </p:txBody>
      </p:sp>
      <p:sp>
        <p:nvSpPr>
          <p:cNvPr id="20" name="Naive grid 2-2"/>
          <p:cNvSpPr/>
          <p:nvPr/>
        </p:nvSpPr>
        <p:spPr>
          <a:xfrm>
            <a:off x="1188720" y="1542288"/>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Naive grid text 2-2"/>
          <p:cNvSpPr txBox="1"/>
          <p:nvPr/>
        </p:nvSpPr>
        <p:spPr>
          <a:xfrm>
            <a:off x="1280160" y="1542288"/>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22" name="Naive grid 2-3"/>
          <p:cNvSpPr/>
          <p:nvPr/>
        </p:nvSpPr>
        <p:spPr>
          <a:xfrm>
            <a:off x="2240280" y="1542288"/>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Naive grid text 2-3"/>
          <p:cNvSpPr txBox="1"/>
          <p:nvPr/>
        </p:nvSpPr>
        <p:spPr>
          <a:xfrm>
            <a:off x="2331720" y="1542288"/>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24" name="Naive grid 2-4"/>
          <p:cNvSpPr/>
          <p:nvPr/>
        </p:nvSpPr>
        <p:spPr>
          <a:xfrm>
            <a:off x="3840480" y="1542288"/>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Naive grid text 2-4"/>
          <p:cNvSpPr txBox="1"/>
          <p:nvPr/>
        </p:nvSpPr>
        <p:spPr>
          <a:xfrm>
            <a:off x="3931920" y="1542288"/>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26" name="Naive grid 3-1"/>
          <p:cNvSpPr/>
          <p:nvPr/>
        </p:nvSpPr>
        <p:spPr>
          <a:xfrm>
            <a:off x="457200" y="185013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Naive grid text 3-1"/>
          <p:cNvSpPr txBox="1"/>
          <p:nvPr/>
        </p:nvSpPr>
        <p:spPr>
          <a:xfrm>
            <a:off x="548640" y="185013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2</a:t>
            </a:r>
          </a:p>
        </p:txBody>
      </p:sp>
      <p:sp>
        <p:nvSpPr>
          <p:cNvPr id="28" name="Naive grid 3-2"/>
          <p:cNvSpPr/>
          <p:nvPr/>
        </p:nvSpPr>
        <p:spPr>
          <a:xfrm>
            <a:off x="1188720" y="1850136"/>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Naive grid text 3-2"/>
          <p:cNvSpPr txBox="1"/>
          <p:nvPr/>
        </p:nvSpPr>
        <p:spPr>
          <a:xfrm>
            <a:off x="1280160" y="1850136"/>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30" name="Naive grid 3-3"/>
          <p:cNvSpPr/>
          <p:nvPr/>
        </p:nvSpPr>
        <p:spPr>
          <a:xfrm>
            <a:off x="2240280" y="1850136"/>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Naive grid text 3-3"/>
          <p:cNvSpPr txBox="1"/>
          <p:nvPr/>
        </p:nvSpPr>
        <p:spPr>
          <a:xfrm>
            <a:off x="2331720" y="1850136"/>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32" name="Naive grid 3-4"/>
          <p:cNvSpPr/>
          <p:nvPr/>
        </p:nvSpPr>
        <p:spPr>
          <a:xfrm>
            <a:off x="3840480" y="1850136"/>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Naive grid text 3-4"/>
          <p:cNvSpPr txBox="1"/>
          <p:nvPr/>
        </p:nvSpPr>
        <p:spPr>
          <a:xfrm>
            <a:off x="3931920" y="1850136"/>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a:t>
            </a:r>
          </a:p>
        </p:txBody>
      </p:sp>
      <p:sp>
        <p:nvSpPr>
          <p:cNvPr id="34" name="Naive grid 4-1"/>
          <p:cNvSpPr/>
          <p:nvPr/>
        </p:nvSpPr>
        <p:spPr>
          <a:xfrm>
            <a:off x="457200" y="215798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Naive grid text 4-1"/>
          <p:cNvSpPr txBox="1"/>
          <p:nvPr/>
        </p:nvSpPr>
        <p:spPr>
          <a:xfrm>
            <a:off x="548640" y="215798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3</a:t>
            </a:r>
          </a:p>
        </p:txBody>
      </p:sp>
      <p:sp>
        <p:nvSpPr>
          <p:cNvPr id="36" name="Naive grid 4-2"/>
          <p:cNvSpPr/>
          <p:nvPr/>
        </p:nvSpPr>
        <p:spPr>
          <a:xfrm>
            <a:off x="1188720" y="2157984"/>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Naive grid text 4-2"/>
          <p:cNvSpPr txBox="1"/>
          <p:nvPr/>
        </p:nvSpPr>
        <p:spPr>
          <a:xfrm>
            <a:off x="1280160" y="2157984"/>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38" name="Naive grid 4-3"/>
          <p:cNvSpPr/>
          <p:nvPr/>
        </p:nvSpPr>
        <p:spPr>
          <a:xfrm>
            <a:off x="2240280" y="2157984"/>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Naive grid text 4-3"/>
          <p:cNvSpPr txBox="1"/>
          <p:nvPr/>
        </p:nvSpPr>
        <p:spPr>
          <a:xfrm>
            <a:off x="2331720" y="2157984"/>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40" name="Naive grid 4-4"/>
          <p:cNvSpPr/>
          <p:nvPr/>
        </p:nvSpPr>
        <p:spPr>
          <a:xfrm>
            <a:off x="3840480" y="2157984"/>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Naive grid text 4-4"/>
          <p:cNvSpPr txBox="1"/>
          <p:nvPr/>
        </p:nvSpPr>
        <p:spPr>
          <a:xfrm>
            <a:off x="3931920" y="2157984"/>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−2</a:t>
            </a:r>
          </a:p>
        </p:txBody>
      </p:sp>
      <p:sp>
        <p:nvSpPr>
          <p:cNvPr id="42" name="Naive grid 5-1"/>
          <p:cNvSpPr/>
          <p:nvPr/>
        </p:nvSpPr>
        <p:spPr>
          <a:xfrm>
            <a:off x="457200" y="2465832"/>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Naive grid text 5-1"/>
          <p:cNvSpPr txBox="1"/>
          <p:nvPr/>
        </p:nvSpPr>
        <p:spPr>
          <a:xfrm>
            <a:off x="548640" y="2465832"/>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4</a:t>
            </a:r>
          </a:p>
        </p:txBody>
      </p:sp>
      <p:sp>
        <p:nvSpPr>
          <p:cNvPr id="44" name="Naive grid 5-2"/>
          <p:cNvSpPr/>
          <p:nvPr/>
        </p:nvSpPr>
        <p:spPr>
          <a:xfrm>
            <a:off x="1188720" y="2465832"/>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Naive grid text 5-2"/>
          <p:cNvSpPr txBox="1"/>
          <p:nvPr/>
        </p:nvSpPr>
        <p:spPr>
          <a:xfrm>
            <a:off x="1280160" y="2465832"/>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46" name="Naive grid 5-3"/>
          <p:cNvSpPr/>
          <p:nvPr/>
        </p:nvSpPr>
        <p:spPr>
          <a:xfrm>
            <a:off x="2240280" y="2465832"/>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Naive grid text 5-3"/>
          <p:cNvSpPr txBox="1"/>
          <p:nvPr/>
        </p:nvSpPr>
        <p:spPr>
          <a:xfrm>
            <a:off x="2331720" y="2465832"/>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48" name="Naive grid 5-4"/>
          <p:cNvSpPr/>
          <p:nvPr/>
        </p:nvSpPr>
        <p:spPr>
          <a:xfrm>
            <a:off x="3840480" y="2465832"/>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Naive grid text 5-4"/>
          <p:cNvSpPr txBox="1"/>
          <p:nvPr/>
        </p:nvSpPr>
        <p:spPr>
          <a:xfrm>
            <a:off x="3931920" y="2465832"/>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a:t>
            </a:r>
          </a:p>
        </p:txBody>
      </p:sp>
      <p:sp>
        <p:nvSpPr>
          <p:cNvPr id="50" name="Naive grid 6-1"/>
          <p:cNvSpPr/>
          <p:nvPr/>
        </p:nvSpPr>
        <p:spPr>
          <a:xfrm>
            <a:off x="457200" y="2773680"/>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Naive grid text 6-1"/>
          <p:cNvSpPr txBox="1"/>
          <p:nvPr/>
        </p:nvSpPr>
        <p:spPr>
          <a:xfrm>
            <a:off x="548640" y="2773680"/>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5</a:t>
            </a:r>
          </a:p>
        </p:txBody>
      </p:sp>
      <p:sp>
        <p:nvSpPr>
          <p:cNvPr id="52" name="Naive grid 6-2"/>
          <p:cNvSpPr/>
          <p:nvPr/>
        </p:nvSpPr>
        <p:spPr>
          <a:xfrm>
            <a:off x="1188720" y="2773680"/>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Naive grid text 6-2"/>
          <p:cNvSpPr txBox="1"/>
          <p:nvPr/>
        </p:nvSpPr>
        <p:spPr>
          <a:xfrm>
            <a:off x="1280160" y="2773680"/>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54" name="Naive grid 6-3"/>
          <p:cNvSpPr/>
          <p:nvPr/>
        </p:nvSpPr>
        <p:spPr>
          <a:xfrm>
            <a:off x="2240280" y="2773680"/>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Naive grid text 6-3"/>
          <p:cNvSpPr txBox="1"/>
          <p:nvPr/>
        </p:nvSpPr>
        <p:spPr>
          <a:xfrm>
            <a:off x="2331720" y="2773680"/>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56" name="Naive grid 6-4"/>
          <p:cNvSpPr/>
          <p:nvPr/>
        </p:nvSpPr>
        <p:spPr>
          <a:xfrm>
            <a:off x="3840480" y="2773680"/>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Naive grid text 6-4"/>
          <p:cNvSpPr txBox="1"/>
          <p:nvPr/>
        </p:nvSpPr>
        <p:spPr>
          <a:xfrm>
            <a:off x="3931920" y="2773680"/>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a:t>
            </a:r>
          </a:p>
        </p:txBody>
      </p:sp>
      <p:sp>
        <p:nvSpPr>
          <p:cNvPr id="58" name="Naive grid 7-1"/>
          <p:cNvSpPr/>
          <p:nvPr/>
        </p:nvSpPr>
        <p:spPr>
          <a:xfrm>
            <a:off x="457200" y="308152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Naive grid text 7-1"/>
          <p:cNvSpPr txBox="1"/>
          <p:nvPr/>
        </p:nvSpPr>
        <p:spPr>
          <a:xfrm>
            <a:off x="548640" y="308152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6</a:t>
            </a:r>
          </a:p>
        </p:txBody>
      </p:sp>
      <p:sp>
        <p:nvSpPr>
          <p:cNvPr id="60" name="Naive grid 7-2"/>
          <p:cNvSpPr/>
          <p:nvPr/>
        </p:nvSpPr>
        <p:spPr>
          <a:xfrm>
            <a:off x="1188720" y="3081528"/>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Naive grid text 7-2"/>
          <p:cNvSpPr txBox="1"/>
          <p:nvPr/>
        </p:nvSpPr>
        <p:spPr>
          <a:xfrm>
            <a:off x="1280160" y="3081528"/>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49</a:t>
            </a:r>
          </a:p>
        </p:txBody>
      </p:sp>
      <p:sp>
        <p:nvSpPr>
          <p:cNvPr id="62" name="Naive grid 7-3"/>
          <p:cNvSpPr/>
          <p:nvPr/>
        </p:nvSpPr>
        <p:spPr>
          <a:xfrm>
            <a:off x="2240280" y="3081528"/>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Naive grid text 7-3"/>
          <p:cNvSpPr txBox="1"/>
          <p:nvPr/>
        </p:nvSpPr>
        <p:spPr>
          <a:xfrm>
            <a:off x="2331720" y="3081528"/>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64" name="Naive grid 7-4"/>
          <p:cNvSpPr/>
          <p:nvPr/>
        </p:nvSpPr>
        <p:spPr>
          <a:xfrm>
            <a:off x="3840480" y="3081528"/>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Naive grid text 7-4"/>
          <p:cNvSpPr txBox="1"/>
          <p:nvPr/>
        </p:nvSpPr>
        <p:spPr>
          <a:xfrm>
            <a:off x="3931920" y="3081528"/>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−1</a:t>
            </a:r>
          </a:p>
        </p:txBody>
      </p:sp>
      <p:sp>
        <p:nvSpPr>
          <p:cNvPr id="66" name="Naive grid 8-1"/>
          <p:cNvSpPr/>
          <p:nvPr/>
        </p:nvSpPr>
        <p:spPr>
          <a:xfrm>
            <a:off x="457200" y="338937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Naive grid text 8-1"/>
          <p:cNvSpPr txBox="1"/>
          <p:nvPr/>
        </p:nvSpPr>
        <p:spPr>
          <a:xfrm>
            <a:off x="548640" y="338937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7</a:t>
            </a:r>
          </a:p>
        </p:txBody>
      </p:sp>
      <p:sp>
        <p:nvSpPr>
          <p:cNvPr id="68" name="Naive grid 8-2"/>
          <p:cNvSpPr/>
          <p:nvPr/>
        </p:nvSpPr>
        <p:spPr>
          <a:xfrm>
            <a:off x="1188720" y="3389376"/>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Naive grid text 8-2"/>
          <p:cNvSpPr txBox="1"/>
          <p:nvPr/>
        </p:nvSpPr>
        <p:spPr>
          <a:xfrm>
            <a:off x="1280160" y="3389376"/>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53</a:t>
            </a:r>
          </a:p>
        </p:txBody>
      </p:sp>
      <p:sp>
        <p:nvSpPr>
          <p:cNvPr id="70" name="Naive grid 8-3"/>
          <p:cNvSpPr/>
          <p:nvPr/>
        </p:nvSpPr>
        <p:spPr>
          <a:xfrm>
            <a:off x="2240280" y="3389376"/>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Naive grid text 8-3"/>
          <p:cNvSpPr txBox="1"/>
          <p:nvPr/>
        </p:nvSpPr>
        <p:spPr>
          <a:xfrm>
            <a:off x="2331720" y="3389376"/>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49</a:t>
            </a:r>
          </a:p>
        </p:txBody>
      </p:sp>
      <p:sp>
        <p:nvSpPr>
          <p:cNvPr id="72" name="Naive grid 8-4"/>
          <p:cNvSpPr/>
          <p:nvPr/>
        </p:nvSpPr>
        <p:spPr>
          <a:xfrm>
            <a:off x="3840480" y="3389376"/>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Naive grid text 8-4"/>
          <p:cNvSpPr txBox="1"/>
          <p:nvPr/>
        </p:nvSpPr>
        <p:spPr>
          <a:xfrm>
            <a:off x="3931920" y="3389376"/>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a:t>
            </a:r>
          </a:p>
        </p:txBody>
      </p:sp>
      <p:sp>
        <p:nvSpPr>
          <p:cNvPr id="74" name="Naive grid 9-1"/>
          <p:cNvSpPr/>
          <p:nvPr/>
        </p:nvSpPr>
        <p:spPr>
          <a:xfrm>
            <a:off x="457200" y="369722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Naive grid text 9-1"/>
          <p:cNvSpPr txBox="1"/>
          <p:nvPr/>
        </p:nvSpPr>
        <p:spPr>
          <a:xfrm>
            <a:off x="548640" y="369722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8</a:t>
            </a:r>
          </a:p>
        </p:txBody>
      </p:sp>
      <p:sp>
        <p:nvSpPr>
          <p:cNvPr id="76" name="Naive grid 9-2"/>
          <p:cNvSpPr/>
          <p:nvPr/>
        </p:nvSpPr>
        <p:spPr>
          <a:xfrm>
            <a:off x="1188720" y="3697224"/>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Naive grid text 9-2"/>
          <p:cNvSpPr txBox="1"/>
          <p:nvPr/>
        </p:nvSpPr>
        <p:spPr>
          <a:xfrm>
            <a:off x="1280160" y="3697224"/>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54</a:t>
            </a:r>
          </a:p>
        </p:txBody>
      </p:sp>
      <p:sp>
        <p:nvSpPr>
          <p:cNvPr id="78" name="Naive grid 9-3"/>
          <p:cNvSpPr/>
          <p:nvPr/>
        </p:nvSpPr>
        <p:spPr>
          <a:xfrm>
            <a:off x="2240280" y="3697224"/>
            <a:ext cx="157276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Naive grid text 9-3"/>
          <p:cNvSpPr txBox="1"/>
          <p:nvPr/>
        </p:nvSpPr>
        <p:spPr>
          <a:xfrm>
            <a:off x="2331720" y="3697224"/>
            <a:ext cx="13898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53</a:t>
            </a:r>
          </a:p>
        </p:txBody>
      </p:sp>
      <p:sp>
        <p:nvSpPr>
          <p:cNvPr id="80" name="Naive grid 9-4"/>
          <p:cNvSpPr/>
          <p:nvPr/>
        </p:nvSpPr>
        <p:spPr>
          <a:xfrm>
            <a:off x="3840480" y="3697224"/>
            <a:ext cx="182880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Naive grid text 9-4"/>
          <p:cNvSpPr txBox="1"/>
          <p:nvPr/>
        </p:nvSpPr>
        <p:spPr>
          <a:xfrm>
            <a:off x="3931920" y="3697224"/>
            <a:ext cx="161848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+1</a:t>
            </a:r>
          </a:p>
        </p:txBody>
      </p:sp>
      <p:sp>
        <p:nvSpPr>
          <p:cNvPr id="82" name="Naive stat box"/>
          <p:cNvSpPr/>
          <p:nvPr/>
        </p:nvSpPr>
        <p:spPr>
          <a:xfrm>
            <a:off x="5806440" y="1234440"/>
            <a:ext cx="2880360" cy="13030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Naive stat bar"/>
          <p:cNvSpPr/>
          <p:nvPr/>
        </p:nvSpPr>
        <p:spPr>
          <a:xfrm>
            <a:off x="5806440" y="1234440"/>
            <a:ext cx="64008" cy="13030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4" name="Naive stat figure"/>
          <p:cNvSpPr txBox="1"/>
          <p:nvPr/>
        </p:nvSpPr>
        <p:spPr>
          <a:xfrm>
            <a:off x="5989320" y="1234440"/>
            <a:ext cx="822960" cy="13030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54</a:t>
            </a:r>
          </a:p>
        </p:txBody>
      </p:sp>
      <p:sp>
        <p:nvSpPr>
          <p:cNvPr id="85" name="Naive stat label"/>
          <p:cNvSpPr txBox="1"/>
          <p:nvPr/>
        </p:nvSpPr>
        <p:spPr>
          <a:xfrm>
            <a:off x="6812280" y="1234440"/>
            <a:ext cx="1783080" cy="1303020"/>
          </a:xfrm>
          <a:prstGeom prst="rect">
            <a:avLst/>
          </a:prstGeom>
          <a:noFill/>
        </p:spPr>
        <p:txBody>
          <a:bodyPr wrap="square" lIns="0" rIns="0" tIns="0" bIns="0" anchor="ctr">
            <a:noAutofit/>
          </a:bodyPr>
          <a:lstStyle/>
          <a:p>
            <a:pPr algn="l">
              <a:spcAft>
                <a:spcPts val="200"/>
              </a:spcAft>
            </a:pPr>
            <a:r>
              <a:rPr sz="1200" b="1" lang="en-GB">
                <a:solidFill>
                  <a:schemeClr val="tx2"/>
                </a:solidFill>
              </a:rPr>
              <a:t>naive for week 9:</a:t>
            </a:r>
            <a:r>
              <a:rPr sz="1200" b="0" lang="en-GB">
                <a:solidFill>
                  <a:schemeClr val="tx1"/>
                </a:solidFill>
              </a:rPr>
              <a:t/>
            </a:r>
          </a:p>
          <a:p>
            <a:pPr algn="l">
              <a:spcAft>
                <a:spcPts val="200"/>
              </a:spcAft>
            </a:pPr>
            <a:r>
              <a:rPr sz="1200" b="0" lang="en-GB">
                <a:solidFill>
                  <a:schemeClr val="tx1"/>
                </a:solidFill>
              </a:rPr>
              <a:t>= week 8</a:t>
            </a:r>
          </a:p>
        </p:txBody>
      </p:sp>
      <p:sp>
        <p:nvSpPr>
          <p:cNvPr id="86" name="Drift stat box"/>
          <p:cNvSpPr/>
          <p:nvPr/>
        </p:nvSpPr>
        <p:spPr>
          <a:xfrm>
            <a:off x="5806440" y="2674620"/>
            <a:ext cx="2880360" cy="13030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Drift stat bar"/>
          <p:cNvSpPr/>
          <p:nvPr/>
        </p:nvSpPr>
        <p:spPr>
          <a:xfrm>
            <a:off x="5806440" y="2674620"/>
            <a:ext cx="64008" cy="13030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Drift stat figure"/>
          <p:cNvSpPr txBox="1"/>
          <p:nvPr/>
        </p:nvSpPr>
        <p:spPr>
          <a:xfrm>
            <a:off x="5989320" y="2674620"/>
            <a:ext cx="822960" cy="13030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56</a:t>
            </a:r>
          </a:p>
        </p:txBody>
      </p:sp>
      <p:sp>
        <p:nvSpPr>
          <p:cNvPr id="89" name="Drift stat label"/>
          <p:cNvSpPr txBox="1"/>
          <p:nvPr/>
        </p:nvSpPr>
        <p:spPr>
          <a:xfrm>
            <a:off x="6812280" y="2674620"/>
            <a:ext cx="1783080" cy="1303020"/>
          </a:xfrm>
          <a:prstGeom prst="rect">
            <a:avLst/>
          </a:prstGeom>
          <a:noFill/>
        </p:spPr>
        <p:txBody>
          <a:bodyPr wrap="square" lIns="0" rIns="0" tIns="0" bIns="0" anchor="ctr">
            <a:noAutofit/>
          </a:bodyPr>
          <a:lstStyle/>
          <a:p>
            <a:pPr algn="l">
              <a:spcAft>
                <a:spcPts val="200"/>
              </a:spcAft>
            </a:pPr>
            <a:r>
              <a:rPr sz="1200" b="1" lang="en-GB">
                <a:solidFill>
                  <a:schemeClr val="tx2"/>
                </a:solidFill>
              </a:rPr>
              <a:t>drift for week 9:</a:t>
            </a:r>
            <a:r>
              <a:rPr sz="1200" b="0" lang="en-GB">
                <a:solidFill>
                  <a:schemeClr val="tx1"/>
                </a:solidFill>
              </a:rPr>
              <a:t/>
            </a:r>
          </a:p>
          <a:p>
            <a:pPr algn="l">
              <a:spcAft>
                <a:spcPts val="200"/>
              </a:spcAft>
            </a:pPr>
            <a:r>
              <a:rPr sz="1200" b="0" lang="en-GB">
                <a:solidFill>
                  <a:schemeClr val="tx1"/>
                </a:solidFill>
              </a:rPr>
              <a:t>54 + the mean error</a:t>
            </a:r>
          </a:p>
          <a:p>
            <a:pPr algn="l">
              <a:spcAft>
                <a:spcPts val="200"/>
              </a:spcAft>
            </a:pPr>
            <a:r>
              <a:rPr sz="1200" b="0" lang="en-GB">
                <a:solidFill>
                  <a:schemeClr val="tx1"/>
                </a:solidFill>
              </a:rPr>
              <a:t>(54 − 40) / 7 = +2</a:t>
            </a:r>
          </a:p>
        </p:txBody>
      </p:sp>
      <p:sp>
        <p:nvSpPr>
          <p:cNvPr id="90" name="Benchmark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Benchmark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Naive's errors are the weekly changes; </a:t>
            </a:r>
            <a:r>
              <a:rPr sz="1200" b="0" lang="en-GB">
                <a:solidFill>
                  <a:schemeClr val="bg1"/>
                </a:solidFill>
              </a:rPr>
              <a:t>drift adds their average, +2.</a:t>
            </a:r>
          </a:p>
        </p:txBody>
      </p:sp>
      <p:sp>
        <p:nvSpPr>
          <p:cNvPr id="9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Averages: the mean and a moving average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oving average grid 1-1"/>
          <p:cNvSpPr/>
          <p:nvPr/>
        </p:nvSpPr>
        <p:spPr>
          <a:xfrm>
            <a:off x="457200" y="1234440"/>
            <a:ext cx="70408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oving average grid text 1-1"/>
          <p:cNvSpPr txBox="1"/>
          <p:nvPr/>
        </p:nvSpPr>
        <p:spPr>
          <a:xfrm>
            <a:off x="548640" y="1234440"/>
            <a:ext cx="521208" cy="280416"/>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2" name="Moving average grid 1-2"/>
          <p:cNvSpPr/>
          <p:nvPr/>
        </p:nvSpPr>
        <p:spPr>
          <a:xfrm>
            <a:off x="1188720" y="1234440"/>
            <a:ext cx="102412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Moving average grid text 1-2"/>
          <p:cNvSpPr txBox="1"/>
          <p:nvPr/>
        </p:nvSpPr>
        <p:spPr>
          <a:xfrm>
            <a:off x="1280160" y="1234440"/>
            <a:ext cx="84124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Contracts</a:t>
            </a:r>
          </a:p>
        </p:txBody>
      </p:sp>
      <p:sp>
        <p:nvSpPr>
          <p:cNvPr id="14" name="Moving average grid 1-3"/>
          <p:cNvSpPr/>
          <p:nvPr/>
        </p:nvSpPr>
        <p:spPr>
          <a:xfrm>
            <a:off x="2240280" y="1234440"/>
            <a:ext cx="161848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Moving average grid text 1-3"/>
          <p:cNvSpPr txBox="1"/>
          <p:nvPr/>
        </p:nvSpPr>
        <p:spPr>
          <a:xfrm>
            <a:off x="2331720" y="1234440"/>
            <a:ext cx="1435608" cy="280416"/>
          </a:xfrm>
          <a:prstGeom prst="rect">
            <a:avLst/>
          </a:prstGeom>
          <a:noFill/>
        </p:spPr>
        <p:txBody>
          <a:bodyPr wrap="square" lIns="0" rIns="0" tIns="0" bIns="0" anchor="ctr">
            <a:noAutofit/>
          </a:bodyPr>
          <a:lstStyle/>
          <a:p>
            <a:pPr algn="l">
              <a:spcAft>
                <a:spcPts val="400"/>
              </a:spcAft>
            </a:pPr>
            <a:r>
              <a:rPr sz="1150" b="1" lang="en-GB">
                <a:solidFill>
                  <a:schemeClr val="bg1"/>
                </a:solidFill>
              </a:rPr>
              <a:t>Calculation</a:t>
            </a:r>
          </a:p>
        </p:txBody>
      </p:sp>
      <p:sp>
        <p:nvSpPr>
          <p:cNvPr id="16" name="Moving average grid 1-4"/>
          <p:cNvSpPr/>
          <p:nvPr/>
        </p:nvSpPr>
        <p:spPr>
          <a:xfrm>
            <a:off x="3886200" y="1234440"/>
            <a:ext cx="97840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oving average grid text 1-4"/>
          <p:cNvSpPr txBox="1"/>
          <p:nvPr/>
        </p:nvSpPr>
        <p:spPr>
          <a:xfrm>
            <a:off x="3977640" y="1234440"/>
            <a:ext cx="79552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Forecast</a:t>
            </a:r>
          </a:p>
        </p:txBody>
      </p:sp>
      <p:sp>
        <p:nvSpPr>
          <p:cNvPr id="18" name="Moving average grid 1-5"/>
          <p:cNvSpPr/>
          <p:nvPr/>
        </p:nvSpPr>
        <p:spPr>
          <a:xfrm>
            <a:off x="4892040" y="1234440"/>
            <a:ext cx="777240"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Moving average grid text 1-5"/>
          <p:cNvSpPr txBox="1"/>
          <p:nvPr/>
        </p:nvSpPr>
        <p:spPr>
          <a:xfrm>
            <a:off x="4983480" y="1234440"/>
            <a:ext cx="56692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Error</a:t>
            </a:r>
          </a:p>
        </p:txBody>
      </p:sp>
      <p:sp>
        <p:nvSpPr>
          <p:cNvPr id="20" name="Moving average grid 2-1"/>
          <p:cNvSpPr/>
          <p:nvPr/>
        </p:nvSpPr>
        <p:spPr>
          <a:xfrm>
            <a:off x="457200" y="154228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Moving average grid text 2-1"/>
          <p:cNvSpPr txBox="1"/>
          <p:nvPr/>
        </p:nvSpPr>
        <p:spPr>
          <a:xfrm>
            <a:off x="548640" y="154228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1</a:t>
            </a:r>
          </a:p>
        </p:txBody>
      </p:sp>
      <p:sp>
        <p:nvSpPr>
          <p:cNvPr id="22" name="Moving average grid 2-2"/>
          <p:cNvSpPr/>
          <p:nvPr/>
        </p:nvSpPr>
        <p:spPr>
          <a:xfrm>
            <a:off x="1188720" y="1542288"/>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Moving average grid text 2-2"/>
          <p:cNvSpPr txBox="1"/>
          <p:nvPr/>
        </p:nvSpPr>
        <p:spPr>
          <a:xfrm>
            <a:off x="1280160" y="1542288"/>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24" name="Moving average grid 2-3"/>
          <p:cNvSpPr/>
          <p:nvPr/>
        </p:nvSpPr>
        <p:spPr>
          <a:xfrm>
            <a:off x="2240280" y="1542288"/>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Moving average grid text 2-3"/>
          <p:cNvSpPr txBox="1"/>
          <p:nvPr/>
        </p:nvSpPr>
        <p:spPr>
          <a:xfrm>
            <a:off x="2331720" y="1542288"/>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a:t>
            </a:r>
          </a:p>
        </p:txBody>
      </p:sp>
      <p:sp>
        <p:nvSpPr>
          <p:cNvPr id="26" name="Moving average grid 2-4"/>
          <p:cNvSpPr/>
          <p:nvPr/>
        </p:nvSpPr>
        <p:spPr>
          <a:xfrm>
            <a:off x="3886200" y="1542288"/>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Moving average grid text 2-4"/>
          <p:cNvSpPr txBox="1"/>
          <p:nvPr/>
        </p:nvSpPr>
        <p:spPr>
          <a:xfrm>
            <a:off x="3977640" y="1542288"/>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28" name="Moving average grid 2-5"/>
          <p:cNvSpPr/>
          <p:nvPr/>
        </p:nvSpPr>
        <p:spPr>
          <a:xfrm>
            <a:off x="4892040" y="1542288"/>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Moving average grid text 2-5"/>
          <p:cNvSpPr txBox="1"/>
          <p:nvPr/>
        </p:nvSpPr>
        <p:spPr>
          <a:xfrm>
            <a:off x="4983480" y="1542288"/>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30" name="Moving average grid 3-1"/>
          <p:cNvSpPr/>
          <p:nvPr/>
        </p:nvSpPr>
        <p:spPr>
          <a:xfrm>
            <a:off x="457200" y="185013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Moving average grid text 3-1"/>
          <p:cNvSpPr txBox="1"/>
          <p:nvPr/>
        </p:nvSpPr>
        <p:spPr>
          <a:xfrm>
            <a:off x="548640" y="185013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2</a:t>
            </a:r>
          </a:p>
        </p:txBody>
      </p:sp>
      <p:sp>
        <p:nvSpPr>
          <p:cNvPr id="32" name="Moving average grid 3-2"/>
          <p:cNvSpPr/>
          <p:nvPr/>
        </p:nvSpPr>
        <p:spPr>
          <a:xfrm>
            <a:off x="1188720" y="1850136"/>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Moving average grid text 3-2"/>
          <p:cNvSpPr txBox="1"/>
          <p:nvPr/>
        </p:nvSpPr>
        <p:spPr>
          <a:xfrm>
            <a:off x="1280160" y="1850136"/>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34" name="Moving average grid 3-3"/>
          <p:cNvSpPr/>
          <p:nvPr/>
        </p:nvSpPr>
        <p:spPr>
          <a:xfrm>
            <a:off x="2240280" y="1850136"/>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Moving average grid text 3-3"/>
          <p:cNvSpPr txBox="1"/>
          <p:nvPr/>
        </p:nvSpPr>
        <p:spPr>
          <a:xfrm>
            <a:off x="2331720" y="1850136"/>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a:t>
            </a:r>
          </a:p>
        </p:txBody>
      </p:sp>
      <p:sp>
        <p:nvSpPr>
          <p:cNvPr id="36" name="Moving average grid 3-4"/>
          <p:cNvSpPr/>
          <p:nvPr/>
        </p:nvSpPr>
        <p:spPr>
          <a:xfrm>
            <a:off x="3886200" y="1850136"/>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Moving average grid text 3-4"/>
          <p:cNvSpPr txBox="1"/>
          <p:nvPr/>
        </p:nvSpPr>
        <p:spPr>
          <a:xfrm>
            <a:off x="3977640" y="1850136"/>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38" name="Moving average grid 3-5"/>
          <p:cNvSpPr/>
          <p:nvPr/>
        </p:nvSpPr>
        <p:spPr>
          <a:xfrm>
            <a:off x="4892040" y="1850136"/>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Moving average grid text 3-5"/>
          <p:cNvSpPr txBox="1"/>
          <p:nvPr/>
        </p:nvSpPr>
        <p:spPr>
          <a:xfrm>
            <a:off x="4983480" y="1850136"/>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40" name="Moving average grid 4-1"/>
          <p:cNvSpPr/>
          <p:nvPr/>
        </p:nvSpPr>
        <p:spPr>
          <a:xfrm>
            <a:off x="457200" y="215798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Moving average grid text 4-1"/>
          <p:cNvSpPr txBox="1"/>
          <p:nvPr/>
        </p:nvSpPr>
        <p:spPr>
          <a:xfrm>
            <a:off x="548640" y="215798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3</a:t>
            </a:r>
          </a:p>
        </p:txBody>
      </p:sp>
      <p:sp>
        <p:nvSpPr>
          <p:cNvPr id="42" name="Moving average grid 4-2"/>
          <p:cNvSpPr/>
          <p:nvPr/>
        </p:nvSpPr>
        <p:spPr>
          <a:xfrm>
            <a:off x="1188720" y="2157984"/>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Moving average grid text 4-2"/>
          <p:cNvSpPr txBox="1"/>
          <p:nvPr/>
        </p:nvSpPr>
        <p:spPr>
          <a:xfrm>
            <a:off x="1280160" y="2157984"/>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44" name="Moving average grid 4-3"/>
          <p:cNvSpPr/>
          <p:nvPr/>
        </p:nvSpPr>
        <p:spPr>
          <a:xfrm>
            <a:off x="2240280" y="2157984"/>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Moving average grid text 4-3"/>
          <p:cNvSpPr txBox="1"/>
          <p:nvPr/>
        </p:nvSpPr>
        <p:spPr>
          <a:xfrm>
            <a:off x="2331720" y="2157984"/>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a:t>
            </a:r>
          </a:p>
        </p:txBody>
      </p:sp>
      <p:sp>
        <p:nvSpPr>
          <p:cNvPr id="46" name="Moving average grid 4-4"/>
          <p:cNvSpPr/>
          <p:nvPr/>
        </p:nvSpPr>
        <p:spPr>
          <a:xfrm>
            <a:off x="3886200" y="2157984"/>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Moving average grid text 4-4"/>
          <p:cNvSpPr txBox="1"/>
          <p:nvPr/>
        </p:nvSpPr>
        <p:spPr>
          <a:xfrm>
            <a:off x="3977640" y="2157984"/>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48" name="Moving average grid 4-5"/>
          <p:cNvSpPr/>
          <p:nvPr/>
        </p:nvSpPr>
        <p:spPr>
          <a:xfrm>
            <a:off x="4892040" y="2157984"/>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Moving average grid text 4-5"/>
          <p:cNvSpPr txBox="1"/>
          <p:nvPr/>
        </p:nvSpPr>
        <p:spPr>
          <a:xfrm>
            <a:off x="4983480" y="2157984"/>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a:t>
            </a:r>
          </a:p>
        </p:txBody>
      </p:sp>
      <p:sp>
        <p:nvSpPr>
          <p:cNvPr id="50" name="Moving average grid 5-1"/>
          <p:cNvSpPr/>
          <p:nvPr/>
        </p:nvSpPr>
        <p:spPr>
          <a:xfrm>
            <a:off x="457200" y="2465832"/>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Moving average grid text 5-1"/>
          <p:cNvSpPr txBox="1"/>
          <p:nvPr/>
        </p:nvSpPr>
        <p:spPr>
          <a:xfrm>
            <a:off x="548640" y="2465832"/>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4</a:t>
            </a:r>
          </a:p>
        </p:txBody>
      </p:sp>
      <p:sp>
        <p:nvSpPr>
          <p:cNvPr id="52" name="Moving average grid 5-2"/>
          <p:cNvSpPr/>
          <p:nvPr/>
        </p:nvSpPr>
        <p:spPr>
          <a:xfrm>
            <a:off x="1188720" y="2465832"/>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Moving average grid text 5-2"/>
          <p:cNvSpPr txBox="1"/>
          <p:nvPr/>
        </p:nvSpPr>
        <p:spPr>
          <a:xfrm>
            <a:off x="1280160" y="2465832"/>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54" name="Moving average grid 5-3"/>
          <p:cNvSpPr/>
          <p:nvPr/>
        </p:nvSpPr>
        <p:spPr>
          <a:xfrm>
            <a:off x="2240280" y="2465832"/>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Moving average grid text 5-3"/>
          <p:cNvSpPr txBox="1"/>
          <p:nvPr/>
        </p:nvSpPr>
        <p:spPr>
          <a:xfrm>
            <a:off x="2331720" y="2465832"/>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(40 + 44 + 42) / 3</a:t>
            </a:r>
          </a:p>
        </p:txBody>
      </p:sp>
      <p:sp>
        <p:nvSpPr>
          <p:cNvPr id="56" name="Moving average grid 5-4"/>
          <p:cNvSpPr/>
          <p:nvPr/>
        </p:nvSpPr>
        <p:spPr>
          <a:xfrm>
            <a:off x="3886200" y="2465832"/>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Moving average grid text 5-4"/>
          <p:cNvSpPr txBox="1"/>
          <p:nvPr/>
        </p:nvSpPr>
        <p:spPr>
          <a:xfrm>
            <a:off x="3977640" y="2465832"/>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58" name="Moving average grid 5-5"/>
          <p:cNvSpPr/>
          <p:nvPr/>
        </p:nvSpPr>
        <p:spPr>
          <a:xfrm>
            <a:off x="4892040" y="2465832"/>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Moving average grid text 5-5"/>
          <p:cNvSpPr txBox="1"/>
          <p:nvPr/>
        </p:nvSpPr>
        <p:spPr>
          <a:xfrm>
            <a:off x="4983480" y="2465832"/>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a:t>
            </a:r>
          </a:p>
        </p:txBody>
      </p:sp>
      <p:sp>
        <p:nvSpPr>
          <p:cNvPr id="60" name="Moving average grid 6-1"/>
          <p:cNvSpPr/>
          <p:nvPr/>
        </p:nvSpPr>
        <p:spPr>
          <a:xfrm>
            <a:off x="457200" y="2773680"/>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Moving average grid text 6-1"/>
          <p:cNvSpPr txBox="1"/>
          <p:nvPr/>
        </p:nvSpPr>
        <p:spPr>
          <a:xfrm>
            <a:off x="548640" y="2773680"/>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5</a:t>
            </a:r>
          </a:p>
        </p:txBody>
      </p:sp>
      <p:sp>
        <p:nvSpPr>
          <p:cNvPr id="62" name="Moving average grid 6-2"/>
          <p:cNvSpPr/>
          <p:nvPr/>
        </p:nvSpPr>
        <p:spPr>
          <a:xfrm>
            <a:off x="1188720" y="2773680"/>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Moving average grid text 6-2"/>
          <p:cNvSpPr txBox="1"/>
          <p:nvPr/>
        </p:nvSpPr>
        <p:spPr>
          <a:xfrm>
            <a:off x="1280160" y="2773680"/>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64" name="Moving average grid 6-3"/>
          <p:cNvSpPr/>
          <p:nvPr/>
        </p:nvSpPr>
        <p:spPr>
          <a:xfrm>
            <a:off x="2240280" y="2773680"/>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Moving average grid text 6-3"/>
          <p:cNvSpPr txBox="1"/>
          <p:nvPr/>
        </p:nvSpPr>
        <p:spPr>
          <a:xfrm>
            <a:off x="2331720" y="2773680"/>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(44 + 42 + 46) / 3</a:t>
            </a:r>
          </a:p>
        </p:txBody>
      </p:sp>
      <p:sp>
        <p:nvSpPr>
          <p:cNvPr id="66" name="Moving average grid 6-4"/>
          <p:cNvSpPr/>
          <p:nvPr/>
        </p:nvSpPr>
        <p:spPr>
          <a:xfrm>
            <a:off x="3886200" y="2773680"/>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Moving average grid text 6-4"/>
          <p:cNvSpPr txBox="1"/>
          <p:nvPr/>
        </p:nvSpPr>
        <p:spPr>
          <a:xfrm>
            <a:off x="3977640" y="2773680"/>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68" name="Moving average grid 6-5"/>
          <p:cNvSpPr/>
          <p:nvPr/>
        </p:nvSpPr>
        <p:spPr>
          <a:xfrm>
            <a:off x="4892040" y="2773680"/>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Moving average grid text 6-5"/>
          <p:cNvSpPr txBox="1"/>
          <p:nvPr/>
        </p:nvSpPr>
        <p:spPr>
          <a:xfrm>
            <a:off x="4983480" y="2773680"/>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+6</a:t>
            </a:r>
          </a:p>
        </p:txBody>
      </p:sp>
      <p:sp>
        <p:nvSpPr>
          <p:cNvPr id="70" name="Moving average grid 7-1"/>
          <p:cNvSpPr/>
          <p:nvPr/>
        </p:nvSpPr>
        <p:spPr>
          <a:xfrm>
            <a:off x="457200" y="308152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Moving average grid text 7-1"/>
          <p:cNvSpPr txBox="1"/>
          <p:nvPr/>
        </p:nvSpPr>
        <p:spPr>
          <a:xfrm>
            <a:off x="548640" y="308152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6</a:t>
            </a:r>
          </a:p>
        </p:txBody>
      </p:sp>
      <p:sp>
        <p:nvSpPr>
          <p:cNvPr id="72" name="Moving average grid 7-2"/>
          <p:cNvSpPr/>
          <p:nvPr/>
        </p:nvSpPr>
        <p:spPr>
          <a:xfrm>
            <a:off x="1188720" y="3081528"/>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Moving average grid text 7-2"/>
          <p:cNvSpPr txBox="1"/>
          <p:nvPr/>
        </p:nvSpPr>
        <p:spPr>
          <a:xfrm>
            <a:off x="1280160" y="3081528"/>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49</a:t>
            </a:r>
          </a:p>
        </p:txBody>
      </p:sp>
      <p:sp>
        <p:nvSpPr>
          <p:cNvPr id="74" name="Moving average grid 7-3"/>
          <p:cNvSpPr/>
          <p:nvPr/>
        </p:nvSpPr>
        <p:spPr>
          <a:xfrm>
            <a:off x="2240280" y="3081528"/>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Moving average grid text 7-3"/>
          <p:cNvSpPr txBox="1"/>
          <p:nvPr/>
        </p:nvSpPr>
        <p:spPr>
          <a:xfrm>
            <a:off x="2331720" y="3081528"/>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(42 + 46 + 50) / 3</a:t>
            </a:r>
          </a:p>
        </p:txBody>
      </p:sp>
      <p:sp>
        <p:nvSpPr>
          <p:cNvPr id="76" name="Moving average grid 7-4"/>
          <p:cNvSpPr/>
          <p:nvPr/>
        </p:nvSpPr>
        <p:spPr>
          <a:xfrm>
            <a:off x="3886200" y="3081528"/>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Moving average grid text 7-4"/>
          <p:cNvSpPr txBox="1"/>
          <p:nvPr/>
        </p:nvSpPr>
        <p:spPr>
          <a:xfrm>
            <a:off x="3977640" y="3081528"/>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78" name="Moving average grid 7-5"/>
          <p:cNvSpPr/>
          <p:nvPr/>
        </p:nvSpPr>
        <p:spPr>
          <a:xfrm>
            <a:off x="4892040" y="3081528"/>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Moving average grid text 7-5"/>
          <p:cNvSpPr txBox="1"/>
          <p:nvPr/>
        </p:nvSpPr>
        <p:spPr>
          <a:xfrm>
            <a:off x="4983480" y="3081528"/>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+3</a:t>
            </a:r>
          </a:p>
        </p:txBody>
      </p:sp>
      <p:sp>
        <p:nvSpPr>
          <p:cNvPr id="80" name="Moving average grid 8-1"/>
          <p:cNvSpPr/>
          <p:nvPr/>
        </p:nvSpPr>
        <p:spPr>
          <a:xfrm>
            <a:off x="457200" y="338937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Moving average grid text 8-1"/>
          <p:cNvSpPr txBox="1"/>
          <p:nvPr/>
        </p:nvSpPr>
        <p:spPr>
          <a:xfrm>
            <a:off x="548640" y="338937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7</a:t>
            </a:r>
          </a:p>
        </p:txBody>
      </p:sp>
      <p:sp>
        <p:nvSpPr>
          <p:cNvPr id="82" name="Moving average grid 8-2"/>
          <p:cNvSpPr/>
          <p:nvPr/>
        </p:nvSpPr>
        <p:spPr>
          <a:xfrm>
            <a:off x="1188720" y="3389376"/>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Moving average grid text 8-2"/>
          <p:cNvSpPr txBox="1"/>
          <p:nvPr/>
        </p:nvSpPr>
        <p:spPr>
          <a:xfrm>
            <a:off x="1280160" y="3389376"/>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53</a:t>
            </a:r>
          </a:p>
        </p:txBody>
      </p:sp>
      <p:sp>
        <p:nvSpPr>
          <p:cNvPr id="84" name="Moving average grid 8-3"/>
          <p:cNvSpPr/>
          <p:nvPr/>
        </p:nvSpPr>
        <p:spPr>
          <a:xfrm>
            <a:off x="2240280" y="3389376"/>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Moving average grid text 8-3"/>
          <p:cNvSpPr txBox="1"/>
          <p:nvPr/>
        </p:nvSpPr>
        <p:spPr>
          <a:xfrm>
            <a:off x="2331720" y="3389376"/>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(46 + 50 + 49) / 3</a:t>
            </a:r>
          </a:p>
        </p:txBody>
      </p:sp>
      <p:sp>
        <p:nvSpPr>
          <p:cNvPr id="86" name="Moving average grid 8-4"/>
          <p:cNvSpPr/>
          <p:nvPr/>
        </p:nvSpPr>
        <p:spPr>
          <a:xfrm>
            <a:off x="3886200" y="3389376"/>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Moving average grid text 8-4"/>
          <p:cNvSpPr txBox="1"/>
          <p:nvPr/>
        </p:nvSpPr>
        <p:spPr>
          <a:xfrm>
            <a:off x="3977640" y="3389376"/>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48.33</a:t>
            </a:r>
          </a:p>
        </p:txBody>
      </p:sp>
      <p:sp>
        <p:nvSpPr>
          <p:cNvPr id="88" name="Moving average grid 8-5"/>
          <p:cNvSpPr/>
          <p:nvPr/>
        </p:nvSpPr>
        <p:spPr>
          <a:xfrm>
            <a:off x="4892040" y="3389376"/>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Moving average grid text 8-5"/>
          <p:cNvSpPr txBox="1"/>
          <p:nvPr/>
        </p:nvSpPr>
        <p:spPr>
          <a:xfrm>
            <a:off x="4983480" y="3389376"/>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+4.67</a:t>
            </a:r>
          </a:p>
        </p:txBody>
      </p:sp>
      <p:sp>
        <p:nvSpPr>
          <p:cNvPr id="90" name="Moving average grid 9-1"/>
          <p:cNvSpPr/>
          <p:nvPr/>
        </p:nvSpPr>
        <p:spPr>
          <a:xfrm>
            <a:off x="457200" y="369722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Moving average grid text 9-1"/>
          <p:cNvSpPr txBox="1"/>
          <p:nvPr/>
        </p:nvSpPr>
        <p:spPr>
          <a:xfrm>
            <a:off x="548640" y="369722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8</a:t>
            </a:r>
          </a:p>
        </p:txBody>
      </p:sp>
      <p:sp>
        <p:nvSpPr>
          <p:cNvPr id="92" name="Moving average grid 9-2"/>
          <p:cNvSpPr/>
          <p:nvPr/>
        </p:nvSpPr>
        <p:spPr>
          <a:xfrm>
            <a:off x="1188720" y="3697224"/>
            <a:ext cx="102412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Moving average grid text 9-2"/>
          <p:cNvSpPr txBox="1"/>
          <p:nvPr/>
        </p:nvSpPr>
        <p:spPr>
          <a:xfrm>
            <a:off x="1280160" y="3697224"/>
            <a:ext cx="84124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54</a:t>
            </a:r>
          </a:p>
        </p:txBody>
      </p:sp>
      <p:sp>
        <p:nvSpPr>
          <p:cNvPr id="94" name="Moving average grid 9-3"/>
          <p:cNvSpPr/>
          <p:nvPr/>
        </p:nvSpPr>
        <p:spPr>
          <a:xfrm>
            <a:off x="2240280" y="3697224"/>
            <a:ext cx="16184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Moving average grid text 9-3"/>
          <p:cNvSpPr txBox="1"/>
          <p:nvPr/>
        </p:nvSpPr>
        <p:spPr>
          <a:xfrm>
            <a:off x="2331720" y="3697224"/>
            <a:ext cx="143560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(50 + 49 + 53) / 3</a:t>
            </a:r>
          </a:p>
        </p:txBody>
      </p:sp>
      <p:sp>
        <p:nvSpPr>
          <p:cNvPr id="96" name="Moving average grid 9-4"/>
          <p:cNvSpPr/>
          <p:nvPr/>
        </p:nvSpPr>
        <p:spPr>
          <a:xfrm>
            <a:off x="3886200" y="3697224"/>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Moving average grid text 9-4"/>
          <p:cNvSpPr txBox="1"/>
          <p:nvPr/>
        </p:nvSpPr>
        <p:spPr>
          <a:xfrm>
            <a:off x="3977640" y="3697224"/>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50.67</a:t>
            </a:r>
          </a:p>
        </p:txBody>
      </p:sp>
      <p:sp>
        <p:nvSpPr>
          <p:cNvPr id="98" name="Moving average grid 9-5"/>
          <p:cNvSpPr/>
          <p:nvPr/>
        </p:nvSpPr>
        <p:spPr>
          <a:xfrm>
            <a:off x="4892040" y="3697224"/>
            <a:ext cx="77724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Moving average grid text 9-5"/>
          <p:cNvSpPr txBox="1"/>
          <p:nvPr/>
        </p:nvSpPr>
        <p:spPr>
          <a:xfrm>
            <a:off x="4983480" y="3697224"/>
            <a:ext cx="5669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+3.33</a:t>
            </a:r>
          </a:p>
        </p:txBody>
      </p:sp>
      <p:sp>
        <p:nvSpPr>
          <p:cNvPr id="100" name="Mean stat box"/>
          <p:cNvSpPr/>
          <p:nvPr/>
        </p:nvSpPr>
        <p:spPr>
          <a:xfrm>
            <a:off x="5806440" y="1234440"/>
            <a:ext cx="288036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Mean stat bar"/>
          <p:cNvSpPr/>
          <p:nvPr/>
        </p:nvSpPr>
        <p:spPr>
          <a:xfrm>
            <a:off x="5806440" y="1234440"/>
            <a:ext cx="64008" cy="1097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2" name="Mean stat figure"/>
          <p:cNvSpPr txBox="1"/>
          <p:nvPr/>
        </p:nvSpPr>
        <p:spPr>
          <a:xfrm>
            <a:off x="5989320" y="1234440"/>
            <a:ext cx="1280160" cy="10972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47.25</a:t>
            </a:r>
          </a:p>
        </p:txBody>
      </p:sp>
      <p:sp>
        <p:nvSpPr>
          <p:cNvPr id="103" name="Mean stat label"/>
          <p:cNvSpPr txBox="1"/>
          <p:nvPr/>
        </p:nvSpPr>
        <p:spPr>
          <a:xfrm>
            <a:off x="7269480" y="1234440"/>
            <a:ext cx="1325880" cy="1097280"/>
          </a:xfrm>
          <a:prstGeom prst="rect">
            <a:avLst/>
          </a:prstGeom>
          <a:noFill/>
        </p:spPr>
        <p:txBody>
          <a:bodyPr wrap="square" lIns="0" rIns="0" tIns="0" bIns="0" anchor="ctr">
            <a:noAutofit/>
          </a:bodyPr>
          <a:lstStyle/>
          <a:p>
            <a:pPr algn="l">
              <a:spcAft>
                <a:spcPts val="200"/>
              </a:spcAft>
            </a:pPr>
            <a:r>
              <a:rPr sz="1200" b="1" lang="en-GB">
                <a:solidFill>
                  <a:schemeClr val="tx2"/>
                </a:solidFill>
              </a:rPr>
              <a:t>mean:</a:t>
            </a:r>
            <a:r>
              <a:rPr sz="1200" b="0" lang="en-GB">
                <a:solidFill>
                  <a:schemeClr val="tx1"/>
                </a:solidFill>
              </a:rPr>
              <a:t/>
            </a:r>
          </a:p>
          <a:p>
            <a:pPr algn="l">
              <a:spcAft>
                <a:spcPts val="200"/>
              </a:spcAft>
            </a:pPr>
            <a:r>
              <a:rPr sz="1200" b="0" lang="en-GB">
                <a:solidFill>
                  <a:schemeClr val="tx1"/>
                </a:solidFill>
              </a:rPr>
              <a:t>378 / 8</a:t>
            </a:r>
          </a:p>
        </p:txBody>
      </p:sp>
      <p:sp>
        <p:nvSpPr>
          <p:cNvPr id="104" name="Moving average stat box"/>
          <p:cNvSpPr/>
          <p:nvPr/>
        </p:nvSpPr>
        <p:spPr>
          <a:xfrm>
            <a:off x="5806440" y="2468880"/>
            <a:ext cx="288036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Moving average stat bar"/>
          <p:cNvSpPr/>
          <p:nvPr/>
        </p:nvSpPr>
        <p:spPr>
          <a:xfrm>
            <a:off x="5806440" y="2468880"/>
            <a:ext cx="64008" cy="1097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6" name="Moving average stat figure"/>
          <p:cNvSpPr txBox="1"/>
          <p:nvPr/>
        </p:nvSpPr>
        <p:spPr>
          <a:xfrm>
            <a:off x="5989320" y="2468880"/>
            <a:ext cx="1280160" cy="10972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a:t>
            </a:r>
          </a:p>
        </p:txBody>
      </p:sp>
      <p:sp>
        <p:nvSpPr>
          <p:cNvPr id="107" name="Moving average stat label"/>
          <p:cNvSpPr txBox="1"/>
          <p:nvPr/>
        </p:nvSpPr>
        <p:spPr>
          <a:xfrm>
            <a:off x="7269480" y="2468880"/>
            <a:ext cx="1325880" cy="1097280"/>
          </a:xfrm>
          <a:prstGeom prst="rect">
            <a:avLst/>
          </a:prstGeom>
          <a:noFill/>
        </p:spPr>
        <p:txBody>
          <a:bodyPr wrap="square" lIns="0" rIns="0" tIns="0" bIns="0" anchor="ctr">
            <a:noAutofit/>
          </a:bodyPr>
          <a:lstStyle/>
          <a:p>
            <a:pPr algn="l">
              <a:spcAft>
                <a:spcPts val="200"/>
              </a:spcAft>
            </a:pPr>
            <a:r>
              <a:rPr sz="1200" b="1" lang="en-GB">
                <a:solidFill>
                  <a:schemeClr val="tx2"/>
                </a:solidFill>
              </a:rPr>
              <a:t>week 9: </a:t>
            </a:r>
            <a:r>
              <a:rPr sz="1200" b="0" lang="en-GB">
                <a:solidFill>
                  <a:schemeClr val="tx1"/>
                </a:solidFill>
              </a:rPr>
              <a:t>moving average of weeks 6 to 8</a:t>
            </a:r>
          </a:p>
        </p:txBody>
      </p:sp>
      <p:sp>
        <p:nvSpPr>
          <p:cNvPr id="108" name="Sum caption"/>
          <p:cNvSpPr txBox="1"/>
          <p:nvPr/>
        </p:nvSpPr>
        <p:spPr>
          <a:xfrm>
            <a:off x="5806440" y="3611880"/>
            <a:ext cx="2880360" cy="411480"/>
          </a:xfrm>
          <a:prstGeom prst="rect">
            <a:avLst/>
          </a:prstGeom>
          <a:noFill/>
        </p:spPr>
        <p:txBody>
          <a:bodyPr wrap="square" lIns="0" rIns="0" tIns="0" bIns="0" anchor="ctr">
            <a:noAutofit/>
          </a:bodyPr>
          <a:lstStyle/>
          <a:p>
            <a:pPr algn="l">
              <a:spcAft>
                <a:spcPts val="0"/>
              </a:spcAft>
            </a:pPr>
            <a:r>
              <a:rPr sz="1100" b="0" lang="en-GB">
                <a:solidFill>
                  <a:srgbClr val="595959"/>
                </a:solidFill>
              </a:rPr>
              <a:t>Sum: 40 + 44 + 42 + 46</a:t>
            </a:r>
          </a:p>
          <a:p>
            <a:pPr algn="l">
              <a:spcAft>
                <a:spcPts val="0"/>
              </a:spcAft>
            </a:pPr>
            <a:r>
              <a:rPr sz="1100" b="0" lang="en-GB">
                <a:solidFill>
                  <a:srgbClr val="595959"/>
                </a:solidFill>
              </a:rPr>
              <a:t>+ 50 + 49 + 53 + 54 = 378</a:t>
            </a:r>
          </a:p>
        </p:txBody>
      </p:sp>
      <p:sp>
        <p:nvSpPr>
          <p:cNvPr id="109" name="Averages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0" name="Averages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Averages lag behind a trend: </a:t>
            </a:r>
            <a:r>
              <a:rPr sz="1200" b="0" lang="en-GB">
                <a:solidFill>
                  <a:schemeClr val="bg1"/>
                </a:solidFill>
              </a:rPr>
              <a:t>every error of the moving average is positive, the forecast is too low.</a:t>
            </a:r>
          </a:p>
        </p:txBody>
      </p:sp>
      <p:sp>
        <p:nvSpPr>
          <p:cNvPr id="11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Rolling averages: smooth or forecast?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olling grid 1-1"/>
          <p:cNvSpPr/>
          <p:nvPr/>
        </p:nvSpPr>
        <p:spPr>
          <a:xfrm>
            <a:off x="457200" y="1234440"/>
            <a:ext cx="704088" cy="24963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lling grid text 1-1"/>
          <p:cNvSpPr txBox="1"/>
          <p:nvPr/>
        </p:nvSpPr>
        <p:spPr>
          <a:xfrm>
            <a:off x="548640" y="1234440"/>
            <a:ext cx="521208" cy="249631"/>
          </a:xfrm>
          <a:prstGeom prst="rect">
            <a:avLst/>
          </a:prstGeom>
          <a:noFill/>
        </p:spPr>
        <p:txBody>
          <a:bodyPr wrap="square" lIns="0" rIns="0" tIns="0" bIns="0" anchor="ctr">
            <a:noAutofit/>
          </a:bodyPr>
          <a:lstStyle/>
          <a:p>
            <a:pPr algn="l">
              <a:spcAft>
                <a:spcPts val="400"/>
              </a:spcAft>
            </a:pPr>
            <a:r>
              <a:rPr sz="1100" b="1" lang="en-GB">
                <a:solidFill>
                  <a:schemeClr val="bg1"/>
                </a:solidFill>
              </a:rPr>
              <a:t>Week</a:t>
            </a:r>
          </a:p>
        </p:txBody>
      </p:sp>
      <p:sp>
        <p:nvSpPr>
          <p:cNvPr id="12" name="Rolling grid 1-2"/>
          <p:cNvSpPr/>
          <p:nvPr/>
        </p:nvSpPr>
        <p:spPr>
          <a:xfrm>
            <a:off x="1188720" y="1234440"/>
            <a:ext cx="1024128" cy="24963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lling grid text 1-2"/>
          <p:cNvSpPr txBox="1"/>
          <p:nvPr/>
        </p:nvSpPr>
        <p:spPr>
          <a:xfrm>
            <a:off x="1280160" y="1234440"/>
            <a:ext cx="841248" cy="249631"/>
          </a:xfrm>
          <a:prstGeom prst="rect">
            <a:avLst/>
          </a:prstGeom>
          <a:noFill/>
        </p:spPr>
        <p:txBody>
          <a:bodyPr wrap="square" lIns="0" rIns="0" tIns="0" bIns="0" anchor="ctr">
            <a:noAutofit/>
          </a:bodyPr>
          <a:lstStyle/>
          <a:p>
            <a:pPr algn="r">
              <a:spcAft>
                <a:spcPts val="400"/>
              </a:spcAft>
            </a:pPr>
            <a:r>
              <a:rPr sz="1100" b="1" lang="en-GB">
                <a:solidFill>
                  <a:schemeClr val="bg1"/>
                </a:solidFill>
              </a:rPr>
              <a:t>Contracts</a:t>
            </a:r>
          </a:p>
        </p:txBody>
      </p:sp>
      <p:sp>
        <p:nvSpPr>
          <p:cNvPr id="14" name="Rolling grid 1-3"/>
          <p:cNvSpPr/>
          <p:nvPr/>
        </p:nvSpPr>
        <p:spPr>
          <a:xfrm>
            <a:off x="2240280" y="1234440"/>
            <a:ext cx="1527048" cy="24963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olling grid text 1-3"/>
          <p:cNvSpPr txBox="1"/>
          <p:nvPr/>
        </p:nvSpPr>
        <p:spPr>
          <a:xfrm>
            <a:off x="2331720" y="1234440"/>
            <a:ext cx="1344168" cy="249631"/>
          </a:xfrm>
          <a:prstGeom prst="rect">
            <a:avLst/>
          </a:prstGeom>
          <a:noFill/>
        </p:spPr>
        <p:txBody>
          <a:bodyPr wrap="square" lIns="0" rIns="0" tIns="0" bIns="0" anchor="ctr">
            <a:noAutofit/>
          </a:bodyPr>
          <a:lstStyle/>
          <a:p>
            <a:pPr algn="l">
              <a:spcAft>
                <a:spcPts val="400"/>
              </a:spcAft>
            </a:pPr>
            <a:r>
              <a:rPr sz="1100" b="1" lang="en-GB">
                <a:solidFill>
                  <a:schemeClr val="bg1"/>
                </a:solidFill>
              </a:rPr>
              <a:t>Centred window</a:t>
            </a:r>
          </a:p>
        </p:txBody>
      </p:sp>
      <p:sp>
        <p:nvSpPr>
          <p:cNvPr id="16" name="Rolling grid 1-4"/>
          <p:cNvSpPr/>
          <p:nvPr/>
        </p:nvSpPr>
        <p:spPr>
          <a:xfrm>
            <a:off x="3794760" y="1234440"/>
            <a:ext cx="841248" cy="24963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lling grid text 1-4"/>
          <p:cNvSpPr txBox="1"/>
          <p:nvPr/>
        </p:nvSpPr>
        <p:spPr>
          <a:xfrm>
            <a:off x="3886200" y="1234440"/>
            <a:ext cx="658368" cy="249631"/>
          </a:xfrm>
          <a:prstGeom prst="rect">
            <a:avLst/>
          </a:prstGeom>
          <a:noFill/>
        </p:spPr>
        <p:txBody>
          <a:bodyPr wrap="square" lIns="0" rIns="0" tIns="0" bIns="0" anchor="ctr">
            <a:noAutofit/>
          </a:bodyPr>
          <a:lstStyle/>
          <a:p>
            <a:pPr algn="r">
              <a:spcAft>
                <a:spcPts val="400"/>
              </a:spcAft>
            </a:pPr>
            <a:r>
              <a:rPr sz="1100" b="1" lang="en-GB">
                <a:solidFill>
                  <a:schemeClr val="bg1"/>
                </a:solidFill>
              </a:rPr>
              <a:t>Smooth</a:t>
            </a:r>
          </a:p>
        </p:txBody>
      </p:sp>
      <p:sp>
        <p:nvSpPr>
          <p:cNvPr id="18" name="Rolling grid 1-5"/>
          <p:cNvSpPr/>
          <p:nvPr/>
        </p:nvSpPr>
        <p:spPr>
          <a:xfrm>
            <a:off x="4663440" y="1234440"/>
            <a:ext cx="1005840" cy="249631"/>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lling grid text 1-5"/>
          <p:cNvSpPr txBox="1"/>
          <p:nvPr/>
        </p:nvSpPr>
        <p:spPr>
          <a:xfrm>
            <a:off x="4754880" y="1234440"/>
            <a:ext cx="795528" cy="249631"/>
          </a:xfrm>
          <a:prstGeom prst="rect">
            <a:avLst/>
          </a:prstGeom>
          <a:noFill/>
        </p:spPr>
        <p:txBody>
          <a:bodyPr wrap="square" lIns="0" rIns="0" tIns="0" bIns="0" anchor="ctr">
            <a:noAutofit/>
          </a:bodyPr>
          <a:lstStyle/>
          <a:p>
            <a:pPr algn="r">
              <a:spcAft>
                <a:spcPts val="400"/>
              </a:spcAft>
            </a:pPr>
            <a:r>
              <a:rPr sz="1100" b="1" lang="en-GB">
                <a:solidFill>
                  <a:schemeClr val="bg1"/>
                </a:solidFill>
              </a:rPr>
              <a:t>Forecast</a:t>
            </a:r>
          </a:p>
        </p:txBody>
      </p:sp>
      <p:sp>
        <p:nvSpPr>
          <p:cNvPr id="20" name="Rolling grid 2-1"/>
          <p:cNvSpPr/>
          <p:nvPr/>
        </p:nvSpPr>
        <p:spPr>
          <a:xfrm>
            <a:off x="457200" y="1511503"/>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lling grid text 2-1"/>
          <p:cNvSpPr txBox="1"/>
          <p:nvPr/>
        </p:nvSpPr>
        <p:spPr>
          <a:xfrm>
            <a:off x="548640" y="1511503"/>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1</a:t>
            </a:r>
          </a:p>
        </p:txBody>
      </p:sp>
      <p:sp>
        <p:nvSpPr>
          <p:cNvPr id="22" name="Rolling grid 2-2"/>
          <p:cNvSpPr/>
          <p:nvPr/>
        </p:nvSpPr>
        <p:spPr>
          <a:xfrm>
            <a:off x="1188720" y="1511503"/>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lling grid text 2-2"/>
          <p:cNvSpPr txBox="1"/>
          <p:nvPr/>
        </p:nvSpPr>
        <p:spPr>
          <a:xfrm>
            <a:off x="1280160" y="1511503"/>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40</a:t>
            </a:r>
          </a:p>
        </p:txBody>
      </p:sp>
      <p:sp>
        <p:nvSpPr>
          <p:cNvPr id="24" name="Rolling grid 2-3"/>
          <p:cNvSpPr/>
          <p:nvPr/>
        </p:nvSpPr>
        <p:spPr>
          <a:xfrm>
            <a:off x="2240280" y="1511503"/>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lling grid text 2-3"/>
          <p:cNvSpPr txBox="1"/>
          <p:nvPr/>
        </p:nvSpPr>
        <p:spPr>
          <a:xfrm>
            <a:off x="2331720" y="1511503"/>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a:t>
            </a:r>
          </a:p>
        </p:txBody>
      </p:sp>
      <p:sp>
        <p:nvSpPr>
          <p:cNvPr id="26" name="Rolling grid 2-4"/>
          <p:cNvSpPr/>
          <p:nvPr/>
        </p:nvSpPr>
        <p:spPr>
          <a:xfrm>
            <a:off x="3794760" y="1511503"/>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olling grid text 2-4"/>
          <p:cNvSpPr txBox="1"/>
          <p:nvPr/>
        </p:nvSpPr>
        <p:spPr>
          <a:xfrm>
            <a:off x="3886200" y="1511503"/>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28" name="Rolling grid 2-5"/>
          <p:cNvSpPr/>
          <p:nvPr/>
        </p:nvSpPr>
        <p:spPr>
          <a:xfrm>
            <a:off x="4663440" y="1511503"/>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lling grid text 2-5"/>
          <p:cNvSpPr txBox="1"/>
          <p:nvPr/>
        </p:nvSpPr>
        <p:spPr>
          <a:xfrm>
            <a:off x="4754880" y="1511503"/>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30" name="Rolling grid 3-1"/>
          <p:cNvSpPr/>
          <p:nvPr/>
        </p:nvSpPr>
        <p:spPr>
          <a:xfrm>
            <a:off x="457200" y="1788566"/>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lling grid text 3-1"/>
          <p:cNvSpPr txBox="1"/>
          <p:nvPr/>
        </p:nvSpPr>
        <p:spPr>
          <a:xfrm>
            <a:off x="548640" y="1788566"/>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2</a:t>
            </a:r>
          </a:p>
        </p:txBody>
      </p:sp>
      <p:sp>
        <p:nvSpPr>
          <p:cNvPr id="32" name="Rolling grid 3-2"/>
          <p:cNvSpPr/>
          <p:nvPr/>
        </p:nvSpPr>
        <p:spPr>
          <a:xfrm>
            <a:off x="1188720" y="1788566"/>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olling grid text 3-2"/>
          <p:cNvSpPr txBox="1"/>
          <p:nvPr/>
        </p:nvSpPr>
        <p:spPr>
          <a:xfrm>
            <a:off x="1280160" y="1788566"/>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44</a:t>
            </a:r>
          </a:p>
        </p:txBody>
      </p:sp>
      <p:sp>
        <p:nvSpPr>
          <p:cNvPr id="34" name="Rolling grid 3-3"/>
          <p:cNvSpPr/>
          <p:nvPr/>
        </p:nvSpPr>
        <p:spPr>
          <a:xfrm>
            <a:off x="2240280" y="1788566"/>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olling grid text 3-3"/>
          <p:cNvSpPr txBox="1"/>
          <p:nvPr/>
        </p:nvSpPr>
        <p:spPr>
          <a:xfrm>
            <a:off x="2331720" y="1788566"/>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(40 + 44 + 42) / 3</a:t>
            </a:r>
          </a:p>
        </p:txBody>
      </p:sp>
      <p:sp>
        <p:nvSpPr>
          <p:cNvPr id="36" name="Rolling grid 3-4"/>
          <p:cNvSpPr/>
          <p:nvPr/>
        </p:nvSpPr>
        <p:spPr>
          <a:xfrm>
            <a:off x="3794760" y="1788566"/>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olling grid text 3-4"/>
          <p:cNvSpPr txBox="1"/>
          <p:nvPr/>
        </p:nvSpPr>
        <p:spPr>
          <a:xfrm>
            <a:off x="3886200" y="1788566"/>
            <a:ext cx="658368" cy="249631"/>
          </a:xfrm>
          <a:prstGeom prst="rect">
            <a:avLst/>
          </a:prstGeom>
          <a:noFill/>
        </p:spPr>
        <p:txBody>
          <a:bodyPr wrap="square" lIns="0" rIns="0" tIns="0" bIns="0" anchor="ctr">
            <a:noAutofit/>
          </a:bodyPr>
          <a:lstStyle/>
          <a:p>
            <a:pPr algn="r">
              <a:spcAft>
                <a:spcPts val="400"/>
              </a:spcAft>
            </a:pPr>
            <a:r>
              <a:rPr sz="1100" b="1" lang="en-GB">
                <a:solidFill>
                  <a:schemeClr val="accent1"/>
                </a:solidFill>
              </a:rPr>
              <a:t>42</a:t>
            </a:r>
          </a:p>
        </p:txBody>
      </p:sp>
      <p:sp>
        <p:nvSpPr>
          <p:cNvPr id="38" name="Rolling grid 3-5"/>
          <p:cNvSpPr/>
          <p:nvPr/>
        </p:nvSpPr>
        <p:spPr>
          <a:xfrm>
            <a:off x="4663440" y="1788566"/>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olling grid text 3-5"/>
          <p:cNvSpPr txBox="1"/>
          <p:nvPr/>
        </p:nvSpPr>
        <p:spPr>
          <a:xfrm>
            <a:off x="4754880" y="1788566"/>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40" name="Rolling grid 4-1"/>
          <p:cNvSpPr/>
          <p:nvPr/>
        </p:nvSpPr>
        <p:spPr>
          <a:xfrm>
            <a:off x="457200" y="2065630"/>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olling grid text 4-1"/>
          <p:cNvSpPr txBox="1"/>
          <p:nvPr/>
        </p:nvSpPr>
        <p:spPr>
          <a:xfrm>
            <a:off x="548640" y="2065630"/>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3</a:t>
            </a:r>
          </a:p>
        </p:txBody>
      </p:sp>
      <p:sp>
        <p:nvSpPr>
          <p:cNvPr id="42" name="Rolling grid 4-2"/>
          <p:cNvSpPr/>
          <p:nvPr/>
        </p:nvSpPr>
        <p:spPr>
          <a:xfrm>
            <a:off x="1188720" y="2065630"/>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Rolling grid text 4-2"/>
          <p:cNvSpPr txBox="1"/>
          <p:nvPr/>
        </p:nvSpPr>
        <p:spPr>
          <a:xfrm>
            <a:off x="1280160" y="2065630"/>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42</a:t>
            </a:r>
          </a:p>
        </p:txBody>
      </p:sp>
      <p:sp>
        <p:nvSpPr>
          <p:cNvPr id="44" name="Rolling grid 4-3"/>
          <p:cNvSpPr/>
          <p:nvPr/>
        </p:nvSpPr>
        <p:spPr>
          <a:xfrm>
            <a:off x="2240280" y="2065630"/>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Rolling grid text 4-3"/>
          <p:cNvSpPr txBox="1"/>
          <p:nvPr/>
        </p:nvSpPr>
        <p:spPr>
          <a:xfrm>
            <a:off x="2331720" y="2065630"/>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(44 + 42 + 46) / 3</a:t>
            </a:r>
          </a:p>
        </p:txBody>
      </p:sp>
      <p:sp>
        <p:nvSpPr>
          <p:cNvPr id="46" name="Rolling grid 4-4"/>
          <p:cNvSpPr/>
          <p:nvPr/>
        </p:nvSpPr>
        <p:spPr>
          <a:xfrm>
            <a:off x="3794760" y="2065630"/>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Rolling grid text 4-4"/>
          <p:cNvSpPr txBox="1"/>
          <p:nvPr/>
        </p:nvSpPr>
        <p:spPr>
          <a:xfrm>
            <a:off x="3886200" y="2065630"/>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44</a:t>
            </a:r>
          </a:p>
        </p:txBody>
      </p:sp>
      <p:sp>
        <p:nvSpPr>
          <p:cNvPr id="48" name="Rolling grid 4-5"/>
          <p:cNvSpPr/>
          <p:nvPr/>
        </p:nvSpPr>
        <p:spPr>
          <a:xfrm>
            <a:off x="4663440" y="2065630"/>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olling grid text 4-5"/>
          <p:cNvSpPr txBox="1"/>
          <p:nvPr/>
        </p:nvSpPr>
        <p:spPr>
          <a:xfrm>
            <a:off x="4754880" y="2065630"/>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50" name="Rolling grid 5-1"/>
          <p:cNvSpPr/>
          <p:nvPr/>
        </p:nvSpPr>
        <p:spPr>
          <a:xfrm>
            <a:off x="457200" y="2342693"/>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Rolling grid text 5-1"/>
          <p:cNvSpPr txBox="1"/>
          <p:nvPr/>
        </p:nvSpPr>
        <p:spPr>
          <a:xfrm>
            <a:off x="548640" y="2342693"/>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4</a:t>
            </a:r>
          </a:p>
        </p:txBody>
      </p:sp>
      <p:sp>
        <p:nvSpPr>
          <p:cNvPr id="52" name="Rolling grid 5-2"/>
          <p:cNvSpPr/>
          <p:nvPr/>
        </p:nvSpPr>
        <p:spPr>
          <a:xfrm>
            <a:off x="1188720" y="2342693"/>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Rolling grid text 5-2"/>
          <p:cNvSpPr txBox="1"/>
          <p:nvPr/>
        </p:nvSpPr>
        <p:spPr>
          <a:xfrm>
            <a:off x="1280160" y="2342693"/>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46</a:t>
            </a:r>
          </a:p>
        </p:txBody>
      </p:sp>
      <p:sp>
        <p:nvSpPr>
          <p:cNvPr id="54" name="Rolling grid 5-3"/>
          <p:cNvSpPr/>
          <p:nvPr/>
        </p:nvSpPr>
        <p:spPr>
          <a:xfrm>
            <a:off x="2240280" y="2342693"/>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Rolling grid text 5-3"/>
          <p:cNvSpPr txBox="1"/>
          <p:nvPr/>
        </p:nvSpPr>
        <p:spPr>
          <a:xfrm>
            <a:off x="2331720" y="2342693"/>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(42 + 46 + 50) / 3</a:t>
            </a:r>
          </a:p>
        </p:txBody>
      </p:sp>
      <p:sp>
        <p:nvSpPr>
          <p:cNvPr id="56" name="Rolling grid 5-4"/>
          <p:cNvSpPr/>
          <p:nvPr/>
        </p:nvSpPr>
        <p:spPr>
          <a:xfrm>
            <a:off x="3794760" y="2342693"/>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Rolling grid text 5-4"/>
          <p:cNvSpPr txBox="1"/>
          <p:nvPr/>
        </p:nvSpPr>
        <p:spPr>
          <a:xfrm>
            <a:off x="3886200" y="2342693"/>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46</a:t>
            </a:r>
          </a:p>
        </p:txBody>
      </p:sp>
      <p:sp>
        <p:nvSpPr>
          <p:cNvPr id="58" name="Rolling grid 5-5"/>
          <p:cNvSpPr/>
          <p:nvPr/>
        </p:nvSpPr>
        <p:spPr>
          <a:xfrm>
            <a:off x="4663440" y="2342693"/>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olling grid text 5-5"/>
          <p:cNvSpPr txBox="1"/>
          <p:nvPr/>
        </p:nvSpPr>
        <p:spPr>
          <a:xfrm>
            <a:off x="4754880" y="2342693"/>
            <a:ext cx="795528" cy="249631"/>
          </a:xfrm>
          <a:prstGeom prst="rect">
            <a:avLst/>
          </a:prstGeom>
          <a:noFill/>
        </p:spPr>
        <p:txBody>
          <a:bodyPr wrap="square" lIns="0" rIns="0" tIns="0" bIns="0" anchor="ctr">
            <a:noAutofit/>
          </a:bodyPr>
          <a:lstStyle/>
          <a:p>
            <a:pPr algn="r">
              <a:spcAft>
                <a:spcPts val="400"/>
              </a:spcAft>
            </a:pPr>
            <a:r>
              <a:rPr sz="1100" b="1" lang="en-GB">
                <a:solidFill>
                  <a:schemeClr val="accent1"/>
                </a:solidFill>
              </a:rPr>
              <a:t>42</a:t>
            </a:r>
          </a:p>
        </p:txBody>
      </p:sp>
      <p:sp>
        <p:nvSpPr>
          <p:cNvPr id="60" name="Rolling grid 6-1"/>
          <p:cNvSpPr/>
          <p:nvPr/>
        </p:nvSpPr>
        <p:spPr>
          <a:xfrm>
            <a:off x="457200" y="2619756"/>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Rolling grid text 6-1"/>
          <p:cNvSpPr txBox="1"/>
          <p:nvPr/>
        </p:nvSpPr>
        <p:spPr>
          <a:xfrm>
            <a:off x="548640" y="2619756"/>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5</a:t>
            </a:r>
          </a:p>
        </p:txBody>
      </p:sp>
      <p:sp>
        <p:nvSpPr>
          <p:cNvPr id="62" name="Rolling grid 6-2"/>
          <p:cNvSpPr/>
          <p:nvPr/>
        </p:nvSpPr>
        <p:spPr>
          <a:xfrm>
            <a:off x="1188720" y="2619756"/>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Rolling grid text 6-2"/>
          <p:cNvSpPr txBox="1"/>
          <p:nvPr/>
        </p:nvSpPr>
        <p:spPr>
          <a:xfrm>
            <a:off x="1280160" y="2619756"/>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50</a:t>
            </a:r>
          </a:p>
        </p:txBody>
      </p:sp>
      <p:sp>
        <p:nvSpPr>
          <p:cNvPr id="64" name="Rolling grid 6-3"/>
          <p:cNvSpPr/>
          <p:nvPr/>
        </p:nvSpPr>
        <p:spPr>
          <a:xfrm>
            <a:off x="2240280" y="2619756"/>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Rolling grid text 6-3"/>
          <p:cNvSpPr txBox="1"/>
          <p:nvPr/>
        </p:nvSpPr>
        <p:spPr>
          <a:xfrm>
            <a:off x="2331720" y="2619756"/>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(46 + 50 + 49) / 3</a:t>
            </a:r>
          </a:p>
        </p:txBody>
      </p:sp>
      <p:sp>
        <p:nvSpPr>
          <p:cNvPr id="66" name="Rolling grid 6-4"/>
          <p:cNvSpPr/>
          <p:nvPr/>
        </p:nvSpPr>
        <p:spPr>
          <a:xfrm>
            <a:off x="3794760" y="2619756"/>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Rolling grid text 6-4"/>
          <p:cNvSpPr txBox="1"/>
          <p:nvPr/>
        </p:nvSpPr>
        <p:spPr>
          <a:xfrm>
            <a:off x="3886200" y="2619756"/>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48.33</a:t>
            </a:r>
          </a:p>
        </p:txBody>
      </p:sp>
      <p:sp>
        <p:nvSpPr>
          <p:cNvPr id="68" name="Rolling grid 6-5"/>
          <p:cNvSpPr/>
          <p:nvPr/>
        </p:nvSpPr>
        <p:spPr>
          <a:xfrm>
            <a:off x="4663440" y="2619756"/>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Rolling grid text 6-5"/>
          <p:cNvSpPr txBox="1"/>
          <p:nvPr/>
        </p:nvSpPr>
        <p:spPr>
          <a:xfrm>
            <a:off x="4754880" y="2619756"/>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44</a:t>
            </a:r>
          </a:p>
        </p:txBody>
      </p:sp>
      <p:sp>
        <p:nvSpPr>
          <p:cNvPr id="70" name="Rolling grid 7-1"/>
          <p:cNvSpPr/>
          <p:nvPr/>
        </p:nvSpPr>
        <p:spPr>
          <a:xfrm>
            <a:off x="457200" y="2896819"/>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Rolling grid text 7-1"/>
          <p:cNvSpPr txBox="1"/>
          <p:nvPr/>
        </p:nvSpPr>
        <p:spPr>
          <a:xfrm>
            <a:off x="548640" y="2896819"/>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6</a:t>
            </a:r>
          </a:p>
        </p:txBody>
      </p:sp>
      <p:sp>
        <p:nvSpPr>
          <p:cNvPr id="72" name="Rolling grid 7-2"/>
          <p:cNvSpPr/>
          <p:nvPr/>
        </p:nvSpPr>
        <p:spPr>
          <a:xfrm>
            <a:off x="1188720" y="2896819"/>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Rolling grid text 7-2"/>
          <p:cNvSpPr txBox="1"/>
          <p:nvPr/>
        </p:nvSpPr>
        <p:spPr>
          <a:xfrm>
            <a:off x="1280160" y="2896819"/>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49</a:t>
            </a:r>
          </a:p>
        </p:txBody>
      </p:sp>
      <p:sp>
        <p:nvSpPr>
          <p:cNvPr id="74" name="Rolling grid 7-3"/>
          <p:cNvSpPr/>
          <p:nvPr/>
        </p:nvSpPr>
        <p:spPr>
          <a:xfrm>
            <a:off x="2240280" y="2896819"/>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Rolling grid text 7-3"/>
          <p:cNvSpPr txBox="1"/>
          <p:nvPr/>
        </p:nvSpPr>
        <p:spPr>
          <a:xfrm>
            <a:off x="2331720" y="2896819"/>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(50 + 49 + 53) / 3</a:t>
            </a:r>
          </a:p>
        </p:txBody>
      </p:sp>
      <p:sp>
        <p:nvSpPr>
          <p:cNvPr id="76" name="Rolling grid 7-4"/>
          <p:cNvSpPr/>
          <p:nvPr/>
        </p:nvSpPr>
        <p:spPr>
          <a:xfrm>
            <a:off x="3794760" y="2896819"/>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Rolling grid text 7-4"/>
          <p:cNvSpPr txBox="1"/>
          <p:nvPr/>
        </p:nvSpPr>
        <p:spPr>
          <a:xfrm>
            <a:off x="3886200" y="2896819"/>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50.67</a:t>
            </a:r>
          </a:p>
        </p:txBody>
      </p:sp>
      <p:sp>
        <p:nvSpPr>
          <p:cNvPr id="78" name="Rolling grid 7-5"/>
          <p:cNvSpPr/>
          <p:nvPr/>
        </p:nvSpPr>
        <p:spPr>
          <a:xfrm>
            <a:off x="4663440" y="2896819"/>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Rolling grid text 7-5"/>
          <p:cNvSpPr txBox="1"/>
          <p:nvPr/>
        </p:nvSpPr>
        <p:spPr>
          <a:xfrm>
            <a:off x="4754880" y="2896819"/>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46</a:t>
            </a:r>
          </a:p>
        </p:txBody>
      </p:sp>
      <p:sp>
        <p:nvSpPr>
          <p:cNvPr id="80" name="Rolling grid 8-1"/>
          <p:cNvSpPr/>
          <p:nvPr/>
        </p:nvSpPr>
        <p:spPr>
          <a:xfrm>
            <a:off x="457200" y="3173882"/>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Rolling grid text 8-1"/>
          <p:cNvSpPr txBox="1"/>
          <p:nvPr/>
        </p:nvSpPr>
        <p:spPr>
          <a:xfrm>
            <a:off x="548640" y="3173882"/>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7</a:t>
            </a:r>
          </a:p>
        </p:txBody>
      </p:sp>
      <p:sp>
        <p:nvSpPr>
          <p:cNvPr id="82" name="Rolling grid 8-2"/>
          <p:cNvSpPr/>
          <p:nvPr/>
        </p:nvSpPr>
        <p:spPr>
          <a:xfrm>
            <a:off x="1188720" y="3173882"/>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Rolling grid text 8-2"/>
          <p:cNvSpPr txBox="1"/>
          <p:nvPr/>
        </p:nvSpPr>
        <p:spPr>
          <a:xfrm>
            <a:off x="1280160" y="3173882"/>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53</a:t>
            </a:r>
          </a:p>
        </p:txBody>
      </p:sp>
      <p:sp>
        <p:nvSpPr>
          <p:cNvPr id="84" name="Rolling grid 8-3"/>
          <p:cNvSpPr/>
          <p:nvPr/>
        </p:nvSpPr>
        <p:spPr>
          <a:xfrm>
            <a:off x="2240280" y="3173882"/>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Rolling grid text 8-3"/>
          <p:cNvSpPr txBox="1"/>
          <p:nvPr/>
        </p:nvSpPr>
        <p:spPr>
          <a:xfrm>
            <a:off x="2331720" y="3173882"/>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(49 + 53 + 54) / 3</a:t>
            </a:r>
          </a:p>
        </p:txBody>
      </p:sp>
      <p:sp>
        <p:nvSpPr>
          <p:cNvPr id="86" name="Rolling grid 8-4"/>
          <p:cNvSpPr/>
          <p:nvPr/>
        </p:nvSpPr>
        <p:spPr>
          <a:xfrm>
            <a:off x="3794760" y="3173882"/>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Rolling grid text 8-4"/>
          <p:cNvSpPr txBox="1"/>
          <p:nvPr/>
        </p:nvSpPr>
        <p:spPr>
          <a:xfrm>
            <a:off x="3886200" y="3173882"/>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52</a:t>
            </a:r>
          </a:p>
        </p:txBody>
      </p:sp>
      <p:sp>
        <p:nvSpPr>
          <p:cNvPr id="88" name="Rolling grid 8-5"/>
          <p:cNvSpPr/>
          <p:nvPr/>
        </p:nvSpPr>
        <p:spPr>
          <a:xfrm>
            <a:off x="4663440" y="3173882"/>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Rolling grid text 8-5"/>
          <p:cNvSpPr txBox="1"/>
          <p:nvPr/>
        </p:nvSpPr>
        <p:spPr>
          <a:xfrm>
            <a:off x="4754880" y="3173882"/>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48.33</a:t>
            </a:r>
          </a:p>
        </p:txBody>
      </p:sp>
      <p:sp>
        <p:nvSpPr>
          <p:cNvPr id="90" name="Rolling grid 9-1"/>
          <p:cNvSpPr/>
          <p:nvPr/>
        </p:nvSpPr>
        <p:spPr>
          <a:xfrm>
            <a:off x="457200" y="3450946"/>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Rolling grid text 9-1"/>
          <p:cNvSpPr txBox="1"/>
          <p:nvPr/>
        </p:nvSpPr>
        <p:spPr>
          <a:xfrm>
            <a:off x="548640" y="3450946"/>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8</a:t>
            </a:r>
          </a:p>
        </p:txBody>
      </p:sp>
      <p:sp>
        <p:nvSpPr>
          <p:cNvPr id="92" name="Rolling grid 9-2"/>
          <p:cNvSpPr/>
          <p:nvPr/>
        </p:nvSpPr>
        <p:spPr>
          <a:xfrm>
            <a:off x="1188720" y="3450946"/>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Rolling grid text 9-2"/>
          <p:cNvSpPr txBox="1"/>
          <p:nvPr/>
        </p:nvSpPr>
        <p:spPr>
          <a:xfrm>
            <a:off x="1280160" y="3450946"/>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54</a:t>
            </a:r>
          </a:p>
        </p:txBody>
      </p:sp>
      <p:sp>
        <p:nvSpPr>
          <p:cNvPr id="94" name="Rolling grid 9-3"/>
          <p:cNvSpPr/>
          <p:nvPr/>
        </p:nvSpPr>
        <p:spPr>
          <a:xfrm>
            <a:off x="2240280" y="3450946"/>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Rolling grid text 9-3"/>
          <p:cNvSpPr txBox="1"/>
          <p:nvPr/>
        </p:nvSpPr>
        <p:spPr>
          <a:xfrm>
            <a:off x="2331720" y="3450946"/>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a:t>
            </a:r>
          </a:p>
        </p:txBody>
      </p:sp>
      <p:sp>
        <p:nvSpPr>
          <p:cNvPr id="96" name="Rolling grid 9-4"/>
          <p:cNvSpPr/>
          <p:nvPr/>
        </p:nvSpPr>
        <p:spPr>
          <a:xfrm>
            <a:off x="3794760" y="3450946"/>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Rolling grid text 9-4"/>
          <p:cNvSpPr txBox="1"/>
          <p:nvPr/>
        </p:nvSpPr>
        <p:spPr>
          <a:xfrm>
            <a:off x="3886200" y="3450946"/>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98" name="Rolling grid 9-5"/>
          <p:cNvSpPr/>
          <p:nvPr/>
        </p:nvSpPr>
        <p:spPr>
          <a:xfrm>
            <a:off x="4663440" y="3450946"/>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Rolling grid text 9-5"/>
          <p:cNvSpPr txBox="1"/>
          <p:nvPr/>
        </p:nvSpPr>
        <p:spPr>
          <a:xfrm>
            <a:off x="4754880" y="3450946"/>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50.67</a:t>
            </a:r>
          </a:p>
        </p:txBody>
      </p:sp>
      <p:sp>
        <p:nvSpPr>
          <p:cNvPr id="100" name="Rolling grid 10-1"/>
          <p:cNvSpPr/>
          <p:nvPr/>
        </p:nvSpPr>
        <p:spPr>
          <a:xfrm>
            <a:off x="457200" y="3728009"/>
            <a:ext cx="70408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Rolling grid text 10-1"/>
          <p:cNvSpPr txBox="1"/>
          <p:nvPr/>
        </p:nvSpPr>
        <p:spPr>
          <a:xfrm>
            <a:off x="548640" y="3728009"/>
            <a:ext cx="521208" cy="249631"/>
          </a:xfrm>
          <a:prstGeom prst="rect">
            <a:avLst/>
          </a:prstGeom>
          <a:noFill/>
        </p:spPr>
        <p:txBody>
          <a:bodyPr wrap="square" lIns="0" rIns="0" tIns="0" bIns="0" anchor="ctr">
            <a:noAutofit/>
          </a:bodyPr>
          <a:lstStyle/>
          <a:p>
            <a:pPr algn="l">
              <a:spcAft>
                <a:spcPts val="400"/>
              </a:spcAft>
            </a:pPr>
            <a:r>
              <a:rPr sz="1100" b="1" lang="en-GB">
                <a:solidFill>
                  <a:schemeClr val="tx2"/>
                </a:solidFill>
              </a:rPr>
              <a:t>9</a:t>
            </a:r>
          </a:p>
        </p:txBody>
      </p:sp>
      <p:sp>
        <p:nvSpPr>
          <p:cNvPr id="102" name="Rolling grid 10-2"/>
          <p:cNvSpPr/>
          <p:nvPr/>
        </p:nvSpPr>
        <p:spPr>
          <a:xfrm>
            <a:off x="1188720" y="3728009"/>
            <a:ext cx="102412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Rolling grid text 10-2"/>
          <p:cNvSpPr txBox="1"/>
          <p:nvPr/>
        </p:nvSpPr>
        <p:spPr>
          <a:xfrm>
            <a:off x="1280160" y="3728009"/>
            <a:ext cx="84124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104" name="Rolling grid 10-3"/>
          <p:cNvSpPr/>
          <p:nvPr/>
        </p:nvSpPr>
        <p:spPr>
          <a:xfrm>
            <a:off x="2240280" y="3728009"/>
            <a:ext cx="15270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Rolling grid text 10-3"/>
          <p:cNvSpPr txBox="1"/>
          <p:nvPr/>
        </p:nvSpPr>
        <p:spPr>
          <a:xfrm>
            <a:off x="2331720" y="3728009"/>
            <a:ext cx="1344168" cy="249631"/>
          </a:xfrm>
          <a:prstGeom prst="rect">
            <a:avLst/>
          </a:prstGeom>
          <a:noFill/>
        </p:spPr>
        <p:txBody>
          <a:bodyPr wrap="square" lIns="0" rIns="0" tIns="0" bIns="0" anchor="ctr">
            <a:noAutofit/>
          </a:bodyPr>
          <a:lstStyle/>
          <a:p>
            <a:pPr algn="l">
              <a:spcAft>
                <a:spcPts val="400"/>
              </a:spcAft>
            </a:pPr>
            <a:r>
              <a:rPr sz="1100" b="0" lang="en-GB">
                <a:solidFill>
                  <a:schemeClr val="tx1"/>
                </a:solidFill>
              </a:rPr>
              <a:t>–</a:t>
            </a:r>
          </a:p>
        </p:txBody>
      </p:sp>
      <p:sp>
        <p:nvSpPr>
          <p:cNvPr id="106" name="Rolling grid 10-4"/>
          <p:cNvSpPr/>
          <p:nvPr/>
        </p:nvSpPr>
        <p:spPr>
          <a:xfrm>
            <a:off x="3794760" y="3728009"/>
            <a:ext cx="841248"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Rolling grid text 10-4"/>
          <p:cNvSpPr txBox="1"/>
          <p:nvPr/>
        </p:nvSpPr>
        <p:spPr>
          <a:xfrm>
            <a:off x="3886200" y="3728009"/>
            <a:ext cx="65836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a:t>
            </a:r>
          </a:p>
        </p:txBody>
      </p:sp>
      <p:sp>
        <p:nvSpPr>
          <p:cNvPr id="108" name="Rolling grid 10-5"/>
          <p:cNvSpPr/>
          <p:nvPr/>
        </p:nvSpPr>
        <p:spPr>
          <a:xfrm>
            <a:off x="4663440" y="3728009"/>
            <a:ext cx="1005840" cy="249631"/>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Rolling grid text 10-5"/>
          <p:cNvSpPr txBox="1"/>
          <p:nvPr/>
        </p:nvSpPr>
        <p:spPr>
          <a:xfrm>
            <a:off x="4754880" y="3728009"/>
            <a:ext cx="795528" cy="249631"/>
          </a:xfrm>
          <a:prstGeom prst="rect">
            <a:avLst/>
          </a:prstGeom>
          <a:noFill/>
        </p:spPr>
        <p:txBody>
          <a:bodyPr wrap="square" lIns="0" rIns="0" tIns="0" bIns="0" anchor="ctr">
            <a:noAutofit/>
          </a:bodyPr>
          <a:lstStyle/>
          <a:p>
            <a:pPr algn="r">
              <a:spcAft>
                <a:spcPts val="400"/>
              </a:spcAft>
            </a:pPr>
            <a:r>
              <a:rPr sz="1100" b="0" lang="en-GB">
                <a:solidFill>
                  <a:schemeClr val="tx1"/>
                </a:solidFill>
              </a:rPr>
              <a:t>52</a:t>
            </a:r>
          </a:p>
        </p:txBody>
      </p:sp>
      <p:pic>
        <p:nvPicPr>
          <p:cNvPr id="110" name="Chart fc_f1_smooth.png" descr="New contracts per week, weeks 1 to 8, with the centred rolling average of 3 weeks (blue, weeks 2 to 7, 42, 44, 46, 48.33, 50.67, 52) and the moving average forecast of the 3 weeks before (grey dashed, weeks 4 to 9), which lies two weeks behind."/>
          <p:cNvPicPr>
            <a:picLocks noChangeAspect="1"/>
          </p:cNvPicPr>
          <p:nvPr/>
        </p:nvPicPr>
        <p:blipFill>
          <a:blip r:embed="rId3"/>
          <a:stretch>
            <a:fillRect/>
          </a:stretch>
        </p:blipFill>
        <p:spPr>
          <a:xfrm>
            <a:off x="5806440" y="1234440"/>
            <a:ext cx="2880360" cy="1463040"/>
          </a:xfrm>
          <a:prstGeom prst="rect">
            <a:avLst/>
          </a:prstGeom>
        </p:spPr>
      </p:pic>
      <p:sp>
        <p:nvSpPr>
          <p:cNvPr id="111" name="Smooth row row"/>
          <p:cNvSpPr/>
          <p:nvPr/>
        </p:nvSpPr>
        <p:spPr>
          <a:xfrm>
            <a:off x="5806440" y="2834640"/>
            <a:ext cx="288036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2" name="Smooth row bar"/>
          <p:cNvSpPr/>
          <p:nvPr/>
        </p:nvSpPr>
        <p:spPr>
          <a:xfrm>
            <a:off x="5806440" y="283464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Smooth row text"/>
          <p:cNvSpPr txBox="1"/>
          <p:nvPr/>
        </p:nvSpPr>
        <p:spPr>
          <a:xfrm>
            <a:off x="6007608" y="2834640"/>
            <a:ext cx="2587752" cy="502920"/>
          </a:xfrm>
          <a:prstGeom prst="rect">
            <a:avLst/>
          </a:prstGeom>
          <a:noFill/>
        </p:spPr>
        <p:txBody>
          <a:bodyPr wrap="square" lIns="0" rIns="0" tIns="0" bIns="0" anchor="ctr">
            <a:noAutofit/>
          </a:bodyPr>
          <a:lstStyle/>
          <a:p>
            <a:pPr algn="l">
              <a:spcAft>
                <a:spcPts val="200"/>
              </a:spcAft>
            </a:pPr>
            <a:r>
              <a:rPr sz="1200" b="1" lang="en-GB">
                <a:solidFill>
                  <a:schemeClr val="tx2"/>
                </a:solidFill>
              </a:rPr>
              <a:t>Smooth: </a:t>
            </a:r>
            <a:r>
              <a:rPr sz="1200" b="0" lang="en-GB">
                <a:solidFill>
                  <a:schemeClr val="tx1"/>
                </a:solidFill>
              </a:rPr>
              <a:t>the week before, the week and the week after</a:t>
            </a:r>
          </a:p>
        </p:txBody>
      </p:sp>
      <p:sp>
        <p:nvSpPr>
          <p:cNvPr id="114" name="Forecast row row"/>
          <p:cNvSpPr/>
          <p:nvPr/>
        </p:nvSpPr>
        <p:spPr>
          <a:xfrm>
            <a:off x="5806440" y="3474720"/>
            <a:ext cx="2880360" cy="5029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Forecast row bar"/>
          <p:cNvSpPr/>
          <p:nvPr/>
        </p:nvSpPr>
        <p:spPr>
          <a:xfrm>
            <a:off x="5806440" y="3474720"/>
            <a:ext cx="64008" cy="5029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6" name="Forecast row text"/>
          <p:cNvSpPr txBox="1"/>
          <p:nvPr/>
        </p:nvSpPr>
        <p:spPr>
          <a:xfrm>
            <a:off x="6007608" y="3474720"/>
            <a:ext cx="2587752" cy="502920"/>
          </a:xfrm>
          <a:prstGeom prst="rect">
            <a:avLst/>
          </a:prstGeom>
          <a:noFill/>
        </p:spPr>
        <p:txBody>
          <a:bodyPr wrap="square" lIns="0" rIns="0" tIns="0" bIns="0" anchor="ctr">
            <a:noAutofit/>
          </a:bodyPr>
          <a:lstStyle/>
          <a:p>
            <a:pPr algn="l">
              <a:spcAft>
                <a:spcPts val="200"/>
              </a:spcAft>
            </a:pPr>
            <a:r>
              <a:rPr sz="1200" b="1" lang="en-GB">
                <a:solidFill>
                  <a:schemeClr val="tx2"/>
                </a:solidFill>
              </a:rPr>
              <a:t>Forecast: </a:t>
            </a:r>
            <a:r>
              <a:rPr sz="1200" b="0" lang="en-GB">
                <a:solidFill>
                  <a:schemeClr val="tx1"/>
                </a:solidFill>
              </a:rPr>
              <a:t>only the 3 weeks before (slide 13)</a:t>
            </a:r>
          </a:p>
        </p:txBody>
      </p:sp>
      <p:sp>
        <p:nvSpPr>
          <p:cNvPr id="117" name="Rolling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8" name="Rolling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Same averages, different place: </a:t>
            </a:r>
            <a:r>
              <a:rPr sz="1200" b="0" lang="en-GB">
                <a:solidFill>
                  <a:schemeClr val="bg1"/>
                </a:solidFill>
              </a:rPr>
              <a:t>centre the window to see the trend; look only back to forecast.</a:t>
            </a:r>
          </a:p>
        </p:txBody>
      </p:sp>
      <p:sp>
        <p:nvSpPr>
          <p:cNvPr id="119"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Exponential smoothing, step by step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S grid 1-1"/>
          <p:cNvSpPr/>
          <p:nvPr/>
        </p:nvSpPr>
        <p:spPr>
          <a:xfrm>
            <a:off x="457200" y="1234440"/>
            <a:ext cx="70408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S grid text 1-1"/>
          <p:cNvSpPr txBox="1"/>
          <p:nvPr/>
        </p:nvSpPr>
        <p:spPr>
          <a:xfrm>
            <a:off x="548640" y="1234440"/>
            <a:ext cx="521208" cy="280416"/>
          </a:xfrm>
          <a:prstGeom prst="rect">
            <a:avLst/>
          </a:prstGeom>
          <a:noFill/>
        </p:spPr>
        <p:txBody>
          <a:bodyPr wrap="square" lIns="0" rIns="0" tIns="0" bIns="0" anchor="ctr">
            <a:noAutofit/>
          </a:bodyPr>
          <a:lstStyle/>
          <a:p>
            <a:pPr algn="l">
              <a:spcAft>
                <a:spcPts val="400"/>
              </a:spcAft>
            </a:pPr>
            <a:r>
              <a:rPr sz="1150" b="1" lang="en-GB">
                <a:solidFill>
                  <a:schemeClr val="bg1"/>
                </a:solidFill>
              </a:rPr>
              <a:t>Week</a:t>
            </a:r>
          </a:p>
        </p:txBody>
      </p:sp>
      <p:sp>
        <p:nvSpPr>
          <p:cNvPr id="12" name="SES grid 1-2"/>
          <p:cNvSpPr/>
          <p:nvPr/>
        </p:nvSpPr>
        <p:spPr>
          <a:xfrm>
            <a:off x="1188720" y="1234440"/>
            <a:ext cx="106984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S grid text 1-2"/>
          <p:cNvSpPr txBox="1"/>
          <p:nvPr/>
        </p:nvSpPr>
        <p:spPr>
          <a:xfrm>
            <a:off x="1280160" y="1234440"/>
            <a:ext cx="88696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Contracts</a:t>
            </a:r>
          </a:p>
        </p:txBody>
      </p:sp>
      <p:sp>
        <p:nvSpPr>
          <p:cNvPr id="14" name="SES grid 1-3"/>
          <p:cNvSpPr/>
          <p:nvPr/>
        </p:nvSpPr>
        <p:spPr>
          <a:xfrm>
            <a:off x="2286000" y="1234440"/>
            <a:ext cx="978408"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ES grid text 1-3"/>
          <p:cNvSpPr txBox="1"/>
          <p:nvPr/>
        </p:nvSpPr>
        <p:spPr>
          <a:xfrm>
            <a:off x="2377440" y="1234440"/>
            <a:ext cx="795528" cy="280416"/>
          </a:xfrm>
          <a:prstGeom prst="rect">
            <a:avLst/>
          </a:prstGeom>
          <a:noFill/>
        </p:spPr>
        <p:txBody>
          <a:bodyPr wrap="square" lIns="0" rIns="0" tIns="0" bIns="0" anchor="ctr">
            <a:noAutofit/>
          </a:bodyPr>
          <a:lstStyle/>
          <a:p>
            <a:pPr algn="r">
              <a:spcAft>
                <a:spcPts val="400"/>
              </a:spcAft>
            </a:pPr>
            <a:r>
              <a:rPr sz="1150" b="1" lang="en-GB">
                <a:solidFill>
                  <a:schemeClr val="bg1"/>
                </a:solidFill>
              </a:rPr>
              <a:t>Level</a:t>
            </a:r>
          </a:p>
        </p:txBody>
      </p:sp>
      <p:sp>
        <p:nvSpPr>
          <p:cNvPr id="16" name="SES grid 1-4"/>
          <p:cNvSpPr/>
          <p:nvPr/>
        </p:nvSpPr>
        <p:spPr>
          <a:xfrm>
            <a:off x="3291840" y="1234440"/>
            <a:ext cx="2194560" cy="2804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S grid text 1-4"/>
          <p:cNvSpPr txBox="1"/>
          <p:nvPr/>
        </p:nvSpPr>
        <p:spPr>
          <a:xfrm>
            <a:off x="3383280" y="1234440"/>
            <a:ext cx="1984248" cy="280416"/>
          </a:xfrm>
          <a:prstGeom prst="rect">
            <a:avLst/>
          </a:prstGeom>
          <a:noFill/>
        </p:spPr>
        <p:txBody>
          <a:bodyPr wrap="square" lIns="0" rIns="0" tIns="0" bIns="0" anchor="ctr">
            <a:noAutofit/>
          </a:bodyPr>
          <a:lstStyle/>
          <a:p>
            <a:pPr algn="l">
              <a:spcAft>
                <a:spcPts val="400"/>
              </a:spcAft>
            </a:pPr>
            <a:r>
              <a:rPr sz="1150" b="1" lang="en-GB">
                <a:solidFill>
                  <a:schemeClr val="bg1"/>
                </a:solidFill>
              </a:rPr>
              <a:t>Calculation (α 0.5)</a:t>
            </a:r>
          </a:p>
        </p:txBody>
      </p:sp>
      <p:sp>
        <p:nvSpPr>
          <p:cNvPr id="18" name="SES grid 2-1"/>
          <p:cNvSpPr/>
          <p:nvPr/>
        </p:nvSpPr>
        <p:spPr>
          <a:xfrm>
            <a:off x="457200" y="154228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S grid text 2-1"/>
          <p:cNvSpPr txBox="1"/>
          <p:nvPr/>
        </p:nvSpPr>
        <p:spPr>
          <a:xfrm>
            <a:off x="548640" y="154228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1</a:t>
            </a:r>
          </a:p>
        </p:txBody>
      </p:sp>
      <p:sp>
        <p:nvSpPr>
          <p:cNvPr id="20" name="SES grid 2-2"/>
          <p:cNvSpPr/>
          <p:nvPr/>
        </p:nvSpPr>
        <p:spPr>
          <a:xfrm>
            <a:off x="1188720" y="1542288"/>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S grid text 2-2"/>
          <p:cNvSpPr txBox="1"/>
          <p:nvPr/>
        </p:nvSpPr>
        <p:spPr>
          <a:xfrm>
            <a:off x="1280160" y="1542288"/>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22" name="SES grid 2-3"/>
          <p:cNvSpPr/>
          <p:nvPr/>
        </p:nvSpPr>
        <p:spPr>
          <a:xfrm>
            <a:off x="2286000" y="1542288"/>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S grid text 2-3"/>
          <p:cNvSpPr txBox="1"/>
          <p:nvPr/>
        </p:nvSpPr>
        <p:spPr>
          <a:xfrm>
            <a:off x="2377440" y="1542288"/>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24" name="SES grid 2-4"/>
          <p:cNvSpPr/>
          <p:nvPr/>
        </p:nvSpPr>
        <p:spPr>
          <a:xfrm>
            <a:off x="3291840" y="1542288"/>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S grid text 2-4"/>
          <p:cNvSpPr txBox="1"/>
          <p:nvPr/>
        </p:nvSpPr>
        <p:spPr>
          <a:xfrm>
            <a:off x="3383280" y="1542288"/>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start: the first value</a:t>
            </a:r>
          </a:p>
        </p:txBody>
      </p:sp>
      <p:sp>
        <p:nvSpPr>
          <p:cNvPr id="26" name="SES grid 3-1"/>
          <p:cNvSpPr/>
          <p:nvPr/>
        </p:nvSpPr>
        <p:spPr>
          <a:xfrm>
            <a:off x="457200" y="185013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S grid text 3-1"/>
          <p:cNvSpPr txBox="1"/>
          <p:nvPr/>
        </p:nvSpPr>
        <p:spPr>
          <a:xfrm>
            <a:off x="548640" y="185013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2</a:t>
            </a:r>
          </a:p>
        </p:txBody>
      </p:sp>
      <p:sp>
        <p:nvSpPr>
          <p:cNvPr id="28" name="SES grid 3-2"/>
          <p:cNvSpPr/>
          <p:nvPr/>
        </p:nvSpPr>
        <p:spPr>
          <a:xfrm>
            <a:off x="1188720" y="1850136"/>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S grid text 3-2"/>
          <p:cNvSpPr txBox="1"/>
          <p:nvPr/>
        </p:nvSpPr>
        <p:spPr>
          <a:xfrm>
            <a:off x="1280160" y="1850136"/>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30" name="SES grid 3-3"/>
          <p:cNvSpPr/>
          <p:nvPr/>
        </p:nvSpPr>
        <p:spPr>
          <a:xfrm>
            <a:off x="2286000" y="1850136"/>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ES grid text 3-3"/>
          <p:cNvSpPr txBox="1"/>
          <p:nvPr/>
        </p:nvSpPr>
        <p:spPr>
          <a:xfrm>
            <a:off x="2377440" y="1850136"/>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32" name="SES grid 3-4"/>
          <p:cNvSpPr/>
          <p:nvPr/>
        </p:nvSpPr>
        <p:spPr>
          <a:xfrm>
            <a:off x="3291840" y="1850136"/>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ES grid text 3-4"/>
          <p:cNvSpPr txBox="1"/>
          <p:nvPr/>
        </p:nvSpPr>
        <p:spPr>
          <a:xfrm>
            <a:off x="3383280" y="1850136"/>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44 + 0.5 × 40</a:t>
            </a:r>
          </a:p>
        </p:txBody>
      </p:sp>
      <p:sp>
        <p:nvSpPr>
          <p:cNvPr id="34" name="SES grid 4-1"/>
          <p:cNvSpPr/>
          <p:nvPr/>
        </p:nvSpPr>
        <p:spPr>
          <a:xfrm>
            <a:off x="457200" y="215798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ES grid text 4-1"/>
          <p:cNvSpPr txBox="1"/>
          <p:nvPr/>
        </p:nvSpPr>
        <p:spPr>
          <a:xfrm>
            <a:off x="548640" y="215798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3</a:t>
            </a:r>
          </a:p>
        </p:txBody>
      </p:sp>
      <p:sp>
        <p:nvSpPr>
          <p:cNvPr id="36" name="SES grid 4-2"/>
          <p:cNvSpPr/>
          <p:nvPr/>
        </p:nvSpPr>
        <p:spPr>
          <a:xfrm>
            <a:off x="1188720" y="2157984"/>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ES grid text 4-2"/>
          <p:cNvSpPr txBox="1"/>
          <p:nvPr/>
        </p:nvSpPr>
        <p:spPr>
          <a:xfrm>
            <a:off x="1280160" y="2157984"/>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38" name="SES grid 4-3"/>
          <p:cNvSpPr/>
          <p:nvPr/>
        </p:nvSpPr>
        <p:spPr>
          <a:xfrm>
            <a:off x="2286000" y="2157984"/>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ES grid text 4-3"/>
          <p:cNvSpPr txBox="1"/>
          <p:nvPr/>
        </p:nvSpPr>
        <p:spPr>
          <a:xfrm>
            <a:off x="2377440" y="2157984"/>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40" name="SES grid 4-4"/>
          <p:cNvSpPr/>
          <p:nvPr/>
        </p:nvSpPr>
        <p:spPr>
          <a:xfrm>
            <a:off x="3291840" y="2157984"/>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ES grid text 4-4"/>
          <p:cNvSpPr txBox="1"/>
          <p:nvPr/>
        </p:nvSpPr>
        <p:spPr>
          <a:xfrm>
            <a:off x="3383280" y="2157984"/>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42 + 0.5 × 42</a:t>
            </a:r>
          </a:p>
        </p:txBody>
      </p:sp>
      <p:sp>
        <p:nvSpPr>
          <p:cNvPr id="42" name="SES grid 5-1"/>
          <p:cNvSpPr/>
          <p:nvPr/>
        </p:nvSpPr>
        <p:spPr>
          <a:xfrm>
            <a:off x="457200" y="2465832"/>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ES grid text 5-1"/>
          <p:cNvSpPr txBox="1"/>
          <p:nvPr/>
        </p:nvSpPr>
        <p:spPr>
          <a:xfrm>
            <a:off x="548640" y="2465832"/>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4</a:t>
            </a:r>
          </a:p>
        </p:txBody>
      </p:sp>
      <p:sp>
        <p:nvSpPr>
          <p:cNvPr id="44" name="SES grid 5-2"/>
          <p:cNvSpPr/>
          <p:nvPr/>
        </p:nvSpPr>
        <p:spPr>
          <a:xfrm>
            <a:off x="1188720" y="2465832"/>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ES grid text 5-2"/>
          <p:cNvSpPr txBox="1"/>
          <p:nvPr/>
        </p:nvSpPr>
        <p:spPr>
          <a:xfrm>
            <a:off x="1280160" y="2465832"/>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46" name="SES grid 5-3"/>
          <p:cNvSpPr/>
          <p:nvPr/>
        </p:nvSpPr>
        <p:spPr>
          <a:xfrm>
            <a:off x="2286000" y="2465832"/>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ES grid text 5-3"/>
          <p:cNvSpPr txBox="1"/>
          <p:nvPr/>
        </p:nvSpPr>
        <p:spPr>
          <a:xfrm>
            <a:off x="2377440" y="2465832"/>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48" name="SES grid 5-4"/>
          <p:cNvSpPr/>
          <p:nvPr/>
        </p:nvSpPr>
        <p:spPr>
          <a:xfrm>
            <a:off x="3291840" y="2465832"/>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ES grid text 5-4"/>
          <p:cNvSpPr txBox="1"/>
          <p:nvPr/>
        </p:nvSpPr>
        <p:spPr>
          <a:xfrm>
            <a:off x="3383280" y="2465832"/>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46 + 0.5 × 42</a:t>
            </a:r>
          </a:p>
        </p:txBody>
      </p:sp>
      <p:sp>
        <p:nvSpPr>
          <p:cNvPr id="50" name="SES grid 6-1"/>
          <p:cNvSpPr/>
          <p:nvPr/>
        </p:nvSpPr>
        <p:spPr>
          <a:xfrm>
            <a:off x="457200" y="2773680"/>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ES grid text 6-1"/>
          <p:cNvSpPr txBox="1"/>
          <p:nvPr/>
        </p:nvSpPr>
        <p:spPr>
          <a:xfrm>
            <a:off x="548640" y="2773680"/>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5</a:t>
            </a:r>
          </a:p>
        </p:txBody>
      </p:sp>
      <p:sp>
        <p:nvSpPr>
          <p:cNvPr id="52" name="SES grid 6-2"/>
          <p:cNvSpPr/>
          <p:nvPr/>
        </p:nvSpPr>
        <p:spPr>
          <a:xfrm>
            <a:off x="1188720" y="2773680"/>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ES grid text 6-2"/>
          <p:cNvSpPr txBox="1"/>
          <p:nvPr/>
        </p:nvSpPr>
        <p:spPr>
          <a:xfrm>
            <a:off x="1280160" y="2773680"/>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54" name="SES grid 6-3"/>
          <p:cNvSpPr/>
          <p:nvPr/>
        </p:nvSpPr>
        <p:spPr>
          <a:xfrm>
            <a:off x="2286000" y="2773680"/>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ES grid text 6-3"/>
          <p:cNvSpPr txBox="1"/>
          <p:nvPr/>
        </p:nvSpPr>
        <p:spPr>
          <a:xfrm>
            <a:off x="2377440" y="2773680"/>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47</a:t>
            </a:r>
          </a:p>
        </p:txBody>
      </p:sp>
      <p:sp>
        <p:nvSpPr>
          <p:cNvPr id="56" name="SES grid 6-4"/>
          <p:cNvSpPr/>
          <p:nvPr/>
        </p:nvSpPr>
        <p:spPr>
          <a:xfrm>
            <a:off x="3291840" y="2773680"/>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ES grid text 6-4"/>
          <p:cNvSpPr txBox="1"/>
          <p:nvPr/>
        </p:nvSpPr>
        <p:spPr>
          <a:xfrm>
            <a:off x="3383280" y="2773680"/>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50 + 0.5 × 44</a:t>
            </a:r>
          </a:p>
        </p:txBody>
      </p:sp>
      <p:sp>
        <p:nvSpPr>
          <p:cNvPr id="58" name="SES grid 7-1"/>
          <p:cNvSpPr/>
          <p:nvPr/>
        </p:nvSpPr>
        <p:spPr>
          <a:xfrm>
            <a:off x="457200" y="3081528"/>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S grid text 7-1"/>
          <p:cNvSpPr txBox="1"/>
          <p:nvPr/>
        </p:nvSpPr>
        <p:spPr>
          <a:xfrm>
            <a:off x="548640" y="3081528"/>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6</a:t>
            </a:r>
          </a:p>
        </p:txBody>
      </p:sp>
      <p:sp>
        <p:nvSpPr>
          <p:cNvPr id="60" name="SES grid 7-2"/>
          <p:cNvSpPr/>
          <p:nvPr/>
        </p:nvSpPr>
        <p:spPr>
          <a:xfrm>
            <a:off x="1188720" y="3081528"/>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S grid text 7-2"/>
          <p:cNvSpPr txBox="1"/>
          <p:nvPr/>
        </p:nvSpPr>
        <p:spPr>
          <a:xfrm>
            <a:off x="1280160" y="3081528"/>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49</a:t>
            </a:r>
          </a:p>
        </p:txBody>
      </p:sp>
      <p:sp>
        <p:nvSpPr>
          <p:cNvPr id="62" name="SES grid 7-3"/>
          <p:cNvSpPr/>
          <p:nvPr/>
        </p:nvSpPr>
        <p:spPr>
          <a:xfrm>
            <a:off x="2286000" y="3081528"/>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S grid text 7-3"/>
          <p:cNvSpPr txBox="1"/>
          <p:nvPr/>
        </p:nvSpPr>
        <p:spPr>
          <a:xfrm>
            <a:off x="2377440" y="3081528"/>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48</a:t>
            </a:r>
          </a:p>
        </p:txBody>
      </p:sp>
      <p:sp>
        <p:nvSpPr>
          <p:cNvPr id="64" name="SES grid 7-4"/>
          <p:cNvSpPr/>
          <p:nvPr/>
        </p:nvSpPr>
        <p:spPr>
          <a:xfrm>
            <a:off x="3291840" y="3081528"/>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S grid text 7-4"/>
          <p:cNvSpPr txBox="1"/>
          <p:nvPr/>
        </p:nvSpPr>
        <p:spPr>
          <a:xfrm>
            <a:off x="3383280" y="3081528"/>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49 + 0.5 × 47</a:t>
            </a:r>
          </a:p>
        </p:txBody>
      </p:sp>
      <p:sp>
        <p:nvSpPr>
          <p:cNvPr id="66" name="SES grid 8-1"/>
          <p:cNvSpPr/>
          <p:nvPr/>
        </p:nvSpPr>
        <p:spPr>
          <a:xfrm>
            <a:off x="457200" y="3389376"/>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S grid text 8-1"/>
          <p:cNvSpPr txBox="1"/>
          <p:nvPr/>
        </p:nvSpPr>
        <p:spPr>
          <a:xfrm>
            <a:off x="548640" y="3389376"/>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7</a:t>
            </a:r>
          </a:p>
        </p:txBody>
      </p:sp>
      <p:sp>
        <p:nvSpPr>
          <p:cNvPr id="68" name="SES grid 8-2"/>
          <p:cNvSpPr/>
          <p:nvPr/>
        </p:nvSpPr>
        <p:spPr>
          <a:xfrm>
            <a:off x="1188720" y="3389376"/>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S grid text 8-2"/>
          <p:cNvSpPr txBox="1"/>
          <p:nvPr/>
        </p:nvSpPr>
        <p:spPr>
          <a:xfrm>
            <a:off x="1280160" y="3389376"/>
            <a:ext cx="88696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53</a:t>
            </a:r>
          </a:p>
        </p:txBody>
      </p:sp>
      <p:sp>
        <p:nvSpPr>
          <p:cNvPr id="70" name="SES grid 8-3"/>
          <p:cNvSpPr/>
          <p:nvPr/>
        </p:nvSpPr>
        <p:spPr>
          <a:xfrm>
            <a:off x="2286000" y="3389376"/>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SES grid text 8-3"/>
          <p:cNvSpPr txBox="1"/>
          <p:nvPr/>
        </p:nvSpPr>
        <p:spPr>
          <a:xfrm>
            <a:off x="2377440" y="3389376"/>
            <a:ext cx="795528" cy="280416"/>
          </a:xfrm>
          <a:prstGeom prst="rect">
            <a:avLst/>
          </a:prstGeom>
          <a:noFill/>
        </p:spPr>
        <p:txBody>
          <a:bodyPr wrap="square" lIns="0" rIns="0" tIns="0" bIns="0" anchor="ctr">
            <a:noAutofit/>
          </a:bodyPr>
          <a:lstStyle/>
          <a:p>
            <a:pPr algn="r">
              <a:spcAft>
                <a:spcPts val="400"/>
              </a:spcAft>
            </a:pPr>
            <a:r>
              <a:rPr sz="1150" b="0" lang="en-GB">
                <a:solidFill>
                  <a:schemeClr val="tx1"/>
                </a:solidFill>
              </a:rPr>
              <a:t>50.5</a:t>
            </a:r>
          </a:p>
        </p:txBody>
      </p:sp>
      <p:sp>
        <p:nvSpPr>
          <p:cNvPr id="72" name="SES grid 8-4"/>
          <p:cNvSpPr/>
          <p:nvPr/>
        </p:nvSpPr>
        <p:spPr>
          <a:xfrm>
            <a:off x="3291840" y="3389376"/>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SES grid text 8-4"/>
          <p:cNvSpPr txBox="1"/>
          <p:nvPr/>
        </p:nvSpPr>
        <p:spPr>
          <a:xfrm>
            <a:off x="3383280" y="3389376"/>
            <a:ext cx="1984248" cy="280416"/>
          </a:xfrm>
          <a:prstGeom prst="rect">
            <a:avLst/>
          </a:prstGeom>
          <a:noFill/>
        </p:spPr>
        <p:txBody>
          <a:bodyPr wrap="square" lIns="0" rIns="0" tIns="0" bIns="0" anchor="ctr">
            <a:noAutofit/>
          </a:bodyPr>
          <a:lstStyle/>
          <a:p>
            <a:pPr algn="l">
              <a:spcAft>
                <a:spcPts val="400"/>
              </a:spcAft>
            </a:pPr>
            <a:r>
              <a:rPr sz="1150" b="0" lang="en-GB">
                <a:solidFill>
                  <a:schemeClr val="tx1"/>
                </a:solidFill>
              </a:rPr>
              <a:t>0.5 × 53 + 0.5 × 48</a:t>
            </a:r>
          </a:p>
        </p:txBody>
      </p:sp>
      <p:sp>
        <p:nvSpPr>
          <p:cNvPr id="74" name="SES grid 9-1"/>
          <p:cNvSpPr/>
          <p:nvPr/>
        </p:nvSpPr>
        <p:spPr>
          <a:xfrm>
            <a:off x="457200" y="3697224"/>
            <a:ext cx="70408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SES grid text 9-1"/>
          <p:cNvSpPr txBox="1"/>
          <p:nvPr/>
        </p:nvSpPr>
        <p:spPr>
          <a:xfrm>
            <a:off x="548640" y="3697224"/>
            <a:ext cx="52120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8</a:t>
            </a:r>
          </a:p>
        </p:txBody>
      </p:sp>
      <p:sp>
        <p:nvSpPr>
          <p:cNvPr id="76" name="SES grid 9-2"/>
          <p:cNvSpPr/>
          <p:nvPr/>
        </p:nvSpPr>
        <p:spPr>
          <a:xfrm>
            <a:off x="1188720" y="3697224"/>
            <a:ext cx="106984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S grid text 9-2"/>
          <p:cNvSpPr txBox="1"/>
          <p:nvPr/>
        </p:nvSpPr>
        <p:spPr>
          <a:xfrm>
            <a:off x="1280160" y="3697224"/>
            <a:ext cx="886968" cy="280416"/>
          </a:xfrm>
          <a:prstGeom prst="rect">
            <a:avLst/>
          </a:prstGeom>
          <a:noFill/>
        </p:spPr>
        <p:txBody>
          <a:bodyPr wrap="square" lIns="0" rIns="0" tIns="0" bIns="0" anchor="ctr">
            <a:noAutofit/>
          </a:bodyPr>
          <a:lstStyle/>
          <a:p>
            <a:pPr algn="r">
              <a:spcAft>
                <a:spcPts val="400"/>
              </a:spcAft>
            </a:pPr>
            <a:r>
              <a:rPr sz="1150" b="1" lang="en-GB">
                <a:solidFill>
                  <a:schemeClr val="tx2"/>
                </a:solidFill>
              </a:rPr>
              <a:t>54</a:t>
            </a:r>
          </a:p>
        </p:txBody>
      </p:sp>
      <p:sp>
        <p:nvSpPr>
          <p:cNvPr id="78" name="SES grid 9-3"/>
          <p:cNvSpPr/>
          <p:nvPr/>
        </p:nvSpPr>
        <p:spPr>
          <a:xfrm>
            <a:off x="2286000" y="3697224"/>
            <a:ext cx="978408"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SES grid text 9-3"/>
          <p:cNvSpPr txBox="1"/>
          <p:nvPr/>
        </p:nvSpPr>
        <p:spPr>
          <a:xfrm>
            <a:off x="2377440" y="3697224"/>
            <a:ext cx="795528" cy="280416"/>
          </a:xfrm>
          <a:prstGeom prst="rect">
            <a:avLst/>
          </a:prstGeom>
          <a:noFill/>
        </p:spPr>
        <p:txBody>
          <a:bodyPr wrap="square" lIns="0" rIns="0" tIns="0" bIns="0" anchor="ctr">
            <a:noAutofit/>
          </a:bodyPr>
          <a:lstStyle/>
          <a:p>
            <a:pPr algn="r">
              <a:spcAft>
                <a:spcPts val="400"/>
              </a:spcAft>
            </a:pPr>
            <a:r>
              <a:rPr sz="1150" b="1" lang="en-GB">
                <a:solidFill>
                  <a:schemeClr val="tx2"/>
                </a:solidFill>
              </a:rPr>
              <a:t>52.25</a:t>
            </a:r>
          </a:p>
        </p:txBody>
      </p:sp>
      <p:sp>
        <p:nvSpPr>
          <p:cNvPr id="80" name="SES grid 9-4"/>
          <p:cNvSpPr/>
          <p:nvPr/>
        </p:nvSpPr>
        <p:spPr>
          <a:xfrm>
            <a:off x="3291840" y="3697224"/>
            <a:ext cx="2194560" cy="2804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SES grid text 9-4"/>
          <p:cNvSpPr txBox="1"/>
          <p:nvPr/>
        </p:nvSpPr>
        <p:spPr>
          <a:xfrm>
            <a:off x="3383280" y="3697224"/>
            <a:ext cx="1984248" cy="280416"/>
          </a:xfrm>
          <a:prstGeom prst="rect">
            <a:avLst/>
          </a:prstGeom>
          <a:noFill/>
        </p:spPr>
        <p:txBody>
          <a:bodyPr wrap="square" lIns="0" rIns="0" tIns="0" bIns="0" anchor="ctr">
            <a:noAutofit/>
          </a:bodyPr>
          <a:lstStyle/>
          <a:p>
            <a:pPr algn="l">
              <a:spcAft>
                <a:spcPts val="400"/>
              </a:spcAft>
            </a:pPr>
            <a:r>
              <a:rPr sz="1150" b="1" lang="en-GB">
                <a:solidFill>
                  <a:schemeClr val="tx2"/>
                </a:solidFill>
              </a:rPr>
              <a:t>0.5 × 54 + 0.5 × 50.5</a:t>
            </a:r>
          </a:p>
        </p:txBody>
      </p:sp>
      <p:sp>
        <p:nvSpPr>
          <p:cNvPr id="82" name="SES rule caption bar"/>
          <p:cNvSpPr/>
          <p:nvPr/>
        </p:nvSpPr>
        <p:spPr>
          <a:xfrm>
            <a:off x="5623560" y="1234440"/>
            <a:ext cx="30632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SES rule caption"/>
          <p:cNvSpPr txBox="1"/>
          <p:nvPr/>
        </p:nvSpPr>
        <p:spPr>
          <a:xfrm>
            <a:off x="5733288" y="1234440"/>
            <a:ext cx="28437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Rule</a:t>
            </a:r>
          </a:p>
        </p:txBody>
      </p:sp>
      <p:sp>
        <p:nvSpPr>
          <p:cNvPr id="84" name="SES rule box"/>
          <p:cNvSpPr/>
          <p:nvPr/>
        </p:nvSpPr>
        <p:spPr>
          <a:xfrm>
            <a:off x="5623560" y="1508760"/>
            <a:ext cx="3063240"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SES rule code"/>
          <p:cNvSpPr txBox="1"/>
          <p:nvPr/>
        </p:nvSpPr>
        <p:spPr>
          <a:xfrm>
            <a:off x="5760720" y="1600200"/>
            <a:ext cx="2788920" cy="50292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new level = α × value</a:t>
            </a:r>
          </a:p>
          <a:p>
            <a:pPr algn="l">
              <a:spcAft>
                <a:spcPts val="0"/>
              </a:spcAft>
            </a:pPr>
            <a:r>
              <a:rPr sz="1100" b="0" lang="en-GB">
                <a:solidFill>
                  <a:schemeClr val="bg1"/>
                </a:solidFill>
                <a:latin typeface="Consolas"/>
              </a:rPr>
              <a:t>          + (1 − α) × old level</a:t>
            </a:r>
          </a:p>
          <a:p>
            <a:pPr algn="l">
              <a:spcAft>
                <a:spcPts val="0"/>
              </a:spcAft>
            </a:pPr>
            <a:r>
              <a:rPr sz="1100" b="0" lang="en-GB">
                <a:solidFill>
                  <a:schemeClr val="bg1"/>
                </a:solidFill>
                <a:latin typeface="Consolas"/>
              </a:rPr>
              <a:t>forecast = last level</a:t>
            </a:r>
          </a:p>
        </p:txBody>
      </p:sp>
      <p:sp>
        <p:nvSpPr>
          <p:cNvPr id="86" name="SES stat box"/>
          <p:cNvSpPr/>
          <p:nvPr/>
        </p:nvSpPr>
        <p:spPr>
          <a:xfrm>
            <a:off x="5623560" y="2331720"/>
            <a:ext cx="3063240" cy="7543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SES stat bar"/>
          <p:cNvSpPr/>
          <p:nvPr/>
        </p:nvSpPr>
        <p:spPr>
          <a:xfrm>
            <a:off x="5623560" y="2331720"/>
            <a:ext cx="64008" cy="7543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8" name="SES stat figure"/>
          <p:cNvSpPr txBox="1"/>
          <p:nvPr/>
        </p:nvSpPr>
        <p:spPr>
          <a:xfrm>
            <a:off x="5806440" y="2331720"/>
            <a:ext cx="1325880" cy="7543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52.25</a:t>
            </a:r>
          </a:p>
        </p:txBody>
      </p:sp>
      <p:sp>
        <p:nvSpPr>
          <p:cNvPr id="89" name="SES stat label"/>
          <p:cNvSpPr txBox="1"/>
          <p:nvPr/>
        </p:nvSpPr>
        <p:spPr>
          <a:xfrm>
            <a:off x="7132320" y="2331720"/>
            <a:ext cx="1463040" cy="754380"/>
          </a:xfrm>
          <a:prstGeom prst="rect">
            <a:avLst/>
          </a:prstGeom>
          <a:noFill/>
        </p:spPr>
        <p:txBody>
          <a:bodyPr wrap="square" lIns="0" rIns="0" tIns="0" bIns="0" anchor="ctr">
            <a:noAutofit/>
          </a:bodyPr>
          <a:lstStyle/>
          <a:p>
            <a:pPr algn="l">
              <a:spcAft>
                <a:spcPts val="200"/>
              </a:spcAft>
            </a:pPr>
            <a:r>
              <a:rPr sz="1200" b="1" lang="en-GB">
                <a:solidFill>
                  <a:schemeClr val="tx2"/>
                </a:solidFill>
              </a:rPr>
              <a:t>forecast</a:t>
            </a:r>
            <a:r>
              <a:rPr sz="1200" b="0" lang="en-GB">
                <a:solidFill>
                  <a:schemeClr val="tx1"/>
                </a:solidFill>
              </a:rPr>
              <a:t/>
            </a:r>
          </a:p>
          <a:p>
            <a:pPr algn="l">
              <a:spcAft>
                <a:spcPts val="200"/>
              </a:spcAft>
            </a:pPr>
            <a:r>
              <a:rPr sz="1200" b="0" lang="en-GB">
                <a:solidFill>
                  <a:schemeClr val="tx1"/>
                </a:solidFill>
              </a:rPr>
              <a:t>for week 9 (α 0.5)</a:t>
            </a:r>
          </a:p>
        </p:txBody>
      </p:sp>
      <p:sp>
        <p:nvSpPr>
          <p:cNvPr id="90" name="SES alpha stat box"/>
          <p:cNvSpPr/>
          <p:nvPr/>
        </p:nvSpPr>
        <p:spPr>
          <a:xfrm>
            <a:off x="5623560" y="3223260"/>
            <a:ext cx="3063240" cy="7543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SES alpha stat bar"/>
          <p:cNvSpPr/>
          <p:nvPr/>
        </p:nvSpPr>
        <p:spPr>
          <a:xfrm>
            <a:off x="5623560" y="3223260"/>
            <a:ext cx="64008" cy="7543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2" name="SES alpha stat figure"/>
          <p:cNvSpPr txBox="1"/>
          <p:nvPr/>
        </p:nvSpPr>
        <p:spPr>
          <a:xfrm>
            <a:off x="5806440" y="3223260"/>
            <a:ext cx="1325880" cy="7543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47.89</a:t>
            </a:r>
          </a:p>
        </p:txBody>
      </p:sp>
      <p:sp>
        <p:nvSpPr>
          <p:cNvPr id="93" name="SES alpha stat label"/>
          <p:cNvSpPr txBox="1"/>
          <p:nvPr/>
        </p:nvSpPr>
        <p:spPr>
          <a:xfrm>
            <a:off x="7132320" y="3223260"/>
            <a:ext cx="1463040" cy="754380"/>
          </a:xfrm>
          <a:prstGeom prst="rect">
            <a:avLst/>
          </a:prstGeom>
          <a:noFill/>
        </p:spPr>
        <p:txBody>
          <a:bodyPr wrap="square" lIns="0" rIns="0" tIns="0" bIns="0" anchor="ctr">
            <a:noAutofit/>
          </a:bodyPr>
          <a:lstStyle/>
          <a:p>
            <a:pPr algn="l">
              <a:spcAft>
                <a:spcPts val="200"/>
              </a:spcAft>
            </a:pPr>
            <a:r>
              <a:rPr sz="1200" b="1" lang="en-GB">
                <a:solidFill>
                  <a:schemeClr val="tx2"/>
                </a:solidFill>
              </a:rPr>
              <a:t>α 0.2:</a:t>
            </a:r>
            <a:r>
              <a:rPr sz="1200" b="0" lang="en-GB">
                <a:solidFill>
                  <a:schemeClr val="tx1"/>
                </a:solidFill>
              </a:rPr>
              <a:t> slower</a:t>
            </a:r>
          </a:p>
          <a:p>
            <a:pPr algn="l">
              <a:spcAft>
                <a:spcPts val="200"/>
              </a:spcAft>
            </a:pPr>
            <a:r>
              <a:rPr sz="1200" b="0" lang="en-GB">
                <a:solidFill>
                  <a:schemeClr val="tx1"/>
                </a:solidFill>
              </a:rPr>
              <a:t>α 1 = naive (54)</a:t>
            </a:r>
          </a:p>
        </p:txBody>
      </p:sp>
      <p:sp>
        <p:nvSpPr>
          <p:cNvPr id="94" name="SES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SES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Recent weeks count most: </a:t>
            </a:r>
            <a:r>
              <a:rPr sz="1200" b="0" lang="en-GB">
                <a:solidFill>
                  <a:schemeClr val="bg1"/>
                </a:solidFill>
              </a:rPr>
              <a:t>α near 1 follows the data fast, α near 0 averages.</a:t>
            </a:r>
          </a:p>
        </p:txBody>
      </p:sp>
      <p:sp>
        <p:nvSpPr>
          <p:cNvPr id="96"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Regression on time: the trend line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1_trend.png" descr="New contracts per week, weeks 1 to 8 (40, 44, 42, 46, 50, 49, 53, 54), with the fitted trend line 38.25 + 2 × week as a blue dashed line, grey residuals from each week to the line, and the forecast 56.25 for week 9."/>
          <p:cNvPicPr>
            <a:picLocks noChangeAspect="1"/>
          </p:cNvPicPr>
          <p:nvPr/>
        </p:nvPicPr>
        <p:blipFill>
          <a:blip r:embed="rId3"/>
          <a:stretch>
            <a:fillRect/>
          </a:stretch>
        </p:blipFill>
        <p:spPr>
          <a:xfrm>
            <a:off x="457200" y="1234440"/>
            <a:ext cx="4754880" cy="2788920"/>
          </a:xfrm>
          <a:prstGeom prst="rect">
            <a:avLst/>
          </a:prstGeom>
        </p:spPr>
      </p:pic>
      <p:sp>
        <p:nvSpPr>
          <p:cNvPr id="11" name="Trend formula caption bar"/>
          <p:cNvSpPr/>
          <p:nvPr/>
        </p:nvSpPr>
        <p:spPr>
          <a:xfrm>
            <a:off x="5349240" y="1234440"/>
            <a:ext cx="333756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rend formula caption"/>
          <p:cNvSpPr txBox="1"/>
          <p:nvPr/>
        </p:nvSpPr>
        <p:spPr>
          <a:xfrm>
            <a:off x="5458968" y="1234440"/>
            <a:ext cx="311810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By hand</a:t>
            </a:r>
          </a:p>
        </p:txBody>
      </p:sp>
      <p:sp>
        <p:nvSpPr>
          <p:cNvPr id="13" name="Trend formula box"/>
          <p:cNvSpPr/>
          <p:nvPr/>
        </p:nvSpPr>
        <p:spPr>
          <a:xfrm>
            <a:off x="5349240" y="1508760"/>
            <a:ext cx="3337560" cy="123444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rend formula code"/>
          <p:cNvSpPr txBox="1"/>
          <p:nvPr/>
        </p:nvSpPr>
        <p:spPr>
          <a:xfrm>
            <a:off x="5486400" y="1600200"/>
            <a:ext cx="3063240" cy="1051560"/>
          </a:xfrm>
          <a:prstGeom prst="rect">
            <a:avLst/>
          </a:prstGeom>
          <a:noFill/>
        </p:spPr>
        <p:txBody>
          <a:bodyPr wrap="square" lIns="0" rIns="0" tIns="0" bIns="0" anchor="t">
            <a:noAutofit/>
          </a:bodyPr>
          <a:lstStyle/>
          <a:p>
            <a:pPr algn="l">
              <a:spcAft>
                <a:spcPts val="0"/>
              </a:spcAft>
            </a:pPr>
            <a:r>
              <a:rPr sz="1100" b="0" lang="en-GB">
                <a:solidFill>
                  <a:schemeClr val="bg1"/>
                </a:solidFill>
                <a:latin typeface="Consolas"/>
              </a:rPr>
              <a:t>t̄ = 4.5   ȳ = 47.25</a:t>
            </a:r>
          </a:p>
          <a:p>
            <a:pPr algn="l">
              <a:spcAft>
                <a:spcPts val="0"/>
              </a:spcAft>
            </a:pPr>
            <a:r>
              <a:rPr sz="1100" b="0" lang="en-GB">
                <a:solidFill>
                  <a:schemeClr val="bg1"/>
                </a:solidFill>
                <a:latin typeface="Consolas"/>
              </a:rPr>
              <a:t>b1 = Σ(t − t̄)(y − ȳ) / Σ(t − t̄)²</a:t>
            </a:r>
          </a:p>
          <a:p>
            <a:pPr algn="l">
              <a:spcAft>
                <a:spcPts val="0"/>
              </a:spcAft>
            </a:pPr>
            <a:r>
              <a:rPr sz="1100" b="0" lang="en-GB">
                <a:solidFill>
                  <a:schemeClr val="bg1"/>
                </a:solidFill>
                <a:latin typeface="Consolas"/>
              </a:rPr>
              <a:t>   = 84 / 42 = 2</a:t>
            </a:r>
          </a:p>
          <a:p>
            <a:pPr algn="l">
              <a:spcAft>
                <a:spcPts val="0"/>
              </a:spcAft>
            </a:pPr>
            <a:r>
              <a:rPr sz="1100" b="0" lang="en-GB">
                <a:solidFill>
                  <a:schemeClr val="bg1"/>
                </a:solidFill>
                <a:latin typeface="Consolas"/>
              </a:rPr>
              <a:t>b0 = ȳ − b1 × t̄</a:t>
            </a:r>
          </a:p>
          <a:p>
            <a:pPr algn="l">
              <a:spcAft>
                <a:spcPts val="0"/>
              </a:spcAft>
            </a:pPr>
            <a:r>
              <a:rPr sz="1100" b="0" lang="en-GB">
                <a:solidFill>
                  <a:schemeClr val="bg1"/>
                </a:solidFill>
                <a:latin typeface="Consolas"/>
              </a:rPr>
              <a:t>   = 47.25 − 2 × 4.5 = 38.25</a:t>
            </a:r>
          </a:p>
          <a:p>
            <a:pPr algn="l">
              <a:spcAft>
                <a:spcPts val="0"/>
              </a:spcAft>
            </a:pPr>
            <a:r>
              <a:rPr sz="1100" b="0" lang="en-GB">
                <a:solidFill>
                  <a:schemeClr val="bg1"/>
                </a:solidFill>
                <a:latin typeface="Consolas"/>
              </a:rPr>
              <a:t>week 9: 38.25 + 2 × 9 = 56.25</a:t>
            </a:r>
          </a:p>
        </p:txBody>
      </p:sp>
      <p:sp>
        <p:nvSpPr>
          <p:cNvPr id="15" name="R2 stat box"/>
          <p:cNvSpPr/>
          <p:nvPr/>
        </p:nvSpPr>
        <p:spPr>
          <a:xfrm>
            <a:off x="5349240" y="2880360"/>
            <a:ext cx="3337560" cy="1097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2 stat bar"/>
          <p:cNvSpPr/>
          <p:nvPr/>
        </p:nvSpPr>
        <p:spPr>
          <a:xfrm>
            <a:off x="5349240" y="2880360"/>
            <a:ext cx="64008" cy="10972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2 stat figure"/>
          <p:cNvSpPr txBox="1"/>
          <p:nvPr/>
        </p:nvSpPr>
        <p:spPr>
          <a:xfrm>
            <a:off x="5532120" y="2880360"/>
            <a:ext cx="1325880" cy="109728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0.926</a:t>
            </a:r>
          </a:p>
        </p:txBody>
      </p:sp>
      <p:sp>
        <p:nvSpPr>
          <p:cNvPr id="18" name="R2 stat label"/>
          <p:cNvSpPr txBox="1"/>
          <p:nvPr/>
        </p:nvSpPr>
        <p:spPr>
          <a:xfrm>
            <a:off x="6858000" y="2880360"/>
            <a:ext cx="1737360" cy="1097280"/>
          </a:xfrm>
          <a:prstGeom prst="rect">
            <a:avLst/>
          </a:prstGeom>
          <a:noFill/>
        </p:spPr>
        <p:txBody>
          <a:bodyPr wrap="square" lIns="0" rIns="0" tIns="0" bIns="0" anchor="ctr">
            <a:noAutofit/>
          </a:bodyPr>
          <a:lstStyle/>
          <a:p>
            <a:pPr algn="l">
              <a:spcAft>
                <a:spcPts val="200"/>
              </a:spcAft>
            </a:pPr>
            <a:r>
              <a:rPr sz="1200" b="1" lang="en-GB">
                <a:solidFill>
                  <a:schemeClr val="tx2"/>
                </a:solidFill>
              </a:rPr>
              <a:t>R²</a:t>
            </a:r>
            <a:r>
              <a:rPr sz="1200" b="0" lang="en-GB">
                <a:solidFill>
                  <a:schemeClr val="tx1"/>
                </a:solidFill>
              </a:rPr>
              <a:t> = 1 − 13.5 / 181.5</a:t>
            </a:r>
          </a:p>
          <a:p>
            <a:pPr algn="l">
              <a:spcAft>
                <a:spcPts val="200"/>
              </a:spcAft>
            </a:pPr>
            <a:r>
              <a:rPr sz="1200" b="0" lang="en-GB">
                <a:solidFill>
                  <a:schemeClr val="tx1"/>
                </a:solidFill>
              </a:rPr>
              <a:t>the line fits well</a:t>
            </a:r>
          </a:p>
        </p:txBody>
      </p:sp>
      <p:sp>
        <p:nvSpPr>
          <p:cNvPr id="19" name="Trend callout box"/>
          <p:cNvSpPr/>
          <p:nvPr/>
        </p:nvSpPr>
        <p:spPr>
          <a:xfrm>
            <a:off x="457200" y="411480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rend callout text"/>
          <p:cNvSpPr txBox="1"/>
          <p:nvPr/>
        </p:nvSpPr>
        <p:spPr>
          <a:xfrm>
            <a:off x="658368" y="411480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The trend line uses every week: </a:t>
            </a:r>
            <a:r>
              <a:rPr sz="1200" b="0" lang="en-GB">
                <a:solidFill>
                  <a:schemeClr val="bg1"/>
                </a:solidFill>
              </a:rPr>
              <a:t>it assumes the trend goes on – and that the errors are independent (slide 32).</a:t>
            </a:r>
          </a:p>
        </p:txBody>
      </p:sp>
      <p:sp>
        <p:nvSpPr>
          <p:cNvPr id="21"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trend line by hand, week by week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rend grid 1-1"/>
          <p:cNvSpPr/>
          <p:nvPr/>
        </p:nvSpPr>
        <p:spPr>
          <a:xfrm>
            <a:off x="457200" y="1234440"/>
            <a:ext cx="84124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rend grid text 1-1"/>
          <p:cNvSpPr txBox="1"/>
          <p:nvPr/>
        </p:nvSpPr>
        <p:spPr>
          <a:xfrm>
            <a:off x="548640" y="1234440"/>
            <a:ext cx="658368" cy="237744"/>
          </a:xfrm>
          <a:prstGeom prst="rect">
            <a:avLst/>
          </a:prstGeom>
          <a:noFill/>
        </p:spPr>
        <p:txBody>
          <a:bodyPr wrap="square" lIns="0" rIns="0" tIns="0" bIns="0" anchor="ctr">
            <a:noAutofit/>
          </a:bodyPr>
          <a:lstStyle/>
          <a:p>
            <a:pPr algn="l">
              <a:spcAft>
                <a:spcPts val="400"/>
              </a:spcAft>
            </a:pPr>
            <a:r>
              <a:rPr sz="1150" b="1" lang="en-GB">
                <a:solidFill>
                  <a:schemeClr val="bg1"/>
                </a:solidFill>
              </a:rPr>
              <a:t>Week t</a:t>
            </a:r>
          </a:p>
        </p:txBody>
      </p:sp>
      <p:sp>
        <p:nvSpPr>
          <p:cNvPr id="12" name="Trend grid 1-2"/>
          <p:cNvSpPr/>
          <p:nvPr/>
        </p:nvSpPr>
        <p:spPr>
          <a:xfrm>
            <a:off x="1325880" y="1234440"/>
            <a:ext cx="116128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rend grid text 1-2"/>
          <p:cNvSpPr txBox="1"/>
          <p:nvPr/>
        </p:nvSpPr>
        <p:spPr>
          <a:xfrm>
            <a:off x="1417320" y="1234440"/>
            <a:ext cx="97840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Contracts y</a:t>
            </a:r>
          </a:p>
        </p:txBody>
      </p:sp>
      <p:sp>
        <p:nvSpPr>
          <p:cNvPr id="14" name="Trend grid 1-3"/>
          <p:cNvSpPr/>
          <p:nvPr/>
        </p:nvSpPr>
        <p:spPr>
          <a:xfrm>
            <a:off x="2514600" y="1234440"/>
            <a:ext cx="79552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rend grid text 1-3"/>
          <p:cNvSpPr txBox="1"/>
          <p:nvPr/>
        </p:nvSpPr>
        <p:spPr>
          <a:xfrm>
            <a:off x="2606040" y="1234440"/>
            <a:ext cx="61264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t − t̄</a:t>
            </a:r>
          </a:p>
        </p:txBody>
      </p:sp>
      <p:sp>
        <p:nvSpPr>
          <p:cNvPr id="16" name="Trend grid 1-4"/>
          <p:cNvSpPr/>
          <p:nvPr/>
        </p:nvSpPr>
        <p:spPr>
          <a:xfrm>
            <a:off x="3337560" y="1234440"/>
            <a:ext cx="88696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rend grid text 1-4"/>
          <p:cNvSpPr txBox="1"/>
          <p:nvPr/>
        </p:nvSpPr>
        <p:spPr>
          <a:xfrm>
            <a:off x="3429000" y="1234440"/>
            <a:ext cx="70408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y − ȳ</a:t>
            </a:r>
          </a:p>
        </p:txBody>
      </p:sp>
      <p:sp>
        <p:nvSpPr>
          <p:cNvPr id="18" name="Trend grid 1-5"/>
          <p:cNvSpPr/>
          <p:nvPr/>
        </p:nvSpPr>
        <p:spPr>
          <a:xfrm>
            <a:off x="4251960" y="1234440"/>
            <a:ext cx="143560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rend grid text 1-5"/>
          <p:cNvSpPr txBox="1"/>
          <p:nvPr/>
        </p:nvSpPr>
        <p:spPr>
          <a:xfrm>
            <a:off x="4343400" y="1234440"/>
            <a:ext cx="125272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(t − t̄)(y − ȳ)</a:t>
            </a:r>
          </a:p>
        </p:txBody>
      </p:sp>
      <p:sp>
        <p:nvSpPr>
          <p:cNvPr id="20" name="Trend grid 1-6"/>
          <p:cNvSpPr/>
          <p:nvPr/>
        </p:nvSpPr>
        <p:spPr>
          <a:xfrm>
            <a:off x="5715000" y="1234440"/>
            <a:ext cx="93268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rend grid text 1-6"/>
          <p:cNvSpPr txBox="1"/>
          <p:nvPr/>
        </p:nvSpPr>
        <p:spPr>
          <a:xfrm>
            <a:off x="5806440" y="1234440"/>
            <a:ext cx="74980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(t − t̄)²</a:t>
            </a:r>
          </a:p>
        </p:txBody>
      </p:sp>
      <p:sp>
        <p:nvSpPr>
          <p:cNvPr id="22" name="Trend grid 1-7"/>
          <p:cNvSpPr/>
          <p:nvPr/>
        </p:nvSpPr>
        <p:spPr>
          <a:xfrm>
            <a:off x="6675120" y="1234440"/>
            <a:ext cx="841248"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rend grid text 1-7"/>
          <p:cNvSpPr txBox="1"/>
          <p:nvPr/>
        </p:nvSpPr>
        <p:spPr>
          <a:xfrm>
            <a:off x="6766560" y="1234440"/>
            <a:ext cx="65836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Fitted</a:t>
            </a:r>
          </a:p>
        </p:txBody>
      </p:sp>
      <p:sp>
        <p:nvSpPr>
          <p:cNvPr id="24" name="Trend grid 1-8"/>
          <p:cNvSpPr/>
          <p:nvPr/>
        </p:nvSpPr>
        <p:spPr>
          <a:xfrm>
            <a:off x="7543800" y="1234440"/>
            <a:ext cx="1143000" cy="23774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rend grid text 1-8"/>
          <p:cNvSpPr txBox="1"/>
          <p:nvPr/>
        </p:nvSpPr>
        <p:spPr>
          <a:xfrm>
            <a:off x="7635240" y="1234440"/>
            <a:ext cx="932688" cy="237744"/>
          </a:xfrm>
          <a:prstGeom prst="rect">
            <a:avLst/>
          </a:prstGeom>
          <a:noFill/>
        </p:spPr>
        <p:txBody>
          <a:bodyPr wrap="square" lIns="0" rIns="0" tIns="0" bIns="0" anchor="ctr">
            <a:noAutofit/>
          </a:bodyPr>
          <a:lstStyle/>
          <a:p>
            <a:pPr algn="r">
              <a:spcAft>
                <a:spcPts val="400"/>
              </a:spcAft>
            </a:pPr>
            <a:r>
              <a:rPr sz="1150" b="1" lang="en-GB">
                <a:solidFill>
                  <a:schemeClr val="bg1"/>
                </a:solidFill>
              </a:rPr>
              <a:t>Residual</a:t>
            </a:r>
          </a:p>
        </p:txBody>
      </p:sp>
      <p:sp>
        <p:nvSpPr>
          <p:cNvPr id="26" name="Trend grid 2-1"/>
          <p:cNvSpPr/>
          <p:nvPr/>
        </p:nvSpPr>
        <p:spPr>
          <a:xfrm>
            <a:off x="457200" y="1499616"/>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rend grid text 2-1"/>
          <p:cNvSpPr txBox="1"/>
          <p:nvPr/>
        </p:nvSpPr>
        <p:spPr>
          <a:xfrm>
            <a:off x="548640" y="1499616"/>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1</a:t>
            </a:r>
          </a:p>
        </p:txBody>
      </p:sp>
      <p:sp>
        <p:nvSpPr>
          <p:cNvPr id="28" name="Trend grid 2-2"/>
          <p:cNvSpPr/>
          <p:nvPr/>
        </p:nvSpPr>
        <p:spPr>
          <a:xfrm>
            <a:off x="1325880" y="1499616"/>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rend grid text 2-2"/>
          <p:cNvSpPr txBox="1"/>
          <p:nvPr/>
        </p:nvSpPr>
        <p:spPr>
          <a:xfrm>
            <a:off x="1417320" y="1499616"/>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40</a:t>
            </a:r>
          </a:p>
        </p:txBody>
      </p:sp>
      <p:sp>
        <p:nvSpPr>
          <p:cNvPr id="30" name="Trend grid 2-3"/>
          <p:cNvSpPr/>
          <p:nvPr/>
        </p:nvSpPr>
        <p:spPr>
          <a:xfrm>
            <a:off x="2514600" y="1499616"/>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rend grid text 2-3"/>
          <p:cNvSpPr txBox="1"/>
          <p:nvPr/>
        </p:nvSpPr>
        <p:spPr>
          <a:xfrm>
            <a:off x="2606040" y="1499616"/>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−3.5</a:t>
            </a:r>
          </a:p>
        </p:txBody>
      </p:sp>
      <p:sp>
        <p:nvSpPr>
          <p:cNvPr id="32" name="Trend grid 2-4"/>
          <p:cNvSpPr/>
          <p:nvPr/>
        </p:nvSpPr>
        <p:spPr>
          <a:xfrm>
            <a:off x="3337560" y="1499616"/>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rend grid text 2-4"/>
          <p:cNvSpPr txBox="1"/>
          <p:nvPr/>
        </p:nvSpPr>
        <p:spPr>
          <a:xfrm>
            <a:off x="3429000" y="1499616"/>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−7.25</a:t>
            </a:r>
          </a:p>
        </p:txBody>
      </p:sp>
      <p:sp>
        <p:nvSpPr>
          <p:cNvPr id="34" name="Trend grid 2-5"/>
          <p:cNvSpPr/>
          <p:nvPr/>
        </p:nvSpPr>
        <p:spPr>
          <a:xfrm>
            <a:off x="4251960" y="1499616"/>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rend grid text 2-5"/>
          <p:cNvSpPr txBox="1"/>
          <p:nvPr/>
        </p:nvSpPr>
        <p:spPr>
          <a:xfrm>
            <a:off x="4343400" y="1499616"/>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+25.375</a:t>
            </a:r>
          </a:p>
        </p:txBody>
      </p:sp>
      <p:sp>
        <p:nvSpPr>
          <p:cNvPr id="36" name="Trend grid 2-6"/>
          <p:cNvSpPr/>
          <p:nvPr/>
        </p:nvSpPr>
        <p:spPr>
          <a:xfrm>
            <a:off x="5715000" y="1499616"/>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rend grid text 2-6"/>
          <p:cNvSpPr txBox="1"/>
          <p:nvPr/>
        </p:nvSpPr>
        <p:spPr>
          <a:xfrm>
            <a:off x="5806440" y="1499616"/>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12.25</a:t>
            </a:r>
          </a:p>
        </p:txBody>
      </p:sp>
      <p:sp>
        <p:nvSpPr>
          <p:cNvPr id="38" name="Trend grid 2-7"/>
          <p:cNvSpPr/>
          <p:nvPr/>
        </p:nvSpPr>
        <p:spPr>
          <a:xfrm>
            <a:off x="6675120" y="1499616"/>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rend grid text 2-7"/>
          <p:cNvSpPr txBox="1"/>
          <p:nvPr/>
        </p:nvSpPr>
        <p:spPr>
          <a:xfrm>
            <a:off x="6766560" y="1499616"/>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40.25</a:t>
            </a:r>
          </a:p>
        </p:txBody>
      </p:sp>
      <p:sp>
        <p:nvSpPr>
          <p:cNvPr id="40" name="Trend grid 2-8"/>
          <p:cNvSpPr/>
          <p:nvPr/>
        </p:nvSpPr>
        <p:spPr>
          <a:xfrm>
            <a:off x="7543800" y="1499616"/>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rend grid text 2-8"/>
          <p:cNvSpPr txBox="1"/>
          <p:nvPr/>
        </p:nvSpPr>
        <p:spPr>
          <a:xfrm>
            <a:off x="7635240" y="1499616"/>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−0.25</a:t>
            </a:r>
          </a:p>
        </p:txBody>
      </p:sp>
      <p:sp>
        <p:nvSpPr>
          <p:cNvPr id="42" name="Trend grid 3-1"/>
          <p:cNvSpPr/>
          <p:nvPr/>
        </p:nvSpPr>
        <p:spPr>
          <a:xfrm>
            <a:off x="457200" y="1764792"/>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rend grid text 3-1"/>
          <p:cNvSpPr txBox="1"/>
          <p:nvPr/>
        </p:nvSpPr>
        <p:spPr>
          <a:xfrm>
            <a:off x="548640" y="1764792"/>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2</a:t>
            </a:r>
          </a:p>
        </p:txBody>
      </p:sp>
      <p:sp>
        <p:nvSpPr>
          <p:cNvPr id="44" name="Trend grid 3-2"/>
          <p:cNvSpPr/>
          <p:nvPr/>
        </p:nvSpPr>
        <p:spPr>
          <a:xfrm>
            <a:off x="1325880" y="1764792"/>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rend grid text 3-2"/>
          <p:cNvSpPr txBox="1"/>
          <p:nvPr/>
        </p:nvSpPr>
        <p:spPr>
          <a:xfrm>
            <a:off x="1417320" y="1764792"/>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44</a:t>
            </a:r>
          </a:p>
        </p:txBody>
      </p:sp>
      <p:sp>
        <p:nvSpPr>
          <p:cNvPr id="46" name="Trend grid 3-3"/>
          <p:cNvSpPr/>
          <p:nvPr/>
        </p:nvSpPr>
        <p:spPr>
          <a:xfrm>
            <a:off x="2514600" y="1764792"/>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rend grid text 3-3"/>
          <p:cNvSpPr txBox="1"/>
          <p:nvPr/>
        </p:nvSpPr>
        <p:spPr>
          <a:xfrm>
            <a:off x="2606040" y="1764792"/>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−2.5</a:t>
            </a:r>
          </a:p>
        </p:txBody>
      </p:sp>
      <p:sp>
        <p:nvSpPr>
          <p:cNvPr id="48" name="Trend grid 3-4"/>
          <p:cNvSpPr/>
          <p:nvPr/>
        </p:nvSpPr>
        <p:spPr>
          <a:xfrm>
            <a:off x="3337560" y="1764792"/>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rend grid text 3-4"/>
          <p:cNvSpPr txBox="1"/>
          <p:nvPr/>
        </p:nvSpPr>
        <p:spPr>
          <a:xfrm>
            <a:off x="3429000" y="1764792"/>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−3.25</a:t>
            </a:r>
          </a:p>
        </p:txBody>
      </p:sp>
      <p:sp>
        <p:nvSpPr>
          <p:cNvPr id="50" name="Trend grid 3-5"/>
          <p:cNvSpPr/>
          <p:nvPr/>
        </p:nvSpPr>
        <p:spPr>
          <a:xfrm>
            <a:off x="4251960" y="1764792"/>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rend grid text 3-5"/>
          <p:cNvSpPr txBox="1"/>
          <p:nvPr/>
        </p:nvSpPr>
        <p:spPr>
          <a:xfrm>
            <a:off x="4343400" y="1764792"/>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+8.125</a:t>
            </a:r>
          </a:p>
        </p:txBody>
      </p:sp>
      <p:sp>
        <p:nvSpPr>
          <p:cNvPr id="52" name="Trend grid 3-6"/>
          <p:cNvSpPr/>
          <p:nvPr/>
        </p:nvSpPr>
        <p:spPr>
          <a:xfrm>
            <a:off x="5715000" y="1764792"/>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Trend grid text 3-6"/>
          <p:cNvSpPr txBox="1"/>
          <p:nvPr/>
        </p:nvSpPr>
        <p:spPr>
          <a:xfrm>
            <a:off x="5806440" y="1764792"/>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6.25</a:t>
            </a:r>
          </a:p>
        </p:txBody>
      </p:sp>
      <p:sp>
        <p:nvSpPr>
          <p:cNvPr id="54" name="Trend grid 3-7"/>
          <p:cNvSpPr/>
          <p:nvPr/>
        </p:nvSpPr>
        <p:spPr>
          <a:xfrm>
            <a:off x="6675120" y="1764792"/>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rend grid text 3-7"/>
          <p:cNvSpPr txBox="1"/>
          <p:nvPr/>
        </p:nvSpPr>
        <p:spPr>
          <a:xfrm>
            <a:off x="6766560" y="1764792"/>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42.25</a:t>
            </a:r>
          </a:p>
        </p:txBody>
      </p:sp>
      <p:sp>
        <p:nvSpPr>
          <p:cNvPr id="56" name="Trend grid 3-8"/>
          <p:cNvSpPr/>
          <p:nvPr/>
        </p:nvSpPr>
        <p:spPr>
          <a:xfrm>
            <a:off x="7543800" y="1764792"/>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Trend grid text 3-8"/>
          <p:cNvSpPr txBox="1"/>
          <p:nvPr/>
        </p:nvSpPr>
        <p:spPr>
          <a:xfrm>
            <a:off x="7635240" y="1764792"/>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+1.75</a:t>
            </a:r>
          </a:p>
        </p:txBody>
      </p:sp>
      <p:sp>
        <p:nvSpPr>
          <p:cNvPr id="58" name="Trend grid 4-1"/>
          <p:cNvSpPr/>
          <p:nvPr/>
        </p:nvSpPr>
        <p:spPr>
          <a:xfrm>
            <a:off x="457200" y="2029968"/>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rend grid text 4-1"/>
          <p:cNvSpPr txBox="1"/>
          <p:nvPr/>
        </p:nvSpPr>
        <p:spPr>
          <a:xfrm>
            <a:off x="548640" y="2029968"/>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3</a:t>
            </a:r>
          </a:p>
        </p:txBody>
      </p:sp>
      <p:sp>
        <p:nvSpPr>
          <p:cNvPr id="60" name="Trend grid 4-2"/>
          <p:cNvSpPr/>
          <p:nvPr/>
        </p:nvSpPr>
        <p:spPr>
          <a:xfrm>
            <a:off x="1325880" y="2029968"/>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rend grid text 4-2"/>
          <p:cNvSpPr txBox="1"/>
          <p:nvPr/>
        </p:nvSpPr>
        <p:spPr>
          <a:xfrm>
            <a:off x="1417320" y="2029968"/>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42</a:t>
            </a:r>
          </a:p>
        </p:txBody>
      </p:sp>
      <p:sp>
        <p:nvSpPr>
          <p:cNvPr id="62" name="Trend grid 4-3"/>
          <p:cNvSpPr/>
          <p:nvPr/>
        </p:nvSpPr>
        <p:spPr>
          <a:xfrm>
            <a:off x="2514600" y="2029968"/>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rend grid text 4-3"/>
          <p:cNvSpPr txBox="1"/>
          <p:nvPr/>
        </p:nvSpPr>
        <p:spPr>
          <a:xfrm>
            <a:off x="2606040" y="2029968"/>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−1.5</a:t>
            </a:r>
          </a:p>
        </p:txBody>
      </p:sp>
      <p:sp>
        <p:nvSpPr>
          <p:cNvPr id="64" name="Trend grid 4-4"/>
          <p:cNvSpPr/>
          <p:nvPr/>
        </p:nvSpPr>
        <p:spPr>
          <a:xfrm>
            <a:off x="3337560" y="2029968"/>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rend grid text 4-4"/>
          <p:cNvSpPr txBox="1"/>
          <p:nvPr/>
        </p:nvSpPr>
        <p:spPr>
          <a:xfrm>
            <a:off x="3429000" y="2029968"/>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−5.25</a:t>
            </a:r>
          </a:p>
        </p:txBody>
      </p:sp>
      <p:sp>
        <p:nvSpPr>
          <p:cNvPr id="66" name="Trend grid 4-5"/>
          <p:cNvSpPr/>
          <p:nvPr/>
        </p:nvSpPr>
        <p:spPr>
          <a:xfrm>
            <a:off x="4251960" y="2029968"/>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Trend grid text 4-5"/>
          <p:cNvSpPr txBox="1"/>
          <p:nvPr/>
        </p:nvSpPr>
        <p:spPr>
          <a:xfrm>
            <a:off x="4343400" y="2029968"/>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+7.875</a:t>
            </a:r>
          </a:p>
        </p:txBody>
      </p:sp>
      <p:sp>
        <p:nvSpPr>
          <p:cNvPr id="68" name="Trend grid 4-6"/>
          <p:cNvSpPr/>
          <p:nvPr/>
        </p:nvSpPr>
        <p:spPr>
          <a:xfrm>
            <a:off x="5715000" y="2029968"/>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Trend grid text 4-6"/>
          <p:cNvSpPr txBox="1"/>
          <p:nvPr/>
        </p:nvSpPr>
        <p:spPr>
          <a:xfrm>
            <a:off x="5806440" y="2029968"/>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2.25</a:t>
            </a:r>
          </a:p>
        </p:txBody>
      </p:sp>
      <p:sp>
        <p:nvSpPr>
          <p:cNvPr id="70" name="Trend grid 4-7"/>
          <p:cNvSpPr/>
          <p:nvPr/>
        </p:nvSpPr>
        <p:spPr>
          <a:xfrm>
            <a:off x="6675120" y="2029968"/>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Trend grid text 4-7"/>
          <p:cNvSpPr txBox="1"/>
          <p:nvPr/>
        </p:nvSpPr>
        <p:spPr>
          <a:xfrm>
            <a:off x="6766560" y="2029968"/>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44.25</a:t>
            </a:r>
          </a:p>
        </p:txBody>
      </p:sp>
      <p:sp>
        <p:nvSpPr>
          <p:cNvPr id="72" name="Trend grid 4-8"/>
          <p:cNvSpPr/>
          <p:nvPr/>
        </p:nvSpPr>
        <p:spPr>
          <a:xfrm>
            <a:off x="7543800" y="2029968"/>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Trend grid text 4-8"/>
          <p:cNvSpPr txBox="1"/>
          <p:nvPr/>
        </p:nvSpPr>
        <p:spPr>
          <a:xfrm>
            <a:off x="7635240" y="2029968"/>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−2.25</a:t>
            </a:r>
          </a:p>
        </p:txBody>
      </p:sp>
      <p:sp>
        <p:nvSpPr>
          <p:cNvPr id="74" name="Trend grid 5-1"/>
          <p:cNvSpPr/>
          <p:nvPr/>
        </p:nvSpPr>
        <p:spPr>
          <a:xfrm>
            <a:off x="457200" y="2295144"/>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Trend grid text 5-1"/>
          <p:cNvSpPr txBox="1"/>
          <p:nvPr/>
        </p:nvSpPr>
        <p:spPr>
          <a:xfrm>
            <a:off x="548640" y="2295144"/>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4</a:t>
            </a:r>
          </a:p>
        </p:txBody>
      </p:sp>
      <p:sp>
        <p:nvSpPr>
          <p:cNvPr id="76" name="Trend grid 5-2"/>
          <p:cNvSpPr/>
          <p:nvPr/>
        </p:nvSpPr>
        <p:spPr>
          <a:xfrm>
            <a:off x="1325880" y="2295144"/>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Trend grid text 5-2"/>
          <p:cNvSpPr txBox="1"/>
          <p:nvPr/>
        </p:nvSpPr>
        <p:spPr>
          <a:xfrm>
            <a:off x="1417320" y="2295144"/>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46</a:t>
            </a:r>
          </a:p>
        </p:txBody>
      </p:sp>
      <p:sp>
        <p:nvSpPr>
          <p:cNvPr id="78" name="Trend grid 5-3"/>
          <p:cNvSpPr/>
          <p:nvPr/>
        </p:nvSpPr>
        <p:spPr>
          <a:xfrm>
            <a:off x="2514600" y="2295144"/>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Trend grid text 5-3"/>
          <p:cNvSpPr txBox="1"/>
          <p:nvPr/>
        </p:nvSpPr>
        <p:spPr>
          <a:xfrm>
            <a:off x="2606040" y="2295144"/>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−0.5</a:t>
            </a:r>
          </a:p>
        </p:txBody>
      </p:sp>
      <p:sp>
        <p:nvSpPr>
          <p:cNvPr id="80" name="Trend grid 5-4"/>
          <p:cNvSpPr/>
          <p:nvPr/>
        </p:nvSpPr>
        <p:spPr>
          <a:xfrm>
            <a:off x="3337560" y="2295144"/>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1" name="Trend grid text 5-4"/>
          <p:cNvSpPr txBox="1"/>
          <p:nvPr/>
        </p:nvSpPr>
        <p:spPr>
          <a:xfrm>
            <a:off x="3429000" y="2295144"/>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−1.25</a:t>
            </a:r>
          </a:p>
        </p:txBody>
      </p:sp>
      <p:sp>
        <p:nvSpPr>
          <p:cNvPr id="82" name="Trend grid 5-5"/>
          <p:cNvSpPr/>
          <p:nvPr/>
        </p:nvSpPr>
        <p:spPr>
          <a:xfrm>
            <a:off x="4251960" y="2295144"/>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Trend grid text 5-5"/>
          <p:cNvSpPr txBox="1"/>
          <p:nvPr/>
        </p:nvSpPr>
        <p:spPr>
          <a:xfrm>
            <a:off x="4343400" y="2295144"/>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+0.625</a:t>
            </a:r>
          </a:p>
        </p:txBody>
      </p:sp>
      <p:sp>
        <p:nvSpPr>
          <p:cNvPr id="84" name="Trend grid 5-6"/>
          <p:cNvSpPr/>
          <p:nvPr/>
        </p:nvSpPr>
        <p:spPr>
          <a:xfrm>
            <a:off x="5715000" y="2295144"/>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5" name="Trend grid text 5-6"/>
          <p:cNvSpPr txBox="1"/>
          <p:nvPr/>
        </p:nvSpPr>
        <p:spPr>
          <a:xfrm>
            <a:off x="5806440" y="2295144"/>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0.25</a:t>
            </a:r>
          </a:p>
        </p:txBody>
      </p:sp>
      <p:sp>
        <p:nvSpPr>
          <p:cNvPr id="86" name="Trend grid 5-7"/>
          <p:cNvSpPr/>
          <p:nvPr/>
        </p:nvSpPr>
        <p:spPr>
          <a:xfrm>
            <a:off x="6675120" y="2295144"/>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Trend grid text 5-7"/>
          <p:cNvSpPr txBox="1"/>
          <p:nvPr/>
        </p:nvSpPr>
        <p:spPr>
          <a:xfrm>
            <a:off x="6766560" y="2295144"/>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46.25</a:t>
            </a:r>
          </a:p>
        </p:txBody>
      </p:sp>
      <p:sp>
        <p:nvSpPr>
          <p:cNvPr id="88" name="Trend grid 5-8"/>
          <p:cNvSpPr/>
          <p:nvPr/>
        </p:nvSpPr>
        <p:spPr>
          <a:xfrm>
            <a:off x="7543800" y="2295144"/>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9" name="Trend grid text 5-8"/>
          <p:cNvSpPr txBox="1"/>
          <p:nvPr/>
        </p:nvSpPr>
        <p:spPr>
          <a:xfrm>
            <a:off x="7635240" y="2295144"/>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−0.25</a:t>
            </a:r>
          </a:p>
        </p:txBody>
      </p:sp>
      <p:sp>
        <p:nvSpPr>
          <p:cNvPr id="90" name="Trend grid 6-1"/>
          <p:cNvSpPr/>
          <p:nvPr/>
        </p:nvSpPr>
        <p:spPr>
          <a:xfrm>
            <a:off x="457200" y="2560320"/>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Trend grid text 6-1"/>
          <p:cNvSpPr txBox="1"/>
          <p:nvPr/>
        </p:nvSpPr>
        <p:spPr>
          <a:xfrm>
            <a:off x="548640" y="2560320"/>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5</a:t>
            </a:r>
          </a:p>
        </p:txBody>
      </p:sp>
      <p:sp>
        <p:nvSpPr>
          <p:cNvPr id="92" name="Trend grid 6-2"/>
          <p:cNvSpPr/>
          <p:nvPr/>
        </p:nvSpPr>
        <p:spPr>
          <a:xfrm>
            <a:off x="1325880" y="2560320"/>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3" name="Trend grid text 6-2"/>
          <p:cNvSpPr txBox="1"/>
          <p:nvPr/>
        </p:nvSpPr>
        <p:spPr>
          <a:xfrm>
            <a:off x="1417320" y="2560320"/>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50</a:t>
            </a:r>
          </a:p>
        </p:txBody>
      </p:sp>
      <p:sp>
        <p:nvSpPr>
          <p:cNvPr id="94" name="Trend grid 6-3"/>
          <p:cNvSpPr/>
          <p:nvPr/>
        </p:nvSpPr>
        <p:spPr>
          <a:xfrm>
            <a:off x="2514600" y="2560320"/>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5" name="Trend grid text 6-3"/>
          <p:cNvSpPr txBox="1"/>
          <p:nvPr/>
        </p:nvSpPr>
        <p:spPr>
          <a:xfrm>
            <a:off x="2606040" y="2560320"/>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+0.5</a:t>
            </a:r>
          </a:p>
        </p:txBody>
      </p:sp>
      <p:sp>
        <p:nvSpPr>
          <p:cNvPr id="96" name="Trend grid 6-4"/>
          <p:cNvSpPr/>
          <p:nvPr/>
        </p:nvSpPr>
        <p:spPr>
          <a:xfrm>
            <a:off x="3337560" y="2560320"/>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7" name="Trend grid text 6-4"/>
          <p:cNvSpPr txBox="1"/>
          <p:nvPr/>
        </p:nvSpPr>
        <p:spPr>
          <a:xfrm>
            <a:off x="3429000" y="2560320"/>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+2.75</a:t>
            </a:r>
          </a:p>
        </p:txBody>
      </p:sp>
      <p:sp>
        <p:nvSpPr>
          <p:cNvPr id="98" name="Trend grid 6-5"/>
          <p:cNvSpPr/>
          <p:nvPr/>
        </p:nvSpPr>
        <p:spPr>
          <a:xfrm>
            <a:off x="4251960" y="2560320"/>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9" name="Trend grid text 6-5"/>
          <p:cNvSpPr txBox="1"/>
          <p:nvPr/>
        </p:nvSpPr>
        <p:spPr>
          <a:xfrm>
            <a:off x="4343400" y="2560320"/>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+1.375</a:t>
            </a:r>
          </a:p>
        </p:txBody>
      </p:sp>
      <p:sp>
        <p:nvSpPr>
          <p:cNvPr id="100" name="Trend grid 6-6"/>
          <p:cNvSpPr/>
          <p:nvPr/>
        </p:nvSpPr>
        <p:spPr>
          <a:xfrm>
            <a:off x="5715000" y="2560320"/>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1" name="Trend grid text 6-6"/>
          <p:cNvSpPr txBox="1"/>
          <p:nvPr/>
        </p:nvSpPr>
        <p:spPr>
          <a:xfrm>
            <a:off x="5806440" y="2560320"/>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0.25</a:t>
            </a:r>
          </a:p>
        </p:txBody>
      </p:sp>
      <p:sp>
        <p:nvSpPr>
          <p:cNvPr id="102" name="Trend grid 6-7"/>
          <p:cNvSpPr/>
          <p:nvPr/>
        </p:nvSpPr>
        <p:spPr>
          <a:xfrm>
            <a:off x="6675120" y="2560320"/>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3" name="Trend grid text 6-7"/>
          <p:cNvSpPr txBox="1"/>
          <p:nvPr/>
        </p:nvSpPr>
        <p:spPr>
          <a:xfrm>
            <a:off x="6766560" y="2560320"/>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48.25</a:t>
            </a:r>
          </a:p>
        </p:txBody>
      </p:sp>
      <p:sp>
        <p:nvSpPr>
          <p:cNvPr id="104" name="Trend grid 6-8"/>
          <p:cNvSpPr/>
          <p:nvPr/>
        </p:nvSpPr>
        <p:spPr>
          <a:xfrm>
            <a:off x="7543800" y="2560320"/>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5" name="Trend grid text 6-8"/>
          <p:cNvSpPr txBox="1"/>
          <p:nvPr/>
        </p:nvSpPr>
        <p:spPr>
          <a:xfrm>
            <a:off x="7635240" y="2560320"/>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+1.75</a:t>
            </a:r>
          </a:p>
        </p:txBody>
      </p:sp>
      <p:sp>
        <p:nvSpPr>
          <p:cNvPr id="106" name="Trend grid 7-1"/>
          <p:cNvSpPr/>
          <p:nvPr/>
        </p:nvSpPr>
        <p:spPr>
          <a:xfrm>
            <a:off x="457200" y="2825496"/>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7" name="Trend grid text 7-1"/>
          <p:cNvSpPr txBox="1"/>
          <p:nvPr/>
        </p:nvSpPr>
        <p:spPr>
          <a:xfrm>
            <a:off x="548640" y="2825496"/>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6</a:t>
            </a:r>
          </a:p>
        </p:txBody>
      </p:sp>
      <p:sp>
        <p:nvSpPr>
          <p:cNvPr id="108" name="Trend grid 7-2"/>
          <p:cNvSpPr/>
          <p:nvPr/>
        </p:nvSpPr>
        <p:spPr>
          <a:xfrm>
            <a:off x="1325880" y="2825496"/>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9" name="Trend grid text 7-2"/>
          <p:cNvSpPr txBox="1"/>
          <p:nvPr/>
        </p:nvSpPr>
        <p:spPr>
          <a:xfrm>
            <a:off x="1417320" y="2825496"/>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49</a:t>
            </a:r>
          </a:p>
        </p:txBody>
      </p:sp>
      <p:sp>
        <p:nvSpPr>
          <p:cNvPr id="110" name="Trend grid 7-3"/>
          <p:cNvSpPr/>
          <p:nvPr/>
        </p:nvSpPr>
        <p:spPr>
          <a:xfrm>
            <a:off x="2514600" y="2825496"/>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1" name="Trend grid text 7-3"/>
          <p:cNvSpPr txBox="1"/>
          <p:nvPr/>
        </p:nvSpPr>
        <p:spPr>
          <a:xfrm>
            <a:off x="2606040" y="2825496"/>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+1.5</a:t>
            </a:r>
          </a:p>
        </p:txBody>
      </p:sp>
      <p:sp>
        <p:nvSpPr>
          <p:cNvPr id="112" name="Trend grid 7-4"/>
          <p:cNvSpPr/>
          <p:nvPr/>
        </p:nvSpPr>
        <p:spPr>
          <a:xfrm>
            <a:off x="3337560" y="2825496"/>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3" name="Trend grid text 7-4"/>
          <p:cNvSpPr txBox="1"/>
          <p:nvPr/>
        </p:nvSpPr>
        <p:spPr>
          <a:xfrm>
            <a:off x="3429000" y="2825496"/>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+1.75</a:t>
            </a:r>
          </a:p>
        </p:txBody>
      </p:sp>
      <p:sp>
        <p:nvSpPr>
          <p:cNvPr id="114" name="Trend grid 7-5"/>
          <p:cNvSpPr/>
          <p:nvPr/>
        </p:nvSpPr>
        <p:spPr>
          <a:xfrm>
            <a:off x="4251960" y="2825496"/>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5" name="Trend grid text 7-5"/>
          <p:cNvSpPr txBox="1"/>
          <p:nvPr/>
        </p:nvSpPr>
        <p:spPr>
          <a:xfrm>
            <a:off x="4343400" y="2825496"/>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+2.625</a:t>
            </a:r>
          </a:p>
        </p:txBody>
      </p:sp>
      <p:sp>
        <p:nvSpPr>
          <p:cNvPr id="116" name="Trend grid 7-6"/>
          <p:cNvSpPr/>
          <p:nvPr/>
        </p:nvSpPr>
        <p:spPr>
          <a:xfrm>
            <a:off x="5715000" y="2825496"/>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7" name="Trend grid text 7-6"/>
          <p:cNvSpPr txBox="1"/>
          <p:nvPr/>
        </p:nvSpPr>
        <p:spPr>
          <a:xfrm>
            <a:off x="5806440" y="2825496"/>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2.25</a:t>
            </a:r>
          </a:p>
        </p:txBody>
      </p:sp>
      <p:sp>
        <p:nvSpPr>
          <p:cNvPr id="118" name="Trend grid 7-7"/>
          <p:cNvSpPr/>
          <p:nvPr/>
        </p:nvSpPr>
        <p:spPr>
          <a:xfrm>
            <a:off x="6675120" y="2825496"/>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9" name="Trend grid text 7-7"/>
          <p:cNvSpPr txBox="1"/>
          <p:nvPr/>
        </p:nvSpPr>
        <p:spPr>
          <a:xfrm>
            <a:off x="6766560" y="2825496"/>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50.25</a:t>
            </a:r>
          </a:p>
        </p:txBody>
      </p:sp>
      <p:sp>
        <p:nvSpPr>
          <p:cNvPr id="120" name="Trend grid 7-8"/>
          <p:cNvSpPr/>
          <p:nvPr/>
        </p:nvSpPr>
        <p:spPr>
          <a:xfrm>
            <a:off x="7543800" y="2825496"/>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1" name="Trend grid text 7-8"/>
          <p:cNvSpPr txBox="1"/>
          <p:nvPr/>
        </p:nvSpPr>
        <p:spPr>
          <a:xfrm>
            <a:off x="7635240" y="2825496"/>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−1.25</a:t>
            </a:r>
          </a:p>
        </p:txBody>
      </p:sp>
      <p:sp>
        <p:nvSpPr>
          <p:cNvPr id="122" name="Trend grid 8-1"/>
          <p:cNvSpPr/>
          <p:nvPr/>
        </p:nvSpPr>
        <p:spPr>
          <a:xfrm>
            <a:off x="457200" y="3090672"/>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3" name="Trend grid text 8-1"/>
          <p:cNvSpPr txBox="1"/>
          <p:nvPr/>
        </p:nvSpPr>
        <p:spPr>
          <a:xfrm>
            <a:off x="548640" y="3090672"/>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7</a:t>
            </a:r>
          </a:p>
        </p:txBody>
      </p:sp>
      <p:sp>
        <p:nvSpPr>
          <p:cNvPr id="124" name="Trend grid 8-2"/>
          <p:cNvSpPr/>
          <p:nvPr/>
        </p:nvSpPr>
        <p:spPr>
          <a:xfrm>
            <a:off x="1325880" y="3090672"/>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5" name="Trend grid text 8-2"/>
          <p:cNvSpPr txBox="1"/>
          <p:nvPr/>
        </p:nvSpPr>
        <p:spPr>
          <a:xfrm>
            <a:off x="1417320" y="3090672"/>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53</a:t>
            </a:r>
          </a:p>
        </p:txBody>
      </p:sp>
      <p:sp>
        <p:nvSpPr>
          <p:cNvPr id="126" name="Trend grid 8-3"/>
          <p:cNvSpPr/>
          <p:nvPr/>
        </p:nvSpPr>
        <p:spPr>
          <a:xfrm>
            <a:off x="2514600" y="3090672"/>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7" name="Trend grid text 8-3"/>
          <p:cNvSpPr txBox="1"/>
          <p:nvPr/>
        </p:nvSpPr>
        <p:spPr>
          <a:xfrm>
            <a:off x="2606040" y="3090672"/>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+2.5</a:t>
            </a:r>
          </a:p>
        </p:txBody>
      </p:sp>
      <p:sp>
        <p:nvSpPr>
          <p:cNvPr id="128" name="Trend grid 8-4"/>
          <p:cNvSpPr/>
          <p:nvPr/>
        </p:nvSpPr>
        <p:spPr>
          <a:xfrm>
            <a:off x="3337560" y="3090672"/>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9" name="Trend grid text 8-4"/>
          <p:cNvSpPr txBox="1"/>
          <p:nvPr/>
        </p:nvSpPr>
        <p:spPr>
          <a:xfrm>
            <a:off x="3429000" y="3090672"/>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+5.75</a:t>
            </a:r>
          </a:p>
        </p:txBody>
      </p:sp>
      <p:sp>
        <p:nvSpPr>
          <p:cNvPr id="130" name="Trend grid 8-5"/>
          <p:cNvSpPr/>
          <p:nvPr/>
        </p:nvSpPr>
        <p:spPr>
          <a:xfrm>
            <a:off x="4251960" y="3090672"/>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1" name="Trend grid text 8-5"/>
          <p:cNvSpPr txBox="1"/>
          <p:nvPr/>
        </p:nvSpPr>
        <p:spPr>
          <a:xfrm>
            <a:off x="4343400" y="3090672"/>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+14.375</a:t>
            </a:r>
          </a:p>
        </p:txBody>
      </p:sp>
      <p:sp>
        <p:nvSpPr>
          <p:cNvPr id="132" name="Trend grid 8-6"/>
          <p:cNvSpPr/>
          <p:nvPr/>
        </p:nvSpPr>
        <p:spPr>
          <a:xfrm>
            <a:off x="5715000" y="3090672"/>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3" name="Trend grid text 8-6"/>
          <p:cNvSpPr txBox="1"/>
          <p:nvPr/>
        </p:nvSpPr>
        <p:spPr>
          <a:xfrm>
            <a:off x="5806440" y="3090672"/>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6.25</a:t>
            </a:r>
          </a:p>
        </p:txBody>
      </p:sp>
      <p:sp>
        <p:nvSpPr>
          <p:cNvPr id="134" name="Trend grid 8-7"/>
          <p:cNvSpPr/>
          <p:nvPr/>
        </p:nvSpPr>
        <p:spPr>
          <a:xfrm>
            <a:off x="6675120" y="3090672"/>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5" name="Trend grid text 8-7"/>
          <p:cNvSpPr txBox="1"/>
          <p:nvPr/>
        </p:nvSpPr>
        <p:spPr>
          <a:xfrm>
            <a:off x="6766560" y="3090672"/>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52.25</a:t>
            </a:r>
          </a:p>
        </p:txBody>
      </p:sp>
      <p:sp>
        <p:nvSpPr>
          <p:cNvPr id="136" name="Trend grid 8-8"/>
          <p:cNvSpPr/>
          <p:nvPr/>
        </p:nvSpPr>
        <p:spPr>
          <a:xfrm>
            <a:off x="7543800" y="3090672"/>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7" name="Trend grid text 8-8"/>
          <p:cNvSpPr txBox="1"/>
          <p:nvPr/>
        </p:nvSpPr>
        <p:spPr>
          <a:xfrm>
            <a:off x="7635240" y="3090672"/>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+0.75</a:t>
            </a:r>
          </a:p>
        </p:txBody>
      </p:sp>
      <p:sp>
        <p:nvSpPr>
          <p:cNvPr id="138" name="Trend grid 9-1"/>
          <p:cNvSpPr/>
          <p:nvPr/>
        </p:nvSpPr>
        <p:spPr>
          <a:xfrm>
            <a:off x="457200" y="3355848"/>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9" name="Trend grid text 9-1"/>
          <p:cNvSpPr txBox="1"/>
          <p:nvPr/>
        </p:nvSpPr>
        <p:spPr>
          <a:xfrm>
            <a:off x="548640" y="3355848"/>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8</a:t>
            </a:r>
          </a:p>
        </p:txBody>
      </p:sp>
      <p:sp>
        <p:nvSpPr>
          <p:cNvPr id="140" name="Trend grid 9-2"/>
          <p:cNvSpPr/>
          <p:nvPr/>
        </p:nvSpPr>
        <p:spPr>
          <a:xfrm>
            <a:off x="1325880" y="3355848"/>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1" name="Trend grid text 9-2"/>
          <p:cNvSpPr txBox="1"/>
          <p:nvPr/>
        </p:nvSpPr>
        <p:spPr>
          <a:xfrm>
            <a:off x="1417320" y="3355848"/>
            <a:ext cx="9784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54</a:t>
            </a:r>
          </a:p>
        </p:txBody>
      </p:sp>
      <p:sp>
        <p:nvSpPr>
          <p:cNvPr id="142" name="Trend grid 9-3"/>
          <p:cNvSpPr/>
          <p:nvPr/>
        </p:nvSpPr>
        <p:spPr>
          <a:xfrm>
            <a:off x="2514600" y="3355848"/>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3" name="Trend grid text 9-3"/>
          <p:cNvSpPr txBox="1"/>
          <p:nvPr/>
        </p:nvSpPr>
        <p:spPr>
          <a:xfrm>
            <a:off x="2606040" y="3355848"/>
            <a:ext cx="61264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+3.5</a:t>
            </a:r>
          </a:p>
        </p:txBody>
      </p:sp>
      <p:sp>
        <p:nvSpPr>
          <p:cNvPr id="144" name="Trend grid 9-4"/>
          <p:cNvSpPr/>
          <p:nvPr/>
        </p:nvSpPr>
        <p:spPr>
          <a:xfrm>
            <a:off x="3337560" y="3355848"/>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5" name="Trend grid text 9-4"/>
          <p:cNvSpPr txBox="1"/>
          <p:nvPr/>
        </p:nvSpPr>
        <p:spPr>
          <a:xfrm>
            <a:off x="3429000" y="3355848"/>
            <a:ext cx="7040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+6.75</a:t>
            </a:r>
          </a:p>
        </p:txBody>
      </p:sp>
      <p:sp>
        <p:nvSpPr>
          <p:cNvPr id="146" name="Trend grid 9-5"/>
          <p:cNvSpPr/>
          <p:nvPr/>
        </p:nvSpPr>
        <p:spPr>
          <a:xfrm>
            <a:off x="4251960" y="3355848"/>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7" name="Trend grid text 9-5"/>
          <p:cNvSpPr txBox="1"/>
          <p:nvPr/>
        </p:nvSpPr>
        <p:spPr>
          <a:xfrm>
            <a:off x="4343400" y="3355848"/>
            <a:ext cx="125272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+23.625</a:t>
            </a:r>
          </a:p>
        </p:txBody>
      </p:sp>
      <p:sp>
        <p:nvSpPr>
          <p:cNvPr id="148" name="Trend grid 9-6"/>
          <p:cNvSpPr/>
          <p:nvPr/>
        </p:nvSpPr>
        <p:spPr>
          <a:xfrm>
            <a:off x="5715000" y="3355848"/>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9" name="Trend grid text 9-6"/>
          <p:cNvSpPr txBox="1"/>
          <p:nvPr/>
        </p:nvSpPr>
        <p:spPr>
          <a:xfrm>
            <a:off x="5806440" y="3355848"/>
            <a:ext cx="74980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12.25</a:t>
            </a:r>
          </a:p>
        </p:txBody>
      </p:sp>
      <p:sp>
        <p:nvSpPr>
          <p:cNvPr id="150" name="Trend grid 9-7"/>
          <p:cNvSpPr/>
          <p:nvPr/>
        </p:nvSpPr>
        <p:spPr>
          <a:xfrm>
            <a:off x="6675120" y="3355848"/>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1" name="Trend grid text 9-7"/>
          <p:cNvSpPr txBox="1"/>
          <p:nvPr/>
        </p:nvSpPr>
        <p:spPr>
          <a:xfrm>
            <a:off x="6766560" y="3355848"/>
            <a:ext cx="65836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54.25</a:t>
            </a:r>
          </a:p>
        </p:txBody>
      </p:sp>
      <p:sp>
        <p:nvSpPr>
          <p:cNvPr id="152" name="Trend grid 9-8"/>
          <p:cNvSpPr/>
          <p:nvPr/>
        </p:nvSpPr>
        <p:spPr>
          <a:xfrm>
            <a:off x="7543800" y="3355848"/>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3" name="Trend grid text 9-8"/>
          <p:cNvSpPr txBox="1"/>
          <p:nvPr/>
        </p:nvSpPr>
        <p:spPr>
          <a:xfrm>
            <a:off x="7635240" y="3355848"/>
            <a:ext cx="932688" cy="237744"/>
          </a:xfrm>
          <a:prstGeom prst="rect">
            <a:avLst/>
          </a:prstGeom>
          <a:noFill/>
        </p:spPr>
        <p:txBody>
          <a:bodyPr wrap="square" lIns="0" rIns="0" tIns="0" bIns="0" anchor="ctr">
            <a:noAutofit/>
          </a:bodyPr>
          <a:lstStyle/>
          <a:p>
            <a:pPr algn="r">
              <a:spcAft>
                <a:spcPts val="400"/>
              </a:spcAft>
            </a:pPr>
            <a:r>
              <a:rPr sz="1150" b="0" lang="en-GB">
                <a:solidFill>
                  <a:schemeClr val="tx1"/>
                </a:solidFill>
              </a:rPr>
              <a:t>−0.25</a:t>
            </a:r>
          </a:p>
        </p:txBody>
      </p:sp>
      <p:sp>
        <p:nvSpPr>
          <p:cNvPr id="154" name="Trend grid 10-1"/>
          <p:cNvSpPr/>
          <p:nvPr/>
        </p:nvSpPr>
        <p:spPr>
          <a:xfrm>
            <a:off x="457200" y="3621024"/>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5" name="Trend grid text 10-1"/>
          <p:cNvSpPr txBox="1"/>
          <p:nvPr/>
        </p:nvSpPr>
        <p:spPr>
          <a:xfrm>
            <a:off x="548640" y="3621024"/>
            <a:ext cx="658368" cy="237744"/>
          </a:xfrm>
          <a:prstGeom prst="rect">
            <a:avLst/>
          </a:prstGeom>
          <a:noFill/>
        </p:spPr>
        <p:txBody>
          <a:bodyPr wrap="square" lIns="0" rIns="0" tIns="0" bIns="0" anchor="ctr">
            <a:noAutofit/>
          </a:bodyPr>
          <a:lstStyle/>
          <a:p>
            <a:pPr algn="l">
              <a:spcAft>
                <a:spcPts val="400"/>
              </a:spcAft>
            </a:pPr>
            <a:r>
              <a:rPr sz="1150" b="1" lang="en-GB">
                <a:solidFill>
                  <a:schemeClr val="tx2"/>
                </a:solidFill>
              </a:rPr>
              <a:t>Sum</a:t>
            </a:r>
          </a:p>
        </p:txBody>
      </p:sp>
      <p:sp>
        <p:nvSpPr>
          <p:cNvPr id="156" name="Trend grid 10-2"/>
          <p:cNvSpPr/>
          <p:nvPr/>
        </p:nvSpPr>
        <p:spPr>
          <a:xfrm>
            <a:off x="1325880" y="3621024"/>
            <a:ext cx="11612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7" name="Trend grid text 10-2"/>
          <p:cNvSpPr txBox="1"/>
          <p:nvPr/>
        </p:nvSpPr>
        <p:spPr>
          <a:xfrm>
            <a:off x="1417320" y="3621024"/>
            <a:ext cx="97840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378</a:t>
            </a:r>
          </a:p>
        </p:txBody>
      </p:sp>
      <p:sp>
        <p:nvSpPr>
          <p:cNvPr id="158" name="Trend grid 10-3"/>
          <p:cNvSpPr/>
          <p:nvPr/>
        </p:nvSpPr>
        <p:spPr>
          <a:xfrm>
            <a:off x="2514600" y="3621024"/>
            <a:ext cx="79552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9" name="Trend grid text 10-3"/>
          <p:cNvSpPr txBox="1"/>
          <p:nvPr/>
        </p:nvSpPr>
        <p:spPr>
          <a:xfrm>
            <a:off x="2606040" y="3621024"/>
            <a:ext cx="61264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0</a:t>
            </a:r>
          </a:p>
        </p:txBody>
      </p:sp>
      <p:sp>
        <p:nvSpPr>
          <p:cNvPr id="160" name="Trend grid 10-4"/>
          <p:cNvSpPr/>
          <p:nvPr/>
        </p:nvSpPr>
        <p:spPr>
          <a:xfrm>
            <a:off x="3337560" y="3621024"/>
            <a:ext cx="88696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1" name="Trend grid text 10-4"/>
          <p:cNvSpPr txBox="1"/>
          <p:nvPr/>
        </p:nvSpPr>
        <p:spPr>
          <a:xfrm>
            <a:off x="3429000" y="3621024"/>
            <a:ext cx="70408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0</a:t>
            </a:r>
          </a:p>
        </p:txBody>
      </p:sp>
      <p:sp>
        <p:nvSpPr>
          <p:cNvPr id="162" name="Trend grid 10-5"/>
          <p:cNvSpPr/>
          <p:nvPr/>
        </p:nvSpPr>
        <p:spPr>
          <a:xfrm>
            <a:off x="4251960" y="3621024"/>
            <a:ext cx="143560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3" name="Trend grid text 10-5"/>
          <p:cNvSpPr txBox="1"/>
          <p:nvPr/>
        </p:nvSpPr>
        <p:spPr>
          <a:xfrm>
            <a:off x="4343400" y="3621024"/>
            <a:ext cx="125272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84</a:t>
            </a:r>
          </a:p>
        </p:txBody>
      </p:sp>
      <p:sp>
        <p:nvSpPr>
          <p:cNvPr id="164" name="Trend grid 10-6"/>
          <p:cNvSpPr/>
          <p:nvPr/>
        </p:nvSpPr>
        <p:spPr>
          <a:xfrm>
            <a:off x="5715000" y="3621024"/>
            <a:ext cx="93268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5" name="Trend grid text 10-6"/>
          <p:cNvSpPr txBox="1"/>
          <p:nvPr/>
        </p:nvSpPr>
        <p:spPr>
          <a:xfrm>
            <a:off x="5806440" y="3621024"/>
            <a:ext cx="74980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42</a:t>
            </a:r>
          </a:p>
        </p:txBody>
      </p:sp>
      <p:sp>
        <p:nvSpPr>
          <p:cNvPr id="166" name="Trend grid 10-7"/>
          <p:cNvSpPr/>
          <p:nvPr/>
        </p:nvSpPr>
        <p:spPr>
          <a:xfrm>
            <a:off x="6675120" y="3621024"/>
            <a:ext cx="841248"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7" name="Trend grid text 10-7"/>
          <p:cNvSpPr txBox="1"/>
          <p:nvPr/>
        </p:nvSpPr>
        <p:spPr>
          <a:xfrm>
            <a:off x="6766560" y="3621024"/>
            <a:ext cx="65836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378</a:t>
            </a:r>
          </a:p>
        </p:txBody>
      </p:sp>
      <p:sp>
        <p:nvSpPr>
          <p:cNvPr id="168" name="Trend grid 10-8"/>
          <p:cNvSpPr/>
          <p:nvPr/>
        </p:nvSpPr>
        <p:spPr>
          <a:xfrm>
            <a:off x="7543800" y="3621024"/>
            <a:ext cx="1143000" cy="23774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9" name="Trend grid text 10-8"/>
          <p:cNvSpPr txBox="1"/>
          <p:nvPr/>
        </p:nvSpPr>
        <p:spPr>
          <a:xfrm>
            <a:off x="7635240" y="3621024"/>
            <a:ext cx="932688" cy="237744"/>
          </a:xfrm>
          <a:prstGeom prst="rect">
            <a:avLst/>
          </a:prstGeom>
          <a:noFill/>
        </p:spPr>
        <p:txBody>
          <a:bodyPr wrap="square" lIns="0" rIns="0" tIns="0" bIns="0" anchor="ctr">
            <a:noAutofit/>
          </a:bodyPr>
          <a:lstStyle/>
          <a:p>
            <a:pPr algn="r">
              <a:spcAft>
                <a:spcPts val="400"/>
              </a:spcAft>
            </a:pPr>
            <a:r>
              <a:rPr sz="1150" b="1" lang="en-GB">
                <a:solidFill>
                  <a:schemeClr val="tx2"/>
                </a:solidFill>
              </a:rPr>
              <a:t>0</a:t>
            </a:r>
          </a:p>
        </p:txBody>
      </p:sp>
      <p:sp>
        <p:nvSpPr>
          <p:cNvPr id="170" name="Trend caption"/>
          <p:cNvSpPr txBox="1"/>
          <p:nvPr/>
        </p:nvSpPr>
        <p:spPr>
          <a:xfrm>
            <a:off x="457200" y="3886200"/>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Means: t̄ = 4.5, ȳ = 47.25. Fitted = 38.25 + 2 × t; residual = y − fitted.</a:t>
            </a:r>
          </a:p>
        </p:txBody>
      </p:sp>
      <p:sp>
        <p:nvSpPr>
          <p:cNvPr id="171" name="Trend table callout box"/>
          <p:cNvSpPr/>
          <p:nvPr/>
        </p:nvSpPr>
        <p:spPr>
          <a:xfrm>
            <a:off x="457200" y="4279392"/>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2" name="Trend table callout text"/>
          <p:cNvSpPr txBox="1"/>
          <p:nvPr/>
        </p:nvSpPr>
        <p:spPr>
          <a:xfrm>
            <a:off x="658368" y="4279392"/>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b1 = 84 / 42 = 2, b0 = 47.25 − 2 × 4.5 = 38.25: </a:t>
            </a:r>
            <a:r>
              <a:rPr sz="1200" b="0" lang="en-GB">
                <a:solidFill>
                  <a:schemeClr val="bg1"/>
                </a:solidFill>
              </a:rPr>
              <a:t>two sums give the trend line.</a:t>
            </a:r>
          </a:p>
        </p:txBody>
      </p:sp>
      <p:sp>
        <p:nvSpPr>
          <p:cNvPr id="173"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Season by hand: the chocolate shop</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Season grid 1-1"/>
          <p:cNvSpPr/>
          <p:nvPr/>
        </p:nvSpPr>
        <p:spPr>
          <a:xfrm>
            <a:off x="457200" y="1234440"/>
            <a:ext cx="216712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Season grid text 1-1"/>
          <p:cNvSpPr txBox="1"/>
          <p:nvPr/>
        </p:nvSpPr>
        <p:spPr>
          <a:xfrm>
            <a:off x="548640" y="1234440"/>
            <a:ext cx="1984248" cy="384048"/>
          </a:xfrm>
          <a:prstGeom prst="rect">
            <a:avLst/>
          </a:prstGeom>
          <a:noFill/>
        </p:spPr>
        <p:txBody>
          <a:bodyPr wrap="square" lIns="0" rIns="0" tIns="0" bIns="0" anchor="ctr">
            <a:noAutofit/>
          </a:bodyPr>
          <a:lstStyle/>
          <a:p>
            <a:pPr algn="l">
              <a:spcAft>
                <a:spcPts val="400"/>
              </a:spcAft>
            </a:pPr>
            <a:r>
              <a:rPr sz="1250" b="1" lang="en-GB">
                <a:solidFill>
                  <a:schemeClr val="bg1"/>
                </a:solidFill>
              </a:rPr>
              <a:t>Sales, k EUR</a:t>
            </a:r>
          </a:p>
        </p:txBody>
      </p:sp>
      <p:sp>
        <p:nvSpPr>
          <p:cNvPr id="12" name="Season grid 1-2"/>
          <p:cNvSpPr/>
          <p:nvPr/>
        </p:nvSpPr>
        <p:spPr>
          <a:xfrm>
            <a:off x="2651760" y="1234440"/>
            <a:ext cx="10698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 grid text 1-2"/>
          <p:cNvSpPr txBox="1"/>
          <p:nvPr/>
        </p:nvSpPr>
        <p:spPr>
          <a:xfrm>
            <a:off x="274320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Q1</a:t>
            </a:r>
          </a:p>
        </p:txBody>
      </p:sp>
      <p:sp>
        <p:nvSpPr>
          <p:cNvPr id="14" name="Season grid 1-3"/>
          <p:cNvSpPr/>
          <p:nvPr/>
        </p:nvSpPr>
        <p:spPr>
          <a:xfrm>
            <a:off x="3749040" y="1234440"/>
            <a:ext cx="10698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Season grid text 1-3"/>
          <p:cNvSpPr txBox="1"/>
          <p:nvPr/>
        </p:nvSpPr>
        <p:spPr>
          <a:xfrm>
            <a:off x="384048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Q2</a:t>
            </a:r>
          </a:p>
        </p:txBody>
      </p:sp>
      <p:sp>
        <p:nvSpPr>
          <p:cNvPr id="16" name="Season grid 1-4"/>
          <p:cNvSpPr/>
          <p:nvPr/>
        </p:nvSpPr>
        <p:spPr>
          <a:xfrm>
            <a:off x="4846320" y="1234440"/>
            <a:ext cx="106984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 grid text 1-4"/>
          <p:cNvSpPr txBox="1"/>
          <p:nvPr/>
        </p:nvSpPr>
        <p:spPr>
          <a:xfrm>
            <a:off x="493776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Q3</a:t>
            </a:r>
          </a:p>
        </p:txBody>
      </p:sp>
      <p:sp>
        <p:nvSpPr>
          <p:cNvPr id="18" name="Season grid 1-5"/>
          <p:cNvSpPr/>
          <p:nvPr/>
        </p:nvSpPr>
        <p:spPr>
          <a:xfrm>
            <a:off x="5943600" y="1234440"/>
            <a:ext cx="1069848" cy="3840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Season grid text 1-5"/>
          <p:cNvSpPr txBox="1"/>
          <p:nvPr/>
        </p:nvSpPr>
        <p:spPr>
          <a:xfrm>
            <a:off x="6035040" y="1234440"/>
            <a:ext cx="88696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Q4</a:t>
            </a:r>
          </a:p>
        </p:txBody>
      </p:sp>
      <p:sp>
        <p:nvSpPr>
          <p:cNvPr id="20" name="Season grid 1-6"/>
          <p:cNvSpPr/>
          <p:nvPr/>
        </p:nvSpPr>
        <p:spPr>
          <a:xfrm>
            <a:off x="7040880" y="1234440"/>
            <a:ext cx="1645920"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ason grid text 1-6"/>
          <p:cNvSpPr txBox="1"/>
          <p:nvPr/>
        </p:nvSpPr>
        <p:spPr>
          <a:xfrm>
            <a:off x="7132320" y="1234440"/>
            <a:ext cx="1435608" cy="384048"/>
          </a:xfrm>
          <a:prstGeom prst="rect">
            <a:avLst/>
          </a:prstGeom>
          <a:noFill/>
        </p:spPr>
        <p:txBody>
          <a:bodyPr wrap="square" lIns="0" rIns="0" tIns="0" bIns="0" anchor="ctr">
            <a:noAutofit/>
          </a:bodyPr>
          <a:lstStyle/>
          <a:p>
            <a:pPr algn="r">
              <a:spcAft>
                <a:spcPts val="400"/>
              </a:spcAft>
            </a:pPr>
            <a:r>
              <a:rPr sz="1250" b="1" lang="en-GB">
                <a:solidFill>
                  <a:schemeClr val="bg1"/>
                </a:solidFill>
              </a:rPr>
              <a:t>Year mean</a:t>
            </a:r>
          </a:p>
        </p:txBody>
      </p:sp>
      <p:sp>
        <p:nvSpPr>
          <p:cNvPr id="22" name="Season grid 2-1"/>
          <p:cNvSpPr/>
          <p:nvPr/>
        </p:nvSpPr>
        <p:spPr>
          <a:xfrm>
            <a:off x="457200" y="1645920"/>
            <a:ext cx="2167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Season grid text 2-1"/>
          <p:cNvSpPr txBox="1"/>
          <p:nvPr/>
        </p:nvSpPr>
        <p:spPr>
          <a:xfrm>
            <a:off x="548640" y="1645920"/>
            <a:ext cx="198424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Year 1</a:t>
            </a:r>
          </a:p>
        </p:txBody>
      </p:sp>
      <p:sp>
        <p:nvSpPr>
          <p:cNvPr id="24" name="Season grid 2-2"/>
          <p:cNvSpPr/>
          <p:nvPr/>
        </p:nvSpPr>
        <p:spPr>
          <a:xfrm>
            <a:off x="265176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Season grid text 2-2"/>
          <p:cNvSpPr txBox="1"/>
          <p:nvPr/>
        </p:nvSpPr>
        <p:spPr>
          <a:xfrm>
            <a:off x="2743200" y="164592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26" name="Season grid 2-3"/>
          <p:cNvSpPr/>
          <p:nvPr/>
        </p:nvSpPr>
        <p:spPr>
          <a:xfrm>
            <a:off x="374904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Season grid text 2-3"/>
          <p:cNvSpPr txBox="1"/>
          <p:nvPr/>
        </p:nvSpPr>
        <p:spPr>
          <a:xfrm>
            <a:off x="3840480" y="164592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16</a:t>
            </a:r>
          </a:p>
        </p:txBody>
      </p:sp>
      <p:sp>
        <p:nvSpPr>
          <p:cNvPr id="28" name="Season grid 2-4"/>
          <p:cNvSpPr/>
          <p:nvPr/>
        </p:nvSpPr>
        <p:spPr>
          <a:xfrm>
            <a:off x="484632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Season grid text 2-4"/>
          <p:cNvSpPr txBox="1"/>
          <p:nvPr/>
        </p:nvSpPr>
        <p:spPr>
          <a:xfrm>
            <a:off x="4937760" y="164592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30" name="Season grid 2-5"/>
          <p:cNvSpPr/>
          <p:nvPr/>
        </p:nvSpPr>
        <p:spPr>
          <a:xfrm>
            <a:off x="5943600" y="164592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Season grid text 2-5"/>
          <p:cNvSpPr txBox="1"/>
          <p:nvPr/>
        </p:nvSpPr>
        <p:spPr>
          <a:xfrm>
            <a:off x="6035040" y="164592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30</a:t>
            </a:r>
          </a:p>
        </p:txBody>
      </p:sp>
      <p:sp>
        <p:nvSpPr>
          <p:cNvPr id="32" name="Season grid 2-6"/>
          <p:cNvSpPr/>
          <p:nvPr/>
        </p:nvSpPr>
        <p:spPr>
          <a:xfrm>
            <a:off x="7040880" y="1645920"/>
            <a:ext cx="1645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Season grid text 2-6"/>
          <p:cNvSpPr txBox="1"/>
          <p:nvPr/>
        </p:nvSpPr>
        <p:spPr>
          <a:xfrm>
            <a:off x="7132320" y="1645920"/>
            <a:ext cx="14356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21.5</a:t>
            </a:r>
          </a:p>
        </p:txBody>
      </p:sp>
      <p:sp>
        <p:nvSpPr>
          <p:cNvPr id="34" name="Season grid 3-1"/>
          <p:cNvSpPr/>
          <p:nvPr/>
        </p:nvSpPr>
        <p:spPr>
          <a:xfrm>
            <a:off x="457200" y="2057400"/>
            <a:ext cx="2167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Season grid text 3-1"/>
          <p:cNvSpPr txBox="1"/>
          <p:nvPr/>
        </p:nvSpPr>
        <p:spPr>
          <a:xfrm>
            <a:off x="548640" y="2057400"/>
            <a:ext cx="198424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Year 2</a:t>
            </a:r>
          </a:p>
        </p:txBody>
      </p:sp>
      <p:sp>
        <p:nvSpPr>
          <p:cNvPr id="36" name="Season grid 3-2"/>
          <p:cNvSpPr/>
          <p:nvPr/>
        </p:nvSpPr>
        <p:spPr>
          <a:xfrm>
            <a:off x="265176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Season grid text 3-2"/>
          <p:cNvSpPr txBox="1"/>
          <p:nvPr/>
        </p:nvSpPr>
        <p:spPr>
          <a:xfrm>
            <a:off x="2743200" y="205740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24</a:t>
            </a:r>
          </a:p>
        </p:txBody>
      </p:sp>
      <p:sp>
        <p:nvSpPr>
          <p:cNvPr id="38" name="Season grid 3-3"/>
          <p:cNvSpPr/>
          <p:nvPr/>
        </p:nvSpPr>
        <p:spPr>
          <a:xfrm>
            <a:off x="374904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eason grid text 3-3"/>
          <p:cNvSpPr txBox="1"/>
          <p:nvPr/>
        </p:nvSpPr>
        <p:spPr>
          <a:xfrm>
            <a:off x="3840480" y="205740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20</a:t>
            </a:r>
          </a:p>
        </p:txBody>
      </p:sp>
      <p:sp>
        <p:nvSpPr>
          <p:cNvPr id="40" name="Season grid 3-4"/>
          <p:cNvSpPr/>
          <p:nvPr/>
        </p:nvSpPr>
        <p:spPr>
          <a:xfrm>
            <a:off x="484632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eason grid text 3-4"/>
          <p:cNvSpPr txBox="1"/>
          <p:nvPr/>
        </p:nvSpPr>
        <p:spPr>
          <a:xfrm>
            <a:off x="4937760" y="205740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23</a:t>
            </a:r>
          </a:p>
        </p:txBody>
      </p:sp>
      <p:sp>
        <p:nvSpPr>
          <p:cNvPr id="42" name="Season grid 3-5"/>
          <p:cNvSpPr/>
          <p:nvPr/>
        </p:nvSpPr>
        <p:spPr>
          <a:xfrm>
            <a:off x="5943600" y="205740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Season grid text 3-5"/>
          <p:cNvSpPr txBox="1"/>
          <p:nvPr/>
        </p:nvSpPr>
        <p:spPr>
          <a:xfrm>
            <a:off x="6035040" y="205740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35</a:t>
            </a:r>
          </a:p>
        </p:txBody>
      </p:sp>
      <p:sp>
        <p:nvSpPr>
          <p:cNvPr id="44" name="Season grid 3-6"/>
          <p:cNvSpPr/>
          <p:nvPr/>
        </p:nvSpPr>
        <p:spPr>
          <a:xfrm>
            <a:off x="7040880" y="2057400"/>
            <a:ext cx="1645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Season grid text 3-6"/>
          <p:cNvSpPr txBox="1"/>
          <p:nvPr/>
        </p:nvSpPr>
        <p:spPr>
          <a:xfrm>
            <a:off x="7132320" y="2057400"/>
            <a:ext cx="14356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25.5</a:t>
            </a:r>
          </a:p>
        </p:txBody>
      </p:sp>
      <p:sp>
        <p:nvSpPr>
          <p:cNvPr id="46" name="Season grid 4-1"/>
          <p:cNvSpPr/>
          <p:nvPr/>
        </p:nvSpPr>
        <p:spPr>
          <a:xfrm>
            <a:off x="457200" y="2468880"/>
            <a:ext cx="2167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Season grid text 4-1"/>
          <p:cNvSpPr txBox="1"/>
          <p:nvPr/>
        </p:nvSpPr>
        <p:spPr>
          <a:xfrm>
            <a:off x="548640" y="2468880"/>
            <a:ext cx="198424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Year 3</a:t>
            </a:r>
          </a:p>
        </p:txBody>
      </p:sp>
      <p:sp>
        <p:nvSpPr>
          <p:cNvPr id="48" name="Season grid 4-2"/>
          <p:cNvSpPr/>
          <p:nvPr/>
        </p:nvSpPr>
        <p:spPr>
          <a:xfrm>
            <a:off x="2651760" y="246888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Season grid text 4-2"/>
          <p:cNvSpPr txBox="1"/>
          <p:nvPr/>
        </p:nvSpPr>
        <p:spPr>
          <a:xfrm>
            <a:off x="2743200" y="246888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28</a:t>
            </a:r>
          </a:p>
        </p:txBody>
      </p:sp>
      <p:sp>
        <p:nvSpPr>
          <p:cNvPr id="50" name="Season grid 4-3"/>
          <p:cNvSpPr/>
          <p:nvPr/>
        </p:nvSpPr>
        <p:spPr>
          <a:xfrm>
            <a:off x="3749040" y="246888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Season grid text 4-3"/>
          <p:cNvSpPr txBox="1"/>
          <p:nvPr/>
        </p:nvSpPr>
        <p:spPr>
          <a:xfrm>
            <a:off x="3840480" y="246888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24</a:t>
            </a:r>
          </a:p>
        </p:txBody>
      </p:sp>
      <p:sp>
        <p:nvSpPr>
          <p:cNvPr id="52" name="Season grid 4-4"/>
          <p:cNvSpPr/>
          <p:nvPr/>
        </p:nvSpPr>
        <p:spPr>
          <a:xfrm>
            <a:off x="4846320" y="246888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Season grid text 4-4"/>
          <p:cNvSpPr txBox="1"/>
          <p:nvPr/>
        </p:nvSpPr>
        <p:spPr>
          <a:xfrm>
            <a:off x="4937760" y="2468880"/>
            <a:ext cx="88696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26</a:t>
            </a:r>
          </a:p>
        </p:txBody>
      </p:sp>
      <p:sp>
        <p:nvSpPr>
          <p:cNvPr id="54" name="Season grid 4-5"/>
          <p:cNvSpPr/>
          <p:nvPr/>
        </p:nvSpPr>
        <p:spPr>
          <a:xfrm>
            <a:off x="5943600" y="246888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Season grid text 4-5"/>
          <p:cNvSpPr txBox="1"/>
          <p:nvPr/>
        </p:nvSpPr>
        <p:spPr>
          <a:xfrm>
            <a:off x="6035040" y="246888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40</a:t>
            </a:r>
          </a:p>
        </p:txBody>
      </p:sp>
      <p:sp>
        <p:nvSpPr>
          <p:cNvPr id="56" name="Season grid 4-6"/>
          <p:cNvSpPr/>
          <p:nvPr/>
        </p:nvSpPr>
        <p:spPr>
          <a:xfrm>
            <a:off x="7040880" y="2468880"/>
            <a:ext cx="1645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Season grid text 4-6"/>
          <p:cNvSpPr txBox="1"/>
          <p:nvPr/>
        </p:nvSpPr>
        <p:spPr>
          <a:xfrm>
            <a:off x="7132320" y="2468880"/>
            <a:ext cx="1435608" cy="384048"/>
          </a:xfrm>
          <a:prstGeom prst="rect">
            <a:avLst/>
          </a:prstGeom>
          <a:noFill/>
        </p:spPr>
        <p:txBody>
          <a:bodyPr wrap="square" lIns="0" rIns="0" tIns="0" bIns="0" anchor="ctr">
            <a:noAutofit/>
          </a:bodyPr>
          <a:lstStyle/>
          <a:p>
            <a:pPr algn="r">
              <a:spcAft>
                <a:spcPts val="400"/>
              </a:spcAft>
            </a:pPr>
            <a:r>
              <a:rPr sz="1250" b="0" lang="en-GB">
                <a:solidFill>
                  <a:schemeClr val="tx1"/>
                </a:solidFill>
              </a:rPr>
              <a:t>29.5</a:t>
            </a:r>
          </a:p>
        </p:txBody>
      </p:sp>
      <p:sp>
        <p:nvSpPr>
          <p:cNvPr id="58" name="Season grid 5-1"/>
          <p:cNvSpPr/>
          <p:nvPr/>
        </p:nvSpPr>
        <p:spPr>
          <a:xfrm>
            <a:off x="457200" y="2880360"/>
            <a:ext cx="216712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Season grid text 5-1"/>
          <p:cNvSpPr txBox="1"/>
          <p:nvPr/>
        </p:nvSpPr>
        <p:spPr>
          <a:xfrm>
            <a:off x="548640" y="2880360"/>
            <a:ext cx="1984248" cy="384048"/>
          </a:xfrm>
          <a:prstGeom prst="rect">
            <a:avLst/>
          </a:prstGeom>
          <a:noFill/>
        </p:spPr>
        <p:txBody>
          <a:bodyPr wrap="square" lIns="0" rIns="0" tIns="0" bIns="0" anchor="ctr">
            <a:noAutofit/>
          </a:bodyPr>
          <a:lstStyle/>
          <a:p>
            <a:pPr algn="l">
              <a:spcAft>
                <a:spcPts val="400"/>
              </a:spcAft>
            </a:pPr>
            <a:r>
              <a:rPr sz="1250" b="1" lang="en-GB">
                <a:solidFill>
                  <a:schemeClr val="tx2"/>
                </a:solidFill>
              </a:rPr>
              <a:t>Season: average gap</a:t>
            </a:r>
          </a:p>
        </p:txBody>
      </p:sp>
      <p:sp>
        <p:nvSpPr>
          <p:cNvPr id="60" name="Season grid 5-2"/>
          <p:cNvSpPr/>
          <p:nvPr/>
        </p:nvSpPr>
        <p:spPr>
          <a:xfrm>
            <a:off x="2651760" y="288036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Season grid text 5-2"/>
          <p:cNvSpPr txBox="1"/>
          <p:nvPr/>
        </p:nvSpPr>
        <p:spPr>
          <a:xfrm>
            <a:off x="2743200" y="288036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−1.5</a:t>
            </a:r>
          </a:p>
        </p:txBody>
      </p:sp>
      <p:sp>
        <p:nvSpPr>
          <p:cNvPr id="62" name="Season grid 5-3"/>
          <p:cNvSpPr/>
          <p:nvPr/>
        </p:nvSpPr>
        <p:spPr>
          <a:xfrm>
            <a:off x="3749040" y="288036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Season grid text 5-3"/>
          <p:cNvSpPr txBox="1"/>
          <p:nvPr/>
        </p:nvSpPr>
        <p:spPr>
          <a:xfrm>
            <a:off x="3840480" y="288036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−5.5</a:t>
            </a:r>
          </a:p>
        </p:txBody>
      </p:sp>
      <p:sp>
        <p:nvSpPr>
          <p:cNvPr id="64" name="Season grid 5-4"/>
          <p:cNvSpPr/>
          <p:nvPr/>
        </p:nvSpPr>
        <p:spPr>
          <a:xfrm>
            <a:off x="4846320" y="288036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Season grid text 5-4"/>
          <p:cNvSpPr txBox="1"/>
          <p:nvPr/>
        </p:nvSpPr>
        <p:spPr>
          <a:xfrm>
            <a:off x="4937760" y="288036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−2.5</a:t>
            </a:r>
          </a:p>
        </p:txBody>
      </p:sp>
      <p:sp>
        <p:nvSpPr>
          <p:cNvPr id="66" name="Season grid 5-5"/>
          <p:cNvSpPr/>
          <p:nvPr/>
        </p:nvSpPr>
        <p:spPr>
          <a:xfrm>
            <a:off x="5943600" y="2880360"/>
            <a:ext cx="1069848"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Season grid text 5-5"/>
          <p:cNvSpPr txBox="1"/>
          <p:nvPr/>
        </p:nvSpPr>
        <p:spPr>
          <a:xfrm>
            <a:off x="6035040" y="2880360"/>
            <a:ext cx="88696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+9.5</a:t>
            </a:r>
          </a:p>
        </p:txBody>
      </p:sp>
      <p:sp>
        <p:nvSpPr>
          <p:cNvPr id="68" name="Season grid 5-6"/>
          <p:cNvSpPr/>
          <p:nvPr/>
        </p:nvSpPr>
        <p:spPr>
          <a:xfrm>
            <a:off x="7040880" y="2880360"/>
            <a:ext cx="164592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Season grid text 5-6"/>
          <p:cNvSpPr txBox="1"/>
          <p:nvPr/>
        </p:nvSpPr>
        <p:spPr>
          <a:xfrm>
            <a:off x="7132320" y="2880360"/>
            <a:ext cx="1435608" cy="384048"/>
          </a:xfrm>
          <a:prstGeom prst="rect">
            <a:avLst/>
          </a:prstGeom>
          <a:noFill/>
        </p:spPr>
        <p:txBody>
          <a:bodyPr wrap="square" lIns="0" rIns="0" tIns="0" bIns="0" anchor="ctr">
            <a:noAutofit/>
          </a:bodyPr>
          <a:lstStyle/>
          <a:p>
            <a:pPr algn="r">
              <a:spcAft>
                <a:spcPts val="400"/>
              </a:spcAft>
            </a:pPr>
            <a:r>
              <a:rPr sz="1250" b="1" lang="en-GB">
                <a:solidFill>
                  <a:schemeClr val="tx2"/>
                </a:solidFill>
              </a:rPr>
              <a:t>sum 0</a:t>
            </a:r>
          </a:p>
        </p:txBody>
      </p:sp>
      <p:sp>
        <p:nvSpPr>
          <p:cNvPr id="70" name="Q4 gap row"/>
          <p:cNvSpPr/>
          <p:nvPr/>
        </p:nvSpPr>
        <p:spPr>
          <a:xfrm>
            <a:off x="457200" y="3401568"/>
            <a:ext cx="404622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Q4 gap bar"/>
          <p:cNvSpPr/>
          <p:nvPr/>
        </p:nvSpPr>
        <p:spPr>
          <a:xfrm>
            <a:off x="457200" y="3401568"/>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2" name="Q4 gap text"/>
          <p:cNvSpPr txBox="1"/>
          <p:nvPr/>
        </p:nvSpPr>
        <p:spPr>
          <a:xfrm>
            <a:off x="658368" y="3401568"/>
            <a:ext cx="3753612" cy="640080"/>
          </a:xfrm>
          <a:prstGeom prst="rect">
            <a:avLst/>
          </a:prstGeom>
          <a:noFill/>
        </p:spPr>
        <p:txBody>
          <a:bodyPr wrap="square" lIns="0" rIns="0" tIns="0" bIns="0" anchor="ctr">
            <a:noAutofit/>
          </a:bodyPr>
          <a:lstStyle/>
          <a:p>
            <a:pPr algn="l">
              <a:spcAft>
                <a:spcPts val="200"/>
              </a:spcAft>
            </a:pPr>
            <a:r>
              <a:rPr sz="1200" b="1" lang="en-GB">
                <a:solidFill>
                  <a:schemeClr val="tx2"/>
                </a:solidFill>
              </a:rPr>
              <a:t>Q4: </a:t>
            </a:r>
            <a:r>
              <a:rPr sz="1200" b="0" lang="en-GB">
                <a:solidFill>
                  <a:schemeClr val="tx1"/>
                </a:solidFill>
              </a:rPr>
              <a:t>gaps 30 − 21.5 = +8.5, then +9.5, +10.5</a:t>
            </a:r>
          </a:p>
          <a:p>
            <a:pPr algn="l">
              <a:spcAft>
                <a:spcPts val="200"/>
              </a:spcAft>
            </a:pPr>
            <a:r>
              <a:rPr sz="1200" b="0" lang="en-GB">
                <a:solidFill>
                  <a:schemeClr val="tx1"/>
                </a:solidFill>
              </a:rPr>
              <a:t>average (8.5 + 9.5 + 10.5) / 3 = +9.5</a:t>
            </a:r>
          </a:p>
        </p:txBody>
      </p:sp>
      <p:sp>
        <p:nvSpPr>
          <p:cNvPr id="73" name="Year trend row"/>
          <p:cNvSpPr/>
          <p:nvPr/>
        </p:nvSpPr>
        <p:spPr>
          <a:xfrm>
            <a:off x="4640580" y="3401568"/>
            <a:ext cx="4046220" cy="6400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4" name="Year trend bar"/>
          <p:cNvSpPr/>
          <p:nvPr/>
        </p:nvSpPr>
        <p:spPr>
          <a:xfrm>
            <a:off x="4640580" y="3401568"/>
            <a:ext cx="64008" cy="6400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Year trend text"/>
          <p:cNvSpPr txBox="1"/>
          <p:nvPr/>
        </p:nvSpPr>
        <p:spPr>
          <a:xfrm>
            <a:off x="4841748" y="3401568"/>
            <a:ext cx="3753612" cy="640080"/>
          </a:xfrm>
          <a:prstGeom prst="rect">
            <a:avLst/>
          </a:prstGeom>
          <a:noFill/>
        </p:spPr>
        <p:txBody>
          <a:bodyPr wrap="square" lIns="0" rIns="0" tIns="0" bIns="0" anchor="ctr">
            <a:noAutofit/>
          </a:bodyPr>
          <a:lstStyle/>
          <a:p>
            <a:pPr algn="l">
              <a:spcAft>
                <a:spcPts val="200"/>
              </a:spcAft>
            </a:pPr>
            <a:r>
              <a:rPr sz="1200" b="1" lang="en-GB">
                <a:solidFill>
                  <a:schemeClr val="tx2"/>
                </a:solidFill>
              </a:rPr>
              <a:t>Trend: </a:t>
            </a:r>
            <a:r>
              <a:rPr sz="1200" b="0" lang="en-GB">
                <a:solidFill>
                  <a:schemeClr val="tx1"/>
                </a:solidFill>
              </a:rPr>
              <a:t>year means 21.5 → 25.5 → 29.5</a:t>
            </a:r>
          </a:p>
          <a:p>
            <a:pPr algn="l">
              <a:spcAft>
                <a:spcPts val="200"/>
              </a:spcAft>
            </a:pPr>
            <a:r>
              <a:rPr sz="1200" b="0" lang="en-GB">
                <a:solidFill>
                  <a:schemeClr val="tx1"/>
                </a:solidFill>
              </a:rPr>
              <a:t>+4 a year, about +1 a quarter (slide 19)</a:t>
            </a:r>
          </a:p>
        </p:txBody>
      </p:sp>
      <p:sp>
        <p:nvSpPr>
          <p:cNvPr id="76" name="Season callout box"/>
          <p:cNvSpPr/>
          <p:nvPr/>
        </p:nvSpPr>
        <p:spPr>
          <a:xfrm>
            <a:off x="457200" y="417880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Season callout text"/>
          <p:cNvSpPr txBox="1"/>
          <p:nvPr/>
        </p:nvSpPr>
        <p:spPr>
          <a:xfrm>
            <a:off x="658368" y="4178808"/>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Season = the average gap to the year mean: </a:t>
            </a:r>
            <a:r>
              <a:rPr sz="1200" b="0" lang="en-GB">
                <a:solidFill>
                  <a:schemeClr val="bg1"/>
                </a:solidFill>
              </a:rPr>
              <a:t>Q4 sells 9.5 k EUR more than an average quarter.</a:t>
            </a:r>
          </a:p>
        </p:txBody>
      </p:sp>
      <p:sp>
        <p:nvSpPr>
          <p:cNvPr id="7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Two seasonal forecasts for year 4</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1_seasonal.png" descr="Chocolate shop sales per quarter, years 1 to 3, with two forecasts for year 4: seasonal naive (28, 24, 26, 40, grey dashed) and the seasonal regression (32, 28, 31, 43, blue dashed); Q4 of year 4 is 40 and 43 k EUR."/>
          <p:cNvPicPr>
            <a:picLocks noChangeAspect="1"/>
          </p:cNvPicPr>
          <p:nvPr/>
        </p:nvPicPr>
        <p:blipFill>
          <a:blip r:embed="rId3"/>
          <a:stretch>
            <a:fillRect/>
          </a:stretch>
        </p:blipFill>
        <p:spPr>
          <a:xfrm>
            <a:off x="457200" y="1234440"/>
            <a:ext cx="4937760" cy="2788920"/>
          </a:xfrm>
          <a:prstGeom prst="rect">
            <a:avLst/>
          </a:prstGeom>
        </p:spPr>
      </p:pic>
      <p:sp>
        <p:nvSpPr>
          <p:cNvPr id="11" name="Seasonal naive stat box"/>
          <p:cNvSpPr/>
          <p:nvPr/>
        </p:nvSpPr>
        <p:spPr>
          <a:xfrm>
            <a:off x="5532120" y="1234440"/>
            <a:ext cx="315468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asonal naive stat bar"/>
          <p:cNvSpPr/>
          <p:nvPr/>
        </p:nvSpPr>
        <p:spPr>
          <a:xfrm>
            <a:off x="5532120" y="123444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al naive stat figure"/>
          <p:cNvSpPr txBox="1"/>
          <p:nvPr/>
        </p:nvSpPr>
        <p:spPr>
          <a:xfrm>
            <a:off x="5715000" y="1234440"/>
            <a:ext cx="822960" cy="9601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40</a:t>
            </a:r>
          </a:p>
        </p:txBody>
      </p:sp>
      <p:sp>
        <p:nvSpPr>
          <p:cNvPr id="14" name="Seasonal naive stat label"/>
          <p:cNvSpPr txBox="1"/>
          <p:nvPr/>
        </p:nvSpPr>
        <p:spPr>
          <a:xfrm>
            <a:off x="6537960" y="1234440"/>
            <a:ext cx="2057400" cy="960120"/>
          </a:xfrm>
          <a:prstGeom prst="rect">
            <a:avLst/>
          </a:prstGeom>
          <a:noFill/>
        </p:spPr>
        <p:txBody>
          <a:bodyPr wrap="square" lIns="0" rIns="0" tIns="0" bIns="0" anchor="ctr">
            <a:noAutofit/>
          </a:bodyPr>
          <a:lstStyle/>
          <a:p>
            <a:pPr algn="l">
              <a:spcAft>
                <a:spcPts val="200"/>
              </a:spcAft>
            </a:pPr>
            <a:r>
              <a:rPr sz="1200" b="1" lang="en-GB">
                <a:solidFill>
                  <a:schemeClr val="tx2"/>
                </a:solidFill>
              </a:rPr>
              <a:t>seasonal naive:</a:t>
            </a:r>
            <a:r>
              <a:rPr sz="1200" b="0" lang="en-GB">
                <a:solidFill>
                  <a:schemeClr val="tx1"/>
                </a:solidFill>
              </a:rPr>
              <a:t/>
            </a:r>
          </a:p>
          <a:p>
            <a:pPr algn="l">
              <a:spcAft>
                <a:spcPts val="200"/>
              </a:spcAft>
            </a:pPr>
            <a:r>
              <a:rPr sz="1200" b="0" lang="en-GB">
                <a:solidFill>
                  <a:schemeClr val="tx1"/>
                </a:solidFill>
              </a:rPr>
              <a:t>Q4 of year 4</a:t>
            </a:r>
          </a:p>
          <a:p>
            <a:pPr algn="l">
              <a:spcAft>
                <a:spcPts val="200"/>
              </a:spcAft>
            </a:pPr>
            <a:r>
              <a:rPr sz="1200" b="0" lang="en-GB">
                <a:solidFill>
                  <a:schemeClr val="tx1"/>
                </a:solidFill>
              </a:rPr>
              <a:t>= Q4 of year 3</a:t>
            </a:r>
          </a:p>
        </p:txBody>
      </p:sp>
      <p:sp>
        <p:nvSpPr>
          <p:cNvPr id="15" name="Seasonal regression stat box"/>
          <p:cNvSpPr/>
          <p:nvPr/>
        </p:nvSpPr>
        <p:spPr>
          <a:xfrm>
            <a:off x="5532120" y="2331720"/>
            <a:ext cx="3154680" cy="96012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asonal regression stat bar"/>
          <p:cNvSpPr/>
          <p:nvPr/>
        </p:nvSpPr>
        <p:spPr>
          <a:xfrm>
            <a:off x="5532120" y="2331720"/>
            <a:ext cx="64008" cy="9601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al regression stat figure"/>
          <p:cNvSpPr txBox="1"/>
          <p:nvPr/>
        </p:nvSpPr>
        <p:spPr>
          <a:xfrm>
            <a:off x="5715000" y="2331720"/>
            <a:ext cx="822960" cy="96012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43</a:t>
            </a:r>
          </a:p>
        </p:txBody>
      </p:sp>
      <p:sp>
        <p:nvSpPr>
          <p:cNvPr id="18" name="Seasonal regression stat label"/>
          <p:cNvSpPr txBox="1"/>
          <p:nvPr/>
        </p:nvSpPr>
        <p:spPr>
          <a:xfrm>
            <a:off x="6537960" y="2331720"/>
            <a:ext cx="2057400" cy="960120"/>
          </a:xfrm>
          <a:prstGeom prst="rect">
            <a:avLst/>
          </a:prstGeom>
          <a:noFill/>
        </p:spPr>
        <p:txBody>
          <a:bodyPr wrap="square" lIns="0" rIns="0" tIns="0" bIns="0" anchor="ctr">
            <a:noAutofit/>
          </a:bodyPr>
          <a:lstStyle/>
          <a:p>
            <a:pPr algn="l">
              <a:spcAft>
                <a:spcPts val="200"/>
              </a:spcAft>
            </a:pPr>
            <a:r>
              <a:rPr sz="1200" b="1" lang="en-GB">
                <a:solidFill>
                  <a:schemeClr val="tx2"/>
                </a:solidFill>
              </a:rPr>
              <a:t>seasonal regression:</a:t>
            </a:r>
            <a:r>
              <a:rPr sz="1200" b="0" lang="en-GB">
                <a:solidFill>
                  <a:schemeClr val="tx1"/>
                </a:solidFill>
              </a:rPr>
              <a:t/>
            </a:r>
          </a:p>
          <a:p>
            <a:pPr algn="l">
              <a:spcAft>
                <a:spcPts val="200"/>
              </a:spcAft>
            </a:pPr>
            <a:r>
              <a:rPr sz="1200" b="0" lang="en-GB">
                <a:solidFill>
                  <a:schemeClr val="tx1"/>
                </a:solidFill>
              </a:rPr>
              <a:t>19 + 1 × 16 + 8</a:t>
            </a:r>
          </a:p>
          <a:p>
            <a:pPr algn="l">
              <a:spcAft>
                <a:spcPts val="200"/>
              </a:spcAft>
            </a:pPr>
            <a:r>
              <a:rPr sz="1200" b="0" lang="en-GB">
                <a:solidFill>
                  <a:schemeClr val="tx1"/>
                </a:solidFill>
              </a:rPr>
              <a:t>the trend at t = 16 plus the Q4 effect</a:t>
            </a:r>
          </a:p>
        </p:txBody>
      </p:sp>
      <p:sp>
        <p:nvSpPr>
          <p:cNvPr id="19" name="Regression caption"/>
          <p:cNvSpPr txBox="1"/>
          <p:nvPr/>
        </p:nvSpPr>
        <p:spPr>
          <a:xfrm>
            <a:off x="5532120" y="3337560"/>
            <a:ext cx="3154680" cy="731520"/>
          </a:xfrm>
          <a:prstGeom prst="rect">
            <a:avLst/>
          </a:prstGeom>
          <a:noFill/>
        </p:spPr>
        <p:txBody>
          <a:bodyPr wrap="square" lIns="0" rIns="0" tIns="0" bIns="0" anchor="ctr">
            <a:noAutofit/>
          </a:bodyPr>
          <a:lstStyle/>
          <a:p>
            <a:pPr algn="l">
              <a:spcAft>
                <a:spcPts val="0"/>
              </a:spcAft>
            </a:pPr>
            <a:r>
              <a:rPr sz="1100" b="0" lang="en-GB">
                <a:solidFill>
                  <a:srgbClr val="595959"/>
                </a:solidFill>
              </a:rPr>
              <a:t>Regression, R² 0.992:</a:t>
            </a:r>
          </a:p>
          <a:p>
            <a:pPr algn="l">
              <a:spcAft>
                <a:spcPts val="0"/>
              </a:spcAft>
            </a:pPr>
            <a:r>
              <a:rPr sz="1100" b="0" lang="en-GB">
                <a:solidFill>
                  <a:srgbClr val="595959"/>
                </a:solidFill>
              </a:rPr>
              <a:t>19 + 1 × t − 5 Q2 − 3 Q3 + 8 Q4</a:t>
            </a:r>
          </a:p>
          <a:p>
            <a:pPr algn="l">
              <a:spcAft>
                <a:spcPts val="0"/>
              </a:spcAft>
            </a:pPr>
            <a:r>
              <a:rPr sz="1100" b="0" lang="en-GB">
                <a:solidFill>
                  <a:srgbClr val="595959"/>
                </a:solidFill>
              </a:rPr>
              <a:t>Q2, Q3, Q4 = 1 in that quarter, else 0</a:t>
            </a:r>
          </a:p>
          <a:p>
            <a:pPr algn="l">
              <a:spcAft>
                <a:spcPts val="0"/>
              </a:spcAft>
            </a:pPr>
            <a:r>
              <a:rPr sz="1100" b="0" lang="en-GB">
                <a:solidFill>
                  <a:srgbClr val="595959"/>
                </a:solidFill>
              </a:rPr>
              <a:t>(Q1 = base)</a:t>
            </a:r>
          </a:p>
        </p:txBody>
      </p:sp>
      <p:sp>
        <p:nvSpPr>
          <p:cNvPr id="20" name="Seasonal callout box"/>
          <p:cNvSpPr/>
          <p:nvPr/>
        </p:nvSpPr>
        <p:spPr>
          <a:xfrm>
            <a:off x="457200" y="416052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asonal callout text"/>
          <p:cNvSpPr txBox="1"/>
          <p:nvPr/>
        </p:nvSpPr>
        <p:spPr>
          <a:xfrm>
            <a:off x="658368" y="416052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Seasonal naive repeats last year; </a:t>
            </a:r>
            <a:r>
              <a:rPr sz="1200" b="0" lang="en-GB">
                <a:solidFill>
                  <a:schemeClr val="bg1"/>
                </a:solidFill>
              </a:rPr>
              <a:t>the regression adds the trend of +1 a quarter.</a:t>
            </a:r>
          </a:p>
        </p:txBody>
      </p:sp>
      <p:sp>
        <p:nvSpPr>
          <p:cNvPr id="2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3 of 6 · hold out, measure, compare</a:t>
            </a:r>
          </a:p>
        </p:txBody>
      </p:sp>
      <p:sp>
        <p:nvSpPr>
          <p:cNvPr id="3" name="Title 2"/>
          <p:cNvSpPr>
            <a:spLocks noGrp="1"/>
          </p:cNvSpPr>
          <p:nvPr>
            <p:ph type="ctrTitle"/>
          </p:nvPr>
        </p:nvSpPr>
        <p:spPr/>
        <p:txBody>
          <a:bodyPr/>
          <a:lstStyle/>
          <a:p>
            <a:r>
              <a:rPr lang="en-GB"/>
              <a:t>How good is a forecast?</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Six forecasts for week 9: which to trust?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2_week9.png" descr="Dot chart of the six forecasts for week 9 of the phone shop, in new contracts: mean 47.25, moving average (3) 52, exponential smoothing 52.25, naive 54, drift 56, trend regression 56.25; dotted line at last week's 54."/>
          <p:cNvPicPr>
            <a:picLocks noChangeAspect="1"/>
          </p:cNvPicPr>
          <p:nvPr/>
        </p:nvPicPr>
        <p:blipFill>
          <a:blip r:embed="rId3"/>
          <a:stretch>
            <a:fillRect/>
          </a:stretch>
        </p:blipFill>
        <p:spPr>
          <a:xfrm>
            <a:off x="457200" y="1234440"/>
            <a:ext cx="4023360" cy="2880360"/>
          </a:xfrm>
          <a:prstGeom prst="rect">
            <a:avLst/>
          </a:prstGeom>
        </p:spPr>
      </p:pic>
      <p:sp>
        <p:nvSpPr>
          <p:cNvPr id="11" name="Week 1 number"/>
          <p:cNvSpPr txBox="1"/>
          <p:nvPr/>
        </p:nvSpPr>
        <p:spPr>
          <a:xfrm>
            <a:off x="461772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1</a:t>
            </a:r>
          </a:p>
        </p:txBody>
      </p:sp>
      <p:sp>
        <p:nvSpPr>
          <p:cNvPr id="12" name="Week 1 box"/>
          <p:cNvSpPr/>
          <p:nvPr/>
        </p:nvSpPr>
        <p:spPr>
          <a:xfrm>
            <a:off x="4617720" y="1600200"/>
            <a:ext cx="46863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Week 1 value"/>
          <p:cNvSpPr txBox="1"/>
          <p:nvPr/>
        </p:nvSpPr>
        <p:spPr>
          <a:xfrm>
            <a:off x="461772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40</a:t>
            </a:r>
          </a:p>
        </p:txBody>
      </p:sp>
      <p:sp>
        <p:nvSpPr>
          <p:cNvPr id="14" name="Week 2 number"/>
          <p:cNvSpPr txBox="1"/>
          <p:nvPr/>
        </p:nvSpPr>
        <p:spPr>
          <a:xfrm>
            <a:off x="513207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2</a:t>
            </a:r>
          </a:p>
        </p:txBody>
      </p:sp>
      <p:sp>
        <p:nvSpPr>
          <p:cNvPr id="15" name="Week 2 box"/>
          <p:cNvSpPr/>
          <p:nvPr/>
        </p:nvSpPr>
        <p:spPr>
          <a:xfrm>
            <a:off x="5132070" y="1600200"/>
            <a:ext cx="46863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eek 2 value"/>
          <p:cNvSpPr txBox="1"/>
          <p:nvPr/>
        </p:nvSpPr>
        <p:spPr>
          <a:xfrm>
            <a:off x="513207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44</a:t>
            </a:r>
          </a:p>
        </p:txBody>
      </p:sp>
      <p:sp>
        <p:nvSpPr>
          <p:cNvPr id="17" name="Week 3 number"/>
          <p:cNvSpPr txBox="1"/>
          <p:nvPr/>
        </p:nvSpPr>
        <p:spPr>
          <a:xfrm>
            <a:off x="564642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3</a:t>
            </a:r>
          </a:p>
        </p:txBody>
      </p:sp>
      <p:sp>
        <p:nvSpPr>
          <p:cNvPr id="18" name="Week 3 box"/>
          <p:cNvSpPr/>
          <p:nvPr/>
        </p:nvSpPr>
        <p:spPr>
          <a:xfrm>
            <a:off x="5646420" y="1600200"/>
            <a:ext cx="46863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Week 3 value"/>
          <p:cNvSpPr txBox="1"/>
          <p:nvPr/>
        </p:nvSpPr>
        <p:spPr>
          <a:xfrm>
            <a:off x="564642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42</a:t>
            </a:r>
          </a:p>
        </p:txBody>
      </p:sp>
      <p:sp>
        <p:nvSpPr>
          <p:cNvPr id="20" name="Week 4 number"/>
          <p:cNvSpPr txBox="1"/>
          <p:nvPr/>
        </p:nvSpPr>
        <p:spPr>
          <a:xfrm>
            <a:off x="616077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4</a:t>
            </a:r>
          </a:p>
        </p:txBody>
      </p:sp>
      <p:sp>
        <p:nvSpPr>
          <p:cNvPr id="21" name="Week 4 box"/>
          <p:cNvSpPr/>
          <p:nvPr/>
        </p:nvSpPr>
        <p:spPr>
          <a:xfrm>
            <a:off x="6160770" y="1600200"/>
            <a:ext cx="46863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Week 4 value"/>
          <p:cNvSpPr txBox="1"/>
          <p:nvPr/>
        </p:nvSpPr>
        <p:spPr>
          <a:xfrm>
            <a:off x="616077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46</a:t>
            </a:r>
          </a:p>
        </p:txBody>
      </p:sp>
      <p:sp>
        <p:nvSpPr>
          <p:cNvPr id="23" name="Week 5 number"/>
          <p:cNvSpPr txBox="1"/>
          <p:nvPr/>
        </p:nvSpPr>
        <p:spPr>
          <a:xfrm>
            <a:off x="667512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5</a:t>
            </a:r>
          </a:p>
        </p:txBody>
      </p:sp>
      <p:sp>
        <p:nvSpPr>
          <p:cNvPr id="24" name="Week 5 box"/>
          <p:cNvSpPr/>
          <p:nvPr/>
        </p:nvSpPr>
        <p:spPr>
          <a:xfrm>
            <a:off x="6675120" y="1600200"/>
            <a:ext cx="46863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Week 5 value"/>
          <p:cNvSpPr txBox="1"/>
          <p:nvPr/>
        </p:nvSpPr>
        <p:spPr>
          <a:xfrm>
            <a:off x="667512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50</a:t>
            </a:r>
          </a:p>
        </p:txBody>
      </p:sp>
      <p:sp>
        <p:nvSpPr>
          <p:cNvPr id="26" name="Week 6 number"/>
          <p:cNvSpPr txBox="1"/>
          <p:nvPr/>
        </p:nvSpPr>
        <p:spPr>
          <a:xfrm>
            <a:off x="718947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6</a:t>
            </a:r>
          </a:p>
        </p:txBody>
      </p:sp>
      <p:sp>
        <p:nvSpPr>
          <p:cNvPr id="27" name="Week 6 box"/>
          <p:cNvSpPr/>
          <p:nvPr/>
        </p:nvSpPr>
        <p:spPr>
          <a:xfrm>
            <a:off x="7189470" y="1600200"/>
            <a:ext cx="4686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Week 6 value"/>
          <p:cNvSpPr txBox="1"/>
          <p:nvPr/>
        </p:nvSpPr>
        <p:spPr>
          <a:xfrm>
            <a:off x="718947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49</a:t>
            </a:r>
          </a:p>
        </p:txBody>
      </p:sp>
      <p:sp>
        <p:nvSpPr>
          <p:cNvPr id="29" name="Week 7 number"/>
          <p:cNvSpPr txBox="1"/>
          <p:nvPr/>
        </p:nvSpPr>
        <p:spPr>
          <a:xfrm>
            <a:off x="770382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7</a:t>
            </a:r>
          </a:p>
        </p:txBody>
      </p:sp>
      <p:sp>
        <p:nvSpPr>
          <p:cNvPr id="30" name="Week 7 box"/>
          <p:cNvSpPr/>
          <p:nvPr/>
        </p:nvSpPr>
        <p:spPr>
          <a:xfrm>
            <a:off x="7703820" y="1600200"/>
            <a:ext cx="4686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Week 7 value"/>
          <p:cNvSpPr txBox="1"/>
          <p:nvPr/>
        </p:nvSpPr>
        <p:spPr>
          <a:xfrm>
            <a:off x="770382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53</a:t>
            </a:r>
          </a:p>
        </p:txBody>
      </p:sp>
      <p:sp>
        <p:nvSpPr>
          <p:cNvPr id="32" name="Week 8 number"/>
          <p:cNvSpPr txBox="1"/>
          <p:nvPr/>
        </p:nvSpPr>
        <p:spPr>
          <a:xfrm>
            <a:off x="8218170" y="1325880"/>
            <a:ext cx="468630" cy="237744"/>
          </a:xfrm>
          <a:prstGeom prst="rect">
            <a:avLst/>
          </a:prstGeom>
          <a:noFill/>
        </p:spPr>
        <p:txBody>
          <a:bodyPr wrap="square" lIns="0" rIns="0" tIns="0" bIns="0" anchor="b">
            <a:noAutofit/>
          </a:bodyPr>
          <a:lstStyle/>
          <a:p>
            <a:pPr algn="ctr">
              <a:spcAft>
                <a:spcPts val="400"/>
              </a:spcAft>
            </a:pPr>
            <a:r>
              <a:rPr sz="1100" b="0" lang="en-GB">
                <a:solidFill>
                  <a:srgbClr val="595959"/>
                </a:solidFill>
              </a:rPr>
              <a:t>8</a:t>
            </a:r>
          </a:p>
        </p:txBody>
      </p:sp>
      <p:sp>
        <p:nvSpPr>
          <p:cNvPr id="33" name="Week 8 box"/>
          <p:cNvSpPr/>
          <p:nvPr/>
        </p:nvSpPr>
        <p:spPr>
          <a:xfrm>
            <a:off x="8218170" y="1600200"/>
            <a:ext cx="468630"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Week 8 value"/>
          <p:cNvSpPr txBox="1"/>
          <p:nvPr/>
        </p:nvSpPr>
        <p:spPr>
          <a:xfrm>
            <a:off x="8218170" y="1600200"/>
            <a:ext cx="468630" cy="457200"/>
          </a:xfrm>
          <a:prstGeom prst="rect">
            <a:avLst/>
          </a:prstGeom>
          <a:noFill/>
        </p:spPr>
        <p:txBody>
          <a:bodyPr wrap="square" lIns="0" rIns="0" tIns="0" bIns="0" anchor="ctr">
            <a:noAutofit/>
          </a:bodyPr>
          <a:lstStyle/>
          <a:p>
            <a:pPr algn="ctr">
              <a:spcAft>
                <a:spcPts val="400"/>
              </a:spcAft>
            </a:pPr>
            <a:r>
              <a:rPr sz="1300" b="1" lang="en-GB">
                <a:solidFill>
                  <a:schemeClr val="bg1"/>
                </a:solidFill>
              </a:rPr>
              <a:t>54</a:t>
            </a:r>
          </a:p>
        </p:txBody>
      </p:sp>
      <p:sp>
        <p:nvSpPr>
          <p:cNvPr id="35" name="Training label"/>
          <p:cNvSpPr txBox="1"/>
          <p:nvPr/>
        </p:nvSpPr>
        <p:spPr>
          <a:xfrm>
            <a:off x="4617720" y="2103120"/>
            <a:ext cx="2526030" cy="292608"/>
          </a:xfrm>
          <a:prstGeom prst="rect">
            <a:avLst/>
          </a:prstGeom>
          <a:noFill/>
        </p:spPr>
        <p:txBody>
          <a:bodyPr wrap="square" lIns="0" rIns="0" tIns="0" bIns="0" anchor="ctr">
            <a:noAutofit/>
          </a:bodyPr>
          <a:lstStyle/>
          <a:p>
            <a:pPr algn="ctr">
              <a:spcAft>
                <a:spcPts val="400"/>
              </a:spcAft>
            </a:pPr>
            <a:r>
              <a:rPr sz="1200" b="1" lang="en-GB">
                <a:solidFill>
                  <a:schemeClr val="tx2"/>
                </a:solidFill>
              </a:rPr>
              <a:t>training period</a:t>
            </a:r>
          </a:p>
        </p:txBody>
      </p:sp>
      <p:sp>
        <p:nvSpPr>
          <p:cNvPr id="36" name="Holdout label"/>
          <p:cNvSpPr txBox="1"/>
          <p:nvPr/>
        </p:nvSpPr>
        <p:spPr>
          <a:xfrm>
            <a:off x="6823710" y="2103120"/>
            <a:ext cx="1863090" cy="292608"/>
          </a:xfrm>
          <a:prstGeom prst="rect">
            <a:avLst/>
          </a:prstGeom>
          <a:noFill/>
        </p:spPr>
        <p:txBody>
          <a:bodyPr wrap="square" lIns="0" rIns="0" tIns="0" bIns="0" anchor="ctr">
            <a:noAutofit/>
          </a:bodyPr>
          <a:lstStyle/>
          <a:p>
            <a:pPr algn="r">
              <a:spcAft>
                <a:spcPts val="400"/>
              </a:spcAft>
            </a:pPr>
            <a:r>
              <a:rPr sz="1200" b="1" lang="en-GB">
                <a:solidFill>
                  <a:schemeClr val="tx2"/>
                </a:solidFill>
              </a:rPr>
              <a:t>holdout: weeks 6–8</a:t>
            </a:r>
          </a:p>
        </p:txBody>
      </p:sp>
      <p:sp>
        <p:nvSpPr>
          <p:cNvPr id="37" name="Step 1 row"/>
          <p:cNvSpPr/>
          <p:nvPr/>
        </p:nvSpPr>
        <p:spPr>
          <a:xfrm>
            <a:off x="4617720" y="2514600"/>
            <a:ext cx="406908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Step 1 bar"/>
          <p:cNvSpPr/>
          <p:nvPr/>
        </p:nvSpPr>
        <p:spPr>
          <a:xfrm>
            <a:off x="4617720" y="251460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Step 1 text"/>
          <p:cNvSpPr txBox="1"/>
          <p:nvPr/>
        </p:nvSpPr>
        <p:spPr>
          <a:xfrm>
            <a:off x="4818888" y="2514600"/>
            <a:ext cx="377647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Step 1: </a:t>
            </a:r>
            <a:r>
              <a:rPr sz="1200" b="0" lang="en-GB">
                <a:solidFill>
                  <a:schemeClr val="tx1"/>
                </a:solidFill>
              </a:rPr>
              <a:t>fit each method on weeks 1–5</a:t>
            </a:r>
          </a:p>
        </p:txBody>
      </p:sp>
      <p:sp>
        <p:nvSpPr>
          <p:cNvPr id="40" name="Step 2 row"/>
          <p:cNvSpPr/>
          <p:nvPr/>
        </p:nvSpPr>
        <p:spPr>
          <a:xfrm>
            <a:off x="4617720" y="3108960"/>
            <a:ext cx="406908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Step 2 bar"/>
          <p:cNvSpPr/>
          <p:nvPr/>
        </p:nvSpPr>
        <p:spPr>
          <a:xfrm>
            <a:off x="4617720" y="3108960"/>
            <a:ext cx="64008" cy="4572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Step 2 text"/>
          <p:cNvSpPr txBox="1"/>
          <p:nvPr/>
        </p:nvSpPr>
        <p:spPr>
          <a:xfrm>
            <a:off x="4818888" y="3108960"/>
            <a:ext cx="3776472"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Step 2: </a:t>
            </a:r>
            <a:r>
              <a:rPr sz="1200" b="0" lang="en-GB">
                <a:solidFill>
                  <a:schemeClr val="tx1"/>
                </a:solidFill>
              </a:rPr>
              <a:t>forecast weeks 6–8, compare with 49, 53, 54</a:t>
            </a:r>
          </a:p>
        </p:txBody>
      </p:sp>
      <p:sp>
        <p:nvSpPr>
          <p:cNvPr id="43" name="Order callout box"/>
          <p:cNvSpPr/>
          <p:nvPr/>
        </p:nvSpPr>
        <p:spPr>
          <a:xfrm>
            <a:off x="4617720" y="3703320"/>
            <a:ext cx="406908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4" name="Icon Order callout" descr=""/>
          <p:cNvPicPr>
            <a:picLocks noChangeAspect="1"/>
          </p:cNvPicPr>
          <p:nvPr/>
        </p:nvPicPr>
        <p:blipFill>
          <a:blip r:embed="rId4"/>
          <a:stretch>
            <a:fillRect/>
          </a:stretch>
        </p:blipFill>
        <p:spPr>
          <a:xfrm>
            <a:off x="4754880" y="3762756"/>
            <a:ext cx="292608" cy="292608"/>
          </a:xfrm>
          <a:prstGeom prst="rect">
            <a:avLst/>
          </a:prstGeom>
        </p:spPr>
      </p:pic>
      <p:sp>
        <p:nvSpPr>
          <p:cNvPr id="45" name="Order callout text"/>
          <p:cNvSpPr txBox="1"/>
          <p:nvPr/>
        </p:nvSpPr>
        <p:spPr>
          <a:xfrm>
            <a:off x="5166360" y="3703320"/>
            <a:ext cx="3429000"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Never at random: </a:t>
            </a:r>
            <a:r>
              <a:rPr sz="1200" b="0" lang="en-GB">
                <a:solidFill>
                  <a:schemeClr val="tx1"/>
                </a:solidFill>
              </a:rPr>
              <a:t>test weeks come last.</a:t>
            </a:r>
          </a:p>
        </p:txBody>
      </p:sp>
      <p:sp>
        <p:nvSpPr>
          <p:cNvPr id="46" name="Holdout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Holdout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Six methods, six answers, 9 contracts apart: </a:t>
            </a:r>
            <a:r>
              <a:rPr sz="1200" b="0" lang="en-GB">
                <a:solidFill>
                  <a:schemeClr val="bg1"/>
                </a:solidFill>
              </a:rPr>
              <a:t>test each on weeks it has not seen.</a:t>
            </a:r>
          </a:p>
        </p:txBody>
      </p:sp>
      <p:sp>
        <p:nvSpPr>
          <p:cNvPr id="4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Errors and three measures, by hand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Error table 1-1"/>
          <p:cNvSpPr/>
          <p:nvPr/>
        </p:nvSpPr>
        <p:spPr>
          <a:xfrm>
            <a:off x="457200" y="1234440"/>
            <a:ext cx="88696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Error table text 1-1"/>
          <p:cNvSpPr txBox="1"/>
          <p:nvPr/>
        </p:nvSpPr>
        <p:spPr>
          <a:xfrm>
            <a:off x="548640" y="1234440"/>
            <a:ext cx="704088" cy="347472"/>
          </a:xfrm>
          <a:prstGeom prst="rect">
            <a:avLst/>
          </a:prstGeom>
          <a:noFill/>
        </p:spPr>
        <p:txBody>
          <a:bodyPr wrap="square" lIns="0" rIns="0" tIns="0" bIns="0" anchor="ctr">
            <a:noAutofit/>
          </a:bodyPr>
          <a:lstStyle/>
          <a:p>
            <a:pPr algn="l">
              <a:spcAft>
                <a:spcPts val="400"/>
              </a:spcAft>
            </a:pPr>
            <a:r>
              <a:rPr sz="1200" b="1" lang="en-GB">
                <a:solidFill>
                  <a:schemeClr val="bg1"/>
                </a:solidFill>
              </a:rPr>
              <a:t>Week</a:t>
            </a:r>
          </a:p>
        </p:txBody>
      </p:sp>
      <p:sp>
        <p:nvSpPr>
          <p:cNvPr id="12" name="Error table 1-2"/>
          <p:cNvSpPr/>
          <p:nvPr/>
        </p:nvSpPr>
        <p:spPr>
          <a:xfrm>
            <a:off x="1371600" y="1234440"/>
            <a:ext cx="9784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Error table text 1-2"/>
          <p:cNvSpPr txBox="1"/>
          <p:nvPr/>
        </p:nvSpPr>
        <p:spPr>
          <a:xfrm>
            <a:off x="1463040" y="1234440"/>
            <a:ext cx="7955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Actual</a:t>
            </a:r>
          </a:p>
        </p:txBody>
      </p:sp>
      <p:sp>
        <p:nvSpPr>
          <p:cNvPr id="14" name="Error table 1-3"/>
          <p:cNvSpPr/>
          <p:nvPr/>
        </p:nvSpPr>
        <p:spPr>
          <a:xfrm>
            <a:off x="2377440" y="1234440"/>
            <a:ext cx="9784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Error table text 1-3"/>
          <p:cNvSpPr txBox="1"/>
          <p:nvPr/>
        </p:nvSpPr>
        <p:spPr>
          <a:xfrm>
            <a:off x="2468880" y="1234440"/>
            <a:ext cx="7955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Naive</a:t>
            </a:r>
          </a:p>
        </p:txBody>
      </p:sp>
      <p:sp>
        <p:nvSpPr>
          <p:cNvPr id="16" name="Error table 1-4"/>
          <p:cNvSpPr/>
          <p:nvPr/>
        </p:nvSpPr>
        <p:spPr>
          <a:xfrm>
            <a:off x="3383280" y="1234440"/>
            <a:ext cx="97840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Error table text 1-4"/>
          <p:cNvSpPr txBox="1"/>
          <p:nvPr/>
        </p:nvSpPr>
        <p:spPr>
          <a:xfrm>
            <a:off x="3474720" y="1234440"/>
            <a:ext cx="79552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Error</a:t>
            </a:r>
          </a:p>
        </p:txBody>
      </p:sp>
      <p:sp>
        <p:nvSpPr>
          <p:cNvPr id="18" name="Error table 1-5"/>
          <p:cNvSpPr/>
          <p:nvPr/>
        </p:nvSpPr>
        <p:spPr>
          <a:xfrm>
            <a:off x="4389120" y="1234440"/>
            <a:ext cx="106984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Error table text 1-5"/>
          <p:cNvSpPr txBox="1"/>
          <p:nvPr/>
        </p:nvSpPr>
        <p:spPr>
          <a:xfrm>
            <a:off x="4480560" y="1234440"/>
            <a:ext cx="88696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|Error|</a:t>
            </a:r>
          </a:p>
        </p:txBody>
      </p:sp>
      <p:sp>
        <p:nvSpPr>
          <p:cNvPr id="20" name="Error table 1-6"/>
          <p:cNvSpPr/>
          <p:nvPr/>
        </p:nvSpPr>
        <p:spPr>
          <a:xfrm>
            <a:off x="5486400" y="1234440"/>
            <a:ext cx="1069848"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Error table text 1-6"/>
          <p:cNvSpPr txBox="1"/>
          <p:nvPr/>
        </p:nvSpPr>
        <p:spPr>
          <a:xfrm>
            <a:off x="5577840" y="1234440"/>
            <a:ext cx="88696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Error²</a:t>
            </a:r>
          </a:p>
        </p:txBody>
      </p:sp>
      <p:sp>
        <p:nvSpPr>
          <p:cNvPr id="22" name="Error table 1-7"/>
          <p:cNvSpPr/>
          <p:nvPr/>
        </p:nvSpPr>
        <p:spPr>
          <a:xfrm>
            <a:off x="6583680" y="1234440"/>
            <a:ext cx="2103120" cy="34747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Error table text 1-7"/>
          <p:cNvSpPr txBox="1"/>
          <p:nvPr/>
        </p:nvSpPr>
        <p:spPr>
          <a:xfrm>
            <a:off x="6675120" y="1234440"/>
            <a:ext cx="1892808" cy="347472"/>
          </a:xfrm>
          <a:prstGeom prst="rect">
            <a:avLst/>
          </a:prstGeom>
          <a:noFill/>
        </p:spPr>
        <p:txBody>
          <a:bodyPr wrap="square" lIns="0" rIns="0" tIns="0" bIns="0" anchor="ctr">
            <a:noAutofit/>
          </a:bodyPr>
          <a:lstStyle/>
          <a:p>
            <a:pPr algn="r">
              <a:spcAft>
                <a:spcPts val="400"/>
              </a:spcAft>
            </a:pPr>
            <a:r>
              <a:rPr sz="1200" b="1" lang="en-GB">
                <a:solidFill>
                  <a:schemeClr val="bg1"/>
                </a:solidFill>
              </a:rPr>
              <a:t>|Error| / actual</a:t>
            </a:r>
          </a:p>
        </p:txBody>
      </p:sp>
      <p:sp>
        <p:nvSpPr>
          <p:cNvPr id="24" name="Error table 2-1"/>
          <p:cNvSpPr/>
          <p:nvPr/>
        </p:nvSpPr>
        <p:spPr>
          <a:xfrm>
            <a:off x="457200" y="1609344"/>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Error table text 2-1"/>
          <p:cNvSpPr txBox="1"/>
          <p:nvPr/>
        </p:nvSpPr>
        <p:spPr>
          <a:xfrm>
            <a:off x="548640" y="1609344"/>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Week 6</a:t>
            </a:r>
          </a:p>
        </p:txBody>
      </p:sp>
      <p:sp>
        <p:nvSpPr>
          <p:cNvPr id="26" name="Error table 2-2"/>
          <p:cNvSpPr/>
          <p:nvPr/>
        </p:nvSpPr>
        <p:spPr>
          <a:xfrm>
            <a:off x="1371600" y="1609344"/>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Error table text 2-2"/>
          <p:cNvSpPr txBox="1"/>
          <p:nvPr/>
        </p:nvSpPr>
        <p:spPr>
          <a:xfrm>
            <a:off x="1463040" y="1609344"/>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49</a:t>
            </a:r>
          </a:p>
        </p:txBody>
      </p:sp>
      <p:sp>
        <p:nvSpPr>
          <p:cNvPr id="28" name="Error table 2-3"/>
          <p:cNvSpPr/>
          <p:nvPr/>
        </p:nvSpPr>
        <p:spPr>
          <a:xfrm>
            <a:off x="2377440" y="1609344"/>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Error table text 2-3"/>
          <p:cNvSpPr txBox="1"/>
          <p:nvPr/>
        </p:nvSpPr>
        <p:spPr>
          <a:xfrm>
            <a:off x="2468880" y="1609344"/>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30" name="Error table 2-4"/>
          <p:cNvSpPr/>
          <p:nvPr/>
        </p:nvSpPr>
        <p:spPr>
          <a:xfrm>
            <a:off x="3383280" y="1609344"/>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Error table text 2-4"/>
          <p:cNvSpPr txBox="1"/>
          <p:nvPr/>
        </p:nvSpPr>
        <p:spPr>
          <a:xfrm>
            <a:off x="3474720" y="1609344"/>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32" name="Error table 2-5"/>
          <p:cNvSpPr/>
          <p:nvPr/>
        </p:nvSpPr>
        <p:spPr>
          <a:xfrm>
            <a:off x="4389120" y="1609344"/>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Error table text 2-5"/>
          <p:cNvSpPr txBox="1"/>
          <p:nvPr/>
        </p:nvSpPr>
        <p:spPr>
          <a:xfrm>
            <a:off x="4480560" y="1609344"/>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34" name="Error table 2-6"/>
          <p:cNvSpPr/>
          <p:nvPr/>
        </p:nvSpPr>
        <p:spPr>
          <a:xfrm>
            <a:off x="5486400" y="1609344"/>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Error table text 2-6"/>
          <p:cNvSpPr txBox="1"/>
          <p:nvPr/>
        </p:nvSpPr>
        <p:spPr>
          <a:xfrm>
            <a:off x="5577840" y="1609344"/>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a:t>
            </a:r>
          </a:p>
        </p:txBody>
      </p:sp>
      <p:sp>
        <p:nvSpPr>
          <p:cNvPr id="36" name="Error table 2-7"/>
          <p:cNvSpPr/>
          <p:nvPr/>
        </p:nvSpPr>
        <p:spPr>
          <a:xfrm>
            <a:off x="6583680" y="1609344"/>
            <a:ext cx="2103120"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Error table text 2-7"/>
          <p:cNvSpPr txBox="1"/>
          <p:nvPr/>
        </p:nvSpPr>
        <p:spPr>
          <a:xfrm>
            <a:off x="6675120" y="1609344"/>
            <a:ext cx="18928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2.0 %</a:t>
            </a:r>
          </a:p>
        </p:txBody>
      </p:sp>
      <p:sp>
        <p:nvSpPr>
          <p:cNvPr id="38" name="Error table 3-1"/>
          <p:cNvSpPr/>
          <p:nvPr/>
        </p:nvSpPr>
        <p:spPr>
          <a:xfrm>
            <a:off x="457200" y="1984248"/>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Error table text 3-1"/>
          <p:cNvSpPr txBox="1"/>
          <p:nvPr/>
        </p:nvSpPr>
        <p:spPr>
          <a:xfrm>
            <a:off x="548640" y="1984248"/>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Week 7</a:t>
            </a:r>
          </a:p>
        </p:txBody>
      </p:sp>
      <p:sp>
        <p:nvSpPr>
          <p:cNvPr id="40" name="Error table 3-2"/>
          <p:cNvSpPr/>
          <p:nvPr/>
        </p:nvSpPr>
        <p:spPr>
          <a:xfrm>
            <a:off x="1371600" y="1984248"/>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Error table text 3-2"/>
          <p:cNvSpPr txBox="1"/>
          <p:nvPr/>
        </p:nvSpPr>
        <p:spPr>
          <a:xfrm>
            <a:off x="1463040" y="1984248"/>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53</a:t>
            </a:r>
          </a:p>
        </p:txBody>
      </p:sp>
      <p:sp>
        <p:nvSpPr>
          <p:cNvPr id="42" name="Error table 3-3"/>
          <p:cNvSpPr/>
          <p:nvPr/>
        </p:nvSpPr>
        <p:spPr>
          <a:xfrm>
            <a:off x="2377440" y="1984248"/>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Error table text 3-3"/>
          <p:cNvSpPr txBox="1"/>
          <p:nvPr/>
        </p:nvSpPr>
        <p:spPr>
          <a:xfrm>
            <a:off x="2468880" y="1984248"/>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44" name="Error table 3-4"/>
          <p:cNvSpPr/>
          <p:nvPr/>
        </p:nvSpPr>
        <p:spPr>
          <a:xfrm>
            <a:off x="3383280" y="1984248"/>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Error table text 3-4"/>
          <p:cNvSpPr txBox="1"/>
          <p:nvPr/>
        </p:nvSpPr>
        <p:spPr>
          <a:xfrm>
            <a:off x="3474720" y="1984248"/>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+3</a:t>
            </a:r>
          </a:p>
        </p:txBody>
      </p:sp>
      <p:sp>
        <p:nvSpPr>
          <p:cNvPr id="46" name="Error table 3-5"/>
          <p:cNvSpPr/>
          <p:nvPr/>
        </p:nvSpPr>
        <p:spPr>
          <a:xfrm>
            <a:off x="4389120" y="1984248"/>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Error table text 3-5"/>
          <p:cNvSpPr txBox="1"/>
          <p:nvPr/>
        </p:nvSpPr>
        <p:spPr>
          <a:xfrm>
            <a:off x="4480560" y="1984248"/>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3</a:t>
            </a:r>
          </a:p>
        </p:txBody>
      </p:sp>
      <p:sp>
        <p:nvSpPr>
          <p:cNvPr id="48" name="Error table 3-6"/>
          <p:cNvSpPr/>
          <p:nvPr/>
        </p:nvSpPr>
        <p:spPr>
          <a:xfrm>
            <a:off x="5486400" y="1984248"/>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Error table text 3-6"/>
          <p:cNvSpPr txBox="1"/>
          <p:nvPr/>
        </p:nvSpPr>
        <p:spPr>
          <a:xfrm>
            <a:off x="5577840" y="1984248"/>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9</a:t>
            </a:r>
          </a:p>
        </p:txBody>
      </p:sp>
      <p:sp>
        <p:nvSpPr>
          <p:cNvPr id="50" name="Error table 3-7"/>
          <p:cNvSpPr/>
          <p:nvPr/>
        </p:nvSpPr>
        <p:spPr>
          <a:xfrm>
            <a:off x="6583680" y="1984248"/>
            <a:ext cx="2103120"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Error table text 3-7"/>
          <p:cNvSpPr txBox="1"/>
          <p:nvPr/>
        </p:nvSpPr>
        <p:spPr>
          <a:xfrm>
            <a:off x="6675120" y="1984248"/>
            <a:ext cx="18928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5.7 %</a:t>
            </a:r>
          </a:p>
        </p:txBody>
      </p:sp>
      <p:sp>
        <p:nvSpPr>
          <p:cNvPr id="52" name="Error table 4-1"/>
          <p:cNvSpPr/>
          <p:nvPr/>
        </p:nvSpPr>
        <p:spPr>
          <a:xfrm>
            <a:off x="457200" y="2359152"/>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Error table text 4-1"/>
          <p:cNvSpPr txBox="1"/>
          <p:nvPr/>
        </p:nvSpPr>
        <p:spPr>
          <a:xfrm>
            <a:off x="548640" y="2359152"/>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Week 8</a:t>
            </a:r>
          </a:p>
        </p:txBody>
      </p:sp>
      <p:sp>
        <p:nvSpPr>
          <p:cNvPr id="54" name="Error table 4-2"/>
          <p:cNvSpPr/>
          <p:nvPr/>
        </p:nvSpPr>
        <p:spPr>
          <a:xfrm>
            <a:off x="1371600" y="2359152"/>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Error table text 4-2"/>
          <p:cNvSpPr txBox="1"/>
          <p:nvPr/>
        </p:nvSpPr>
        <p:spPr>
          <a:xfrm>
            <a:off x="1463040" y="2359152"/>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54</a:t>
            </a:r>
          </a:p>
        </p:txBody>
      </p:sp>
      <p:sp>
        <p:nvSpPr>
          <p:cNvPr id="56" name="Error table 4-3"/>
          <p:cNvSpPr/>
          <p:nvPr/>
        </p:nvSpPr>
        <p:spPr>
          <a:xfrm>
            <a:off x="2377440" y="2359152"/>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Error table text 4-3"/>
          <p:cNvSpPr txBox="1"/>
          <p:nvPr/>
        </p:nvSpPr>
        <p:spPr>
          <a:xfrm>
            <a:off x="2468880" y="2359152"/>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50</a:t>
            </a:r>
          </a:p>
        </p:txBody>
      </p:sp>
      <p:sp>
        <p:nvSpPr>
          <p:cNvPr id="58" name="Error table 4-4"/>
          <p:cNvSpPr/>
          <p:nvPr/>
        </p:nvSpPr>
        <p:spPr>
          <a:xfrm>
            <a:off x="3383280" y="2359152"/>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Error table text 4-4"/>
          <p:cNvSpPr txBox="1"/>
          <p:nvPr/>
        </p:nvSpPr>
        <p:spPr>
          <a:xfrm>
            <a:off x="3474720" y="2359152"/>
            <a:ext cx="79552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60" name="Error table 4-5"/>
          <p:cNvSpPr/>
          <p:nvPr/>
        </p:nvSpPr>
        <p:spPr>
          <a:xfrm>
            <a:off x="4389120" y="2359152"/>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Error table text 4-5"/>
          <p:cNvSpPr txBox="1"/>
          <p:nvPr/>
        </p:nvSpPr>
        <p:spPr>
          <a:xfrm>
            <a:off x="4480560" y="2359152"/>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4</a:t>
            </a:r>
          </a:p>
        </p:txBody>
      </p:sp>
      <p:sp>
        <p:nvSpPr>
          <p:cNvPr id="62" name="Error table 4-6"/>
          <p:cNvSpPr/>
          <p:nvPr/>
        </p:nvSpPr>
        <p:spPr>
          <a:xfrm>
            <a:off x="5486400" y="2359152"/>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Error table text 4-6"/>
          <p:cNvSpPr txBox="1"/>
          <p:nvPr/>
        </p:nvSpPr>
        <p:spPr>
          <a:xfrm>
            <a:off x="5577840" y="2359152"/>
            <a:ext cx="88696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16</a:t>
            </a:r>
          </a:p>
        </p:txBody>
      </p:sp>
      <p:sp>
        <p:nvSpPr>
          <p:cNvPr id="64" name="Error table 4-7"/>
          <p:cNvSpPr/>
          <p:nvPr/>
        </p:nvSpPr>
        <p:spPr>
          <a:xfrm>
            <a:off x="6583680" y="2359152"/>
            <a:ext cx="2103120"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Error table text 4-7"/>
          <p:cNvSpPr txBox="1"/>
          <p:nvPr/>
        </p:nvSpPr>
        <p:spPr>
          <a:xfrm>
            <a:off x="6675120" y="2359152"/>
            <a:ext cx="1892808" cy="347472"/>
          </a:xfrm>
          <a:prstGeom prst="rect">
            <a:avLst/>
          </a:prstGeom>
          <a:noFill/>
        </p:spPr>
        <p:txBody>
          <a:bodyPr wrap="square" lIns="0" rIns="0" tIns="0" bIns="0" anchor="ctr">
            <a:noAutofit/>
          </a:bodyPr>
          <a:lstStyle/>
          <a:p>
            <a:pPr algn="r">
              <a:spcAft>
                <a:spcPts val="400"/>
              </a:spcAft>
            </a:pPr>
            <a:r>
              <a:rPr sz="1200" b="0" lang="en-GB">
                <a:solidFill>
                  <a:schemeClr val="tx1"/>
                </a:solidFill>
              </a:rPr>
              <a:t>7.4 %</a:t>
            </a:r>
          </a:p>
        </p:txBody>
      </p:sp>
      <p:sp>
        <p:nvSpPr>
          <p:cNvPr id="66" name="Error table 5-1"/>
          <p:cNvSpPr/>
          <p:nvPr/>
        </p:nvSpPr>
        <p:spPr>
          <a:xfrm>
            <a:off x="457200" y="2734056"/>
            <a:ext cx="88696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Error table text 5-1"/>
          <p:cNvSpPr txBox="1"/>
          <p:nvPr/>
        </p:nvSpPr>
        <p:spPr>
          <a:xfrm>
            <a:off x="548640" y="2734056"/>
            <a:ext cx="704088" cy="347472"/>
          </a:xfrm>
          <a:prstGeom prst="rect">
            <a:avLst/>
          </a:prstGeom>
          <a:noFill/>
        </p:spPr>
        <p:txBody>
          <a:bodyPr wrap="square" lIns="0" rIns="0" tIns="0" bIns="0" anchor="ctr">
            <a:noAutofit/>
          </a:bodyPr>
          <a:lstStyle/>
          <a:p>
            <a:pPr algn="l">
              <a:spcAft>
                <a:spcPts val="400"/>
              </a:spcAft>
            </a:pPr>
            <a:r>
              <a:rPr sz="1200" b="1" lang="en-GB">
                <a:solidFill>
                  <a:schemeClr val="tx2"/>
                </a:solidFill>
              </a:rPr>
              <a:t>Mean</a:t>
            </a:r>
          </a:p>
        </p:txBody>
      </p:sp>
      <p:sp>
        <p:nvSpPr>
          <p:cNvPr id="68" name="Error table 5-2"/>
          <p:cNvSpPr/>
          <p:nvPr/>
        </p:nvSpPr>
        <p:spPr>
          <a:xfrm>
            <a:off x="1371600" y="2734056"/>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9" name="Error table text 5-2"/>
          <p:cNvSpPr txBox="1"/>
          <p:nvPr/>
        </p:nvSpPr>
        <p:spPr>
          <a:xfrm>
            <a:off x="1463040" y="2734056"/>
            <a:ext cx="7955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70" name="Error table 5-3"/>
          <p:cNvSpPr/>
          <p:nvPr/>
        </p:nvSpPr>
        <p:spPr>
          <a:xfrm>
            <a:off x="2377440" y="2734056"/>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1" name="Error table text 5-3"/>
          <p:cNvSpPr txBox="1"/>
          <p:nvPr/>
        </p:nvSpPr>
        <p:spPr>
          <a:xfrm>
            <a:off x="2468880" y="2734056"/>
            <a:ext cx="7955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72" name="Error table 5-4"/>
          <p:cNvSpPr/>
          <p:nvPr/>
        </p:nvSpPr>
        <p:spPr>
          <a:xfrm>
            <a:off x="3383280" y="2734056"/>
            <a:ext cx="97840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3" name="Error table text 5-4"/>
          <p:cNvSpPr txBox="1"/>
          <p:nvPr/>
        </p:nvSpPr>
        <p:spPr>
          <a:xfrm>
            <a:off x="3474720" y="2734056"/>
            <a:ext cx="79552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
            </a:r>
          </a:p>
        </p:txBody>
      </p:sp>
      <p:sp>
        <p:nvSpPr>
          <p:cNvPr id="74" name="Error table 5-5"/>
          <p:cNvSpPr/>
          <p:nvPr/>
        </p:nvSpPr>
        <p:spPr>
          <a:xfrm>
            <a:off x="4389120" y="2734056"/>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5" name="Error table text 5-5"/>
          <p:cNvSpPr txBox="1"/>
          <p:nvPr/>
        </p:nvSpPr>
        <p:spPr>
          <a:xfrm>
            <a:off x="4480560" y="2734056"/>
            <a:ext cx="88696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2.67</a:t>
            </a:r>
          </a:p>
        </p:txBody>
      </p:sp>
      <p:sp>
        <p:nvSpPr>
          <p:cNvPr id="76" name="Error table 5-6"/>
          <p:cNvSpPr/>
          <p:nvPr/>
        </p:nvSpPr>
        <p:spPr>
          <a:xfrm>
            <a:off x="5486400" y="2734056"/>
            <a:ext cx="1069848"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7" name="Error table text 5-6"/>
          <p:cNvSpPr txBox="1"/>
          <p:nvPr/>
        </p:nvSpPr>
        <p:spPr>
          <a:xfrm>
            <a:off x="5577840" y="2734056"/>
            <a:ext cx="88696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8.67</a:t>
            </a:r>
          </a:p>
        </p:txBody>
      </p:sp>
      <p:sp>
        <p:nvSpPr>
          <p:cNvPr id="78" name="Error table 5-7"/>
          <p:cNvSpPr/>
          <p:nvPr/>
        </p:nvSpPr>
        <p:spPr>
          <a:xfrm>
            <a:off x="6583680" y="2734056"/>
            <a:ext cx="2103120" cy="347472"/>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9" name="Error table text 5-7"/>
          <p:cNvSpPr txBox="1"/>
          <p:nvPr/>
        </p:nvSpPr>
        <p:spPr>
          <a:xfrm>
            <a:off x="6675120" y="2734056"/>
            <a:ext cx="1892808" cy="347472"/>
          </a:xfrm>
          <a:prstGeom prst="rect">
            <a:avLst/>
          </a:prstGeom>
          <a:noFill/>
        </p:spPr>
        <p:txBody>
          <a:bodyPr wrap="square" lIns="0" rIns="0" tIns="0" bIns="0" anchor="ctr">
            <a:noAutofit/>
          </a:bodyPr>
          <a:lstStyle/>
          <a:p>
            <a:pPr algn="r">
              <a:spcAft>
                <a:spcPts val="400"/>
              </a:spcAft>
            </a:pPr>
            <a:r>
              <a:rPr sz="1200" b="1" lang="en-GB">
                <a:solidFill>
                  <a:schemeClr val="tx2"/>
                </a:solidFill>
              </a:rPr>
              <a:t>5.0 %</a:t>
            </a:r>
          </a:p>
        </p:txBody>
      </p:sp>
      <p:sp>
        <p:nvSpPr>
          <p:cNvPr id="80" name="Error caption"/>
          <p:cNvSpPr txBox="1"/>
          <p:nvPr/>
        </p:nvSpPr>
        <p:spPr>
          <a:xfrm>
            <a:off x="457200" y="3108960"/>
            <a:ext cx="8229600" cy="274320"/>
          </a:xfrm>
          <a:prstGeom prst="rect">
            <a:avLst/>
          </a:prstGeom>
          <a:noFill/>
        </p:spPr>
        <p:txBody>
          <a:bodyPr wrap="square" lIns="0" rIns="0" tIns="0" bIns="0" anchor="ctr">
            <a:noAutofit/>
          </a:bodyPr>
          <a:lstStyle/>
          <a:p>
            <a:pPr algn="l">
              <a:spcAft>
                <a:spcPts val="400"/>
              </a:spcAft>
            </a:pPr>
            <a:r>
              <a:rPr sz="1100" b="0" lang="en-GB">
                <a:solidFill>
                  <a:srgbClr val="595959"/>
                </a:solidFill>
              </a:rPr>
              <a:t>Naive from week 5: 50 for weeks 6, 7 and 8</a:t>
            </a:r>
          </a:p>
        </p:txBody>
      </p:sp>
      <p:sp>
        <p:nvSpPr>
          <p:cNvPr id="81" name="Measure 1 box"/>
          <p:cNvSpPr/>
          <p:nvPr/>
        </p:nvSpPr>
        <p:spPr>
          <a:xfrm>
            <a:off x="457200" y="3474720"/>
            <a:ext cx="265176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2" name="Measure 1 bar"/>
          <p:cNvSpPr/>
          <p:nvPr/>
        </p:nvSpPr>
        <p:spPr>
          <a:xfrm>
            <a:off x="457200" y="347472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3" name="Measure 1 figure"/>
          <p:cNvSpPr txBox="1"/>
          <p:nvPr/>
        </p:nvSpPr>
        <p:spPr>
          <a:xfrm>
            <a:off x="640080" y="3474720"/>
            <a:ext cx="1024128"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2.67</a:t>
            </a:r>
          </a:p>
        </p:txBody>
      </p:sp>
      <p:sp>
        <p:nvSpPr>
          <p:cNvPr id="84" name="Measure 1 label"/>
          <p:cNvSpPr txBox="1"/>
          <p:nvPr/>
        </p:nvSpPr>
        <p:spPr>
          <a:xfrm>
            <a:off x="1664208" y="3474720"/>
            <a:ext cx="1353312" cy="685800"/>
          </a:xfrm>
          <a:prstGeom prst="rect">
            <a:avLst/>
          </a:prstGeom>
          <a:noFill/>
        </p:spPr>
        <p:txBody>
          <a:bodyPr wrap="square" lIns="0" rIns="0" tIns="0" bIns="0" anchor="ctr">
            <a:noAutofit/>
          </a:bodyPr>
          <a:lstStyle/>
          <a:p>
            <a:pPr algn="l">
              <a:spcAft>
                <a:spcPts val="0"/>
              </a:spcAft>
            </a:pPr>
            <a:r>
              <a:rPr sz="1150" b="1" lang="en-GB">
                <a:solidFill>
                  <a:schemeClr val="tx2"/>
                </a:solidFill>
              </a:rPr>
              <a:t>MAE:</a:t>
            </a:r>
          </a:p>
          <a:p>
            <a:pPr algn="l">
              <a:spcAft>
                <a:spcPts val="0"/>
              </a:spcAft>
            </a:pPr>
            <a:r>
              <a:rPr sz="1150" b="0" lang="en-GB">
                <a:solidFill>
                  <a:schemeClr val="tx1"/>
                </a:solidFill>
              </a:rPr>
              <a:t>mean of |⁠error⁠|</a:t>
            </a:r>
          </a:p>
        </p:txBody>
      </p:sp>
      <p:sp>
        <p:nvSpPr>
          <p:cNvPr id="85" name="Measure 2 box"/>
          <p:cNvSpPr/>
          <p:nvPr/>
        </p:nvSpPr>
        <p:spPr>
          <a:xfrm>
            <a:off x="3246120" y="3474720"/>
            <a:ext cx="265176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6" name="Measure 2 bar"/>
          <p:cNvSpPr/>
          <p:nvPr/>
        </p:nvSpPr>
        <p:spPr>
          <a:xfrm>
            <a:off x="3246120" y="347472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7" name="Measure 2 figure"/>
          <p:cNvSpPr txBox="1"/>
          <p:nvPr/>
        </p:nvSpPr>
        <p:spPr>
          <a:xfrm>
            <a:off x="3429000" y="3474720"/>
            <a:ext cx="1024128"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2.94</a:t>
            </a:r>
          </a:p>
        </p:txBody>
      </p:sp>
      <p:sp>
        <p:nvSpPr>
          <p:cNvPr id="88" name="Measure 2 label"/>
          <p:cNvSpPr txBox="1"/>
          <p:nvPr/>
        </p:nvSpPr>
        <p:spPr>
          <a:xfrm>
            <a:off x="4453128" y="3474720"/>
            <a:ext cx="1353312" cy="685800"/>
          </a:xfrm>
          <a:prstGeom prst="rect">
            <a:avLst/>
          </a:prstGeom>
          <a:noFill/>
        </p:spPr>
        <p:txBody>
          <a:bodyPr wrap="square" lIns="0" rIns="0" tIns="0" bIns="0" anchor="ctr">
            <a:noAutofit/>
          </a:bodyPr>
          <a:lstStyle/>
          <a:p>
            <a:pPr algn="l">
              <a:spcAft>
                <a:spcPts val="0"/>
              </a:spcAft>
            </a:pPr>
            <a:r>
              <a:rPr sz="1150" b="1" lang="en-GB">
                <a:solidFill>
                  <a:schemeClr val="tx2"/>
                </a:solidFill>
              </a:rPr>
              <a:t>RMSE:</a:t>
            </a:r>
          </a:p>
          <a:p>
            <a:pPr algn="l">
              <a:spcAft>
                <a:spcPts val="0"/>
              </a:spcAft>
            </a:pPr>
            <a:r>
              <a:rPr sz="1150" b="0" lang="en-GB">
                <a:solidFill>
                  <a:schemeClr val="tx1"/>
                </a:solidFill>
              </a:rPr>
              <a:t>√8.67, big errors count more</a:t>
            </a:r>
          </a:p>
        </p:txBody>
      </p:sp>
      <p:sp>
        <p:nvSpPr>
          <p:cNvPr id="89" name="Measure 3 box"/>
          <p:cNvSpPr/>
          <p:nvPr/>
        </p:nvSpPr>
        <p:spPr>
          <a:xfrm>
            <a:off x="6035040" y="3474720"/>
            <a:ext cx="2651760" cy="6858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0" name="Measure 3 bar"/>
          <p:cNvSpPr/>
          <p:nvPr/>
        </p:nvSpPr>
        <p:spPr>
          <a:xfrm>
            <a:off x="6035040" y="3474720"/>
            <a:ext cx="64008"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1" name="Measure 3 figure"/>
          <p:cNvSpPr txBox="1"/>
          <p:nvPr/>
        </p:nvSpPr>
        <p:spPr>
          <a:xfrm>
            <a:off x="6217920" y="3474720"/>
            <a:ext cx="1298448" cy="6858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5.0 %</a:t>
            </a:r>
          </a:p>
        </p:txBody>
      </p:sp>
      <p:sp>
        <p:nvSpPr>
          <p:cNvPr id="92" name="Measure 3 label"/>
          <p:cNvSpPr txBox="1"/>
          <p:nvPr/>
        </p:nvSpPr>
        <p:spPr>
          <a:xfrm>
            <a:off x="7516368" y="3474720"/>
            <a:ext cx="1078992" cy="685800"/>
          </a:xfrm>
          <a:prstGeom prst="rect">
            <a:avLst/>
          </a:prstGeom>
          <a:noFill/>
        </p:spPr>
        <p:txBody>
          <a:bodyPr wrap="square" lIns="0" rIns="0" tIns="0" bIns="0" anchor="ctr">
            <a:noAutofit/>
          </a:bodyPr>
          <a:lstStyle/>
          <a:p>
            <a:pPr algn="l">
              <a:spcAft>
                <a:spcPts val="0"/>
              </a:spcAft>
            </a:pPr>
            <a:r>
              <a:rPr sz="1150" b="1" lang="en-GB">
                <a:solidFill>
                  <a:schemeClr val="tx2"/>
                </a:solidFill>
              </a:rPr>
              <a:t>MAPE:</a:t>
            </a:r>
          </a:p>
          <a:p>
            <a:pPr algn="l">
              <a:spcAft>
                <a:spcPts val="0"/>
              </a:spcAft>
            </a:pPr>
            <a:r>
              <a:rPr sz="1150" b="0" lang="en-GB">
                <a:solidFill>
                  <a:schemeClr val="tx1"/>
                </a:solidFill>
              </a:rPr>
              <a:t>mean of |⁠error⁠| / actual</a:t>
            </a:r>
          </a:p>
        </p:txBody>
      </p:sp>
      <p:sp>
        <p:nvSpPr>
          <p:cNvPr id="93" name="Error callout box"/>
          <p:cNvSpPr/>
          <p:nvPr/>
        </p:nvSpPr>
        <p:spPr>
          <a:xfrm>
            <a:off x="457200" y="4297680"/>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4" name="Error callout text"/>
          <p:cNvSpPr txBox="1"/>
          <p:nvPr/>
        </p:nvSpPr>
        <p:spPr>
          <a:xfrm>
            <a:off x="658368" y="4297680"/>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Error = actual − forecast: </a:t>
            </a:r>
            <a:r>
              <a:rPr sz="1200" b="0" lang="en-GB">
                <a:solidFill>
                  <a:schemeClr val="bg1"/>
                </a:solidFill>
              </a:rPr>
              <a:t>a plus means the forecast was too low.</a:t>
            </a:r>
          </a:p>
        </p:txBody>
      </p:sp>
      <p:sp>
        <p:nvSpPr>
          <p:cNvPr id="9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ranking: beat the simplest benchmark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2_ranking.png" descr="Bar chart of the MAE on weeks 6–8, best first: trend regression 1.20, naive 2.67, drift 3.00, exponential smoothing 5.00, moving average (3) 6.00, mean 7.60; dashed line at the naive MAE 2.67."/>
          <p:cNvPicPr>
            <a:picLocks noChangeAspect="1"/>
          </p:cNvPicPr>
          <p:nvPr/>
        </p:nvPicPr>
        <p:blipFill>
          <a:blip r:embed="rId3"/>
          <a:stretch>
            <a:fillRect/>
          </a:stretch>
        </p:blipFill>
        <p:spPr>
          <a:xfrm>
            <a:off x="457200" y="1234440"/>
            <a:ext cx="4754880" cy="2377440"/>
          </a:xfrm>
          <a:prstGeom prst="rect">
            <a:avLst/>
          </a:prstGeom>
        </p:spPr>
      </p:pic>
      <p:sp>
        <p:nvSpPr>
          <p:cNvPr id="11" name="Ranking caption"/>
          <p:cNvSpPr txBox="1"/>
          <p:nvPr/>
        </p:nvSpPr>
        <p:spPr>
          <a:xfrm>
            <a:off x="457200" y="3657600"/>
            <a:ext cx="8229600" cy="411480"/>
          </a:xfrm>
          <a:prstGeom prst="rect">
            <a:avLst/>
          </a:prstGeom>
          <a:noFill/>
        </p:spPr>
        <p:txBody>
          <a:bodyPr wrap="square" lIns="0" rIns="0" tIns="0" bIns="0" anchor="ctr">
            <a:noAutofit/>
          </a:bodyPr>
          <a:lstStyle/>
          <a:p>
            <a:pPr algn="l">
              <a:spcAft>
                <a:spcPts val="0"/>
              </a:spcAft>
            </a:pPr>
            <a:r>
              <a:rPr sz="1100" b="0" lang="en-GB">
                <a:solidFill>
                  <a:srgbClr val="595959"/>
                </a:solidFill>
              </a:rPr>
              <a:t>Forecasts for weeks 6–8, fitted on weeks 1–5: trend regression 37.8 + 2.2 × week = 51, 53.2, 55.4; naive 50; drift 52.5, 55, 57.5; exponential smoothing 47; moving average (3) 46; mean 44.4. RMSE and MAPE give the same order.</a:t>
            </a:r>
          </a:p>
        </p:txBody>
      </p:sp>
      <p:sp>
        <p:nvSpPr>
          <p:cNvPr id="12" name="Benchmark stat 1 box"/>
          <p:cNvSpPr/>
          <p:nvPr/>
        </p:nvSpPr>
        <p:spPr>
          <a:xfrm>
            <a:off x="5349240" y="1234440"/>
            <a:ext cx="3337560" cy="11201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Benchmark stat 1 bar"/>
          <p:cNvSpPr/>
          <p:nvPr/>
        </p:nvSpPr>
        <p:spPr>
          <a:xfrm>
            <a:off x="5349240" y="1234440"/>
            <a:ext cx="64008" cy="11201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Benchmark stat 1 figure"/>
          <p:cNvSpPr txBox="1"/>
          <p:nvPr/>
        </p:nvSpPr>
        <p:spPr>
          <a:xfrm>
            <a:off x="5532120" y="1234440"/>
            <a:ext cx="1051560" cy="11201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1.20</a:t>
            </a:r>
          </a:p>
        </p:txBody>
      </p:sp>
      <p:sp>
        <p:nvSpPr>
          <p:cNvPr id="15" name="Benchmark stat 1 label"/>
          <p:cNvSpPr txBox="1"/>
          <p:nvPr/>
        </p:nvSpPr>
        <p:spPr>
          <a:xfrm>
            <a:off x="6583680" y="1234440"/>
            <a:ext cx="2011680" cy="1120140"/>
          </a:xfrm>
          <a:prstGeom prst="rect">
            <a:avLst/>
          </a:prstGeom>
          <a:noFill/>
        </p:spPr>
        <p:txBody>
          <a:bodyPr wrap="square" lIns="0" rIns="0" tIns="0" bIns="0" anchor="ctr">
            <a:noAutofit/>
          </a:bodyPr>
          <a:lstStyle/>
          <a:p>
            <a:pPr algn="l">
              <a:spcAft>
                <a:spcPts val="400"/>
              </a:spcAft>
            </a:pPr>
            <a:r>
              <a:rPr sz="1200" b="1" lang="en-GB">
                <a:solidFill>
                  <a:schemeClr val="tx2"/>
                </a:solidFill>
              </a:rPr>
              <a:t>trend regression: </a:t>
            </a:r>
            <a:r>
              <a:rPr sz="1200" b="0" lang="en-GB">
                <a:solidFill>
                  <a:schemeClr val="tx1"/>
                </a:solidFill>
              </a:rPr>
              <a:t>the only method that beats naive (2.67)</a:t>
            </a:r>
          </a:p>
        </p:txBody>
      </p:sp>
      <p:sp>
        <p:nvSpPr>
          <p:cNvPr id="16" name="Benchmark stat 2 box"/>
          <p:cNvSpPr/>
          <p:nvPr/>
        </p:nvSpPr>
        <p:spPr>
          <a:xfrm>
            <a:off x="5349240" y="2491740"/>
            <a:ext cx="3337560" cy="112014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Benchmark stat 2 bar"/>
          <p:cNvSpPr/>
          <p:nvPr/>
        </p:nvSpPr>
        <p:spPr>
          <a:xfrm>
            <a:off x="5349240" y="2491740"/>
            <a:ext cx="64008" cy="11201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Benchmark stat 2 figure"/>
          <p:cNvSpPr txBox="1"/>
          <p:nvPr/>
        </p:nvSpPr>
        <p:spPr>
          <a:xfrm>
            <a:off x="5532120" y="2491740"/>
            <a:ext cx="1051560" cy="112014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4.00</a:t>
            </a:r>
          </a:p>
        </p:txBody>
      </p:sp>
      <p:sp>
        <p:nvSpPr>
          <p:cNvPr id="19" name="Benchmark stat 2 label"/>
          <p:cNvSpPr txBox="1"/>
          <p:nvPr/>
        </p:nvSpPr>
        <p:spPr>
          <a:xfrm>
            <a:off x="6583680" y="2491740"/>
            <a:ext cx="2011680" cy="1120140"/>
          </a:xfrm>
          <a:prstGeom prst="rect">
            <a:avLst/>
          </a:prstGeom>
          <a:noFill/>
        </p:spPr>
        <p:txBody>
          <a:bodyPr wrap="square" lIns="0" rIns="0" tIns="0" bIns="0" anchor="ctr">
            <a:noAutofit/>
          </a:bodyPr>
          <a:lstStyle/>
          <a:p>
            <a:pPr algn="l">
              <a:spcAft>
                <a:spcPts val="400"/>
              </a:spcAft>
            </a:pPr>
            <a:r>
              <a:rPr sz="1200" b="1" lang="en-GB">
                <a:solidFill>
                  <a:schemeClr val="tx2"/>
                </a:solidFill>
              </a:rPr>
              <a:t>chocolate shop, year 3 (MAE, k EUR): </a:t>
            </a:r>
            <a:r>
              <a:rPr sz="1200" b="0" lang="en-GB">
                <a:solidFill>
                  <a:schemeClr val="tx1"/>
                </a:solidFill>
              </a:rPr>
              <a:t>seasonal naive 4.00 vs naive 8.00, so seasonal data need a seasonal benchmark</a:t>
            </a:r>
          </a:p>
        </p:txBody>
      </p:sp>
      <p:sp>
        <p:nvSpPr>
          <p:cNvPr id="20" name="Benchmark callout box"/>
          <p:cNvSpPr/>
          <p:nvPr/>
        </p:nvSpPr>
        <p:spPr>
          <a:xfrm>
            <a:off x="457200" y="420624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Benchmark callout text"/>
          <p:cNvSpPr txBox="1"/>
          <p:nvPr/>
        </p:nvSpPr>
        <p:spPr>
          <a:xfrm>
            <a:off x="594360" y="4206240"/>
            <a:ext cx="795528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Simplest benchmark first: </a:t>
            </a:r>
            <a:r>
              <a:rPr sz="1200" b="0" lang="en-GB">
                <a:solidFill>
                  <a:schemeClr val="bg1"/>
                </a:solidFill>
              </a:rPr>
              <a:t>naive, or seasonal naive for seasonal data; keep what beats it.</a:t>
            </a:r>
          </a:p>
        </p:txBody>
      </p:sp>
      <p:sp>
        <p:nvSpPr>
          <p:cNvPr id="2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Invented round numbers (hand_examples.csv)</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4 of 6 · trend, season, holdout, 2019</a:t>
            </a:r>
          </a:p>
        </p:txBody>
      </p:sp>
      <p:sp>
        <p:nvSpPr>
          <p:cNvPr id="3" name="Title 2"/>
          <p:cNvSpPr>
            <a:spLocks noGrp="1"/>
          </p:cNvSpPr>
          <p:nvPr>
            <p:ph type="ctrTitle"/>
          </p:nvPr>
        </p:nvSpPr>
        <p:spPr/>
        <p:txBody>
          <a:bodyPr/>
          <a:lstStyle/>
          <a:p>
            <a:r>
              <a:rPr lang="en-GB"/>
              <a:t>Real data: clothing sales in Australia</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data: monthly clothing sales, 2009–2018</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sk band"/>
          <p:cNvSpPr/>
          <p:nvPr/>
        </p:nvSpPr>
        <p:spPr>
          <a:xfrm>
            <a:off x="457200" y="123444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Task" descr=""/>
          <p:cNvPicPr>
            <a:picLocks noChangeAspect="1"/>
          </p:cNvPicPr>
          <p:nvPr/>
        </p:nvPicPr>
        <p:blipFill>
          <a:blip r:embed="rId3"/>
          <a:stretch>
            <a:fillRect/>
          </a:stretch>
        </p:blipFill>
        <p:spPr>
          <a:xfrm>
            <a:off x="621792" y="1307592"/>
            <a:ext cx="310896" cy="310896"/>
          </a:xfrm>
          <a:prstGeom prst="rect">
            <a:avLst/>
          </a:prstGeom>
        </p:spPr>
      </p:pic>
      <p:sp>
        <p:nvSpPr>
          <p:cNvPr id="12" name="Task text"/>
          <p:cNvSpPr txBox="1"/>
          <p:nvPr/>
        </p:nvSpPr>
        <p:spPr>
          <a:xfrm>
            <a:off x="1115568" y="1234440"/>
            <a:ext cx="7452360" cy="457200"/>
          </a:xfrm>
          <a:prstGeom prst="rect">
            <a:avLst/>
          </a:prstGeom>
          <a:noFill/>
        </p:spPr>
        <p:txBody>
          <a:bodyPr wrap="square" lIns="0" rIns="0" tIns="0" bIns="0" anchor="ctr">
            <a:noAutofit/>
          </a:bodyPr>
          <a:lstStyle/>
          <a:p>
            <a:pPr algn="l">
              <a:spcAft>
                <a:spcPts val="400"/>
              </a:spcAft>
            </a:pPr>
            <a:r>
              <a:rPr sz="1300" b="1" lang="en-GB">
                <a:solidFill>
                  <a:schemeClr val="tx2"/>
                </a:solidFill>
              </a:rPr>
              <a:t>The task: </a:t>
            </a:r>
            <a:r>
              <a:rPr sz="1300" b="0" lang="en-GB">
                <a:solidFill>
                  <a:schemeClr val="tx1"/>
                </a:solidFill>
              </a:rPr>
              <a:t>a fashion retailer plans stock for 2019 from the market's monthly sales.</a:t>
            </a:r>
          </a:p>
        </p:txBody>
      </p:sp>
      <p:pic>
        <p:nvPicPr>
          <p:cNvPr id="13" name="Chart fc_f3_series.png" descr="Monthly clothing sales in Australia, Jan 2009 to Dec 2018, AUD m: an upward trend with a December peak every year; the last 24 months (2017–2018) are shaded as the holdout."/>
          <p:cNvPicPr>
            <a:picLocks noChangeAspect="1"/>
          </p:cNvPicPr>
          <p:nvPr/>
        </p:nvPicPr>
        <p:blipFill>
          <a:blip r:embed="rId4"/>
          <a:stretch>
            <a:fillRect/>
          </a:stretch>
        </p:blipFill>
        <p:spPr>
          <a:xfrm>
            <a:off x="457200" y="1828800"/>
            <a:ext cx="4846320" cy="2423160"/>
          </a:xfrm>
          <a:prstGeom prst="rect">
            <a:avLst/>
          </a:prstGeom>
        </p:spPr>
      </p:pic>
      <p:sp>
        <p:nvSpPr>
          <p:cNvPr id="14" name="Data row 1 row"/>
          <p:cNvSpPr/>
          <p:nvPr/>
        </p:nvSpPr>
        <p:spPr>
          <a:xfrm>
            <a:off x="5440680" y="1828800"/>
            <a:ext cx="324612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Data row 1 bar"/>
          <p:cNvSpPr/>
          <p:nvPr/>
        </p:nvSpPr>
        <p:spPr>
          <a:xfrm>
            <a:off x="5440680" y="1828800"/>
            <a:ext cx="64008" cy="7498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Data row 1 text"/>
          <p:cNvSpPr txBox="1"/>
          <p:nvPr/>
        </p:nvSpPr>
        <p:spPr>
          <a:xfrm>
            <a:off x="5641848" y="1828800"/>
            <a:ext cx="2953512" cy="749808"/>
          </a:xfrm>
          <a:prstGeom prst="rect">
            <a:avLst/>
          </a:prstGeom>
          <a:noFill/>
        </p:spPr>
        <p:txBody>
          <a:bodyPr wrap="square" lIns="0" rIns="0" tIns="0" bIns="0" anchor="ctr">
            <a:noAutofit/>
          </a:bodyPr>
          <a:lstStyle/>
          <a:p>
            <a:pPr algn="l">
              <a:spcAft>
                <a:spcPts val="400"/>
              </a:spcAft>
            </a:pPr>
            <a:r>
              <a:rPr sz="1150" b="1" lang="en-GB">
                <a:solidFill>
                  <a:schemeClr val="tx2"/>
                </a:solidFill>
              </a:rPr>
              <a:t>Source: </a:t>
            </a:r>
            <a:r>
              <a:rPr sz="1150" b="0" lang="en-GB">
                <a:solidFill>
                  <a:schemeClr val="tx1"/>
                </a:solidFill>
              </a:rPr>
              <a:t>Australian Bureau of Statistics (ABS), Retail Trade, open licence (CC BY 4.0)</a:t>
            </a:r>
          </a:p>
        </p:txBody>
      </p:sp>
      <p:sp>
        <p:nvSpPr>
          <p:cNvPr id="17" name="Data row 2 row"/>
          <p:cNvSpPr/>
          <p:nvPr/>
        </p:nvSpPr>
        <p:spPr>
          <a:xfrm>
            <a:off x="5440680" y="2670048"/>
            <a:ext cx="324612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ata row 2 bar"/>
          <p:cNvSpPr/>
          <p:nvPr/>
        </p:nvSpPr>
        <p:spPr>
          <a:xfrm>
            <a:off x="5440680" y="2670048"/>
            <a:ext cx="64008" cy="7498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ata row 2 text"/>
          <p:cNvSpPr txBox="1"/>
          <p:nvPr/>
        </p:nvSpPr>
        <p:spPr>
          <a:xfrm>
            <a:off x="5641848" y="2670048"/>
            <a:ext cx="2953512" cy="749808"/>
          </a:xfrm>
          <a:prstGeom prst="rect">
            <a:avLst/>
          </a:prstGeom>
          <a:noFill/>
        </p:spPr>
        <p:txBody>
          <a:bodyPr wrap="square" lIns="0" rIns="0" tIns="0" bIns="0" anchor="ctr">
            <a:noAutofit/>
          </a:bodyPr>
          <a:lstStyle/>
          <a:p>
            <a:pPr algn="l">
              <a:spcAft>
                <a:spcPts val="400"/>
              </a:spcAft>
            </a:pPr>
            <a:r>
              <a:rPr sz="1150" b="1" lang="en-GB">
                <a:solidFill>
                  <a:schemeClr val="tx2"/>
                </a:solidFill>
              </a:rPr>
              <a:t>Unit: </a:t>
            </a:r>
            <a:r>
              <a:rPr sz="1150" b="0" lang="en-GB">
                <a:solidFill>
                  <a:schemeClr val="tx1"/>
                </a:solidFill>
              </a:rPr>
              <a:t>turnover, AUD million a month, not seasonally adjusted</a:t>
            </a:r>
          </a:p>
        </p:txBody>
      </p:sp>
      <p:sp>
        <p:nvSpPr>
          <p:cNvPr id="20" name="Data row 3 row"/>
          <p:cNvSpPr/>
          <p:nvPr/>
        </p:nvSpPr>
        <p:spPr>
          <a:xfrm>
            <a:off x="5440680" y="3511296"/>
            <a:ext cx="3246120" cy="74980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ata row 3 bar"/>
          <p:cNvSpPr/>
          <p:nvPr/>
        </p:nvSpPr>
        <p:spPr>
          <a:xfrm>
            <a:off x="5440680" y="3511296"/>
            <a:ext cx="64008" cy="74980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ata row 3 text"/>
          <p:cNvSpPr txBox="1"/>
          <p:nvPr/>
        </p:nvSpPr>
        <p:spPr>
          <a:xfrm>
            <a:off x="5641848" y="3511296"/>
            <a:ext cx="2953512" cy="749808"/>
          </a:xfrm>
          <a:prstGeom prst="rect">
            <a:avLst/>
          </a:prstGeom>
          <a:noFill/>
        </p:spPr>
        <p:txBody>
          <a:bodyPr wrap="square" lIns="0" rIns="0" tIns="0" bIns="0" anchor="ctr">
            <a:noAutofit/>
          </a:bodyPr>
          <a:lstStyle/>
          <a:p>
            <a:pPr algn="l">
              <a:spcAft>
                <a:spcPts val="400"/>
              </a:spcAft>
            </a:pPr>
            <a:r>
              <a:rPr sz="1150" b="1" lang="en-GB">
                <a:solidFill>
                  <a:schemeClr val="tx2"/>
                </a:solidFill>
              </a:rPr>
              <a:t>Period: </a:t>
            </a:r>
            <a:r>
              <a:rPr sz="1150" b="0" lang="en-GB">
                <a:solidFill>
                  <a:schemeClr val="tx1"/>
                </a:solidFill>
              </a:rPr>
              <a:t>Jan 2009 to Dec 2018, 120 months: 96 to fit, 24 holdout</a:t>
            </a:r>
          </a:p>
        </p:txBody>
      </p:sp>
      <p:sp>
        <p:nvSpPr>
          <p:cNvPr id="23" name="File line"/>
          <p:cNvSpPr txBox="1"/>
          <p:nvPr/>
        </p:nvSpPr>
        <p:spPr>
          <a:xfrm>
            <a:off x="457200" y="4389120"/>
            <a:ext cx="8229600" cy="27432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data/forecasting/aus_clothing_retail.csv</a:t>
            </a:r>
            <a:r>
              <a:rPr sz="1200" b="0" lang="en-GB">
                <a:solidFill>
                  <a:schemeClr val="tx1"/>
                </a:solidFill>
              </a:rPr>
              <a:t>   one row per month: month, value</a:t>
            </a:r>
          </a:p>
        </p:txBody>
      </p:sp>
      <p:sp>
        <p:nvSpPr>
          <p:cNvPr id="24" name="Sources"/>
          <p:cNvSpPr txBox="1"/>
          <p:nvPr/>
        </p:nvSpPr>
        <p:spPr>
          <a:xfrm>
            <a:off x="457200" y="4663440"/>
            <a:ext cx="8229600" cy="411480"/>
          </a:xfrm>
          <a:prstGeom prst="rect">
            <a:avLst/>
          </a:prstGeom>
          <a:noFill/>
        </p:spPr>
        <p:txBody>
          <a:bodyPr wrap="square" lIns="0" rIns="0" tIns="0" bIns="0" anchor="b">
            <a:noAutofit/>
          </a:bodyPr>
          <a:lstStyle/>
          <a:p>
            <a:pPr algn="l">
              <a:spcAft>
                <a:spcPts val="0"/>
              </a:spcAft>
            </a:pPr>
            <a:r>
              <a:rPr sz="1100" b="0" lang="en-GB">
                <a:solidFill>
                  <a:srgbClr val="595959"/>
                </a:solidFill>
              </a:rPr>
              <a:t>Source: ABS, Retail Trade, Australia (8501.0), Table 11, clothing, footwear and personal accessories; CC BY 4.0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 12-month rolling average shows the trend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3_rolling.png" descr="Monthly clothing sales in Australia, Jan 2009 to Dec 2018 (thin navy line with a December peak every year) and the centred 12-month rolling average (thick blue line), which runs without the peaks from 1,629 in Jul 2009 to 2,090 in Jul 2018."/>
          <p:cNvPicPr>
            <a:picLocks noChangeAspect="1"/>
          </p:cNvPicPr>
          <p:nvPr/>
        </p:nvPicPr>
        <p:blipFill>
          <a:blip r:embed="rId3"/>
          <a:stretch>
            <a:fillRect/>
          </a:stretch>
        </p:blipFill>
        <p:spPr>
          <a:xfrm>
            <a:off x="457200" y="1234440"/>
            <a:ext cx="4846320" cy="2880360"/>
          </a:xfrm>
          <a:prstGeom prst="rect">
            <a:avLst/>
          </a:prstGeom>
        </p:spPr>
      </p:pic>
      <p:sp>
        <p:nvSpPr>
          <p:cNvPr id="11" name="Rolling stat 1 box"/>
          <p:cNvSpPr/>
          <p:nvPr/>
        </p:nvSpPr>
        <p:spPr>
          <a:xfrm>
            <a:off x="5440680" y="12344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lling stat 1 bar"/>
          <p:cNvSpPr/>
          <p:nvPr/>
        </p:nvSpPr>
        <p:spPr>
          <a:xfrm>
            <a:off x="5440680" y="12344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lling stat 1 figure"/>
          <p:cNvSpPr txBox="1"/>
          <p:nvPr/>
        </p:nvSpPr>
        <p:spPr>
          <a:xfrm>
            <a:off x="5623560" y="12344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1,629</a:t>
            </a:r>
          </a:p>
        </p:txBody>
      </p:sp>
      <p:sp>
        <p:nvSpPr>
          <p:cNvPr id="14" name="Rolling stat 1 label"/>
          <p:cNvSpPr txBox="1"/>
          <p:nvPr/>
        </p:nvSpPr>
        <p:spPr>
          <a:xfrm>
            <a:off x="6903720" y="1234440"/>
            <a:ext cx="16916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Jul 2009: </a:t>
            </a:r>
            <a:r>
              <a:rPr sz="1150" b="0" lang="en-GB">
                <a:solidFill>
                  <a:schemeClr val="tx1"/>
                </a:solidFill>
              </a:rPr>
              <a:t>the average month of 2009 (19,546 / 12)</a:t>
            </a:r>
          </a:p>
        </p:txBody>
      </p:sp>
      <p:sp>
        <p:nvSpPr>
          <p:cNvPr id="15" name="Rolling stat 2 box"/>
          <p:cNvSpPr/>
          <p:nvPr/>
        </p:nvSpPr>
        <p:spPr>
          <a:xfrm>
            <a:off x="5440680" y="22250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lling stat 2 bar"/>
          <p:cNvSpPr/>
          <p:nvPr/>
        </p:nvSpPr>
        <p:spPr>
          <a:xfrm>
            <a:off x="5440680" y="22250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lling stat 2 figure"/>
          <p:cNvSpPr txBox="1"/>
          <p:nvPr/>
        </p:nvSpPr>
        <p:spPr>
          <a:xfrm>
            <a:off x="5623560" y="22250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2,090</a:t>
            </a:r>
          </a:p>
        </p:txBody>
      </p:sp>
      <p:sp>
        <p:nvSpPr>
          <p:cNvPr id="18" name="Rolling stat 2 label"/>
          <p:cNvSpPr txBox="1"/>
          <p:nvPr/>
        </p:nvSpPr>
        <p:spPr>
          <a:xfrm>
            <a:off x="6903720" y="2225040"/>
            <a:ext cx="16916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Jul 2018: </a:t>
            </a:r>
            <a:r>
              <a:rPr sz="1150" b="0" lang="en-GB">
                <a:solidFill>
                  <a:schemeClr val="tx1"/>
                </a:solidFill>
              </a:rPr>
              <a:t>the average month of 2018 (25,077 / 12): +28 %</a:t>
            </a:r>
          </a:p>
        </p:txBody>
      </p:sp>
      <p:sp>
        <p:nvSpPr>
          <p:cNvPr id="19" name="Rolling stat 3 box"/>
          <p:cNvSpPr/>
          <p:nvPr/>
        </p:nvSpPr>
        <p:spPr>
          <a:xfrm>
            <a:off x="5440680" y="32156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lling stat 3 bar"/>
          <p:cNvSpPr/>
          <p:nvPr/>
        </p:nvSpPr>
        <p:spPr>
          <a:xfrm>
            <a:off x="5440680" y="32156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lling stat 3 figure"/>
          <p:cNvSpPr txBox="1"/>
          <p:nvPr/>
        </p:nvSpPr>
        <p:spPr>
          <a:xfrm>
            <a:off x="5623560" y="32156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1,591</a:t>
            </a:r>
          </a:p>
        </p:txBody>
      </p:sp>
      <p:sp>
        <p:nvSpPr>
          <p:cNvPr id="22" name="Rolling stat 3 label"/>
          <p:cNvSpPr txBox="1"/>
          <p:nvPr/>
        </p:nvSpPr>
        <p:spPr>
          <a:xfrm>
            <a:off x="6903720" y="3215640"/>
            <a:ext cx="16916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lowest, Jun 2011: </a:t>
            </a:r>
            <a:r>
              <a:rPr sz="1150" b="0" lang="en-GB">
                <a:solidFill>
                  <a:schemeClr val="tx1"/>
                </a:solidFill>
              </a:rPr>
              <a:t>flat to 2012, then growth: the cycle</a:t>
            </a:r>
          </a:p>
        </p:txBody>
      </p:sp>
      <p:sp>
        <p:nvSpPr>
          <p:cNvPr id="23" name="Rolling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lling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Twelve months around each month cancel the season: </a:t>
            </a:r>
            <a:r>
              <a:rPr sz="1200" b="0" lang="en-GB">
                <a:solidFill>
                  <a:schemeClr val="bg1"/>
                </a:solidFill>
              </a:rPr>
              <a:t>STL (next slide) is a smarter version.</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Trend, season and cycle in the real series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3_stl.png" descr="STL decomposition of the clothing series in three panels: the trend is flat to 2012 and rises after; the season has a December peak that grows every year; the remainder is small noise around zero."/>
          <p:cNvPicPr>
            <a:picLocks noChangeAspect="1"/>
          </p:cNvPicPr>
          <p:nvPr/>
        </p:nvPicPr>
        <p:blipFill>
          <a:blip r:embed="rId3"/>
          <a:stretch>
            <a:fillRect/>
          </a:stretch>
        </p:blipFill>
        <p:spPr>
          <a:xfrm>
            <a:off x="457200" y="1234440"/>
            <a:ext cx="4846320" cy="2926080"/>
          </a:xfrm>
          <a:prstGeom prst="rect">
            <a:avLst/>
          </a:prstGeom>
        </p:spPr>
      </p:pic>
      <p:sp>
        <p:nvSpPr>
          <p:cNvPr id="11" name="Season stat 1 box"/>
          <p:cNvSpPr/>
          <p:nvPr/>
        </p:nvSpPr>
        <p:spPr>
          <a:xfrm>
            <a:off x="5440680" y="1234440"/>
            <a:ext cx="32461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eason stat 1 bar"/>
          <p:cNvSpPr/>
          <p:nvPr/>
        </p:nvSpPr>
        <p:spPr>
          <a:xfrm>
            <a:off x="5440680" y="123444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Season stat 1 figure"/>
          <p:cNvSpPr txBox="1"/>
          <p:nvPr/>
        </p:nvSpPr>
        <p:spPr>
          <a:xfrm>
            <a:off x="5623560" y="1234440"/>
            <a:ext cx="137160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 1.59</a:t>
            </a:r>
          </a:p>
        </p:txBody>
      </p:sp>
      <p:sp>
        <p:nvSpPr>
          <p:cNvPr id="14" name="Season stat 1 label"/>
          <p:cNvSpPr txBox="1"/>
          <p:nvPr/>
        </p:nvSpPr>
        <p:spPr>
          <a:xfrm>
            <a:off x="6995160" y="1234440"/>
            <a:ext cx="1600200" cy="91440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 </a:t>
            </a:r>
            <a:r>
              <a:rPr sz="1150" b="0" lang="en-GB">
                <a:solidFill>
                  <a:schemeClr val="tx1"/>
                </a:solidFill>
              </a:rPr>
              <a:t>vs an average month; February × 0.80</a:t>
            </a:r>
          </a:p>
        </p:txBody>
      </p:sp>
      <p:sp>
        <p:nvSpPr>
          <p:cNvPr id="15" name="Season stat 2 box"/>
          <p:cNvSpPr/>
          <p:nvPr/>
        </p:nvSpPr>
        <p:spPr>
          <a:xfrm>
            <a:off x="5440680" y="2240280"/>
            <a:ext cx="32461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eason stat 2 bar"/>
          <p:cNvSpPr/>
          <p:nvPr/>
        </p:nvSpPr>
        <p:spPr>
          <a:xfrm>
            <a:off x="5440680" y="224028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Season stat 2 figure"/>
          <p:cNvSpPr txBox="1"/>
          <p:nvPr/>
        </p:nvSpPr>
        <p:spPr>
          <a:xfrm>
            <a:off x="5623560" y="2240280"/>
            <a:ext cx="137160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+28 %</a:t>
            </a:r>
          </a:p>
        </p:txBody>
      </p:sp>
      <p:sp>
        <p:nvSpPr>
          <p:cNvPr id="18" name="Season stat 2 label"/>
          <p:cNvSpPr txBox="1"/>
          <p:nvPr/>
        </p:nvSpPr>
        <p:spPr>
          <a:xfrm>
            <a:off x="6995160" y="2240280"/>
            <a:ext cx="1600200" cy="914400"/>
          </a:xfrm>
          <a:prstGeom prst="rect">
            <a:avLst/>
          </a:prstGeom>
          <a:noFill/>
        </p:spPr>
        <p:txBody>
          <a:bodyPr wrap="square" lIns="0" rIns="0" tIns="0" bIns="0" anchor="ctr">
            <a:noAutofit/>
          </a:bodyPr>
          <a:lstStyle/>
          <a:p>
            <a:pPr algn="l">
              <a:spcAft>
                <a:spcPts val="400"/>
              </a:spcAft>
            </a:pPr>
            <a:r>
              <a:rPr sz="1150" b="1" lang="en-GB">
                <a:solidFill>
                  <a:schemeClr val="tx2"/>
                </a:solidFill>
              </a:rPr>
              <a:t>2009 to 2018; </a:t>
            </a:r>
            <a:r>
              <a:rPr sz="1150" b="0" lang="en-GB">
                <a:solidFill>
                  <a:schemeClr val="tx1"/>
                </a:solidFill>
              </a:rPr>
              <a:t>flat to 2012 (a cycle), then about +4 % a year</a:t>
            </a:r>
          </a:p>
        </p:txBody>
      </p:sp>
      <p:sp>
        <p:nvSpPr>
          <p:cNvPr id="19" name="Season stat 3 box"/>
          <p:cNvSpPr/>
          <p:nvPr/>
        </p:nvSpPr>
        <p:spPr>
          <a:xfrm>
            <a:off x="5440680" y="3246120"/>
            <a:ext cx="3246120" cy="9144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eason stat 3 bar"/>
          <p:cNvSpPr/>
          <p:nvPr/>
        </p:nvSpPr>
        <p:spPr>
          <a:xfrm>
            <a:off x="5440680" y="3246120"/>
            <a:ext cx="64008" cy="9144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Season stat 3 figure"/>
          <p:cNvSpPr txBox="1"/>
          <p:nvPr/>
        </p:nvSpPr>
        <p:spPr>
          <a:xfrm>
            <a:off x="5623560" y="3246120"/>
            <a:ext cx="1371600" cy="91440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1,257</a:t>
            </a:r>
          </a:p>
        </p:txBody>
      </p:sp>
      <p:sp>
        <p:nvSpPr>
          <p:cNvPr id="22" name="Season stat 3 label"/>
          <p:cNvSpPr txBox="1"/>
          <p:nvPr/>
        </p:nvSpPr>
        <p:spPr>
          <a:xfrm>
            <a:off x="6995160" y="3246120"/>
            <a:ext cx="1600200" cy="91440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 swing </a:t>
            </a:r>
            <a:r>
              <a:rPr sz="1150" b="0" lang="en-GB">
                <a:solidFill>
                  <a:schemeClr val="tx1"/>
                </a:solidFill>
              </a:rPr>
              <a:t>in 2018, AUD m (2009: 890): it grows with the level</a:t>
            </a:r>
          </a:p>
        </p:txBody>
      </p:sp>
      <p:sp>
        <p:nvSpPr>
          <p:cNvPr id="23" name="Season callout box"/>
          <p:cNvSpPr/>
          <p:nvPr/>
        </p:nvSpPr>
        <p:spPr>
          <a:xfrm>
            <a:off x="457200" y="4297680"/>
            <a:ext cx="8229600" cy="36576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Season callout text"/>
          <p:cNvSpPr txBox="1"/>
          <p:nvPr/>
        </p:nvSpPr>
        <p:spPr>
          <a:xfrm>
            <a:off x="658368" y="4297680"/>
            <a:ext cx="7827264"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Strong trend and season: </a:t>
            </a:r>
            <a:r>
              <a:rPr sz="1200" b="0" lang="en-GB">
                <a:solidFill>
                  <a:schemeClr val="bg1"/>
                </a:solidFill>
              </a:rPr>
              <a:t>a good method must model both.</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Is it stationary? The ADF test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ADF table 1-1"/>
          <p:cNvSpPr/>
          <p:nvPr/>
        </p:nvSpPr>
        <p:spPr>
          <a:xfrm>
            <a:off x="457200" y="1234440"/>
            <a:ext cx="22585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ADF table text 1-1"/>
          <p:cNvSpPr txBox="1"/>
          <p:nvPr/>
        </p:nvSpPr>
        <p:spPr>
          <a:xfrm>
            <a:off x="548640" y="1234440"/>
            <a:ext cx="207568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Series</a:t>
            </a:r>
          </a:p>
        </p:txBody>
      </p:sp>
      <p:sp>
        <p:nvSpPr>
          <p:cNvPr id="12" name="ADF table 1-2"/>
          <p:cNvSpPr/>
          <p:nvPr/>
        </p:nvSpPr>
        <p:spPr>
          <a:xfrm>
            <a:off x="2743200" y="1234440"/>
            <a:ext cx="886968"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ADF table text 1-2"/>
          <p:cNvSpPr txBox="1"/>
          <p:nvPr/>
        </p:nvSpPr>
        <p:spPr>
          <a:xfrm>
            <a:off x="2834640" y="1234440"/>
            <a:ext cx="704088" cy="365760"/>
          </a:xfrm>
          <a:prstGeom prst="rect">
            <a:avLst/>
          </a:prstGeom>
          <a:noFill/>
        </p:spPr>
        <p:txBody>
          <a:bodyPr wrap="square" lIns="0" rIns="0" tIns="0" bIns="0" anchor="ctr">
            <a:noAutofit/>
          </a:bodyPr>
          <a:lstStyle/>
          <a:p>
            <a:pPr algn="r">
              <a:spcAft>
                <a:spcPts val="400"/>
              </a:spcAft>
            </a:pPr>
            <a:r>
              <a:rPr sz="1200" b="1" lang="en-GB">
                <a:solidFill>
                  <a:schemeClr val="bg1"/>
                </a:solidFill>
              </a:rPr>
              <a:t>ADF p</a:t>
            </a:r>
          </a:p>
        </p:txBody>
      </p:sp>
      <p:sp>
        <p:nvSpPr>
          <p:cNvPr id="14" name="ADF table 1-3"/>
          <p:cNvSpPr/>
          <p:nvPr/>
        </p:nvSpPr>
        <p:spPr>
          <a:xfrm>
            <a:off x="3657600" y="1234440"/>
            <a:ext cx="1737360" cy="3657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ADF table text 1-3"/>
          <p:cNvSpPr txBox="1"/>
          <p:nvPr/>
        </p:nvSpPr>
        <p:spPr>
          <a:xfrm>
            <a:off x="3749040" y="1234440"/>
            <a:ext cx="1527048" cy="365760"/>
          </a:xfrm>
          <a:prstGeom prst="rect">
            <a:avLst/>
          </a:prstGeom>
          <a:noFill/>
        </p:spPr>
        <p:txBody>
          <a:bodyPr wrap="square" lIns="0" rIns="0" tIns="0" bIns="0" anchor="ctr">
            <a:noAutofit/>
          </a:bodyPr>
          <a:lstStyle/>
          <a:p>
            <a:pPr algn="l">
              <a:spcAft>
                <a:spcPts val="400"/>
              </a:spcAft>
            </a:pPr>
            <a:r>
              <a:rPr sz="1200" b="1" lang="en-GB">
                <a:solidFill>
                  <a:schemeClr val="bg1"/>
                </a:solidFill>
              </a:rPr>
              <a:t>Stationary?</a:t>
            </a:r>
          </a:p>
        </p:txBody>
      </p:sp>
      <p:sp>
        <p:nvSpPr>
          <p:cNvPr id="16" name="ADF table 2-1"/>
          <p:cNvSpPr/>
          <p:nvPr/>
        </p:nvSpPr>
        <p:spPr>
          <a:xfrm>
            <a:off x="457200" y="1627632"/>
            <a:ext cx="22585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ADF table text 2-1"/>
          <p:cNvSpPr txBox="1"/>
          <p:nvPr/>
        </p:nvSpPr>
        <p:spPr>
          <a:xfrm>
            <a:off x="548640" y="1627632"/>
            <a:ext cx="20756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Sales (levels)</a:t>
            </a:r>
          </a:p>
        </p:txBody>
      </p:sp>
      <p:sp>
        <p:nvSpPr>
          <p:cNvPr id="18" name="ADF table 2-2"/>
          <p:cNvSpPr/>
          <p:nvPr/>
        </p:nvSpPr>
        <p:spPr>
          <a:xfrm>
            <a:off x="2743200" y="1627632"/>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ADF table text 2-2"/>
          <p:cNvSpPr txBox="1"/>
          <p:nvPr/>
        </p:nvSpPr>
        <p:spPr>
          <a:xfrm>
            <a:off x="2834640" y="1627632"/>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0.992</a:t>
            </a:r>
          </a:p>
        </p:txBody>
      </p:sp>
      <p:sp>
        <p:nvSpPr>
          <p:cNvPr id="20" name="ADF table 2-3"/>
          <p:cNvSpPr/>
          <p:nvPr/>
        </p:nvSpPr>
        <p:spPr>
          <a:xfrm>
            <a:off x="3657600" y="1627632"/>
            <a:ext cx="1737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ADF table text 2-3"/>
          <p:cNvSpPr txBox="1"/>
          <p:nvPr/>
        </p:nvSpPr>
        <p:spPr>
          <a:xfrm>
            <a:off x="3749040" y="1627632"/>
            <a:ext cx="152704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no</a:t>
            </a:r>
          </a:p>
        </p:txBody>
      </p:sp>
      <p:sp>
        <p:nvSpPr>
          <p:cNvPr id="22" name="ADF table 3-1"/>
          <p:cNvSpPr/>
          <p:nvPr/>
        </p:nvSpPr>
        <p:spPr>
          <a:xfrm>
            <a:off x="457200" y="2020824"/>
            <a:ext cx="22585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ADF table text 3-1"/>
          <p:cNvSpPr txBox="1"/>
          <p:nvPr/>
        </p:nvSpPr>
        <p:spPr>
          <a:xfrm>
            <a:off x="548640" y="2020824"/>
            <a:ext cx="20756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Log sales</a:t>
            </a:r>
          </a:p>
        </p:txBody>
      </p:sp>
      <p:sp>
        <p:nvSpPr>
          <p:cNvPr id="24" name="ADF table 3-2"/>
          <p:cNvSpPr/>
          <p:nvPr/>
        </p:nvSpPr>
        <p:spPr>
          <a:xfrm>
            <a:off x="2743200" y="2020824"/>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ADF table text 3-2"/>
          <p:cNvSpPr txBox="1"/>
          <p:nvPr/>
        </p:nvSpPr>
        <p:spPr>
          <a:xfrm>
            <a:off x="2834640" y="2020824"/>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0.987</a:t>
            </a:r>
          </a:p>
        </p:txBody>
      </p:sp>
      <p:sp>
        <p:nvSpPr>
          <p:cNvPr id="26" name="ADF table 3-3"/>
          <p:cNvSpPr/>
          <p:nvPr/>
        </p:nvSpPr>
        <p:spPr>
          <a:xfrm>
            <a:off x="3657600" y="2020824"/>
            <a:ext cx="1737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ADF table text 3-3"/>
          <p:cNvSpPr txBox="1"/>
          <p:nvPr/>
        </p:nvSpPr>
        <p:spPr>
          <a:xfrm>
            <a:off x="3749040" y="2020824"/>
            <a:ext cx="152704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no</a:t>
            </a:r>
          </a:p>
        </p:txBody>
      </p:sp>
      <p:sp>
        <p:nvSpPr>
          <p:cNvPr id="28" name="ADF table 4-1"/>
          <p:cNvSpPr/>
          <p:nvPr/>
        </p:nvSpPr>
        <p:spPr>
          <a:xfrm>
            <a:off x="457200" y="2414016"/>
            <a:ext cx="22585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ADF table text 4-1"/>
          <p:cNvSpPr txBox="1"/>
          <p:nvPr/>
        </p:nvSpPr>
        <p:spPr>
          <a:xfrm>
            <a:off x="548640" y="2414016"/>
            <a:ext cx="20756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Change on last month</a:t>
            </a:r>
          </a:p>
        </p:txBody>
      </p:sp>
      <p:sp>
        <p:nvSpPr>
          <p:cNvPr id="30" name="ADF table 4-2"/>
          <p:cNvSpPr/>
          <p:nvPr/>
        </p:nvSpPr>
        <p:spPr>
          <a:xfrm>
            <a:off x="2743200" y="2414016"/>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ADF table text 4-2"/>
          <p:cNvSpPr txBox="1"/>
          <p:nvPr/>
        </p:nvSpPr>
        <p:spPr>
          <a:xfrm>
            <a:off x="2834640" y="2414016"/>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0.011</a:t>
            </a:r>
          </a:p>
        </p:txBody>
      </p:sp>
      <p:sp>
        <p:nvSpPr>
          <p:cNvPr id="32" name="ADF table 4-3"/>
          <p:cNvSpPr/>
          <p:nvPr/>
        </p:nvSpPr>
        <p:spPr>
          <a:xfrm>
            <a:off x="3657600" y="2414016"/>
            <a:ext cx="1737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ADF table text 4-3"/>
          <p:cNvSpPr txBox="1"/>
          <p:nvPr/>
        </p:nvSpPr>
        <p:spPr>
          <a:xfrm>
            <a:off x="3749040" y="2414016"/>
            <a:ext cx="152704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yes (season stays)</a:t>
            </a:r>
          </a:p>
        </p:txBody>
      </p:sp>
      <p:sp>
        <p:nvSpPr>
          <p:cNvPr id="34" name="ADF table 5-1"/>
          <p:cNvSpPr/>
          <p:nvPr/>
        </p:nvSpPr>
        <p:spPr>
          <a:xfrm>
            <a:off x="457200" y="2807208"/>
            <a:ext cx="22585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ADF table text 5-1"/>
          <p:cNvSpPr txBox="1"/>
          <p:nvPr/>
        </p:nvSpPr>
        <p:spPr>
          <a:xfrm>
            <a:off x="548640" y="2807208"/>
            <a:ext cx="20756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Change on last year</a:t>
            </a:r>
          </a:p>
        </p:txBody>
      </p:sp>
      <p:sp>
        <p:nvSpPr>
          <p:cNvPr id="36" name="ADF table 5-2"/>
          <p:cNvSpPr/>
          <p:nvPr/>
        </p:nvSpPr>
        <p:spPr>
          <a:xfrm>
            <a:off x="2743200" y="2807208"/>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ADF table text 5-2"/>
          <p:cNvSpPr txBox="1"/>
          <p:nvPr/>
        </p:nvSpPr>
        <p:spPr>
          <a:xfrm>
            <a:off x="2834640" y="2807208"/>
            <a:ext cx="704088" cy="365760"/>
          </a:xfrm>
          <a:prstGeom prst="rect">
            <a:avLst/>
          </a:prstGeom>
          <a:noFill/>
        </p:spPr>
        <p:txBody>
          <a:bodyPr wrap="square" lIns="0" rIns="0" tIns="0" bIns="0" anchor="ctr">
            <a:noAutofit/>
          </a:bodyPr>
          <a:lstStyle/>
          <a:p>
            <a:pPr algn="r">
              <a:spcAft>
                <a:spcPts val="400"/>
              </a:spcAft>
            </a:pPr>
            <a:r>
              <a:rPr sz="1200" b="0" lang="en-GB">
                <a:solidFill>
                  <a:schemeClr val="tx1"/>
                </a:solidFill>
              </a:rPr>
              <a:t>0.003</a:t>
            </a:r>
          </a:p>
        </p:txBody>
      </p:sp>
      <p:sp>
        <p:nvSpPr>
          <p:cNvPr id="38" name="ADF table 5-3"/>
          <p:cNvSpPr/>
          <p:nvPr/>
        </p:nvSpPr>
        <p:spPr>
          <a:xfrm>
            <a:off x="3657600" y="2807208"/>
            <a:ext cx="1737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ADF table text 5-3"/>
          <p:cNvSpPr txBox="1"/>
          <p:nvPr/>
        </p:nvSpPr>
        <p:spPr>
          <a:xfrm>
            <a:off x="3749040" y="2807208"/>
            <a:ext cx="1527048" cy="365760"/>
          </a:xfrm>
          <a:prstGeom prst="rect">
            <a:avLst/>
          </a:prstGeom>
          <a:noFill/>
        </p:spPr>
        <p:txBody>
          <a:bodyPr wrap="square" lIns="0" rIns="0" tIns="0" bIns="0" anchor="ctr">
            <a:noAutofit/>
          </a:bodyPr>
          <a:lstStyle/>
          <a:p>
            <a:pPr algn="l">
              <a:spcAft>
                <a:spcPts val="400"/>
              </a:spcAft>
            </a:pPr>
            <a:r>
              <a:rPr sz="1200" b="0" lang="en-GB">
                <a:solidFill>
                  <a:schemeClr val="tx1"/>
                </a:solidFill>
              </a:rPr>
              <a:t>yes</a:t>
            </a:r>
          </a:p>
        </p:txBody>
      </p:sp>
      <p:sp>
        <p:nvSpPr>
          <p:cNvPr id="40" name="ADF table 6-1"/>
          <p:cNvSpPr/>
          <p:nvPr/>
        </p:nvSpPr>
        <p:spPr>
          <a:xfrm>
            <a:off x="457200" y="3200400"/>
            <a:ext cx="22585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ADF table text 6-1"/>
          <p:cNvSpPr txBox="1"/>
          <p:nvPr/>
        </p:nvSpPr>
        <p:spPr>
          <a:xfrm>
            <a:off x="548640" y="3200400"/>
            <a:ext cx="207568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Both changes, log sales</a:t>
            </a:r>
          </a:p>
        </p:txBody>
      </p:sp>
      <p:sp>
        <p:nvSpPr>
          <p:cNvPr id="42" name="ADF table 6-2"/>
          <p:cNvSpPr/>
          <p:nvPr/>
        </p:nvSpPr>
        <p:spPr>
          <a:xfrm>
            <a:off x="2743200" y="3200400"/>
            <a:ext cx="886968"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ADF table text 6-2"/>
          <p:cNvSpPr txBox="1"/>
          <p:nvPr/>
        </p:nvSpPr>
        <p:spPr>
          <a:xfrm>
            <a:off x="2834640" y="3200400"/>
            <a:ext cx="704088" cy="365760"/>
          </a:xfrm>
          <a:prstGeom prst="rect">
            <a:avLst/>
          </a:prstGeom>
          <a:noFill/>
        </p:spPr>
        <p:txBody>
          <a:bodyPr wrap="square" lIns="0" rIns="0" tIns="0" bIns="0" anchor="ctr">
            <a:noAutofit/>
          </a:bodyPr>
          <a:lstStyle/>
          <a:p>
            <a:pPr algn="r">
              <a:spcAft>
                <a:spcPts val="400"/>
              </a:spcAft>
            </a:pPr>
            <a:r>
              <a:rPr sz="1200" b="1" lang="en-GB">
                <a:solidFill>
                  <a:schemeClr val="tx2"/>
                </a:solidFill>
              </a:rPr>
              <a:t>&lt; 0.001</a:t>
            </a:r>
          </a:p>
        </p:txBody>
      </p:sp>
      <p:sp>
        <p:nvSpPr>
          <p:cNvPr id="44" name="ADF table 6-3"/>
          <p:cNvSpPr/>
          <p:nvPr/>
        </p:nvSpPr>
        <p:spPr>
          <a:xfrm>
            <a:off x="3657600" y="3200400"/>
            <a:ext cx="1737360" cy="365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ADF table text 6-3"/>
          <p:cNvSpPr txBox="1"/>
          <p:nvPr/>
        </p:nvSpPr>
        <p:spPr>
          <a:xfrm>
            <a:off x="3749040" y="3200400"/>
            <a:ext cx="1527048" cy="365760"/>
          </a:xfrm>
          <a:prstGeom prst="rect">
            <a:avLst/>
          </a:prstGeom>
          <a:noFill/>
        </p:spPr>
        <p:txBody>
          <a:bodyPr wrap="square" lIns="0" rIns="0" tIns="0" bIns="0" anchor="ctr">
            <a:noAutofit/>
          </a:bodyPr>
          <a:lstStyle/>
          <a:p>
            <a:pPr algn="l">
              <a:spcAft>
                <a:spcPts val="400"/>
              </a:spcAft>
            </a:pPr>
            <a:r>
              <a:rPr sz="1200" b="1" lang="en-GB">
                <a:solidFill>
                  <a:schemeClr val="tx2"/>
                </a:solidFill>
              </a:rPr>
              <a:t>yes</a:t>
            </a:r>
          </a:p>
        </p:txBody>
      </p:sp>
      <p:pic>
        <p:nvPicPr>
          <p:cNvPr id="46" name="Chart fc_f3_diff.png" descr="Two panels: log sales 2009–2018 rise and peak every December (they wander); after the change on last month and on last year the series moves around zero with no trend."/>
          <p:cNvPicPr>
            <a:picLocks noChangeAspect="1"/>
          </p:cNvPicPr>
          <p:nvPr/>
        </p:nvPicPr>
        <p:blipFill>
          <a:blip r:embed="rId3"/>
          <a:stretch>
            <a:fillRect/>
          </a:stretch>
        </p:blipFill>
        <p:spPr>
          <a:xfrm>
            <a:off x="5532120" y="1234440"/>
            <a:ext cx="3154680" cy="2331720"/>
          </a:xfrm>
          <a:prstGeom prst="rect">
            <a:avLst/>
          </a:prstGeom>
        </p:spPr>
      </p:pic>
      <p:sp>
        <p:nvSpPr>
          <p:cNvPr id="47" name="ADF row row"/>
          <p:cNvSpPr/>
          <p:nvPr/>
        </p:nvSpPr>
        <p:spPr>
          <a:xfrm>
            <a:off x="457200" y="3703320"/>
            <a:ext cx="8229600" cy="4114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ADF row bar"/>
          <p:cNvSpPr/>
          <p:nvPr/>
        </p:nvSpPr>
        <p:spPr>
          <a:xfrm>
            <a:off x="457200" y="3703320"/>
            <a:ext cx="64008"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ADF row text"/>
          <p:cNvSpPr txBox="1"/>
          <p:nvPr/>
        </p:nvSpPr>
        <p:spPr>
          <a:xfrm>
            <a:off x="658368" y="3703320"/>
            <a:ext cx="7936992" cy="411480"/>
          </a:xfrm>
          <a:prstGeom prst="rect">
            <a:avLst/>
          </a:prstGeom>
          <a:noFill/>
        </p:spPr>
        <p:txBody>
          <a:bodyPr wrap="square" lIns="0" rIns="0" tIns="0" bIns="0" anchor="ctr">
            <a:noAutofit/>
          </a:bodyPr>
          <a:lstStyle/>
          <a:p>
            <a:pPr algn="l">
              <a:spcAft>
                <a:spcPts val="400"/>
              </a:spcAft>
            </a:pPr>
            <a:r>
              <a:rPr sz="1200" b="1" lang="en-GB">
                <a:solidFill>
                  <a:schemeClr val="tx2"/>
                </a:solidFill>
              </a:rPr>
              <a:t>ADF in plain words: </a:t>
            </a:r>
            <a:r>
              <a:rPr sz="1200" b="0" lang="en-GB">
                <a:solidFill>
                  <a:schemeClr val="tx1"/>
                </a:solidFill>
              </a:rPr>
              <a:t>does it wander without a fixed mean? Small p (below 0.05): no, stationary.</a:t>
            </a:r>
          </a:p>
        </p:txBody>
      </p:sp>
      <p:sp>
        <p:nvSpPr>
          <p:cNvPr id="50" name="ADF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ADF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Difference until it is stationary: </a:t>
            </a:r>
            <a:r>
              <a:rPr sz="1200" b="0" lang="en-GB">
                <a:solidFill>
                  <a:schemeClr val="bg1"/>
                </a:solidFill>
              </a:rPr>
              <a:t>SARIMA does it for us (next slide).</a:t>
            </a:r>
          </a:p>
        </p:txBody>
      </p:sp>
      <p:sp>
        <p:nvSpPr>
          <p:cNvPr id="52"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Two models that learn trend and season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Model card 1 body"/>
          <p:cNvSpPr/>
          <p:nvPr/>
        </p:nvSpPr>
        <p:spPr>
          <a:xfrm>
            <a:off x="457200" y="164592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Model card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Model card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Holt-Winters / ETS</a:t>
            </a:r>
          </a:p>
        </p:txBody>
      </p:sp>
      <p:pic>
        <p:nvPicPr>
          <p:cNvPr id="13" name="Icon Model card 1" descr=""/>
          <p:cNvPicPr>
            <a:picLocks noChangeAspect="1"/>
          </p:cNvPicPr>
          <p:nvPr/>
        </p:nvPicPr>
        <p:blipFill>
          <a:blip r:embed="rId3"/>
          <a:stretch>
            <a:fillRect/>
          </a:stretch>
        </p:blipFill>
        <p:spPr>
          <a:xfrm>
            <a:off x="4064508" y="1284732"/>
            <a:ext cx="310896" cy="310896"/>
          </a:xfrm>
          <a:prstGeom prst="rect">
            <a:avLst/>
          </a:prstGeom>
        </p:spPr>
      </p:pic>
      <p:sp>
        <p:nvSpPr>
          <p:cNvPr id="14" name="Model card 1 text"/>
          <p:cNvSpPr txBox="1"/>
          <p:nvPr/>
        </p:nvSpPr>
        <p:spPr>
          <a:xfrm>
            <a:off x="621792" y="178308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Smooths level, trend and season (multiplicative)</a:t>
            </a:r>
          </a:p>
          <a:p>
            <a:pPr algn="l" marL="182880" indent="-182880">
              <a:spcAft>
                <a:spcPts val="600"/>
              </a:spcAft>
              <a:buClr>
                <a:schemeClr val="accent1"/>
              </a:buClr>
              <a:buFont typeface="Arial"/>
              <a:buChar char="▪"/>
            </a:pPr>
            <a:r>
              <a:rPr sz="1300" b="0" lang="en-GB">
                <a:solidFill>
                  <a:schemeClr val="tx1"/>
                </a:solidFill>
              </a:rPr>
              <a:t>Each has its own weight α, β, γ (slide 15)</a:t>
            </a:r>
          </a:p>
          <a:p>
            <a:pPr algn="l" marL="182880" indent="-182880">
              <a:spcAft>
                <a:spcPts val="600"/>
              </a:spcAft>
              <a:buClr>
                <a:schemeClr val="accent1"/>
              </a:buClr>
              <a:buFont typeface="Arial"/>
              <a:buChar char="▪"/>
            </a:pPr>
            <a:r>
              <a:rPr sz="1300" b="0" lang="en-GB">
                <a:solidFill>
                  <a:schemeClr val="tx1"/>
                </a:solidFill>
              </a:rPr>
              <a:t>ETS: the same idea as a statistical model, so it also gives bands</a:t>
            </a:r>
          </a:p>
        </p:txBody>
      </p:sp>
      <p:sp>
        <p:nvSpPr>
          <p:cNvPr id="15" name="Model card 2 body"/>
          <p:cNvSpPr/>
          <p:nvPr/>
        </p:nvSpPr>
        <p:spPr>
          <a:xfrm>
            <a:off x="4640580" y="1645920"/>
            <a:ext cx="4046220" cy="15087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Model card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Model card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500" b="1" lang="en-GB">
                <a:solidFill>
                  <a:schemeClr val="bg1"/>
                </a:solidFill>
                <a:latin typeface="+mj-lt"/>
              </a:rPr>
              <a:t>SARIMA</a:t>
            </a:r>
          </a:p>
        </p:txBody>
      </p:sp>
      <p:pic>
        <p:nvPicPr>
          <p:cNvPr id="18" name="Icon Model card 2" descr=""/>
          <p:cNvPicPr>
            <a:picLocks noChangeAspect="1"/>
          </p:cNvPicPr>
          <p:nvPr/>
        </p:nvPicPr>
        <p:blipFill>
          <a:blip r:embed="rId4"/>
          <a:stretch>
            <a:fillRect/>
          </a:stretch>
        </p:blipFill>
        <p:spPr>
          <a:xfrm>
            <a:off x="8247888" y="1284732"/>
            <a:ext cx="310896" cy="310896"/>
          </a:xfrm>
          <a:prstGeom prst="rect">
            <a:avLst/>
          </a:prstGeom>
        </p:spPr>
      </p:pic>
      <p:sp>
        <p:nvSpPr>
          <p:cNvPr id="19" name="Model card 2 text"/>
          <p:cNvSpPr txBox="1"/>
          <p:nvPr/>
        </p:nvSpPr>
        <p:spPr>
          <a:xfrm>
            <a:off x="4805172" y="1783080"/>
            <a:ext cx="3744468" cy="1234440"/>
          </a:xfrm>
          <a:prstGeom prst="rect">
            <a:avLst/>
          </a:prstGeom>
          <a:noFill/>
        </p:spPr>
        <p:txBody>
          <a:bodyPr wrap="square" lIns="0" rIns="0" tIns="0" bIns="0" anchor="t">
            <a:noAutofit/>
          </a:bodyPr>
          <a:lstStyle/>
          <a:p>
            <a:pPr algn="l" marL="182880" indent="-182880">
              <a:spcAft>
                <a:spcPts val="600"/>
              </a:spcAft>
              <a:buClr>
                <a:schemeClr val="accent1"/>
              </a:buClr>
              <a:buFont typeface="Arial"/>
              <a:buChar char="▪"/>
            </a:pPr>
            <a:r>
              <a:rPr sz="1300" b="0" lang="en-GB">
                <a:solidFill>
                  <a:schemeClr val="tx1"/>
                </a:solidFill>
              </a:rPr>
              <a:t>Differences remove trend and season</a:t>
            </a:r>
          </a:p>
          <a:p>
            <a:pPr algn="l" marL="182880" indent="-182880">
              <a:spcAft>
                <a:spcPts val="600"/>
              </a:spcAft>
              <a:buClr>
                <a:schemeClr val="accent1"/>
              </a:buClr>
              <a:buFont typeface="Arial"/>
              <a:buChar char="▪"/>
            </a:pPr>
            <a:r>
              <a:rPr sz="1300" b="0" lang="en-GB">
                <a:solidFill>
                  <a:schemeClr val="tx1"/>
                </a:solidFill>
              </a:rPr>
              <a:t>Then it models the memory: how much of last month's and last year's surprise carries on</a:t>
            </a:r>
          </a:p>
          <a:p>
            <a:pPr algn="l" marL="182880" indent="-182880">
              <a:spcAft>
                <a:spcPts val="600"/>
              </a:spcAft>
              <a:buClr>
                <a:schemeClr val="accent1"/>
              </a:buClr>
              <a:buFont typeface="Arial"/>
              <a:buChar char="▪"/>
            </a:pPr>
            <a:r>
              <a:rPr sz="1300" b="0" lang="en-GB">
                <a:solidFill>
                  <a:schemeClr val="tx1"/>
                </a:solidFill>
              </a:rPr>
              <a:t>Ours: SARIMA(0,1,1)(0,1,1)₁₂ on log sales</a:t>
            </a:r>
          </a:p>
        </p:txBody>
      </p:sp>
      <p:sp>
        <p:nvSpPr>
          <p:cNvPr id="20" name="Flow box 1"/>
          <p:cNvSpPr/>
          <p:nvPr/>
        </p:nvSpPr>
        <p:spPr>
          <a:xfrm>
            <a:off x="457200" y="3291840"/>
            <a:ext cx="1817370" cy="502920"/>
          </a:xfrm>
          <a:prstGeom prst="roundRect">
            <a:avLst>
              <a:gd name="adj" fmla="val 1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low text 1"/>
          <p:cNvSpPr txBox="1"/>
          <p:nvPr/>
        </p:nvSpPr>
        <p:spPr>
          <a:xfrm>
            <a:off x="502920" y="3291840"/>
            <a:ext cx="1725930" cy="502920"/>
          </a:xfrm>
          <a:prstGeom prst="rect">
            <a:avLst/>
          </a:prstGeom>
          <a:noFill/>
        </p:spPr>
        <p:txBody>
          <a:bodyPr wrap="square" lIns="0" rIns="0" tIns="0" bIns="0" anchor="ctr">
            <a:noAutofit/>
          </a:bodyPr>
          <a:lstStyle/>
          <a:p>
            <a:pPr algn="ctr">
              <a:spcAft>
                <a:spcPts val="400"/>
              </a:spcAft>
            </a:pPr>
            <a:r>
              <a:rPr sz="1200" b="0" lang="en-GB">
                <a:solidFill>
                  <a:schemeClr val="tx2"/>
                </a:solidFill>
              </a:rPr>
              <a:t>log sales</a:t>
            </a:r>
          </a:p>
        </p:txBody>
      </p:sp>
      <p:sp>
        <p:nvSpPr>
          <p:cNvPr id="22" name="Flow box 2"/>
          <p:cNvSpPr/>
          <p:nvPr/>
        </p:nvSpPr>
        <p:spPr>
          <a:xfrm>
            <a:off x="2594610" y="3291840"/>
            <a:ext cx="1817370" cy="502920"/>
          </a:xfrm>
          <a:prstGeom prst="roundRect">
            <a:avLst>
              <a:gd name="adj" fmla="val 1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Flow text 2"/>
          <p:cNvSpPr txBox="1"/>
          <p:nvPr/>
        </p:nvSpPr>
        <p:spPr>
          <a:xfrm>
            <a:off x="2640330" y="3291840"/>
            <a:ext cx="1725930" cy="502920"/>
          </a:xfrm>
          <a:prstGeom prst="rect">
            <a:avLst/>
          </a:prstGeom>
          <a:noFill/>
        </p:spPr>
        <p:txBody>
          <a:bodyPr wrap="square" lIns="0" rIns="0" tIns="0" bIns="0" anchor="ctr">
            <a:noAutofit/>
          </a:bodyPr>
          <a:lstStyle/>
          <a:p>
            <a:pPr algn="ctr">
              <a:spcAft>
                <a:spcPts val="400"/>
              </a:spcAft>
            </a:pPr>
            <a:r>
              <a:rPr sz="1200" b="0" lang="en-GB">
                <a:solidFill>
                  <a:schemeClr val="tx2"/>
                </a:solidFill>
              </a:rPr>
              <a:t>change on last month</a:t>
            </a:r>
          </a:p>
        </p:txBody>
      </p:sp>
      <p:cxnSp>
        <p:nvCxnSpPr>
          <p:cNvPr id="24" name="Flow arrow 1"/>
          <p:cNvCxnSpPr/>
          <p:nvPr/>
        </p:nvCxnSpPr>
        <p:spPr>
          <a:xfrm>
            <a:off x="2329434" y="3543300"/>
            <a:ext cx="210312" cy="0"/>
          </a:xfrm>
          <a:prstGeom prst="line">
            <a:avLst/>
          </a:prstGeom>
          <a:ln w="28575">
            <a:solidFill>
              <a:schemeClr val="accent1"/>
            </a:solidFill>
            <a:tailEnd type="triangle" w="lg" len="lg"/>
          </a:ln>
        </p:spPr>
        <p:style>
          <a:lnRef idx="2">
            <a:schemeClr val="accent1"/>
          </a:lnRef>
          <a:fillRef idx="0">
            <a:schemeClr val="accent1"/>
          </a:fillRef>
          <a:effectRef idx="1">
            <a:schemeClr val="accent1"/>
          </a:effectRef>
          <a:fontRef idx="minor">
            <a:schemeClr val="tx1"/>
          </a:fontRef>
        </p:style>
      </p:cxnSp>
      <p:sp>
        <p:nvSpPr>
          <p:cNvPr id="25" name="Flow box 3"/>
          <p:cNvSpPr/>
          <p:nvPr/>
        </p:nvSpPr>
        <p:spPr>
          <a:xfrm>
            <a:off x="4732020" y="3291840"/>
            <a:ext cx="1817370" cy="502920"/>
          </a:xfrm>
          <a:prstGeom prst="roundRect">
            <a:avLst>
              <a:gd name="adj" fmla="val 1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Flow text 3"/>
          <p:cNvSpPr txBox="1"/>
          <p:nvPr/>
        </p:nvSpPr>
        <p:spPr>
          <a:xfrm>
            <a:off x="4777740" y="3291840"/>
            <a:ext cx="1725930" cy="502920"/>
          </a:xfrm>
          <a:prstGeom prst="rect">
            <a:avLst/>
          </a:prstGeom>
          <a:noFill/>
        </p:spPr>
        <p:txBody>
          <a:bodyPr wrap="square" lIns="0" rIns="0" tIns="0" bIns="0" anchor="ctr">
            <a:noAutofit/>
          </a:bodyPr>
          <a:lstStyle/>
          <a:p>
            <a:pPr algn="ctr">
              <a:spcAft>
                <a:spcPts val="400"/>
              </a:spcAft>
            </a:pPr>
            <a:r>
              <a:rPr sz="1200" b="0" lang="en-GB">
                <a:solidFill>
                  <a:schemeClr val="tx2"/>
                </a:solidFill>
              </a:rPr>
              <a:t>change on last year</a:t>
            </a:r>
          </a:p>
        </p:txBody>
      </p:sp>
      <p:cxnSp>
        <p:nvCxnSpPr>
          <p:cNvPr id="27" name="Flow arrow 2"/>
          <p:cNvCxnSpPr/>
          <p:nvPr/>
        </p:nvCxnSpPr>
        <p:spPr>
          <a:xfrm>
            <a:off x="4466844" y="3543300"/>
            <a:ext cx="210312" cy="0"/>
          </a:xfrm>
          <a:prstGeom prst="line">
            <a:avLst/>
          </a:prstGeom>
          <a:ln w="28575">
            <a:solidFill>
              <a:schemeClr val="accent1"/>
            </a:solidFill>
            <a:tailEnd type="triangle" w="lg" len="lg"/>
          </a:ln>
        </p:spPr>
        <p:style>
          <a:lnRef idx="2">
            <a:schemeClr val="accent1"/>
          </a:lnRef>
          <a:fillRef idx="0">
            <a:schemeClr val="accent1"/>
          </a:fillRef>
          <a:effectRef idx="1">
            <a:schemeClr val="accent1"/>
          </a:effectRef>
          <a:fontRef idx="minor">
            <a:schemeClr val="tx1"/>
          </a:fontRef>
        </p:style>
      </p:cxnSp>
      <p:sp>
        <p:nvSpPr>
          <p:cNvPr id="28" name="Flow box 4"/>
          <p:cNvSpPr/>
          <p:nvPr/>
        </p:nvSpPr>
        <p:spPr>
          <a:xfrm>
            <a:off x="6869430" y="3291840"/>
            <a:ext cx="1817370" cy="502920"/>
          </a:xfrm>
          <a:prstGeom prst="roundRect">
            <a:avLst>
              <a:gd name="adj" fmla="val 15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Flow text 4"/>
          <p:cNvSpPr txBox="1"/>
          <p:nvPr/>
        </p:nvSpPr>
        <p:spPr>
          <a:xfrm>
            <a:off x="6915150" y="3291840"/>
            <a:ext cx="1725930" cy="502920"/>
          </a:xfrm>
          <a:prstGeom prst="rect">
            <a:avLst/>
          </a:prstGeom>
          <a:noFill/>
        </p:spPr>
        <p:txBody>
          <a:bodyPr wrap="square" lIns="0" rIns="0" tIns="0" bIns="0" anchor="ctr">
            <a:noAutofit/>
          </a:bodyPr>
          <a:lstStyle/>
          <a:p>
            <a:pPr algn="ctr">
              <a:spcAft>
                <a:spcPts val="400"/>
              </a:spcAft>
            </a:pPr>
            <a:r>
              <a:rPr sz="1200" b="0" lang="en-GB">
                <a:solidFill>
                  <a:schemeClr val="tx2"/>
                </a:solidFill>
              </a:rPr>
              <a:t>memory of surprises</a:t>
            </a:r>
          </a:p>
        </p:txBody>
      </p:sp>
      <p:cxnSp>
        <p:nvCxnSpPr>
          <p:cNvPr id="30" name="Flow arrow 3"/>
          <p:cNvCxnSpPr/>
          <p:nvPr/>
        </p:nvCxnSpPr>
        <p:spPr>
          <a:xfrm>
            <a:off x="6604254" y="3543300"/>
            <a:ext cx="210312" cy="0"/>
          </a:xfrm>
          <a:prstGeom prst="line">
            <a:avLst/>
          </a:prstGeom>
          <a:ln w="28575">
            <a:solidFill>
              <a:schemeClr val="accent1"/>
            </a:solidFill>
            <a:tailEnd type="triangle" w="lg" len="lg"/>
          </a:ln>
        </p:spPr>
        <p:style>
          <a:lnRef idx="2">
            <a:schemeClr val="accent1"/>
          </a:lnRef>
          <a:fillRef idx="0">
            <a:schemeClr val="accent1"/>
          </a:fillRef>
          <a:effectRef idx="1">
            <a:schemeClr val="accent1"/>
          </a:effectRef>
          <a:fontRef idx="minor">
            <a:schemeClr val="tx1"/>
          </a:fontRef>
        </p:style>
      </p:cxnSp>
      <p:sp>
        <p:nvSpPr>
          <p:cNvPr id="31" name="Models callout box"/>
          <p:cNvSpPr/>
          <p:nvPr/>
        </p:nvSpPr>
        <p:spPr>
          <a:xfrm>
            <a:off x="457200" y="3931920"/>
            <a:ext cx="8229600" cy="50292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Models callout text"/>
          <p:cNvSpPr txBox="1"/>
          <p:nvPr/>
        </p:nvSpPr>
        <p:spPr>
          <a:xfrm>
            <a:off x="658368" y="3931920"/>
            <a:ext cx="7827264" cy="502920"/>
          </a:xfrm>
          <a:prstGeom prst="rect">
            <a:avLst/>
          </a:prstGeom>
          <a:noFill/>
        </p:spPr>
        <p:txBody>
          <a:bodyPr wrap="square" lIns="0" rIns="0" tIns="0" bIns="0" anchor="ctr">
            <a:noAutofit/>
          </a:bodyPr>
          <a:lstStyle/>
          <a:p>
            <a:pPr algn="l">
              <a:spcAft>
                <a:spcPts val="400"/>
              </a:spcAft>
            </a:pPr>
            <a:r>
              <a:rPr sz="1200" b="1" lang="en-GB">
                <a:solidFill>
                  <a:schemeClr val="bg1"/>
                </a:solidFill>
              </a:rPr>
              <a:t>Both learn trend and season from the data; </a:t>
            </a:r>
            <a:r>
              <a:rPr sz="1200" b="0" lang="en-GB">
                <a:solidFill>
                  <a:schemeClr val="bg1"/>
                </a:solidFill>
              </a:rPr>
              <a:t>the holdout decides which forecasts better.</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Holdout 2017–2018: beat the seasonal naive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3_holdout.png" descr="Bar chart of the holdout MAE in AUD m for eleven methods, best first: log regression 54.5, ETS 63.0, regression 67.0, seasonal naive 67.2 (dashed line), then Holt-Winters, SARIMA, exponential smoothing and the mean; naive (1,277.5) and drift (1,510.9) run off the axis."/>
          <p:cNvPicPr>
            <a:picLocks noChangeAspect="1"/>
          </p:cNvPicPr>
          <p:nvPr/>
        </p:nvPicPr>
        <p:blipFill>
          <a:blip r:embed="rId3"/>
          <a:stretch>
            <a:fillRect/>
          </a:stretch>
        </p:blipFill>
        <p:spPr>
          <a:xfrm>
            <a:off x="457200" y="1234440"/>
            <a:ext cx="4846320" cy="2880360"/>
          </a:xfrm>
          <a:prstGeom prst="rect">
            <a:avLst/>
          </a:prstGeom>
        </p:spPr>
      </p:pic>
      <p:sp>
        <p:nvSpPr>
          <p:cNvPr id="11" name="Holdout stat 1 box"/>
          <p:cNvSpPr/>
          <p:nvPr/>
        </p:nvSpPr>
        <p:spPr>
          <a:xfrm>
            <a:off x="5440680" y="12344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Holdout stat 1 bar"/>
          <p:cNvSpPr/>
          <p:nvPr/>
        </p:nvSpPr>
        <p:spPr>
          <a:xfrm>
            <a:off x="5440680" y="12344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Holdout stat 1 figure"/>
          <p:cNvSpPr txBox="1"/>
          <p:nvPr/>
        </p:nvSpPr>
        <p:spPr>
          <a:xfrm>
            <a:off x="5623560" y="12344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a:t>
            </a:r>
          </a:p>
        </p:txBody>
      </p:sp>
      <p:sp>
        <p:nvSpPr>
          <p:cNvPr id="14" name="Holdout stat 1 label"/>
          <p:cNvSpPr txBox="1"/>
          <p:nvPr/>
        </p:nvSpPr>
        <p:spPr>
          <a:xfrm>
            <a:off x="6903720" y="1234440"/>
            <a:ext cx="1691640" cy="899160"/>
          </a:xfrm>
          <a:prstGeom prst="rect">
            <a:avLst/>
          </a:prstGeom>
          <a:noFill/>
        </p:spPr>
        <p:txBody>
          <a:bodyPr wrap="square" lIns="0" rIns="0" tIns="0" bIns="0" anchor="ctr">
            <a:noAutofit/>
          </a:bodyPr>
          <a:lstStyle/>
          <a:p>
            <a:pPr algn="l">
              <a:spcAft>
                <a:spcPts val="400"/>
              </a:spcAft>
            </a:pPr>
            <a:r>
              <a:rPr sz="1150" b="0" lang="en-GB">
                <a:solidFill>
                  <a:schemeClr val="tx1"/>
                </a:solidFill>
              </a:rPr>
              <a:t>of the other 14 methods beat the </a:t>
            </a:r>
            <a:r>
              <a:rPr sz="1150" b="1" lang="en-GB">
                <a:solidFill>
                  <a:schemeClr val="tx2"/>
                </a:solidFill>
              </a:rPr>
              <a:t>seasonal naive </a:t>
            </a:r>
            <a:r>
              <a:rPr sz="1150" b="0" lang="en-GB">
                <a:solidFill>
                  <a:schemeClr val="tx1"/>
                </a:solidFill>
              </a:rPr>
              <a:t>(67.2)</a:t>
            </a:r>
          </a:p>
        </p:txBody>
      </p:sp>
      <p:sp>
        <p:nvSpPr>
          <p:cNvPr id="15" name="Holdout stat 2 box"/>
          <p:cNvSpPr/>
          <p:nvPr/>
        </p:nvSpPr>
        <p:spPr>
          <a:xfrm>
            <a:off x="5440680" y="22250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oldout stat 2 bar"/>
          <p:cNvSpPr/>
          <p:nvPr/>
        </p:nvSpPr>
        <p:spPr>
          <a:xfrm>
            <a:off x="5440680" y="22250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oldout stat 2 figure"/>
          <p:cNvSpPr txBox="1"/>
          <p:nvPr/>
        </p:nvSpPr>
        <p:spPr>
          <a:xfrm>
            <a:off x="5623560" y="22250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54.5</a:t>
            </a:r>
          </a:p>
        </p:txBody>
      </p:sp>
      <p:sp>
        <p:nvSpPr>
          <p:cNvPr id="18" name="Holdout stat 2 label"/>
          <p:cNvSpPr txBox="1"/>
          <p:nvPr/>
        </p:nvSpPr>
        <p:spPr>
          <a:xfrm>
            <a:off x="6903720" y="2225040"/>
            <a:ext cx="16916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best: </a:t>
            </a:r>
            <a:r>
              <a:rPr sz="1150" b="0" lang="en-GB">
                <a:solidFill>
                  <a:schemeClr val="tx1"/>
                </a:solidFill>
              </a:rPr>
              <a:t>log regression, trend + months (MAPE 2.5 %)</a:t>
            </a:r>
          </a:p>
        </p:txBody>
      </p:sp>
      <p:sp>
        <p:nvSpPr>
          <p:cNvPr id="19" name="Holdout stat 3 box"/>
          <p:cNvSpPr/>
          <p:nvPr/>
        </p:nvSpPr>
        <p:spPr>
          <a:xfrm>
            <a:off x="5440680" y="32156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oldout stat 3 bar"/>
          <p:cNvSpPr/>
          <p:nvPr/>
        </p:nvSpPr>
        <p:spPr>
          <a:xfrm>
            <a:off x="5440680" y="32156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oldout stat 3 figure"/>
          <p:cNvSpPr txBox="1"/>
          <p:nvPr/>
        </p:nvSpPr>
        <p:spPr>
          <a:xfrm>
            <a:off x="5623560" y="3215640"/>
            <a:ext cx="12801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3,331</a:t>
            </a:r>
          </a:p>
        </p:txBody>
      </p:sp>
      <p:sp>
        <p:nvSpPr>
          <p:cNvPr id="22" name="Holdout stat 3 label"/>
          <p:cNvSpPr txBox="1"/>
          <p:nvPr/>
        </p:nvSpPr>
        <p:spPr>
          <a:xfrm>
            <a:off x="6903720" y="3215640"/>
            <a:ext cx="16916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 trap: </a:t>
            </a:r>
            <a:r>
              <a:rPr sz="1150" b="0" lang="en-GB">
                <a:solidFill>
                  <a:schemeClr val="tx1"/>
                </a:solidFill>
              </a:rPr>
              <a:t>naive repeats Dec 2016 for 24 months (MAE 1,277.5)</a:t>
            </a:r>
          </a:p>
        </p:txBody>
      </p:sp>
      <p:sp>
        <p:nvSpPr>
          <p:cNvPr id="23" name="Holdout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Holdout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On seasonal data the seasonal naive is the benchmark: </a:t>
            </a:r>
            <a:r>
              <a:rPr sz="1200" b="0" lang="en-GB">
                <a:solidFill>
                  <a:schemeClr val="bg1"/>
                </a:solidFill>
              </a:rPr>
              <a:t>only three methods beat it.</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 holdout 2017–2018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 2019 forecast with a 95 % band</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3_forecast.png" descr="Actual sales 2016–2018 and the 2019 forecast of the log regression with its 95 % band; December 2019 is forecast at 3,430 AUD m; the actual values of January to April 2019 lie inside the band."/>
          <p:cNvPicPr>
            <a:picLocks noChangeAspect="1"/>
          </p:cNvPicPr>
          <p:nvPr/>
        </p:nvPicPr>
        <p:blipFill>
          <a:blip r:embed="rId3"/>
          <a:stretch>
            <a:fillRect/>
          </a:stretch>
        </p:blipFill>
        <p:spPr>
          <a:xfrm>
            <a:off x="457200" y="1234440"/>
            <a:ext cx="4572000" cy="2880360"/>
          </a:xfrm>
          <a:prstGeom prst="rect">
            <a:avLst/>
          </a:prstGeom>
        </p:spPr>
      </p:pic>
      <p:sp>
        <p:nvSpPr>
          <p:cNvPr id="11" name="Forecast stat 1 box"/>
          <p:cNvSpPr/>
          <p:nvPr/>
        </p:nvSpPr>
        <p:spPr>
          <a:xfrm>
            <a:off x="5166360" y="1234440"/>
            <a:ext cx="352044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Forecast stat 1 bar"/>
          <p:cNvSpPr/>
          <p:nvPr/>
        </p:nvSpPr>
        <p:spPr>
          <a:xfrm>
            <a:off x="5166360" y="12344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Forecast stat 1 figure"/>
          <p:cNvSpPr txBox="1"/>
          <p:nvPr/>
        </p:nvSpPr>
        <p:spPr>
          <a:xfrm>
            <a:off x="5349240" y="1234440"/>
            <a:ext cx="146304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3,430</a:t>
            </a:r>
          </a:p>
        </p:txBody>
      </p:sp>
      <p:sp>
        <p:nvSpPr>
          <p:cNvPr id="14" name="Forecast stat 1 label"/>
          <p:cNvSpPr txBox="1"/>
          <p:nvPr/>
        </p:nvSpPr>
        <p:spPr>
          <a:xfrm>
            <a:off x="6812280" y="1234440"/>
            <a:ext cx="178308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 2019; </a:t>
            </a:r>
            <a:r>
              <a:rPr sz="1150" b="0" lang="en-GB">
                <a:solidFill>
                  <a:schemeClr val="tx1"/>
                </a:solidFill>
              </a:rPr>
              <a:t>95 % band 3,178 to 3,702: should hold the actual in 95 of 100 cases</a:t>
            </a:r>
          </a:p>
        </p:txBody>
      </p:sp>
      <p:sp>
        <p:nvSpPr>
          <p:cNvPr id="15" name="Forecast stat 2 box"/>
          <p:cNvSpPr/>
          <p:nvPr/>
        </p:nvSpPr>
        <p:spPr>
          <a:xfrm>
            <a:off x="5166360" y="2225040"/>
            <a:ext cx="352044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Forecast stat 2 bar"/>
          <p:cNvSpPr/>
          <p:nvPr/>
        </p:nvSpPr>
        <p:spPr>
          <a:xfrm>
            <a:off x="5166360" y="22250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Forecast stat 2 figure"/>
          <p:cNvSpPr txBox="1"/>
          <p:nvPr/>
        </p:nvSpPr>
        <p:spPr>
          <a:xfrm>
            <a:off x="5349240" y="2225040"/>
            <a:ext cx="146304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1.0 %</a:t>
            </a:r>
          </a:p>
        </p:txBody>
      </p:sp>
      <p:sp>
        <p:nvSpPr>
          <p:cNvPr id="18" name="Forecast stat 2 label"/>
          <p:cNvSpPr txBox="1"/>
          <p:nvPr/>
        </p:nvSpPr>
        <p:spPr>
          <a:xfrm>
            <a:off x="6812280" y="2225040"/>
            <a:ext cx="178308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error Jan–Apr 2019 </a:t>
            </a:r>
            <a:r>
              <a:rPr sz="1150" b="0" lang="en-GB">
                <a:solidFill>
                  <a:schemeClr val="tx1"/>
                </a:solidFill>
              </a:rPr>
              <a:t>(MAPE); all 4 inside the band</a:t>
            </a:r>
          </a:p>
        </p:txBody>
      </p:sp>
      <p:sp>
        <p:nvSpPr>
          <p:cNvPr id="19" name="Forecast stat 3 box"/>
          <p:cNvSpPr/>
          <p:nvPr/>
        </p:nvSpPr>
        <p:spPr>
          <a:xfrm>
            <a:off x="5166360" y="3215640"/>
            <a:ext cx="352044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Forecast stat 3 bar"/>
          <p:cNvSpPr/>
          <p:nvPr/>
        </p:nvSpPr>
        <p:spPr>
          <a:xfrm>
            <a:off x="5166360" y="32156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Forecast stat 3 figure"/>
          <p:cNvSpPr txBox="1"/>
          <p:nvPr/>
        </p:nvSpPr>
        <p:spPr>
          <a:xfrm>
            <a:off x="5349240" y="3215640"/>
            <a:ext cx="146304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25,595</a:t>
            </a:r>
          </a:p>
        </p:txBody>
      </p:sp>
      <p:sp>
        <p:nvSpPr>
          <p:cNvPr id="22" name="Forecast stat 3 label"/>
          <p:cNvSpPr txBox="1"/>
          <p:nvPr/>
        </p:nvSpPr>
        <p:spPr>
          <a:xfrm>
            <a:off x="6812280" y="3215640"/>
            <a:ext cx="178308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forecast for 2019 </a:t>
            </a:r>
            <a:r>
              <a:rPr sz="1150" b="0" lang="en-GB">
                <a:solidFill>
                  <a:schemeClr val="tx1"/>
                </a:solidFill>
              </a:rPr>
              <a:t>(2018: 25,077)</a:t>
            </a:r>
          </a:p>
        </p:txBody>
      </p:sp>
      <p:sp>
        <p:nvSpPr>
          <p:cNvPr id="23" name="Forecast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Forecast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Refit the winner on all 120 months, </a:t>
            </a:r>
            <a:r>
              <a:rPr sz="1200" b="0" lang="en-GB">
                <a:solidFill>
                  <a:schemeClr val="bg1"/>
                </a:solidFill>
              </a:rPr>
              <a:t>then report the forecast with its band.</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Autocorrelation: errors that stick together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pic>
        <p:nvPicPr>
          <p:cNvPr id="10" name="Chart fc_f3_resid.png" descr="Bar chart of the log regression's errors on the training months 2009–2016 in per cent; the errors come in long runs of the same sign, the longest 20 months below zero from Oct 2010 to May 2012."/>
          <p:cNvPicPr>
            <a:picLocks noChangeAspect="1"/>
          </p:cNvPicPr>
          <p:nvPr/>
        </p:nvPicPr>
        <p:blipFill>
          <a:blip r:embed="rId3"/>
          <a:stretch>
            <a:fillRect/>
          </a:stretch>
        </p:blipFill>
        <p:spPr>
          <a:xfrm>
            <a:off x="457200" y="1234440"/>
            <a:ext cx="4846320" cy="2880360"/>
          </a:xfrm>
          <a:prstGeom prst="rect">
            <a:avLst/>
          </a:prstGeom>
        </p:spPr>
      </p:pic>
      <p:sp>
        <p:nvSpPr>
          <p:cNvPr id="11" name="Resid stat 1 box"/>
          <p:cNvSpPr/>
          <p:nvPr/>
        </p:nvSpPr>
        <p:spPr>
          <a:xfrm>
            <a:off x="5440680" y="12344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sid stat 1 bar"/>
          <p:cNvSpPr/>
          <p:nvPr/>
        </p:nvSpPr>
        <p:spPr>
          <a:xfrm>
            <a:off x="5440680" y="12344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sid stat 1 figure"/>
          <p:cNvSpPr txBox="1"/>
          <p:nvPr/>
        </p:nvSpPr>
        <p:spPr>
          <a:xfrm>
            <a:off x="5623560" y="1234440"/>
            <a:ext cx="10515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0.72</a:t>
            </a:r>
          </a:p>
        </p:txBody>
      </p:sp>
      <p:sp>
        <p:nvSpPr>
          <p:cNvPr id="14" name="Resid stat 1 label"/>
          <p:cNvSpPr txBox="1"/>
          <p:nvPr/>
        </p:nvSpPr>
        <p:spPr>
          <a:xfrm>
            <a:off x="6675120" y="1234440"/>
            <a:ext cx="19202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autocorrelation: </a:t>
            </a:r>
            <a:r>
              <a:rPr sz="1150" b="0" lang="en-GB">
                <a:solidFill>
                  <a:schemeClr val="tx1"/>
                </a:solidFill>
              </a:rPr>
              <a:t>this month's error is like last month's (0 = none)</a:t>
            </a:r>
          </a:p>
        </p:txBody>
      </p:sp>
      <p:sp>
        <p:nvSpPr>
          <p:cNvPr id="15" name="Resid stat 2 box"/>
          <p:cNvSpPr/>
          <p:nvPr/>
        </p:nvSpPr>
        <p:spPr>
          <a:xfrm>
            <a:off x="5440680" y="22250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sid stat 2 bar"/>
          <p:cNvSpPr/>
          <p:nvPr/>
        </p:nvSpPr>
        <p:spPr>
          <a:xfrm>
            <a:off x="5440680" y="22250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sid stat 2 figure"/>
          <p:cNvSpPr txBox="1"/>
          <p:nvPr/>
        </p:nvSpPr>
        <p:spPr>
          <a:xfrm>
            <a:off x="5623560" y="2225040"/>
            <a:ext cx="10515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0.49</a:t>
            </a:r>
          </a:p>
        </p:txBody>
      </p:sp>
      <p:sp>
        <p:nvSpPr>
          <p:cNvPr id="18" name="Resid stat 2 label"/>
          <p:cNvSpPr txBox="1"/>
          <p:nvPr/>
        </p:nvSpPr>
        <p:spPr>
          <a:xfrm>
            <a:off x="6675120" y="2225040"/>
            <a:ext cx="19202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Durbin–Watson: </a:t>
            </a:r>
            <a:r>
              <a:rPr sz="1150" b="0" lang="en-GB">
                <a:solidFill>
                  <a:schemeClr val="tx1"/>
                </a:solidFill>
              </a:rPr>
              <a:t>2 = no autocorrelation</a:t>
            </a:r>
          </a:p>
        </p:txBody>
      </p:sp>
      <p:sp>
        <p:nvSpPr>
          <p:cNvPr id="19" name="Resid stat 3 box"/>
          <p:cNvSpPr/>
          <p:nvPr/>
        </p:nvSpPr>
        <p:spPr>
          <a:xfrm>
            <a:off x="5440680" y="3215640"/>
            <a:ext cx="3246120" cy="8991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sid stat 3 bar"/>
          <p:cNvSpPr/>
          <p:nvPr/>
        </p:nvSpPr>
        <p:spPr>
          <a:xfrm>
            <a:off x="5440680" y="3215640"/>
            <a:ext cx="64008" cy="8991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sid stat 3 figure"/>
          <p:cNvSpPr txBox="1"/>
          <p:nvPr/>
        </p:nvSpPr>
        <p:spPr>
          <a:xfrm>
            <a:off x="5623560" y="3215640"/>
            <a:ext cx="1051560" cy="899160"/>
          </a:xfrm>
          <a:prstGeom prst="rect">
            <a:avLst/>
          </a:prstGeom>
          <a:noFill/>
        </p:spPr>
        <p:txBody>
          <a:bodyPr wrap="square" lIns="0" rIns="0" tIns="0" bIns="0" anchor="ctr">
            <a:noAutofit/>
          </a:bodyPr>
          <a:lstStyle/>
          <a:p>
            <a:pPr algn="l">
              <a:spcAft>
                <a:spcPts val="400"/>
              </a:spcAft>
            </a:pPr>
            <a:r>
              <a:rPr sz="2800" b="1" lang="en-GB">
                <a:solidFill>
                  <a:schemeClr val="tx2"/>
                </a:solidFill>
                <a:latin typeface="+mj-lt"/>
              </a:rPr>
              <a:t>524</a:t>
            </a:r>
          </a:p>
        </p:txBody>
      </p:sp>
      <p:sp>
        <p:nvSpPr>
          <p:cNvPr id="22" name="Resid stat 3 label"/>
          <p:cNvSpPr txBox="1"/>
          <p:nvPr/>
        </p:nvSpPr>
        <p:spPr>
          <a:xfrm>
            <a:off x="6675120" y="3215640"/>
            <a:ext cx="1920240" cy="899160"/>
          </a:xfrm>
          <a:prstGeom prst="rect">
            <a:avLst/>
          </a:prstGeom>
          <a:noFill/>
        </p:spPr>
        <p:txBody>
          <a:bodyPr wrap="square" lIns="0" rIns="0" tIns="0" bIns="0" anchor="ctr">
            <a:noAutofit/>
          </a:bodyPr>
          <a:lstStyle/>
          <a:p>
            <a:pPr algn="l">
              <a:spcAft>
                <a:spcPts val="400"/>
              </a:spcAft>
            </a:pPr>
            <a:r>
              <a:rPr sz="1150" b="1" lang="en-GB">
                <a:solidFill>
                  <a:schemeClr val="tx2"/>
                </a:solidFill>
              </a:rPr>
              <a:t>December band width, </a:t>
            </a:r>
            <a:r>
              <a:rPr sz="1150" b="0" lang="en-GB">
                <a:solidFill>
                  <a:schemeClr val="tx1"/>
                </a:solidFill>
              </a:rPr>
              <a:t>AUD m (regression); SARIMA's widens from 209 in Jan to 589</a:t>
            </a:r>
          </a:p>
        </p:txBody>
      </p:sp>
      <p:sp>
        <p:nvSpPr>
          <p:cNvPr id="23" name="Resid callout box"/>
          <p:cNvSpPr/>
          <p:nvPr/>
        </p:nvSpPr>
        <p:spPr>
          <a:xfrm>
            <a:off x="457200" y="4251960"/>
            <a:ext cx="8229600" cy="41148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sid callout text"/>
          <p:cNvSpPr txBox="1"/>
          <p:nvPr/>
        </p:nvSpPr>
        <p:spPr>
          <a:xfrm>
            <a:off x="658368" y="4251960"/>
            <a:ext cx="7827264" cy="411480"/>
          </a:xfrm>
          <a:prstGeom prst="rect">
            <a:avLst/>
          </a:prstGeom>
          <a:noFill/>
        </p:spPr>
        <p:txBody>
          <a:bodyPr wrap="square" lIns="0" rIns="0" tIns="0" bIns="0" anchor="ctr">
            <a:noAutofit/>
          </a:bodyPr>
          <a:lstStyle/>
          <a:p>
            <a:pPr algn="l">
              <a:spcAft>
                <a:spcPts val="400"/>
              </a:spcAft>
            </a:pPr>
            <a:r>
              <a:rPr sz="1200" b="1" lang="en-GB">
                <a:solidFill>
                  <a:schemeClr val="bg1"/>
                </a:solidFill>
              </a:rPr>
              <a:t>Errors that stick together: </a:t>
            </a:r>
            <a:r>
              <a:rPr sz="1200" b="0" lang="en-GB">
                <a:solidFill>
                  <a:schemeClr val="bg1"/>
                </a:solidFill>
              </a:rPr>
              <a:t>the regression band does not widen with the horizon; for later months use the SARIMA band.</a:t>
            </a:r>
          </a:p>
        </p:txBody>
      </p:sp>
      <p:sp>
        <p:nvSpPr>
          <p:cNvPr id="25"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 ABS Retail Trade (8501.0), clothing; CC BY 4.0; training months 2009–2016</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5 of 6 · a code ladder, one step at a time</a:t>
            </a:r>
          </a:p>
        </p:txBody>
      </p:sp>
      <p:sp>
        <p:nvSpPr>
          <p:cNvPr id="3" name="Title 2"/>
          <p:cNvSpPr>
            <a:spLocks noGrp="1"/>
          </p:cNvSpPr>
          <p:nvPr>
            <p:ph type="ctrTitle"/>
          </p:nvPr>
        </p:nvSpPr>
        <p:spPr/>
        <p:txBody>
          <a:bodyPr/>
          <a:lstStyle/>
          <a:p>
            <a:r>
              <a:rPr lang="en-GB"/>
              <a:t>Forecasting in Python</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Package table"/>
          <p:cNvGraphicFramePr>
            <a:graphicFrameLocks noGrp="1"/>
          </p:cNvGraphicFramePr>
          <p:nvPr>
            <p:ph type="tbl" idx="1"/>
          </p:nvPr>
        </p:nvGraphicFramePr>
        <p:xfrm>
          <a:off x="457200" y="1234440"/>
          <a:ext cx="8229600" cy="3337560"/>
        </p:xfrm>
        <a:graphic>
          <a:graphicData uri="http://schemas.openxmlformats.org/drawingml/2006/table">
            <a:tbl>
              <a:tblPr firstRow="1" bandRow="1">
                <a:tableStyleId>{5C22544A-7EE6-4342-B048-85BDC9FD1C3A}</a:tableStyleId>
              </a:tblPr>
              <a:tblGrid>
                <a:gridCol w="2194560"/>
                <a:gridCol w="1554480"/>
                <a:gridCol w="4480560"/>
              </a:tblGrid>
              <a:tr h="370840">
                <a:tc>
                  <a:txBody>
                    <a:bodyPr/>
                    <a:lstStyle/>
                    <a:p>
                      <a:r>
                        <a:rPr sz="1300" lang="en-GB"/>
                        <a:t>Task</a:t>
                      </a:r>
                    </a:p>
                  </a:txBody>
                  <a:tcPr marT="34000" marB="34000"/>
                </a:tc>
                <a:tc>
                  <a:txBody>
                    <a:bodyPr/>
                    <a:lstStyle/>
                    <a:p>
                      <a:r>
                        <a:rPr sz="1300" lang="en-GB"/>
                        <a:t>Package</a:t>
                      </a:r>
                    </a:p>
                  </a:txBody>
                  <a:tcPr marT="34000" marB="34000"/>
                </a:tc>
                <a:tc>
                  <a:txBody>
                    <a:bodyPr/>
                    <a:lstStyle/>
                    <a:p>
                      <a:r>
                        <a:rPr sz="1300" lang="en-GB"/>
                        <a:t>Function</a:t>
                      </a:r>
                    </a:p>
                  </a:txBody>
                  <a:tcPr marT="34000" marB="34000"/>
                </a:tc>
              </a:tr>
              <a:tr h="370840">
                <a:tc>
                  <a:txBody>
                    <a:bodyPr/>
                    <a:lstStyle/>
                    <a:p>
                      <a:r>
                        <a:rPr sz="1150" b="1" lang="en-GB"/>
                        <a:t>Load and look</a:t>
                      </a:r>
                    </a:p>
                  </a:txBody>
                  <a:tcPr marT="34000" marB="34000"/>
                </a:tc>
                <a:tc>
                  <a:txBody>
                    <a:bodyPr/>
                    <a:lstStyle/>
                    <a:p>
                      <a:r>
                        <a:rPr sz="1150" lang="en-GB"/>
                        <a:t>polars</a:t>
                      </a:r>
                    </a:p>
                  </a:txBody>
                  <a:tcPr marT="34000" marB="34000"/>
                </a:tc>
                <a:tc>
                  <a:txBody>
                    <a:bodyPr/>
                    <a:lstStyle/>
                    <a:p>
                      <a:r>
                        <a:rPr sz="1150" lang="en-GB">
                          <a:latin typeface="Consolas"/>
                        </a:rPr>
                        <a:t>pl.read_csv(); filter(); head()</a:t>
                      </a:r>
                    </a:p>
                  </a:txBody>
                  <a:tcPr marT="34000" marB="34000"/>
                </a:tc>
              </a:tr>
              <a:tr h="370840">
                <a:tc>
                  <a:txBody>
                    <a:bodyPr/>
                    <a:lstStyle/>
                    <a:p>
                      <a:r>
                        <a:rPr sz="1150" b="1" lang="en-GB"/>
                        <a:t>Plot the series</a:t>
                      </a:r>
                    </a:p>
                  </a:txBody>
                  <a:tcPr marT="34000" marB="34000"/>
                </a:tc>
                <a:tc>
                  <a:txBody>
                    <a:bodyPr/>
                    <a:lstStyle/>
                    <a:p>
                      <a:r>
                        <a:rPr sz="1150" lang="en-GB"/>
                        <a:t>plotnine</a:t>
                      </a:r>
                    </a:p>
                  </a:txBody>
                  <a:tcPr marT="34000" marB="34000"/>
                </a:tc>
                <a:tc>
                  <a:txBody>
                    <a:bodyPr/>
                    <a:lstStyle/>
                    <a:p>
                      <a:r>
                        <a:rPr sz="1150" lang="en-GB">
                          <a:latin typeface="Consolas"/>
                        </a:rPr>
                        <a:t>ggplot() + geom_line()</a:t>
                      </a:r>
                    </a:p>
                  </a:txBody>
                  <a:tcPr marT="34000" marB="34000"/>
                </a:tc>
              </a:tr>
              <a:tr h="370840">
                <a:tc>
                  <a:txBody>
                    <a:bodyPr/>
                    <a:lstStyle/>
                    <a:p>
                      <a:r>
                        <a:rPr sz="1150" b="1" lang="en-GB"/>
                        <a:t>Forecast and MAE</a:t>
                      </a:r>
                    </a:p>
                  </a:txBody>
                  <a:tcPr marT="34000" marB="34000"/>
                </a:tc>
                <a:tc>
                  <a:txBody>
                    <a:bodyPr/>
                    <a:lstStyle/>
                    <a:p>
                      <a:r>
                        <a:rPr sz="1150" lang="en-GB"/>
                        <a:t>numpy</a:t>
                      </a:r>
                    </a:p>
                  </a:txBody>
                  <a:tcPr marT="34000" marB="34000"/>
                </a:tc>
                <a:tc>
                  <a:txBody>
                    <a:bodyPr/>
                    <a:lstStyle/>
                    <a:p>
                      <a:r>
                        <a:rPr sz="1150" lang="en-GB">
                          <a:latin typeface="Consolas"/>
                        </a:rPr>
                        <a:t>np.repeat(); np.resize(); np.mean()</a:t>
                      </a:r>
                    </a:p>
                  </a:txBody>
                  <a:tcPr marT="34000" marB="34000"/>
                </a:tc>
              </a:tr>
              <a:tr h="370840">
                <a:tc>
                  <a:txBody>
                    <a:bodyPr/>
                    <a:lstStyle/>
                    <a:p>
                      <a:r>
                        <a:rPr sz="1150" b="1" lang="en-GB"/>
                        <a:t>Smooth</a:t>
                      </a:r>
                    </a:p>
                  </a:txBody>
                  <a:tcPr marT="34000" marB="34000"/>
                </a:tc>
                <a:tc>
                  <a:txBody>
                    <a:bodyPr/>
                    <a:lstStyle/>
                    <a:p>
                      <a:r>
                        <a:rPr sz="1150" lang="en-GB"/>
                        <a:t>polars</a:t>
                      </a:r>
                    </a:p>
                  </a:txBody>
                  <a:tcPr marT="34000" marB="34000"/>
                </a:tc>
                <a:tc>
                  <a:txBody>
                    <a:bodyPr/>
                    <a:lstStyle/>
                    <a:p>
                      <a:r>
                        <a:rPr sz="1150" lang="en-GB">
                          <a:latin typeface="Consolas"/>
                        </a:rPr>
                        <a:t>rolling_mean(12, center=True)</a:t>
                      </a:r>
                    </a:p>
                  </a:txBody>
                  <a:tcPr marT="34000" marB="34000"/>
                </a:tc>
              </a:tr>
              <a:tr h="370840">
                <a:tc>
                  <a:txBody>
                    <a:bodyPr/>
                    <a:lstStyle/>
                    <a:p>
                      <a:r>
                        <a:rPr sz="1150" b="1" lang="en-GB"/>
                        <a:t>Exponential smoothing</a:t>
                      </a:r>
                    </a:p>
                  </a:txBody>
                  <a:tcPr marT="34000" marB="34000"/>
                </a:tc>
                <a:tc>
                  <a:txBody>
                    <a:bodyPr/>
                    <a:lstStyle/>
                    <a:p>
                      <a:r>
                        <a:rPr sz="1150" lang="en-GB"/>
                        <a:t>statsmodels</a:t>
                      </a:r>
                    </a:p>
                  </a:txBody>
                  <a:tcPr marT="34000" marB="34000"/>
                </a:tc>
                <a:tc>
                  <a:txBody>
                    <a:bodyPr/>
                    <a:lstStyle/>
                    <a:p>
                      <a:r>
                        <a:rPr sz="1150" lang="en-GB">
                          <a:latin typeface="Consolas"/>
                        </a:rPr>
                        <a:t>tsa.ExponentialSmoothing()</a:t>
                      </a:r>
                    </a:p>
                  </a:txBody>
                  <a:tcPr marT="34000" marB="34000"/>
                </a:tc>
              </a:tr>
              <a:tr h="370840">
                <a:tc>
                  <a:txBody>
                    <a:bodyPr/>
                    <a:lstStyle/>
                    <a:p>
                      <a:r>
                        <a:rPr sz="1150" b="1" lang="en-GB"/>
                        <a:t>Regression</a:t>
                      </a:r>
                    </a:p>
                  </a:txBody>
                  <a:tcPr marT="34000" marB="34000"/>
                </a:tc>
                <a:tc>
                  <a:txBody>
                    <a:bodyPr/>
                    <a:lstStyle/>
                    <a:p>
                      <a:r>
                        <a:rPr sz="1150" lang="en-GB"/>
                        <a:t>statsmodels</a:t>
                      </a:r>
                    </a:p>
                  </a:txBody>
                  <a:tcPr marT="34000" marB="34000"/>
                </a:tc>
                <a:tc>
                  <a:txBody>
                    <a:bodyPr/>
                    <a:lstStyle/>
                    <a:p>
                      <a:r>
                        <a:rPr sz="1150" lang="en-GB">
                          <a:latin typeface="Consolas"/>
                        </a:rPr>
                        <a:t>smf.ols("np.log(value) ~ t + C(m)")</a:t>
                      </a:r>
                    </a:p>
                  </a:txBody>
                  <a:tcPr marT="34000" marB="34000"/>
                </a:tc>
              </a:tr>
              <a:tr h="370840">
                <a:tc>
                  <a:txBody>
                    <a:bodyPr/>
                    <a:lstStyle/>
                    <a:p>
                      <a:r>
                        <a:rPr sz="1150" b="1" lang="en-GB"/>
                        <a:t>SARIMA</a:t>
                      </a:r>
                    </a:p>
                  </a:txBody>
                  <a:tcPr marT="34000" marB="34000"/>
                </a:tc>
                <a:tc>
                  <a:txBody>
                    <a:bodyPr/>
                    <a:lstStyle/>
                    <a:p>
                      <a:r>
                        <a:rPr sz="1150" lang="en-GB"/>
                        <a:t>statsmodels</a:t>
                      </a:r>
                    </a:p>
                  </a:txBody>
                  <a:tcPr marT="34000" marB="34000"/>
                </a:tc>
                <a:tc>
                  <a:txBody>
                    <a:bodyPr/>
                    <a:lstStyle/>
                    <a:p>
                      <a:r>
                        <a:rPr sz="1150" lang="en-GB">
                          <a:latin typeface="Consolas"/>
                        </a:rPr>
                        <a:t>tsa.SARIMAX()</a:t>
                      </a:r>
                    </a:p>
                  </a:txBody>
                  <a:tcPr marT="34000" marB="34000"/>
                </a:tc>
              </a:tr>
              <a:tr h="370840">
                <a:tc>
                  <a:txBody>
                    <a:bodyPr/>
                    <a:lstStyle/>
                    <a:p>
                      <a:r>
                        <a:rPr sz="1150" b="1" lang="en-GB"/>
                        <a:t>Forecast with band</a:t>
                      </a:r>
                    </a:p>
                  </a:txBody>
                  <a:tcPr marT="34000" marB="34000"/>
                </a:tc>
                <a:tc>
                  <a:txBody>
                    <a:bodyPr/>
                    <a:lstStyle/>
                    <a:p>
                      <a:r>
                        <a:rPr sz="1150" lang="en-GB"/>
                        <a:t>statsmodels</a:t>
                      </a:r>
                    </a:p>
                  </a:txBody>
                  <a:tcPr marT="34000" marB="34000"/>
                </a:tc>
                <a:tc>
                  <a:txBody>
                    <a:bodyPr/>
                    <a:lstStyle/>
                    <a:p>
                      <a:r>
                        <a:rPr sz="1150" lang="en-GB">
                          <a:latin typeface="Consolas"/>
                        </a:rPr>
                        <a:t>get_prediction(new).summary_frame()</a:t>
                      </a:r>
                    </a:p>
                  </a:txBody>
                  <a:tcPr marT="34000" marB="34000"/>
                </a:tc>
              </a:tr>
            </a:tbl>
          </a:graphicData>
        </a:graphic>
      </p:graphicFrame>
      <p:sp>
        <p:nvSpPr>
          <p:cNvPr id="3" name="Title 2"/>
          <p:cNvSpPr>
            <a:spLocks noGrp="1"/>
          </p:cNvSpPr>
          <p:nvPr>
            <p:ph type="title"/>
          </p:nvPr>
        </p:nvSpPr>
        <p:spPr/>
        <p:txBody>
          <a:bodyPr/>
          <a:lstStyle/>
          <a:p>
            <a:r>
              <a:rPr sz="1600" lang="en-GB"/>
              <a:t>The packages and functions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 load and look</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1</a:t>
            </a:r>
          </a:p>
        </p:txBody>
      </p:sp>
      <p:sp>
        <p:nvSpPr>
          <p:cNvPr id="32" name="Ladder code box"/>
          <p:cNvSpPr/>
          <p:nvPr/>
        </p:nvSpPr>
        <p:spPr>
          <a:xfrm>
            <a:off x="457200" y="1956816"/>
            <a:ext cx="4892040" cy="207020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887322"/>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polars as pl</a:t>
            </a:r>
          </a:p>
          <a:p>
            <a:pPr algn="l">
              <a:spcAft>
                <a:spcPts val="0"/>
              </a:spcAft>
            </a:pPr>
            <a:r>
              <a:rPr sz="1000" b="0" lang="en-GB">
                <a:solidFill>
                  <a:schemeClr val="bg1"/>
                </a:solidFill>
                <a:latin typeface="Consolas"/>
              </a:rPr>
              <a:t>from plotnine import aes, geom_line, ggplot</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load the monthly sales and keep 2009-2018</a:t>
            </a:r>
          </a:p>
          <a:p>
            <a:pPr algn="l">
              <a:spcAft>
                <a:spcPts val="0"/>
              </a:spcAft>
            </a:pPr>
            <a:r>
              <a:rPr sz="1000" b="0" lang="en-GB">
                <a:solidFill>
                  <a:schemeClr val="bg1"/>
                </a:solidFill>
                <a:latin typeface="Consolas"/>
              </a:rPr>
              <a:t>file = "../../data/forecasting/aus_clothing_retail.csv"</a:t>
            </a:r>
          </a:p>
          <a:p>
            <a:pPr algn="l">
              <a:spcAft>
                <a:spcPts val="0"/>
              </a:spcAft>
            </a:pPr>
            <a:r>
              <a:rPr sz="1000" b="0" lang="en-GB">
                <a:solidFill>
                  <a:schemeClr val="bg1"/>
                </a:solidFill>
                <a:latin typeface="Consolas"/>
              </a:rPr>
              <a:t>df = pl.read_csv(file, try_parse_dates=True)</a:t>
            </a:r>
          </a:p>
          <a:p>
            <a:pPr algn="l">
              <a:spcAft>
                <a:spcPts val="0"/>
              </a:spcAft>
            </a:pPr>
            <a:r>
              <a:rPr sz="1000" b="0" lang="en-GB">
                <a:solidFill>
                  <a:schemeClr val="bg1"/>
                </a:solidFill>
                <a:latin typeface="Consolas"/>
              </a:rPr>
              <a:t>df = df.filter(</a:t>
            </a:r>
          </a:p>
          <a:p>
            <a:pPr algn="l">
              <a:spcAft>
                <a:spcPts val="0"/>
              </a:spcAft>
            </a:pPr>
            <a:r>
              <a:rPr sz="1000" b="0" lang="en-GB">
                <a:solidFill>
                  <a:schemeClr val="bg1"/>
                </a:solidFill>
                <a:latin typeface="Consolas"/>
              </a:rPr>
              <a:t>    pl.col("month").dt.year().is_between(2009, 2018))</a:t>
            </a:r>
          </a:p>
          <a:p>
            <a:pPr algn="l">
              <a:spcAft>
                <a:spcPts val="0"/>
              </a:spcAft>
            </a:pPr>
            <a:r>
              <a:rPr sz="1000" b="0" lang="en-GB">
                <a:solidFill>
                  <a:schemeClr val="bg1"/>
                </a:solidFill>
                <a:latin typeface="Consolas"/>
              </a:rPr>
              <a:t>print(df.head())</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plot the series</a:t>
            </a:r>
          </a:p>
          <a:p>
            <a:pPr algn="l">
              <a:spcAft>
                <a:spcPts val="0"/>
              </a:spcAft>
            </a:pPr>
            <a:r>
              <a:rPr sz="1000" b="0" lang="en-GB">
                <a:solidFill>
                  <a:schemeClr val="bg1"/>
                </a:solidFill>
                <a:latin typeface="Consolas"/>
              </a:rPr>
              <a:t>ggplot(df, aes("month", "value")) + geom_line()</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df.head()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value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Jan 2009</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1,543.2</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Feb 2009</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1,259.1</a:t>
            </a:r>
          </a:p>
        </p:txBody>
      </p:sp>
      <p:sp>
        <p:nvSpPr>
          <p:cNvPr id="46" name="Ladder out 4-1"/>
          <p:cNvSpPr/>
          <p:nvPr/>
        </p:nvSpPr>
        <p:spPr>
          <a:xfrm>
            <a:off x="5486400" y="2752344"/>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1"/>
          <p:cNvSpPr txBox="1"/>
          <p:nvPr/>
        </p:nvSpPr>
        <p:spPr>
          <a:xfrm>
            <a:off x="5577840" y="2752344"/>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Mar 2009</a:t>
            </a:r>
          </a:p>
        </p:txBody>
      </p:sp>
      <p:sp>
        <p:nvSpPr>
          <p:cNvPr id="48" name="Ladder out 4-2"/>
          <p:cNvSpPr/>
          <p:nvPr/>
        </p:nvSpPr>
        <p:spPr>
          <a:xfrm>
            <a:off x="7406640" y="2752344"/>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4-2"/>
          <p:cNvSpPr txBox="1"/>
          <p:nvPr/>
        </p:nvSpPr>
        <p:spPr>
          <a:xfrm>
            <a:off x="7498080" y="2752344"/>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1,518.6</a:t>
            </a:r>
          </a:p>
        </p:txBody>
      </p:sp>
      <p:sp>
        <p:nvSpPr>
          <p:cNvPr id="50" name="Ladder reading box"/>
          <p:cNvSpPr/>
          <p:nvPr/>
        </p:nvSpPr>
        <p:spPr>
          <a:xfrm>
            <a:off x="457200" y="420989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1" name="Icon Ladder reading" descr=""/>
          <p:cNvPicPr>
            <a:picLocks noChangeAspect="1"/>
          </p:cNvPicPr>
          <p:nvPr/>
        </p:nvPicPr>
        <p:blipFill>
          <a:blip r:embed="rId3"/>
          <a:stretch>
            <a:fillRect/>
          </a:stretch>
        </p:blipFill>
        <p:spPr>
          <a:xfrm>
            <a:off x="658368" y="4255618"/>
            <a:ext cx="365760" cy="365760"/>
          </a:xfrm>
          <a:prstGeom prst="rect">
            <a:avLst/>
          </a:prstGeom>
        </p:spPr>
      </p:pic>
      <p:sp>
        <p:nvSpPr>
          <p:cNvPr id="52" name="Ladder reading text"/>
          <p:cNvSpPr txBox="1"/>
          <p:nvPr/>
        </p:nvSpPr>
        <p:spPr>
          <a:xfrm>
            <a:off x="1207008" y="4209898"/>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Look first: </a:t>
            </a:r>
            <a:r>
              <a:rPr sz="1200" b="0" lang="en-GB">
                <a:solidFill>
                  <a:schemeClr val="tx1"/>
                </a:solidFill>
              </a:rPr>
              <a:t>sales grow, and the December peak grows with them (slide 25).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2: split: fit and holdout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2</a:t>
            </a:r>
          </a:p>
        </p:txBody>
      </p:sp>
      <p:sp>
        <p:nvSpPr>
          <p:cNvPr id="32" name="Ladder code box"/>
          <p:cNvSpPr/>
          <p:nvPr/>
        </p:nvSpPr>
        <p:spPr>
          <a:xfrm>
            <a:off x="457200" y="1956816"/>
            <a:ext cx="4892040" cy="112654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94366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the sales as numbers, in time order</a:t>
            </a:r>
          </a:p>
          <a:p>
            <a:pPr algn="l">
              <a:spcAft>
                <a:spcPts val="0"/>
              </a:spcAft>
            </a:pPr>
            <a:r>
              <a:rPr sz="1000" b="0" lang="en-GB">
                <a:solidFill>
                  <a:schemeClr val="bg1"/>
                </a:solidFill>
                <a:latin typeface="Consolas"/>
              </a:rPr>
              <a:t>y = df["value"].to_numpy()</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fit on the first 96 months, hold out the last 24</a:t>
            </a:r>
          </a:p>
          <a:p>
            <a:pPr algn="l">
              <a:spcAft>
                <a:spcPts val="0"/>
              </a:spcAft>
            </a:pPr>
            <a:r>
              <a:rPr sz="1000" b="0" lang="en-GB">
                <a:solidFill>
                  <a:schemeClr val="bg1"/>
                </a:solidFill>
                <a:latin typeface="Consolas"/>
              </a:rPr>
              <a:t>train, test = y[:-24], y[-24:]</a:t>
            </a:r>
          </a:p>
          <a:p>
            <a:pPr algn="l">
              <a:spcAft>
                <a:spcPts val="0"/>
              </a:spcAft>
            </a:pPr>
            <a:r>
              <a:rPr sz="1000" b="0" lang="en-GB">
                <a:solidFill>
                  <a:schemeClr val="bg1"/>
                </a:solidFill>
                <a:latin typeface="Consolas"/>
              </a:rPr>
              <a:t>print(len(train), len(test))</a:t>
            </a:r>
          </a:p>
        </p:txBody>
      </p:sp>
      <p:sp>
        <p:nvSpPr>
          <p:cNvPr id="34" name="Ladder out 1-1"/>
          <p:cNvSpPr/>
          <p:nvPr/>
        </p:nvSpPr>
        <p:spPr>
          <a:xfrm>
            <a:off x="5486400" y="1682496"/>
            <a:ext cx="92403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74115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Part</a:t>
            </a:r>
          </a:p>
        </p:txBody>
      </p:sp>
      <p:sp>
        <p:nvSpPr>
          <p:cNvPr id="36" name="Ladder out 1-2"/>
          <p:cNvSpPr/>
          <p:nvPr/>
        </p:nvSpPr>
        <p:spPr>
          <a:xfrm>
            <a:off x="6437870" y="1682496"/>
            <a:ext cx="92403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6529310" y="1682496"/>
            <a:ext cx="74115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Months</a:t>
            </a:r>
          </a:p>
        </p:txBody>
      </p:sp>
      <p:sp>
        <p:nvSpPr>
          <p:cNvPr id="38" name="Ladder out 1-3"/>
          <p:cNvSpPr/>
          <p:nvPr/>
        </p:nvSpPr>
        <p:spPr>
          <a:xfrm>
            <a:off x="7389341" y="1682496"/>
            <a:ext cx="1297459"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1-3"/>
          <p:cNvSpPr txBox="1"/>
          <p:nvPr/>
        </p:nvSpPr>
        <p:spPr>
          <a:xfrm>
            <a:off x="7480781" y="1682496"/>
            <a:ext cx="1087147"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Period</a:t>
            </a:r>
          </a:p>
        </p:txBody>
      </p:sp>
      <p:sp>
        <p:nvSpPr>
          <p:cNvPr id="40" name="Ladder out 2-1"/>
          <p:cNvSpPr/>
          <p:nvPr/>
        </p:nvSpPr>
        <p:spPr>
          <a:xfrm>
            <a:off x="5486400" y="2039112"/>
            <a:ext cx="92403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1"/>
          <p:cNvSpPr txBox="1"/>
          <p:nvPr/>
        </p:nvSpPr>
        <p:spPr>
          <a:xfrm>
            <a:off x="5577840" y="2039112"/>
            <a:ext cx="74115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train</a:t>
            </a:r>
          </a:p>
        </p:txBody>
      </p:sp>
      <p:sp>
        <p:nvSpPr>
          <p:cNvPr id="42" name="Ladder out 2-2"/>
          <p:cNvSpPr/>
          <p:nvPr/>
        </p:nvSpPr>
        <p:spPr>
          <a:xfrm>
            <a:off x="6437870" y="2039112"/>
            <a:ext cx="92403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2"/>
          <p:cNvSpPr txBox="1"/>
          <p:nvPr/>
        </p:nvSpPr>
        <p:spPr>
          <a:xfrm>
            <a:off x="6529310" y="2039112"/>
            <a:ext cx="74115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96</a:t>
            </a:r>
          </a:p>
        </p:txBody>
      </p:sp>
      <p:sp>
        <p:nvSpPr>
          <p:cNvPr id="44" name="Ladder out 2-3"/>
          <p:cNvSpPr/>
          <p:nvPr/>
        </p:nvSpPr>
        <p:spPr>
          <a:xfrm>
            <a:off x="7389341" y="2039112"/>
            <a:ext cx="1297459"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2-3"/>
          <p:cNvSpPr txBox="1"/>
          <p:nvPr/>
        </p:nvSpPr>
        <p:spPr>
          <a:xfrm>
            <a:off x="7480781" y="2039112"/>
            <a:ext cx="1087147"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2009–2016</a:t>
            </a:r>
          </a:p>
        </p:txBody>
      </p:sp>
      <p:sp>
        <p:nvSpPr>
          <p:cNvPr id="46" name="Ladder out 3-1"/>
          <p:cNvSpPr/>
          <p:nvPr/>
        </p:nvSpPr>
        <p:spPr>
          <a:xfrm>
            <a:off x="5486400" y="2395728"/>
            <a:ext cx="92403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1"/>
          <p:cNvSpPr txBox="1"/>
          <p:nvPr/>
        </p:nvSpPr>
        <p:spPr>
          <a:xfrm>
            <a:off x="5577840" y="2395728"/>
            <a:ext cx="74115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test</a:t>
            </a:r>
          </a:p>
        </p:txBody>
      </p:sp>
      <p:sp>
        <p:nvSpPr>
          <p:cNvPr id="48" name="Ladder out 3-2"/>
          <p:cNvSpPr/>
          <p:nvPr/>
        </p:nvSpPr>
        <p:spPr>
          <a:xfrm>
            <a:off x="6437870" y="2395728"/>
            <a:ext cx="92403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2"/>
          <p:cNvSpPr txBox="1"/>
          <p:nvPr/>
        </p:nvSpPr>
        <p:spPr>
          <a:xfrm>
            <a:off x="6529310" y="2395728"/>
            <a:ext cx="74115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24</a:t>
            </a:r>
          </a:p>
        </p:txBody>
      </p:sp>
      <p:sp>
        <p:nvSpPr>
          <p:cNvPr id="50" name="Ladder out 3-3"/>
          <p:cNvSpPr/>
          <p:nvPr/>
        </p:nvSpPr>
        <p:spPr>
          <a:xfrm>
            <a:off x="7389341" y="2395728"/>
            <a:ext cx="1297459"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3-3"/>
          <p:cNvSpPr txBox="1"/>
          <p:nvPr/>
        </p:nvSpPr>
        <p:spPr>
          <a:xfrm>
            <a:off x="7480781" y="2395728"/>
            <a:ext cx="1087147"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2017–2018</a:t>
            </a:r>
          </a:p>
        </p:txBody>
      </p:sp>
      <p:sp>
        <p:nvSpPr>
          <p:cNvPr id="52" name="Ladder reading box"/>
          <p:cNvSpPr/>
          <p:nvPr/>
        </p:nvSpPr>
        <p:spPr>
          <a:xfrm>
            <a:off x="457200" y="3266237"/>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3" name="Icon Ladder reading" descr=""/>
          <p:cNvPicPr>
            <a:picLocks noChangeAspect="1"/>
          </p:cNvPicPr>
          <p:nvPr/>
        </p:nvPicPr>
        <p:blipFill>
          <a:blip r:embed="rId3"/>
          <a:stretch>
            <a:fillRect/>
          </a:stretch>
        </p:blipFill>
        <p:spPr>
          <a:xfrm>
            <a:off x="658368" y="3311957"/>
            <a:ext cx="365760" cy="365760"/>
          </a:xfrm>
          <a:prstGeom prst="rect">
            <a:avLst/>
          </a:prstGeom>
        </p:spPr>
      </p:pic>
      <p:sp>
        <p:nvSpPr>
          <p:cNvPr id="54" name="Ladder reading text"/>
          <p:cNvSpPr txBox="1"/>
          <p:nvPr/>
        </p:nvSpPr>
        <p:spPr>
          <a:xfrm>
            <a:off x="1207008" y="3266237"/>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Test on the future: </a:t>
            </a:r>
            <a:r>
              <a:rPr sz="1200" b="0" lang="en-GB">
                <a:solidFill>
                  <a:schemeClr val="tx1"/>
                </a:solidFill>
              </a:rPr>
              <a:t>fit on 2009–2016, forecast 2017–2018; never split at random.</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3: naive and seasonal naive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3</a:t>
            </a:r>
          </a:p>
        </p:txBody>
      </p:sp>
      <p:sp>
        <p:nvSpPr>
          <p:cNvPr id="32" name="Ladder code box"/>
          <p:cNvSpPr/>
          <p:nvPr/>
        </p:nvSpPr>
        <p:spPr>
          <a:xfrm>
            <a:off x="457200" y="1956816"/>
            <a:ext cx="4892040" cy="1598371"/>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415491"/>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numpy as np</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naive: repeat the last training month 24 times</a:t>
            </a:r>
          </a:p>
          <a:p>
            <a:pPr algn="l">
              <a:spcAft>
                <a:spcPts val="0"/>
              </a:spcAft>
            </a:pPr>
            <a:r>
              <a:rPr sz="1000" b="0" lang="en-GB">
                <a:solidFill>
                  <a:schemeClr val="bg1"/>
                </a:solidFill>
                <a:latin typeface="Consolas"/>
              </a:rPr>
              <a:t>naive = np.repeat(train[-1], 24)</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seasonal naive: repeat the last training year twice</a:t>
            </a:r>
          </a:p>
          <a:p>
            <a:pPr algn="l">
              <a:spcAft>
                <a:spcPts val="0"/>
              </a:spcAft>
            </a:pPr>
            <a:r>
              <a:rPr sz="1000" b="0" lang="en-GB">
                <a:solidFill>
                  <a:schemeClr val="bg1"/>
                </a:solidFill>
                <a:latin typeface="Consolas"/>
              </a:rPr>
              <a:t>snaive = np.resize(train[-12:], 24)</a:t>
            </a:r>
          </a:p>
          <a:p>
            <a:pPr algn="l">
              <a:spcAft>
                <a:spcPts val="0"/>
              </a:spcAft>
            </a:pPr>
            <a:r>
              <a:rPr sz="1000" b="0" lang="en-GB">
                <a:solidFill>
                  <a:schemeClr val="bg1"/>
                </a:solidFill>
                <a:latin typeface="Consolas"/>
              </a:rPr>
              <a:t>print(naive[:12])</a:t>
            </a:r>
          </a:p>
          <a:p>
            <a:pPr algn="l">
              <a:spcAft>
                <a:spcPts val="0"/>
              </a:spcAft>
            </a:pPr>
            <a:r>
              <a:rPr sz="1000" b="0" lang="en-GB">
                <a:solidFill>
                  <a:schemeClr val="bg1"/>
                </a:solidFill>
                <a:latin typeface="Consolas"/>
              </a:rPr>
              <a:t>print(snaive[:12])</a:t>
            </a:r>
          </a:p>
        </p:txBody>
      </p:sp>
      <p:sp>
        <p:nvSpPr>
          <p:cNvPr id="34" name="Ladder out 1-1"/>
          <p:cNvSpPr/>
          <p:nvPr/>
        </p:nvSpPr>
        <p:spPr>
          <a:xfrm>
            <a:off x="5486400" y="1682496"/>
            <a:ext cx="8869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7040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2017</a:t>
            </a:r>
          </a:p>
        </p:txBody>
      </p:sp>
      <p:sp>
        <p:nvSpPr>
          <p:cNvPr id="36" name="Ladder out 1-2"/>
          <p:cNvSpPr/>
          <p:nvPr/>
        </p:nvSpPr>
        <p:spPr>
          <a:xfrm>
            <a:off x="6400800" y="1682496"/>
            <a:ext cx="11155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6492240" y="1682496"/>
            <a:ext cx="93268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naive</a:t>
            </a:r>
          </a:p>
        </p:txBody>
      </p:sp>
      <p:sp>
        <p:nvSpPr>
          <p:cNvPr id="38" name="Ladder out 1-3"/>
          <p:cNvSpPr/>
          <p:nvPr/>
        </p:nvSpPr>
        <p:spPr>
          <a:xfrm>
            <a:off x="7543800" y="1682496"/>
            <a:ext cx="114300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1-3"/>
          <p:cNvSpPr txBox="1"/>
          <p:nvPr/>
        </p:nvSpPr>
        <p:spPr>
          <a:xfrm>
            <a:off x="7635240" y="1682496"/>
            <a:ext cx="93268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snaive</a:t>
            </a:r>
          </a:p>
        </p:txBody>
      </p:sp>
      <p:sp>
        <p:nvSpPr>
          <p:cNvPr id="40" name="Ladder out 2-1"/>
          <p:cNvSpPr/>
          <p:nvPr/>
        </p:nvSpPr>
        <p:spPr>
          <a:xfrm>
            <a:off x="5486400" y="2039112"/>
            <a:ext cx="8869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1"/>
          <p:cNvSpPr txBox="1"/>
          <p:nvPr/>
        </p:nvSpPr>
        <p:spPr>
          <a:xfrm>
            <a:off x="5577840" y="2039112"/>
            <a:ext cx="7040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Jan</a:t>
            </a:r>
          </a:p>
        </p:txBody>
      </p:sp>
      <p:sp>
        <p:nvSpPr>
          <p:cNvPr id="42" name="Ladder out 2-2"/>
          <p:cNvSpPr/>
          <p:nvPr/>
        </p:nvSpPr>
        <p:spPr>
          <a:xfrm>
            <a:off x="6400800" y="2039112"/>
            <a:ext cx="1115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2"/>
          <p:cNvSpPr txBox="1"/>
          <p:nvPr/>
        </p:nvSpPr>
        <p:spPr>
          <a:xfrm>
            <a:off x="6492240" y="2039112"/>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3,330.5</a:t>
            </a:r>
          </a:p>
        </p:txBody>
      </p:sp>
      <p:sp>
        <p:nvSpPr>
          <p:cNvPr id="44" name="Ladder out 2-3"/>
          <p:cNvSpPr/>
          <p:nvPr/>
        </p:nvSpPr>
        <p:spPr>
          <a:xfrm>
            <a:off x="7543800" y="2039112"/>
            <a:ext cx="114300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2-3"/>
          <p:cNvSpPr txBox="1"/>
          <p:nvPr/>
        </p:nvSpPr>
        <p:spPr>
          <a:xfrm>
            <a:off x="7635240" y="2039112"/>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1,875.7</a:t>
            </a:r>
          </a:p>
        </p:txBody>
      </p:sp>
      <p:sp>
        <p:nvSpPr>
          <p:cNvPr id="46" name="Ladder out 3-1"/>
          <p:cNvSpPr/>
          <p:nvPr/>
        </p:nvSpPr>
        <p:spPr>
          <a:xfrm>
            <a:off x="5486400" y="2395728"/>
            <a:ext cx="8869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3-1"/>
          <p:cNvSpPr txBox="1"/>
          <p:nvPr/>
        </p:nvSpPr>
        <p:spPr>
          <a:xfrm>
            <a:off x="5577840" y="2395728"/>
            <a:ext cx="7040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Jun</a:t>
            </a:r>
          </a:p>
        </p:txBody>
      </p:sp>
      <p:sp>
        <p:nvSpPr>
          <p:cNvPr id="48" name="Ladder out 3-2"/>
          <p:cNvSpPr/>
          <p:nvPr/>
        </p:nvSpPr>
        <p:spPr>
          <a:xfrm>
            <a:off x="6400800" y="2395728"/>
            <a:ext cx="1115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3-2"/>
          <p:cNvSpPr txBox="1"/>
          <p:nvPr/>
        </p:nvSpPr>
        <p:spPr>
          <a:xfrm>
            <a:off x="6492240" y="2395728"/>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3,330.5</a:t>
            </a:r>
          </a:p>
        </p:txBody>
      </p:sp>
      <p:sp>
        <p:nvSpPr>
          <p:cNvPr id="50" name="Ladder out 3-3"/>
          <p:cNvSpPr/>
          <p:nvPr/>
        </p:nvSpPr>
        <p:spPr>
          <a:xfrm>
            <a:off x="7543800" y="2395728"/>
            <a:ext cx="114300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3-3"/>
          <p:cNvSpPr txBox="1"/>
          <p:nvPr/>
        </p:nvSpPr>
        <p:spPr>
          <a:xfrm>
            <a:off x="7635240" y="2395728"/>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1,967.1</a:t>
            </a:r>
          </a:p>
        </p:txBody>
      </p:sp>
      <p:sp>
        <p:nvSpPr>
          <p:cNvPr id="52" name="Ladder out 4-1"/>
          <p:cNvSpPr/>
          <p:nvPr/>
        </p:nvSpPr>
        <p:spPr>
          <a:xfrm>
            <a:off x="5486400" y="2752344"/>
            <a:ext cx="8869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4-1"/>
          <p:cNvSpPr txBox="1"/>
          <p:nvPr/>
        </p:nvSpPr>
        <p:spPr>
          <a:xfrm>
            <a:off x="5577840" y="2752344"/>
            <a:ext cx="7040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Dec</a:t>
            </a:r>
          </a:p>
        </p:txBody>
      </p:sp>
      <p:sp>
        <p:nvSpPr>
          <p:cNvPr id="54" name="Ladder out 4-2"/>
          <p:cNvSpPr/>
          <p:nvPr/>
        </p:nvSpPr>
        <p:spPr>
          <a:xfrm>
            <a:off x="6400800" y="2752344"/>
            <a:ext cx="11155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4-2"/>
          <p:cNvSpPr txBox="1"/>
          <p:nvPr/>
        </p:nvSpPr>
        <p:spPr>
          <a:xfrm>
            <a:off x="6492240" y="2752344"/>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3,330.5</a:t>
            </a:r>
          </a:p>
        </p:txBody>
      </p:sp>
      <p:sp>
        <p:nvSpPr>
          <p:cNvPr id="56" name="Ladder out 4-3"/>
          <p:cNvSpPr/>
          <p:nvPr/>
        </p:nvSpPr>
        <p:spPr>
          <a:xfrm>
            <a:off x="7543800" y="2752344"/>
            <a:ext cx="114300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adder out text 4-3"/>
          <p:cNvSpPr txBox="1"/>
          <p:nvPr/>
        </p:nvSpPr>
        <p:spPr>
          <a:xfrm>
            <a:off x="7635240" y="2752344"/>
            <a:ext cx="9326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3,330.5</a:t>
            </a:r>
          </a:p>
        </p:txBody>
      </p:sp>
      <p:sp>
        <p:nvSpPr>
          <p:cNvPr id="58" name="Ladder reading box"/>
          <p:cNvSpPr/>
          <p:nvPr/>
        </p:nvSpPr>
        <p:spPr>
          <a:xfrm>
            <a:off x="457200" y="3738067"/>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Icon Ladder reading" descr=""/>
          <p:cNvPicPr>
            <a:picLocks noChangeAspect="1"/>
          </p:cNvPicPr>
          <p:nvPr/>
        </p:nvPicPr>
        <p:blipFill>
          <a:blip r:embed="rId3"/>
          <a:stretch>
            <a:fillRect/>
          </a:stretch>
        </p:blipFill>
        <p:spPr>
          <a:xfrm>
            <a:off x="658368" y="3783787"/>
            <a:ext cx="365760" cy="365760"/>
          </a:xfrm>
          <a:prstGeom prst="rect">
            <a:avLst/>
          </a:prstGeom>
        </p:spPr>
      </p:pic>
      <p:sp>
        <p:nvSpPr>
          <p:cNvPr id="60" name="Ladder reading text"/>
          <p:cNvSpPr txBox="1"/>
          <p:nvPr/>
        </p:nvSpPr>
        <p:spPr>
          <a:xfrm>
            <a:off x="1207008" y="3738067"/>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Naive forecasts a Christmas every month; </a:t>
            </a:r>
            <a:r>
              <a:rPr sz="1200" b="0" lang="en-GB">
                <a:solidFill>
                  <a:schemeClr val="tx1"/>
                </a:solidFill>
              </a:rPr>
              <a:t>the seasonal naive repeats 2016.</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4: how good? The MAE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4</a:t>
            </a:r>
          </a:p>
        </p:txBody>
      </p:sp>
      <p:sp>
        <p:nvSpPr>
          <p:cNvPr id="32" name="Ladder code box"/>
          <p:cNvSpPr/>
          <p:nvPr/>
        </p:nvSpPr>
        <p:spPr>
          <a:xfrm>
            <a:off x="457200" y="1956816"/>
            <a:ext cx="4892040" cy="81198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629107"/>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MAE: the mean absolute error on the holdout</a:t>
            </a:r>
          </a:p>
          <a:p>
            <a:pPr algn="l">
              <a:spcAft>
                <a:spcPts val="0"/>
              </a:spcAft>
            </a:pPr>
            <a:r>
              <a:rPr sz="1000" b="0" lang="en-GB">
                <a:solidFill>
                  <a:schemeClr val="bg1"/>
                </a:solidFill>
                <a:latin typeface="Consolas"/>
              </a:rPr>
              <a:t>mae_snaive = np.mean(np.abs(test - snaive))</a:t>
            </a:r>
          </a:p>
          <a:p>
            <a:pPr algn="l">
              <a:spcAft>
                <a:spcPts val="0"/>
              </a:spcAft>
            </a:pPr>
            <a:r>
              <a:rPr sz="1000" b="0" lang="en-GB">
                <a:solidFill>
                  <a:schemeClr val="bg1"/>
                </a:solidFill>
                <a:latin typeface="Consolas"/>
              </a:rPr>
              <a:t>mae_naive = np.mean(np.abs(test - naive))</a:t>
            </a:r>
          </a:p>
          <a:p>
            <a:pPr algn="l">
              <a:spcAft>
                <a:spcPts val="0"/>
              </a:spcAft>
            </a:pPr>
            <a:r>
              <a:rPr sz="1000" b="0" lang="en-GB">
                <a:solidFill>
                  <a:schemeClr val="bg1"/>
                </a:solidFill>
                <a:latin typeface="Consolas"/>
              </a:rPr>
              <a:t>print(mae_snaive, mae_naive)</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Method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MAE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snaive</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67.2</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naive</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1,277.5</a:t>
            </a:r>
          </a:p>
        </p:txBody>
      </p:sp>
      <p:sp>
        <p:nvSpPr>
          <p:cNvPr id="46" name="Ladder reading box"/>
          <p:cNvSpPr/>
          <p:nvPr/>
        </p:nvSpPr>
        <p:spPr>
          <a:xfrm>
            <a:off x="457200" y="2951683"/>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Icon Ladder reading" descr=""/>
          <p:cNvPicPr>
            <a:picLocks noChangeAspect="1"/>
          </p:cNvPicPr>
          <p:nvPr/>
        </p:nvPicPr>
        <p:blipFill>
          <a:blip r:embed="rId3"/>
          <a:stretch>
            <a:fillRect/>
          </a:stretch>
        </p:blipFill>
        <p:spPr>
          <a:xfrm>
            <a:off x="658368" y="2997403"/>
            <a:ext cx="365760" cy="365760"/>
          </a:xfrm>
          <a:prstGeom prst="rect">
            <a:avLst/>
          </a:prstGeom>
        </p:spPr>
      </p:pic>
      <p:sp>
        <p:nvSpPr>
          <p:cNvPr id="48" name="Ladder reading text"/>
          <p:cNvSpPr txBox="1"/>
          <p:nvPr/>
        </p:nvSpPr>
        <p:spPr>
          <a:xfrm>
            <a:off x="1207008" y="2951683"/>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December trap: </a:t>
            </a:r>
            <a:r>
              <a:rPr sz="1200" b="0" lang="en-GB">
                <a:solidFill>
                  <a:schemeClr val="tx1"/>
                </a:solidFill>
              </a:rPr>
              <a:t>naive misses by 1,277.5 a month; beat the seasonal naive.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5: smooth: a rolling average</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5</a:t>
            </a:r>
          </a:p>
        </p:txBody>
      </p:sp>
      <p:sp>
        <p:nvSpPr>
          <p:cNvPr id="32" name="Ladder code box"/>
          <p:cNvSpPr/>
          <p:nvPr/>
        </p:nvSpPr>
        <p:spPr>
          <a:xfrm>
            <a:off x="457200" y="1956816"/>
            <a:ext cx="4892040" cy="144109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258214"/>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12-month rolling average, centred: the trend</a:t>
            </a:r>
          </a:p>
          <a:p>
            <a:pPr algn="l">
              <a:spcAft>
                <a:spcPts val="0"/>
              </a:spcAft>
            </a:pPr>
            <a:r>
              <a:rPr sz="1000" b="0" lang="en-GB">
                <a:solidFill>
                  <a:schemeClr val="bg1"/>
                </a:solidFill>
                <a:latin typeface="Consolas"/>
              </a:rPr>
              <a:t>smooth = df.with_columns(</a:t>
            </a:r>
          </a:p>
          <a:p>
            <a:pPr algn="l">
              <a:spcAft>
                <a:spcPts val="0"/>
              </a:spcAft>
            </a:pPr>
            <a:r>
              <a:rPr sz="1000" b="0" lang="en-GB">
                <a:solidFill>
                  <a:schemeClr val="bg1"/>
                </a:solidFill>
                <a:latin typeface="Consolas"/>
              </a:rPr>
              <a:t>    trend=pl.col("value").rolling_mean(12, center=True))</a:t>
            </a:r>
          </a:p>
          <a:p>
            <a:pPr algn="l">
              <a:spcAft>
                <a:spcPts val="0"/>
              </a:spcAft>
            </a:pPr>
            <a:r>
              <a:rPr sz="1000" b="0" lang="en-GB">
                <a:solidFill>
                  <a:schemeClr val="bg1"/>
                </a:solidFill>
                <a:latin typeface="Consolas"/>
              </a:rPr>
              <a:t>print(smooth.drop_nulls())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the sales and the trend in one chart</a:t>
            </a:r>
          </a:p>
          <a:p>
            <a:pPr algn="l">
              <a:spcAft>
                <a:spcPts val="0"/>
              </a:spcAft>
            </a:pPr>
            <a:r>
              <a:rPr sz="1000" b="0" lang="en-GB">
                <a:solidFill>
                  <a:schemeClr val="bg1"/>
                </a:solidFill>
                <a:latin typeface="Consolas"/>
              </a:rPr>
              <a:t>chart = ggplot(smooth, aes("month", "value")) + geom_line()</a:t>
            </a:r>
          </a:p>
          <a:p>
            <a:pPr algn="l">
              <a:spcAft>
                <a:spcPts val="0"/>
              </a:spcAft>
            </a:pPr>
            <a:r>
              <a:rPr sz="1000" b="0" lang="en-GB">
                <a:solidFill>
                  <a:schemeClr val="bg1"/>
                </a:solidFill>
                <a:latin typeface="Consolas"/>
              </a:rPr>
              <a:t>chart + geom_line(aes(y="trend"), color="blue")</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trend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AUD m</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Jul 2009</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1,628.8</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Jul 2018</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2,089.8</a:t>
            </a:r>
          </a:p>
        </p:txBody>
      </p:sp>
      <p:sp>
        <p:nvSpPr>
          <p:cNvPr id="46" name="Ladder reading box"/>
          <p:cNvSpPr/>
          <p:nvPr/>
        </p:nvSpPr>
        <p:spPr>
          <a:xfrm>
            <a:off x="457200" y="358079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Icon Ladder reading" descr=""/>
          <p:cNvPicPr>
            <a:picLocks noChangeAspect="1"/>
          </p:cNvPicPr>
          <p:nvPr/>
        </p:nvPicPr>
        <p:blipFill>
          <a:blip r:embed="rId3"/>
          <a:stretch>
            <a:fillRect/>
          </a:stretch>
        </p:blipFill>
        <p:spPr>
          <a:xfrm>
            <a:off x="658368" y="3626510"/>
            <a:ext cx="365760" cy="365760"/>
          </a:xfrm>
          <a:prstGeom prst="rect">
            <a:avLst/>
          </a:prstGeom>
        </p:spPr>
      </p:pic>
      <p:sp>
        <p:nvSpPr>
          <p:cNvPr id="48" name="Ladder reading text"/>
          <p:cNvSpPr txBox="1"/>
          <p:nvPr/>
        </p:nvSpPr>
        <p:spPr>
          <a:xfrm>
            <a:off x="1207008" y="358079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season cancels out: </a:t>
            </a:r>
            <a:r>
              <a:rPr sz="1200" b="0" lang="en-GB">
                <a:solidFill>
                  <a:schemeClr val="tx1"/>
                </a:solidFill>
              </a:rPr>
              <a:t>the trend is flat to 2012, then grows (+28 %).</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6: exponential smoothing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6</a:t>
            </a:r>
          </a:p>
        </p:txBody>
      </p:sp>
      <p:sp>
        <p:nvSpPr>
          <p:cNvPr id="32" name="Ladder code box"/>
          <p:cNvSpPr/>
          <p:nvPr/>
        </p:nvSpPr>
        <p:spPr>
          <a:xfrm>
            <a:off x="457200" y="1956816"/>
            <a:ext cx="4892040" cy="1755648"/>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572768"/>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statsmodels.tsa.api as tsa</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Holt-Winters: a trend and a season that grows</a:t>
            </a:r>
          </a:p>
          <a:p>
            <a:pPr algn="l">
              <a:spcAft>
                <a:spcPts val="0"/>
              </a:spcAft>
            </a:pPr>
            <a:r>
              <a:rPr sz="1000" b="0" lang="en-GB">
                <a:solidFill>
                  <a:schemeClr val="bg1"/>
                </a:solidFill>
                <a:latin typeface="Consolas"/>
              </a:rPr>
              <a:t>hw = tsa.ExponentialSmoothing(</a:t>
            </a:r>
          </a:p>
          <a:p>
            <a:pPr algn="l">
              <a:spcAft>
                <a:spcPts val="0"/>
              </a:spcAft>
            </a:pPr>
            <a:r>
              <a:rPr sz="1000" b="0" lang="en-GB">
                <a:solidFill>
                  <a:schemeClr val="bg1"/>
                </a:solidFill>
                <a:latin typeface="Consolas"/>
              </a:rPr>
              <a:t>    train, trend="add", seasonal="mul",</a:t>
            </a:r>
          </a:p>
          <a:p>
            <a:pPr algn="l">
              <a:spcAft>
                <a:spcPts val="0"/>
              </a:spcAft>
            </a:pPr>
            <a:r>
              <a:rPr sz="1000" b="0" lang="en-GB">
                <a:solidFill>
                  <a:schemeClr val="bg1"/>
                </a:solidFill>
                <a:latin typeface="Consolas"/>
              </a:rPr>
              <a:t>    seasonal_periods=12,</a:t>
            </a:r>
          </a:p>
          <a:p>
            <a:pPr algn="l">
              <a:spcAft>
                <a:spcPts val="0"/>
              </a:spcAft>
            </a:pPr>
            <a:r>
              <a:rPr sz="1000" b="0" lang="en-GB">
                <a:solidFill>
                  <a:schemeClr val="bg1"/>
                </a:solidFill>
                <a:latin typeface="Consolas"/>
              </a:rPr>
              <a:t>    initialization_method="estimated").fit()</a:t>
            </a:r>
          </a:p>
          <a:p>
            <a:pPr algn="l">
              <a:spcAft>
                <a:spcPts val="0"/>
              </a:spcAft>
            </a:pPr>
            <a:r>
              <a:rPr sz="1000" b="0" lang="en-GB">
                <a:solidFill>
                  <a:schemeClr val="bg1"/>
                </a:solidFill>
                <a:latin typeface="Consolas"/>
              </a:rPr>
              <a:t>hw_fc = hw.forecast(24)</a:t>
            </a:r>
          </a:p>
          <a:p>
            <a:pPr algn="l">
              <a:spcAft>
                <a:spcPts val="0"/>
              </a:spcAft>
            </a:pPr>
            <a:r>
              <a:rPr sz="1000" b="0" lang="en-GB">
                <a:solidFill>
                  <a:schemeClr val="bg1"/>
                </a:solidFill>
                <a:latin typeface="Consolas"/>
              </a:rPr>
              <a:t>mae_hw = np.mean(np.abs(test - hw_fc))</a:t>
            </a:r>
          </a:p>
          <a:p>
            <a:pPr algn="l">
              <a:spcAft>
                <a:spcPts val="0"/>
              </a:spcAft>
            </a:pPr>
            <a:r>
              <a:rPr sz="1000" b="0" lang="en-GB">
                <a:solidFill>
                  <a:schemeClr val="bg1"/>
                </a:solidFill>
                <a:latin typeface="Consolas"/>
              </a:rPr>
              <a:t>print(mae_hw)</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Method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MAE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Holt-Winters</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96.6</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snaive</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67.2</a:t>
            </a:r>
          </a:p>
        </p:txBody>
      </p:sp>
      <p:sp>
        <p:nvSpPr>
          <p:cNvPr id="46" name="Ladder reading box"/>
          <p:cNvSpPr/>
          <p:nvPr/>
        </p:nvSpPr>
        <p:spPr>
          <a:xfrm>
            <a:off x="457200" y="3895344"/>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Icon Ladder reading" descr=""/>
          <p:cNvPicPr>
            <a:picLocks noChangeAspect="1"/>
          </p:cNvPicPr>
          <p:nvPr/>
        </p:nvPicPr>
        <p:blipFill>
          <a:blip r:embed="rId3"/>
          <a:stretch>
            <a:fillRect/>
          </a:stretch>
        </p:blipFill>
        <p:spPr>
          <a:xfrm>
            <a:off x="658368" y="3941064"/>
            <a:ext cx="365760" cy="365760"/>
          </a:xfrm>
          <a:prstGeom prst="rect">
            <a:avLst/>
          </a:prstGeom>
        </p:spPr>
      </p:pic>
      <p:sp>
        <p:nvSpPr>
          <p:cNvPr id="48" name="Ladder reading text"/>
          <p:cNvSpPr txBox="1"/>
          <p:nvPr/>
        </p:nvSpPr>
        <p:spPr>
          <a:xfrm>
            <a:off x="1207008" y="3895344"/>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Smarter is not always better: </a:t>
            </a:r>
            <a:r>
              <a:rPr sz="1200" b="0" lang="en-GB">
                <a:solidFill>
                  <a:schemeClr val="tx1"/>
                </a:solidFill>
              </a:rPr>
              <a:t>Holt-Winters loses to the seasonal naive.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7: regression: trend and months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7</a:t>
            </a:r>
          </a:p>
        </p:txBody>
      </p:sp>
      <p:sp>
        <p:nvSpPr>
          <p:cNvPr id="32" name="Ladder code box"/>
          <p:cNvSpPr/>
          <p:nvPr/>
        </p:nvSpPr>
        <p:spPr>
          <a:xfrm>
            <a:off x="457200" y="1956816"/>
            <a:ext cx="4892040" cy="2070202"/>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887322"/>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import statsmodels.formula.api as smf</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 counts the months 1-120, m is the month 1-12</a:t>
            </a:r>
          </a:p>
          <a:p>
            <a:pPr algn="l">
              <a:spcAft>
                <a:spcPts val="0"/>
              </a:spcAft>
            </a:pPr>
            <a:r>
              <a:rPr sz="1000" b="0" lang="en-GB">
                <a:solidFill>
                  <a:schemeClr val="bg1"/>
                </a:solidFill>
                <a:latin typeface="Consolas"/>
              </a:rPr>
              <a:t>d = df.with_columns(</a:t>
            </a:r>
          </a:p>
          <a:p>
            <a:pPr algn="l">
              <a:spcAft>
                <a:spcPts val="0"/>
              </a:spcAft>
            </a:pPr>
            <a:r>
              <a:rPr sz="1000" b="0" lang="en-GB">
                <a:solidFill>
                  <a:schemeClr val="bg1"/>
                </a:solidFill>
                <a:latin typeface="Consolas"/>
              </a:rPr>
              <a:t>    t=pl.int_range(1, pl.len() + 1),</a:t>
            </a:r>
          </a:p>
          <a:p>
            <a:pPr algn="l">
              <a:spcAft>
                <a:spcPts val="0"/>
              </a:spcAft>
            </a:pPr>
            <a:r>
              <a:rPr sz="1000" b="0" lang="en-GB">
                <a:solidFill>
                  <a:schemeClr val="bg1"/>
                </a:solidFill>
                <a:latin typeface="Consolas"/>
              </a:rPr>
              <a:t>    m=pl.col("month").dt.month()).to_pandas()</a:t>
            </a:r>
          </a:p>
          <a:p>
            <a:pPr algn="l">
              <a:spcAft>
                <a:spcPts val="0"/>
              </a:spcAft>
            </a:pPr>
            <a:r>
              <a:rPr sz="1000" b="0" lang="en-GB">
                <a:solidFill>
                  <a:schemeClr val="bg1"/>
                </a:solidFill>
                <a:latin typeface="Consolas"/>
              </a:rPr>
              <a:t># log sales on trend + month dummies, first 96 months</a:t>
            </a:r>
          </a:p>
          <a:p>
            <a:pPr algn="l">
              <a:spcAft>
                <a:spcPts val="0"/>
              </a:spcAft>
            </a:pPr>
            <a:r>
              <a:rPr sz="1000" b="0" lang="en-GB">
                <a:solidFill>
                  <a:schemeClr val="bg1"/>
                </a:solidFill>
                <a:latin typeface="Consolas"/>
              </a:rPr>
              <a:t>reg = smf.ols("np.log(value) ~ t + C(m)",</a:t>
            </a:r>
          </a:p>
          <a:p>
            <a:pPr algn="l">
              <a:spcAft>
                <a:spcPts val="0"/>
              </a:spcAft>
            </a:pPr>
            <a:r>
              <a:rPr sz="1000" b="0" lang="en-GB">
                <a:solidFill>
                  <a:schemeClr val="bg1"/>
                </a:solidFill>
                <a:latin typeface="Consolas"/>
              </a:rPr>
              <a:t>              data=d[:-24]).fit()</a:t>
            </a:r>
          </a:p>
          <a:p>
            <a:pPr algn="l">
              <a:spcAft>
                <a:spcPts val="0"/>
              </a:spcAft>
            </a:pPr>
            <a:r>
              <a:rPr sz="1000" b="0" lang="en-GB">
                <a:solidFill>
                  <a:schemeClr val="bg1"/>
                </a:solidFill>
                <a:latin typeface="Consolas"/>
              </a:rPr>
              <a:t>reg_fc = np.exp(reg.predict(d[-24:]))</a:t>
            </a:r>
          </a:p>
          <a:p>
            <a:pPr algn="l">
              <a:spcAft>
                <a:spcPts val="0"/>
              </a:spcAft>
            </a:pPr>
            <a:r>
              <a:rPr sz="1000" b="0" lang="en-GB">
                <a:solidFill>
                  <a:schemeClr val="bg1"/>
                </a:solidFill>
                <a:latin typeface="Consolas"/>
              </a:rPr>
              <a:t>mae_reg = np.mean(np.abs(test - reg_fc))</a:t>
            </a:r>
          </a:p>
          <a:p>
            <a:pPr algn="l">
              <a:spcAft>
                <a:spcPts val="0"/>
              </a:spcAft>
            </a:pPr>
            <a:r>
              <a:rPr sz="1000" b="0" lang="en-GB">
                <a:solidFill>
                  <a:schemeClr val="bg1"/>
                </a:solidFill>
                <a:latin typeface="Consolas"/>
              </a:rPr>
              <a:t>print(mae_reg)</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Method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MAE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regression</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54.5</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snaive</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67.2</a:t>
            </a:r>
          </a:p>
        </p:txBody>
      </p:sp>
      <p:sp>
        <p:nvSpPr>
          <p:cNvPr id="46" name="Ladder reading box"/>
          <p:cNvSpPr/>
          <p:nvPr/>
        </p:nvSpPr>
        <p:spPr>
          <a:xfrm>
            <a:off x="457200" y="4209898"/>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Icon Ladder reading" descr=""/>
          <p:cNvPicPr>
            <a:picLocks noChangeAspect="1"/>
          </p:cNvPicPr>
          <p:nvPr/>
        </p:nvPicPr>
        <p:blipFill>
          <a:blip r:embed="rId3"/>
          <a:stretch>
            <a:fillRect/>
          </a:stretch>
        </p:blipFill>
        <p:spPr>
          <a:xfrm>
            <a:off x="658368" y="4255618"/>
            <a:ext cx="365760" cy="365760"/>
          </a:xfrm>
          <a:prstGeom prst="rect">
            <a:avLst/>
          </a:prstGeom>
        </p:spPr>
      </p:pic>
      <p:sp>
        <p:nvSpPr>
          <p:cNvPr id="48" name="Ladder reading text"/>
          <p:cNvSpPr txBox="1"/>
          <p:nvPr/>
        </p:nvSpPr>
        <p:spPr>
          <a:xfrm>
            <a:off x="1207008" y="4209898"/>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first winner: </a:t>
            </a:r>
            <a:r>
              <a:rPr sz="1200" b="0" lang="en-GB">
                <a:solidFill>
                  <a:schemeClr val="tx1"/>
                </a:solidFill>
              </a:rPr>
              <a:t>trend + months on log sales beats the seasonal naive.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8: SARIMA</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8</a:t>
            </a:r>
          </a:p>
        </p:txBody>
      </p:sp>
      <p:sp>
        <p:nvSpPr>
          <p:cNvPr id="32" name="Ladder code box"/>
          <p:cNvSpPr/>
          <p:nvPr/>
        </p:nvSpPr>
        <p:spPr>
          <a:xfrm>
            <a:off x="457200" y="1956816"/>
            <a:ext cx="4892040" cy="1441094"/>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258214"/>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SARIMA on log sales: a change on last month</a:t>
            </a:r>
          </a:p>
          <a:p>
            <a:pPr algn="l">
              <a:spcAft>
                <a:spcPts val="0"/>
              </a:spcAft>
            </a:pPr>
            <a:r>
              <a:rPr sz="1000" b="0" lang="en-GB">
                <a:solidFill>
                  <a:schemeClr val="bg1"/>
                </a:solidFill>
                <a:latin typeface="Consolas"/>
              </a:rPr>
              <a:t># and on last year, and the memory of surprises</a:t>
            </a:r>
          </a:p>
          <a:p>
            <a:pPr algn="l">
              <a:spcAft>
                <a:spcPts val="0"/>
              </a:spcAft>
            </a:pPr>
            <a:r>
              <a:rPr sz="1000" b="0" lang="en-GB">
                <a:solidFill>
                  <a:schemeClr val="bg1"/>
                </a:solidFill>
                <a:latin typeface="Consolas"/>
              </a:rPr>
              <a:t>sar = tsa.SARIMAX(</a:t>
            </a:r>
          </a:p>
          <a:p>
            <a:pPr algn="l">
              <a:spcAft>
                <a:spcPts val="0"/>
              </a:spcAft>
            </a:pPr>
            <a:r>
              <a:rPr sz="1000" b="0" lang="en-GB">
                <a:solidFill>
                  <a:schemeClr val="bg1"/>
                </a:solidFill>
                <a:latin typeface="Consolas"/>
              </a:rPr>
              <a:t>    np.log(train), order=(0, 1, 1),</a:t>
            </a:r>
          </a:p>
          <a:p>
            <a:pPr algn="l">
              <a:spcAft>
                <a:spcPts val="0"/>
              </a:spcAft>
            </a:pPr>
            <a:r>
              <a:rPr sz="1000" b="0" lang="en-GB">
                <a:solidFill>
                  <a:schemeClr val="bg1"/>
                </a:solidFill>
                <a:latin typeface="Consolas"/>
              </a:rPr>
              <a:t>    seasonal_order=(0, 1, 1, 12)).fit(disp=0)</a:t>
            </a:r>
          </a:p>
          <a:p>
            <a:pPr algn="l">
              <a:spcAft>
                <a:spcPts val="0"/>
              </a:spcAft>
            </a:pPr>
            <a:r>
              <a:rPr sz="1000" b="0" lang="en-GB">
                <a:solidFill>
                  <a:schemeClr val="bg1"/>
                </a:solidFill>
                <a:latin typeface="Consolas"/>
              </a:rPr>
              <a:t>sar_fc = np.exp(sar.forecast(24))</a:t>
            </a:r>
          </a:p>
          <a:p>
            <a:pPr algn="l">
              <a:spcAft>
                <a:spcPts val="0"/>
              </a:spcAft>
            </a:pPr>
            <a:r>
              <a:rPr sz="1000" b="0" lang="en-GB">
                <a:solidFill>
                  <a:schemeClr val="bg1"/>
                </a:solidFill>
                <a:latin typeface="Consolas"/>
              </a:rPr>
              <a:t>mae_sar = np.mean(np.abs(test - sar_fc))</a:t>
            </a:r>
          </a:p>
          <a:p>
            <a:pPr algn="l">
              <a:spcAft>
                <a:spcPts val="0"/>
              </a:spcAft>
            </a:pPr>
            <a:r>
              <a:rPr sz="1000" b="0" lang="en-GB">
                <a:solidFill>
                  <a:schemeClr val="bg1"/>
                </a:solidFill>
                <a:latin typeface="Consolas"/>
              </a:rPr>
              <a:t>print(mae_sar)</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Method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MAE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SARIMA</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94.9</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snaive</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67.2</a:t>
            </a:r>
          </a:p>
        </p:txBody>
      </p:sp>
      <p:sp>
        <p:nvSpPr>
          <p:cNvPr id="46" name="Ladder reading box"/>
          <p:cNvSpPr/>
          <p:nvPr/>
        </p:nvSpPr>
        <p:spPr>
          <a:xfrm>
            <a:off x="457200" y="3580790"/>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7" name="Icon Ladder reading" descr=""/>
          <p:cNvPicPr>
            <a:picLocks noChangeAspect="1"/>
          </p:cNvPicPr>
          <p:nvPr/>
        </p:nvPicPr>
        <p:blipFill>
          <a:blip r:embed="rId3"/>
          <a:stretch>
            <a:fillRect/>
          </a:stretch>
        </p:blipFill>
        <p:spPr>
          <a:xfrm>
            <a:off x="658368" y="3626510"/>
            <a:ext cx="365760" cy="365760"/>
          </a:xfrm>
          <a:prstGeom prst="rect">
            <a:avLst/>
          </a:prstGeom>
        </p:spPr>
      </p:pic>
      <p:sp>
        <p:nvSpPr>
          <p:cNvPr id="48" name="Ladder reading text"/>
          <p:cNvSpPr txBox="1"/>
          <p:nvPr/>
        </p:nvSpPr>
        <p:spPr>
          <a:xfrm>
            <a:off x="1207008" y="3580790"/>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Test, do not assume: </a:t>
            </a:r>
            <a:r>
              <a:rPr sz="1200" b="0" lang="en-GB">
                <a:solidFill>
                  <a:schemeClr val="tx1"/>
                </a:solidFill>
              </a:rPr>
              <a:t>SARIMA also loses to the seasonal naive here.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9: compare the four</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9 Compare</a:t>
            </a:r>
          </a:p>
        </p:txBody>
      </p:sp>
      <p:sp>
        <p:nvSpPr>
          <p:cNvPr id="28" name="Ladder step 10"/>
          <p:cNvSpPr/>
          <p:nvPr/>
        </p:nvSpPr>
        <p:spPr>
          <a:xfrm>
            <a:off x="789675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9</a:t>
            </a:r>
          </a:p>
        </p:txBody>
      </p:sp>
      <p:sp>
        <p:nvSpPr>
          <p:cNvPr id="32" name="Ladder code box"/>
          <p:cNvSpPr/>
          <p:nvPr/>
        </p:nvSpPr>
        <p:spPr>
          <a:xfrm>
            <a:off x="457200" y="1956816"/>
            <a:ext cx="4892040" cy="811987"/>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629107"/>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the four MAEs side by side</a:t>
            </a:r>
          </a:p>
          <a:p>
            <a:pPr algn="l">
              <a:spcAft>
                <a:spcPts val="0"/>
              </a:spcAft>
            </a:pPr>
            <a:r>
              <a:rPr sz="1000" b="0" lang="en-GB">
                <a:solidFill>
                  <a:schemeClr val="bg1"/>
                </a:solidFill>
                <a:latin typeface="Consolas"/>
              </a:rPr>
              <a:t>pl.DataFrame({</a:t>
            </a:r>
          </a:p>
          <a:p>
            <a:pPr algn="l">
              <a:spcAft>
                <a:spcPts val="0"/>
              </a:spcAft>
            </a:pPr>
            <a:r>
              <a:rPr sz="1000" b="0" lang="en-GB">
                <a:solidFill>
                  <a:schemeClr val="bg1"/>
                </a:solidFill>
                <a:latin typeface="Consolas"/>
              </a:rPr>
              <a:t>    "method": ["snaive", "hw", "reg", "sarima"],</a:t>
            </a:r>
          </a:p>
          <a:p>
            <a:pPr algn="l">
              <a:spcAft>
                <a:spcPts val="0"/>
              </a:spcAft>
            </a:pPr>
            <a:r>
              <a:rPr sz="1000" b="0" lang="en-GB">
                <a:solidFill>
                  <a:schemeClr val="bg1"/>
                </a:solidFill>
                <a:latin typeface="Consolas"/>
              </a:rPr>
              <a:t>    "MAE": [mae_snaive, mae_hw, mae_reg, mae_sar]})</a:t>
            </a:r>
          </a:p>
        </p:txBody>
      </p:sp>
      <p:sp>
        <p:nvSpPr>
          <p:cNvPr id="34" name="Ladder out 1-1"/>
          <p:cNvSpPr/>
          <p:nvPr/>
        </p:nvSpPr>
        <p:spPr>
          <a:xfrm>
            <a:off x="5486400" y="1682496"/>
            <a:ext cx="189280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170992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method</a:t>
            </a:r>
          </a:p>
        </p:txBody>
      </p:sp>
      <p:sp>
        <p:nvSpPr>
          <p:cNvPr id="36" name="Ladder out 1-2"/>
          <p:cNvSpPr/>
          <p:nvPr/>
        </p:nvSpPr>
        <p:spPr>
          <a:xfrm>
            <a:off x="7406640" y="1682496"/>
            <a:ext cx="128016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7498080" y="1682496"/>
            <a:ext cx="106984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MAE</a:t>
            </a:r>
          </a:p>
        </p:txBody>
      </p:sp>
      <p:sp>
        <p:nvSpPr>
          <p:cNvPr id="38" name="Ladder out 2-1"/>
          <p:cNvSpPr/>
          <p:nvPr/>
        </p:nvSpPr>
        <p:spPr>
          <a:xfrm>
            <a:off x="5486400" y="2039112"/>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2-1"/>
          <p:cNvSpPr txBox="1"/>
          <p:nvPr/>
        </p:nvSpPr>
        <p:spPr>
          <a:xfrm>
            <a:off x="5577840" y="2039112"/>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snaive</a:t>
            </a:r>
          </a:p>
        </p:txBody>
      </p:sp>
      <p:sp>
        <p:nvSpPr>
          <p:cNvPr id="40" name="Ladder out 2-2"/>
          <p:cNvSpPr/>
          <p:nvPr/>
        </p:nvSpPr>
        <p:spPr>
          <a:xfrm>
            <a:off x="7406640" y="2039112"/>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2-2"/>
          <p:cNvSpPr txBox="1"/>
          <p:nvPr/>
        </p:nvSpPr>
        <p:spPr>
          <a:xfrm>
            <a:off x="7498080" y="2039112"/>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67.2</a:t>
            </a:r>
          </a:p>
        </p:txBody>
      </p:sp>
      <p:sp>
        <p:nvSpPr>
          <p:cNvPr id="42" name="Ladder out 3-1"/>
          <p:cNvSpPr/>
          <p:nvPr/>
        </p:nvSpPr>
        <p:spPr>
          <a:xfrm>
            <a:off x="5486400" y="2395728"/>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3-1"/>
          <p:cNvSpPr txBox="1"/>
          <p:nvPr/>
        </p:nvSpPr>
        <p:spPr>
          <a:xfrm>
            <a:off x="5577840" y="2395728"/>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hw</a:t>
            </a:r>
          </a:p>
        </p:txBody>
      </p:sp>
      <p:sp>
        <p:nvSpPr>
          <p:cNvPr id="44" name="Ladder out 3-2"/>
          <p:cNvSpPr/>
          <p:nvPr/>
        </p:nvSpPr>
        <p:spPr>
          <a:xfrm>
            <a:off x="7406640" y="2395728"/>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3-2"/>
          <p:cNvSpPr txBox="1"/>
          <p:nvPr/>
        </p:nvSpPr>
        <p:spPr>
          <a:xfrm>
            <a:off x="7498080" y="2395728"/>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96.6</a:t>
            </a:r>
          </a:p>
        </p:txBody>
      </p:sp>
      <p:sp>
        <p:nvSpPr>
          <p:cNvPr id="46" name="Ladder out 4-1"/>
          <p:cNvSpPr/>
          <p:nvPr/>
        </p:nvSpPr>
        <p:spPr>
          <a:xfrm>
            <a:off x="5486400" y="2752344"/>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4-1"/>
          <p:cNvSpPr txBox="1"/>
          <p:nvPr/>
        </p:nvSpPr>
        <p:spPr>
          <a:xfrm>
            <a:off x="5577840" y="2752344"/>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reg</a:t>
            </a:r>
          </a:p>
        </p:txBody>
      </p:sp>
      <p:sp>
        <p:nvSpPr>
          <p:cNvPr id="48" name="Ladder out 4-2"/>
          <p:cNvSpPr/>
          <p:nvPr/>
        </p:nvSpPr>
        <p:spPr>
          <a:xfrm>
            <a:off x="7406640" y="2752344"/>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4-2"/>
          <p:cNvSpPr txBox="1"/>
          <p:nvPr/>
        </p:nvSpPr>
        <p:spPr>
          <a:xfrm>
            <a:off x="7498080" y="2752344"/>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54.5</a:t>
            </a:r>
          </a:p>
        </p:txBody>
      </p:sp>
      <p:sp>
        <p:nvSpPr>
          <p:cNvPr id="50" name="Ladder out 5-1"/>
          <p:cNvSpPr/>
          <p:nvPr/>
        </p:nvSpPr>
        <p:spPr>
          <a:xfrm>
            <a:off x="5486400" y="3108960"/>
            <a:ext cx="189280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5-1"/>
          <p:cNvSpPr txBox="1"/>
          <p:nvPr/>
        </p:nvSpPr>
        <p:spPr>
          <a:xfrm>
            <a:off x="5577840" y="3108960"/>
            <a:ext cx="170992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sarima</a:t>
            </a:r>
          </a:p>
        </p:txBody>
      </p:sp>
      <p:sp>
        <p:nvSpPr>
          <p:cNvPr id="52" name="Ladder out 5-2"/>
          <p:cNvSpPr/>
          <p:nvPr/>
        </p:nvSpPr>
        <p:spPr>
          <a:xfrm>
            <a:off x="7406640" y="3108960"/>
            <a:ext cx="128016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5-2"/>
          <p:cNvSpPr txBox="1"/>
          <p:nvPr/>
        </p:nvSpPr>
        <p:spPr>
          <a:xfrm>
            <a:off x="7498080" y="3108960"/>
            <a:ext cx="106984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94.9</a:t>
            </a:r>
          </a:p>
        </p:txBody>
      </p:sp>
      <p:sp>
        <p:nvSpPr>
          <p:cNvPr id="54" name="Ladder reading box"/>
          <p:cNvSpPr/>
          <p:nvPr/>
        </p:nvSpPr>
        <p:spPr>
          <a:xfrm>
            <a:off x="457200" y="3648456"/>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5" name="Icon Ladder reading" descr=""/>
          <p:cNvPicPr>
            <a:picLocks noChangeAspect="1"/>
          </p:cNvPicPr>
          <p:nvPr/>
        </p:nvPicPr>
        <p:blipFill>
          <a:blip r:embed="rId3"/>
          <a:stretch>
            <a:fillRect/>
          </a:stretch>
        </p:blipFill>
        <p:spPr>
          <a:xfrm>
            <a:off x="658368" y="3694176"/>
            <a:ext cx="365760" cy="365760"/>
          </a:xfrm>
          <a:prstGeom prst="rect">
            <a:avLst/>
          </a:prstGeom>
        </p:spPr>
      </p:pic>
      <p:sp>
        <p:nvSpPr>
          <p:cNvPr id="56" name="Ladder reading text"/>
          <p:cNvSpPr txBox="1"/>
          <p:nvPr/>
        </p:nvSpPr>
        <p:spPr>
          <a:xfrm>
            <a:off x="1207008" y="3648456"/>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The regression wins: </a:t>
            </a:r>
            <a:r>
              <a:rPr sz="1200" b="0" lang="en-GB">
                <a:solidFill>
                  <a:schemeClr val="tx1"/>
                </a:solidFill>
              </a:rPr>
              <a:t>the same ranking as slide 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Step 10: forecast 2019</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Ladder step 1"/>
          <p:cNvSpPr/>
          <p:nvPr/>
        </p:nvSpPr>
        <p:spPr>
          <a:xfrm>
            <a:off x="45720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Ladder step 1 text"/>
          <p:cNvSpPr txBox="1"/>
          <p:nvPr/>
        </p:nvSpPr>
        <p:spPr>
          <a:xfrm>
            <a:off x="45720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1 Load</a:t>
            </a:r>
          </a:p>
        </p:txBody>
      </p:sp>
      <p:sp>
        <p:nvSpPr>
          <p:cNvPr id="12" name="Ladder step 2"/>
          <p:cNvSpPr/>
          <p:nvPr/>
        </p:nvSpPr>
        <p:spPr>
          <a:xfrm>
            <a:off x="128381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Ladder step 2 text"/>
          <p:cNvSpPr txBox="1"/>
          <p:nvPr/>
        </p:nvSpPr>
        <p:spPr>
          <a:xfrm>
            <a:off x="128381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2 Split</a:t>
            </a:r>
          </a:p>
        </p:txBody>
      </p:sp>
      <p:sp>
        <p:nvSpPr>
          <p:cNvPr id="14" name="Ladder step 3"/>
          <p:cNvSpPr/>
          <p:nvPr/>
        </p:nvSpPr>
        <p:spPr>
          <a:xfrm>
            <a:off x="2110435"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Ladder step 3 text"/>
          <p:cNvSpPr txBox="1"/>
          <p:nvPr/>
        </p:nvSpPr>
        <p:spPr>
          <a:xfrm>
            <a:off x="2110435"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3 Naive</a:t>
            </a:r>
          </a:p>
        </p:txBody>
      </p:sp>
      <p:sp>
        <p:nvSpPr>
          <p:cNvPr id="16" name="Ladder step 4"/>
          <p:cNvSpPr/>
          <p:nvPr/>
        </p:nvSpPr>
        <p:spPr>
          <a:xfrm>
            <a:off x="293705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Ladder step 4 text"/>
          <p:cNvSpPr txBox="1"/>
          <p:nvPr/>
        </p:nvSpPr>
        <p:spPr>
          <a:xfrm>
            <a:off x="293705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4 MAE</a:t>
            </a:r>
          </a:p>
        </p:txBody>
      </p:sp>
      <p:sp>
        <p:nvSpPr>
          <p:cNvPr id="18" name="Ladder step 5"/>
          <p:cNvSpPr/>
          <p:nvPr/>
        </p:nvSpPr>
        <p:spPr>
          <a:xfrm>
            <a:off x="3763670"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Ladder step 5 text"/>
          <p:cNvSpPr txBox="1"/>
          <p:nvPr/>
        </p:nvSpPr>
        <p:spPr>
          <a:xfrm>
            <a:off x="3763670"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5 Smooth</a:t>
            </a:r>
          </a:p>
        </p:txBody>
      </p:sp>
      <p:sp>
        <p:nvSpPr>
          <p:cNvPr id="20" name="Ladder step 6"/>
          <p:cNvSpPr/>
          <p:nvPr/>
        </p:nvSpPr>
        <p:spPr>
          <a:xfrm>
            <a:off x="4590288"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Ladder step 6 text"/>
          <p:cNvSpPr txBox="1"/>
          <p:nvPr/>
        </p:nvSpPr>
        <p:spPr>
          <a:xfrm>
            <a:off x="459028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6 Holt-W</a:t>
            </a:r>
          </a:p>
        </p:txBody>
      </p:sp>
      <p:sp>
        <p:nvSpPr>
          <p:cNvPr id="22" name="Ladder step 7"/>
          <p:cNvSpPr/>
          <p:nvPr/>
        </p:nvSpPr>
        <p:spPr>
          <a:xfrm>
            <a:off x="5416906"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Ladder step 7 text"/>
          <p:cNvSpPr txBox="1"/>
          <p:nvPr/>
        </p:nvSpPr>
        <p:spPr>
          <a:xfrm>
            <a:off x="5416906"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7 Regress</a:t>
            </a:r>
          </a:p>
        </p:txBody>
      </p:sp>
      <p:sp>
        <p:nvSpPr>
          <p:cNvPr id="24" name="Ladder step 8"/>
          <p:cNvSpPr/>
          <p:nvPr/>
        </p:nvSpPr>
        <p:spPr>
          <a:xfrm>
            <a:off x="6243523"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Ladder step 8 text"/>
          <p:cNvSpPr txBox="1"/>
          <p:nvPr/>
        </p:nvSpPr>
        <p:spPr>
          <a:xfrm>
            <a:off x="6243523"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8 SARIMA</a:t>
            </a:r>
          </a:p>
        </p:txBody>
      </p:sp>
      <p:sp>
        <p:nvSpPr>
          <p:cNvPr id="26" name="Ladder step 9"/>
          <p:cNvSpPr/>
          <p:nvPr/>
        </p:nvSpPr>
        <p:spPr>
          <a:xfrm>
            <a:off x="7070141" y="1234440"/>
            <a:ext cx="790042" cy="31089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Ladder step 9 text"/>
          <p:cNvSpPr txBox="1"/>
          <p:nvPr/>
        </p:nvSpPr>
        <p:spPr>
          <a:xfrm>
            <a:off x="7070141"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tx2"/>
                </a:solidFill>
              </a:rPr>
              <a:t>9 Compare</a:t>
            </a:r>
          </a:p>
        </p:txBody>
      </p:sp>
      <p:sp>
        <p:nvSpPr>
          <p:cNvPr id="28" name="Ladder step 10"/>
          <p:cNvSpPr/>
          <p:nvPr/>
        </p:nvSpPr>
        <p:spPr>
          <a:xfrm>
            <a:off x="7896758" y="1234440"/>
            <a:ext cx="790042" cy="310896"/>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Ladder step 10 text"/>
          <p:cNvSpPr txBox="1"/>
          <p:nvPr/>
        </p:nvSpPr>
        <p:spPr>
          <a:xfrm>
            <a:off x="7896758" y="1234440"/>
            <a:ext cx="790042" cy="310896"/>
          </a:xfrm>
          <a:prstGeom prst="rect">
            <a:avLst/>
          </a:prstGeom>
          <a:noFill/>
        </p:spPr>
        <p:txBody>
          <a:bodyPr wrap="square" lIns="0" rIns="0" tIns="0" bIns="0" anchor="ctr">
            <a:noAutofit/>
          </a:bodyPr>
          <a:lstStyle/>
          <a:p>
            <a:pPr algn="ctr">
              <a:spcAft>
                <a:spcPts val="400"/>
              </a:spcAft>
            </a:pPr>
            <a:r>
              <a:rPr sz="1000" b="1" lang="en-GB">
                <a:solidFill>
                  <a:schemeClr val="bg1"/>
                </a:solidFill>
              </a:rPr>
              <a:t>10 2019</a:t>
            </a:r>
          </a:p>
        </p:txBody>
      </p:sp>
      <p:sp>
        <p:nvSpPr>
          <p:cNvPr id="30" name="Ladder code caption bar"/>
          <p:cNvSpPr/>
          <p:nvPr/>
        </p:nvSpPr>
        <p:spPr>
          <a:xfrm>
            <a:off x="457200" y="1682496"/>
            <a:ext cx="489204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Ladder code caption"/>
          <p:cNvSpPr txBox="1"/>
          <p:nvPr/>
        </p:nvSpPr>
        <p:spPr>
          <a:xfrm>
            <a:off x="566928" y="1682496"/>
            <a:ext cx="467258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forecasting.qmd · Step 10</a:t>
            </a:r>
          </a:p>
        </p:txBody>
      </p:sp>
      <p:sp>
        <p:nvSpPr>
          <p:cNvPr id="32" name="Ladder code box"/>
          <p:cNvSpPr/>
          <p:nvPr/>
        </p:nvSpPr>
        <p:spPr>
          <a:xfrm>
            <a:off x="457200" y="1956816"/>
            <a:ext cx="4892040" cy="1912925"/>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Ladder code code"/>
          <p:cNvSpPr txBox="1"/>
          <p:nvPr/>
        </p:nvSpPr>
        <p:spPr>
          <a:xfrm>
            <a:off x="594360" y="2048256"/>
            <a:ext cx="4617720" cy="1730045"/>
          </a:xfrm>
          <a:prstGeom prst="rect">
            <a:avLst/>
          </a:prstGeom>
          <a:noFill/>
        </p:spPr>
        <p:txBody>
          <a:bodyPr wrap="square" lIns="0" rIns="0" tIns="0" bIns="0" anchor="t">
            <a:noAutofit/>
          </a:bodyPr>
          <a:lstStyle/>
          <a:p>
            <a:pPr algn="l">
              <a:spcAft>
                <a:spcPts val="0"/>
              </a:spcAft>
            </a:pPr>
            <a:r>
              <a:rPr sz="1000" b="0" lang="en-GB">
                <a:solidFill>
                  <a:schemeClr val="bg1"/>
                </a:solidFill>
                <a:latin typeface="Consolas"/>
              </a:rPr>
              <a:t># refit the winner on all 120 months</a:t>
            </a:r>
          </a:p>
          <a:p>
            <a:pPr algn="l">
              <a:spcAft>
                <a:spcPts val="0"/>
              </a:spcAft>
            </a:pPr>
            <a:r>
              <a:rPr sz="1000" b="0" lang="en-GB">
                <a:solidFill>
                  <a:schemeClr val="bg1"/>
                </a:solidFill>
                <a:latin typeface="Consolas"/>
              </a:rPr>
              <a:t>reg_all = smf.ols("np.log(value) ~ t + C(m)",</a:t>
            </a:r>
          </a:p>
          <a:p>
            <a:pPr algn="l">
              <a:spcAft>
                <a:spcPts val="0"/>
              </a:spcAft>
            </a:pPr>
            <a:r>
              <a:rPr sz="1000" b="0" lang="en-GB">
                <a:solidFill>
                  <a:schemeClr val="bg1"/>
                </a:solidFill>
                <a:latin typeface="Consolas"/>
              </a:rPr>
              <a:t>                  data=d).fit()</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2019: t = 121 to 132, m = 1 to 12</a:t>
            </a:r>
          </a:p>
          <a:p>
            <a:pPr algn="l">
              <a:spcAft>
                <a:spcPts val="0"/>
              </a:spcAft>
            </a:pPr>
            <a:r>
              <a:rPr sz="1000" b="0" lang="en-GB">
                <a:solidFill>
                  <a:schemeClr val="bg1"/>
                </a:solidFill>
                <a:latin typeface="Consolas"/>
              </a:rPr>
              <a:t>new = pl.DataFrame({"t": range(121, 133),</a:t>
            </a:r>
          </a:p>
          <a:p>
            <a:pPr algn="l">
              <a:spcAft>
                <a:spcPts val="0"/>
              </a:spcAft>
            </a:pPr>
            <a:r>
              <a:rPr sz="1000" b="0" lang="en-GB">
                <a:solidFill>
                  <a:schemeClr val="bg1"/>
                </a:solidFill>
                <a:latin typeface="Consolas"/>
              </a:rPr>
              <a:t>                    "m": range(1, 13)}).to_pandas()</a:t>
            </a:r>
          </a:p>
          <a:p>
            <a:pPr algn="l">
              <a:spcAft>
                <a:spcPts val="0"/>
              </a:spcAft>
            </a:pPr>
            <a:r>
              <a:rPr sz="1000" b="0" lang="en-GB">
                <a:solidFill>
                  <a:schemeClr val="bg1"/>
                </a:solidFill>
                <a:latin typeface="Consolas"/>
              </a:rPr>
              <a:t> </a:t>
            </a:r>
          </a:p>
          <a:p>
            <a:pPr algn="l">
              <a:spcAft>
                <a:spcPts val="0"/>
              </a:spcAft>
            </a:pPr>
            <a:r>
              <a:rPr sz="1000" b="0" lang="en-GB">
                <a:solidFill>
                  <a:schemeClr val="bg1"/>
                </a:solidFill>
                <a:latin typeface="Consolas"/>
              </a:rPr>
              <a:t># the forecast and its 95 % band, back from logs</a:t>
            </a:r>
          </a:p>
          <a:p>
            <a:pPr algn="l">
              <a:spcAft>
                <a:spcPts val="0"/>
              </a:spcAft>
            </a:pPr>
            <a:r>
              <a:rPr sz="1000" b="0" lang="en-GB">
                <a:solidFill>
                  <a:schemeClr val="bg1"/>
                </a:solidFill>
                <a:latin typeface="Consolas"/>
              </a:rPr>
              <a:t>band = reg_all.get_prediction(new).summary_frame()</a:t>
            </a:r>
          </a:p>
          <a:p>
            <a:pPr algn="l">
              <a:spcAft>
                <a:spcPts val="0"/>
              </a:spcAft>
            </a:pPr>
            <a:r>
              <a:rPr sz="1000" b="0" lang="en-GB">
                <a:solidFill>
                  <a:schemeClr val="bg1"/>
                </a:solidFill>
                <a:latin typeface="Consolas"/>
              </a:rPr>
              <a:t>np.exp(band[["mean", "obs_ci_lower", "obs_ci_upper"]])</a:t>
            </a:r>
          </a:p>
        </p:txBody>
      </p:sp>
      <p:sp>
        <p:nvSpPr>
          <p:cNvPr id="34" name="Ladder out 1-1"/>
          <p:cNvSpPr/>
          <p:nvPr/>
        </p:nvSpPr>
        <p:spPr>
          <a:xfrm>
            <a:off x="5486400" y="1682496"/>
            <a:ext cx="7726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Ladder out text 1-1"/>
          <p:cNvSpPr txBox="1"/>
          <p:nvPr/>
        </p:nvSpPr>
        <p:spPr>
          <a:xfrm>
            <a:off x="5577840" y="1682496"/>
            <a:ext cx="589788" cy="329184"/>
          </a:xfrm>
          <a:prstGeom prst="rect">
            <a:avLst/>
          </a:prstGeom>
          <a:noFill/>
        </p:spPr>
        <p:txBody>
          <a:bodyPr wrap="square" lIns="0" rIns="0" tIns="0" bIns="0" anchor="ctr">
            <a:noAutofit/>
          </a:bodyPr>
          <a:lstStyle/>
          <a:p>
            <a:pPr algn="l">
              <a:spcAft>
                <a:spcPts val="400"/>
              </a:spcAft>
            </a:pPr>
            <a:r>
              <a:rPr sz="1150" b="1" lang="en-GB">
                <a:solidFill>
                  <a:schemeClr val="bg1"/>
                </a:solidFill>
              </a:rPr>
              <a:t>2019</a:t>
            </a:r>
          </a:p>
        </p:txBody>
      </p:sp>
      <p:sp>
        <p:nvSpPr>
          <p:cNvPr id="36" name="Ladder out 1-2"/>
          <p:cNvSpPr/>
          <p:nvPr/>
        </p:nvSpPr>
        <p:spPr>
          <a:xfrm>
            <a:off x="6286500" y="1682496"/>
            <a:ext cx="7726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Ladder out text 1-2"/>
          <p:cNvSpPr txBox="1"/>
          <p:nvPr/>
        </p:nvSpPr>
        <p:spPr>
          <a:xfrm>
            <a:off x="6377940" y="1682496"/>
            <a:ext cx="58978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mean</a:t>
            </a:r>
          </a:p>
        </p:txBody>
      </p:sp>
      <p:sp>
        <p:nvSpPr>
          <p:cNvPr id="38" name="Ladder out 1-3"/>
          <p:cNvSpPr/>
          <p:nvPr/>
        </p:nvSpPr>
        <p:spPr>
          <a:xfrm>
            <a:off x="7086600" y="1682496"/>
            <a:ext cx="772668"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Ladder out text 1-3"/>
          <p:cNvSpPr txBox="1"/>
          <p:nvPr/>
        </p:nvSpPr>
        <p:spPr>
          <a:xfrm>
            <a:off x="7178040" y="1682496"/>
            <a:ext cx="58978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low</a:t>
            </a:r>
          </a:p>
        </p:txBody>
      </p:sp>
      <p:sp>
        <p:nvSpPr>
          <p:cNvPr id="40" name="Ladder out 1-4"/>
          <p:cNvSpPr/>
          <p:nvPr/>
        </p:nvSpPr>
        <p:spPr>
          <a:xfrm>
            <a:off x="7886700" y="1682496"/>
            <a:ext cx="800100" cy="329184"/>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Ladder out text 1-4"/>
          <p:cNvSpPr txBox="1"/>
          <p:nvPr/>
        </p:nvSpPr>
        <p:spPr>
          <a:xfrm>
            <a:off x="7978140" y="1682496"/>
            <a:ext cx="589788" cy="329184"/>
          </a:xfrm>
          <a:prstGeom prst="rect">
            <a:avLst/>
          </a:prstGeom>
          <a:noFill/>
        </p:spPr>
        <p:txBody>
          <a:bodyPr wrap="square" lIns="0" rIns="0" tIns="0" bIns="0" anchor="ctr">
            <a:noAutofit/>
          </a:bodyPr>
          <a:lstStyle/>
          <a:p>
            <a:pPr algn="r">
              <a:spcAft>
                <a:spcPts val="400"/>
              </a:spcAft>
            </a:pPr>
            <a:r>
              <a:rPr sz="1150" b="1" lang="en-GB">
                <a:solidFill>
                  <a:schemeClr val="bg1"/>
                </a:solidFill>
              </a:rPr>
              <a:t>high</a:t>
            </a:r>
          </a:p>
        </p:txBody>
      </p:sp>
      <p:sp>
        <p:nvSpPr>
          <p:cNvPr id="42" name="Ladder out 2-1"/>
          <p:cNvSpPr/>
          <p:nvPr/>
        </p:nvSpPr>
        <p:spPr>
          <a:xfrm>
            <a:off x="5486400" y="2039112"/>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Ladder out text 2-1"/>
          <p:cNvSpPr txBox="1"/>
          <p:nvPr/>
        </p:nvSpPr>
        <p:spPr>
          <a:xfrm>
            <a:off x="5577840" y="2039112"/>
            <a:ext cx="5897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Jan</a:t>
            </a:r>
          </a:p>
        </p:txBody>
      </p:sp>
      <p:sp>
        <p:nvSpPr>
          <p:cNvPr id="44" name="Ladder out 2-2"/>
          <p:cNvSpPr/>
          <p:nvPr/>
        </p:nvSpPr>
        <p:spPr>
          <a:xfrm>
            <a:off x="6286500" y="2039112"/>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Ladder out text 2-2"/>
          <p:cNvSpPr txBox="1"/>
          <p:nvPr/>
        </p:nvSpPr>
        <p:spPr>
          <a:xfrm>
            <a:off x="6377940" y="2039112"/>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2,020.4</a:t>
            </a:r>
          </a:p>
        </p:txBody>
      </p:sp>
      <p:sp>
        <p:nvSpPr>
          <p:cNvPr id="46" name="Ladder out 2-3"/>
          <p:cNvSpPr/>
          <p:nvPr/>
        </p:nvSpPr>
        <p:spPr>
          <a:xfrm>
            <a:off x="7086600" y="2039112"/>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Ladder out text 2-3"/>
          <p:cNvSpPr txBox="1"/>
          <p:nvPr/>
        </p:nvSpPr>
        <p:spPr>
          <a:xfrm>
            <a:off x="7178040" y="2039112"/>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1,871.9</a:t>
            </a:r>
          </a:p>
        </p:txBody>
      </p:sp>
      <p:sp>
        <p:nvSpPr>
          <p:cNvPr id="48" name="Ladder out 2-4"/>
          <p:cNvSpPr/>
          <p:nvPr/>
        </p:nvSpPr>
        <p:spPr>
          <a:xfrm>
            <a:off x="7886700" y="2039112"/>
            <a:ext cx="80010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Ladder out text 2-4"/>
          <p:cNvSpPr txBox="1"/>
          <p:nvPr/>
        </p:nvSpPr>
        <p:spPr>
          <a:xfrm>
            <a:off x="7978140" y="2039112"/>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2,180.6</a:t>
            </a:r>
          </a:p>
        </p:txBody>
      </p:sp>
      <p:sp>
        <p:nvSpPr>
          <p:cNvPr id="50" name="Ladder out 3-1"/>
          <p:cNvSpPr/>
          <p:nvPr/>
        </p:nvSpPr>
        <p:spPr>
          <a:xfrm>
            <a:off x="5486400" y="2395728"/>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Ladder out text 3-1"/>
          <p:cNvSpPr txBox="1"/>
          <p:nvPr/>
        </p:nvSpPr>
        <p:spPr>
          <a:xfrm>
            <a:off x="5577840" y="2395728"/>
            <a:ext cx="589788" cy="329184"/>
          </a:xfrm>
          <a:prstGeom prst="rect">
            <a:avLst/>
          </a:prstGeom>
          <a:noFill/>
        </p:spPr>
        <p:txBody>
          <a:bodyPr wrap="square" lIns="0" rIns="0" tIns="0" bIns="0" anchor="ctr">
            <a:noAutofit/>
          </a:bodyPr>
          <a:lstStyle/>
          <a:p>
            <a:pPr algn="l">
              <a:spcAft>
                <a:spcPts val="400"/>
              </a:spcAft>
            </a:pPr>
            <a:r>
              <a:rPr sz="1150" b="1" lang="en-GB">
                <a:solidFill>
                  <a:schemeClr val="tx2"/>
                </a:solidFill>
              </a:rPr>
              <a:t>Dec</a:t>
            </a:r>
          </a:p>
        </p:txBody>
      </p:sp>
      <p:sp>
        <p:nvSpPr>
          <p:cNvPr id="52" name="Ladder out 3-2"/>
          <p:cNvSpPr/>
          <p:nvPr/>
        </p:nvSpPr>
        <p:spPr>
          <a:xfrm>
            <a:off x="6286500" y="2395728"/>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3" name="Ladder out text 3-2"/>
          <p:cNvSpPr txBox="1"/>
          <p:nvPr/>
        </p:nvSpPr>
        <p:spPr>
          <a:xfrm>
            <a:off x="6377940" y="2395728"/>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3,430.2</a:t>
            </a:r>
          </a:p>
        </p:txBody>
      </p:sp>
      <p:sp>
        <p:nvSpPr>
          <p:cNvPr id="54" name="Ladder out 3-3"/>
          <p:cNvSpPr/>
          <p:nvPr/>
        </p:nvSpPr>
        <p:spPr>
          <a:xfrm>
            <a:off x="7086600" y="2395728"/>
            <a:ext cx="772668"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Ladder out text 3-3"/>
          <p:cNvSpPr txBox="1"/>
          <p:nvPr/>
        </p:nvSpPr>
        <p:spPr>
          <a:xfrm>
            <a:off x="7178040" y="2395728"/>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3,178.2</a:t>
            </a:r>
          </a:p>
        </p:txBody>
      </p:sp>
      <p:sp>
        <p:nvSpPr>
          <p:cNvPr id="56" name="Ladder out 3-4"/>
          <p:cNvSpPr/>
          <p:nvPr/>
        </p:nvSpPr>
        <p:spPr>
          <a:xfrm>
            <a:off x="7886700" y="2395728"/>
            <a:ext cx="800100" cy="32918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7" name="Ladder out text 3-4"/>
          <p:cNvSpPr txBox="1"/>
          <p:nvPr/>
        </p:nvSpPr>
        <p:spPr>
          <a:xfrm>
            <a:off x="7978140" y="2395728"/>
            <a:ext cx="589788" cy="329184"/>
          </a:xfrm>
          <a:prstGeom prst="rect">
            <a:avLst/>
          </a:prstGeom>
          <a:noFill/>
        </p:spPr>
        <p:txBody>
          <a:bodyPr wrap="square" lIns="0" rIns="0" tIns="0" bIns="0" anchor="ctr">
            <a:noAutofit/>
          </a:bodyPr>
          <a:lstStyle/>
          <a:p>
            <a:pPr algn="r">
              <a:spcAft>
                <a:spcPts val="400"/>
              </a:spcAft>
            </a:pPr>
            <a:r>
              <a:rPr sz="1150" b="0" lang="en-GB">
                <a:solidFill>
                  <a:schemeClr val="tx1"/>
                </a:solidFill>
              </a:rPr>
              <a:t>3,702.2</a:t>
            </a:r>
          </a:p>
        </p:txBody>
      </p:sp>
      <p:sp>
        <p:nvSpPr>
          <p:cNvPr id="58" name="Ladder reading box"/>
          <p:cNvSpPr/>
          <p:nvPr/>
        </p:nvSpPr>
        <p:spPr>
          <a:xfrm>
            <a:off x="457200" y="4052621"/>
            <a:ext cx="8229600" cy="4572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59" name="Icon Ladder reading" descr=""/>
          <p:cNvPicPr>
            <a:picLocks noChangeAspect="1"/>
          </p:cNvPicPr>
          <p:nvPr/>
        </p:nvPicPr>
        <p:blipFill>
          <a:blip r:embed="rId3"/>
          <a:stretch>
            <a:fillRect/>
          </a:stretch>
        </p:blipFill>
        <p:spPr>
          <a:xfrm>
            <a:off x="658368" y="4098341"/>
            <a:ext cx="365760" cy="365760"/>
          </a:xfrm>
          <a:prstGeom prst="rect">
            <a:avLst/>
          </a:prstGeom>
        </p:spPr>
      </p:pic>
      <p:sp>
        <p:nvSpPr>
          <p:cNvPr id="60" name="Ladder reading text"/>
          <p:cNvSpPr txBox="1"/>
          <p:nvPr/>
        </p:nvSpPr>
        <p:spPr>
          <a:xfrm>
            <a:off x="1207008" y="4052621"/>
            <a:ext cx="7315200" cy="457200"/>
          </a:xfrm>
          <a:prstGeom prst="rect">
            <a:avLst/>
          </a:prstGeom>
          <a:noFill/>
        </p:spPr>
        <p:txBody>
          <a:bodyPr wrap="square" lIns="0" rIns="0" tIns="0" bIns="0" anchor="ctr">
            <a:noAutofit/>
          </a:bodyPr>
          <a:lstStyle/>
          <a:p>
            <a:pPr algn="l">
              <a:spcAft>
                <a:spcPts val="400"/>
              </a:spcAft>
            </a:pPr>
            <a:r>
              <a:rPr sz="1200" b="1" lang="en-GB">
                <a:solidFill>
                  <a:schemeClr val="tx2"/>
                </a:solidFill>
              </a:rPr>
              <a:t>Plan December with 3,430 AUD m: </a:t>
            </a:r>
            <a:r>
              <a:rPr sz="1200" b="0" lang="en-GB">
                <a:solidFill>
                  <a:schemeClr val="tx1"/>
                </a:solidFill>
              </a:rPr>
              <a:t>the 95 % band runs from 3,178 to 3,702.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rPr lang="en-GB"/>
              <a:t>Part 6 of 6 · quiz, exercise, Posit Assistant</a:t>
            </a:r>
          </a:p>
        </p:txBody>
      </p:sp>
      <p:sp>
        <p:nvSpPr>
          <p:cNvPr id="3" name="Title 2"/>
          <p:cNvSpPr>
            <a:spLocks noGrp="1"/>
          </p:cNvSpPr>
          <p:nvPr>
            <p:ph type="ctrTitle"/>
          </p:nvPr>
        </p:nvSpPr>
        <p:spPr/>
        <p:txBody>
          <a:bodyPr/>
          <a:lstStyle/>
          <a:p>
            <a:r>
              <a:rPr lang="en-GB"/>
              <a:t>In-class exercise</a:t>
            </a:r>
          </a:p>
        </p:txBody>
      </p:sp>
      <p:sp>
        <p:nvSpPr>
          <p:cNvPr id="3" name="Fußzeilenplatzhalter 2"/>
          <p:cNvSpPr>
            <a:spLocks noGrp="1"/>
          </p:cNvSpPr>
          <p:nvPr>
            <p:ph type="ftr" sz="quarter" idx="14"/>
          </p:nvPr>
        </p:nvSpPr>
        <p:spPr/>
        <p:txBody>
          <a:bodyPr/>
          <a:lstStyle/>
          <a:p>
            <a:r>
              <a:rPr lang="en-GB"/>
              <a:t>International Marketing Analytics · WT 2026/27</a:t>
            </a:r>
          </a:p>
        </p:txBody>
      </p:sp>
      <p:sp>
        <p:nvSpPr>
          <p:cNvPr id="6" name="Foliennummernplatzhalter 5"/>
          <p:cNvSpPr>
            <a:spLocks noGrp="1"/>
          </p:cNvSpPr>
          <p:nvPr>
            <p:ph type="sldNum" sz="quarter" idx="15"/>
          </p:nvPr>
        </p:nvSpPr>
        <p:spPr/>
        <p:txBody>
          <a:bodyPr/>
          <a:lstStyle/>
          <a:p>
            <a:r>
              <a:rPr lang="en-GB" dirty="0"/>
              <a:t>Page </a:t>
            </a:r>
            <a:fld id="{BE3DC40E-DBBE-4E2D-9EEC-FBF0DA0E9179}" type="slidenum">
              <a:rPr lang="en-GB" smtClean="0"/>
              <a:pPr/>
              <a:t>‹Nr.›</a:t>
            </a:fld>
            <a:endParaRPr lang="en-GB" dirty="0"/>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Online quiz: forecasting in five questions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Quiz row 1"/>
          <p:cNvSpPr/>
          <p:nvPr/>
        </p:nvSpPr>
        <p:spPr>
          <a:xfrm>
            <a:off x="457200" y="1234440"/>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Quiz bar 1"/>
          <p:cNvSpPr/>
          <p:nvPr/>
        </p:nvSpPr>
        <p:spPr>
          <a:xfrm>
            <a:off x="457200" y="1234440"/>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Quiz text 1"/>
          <p:cNvSpPr txBox="1"/>
          <p:nvPr/>
        </p:nvSpPr>
        <p:spPr>
          <a:xfrm>
            <a:off x="658368" y="1234440"/>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1  Sales: 50, 54, 58. The drift (same change) forecast for the next period is …</a:t>
            </a:r>
          </a:p>
          <a:p>
            <a:pPr algn="l">
              <a:spcAft>
                <a:spcPts val="100"/>
              </a:spcAft>
            </a:pPr>
            <a:r>
              <a:rPr sz="1200" b="0" lang="en-GB">
                <a:solidFill>
                  <a:schemeClr val="tx1"/>
                </a:solidFill>
              </a:rPr>
              <a:t>A  58     B  62     C  54</a:t>
            </a:r>
          </a:p>
        </p:txBody>
      </p:sp>
      <p:sp>
        <p:nvSpPr>
          <p:cNvPr id="13" name="Quiz row 2"/>
          <p:cNvSpPr/>
          <p:nvPr/>
        </p:nvSpPr>
        <p:spPr>
          <a:xfrm>
            <a:off x="457200" y="1892808"/>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Quiz bar 2"/>
          <p:cNvSpPr/>
          <p:nvPr/>
        </p:nvSpPr>
        <p:spPr>
          <a:xfrm>
            <a:off x="457200" y="1892808"/>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Quiz text 2"/>
          <p:cNvSpPr txBox="1"/>
          <p:nvPr/>
        </p:nvSpPr>
        <p:spPr>
          <a:xfrm>
            <a:off x="658368" y="1892808"/>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2  Exponential smoothing with α 0.5: level 40, new value 50. The new level is …</a:t>
            </a:r>
          </a:p>
          <a:p>
            <a:pPr algn="l">
              <a:spcAft>
                <a:spcPts val="100"/>
              </a:spcAft>
            </a:pPr>
            <a:r>
              <a:rPr sz="1200" b="0" lang="en-GB">
                <a:solidFill>
                  <a:schemeClr val="tx1"/>
                </a:solidFill>
              </a:rPr>
              <a:t>A  45     B  50     C  42</a:t>
            </a:r>
          </a:p>
        </p:txBody>
      </p:sp>
      <p:sp>
        <p:nvSpPr>
          <p:cNvPr id="16" name="Quiz row 3"/>
          <p:cNvSpPr/>
          <p:nvPr/>
        </p:nvSpPr>
        <p:spPr>
          <a:xfrm>
            <a:off x="457200" y="2551176"/>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Quiz bar 3"/>
          <p:cNvSpPr/>
          <p:nvPr/>
        </p:nvSpPr>
        <p:spPr>
          <a:xfrm>
            <a:off x="457200" y="2551176"/>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Quiz text 3"/>
          <p:cNvSpPr txBox="1"/>
          <p:nvPr/>
        </p:nvSpPr>
        <p:spPr>
          <a:xfrm>
            <a:off x="658368" y="2551176"/>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3  Holdout errors: −2, +2, +4. The MAE is …</a:t>
            </a:r>
          </a:p>
          <a:p>
            <a:pPr algn="l">
              <a:spcAft>
                <a:spcPts val="100"/>
              </a:spcAft>
            </a:pPr>
            <a:r>
              <a:rPr sz="1200" b="0" lang="en-GB">
                <a:solidFill>
                  <a:schemeClr val="tx1"/>
                </a:solidFill>
              </a:rPr>
              <a:t>A  1.33     B  4.00     C  2.67</a:t>
            </a:r>
          </a:p>
        </p:txBody>
      </p:sp>
      <p:sp>
        <p:nvSpPr>
          <p:cNvPr id="19" name="Quiz row 4"/>
          <p:cNvSpPr/>
          <p:nvPr/>
        </p:nvSpPr>
        <p:spPr>
          <a:xfrm>
            <a:off x="457200" y="3209544"/>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Quiz bar 4"/>
          <p:cNvSpPr/>
          <p:nvPr/>
        </p:nvSpPr>
        <p:spPr>
          <a:xfrm>
            <a:off x="457200" y="3209544"/>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Quiz text 4"/>
          <p:cNvSpPr txBox="1"/>
          <p:nvPr/>
        </p:nvSpPr>
        <p:spPr>
          <a:xfrm>
            <a:off x="658368" y="3209544"/>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4  Monthly sales with a December peak. The benchmark to beat is …</a:t>
            </a:r>
          </a:p>
          <a:p>
            <a:pPr algn="l">
              <a:spcAft>
                <a:spcPts val="100"/>
              </a:spcAft>
            </a:pPr>
            <a:r>
              <a:rPr sz="1200" b="0" lang="en-GB">
                <a:solidFill>
                  <a:schemeClr val="tx1"/>
                </a:solidFill>
              </a:rPr>
              <a:t>A  naive (last month)     B  seasonal naive (same month last year)     C  the mean</a:t>
            </a:r>
          </a:p>
        </p:txBody>
      </p:sp>
      <p:sp>
        <p:nvSpPr>
          <p:cNvPr id="22" name="Quiz row 5"/>
          <p:cNvSpPr/>
          <p:nvPr/>
        </p:nvSpPr>
        <p:spPr>
          <a:xfrm>
            <a:off x="457200" y="3867912"/>
            <a:ext cx="8229600" cy="585216"/>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Quiz bar 5"/>
          <p:cNvSpPr/>
          <p:nvPr/>
        </p:nvSpPr>
        <p:spPr>
          <a:xfrm>
            <a:off x="457200" y="3867912"/>
            <a:ext cx="64008" cy="5852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Quiz text 5"/>
          <p:cNvSpPr txBox="1"/>
          <p:nvPr/>
        </p:nvSpPr>
        <p:spPr>
          <a:xfrm>
            <a:off x="658368" y="3867912"/>
            <a:ext cx="7955280" cy="585216"/>
          </a:xfrm>
          <a:prstGeom prst="rect">
            <a:avLst/>
          </a:prstGeom>
          <a:noFill/>
        </p:spPr>
        <p:txBody>
          <a:bodyPr wrap="square" lIns="0" rIns="0" tIns="0" bIns="0" anchor="ctr">
            <a:noAutofit/>
          </a:bodyPr>
          <a:lstStyle/>
          <a:p>
            <a:pPr algn="l">
              <a:spcAft>
                <a:spcPts val="100"/>
              </a:spcAft>
            </a:pPr>
            <a:r>
              <a:rPr sz="1200" b="1" lang="en-GB">
                <a:solidFill>
                  <a:schemeClr val="tx2"/>
                </a:solidFill>
              </a:rPr>
              <a:t>5  ADF test on sales levels: p 0.99. The series is …</a:t>
            </a:r>
          </a:p>
          <a:p>
            <a:pPr algn="l">
              <a:spcAft>
                <a:spcPts val="100"/>
              </a:spcAft>
            </a:pPr>
            <a:r>
              <a:rPr sz="1200" b="0" lang="en-GB">
                <a:solidFill>
                  <a:schemeClr val="tx1"/>
                </a:solidFill>
              </a:rPr>
              <a:t>A  stationary     B  white noise     C  not stationary: difference it</a:t>
            </a:r>
          </a:p>
        </p:txBody>
      </p:sp>
      <p:sp>
        <p:nvSpPr>
          <p:cNvPr id="25" name="Quiz callout box"/>
          <p:cNvSpPr/>
          <p:nvPr/>
        </p:nvSpPr>
        <p:spPr>
          <a:xfrm>
            <a:off x="457200" y="4590288"/>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Quiz callout text"/>
          <p:cNvSpPr txBox="1"/>
          <p:nvPr/>
        </p:nvSpPr>
        <p:spPr>
          <a:xfrm>
            <a:off x="658368" y="4590288"/>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3 minutes alone, </a:t>
            </a:r>
            <a:r>
              <a:rPr sz="1250" b="0" lang="en-GB">
                <a:solidFill>
                  <a:schemeClr val="bg1"/>
                </a:solidFill>
              </a:rPr>
              <a:t>then compare with your neighbour.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Answers: in class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Your turn: forecast café sales in Python</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urn steps step 1"/>
          <p:cNvSpPr/>
          <p:nvPr/>
        </p:nvSpPr>
        <p:spPr>
          <a:xfrm>
            <a:off x="457200" y="1234440"/>
            <a:ext cx="2816352" cy="457200"/>
          </a:xfrm>
          <a:prstGeom prst="homePlate">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128016" tIns="18288" bIns="18288"/>
          <a:lstStyle/>
          <a:p>
            <a:pPr algn="ctr"/>
            <a:r>
              <a:rPr sz="1200" b="1" lang="en-GB">
                <a:solidFill>
                  <a:schemeClr val="tx2"/>
                </a:solidFill>
              </a:rPr>
              <a:t>Pairs:</a:t>
            </a:r>
            <a:br/>
            <a:r>
              <a:rPr sz="1200" b="1" lang="en-GB">
                <a:solidFill>
                  <a:schemeClr val="tx2"/>
                </a:solidFill>
              </a:rPr>
              <a:t>35 minutes</a:t>
            </a:r>
          </a:p>
        </p:txBody>
      </p:sp>
      <p:sp>
        <p:nvSpPr>
          <p:cNvPr id="11" name="Turn steps step 2"/>
          <p:cNvSpPr/>
          <p:nvPr/>
        </p:nvSpPr>
        <p:spPr>
          <a:xfrm>
            <a:off x="3163824"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Plenary:</a:t>
            </a:r>
            <a:br/>
            <a:r>
              <a:rPr sz="1200" b="1" lang="en-GB">
                <a:solidFill>
                  <a:schemeClr val="tx2"/>
                </a:solidFill>
              </a:rPr>
              <a:t>5 minutes</a:t>
            </a:r>
          </a:p>
        </p:txBody>
      </p:sp>
      <p:sp>
        <p:nvSpPr>
          <p:cNvPr id="12" name="Turn steps step 3"/>
          <p:cNvSpPr/>
          <p:nvPr/>
        </p:nvSpPr>
        <p:spPr>
          <a:xfrm>
            <a:off x="5870448" y="1234440"/>
            <a:ext cx="2816352" cy="457200"/>
          </a:xfrm>
          <a:prstGeom prst="chevron">
            <a:avLst>
              <a:gd name="adj" fmla="val 28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37744" rIns="128016" tIns="18288" bIns="18288"/>
          <a:lstStyle/>
          <a:p>
            <a:pPr algn="ctr"/>
            <a:r>
              <a:rPr sz="1200" b="1" lang="en-GB">
                <a:solidFill>
                  <a:schemeClr val="tx2"/>
                </a:solidFill>
              </a:rPr>
              <a:t>Posit Assistant:</a:t>
            </a:r>
            <a:br/>
            <a:r>
              <a:rPr sz="1200" b="1" lang="en-GB">
                <a:solidFill>
                  <a:schemeClr val="tx2"/>
                </a:solidFill>
              </a:rPr>
              <a:t>10 minutes</a:t>
            </a:r>
          </a:p>
        </p:txBody>
      </p:sp>
      <p:sp>
        <p:nvSpPr>
          <p:cNvPr id="13" name="Turn task row 1"/>
          <p:cNvSpPr/>
          <p:nvPr/>
        </p:nvSpPr>
        <p:spPr>
          <a:xfrm>
            <a:off x="457200" y="182880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urn task number 1"/>
          <p:cNvSpPr/>
          <p:nvPr/>
        </p:nvSpPr>
        <p:spPr>
          <a:xfrm>
            <a:off x="594360" y="191109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5" name="Turn task text 1"/>
          <p:cNvSpPr txBox="1"/>
          <p:nvPr/>
        </p:nvSpPr>
        <p:spPr>
          <a:xfrm>
            <a:off x="1051560" y="182880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By hand: </a:t>
            </a:r>
            <a:r>
              <a:rPr sz="1200" b="0" lang="en-GB">
                <a:solidFill>
                  <a:schemeClr val="tx1"/>
                </a:solidFill>
              </a:rPr>
              <a:t>café bookings: five forecasts for week 7, MAE on weeks 5–6 (Steps 3, 4; Extra A)</a:t>
            </a:r>
          </a:p>
        </p:txBody>
      </p:sp>
      <p:sp>
        <p:nvSpPr>
          <p:cNvPr id="16" name="Turn task row 2"/>
          <p:cNvSpPr/>
          <p:nvPr/>
        </p:nvSpPr>
        <p:spPr>
          <a:xfrm>
            <a:off x="457200" y="237744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urn task number 2"/>
          <p:cNvSpPr/>
          <p:nvPr/>
        </p:nvSpPr>
        <p:spPr>
          <a:xfrm>
            <a:off x="594360" y="245973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8" name="Turn task text 2"/>
          <p:cNvSpPr txBox="1"/>
          <p:nvPr/>
        </p:nvSpPr>
        <p:spPr>
          <a:xfrm>
            <a:off x="1051560" y="237744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Look: </a:t>
            </a:r>
            <a:r>
              <a:rPr sz="1200" b="0" lang="en-GB">
                <a:solidFill>
                  <a:schemeClr val="tx1"/>
                </a:solidFill>
              </a:rPr>
              <a:t>plot 2009–2018; trend, season, ADF (Step 1; Extra C)</a:t>
            </a:r>
          </a:p>
        </p:txBody>
      </p:sp>
      <p:sp>
        <p:nvSpPr>
          <p:cNvPr id="19" name="Turn task row 3"/>
          <p:cNvSpPr/>
          <p:nvPr/>
        </p:nvSpPr>
        <p:spPr>
          <a:xfrm>
            <a:off x="457200" y="292608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urn task number 3"/>
          <p:cNvSpPr/>
          <p:nvPr/>
        </p:nvSpPr>
        <p:spPr>
          <a:xfrm>
            <a:off x="594360" y="300837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21" name="Turn task text 3"/>
          <p:cNvSpPr txBox="1"/>
          <p:nvPr/>
        </p:nvSpPr>
        <p:spPr>
          <a:xfrm>
            <a:off x="1051560" y="292608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Test: </a:t>
            </a:r>
            <a:r>
              <a:rPr sz="1200" b="0" lang="en-GB">
                <a:solidFill>
                  <a:schemeClr val="tx1"/>
                </a:solidFill>
              </a:rPr>
              <a:t>five methods on the 2017–2018 holdout: MAE, RMSE, MAPE (Steps 3, 6–9)</a:t>
            </a:r>
          </a:p>
        </p:txBody>
      </p:sp>
      <p:sp>
        <p:nvSpPr>
          <p:cNvPr id="22" name="Turn task row 4"/>
          <p:cNvSpPr/>
          <p:nvPr/>
        </p:nvSpPr>
        <p:spPr>
          <a:xfrm>
            <a:off x="457200" y="3474720"/>
            <a:ext cx="8229600" cy="47548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urn task number 4"/>
          <p:cNvSpPr/>
          <p:nvPr/>
        </p:nvSpPr>
        <p:spPr>
          <a:xfrm>
            <a:off x="594360" y="355701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4" name="Turn task text 4"/>
          <p:cNvSpPr txBox="1"/>
          <p:nvPr/>
        </p:nvSpPr>
        <p:spPr>
          <a:xfrm>
            <a:off x="1051560" y="3474720"/>
            <a:ext cx="7498080" cy="475488"/>
          </a:xfrm>
          <a:prstGeom prst="rect">
            <a:avLst/>
          </a:prstGeom>
          <a:noFill/>
        </p:spPr>
        <p:txBody>
          <a:bodyPr wrap="square" lIns="0" rIns="0" tIns="0" bIns="0" anchor="ctr">
            <a:noAutofit/>
          </a:bodyPr>
          <a:lstStyle/>
          <a:p>
            <a:pPr algn="l">
              <a:spcAft>
                <a:spcPts val="400"/>
              </a:spcAft>
            </a:pPr>
            <a:r>
              <a:rPr sz="1200" b="1" lang="en-GB">
                <a:solidFill>
                  <a:schemeClr val="tx2"/>
                </a:solidFill>
              </a:rPr>
              <a:t>Forecast: </a:t>
            </a:r>
            <a:r>
              <a:rPr sz="1200" b="0" lang="en-GB">
                <a:solidFill>
                  <a:schemeClr val="tx1"/>
                </a:solidFill>
              </a:rPr>
              <a:t>2019 with the winner and SARIMA, 95 % bands; check Jan–Apr (Step 10; Extra D)</a:t>
            </a:r>
          </a:p>
        </p:txBody>
      </p:sp>
      <p:sp>
        <p:nvSpPr>
          <p:cNvPr id="25" name="Turn deliverable box"/>
          <p:cNvSpPr/>
          <p:nvPr/>
        </p:nvSpPr>
        <p:spPr>
          <a:xfrm>
            <a:off x="457200" y="40233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urn deliverable text"/>
          <p:cNvSpPr txBox="1"/>
          <p:nvPr/>
        </p:nvSpPr>
        <p:spPr>
          <a:xfrm>
            <a:off x="658368" y="402336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Deliverable: </a:t>
            </a:r>
            <a:r>
              <a:rPr sz="1200" b="0" lang="en-GB">
                <a:solidFill>
                  <a:schemeClr val="bg1"/>
                </a:solidFill>
              </a:rPr>
              <a:t>one slide per pair: the 2019 forecast and two sentences.</a:t>
            </a:r>
          </a:p>
        </p:txBody>
      </p:sp>
      <p:sp>
        <p:nvSpPr>
          <p:cNvPr id="27" name="Turn file"/>
          <p:cNvSpPr txBox="1"/>
          <p:nvPr/>
        </p:nvSpPr>
        <p:spPr>
          <a:xfrm>
            <a:off x="457200" y="457200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File: </a:t>
            </a:r>
            <a:r>
              <a:rPr sz="1200" b="0" lang="en-GB">
                <a:solidFill>
                  <a:schemeClr val="tx2"/>
                </a:solidFill>
                <a:latin typeface="Consolas"/>
              </a:rPr>
              <a:t>sessions/01-foundations/forecasting_exercise.qmd</a:t>
            </a:r>
            <a:r>
              <a:rPr sz="1200" b="0" lang="en-GB">
                <a:solidFill>
                  <a:schemeClr val="tx1"/>
                </a:solidFill>
              </a:rPr>
              <a:t>  (reuse: forecasting.qmd)</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Then: the same tasks with Posit Assistant</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Posit how 1 row"/>
          <p:cNvSpPr/>
          <p:nvPr/>
        </p:nvSpPr>
        <p:spPr>
          <a:xfrm>
            <a:off x="457200" y="1234440"/>
            <a:ext cx="8229600" cy="3840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Posit how 1 bar"/>
          <p:cNvSpPr/>
          <p:nvPr/>
        </p:nvSpPr>
        <p:spPr>
          <a:xfrm>
            <a:off x="457200" y="1234440"/>
            <a:ext cx="64008" cy="38404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Posit how 1 text"/>
          <p:cNvSpPr txBox="1"/>
          <p:nvPr/>
        </p:nvSpPr>
        <p:spPr>
          <a:xfrm>
            <a:off x="658368" y="1234440"/>
            <a:ext cx="7936992" cy="384048"/>
          </a:xfrm>
          <a:prstGeom prst="rect">
            <a:avLst/>
          </a:prstGeom>
          <a:noFill/>
        </p:spPr>
        <p:txBody>
          <a:bodyPr wrap="square" lIns="0" rIns="0" tIns="0" bIns="0" anchor="ctr">
            <a:noAutofit/>
          </a:bodyPr>
          <a:lstStyle/>
          <a:p>
            <a:pPr algn="l">
              <a:spcAft>
                <a:spcPts val="400"/>
              </a:spcAft>
            </a:pPr>
            <a:r>
              <a:rPr sz="1200" b="1" lang="en-GB">
                <a:solidFill>
                  <a:schemeClr val="tx2"/>
                </a:solidFill>
              </a:rPr>
              <a:t>How: </a:t>
            </a:r>
            <a:r>
              <a:rPr sz="1200" b="0" lang="en-GB">
                <a:solidFill>
                  <a:schemeClr val="tx1"/>
                </a:solidFill>
              </a:rPr>
              <a:t>code first, then open Posit Assistant, type @forecasting_exercise.qmd, one task per prompt</a:t>
            </a:r>
          </a:p>
        </p:txBody>
      </p:sp>
      <p:sp>
        <p:nvSpPr>
          <p:cNvPr id="13" name="Prompt 1 caption bar"/>
          <p:cNvSpPr/>
          <p:nvPr/>
        </p:nvSpPr>
        <p:spPr>
          <a:xfrm>
            <a:off x="457200" y="173736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rompt 1 caption"/>
          <p:cNvSpPr txBox="1"/>
          <p:nvPr/>
        </p:nvSpPr>
        <p:spPr>
          <a:xfrm>
            <a:off x="566928" y="173736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1</a:t>
            </a:r>
          </a:p>
        </p:txBody>
      </p:sp>
      <p:sp>
        <p:nvSpPr>
          <p:cNvPr id="15" name="Prompt 1 box"/>
          <p:cNvSpPr/>
          <p:nvPr/>
        </p:nvSpPr>
        <p:spPr>
          <a:xfrm>
            <a:off x="457200" y="201168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rompt 1 code"/>
          <p:cNvSpPr txBox="1"/>
          <p:nvPr/>
        </p:nvSpPr>
        <p:spPr>
          <a:xfrm>
            <a:off x="594360" y="210312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@forecasting_exercise.qmd Task 1. Café</a:t>
            </a:r>
          </a:p>
          <a:p>
            <a:pPr algn="l">
              <a:spcAft>
                <a:spcPts val="0"/>
              </a:spcAft>
            </a:pPr>
            <a:r>
              <a:rPr sz="1050" b="0" lang="en-GB">
                <a:solidFill>
                  <a:schemeClr val="bg1"/>
                </a:solidFill>
                <a:latin typeface="Consolas"/>
              </a:rPr>
              <a:t>bookings 20, 24, 22, 26, 27, 31: naive,</a:t>
            </a:r>
          </a:p>
          <a:p>
            <a:pPr algn="l">
              <a:spcAft>
                <a:spcPts val="0"/>
              </a:spcAft>
            </a:pPr>
            <a:r>
              <a:rPr sz="1050" b="0" lang="en-GB">
                <a:solidFill>
                  <a:schemeClr val="bg1"/>
                </a:solidFill>
                <a:latin typeface="Consolas"/>
              </a:rPr>
              <a:t>drift, mean, moving average (3) and SES</a:t>
            </a:r>
          </a:p>
          <a:p>
            <a:pPr algn="l">
              <a:spcAft>
                <a:spcPts val="0"/>
              </a:spcAft>
            </a:pPr>
            <a:r>
              <a:rPr sz="1050" b="0" lang="en-GB">
                <a:solidFill>
                  <a:schemeClr val="bg1"/>
                </a:solidFill>
                <a:latin typeface="Consolas"/>
              </a:rPr>
              <a:t>(α 0.5) for week 7, step by step.</a:t>
            </a:r>
          </a:p>
        </p:txBody>
      </p:sp>
      <p:sp>
        <p:nvSpPr>
          <p:cNvPr id="17" name="Prompt 2 caption bar"/>
          <p:cNvSpPr/>
          <p:nvPr/>
        </p:nvSpPr>
        <p:spPr>
          <a:xfrm>
            <a:off x="4640580" y="173736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rompt 2 caption"/>
          <p:cNvSpPr txBox="1"/>
          <p:nvPr/>
        </p:nvSpPr>
        <p:spPr>
          <a:xfrm>
            <a:off x="4750308" y="173736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2</a:t>
            </a:r>
          </a:p>
        </p:txBody>
      </p:sp>
      <p:sp>
        <p:nvSpPr>
          <p:cNvPr id="19" name="Prompt 2 box"/>
          <p:cNvSpPr/>
          <p:nvPr/>
        </p:nvSpPr>
        <p:spPr>
          <a:xfrm>
            <a:off x="4640580" y="201168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rompt 2 code"/>
          <p:cNvSpPr txBox="1"/>
          <p:nvPr/>
        </p:nvSpPr>
        <p:spPr>
          <a:xfrm>
            <a:off x="4777740" y="210312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2. Plot aus_cafes_retail.csv for</a:t>
            </a:r>
          </a:p>
          <a:p>
            <a:pPr algn="l">
              <a:spcAft>
                <a:spcPts val="0"/>
              </a:spcAft>
            </a:pPr>
            <a:r>
              <a:rPr sz="1050" b="0" lang="en-GB">
                <a:solidFill>
                  <a:schemeClr val="bg1"/>
                </a:solidFill>
                <a:latin typeface="Consolas"/>
              </a:rPr>
              <a:t>2009-2018 with plotnine. Describe trend</a:t>
            </a:r>
          </a:p>
          <a:p>
            <a:pPr algn="l">
              <a:spcAft>
                <a:spcPts val="0"/>
              </a:spcAft>
            </a:pPr>
            <a:r>
              <a:rPr sz="1050" b="0" lang="en-GB">
                <a:solidFill>
                  <a:schemeClr val="bg1"/>
                </a:solidFill>
                <a:latin typeface="Consolas"/>
              </a:rPr>
              <a:t>and season; run the ADF test on levels</a:t>
            </a:r>
          </a:p>
          <a:p>
            <a:pPr algn="l">
              <a:spcAft>
                <a:spcPts val="0"/>
              </a:spcAft>
            </a:pPr>
            <a:r>
              <a:rPr sz="1050" b="0" lang="en-GB">
                <a:solidFill>
                  <a:schemeClr val="bg1"/>
                </a:solidFill>
                <a:latin typeface="Consolas"/>
              </a:rPr>
              <a:t>and on the first difference.</a:t>
            </a:r>
          </a:p>
        </p:txBody>
      </p:sp>
      <p:sp>
        <p:nvSpPr>
          <p:cNvPr id="21" name="Prompt 3 caption bar"/>
          <p:cNvSpPr/>
          <p:nvPr/>
        </p:nvSpPr>
        <p:spPr>
          <a:xfrm>
            <a:off x="457200" y="301752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rompt 3 caption"/>
          <p:cNvSpPr txBox="1"/>
          <p:nvPr/>
        </p:nvSpPr>
        <p:spPr>
          <a:xfrm>
            <a:off x="566928" y="301752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3</a:t>
            </a:r>
          </a:p>
        </p:txBody>
      </p:sp>
      <p:sp>
        <p:nvSpPr>
          <p:cNvPr id="23" name="Prompt 3 box"/>
          <p:cNvSpPr/>
          <p:nvPr/>
        </p:nvSpPr>
        <p:spPr>
          <a:xfrm>
            <a:off x="457200" y="329184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rompt 3 code"/>
          <p:cNvSpPr txBox="1"/>
          <p:nvPr/>
        </p:nvSpPr>
        <p:spPr>
          <a:xfrm>
            <a:off x="594360" y="338328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3. Hold out 2017-2018. Compare</a:t>
            </a:r>
          </a:p>
          <a:p>
            <a:pPr algn="l">
              <a:spcAft>
                <a:spcPts val="0"/>
              </a:spcAft>
            </a:pPr>
            <a:r>
              <a:rPr sz="1050" b="0" lang="en-GB">
                <a:solidFill>
                  <a:schemeClr val="bg1"/>
                </a:solidFill>
                <a:latin typeface="Consolas"/>
              </a:rPr>
              <a:t>seasonal naive, Holt-Winters, SARIMA and</a:t>
            </a:r>
          </a:p>
          <a:p>
            <a:pPr algn="l">
              <a:spcAft>
                <a:spcPts val="0"/>
              </a:spcAft>
            </a:pPr>
            <a:r>
              <a:rPr sz="1050" b="0" lang="en-GB">
                <a:solidFill>
                  <a:schemeClr val="bg1"/>
                </a:solidFill>
                <a:latin typeface="Consolas"/>
              </a:rPr>
              <a:t>two regressions by MAE, RMSE and MAPE</a:t>
            </a:r>
          </a:p>
          <a:p>
            <a:pPr algn="l">
              <a:spcAft>
                <a:spcPts val="0"/>
              </a:spcAft>
            </a:pPr>
            <a:r>
              <a:rPr sz="1050" b="0" lang="en-GB">
                <a:solidFill>
                  <a:schemeClr val="bg1"/>
                </a:solidFill>
                <a:latin typeface="Consolas"/>
              </a:rPr>
              <a:t>in a great_tables table.</a:t>
            </a:r>
          </a:p>
        </p:txBody>
      </p:sp>
      <p:sp>
        <p:nvSpPr>
          <p:cNvPr id="25" name="Prompt 4 caption bar"/>
          <p:cNvSpPr/>
          <p:nvPr/>
        </p:nvSpPr>
        <p:spPr>
          <a:xfrm>
            <a:off x="4640580" y="3017520"/>
            <a:ext cx="4046220" cy="27432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Prompt 4 caption"/>
          <p:cNvSpPr txBox="1"/>
          <p:nvPr/>
        </p:nvSpPr>
        <p:spPr>
          <a:xfrm>
            <a:off x="4750308" y="3017520"/>
            <a:ext cx="3826764" cy="274320"/>
          </a:xfrm>
          <a:prstGeom prst="rect">
            <a:avLst/>
          </a:prstGeom>
          <a:noFill/>
        </p:spPr>
        <p:txBody>
          <a:bodyPr wrap="square" lIns="0" rIns="0" tIns="0" bIns="0" anchor="ctr">
            <a:noAutofit/>
          </a:bodyPr>
          <a:lstStyle/>
          <a:p>
            <a:pPr algn="l">
              <a:spcAft>
                <a:spcPts val="400"/>
              </a:spcAft>
            </a:pPr>
            <a:r>
              <a:rPr sz="1100" b="1" lang="en-GB">
                <a:solidFill>
                  <a:schemeClr val="bg1"/>
                </a:solidFill>
              </a:rPr>
              <a:t>Prompt for task 4</a:t>
            </a:r>
          </a:p>
        </p:txBody>
      </p:sp>
      <p:sp>
        <p:nvSpPr>
          <p:cNvPr id="27" name="Prompt 4 box"/>
          <p:cNvSpPr/>
          <p:nvPr/>
        </p:nvSpPr>
        <p:spPr>
          <a:xfrm>
            <a:off x="4640580" y="3291840"/>
            <a:ext cx="4046220" cy="9144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rompt 4 code"/>
          <p:cNvSpPr txBox="1"/>
          <p:nvPr/>
        </p:nvSpPr>
        <p:spPr>
          <a:xfrm>
            <a:off x="4777740" y="3383280"/>
            <a:ext cx="3771900" cy="731520"/>
          </a:xfrm>
          <a:prstGeom prst="rect">
            <a:avLst/>
          </a:prstGeom>
          <a:noFill/>
        </p:spPr>
        <p:txBody>
          <a:bodyPr wrap="square" lIns="0" rIns="0" tIns="0" bIns="0" anchor="t">
            <a:noAutofit/>
          </a:bodyPr>
          <a:lstStyle/>
          <a:p>
            <a:pPr algn="l">
              <a:spcAft>
                <a:spcPts val="0"/>
              </a:spcAft>
            </a:pPr>
            <a:r>
              <a:rPr sz="1050" b="0" lang="en-GB">
                <a:solidFill>
                  <a:schemeClr val="bg1"/>
                </a:solidFill>
                <a:latin typeface="Consolas"/>
              </a:rPr>
              <a:t>Task 4. Forecast 2019 with the best</a:t>
            </a:r>
          </a:p>
          <a:p>
            <a:pPr algn="l">
              <a:spcAft>
                <a:spcPts val="0"/>
              </a:spcAft>
            </a:pPr>
            <a:r>
              <a:rPr sz="1050" b="0" lang="en-GB">
                <a:solidFill>
                  <a:schemeClr val="bg1"/>
                </a:solidFill>
                <a:latin typeface="Consolas"/>
              </a:rPr>
              <a:t>method and with SARIMA, 95 % bands.</a:t>
            </a:r>
          </a:p>
          <a:p>
            <a:pPr algn="l">
              <a:spcAft>
                <a:spcPts val="0"/>
              </a:spcAft>
            </a:pPr>
            <a:r>
              <a:rPr sz="1050" b="0" lang="en-GB">
                <a:solidFill>
                  <a:schemeClr val="bg1"/>
                </a:solidFill>
                <a:latin typeface="Consolas"/>
              </a:rPr>
              <a:t>Which band would you trust for stock</a:t>
            </a:r>
          </a:p>
          <a:p>
            <a:pPr algn="l">
              <a:spcAft>
                <a:spcPts val="0"/>
              </a:spcAft>
            </a:pPr>
            <a:r>
              <a:rPr sz="1050" b="0" lang="en-GB">
                <a:solidFill>
                  <a:schemeClr val="bg1"/>
                </a:solidFill>
                <a:latin typeface="Consolas"/>
              </a:rPr>
              <a:t>planning, and why?</a:t>
            </a:r>
          </a:p>
        </p:txBody>
      </p:sp>
      <p:sp>
        <p:nvSpPr>
          <p:cNvPr id="29" name="Posit check box"/>
          <p:cNvSpPr/>
          <p:nvPr/>
        </p:nvSpPr>
        <p:spPr>
          <a:xfrm>
            <a:off x="457200" y="434340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0" name="Icon Posit check" descr=""/>
          <p:cNvPicPr>
            <a:picLocks noChangeAspect="1"/>
          </p:cNvPicPr>
          <p:nvPr/>
        </p:nvPicPr>
        <p:blipFill>
          <a:blip r:embed="rId3"/>
          <a:stretch>
            <a:fillRect/>
          </a:stretch>
        </p:blipFill>
        <p:spPr>
          <a:xfrm>
            <a:off x="658368" y="4389120"/>
            <a:ext cx="365760" cy="365760"/>
          </a:xfrm>
          <a:prstGeom prst="rect">
            <a:avLst/>
          </a:prstGeom>
        </p:spPr>
      </p:pic>
      <p:sp>
        <p:nvSpPr>
          <p:cNvPr id="31" name="Posit check text"/>
          <p:cNvSpPr txBox="1"/>
          <p:nvPr/>
        </p:nvSpPr>
        <p:spPr>
          <a:xfrm>
            <a:off x="1207008" y="4343400"/>
            <a:ext cx="7315200"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Check every number against your own code: </a:t>
            </a:r>
            <a:r>
              <a:rPr sz="1200" b="0" lang="en-GB">
                <a:solidFill>
                  <a:schemeClr val="bg1"/>
                </a:solidFill>
              </a:rPr>
              <a:t>you own the result.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Open data for forecasting</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Data 1 tile"/>
          <p:cNvSpPr/>
          <p:nvPr/>
        </p:nvSpPr>
        <p:spPr>
          <a:xfrm>
            <a:off x="45720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1" name="Icon Data 1" descr=""/>
          <p:cNvPicPr>
            <a:picLocks noChangeAspect="1"/>
          </p:cNvPicPr>
          <p:nvPr/>
        </p:nvPicPr>
        <p:blipFill>
          <a:blip r:embed="rId3"/>
          <a:stretch>
            <a:fillRect/>
          </a:stretch>
        </p:blipFill>
        <p:spPr>
          <a:xfrm>
            <a:off x="594360" y="1371600"/>
            <a:ext cx="365760" cy="365760"/>
          </a:xfrm>
          <a:prstGeom prst="rect">
            <a:avLst/>
          </a:prstGeom>
        </p:spPr>
      </p:pic>
      <p:sp>
        <p:nvSpPr>
          <p:cNvPr id="12" name="Data 1 heading"/>
          <p:cNvSpPr txBox="1"/>
          <p:nvPr/>
        </p:nvSpPr>
        <p:spPr>
          <a:xfrm>
            <a:off x="105156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ABS Retail Trade</a:t>
            </a:r>
          </a:p>
        </p:txBody>
      </p:sp>
      <p:sp>
        <p:nvSpPr>
          <p:cNvPr id="13" name="Data 1 text"/>
          <p:cNvSpPr txBox="1"/>
          <p:nvPr/>
        </p:nvSpPr>
        <p:spPr>
          <a:xfrm>
            <a:off x="594360" y="1856232"/>
            <a:ext cx="2377440" cy="1554480"/>
          </a:xfrm>
          <a:prstGeom prst="rect">
            <a:avLst/>
          </a:prstGeom>
          <a:noFill/>
        </p:spPr>
        <p:txBody>
          <a:bodyPr wrap="square" lIns="0" rIns="0" tIns="0" bIns="0" anchor="t">
            <a:noAutofit/>
          </a:bodyPr>
          <a:lstStyle/>
          <a:p>
            <a:pPr algn="l">
              <a:spcAft>
                <a:spcPts val="400"/>
              </a:spcAft>
            </a:pPr>
            <a:r>
              <a:rPr sz="1300" b="0" lang="en-GB">
                <a:solidFill>
                  <a:schemeClr val="tx1"/>
                </a:solidFill>
              </a:rPr>
              <a:t>Monthly turnover in Australia since 1982, by state and industry</a:t>
            </a:r>
          </a:p>
        </p:txBody>
      </p:sp>
      <p:sp>
        <p:nvSpPr>
          <p:cNvPr id="14" name="Data 1 licence"/>
          <p:cNvSpPr txBox="1"/>
          <p:nvPr/>
        </p:nvSpPr>
        <p:spPr>
          <a:xfrm>
            <a:off x="594360" y="2788920"/>
            <a:ext cx="2377440" cy="548640"/>
          </a:xfrm>
          <a:prstGeom prst="rect">
            <a:avLst/>
          </a:prstGeom>
          <a:noFill/>
        </p:spPr>
        <p:txBody>
          <a:bodyPr wrap="square" lIns="0" rIns="0" tIns="0" bIns="0" anchor="t">
            <a:noAutofit/>
          </a:bodyPr>
          <a:lstStyle/>
          <a:p>
            <a:pPr algn="l">
              <a:spcAft>
                <a:spcPts val="400"/>
              </a:spcAft>
            </a:pPr>
            <a:r>
              <a:rPr sz="1300" b="1" lang="en-GB">
                <a:solidFill>
                  <a:schemeClr val="tx2"/>
                </a:solidFill>
              </a:rPr>
              <a:t>Licence: </a:t>
            </a:r>
            <a:r>
              <a:rPr sz="1300" b="0" lang="en-GB">
                <a:solidFill>
                  <a:schemeClr val="tx1"/>
                </a:solidFill>
              </a:rPr>
              <a:t>CC BY 4.0</a:t>
            </a:r>
          </a:p>
        </p:txBody>
      </p:sp>
      <p:sp>
        <p:nvSpPr>
          <p:cNvPr id="15" name="Data 2 tile"/>
          <p:cNvSpPr/>
          <p:nvPr/>
        </p:nvSpPr>
        <p:spPr>
          <a:xfrm>
            <a:off x="324612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6" name="Icon Data 2" descr=""/>
          <p:cNvPicPr>
            <a:picLocks noChangeAspect="1"/>
          </p:cNvPicPr>
          <p:nvPr/>
        </p:nvPicPr>
        <p:blipFill>
          <a:blip r:embed="rId4"/>
          <a:stretch>
            <a:fillRect/>
          </a:stretch>
        </p:blipFill>
        <p:spPr>
          <a:xfrm>
            <a:off x="3383280" y="1371600"/>
            <a:ext cx="365760" cy="365760"/>
          </a:xfrm>
          <a:prstGeom prst="rect">
            <a:avLst/>
          </a:prstGeom>
        </p:spPr>
      </p:pic>
      <p:sp>
        <p:nvSpPr>
          <p:cNvPr id="17" name="Data 2 heading"/>
          <p:cNvSpPr txBox="1"/>
          <p:nvPr/>
        </p:nvSpPr>
        <p:spPr>
          <a:xfrm>
            <a:off x="384048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Eurostat</a:t>
            </a:r>
          </a:p>
        </p:txBody>
      </p:sp>
      <p:sp>
        <p:nvSpPr>
          <p:cNvPr id="18" name="Data 2 text"/>
          <p:cNvSpPr txBox="1"/>
          <p:nvPr/>
        </p:nvSpPr>
        <p:spPr>
          <a:xfrm>
            <a:off x="3383280" y="1856232"/>
            <a:ext cx="2377440" cy="1554480"/>
          </a:xfrm>
          <a:prstGeom prst="rect">
            <a:avLst/>
          </a:prstGeom>
          <a:noFill/>
        </p:spPr>
        <p:txBody>
          <a:bodyPr wrap="square" lIns="0" rIns="0" tIns="0" bIns="0" anchor="t">
            <a:noAutofit/>
          </a:bodyPr>
          <a:lstStyle/>
          <a:p>
            <a:pPr algn="l">
              <a:spcAft>
                <a:spcPts val="400"/>
              </a:spcAft>
            </a:pPr>
            <a:r>
              <a:rPr sz="1300" b="0" lang="en-GB">
                <a:solidFill>
                  <a:schemeClr val="tx1"/>
                </a:solidFill>
              </a:rPr>
              <a:t>Monthly retail trade and tourism nights by EU country</a:t>
            </a:r>
          </a:p>
        </p:txBody>
      </p:sp>
      <p:sp>
        <p:nvSpPr>
          <p:cNvPr id="19" name="Data 2 licence"/>
          <p:cNvSpPr txBox="1"/>
          <p:nvPr/>
        </p:nvSpPr>
        <p:spPr>
          <a:xfrm>
            <a:off x="3383280" y="2788920"/>
            <a:ext cx="2377440" cy="548640"/>
          </a:xfrm>
          <a:prstGeom prst="rect">
            <a:avLst/>
          </a:prstGeom>
          <a:noFill/>
        </p:spPr>
        <p:txBody>
          <a:bodyPr wrap="square" lIns="0" rIns="0" tIns="0" bIns="0" anchor="t">
            <a:noAutofit/>
          </a:bodyPr>
          <a:lstStyle/>
          <a:p>
            <a:pPr algn="l">
              <a:spcAft>
                <a:spcPts val="400"/>
              </a:spcAft>
            </a:pPr>
            <a:r>
              <a:rPr sz="1300" b="1" lang="en-GB">
                <a:solidFill>
                  <a:schemeClr val="tx2"/>
                </a:solidFill>
              </a:rPr>
              <a:t>Licence: </a:t>
            </a:r>
            <a:r>
              <a:rPr sz="1300" b="0" lang="en-GB">
                <a:solidFill>
                  <a:schemeClr val="tx1"/>
                </a:solidFill>
              </a:rPr>
              <a:t>free reuse, cite the source</a:t>
            </a:r>
          </a:p>
        </p:txBody>
      </p:sp>
      <p:sp>
        <p:nvSpPr>
          <p:cNvPr id="20" name="Data 3 tile"/>
          <p:cNvSpPr/>
          <p:nvPr/>
        </p:nvSpPr>
        <p:spPr>
          <a:xfrm>
            <a:off x="6035040" y="1234440"/>
            <a:ext cx="2651760" cy="224028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1" name="Icon Data 3" descr=""/>
          <p:cNvPicPr>
            <a:picLocks noChangeAspect="1"/>
          </p:cNvPicPr>
          <p:nvPr/>
        </p:nvPicPr>
        <p:blipFill>
          <a:blip r:embed="rId5"/>
          <a:stretch>
            <a:fillRect/>
          </a:stretch>
        </p:blipFill>
        <p:spPr>
          <a:xfrm>
            <a:off x="6172200" y="1371600"/>
            <a:ext cx="365760" cy="365760"/>
          </a:xfrm>
          <a:prstGeom prst="rect">
            <a:avLst/>
          </a:prstGeom>
        </p:spPr>
      </p:pic>
      <p:sp>
        <p:nvSpPr>
          <p:cNvPr id="22" name="Data 3 heading"/>
          <p:cNvSpPr txBox="1"/>
          <p:nvPr/>
        </p:nvSpPr>
        <p:spPr>
          <a:xfrm>
            <a:off x="6629400" y="1371600"/>
            <a:ext cx="1965960" cy="365760"/>
          </a:xfrm>
          <a:prstGeom prst="rect">
            <a:avLst/>
          </a:prstGeom>
          <a:noFill/>
        </p:spPr>
        <p:txBody>
          <a:bodyPr wrap="square" lIns="0" rIns="0" tIns="0" bIns="0" anchor="ctr">
            <a:noAutofit/>
          </a:bodyPr>
          <a:lstStyle/>
          <a:p>
            <a:pPr algn="l">
              <a:spcAft>
                <a:spcPts val="400"/>
              </a:spcAft>
            </a:pPr>
            <a:r>
              <a:rPr sz="1500" b="1" lang="en-GB">
                <a:solidFill>
                  <a:schemeClr val="tx2"/>
                </a:solidFill>
                <a:latin typeface="+mj-lt"/>
              </a:rPr>
              <a:t>M5 (Walmart)</a:t>
            </a:r>
          </a:p>
        </p:txBody>
      </p:sp>
      <p:sp>
        <p:nvSpPr>
          <p:cNvPr id="23" name="Data 3 text"/>
          <p:cNvSpPr txBox="1"/>
          <p:nvPr/>
        </p:nvSpPr>
        <p:spPr>
          <a:xfrm>
            <a:off x="6172200" y="1856232"/>
            <a:ext cx="2377440" cy="1554480"/>
          </a:xfrm>
          <a:prstGeom prst="rect">
            <a:avLst/>
          </a:prstGeom>
          <a:noFill/>
        </p:spPr>
        <p:txBody>
          <a:bodyPr wrap="square" lIns="0" rIns="0" tIns="0" bIns="0" anchor="t">
            <a:noAutofit/>
          </a:bodyPr>
          <a:lstStyle/>
          <a:p>
            <a:pPr algn="l">
              <a:spcAft>
                <a:spcPts val="400"/>
              </a:spcAft>
            </a:pPr>
            <a:r>
              <a:rPr sz="1300" b="0" lang="en-GB">
                <a:solidFill>
                  <a:schemeClr val="tx1"/>
                </a:solidFill>
              </a:rPr>
              <a:t>Daily unit sales of 3,049 products in 10 US stores, 2011–2016</a:t>
            </a:r>
          </a:p>
        </p:txBody>
      </p:sp>
      <p:sp>
        <p:nvSpPr>
          <p:cNvPr id="24" name="Data 3 licence"/>
          <p:cNvSpPr txBox="1"/>
          <p:nvPr/>
        </p:nvSpPr>
        <p:spPr>
          <a:xfrm>
            <a:off x="6172200" y="2788920"/>
            <a:ext cx="2377440" cy="548640"/>
          </a:xfrm>
          <a:prstGeom prst="rect">
            <a:avLst/>
          </a:prstGeom>
          <a:noFill/>
        </p:spPr>
        <p:txBody>
          <a:bodyPr wrap="square" lIns="0" rIns="0" tIns="0" bIns="0" anchor="t">
            <a:noAutofit/>
          </a:bodyPr>
          <a:lstStyle/>
          <a:p>
            <a:pPr algn="l">
              <a:spcAft>
                <a:spcPts val="400"/>
              </a:spcAft>
            </a:pPr>
            <a:r>
              <a:rPr sz="1300" b="1" lang="en-GB">
                <a:solidFill>
                  <a:schemeClr val="tx2"/>
                </a:solidFill>
              </a:rPr>
              <a:t>Licence: </a:t>
            </a:r>
            <a:r>
              <a:rPr sz="1300" b="0" lang="en-GB">
                <a:solidFill>
                  <a:schemeClr val="tx1"/>
                </a:solidFill>
              </a:rPr>
              <a:t>competition data: check the terms</a:t>
            </a:r>
          </a:p>
        </p:txBody>
      </p:sp>
      <p:sp>
        <p:nvSpPr>
          <p:cNvPr id="25" name="Data licence box"/>
          <p:cNvSpPr/>
          <p:nvPr/>
        </p:nvSpPr>
        <p:spPr>
          <a:xfrm>
            <a:off x="457200" y="361188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Data licence text"/>
          <p:cNvSpPr txBox="1"/>
          <p:nvPr/>
        </p:nvSpPr>
        <p:spPr>
          <a:xfrm>
            <a:off x="658368" y="3611880"/>
            <a:ext cx="7827264" cy="457200"/>
          </a:xfrm>
          <a:prstGeom prst="rect">
            <a:avLst/>
          </a:prstGeom>
          <a:noFill/>
        </p:spPr>
        <p:txBody>
          <a:bodyPr wrap="square" lIns="0" rIns="0" tIns="0" bIns="0" anchor="ctr">
            <a:noAutofit/>
          </a:bodyPr>
          <a:lstStyle/>
          <a:p>
            <a:pPr algn="l">
              <a:spcAft>
                <a:spcPts val="400"/>
              </a:spcAft>
            </a:pPr>
            <a:r>
              <a:rPr sz="1200" b="1" lang="en-GB">
                <a:solidFill>
                  <a:schemeClr val="bg1"/>
                </a:solidFill>
              </a:rPr>
              <a:t>The licence decides: </a:t>
            </a:r>
            <a:r>
              <a:rPr sz="1200" b="0" lang="en-GB">
                <a:solidFill>
                  <a:schemeClr val="bg1"/>
                </a:solidFill>
              </a:rPr>
              <a:t>commit only data you may share; link the rest.</a:t>
            </a:r>
          </a:p>
        </p:txBody>
      </p:sp>
      <p:sp>
        <p:nvSpPr>
          <p:cNvPr id="27" name="Data guide"/>
          <p:cNvSpPr txBox="1"/>
          <p:nvPr/>
        </p:nvSpPr>
        <p:spPr>
          <a:xfrm>
            <a:off x="457200" y="4206240"/>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Links and loading code: </a:t>
            </a:r>
            <a:r>
              <a:rPr sz="1200" b="0" lang="en-GB">
                <a:solidFill>
                  <a:schemeClr val="tx2"/>
                </a:solidFill>
                <a:latin typeface="Consolas"/>
              </a:rPr>
              <a:t>forecasting.qmd</a:t>
            </a:r>
            <a:r>
              <a:rPr sz="1200" b="0" lang="en-GB">
                <a:solidFill>
                  <a:schemeClr val="tx1"/>
                </a:solidFill>
              </a:rPr>
              <a:t> (appendix)</a:t>
            </a:r>
          </a:p>
        </p:txBody>
      </p:sp>
      <p:sp>
        <p:nvSpPr>
          <p:cNvPr id="28" name="Sources"/>
          <p:cNvSpPr txBox="1"/>
          <p:nvPr/>
        </p:nvSpPr>
        <p:spPr>
          <a:xfrm>
            <a:off x="457200" y="4818888"/>
            <a:ext cx="8229600" cy="256032"/>
          </a:xfrm>
          <a:prstGeom prst="rect">
            <a:avLst/>
          </a:prstGeom>
          <a:noFill/>
        </p:spPr>
        <p:txBody>
          <a:bodyPr wrap="square" lIns="0" rIns="0" tIns="0" bIns="0" anchor="ctr">
            <a:noAutofit/>
          </a:bodyPr>
          <a:lstStyle/>
          <a:p>
            <a:pPr algn="l">
              <a:spcAft>
                <a:spcPts val="0"/>
              </a:spcAft>
            </a:pPr>
            <a:r>
              <a:rPr sz="1100" b="0" lang="en-GB">
                <a:solidFill>
                  <a:srgbClr val="595959"/>
                </a:solidFill>
              </a:rPr>
              <a:t>Sources: ABS, Eurostat and M5 dataset pages (links in forecasting.qmd)</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Key takeaways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Takeaway row 1"/>
          <p:cNvSpPr/>
          <p:nvPr/>
        </p:nvSpPr>
        <p:spPr>
          <a:xfrm>
            <a:off x="457200" y="1234440"/>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akeaway number 1"/>
          <p:cNvSpPr/>
          <p:nvPr/>
        </p:nvSpPr>
        <p:spPr>
          <a:xfrm>
            <a:off x="594360" y="1335024"/>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1</a:t>
            </a:r>
          </a:p>
        </p:txBody>
      </p:sp>
      <p:sp>
        <p:nvSpPr>
          <p:cNvPr id="12" name="Takeaway text 1"/>
          <p:cNvSpPr txBox="1"/>
          <p:nvPr/>
        </p:nvSpPr>
        <p:spPr>
          <a:xfrm>
            <a:off x="1051560" y="1234440"/>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Plot and smooth first: </a:t>
            </a:r>
            <a:r>
              <a:rPr sz="1250" b="0" lang="en-GB">
                <a:solidFill>
                  <a:schemeClr val="tx1"/>
                </a:solidFill>
              </a:rPr>
              <a:t>trend, season, cycle; additive or multiplicative; stationary or not?</a:t>
            </a:r>
          </a:p>
        </p:txBody>
      </p:sp>
      <p:sp>
        <p:nvSpPr>
          <p:cNvPr id="13" name="Takeaway row 2"/>
          <p:cNvSpPr/>
          <p:nvPr/>
        </p:nvSpPr>
        <p:spPr>
          <a:xfrm>
            <a:off x="457200" y="1819656"/>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akeaway number 2"/>
          <p:cNvSpPr/>
          <p:nvPr/>
        </p:nvSpPr>
        <p:spPr>
          <a:xfrm>
            <a:off x="594360" y="1920240"/>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2</a:t>
            </a:r>
          </a:p>
        </p:txBody>
      </p:sp>
      <p:sp>
        <p:nvSpPr>
          <p:cNvPr id="15" name="Takeaway text 2"/>
          <p:cNvSpPr txBox="1"/>
          <p:nvPr/>
        </p:nvSpPr>
        <p:spPr>
          <a:xfrm>
            <a:off x="1051560" y="1819656"/>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Start simple: </a:t>
            </a:r>
            <a:r>
              <a:rPr sz="1250" b="0" lang="en-GB">
                <a:solidFill>
                  <a:schemeClr val="tx1"/>
                </a:solidFill>
              </a:rPr>
              <a:t>naive, drift, averages, smoothing and a trend line: all on a calculator</a:t>
            </a:r>
          </a:p>
        </p:txBody>
      </p:sp>
      <p:sp>
        <p:nvSpPr>
          <p:cNvPr id="16" name="Takeaway row 3"/>
          <p:cNvSpPr/>
          <p:nvPr/>
        </p:nvSpPr>
        <p:spPr>
          <a:xfrm>
            <a:off x="457200" y="2404872"/>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akeaway number 3"/>
          <p:cNvSpPr/>
          <p:nvPr/>
        </p:nvSpPr>
        <p:spPr>
          <a:xfrm>
            <a:off x="594360" y="2505456"/>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3</a:t>
            </a:r>
          </a:p>
        </p:txBody>
      </p:sp>
      <p:sp>
        <p:nvSpPr>
          <p:cNvPr id="18" name="Takeaway text 3"/>
          <p:cNvSpPr txBox="1"/>
          <p:nvPr/>
        </p:nvSpPr>
        <p:spPr>
          <a:xfrm>
            <a:off x="1051560" y="2404872"/>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Test on the future: </a:t>
            </a:r>
            <a:r>
              <a:rPr sz="1250" b="0" lang="en-GB">
                <a:solidFill>
                  <a:schemeClr val="tx1"/>
                </a:solidFill>
              </a:rPr>
              <a:t>hold out the last periods; compare MAE, RMSE and MAPE</a:t>
            </a:r>
          </a:p>
        </p:txBody>
      </p:sp>
      <p:sp>
        <p:nvSpPr>
          <p:cNvPr id="19" name="Takeaway row 4"/>
          <p:cNvSpPr/>
          <p:nvPr/>
        </p:nvSpPr>
        <p:spPr>
          <a:xfrm>
            <a:off x="457200" y="2990088"/>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akeaway number 4"/>
          <p:cNvSpPr/>
          <p:nvPr/>
        </p:nvSpPr>
        <p:spPr>
          <a:xfrm>
            <a:off x="594360" y="3090672"/>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4</a:t>
            </a:r>
          </a:p>
        </p:txBody>
      </p:sp>
      <p:sp>
        <p:nvSpPr>
          <p:cNvPr id="21" name="Takeaway text 4"/>
          <p:cNvSpPr txBox="1"/>
          <p:nvPr/>
        </p:nvSpPr>
        <p:spPr>
          <a:xfrm>
            <a:off x="1051560" y="2990088"/>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Beat the simplest benchmark: </a:t>
            </a:r>
            <a:r>
              <a:rPr sz="1250" b="0" lang="en-GB">
                <a:solidFill>
                  <a:schemeClr val="tx1"/>
                </a:solidFill>
              </a:rPr>
              <a:t>on seasonal data, the seasonal naive</a:t>
            </a:r>
          </a:p>
        </p:txBody>
      </p:sp>
      <p:sp>
        <p:nvSpPr>
          <p:cNvPr id="22" name="Takeaway row 5"/>
          <p:cNvSpPr/>
          <p:nvPr/>
        </p:nvSpPr>
        <p:spPr>
          <a:xfrm>
            <a:off x="457200" y="3575304"/>
            <a:ext cx="8229600" cy="512064"/>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akeaway number 5"/>
          <p:cNvSpPr/>
          <p:nvPr/>
        </p:nvSpPr>
        <p:spPr>
          <a:xfrm>
            <a:off x="594360" y="3675888"/>
            <a:ext cx="310896" cy="310896"/>
          </a:xfrm>
          <a:prstGeom prst="ellipse">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lang="en-GB">
                <a:solidFill>
                  <a:schemeClr val="bg1"/>
                </a:solidFill>
              </a:rPr>
              <a:t>5</a:t>
            </a:r>
          </a:p>
        </p:txBody>
      </p:sp>
      <p:sp>
        <p:nvSpPr>
          <p:cNvPr id="24" name="Takeaway text 5"/>
          <p:cNvSpPr txBox="1"/>
          <p:nvPr/>
        </p:nvSpPr>
        <p:spPr>
          <a:xfrm>
            <a:off x="1051560" y="3575304"/>
            <a:ext cx="7498080" cy="512064"/>
          </a:xfrm>
          <a:prstGeom prst="rect">
            <a:avLst/>
          </a:prstGeom>
          <a:noFill/>
        </p:spPr>
        <p:txBody>
          <a:bodyPr wrap="square" lIns="0" rIns="0" tIns="0" bIns="0" anchor="ctr">
            <a:noAutofit/>
          </a:bodyPr>
          <a:lstStyle/>
          <a:p>
            <a:pPr algn="l">
              <a:spcAft>
                <a:spcPts val="400"/>
              </a:spcAft>
            </a:pPr>
            <a:r>
              <a:rPr sz="1250" b="1" lang="en-GB">
                <a:solidFill>
                  <a:schemeClr val="tx2"/>
                </a:solidFill>
              </a:rPr>
              <a:t>Report the band, check the errors: </a:t>
            </a:r>
            <a:r>
              <a:rPr sz="1250" b="0" lang="en-GB">
                <a:solidFill>
                  <a:schemeClr val="tx1"/>
                </a:solidFill>
              </a:rPr>
              <a:t>autocorrelated errors make a band too narrow</a:t>
            </a:r>
          </a:p>
        </p:txBody>
      </p:sp>
      <p:sp>
        <p:nvSpPr>
          <p:cNvPr id="25" name="Takeaway next box"/>
          <p:cNvSpPr/>
          <p:nvPr/>
        </p:nvSpPr>
        <p:spPr>
          <a:xfrm>
            <a:off x="457200" y="4251960"/>
            <a:ext cx="8229600" cy="4572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akeaway next text"/>
          <p:cNvSpPr txBox="1"/>
          <p:nvPr/>
        </p:nvSpPr>
        <p:spPr>
          <a:xfrm>
            <a:off x="658368" y="4251960"/>
            <a:ext cx="7827264" cy="457200"/>
          </a:xfrm>
          <a:prstGeom prst="rect">
            <a:avLst/>
          </a:prstGeom>
          <a:noFill/>
        </p:spPr>
        <p:txBody>
          <a:bodyPr wrap="square" lIns="0" rIns="0" tIns="0" bIns="0" anchor="ctr">
            <a:noAutofit/>
          </a:bodyPr>
          <a:lstStyle/>
          <a:p>
            <a:pPr algn="l">
              <a:spcAft>
                <a:spcPts val="400"/>
              </a:spcAft>
            </a:pPr>
            <a:r>
              <a:rPr sz="1250" b="1" lang="en-GB">
                <a:solidFill>
                  <a:schemeClr val="bg1"/>
                </a:solidFill>
              </a:rPr>
              <a:t>Next: </a:t>
            </a:r>
            <a:r>
              <a:rPr sz="1250" b="0" lang="en-GB">
                <a:solidFill>
                  <a:schemeClr val="bg1"/>
                </a:solidFill>
              </a:rPr>
              <a:t>run the ten steps of sessions/01-foundations/forecasting.qmd, then the exercise.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 name="Title 2"/>
          <p:cNvSpPr>
            <a:spLocks noGrp="1"/>
          </p:cNvSpPr>
          <p:nvPr>
            <p:ph type="title"/>
          </p:nvPr>
        </p:nvSpPr>
        <p:spPr/>
        <p:txBody>
          <a:bodyPr/>
          <a:lstStyle/>
          <a:p>
            <a:r>
              <a:rPr sz="1600" lang="en-GB"/>
              <a:t>References</a:t>
            </a:r>
          </a:p>
        </p:txBody>
      </p:sp>
      <p:sp>
        <p:nvSpPr>
          <p:cNvPr id="8" name="Fußzeilenplatzhalter 7"/>
          <p:cNvSpPr>
            <a:spLocks noGrp="1"/>
          </p:cNvSpPr>
          <p:nvPr>
            <p:ph type="ftr" sz="quarter" idx="11"/>
          </p:nvPr>
        </p:nvSpPr>
        <p:spPr/>
        <p:txBody>
          <a:bodyPr/>
          <a:lstStyle/>
          <a:p>
            <a:r>
              <a:rPr lang="en-GB"/>
              <a:t>International Marketing Analytics · WT 2026/27</a:t>
            </a:r>
          </a:p>
        </p:txBody>
      </p:sp>
      <p:sp>
        <p:nvSpPr>
          <p:cNvPr id="9" name="Foliennummernplatzhalter 8"/>
          <p:cNvSpPr>
            <a:spLocks noGrp="1"/>
          </p:cNvSpPr>
          <p:nvPr>
            <p:ph type="sldNum" sz="quarter" idx="12"/>
          </p:nvPr>
        </p:nvSpPr>
        <p:spPr/>
        <p:txBody>
          <a:bodyPr/>
          <a:lstStyle/>
          <a:p>
            <a:r>
              <a:rPr lang="en-GB" dirty="0"/>
              <a:t>Page </a:t>
            </a:r>
            <a:fld id="{BE3DC40E-DBBE-4E2D-9EEC-FBF0DA0E9179}" type="slidenum">
              <a:rPr lang="en-GB" smtClean="0"/>
              <a:t>‹Nr.›</a:t>
            </a:fld>
            <a:endParaRPr lang="en-GB" dirty="0"/>
          </a:p>
        </p:txBody>
      </p:sp>
      <p:sp>
        <p:nvSpPr>
          <p:cNvPr id="10" name="Ref 1 header"/>
          <p:cNvSpPr/>
          <p:nvPr/>
        </p:nvSpPr>
        <p:spPr>
          <a:xfrm>
            <a:off x="45720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f 1 heading"/>
          <p:cNvSpPr txBox="1"/>
          <p:nvPr/>
        </p:nvSpPr>
        <p:spPr>
          <a:xfrm>
            <a:off x="594360" y="1234440"/>
            <a:ext cx="3360420" cy="411480"/>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Forecasting methods</a:t>
            </a:r>
          </a:p>
        </p:txBody>
      </p:sp>
      <p:pic>
        <p:nvPicPr>
          <p:cNvPr id="12" name="Icon Ref 1" descr=""/>
          <p:cNvPicPr>
            <a:picLocks noChangeAspect="1"/>
          </p:cNvPicPr>
          <p:nvPr/>
        </p:nvPicPr>
        <p:blipFill>
          <a:blip r:embed="rId3"/>
          <a:stretch>
            <a:fillRect/>
          </a:stretch>
        </p:blipFill>
        <p:spPr>
          <a:xfrm>
            <a:off x="4064508" y="1280160"/>
            <a:ext cx="310896" cy="310896"/>
          </a:xfrm>
          <a:prstGeom prst="rect">
            <a:avLst/>
          </a:prstGeom>
        </p:spPr>
      </p:pic>
      <p:sp>
        <p:nvSpPr>
          <p:cNvPr id="13" name="Ref 1 body"/>
          <p:cNvSpPr/>
          <p:nvPr/>
        </p:nvSpPr>
        <p:spPr>
          <a:xfrm>
            <a:off x="457200" y="1645920"/>
            <a:ext cx="4046220" cy="2880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f 1 text"/>
          <p:cNvSpPr txBox="1"/>
          <p:nvPr/>
        </p:nvSpPr>
        <p:spPr>
          <a:xfrm>
            <a:off x="621792" y="1737360"/>
            <a:ext cx="3744468" cy="2743200"/>
          </a:xfrm>
          <a:prstGeom prst="rect">
            <a:avLst/>
          </a:prstGeom>
          <a:noFill/>
        </p:spPr>
        <p:txBody>
          <a:bodyPr wrap="square" lIns="0" rIns="0" tIns="0" bIns="0" anchor="t">
            <a:noAutofit/>
          </a:bodyPr>
          <a:lstStyle/>
          <a:p>
            <a:pPr algn="l">
              <a:spcAft>
                <a:spcPts val="500"/>
              </a:spcAft>
            </a:pPr>
            <a:r>
              <a:rPr sz="1100" b="1" lang="en-GB">
                <a:solidFill>
                  <a:schemeClr val="tx2"/>
                </a:solidFill>
              </a:rPr>
              <a:t>Hyndman, R. J. &amp; Athanasopoulos, G. (2021). </a:t>
            </a:r>
            <a:r>
              <a:rPr sz="1100" b="0" lang="en-GB">
                <a:solidFill>
                  <a:schemeClr val="tx1"/>
                </a:solidFill>
              </a:rPr>
              <a:t>Forecasting: Principles and Practice (3rd ed.). OTexts. otexts.com/fpp3</a:t>
            </a:r>
          </a:p>
          <a:p>
            <a:pPr algn="l">
              <a:spcAft>
                <a:spcPts val="500"/>
              </a:spcAft>
            </a:pPr>
            <a:r>
              <a:rPr sz="1100" b="1" lang="en-GB">
                <a:solidFill>
                  <a:schemeClr val="tx2"/>
                </a:solidFill>
              </a:rPr>
              <a:t>Box, G. E. P., Jenkins, G. M., Reinsel, G. C. &amp; Ljung, G. M. (2015). </a:t>
            </a:r>
            <a:r>
              <a:rPr sz="1100" b="0" lang="en-GB">
                <a:solidFill>
                  <a:schemeClr val="tx1"/>
                </a:solidFill>
              </a:rPr>
              <a:t>Time Series Analysis: Forecasting and Control (5th ed.). Wiley.</a:t>
            </a:r>
          </a:p>
          <a:p>
            <a:pPr algn="l">
              <a:spcAft>
                <a:spcPts val="500"/>
              </a:spcAft>
            </a:pPr>
            <a:r>
              <a:rPr sz="1100" b="1" lang="en-GB">
                <a:solidFill>
                  <a:schemeClr val="tx2"/>
                </a:solidFill>
              </a:rPr>
              <a:t>Hyndman, R. J. &amp; Koehler, A. B. (2006). </a:t>
            </a:r>
            <a:r>
              <a:rPr sz="1100" b="0" lang="en-GB">
                <a:solidFill>
                  <a:schemeClr val="tx1"/>
                </a:solidFill>
              </a:rPr>
              <a:t>Another look at measures of forecast accuracy. International Journal of Forecasting, 22(4), 679–688.</a:t>
            </a:r>
          </a:p>
          <a:p>
            <a:pPr algn="l">
              <a:spcAft>
                <a:spcPts val="500"/>
              </a:spcAft>
            </a:pPr>
            <a:r>
              <a:rPr sz="1100" b="1" lang="en-GB">
                <a:solidFill>
                  <a:schemeClr val="tx2"/>
                </a:solidFill>
              </a:rPr>
              <a:t>Cleveland, R. B. et al. (1990). </a:t>
            </a:r>
            <a:r>
              <a:rPr sz="1100" b="0" lang="en-GB">
                <a:solidFill>
                  <a:schemeClr val="tx1"/>
                </a:solidFill>
              </a:rPr>
              <a:t>STL: A seasonal-trend decomposition procedure based on loess. Journal of Official Statistics, 6(1), 3–73.</a:t>
            </a:r>
          </a:p>
        </p:txBody>
      </p:sp>
      <p:sp>
        <p:nvSpPr>
          <p:cNvPr id="15" name="Ref 2 header"/>
          <p:cNvSpPr/>
          <p:nvPr/>
        </p:nvSpPr>
        <p:spPr>
          <a:xfrm>
            <a:off x="4640580" y="1234440"/>
            <a:ext cx="4046220" cy="4114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f 2 heading"/>
          <p:cNvSpPr txBox="1"/>
          <p:nvPr/>
        </p:nvSpPr>
        <p:spPr>
          <a:xfrm>
            <a:off x="4777740" y="1234440"/>
            <a:ext cx="3360420" cy="411480"/>
          </a:xfrm>
          <a:prstGeom prst="rect">
            <a:avLst/>
          </a:prstGeom>
          <a:noFill/>
        </p:spPr>
        <p:txBody>
          <a:bodyPr wrap="square" lIns="0" rIns="0" tIns="0" bIns="0" anchor="ctr">
            <a:noAutofit/>
          </a:bodyPr>
          <a:lstStyle/>
          <a:p>
            <a:pPr algn="l">
              <a:spcAft>
                <a:spcPts val="400"/>
              </a:spcAft>
            </a:pPr>
            <a:r>
              <a:rPr sz="1400" b="1" lang="en-GB">
                <a:solidFill>
                  <a:schemeClr val="bg1"/>
                </a:solidFill>
                <a:latin typeface="+mj-lt"/>
              </a:rPr>
              <a:t>Competitions, data and software</a:t>
            </a:r>
          </a:p>
        </p:txBody>
      </p:sp>
      <p:pic>
        <p:nvPicPr>
          <p:cNvPr id="17" name="Icon Ref 2" descr=""/>
          <p:cNvPicPr>
            <a:picLocks noChangeAspect="1"/>
          </p:cNvPicPr>
          <p:nvPr/>
        </p:nvPicPr>
        <p:blipFill>
          <a:blip r:embed="rId4"/>
          <a:stretch>
            <a:fillRect/>
          </a:stretch>
        </p:blipFill>
        <p:spPr>
          <a:xfrm>
            <a:off x="8247888" y="1280160"/>
            <a:ext cx="310896" cy="310896"/>
          </a:xfrm>
          <a:prstGeom prst="rect">
            <a:avLst/>
          </a:prstGeom>
        </p:spPr>
      </p:pic>
      <p:sp>
        <p:nvSpPr>
          <p:cNvPr id="18" name="Ref 2 body"/>
          <p:cNvSpPr/>
          <p:nvPr/>
        </p:nvSpPr>
        <p:spPr>
          <a:xfrm>
            <a:off x="4640580" y="1645920"/>
            <a:ext cx="4046220" cy="288036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f 2 text"/>
          <p:cNvSpPr txBox="1"/>
          <p:nvPr/>
        </p:nvSpPr>
        <p:spPr>
          <a:xfrm>
            <a:off x="4805172" y="1737360"/>
            <a:ext cx="3744468" cy="2743200"/>
          </a:xfrm>
          <a:prstGeom prst="rect">
            <a:avLst/>
          </a:prstGeom>
          <a:noFill/>
        </p:spPr>
        <p:txBody>
          <a:bodyPr wrap="square" lIns="0" rIns="0" tIns="0" bIns="0" anchor="t">
            <a:noAutofit/>
          </a:bodyPr>
          <a:lstStyle/>
          <a:p>
            <a:pPr algn="l">
              <a:spcAft>
                <a:spcPts val="500"/>
              </a:spcAft>
            </a:pPr>
            <a:r>
              <a:rPr sz="1100" b="1" lang="en-GB">
                <a:solidFill>
                  <a:schemeClr val="tx2"/>
                </a:solidFill>
              </a:rPr>
              <a:t>Makridakis, S., Spiliotis, E. &amp; Assimakopoulos, V. (2020). </a:t>
            </a:r>
            <a:r>
              <a:rPr sz="1100" b="0" lang="en-GB">
                <a:solidFill>
                  <a:schemeClr val="tx1"/>
                </a:solidFill>
              </a:rPr>
              <a:t>The M4 Competition: 100,000 time series and 61 forecasting methods. International Journal of Forecasting, 36(1), 54–74.</a:t>
            </a:r>
          </a:p>
          <a:p>
            <a:pPr algn="l">
              <a:spcAft>
                <a:spcPts val="500"/>
              </a:spcAft>
            </a:pPr>
            <a:r>
              <a:rPr sz="1100" b="1" lang="en-GB">
                <a:solidFill>
                  <a:schemeClr val="tx2"/>
                </a:solidFill>
              </a:rPr>
              <a:t>Makridakis, S. et al. (2022). </a:t>
            </a:r>
            <a:r>
              <a:rPr sz="1100" b="0" lang="en-GB">
                <a:solidFill>
                  <a:schemeClr val="tx1"/>
                </a:solidFill>
              </a:rPr>
              <a:t>M5 accuracy competition: Results, findings, and conclusions. International Journal of Forecasting, 38(4), 1346–⁠1364.</a:t>
            </a:r>
          </a:p>
          <a:p>
            <a:pPr algn="l">
              <a:spcAft>
                <a:spcPts val="500"/>
              </a:spcAft>
            </a:pPr>
            <a:r>
              <a:rPr sz="1100" b="1" lang="en-GB">
                <a:solidFill>
                  <a:schemeClr val="tx2"/>
                </a:solidFill>
              </a:rPr>
              <a:t>Australian Bureau of Statistics (2019). </a:t>
            </a:r>
            <a:r>
              <a:rPr sz="1100" b="0" lang="en-GB">
                <a:solidFill>
                  <a:schemeClr val="tx1"/>
                </a:solidFill>
              </a:rPr>
              <a:t>Retail Trade, Australia, April 2019, cat. no. 8501.0, Table 11. CC BY 4.0.</a:t>
            </a:r>
          </a:p>
          <a:p>
            <a:pPr algn="l">
              <a:spcAft>
                <a:spcPts val="500"/>
              </a:spcAft>
            </a:pPr>
            <a:r>
              <a:rPr sz="1100" b="1" lang="en-GB">
                <a:solidFill>
                  <a:schemeClr val="tx2"/>
                </a:solidFill>
              </a:rPr>
              <a:t>Seabold, S. &amp; Perktold, J. (2010). </a:t>
            </a:r>
            <a:r>
              <a:rPr sz="1100" b="0" lang="en-GB">
                <a:solidFill>
                  <a:schemeClr val="tx1"/>
                </a:solidFill>
              </a:rPr>
              <a:t>statsmodels: Econometric and statistical modeling with Python. Proceedings of the 9th Python in Science Conference.</a:t>
            </a:r>
          </a:p>
        </p:txBody>
      </p:sp>
      <p:sp>
        <p:nvSpPr>
          <p:cNvPr id="20" name="Ref links"/>
          <p:cNvSpPr txBox="1"/>
          <p:nvPr/>
        </p:nvSpPr>
        <p:spPr>
          <a:xfrm>
            <a:off x="457200" y="4636008"/>
            <a:ext cx="8229600" cy="320040"/>
          </a:xfrm>
          <a:prstGeom prst="rect">
            <a:avLst/>
          </a:prstGeom>
          <a:noFill/>
        </p:spPr>
        <p:txBody>
          <a:bodyPr wrap="square" lIns="0" rIns="0" tIns="0" bIns="0" anchor="ctr">
            <a:noAutofit/>
          </a:bodyPr>
          <a:lstStyle/>
          <a:p>
            <a:pPr algn="l">
              <a:spcAft>
                <a:spcPts val="400"/>
              </a:spcAft>
            </a:pPr>
            <a:r>
              <a:rPr sz="1200" b="1" lang="en-GB">
                <a:solidFill>
                  <a:schemeClr val="tx2"/>
                </a:solidFill>
              </a:rPr>
              <a:t>Free textbook: </a:t>
            </a:r>
            <a:r>
              <a:rPr sz="1200" b="0" lang="en-GB">
                <a:solidFill>
                  <a:schemeClr val="tx2"/>
                </a:solidFill>
                <a:latin typeface="Consolas"/>
              </a:rPr>
              <a:t>otexts.com/fpp3</a:t>
            </a:r>
            <a:r>
              <a:rPr sz="1200" b="0" lang="en-GB">
                <a:solidFill>
                  <a:schemeClr val="tx1"/>
                </a:solidFill>
              </a:rPr>
              <a:t>  ·  Python edition: </a:t>
            </a:r>
            <a:r>
              <a:rPr sz="1200" b="0" lang="en-GB">
                <a:solidFill>
                  <a:schemeClr val="tx2"/>
                </a:solidFill>
                <a:latin typeface="Consolas"/>
              </a:rPr>
              <a:t>otexts.com/fpppy</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9" name="Fußzeilenplatzhalter 8"/>
          <p:cNvSpPr>
            <a:spLocks noGrp="1"/>
          </p:cNvSpPr>
          <p:nvPr>
            <p:ph type="ftr" sz="quarter" idx="12"/>
          </p:nvPr>
        </p:nvSpPr>
        <p:spPr/>
        <p:txBody>
          <a:bodyPr/>
          <a:lstStyle/>
          <a:p>
            <a:r>
              <a:rPr lang="en-GB"/>
              <a:t>International Marketing Analytics · WT 2026/27</a:t>
            </a:r>
          </a:p>
        </p:txBody>
      </p:sp>
      <p:sp>
        <p:nvSpPr>
          <p:cNvPr id="10" name="Foliennummernplatzhalter 9"/>
          <p:cNvSpPr>
            <a:spLocks noGrp="1"/>
          </p:cNvSpPr>
          <p:nvPr>
            <p:ph type="sldNum" sz="quarter" idx="13"/>
          </p:nvPr>
        </p:nvSpPr>
        <p:spPr/>
        <p:txBody>
          <a:bodyPr/>
          <a:lstStyle/>
          <a:p>
            <a:r>
              <a:rPr lang="en-GB" dirty="0"/>
              <a:t>Page </a:t>
            </a:r>
            <a:fld id="{BE3DC40E-DBBE-4E2D-9EEC-FBF0DA0E9179}" type="slidenum">
              <a:rPr lang="en-GB" smtClean="0"/>
              <a:t>‹Nr.›</a:t>
            </a:fld>
            <a:endParaRPr lang="en-GB" dirty="0"/>
          </a:p>
        </p:txBody>
      </p:sp>
      <p:sp>
        <p:nvSpPr>
          <p:cNvPr id="11" name="Closing title"/>
          <p:cNvSpPr>
            <a:spLocks noGrp="1"/>
          </p:cNvSpPr>
          <p:nvPr>
            <p:ph type="title" idx="4294967295"/>
          </p:nvPr>
        </p:nvSpPr>
        <p:spPr>
          <a:xfrm>
            <a:off x="462407" y="301626"/>
            <a:ext cx="6990906" cy="496799"/>
          </a:xfrm>
        </p:spPr>
        <p:txBody>
          <a:bodyPr/>
          <a:lstStyle/>
          <a:p>
            <a:r>
              <a:rPr lang="en-GB">
                <a:solidFill>
                  <a:schemeClr val="tx2"/>
                </a:solidFill>
              </a:rPr>
              <a:t>Thank you. Questions and discussion</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ELECTEDLANGUAGE" val="English UK"/>
</p:tagLst>
</file>

<file path=ppt/theme/theme1.xml><?xml version="1.0" encoding="utf-8"?>
<a:theme xmlns:a="http://schemas.openxmlformats.org/drawingml/2006/main" name="WU 16:10">
  <a:themeElements>
    <a:clrScheme name="WU">
      <a:dk1>
        <a:srgbClr val="000000"/>
      </a:dk1>
      <a:lt1>
        <a:srgbClr val="FFFFFF"/>
      </a:lt1>
      <a:dk2>
        <a:srgbClr val="002350"/>
      </a:dk2>
      <a:lt2>
        <a:srgbClr val="E5F5FA"/>
      </a:lt2>
      <a:accent1>
        <a:srgbClr val="0096D3"/>
      </a:accent1>
      <a:accent2>
        <a:srgbClr val="002350"/>
      </a:accent2>
      <a:accent3>
        <a:srgbClr val="4B2582"/>
      </a:accent3>
      <a:accent4>
        <a:srgbClr val="457AA0"/>
      </a:accent4>
      <a:accent5>
        <a:srgbClr val="A592C0"/>
      </a:accent5>
      <a:accent6>
        <a:srgbClr val="80CFE9"/>
      </a:accent6>
      <a:hlink>
        <a:srgbClr val="405A7C"/>
      </a:hlink>
      <a:folHlink>
        <a:srgbClr val="0082AA"/>
      </a:folHlink>
    </a:clrScheme>
    <a:fontScheme name="WU neu">
      <a:majorFont>
        <a:latin typeface="Georgi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WU Farbschema neu">
        <a:dk1>
          <a:srgbClr val="000000"/>
        </a:dk1>
        <a:lt1>
          <a:sysClr val="window" lastClr="FFFFFF"/>
        </a:lt1>
        <a:dk2>
          <a:srgbClr val="002E60"/>
        </a:dk2>
        <a:lt2>
          <a:srgbClr val="E5F5FA"/>
        </a:lt2>
        <a:accent1>
          <a:srgbClr val="0096D3"/>
        </a:accent1>
        <a:accent2>
          <a:srgbClr val="002E60"/>
        </a:accent2>
        <a:accent3>
          <a:srgbClr val="532481"/>
        </a:accent3>
        <a:accent4>
          <a:srgbClr val="457AA0"/>
        </a:accent4>
        <a:accent5>
          <a:srgbClr val="A991C0"/>
        </a:accent5>
        <a:accent6>
          <a:srgbClr val="7FCAE9"/>
        </a:accent6>
        <a:hlink>
          <a:srgbClr val="406288"/>
        </a:hlink>
        <a:folHlink>
          <a:srgbClr val="008FAA"/>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WU Sample Presentation 16x10 V1.1.potx" id="{74DD536C-D372-4256-BA4D-24C734E7AF81}" vid="{99E22345-25BB-45DF-85CE-FC929AE6991A}"/>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Kategorie xmlns="dde413db-0745-4f3a-8dca-564dc7ff6f7d">Präsentationen</Kategorie>
    <Beschreibung xmlns="dde413db-0745-4f3a-8dca-564dc7ff6f7d">Sample presenation in format 16:10 (= WU standard)</Beschreibung>
    <TaxCatchAll xmlns="08b0a3ee-3d2a-451c-9a1a-7e5d5b0c9c77">
      <Value>266</Value>
      <Value>403</Value>
    </TaxCatchAll>
    <DokumentenartTaxHTField0 xmlns="1a8d9a65-8471-4209-a900-f8e11db75e0a">
      <Terms xmlns="http://schemas.microsoft.com/office/infopath/2007/PartnerControls">
        <TermInfo xmlns="http://schemas.microsoft.com/office/infopath/2007/PartnerControls">
          <TermName xmlns="http://schemas.microsoft.com/office/infopath/2007/PartnerControls">Vorlagen</TermName>
          <TermId xmlns="http://schemas.microsoft.com/office/infopath/2007/PartnerControls">17fc50ed-8ad1-47be-ab12-04243fd74ddb</TermId>
        </TermInfo>
      </Terms>
    </DokumentenartTaxHTField0>
    <WU_x0020_ThemaTaxHTField0 xmlns="1a8d9a65-8471-4209-a900-f8e11db75e0a">
      <Terms xmlns="http://schemas.microsoft.com/office/infopath/2007/PartnerControls">
        <TermInfo xmlns="http://schemas.microsoft.com/office/infopath/2007/PartnerControls">
          <TermName xmlns="http://schemas.microsoft.com/office/infopath/2007/PartnerControls">Corporate Design</TermName>
          <TermId xmlns="http://schemas.microsoft.com/office/infopath/2007/PartnerControls">19895bcd-b158-45ae-ab7b-f5ca217dfcec</TermId>
        </TermInfo>
      </Terms>
    </WU_x0020_ThemaTaxHTField0>
    <Format xmlns="dde413db-0745-4f3a-8dca-564dc7ff6f7d">Microsoft Office 2013/2016</Format>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BCF651A35DF3154DB01328AF51148DAE" ma:contentTypeVersion="1" ma:contentTypeDescription="Ein neues Dokument erstellen." ma:contentTypeScope="" ma:versionID="458c1b80f8d593bdc96b60ff34dd40b4">
  <xsd:schema xmlns:xsd="http://www.w3.org/2001/XMLSchema" xmlns:xs="http://www.w3.org/2001/XMLSchema" xmlns:p="http://schemas.microsoft.com/office/2006/metadata/properties" xmlns:ns2="1a8d9a65-8471-4209-a900-f8e11db75e0a" xmlns:ns3="08b0a3ee-3d2a-451c-9a1a-7e5d5b0c9c77" xmlns:ns4="dde413db-0745-4f3a-8dca-564dc7ff6f7d" targetNamespace="http://schemas.microsoft.com/office/2006/metadata/properties" ma:root="true" ma:fieldsID="2d31116d1a6b5af1b4a8b1ba7152d57a" ns2:_="" ns3:_="" ns4:_="">
    <xsd:import namespace="1a8d9a65-8471-4209-a900-f8e11db75e0a"/>
    <xsd:import namespace="08b0a3ee-3d2a-451c-9a1a-7e5d5b0c9c77"/>
    <xsd:import namespace="dde413db-0745-4f3a-8dca-564dc7ff6f7d"/>
    <xsd:element name="properties">
      <xsd:complexType>
        <xsd:sequence>
          <xsd:element name="documentManagement">
            <xsd:complexType>
              <xsd:all>
                <xsd:element ref="ns2:WU_x0020_ThemaTaxHTField0" minOccurs="0"/>
                <xsd:element ref="ns3:TaxCatchAll" minOccurs="0"/>
                <xsd:element ref="ns2:DokumentenartTaxHTField0" minOccurs="0"/>
                <xsd:element ref="ns4:Beschreibung" minOccurs="0"/>
                <xsd:element ref="ns4:Format" minOccurs="0"/>
                <xsd:element ref="ns4:Kategorie" minOccurs="0"/>
                <xsd:element ref="ns3:SharedWithUser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a8d9a65-8471-4209-a900-f8e11db75e0a" elementFormDefault="qualified">
    <xsd:import namespace="http://schemas.microsoft.com/office/2006/documentManagement/types"/>
    <xsd:import namespace="http://schemas.microsoft.com/office/infopath/2007/PartnerControls"/>
    <xsd:element name="WU_x0020_ThemaTaxHTField0" ma:index="9" nillable="true" ma:taxonomy="true" ma:internalName="WU_x0020_ThemaTaxHTField0" ma:taxonomyFieldName="WU_x0020_Thema" ma:displayName="Schlagwort" ma:default="" ma:fieldId="{a2eb3201-e251-4055-97e9-466604fc777f}" ma:taxonomyMulti="true" ma:sspId="59da4ae5-1217-4de6-bd64-b7a740f353bb" ma:termSetId="c1edca97-812b-4584-b6b5-1e5cade81cae" ma:anchorId="00000000-0000-0000-0000-000000000000" ma:open="true" ma:isKeyword="false">
      <xsd:complexType>
        <xsd:sequence>
          <xsd:element ref="pc:Terms" minOccurs="0" maxOccurs="1"/>
        </xsd:sequence>
      </xsd:complexType>
    </xsd:element>
    <xsd:element name="DokumentenartTaxHTField0" ma:index="12" nillable="true" ma:taxonomy="true" ma:internalName="DokumentenartTaxHTField0" ma:taxonomyFieldName="Dokumentenart" ma:displayName="Dokumentenart" ma:default="" ma:fieldId="{0f2e647f-32b7-4850-b6be-ae358ed71e70}" ma:taxonomyMulti="true" ma:sspId="59da4ae5-1217-4de6-bd64-b7a740f353bb" ma:termSetId="325756d7-e24e-4b6f-ba71-3f779d34c1ea" ma:anchorId="00000000-0000-0000-0000-000000000000" ma:open="fals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08b0a3ee-3d2a-451c-9a1a-7e5d5b0c9c77" elementFormDefault="qualified">
    <xsd:import namespace="http://schemas.microsoft.com/office/2006/documentManagement/types"/>
    <xsd:import namespace="http://schemas.microsoft.com/office/infopath/2007/PartnerControls"/>
    <xsd:element name="TaxCatchAll" ma:index="10" nillable="true" ma:displayName="Taxonomy Catch All Column" ma:description="" ma:hidden="true" ma:list="{6a103bb8-3913-4e3b-a229-080a76572464}" ma:internalName="TaxCatchAll" ma:showField="CatchAllData" ma:web="08b0a3ee-3d2a-451c-9a1a-7e5d5b0c9c77">
      <xsd:complexType>
        <xsd:complexContent>
          <xsd:extension base="dms:MultiChoiceLookup">
            <xsd:sequence>
              <xsd:element name="Value" type="dms:Lookup" maxOccurs="unbounded" minOccurs="0" nillable="true"/>
            </xsd:sequence>
          </xsd:extension>
        </xsd:complexContent>
      </xsd:complexType>
    </xsd:element>
    <xsd:element name="SharedWithUsers" ma:index="16" nillable="true" ma:displayName="Freigegeben für"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de413db-0745-4f3a-8dca-564dc7ff6f7d" elementFormDefault="qualified">
    <xsd:import namespace="http://schemas.microsoft.com/office/2006/documentManagement/types"/>
    <xsd:import namespace="http://schemas.microsoft.com/office/infopath/2007/PartnerControls"/>
    <xsd:element name="Beschreibung" ma:index="13" nillable="true" ma:displayName="Beschreibung" ma:internalName="Beschreibung">
      <xsd:simpleType>
        <xsd:restriction base="dms:Note">
          <xsd:maxLength value="255"/>
        </xsd:restriction>
      </xsd:simpleType>
    </xsd:element>
    <xsd:element name="Format" ma:index="14" nillable="true" ma:displayName="Format" ma:format="Dropdown" ma:internalName="Format">
      <xsd:simpleType>
        <xsd:union memberTypes="dms:Text">
          <xsd:simpleType>
            <xsd:restriction base="dms:Choice">
              <xsd:enumeration value="LaTeX"/>
              <xsd:enumeration value="Microsoft Office 2003"/>
              <xsd:enumeration value="Microsoft Office 2007-2013"/>
              <xsd:enumeration value="Microsoft Office 2013/2016"/>
              <xsd:enumeration value="OpenOffice 3.0"/>
            </xsd:restriction>
          </xsd:simpleType>
        </xsd:union>
      </xsd:simpleType>
    </xsd:element>
    <xsd:element name="Kategorie" ma:index="15" nillable="true" ma:displayName="Kategorie" ma:default="Anleitungen" ma:format="Dropdown" ma:internalName="Kategorie">
      <xsd:simpleType>
        <xsd:union memberTypes="dms:Text">
          <xsd:simpleType>
            <xsd:restriction base="dms:Choice">
              <xsd:enumeration value="Anleitungen"/>
              <xsd:enumeration value="Aushänge für Lift und Tür"/>
              <xsd:enumeration value="Basisvorlagen"/>
              <xsd:enumeration value="Brief-/Faxvorlagen"/>
              <xsd:enumeration value="Einladungen"/>
              <xsd:enumeration value="Etiketten"/>
              <xsd:enumeration value="Musterdateien"/>
              <xsd:enumeration value="Namensschilder"/>
              <xsd:enumeration value="Präsentationen"/>
              <xsd:enumeration value="Skripten-Cover"/>
            </xsd:restriction>
          </xsd:simpleType>
        </xsd:un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5929A89-D8E6-4794-A98F-6609FAAECB3B}">
  <ds:schemaRefs>
    <ds:schemaRef ds:uri="http://schemas.microsoft.com/office/2006/metadata/properties"/>
    <ds:schemaRef ds:uri="http://schemas.microsoft.com/office/infopath/2007/PartnerControls"/>
    <ds:schemaRef ds:uri="dde413db-0745-4f3a-8dca-564dc7ff6f7d"/>
    <ds:schemaRef ds:uri="08b0a3ee-3d2a-451c-9a1a-7e5d5b0c9c77"/>
    <ds:schemaRef ds:uri="1a8d9a65-8471-4209-a900-f8e11db75e0a"/>
  </ds:schemaRefs>
</ds:datastoreItem>
</file>

<file path=customXml/itemProps2.xml><?xml version="1.0" encoding="utf-8"?>
<ds:datastoreItem xmlns:ds="http://schemas.openxmlformats.org/officeDocument/2006/customXml" ds:itemID="{D81AF645-C4BF-4115-A9DE-6B087264731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a8d9a65-8471-4209-a900-f8e11db75e0a"/>
    <ds:schemaRef ds:uri="08b0a3ee-3d2a-451c-9a1a-7e5d5b0c9c77"/>
    <ds:schemaRef ds:uri="dde413db-0745-4f3a-8dca-564dc7ff6f7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E89857B5-BC10-4782-8A0F-717F20E5E2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WU Sample Presentation 16x10</Template>
  <TotalTime>0</TotalTime>
  <Words>1441</Words>
  <Application>Microsoft Office PowerPoint</Application>
  <PresentationFormat>Bildschirmpräsentation (16:10)</PresentationFormat>
  <Paragraphs>207</Paragraphs>
  <Slides>26</Slides>
  <Notes>26</Notes>
  <HiddenSlides>0</HiddenSlides>
  <MMClips>0</MMClips>
  <ScaleCrop>false</ScaleCrop>
  <HeadingPairs>
    <vt:vector size="6" baseType="variant">
      <vt:variant>
        <vt:lpstr>Verwendete Schriftarten</vt:lpstr>
      </vt:variant>
      <vt:variant>
        <vt:i4>4</vt:i4>
      </vt:variant>
      <vt:variant>
        <vt:lpstr>Design</vt:lpstr>
      </vt:variant>
      <vt:variant>
        <vt:i4>1</vt:i4>
      </vt:variant>
      <vt:variant>
        <vt:lpstr>Folientitel</vt:lpstr>
      </vt:variant>
      <vt:variant>
        <vt:i4>26</vt:i4>
      </vt:variant>
    </vt:vector>
  </HeadingPairs>
  <TitlesOfParts>
    <vt:vector size="31" baseType="lpstr">
      <vt:lpstr>Arial</vt:lpstr>
      <vt:lpstr>Georgia</vt:lpstr>
      <vt:lpstr>Verdana</vt:lpstr>
      <vt:lpstr>Wingdings</vt:lpstr>
      <vt:lpstr>WU 16:10</vt:lpstr>
      <vt:lpstr>WU Presentation Template incl. Samples</vt:lpstr>
      <vt:lpstr>Basics</vt:lpstr>
      <vt:lpstr>Available slide layouts – overview</vt:lpstr>
      <vt:lpstr>Make use of the slide layouts</vt:lpstr>
      <vt:lpstr>Designing text slides</vt:lpstr>
      <vt:lpstr>Insert footer information</vt:lpstr>
      <vt:lpstr>Toner- and ink-reduced printing</vt:lpstr>
      <vt:lpstr>Sample Slides</vt:lpstr>
      <vt:lpstr>Layout „Titelfolie“ –  font Georgia 32 pt</vt:lpstr>
      <vt:lpstr>Layout „Titelfolie kurz“</vt:lpstr>
      <vt:lpstr>Layout „Titelfolie ohne Bild“ – for 2 lines of text</vt:lpstr>
      <vt:lpstr>Titleslide w/o pic. short</vt:lpstr>
      <vt:lpstr>Layout „Titelfolie Bild 2“ – for 2 lines of text</vt:lpstr>
      <vt:lpstr>Layout „Titelfolie Bild 3“ – for 2 lines of text</vt:lpstr>
      <vt:lpstr>Layout „Titel und Inhalt“ for title and content – font Georgia 24 pt</vt:lpstr>
      <vt:lpstr>Layout without footer for large graphics, tables or charts</vt:lpstr>
      <vt:lpstr>Layout “Zwei Inhalte” with two placeholders for different content types</vt:lpstr>
      <vt:lpstr>Layout „Vergleich“ – e.g. for comparison</vt:lpstr>
      <vt:lpstr>Sample table</vt:lpstr>
      <vt:lpstr>Sample for simple graphics  (based on SmartArt)</vt:lpstr>
      <vt:lpstr>Sample organizational chart  (based on SmartArt)</vt:lpstr>
      <vt:lpstr>Sample for bar chart </vt:lpstr>
      <vt:lpstr>Sample for column chart </vt:lpstr>
      <vt:lpstr>Sample for line chart </vt:lpstr>
      <vt:lpstr>Sample for doughnut chart </vt:lpstr>
      <vt:lpstr> </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2023-08-25T07:52:25Z</dcterms:created>
  <dcterms:modified xsi:type="dcterms:W3CDTF">2023-08-25T07:53:01Z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WU Thema">
    <vt:lpwstr>403;#Corporate Design|19895bcd-b158-45ae-ab7b-f5ca217dfcec</vt:lpwstr>
  </property>
  <property fmtid="{D5CDD505-2E9C-101B-9397-08002B2CF9AE}" pid="3" name="Dokumentenart">
    <vt:lpwstr>266;#Vorlagen|17fc50ed-8ad1-47be-ab12-04243fd74ddb</vt:lpwstr>
  </property>
  <property fmtid="{D5CDD505-2E9C-101B-9397-08002B2CF9AE}" pid="4" name="ContentTypeId">
    <vt:lpwstr>0x010100BCF651A35DF3154DB01328AF51148DAE</vt:lpwstr>
  </property>
</Properties>
</file>