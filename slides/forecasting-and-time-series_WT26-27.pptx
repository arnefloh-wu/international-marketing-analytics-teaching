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session on forecasting and time series. Forecasting is planning: how much will we sell next week, next quarter, next December? We start with two tiny shops whose numbers fit on a calculator, so that you can check every forecast by hand. Then we take real monthly retail data and end with the same analysis in Python. The code is in sessions/01-foundations/forecasting.qmd.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theory parts on two tiny shops, then real data, Python and the in-class exercise. Part 1 names what we see in a time plot. Part 2 computes simple forecasts by hand, and every one of them can be checked with a calculator. Part 3 asks which forecast to trust. Parts 4 to 6 bring a real series, the Python code and the exercise. Keep the question of the day in mind: every part answers a piece of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business question. A marketing manager has to decide before demand arrives: how much stock to order before the peak, how many staff to put on the busy weeks, and when to spend the media budget. A third use: the lift of a campaign is actual sales minus the forecast without the campaign. Our two shops are invented, so that every number can be checked by hand; the phone shop can be read as one shop of the mobile operator from the churn session. Ask the room: what do you forecast in your own job or internship?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time series is one value per period, in time order, with equal steps. Each value here is one period: a week for the phone shop, a quarter for the chocolate shop. The long file has the columns example, period, value, 20 rows; the first row is contracts, 1, 40, the last row is webshop, 12, 40. Unlike the churn data, the rows cannot be shuffled: the order is the information. Real data later have a date column (the month) instead of a period number. Ask: which row would you forecast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time plot, with the period on the x axis and the value on the y axis, is step one of every forecast. The phone shop rises by about 2 contracts a week, with two small dips in weeks 3 and 6. The chocolate shop rises every year and peaks at Christmas: Q4 sales are 30, 35 and 40 k EUR. Ask the room for a guess for week 9 and for Q4 of year 4, and keep the guesses for Part 2 (slides 11 to 16).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gives us four words for what we see in a time plot: trend, season, cycle and irregular. Then one question about the size of the season: does it stay the same or grow with the level? And finally the one property most forecasting methods need: a stationary series.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series can be read as four parts. The trend is the long-run direction; the season is a pattern that repeats every year with a fixed length, such as Christmas or summer; the cycle is ups and downs over several years without a fixed length, driven by the economy; the irregular part is what is left: noise and one-off events. Trend and cycle are often estimated together as the trend-cycle (Hyndman and Athanasopoulos, FPP3, chapter 3). The clothing series of Part 4 shows a cycle: flat to 2012, then growth (slide 23). The irregular part cannot be forecast, which is why every forecast needs a band (slide 27).</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season can stay the same size or grow with the level. In the chocolate shop the Q4 gaps to the year mean are +8.5, +9.5 and +10.5 k EUR: close to constant, so an additive season is fine. In the Australian clothing data the December swing grows from about +890 AUD m in 2009 to +1,257 AUD m in 2018: a multiplicative season. So in Part 4 we use logs or multiplicative models (slides 23 and 25). Logs turn percentages into constant gaps, which makes a multiplicative season additive.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Stationary means that the mean, the spread and the link between neighbouring periods do not change over time: the correlation between two periods depends only on the lag; trend and season break it. It matters because ARIMA-type models, and the standard errors of a regression, assume that the past looks like the future. Differencing is the fix: for the phone shop the changes are +4, −2, +4, +4, −1, +4, +1, on average +2 a week, the drift of slide 11; a seasonal difference compares December with last December. On real data we test stationarity with the ADF test (slide 24). Ask: is the chocolate shop stationary?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gives a manager five ideas that work on a calculator: no change, same change, averages, smoothing and regression. They give six forecasts for the same number, new contracts in week 9 of the phone shop, from the 8 weeks we know: naive, drift, the mean, a moving average, exponential smoothing and the trend regression. Then we add the season, with the chocolate shop and its Christmas quarter. Keep the results in mind: Part 3 tests which rule would have been best. Bring out your calculator.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forecast is the value we predict for a future period; the horizon is how many periods ahead, here one week. Naive, or no change, takes the last value: week 9 = week 8 = 54. It sounds too simple, but it is hard to beat for prices, stock markets and anything that wanders like a random walk. Drift, or same change, adds the average change per week: the 7 changes of slide 9 (+4, −2, +4, +4, −1, +4, +1) add up to 54 − 40, so their average is (54 − 40) / 7 = 2, the slope of the line from week 1 to week 8; week 9 is 56 and week 10 would be 58. Ask the room: which of the two would you trust after a one-off promotion in week 8?</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mean is the average of all past values: 378 / 8 = 47.25. It treats week 1 like week 8, which is fine for a series without trend and poor here. A moving average keeps only the last k weeks; with k = 3 it is (49 + 53 + 54) / 3 = 52. A small k reacts faster, a large k smooths more. Both put a flat line into the future, so both stay below this week's 54 while the shop grows. In Part 4 the 12-month moving average of clothing sales flattens the December peak away (slide 26).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exponential smoothing keeps one number, the level, and updates it every week: α times the new value plus 1 − α times the old level. Read the table row by row: week 2 is 0.5 × 44 + 0.5 × 40 = 42, and so on, until the level after week 8, 52.25, which is the forecast for week 9. It is a weighted average whose weights shrink by 1 − α per week back: with α 0.5 the last week counts 0.5, the week before 0.25, then 0.125. We start with the first value as the first level (software estimates the start); α 0.2 moves more slowly, with levels 40, 40.80, 41.04, 42.03, 43.63, 44.70, 46.36, 47.89, so it gives 47.89; α 1 is naive (54). The forecast is flat, so it lags behind a trend: Holt adds a trend and Holt-Winters a season (slide 25); statsmodels picks α by minimising the errors (α 0.078 for clothing in Part 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ordinary regression from the statistics session, with time t = 1, 2, … 8 as the only x. By hand: t̄ = 4.5 and ȳ = 47.25; the deviations t − t̄ run from −3.5 to +3.5, their squares add up to 42, and the products (t − t̄)(y − ȳ) add up to 84. So the slope is 84 / 42 = 2 contracts a week, the same as drift here, and the line goes through the middle point: b0 = 38.25. Week 9 is 56.25, week 10 58.25; R² = 1 − 13.5 / 181.5 = 0.926: the squared residuals add up to 13.5, the squared deviations of the weeks from their mean ȳ to 181.5, so the line explains most of the ups and downs. For seasonal data we add dummies (slide 16); in Python smf.ols("value ~ t", ...), qmd Step 4. Warn early: OLS assumes independent errors, which time series often violate (slide 28).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of a quarter is its value minus the mean of its year: Q4 of year 1 is 30 − 21.5 = +8.5. The year mean is the year total divided by 4, e.g. 86 / 4 = 21.5. Averaged over the three years, the gaps give the seasonal effect of each quarter: −1.5, −5.5, −2.5, +9.5; the four effects add up to zero. This is a classical additive decomposition by hand (slide 8); qmd Step 4 computes it with polars. Ask the room: what is the seasonally adjusted value of Q4 in year 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Seasonal naive is to seasonal data what naive is to data without a season: the benchmark (slide 20). It repeats the same quarter of last year: 28, 24, 26, 40. The regression has a trend t = 1 … 12 and three dummies for Q2, Q3 and Q4 (Q1 is the baseline), so Q4 sits 8 above Q1 at the same t; year 4 is t = 13 to 16: 19 + 1 × 13 = 32; 19 + 1 × 14 − 5 = 28; 19 + 1 × 15 − 3 = 31; 19 + 1 × 16 + 8 = 43. Seasonal naive with drift (last year plus the average yearly change) would give 32, 28, 29, 45. The software estimates the coefficients; on the slide you only plug in t and the quarter dummies. In Python smf.ols("value ~ t + C(quarter)", ...), qmd Step 4. Ask the room: which forecast would you order Christmas stock with?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gave us six rules for week 9, and they give six different answers. Which one should the phone shop trust when it orders handsets and plans staff? The only fair judge is the future, and we do not have it yet. So we pretend that part of the past is the future: we hide the last weeks, forecast them and measure how far off each method is. That is all this part does: hold out, measure, compare.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six week-9 forecasts from slides 11 to 14, sorted: from 47.25 (mean) to 56.25 (trend regression), 9 contracts apart. A good fit to the past says little about the future, because every method can be tuned to fit the weeks it has seen. The holdout imitates real life: we fit each method on what we knew in week 5, forecast weeks 6–8 and check against the actual 49, 53, 54. A random split, as in the churn session, would let the model see the future (week 7 to forecast week 6), so the test weeks always come last. With the real data in Part 4 we do the same, training period 2009–2016 and holdout 2017–2018 (slide 22); a more thorough test moves the forecast origin forward one period at a time (rolling origin, FPP3 §5.10).</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Naive from week 5 forecasts 50 for weeks 6–8. The error is actual minus forecast: −1, +3, +4; we drop the sign before averaging, because −1 and +3 must not cancel (the mean error with its sign, +2.0, is the bias: naive is too low in a rising series). MAE (2.67) is in contracts and easy to explain; RMSE squares first (1, 9, 16, mean 8.67, root 2.94), so one big miss counts more: use it when big misses are expensive, such as stock-outs before Christmas. MAPE (5.0 %) is in per cent and compares series of different size, but breaks down near zero sales (FPP3 §5.8; Hyndman and Koehler, 2006, compare these measures). Slide 26 uses the same measures on real data, and qmd Step 5 computes them in Python. Ask a student for the MAE of drift (forecasts 52.5, 55, 57.5).</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Fitted on weeks 1–5, the six methods forecast weeks 6–8 as follows: trend regression 37.8 + 2.2 × week = 51, 53.2, 55.4; naive 50; drift 52.5, 55, 57.5; exponential smoothing 47; moving average (3) 46; mean 44.4; against the actual 49, 53, 54 this gives the MAE ranking trend regression 1.20, naive 2.67, drift 3.00, exponential smoothing 5.00, moving average (3) 6.00, mean 7.60. With a clear trend the trend line wins and the averages lose, because they lag behind the trend; drift is close to naive here. RMSE (1.41, 2.94, 3.08, 5.45, 6.38, 7.90) and MAPE (2.4, 5.0, 5.8, 9.5, 11.4, 14.5) give the same order. For the chocolate shop, fitted on years 1–2 and tested on year 3, the regression with quarter dummies reaches MAE 0.75, the seasonal naive 4.00, the mean 6.00 and naive 8.00: for seasonal data the seasonal naive is the bar to beat (slide 26 uses it for the real series). Large forecasting competitions such as M4 (Makridakis et al., 2020) also found simple benchmarks hard to beat, but three test weeks are very few: real data next (Part 4; qmd Step 5).</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4 asks the questions of Parts 1 to 3 again, now on ten years of real monthly sales. The frame is a fashion retailer that plans its stock for 2019 from the market's monthly sales. We look at the series, split it into trend and season, check whether it is stationary, compare the methods on a holdout and forecast 2019 with a band. The last slide of the part asks whether we can trust that band.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series is the monthly turnover of clothing, footwear and personal accessory retailing in all of Australia, published by the ABS every month since April 1982. It is not seasonally adjusted, so the December peak stays in (official statistics often publish both versions), and it is in current prices, not adjusted for inflation. We use ten years, 2009–2018, which end before COVID-19, so the holdout has no structural break. Why Australia: the licence is open and FPP3 uses the same series, so you can compare your results with the textbook. The lowest month is February 2009 (1,259 AUD m), the highest December 2018 (3,352); code: qmd Step 1 and slide 31.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STL splits the series as we did by hand for the chocolate shop (slide 15), but lets trend and season change slowly over the years. On a scale from 0 to 1 the strength of the season is 0.99 and of the trend 0.97: both very strong. December alone brings 13.4 per cent of a year's sales, and December 2018 was 47.7 per cent above November. Year totals were flat from 2009 to 2012 (19,546 to 19,780 AUD m) and then grew to 25,077 in 2018: that slow swing is the cycle. The December swing grows with the level, from +890 to +1,257, so the season is multiplicative (slide 8) and we use logs or multiplicative models; code: qmd Step 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ADF stands for the augmented Dickey–Fuller test (Dickey &amp; Fuller, 1979). Its null hypothesis is “the series wanders” (a unit root), so a small p is good news here. Sales and log sales clearly wander (p 0.992 and 0.987). One change on last month or one change on the same month last year already passes at 5 per cent (0.011 and 0.003); both changes of the log together pass clearly. ADF checks wandering, not the season; that is why we take both changes: the change on last month still has the December peak in it, and the row “change on last year” means the change on the same month a year ago. A second test, KPSS, has the opposite null (stationary) and agrees for the double difference (p 0.100, which means 0.10 or more); do not difference more than needed (FPP3 §9.1; code: qmd Step 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Holt-Winters is simple exponential smoothing (slide 13) with two more smoothed parts, trend and season. Fitted on 2009–2016, the multiplicative version has α 0.156, β 0.090 and γ 0.000; γ = 0 means it keeps its first seasonal pattern. ETS(M,A,M), with multiplicative errors, additive trend and multiplicative season, is the state-space version (Hyndman et al., 2008): it is fitted differently and here forecasts better than Holt-Winters. SARIMA's two memory terms are θ −0.525 for last month and Θ −0.713 for last year; its residuals show no autocorrelation left (Ljung–Box at lag 24, p 0.265); it is the classic “airline model” of Box &amp; Jenkins, and its first step is the differencing of slide 24. The full ARIMA family of the original deck (AR, MA, ACF fingerprints) is in FPP3 chapter 9 for those who want more. Code: qmd Step 2 and slide 32.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methods are fitted on 2009–2016 and forecast the 24 months of 2017–2018, 1 to 24 months ahead; the log regression wins on MAE, RMSE and MAPE (54.5, 69.3, 2.5 %), though it was too low in 20 of the 24 months. The plain regression (67.0) beats the seasonal naive (67.2) by only 0.2, a tie, and Holt-Winters (96.6) and SARIMA (94.9) lose to it here: test, do not assume. Naive repeats December 2016 (3,330.5) and drift adds 18.81 a month, so both forecast a Christmas every month (mean errors −1,275.8 and −1,510.9). Not in the chart: the moving averages of 12 and 3 months (226.9, 534.2) and the trend regression and Holt (233.0 both; Holt has α = β = 0.000); qmd Step 7 has all fifteen and the December trap numbers, and in the M4 competition, too, simple benchmarks were hard to beat. Ask the room: why does naive work for the phone shop but fail here?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winner, the log regression, is refitted on all 120 months and forecasts the twelve months of 2019. The band says: in 95 of 100 Decembers like this one, sales should fall between 3,178 and 3,702 AUD m; for stock this is the useful number, so order towards the upper part of the band if a stock-out is expensive. The log model is back-transformed with exp(), which gives the median, not the mean (no bias correction). January to April 2019 are real outcomes the model never saw: MAE 19.0, MAPE 1.0 %. SARIMA forecasts December at 3,509 (band 3,227 to 3,816) and ETS at 3,456, close to the regression. Next slide: can we trust this band (code: qmd Step 8)?</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Autocorrelation is the correlation of a series, here of the errors, with itself one period earlier; the log regression's errors on the training months run in long waves, 20 months in a row below zero from October 2010 to May 2012 (Ljung–Box p about 2e-50). OLS assumes each month brings independent news, so it treats 96 months as 96 independent pieces of information, and its band has the same width on the log scale 1 and 12 months ahead. SARIMA models the memory and leaves none (residual autocorrelation −0.05, Ljung–Box p 0.265), so its band widens from 209 in January to 589 in December. To be fair: in January the regression band is wider (309), and January to April 2019 fell inside both bands. The same problem fakes significance when two wandering series are regressed on each other (spurious regression, Granger &amp; Newbold, 1974), so check the errors before you trust a regression on time series (qmd Step 9).</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5 repeats the real-data analysis in three short steps: load and plot, fit Holt-Winters and SARIMA, fit the regression and compare. The full code is in sessions/01-foundations/forecasting.qmd, Steps 1 to 9, which reproduces the results on the slides. Open it in Positron and run it cell by cell.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import statsmodels.tsa.api as tsa gives all the time-series tools under one name: STL, adfuller, ExponentialSmoothing and SARIMAX. The formula API, statsmodels.formula.api as smf, fits the regression with a formula, as in the regression sessions. The install name and the import name differ for great-tables: you install great-tables and import great_tables. The qmd also uses tsa.ETSModel for ETS (Step 7) and acf and acorr_ljungbox for the residual check (Step 9).</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 sits two folders up from the qmd, hence ../../data. try_parse_dates=True turns the month column into dates, and the filter keeps 2009 to 2018, 120 months. numpy arrays are enough for the models. y[-24:] is the holdout because the rows are in time order: never shuffle a time series. The plot is the one on slide 22: look at it before you fit anything.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ExponentialSmoothing, trend="add" with seasonal="mul" is the multiplicative Holt-Winters of slide 25, and seasonal_periods=12 tells it that the data are monthly. np.resize(train[-12:], 24) repeats the last training year twice: that is the seasonal naive. order=(0, 1, 1) means one difference and one memory term; seasonal_order=(0, 1, 1, 12) does the same at lag 12, one year. SARIMA is fitted on log sales, so np.exp() brings its forecast back to AUD m; disp=0 silences the optimiser.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column t counts the months 1 to 120, and C(m) turns the month number into 11 dummies with January as the baseline, as for the quarters of the chocolate shop (slide 16). The model is fitted on the first 96 rows and predicts the last 24 on the log scale; np.exp() brings the forecast back. The loop computes the three measures of slide 19 for every method. The qmd prints the full table with great_tables and adds ETS (Step 7), the 2019 bands (Step 8) and the residual check (Step 9).</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part hands the methods over to you. First a five-question online quiz on the whole session, then we go through it together. Then you work in pairs on a second real series, café and restaurant sales in Australia, with the code of forecasting.qmd. Finally you repeat the same tasks with Posit Assistant and check its numbers against your own.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quiz on Canvas: three minutes alone, then compare with your neighbour. Question 1 goes back to drift on slide 11, question 2 to exponential smoothing on slide 13, question 3 to the error measures on slide 19, question 4 to the December trap on slide 26 and question 5 to the ADF test on slide 24. Ask for a show of hands per option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answers follow in class.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pairs with the packages for 35 minutes, then five minutes in the plenary, then ten minutes with Posit Assistant (next slide). Open forecasting_exercise.qmd: the setup cell loads the cafés series and the café bookings of task 1 are typed in it; the other cells are empty, and the step numbers point to the code in forecasting.qmd. Task 1 is on paper first, then a check in Python. Fast pairs do the extra task: ETS(M,A,M) with tsa.ETSModel, added to the table of task 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routine of the earlier sessions. Solve the tasks with your own code first and keep the setup cell run, so Posit Assistant sees cafes, df, y, train, test and BOOKINGS. Open the chat, type @forecasting_exercise.qmd and give one task per prompt; the four prompts are also in the Posit section of forecasting_exercise.qmd. Typical slips to watch: a random train/test split, the log forecast not transformed back with np.exp(), the seasonal naive misaligned (it must repeat the last 12 training months), accuracy measured on the training months, and the regression band trusted although its errors are autocorrelated. Stay in Normal mode and read every edit before you accept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open sources for your own forecasting project; the links and loading code are in the appendix of forecasting.qmd. The ABS file 8501.0, Table 11, has every state and retail industry; the workbook copy we used is named in data/get_forecasting_data.py. The Eurostat datasets are sts_trtu_m (retail trade) and tour_occ_nim (tourism nights), the codes of the original deck's task 4, useful for a cross-country project in this course: compare the same series across EU markets. M5 is the data of the 2020 M5 competition (Makridakis, Spiliotis &amp; Assimakopoulos 2022): hierarchical store and product sales with prices and calendar events. The licence decides what may go into a public repository.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per takeaway. Plot the series first and name what you see: trend, season, cycle and irregular, and whether the season is additive or multiplicative. Start with the simple forecasts you can compute on a calculator. Judge every method on held-out periods with MAE, RMSE and MAPE, never on the months it was fitted on, and keep a method only if it beats the simplest benchmark, the seasonal naive on seasonal data. Report the 95 per cent band with the forecast and check the residuals: autocorrelated errors make the band too narrow. Next: run forecasting.qmd from top to bottom; it reproduces the results on the slides.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free textbook by Hyndman and Athanasopoulos: chapter 3 on time series decomposition, chapter 5 on the simple benchmark methods and forecast accuracy, chapter 8 on exponential smoothing and chapter 9 on ARIMA models; a Python edition is online too. Box, Jenkins, Reinsel and Ljung is the classic reference for ARIMA, Cleveland et al. for the STL decomposition on slide 23, and Hyndman and Koehler for the error measures on slide 19. The M-competitions are the evidence behind “beat the simplest benchmark first”: in the M4 competition simple benchmarks were hard to beat and combinations of methods did well; M5 is the Walmart data of slide 39.</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9.png"/><Relationship Id="rId4"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3.png"/><Relationship Id="rId4" Type="http://schemas.openxmlformats.org/officeDocument/2006/relationships/image" Target="../media/image3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3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3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3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3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4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2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44.png"/><Relationship Id="rId4" Type="http://schemas.openxmlformats.org/officeDocument/2006/relationships/image" Target="../media/image4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Forecasting and</a:t>
            </a:r>
            <a:br/>
            <a:r>
              <a:rPr lang="en-GB"/>
              <a:t>time series</a:t>
            </a:r>
          </a:p>
        </p:txBody>
      </p:sp>
      <p:sp>
        <p:nvSpPr>
          <p:cNvPr id="3" name="Subtitle 2"/>
          <p:cNvSpPr>
            <a:spLocks noGrp="1"/>
          </p:cNvSpPr>
          <p:nvPr>
            <p:ph type="subTitle" idx="1"/>
          </p:nvPr>
        </p:nvSpPr>
        <p:spPr/>
        <p:txBody>
          <a:bodyPr/>
          <a:lstStyle/>
          <a:p>
            <a:r>
              <a:rPr lang="en-GB"/>
              <a:t>International Marketing Analytics</a:t>
            </a:r>
          </a:p>
        </p:txBody>
      </p:sp>
      <p:sp>
        <p:nvSpPr>
          <p:cNvPr id="4" name="Text Placeholder 3"/>
          <p:cNvSpPr>
            <a:spLocks noGrp="1"/>
          </p:cNvSpPr>
          <p:nvPr>
            <p:ph type="body" idx="12" sz="quarter"/>
          </p:nvPr>
        </p:nvSpPr>
        <p:spPr/>
        <p:txBody>
          <a:bodyPr/>
          <a:lstStyle/>
          <a:p>
            <a:r>
              <a:rPr lang="en-GB"/>
              <a:t>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Concepts</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By</a:t>
            </a:r>
            <a:br/>
            <a:r>
              <a:rPr sz="1100" b="1" lang="en-GB">
                <a:solidFill>
                  <a:schemeClr val="tx2"/>
                </a:solidFill>
              </a:rPr>
              <a:t>hand</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How</a:t>
            </a:r>
            <a:br/>
            <a:r>
              <a:rPr sz="1100" b="1" lang="en-GB">
                <a:solidFill>
                  <a:schemeClr val="tx2"/>
                </a:solidFill>
              </a:rPr>
              <a:t>good?</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Real</a:t>
            </a:r>
            <a:br/>
            <a:r>
              <a:rPr sz="1100" b="1" lang="en-GB">
                <a:solidFill>
                  <a:schemeClr val="tx2"/>
                </a:solidFill>
              </a:rPr>
              <a:t>data</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p>
        </p:txBody>
      </p:sp>
      <p:sp>
        <p:nvSpPr>
          <p:cNvPr id="16" name="Theory card body"/>
          <p:cNvSpPr/>
          <p:nvPr/>
        </p:nvSpPr>
        <p:spPr>
          <a:xfrm>
            <a:off x="457200" y="23317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heory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heory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Theory, Parts 1 to 3</a:t>
            </a:r>
          </a:p>
        </p:txBody>
      </p:sp>
      <p:pic>
        <p:nvPicPr>
          <p:cNvPr id="19" name="Icon Theory card" descr=""/>
          <p:cNvPicPr>
            <a:picLocks noChangeAspect="1"/>
          </p:cNvPicPr>
          <p:nvPr/>
        </p:nvPicPr>
        <p:blipFill>
          <a:blip r:embed="rId3"/>
          <a:stretch>
            <a:fillRect/>
          </a:stretch>
        </p:blipFill>
        <p:spPr>
          <a:xfrm>
            <a:off x="4064508" y="1970532"/>
            <a:ext cx="310896" cy="310896"/>
          </a:xfrm>
          <a:prstGeom prst="rect">
            <a:avLst/>
          </a:prstGeom>
        </p:spPr>
      </p:pic>
      <p:sp>
        <p:nvSpPr>
          <p:cNvPr id="20" name="Theory card text"/>
          <p:cNvSpPr txBox="1"/>
          <p:nvPr/>
        </p:nvSpPr>
        <p:spPr>
          <a:xfrm>
            <a:off x="621792" y="24688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Trend, season, cycle, stationarity</a:t>
            </a:r>
          </a:p>
          <a:p>
            <a:pPr algn="l" marL="182880" indent="-182880">
              <a:spcAft>
                <a:spcPts val="600"/>
              </a:spcAft>
              <a:buClr>
                <a:schemeClr val="accent1"/>
              </a:buClr>
              <a:buFont typeface="Arial"/>
              <a:buChar char="▪"/>
            </a:pPr>
            <a:r>
              <a:rPr sz="1300" b="0" lang="en-GB">
                <a:solidFill>
                  <a:schemeClr val="tx1"/>
                </a:solidFill>
              </a:rPr>
              <a:t>Simple forecasts by hand</a:t>
            </a:r>
          </a:p>
          <a:p>
            <a:pPr algn="l" marL="182880" indent="-182880">
              <a:spcAft>
                <a:spcPts val="600"/>
              </a:spcAft>
              <a:buClr>
                <a:schemeClr val="accent1"/>
              </a:buClr>
              <a:buFont typeface="Arial"/>
              <a:buChar char="▪"/>
            </a:pPr>
            <a:r>
              <a:rPr sz="1300" b="0" lang="en-GB">
                <a:solidFill>
                  <a:schemeClr val="tx1"/>
                </a:solidFill>
              </a:rPr>
              <a:t>How good is a forecast?</a:t>
            </a:r>
          </a:p>
        </p:txBody>
      </p:sp>
      <p:sp>
        <p:nvSpPr>
          <p:cNvPr id="21" name="Practice card body"/>
          <p:cNvSpPr/>
          <p:nvPr/>
        </p:nvSpPr>
        <p:spPr>
          <a:xfrm>
            <a:off x="4640580" y="23317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actice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ractice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Practice, Parts 4 to 6</a:t>
            </a:r>
          </a:p>
        </p:txBody>
      </p:sp>
      <p:pic>
        <p:nvPicPr>
          <p:cNvPr id="24" name="Icon Practice card" descr=""/>
          <p:cNvPicPr>
            <a:picLocks noChangeAspect="1"/>
          </p:cNvPicPr>
          <p:nvPr/>
        </p:nvPicPr>
        <p:blipFill>
          <a:blip r:embed="rId4"/>
          <a:stretch>
            <a:fillRect/>
          </a:stretch>
        </p:blipFill>
        <p:spPr>
          <a:xfrm>
            <a:off x="8247888" y="1970532"/>
            <a:ext cx="310896" cy="310896"/>
          </a:xfrm>
          <a:prstGeom prst="rect">
            <a:avLst/>
          </a:prstGeom>
        </p:spPr>
      </p:pic>
      <p:sp>
        <p:nvSpPr>
          <p:cNvPr id="25" name="Practice card text"/>
          <p:cNvSpPr txBox="1"/>
          <p:nvPr/>
        </p:nvSpPr>
        <p:spPr>
          <a:xfrm>
            <a:off x="4805172" y="24688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Real data: clothing sales in Australia</a:t>
            </a:r>
          </a:p>
          <a:p>
            <a:pPr algn="l" marL="182880" indent="-182880">
              <a:spcAft>
                <a:spcPts val="600"/>
              </a:spcAft>
              <a:buClr>
                <a:schemeClr val="accent1"/>
              </a:buClr>
              <a:buFont typeface="Arial"/>
              <a:buChar char="▪"/>
            </a:pPr>
            <a:r>
              <a:rPr sz="1300" b="0" lang="en-GB">
                <a:solidFill>
                  <a:schemeClr val="tx1"/>
                </a:solidFill>
              </a:rPr>
              <a:t>Python: polars, plotnine, statsmodels</a:t>
            </a:r>
          </a:p>
          <a:p>
            <a:pPr algn="l" marL="182880" indent="-182880">
              <a:spcAft>
                <a:spcPts val="600"/>
              </a:spcAft>
              <a:buClr>
                <a:schemeClr val="accent1"/>
              </a:buClr>
              <a:buFont typeface="Arial"/>
              <a:buChar char="▪"/>
            </a:pPr>
            <a:r>
              <a:rPr sz="1300" b="0" lang="en-GB">
                <a:solidFill>
                  <a:schemeClr val="tx1"/>
                </a:solidFill>
              </a:rPr>
              <a:t>Online quiz and its answers</a:t>
            </a:r>
          </a:p>
          <a:p>
            <a:pPr algn="l" marL="182880" indent="-182880">
              <a:spcAft>
                <a:spcPts val="600"/>
              </a:spcAft>
              <a:buClr>
                <a:schemeClr val="accent1"/>
              </a:buClr>
              <a:buFont typeface="Arial"/>
              <a:buChar char="▪"/>
            </a:pPr>
            <a:r>
              <a:rPr sz="1300" b="0" lang="en-GB">
                <a:solidFill>
                  <a:schemeClr val="tx1"/>
                </a:solidFill>
              </a:rPr>
              <a:t>Coding exercise and Posit Assistant</a:t>
            </a:r>
          </a:p>
        </p:txBody>
      </p:sp>
      <p:sp>
        <p:nvSpPr>
          <p:cNvPr id="26" name="Question box"/>
          <p:cNvSpPr/>
          <p:nvPr/>
        </p:nvSpPr>
        <p:spPr>
          <a:xfrm>
            <a:off x="457200" y="37490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Question" descr=""/>
          <p:cNvPicPr>
            <a:picLocks noChangeAspect="1"/>
          </p:cNvPicPr>
          <p:nvPr/>
        </p:nvPicPr>
        <p:blipFill>
          <a:blip r:embed="rId5"/>
          <a:stretch>
            <a:fillRect/>
          </a:stretch>
        </p:blipFill>
        <p:spPr>
          <a:xfrm>
            <a:off x="658368" y="3840480"/>
            <a:ext cx="365760" cy="365760"/>
          </a:xfrm>
          <a:prstGeom prst="rect">
            <a:avLst/>
          </a:prstGeom>
        </p:spPr>
      </p:pic>
      <p:sp>
        <p:nvSpPr>
          <p:cNvPr id="28" name="Question text"/>
          <p:cNvSpPr txBox="1"/>
          <p:nvPr/>
        </p:nvSpPr>
        <p:spPr>
          <a:xfrm>
            <a:off x="1207008" y="374904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Question of the day: </a:t>
            </a:r>
            <a:r>
              <a:rPr sz="1300" b="0" lang="en-GB">
                <a:solidFill>
                  <a:schemeClr val="bg1"/>
                </a:solidFill>
              </a:rPr>
              <a:t>how much will we sell next month, and how sure can we be?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planning demand in two shops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tory band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tory 1" descr=""/>
          <p:cNvPicPr>
            <a:picLocks noChangeAspect="1"/>
          </p:cNvPicPr>
          <p:nvPr/>
        </p:nvPicPr>
        <p:blipFill>
          <a:blip r:embed="rId3"/>
          <a:stretch>
            <a:fillRect/>
          </a:stretch>
        </p:blipFill>
        <p:spPr>
          <a:xfrm>
            <a:off x="621792" y="1335024"/>
            <a:ext cx="310896" cy="310896"/>
          </a:xfrm>
          <a:prstGeom prst="rect">
            <a:avLst/>
          </a:prstGeom>
        </p:spPr>
      </p:pic>
      <p:sp>
        <p:nvSpPr>
          <p:cNvPr id="12" name="Story text 1"/>
          <p:cNvSpPr txBox="1"/>
          <p:nvPr/>
        </p:nvSpPr>
        <p:spPr>
          <a:xfrm>
            <a:off x="1115568" y="1234440"/>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The problem: </a:t>
            </a:r>
            <a:r>
              <a:rPr sz="1300" b="0" lang="en-GB">
                <a:solidFill>
                  <a:schemeClr val="tx1"/>
                </a:solidFill>
              </a:rPr>
              <a:t>a marketing manager must plan before demand arrives.</a:t>
            </a:r>
          </a:p>
        </p:txBody>
      </p:sp>
      <p:sp>
        <p:nvSpPr>
          <p:cNvPr id="13" name="Story band 2"/>
          <p:cNvSpPr/>
          <p:nvPr/>
        </p:nvSpPr>
        <p:spPr>
          <a:xfrm>
            <a:off x="457200" y="188366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Story 2" descr=""/>
          <p:cNvPicPr>
            <a:picLocks noChangeAspect="1"/>
          </p:cNvPicPr>
          <p:nvPr/>
        </p:nvPicPr>
        <p:blipFill>
          <a:blip r:embed="rId4"/>
          <a:stretch>
            <a:fillRect/>
          </a:stretch>
        </p:blipFill>
        <p:spPr>
          <a:xfrm>
            <a:off x="621792" y="1984248"/>
            <a:ext cx="310896" cy="310896"/>
          </a:xfrm>
          <a:prstGeom prst="rect">
            <a:avLst/>
          </a:prstGeom>
        </p:spPr>
      </p:pic>
      <p:sp>
        <p:nvSpPr>
          <p:cNvPr id="15" name="Story text 2"/>
          <p:cNvSpPr txBox="1"/>
          <p:nvPr/>
        </p:nvSpPr>
        <p:spPr>
          <a:xfrm>
            <a:off x="1115568" y="1883664"/>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The question: </a:t>
            </a:r>
            <a:r>
              <a:rPr sz="1300" b="0" lang="en-GB">
                <a:solidFill>
                  <a:schemeClr val="tx1"/>
                </a:solidFill>
              </a:rPr>
              <a:t>how much will we sell next week, next quarter, next Christmas?</a:t>
            </a:r>
          </a:p>
        </p:txBody>
      </p:sp>
      <p:sp>
        <p:nvSpPr>
          <p:cNvPr id="16" name="Use Stock tile"/>
          <p:cNvSpPr/>
          <p:nvPr/>
        </p:nvSpPr>
        <p:spPr>
          <a:xfrm>
            <a:off x="457200" y="2532888"/>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Use Stock" descr=""/>
          <p:cNvPicPr>
            <a:picLocks noChangeAspect="1"/>
          </p:cNvPicPr>
          <p:nvPr/>
        </p:nvPicPr>
        <p:blipFill>
          <a:blip r:embed="rId5"/>
          <a:stretch>
            <a:fillRect/>
          </a:stretch>
        </p:blipFill>
        <p:spPr>
          <a:xfrm>
            <a:off x="594360" y="2670048"/>
            <a:ext cx="365760" cy="365760"/>
          </a:xfrm>
          <a:prstGeom prst="rect">
            <a:avLst/>
          </a:prstGeom>
        </p:spPr>
      </p:pic>
      <p:sp>
        <p:nvSpPr>
          <p:cNvPr id="18" name="Use Stock heading"/>
          <p:cNvSpPr txBox="1"/>
          <p:nvPr/>
        </p:nvSpPr>
        <p:spPr>
          <a:xfrm>
            <a:off x="1051560" y="267004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Stock</a:t>
            </a:r>
          </a:p>
        </p:txBody>
      </p:sp>
      <p:sp>
        <p:nvSpPr>
          <p:cNvPr id="19" name="Use Stock text"/>
          <p:cNvSpPr txBox="1"/>
          <p:nvPr/>
        </p:nvSpPr>
        <p:spPr>
          <a:xfrm>
            <a:off x="594360" y="3154680"/>
            <a:ext cx="2377440" cy="457200"/>
          </a:xfrm>
          <a:prstGeom prst="rect">
            <a:avLst/>
          </a:prstGeom>
          <a:noFill/>
        </p:spPr>
        <p:txBody>
          <a:bodyPr wrap="square" lIns="0" rIns="0" tIns="0" bIns="0" anchor="t">
            <a:noAutofit/>
          </a:bodyPr>
          <a:lstStyle/>
          <a:p>
            <a:pPr algn="l">
              <a:spcAft>
                <a:spcPts val="400"/>
              </a:spcAft>
            </a:pPr>
            <a:r>
              <a:rPr sz="1200" b="0" lang="en-GB">
                <a:solidFill>
                  <a:schemeClr val="tx1"/>
                </a:solidFill>
              </a:rPr>
              <a:t>order before the peak</a:t>
            </a:r>
          </a:p>
        </p:txBody>
      </p:sp>
      <p:sp>
        <p:nvSpPr>
          <p:cNvPr id="20" name="Use Staff tile"/>
          <p:cNvSpPr/>
          <p:nvPr/>
        </p:nvSpPr>
        <p:spPr>
          <a:xfrm>
            <a:off x="3246120" y="2532888"/>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Use Staff" descr=""/>
          <p:cNvPicPr>
            <a:picLocks noChangeAspect="1"/>
          </p:cNvPicPr>
          <p:nvPr/>
        </p:nvPicPr>
        <p:blipFill>
          <a:blip r:embed="rId6"/>
          <a:stretch>
            <a:fillRect/>
          </a:stretch>
        </p:blipFill>
        <p:spPr>
          <a:xfrm>
            <a:off x="3383280" y="2670048"/>
            <a:ext cx="365760" cy="365760"/>
          </a:xfrm>
          <a:prstGeom prst="rect">
            <a:avLst/>
          </a:prstGeom>
        </p:spPr>
      </p:pic>
      <p:sp>
        <p:nvSpPr>
          <p:cNvPr id="22" name="Use Staff heading"/>
          <p:cNvSpPr txBox="1"/>
          <p:nvPr/>
        </p:nvSpPr>
        <p:spPr>
          <a:xfrm>
            <a:off x="3840480" y="267004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Staff</a:t>
            </a:r>
          </a:p>
        </p:txBody>
      </p:sp>
      <p:sp>
        <p:nvSpPr>
          <p:cNvPr id="23" name="Use Staff text"/>
          <p:cNvSpPr txBox="1"/>
          <p:nvPr/>
        </p:nvSpPr>
        <p:spPr>
          <a:xfrm>
            <a:off x="3383280" y="3154680"/>
            <a:ext cx="2377440" cy="457200"/>
          </a:xfrm>
          <a:prstGeom prst="rect">
            <a:avLst/>
          </a:prstGeom>
          <a:noFill/>
        </p:spPr>
        <p:txBody>
          <a:bodyPr wrap="square" lIns="0" rIns="0" tIns="0" bIns="0" anchor="t">
            <a:noAutofit/>
          </a:bodyPr>
          <a:lstStyle/>
          <a:p>
            <a:pPr algn="l">
              <a:spcAft>
                <a:spcPts val="400"/>
              </a:spcAft>
            </a:pPr>
            <a:r>
              <a:rPr sz="1200" b="0" lang="en-GB">
                <a:solidFill>
                  <a:schemeClr val="tx1"/>
                </a:solidFill>
              </a:rPr>
              <a:t>shifts for the busy weeks</a:t>
            </a:r>
          </a:p>
        </p:txBody>
      </p:sp>
      <p:sp>
        <p:nvSpPr>
          <p:cNvPr id="24" name="Use Media budget tile"/>
          <p:cNvSpPr/>
          <p:nvPr/>
        </p:nvSpPr>
        <p:spPr>
          <a:xfrm>
            <a:off x="6035040" y="2532888"/>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Use Media budget" descr=""/>
          <p:cNvPicPr>
            <a:picLocks noChangeAspect="1"/>
          </p:cNvPicPr>
          <p:nvPr/>
        </p:nvPicPr>
        <p:blipFill>
          <a:blip r:embed="rId7"/>
          <a:stretch>
            <a:fillRect/>
          </a:stretch>
        </p:blipFill>
        <p:spPr>
          <a:xfrm>
            <a:off x="6172200" y="2670048"/>
            <a:ext cx="365760" cy="365760"/>
          </a:xfrm>
          <a:prstGeom prst="rect">
            <a:avLst/>
          </a:prstGeom>
        </p:spPr>
      </p:pic>
      <p:sp>
        <p:nvSpPr>
          <p:cNvPr id="26" name="Use Media budget heading"/>
          <p:cNvSpPr txBox="1"/>
          <p:nvPr/>
        </p:nvSpPr>
        <p:spPr>
          <a:xfrm>
            <a:off x="6629400" y="267004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Media budget</a:t>
            </a:r>
          </a:p>
        </p:txBody>
      </p:sp>
      <p:sp>
        <p:nvSpPr>
          <p:cNvPr id="27" name="Use Media budget text"/>
          <p:cNvSpPr txBox="1"/>
          <p:nvPr/>
        </p:nvSpPr>
        <p:spPr>
          <a:xfrm>
            <a:off x="6172200" y="3154680"/>
            <a:ext cx="2377440" cy="457200"/>
          </a:xfrm>
          <a:prstGeom prst="rect">
            <a:avLst/>
          </a:prstGeom>
          <a:noFill/>
        </p:spPr>
        <p:txBody>
          <a:bodyPr wrap="square" lIns="0" rIns="0" tIns="0" bIns="0" anchor="t">
            <a:noAutofit/>
          </a:bodyPr>
          <a:lstStyle/>
          <a:p>
            <a:pPr algn="l">
              <a:spcAft>
                <a:spcPts val="400"/>
              </a:spcAft>
            </a:pPr>
            <a:r>
              <a:rPr sz="1200" b="0" lang="en-GB">
                <a:solidFill>
                  <a:schemeClr val="tx1"/>
                </a:solidFill>
              </a:rPr>
              <a:t>spend when buyers are there</a:t>
            </a:r>
          </a:p>
        </p:txBody>
      </p:sp>
      <p:sp>
        <p:nvSpPr>
          <p:cNvPr id="28" name="Shops message box"/>
          <p:cNvSpPr/>
          <p:nvPr/>
        </p:nvSpPr>
        <p:spPr>
          <a:xfrm>
            <a:off x="457200" y="3813048"/>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ops message text"/>
          <p:cNvSpPr txBox="1"/>
          <p:nvPr/>
        </p:nvSpPr>
        <p:spPr>
          <a:xfrm>
            <a:off x="658368" y="3813048"/>
            <a:ext cx="7827264"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Two tiny shops first: </a:t>
            </a:r>
            <a:r>
              <a:rPr sz="1200" b="0" lang="en-GB">
                <a:solidFill>
                  <a:schemeClr val="bg1"/>
                </a:solidFill>
              </a:rPr>
              <a:t>a phone shop (contracts per week) and a chocolate web shop (sales per quarter); real data in Part 4.</a:t>
            </a:r>
          </a:p>
        </p:txBody>
      </p:sp>
      <p:sp>
        <p:nvSpPr>
          <p:cNvPr id="3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 built for this course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data: one row per period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hone label"/>
          <p:cNvSpPr txBox="1"/>
          <p:nvPr/>
        </p:nvSpPr>
        <p:spPr>
          <a:xfrm>
            <a:off x="457200" y="1234440"/>
            <a:ext cx="8229600" cy="329184"/>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Phone shop: new contracts per week</a:t>
            </a:r>
          </a:p>
        </p:txBody>
      </p:sp>
      <p:sp>
        <p:nvSpPr>
          <p:cNvPr id="11" name="Phone grid 1-1"/>
          <p:cNvSpPr/>
          <p:nvPr/>
        </p:nvSpPr>
        <p:spPr>
          <a:xfrm>
            <a:off x="457200" y="1572768"/>
            <a:ext cx="16184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hone grid text 1-1"/>
          <p:cNvSpPr txBox="1"/>
          <p:nvPr/>
        </p:nvSpPr>
        <p:spPr>
          <a:xfrm>
            <a:off x="548640" y="1572768"/>
            <a:ext cx="143560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3" name="Phone grid 1-2"/>
          <p:cNvSpPr/>
          <p:nvPr/>
        </p:nvSpPr>
        <p:spPr>
          <a:xfrm>
            <a:off x="210312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hone grid text 1-2"/>
          <p:cNvSpPr txBox="1"/>
          <p:nvPr/>
        </p:nvSpPr>
        <p:spPr>
          <a:xfrm>
            <a:off x="219456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1</a:t>
            </a:r>
          </a:p>
        </p:txBody>
      </p:sp>
      <p:sp>
        <p:nvSpPr>
          <p:cNvPr id="15" name="Phone grid 1-3"/>
          <p:cNvSpPr/>
          <p:nvPr/>
        </p:nvSpPr>
        <p:spPr>
          <a:xfrm>
            <a:off x="292608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hone grid text 1-3"/>
          <p:cNvSpPr txBox="1"/>
          <p:nvPr/>
        </p:nvSpPr>
        <p:spPr>
          <a:xfrm>
            <a:off x="301752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2</a:t>
            </a:r>
          </a:p>
        </p:txBody>
      </p:sp>
      <p:sp>
        <p:nvSpPr>
          <p:cNvPr id="17" name="Phone grid 1-4"/>
          <p:cNvSpPr/>
          <p:nvPr/>
        </p:nvSpPr>
        <p:spPr>
          <a:xfrm>
            <a:off x="374904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hone grid text 1-4"/>
          <p:cNvSpPr txBox="1"/>
          <p:nvPr/>
        </p:nvSpPr>
        <p:spPr>
          <a:xfrm>
            <a:off x="384048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3</a:t>
            </a:r>
          </a:p>
        </p:txBody>
      </p:sp>
      <p:sp>
        <p:nvSpPr>
          <p:cNvPr id="19" name="Phone grid 1-5"/>
          <p:cNvSpPr/>
          <p:nvPr/>
        </p:nvSpPr>
        <p:spPr>
          <a:xfrm>
            <a:off x="457200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hone grid text 1-5"/>
          <p:cNvSpPr txBox="1"/>
          <p:nvPr/>
        </p:nvSpPr>
        <p:spPr>
          <a:xfrm>
            <a:off x="466344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4</a:t>
            </a:r>
          </a:p>
        </p:txBody>
      </p:sp>
      <p:sp>
        <p:nvSpPr>
          <p:cNvPr id="21" name="Phone grid 1-6"/>
          <p:cNvSpPr/>
          <p:nvPr/>
        </p:nvSpPr>
        <p:spPr>
          <a:xfrm>
            <a:off x="539496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hone grid text 1-6"/>
          <p:cNvSpPr txBox="1"/>
          <p:nvPr/>
        </p:nvSpPr>
        <p:spPr>
          <a:xfrm>
            <a:off x="548640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5</a:t>
            </a:r>
          </a:p>
        </p:txBody>
      </p:sp>
      <p:sp>
        <p:nvSpPr>
          <p:cNvPr id="23" name="Phone grid 1-7"/>
          <p:cNvSpPr/>
          <p:nvPr/>
        </p:nvSpPr>
        <p:spPr>
          <a:xfrm>
            <a:off x="621792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hone grid text 1-7"/>
          <p:cNvSpPr txBox="1"/>
          <p:nvPr/>
        </p:nvSpPr>
        <p:spPr>
          <a:xfrm>
            <a:off x="630936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6</a:t>
            </a:r>
          </a:p>
        </p:txBody>
      </p:sp>
      <p:sp>
        <p:nvSpPr>
          <p:cNvPr id="25" name="Phone grid 1-8"/>
          <p:cNvSpPr/>
          <p:nvPr/>
        </p:nvSpPr>
        <p:spPr>
          <a:xfrm>
            <a:off x="704088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hone grid text 1-8"/>
          <p:cNvSpPr txBox="1"/>
          <p:nvPr/>
        </p:nvSpPr>
        <p:spPr>
          <a:xfrm>
            <a:off x="713232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7</a:t>
            </a:r>
          </a:p>
        </p:txBody>
      </p:sp>
      <p:sp>
        <p:nvSpPr>
          <p:cNvPr id="27" name="Phone grid 1-9"/>
          <p:cNvSpPr/>
          <p:nvPr/>
        </p:nvSpPr>
        <p:spPr>
          <a:xfrm>
            <a:off x="7863840" y="1572768"/>
            <a:ext cx="8229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hone grid text 1-9"/>
          <p:cNvSpPr txBox="1"/>
          <p:nvPr/>
        </p:nvSpPr>
        <p:spPr>
          <a:xfrm>
            <a:off x="795528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8</a:t>
            </a:r>
          </a:p>
        </p:txBody>
      </p:sp>
      <p:sp>
        <p:nvSpPr>
          <p:cNvPr id="29" name="Phone grid 2-1"/>
          <p:cNvSpPr/>
          <p:nvPr/>
        </p:nvSpPr>
        <p:spPr>
          <a:xfrm>
            <a:off x="457200" y="1929384"/>
            <a:ext cx="16184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Phone grid text 2-1"/>
          <p:cNvSpPr txBox="1"/>
          <p:nvPr/>
        </p:nvSpPr>
        <p:spPr>
          <a:xfrm>
            <a:off x="548640" y="1929384"/>
            <a:ext cx="143560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Contracts</a:t>
            </a:r>
          </a:p>
        </p:txBody>
      </p:sp>
      <p:sp>
        <p:nvSpPr>
          <p:cNvPr id="31" name="Phone grid 2-2"/>
          <p:cNvSpPr/>
          <p:nvPr/>
        </p:nvSpPr>
        <p:spPr>
          <a:xfrm>
            <a:off x="210312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Phone grid text 2-2"/>
          <p:cNvSpPr txBox="1"/>
          <p:nvPr/>
        </p:nvSpPr>
        <p:spPr>
          <a:xfrm>
            <a:off x="219456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33" name="Phone grid 2-3"/>
          <p:cNvSpPr/>
          <p:nvPr/>
        </p:nvSpPr>
        <p:spPr>
          <a:xfrm>
            <a:off x="292608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Phone grid text 2-3"/>
          <p:cNvSpPr txBox="1"/>
          <p:nvPr/>
        </p:nvSpPr>
        <p:spPr>
          <a:xfrm>
            <a:off x="301752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44</a:t>
            </a:r>
          </a:p>
        </p:txBody>
      </p:sp>
      <p:sp>
        <p:nvSpPr>
          <p:cNvPr id="35" name="Phone grid 2-4"/>
          <p:cNvSpPr/>
          <p:nvPr/>
        </p:nvSpPr>
        <p:spPr>
          <a:xfrm>
            <a:off x="374904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Phone grid text 2-4"/>
          <p:cNvSpPr txBox="1"/>
          <p:nvPr/>
        </p:nvSpPr>
        <p:spPr>
          <a:xfrm>
            <a:off x="384048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42</a:t>
            </a:r>
          </a:p>
        </p:txBody>
      </p:sp>
      <p:sp>
        <p:nvSpPr>
          <p:cNvPr id="37" name="Phone grid 2-5"/>
          <p:cNvSpPr/>
          <p:nvPr/>
        </p:nvSpPr>
        <p:spPr>
          <a:xfrm>
            <a:off x="457200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Phone grid text 2-5"/>
          <p:cNvSpPr txBox="1"/>
          <p:nvPr/>
        </p:nvSpPr>
        <p:spPr>
          <a:xfrm>
            <a:off x="466344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46</a:t>
            </a:r>
          </a:p>
        </p:txBody>
      </p:sp>
      <p:sp>
        <p:nvSpPr>
          <p:cNvPr id="39" name="Phone grid 2-6"/>
          <p:cNvSpPr/>
          <p:nvPr/>
        </p:nvSpPr>
        <p:spPr>
          <a:xfrm>
            <a:off x="539496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Phone grid text 2-6"/>
          <p:cNvSpPr txBox="1"/>
          <p:nvPr/>
        </p:nvSpPr>
        <p:spPr>
          <a:xfrm>
            <a:off x="548640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41" name="Phone grid 2-7"/>
          <p:cNvSpPr/>
          <p:nvPr/>
        </p:nvSpPr>
        <p:spPr>
          <a:xfrm>
            <a:off x="621792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Phone grid text 2-7"/>
          <p:cNvSpPr txBox="1"/>
          <p:nvPr/>
        </p:nvSpPr>
        <p:spPr>
          <a:xfrm>
            <a:off x="630936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49</a:t>
            </a:r>
          </a:p>
        </p:txBody>
      </p:sp>
      <p:sp>
        <p:nvSpPr>
          <p:cNvPr id="43" name="Phone grid 2-8"/>
          <p:cNvSpPr/>
          <p:nvPr/>
        </p:nvSpPr>
        <p:spPr>
          <a:xfrm>
            <a:off x="704088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Phone grid text 2-8"/>
          <p:cNvSpPr txBox="1"/>
          <p:nvPr/>
        </p:nvSpPr>
        <p:spPr>
          <a:xfrm>
            <a:off x="713232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53</a:t>
            </a:r>
          </a:p>
        </p:txBody>
      </p:sp>
      <p:sp>
        <p:nvSpPr>
          <p:cNvPr id="45" name="Phone grid 2-9"/>
          <p:cNvSpPr/>
          <p:nvPr/>
        </p:nvSpPr>
        <p:spPr>
          <a:xfrm>
            <a:off x="7863840" y="1929384"/>
            <a:ext cx="8229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Phone grid text 2-9"/>
          <p:cNvSpPr txBox="1"/>
          <p:nvPr/>
        </p:nvSpPr>
        <p:spPr>
          <a:xfrm>
            <a:off x="795528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54</a:t>
            </a:r>
          </a:p>
        </p:txBody>
      </p:sp>
      <p:sp>
        <p:nvSpPr>
          <p:cNvPr id="47" name="Chocolate label"/>
          <p:cNvSpPr txBox="1"/>
          <p:nvPr/>
        </p:nvSpPr>
        <p:spPr>
          <a:xfrm>
            <a:off x="457200" y="2423160"/>
            <a:ext cx="8229600" cy="329184"/>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Chocolate shop: sales per quarter, k EUR</a:t>
            </a:r>
          </a:p>
        </p:txBody>
      </p:sp>
      <p:sp>
        <p:nvSpPr>
          <p:cNvPr id="48" name="Chocolate grid 1-1"/>
          <p:cNvSpPr/>
          <p:nvPr/>
        </p:nvSpPr>
        <p:spPr>
          <a:xfrm>
            <a:off x="457200" y="2761488"/>
            <a:ext cx="88696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Chocolate grid text 1-1"/>
          <p:cNvSpPr txBox="1"/>
          <p:nvPr/>
        </p:nvSpPr>
        <p:spPr>
          <a:xfrm>
            <a:off x="548640" y="2761488"/>
            <a:ext cx="704088" cy="310896"/>
          </a:xfrm>
          <a:prstGeom prst="rect">
            <a:avLst/>
          </a:prstGeom>
          <a:noFill/>
        </p:spPr>
        <p:txBody>
          <a:bodyPr wrap="square" lIns="0" rIns="0" tIns="0" bIns="0" anchor="ctr">
            <a:noAutofit/>
          </a:bodyPr>
          <a:lstStyle/>
          <a:p>
            <a:pPr algn="l">
              <a:spcAft>
                <a:spcPts val="400"/>
              </a:spcAft>
            </a:pPr>
            <a:r>
              <a:rPr sz="1200" b="1" lang="en-GB">
                <a:solidFill>
                  <a:schemeClr val="bg1"/>
                </a:solidFill>
              </a:rPr>
              <a:t/>
            </a:r>
          </a:p>
        </p:txBody>
      </p:sp>
      <p:sp>
        <p:nvSpPr>
          <p:cNvPr id="50" name="Chocolate grid 1-2"/>
          <p:cNvSpPr/>
          <p:nvPr/>
        </p:nvSpPr>
        <p:spPr>
          <a:xfrm>
            <a:off x="1371600" y="2761488"/>
            <a:ext cx="61264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Chocolate grid text 1-2"/>
          <p:cNvSpPr txBox="1"/>
          <p:nvPr/>
        </p:nvSpPr>
        <p:spPr>
          <a:xfrm>
            <a:off x="146304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Q1</a:t>
            </a:r>
          </a:p>
        </p:txBody>
      </p:sp>
      <p:sp>
        <p:nvSpPr>
          <p:cNvPr id="52" name="Chocolate grid 1-3"/>
          <p:cNvSpPr/>
          <p:nvPr/>
        </p:nvSpPr>
        <p:spPr>
          <a:xfrm>
            <a:off x="2011680" y="2761488"/>
            <a:ext cx="61264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Chocolate grid text 1-3"/>
          <p:cNvSpPr txBox="1"/>
          <p:nvPr/>
        </p:nvSpPr>
        <p:spPr>
          <a:xfrm>
            <a:off x="210312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Q2</a:t>
            </a:r>
          </a:p>
        </p:txBody>
      </p:sp>
      <p:sp>
        <p:nvSpPr>
          <p:cNvPr id="54" name="Chocolate grid 1-4"/>
          <p:cNvSpPr/>
          <p:nvPr/>
        </p:nvSpPr>
        <p:spPr>
          <a:xfrm>
            <a:off x="2651760" y="2761488"/>
            <a:ext cx="61264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Chocolate grid text 1-4"/>
          <p:cNvSpPr txBox="1"/>
          <p:nvPr/>
        </p:nvSpPr>
        <p:spPr>
          <a:xfrm>
            <a:off x="274320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Q3</a:t>
            </a:r>
          </a:p>
        </p:txBody>
      </p:sp>
      <p:sp>
        <p:nvSpPr>
          <p:cNvPr id="56" name="Chocolate grid 1-5"/>
          <p:cNvSpPr/>
          <p:nvPr/>
        </p:nvSpPr>
        <p:spPr>
          <a:xfrm>
            <a:off x="3291840" y="2761488"/>
            <a:ext cx="640080"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Chocolate grid text 1-5"/>
          <p:cNvSpPr txBox="1"/>
          <p:nvPr/>
        </p:nvSpPr>
        <p:spPr>
          <a:xfrm>
            <a:off x="338328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Q4</a:t>
            </a:r>
          </a:p>
        </p:txBody>
      </p:sp>
      <p:sp>
        <p:nvSpPr>
          <p:cNvPr id="58" name="Chocolate grid 2-1"/>
          <p:cNvSpPr/>
          <p:nvPr/>
        </p:nvSpPr>
        <p:spPr>
          <a:xfrm>
            <a:off x="457200" y="3099816"/>
            <a:ext cx="8869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Chocolate grid text 2-1"/>
          <p:cNvSpPr txBox="1"/>
          <p:nvPr/>
        </p:nvSpPr>
        <p:spPr>
          <a:xfrm>
            <a:off x="548640" y="3099816"/>
            <a:ext cx="704088" cy="310896"/>
          </a:xfrm>
          <a:prstGeom prst="rect">
            <a:avLst/>
          </a:prstGeom>
          <a:noFill/>
        </p:spPr>
        <p:txBody>
          <a:bodyPr wrap="square" lIns="0" rIns="0" tIns="0" bIns="0" anchor="ctr">
            <a:noAutofit/>
          </a:bodyPr>
          <a:lstStyle/>
          <a:p>
            <a:pPr algn="l">
              <a:spcAft>
                <a:spcPts val="400"/>
              </a:spcAft>
            </a:pPr>
            <a:r>
              <a:rPr sz="1200" b="1" lang="en-GB">
                <a:solidFill>
                  <a:schemeClr val="tx2"/>
                </a:solidFill>
              </a:rPr>
              <a:t>Year 1</a:t>
            </a:r>
          </a:p>
        </p:txBody>
      </p:sp>
      <p:sp>
        <p:nvSpPr>
          <p:cNvPr id="60" name="Chocolate grid 2-2"/>
          <p:cNvSpPr/>
          <p:nvPr/>
        </p:nvSpPr>
        <p:spPr>
          <a:xfrm>
            <a:off x="1371600" y="3099816"/>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Chocolate grid text 2-2"/>
          <p:cNvSpPr txBox="1"/>
          <p:nvPr/>
        </p:nvSpPr>
        <p:spPr>
          <a:xfrm>
            <a:off x="146304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62" name="Chocolate grid 2-3"/>
          <p:cNvSpPr/>
          <p:nvPr/>
        </p:nvSpPr>
        <p:spPr>
          <a:xfrm>
            <a:off x="2011680" y="3099816"/>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Chocolate grid text 2-3"/>
          <p:cNvSpPr txBox="1"/>
          <p:nvPr/>
        </p:nvSpPr>
        <p:spPr>
          <a:xfrm>
            <a:off x="210312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16</a:t>
            </a:r>
          </a:p>
        </p:txBody>
      </p:sp>
      <p:sp>
        <p:nvSpPr>
          <p:cNvPr id="64" name="Chocolate grid 2-4"/>
          <p:cNvSpPr/>
          <p:nvPr/>
        </p:nvSpPr>
        <p:spPr>
          <a:xfrm>
            <a:off x="2651760" y="3099816"/>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Chocolate grid text 2-4"/>
          <p:cNvSpPr txBox="1"/>
          <p:nvPr/>
        </p:nvSpPr>
        <p:spPr>
          <a:xfrm>
            <a:off x="274320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66" name="Chocolate grid 2-5"/>
          <p:cNvSpPr/>
          <p:nvPr/>
        </p:nvSpPr>
        <p:spPr>
          <a:xfrm>
            <a:off x="3291840" y="3099816"/>
            <a:ext cx="6400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Chocolate grid text 2-5"/>
          <p:cNvSpPr txBox="1"/>
          <p:nvPr/>
        </p:nvSpPr>
        <p:spPr>
          <a:xfrm>
            <a:off x="338328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68" name="Chocolate grid 3-1"/>
          <p:cNvSpPr/>
          <p:nvPr/>
        </p:nvSpPr>
        <p:spPr>
          <a:xfrm>
            <a:off x="457200" y="3438144"/>
            <a:ext cx="8869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Chocolate grid text 3-1"/>
          <p:cNvSpPr txBox="1"/>
          <p:nvPr/>
        </p:nvSpPr>
        <p:spPr>
          <a:xfrm>
            <a:off x="548640" y="3438144"/>
            <a:ext cx="704088" cy="310896"/>
          </a:xfrm>
          <a:prstGeom prst="rect">
            <a:avLst/>
          </a:prstGeom>
          <a:noFill/>
        </p:spPr>
        <p:txBody>
          <a:bodyPr wrap="square" lIns="0" rIns="0" tIns="0" bIns="0" anchor="ctr">
            <a:noAutofit/>
          </a:bodyPr>
          <a:lstStyle/>
          <a:p>
            <a:pPr algn="l">
              <a:spcAft>
                <a:spcPts val="400"/>
              </a:spcAft>
            </a:pPr>
            <a:r>
              <a:rPr sz="1200" b="1" lang="en-GB">
                <a:solidFill>
                  <a:schemeClr val="tx2"/>
                </a:solidFill>
              </a:rPr>
              <a:t>Year 2</a:t>
            </a:r>
          </a:p>
        </p:txBody>
      </p:sp>
      <p:sp>
        <p:nvSpPr>
          <p:cNvPr id="70" name="Chocolate grid 3-2"/>
          <p:cNvSpPr/>
          <p:nvPr/>
        </p:nvSpPr>
        <p:spPr>
          <a:xfrm>
            <a:off x="1371600" y="3438144"/>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Chocolate grid text 3-2"/>
          <p:cNvSpPr txBox="1"/>
          <p:nvPr/>
        </p:nvSpPr>
        <p:spPr>
          <a:xfrm>
            <a:off x="146304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24</a:t>
            </a:r>
          </a:p>
        </p:txBody>
      </p:sp>
      <p:sp>
        <p:nvSpPr>
          <p:cNvPr id="72" name="Chocolate grid 3-3"/>
          <p:cNvSpPr/>
          <p:nvPr/>
        </p:nvSpPr>
        <p:spPr>
          <a:xfrm>
            <a:off x="2011680" y="3438144"/>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Chocolate grid text 3-3"/>
          <p:cNvSpPr txBox="1"/>
          <p:nvPr/>
        </p:nvSpPr>
        <p:spPr>
          <a:xfrm>
            <a:off x="210312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74" name="Chocolate grid 3-4"/>
          <p:cNvSpPr/>
          <p:nvPr/>
        </p:nvSpPr>
        <p:spPr>
          <a:xfrm>
            <a:off x="2651760" y="3438144"/>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Chocolate grid text 3-4"/>
          <p:cNvSpPr txBox="1"/>
          <p:nvPr/>
        </p:nvSpPr>
        <p:spPr>
          <a:xfrm>
            <a:off x="274320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23</a:t>
            </a:r>
          </a:p>
        </p:txBody>
      </p:sp>
      <p:sp>
        <p:nvSpPr>
          <p:cNvPr id="76" name="Chocolate grid 3-5"/>
          <p:cNvSpPr/>
          <p:nvPr/>
        </p:nvSpPr>
        <p:spPr>
          <a:xfrm>
            <a:off x="3291840" y="3438144"/>
            <a:ext cx="6400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Chocolate grid text 3-5"/>
          <p:cNvSpPr txBox="1"/>
          <p:nvPr/>
        </p:nvSpPr>
        <p:spPr>
          <a:xfrm>
            <a:off x="338328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35</a:t>
            </a:r>
          </a:p>
        </p:txBody>
      </p:sp>
      <p:sp>
        <p:nvSpPr>
          <p:cNvPr id="78" name="Chocolate grid 4-1"/>
          <p:cNvSpPr/>
          <p:nvPr/>
        </p:nvSpPr>
        <p:spPr>
          <a:xfrm>
            <a:off x="457200" y="3776472"/>
            <a:ext cx="8869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Chocolate grid text 4-1"/>
          <p:cNvSpPr txBox="1"/>
          <p:nvPr/>
        </p:nvSpPr>
        <p:spPr>
          <a:xfrm>
            <a:off x="548640" y="3776472"/>
            <a:ext cx="704088" cy="310896"/>
          </a:xfrm>
          <a:prstGeom prst="rect">
            <a:avLst/>
          </a:prstGeom>
          <a:noFill/>
        </p:spPr>
        <p:txBody>
          <a:bodyPr wrap="square" lIns="0" rIns="0" tIns="0" bIns="0" anchor="ctr">
            <a:noAutofit/>
          </a:bodyPr>
          <a:lstStyle/>
          <a:p>
            <a:pPr algn="l">
              <a:spcAft>
                <a:spcPts val="400"/>
              </a:spcAft>
            </a:pPr>
            <a:r>
              <a:rPr sz="1200" b="1" lang="en-GB">
                <a:solidFill>
                  <a:schemeClr val="tx2"/>
                </a:solidFill>
              </a:rPr>
              <a:t>Year 3</a:t>
            </a:r>
          </a:p>
        </p:txBody>
      </p:sp>
      <p:sp>
        <p:nvSpPr>
          <p:cNvPr id="80" name="Chocolate grid 4-2"/>
          <p:cNvSpPr/>
          <p:nvPr/>
        </p:nvSpPr>
        <p:spPr>
          <a:xfrm>
            <a:off x="1371600" y="3776472"/>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Chocolate grid text 4-2"/>
          <p:cNvSpPr txBox="1"/>
          <p:nvPr/>
        </p:nvSpPr>
        <p:spPr>
          <a:xfrm>
            <a:off x="146304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28</a:t>
            </a:r>
          </a:p>
        </p:txBody>
      </p:sp>
      <p:sp>
        <p:nvSpPr>
          <p:cNvPr id="82" name="Chocolate grid 4-3"/>
          <p:cNvSpPr/>
          <p:nvPr/>
        </p:nvSpPr>
        <p:spPr>
          <a:xfrm>
            <a:off x="2011680" y="3776472"/>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Chocolate grid text 4-3"/>
          <p:cNvSpPr txBox="1"/>
          <p:nvPr/>
        </p:nvSpPr>
        <p:spPr>
          <a:xfrm>
            <a:off x="210312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24</a:t>
            </a:r>
          </a:p>
        </p:txBody>
      </p:sp>
      <p:sp>
        <p:nvSpPr>
          <p:cNvPr id="84" name="Chocolate grid 4-4"/>
          <p:cNvSpPr/>
          <p:nvPr/>
        </p:nvSpPr>
        <p:spPr>
          <a:xfrm>
            <a:off x="2651760" y="3776472"/>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Chocolate grid text 4-4"/>
          <p:cNvSpPr txBox="1"/>
          <p:nvPr/>
        </p:nvSpPr>
        <p:spPr>
          <a:xfrm>
            <a:off x="274320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26</a:t>
            </a:r>
          </a:p>
        </p:txBody>
      </p:sp>
      <p:sp>
        <p:nvSpPr>
          <p:cNvPr id="86" name="Chocolate grid 4-5"/>
          <p:cNvSpPr/>
          <p:nvPr/>
        </p:nvSpPr>
        <p:spPr>
          <a:xfrm>
            <a:off x="3291840" y="3776472"/>
            <a:ext cx="6400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Chocolate grid text 4-5"/>
          <p:cNvSpPr txBox="1"/>
          <p:nvPr/>
        </p:nvSpPr>
        <p:spPr>
          <a:xfrm>
            <a:off x="338328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88" name="Data terms 1 row"/>
          <p:cNvSpPr/>
          <p:nvPr/>
        </p:nvSpPr>
        <p:spPr>
          <a:xfrm>
            <a:off x="4069080" y="2761488"/>
            <a:ext cx="4617720" cy="393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Data terms 1 bar"/>
          <p:cNvSpPr/>
          <p:nvPr/>
        </p:nvSpPr>
        <p:spPr>
          <a:xfrm>
            <a:off x="4069080" y="2761488"/>
            <a:ext cx="64008" cy="3931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Data terms 1 text"/>
          <p:cNvSpPr txBox="1"/>
          <p:nvPr/>
        </p:nvSpPr>
        <p:spPr>
          <a:xfrm>
            <a:off x="4270248" y="2761488"/>
            <a:ext cx="4325112" cy="393192"/>
          </a:xfrm>
          <a:prstGeom prst="rect">
            <a:avLst/>
          </a:prstGeom>
          <a:noFill/>
        </p:spPr>
        <p:txBody>
          <a:bodyPr wrap="square" lIns="0" rIns="0" tIns="0" bIns="0" anchor="ctr">
            <a:noAutofit/>
          </a:bodyPr>
          <a:lstStyle/>
          <a:p>
            <a:pPr algn="l">
              <a:spcAft>
                <a:spcPts val="400"/>
              </a:spcAft>
            </a:pPr>
            <a:r>
              <a:rPr sz="1200" b="1" lang="en-GB">
                <a:solidFill>
                  <a:schemeClr val="tx2"/>
                </a:solidFill>
              </a:rPr>
              <a:t>period: </a:t>
            </a:r>
            <a:r>
              <a:rPr sz="1200" b="0" lang="en-GB">
                <a:solidFill>
                  <a:schemeClr val="tx1"/>
                </a:solidFill>
              </a:rPr>
              <a:t>the time step: week 1 to 8, quarter 1 to 12</a:t>
            </a:r>
          </a:p>
        </p:txBody>
      </p:sp>
      <p:sp>
        <p:nvSpPr>
          <p:cNvPr id="91" name="Data terms 2 row"/>
          <p:cNvSpPr/>
          <p:nvPr/>
        </p:nvSpPr>
        <p:spPr>
          <a:xfrm>
            <a:off x="4069080" y="3227832"/>
            <a:ext cx="4617720" cy="393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Data terms 2 bar"/>
          <p:cNvSpPr/>
          <p:nvPr/>
        </p:nvSpPr>
        <p:spPr>
          <a:xfrm>
            <a:off x="4069080" y="3227832"/>
            <a:ext cx="64008" cy="3931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Data terms 2 text"/>
          <p:cNvSpPr txBox="1"/>
          <p:nvPr/>
        </p:nvSpPr>
        <p:spPr>
          <a:xfrm>
            <a:off x="4270248" y="3227832"/>
            <a:ext cx="4325112" cy="393192"/>
          </a:xfrm>
          <a:prstGeom prst="rect">
            <a:avLst/>
          </a:prstGeom>
          <a:noFill/>
        </p:spPr>
        <p:txBody>
          <a:bodyPr wrap="square" lIns="0" rIns="0" tIns="0" bIns="0" anchor="ctr">
            <a:noAutofit/>
          </a:bodyPr>
          <a:lstStyle/>
          <a:p>
            <a:pPr algn="l">
              <a:spcAft>
                <a:spcPts val="400"/>
              </a:spcAft>
            </a:pPr>
            <a:r>
              <a:rPr sz="1200" b="1" lang="en-GB">
                <a:solidFill>
                  <a:schemeClr val="tx2"/>
                </a:solidFill>
              </a:rPr>
              <a:t>value: </a:t>
            </a:r>
            <a:r>
              <a:rPr sz="1200" b="0" lang="en-GB">
                <a:solidFill>
                  <a:schemeClr val="tx1"/>
                </a:solidFill>
              </a:rPr>
              <a:t>what we forecast</a:t>
            </a:r>
          </a:p>
        </p:txBody>
      </p:sp>
      <p:sp>
        <p:nvSpPr>
          <p:cNvPr id="94" name="Data terms 3 row"/>
          <p:cNvSpPr/>
          <p:nvPr/>
        </p:nvSpPr>
        <p:spPr>
          <a:xfrm>
            <a:off x="4069080" y="3694176"/>
            <a:ext cx="4617720" cy="393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Data terms 3 bar"/>
          <p:cNvSpPr/>
          <p:nvPr/>
        </p:nvSpPr>
        <p:spPr>
          <a:xfrm>
            <a:off x="4069080" y="3694176"/>
            <a:ext cx="64008" cy="3931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Data terms 3 text"/>
          <p:cNvSpPr txBox="1"/>
          <p:nvPr/>
        </p:nvSpPr>
        <p:spPr>
          <a:xfrm>
            <a:off x="4270248" y="3694176"/>
            <a:ext cx="4325112" cy="393192"/>
          </a:xfrm>
          <a:prstGeom prst="rect">
            <a:avLst/>
          </a:prstGeom>
          <a:noFill/>
        </p:spPr>
        <p:txBody>
          <a:bodyPr wrap="square" lIns="0" rIns="0" tIns="0" bIns="0" anchor="ctr">
            <a:noAutofit/>
          </a:bodyPr>
          <a:lstStyle/>
          <a:p>
            <a:pPr algn="l">
              <a:spcAft>
                <a:spcPts val="400"/>
              </a:spcAft>
            </a:pPr>
            <a:r>
              <a:rPr sz="1200" b="1" lang="en-GB">
                <a:solidFill>
                  <a:schemeClr val="tx2"/>
                </a:solidFill>
              </a:rPr>
              <a:t>rules: </a:t>
            </a:r>
            <a:r>
              <a:rPr sz="1200" b="0" lang="en-GB">
                <a:solidFill>
                  <a:schemeClr val="tx1"/>
                </a:solidFill>
              </a:rPr>
              <a:t>time order, equal steps, no gaps</a:t>
            </a:r>
          </a:p>
        </p:txBody>
      </p:sp>
      <p:sp>
        <p:nvSpPr>
          <p:cNvPr id="97" name="Data file"/>
          <p:cNvSpPr txBox="1"/>
          <p:nvPr/>
        </p:nvSpPr>
        <p:spPr>
          <a:xfrm>
            <a:off x="457200" y="4224528"/>
            <a:ext cx="8229600"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data/forecasting/hand_examples.csv</a:t>
            </a:r>
            <a:r>
              <a:rPr sz="1100" b="0" lang="en-GB">
                <a:solidFill>
                  <a:srgbClr val="595959"/>
                </a:solidFill>
              </a:rPr>
              <a:t>   invented, 20 rows: example, period, value</a:t>
            </a:r>
          </a:p>
        </p:txBody>
      </p:sp>
      <p:sp>
        <p:nvSpPr>
          <p:cNvPr id="9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First look: plot the series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phone.png" descr="Phone shop, new contracts per week 1 to 8: 40, 44, 42, 46, 50, 49, 53, 54; rising by about 2 a week."/>
          <p:cNvPicPr>
            <a:picLocks noChangeAspect="1"/>
          </p:cNvPicPr>
          <p:nvPr/>
        </p:nvPicPr>
        <p:blipFill>
          <a:blip r:embed="rId3"/>
          <a:stretch>
            <a:fillRect/>
          </a:stretch>
        </p:blipFill>
        <p:spPr>
          <a:xfrm>
            <a:off x="457200" y="1234440"/>
            <a:ext cx="4046220" cy="2697480"/>
          </a:xfrm>
          <a:prstGeom prst="rect">
            <a:avLst/>
          </a:prstGeom>
        </p:spPr>
      </p:pic>
      <p:pic>
        <p:nvPicPr>
          <p:cNvPr id="11" name="Chart fc_f0_choc.png" descr="Chocolate shop, sales per quarter in k EUR, quarters 1 to 12: 20, 16, 20, 30; 24, 20, 23, 35; 28, 24, 26, 40. Every Q4 peaks."/>
          <p:cNvPicPr>
            <a:picLocks noChangeAspect="1"/>
          </p:cNvPicPr>
          <p:nvPr/>
        </p:nvPicPr>
        <p:blipFill>
          <a:blip r:embed="rId4"/>
          <a:stretch>
            <a:fillRect/>
          </a:stretch>
        </p:blipFill>
        <p:spPr>
          <a:xfrm>
            <a:off x="4640580" y="1234440"/>
            <a:ext cx="4046220" cy="2697480"/>
          </a:xfrm>
          <a:prstGeom prst="rect">
            <a:avLst/>
          </a:prstGeom>
        </p:spPr>
      </p:pic>
      <p:sp>
        <p:nvSpPr>
          <p:cNvPr id="12" name="Phone caption"/>
          <p:cNvSpPr txBox="1"/>
          <p:nvPr/>
        </p:nvSpPr>
        <p:spPr>
          <a:xfrm>
            <a:off x="457200" y="3977640"/>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Trend: up about 2 a week</a:t>
            </a:r>
          </a:p>
        </p:txBody>
      </p:sp>
      <p:sp>
        <p:nvSpPr>
          <p:cNvPr id="13" name="Chocolate caption"/>
          <p:cNvSpPr txBox="1"/>
          <p:nvPr/>
        </p:nvSpPr>
        <p:spPr>
          <a:xfrm>
            <a:off x="4640580" y="3977640"/>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Trend and season: every Q4 peaks</a:t>
            </a:r>
          </a:p>
        </p:txBody>
      </p:sp>
      <p:sp>
        <p:nvSpPr>
          <p:cNvPr id="14" name="First look message box"/>
          <p:cNvSpPr/>
          <p:nvPr/>
        </p:nvSpPr>
        <p:spPr>
          <a:xfrm>
            <a:off x="457200" y="429768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irst look message text"/>
          <p:cNvSpPr txBox="1"/>
          <p:nvPr/>
        </p:nvSpPr>
        <p:spPr>
          <a:xfrm>
            <a:off x="658368" y="429768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Plot first: </a:t>
            </a:r>
            <a:r>
              <a:rPr sz="1200" b="0" lang="en-GB">
                <a:solidFill>
                  <a:schemeClr val="bg1"/>
                </a:solidFill>
              </a:rPr>
              <a:t>the eye finds trend and season before any model.</a:t>
            </a:r>
          </a:p>
        </p:txBody>
      </p:sp>
      <p:sp>
        <p:nvSpPr>
          <p:cNvPr id="1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6 · trend, season, cycle, stationarity</a:t>
            </a:r>
          </a:p>
        </p:txBody>
      </p:sp>
      <p:sp>
        <p:nvSpPr>
          <p:cNvPr id="3" name="Title 2"/>
          <p:cNvSpPr>
            <a:spLocks noGrp="1"/>
          </p:cNvSpPr>
          <p:nvPr>
            <p:ph type="ctrTitle"/>
          </p:nvPr>
        </p:nvSpPr>
        <p:spPr/>
        <p:txBody>
          <a:bodyPr/>
          <a:lstStyle/>
          <a:p>
            <a:r>
              <a:rPr lang="en-GB"/>
              <a:t>Time series concepts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Trend, season, cycle and irregular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components.png" descr="Four panels of a simulated monthly series over ten years: a rising straight trend, the same 12-month season with a December peak every year, a slow cycle of about five years, and irregular noise."/>
          <p:cNvPicPr>
            <a:picLocks noChangeAspect="1"/>
          </p:cNvPicPr>
          <p:nvPr/>
        </p:nvPicPr>
        <p:blipFill>
          <a:blip r:embed="rId3"/>
          <a:stretch>
            <a:fillRect/>
          </a:stretch>
        </p:blipFill>
        <p:spPr>
          <a:xfrm>
            <a:off x="457200" y="1234440"/>
            <a:ext cx="4754880" cy="2834640"/>
          </a:xfrm>
          <a:prstGeom prst="rect">
            <a:avLst/>
          </a:prstGeom>
        </p:spPr>
      </p:pic>
      <p:sp>
        <p:nvSpPr>
          <p:cNvPr id="11" name="Components 1 row"/>
          <p:cNvSpPr/>
          <p:nvPr/>
        </p:nvSpPr>
        <p:spPr>
          <a:xfrm>
            <a:off x="5349240" y="123444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mponents 1 bar"/>
          <p:cNvSpPr/>
          <p:nvPr/>
        </p:nvSpPr>
        <p:spPr>
          <a:xfrm>
            <a:off x="5349240" y="123444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mponents 1 text"/>
          <p:cNvSpPr txBox="1"/>
          <p:nvPr/>
        </p:nvSpPr>
        <p:spPr>
          <a:xfrm>
            <a:off x="5550408" y="123444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Trend: </a:t>
            </a:r>
            <a:r>
              <a:rPr sz="1200" b="0" lang="en-GB">
                <a:solidFill>
                  <a:schemeClr val="tx1"/>
                </a:solidFill>
              </a:rPr>
              <a:t>the long-run direction</a:t>
            </a:r>
          </a:p>
        </p:txBody>
      </p:sp>
      <p:sp>
        <p:nvSpPr>
          <p:cNvPr id="14" name="Components 2 row"/>
          <p:cNvSpPr/>
          <p:nvPr/>
        </p:nvSpPr>
        <p:spPr>
          <a:xfrm>
            <a:off x="5349240" y="196596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mponents 2 bar"/>
          <p:cNvSpPr/>
          <p:nvPr/>
        </p:nvSpPr>
        <p:spPr>
          <a:xfrm>
            <a:off x="5349240" y="196596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mponents 2 text"/>
          <p:cNvSpPr txBox="1"/>
          <p:nvPr/>
        </p:nvSpPr>
        <p:spPr>
          <a:xfrm>
            <a:off x="5550408" y="196596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Season: </a:t>
            </a:r>
            <a:r>
              <a:rPr sz="1200" b="0" lang="en-GB">
                <a:solidFill>
                  <a:schemeClr val="tx1"/>
                </a:solidFill>
              </a:rPr>
              <a:t>repeats every year, fixed length (Christmas)</a:t>
            </a:r>
          </a:p>
        </p:txBody>
      </p:sp>
      <p:sp>
        <p:nvSpPr>
          <p:cNvPr id="17" name="Components 3 row"/>
          <p:cNvSpPr/>
          <p:nvPr/>
        </p:nvSpPr>
        <p:spPr>
          <a:xfrm>
            <a:off x="5349240" y="269748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mponents 3 bar"/>
          <p:cNvSpPr/>
          <p:nvPr/>
        </p:nvSpPr>
        <p:spPr>
          <a:xfrm>
            <a:off x="5349240" y="269748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mponents 3 text"/>
          <p:cNvSpPr txBox="1"/>
          <p:nvPr/>
        </p:nvSpPr>
        <p:spPr>
          <a:xfrm>
            <a:off x="5550408" y="269748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Cycle: </a:t>
            </a:r>
            <a:r>
              <a:rPr sz="1200" b="0" lang="en-GB">
                <a:solidFill>
                  <a:schemeClr val="tx1"/>
                </a:solidFill>
              </a:rPr>
              <a:t>ups and downs over years, no fixed length (the economy)</a:t>
            </a:r>
          </a:p>
        </p:txBody>
      </p:sp>
      <p:sp>
        <p:nvSpPr>
          <p:cNvPr id="20" name="Components 4 row"/>
          <p:cNvSpPr/>
          <p:nvPr/>
        </p:nvSpPr>
        <p:spPr>
          <a:xfrm>
            <a:off x="5349240" y="342900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mponents 4 bar"/>
          <p:cNvSpPr/>
          <p:nvPr/>
        </p:nvSpPr>
        <p:spPr>
          <a:xfrm>
            <a:off x="5349240" y="342900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mponents 4 text"/>
          <p:cNvSpPr txBox="1"/>
          <p:nvPr/>
        </p:nvSpPr>
        <p:spPr>
          <a:xfrm>
            <a:off x="5550408" y="342900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Irregular: </a:t>
            </a:r>
            <a:r>
              <a:rPr sz="1200" b="0" lang="en-GB">
                <a:solidFill>
                  <a:schemeClr val="tx1"/>
                </a:solidFill>
              </a:rPr>
              <a:t>what is left: noise, one-off events</a:t>
            </a:r>
          </a:p>
        </p:txBody>
      </p:sp>
      <p:sp>
        <p:nvSpPr>
          <p:cNvPr id="23" name="Components message box"/>
          <p:cNvSpPr/>
          <p:nvPr/>
        </p:nvSpPr>
        <p:spPr>
          <a:xfrm>
            <a:off x="457200" y="420624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mponents message text"/>
          <p:cNvSpPr txBox="1"/>
          <p:nvPr/>
        </p:nvSpPr>
        <p:spPr>
          <a:xfrm>
            <a:off x="658368" y="420624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Series = trend + season + cycle + irregular (or ×, slide 8): </a:t>
            </a:r>
            <a:r>
              <a:rPr sz="1200" b="0" lang="en-GB">
                <a:solidFill>
                  <a:schemeClr val="bg1"/>
                </a:solidFill>
              </a:rPr>
              <a:t>a forecast extends the first three.</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series for illustration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Additive or multiplicative season?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addmult.png" descr="Two simulated quarterly series on the same rising trend (grey dashed): on the left the seasonal swings stay the same size (additive), on the right they grow with the level (multiplicative)."/>
          <p:cNvPicPr>
            <a:picLocks noChangeAspect="1"/>
          </p:cNvPicPr>
          <p:nvPr/>
        </p:nvPicPr>
        <p:blipFill>
          <a:blip r:embed="rId3"/>
          <a:stretch>
            <a:fillRect/>
          </a:stretch>
        </p:blipFill>
        <p:spPr>
          <a:xfrm>
            <a:off x="457200" y="1234440"/>
            <a:ext cx="4754880" cy="2788920"/>
          </a:xfrm>
          <a:prstGeom prst="rect">
            <a:avLst/>
          </a:prstGeom>
        </p:spPr>
      </p:pic>
      <p:sp>
        <p:nvSpPr>
          <p:cNvPr id="11" name="Additive stat box"/>
          <p:cNvSpPr/>
          <p:nvPr/>
        </p:nvSpPr>
        <p:spPr>
          <a:xfrm>
            <a:off x="5349240" y="1234440"/>
            <a:ext cx="333756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dditive stat bar"/>
          <p:cNvSpPr/>
          <p:nvPr/>
        </p:nvSpPr>
        <p:spPr>
          <a:xfrm>
            <a:off x="5349240" y="1234440"/>
            <a:ext cx="64008" cy="1325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Additive stat figure"/>
          <p:cNvSpPr txBox="1"/>
          <p:nvPr/>
        </p:nvSpPr>
        <p:spPr>
          <a:xfrm>
            <a:off x="5550408" y="1344168"/>
            <a:ext cx="2999232" cy="5029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+9.5</a:t>
            </a:r>
          </a:p>
        </p:txBody>
      </p:sp>
      <p:sp>
        <p:nvSpPr>
          <p:cNvPr id="14" name="Additive stat label"/>
          <p:cNvSpPr txBox="1"/>
          <p:nvPr/>
        </p:nvSpPr>
        <p:spPr>
          <a:xfrm>
            <a:off x="5550408" y="1847088"/>
            <a:ext cx="2999232"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chocolate shop: </a:t>
            </a:r>
            <a:r>
              <a:rPr sz="1200" b="0" lang="en-GB">
                <a:solidFill>
                  <a:schemeClr val="tx1"/>
                </a:solidFill>
              </a:rPr>
              <a:t>Q4 about 9.5 k EUR above the year mean on average (8.5 to 10.5): additive</a:t>
            </a:r>
          </a:p>
        </p:txBody>
      </p:sp>
      <p:sp>
        <p:nvSpPr>
          <p:cNvPr id="15" name="Multiplicative stat box"/>
          <p:cNvSpPr/>
          <p:nvPr/>
        </p:nvSpPr>
        <p:spPr>
          <a:xfrm>
            <a:off x="5349240" y="2697480"/>
            <a:ext cx="333756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ultiplicative stat bar"/>
          <p:cNvSpPr/>
          <p:nvPr/>
        </p:nvSpPr>
        <p:spPr>
          <a:xfrm>
            <a:off x="5349240" y="2697480"/>
            <a:ext cx="64008" cy="1325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ultiplicative stat figure"/>
          <p:cNvSpPr txBox="1"/>
          <p:nvPr/>
        </p:nvSpPr>
        <p:spPr>
          <a:xfrm>
            <a:off x="5550408" y="2807208"/>
            <a:ext cx="2999232" cy="5029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1.59</a:t>
            </a:r>
          </a:p>
        </p:txBody>
      </p:sp>
      <p:sp>
        <p:nvSpPr>
          <p:cNvPr id="18" name="Multiplicative stat label"/>
          <p:cNvSpPr txBox="1"/>
          <p:nvPr/>
        </p:nvSpPr>
        <p:spPr>
          <a:xfrm>
            <a:off x="5550408" y="3310128"/>
            <a:ext cx="2999232"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clothing (Part 4): </a:t>
            </a:r>
            <a:r>
              <a:rPr sz="1200" b="0" lang="en-GB">
                <a:solidFill>
                  <a:schemeClr val="tx1"/>
                </a:solidFill>
              </a:rPr>
              <a:t>December 59 % above an average month, and the swing grows: multiplicative</a:t>
            </a:r>
          </a:p>
        </p:txBody>
      </p:sp>
      <p:sp>
        <p:nvSpPr>
          <p:cNvPr id="19" name="Season message box"/>
          <p:cNvSpPr/>
          <p:nvPr/>
        </p:nvSpPr>
        <p:spPr>
          <a:xfrm>
            <a:off x="457200" y="41605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eason message text"/>
          <p:cNvSpPr txBox="1"/>
          <p:nvPr/>
        </p:nvSpPr>
        <p:spPr>
          <a:xfrm>
            <a:off x="658368" y="41605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Multiplicative season: </a:t>
            </a:r>
            <a:r>
              <a:rPr sz="1200" b="0" lang="en-GB">
                <a:solidFill>
                  <a:schemeClr val="bg1"/>
                </a:solidFill>
              </a:rPr>
              <a:t>use a multiplicative model or take logs, which makes it additive.</a:t>
            </a:r>
          </a:p>
        </p:txBody>
      </p:sp>
      <p:sp>
        <p:nvSpPr>
          <p:cNvPr id="21"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Simulated series for illustration; chocolate shop: invented; clothing: ABS Retail Trade (8501.0), CC BY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Stationary or not? Differencing is the fix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stationary.png" descr="Three simulated series of 60 periods: noise around a constant mean (stationary), a random walk with drift whose mean rises (non-stationary), and the period-to-period changes of that walk, which are stationary again."/>
          <p:cNvPicPr>
            <a:picLocks noChangeAspect="1"/>
          </p:cNvPicPr>
          <p:nvPr/>
        </p:nvPicPr>
        <p:blipFill>
          <a:blip r:embed="rId3"/>
          <a:stretch>
            <a:fillRect/>
          </a:stretch>
        </p:blipFill>
        <p:spPr>
          <a:xfrm>
            <a:off x="457200" y="1234440"/>
            <a:ext cx="8229600" cy="2103120"/>
          </a:xfrm>
          <a:prstGeom prst="rect">
            <a:avLst/>
          </a:prstGeom>
        </p:spPr>
      </p:pic>
      <p:sp>
        <p:nvSpPr>
          <p:cNvPr id="11" name="Phone changes row"/>
          <p:cNvSpPr/>
          <p:nvPr/>
        </p:nvSpPr>
        <p:spPr>
          <a:xfrm>
            <a:off x="457200" y="33832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hone changes bar"/>
          <p:cNvSpPr/>
          <p:nvPr/>
        </p:nvSpPr>
        <p:spPr>
          <a:xfrm>
            <a:off x="457200" y="338328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hone changes text"/>
          <p:cNvSpPr txBox="1"/>
          <p:nvPr/>
        </p:nvSpPr>
        <p:spPr>
          <a:xfrm>
            <a:off x="658368" y="338328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Phone shop by hand: </a:t>
            </a:r>
            <a:r>
              <a:rPr sz="1200" b="0" lang="en-GB">
                <a:solidFill>
                  <a:schemeClr val="tx1"/>
                </a:solidFill>
              </a:rPr>
              <a:t>changes +4, −2, +4, +4, −1, +4, +1: on average +2 a week (slide 11)</a:t>
            </a:r>
          </a:p>
        </p:txBody>
      </p:sp>
      <p:sp>
        <p:nvSpPr>
          <p:cNvPr id="14" name="Stationary message box"/>
          <p:cNvSpPr/>
          <p:nvPr/>
        </p:nvSpPr>
        <p:spPr>
          <a:xfrm>
            <a:off x="457200" y="39776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tationary message text"/>
          <p:cNvSpPr txBox="1"/>
          <p:nvPr/>
        </p:nvSpPr>
        <p:spPr>
          <a:xfrm>
            <a:off x="658368" y="3977640"/>
            <a:ext cx="7827264"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ARIMA-type models need a stationary series: </a:t>
            </a:r>
            <a:r>
              <a:rPr sz="1200" b="0" lang="en-GB">
                <a:solidFill>
                  <a:schemeClr val="bg1"/>
                </a:solidFill>
              </a:rPr>
              <a:t>difference it (this period − the last); for a season: minus the same period last year.</a:t>
            </a:r>
          </a:p>
        </p:txBody>
      </p:sp>
      <p:sp>
        <p:nvSpPr>
          <p:cNvPr id="1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series for illustration; phone shop: invented round numbers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6 · five methods on a calculator</a:t>
            </a:r>
          </a:p>
        </p:txBody>
      </p:sp>
      <p:sp>
        <p:nvSpPr>
          <p:cNvPr id="3" name="Title 2"/>
          <p:cNvSpPr>
            <a:spLocks noGrp="1"/>
          </p:cNvSpPr>
          <p:nvPr>
            <p:ph type="ctrTitle"/>
          </p:nvPr>
        </p:nvSpPr>
        <p:spPr/>
        <p:txBody>
          <a:bodyPr/>
          <a:lstStyle/>
          <a:p>
            <a:r>
              <a:rPr lang="en-GB"/>
              <a:t>Simple forecasts by hand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No change and same change: naive and drift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1_naive_drift.png" descr="New contracts per week, weeks 1 to 8 (40, 44, 42, 46, 50, 49, 53, 54), with two forecasts for week 9: naive 54 (a grey dashed line flat from week 8) and drift 56 (a blue dashed line from week 1 through week 8)."/>
          <p:cNvPicPr>
            <a:picLocks noChangeAspect="1"/>
          </p:cNvPicPr>
          <p:nvPr/>
        </p:nvPicPr>
        <p:blipFill>
          <a:blip r:embed="rId3"/>
          <a:stretch>
            <a:fillRect/>
          </a:stretch>
        </p:blipFill>
        <p:spPr>
          <a:xfrm>
            <a:off x="457200" y="1234440"/>
            <a:ext cx="4754880" cy="2788920"/>
          </a:xfrm>
          <a:prstGeom prst="rect">
            <a:avLst/>
          </a:prstGeom>
        </p:spPr>
      </p:pic>
      <p:sp>
        <p:nvSpPr>
          <p:cNvPr id="11" name="Naive stat box"/>
          <p:cNvSpPr/>
          <p:nvPr/>
        </p:nvSpPr>
        <p:spPr>
          <a:xfrm>
            <a:off x="5349240" y="1234440"/>
            <a:ext cx="33375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Naive stat bar"/>
          <p:cNvSpPr/>
          <p:nvPr/>
        </p:nvSpPr>
        <p:spPr>
          <a:xfrm>
            <a:off x="5349240" y="123444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Naive stat figure"/>
          <p:cNvSpPr txBox="1"/>
          <p:nvPr/>
        </p:nvSpPr>
        <p:spPr>
          <a:xfrm>
            <a:off x="5532120" y="1234440"/>
            <a:ext cx="91440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54</a:t>
            </a:r>
          </a:p>
        </p:txBody>
      </p:sp>
      <p:sp>
        <p:nvSpPr>
          <p:cNvPr id="14" name="Naive stat label"/>
          <p:cNvSpPr txBox="1"/>
          <p:nvPr/>
        </p:nvSpPr>
        <p:spPr>
          <a:xfrm>
            <a:off x="6446520" y="1234440"/>
            <a:ext cx="214884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naive (no change):</a:t>
            </a:r>
            <a:r>
              <a:rPr sz="1200" b="0" lang="en-GB">
                <a:solidFill>
                  <a:schemeClr val="tx1"/>
                </a:solidFill>
              </a:rPr>
              <a:t/>
            </a:r>
          </a:p>
          <a:p>
            <a:pPr algn="l">
              <a:spcAft>
                <a:spcPts val="200"/>
              </a:spcAft>
            </a:pPr>
            <a:r>
              <a:rPr sz="1200" b="0" lang="en-GB">
                <a:solidFill>
                  <a:schemeClr val="tx1"/>
                </a:solidFill>
              </a:rPr>
              <a:t>next week = this week</a:t>
            </a:r>
          </a:p>
        </p:txBody>
      </p:sp>
      <p:sp>
        <p:nvSpPr>
          <p:cNvPr id="15" name="Drift stat box"/>
          <p:cNvSpPr/>
          <p:nvPr/>
        </p:nvSpPr>
        <p:spPr>
          <a:xfrm>
            <a:off x="5349240" y="2468880"/>
            <a:ext cx="33375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rift stat bar"/>
          <p:cNvSpPr/>
          <p:nvPr/>
        </p:nvSpPr>
        <p:spPr>
          <a:xfrm>
            <a:off x="5349240" y="246888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rift stat figure"/>
          <p:cNvSpPr txBox="1"/>
          <p:nvPr/>
        </p:nvSpPr>
        <p:spPr>
          <a:xfrm>
            <a:off x="5532120" y="2468880"/>
            <a:ext cx="91440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56</a:t>
            </a:r>
          </a:p>
        </p:txBody>
      </p:sp>
      <p:sp>
        <p:nvSpPr>
          <p:cNvPr id="18" name="Drift stat label"/>
          <p:cNvSpPr txBox="1"/>
          <p:nvPr/>
        </p:nvSpPr>
        <p:spPr>
          <a:xfrm>
            <a:off x="6446520" y="2468880"/>
            <a:ext cx="214884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drift (same change):</a:t>
            </a:r>
            <a:r>
              <a:rPr sz="1200" b="0" lang="en-GB">
                <a:solidFill>
                  <a:schemeClr val="tx1"/>
                </a:solidFill>
              </a:rPr>
              <a:t/>
            </a:r>
          </a:p>
          <a:p>
            <a:pPr algn="l">
              <a:spcAft>
                <a:spcPts val="200"/>
              </a:spcAft>
            </a:pPr>
            <a:r>
              <a:rPr sz="1200" b="0" lang="en-GB">
                <a:solidFill>
                  <a:schemeClr val="tx1"/>
                </a:solidFill>
              </a:rPr>
              <a:t>54 + (54 − 40) / 7</a:t>
            </a:r>
          </a:p>
          <a:p>
            <a:pPr algn="l">
              <a:spcAft>
                <a:spcPts val="200"/>
              </a:spcAft>
            </a:pPr>
            <a:r>
              <a:rPr sz="1200" b="0" lang="en-GB">
                <a:solidFill>
                  <a:schemeClr val="tx1"/>
                </a:solidFill>
              </a:rPr>
              <a:t>= 54 + 2</a:t>
            </a:r>
          </a:p>
        </p:txBody>
      </p:sp>
      <p:sp>
        <p:nvSpPr>
          <p:cNvPr id="19" name="Changes caption"/>
          <p:cNvSpPr txBox="1"/>
          <p:nvPr/>
        </p:nvSpPr>
        <p:spPr>
          <a:xfrm>
            <a:off x="5349240" y="3611880"/>
            <a:ext cx="3337560" cy="411480"/>
          </a:xfrm>
          <a:prstGeom prst="rect">
            <a:avLst/>
          </a:prstGeom>
          <a:noFill/>
        </p:spPr>
        <p:txBody>
          <a:bodyPr wrap="square" lIns="0" rIns="0" tIns="0" bIns="0" anchor="ctr">
            <a:noAutofit/>
          </a:bodyPr>
          <a:lstStyle/>
          <a:p>
            <a:pPr algn="l">
              <a:spcAft>
                <a:spcPts val="0"/>
              </a:spcAft>
            </a:pPr>
            <a:r>
              <a:rPr sz="1100" b="0" lang="en-GB">
                <a:solidFill>
                  <a:srgbClr val="595959"/>
                </a:solidFill>
              </a:rPr>
              <a:t>The 7 changes: +4, −2, +4, +4, −1, +4, +1</a:t>
            </a:r>
          </a:p>
          <a:p>
            <a:pPr algn="l">
              <a:spcAft>
                <a:spcPts val="0"/>
              </a:spcAft>
            </a:pPr>
            <a:r>
              <a:rPr sz="1100" b="0" lang="en-GB">
                <a:solidFill>
                  <a:srgbClr val="595959"/>
                </a:solidFill>
              </a:rPr>
              <a:t>their average: +2 a week</a:t>
            </a:r>
          </a:p>
        </p:txBody>
      </p:sp>
      <p:sp>
        <p:nvSpPr>
          <p:cNvPr id="20" name="Benchmark callout box"/>
          <p:cNvSpPr/>
          <p:nvPr/>
        </p:nvSpPr>
        <p:spPr>
          <a:xfrm>
            <a:off x="457200" y="41605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Benchmark callout text"/>
          <p:cNvSpPr txBox="1"/>
          <p:nvPr/>
        </p:nvSpPr>
        <p:spPr>
          <a:xfrm>
            <a:off x="658368" y="41605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Naive is the benchmark: </a:t>
            </a:r>
            <a:r>
              <a:rPr sz="1200" b="0" lang="en-GB">
                <a:solidFill>
                  <a:schemeClr val="bg1"/>
                </a:solidFill>
              </a:rPr>
              <a:t>every other method must beat it (Part 3).</a:t>
            </a:r>
          </a:p>
        </p:txBody>
      </p:sp>
      <p:sp>
        <p:nvSpPr>
          <p:cNvPr id="2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Averages: the mean and a moving average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1_averages.png" descr="New contracts per week, weeks 1 to 8 (40, 44, 42, 46, 50, 49, 53, 54), with the mean 47.25 as a grey dashed line over all weeks and the moving average of weeks 6 to 8, 52, as a blue dashed line; the three averaged weeks are circled."/>
          <p:cNvPicPr>
            <a:picLocks noChangeAspect="1"/>
          </p:cNvPicPr>
          <p:nvPr/>
        </p:nvPicPr>
        <p:blipFill>
          <a:blip r:embed="rId3"/>
          <a:stretch>
            <a:fillRect/>
          </a:stretch>
        </p:blipFill>
        <p:spPr>
          <a:xfrm>
            <a:off x="457200" y="1234440"/>
            <a:ext cx="4754880" cy="2788920"/>
          </a:xfrm>
          <a:prstGeom prst="rect">
            <a:avLst/>
          </a:prstGeom>
        </p:spPr>
      </p:pic>
      <p:sp>
        <p:nvSpPr>
          <p:cNvPr id="11" name="Mean stat box"/>
          <p:cNvSpPr/>
          <p:nvPr/>
        </p:nvSpPr>
        <p:spPr>
          <a:xfrm>
            <a:off x="5349240" y="1234440"/>
            <a:ext cx="33375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ean stat bar"/>
          <p:cNvSpPr/>
          <p:nvPr/>
        </p:nvSpPr>
        <p:spPr>
          <a:xfrm>
            <a:off x="5349240" y="123444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ean stat figure"/>
          <p:cNvSpPr txBox="1"/>
          <p:nvPr/>
        </p:nvSpPr>
        <p:spPr>
          <a:xfrm>
            <a:off x="5532120" y="1234440"/>
            <a:ext cx="128016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47.25</a:t>
            </a:r>
          </a:p>
        </p:txBody>
      </p:sp>
      <p:sp>
        <p:nvSpPr>
          <p:cNvPr id="14" name="Mean stat label"/>
          <p:cNvSpPr txBox="1"/>
          <p:nvPr/>
        </p:nvSpPr>
        <p:spPr>
          <a:xfrm>
            <a:off x="6812280" y="1234440"/>
            <a:ext cx="178308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mean:</a:t>
            </a:r>
            <a:r>
              <a:rPr sz="1200" b="0" lang="en-GB">
                <a:solidFill>
                  <a:schemeClr val="tx1"/>
                </a:solidFill>
              </a:rPr>
              <a:t/>
            </a:r>
          </a:p>
          <a:p>
            <a:pPr algn="l">
              <a:spcAft>
                <a:spcPts val="200"/>
              </a:spcAft>
            </a:pPr>
            <a:r>
              <a:rPr sz="1200" b="0" lang="en-GB">
                <a:solidFill>
                  <a:schemeClr val="tx1"/>
                </a:solidFill>
              </a:rPr>
              <a:t>all 8 weeks, 378 / 8</a:t>
            </a:r>
          </a:p>
        </p:txBody>
      </p:sp>
      <p:sp>
        <p:nvSpPr>
          <p:cNvPr id="15" name="Moving average stat box"/>
          <p:cNvSpPr/>
          <p:nvPr/>
        </p:nvSpPr>
        <p:spPr>
          <a:xfrm>
            <a:off x="5349240" y="2468880"/>
            <a:ext cx="33375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oving average stat bar"/>
          <p:cNvSpPr/>
          <p:nvPr/>
        </p:nvSpPr>
        <p:spPr>
          <a:xfrm>
            <a:off x="5349240" y="246888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oving average stat figure"/>
          <p:cNvSpPr txBox="1"/>
          <p:nvPr/>
        </p:nvSpPr>
        <p:spPr>
          <a:xfrm>
            <a:off x="5532120" y="2468880"/>
            <a:ext cx="128016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a:t>
            </a:r>
          </a:p>
        </p:txBody>
      </p:sp>
      <p:sp>
        <p:nvSpPr>
          <p:cNvPr id="18" name="Moving average stat label"/>
          <p:cNvSpPr txBox="1"/>
          <p:nvPr/>
        </p:nvSpPr>
        <p:spPr>
          <a:xfrm>
            <a:off x="6812280" y="2468880"/>
            <a:ext cx="178308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moving average:</a:t>
            </a:r>
            <a:r>
              <a:rPr sz="1200" b="0" lang="en-GB">
                <a:solidFill>
                  <a:schemeClr val="tx1"/>
                </a:solidFill>
              </a:rPr>
              <a:t/>
            </a:r>
          </a:p>
          <a:p>
            <a:pPr algn="l">
              <a:spcAft>
                <a:spcPts val="200"/>
              </a:spcAft>
            </a:pPr>
            <a:r>
              <a:rPr sz="1200" b="0" lang="en-GB">
                <a:solidFill>
                  <a:schemeClr val="tx1"/>
                </a:solidFill>
              </a:rPr>
              <a:t>(49 + 53 + 54) / 3</a:t>
            </a:r>
          </a:p>
        </p:txBody>
      </p:sp>
      <p:sp>
        <p:nvSpPr>
          <p:cNvPr id="19" name="Sum caption"/>
          <p:cNvSpPr txBox="1"/>
          <p:nvPr/>
        </p:nvSpPr>
        <p:spPr>
          <a:xfrm>
            <a:off x="5349240" y="3611880"/>
            <a:ext cx="3337560" cy="411480"/>
          </a:xfrm>
          <a:prstGeom prst="rect">
            <a:avLst/>
          </a:prstGeom>
          <a:noFill/>
        </p:spPr>
        <p:txBody>
          <a:bodyPr wrap="square" lIns="0" rIns="0" tIns="0" bIns="0" anchor="ctr">
            <a:noAutofit/>
          </a:bodyPr>
          <a:lstStyle/>
          <a:p>
            <a:pPr algn="l">
              <a:spcAft>
                <a:spcPts val="0"/>
              </a:spcAft>
            </a:pPr>
            <a:r>
              <a:rPr sz="1100" b="0" lang="en-GB">
                <a:solidFill>
                  <a:srgbClr val="595959"/>
                </a:solidFill>
              </a:rPr>
              <a:t>Sum: 40 + 44 + 42 + 46</a:t>
            </a:r>
          </a:p>
          <a:p>
            <a:pPr algn="l">
              <a:spcAft>
                <a:spcPts val="0"/>
              </a:spcAft>
            </a:pPr>
            <a:r>
              <a:rPr sz="1100" b="0" lang="en-GB">
                <a:solidFill>
                  <a:srgbClr val="595959"/>
                </a:solidFill>
              </a:rPr>
              <a:t>+ 50 + 49 + 53 + 54 = 378</a:t>
            </a:r>
          </a:p>
        </p:txBody>
      </p:sp>
      <p:sp>
        <p:nvSpPr>
          <p:cNvPr id="20" name="Averages callout box"/>
          <p:cNvSpPr/>
          <p:nvPr/>
        </p:nvSpPr>
        <p:spPr>
          <a:xfrm>
            <a:off x="457200" y="41605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verages callout text"/>
          <p:cNvSpPr txBox="1"/>
          <p:nvPr/>
        </p:nvSpPr>
        <p:spPr>
          <a:xfrm>
            <a:off x="658368" y="41605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Averages smooth out noise </a:t>
            </a:r>
            <a:r>
              <a:rPr sz="1200" b="0" lang="en-GB">
                <a:solidFill>
                  <a:schemeClr val="bg1"/>
                </a:solidFill>
              </a:rPr>
              <a:t>but lag behind a trend: both are below this week's 54.</a:t>
            </a:r>
          </a:p>
        </p:txBody>
      </p:sp>
      <p:sp>
        <p:nvSpPr>
          <p:cNvPr id="2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Exponential smoothing, step by step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S grid 1-1"/>
          <p:cNvSpPr/>
          <p:nvPr/>
        </p:nvSpPr>
        <p:spPr>
          <a:xfrm>
            <a:off x="457200" y="1234440"/>
            <a:ext cx="7040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S grid text 1-1"/>
          <p:cNvSpPr txBox="1"/>
          <p:nvPr/>
        </p:nvSpPr>
        <p:spPr>
          <a:xfrm>
            <a:off x="548640" y="1234440"/>
            <a:ext cx="5212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Week</a:t>
            </a:r>
          </a:p>
        </p:txBody>
      </p:sp>
      <p:sp>
        <p:nvSpPr>
          <p:cNvPr id="12" name="SES grid 1-2"/>
          <p:cNvSpPr/>
          <p:nvPr/>
        </p:nvSpPr>
        <p:spPr>
          <a:xfrm>
            <a:off x="1188720" y="1234440"/>
            <a:ext cx="106984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S grid text 1-2"/>
          <p:cNvSpPr txBox="1"/>
          <p:nvPr/>
        </p:nvSpPr>
        <p:spPr>
          <a:xfrm>
            <a:off x="1280160" y="1234440"/>
            <a:ext cx="88696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a:t>
            </a:r>
          </a:p>
        </p:txBody>
      </p:sp>
      <p:sp>
        <p:nvSpPr>
          <p:cNvPr id="14" name="SES grid 1-3"/>
          <p:cNvSpPr/>
          <p:nvPr/>
        </p:nvSpPr>
        <p:spPr>
          <a:xfrm>
            <a:off x="2286000" y="1234440"/>
            <a:ext cx="97840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ES grid text 1-3"/>
          <p:cNvSpPr txBox="1"/>
          <p:nvPr/>
        </p:nvSpPr>
        <p:spPr>
          <a:xfrm>
            <a:off x="2377440" y="1234440"/>
            <a:ext cx="79552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Level</a:t>
            </a:r>
          </a:p>
        </p:txBody>
      </p:sp>
      <p:sp>
        <p:nvSpPr>
          <p:cNvPr id="16" name="SES grid 1-4"/>
          <p:cNvSpPr/>
          <p:nvPr/>
        </p:nvSpPr>
        <p:spPr>
          <a:xfrm>
            <a:off x="3291840" y="1234440"/>
            <a:ext cx="2194560"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S grid text 1-4"/>
          <p:cNvSpPr txBox="1"/>
          <p:nvPr/>
        </p:nvSpPr>
        <p:spPr>
          <a:xfrm>
            <a:off x="3383280" y="1234440"/>
            <a:ext cx="198424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Calculation (α 0.5)</a:t>
            </a:r>
          </a:p>
        </p:txBody>
      </p:sp>
      <p:sp>
        <p:nvSpPr>
          <p:cNvPr id="18" name="SES grid 2-1"/>
          <p:cNvSpPr/>
          <p:nvPr/>
        </p:nvSpPr>
        <p:spPr>
          <a:xfrm>
            <a:off x="457200" y="154228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ES grid text 2-1"/>
          <p:cNvSpPr txBox="1"/>
          <p:nvPr/>
        </p:nvSpPr>
        <p:spPr>
          <a:xfrm>
            <a:off x="548640" y="154228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0" name="SES grid 2-2"/>
          <p:cNvSpPr/>
          <p:nvPr/>
        </p:nvSpPr>
        <p:spPr>
          <a:xfrm>
            <a:off x="1188720" y="1542288"/>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S grid text 2-2"/>
          <p:cNvSpPr txBox="1"/>
          <p:nvPr/>
        </p:nvSpPr>
        <p:spPr>
          <a:xfrm>
            <a:off x="1280160" y="1542288"/>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2" name="SES grid 2-3"/>
          <p:cNvSpPr/>
          <p:nvPr/>
        </p:nvSpPr>
        <p:spPr>
          <a:xfrm>
            <a:off x="2286000" y="1542288"/>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ES grid text 2-3"/>
          <p:cNvSpPr txBox="1"/>
          <p:nvPr/>
        </p:nvSpPr>
        <p:spPr>
          <a:xfrm>
            <a:off x="2377440" y="154228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4" name="SES grid 2-4"/>
          <p:cNvSpPr/>
          <p:nvPr/>
        </p:nvSpPr>
        <p:spPr>
          <a:xfrm>
            <a:off x="3291840" y="1542288"/>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S grid text 2-4"/>
          <p:cNvSpPr txBox="1"/>
          <p:nvPr/>
        </p:nvSpPr>
        <p:spPr>
          <a:xfrm>
            <a:off x="3383280" y="1542288"/>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start: the first value</a:t>
            </a:r>
          </a:p>
        </p:txBody>
      </p:sp>
      <p:sp>
        <p:nvSpPr>
          <p:cNvPr id="26" name="SES grid 3-1"/>
          <p:cNvSpPr/>
          <p:nvPr/>
        </p:nvSpPr>
        <p:spPr>
          <a:xfrm>
            <a:off x="457200" y="185013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ES grid text 3-1"/>
          <p:cNvSpPr txBox="1"/>
          <p:nvPr/>
        </p:nvSpPr>
        <p:spPr>
          <a:xfrm>
            <a:off x="548640" y="185013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28" name="SES grid 3-2"/>
          <p:cNvSpPr/>
          <p:nvPr/>
        </p:nvSpPr>
        <p:spPr>
          <a:xfrm>
            <a:off x="1188720" y="1850136"/>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S grid text 3-2"/>
          <p:cNvSpPr txBox="1"/>
          <p:nvPr/>
        </p:nvSpPr>
        <p:spPr>
          <a:xfrm>
            <a:off x="1280160" y="1850136"/>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30" name="SES grid 3-3"/>
          <p:cNvSpPr/>
          <p:nvPr/>
        </p:nvSpPr>
        <p:spPr>
          <a:xfrm>
            <a:off x="2286000" y="1850136"/>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ES grid text 3-3"/>
          <p:cNvSpPr txBox="1"/>
          <p:nvPr/>
        </p:nvSpPr>
        <p:spPr>
          <a:xfrm>
            <a:off x="2377440" y="185013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32" name="SES grid 3-4"/>
          <p:cNvSpPr/>
          <p:nvPr/>
        </p:nvSpPr>
        <p:spPr>
          <a:xfrm>
            <a:off x="3291840" y="1850136"/>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ES grid text 3-4"/>
          <p:cNvSpPr txBox="1"/>
          <p:nvPr/>
        </p:nvSpPr>
        <p:spPr>
          <a:xfrm>
            <a:off x="3383280" y="1850136"/>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44 + 0.5 × 40</a:t>
            </a:r>
          </a:p>
        </p:txBody>
      </p:sp>
      <p:sp>
        <p:nvSpPr>
          <p:cNvPr id="34" name="SES grid 4-1"/>
          <p:cNvSpPr/>
          <p:nvPr/>
        </p:nvSpPr>
        <p:spPr>
          <a:xfrm>
            <a:off x="457200" y="215798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ES grid text 4-1"/>
          <p:cNvSpPr txBox="1"/>
          <p:nvPr/>
        </p:nvSpPr>
        <p:spPr>
          <a:xfrm>
            <a:off x="548640" y="215798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36" name="SES grid 4-2"/>
          <p:cNvSpPr/>
          <p:nvPr/>
        </p:nvSpPr>
        <p:spPr>
          <a:xfrm>
            <a:off x="1188720" y="2157984"/>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ES grid text 4-2"/>
          <p:cNvSpPr txBox="1"/>
          <p:nvPr/>
        </p:nvSpPr>
        <p:spPr>
          <a:xfrm>
            <a:off x="1280160" y="2157984"/>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38" name="SES grid 4-3"/>
          <p:cNvSpPr/>
          <p:nvPr/>
        </p:nvSpPr>
        <p:spPr>
          <a:xfrm>
            <a:off x="2286000" y="2157984"/>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ES grid text 4-3"/>
          <p:cNvSpPr txBox="1"/>
          <p:nvPr/>
        </p:nvSpPr>
        <p:spPr>
          <a:xfrm>
            <a:off x="2377440" y="2157984"/>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40" name="SES grid 4-4"/>
          <p:cNvSpPr/>
          <p:nvPr/>
        </p:nvSpPr>
        <p:spPr>
          <a:xfrm>
            <a:off x="3291840" y="2157984"/>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ES grid text 4-4"/>
          <p:cNvSpPr txBox="1"/>
          <p:nvPr/>
        </p:nvSpPr>
        <p:spPr>
          <a:xfrm>
            <a:off x="3383280" y="2157984"/>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42 + 0.5 × 42</a:t>
            </a:r>
          </a:p>
        </p:txBody>
      </p:sp>
      <p:sp>
        <p:nvSpPr>
          <p:cNvPr id="42" name="SES grid 5-1"/>
          <p:cNvSpPr/>
          <p:nvPr/>
        </p:nvSpPr>
        <p:spPr>
          <a:xfrm>
            <a:off x="457200" y="2465832"/>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ES grid text 5-1"/>
          <p:cNvSpPr txBox="1"/>
          <p:nvPr/>
        </p:nvSpPr>
        <p:spPr>
          <a:xfrm>
            <a:off x="548640" y="2465832"/>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44" name="SES grid 5-2"/>
          <p:cNvSpPr/>
          <p:nvPr/>
        </p:nvSpPr>
        <p:spPr>
          <a:xfrm>
            <a:off x="1188720" y="2465832"/>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ES grid text 5-2"/>
          <p:cNvSpPr txBox="1"/>
          <p:nvPr/>
        </p:nvSpPr>
        <p:spPr>
          <a:xfrm>
            <a:off x="1280160" y="2465832"/>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46" name="SES grid 5-3"/>
          <p:cNvSpPr/>
          <p:nvPr/>
        </p:nvSpPr>
        <p:spPr>
          <a:xfrm>
            <a:off x="2286000" y="2465832"/>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ES grid text 5-3"/>
          <p:cNvSpPr txBox="1"/>
          <p:nvPr/>
        </p:nvSpPr>
        <p:spPr>
          <a:xfrm>
            <a:off x="2377440" y="2465832"/>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48" name="SES grid 5-4"/>
          <p:cNvSpPr/>
          <p:nvPr/>
        </p:nvSpPr>
        <p:spPr>
          <a:xfrm>
            <a:off x="3291840" y="2465832"/>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ES grid text 5-4"/>
          <p:cNvSpPr txBox="1"/>
          <p:nvPr/>
        </p:nvSpPr>
        <p:spPr>
          <a:xfrm>
            <a:off x="3383280" y="2465832"/>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46 + 0.5 × 42</a:t>
            </a:r>
          </a:p>
        </p:txBody>
      </p:sp>
      <p:sp>
        <p:nvSpPr>
          <p:cNvPr id="50" name="SES grid 6-1"/>
          <p:cNvSpPr/>
          <p:nvPr/>
        </p:nvSpPr>
        <p:spPr>
          <a:xfrm>
            <a:off x="457200" y="2773680"/>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ES grid text 6-1"/>
          <p:cNvSpPr txBox="1"/>
          <p:nvPr/>
        </p:nvSpPr>
        <p:spPr>
          <a:xfrm>
            <a:off x="548640" y="2773680"/>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52" name="SES grid 6-2"/>
          <p:cNvSpPr/>
          <p:nvPr/>
        </p:nvSpPr>
        <p:spPr>
          <a:xfrm>
            <a:off x="1188720" y="2773680"/>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ES grid text 6-2"/>
          <p:cNvSpPr txBox="1"/>
          <p:nvPr/>
        </p:nvSpPr>
        <p:spPr>
          <a:xfrm>
            <a:off x="1280160" y="2773680"/>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54" name="SES grid 6-3"/>
          <p:cNvSpPr/>
          <p:nvPr/>
        </p:nvSpPr>
        <p:spPr>
          <a:xfrm>
            <a:off x="2286000" y="2773680"/>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ES grid text 6-3"/>
          <p:cNvSpPr txBox="1"/>
          <p:nvPr/>
        </p:nvSpPr>
        <p:spPr>
          <a:xfrm>
            <a:off x="2377440" y="2773680"/>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47</a:t>
            </a:r>
          </a:p>
        </p:txBody>
      </p:sp>
      <p:sp>
        <p:nvSpPr>
          <p:cNvPr id="56" name="SES grid 6-4"/>
          <p:cNvSpPr/>
          <p:nvPr/>
        </p:nvSpPr>
        <p:spPr>
          <a:xfrm>
            <a:off x="3291840" y="2773680"/>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ES grid text 6-4"/>
          <p:cNvSpPr txBox="1"/>
          <p:nvPr/>
        </p:nvSpPr>
        <p:spPr>
          <a:xfrm>
            <a:off x="3383280" y="2773680"/>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50 + 0.5 × 44</a:t>
            </a:r>
          </a:p>
        </p:txBody>
      </p:sp>
      <p:sp>
        <p:nvSpPr>
          <p:cNvPr id="58" name="SES grid 7-1"/>
          <p:cNvSpPr/>
          <p:nvPr/>
        </p:nvSpPr>
        <p:spPr>
          <a:xfrm>
            <a:off x="457200" y="308152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ES grid text 7-1"/>
          <p:cNvSpPr txBox="1"/>
          <p:nvPr/>
        </p:nvSpPr>
        <p:spPr>
          <a:xfrm>
            <a:off x="548640" y="308152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60" name="SES grid 7-2"/>
          <p:cNvSpPr/>
          <p:nvPr/>
        </p:nvSpPr>
        <p:spPr>
          <a:xfrm>
            <a:off x="1188720" y="3081528"/>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ES grid text 7-2"/>
          <p:cNvSpPr txBox="1"/>
          <p:nvPr/>
        </p:nvSpPr>
        <p:spPr>
          <a:xfrm>
            <a:off x="1280160" y="3081528"/>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62" name="SES grid 7-3"/>
          <p:cNvSpPr/>
          <p:nvPr/>
        </p:nvSpPr>
        <p:spPr>
          <a:xfrm>
            <a:off x="2286000" y="3081528"/>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SES grid text 7-3"/>
          <p:cNvSpPr txBox="1"/>
          <p:nvPr/>
        </p:nvSpPr>
        <p:spPr>
          <a:xfrm>
            <a:off x="2377440" y="308152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48</a:t>
            </a:r>
          </a:p>
        </p:txBody>
      </p:sp>
      <p:sp>
        <p:nvSpPr>
          <p:cNvPr id="64" name="SES grid 7-4"/>
          <p:cNvSpPr/>
          <p:nvPr/>
        </p:nvSpPr>
        <p:spPr>
          <a:xfrm>
            <a:off x="3291840" y="3081528"/>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ES grid text 7-4"/>
          <p:cNvSpPr txBox="1"/>
          <p:nvPr/>
        </p:nvSpPr>
        <p:spPr>
          <a:xfrm>
            <a:off x="3383280" y="3081528"/>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49 + 0.5 × 47</a:t>
            </a:r>
          </a:p>
        </p:txBody>
      </p:sp>
      <p:sp>
        <p:nvSpPr>
          <p:cNvPr id="66" name="SES grid 8-1"/>
          <p:cNvSpPr/>
          <p:nvPr/>
        </p:nvSpPr>
        <p:spPr>
          <a:xfrm>
            <a:off x="457200" y="338937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ES grid text 8-1"/>
          <p:cNvSpPr txBox="1"/>
          <p:nvPr/>
        </p:nvSpPr>
        <p:spPr>
          <a:xfrm>
            <a:off x="548640" y="338937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68" name="SES grid 8-2"/>
          <p:cNvSpPr/>
          <p:nvPr/>
        </p:nvSpPr>
        <p:spPr>
          <a:xfrm>
            <a:off x="1188720" y="3389376"/>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ES grid text 8-2"/>
          <p:cNvSpPr txBox="1"/>
          <p:nvPr/>
        </p:nvSpPr>
        <p:spPr>
          <a:xfrm>
            <a:off x="1280160" y="3389376"/>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70" name="SES grid 8-3"/>
          <p:cNvSpPr/>
          <p:nvPr/>
        </p:nvSpPr>
        <p:spPr>
          <a:xfrm>
            <a:off x="2286000" y="3389376"/>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SES grid text 8-3"/>
          <p:cNvSpPr txBox="1"/>
          <p:nvPr/>
        </p:nvSpPr>
        <p:spPr>
          <a:xfrm>
            <a:off x="2377440" y="338937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50.5</a:t>
            </a:r>
          </a:p>
        </p:txBody>
      </p:sp>
      <p:sp>
        <p:nvSpPr>
          <p:cNvPr id="72" name="SES grid 8-4"/>
          <p:cNvSpPr/>
          <p:nvPr/>
        </p:nvSpPr>
        <p:spPr>
          <a:xfrm>
            <a:off x="3291840" y="3389376"/>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ES grid text 8-4"/>
          <p:cNvSpPr txBox="1"/>
          <p:nvPr/>
        </p:nvSpPr>
        <p:spPr>
          <a:xfrm>
            <a:off x="3383280" y="3389376"/>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53 + 0.5 × 48</a:t>
            </a:r>
          </a:p>
        </p:txBody>
      </p:sp>
      <p:sp>
        <p:nvSpPr>
          <p:cNvPr id="74" name="SES grid 9-1"/>
          <p:cNvSpPr/>
          <p:nvPr/>
        </p:nvSpPr>
        <p:spPr>
          <a:xfrm>
            <a:off x="457200" y="369722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ES grid text 9-1"/>
          <p:cNvSpPr txBox="1"/>
          <p:nvPr/>
        </p:nvSpPr>
        <p:spPr>
          <a:xfrm>
            <a:off x="548640" y="369722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76" name="SES grid 9-2"/>
          <p:cNvSpPr/>
          <p:nvPr/>
        </p:nvSpPr>
        <p:spPr>
          <a:xfrm>
            <a:off x="1188720" y="3697224"/>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ES grid text 9-2"/>
          <p:cNvSpPr txBox="1"/>
          <p:nvPr/>
        </p:nvSpPr>
        <p:spPr>
          <a:xfrm>
            <a:off x="1280160" y="3697224"/>
            <a:ext cx="886968" cy="280416"/>
          </a:xfrm>
          <a:prstGeom prst="rect">
            <a:avLst/>
          </a:prstGeom>
          <a:noFill/>
        </p:spPr>
        <p:txBody>
          <a:bodyPr wrap="square" lIns="0" rIns="0" tIns="0" bIns="0" anchor="ctr">
            <a:noAutofit/>
          </a:bodyPr>
          <a:lstStyle/>
          <a:p>
            <a:pPr algn="r">
              <a:spcAft>
                <a:spcPts val="400"/>
              </a:spcAft>
            </a:pPr>
            <a:r>
              <a:rPr sz="1150" b="1" lang="en-GB">
                <a:solidFill>
                  <a:schemeClr val="tx2"/>
                </a:solidFill>
              </a:rPr>
              <a:t>54</a:t>
            </a:r>
          </a:p>
        </p:txBody>
      </p:sp>
      <p:sp>
        <p:nvSpPr>
          <p:cNvPr id="78" name="SES grid 9-3"/>
          <p:cNvSpPr/>
          <p:nvPr/>
        </p:nvSpPr>
        <p:spPr>
          <a:xfrm>
            <a:off x="2286000" y="3697224"/>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ES grid text 9-3"/>
          <p:cNvSpPr txBox="1"/>
          <p:nvPr/>
        </p:nvSpPr>
        <p:spPr>
          <a:xfrm>
            <a:off x="2377440" y="3697224"/>
            <a:ext cx="795528" cy="280416"/>
          </a:xfrm>
          <a:prstGeom prst="rect">
            <a:avLst/>
          </a:prstGeom>
          <a:noFill/>
        </p:spPr>
        <p:txBody>
          <a:bodyPr wrap="square" lIns="0" rIns="0" tIns="0" bIns="0" anchor="ctr">
            <a:noAutofit/>
          </a:bodyPr>
          <a:lstStyle/>
          <a:p>
            <a:pPr algn="r">
              <a:spcAft>
                <a:spcPts val="400"/>
              </a:spcAft>
            </a:pPr>
            <a:r>
              <a:rPr sz="1150" b="1" lang="en-GB">
                <a:solidFill>
                  <a:schemeClr val="tx2"/>
                </a:solidFill>
              </a:rPr>
              <a:t>52.25</a:t>
            </a:r>
          </a:p>
        </p:txBody>
      </p:sp>
      <p:sp>
        <p:nvSpPr>
          <p:cNvPr id="80" name="SES grid 9-4"/>
          <p:cNvSpPr/>
          <p:nvPr/>
        </p:nvSpPr>
        <p:spPr>
          <a:xfrm>
            <a:off x="3291840" y="3697224"/>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ES grid text 9-4"/>
          <p:cNvSpPr txBox="1"/>
          <p:nvPr/>
        </p:nvSpPr>
        <p:spPr>
          <a:xfrm>
            <a:off x="3383280" y="3697224"/>
            <a:ext cx="198424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0.5 × 54 + 0.5 × 50.5</a:t>
            </a:r>
          </a:p>
        </p:txBody>
      </p:sp>
      <p:sp>
        <p:nvSpPr>
          <p:cNvPr id="82" name="SES rule caption bar"/>
          <p:cNvSpPr/>
          <p:nvPr/>
        </p:nvSpPr>
        <p:spPr>
          <a:xfrm>
            <a:off x="5623560" y="1234440"/>
            <a:ext cx="3063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ES rule caption"/>
          <p:cNvSpPr txBox="1"/>
          <p:nvPr/>
        </p:nvSpPr>
        <p:spPr>
          <a:xfrm>
            <a:off x="5733288" y="1234440"/>
            <a:ext cx="2843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Rule</a:t>
            </a:r>
          </a:p>
        </p:txBody>
      </p:sp>
      <p:sp>
        <p:nvSpPr>
          <p:cNvPr id="84" name="SES rule box"/>
          <p:cNvSpPr/>
          <p:nvPr/>
        </p:nvSpPr>
        <p:spPr>
          <a:xfrm>
            <a:off x="5623560" y="1508760"/>
            <a:ext cx="306324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ES rule code"/>
          <p:cNvSpPr txBox="1"/>
          <p:nvPr/>
        </p:nvSpPr>
        <p:spPr>
          <a:xfrm>
            <a:off x="5760720" y="1600200"/>
            <a:ext cx="2788920" cy="5029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new level = α × value</a:t>
            </a:r>
          </a:p>
          <a:p>
            <a:pPr algn="l">
              <a:spcAft>
                <a:spcPts val="0"/>
              </a:spcAft>
            </a:pPr>
            <a:r>
              <a:rPr sz="1100" b="0" lang="en-GB">
                <a:solidFill>
                  <a:schemeClr val="bg1"/>
                </a:solidFill>
                <a:latin typeface="Consolas"/>
              </a:rPr>
              <a:t>          + (1 − α) × old level</a:t>
            </a:r>
          </a:p>
          <a:p>
            <a:pPr algn="l">
              <a:spcAft>
                <a:spcPts val="0"/>
              </a:spcAft>
            </a:pPr>
            <a:r>
              <a:rPr sz="1100" b="0" lang="en-GB">
                <a:solidFill>
                  <a:schemeClr val="bg1"/>
                </a:solidFill>
                <a:latin typeface="Consolas"/>
              </a:rPr>
              <a:t>forecast = last level</a:t>
            </a:r>
          </a:p>
        </p:txBody>
      </p:sp>
      <p:sp>
        <p:nvSpPr>
          <p:cNvPr id="86" name="SES stat box"/>
          <p:cNvSpPr/>
          <p:nvPr/>
        </p:nvSpPr>
        <p:spPr>
          <a:xfrm>
            <a:off x="5623560" y="2331720"/>
            <a:ext cx="3063240" cy="7543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ES stat bar"/>
          <p:cNvSpPr/>
          <p:nvPr/>
        </p:nvSpPr>
        <p:spPr>
          <a:xfrm>
            <a:off x="5623560" y="2331720"/>
            <a:ext cx="64008" cy="7543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ES stat figure"/>
          <p:cNvSpPr txBox="1"/>
          <p:nvPr/>
        </p:nvSpPr>
        <p:spPr>
          <a:xfrm>
            <a:off x="5806440" y="2331720"/>
            <a:ext cx="1325880" cy="7543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52.25</a:t>
            </a:r>
          </a:p>
        </p:txBody>
      </p:sp>
      <p:sp>
        <p:nvSpPr>
          <p:cNvPr id="89" name="SES stat label"/>
          <p:cNvSpPr txBox="1"/>
          <p:nvPr/>
        </p:nvSpPr>
        <p:spPr>
          <a:xfrm>
            <a:off x="7132320" y="2331720"/>
            <a:ext cx="1463040" cy="754380"/>
          </a:xfrm>
          <a:prstGeom prst="rect">
            <a:avLst/>
          </a:prstGeom>
          <a:noFill/>
        </p:spPr>
        <p:txBody>
          <a:bodyPr wrap="square" lIns="0" rIns="0" tIns="0" bIns="0" anchor="ctr">
            <a:noAutofit/>
          </a:bodyPr>
          <a:lstStyle/>
          <a:p>
            <a:pPr algn="l">
              <a:spcAft>
                <a:spcPts val="200"/>
              </a:spcAft>
            </a:pPr>
            <a:r>
              <a:rPr sz="1200" b="1" lang="en-GB">
                <a:solidFill>
                  <a:schemeClr val="tx2"/>
                </a:solidFill>
              </a:rPr>
              <a:t>forecast</a:t>
            </a:r>
            <a:r>
              <a:rPr sz="1200" b="0" lang="en-GB">
                <a:solidFill>
                  <a:schemeClr val="tx1"/>
                </a:solidFill>
              </a:rPr>
              <a:t/>
            </a:r>
          </a:p>
          <a:p>
            <a:pPr algn="l">
              <a:spcAft>
                <a:spcPts val="200"/>
              </a:spcAft>
            </a:pPr>
            <a:r>
              <a:rPr sz="1200" b="0" lang="en-GB">
                <a:solidFill>
                  <a:schemeClr val="tx1"/>
                </a:solidFill>
              </a:rPr>
              <a:t>for week 9 (α 0.5)</a:t>
            </a:r>
          </a:p>
        </p:txBody>
      </p:sp>
      <p:sp>
        <p:nvSpPr>
          <p:cNvPr id="90" name="SES alpha stat box"/>
          <p:cNvSpPr/>
          <p:nvPr/>
        </p:nvSpPr>
        <p:spPr>
          <a:xfrm>
            <a:off x="5623560" y="3223260"/>
            <a:ext cx="3063240" cy="7543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ES alpha stat bar"/>
          <p:cNvSpPr/>
          <p:nvPr/>
        </p:nvSpPr>
        <p:spPr>
          <a:xfrm>
            <a:off x="5623560" y="3223260"/>
            <a:ext cx="64008" cy="7543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ES alpha stat figure"/>
          <p:cNvSpPr txBox="1"/>
          <p:nvPr/>
        </p:nvSpPr>
        <p:spPr>
          <a:xfrm>
            <a:off x="5806440" y="3223260"/>
            <a:ext cx="1325880" cy="7543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47.89</a:t>
            </a:r>
          </a:p>
        </p:txBody>
      </p:sp>
      <p:sp>
        <p:nvSpPr>
          <p:cNvPr id="93" name="SES alpha stat label"/>
          <p:cNvSpPr txBox="1"/>
          <p:nvPr/>
        </p:nvSpPr>
        <p:spPr>
          <a:xfrm>
            <a:off x="7132320" y="3223260"/>
            <a:ext cx="1463040" cy="754380"/>
          </a:xfrm>
          <a:prstGeom prst="rect">
            <a:avLst/>
          </a:prstGeom>
          <a:noFill/>
        </p:spPr>
        <p:txBody>
          <a:bodyPr wrap="square" lIns="0" rIns="0" tIns="0" bIns="0" anchor="ctr">
            <a:noAutofit/>
          </a:bodyPr>
          <a:lstStyle/>
          <a:p>
            <a:pPr algn="l">
              <a:spcAft>
                <a:spcPts val="200"/>
              </a:spcAft>
            </a:pPr>
            <a:r>
              <a:rPr sz="1200" b="1" lang="en-GB">
                <a:solidFill>
                  <a:schemeClr val="tx2"/>
                </a:solidFill>
              </a:rPr>
              <a:t>α 0.2:</a:t>
            </a:r>
            <a:r>
              <a:rPr sz="1200" b="0" lang="en-GB">
                <a:solidFill>
                  <a:schemeClr val="tx1"/>
                </a:solidFill>
              </a:rPr>
              <a:t> slower</a:t>
            </a:r>
          </a:p>
          <a:p>
            <a:pPr algn="l">
              <a:spcAft>
                <a:spcPts val="200"/>
              </a:spcAft>
            </a:pPr>
            <a:r>
              <a:rPr sz="1200" b="0" lang="en-GB">
                <a:solidFill>
                  <a:schemeClr val="tx1"/>
                </a:solidFill>
              </a:rPr>
              <a:t>α 1 = naive (54)</a:t>
            </a:r>
          </a:p>
        </p:txBody>
      </p:sp>
      <p:sp>
        <p:nvSpPr>
          <p:cNvPr id="94" name="SES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ES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Recent weeks count most: </a:t>
            </a:r>
            <a:r>
              <a:rPr sz="1200" b="0" lang="en-GB">
                <a:solidFill>
                  <a:schemeClr val="bg1"/>
                </a:solidFill>
              </a:rPr>
              <a:t>α near 1 follows the data fast, α near 0 averages.</a:t>
            </a:r>
          </a:p>
        </p:txBody>
      </p:sp>
      <p:sp>
        <p:nvSpPr>
          <p:cNvPr id="9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Regression on time: the trend line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1_trend.png" descr="New contracts per week, weeks 1 to 8 (40, 44, 42, 46, 50, 49, 53, 54), with the fitted trend line 38.25 + 2 × week as a blue dashed line, grey residuals from each week to the line, and the forecast 56.25 for week 9."/>
          <p:cNvPicPr>
            <a:picLocks noChangeAspect="1"/>
          </p:cNvPicPr>
          <p:nvPr/>
        </p:nvPicPr>
        <p:blipFill>
          <a:blip r:embed="rId3"/>
          <a:stretch>
            <a:fillRect/>
          </a:stretch>
        </p:blipFill>
        <p:spPr>
          <a:xfrm>
            <a:off x="457200" y="1234440"/>
            <a:ext cx="4754880" cy="2788920"/>
          </a:xfrm>
          <a:prstGeom prst="rect">
            <a:avLst/>
          </a:prstGeom>
        </p:spPr>
      </p:pic>
      <p:sp>
        <p:nvSpPr>
          <p:cNvPr id="11" name="Trend formula caption bar"/>
          <p:cNvSpPr/>
          <p:nvPr/>
        </p:nvSpPr>
        <p:spPr>
          <a:xfrm>
            <a:off x="5349240" y="1234440"/>
            <a:ext cx="33375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rend formula caption"/>
          <p:cNvSpPr txBox="1"/>
          <p:nvPr/>
        </p:nvSpPr>
        <p:spPr>
          <a:xfrm>
            <a:off x="5458968" y="1234440"/>
            <a:ext cx="31181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By hand</a:t>
            </a:r>
          </a:p>
        </p:txBody>
      </p:sp>
      <p:sp>
        <p:nvSpPr>
          <p:cNvPr id="13" name="Trend formula box"/>
          <p:cNvSpPr/>
          <p:nvPr/>
        </p:nvSpPr>
        <p:spPr>
          <a:xfrm>
            <a:off x="5349240" y="1508760"/>
            <a:ext cx="3337560" cy="12344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rend formula code"/>
          <p:cNvSpPr txBox="1"/>
          <p:nvPr/>
        </p:nvSpPr>
        <p:spPr>
          <a:xfrm>
            <a:off x="5486400" y="1600200"/>
            <a:ext cx="3063240" cy="105156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t̄ = 4.5   ȳ = 47.25</a:t>
            </a:r>
          </a:p>
          <a:p>
            <a:pPr algn="l">
              <a:spcAft>
                <a:spcPts val="0"/>
              </a:spcAft>
            </a:pPr>
            <a:r>
              <a:rPr sz="1100" b="0" lang="en-GB">
                <a:solidFill>
                  <a:schemeClr val="bg1"/>
                </a:solidFill>
                <a:latin typeface="Consolas"/>
              </a:rPr>
              <a:t>b1 = Σ(t − t̄)(y − ȳ) / Σ(t − t̄)²</a:t>
            </a:r>
          </a:p>
          <a:p>
            <a:pPr algn="l">
              <a:spcAft>
                <a:spcPts val="0"/>
              </a:spcAft>
            </a:pPr>
            <a:r>
              <a:rPr sz="1100" b="0" lang="en-GB">
                <a:solidFill>
                  <a:schemeClr val="bg1"/>
                </a:solidFill>
                <a:latin typeface="Consolas"/>
              </a:rPr>
              <a:t>   = 84 / 42 = 2</a:t>
            </a:r>
          </a:p>
          <a:p>
            <a:pPr algn="l">
              <a:spcAft>
                <a:spcPts val="0"/>
              </a:spcAft>
            </a:pPr>
            <a:r>
              <a:rPr sz="1100" b="0" lang="en-GB">
                <a:solidFill>
                  <a:schemeClr val="bg1"/>
                </a:solidFill>
                <a:latin typeface="Consolas"/>
              </a:rPr>
              <a:t>b0 = ȳ − b1 × t̄</a:t>
            </a:r>
          </a:p>
          <a:p>
            <a:pPr algn="l">
              <a:spcAft>
                <a:spcPts val="0"/>
              </a:spcAft>
            </a:pPr>
            <a:r>
              <a:rPr sz="1100" b="0" lang="en-GB">
                <a:solidFill>
                  <a:schemeClr val="bg1"/>
                </a:solidFill>
                <a:latin typeface="Consolas"/>
              </a:rPr>
              <a:t>   = 47.25 − 2 × 4.5 = 38.25</a:t>
            </a:r>
          </a:p>
          <a:p>
            <a:pPr algn="l">
              <a:spcAft>
                <a:spcPts val="0"/>
              </a:spcAft>
            </a:pPr>
            <a:r>
              <a:rPr sz="1100" b="0" lang="en-GB">
                <a:solidFill>
                  <a:schemeClr val="bg1"/>
                </a:solidFill>
                <a:latin typeface="Consolas"/>
              </a:rPr>
              <a:t>week 9: 38.25 + 2 × 9 = 56.25</a:t>
            </a:r>
          </a:p>
        </p:txBody>
      </p:sp>
      <p:sp>
        <p:nvSpPr>
          <p:cNvPr id="15" name="R2 stat box"/>
          <p:cNvSpPr/>
          <p:nvPr/>
        </p:nvSpPr>
        <p:spPr>
          <a:xfrm>
            <a:off x="5349240" y="2880360"/>
            <a:ext cx="33375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2 stat bar"/>
          <p:cNvSpPr/>
          <p:nvPr/>
        </p:nvSpPr>
        <p:spPr>
          <a:xfrm>
            <a:off x="5349240" y="288036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2 stat figure"/>
          <p:cNvSpPr txBox="1"/>
          <p:nvPr/>
        </p:nvSpPr>
        <p:spPr>
          <a:xfrm>
            <a:off x="5532120" y="2880360"/>
            <a:ext cx="132588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0.926</a:t>
            </a:r>
          </a:p>
        </p:txBody>
      </p:sp>
      <p:sp>
        <p:nvSpPr>
          <p:cNvPr id="18" name="R2 stat label"/>
          <p:cNvSpPr txBox="1"/>
          <p:nvPr/>
        </p:nvSpPr>
        <p:spPr>
          <a:xfrm>
            <a:off x="6858000" y="2880360"/>
            <a:ext cx="173736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R²</a:t>
            </a:r>
            <a:r>
              <a:rPr sz="1200" b="0" lang="en-GB">
                <a:solidFill>
                  <a:schemeClr val="tx1"/>
                </a:solidFill>
              </a:rPr>
              <a:t> = 1 − 13.5 / 181.5</a:t>
            </a:r>
          </a:p>
          <a:p>
            <a:pPr algn="l">
              <a:spcAft>
                <a:spcPts val="200"/>
              </a:spcAft>
            </a:pPr>
            <a:r>
              <a:rPr sz="1200" b="0" lang="en-GB">
                <a:solidFill>
                  <a:schemeClr val="tx1"/>
                </a:solidFill>
              </a:rPr>
              <a:t>the line fits well</a:t>
            </a:r>
          </a:p>
        </p:txBody>
      </p:sp>
      <p:sp>
        <p:nvSpPr>
          <p:cNvPr id="19" name="Trend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rend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The trend line uses every week: </a:t>
            </a:r>
            <a:r>
              <a:rPr sz="1200" b="0" lang="en-GB">
                <a:solidFill>
                  <a:schemeClr val="bg1"/>
                </a:solidFill>
              </a:rPr>
              <a:t>it assumes the trend goes on – and that the errors are independent (slide 28).</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Season by hand: the chocolate shop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ason grid 1-1"/>
          <p:cNvSpPr/>
          <p:nvPr/>
        </p:nvSpPr>
        <p:spPr>
          <a:xfrm>
            <a:off x="457200" y="1234440"/>
            <a:ext cx="21671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ason grid text 1-1"/>
          <p:cNvSpPr txBox="1"/>
          <p:nvPr/>
        </p:nvSpPr>
        <p:spPr>
          <a:xfrm>
            <a:off x="548640" y="1234440"/>
            <a:ext cx="1984248" cy="384048"/>
          </a:xfrm>
          <a:prstGeom prst="rect">
            <a:avLst/>
          </a:prstGeom>
          <a:noFill/>
        </p:spPr>
        <p:txBody>
          <a:bodyPr wrap="square" lIns="0" rIns="0" tIns="0" bIns="0" anchor="ctr">
            <a:noAutofit/>
          </a:bodyPr>
          <a:lstStyle/>
          <a:p>
            <a:pPr algn="l">
              <a:spcAft>
                <a:spcPts val="400"/>
              </a:spcAft>
            </a:pPr>
            <a:r>
              <a:rPr sz="1250" b="1" lang="en-GB">
                <a:solidFill>
                  <a:schemeClr val="bg1"/>
                </a:solidFill>
              </a:rPr>
              <a:t>Sales, k EUR</a:t>
            </a:r>
          </a:p>
        </p:txBody>
      </p:sp>
      <p:sp>
        <p:nvSpPr>
          <p:cNvPr id="12" name="Season grid 1-2"/>
          <p:cNvSpPr/>
          <p:nvPr/>
        </p:nvSpPr>
        <p:spPr>
          <a:xfrm>
            <a:off x="265176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 grid text 1-2"/>
          <p:cNvSpPr txBox="1"/>
          <p:nvPr/>
        </p:nvSpPr>
        <p:spPr>
          <a:xfrm>
            <a:off x="274320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Q1</a:t>
            </a:r>
          </a:p>
        </p:txBody>
      </p:sp>
      <p:sp>
        <p:nvSpPr>
          <p:cNvPr id="14" name="Season grid 1-3"/>
          <p:cNvSpPr/>
          <p:nvPr/>
        </p:nvSpPr>
        <p:spPr>
          <a:xfrm>
            <a:off x="374904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eason grid text 1-3"/>
          <p:cNvSpPr txBox="1"/>
          <p:nvPr/>
        </p:nvSpPr>
        <p:spPr>
          <a:xfrm>
            <a:off x="384048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Q2</a:t>
            </a:r>
          </a:p>
        </p:txBody>
      </p:sp>
      <p:sp>
        <p:nvSpPr>
          <p:cNvPr id="16" name="Season grid 1-4"/>
          <p:cNvSpPr/>
          <p:nvPr/>
        </p:nvSpPr>
        <p:spPr>
          <a:xfrm>
            <a:off x="484632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 grid text 1-4"/>
          <p:cNvSpPr txBox="1"/>
          <p:nvPr/>
        </p:nvSpPr>
        <p:spPr>
          <a:xfrm>
            <a:off x="493776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Q3</a:t>
            </a:r>
          </a:p>
        </p:txBody>
      </p:sp>
      <p:sp>
        <p:nvSpPr>
          <p:cNvPr id="18" name="Season grid 1-5"/>
          <p:cNvSpPr/>
          <p:nvPr/>
        </p:nvSpPr>
        <p:spPr>
          <a:xfrm>
            <a:off x="5943600" y="1234440"/>
            <a:ext cx="1069848" cy="38404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eason grid text 1-5"/>
          <p:cNvSpPr txBox="1"/>
          <p:nvPr/>
        </p:nvSpPr>
        <p:spPr>
          <a:xfrm>
            <a:off x="603504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Q4</a:t>
            </a:r>
          </a:p>
        </p:txBody>
      </p:sp>
      <p:sp>
        <p:nvSpPr>
          <p:cNvPr id="20" name="Season grid 1-6"/>
          <p:cNvSpPr/>
          <p:nvPr/>
        </p:nvSpPr>
        <p:spPr>
          <a:xfrm>
            <a:off x="7040880" y="1234440"/>
            <a:ext cx="164592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ason grid text 1-6"/>
          <p:cNvSpPr txBox="1"/>
          <p:nvPr/>
        </p:nvSpPr>
        <p:spPr>
          <a:xfrm>
            <a:off x="7132320" y="1234440"/>
            <a:ext cx="143560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Year mean</a:t>
            </a:r>
          </a:p>
        </p:txBody>
      </p:sp>
      <p:sp>
        <p:nvSpPr>
          <p:cNvPr id="22" name="Season grid 2-1"/>
          <p:cNvSpPr/>
          <p:nvPr/>
        </p:nvSpPr>
        <p:spPr>
          <a:xfrm>
            <a:off x="457200" y="164592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eason grid text 2-1"/>
          <p:cNvSpPr txBox="1"/>
          <p:nvPr/>
        </p:nvSpPr>
        <p:spPr>
          <a:xfrm>
            <a:off x="548640" y="164592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Year 1</a:t>
            </a:r>
          </a:p>
        </p:txBody>
      </p:sp>
      <p:sp>
        <p:nvSpPr>
          <p:cNvPr id="24" name="Season grid 2-2"/>
          <p:cNvSpPr/>
          <p:nvPr/>
        </p:nvSpPr>
        <p:spPr>
          <a:xfrm>
            <a:off x="265176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ason grid text 2-2"/>
          <p:cNvSpPr txBox="1"/>
          <p:nvPr/>
        </p:nvSpPr>
        <p:spPr>
          <a:xfrm>
            <a:off x="274320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20</a:t>
            </a:r>
          </a:p>
        </p:txBody>
      </p:sp>
      <p:sp>
        <p:nvSpPr>
          <p:cNvPr id="26" name="Season grid 2-3"/>
          <p:cNvSpPr/>
          <p:nvPr/>
        </p:nvSpPr>
        <p:spPr>
          <a:xfrm>
            <a:off x="374904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eason grid text 2-3"/>
          <p:cNvSpPr txBox="1"/>
          <p:nvPr/>
        </p:nvSpPr>
        <p:spPr>
          <a:xfrm>
            <a:off x="384048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16</a:t>
            </a:r>
          </a:p>
        </p:txBody>
      </p:sp>
      <p:sp>
        <p:nvSpPr>
          <p:cNvPr id="28" name="Season grid 2-4"/>
          <p:cNvSpPr/>
          <p:nvPr/>
        </p:nvSpPr>
        <p:spPr>
          <a:xfrm>
            <a:off x="484632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ason grid text 2-4"/>
          <p:cNvSpPr txBox="1"/>
          <p:nvPr/>
        </p:nvSpPr>
        <p:spPr>
          <a:xfrm>
            <a:off x="493776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20</a:t>
            </a:r>
          </a:p>
        </p:txBody>
      </p:sp>
      <p:sp>
        <p:nvSpPr>
          <p:cNvPr id="30" name="Season grid 2-5"/>
          <p:cNvSpPr/>
          <p:nvPr/>
        </p:nvSpPr>
        <p:spPr>
          <a:xfrm>
            <a:off x="594360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eason grid text 2-5"/>
          <p:cNvSpPr txBox="1"/>
          <p:nvPr/>
        </p:nvSpPr>
        <p:spPr>
          <a:xfrm>
            <a:off x="6035040" y="164592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30</a:t>
            </a:r>
          </a:p>
        </p:txBody>
      </p:sp>
      <p:sp>
        <p:nvSpPr>
          <p:cNvPr id="32" name="Season grid 2-6"/>
          <p:cNvSpPr/>
          <p:nvPr/>
        </p:nvSpPr>
        <p:spPr>
          <a:xfrm>
            <a:off x="7040880" y="164592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eason grid text 2-6"/>
          <p:cNvSpPr txBox="1"/>
          <p:nvPr/>
        </p:nvSpPr>
        <p:spPr>
          <a:xfrm>
            <a:off x="7132320" y="1645920"/>
            <a:ext cx="14356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21.5</a:t>
            </a:r>
          </a:p>
        </p:txBody>
      </p:sp>
      <p:sp>
        <p:nvSpPr>
          <p:cNvPr id="34" name="Season grid 3-1"/>
          <p:cNvSpPr/>
          <p:nvPr/>
        </p:nvSpPr>
        <p:spPr>
          <a:xfrm>
            <a:off x="457200" y="205740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eason grid text 3-1"/>
          <p:cNvSpPr txBox="1"/>
          <p:nvPr/>
        </p:nvSpPr>
        <p:spPr>
          <a:xfrm>
            <a:off x="548640" y="205740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Year 2</a:t>
            </a:r>
          </a:p>
        </p:txBody>
      </p:sp>
      <p:sp>
        <p:nvSpPr>
          <p:cNvPr id="36" name="Season grid 3-2"/>
          <p:cNvSpPr/>
          <p:nvPr/>
        </p:nvSpPr>
        <p:spPr>
          <a:xfrm>
            <a:off x="265176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eason grid text 3-2"/>
          <p:cNvSpPr txBox="1"/>
          <p:nvPr/>
        </p:nvSpPr>
        <p:spPr>
          <a:xfrm>
            <a:off x="274320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24</a:t>
            </a:r>
          </a:p>
        </p:txBody>
      </p:sp>
      <p:sp>
        <p:nvSpPr>
          <p:cNvPr id="38" name="Season grid 3-3"/>
          <p:cNvSpPr/>
          <p:nvPr/>
        </p:nvSpPr>
        <p:spPr>
          <a:xfrm>
            <a:off x="374904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eason grid text 3-3"/>
          <p:cNvSpPr txBox="1"/>
          <p:nvPr/>
        </p:nvSpPr>
        <p:spPr>
          <a:xfrm>
            <a:off x="384048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20</a:t>
            </a:r>
          </a:p>
        </p:txBody>
      </p:sp>
      <p:sp>
        <p:nvSpPr>
          <p:cNvPr id="40" name="Season grid 3-4"/>
          <p:cNvSpPr/>
          <p:nvPr/>
        </p:nvSpPr>
        <p:spPr>
          <a:xfrm>
            <a:off x="484632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eason grid text 3-4"/>
          <p:cNvSpPr txBox="1"/>
          <p:nvPr/>
        </p:nvSpPr>
        <p:spPr>
          <a:xfrm>
            <a:off x="493776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23</a:t>
            </a:r>
          </a:p>
        </p:txBody>
      </p:sp>
      <p:sp>
        <p:nvSpPr>
          <p:cNvPr id="42" name="Season grid 3-5"/>
          <p:cNvSpPr/>
          <p:nvPr/>
        </p:nvSpPr>
        <p:spPr>
          <a:xfrm>
            <a:off x="594360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eason grid text 3-5"/>
          <p:cNvSpPr txBox="1"/>
          <p:nvPr/>
        </p:nvSpPr>
        <p:spPr>
          <a:xfrm>
            <a:off x="6035040" y="205740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35</a:t>
            </a:r>
          </a:p>
        </p:txBody>
      </p:sp>
      <p:sp>
        <p:nvSpPr>
          <p:cNvPr id="44" name="Season grid 3-6"/>
          <p:cNvSpPr/>
          <p:nvPr/>
        </p:nvSpPr>
        <p:spPr>
          <a:xfrm>
            <a:off x="7040880" y="205740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eason grid text 3-6"/>
          <p:cNvSpPr txBox="1"/>
          <p:nvPr/>
        </p:nvSpPr>
        <p:spPr>
          <a:xfrm>
            <a:off x="7132320" y="2057400"/>
            <a:ext cx="14356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25.5</a:t>
            </a:r>
          </a:p>
        </p:txBody>
      </p:sp>
      <p:sp>
        <p:nvSpPr>
          <p:cNvPr id="46" name="Season grid 4-1"/>
          <p:cNvSpPr/>
          <p:nvPr/>
        </p:nvSpPr>
        <p:spPr>
          <a:xfrm>
            <a:off x="457200" y="246888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eason grid text 4-1"/>
          <p:cNvSpPr txBox="1"/>
          <p:nvPr/>
        </p:nvSpPr>
        <p:spPr>
          <a:xfrm>
            <a:off x="548640" y="246888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Year 3</a:t>
            </a:r>
          </a:p>
        </p:txBody>
      </p:sp>
      <p:sp>
        <p:nvSpPr>
          <p:cNvPr id="48" name="Season grid 4-2"/>
          <p:cNvSpPr/>
          <p:nvPr/>
        </p:nvSpPr>
        <p:spPr>
          <a:xfrm>
            <a:off x="265176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eason grid text 4-2"/>
          <p:cNvSpPr txBox="1"/>
          <p:nvPr/>
        </p:nvSpPr>
        <p:spPr>
          <a:xfrm>
            <a:off x="2743200" y="246888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28</a:t>
            </a:r>
          </a:p>
        </p:txBody>
      </p:sp>
      <p:sp>
        <p:nvSpPr>
          <p:cNvPr id="50" name="Season grid 4-3"/>
          <p:cNvSpPr/>
          <p:nvPr/>
        </p:nvSpPr>
        <p:spPr>
          <a:xfrm>
            <a:off x="374904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eason grid text 4-3"/>
          <p:cNvSpPr txBox="1"/>
          <p:nvPr/>
        </p:nvSpPr>
        <p:spPr>
          <a:xfrm>
            <a:off x="3840480" y="246888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24</a:t>
            </a:r>
          </a:p>
        </p:txBody>
      </p:sp>
      <p:sp>
        <p:nvSpPr>
          <p:cNvPr id="52" name="Season grid 4-4"/>
          <p:cNvSpPr/>
          <p:nvPr/>
        </p:nvSpPr>
        <p:spPr>
          <a:xfrm>
            <a:off x="484632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eason grid text 4-4"/>
          <p:cNvSpPr txBox="1"/>
          <p:nvPr/>
        </p:nvSpPr>
        <p:spPr>
          <a:xfrm>
            <a:off x="4937760" y="246888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26</a:t>
            </a:r>
          </a:p>
        </p:txBody>
      </p:sp>
      <p:sp>
        <p:nvSpPr>
          <p:cNvPr id="54" name="Season grid 4-5"/>
          <p:cNvSpPr/>
          <p:nvPr/>
        </p:nvSpPr>
        <p:spPr>
          <a:xfrm>
            <a:off x="594360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eason grid text 4-5"/>
          <p:cNvSpPr txBox="1"/>
          <p:nvPr/>
        </p:nvSpPr>
        <p:spPr>
          <a:xfrm>
            <a:off x="6035040" y="246888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40</a:t>
            </a:r>
          </a:p>
        </p:txBody>
      </p:sp>
      <p:sp>
        <p:nvSpPr>
          <p:cNvPr id="56" name="Season grid 4-6"/>
          <p:cNvSpPr/>
          <p:nvPr/>
        </p:nvSpPr>
        <p:spPr>
          <a:xfrm>
            <a:off x="7040880" y="246888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eason grid text 4-6"/>
          <p:cNvSpPr txBox="1"/>
          <p:nvPr/>
        </p:nvSpPr>
        <p:spPr>
          <a:xfrm>
            <a:off x="7132320" y="2468880"/>
            <a:ext cx="14356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29.5</a:t>
            </a:r>
          </a:p>
        </p:txBody>
      </p:sp>
      <p:sp>
        <p:nvSpPr>
          <p:cNvPr id="58" name="Season grid 5-1"/>
          <p:cNvSpPr/>
          <p:nvPr/>
        </p:nvSpPr>
        <p:spPr>
          <a:xfrm>
            <a:off x="457200" y="288036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eason grid text 5-1"/>
          <p:cNvSpPr txBox="1"/>
          <p:nvPr/>
        </p:nvSpPr>
        <p:spPr>
          <a:xfrm>
            <a:off x="548640" y="288036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Season: average gap</a:t>
            </a:r>
          </a:p>
        </p:txBody>
      </p:sp>
      <p:sp>
        <p:nvSpPr>
          <p:cNvPr id="60" name="Season grid 5-2"/>
          <p:cNvSpPr/>
          <p:nvPr/>
        </p:nvSpPr>
        <p:spPr>
          <a:xfrm>
            <a:off x="265176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eason grid text 5-2"/>
          <p:cNvSpPr txBox="1"/>
          <p:nvPr/>
        </p:nvSpPr>
        <p:spPr>
          <a:xfrm>
            <a:off x="274320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−1.5</a:t>
            </a:r>
          </a:p>
        </p:txBody>
      </p:sp>
      <p:sp>
        <p:nvSpPr>
          <p:cNvPr id="62" name="Season grid 5-3"/>
          <p:cNvSpPr/>
          <p:nvPr/>
        </p:nvSpPr>
        <p:spPr>
          <a:xfrm>
            <a:off x="374904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Season grid text 5-3"/>
          <p:cNvSpPr txBox="1"/>
          <p:nvPr/>
        </p:nvSpPr>
        <p:spPr>
          <a:xfrm>
            <a:off x="384048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−5.5</a:t>
            </a:r>
          </a:p>
        </p:txBody>
      </p:sp>
      <p:sp>
        <p:nvSpPr>
          <p:cNvPr id="64" name="Season grid 5-4"/>
          <p:cNvSpPr/>
          <p:nvPr/>
        </p:nvSpPr>
        <p:spPr>
          <a:xfrm>
            <a:off x="484632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eason grid text 5-4"/>
          <p:cNvSpPr txBox="1"/>
          <p:nvPr/>
        </p:nvSpPr>
        <p:spPr>
          <a:xfrm>
            <a:off x="493776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−2.5</a:t>
            </a:r>
          </a:p>
        </p:txBody>
      </p:sp>
      <p:sp>
        <p:nvSpPr>
          <p:cNvPr id="66" name="Season grid 5-5"/>
          <p:cNvSpPr/>
          <p:nvPr/>
        </p:nvSpPr>
        <p:spPr>
          <a:xfrm>
            <a:off x="594360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eason grid text 5-5"/>
          <p:cNvSpPr txBox="1"/>
          <p:nvPr/>
        </p:nvSpPr>
        <p:spPr>
          <a:xfrm>
            <a:off x="603504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+9.5</a:t>
            </a:r>
          </a:p>
        </p:txBody>
      </p:sp>
      <p:sp>
        <p:nvSpPr>
          <p:cNvPr id="68" name="Season grid 5-6"/>
          <p:cNvSpPr/>
          <p:nvPr/>
        </p:nvSpPr>
        <p:spPr>
          <a:xfrm>
            <a:off x="7040880" y="288036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eason grid text 5-6"/>
          <p:cNvSpPr txBox="1"/>
          <p:nvPr/>
        </p:nvSpPr>
        <p:spPr>
          <a:xfrm>
            <a:off x="7132320" y="2880360"/>
            <a:ext cx="143560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sum 0</a:t>
            </a:r>
          </a:p>
        </p:txBody>
      </p:sp>
      <p:sp>
        <p:nvSpPr>
          <p:cNvPr id="70" name="Q4 gap row"/>
          <p:cNvSpPr/>
          <p:nvPr/>
        </p:nvSpPr>
        <p:spPr>
          <a:xfrm>
            <a:off x="457200" y="3401568"/>
            <a:ext cx="40462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Q4 gap bar"/>
          <p:cNvSpPr/>
          <p:nvPr/>
        </p:nvSpPr>
        <p:spPr>
          <a:xfrm>
            <a:off x="457200" y="3401568"/>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Q4 gap text"/>
          <p:cNvSpPr txBox="1"/>
          <p:nvPr/>
        </p:nvSpPr>
        <p:spPr>
          <a:xfrm>
            <a:off x="658368" y="3401568"/>
            <a:ext cx="3753612" cy="640080"/>
          </a:xfrm>
          <a:prstGeom prst="rect">
            <a:avLst/>
          </a:prstGeom>
          <a:noFill/>
        </p:spPr>
        <p:txBody>
          <a:bodyPr wrap="square" lIns="0" rIns="0" tIns="0" bIns="0" anchor="ctr">
            <a:noAutofit/>
          </a:bodyPr>
          <a:lstStyle/>
          <a:p>
            <a:pPr algn="l">
              <a:spcAft>
                <a:spcPts val="200"/>
              </a:spcAft>
            </a:pPr>
            <a:r>
              <a:rPr sz="1200" b="1" lang="en-GB">
                <a:solidFill>
                  <a:schemeClr val="tx2"/>
                </a:solidFill>
              </a:rPr>
              <a:t>Q4: </a:t>
            </a:r>
            <a:r>
              <a:rPr sz="1200" b="0" lang="en-GB">
                <a:solidFill>
                  <a:schemeClr val="tx1"/>
                </a:solidFill>
              </a:rPr>
              <a:t>gaps 30 − 21.5 = +8.5, then +9.5, +10.5</a:t>
            </a:r>
          </a:p>
          <a:p>
            <a:pPr algn="l">
              <a:spcAft>
                <a:spcPts val="200"/>
              </a:spcAft>
            </a:pPr>
            <a:r>
              <a:rPr sz="1200" b="0" lang="en-GB">
                <a:solidFill>
                  <a:schemeClr val="tx1"/>
                </a:solidFill>
              </a:rPr>
              <a:t>average (8.5 + 9.5 + 10.5) / 3 = +9.5</a:t>
            </a:r>
          </a:p>
        </p:txBody>
      </p:sp>
      <p:sp>
        <p:nvSpPr>
          <p:cNvPr id="73" name="Year trend row"/>
          <p:cNvSpPr/>
          <p:nvPr/>
        </p:nvSpPr>
        <p:spPr>
          <a:xfrm>
            <a:off x="4640580" y="3401568"/>
            <a:ext cx="40462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Year trend bar"/>
          <p:cNvSpPr/>
          <p:nvPr/>
        </p:nvSpPr>
        <p:spPr>
          <a:xfrm>
            <a:off x="4640580" y="3401568"/>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Year trend text"/>
          <p:cNvSpPr txBox="1"/>
          <p:nvPr/>
        </p:nvSpPr>
        <p:spPr>
          <a:xfrm>
            <a:off x="4841748" y="3401568"/>
            <a:ext cx="3753612" cy="640080"/>
          </a:xfrm>
          <a:prstGeom prst="rect">
            <a:avLst/>
          </a:prstGeom>
          <a:noFill/>
        </p:spPr>
        <p:txBody>
          <a:bodyPr wrap="square" lIns="0" rIns="0" tIns="0" bIns="0" anchor="ctr">
            <a:noAutofit/>
          </a:bodyPr>
          <a:lstStyle/>
          <a:p>
            <a:pPr algn="l">
              <a:spcAft>
                <a:spcPts val="200"/>
              </a:spcAft>
            </a:pPr>
            <a:r>
              <a:rPr sz="1200" b="1" lang="en-GB">
                <a:solidFill>
                  <a:schemeClr val="tx2"/>
                </a:solidFill>
              </a:rPr>
              <a:t>Trend: </a:t>
            </a:r>
            <a:r>
              <a:rPr sz="1200" b="0" lang="en-GB">
                <a:solidFill>
                  <a:schemeClr val="tx1"/>
                </a:solidFill>
              </a:rPr>
              <a:t>year means 21.5 → 25.5 → 29.5</a:t>
            </a:r>
          </a:p>
          <a:p>
            <a:pPr algn="l">
              <a:spcAft>
                <a:spcPts val="200"/>
              </a:spcAft>
            </a:pPr>
            <a:r>
              <a:rPr sz="1200" b="0" lang="en-GB">
                <a:solidFill>
                  <a:schemeClr val="tx1"/>
                </a:solidFill>
              </a:rPr>
              <a:t>+4 a year, about +1 a quarter (slide 16)</a:t>
            </a:r>
          </a:p>
        </p:txBody>
      </p:sp>
      <p:sp>
        <p:nvSpPr>
          <p:cNvPr id="76" name="Season callout box"/>
          <p:cNvSpPr/>
          <p:nvPr/>
        </p:nvSpPr>
        <p:spPr>
          <a:xfrm>
            <a:off x="457200" y="417880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eason callout text"/>
          <p:cNvSpPr txBox="1"/>
          <p:nvPr/>
        </p:nvSpPr>
        <p:spPr>
          <a:xfrm>
            <a:off x="658368" y="4178808"/>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Season = the average gap to the year mean: </a:t>
            </a:r>
            <a:r>
              <a:rPr sz="1200" b="0" lang="en-GB">
                <a:solidFill>
                  <a:schemeClr val="bg1"/>
                </a:solidFill>
              </a:rPr>
              <a:t>Q4 sells 9.5 k EUR more than an average quarter.</a:t>
            </a:r>
          </a:p>
        </p:txBody>
      </p:sp>
      <p:sp>
        <p:nvSpPr>
          <p:cNvPr id="7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Two seasonal forecasts for year 4</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1_seasonal.png" descr="Chocolate shop sales per quarter, years 1 to 3, with two forecasts for year 4: seasonal naive (28, 24, 26, 40, grey dashed) and the seasonal regression (32, 28, 31, 43, blue dashed); Q4 of year 4 is 40 and 43 k EUR."/>
          <p:cNvPicPr>
            <a:picLocks noChangeAspect="1"/>
          </p:cNvPicPr>
          <p:nvPr/>
        </p:nvPicPr>
        <p:blipFill>
          <a:blip r:embed="rId3"/>
          <a:stretch>
            <a:fillRect/>
          </a:stretch>
        </p:blipFill>
        <p:spPr>
          <a:xfrm>
            <a:off x="457200" y="1234440"/>
            <a:ext cx="4937760" cy="2788920"/>
          </a:xfrm>
          <a:prstGeom prst="rect">
            <a:avLst/>
          </a:prstGeom>
        </p:spPr>
      </p:pic>
      <p:sp>
        <p:nvSpPr>
          <p:cNvPr id="11" name="Seasonal naive stat box"/>
          <p:cNvSpPr/>
          <p:nvPr/>
        </p:nvSpPr>
        <p:spPr>
          <a:xfrm>
            <a:off x="5532120" y="1234440"/>
            <a:ext cx="315468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easonal naive stat bar"/>
          <p:cNvSpPr/>
          <p:nvPr/>
        </p:nvSpPr>
        <p:spPr>
          <a:xfrm>
            <a:off x="5532120" y="1234440"/>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al naive stat figure"/>
          <p:cNvSpPr txBox="1"/>
          <p:nvPr/>
        </p:nvSpPr>
        <p:spPr>
          <a:xfrm>
            <a:off x="5715000" y="1234440"/>
            <a:ext cx="822960" cy="9601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40</a:t>
            </a:r>
          </a:p>
        </p:txBody>
      </p:sp>
      <p:sp>
        <p:nvSpPr>
          <p:cNvPr id="14" name="Seasonal naive stat label"/>
          <p:cNvSpPr txBox="1"/>
          <p:nvPr/>
        </p:nvSpPr>
        <p:spPr>
          <a:xfrm>
            <a:off x="6537960" y="1234440"/>
            <a:ext cx="2057400" cy="960120"/>
          </a:xfrm>
          <a:prstGeom prst="rect">
            <a:avLst/>
          </a:prstGeom>
          <a:noFill/>
        </p:spPr>
        <p:txBody>
          <a:bodyPr wrap="square" lIns="0" rIns="0" tIns="0" bIns="0" anchor="ctr">
            <a:noAutofit/>
          </a:bodyPr>
          <a:lstStyle/>
          <a:p>
            <a:pPr algn="l">
              <a:spcAft>
                <a:spcPts val="200"/>
              </a:spcAft>
            </a:pPr>
            <a:r>
              <a:rPr sz="1200" b="1" lang="en-GB">
                <a:solidFill>
                  <a:schemeClr val="tx2"/>
                </a:solidFill>
              </a:rPr>
              <a:t>seasonal naive:</a:t>
            </a:r>
            <a:r>
              <a:rPr sz="1200" b="0" lang="en-GB">
                <a:solidFill>
                  <a:schemeClr val="tx1"/>
                </a:solidFill>
              </a:rPr>
              <a:t/>
            </a:r>
          </a:p>
          <a:p>
            <a:pPr algn="l">
              <a:spcAft>
                <a:spcPts val="200"/>
              </a:spcAft>
            </a:pPr>
            <a:r>
              <a:rPr sz="1200" b="0" lang="en-GB">
                <a:solidFill>
                  <a:schemeClr val="tx1"/>
                </a:solidFill>
              </a:rPr>
              <a:t>Q4 of year 4</a:t>
            </a:r>
          </a:p>
          <a:p>
            <a:pPr algn="l">
              <a:spcAft>
                <a:spcPts val="200"/>
              </a:spcAft>
            </a:pPr>
            <a:r>
              <a:rPr sz="1200" b="0" lang="en-GB">
                <a:solidFill>
                  <a:schemeClr val="tx1"/>
                </a:solidFill>
              </a:rPr>
              <a:t>= Q4 of year 3</a:t>
            </a:r>
          </a:p>
        </p:txBody>
      </p:sp>
      <p:sp>
        <p:nvSpPr>
          <p:cNvPr id="15" name="Seasonal regression stat box"/>
          <p:cNvSpPr/>
          <p:nvPr/>
        </p:nvSpPr>
        <p:spPr>
          <a:xfrm>
            <a:off x="5532120" y="2331720"/>
            <a:ext cx="315468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easonal regression stat bar"/>
          <p:cNvSpPr/>
          <p:nvPr/>
        </p:nvSpPr>
        <p:spPr>
          <a:xfrm>
            <a:off x="5532120" y="2331720"/>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al regression stat figure"/>
          <p:cNvSpPr txBox="1"/>
          <p:nvPr/>
        </p:nvSpPr>
        <p:spPr>
          <a:xfrm>
            <a:off x="5715000" y="2331720"/>
            <a:ext cx="822960" cy="9601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43</a:t>
            </a:r>
          </a:p>
        </p:txBody>
      </p:sp>
      <p:sp>
        <p:nvSpPr>
          <p:cNvPr id="18" name="Seasonal regression stat label"/>
          <p:cNvSpPr txBox="1"/>
          <p:nvPr/>
        </p:nvSpPr>
        <p:spPr>
          <a:xfrm>
            <a:off x="6537960" y="2331720"/>
            <a:ext cx="2057400" cy="960120"/>
          </a:xfrm>
          <a:prstGeom prst="rect">
            <a:avLst/>
          </a:prstGeom>
          <a:noFill/>
        </p:spPr>
        <p:txBody>
          <a:bodyPr wrap="square" lIns="0" rIns="0" tIns="0" bIns="0" anchor="ctr">
            <a:noAutofit/>
          </a:bodyPr>
          <a:lstStyle/>
          <a:p>
            <a:pPr algn="l">
              <a:spcAft>
                <a:spcPts val="200"/>
              </a:spcAft>
            </a:pPr>
            <a:r>
              <a:rPr sz="1200" b="1" lang="en-GB">
                <a:solidFill>
                  <a:schemeClr val="tx2"/>
                </a:solidFill>
              </a:rPr>
              <a:t>seasonal regression:</a:t>
            </a:r>
            <a:r>
              <a:rPr sz="1200" b="0" lang="en-GB">
                <a:solidFill>
                  <a:schemeClr val="tx1"/>
                </a:solidFill>
              </a:rPr>
              <a:t/>
            </a:r>
          </a:p>
          <a:p>
            <a:pPr algn="l">
              <a:spcAft>
                <a:spcPts val="200"/>
              </a:spcAft>
            </a:pPr>
            <a:r>
              <a:rPr sz="1200" b="0" lang="en-GB">
                <a:solidFill>
                  <a:schemeClr val="tx1"/>
                </a:solidFill>
              </a:rPr>
              <a:t>19 + 1 × 16 + 8</a:t>
            </a:r>
          </a:p>
          <a:p>
            <a:pPr algn="l">
              <a:spcAft>
                <a:spcPts val="200"/>
              </a:spcAft>
            </a:pPr>
            <a:r>
              <a:rPr sz="1200" b="0" lang="en-GB">
                <a:solidFill>
                  <a:schemeClr val="tx1"/>
                </a:solidFill>
              </a:rPr>
              <a:t>the trend at t = 16 plus the Q4 effect</a:t>
            </a:r>
          </a:p>
        </p:txBody>
      </p:sp>
      <p:sp>
        <p:nvSpPr>
          <p:cNvPr id="19" name="Regression caption"/>
          <p:cNvSpPr txBox="1"/>
          <p:nvPr/>
        </p:nvSpPr>
        <p:spPr>
          <a:xfrm>
            <a:off x="5532120" y="3337560"/>
            <a:ext cx="3154680" cy="731520"/>
          </a:xfrm>
          <a:prstGeom prst="rect">
            <a:avLst/>
          </a:prstGeom>
          <a:noFill/>
        </p:spPr>
        <p:txBody>
          <a:bodyPr wrap="square" lIns="0" rIns="0" tIns="0" bIns="0" anchor="ctr">
            <a:noAutofit/>
          </a:bodyPr>
          <a:lstStyle/>
          <a:p>
            <a:pPr algn="l">
              <a:spcAft>
                <a:spcPts val="0"/>
              </a:spcAft>
            </a:pPr>
            <a:r>
              <a:rPr sz="1100" b="0" lang="en-GB">
                <a:solidFill>
                  <a:srgbClr val="595959"/>
                </a:solidFill>
              </a:rPr>
              <a:t>Regression, R² 0.992:</a:t>
            </a:r>
          </a:p>
          <a:p>
            <a:pPr algn="l">
              <a:spcAft>
                <a:spcPts val="0"/>
              </a:spcAft>
            </a:pPr>
            <a:r>
              <a:rPr sz="1100" b="0" lang="en-GB">
                <a:solidFill>
                  <a:srgbClr val="595959"/>
                </a:solidFill>
              </a:rPr>
              <a:t>19 + 1 × t − 5 Q2 − 3 Q3 + 8 Q4</a:t>
            </a:r>
          </a:p>
          <a:p>
            <a:pPr algn="l">
              <a:spcAft>
                <a:spcPts val="0"/>
              </a:spcAft>
            </a:pPr>
            <a:r>
              <a:rPr sz="1100" b="0" lang="en-GB">
                <a:solidFill>
                  <a:srgbClr val="595959"/>
                </a:solidFill>
              </a:rPr>
              <a:t>Q2, Q3, Q4 = 1 in that quarter, else 0</a:t>
            </a:r>
          </a:p>
          <a:p>
            <a:pPr algn="l">
              <a:spcAft>
                <a:spcPts val="0"/>
              </a:spcAft>
            </a:pPr>
            <a:r>
              <a:rPr sz="1100" b="0" lang="en-GB">
                <a:solidFill>
                  <a:srgbClr val="595959"/>
                </a:solidFill>
              </a:rPr>
              <a:t>(Q1 = base)</a:t>
            </a:r>
          </a:p>
        </p:txBody>
      </p:sp>
      <p:sp>
        <p:nvSpPr>
          <p:cNvPr id="20" name="Seasonal callout box"/>
          <p:cNvSpPr/>
          <p:nvPr/>
        </p:nvSpPr>
        <p:spPr>
          <a:xfrm>
            <a:off x="457200" y="41605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asonal callout text"/>
          <p:cNvSpPr txBox="1"/>
          <p:nvPr/>
        </p:nvSpPr>
        <p:spPr>
          <a:xfrm>
            <a:off x="658368" y="41605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Seasonal naive repeats last year; </a:t>
            </a:r>
            <a:r>
              <a:rPr sz="1200" b="0" lang="en-GB">
                <a:solidFill>
                  <a:schemeClr val="bg1"/>
                </a:solidFill>
              </a:rPr>
              <a:t>the regression adds the trend of +1 a quarter.</a:t>
            </a:r>
          </a:p>
        </p:txBody>
      </p:sp>
      <p:sp>
        <p:nvSpPr>
          <p:cNvPr id="2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6 · hold out, measure, compare</a:t>
            </a:r>
          </a:p>
        </p:txBody>
      </p:sp>
      <p:sp>
        <p:nvSpPr>
          <p:cNvPr id="3" name="Title 2"/>
          <p:cNvSpPr>
            <a:spLocks noGrp="1"/>
          </p:cNvSpPr>
          <p:nvPr>
            <p:ph type="ctrTitle"/>
          </p:nvPr>
        </p:nvSpPr>
        <p:spPr/>
        <p:txBody>
          <a:bodyPr/>
          <a:lstStyle/>
          <a:p>
            <a:r>
              <a:rPr lang="en-GB"/>
              <a:t>How good is a forecast?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Six forecasts for week 9: which to trust?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2_week9.png" descr="Dot chart of the six forecasts for week 9 of the phone shop, in new contracts: mean 47.25, moving average (3) 52, exponential smoothing 52.25, naive 54, drift 56, trend regression 56.25; dotted line at last week's 54."/>
          <p:cNvPicPr>
            <a:picLocks noChangeAspect="1"/>
          </p:cNvPicPr>
          <p:nvPr/>
        </p:nvPicPr>
        <p:blipFill>
          <a:blip r:embed="rId3"/>
          <a:stretch>
            <a:fillRect/>
          </a:stretch>
        </p:blipFill>
        <p:spPr>
          <a:xfrm>
            <a:off x="457200" y="1234440"/>
            <a:ext cx="4023360" cy="2880360"/>
          </a:xfrm>
          <a:prstGeom prst="rect">
            <a:avLst/>
          </a:prstGeom>
        </p:spPr>
      </p:pic>
      <p:sp>
        <p:nvSpPr>
          <p:cNvPr id="11" name="Week 1 number"/>
          <p:cNvSpPr txBox="1"/>
          <p:nvPr/>
        </p:nvSpPr>
        <p:spPr>
          <a:xfrm>
            <a:off x="46177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1</a:t>
            </a:r>
          </a:p>
        </p:txBody>
      </p:sp>
      <p:sp>
        <p:nvSpPr>
          <p:cNvPr id="12" name="Week 1 box"/>
          <p:cNvSpPr/>
          <p:nvPr/>
        </p:nvSpPr>
        <p:spPr>
          <a:xfrm>
            <a:off x="461772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Week 1 value"/>
          <p:cNvSpPr txBox="1"/>
          <p:nvPr/>
        </p:nvSpPr>
        <p:spPr>
          <a:xfrm>
            <a:off x="46177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40</a:t>
            </a:r>
          </a:p>
        </p:txBody>
      </p:sp>
      <p:sp>
        <p:nvSpPr>
          <p:cNvPr id="14" name="Week 2 number"/>
          <p:cNvSpPr txBox="1"/>
          <p:nvPr/>
        </p:nvSpPr>
        <p:spPr>
          <a:xfrm>
            <a:off x="51320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2</a:t>
            </a:r>
          </a:p>
        </p:txBody>
      </p:sp>
      <p:sp>
        <p:nvSpPr>
          <p:cNvPr id="15" name="Week 2 box"/>
          <p:cNvSpPr/>
          <p:nvPr/>
        </p:nvSpPr>
        <p:spPr>
          <a:xfrm>
            <a:off x="513207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eek 2 value"/>
          <p:cNvSpPr txBox="1"/>
          <p:nvPr/>
        </p:nvSpPr>
        <p:spPr>
          <a:xfrm>
            <a:off x="51320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44</a:t>
            </a:r>
          </a:p>
        </p:txBody>
      </p:sp>
      <p:sp>
        <p:nvSpPr>
          <p:cNvPr id="17" name="Week 3 number"/>
          <p:cNvSpPr txBox="1"/>
          <p:nvPr/>
        </p:nvSpPr>
        <p:spPr>
          <a:xfrm>
            <a:off x="56464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3</a:t>
            </a:r>
          </a:p>
        </p:txBody>
      </p:sp>
      <p:sp>
        <p:nvSpPr>
          <p:cNvPr id="18" name="Week 3 box"/>
          <p:cNvSpPr/>
          <p:nvPr/>
        </p:nvSpPr>
        <p:spPr>
          <a:xfrm>
            <a:off x="564642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Week 3 value"/>
          <p:cNvSpPr txBox="1"/>
          <p:nvPr/>
        </p:nvSpPr>
        <p:spPr>
          <a:xfrm>
            <a:off x="56464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42</a:t>
            </a:r>
          </a:p>
        </p:txBody>
      </p:sp>
      <p:sp>
        <p:nvSpPr>
          <p:cNvPr id="20" name="Week 4 number"/>
          <p:cNvSpPr txBox="1"/>
          <p:nvPr/>
        </p:nvSpPr>
        <p:spPr>
          <a:xfrm>
            <a:off x="61607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4</a:t>
            </a:r>
          </a:p>
        </p:txBody>
      </p:sp>
      <p:sp>
        <p:nvSpPr>
          <p:cNvPr id="21" name="Week 4 box"/>
          <p:cNvSpPr/>
          <p:nvPr/>
        </p:nvSpPr>
        <p:spPr>
          <a:xfrm>
            <a:off x="616077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eek 4 value"/>
          <p:cNvSpPr txBox="1"/>
          <p:nvPr/>
        </p:nvSpPr>
        <p:spPr>
          <a:xfrm>
            <a:off x="61607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46</a:t>
            </a:r>
          </a:p>
        </p:txBody>
      </p:sp>
      <p:sp>
        <p:nvSpPr>
          <p:cNvPr id="23" name="Week 5 number"/>
          <p:cNvSpPr txBox="1"/>
          <p:nvPr/>
        </p:nvSpPr>
        <p:spPr>
          <a:xfrm>
            <a:off x="66751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5</a:t>
            </a:r>
          </a:p>
        </p:txBody>
      </p:sp>
      <p:sp>
        <p:nvSpPr>
          <p:cNvPr id="24" name="Week 5 box"/>
          <p:cNvSpPr/>
          <p:nvPr/>
        </p:nvSpPr>
        <p:spPr>
          <a:xfrm>
            <a:off x="667512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Week 5 value"/>
          <p:cNvSpPr txBox="1"/>
          <p:nvPr/>
        </p:nvSpPr>
        <p:spPr>
          <a:xfrm>
            <a:off x="66751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50</a:t>
            </a:r>
          </a:p>
        </p:txBody>
      </p:sp>
      <p:sp>
        <p:nvSpPr>
          <p:cNvPr id="26" name="Week 6 number"/>
          <p:cNvSpPr txBox="1"/>
          <p:nvPr/>
        </p:nvSpPr>
        <p:spPr>
          <a:xfrm>
            <a:off x="71894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6</a:t>
            </a:r>
          </a:p>
        </p:txBody>
      </p:sp>
      <p:sp>
        <p:nvSpPr>
          <p:cNvPr id="27" name="Week 6 box"/>
          <p:cNvSpPr/>
          <p:nvPr/>
        </p:nvSpPr>
        <p:spPr>
          <a:xfrm>
            <a:off x="7189470" y="1600200"/>
            <a:ext cx="4686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Week 6 value"/>
          <p:cNvSpPr txBox="1"/>
          <p:nvPr/>
        </p:nvSpPr>
        <p:spPr>
          <a:xfrm>
            <a:off x="71894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49</a:t>
            </a:r>
          </a:p>
        </p:txBody>
      </p:sp>
      <p:sp>
        <p:nvSpPr>
          <p:cNvPr id="29" name="Week 7 number"/>
          <p:cNvSpPr txBox="1"/>
          <p:nvPr/>
        </p:nvSpPr>
        <p:spPr>
          <a:xfrm>
            <a:off x="77038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7</a:t>
            </a:r>
          </a:p>
        </p:txBody>
      </p:sp>
      <p:sp>
        <p:nvSpPr>
          <p:cNvPr id="30" name="Week 7 box"/>
          <p:cNvSpPr/>
          <p:nvPr/>
        </p:nvSpPr>
        <p:spPr>
          <a:xfrm>
            <a:off x="7703820" y="1600200"/>
            <a:ext cx="4686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Week 7 value"/>
          <p:cNvSpPr txBox="1"/>
          <p:nvPr/>
        </p:nvSpPr>
        <p:spPr>
          <a:xfrm>
            <a:off x="77038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53</a:t>
            </a:r>
          </a:p>
        </p:txBody>
      </p:sp>
      <p:sp>
        <p:nvSpPr>
          <p:cNvPr id="32" name="Week 8 number"/>
          <p:cNvSpPr txBox="1"/>
          <p:nvPr/>
        </p:nvSpPr>
        <p:spPr>
          <a:xfrm>
            <a:off x="82181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8</a:t>
            </a:r>
          </a:p>
        </p:txBody>
      </p:sp>
      <p:sp>
        <p:nvSpPr>
          <p:cNvPr id="33" name="Week 8 box"/>
          <p:cNvSpPr/>
          <p:nvPr/>
        </p:nvSpPr>
        <p:spPr>
          <a:xfrm>
            <a:off x="8218170" y="1600200"/>
            <a:ext cx="4686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Week 8 value"/>
          <p:cNvSpPr txBox="1"/>
          <p:nvPr/>
        </p:nvSpPr>
        <p:spPr>
          <a:xfrm>
            <a:off x="82181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54</a:t>
            </a:r>
          </a:p>
        </p:txBody>
      </p:sp>
      <p:sp>
        <p:nvSpPr>
          <p:cNvPr id="35" name="Training label"/>
          <p:cNvSpPr txBox="1"/>
          <p:nvPr/>
        </p:nvSpPr>
        <p:spPr>
          <a:xfrm>
            <a:off x="4617720" y="2103120"/>
            <a:ext cx="2526030" cy="292608"/>
          </a:xfrm>
          <a:prstGeom prst="rect">
            <a:avLst/>
          </a:prstGeom>
          <a:noFill/>
        </p:spPr>
        <p:txBody>
          <a:bodyPr wrap="square" lIns="0" rIns="0" tIns="0" bIns="0" anchor="ctr">
            <a:noAutofit/>
          </a:bodyPr>
          <a:lstStyle/>
          <a:p>
            <a:pPr algn="ctr">
              <a:spcAft>
                <a:spcPts val="400"/>
              </a:spcAft>
            </a:pPr>
            <a:r>
              <a:rPr sz="1200" b="1" lang="en-GB">
                <a:solidFill>
                  <a:schemeClr val="tx2"/>
                </a:solidFill>
              </a:rPr>
              <a:t>training period</a:t>
            </a:r>
          </a:p>
        </p:txBody>
      </p:sp>
      <p:sp>
        <p:nvSpPr>
          <p:cNvPr id="36" name="Holdout label"/>
          <p:cNvSpPr txBox="1"/>
          <p:nvPr/>
        </p:nvSpPr>
        <p:spPr>
          <a:xfrm>
            <a:off x="6823710" y="2103120"/>
            <a:ext cx="1863090" cy="292608"/>
          </a:xfrm>
          <a:prstGeom prst="rect">
            <a:avLst/>
          </a:prstGeom>
          <a:noFill/>
        </p:spPr>
        <p:txBody>
          <a:bodyPr wrap="square" lIns="0" rIns="0" tIns="0" bIns="0" anchor="ctr">
            <a:noAutofit/>
          </a:bodyPr>
          <a:lstStyle/>
          <a:p>
            <a:pPr algn="r">
              <a:spcAft>
                <a:spcPts val="400"/>
              </a:spcAft>
            </a:pPr>
            <a:r>
              <a:rPr sz="1200" b="1" lang="en-GB">
                <a:solidFill>
                  <a:schemeClr val="tx2"/>
                </a:solidFill>
              </a:rPr>
              <a:t>holdout: weeks 6–8</a:t>
            </a:r>
          </a:p>
        </p:txBody>
      </p:sp>
      <p:sp>
        <p:nvSpPr>
          <p:cNvPr id="37" name="Step 1 row"/>
          <p:cNvSpPr/>
          <p:nvPr/>
        </p:nvSpPr>
        <p:spPr>
          <a:xfrm>
            <a:off x="4617720" y="2514600"/>
            <a:ext cx="406908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tep 1 bar"/>
          <p:cNvSpPr/>
          <p:nvPr/>
        </p:nvSpPr>
        <p:spPr>
          <a:xfrm>
            <a:off x="4617720" y="25146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tep 1 text"/>
          <p:cNvSpPr txBox="1"/>
          <p:nvPr/>
        </p:nvSpPr>
        <p:spPr>
          <a:xfrm>
            <a:off x="4818888" y="2514600"/>
            <a:ext cx="377647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Step 1: </a:t>
            </a:r>
            <a:r>
              <a:rPr sz="1200" b="0" lang="en-GB">
                <a:solidFill>
                  <a:schemeClr val="tx1"/>
                </a:solidFill>
              </a:rPr>
              <a:t>fit each method on weeks 1–5</a:t>
            </a:r>
          </a:p>
        </p:txBody>
      </p:sp>
      <p:sp>
        <p:nvSpPr>
          <p:cNvPr id="40" name="Step 2 row"/>
          <p:cNvSpPr/>
          <p:nvPr/>
        </p:nvSpPr>
        <p:spPr>
          <a:xfrm>
            <a:off x="4617720" y="3108960"/>
            <a:ext cx="406908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tep 2 bar"/>
          <p:cNvSpPr/>
          <p:nvPr/>
        </p:nvSpPr>
        <p:spPr>
          <a:xfrm>
            <a:off x="4617720" y="310896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tep 2 text"/>
          <p:cNvSpPr txBox="1"/>
          <p:nvPr/>
        </p:nvSpPr>
        <p:spPr>
          <a:xfrm>
            <a:off x="4818888" y="3108960"/>
            <a:ext cx="377647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Step 2: </a:t>
            </a:r>
            <a:r>
              <a:rPr sz="1200" b="0" lang="en-GB">
                <a:solidFill>
                  <a:schemeClr val="tx1"/>
                </a:solidFill>
              </a:rPr>
              <a:t>forecast weeks 6–8, compare with 49, 53, 54</a:t>
            </a:r>
          </a:p>
        </p:txBody>
      </p:sp>
      <p:sp>
        <p:nvSpPr>
          <p:cNvPr id="43" name="Order callout box"/>
          <p:cNvSpPr/>
          <p:nvPr/>
        </p:nvSpPr>
        <p:spPr>
          <a:xfrm>
            <a:off x="4617720" y="3703320"/>
            <a:ext cx="406908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Icon Order callout" descr=""/>
          <p:cNvPicPr>
            <a:picLocks noChangeAspect="1"/>
          </p:cNvPicPr>
          <p:nvPr/>
        </p:nvPicPr>
        <p:blipFill>
          <a:blip r:embed="rId4"/>
          <a:stretch>
            <a:fillRect/>
          </a:stretch>
        </p:blipFill>
        <p:spPr>
          <a:xfrm>
            <a:off x="4754880" y="3762756"/>
            <a:ext cx="292608" cy="292608"/>
          </a:xfrm>
          <a:prstGeom prst="rect">
            <a:avLst/>
          </a:prstGeom>
        </p:spPr>
      </p:pic>
      <p:sp>
        <p:nvSpPr>
          <p:cNvPr id="45" name="Order callout text"/>
          <p:cNvSpPr txBox="1"/>
          <p:nvPr/>
        </p:nvSpPr>
        <p:spPr>
          <a:xfrm>
            <a:off x="5166360" y="3703320"/>
            <a:ext cx="3429000"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Never at random: </a:t>
            </a:r>
            <a:r>
              <a:rPr sz="1200" b="0" lang="en-GB">
                <a:solidFill>
                  <a:schemeClr val="tx1"/>
                </a:solidFill>
              </a:rPr>
              <a:t>test weeks come last.</a:t>
            </a:r>
          </a:p>
        </p:txBody>
      </p:sp>
      <p:sp>
        <p:nvSpPr>
          <p:cNvPr id="46" name="Holdout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Holdout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Six methods, six answers, 9 contracts apart: </a:t>
            </a:r>
            <a:r>
              <a:rPr sz="1200" b="0" lang="en-GB">
                <a:solidFill>
                  <a:schemeClr val="bg1"/>
                </a:solidFill>
              </a:rPr>
              <a:t>test each on weeks it has not seen.</a:t>
            </a:r>
          </a:p>
        </p:txBody>
      </p:sp>
      <p:sp>
        <p:nvSpPr>
          <p:cNvPr id="4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Errors and three measures, by hand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rror table 1-1"/>
          <p:cNvSpPr/>
          <p:nvPr/>
        </p:nvSpPr>
        <p:spPr>
          <a:xfrm>
            <a:off x="457200" y="1234440"/>
            <a:ext cx="8869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rror table text 1-1"/>
          <p:cNvSpPr txBox="1"/>
          <p:nvPr/>
        </p:nvSpPr>
        <p:spPr>
          <a:xfrm>
            <a:off x="548640" y="1234440"/>
            <a:ext cx="7040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2" name="Error table 1-2"/>
          <p:cNvSpPr/>
          <p:nvPr/>
        </p:nvSpPr>
        <p:spPr>
          <a:xfrm>
            <a:off x="1371600" y="1234440"/>
            <a:ext cx="9784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rror table text 1-2"/>
          <p:cNvSpPr txBox="1"/>
          <p:nvPr/>
        </p:nvSpPr>
        <p:spPr>
          <a:xfrm>
            <a:off x="1463040" y="1234440"/>
            <a:ext cx="7955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Actual</a:t>
            </a:r>
          </a:p>
        </p:txBody>
      </p:sp>
      <p:sp>
        <p:nvSpPr>
          <p:cNvPr id="14" name="Error table 1-3"/>
          <p:cNvSpPr/>
          <p:nvPr/>
        </p:nvSpPr>
        <p:spPr>
          <a:xfrm>
            <a:off x="2377440" y="1234440"/>
            <a:ext cx="9784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rror table text 1-3"/>
          <p:cNvSpPr txBox="1"/>
          <p:nvPr/>
        </p:nvSpPr>
        <p:spPr>
          <a:xfrm>
            <a:off x="2468880" y="1234440"/>
            <a:ext cx="7955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Naive</a:t>
            </a:r>
          </a:p>
        </p:txBody>
      </p:sp>
      <p:sp>
        <p:nvSpPr>
          <p:cNvPr id="16" name="Error table 1-4"/>
          <p:cNvSpPr/>
          <p:nvPr/>
        </p:nvSpPr>
        <p:spPr>
          <a:xfrm>
            <a:off x="3383280" y="1234440"/>
            <a:ext cx="9784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rror table text 1-4"/>
          <p:cNvSpPr txBox="1"/>
          <p:nvPr/>
        </p:nvSpPr>
        <p:spPr>
          <a:xfrm>
            <a:off x="3474720" y="1234440"/>
            <a:ext cx="7955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a:t>
            </a:r>
          </a:p>
        </p:txBody>
      </p:sp>
      <p:sp>
        <p:nvSpPr>
          <p:cNvPr id="18" name="Error table 1-5"/>
          <p:cNvSpPr/>
          <p:nvPr/>
        </p:nvSpPr>
        <p:spPr>
          <a:xfrm>
            <a:off x="4389120" y="1234440"/>
            <a:ext cx="106984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Error table text 1-5"/>
          <p:cNvSpPr txBox="1"/>
          <p:nvPr/>
        </p:nvSpPr>
        <p:spPr>
          <a:xfrm>
            <a:off x="4480560" y="1234440"/>
            <a:ext cx="88696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a:t>
            </a:r>
          </a:p>
        </p:txBody>
      </p:sp>
      <p:sp>
        <p:nvSpPr>
          <p:cNvPr id="20" name="Error table 1-6"/>
          <p:cNvSpPr/>
          <p:nvPr/>
        </p:nvSpPr>
        <p:spPr>
          <a:xfrm>
            <a:off x="5486400" y="1234440"/>
            <a:ext cx="106984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rror table text 1-6"/>
          <p:cNvSpPr txBox="1"/>
          <p:nvPr/>
        </p:nvSpPr>
        <p:spPr>
          <a:xfrm>
            <a:off x="5577840" y="1234440"/>
            <a:ext cx="88696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Error²</a:t>
            </a:r>
          </a:p>
        </p:txBody>
      </p:sp>
      <p:sp>
        <p:nvSpPr>
          <p:cNvPr id="22" name="Error table 1-7"/>
          <p:cNvSpPr/>
          <p:nvPr/>
        </p:nvSpPr>
        <p:spPr>
          <a:xfrm>
            <a:off x="6583680" y="1234440"/>
            <a:ext cx="2103120"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rror table text 1-7"/>
          <p:cNvSpPr txBox="1"/>
          <p:nvPr/>
        </p:nvSpPr>
        <p:spPr>
          <a:xfrm>
            <a:off x="6675120" y="1234440"/>
            <a:ext cx="189280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 / actual</a:t>
            </a:r>
          </a:p>
        </p:txBody>
      </p:sp>
      <p:sp>
        <p:nvSpPr>
          <p:cNvPr id="24" name="Error table 2-1"/>
          <p:cNvSpPr/>
          <p:nvPr/>
        </p:nvSpPr>
        <p:spPr>
          <a:xfrm>
            <a:off x="457200" y="160934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rror table text 2-1"/>
          <p:cNvSpPr txBox="1"/>
          <p:nvPr/>
        </p:nvSpPr>
        <p:spPr>
          <a:xfrm>
            <a:off x="548640" y="160934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Week 6</a:t>
            </a:r>
          </a:p>
        </p:txBody>
      </p:sp>
      <p:sp>
        <p:nvSpPr>
          <p:cNvPr id="26" name="Error table 2-2"/>
          <p:cNvSpPr/>
          <p:nvPr/>
        </p:nvSpPr>
        <p:spPr>
          <a:xfrm>
            <a:off x="1371600" y="1609344"/>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rror table text 2-2"/>
          <p:cNvSpPr txBox="1"/>
          <p:nvPr/>
        </p:nvSpPr>
        <p:spPr>
          <a:xfrm>
            <a:off x="1463040" y="1609344"/>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49</a:t>
            </a:r>
          </a:p>
        </p:txBody>
      </p:sp>
      <p:sp>
        <p:nvSpPr>
          <p:cNvPr id="28" name="Error table 2-3"/>
          <p:cNvSpPr/>
          <p:nvPr/>
        </p:nvSpPr>
        <p:spPr>
          <a:xfrm>
            <a:off x="2377440" y="1609344"/>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rror table text 2-3"/>
          <p:cNvSpPr txBox="1"/>
          <p:nvPr/>
        </p:nvSpPr>
        <p:spPr>
          <a:xfrm>
            <a:off x="2468880" y="1609344"/>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30" name="Error table 2-4"/>
          <p:cNvSpPr/>
          <p:nvPr/>
        </p:nvSpPr>
        <p:spPr>
          <a:xfrm>
            <a:off x="3383280" y="1609344"/>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rror table text 2-4"/>
          <p:cNvSpPr txBox="1"/>
          <p:nvPr/>
        </p:nvSpPr>
        <p:spPr>
          <a:xfrm>
            <a:off x="3474720" y="1609344"/>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32" name="Error table 2-5"/>
          <p:cNvSpPr/>
          <p:nvPr/>
        </p:nvSpPr>
        <p:spPr>
          <a:xfrm>
            <a:off x="4389120" y="1609344"/>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Error table text 2-5"/>
          <p:cNvSpPr txBox="1"/>
          <p:nvPr/>
        </p:nvSpPr>
        <p:spPr>
          <a:xfrm>
            <a:off x="4480560" y="1609344"/>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34" name="Error table 2-6"/>
          <p:cNvSpPr/>
          <p:nvPr/>
        </p:nvSpPr>
        <p:spPr>
          <a:xfrm>
            <a:off x="5486400" y="1609344"/>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Error table text 2-6"/>
          <p:cNvSpPr txBox="1"/>
          <p:nvPr/>
        </p:nvSpPr>
        <p:spPr>
          <a:xfrm>
            <a:off x="5577840" y="1609344"/>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36" name="Error table 2-7"/>
          <p:cNvSpPr/>
          <p:nvPr/>
        </p:nvSpPr>
        <p:spPr>
          <a:xfrm>
            <a:off x="6583680" y="1609344"/>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Error table text 2-7"/>
          <p:cNvSpPr txBox="1"/>
          <p:nvPr/>
        </p:nvSpPr>
        <p:spPr>
          <a:xfrm>
            <a:off x="6675120" y="1609344"/>
            <a:ext cx="18928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2.0 %</a:t>
            </a:r>
          </a:p>
        </p:txBody>
      </p:sp>
      <p:sp>
        <p:nvSpPr>
          <p:cNvPr id="38" name="Error table 3-1"/>
          <p:cNvSpPr/>
          <p:nvPr/>
        </p:nvSpPr>
        <p:spPr>
          <a:xfrm>
            <a:off x="457200" y="1984248"/>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Error table text 3-1"/>
          <p:cNvSpPr txBox="1"/>
          <p:nvPr/>
        </p:nvSpPr>
        <p:spPr>
          <a:xfrm>
            <a:off x="548640" y="1984248"/>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Week 7</a:t>
            </a:r>
          </a:p>
        </p:txBody>
      </p:sp>
      <p:sp>
        <p:nvSpPr>
          <p:cNvPr id="40" name="Error table 3-2"/>
          <p:cNvSpPr/>
          <p:nvPr/>
        </p:nvSpPr>
        <p:spPr>
          <a:xfrm>
            <a:off x="1371600" y="1984248"/>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Error table text 3-2"/>
          <p:cNvSpPr txBox="1"/>
          <p:nvPr/>
        </p:nvSpPr>
        <p:spPr>
          <a:xfrm>
            <a:off x="1463040" y="1984248"/>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53</a:t>
            </a:r>
          </a:p>
        </p:txBody>
      </p:sp>
      <p:sp>
        <p:nvSpPr>
          <p:cNvPr id="42" name="Error table 3-3"/>
          <p:cNvSpPr/>
          <p:nvPr/>
        </p:nvSpPr>
        <p:spPr>
          <a:xfrm>
            <a:off x="2377440" y="1984248"/>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Error table text 3-3"/>
          <p:cNvSpPr txBox="1"/>
          <p:nvPr/>
        </p:nvSpPr>
        <p:spPr>
          <a:xfrm>
            <a:off x="2468880" y="1984248"/>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44" name="Error table 3-4"/>
          <p:cNvSpPr/>
          <p:nvPr/>
        </p:nvSpPr>
        <p:spPr>
          <a:xfrm>
            <a:off x="3383280" y="1984248"/>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Error table text 3-4"/>
          <p:cNvSpPr txBox="1"/>
          <p:nvPr/>
        </p:nvSpPr>
        <p:spPr>
          <a:xfrm>
            <a:off x="3474720" y="1984248"/>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a:t>
            </a:r>
          </a:p>
        </p:txBody>
      </p:sp>
      <p:sp>
        <p:nvSpPr>
          <p:cNvPr id="46" name="Error table 3-5"/>
          <p:cNvSpPr/>
          <p:nvPr/>
        </p:nvSpPr>
        <p:spPr>
          <a:xfrm>
            <a:off x="4389120" y="1984248"/>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Error table text 3-5"/>
          <p:cNvSpPr txBox="1"/>
          <p:nvPr/>
        </p:nvSpPr>
        <p:spPr>
          <a:xfrm>
            <a:off x="4480560" y="1984248"/>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a:t>
            </a:r>
          </a:p>
        </p:txBody>
      </p:sp>
      <p:sp>
        <p:nvSpPr>
          <p:cNvPr id="48" name="Error table 3-6"/>
          <p:cNvSpPr/>
          <p:nvPr/>
        </p:nvSpPr>
        <p:spPr>
          <a:xfrm>
            <a:off x="5486400" y="1984248"/>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Error table text 3-6"/>
          <p:cNvSpPr txBox="1"/>
          <p:nvPr/>
        </p:nvSpPr>
        <p:spPr>
          <a:xfrm>
            <a:off x="5577840" y="1984248"/>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9</a:t>
            </a:r>
          </a:p>
        </p:txBody>
      </p:sp>
      <p:sp>
        <p:nvSpPr>
          <p:cNvPr id="50" name="Error table 3-7"/>
          <p:cNvSpPr/>
          <p:nvPr/>
        </p:nvSpPr>
        <p:spPr>
          <a:xfrm>
            <a:off x="6583680" y="1984248"/>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Error table text 3-7"/>
          <p:cNvSpPr txBox="1"/>
          <p:nvPr/>
        </p:nvSpPr>
        <p:spPr>
          <a:xfrm>
            <a:off x="6675120" y="1984248"/>
            <a:ext cx="18928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5.7 %</a:t>
            </a:r>
          </a:p>
        </p:txBody>
      </p:sp>
      <p:sp>
        <p:nvSpPr>
          <p:cNvPr id="52" name="Error table 4-1"/>
          <p:cNvSpPr/>
          <p:nvPr/>
        </p:nvSpPr>
        <p:spPr>
          <a:xfrm>
            <a:off x="457200" y="2359152"/>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Error table text 4-1"/>
          <p:cNvSpPr txBox="1"/>
          <p:nvPr/>
        </p:nvSpPr>
        <p:spPr>
          <a:xfrm>
            <a:off x="548640" y="2359152"/>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Week 8</a:t>
            </a:r>
          </a:p>
        </p:txBody>
      </p:sp>
      <p:sp>
        <p:nvSpPr>
          <p:cNvPr id="54" name="Error table 4-2"/>
          <p:cNvSpPr/>
          <p:nvPr/>
        </p:nvSpPr>
        <p:spPr>
          <a:xfrm>
            <a:off x="1371600" y="2359152"/>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Error table text 4-2"/>
          <p:cNvSpPr txBox="1"/>
          <p:nvPr/>
        </p:nvSpPr>
        <p:spPr>
          <a:xfrm>
            <a:off x="1463040" y="2359152"/>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54</a:t>
            </a:r>
          </a:p>
        </p:txBody>
      </p:sp>
      <p:sp>
        <p:nvSpPr>
          <p:cNvPr id="56" name="Error table 4-3"/>
          <p:cNvSpPr/>
          <p:nvPr/>
        </p:nvSpPr>
        <p:spPr>
          <a:xfrm>
            <a:off x="2377440" y="2359152"/>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Error table text 4-3"/>
          <p:cNvSpPr txBox="1"/>
          <p:nvPr/>
        </p:nvSpPr>
        <p:spPr>
          <a:xfrm>
            <a:off x="2468880" y="2359152"/>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58" name="Error table 4-4"/>
          <p:cNvSpPr/>
          <p:nvPr/>
        </p:nvSpPr>
        <p:spPr>
          <a:xfrm>
            <a:off x="3383280" y="2359152"/>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Error table text 4-4"/>
          <p:cNvSpPr txBox="1"/>
          <p:nvPr/>
        </p:nvSpPr>
        <p:spPr>
          <a:xfrm>
            <a:off x="3474720" y="2359152"/>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0" name="Error table 4-5"/>
          <p:cNvSpPr/>
          <p:nvPr/>
        </p:nvSpPr>
        <p:spPr>
          <a:xfrm>
            <a:off x="4389120" y="2359152"/>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Error table text 4-5"/>
          <p:cNvSpPr txBox="1"/>
          <p:nvPr/>
        </p:nvSpPr>
        <p:spPr>
          <a:xfrm>
            <a:off x="4480560" y="2359152"/>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2" name="Error table 4-6"/>
          <p:cNvSpPr/>
          <p:nvPr/>
        </p:nvSpPr>
        <p:spPr>
          <a:xfrm>
            <a:off x="5486400" y="2359152"/>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Error table text 4-6"/>
          <p:cNvSpPr txBox="1"/>
          <p:nvPr/>
        </p:nvSpPr>
        <p:spPr>
          <a:xfrm>
            <a:off x="5577840" y="2359152"/>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16</a:t>
            </a:r>
          </a:p>
        </p:txBody>
      </p:sp>
      <p:sp>
        <p:nvSpPr>
          <p:cNvPr id="64" name="Error table 4-7"/>
          <p:cNvSpPr/>
          <p:nvPr/>
        </p:nvSpPr>
        <p:spPr>
          <a:xfrm>
            <a:off x="6583680" y="2359152"/>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Error table text 4-7"/>
          <p:cNvSpPr txBox="1"/>
          <p:nvPr/>
        </p:nvSpPr>
        <p:spPr>
          <a:xfrm>
            <a:off x="6675120" y="2359152"/>
            <a:ext cx="18928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7.4 %</a:t>
            </a:r>
          </a:p>
        </p:txBody>
      </p:sp>
      <p:sp>
        <p:nvSpPr>
          <p:cNvPr id="66" name="Error table 5-1"/>
          <p:cNvSpPr/>
          <p:nvPr/>
        </p:nvSpPr>
        <p:spPr>
          <a:xfrm>
            <a:off x="457200" y="2734056"/>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Error table text 5-1"/>
          <p:cNvSpPr txBox="1"/>
          <p:nvPr/>
        </p:nvSpPr>
        <p:spPr>
          <a:xfrm>
            <a:off x="548640" y="2734056"/>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Mean</a:t>
            </a:r>
          </a:p>
        </p:txBody>
      </p:sp>
      <p:sp>
        <p:nvSpPr>
          <p:cNvPr id="68" name="Error table 5-2"/>
          <p:cNvSpPr/>
          <p:nvPr/>
        </p:nvSpPr>
        <p:spPr>
          <a:xfrm>
            <a:off x="1371600" y="2734056"/>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Error table text 5-2"/>
          <p:cNvSpPr txBox="1"/>
          <p:nvPr/>
        </p:nvSpPr>
        <p:spPr>
          <a:xfrm>
            <a:off x="1463040" y="2734056"/>
            <a:ext cx="7955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70" name="Error table 5-3"/>
          <p:cNvSpPr/>
          <p:nvPr/>
        </p:nvSpPr>
        <p:spPr>
          <a:xfrm>
            <a:off x="2377440" y="2734056"/>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Error table text 5-3"/>
          <p:cNvSpPr txBox="1"/>
          <p:nvPr/>
        </p:nvSpPr>
        <p:spPr>
          <a:xfrm>
            <a:off x="2468880" y="2734056"/>
            <a:ext cx="7955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72" name="Error table 5-4"/>
          <p:cNvSpPr/>
          <p:nvPr/>
        </p:nvSpPr>
        <p:spPr>
          <a:xfrm>
            <a:off x="3383280" y="2734056"/>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Error table text 5-4"/>
          <p:cNvSpPr txBox="1"/>
          <p:nvPr/>
        </p:nvSpPr>
        <p:spPr>
          <a:xfrm>
            <a:off x="3474720" y="2734056"/>
            <a:ext cx="7955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74" name="Error table 5-5"/>
          <p:cNvSpPr/>
          <p:nvPr/>
        </p:nvSpPr>
        <p:spPr>
          <a:xfrm>
            <a:off x="4389120" y="2734056"/>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Error table text 5-5"/>
          <p:cNvSpPr txBox="1"/>
          <p:nvPr/>
        </p:nvSpPr>
        <p:spPr>
          <a:xfrm>
            <a:off x="4480560" y="2734056"/>
            <a:ext cx="88696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2.67</a:t>
            </a:r>
          </a:p>
        </p:txBody>
      </p:sp>
      <p:sp>
        <p:nvSpPr>
          <p:cNvPr id="76" name="Error table 5-6"/>
          <p:cNvSpPr/>
          <p:nvPr/>
        </p:nvSpPr>
        <p:spPr>
          <a:xfrm>
            <a:off x="5486400" y="2734056"/>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Error table text 5-6"/>
          <p:cNvSpPr txBox="1"/>
          <p:nvPr/>
        </p:nvSpPr>
        <p:spPr>
          <a:xfrm>
            <a:off x="5577840" y="2734056"/>
            <a:ext cx="88696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8.67</a:t>
            </a:r>
          </a:p>
        </p:txBody>
      </p:sp>
      <p:sp>
        <p:nvSpPr>
          <p:cNvPr id="78" name="Error table 5-7"/>
          <p:cNvSpPr/>
          <p:nvPr/>
        </p:nvSpPr>
        <p:spPr>
          <a:xfrm>
            <a:off x="6583680" y="2734056"/>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Error table text 5-7"/>
          <p:cNvSpPr txBox="1"/>
          <p:nvPr/>
        </p:nvSpPr>
        <p:spPr>
          <a:xfrm>
            <a:off x="6675120" y="2734056"/>
            <a:ext cx="189280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5.0 %</a:t>
            </a:r>
          </a:p>
        </p:txBody>
      </p:sp>
      <p:sp>
        <p:nvSpPr>
          <p:cNvPr id="80" name="Error caption"/>
          <p:cNvSpPr txBox="1"/>
          <p:nvPr/>
        </p:nvSpPr>
        <p:spPr>
          <a:xfrm>
            <a:off x="457200" y="3108960"/>
            <a:ext cx="82296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Naive from week 5: 50 for weeks 6, 7 and 8</a:t>
            </a:r>
          </a:p>
        </p:txBody>
      </p:sp>
      <p:sp>
        <p:nvSpPr>
          <p:cNvPr id="81" name="Measure 1 box"/>
          <p:cNvSpPr/>
          <p:nvPr/>
        </p:nvSpPr>
        <p:spPr>
          <a:xfrm>
            <a:off x="457200" y="3474720"/>
            <a:ext cx="265176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Measure 1 bar"/>
          <p:cNvSpPr/>
          <p:nvPr/>
        </p:nvSpPr>
        <p:spPr>
          <a:xfrm>
            <a:off x="457200" y="347472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Measure 1 figure"/>
          <p:cNvSpPr txBox="1"/>
          <p:nvPr/>
        </p:nvSpPr>
        <p:spPr>
          <a:xfrm>
            <a:off x="640080" y="3474720"/>
            <a:ext cx="1024128"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2.67</a:t>
            </a:r>
          </a:p>
        </p:txBody>
      </p:sp>
      <p:sp>
        <p:nvSpPr>
          <p:cNvPr id="84" name="Measure 1 label"/>
          <p:cNvSpPr txBox="1"/>
          <p:nvPr/>
        </p:nvSpPr>
        <p:spPr>
          <a:xfrm>
            <a:off x="1664208" y="3474720"/>
            <a:ext cx="1353312" cy="685800"/>
          </a:xfrm>
          <a:prstGeom prst="rect">
            <a:avLst/>
          </a:prstGeom>
          <a:noFill/>
        </p:spPr>
        <p:txBody>
          <a:bodyPr wrap="square" lIns="0" rIns="0" tIns="0" bIns="0" anchor="ctr">
            <a:noAutofit/>
          </a:bodyPr>
          <a:lstStyle/>
          <a:p>
            <a:pPr algn="l">
              <a:spcAft>
                <a:spcPts val="0"/>
              </a:spcAft>
            </a:pPr>
            <a:r>
              <a:rPr sz="1150" b="1" lang="en-GB">
                <a:solidFill>
                  <a:schemeClr val="tx2"/>
                </a:solidFill>
              </a:rPr>
              <a:t>MAE:</a:t>
            </a:r>
          </a:p>
          <a:p>
            <a:pPr algn="l">
              <a:spcAft>
                <a:spcPts val="0"/>
              </a:spcAft>
            </a:pPr>
            <a:r>
              <a:rPr sz="1150" b="0" lang="en-GB">
                <a:solidFill>
                  <a:schemeClr val="tx1"/>
                </a:solidFill>
              </a:rPr>
              <a:t>mean of |⁠error⁠|</a:t>
            </a:r>
          </a:p>
        </p:txBody>
      </p:sp>
      <p:sp>
        <p:nvSpPr>
          <p:cNvPr id="85" name="Measure 2 box"/>
          <p:cNvSpPr/>
          <p:nvPr/>
        </p:nvSpPr>
        <p:spPr>
          <a:xfrm>
            <a:off x="3246120" y="3474720"/>
            <a:ext cx="265176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Measure 2 bar"/>
          <p:cNvSpPr/>
          <p:nvPr/>
        </p:nvSpPr>
        <p:spPr>
          <a:xfrm>
            <a:off x="3246120" y="347472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Measure 2 figure"/>
          <p:cNvSpPr txBox="1"/>
          <p:nvPr/>
        </p:nvSpPr>
        <p:spPr>
          <a:xfrm>
            <a:off x="3429000" y="3474720"/>
            <a:ext cx="1024128"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2.94</a:t>
            </a:r>
          </a:p>
        </p:txBody>
      </p:sp>
      <p:sp>
        <p:nvSpPr>
          <p:cNvPr id="88" name="Measure 2 label"/>
          <p:cNvSpPr txBox="1"/>
          <p:nvPr/>
        </p:nvSpPr>
        <p:spPr>
          <a:xfrm>
            <a:off x="4453128" y="3474720"/>
            <a:ext cx="1353312" cy="685800"/>
          </a:xfrm>
          <a:prstGeom prst="rect">
            <a:avLst/>
          </a:prstGeom>
          <a:noFill/>
        </p:spPr>
        <p:txBody>
          <a:bodyPr wrap="square" lIns="0" rIns="0" tIns="0" bIns="0" anchor="ctr">
            <a:noAutofit/>
          </a:bodyPr>
          <a:lstStyle/>
          <a:p>
            <a:pPr algn="l">
              <a:spcAft>
                <a:spcPts val="0"/>
              </a:spcAft>
            </a:pPr>
            <a:r>
              <a:rPr sz="1150" b="1" lang="en-GB">
                <a:solidFill>
                  <a:schemeClr val="tx2"/>
                </a:solidFill>
              </a:rPr>
              <a:t>RMSE:</a:t>
            </a:r>
          </a:p>
          <a:p>
            <a:pPr algn="l">
              <a:spcAft>
                <a:spcPts val="0"/>
              </a:spcAft>
            </a:pPr>
            <a:r>
              <a:rPr sz="1150" b="0" lang="en-GB">
                <a:solidFill>
                  <a:schemeClr val="tx1"/>
                </a:solidFill>
              </a:rPr>
              <a:t>√8.67, big errors count more</a:t>
            </a:r>
          </a:p>
        </p:txBody>
      </p:sp>
      <p:sp>
        <p:nvSpPr>
          <p:cNvPr id="89" name="Measure 3 box"/>
          <p:cNvSpPr/>
          <p:nvPr/>
        </p:nvSpPr>
        <p:spPr>
          <a:xfrm>
            <a:off x="6035040" y="3474720"/>
            <a:ext cx="265176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Measure 3 bar"/>
          <p:cNvSpPr/>
          <p:nvPr/>
        </p:nvSpPr>
        <p:spPr>
          <a:xfrm>
            <a:off x="6035040" y="347472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Measure 3 figure"/>
          <p:cNvSpPr txBox="1"/>
          <p:nvPr/>
        </p:nvSpPr>
        <p:spPr>
          <a:xfrm>
            <a:off x="6217920" y="3474720"/>
            <a:ext cx="1298448"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5.0 %</a:t>
            </a:r>
          </a:p>
        </p:txBody>
      </p:sp>
      <p:sp>
        <p:nvSpPr>
          <p:cNvPr id="92" name="Measure 3 label"/>
          <p:cNvSpPr txBox="1"/>
          <p:nvPr/>
        </p:nvSpPr>
        <p:spPr>
          <a:xfrm>
            <a:off x="7516368" y="3474720"/>
            <a:ext cx="1078992" cy="685800"/>
          </a:xfrm>
          <a:prstGeom prst="rect">
            <a:avLst/>
          </a:prstGeom>
          <a:noFill/>
        </p:spPr>
        <p:txBody>
          <a:bodyPr wrap="square" lIns="0" rIns="0" tIns="0" bIns="0" anchor="ctr">
            <a:noAutofit/>
          </a:bodyPr>
          <a:lstStyle/>
          <a:p>
            <a:pPr algn="l">
              <a:spcAft>
                <a:spcPts val="0"/>
              </a:spcAft>
            </a:pPr>
            <a:r>
              <a:rPr sz="1150" b="1" lang="en-GB">
                <a:solidFill>
                  <a:schemeClr val="tx2"/>
                </a:solidFill>
              </a:rPr>
              <a:t>MAPE:</a:t>
            </a:r>
          </a:p>
          <a:p>
            <a:pPr algn="l">
              <a:spcAft>
                <a:spcPts val="0"/>
              </a:spcAft>
            </a:pPr>
            <a:r>
              <a:rPr sz="1150" b="0" lang="en-GB">
                <a:solidFill>
                  <a:schemeClr val="tx1"/>
                </a:solidFill>
              </a:rPr>
              <a:t>mean of |⁠error⁠| / actual</a:t>
            </a:r>
          </a:p>
        </p:txBody>
      </p:sp>
      <p:sp>
        <p:nvSpPr>
          <p:cNvPr id="93" name="Error callout box"/>
          <p:cNvSpPr/>
          <p:nvPr/>
        </p:nvSpPr>
        <p:spPr>
          <a:xfrm>
            <a:off x="457200" y="4297680"/>
            <a:ext cx="8229600" cy="3657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Error callout text"/>
          <p:cNvSpPr txBox="1"/>
          <p:nvPr/>
        </p:nvSpPr>
        <p:spPr>
          <a:xfrm>
            <a:off x="658368" y="4297680"/>
            <a:ext cx="7827264"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Error = actual − forecast: </a:t>
            </a:r>
            <a:r>
              <a:rPr sz="1200" b="0" lang="en-GB">
                <a:solidFill>
                  <a:schemeClr val="bg1"/>
                </a:solidFill>
              </a:rPr>
              <a:t>a plus means the forecast was too low.</a:t>
            </a:r>
          </a:p>
        </p:txBody>
      </p:sp>
      <p:sp>
        <p:nvSpPr>
          <p:cNvPr id="9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ranking: beat the simplest benchmark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2_ranking.png" descr="Bar chart of the MAE on weeks 6–8, best first: trend regression 1.20, naive 2.67, drift 3.00, exponential smoothing 5.00, moving average (3) 6.00, mean 7.60; dashed line at the naive MAE 2.67."/>
          <p:cNvPicPr>
            <a:picLocks noChangeAspect="1"/>
          </p:cNvPicPr>
          <p:nvPr/>
        </p:nvPicPr>
        <p:blipFill>
          <a:blip r:embed="rId3"/>
          <a:stretch>
            <a:fillRect/>
          </a:stretch>
        </p:blipFill>
        <p:spPr>
          <a:xfrm>
            <a:off x="457200" y="1234440"/>
            <a:ext cx="4754880" cy="2377440"/>
          </a:xfrm>
          <a:prstGeom prst="rect">
            <a:avLst/>
          </a:prstGeom>
        </p:spPr>
      </p:pic>
      <p:sp>
        <p:nvSpPr>
          <p:cNvPr id="11" name="Ranking caption"/>
          <p:cNvSpPr txBox="1"/>
          <p:nvPr/>
        </p:nvSpPr>
        <p:spPr>
          <a:xfrm>
            <a:off x="457200" y="3657600"/>
            <a:ext cx="8229600" cy="411480"/>
          </a:xfrm>
          <a:prstGeom prst="rect">
            <a:avLst/>
          </a:prstGeom>
          <a:noFill/>
        </p:spPr>
        <p:txBody>
          <a:bodyPr wrap="square" lIns="0" rIns="0" tIns="0" bIns="0" anchor="ctr">
            <a:noAutofit/>
          </a:bodyPr>
          <a:lstStyle/>
          <a:p>
            <a:pPr algn="l">
              <a:spcAft>
                <a:spcPts val="0"/>
              </a:spcAft>
            </a:pPr>
            <a:r>
              <a:rPr sz="1100" b="0" lang="en-GB">
                <a:solidFill>
                  <a:srgbClr val="595959"/>
                </a:solidFill>
              </a:rPr>
              <a:t>Forecasts for weeks 6–8, fitted on weeks 1–5: trend regression 37.8 + 2.2 × week = 51, 53.2, 55.4; naive 50; drift 52.5, 55, 57.5; exponential smoothing 47; moving average (3) 46; mean 44.4. RMSE and MAPE give the same order.</a:t>
            </a:r>
          </a:p>
        </p:txBody>
      </p:sp>
      <p:sp>
        <p:nvSpPr>
          <p:cNvPr id="12" name="Benchmark stat 1 box"/>
          <p:cNvSpPr/>
          <p:nvPr/>
        </p:nvSpPr>
        <p:spPr>
          <a:xfrm>
            <a:off x="5349240" y="1234440"/>
            <a:ext cx="3337560" cy="11201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Benchmark stat 1 bar"/>
          <p:cNvSpPr/>
          <p:nvPr/>
        </p:nvSpPr>
        <p:spPr>
          <a:xfrm>
            <a:off x="5349240" y="1234440"/>
            <a:ext cx="64008" cy="11201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enchmark stat 1 figure"/>
          <p:cNvSpPr txBox="1"/>
          <p:nvPr/>
        </p:nvSpPr>
        <p:spPr>
          <a:xfrm>
            <a:off x="5532120" y="1234440"/>
            <a:ext cx="1051560" cy="11201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1.20</a:t>
            </a:r>
          </a:p>
        </p:txBody>
      </p:sp>
      <p:sp>
        <p:nvSpPr>
          <p:cNvPr id="15" name="Benchmark stat 1 label"/>
          <p:cNvSpPr txBox="1"/>
          <p:nvPr/>
        </p:nvSpPr>
        <p:spPr>
          <a:xfrm>
            <a:off x="6583680" y="1234440"/>
            <a:ext cx="2011680" cy="1120140"/>
          </a:xfrm>
          <a:prstGeom prst="rect">
            <a:avLst/>
          </a:prstGeom>
          <a:noFill/>
        </p:spPr>
        <p:txBody>
          <a:bodyPr wrap="square" lIns="0" rIns="0" tIns="0" bIns="0" anchor="ctr">
            <a:noAutofit/>
          </a:bodyPr>
          <a:lstStyle/>
          <a:p>
            <a:pPr algn="l">
              <a:spcAft>
                <a:spcPts val="400"/>
              </a:spcAft>
            </a:pPr>
            <a:r>
              <a:rPr sz="1200" b="1" lang="en-GB">
                <a:solidFill>
                  <a:schemeClr val="tx2"/>
                </a:solidFill>
              </a:rPr>
              <a:t>trend regression: </a:t>
            </a:r>
            <a:r>
              <a:rPr sz="1200" b="0" lang="en-GB">
                <a:solidFill>
                  <a:schemeClr val="tx1"/>
                </a:solidFill>
              </a:rPr>
              <a:t>the only method that beats naive (2.67)</a:t>
            </a:r>
          </a:p>
        </p:txBody>
      </p:sp>
      <p:sp>
        <p:nvSpPr>
          <p:cNvPr id="16" name="Benchmark stat 2 box"/>
          <p:cNvSpPr/>
          <p:nvPr/>
        </p:nvSpPr>
        <p:spPr>
          <a:xfrm>
            <a:off x="5349240" y="2491740"/>
            <a:ext cx="3337560" cy="11201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enchmark stat 2 bar"/>
          <p:cNvSpPr/>
          <p:nvPr/>
        </p:nvSpPr>
        <p:spPr>
          <a:xfrm>
            <a:off x="5349240" y="2491740"/>
            <a:ext cx="64008" cy="11201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enchmark stat 2 figure"/>
          <p:cNvSpPr txBox="1"/>
          <p:nvPr/>
        </p:nvSpPr>
        <p:spPr>
          <a:xfrm>
            <a:off x="5532120" y="2491740"/>
            <a:ext cx="1051560" cy="11201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4.00</a:t>
            </a:r>
          </a:p>
        </p:txBody>
      </p:sp>
      <p:sp>
        <p:nvSpPr>
          <p:cNvPr id="19" name="Benchmark stat 2 label"/>
          <p:cNvSpPr txBox="1"/>
          <p:nvPr/>
        </p:nvSpPr>
        <p:spPr>
          <a:xfrm>
            <a:off x="6583680" y="2491740"/>
            <a:ext cx="2011680" cy="1120140"/>
          </a:xfrm>
          <a:prstGeom prst="rect">
            <a:avLst/>
          </a:prstGeom>
          <a:noFill/>
        </p:spPr>
        <p:txBody>
          <a:bodyPr wrap="square" lIns="0" rIns="0" tIns="0" bIns="0" anchor="ctr">
            <a:noAutofit/>
          </a:bodyPr>
          <a:lstStyle/>
          <a:p>
            <a:pPr algn="l">
              <a:spcAft>
                <a:spcPts val="400"/>
              </a:spcAft>
            </a:pPr>
            <a:r>
              <a:rPr sz="1200" b="1" lang="en-GB">
                <a:solidFill>
                  <a:schemeClr val="tx2"/>
                </a:solidFill>
              </a:rPr>
              <a:t>chocolate shop, year 3 (MAE, k EUR): </a:t>
            </a:r>
            <a:r>
              <a:rPr sz="1200" b="0" lang="en-GB">
                <a:solidFill>
                  <a:schemeClr val="tx1"/>
                </a:solidFill>
              </a:rPr>
              <a:t>seasonal naive 4.00 vs naive 8.00, so seasonal data need a seasonal benchmark</a:t>
            </a:r>
          </a:p>
        </p:txBody>
      </p:sp>
      <p:sp>
        <p:nvSpPr>
          <p:cNvPr id="20" name="Benchmark callout box"/>
          <p:cNvSpPr/>
          <p:nvPr/>
        </p:nvSpPr>
        <p:spPr>
          <a:xfrm>
            <a:off x="457200" y="420624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Benchmark callout text"/>
          <p:cNvSpPr txBox="1"/>
          <p:nvPr/>
        </p:nvSpPr>
        <p:spPr>
          <a:xfrm>
            <a:off x="594360" y="4206240"/>
            <a:ext cx="795528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Simplest benchmark first: </a:t>
            </a:r>
            <a:r>
              <a:rPr sz="1200" b="0" lang="en-GB">
                <a:solidFill>
                  <a:schemeClr val="bg1"/>
                </a:solidFill>
              </a:rPr>
              <a:t>naive, or seasonal naive for seasonal data; keep what beats it.</a:t>
            </a:r>
          </a:p>
        </p:txBody>
      </p:sp>
      <p:sp>
        <p:nvSpPr>
          <p:cNvPr id="2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6 · trend, season, holdout, 2019</a:t>
            </a:r>
          </a:p>
        </p:txBody>
      </p:sp>
      <p:sp>
        <p:nvSpPr>
          <p:cNvPr id="3" name="Title 2"/>
          <p:cNvSpPr>
            <a:spLocks noGrp="1"/>
          </p:cNvSpPr>
          <p:nvPr>
            <p:ph type="ctrTitle"/>
          </p:nvPr>
        </p:nvSpPr>
        <p:spPr/>
        <p:txBody>
          <a:bodyPr/>
          <a:lstStyle/>
          <a:p>
            <a:r>
              <a:rPr lang="en-GB"/>
              <a:t>Real data: clothing sales in Australia</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data: monthly clothing sales, 2009–2018</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sk band"/>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ask" descr=""/>
          <p:cNvPicPr>
            <a:picLocks noChangeAspect="1"/>
          </p:cNvPicPr>
          <p:nvPr/>
        </p:nvPicPr>
        <p:blipFill>
          <a:blip r:embed="rId3"/>
          <a:stretch>
            <a:fillRect/>
          </a:stretch>
        </p:blipFill>
        <p:spPr>
          <a:xfrm>
            <a:off x="621792" y="1307592"/>
            <a:ext cx="310896" cy="310896"/>
          </a:xfrm>
          <a:prstGeom prst="rect">
            <a:avLst/>
          </a:prstGeom>
        </p:spPr>
      </p:pic>
      <p:sp>
        <p:nvSpPr>
          <p:cNvPr id="12" name="Task text"/>
          <p:cNvSpPr txBox="1"/>
          <p:nvPr/>
        </p:nvSpPr>
        <p:spPr>
          <a:xfrm>
            <a:off x="1115568" y="1234440"/>
            <a:ext cx="745236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The task: </a:t>
            </a:r>
            <a:r>
              <a:rPr sz="1300" b="0" lang="en-GB">
                <a:solidFill>
                  <a:schemeClr val="tx1"/>
                </a:solidFill>
              </a:rPr>
              <a:t>a fashion retailer plans stock for 2019 from the market's monthly sales.</a:t>
            </a:r>
          </a:p>
        </p:txBody>
      </p:sp>
      <p:pic>
        <p:nvPicPr>
          <p:cNvPr id="13" name="Chart fc_f3_series.png" descr="Monthly clothing sales in Australia, Jan 2009 to Dec 2018, AUD m: an upward trend with a December peak every year; the last 24 months (2017–2018) are shaded as the holdout."/>
          <p:cNvPicPr>
            <a:picLocks noChangeAspect="1"/>
          </p:cNvPicPr>
          <p:nvPr/>
        </p:nvPicPr>
        <p:blipFill>
          <a:blip r:embed="rId4"/>
          <a:stretch>
            <a:fillRect/>
          </a:stretch>
        </p:blipFill>
        <p:spPr>
          <a:xfrm>
            <a:off x="457200" y="1828800"/>
            <a:ext cx="4846320" cy="2423160"/>
          </a:xfrm>
          <a:prstGeom prst="rect">
            <a:avLst/>
          </a:prstGeom>
        </p:spPr>
      </p:pic>
      <p:sp>
        <p:nvSpPr>
          <p:cNvPr id="14" name="Data row 1 row"/>
          <p:cNvSpPr/>
          <p:nvPr/>
        </p:nvSpPr>
        <p:spPr>
          <a:xfrm>
            <a:off x="5440680" y="1828800"/>
            <a:ext cx="324612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ata row 1 bar"/>
          <p:cNvSpPr/>
          <p:nvPr/>
        </p:nvSpPr>
        <p:spPr>
          <a:xfrm>
            <a:off x="5440680" y="1828800"/>
            <a:ext cx="64008" cy="7498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ata row 1 text"/>
          <p:cNvSpPr txBox="1"/>
          <p:nvPr/>
        </p:nvSpPr>
        <p:spPr>
          <a:xfrm>
            <a:off x="5641848" y="1828800"/>
            <a:ext cx="2953512" cy="749808"/>
          </a:xfrm>
          <a:prstGeom prst="rect">
            <a:avLst/>
          </a:prstGeom>
          <a:noFill/>
        </p:spPr>
        <p:txBody>
          <a:bodyPr wrap="square" lIns="0" rIns="0" tIns="0" bIns="0" anchor="ctr">
            <a:noAutofit/>
          </a:bodyPr>
          <a:lstStyle/>
          <a:p>
            <a:pPr algn="l">
              <a:spcAft>
                <a:spcPts val="400"/>
              </a:spcAft>
            </a:pPr>
            <a:r>
              <a:rPr sz="1150" b="1" lang="en-GB">
                <a:solidFill>
                  <a:schemeClr val="tx2"/>
                </a:solidFill>
              </a:rPr>
              <a:t>Source: </a:t>
            </a:r>
            <a:r>
              <a:rPr sz="1150" b="0" lang="en-GB">
                <a:solidFill>
                  <a:schemeClr val="tx1"/>
                </a:solidFill>
              </a:rPr>
              <a:t>Australian Bureau of Statistics (ABS), Retail Trade, open licence (CC BY 4.0)</a:t>
            </a:r>
          </a:p>
        </p:txBody>
      </p:sp>
      <p:sp>
        <p:nvSpPr>
          <p:cNvPr id="17" name="Data row 2 row"/>
          <p:cNvSpPr/>
          <p:nvPr/>
        </p:nvSpPr>
        <p:spPr>
          <a:xfrm>
            <a:off x="5440680" y="2670048"/>
            <a:ext cx="324612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ata row 2 bar"/>
          <p:cNvSpPr/>
          <p:nvPr/>
        </p:nvSpPr>
        <p:spPr>
          <a:xfrm>
            <a:off x="5440680" y="2670048"/>
            <a:ext cx="64008" cy="7498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ata row 2 text"/>
          <p:cNvSpPr txBox="1"/>
          <p:nvPr/>
        </p:nvSpPr>
        <p:spPr>
          <a:xfrm>
            <a:off x="5641848" y="2670048"/>
            <a:ext cx="2953512" cy="749808"/>
          </a:xfrm>
          <a:prstGeom prst="rect">
            <a:avLst/>
          </a:prstGeom>
          <a:noFill/>
        </p:spPr>
        <p:txBody>
          <a:bodyPr wrap="square" lIns="0" rIns="0" tIns="0" bIns="0" anchor="ctr">
            <a:noAutofit/>
          </a:bodyPr>
          <a:lstStyle/>
          <a:p>
            <a:pPr algn="l">
              <a:spcAft>
                <a:spcPts val="400"/>
              </a:spcAft>
            </a:pPr>
            <a:r>
              <a:rPr sz="1150" b="1" lang="en-GB">
                <a:solidFill>
                  <a:schemeClr val="tx2"/>
                </a:solidFill>
              </a:rPr>
              <a:t>Unit: </a:t>
            </a:r>
            <a:r>
              <a:rPr sz="1150" b="0" lang="en-GB">
                <a:solidFill>
                  <a:schemeClr val="tx1"/>
                </a:solidFill>
              </a:rPr>
              <a:t>turnover, AUD million a month, not seasonally adjusted</a:t>
            </a:r>
          </a:p>
        </p:txBody>
      </p:sp>
      <p:sp>
        <p:nvSpPr>
          <p:cNvPr id="20" name="Data row 3 row"/>
          <p:cNvSpPr/>
          <p:nvPr/>
        </p:nvSpPr>
        <p:spPr>
          <a:xfrm>
            <a:off x="5440680" y="3511296"/>
            <a:ext cx="324612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ata row 3 bar"/>
          <p:cNvSpPr/>
          <p:nvPr/>
        </p:nvSpPr>
        <p:spPr>
          <a:xfrm>
            <a:off x="5440680" y="3511296"/>
            <a:ext cx="64008" cy="7498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Data row 3 text"/>
          <p:cNvSpPr txBox="1"/>
          <p:nvPr/>
        </p:nvSpPr>
        <p:spPr>
          <a:xfrm>
            <a:off x="5641848" y="3511296"/>
            <a:ext cx="2953512" cy="749808"/>
          </a:xfrm>
          <a:prstGeom prst="rect">
            <a:avLst/>
          </a:prstGeom>
          <a:noFill/>
        </p:spPr>
        <p:txBody>
          <a:bodyPr wrap="square" lIns="0" rIns="0" tIns="0" bIns="0" anchor="ctr">
            <a:noAutofit/>
          </a:bodyPr>
          <a:lstStyle/>
          <a:p>
            <a:pPr algn="l">
              <a:spcAft>
                <a:spcPts val="400"/>
              </a:spcAft>
            </a:pPr>
            <a:r>
              <a:rPr sz="1150" b="1" lang="en-GB">
                <a:solidFill>
                  <a:schemeClr val="tx2"/>
                </a:solidFill>
              </a:rPr>
              <a:t>Period: </a:t>
            </a:r>
            <a:r>
              <a:rPr sz="1150" b="0" lang="en-GB">
                <a:solidFill>
                  <a:schemeClr val="tx1"/>
                </a:solidFill>
              </a:rPr>
              <a:t>Jan 2009 to Dec 2018, 120 months: 96 to fit, 24 holdout</a:t>
            </a:r>
          </a:p>
        </p:txBody>
      </p:sp>
      <p:sp>
        <p:nvSpPr>
          <p:cNvPr id="23" name="File line"/>
          <p:cNvSpPr txBox="1"/>
          <p:nvPr/>
        </p:nvSpPr>
        <p:spPr>
          <a:xfrm>
            <a:off x="457200" y="4389120"/>
            <a:ext cx="8229600" cy="27432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data/forecasting/aus_clothing_retail.csv</a:t>
            </a:r>
            <a:r>
              <a:rPr sz="1200" b="0" lang="en-GB">
                <a:solidFill>
                  <a:schemeClr val="tx1"/>
                </a:solidFill>
              </a:rPr>
              <a:t>   one row per month: month, value</a:t>
            </a:r>
          </a:p>
        </p:txBody>
      </p:sp>
      <p:sp>
        <p:nvSpPr>
          <p:cNvPr id="24"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 ABS, Retail Trade, Australia (8501.0), Table 11, clothing, footwear and personal accessories; CC BY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Trend, season and cycle in the real series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stl.png" descr="STL decomposition of the clothing series in three panels: the trend is flat to 2012 and rises after; the season has a December peak that grows every year; the remainder is small noise around zero."/>
          <p:cNvPicPr>
            <a:picLocks noChangeAspect="1"/>
          </p:cNvPicPr>
          <p:nvPr/>
        </p:nvPicPr>
        <p:blipFill>
          <a:blip r:embed="rId3"/>
          <a:stretch>
            <a:fillRect/>
          </a:stretch>
        </p:blipFill>
        <p:spPr>
          <a:xfrm>
            <a:off x="457200" y="1234440"/>
            <a:ext cx="4846320" cy="2926080"/>
          </a:xfrm>
          <a:prstGeom prst="rect">
            <a:avLst/>
          </a:prstGeom>
        </p:spPr>
      </p:pic>
      <p:sp>
        <p:nvSpPr>
          <p:cNvPr id="11" name="Season stat 1 box"/>
          <p:cNvSpPr/>
          <p:nvPr/>
        </p:nvSpPr>
        <p:spPr>
          <a:xfrm>
            <a:off x="5440680" y="1234440"/>
            <a:ext cx="32461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eason stat 1 bar"/>
          <p:cNvSpPr/>
          <p:nvPr/>
        </p:nvSpPr>
        <p:spPr>
          <a:xfrm>
            <a:off x="544068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 stat 1 figure"/>
          <p:cNvSpPr txBox="1"/>
          <p:nvPr/>
        </p:nvSpPr>
        <p:spPr>
          <a:xfrm>
            <a:off x="5623560" y="1234440"/>
            <a:ext cx="137160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1.59</a:t>
            </a:r>
          </a:p>
        </p:txBody>
      </p:sp>
      <p:sp>
        <p:nvSpPr>
          <p:cNvPr id="14" name="Season stat 1 label"/>
          <p:cNvSpPr txBox="1"/>
          <p:nvPr/>
        </p:nvSpPr>
        <p:spPr>
          <a:xfrm>
            <a:off x="6995160" y="1234440"/>
            <a:ext cx="1600200" cy="91440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a:t>
            </a:r>
            <a:r>
              <a:rPr sz="1150" b="0" lang="en-GB">
                <a:solidFill>
                  <a:schemeClr val="tx1"/>
                </a:solidFill>
              </a:rPr>
              <a:t>vs an average month; February × 0.80</a:t>
            </a:r>
          </a:p>
        </p:txBody>
      </p:sp>
      <p:sp>
        <p:nvSpPr>
          <p:cNvPr id="15" name="Season stat 2 box"/>
          <p:cNvSpPr/>
          <p:nvPr/>
        </p:nvSpPr>
        <p:spPr>
          <a:xfrm>
            <a:off x="5440680" y="2240280"/>
            <a:ext cx="32461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eason stat 2 bar"/>
          <p:cNvSpPr/>
          <p:nvPr/>
        </p:nvSpPr>
        <p:spPr>
          <a:xfrm>
            <a:off x="5440680" y="224028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 stat 2 figure"/>
          <p:cNvSpPr txBox="1"/>
          <p:nvPr/>
        </p:nvSpPr>
        <p:spPr>
          <a:xfrm>
            <a:off x="5623560" y="2240280"/>
            <a:ext cx="137160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+28 %</a:t>
            </a:r>
          </a:p>
        </p:txBody>
      </p:sp>
      <p:sp>
        <p:nvSpPr>
          <p:cNvPr id="18" name="Season stat 2 label"/>
          <p:cNvSpPr txBox="1"/>
          <p:nvPr/>
        </p:nvSpPr>
        <p:spPr>
          <a:xfrm>
            <a:off x="6995160" y="2240280"/>
            <a:ext cx="1600200" cy="914400"/>
          </a:xfrm>
          <a:prstGeom prst="rect">
            <a:avLst/>
          </a:prstGeom>
          <a:noFill/>
        </p:spPr>
        <p:txBody>
          <a:bodyPr wrap="square" lIns="0" rIns="0" tIns="0" bIns="0" anchor="ctr">
            <a:noAutofit/>
          </a:bodyPr>
          <a:lstStyle/>
          <a:p>
            <a:pPr algn="l">
              <a:spcAft>
                <a:spcPts val="400"/>
              </a:spcAft>
            </a:pPr>
            <a:r>
              <a:rPr sz="1150" b="1" lang="en-GB">
                <a:solidFill>
                  <a:schemeClr val="tx2"/>
                </a:solidFill>
              </a:rPr>
              <a:t>2009 to 2018; </a:t>
            </a:r>
            <a:r>
              <a:rPr sz="1150" b="0" lang="en-GB">
                <a:solidFill>
                  <a:schemeClr val="tx1"/>
                </a:solidFill>
              </a:rPr>
              <a:t>flat to 2012 (a cycle), then about +4 % a year</a:t>
            </a:r>
          </a:p>
        </p:txBody>
      </p:sp>
      <p:sp>
        <p:nvSpPr>
          <p:cNvPr id="19" name="Season stat 3 box"/>
          <p:cNvSpPr/>
          <p:nvPr/>
        </p:nvSpPr>
        <p:spPr>
          <a:xfrm>
            <a:off x="5440680" y="3246120"/>
            <a:ext cx="32461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eason stat 3 bar"/>
          <p:cNvSpPr/>
          <p:nvPr/>
        </p:nvSpPr>
        <p:spPr>
          <a:xfrm>
            <a:off x="5440680" y="324612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ason stat 3 figure"/>
          <p:cNvSpPr txBox="1"/>
          <p:nvPr/>
        </p:nvSpPr>
        <p:spPr>
          <a:xfrm>
            <a:off x="5623560" y="3246120"/>
            <a:ext cx="137160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1,257</a:t>
            </a:r>
          </a:p>
        </p:txBody>
      </p:sp>
      <p:sp>
        <p:nvSpPr>
          <p:cNvPr id="22" name="Season stat 3 label"/>
          <p:cNvSpPr txBox="1"/>
          <p:nvPr/>
        </p:nvSpPr>
        <p:spPr>
          <a:xfrm>
            <a:off x="6995160" y="3246120"/>
            <a:ext cx="1600200" cy="91440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swing </a:t>
            </a:r>
            <a:r>
              <a:rPr sz="1150" b="0" lang="en-GB">
                <a:solidFill>
                  <a:schemeClr val="tx1"/>
                </a:solidFill>
              </a:rPr>
              <a:t>in 2018, AUD m (2009: 890): it grows with the level</a:t>
            </a:r>
          </a:p>
        </p:txBody>
      </p:sp>
      <p:sp>
        <p:nvSpPr>
          <p:cNvPr id="23" name="Season callout box"/>
          <p:cNvSpPr/>
          <p:nvPr/>
        </p:nvSpPr>
        <p:spPr>
          <a:xfrm>
            <a:off x="457200" y="4297680"/>
            <a:ext cx="8229600" cy="3657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eason callout text"/>
          <p:cNvSpPr txBox="1"/>
          <p:nvPr/>
        </p:nvSpPr>
        <p:spPr>
          <a:xfrm>
            <a:off x="658368" y="4297680"/>
            <a:ext cx="7827264"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Strong trend and season: </a:t>
            </a:r>
            <a:r>
              <a:rPr sz="1200" b="0" lang="en-GB">
                <a:solidFill>
                  <a:schemeClr val="bg1"/>
                </a:solidFill>
              </a:rPr>
              <a:t>a good method must model both.</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Is it stationary? The ADF test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DF table 1-1"/>
          <p:cNvSpPr/>
          <p:nvPr/>
        </p:nvSpPr>
        <p:spPr>
          <a:xfrm>
            <a:off x="457200" y="1234440"/>
            <a:ext cx="22585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DF table text 1-1"/>
          <p:cNvSpPr txBox="1"/>
          <p:nvPr/>
        </p:nvSpPr>
        <p:spPr>
          <a:xfrm>
            <a:off x="548640" y="1234440"/>
            <a:ext cx="20756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Series</a:t>
            </a:r>
          </a:p>
        </p:txBody>
      </p:sp>
      <p:sp>
        <p:nvSpPr>
          <p:cNvPr id="12" name="ADF table 1-2"/>
          <p:cNvSpPr/>
          <p:nvPr/>
        </p:nvSpPr>
        <p:spPr>
          <a:xfrm>
            <a:off x="2743200" y="1234440"/>
            <a:ext cx="886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ADF table text 1-2"/>
          <p:cNvSpPr txBox="1"/>
          <p:nvPr/>
        </p:nvSpPr>
        <p:spPr>
          <a:xfrm>
            <a:off x="2834640" y="1234440"/>
            <a:ext cx="70408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ADF p</a:t>
            </a:r>
          </a:p>
        </p:txBody>
      </p:sp>
      <p:sp>
        <p:nvSpPr>
          <p:cNvPr id="14" name="ADF table 1-3"/>
          <p:cNvSpPr/>
          <p:nvPr/>
        </p:nvSpPr>
        <p:spPr>
          <a:xfrm>
            <a:off x="3657600" y="1234440"/>
            <a:ext cx="1737360"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ADF table text 1-3"/>
          <p:cNvSpPr txBox="1"/>
          <p:nvPr/>
        </p:nvSpPr>
        <p:spPr>
          <a:xfrm>
            <a:off x="3749040" y="1234440"/>
            <a:ext cx="152704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Stationary?</a:t>
            </a:r>
          </a:p>
        </p:txBody>
      </p:sp>
      <p:sp>
        <p:nvSpPr>
          <p:cNvPr id="16" name="ADF table 2-1"/>
          <p:cNvSpPr/>
          <p:nvPr/>
        </p:nvSpPr>
        <p:spPr>
          <a:xfrm>
            <a:off x="457200" y="1627632"/>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DF table text 2-1"/>
          <p:cNvSpPr txBox="1"/>
          <p:nvPr/>
        </p:nvSpPr>
        <p:spPr>
          <a:xfrm>
            <a:off x="548640" y="1627632"/>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Sales (levels)</a:t>
            </a:r>
          </a:p>
        </p:txBody>
      </p:sp>
      <p:sp>
        <p:nvSpPr>
          <p:cNvPr id="18" name="ADF table 2-2"/>
          <p:cNvSpPr/>
          <p:nvPr/>
        </p:nvSpPr>
        <p:spPr>
          <a:xfrm>
            <a:off x="2743200" y="1627632"/>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ADF table text 2-2"/>
          <p:cNvSpPr txBox="1"/>
          <p:nvPr/>
        </p:nvSpPr>
        <p:spPr>
          <a:xfrm>
            <a:off x="2834640" y="1627632"/>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0.992</a:t>
            </a:r>
          </a:p>
        </p:txBody>
      </p:sp>
      <p:sp>
        <p:nvSpPr>
          <p:cNvPr id="20" name="ADF table 2-3"/>
          <p:cNvSpPr/>
          <p:nvPr/>
        </p:nvSpPr>
        <p:spPr>
          <a:xfrm>
            <a:off x="3657600" y="1627632"/>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DF table text 2-3"/>
          <p:cNvSpPr txBox="1"/>
          <p:nvPr/>
        </p:nvSpPr>
        <p:spPr>
          <a:xfrm>
            <a:off x="3749040" y="1627632"/>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no</a:t>
            </a:r>
          </a:p>
        </p:txBody>
      </p:sp>
      <p:sp>
        <p:nvSpPr>
          <p:cNvPr id="22" name="ADF table 3-1"/>
          <p:cNvSpPr/>
          <p:nvPr/>
        </p:nvSpPr>
        <p:spPr>
          <a:xfrm>
            <a:off x="457200" y="2020824"/>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DF table text 3-1"/>
          <p:cNvSpPr txBox="1"/>
          <p:nvPr/>
        </p:nvSpPr>
        <p:spPr>
          <a:xfrm>
            <a:off x="548640" y="2020824"/>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Log sales</a:t>
            </a:r>
          </a:p>
        </p:txBody>
      </p:sp>
      <p:sp>
        <p:nvSpPr>
          <p:cNvPr id="24" name="ADF table 3-2"/>
          <p:cNvSpPr/>
          <p:nvPr/>
        </p:nvSpPr>
        <p:spPr>
          <a:xfrm>
            <a:off x="2743200" y="2020824"/>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ADF table text 3-2"/>
          <p:cNvSpPr txBox="1"/>
          <p:nvPr/>
        </p:nvSpPr>
        <p:spPr>
          <a:xfrm>
            <a:off x="2834640" y="2020824"/>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0.987</a:t>
            </a:r>
          </a:p>
        </p:txBody>
      </p:sp>
      <p:sp>
        <p:nvSpPr>
          <p:cNvPr id="26" name="ADF table 3-3"/>
          <p:cNvSpPr/>
          <p:nvPr/>
        </p:nvSpPr>
        <p:spPr>
          <a:xfrm>
            <a:off x="3657600" y="2020824"/>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DF table text 3-3"/>
          <p:cNvSpPr txBox="1"/>
          <p:nvPr/>
        </p:nvSpPr>
        <p:spPr>
          <a:xfrm>
            <a:off x="3749040" y="2020824"/>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no</a:t>
            </a:r>
          </a:p>
        </p:txBody>
      </p:sp>
      <p:sp>
        <p:nvSpPr>
          <p:cNvPr id="28" name="ADF table 4-1"/>
          <p:cNvSpPr/>
          <p:nvPr/>
        </p:nvSpPr>
        <p:spPr>
          <a:xfrm>
            <a:off x="457200" y="2414016"/>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ADF table text 4-1"/>
          <p:cNvSpPr txBox="1"/>
          <p:nvPr/>
        </p:nvSpPr>
        <p:spPr>
          <a:xfrm>
            <a:off x="548640" y="2414016"/>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Change on last month</a:t>
            </a:r>
          </a:p>
        </p:txBody>
      </p:sp>
      <p:sp>
        <p:nvSpPr>
          <p:cNvPr id="30" name="ADF table 4-2"/>
          <p:cNvSpPr/>
          <p:nvPr/>
        </p:nvSpPr>
        <p:spPr>
          <a:xfrm>
            <a:off x="2743200" y="2414016"/>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ADF table text 4-2"/>
          <p:cNvSpPr txBox="1"/>
          <p:nvPr/>
        </p:nvSpPr>
        <p:spPr>
          <a:xfrm>
            <a:off x="2834640" y="2414016"/>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0.011</a:t>
            </a:r>
          </a:p>
        </p:txBody>
      </p:sp>
      <p:sp>
        <p:nvSpPr>
          <p:cNvPr id="32" name="ADF table 4-3"/>
          <p:cNvSpPr/>
          <p:nvPr/>
        </p:nvSpPr>
        <p:spPr>
          <a:xfrm>
            <a:off x="3657600" y="2414016"/>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ADF table text 4-3"/>
          <p:cNvSpPr txBox="1"/>
          <p:nvPr/>
        </p:nvSpPr>
        <p:spPr>
          <a:xfrm>
            <a:off x="3749040" y="2414016"/>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yes (season stays)</a:t>
            </a:r>
          </a:p>
        </p:txBody>
      </p:sp>
      <p:sp>
        <p:nvSpPr>
          <p:cNvPr id="34" name="ADF table 5-1"/>
          <p:cNvSpPr/>
          <p:nvPr/>
        </p:nvSpPr>
        <p:spPr>
          <a:xfrm>
            <a:off x="457200" y="2807208"/>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ADF table text 5-1"/>
          <p:cNvSpPr txBox="1"/>
          <p:nvPr/>
        </p:nvSpPr>
        <p:spPr>
          <a:xfrm>
            <a:off x="548640" y="2807208"/>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Change on last year</a:t>
            </a:r>
          </a:p>
        </p:txBody>
      </p:sp>
      <p:sp>
        <p:nvSpPr>
          <p:cNvPr id="36" name="ADF table 5-2"/>
          <p:cNvSpPr/>
          <p:nvPr/>
        </p:nvSpPr>
        <p:spPr>
          <a:xfrm>
            <a:off x="2743200" y="2807208"/>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ADF table text 5-2"/>
          <p:cNvSpPr txBox="1"/>
          <p:nvPr/>
        </p:nvSpPr>
        <p:spPr>
          <a:xfrm>
            <a:off x="2834640" y="2807208"/>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0.003</a:t>
            </a:r>
          </a:p>
        </p:txBody>
      </p:sp>
      <p:sp>
        <p:nvSpPr>
          <p:cNvPr id="38" name="ADF table 5-3"/>
          <p:cNvSpPr/>
          <p:nvPr/>
        </p:nvSpPr>
        <p:spPr>
          <a:xfrm>
            <a:off x="3657600" y="2807208"/>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ADF table text 5-3"/>
          <p:cNvSpPr txBox="1"/>
          <p:nvPr/>
        </p:nvSpPr>
        <p:spPr>
          <a:xfrm>
            <a:off x="3749040" y="2807208"/>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yes</a:t>
            </a:r>
          </a:p>
        </p:txBody>
      </p:sp>
      <p:sp>
        <p:nvSpPr>
          <p:cNvPr id="40" name="ADF table 6-1"/>
          <p:cNvSpPr/>
          <p:nvPr/>
        </p:nvSpPr>
        <p:spPr>
          <a:xfrm>
            <a:off x="457200" y="3200400"/>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ADF table text 6-1"/>
          <p:cNvSpPr txBox="1"/>
          <p:nvPr/>
        </p:nvSpPr>
        <p:spPr>
          <a:xfrm>
            <a:off x="548640" y="3200400"/>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Both changes, log sales</a:t>
            </a:r>
          </a:p>
        </p:txBody>
      </p:sp>
      <p:sp>
        <p:nvSpPr>
          <p:cNvPr id="42" name="ADF table 6-2"/>
          <p:cNvSpPr/>
          <p:nvPr/>
        </p:nvSpPr>
        <p:spPr>
          <a:xfrm>
            <a:off x="2743200" y="3200400"/>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ADF table text 6-2"/>
          <p:cNvSpPr txBox="1"/>
          <p:nvPr/>
        </p:nvSpPr>
        <p:spPr>
          <a:xfrm>
            <a:off x="2834640" y="3200400"/>
            <a:ext cx="704088" cy="365760"/>
          </a:xfrm>
          <a:prstGeom prst="rect">
            <a:avLst/>
          </a:prstGeom>
          <a:noFill/>
        </p:spPr>
        <p:txBody>
          <a:bodyPr wrap="square" lIns="0" rIns="0" tIns="0" bIns="0" anchor="ctr">
            <a:noAutofit/>
          </a:bodyPr>
          <a:lstStyle/>
          <a:p>
            <a:pPr algn="r">
              <a:spcAft>
                <a:spcPts val="400"/>
              </a:spcAft>
            </a:pPr>
            <a:r>
              <a:rPr sz="1200" b="1" lang="en-GB">
                <a:solidFill>
                  <a:schemeClr val="tx2"/>
                </a:solidFill>
              </a:rPr>
              <a:t>&lt; 0.001</a:t>
            </a:r>
          </a:p>
        </p:txBody>
      </p:sp>
      <p:sp>
        <p:nvSpPr>
          <p:cNvPr id="44" name="ADF table 6-3"/>
          <p:cNvSpPr/>
          <p:nvPr/>
        </p:nvSpPr>
        <p:spPr>
          <a:xfrm>
            <a:off x="3657600" y="3200400"/>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ADF table text 6-3"/>
          <p:cNvSpPr txBox="1"/>
          <p:nvPr/>
        </p:nvSpPr>
        <p:spPr>
          <a:xfrm>
            <a:off x="3749040" y="3200400"/>
            <a:ext cx="152704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yes</a:t>
            </a:r>
          </a:p>
        </p:txBody>
      </p:sp>
      <p:pic>
        <p:nvPicPr>
          <p:cNvPr id="46" name="Chart fc_f3_diff.png" descr="Two panels: log sales 2009–2018 rise and peak every December (they wander); after the change on last month and on last year the series moves around zero with no trend."/>
          <p:cNvPicPr>
            <a:picLocks noChangeAspect="1"/>
          </p:cNvPicPr>
          <p:nvPr/>
        </p:nvPicPr>
        <p:blipFill>
          <a:blip r:embed="rId3"/>
          <a:stretch>
            <a:fillRect/>
          </a:stretch>
        </p:blipFill>
        <p:spPr>
          <a:xfrm>
            <a:off x="5532120" y="1234440"/>
            <a:ext cx="3154680" cy="2331720"/>
          </a:xfrm>
          <a:prstGeom prst="rect">
            <a:avLst/>
          </a:prstGeom>
        </p:spPr>
      </p:pic>
      <p:sp>
        <p:nvSpPr>
          <p:cNvPr id="47" name="ADF row row"/>
          <p:cNvSpPr/>
          <p:nvPr/>
        </p:nvSpPr>
        <p:spPr>
          <a:xfrm>
            <a:off x="457200" y="3703320"/>
            <a:ext cx="822960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ADF row bar"/>
          <p:cNvSpPr/>
          <p:nvPr/>
        </p:nvSpPr>
        <p:spPr>
          <a:xfrm>
            <a:off x="457200" y="3703320"/>
            <a:ext cx="6400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ADF row text"/>
          <p:cNvSpPr txBox="1"/>
          <p:nvPr/>
        </p:nvSpPr>
        <p:spPr>
          <a:xfrm>
            <a:off x="658368" y="3703320"/>
            <a:ext cx="7936992"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ADF in plain words: </a:t>
            </a:r>
            <a:r>
              <a:rPr sz="1200" b="0" lang="en-GB">
                <a:solidFill>
                  <a:schemeClr val="tx1"/>
                </a:solidFill>
              </a:rPr>
              <a:t>does it wander without a fixed mean? Small p (below 0.05): no, stationary.</a:t>
            </a:r>
          </a:p>
        </p:txBody>
      </p:sp>
      <p:sp>
        <p:nvSpPr>
          <p:cNvPr id="50" name="ADF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ADF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Difference until it is stationary: </a:t>
            </a:r>
            <a:r>
              <a:rPr sz="1200" b="0" lang="en-GB">
                <a:solidFill>
                  <a:schemeClr val="bg1"/>
                </a:solidFill>
              </a:rPr>
              <a:t>SARIMA does it for us (next slide).</a:t>
            </a:r>
          </a:p>
        </p:txBody>
      </p:sp>
      <p:sp>
        <p:nvSpPr>
          <p:cNvPr id="5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Two models that learn trend and season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odel card 1 body"/>
          <p:cNvSpPr/>
          <p:nvPr/>
        </p:nvSpPr>
        <p:spPr>
          <a:xfrm>
            <a:off x="457200" y="1645920"/>
            <a:ext cx="404622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odel card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odel card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Holt-Winters / ETS</a:t>
            </a:r>
          </a:p>
        </p:txBody>
      </p:sp>
      <p:pic>
        <p:nvPicPr>
          <p:cNvPr id="13" name="Icon Model card 1" descr=""/>
          <p:cNvPicPr>
            <a:picLocks noChangeAspect="1"/>
          </p:cNvPicPr>
          <p:nvPr/>
        </p:nvPicPr>
        <p:blipFill>
          <a:blip r:embed="rId3"/>
          <a:stretch>
            <a:fillRect/>
          </a:stretch>
        </p:blipFill>
        <p:spPr>
          <a:xfrm>
            <a:off x="4064508" y="1284732"/>
            <a:ext cx="310896" cy="310896"/>
          </a:xfrm>
          <a:prstGeom prst="rect">
            <a:avLst/>
          </a:prstGeom>
        </p:spPr>
      </p:pic>
      <p:sp>
        <p:nvSpPr>
          <p:cNvPr id="14" name="Model card 1 text"/>
          <p:cNvSpPr txBox="1"/>
          <p:nvPr/>
        </p:nvSpPr>
        <p:spPr>
          <a:xfrm>
            <a:off x="621792" y="1783080"/>
            <a:ext cx="374446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Smooths level, trend and season (multiplicative)</a:t>
            </a:r>
          </a:p>
          <a:p>
            <a:pPr algn="l" marL="182880" indent="-182880">
              <a:spcAft>
                <a:spcPts val="600"/>
              </a:spcAft>
              <a:buClr>
                <a:schemeClr val="accent1"/>
              </a:buClr>
              <a:buFont typeface="Arial"/>
              <a:buChar char="▪"/>
            </a:pPr>
            <a:r>
              <a:rPr sz="1300" b="0" lang="en-GB">
                <a:solidFill>
                  <a:schemeClr val="tx1"/>
                </a:solidFill>
              </a:rPr>
              <a:t>Each has its own weight α, β, γ (slide 13)</a:t>
            </a:r>
          </a:p>
          <a:p>
            <a:pPr algn="l" marL="182880" indent="-182880">
              <a:spcAft>
                <a:spcPts val="600"/>
              </a:spcAft>
              <a:buClr>
                <a:schemeClr val="accent1"/>
              </a:buClr>
              <a:buFont typeface="Arial"/>
              <a:buChar char="▪"/>
            </a:pPr>
            <a:r>
              <a:rPr sz="1300" b="0" lang="en-GB">
                <a:solidFill>
                  <a:schemeClr val="tx1"/>
                </a:solidFill>
              </a:rPr>
              <a:t>ETS: the same idea as a statistical model, so it also gives bands</a:t>
            </a:r>
          </a:p>
        </p:txBody>
      </p:sp>
      <p:sp>
        <p:nvSpPr>
          <p:cNvPr id="15" name="Model card 2 body"/>
          <p:cNvSpPr/>
          <p:nvPr/>
        </p:nvSpPr>
        <p:spPr>
          <a:xfrm>
            <a:off x="4640580" y="1645920"/>
            <a:ext cx="404622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odel card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odel card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SARIMA</a:t>
            </a:r>
          </a:p>
        </p:txBody>
      </p:sp>
      <p:pic>
        <p:nvPicPr>
          <p:cNvPr id="18" name="Icon Model card 2" descr=""/>
          <p:cNvPicPr>
            <a:picLocks noChangeAspect="1"/>
          </p:cNvPicPr>
          <p:nvPr/>
        </p:nvPicPr>
        <p:blipFill>
          <a:blip r:embed="rId4"/>
          <a:stretch>
            <a:fillRect/>
          </a:stretch>
        </p:blipFill>
        <p:spPr>
          <a:xfrm>
            <a:off x="8247888" y="1284732"/>
            <a:ext cx="310896" cy="310896"/>
          </a:xfrm>
          <a:prstGeom prst="rect">
            <a:avLst/>
          </a:prstGeom>
        </p:spPr>
      </p:pic>
      <p:sp>
        <p:nvSpPr>
          <p:cNvPr id="19" name="Model card 2 text"/>
          <p:cNvSpPr txBox="1"/>
          <p:nvPr/>
        </p:nvSpPr>
        <p:spPr>
          <a:xfrm>
            <a:off x="4805172" y="1783080"/>
            <a:ext cx="374446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Differences remove trend and season</a:t>
            </a:r>
          </a:p>
          <a:p>
            <a:pPr algn="l" marL="182880" indent="-182880">
              <a:spcAft>
                <a:spcPts val="600"/>
              </a:spcAft>
              <a:buClr>
                <a:schemeClr val="accent1"/>
              </a:buClr>
              <a:buFont typeface="Arial"/>
              <a:buChar char="▪"/>
            </a:pPr>
            <a:r>
              <a:rPr sz="1300" b="0" lang="en-GB">
                <a:solidFill>
                  <a:schemeClr val="tx1"/>
                </a:solidFill>
              </a:rPr>
              <a:t>Then it models the memory: how much of last month's and last year's surprise carries on</a:t>
            </a:r>
          </a:p>
          <a:p>
            <a:pPr algn="l" marL="182880" indent="-182880">
              <a:spcAft>
                <a:spcPts val="600"/>
              </a:spcAft>
              <a:buClr>
                <a:schemeClr val="accent1"/>
              </a:buClr>
              <a:buFont typeface="Arial"/>
              <a:buChar char="▪"/>
            </a:pPr>
            <a:r>
              <a:rPr sz="1300" b="0" lang="en-GB">
                <a:solidFill>
                  <a:schemeClr val="tx1"/>
                </a:solidFill>
              </a:rPr>
              <a:t>Ours: SARIMA(0,1,1)(0,1,1)₁₂ on log sales</a:t>
            </a:r>
          </a:p>
        </p:txBody>
      </p:sp>
      <p:sp>
        <p:nvSpPr>
          <p:cNvPr id="20" name="Flow box 1"/>
          <p:cNvSpPr/>
          <p:nvPr/>
        </p:nvSpPr>
        <p:spPr>
          <a:xfrm>
            <a:off x="457200" y="3291840"/>
            <a:ext cx="1817370" cy="502920"/>
          </a:xfrm>
          <a:prstGeom prst="roundRect">
            <a:avLst>
              <a:gd name="adj" fmla="val 15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low text 1"/>
          <p:cNvSpPr txBox="1"/>
          <p:nvPr/>
        </p:nvSpPr>
        <p:spPr>
          <a:xfrm>
            <a:off x="502920" y="3291840"/>
            <a:ext cx="1725930" cy="502920"/>
          </a:xfrm>
          <a:prstGeom prst="rect">
            <a:avLst/>
          </a:prstGeom>
          <a:noFill/>
        </p:spPr>
        <p:txBody>
          <a:bodyPr wrap="square" lIns="0" rIns="0" tIns="0" bIns="0" anchor="ctr">
            <a:noAutofit/>
          </a:bodyPr>
          <a:lstStyle/>
          <a:p>
            <a:pPr algn="ctr">
              <a:spcAft>
                <a:spcPts val="400"/>
              </a:spcAft>
            </a:pPr>
            <a:r>
              <a:rPr sz="1200" b="0" lang="en-GB">
                <a:solidFill>
                  <a:schemeClr val="tx2"/>
                </a:solidFill>
              </a:rPr>
              <a:t>log sales</a:t>
            </a:r>
          </a:p>
        </p:txBody>
      </p:sp>
      <p:sp>
        <p:nvSpPr>
          <p:cNvPr id="22" name="Flow box 2"/>
          <p:cNvSpPr/>
          <p:nvPr/>
        </p:nvSpPr>
        <p:spPr>
          <a:xfrm>
            <a:off x="2594610" y="3291840"/>
            <a:ext cx="1817370" cy="502920"/>
          </a:xfrm>
          <a:prstGeom prst="roundRect">
            <a:avLst>
              <a:gd name="adj" fmla="val 15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Flow text 2"/>
          <p:cNvSpPr txBox="1"/>
          <p:nvPr/>
        </p:nvSpPr>
        <p:spPr>
          <a:xfrm>
            <a:off x="2640330" y="3291840"/>
            <a:ext cx="1725930" cy="502920"/>
          </a:xfrm>
          <a:prstGeom prst="rect">
            <a:avLst/>
          </a:prstGeom>
          <a:noFill/>
        </p:spPr>
        <p:txBody>
          <a:bodyPr wrap="square" lIns="0" rIns="0" tIns="0" bIns="0" anchor="ctr">
            <a:noAutofit/>
          </a:bodyPr>
          <a:lstStyle/>
          <a:p>
            <a:pPr algn="ctr">
              <a:spcAft>
                <a:spcPts val="400"/>
              </a:spcAft>
            </a:pPr>
            <a:r>
              <a:rPr sz="1200" b="0" lang="en-GB">
                <a:solidFill>
                  <a:schemeClr val="tx2"/>
                </a:solidFill>
              </a:rPr>
              <a:t>change on last month</a:t>
            </a:r>
          </a:p>
        </p:txBody>
      </p:sp>
      <p:cxnSp>
        <p:nvCxnSpPr>
          <p:cNvPr id="24" name="Flow arrow 1"/>
          <p:cNvCxnSpPr/>
          <p:nvPr/>
        </p:nvCxnSpPr>
        <p:spPr>
          <a:xfrm>
            <a:off x="2329434" y="3543300"/>
            <a:ext cx="210312" cy="0"/>
          </a:xfrm>
          <a:prstGeom prst="line">
            <a:avLst/>
          </a:prstGeom>
          <a:ln w="28575">
            <a:solidFill>
              <a:schemeClr val="accent1"/>
            </a:solidFill>
            <a:tailEnd type="triangle" w="lg" len="lg"/>
          </a:ln>
        </p:spPr>
        <p:style>
          <a:lnRef idx="2">
            <a:schemeClr val="accent1"/>
          </a:lnRef>
          <a:fillRef idx="0">
            <a:schemeClr val="accent1"/>
          </a:fillRef>
          <a:effectRef idx="1">
            <a:schemeClr val="accent1"/>
          </a:effectRef>
          <a:fontRef idx="minor">
            <a:schemeClr val="tx1"/>
          </a:fontRef>
        </p:style>
      </p:cxnSp>
      <p:sp>
        <p:nvSpPr>
          <p:cNvPr id="25" name="Flow box 3"/>
          <p:cNvSpPr/>
          <p:nvPr/>
        </p:nvSpPr>
        <p:spPr>
          <a:xfrm>
            <a:off x="4732020" y="3291840"/>
            <a:ext cx="1817370" cy="502920"/>
          </a:xfrm>
          <a:prstGeom prst="roundRect">
            <a:avLst>
              <a:gd name="adj" fmla="val 15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Flow text 3"/>
          <p:cNvSpPr txBox="1"/>
          <p:nvPr/>
        </p:nvSpPr>
        <p:spPr>
          <a:xfrm>
            <a:off x="4777740" y="3291840"/>
            <a:ext cx="1725930" cy="502920"/>
          </a:xfrm>
          <a:prstGeom prst="rect">
            <a:avLst/>
          </a:prstGeom>
          <a:noFill/>
        </p:spPr>
        <p:txBody>
          <a:bodyPr wrap="square" lIns="0" rIns="0" tIns="0" bIns="0" anchor="ctr">
            <a:noAutofit/>
          </a:bodyPr>
          <a:lstStyle/>
          <a:p>
            <a:pPr algn="ctr">
              <a:spcAft>
                <a:spcPts val="400"/>
              </a:spcAft>
            </a:pPr>
            <a:r>
              <a:rPr sz="1200" b="0" lang="en-GB">
                <a:solidFill>
                  <a:schemeClr val="tx2"/>
                </a:solidFill>
              </a:rPr>
              <a:t>change on last year</a:t>
            </a:r>
          </a:p>
        </p:txBody>
      </p:sp>
      <p:cxnSp>
        <p:nvCxnSpPr>
          <p:cNvPr id="27" name="Flow arrow 2"/>
          <p:cNvCxnSpPr/>
          <p:nvPr/>
        </p:nvCxnSpPr>
        <p:spPr>
          <a:xfrm>
            <a:off x="4466844" y="3543300"/>
            <a:ext cx="210312" cy="0"/>
          </a:xfrm>
          <a:prstGeom prst="line">
            <a:avLst/>
          </a:prstGeom>
          <a:ln w="28575">
            <a:solidFill>
              <a:schemeClr val="accent1"/>
            </a:solidFill>
            <a:tailEnd type="triangle" w="lg" len="lg"/>
          </a:ln>
        </p:spPr>
        <p:style>
          <a:lnRef idx="2">
            <a:schemeClr val="accent1"/>
          </a:lnRef>
          <a:fillRef idx="0">
            <a:schemeClr val="accent1"/>
          </a:fillRef>
          <a:effectRef idx="1">
            <a:schemeClr val="accent1"/>
          </a:effectRef>
          <a:fontRef idx="minor">
            <a:schemeClr val="tx1"/>
          </a:fontRef>
        </p:style>
      </p:cxnSp>
      <p:sp>
        <p:nvSpPr>
          <p:cNvPr id="28" name="Flow box 4"/>
          <p:cNvSpPr/>
          <p:nvPr/>
        </p:nvSpPr>
        <p:spPr>
          <a:xfrm>
            <a:off x="6869430" y="3291840"/>
            <a:ext cx="1817370" cy="502920"/>
          </a:xfrm>
          <a:prstGeom prst="roundRect">
            <a:avLst>
              <a:gd name="adj" fmla="val 15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Flow text 4"/>
          <p:cNvSpPr txBox="1"/>
          <p:nvPr/>
        </p:nvSpPr>
        <p:spPr>
          <a:xfrm>
            <a:off x="6915150" y="3291840"/>
            <a:ext cx="1725930" cy="502920"/>
          </a:xfrm>
          <a:prstGeom prst="rect">
            <a:avLst/>
          </a:prstGeom>
          <a:noFill/>
        </p:spPr>
        <p:txBody>
          <a:bodyPr wrap="square" lIns="0" rIns="0" tIns="0" bIns="0" anchor="ctr">
            <a:noAutofit/>
          </a:bodyPr>
          <a:lstStyle/>
          <a:p>
            <a:pPr algn="ctr">
              <a:spcAft>
                <a:spcPts val="400"/>
              </a:spcAft>
            </a:pPr>
            <a:r>
              <a:rPr sz="1200" b="0" lang="en-GB">
                <a:solidFill>
                  <a:schemeClr val="tx2"/>
                </a:solidFill>
              </a:rPr>
              <a:t>memory of surprises</a:t>
            </a:r>
          </a:p>
        </p:txBody>
      </p:sp>
      <p:cxnSp>
        <p:nvCxnSpPr>
          <p:cNvPr id="30" name="Flow arrow 3"/>
          <p:cNvCxnSpPr/>
          <p:nvPr/>
        </p:nvCxnSpPr>
        <p:spPr>
          <a:xfrm>
            <a:off x="6604254" y="3543300"/>
            <a:ext cx="210312" cy="0"/>
          </a:xfrm>
          <a:prstGeom prst="line">
            <a:avLst/>
          </a:prstGeom>
          <a:ln w="28575">
            <a:solidFill>
              <a:schemeClr val="accent1"/>
            </a:solidFill>
            <a:tailEnd type="triangle" w="lg" len="lg"/>
          </a:ln>
        </p:spPr>
        <p:style>
          <a:lnRef idx="2">
            <a:schemeClr val="accent1"/>
          </a:lnRef>
          <a:fillRef idx="0">
            <a:schemeClr val="accent1"/>
          </a:fillRef>
          <a:effectRef idx="1">
            <a:schemeClr val="accent1"/>
          </a:effectRef>
          <a:fontRef idx="minor">
            <a:schemeClr val="tx1"/>
          </a:fontRef>
        </p:style>
      </p:cxnSp>
      <p:sp>
        <p:nvSpPr>
          <p:cNvPr id="31" name="Models callout box"/>
          <p:cNvSpPr/>
          <p:nvPr/>
        </p:nvSpPr>
        <p:spPr>
          <a:xfrm>
            <a:off x="457200" y="393192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Models callout text"/>
          <p:cNvSpPr txBox="1"/>
          <p:nvPr/>
        </p:nvSpPr>
        <p:spPr>
          <a:xfrm>
            <a:off x="658368" y="393192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Both learn trend and season from the data; </a:t>
            </a:r>
            <a:r>
              <a:rPr sz="1200" b="0" lang="en-GB">
                <a:solidFill>
                  <a:schemeClr val="bg1"/>
                </a:solidFill>
              </a:rPr>
              <a:t>the holdout decides which forecasts better.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Holdout 2017–2018: beat the seasonal naive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holdout.png" descr="Bar chart of the holdout MAE in AUD m for eleven methods, best first: log regression 54.5, ETS 63.0, regression 67.0, seasonal naive 67.2 (dashed line), then Holt-Winters, SARIMA, exponential smoothing and the mean; naive (1,277.5) and drift (1,510.9) run off the axis."/>
          <p:cNvPicPr>
            <a:picLocks noChangeAspect="1"/>
          </p:cNvPicPr>
          <p:nvPr/>
        </p:nvPicPr>
        <p:blipFill>
          <a:blip r:embed="rId3"/>
          <a:stretch>
            <a:fillRect/>
          </a:stretch>
        </p:blipFill>
        <p:spPr>
          <a:xfrm>
            <a:off x="457200" y="1234440"/>
            <a:ext cx="4846320" cy="2880360"/>
          </a:xfrm>
          <a:prstGeom prst="rect">
            <a:avLst/>
          </a:prstGeom>
        </p:spPr>
      </p:pic>
      <p:sp>
        <p:nvSpPr>
          <p:cNvPr id="11" name="Holdout stat 1 box"/>
          <p:cNvSpPr/>
          <p:nvPr/>
        </p:nvSpPr>
        <p:spPr>
          <a:xfrm>
            <a:off x="5440680" y="12344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Holdout stat 1 bar"/>
          <p:cNvSpPr/>
          <p:nvPr/>
        </p:nvSpPr>
        <p:spPr>
          <a:xfrm>
            <a:off x="544068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Holdout stat 1 figure"/>
          <p:cNvSpPr txBox="1"/>
          <p:nvPr/>
        </p:nvSpPr>
        <p:spPr>
          <a:xfrm>
            <a:off x="5623560" y="12344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a:t>
            </a:r>
          </a:p>
        </p:txBody>
      </p:sp>
      <p:sp>
        <p:nvSpPr>
          <p:cNvPr id="14" name="Holdout stat 1 label"/>
          <p:cNvSpPr txBox="1"/>
          <p:nvPr/>
        </p:nvSpPr>
        <p:spPr>
          <a:xfrm>
            <a:off x="6903720" y="1234440"/>
            <a:ext cx="1691640" cy="899160"/>
          </a:xfrm>
          <a:prstGeom prst="rect">
            <a:avLst/>
          </a:prstGeom>
          <a:noFill/>
        </p:spPr>
        <p:txBody>
          <a:bodyPr wrap="square" lIns="0" rIns="0" tIns="0" bIns="0" anchor="ctr">
            <a:noAutofit/>
          </a:bodyPr>
          <a:lstStyle/>
          <a:p>
            <a:pPr algn="l">
              <a:spcAft>
                <a:spcPts val="400"/>
              </a:spcAft>
            </a:pPr>
            <a:r>
              <a:rPr sz="1150" b="0" lang="en-GB">
                <a:solidFill>
                  <a:schemeClr val="tx1"/>
                </a:solidFill>
              </a:rPr>
              <a:t>of the other 14 methods beat the </a:t>
            </a:r>
            <a:r>
              <a:rPr sz="1150" b="1" lang="en-GB">
                <a:solidFill>
                  <a:schemeClr val="tx2"/>
                </a:solidFill>
              </a:rPr>
              <a:t>seasonal naive </a:t>
            </a:r>
            <a:r>
              <a:rPr sz="1150" b="0" lang="en-GB">
                <a:solidFill>
                  <a:schemeClr val="tx1"/>
                </a:solidFill>
              </a:rPr>
              <a:t>(67.2)</a:t>
            </a:r>
          </a:p>
        </p:txBody>
      </p:sp>
      <p:sp>
        <p:nvSpPr>
          <p:cNvPr id="15" name="Holdout stat 2 box"/>
          <p:cNvSpPr/>
          <p:nvPr/>
        </p:nvSpPr>
        <p:spPr>
          <a:xfrm>
            <a:off x="5440680" y="22250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Holdout stat 2 bar"/>
          <p:cNvSpPr/>
          <p:nvPr/>
        </p:nvSpPr>
        <p:spPr>
          <a:xfrm>
            <a:off x="544068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Holdout stat 2 figure"/>
          <p:cNvSpPr txBox="1"/>
          <p:nvPr/>
        </p:nvSpPr>
        <p:spPr>
          <a:xfrm>
            <a:off x="5623560" y="22250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54.5</a:t>
            </a:r>
          </a:p>
        </p:txBody>
      </p:sp>
      <p:sp>
        <p:nvSpPr>
          <p:cNvPr id="18" name="Holdout stat 2 label"/>
          <p:cNvSpPr txBox="1"/>
          <p:nvPr/>
        </p:nvSpPr>
        <p:spPr>
          <a:xfrm>
            <a:off x="6903720" y="22250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best: </a:t>
            </a:r>
            <a:r>
              <a:rPr sz="1150" b="0" lang="en-GB">
                <a:solidFill>
                  <a:schemeClr val="tx1"/>
                </a:solidFill>
              </a:rPr>
              <a:t>log regression, trend + months (MAPE 2.5 %)</a:t>
            </a:r>
          </a:p>
        </p:txBody>
      </p:sp>
      <p:sp>
        <p:nvSpPr>
          <p:cNvPr id="19" name="Holdout stat 3 box"/>
          <p:cNvSpPr/>
          <p:nvPr/>
        </p:nvSpPr>
        <p:spPr>
          <a:xfrm>
            <a:off x="5440680" y="32156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Holdout stat 3 bar"/>
          <p:cNvSpPr/>
          <p:nvPr/>
        </p:nvSpPr>
        <p:spPr>
          <a:xfrm>
            <a:off x="544068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Holdout stat 3 figure"/>
          <p:cNvSpPr txBox="1"/>
          <p:nvPr/>
        </p:nvSpPr>
        <p:spPr>
          <a:xfrm>
            <a:off x="5623560" y="32156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3,331</a:t>
            </a:r>
          </a:p>
        </p:txBody>
      </p:sp>
      <p:sp>
        <p:nvSpPr>
          <p:cNvPr id="22" name="Holdout stat 3 label"/>
          <p:cNvSpPr txBox="1"/>
          <p:nvPr/>
        </p:nvSpPr>
        <p:spPr>
          <a:xfrm>
            <a:off x="6903720" y="32156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trap: </a:t>
            </a:r>
            <a:r>
              <a:rPr sz="1150" b="0" lang="en-GB">
                <a:solidFill>
                  <a:schemeClr val="tx1"/>
                </a:solidFill>
              </a:rPr>
              <a:t>naive repeats Dec 2016 for 24 months (MAE 1,277.5)</a:t>
            </a:r>
          </a:p>
        </p:txBody>
      </p:sp>
      <p:sp>
        <p:nvSpPr>
          <p:cNvPr id="23" name="Holdout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Holdout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On seasonal data the seasonal naive is the benchmark: </a:t>
            </a:r>
            <a:r>
              <a:rPr sz="1200" b="0" lang="en-GB">
                <a:solidFill>
                  <a:schemeClr val="bg1"/>
                </a:solidFill>
              </a:rPr>
              <a:t>only three methods beat it.</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 holdout 2017–2018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2019 forecast with a 95 % band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forecast.png" descr="Actual sales 2016–2018 and the 2019 forecast of the log regression with its 95 % band; December 2019 is forecast at 3,430 AUD m; the actual values of January to April 2019 lie inside the band."/>
          <p:cNvPicPr>
            <a:picLocks noChangeAspect="1"/>
          </p:cNvPicPr>
          <p:nvPr/>
        </p:nvPicPr>
        <p:blipFill>
          <a:blip r:embed="rId3"/>
          <a:stretch>
            <a:fillRect/>
          </a:stretch>
        </p:blipFill>
        <p:spPr>
          <a:xfrm>
            <a:off x="457200" y="1234440"/>
            <a:ext cx="4572000" cy="2880360"/>
          </a:xfrm>
          <a:prstGeom prst="rect">
            <a:avLst/>
          </a:prstGeom>
        </p:spPr>
      </p:pic>
      <p:sp>
        <p:nvSpPr>
          <p:cNvPr id="11" name="Forecast stat 1 box"/>
          <p:cNvSpPr/>
          <p:nvPr/>
        </p:nvSpPr>
        <p:spPr>
          <a:xfrm>
            <a:off x="5166360" y="1234440"/>
            <a:ext cx="352044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orecast stat 1 bar"/>
          <p:cNvSpPr/>
          <p:nvPr/>
        </p:nvSpPr>
        <p:spPr>
          <a:xfrm>
            <a:off x="516636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orecast stat 1 figure"/>
          <p:cNvSpPr txBox="1"/>
          <p:nvPr/>
        </p:nvSpPr>
        <p:spPr>
          <a:xfrm>
            <a:off x="5349240" y="1234440"/>
            <a:ext cx="146304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3,430</a:t>
            </a:r>
          </a:p>
        </p:txBody>
      </p:sp>
      <p:sp>
        <p:nvSpPr>
          <p:cNvPr id="14" name="Forecast stat 1 label"/>
          <p:cNvSpPr txBox="1"/>
          <p:nvPr/>
        </p:nvSpPr>
        <p:spPr>
          <a:xfrm>
            <a:off x="6812280" y="1234440"/>
            <a:ext cx="178308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2019; </a:t>
            </a:r>
            <a:r>
              <a:rPr sz="1150" b="0" lang="en-GB">
                <a:solidFill>
                  <a:schemeClr val="tx1"/>
                </a:solidFill>
              </a:rPr>
              <a:t>95 % band 3,178 to 3,702: should hold the actual in 95 of 100 cases</a:t>
            </a:r>
          </a:p>
        </p:txBody>
      </p:sp>
      <p:sp>
        <p:nvSpPr>
          <p:cNvPr id="15" name="Forecast stat 2 box"/>
          <p:cNvSpPr/>
          <p:nvPr/>
        </p:nvSpPr>
        <p:spPr>
          <a:xfrm>
            <a:off x="5166360" y="2225040"/>
            <a:ext cx="352044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orecast stat 2 bar"/>
          <p:cNvSpPr/>
          <p:nvPr/>
        </p:nvSpPr>
        <p:spPr>
          <a:xfrm>
            <a:off x="516636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orecast stat 2 figure"/>
          <p:cNvSpPr txBox="1"/>
          <p:nvPr/>
        </p:nvSpPr>
        <p:spPr>
          <a:xfrm>
            <a:off x="5349240" y="2225040"/>
            <a:ext cx="146304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1.0 %</a:t>
            </a:r>
          </a:p>
        </p:txBody>
      </p:sp>
      <p:sp>
        <p:nvSpPr>
          <p:cNvPr id="18" name="Forecast stat 2 label"/>
          <p:cNvSpPr txBox="1"/>
          <p:nvPr/>
        </p:nvSpPr>
        <p:spPr>
          <a:xfrm>
            <a:off x="6812280" y="2225040"/>
            <a:ext cx="178308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error Jan–Apr 2019 </a:t>
            </a:r>
            <a:r>
              <a:rPr sz="1150" b="0" lang="en-GB">
                <a:solidFill>
                  <a:schemeClr val="tx1"/>
                </a:solidFill>
              </a:rPr>
              <a:t>(MAPE); all 4 inside the band</a:t>
            </a:r>
          </a:p>
        </p:txBody>
      </p:sp>
      <p:sp>
        <p:nvSpPr>
          <p:cNvPr id="19" name="Forecast stat 3 box"/>
          <p:cNvSpPr/>
          <p:nvPr/>
        </p:nvSpPr>
        <p:spPr>
          <a:xfrm>
            <a:off x="5166360" y="3215640"/>
            <a:ext cx="352044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orecast stat 3 bar"/>
          <p:cNvSpPr/>
          <p:nvPr/>
        </p:nvSpPr>
        <p:spPr>
          <a:xfrm>
            <a:off x="516636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orecast stat 3 figure"/>
          <p:cNvSpPr txBox="1"/>
          <p:nvPr/>
        </p:nvSpPr>
        <p:spPr>
          <a:xfrm>
            <a:off x="5349240" y="3215640"/>
            <a:ext cx="146304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25,595</a:t>
            </a:r>
          </a:p>
        </p:txBody>
      </p:sp>
      <p:sp>
        <p:nvSpPr>
          <p:cNvPr id="22" name="Forecast stat 3 label"/>
          <p:cNvSpPr txBox="1"/>
          <p:nvPr/>
        </p:nvSpPr>
        <p:spPr>
          <a:xfrm>
            <a:off x="6812280" y="3215640"/>
            <a:ext cx="178308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forecast for 2019 </a:t>
            </a:r>
            <a:r>
              <a:rPr sz="1150" b="0" lang="en-GB">
                <a:solidFill>
                  <a:schemeClr val="tx1"/>
                </a:solidFill>
              </a:rPr>
              <a:t>(2018: 25,077)</a:t>
            </a:r>
          </a:p>
        </p:txBody>
      </p:sp>
      <p:sp>
        <p:nvSpPr>
          <p:cNvPr id="23" name="Forecast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orecast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Refit the winner on all 120 months, </a:t>
            </a:r>
            <a:r>
              <a:rPr sz="1200" b="0" lang="en-GB">
                <a:solidFill>
                  <a:schemeClr val="bg1"/>
                </a:solidFill>
              </a:rPr>
              <a:t>then report the forecast with its band.</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Autocorrelation: errors that stick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resid.png" descr="Bar chart of the log regression's errors on the training months 2009–2016 in per cent; the errors come in long runs of the same sign, the longest 20 months below zero from Oct 2010 to May 2012."/>
          <p:cNvPicPr>
            <a:picLocks noChangeAspect="1"/>
          </p:cNvPicPr>
          <p:nvPr/>
        </p:nvPicPr>
        <p:blipFill>
          <a:blip r:embed="rId3"/>
          <a:stretch>
            <a:fillRect/>
          </a:stretch>
        </p:blipFill>
        <p:spPr>
          <a:xfrm>
            <a:off x="457200" y="1234440"/>
            <a:ext cx="4846320" cy="2880360"/>
          </a:xfrm>
          <a:prstGeom prst="rect">
            <a:avLst/>
          </a:prstGeom>
        </p:spPr>
      </p:pic>
      <p:sp>
        <p:nvSpPr>
          <p:cNvPr id="11" name="Resid stat 1 box"/>
          <p:cNvSpPr/>
          <p:nvPr/>
        </p:nvSpPr>
        <p:spPr>
          <a:xfrm>
            <a:off x="5440680" y="12344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sid stat 1 bar"/>
          <p:cNvSpPr/>
          <p:nvPr/>
        </p:nvSpPr>
        <p:spPr>
          <a:xfrm>
            <a:off x="544068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sid stat 1 figure"/>
          <p:cNvSpPr txBox="1"/>
          <p:nvPr/>
        </p:nvSpPr>
        <p:spPr>
          <a:xfrm>
            <a:off x="5623560" y="1234440"/>
            <a:ext cx="10515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0.72</a:t>
            </a:r>
          </a:p>
        </p:txBody>
      </p:sp>
      <p:sp>
        <p:nvSpPr>
          <p:cNvPr id="14" name="Resid stat 1 label"/>
          <p:cNvSpPr txBox="1"/>
          <p:nvPr/>
        </p:nvSpPr>
        <p:spPr>
          <a:xfrm>
            <a:off x="6675120" y="1234440"/>
            <a:ext cx="19202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autocorrelation: </a:t>
            </a:r>
            <a:r>
              <a:rPr sz="1150" b="0" lang="en-GB">
                <a:solidFill>
                  <a:schemeClr val="tx1"/>
                </a:solidFill>
              </a:rPr>
              <a:t>this month's error is like last month's (0 = none)</a:t>
            </a:r>
          </a:p>
        </p:txBody>
      </p:sp>
      <p:sp>
        <p:nvSpPr>
          <p:cNvPr id="15" name="Resid stat 2 box"/>
          <p:cNvSpPr/>
          <p:nvPr/>
        </p:nvSpPr>
        <p:spPr>
          <a:xfrm>
            <a:off x="5440680" y="22250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sid stat 2 bar"/>
          <p:cNvSpPr/>
          <p:nvPr/>
        </p:nvSpPr>
        <p:spPr>
          <a:xfrm>
            <a:off x="544068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sid stat 2 figure"/>
          <p:cNvSpPr txBox="1"/>
          <p:nvPr/>
        </p:nvSpPr>
        <p:spPr>
          <a:xfrm>
            <a:off x="5623560" y="2225040"/>
            <a:ext cx="10515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0.49</a:t>
            </a:r>
          </a:p>
        </p:txBody>
      </p:sp>
      <p:sp>
        <p:nvSpPr>
          <p:cNvPr id="18" name="Resid stat 2 label"/>
          <p:cNvSpPr txBox="1"/>
          <p:nvPr/>
        </p:nvSpPr>
        <p:spPr>
          <a:xfrm>
            <a:off x="6675120" y="2225040"/>
            <a:ext cx="19202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Durbin–Watson: </a:t>
            </a:r>
            <a:r>
              <a:rPr sz="1150" b="0" lang="en-GB">
                <a:solidFill>
                  <a:schemeClr val="tx1"/>
                </a:solidFill>
              </a:rPr>
              <a:t>2 = no autocorrelation</a:t>
            </a:r>
          </a:p>
        </p:txBody>
      </p:sp>
      <p:sp>
        <p:nvSpPr>
          <p:cNvPr id="19" name="Resid stat 3 box"/>
          <p:cNvSpPr/>
          <p:nvPr/>
        </p:nvSpPr>
        <p:spPr>
          <a:xfrm>
            <a:off x="5440680" y="32156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sid stat 3 bar"/>
          <p:cNvSpPr/>
          <p:nvPr/>
        </p:nvSpPr>
        <p:spPr>
          <a:xfrm>
            <a:off x="544068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sid stat 3 figure"/>
          <p:cNvSpPr txBox="1"/>
          <p:nvPr/>
        </p:nvSpPr>
        <p:spPr>
          <a:xfrm>
            <a:off x="5623560" y="3215640"/>
            <a:ext cx="10515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524</a:t>
            </a:r>
          </a:p>
        </p:txBody>
      </p:sp>
      <p:sp>
        <p:nvSpPr>
          <p:cNvPr id="22" name="Resid stat 3 label"/>
          <p:cNvSpPr txBox="1"/>
          <p:nvPr/>
        </p:nvSpPr>
        <p:spPr>
          <a:xfrm>
            <a:off x="6675120" y="3215640"/>
            <a:ext cx="19202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band width, </a:t>
            </a:r>
            <a:r>
              <a:rPr sz="1150" b="0" lang="en-GB">
                <a:solidFill>
                  <a:schemeClr val="tx1"/>
                </a:solidFill>
              </a:rPr>
              <a:t>AUD m (regression); SARIMA's widens from 209 in Jan to 589</a:t>
            </a:r>
          </a:p>
        </p:txBody>
      </p:sp>
      <p:sp>
        <p:nvSpPr>
          <p:cNvPr id="23" name="Resid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sid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Errors that stick together: </a:t>
            </a:r>
            <a:r>
              <a:rPr sz="1200" b="0" lang="en-GB">
                <a:solidFill>
                  <a:schemeClr val="bg1"/>
                </a:solidFill>
              </a:rPr>
              <a:t>the regression band does not widen with the horizon; for later months use the SARIMA band.</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 training months 2009–2016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6 · polars, plotnine, statsmodels</a:t>
            </a:r>
          </a:p>
        </p:txBody>
      </p:sp>
      <p:sp>
        <p:nvSpPr>
          <p:cNvPr id="3" name="Title 2"/>
          <p:cNvSpPr>
            <a:spLocks noGrp="1"/>
          </p:cNvSpPr>
          <p:nvPr>
            <p:ph type="ctrTitle"/>
          </p:nvPr>
        </p:nvSpPr>
        <p:spPr/>
        <p:txBody>
          <a:bodyPr/>
          <a:lstStyle/>
          <a:p>
            <a:r>
              <a:rPr lang="en-GB"/>
              <a:t>Forecasting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Package table"/>
          <p:cNvGraphicFramePr>
            <a:graphicFrameLocks noGrp="1"/>
          </p:cNvGraphicFramePr>
          <p:nvPr>
            <p:ph type="tbl" idx="1"/>
          </p:nvPr>
        </p:nvGraphicFramePr>
        <p:xfrm>
          <a:off x="457200" y="1234440"/>
          <a:ext cx="8229600" cy="3337560"/>
        </p:xfrm>
        <a:graphic>
          <a:graphicData uri="http://schemas.openxmlformats.org/drawingml/2006/table">
            <a:tbl>
              <a:tblPr firstRow="1" bandRow="1">
                <a:tableStyleId>{5C22544A-7EE6-4342-B048-85BDC9FD1C3A}</a:tableStyleId>
              </a:tblPr>
              <a:tblGrid>
                <a:gridCol w="2468880"/>
                <a:gridCol w="1737360"/>
                <a:gridCol w="4023360"/>
              </a:tblGrid>
              <a:tr h="370840">
                <a:tc>
                  <a:txBody>
                    <a:bodyPr/>
                    <a:lstStyle/>
                    <a:p>
                      <a:r>
                        <a:rPr sz="1300" lang="en-GB"/>
                        <a:t>Task</a:t>
                      </a:r>
                    </a:p>
                  </a:txBody>
                  <a:tcPr marT="34000" marB="34000"/>
                </a:tc>
                <a:tc>
                  <a:txBody>
                    <a:bodyPr/>
                    <a:lstStyle/>
                    <a:p>
                      <a:r>
                        <a:rPr sz="1300" lang="en-GB"/>
                        <a:t>Package</a:t>
                      </a:r>
                    </a:p>
                  </a:txBody>
                  <a:tcPr marT="34000" marB="34000"/>
                </a:tc>
                <a:tc>
                  <a:txBody>
                    <a:bodyPr/>
                    <a:lstStyle/>
                    <a:p>
                      <a:r>
                        <a:rPr sz="1300" lang="en-GB"/>
                        <a:t>Function</a:t>
                      </a:r>
                    </a:p>
                  </a:txBody>
                  <a:tcPr marT="34000" marB="34000"/>
                </a:tc>
              </a:tr>
              <a:tr h="370840">
                <a:tc>
                  <a:txBody>
                    <a:bodyPr/>
                    <a:lstStyle/>
                    <a:p>
                      <a:r>
                        <a:rPr sz="1150" b="1" lang="en-GB"/>
                        <a:t>Load and filter</a:t>
                      </a:r>
                    </a:p>
                  </a:txBody>
                  <a:tcPr marT="34000" marB="34000"/>
                </a:tc>
                <a:tc>
                  <a:txBody>
                    <a:bodyPr/>
                    <a:lstStyle/>
                    <a:p>
                      <a:r>
                        <a:rPr sz="1150" lang="en-GB"/>
                        <a:t>polars</a:t>
                      </a:r>
                    </a:p>
                  </a:txBody>
                  <a:tcPr marT="34000" marB="34000"/>
                </a:tc>
                <a:tc>
                  <a:txBody>
                    <a:bodyPr/>
                    <a:lstStyle/>
                    <a:p>
                      <a:r>
                        <a:rPr sz="1150" lang="en-GB">
                          <a:latin typeface="Consolas"/>
                        </a:rPr>
                        <a:t>pl.read_csv(try_parse_dates=True); filter()</a:t>
                      </a:r>
                    </a:p>
                  </a:txBody>
                  <a:tcPr marT="34000" marB="34000"/>
                </a:tc>
              </a:tr>
              <a:tr h="370840">
                <a:tc>
                  <a:txBody>
                    <a:bodyPr/>
                    <a:lstStyle/>
                    <a:p>
                      <a:r>
                        <a:rPr sz="1150" b="1" lang="en-GB"/>
                        <a:t>Plot the series</a:t>
                      </a:r>
                    </a:p>
                  </a:txBody>
                  <a:tcPr marT="34000" marB="34000"/>
                </a:tc>
                <a:tc>
                  <a:txBody>
                    <a:bodyPr/>
                    <a:lstStyle/>
                    <a:p>
                      <a:r>
                        <a:rPr sz="1150" lang="en-GB"/>
                        <a:t>plotnine</a:t>
                      </a:r>
                    </a:p>
                  </a:txBody>
                  <a:tcPr marT="34000" marB="34000"/>
                </a:tc>
                <a:tc>
                  <a:txBody>
                    <a:bodyPr/>
                    <a:lstStyle/>
                    <a:p>
                      <a:r>
                        <a:rPr sz="1150" lang="en-GB">
                          <a:latin typeface="Consolas"/>
                        </a:rPr>
                        <a:t>ggplot(); geom_line()</a:t>
                      </a:r>
                    </a:p>
                  </a:txBody>
                  <a:tcPr marT="34000" marB="34000"/>
                </a:tc>
              </a:tr>
              <a:tr h="370840">
                <a:tc>
                  <a:txBody>
                    <a:bodyPr/>
                    <a:lstStyle/>
                    <a:p>
                      <a:r>
                        <a:rPr sz="1150" b="1" lang="en-GB"/>
                        <a:t>Decompose</a:t>
                      </a:r>
                    </a:p>
                  </a:txBody>
                  <a:tcPr marT="34000" marB="34000"/>
                </a:tc>
                <a:tc>
                  <a:txBody>
                    <a:bodyPr/>
                    <a:lstStyle/>
                    <a:p>
                      <a:r>
                        <a:rPr sz="1150" lang="en-GB"/>
                        <a:t>statsmodels</a:t>
                      </a:r>
                    </a:p>
                  </a:txBody>
                  <a:tcPr marT="34000" marB="34000"/>
                </a:tc>
                <a:tc>
                  <a:txBody>
                    <a:bodyPr/>
                    <a:lstStyle/>
                    <a:p>
                      <a:r>
                        <a:rPr sz="1150" lang="en-GB">
                          <a:latin typeface="Consolas"/>
                        </a:rPr>
                        <a:t>tsa.STL(y, period=12, robust=True).fit()</a:t>
                      </a:r>
                    </a:p>
                  </a:txBody>
                  <a:tcPr marT="34000" marB="34000"/>
                </a:tc>
              </a:tr>
              <a:tr h="370840">
                <a:tc>
                  <a:txBody>
                    <a:bodyPr/>
                    <a:lstStyle/>
                    <a:p>
                      <a:r>
                        <a:rPr sz="1150" b="1" lang="en-GB"/>
                        <a:t>Test stationarity</a:t>
                      </a:r>
                    </a:p>
                  </a:txBody>
                  <a:tcPr marT="34000" marB="34000"/>
                </a:tc>
                <a:tc>
                  <a:txBody>
                    <a:bodyPr/>
                    <a:lstStyle/>
                    <a:p>
                      <a:r>
                        <a:rPr sz="1150" lang="en-GB"/>
                        <a:t>statsmodels</a:t>
                      </a:r>
                    </a:p>
                  </a:txBody>
                  <a:tcPr marT="34000" marB="34000"/>
                </a:tc>
                <a:tc>
                  <a:txBody>
                    <a:bodyPr/>
                    <a:lstStyle/>
                    <a:p>
                      <a:r>
                        <a:rPr sz="1150" lang="en-GB">
                          <a:latin typeface="Consolas"/>
                        </a:rPr>
                        <a:t>tsa.adfuller(y)</a:t>
                      </a:r>
                    </a:p>
                  </a:txBody>
                  <a:tcPr marT="34000" marB="34000"/>
                </a:tc>
              </a:tr>
              <a:tr h="370840">
                <a:tc>
                  <a:txBody>
                    <a:bodyPr/>
                    <a:lstStyle/>
                    <a:p>
                      <a:r>
                        <a:rPr sz="1150" b="1" lang="en-GB"/>
                        <a:t>Holt-Winters</a:t>
                      </a:r>
                    </a:p>
                  </a:txBody>
                  <a:tcPr marT="34000" marB="34000"/>
                </a:tc>
                <a:tc>
                  <a:txBody>
                    <a:bodyPr/>
                    <a:lstStyle/>
                    <a:p>
                      <a:r>
                        <a:rPr sz="1150" lang="en-GB"/>
                        <a:t>statsmodels</a:t>
                      </a:r>
                    </a:p>
                  </a:txBody>
                  <a:tcPr marT="34000" marB="34000"/>
                </a:tc>
                <a:tc>
                  <a:txBody>
                    <a:bodyPr/>
                    <a:lstStyle/>
                    <a:p>
                      <a:r>
                        <a:rPr sz="1150" lang="en-GB">
                          <a:latin typeface="Consolas"/>
                        </a:rPr>
                        <a:t>tsa.ExponentialSmoothing().fit()</a:t>
                      </a:r>
                    </a:p>
                  </a:txBody>
                  <a:tcPr marT="34000" marB="34000"/>
                </a:tc>
              </a:tr>
              <a:tr h="370840">
                <a:tc>
                  <a:txBody>
                    <a:bodyPr/>
                    <a:lstStyle/>
                    <a:p>
                      <a:r>
                        <a:rPr sz="1150" b="1" lang="en-GB"/>
                        <a:t>SARIMA</a:t>
                      </a:r>
                    </a:p>
                  </a:txBody>
                  <a:tcPr marT="34000" marB="34000"/>
                </a:tc>
                <a:tc>
                  <a:txBody>
                    <a:bodyPr/>
                    <a:lstStyle/>
                    <a:p>
                      <a:r>
                        <a:rPr sz="1150" lang="en-GB"/>
                        <a:t>statsmodels</a:t>
                      </a:r>
                    </a:p>
                  </a:txBody>
                  <a:tcPr marT="34000" marB="34000"/>
                </a:tc>
                <a:tc>
                  <a:txBody>
                    <a:bodyPr/>
                    <a:lstStyle/>
                    <a:p>
                      <a:r>
                        <a:rPr sz="1150" lang="en-GB">
                          <a:latin typeface="Consolas"/>
                        </a:rPr>
                        <a:t>tsa.SARIMAX().fit()</a:t>
                      </a:r>
                    </a:p>
                  </a:txBody>
                  <a:tcPr marT="34000" marB="34000"/>
                </a:tc>
              </a:tr>
              <a:tr h="370840">
                <a:tc>
                  <a:txBody>
                    <a:bodyPr/>
                    <a:lstStyle/>
                    <a:p>
                      <a:r>
                        <a:rPr sz="1150" b="1" lang="en-GB"/>
                        <a:t>Trend + month regression</a:t>
                      </a:r>
                    </a:p>
                  </a:txBody>
                  <a:tcPr marT="34000" marB="34000"/>
                </a:tc>
                <a:tc>
                  <a:txBody>
                    <a:bodyPr/>
                    <a:lstStyle/>
                    <a:p>
                      <a:r>
                        <a:rPr sz="1150" lang="en-GB"/>
                        <a:t>statsmodels</a:t>
                      </a:r>
                    </a:p>
                  </a:txBody>
                  <a:tcPr marT="34000" marB="34000"/>
                </a:tc>
                <a:tc>
                  <a:txBody>
                    <a:bodyPr/>
                    <a:lstStyle/>
                    <a:p>
                      <a:r>
                        <a:rPr sz="1150" lang="en-GB">
                          <a:latin typeface="Consolas"/>
                        </a:rPr>
                        <a:t>smf.ols("np.log(value) ~ t + C(m)")</a:t>
                      </a:r>
                    </a:p>
                  </a:txBody>
                  <a:tcPr marT="34000" marB="34000"/>
                </a:tc>
              </a:tr>
              <a:tr h="370840">
                <a:tc>
                  <a:txBody>
                    <a:bodyPr/>
                    <a:lstStyle/>
                    <a:p>
                      <a:r>
                        <a:rPr sz="1150" b="1" lang="en-GB"/>
                        <a:t>Accuracy and tables</a:t>
                      </a:r>
                    </a:p>
                  </a:txBody>
                  <a:tcPr marT="34000" marB="34000"/>
                </a:tc>
                <a:tc>
                  <a:txBody>
                    <a:bodyPr/>
                    <a:lstStyle/>
                    <a:p>
                      <a:r>
                        <a:rPr sz="1150" lang="en-GB"/>
                        <a:t>numpy, great_tables</a:t>
                      </a:r>
                    </a:p>
                  </a:txBody>
                  <a:tcPr marT="34000" marB="34000"/>
                </a:tc>
                <a:tc>
                  <a:txBody>
                    <a:bodyPr/>
                    <a:lstStyle/>
                    <a:p>
                      <a:r>
                        <a:rPr sz="1150" lang="en-GB">
                          <a:latin typeface="Consolas"/>
                        </a:rPr>
                        <a:t>np.mean(np.abs(e)); GT()</a:t>
                      </a:r>
                    </a:p>
                  </a:txBody>
                  <a:tcPr marT="34000" marB="34000"/>
                </a:tc>
              </a:tr>
            </a:tbl>
          </a:graphicData>
        </a:graphic>
      </p:graphicFrame>
      <p:sp>
        <p:nvSpPr>
          <p:cNvPr id="3" name="Title 2"/>
          <p:cNvSpPr>
            <a:spLocks noGrp="1"/>
          </p:cNvSpPr>
          <p:nvPr>
            <p:ph type="title"/>
          </p:nvPr>
        </p:nvSpPr>
        <p:spPr/>
        <p:txBody>
          <a:bodyPr/>
          <a:lstStyle/>
          <a:p>
            <a:r>
              <a:rPr sz="1600" lang="en-GB"/>
              <a:t>The packages and functions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split and plot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ad code caption bar"/>
          <p:cNvSpPr/>
          <p:nvPr/>
        </p:nvSpPr>
        <p:spPr>
          <a:xfrm>
            <a:off x="45720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ad code caption"/>
          <p:cNvSpPr txBox="1"/>
          <p:nvPr/>
        </p:nvSpPr>
        <p:spPr>
          <a:xfrm>
            <a:off x="56692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 plotnine</a:t>
            </a:r>
          </a:p>
        </p:txBody>
      </p:sp>
      <p:sp>
        <p:nvSpPr>
          <p:cNvPr id="12" name="Load code box"/>
          <p:cNvSpPr/>
          <p:nvPr/>
        </p:nvSpPr>
        <p:spPr>
          <a:xfrm>
            <a:off x="457200" y="1508760"/>
            <a:ext cx="404622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ad code code"/>
          <p:cNvSpPr txBox="1"/>
          <p:nvPr/>
        </p:nvSpPr>
        <p:spPr>
          <a:xfrm>
            <a:off x="594360" y="1600200"/>
            <a:ext cx="3771900" cy="23774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polars as pl</a:t>
            </a:r>
          </a:p>
          <a:p>
            <a:pPr algn="l">
              <a:spcAft>
                <a:spcPts val="0"/>
              </a:spcAft>
            </a:pPr>
            <a:r>
              <a:rPr sz="1000" b="0" lang="en-GB">
                <a:solidFill>
                  <a:schemeClr val="bg1"/>
                </a:solidFill>
                <a:latin typeface="Consolas"/>
              </a:rPr>
              <a:t>from plotnine import aes, geom_line, ggplot</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df = (pl.read_csv("../../data/forecasting/"</a:t>
            </a:r>
          </a:p>
          <a:p>
            <a:pPr algn="l">
              <a:spcAft>
                <a:spcPts val="0"/>
              </a:spcAft>
            </a:pPr>
            <a:r>
              <a:rPr sz="1000" b="0" lang="en-GB">
                <a:solidFill>
                  <a:schemeClr val="bg1"/>
                </a:solidFill>
                <a:latin typeface="Consolas"/>
              </a:rPr>
              <a:t>                  "aus_clothing_retail.csv",</a:t>
            </a:r>
          </a:p>
          <a:p>
            <a:pPr algn="l">
              <a:spcAft>
                <a:spcPts val="0"/>
              </a:spcAft>
            </a:pPr>
            <a:r>
              <a:rPr sz="1000" b="0" lang="en-GB">
                <a:solidFill>
                  <a:schemeClr val="bg1"/>
                </a:solidFill>
                <a:latin typeface="Consolas"/>
              </a:rPr>
              <a:t>                  try_parse_dates=True)</a:t>
            </a:r>
          </a:p>
          <a:p>
            <a:pPr algn="l">
              <a:spcAft>
                <a:spcPts val="0"/>
              </a:spcAft>
            </a:pPr>
            <a:r>
              <a:rPr sz="1000" b="0" lang="en-GB">
                <a:solidFill>
                  <a:schemeClr val="bg1"/>
                </a:solidFill>
                <a:latin typeface="Consolas"/>
              </a:rPr>
              <a:t>      .filter(pl.col("month").dt.year()</a:t>
            </a:r>
          </a:p>
          <a:p>
            <a:pPr algn="l">
              <a:spcAft>
                <a:spcPts val="0"/>
              </a:spcAft>
            </a:pPr>
            <a:r>
              <a:rPr sz="1000" b="0" lang="en-GB">
                <a:solidFill>
                  <a:schemeClr val="bg1"/>
                </a:solidFill>
                <a:latin typeface="Consolas"/>
              </a:rPr>
              <a:t>              .is_between(2009, 2018)))</a:t>
            </a:r>
          </a:p>
          <a:p>
            <a:pPr algn="l">
              <a:spcAft>
                <a:spcPts val="0"/>
              </a:spcAft>
            </a:pPr>
            <a:r>
              <a:rPr sz="1000" b="0" lang="en-GB">
                <a:solidFill>
                  <a:schemeClr val="bg1"/>
                </a:solidFill>
                <a:latin typeface="Consolas"/>
              </a:rPr>
              <a:t>y = df["value"].to_numpy()</a:t>
            </a:r>
          </a:p>
          <a:p>
            <a:pPr algn="l">
              <a:spcAft>
                <a:spcPts val="0"/>
              </a:spcAft>
            </a:pPr>
            <a:r>
              <a:rPr sz="1000" b="0" lang="en-GB">
                <a:solidFill>
                  <a:schemeClr val="bg1"/>
                </a:solidFill>
                <a:latin typeface="Consolas"/>
              </a:rPr>
              <a:t>train, test = y[:-24], y[-24:]   # 2017-18</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(ggplot(df, aes("month", "value"))</a:t>
            </a:r>
          </a:p>
          <a:p>
            <a:pPr algn="l">
              <a:spcAft>
                <a:spcPts val="0"/>
              </a:spcAft>
            </a:pPr>
            <a:r>
              <a:rPr sz="1000" b="0" lang="en-GB">
                <a:solidFill>
                  <a:schemeClr val="bg1"/>
                </a:solidFill>
                <a:latin typeface="Consolas"/>
              </a:rPr>
              <a:t> + geom_line())</a:t>
            </a:r>
          </a:p>
        </p:txBody>
      </p:sp>
      <p:sp>
        <p:nvSpPr>
          <p:cNvPr id="14" name="Load out 1-1"/>
          <p:cNvSpPr/>
          <p:nvPr/>
        </p:nvSpPr>
        <p:spPr>
          <a:xfrm>
            <a:off x="4640580" y="1234440"/>
            <a:ext cx="138988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ad out text 1-1"/>
          <p:cNvSpPr txBox="1"/>
          <p:nvPr/>
        </p:nvSpPr>
        <p:spPr>
          <a:xfrm>
            <a:off x="4732020" y="1234440"/>
            <a:ext cx="1207008"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Part</a:t>
            </a:r>
          </a:p>
        </p:txBody>
      </p:sp>
      <p:sp>
        <p:nvSpPr>
          <p:cNvPr id="16" name="Load out 1-2"/>
          <p:cNvSpPr/>
          <p:nvPr/>
        </p:nvSpPr>
        <p:spPr>
          <a:xfrm>
            <a:off x="6057900" y="1234440"/>
            <a:ext cx="97840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ad out text 1-2"/>
          <p:cNvSpPr txBox="1"/>
          <p:nvPr/>
        </p:nvSpPr>
        <p:spPr>
          <a:xfrm>
            <a:off x="6149340" y="1234440"/>
            <a:ext cx="795528" cy="411480"/>
          </a:xfrm>
          <a:prstGeom prst="rect">
            <a:avLst/>
          </a:prstGeom>
          <a:noFill/>
        </p:spPr>
        <p:txBody>
          <a:bodyPr wrap="square" lIns="0" rIns="0" tIns="0" bIns="0" anchor="ctr">
            <a:noAutofit/>
          </a:bodyPr>
          <a:lstStyle/>
          <a:p>
            <a:pPr algn="r">
              <a:spcAft>
                <a:spcPts val="400"/>
              </a:spcAft>
            </a:pPr>
            <a:r>
              <a:rPr sz="1200" b="1" lang="en-GB">
                <a:solidFill>
                  <a:schemeClr val="bg1"/>
                </a:solidFill>
              </a:rPr>
              <a:t>Months</a:t>
            </a:r>
          </a:p>
        </p:txBody>
      </p:sp>
      <p:sp>
        <p:nvSpPr>
          <p:cNvPr id="18" name="Load out 1-3"/>
          <p:cNvSpPr/>
          <p:nvPr/>
        </p:nvSpPr>
        <p:spPr>
          <a:xfrm>
            <a:off x="7063740" y="1234440"/>
            <a:ext cx="16230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oad out text 1-3"/>
          <p:cNvSpPr txBox="1"/>
          <p:nvPr/>
        </p:nvSpPr>
        <p:spPr>
          <a:xfrm>
            <a:off x="7155180" y="1234440"/>
            <a:ext cx="1412748"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Period</a:t>
            </a:r>
          </a:p>
        </p:txBody>
      </p:sp>
      <p:sp>
        <p:nvSpPr>
          <p:cNvPr id="20" name="Load out 2-1"/>
          <p:cNvSpPr/>
          <p:nvPr/>
        </p:nvSpPr>
        <p:spPr>
          <a:xfrm>
            <a:off x="4640580" y="1673352"/>
            <a:ext cx="138988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oad out text 2-1"/>
          <p:cNvSpPr txBox="1"/>
          <p:nvPr/>
        </p:nvSpPr>
        <p:spPr>
          <a:xfrm>
            <a:off x="4732020" y="1673352"/>
            <a:ext cx="1207008"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All</a:t>
            </a:r>
          </a:p>
        </p:txBody>
      </p:sp>
      <p:sp>
        <p:nvSpPr>
          <p:cNvPr id="22" name="Load out 2-2"/>
          <p:cNvSpPr/>
          <p:nvPr/>
        </p:nvSpPr>
        <p:spPr>
          <a:xfrm>
            <a:off x="6057900" y="1673352"/>
            <a:ext cx="9784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oad out text 2-2"/>
          <p:cNvSpPr txBox="1"/>
          <p:nvPr/>
        </p:nvSpPr>
        <p:spPr>
          <a:xfrm>
            <a:off x="6149340" y="1673352"/>
            <a:ext cx="795528" cy="411480"/>
          </a:xfrm>
          <a:prstGeom prst="rect">
            <a:avLst/>
          </a:prstGeom>
          <a:noFill/>
        </p:spPr>
        <p:txBody>
          <a:bodyPr wrap="square" lIns="0" rIns="0" tIns="0" bIns="0" anchor="ctr">
            <a:noAutofit/>
          </a:bodyPr>
          <a:lstStyle/>
          <a:p>
            <a:pPr algn="r">
              <a:spcAft>
                <a:spcPts val="400"/>
              </a:spcAft>
            </a:pPr>
            <a:r>
              <a:rPr sz="1200" b="0" lang="en-GB">
                <a:solidFill>
                  <a:schemeClr val="tx1"/>
                </a:solidFill>
              </a:rPr>
              <a:t>120</a:t>
            </a:r>
          </a:p>
        </p:txBody>
      </p:sp>
      <p:sp>
        <p:nvSpPr>
          <p:cNvPr id="24" name="Load out 2-3"/>
          <p:cNvSpPr/>
          <p:nvPr/>
        </p:nvSpPr>
        <p:spPr>
          <a:xfrm>
            <a:off x="7063740" y="1673352"/>
            <a:ext cx="162306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oad out text 2-3"/>
          <p:cNvSpPr txBox="1"/>
          <p:nvPr/>
        </p:nvSpPr>
        <p:spPr>
          <a:xfrm>
            <a:off x="7155180" y="1673352"/>
            <a:ext cx="1412748"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2009–2018</a:t>
            </a:r>
          </a:p>
        </p:txBody>
      </p:sp>
      <p:sp>
        <p:nvSpPr>
          <p:cNvPr id="26" name="Load out 3-1"/>
          <p:cNvSpPr/>
          <p:nvPr/>
        </p:nvSpPr>
        <p:spPr>
          <a:xfrm>
            <a:off x="4640580" y="2112264"/>
            <a:ext cx="138988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oad out text 3-1"/>
          <p:cNvSpPr txBox="1"/>
          <p:nvPr/>
        </p:nvSpPr>
        <p:spPr>
          <a:xfrm>
            <a:off x="4732020" y="2112264"/>
            <a:ext cx="1207008"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Train</a:t>
            </a:r>
          </a:p>
        </p:txBody>
      </p:sp>
      <p:sp>
        <p:nvSpPr>
          <p:cNvPr id="28" name="Load out 3-2"/>
          <p:cNvSpPr/>
          <p:nvPr/>
        </p:nvSpPr>
        <p:spPr>
          <a:xfrm>
            <a:off x="6057900" y="2112264"/>
            <a:ext cx="9784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oad out text 3-2"/>
          <p:cNvSpPr txBox="1"/>
          <p:nvPr/>
        </p:nvSpPr>
        <p:spPr>
          <a:xfrm>
            <a:off x="6149340" y="2112264"/>
            <a:ext cx="795528" cy="411480"/>
          </a:xfrm>
          <a:prstGeom prst="rect">
            <a:avLst/>
          </a:prstGeom>
          <a:noFill/>
        </p:spPr>
        <p:txBody>
          <a:bodyPr wrap="square" lIns="0" rIns="0" tIns="0" bIns="0" anchor="ctr">
            <a:noAutofit/>
          </a:bodyPr>
          <a:lstStyle/>
          <a:p>
            <a:pPr algn="r">
              <a:spcAft>
                <a:spcPts val="400"/>
              </a:spcAft>
            </a:pPr>
            <a:r>
              <a:rPr sz="1200" b="0" lang="en-GB">
                <a:solidFill>
                  <a:schemeClr val="tx1"/>
                </a:solidFill>
              </a:rPr>
              <a:t>96</a:t>
            </a:r>
          </a:p>
        </p:txBody>
      </p:sp>
      <p:sp>
        <p:nvSpPr>
          <p:cNvPr id="30" name="Load out 3-3"/>
          <p:cNvSpPr/>
          <p:nvPr/>
        </p:nvSpPr>
        <p:spPr>
          <a:xfrm>
            <a:off x="7063740" y="2112264"/>
            <a:ext cx="162306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oad out text 3-3"/>
          <p:cNvSpPr txBox="1"/>
          <p:nvPr/>
        </p:nvSpPr>
        <p:spPr>
          <a:xfrm>
            <a:off x="7155180" y="2112264"/>
            <a:ext cx="1412748"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2009–2016</a:t>
            </a:r>
          </a:p>
        </p:txBody>
      </p:sp>
      <p:sp>
        <p:nvSpPr>
          <p:cNvPr id="32" name="Load out 4-1"/>
          <p:cNvSpPr/>
          <p:nvPr/>
        </p:nvSpPr>
        <p:spPr>
          <a:xfrm>
            <a:off x="4640580" y="2551176"/>
            <a:ext cx="138988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oad out text 4-1"/>
          <p:cNvSpPr txBox="1"/>
          <p:nvPr/>
        </p:nvSpPr>
        <p:spPr>
          <a:xfrm>
            <a:off x="4732020" y="2551176"/>
            <a:ext cx="1207008"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Test</a:t>
            </a:r>
          </a:p>
        </p:txBody>
      </p:sp>
      <p:sp>
        <p:nvSpPr>
          <p:cNvPr id="34" name="Load out 4-2"/>
          <p:cNvSpPr/>
          <p:nvPr/>
        </p:nvSpPr>
        <p:spPr>
          <a:xfrm>
            <a:off x="6057900" y="2551176"/>
            <a:ext cx="9784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oad out text 4-2"/>
          <p:cNvSpPr txBox="1"/>
          <p:nvPr/>
        </p:nvSpPr>
        <p:spPr>
          <a:xfrm>
            <a:off x="6149340" y="2551176"/>
            <a:ext cx="795528" cy="411480"/>
          </a:xfrm>
          <a:prstGeom prst="rect">
            <a:avLst/>
          </a:prstGeom>
          <a:noFill/>
        </p:spPr>
        <p:txBody>
          <a:bodyPr wrap="square" lIns="0" rIns="0" tIns="0" bIns="0" anchor="ctr">
            <a:noAutofit/>
          </a:bodyPr>
          <a:lstStyle/>
          <a:p>
            <a:pPr algn="r">
              <a:spcAft>
                <a:spcPts val="400"/>
              </a:spcAft>
            </a:pPr>
            <a:r>
              <a:rPr sz="1200" b="0" lang="en-GB">
                <a:solidFill>
                  <a:schemeClr val="tx1"/>
                </a:solidFill>
              </a:rPr>
              <a:t>24</a:t>
            </a:r>
          </a:p>
        </p:txBody>
      </p:sp>
      <p:sp>
        <p:nvSpPr>
          <p:cNvPr id="36" name="Load out 4-3"/>
          <p:cNvSpPr/>
          <p:nvPr/>
        </p:nvSpPr>
        <p:spPr>
          <a:xfrm>
            <a:off x="7063740" y="2551176"/>
            <a:ext cx="162306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oad out text 4-3"/>
          <p:cNvSpPr txBox="1"/>
          <p:nvPr/>
        </p:nvSpPr>
        <p:spPr>
          <a:xfrm>
            <a:off x="7155180" y="2551176"/>
            <a:ext cx="1412748"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2017–2018</a:t>
            </a:r>
          </a:p>
        </p:txBody>
      </p:sp>
      <p:sp>
        <p:nvSpPr>
          <p:cNvPr id="38" name="Load caption"/>
          <p:cNvSpPr txBox="1"/>
          <p:nvPr/>
        </p:nvSpPr>
        <p:spPr>
          <a:xfrm>
            <a:off x="4640580" y="3008376"/>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The last 24 months are the holdout</a:t>
            </a:r>
          </a:p>
        </p:txBody>
      </p:sp>
      <p:sp>
        <p:nvSpPr>
          <p:cNvPr id="39" name="Split row"/>
          <p:cNvSpPr/>
          <p:nvPr/>
        </p:nvSpPr>
        <p:spPr>
          <a:xfrm>
            <a:off x="4640580" y="3419856"/>
            <a:ext cx="4046220" cy="6492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plit bar"/>
          <p:cNvSpPr/>
          <p:nvPr/>
        </p:nvSpPr>
        <p:spPr>
          <a:xfrm>
            <a:off x="4640580" y="3419856"/>
            <a:ext cx="64008" cy="6492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plit text"/>
          <p:cNvSpPr txBox="1"/>
          <p:nvPr/>
        </p:nvSpPr>
        <p:spPr>
          <a:xfrm>
            <a:off x="4841748" y="3419856"/>
            <a:ext cx="3753612" cy="649224"/>
          </a:xfrm>
          <a:prstGeom prst="rect">
            <a:avLst/>
          </a:prstGeom>
          <a:noFill/>
        </p:spPr>
        <p:txBody>
          <a:bodyPr wrap="square" lIns="0" rIns="0" tIns="0" bIns="0" anchor="ctr">
            <a:noAutofit/>
          </a:bodyPr>
          <a:lstStyle/>
          <a:p>
            <a:pPr algn="l">
              <a:spcAft>
                <a:spcPts val="400"/>
              </a:spcAft>
            </a:pPr>
            <a:r>
              <a:rPr sz="1200" b="1" lang="en-GB">
                <a:solidFill>
                  <a:schemeClr val="tx2"/>
                </a:solidFill>
              </a:rPr>
              <a:t>Training: </a:t>
            </a:r>
            <a:r>
              <a:rPr sz="1200" b="0" lang="en-GB">
                <a:solidFill>
                  <a:schemeClr val="tx1"/>
                </a:solidFill>
              </a:rPr>
              <a:t>96 months, 2009-01 to 2016-12</a:t>
            </a:r>
          </a:p>
          <a:p>
            <a:pPr algn="l">
              <a:spcAft>
                <a:spcPts val="400"/>
              </a:spcAft>
            </a:pPr>
            <a:r>
              <a:rPr sz="1200" b="1" lang="en-GB">
                <a:solidFill>
                  <a:schemeClr val="tx2"/>
                </a:solidFill>
              </a:rPr>
              <a:t>Holdout: </a:t>
            </a:r>
            <a:r>
              <a:rPr sz="1200" b="0" lang="en-GB">
                <a:solidFill>
                  <a:schemeClr val="tx1"/>
                </a:solidFill>
              </a:rPr>
              <a:t>24 months, 2017-01 to 2018-12</a:t>
            </a:r>
          </a:p>
        </p:txBody>
      </p:sp>
      <p:sp>
        <p:nvSpPr>
          <p:cNvPr id="42" name="Load tip box"/>
          <p:cNvSpPr/>
          <p:nvPr/>
        </p:nvSpPr>
        <p:spPr>
          <a:xfrm>
            <a:off x="457200" y="42062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Load tip" descr=""/>
          <p:cNvPicPr>
            <a:picLocks noChangeAspect="1"/>
          </p:cNvPicPr>
          <p:nvPr/>
        </p:nvPicPr>
        <p:blipFill>
          <a:blip r:embed="rId3"/>
          <a:stretch>
            <a:fillRect/>
          </a:stretch>
        </p:blipFill>
        <p:spPr>
          <a:xfrm>
            <a:off x="658368" y="4251960"/>
            <a:ext cx="365760" cy="365760"/>
          </a:xfrm>
          <a:prstGeom prst="rect">
            <a:avLst/>
          </a:prstGeom>
        </p:spPr>
      </p:pic>
      <p:sp>
        <p:nvSpPr>
          <p:cNvPr id="44" name="Load tip text"/>
          <p:cNvSpPr txBox="1"/>
          <p:nvPr/>
        </p:nvSpPr>
        <p:spPr>
          <a:xfrm>
            <a:off x="1207008" y="420624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first: </a:t>
            </a:r>
            <a:r>
              <a:rPr sz="1200" b="0" lang="en-GB">
                <a:solidFill>
                  <a:schemeClr val="tx1"/>
                </a:solidFill>
              </a:rPr>
              <a:t>trend, a December peak every year, swings that grow.</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Holt-Winters and SARIMA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odels code caption bar"/>
          <p:cNvSpPr/>
          <p:nvPr/>
        </p:nvSpPr>
        <p:spPr>
          <a:xfrm>
            <a:off x="45720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odels code caption"/>
          <p:cNvSpPr txBox="1"/>
          <p:nvPr/>
        </p:nvSpPr>
        <p:spPr>
          <a:xfrm>
            <a:off x="56692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Models code box"/>
          <p:cNvSpPr/>
          <p:nvPr/>
        </p:nvSpPr>
        <p:spPr>
          <a:xfrm>
            <a:off x="457200" y="1508760"/>
            <a:ext cx="404622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odels code code"/>
          <p:cNvSpPr txBox="1"/>
          <p:nvPr/>
        </p:nvSpPr>
        <p:spPr>
          <a:xfrm>
            <a:off x="594360" y="1600200"/>
            <a:ext cx="3771900" cy="23774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numpy as np</a:t>
            </a:r>
          </a:p>
          <a:p>
            <a:pPr algn="l">
              <a:spcAft>
                <a:spcPts val="0"/>
              </a:spcAft>
            </a:pPr>
            <a:r>
              <a:rPr sz="1000" b="0" lang="en-GB">
                <a:solidFill>
                  <a:schemeClr val="bg1"/>
                </a:solidFill>
                <a:latin typeface="Consolas"/>
              </a:rPr>
              <a:t>import statsmodels.tsa.api as tsa</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hw = tsa.ExponentialSmoothing(</a:t>
            </a:r>
          </a:p>
          <a:p>
            <a:pPr algn="l">
              <a:spcAft>
                <a:spcPts val="0"/>
              </a:spcAft>
            </a:pPr>
            <a:r>
              <a:rPr sz="1000" b="0" lang="en-GB">
                <a:solidFill>
                  <a:schemeClr val="bg1"/>
                </a:solidFill>
                <a:latin typeface="Consolas"/>
              </a:rPr>
              <a:t>    train, trend="add", seasonal="mul",</a:t>
            </a:r>
          </a:p>
          <a:p>
            <a:pPr algn="l">
              <a:spcAft>
                <a:spcPts val="0"/>
              </a:spcAft>
            </a:pPr>
            <a:r>
              <a:rPr sz="1000" b="0" lang="en-GB">
                <a:solidFill>
                  <a:schemeClr val="bg1"/>
                </a:solidFill>
                <a:latin typeface="Consolas"/>
              </a:rPr>
              <a:t>    seasonal_periods=12,</a:t>
            </a:r>
          </a:p>
          <a:p>
            <a:pPr algn="l">
              <a:spcAft>
                <a:spcPts val="0"/>
              </a:spcAft>
            </a:pPr>
            <a:r>
              <a:rPr sz="1000" b="0" lang="en-GB">
                <a:solidFill>
                  <a:schemeClr val="bg1"/>
                </a:solidFill>
                <a:latin typeface="Consolas"/>
              </a:rPr>
              <a:t>    initialization_method="estimated").fit()</a:t>
            </a:r>
          </a:p>
          <a:p>
            <a:pPr algn="l">
              <a:spcAft>
                <a:spcPts val="0"/>
              </a:spcAft>
            </a:pPr>
            <a:r>
              <a:rPr sz="1000" b="0" lang="en-GB">
                <a:solidFill>
                  <a:schemeClr val="bg1"/>
                </a:solidFill>
                <a:latin typeface="Consolas"/>
              </a:rPr>
              <a:t>sar = tsa.SARIMAX(</a:t>
            </a:r>
          </a:p>
          <a:p>
            <a:pPr algn="l">
              <a:spcAft>
                <a:spcPts val="0"/>
              </a:spcAft>
            </a:pPr>
            <a:r>
              <a:rPr sz="1000" b="0" lang="en-GB">
                <a:solidFill>
                  <a:schemeClr val="bg1"/>
                </a:solidFill>
                <a:latin typeface="Consolas"/>
              </a:rPr>
              <a:t>    np.log(train), order=(0, 1, 1),</a:t>
            </a:r>
          </a:p>
          <a:p>
            <a:pPr algn="l">
              <a:spcAft>
                <a:spcPts val="0"/>
              </a:spcAft>
            </a:pPr>
            <a:r>
              <a:rPr sz="1000" b="0" lang="en-GB">
                <a:solidFill>
                  <a:schemeClr val="bg1"/>
                </a:solidFill>
                <a:latin typeface="Consolas"/>
              </a:rPr>
              <a:t>    seasonal_order=(0, 1, 1, 12),</a:t>
            </a:r>
          </a:p>
          <a:p>
            <a:pPr algn="l">
              <a:spcAft>
                <a:spcPts val="0"/>
              </a:spcAft>
            </a:pPr>
            <a:r>
              <a:rPr sz="1000" b="0" lang="en-GB">
                <a:solidFill>
                  <a:schemeClr val="bg1"/>
                </a:solidFill>
                <a:latin typeface="Consolas"/>
              </a:rPr>
              <a:t>).fit(disp=0)</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fc = {"snaive": np.resize(train[-12:], 24),</a:t>
            </a:r>
          </a:p>
          <a:p>
            <a:pPr algn="l">
              <a:spcAft>
                <a:spcPts val="0"/>
              </a:spcAft>
            </a:pPr>
            <a:r>
              <a:rPr sz="1000" b="0" lang="en-GB">
                <a:solidFill>
                  <a:schemeClr val="bg1"/>
                </a:solidFill>
                <a:latin typeface="Consolas"/>
              </a:rPr>
              <a:t>      "hw": hw.forecast(24),</a:t>
            </a:r>
          </a:p>
          <a:p>
            <a:pPr algn="l">
              <a:spcAft>
                <a:spcPts val="0"/>
              </a:spcAft>
            </a:pPr>
            <a:r>
              <a:rPr sz="1000" b="0" lang="en-GB">
                <a:solidFill>
                  <a:schemeClr val="bg1"/>
                </a:solidFill>
                <a:latin typeface="Consolas"/>
              </a:rPr>
              <a:t>      "sarima": np.exp(sar.forecast(24))}</a:t>
            </a:r>
          </a:p>
        </p:txBody>
      </p:sp>
      <p:sp>
        <p:nvSpPr>
          <p:cNvPr id="14" name="Models out 1-1"/>
          <p:cNvSpPr/>
          <p:nvPr/>
        </p:nvSpPr>
        <p:spPr>
          <a:xfrm>
            <a:off x="4640580" y="1234440"/>
            <a:ext cx="180136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odels out text 1-1"/>
          <p:cNvSpPr txBox="1"/>
          <p:nvPr/>
        </p:nvSpPr>
        <p:spPr>
          <a:xfrm>
            <a:off x="4732020" y="1234440"/>
            <a:ext cx="161848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Model</a:t>
            </a:r>
          </a:p>
        </p:txBody>
      </p:sp>
      <p:sp>
        <p:nvSpPr>
          <p:cNvPr id="16" name="Models out 1-2"/>
          <p:cNvSpPr/>
          <p:nvPr/>
        </p:nvSpPr>
        <p:spPr>
          <a:xfrm>
            <a:off x="6469380" y="1234440"/>
            <a:ext cx="111556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odels out text 1-2"/>
          <p:cNvSpPr txBox="1"/>
          <p:nvPr/>
        </p:nvSpPr>
        <p:spPr>
          <a:xfrm>
            <a:off x="6560820" y="1234440"/>
            <a:ext cx="93268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Term</a:t>
            </a:r>
          </a:p>
        </p:txBody>
      </p:sp>
      <p:sp>
        <p:nvSpPr>
          <p:cNvPr id="18" name="Models out 1-3"/>
          <p:cNvSpPr/>
          <p:nvPr/>
        </p:nvSpPr>
        <p:spPr>
          <a:xfrm>
            <a:off x="7612380" y="1234440"/>
            <a:ext cx="107442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odels out text 1-3"/>
          <p:cNvSpPr txBox="1"/>
          <p:nvPr/>
        </p:nvSpPr>
        <p:spPr>
          <a:xfrm>
            <a:off x="7703820" y="1234440"/>
            <a:ext cx="86410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20" name="Models out 2-1"/>
          <p:cNvSpPr/>
          <p:nvPr/>
        </p:nvSpPr>
        <p:spPr>
          <a:xfrm>
            <a:off x="4640580" y="1645920"/>
            <a:ext cx="18013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odels out text 2-1"/>
          <p:cNvSpPr txBox="1"/>
          <p:nvPr/>
        </p:nvSpPr>
        <p:spPr>
          <a:xfrm>
            <a:off x="4732020" y="1645920"/>
            <a:ext cx="16184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Holt-Winters</a:t>
            </a:r>
          </a:p>
        </p:txBody>
      </p:sp>
      <p:sp>
        <p:nvSpPr>
          <p:cNvPr id="22" name="Models out 2-2"/>
          <p:cNvSpPr/>
          <p:nvPr/>
        </p:nvSpPr>
        <p:spPr>
          <a:xfrm>
            <a:off x="6469380" y="1645920"/>
            <a:ext cx="11155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odels out text 2-2"/>
          <p:cNvSpPr txBox="1"/>
          <p:nvPr/>
        </p:nvSpPr>
        <p:spPr>
          <a:xfrm>
            <a:off x="6560820" y="1645920"/>
            <a:ext cx="93268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α level</a:t>
            </a:r>
          </a:p>
        </p:txBody>
      </p:sp>
      <p:sp>
        <p:nvSpPr>
          <p:cNvPr id="24" name="Models out 2-3"/>
          <p:cNvSpPr/>
          <p:nvPr/>
        </p:nvSpPr>
        <p:spPr>
          <a:xfrm>
            <a:off x="7612380" y="1645920"/>
            <a:ext cx="10744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odels out text 2-3"/>
          <p:cNvSpPr txBox="1"/>
          <p:nvPr/>
        </p:nvSpPr>
        <p:spPr>
          <a:xfrm>
            <a:off x="7703820" y="1645920"/>
            <a:ext cx="8641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0.156</a:t>
            </a:r>
          </a:p>
        </p:txBody>
      </p:sp>
      <p:sp>
        <p:nvSpPr>
          <p:cNvPr id="26" name="Models out 3-1"/>
          <p:cNvSpPr/>
          <p:nvPr/>
        </p:nvSpPr>
        <p:spPr>
          <a:xfrm>
            <a:off x="4640580" y="2057400"/>
            <a:ext cx="18013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odels out text 3-1"/>
          <p:cNvSpPr txBox="1"/>
          <p:nvPr/>
        </p:nvSpPr>
        <p:spPr>
          <a:xfrm>
            <a:off x="4732020" y="2057400"/>
            <a:ext cx="16184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
            </a:r>
          </a:p>
        </p:txBody>
      </p:sp>
      <p:sp>
        <p:nvSpPr>
          <p:cNvPr id="28" name="Models out 3-2"/>
          <p:cNvSpPr/>
          <p:nvPr/>
        </p:nvSpPr>
        <p:spPr>
          <a:xfrm>
            <a:off x="6469380" y="2057400"/>
            <a:ext cx="11155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odels out text 3-2"/>
          <p:cNvSpPr txBox="1"/>
          <p:nvPr/>
        </p:nvSpPr>
        <p:spPr>
          <a:xfrm>
            <a:off x="6560820" y="2057400"/>
            <a:ext cx="93268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β trend</a:t>
            </a:r>
          </a:p>
        </p:txBody>
      </p:sp>
      <p:sp>
        <p:nvSpPr>
          <p:cNvPr id="30" name="Models out 3-3"/>
          <p:cNvSpPr/>
          <p:nvPr/>
        </p:nvSpPr>
        <p:spPr>
          <a:xfrm>
            <a:off x="7612380" y="2057400"/>
            <a:ext cx="10744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odels out text 3-3"/>
          <p:cNvSpPr txBox="1"/>
          <p:nvPr/>
        </p:nvSpPr>
        <p:spPr>
          <a:xfrm>
            <a:off x="7703820" y="2057400"/>
            <a:ext cx="8641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0.090</a:t>
            </a:r>
          </a:p>
        </p:txBody>
      </p:sp>
      <p:sp>
        <p:nvSpPr>
          <p:cNvPr id="32" name="Models out 4-1"/>
          <p:cNvSpPr/>
          <p:nvPr/>
        </p:nvSpPr>
        <p:spPr>
          <a:xfrm>
            <a:off x="4640580" y="2468880"/>
            <a:ext cx="18013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odels out text 4-1"/>
          <p:cNvSpPr txBox="1"/>
          <p:nvPr/>
        </p:nvSpPr>
        <p:spPr>
          <a:xfrm>
            <a:off x="4732020" y="2468880"/>
            <a:ext cx="16184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
            </a:r>
          </a:p>
        </p:txBody>
      </p:sp>
      <p:sp>
        <p:nvSpPr>
          <p:cNvPr id="34" name="Models out 4-2"/>
          <p:cNvSpPr/>
          <p:nvPr/>
        </p:nvSpPr>
        <p:spPr>
          <a:xfrm>
            <a:off x="6469380" y="2468880"/>
            <a:ext cx="11155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Models out text 4-2"/>
          <p:cNvSpPr txBox="1"/>
          <p:nvPr/>
        </p:nvSpPr>
        <p:spPr>
          <a:xfrm>
            <a:off x="6560820" y="2468880"/>
            <a:ext cx="93268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γ season</a:t>
            </a:r>
          </a:p>
        </p:txBody>
      </p:sp>
      <p:sp>
        <p:nvSpPr>
          <p:cNvPr id="36" name="Models out 4-3"/>
          <p:cNvSpPr/>
          <p:nvPr/>
        </p:nvSpPr>
        <p:spPr>
          <a:xfrm>
            <a:off x="7612380" y="2468880"/>
            <a:ext cx="10744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Models out text 4-3"/>
          <p:cNvSpPr txBox="1"/>
          <p:nvPr/>
        </p:nvSpPr>
        <p:spPr>
          <a:xfrm>
            <a:off x="7703820" y="2468880"/>
            <a:ext cx="8641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0.000</a:t>
            </a:r>
          </a:p>
        </p:txBody>
      </p:sp>
      <p:sp>
        <p:nvSpPr>
          <p:cNvPr id="38" name="Models out 5-1"/>
          <p:cNvSpPr/>
          <p:nvPr/>
        </p:nvSpPr>
        <p:spPr>
          <a:xfrm>
            <a:off x="4640580" y="2880360"/>
            <a:ext cx="18013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Models out text 5-1"/>
          <p:cNvSpPr txBox="1"/>
          <p:nvPr/>
        </p:nvSpPr>
        <p:spPr>
          <a:xfrm>
            <a:off x="4732020" y="2880360"/>
            <a:ext cx="16184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SARIMA</a:t>
            </a:r>
          </a:p>
        </p:txBody>
      </p:sp>
      <p:sp>
        <p:nvSpPr>
          <p:cNvPr id="40" name="Models out 5-2"/>
          <p:cNvSpPr/>
          <p:nvPr/>
        </p:nvSpPr>
        <p:spPr>
          <a:xfrm>
            <a:off x="6469380" y="2880360"/>
            <a:ext cx="11155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Models out text 5-2"/>
          <p:cNvSpPr txBox="1"/>
          <p:nvPr/>
        </p:nvSpPr>
        <p:spPr>
          <a:xfrm>
            <a:off x="6560820" y="2880360"/>
            <a:ext cx="93268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θ month</a:t>
            </a:r>
          </a:p>
        </p:txBody>
      </p:sp>
      <p:sp>
        <p:nvSpPr>
          <p:cNvPr id="42" name="Models out 5-3"/>
          <p:cNvSpPr/>
          <p:nvPr/>
        </p:nvSpPr>
        <p:spPr>
          <a:xfrm>
            <a:off x="7612380" y="2880360"/>
            <a:ext cx="10744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Models out text 5-3"/>
          <p:cNvSpPr txBox="1"/>
          <p:nvPr/>
        </p:nvSpPr>
        <p:spPr>
          <a:xfrm>
            <a:off x="7703820" y="2880360"/>
            <a:ext cx="8641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−0.525</a:t>
            </a:r>
          </a:p>
        </p:txBody>
      </p:sp>
      <p:sp>
        <p:nvSpPr>
          <p:cNvPr id="44" name="Models out 6-1"/>
          <p:cNvSpPr/>
          <p:nvPr/>
        </p:nvSpPr>
        <p:spPr>
          <a:xfrm>
            <a:off x="4640580" y="3291840"/>
            <a:ext cx="18013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Models out text 6-1"/>
          <p:cNvSpPr txBox="1"/>
          <p:nvPr/>
        </p:nvSpPr>
        <p:spPr>
          <a:xfrm>
            <a:off x="4732020" y="3291840"/>
            <a:ext cx="16184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
            </a:r>
          </a:p>
        </p:txBody>
      </p:sp>
      <p:sp>
        <p:nvSpPr>
          <p:cNvPr id="46" name="Models out 6-2"/>
          <p:cNvSpPr/>
          <p:nvPr/>
        </p:nvSpPr>
        <p:spPr>
          <a:xfrm>
            <a:off x="6469380" y="3291840"/>
            <a:ext cx="11155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Models out text 6-2"/>
          <p:cNvSpPr txBox="1"/>
          <p:nvPr/>
        </p:nvSpPr>
        <p:spPr>
          <a:xfrm>
            <a:off x="6560820" y="3291840"/>
            <a:ext cx="93268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Θ year</a:t>
            </a:r>
          </a:p>
        </p:txBody>
      </p:sp>
      <p:sp>
        <p:nvSpPr>
          <p:cNvPr id="48" name="Models out 6-3"/>
          <p:cNvSpPr/>
          <p:nvPr/>
        </p:nvSpPr>
        <p:spPr>
          <a:xfrm>
            <a:off x="7612380" y="3291840"/>
            <a:ext cx="10744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Models out text 6-3"/>
          <p:cNvSpPr txBox="1"/>
          <p:nvPr/>
        </p:nvSpPr>
        <p:spPr>
          <a:xfrm>
            <a:off x="7703820" y="3291840"/>
            <a:ext cx="8641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−0.713</a:t>
            </a:r>
          </a:p>
        </p:txBody>
      </p:sp>
      <p:sp>
        <p:nvSpPr>
          <p:cNvPr id="50" name="Models caption"/>
          <p:cNvSpPr txBox="1"/>
          <p:nvPr/>
        </p:nvSpPr>
        <p:spPr>
          <a:xfrm>
            <a:off x="4640580" y="3721608"/>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Weights and terms fitted on 2009–2016</a:t>
            </a:r>
          </a:p>
        </p:txBody>
      </p:sp>
      <p:sp>
        <p:nvSpPr>
          <p:cNvPr id="51" name="Models tip box"/>
          <p:cNvSpPr/>
          <p:nvPr/>
        </p:nvSpPr>
        <p:spPr>
          <a:xfrm>
            <a:off x="457200" y="42062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2" name="Icon Models tip" descr=""/>
          <p:cNvPicPr>
            <a:picLocks noChangeAspect="1"/>
          </p:cNvPicPr>
          <p:nvPr/>
        </p:nvPicPr>
        <p:blipFill>
          <a:blip r:embed="rId3"/>
          <a:stretch>
            <a:fillRect/>
          </a:stretch>
        </p:blipFill>
        <p:spPr>
          <a:xfrm>
            <a:off x="658368" y="4251960"/>
            <a:ext cx="365760" cy="365760"/>
          </a:xfrm>
          <a:prstGeom prst="rect">
            <a:avLst/>
          </a:prstGeom>
        </p:spPr>
      </p:pic>
      <p:sp>
        <p:nvSpPr>
          <p:cNvPr id="53" name="Models tip text"/>
          <p:cNvSpPr txBox="1"/>
          <p:nvPr/>
        </p:nvSpPr>
        <p:spPr>
          <a:xfrm>
            <a:off x="1207008" y="420624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Forecast 24 months: </a:t>
            </a:r>
            <a:r>
              <a:rPr sz="1200" b="0" lang="en-GB">
                <a:solidFill>
                  <a:schemeClr val="tx1"/>
                </a:solidFill>
              </a:rPr>
              <a:t>SARIMA works on log sales; np.exp() brings it back.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regression and accuracy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ccuracy code caption bar"/>
          <p:cNvSpPr/>
          <p:nvPr/>
        </p:nvSpPr>
        <p:spPr>
          <a:xfrm>
            <a:off x="45720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ccuracy code caption"/>
          <p:cNvSpPr txBox="1"/>
          <p:nvPr/>
        </p:nvSpPr>
        <p:spPr>
          <a:xfrm>
            <a:off x="56692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 numpy</a:t>
            </a:r>
          </a:p>
        </p:txBody>
      </p:sp>
      <p:sp>
        <p:nvSpPr>
          <p:cNvPr id="12" name="Accuracy code box"/>
          <p:cNvSpPr/>
          <p:nvPr/>
        </p:nvSpPr>
        <p:spPr>
          <a:xfrm>
            <a:off x="457200" y="1508760"/>
            <a:ext cx="404622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Accuracy code code"/>
          <p:cNvSpPr txBox="1"/>
          <p:nvPr/>
        </p:nvSpPr>
        <p:spPr>
          <a:xfrm>
            <a:off x="594360" y="1600200"/>
            <a:ext cx="3771900" cy="23774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statsmodels.formula.api as smf</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d = df.with_columns(</a:t>
            </a:r>
          </a:p>
          <a:p>
            <a:pPr algn="l">
              <a:spcAft>
                <a:spcPts val="0"/>
              </a:spcAft>
            </a:pPr>
            <a:r>
              <a:rPr sz="1000" b="0" lang="en-GB">
                <a:solidFill>
                  <a:schemeClr val="bg1"/>
                </a:solidFill>
                <a:latin typeface="Consolas"/>
              </a:rPr>
              <a:t>    t=pl.int_range(1, pl.len() + 1),</a:t>
            </a:r>
          </a:p>
          <a:p>
            <a:pPr algn="l">
              <a:spcAft>
                <a:spcPts val="0"/>
              </a:spcAft>
            </a:pPr>
            <a:r>
              <a:rPr sz="1000" b="0" lang="en-GB">
                <a:solidFill>
                  <a:schemeClr val="bg1"/>
                </a:solidFill>
                <a:latin typeface="Consolas"/>
              </a:rPr>
              <a:t>    m=pl.col("month").dt.month()).to_pandas()</a:t>
            </a:r>
          </a:p>
          <a:p>
            <a:pPr algn="l">
              <a:spcAft>
                <a:spcPts val="0"/>
              </a:spcAft>
            </a:pPr>
            <a:r>
              <a:rPr sz="1000" b="0" lang="en-GB">
                <a:solidFill>
                  <a:schemeClr val="bg1"/>
                </a:solidFill>
                <a:latin typeface="Consolas"/>
              </a:rPr>
              <a:t>reg = smf.ols("np.log(value) ~ t + C(m)",</a:t>
            </a:r>
          </a:p>
          <a:p>
            <a:pPr algn="l">
              <a:spcAft>
                <a:spcPts val="0"/>
              </a:spcAft>
            </a:pPr>
            <a:r>
              <a:rPr sz="1000" b="0" lang="en-GB">
                <a:solidFill>
                  <a:schemeClr val="bg1"/>
                </a:solidFill>
                <a:latin typeface="Consolas"/>
              </a:rPr>
              <a:t>              data=d[:-24]).fit()</a:t>
            </a:r>
          </a:p>
          <a:p>
            <a:pPr algn="l">
              <a:spcAft>
                <a:spcPts val="0"/>
              </a:spcAft>
            </a:pPr>
            <a:r>
              <a:rPr sz="1000" b="0" lang="en-GB">
                <a:solidFill>
                  <a:schemeClr val="bg1"/>
                </a:solidFill>
                <a:latin typeface="Consolas"/>
              </a:rPr>
              <a:t>fc["reg_log"] = np.exp(reg.predict(d[-24:]))</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for k, f in fc.items():</a:t>
            </a:r>
          </a:p>
          <a:p>
            <a:pPr algn="l">
              <a:spcAft>
                <a:spcPts val="0"/>
              </a:spcAft>
            </a:pPr>
            <a:r>
              <a:rPr sz="1000" b="0" lang="en-GB">
                <a:solidFill>
                  <a:schemeClr val="bg1"/>
                </a:solidFill>
                <a:latin typeface="Consolas"/>
              </a:rPr>
              <a:t>    e = test - np.asarray(f)</a:t>
            </a:r>
          </a:p>
          <a:p>
            <a:pPr algn="l">
              <a:spcAft>
                <a:spcPts val="0"/>
              </a:spcAft>
            </a:pPr>
            <a:r>
              <a:rPr sz="1000" b="0" lang="en-GB">
                <a:solidFill>
                  <a:schemeClr val="bg1"/>
                </a:solidFill>
                <a:latin typeface="Consolas"/>
              </a:rPr>
              <a:t>    mae = np.mean(np.abs(e))</a:t>
            </a:r>
          </a:p>
          <a:p>
            <a:pPr algn="l">
              <a:spcAft>
                <a:spcPts val="0"/>
              </a:spcAft>
            </a:pPr>
            <a:r>
              <a:rPr sz="1000" b="0" lang="en-GB">
                <a:solidFill>
                  <a:schemeClr val="bg1"/>
                </a:solidFill>
                <a:latin typeface="Consolas"/>
              </a:rPr>
              <a:t>    rmse = np.sqrt(np.mean(e ** 2))</a:t>
            </a:r>
          </a:p>
          <a:p>
            <a:pPr algn="l">
              <a:spcAft>
                <a:spcPts val="0"/>
              </a:spcAft>
            </a:pPr>
            <a:r>
              <a:rPr sz="1000" b="0" lang="en-GB">
                <a:solidFill>
                  <a:schemeClr val="bg1"/>
                </a:solidFill>
                <a:latin typeface="Consolas"/>
              </a:rPr>
              <a:t>    mape = 100 * np.mean(np.abs(e) / test)</a:t>
            </a:r>
          </a:p>
          <a:p>
            <a:pPr algn="l">
              <a:spcAft>
                <a:spcPts val="0"/>
              </a:spcAft>
            </a:pPr>
            <a:r>
              <a:rPr sz="1000" b="0" lang="en-GB">
                <a:solidFill>
                  <a:schemeClr val="bg1"/>
                </a:solidFill>
                <a:latin typeface="Consolas"/>
              </a:rPr>
              <a:t>    print(k, round(mae, 1), round(rmse, 1),</a:t>
            </a:r>
          </a:p>
          <a:p>
            <a:pPr algn="l">
              <a:spcAft>
                <a:spcPts val="0"/>
              </a:spcAft>
            </a:pPr>
            <a:r>
              <a:rPr sz="1000" b="0" lang="en-GB">
                <a:solidFill>
                  <a:schemeClr val="bg1"/>
                </a:solidFill>
                <a:latin typeface="Consolas"/>
              </a:rPr>
              <a:t>          round(mape, 1))</a:t>
            </a:r>
          </a:p>
        </p:txBody>
      </p:sp>
      <p:sp>
        <p:nvSpPr>
          <p:cNvPr id="14" name="Accuracy out 1-1"/>
          <p:cNvSpPr/>
          <p:nvPr/>
        </p:nvSpPr>
        <p:spPr>
          <a:xfrm>
            <a:off x="4640580" y="1234440"/>
            <a:ext cx="16642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Accuracy out text 1-1"/>
          <p:cNvSpPr txBox="1"/>
          <p:nvPr/>
        </p:nvSpPr>
        <p:spPr>
          <a:xfrm>
            <a:off x="4732020" y="1234440"/>
            <a:ext cx="148132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Method</a:t>
            </a:r>
          </a:p>
        </p:txBody>
      </p:sp>
      <p:sp>
        <p:nvSpPr>
          <p:cNvPr id="16" name="Accuracy out 1-2"/>
          <p:cNvSpPr/>
          <p:nvPr/>
        </p:nvSpPr>
        <p:spPr>
          <a:xfrm>
            <a:off x="6332220" y="1234440"/>
            <a:ext cx="7498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ccuracy out text 1-2"/>
          <p:cNvSpPr txBox="1"/>
          <p:nvPr/>
        </p:nvSpPr>
        <p:spPr>
          <a:xfrm>
            <a:off x="6423660" y="1234440"/>
            <a:ext cx="56692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MAE</a:t>
            </a:r>
          </a:p>
        </p:txBody>
      </p:sp>
      <p:sp>
        <p:nvSpPr>
          <p:cNvPr id="18" name="Accuracy out 1-3"/>
          <p:cNvSpPr/>
          <p:nvPr/>
        </p:nvSpPr>
        <p:spPr>
          <a:xfrm>
            <a:off x="7109460" y="1234440"/>
            <a:ext cx="7498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Accuracy out text 1-3"/>
          <p:cNvSpPr txBox="1"/>
          <p:nvPr/>
        </p:nvSpPr>
        <p:spPr>
          <a:xfrm>
            <a:off x="7200900" y="1234440"/>
            <a:ext cx="56692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RMSE</a:t>
            </a:r>
          </a:p>
        </p:txBody>
      </p:sp>
      <p:sp>
        <p:nvSpPr>
          <p:cNvPr id="20" name="Accuracy out 1-4"/>
          <p:cNvSpPr/>
          <p:nvPr/>
        </p:nvSpPr>
        <p:spPr>
          <a:xfrm>
            <a:off x="7886700" y="1234440"/>
            <a:ext cx="80010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ccuracy out text 1-4"/>
          <p:cNvSpPr txBox="1"/>
          <p:nvPr/>
        </p:nvSpPr>
        <p:spPr>
          <a:xfrm>
            <a:off x="7978140" y="1234440"/>
            <a:ext cx="58978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MAPE</a:t>
            </a:r>
          </a:p>
        </p:txBody>
      </p:sp>
      <p:sp>
        <p:nvSpPr>
          <p:cNvPr id="22" name="Accuracy out 2-1"/>
          <p:cNvSpPr/>
          <p:nvPr/>
        </p:nvSpPr>
        <p:spPr>
          <a:xfrm>
            <a:off x="4640580" y="1645920"/>
            <a:ext cx="1664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ccuracy out text 2-1"/>
          <p:cNvSpPr txBox="1"/>
          <p:nvPr/>
        </p:nvSpPr>
        <p:spPr>
          <a:xfrm>
            <a:off x="4732020" y="1645920"/>
            <a:ext cx="14813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Log regression</a:t>
            </a:r>
          </a:p>
        </p:txBody>
      </p:sp>
      <p:sp>
        <p:nvSpPr>
          <p:cNvPr id="24" name="Accuracy out 2-2"/>
          <p:cNvSpPr/>
          <p:nvPr/>
        </p:nvSpPr>
        <p:spPr>
          <a:xfrm>
            <a:off x="6332220" y="164592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Accuracy out text 2-2"/>
          <p:cNvSpPr txBox="1"/>
          <p:nvPr/>
        </p:nvSpPr>
        <p:spPr>
          <a:xfrm>
            <a:off x="6423660" y="1645920"/>
            <a:ext cx="5669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54.5</a:t>
            </a:r>
          </a:p>
        </p:txBody>
      </p:sp>
      <p:sp>
        <p:nvSpPr>
          <p:cNvPr id="26" name="Accuracy out 2-3"/>
          <p:cNvSpPr/>
          <p:nvPr/>
        </p:nvSpPr>
        <p:spPr>
          <a:xfrm>
            <a:off x="7109460" y="164592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ccuracy out text 2-3"/>
          <p:cNvSpPr txBox="1"/>
          <p:nvPr/>
        </p:nvSpPr>
        <p:spPr>
          <a:xfrm>
            <a:off x="7200900" y="1645920"/>
            <a:ext cx="5669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69.3</a:t>
            </a:r>
          </a:p>
        </p:txBody>
      </p:sp>
      <p:sp>
        <p:nvSpPr>
          <p:cNvPr id="28" name="Accuracy out 2-4"/>
          <p:cNvSpPr/>
          <p:nvPr/>
        </p:nvSpPr>
        <p:spPr>
          <a:xfrm>
            <a:off x="7886700" y="1645920"/>
            <a:ext cx="8001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Accuracy out text 2-4"/>
          <p:cNvSpPr txBox="1"/>
          <p:nvPr/>
        </p:nvSpPr>
        <p:spPr>
          <a:xfrm>
            <a:off x="7978140" y="1645920"/>
            <a:ext cx="5897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2.5 %</a:t>
            </a:r>
          </a:p>
        </p:txBody>
      </p:sp>
      <p:sp>
        <p:nvSpPr>
          <p:cNvPr id="30" name="Accuracy out 3-1"/>
          <p:cNvSpPr/>
          <p:nvPr/>
        </p:nvSpPr>
        <p:spPr>
          <a:xfrm>
            <a:off x="4640580" y="2057400"/>
            <a:ext cx="1664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Accuracy out text 3-1"/>
          <p:cNvSpPr txBox="1"/>
          <p:nvPr/>
        </p:nvSpPr>
        <p:spPr>
          <a:xfrm>
            <a:off x="4732020" y="2057400"/>
            <a:ext cx="14813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Seasonal naive</a:t>
            </a:r>
          </a:p>
        </p:txBody>
      </p:sp>
      <p:sp>
        <p:nvSpPr>
          <p:cNvPr id="32" name="Accuracy out 3-2"/>
          <p:cNvSpPr/>
          <p:nvPr/>
        </p:nvSpPr>
        <p:spPr>
          <a:xfrm>
            <a:off x="6332220" y="205740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Accuracy out text 3-2"/>
          <p:cNvSpPr txBox="1"/>
          <p:nvPr/>
        </p:nvSpPr>
        <p:spPr>
          <a:xfrm>
            <a:off x="6423660" y="2057400"/>
            <a:ext cx="5669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67.2</a:t>
            </a:r>
          </a:p>
        </p:txBody>
      </p:sp>
      <p:sp>
        <p:nvSpPr>
          <p:cNvPr id="34" name="Accuracy out 3-3"/>
          <p:cNvSpPr/>
          <p:nvPr/>
        </p:nvSpPr>
        <p:spPr>
          <a:xfrm>
            <a:off x="7109460" y="205740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Accuracy out text 3-3"/>
          <p:cNvSpPr txBox="1"/>
          <p:nvPr/>
        </p:nvSpPr>
        <p:spPr>
          <a:xfrm>
            <a:off x="7200900" y="2057400"/>
            <a:ext cx="5669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88.2</a:t>
            </a:r>
          </a:p>
        </p:txBody>
      </p:sp>
      <p:sp>
        <p:nvSpPr>
          <p:cNvPr id="36" name="Accuracy out 3-4"/>
          <p:cNvSpPr/>
          <p:nvPr/>
        </p:nvSpPr>
        <p:spPr>
          <a:xfrm>
            <a:off x="7886700" y="2057400"/>
            <a:ext cx="8001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Accuracy out text 3-4"/>
          <p:cNvSpPr txBox="1"/>
          <p:nvPr/>
        </p:nvSpPr>
        <p:spPr>
          <a:xfrm>
            <a:off x="7978140" y="2057400"/>
            <a:ext cx="5897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3.3 %</a:t>
            </a:r>
          </a:p>
        </p:txBody>
      </p:sp>
      <p:sp>
        <p:nvSpPr>
          <p:cNvPr id="38" name="Accuracy out 4-1"/>
          <p:cNvSpPr/>
          <p:nvPr/>
        </p:nvSpPr>
        <p:spPr>
          <a:xfrm>
            <a:off x="4640580" y="2468880"/>
            <a:ext cx="1664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Accuracy out text 4-1"/>
          <p:cNvSpPr txBox="1"/>
          <p:nvPr/>
        </p:nvSpPr>
        <p:spPr>
          <a:xfrm>
            <a:off x="4732020" y="2468880"/>
            <a:ext cx="14813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SARIMA</a:t>
            </a:r>
          </a:p>
        </p:txBody>
      </p:sp>
      <p:sp>
        <p:nvSpPr>
          <p:cNvPr id="40" name="Accuracy out 4-2"/>
          <p:cNvSpPr/>
          <p:nvPr/>
        </p:nvSpPr>
        <p:spPr>
          <a:xfrm>
            <a:off x="6332220" y="246888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Accuracy out text 4-2"/>
          <p:cNvSpPr txBox="1"/>
          <p:nvPr/>
        </p:nvSpPr>
        <p:spPr>
          <a:xfrm>
            <a:off x="6423660" y="2468880"/>
            <a:ext cx="5669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94.9</a:t>
            </a:r>
          </a:p>
        </p:txBody>
      </p:sp>
      <p:sp>
        <p:nvSpPr>
          <p:cNvPr id="42" name="Accuracy out 4-3"/>
          <p:cNvSpPr/>
          <p:nvPr/>
        </p:nvSpPr>
        <p:spPr>
          <a:xfrm>
            <a:off x="7109460" y="246888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Accuracy out text 4-3"/>
          <p:cNvSpPr txBox="1"/>
          <p:nvPr/>
        </p:nvSpPr>
        <p:spPr>
          <a:xfrm>
            <a:off x="7200900" y="2468880"/>
            <a:ext cx="5669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107.7</a:t>
            </a:r>
          </a:p>
        </p:txBody>
      </p:sp>
      <p:sp>
        <p:nvSpPr>
          <p:cNvPr id="44" name="Accuracy out 4-4"/>
          <p:cNvSpPr/>
          <p:nvPr/>
        </p:nvSpPr>
        <p:spPr>
          <a:xfrm>
            <a:off x="7886700" y="2468880"/>
            <a:ext cx="8001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Accuracy out text 4-4"/>
          <p:cNvSpPr txBox="1"/>
          <p:nvPr/>
        </p:nvSpPr>
        <p:spPr>
          <a:xfrm>
            <a:off x="7978140" y="2468880"/>
            <a:ext cx="5897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4.7 %</a:t>
            </a:r>
          </a:p>
        </p:txBody>
      </p:sp>
      <p:sp>
        <p:nvSpPr>
          <p:cNvPr id="46" name="Accuracy out 5-1"/>
          <p:cNvSpPr/>
          <p:nvPr/>
        </p:nvSpPr>
        <p:spPr>
          <a:xfrm>
            <a:off x="4640580" y="2880360"/>
            <a:ext cx="1664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Accuracy out text 5-1"/>
          <p:cNvSpPr txBox="1"/>
          <p:nvPr/>
        </p:nvSpPr>
        <p:spPr>
          <a:xfrm>
            <a:off x="4732020" y="2880360"/>
            <a:ext cx="14813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Holt-Winters</a:t>
            </a:r>
          </a:p>
        </p:txBody>
      </p:sp>
      <p:sp>
        <p:nvSpPr>
          <p:cNvPr id="48" name="Accuracy out 5-2"/>
          <p:cNvSpPr/>
          <p:nvPr/>
        </p:nvSpPr>
        <p:spPr>
          <a:xfrm>
            <a:off x="6332220" y="288036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Accuracy out text 5-2"/>
          <p:cNvSpPr txBox="1"/>
          <p:nvPr/>
        </p:nvSpPr>
        <p:spPr>
          <a:xfrm>
            <a:off x="6423660" y="2880360"/>
            <a:ext cx="5669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96.6</a:t>
            </a:r>
          </a:p>
        </p:txBody>
      </p:sp>
      <p:sp>
        <p:nvSpPr>
          <p:cNvPr id="50" name="Accuracy out 5-3"/>
          <p:cNvSpPr/>
          <p:nvPr/>
        </p:nvSpPr>
        <p:spPr>
          <a:xfrm>
            <a:off x="7109460" y="288036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Accuracy out text 5-3"/>
          <p:cNvSpPr txBox="1"/>
          <p:nvPr/>
        </p:nvSpPr>
        <p:spPr>
          <a:xfrm>
            <a:off x="7200900" y="2880360"/>
            <a:ext cx="5669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110.7</a:t>
            </a:r>
          </a:p>
        </p:txBody>
      </p:sp>
      <p:sp>
        <p:nvSpPr>
          <p:cNvPr id="52" name="Accuracy out 5-4"/>
          <p:cNvSpPr/>
          <p:nvPr/>
        </p:nvSpPr>
        <p:spPr>
          <a:xfrm>
            <a:off x="7886700" y="2880360"/>
            <a:ext cx="8001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Accuracy out text 5-4"/>
          <p:cNvSpPr txBox="1"/>
          <p:nvPr/>
        </p:nvSpPr>
        <p:spPr>
          <a:xfrm>
            <a:off x="7978140" y="2880360"/>
            <a:ext cx="5897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4.7 %</a:t>
            </a:r>
          </a:p>
        </p:txBody>
      </p:sp>
      <p:sp>
        <p:nvSpPr>
          <p:cNvPr id="54" name="Accuracy caption"/>
          <p:cNvSpPr txBox="1"/>
          <p:nvPr/>
        </p:nvSpPr>
        <p:spPr>
          <a:xfrm>
            <a:off x="4640580" y="3310128"/>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Holdout 2017–2018, AUD m</a:t>
            </a:r>
          </a:p>
        </p:txBody>
      </p:sp>
      <p:sp>
        <p:nvSpPr>
          <p:cNvPr id="55" name="Accuracy tip box"/>
          <p:cNvSpPr/>
          <p:nvPr/>
        </p:nvSpPr>
        <p:spPr>
          <a:xfrm>
            <a:off x="457200" y="42062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Icon Accuracy tip" descr=""/>
          <p:cNvPicPr>
            <a:picLocks noChangeAspect="1"/>
          </p:cNvPicPr>
          <p:nvPr/>
        </p:nvPicPr>
        <p:blipFill>
          <a:blip r:embed="rId3"/>
          <a:stretch>
            <a:fillRect/>
          </a:stretch>
        </p:blipFill>
        <p:spPr>
          <a:xfrm>
            <a:off x="658368" y="4251960"/>
            <a:ext cx="365760" cy="365760"/>
          </a:xfrm>
          <a:prstGeom prst="rect">
            <a:avLst/>
          </a:prstGeom>
        </p:spPr>
      </p:pic>
      <p:sp>
        <p:nvSpPr>
          <p:cNvPr id="57" name="Accuracy tip text"/>
          <p:cNvSpPr txBox="1"/>
          <p:nvPr/>
        </p:nvSpPr>
        <p:spPr>
          <a:xfrm>
            <a:off x="1207008" y="420624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Same ranking as slide 26: </a:t>
            </a:r>
            <a:r>
              <a:rPr sz="1200" b="0" lang="en-GB">
                <a:solidFill>
                  <a:schemeClr val="tx1"/>
                </a:solidFill>
              </a:rPr>
              <a:t>the log regression wins; the qmd adds ETS, the bands and 2019.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6 · quiz, exercise, Posit Assistant</a:t>
            </a:r>
          </a:p>
        </p:txBody>
      </p:sp>
      <p:sp>
        <p:nvSpPr>
          <p:cNvPr id="3" name="Title 2"/>
          <p:cNvSpPr>
            <a:spLocks noGrp="1"/>
          </p:cNvSpPr>
          <p:nvPr>
            <p:ph type="ctrTitle"/>
          </p:nvPr>
        </p:nvSpPr>
        <p:spPr/>
        <p:txBody>
          <a:bodyPr/>
          <a:lstStyle/>
          <a:p>
            <a:r>
              <a:rPr lang="en-GB"/>
              <a:t>In-class exercise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Online quiz: forecasting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Sales: 50, 54, 58. The drift (same change) forecast for the next period is …</a:t>
            </a:r>
          </a:p>
          <a:p>
            <a:pPr algn="l">
              <a:spcAft>
                <a:spcPts val="100"/>
              </a:spcAft>
            </a:pPr>
            <a:r>
              <a:rPr sz="1200" b="0" lang="en-GB">
                <a:solidFill>
                  <a:schemeClr val="tx1"/>
                </a:solidFill>
              </a:rPr>
              <a:t>A  58     B  62     C  54</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Exponential smoothing with α 0.5: level 40, new value 50. The new level is …</a:t>
            </a:r>
          </a:p>
          <a:p>
            <a:pPr algn="l">
              <a:spcAft>
                <a:spcPts val="100"/>
              </a:spcAft>
            </a:pPr>
            <a:r>
              <a:rPr sz="1200" b="0" lang="en-GB">
                <a:solidFill>
                  <a:schemeClr val="tx1"/>
                </a:solidFill>
              </a:rPr>
              <a:t>A  45     B  50     C  42</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Holdout errors: −2, +2, +4. The MAE is …</a:t>
            </a:r>
          </a:p>
          <a:p>
            <a:pPr algn="l">
              <a:spcAft>
                <a:spcPts val="100"/>
              </a:spcAft>
            </a:pPr>
            <a:r>
              <a:rPr sz="1200" b="0" lang="en-GB">
                <a:solidFill>
                  <a:schemeClr val="tx1"/>
                </a:solidFill>
              </a:rPr>
              <a:t>A  1.33     B  4.00     C  2.67</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Monthly sales with a December peak. The benchmark to beat is …</a:t>
            </a:r>
          </a:p>
          <a:p>
            <a:pPr algn="l">
              <a:spcAft>
                <a:spcPts val="100"/>
              </a:spcAft>
            </a:pPr>
            <a:r>
              <a:rPr sz="1200" b="0" lang="en-GB">
                <a:solidFill>
                  <a:schemeClr val="tx1"/>
                </a:solidFill>
              </a:rPr>
              <a:t>A  naive (last month)     B  seasonal naive (same month last year)     C  the mean</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ADF test on sales levels: p 0.99. The series is …</a:t>
            </a:r>
          </a:p>
          <a:p>
            <a:pPr algn="l">
              <a:spcAft>
                <a:spcPts val="100"/>
              </a:spcAft>
            </a:pPr>
            <a:r>
              <a:rPr sz="1200" b="0" lang="en-GB">
                <a:solidFill>
                  <a:schemeClr val="tx1"/>
                </a:solidFill>
              </a:rPr>
              <a:t>A  stationary     B  white noise     C  not stationary: difference it</a:t>
            </a:r>
          </a:p>
        </p:txBody>
      </p:sp>
      <p:sp>
        <p:nvSpPr>
          <p:cNvPr id="25" name="Quiz callout box"/>
          <p:cNvSpPr/>
          <p:nvPr/>
        </p:nvSpPr>
        <p:spPr>
          <a:xfrm>
            <a:off x="457200" y="459028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Quiz callout text"/>
          <p:cNvSpPr txBox="1"/>
          <p:nvPr/>
        </p:nvSpPr>
        <p:spPr>
          <a:xfrm>
            <a:off x="658368" y="4590288"/>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3 minutes alone, </a:t>
            </a:r>
            <a:r>
              <a:rPr sz="1250" b="0" lang="en-GB">
                <a:solidFill>
                  <a:schemeClr val="bg1"/>
                </a:solidFill>
              </a:rPr>
              <a:t>then compare with your neighbour.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Answers: in class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forecast café sales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2816352"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a:t>
            </a:r>
            <a:br/>
            <a:r>
              <a:rPr sz="1200" b="1" lang="en-GB">
                <a:solidFill>
                  <a:schemeClr val="tx2"/>
                </a:solidFill>
              </a:rPr>
              <a:t>35 minutes</a:t>
            </a:r>
          </a:p>
        </p:txBody>
      </p:sp>
      <p:sp>
        <p:nvSpPr>
          <p:cNvPr id="11" name="Turn steps step 2"/>
          <p:cNvSpPr/>
          <p:nvPr/>
        </p:nvSpPr>
        <p:spPr>
          <a:xfrm>
            <a:off x="3163824"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a:t>
            </a:r>
            <a:br/>
            <a:r>
              <a:rPr sz="1200" b="1" lang="en-GB">
                <a:solidFill>
                  <a:schemeClr val="tx2"/>
                </a:solidFill>
              </a:rPr>
              <a:t>5 minutes</a:t>
            </a:r>
          </a:p>
        </p:txBody>
      </p:sp>
      <p:sp>
        <p:nvSpPr>
          <p:cNvPr id="12" name="Turn steps step 3"/>
          <p:cNvSpPr/>
          <p:nvPr/>
        </p:nvSpPr>
        <p:spPr>
          <a:xfrm>
            <a:off x="5870448"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 Assistant:</a:t>
            </a:r>
            <a:br/>
            <a:r>
              <a:rPr sz="1200" b="1" lang="en-GB">
                <a:solidFill>
                  <a:schemeClr val="tx2"/>
                </a:solidFill>
              </a:rPr>
              <a:t>10 minutes</a:t>
            </a:r>
          </a:p>
        </p:txBody>
      </p:sp>
      <p:sp>
        <p:nvSpPr>
          <p:cNvPr id="13" name="Turn task row 1"/>
          <p:cNvSpPr/>
          <p:nvPr/>
        </p:nvSpPr>
        <p:spPr>
          <a:xfrm>
            <a:off x="457200" y="182880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urn task number 1"/>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5" name="Turn task text 1"/>
          <p:cNvSpPr txBox="1"/>
          <p:nvPr/>
        </p:nvSpPr>
        <p:spPr>
          <a:xfrm>
            <a:off x="1051560" y="182880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By hand: </a:t>
            </a:r>
            <a:r>
              <a:rPr sz="1200" b="0" lang="en-GB">
                <a:solidFill>
                  <a:schemeClr val="tx1"/>
                </a:solidFill>
              </a:rPr>
              <a:t>café bookings 20 … 31: five forecasts for week 7, MAE on weeks 5–6 (Steps 4, 5)</a:t>
            </a:r>
          </a:p>
        </p:txBody>
      </p:sp>
      <p:sp>
        <p:nvSpPr>
          <p:cNvPr id="16" name="Turn task row 2"/>
          <p:cNvSpPr/>
          <p:nvPr/>
        </p:nvSpPr>
        <p:spPr>
          <a:xfrm>
            <a:off x="457200" y="237744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urn task number 2"/>
          <p:cNvSpPr/>
          <p:nvPr/>
        </p:nvSpPr>
        <p:spPr>
          <a:xfrm>
            <a:off x="594360" y="24597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8" name="Turn task text 2"/>
          <p:cNvSpPr txBox="1"/>
          <p:nvPr/>
        </p:nvSpPr>
        <p:spPr>
          <a:xfrm>
            <a:off x="1051560" y="237744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Look: </a:t>
            </a:r>
            <a:r>
              <a:rPr sz="1200" b="0" lang="en-GB">
                <a:solidFill>
                  <a:schemeClr val="tx1"/>
                </a:solidFill>
              </a:rPr>
              <a:t>plot 2009–2018; trend, season, ADF (Steps 1, 6)</a:t>
            </a:r>
          </a:p>
        </p:txBody>
      </p:sp>
      <p:sp>
        <p:nvSpPr>
          <p:cNvPr id="19" name="Turn task row 3"/>
          <p:cNvSpPr/>
          <p:nvPr/>
        </p:nvSpPr>
        <p:spPr>
          <a:xfrm>
            <a:off x="457200" y="292608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urn task number 3"/>
          <p:cNvSpPr/>
          <p:nvPr/>
        </p:nvSpPr>
        <p:spPr>
          <a:xfrm>
            <a:off x="594360" y="30083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1" name="Turn task text 3"/>
          <p:cNvSpPr txBox="1"/>
          <p:nvPr/>
        </p:nvSpPr>
        <p:spPr>
          <a:xfrm>
            <a:off x="1051560" y="292608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Test: </a:t>
            </a:r>
            <a:r>
              <a:rPr sz="1200" b="0" lang="en-GB">
                <a:solidFill>
                  <a:schemeClr val="tx1"/>
                </a:solidFill>
              </a:rPr>
              <a:t>five methods on the 2017–2018 holdout: MAE, RMSE, MAPE (Steps 2, 3)</a:t>
            </a:r>
          </a:p>
        </p:txBody>
      </p:sp>
      <p:sp>
        <p:nvSpPr>
          <p:cNvPr id="22" name="Turn task row 4"/>
          <p:cNvSpPr/>
          <p:nvPr/>
        </p:nvSpPr>
        <p:spPr>
          <a:xfrm>
            <a:off x="457200" y="347472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urn task number 4"/>
          <p:cNvSpPr/>
          <p:nvPr/>
        </p:nvSpPr>
        <p:spPr>
          <a:xfrm>
            <a:off x="594360" y="35570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4" name="Turn task text 4"/>
          <p:cNvSpPr txBox="1"/>
          <p:nvPr/>
        </p:nvSpPr>
        <p:spPr>
          <a:xfrm>
            <a:off x="1051560" y="347472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Forecast: </a:t>
            </a:r>
            <a:r>
              <a:rPr sz="1200" b="0" lang="en-GB">
                <a:solidFill>
                  <a:schemeClr val="tx1"/>
                </a:solidFill>
              </a:rPr>
              <a:t>2019 with the winner and SARIMA, 95 % bands; check Jan–Apr (Steps 8, 9)</a:t>
            </a:r>
          </a:p>
        </p:txBody>
      </p:sp>
      <p:sp>
        <p:nvSpPr>
          <p:cNvPr id="25" name="Turn deliverable box"/>
          <p:cNvSpPr/>
          <p:nvPr/>
        </p:nvSpPr>
        <p:spPr>
          <a:xfrm>
            <a:off x="457200" y="40233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urn deliverable text"/>
          <p:cNvSpPr txBox="1"/>
          <p:nvPr/>
        </p:nvSpPr>
        <p:spPr>
          <a:xfrm>
            <a:off x="658368" y="402336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Deliverable: </a:t>
            </a:r>
            <a:r>
              <a:rPr sz="1200" b="0" lang="en-GB">
                <a:solidFill>
                  <a:schemeClr val="bg1"/>
                </a:solidFill>
              </a:rPr>
              <a:t>one slide per pair: the 2019 forecast and two sentences.</a:t>
            </a:r>
          </a:p>
        </p:txBody>
      </p:sp>
      <p:sp>
        <p:nvSpPr>
          <p:cNvPr id="27" name="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sessions/01-foundations/forecasting_exercise.qmd</a:t>
            </a:r>
            <a:r>
              <a:rPr sz="1200" b="0" lang="en-GB">
                <a:solidFill>
                  <a:schemeClr val="tx1"/>
                </a:solidFill>
              </a:rPr>
              <a:t>  (reuse: forecasting.qmd)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the same tasks with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sit how 1 row"/>
          <p:cNvSpPr/>
          <p:nvPr/>
        </p:nvSpPr>
        <p:spPr>
          <a:xfrm>
            <a:off x="457200" y="123444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sit how 1 bar"/>
          <p:cNvSpPr/>
          <p:nvPr/>
        </p:nvSpPr>
        <p:spPr>
          <a:xfrm>
            <a:off x="457200" y="123444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osit how 1 text"/>
          <p:cNvSpPr txBox="1"/>
          <p:nvPr/>
        </p:nvSpPr>
        <p:spPr>
          <a:xfrm>
            <a:off x="658368" y="123444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How: </a:t>
            </a:r>
            <a:r>
              <a:rPr sz="1200" b="0" lang="en-GB">
                <a:solidFill>
                  <a:schemeClr val="tx1"/>
                </a:solidFill>
              </a:rPr>
              <a:t>code first, then open Posit Assistant, type @forecasting_exercise.qmd, one task per prompt</a:t>
            </a:r>
          </a:p>
        </p:txBody>
      </p:sp>
      <p:sp>
        <p:nvSpPr>
          <p:cNvPr id="13" name="Prompt 1 caption bar"/>
          <p:cNvSpPr/>
          <p:nvPr/>
        </p:nvSpPr>
        <p:spPr>
          <a:xfrm>
            <a:off x="457200" y="17373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rompt 1 caption"/>
          <p:cNvSpPr txBox="1"/>
          <p:nvPr/>
        </p:nvSpPr>
        <p:spPr>
          <a:xfrm>
            <a:off x="566928" y="17373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1</a:t>
            </a:r>
          </a:p>
        </p:txBody>
      </p:sp>
      <p:sp>
        <p:nvSpPr>
          <p:cNvPr id="15" name="Prompt 1 box"/>
          <p:cNvSpPr/>
          <p:nvPr/>
        </p:nvSpPr>
        <p:spPr>
          <a:xfrm>
            <a:off x="457200" y="201168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mpt 1 code"/>
          <p:cNvSpPr txBox="1"/>
          <p:nvPr/>
        </p:nvSpPr>
        <p:spPr>
          <a:xfrm>
            <a:off x="594360" y="210312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@forecasting_exercise.qmd Task 1. Café</a:t>
            </a:r>
          </a:p>
          <a:p>
            <a:pPr algn="l">
              <a:spcAft>
                <a:spcPts val="0"/>
              </a:spcAft>
            </a:pPr>
            <a:r>
              <a:rPr sz="1050" b="0" lang="en-GB">
                <a:solidFill>
                  <a:schemeClr val="bg1"/>
                </a:solidFill>
                <a:latin typeface="Consolas"/>
              </a:rPr>
              <a:t>bookings 20, 24, 22, 26, 27, 31: naive,</a:t>
            </a:r>
          </a:p>
          <a:p>
            <a:pPr algn="l">
              <a:spcAft>
                <a:spcPts val="0"/>
              </a:spcAft>
            </a:pPr>
            <a:r>
              <a:rPr sz="1050" b="0" lang="en-GB">
                <a:solidFill>
                  <a:schemeClr val="bg1"/>
                </a:solidFill>
                <a:latin typeface="Consolas"/>
              </a:rPr>
              <a:t>drift, mean, moving average (3) and SES</a:t>
            </a:r>
          </a:p>
          <a:p>
            <a:pPr algn="l">
              <a:spcAft>
                <a:spcPts val="0"/>
              </a:spcAft>
            </a:pPr>
            <a:r>
              <a:rPr sz="1050" b="0" lang="en-GB">
                <a:solidFill>
                  <a:schemeClr val="bg1"/>
                </a:solidFill>
                <a:latin typeface="Consolas"/>
              </a:rPr>
              <a:t>(α 0.5) for week 7, step by step.</a:t>
            </a:r>
          </a:p>
        </p:txBody>
      </p:sp>
      <p:sp>
        <p:nvSpPr>
          <p:cNvPr id="17" name="Prompt 2 caption bar"/>
          <p:cNvSpPr/>
          <p:nvPr/>
        </p:nvSpPr>
        <p:spPr>
          <a:xfrm>
            <a:off x="4640580" y="17373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rompt 2 caption"/>
          <p:cNvSpPr txBox="1"/>
          <p:nvPr/>
        </p:nvSpPr>
        <p:spPr>
          <a:xfrm>
            <a:off x="4750308" y="17373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2</a:t>
            </a:r>
          </a:p>
        </p:txBody>
      </p:sp>
      <p:sp>
        <p:nvSpPr>
          <p:cNvPr id="19" name="Prompt 2 box"/>
          <p:cNvSpPr/>
          <p:nvPr/>
        </p:nvSpPr>
        <p:spPr>
          <a:xfrm>
            <a:off x="4640580" y="201168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ompt 2 code"/>
          <p:cNvSpPr txBox="1"/>
          <p:nvPr/>
        </p:nvSpPr>
        <p:spPr>
          <a:xfrm>
            <a:off x="4777740" y="210312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2. Plot aus_cafes_retail.csv for</a:t>
            </a:r>
          </a:p>
          <a:p>
            <a:pPr algn="l">
              <a:spcAft>
                <a:spcPts val="0"/>
              </a:spcAft>
            </a:pPr>
            <a:r>
              <a:rPr sz="1050" b="0" lang="en-GB">
                <a:solidFill>
                  <a:schemeClr val="bg1"/>
                </a:solidFill>
                <a:latin typeface="Consolas"/>
              </a:rPr>
              <a:t>2009-2018 with plotnine. Describe trend</a:t>
            </a:r>
          </a:p>
          <a:p>
            <a:pPr algn="l">
              <a:spcAft>
                <a:spcPts val="0"/>
              </a:spcAft>
            </a:pPr>
            <a:r>
              <a:rPr sz="1050" b="0" lang="en-GB">
                <a:solidFill>
                  <a:schemeClr val="bg1"/>
                </a:solidFill>
                <a:latin typeface="Consolas"/>
              </a:rPr>
              <a:t>and season; run the ADF test on levels</a:t>
            </a:r>
          </a:p>
          <a:p>
            <a:pPr algn="l">
              <a:spcAft>
                <a:spcPts val="0"/>
              </a:spcAft>
            </a:pPr>
            <a:r>
              <a:rPr sz="1050" b="0" lang="en-GB">
                <a:solidFill>
                  <a:schemeClr val="bg1"/>
                </a:solidFill>
                <a:latin typeface="Consolas"/>
              </a:rPr>
              <a:t>and on the first difference.</a:t>
            </a:r>
          </a:p>
        </p:txBody>
      </p:sp>
      <p:sp>
        <p:nvSpPr>
          <p:cNvPr id="21" name="Prompt 3 caption bar"/>
          <p:cNvSpPr/>
          <p:nvPr/>
        </p:nvSpPr>
        <p:spPr>
          <a:xfrm>
            <a:off x="457200" y="301752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3 caption"/>
          <p:cNvSpPr txBox="1"/>
          <p:nvPr/>
        </p:nvSpPr>
        <p:spPr>
          <a:xfrm>
            <a:off x="566928" y="301752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3</a:t>
            </a:r>
          </a:p>
        </p:txBody>
      </p:sp>
      <p:sp>
        <p:nvSpPr>
          <p:cNvPr id="23" name="Prompt 3 box"/>
          <p:cNvSpPr/>
          <p:nvPr/>
        </p:nvSpPr>
        <p:spPr>
          <a:xfrm>
            <a:off x="457200" y="329184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mpt 3 code"/>
          <p:cNvSpPr txBox="1"/>
          <p:nvPr/>
        </p:nvSpPr>
        <p:spPr>
          <a:xfrm>
            <a:off x="594360" y="338328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3. Hold out 2017-2018. Compare</a:t>
            </a:r>
          </a:p>
          <a:p>
            <a:pPr algn="l">
              <a:spcAft>
                <a:spcPts val="0"/>
              </a:spcAft>
            </a:pPr>
            <a:r>
              <a:rPr sz="1050" b="0" lang="en-GB">
                <a:solidFill>
                  <a:schemeClr val="bg1"/>
                </a:solidFill>
                <a:latin typeface="Consolas"/>
              </a:rPr>
              <a:t>seasonal naive, Holt-Winters, SARIMA and</a:t>
            </a:r>
          </a:p>
          <a:p>
            <a:pPr algn="l">
              <a:spcAft>
                <a:spcPts val="0"/>
              </a:spcAft>
            </a:pPr>
            <a:r>
              <a:rPr sz="1050" b="0" lang="en-GB">
                <a:solidFill>
                  <a:schemeClr val="bg1"/>
                </a:solidFill>
                <a:latin typeface="Consolas"/>
              </a:rPr>
              <a:t>two regressions by MAE, RMSE and MAPE</a:t>
            </a:r>
          </a:p>
          <a:p>
            <a:pPr algn="l">
              <a:spcAft>
                <a:spcPts val="0"/>
              </a:spcAft>
            </a:pPr>
            <a:r>
              <a:rPr sz="1050" b="0" lang="en-GB">
                <a:solidFill>
                  <a:schemeClr val="bg1"/>
                </a:solidFill>
                <a:latin typeface="Consolas"/>
              </a:rPr>
              <a:t>in a great_tables table.</a:t>
            </a:r>
          </a:p>
        </p:txBody>
      </p:sp>
      <p:sp>
        <p:nvSpPr>
          <p:cNvPr id="25" name="Prompt 4 caption bar"/>
          <p:cNvSpPr/>
          <p:nvPr/>
        </p:nvSpPr>
        <p:spPr>
          <a:xfrm>
            <a:off x="4640580" y="301752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rompt 4 caption"/>
          <p:cNvSpPr txBox="1"/>
          <p:nvPr/>
        </p:nvSpPr>
        <p:spPr>
          <a:xfrm>
            <a:off x="4750308" y="301752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4</a:t>
            </a:r>
          </a:p>
        </p:txBody>
      </p:sp>
      <p:sp>
        <p:nvSpPr>
          <p:cNvPr id="27" name="Prompt 4 box"/>
          <p:cNvSpPr/>
          <p:nvPr/>
        </p:nvSpPr>
        <p:spPr>
          <a:xfrm>
            <a:off x="4640580" y="329184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rompt 4 code"/>
          <p:cNvSpPr txBox="1"/>
          <p:nvPr/>
        </p:nvSpPr>
        <p:spPr>
          <a:xfrm>
            <a:off x="4777740" y="338328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4. Forecast 2019 with the best</a:t>
            </a:r>
          </a:p>
          <a:p>
            <a:pPr algn="l">
              <a:spcAft>
                <a:spcPts val="0"/>
              </a:spcAft>
            </a:pPr>
            <a:r>
              <a:rPr sz="1050" b="0" lang="en-GB">
                <a:solidFill>
                  <a:schemeClr val="bg1"/>
                </a:solidFill>
                <a:latin typeface="Consolas"/>
              </a:rPr>
              <a:t>method and with SARIMA, 95 % bands.</a:t>
            </a:r>
          </a:p>
          <a:p>
            <a:pPr algn="l">
              <a:spcAft>
                <a:spcPts val="0"/>
              </a:spcAft>
            </a:pPr>
            <a:r>
              <a:rPr sz="1050" b="0" lang="en-GB">
                <a:solidFill>
                  <a:schemeClr val="bg1"/>
                </a:solidFill>
                <a:latin typeface="Consolas"/>
              </a:rPr>
              <a:t>Which band would you trust for stock</a:t>
            </a:r>
          </a:p>
          <a:p>
            <a:pPr algn="l">
              <a:spcAft>
                <a:spcPts val="0"/>
              </a:spcAft>
            </a:pPr>
            <a:r>
              <a:rPr sz="1050" b="0" lang="en-GB">
                <a:solidFill>
                  <a:schemeClr val="bg1"/>
                </a:solidFill>
                <a:latin typeface="Consolas"/>
              </a:rPr>
              <a:t>planning, and why?</a:t>
            </a:r>
          </a:p>
        </p:txBody>
      </p:sp>
      <p:sp>
        <p:nvSpPr>
          <p:cNvPr id="29" name="Posit check box"/>
          <p:cNvSpPr/>
          <p:nvPr/>
        </p:nvSpPr>
        <p:spPr>
          <a:xfrm>
            <a:off x="457200" y="43434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Posit check" descr=""/>
          <p:cNvPicPr>
            <a:picLocks noChangeAspect="1"/>
          </p:cNvPicPr>
          <p:nvPr/>
        </p:nvPicPr>
        <p:blipFill>
          <a:blip r:embed="rId3"/>
          <a:stretch>
            <a:fillRect/>
          </a:stretch>
        </p:blipFill>
        <p:spPr>
          <a:xfrm>
            <a:off x="658368" y="4389120"/>
            <a:ext cx="365760" cy="365760"/>
          </a:xfrm>
          <a:prstGeom prst="rect">
            <a:avLst/>
          </a:prstGeom>
        </p:spPr>
      </p:pic>
      <p:sp>
        <p:nvSpPr>
          <p:cNvPr id="31" name="Posit check text"/>
          <p:cNvSpPr txBox="1"/>
          <p:nvPr/>
        </p:nvSpPr>
        <p:spPr>
          <a:xfrm>
            <a:off x="1207008" y="43434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Check every number against your own code: </a:t>
            </a:r>
            <a:r>
              <a:rPr sz="1200" b="0" lang="en-GB">
                <a:solidFill>
                  <a:schemeClr val="bg1"/>
                </a:solidFill>
              </a:rPr>
              <a:t>you own the result.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Open data for forecasting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1 tile"/>
          <p:cNvSpPr/>
          <p:nvPr/>
        </p:nvSpPr>
        <p:spPr>
          <a:xfrm>
            <a:off x="457200" y="1234440"/>
            <a:ext cx="26517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ata 1" descr=""/>
          <p:cNvPicPr>
            <a:picLocks noChangeAspect="1"/>
          </p:cNvPicPr>
          <p:nvPr/>
        </p:nvPicPr>
        <p:blipFill>
          <a:blip r:embed="rId3"/>
          <a:stretch>
            <a:fillRect/>
          </a:stretch>
        </p:blipFill>
        <p:spPr>
          <a:xfrm>
            <a:off x="594360" y="1371600"/>
            <a:ext cx="365760" cy="365760"/>
          </a:xfrm>
          <a:prstGeom prst="rect">
            <a:avLst/>
          </a:prstGeom>
        </p:spPr>
      </p:pic>
      <p:sp>
        <p:nvSpPr>
          <p:cNvPr id="12" name="Data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ABS Retail Trade</a:t>
            </a:r>
          </a:p>
        </p:txBody>
      </p:sp>
      <p:sp>
        <p:nvSpPr>
          <p:cNvPr id="13" name="Data 1 text"/>
          <p:cNvSpPr txBox="1"/>
          <p:nvPr/>
        </p:nvSpPr>
        <p:spPr>
          <a:xfrm>
            <a:off x="594360" y="1856232"/>
            <a:ext cx="2377440" cy="1554480"/>
          </a:xfrm>
          <a:prstGeom prst="rect">
            <a:avLst/>
          </a:prstGeom>
          <a:noFill/>
        </p:spPr>
        <p:txBody>
          <a:bodyPr wrap="square" lIns="0" rIns="0" tIns="0" bIns="0" anchor="t">
            <a:noAutofit/>
          </a:bodyPr>
          <a:lstStyle/>
          <a:p>
            <a:pPr algn="l">
              <a:spcAft>
                <a:spcPts val="400"/>
              </a:spcAft>
            </a:pPr>
            <a:r>
              <a:rPr sz="1300" b="0" lang="en-GB">
                <a:solidFill>
                  <a:schemeClr val="tx1"/>
                </a:solidFill>
              </a:rPr>
              <a:t>Monthly turnover in Australia since 1982, by state and industry</a:t>
            </a:r>
          </a:p>
        </p:txBody>
      </p:sp>
      <p:sp>
        <p:nvSpPr>
          <p:cNvPr id="14" name="Data 1 licence"/>
          <p:cNvSpPr txBox="1"/>
          <p:nvPr/>
        </p:nvSpPr>
        <p:spPr>
          <a:xfrm>
            <a:off x="594360" y="2788920"/>
            <a:ext cx="2377440" cy="548640"/>
          </a:xfrm>
          <a:prstGeom prst="rect">
            <a:avLst/>
          </a:prstGeom>
          <a:noFill/>
        </p:spPr>
        <p:txBody>
          <a:bodyPr wrap="square" lIns="0" rIns="0" tIns="0" bIns="0" anchor="t">
            <a:noAutofit/>
          </a:bodyPr>
          <a:lstStyle/>
          <a:p>
            <a:pPr algn="l">
              <a:spcAft>
                <a:spcPts val="400"/>
              </a:spcAft>
            </a:pPr>
            <a:r>
              <a:rPr sz="1300" b="1" lang="en-GB">
                <a:solidFill>
                  <a:schemeClr val="tx2"/>
                </a:solidFill>
              </a:rPr>
              <a:t>Licence: </a:t>
            </a:r>
            <a:r>
              <a:rPr sz="1300" b="0" lang="en-GB">
                <a:solidFill>
                  <a:schemeClr val="tx1"/>
                </a:solidFill>
              </a:rPr>
              <a:t>CC BY 4.0</a:t>
            </a:r>
          </a:p>
        </p:txBody>
      </p:sp>
      <p:sp>
        <p:nvSpPr>
          <p:cNvPr id="15" name="Data 2 tile"/>
          <p:cNvSpPr/>
          <p:nvPr/>
        </p:nvSpPr>
        <p:spPr>
          <a:xfrm>
            <a:off x="3246120" y="1234440"/>
            <a:ext cx="26517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Data 2" descr=""/>
          <p:cNvPicPr>
            <a:picLocks noChangeAspect="1"/>
          </p:cNvPicPr>
          <p:nvPr/>
        </p:nvPicPr>
        <p:blipFill>
          <a:blip r:embed="rId4"/>
          <a:stretch>
            <a:fillRect/>
          </a:stretch>
        </p:blipFill>
        <p:spPr>
          <a:xfrm>
            <a:off x="3383280" y="1371600"/>
            <a:ext cx="365760" cy="365760"/>
          </a:xfrm>
          <a:prstGeom prst="rect">
            <a:avLst/>
          </a:prstGeom>
        </p:spPr>
      </p:pic>
      <p:sp>
        <p:nvSpPr>
          <p:cNvPr id="17" name="Data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Eurostat</a:t>
            </a:r>
          </a:p>
        </p:txBody>
      </p:sp>
      <p:sp>
        <p:nvSpPr>
          <p:cNvPr id="18" name="Data 2 text"/>
          <p:cNvSpPr txBox="1"/>
          <p:nvPr/>
        </p:nvSpPr>
        <p:spPr>
          <a:xfrm>
            <a:off x="3383280" y="1856232"/>
            <a:ext cx="2377440" cy="1554480"/>
          </a:xfrm>
          <a:prstGeom prst="rect">
            <a:avLst/>
          </a:prstGeom>
          <a:noFill/>
        </p:spPr>
        <p:txBody>
          <a:bodyPr wrap="square" lIns="0" rIns="0" tIns="0" bIns="0" anchor="t">
            <a:noAutofit/>
          </a:bodyPr>
          <a:lstStyle/>
          <a:p>
            <a:pPr algn="l">
              <a:spcAft>
                <a:spcPts val="400"/>
              </a:spcAft>
            </a:pPr>
            <a:r>
              <a:rPr sz="1300" b="0" lang="en-GB">
                <a:solidFill>
                  <a:schemeClr val="tx1"/>
                </a:solidFill>
              </a:rPr>
              <a:t>Monthly retail trade and tourism nights by EU country</a:t>
            </a:r>
          </a:p>
        </p:txBody>
      </p:sp>
      <p:sp>
        <p:nvSpPr>
          <p:cNvPr id="19" name="Data 2 licence"/>
          <p:cNvSpPr txBox="1"/>
          <p:nvPr/>
        </p:nvSpPr>
        <p:spPr>
          <a:xfrm>
            <a:off x="3383280" y="2788920"/>
            <a:ext cx="2377440" cy="548640"/>
          </a:xfrm>
          <a:prstGeom prst="rect">
            <a:avLst/>
          </a:prstGeom>
          <a:noFill/>
        </p:spPr>
        <p:txBody>
          <a:bodyPr wrap="square" lIns="0" rIns="0" tIns="0" bIns="0" anchor="t">
            <a:noAutofit/>
          </a:bodyPr>
          <a:lstStyle/>
          <a:p>
            <a:pPr algn="l">
              <a:spcAft>
                <a:spcPts val="400"/>
              </a:spcAft>
            </a:pPr>
            <a:r>
              <a:rPr sz="1300" b="1" lang="en-GB">
                <a:solidFill>
                  <a:schemeClr val="tx2"/>
                </a:solidFill>
              </a:rPr>
              <a:t>Licence: </a:t>
            </a:r>
            <a:r>
              <a:rPr sz="1300" b="0" lang="en-GB">
                <a:solidFill>
                  <a:schemeClr val="tx1"/>
                </a:solidFill>
              </a:rPr>
              <a:t>free reuse, cite the source</a:t>
            </a:r>
          </a:p>
        </p:txBody>
      </p:sp>
      <p:sp>
        <p:nvSpPr>
          <p:cNvPr id="20" name="Data 3 tile"/>
          <p:cNvSpPr/>
          <p:nvPr/>
        </p:nvSpPr>
        <p:spPr>
          <a:xfrm>
            <a:off x="6035040" y="1234440"/>
            <a:ext cx="26517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Data 3" descr=""/>
          <p:cNvPicPr>
            <a:picLocks noChangeAspect="1"/>
          </p:cNvPicPr>
          <p:nvPr/>
        </p:nvPicPr>
        <p:blipFill>
          <a:blip r:embed="rId5"/>
          <a:stretch>
            <a:fillRect/>
          </a:stretch>
        </p:blipFill>
        <p:spPr>
          <a:xfrm>
            <a:off x="6172200" y="1371600"/>
            <a:ext cx="365760" cy="365760"/>
          </a:xfrm>
          <a:prstGeom prst="rect">
            <a:avLst/>
          </a:prstGeom>
        </p:spPr>
      </p:pic>
      <p:sp>
        <p:nvSpPr>
          <p:cNvPr id="22" name="Data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M5 (Walmart)</a:t>
            </a:r>
          </a:p>
        </p:txBody>
      </p:sp>
      <p:sp>
        <p:nvSpPr>
          <p:cNvPr id="23" name="Data 3 text"/>
          <p:cNvSpPr txBox="1"/>
          <p:nvPr/>
        </p:nvSpPr>
        <p:spPr>
          <a:xfrm>
            <a:off x="6172200" y="1856232"/>
            <a:ext cx="2377440" cy="1554480"/>
          </a:xfrm>
          <a:prstGeom prst="rect">
            <a:avLst/>
          </a:prstGeom>
          <a:noFill/>
        </p:spPr>
        <p:txBody>
          <a:bodyPr wrap="square" lIns="0" rIns="0" tIns="0" bIns="0" anchor="t">
            <a:noAutofit/>
          </a:bodyPr>
          <a:lstStyle/>
          <a:p>
            <a:pPr algn="l">
              <a:spcAft>
                <a:spcPts val="400"/>
              </a:spcAft>
            </a:pPr>
            <a:r>
              <a:rPr sz="1300" b="0" lang="en-GB">
                <a:solidFill>
                  <a:schemeClr val="tx1"/>
                </a:solidFill>
              </a:rPr>
              <a:t>Daily unit sales of 3,049 products in 10 US stores, 2011–2016</a:t>
            </a:r>
          </a:p>
        </p:txBody>
      </p:sp>
      <p:sp>
        <p:nvSpPr>
          <p:cNvPr id="24" name="Data 3 licence"/>
          <p:cNvSpPr txBox="1"/>
          <p:nvPr/>
        </p:nvSpPr>
        <p:spPr>
          <a:xfrm>
            <a:off x="6172200" y="2788920"/>
            <a:ext cx="2377440" cy="548640"/>
          </a:xfrm>
          <a:prstGeom prst="rect">
            <a:avLst/>
          </a:prstGeom>
          <a:noFill/>
        </p:spPr>
        <p:txBody>
          <a:bodyPr wrap="square" lIns="0" rIns="0" tIns="0" bIns="0" anchor="t">
            <a:noAutofit/>
          </a:bodyPr>
          <a:lstStyle/>
          <a:p>
            <a:pPr algn="l">
              <a:spcAft>
                <a:spcPts val="400"/>
              </a:spcAft>
            </a:pPr>
            <a:r>
              <a:rPr sz="1300" b="1" lang="en-GB">
                <a:solidFill>
                  <a:schemeClr val="tx2"/>
                </a:solidFill>
              </a:rPr>
              <a:t>Licence: </a:t>
            </a:r>
            <a:r>
              <a:rPr sz="1300" b="0" lang="en-GB">
                <a:solidFill>
                  <a:schemeClr val="tx1"/>
                </a:solidFill>
              </a:rPr>
              <a:t>competition data: check the terms</a:t>
            </a:r>
          </a:p>
        </p:txBody>
      </p:sp>
      <p:sp>
        <p:nvSpPr>
          <p:cNvPr id="25" name="Data licence box"/>
          <p:cNvSpPr/>
          <p:nvPr/>
        </p:nvSpPr>
        <p:spPr>
          <a:xfrm>
            <a:off x="457200" y="361188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Data licence text"/>
          <p:cNvSpPr txBox="1"/>
          <p:nvPr/>
        </p:nvSpPr>
        <p:spPr>
          <a:xfrm>
            <a:off x="658368" y="361188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The licence decides: </a:t>
            </a:r>
            <a:r>
              <a:rPr sz="1200" b="0" lang="en-GB">
                <a:solidFill>
                  <a:schemeClr val="bg1"/>
                </a:solidFill>
              </a:rPr>
              <a:t>commit only data you may share; link the rest.</a:t>
            </a:r>
          </a:p>
        </p:txBody>
      </p:sp>
      <p:sp>
        <p:nvSpPr>
          <p:cNvPr id="27" name="Data guide"/>
          <p:cNvSpPr txBox="1"/>
          <p:nvPr/>
        </p:nvSpPr>
        <p:spPr>
          <a:xfrm>
            <a:off x="457200" y="420624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Links and loading code: </a:t>
            </a:r>
            <a:r>
              <a:rPr sz="1200" b="0" lang="en-GB">
                <a:solidFill>
                  <a:schemeClr val="tx2"/>
                </a:solidFill>
                <a:latin typeface="Consolas"/>
              </a:rPr>
              <a:t>forecasting.qmd</a:t>
            </a:r>
            <a:r>
              <a:rPr sz="1200" b="0" lang="en-GB">
                <a:solidFill>
                  <a:schemeClr val="tx1"/>
                </a:solidFill>
              </a:rPr>
              <a:t> (appendix)</a:t>
            </a:r>
          </a:p>
        </p:txBody>
      </p:sp>
      <p:sp>
        <p:nvSpPr>
          <p:cNvPr id="2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ABS, Eurostat and M5 dataset pages (links in forecasting.qmd)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Plot first: </a:t>
            </a:r>
            <a:r>
              <a:rPr sz="1250" b="0" lang="en-GB">
                <a:solidFill>
                  <a:schemeClr val="tx1"/>
                </a:solidFill>
              </a:rPr>
              <a:t>trend, season, cycle, irregular; additive or multiplicative?</a:t>
            </a:r>
          </a:p>
        </p:txBody>
      </p:sp>
      <p:sp>
        <p:nvSpPr>
          <p:cNvPr id="13" name="Takeaway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Start simple: </a:t>
            </a:r>
            <a:r>
              <a:rPr sz="1250" b="0" lang="en-GB">
                <a:solidFill>
                  <a:schemeClr val="tx1"/>
                </a:solidFill>
              </a:rPr>
              <a:t>naive, drift, averages, smoothing and a trend line: all on a calculator</a:t>
            </a:r>
          </a:p>
        </p:txBody>
      </p:sp>
      <p:sp>
        <p:nvSpPr>
          <p:cNvPr id="16" name="Takeaway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Test on the future: </a:t>
            </a:r>
            <a:r>
              <a:rPr sz="1250" b="0" lang="en-GB">
                <a:solidFill>
                  <a:schemeClr val="tx1"/>
                </a:solidFill>
              </a:rPr>
              <a:t>hold out the last periods; compare MAE, RMSE and MAPE</a:t>
            </a:r>
          </a:p>
        </p:txBody>
      </p:sp>
      <p:sp>
        <p:nvSpPr>
          <p:cNvPr id="19" name="Takeaway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Beat the simplest benchmark: </a:t>
            </a:r>
            <a:r>
              <a:rPr sz="1250" b="0" lang="en-GB">
                <a:solidFill>
                  <a:schemeClr val="tx1"/>
                </a:solidFill>
              </a:rPr>
              <a:t>on seasonal data, the seasonal naive</a:t>
            </a:r>
          </a:p>
        </p:txBody>
      </p:sp>
      <p:sp>
        <p:nvSpPr>
          <p:cNvPr id="22" name="Takeaway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Report the band, check the errors: </a:t>
            </a:r>
            <a:r>
              <a:rPr sz="1250" b="0" lang="en-GB">
                <a:solidFill>
                  <a:schemeClr val="tx1"/>
                </a:solidFill>
              </a:rPr>
              <a:t>autocorrelated errors make a band too narrow</a:t>
            </a:r>
          </a:p>
        </p:txBody>
      </p:sp>
      <p:sp>
        <p:nvSpPr>
          <p:cNvPr id="25" name="Takeaway next box"/>
          <p:cNvSpPr/>
          <p:nvPr/>
        </p:nvSpPr>
        <p:spPr>
          <a:xfrm>
            <a:off x="457200" y="42519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akeaway next text"/>
          <p:cNvSpPr txBox="1"/>
          <p:nvPr/>
        </p:nvSpPr>
        <p:spPr>
          <a:xfrm>
            <a:off x="658368" y="425196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Next: </a:t>
            </a:r>
            <a:r>
              <a:rPr sz="1250" b="0" lang="en-GB">
                <a:solidFill>
                  <a:schemeClr val="bg1"/>
                </a:solidFill>
              </a:rPr>
              <a:t>run sessions/01-foundations/forecasting.qmd; it reproduces the results on the slides.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400" b="1" lang="en-GB">
                <a:solidFill>
                  <a:schemeClr val="bg1"/>
                </a:solidFill>
                <a:latin typeface="+mj-lt"/>
              </a:rPr>
              <a:t>Forecasting methods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2880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2743200"/>
          </a:xfrm>
          <a:prstGeom prst="rect">
            <a:avLst/>
          </a:prstGeom>
          <a:noFill/>
        </p:spPr>
        <p:txBody>
          <a:bodyPr wrap="square" lIns="0" rIns="0" tIns="0" bIns="0" anchor="t">
            <a:noAutofit/>
          </a:bodyPr>
          <a:lstStyle/>
          <a:p>
            <a:pPr algn="l">
              <a:spcAft>
                <a:spcPts val="500"/>
              </a:spcAft>
            </a:pPr>
            <a:r>
              <a:rPr sz="1100" b="1" lang="en-GB">
                <a:solidFill>
                  <a:schemeClr val="tx2"/>
                </a:solidFill>
              </a:rPr>
              <a:t>Hyndman, R. J. &amp; Athanasopoulos, G. (2021). </a:t>
            </a:r>
            <a:r>
              <a:rPr sz="1100" b="0" lang="en-GB">
                <a:solidFill>
                  <a:schemeClr val="tx1"/>
                </a:solidFill>
              </a:rPr>
              <a:t>Forecasting: Principles and Practice (3rd ed.). OTexts. otexts.com/fpp3</a:t>
            </a:r>
          </a:p>
          <a:p>
            <a:pPr algn="l">
              <a:spcAft>
                <a:spcPts val="500"/>
              </a:spcAft>
            </a:pPr>
            <a:r>
              <a:rPr sz="1100" b="1" lang="en-GB">
                <a:solidFill>
                  <a:schemeClr val="tx2"/>
                </a:solidFill>
              </a:rPr>
              <a:t>Box, G. E. P., Jenkins, G. M., Reinsel, G. C. &amp; Ljung, G. M. (2015). </a:t>
            </a:r>
            <a:r>
              <a:rPr sz="1100" b="0" lang="en-GB">
                <a:solidFill>
                  <a:schemeClr val="tx1"/>
                </a:solidFill>
              </a:rPr>
              <a:t>Time Series Analysis: Forecasting and Control (5th ed.). Wiley.</a:t>
            </a:r>
          </a:p>
          <a:p>
            <a:pPr algn="l">
              <a:spcAft>
                <a:spcPts val="500"/>
              </a:spcAft>
            </a:pPr>
            <a:r>
              <a:rPr sz="1100" b="1" lang="en-GB">
                <a:solidFill>
                  <a:schemeClr val="tx2"/>
                </a:solidFill>
              </a:rPr>
              <a:t>Hyndman, R. J. &amp; Koehler, A. B. (2006). </a:t>
            </a:r>
            <a:r>
              <a:rPr sz="1100" b="0" lang="en-GB">
                <a:solidFill>
                  <a:schemeClr val="tx1"/>
                </a:solidFill>
              </a:rPr>
              <a:t>Another look at measures of forecast accuracy. International Journal of Forecasting, 22(4), 679–688.</a:t>
            </a:r>
          </a:p>
          <a:p>
            <a:pPr algn="l">
              <a:spcAft>
                <a:spcPts val="500"/>
              </a:spcAft>
            </a:pPr>
            <a:r>
              <a:rPr sz="1100" b="1" lang="en-GB">
                <a:solidFill>
                  <a:schemeClr val="tx2"/>
                </a:solidFill>
              </a:rPr>
              <a:t>Cleveland, R. B. et al. (1990). </a:t>
            </a:r>
            <a:r>
              <a:rPr sz="1100" b="0" lang="en-GB">
                <a:solidFill>
                  <a:schemeClr val="tx1"/>
                </a:solidFill>
              </a:rPr>
              <a:t>STL: A seasonal-trend decomposition procedure based on loess. Journal of Official Statistics, 6(1), 3–73.</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400" b="1" lang="en-GB">
                <a:solidFill>
                  <a:schemeClr val="bg1"/>
                </a:solidFill>
                <a:latin typeface="+mj-lt"/>
              </a:rPr>
              <a:t>Competitions, data and software</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2880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2743200"/>
          </a:xfrm>
          <a:prstGeom prst="rect">
            <a:avLst/>
          </a:prstGeom>
          <a:noFill/>
        </p:spPr>
        <p:txBody>
          <a:bodyPr wrap="square" lIns="0" rIns="0" tIns="0" bIns="0" anchor="t">
            <a:noAutofit/>
          </a:bodyPr>
          <a:lstStyle/>
          <a:p>
            <a:pPr algn="l">
              <a:spcAft>
                <a:spcPts val="500"/>
              </a:spcAft>
            </a:pPr>
            <a:r>
              <a:rPr sz="1100" b="1" lang="en-GB">
                <a:solidFill>
                  <a:schemeClr val="tx2"/>
                </a:solidFill>
              </a:rPr>
              <a:t>Makridakis, S., Spiliotis, E. &amp; Assimakopoulos, V. (2020). </a:t>
            </a:r>
            <a:r>
              <a:rPr sz="1100" b="0" lang="en-GB">
                <a:solidFill>
                  <a:schemeClr val="tx1"/>
                </a:solidFill>
              </a:rPr>
              <a:t>The M4 Competition: 100,000 time series and 61 forecasting methods. International Journal of Forecasting, 36(1), 54–74.</a:t>
            </a:r>
          </a:p>
          <a:p>
            <a:pPr algn="l">
              <a:spcAft>
                <a:spcPts val="500"/>
              </a:spcAft>
            </a:pPr>
            <a:r>
              <a:rPr sz="1100" b="1" lang="en-GB">
                <a:solidFill>
                  <a:schemeClr val="tx2"/>
                </a:solidFill>
              </a:rPr>
              <a:t>Makridakis, S. et al. (2022). </a:t>
            </a:r>
            <a:r>
              <a:rPr sz="1100" b="0" lang="en-GB">
                <a:solidFill>
                  <a:schemeClr val="tx1"/>
                </a:solidFill>
              </a:rPr>
              <a:t>M5 accuracy competition: Results, findings, and conclusions. International Journal of Forecasting, 38(4), 1346–⁠1364.</a:t>
            </a:r>
          </a:p>
          <a:p>
            <a:pPr algn="l">
              <a:spcAft>
                <a:spcPts val="500"/>
              </a:spcAft>
            </a:pPr>
            <a:r>
              <a:rPr sz="1100" b="1" lang="en-GB">
                <a:solidFill>
                  <a:schemeClr val="tx2"/>
                </a:solidFill>
              </a:rPr>
              <a:t>Australian Bureau of Statistics (2019). </a:t>
            </a:r>
            <a:r>
              <a:rPr sz="1100" b="0" lang="en-GB">
                <a:solidFill>
                  <a:schemeClr val="tx1"/>
                </a:solidFill>
              </a:rPr>
              <a:t>Retail Trade, Australia, April 2019, cat. no. 8501.0, Table 11. CC BY 4.0.</a:t>
            </a:r>
          </a:p>
          <a:p>
            <a:pPr algn="l">
              <a:spcAft>
                <a:spcPts val="500"/>
              </a:spcAft>
            </a:pPr>
            <a:r>
              <a:rPr sz="1100" b="1" lang="en-GB">
                <a:solidFill>
                  <a:schemeClr val="tx2"/>
                </a:solidFill>
              </a:rPr>
              <a:t>Seabold, S. &amp; Perktold, J. (2010). </a:t>
            </a:r>
            <a:r>
              <a:rPr sz="1100" b="0" lang="en-GB">
                <a:solidFill>
                  <a:schemeClr val="tx1"/>
                </a:solidFill>
              </a:rPr>
              <a:t>statsmodels: Econometric and statistical modeling with Python. Proceedings of the 9th Python in Science Conference.</a:t>
            </a:r>
          </a:p>
        </p:txBody>
      </p:sp>
      <p:sp>
        <p:nvSpPr>
          <p:cNvPr id="20" name="Ref links"/>
          <p:cNvSpPr txBox="1"/>
          <p:nvPr/>
        </p:nvSpPr>
        <p:spPr>
          <a:xfrm>
            <a:off x="457200" y="4636008"/>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Free textbook: </a:t>
            </a:r>
            <a:r>
              <a:rPr sz="1200" b="0" lang="en-GB">
                <a:solidFill>
                  <a:schemeClr val="tx2"/>
                </a:solidFill>
                <a:latin typeface="Consolas"/>
              </a:rPr>
              <a:t>otexts.com/fpp3</a:t>
            </a:r>
            <a:r>
              <a:rPr sz="1200" b="0" lang="en-GB">
                <a:solidFill>
                  <a:schemeClr val="tx1"/>
                </a:solidFill>
              </a:rPr>
              <a:t>  ·  Python edition: </a:t>
            </a:r>
            <a:r>
              <a:rPr sz="1200" b="0" lang="en-GB">
                <a:solidFill>
                  <a:schemeClr val="tx2"/>
                </a:solidFill>
                <a:latin typeface="Consolas"/>
              </a:rPr>
              <a:t>otexts.com/fpppy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
        <p:nvSpPr>
          <p:cNvPr id="11" name="Closing title"/>
          <p:cNvSpPr>
            <a:spLocks noGrp="1"/>
          </p:cNvSpPr>
          <p:nvPr>
            <p:ph type="title" idx="4294967295"/>
          </p:nvPr>
        </p:nvSpPr>
        <p:spPr>
          <a:xfrm>
            <a:off x="462407" y="301626"/>
            <a:ext cx="6990906" cy="496799"/>
          </a:xfrm>
        </p:spPr>
        <p:txBody>
          <a:bodyPr/>
          <a:lstStyle/>
          <a:p>
            <a:r>
              <a:rPr lang="en-GB">
                <a:solidFill>
                  <a:schemeClr val="tx2"/>
                </a:solidFill>
              </a:rPr>
              <a:t>Thank you. Questions and discussion</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