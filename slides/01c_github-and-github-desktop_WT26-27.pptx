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31"/>
  </p:notesMasterIdLst>
  <p:handoutMasterIdLst>
    <p:handoutMasterId r:id="rId32"/>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12"/>
    <p:sldId id="275" r:id="rId11"/>
    <p:sldId id="276" r:id="rId10"/>
    <p:sldId id="277" r:id="rId9"/>
    <p:sldId id="278" r:id="rId8"/>
    <p:sldId id="279" r:id="rId7"/>
    <p:sldId id="280" r:id="rId6"/>
    <p:sldId id="281" r:id="rId5"/>
    <p:sldId id="282" r:id="rId39"/>
    <p:sldId id="283" r:id="rId40"/>
    <p:sldId id="284" r:id="rId41"/>
    <p:sldId id="285" r:id="rId42"/>
    <p:sldId id="286" r:id="rId43"/>
    <p:sldId id="287" r:id="rId44"/>
    <p:sldId id="288" r:id="rId45"/>
    <p:sldId id="289" r:id="rId46"/>
    <p:sldId id="290" r:id="rId47"/>
    <p:sldId id="291" r:id="rId48"/>
  </p:sldIdLst>
  <p:sldSz cx="9144000" cy="5715000" type="screen16x10"/>
  <p:notesSz cx="6858000" cy="9144000"/>
  <p:custDataLst>
    <p:tags r:id="rId3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3783" autoAdjust="0"/>
  </p:normalViewPr>
  <p:slideViewPr>
    <p:cSldViewPr snapToGrid="0" showGuides="1">
      <p:cViewPr varScale="1">
        <p:scale>
          <a:sx n="164" d="100"/>
          <a:sy n="164" d="100"/>
        </p:scale>
        <p:origin x="758" y="75"/>
      </p:cViewPr>
      <p:guideLst>
        <p:guide orient="horz" pos="1800"/>
        <p:guide pos="4241"/>
        <p:guide pos="4695"/>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94" d="100"/>
          <a:sy n="94" d="100"/>
        </p:scale>
        <p:origin x="274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6.xml"/><Relationship Id="rId6" Type="http://schemas.openxmlformats.org/officeDocument/2006/relationships/slide" Target="slides/slide25.xml"/><Relationship Id="rId7" Type="http://schemas.openxmlformats.org/officeDocument/2006/relationships/slide" Target="slides/slide24.xml"/><Relationship Id="rId8" Type="http://schemas.openxmlformats.org/officeDocument/2006/relationships/slide" Target="slides/slide23.xml"/><Relationship Id="rId9" Type="http://schemas.openxmlformats.org/officeDocument/2006/relationships/slide" Target="slides/slide22.xml"/><Relationship Id="rId10" Type="http://schemas.openxmlformats.org/officeDocument/2006/relationships/slide" Target="slides/slide21.xml"/><Relationship Id="rId11" Type="http://schemas.openxmlformats.org/officeDocument/2006/relationships/slide" Target="slides/slide20.xml"/><Relationship Id="rId12" Type="http://schemas.openxmlformats.org/officeDocument/2006/relationships/slide" Target="slides/slide19.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tags" Target="tags/tag1.xml"/><Relationship Id="rId34" Type="http://schemas.openxmlformats.org/officeDocument/2006/relationships/commentAuthors" Target="commentAuthor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sz="1000" dirty="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68817FD-8155-4502-AF78-DBC2EA4B168F}" type="datetimeFigureOut">
              <a:rPr lang="en-GB" sz="1000" smtClean="0">
                <a:latin typeface="Verdana" pitchFamily="34" charset="0"/>
                <a:ea typeface="Verdana" pitchFamily="34" charset="0"/>
                <a:cs typeface="Verdana" pitchFamily="34" charset="0"/>
              </a:rPr>
              <a:t>25/08/2023</a:t>
            </a:fld>
            <a:endParaRPr lang="en-GB" sz="1000" dirty="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sz="1000" dirty="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7F6F62-1C91-45E7-BAED-FBFBF67C82BC}" type="slidenum">
              <a:rPr lang="en-GB" sz="1000" smtClean="0">
                <a:latin typeface="Verdana" pitchFamily="34" charset="0"/>
                <a:ea typeface="Verdana" pitchFamily="34" charset="0"/>
                <a:cs typeface="Verdana" pitchFamily="34" charset="0"/>
              </a:rPr>
              <a:t>‹Nr.›</a:t>
            </a:fld>
            <a:endParaRPr lang="en-GB" sz="1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Verdana" pitchFamily="34" charset="0"/>
                <a:ea typeface="Verdana" pitchFamily="34" charset="0"/>
                <a:cs typeface="Verdana" pitchFamily="34" charset="0"/>
              </a:defRPr>
            </a:lvl1pPr>
          </a:lstStyle>
          <a:p>
            <a:endParaRPr lang="en-GB"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en-GB" smtClean="0"/>
              <a:pPr/>
              <a:t>25/08/2023</a:t>
            </a:fld>
            <a:endParaRPr lang="en-GB" dirty="0"/>
          </a:p>
        </p:txBody>
      </p:sp>
      <p:sp>
        <p:nvSpPr>
          <p:cNvPr id="4" name="Folienbildplatzhalt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Verdana" pitchFamily="34" charset="0"/>
                <a:ea typeface="Verdana" pitchFamily="34" charset="0"/>
                <a:cs typeface="Verdana" pitchFamily="34" charset="0"/>
              </a:defRPr>
            </a:lvl1pPr>
          </a:lstStyle>
          <a:p>
            <a:endParaRPr lang="en-GB"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en-GB" smtClean="0"/>
              <a:pPr/>
              <a:t>‹Nr.›</a:t>
            </a:fld>
            <a:endParaRPr lang="en-GB"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step-by-step guide to everything students do with GitHub in this course, all with clicks in GitHub Desktop, no command line. Sources: GitHub Docs (docs.github.com) and the GitHub Education pages, checked October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parts. The account and the GitHub Education application come first, because the approval can take a few days. Everything after that happens in GitHub Desktop.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 is the version-control program: it records snapshots (commits) of a folder. GitHub is the website that stores a copy of that folder online, the remote repository. GitHub Desktop is a free app that runs Git for you with buttons; it installs its own Git, so nothing else is needed.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personal account per person, for life. Keep it after your studies: it becomes part of your CV.</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GitHub's terms allow one personal account per person. Use your WU address, or add it later as a second address: GitHub Education needs it verified on the account. The free plan has unlimited public and private repositories and unlimited collaborators.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requires 2FA for accounts that contribute code; once your account is selected you have 45 days to set it up. GitHub recommends an authenticator (TOTP) app as the main method and GitHub Mobile or a passkey as backup. Recovery codes are the only way back in if the phone is lost: store them in a password manager.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commit carries an e-mail address; in a public repository anyone can read it. GitHub offers a noreply address of the form ID+USERNAME@users.noreply.github.com. Turn on Keep my email addresses private, then pick the noreply address as commit e-mail in GitHub Desktop (Part 3). Commits still count as yours.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Free student benefits, including GitHub Copilot. Apply early: the review can take several days.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Official GitHub Docs (October 2026): verified students get free access to GitHub Copilot and its premium features, free GitHub Codespaces up to 180 core hours a month, and the partner offers of the Student Developer Pack. Benefits are re-checked; when your studies end, they end. Copilot plan details change often: check github.com/settings/copilot.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GitHub Docs: enrolled in a degree- or diploma-granting programme, a personal GitHub account, at least 13 years old, and documents that prove current student status. If recent applicants from WU verified with their academic e-mail, GitHub asks you for yours too, so add and verify the WU address first.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application lives in your GitHub settings under Education benefits. Use a clear, well-lit photo of the document; blurry images and documents without a current date are the most common reasons for rejection. The decision arrives by e-mail; the status is also shown on the same settings page.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GitHub Docs, Troubleshooting access. An academic e-mail can only be used for one account's Student Pack; a second account is against GitHub's terms, so merge accounts instead. After a rejection you can reapply straight away with better proof.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Desktop is free and brings its own Git. Supported: Windows 10 64-bit or later, macOS 12 or later; no Linux.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Download from desktop.github.com. On Windows it installs per user, no admin rights needed, and starts by itself. On macOS the download is a zip file containing the app; move it to Applications so updates work. GitHub Desktop updates itself; check under Help → About GitHub Desktop (Windows) or GitHub Desktop → About (macOS).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Sign-in always runs in the browser, including 2FA. If the browser does not return you to the app, click the link on the browser page again. Errors such as Bad credentials: sign out and in again (same pane).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Desktop writes these into your global Git configuration. Choose the noreply address from Part 1 so your real address never appears in a public commit. If the address does not belong to your account, GitHub Desktop warns you before committing and the commits will not show on your profile.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Cloning downloads a repository with its full history and keeps the link to GitHub, so updates arrive with one click.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Way A starts on the website: the Code button offers Open with GitHub Desktop. Way B starts in the app: the GitHub.com tab lists your own repositories; for any other public repository paste its URL in the URL tab. The course repository is public, so no invitation is needed.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Cloud-synced folders (OneDrive, iCloud Drive, Dropbox) and Windows folder redirection break Git: two programs then fight over the same files. Spaces and umlauts in paths cause trouble in Python and Quarto.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Positron treats the opened folder as the project: the Files pane, the terminal and the Python environment all start there. GitHub Desktop and Positron work side by side on the same folder: edit in Positron, commit and push in GitHub Desktop.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 before you start, commit when a step works, push when you stop. Show it live with a small change.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sync button in the repository bar changes its label: Fetch origin (nothing known yet), Pull origin with a down arrow and a number (new commits on GitHub), Push origin with an up arrow (your commits not yet on GitHub). In the course repository you only ever pull.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changed a file in the course repository that the update also changes, Git refuses to overwrite your work. Easiest fix for students: right-click the file in the Changes tab, Discard changes, then pull. That is why everyone copies files into their own folder before editing.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Changes tab lists every changed file: green plus added, yellow dot modified, red minus deleted. Only ticked files go into the commit. With Copilot access, the Copilot button under the summary drafts a commit message from the changes; check it before you commit.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Push only works where you have write access: your own repositories and those you were invited to. If you try to push to the course repository, GitHub Desktop offers to create a fork; decline. Pushes with a file over 100 MiB are rejected; GitHub warns from 50 MiB.</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Discarded changes go to the Trash or Recycle Bin and can be restored from there until it is emptied. Undo works for the last commit if it is not pushed yet. Revert creates a new commit that reverses an old one and is safe after pushing. A merge conflict only happens when two people change the same lines.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pushed, a file stays in the history even after you delete it, and in a public repository anyone may have copied it. The .gitignore file lists what Git should not track. GitHub Desktop: right-click a file in Changes → Ignore file, or Repository → Repository settings → Ignored files. New repositories: choose the Python template under Git ignore, which already excludes .venv.</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Private is the safe default. Public is for work you are happy for the whole world, and future employers, to see.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are free and unlimited on GitHub Free, with unlimited collaborators. In a private repository only you and the people you invite see anything. A public repository can be read, cloned and forked by anyone on the internet, but only invited collaborators can push.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repository creates the folder, a README and a .gitignore on your laptop. Publish repository uploads it; Keep this code private is ticked by default: leave it ticked. For an existing folder: File → Add local repository; GitHub Desktop offers to create a repository there, then publish it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Inviting happens on github.com, not in GitHub Desktop. Collaborators on a personal repository can read and push. The invitation arrives by e-mail and in github.com notifications; it expires after seven days. Then every member clones the repository (Part 4) and uses pull, commit, push.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the owner (admin) can change visibility, on github.com under Settings → General → Danger Zone. From private to public: the code becomes visible to everyone and anyone can fork it, including the full commit history, so check the history for secrets and personal data first. From public to private: stars and watchers are erased and existing public forks stay public.</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problems are solved by signing out and in again, or by pulling before pushing. Log files: Help → Show Logs in Explorer (Windows) or Show Logs in Finder (macOS).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tick these off in class. Everything except the GitHub Education approval should be done today.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links lead to GitHub's own documentation, which is updated when the apps change.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Contact details on the card; office hours via the booking link.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 Id="rId22" Type="http://schemas.openxmlformats.org/officeDocument/2006/relationships/hyperlink" Target="https://www.wu.ac.at/en/welthandel/arne-floh/"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287338" y="603319"/>
            <a:ext cx="8552850" cy="1731679"/>
            <a:chOff x="287338" y="603319"/>
            <a:chExt cx="8552850" cy="2037600"/>
          </a:xfrm>
        </p:grpSpPr>
        <p:sp>
          <p:nvSpPr>
            <p:cNvPr id="26" name="Rechteck 25"/>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7" name="Rechteck 2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8" y="1294973"/>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6"/>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9" name="Grafik 18">
            <a:extLst>
              <a:ext uri="{FF2B5EF4-FFF2-40B4-BE49-F238E27FC236}">
                <a16:creationId xmlns:a16="http://schemas.microsoft.com/office/drawing/2014/main" id="{BE16B78E-14FB-4C1E-8625-0D5A429E49F4}"/>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B62297-FBCA-40E7-A876-7818F7A81C7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en-GB" dirty="0" err="1"/>
              <a:t>Textmasterformat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0"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1" name="Grafik 20">
            <a:extLst>
              <a:ext uri="{FF2B5EF4-FFF2-40B4-BE49-F238E27FC236}">
                <a16:creationId xmlns:a16="http://schemas.microsoft.com/office/drawing/2014/main" id="{BA9844F5-FA66-4582-86D9-5CEB57D8151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B702B7F6-CDD2-4C6E-BBC1-61A114A8A82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4"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1" name="Grafik 20">
            <a:extLst>
              <a:ext uri="{FF2B5EF4-FFF2-40B4-BE49-F238E27FC236}">
                <a16:creationId xmlns:a16="http://schemas.microsoft.com/office/drawing/2014/main" id="{A463F4F5-A20D-4A70-B3F9-6AD8A3EE255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AB68F06-4800-4D63-9DF2-372B23A8EC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2" name="Rechteck 11"/>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3" name="Rechteck 12"/>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2" name="Grafik 21">
            <a:extLst>
              <a:ext uri="{FF2B5EF4-FFF2-40B4-BE49-F238E27FC236}">
                <a16:creationId xmlns:a16="http://schemas.microsoft.com/office/drawing/2014/main" id="{330D039B-1A60-42B3-A3E1-B44D86C63C0C}"/>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5D9B1B1-5069-4351-A01A-8CD09728414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4" name="Grafik 23">
            <a:extLst>
              <a:ext uri="{FF2B5EF4-FFF2-40B4-BE49-F238E27FC236}">
                <a16:creationId xmlns:a16="http://schemas.microsoft.com/office/drawing/2014/main" id="{ABF9D4AB-1FA6-4101-9EE8-B852A65B2A1E}"/>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4" name="Grafik 13">
            <a:extLst>
              <a:ext uri="{FF2B5EF4-FFF2-40B4-BE49-F238E27FC236}">
                <a16:creationId xmlns:a16="http://schemas.microsoft.com/office/drawing/2014/main" id="{DDF8959B-5028-481F-A01F-8628D9F2E0D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9" name="Rechteck 18"/>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1" name="Rechteck 20"/>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3" name="Grafik 22">
            <a:extLst>
              <a:ext uri="{FF2B5EF4-FFF2-40B4-BE49-F238E27FC236}">
                <a16:creationId xmlns:a16="http://schemas.microsoft.com/office/drawing/2014/main" id="{904218C8-068C-46BC-ADE6-6BC8A468BF77}"/>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D487AD36-3E46-4F41-8B5C-B79909802DD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7" name="Grafik 16">
            <a:extLst>
              <a:ext uri="{FF2B5EF4-FFF2-40B4-BE49-F238E27FC236}">
                <a16:creationId xmlns:a16="http://schemas.microsoft.com/office/drawing/2014/main" id="{63D0D44A-5625-4C70-A2EB-08D982355B99}"/>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3" name="Grafik 12">
            <a:extLst>
              <a:ext uri="{FF2B5EF4-FFF2-40B4-BE49-F238E27FC236}">
                <a16:creationId xmlns:a16="http://schemas.microsoft.com/office/drawing/2014/main" id="{D91D1A92-B997-47B5-A14A-E2A501C20D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Max. 2 lines of text for chapter header</a:t>
            </a:r>
          </a:p>
        </p:txBody>
      </p:sp>
      <p:sp>
        <p:nvSpPr>
          <p:cNvPr id="2" name="Datumsplatzhalter 1"/>
          <p:cNvSpPr>
            <a:spLocks noGrp="1"/>
          </p:cNvSpPr>
          <p:nvPr>
            <p:ph type="dt" sz="half" idx="13"/>
          </p:nvPr>
        </p:nvSpPr>
        <p:spPr/>
        <p:txBody>
          <a:bodyPr/>
          <a:lstStyle/>
          <a:p>
            <a:fld id="{529FDC53-5973-45F2-8F83-ED68F7A58508}" type="datetime1">
              <a:rPr lang="en-GB" smtClean="0"/>
              <a:t>25/08/2023</a:t>
            </a:fld>
            <a:endParaRPr lang="en-GB" dirty="0"/>
          </a:p>
        </p:txBody>
      </p:sp>
      <p:sp>
        <p:nvSpPr>
          <p:cNvPr id="3" name="Fußzeilenplatzhalter 2"/>
          <p:cNvSpPr>
            <a:spLocks noGrp="1"/>
          </p:cNvSpPr>
          <p:nvPr>
            <p:ph type="ftr" sz="quarter" idx="14"/>
          </p:nvPr>
        </p:nvSpPr>
        <p:spPr/>
        <p:txBody>
          <a:bodyPr/>
          <a:lstStyle/>
          <a:p>
            <a:r>
              <a:rPr lang="en-GB" dirty="0"/>
              <a:t>Sample Footer</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pic>
        <p:nvPicPr>
          <p:cNvPr id="18" name="Grafik 17">
            <a:extLst>
              <a:ext uri="{FF2B5EF4-FFF2-40B4-BE49-F238E27FC236}">
                <a16:creationId xmlns:a16="http://schemas.microsoft.com/office/drawing/2014/main" id="{89CCD104-DEA0-4048-8CA3-CAB740FC066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2F980AF-DDD0-4966-B1E7-E1B87083C7C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1 line for chapter header</a:t>
            </a:r>
          </a:p>
        </p:txBody>
      </p:sp>
      <p:sp>
        <p:nvSpPr>
          <p:cNvPr id="14" name="Textplatzhalter 9"/>
          <p:cNvSpPr>
            <a:spLocks noGrp="1"/>
          </p:cNvSpPr>
          <p:nvPr>
            <p:ph type="body" sz="quarter" idx="11" hasCustomPrompt="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4" name="Date Placeholder 3"/>
          <p:cNvSpPr>
            <a:spLocks noGrp="1"/>
          </p:cNvSpPr>
          <p:nvPr>
            <p:ph type="dt" sz="half" idx="12"/>
          </p:nvPr>
        </p:nvSpPr>
        <p:spPr/>
        <p:txBody>
          <a:bodyPr/>
          <a:lstStyle/>
          <a:p>
            <a:fld id="{24570F99-0B5D-40DA-A3D3-DDF1CB693FD8}" type="datetime1">
              <a:rPr lang="en-GB" smtClean="0"/>
              <a:t>25/08/2023</a:t>
            </a:fld>
            <a:endParaRPr lang="en-GB" dirty="0"/>
          </a:p>
        </p:txBody>
      </p:sp>
      <p:sp>
        <p:nvSpPr>
          <p:cNvPr id="5" name="Footer Placeholder 4"/>
          <p:cNvSpPr>
            <a:spLocks noGrp="1"/>
          </p:cNvSpPr>
          <p:nvPr>
            <p:ph type="ftr" sz="quarter" idx="13"/>
          </p:nvPr>
        </p:nvSpPr>
        <p:spPr/>
        <p:txBody>
          <a:bodyPr/>
          <a:lstStyle/>
          <a:p>
            <a:r>
              <a:rPr lang="en-GB" dirty="0"/>
              <a:t>Sample Footer</a:t>
            </a:r>
          </a:p>
        </p:txBody>
      </p:sp>
      <p:sp>
        <p:nvSpPr>
          <p:cNvPr id="6" name="Slide Number Placeholder 5"/>
          <p:cNvSpPr>
            <a:spLocks noGrp="1"/>
          </p:cNvSpPr>
          <p:nvPr>
            <p:ph type="sldNum" sz="quarter" idx="14"/>
          </p:nvPr>
        </p:nvSpPr>
        <p:spPr/>
        <p:txBody>
          <a:bodyPr/>
          <a:lstStyle/>
          <a:p>
            <a:r>
              <a:rPr lang="en-GB" dirty="0"/>
              <a:t>Page </a:t>
            </a:r>
            <a:fld id="{BE3DC40E-DBBE-4E2D-9EEC-FBF0DA0E9179}" type="slidenum">
              <a:rPr lang="en-GB" smtClean="0"/>
              <a:pPr/>
              <a:t>‹Nr.›</a:t>
            </a:fld>
            <a:endParaRPr lang="en-GB" dirty="0"/>
          </a:p>
        </p:txBody>
      </p:sp>
      <p:pic>
        <p:nvPicPr>
          <p:cNvPr id="21" name="Grafik 20">
            <a:extLst>
              <a:ext uri="{FF2B5EF4-FFF2-40B4-BE49-F238E27FC236}">
                <a16:creationId xmlns:a16="http://schemas.microsoft.com/office/drawing/2014/main" id="{416AA66B-0354-461B-A799-CF3EFFC17D87}"/>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D0ECE620-FB2B-4217-AA10-439373F15D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en-GB" dirty="0"/>
              <a:t>Placeholder for objects</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 name="Titel 1"/>
          <p:cNvSpPr>
            <a:spLocks noGrp="1"/>
          </p:cNvSpPr>
          <p:nvPr>
            <p:ph type="title"/>
          </p:nvPr>
        </p:nvSpPr>
        <p:spPr/>
        <p:txBody>
          <a:bodyPr/>
          <a:lstStyle/>
          <a:p>
            <a:r>
              <a:rPr lang="de-DE"/>
              <a:t>Mastertitelformat bearbeiten</a:t>
            </a:r>
            <a:endParaRPr lang="en-GB" dirty="0"/>
          </a:p>
        </p:txBody>
      </p:sp>
      <p:pic>
        <p:nvPicPr>
          <p:cNvPr id="9" name="Grafik 8">
            <a:extLst>
              <a:ext uri="{FF2B5EF4-FFF2-40B4-BE49-F238E27FC236}">
                <a16:creationId xmlns:a16="http://schemas.microsoft.com/office/drawing/2014/main" id="{293310F7-117D-4045-8610-3277CC5ED29B}"/>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1</a:t>
            </a:r>
          </a:p>
        </p:txBody>
      </p:sp>
      <p:sp>
        <p:nvSpPr>
          <p:cNvPr id="5" name="Datumsplatzhalter 4"/>
          <p:cNvSpPr>
            <a:spLocks noGrp="1"/>
          </p:cNvSpPr>
          <p:nvPr>
            <p:ph type="dt" sz="half" idx="14"/>
          </p:nvPr>
        </p:nvSpPr>
        <p:spPr/>
        <p:txBody>
          <a:bodyPr/>
          <a:lstStyle/>
          <a:p>
            <a:fld id="{9E16A0E8-29DE-4D75-BF66-2C047D439D41}" type="datetime1">
              <a:rPr lang="en-GB" smtClean="0"/>
              <a:t>25/08/2023</a:t>
            </a:fld>
            <a:endParaRPr lang="en-GB" dirty="0"/>
          </a:p>
        </p:txBody>
      </p:sp>
      <p:sp>
        <p:nvSpPr>
          <p:cNvPr id="11" name="Fußzeilenplatzhalter 10"/>
          <p:cNvSpPr>
            <a:spLocks noGrp="1"/>
          </p:cNvSpPr>
          <p:nvPr>
            <p:ph type="ftr" sz="quarter" idx="15"/>
          </p:nvPr>
        </p:nvSpPr>
        <p:spPr/>
        <p:txBody>
          <a:bodyPr/>
          <a:lstStyle/>
          <a:p>
            <a:r>
              <a:rPr lang="en-GB" dirty="0"/>
              <a:t>Sample Footer</a:t>
            </a:r>
          </a:p>
        </p:txBody>
      </p:sp>
      <p:sp>
        <p:nvSpPr>
          <p:cNvPr id="12" name="Foliennummernplatzhalter 11"/>
          <p:cNvSpPr>
            <a:spLocks noGrp="1"/>
          </p:cNvSpPr>
          <p:nvPr>
            <p:ph type="sldNum" sz="quarter" idx="16"/>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2</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en-GB" sz="1000" b="0" i="0" u="none" strike="noStrike" kern="1200" cap="none" spc="0" normalizeH="0" baseline="0" noProof="0" dirty="0" err="1">
                <a:ln>
                  <a:noFill/>
                </a:ln>
                <a:solidFill>
                  <a:srgbClr val="000000"/>
                </a:solidFill>
                <a:effectLst/>
                <a:uLnTx/>
                <a:uFillTx/>
                <a:latin typeface="+mn-lt"/>
                <a:ea typeface="+mn-ea"/>
                <a:cs typeface="+mn-cs"/>
              </a:rPr>
              <a:t>Hier</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Adressdaten</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eingeben</a:t>
            </a:r>
            <a:endParaRPr kumimoji="0" lang="en-GB" sz="10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folie Kontak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Kontaktdaten"/>
          <p:cNvSpPr>
            <a:spLocks noGrp="1"/>
          </p:cNvSpPr>
          <p:nvPr userDrawn="1"/>
        </p:nvSpPr>
        <p:spPr bwMode="white">
          <a:xfrm>
            <a:off x="287338" y="2941638"/>
            <a:ext cx="4284662" cy="1400000"/>
          </a:xfrm>
          <a:prstGeom prst="rect">
            <a:avLst/>
          </a:prstGeom>
          <a:solidFill>
            <a:srgbClr val="FFFFFF">
              <a:alpha val="90000"/>
            </a:srgbClr>
          </a:solidFill>
          <a:ln>
            <a:noFill/>
          </a:ln>
        </p:spPr>
        <p:txBody>
          <a:bodyPr wrap="square" lIns="324000" tIns="216000" rIns="324000" bIns="216000" rtlCol="0" anchor="t" anchorCtr="0">
            <a:spAutoFit/>
          </a:bodyPr>
          <a:lstStyle>
            <a:lvl1pPr marL="0" indent="0">
              <a:buNone/>
              <a:defRPr lang="de-DE" sz="1200" baseline="0" dirty="0" smtClean="0"/>
            </a:lvl1pPr>
          </a:lstStyle>
          <a:p>
            <a:pPr marL="0" indent="0">
              <a:buNone/>
            </a:pPr>
            <a:r>
              <a:rPr lang="en-GB" sz="1100" dirty="0">
                <a:solidFill>
                  <a:srgbClr val="000000"/>
                </a:solidFill>
                <a:latin typeface="+mn-lt"/>
              </a:rPr>
              <a:t>Dr Arne Floh, Senior Lecturer in Marketing</a:t>
            </a:r>
          </a:p>
          <a:p>
            <a:pPr marL="0" indent="0">
              <a:buNone/>
            </a:pPr>
            <a:r>
              <a:rPr lang="en-GB" sz="1100" dirty="0">
                <a:solidFill>
                  <a:srgbClr val="000000"/>
                </a:solidFill>
                <a:latin typeface="+mn-lt"/>
              </a:rPr>
              <a:t>WU Vienna, Institute for International Business</a:t>
            </a:r>
          </a:p>
          <a:p>
            <a:pPr marL="0" indent="0">
              <a:buNone/>
            </a:pPr>
            <a:endParaRPr lang="en-GB" sz="1200"/>
          </a:p>
          <a:p>
            <a:pPr marL="0" indent="0">
              <a:buNone/>
            </a:pPr>
            <a:r>
              <a:rPr lang="en-GB" sz="1100" dirty="0">
                <a:solidFill>
                  <a:srgbClr val="000000"/>
                </a:solidFill>
                <a:latin typeface="+mn-lt"/>
                <a:hlinkClick r:id="rId20"/>
              </a:rPr>
              <a:t>arne.floh@wu.ac.at</a:t>
            </a:r>
          </a:p>
          <a:p>
            <a:pPr marL="0" indent="0">
              <a:buNone/>
            </a:pPr>
            <a:r>
              <a:rPr lang="en-GB" sz="1100" dirty="0">
                <a:solidFill>
                  <a:srgbClr val="000000"/>
                </a:solidFill>
                <a:latin typeface="+mn-lt"/>
                <a:hlinkClick r:id="rId21"/>
              </a:rPr>
              <a:t>Office hours: book online (Google Calendar)</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und Bild mit Logo">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Bildplatzhalter 3"/>
          <p:cNvSpPr>
            <a:spLocks noGrp="1"/>
          </p:cNvSpPr>
          <p:nvPr>
            <p:ph type="pic" sz="half" idx="2" hasCustomPrompt="1"/>
          </p:nvPr>
        </p:nvSpPr>
        <p:spPr>
          <a:xfrm>
            <a:off x="4715688" y="1344613"/>
            <a:ext cx="3960000" cy="3859212"/>
          </a:xfrm>
        </p:spPr>
        <p:txBody>
          <a:bodyPr anchor="ctr"/>
          <a:lstStyle>
            <a:lvl1pPr marL="0" indent="0" algn="ctr">
              <a:buNone/>
              <a:defRPr sz="1200"/>
            </a:lvl1pPr>
          </a:lstStyle>
          <a:p>
            <a:r>
              <a:rPr lang="en-GB" dirty="0"/>
              <a:t>Click icon to add picture</a:t>
            </a:r>
          </a:p>
        </p:txBody>
      </p:sp>
      <p:sp>
        <p:nvSpPr>
          <p:cNvPr id="20" name="Logoplatzhalter 19"/>
          <p:cNvSpPr>
            <a:spLocks noGrp="1"/>
          </p:cNvSpPr>
          <p:nvPr>
            <p:ph type="pic" sz="quarter" idx="13" hasCustomPrompt="1"/>
          </p:nvPr>
        </p:nvSpPr>
        <p:spPr>
          <a:xfrm>
            <a:off x="7715688" y="4243825"/>
            <a:ext cx="860000" cy="860000"/>
          </a:xfrm>
        </p:spPr>
        <p:txBody>
          <a:bodyPr anchor="ctr"/>
          <a:lstStyle>
            <a:lvl1pPr marL="0" indent="0" algn="ctr">
              <a:buNone/>
              <a:defRPr sz="1200"/>
            </a:lvl1pPr>
          </a:lstStyle>
          <a:p>
            <a:r>
              <a:rPr lang="en-GB" dirty="0"/>
              <a:t>Logo</a:t>
            </a:r>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Inhaltsplatzhalter 2"/>
          <p:cNvSpPr>
            <a:spLocks noGrp="1"/>
          </p:cNvSpPr>
          <p:nvPr>
            <p:ph type="tbl"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marL="0" indent="0">
              <a:buNone/>
            </a:pPr>
            <a:r>
              <a:rPr lang="en-GB" dirty="0"/>
              <a:t>Click icon to add table</a:t>
            </a:r>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lussfolie Kontakt">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Kontaktdaten"/>
          <p:cNvSpPr>
            <a:spLocks noGrp="1"/>
          </p:cNvSpPr>
          <p:nvPr userDrawn="1"/>
        </p:nvSpPr>
        <p:spPr>
          <a:xfrm>
            <a:off x="1684020" y="2559843"/>
            <a:ext cx="2763926" cy="1811291"/>
          </a:xfrm>
          <a:prstGeom prst="rect">
            <a:avLst/>
          </a:prstGeo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indent="0">
              <a:buNone/>
            </a:pPr>
            <a:r>
              <a:rPr lang="en-GB" sz="1000" b="1" dirty="0">
                <a:solidFill>
                  <a:srgbClr val="000000"/>
                </a:solidFill>
                <a:latin typeface="+mn-lt"/>
              </a:rPr>
              <a:t>INSTITUTE FOR INTERNATIONAL BUSINESS</a:t>
            </a:r>
          </a:p>
          <a:p>
            <a:pPr marL="0" indent="0">
              <a:buNone/>
            </a:pPr>
            <a:r>
              <a:rPr lang="en-GB" sz="1000" dirty="0">
                <a:solidFill>
                  <a:srgbClr val="000000"/>
                </a:solidFill>
                <a:latin typeface="+mn-lt"/>
              </a:rPr>
              <a:t>Welthandelsplatz 1, 1020 Vienna, Austria</a:t>
            </a:r>
          </a:p>
          <a:p>
            <a:pPr marL="0" indent="0">
              <a:buNone/>
            </a:pPr>
            <a:endParaRPr lang="en-GB" sz="1000" dirty="0"/>
          </a:p>
          <a:p>
            <a:pPr marL="0" indent="0">
              <a:buNone/>
            </a:pPr>
            <a:r>
              <a:rPr lang="en-GB" sz="1000" b="1" dirty="0">
                <a:solidFill>
                  <a:srgbClr val="000000"/>
                </a:solidFill>
                <a:latin typeface="+mn-lt"/>
              </a:rPr>
              <a:t>DR ARNE FLOH</a:t>
            </a:r>
          </a:p>
          <a:p>
            <a:pPr marL="0" indent="0">
              <a:buNone/>
            </a:pPr>
            <a:r>
              <a:rPr lang="en-GB" sz="1000" dirty="0">
                <a:solidFill>
                  <a:srgbClr val="000000"/>
                </a:solidFill>
                <a:latin typeface="+mn-lt"/>
              </a:rPr>
              <a:t>Senior Lecturer in Marketing</a:t>
            </a:r>
          </a:p>
          <a:p>
            <a:pPr marL="0" indent="0">
              <a:buNone/>
            </a:pPr>
            <a:endParaRPr lang="en-GB" sz="1000" dirty="0"/>
          </a:p>
          <a:p>
            <a:pPr marL="0" indent="0">
              <a:buNone/>
            </a:pPr>
            <a:r>
              <a:rPr lang="en-GB" sz="1000" dirty="0">
                <a:solidFill>
                  <a:srgbClr val="000000"/>
                </a:solidFill>
                <a:latin typeface="+mn-lt"/>
              </a:rPr>
              <a:t>F +43-31336-6367</a:t>
            </a:r>
          </a:p>
          <a:p>
            <a:pPr marL="0" indent="0">
              <a:buNone/>
            </a:pPr>
            <a:r>
              <a:rPr lang="en-GB" sz="1000" dirty="0">
                <a:solidFill>
                  <a:srgbClr val="000000"/>
                </a:solidFill>
                <a:latin typeface="+mn-lt"/>
                <a:hlinkClick r:id="rId20"/>
              </a:rPr>
              <a:t>arne.floh@wu.ac.at</a:t>
            </a:r>
          </a:p>
          <a:p>
            <a:pPr marL="0" indent="0">
              <a:buNone/>
            </a:pPr>
            <a:r>
              <a:rPr lang="en-GB" sz="900" dirty="0">
                <a:solidFill>
                  <a:srgbClr val="000000"/>
                </a:solidFill>
                <a:latin typeface="+mn-lt"/>
                <a:hlinkClick r:id="rId22"/>
              </a:rPr>
              <a:t>www.wu.ac.at/en/welthandel/arne-floh</a:t>
            </a:r>
          </a:p>
          <a:p>
            <a:pPr marL="0" indent="0">
              <a:buNone/>
            </a:pPr>
            <a:r>
              <a:rPr lang="en-GB" sz="1000" dirty="0">
                <a:solidFill>
                  <a:srgbClr val="000000"/>
                </a:solidFill>
                <a:latin typeface="+mn-lt"/>
                <a:hlinkClick r:id="rId21"/>
              </a:rPr>
              <a:t>Office hours: book online</a:t>
            </a: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2.png"/><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en-GB" dirty="0" err="1"/>
              <a:t>Textmasterformate</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en-GB" dirty="0"/>
              <a:t>Sample Footer</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en-GB" dirty="0"/>
              <a:t>Page </a:t>
            </a:r>
            <a:fld id="{BE3DC40E-DBBE-4E2D-9EEC-FBF0DA0E9179}" type="slidenum">
              <a:rPr lang="en-GB" smtClean="0"/>
              <a:pPr/>
              <a:t>‹Nr.›</a:t>
            </a:fld>
            <a:endParaRPr lang="en-GB" dirty="0"/>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AD672231-DCCE-48E5-AF73-62895FE58BB4}" type="datetime1">
              <a:rPr lang="en-GB" smtClean="0"/>
              <a:t>25/08/2023</a:t>
            </a:fld>
            <a:endParaRPr lang="en-GB" dirty="0"/>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en-GB" dirty="0" err="1"/>
              <a:t>Titelmasterformat</a:t>
            </a:r>
            <a:r>
              <a:rPr lang="en-GB" dirty="0"/>
              <a:t> </a:t>
            </a:r>
            <a:r>
              <a:rPr lang="en-GB" dirty="0" err="1"/>
              <a:t>durch</a:t>
            </a:r>
            <a:r>
              <a:rPr lang="en-GB" dirty="0"/>
              <a:t> </a:t>
            </a:r>
            <a:br>
              <a:rPr lang="en-GB" dirty="0"/>
            </a:br>
            <a:r>
              <a:rPr lang="en-GB" dirty="0" err="1"/>
              <a:t>Klicken</a:t>
            </a:r>
            <a:r>
              <a:rPr lang="en-GB" dirty="0"/>
              <a:t> </a:t>
            </a:r>
            <a:r>
              <a:rPr lang="en-GB" dirty="0" err="1"/>
              <a:t>bearbeiten</a:t>
            </a:r>
            <a:endParaRPr lang="en-GB" dirty="0"/>
          </a:p>
        </p:txBody>
      </p:sp>
      <p:pic>
        <p:nvPicPr>
          <p:cNvPr id="13" name="Grafik 12">
            <a:extLst>
              <a:ext uri="{FF2B5EF4-FFF2-40B4-BE49-F238E27FC236}">
                <a16:creationId xmlns:a16="http://schemas.microsoft.com/office/drawing/2014/main" id="{49925201-EC66-4A08-AB14-A541648A67DE}"/>
              </a:ext>
            </a:extLst>
          </p:cNvPr>
          <p:cNvPicPr>
            <a:picLocks noChangeAspect="1"/>
          </p:cNvPicPr>
          <p:nvPr userDrawn="1"/>
        </p:nvPicPr>
        <p:blipFill>
          <a:blip r:embed="rId17"/>
          <a:stretch>
            <a:fillRect/>
          </a:stretch>
        </p:blipFill>
        <p:spPr>
          <a:xfrm>
            <a:off x="7711621" y="288569"/>
            <a:ext cx="1170000" cy="617280"/>
          </a:xfrm>
          <a:prstGeom prst="rect">
            <a:avLst/>
          </a:prstGeom>
        </p:spPr>
      </p:pic>
      <p:pic>
        <p:nvPicPr>
          <p:cNvPr id="11" name="Grafik 10">
            <a:extLst>
              <a:ext uri="{FF2B5EF4-FFF2-40B4-BE49-F238E27FC236}">
                <a16:creationId xmlns:a16="http://schemas.microsoft.com/office/drawing/2014/main" id="{0A212EC7-C80F-4EBC-9817-97C85E0A8AEB}"/>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 id="2147483692" r:id="rId19"/>
    <p:sldLayoutId id="2147483693" r:id="rId20"/>
    <p:sldLayoutId id="2147483694" r:id="rId21"/>
    <p:sldLayoutId id="2147483695" r:id="rId22"/>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3278" userDrawn="1">
          <p15:clr>
            <a:srgbClr val="F26B43"/>
          </p15:clr>
        </p15:guide>
        <p15:guide id="9" orient="horz" pos="182" userDrawn="1">
          <p15:clr>
            <a:srgbClr val="F26B43"/>
          </p15:clr>
        </p15:guide>
        <p15:guide id="10" orient="horz" pos="847" userDrawn="1">
          <p15:clr>
            <a:srgbClr val="F26B43"/>
          </p15:clr>
        </p15:guide>
        <p15:guide id="11" orient="horz" pos="3515" userDrawn="1">
          <p15:clr>
            <a:srgbClr val="F26B43"/>
          </p15:clr>
        </p15:guide>
        <p15:guide id="12" orient="horz" pos="109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github.com/signup" TargetMode="External"/><Relationship Id="rId4" Type="http://schemas.openxmlformats.org/officeDocument/2006/relationships/image" Target="../media/image9.png"/><Relationship Id="rId5"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github.com/settings/education/benefits" TargetMode="Externa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 Id="rId3"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hyperlink" Target="https://desktop.github.com" TargetMode="External"/><Relationship Id="rId5"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2.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0.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1.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4.png"/><Relationship Id="rId4" Type="http://schemas.openxmlformats.org/officeDocument/2006/relationships/image" Target="../media/image15.png"/><Relationship Id="rId5"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7.png"/><Relationship Id="rId4" Type="http://schemas.openxmlformats.org/officeDocument/2006/relationships/image" Target="../media/image16.png"/><Relationship Id="rId5" Type="http://schemas.openxmlformats.org/officeDocument/2006/relationships/image" Target="../media/image3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2.png"/><Relationship Id="rId4" Type="http://schemas.openxmlformats.org/officeDocument/2006/relationships/image" Target="../media/image39.png"/><Relationship Id="rId5" Type="http://schemas.openxmlformats.org/officeDocument/2006/relationships/image" Target="../media/image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1.png"/><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 Id="rId3"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9.xml"/><Relationship Id="rId3" Type="http://schemas.openxmlformats.org/officeDocument/2006/relationships/image" Target="../media/image4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0.png"/><Relationship Id="rId4" Type="http://schemas.openxmlformats.org/officeDocument/2006/relationships/image" Target="../media/image48.png"/><Relationship Id="rId5" Type="http://schemas.openxmlformats.org/officeDocument/2006/relationships/image" Target="../media/image4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9.png"/><Relationship Id="rId4" Type="http://schemas.openxmlformats.org/officeDocument/2006/relationships/image" Target="../media/image16.png"/><Relationship Id="rId5"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3.xml"/><Relationship Id="rId3" Type="http://schemas.openxmlformats.org/officeDocument/2006/relationships/image" Target="../media/image5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docs.github.com/en/desktop/overview/getting-started-with-github-desktop" TargetMode="External"/><Relationship Id="rId4" Type="http://schemas.openxmlformats.org/officeDocument/2006/relationships/hyperlink" Target="https://docs.github.com/en/desktop/adding-and-cloning-repositories/cloning-and-forking-repositories-from-github-desktop" TargetMode="External"/><Relationship Id="rId5" Type="http://schemas.openxmlformats.org/officeDocument/2006/relationships/hyperlink" Target="https://docs.github.com/en/desktop/making-changes-in-a-branch/committing-and-reviewing-changes-to-your-project-in-github-desktop" TargetMode="External"/><Relationship Id="rId6" Type="http://schemas.openxmlformats.org/officeDocument/2006/relationships/hyperlink" Target="https://docs.github.com/en/authentication/securing-your-account-with-two-factor-authentication-2fa" TargetMode="External"/><Relationship Id="rId7" Type="http://schemas.openxmlformats.org/officeDocument/2006/relationships/hyperlink" Target="https://docs.github.com/en/education/about-github-education/github-education-for-students/apply-to-github-education-as-a-student" TargetMode="External"/><Relationship Id="rId8" Type="http://schemas.openxmlformats.org/officeDocument/2006/relationships/hyperlink" Target="https://docs.github.com/en/repositories/managing-your-repositorys-settings-and-features/managing-repository-settings/setting-repository-visibility" TargetMode="External"/><Relationship Id="rId9" Type="http://schemas.openxmlformats.org/officeDocument/2006/relationships/hyperlink" Target="https://skills.github.com"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lang="en-GB"/>
              <a:t>International Marketing Analytics</a:t>
            </a:r>
          </a:p>
        </p:txBody>
      </p:sp>
      <p:sp>
        <p:nvSpPr>
          <p:cNvPr id="3" name="Subtitle 2"/>
          <p:cNvSpPr>
            <a:spLocks noGrp="1"/>
          </p:cNvSpPr>
          <p:nvPr>
            <p:ph type="subTitle" idx="1"/>
          </p:nvPr>
        </p:nvSpPr>
        <p:spPr/>
        <p:txBody>
          <a:bodyPr/>
          <a:lstStyle/>
          <a:p>
            <a:r>
              <a:rPr lang="en-GB"/>
              <a:t>GitHub and GitHub Desktop</a:t>
            </a:r>
          </a:p>
        </p:txBody>
      </p:sp>
      <p:sp>
        <p:nvSpPr>
          <p:cNvPr id="4" name="Text Placeholder 3"/>
          <p:cNvSpPr>
            <a:spLocks noGrp="1"/>
          </p:cNvSpPr>
          <p:nvPr>
            <p:ph type="body" idx="12" sz="quarter"/>
          </p:nvPr>
        </p:nvSpPr>
        <p:spPr/>
        <p:txBody>
          <a:bodyPr/>
          <a:lstStyle/>
          <a:p>
            <a:r>
              <a:rPr lang="en-GB"/>
              <a:t>Session 1 · WT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Today: GitHub from zero to your own repository</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lan steps step 1"/>
          <p:cNvSpPr/>
          <p:nvPr/>
        </p:nvSpPr>
        <p:spPr>
          <a:xfrm>
            <a:off x="457200" y="1234440"/>
            <a:ext cx="1463040"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100" b="1" lang="en-GB">
                <a:solidFill>
                  <a:schemeClr val="tx2"/>
                </a:solidFill>
              </a:rPr>
              <a:t>Account</a:t>
            </a:r>
          </a:p>
        </p:txBody>
      </p:sp>
      <p:sp>
        <p:nvSpPr>
          <p:cNvPr id="11" name="Plan steps step 2"/>
          <p:cNvSpPr/>
          <p:nvPr/>
        </p:nvSpPr>
        <p:spPr>
          <a:xfrm>
            <a:off x="1810512"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Education</a:t>
            </a:r>
          </a:p>
        </p:txBody>
      </p:sp>
      <p:sp>
        <p:nvSpPr>
          <p:cNvPr id="12" name="Plan steps step 3"/>
          <p:cNvSpPr/>
          <p:nvPr/>
        </p:nvSpPr>
        <p:spPr>
          <a:xfrm>
            <a:off x="3163824"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Install</a:t>
            </a:r>
          </a:p>
        </p:txBody>
      </p:sp>
      <p:sp>
        <p:nvSpPr>
          <p:cNvPr id="13" name="Plan steps step 4"/>
          <p:cNvSpPr/>
          <p:nvPr/>
        </p:nvSpPr>
        <p:spPr>
          <a:xfrm>
            <a:off x="4517136"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Clone</a:t>
            </a:r>
          </a:p>
        </p:txBody>
      </p:sp>
      <p:sp>
        <p:nvSpPr>
          <p:cNvPr id="14" name="Plan steps step 5"/>
          <p:cNvSpPr/>
          <p:nvPr/>
        </p:nvSpPr>
        <p:spPr>
          <a:xfrm>
            <a:off x="5870448"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Pull and</a:t>
            </a:r>
            <a:br/>
            <a:r>
              <a:rPr sz="1100" b="1" lang="en-GB">
                <a:solidFill>
                  <a:schemeClr val="tx2"/>
                </a:solidFill>
              </a:rPr>
              <a:t>push</a:t>
            </a:r>
          </a:p>
        </p:txBody>
      </p:sp>
      <p:sp>
        <p:nvSpPr>
          <p:cNvPr id="15" name="Plan steps step 6"/>
          <p:cNvSpPr/>
          <p:nvPr/>
        </p:nvSpPr>
        <p:spPr>
          <a:xfrm>
            <a:off x="7223760"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Private or</a:t>
            </a:r>
            <a:br/>
            <a:r>
              <a:rPr sz="1100" b="1" lang="en-GB">
                <a:solidFill>
                  <a:schemeClr val="tx2"/>
                </a:solidFill>
              </a:rPr>
              <a:t>public</a:t>
            </a:r>
          </a:p>
        </p:txBody>
      </p:sp>
      <p:sp>
        <p:nvSpPr>
          <p:cNvPr id="16" name="Plan card 1 body"/>
          <p:cNvSpPr/>
          <p:nvPr/>
        </p:nvSpPr>
        <p:spPr>
          <a:xfrm>
            <a:off x="457200" y="2377440"/>
            <a:ext cx="2651760" cy="1783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lan card 1 header"/>
          <p:cNvSpPr/>
          <p:nvPr/>
        </p:nvSpPr>
        <p:spPr>
          <a:xfrm>
            <a:off x="45720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lan card 1 heading"/>
          <p:cNvSpPr txBox="1"/>
          <p:nvPr/>
        </p:nvSpPr>
        <p:spPr>
          <a:xfrm>
            <a:off x="59436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Set up</a:t>
            </a:r>
          </a:p>
        </p:txBody>
      </p:sp>
      <p:pic>
        <p:nvPicPr>
          <p:cNvPr id="19" name="Icon Plan card 1" descr=""/>
          <p:cNvPicPr>
            <a:picLocks noChangeAspect="1"/>
          </p:cNvPicPr>
          <p:nvPr/>
        </p:nvPicPr>
        <p:blipFill>
          <a:blip r:embed="rId3"/>
          <a:stretch>
            <a:fillRect/>
          </a:stretch>
        </p:blipFill>
        <p:spPr>
          <a:xfrm>
            <a:off x="2670048" y="2016252"/>
            <a:ext cx="310896" cy="310896"/>
          </a:xfrm>
          <a:prstGeom prst="rect">
            <a:avLst/>
          </a:prstGeom>
        </p:spPr>
      </p:pic>
      <p:sp>
        <p:nvSpPr>
          <p:cNvPr id="20" name="Plan card 1 text"/>
          <p:cNvSpPr txBox="1"/>
          <p:nvPr/>
        </p:nvSpPr>
        <p:spPr>
          <a:xfrm>
            <a:off x="621792" y="2514600"/>
            <a:ext cx="2350008" cy="15087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 GitHub account with two-factor sign-in</a:t>
            </a:r>
          </a:p>
          <a:p>
            <a:pPr algn="l" marL="182880" indent="-182880">
              <a:spcAft>
                <a:spcPts val="600"/>
              </a:spcAft>
              <a:buClr>
                <a:schemeClr val="accent1"/>
              </a:buClr>
              <a:buFont typeface="Arial"/>
              <a:buChar char="▪"/>
            </a:pPr>
            <a:r>
              <a:rPr sz="1300" b="0" lang="en-GB">
                <a:solidFill>
                  <a:schemeClr val="tx1"/>
                </a:solidFill>
              </a:rPr>
              <a:t>Your e-mail kept private</a:t>
            </a:r>
          </a:p>
          <a:p>
            <a:pPr algn="l" marL="182880" indent="-182880">
              <a:spcAft>
                <a:spcPts val="600"/>
              </a:spcAft>
              <a:buClr>
                <a:schemeClr val="accent1"/>
              </a:buClr>
              <a:buFont typeface="Arial"/>
              <a:buChar char="▪"/>
            </a:pPr>
            <a:r>
              <a:rPr sz="1300" b="0" lang="en-GB">
                <a:solidFill>
                  <a:schemeClr val="tx1"/>
                </a:solidFill>
              </a:rPr>
              <a:t>GitHub Education for free student benefits</a:t>
            </a:r>
          </a:p>
        </p:txBody>
      </p:sp>
      <p:sp>
        <p:nvSpPr>
          <p:cNvPr id="21" name="Plan card 2 body"/>
          <p:cNvSpPr/>
          <p:nvPr/>
        </p:nvSpPr>
        <p:spPr>
          <a:xfrm>
            <a:off x="3246120" y="2377440"/>
            <a:ext cx="2651760" cy="1783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lan card 2 header"/>
          <p:cNvSpPr/>
          <p:nvPr/>
        </p:nvSpPr>
        <p:spPr>
          <a:xfrm>
            <a:off x="324612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lan card 2 heading"/>
          <p:cNvSpPr txBox="1"/>
          <p:nvPr/>
        </p:nvSpPr>
        <p:spPr>
          <a:xfrm>
            <a:off x="338328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Work</a:t>
            </a:r>
          </a:p>
        </p:txBody>
      </p:sp>
      <p:pic>
        <p:nvPicPr>
          <p:cNvPr id="24" name="Icon Plan card 2" descr=""/>
          <p:cNvPicPr>
            <a:picLocks noChangeAspect="1"/>
          </p:cNvPicPr>
          <p:nvPr/>
        </p:nvPicPr>
        <p:blipFill>
          <a:blip r:embed="rId4"/>
          <a:stretch>
            <a:fillRect/>
          </a:stretch>
        </p:blipFill>
        <p:spPr>
          <a:xfrm>
            <a:off x="5458968" y="2016252"/>
            <a:ext cx="310896" cy="310896"/>
          </a:xfrm>
          <a:prstGeom prst="rect">
            <a:avLst/>
          </a:prstGeom>
        </p:spPr>
      </p:pic>
      <p:sp>
        <p:nvSpPr>
          <p:cNvPr id="25" name="Plan card 2 text"/>
          <p:cNvSpPr txBox="1"/>
          <p:nvPr/>
        </p:nvSpPr>
        <p:spPr>
          <a:xfrm>
            <a:off x="3410712" y="2514600"/>
            <a:ext cx="2350008" cy="15087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GitHub Desktop installed and signed in</a:t>
            </a:r>
          </a:p>
          <a:p>
            <a:pPr algn="l" marL="182880" indent="-182880">
              <a:spcAft>
                <a:spcPts val="600"/>
              </a:spcAft>
              <a:buClr>
                <a:schemeClr val="accent1"/>
              </a:buClr>
              <a:buFont typeface="Arial"/>
              <a:buChar char="▪"/>
            </a:pPr>
            <a:r>
              <a:rPr sz="1300" b="0" lang="en-GB">
                <a:solidFill>
                  <a:schemeClr val="tx1"/>
                </a:solidFill>
              </a:rPr>
              <a:t>Clone the course repository</a:t>
            </a:r>
          </a:p>
          <a:p>
            <a:pPr algn="l" marL="182880" indent="-182880">
              <a:spcAft>
                <a:spcPts val="600"/>
              </a:spcAft>
              <a:buClr>
                <a:schemeClr val="accent1"/>
              </a:buClr>
              <a:buFont typeface="Arial"/>
              <a:buChar char="▪"/>
            </a:pPr>
            <a:r>
              <a:rPr sz="1300" b="0" lang="en-GB">
                <a:solidFill>
                  <a:schemeClr val="tx1"/>
                </a:solidFill>
              </a:rPr>
              <a:t>Fetch, pull, commit, push</a:t>
            </a:r>
          </a:p>
        </p:txBody>
      </p:sp>
      <p:sp>
        <p:nvSpPr>
          <p:cNvPr id="26" name="Plan card 3 body"/>
          <p:cNvSpPr/>
          <p:nvPr/>
        </p:nvSpPr>
        <p:spPr>
          <a:xfrm>
            <a:off x="6035040" y="2377440"/>
            <a:ext cx="2651760" cy="1783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Plan card 3 header"/>
          <p:cNvSpPr/>
          <p:nvPr/>
        </p:nvSpPr>
        <p:spPr>
          <a:xfrm>
            <a:off x="603504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Plan card 3 heading"/>
          <p:cNvSpPr txBox="1"/>
          <p:nvPr/>
        </p:nvSpPr>
        <p:spPr>
          <a:xfrm>
            <a:off x="617220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Share</a:t>
            </a:r>
          </a:p>
        </p:txBody>
      </p:sp>
      <p:pic>
        <p:nvPicPr>
          <p:cNvPr id="29" name="Icon Plan card 3" descr=""/>
          <p:cNvPicPr>
            <a:picLocks noChangeAspect="1"/>
          </p:cNvPicPr>
          <p:nvPr/>
        </p:nvPicPr>
        <p:blipFill>
          <a:blip r:embed="rId5"/>
          <a:stretch>
            <a:fillRect/>
          </a:stretch>
        </p:blipFill>
        <p:spPr>
          <a:xfrm>
            <a:off x="8247888" y="2016252"/>
            <a:ext cx="310896" cy="310896"/>
          </a:xfrm>
          <a:prstGeom prst="rect">
            <a:avLst/>
          </a:prstGeom>
        </p:spPr>
      </p:pic>
      <p:sp>
        <p:nvSpPr>
          <p:cNvPr id="30" name="Plan card 3 text"/>
          <p:cNvSpPr txBox="1"/>
          <p:nvPr/>
        </p:nvSpPr>
        <p:spPr>
          <a:xfrm>
            <a:off x="6199632" y="2514600"/>
            <a:ext cx="2350008" cy="15087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Your own repository, private by default</a:t>
            </a:r>
          </a:p>
          <a:p>
            <a:pPr algn="l" marL="182880" indent="-182880">
              <a:spcAft>
                <a:spcPts val="600"/>
              </a:spcAft>
              <a:buClr>
                <a:schemeClr val="accent1"/>
              </a:buClr>
              <a:buFont typeface="Arial"/>
              <a:buChar char="▪"/>
            </a:pPr>
            <a:r>
              <a:rPr sz="1300" b="0" lang="en-GB">
                <a:solidFill>
                  <a:schemeClr val="tx1"/>
                </a:solidFill>
              </a:rPr>
              <a:t>Invite your group members</a:t>
            </a:r>
          </a:p>
          <a:p>
            <a:pPr algn="l" marL="182880" indent="-182880">
              <a:spcAft>
                <a:spcPts val="600"/>
              </a:spcAft>
              <a:buClr>
                <a:schemeClr val="accent1"/>
              </a:buClr>
              <a:buFont typeface="Arial"/>
              <a:buChar char="▪"/>
            </a:pPr>
            <a:r>
              <a:rPr sz="1300" b="0" lang="en-GB">
                <a:solidFill>
                  <a:schemeClr val="tx1"/>
                </a:solidFill>
              </a:rPr>
              <a:t>When public makes sense, and when it does not</a:t>
            </a:r>
          </a:p>
        </p:txBody>
      </p:sp>
      <p:sp>
        <p:nvSpPr>
          <p:cNvPr id="31" name="No CLI box"/>
          <p:cNvSpPr/>
          <p:nvPr/>
        </p:nvSpPr>
        <p:spPr>
          <a:xfrm>
            <a:off x="457200" y="4343400"/>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No CLI" descr=""/>
          <p:cNvPicPr>
            <a:picLocks noChangeAspect="1"/>
          </p:cNvPicPr>
          <p:nvPr/>
        </p:nvPicPr>
        <p:blipFill>
          <a:blip r:embed="rId6"/>
          <a:stretch>
            <a:fillRect/>
          </a:stretch>
        </p:blipFill>
        <p:spPr>
          <a:xfrm>
            <a:off x="658368" y="4457700"/>
            <a:ext cx="365760" cy="365760"/>
          </a:xfrm>
          <a:prstGeom prst="rect">
            <a:avLst/>
          </a:prstGeom>
        </p:spPr>
      </p:pic>
      <p:sp>
        <p:nvSpPr>
          <p:cNvPr id="33" name="No CLI text"/>
          <p:cNvSpPr txBox="1"/>
          <p:nvPr/>
        </p:nvSpPr>
        <p:spPr>
          <a:xfrm>
            <a:off x="1207008" y="4343400"/>
            <a:ext cx="7315200" cy="594360"/>
          </a:xfrm>
          <a:prstGeom prst="rect">
            <a:avLst/>
          </a:prstGeom>
          <a:noFill/>
        </p:spPr>
        <p:txBody>
          <a:bodyPr wrap="square" lIns="0" rIns="0" tIns="0" bIns="0" anchor="ctr">
            <a:noAutofit/>
          </a:bodyPr>
          <a:lstStyle/>
          <a:p>
            <a:pPr algn="l">
              <a:spcAft>
                <a:spcPts val="400"/>
              </a:spcAft>
            </a:pPr>
            <a:r>
              <a:rPr sz="1200" b="1" lang="en-GB">
                <a:solidFill>
                  <a:schemeClr val="bg1"/>
                </a:solidFill>
              </a:rPr>
              <a:t>No command line: </a:t>
            </a:r>
            <a:r>
              <a:rPr sz="1200" b="0" lang="en-GB">
                <a:solidFill>
                  <a:schemeClr val="bg1"/>
                </a:solidFill>
              </a:rPr>
              <a:t>every step in this guide is a click in GitHub Desktop or on github.com.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Git, GitHub and GitHub Desktop</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What 1 tile"/>
          <p:cNvSpPr/>
          <p:nvPr/>
        </p:nvSpPr>
        <p:spPr>
          <a:xfrm>
            <a:off x="457200" y="1234440"/>
            <a:ext cx="265176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What 1" descr=""/>
          <p:cNvPicPr>
            <a:picLocks noChangeAspect="1"/>
          </p:cNvPicPr>
          <p:nvPr/>
        </p:nvPicPr>
        <p:blipFill>
          <a:blip r:embed="rId3"/>
          <a:stretch>
            <a:fillRect/>
          </a:stretch>
        </p:blipFill>
        <p:spPr>
          <a:xfrm>
            <a:off x="594360" y="1371600"/>
            <a:ext cx="365760" cy="365760"/>
          </a:xfrm>
          <a:prstGeom prst="rect">
            <a:avLst/>
          </a:prstGeom>
        </p:spPr>
      </p:pic>
      <p:sp>
        <p:nvSpPr>
          <p:cNvPr id="12" name="What 1 heading"/>
          <p:cNvSpPr txBox="1"/>
          <p:nvPr/>
        </p:nvSpPr>
        <p:spPr>
          <a:xfrm>
            <a:off x="105156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Git</a:t>
            </a:r>
          </a:p>
        </p:txBody>
      </p:sp>
      <p:sp>
        <p:nvSpPr>
          <p:cNvPr id="13" name="What 1 text"/>
          <p:cNvSpPr txBox="1"/>
          <p:nvPr/>
        </p:nvSpPr>
        <p:spPr>
          <a:xfrm>
            <a:off x="594360" y="1856232"/>
            <a:ext cx="2377440" cy="640080"/>
          </a:xfrm>
          <a:prstGeom prst="rect">
            <a:avLst/>
          </a:prstGeom>
          <a:noFill/>
        </p:spPr>
        <p:txBody>
          <a:bodyPr wrap="square" lIns="0" rIns="0" tIns="0" bIns="0" anchor="t">
            <a:noAutofit/>
          </a:bodyPr>
          <a:lstStyle/>
          <a:p>
            <a:pPr algn="l">
              <a:spcAft>
                <a:spcPts val="400"/>
              </a:spcAft>
            </a:pPr>
            <a:r>
              <a:rPr sz="1200" b="0" lang="en-GB">
                <a:solidFill>
                  <a:schemeClr val="tx1"/>
                </a:solidFill>
              </a:rPr>
              <a:t>The engine: records every saved version of a folder</a:t>
            </a:r>
          </a:p>
        </p:txBody>
      </p:sp>
      <p:sp>
        <p:nvSpPr>
          <p:cNvPr id="14" name="What 2 tile"/>
          <p:cNvSpPr/>
          <p:nvPr/>
        </p:nvSpPr>
        <p:spPr>
          <a:xfrm>
            <a:off x="3246120" y="1234440"/>
            <a:ext cx="265176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What 2" descr=""/>
          <p:cNvPicPr>
            <a:picLocks noChangeAspect="1"/>
          </p:cNvPicPr>
          <p:nvPr/>
        </p:nvPicPr>
        <p:blipFill>
          <a:blip r:embed="rId4"/>
          <a:stretch>
            <a:fillRect/>
          </a:stretch>
        </p:blipFill>
        <p:spPr>
          <a:xfrm>
            <a:off x="3383280" y="1371600"/>
            <a:ext cx="365760" cy="365760"/>
          </a:xfrm>
          <a:prstGeom prst="rect">
            <a:avLst/>
          </a:prstGeom>
        </p:spPr>
      </p:pic>
      <p:sp>
        <p:nvSpPr>
          <p:cNvPr id="16" name="What 2 heading"/>
          <p:cNvSpPr txBox="1"/>
          <p:nvPr/>
        </p:nvSpPr>
        <p:spPr>
          <a:xfrm>
            <a:off x="384048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GitHub</a:t>
            </a:r>
          </a:p>
        </p:txBody>
      </p:sp>
      <p:sp>
        <p:nvSpPr>
          <p:cNvPr id="17" name="What 2 text"/>
          <p:cNvSpPr txBox="1"/>
          <p:nvPr/>
        </p:nvSpPr>
        <p:spPr>
          <a:xfrm>
            <a:off x="3383280" y="1856232"/>
            <a:ext cx="2377440" cy="640080"/>
          </a:xfrm>
          <a:prstGeom prst="rect">
            <a:avLst/>
          </a:prstGeom>
          <a:noFill/>
        </p:spPr>
        <p:txBody>
          <a:bodyPr wrap="square" lIns="0" rIns="0" tIns="0" bIns="0" anchor="t">
            <a:noAutofit/>
          </a:bodyPr>
          <a:lstStyle/>
          <a:p>
            <a:pPr algn="l">
              <a:spcAft>
                <a:spcPts val="400"/>
              </a:spcAft>
            </a:pPr>
            <a:r>
              <a:rPr sz="1200" b="0" lang="en-GB">
                <a:solidFill>
                  <a:schemeClr val="tx1"/>
                </a:solidFill>
              </a:rPr>
              <a:t>The website: keeps a copy online and lets others access it</a:t>
            </a:r>
          </a:p>
        </p:txBody>
      </p:sp>
      <p:sp>
        <p:nvSpPr>
          <p:cNvPr id="18" name="What 3 tile"/>
          <p:cNvSpPr/>
          <p:nvPr/>
        </p:nvSpPr>
        <p:spPr>
          <a:xfrm>
            <a:off x="6035040" y="1234440"/>
            <a:ext cx="265176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What 3" descr=""/>
          <p:cNvPicPr>
            <a:picLocks noChangeAspect="1"/>
          </p:cNvPicPr>
          <p:nvPr/>
        </p:nvPicPr>
        <p:blipFill>
          <a:blip r:embed="rId5"/>
          <a:stretch>
            <a:fillRect/>
          </a:stretch>
        </p:blipFill>
        <p:spPr>
          <a:xfrm>
            <a:off x="6172200" y="1371600"/>
            <a:ext cx="365760" cy="365760"/>
          </a:xfrm>
          <a:prstGeom prst="rect">
            <a:avLst/>
          </a:prstGeom>
        </p:spPr>
      </p:pic>
      <p:sp>
        <p:nvSpPr>
          <p:cNvPr id="20" name="What 3 heading"/>
          <p:cNvSpPr txBox="1"/>
          <p:nvPr/>
        </p:nvSpPr>
        <p:spPr>
          <a:xfrm>
            <a:off x="662940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GitHub Desktop</a:t>
            </a:r>
          </a:p>
        </p:txBody>
      </p:sp>
      <p:sp>
        <p:nvSpPr>
          <p:cNvPr id="21" name="What 3 text"/>
          <p:cNvSpPr txBox="1"/>
          <p:nvPr/>
        </p:nvSpPr>
        <p:spPr>
          <a:xfrm>
            <a:off x="6172200" y="1856232"/>
            <a:ext cx="2377440" cy="640080"/>
          </a:xfrm>
          <a:prstGeom prst="rect">
            <a:avLst/>
          </a:prstGeom>
          <a:noFill/>
        </p:spPr>
        <p:txBody>
          <a:bodyPr wrap="square" lIns="0" rIns="0" tIns="0" bIns="0" anchor="t">
            <a:noAutofit/>
          </a:bodyPr>
          <a:lstStyle/>
          <a:p>
            <a:pPr algn="l">
              <a:spcAft>
                <a:spcPts val="400"/>
              </a:spcAft>
            </a:pPr>
            <a:r>
              <a:rPr sz="1200" b="0" lang="en-GB">
                <a:solidFill>
                  <a:schemeClr val="tx1"/>
                </a:solidFill>
              </a:rPr>
              <a:t>The app: runs Git with buttons and brings its own Git</a:t>
            </a:r>
          </a:p>
        </p:txBody>
      </p:sp>
      <p:sp>
        <p:nvSpPr>
          <p:cNvPr id="22" name="Words 1-1"/>
          <p:cNvSpPr/>
          <p:nvPr/>
        </p:nvSpPr>
        <p:spPr>
          <a:xfrm>
            <a:off x="457200" y="2743200"/>
            <a:ext cx="180136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Words text 1-1"/>
          <p:cNvSpPr txBox="1"/>
          <p:nvPr/>
        </p:nvSpPr>
        <p:spPr>
          <a:xfrm>
            <a:off x="548640" y="2743200"/>
            <a:ext cx="1618488"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Word</a:t>
            </a:r>
          </a:p>
        </p:txBody>
      </p:sp>
      <p:sp>
        <p:nvSpPr>
          <p:cNvPr id="24" name="Words 1-2"/>
          <p:cNvSpPr/>
          <p:nvPr/>
        </p:nvSpPr>
        <p:spPr>
          <a:xfrm>
            <a:off x="2286000" y="2743200"/>
            <a:ext cx="363016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Words text 1-2"/>
          <p:cNvSpPr txBox="1"/>
          <p:nvPr/>
        </p:nvSpPr>
        <p:spPr>
          <a:xfrm>
            <a:off x="2377440" y="2743200"/>
            <a:ext cx="3447288"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Meaning</a:t>
            </a:r>
          </a:p>
        </p:txBody>
      </p:sp>
      <p:sp>
        <p:nvSpPr>
          <p:cNvPr id="26" name="Words 1-3"/>
          <p:cNvSpPr/>
          <p:nvPr/>
        </p:nvSpPr>
        <p:spPr>
          <a:xfrm>
            <a:off x="5943600" y="2743200"/>
            <a:ext cx="271576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Words text 1-3"/>
          <p:cNvSpPr txBox="1"/>
          <p:nvPr/>
        </p:nvSpPr>
        <p:spPr>
          <a:xfrm>
            <a:off x="6035040" y="2743200"/>
            <a:ext cx="2532888"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Button in GitHub Desktop</a:t>
            </a:r>
          </a:p>
        </p:txBody>
      </p:sp>
      <p:sp>
        <p:nvSpPr>
          <p:cNvPr id="28" name="Words 2-1"/>
          <p:cNvSpPr/>
          <p:nvPr/>
        </p:nvSpPr>
        <p:spPr>
          <a:xfrm>
            <a:off x="457200" y="3099816"/>
            <a:ext cx="18013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Words text 2-1"/>
          <p:cNvSpPr txBox="1"/>
          <p:nvPr/>
        </p:nvSpPr>
        <p:spPr>
          <a:xfrm>
            <a:off x="548640" y="3099816"/>
            <a:ext cx="161848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Repository (repo)</a:t>
            </a:r>
          </a:p>
        </p:txBody>
      </p:sp>
      <p:sp>
        <p:nvSpPr>
          <p:cNvPr id="30" name="Words 2-2"/>
          <p:cNvSpPr/>
          <p:nvPr/>
        </p:nvSpPr>
        <p:spPr>
          <a:xfrm>
            <a:off x="2286000" y="3099816"/>
            <a:ext cx="36301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Words text 2-2"/>
          <p:cNvSpPr txBox="1"/>
          <p:nvPr/>
        </p:nvSpPr>
        <p:spPr>
          <a:xfrm>
            <a:off x="2377440" y="3099816"/>
            <a:ext cx="34472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a project folder with its full history</a:t>
            </a:r>
          </a:p>
        </p:txBody>
      </p:sp>
      <p:sp>
        <p:nvSpPr>
          <p:cNvPr id="32" name="Words 2-3"/>
          <p:cNvSpPr/>
          <p:nvPr/>
        </p:nvSpPr>
        <p:spPr>
          <a:xfrm>
            <a:off x="5943600" y="3099816"/>
            <a:ext cx="27157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Words text 2-3"/>
          <p:cNvSpPr txBox="1"/>
          <p:nvPr/>
        </p:nvSpPr>
        <p:spPr>
          <a:xfrm>
            <a:off x="6035040" y="3099816"/>
            <a:ext cx="25328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Current repository</a:t>
            </a:r>
          </a:p>
        </p:txBody>
      </p:sp>
      <p:sp>
        <p:nvSpPr>
          <p:cNvPr id="34" name="Words 3-1"/>
          <p:cNvSpPr/>
          <p:nvPr/>
        </p:nvSpPr>
        <p:spPr>
          <a:xfrm>
            <a:off x="457200" y="3456432"/>
            <a:ext cx="18013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Words text 3-1"/>
          <p:cNvSpPr txBox="1"/>
          <p:nvPr/>
        </p:nvSpPr>
        <p:spPr>
          <a:xfrm>
            <a:off x="548640" y="3456432"/>
            <a:ext cx="161848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Clone</a:t>
            </a:r>
          </a:p>
        </p:txBody>
      </p:sp>
      <p:sp>
        <p:nvSpPr>
          <p:cNvPr id="36" name="Words 3-2"/>
          <p:cNvSpPr/>
          <p:nvPr/>
        </p:nvSpPr>
        <p:spPr>
          <a:xfrm>
            <a:off x="2286000" y="3456432"/>
            <a:ext cx="36301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Words text 3-2"/>
          <p:cNvSpPr txBox="1"/>
          <p:nvPr/>
        </p:nvSpPr>
        <p:spPr>
          <a:xfrm>
            <a:off x="2377440" y="3456432"/>
            <a:ext cx="34472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download a repo to your laptop, linked to GitHub</a:t>
            </a:r>
          </a:p>
        </p:txBody>
      </p:sp>
      <p:sp>
        <p:nvSpPr>
          <p:cNvPr id="38" name="Words 3-3"/>
          <p:cNvSpPr/>
          <p:nvPr/>
        </p:nvSpPr>
        <p:spPr>
          <a:xfrm>
            <a:off x="5943600" y="3456432"/>
            <a:ext cx="27157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Words text 3-3"/>
          <p:cNvSpPr txBox="1"/>
          <p:nvPr/>
        </p:nvSpPr>
        <p:spPr>
          <a:xfrm>
            <a:off x="6035040" y="3456432"/>
            <a:ext cx="25328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File → Clone repository</a:t>
            </a:r>
          </a:p>
        </p:txBody>
      </p:sp>
      <p:sp>
        <p:nvSpPr>
          <p:cNvPr id="40" name="Words 4-1"/>
          <p:cNvSpPr/>
          <p:nvPr/>
        </p:nvSpPr>
        <p:spPr>
          <a:xfrm>
            <a:off x="457200" y="3813048"/>
            <a:ext cx="18013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Words text 4-1"/>
          <p:cNvSpPr txBox="1"/>
          <p:nvPr/>
        </p:nvSpPr>
        <p:spPr>
          <a:xfrm>
            <a:off x="548640" y="3813048"/>
            <a:ext cx="161848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Commit</a:t>
            </a:r>
          </a:p>
        </p:txBody>
      </p:sp>
      <p:sp>
        <p:nvSpPr>
          <p:cNvPr id="42" name="Words 4-2"/>
          <p:cNvSpPr/>
          <p:nvPr/>
        </p:nvSpPr>
        <p:spPr>
          <a:xfrm>
            <a:off x="2286000" y="3813048"/>
            <a:ext cx="36301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Words text 4-2"/>
          <p:cNvSpPr txBox="1"/>
          <p:nvPr/>
        </p:nvSpPr>
        <p:spPr>
          <a:xfrm>
            <a:off x="2377440" y="3813048"/>
            <a:ext cx="34472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save a snapshot with a short message</a:t>
            </a:r>
          </a:p>
        </p:txBody>
      </p:sp>
      <p:sp>
        <p:nvSpPr>
          <p:cNvPr id="44" name="Words 4-3"/>
          <p:cNvSpPr/>
          <p:nvPr/>
        </p:nvSpPr>
        <p:spPr>
          <a:xfrm>
            <a:off x="5943600" y="3813048"/>
            <a:ext cx="27157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Words text 4-3"/>
          <p:cNvSpPr txBox="1"/>
          <p:nvPr/>
        </p:nvSpPr>
        <p:spPr>
          <a:xfrm>
            <a:off x="6035040" y="3813048"/>
            <a:ext cx="25328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Commit to main</a:t>
            </a:r>
          </a:p>
        </p:txBody>
      </p:sp>
      <p:sp>
        <p:nvSpPr>
          <p:cNvPr id="46" name="Words 5-1"/>
          <p:cNvSpPr/>
          <p:nvPr/>
        </p:nvSpPr>
        <p:spPr>
          <a:xfrm>
            <a:off x="457200" y="4169664"/>
            <a:ext cx="18013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Words text 5-1"/>
          <p:cNvSpPr txBox="1"/>
          <p:nvPr/>
        </p:nvSpPr>
        <p:spPr>
          <a:xfrm>
            <a:off x="548640" y="4169664"/>
            <a:ext cx="161848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Push / pull</a:t>
            </a:r>
          </a:p>
        </p:txBody>
      </p:sp>
      <p:sp>
        <p:nvSpPr>
          <p:cNvPr id="48" name="Words 5-2"/>
          <p:cNvSpPr/>
          <p:nvPr/>
        </p:nvSpPr>
        <p:spPr>
          <a:xfrm>
            <a:off x="2286000" y="4169664"/>
            <a:ext cx="36301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Words text 5-2"/>
          <p:cNvSpPr txBox="1"/>
          <p:nvPr/>
        </p:nvSpPr>
        <p:spPr>
          <a:xfrm>
            <a:off x="2377440" y="4169664"/>
            <a:ext cx="34472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send your commits up / get new commits down</a:t>
            </a:r>
          </a:p>
        </p:txBody>
      </p:sp>
      <p:sp>
        <p:nvSpPr>
          <p:cNvPr id="50" name="Words 5-3"/>
          <p:cNvSpPr/>
          <p:nvPr/>
        </p:nvSpPr>
        <p:spPr>
          <a:xfrm>
            <a:off x="5943600" y="4169664"/>
            <a:ext cx="27157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Words text 5-3"/>
          <p:cNvSpPr txBox="1"/>
          <p:nvPr/>
        </p:nvSpPr>
        <p:spPr>
          <a:xfrm>
            <a:off x="6035040" y="4169664"/>
            <a:ext cx="25328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Push origin / Pull origin</a:t>
            </a:r>
          </a:p>
        </p:txBody>
      </p:sp>
      <p:sp>
        <p:nvSpPr>
          <p:cNvPr id="52" name="Words 6-1"/>
          <p:cNvSpPr/>
          <p:nvPr/>
        </p:nvSpPr>
        <p:spPr>
          <a:xfrm>
            <a:off x="457200" y="4526280"/>
            <a:ext cx="18013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Words text 6-1"/>
          <p:cNvSpPr txBox="1"/>
          <p:nvPr/>
        </p:nvSpPr>
        <p:spPr>
          <a:xfrm>
            <a:off x="548640" y="4526280"/>
            <a:ext cx="161848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Fetch</a:t>
            </a:r>
          </a:p>
        </p:txBody>
      </p:sp>
      <p:sp>
        <p:nvSpPr>
          <p:cNvPr id="54" name="Words 6-2"/>
          <p:cNvSpPr/>
          <p:nvPr/>
        </p:nvSpPr>
        <p:spPr>
          <a:xfrm>
            <a:off x="2286000" y="4526280"/>
            <a:ext cx="36301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Words text 6-2"/>
          <p:cNvSpPr txBox="1"/>
          <p:nvPr/>
        </p:nvSpPr>
        <p:spPr>
          <a:xfrm>
            <a:off x="2377440" y="4526280"/>
            <a:ext cx="34472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check GitHub for new commits, change nothing</a:t>
            </a:r>
          </a:p>
        </p:txBody>
      </p:sp>
      <p:sp>
        <p:nvSpPr>
          <p:cNvPr id="56" name="Words 6-3"/>
          <p:cNvSpPr/>
          <p:nvPr/>
        </p:nvSpPr>
        <p:spPr>
          <a:xfrm>
            <a:off x="5943600" y="4526280"/>
            <a:ext cx="27157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Words text 6-3"/>
          <p:cNvSpPr txBox="1"/>
          <p:nvPr/>
        </p:nvSpPr>
        <p:spPr>
          <a:xfrm>
            <a:off x="6035040" y="4526280"/>
            <a:ext cx="25328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Fetch origin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 of 6 · sign up, two-factor sign-in, a private e-mail address</a:t>
            </a:r>
          </a:p>
        </p:txBody>
      </p:sp>
      <p:sp>
        <p:nvSpPr>
          <p:cNvPr id="3" name="Title 2"/>
          <p:cNvSpPr>
            <a:spLocks noGrp="1"/>
          </p:cNvSpPr>
          <p:nvPr>
            <p:ph type="ctrTitle"/>
          </p:nvPr>
        </p:nvSpPr>
        <p:spPr/>
        <p:txBody>
          <a:bodyPr/>
          <a:lstStyle/>
          <a:p>
            <a:r>
              <a:rPr sz="1600" lang="en-GB"/>
              <a:t>Your GitHub account</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Create your GitHub account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ignup row 1"/>
          <p:cNvSpPr/>
          <p:nvPr/>
        </p:nvSpPr>
        <p:spPr>
          <a:xfrm>
            <a:off x="457200" y="1234440"/>
            <a:ext cx="512064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ignup number 1"/>
          <p:cNvSpPr/>
          <p:nvPr/>
        </p:nvSpPr>
        <p:spPr>
          <a:xfrm>
            <a:off x="594360" y="13350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Signup text 1"/>
          <p:cNvSpPr txBox="1"/>
          <p:nvPr/>
        </p:nvSpPr>
        <p:spPr>
          <a:xfrm>
            <a:off x="1051560" y="1234440"/>
            <a:ext cx="4389120" cy="512064"/>
          </a:xfrm>
          <a:prstGeom prst="rect">
            <a:avLst/>
          </a:prstGeom>
          <a:noFill/>
        </p:spPr>
        <p:txBody>
          <a:bodyPr wrap="square" lIns="0" rIns="0" tIns="0" bIns="0" anchor="ctr">
            <a:noAutofit/>
          </a:bodyPr>
          <a:lstStyle/>
          <a:p>
            <a:pPr algn="l">
              <a:spcAft>
                <a:spcPts val="400"/>
              </a:spcAft>
            </a:pPr>
            <a:r>
              <a:rPr sz="1200" b="0" lang="en-GB">
                <a:solidFill>
                  <a:schemeClr val="tx1"/>
                </a:solidFill>
              </a:rPr>
              <a:t>Open </a:t>
            </a:r>
            <a:r>
              <a:rPr sz="1200" b="0" lang="en-GB">
                <a:solidFill>
                  <a:schemeClr val="accent1"/>
                </a:solidFill>
                <a:hlinkClick r:id="rId3"/>
              </a:rPr>
              <a:t>github.com/signup</a:t>
            </a:r>
          </a:p>
        </p:txBody>
      </p:sp>
      <p:sp>
        <p:nvSpPr>
          <p:cNvPr id="13" name="Signup row 2"/>
          <p:cNvSpPr/>
          <p:nvPr/>
        </p:nvSpPr>
        <p:spPr>
          <a:xfrm>
            <a:off x="457200" y="1819656"/>
            <a:ext cx="512064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ignup number 2"/>
          <p:cNvSpPr/>
          <p:nvPr/>
        </p:nvSpPr>
        <p:spPr>
          <a:xfrm>
            <a:off x="594360" y="192024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Signup text 2"/>
          <p:cNvSpPr txBox="1"/>
          <p:nvPr/>
        </p:nvSpPr>
        <p:spPr>
          <a:xfrm>
            <a:off x="1051560" y="1819656"/>
            <a:ext cx="438912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E-mail: </a:t>
            </a:r>
            <a:r>
              <a:rPr sz="1200" b="0" lang="en-GB">
                <a:solidFill>
                  <a:schemeClr val="tx1"/>
                </a:solidFill>
              </a:rPr>
              <a:t>your WU student address</a:t>
            </a:r>
          </a:p>
        </p:txBody>
      </p:sp>
      <p:sp>
        <p:nvSpPr>
          <p:cNvPr id="16" name="Signup row 3"/>
          <p:cNvSpPr/>
          <p:nvPr/>
        </p:nvSpPr>
        <p:spPr>
          <a:xfrm>
            <a:off x="457200" y="2404872"/>
            <a:ext cx="512064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ignup number 3"/>
          <p:cNvSpPr/>
          <p:nvPr/>
        </p:nvSpPr>
        <p:spPr>
          <a:xfrm>
            <a:off x="594360" y="250545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Signup text 3"/>
          <p:cNvSpPr txBox="1"/>
          <p:nvPr/>
        </p:nvSpPr>
        <p:spPr>
          <a:xfrm>
            <a:off x="1051560" y="2404872"/>
            <a:ext cx="438912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Password </a:t>
            </a:r>
            <a:r>
              <a:rPr sz="1200" b="0" lang="en-GB">
                <a:solidFill>
                  <a:schemeClr val="tx1"/>
                </a:solidFill>
              </a:rPr>
              <a:t>of at least 15 characters, or 8 with a number and a lower-case letter</a:t>
            </a:r>
          </a:p>
        </p:txBody>
      </p:sp>
      <p:sp>
        <p:nvSpPr>
          <p:cNvPr id="19" name="Signup row 4"/>
          <p:cNvSpPr/>
          <p:nvPr/>
        </p:nvSpPr>
        <p:spPr>
          <a:xfrm>
            <a:off x="457200" y="2990088"/>
            <a:ext cx="512064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ignup number 4"/>
          <p:cNvSpPr/>
          <p:nvPr/>
        </p:nvSpPr>
        <p:spPr>
          <a:xfrm>
            <a:off x="594360" y="309067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Signup text 4"/>
          <p:cNvSpPr txBox="1"/>
          <p:nvPr/>
        </p:nvSpPr>
        <p:spPr>
          <a:xfrm>
            <a:off x="1051560" y="2990088"/>
            <a:ext cx="438912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Username: </a:t>
            </a:r>
            <a:r>
              <a:rPr sz="1200" b="0" lang="en-GB">
                <a:solidFill>
                  <a:schemeClr val="tx1"/>
                </a:solidFill>
              </a:rPr>
              <a:t>short and professional, e.g. anna-berger; it is public</a:t>
            </a:r>
          </a:p>
        </p:txBody>
      </p:sp>
      <p:sp>
        <p:nvSpPr>
          <p:cNvPr id="22" name="Signup row 5"/>
          <p:cNvSpPr/>
          <p:nvPr/>
        </p:nvSpPr>
        <p:spPr>
          <a:xfrm>
            <a:off x="457200" y="3575304"/>
            <a:ext cx="512064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ignup number 5"/>
          <p:cNvSpPr/>
          <p:nvPr/>
        </p:nvSpPr>
        <p:spPr>
          <a:xfrm>
            <a:off x="594360" y="367588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Signup text 5"/>
          <p:cNvSpPr txBox="1"/>
          <p:nvPr/>
        </p:nvSpPr>
        <p:spPr>
          <a:xfrm>
            <a:off x="1051560" y="3575304"/>
            <a:ext cx="438912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Verify: </a:t>
            </a:r>
            <a:r>
              <a:rPr sz="1200" b="0" lang="en-GB">
                <a:solidFill>
                  <a:schemeClr val="tx1"/>
                </a:solidFill>
              </a:rPr>
              <a:t>type the code GitHub sends to your inbox</a:t>
            </a:r>
          </a:p>
        </p:txBody>
      </p:sp>
      <p:sp>
        <p:nvSpPr>
          <p:cNvPr id="25" name="Signup row 6"/>
          <p:cNvSpPr/>
          <p:nvPr/>
        </p:nvSpPr>
        <p:spPr>
          <a:xfrm>
            <a:off x="457200" y="4160520"/>
            <a:ext cx="512064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Signup number 6"/>
          <p:cNvSpPr/>
          <p:nvPr/>
        </p:nvSpPr>
        <p:spPr>
          <a:xfrm>
            <a:off x="594360" y="426110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6</a:t>
            </a:r>
          </a:p>
        </p:txBody>
      </p:sp>
      <p:sp>
        <p:nvSpPr>
          <p:cNvPr id="27" name="Signup text 6"/>
          <p:cNvSpPr txBox="1"/>
          <p:nvPr/>
        </p:nvSpPr>
        <p:spPr>
          <a:xfrm>
            <a:off x="1051560" y="4160520"/>
            <a:ext cx="438912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Plan: </a:t>
            </a:r>
            <a:r>
              <a:rPr sz="1200" b="0" lang="en-GB">
                <a:solidFill>
                  <a:schemeClr val="tx1"/>
                </a:solidFill>
              </a:rPr>
              <a:t>choose Free; skip the questions if you like</a:t>
            </a:r>
          </a:p>
        </p:txBody>
      </p:sp>
      <p:sp>
        <p:nvSpPr>
          <p:cNvPr id="28" name="Signup card body"/>
          <p:cNvSpPr/>
          <p:nvPr/>
        </p:nvSpPr>
        <p:spPr>
          <a:xfrm>
            <a:off x="5715000" y="1645920"/>
            <a:ext cx="2971800" cy="1920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ignup card header"/>
          <p:cNvSpPr/>
          <p:nvPr/>
        </p:nvSpPr>
        <p:spPr>
          <a:xfrm>
            <a:off x="5715000" y="1234440"/>
            <a:ext cx="297180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Signup card heading"/>
          <p:cNvSpPr txBox="1"/>
          <p:nvPr/>
        </p:nvSpPr>
        <p:spPr>
          <a:xfrm>
            <a:off x="5852160" y="1234440"/>
            <a:ext cx="228600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Good to know</a:t>
            </a:r>
          </a:p>
        </p:txBody>
      </p:sp>
      <p:pic>
        <p:nvPicPr>
          <p:cNvPr id="31" name="Icon Signup card" descr=""/>
          <p:cNvPicPr>
            <a:picLocks noChangeAspect="1"/>
          </p:cNvPicPr>
          <p:nvPr/>
        </p:nvPicPr>
        <p:blipFill>
          <a:blip r:embed="rId4"/>
          <a:stretch>
            <a:fillRect/>
          </a:stretch>
        </p:blipFill>
        <p:spPr>
          <a:xfrm>
            <a:off x="8247888" y="1284732"/>
            <a:ext cx="310896" cy="310896"/>
          </a:xfrm>
          <a:prstGeom prst="rect">
            <a:avLst/>
          </a:prstGeom>
        </p:spPr>
      </p:pic>
      <p:sp>
        <p:nvSpPr>
          <p:cNvPr id="32" name="Signup card text"/>
          <p:cNvSpPr txBox="1"/>
          <p:nvPr/>
        </p:nvSpPr>
        <p:spPr>
          <a:xfrm>
            <a:off x="5879592" y="1783080"/>
            <a:ext cx="2670048" cy="16459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One account per person: keep it for life</a:t>
            </a:r>
          </a:p>
          <a:p>
            <a:pPr algn="l" marL="182880" indent="-182880">
              <a:spcAft>
                <a:spcPts val="600"/>
              </a:spcAft>
              <a:buClr>
                <a:schemeClr val="accent1"/>
              </a:buClr>
              <a:buFont typeface="Arial"/>
              <a:buChar char="▪"/>
            </a:pPr>
            <a:r>
              <a:rPr sz="1300" b="0" lang="en-GB">
                <a:solidFill>
                  <a:schemeClr val="tx1"/>
                </a:solidFill>
              </a:rPr>
              <a:t>Free plan: unlimited public and private repos</a:t>
            </a:r>
          </a:p>
          <a:p>
            <a:pPr algn="l" marL="182880" indent="-182880">
              <a:spcAft>
                <a:spcPts val="600"/>
              </a:spcAft>
              <a:buClr>
                <a:schemeClr val="accent1"/>
              </a:buClr>
              <a:buFont typeface="Arial"/>
              <a:buChar char="▪"/>
            </a:pPr>
            <a:r>
              <a:rPr sz="1300" b="0" lang="en-GB">
                <a:solidFill>
                  <a:schemeClr val="tx1"/>
                </a:solidFill>
              </a:rPr>
              <a:t>Your username appears on every commit</a:t>
            </a:r>
          </a:p>
        </p:txBody>
      </p:sp>
      <p:sp>
        <p:nvSpPr>
          <p:cNvPr id="33" name="Signup note box"/>
          <p:cNvSpPr/>
          <p:nvPr/>
        </p:nvSpPr>
        <p:spPr>
          <a:xfrm>
            <a:off x="5715000" y="3703320"/>
            <a:ext cx="2971800" cy="11887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Icon Signup note" descr=""/>
          <p:cNvPicPr>
            <a:picLocks noChangeAspect="1"/>
          </p:cNvPicPr>
          <p:nvPr/>
        </p:nvPicPr>
        <p:blipFill>
          <a:blip r:embed="rId5"/>
          <a:stretch>
            <a:fillRect/>
          </a:stretch>
        </p:blipFill>
        <p:spPr>
          <a:xfrm>
            <a:off x="5916168" y="4114800"/>
            <a:ext cx="365760" cy="365760"/>
          </a:xfrm>
          <a:prstGeom prst="rect">
            <a:avLst/>
          </a:prstGeom>
        </p:spPr>
      </p:pic>
      <p:sp>
        <p:nvSpPr>
          <p:cNvPr id="35" name="Signup note text"/>
          <p:cNvSpPr txBox="1"/>
          <p:nvPr/>
        </p:nvSpPr>
        <p:spPr>
          <a:xfrm>
            <a:off x="6464808" y="3703320"/>
            <a:ext cx="2057400" cy="1188720"/>
          </a:xfrm>
          <a:prstGeom prst="rect">
            <a:avLst/>
          </a:prstGeom>
          <a:noFill/>
        </p:spPr>
        <p:txBody>
          <a:bodyPr wrap="square" lIns="0" rIns="0" tIns="0" bIns="0" anchor="ctr">
            <a:noAutofit/>
          </a:bodyPr>
          <a:lstStyle/>
          <a:p>
            <a:pPr algn="l">
              <a:spcAft>
                <a:spcPts val="400"/>
              </a:spcAft>
            </a:pPr>
            <a:r>
              <a:rPr sz="1150" b="1" lang="en-GB">
                <a:solidFill>
                  <a:schemeClr val="bg1"/>
                </a:solidFill>
              </a:rPr>
              <a:t>Have an account? </a:t>
            </a:r>
            <a:r>
              <a:rPr sz="1150" b="0" lang="en-GB">
                <a:solidFill>
                  <a:schemeClr val="bg1"/>
                </a:solidFill>
              </a:rPr>
              <a:t>Keep it; add your WU address under Settings → Emails.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Secure it: two-factor authentication (2FA)</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woFA body"/>
          <p:cNvSpPr/>
          <p:nvPr/>
        </p:nvSpPr>
        <p:spPr>
          <a:xfrm>
            <a:off x="457200" y="1645920"/>
            <a:ext cx="4937760" cy="2743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woFA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woFA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Turn on 2FA</a:t>
            </a:r>
          </a:p>
        </p:txBody>
      </p:sp>
      <p:pic>
        <p:nvPicPr>
          <p:cNvPr id="13" name="Icon TwoFA" descr=""/>
          <p:cNvPicPr>
            <a:picLocks noChangeAspect="1"/>
          </p:cNvPicPr>
          <p:nvPr/>
        </p:nvPicPr>
        <p:blipFill>
          <a:blip r:embed="rId3"/>
          <a:stretch>
            <a:fillRect/>
          </a:stretch>
        </p:blipFill>
        <p:spPr>
          <a:xfrm>
            <a:off x="4956048" y="1284732"/>
            <a:ext cx="310896" cy="310896"/>
          </a:xfrm>
          <a:prstGeom prst="rect">
            <a:avLst/>
          </a:prstGeom>
        </p:spPr>
      </p:pic>
      <p:sp>
        <p:nvSpPr>
          <p:cNvPr id="14" name="TwoFA text"/>
          <p:cNvSpPr txBox="1"/>
          <p:nvPr/>
        </p:nvSpPr>
        <p:spPr>
          <a:xfrm>
            <a:off x="621792" y="1783080"/>
            <a:ext cx="4636008" cy="251460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Profile picture → </a:t>
            </a:r>
            <a:r>
              <a:rPr sz="1300" b="0" lang="en-GB">
                <a:solidFill>
                  <a:schemeClr val="tx1"/>
                </a:solidFill>
              </a:rPr>
              <a:t>Settings</a:t>
            </a:r>
          </a:p>
          <a:p>
            <a:pPr algn="l">
              <a:spcAft>
                <a:spcPts val="900"/>
              </a:spcAft>
            </a:pPr>
            <a:r>
              <a:rPr sz="1300" b="1" lang="en-GB">
                <a:solidFill>
                  <a:schemeClr val="accent1"/>
                </a:solidFill>
              </a:rPr>
              <a:t>2  </a:t>
            </a:r>
            <a:r>
              <a:rPr sz="1300" b="1" lang="en-GB">
                <a:solidFill>
                  <a:schemeClr val="tx2"/>
                </a:solidFill>
              </a:rPr>
              <a:t>Password and authentication → </a:t>
            </a:r>
            <a:r>
              <a:rPr sz="1300" b="0" lang="en-GB">
                <a:solidFill>
                  <a:schemeClr val="tx1"/>
                </a:solidFill>
              </a:rPr>
              <a:t>Enable two-factor authentication</a:t>
            </a:r>
          </a:p>
          <a:p>
            <a:pPr algn="l">
              <a:spcAft>
                <a:spcPts val="900"/>
              </a:spcAft>
            </a:pPr>
            <a:r>
              <a:rPr sz="1300" b="1" lang="en-GB">
                <a:solidFill>
                  <a:schemeClr val="accent1"/>
                </a:solidFill>
              </a:rPr>
              <a:t>3  </a:t>
            </a:r>
            <a:r>
              <a:rPr sz="1300" b="1" lang="en-GB">
                <a:solidFill>
                  <a:schemeClr val="tx2"/>
                </a:solidFill>
              </a:rPr>
              <a:t>Scan the QR code </a:t>
            </a:r>
            <a:r>
              <a:rPr sz="1300" b="0" lang="en-GB">
                <a:solidFill>
                  <a:schemeClr val="tx1"/>
                </a:solidFill>
              </a:rPr>
              <a:t>with an authenticator app</a:t>
            </a:r>
          </a:p>
          <a:p>
            <a:pPr algn="l">
              <a:spcAft>
                <a:spcPts val="900"/>
              </a:spcAft>
            </a:pPr>
            <a:r>
              <a:rPr sz="1300" b="1" lang="en-GB">
                <a:solidFill>
                  <a:schemeClr val="accent1"/>
                </a:solidFill>
              </a:rPr>
              <a:t>4  </a:t>
            </a:r>
            <a:r>
              <a:rPr sz="1300" b="1" lang="en-GB">
                <a:solidFill>
                  <a:schemeClr val="tx2"/>
                </a:solidFill>
              </a:rPr>
              <a:t>Type </a:t>
            </a:r>
            <a:r>
              <a:rPr sz="1300" b="0" lang="en-GB">
                <a:solidFill>
                  <a:schemeClr val="tx1"/>
                </a:solidFill>
              </a:rPr>
              <a:t>the 6-digit code from the app</a:t>
            </a:r>
          </a:p>
          <a:p>
            <a:pPr algn="l">
              <a:spcAft>
                <a:spcPts val="900"/>
              </a:spcAft>
            </a:pPr>
            <a:r>
              <a:rPr sz="1300" b="1" lang="en-GB">
                <a:solidFill>
                  <a:schemeClr val="accent1"/>
                </a:solidFill>
              </a:rPr>
              <a:t>5  </a:t>
            </a:r>
            <a:r>
              <a:rPr sz="1300" b="1" lang="en-GB">
                <a:solidFill>
                  <a:schemeClr val="tx2"/>
                </a:solidFill>
              </a:rPr>
              <a:t>Download </a:t>
            </a:r>
            <a:r>
              <a:rPr sz="1300" b="0" lang="en-GB">
                <a:solidFill>
                  <a:schemeClr val="tx1"/>
                </a:solidFill>
              </a:rPr>
              <a:t>your recovery codes and keep them safe</a:t>
            </a:r>
          </a:p>
          <a:p>
            <a:pPr algn="l">
              <a:spcAft>
                <a:spcPts val="900"/>
              </a:spcAft>
            </a:pPr>
            <a:r>
              <a:rPr sz="1300" b="1" lang="en-GB">
                <a:solidFill>
                  <a:schemeClr val="accent1"/>
                </a:solidFill>
              </a:rPr>
              <a:t>6  </a:t>
            </a:r>
            <a:r>
              <a:rPr sz="1300" b="1" lang="en-GB">
                <a:solidFill>
                  <a:schemeClr val="tx2"/>
                </a:solidFill>
              </a:rPr>
              <a:t>Add a backup: </a:t>
            </a:r>
            <a:r>
              <a:rPr sz="1300" b="0" lang="en-GB">
                <a:solidFill>
                  <a:schemeClr val="tx1"/>
                </a:solidFill>
              </a:rPr>
              <a:t>GitHub Mobile or a passkey</a:t>
            </a:r>
          </a:p>
        </p:txBody>
      </p:sp>
      <p:sp>
        <p:nvSpPr>
          <p:cNvPr id="15" name="2FA facts box"/>
          <p:cNvSpPr/>
          <p:nvPr/>
        </p:nvSpPr>
        <p:spPr>
          <a:xfrm>
            <a:off x="5532120" y="1234440"/>
            <a:ext cx="3154680" cy="31546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2FA bar 1"/>
          <p:cNvSpPr/>
          <p:nvPr/>
        </p:nvSpPr>
        <p:spPr>
          <a:xfrm>
            <a:off x="5669280" y="1371600"/>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2FA fact 1"/>
          <p:cNvSpPr txBox="1"/>
          <p:nvPr/>
        </p:nvSpPr>
        <p:spPr>
          <a:xfrm>
            <a:off x="5852160" y="1371600"/>
            <a:ext cx="2743200" cy="822960"/>
          </a:xfrm>
          <a:prstGeom prst="rect">
            <a:avLst/>
          </a:prstGeom>
          <a:noFill/>
        </p:spPr>
        <p:txBody>
          <a:bodyPr wrap="square" lIns="0" rIns="0" tIns="0" bIns="0" anchor="ctr">
            <a:noAutofit/>
          </a:bodyPr>
          <a:lstStyle/>
          <a:p>
            <a:pPr algn="l">
              <a:spcAft>
                <a:spcPts val="0"/>
              </a:spcAft>
            </a:pPr>
            <a:r>
              <a:rPr sz="2400" b="1" lang="en-GB">
                <a:solidFill>
                  <a:schemeClr val="tx2"/>
                </a:solidFill>
                <a:latin typeface="+mj-lt"/>
              </a:rPr>
              <a:t>45</a:t>
            </a:r>
          </a:p>
          <a:p>
            <a:pPr algn="l">
              <a:spcAft>
                <a:spcPts val="0"/>
              </a:spcAft>
            </a:pPr>
            <a:r>
              <a:rPr sz="1200" b="0" lang="en-GB">
                <a:solidFill>
                  <a:schemeClr val="tx1"/>
                </a:solidFill>
              </a:rPr>
              <a:t>days to set it up once GitHub asks</a:t>
            </a:r>
          </a:p>
        </p:txBody>
      </p:sp>
      <p:sp>
        <p:nvSpPr>
          <p:cNvPr id="18" name="2FA bar 2"/>
          <p:cNvSpPr/>
          <p:nvPr/>
        </p:nvSpPr>
        <p:spPr>
          <a:xfrm>
            <a:off x="5669280" y="2359152"/>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2FA fact 2"/>
          <p:cNvSpPr txBox="1"/>
          <p:nvPr/>
        </p:nvSpPr>
        <p:spPr>
          <a:xfrm>
            <a:off x="5852160" y="2359152"/>
            <a:ext cx="2743200" cy="822960"/>
          </a:xfrm>
          <a:prstGeom prst="rect">
            <a:avLst/>
          </a:prstGeom>
          <a:noFill/>
        </p:spPr>
        <p:txBody>
          <a:bodyPr wrap="square" lIns="0" rIns="0" tIns="0" bIns="0" anchor="ctr">
            <a:noAutofit/>
          </a:bodyPr>
          <a:lstStyle/>
          <a:p>
            <a:pPr algn="l">
              <a:spcAft>
                <a:spcPts val="0"/>
              </a:spcAft>
            </a:pPr>
            <a:r>
              <a:rPr sz="2400" b="1" lang="en-GB">
                <a:solidFill>
                  <a:schemeClr val="tx2"/>
                </a:solidFill>
                <a:latin typeface="+mj-lt"/>
              </a:rPr>
              <a:t>TOTP</a:t>
            </a:r>
          </a:p>
          <a:p>
            <a:pPr algn="l">
              <a:spcAft>
                <a:spcPts val="0"/>
              </a:spcAft>
            </a:pPr>
            <a:r>
              <a:rPr sz="1200" b="0" lang="en-GB">
                <a:solidFill>
                  <a:schemeClr val="tx1"/>
                </a:solidFill>
              </a:rPr>
              <a:t>app recommended as main method</a:t>
            </a:r>
          </a:p>
        </p:txBody>
      </p:sp>
      <p:sp>
        <p:nvSpPr>
          <p:cNvPr id="20" name="2FA bar 3"/>
          <p:cNvSpPr/>
          <p:nvPr/>
        </p:nvSpPr>
        <p:spPr>
          <a:xfrm>
            <a:off x="5669280" y="3346704"/>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2FA fact 3"/>
          <p:cNvSpPr txBox="1"/>
          <p:nvPr/>
        </p:nvSpPr>
        <p:spPr>
          <a:xfrm>
            <a:off x="5852160" y="3346704"/>
            <a:ext cx="2743200" cy="822960"/>
          </a:xfrm>
          <a:prstGeom prst="rect">
            <a:avLst/>
          </a:prstGeom>
          <a:noFill/>
        </p:spPr>
        <p:txBody>
          <a:bodyPr wrap="square" lIns="0" rIns="0" tIns="0" bIns="0" anchor="ctr">
            <a:noAutofit/>
          </a:bodyPr>
          <a:lstStyle/>
          <a:p>
            <a:pPr algn="l">
              <a:spcAft>
                <a:spcPts val="0"/>
              </a:spcAft>
            </a:pPr>
            <a:r>
              <a:rPr sz="2400" b="1" lang="en-GB">
                <a:solidFill>
                  <a:schemeClr val="tx2"/>
                </a:solidFill>
                <a:latin typeface="+mj-lt"/>
              </a:rPr>
              <a:t>16</a:t>
            </a:r>
          </a:p>
          <a:p>
            <a:pPr algn="l">
              <a:spcAft>
                <a:spcPts val="0"/>
              </a:spcAft>
            </a:pPr>
            <a:r>
              <a:rPr sz="1200" b="0" lang="en-GB">
                <a:solidFill>
                  <a:schemeClr val="tx1"/>
                </a:solidFill>
              </a:rPr>
              <a:t>recovery codes: your way back in</a:t>
            </a:r>
          </a:p>
        </p:txBody>
      </p:sp>
      <p:sp>
        <p:nvSpPr>
          <p:cNvPr id="22" name="2FA apps box"/>
          <p:cNvSpPr/>
          <p:nvPr/>
        </p:nvSpPr>
        <p:spPr>
          <a:xfrm>
            <a:off x="457200" y="452628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2FA apps" descr=""/>
          <p:cNvPicPr>
            <a:picLocks noChangeAspect="1"/>
          </p:cNvPicPr>
          <p:nvPr/>
        </p:nvPicPr>
        <p:blipFill>
          <a:blip r:embed="rId4"/>
          <a:stretch>
            <a:fillRect/>
          </a:stretch>
        </p:blipFill>
        <p:spPr>
          <a:xfrm>
            <a:off x="658368" y="4617720"/>
            <a:ext cx="365760" cy="365760"/>
          </a:xfrm>
          <a:prstGeom prst="rect">
            <a:avLst/>
          </a:prstGeom>
        </p:spPr>
      </p:pic>
      <p:sp>
        <p:nvSpPr>
          <p:cNvPr id="24" name="2FA apps text"/>
          <p:cNvSpPr txBox="1"/>
          <p:nvPr/>
        </p:nvSpPr>
        <p:spPr>
          <a:xfrm>
            <a:off x="1207008" y="452628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Apps that work: </a:t>
            </a:r>
            <a:r>
              <a:rPr sz="1200" b="0" lang="en-GB">
                <a:solidFill>
                  <a:schemeClr val="tx1"/>
                </a:solidFill>
              </a:rPr>
              <a:t>Microsoft Authenticator, Google Authenticator, 1Password, or GitHub Mobile as backup.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Keep your e-mail address private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Email body"/>
          <p:cNvSpPr/>
          <p:nvPr/>
        </p:nvSpPr>
        <p:spPr>
          <a:xfrm>
            <a:off x="457200" y="1645920"/>
            <a:ext cx="4937760" cy="2240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mail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mail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In your GitHub settings</a:t>
            </a:r>
          </a:p>
        </p:txBody>
      </p:sp>
      <p:pic>
        <p:nvPicPr>
          <p:cNvPr id="13" name="Icon Email" descr=""/>
          <p:cNvPicPr>
            <a:picLocks noChangeAspect="1"/>
          </p:cNvPicPr>
          <p:nvPr/>
        </p:nvPicPr>
        <p:blipFill>
          <a:blip r:embed="rId3"/>
          <a:stretch>
            <a:fillRect/>
          </a:stretch>
        </p:blipFill>
        <p:spPr>
          <a:xfrm>
            <a:off x="4956048" y="1284732"/>
            <a:ext cx="310896" cy="310896"/>
          </a:xfrm>
          <a:prstGeom prst="rect">
            <a:avLst/>
          </a:prstGeom>
        </p:spPr>
      </p:pic>
      <p:sp>
        <p:nvSpPr>
          <p:cNvPr id="14" name="Email text"/>
          <p:cNvSpPr txBox="1"/>
          <p:nvPr/>
        </p:nvSpPr>
        <p:spPr>
          <a:xfrm>
            <a:off x="621792" y="1783080"/>
            <a:ext cx="4636008" cy="201168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Settings → </a:t>
            </a:r>
            <a:r>
              <a:rPr sz="1300" b="0" lang="en-GB">
                <a:solidFill>
                  <a:schemeClr val="tx1"/>
                </a:solidFill>
              </a:rPr>
              <a:t>Emails</a:t>
            </a:r>
          </a:p>
          <a:p>
            <a:pPr algn="l">
              <a:spcAft>
                <a:spcPts val="900"/>
              </a:spcAft>
            </a:pPr>
            <a:r>
              <a:rPr sz="1300" b="1" lang="en-GB">
                <a:solidFill>
                  <a:schemeClr val="accent1"/>
                </a:solidFill>
              </a:rPr>
              <a:t>2  </a:t>
            </a:r>
            <a:r>
              <a:rPr sz="1300" b="1" lang="en-GB">
                <a:solidFill>
                  <a:schemeClr val="tx2"/>
                </a:solidFill>
              </a:rPr>
              <a:t>Add </a:t>
            </a:r>
            <a:r>
              <a:rPr sz="1300" b="0" lang="en-GB">
                <a:solidFill>
                  <a:schemeClr val="tx1"/>
                </a:solidFill>
              </a:rPr>
              <a:t>your WU address if it is missing, and verify it</a:t>
            </a:r>
          </a:p>
          <a:p>
            <a:pPr algn="l">
              <a:spcAft>
                <a:spcPts val="900"/>
              </a:spcAft>
            </a:pPr>
            <a:r>
              <a:rPr sz="1300" b="1" lang="en-GB">
                <a:solidFill>
                  <a:schemeClr val="accent1"/>
                </a:solidFill>
              </a:rPr>
              <a:t>3  </a:t>
            </a:r>
            <a:r>
              <a:rPr sz="1300" b="1" lang="en-GB">
                <a:solidFill>
                  <a:schemeClr val="tx2"/>
                </a:solidFill>
              </a:rPr>
              <a:t>Tick </a:t>
            </a:r>
            <a:r>
              <a:rPr sz="1300" b="0" lang="en-GB">
                <a:solidFill>
                  <a:schemeClr val="tx1"/>
                </a:solidFill>
              </a:rPr>
              <a:t>Keep my email addresses private</a:t>
            </a:r>
          </a:p>
          <a:p>
            <a:pPr algn="l">
              <a:spcAft>
                <a:spcPts val="900"/>
              </a:spcAft>
            </a:pPr>
            <a:r>
              <a:rPr sz="1300" b="1" lang="en-GB">
                <a:solidFill>
                  <a:schemeClr val="accent1"/>
                </a:solidFill>
              </a:rPr>
              <a:t>4  </a:t>
            </a:r>
            <a:r>
              <a:rPr sz="1300" b="1" lang="en-GB">
                <a:solidFill>
                  <a:schemeClr val="tx2"/>
                </a:solidFill>
              </a:rPr>
              <a:t>Tick </a:t>
            </a:r>
            <a:r>
              <a:rPr sz="1300" b="0" lang="en-GB">
                <a:solidFill>
                  <a:schemeClr val="tx1"/>
                </a:solidFill>
              </a:rPr>
              <a:t>Block command line pushes that expose my email</a:t>
            </a:r>
          </a:p>
          <a:p>
            <a:pPr algn="l">
              <a:spcAft>
                <a:spcPts val="900"/>
              </a:spcAft>
            </a:pPr>
            <a:r>
              <a:rPr sz="1300" b="1" lang="en-GB">
                <a:solidFill>
                  <a:schemeClr val="accent1"/>
                </a:solidFill>
              </a:rPr>
              <a:t>5  </a:t>
            </a:r>
            <a:r>
              <a:rPr sz="1300" b="1" lang="en-GB">
                <a:solidFill>
                  <a:schemeClr val="tx2"/>
                </a:solidFill>
              </a:rPr>
              <a:t>Copy </a:t>
            </a:r>
            <a:r>
              <a:rPr sz="1300" b="0" lang="en-GB">
                <a:solidFill>
                  <a:schemeClr val="tx1"/>
                </a:solidFill>
              </a:rPr>
              <a:t>the noreply address shown there</a:t>
            </a:r>
          </a:p>
        </p:txBody>
      </p:sp>
      <p:sp>
        <p:nvSpPr>
          <p:cNvPr id="15" name="Noreply caption bar"/>
          <p:cNvSpPr/>
          <p:nvPr/>
        </p:nvSpPr>
        <p:spPr>
          <a:xfrm>
            <a:off x="5532120" y="1234440"/>
            <a:ext cx="315468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Noreply caption"/>
          <p:cNvSpPr txBox="1"/>
          <p:nvPr/>
        </p:nvSpPr>
        <p:spPr>
          <a:xfrm>
            <a:off x="5641848" y="1234440"/>
            <a:ext cx="293522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Your noreply address (example)</a:t>
            </a:r>
          </a:p>
        </p:txBody>
      </p:sp>
      <p:sp>
        <p:nvSpPr>
          <p:cNvPr id="17" name="Noreply box"/>
          <p:cNvSpPr/>
          <p:nvPr/>
        </p:nvSpPr>
        <p:spPr>
          <a:xfrm>
            <a:off x="5532120" y="1508760"/>
            <a:ext cx="315468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Noreply code"/>
          <p:cNvSpPr txBox="1"/>
          <p:nvPr/>
        </p:nvSpPr>
        <p:spPr>
          <a:xfrm>
            <a:off x="5669280" y="1600200"/>
            <a:ext cx="2880360" cy="54864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1234567+anna-berger@</a:t>
            </a:r>
          </a:p>
          <a:p>
            <a:pPr algn="l">
              <a:spcAft>
                <a:spcPts val="0"/>
              </a:spcAft>
            </a:pPr>
            <a:r>
              <a:rPr sz="1100" b="0" lang="en-GB">
                <a:solidFill>
                  <a:schemeClr val="bg1"/>
                </a:solidFill>
                <a:latin typeface="Consolas"/>
              </a:rPr>
              <a:t>  users.noreply.github.com</a:t>
            </a:r>
          </a:p>
        </p:txBody>
      </p:sp>
      <p:sp>
        <p:nvSpPr>
          <p:cNvPr id="19" name="Email rows row 1"/>
          <p:cNvSpPr/>
          <p:nvPr/>
        </p:nvSpPr>
        <p:spPr>
          <a:xfrm>
            <a:off x="5532120" y="2377440"/>
            <a:ext cx="315468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Email rows bar 1"/>
          <p:cNvSpPr/>
          <p:nvPr/>
        </p:nvSpPr>
        <p:spPr>
          <a:xfrm>
            <a:off x="5532120" y="2377440"/>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Email rows text 1"/>
          <p:cNvSpPr txBox="1"/>
          <p:nvPr/>
        </p:nvSpPr>
        <p:spPr>
          <a:xfrm>
            <a:off x="5733288" y="2377440"/>
            <a:ext cx="286207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Public commits </a:t>
            </a:r>
            <a:r>
              <a:rPr sz="1200" b="0" lang="en-GB">
                <a:solidFill>
                  <a:schemeClr val="tx1"/>
                </a:solidFill>
              </a:rPr>
              <a:t>show the commit e-mail to anyone</a:t>
            </a:r>
          </a:p>
        </p:txBody>
      </p:sp>
      <p:sp>
        <p:nvSpPr>
          <p:cNvPr id="22" name="Email rows row 2"/>
          <p:cNvSpPr/>
          <p:nvPr/>
        </p:nvSpPr>
        <p:spPr>
          <a:xfrm>
            <a:off x="5532120" y="3163824"/>
            <a:ext cx="315468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Email rows bar 2"/>
          <p:cNvSpPr/>
          <p:nvPr/>
        </p:nvSpPr>
        <p:spPr>
          <a:xfrm>
            <a:off x="5532120" y="3163824"/>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Email rows text 2"/>
          <p:cNvSpPr txBox="1"/>
          <p:nvPr/>
        </p:nvSpPr>
        <p:spPr>
          <a:xfrm>
            <a:off x="5733288" y="3163824"/>
            <a:ext cx="286207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The noreply address </a:t>
            </a:r>
            <a:r>
              <a:rPr sz="1200" b="0" lang="en-GB">
                <a:solidFill>
                  <a:schemeClr val="tx1"/>
                </a:solidFill>
              </a:rPr>
              <a:t>still links commits to you</a:t>
            </a:r>
          </a:p>
        </p:txBody>
      </p:sp>
      <p:sp>
        <p:nvSpPr>
          <p:cNvPr id="25" name="Email WU box"/>
          <p:cNvSpPr/>
          <p:nvPr/>
        </p:nvSpPr>
        <p:spPr>
          <a:xfrm>
            <a:off x="457200" y="406908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Email WU" descr=""/>
          <p:cNvPicPr>
            <a:picLocks noChangeAspect="1"/>
          </p:cNvPicPr>
          <p:nvPr/>
        </p:nvPicPr>
        <p:blipFill>
          <a:blip r:embed="rId4"/>
          <a:stretch>
            <a:fillRect/>
          </a:stretch>
        </p:blipFill>
        <p:spPr>
          <a:xfrm>
            <a:off x="658368" y="4251960"/>
            <a:ext cx="365760" cy="365760"/>
          </a:xfrm>
          <a:prstGeom prst="rect">
            <a:avLst/>
          </a:prstGeom>
        </p:spPr>
      </p:pic>
      <p:sp>
        <p:nvSpPr>
          <p:cNvPr id="27" name="Email WU text"/>
          <p:cNvSpPr txBox="1"/>
          <p:nvPr/>
        </p:nvSpPr>
        <p:spPr>
          <a:xfrm>
            <a:off x="1207008" y="4069080"/>
            <a:ext cx="7315200" cy="731520"/>
          </a:xfrm>
          <a:prstGeom prst="rect">
            <a:avLst/>
          </a:prstGeom>
          <a:noFill/>
        </p:spPr>
        <p:txBody>
          <a:bodyPr wrap="square" lIns="0" rIns="0" tIns="0" bIns="0" anchor="ctr">
            <a:noAutofit/>
          </a:bodyPr>
          <a:lstStyle/>
          <a:p>
            <a:pPr algn="l">
              <a:spcAft>
                <a:spcPts val="400"/>
              </a:spcAft>
            </a:pPr>
            <a:r>
              <a:rPr sz="1200" b="1" lang="en-GB">
                <a:solidFill>
                  <a:schemeClr val="bg1"/>
                </a:solidFill>
              </a:rPr>
              <a:t>WU address: </a:t>
            </a:r>
            <a:r>
              <a:rPr sz="1200" b="0" lang="en-GB">
                <a:solidFill>
                  <a:schemeClr val="bg1"/>
                </a:solidFill>
              </a:rPr>
              <a:t>keep it verified on your account. GitHub Education checks it, even when your commits use the noreply address.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2 of 6 · who qualifies, what you get, how to apply</a:t>
            </a:r>
          </a:p>
        </p:txBody>
      </p:sp>
      <p:sp>
        <p:nvSpPr>
          <p:cNvPr id="3" name="Title 2"/>
          <p:cNvSpPr>
            <a:spLocks noGrp="1"/>
          </p:cNvSpPr>
          <p:nvPr>
            <p:ph type="ctrTitle"/>
          </p:nvPr>
        </p:nvSpPr>
        <p:spPr/>
        <p:txBody>
          <a:bodyPr/>
          <a:lstStyle/>
          <a:p>
            <a:r>
              <a:rPr sz="1600" lang="en-GB"/>
              <a:t>GitHub Education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GitHub Education: what students get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Get 1 body"/>
          <p:cNvSpPr/>
          <p:nvPr/>
        </p:nvSpPr>
        <p:spPr>
          <a:xfrm>
            <a:off x="457200" y="1645920"/>
            <a:ext cx="265176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Get 1 header"/>
          <p:cNvSpPr/>
          <p:nvPr/>
        </p:nvSpPr>
        <p:spPr>
          <a:xfrm>
            <a:off x="45720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Get 1 heading"/>
          <p:cNvSpPr txBox="1"/>
          <p:nvPr/>
        </p:nvSpPr>
        <p:spPr>
          <a:xfrm>
            <a:off x="59436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GitHub Copilot</a:t>
            </a:r>
          </a:p>
        </p:txBody>
      </p:sp>
      <p:pic>
        <p:nvPicPr>
          <p:cNvPr id="13" name="Icon Get 1" descr=""/>
          <p:cNvPicPr>
            <a:picLocks noChangeAspect="1"/>
          </p:cNvPicPr>
          <p:nvPr/>
        </p:nvPicPr>
        <p:blipFill>
          <a:blip r:embed="rId3"/>
          <a:stretch>
            <a:fillRect/>
          </a:stretch>
        </p:blipFill>
        <p:spPr>
          <a:xfrm>
            <a:off x="2670048" y="1284732"/>
            <a:ext cx="310896" cy="310896"/>
          </a:xfrm>
          <a:prstGeom prst="rect">
            <a:avLst/>
          </a:prstGeom>
        </p:spPr>
      </p:pic>
      <p:sp>
        <p:nvSpPr>
          <p:cNvPr id="14" name="Get 1 text"/>
          <p:cNvSpPr txBox="1"/>
          <p:nvPr/>
        </p:nvSpPr>
        <p:spPr>
          <a:xfrm>
            <a:off x="621792" y="1783080"/>
            <a:ext cx="235000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Free for verified students, with premium features</a:t>
            </a:r>
          </a:p>
          <a:p>
            <a:pPr algn="l" marL="182880" indent="-182880">
              <a:spcAft>
                <a:spcPts val="600"/>
              </a:spcAft>
              <a:buClr>
                <a:schemeClr val="accent1"/>
              </a:buClr>
              <a:buFont typeface="Arial"/>
              <a:buChar char="▪"/>
            </a:pPr>
            <a:r>
              <a:rPr sz="1300" b="0" lang="en-GB">
                <a:solidFill>
                  <a:schemeClr val="tx1"/>
                </a:solidFill>
              </a:rPr>
              <a:t>Works in Positron and GitHub Desktop</a:t>
            </a:r>
          </a:p>
        </p:txBody>
      </p:sp>
      <p:sp>
        <p:nvSpPr>
          <p:cNvPr id="15" name="Get 2 body"/>
          <p:cNvSpPr/>
          <p:nvPr/>
        </p:nvSpPr>
        <p:spPr>
          <a:xfrm>
            <a:off x="3246120" y="1645920"/>
            <a:ext cx="265176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Get 2 header"/>
          <p:cNvSpPr/>
          <p:nvPr/>
        </p:nvSpPr>
        <p:spPr>
          <a:xfrm>
            <a:off x="324612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Get 2 heading"/>
          <p:cNvSpPr txBox="1"/>
          <p:nvPr/>
        </p:nvSpPr>
        <p:spPr>
          <a:xfrm>
            <a:off x="338328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Codespaces</a:t>
            </a:r>
          </a:p>
        </p:txBody>
      </p:sp>
      <p:pic>
        <p:nvPicPr>
          <p:cNvPr id="18" name="Icon Get 2" descr=""/>
          <p:cNvPicPr>
            <a:picLocks noChangeAspect="1"/>
          </p:cNvPicPr>
          <p:nvPr/>
        </p:nvPicPr>
        <p:blipFill>
          <a:blip r:embed="rId4"/>
          <a:stretch>
            <a:fillRect/>
          </a:stretch>
        </p:blipFill>
        <p:spPr>
          <a:xfrm>
            <a:off x="5458968" y="1284732"/>
            <a:ext cx="310896" cy="310896"/>
          </a:xfrm>
          <a:prstGeom prst="rect">
            <a:avLst/>
          </a:prstGeom>
        </p:spPr>
      </p:pic>
      <p:sp>
        <p:nvSpPr>
          <p:cNvPr id="19" name="Get 2 text"/>
          <p:cNvSpPr txBox="1"/>
          <p:nvPr/>
        </p:nvSpPr>
        <p:spPr>
          <a:xfrm>
            <a:off x="3410712" y="1783080"/>
            <a:ext cx="235000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Cloud computers: up to 180 core hours a month</a:t>
            </a:r>
          </a:p>
          <a:p>
            <a:pPr algn="l" marL="182880" indent="-182880">
              <a:spcAft>
                <a:spcPts val="600"/>
              </a:spcAft>
              <a:buClr>
                <a:schemeClr val="accent1"/>
              </a:buClr>
              <a:buFont typeface="Arial"/>
              <a:buChar char="▪"/>
            </a:pPr>
            <a:r>
              <a:rPr sz="1300" b="0" lang="en-GB">
                <a:solidFill>
                  <a:schemeClr val="tx1"/>
                </a:solidFill>
              </a:rPr>
              <a:t>Not needed for this course</a:t>
            </a:r>
          </a:p>
        </p:txBody>
      </p:sp>
      <p:sp>
        <p:nvSpPr>
          <p:cNvPr id="20" name="Get 3 body"/>
          <p:cNvSpPr/>
          <p:nvPr/>
        </p:nvSpPr>
        <p:spPr>
          <a:xfrm>
            <a:off x="6035040" y="1645920"/>
            <a:ext cx="265176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Get 3 header"/>
          <p:cNvSpPr/>
          <p:nvPr/>
        </p:nvSpPr>
        <p:spPr>
          <a:xfrm>
            <a:off x="603504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Get 3 heading"/>
          <p:cNvSpPr txBox="1"/>
          <p:nvPr/>
        </p:nvSpPr>
        <p:spPr>
          <a:xfrm>
            <a:off x="617220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Developer Pack</a:t>
            </a:r>
          </a:p>
        </p:txBody>
      </p:sp>
      <p:pic>
        <p:nvPicPr>
          <p:cNvPr id="23" name="Icon Get 3" descr=""/>
          <p:cNvPicPr>
            <a:picLocks noChangeAspect="1"/>
          </p:cNvPicPr>
          <p:nvPr/>
        </p:nvPicPr>
        <p:blipFill>
          <a:blip r:embed="rId5"/>
          <a:stretch>
            <a:fillRect/>
          </a:stretch>
        </p:blipFill>
        <p:spPr>
          <a:xfrm>
            <a:off x="8247888" y="1284732"/>
            <a:ext cx="310896" cy="310896"/>
          </a:xfrm>
          <a:prstGeom prst="rect">
            <a:avLst/>
          </a:prstGeom>
        </p:spPr>
      </p:pic>
      <p:sp>
        <p:nvSpPr>
          <p:cNvPr id="24" name="Get 3 text"/>
          <p:cNvSpPr txBox="1"/>
          <p:nvPr/>
        </p:nvSpPr>
        <p:spPr>
          <a:xfrm>
            <a:off x="6199632" y="1783080"/>
            <a:ext cx="235000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Free offers from partner companies</a:t>
            </a:r>
          </a:p>
          <a:p>
            <a:pPr algn="l" marL="182880" indent="-182880">
              <a:spcAft>
                <a:spcPts val="600"/>
              </a:spcAft>
              <a:buClr>
                <a:schemeClr val="accent1"/>
              </a:buClr>
              <a:buFont typeface="Arial"/>
              <a:buChar char="▪"/>
            </a:pPr>
            <a:r>
              <a:rPr sz="1300" b="0" lang="en-GB">
                <a:solidFill>
                  <a:schemeClr val="tx1"/>
                </a:solidFill>
              </a:rPr>
              <a:t>Tools, domains, learning platforms</a:t>
            </a:r>
          </a:p>
        </p:txBody>
      </p:sp>
      <p:sp>
        <p:nvSpPr>
          <p:cNvPr id="25" name="Get rows row 1"/>
          <p:cNvSpPr/>
          <p:nvPr/>
        </p:nvSpPr>
        <p:spPr>
          <a:xfrm>
            <a:off x="457200" y="361188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Get rows bar 1"/>
          <p:cNvSpPr/>
          <p:nvPr/>
        </p:nvSpPr>
        <p:spPr>
          <a:xfrm>
            <a:off x="457200" y="361188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Get rows text 1"/>
          <p:cNvSpPr txBox="1"/>
          <p:nvPr/>
        </p:nvSpPr>
        <p:spPr>
          <a:xfrm>
            <a:off x="658368" y="361188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Portal: </a:t>
            </a:r>
            <a:r>
              <a:rPr sz="1200" b="0" lang="en-GB">
                <a:solidFill>
                  <a:schemeClr val="tx1"/>
                </a:solidFill>
              </a:rPr>
              <a:t>education.github.com shows your benefits once you are verified</a:t>
            </a:r>
          </a:p>
        </p:txBody>
      </p:sp>
      <p:sp>
        <p:nvSpPr>
          <p:cNvPr id="28" name="Get rows row 2"/>
          <p:cNvSpPr/>
          <p:nvPr/>
        </p:nvSpPr>
        <p:spPr>
          <a:xfrm>
            <a:off x="457200" y="413308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Get rows bar 2"/>
          <p:cNvSpPr/>
          <p:nvPr/>
        </p:nvSpPr>
        <p:spPr>
          <a:xfrm>
            <a:off x="457200" y="413308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Get rows text 2"/>
          <p:cNvSpPr txBox="1"/>
          <p:nvPr/>
        </p:nvSpPr>
        <p:spPr>
          <a:xfrm>
            <a:off x="658368" y="4133088"/>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Time-limited: </a:t>
            </a:r>
            <a:r>
              <a:rPr sz="1200" b="0" lang="en-GB">
                <a:solidFill>
                  <a:schemeClr val="tx1"/>
                </a:solidFill>
              </a:rPr>
              <a:t>GitHub re-checks your status; benefits end when you are no longer a student</a:t>
            </a:r>
          </a:p>
        </p:txBody>
      </p:sp>
      <p:sp>
        <p:nvSpPr>
          <p:cNvPr id="31" name="Sources"/>
          <p:cNvSpPr txBox="1"/>
          <p:nvPr/>
        </p:nvSpPr>
        <p:spPr>
          <a:xfrm>
            <a:off x="457200" y="470916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GitHub Docs, About GitHub Education for students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Who qualifies, and which proof works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Qualify card body"/>
          <p:cNvSpPr/>
          <p:nvPr/>
        </p:nvSpPr>
        <p:spPr>
          <a:xfrm>
            <a:off x="457200" y="1645920"/>
            <a:ext cx="402336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Qualify card header"/>
          <p:cNvSpPr/>
          <p:nvPr/>
        </p:nvSpPr>
        <p:spPr>
          <a:xfrm>
            <a:off x="457200" y="1234440"/>
            <a:ext cx="40233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Qualify card heading"/>
          <p:cNvSpPr txBox="1"/>
          <p:nvPr/>
        </p:nvSpPr>
        <p:spPr>
          <a:xfrm>
            <a:off x="594360" y="1234440"/>
            <a:ext cx="33375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You qualify if you</a:t>
            </a:r>
          </a:p>
        </p:txBody>
      </p:sp>
      <p:pic>
        <p:nvPicPr>
          <p:cNvPr id="13" name="Icon Qualify card" descr=""/>
          <p:cNvPicPr>
            <a:picLocks noChangeAspect="1"/>
          </p:cNvPicPr>
          <p:nvPr/>
        </p:nvPicPr>
        <p:blipFill>
          <a:blip r:embed="rId3"/>
          <a:stretch>
            <a:fillRect/>
          </a:stretch>
        </p:blipFill>
        <p:spPr>
          <a:xfrm>
            <a:off x="4041648" y="1284732"/>
            <a:ext cx="310896" cy="310896"/>
          </a:xfrm>
          <a:prstGeom prst="rect">
            <a:avLst/>
          </a:prstGeom>
        </p:spPr>
      </p:pic>
      <p:sp>
        <p:nvSpPr>
          <p:cNvPr id="14" name="Qualify card text"/>
          <p:cNvSpPr txBox="1"/>
          <p:nvPr/>
        </p:nvSpPr>
        <p:spPr>
          <a:xfrm>
            <a:off x="621792" y="1783080"/>
            <a:ext cx="372160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Study in a degree programme (WU: yes)</a:t>
            </a:r>
          </a:p>
          <a:p>
            <a:pPr algn="l" marL="182880" indent="-182880">
              <a:spcAft>
                <a:spcPts val="600"/>
              </a:spcAft>
              <a:buClr>
                <a:schemeClr val="accent1"/>
              </a:buClr>
              <a:buFont typeface="Arial"/>
              <a:buChar char="▪"/>
            </a:pPr>
            <a:r>
              <a:rPr sz="1300" b="0" lang="en-GB">
                <a:solidFill>
                  <a:schemeClr val="tx1"/>
                </a:solidFill>
              </a:rPr>
              <a:t>Have your own personal GitHub account</a:t>
            </a:r>
          </a:p>
          <a:p>
            <a:pPr algn="l" marL="182880" indent="-182880">
              <a:spcAft>
                <a:spcPts val="600"/>
              </a:spcAft>
              <a:buClr>
                <a:schemeClr val="accent1"/>
              </a:buClr>
              <a:buFont typeface="Arial"/>
              <a:buChar char="▪"/>
            </a:pPr>
            <a:r>
              <a:rPr sz="1300" b="0" lang="en-GB">
                <a:solidFill>
                  <a:schemeClr val="tx1"/>
                </a:solidFill>
              </a:rPr>
              <a:t>Are at least 13 years old</a:t>
            </a:r>
          </a:p>
          <a:p>
            <a:pPr algn="l" marL="182880" indent="-182880">
              <a:spcAft>
                <a:spcPts val="600"/>
              </a:spcAft>
              <a:buClr>
                <a:schemeClr val="accent1"/>
              </a:buClr>
              <a:buFont typeface="Arial"/>
              <a:buChar char="▪"/>
            </a:pPr>
            <a:r>
              <a:rPr sz="1300" b="0" lang="en-GB">
                <a:solidFill>
                  <a:schemeClr val="tx1"/>
                </a:solidFill>
              </a:rPr>
              <a:t>Can prove current enrolment</a:t>
            </a:r>
          </a:p>
        </p:txBody>
      </p:sp>
      <p:sp>
        <p:nvSpPr>
          <p:cNvPr id="15" name="Proof card body"/>
          <p:cNvSpPr/>
          <p:nvPr/>
        </p:nvSpPr>
        <p:spPr>
          <a:xfrm>
            <a:off x="4663440" y="1645920"/>
            <a:ext cx="402336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roof card header"/>
          <p:cNvSpPr/>
          <p:nvPr/>
        </p:nvSpPr>
        <p:spPr>
          <a:xfrm>
            <a:off x="4663440" y="1234440"/>
            <a:ext cx="40233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roof card heading"/>
          <p:cNvSpPr txBox="1"/>
          <p:nvPr/>
        </p:nvSpPr>
        <p:spPr>
          <a:xfrm>
            <a:off x="4800600" y="1234440"/>
            <a:ext cx="33375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Proof GitHub accepts</a:t>
            </a:r>
          </a:p>
        </p:txBody>
      </p:sp>
      <p:pic>
        <p:nvPicPr>
          <p:cNvPr id="18" name="Icon Proof card" descr=""/>
          <p:cNvPicPr>
            <a:picLocks noChangeAspect="1"/>
          </p:cNvPicPr>
          <p:nvPr/>
        </p:nvPicPr>
        <p:blipFill>
          <a:blip r:embed="rId4"/>
          <a:stretch>
            <a:fillRect/>
          </a:stretch>
        </p:blipFill>
        <p:spPr>
          <a:xfrm>
            <a:off x="8247888" y="1284732"/>
            <a:ext cx="310896" cy="310896"/>
          </a:xfrm>
          <a:prstGeom prst="rect">
            <a:avLst/>
          </a:prstGeom>
        </p:spPr>
      </p:pic>
      <p:sp>
        <p:nvSpPr>
          <p:cNvPr id="19" name="Proof card text"/>
          <p:cNvSpPr txBox="1"/>
          <p:nvPr/>
        </p:nvSpPr>
        <p:spPr>
          <a:xfrm>
            <a:off x="4828032" y="1783080"/>
            <a:ext cx="372160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Student ID showing the current enrolment date</a:t>
            </a:r>
          </a:p>
          <a:p>
            <a:pPr algn="l" marL="182880" indent="-182880">
              <a:spcAft>
                <a:spcPts val="600"/>
              </a:spcAft>
              <a:buClr>
                <a:schemeClr val="accent1"/>
              </a:buClr>
              <a:buFont typeface="Arial"/>
              <a:buChar char="▪"/>
            </a:pPr>
            <a:r>
              <a:rPr sz="1300" b="0" lang="en-GB">
                <a:solidFill>
                  <a:schemeClr val="tx1"/>
                </a:solidFill>
              </a:rPr>
              <a:t>Enrolment confirmation (Studienbestätigung)</a:t>
            </a:r>
          </a:p>
          <a:p>
            <a:pPr algn="l" marL="182880" indent="-182880">
              <a:spcAft>
                <a:spcPts val="600"/>
              </a:spcAft>
              <a:buClr>
                <a:schemeClr val="accent1"/>
              </a:buClr>
              <a:buFont typeface="Arial"/>
              <a:buChar char="▪"/>
            </a:pPr>
            <a:r>
              <a:rPr sz="1300" b="0" lang="en-GB">
                <a:solidFill>
                  <a:schemeClr val="tx1"/>
                </a:solidFill>
              </a:rPr>
              <a:t>Transcript of records</a:t>
            </a:r>
          </a:p>
          <a:p>
            <a:pPr algn="l" marL="182880" indent="-182880">
              <a:spcAft>
                <a:spcPts val="600"/>
              </a:spcAft>
              <a:buClr>
                <a:schemeClr val="accent1"/>
              </a:buClr>
              <a:buFont typeface="Arial"/>
              <a:buChar char="▪"/>
            </a:pPr>
            <a:r>
              <a:rPr sz="1300" b="0" lang="en-GB">
                <a:solidFill>
                  <a:schemeClr val="tx1"/>
                </a:solidFill>
              </a:rPr>
              <a:t>Your class schedule</a:t>
            </a:r>
          </a:p>
        </p:txBody>
      </p:sp>
      <p:sp>
        <p:nvSpPr>
          <p:cNvPr id="20" name="Qualify mail box"/>
          <p:cNvSpPr/>
          <p:nvPr/>
        </p:nvSpPr>
        <p:spPr>
          <a:xfrm>
            <a:off x="457200" y="393192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Qualify mail" descr=""/>
          <p:cNvPicPr>
            <a:picLocks noChangeAspect="1"/>
          </p:cNvPicPr>
          <p:nvPr/>
        </p:nvPicPr>
        <p:blipFill>
          <a:blip r:embed="rId5"/>
          <a:stretch>
            <a:fillRect/>
          </a:stretch>
        </p:blipFill>
        <p:spPr>
          <a:xfrm>
            <a:off x="658368" y="4114800"/>
            <a:ext cx="365760" cy="365760"/>
          </a:xfrm>
          <a:prstGeom prst="rect">
            <a:avLst/>
          </a:prstGeom>
        </p:spPr>
      </p:pic>
      <p:sp>
        <p:nvSpPr>
          <p:cNvPr id="22" name="Qualify mail text"/>
          <p:cNvSpPr txBox="1"/>
          <p:nvPr/>
        </p:nvSpPr>
        <p:spPr>
          <a:xfrm>
            <a:off x="1207008" y="3931920"/>
            <a:ext cx="7315200" cy="731520"/>
          </a:xfrm>
          <a:prstGeom prst="rect">
            <a:avLst/>
          </a:prstGeom>
          <a:noFill/>
        </p:spPr>
        <p:txBody>
          <a:bodyPr wrap="square" lIns="0" rIns="0" tIns="0" bIns="0" anchor="ctr">
            <a:noAutofit/>
          </a:bodyPr>
          <a:lstStyle/>
          <a:p>
            <a:pPr algn="l">
              <a:spcAft>
                <a:spcPts val="400"/>
              </a:spcAft>
            </a:pPr>
            <a:r>
              <a:rPr sz="1200" b="1" lang="en-GB">
                <a:solidFill>
                  <a:schemeClr val="bg1"/>
                </a:solidFill>
              </a:rPr>
              <a:t>Academic e-mail first: </a:t>
            </a:r>
            <a:r>
              <a:rPr sz="1200" b="0" lang="en-GB">
                <a:solidFill>
                  <a:schemeClr val="bg1"/>
                </a:solidFill>
              </a:rPr>
              <a:t>add and verify your WU address in GitHub before you apply; lower case, no plus sign (anna+x@...).</a:t>
            </a:r>
          </a:p>
        </p:txBody>
      </p:sp>
      <p:sp>
        <p:nvSpPr>
          <p:cNvPr id="23" name="Sources"/>
          <p:cNvSpPr txBox="1"/>
          <p:nvPr/>
        </p:nvSpPr>
        <p:spPr>
          <a:xfrm>
            <a:off x="457200" y="475488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GitHub Docs, Apply to GitHub Education as a student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Apply in six steps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Apply row 1"/>
          <p:cNvSpPr/>
          <p:nvPr/>
        </p:nvSpPr>
        <p:spPr>
          <a:xfrm>
            <a:off x="457200" y="1234440"/>
            <a:ext cx="52578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Apply number 1"/>
          <p:cNvSpPr/>
          <p:nvPr/>
        </p:nvSpPr>
        <p:spPr>
          <a:xfrm>
            <a:off x="594360" y="13167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Apply text 1"/>
          <p:cNvSpPr txBox="1"/>
          <p:nvPr/>
        </p:nvSpPr>
        <p:spPr>
          <a:xfrm>
            <a:off x="1051560" y="1234440"/>
            <a:ext cx="4526280" cy="475488"/>
          </a:xfrm>
          <a:prstGeom prst="rect">
            <a:avLst/>
          </a:prstGeom>
          <a:noFill/>
        </p:spPr>
        <p:txBody>
          <a:bodyPr wrap="square" lIns="0" rIns="0" tIns="0" bIns="0" anchor="ctr">
            <a:noAutofit/>
          </a:bodyPr>
          <a:lstStyle/>
          <a:p>
            <a:pPr algn="l">
              <a:spcAft>
                <a:spcPts val="400"/>
              </a:spcAft>
            </a:pPr>
            <a:r>
              <a:rPr sz="1200" b="0" lang="en-GB">
                <a:solidFill>
                  <a:schemeClr val="tx1"/>
                </a:solidFill>
              </a:rPr>
              <a:t>Open </a:t>
            </a:r>
            <a:r>
              <a:rPr sz="1200" b="0" lang="en-GB">
                <a:solidFill>
                  <a:schemeClr val="accent1"/>
                </a:solidFill>
                <a:hlinkClick r:id="rId3"/>
              </a:rPr>
              <a:t>github.com/settings/education/benefits</a:t>
            </a:r>
          </a:p>
        </p:txBody>
      </p:sp>
      <p:sp>
        <p:nvSpPr>
          <p:cNvPr id="13" name="Apply row 2"/>
          <p:cNvSpPr/>
          <p:nvPr/>
        </p:nvSpPr>
        <p:spPr>
          <a:xfrm>
            <a:off x="457200" y="1773936"/>
            <a:ext cx="52578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Apply number 2"/>
          <p:cNvSpPr/>
          <p:nvPr/>
        </p:nvSpPr>
        <p:spPr>
          <a:xfrm>
            <a:off x="594360" y="185623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Apply text 2"/>
          <p:cNvSpPr txBox="1"/>
          <p:nvPr/>
        </p:nvSpPr>
        <p:spPr>
          <a:xfrm>
            <a:off x="1051560" y="1773936"/>
            <a:ext cx="4526280"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Click </a:t>
            </a:r>
            <a:r>
              <a:rPr sz="1200" b="0" lang="en-GB">
                <a:solidFill>
                  <a:schemeClr val="tx1"/>
                </a:solidFill>
              </a:rPr>
              <a:t>Start an application; choose Student</a:t>
            </a:r>
          </a:p>
        </p:txBody>
      </p:sp>
      <p:sp>
        <p:nvSpPr>
          <p:cNvPr id="16" name="Apply row 3"/>
          <p:cNvSpPr/>
          <p:nvPr/>
        </p:nvSpPr>
        <p:spPr>
          <a:xfrm>
            <a:off x="457200" y="2313432"/>
            <a:ext cx="52578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Apply number 3"/>
          <p:cNvSpPr/>
          <p:nvPr/>
        </p:nvSpPr>
        <p:spPr>
          <a:xfrm>
            <a:off x="594360" y="239572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Apply text 3"/>
          <p:cNvSpPr txBox="1"/>
          <p:nvPr/>
        </p:nvSpPr>
        <p:spPr>
          <a:xfrm>
            <a:off x="1051560" y="2313432"/>
            <a:ext cx="4526280"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School: </a:t>
            </a:r>
            <a:r>
              <a:rPr sz="1200" b="0" lang="en-GB">
                <a:solidFill>
                  <a:schemeClr val="tx1"/>
                </a:solidFill>
              </a:rPr>
              <a:t>Vienna University of Economics and Business</a:t>
            </a:r>
          </a:p>
        </p:txBody>
      </p:sp>
      <p:sp>
        <p:nvSpPr>
          <p:cNvPr id="19" name="Apply row 4"/>
          <p:cNvSpPr/>
          <p:nvPr/>
        </p:nvSpPr>
        <p:spPr>
          <a:xfrm>
            <a:off x="457200" y="2852928"/>
            <a:ext cx="52578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Apply number 4"/>
          <p:cNvSpPr/>
          <p:nvPr/>
        </p:nvSpPr>
        <p:spPr>
          <a:xfrm>
            <a:off x="594360" y="29352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Apply text 4"/>
          <p:cNvSpPr txBox="1"/>
          <p:nvPr/>
        </p:nvSpPr>
        <p:spPr>
          <a:xfrm>
            <a:off x="1051560" y="2852928"/>
            <a:ext cx="4526280"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E-mail: </a:t>
            </a:r>
            <a:r>
              <a:rPr sz="1200" b="0" lang="en-GB">
                <a:solidFill>
                  <a:schemeClr val="tx1"/>
                </a:solidFill>
              </a:rPr>
              <a:t>select your verified WU address</a:t>
            </a:r>
          </a:p>
        </p:txBody>
      </p:sp>
      <p:sp>
        <p:nvSpPr>
          <p:cNvPr id="22" name="Apply row 5"/>
          <p:cNvSpPr/>
          <p:nvPr/>
        </p:nvSpPr>
        <p:spPr>
          <a:xfrm>
            <a:off x="457200" y="3392424"/>
            <a:ext cx="52578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Apply number 5"/>
          <p:cNvSpPr/>
          <p:nvPr/>
        </p:nvSpPr>
        <p:spPr>
          <a:xfrm>
            <a:off x="594360" y="347472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Apply text 5"/>
          <p:cNvSpPr txBox="1"/>
          <p:nvPr/>
        </p:nvSpPr>
        <p:spPr>
          <a:xfrm>
            <a:off x="1051560" y="3392424"/>
            <a:ext cx="4526280"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Proof: </a:t>
            </a:r>
            <a:r>
              <a:rPr sz="1200" b="0" lang="en-GB">
                <a:solidFill>
                  <a:schemeClr val="tx1"/>
                </a:solidFill>
              </a:rPr>
              <a:t>upload or photograph your document</a:t>
            </a:r>
          </a:p>
        </p:txBody>
      </p:sp>
      <p:sp>
        <p:nvSpPr>
          <p:cNvPr id="25" name="Apply row 6"/>
          <p:cNvSpPr/>
          <p:nvPr/>
        </p:nvSpPr>
        <p:spPr>
          <a:xfrm>
            <a:off x="457200" y="3931920"/>
            <a:ext cx="52578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Apply number 6"/>
          <p:cNvSpPr/>
          <p:nvPr/>
        </p:nvSpPr>
        <p:spPr>
          <a:xfrm>
            <a:off x="594360" y="401421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6</a:t>
            </a:r>
          </a:p>
        </p:txBody>
      </p:sp>
      <p:sp>
        <p:nvSpPr>
          <p:cNvPr id="27" name="Apply text 6"/>
          <p:cNvSpPr txBox="1"/>
          <p:nvPr/>
        </p:nvSpPr>
        <p:spPr>
          <a:xfrm>
            <a:off x="1051560" y="3931920"/>
            <a:ext cx="4526280"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Submit </a:t>
            </a:r>
            <a:r>
              <a:rPr sz="1200" b="0" lang="en-GB">
                <a:solidFill>
                  <a:schemeClr val="tx1"/>
                </a:solidFill>
              </a:rPr>
              <a:t>and wait for the e-mail with the decision</a:t>
            </a:r>
          </a:p>
        </p:txBody>
      </p:sp>
      <p:sp>
        <p:nvSpPr>
          <p:cNvPr id="28" name="Apply tips box"/>
          <p:cNvSpPr/>
          <p:nvPr/>
        </p:nvSpPr>
        <p:spPr>
          <a:xfrm>
            <a:off x="5852160" y="1234440"/>
            <a:ext cx="2834640" cy="373075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Apply tips head"/>
          <p:cNvSpPr txBox="1"/>
          <p:nvPr/>
        </p:nvSpPr>
        <p:spPr>
          <a:xfrm>
            <a:off x="5989320" y="1325880"/>
            <a:ext cx="260604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Photo tips</a:t>
            </a:r>
          </a:p>
        </p:txBody>
      </p:sp>
      <p:sp>
        <p:nvSpPr>
          <p:cNvPr id="30" name="Apply tips"/>
          <p:cNvSpPr txBox="1"/>
          <p:nvPr/>
        </p:nvSpPr>
        <p:spPr>
          <a:xfrm>
            <a:off x="5989320" y="1737360"/>
            <a:ext cx="2606040" cy="31089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200" b="0" lang="en-GB">
                <a:solidFill>
                  <a:schemeClr val="tx1"/>
                </a:solidFill>
              </a:rPr>
              <a:t>Whole document in the frame</a:t>
            </a:r>
          </a:p>
          <a:p>
            <a:pPr algn="l" marL="182880" indent="-182880">
              <a:spcAft>
                <a:spcPts val="600"/>
              </a:spcAft>
              <a:buClr>
                <a:schemeClr val="accent1"/>
              </a:buClr>
              <a:buFont typeface="Arial"/>
              <a:buChar char="▪"/>
            </a:pPr>
            <a:r>
              <a:rPr sz="1200" b="0" lang="en-GB">
                <a:solidFill>
                  <a:schemeClr val="tx1"/>
                </a:solidFill>
              </a:rPr>
              <a:t>Name, school and current date readable</a:t>
            </a:r>
          </a:p>
          <a:p>
            <a:pPr algn="l" marL="182880" indent="-182880">
              <a:spcAft>
                <a:spcPts val="600"/>
              </a:spcAft>
              <a:buClr>
                <a:schemeClr val="accent1"/>
              </a:buClr>
              <a:buFont typeface="Arial"/>
              <a:buChar char="▪"/>
            </a:pPr>
            <a:r>
              <a:rPr sz="1200" b="0" lang="en-GB">
                <a:solidFill>
                  <a:schemeClr val="tx1"/>
                </a:solidFill>
              </a:rPr>
              <a:t>Daylight, no glare</a:t>
            </a:r>
          </a:p>
          <a:p>
            <a:pPr algn="l" marL="182880" indent="-182880">
              <a:spcAft>
                <a:spcPts val="600"/>
              </a:spcAft>
              <a:buClr>
                <a:schemeClr val="accent1"/>
              </a:buClr>
              <a:buFont typeface="Arial"/>
              <a:buChar char="▪"/>
            </a:pPr>
            <a:r>
              <a:rPr sz="1200" b="0" lang="en-GB">
                <a:solidFill>
                  <a:schemeClr val="tx1"/>
                </a:solidFill>
              </a:rPr>
              <a:t>Allow camera and location if the browser asks</a:t>
            </a:r>
          </a:p>
          <a:p>
            <a:pPr algn="l" marL="182880" indent="-182880">
              <a:spcAft>
                <a:spcPts val="600"/>
              </a:spcAft>
              <a:buClr>
                <a:schemeClr val="accent1"/>
              </a:buClr>
              <a:buFont typeface="Arial"/>
              <a:buChar char="▪"/>
            </a:pPr>
            <a:r>
              <a:rPr sz="1200" b="0" lang="en-GB">
                <a:solidFill>
                  <a:schemeClr val="tx1"/>
                </a:solidFill>
              </a:rPr>
              <a:t>Check the status on the same page</a:t>
            </a:r>
          </a:p>
        </p:txBody>
      </p:sp>
      <p:sp>
        <p:nvSpPr>
          <p:cNvPr id="31" name="Apply wait box"/>
          <p:cNvSpPr/>
          <p:nvPr/>
        </p:nvSpPr>
        <p:spPr>
          <a:xfrm>
            <a:off x="457200" y="4480560"/>
            <a:ext cx="5257800" cy="48463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Apply wait" descr=""/>
          <p:cNvPicPr>
            <a:picLocks noChangeAspect="1"/>
          </p:cNvPicPr>
          <p:nvPr/>
        </p:nvPicPr>
        <p:blipFill>
          <a:blip r:embed="rId4"/>
          <a:stretch>
            <a:fillRect/>
          </a:stretch>
        </p:blipFill>
        <p:spPr>
          <a:xfrm>
            <a:off x="658368" y="4539996"/>
            <a:ext cx="365760" cy="365760"/>
          </a:xfrm>
          <a:prstGeom prst="rect">
            <a:avLst/>
          </a:prstGeom>
        </p:spPr>
      </p:pic>
      <p:sp>
        <p:nvSpPr>
          <p:cNvPr id="33" name="Apply wait text"/>
          <p:cNvSpPr txBox="1"/>
          <p:nvPr/>
        </p:nvSpPr>
        <p:spPr>
          <a:xfrm>
            <a:off x="1207008" y="4480560"/>
            <a:ext cx="4343400" cy="484632"/>
          </a:xfrm>
          <a:prstGeom prst="rect">
            <a:avLst/>
          </a:prstGeom>
          <a:noFill/>
        </p:spPr>
        <p:txBody>
          <a:bodyPr wrap="square" lIns="0" rIns="0" tIns="0" bIns="0" anchor="ctr">
            <a:noAutofit/>
          </a:bodyPr>
          <a:lstStyle/>
          <a:p>
            <a:pPr algn="l">
              <a:spcAft>
                <a:spcPts val="400"/>
              </a:spcAft>
            </a:pPr>
            <a:r>
              <a:rPr sz="1200" b="1" lang="en-GB">
                <a:solidFill>
                  <a:schemeClr val="bg1"/>
                </a:solidFill>
              </a:rPr>
              <a:t>Minutes to several days: </a:t>
            </a:r>
            <a:r>
              <a:rPr sz="1200" b="0" lang="en-GB">
                <a:solidFill>
                  <a:schemeClr val="bg1"/>
                </a:solidFill>
              </a:rPr>
              <a:t>carry on with Part 3 meanwhile.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Reject table"/>
          <p:cNvGraphicFramePr>
            <a:graphicFrameLocks noGrp="1"/>
          </p:cNvGraphicFramePr>
          <p:nvPr>
            <p:ph type="tbl" idx="1"/>
          </p:nvPr>
        </p:nvGraphicFramePr>
        <p:xfrm>
          <a:off x="457200" y="1234440"/>
          <a:ext cx="8229600" cy="2225040"/>
        </p:xfrm>
        <a:graphic>
          <a:graphicData uri="http://schemas.openxmlformats.org/drawingml/2006/table">
            <a:tbl>
              <a:tblPr firstRow="1" bandRow="1">
                <a:tableStyleId>{5C22544A-7EE6-4342-B048-85BDC9FD1C3A}</a:tableStyleId>
              </a:tblPr>
              <a:tblGrid>
                <a:gridCol w="3291840"/>
                <a:gridCol w="4937760"/>
              </a:tblGrid>
              <a:tr h="370840">
                <a:tc>
                  <a:txBody>
                    <a:bodyPr/>
                    <a:lstStyle/>
                    <a:p>
                      <a:r>
                        <a:rPr sz="1300" lang="en-GB"/>
                        <a:t>Reason</a:t>
                      </a:r>
                    </a:p>
                  </a:txBody>
                  <a:tcPr marT="55000" marB="55000"/>
                </a:tc>
                <a:tc>
                  <a:txBody>
                    <a:bodyPr/>
                    <a:lstStyle/>
                    <a:p>
                      <a:r>
                        <a:rPr sz="1300" lang="en-GB"/>
                        <a:t>What to do</a:t>
                      </a:r>
                    </a:p>
                  </a:txBody>
                  <a:tcPr marT="55000" marB="55000"/>
                </a:tc>
              </a:tr>
              <a:tr h="370840">
                <a:tc>
                  <a:txBody>
                    <a:bodyPr/>
                    <a:lstStyle/>
                    <a:p>
                      <a:r>
                        <a:rPr sz="1200" b="1" lang="en-GB"/>
                        <a:t>Blurry document, or no current date</a:t>
                      </a:r>
                    </a:p>
                  </a:txBody>
                  <a:tcPr marT="55000" marB="55000"/>
                </a:tc>
                <a:tc>
                  <a:txBody>
                    <a:bodyPr/>
                    <a:lstStyle/>
                    <a:p>
                      <a:r>
                        <a:rPr sz="1200" lang="en-GB"/>
                        <a:t>Reapply with a sharp photo of a dated enrolment confirmation</a:t>
                      </a:r>
                    </a:p>
                  </a:txBody>
                  <a:tcPr marT="55000" marB="55000"/>
                </a:tc>
              </a:tr>
              <a:tr h="370840">
                <a:tc>
                  <a:txBody>
                    <a:bodyPr/>
                    <a:lstStyle/>
                    <a:p>
                      <a:r>
                        <a:rPr sz="1200" b="1" lang="en-GB"/>
                        <a:t>WU address not added or not verified</a:t>
                      </a:r>
                    </a:p>
                  </a:txBody>
                  <a:tcPr marT="55000" marB="55000"/>
                </a:tc>
                <a:tc>
                  <a:txBody>
                    <a:bodyPr/>
                    <a:lstStyle/>
                    <a:p>
                      <a:r>
                        <a:rPr sz="1200" lang="en-GB"/>
                        <a:t>Settings → Emails: add it, click the link in the confirmation e-mail</a:t>
                      </a:r>
                    </a:p>
                  </a:txBody>
                  <a:tcPr marT="55000" marB="55000"/>
                </a:tc>
              </a:tr>
              <a:tr h="370840">
                <a:tc>
                  <a:txBody>
                    <a:bodyPr/>
                    <a:lstStyle/>
                    <a:p>
                      <a:r>
                        <a:rPr sz="1200" b="1" lang="en-GB"/>
                        <a:t>Address with capitals or a plus sign</a:t>
                      </a:r>
                    </a:p>
                  </a:txBody>
                  <a:tcPr marT="55000" marB="55000"/>
                </a:tc>
                <a:tc>
                  <a:txBody>
                    <a:bodyPr/>
                    <a:lstStyle/>
                    <a:p>
                      <a:r>
                        <a:rPr sz="1200" lang="en-GB"/>
                        <a:t>Delete it, add it again in lower case without +</a:t>
                      </a:r>
                    </a:p>
                  </a:txBody>
                  <a:tcPr marT="55000" marB="55000"/>
                </a:tc>
              </a:tr>
              <a:tr h="370840">
                <a:tc>
                  <a:txBody>
                    <a:bodyPr/>
                    <a:lstStyle/>
                    <a:p>
                      <a:r>
                        <a:rPr sz="1200" b="1" lang="en-GB"/>
                        <a:t>Address already used by another account</a:t>
                      </a:r>
                    </a:p>
                  </a:txBody>
                  <a:tcPr marT="55000" marB="55000"/>
                </a:tc>
                <a:tc>
                  <a:txBody>
                    <a:bodyPr/>
                    <a:lstStyle/>
                    <a:p>
                      <a:r>
                        <a:rPr sz="1200" lang="en-GB"/>
                        <a:t>Use the account that got the pack; merge accounts</a:t>
                      </a:r>
                    </a:p>
                  </a:txBody>
                  <a:tcPr marT="55000" marB="55000"/>
                </a:tc>
              </a:tr>
              <a:tr h="370840">
                <a:tc>
                  <a:txBody>
                    <a:bodyPr/>
                    <a:lstStyle/>
                    <a:p>
                      <a:r>
                        <a:rPr sz="1200" b="1" lang="en-GB"/>
                        <a:t>Still stuck</a:t>
                      </a:r>
                    </a:p>
                  </a:txBody>
                  <a:tcPr marT="55000" marB="55000"/>
                </a:tc>
                <a:tc>
                  <a:txBody>
                    <a:bodyPr/>
                    <a:lstStyle/>
                    <a:p>
                      <a:r>
                        <a:rPr sz="1200" lang="en-GB"/>
                        <a:t>support.github.com/contact/education, describe each step you tried</a:t>
                      </a:r>
                    </a:p>
                  </a:txBody>
                  <a:tcPr marT="55000" marB="55000"/>
                </a:tc>
              </a:tr>
            </a:tbl>
          </a:graphicData>
        </a:graphic>
      </p:graphicFrame>
      <p:sp>
        <p:nvSpPr>
          <p:cNvPr id="3" name="Title 2"/>
          <p:cNvSpPr>
            <a:spLocks noGrp="1"/>
          </p:cNvSpPr>
          <p:nvPr>
            <p:ph type="title"/>
          </p:nvPr>
        </p:nvSpPr>
        <p:spPr/>
        <p:txBody>
          <a:bodyPr/>
          <a:lstStyle/>
          <a:p>
            <a:r>
              <a:rPr sz="1600" lang="en-GB"/>
              <a:t>Not approved? Common reasons and fixes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eapply box"/>
          <p:cNvSpPr/>
          <p:nvPr/>
        </p:nvSpPr>
        <p:spPr>
          <a:xfrm>
            <a:off x="457200" y="4160520"/>
            <a:ext cx="8229600" cy="594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Reapply" descr=""/>
          <p:cNvPicPr>
            <a:picLocks noChangeAspect="1"/>
          </p:cNvPicPr>
          <p:nvPr/>
        </p:nvPicPr>
        <p:blipFill>
          <a:blip r:embed="rId3"/>
          <a:stretch>
            <a:fillRect/>
          </a:stretch>
        </p:blipFill>
        <p:spPr>
          <a:xfrm>
            <a:off x="658368" y="4274820"/>
            <a:ext cx="365760" cy="365760"/>
          </a:xfrm>
          <a:prstGeom prst="rect">
            <a:avLst/>
          </a:prstGeom>
        </p:spPr>
      </p:pic>
      <p:sp>
        <p:nvSpPr>
          <p:cNvPr id="12" name="Reapply text"/>
          <p:cNvSpPr txBox="1"/>
          <p:nvPr/>
        </p:nvSpPr>
        <p:spPr>
          <a:xfrm>
            <a:off x="1207008" y="4160520"/>
            <a:ext cx="7315200" cy="594360"/>
          </a:xfrm>
          <a:prstGeom prst="rect">
            <a:avLst/>
          </a:prstGeom>
          <a:noFill/>
        </p:spPr>
        <p:txBody>
          <a:bodyPr wrap="square" lIns="0" rIns="0" tIns="0" bIns="0" anchor="ctr">
            <a:noAutofit/>
          </a:bodyPr>
          <a:lstStyle/>
          <a:p>
            <a:pPr algn="l">
              <a:spcAft>
                <a:spcPts val="400"/>
              </a:spcAft>
            </a:pPr>
            <a:r>
              <a:rPr sz="1200" b="1" lang="en-GB">
                <a:solidFill>
                  <a:schemeClr val="tx2"/>
                </a:solidFill>
              </a:rPr>
              <a:t>Reapply any time: </a:t>
            </a:r>
            <a:r>
              <a:rPr sz="1200" b="0" lang="en-GB">
                <a:solidFill>
                  <a:schemeClr val="tx1"/>
                </a:solidFill>
              </a:rPr>
              <a:t>same page, Start an application.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3 of 6 · download, sign in, your name and e-mail for commits</a:t>
            </a:r>
          </a:p>
        </p:txBody>
      </p:sp>
      <p:sp>
        <p:nvSpPr>
          <p:cNvPr id="3" name="Title 2"/>
          <p:cNvSpPr>
            <a:spLocks noGrp="1"/>
          </p:cNvSpPr>
          <p:nvPr>
            <p:ph type="ctrTitle"/>
          </p:nvPr>
        </p:nvSpPr>
        <p:spPr/>
        <p:txBody>
          <a:bodyPr/>
          <a:lstStyle/>
          <a:p>
            <a:r>
              <a:rPr sz="1600" lang="en-GB"/>
              <a:t>Install and set up GitHub Desktop</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Install GitHub Desktop</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Win body"/>
          <p:cNvSpPr/>
          <p:nvPr/>
        </p:nvSpPr>
        <p:spPr>
          <a:xfrm>
            <a:off x="457200" y="1645920"/>
            <a:ext cx="4046220" cy="20116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Win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Win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Windows 10/11 (64-bit)</a:t>
            </a:r>
          </a:p>
        </p:txBody>
      </p:sp>
      <p:pic>
        <p:nvPicPr>
          <p:cNvPr id="13" name="Icon Win" descr=""/>
          <p:cNvPicPr>
            <a:picLocks noChangeAspect="1"/>
          </p:cNvPicPr>
          <p:nvPr/>
        </p:nvPicPr>
        <p:blipFill>
          <a:blip r:embed="rId3"/>
          <a:stretch>
            <a:fillRect/>
          </a:stretch>
        </p:blipFill>
        <p:spPr>
          <a:xfrm>
            <a:off x="4064508" y="1284732"/>
            <a:ext cx="310896" cy="310896"/>
          </a:xfrm>
          <a:prstGeom prst="rect">
            <a:avLst/>
          </a:prstGeom>
        </p:spPr>
      </p:pic>
      <p:sp>
        <p:nvSpPr>
          <p:cNvPr id="14" name="Win text"/>
          <p:cNvSpPr txBox="1"/>
          <p:nvPr/>
        </p:nvSpPr>
        <p:spPr>
          <a:xfrm>
            <a:off x="621792" y="1783080"/>
            <a:ext cx="3744468" cy="178308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0" lang="en-GB">
                <a:solidFill>
                  <a:schemeClr val="tx1"/>
                </a:solidFill>
              </a:rPr>
              <a:t>Open </a:t>
            </a:r>
            <a:r>
              <a:rPr sz="1300" b="0" lang="en-GB">
                <a:solidFill>
                  <a:schemeClr val="accent1"/>
                </a:solidFill>
                <a:hlinkClick r:id="rId4"/>
              </a:rPr>
              <a:t>desktop.github.com</a:t>
            </a:r>
          </a:p>
          <a:p>
            <a:pPr algn="l">
              <a:spcAft>
                <a:spcPts val="900"/>
              </a:spcAft>
            </a:pPr>
            <a:r>
              <a:rPr sz="1300" b="1" lang="en-GB">
                <a:solidFill>
                  <a:schemeClr val="accent1"/>
                </a:solidFill>
              </a:rPr>
              <a:t>2  </a:t>
            </a:r>
            <a:r>
              <a:rPr sz="1300" b="1" lang="en-GB">
                <a:solidFill>
                  <a:schemeClr val="tx2"/>
                </a:solidFill>
              </a:rPr>
              <a:t>Click </a:t>
            </a:r>
            <a:r>
              <a:rPr sz="1300" b="0" lang="en-GB">
                <a:solidFill>
                  <a:schemeClr val="tx1"/>
                </a:solidFill>
              </a:rPr>
              <a:t>Download for Windows</a:t>
            </a:r>
          </a:p>
          <a:p>
            <a:pPr algn="l">
              <a:spcAft>
                <a:spcPts val="900"/>
              </a:spcAft>
            </a:pPr>
            <a:r>
              <a:rPr sz="1300" b="1" lang="en-GB">
                <a:solidFill>
                  <a:schemeClr val="accent1"/>
                </a:solidFill>
              </a:rPr>
              <a:t>3  </a:t>
            </a:r>
            <a:r>
              <a:rPr sz="1300" b="1" lang="en-GB">
                <a:solidFill>
                  <a:schemeClr val="tx2"/>
                </a:solidFill>
              </a:rPr>
              <a:t>Double-click </a:t>
            </a:r>
            <a:r>
              <a:rPr sz="1300" b="0" lang="en-GB">
                <a:solidFill>
                  <a:schemeClr val="tx1"/>
                </a:solidFill>
              </a:rPr>
              <a:t>the setup file in Downloads</a:t>
            </a:r>
          </a:p>
          <a:p>
            <a:pPr algn="l">
              <a:spcAft>
                <a:spcPts val="900"/>
              </a:spcAft>
            </a:pPr>
            <a:r>
              <a:rPr sz="1300" b="1" lang="en-GB">
                <a:solidFill>
                  <a:schemeClr val="accent1"/>
                </a:solidFill>
              </a:rPr>
              <a:t>4  </a:t>
            </a:r>
            <a:r>
              <a:rPr sz="1300" b="1" lang="en-GB">
                <a:solidFill>
                  <a:schemeClr val="tx2"/>
                </a:solidFill>
              </a:rPr>
              <a:t>Wait: </a:t>
            </a:r>
            <a:r>
              <a:rPr sz="1300" b="0" lang="en-GB">
                <a:solidFill>
                  <a:schemeClr val="tx1"/>
                </a:solidFill>
              </a:rPr>
              <a:t>GitHub Desktop opens by itself</a:t>
            </a:r>
          </a:p>
        </p:txBody>
      </p:sp>
      <p:sp>
        <p:nvSpPr>
          <p:cNvPr id="15" name="Mac body"/>
          <p:cNvSpPr/>
          <p:nvPr/>
        </p:nvSpPr>
        <p:spPr>
          <a:xfrm>
            <a:off x="4640580" y="1645920"/>
            <a:ext cx="4046220" cy="20116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Mac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ac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macOS 12 or later</a:t>
            </a:r>
          </a:p>
        </p:txBody>
      </p:sp>
      <p:pic>
        <p:nvPicPr>
          <p:cNvPr id="18" name="Icon Mac" descr=""/>
          <p:cNvPicPr>
            <a:picLocks noChangeAspect="1"/>
          </p:cNvPicPr>
          <p:nvPr/>
        </p:nvPicPr>
        <p:blipFill>
          <a:blip r:embed="rId5"/>
          <a:stretch>
            <a:fillRect/>
          </a:stretch>
        </p:blipFill>
        <p:spPr>
          <a:xfrm>
            <a:off x="8247888" y="1284732"/>
            <a:ext cx="310896" cy="310896"/>
          </a:xfrm>
          <a:prstGeom prst="rect">
            <a:avLst/>
          </a:prstGeom>
        </p:spPr>
      </p:pic>
      <p:sp>
        <p:nvSpPr>
          <p:cNvPr id="19" name="Mac text"/>
          <p:cNvSpPr txBox="1"/>
          <p:nvPr/>
        </p:nvSpPr>
        <p:spPr>
          <a:xfrm>
            <a:off x="4805172" y="1783080"/>
            <a:ext cx="3744468" cy="178308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0" lang="en-GB">
                <a:solidFill>
                  <a:schemeClr val="tx1"/>
                </a:solidFill>
              </a:rPr>
              <a:t>Open </a:t>
            </a:r>
            <a:r>
              <a:rPr sz="1300" b="0" lang="en-GB">
                <a:solidFill>
                  <a:schemeClr val="accent1"/>
                </a:solidFill>
                <a:hlinkClick r:id="rId4"/>
              </a:rPr>
              <a:t>desktop.github.com</a:t>
            </a:r>
          </a:p>
          <a:p>
            <a:pPr algn="l">
              <a:spcAft>
                <a:spcPts val="900"/>
              </a:spcAft>
            </a:pPr>
            <a:r>
              <a:rPr sz="1300" b="1" lang="en-GB">
                <a:solidFill>
                  <a:schemeClr val="accent1"/>
                </a:solidFill>
              </a:rPr>
              <a:t>2  </a:t>
            </a:r>
            <a:r>
              <a:rPr sz="1300" b="1" lang="en-GB">
                <a:solidFill>
                  <a:schemeClr val="tx2"/>
                </a:solidFill>
              </a:rPr>
              <a:t>Click </a:t>
            </a:r>
            <a:r>
              <a:rPr sz="1300" b="0" lang="en-GB">
                <a:solidFill>
                  <a:schemeClr val="tx1"/>
                </a:solidFill>
              </a:rPr>
              <a:t>Download for macOS</a:t>
            </a:r>
          </a:p>
          <a:p>
            <a:pPr algn="l">
              <a:spcAft>
                <a:spcPts val="900"/>
              </a:spcAft>
            </a:pPr>
            <a:r>
              <a:rPr sz="1300" b="1" lang="en-GB">
                <a:solidFill>
                  <a:schemeClr val="accent1"/>
                </a:solidFill>
              </a:rPr>
              <a:t>3  </a:t>
            </a:r>
            <a:r>
              <a:rPr sz="1300" b="1" lang="en-GB">
                <a:solidFill>
                  <a:schemeClr val="tx2"/>
                </a:solidFill>
              </a:rPr>
              <a:t>Double-click </a:t>
            </a:r>
            <a:r>
              <a:rPr sz="1300" b="0" lang="en-GB">
                <a:solidFill>
                  <a:schemeClr val="tx1"/>
                </a:solidFill>
              </a:rPr>
              <a:t>the zip file, then drag the app to Applications</a:t>
            </a:r>
          </a:p>
          <a:p>
            <a:pPr algn="l">
              <a:spcAft>
                <a:spcPts val="900"/>
              </a:spcAft>
            </a:pPr>
            <a:r>
              <a:rPr sz="1300" b="1" lang="en-GB">
                <a:solidFill>
                  <a:schemeClr val="accent1"/>
                </a:solidFill>
              </a:rPr>
              <a:t>4  </a:t>
            </a:r>
            <a:r>
              <a:rPr sz="1300" b="1" lang="en-GB">
                <a:solidFill>
                  <a:schemeClr val="tx2"/>
                </a:solidFill>
              </a:rPr>
              <a:t>Open </a:t>
            </a:r>
            <a:r>
              <a:rPr sz="1300" b="0" lang="en-GB">
                <a:solidFill>
                  <a:schemeClr val="tx1"/>
                </a:solidFill>
              </a:rPr>
              <a:t>GitHub Desktop from Applications</a:t>
            </a:r>
          </a:p>
        </p:txBody>
      </p:sp>
      <p:sp>
        <p:nvSpPr>
          <p:cNvPr id="20" name="Install rows row 1"/>
          <p:cNvSpPr/>
          <p:nvPr/>
        </p:nvSpPr>
        <p:spPr>
          <a:xfrm>
            <a:off x="457200" y="3794760"/>
            <a:ext cx="8229600" cy="4389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nstall rows bar 1"/>
          <p:cNvSpPr/>
          <p:nvPr/>
        </p:nvSpPr>
        <p:spPr>
          <a:xfrm>
            <a:off x="457200" y="3794760"/>
            <a:ext cx="64008" cy="43891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nstall rows text 1"/>
          <p:cNvSpPr txBox="1"/>
          <p:nvPr/>
        </p:nvSpPr>
        <p:spPr>
          <a:xfrm>
            <a:off x="658368" y="3794760"/>
            <a:ext cx="7936992" cy="438912"/>
          </a:xfrm>
          <a:prstGeom prst="rect">
            <a:avLst/>
          </a:prstGeom>
          <a:noFill/>
        </p:spPr>
        <p:txBody>
          <a:bodyPr wrap="square" lIns="0" rIns="0" tIns="0" bIns="0" anchor="ctr">
            <a:noAutofit/>
          </a:bodyPr>
          <a:lstStyle/>
          <a:p>
            <a:pPr algn="l">
              <a:spcAft>
                <a:spcPts val="400"/>
              </a:spcAft>
            </a:pPr>
            <a:r>
              <a:rPr sz="1200" b="1" lang="en-GB">
                <a:solidFill>
                  <a:schemeClr val="tx2"/>
                </a:solidFill>
              </a:rPr>
              <a:t>Git included: </a:t>
            </a:r>
            <a:r>
              <a:rPr sz="1200" b="0" lang="en-GB">
                <a:solidFill>
                  <a:schemeClr val="tx1"/>
                </a:solidFill>
              </a:rPr>
              <a:t>you do not need to install Git separately</a:t>
            </a:r>
          </a:p>
        </p:txBody>
      </p:sp>
      <p:sp>
        <p:nvSpPr>
          <p:cNvPr id="23" name="Install rows row 2"/>
          <p:cNvSpPr/>
          <p:nvPr/>
        </p:nvSpPr>
        <p:spPr>
          <a:xfrm>
            <a:off x="457200" y="4297680"/>
            <a:ext cx="8229600" cy="4389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nstall rows bar 2"/>
          <p:cNvSpPr/>
          <p:nvPr/>
        </p:nvSpPr>
        <p:spPr>
          <a:xfrm>
            <a:off x="457200" y="4297680"/>
            <a:ext cx="64008" cy="43891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Install rows text 2"/>
          <p:cNvSpPr txBox="1"/>
          <p:nvPr/>
        </p:nvSpPr>
        <p:spPr>
          <a:xfrm>
            <a:off x="658368" y="4297680"/>
            <a:ext cx="7936992" cy="438912"/>
          </a:xfrm>
          <a:prstGeom prst="rect">
            <a:avLst/>
          </a:prstGeom>
          <a:noFill/>
        </p:spPr>
        <p:txBody>
          <a:bodyPr wrap="square" lIns="0" rIns="0" tIns="0" bIns="0" anchor="ctr">
            <a:noAutofit/>
          </a:bodyPr>
          <a:lstStyle/>
          <a:p>
            <a:pPr algn="l">
              <a:spcAft>
                <a:spcPts val="400"/>
              </a:spcAft>
            </a:pPr>
            <a:r>
              <a:rPr sz="1200" b="1" lang="en-GB">
                <a:solidFill>
                  <a:schemeClr val="tx2"/>
                </a:solidFill>
              </a:rPr>
              <a:t>Updates: </a:t>
            </a:r>
            <a:r>
              <a:rPr sz="1200" b="0" lang="en-GB">
                <a:solidFill>
                  <a:schemeClr val="tx1"/>
                </a:solidFill>
              </a:rPr>
              <a:t>GitHub Desktop updates itself; restart it when it says so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Sign in to GitHub in GitHub Desktop</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ignA body"/>
          <p:cNvSpPr/>
          <p:nvPr/>
        </p:nvSpPr>
        <p:spPr>
          <a:xfrm>
            <a:off x="457200" y="1645920"/>
            <a:ext cx="402336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ignA header"/>
          <p:cNvSpPr/>
          <p:nvPr/>
        </p:nvSpPr>
        <p:spPr>
          <a:xfrm>
            <a:off x="457200" y="1234440"/>
            <a:ext cx="40233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ignA heading"/>
          <p:cNvSpPr txBox="1"/>
          <p:nvPr/>
        </p:nvSpPr>
        <p:spPr>
          <a:xfrm>
            <a:off x="594360" y="1234440"/>
            <a:ext cx="33375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Open the Accounts pane</a:t>
            </a:r>
          </a:p>
        </p:txBody>
      </p:sp>
      <p:pic>
        <p:nvPicPr>
          <p:cNvPr id="13" name="Icon SignA" descr=""/>
          <p:cNvPicPr>
            <a:picLocks noChangeAspect="1"/>
          </p:cNvPicPr>
          <p:nvPr/>
        </p:nvPicPr>
        <p:blipFill>
          <a:blip r:embed="rId3"/>
          <a:stretch>
            <a:fillRect/>
          </a:stretch>
        </p:blipFill>
        <p:spPr>
          <a:xfrm>
            <a:off x="4041648" y="1284732"/>
            <a:ext cx="310896" cy="310896"/>
          </a:xfrm>
          <a:prstGeom prst="rect">
            <a:avLst/>
          </a:prstGeom>
        </p:spPr>
      </p:pic>
      <p:sp>
        <p:nvSpPr>
          <p:cNvPr id="14" name="SignA text"/>
          <p:cNvSpPr txBox="1"/>
          <p:nvPr/>
        </p:nvSpPr>
        <p:spPr>
          <a:xfrm>
            <a:off x="621792" y="1783080"/>
            <a:ext cx="3721608" cy="228600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Windows: </a:t>
            </a:r>
            <a:r>
              <a:rPr sz="1300" b="0" lang="en-GB">
                <a:solidFill>
                  <a:schemeClr val="tx1"/>
                </a:solidFill>
              </a:rPr>
              <a:t>File → Options → Accounts</a:t>
            </a:r>
          </a:p>
          <a:p>
            <a:pPr algn="l">
              <a:spcAft>
                <a:spcPts val="900"/>
              </a:spcAft>
            </a:pPr>
            <a:r>
              <a:rPr sz="1300" b="1" lang="en-GB">
                <a:solidFill>
                  <a:schemeClr val="accent1"/>
                </a:solidFill>
              </a:rPr>
              <a:t>2  </a:t>
            </a:r>
            <a:r>
              <a:rPr sz="1300" b="1" lang="en-GB">
                <a:solidFill>
                  <a:schemeClr val="tx2"/>
                </a:solidFill>
              </a:rPr>
              <a:t>macOS: </a:t>
            </a:r>
            <a:r>
              <a:rPr sz="1300" b="0" lang="en-GB">
                <a:solidFill>
                  <a:schemeClr val="tx1"/>
                </a:solidFill>
              </a:rPr>
              <a:t>GitHub Desktop → Settings → Accounts</a:t>
            </a:r>
          </a:p>
          <a:p>
            <a:pPr algn="l">
              <a:spcAft>
                <a:spcPts val="900"/>
              </a:spcAft>
            </a:pPr>
            <a:r>
              <a:rPr sz="1300" b="1" lang="en-GB">
                <a:solidFill>
                  <a:schemeClr val="accent1"/>
                </a:solidFill>
              </a:rPr>
              <a:t>3  </a:t>
            </a:r>
            <a:r>
              <a:rPr sz="1300" b="1" lang="en-GB">
                <a:solidFill>
                  <a:schemeClr val="tx2"/>
                </a:solidFill>
              </a:rPr>
              <a:t>Click </a:t>
            </a:r>
            <a:r>
              <a:rPr sz="1300" b="0" lang="en-GB">
                <a:solidFill>
                  <a:schemeClr val="tx1"/>
                </a:solidFill>
              </a:rPr>
              <a:t>Sign in to GitHub.com</a:t>
            </a:r>
          </a:p>
          <a:p>
            <a:pPr algn="l">
              <a:spcAft>
                <a:spcPts val="900"/>
              </a:spcAft>
            </a:pPr>
            <a:r>
              <a:rPr sz="1300" b="1" lang="en-GB">
                <a:solidFill>
                  <a:schemeClr val="accent1"/>
                </a:solidFill>
              </a:rPr>
              <a:t>4  </a:t>
            </a:r>
            <a:r>
              <a:rPr sz="1300" b="1" lang="en-GB">
                <a:solidFill>
                  <a:schemeClr val="tx2"/>
                </a:solidFill>
              </a:rPr>
              <a:t>Click </a:t>
            </a:r>
            <a:r>
              <a:rPr sz="1300" b="0" lang="en-GB">
                <a:solidFill>
                  <a:schemeClr val="tx1"/>
                </a:solidFill>
              </a:rPr>
              <a:t>Continue with browser</a:t>
            </a:r>
          </a:p>
        </p:txBody>
      </p:sp>
      <p:sp>
        <p:nvSpPr>
          <p:cNvPr id="15" name="SignB body"/>
          <p:cNvSpPr/>
          <p:nvPr/>
        </p:nvSpPr>
        <p:spPr>
          <a:xfrm>
            <a:off x="4663440" y="1645920"/>
            <a:ext cx="402336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ignB header"/>
          <p:cNvSpPr/>
          <p:nvPr/>
        </p:nvSpPr>
        <p:spPr>
          <a:xfrm>
            <a:off x="4663440" y="1234440"/>
            <a:ext cx="40233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ignB heading"/>
          <p:cNvSpPr txBox="1"/>
          <p:nvPr/>
        </p:nvSpPr>
        <p:spPr>
          <a:xfrm>
            <a:off x="4800600" y="1234440"/>
            <a:ext cx="33375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In the browser</a:t>
            </a:r>
          </a:p>
        </p:txBody>
      </p:sp>
      <p:pic>
        <p:nvPicPr>
          <p:cNvPr id="18" name="Icon SignB" descr=""/>
          <p:cNvPicPr>
            <a:picLocks noChangeAspect="1"/>
          </p:cNvPicPr>
          <p:nvPr/>
        </p:nvPicPr>
        <p:blipFill>
          <a:blip r:embed="rId4"/>
          <a:stretch>
            <a:fillRect/>
          </a:stretch>
        </p:blipFill>
        <p:spPr>
          <a:xfrm>
            <a:off x="8247888" y="1284732"/>
            <a:ext cx="310896" cy="310896"/>
          </a:xfrm>
          <a:prstGeom prst="rect">
            <a:avLst/>
          </a:prstGeom>
        </p:spPr>
      </p:pic>
      <p:sp>
        <p:nvSpPr>
          <p:cNvPr id="19" name="SignB text"/>
          <p:cNvSpPr txBox="1"/>
          <p:nvPr/>
        </p:nvSpPr>
        <p:spPr>
          <a:xfrm>
            <a:off x="4828032" y="1783080"/>
            <a:ext cx="3721608" cy="228600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Sign in </a:t>
            </a:r>
            <a:r>
              <a:rPr sz="1300" b="0" lang="en-GB">
                <a:solidFill>
                  <a:schemeClr val="tx1"/>
                </a:solidFill>
              </a:rPr>
              <a:t>with username and password</a:t>
            </a:r>
          </a:p>
          <a:p>
            <a:pPr algn="l">
              <a:spcAft>
                <a:spcPts val="900"/>
              </a:spcAft>
            </a:pPr>
            <a:r>
              <a:rPr sz="1300" b="1" lang="en-GB">
                <a:solidFill>
                  <a:schemeClr val="accent1"/>
                </a:solidFill>
              </a:rPr>
              <a:t>2  </a:t>
            </a:r>
            <a:r>
              <a:rPr sz="1300" b="1" lang="en-GB">
                <a:solidFill>
                  <a:schemeClr val="tx2"/>
                </a:solidFill>
              </a:rPr>
              <a:t>Enter </a:t>
            </a:r>
            <a:r>
              <a:rPr sz="1300" b="0" lang="en-GB">
                <a:solidFill>
                  <a:schemeClr val="tx1"/>
                </a:solidFill>
              </a:rPr>
              <a:t>the 2FA code from your app</a:t>
            </a:r>
          </a:p>
          <a:p>
            <a:pPr algn="l">
              <a:spcAft>
                <a:spcPts val="900"/>
              </a:spcAft>
            </a:pPr>
            <a:r>
              <a:rPr sz="1300" b="1" lang="en-GB">
                <a:solidFill>
                  <a:schemeClr val="accent1"/>
                </a:solidFill>
              </a:rPr>
              <a:t>3  </a:t>
            </a:r>
            <a:r>
              <a:rPr sz="1300" b="1" lang="en-GB">
                <a:solidFill>
                  <a:schemeClr val="tx2"/>
                </a:solidFill>
              </a:rPr>
              <a:t>Click </a:t>
            </a:r>
            <a:r>
              <a:rPr sz="1300" b="0" lang="en-GB">
                <a:solidFill>
                  <a:schemeClr val="tx1"/>
                </a:solidFill>
              </a:rPr>
              <a:t>Authorize desktop</a:t>
            </a:r>
          </a:p>
          <a:p>
            <a:pPr algn="l">
              <a:spcAft>
                <a:spcPts val="900"/>
              </a:spcAft>
            </a:pPr>
            <a:r>
              <a:rPr sz="1300" b="1" lang="en-GB">
                <a:solidFill>
                  <a:schemeClr val="accent1"/>
                </a:solidFill>
              </a:rPr>
              <a:t>4  </a:t>
            </a:r>
            <a:r>
              <a:rPr sz="1300" b="1" lang="en-GB">
                <a:solidFill>
                  <a:schemeClr val="tx2"/>
                </a:solidFill>
              </a:rPr>
              <a:t>Allow </a:t>
            </a:r>
            <a:r>
              <a:rPr sz="1300" b="0" lang="en-GB">
                <a:solidFill>
                  <a:schemeClr val="tx1"/>
                </a:solidFill>
              </a:rPr>
              <a:t>the browser to open GitHub Desktop</a:t>
            </a:r>
          </a:p>
        </p:txBody>
      </p:sp>
      <p:sp>
        <p:nvSpPr>
          <p:cNvPr id="20" name="Sign done box"/>
          <p:cNvSpPr/>
          <p:nvPr/>
        </p:nvSpPr>
        <p:spPr>
          <a:xfrm>
            <a:off x="457200" y="429768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Sign done" descr=""/>
          <p:cNvPicPr>
            <a:picLocks noChangeAspect="1"/>
          </p:cNvPicPr>
          <p:nvPr/>
        </p:nvPicPr>
        <p:blipFill>
          <a:blip r:embed="rId5"/>
          <a:stretch>
            <a:fillRect/>
          </a:stretch>
        </p:blipFill>
        <p:spPr>
          <a:xfrm>
            <a:off x="658368" y="4457700"/>
            <a:ext cx="365760" cy="365760"/>
          </a:xfrm>
          <a:prstGeom prst="rect">
            <a:avLst/>
          </a:prstGeom>
        </p:spPr>
      </p:pic>
      <p:sp>
        <p:nvSpPr>
          <p:cNvPr id="22" name="Sign done text"/>
          <p:cNvSpPr txBox="1"/>
          <p:nvPr/>
        </p:nvSpPr>
        <p:spPr>
          <a:xfrm>
            <a:off x="1207008" y="4297680"/>
            <a:ext cx="7315200" cy="685800"/>
          </a:xfrm>
          <a:prstGeom prst="rect">
            <a:avLst/>
          </a:prstGeom>
          <a:noFill/>
        </p:spPr>
        <p:txBody>
          <a:bodyPr wrap="square" lIns="0" rIns="0" tIns="0" bIns="0" anchor="ctr">
            <a:noAutofit/>
          </a:bodyPr>
          <a:lstStyle/>
          <a:p>
            <a:pPr algn="l">
              <a:spcAft>
                <a:spcPts val="400"/>
              </a:spcAft>
            </a:pPr>
            <a:r>
              <a:rPr sz="1300" b="1" lang="en-GB">
                <a:solidFill>
                  <a:schemeClr val="bg1"/>
                </a:solidFill>
              </a:rPr>
              <a:t>Done when: </a:t>
            </a:r>
            <a:r>
              <a:rPr sz="1300" b="0" lang="en-GB">
                <a:solidFill>
                  <a:schemeClr val="bg1"/>
                </a:solidFill>
              </a:rPr>
              <a:t>your name and avatar appear in the Accounts pane.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Your name and e-mail for commits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GitCfg body"/>
          <p:cNvSpPr/>
          <p:nvPr/>
        </p:nvSpPr>
        <p:spPr>
          <a:xfrm>
            <a:off x="457200" y="1645920"/>
            <a:ext cx="4937760" cy="2331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GitCfg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GitCfg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Options / Settings → Git</a:t>
            </a:r>
          </a:p>
        </p:txBody>
      </p:sp>
      <p:pic>
        <p:nvPicPr>
          <p:cNvPr id="13" name="Icon GitCfg" descr=""/>
          <p:cNvPicPr>
            <a:picLocks noChangeAspect="1"/>
          </p:cNvPicPr>
          <p:nvPr/>
        </p:nvPicPr>
        <p:blipFill>
          <a:blip r:embed="rId3"/>
          <a:stretch>
            <a:fillRect/>
          </a:stretch>
        </p:blipFill>
        <p:spPr>
          <a:xfrm>
            <a:off x="4956048" y="1284732"/>
            <a:ext cx="310896" cy="310896"/>
          </a:xfrm>
          <a:prstGeom prst="rect">
            <a:avLst/>
          </a:prstGeom>
        </p:spPr>
      </p:pic>
      <p:sp>
        <p:nvSpPr>
          <p:cNvPr id="14" name="GitCfg text"/>
          <p:cNvSpPr txBox="1"/>
          <p:nvPr/>
        </p:nvSpPr>
        <p:spPr>
          <a:xfrm>
            <a:off x="621792" y="1783080"/>
            <a:ext cx="4636008" cy="210312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Windows: </a:t>
            </a:r>
            <a:r>
              <a:rPr sz="1300" b="0" lang="en-GB">
                <a:solidFill>
                  <a:schemeClr val="tx1"/>
                </a:solidFill>
              </a:rPr>
              <a:t>File → Options → Git</a:t>
            </a:r>
          </a:p>
          <a:p>
            <a:pPr algn="l">
              <a:spcAft>
                <a:spcPts val="900"/>
              </a:spcAft>
            </a:pPr>
            <a:r>
              <a:rPr sz="1300" b="1" lang="en-GB">
                <a:solidFill>
                  <a:schemeClr val="accent1"/>
                </a:solidFill>
              </a:rPr>
              <a:t>2  </a:t>
            </a:r>
            <a:r>
              <a:rPr sz="1300" b="1" lang="en-GB">
                <a:solidFill>
                  <a:schemeClr val="tx2"/>
                </a:solidFill>
              </a:rPr>
              <a:t>macOS: </a:t>
            </a:r>
            <a:r>
              <a:rPr sz="1300" b="0" lang="en-GB">
                <a:solidFill>
                  <a:schemeClr val="tx1"/>
                </a:solidFill>
              </a:rPr>
              <a:t>GitHub Desktop → Settings → Git</a:t>
            </a:r>
          </a:p>
          <a:p>
            <a:pPr algn="l">
              <a:spcAft>
                <a:spcPts val="900"/>
              </a:spcAft>
            </a:pPr>
            <a:r>
              <a:rPr sz="1300" b="1" lang="en-GB">
                <a:solidFill>
                  <a:schemeClr val="accent1"/>
                </a:solidFill>
              </a:rPr>
              <a:t>3  </a:t>
            </a:r>
            <a:r>
              <a:rPr sz="1300" b="1" lang="en-GB">
                <a:solidFill>
                  <a:schemeClr val="tx2"/>
                </a:solidFill>
              </a:rPr>
              <a:t>Name: </a:t>
            </a:r>
            <a:r>
              <a:rPr sz="1300" b="0" lang="en-GB">
                <a:solidFill>
                  <a:schemeClr val="tx1"/>
                </a:solidFill>
              </a:rPr>
              <a:t>your real name, e.g. Anna Berger</a:t>
            </a:r>
          </a:p>
          <a:p>
            <a:pPr algn="l">
              <a:spcAft>
                <a:spcPts val="900"/>
              </a:spcAft>
            </a:pPr>
            <a:r>
              <a:rPr sz="1300" b="1" lang="en-GB">
                <a:solidFill>
                  <a:schemeClr val="accent1"/>
                </a:solidFill>
              </a:rPr>
              <a:t>4  </a:t>
            </a:r>
            <a:r>
              <a:rPr sz="1300" b="1" lang="en-GB">
                <a:solidFill>
                  <a:schemeClr val="tx2"/>
                </a:solidFill>
              </a:rPr>
              <a:t>Email: </a:t>
            </a:r>
            <a:r>
              <a:rPr sz="1300" b="0" lang="en-GB">
                <a:solidFill>
                  <a:schemeClr val="tx1"/>
                </a:solidFill>
              </a:rPr>
              <a:t>pick the …@users.noreply.github.com address</a:t>
            </a:r>
          </a:p>
          <a:p>
            <a:pPr algn="l">
              <a:spcAft>
                <a:spcPts val="900"/>
              </a:spcAft>
            </a:pPr>
            <a:r>
              <a:rPr sz="1300" b="1" lang="en-GB">
                <a:solidFill>
                  <a:schemeClr val="accent1"/>
                </a:solidFill>
              </a:rPr>
              <a:t>5  </a:t>
            </a:r>
            <a:r>
              <a:rPr sz="1300" b="1" lang="en-GB">
                <a:solidFill>
                  <a:schemeClr val="tx2"/>
                </a:solidFill>
              </a:rPr>
              <a:t>Default branch: </a:t>
            </a:r>
            <a:r>
              <a:rPr sz="1300" b="0" lang="en-GB">
                <a:solidFill>
                  <a:schemeClr val="tx1"/>
                </a:solidFill>
              </a:rPr>
              <a:t>leave it at main; click Save</a:t>
            </a:r>
          </a:p>
        </p:txBody>
      </p:sp>
      <p:sp>
        <p:nvSpPr>
          <p:cNvPr id="15" name="Git form"/>
          <p:cNvSpPr/>
          <p:nvPr/>
        </p:nvSpPr>
        <p:spPr>
          <a:xfrm>
            <a:off x="5532120" y="1234440"/>
            <a:ext cx="3154680" cy="2743200"/>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Form label 1"/>
          <p:cNvSpPr txBox="1"/>
          <p:nvPr/>
        </p:nvSpPr>
        <p:spPr>
          <a:xfrm>
            <a:off x="5669280" y="1371600"/>
            <a:ext cx="2926080" cy="274320"/>
          </a:xfrm>
          <a:prstGeom prst="rect">
            <a:avLst/>
          </a:prstGeom>
          <a:noFill/>
        </p:spPr>
        <p:txBody>
          <a:bodyPr wrap="square" lIns="0" rIns="0" tIns="0" bIns="0" anchor="t">
            <a:noAutofit/>
          </a:bodyPr>
          <a:lstStyle/>
          <a:p>
            <a:pPr algn="l">
              <a:spcAft>
                <a:spcPts val="400"/>
              </a:spcAft>
            </a:pPr>
            <a:r>
              <a:rPr sz="1100" b="1" lang="en-GB">
                <a:solidFill>
                  <a:schemeClr val="tx2"/>
                </a:solidFill>
              </a:rPr>
              <a:t>Name</a:t>
            </a:r>
          </a:p>
        </p:txBody>
      </p:sp>
      <p:sp>
        <p:nvSpPr>
          <p:cNvPr id="17" name="Form field 1"/>
          <p:cNvSpPr/>
          <p:nvPr/>
        </p:nvSpPr>
        <p:spPr>
          <a:xfrm>
            <a:off x="5669280" y="1664208"/>
            <a:ext cx="2880360"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Form value 1"/>
          <p:cNvSpPr txBox="1"/>
          <p:nvPr/>
        </p:nvSpPr>
        <p:spPr>
          <a:xfrm>
            <a:off x="5760720" y="1664208"/>
            <a:ext cx="2743200" cy="365760"/>
          </a:xfrm>
          <a:prstGeom prst="rect">
            <a:avLst/>
          </a:prstGeom>
          <a:noFill/>
        </p:spPr>
        <p:txBody>
          <a:bodyPr wrap="square" lIns="0" rIns="0" tIns="0" bIns="0" anchor="ctr">
            <a:noAutofit/>
          </a:bodyPr>
          <a:lstStyle/>
          <a:p>
            <a:pPr algn="l">
              <a:spcAft>
                <a:spcPts val="400"/>
              </a:spcAft>
            </a:pPr>
            <a:r>
              <a:rPr sz="1050" b="0" lang="en-GB">
                <a:solidFill>
                  <a:schemeClr val="tx1"/>
                </a:solidFill>
                <a:latin typeface="Consolas"/>
              </a:rPr>
              <a:t>Anna Berger</a:t>
            </a:r>
          </a:p>
        </p:txBody>
      </p:sp>
      <p:sp>
        <p:nvSpPr>
          <p:cNvPr id="19" name="Form label 2"/>
          <p:cNvSpPr txBox="1"/>
          <p:nvPr/>
        </p:nvSpPr>
        <p:spPr>
          <a:xfrm>
            <a:off x="5669280" y="2148840"/>
            <a:ext cx="2926080" cy="274320"/>
          </a:xfrm>
          <a:prstGeom prst="rect">
            <a:avLst/>
          </a:prstGeom>
          <a:noFill/>
        </p:spPr>
        <p:txBody>
          <a:bodyPr wrap="square" lIns="0" rIns="0" tIns="0" bIns="0" anchor="t">
            <a:noAutofit/>
          </a:bodyPr>
          <a:lstStyle/>
          <a:p>
            <a:pPr algn="l">
              <a:spcAft>
                <a:spcPts val="400"/>
              </a:spcAft>
            </a:pPr>
            <a:r>
              <a:rPr sz="1100" b="1" lang="en-GB">
                <a:solidFill>
                  <a:schemeClr val="tx2"/>
                </a:solidFill>
              </a:rPr>
              <a:t>Email</a:t>
            </a:r>
          </a:p>
        </p:txBody>
      </p:sp>
      <p:sp>
        <p:nvSpPr>
          <p:cNvPr id="20" name="Form field 2"/>
          <p:cNvSpPr/>
          <p:nvPr/>
        </p:nvSpPr>
        <p:spPr>
          <a:xfrm>
            <a:off x="5669280" y="2441448"/>
            <a:ext cx="2880360"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Form value 2"/>
          <p:cNvSpPr txBox="1"/>
          <p:nvPr/>
        </p:nvSpPr>
        <p:spPr>
          <a:xfrm>
            <a:off x="5760720" y="2441448"/>
            <a:ext cx="2743200" cy="365760"/>
          </a:xfrm>
          <a:prstGeom prst="rect">
            <a:avLst/>
          </a:prstGeom>
          <a:noFill/>
        </p:spPr>
        <p:txBody>
          <a:bodyPr wrap="square" lIns="0" rIns="0" tIns="0" bIns="0" anchor="ctr">
            <a:noAutofit/>
          </a:bodyPr>
          <a:lstStyle/>
          <a:p>
            <a:pPr algn="l">
              <a:spcAft>
                <a:spcPts val="400"/>
              </a:spcAft>
            </a:pPr>
            <a:r>
              <a:rPr sz="1050" b="0" lang="en-GB">
                <a:solidFill>
                  <a:schemeClr val="tx1"/>
                </a:solidFill>
                <a:latin typeface="Consolas"/>
              </a:rPr>
              <a:t>1234567+anna-berger@users…</a:t>
            </a:r>
          </a:p>
        </p:txBody>
      </p:sp>
      <p:sp>
        <p:nvSpPr>
          <p:cNvPr id="22" name="Form label 3"/>
          <p:cNvSpPr txBox="1"/>
          <p:nvPr/>
        </p:nvSpPr>
        <p:spPr>
          <a:xfrm>
            <a:off x="5669280" y="2926080"/>
            <a:ext cx="2926080" cy="274320"/>
          </a:xfrm>
          <a:prstGeom prst="rect">
            <a:avLst/>
          </a:prstGeom>
          <a:noFill/>
        </p:spPr>
        <p:txBody>
          <a:bodyPr wrap="square" lIns="0" rIns="0" tIns="0" bIns="0" anchor="t">
            <a:noAutofit/>
          </a:bodyPr>
          <a:lstStyle/>
          <a:p>
            <a:pPr algn="l">
              <a:spcAft>
                <a:spcPts val="400"/>
              </a:spcAft>
            </a:pPr>
            <a:r>
              <a:rPr sz="1100" b="1" lang="en-GB">
                <a:solidFill>
                  <a:schemeClr val="tx2"/>
                </a:solidFill>
              </a:rPr>
              <a:t>Default branch</a:t>
            </a:r>
          </a:p>
        </p:txBody>
      </p:sp>
      <p:sp>
        <p:nvSpPr>
          <p:cNvPr id="23" name="Form field 3"/>
          <p:cNvSpPr/>
          <p:nvPr/>
        </p:nvSpPr>
        <p:spPr>
          <a:xfrm>
            <a:off x="5669280" y="3218688"/>
            <a:ext cx="2880360"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Form value 3"/>
          <p:cNvSpPr txBox="1"/>
          <p:nvPr/>
        </p:nvSpPr>
        <p:spPr>
          <a:xfrm>
            <a:off x="5760720" y="3218688"/>
            <a:ext cx="2743200" cy="365760"/>
          </a:xfrm>
          <a:prstGeom prst="rect">
            <a:avLst/>
          </a:prstGeom>
          <a:noFill/>
        </p:spPr>
        <p:txBody>
          <a:bodyPr wrap="square" lIns="0" rIns="0" tIns="0" bIns="0" anchor="ctr">
            <a:noAutofit/>
          </a:bodyPr>
          <a:lstStyle/>
          <a:p>
            <a:pPr algn="l">
              <a:spcAft>
                <a:spcPts val="400"/>
              </a:spcAft>
            </a:pPr>
            <a:r>
              <a:rPr sz="1050" b="0" lang="en-GB">
                <a:solidFill>
                  <a:schemeClr val="tx1"/>
                </a:solidFill>
                <a:latin typeface="Consolas"/>
              </a:rPr>
              <a:t>main</a:t>
            </a:r>
          </a:p>
        </p:txBody>
      </p:sp>
      <p:sp>
        <p:nvSpPr>
          <p:cNvPr id="25" name="GitCfg note box"/>
          <p:cNvSpPr/>
          <p:nvPr/>
        </p:nvSpPr>
        <p:spPr>
          <a:xfrm>
            <a:off x="457200" y="411480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GitCfg note" descr=""/>
          <p:cNvPicPr>
            <a:picLocks noChangeAspect="1"/>
          </p:cNvPicPr>
          <p:nvPr/>
        </p:nvPicPr>
        <p:blipFill>
          <a:blip r:embed="rId4"/>
          <a:stretch>
            <a:fillRect/>
          </a:stretch>
        </p:blipFill>
        <p:spPr>
          <a:xfrm>
            <a:off x="658368" y="4274820"/>
            <a:ext cx="365760" cy="365760"/>
          </a:xfrm>
          <a:prstGeom prst="rect">
            <a:avLst/>
          </a:prstGeom>
        </p:spPr>
      </p:pic>
      <p:sp>
        <p:nvSpPr>
          <p:cNvPr id="27" name="GitCfg note text"/>
          <p:cNvSpPr txBox="1"/>
          <p:nvPr/>
        </p:nvSpPr>
        <p:spPr>
          <a:xfrm>
            <a:off x="1207008" y="411480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Privacy: </a:t>
            </a:r>
            <a:r>
              <a:rPr sz="1200" b="0" lang="en-GB">
                <a:solidFill>
                  <a:schemeClr val="bg1"/>
                </a:solidFill>
              </a:rPr>
              <a:t>with the noreply address your WU or private e-mail never shows in a public repository.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4 of 6 · two ways to clone, where to put the folder, opening it in Positron</a:t>
            </a:r>
          </a:p>
        </p:txBody>
      </p:sp>
      <p:sp>
        <p:nvSpPr>
          <p:cNvPr id="3" name="Title 2"/>
          <p:cNvSpPr>
            <a:spLocks noGrp="1"/>
          </p:cNvSpPr>
          <p:nvPr>
            <p:ph type="ctrTitle"/>
          </p:nvPr>
        </p:nvSpPr>
        <p:spPr/>
        <p:txBody>
          <a:bodyPr/>
          <a:lstStyle/>
          <a:p>
            <a:r>
              <a:rPr sz="1600" lang="en-GB"/>
              <a:t>Clone a repository</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Clone: two ways, same result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loneA body"/>
          <p:cNvSpPr/>
          <p:nvPr/>
        </p:nvSpPr>
        <p:spPr>
          <a:xfrm>
            <a:off x="457200" y="1645920"/>
            <a:ext cx="4046220" cy="2240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loneA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loneA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A  From github.com</a:t>
            </a:r>
          </a:p>
        </p:txBody>
      </p:sp>
      <p:pic>
        <p:nvPicPr>
          <p:cNvPr id="13" name="Icon CloneA" descr=""/>
          <p:cNvPicPr>
            <a:picLocks noChangeAspect="1"/>
          </p:cNvPicPr>
          <p:nvPr/>
        </p:nvPicPr>
        <p:blipFill>
          <a:blip r:embed="rId3"/>
          <a:stretch>
            <a:fillRect/>
          </a:stretch>
        </p:blipFill>
        <p:spPr>
          <a:xfrm>
            <a:off x="4064508" y="1284732"/>
            <a:ext cx="310896" cy="310896"/>
          </a:xfrm>
          <a:prstGeom prst="rect">
            <a:avLst/>
          </a:prstGeom>
        </p:spPr>
      </p:pic>
      <p:sp>
        <p:nvSpPr>
          <p:cNvPr id="14" name="CloneA text"/>
          <p:cNvSpPr txBox="1"/>
          <p:nvPr/>
        </p:nvSpPr>
        <p:spPr>
          <a:xfrm>
            <a:off x="621792" y="1783080"/>
            <a:ext cx="3744468" cy="201168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Open </a:t>
            </a:r>
            <a:r>
              <a:rPr sz="1300" b="0" lang="en-GB">
                <a:solidFill>
                  <a:schemeClr val="tx1"/>
                </a:solidFill>
              </a:rPr>
              <a:t>the repository page on github.com</a:t>
            </a:r>
          </a:p>
          <a:p>
            <a:pPr algn="l">
              <a:spcAft>
                <a:spcPts val="900"/>
              </a:spcAft>
            </a:pPr>
            <a:r>
              <a:rPr sz="1300" b="1" lang="en-GB">
                <a:solidFill>
                  <a:schemeClr val="accent1"/>
                </a:solidFill>
              </a:rPr>
              <a:t>2  </a:t>
            </a:r>
            <a:r>
              <a:rPr sz="1300" b="1" lang="en-GB">
                <a:solidFill>
                  <a:schemeClr val="tx2"/>
                </a:solidFill>
              </a:rPr>
              <a:t>Click </a:t>
            </a:r>
            <a:r>
              <a:rPr sz="1300" b="0" lang="en-GB">
                <a:solidFill>
                  <a:schemeClr val="tx1"/>
                </a:solidFill>
              </a:rPr>
              <a:t>the green Code button</a:t>
            </a:r>
          </a:p>
          <a:p>
            <a:pPr algn="l">
              <a:spcAft>
                <a:spcPts val="900"/>
              </a:spcAft>
            </a:pPr>
            <a:r>
              <a:rPr sz="1300" b="1" lang="en-GB">
                <a:solidFill>
                  <a:schemeClr val="accent1"/>
                </a:solidFill>
              </a:rPr>
              <a:t>3  </a:t>
            </a:r>
            <a:r>
              <a:rPr sz="1300" b="1" lang="en-GB">
                <a:solidFill>
                  <a:schemeClr val="tx2"/>
                </a:solidFill>
              </a:rPr>
              <a:t>Click </a:t>
            </a:r>
            <a:r>
              <a:rPr sz="1300" b="0" lang="en-GB">
                <a:solidFill>
                  <a:schemeClr val="tx1"/>
                </a:solidFill>
              </a:rPr>
              <a:t>Open with GitHub Desktop</a:t>
            </a:r>
          </a:p>
          <a:p>
            <a:pPr algn="l">
              <a:spcAft>
                <a:spcPts val="900"/>
              </a:spcAft>
            </a:pPr>
            <a:r>
              <a:rPr sz="1300" b="1" lang="en-GB">
                <a:solidFill>
                  <a:schemeClr val="accent1"/>
                </a:solidFill>
              </a:rPr>
              <a:t>4  </a:t>
            </a:r>
            <a:r>
              <a:rPr sz="1300" b="1" lang="en-GB">
                <a:solidFill>
                  <a:schemeClr val="tx2"/>
                </a:solidFill>
              </a:rPr>
              <a:t>Choose… </a:t>
            </a:r>
            <a:r>
              <a:rPr sz="1300" b="0" lang="en-GB">
                <a:solidFill>
                  <a:schemeClr val="tx1"/>
                </a:solidFill>
              </a:rPr>
              <a:t>a local folder, then Clone</a:t>
            </a:r>
          </a:p>
        </p:txBody>
      </p:sp>
      <p:sp>
        <p:nvSpPr>
          <p:cNvPr id="15" name="CloneB body"/>
          <p:cNvSpPr/>
          <p:nvPr/>
        </p:nvSpPr>
        <p:spPr>
          <a:xfrm>
            <a:off x="4640580" y="1645920"/>
            <a:ext cx="4046220" cy="2240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loneB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loneB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B  In GitHub Desktop</a:t>
            </a:r>
          </a:p>
        </p:txBody>
      </p:sp>
      <p:pic>
        <p:nvPicPr>
          <p:cNvPr id="18" name="Icon CloneB" descr=""/>
          <p:cNvPicPr>
            <a:picLocks noChangeAspect="1"/>
          </p:cNvPicPr>
          <p:nvPr/>
        </p:nvPicPr>
        <p:blipFill>
          <a:blip r:embed="rId4"/>
          <a:stretch>
            <a:fillRect/>
          </a:stretch>
        </p:blipFill>
        <p:spPr>
          <a:xfrm>
            <a:off x="8247888" y="1284732"/>
            <a:ext cx="310896" cy="310896"/>
          </a:xfrm>
          <a:prstGeom prst="rect">
            <a:avLst/>
          </a:prstGeom>
        </p:spPr>
      </p:pic>
      <p:sp>
        <p:nvSpPr>
          <p:cNvPr id="19" name="CloneB text"/>
          <p:cNvSpPr txBox="1"/>
          <p:nvPr/>
        </p:nvSpPr>
        <p:spPr>
          <a:xfrm>
            <a:off x="4805172" y="1783080"/>
            <a:ext cx="3744468" cy="201168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File → </a:t>
            </a:r>
            <a:r>
              <a:rPr sz="1300" b="0" lang="en-GB">
                <a:solidFill>
                  <a:schemeClr val="tx1"/>
                </a:solidFill>
              </a:rPr>
              <a:t>Clone repository</a:t>
            </a:r>
          </a:p>
          <a:p>
            <a:pPr algn="l">
              <a:spcAft>
                <a:spcPts val="900"/>
              </a:spcAft>
            </a:pPr>
            <a:r>
              <a:rPr sz="1300" b="1" lang="en-GB">
                <a:solidFill>
                  <a:schemeClr val="accent1"/>
                </a:solidFill>
              </a:rPr>
              <a:t>2  </a:t>
            </a:r>
            <a:r>
              <a:rPr sz="1300" b="1" lang="en-GB">
                <a:solidFill>
                  <a:schemeClr val="tx2"/>
                </a:solidFill>
              </a:rPr>
              <a:t>Tab URL: </a:t>
            </a:r>
            <a:r>
              <a:rPr sz="1300" b="0" lang="en-GB">
                <a:solidFill>
                  <a:schemeClr val="tx1"/>
                </a:solidFill>
              </a:rPr>
              <a:t>paste the repository address</a:t>
            </a:r>
          </a:p>
          <a:p>
            <a:pPr algn="l">
              <a:spcAft>
                <a:spcPts val="900"/>
              </a:spcAft>
            </a:pPr>
            <a:r>
              <a:rPr sz="1300" b="1" lang="en-GB">
                <a:solidFill>
                  <a:schemeClr val="accent1"/>
                </a:solidFill>
              </a:rPr>
              <a:t>3  </a:t>
            </a:r>
            <a:r>
              <a:rPr sz="1300" b="1" lang="en-GB">
                <a:solidFill>
                  <a:schemeClr val="tx2"/>
                </a:solidFill>
              </a:rPr>
              <a:t>Local path: </a:t>
            </a:r>
            <a:r>
              <a:rPr sz="1300" b="0" lang="en-GB">
                <a:solidFill>
                  <a:schemeClr val="tx1"/>
                </a:solidFill>
              </a:rPr>
              <a:t>Choose… a folder</a:t>
            </a:r>
          </a:p>
          <a:p>
            <a:pPr algn="l">
              <a:spcAft>
                <a:spcPts val="900"/>
              </a:spcAft>
            </a:pPr>
            <a:r>
              <a:rPr sz="1300" b="1" lang="en-GB">
                <a:solidFill>
                  <a:schemeClr val="accent1"/>
                </a:solidFill>
              </a:rPr>
              <a:t>4  </a:t>
            </a:r>
            <a:r>
              <a:rPr sz="1300" b="1" lang="en-GB">
                <a:solidFill>
                  <a:schemeClr val="tx2"/>
                </a:solidFill>
              </a:rPr>
              <a:t>Click </a:t>
            </a:r>
            <a:r>
              <a:rPr sz="1300" b="0" lang="en-GB">
                <a:solidFill>
                  <a:schemeClr val="tx1"/>
                </a:solidFill>
              </a:rPr>
              <a:t>Clone</a:t>
            </a:r>
          </a:p>
        </p:txBody>
      </p:sp>
      <p:sp>
        <p:nvSpPr>
          <p:cNvPr id="20" name="Course URL caption bar"/>
          <p:cNvSpPr/>
          <p:nvPr/>
        </p:nvSpPr>
        <p:spPr>
          <a:xfrm>
            <a:off x="457200" y="4023360"/>
            <a:ext cx="822960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ourse URL caption"/>
          <p:cNvSpPr txBox="1"/>
          <p:nvPr/>
        </p:nvSpPr>
        <p:spPr>
          <a:xfrm>
            <a:off x="566928" y="4023360"/>
            <a:ext cx="801014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The course repository (public: no sign-in needed to clone)</a:t>
            </a:r>
          </a:p>
        </p:txBody>
      </p:sp>
      <p:sp>
        <p:nvSpPr>
          <p:cNvPr id="22" name="Course URL box"/>
          <p:cNvSpPr/>
          <p:nvPr/>
        </p:nvSpPr>
        <p:spPr>
          <a:xfrm>
            <a:off x="457200" y="4297680"/>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ourse URL code"/>
          <p:cNvSpPr txBox="1"/>
          <p:nvPr/>
        </p:nvSpPr>
        <p:spPr>
          <a:xfrm>
            <a:off x="594360" y="4389120"/>
            <a:ext cx="7955280" cy="411480"/>
          </a:xfrm>
          <a:prstGeom prst="rect">
            <a:avLst/>
          </a:prstGeom>
          <a:noFill/>
        </p:spPr>
        <p:txBody>
          <a:bodyPr wrap="square" lIns="0" rIns="0" tIns="0" bIns="0" anchor="t">
            <a:noAutofit/>
          </a:bodyPr>
          <a:lstStyle/>
          <a:p>
            <a:pPr algn="l">
              <a:spcAft>
                <a:spcPts val="0"/>
              </a:spcAft>
            </a:pPr>
            <a:r>
              <a:rPr sz="1150" b="0" lang="en-GB">
                <a:solidFill>
                  <a:schemeClr val="bg1"/>
                </a:solidFill>
                <a:latin typeface="Consolas"/>
              </a:rPr>
              <a:t>https://github.com/arnefloh-wu/international-marketing-analytics-teaching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Where the folder should live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Good place body"/>
          <p:cNvSpPr/>
          <p:nvPr/>
        </p:nvSpPr>
        <p:spPr>
          <a:xfrm>
            <a:off x="457200" y="1645920"/>
            <a:ext cx="404622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Good place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Good place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Good places</a:t>
            </a:r>
          </a:p>
        </p:txBody>
      </p:sp>
      <p:pic>
        <p:nvPicPr>
          <p:cNvPr id="13" name="Icon Good place" descr=""/>
          <p:cNvPicPr>
            <a:picLocks noChangeAspect="1"/>
          </p:cNvPicPr>
          <p:nvPr/>
        </p:nvPicPr>
        <p:blipFill>
          <a:blip r:embed="rId3"/>
          <a:stretch>
            <a:fillRect/>
          </a:stretch>
        </p:blipFill>
        <p:spPr>
          <a:xfrm>
            <a:off x="4064508" y="1284732"/>
            <a:ext cx="310896" cy="310896"/>
          </a:xfrm>
          <a:prstGeom prst="rect">
            <a:avLst/>
          </a:prstGeom>
        </p:spPr>
      </p:pic>
      <p:sp>
        <p:nvSpPr>
          <p:cNvPr id="14" name="Good place text"/>
          <p:cNvSpPr txBox="1"/>
          <p:nvPr/>
        </p:nvSpPr>
        <p:spPr>
          <a:xfrm>
            <a:off x="621792" y="1783080"/>
            <a:ext cx="374446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Windows: C:\Users\anna\wu\ima</a:t>
            </a:r>
          </a:p>
          <a:p>
            <a:pPr algn="l" marL="182880" indent="-182880">
              <a:spcAft>
                <a:spcPts val="600"/>
              </a:spcAft>
              <a:buClr>
                <a:schemeClr val="accent1"/>
              </a:buClr>
              <a:buFont typeface="Arial"/>
              <a:buChar char="▪"/>
            </a:pPr>
            <a:r>
              <a:rPr sz="1300" b="0" lang="en-GB">
                <a:solidFill>
                  <a:schemeClr val="tx1"/>
                </a:solidFill>
              </a:rPr>
              <a:t>macOS: /Users/anna/wu/ima</a:t>
            </a:r>
          </a:p>
          <a:p>
            <a:pPr algn="l" marL="182880" indent="-182880">
              <a:spcAft>
                <a:spcPts val="600"/>
              </a:spcAft>
              <a:buClr>
                <a:schemeClr val="accent1"/>
              </a:buClr>
              <a:buFont typeface="Arial"/>
              <a:buChar char="▪"/>
            </a:pPr>
            <a:r>
              <a:rPr sz="1300" b="0" lang="en-GB">
                <a:solidFill>
                  <a:schemeClr val="tx1"/>
                </a:solidFill>
              </a:rPr>
              <a:t>Short path, no spaces, no umlauts</a:t>
            </a:r>
          </a:p>
          <a:p>
            <a:pPr algn="l" marL="182880" indent="-182880">
              <a:spcAft>
                <a:spcPts val="600"/>
              </a:spcAft>
              <a:buClr>
                <a:schemeClr val="accent1"/>
              </a:buClr>
              <a:buFont typeface="Arial"/>
              <a:buChar char="▪"/>
            </a:pPr>
            <a:r>
              <a:rPr sz="1300" b="0" lang="en-GB">
                <a:solidFill>
                  <a:schemeClr val="tx1"/>
                </a:solidFill>
              </a:rPr>
              <a:t>On the laptop's own disk</a:t>
            </a:r>
          </a:p>
        </p:txBody>
      </p:sp>
      <p:sp>
        <p:nvSpPr>
          <p:cNvPr id="15" name="Bad place body"/>
          <p:cNvSpPr/>
          <p:nvPr/>
        </p:nvSpPr>
        <p:spPr>
          <a:xfrm>
            <a:off x="4640580" y="1645920"/>
            <a:ext cx="404622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ad place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ad place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Avoid</a:t>
            </a:r>
          </a:p>
        </p:txBody>
      </p:sp>
      <p:pic>
        <p:nvPicPr>
          <p:cNvPr id="18" name="Icon Bad place" descr=""/>
          <p:cNvPicPr>
            <a:picLocks noChangeAspect="1"/>
          </p:cNvPicPr>
          <p:nvPr/>
        </p:nvPicPr>
        <p:blipFill>
          <a:blip r:embed="rId4"/>
          <a:stretch>
            <a:fillRect/>
          </a:stretch>
        </p:blipFill>
        <p:spPr>
          <a:xfrm>
            <a:off x="8247888" y="1284732"/>
            <a:ext cx="310896" cy="310896"/>
          </a:xfrm>
          <a:prstGeom prst="rect">
            <a:avLst/>
          </a:prstGeom>
        </p:spPr>
      </p:pic>
      <p:sp>
        <p:nvSpPr>
          <p:cNvPr id="19" name="Bad place text"/>
          <p:cNvSpPr txBox="1"/>
          <p:nvPr/>
        </p:nvSpPr>
        <p:spPr>
          <a:xfrm>
            <a:off x="4805172" y="1783080"/>
            <a:ext cx="374446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OneDrive, iCloud Drive, Dropbox folders</a:t>
            </a:r>
          </a:p>
          <a:p>
            <a:pPr algn="l" marL="182880" indent="-182880">
              <a:spcAft>
                <a:spcPts val="600"/>
              </a:spcAft>
              <a:buClr>
                <a:schemeClr val="accent1"/>
              </a:buClr>
              <a:buFont typeface="Arial"/>
              <a:buChar char="▪"/>
            </a:pPr>
            <a:r>
              <a:rPr sz="1300" b="0" lang="en-GB">
                <a:solidFill>
                  <a:schemeClr val="tx1"/>
                </a:solidFill>
              </a:rPr>
              <a:t>Desktop and Documents if they sync to the cloud</a:t>
            </a:r>
          </a:p>
          <a:p>
            <a:pPr algn="l" marL="182880" indent="-182880">
              <a:spcAft>
                <a:spcPts val="600"/>
              </a:spcAft>
              <a:buClr>
                <a:schemeClr val="accent1"/>
              </a:buClr>
              <a:buFont typeface="Arial"/>
              <a:buChar char="▪"/>
            </a:pPr>
            <a:r>
              <a:rPr sz="1300" b="0" lang="en-GB">
                <a:solidFill>
                  <a:schemeClr val="tx1"/>
                </a:solidFill>
              </a:rPr>
              <a:t>Paths like …/Mein Kurs (WU)/</a:t>
            </a:r>
          </a:p>
          <a:p>
            <a:pPr algn="l" marL="182880" indent="-182880">
              <a:spcAft>
                <a:spcPts val="600"/>
              </a:spcAft>
              <a:buClr>
                <a:schemeClr val="accent1"/>
              </a:buClr>
              <a:buFont typeface="Arial"/>
              <a:buChar char="▪"/>
            </a:pPr>
            <a:r>
              <a:rPr sz="1300" b="0" lang="en-GB">
                <a:solidFill>
                  <a:schemeClr val="tx1"/>
                </a:solidFill>
              </a:rPr>
              <a:t>USB sticks and network drives</a:t>
            </a:r>
          </a:p>
        </p:txBody>
      </p:sp>
      <p:sp>
        <p:nvSpPr>
          <p:cNvPr id="20" name="Place rows row 1"/>
          <p:cNvSpPr/>
          <p:nvPr/>
        </p:nvSpPr>
        <p:spPr>
          <a:xfrm>
            <a:off x="457200" y="3611880"/>
            <a:ext cx="82296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lace rows bar 1"/>
          <p:cNvSpPr/>
          <p:nvPr/>
        </p:nvSpPr>
        <p:spPr>
          <a:xfrm>
            <a:off x="457200" y="3611880"/>
            <a:ext cx="64008" cy="47548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lace rows text 1"/>
          <p:cNvSpPr txBox="1"/>
          <p:nvPr/>
        </p:nvSpPr>
        <p:spPr>
          <a:xfrm>
            <a:off x="658368" y="3611880"/>
            <a:ext cx="7936992"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Find the folder later: </a:t>
            </a:r>
            <a:r>
              <a:rPr sz="1200" b="0" lang="en-GB">
                <a:solidFill>
                  <a:schemeClr val="tx1"/>
                </a:solidFill>
              </a:rPr>
              <a:t>Repository → Show in Explorer (Windows) / Show in Finder (macOS)</a:t>
            </a:r>
          </a:p>
        </p:txBody>
      </p:sp>
      <p:sp>
        <p:nvSpPr>
          <p:cNvPr id="23" name="Place rows row 2"/>
          <p:cNvSpPr/>
          <p:nvPr/>
        </p:nvSpPr>
        <p:spPr>
          <a:xfrm>
            <a:off x="457200" y="4151376"/>
            <a:ext cx="82296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lace rows bar 2"/>
          <p:cNvSpPr/>
          <p:nvPr/>
        </p:nvSpPr>
        <p:spPr>
          <a:xfrm>
            <a:off x="457200" y="4151376"/>
            <a:ext cx="64008" cy="47548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Place rows text 2"/>
          <p:cNvSpPr txBox="1"/>
          <p:nvPr/>
        </p:nvSpPr>
        <p:spPr>
          <a:xfrm>
            <a:off x="658368" y="4151376"/>
            <a:ext cx="7936992"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Moved it by mistake? </a:t>
            </a:r>
            <a:r>
              <a:rPr sz="1200" b="0" lang="en-GB">
                <a:solidFill>
                  <a:schemeClr val="tx1"/>
                </a:solidFill>
              </a:rPr>
              <a:t>GitHub Desktop says it cannot find it: click Locate… and pick the new place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Open the clone in Positron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Open steps step 1"/>
          <p:cNvSpPr/>
          <p:nvPr/>
        </p:nvSpPr>
        <p:spPr>
          <a:xfrm>
            <a:off x="457200" y="1234440"/>
            <a:ext cx="1733702"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100" b="1" lang="en-GB">
                <a:solidFill>
                  <a:schemeClr val="tx2"/>
                </a:solidFill>
              </a:rPr>
              <a:t>Clone in</a:t>
            </a:r>
            <a:br/>
            <a:r>
              <a:rPr sz="1100" b="1" lang="en-GB">
                <a:solidFill>
                  <a:schemeClr val="tx2"/>
                </a:solidFill>
              </a:rPr>
              <a:t>GitHub Desktop</a:t>
            </a:r>
          </a:p>
        </p:txBody>
      </p:sp>
      <p:sp>
        <p:nvSpPr>
          <p:cNvPr id="11" name="Open steps step 2"/>
          <p:cNvSpPr/>
          <p:nvPr/>
        </p:nvSpPr>
        <p:spPr>
          <a:xfrm>
            <a:off x="2081174"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Positron:</a:t>
            </a:r>
            <a:br/>
            <a:r>
              <a:rPr sz="1100" b="1" lang="en-GB">
                <a:solidFill>
                  <a:schemeClr val="tx2"/>
                </a:solidFill>
              </a:rPr>
              <a:t>Open Folder</a:t>
            </a:r>
          </a:p>
        </p:txBody>
      </p:sp>
      <p:sp>
        <p:nvSpPr>
          <p:cNvPr id="12" name="Open steps step 3"/>
          <p:cNvSpPr/>
          <p:nvPr/>
        </p:nvSpPr>
        <p:spPr>
          <a:xfrm>
            <a:off x="3705149"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Pick the</a:t>
            </a:r>
            <a:br/>
            <a:r>
              <a:rPr sz="1100" b="1" lang="en-GB">
                <a:solidFill>
                  <a:schemeClr val="tx2"/>
                </a:solidFill>
              </a:rPr>
              <a:t>cloned folder</a:t>
            </a:r>
          </a:p>
        </p:txBody>
      </p:sp>
      <p:sp>
        <p:nvSpPr>
          <p:cNvPr id="13" name="Open steps step 4"/>
          <p:cNvSpPr/>
          <p:nvPr/>
        </p:nvSpPr>
        <p:spPr>
          <a:xfrm>
            <a:off x="5329123"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Work, save</a:t>
            </a:r>
          </a:p>
        </p:txBody>
      </p:sp>
      <p:sp>
        <p:nvSpPr>
          <p:cNvPr id="14" name="Open steps step 5"/>
          <p:cNvSpPr/>
          <p:nvPr/>
        </p:nvSpPr>
        <p:spPr>
          <a:xfrm>
            <a:off x="6953098"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Back to</a:t>
            </a:r>
            <a:br/>
            <a:r>
              <a:rPr sz="1100" b="1" lang="en-GB">
                <a:solidFill>
                  <a:schemeClr val="tx2"/>
                </a:solidFill>
              </a:rPr>
              <a:t>GitHub Desktop</a:t>
            </a:r>
          </a:p>
        </p:txBody>
      </p:sp>
      <p:sp>
        <p:nvSpPr>
          <p:cNvPr id="15" name="Open P tile"/>
          <p:cNvSpPr/>
          <p:nvPr/>
        </p:nvSpPr>
        <p:spPr>
          <a:xfrm>
            <a:off x="457200" y="1965960"/>
            <a:ext cx="4046220" cy="1920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Icon Open P" descr=""/>
          <p:cNvPicPr>
            <a:picLocks noChangeAspect="1"/>
          </p:cNvPicPr>
          <p:nvPr/>
        </p:nvPicPr>
        <p:blipFill>
          <a:blip r:embed="rId3"/>
          <a:stretch>
            <a:fillRect/>
          </a:stretch>
        </p:blipFill>
        <p:spPr>
          <a:xfrm>
            <a:off x="594360" y="2103120"/>
            <a:ext cx="365760" cy="365760"/>
          </a:xfrm>
          <a:prstGeom prst="rect">
            <a:avLst/>
          </a:prstGeom>
        </p:spPr>
      </p:pic>
      <p:sp>
        <p:nvSpPr>
          <p:cNvPr id="17" name="Open P heading"/>
          <p:cNvSpPr txBox="1"/>
          <p:nvPr/>
        </p:nvSpPr>
        <p:spPr>
          <a:xfrm>
            <a:off x="1051560" y="210312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Positron</a:t>
            </a:r>
          </a:p>
        </p:txBody>
      </p:sp>
      <p:sp>
        <p:nvSpPr>
          <p:cNvPr id="18" name="Open P text"/>
          <p:cNvSpPr txBox="1"/>
          <p:nvPr/>
        </p:nvSpPr>
        <p:spPr>
          <a:xfrm>
            <a:off x="594360" y="2587752"/>
            <a:ext cx="3771900" cy="1234440"/>
          </a:xfrm>
          <a:prstGeom prst="rect">
            <a:avLst/>
          </a:prstGeom>
          <a:noFill/>
        </p:spPr>
        <p:txBody>
          <a:bodyPr wrap="square" lIns="0" rIns="0" tIns="0" bIns="0" anchor="t">
            <a:noAutofit/>
          </a:bodyPr>
          <a:lstStyle/>
          <a:p>
            <a:pPr algn="l">
              <a:spcAft>
                <a:spcPts val="400"/>
              </a:spcAft>
            </a:pPr>
            <a:r>
              <a:rPr sz="1200" b="0" lang="en-GB">
                <a:solidFill>
                  <a:schemeClr val="tx1"/>
                </a:solidFill>
              </a:rPr>
              <a:t>Edit and run code, render Quarto files. </a:t>
            </a:r>
          </a:p>
          <a:p>
            <a:pPr algn="l">
              <a:spcAft>
                <a:spcPts val="400"/>
              </a:spcAft>
            </a:pPr>
            <a:r>
              <a:rPr sz="1200" b="0" lang="en-GB">
                <a:solidFill>
                  <a:schemeClr val="tx1"/>
                </a:solidFill>
              </a:rPr>
              <a:t>Saved changes show up in GitHub Desktop at once.</a:t>
            </a:r>
          </a:p>
        </p:txBody>
      </p:sp>
      <p:sp>
        <p:nvSpPr>
          <p:cNvPr id="19" name="Open G tile"/>
          <p:cNvSpPr/>
          <p:nvPr/>
        </p:nvSpPr>
        <p:spPr>
          <a:xfrm>
            <a:off x="4640580" y="1965960"/>
            <a:ext cx="4046220" cy="1920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Icon Open G" descr=""/>
          <p:cNvPicPr>
            <a:picLocks noChangeAspect="1"/>
          </p:cNvPicPr>
          <p:nvPr/>
        </p:nvPicPr>
        <p:blipFill>
          <a:blip r:embed="rId4"/>
          <a:stretch>
            <a:fillRect/>
          </a:stretch>
        </p:blipFill>
        <p:spPr>
          <a:xfrm>
            <a:off x="4777740" y="2103120"/>
            <a:ext cx="365760" cy="365760"/>
          </a:xfrm>
          <a:prstGeom prst="rect">
            <a:avLst/>
          </a:prstGeom>
        </p:spPr>
      </p:pic>
      <p:sp>
        <p:nvSpPr>
          <p:cNvPr id="21" name="Open G heading"/>
          <p:cNvSpPr txBox="1"/>
          <p:nvPr/>
        </p:nvSpPr>
        <p:spPr>
          <a:xfrm>
            <a:off x="5234940" y="210312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GitHub Desktop</a:t>
            </a:r>
          </a:p>
        </p:txBody>
      </p:sp>
      <p:sp>
        <p:nvSpPr>
          <p:cNvPr id="22" name="Open G text"/>
          <p:cNvSpPr txBox="1"/>
          <p:nvPr/>
        </p:nvSpPr>
        <p:spPr>
          <a:xfrm>
            <a:off x="4777740" y="2587752"/>
            <a:ext cx="3771900" cy="1234440"/>
          </a:xfrm>
          <a:prstGeom prst="rect">
            <a:avLst/>
          </a:prstGeom>
          <a:noFill/>
        </p:spPr>
        <p:txBody>
          <a:bodyPr wrap="square" lIns="0" rIns="0" tIns="0" bIns="0" anchor="t">
            <a:noAutofit/>
          </a:bodyPr>
          <a:lstStyle/>
          <a:p>
            <a:pPr algn="l">
              <a:spcAft>
                <a:spcPts val="400"/>
              </a:spcAft>
            </a:pPr>
            <a:r>
              <a:rPr sz="1200" b="0" lang="en-GB">
                <a:solidFill>
                  <a:schemeClr val="tx1"/>
                </a:solidFill>
              </a:rPr>
              <a:t>Fetch, pull, commit and push. </a:t>
            </a:r>
          </a:p>
          <a:p>
            <a:pPr algn="l">
              <a:spcAft>
                <a:spcPts val="400"/>
              </a:spcAft>
            </a:pPr>
            <a:r>
              <a:rPr sz="1200" b="0" lang="en-GB">
                <a:solidFill>
                  <a:schemeClr val="tx1"/>
                </a:solidFill>
              </a:rPr>
              <a:t>Keep it open next to Positron.</a:t>
            </a:r>
          </a:p>
        </p:txBody>
      </p:sp>
      <p:sp>
        <p:nvSpPr>
          <p:cNvPr id="23" name="Open tip box"/>
          <p:cNvSpPr/>
          <p:nvPr/>
        </p:nvSpPr>
        <p:spPr>
          <a:xfrm>
            <a:off x="457200" y="406908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Icon Open tip" descr=""/>
          <p:cNvPicPr>
            <a:picLocks noChangeAspect="1"/>
          </p:cNvPicPr>
          <p:nvPr/>
        </p:nvPicPr>
        <p:blipFill>
          <a:blip r:embed="rId5"/>
          <a:stretch>
            <a:fillRect/>
          </a:stretch>
        </p:blipFill>
        <p:spPr>
          <a:xfrm>
            <a:off x="658368" y="4229100"/>
            <a:ext cx="365760" cy="365760"/>
          </a:xfrm>
          <a:prstGeom prst="rect">
            <a:avLst/>
          </a:prstGeom>
        </p:spPr>
      </p:pic>
      <p:sp>
        <p:nvSpPr>
          <p:cNvPr id="25" name="Open tip text"/>
          <p:cNvSpPr txBox="1"/>
          <p:nvPr/>
        </p:nvSpPr>
        <p:spPr>
          <a:xfrm>
            <a:off x="1207008" y="406908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Tip: </a:t>
            </a:r>
            <a:r>
              <a:rPr sz="1200" b="0" lang="en-GB">
                <a:solidFill>
                  <a:schemeClr val="bg1"/>
                </a:solidFill>
              </a:rPr>
              <a:t>under Options → Integrations you can set an external editor; if Positron is not listed, simply open the folder from Positron.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5 of 6 · the everyday cycle, undoing mistakes, what never goes in</a:t>
            </a:r>
          </a:p>
        </p:txBody>
      </p:sp>
      <p:sp>
        <p:nvSpPr>
          <p:cNvPr id="3" name="Title 2"/>
          <p:cNvSpPr>
            <a:spLocks noGrp="1"/>
          </p:cNvSpPr>
          <p:nvPr>
            <p:ph type="ctrTitle"/>
          </p:nvPr>
        </p:nvSpPr>
        <p:spPr/>
        <p:txBody>
          <a:bodyPr/>
          <a:lstStyle/>
          <a:p>
            <a:r>
              <a:rPr sz="1600" lang="en-GB"/>
              <a:t>Pull, commit, push</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everyday cycle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ycle step 1"/>
          <p:cNvSpPr/>
          <p:nvPr/>
        </p:nvSpPr>
        <p:spPr>
          <a:xfrm>
            <a:off x="457200" y="1234440"/>
            <a:ext cx="1733702"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100" b="1" lang="en-GB">
                <a:solidFill>
                  <a:schemeClr val="tx2"/>
                </a:solidFill>
              </a:rPr>
              <a:t>1 Fetch</a:t>
            </a:r>
            <a:br/>
            <a:r>
              <a:rPr sz="1100" b="1" lang="en-GB">
                <a:solidFill>
                  <a:schemeClr val="tx2"/>
                </a:solidFill>
              </a:rPr>
              <a:t>origin</a:t>
            </a:r>
          </a:p>
        </p:txBody>
      </p:sp>
      <p:sp>
        <p:nvSpPr>
          <p:cNvPr id="11" name="Cycle step 2"/>
          <p:cNvSpPr/>
          <p:nvPr/>
        </p:nvSpPr>
        <p:spPr>
          <a:xfrm>
            <a:off x="2081174"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2 Pull</a:t>
            </a:r>
            <a:br/>
            <a:r>
              <a:rPr sz="1100" b="1" lang="en-GB">
                <a:solidFill>
                  <a:schemeClr val="tx2"/>
                </a:solidFill>
              </a:rPr>
              <a:t>origin</a:t>
            </a:r>
          </a:p>
        </p:txBody>
      </p:sp>
      <p:sp>
        <p:nvSpPr>
          <p:cNvPr id="12" name="Cycle step 3"/>
          <p:cNvSpPr/>
          <p:nvPr/>
        </p:nvSpPr>
        <p:spPr>
          <a:xfrm>
            <a:off x="3705149"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3 Work</a:t>
            </a:r>
            <a:br/>
            <a:r>
              <a:rPr sz="1100" b="1" lang="en-GB">
                <a:solidFill>
                  <a:schemeClr val="tx2"/>
                </a:solidFill>
              </a:rPr>
              <a:t>in Positron</a:t>
            </a:r>
          </a:p>
        </p:txBody>
      </p:sp>
      <p:sp>
        <p:nvSpPr>
          <p:cNvPr id="13" name="Cycle step 4"/>
          <p:cNvSpPr/>
          <p:nvPr/>
        </p:nvSpPr>
        <p:spPr>
          <a:xfrm>
            <a:off x="5329123"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4 Commit</a:t>
            </a:r>
            <a:br/>
            <a:r>
              <a:rPr sz="1100" b="1" lang="en-GB">
                <a:solidFill>
                  <a:schemeClr val="tx2"/>
                </a:solidFill>
              </a:rPr>
              <a:t>to main</a:t>
            </a:r>
          </a:p>
        </p:txBody>
      </p:sp>
      <p:sp>
        <p:nvSpPr>
          <p:cNvPr id="14" name="Cycle step 5"/>
          <p:cNvSpPr/>
          <p:nvPr/>
        </p:nvSpPr>
        <p:spPr>
          <a:xfrm>
            <a:off x="6953098"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5 Push</a:t>
            </a:r>
            <a:br/>
            <a:r>
              <a:rPr sz="1100" b="1" lang="en-GB">
                <a:solidFill>
                  <a:schemeClr val="tx2"/>
                </a:solidFill>
              </a:rPr>
              <a:t>origin</a:t>
            </a:r>
          </a:p>
        </p:txBody>
      </p:sp>
      <p:sp>
        <p:nvSpPr>
          <p:cNvPr id="15" name="Btn 1"/>
          <p:cNvSpPr/>
          <p:nvPr/>
        </p:nvSpPr>
        <p:spPr>
          <a:xfrm>
            <a:off x="457200" y="1965960"/>
            <a:ext cx="2377440" cy="4572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tn text 1"/>
          <p:cNvSpPr txBox="1"/>
          <p:nvPr/>
        </p:nvSpPr>
        <p:spPr>
          <a:xfrm>
            <a:off x="457200" y="1965960"/>
            <a:ext cx="2377440" cy="457200"/>
          </a:xfrm>
          <a:prstGeom prst="rect">
            <a:avLst/>
          </a:prstGeom>
          <a:noFill/>
        </p:spPr>
        <p:txBody>
          <a:bodyPr wrap="square" lIns="0" rIns="0" tIns="0" bIns="0" anchor="ctr">
            <a:noAutofit/>
          </a:bodyPr>
          <a:lstStyle/>
          <a:p>
            <a:pPr algn="ctr">
              <a:spcAft>
                <a:spcPts val="400"/>
              </a:spcAft>
            </a:pPr>
            <a:r>
              <a:rPr sz="1200" b="1" lang="en-GB">
                <a:solidFill>
                  <a:schemeClr val="bg1"/>
                </a:solidFill>
              </a:rPr>
              <a:t>Fetch origin</a:t>
            </a:r>
          </a:p>
        </p:txBody>
      </p:sp>
      <p:sp>
        <p:nvSpPr>
          <p:cNvPr id="17" name="Btn row 1"/>
          <p:cNvSpPr/>
          <p:nvPr/>
        </p:nvSpPr>
        <p:spPr>
          <a:xfrm>
            <a:off x="2926080" y="1965960"/>
            <a:ext cx="576072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Btn desc 1"/>
          <p:cNvSpPr txBox="1"/>
          <p:nvPr/>
        </p:nvSpPr>
        <p:spPr>
          <a:xfrm>
            <a:off x="3063240" y="1965960"/>
            <a:ext cx="5577840" cy="457200"/>
          </a:xfrm>
          <a:prstGeom prst="rect">
            <a:avLst/>
          </a:prstGeom>
          <a:noFill/>
        </p:spPr>
        <p:txBody>
          <a:bodyPr wrap="square" lIns="0" rIns="0" tIns="0" bIns="0" anchor="ctr">
            <a:noAutofit/>
          </a:bodyPr>
          <a:lstStyle/>
          <a:p>
            <a:pPr algn="l">
              <a:spcAft>
                <a:spcPts val="400"/>
              </a:spcAft>
            </a:pPr>
            <a:r>
              <a:rPr sz="1200" b="0" lang="en-GB">
                <a:solidFill>
                  <a:schemeClr val="tx1"/>
                </a:solidFill>
              </a:rPr>
              <a:t>asks GitHub what is new; changes nothing on your laptop</a:t>
            </a:r>
          </a:p>
        </p:txBody>
      </p:sp>
      <p:sp>
        <p:nvSpPr>
          <p:cNvPr id="19" name="Btn 2"/>
          <p:cNvSpPr/>
          <p:nvPr/>
        </p:nvSpPr>
        <p:spPr>
          <a:xfrm>
            <a:off x="457200" y="2514600"/>
            <a:ext cx="2377440" cy="4572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Btn text 2"/>
          <p:cNvSpPr txBox="1"/>
          <p:nvPr/>
        </p:nvSpPr>
        <p:spPr>
          <a:xfrm>
            <a:off x="457200" y="2514600"/>
            <a:ext cx="2377440" cy="457200"/>
          </a:xfrm>
          <a:prstGeom prst="rect">
            <a:avLst/>
          </a:prstGeom>
          <a:noFill/>
        </p:spPr>
        <p:txBody>
          <a:bodyPr wrap="square" lIns="0" rIns="0" tIns="0" bIns="0" anchor="ctr">
            <a:noAutofit/>
          </a:bodyPr>
          <a:lstStyle/>
          <a:p>
            <a:pPr algn="ctr">
              <a:spcAft>
                <a:spcPts val="400"/>
              </a:spcAft>
            </a:pPr>
            <a:r>
              <a:rPr sz="1200" b="1" lang="en-GB">
                <a:solidFill>
                  <a:schemeClr val="bg1"/>
                </a:solidFill>
              </a:rPr>
              <a:t>Pull origin  ↓ 3</a:t>
            </a:r>
          </a:p>
        </p:txBody>
      </p:sp>
      <p:sp>
        <p:nvSpPr>
          <p:cNvPr id="21" name="Btn row 2"/>
          <p:cNvSpPr/>
          <p:nvPr/>
        </p:nvSpPr>
        <p:spPr>
          <a:xfrm>
            <a:off x="2926080" y="2514600"/>
            <a:ext cx="576072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Btn desc 2"/>
          <p:cNvSpPr txBox="1"/>
          <p:nvPr/>
        </p:nvSpPr>
        <p:spPr>
          <a:xfrm>
            <a:off x="3063240" y="2514600"/>
            <a:ext cx="5577840" cy="457200"/>
          </a:xfrm>
          <a:prstGeom prst="rect">
            <a:avLst/>
          </a:prstGeom>
          <a:noFill/>
        </p:spPr>
        <p:txBody>
          <a:bodyPr wrap="square" lIns="0" rIns="0" tIns="0" bIns="0" anchor="ctr">
            <a:noAutofit/>
          </a:bodyPr>
          <a:lstStyle/>
          <a:p>
            <a:pPr algn="l">
              <a:spcAft>
                <a:spcPts val="400"/>
              </a:spcAft>
            </a:pPr>
            <a:r>
              <a:rPr sz="1200" b="0" lang="en-GB">
                <a:solidFill>
                  <a:schemeClr val="tx1"/>
                </a:solidFill>
              </a:rPr>
              <a:t>downloads 3 new commits into your folder</a:t>
            </a:r>
          </a:p>
        </p:txBody>
      </p:sp>
      <p:sp>
        <p:nvSpPr>
          <p:cNvPr id="23" name="Btn 3"/>
          <p:cNvSpPr/>
          <p:nvPr/>
        </p:nvSpPr>
        <p:spPr>
          <a:xfrm>
            <a:off x="457200" y="3063240"/>
            <a:ext cx="2377440" cy="4572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Btn text 3"/>
          <p:cNvSpPr txBox="1"/>
          <p:nvPr/>
        </p:nvSpPr>
        <p:spPr>
          <a:xfrm>
            <a:off x="457200" y="3063240"/>
            <a:ext cx="2377440" cy="457200"/>
          </a:xfrm>
          <a:prstGeom prst="rect">
            <a:avLst/>
          </a:prstGeom>
          <a:noFill/>
        </p:spPr>
        <p:txBody>
          <a:bodyPr wrap="square" lIns="0" rIns="0" tIns="0" bIns="0" anchor="ctr">
            <a:noAutofit/>
          </a:bodyPr>
          <a:lstStyle/>
          <a:p>
            <a:pPr algn="ctr">
              <a:spcAft>
                <a:spcPts val="400"/>
              </a:spcAft>
            </a:pPr>
            <a:r>
              <a:rPr sz="1200" b="1" lang="en-GB">
                <a:solidFill>
                  <a:schemeClr val="bg1"/>
                </a:solidFill>
              </a:rPr>
              <a:t>Commit to main</a:t>
            </a:r>
          </a:p>
        </p:txBody>
      </p:sp>
      <p:sp>
        <p:nvSpPr>
          <p:cNvPr id="25" name="Btn row 3"/>
          <p:cNvSpPr/>
          <p:nvPr/>
        </p:nvSpPr>
        <p:spPr>
          <a:xfrm>
            <a:off x="2926080" y="3063240"/>
            <a:ext cx="576072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Btn desc 3"/>
          <p:cNvSpPr txBox="1"/>
          <p:nvPr/>
        </p:nvSpPr>
        <p:spPr>
          <a:xfrm>
            <a:off x="3063240" y="3063240"/>
            <a:ext cx="5577840" cy="457200"/>
          </a:xfrm>
          <a:prstGeom prst="rect">
            <a:avLst/>
          </a:prstGeom>
          <a:noFill/>
        </p:spPr>
        <p:txBody>
          <a:bodyPr wrap="square" lIns="0" rIns="0" tIns="0" bIns="0" anchor="ctr">
            <a:noAutofit/>
          </a:bodyPr>
          <a:lstStyle/>
          <a:p>
            <a:pPr algn="l">
              <a:spcAft>
                <a:spcPts val="400"/>
              </a:spcAft>
            </a:pPr>
            <a:r>
              <a:rPr sz="1200" b="0" lang="en-GB">
                <a:solidFill>
                  <a:schemeClr val="tx1"/>
                </a:solidFill>
              </a:rPr>
              <a:t>saves a snapshot of your checked files, on your laptop only</a:t>
            </a:r>
          </a:p>
        </p:txBody>
      </p:sp>
      <p:sp>
        <p:nvSpPr>
          <p:cNvPr id="27" name="Btn 4"/>
          <p:cNvSpPr/>
          <p:nvPr/>
        </p:nvSpPr>
        <p:spPr>
          <a:xfrm>
            <a:off x="457200" y="3611880"/>
            <a:ext cx="2377440" cy="4572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Btn text 4"/>
          <p:cNvSpPr txBox="1"/>
          <p:nvPr/>
        </p:nvSpPr>
        <p:spPr>
          <a:xfrm>
            <a:off x="457200" y="3611880"/>
            <a:ext cx="2377440" cy="457200"/>
          </a:xfrm>
          <a:prstGeom prst="rect">
            <a:avLst/>
          </a:prstGeom>
          <a:noFill/>
        </p:spPr>
        <p:txBody>
          <a:bodyPr wrap="square" lIns="0" rIns="0" tIns="0" bIns="0" anchor="ctr">
            <a:noAutofit/>
          </a:bodyPr>
          <a:lstStyle/>
          <a:p>
            <a:pPr algn="ctr">
              <a:spcAft>
                <a:spcPts val="400"/>
              </a:spcAft>
            </a:pPr>
            <a:r>
              <a:rPr sz="1200" b="1" lang="en-GB">
                <a:solidFill>
                  <a:schemeClr val="bg1"/>
                </a:solidFill>
              </a:rPr>
              <a:t>Push origin  ↑ 1</a:t>
            </a:r>
          </a:p>
        </p:txBody>
      </p:sp>
      <p:sp>
        <p:nvSpPr>
          <p:cNvPr id="29" name="Btn row 4"/>
          <p:cNvSpPr/>
          <p:nvPr/>
        </p:nvSpPr>
        <p:spPr>
          <a:xfrm>
            <a:off x="2926080" y="3611880"/>
            <a:ext cx="576072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Btn desc 4"/>
          <p:cNvSpPr txBox="1"/>
          <p:nvPr/>
        </p:nvSpPr>
        <p:spPr>
          <a:xfrm>
            <a:off x="3063240" y="3611880"/>
            <a:ext cx="5577840" cy="457200"/>
          </a:xfrm>
          <a:prstGeom prst="rect">
            <a:avLst/>
          </a:prstGeom>
          <a:noFill/>
        </p:spPr>
        <p:txBody>
          <a:bodyPr wrap="square" lIns="0" rIns="0" tIns="0" bIns="0" anchor="ctr">
            <a:noAutofit/>
          </a:bodyPr>
          <a:lstStyle/>
          <a:p>
            <a:pPr algn="l">
              <a:spcAft>
                <a:spcPts val="400"/>
              </a:spcAft>
            </a:pPr>
            <a:r>
              <a:rPr sz="1200" b="0" lang="en-GB">
                <a:solidFill>
                  <a:schemeClr val="tx1"/>
                </a:solidFill>
              </a:rPr>
              <a:t>uploads your 1 new commit to GitHub</a:t>
            </a:r>
          </a:p>
        </p:txBody>
      </p:sp>
      <p:sp>
        <p:nvSpPr>
          <p:cNvPr id="31" name="Cycle rule box"/>
          <p:cNvSpPr/>
          <p:nvPr/>
        </p:nvSpPr>
        <p:spPr>
          <a:xfrm>
            <a:off x="457200" y="425196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Cycle rule" descr=""/>
          <p:cNvPicPr>
            <a:picLocks noChangeAspect="1"/>
          </p:cNvPicPr>
          <p:nvPr/>
        </p:nvPicPr>
        <p:blipFill>
          <a:blip r:embed="rId3"/>
          <a:stretch>
            <a:fillRect/>
          </a:stretch>
        </p:blipFill>
        <p:spPr>
          <a:xfrm>
            <a:off x="658368" y="4411980"/>
            <a:ext cx="365760" cy="365760"/>
          </a:xfrm>
          <a:prstGeom prst="rect">
            <a:avLst/>
          </a:prstGeom>
        </p:spPr>
      </p:pic>
      <p:sp>
        <p:nvSpPr>
          <p:cNvPr id="33" name="Cycle rule text"/>
          <p:cNvSpPr txBox="1"/>
          <p:nvPr/>
        </p:nvSpPr>
        <p:spPr>
          <a:xfrm>
            <a:off x="1207008" y="425196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Course repository: </a:t>
            </a:r>
            <a:r>
              <a:rPr sz="1200" b="0" lang="en-GB">
                <a:solidFill>
                  <a:schemeClr val="bg1"/>
                </a:solidFill>
              </a:rPr>
              <a:t>only fetch and pull, before every session. Your own work goes into your own folder or repository.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Pull: get the latest version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ull body"/>
          <p:cNvSpPr/>
          <p:nvPr/>
        </p:nvSpPr>
        <p:spPr>
          <a:xfrm>
            <a:off x="457200" y="1645920"/>
            <a:ext cx="493776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ull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Pull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Before every session</a:t>
            </a:r>
          </a:p>
        </p:txBody>
      </p:sp>
      <p:pic>
        <p:nvPicPr>
          <p:cNvPr id="13" name="Icon Pull" descr=""/>
          <p:cNvPicPr>
            <a:picLocks noChangeAspect="1"/>
          </p:cNvPicPr>
          <p:nvPr/>
        </p:nvPicPr>
        <p:blipFill>
          <a:blip r:embed="rId3"/>
          <a:stretch>
            <a:fillRect/>
          </a:stretch>
        </p:blipFill>
        <p:spPr>
          <a:xfrm>
            <a:off x="4956048" y="1284732"/>
            <a:ext cx="310896" cy="310896"/>
          </a:xfrm>
          <a:prstGeom prst="rect">
            <a:avLst/>
          </a:prstGeom>
        </p:spPr>
      </p:pic>
      <p:sp>
        <p:nvSpPr>
          <p:cNvPr id="14" name="Pull text"/>
          <p:cNvSpPr txBox="1"/>
          <p:nvPr/>
        </p:nvSpPr>
        <p:spPr>
          <a:xfrm>
            <a:off x="621792" y="1783080"/>
            <a:ext cx="4636008" cy="187452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Current repository: </a:t>
            </a:r>
            <a:r>
              <a:rPr sz="1300" b="0" lang="en-GB">
                <a:solidFill>
                  <a:schemeClr val="tx1"/>
                </a:solidFill>
              </a:rPr>
              <a:t>pick the course repository</a:t>
            </a:r>
          </a:p>
          <a:p>
            <a:pPr algn="l">
              <a:spcAft>
                <a:spcPts val="900"/>
              </a:spcAft>
            </a:pPr>
            <a:r>
              <a:rPr sz="1300" b="1" lang="en-GB">
                <a:solidFill>
                  <a:schemeClr val="accent1"/>
                </a:solidFill>
              </a:rPr>
              <a:t>2  </a:t>
            </a:r>
            <a:r>
              <a:rPr sz="1300" b="1" lang="en-GB">
                <a:solidFill>
                  <a:schemeClr val="tx2"/>
                </a:solidFill>
              </a:rPr>
              <a:t>Click </a:t>
            </a:r>
            <a:r>
              <a:rPr sz="1300" b="0" lang="en-GB">
                <a:solidFill>
                  <a:schemeClr val="tx1"/>
                </a:solidFill>
              </a:rPr>
              <a:t>Fetch origin</a:t>
            </a:r>
          </a:p>
          <a:p>
            <a:pPr algn="l">
              <a:spcAft>
                <a:spcPts val="900"/>
              </a:spcAft>
            </a:pPr>
            <a:r>
              <a:rPr sz="1300" b="1" lang="en-GB">
                <a:solidFill>
                  <a:schemeClr val="accent1"/>
                </a:solidFill>
              </a:rPr>
              <a:t>3  </a:t>
            </a:r>
            <a:r>
              <a:rPr sz="1300" b="1" lang="en-GB">
                <a:solidFill>
                  <a:schemeClr val="tx2"/>
                </a:solidFill>
              </a:rPr>
              <a:t>If it shows Pull origin ↓: </a:t>
            </a:r>
            <a:r>
              <a:rPr sz="1300" b="0" lang="en-GB">
                <a:solidFill>
                  <a:schemeClr val="tx1"/>
                </a:solidFill>
              </a:rPr>
              <a:t>click it</a:t>
            </a:r>
          </a:p>
          <a:p>
            <a:pPr algn="l">
              <a:spcAft>
                <a:spcPts val="900"/>
              </a:spcAft>
            </a:pPr>
            <a:r>
              <a:rPr sz="1300" b="1" lang="en-GB">
                <a:solidFill>
                  <a:schemeClr val="accent1"/>
                </a:solidFill>
              </a:rPr>
              <a:t>4  </a:t>
            </a:r>
            <a:r>
              <a:rPr sz="1300" b="1" lang="en-GB">
                <a:solidFill>
                  <a:schemeClr val="tx2"/>
                </a:solidFill>
              </a:rPr>
              <a:t>Done: </a:t>
            </a:r>
            <a:r>
              <a:rPr sz="1300" b="0" lang="en-GB">
                <a:solidFill>
                  <a:schemeClr val="tx1"/>
                </a:solidFill>
              </a:rPr>
              <a:t>the button says Fetch origin again</a:t>
            </a:r>
          </a:p>
        </p:txBody>
      </p:sp>
      <p:sp>
        <p:nvSpPr>
          <p:cNvPr id="15" name="Pull card body"/>
          <p:cNvSpPr/>
          <p:nvPr/>
        </p:nvSpPr>
        <p:spPr>
          <a:xfrm>
            <a:off x="5532120" y="1645920"/>
            <a:ext cx="315468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ull card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ull card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Pull refused?</a:t>
            </a:r>
          </a:p>
        </p:txBody>
      </p:sp>
      <p:pic>
        <p:nvPicPr>
          <p:cNvPr id="18" name="Icon Pull card" descr=""/>
          <p:cNvPicPr>
            <a:picLocks noChangeAspect="1"/>
          </p:cNvPicPr>
          <p:nvPr/>
        </p:nvPicPr>
        <p:blipFill>
          <a:blip r:embed="rId4"/>
          <a:stretch>
            <a:fillRect/>
          </a:stretch>
        </p:blipFill>
        <p:spPr>
          <a:xfrm>
            <a:off x="8247888" y="1284732"/>
            <a:ext cx="310896" cy="310896"/>
          </a:xfrm>
          <a:prstGeom prst="rect">
            <a:avLst/>
          </a:prstGeom>
        </p:spPr>
      </p:pic>
      <p:sp>
        <p:nvSpPr>
          <p:cNvPr id="19" name="Pull card text"/>
          <p:cNvSpPr txBox="1"/>
          <p:nvPr/>
        </p:nvSpPr>
        <p:spPr>
          <a:xfrm>
            <a:off x="5696712" y="1783080"/>
            <a:ext cx="285292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You edited a file that the update changes</a:t>
            </a:r>
          </a:p>
          <a:p>
            <a:pPr algn="l" marL="182880" indent="-182880">
              <a:spcAft>
                <a:spcPts val="600"/>
              </a:spcAft>
              <a:buClr>
                <a:schemeClr val="accent1"/>
              </a:buClr>
              <a:buFont typeface="Arial"/>
              <a:buChar char="▪"/>
            </a:pPr>
            <a:r>
              <a:rPr sz="1300" b="0" lang="en-GB">
                <a:solidFill>
                  <a:schemeClr val="tx1"/>
                </a:solidFill>
              </a:rPr>
              <a:t>Changes tab: right-click it → Discard changes</a:t>
            </a:r>
          </a:p>
          <a:p>
            <a:pPr algn="l" marL="182880" indent="-182880">
              <a:spcAft>
                <a:spcPts val="600"/>
              </a:spcAft>
              <a:buClr>
                <a:schemeClr val="accent1"/>
              </a:buClr>
              <a:buFont typeface="Arial"/>
              <a:buChar char="▪"/>
            </a:pPr>
            <a:r>
              <a:rPr sz="1300" b="0" lang="en-GB">
                <a:solidFill>
                  <a:schemeClr val="tx1"/>
                </a:solidFill>
              </a:rPr>
              <a:t>Then click Pull origin again</a:t>
            </a:r>
          </a:p>
        </p:txBody>
      </p:sp>
      <p:sp>
        <p:nvSpPr>
          <p:cNvPr id="20" name="Pull rule box"/>
          <p:cNvSpPr/>
          <p:nvPr/>
        </p:nvSpPr>
        <p:spPr>
          <a:xfrm>
            <a:off x="457200" y="388620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Pull rule" descr=""/>
          <p:cNvPicPr>
            <a:picLocks noChangeAspect="1"/>
          </p:cNvPicPr>
          <p:nvPr/>
        </p:nvPicPr>
        <p:blipFill>
          <a:blip r:embed="rId5"/>
          <a:stretch>
            <a:fillRect/>
          </a:stretch>
        </p:blipFill>
        <p:spPr>
          <a:xfrm>
            <a:off x="658368" y="4069080"/>
            <a:ext cx="365760" cy="365760"/>
          </a:xfrm>
          <a:prstGeom prst="rect">
            <a:avLst/>
          </a:prstGeom>
        </p:spPr>
      </p:pic>
      <p:sp>
        <p:nvSpPr>
          <p:cNvPr id="22" name="Pull rule text"/>
          <p:cNvSpPr txBox="1"/>
          <p:nvPr/>
        </p:nvSpPr>
        <p:spPr>
          <a:xfrm>
            <a:off x="1207008" y="3886200"/>
            <a:ext cx="7315200" cy="731520"/>
          </a:xfrm>
          <a:prstGeom prst="rect">
            <a:avLst/>
          </a:prstGeom>
          <a:noFill/>
        </p:spPr>
        <p:txBody>
          <a:bodyPr wrap="square" lIns="0" rIns="0" tIns="0" bIns="0" anchor="ctr">
            <a:noAutofit/>
          </a:bodyPr>
          <a:lstStyle/>
          <a:p>
            <a:pPr algn="l">
              <a:spcAft>
                <a:spcPts val="400"/>
              </a:spcAft>
            </a:pPr>
            <a:r>
              <a:rPr sz="1200" b="1" lang="en-GB">
                <a:solidFill>
                  <a:schemeClr val="bg1"/>
                </a:solidFill>
              </a:rPr>
              <a:t>Golden rule: </a:t>
            </a:r>
            <a:r>
              <a:rPr sz="1200" b="0" lang="en-GB">
                <a:solidFill>
                  <a:schemeClr val="bg1"/>
                </a:solidFill>
              </a:rPr>
              <a:t>never edit files inside the course repository. Copy them into your own project folder first.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Commit: save a snapshot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ommit body"/>
          <p:cNvSpPr/>
          <p:nvPr/>
        </p:nvSpPr>
        <p:spPr>
          <a:xfrm>
            <a:off x="457200" y="1645920"/>
            <a:ext cx="4937760" cy="2377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ommit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ommit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In the Changes tab</a:t>
            </a:r>
          </a:p>
        </p:txBody>
      </p:sp>
      <p:pic>
        <p:nvPicPr>
          <p:cNvPr id="13" name="Icon Commit" descr=""/>
          <p:cNvPicPr>
            <a:picLocks noChangeAspect="1"/>
          </p:cNvPicPr>
          <p:nvPr/>
        </p:nvPicPr>
        <p:blipFill>
          <a:blip r:embed="rId3"/>
          <a:stretch>
            <a:fillRect/>
          </a:stretch>
        </p:blipFill>
        <p:spPr>
          <a:xfrm>
            <a:off x="4956048" y="1284732"/>
            <a:ext cx="310896" cy="310896"/>
          </a:xfrm>
          <a:prstGeom prst="rect">
            <a:avLst/>
          </a:prstGeom>
        </p:spPr>
      </p:pic>
      <p:sp>
        <p:nvSpPr>
          <p:cNvPr id="14" name="Commit text"/>
          <p:cNvSpPr txBox="1"/>
          <p:nvPr/>
        </p:nvSpPr>
        <p:spPr>
          <a:xfrm>
            <a:off x="621792" y="1783080"/>
            <a:ext cx="4636008" cy="214884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Look </a:t>
            </a:r>
            <a:r>
              <a:rPr sz="1300" b="0" lang="en-GB">
                <a:solidFill>
                  <a:schemeClr val="tx1"/>
                </a:solidFill>
              </a:rPr>
              <a:t>at the list of changed files</a:t>
            </a:r>
          </a:p>
          <a:p>
            <a:pPr algn="l">
              <a:spcAft>
                <a:spcPts val="900"/>
              </a:spcAft>
            </a:pPr>
            <a:r>
              <a:rPr sz="1300" b="1" lang="en-GB">
                <a:solidFill>
                  <a:schemeClr val="accent1"/>
                </a:solidFill>
              </a:rPr>
              <a:t>2  </a:t>
            </a:r>
            <a:r>
              <a:rPr sz="1300" b="1" lang="en-GB">
                <a:solidFill>
                  <a:schemeClr val="tx2"/>
                </a:solidFill>
              </a:rPr>
              <a:t>Click a file </a:t>
            </a:r>
            <a:r>
              <a:rPr sz="1300" b="0" lang="en-GB">
                <a:solidFill>
                  <a:schemeClr val="tx1"/>
                </a:solidFill>
              </a:rPr>
              <a:t>to see the diff: red removed, green added</a:t>
            </a:r>
          </a:p>
          <a:p>
            <a:pPr algn="l">
              <a:spcAft>
                <a:spcPts val="900"/>
              </a:spcAft>
            </a:pPr>
            <a:r>
              <a:rPr sz="1300" b="1" lang="en-GB">
                <a:solidFill>
                  <a:schemeClr val="accent1"/>
                </a:solidFill>
              </a:rPr>
              <a:t>3  </a:t>
            </a:r>
            <a:r>
              <a:rPr sz="1300" b="1" lang="en-GB">
                <a:solidFill>
                  <a:schemeClr val="tx2"/>
                </a:solidFill>
              </a:rPr>
              <a:t>Tick </a:t>
            </a:r>
            <a:r>
              <a:rPr sz="1300" b="0" lang="en-GB">
                <a:solidFill>
                  <a:schemeClr val="tx1"/>
                </a:solidFill>
              </a:rPr>
              <a:t>the files that belong together</a:t>
            </a:r>
          </a:p>
          <a:p>
            <a:pPr algn="l">
              <a:spcAft>
                <a:spcPts val="900"/>
              </a:spcAft>
            </a:pPr>
            <a:r>
              <a:rPr sz="1300" b="1" lang="en-GB">
                <a:solidFill>
                  <a:schemeClr val="accent1"/>
                </a:solidFill>
              </a:rPr>
              <a:t>4  </a:t>
            </a:r>
            <a:r>
              <a:rPr sz="1300" b="1" lang="en-GB">
                <a:solidFill>
                  <a:schemeClr val="tx2"/>
                </a:solidFill>
              </a:rPr>
              <a:t>Summary: </a:t>
            </a:r>
            <a:r>
              <a:rPr sz="1300" b="0" lang="en-GB">
                <a:solidFill>
                  <a:schemeClr val="tx1"/>
                </a:solidFill>
              </a:rPr>
              <a:t>what changed, e.g. Add Austria sales chart</a:t>
            </a:r>
          </a:p>
          <a:p>
            <a:pPr algn="l">
              <a:spcAft>
                <a:spcPts val="900"/>
              </a:spcAft>
            </a:pPr>
            <a:r>
              <a:rPr sz="1300" b="1" lang="en-GB">
                <a:solidFill>
                  <a:schemeClr val="accent1"/>
                </a:solidFill>
              </a:rPr>
              <a:t>5  </a:t>
            </a:r>
            <a:r>
              <a:rPr sz="1300" b="1" lang="en-GB">
                <a:solidFill>
                  <a:schemeClr val="tx2"/>
                </a:solidFill>
              </a:rPr>
              <a:t>Click </a:t>
            </a:r>
            <a:r>
              <a:rPr sz="1300" b="0" lang="en-GB">
                <a:solidFill>
                  <a:schemeClr val="tx1"/>
                </a:solidFill>
              </a:rPr>
              <a:t>Commit to main</a:t>
            </a:r>
          </a:p>
        </p:txBody>
      </p:sp>
      <p:sp>
        <p:nvSpPr>
          <p:cNvPr id="15" name="Commit card body"/>
          <p:cNvSpPr/>
          <p:nvPr/>
        </p:nvSpPr>
        <p:spPr>
          <a:xfrm>
            <a:off x="5532120" y="1645920"/>
            <a:ext cx="3154680" cy="2377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ommit card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ommit card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Good commits</a:t>
            </a:r>
          </a:p>
        </p:txBody>
      </p:sp>
      <p:pic>
        <p:nvPicPr>
          <p:cNvPr id="18" name="Icon Commit card" descr=""/>
          <p:cNvPicPr>
            <a:picLocks noChangeAspect="1"/>
          </p:cNvPicPr>
          <p:nvPr/>
        </p:nvPicPr>
        <p:blipFill>
          <a:blip r:embed="rId4"/>
          <a:stretch>
            <a:fillRect/>
          </a:stretch>
        </p:blipFill>
        <p:spPr>
          <a:xfrm>
            <a:off x="8247888" y="1284732"/>
            <a:ext cx="310896" cy="310896"/>
          </a:xfrm>
          <a:prstGeom prst="rect">
            <a:avLst/>
          </a:prstGeom>
        </p:spPr>
      </p:pic>
      <p:sp>
        <p:nvSpPr>
          <p:cNvPr id="19" name="Commit card text"/>
          <p:cNvSpPr txBox="1"/>
          <p:nvPr/>
        </p:nvSpPr>
        <p:spPr>
          <a:xfrm>
            <a:off x="5696712" y="1783080"/>
            <a:ext cx="2852928" cy="21031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Small: one step per commit</a:t>
            </a:r>
          </a:p>
          <a:p>
            <a:pPr algn="l" marL="182880" indent="-182880">
              <a:spcAft>
                <a:spcPts val="600"/>
              </a:spcAft>
              <a:buClr>
                <a:schemeClr val="accent1"/>
              </a:buClr>
              <a:buFont typeface="Arial"/>
              <a:buChar char="▪"/>
            </a:pPr>
            <a:r>
              <a:rPr sz="1300" b="0" lang="en-GB">
                <a:solidFill>
                  <a:schemeClr val="tx1"/>
                </a:solidFill>
              </a:rPr>
              <a:t>Summary in the imperative: Add, Fix, Update</a:t>
            </a:r>
          </a:p>
          <a:p>
            <a:pPr algn="l" marL="182880" indent="-182880">
              <a:spcAft>
                <a:spcPts val="600"/>
              </a:spcAft>
              <a:buClr>
                <a:schemeClr val="accent1"/>
              </a:buClr>
              <a:buFont typeface="Arial"/>
              <a:buChar char="▪"/>
            </a:pPr>
            <a:r>
              <a:rPr sz="1300" b="0" lang="en-GB">
                <a:solidFill>
                  <a:schemeClr val="tx1"/>
                </a:solidFill>
              </a:rPr>
              <a:t>Commit when something works</a:t>
            </a:r>
          </a:p>
          <a:p>
            <a:pPr algn="l" marL="182880" indent="-182880">
              <a:spcAft>
                <a:spcPts val="600"/>
              </a:spcAft>
              <a:buClr>
                <a:schemeClr val="accent1"/>
              </a:buClr>
              <a:buFont typeface="Arial"/>
              <a:buChar char="▪"/>
            </a:pPr>
            <a:r>
              <a:rPr sz="1300" b="0" lang="en-GB">
                <a:solidFill>
                  <a:schemeClr val="tx1"/>
                </a:solidFill>
              </a:rPr>
              <a:t>Copilot button: draft message, then check</a:t>
            </a:r>
          </a:p>
        </p:txBody>
      </p:sp>
      <p:sp>
        <p:nvSpPr>
          <p:cNvPr id="20" name="Commit hist box"/>
          <p:cNvSpPr/>
          <p:nvPr/>
        </p:nvSpPr>
        <p:spPr>
          <a:xfrm>
            <a:off x="457200" y="4160520"/>
            <a:ext cx="8229600" cy="685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Commit hist" descr=""/>
          <p:cNvPicPr>
            <a:picLocks noChangeAspect="1"/>
          </p:cNvPicPr>
          <p:nvPr/>
        </p:nvPicPr>
        <p:blipFill>
          <a:blip r:embed="rId5"/>
          <a:stretch>
            <a:fillRect/>
          </a:stretch>
        </p:blipFill>
        <p:spPr>
          <a:xfrm>
            <a:off x="658368" y="4320540"/>
            <a:ext cx="365760" cy="365760"/>
          </a:xfrm>
          <a:prstGeom prst="rect">
            <a:avLst/>
          </a:prstGeom>
        </p:spPr>
      </p:pic>
      <p:sp>
        <p:nvSpPr>
          <p:cNvPr id="22" name="Commit hist text"/>
          <p:cNvSpPr txBox="1"/>
          <p:nvPr/>
        </p:nvSpPr>
        <p:spPr>
          <a:xfrm>
            <a:off x="1207008" y="4160520"/>
            <a:ext cx="7315200" cy="685800"/>
          </a:xfrm>
          <a:prstGeom prst="rect">
            <a:avLst/>
          </a:prstGeom>
          <a:noFill/>
        </p:spPr>
        <p:txBody>
          <a:bodyPr wrap="square" lIns="0" rIns="0" tIns="0" bIns="0" anchor="ctr">
            <a:noAutofit/>
          </a:bodyPr>
          <a:lstStyle/>
          <a:p>
            <a:pPr algn="l">
              <a:spcAft>
                <a:spcPts val="400"/>
              </a:spcAft>
            </a:pPr>
            <a:r>
              <a:rPr sz="1200" b="1" lang="en-GB">
                <a:solidFill>
                  <a:schemeClr val="tx2"/>
                </a:solidFill>
              </a:rPr>
              <a:t>History tab: </a:t>
            </a:r>
            <a:r>
              <a:rPr sz="1200" b="0" lang="en-GB">
                <a:solidFill>
                  <a:schemeClr val="tx1"/>
                </a:solidFill>
              </a:rPr>
              <a:t>every commit with author, date and diff. You can always go back.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Push: upload your commits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ush body"/>
          <p:cNvSpPr/>
          <p:nvPr/>
        </p:nvSpPr>
        <p:spPr>
          <a:xfrm>
            <a:off x="457200" y="1645920"/>
            <a:ext cx="4937760" cy="1965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ush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Push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Push</a:t>
            </a:r>
          </a:p>
        </p:txBody>
      </p:sp>
      <p:pic>
        <p:nvPicPr>
          <p:cNvPr id="13" name="Icon Push" descr=""/>
          <p:cNvPicPr>
            <a:picLocks noChangeAspect="1"/>
          </p:cNvPicPr>
          <p:nvPr/>
        </p:nvPicPr>
        <p:blipFill>
          <a:blip r:embed="rId3"/>
          <a:stretch>
            <a:fillRect/>
          </a:stretch>
        </p:blipFill>
        <p:spPr>
          <a:xfrm>
            <a:off x="4956048" y="1284732"/>
            <a:ext cx="310896" cy="310896"/>
          </a:xfrm>
          <a:prstGeom prst="rect">
            <a:avLst/>
          </a:prstGeom>
        </p:spPr>
      </p:pic>
      <p:sp>
        <p:nvSpPr>
          <p:cNvPr id="14" name="Push text"/>
          <p:cNvSpPr txBox="1"/>
          <p:nvPr/>
        </p:nvSpPr>
        <p:spPr>
          <a:xfrm>
            <a:off x="621792" y="1783080"/>
            <a:ext cx="4636008" cy="173736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After committing, click </a:t>
            </a:r>
            <a:r>
              <a:rPr sz="1300" b="0" lang="en-GB">
                <a:solidFill>
                  <a:schemeClr val="tx1"/>
                </a:solidFill>
              </a:rPr>
              <a:t>Push origin ↑</a:t>
            </a:r>
          </a:p>
          <a:p>
            <a:pPr algn="l">
              <a:spcAft>
                <a:spcPts val="900"/>
              </a:spcAft>
            </a:pPr>
            <a:r>
              <a:rPr sz="1300" b="1" lang="en-GB">
                <a:solidFill>
                  <a:schemeClr val="accent1"/>
                </a:solidFill>
              </a:rPr>
              <a:t>2  </a:t>
            </a:r>
            <a:r>
              <a:rPr sz="1300" b="1" lang="en-GB">
                <a:solidFill>
                  <a:schemeClr val="tx2"/>
                </a:solidFill>
              </a:rPr>
              <a:t>New commits on remote? </a:t>
            </a:r>
            <a:r>
              <a:rPr sz="1300" b="0" lang="en-GB">
                <a:solidFill>
                  <a:schemeClr val="tx1"/>
                </a:solidFill>
              </a:rPr>
              <a:t>click Fetch, then Pull origin</a:t>
            </a:r>
          </a:p>
          <a:p>
            <a:pPr algn="l">
              <a:spcAft>
                <a:spcPts val="900"/>
              </a:spcAft>
            </a:pPr>
            <a:r>
              <a:rPr sz="1300" b="1" lang="en-GB">
                <a:solidFill>
                  <a:schemeClr val="accent1"/>
                </a:solidFill>
              </a:rPr>
              <a:t>3  </a:t>
            </a:r>
            <a:r>
              <a:rPr sz="1300" b="1" lang="en-GB">
                <a:solidFill>
                  <a:schemeClr val="tx2"/>
                </a:solidFill>
              </a:rPr>
              <a:t>Then </a:t>
            </a:r>
            <a:r>
              <a:rPr sz="1300" b="0" lang="en-GB">
                <a:solidFill>
                  <a:schemeClr val="tx1"/>
                </a:solidFill>
              </a:rPr>
              <a:t>Push origin again</a:t>
            </a:r>
          </a:p>
          <a:p>
            <a:pPr algn="l">
              <a:spcAft>
                <a:spcPts val="900"/>
              </a:spcAft>
            </a:pPr>
            <a:r>
              <a:rPr sz="1300" b="1" lang="en-GB">
                <a:solidFill>
                  <a:schemeClr val="accent1"/>
                </a:solidFill>
              </a:rPr>
              <a:t>4  </a:t>
            </a:r>
            <a:r>
              <a:rPr sz="1300" b="1" lang="en-GB">
                <a:solidFill>
                  <a:schemeClr val="tx2"/>
                </a:solidFill>
              </a:rPr>
              <a:t>Check </a:t>
            </a:r>
            <a:r>
              <a:rPr sz="1300" b="0" lang="en-GB">
                <a:solidFill>
                  <a:schemeClr val="tx1"/>
                </a:solidFill>
              </a:rPr>
              <a:t>on github.com: Repository → View on GitHub</a:t>
            </a:r>
          </a:p>
        </p:txBody>
      </p:sp>
      <p:sp>
        <p:nvSpPr>
          <p:cNvPr id="15" name="Push limits box"/>
          <p:cNvSpPr/>
          <p:nvPr/>
        </p:nvSpPr>
        <p:spPr>
          <a:xfrm>
            <a:off x="5532120" y="1234440"/>
            <a:ext cx="3154680" cy="2377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Lim bar 1"/>
          <p:cNvSpPr/>
          <p:nvPr/>
        </p:nvSpPr>
        <p:spPr>
          <a:xfrm>
            <a:off x="5669280" y="137160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im 1"/>
          <p:cNvSpPr txBox="1"/>
          <p:nvPr/>
        </p:nvSpPr>
        <p:spPr>
          <a:xfrm>
            <a:off x="5852160" y="1371600"/>
            <a:ext cx="2743200" cy="914400"/>
          </a:xfrm>
          <a:prstGeom prst="rect">
            <a:avLst/>
          </a:prstGeom>
          <a:noFill/>
        </p:spPr>
        <p:txBody>
          <a:bodyPr wrap="square" lIns="0" rIns="0" tIns="0" bIns="0" anchor="ctr">
            <a:noAutofit/>
          </a:bodyPr>
          <a:lstStyle/>
          <a:p>
            <a:pPr algn="l">
              <a:spcAft>
                <a:spcPts val="0"/>
              </a:spcAft>
            </a:pPr>
            <a:r>
              <a:rPr sz="2400" b="1" lang="en-GB">
                <a:solidFill>
                  <a:schemeClr val="tx2"/>
                </a:solidFill>
                <a:latin typeface="+mj-lt"/>
              </a:rPr>
              <a:t>100 MiB</a:t>
            </a:r>
          </a:p>
          <a:p>
            <a:pPr algn="l">
              <a:spcAft>
                <a:spcPts val="0"/>
              </a:spcAft>
            </a:pPr>
            <a:r>
              <a:rPr sz="1200" b="0" lang="en-GB">
                <a:solidFill>
                  <a:schemeClr val="tx1"/>
                </a:solidFill>
              </a:rPr>
              <a:t>largest file GitHub accepts</a:t>
            </a:r>
          </a:p>
        </p:txBody>
      </p:sp>
      <p:sp>
        <p:nvSpPr>
          <p:cNvPr id="18" name="Lim bar 2"/>
          <p:cNvSpPr/>
          <p:nvPr/>
        </p:nvSpPr>
        <p:spPr>
          <a:xfrm>
            <a:off x="5669280" y="246888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im 2"/>
          <p:cNvSpPr txBox="1"/>
          <p:nvPr/>
        </p:nvSpPr>
        <p:spPr>
          <a:xfrm>
            <a:off x="5852160" y="2468880"/>
            <a:ext cx="2743200" cy="914400"/>
          </a:xfrm>
          <a:prstGeom prst="rect">
            <a:avLst/>
          </a:prstGeom>
          <a:noFill/>
        </p:spPr>
        <p:txBody>
          <a:bodyPr wrap="square" lIns="0" rIns="0" tIns="0" bIns="0" anchor="ctr">
            <a:noAutofit/>
          </a:bodyPr>
          <a:lstStyle/>
          <a:p>
            <a:pPr algn="l">
              <a:spcAft>
                <a:spcPts val="0"/>
              </a:spcAft>
            </a:pPr>
            <a:r>
              <a:rPr sz="2400" b="1" lang="en-GB">
                <a:solidFill>
                  <a:schemeClr val="tx2"/>
                </a:solidFill>
                <a:latin typeface="+mj-lt"/>
              </a:rPr>
              <a:t>50 MiB</a:t>
            </a:r>
          </a:p>
          <a:p>
            <a:pPr algn="l">
              <a:spcAft>
                <a:spcPts val="0"/>
              </a:spcAft>
            </a:pPr>
            <a:r>
              <a:rPr sz="1200" b="0" lang="en-GB">
                <a:solidFill>
                  <a:schemeClr val="tx1"/>
                </a:solidFill>
              </a:rPr>
              <a:t>GitHub warns from this size</a:t>
            </a:r>
          </a:p>
        </p:txBody>
      </p:sp>
      <p:sp>
        <p:nvSpPr>
          <p:cNvPr id="20" name="Push fork box"/>
          <p:cNvSpPr/>
          <p:nvPr/>
        </p:nvSpPr>
        <p:spPr>
          <a:xfrm>
            <a:off x="457200" y="3749040"/>
            <a:ext cx="8229600" cy="8686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Push fork" descr=""/>
          <p:cNvPicPr>
            <a:picLocks noChangeAspect="1"/>
          </p:cNvPicPr>
          <p:nvPr/>
        </p:nvPicPr>
        <p:blipFill>
          <a:blip r:embed="rId4"/>
          <a:stretch>
            <a:fillRect/>
          </a:stretch>
        </p:blipFill>
        <p:spPr>
          <a:xfrm>
            <a:off x="658368" y="4000500"/>
            <a:ext cx="365760" cy="365760"/>
          </a:xfrm>
          <a:prstGeom prst="rect">
            <a:avLst/>
          </a:prstGeom>
        </p:spPr>
      </p:pic>
      <p:sp>
        <p:nvSpPr>
          <p:cNvPr id="22" name="Push fork text"/>
          <p:cNvSpPr txBox="1"/>
          <p:nvPr/>
        </p:nvSpPr>
        <p:spPr>
          <a:xfrm>
            <a:off x="1207008" y="3749040"/>
            <a:ext cx="7315200" cy="868680"/>
          </a:xfrm>
          <a:prstGeom prst="rect">
            <a:avLst/>
          </a:prstGeom>
          <a:noFill/>
        </p:spPr>
        <p:txBody>
          <a:bodyPr wrap="square" lIns="0" rIns="0" tIns="0" bIns="0" anchor="ctr">
            <a:noAutofit/>
          </a:bodyPr>
          <a:lstStyle/>
          <a:p>
            <a:pPr algn="l">
              <a:spcAft>
                <a:spcPts val="400"/>
              </a:spcAft>
            </a:pPr>
            <a:r>
              <a:rPr sz="1200" b="1" lang="en-GB">
                <a:solidFill>
                  <a:schemeClr val="bg1"/>
                </a:solidFill>
              </a:rPr>
              <a:t>Asked to create a fork? </a:t>
            </a:r>
            <a:r>
              <a:rPr sz="1200" b="0" lang="en-GB">
                <a:solidFill>
                  <a:schemeClr val="bg1"/>
                </a:solidFill>
              </a:rPr>
              <a:t>you tried to push to a repository you cannot write to, such as the course repository. Cancel, and keep your work in your own repository.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Undo table"/>
          <p:cNvGraphicFramePr>
            <a:graphicFrameLocks noGrp="1"/>
          </p:cNvGraphicFramePr>
          <p:nvPr>
            <p:ph type="tbl" idx="1"/>
          </p:nvPr>
        </p:nvGraphicFramePr>
        <p:xfrm>
          <a:off x="457200" y="1234440"/>
          <a:ext cx="8229600" cy="2225040"/>
        </p:xfrm>
        <a:graphic>
          <a:graphicData uri="http://schemas.openxmlformats.org/drawingml/2006/table">
            <a:tbl>
              <a:tblPr firstRow="1" bandRow="1">
                <a:tableStyleId>{5C22544A-7EE6-4342-B048-85BDC9FD1C3A}</a:tableStyleId>
              </a:tblPr>
              <a:tblGrid>
                <a:gridCol w="3200400"/>
                <a:gridCol w="5029200"/>
              </a:tblGrid>
              <a:tr h="370840">
                <a:tc>
                  <a:txBody>
                    <a:bodyPr/>
                    <a:lstStyle/>
                    <a:p>
                      <a:r>
                        <a:rPr sz="1300" lang="en-GB"/>
                        <a:t>Situation</a:t>
                      </a:r>
                    </a:p>
                  </a:txBody>
                  <a:tcPr marT="55000" marB="55000"/>
                </a:tc>
                <a:tc>
                  <a:txBody>
                    <a:bodyPr/>
                    <a:lstStyle/>
                    <a:p>
                      <a:r>
                        <a:rPr sz="1300" lang="en-GB"/>
                        <a:t>In GitHub Desktop</a:t>
                      </a:r>
                    </a:p>
                  </a:txBody>
                  <a:tcPr marT="55000" marB="55000"/>
                </a:tc>
              </a:tr>
              <a:tr h="370840">
                <a:tc>
                  <a:txBody>
                    <a:bodyPr/>
                    <a:lstStyle/>
                    <a:p>
                      <a:r>
                        <a:rPr sz="1200" b="1" lang="en-GB"/>
                        <a:t>Changed a file, want the old version</a:t>
                      </a:r>
                    </a:p>
                  </a:txBody>
                  <a:tcPr marT="55000" marB="55000"/>
                </a:tc>
                <a:tc>
                  <a:txBody>
                    <a:bodyPr/>
                    <a:lstStyle/>
                    <a:p>
                      <a:r>
                        <a:rPr sz="1200" lang="en-GB"/>
                        <a:t>Changes tab: right-click the file → Discard changes</a:t>
                      </a:r>
                    </a:p>
                  </a:txBody>
                  <a:tcPr marT="55000" marB="55000"/>
                </a:tc>
              </a:tr>
              <a:tr h="370840">
                <a:tc>
                  <a:txBody>
                    <a:bodyPr/>
                    <a:lstStyle/>
                    <a:p>
                      <a:r>
                        <a:rPr sz="1200" b="1" lang="en-GB"/>
                        <a:t>Last commit was wrong, not pushed yet</a:t>
                      </a:r>
                    </a:p>
                  </a:txBody>
                  <a:tcPr marT="55000" marB="55000"/>
                </a:tc>
                <a:tc>
                  <a:txBody>
                    <a:bodyPr/>
                    <a:lstStyle/>
                    <a:p>
                      <a:r>
                        <a:rPr sz="1200" lang="en-GB"/>
                        <a:t>Click Undo next to the commit message</a:t>
                      </a:r>
                    </a:p>
                  </a:txBody>
                  <a:tcPr marT="55000" marB="55000"/>
                </a:tc>
              </a:tr>
              <a:tr h="370840">
                <a:tc>
                  <a:txBody>
                    <a:bodyPr/>
                    <a:lstStyle/>
                    <a:p>
                      <a:r>
                        <a:rPr sz="1200" b="1" lang="en-GB"/>
                        <a:t>A pushed commit was wrong</a:t>
                      </a:r>
                    </a:p>
                  </a:txBody>
                  <a:tcPr marT="55000" marB="55000"/>
                </a:tc>
                <a:tc>
                  <a:txBody>
                    <a:bodyPr/>
                    <a:lstStyle/>
                    <a:p>
                      <a:r>
                        <a:rPr sz="1200" lang="en-GB"/>
                        <a:t>History: right-click the commit → Revert changes in commit</a:t>
                      </a:r>
                    </a:p>
                  </a:txBody>
                  <a:tcPr marT="55000" marB="55000"/>
                </a:tc>
              </a:tr>
              <a:tr h="370840">
                <a:tc>
                  <a:txBody>
                    <a:bodyPr/>
                    <a:lstStyle/>
                    <a:p>
                      <a:r>
                        <a:rPr sz="1200" b="1" lang="en-GB"/>
                        <a:t>Merge conflict after a pull</a:t>
                      </a:r>
                    </a:p>
                  </a:txBody>
                  <a:tcPr marT="55000" marB="55000"/>
                </a:tc>
                <a:tc>
                  <a:txBody>
                    <a:bodyPr/>
                    <a:lstStyle/>
                    <a:p>
                      <a:r>
                        <a:rPr sz="1200" lang="en-GB"/>
                        <a:t>Open the file, keep the right lines, delete &lt;&lt;&lt;&lt;&lt;&lt;&lt; ======= &gt;&gt;&gt;&gt;&gt;&gt;&gt;, commit</a:t>
                      </a:r>
                    </a:p>
                  </a:txBody>
                  <a:tcPr marT="55000" marB="55000"/>
                </a:tc>
              </a:tr>
              <a:tr h="370840">
                <a:tc>
                  <a:txBody>
                    <a:bodyPr/>
                    <a:lstStyle/>
                    <a:p>
                      <a:r>
                        <a:rPr sz="1200" b="1" lang="en-GB"/>
                        <a:t>Folder moved or renamed</a:t>
                      </a:r>
                    </a:p>
                  </a:txBody>
                  <a:tcPr marT="55000" marB="55000"/>
                </a:tc>
                <a:tc>
                  <a:txBody>
                    <a:bodyPr/>
                    <a:lstStyle/>
                    <a:p>
                      <a:r>
                        <a:rPr sz="1200" lang="en-GB"/>
                        <a:t>Click Locate… and pick the folder</a:t>
                      </a:r>
                    </a:p>
                  </a:txBody>
                  <a:tcPr marT="55000" marB="55000"/>
                </a:tc>
              </a:tr>
            </a:tbl>
          </a:graphicData>
        </a:graphic>
      </p:graphicFrame>
      <p:sp>
        <p:nvSpPr>
          <p:cNvPr id="3" name="Title 2"/>
          <p:cNvSpPr>
            <a:spLocks noGrp="1"/>
          </p:cNvSpPr>
          <p:nvPr>
            <p:ph type="title"/>
          </p:nvPr>
        </p:nvSpPr>
        <p:spPr/>
        <p:txBody>
          <a:bodyPr/>
          <a:lstStyle/>
          <a:p>
            <a:r>
              <a:rPr sz="1600" lang="en-GB"/>
              <a:t>Oops: undo and fix</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Undo help box"/>
          <p:cNvSpPr/>
          <p:nvPr/>
        </p:nvSpPr>
        <p:spPr>
          <a:xfrm>
            <a:off x="457200" y="4206240"/>
            <a:ext cx="8229600" cy="594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Undo help" descr=""/>
          <p:cNvPicPr>
            <a:picLocks noChangeAspect="1"/>
          </p:cNvPicPr>
          <p:nvPr/>
        </p:nvPicPr>
        <p:blipFill>
          <a:blip r:embed="rId3"/>
          <a:stretch>
            <a:fillRect/>
          </a:stretch>
        </p:blipFill>
        <p:spPr>
          <a:xfrm>
            <a:off x="658368" y="4320540"/>
            <a:ext cx="365760" cy="365760"/>
          </a:xfrm>
          <a:prstGeom prst="rect">
            <a:avLst/>
          </a:prstGeom>
        </p:spPr>
      </p:pic>
      <p:sp>
        <p:nvSpPr>
          <p:cNvPr id="12" name="Undo help text"/>
          <p:cNvSpPr txBox="1"/>
          <p:nvPr/>
        </p:nvSpPr>
        <p:spPr>
          <a:xfrm>
            <a:off x="1207008" y="4206240"/>
            <a:ext cx="7315200" cy="594360"/>
          </a:xfrm>
          <a:prstGeom prst="rect">
            <a:avLst/>
          </a:prstGeom>
          <a:noFill/>
        </p:spPr>
        <p:txBody>
          <a:bodyPr wrap="square" lIns="0" rIns="0" tIns="0" bIns="0" anchor="ctr">
            <a:noAutofit/>
          </a:bodyPr>
          <a:lstStyle/>
          <a:p>
            <a:pPr algn="l">
              <a:spcAft>
                <a:spcPts val="400"/>
              </a:spcAft>
            </a:pPr>
            <a:r>
              <a:rPr sz="1200" b="1" lang="en-GB">
                <a:solidFill>
                  <a:schemeClr val="tx2"/>
                </a:solidFill>
              </a:rPr>
              <a:t>Lost? </a:t>
            </a:r>
            <a:r>
              <a:rPr sz="1200" b="0" lang="en-GB">
                <a:solidFill>
                  <a:schemeClr val="tx1"/>
                </a:solidFill>
              </a:rPr>
              <a:t>Do not delete the folder. Ask first: almost everything can be recovered.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What never goes into a repository</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Never 1 tile"/>
          <p:cNvSpPr/>
          <p:nvPr/>
        </p:nvSpPr>
        <p:spPr>
          <a:xfrm>
            <a:off x="457200" y="1234440"/>
            <a:ext cx="2651760"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Never 1" descr=""/>
          <p:cNvPicPr>
            <a:picLocks noChangeAspect="1"/>
          </p:cNvPicPr>
          <p:nvPr/>
        </p:nvPicPr>
        <p:blipFill>
          <a:blip r:embed="rId3"/>
          <a:stretch>
            <a:fillRect/>
          </a:stretch>
        </p:blipFill>
        <p:spPr>
          <a:xfrm>
            <a:off x="594360" y="1371600"/>
            <a:ext cx="365760" cy="365760"/>
          </a:xfrm>
          <a:prstGeom prst="rect">
            <a:avLst/>
          </a:prstGeom>
        </p:spPr>
      </p:pic>
      <p:sp>
        <p:nvSpPr>
          <p:cNvPr id="12" name="Never 1 heading"/>
          <p:cNvSpPr txBox="1"/>
          <p:nvPr/>
        </p:nvSpPr>
        <p:spPr>
          <a:xfrm>
            <a:off x="105156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Secrets</a:t>
            </a:r>
          </a:p>
        </p:txBody>
      </p:sp>
      <p:sp>
        <p:nvSpPr>
          <p:cNvPr id="13" name="Never 1 text"/>
          <p:cNvSpPr txBox="1"/>
          <p:nvPr/>
        </p:nvSpPr>
        <p:spPr>
          <a:xfrm>
            <a:off x="594360" y="1856232"/>
            <a:ext cx="2377440" cy="1005840"/>
          </a:xfrm>
          <a:prstGeom prst="rect">
            <a:avLst/>
          </a:prstGeom>
          <a:noFill/>
        </p:spPr>
        <p:txBody>
          <a:bodyPr wrap="square" lIns="0" rIns="0" tIns="0" bIns="0" anchor="t">
            <a:noAutofit/>
          </a:bodyPr>
          <a:lstStyle/>
          <a:p>
            <a:pPr algn="l">
              <a:spcAft>
                <a:spcPts val="400"/>
              </a:spcAft>
            </a:pPr>
            <a:r>
              <a:rPr sz="1200" b="0" lang="en-GB">
                <a:solidFill>
                  <a:schemeClr val="tx1"/>
                </a:solidFill>
              </a:rPr>
              <a:t>Passwords, API keys, tokens</a:t>
            </a:r>
          </a:p>
          <a:p>
            <a:pPr algn="l">
              <a:spcAft>
                <a:spcPts val="400"/>
              </a:spcAft>
            </a:pPr>
            <a:r>
              <a:rPr sz="1200" b="0" lang="en-GB">
                <a:solidFill>
                  <a:schemeClr val="tx1"/>
                </a:solidFill>
              </a:rPr>
              <a:t>Files such as .env</a:t>
            </a:r>
          </a:p>
        </p:txBody>
      </p:sp>
      <p:sp>
        <p:nvSpPr>
          <p:cNvPr id="14" name="Never 2 tile"/>
          <p:cNvSpPr/>
          <p:nvPr/>
        </p:nvSpPr>
        <p:spPr>
          <a:xfrm>
            <a:off x="3246120" y="1234440"/>
            <a:ext cx="2651760"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Never 2" descr=""/>
          <p:cNvPicPr>
            <a:picLocks noChangeAspect="1"/>
          </p:cNvPicPr>
          <p:nvPr/>
        </p:nvPicPr>
        <p:blipFill>
          <a:blip r:embed="rId4"/>
          <a:stretch>
            <a:fillRect/>
          </a:stretch>
        </p:blipFill>
        <p:spPr>
          <a:xfrm>
            <a:off x="3383280" y="1371600"/>
            <a:ext cx="365760" cy="365760"/>
          </a:xfrm>
          <a:prstGeom prst="rect">
            <a:avLst/>
          </a:prstGeom>
        </p:spPr>
      </p:pic>
      <p:sp>
        <p:nvSpPr>
          <p:cNvPr id="16" name="Never 2 heading"/>
          <p:cNvSpPr txBox="1"/>
          <p:nvPr/>
        </p:nvSpPr>
        <p:spPr>
          <a:xfrm>
            <a:off x="384048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Personal data</a:t>
            </a:r>
          </a:p>
        </p:txBody>
      </p:sp>
      <p:sp>
        <p:nvSpPr>
          <p:cNvPr id="17" name="Never 2 text"/>
          <p:cNvSpPr txBox="1"/>
          <p:nvPr/>
        </p:nvSpPr>
        <p:spPr>
          <a:xfrm>
            <a:off x="3383280" y="1856232"/>
            <a:ext cx="2377440" cy="1005840"/>
          </a:xfrm>
          <a:prstGeom prst="rect">
            <a:avLst/>
          </a:prstGeom>
          <a:noFill/>
        </p:spPr>
        <p:txBody>
          <a:bodyPr wrap="square" lIns="0" rIns="0" tIns="0" bIns="0" anchor="t">
            <a:noAutofit/>
          </a:bodyPr>
          <a:lstStyle/>
          <a:p>
            <a:pPr algn="l">
              <a:spcAft>
                <a:spcPts val="400"/>
              </a:spcAft>
            </a:pPr>
            <a:r>
              <a:rPr sz="1200" b="0" lang="en-GB">
                <a:solidFill>
                  <a:schemeClr val="tx1"/>
                </a:solidFill>
              </a:rPr>
              <a:t>Names, e-mails, survey answers</a:t>
            </a:r>
          </a:p>
          <a:p>
            <a:pPr algn="l">
              <a:spcAft>
                <a:spcPts val="400"/>
              </a:spcAft>
            </a:pPr>
            <a:r>
              <a:rPr sz="1200" b="0" lang="en-GB">
                <a:solidFill>
                  <a:schemeClr val="tx1"/>
                </a:solidFill>
              </a:rPr>
              <a:t>Licensed or confidential data</a:t>
            </a:r>
          </a:p>
        </p:txBody>
      </p:sp>
      <p:sp>
        <p:nvSpPr>
          <p:cNvPr id="18" name="Never 3 tile"/>
          <p:cNvSpPr/>
          <p:nvPr/>
        </p:nvSpPr>
        <p:spPr>
          <a:xfrm>
            <a:off x="6035040" y="1234440"/>
            <a:ext cx="2651760"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Never 3" descr=""/>
          <p:cNvPicPr>
            <a:picLocks noChangeAspect="1"/>
          </p:cNvPicPr>
          <p:nvPr/>
        </p:nvPicPr>
        <p:blipFill>
          <a:blip r:embed="rId5"/>
          <a:stretch>
            <a:fillRect/>
          </a:stretch>
        </p:blipFill>
        <p:spPr>
          <a:xfrm>
            <a:off x="6172200" y="1371600"/>
            <a:ext cx="365760" cy="365760"/>
          </a:xfrm>
          <a:prstGeom prst="rect">
            <a:avLst/>
          </a:prstGeom>
        </p:spPr>
      </p:pic>
      <p:sp>
        <p:nvSpPr>
          <p:cNvPr id="20" name="Never 3 heading"/>
          <p:cNvSpPr txBox="1"/>
          <p:nvPr/>
        </p:nvSpPr>
        <p:spPr>
          <a:xfrm>
            <a:off x="662940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Big or generated</a:t>
            </a:r>
          </a:p>
        </p:txBody>
      </p:sp>
      <p:sp>
        <p:nvSpPr>
          <p:cNvPr id="21" name="Never 3 text"/>
          <p:cNvSpPr txBox="1"/>
          <p:nvPr/>
        </p:nvSpPr>
        <p:spPr>
          <a:xfrm>
            <a:off x="6172200" y="1856232"/>
            <a:ext cx="2377440" cy="1005840"/>
          </a:xfrm>
          <a:prstGeom prst="rect">
            <a:avLst/>
          </a:prstGeom>
          <a:noFill/>
        </p:spPr>
        <p:txBody>
          <a:bodyPr wrap="square" lIns="0" rIns="0" tIns="0" bIns="0" anchor="t">
            <a:noAutofit/>
          </a:bodyPr>
          <a:lstStyle/>
          <a:p>
            <a:pPr algn="l">
              <a:spcAft>
                <a:spcPts val="400"/>
              </a:spcAft>
            </a:pPr>
            <a:r>
              <a:rPr sz="1200" b="0" lang="en-GB">
                <a:solidFill>
                  <a:schemeClr val="tx1"/>
                </a:solidFill>
              </a:rPr>
              <a:t>The .venv folder</a:t>
            </a:r>
          </a:p>
          <a:p>
            <a:pPr algn="l">
              <a:spcAft>
                <a:spcPts val="400"/>
              </a:spcAft>
            </a:pPr>
            <a:r>
              <a:rPr sz="1200" b="0" lang="en-GB">
                <a:solidFill>
                  <a:schemeClr val="tx1"/>
                </a:solidFill>
              </a:rPr>
              <a:t>Files over 50 MiB, rendered _files</a:t>
            </a:r>
          </a:p>
        </p:txBody>
      </p:sp>
      <p:sp>
        <p:nvSpPr>
          <p:cNvPr id="22" name="Gitignore caption bar"/>
          <p:cNvSpPr/>
          <p:nvPr/>
        </p:nvSpPr>
        <p:spPr>
          <a:xfrm>
            <a:off x="457200" y="3063240"/>
            <a:ext cx="40233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Gitignore caption"/>
          <p:cNvSpPr txBox="1"/>
          <p:nvPr/>
        </p:nvSpPr>
        <p:spPr>
          <a:xfrm>
            <a:off x="566928" y="3063240"/>
            <a:ext cx="38039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.gitignore (example)</a:t>
            </a:r>
          </a:p>
        </p:txBody>
      </p:sp>
      <p:sp>
        <p:nvSpPr>
          <p:cNvPr id="24" name="Gitignore box"/>
          <p:cNvSpPr/>
          <p:nvPr/>
        </p:nvSpPr>
        <p:spPr>
          <a:xfrm>
            <a:off x="457200" y="3337560"/>
            <a:ext cx="4023360" cy="14173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Gitignore code"/>
          <p:cNvSpPr txBox="1"/>
          <p:nvPr/>
        </p:nvSpPr>
        <p:spPr>
          <a:xfrm>
            <a:off x="594360" y="3429000"/>
            <a:ext cx="3749040" cy="123444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.venv/</a:t>
            </a:r>
          </a:p>
          <a:p>
            <a:pPr algn="l">
              <a:spcAft>
                <a:spcPts val="0"/>
              </a:spcAft>
            </a:pPr>
            <a:r>
              <a:rPr sz="1100" b="0" lang="en-GB">
                <a:solidFill>
                  <a:schemeClr val="bg1"/>
                </a:solidFill>
                <a:latin typeface="Consolas"/>
              </a:rPr>
              <a:t>.env</a:t>
            </a:r>
          </a:p>
          <a:p>
            <a:pPr algn="l">
              <a:spcAft>
                <a:spcPts val="0"/>
              </a:spcAft>
            </a:pPr>
            <a:r>
              <a:rPr sz="1100" b="0" lang="en-GB">
                <a:solidFill>
                  <a:schemeClr val="bg1"/>
                </a:solidFill>
                <a:latin typeface="Consolas"/>
              </a:rPr>
              <a:t>__pycache__/</a:t>
            </a:r>
          </a:p>
          <a:p>
            <a:pPr algn="l">
              <a:spcAft>
                <a:spcPts val="0"/>
              </a:spcAft>
            </a:pPr>
            <a:r>
              <a:rPr sz="1100" b="0" lang="en-GB">
                <a:solidFill>
                  <a:schemeClr val="bg1"/>
                </a:solidFill>
                <a:latin typeface="Consolas"/>
              </a:rPr>
              <a:t>*_files/</a:t>
            </a:r>
          </a:p>
          <a:p>
            <a:pPr algn="l">
              <a:spcAft>
                <a:spcPts val="0"/>
              </a:spcAft>
            </a:pPr>
            <a:r>
              <a:rPr sz="1100" b="0" lang="en-GB">
                <a:solidFill>
                  <a:schemeClr val="bg1"/>
                </a:solidFill>
                <a:latin typeface="Consolas"/>
              </a:rPr>
              <a:t>.DS_Store</a:t>
            </a:r>
          </a:p>
        </p:txBody>
      </p:sp>
      <p:sp>
        <p:nvSpPr>
          <p:cNvPr id="26" name="Never rows row 1"/>
          <p:cNvSpPr/>
          <p:nvPr/>
        </p:nvSpPr>
        <p:spPr>
          <a:xfrm>
            <a:off x="4663440" y="3063240"/>
            <a:ext cx="4023360" cy="5212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Never rows bar 1"/>
          <p:cNvSpPr/>
          <p:nvPr/>
        </p:nvSpPr>
        <p:spPr>
          <a:xfrm>
            <a:off x="4663440" y="3063240"/>
            <a:ext cx="64008" cy="5212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Never rows text 1"/>
          <p:cNvSpPr txBox="1"/>
          <p:nvPr/>
        </p:nvSpPr>
        <p:spPr>
          <a:xfrm>
            <a:off x="4864608" y="3063240"/>
            <a:ext cx="3730752" cy="521208"/>
          </a:xfrm>
          <a:prstGeom prst="rect">
            <a:avLst/>
          </a:prstGeom>
          <a:noFill/>
        </p:spPr>
        <p:txBody>
          <a:bodyPr wrap="square" lIns="0" rIns="0" tIns="0" bIns="0" anchor="ctr">
            <a:noAutofit/>
          </a:bodyPr>
          <a:lstStyle/>
          <a:p>
            <a:pPr algn="l">
              <a:spcAft>
                <a:spcPts val="400"/>
              </a:spcAft>
            </a:pPr>
            <a:r>
              <a:rPr sz="1150" b="1" lang="en-GB">
                <a:solidFill>
                  <a:schemeClr val="tx2"/>
                </a:solidFill>
              </a:rPr>
              <a:t>Ignore a file: </a:t>
            </a:r>
            <a:r>
              <a:rPr sz="1150" b="0" lang="en-GB">
                <a:solidFill>
                  <a:schemeClr val="tx1"/>
                </a:solidFill>
              </a:rPr>
              <a:t>Changes tab → right-click → Ignore file</a:t>
            </a:r>
          </a:p>
        </p:txBody>
      </p:sp>
      <p:sp>
        <p:nvSpPr>
          <p:cNvPr id="29" name="Never rows row 2"/>
          <p:cNvSpPr/>
          <p:nvPr/>
        </p:nvSpPr>
        <p:spPr>
          <a:xfrm>
            <a:off x="4663440" y="3648456"/>
            <a:ext cx="4023360" cy="5212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Never rows bar 2"/>
          <p:cNvSpPr/>
          <p:nvPr/>
        </p:nvSpPr>
        <p:spPr>
          <a:xfrm>
            <a:off x="4663440" y="3648456"/>
            <a:ext cx="64008" cy="5212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Never rows text 2"/>
          <p:cNvSpPr txBox="1"/>
          <p:nvPr/>
        </p:nvSpPr>
        <p:spPr>
          <a:xfrm>
            <a:off x="4864608" y="3648456"/>
            <a:ext cx="3730752" cy="521208"/>
          </a:xfrm>
          <a:prstGeom prst="rect">
            <a:avLst/>
          </a:prstGeom>
          <a:noFill/>
        </p:spPr>
        <p:txBody>
          <a:bodyPr wrap="square" lIns="0" rIns="0" tIns="0" bIns="0" anchor="ctr">
            <a:noAutofit/>
          </a:bodyPr>
          <a:lstStyle/>
          <a:p>
            <a:pPr algn="l">
              <a:spcAft>
                <a:spcPts val="400"/>
              </a:spcAft>
            </a:pPr>
            <a:r>
              <a:rPr sz="1150" b="1" lang="en-GB">
                <a:solidFill>
                  <a:schemeClr val="tx2"/>
                </a:solidFill>
              </a:rPr>
              <a:t>Edit the list: </a:t>
            </a:r>
            <a:r>
              <a:rPr sz="1150" b="0" lang="en-GB">
                <a:solidFill>
                  <a:schemeClr val="tx1"/>
                </a:solidFill>
              </a:rPr>
              <a:t>Repository → Repository settings → Ignored files</a:t>
            </a:r>
          </a:p>
        </p:txBody>
      </p:sp>
      <p:sp>
        <p:nvSpPr>
          <p:cNvPr id="32" name="Never rows row 3"/>
          <p:cNvSpPr/>
          <p:nvPr/>
        </p:nvSpPr>
        <p:spPr>
          <a:xfrm>
            <a:off x="4663440" y="4233672"/>
            <a:ext cx="4023360" cy="5212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Never rows bar 3"/>
          <p:cNvSpPr/>
          <p:nvPr/>
        </p:nvSpPr>
        <p:spPr>
          <a:xfrm>
            <a:off x="4663440" y="4233672"/>
            <a:ext cx="64008" cy="5212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Never rows text 3"/>
          <p:cNvSpPr txBox="1"/>
          <p:nvPr/>
        </p:nvSpPr>
        <p:spPr>
          <a:xfrm>
            <a:off x="4864608" y="4233672"/>
            <a:ext cx="3730752" cy="521208"/>
          </a:xfrm>
          <a:prstGeom prst="rect">
            <a:avLst/>
          </a:prstGeom>
          <a:noFill/>
        </p:spPr>
        <p:txBody>
          <a:bodyPr wrap="square" lIns="0" rIns="0" tIns="0" bIns="0" anchor="ctr">
            <a:noAutofit/>
          </a:bodyPr>
          <a:lstStyle/>
          <a:p>
            <a:pPr algn="l">
              <a:spcAft>
                <a:spcPts val="400"/>
              </a:spcAft>
            </a:pPr>
            <a:r>
              <a:rPr sz="1150" b="1" lang="en-GB">
                <a:solidFill>
                  <a:schemeClr val="tx2"/>
                </a:solidFill>
              </a:rPr>
              <a:t>Pushed a secret? </a:t>
            </a:r>
            <a:r>
              <a:rPr sz="1150" b="0" lang="en-GB">
                <a:solidFill>
                  <a:schemeClr val="tx1"/>
                </a:solidFill>
              </a:rPr>
              <a:t>Change the password or key at once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6 of 6 · your own repository, inviting your group, changing visibility</a:t>
            </a:r>
          </a:p>
        </p:txBody>
      </p:sp>
      <p:sp>
        <p:nvSpPr>
          <p:cNvPr id="3" name="Title 2"/>
          <p:cNvSpPr>
            <a:spLocks noGrp="1"/>
          </p:cNvSpPr>
          <p:nvPr>
            <p:ph type="ctrTitle"/>
          </p:nvPr>
        </p:nvSpPr>
        <p:spPr/>
        <p:txBody>
          <a:bodyPr/>
          <a:lstStyle/>
          <a:p>
            <a:r>
              <a:rPr sz="1600" lang="en-GB"/>
              <a:t>Private or public?</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Vis table"/>
          <p:cNvGraphicFramePr>
            <a:graphicFrameLocks noGrp="1"/>
          </p:cNvGraphicFramePr>
          <p:nvPr>
            <p:ph type="tbl" idx="1"/>
          </p:nvPr>
        </p:nvGraphicFramePr>
        <p:xfrm>
          <a:off x="457200" y="1234440"/>
          <a:ext cx="8229600" cy="2225040"/>
        </p:xfrm>
        <a:graphic>
          <a:graphicData uri="http://schemas.openxmlformats.org/drawingml/2006/table">
            <a:tbl>
              <a:tblPr firstRow="1" bandRow="1">
                <a:tableStyleId>{5C22544A-7EE6-4342-B048-85BDC9FD1C3A}</a:tableStyleId>
              </a:tblPr>
              <a:tblGrid>
                <a:gridCol w="2103120"/>
                <a:gridCol w="3063240"/>
                <a:gridCol w="3063240"/>
              </a:tblGrid>
              <a:tr h="370840">
                <a:tc>
                  <a:txBody>
                    <a:bodyPr/>
                    <a:lstStyle/>
                    <a:p>
                      <a:r>
                        <a:rPr sz="1300" lang="en-GB"/>
                        <a:t/>
                      </a:r>
                    </a:p>
                  </a:txBody>
                  <a:tcPr marT="55000" marB="55000"/>
                </a:tc>
                <a:tc>
                  <a:txBody>
                    <a:bodyPr/>
                    <a:lstStyle/>
                    <a:p>
                      <a:r>
                        <a:rPr sz="1300" lang="en-GB"/>
                        <a:t>Private</a:t>
                      </a:r>
                    </a:p>
                  </a:txBody>
                  <a:tcPr marT="55000" marB="55000"/>
                </a:tc>
                <a:tc>
                  <a:txBody>
                    <a:bodyPr/>
                    <a:lstStyle/>
                    <a:p>
                      <a:r>
                        <a:rPr sz="1300" lang="en-GB"/>
                        <a:t>Public</a:t>
                      </a:r>
                    </a:p>
                  </a:txBody>
                  <a:tcPr marT="55000" marB="55000"/>
                </a:tc>
              </a:tr>
              <a:tr h="370840">
                <a:tc>
                  <a:txBody>
                    <a:bodyPr/>
                    <a:lstStyle/>
                    <a:p>
                      <a:r>
                        <a:rPr sz="1200" b="1" lang="en-GB"/>
                        <a:t>Who can see it</a:t>
                      </a:r>
                    </a:p>
                  </a:txBody>
                  <a:tcPr marT="55000" marB="55000"/>
                </a:tc>
                <a:tc>
                  <a:txBody>
                    <a:bodyPr/>
                    <a:lstStyle/>
                    <a:p>
                      <a:r>
                        <a:rPr sz="1200" lang="en-GB"/>
                        <a:t>you and people you invite</a:t>
                      </a:r>
                    </a:p>
                  </a:txBody>
                  <a:tcPr marT="55000" marB="55000"/>
                </a:tc>
                <a:tc>
                  <a:txBody>
                    <a:bodyPr/>
                    <a:lstStyle/>
                    <a:p>
                      <a:r>
                        <a:rPr sz="1200" lang="en-GB"/>
                        <a:t>everyone on the internet</a:t>
                      </a:r>
                    </a:p>
                  </a:txBody>
                  <a:tcPr marT="55000" marB="55000"/>
                </a:tc>
              </a:tr>
              <a:tr h="370840">
                <a:tc>
                  <a:txBody>
                    <a:bodyPr/>
                    <a:lstStyle/>
                    <a:p>
                      <a:r>
                        <a:rPr sz="1200" b="1" lang="en-GB"/>
                        <a:t>Who can clone it</a:t>
                      </a:r>
                    </a:p>
                  </a:txBody>
                  <a:tcPr marT="55000" marB="55000"/>
                </a:tc>
                <a:tc>
                  <a:txBody>
                    <a:bodyPr/>
                    <a:lstStyle/>
                    <a:p>
                      <a:r>
                        <a:rPr sz="1200" lang="en-GB"/>
                        <a:t>you and invited people</a:t>
                      </a:r>
                    </a:p>
                  </a:txBody>
                  <a:tcPr marT="55000" marB="55000"/>
                </a:tc>
                <a:tc>
                  <a:txBody>
                    <a:bodyPr/>
                    <a:lstStyle/>
                    <a:p>
                      <a:r>
                        <a:rPr sz="1200" lang="en-GB"/>
                        <a:t>anyone, without an account</a:t>
                      </a:r>
                    </a:p>
                  </a:txBody>
                  <a:tcPr marT="55000" marB="55000"/>
                </a:tc>
              </a:tr>
              <a:tr h="370840">
                <a:tc>
                  <a:txBody>
                    <a:bodyPr/>
                    <a:lstStyle/>
                    <a:p>
                      <a:r>
                        <a:rPr sz="1200" b="1" lang="en-GB"/>
                        <a:t>Who can push</a:t>
                      </a:r>
                    </a:p>
                  </a:txBody>
                  <a:tcPr marT="55000" marB="55000"/>
                </a:tc>
                <a:tc>
                  <a:txBody>
                    <a:bodyPr/>
                    <a:lstStyle/>
                    <a:p>
                      <a:r>
                        <a:rPr sz="1200" lang="en-GB"/>
                        <a:t>you and invited collaborators</a:t>
                      </a:r>
                    </a:p>
                  </a:txBody>
                  <a:tcPr marT="55000" marB="55000"/>
                </a:tc>
                <a:tc>
                  <a:txBody>
                    <a:bodyPr/>
                    <a:lstStyle/>
                    <a:p>
                      <a:r>
                        <a:rPr sz="1200" lang="en-GB"/>
                        <a:t>you and invited collaborators</a:t>
                      </a:r>
                    </a:p>
                  </a:txBody>
                  <a:tcPr marT="55000" marB="55000"/>
                </a:tc>
              </a:tr>
              <a:tr h="370840">
                <a:tc>
                  <a:txBody>
                    <a:bodyPr/>
                    <a:lstStyle/>
                    <a:p>
                      <a:r>
                        <a:rPr sz="1200" b="1" lang="en-GB"/>
                        <a:t>Cost on GitHub Free</a:t>
                      </a:r>
                    </a:p>
                  </a:txBody>
                  <a:tcPr marT="55000" marB="55000"/>
                </a:tc>
                <a:tc>
                  <a:txBody>
                    <a:bodyPr/>
                    <a:lstStyle/>
                    <a:p>
                      <a:r>
                        <a:rPr sz="1200" lang="en-GB"/>
                        <a:t>free, unlimited</a:t>
                      </a:r>
                    </a:p>
                  </a:txBody>
                  <a:tcPr marT="55000" marB="55000"/>
                </a:tc>
                <a:tc>
                  <a:txBody>
                    <a:bodyPr/>
                    <a:lstStyle/>
                    <a:p>
                      <a:r>
                        <a:rPr sz="1200" lang="en-GB"/>
                        <a:t>free, unlimited</a:t>
                      </a:r>
                    </a:p>
                  </a:txBody>
                  <a:tcPr marT="55000" marB="55000"/>
                </a:tc>
              </a:tr>
              <a:tr h="370840">
                <a:tc>
                  <a:txBody>
                    <a:bodyPr/>
                    <a:lstStyle/>
                    <a:p>
                      <a:r>
                        <a:rPr sz="1200" b="1" lang="en-GB"/>
                        <a:t>Use it for</a:t>
                      </a:r>
                    </a:p>
                  </a:txBody>
                  <a:tcPr marT="55000" marB="55000"/>
                </a:tc>
                <a:tc>
                  <a:txBody>
                    <a:bodyPr/>
                    <a:lstStyle/>
                    <a:p>
                      <a:r>
                        <a:rPr sz="1200" lang="en-GB"/>
                        <a:t>group work, assignments, drafts</a:t>
                      </a:r>
                    </a:p>
                  </a:txBody>
                  <a:tcPr marT="55000" marB="55000"/>
                </a:tc>
                <a:tc>
                  <a:txBody>
                    <a:bodyPr/>
                    <a:lstStyle/>
                    <a:p>
                      <a:r>
                        <a:rPr sz="1200" lang="en-GB"/>
                        <a:t>portfolio, open-source, the course materials</a:t>
                      </a:r>
                    </a:p>
                  </a:txBody>
                  <a:tcPr marT="55000" marB="55000"/>
                </a:tc>
              </a:tr>
            </a:tbl>
          </a:graphicData>
        </a:graphic>
      </p:graphicFrame>
      <p:sp>
        <p:nvSpPr>
          <p:cNvPr id="3" name="Title 2"/>
          <p:cNvSpPr>
            <a:spLocks noGrp="1"/>
          </p:cNvSpPr>
          <p:nvPr>
            <p:ph type="title"/>
          </p:nvPr>
        </p:nvSpPr>
        <p:spPr/>
        <p:txBody>
          <a:bodyPr/>
          <a:lstStyle/>
          <a:p>
            <a:r>
              <a:rPr sz="1600" lang="en-GB"/>
              <a:t>Private and public repositories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Vis rule box"/>
          <p:cNvSpPr/>
          <p:nvPr/>
        </p:nvSpPr>
        <p:spPr>
          <a:xfrm>
            <a:off x="457200" y="4069080"/>
            <a:ext cx="8229600" cy="8229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Vis rule" descr=""/>
          <p:cNvPicPr>
            <a:picLocks noChangeAspect="1"/>
          </p:cNvPicPr>
          <p:nvPr/>
        </p:nvPicPr>
        <p:blipFill>
          <a:blip r:embed="rId3"/>
          <a:stretch>
            <a:fillRect/>
          </a:stretch>
        </p:blipFill>
        <p:spPr>
          <a:xfrm>
            <a:off x="658368" y="4297680"/>
            <a:ext cx="365760" cy="365760"/>
          </a:xfrm>
          <a:prstGeom prst="rect">
            <a:avLst/>
          </a:prstGeom>
        </p:spPr>
      </p:pic>
      <p:sp>
        <p:nvSpPr>
          <p:cNvPr id="12" name="Vis rule text"/>
          <p:cNvSpPr txBox="1"/>
          <p:nvPr/>
        </p:nvSpPr>
        <p:spPr>
          <a:xfrm>
            <a:off x="1207008" y="4069080"/>
            <a:ext cx="7315200" cy="822960"/>
          </a:xfrm>
          <a:prstGeom prst="rect">
            <a:avLst/>
          </a:prstGeom>
          <a:noFill/>
        </p:spPr>
        <p:txBody>
          <a:bodyPr wrap="square" lIns="0" rIns="0" tIns="0" bIns="0" anchor="ctr">
            <a:noAutofit/>
          </a:bodyPr>
          <a:lstStyle/>
          <a:p>
            <a:pPr algn="l">
              <a:spcAft>
                <a:spcPts val="400"/>
              </a:spcAft>
            </a:pPr>
            <a:r>
              <a:rPr sz="1200" b="1" lang="en-GB">
                <a:solidFill>
                  <a:schemeClr val="bg1"/>
                </a:solidFill>
              </a:rPr>
              <a:t>Rule for this course: </a:t>
            </a:r>
            <a:r>
              <a:rPr sz="1200" b="0" lang="en-GB">
                <a:solidFill>
                  <a:schemeClr val="bg1"/>
                </a:solidFill>
              </a:rPr>
              <a:t>keep group and assignment repositories private. Never publish data you received under licence or solutions others could copy.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Create your own repository and publish it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reate body"/>
          <p:cNvSpPr/>
          <p:nvPr/>
        </p:nvSpPr>
        <p:spPr>
          <a:xfrm>
            <a:off x="457200" y="1645920"/>
            <a:ext cx="404622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reate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reate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1  Create on your laptop</a:t>
            </a:r>
          </a:p>
        </p:txBody>
      </p:sp>
      <p:pic>
        <p:nvPicPr>
          <p:cNvPr id="13" name="Icon Create" descr=""/>
          <p:cNvPicPr>
            <a:picLocks noChangeAspect="1"/>
          </p:cNvPicPr>
          <p:nvPr/>
        </p:nvPicPr>
        <p:blipFill>
          <a:blip r:embed="rId3"/>
          <a:stretch>
            <a:fillRect/>
          </a:stretch>
        </p:blipFill>
        <p:spPr>
          <a:xfrm>
            <a:off x="4064508" y="1284732"/>
            <a:ext cx="310896" cy="310896"/>
          </a:xfrm>
          <a:prstGeom prst="rect">
            <a:avLst/>
          </a:prstGeom>
        </p:spPr>
      </p:pic>
      <p:sp>
        <p:nvSpPr>
          <p:cNvPr id="14" name="Create text"/>
          <p:cNvSpPr txBox="1"/>
          <p:nvPr/>
        </p:nvSpPr>
        <p:spPr>
          <a:xfrm>
            <a:off x="621792" y="1783080"/>
            <a:ext cx="3744468" cy="228600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File → </a:t>
            </a:r>
            <a:r>
              <a:rPr sz="1300" b="0" lang="en-GB">
                <a:solidFill>
                  <a:schemeClr val="tx1"/>
                </a:solidFill>
              </a:rPr>
              <a:t>New repository</a:t>
            </a:r>
          </a:p>
          <a:p>
            <a:pPr algn="l">
              <a:spcAft>
                <a:spcPts val="900"/>
              </a:spcAft>
            </a:pPr>
            <a:r>
              <a:rPr sz="1300" b="1" lang="en-GB">
                <a:solidFill>
                  <a:schemeClr val="accent1"/>
                </a:solidFill>
              </a:rPr>
              <a:t>2  </a:t>
            </a:r>
            <a:r>
              <a:rPr sz="1300" b="1" lang="en-GB">
                <a:solidFill>
                  <a:schemeClr val="tx2"/>
                </a:solidFill>
              </a:rPr>
              <a:t>Name: </a:t>
            </a:r>
            <a:r>
              <a:rPr sz="1300" b="0" lang="en-GB">
                <a:solidFill>
                  <a:schemeClr val="tx1"/>
                </a:solidFill>
              </a:rPr>
              <a:t>e.g. ima-group-3, no spaces</a:t>
            </a:r>
          </a:p>
          <a:p>
            <a:pPr algn="l">
              <a:spcAft>
                <a:spcPts val="900"/>
              </a:spcAft>
            </a:pPr>
            <a:r>
              <a:rPr sz="1300" b="1" lang="en-GB">
                <a:solidFill>
                  <a:schemeClr val="accent1"/>
                </a:solidFill>
              </a:rPr>
              <a:t>3  </a:t>
            </a:r>
            <a:r>
              <a:rPr sz="1300" b="1" lang="en-GB">
                <a:solidFill>
                  <a:schemeClr val="tx2"/>
                </a:solidFill>
              </a:rPr>
              <a:t>Local path: </a:t>
            </a:r>
            <a:r>
              <a:rPr sz="1300" b="0" lang="en-GB">
                <a:solidFill>
                  <a:schemeClr val="tx1"/>
                </a:solidFill>
              </a:rPr>
              <a:t>Choose… your wu folder</a:t>
            </a:r>
          </a:p>
          <a:p>
            <a:pPr algn="l">
              <a:spcAft>
                <a:spcPts val="900"/>
              </a:spcAft>
            </a:pPr>
            <a:r>
              <a:rPr sz="1300" b="1" lang="en-GB">
                <a:solidFill>
                  <a:schemeClr val="accent1"/>
                </a:solidFill>
              </a:rPr>
              <a:t>4  </a:t>
            </a:r>
            <a:r>
              <a:rPr sz="1300" b="1" lang="en-GB">
                <a:solidFill>
                  <a:schemeClr val="tx2"/>
                </a:solidFill>
              </a:rPr>
              <a:t>Tick </a:t>
            </a:r>
            <a:r>
              <a:rPr sz="1300" b="0" lang="en-GB">
                <a:solidFill>
                  <a:schemeClr val="tx1"/>
                </a:solidFill>
              </a:rPr>
              <a:t>Initialize with a README</a:t>
            </a:r>
          </a:p>
          <a:p>
            <a:pPr algn="l">
              <a:spcAft>
                <a:spcPts val="900"/>
              </a:spcAft>
            </a:pPr>
            <a:r>
              <a:rPr sz="1300" b="1" lang="en-GB">
                <a:solidFill>
                  <a:schemeClr val="accent1"/>
                </a:solidFill>
              </a:rPr>
              <a:t>5  </a:t>
            </a:r>
            <a:r>
              <a:rPr sz="1300" b="1" lang="en-GB">
                <a:solidFill>
                  <a:schemeClr val="tx2"/>
                </a:solidFill>
              </a:rPr>
              <a:t>Git ignore: </a:t>
            </a:r>
            <a:r>
              <a:rPr sz="1300" b="0" lang="en-GB">
                <a:solidFill>
                  <a:schemeClr val="tx1"/>
                </a:solidFill>
              </a:rPr>
              <a:t>Python; click Create</a:t>
            </a:r>
          </a:p>
        </p:txBody>
      </p:sp>
      <p:sp>
        <p:nvSpPr>
          <p:cNvPr id="15" name="Publish body"/>
          <p:cNvSpPr/>
          <p:nvPr/>
        </p:nvSpPr>
        <p:spPr>
          <a:xfrm>
            <a:off x="4640580" y="1645920"/>
            <a:ext cx="404622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ublish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ublish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2  Publish to GitHub</a:t>
            </a:r>
          </a:p>
        </p:txBody>
      </p:sp>
      <p:pic>
        <p:nvPicPr>
          <p:cNvPr id="18" name="Icon Publish" descr=""/>
          <p:cNvPicPr>
            <a:picLocks noChangeAspect="1"/>
          </p:cNvPicPr>
          <p:nvPr/>
        </p:nvPicPr>
        <p:blipFill>
          <a:blip r:embed="rId4"/>
          <a:stretch>
            <a:fillRect/>
          </a:stretch>
        </p:blipFill>
        <p:spPr>
          <a:xfrm>
            <a:off x="8247888" y="1284732"/>
            <a:ext cx="310896" cy="310896"/>
          </a:xfrm>
          <a:prstGeom prst="rect">
            <a:avLst/>
          </a:prstGeom>
        </p:spPr>
      </p:pic>
      <p:sp>
        <p:nvSpPr>
          <p:cNvPr id="19" name="Publish text"/>
          <p:cNvSpPr txBox="1"/>
          <p:nvPr/>
        </p:nvSpPr>
        <p:spPr>
          <a:xfrm>
            <a:off x="4805172" y="1783080"/>
            <a:ext cx="3744468" cy="228600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Click </a:t>
            </a:r>
            <a:r>
              <a:rPr sz="1300" b="0" lang="en-GB">
                <a:solidFill>
                  <a:schemeClr val="tx1"/>
                </a:solidFill>
              </a:rPr>
              <a:t>Publish repository</a:t>
            </a:r>
          </a:p>
          <a:p>
            <a:pPr algn="l">
              <a:spcAft>
                <a:spcPts val="900"/>
              </a:spcAft>
            </a:pPr>
            <a:r>
              <a:rPr sz="1300" b="1" lang="en-GB">
                <a:solidFill>
                  <a:schemeClr val="accent1"/>
                </a:solidFill>
              </a:rPr>
              <a:t>2  </a:t>
            </a:r>
            <a:r>
              <a:rPr sz="1300" b="1" lang="en-GB">
                <a:solidFill>
                  <a:schemeClr val="tx2"/>
                </a:solidFill>
              </a:rPr>
              <a:t>Check </a:t>
            </a:r>
            <a:r>
              <a:rPr sz="1300" b="0" lang="en-GB">
                <a:solidFill>
                  <a:schemeClr val="tx1"/>
                </a:solidFill>
              </a:rPr>
              <a:t>name and description</a:t>
            </a:r>
          </a:p>
          <a:p>
            <a:pPr algn="l">
              <a:spcAft>
                <a:spcPts val="900"/>
              </a:spcAft>
            </a:pPr>
            <a:r>
              <a:rPr sz="1300" b="1" lang="en-GB">
                <a:solidFill>
                  <a:schemeClr val="accent1"/>
                </a:solidFill>
              </a:rPr>
              <a:t>3  </a:t>
            </a:r>
            <a:r>
              <a:rPr sz="1300" b="1" lang="en-GB">
                <a:solidFill>
                  <a:schemeClr val="tx2"/>
                </a:solidFill>
              </a:rPr>
              <a:t>Keep this code private: </a:t>
            </a:r>
            <a:r>
              <a:rPr sz="1300" b="0" lang="en-GB">
                <a:solidFill>
                  <a:schemeClr val="tx1"/>
                </a:solidFill>
              </a:rPr>
              <a:t>leave it ticked</a:t>
            </a:r>
          </a:p>
          <a:p>
            <a:pPr algn="l">
              <a:spcAft>
                <a:spcPts val="900"/>
              </a:spcAft>
            </a:pPr>
            <a:r>
              <a:rPr sz="1300" b="1" lang="en-GB">
                <a:solidFill>
                  <a:schemeClr val="accent1"/>
                </a:solidFill>
              </a:rPr>
              <a:t>4  </a:t>
            </a:r>
            <a:r>
              <a:rPr sz="1300" b="1" lang="en-GB">
                <a:solidFill>
                  <a:schemeClr val="tx2"/>
                </a:solidFill>
              </a:rPr>
              <a:t>Organization: </a:t>
            </a:r>
            <a:r>
              <a:rPr sz="1300" b="0" lang="en-GB">
                <a:solidFill>
                  <a:schemeClr val="tx1"/>
                </a:solidFill>
              </a:rPr>
              <a:t>None (your account)</a:t>
            </a:r>
          </a:p>
          <a:p>
            <a:pPr algn="l">
              <a:spcAft>
                <a:spcPts val="900"/>
              </a:spcAft>
            </a:pPr>
            <a:r>
              <a:rPr sz="1300" b="1" lang="en-GB">
                <a:solidFill>
                  <a:schemeClr val="accent1"/>
                </a:solidFill>
              </a:rPr>
              <a:t>5  </a:t>
            </a:r>
            <a:r>
              <a:rPr sz="1300" b="1" lang="en-GB">
                <a:solidFill>
                  <a:schemeClr val="tx2"/>
                </a:solidFill>
              </a:rPr>
              <a:t>Click </a:t>
            </a:r>
            <a:r>
              <a:rPr sz="1300" b="0" lang="en-GB">
                <a:solidFill>
                  <a:schemeClr val="tx1"/>
                </a:solidFill>
              </a:rPr>
              <a:t>Publish repository</a:t>
            </a:r>
          </a:p>
        </p:txBody>
      </p:sp>
      <p:sp>
        <p:nvSpPr>
          <p:cNvPr id="20" name="Create note box"/>
          <p:cNvSpPr/>
          <p:nvPr/>
        </p:nvSpPr>
        <p:spPr>
          <a:xfrm>
            <a:off x="457200" y="4297680"/>
            <a:ext cx="8229600" cy="594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Create note" descr=""/>
          <p:cNvPicPr>
            <a:picLocks noChangeAspect="1"/>
          </p:cNvPicPr>
          <p:nvPr/>
        </p:nvPicPr>
        <p:blipFill>
          <a:blip r:embed="rId5"/>
          <a:stretch>
            <a:fillRect/>
          </a:stretch>
        </p:blipFill>
        <p:spPr>
          <a:xfrm>
            <a:off x="658368" y="4411980"/>
            <a:ext cx="365760" cy="365760"/>
          </a:xfrm>
          <a:prstGeom prst="rect">
            <a:avLst/>
          </a:prstGeom>
        </p:spPr>
      </p:pic>
      <p:sp>
        <p:nvSpPr>
          <p:cNvPr id="22" name="Create note text"/>
          <p:cNvSpPr txBox="1"/>
          <p:nvPr/>
        </p:nvSpPr>
        <p:spPr>
          <a:xfrm>
            <a:off x="1207008" y="4297680"/>
            <a:ext cx="7315200" cy="594360"/>
          </a:xfrm>
          <a:prstGeom prst="rect">
            <a:avLst/>
          </a:prstGeom>
          <a:noFill/>
        </p:spPr>
        <p:txBody>
          <a:bodyPr wrap="square" lIns="0" rIns="0" tIns="0" bIns="0" anchor="ctr">
            <a:noAutofit/>
          </a:bodyPr>
          <a:lstStyle/>
          <a:p>
            <a:pPr algn="l">
              <a:spcAft>
                <a:spcPts val="400"/>
              </a:spcAft>
            </a:pPr>
            <a:r>
              <a:rPr sz="1200" b="1" lang="en-GB">
                <a:solidFill>
                  <a:schemeClr val="tx2"/>
                </a:solidFill>
              </a:rPr>
              <a:t>Existing folder? </a:t>
            </a:r>
            <a:r>
              <a:rPr sz="1200" b="0" lang="en-GB">
                <a:solidFill>
                  <a:schemeClr val="tx1"/>
                </a:solidFill>
              </a:rPr>
              <a:t>File → Add local repository, create a repository there, then publish.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Invite your group members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Invite body"/>
          <p:cNvSpPr/>
          <p:nvPr/>
        </p:nvSpPr>
        <p:spPr>
          <a:xfrm>
            <a:off x="457200" y="1645920"/>
            <a:ext cx="493776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nvite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nvite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Owner: on github.com</a:t>
            </a:r>
          </a:p>
        </p:txBody>
      </p:sp>
      <p:pic>
        <p:nvPicPr>
          <p:cNvPr id="13" name="Icon Invite" descr=""/>
          <p:cNvPicPr>
            <a:picLocks noChangeAspect="1"/>
          </p:cNvPicPr>
          <p:nvPr/>
        </p:nvPicPr>
        <p:blipFill>
          <a:blip r:embed="rId3"/>
          <a:stretch>
            <a:fillRect/>
          </a:stretch>
        </p:blipFill>
        <p:spPr>
          <a:xfrm>
            <a:off x="4956048" y="1284732"/>
            <a:ext cx="310896" cy="310896"/>
          </a:xfrm>
          <a:prstGeom prst="rect">
            <a:avLst/>
          </a:prstGeom>
        </p:spPr>
      </p:pic>
      <p:sp>
        <p:nvSpPr>
          <p:cNvPr id="14" name="Invite text"/>
          <p:cNvSpPr txBox="1"/>
          <p:nvPr/>
        </p:nvSpPr>
        <p:spPr>
          <a:xfrm>
            <a:off x="621792" y="1783080"/>
            <a:ext cx="4636008" cy="228600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GitHub Desktop: </a:t>
            </a:r>
            <a:r>
              <a:rPr sz="1300" b="0" lang="en-GB">
                <a:solidFill>
                  <a:schemeClr val="tx1"/>
                </a:solidFill>
              </a:rPr>
              <a:t>Repository → View on GitHub</a:t>
            </a:r>
          </a:p>
          <a:p>
            <a:pPr algn="l">
              <a:spcAft>
                <a:spcPts val="900"/>
              </a:spcAft>
            </a:pPr>
            <a:r>
              <a:rPr sz="1300" b="1" lang="en-GB">
                <a:solidFill>
                  <a:schemeClr val="accent1"/>
                </a:solidFill>
              </a:rPr>
              <a:t>2  </a:t>
            </a:r>
            <a:r>
              <a:rPr sz="1300" b="1" lang="en-GB">
                <a:solidFill>
                  <a:schemeClr val="tx2"/>
                </a:solidFill>
              </a:rPr>
              <a:t>Click </a:t>
            </a:r>
            <a:r>
              <a:rPr sz="1300" b="0" lang="en-GB">
                <a:solidFill>
                  <a:schemeClr val="tx1"/>
                </a:solidFill>
              </a:rPr>
              <a:t>Settings (the repository's, top right)</a:t>
            </a:r>
          </a:p>
          <a:p>
            <a:pPr algn="l">
              <a:spcAft>
                <a:spcPts val="900"/>
              </a:spcAft>
            </a:pPr>
            <a:r>
              <a:rPr sz="1300" b="1" lang="en-GB">
                <a:solidFill>
                  <a:schemeClr val="accent1"/>
                </a:solidFill>
              </a:rPr>
              <a:t>3  </a:t>
            </a:r>
            <a:r>
              <a:rPr sz="1300" b="1" lang="en-GB">
                <a:solidFill>
                  <a:schemeClr val="tx2"/>
                </a:solidFill>
              </a:rPr>
              <a:t>Left menu: </a:t>
            </a:r>
            <a:r>
              <a:rPr sz="1300" b="0" lang="en-GB">
                <a:solidFill>
                  <a:schemeClr val="tx1"/>
                </a:solidFill>
              </a:rPr>
              <a:t>Collaborators</a:t>
            </a:r>
          </a:p>
          <a:p>
            <a:pPr algn="l">
              <a:spcAft>
                <a:spcPts val="900"/>
              </a:spcAft>
            </a:pPr>
            <a:r>
              <a:rPr sz="1300" b="1" lang="en-GB">
                <a:solidFill>
                  <a:schemeClr val="accent1"/>
                </a:solidFill>
              </a:rPr>
              <a:t>4  </a:t>
            </a:r>
            <a:r>
              <a:rPr sz="1300" b="1" lang="en-GB">
                <a:solidFill>
                  <a:schemeClr val="tx2"/>
                </a:solidFill>
              </a:rPr>
              <a:t>Click </a:t>
            </a:r>
            <a:r>
              <a:rPr sz="1300" b="0" lang="en-GB">
                <a:solidFill>
                  <a:schemeClr val="tx1"/>
                </a:solidFill>
              </a:rPr>
              <a:t>Add people, type the username</a:t>
            </a:r>
          </a:p>
          <a:p>
            <a:pPr algn="l">
              <a:spcAft>
                <a:spcPts val="900"/>
              </a:spcAft>
            </a:pPr>
            <a:r>
              <a:rPr sz="1300" b="1" lang="en-GB">
                <a:solidFill>
                  <a:schemeClr val="accent1"/>
                </a:solidFill>
              </a:rPr>
              <a:t>5  </a:t>
            </a:r>
            <a:r>
              <a:rPr sz="1300" b="1" lang="en-GB">
                <a:solidFill>
                  <a:schemeClr val="tx2"/>
                </a:solidFill>
              </a:rPr>
              <a:t>Click </a:t>
            </a:r>
            <a:r>
              <a:rPr sz="1300" b="0" lang="en-GB">
                <a:solidFill>
                  <a:schemeClr val="tx1"/>
                </a:solidFill>
              </a:rPr>
              <a:t>Add … to this repository</a:t>
            </a:r>
          </a:p>
        </p:txBody>
      </p:sp>
      <p:sp>
        <p:nvSpPr>
          <p:cNvPr id="15" name="Members card body"/>
          <p:cNvSpPr/>
          <p:nvPr/>
        </p:nvSpPr>
        <p:spPr>
          <a:xfrm>
            <a:off x="5532120" y="1645920"/>
            <a:ext cx="315468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Members card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embers card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Members</a:t>
            </a:r>
          </a:p>
        </p:txBody>
      </p:sp>
      <p:pic>
        <p:nvPicPr>
          <p:cNvPr id="18" name="Icon Members card" descr=""/>
          <p:cNvPicPr>
            <a:picLocks noChangeAspect="1"/>
          </p:cNvPicPr>
          <p:nvPr/>
        </p:nvPicPr>
        <p:blipFill>
          <a:blip r:embed="rId4"/>
          <a:stretch>
            <a:fillRect/>
          </a:stretch>
        </p:blipFill>
        <p:spPr>
          <a:xfrm>
            <a:off x="8247888" y="1284732"/>
            <a:ext cx="310896" cy="310896"/>
          </a:xfrm>
          <a:prstGeom prst="rect">
            <a:avLst/>
          </a:prstGeom>
        </p:spPr>
      </p:pic>
      <p:sp>
        <p:nvSpPr>
          <p:cNvPr id="19" name="Members card text"/>
          <p:cNvSpPr txBox="1"/>
          <p:nvPr/>
        </p:nvSpPr>
        <p:spPr>
          <a:xfrm>
            <a:off x="5696712" y="1783080"/>
            <a:ext cx="2852928" cy="22402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Accept the invitation: e-mail or github.com/notifications</a:t>
            </a:r>
          </a:p>
          <a:p>
            <a:pPr algn="l" marL="182880" indent="-182880">
              <a:spcAft>
                <a:spcPts val="600"/>
              </a:spcAft>
              <a:buClr>
                <a:schemeClr val="accent1"/>
              </a:buClr>
              <a:buFont typeface="Arial"/>
              <a:buChar char="▪"/>
            </a:pPr>
            <a:r>
              <a:rPr sz="1300" b="0" lang="en-GB">
                <a:solidFill>
                  <a:schemeClr val="tx1"/>
                </a:solidFill>
              </a:rPr>
              <a:t>Clone the repository (Part 4)</a:t>
            </a:r>
          </a:p>
          <a:p>
            <a:pPr algn="l" marL="182880" indent="-182880">
              <a:spcAft>
                <a:spcPts val="600"/>
              </a:spcAft>
              <a:buClr>
                <a:schemeClr val="accent1"/>
              </a:buClr>
              <a:buFont typeface="Arial"/>
              <a:buChar char="▪"/>
            </a:pPr>
            <a:r>
              <a:rPr sz="1300" b="0" lang="en-GB">
                <a:solidFill>
                  <a:schemeClr val="tx1"/>
                </a:solidFill>
              </a:rPr>
              <a:t>Pull before you start, push when you stop</a:t>
            </a:r>
          </a:p>
          <a:p>
            <a:pPr algn="l" marL="182880" indent="-182880">
              <a:spcAft>
                <a:spcPts val="600"/>
              </a:spcAft>
              <a:buClr>
                <a:schemeClr val="accent1"/>
              </a:buClr>
              <a:buFont typeface="Arial"/>
              <a:buChar char="▪"/>
            </a:pPr>
            <a:r>
              <a:rPr sz="1300" b="0" lang="en-GB">
                <a:solidFill>
                  <a:schemeClr val="tx1"/>
                </a:solidFill>
              </a:rPr>
              <a:t>One person per file where possible</a:t>
            </a:r>
          </a:p>
        </p:txBody>
      </p:sp>
      <p:sp>
        <p:nvSpPr>
          <p:cNvPr id="20" name="Invite exp box"/>
          <p:cNvSpPr/>
          <p:nvPr/>
        </p:nvSpPr>
        <p:spPr>
          <a:xfrm>
            <a:off x="457200" y="4297680"/>
            <a:ext cx="8229600" cy="594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Invite exp" descr=""/>
          <p:cNvPicPr>
            <a:picLocks noChangeAspect="1"/>
          </p:cNvPicPr>
          <p:nvPr/>
        </p:nvPicPr>
        <p:blipFill>
          <a:blip r:embed="rId5"/>
          <a:stretch>
            <a:fillRect/>
          </a:stretch>
        </p:blipFill>
        <p:spPr>
          <a:xfrm>
            <a:off x="658368" y="4411980"/>
            <a:ext cx="365760" cy="365760"/>
          </a:xfrm>
          <a:prstGeom prst="rect">
            <a:avLst/>
          </a:prstGeom>
        </p:spPr>
      </p:pic>
      <p:sp>
        <p:nvSpPr>
          <p:cNvPr id="22" name="Invite exp text"/>
          <p:cNvSpPr txBox="1"/>
          <p:nvPr/>
        </p:nvSpPr>
        <p:spPr>
          <a:xfrm>
            <a:off x="1207008" y="4297680"/>
            <a:ext cx="7315200" cy="594360"/>
          </a:xfrm>
          <a:prstGeom prst="rect">
            <a:avLst/>
          </a:prstGeom>
          <a:noFill/>
        </p:spPr>
        <p:txBody>
          <a:bodyPr wrap="square" lIns="0" rIns="0" tIns="0" bIns="0" anchor="ctr">
            <a:noAutofit/>
          </a:bodyPr>
          <a:lstStyle/>
          <a:p>
            <a:pPr algn="l">
              <a:spcAft>
                <a:spcPts val="400"/>
              </a:spcAft>
            </a:pPr>
            <a:r>
              <a:rPr sz="1200" b="1" lang="en-GB">
                <a:solidFill>
                  <a:schemeClr val="tx2"/>
                </a:solidFill>
              </a:rPr>
              <a:t>Invitations expire </a:t>
            </a:r>
            <a:r>
              <a:rPr sz="1200" b="0" lang="en-GB">
                <a:solidFill>
                  <a:schemeClr val="tx1"/>
                </a:solidFill>
              </a:rPr>
              <a:t>after seven days; the owner can resend them.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Change visibility later</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Visib body"/>
          <p:cNvSpPr/>
          <p:nvPr/>
        </p:nvSpPr>
        <p:spPr>
          <a:xfrm>
            <a:off x="457200" y="1645920"/>
            <a:ext cx="4023360" cy="21945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Visib header"/>
          <p:cNvSpPr/>
          <p:nvPr/>
        </p:nvSpPr>
        <p:spPr>
          <a:xfrm>
            <a:off x="457200" y="1234440"/>
            <a:ext cx="40233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Visib heading"/>
          <p:cNvSpPr txBox="1"/>
          <p:nvPr/>
        </p:nvSpPr>
        <p:spPr>
          <a:xfrm>
            <a:off x="594360" y="1234440"/>
            <a:ext cx="33375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On github.com</a:t>
            </a:r>
          </a:p>
        </p:txBody>
      </p:sp>
      <p:pic>
        <p:nvPicPr>
          <p:cNvPr id="13" name="Icon Visib" descr=""/>
          <p:cNvPicPr>
            <a:picLocks noChangeAspect="1"/>
          </p:cNvPicPr>
          <p:nvPr/>
        </p:nvPicPr>
        <p:blipFill>
          <a:blip r:embed="rId3"/>
          <a:stretch>
            <a:fillRect/>
          </a:stretch>
        </p:blipFill>
        <p:spPr>
          <a:xfrm>
            <a:off x="4041648" y="1284732"/>
            <a:ext cx="310896" cy="310896"/>
          </a:xfrm>
          <a:prstGeom prst="rect">
            <a:avLst/>
          </a:prstGeom>
        </p:spPr>
      </p:pic>
      <p:sp>
        <p:nvSpPr>
          <p:cNvPr id="14" name="Visib text"/>
          <p:cNvSpPr txBox="1"/>
          <p:nvPr/>
        </p:nvSpPr>
        <p:spPr>
          <a:xfrm>
            <a:off x="621792" y="1783080"/>
            <a:ext cx="3721608" cy="196596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Open </a:t>
            </a:r>
            <a:r>
              <a:rPr sz="1300" b="0" lang="en-GB">
                <a:solidFill>
                  <a:schemeClr val="tx1"/>
                </a:solidFill>
              </a:rPr>
              <a:t>the repository → Settings</a:t>
            </a:r>
          </a:p>
          <a:p>
            <a:pPr algn="l">
              <a:spcAft>
                <a:spcPts val="900"/>
              </a:spcAft>
            </a:pPr>
            <a:r>
              <a:rPr sz="1300" b="1" lang="en-GB">
                <a:solidFill>
                  <a:schemeClr val="accent1"/>
                </a:solidFill>
              </a:rPr>
              <a:t>2  </a:t>
            </a:r>
            <a:r>
              <a:rPr sz="1300" b="1" lang="en-GB">
                <a:solidFill>
                  <a:schemeClr val="tx2"/>
                </a:solidFill>
              </a:rPr>
              <a:t>General: </a:t>
            </a:r>
            <a:r>
              <a:rPr sz="1300" b="0" lang="en-GB">
                <a:solidFill>
                  <a:schemeClr val="tx1"/>
                </a:solidFill>
              </a:rPr>
              <a:t>scroll to the Danger Zone</a:t>
            </a:r>
          </a:p>
          <a:p>
            <a:pPr algn="l">
              <a:spcAft>
                <a:spcPts val="900"/>
              </a:spcAft>
            </a:pPr>
            <a:r>
              <a:rPr sz="1300" b="1" lang="en-GB">
                <a:solidFill>
                  <a:schemeClr val="accent1"/>
                </a:solidFill>
              </a:rPr>
              <a:t>3  </a:t>
            </a:r>
            <a:r>
              <a:rPr sz="1300" b="1" lang="en-GB">
                <a:solidFill>
                  <a:schemeClr val="tx2"/>
                </a:solidFill>
              </a:rPr>
              <a:t>Click </a:t>
            </a:r>
            <a:r>
              <a:rPr sz="1300" b="0" lang="en-GB">
                <a:solidFill>
                  <a:schemeClr val="tx1"/>
                </a:solidFill>
              </a:rPr>
              <a:t>Change visibility</a:t>
            </a:r>
          </a:p>
          <a:p>
            <a:pPr algn="l">
              <a:spcAft>
                <a:spcPts val="900"/>
              </a:spcAft>
            </a:pPr>
            <a:r>
              <a:rPr sz="1300" b="1" lang="en-GB">
                <a:solidFill>
                  <a:schemeClr val="accent1"/>
                </a:solidFill>
              </a:rPr>
              <a:t>4  </a:t>
            </a:r>
            <a:r>
              <a:rPr sz="1300" b="1" lang="en-GB">
                <a:solidFill>
                  <a:schemeClr val="tx2"/>
                </a:solidFill>
              </a:rPr>
              <a:t>Confirm </a:t>
            </a:r>
            <a:r>
              <a:rPr sz="1300" b="0" lang="en-GB">
                <a:solidFill>
                  <a:schemeClr val="tx1"/>
                </a:solidFill>
              </a:rPr>
              <a:t>with the repository name</a:t>
            </a:r>
          </a:p>
        </p:txBody>
      </p:sp>
      <p:sp>
        <p:nvSpPr>
          <p:cNvPr id="15" name="Public card body"/>
          <p:cNvSpPr/>
          <p:nvPr/>
        </p:nvSpPr>
        <p:spPr>
          <a:xfrm>
            <a:off x="4663440" y="1645920"/>
            <a:ext cx="4023360" cy="21945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ublic card header"/>
          <p:cNvSpPr/>
          <p:nvPr/>
        </p:nvSpPr>
        <p:spPr>
          <a:xfrm>
            <a:off x="4663440" y="1234440"/>
            <a:ext cx="40233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ublic card heading"/>
          <p:cNvSpPr txBox="1"/>
          <p:nvPr/>
        </p:nvSpPr>
        <p:spPr>
          <a:xfrm>
            <a:off x="4800600" y="1234440"/>
            <a:ext cx="33375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Before you go public</a:t>
            </a:r>
          </a:p>
        </p:txBody>
      </p:sp>
      <p:pic>
        <p:nvPicPr>
          <p:cNvPr id="18" name="Icon Public card" descr=""/>
          <p:cNvPicPr>
            <a:picLocks noChangeAspect="1"/>
          </p:cNvPicPr>
          <p:nvPr/>
        </p:nvPicPr>
        <p:blipFill>
          <a:blip r:embed="rId4"/>
          <a:stretch>
            <a:fillRect/>
          </a:stretch>
        </p:blipFill>
        <p:spPr>
          <a:xfrm>
            <a:off x="8247888" y="1284732"/>
            <a:ext cx="310896" cy="310896"/>
          </a:xfrm>
          <a:prstGeom prst="rect">
            <a:avLst/>
          </a:prstGeom>
        </p:spPr>
      </p:pic>
      <p:sp>
        <p:nvSpPr>
          <p:cNvPr id="19" name="Public card text"/>
          <p:cNvSpPr txBox="1"/>
          <p:nvPr/>
        </p:nvSpPr>
        <p:spPr>
          <a:xfrm>
            <a:off x="4828032" y="1783080"/>
            <a:ext cx="3721608" cy="19202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The whole history becomes visible, not just today's files</a:t>
            </a:r>
          </a:p>
          <a:p>
            <a:pPr algn="l" marL="182880" indent="-182880">
              <a:spcAft>
                <a:spcPts val="600"/>
              </a:spcAft>
              <a:buClr>
                <a:schemeClr val="accent1"/>
              </a:buClr>
              <a:buFont typeface="Arial"/>
              <a:buChar char="▪"/>
            </a:pPr>
            <a:r>
              <a:rPr sz="1300" b="0" lang="en-GB">
                <a:solidFill>
                  <a:schemeClr val="tx1"/>
                </a:solidFill>
              </a:rPr>
              <a:t>Anyone can copy and fork it, for good</a:t>
            </a:r>
          </a:p>
          <a:p>
            <a:pPr algn="l" marL="182880" indent="-182880">
              <a:spcAft>
                <a:spcPts val="600"/>
              </a:spcAft>
              <a:buClr>
                <a:schemeClr val="accent1"/>
              </a:buClr>
              <a:buFont typeface="Arial"/>
              <a:buChar char="▪"/>
            </a:pPr>
            <a:r>
              <a:rPr sz="1300" b="0" lang="en-GB">
                <a:solidFill>
                  <a:schemeClr val="tx1"/>
                </a:solidFill>
              </a:rPr>
              <a:t>Check: no secrets, no personal or licensed data</a:t>
            </a:r>
          </a:p>
        </p:txBody>
      </p:sp>
      <p:sp>
        <p:nvSpPr>
          <p:cNvPr id="20" name="Visib note box"/>
          <p:cNvSpPr/>
          <p:nvPr/>
        </p:nvSpPr>
        <p:spPr>
          <a:xfrm>
            <a:off x="457200" y="397764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Visib note" descr=""/>
          <p:cNvPicPr>
            <a:picLocks noChangeAspect="1"/>
          </p:cNvPicPr>
          <p:nvPr/>
        </p:nvPicPr>
        <p:blipFill>
          <a:blip r:embed="rId5"/>
          <a:stretch>
            <a:fillRect/>
          </a:stretch>
        </p:blipFill>
        <p:spPr>
          <a:xfrm>
            <a:off x="658368" y="4183380"/>
            <a:ext cx="365760" cy="365760"/>
          </a:xfrm>
          <a:prstGeom prst="rect">
            <a:avLst/>
          </a:prstGeom>
        </p:spPr>
      </p:pic>
      <p:sp>
        <p:nvSpPr>
          <p:cNvPr id="22" name="Visib note text"/>
          <p:cNvSpPr txBox="1"/>
          <p:nvPr/>
        </p:nvSpPr>
        <p:spPr>
          <a:xfrm>
            <a:off x="1207008" y="397764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Public to private: </a:t>
            </a:r>
            <a:r>
              <a:rPr sz="1200" b="0" lang="en-GB">
                <a:solidFill>
                  <a:schemeClr val="bg1"/>
                </a:solidFill>
              </a:rPr>
              <a:t>stars and watchers are erased, and copies others already forked stay public.</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rouble table"/>
          <p:cNvGraphicFramePr>
            <a:graphicFrameLocks noGrp="1"/>
          </p:cNvGraphicFramePr>
          <p:nvPr>
            <p:ph type="tbl" idx="1"/>
          </p:nvPr>
        </p:nvGraphicFramePr>
        <p:xfrm>
          <a:off x="457200" y="1234440"/>
          <a:ext cx="8229600" cy="2595880"/>
        </p:xfrm>
        <a:graphic>
          <a:graphicData uri="http://schemas.openxmlformats.org/drawingml/2006/table">
            <a:tbl>
              <a:tblPr firstRow="1" bandRow="1">
                <a:tableStyleId>{5C22544A-7EE6-4342-B048-85BDC9FD1C3A}</a:tableStyleId>
              </a:tblPr>
              <a:tblGrid>
                <a:gridCol w="3566160"/>
                <a:gridCol w="4663440"/>
              </a:tblGrid>
              <a:tr h="370840">
                <a:tc>
                  <a:txBody>
                    <a:bodyPr/>
                    <a:lstStyle/>
                    <a:p>
                      <a:r>
                        <a:rPr sz="1300" lang="en-GB"/>
                        <a:t>Message or problem</a:t>
                      </a:r>
                    </a:p>
                  </a:txBody>
                  <a:tcPr marT="45000" marB="45000"/>
                </a:tc>
                <a:tc>
                  <a:txBody>
                    <a:bodyPr/>
                    <a:lstStyle/>
                    <a:p>
                      <a:r>
                        <a:rPr sz="1300" lang="en-GB"/>
                        <a:t>Fix</a:t>
                      </a:r>
                    </a:p>
                  </a:txBody>
                  <a:tcPr marT="45000" marB="45000"/>
                </a:tc>
              </a:tr>
              <a:tr h="370840">
                <a:tc>
                  <a:txBody>
                    <a:bodyPr/>
                    <a:lstStyle/>
                    <a:p>
                      <a:r>
                        <a:rPr sz="1150" b="1" lang="en-GB"/>
                        <a:t>Authentication failed / Bad credentials</a:t>
                      </a:r>
                    </a:p>
                  </a:txBody>
                  <a:tcPr marT="45000" marB="45000"/>
                </a:tc>
                <a:tc>
                  <a:txBody>
                    <a:bodyPr/>
                    <a:lstStyle/>
                    <a:p>
                      <a:r>
                        <a:rPr sz="1150" lang="en-GB"/>
                        <a:t>Options or Settings → Accounts: sign out, sign in again</a:t>
                      </a:r>
                    </a:p>
                  </a:txBody>
                  <a:tcPr marT="45000" marB="45000"/>
                </a:tc>
              </a:tr>
              <a:tr h="370840">
                <a:tc>
                  <a:txBody>
                    <a:bodyPr/>
                    <a:lstStyle/>
                    <a:p>
                      <a:r>
                        <a:rPr sz="1150" b="1" lang="en-GB"/>
                        <a:t>Push rejected: new commits on remote</a:t>
                      </a:r>
                    </a:p>
                  </a:txBody>
                  <a:tcPr marT="45000" marB="45000"/>
                </a:tc>
                <a:tc>
                  <a:txBody>
                    <a:bodyPr/>
                    <a:lstStyle/>
                    <a:p>
                      <a:r>
                        <a:rPr sz="1150" lang="en-GB"/>
                        <a:t>Fetch origin, Pull origin, then Push origin</a:t>
                      </a:r>
                    </a:p>
                  </a:txBody>
                  <a:tcPr marT="45000" marB="45000"/>
                </a:tc>
              </a:tr>
              <a:tr h="370840">
                <a:tc>
                  <a:txBody>
                    <a:bodyPr/>
                    <a:lstStyle/>
                    <a:p>
                      <a:r>
                        <a:rPr sz="1150" b="1" lang="en-GB"/>
                        <a:t>File over 100 MiB</a:t>
                      </a:r>
                    </a:p>
                  </a:txBody>
                  <a:tcPr marT="45000" marB="45000"/>
                </a:tc>
                <a:tc>
                  <a:txBody>
                    <a:bodyPr/>
                    <a:lstStyle/>
                    <a:p>
                      <a:r>
                        <a:rPr sz="1150" lang="en-GB"/>
                        <a:t>Remove it from the commit; add it to .gitignore</a:t>
                      </a:r>
                    </a:p>
                  </a:txBody>
                  <a:tcPr marT="45000" marB="45000"/>
                </a:tc>
              </a:tr>
              <a:tr h="370840">
                <a:tc>
                  <a:txBody>
                    <a:bodyPr/>
                    <a:lstStyle/>
                    <a:p>
                      <a:r>
                        <a:rPr sz="1150" b="1" lang="en-GB"/>
                        <a:t>Clone failed in OneDrive or a redirected folder</a:t>
                      </a:r>
                    </a:p>
                  </a:txBody>
                  <a:tcPr marT="45000" marB="45000"/>
                </a:tc>
                <a:tc>
                  <a:txBody>
                    <a:bodyPr/>
                    <a:lstStyle/>
                    <a:p>
                      <a:r>
                        <a:rPr sz="1150" lang="en-GB"/>
                        <a:t>Clone into a local folder such as C:\Users\you\wu</a:t>
                      </a:r>
                    </a:p>
                  </a:txBody>
                  <a:tcPr marT="45000" marB="45000"/>
                </a:tc>
              </a:tr>
              <a:tr h="370840">
                <a:tc>
                  <a:txBody>
                    <a:bodyPr/>
                    <a:lstStyle/>
                    <a:p>
                      <a:r>
                        <a:rPr sz="1150" b="1" lang="en-GB"/>
                        <a:t>macOS: username or passphrase not correct</a:t>
                      </a:r>
                    </a:p>
                  </a:txBody>
                  <a:tcPr marT="45000" marB="45000"/>
                </a:tc>
                <a:tc>
                  <a:txBody>
                    <a:bodyPr/>
                    <a:lstStyle/>
                    <a:p>
                      <a:r>
                        <a:rPr sz="1150" lang="en-GB"/>
                        <a:t>Keychain Access: lock, then unlock 'login'; sign in again</a:t>
                      </a:r>
                    </a:p>
                  </a:txBody>
                  <a:tcPr marT="45000" marB="45000"/>
                </a:tc>
              </a:tr>
              <a:tr h="370840">
                <a:tc>
                  <a:txBody>
                    <a:bodyPr/>
                    <a:lstStyle/>
                    <a:p>
                      <a:r>
                        <a:rPr sz="1150" b="1" lang="en-GB"/>
                        <a:t>Cannot find the repository</a:t>
                      </a:r>
                    </a:p>
                  </a:txBody>
                  <a:tcPr marT="45000" marB="45000"/>
                </a:tc>
                <a:tc>
                  <a:txBody>
                    <a:bodyPr/>
                    <a:lstStyle/>
                    <a:p>
                      <a:r>
                        <a:rPr sz="1150" lang="en-GB"/>
                        <a:t>Click Locate… and choose the folder</a:t>
                      </a:r>
                    </a:p>
                  </a:txBody>
                  <a:tcPr marT="45000" marB="45000"/>
                </a:tc>
              </a:tr>
            </a:tbl>
          </a:graphicData>
        </a:graphic>
      </p:graphicFrame>
      <p:sp>
        <p:nvSpPr>
          <p:cNvPr id="3" name="Title 2"/>
          <p:cNvSpPr>
            <a:spLocks noGrp="1"/>
          </p:cNvSpPr>
          <p:nvPr>
            <p:ph type="title"/>
          </p:nvPr>
        </p:nvSpPr>
        <p:spPr/>
        <p:txBody>
          <a:bodyPr/>
          <a:lstStyle/>
          <a:p>
            <a:r>
              <a:rPr sz="1600" lang="en-GB"/>
              <a:t>When something goes wrong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rouble logs box"/>
          <p:cNvSpPr/>
          <p:nvPr/>
        </p:nvSpPr>
        <p:spPr>
          <a:xfrm>
            <a:off x="457200" y="4297680"/>
            <a:ext cx="8229600" cy="640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Trouble logs" descr=""/>
          <p:cNvPicPr>
            <a:picLocks noChangeAspect="1"/>
          </p:cNvPicPr>
          <p:nvPr/>
        </p:nvPicPr>
        <p:blipFill>
          <a:blip r:embed="rId3"/>
          <a:stretch>
            <a:fillRect/>
          </a:stretch>
        </p:blipFill>
        <p:spPr>
          <a:xfrm>
            <a:off x="658368" y="4434840"/>
            <a:ext cx="365760" cy="365760"/>
          </a:xfrm>
          <a:prstGeom prst="rect">
            <a:avLst/>
          </a:prstGeom>
        </p:spPr>
      </p:pic>
      <p:sp>
        <p:nvSpPr>
          <p:cNvPr id="12" name="Trouble logs text"/>
          <p:cNvSpPr txBox="1"/>
          <p:nvPr/>
        </p:nvSpPr>
        <p:spPr>
          <a:xfrm>
            <a:off x="1207008" y="4297680"/>
            <a:ext cx="7315200" cy="640080"/>
          </a:xfrm>
          <a:prstGeom prst="rect">
            <a:avLst/>
          </a:prstGeom>
          <a:noFill/>
        </p:spPr>
        <p:txBody>
          <a:bodyPr wrap="square" lIns="0" rIns="0" tIns="0" bIns="0" anchor="ctr">
            <a:noAutofit/>
          </a:bodyPr>
          <a:lstStyle/>
          <a:p>
            <a:pPr algn="l">
              <a:spcAft>
                <a:spcPts val="400"/>
              </a:spcAft>
            </a:pPr>
            <a:r>
              <a:rPr sz="1200" b="1" lang="en-GB">
                <a:solidFill>
                  <a:schemeClr val="tx2"/>
                </a:solidFill>
              </a:rPr>
              <a:t>Log files: </a:t>
            </a:r>
            <a:r>
              <a:rPr sz="1200" b="0" lang="en-GB">
                <a:solidFill>
                  <a:schemeClr val="tx1"/>
                </a:solidFill>
              </a:rPr>
              <a:t>Help → Show Logs in Explorer (Windows) or Show Logs in Finder (macOS); send them when you ask for help.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Checklist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heck row 1"/>
          <p:cNvSpPr/>
          <p:nvPr/>
        </p:nvSpPr>
        <p:spPr>
          <a:xfrm>
            <a:off x="457200" y="123444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heck number 1"/>
          <p:cNvSpPr/>
          <p:nvPr/>
        </p:nvSpPr>
        <p:spPr>
          <a:xfrm>
            <a:off x="594360" y="13350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Check text 1"/>
          <p:cNvSpPr txBox="1"/>
          <p:nvPr/>
        </p:nvSpPr>
        <p:spPr>
          <a:xfrm>
            <a:off x="1051560" y="123444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Account </a:t>
            </a:r>
            <a:r>
              <a:rPr sz="1200" b="0" lang="en-GB">
                <a:solidFill>
                  <a:schemeClr val="tx1"/>
                </a:solidFill>
              </a:rPr>
              <a:t>with 2FA and recovery codes stored</a:t>
            </a:r>
          </a:p>
        </p:txBody>
      </p:sp>
      <p:sp>
        <p:nvSpPr>
          <p:cNvPr id="13" name="Check row 2"/>
          <p:cNvSpPr/>
          <p:nvPr/>
        </p:nvSpPr>
        <p:spPr>
          <a:xfrm>
            <a:off x="457200" y="1819656"/>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heck number 2"/>
          <p:cNvSpPr/>
          <p:nvPr/>
        </p:nvSpPr>
        <p:spPr>
          <a:xfrm>
            <a:off x="594360" y="192024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Check text 2"/>
          <p:cNvSpPr txBox="1"/>
          <p:nvPr/>
        </p:nvSpPr>
        <p:spPr>
          <a:xfrm>
            <a:off x="1051560" y="1819656"/>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E-mail: </a:t>
            </a:r>
            <a:r>
              <a:rPr sz="1200" b="0" lang="en-GB">
                <a:solidFill>
                  <a:schemeClr val="tx1"/>
                </a:solidFill>
              </a:rPr>
              <a:t>WU address verified, Keep my email addresses private on</a:t>
            </a:r>
          </a:p>
        </p:txBody>
      </p:sp>
      <p:sp>
        <p:nvSpPr>
          <p:cNvPr id="16" name="Check row 3"/>
          <p:cNvSpPr/>
          <p:nvPr/>
        </p:nvSpPr>
        <p:spPr>
          <a:xfrm>
            <a:off x="457200" y="2404872"/>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heck number 3"/>
          <p:cNvSpPr/>
          <p:nvPr/>
        </p:nvSpPr>
        <p:spPr>
          <a:xfrm>
            <a:off x="594360" y="250545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Check text 3"/>
          <p:cNvSpPr txBox="1"/>
          <p:nvPr/>
        </p:nvSpPr>
        <p:spPr>
          <a:xfrm>
            <a:off x="1051560" y="2404872"/>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GitHub Education </a:t>
            </a:r>
            <a:r>
              <a:rPr sz="1200" b="0" lang="en-GB">
                <a:solidFill>
                  <a:schemeClr val="tx1"/>
                </a:solidFill>
              </a:rPr>
              <a:t>application submitted</a:t>
            </a:r>
          </a:p>
        </p:txBody>
      </p:sp>
      <p:sp>
        <p:nvSpPr>
          <p:cNvPr id="19" name="Check row 4"/>
          <p:cNvSpPr/>
          <p:nvPr/>
        </p:nvSpPr>
        <p:spPr>
          <a:xfrm>
            <a:off x="457200" y="2990088"/>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heck number 4"/>
          <p:cNvSpPr/>
          <p:nvPr/>
        </p:nvSpPr>
        <p:spPr>
          <a:xfrm>
            <a:off x="594360" y="309067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Check text 4"/>
          <p:cNvSpPr txBox="1"/>
          <p:nvPr/>
        </p:nvSpPr>
        <p:spPr>
          <a:xfrm>
            <a:off x="1051560" y="2990088"/>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GitHub Desktop </a:t>
            </a:r>
            <a:r>
              <a:rPr sz="1200" b="0" lang="en-GB">
                <a:solidFill>
                  <a:schemeClr val="tx1"/>
                </a:solidFill>
              </a:rPr>
              <a:t>installed, signed in, noreply address under Git</a:t>
            </a:r>
          </a:p>
        </p:txBody>
      </p:sp>
      <p:sp>
        <p:nvSpPr>
          <p:cNvPr id="22" name="Check row 5"/>
          <p:cNvSpPr/>
          <p:nvPr/>
        </p:nvSpPr>
        <p:spPr>
          <a:xfrm>
            <a:off x="457200" y="357530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heck number 5"/>
          <p:cNvSpPr/>
          <p:nvPr/>
        </p:nvSpPr>
        <p:spPr>
          <a:xfrm>
            <a:off x="594360" y="367588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Check text 5"/>
          <p:cNvSpPr txBox="1"/>
          <p:nvPr/>
        </p:nvSpPr>
        <p:spPr>
          <a:xfrm>
            <a:off x="1051560" y="3575304"/>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Course repository </a:t>
            </a:r>
            <a:r>
              <a:rPr sz="1200" b="0" lang="en-GB">
                <a:solidFill>
                  <a:schemeClr val="tx1"/>
                </a:solidFill>
              </a:rPr>
              <a:t>cloned to a local folder and opened in Positron</a:t>
            </a:r>
          </a:p>
        </p:txBody>
      </p:sp>
      <p:sp>
        <p:nvSpPr>
          <p:cNvPr id="25" name="Check row 6"/>
          <p:cNvSpPr/>
          <p:nvPr/>
        </p:nvSpPr>
        <p:spPr>
          <a:xfrm>
            <a:off x="457200" y="416052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heck number 6"/>
          <p:cNvSpPr/>
          <p:nvPr/>
        </p:nvSpPr>
        <p:spPr>
          <a:xfrm>
            <a:off x="594360" y="426110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6</a:t>
            </a:r>
          </a:p>
        </p:txBody>
      </p:sp>
      <p:sp>
        <p:nvSpPr>
          <p:cNvPr id="27" name="Check text 6"/>
          <p:cNvSpPr txBox="1"/>
          <p:nvPr/>
        </p:nvSpPr>
        <p:spPr>
          <a:xfrm>
            <a:off x="1051560" y="416052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Group repository </a:t>
            </a:r>
            <a:r>
              <a:rPr sz="1200" b="0" lang="en-GB">
                <a:solidFill>
                  <a:schemeClr val="tx1"/>
                </a:solidFill>
              </a:rPr>
              <a:t>created, private, members invited (optional)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Official guides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efs row 1"/>
          <p:cNvSpPr/>
          <p:nvPr/>
        </p:nvSpPr>
        <p:spPr>
          <a:xfrm>
            <a:off x="457200" y="12344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s bar 1"/>
          <p:cNvSpPr/>
          <p:nvPr/>
        </p:nvSpPr>
        <p:spPr>
          <a:xfrm>
            <a:off x="457200" y="123444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fs text 1"/>
          <p:cNvSpPr txBox="1"/>
          <p:nvPr/>
        </p:nvSpPr>
        <p:spPr>
          <a:xfrm>
            <a:off x="658368" y="1234440"/>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3"/>
              </a:rPr>
              <a:t>GitHub Desktop: getting started</a:t>
            </a:r>
          </a:p>
        </p:txBody>
      </p:sp>
      <p:sp>
        <p:nvSpPr>
          <p:cNvPr id="13" name="Refs row 2"/>
          <p:cNvSpPr/>
          <p:nvPr/>
        </p:nvSpPr>
        <p:spPr>
          <a:xfrm>
            <a:off x="457200" y="1764792"/>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fs bar 2"/>
          <p:cNvSpPr/>
          <p:nvPr/>
        </p:nvSpPr>
        <p:spPr>
          <a:xfrm>
            <a:off x="457200" y="1764792"/>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fs text 2"/>
          <p:cNvSpPr txBox="1"/>
          <p:nvPr/>
        </p:nvSpPr>
        <p:spPr>
          <a:xfrm>
            <a:off x="658368" y="1764792"/>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4"/>
              </a:rPr>
              <a:t>Cloning a repository in GitHub Desktop</a:t>
            </a:r>
          </a:p>
        </p:txBody>
      </p:sp>
      <p:sp>
        <p:nvSpPr>
          <p:cNvPr id="16" name="Refs row 3"/>
          <p:cNvSpPr/>
          <p:nvPr/>
        </p:nvSpPr>
        <p:spPr>
          <a:xfrm>
            <a:off x="457200" y="2295144"/>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fs bar 3"/>
          <p:cNvSpPr/>
          <p:nvPr/>
        </p:nvSpPr>
        <p:spPr>
          <a:xfrm>
            <a:off x="457200" y="2295144"/>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fs text 3"/>
          <p:cNvSpPr txBox="1"/>
          <p:nvPr/>
        </p:nvSpPr>
        <p:spPr>
          <a:xfrm>
            <a:off x="658368" y="2295144"/>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5"/>
              </a:rPr>
              <a:t>Committing, pushing and syncing</a:t>
            </a:r>
          </a:p>
        </p:txBody>
      </p:sp>
      <p:sp>
        <p:nvSpPr>
          <p:cNvPr id="19" name="Refs row 4"/>
          <p:cNvSpPr/>
          <p:nvPr/>
        </p:nvSpPr>
        <p:spPr>
          <a:xfrm>
            <a:off x="457200" y="2825496"/>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fs bar 4"/>
          <p:cNvSpPr/>
          <p:nvPr/>
        </p:nvSpPr>
        <p:spPr>
          <a:xfrm>
            <a:off x="457200" y="2825496"/>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fs text 4"/>
          <p:cNvSpPr txBox="1"/>
          <p:nvPr/>
        </p:nvSpPr>
        <p:spPr>
          <a:xfrm>
            <a:off x="658368" y="2825496"/>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6"/>
              </a:rPr>
              <a:t>Two-factor authentication</a:t>
            </a:r>
          </a:p>
        </p:txBody>
      </p:sp>
      <p:sp>
        <p:nvSpPr>
          <p:cNvPr id="22" name="Refs row 5"/>
          <p:cNvSpPr/>
          <p:nvPr/>
        </p:nvSpPr>
        <p:spPr>
          <a:xfrm>
            <a:off x="457200" y="335584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fs bar 5"/>
          <p:cNvSpPr/>
          <p:nvPr/>
        </p:nvSpPr>
        <p:spPr>
          <a:xfrm>
            <a:off x="457200" y="335584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fs text 5"/>
          <p:cNvSpPr txBox="1"/>
          <p:nvPr/>
        </p:nvSpPr>
        <p:spPr>
          <a:xfrm>
            <a:off x="658368" y="3355848"/>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7"/>
              </a:rPr>
              <a:t>Apply to GitHub Education as a student</a:t>
            </a:r>
          </a:p>
        </p:txBody>
      </p:sp>
      <p:sp>
        <p:nvSpPr>
          <p:cNvPr id="25" name="Refs row 6"/>
          <p:cNvSpPr/>
          <p:nvPr/>
        </p:nvSpPr>
        <p:spPr>
          <a:xfrm>
            <a:off x="457200" y="388620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fs bar 6"/>
          <p:cNvSpPr/>
          <p:nvPr/>
        </p:nvSpPr>
        <p:spPr>
          <a:xfrm>
            <a:off x="457200" y="388620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fs text 6"/>
          <p:cNvSpPr txBox="1"/>
          <p:nvPr/>
        </p:nvSpPr>
        <p:spPr>
          <a:xfrm>
            <a:off x="658368" y="3886200"/>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8"/>
              </a:rPr>
              <a:t>Setting repository visibility</a:t>
            </a:r>
          </a:p>
        </p:txBody>
      </p:sp>
      <p:sp>
        <p:nvSpPr>
          <p:cNvPr id="28" name="Refs row 7"/>
          <p:cNvSpPr/>
          <p:nvPr/>
        </p:nvSpPr>
        <p:spPr>
          <a:xfrm>
            <a:off x="457200" y="4416552"/>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fs bar 7"/>
          <p:cNvSpPr/>
          <p:nvPr/>
        </p:nvSpPr>
        <p:spPr>
          <a:xfrm>
            <a:off x="457200" y="4416552"/>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fs text 7"/>
          <p:cNvSpPr txBox="1"/>
          <p:nvPr/>
        </p:nvSpPr>
        <p:spPr>
          <a:xfrm>
            <a:off x="658368" y="4416552"/>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9"/>
              </a:rPr>
              <a:t>GitHub Skills: free interactive courses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Fußzeilenplatzhalter 8"/>
          <p:cNvSpPr>
            <a:spLocks noGrp="1"/>
          </p:cNvSpPr>
          <p:nvPr>
            <p:ph type="ftr" sz="quarter" idx="12"/>
          </p:nvPr>
        </p:nvSpPr>
        <p:spPr/>
        <p:txBody>
          <a:bodyPr/>
          <a:lstStyle/>
          <a:p>
            <a:r>
              <a:rPr lang="en-GB"/>
              <a:t>International Marketing Analytics · WT 2026/27</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Sample Presentation 16x10 V1.1.potx" id="{74DD536C-D372-4256-BA4D-24C734E7AF81}" vid="{99E22345-25BB-45DF-85CE-FC929AE6991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Sample presenation in format 16:10 (= WU standard)</Beschreibung>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Microsoft Office 2013/2016</Format>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1" ma:contentTypeDescription="Ein neues Dokument erstellen." ma:contentTypeScope="" ma:versionID="458c1b80f8d593bdc96b60ff34dd40b4">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2d31116d1a6b5af1b4a8b1ba7152d57a"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Freigegeben für"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Microsoft Office 2003"/>
              <xsd:enumeration value="Microsoft Office 2007-2013"/>
              <xsd:enumeration value="Microsoft Office 2013/2016"/>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929A89-D8E6-4794-A98F-6609FAAECB3B}">
  <ds:schemaRefs>
    <ds:schemaRef ds:uri="http://schemas.microsoft.com/office/2006/metadata/properties"/>
    <ds:schemaRef ds:uri="http://schemas.microsoft.com/office/infopath/2007/PartnerControls"/>
    <ds:schemaRef ds:uri="dde413db-0745-4f3a-8dca-564dc7ff6f7d"/>
    <ds:schemaRef ds:uri="08b0a3ee-3d2a-451c-9a1a-7e5d5b0c9c77"/>
    <ds:schemaRef ds:uri="1a8d9a65-8471-4209-a900-f8e11db75e0a"/>
  </ds:schemaRefs>
</ds:datastoreItem>
</file>

<file path=customXml/itemProps2.xml><?xml version="1.0" encoding="utf-8"?>
<ds:datastoreItem xmlns:ds="http://schemas.openxmlformats.org/officeDocument/2006/customXml" ds:itemID="{D81AF645-C4BF-4115-A9DE-6B087264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9857B5-BC10-4782-8A0F-717F20E5E2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WU Sample Presentation 16x10</Template>
  <TotalTime>0</TotalTime>
  <Words>1441</Words>
  <Application>Microsoft Office PowerPoint</Application>
  <PresentationFormat>Bildschirmpräsentation (16:10)</PresentationFormat>
  <Paragraphs>207</Paragraphs>
  <Slides>26</Slides>
  <Notes>26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26</vt:i4>
      </vt:variant>
    </vt:vector>
  </HeadingPairs>
  <TitlesOfParts>
    <vt:vector size="31" baseType="lpstr">
      <vt:lpstr>Arial</vt:lpstr>
      <vt:lpstr>Georgia</vt:lpstr>
      <vt:lpstr>Verdana</vt:lpstr>
      <vt:lpstr>Wingdings</vt:lpstr>
      <vt:lpstr>WU 16:10</vt:lpstr>
      <vt:lpstr>WU Presentation Template incl. Samples</vt:lpstr>
      <vt:lpstr>Basics</vt:lpstr>
      <vt:lpstr>Available slide layouts – overview</vt:lpstr>
      <vt:lpstr>Make use of the slide layouts</vt:lpstr>
      <vt:lpstr>Designing text slides</vt:lpstr>
      <vt:lpstr>Insert footer information</vt:lpstr>
      <vt:lpstr>Toner- and ink-reduced printing</vt:lpstr>
      <vt:lpstr>Sample Slides</vt:lpstr>
      <vt:lpstr>Layout „Titelfolie“ –  font Georgia 32 pt</vt:lpstr>
      <vt:lpstr>Layout „Titelfolie kurz“</vt:lpstr>
      <vt:lpstr>Layout „Titelfolie ohne Bild“ – for 2 lines of text</vt:lpstr>
      <vt:lpstr>Titleslide w/o pic. short</vt:lpstr>
      <vt:lpstr>Layout „Titelfolie Bild 2“ – for 2 lines of text</vt:lpstr>
      <vt:lpstr>Layout „Titelfolie Bild 3“ – for 2 lines of text</vt:lpstr>
      <vt:lpstr>Layout „Titel und Inhalt“ for title and content – font Georgia 24 pt</vt:lpstr>
      <vt:lpstr>Layout without footer for large graphics, tables or charts</vt:lpstr>
      <vt:lpstr>Layout “Zwei Inhalte” with two placeholders for different content types</vt:lpstr>
      <vt:lpstr>Layout „Vergleich“ – e.g. for comparison</vt:lpstr>
      <vt:lpstr>Sample table</vt:lpstr>
      <vt:lpstr>Sample for simple graphics  (based on SmartArt)</vt:lpstr>
      <vt:lpstr>Sample organizational chart  (based on SmartArt)</vt:lpstr>
      <vt:lpstr>Sample for bar chart </vt:lpstr>
      <vt:lpstr>Sample for column chart </vt:lpstr>
      <vt:lpstr>Sample for line chart </vt:lpstr>
      <vt:lpstr>Sample for doughnut chart </vt:lpstr>
      <vt:lpstr>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2023-08-25T07:52:25Z</dcterms:created>
  <dcterms:modified xsi:type="dcterms:W3CDTF">2023-08-25T07:53:01Z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0x010100BCF651A35DF3154DB01328AF51148DAE</vt:lpwstr>
  </property>
</Properties>
</file>