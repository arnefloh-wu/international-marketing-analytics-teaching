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97" r:id="rId54"/>
    <p:sldId id="298" r:id="rId55"/>
    <p:sldId id="299" r:id="rId56"/>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27.xml"/><Relationship Id="rId8" Type="http://schemas.openxmlformats.org/officeDocument/2006/relationships/slide" Target="slides/slide26.xml"/><Relationship Id="rId9" Type="http://schemas.openxmlformats.org/officeDocument/2006/relationships/slide" Target="slides/slide25.xml"/><Relationship Id="rId10" Type="http://schemas.openxmlformats.org/officeDocument/2006/relationships/slide" Target="slides/slide24.xml"/><Relationship Id="rId11" Type="http://schemas.openxmlformats.org/officeDocument/2006/relationships/slide" Target="slides/slide23.xml"/><Relationship Id="rId12" Type="http://schemas.openxmlformats.org/officeDocument/2006/relationships/slide" Target="slides/slide22.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chemeClr val="tx2"/>
                </a:solidFill>
                <a:latin typeface="+mn-lt"/>
              </a:defRPr>
            </a:pPr>
            <a:r>
              <a:t>Probability of exporting</a:t>
            </a:r>
          </a:p>
        </c:rich>
      </c:tx>
      <c:layout/>
      <c:overlay val="0"/>
    </c:title>
    <c:autoTitleDeleted val="0"/>
    <c:plotArea>
      <c:lineChart>
        <c:grouping val="standard"/>
        <c:varyColors val="0"/>
        <c:ser>
          <c:idx val="0"/>
          <c:order val="0"/>
          <c:tx>
            <c:strRef>
              <c:f>Sheet1!$B$1</c:f>
              <c:strCache>
                <c:ptCount val="1"/>
                <c:pt idx="0">
                  <c:v>Probability of exporting</c:v>
                </c:pt>
              </c:strCache>
            </c:strRef>
          </c:tx>
          <c:spPr>
            <a:ln w="38100">
              <a:solidFill>
                <a:schemeClr val="tx2"/>
              </a:solidFill>
            </a:ln>
          </c:spPr>
          <c:marker>
            <c:symbol val="none"/>
          </c:marker>
          <c:cat>
            <c:strRef>
              <c:f>Sheet1!$A$2:$A$22</c:f>
              <c:strCache>
                <c:ptCount val="21"/>
                <c:pt idx="0">
                  <c:v>-5</c:v>
                </c:pt>
                <c:pt idx="1">
                  <c:v/>
                </c:pt>
                <c:pt idx="2">
                  <c:v>-4</c:v>
                </c:pt>
                <c:pt idx="3">
                  <c:v/>
                </c:pt>
                <c:pt idx="4">
                  <c:v>-3</c:v>
                </c:pt>
                <c:pt idx="5">
                  <c:v/>
                </c:pt>
                <c:pt idx="6">
                  <c:v>-2</c:v>
                </c:pt>
                <c:pt idx="7">
                  <c:v/>
                </c:pt>
                <c:pt idx="8">
                  <c:v>-1</c:v>
                </c:pt>
                <c:pt idx="9">
                  <c:v/>
                </c:pt>
                <c:pt idx="10">
                  <c:v>0</c:v>
                </c:pt>
                <c:pt idx="11">
                  <c:v/>
                </c:pt>
                <c:pt idx="12">
                  <c:v>1</c:v>
                </c:pt>
                <c:pt idx="13">
                  <c:v/>
                </c:pt>
                <c:pt idx="14">
                  <c:v>2</c:v>
                </c:pt>
                <c:pt idx="15">
                  <c:v/>
                </c:pt>
                <c:pt idx="16">
                  <c:v>3</c:v>
                </c:pt>
                <c:pt idx="17">
                  <c:v/>
                </c:pt>
                <c:pt idx="18">
                  <c:v>4</c:v>
                </c:pt>
                <c:pt idx="19">
                  <c:v/>
                </c:pt>
                <c:pt idx="20">
                  <c:v>5</c:v>
                </c:pt>
              </c:strCache>
            </c:strRef>
          </c:cat>
          <c:val>
            <c:numRef>
              <c:f>Sheet1!$B$2:$B$22</c:f>
              <c:numCache>
                <c:formatCode>General</c:formatCode>
                <c:ptCount val="21"/>
                <c:pt idx="0">
                  <c:v>0.0067</c:v>
                </c:pt>
                <c:pt idx="1">
                  <c:v>0.011</c:v>
                </c:pt>
                <c:pt idx="2">
                  <c:v>0.018</c:v>
                </c:pt>
                <c:pt idx="3">
                  <c:v>0.0293</c:v>
                </c:pt>
                <c:pt idx="4">
                  <c:v>0.0474</c:v>
                </c:pt>
                <c:pt idx="5">
                  <c:v>0.0759</c:v>
                </c:pt>
                <c:pt idx="6">
                  <c:v>0.1192</c:v>
                </c:pt>
                <c:pt idx="7">
                  <c:v>0.1824</c:v>
                </c:pt>
                <c:pt idx="8">
                  <c:v>0.2689</c:v>
                </c:pt>
                <c:pt idx="9">
                  <c:v>0.3775</c:v>
                </c:pt>
                <c:pt idx="10">
                  <c:v>0.5</c:v>
                </c:pt>
                <c:pt idx="11">
                  <c:v>0.6225</c:v>
                </c:pt>
                <c:pt idx="12">
                  <c:v>0.7311</c:v>
                </c:pt>
                <c:pt idx="13">
                  <c:v>0.8176</c:v>
                </c:pt>
                <c:pt idx="14">
                  <c:v>0.8808</c:v>
                </c:pt>
                <c:pt idx="15">
                  <c:v>0.9241</c:v>
                </c:pt>
                <c:pt idx="16">
                  <c:v>0.9526</c:v>
                </c:pt>
                <c:pt idx="17">
                  <c:v>0.9707</c:v>
                </c:pt>
                <c:pt idx="18">
                  <c:v>0.982</c:v>
                </c:pt>
                <c:pt idx="19">
                  <c:v>0.989</c:v>
                </c:pt>
                <c:pt idx="20">
                  <c:v>0.9933</c:v>
                </c:pt>
              </c:numCache>
            </c:numRef>
          </c:val>
          <c:smooth/>
        </c:ser>
        <c:marker val="1"/>
        <c:smooth val="0"/>
        <c:axId val="2118791784"/>
        <c:axId val="2140495176"/>
      </c:lineChart>
      <c:catAx>
        <c:axId val="2118791784"/>
        <c:scaling>
          <c:orientation val="minMax"/>
        </c:scaling>
        <c:delete val="0"/>
        <c:axPos val="b"/>
        <c:title>
          <c:tx>
            <c:rich>
              <a:bodyPr/>
              <a:lstStyle/>
              <a:p>
                <a:pPr>
                  <a:defRPr sz="1100" b="0">
                    <a:latin typeface="+mn-lt"/>
                  </a:defRPr>
                </a:pPr>
                <a:r>
                  <a:t>Linear predictor (log-odds)</a:t>
                </a:r>
              </a:p>
            </c:rich>
          </c:tx>
          <c:layout/>
          <c:overlay val="0"/>
        </c:title>
        <c:majorTickMark val="out"/>
        <c:minorTickMark val="none"/>
        <c:tickLblPos val="low"/>
        <c:spPr>
          <a:ln>
            <a:solidFill>
              <a:srgbClr val="BFBFBF"/>
            </a:solidFill>
          </a:ln>
        </c:spPr>
        <c:txPr>
          <a:bodyPr/>
          <a:lstStyle/>
          <a:p>
            <a:pPr>
              <a:defRPr sz="1100">
                <a:latin typeface="+mn-lt"/>
              </a:defRPr>
            </a:pPr>
          </a:p>
        </c:txPr>
        <c:crossAx val="2140495176"/>
        <c:crosses val="autoZero"/>
        <c:auto val="1"/>
        <c:lblAlgn val="ctr"/>
        <c:lblOffset val="100"/>
        <c:noMultiLvlLbl val="0"/>
      </c:catAx>
      <c:valAx>
        <c:axId val="2140495176"/>
        <c:scaling>
          <c:max val="1.0"/>
          <c:min val="0.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100">
                <a:latin typeface="+mn-lt"/>
              </a:defRPr>
            </a:pPr>
          </a:p>
        </c:txPr>
        <c:crossAx val="2118791784"/>
        <c:crosses val="autoZero"/>
        <c:majorUnit val="0.25"/>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chemeClr val="tx2"/>
                </a:solidFill>
                <a:latin typeface="+mn-lt"/>
              </a:defRPr>
            </a:pPr>
            <a:r>
              <a:t>Change in probability for OR = 2 (percentage points)</a:t>
            </a:r>
          </a:p>
        </c:rich>
      </c:tx>
      <c:layout/>
      <c:overlay val="0"/>
    </c:title>
    <c:autoTitleDeleted val="0"/>
    <c:plotArea>
      <c:barChart>
        <c:barDir val="col"/>
        <c:grouping val="clustered"/>
        <c:ser>
          <c:idx val="0"/>
          <c:order val="0"/>
          <c:tx>
            <c:strRef>
              <c:f>Sheet1!$B$1</c:f>
              <c:strCache>
                <c:ptCount val="1"/>
                <c:pt idx="0">
                  <c:v>Change in probability for OR = 2 (percentage points)</c:v>
                </c:pt>
              </c:strCache>
            </c:strRef>
          </c:tx>
          <c:spPr>
            <a:solidFill>
              <a:schemeClr val="accent4"/>
            </a:solidFill>
          </c:spPr>
          <c:dPt>
            <c:idx val="1"/>
            <c:spPr>
              <a:solidFill>
                <a:schemeClr val="tx2"/>
              </a:solidFill>
            </c:spPr>
          </c:dPt>
          <c:cat>
            <c:strRef>
              <c:f>Sheet1!$A$2:$A$4</c:f>
              <c:strCache>
                <c:ptCount val="3"/>
                <c:pt idx="0">
                  <c:v>Baseline 5 %</c:v>
                </c:pt>
                <c:pt idx="1">
                  <c:v>Baseline 50 %</c:v>
                </c:pt>
                <c:pt idx="2">
                  <c:v>Baseline 90 %</c:v>
                </c:pt>
              </c:strCache>
            </c:strRef>
          </c:cat>
          <c:val>
            <c:numRef>
              <c:f>Sheet1!$B$2:$B$4</c:f>
              <c:numCache>
                <c:formatCode>General</c:formatCode>
                <c:ptCount val="3"/>
                <c:pt idx="0">
                  <c:v>4.5</c:v>
                </c:pt>
                <c:pt idx="1">
                  <c:v>16.7</c:v>
                </c:pt>
                <c:pt idx="2">
                  <c:v>4.7</c:v>
                </c:pt>
              </c:numCache>
            </c:numRef>
          </c:val>
        </c:ser>
        <c:dLbls>
          <c:numFmt formatCode="0.0" sourceLinked="0"/>
          <c:txPr>
            <a:bodyPr/>
            <a:lstStyle/>
            <a:p>
              <a:pPr>
                <a:defRPr sz="1300" b="1">
                  <a:solidFill>
                    <a:schemeClr val="tx2"/>
                  </a:solidFill>
                  <a:latin typeface="+mn-lt"/>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200">
                <a:latin typeface="+mn-lt"/>
              </a:defRPr>
            </a:pPr>
          </a:p>
        </c:txPr>
        <c:crossAx val="-2113994440"/>
        <c:crosses val="autoZero"/>
        <c:auto val="1"/>
        <c:lblAlgn val="ctr"/>
        <c:lblOffset val="100"/>
        <c:noMultiLvlLbl val="0"/>
      </c:catAx>
      <c:valAx>
        <c:axId val="-2113994440"/>
        <c:scaling>
          <c:max val="2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idea: logistic regression is a family of choice models, and in international marketing the main explanatory variables are differences between countries. Raw logit coefficients and odds ratios cannot be compared across countries, so we report probabilities and average marginal effects. Evidence flags in the notes: [V] bibliographic details confirmed in the research session, [P] paper found but a detail from prior knowledge, [K] from prior knowledge, check before citing, [I] inference from the research, not a published result. Full report and source sheet: reports/Logistic regression in international marketing.md.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objective per part, plus the reporting standard that ties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minutes per part in a three-hour block, including the quiz and the exercise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three minutes. Most students say yes, because 0.8 is larger than 0.5. The honest answer is: not yet known. The two coefficients come from separate country models and are scaled by each country's unexplained variation, so the gap can be noise rather than strategy. We return to these numbers in Part 4 (worked example) and in the exercise. The numbers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learn to move between log-odds, odds and probabilities, and why an odds ratio does not say 'x times as likely'.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Textbook knowledge (Hair et al. 2019, ch. 8; Long &amp; Freese 2014). The linear probability model is still useful as a robustness check, for example with 2SLS when a regressor is endogenous, but it is not the main model for a binary outcome in a thesis.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The software reports log-odds. Exponentiating gives the odds ratio. The probability is what managers and most hypotheses are about, and its change depends on where on the curve a firm sits. Ask students to point to a firm at 5 %, 50 % and 95 % on the curve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Arithmetic: p1 = OR·p0 / (1 − p0 + OR·p0). With OR = 2: 5 % becomes 9.5 %, 50 % becomes 66.7 %, 90 % becomes 94.7 %. 'Twice as likely' holds only approximately for rare outcomes, below about 10 % prevalence. Entry-mode shares and many adoption rates are far above that, so the shortcut fails exactly where IM research lives.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learn to map an outcome to the right member of the logit family and name the assumption they must defend.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Greene, Chidlow &amp; Strange (2022), International Business Review 31(4), 102011: the IB primer on multinomial choice analysis, with data formatting, estimation, tests and diagnostics. MNL uses one row per decision; conditional logit uses one row per decision × alternative. Mixed designs (both kinds of variables) are possible in the conditional-logit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Exemplars from the firm-level notes (abstracts state the model). Ordered logit: the research found no verified IM application on degree of control or degree of adaptation, which is a thesis niche. [K] Firth 1993; King &amp; Zeng 2001 for rare events. Repeated yearly choices (export each year) use dynamic random-effects probit or conditional fixed-effects logit (Roberts &amp; Tybout 1997).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Cheng &amp; Long (2007), Sociological Methods &amp; Research: Hausman–McFadden and Small–Hsiao tests have poor size properties and contradict each other; not useful in applied work. [V] Pan &amp; Tse (2000), more than 10,000 entries into China: predictors act strongly at the equity vs non-equity level and weakly below it. [V] Raff, Ryan &amp; Stähler: the sequence export/FDI, then greenfield/M&amp;A, then WOS/JV fits Japanese firms best.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Bryan &amp; Jenkins (2016), European Sociological Review: with few countries, individual-level effects are reliable but country-level effects are not. [K] The exact thresholds differ between the two research notes (25 for logit and 30 for linear models, or the reverse); treat 25–30 as a rough minimum. [K] Heisig &amp; Schaeffer (2019): include a random slope when testing a cross-level interaction. [K] Stegmueller (2013): ML confidence intervals too narrow with few countries; Bayesian estimation more robust. Multilevel logit coefficients are cluster-specific, not population-averaged.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see four decades of logit studies and learn which design answered which weakness.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Anderson &amp; Coughlan 1987, Journal of Marketing: integrated channels go with transaction-specific assets; more integration in Western Europe than in Japan or Southeast Asia. [V] Kogut &amp; Singh 1988, JIBS: MNL on 228 entries into the US; cultural distance and uncertainty avoidance favour JV or greenfield over acquisition; about 6,600 citations. [V] Pan &amp; Tse 2000. [V] Arrégle, Hébert &amp; Beamish 2006: ignoring nesting threatens validity. [V] Mas-Ruiz et al. 2025: random-coefficient probit on 3,023 distribution FDIs by 916 Spanish firms in 100 countries.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Zhao, Luo &amp; Suh 2004; Tihanyi, Griffith &amp; Russell 2005 (strong negative link only for US MNEs); Wan et al. 2023; Wulff (European Journal of Marketing) on 1,217 tests from 119 studies. [I] The inference that part of the mixed record is methodological (nested data treated as independent, interaction coefficients read as effects, multi-mode choices collapsed to binary) comes from the research notes, not from a published test.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Roberts &amp; Tybout 1997, Colombian plants, dynamic random-effects probit: prior exporting raises the probability of exporting by up to 60 percentage points. [V] Bernard &amp; Wagner: about 50 %, falling by two-thirds within a year. [V] Timoshenko: sunk costs explain at most 40 % of the persistence once learning is modelled. [V] Bernard &amp; Jensen 2004: state export promotion not significant. Economists use probit, IB journals often logit; the state-dependence conclusion does not depend on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an illustration of the data layout, not real data: one row per plant × candidate state, a 1 for the chosen state. [V] Head, Ries &amp; Swenson 1995: 751 Japanese plants; industry and keiretsu agglomeration attract plants. [V] Rasciute &amp; Pentecost 2014 (panel mixed logit, 1,100+ FDI decisions in CEE); Mataloni (country first, region second); Friedman et al. (pooling greenfield and M&amp;A hides different determinants). Gap: no retailer country-selection study with conditional logit was found.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Thøgersen, Pedersen &amp; Aschemann-Witzel (2019): choice-based conjoint, about 1,000 consumers per country in Germany, France, Denmark, China and Thailand. [V] Peterson &amp; Jolibert meta-analysis: multi-cue designs give smaller COO effects. [P] IMR 2022 HB choice study (author list to confirm): preference for German products fades once brand attitude is controlled. [V] ter Hofstede, Steenkamp &amp; Wedel 1999 (JMR, 11 EU countries) and 2002 (Marketing Science): 'countries as segments' received the lowest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Tellis, Stremersch &amp; Yin 2003, Marketing Science: 137 products, 16 European countries, discrete-time hazard model of takeoff. [V] Stremersch &amp; Tellis 2004: growth (not takeoff) explained mainly by wealth. [V] Steenkamp, ter Hofstede &amp; Wedel 1999, Journal of Marketing. [V] Nyakurukwa &amp; Seetharam 2025: random-intercept probit across 36 African countries. The culture-vs-wealth disagreement is itself a lesson about country-level inference from 16–31 countries.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Neslin et al. 2006, JMR churn tournament: method choice worth hundreds of thousands of dollars; 'Logit' and 'Tree' approaches among the most accurate (working-paper version). [V] Verbeke et al. 2012, EJOR: 11 telecom datasets from operators worldwide. [V] Stripling et al. 2018 ProfLogit: penalised logit that maximises expected maximum profit, best out-of-sample profit across 9 datasets. Gap: no study tests whether a churn model transfers across countries.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part of the session. Students learn that cross-national logit has a measurement problem and a separate scale problem, and that each needs its own remedy.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Layer 1: Steenkamp &amp; Baumgartner 1998 (JCR), invariance hierarchy. [V] Layer 2: Allison 1999; Mood 2010; Swait &amp; Louviere 1993 for choice experiments. [I] The research found no marketing paper that models response style and logit scale together in a cross-national logit. Researchers are usually told to fix layer 1, rarely layer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He, Merz &amp; Alden 2008: 28 % of 243 cross-national marketing articles (2000–2005) assessed invariance. [V] Harzing 2006: 26 countries; English-language questionnaires elicit more middle responses. [V] Tellis &amp; Chandrasekaran 2010 (IJRM), 15 countries: biases led to over-reported adoption; negatively worded items best predicted actual penetration. Remedies: De Jong et al. 2008 IRT (12,506 consumers, 26 countries), random-intercept method factors, Bayesian approximate invariance, MICOM for PLS.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warm-up. Illustrative numbers. In the latent-variable view, the logit coefficient equals the true effect divided by the scale of the unexplained variation. If Hungarian export decisions depend on more unobserved factors, the same true effect gives a smaller coefficient. [V] Allison 1999; [V] Mood 2010: adding a covariate uncorrelated with X still changes X's coefficient. Remedies: [V] Long 2009 (compare predicted probabilities); [V] Williams 2009 (heterogeneous choice); [V] Karlson, Holm &amp; Breen 2012 (KHB). [V] Tutz 2018: heterogeneous-choice models can be equivalent to interaction models, so noise and effect cannot always be told apart.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Swait &amp; Louviere 1993, JMR: identical true preferences with different noise 'will necessarily differ in magnitude'; their two-step likelihood-ratio test separates parameter equality from scale equality. [V] Fiebig et al. 2010, Marketing Science. [V] Wright et al. 2018: review of 626 health DCEs. [V] Chen et al. 2018: Brussels vs Guangzhou, similar preferences but much larger scale heterogeneity in Guangzhou. Counterpoint: Hess &amp; Rose 2012 and Hess &amp; Train 2017 argue scale and taste heterogeneity cannot be fully separated.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learn the reporting standard that the strategy and IB methods literature has converged on, and practise it in Python.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Hoetker 2007 (SMJ 28(4)); Wiersema &amp; Bowen 2009 (SMJ 30(6)): significance of marginal effects must be computed per observation; Zelner 2009 (SMJ 30(12)): report differences in predicted probabilities for meaningful changes. [V] Arel-Bundock, Model to Meaning (CRC 2026), free at marginaleffects.com.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Ai &amp; Norton 2003, Economics Letters 80(1): the interaction effect on the probability scale is a cross-partial derivative; it varies by observation, can be non-zero when the coefficient is zero, and can have the opposite sign. [K] In their review of 1980–1999 economics articles none interpreted it correctly. [V] Mize 2019, Sociological Science 6: plot predictions, then marginal effects at chosen moderator values, then second differences. [V] Jeong, Siegel, Chen &amp; Newey 2020 (SMJ): recentering approach. The interaction coefficient is still a valid ratio of odds ratios; decide whether the hypothesis is about odds or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stack: statsmodels' smf.logit works like smf.ols. get_margeff(dummy=True) returns average marginal effects in probability units, with R&amp;D treated as a 0/1 switch. ame_rd() (defined in the qmd) predicts every firm with rd = 1 and rd = 0 and averages the difference within each country: the cross-country comparison on the probability scale (avg_comparisons in R's marginaleffects). get_prediction() gives the probability for a profile with a 95 % confidence interval; plotnine draws the curve. The data are simulated so that the separate country logits reproduce the warm-up (0.80 in Germany, 0.50 in Hungary) with the same true effect; the marginal effects are about 10 and 12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from the report's checklist. [K] Terza, Basu &amp; Rathouz 2008: two-stage residual inclusion is consistent, the 'forbidden regression' is not. [V] Wolfolds &amp; Siegel 2019: only 54 of 165 strategy papers claimed a valid exclusion restriction for Heckman. [K] Meyer, van Witteloostuijn &amp; Beugelsdijk 2017 (JIBS) on p-values: verify the DOI before citing. Hosmer–Lemeshow is over-powered in large samples.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Wolfolds &amp; Siegel 2019, SMJ 40(3). [V] Nielsen &amp; Raswant 2018, JWB 53(6): 83 % of 246 top-IB studies met only half of a proposed minimum standard for control variables. [V] Reeb, Sakakibara &amp; Mahmood 2012, JIBS 43(3): state how the design approximates an experiment. [K] Rivers–Vuong control function; Petrin &amp; Train 2010 for endogenous price; Gaussian copulas (Park &amp; Gupta 2012) with boundary conditions (Becker et al. 2022). [V] Hult et al. 2018 (JIM) targets PLS-SEM and regression, not limited dependent variables: a gap.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EU-EFIGE truncated file under CC-BY 4.0 (Bruegel, ZBW). [V] Flash Eurobarometer 421 and 397 at GESIS. [V] Enterprise Surveys: free with registration and a confidentiality agreement; the portal warns against pooling surveys that did and did not follow its Global Methodology, itself a comparability lesson. [P] Global Findex 2021 figures from the consumer notes. [V] UCI Bank Marketing, cite Moro et al. 2014. Country counts decide what multilevel inference is possible: Findex yes, Eurobarometer borderline, EFIGE fixed effects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anchors per session: (1) Hair et al. ch. 8, Darden note M-0859, StatQuest; (2) Model to Meaning, Hoetker 2007, Darden case UVA-QA-0806 'Predicting Customer Churn at QWE Inc.'; (3) Kogut &amp; Singh 1988, Pan &amp; Tse 2000, Wulff, Greene et al. 2022; (4) Ai &amp; Norton 2003, Mize 2019, Jeong et al. 2020; (5) Mood 2010, Allison 1999, Steenkamp &amp; Baumgartner 1998, Bryan &amp; Jenkins 2016; (6) Swait &amp; Louviere 1993, Head, Ries &amp; Swenson 1995, Chapman &amp; Feit ch. 13. No verified teaching case uses logit in an international setting; build it from EFIGE or Eurobarometer.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35 minutes, with the simulated EFIGE-style data and the Python code (sessions/01-foundations/logit_exports.qmd). Expected finding: R&amp;D coefficients 0.80 in Germany and 0.50 in Hungary, but marginal effects of about 10 and 12 percentage points: the ranking flips, because German SMEs already export at 84 % where the S-curve is flat. Debrief: which number would you put in a board memo, and why?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niche is a documented gap in the research notes (no verified study found), not a claim that no study exists anywhere. Students should run their own search before committing.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source list with 321 entries: Google Sheet 'Logistic regression in international marketing – sources' and reports/Logistic regression in international marketing.md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come from the template (layout Abschlussfolie Kontakt).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simple table students can check with a calculator: 200 German SMEs, 100 with R&amp;D and 100 without. Probability = exporters / firms. Odds = p / (1 - p): the number of exporters per non-exporter. With R&amp;D: 80 exporters and 20 non-exporters, odds 80 / 20 = 4.0 (four to one). Without R&amp;D: 60 and 40, odds 1.5 (three to two). Odds of 1 mean 50:50; odds run from 0 to infinity, probabilities from 0 to 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Odds ratio = odds with R&amp;D / odds without = 4.0 / 1.5 = 2.67: R&amp;D multiplies the odds of exporting by 2.67. It does not make exporting 2.67 times as likely: the probability rises from 0.60 to 0.80, a ratio of 1.33 and a difference of 20 percentage points. Log-odds = ln(odds): ln 4.0 = 1.39, ln 1.5 = 0.41. Their difference, 0.98, is ln 2.67: exactly the coefficient a logit of exporter on rd gives for these 200 firms, and the intercept 0.41 is the log-odds of the firms without R&amp;D. Back to probability: p = odds / (1 + odds) = 4.0 / 5.0 = 0.80, or p = 1 / (1 + e^-1.39) = 0.80.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calculator or Python.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9.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4.pn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Learning objectives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bjective 1"/>
          <p:cNvSpPr/>
          <p:nvPr/>
        </p:nvSpPr>
        <p:spPr>
          <a:xfrm>
            <a:off x="457200" y="1325880"/>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bjective 1" descr=""/>
          <p:cNvPicPr>
            <a:picLocks noChangeAspect="1"/>
          </p:cNvPicPr>
          <p:nvPr/>
        </p:nvPicPr>
        <p:blipFill>
          <a:blip r:embed="rId3"/>
          <a:stretch>
            <a:fillRect/>
          </a:stretch>
        </p:blipFill>
        <p:spPr>
          <a:xfrm>
            <a:off x="612648" y="1435608"/>
            <a:ext cx="310896" cy="310896"/>
          </a:xfrm>
          <a:prstGeom prst="rect">
            <a:avLst/>
          </a:prstGeom>
        </p:spPr>
      </p:pic>
      <p:sp>
        <p:nvSpPr>
          <p:cNvPr id="12" name="Objective text 1"/>
          <p:cNvSpPr txBox="1"/>
          <p:nvPr/>
        </p:nvSpPr>
        <p:spPr>
          <a:xfrm>
            <a:off x="1097280" y="1325880"/>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Choose the model:  </a:t>
            </a:r>
            <a:r>
              <a:rPr sz="1300" b="0" lang="en-GB">
                <a:solidFill>
                  <a:schemeClr val="tx1"/>
                </a:solidFill>
              </a:rPr>
              <a:t>binary, multinomial, conditional, nested, ordinal or multilevel logit</a:t>
            </a:r>
          </a:p>
        </p:txBody>
      </p:sp>
      <p:sp>
        <p:nvSpPr>
          <p:cNvPr id="13" name="Objective 2"/>
          <p:cNvSpPr/>
          <p:nvPr/>
        </p:nvSpPr>
        <p:spPr>
          <a:xfrm>
            <a:off x="457200" y="1947672"/>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Objective 2" descr=""/>
          <p:cNvPicPr>
            <a:picLocks noChangeAspect="1"/>
          </p:cNvPicPr>
          <p:nvPr/>
        </p:nvPicPr>
        <p:blipFill>
          <a:blip r:embed="rId4"/>
          <a:stretch>
            <a:fillRect/>
          </a:stretch>
        </p:blipFill>
        <p:spPr>
          <a:xfrm>
            <a:off x="612648" y="2057400"/>
            <a:ext cx="310896" cy="310896"/>
          </a:xfrm>
          <a:prstGeom prst="rect">
            <a:avLst/>
          </a:prstGeom>
        </p:spPr>
      </p:pic>
      <p:sp>
        <p:nvSpPr>
          <p:cNvPr id="15" name="Objective text 2"/>
          <p:cNvSpPr txBox="1"/>
          <p:nvPr/>
        </p:nvSpPr>
        <p:spPr>
          <a:xfrm>
            <a:off x="1097280" y="1947672"/>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Know the applications:  </a:t>
            </a:r>
            <a:r>
              <a:rPr sz="1300" b="0" lang="en-GB">
                <a:solidFill>
                  <a:schemeClr val="tx1"/>
                </a:solidFill>
              </a:rPr>
              <a:t>entry mode, exporting, market selection, consumer choice, churn</a:t>
            </a:r>
          </a:p>
        </p:txBody>
      </p:sp>
      <p:sp>
        <p:nvSpPr>
          <p:cNvPr id="16" name="Objective 3"/>
          <p:cNvSpPr/>
          <p:nvPr/>
        </p:nvSpPr>
        <p:spPr>
          <a:xfrm>
            <a:off x="457200" y="2569464"/>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Objective 3" descr=""/>
          <p:cNvPicPr>
            <a:picLocks noChangeAspect="1"/>
          </p:cNvPicPr>
          <p:nvPr/>
        </p:nvPicPr>
        <p:blipFill>
          <a:blip r:embed="rId5"/>
          <a:stretch>
            <a:fillRect/>
          </a:stretch>
        </p:blipFill>
        <p:spPr>
          <a:xfrm>
            <a:off x="612648" y="2679192"/>
            <a:ext cx="310896" cy="310896"/>
          </a:xfrm>
          <a:prstGeom prst="rect">
            <a:avLst/>
          </a:prstGeom>
        </p:spPr>
      </p:pic>
      <p:sp>
        <p:nvSpPr>
          <p:cNvPr id="18" name="Objective text 3"/>
          <p:cNvSpPr txBox="1"/>
          <p:nvPr/>
        </p:nvSpPr>
        <p:spPr>
          <a:xfrm>
            <a:off x="1097280" y="2569464"/>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Compare countries correctly:  </a:t>
            </a:r>
            <a:r>
              <a:rPr sz="1300" b="0" lang="en-GB">
                <a:solidFill>
                  <a:schemeClr val="tx1"/>
                </a:solidFill>
              </a:rPr>
              <a:t>measurement invariance and the logit scale problem</a:t>
            </a:r>
          </a:p>
        </p:txBody>
      </p:sp>
      <p:sp>
        <p:nvSpPr>
          <p:cNvPr id="19" name="Objective 4"/>
          <p:cNvSpPr/>
          <p:nvPr/>
        </p:nvSpPr>
        <p:spPr>
          <a:xfrm>
            <a:off x="457200" y="3191256"/>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bjective 4" descr=""/>
          <p:cNvPicPr>
            <a:picLocks noChangeAspect="1"/>
          </p:cNvPicPr>
          <p:nvPr/>
        </p:nvPicPr>
        <p:blipFill>
          <a:blip r:embed="rId6"/>
          <a:stretch>
            <a:fillRect/>
          </a:stretch>
        </p:blipFill>
        <p:spPr>
          <a:xfrm>
            <a:off x="612648" y="3300984"/>
            <a:ext cx="310896" cy="310896"/>
          </a:xfrm>
          <a:prstGeom prst="rect">
            <a:avLst/>
          </a:prstGeom>
        </p:spPr>
      </p:pic>
      <p:sp>
        <p:nvSpPr>
          <p:cNvPr id="21" name="Objective text 4"/>
          <p:cNvSpPr txBox="1"/>
          <p:nvPr/>
        </p:nvSpPr>
        <p:spPr>
          <a:xfrm>
            <a:off x="1097280" y="3191256"/>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Interpret results:  </a:t>
            </a:r>
            <a:r>
              <a:rPr sz="1300" b="0" lang="en-GB">
                <a:solidFill>
                  <a:schemeClr val="tx1"/>
                </a:solidFill>
              </a:rPr>
              <a:t>odds ratios, average marginal effects, predicted probabilities</a:t>
            </a:r>
          </a:p>
        </p:txBody>
      </p:sp>
      <p:sp>
        <p:nvSpPr>
          <p:cNvPr id="22" name="Objective 5"/>
          <p:cNvSpPr/>
          <p:nvPr/>
        </p:nvSpPr>
        <p:spPr>
          <a:xfrm>
            <a:off x="457200" y="3813048"/>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Objective 5" descr=""/>
          <p:cNvPicPr>
            <a:picLocks noChangeAspect="1"/>
          </p:cNvPicPr>
          <p:nvPr/>
        </p:nvPicPr>
        <p:blipFill>
          <a:blip r:embed="rId7"/>
          <a:stretch>
            <a:fillRect/>
          </a:stretch>
        </p:blipFill>
        <p:spPr>
          <a:xfrm>
            <a:off x="612648" y="3922776"/>
            <a:ext cx="310896" cy="310896"/>
          </a:xfrm>
          <a:prstGeom prst="rect">
            <a:avLst/>
          </a:prstGeom>
        </p:spPr>
      </p:pic>
      <p:sp>
        <p:nvSpPr>
          <p:cNvPr id="24" name="Objective text 5"/>
          <p:cNvSpPr txBox="1"/>
          <p:nvPr/>
        </p:nvSpPr>
        <p:spPr>
          <a:xfrm>
            <a:off x="1097280" y="3813048"/>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Test interactions:  </a:t>
            </a:r>
            <a:r>
              <a:rPr sz="1300" b="0" lang="en-GB">
                <a:solidFill>
                  <a:schemeClr val="tx1"/>
                </a:solidFill>
              </a:rPr>
              <a:t>on the probability scale, not from the product term</a:t>
            </a:r>
          </a:p>
        </p:txBody>
      </p:sp>
      <p:sp>
        <p:nvSpPr>
          <p:cNvPr id="25" name="Objective 6"/>
          <p:cNvSpPr/>
          <p:nvPr/>
        </p:nvSpPr>
        <p:spPr>
          <a:xfrm>
            <a:off x="457200" y="4434840"/>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Objective 6" descr=""/>
          <p:cNvPicPr>
            <a:picLocks noChangeAspect="1"/>
          </p:cNvPicPr>
          <p:nvPr/>
        </p:nvPicPr>
        <p:blipFill>
          <a:blip r:embed="rId8"/>
          <a:stretch>
            <a:fillRect/>
          </a:stretch>
        </p:blipFill>
        <p:spPr>
          <a:xfrm>
            <a:off x="612648" y="4544568"/>
            <a:ext cx="310896" cy="310896"/>
          </a:xfrm>
          <a:prstGeom prst="rect">
            <a:avLst/>
          </a:prstGeom>
        </p:spPr>
      </p:pic>
      <p:sp>
        <p:nvSpPr>
          <p:cNvPr id="27" name="Objective text 6"/>
          <p:cNvSpPr txBox="1"/>
          <p:nvPr/>
        </p:nvSpPr>
        <p:spPr>
          <a:xfrm>
            <a:off x="1097280" y="4434840"/>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Report to standard:  </a:t>
            </a:r>
            <a:r>
              <a:rPr sz="1300" b="0" lang="en-GB">
                <a:solidFill>
                  <a:schemeClr val="tx1"/>
                </a:solidFill>
              </a:rPr>
              <a:t>a checklist for theses and papers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Session roadmap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admap step 1"/>
          <p:cNvSpPr/>
          <p:nvPr/>
        </p:nvSpPr>
        <p:spPr>
          <a:xfrm>
            <a:off x="457200" y="1325880"/>
            <a:ext cx="1733702"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400" b="1" lang="en-GB">
                <a:solidFill>
                  <a:schemeClr val="tx2"/>
                </a:solidFill>
              </a:rPr>
              <a:t>1</a:t>
            </a:r>
          </a:p>
        </p:txBody>
      </p:sp>
      <p:sp>
        <p:nvSpPr>
          <p:cNvPr id="11" name="Roadmap step 2"/>
          <p:cNvSpPr/>
          <p:nvPr/>
        </p:nvSpPr>
        <p:spPr>
          <a:xfrm>
            <a:off x="2081174"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2</a:t>
            </a:r>
          </a:p>
        </p:txBody>
      </p:sp>
      <p:sp>
        <p:nvSpPr>
          <p:cNvPr id="12" name="Roadmap step 3"/>
          <p:cNvSpPr/>
          <p:nvPr/>
        </p:nvSpPr>
        <p:spPr>
          <a:xfrm>
            <a:off x="3705149"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3</a:t>
            </a:r>
          </a:p>
        </p:txBody>
      </p:sp>
      <p:sp>
        <p:nvSpPr>
          <p:cNvPr id="13" name="Roadmap step 4"/>
          <p:cNvSpPr/>
          <p:nvPr/>
        </p:nvSpPr>
        <p:spPr>
          <a:xfrm>
            <a:off x="5329123"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4</a:t>
            </a:r>
          </a:p>
        </p:txBody>
      </p:sp>
      <p:sp>
        <p:nvSpPr>
          <p:cNvPr id="14" name="Roadmap step 5"/>
          <p:cNvSpPr/>
          <p:nvPr/>
        </p:nvSpPr>
        <p:spPr>
          <a:xfrm>
            <a:off x="6953098"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5</a:t>
            </a:r>
          </a:p>
        </p:txBody>
      </p:sp>
      <p:sp>
        <p:nvSpPr>
          <p:cNvPr id="15" name="Roadmap part 1 box"/>
          <p:cNvSpPr/>
          <p:nvPr/>
        </p:nvSpPr>
        <p:spPr>
          <a:xfrm>
            <a:off x="475488"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admap part 1 text"/>
          <p:cNvSpPr txBox="1"/>
          <p:nvPr/>
        </p:nvSpPr>
        <p:spPr>
          <a:xfrm>
            <a:off x="566928"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Foundations</a:t>
            </a:r>
          </a:p>
          <a:p>
            <a:pPr algn="l">
              <a:spcAft>
                <a:spcPts val="600"/>
              </a:spcAft>
            </a:pPr>
            <a:r>
              <a:rPr sz="1200" b="0" lang="en-GB">
                <a:solidFill>
                  <a:schemeClr val="tx1"/>
                </a:solidFill>
              </a:rPr>
              <a:t>Odds, probabilities, the S-curve</a:t>
            </a:r>
          </a:p>
        </p:txBody>
      </p:sp>
      <p:sp>
        <p:nvSpPr>
          <p:cNvPr id="17" name="Roadmap part 2 box"/>
          <p:cNvSpPr/>
          <p:nvPr/>
        </p:nvSpPr>
        <p:spPr>
          <a:xfrm>
            <a:off x="2099462"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admap part 2 text"/>
          <p:cNvSpPr txBox="1"/>
          <p:nvPr/>
        </p:nvSpPr>
        <p:spPr>
          <a:xfrm>
            <a:off x="2190902"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Model family</a:t>
            </a:r>
          </a:p>
          <a:p>
            <a:pPr algn="l">
              <a:spcAft>
                <a:spcPts val="600"/>
              </a:spcAft>
            </a:pPr>
            <a:r>
              <a:rPr sz="1200" b="0" lang="en-GB">
                <a:solidFill>
                  <a:schemeClr val="tx1"/>
                </a:solidFill>
              </a:rPr>
              <a:t>Who or what drives the choice</a:t>
            </a:r>
          </a:p>
        </p:txBody>
      </p:sp>
      <p:sp>
        <p:nvSpPr>
          <p:cNvPr id="19" name="Roadmap part 3 box"/>
          <p:cNvSpPr/>
          <p:nvPr/>
        </p:nvSpPr>
        <p:spPr>
          <a:xfrm>
            <a:off x="3723437"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admap part 3 text"/>
          <p:cNvSpPr txBox="1"/>
          <p:nvPr/>
        </p:nvSpPr>
        <p:spPr>
          <a:xfrm>
            <a:off x="3814877"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Applications</a:t>
            </a:r>
          </a:p>
          <a:p>
            <a:pPr algn="l">
              <a:spcAft>
                <a:spcPts val="600"/>
              </a:spcAft>
            </a:pPr>
            <a:r>
              <a:rPr sz="1200" b="0" lang="en-GB">
                <a:solidFill>
                  <a:schemeClr val="tx1"/>
                </a:solidFill>
              </a:rPr>
              <a:t>Entry, export, markets, consumers</a:t>
            </a:r>
          </a:p>
        </p:txBody>
      </p:sp>
      <p:sp>
        <p:nvSpPr>
          <p:cNvPr id="21" name="Roadmap part 4 box"/>
          <p:cNvSpPr/>
          <p:nvPr/>
        </p:nvSpPr>
        <p:spPr>
          <a:xfrm>
            <a:off x="5347411"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admap part 4 text"/>
          <p:cNvSpPr txBox="1"/>
          <p:nvPr/>
        </p:nvSpPr>
        <p:spPr>
          <a:xfrm>
            <a:off x="5438851"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Countries</a:t>
            </a:r>
          </a:p>
          <a:p>
            <a:pPr algn="l">
              <a:spcAft>
                <a:spcPts val="600"/>
              </a:spcAft>
            </a:pPr>
            <a:r>
              <a:rPr sz="1200" b="0" lang="en-GB">
                <a:solidFill>
                  <a:schemeClr val="tx1"/>
                </a:solidFill>
              </a:rPr>
              <a:t>Two layers of comparability</a:t>
            </a:r>
          </a:p>
        </p:txBody>
      </p:sp>
      <p:sp>
        <p:nvSpPr>
          <p:cNvPr id="23" name="Roadmap part 5 box"/>
          <p:cNvSpPr/>
          <p:nvPr/>
        </p:nvSpPr>
        <p:spPr>
          <a:xfrm>
            <a:off x="6971386"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admap part 5 text"/>
          <p:cNvSpPr txBox="1"/>
          <p:nvPr/>
        </p:nvSpPr>
        <p:spPr>
          <a:xfrm>
            <a:off x="7062826"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Reporting</a:t>
            </a:r>
          </a:p>
          <a:p>
            <a:pPr algn="l">
              <a:spcAft>
                <a:spcPts val="600"/>
              </a:spcAft>
            </a:pPr>
            <a:r>
              <a:rPr sz="1200" b="0" lang="en-GB">
                <a:solidFill>
                  <a:schemeClr val="tx1"/>
                </a:solidFill>
              </a:rPr>
              <a:t>Marginal effects, checklist, data</a:t>
            </a:r>
          </a:p>
        </p:txBody>
      </p:sp>
      <p:sp>
        <p:nvSpPr>
          <p:cNvPr id="25" name="Roadmap logic box"/>
          <p:cNvSpPr/>
          <p:nvPr/>
        </p:nvSpPr>
        <p:spPr>
          <a:xfrm>
            <a:off x="457200" y="34747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admap logic text"/>
          <p:cNvSpPr txBox="1"/>
          <p:nvPr/>
        </p:nvSpPr>
        <p:spPr>
          <a:xfrm>
            <a:off x="594360" y="3584448"/>
            <a:ext cx="7955280" cy="557784"/>
          </a:xfrm>
          <a:prstGeom prst="rect">
            <a:avLst/>
          </a:prstGeom>
          <a:noFill/>
        </p:spPr>
        <p:txBody>
          <a:bodyPr wrap="square" lIns="0" rIns="0" tIns="0" bIns="0" anchor="ctr">
            <a:noAutofit/>
          </a:bodyPr>
          <a:lstStyle/>
          <a:p>
            <a:pPr algn="l">
              <a:spcAft>
                <a:spcPts val="400"/>
              </a:spcAft>
            </a:pPr>
            <a:r>
              <a:rPr sz="1300" b="1" lang="en-GB">
                <a:solidFill>
                  <a:schemeClr val="bg1"/>
                </a:solidFill>
              </a:rPr>
              <a:t>One rule for today: </a:t>
            </a:r>
            <a:r>
              <a:rPr sz="1300" b="0" lang="en-GB">
                <a:solidFill>
                  <a:schemeClr val="bg1"/>
                </a:solidFill>
              </a:rPr>
              <a:t>compare probabilities across countries, not coefficients.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we start: does R&amp;D matter more in Germany?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m-up question box"/>
          <p:cNvSpPr/>
          <p:nvPr/>
        </p:nvSpPr>
        <p:spPr>
          <a:xfrm>
            <a:off x="457200" y="1325880"/>
            <a:ext cx="3931920" cy="3520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m-up question"/>
          <p:cNvSpPr txBox="1"/>
          <p:nvPr/>
        </p:nvSpPr>
        <p:spPr>
          <a:xfrm>
            <a:off x="731520" y="1600200"/>
            <a:ext cx="3383280" cy="2971800"/>
          </a:xfrm>
          <a:prstGeom prst="rect">
            <a:avLst/>
          </a:prstGeom>
          <a:noFill/>
        </p:spPr>
        <p:txBody>
          <a:bodyPr wrap="square" lIns="0" rIns="0" tIns="0" bIns="0" anchor="ctr">
            <a:noAutofit/>
          </a:bodyPr>
          <a:lstStyle/>
          <a:p>
            <a:pPr algn="l">
              <a:spcAft>
                <a:spcPts val="1400"/>
              </a:spcAft>
            </a:pPr>
            <a:r>
              <a:rPr sz="1500" b="0" lang="en-GB">
                <a:solidFill>
                  <a:schemeClr val="bg1"/>
                </a:solidFill>
              </a:rPr>
              <a:t>Two logit models of export status, one per country:</a:t>
            </a:r>
          </a:p>
          <a:p>
            <a:pPr algn="l">
              <a:spcAft>
                <a:spcPts val="1400"/>
              </a:spcAft>
            </a:pPr>
            <a:r>
              <a:rPr sz="2200" b="1" lang="en-GB">
                <a:solidFill>
                  <a:schemeClr val="bg1"/>
                </a:solidFill>
                <a:latin typeface="+mj-lt"/>
              </a:rPr>
              <a:t>R&amp;D coefficient: 0.8 in Germany, 0.5 in Hungary.</a:t>
            </a:r>
          </a:p>
        </p:txBody>
      </p:sp>
      <p:sp>
        <p:nvSpPr>
          <p:cNvPr id="12" name="Test question 1"/>
          <p:cNvSpPr/>
          <p:nvPr/>
        </p:nvSpPr>
        <p:spPr>
          <a:xfrm>
            <a:off x="4572000" y="1325880"/>
            <a:ext cx="4114800" cy="10881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Test question 1" descr=""/>
          <p:cNvPicPr>
            <a:picLocks noChangeAspect="1"/>
          </p:cNvPicPr>
          <p:nvPr/>
        </p:nvPicPr>
        <p:blipFill>
          <a:blip r:embed="rId3"/>
          <a:stretch>
            <a:fillRect/>
          </a:stretch>
        </p:blipFill>
        <p:spPr>
          <a:xfrm>
            <a:off x="4727448" y="1508760"/>
            <a:ext cx="310896" cy="310896"/>
          </a:xfrm>
          <a:prstGeom prst="rect">
            <a:avLst/>
          </a:prstGeom>
        </p:spPr>
      </p:pic>
      <p:sp>
        <p:nvSpPr>
          <p:cNvPr id="14" name="Test question text 1"/>
          <p:cNvSpPr txBox="1"/>
          <p:nvPr/>
        </p:nvSpPr>
        <p:spPr>
          <a:xfrm>
            <a:off x="5212080" y="1435608"/>
            <a:ext cx="3337560" cy="868680"/>
          </a:xfrm>
          <a:prstGeom prst="rect">
            <a:avLst/>
          </a:prstGeom>
          <a:noFill/>
        </p:spPr>
        <p:txBody>
          <a:bodyPr wrap="square" lIns="0" rIns="0" tIns="0" bIns="0" anchor="t">
            <a:noAutofit/>
          </a:bodyPr>
          <a:lstStyle/>
          <a:p>
            <a:pPr algn="l">
              <a:spcAft>
                <a:spcPts val="300"/>
              </a:spcAft>
            </a:pPr>
            <a:r>
              <a:rPr sz="1300" b="1" lang="en-GB">
                <a:solidFill>
                  <a:schemeClr val="tx2"/>
                </a:solidFill>
              </a:rPr>
              <a:t>What does 0.8 mean?</a:t>
            </a:r>
          </a:p>
          <a:p>
            <a:pPr algn="l">
              <a:spcAft>
                <a:spcPts val="300"/>
              </a:spcAft>
            </a:pPr>
            <a:r>
              <a:rPr sz="1300" b="0" lang="en-GB">
                <a:solidFill>
                  <a:schemeClr val="tx1"/>
                </a:solidFill>
              </a:rPr>
              <a:t>Log-odds, odds or probability?</a:t>
            </a:r>
          </a:p>
        </p:txBody>
      </p:sp>
      <p:sp>
        <p:nvSpPr>
          <p:cNvPr id="15" name="Test question 2"/>
          <p:cNvSpPr/>
          <p:nvPr/>
        </p:nvSpPr>
        <p:spPr>
          <a:xfrm>
            <a:off x="4572000" y="2523744"/>
            <a:ext cx="4114800" cy="10881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Test question 2" descr=""/>
          <p:cNvPicPr>
            <a:picLocks noChangeAspect="1"/>
          </p:cNvPicPr>
          <p:nvPr/>
        </p:nvPicPr>
        <p:blipFill>
          <a:blip r:embed="rId4"/>
          <a:stretch>
            <a:fillRect/>
          </a:stretch>
        </p:blipFill>
        <p:spPr>
          <a:xfrm>
            <a:off x="4727448" y="2706624"/>
            <a:ext cx="310896" cy="310896"/>
          </a:xfrm>
          <a:prstGeom prst="rect">
            <a:avLst/>
          </a:prstGeom>
        </p:spPr>
      </p:pic>
      <p:sp>
        <p:nvSpPr>
          <p:cNvPr id="17" name="Test question text 2"/>
          <p:cNvSpPr txBox="1"/>
          <p:nvPr/>
        </p:nvSpPr>
        <p:spPr>
          <a:xfrm>
            <a:off x="5212080" y="2633472"/>
            <a:ext cx="3337560" cy="868680"/>
          </a:xfrm>
          <a:prstGeom prst="rect">
            <a:avLst/>
          </a:prstGeom>
          <a:noFill/>
        </p:spPr>
        <p:txBody>
          <a:bodyPr wrap="square" lIns="0" rIns="0" tIns="0" bIns="0" anchor="t">
            <a:noAutofit/>
          </a:bodyPr>
          <a:lstStyle/>
          <a:p>
            <a:pPr algn="l">
              <a:spcAft>
                <a:spcPts val="300"/>
              </a:spcAft>
            </a:pPr>
            <a:r>
              <a:rPr sz="1300" b="1" lang="en-GB">
                <a:solidFill>
                  <a:schemeClr val="tx2"/>
                </a:solidFill>
              </a:rPr>
              <a:t>Can you compare 0.8 and 0.5?</a:t>
            </a:r>
          </a:p>
          <a:p>
            <a:pPr algn="l">
              <a:spcAft>
                <a:spcPts val="300"/>
              </a:spcAft>
            </a:pPr>
            <a:r>
              <a:rPr sz="1300" b="0" lang="en-GB">
                <a:solidFill>
                  <a:schemeClr val="tx1"/>
                </a:solidFill>
              </a:rPr>
              <a:t>What else differs between the two samples?</a:t>
            </a:r>
          </a:p>
        </p:txBody>
      </p:sp>
      <p:sp>
        <p:nvSpPr>
          <p:cNvPr id="18" name="Test question 3"/>
          <p:cNvSpPr/>
          <p:nvPr/>
        </p:nvSpPr>
        <p:spPr>
          <a:xfrm>
            <a:off x="4572000" y="3721608"/>
            <a:ext cx="4114800" cy="10881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Test question 3" descr=""/>
          <p:cNvPicPr>
            <a:picLocks noChangeAspect="1"/>
          </p:cNvPicPr>
          <p:nvPr/>
        </p:nvPicPr>
        <p:blipFill>
          <a:blip r:embed="rId5"/>
          <a:stretch>
            <a:fillRect/>
          </a:stretch>
        </p:blipFill>
        <p:spPr>
          <a:xfrm>
            <a:off x="4727448" y="3904488"/>
            <a:ext cx="310896" cy="310896"/>
          </a:xfrm>
          <a:prstGeom prst="rect">
            <a:avLst/>
          </a:prstGeom>
        </p:spPr>
      </p:pic>
      <p:sp>
        <p:nvSpPr>
          <p:cNvPr id="20" name="Test question text 3"/>
          <p:cNvSpPr txBox="1"/>
          <p:nvPr/>
        </p:nvSpPr>
        <p:spPr>
          <a:xfrm>
            <a:off x="5212080" y="3831336"/>
            <a:ext cx="3337560" cy="868680"/>
          </a:xfrm>
          <a:prstGeom prst="rect">
            <a:avLst/>
          </a:prstGeom>
          <a:noFill/>
        </p:spPr>
        <p:txBody>
          <a:bodyPr wrap="square" lIns="0" rIns="0" tIns="0" bIns="0" anchor="t">
            <a:noAutofit/>
          </a:bodyPr>
          <a:lstStyle/>
          <a:p>
            <a:pPr algn="l">
              <a:spcAft>
                <a:spcPts val="300"/>
              </a:spcAft>
            </a:pPr>
            <a:r>
              <a:rPr sz="1300" b="1" lang="en-GB">
                <a:solidFill>
                  <a:schemeClr val="tx2"/>
                </a:solidFill>
              </a:rPr>
              <a:t>What would you report instead?</a:t>
            </a:r>
          </a:p>
          <a:p>
            <a:pPr algn="l">
              <a:spcAft>
                <a:spcPts val="300"/>
              </a:spcAft>
            </a:pPr>
            <a:r>
              <a:rPr sz="1300" b="0" lang="en-GB">
                <a:solidFill>
                  <a:schemeClr val="tx1"/>
                </a:solidFill>
              </a:rPr>
              <a:t>Think about what a manager wants to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why logit, three scales, odds ratios</a:t>
            </a:r>
          </a:p>
        </p:txBody>
      </p:sp>
      <p:sp>
        <p:nvSpPr>
          <p:cNvPr id="3" name="Title 2"/>
          <p:cNvSpPr>
            <a:spLocks noGrp="1"/>
          </p:cNvSpPr>
          <p:nvPr>
            <p:ph type="ctrTitle"/>
          </p:nvPr>
        </p:nvSpPr>
        <p:spPr/>
        <p:txBody>
          <a:bodyPr/>
          <a:lstStyle/>
          <a:p>
            <a:r>
              <a:rPr lang="en-GB"/>
              <a:t>Foundations: from odds to probabilities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a yes/no outcome?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ard body"/>
          <p:cNvSpPr/>
          <p:nvPr/>
        </p:nvSpPr>
        <p:spPr>
          <a:xfrm>
            <a:off x="457200" y="1737360"/>
            <a:ext cx="40233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LS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Linear probability model</a:t>
            </a:r>
          </a:p>
        </p:txBody>
      </p:sp>
      <p:pic>
        <p:nvPicPr>
          <p:cNvPr id="13" name="Icon OLS card" descr=""/>
          <p:cNvPicPr>
            <a:picLocks noChangeAspect="1"/>
          </p:cNvPicPr>
          <p:nvPr/>
        </p:nvPicPr>
        <p:blipFill>
          <a:blip r:embed="rId3"/>
          <a:stretch>
            <a:fillRect/>
          </a:stretch>
        </p:blipFill>
        <p:spPr>
          <a:xfrm>
            <a:off x="4041648" y="1376172"/>
            <a:ext cx="310896" cy="310896"/>
          </a:xfrm>
          <a:prstGeom prst="rect">
            <a:avLst/>
          </a:prstGeom>
        </p:spPr>
      </p:pic>
      <p:sp>
        <p:nvSpPr>
          <p:cNvPr id="14" name="OLS card text"/>
          <p:cNvSpPr txBox="1"/>
          <p:nvPr/>
        </p:nvSpPr>
        <p:spPr>
          <a:xfrm>
            <a:off x="621792" y="1874520"/>
            <a:ext cx="37216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Predictions can fall below 0 or above 1</a:t>
            </a:r>
          </a:p>
          <a:p>
            <a:pPr algn="l" marL="182880" indent="-182880">
              <a:spcAft>
                <a:spcPts val="600"/>
              </a:spcAft>
              <a:buClr>
                <a:schemeClr val="accent1"/>
              </a:buClr>
              <a:buFont typeface="Arial"/>
              <a:buChar char="▪"/>
            </a:pPr>
            <a:r>
              <a:rPr sz="1400" b="0" lang="en-GB">
                <a:solidFill>
                  <a:schemeClr val="tx1"/>
                </a:solidFill>
              </a:rPr>
              <a:t>Same effect at every baseline</a:t>
            </a:r>
          </a:p>
          <a:p>
            <a:pPr algn="l" marL="182880" indent="-182880">
              <a:spcAft>
                <a:spcPts val="600"/>
              </a:spcAft>
              <a:buClr>
                <a:schemeClr val="accent1"/>
              </a:buClr>
              <a:buFont typeface="Arial"/>
              <a:buChar char="▪"/>
            </a:pPr>
            <a:r>
              <a:rPr sz="1400" b="0" lang="en-GB">
                <a:solidFill>
                  <a:schemeClr val="tx1"/>
                </a:solidFill>
              </a:rPr>
              <a:t>Useful as a robustness check</a:t>
            </a:r>
          </a:p>
        </p:txBody>
      </p:sp>
      <p:sp>
        <p:nvSpPr>
          <p:cNvPr id="15" name="Logit card body"/>
          <p:cNvSpPr/>
          <p:nvPr/>
        </p:nvSpPr>
        <p:spPr>
          <a:xfrm>
            <a:off x="4663440" y="1737360"/>
            <a:ext cx="40233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ogit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Logistic regression</a:t>
            </a:r>
          </a:p>
        </p:txBody>
      </p:sp>
      <p:pic>
        <p:nvPicPr>
          <p:cNvPr id="18" name="Icon Logit card" descr=""/>
          <p:cNvPicPr>
            <a:picLocks noChangeAspect="1"/>
          </p:cNvPicPr>
          <p:nvPr/>
        </p:nvPicPr>
        <p:blipFill>
          <a:blip r:embed="rId4"/>
          <a:stretch>
            <a:fillRect/>
          </a:stretch>
        </p:blipFill>
        <p:spPr>
          <a:xfrm>
            <a:off x="8247888" y="1376172"/>
            <a:ext cx="310896" cy="310896"/>
          </a:xfrm>
          <a:prstGeom prst="rect">
            <a:avLst/>
          </a:prstGeom>
        </p:spPr>
      </p:pic>
      <p:sp>
        <p:nvSpPr>
          <p:cNvPr id="19" name="Logit card text"/>
          <p:cNvSpPr txBox="1"/>
          <p:nvPr/>
        </p:nvSpPr>
        <p:spPr>
          <a:xfrm>
            <a:off x="4828032" y="1874520"/>
            <a:ext cx="37216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Probabilities stay between 0 and 1</a:t>
            </a:r>
          </a:p>
          <a:p>
            <a:pPr algn="l" marL="182880" indent="-182880">
              <a:spcAft>
                <a:spcPts val="600"/>
              </a:spcAft>
              <a:buClr>
                <a:schemeClr val="accent1"/>
              </a:buClr>
              <a:buFont typeface="Arial"/>
              <a:buChar char="▪"/>
            </a:pPr>
            <a:r>
              <a:rPr sz="1400" b="0" lang="en-GB">
                <a:solidFill>
                  <a:schemeClr val="tx1"/>
                </a:solidFill>
              </a:rPr>
              <a:t>Largest effect near 50 %, smallest at the extremes</a:t>
            </a:r>
          </a:p>
          <a:p>
            <a:pPr algn="l" marL="182880" indent="-182880">
              <a:spcAft>
                <a:spcPts val="600"/>
              </a:spcAft>
              <a:buClr>
                <a:schemeClr val="accent1"/>
              </a:buClr>
              <a:buFont typeface="Arial"/>
              <a:buChar char="▪"/>
            </a:pPr>
            <a:r>
              <a:rPr sz="1400" b="0" lang="en-GB">
                <a:solidFill>
                  <a:schemeClr val="tx1"/>
                </a:solidFill>
              </a:rPr>
              <a:t>Estimated by maximum likelihood</a:t>
            </a:r>
          </a:p>
        </p:txBody>
      </p:sp>
      <p:sp>
        <p:nvSpPr>
          <p:cNvPr id="20" name="OLS callout box"/>
          <p:cNvSpPr/>
          <p:nvPr/>
        </p:nvSpPr>
        <p:spPr>
          <a:xfrm>
            <a:off x="457200" y="333756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LS callout text"/>
          <p:cNvSpPr txBox="1"/>
          <p:nvPr/>
        </p:nvSpPr>
        <p:spPr>
          <a:xfrm>
            <a:off x="594360" y="344728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tells you how much the probability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graphicFrame>
        <p:nvGraphicFramePr>
          <p:cNvPr id="10" name="Chart S-curve"/>
          <p:cNvGraphicFramePr>
            <a:graphicFrameLocks noGrp="1"/>
          </p:cNvGraphicFramePr>
          <p:nvPr/>
        </p:nvGraphicFramePr>
        <p:xfrm>
          <a:off x="457200" y="1280160"/>
          <a:ext cx="4480560" cy="3520440"/>
        </p:xfrm>
        <a:graphic>
          <a:graphicData uri="http://schemas.openxmlformats.org/drawingml/2006/chart">
            <c:chart xmlns:c="http://schemas.openxmlformats.org/drawingml/2006/chart" r:id="rId3"/>
          </a:graphicData>
        </a:graphic>
      </p:graphicFrame>
      <p:sp>
        <p:nvSpPr>
          <p:cNvPr id="11" name="Scale bar 1"/>
          <p:cNvSpPr/>
          <p:nvPr/>
        </p:nvSpPr>
        <p:spPr>
          <a:xfrm>
            <a:off x="5120640" y="1325880"/>
            <a:ext cx="54864"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ox"/>
          <p:cNvSpPr/>
          <p:nvPr/>
        </p:nvSpPr>
        <p:spPr>
          <a:xfrm>
            <a:off x="5257800" y="1325880"/>
            <a:ext cx="342900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5394960" y="1435608"/>
            <a:ext cx="3154680" cy="786384"/>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β adds up linearly. This is what the output table shows.</a:t>
            </a:r>
          </a:p>
        </p:txBody>
      </p:sp>
      <p:sp>
        <p:nvSpPr>
          <p:cNvPr id="14" name="Scale bar 2"/>
          <p:cNvSpPr/>
          <p:nvPr/>
        </p:nvSpPr>
        <p:spPr>
          <a:xfrm>
            <a:off x="5120640" y="2487168"/>
            <a:ext cx="54864"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ox"/>
          <p:cNvSpPr/>
          <p:nvPr/>
        </p:nvSpPr>
        <p:spPr>
          <a:xfrm>
            <a:off x="5257800" y="2487168"/>
            <a:ext cx="342900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5394960" y="2596896"/>
            <a:ext cx="3154680" cy="786384"/>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e^β multiplies the odds. This is the odds ratio.</a:t>
            </a:r>
          </a:p>
        </p:txBody>
      </p:sp>
      <p:sp>
        <p:nvSpPr>
          <p:cNvPr id="17" name="Scale bar 3"/>
          <p:cNvSpPr/>
          <p:nvPr/>
        </p:nvSpPr>
        <p:spPr>
          <a:xfrm>
            <a:off x="5120640" y="3648456"/>
            <a:ext cx="54864"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ox"/>
          <p:cNvSpPr/>
          <p:nvPr/>
        </p:nvSpPr>
        <p:spPr>
          <a:xfrm>
            <a:off x="5257800" y="3648456"/>
            <a:ext cx="342900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5394960" y="3758184"/>
            <a:ext cx="3154680" cy="786384"/>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what managers ask about. Its change depends on the starting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from counts to odds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s table 1-1"/>
          <p:cNvSpPr/>
          <p:nvPr/>
        </p:nvSpPr>
        <p:spPr>
          <a:xfrm>
            <a:off x="45720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s table text 1-1"/>
          <p:cNvSpPr txBox="1"/>
          <p:nvPr/>
        </p:nvSpPr>
        <p:spPr>
          <a:xfrm>
            <a:off x="54864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German SMEs</a:t>
            </a:r>
          </a:p>
        </p:txBody>
      </p:sp>
      <p:sp>
        <p:nvSpPr>
          <p:cNvPr id="12" name="Counts table 1-2"/>
          <p:cNvSpPr/>
          <p:nvPr/>
        </p:nvSpPr>
        <p:spPr>
          <a:xfrm>
            <a:off x="2286000" y="1234440"/>
            <a:ext cx="1115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unts table text 1-2"/>
          <p:cNvSpPr txBox="1"/>
          <p:nvPr/>
        </p:nvSpPr>
        <p:spPr>
          <a:xfrm>
            <a:off x="2377440" y="1234440"/>
            <a:ext cx="9326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Exporters</a:t>
            </a:r>
          </a:p>
        </p:txBody>
      </p:sp>
      <p:sp>
        <p:nvSpPr>
          <p:cNvPr id="14" name="Counts table 1-3"/>
          <p:cNvSpPr/>
          <p:nvPr/>
        </p:nvSpPr>
        <p:spPr>
          <a:xfrm>
            <a:off x="34290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unts table text 1-3"/>
          <p:cNvSpPr txBox="1"/>
          <p:nvPr/>
        </p:nvSpPr>
        <p:spPr>
          <a:xfrm>
            <a:off x="35204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Firms</a:t>
            </a:r>
          </a:p>
        </p:txBody>
      </p:sp>
      <p:sp>
        <p:nvSpPr>
          <p:cNvPr id="16" name="Counts table 1-4"/>
          <p:cNvSpPr/>
          <p:nvPr/>
        </p:nvSpPr>
        <p:spPr>
          <a:xfrm>
            <a:off x="4343400" y="1234440"/>
            <a:ext cx="13898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s table text 1-4"/>
          <p:cNvSpPr txBox="1"/>
          <p:nvPr/>
        </p:nvSpPr>
        <p:spPr>
          <a:xfrm>
            <a:off x="4434840" y="1234440"/>
            <a:ext cx="12070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Probability p</a:t>
            </a:r>
          </a:p>
        </p:txBody>
      </p:sp>
      <p:sp>
        <p:nvSpPr>
          <p:cNvPr id="18" name="Counts table 1-5"/>
          <p:cNvSpPr/>
          <p:nvPr/>
        </p:nvSpPr>
        <p:spPr>
          <a:xfrm>
            <a:off x="5760720" y="1234440"/>
            <a:ext cx="28986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unts table text 1-5"/>
          <p:cNvSpPr txBox="1"/>
          <p:nvPr/>
        </p:nvSpPr>
        <p:spPr>
          <a:xfrm>
            <a:off x="5852160" y="1234440"/>
            <a:ext cx="27157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Odds = p / (1 − p)</a:t>
            </a:r>
          </a:p>
        </p:txBody>
      </p:sp>
      <p:sp>
        <p:nvSpPr>
          <p:cNvPr id="20" name="Counts table 2-1"/>
          <p:cNvSpPr/>
          <p:nvPr/>
        </p:nvSpPr>
        <p:spPr>
          <a:xfrm>
            <a:off x="45720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s table text 2-1"/>
          <p:cNvSpPr txBox="1"/>
          <p:nvPr/>
        </p:nvSpPr>
        <p:spPr>
          <a:xfrm>
            <a:off x="54864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With R&amp;D</a:t>
            </a:r>
          </a:p>
        </p:txBody>
      </p:sp>
      <p:sp>
        <p:nvSpPr>
          <p:cNvPr id="22" name="Counts table 2-2"/>
          <p:cNvSpPr/>
          <p:nvPr/>
        </p:nvSpPr>
        <p:spPr>
          <a:xfrm>
            <a:off x="2286000" y="1627632"/>
            <a:ext cx="1115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nts table text 2-2"/>
          <p:cNvSpPr txBox="1"/>
          <p:nvPr/>
        </p:nvSpPr>
        <p:spPr>
          <a:xfrm>
            <a:off x="2377440" y="1627632"/>
            <a:ext cx="9326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24" name="Counts table 2-3"/>
          <p:cNvSpPr/>
          <p:nvPr/>
        </p:nvSpPr>
        <p:spPr>
          <a:xfrm>
            <a:off x="34290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s table text 2-3"/>
          <p:cNvSpPr txBox="1"/>
          <p:nvPr/>
        </p:nvSpPr>
        <p:spPr>
          <a:xfrm>
            <a:off x="35204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26" name="Counts table 2-4"/>
          <p:cNvSpPr/>
          <p:nvPr/>
        </p:nvSpPr>
        <p:spPr>
          <a:xfrm>
            <a:off x="4343400" y="1627632"/>
            <a:ext cx="13898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unts table text 2-4"/>
          <p:cNvSpPr txBox="1"/>
          <p:nvPr/>
        </p:nvSpPr>
        <p:spPr>
          <a:xfrm>
            <a:off x="4434840" y="1627632"/>
            <a:ext cx="12070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0.80</a:t>
            </a:r>
          </a:p>
        </p:txBody>
      </p:sp>
      <p:sp>
        <p:nvSpPr>
          <p:cNvPr id="28" name="Counts table 2-5"/>
          <p:cNvSpPr/>
          <p:nvPr/>
        </p:nvSpPr>
        <p:spPr>
          <a:xfrm>
            <a:off x="5760720" y="1627632"/>
            <a:ext cx="28986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unts table text 2-5"/>
          <p:cNvSpPr txBox="1"/>
          <p:nvPr/>
        </p:nvSpPr>
        <p:spPr>
          <a:xfrm>
            <a:off x="5852160" y="1627632"/>
            <a:ext cx="27157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0.80 / 0.20 = 4.0</a:t>
            </a:r>
          </a:p>
        </p:txBody>
      </p:sp>
      <p:sp>
        <p:nvSpPr>
          <p:cNvPr id="30" name="Counts table 3-1"/>
          <p:cNvSpPr/>
          <p:nvPr/>
        </p:nvSpPr>
        <p:spPr>
          <a:xfrm>
            <a:off x="45720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unts table text 3-1"/>
          <p:cNvSpPr txBox="1"/>
          <p:nvPr/>
        </p:nvSpPr>
        <p:spPr>
          <a:xfrm>
            <a:off x="54864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Without R&amp;D</a:t>
            </a:r>
          </a:p>
        </p:txBody>
      </p:sp>
      <p:sp>
        <p:nvSpPr>
          <p:cNvPr id="32" name="Counts table 3-2"/>
          <p:cNvSpPr/>
          <p:nvPr/>
        </p:nvSpPr>
        <p:spPr>
          <a:xfrm>
            <a:off x="2286000" y="2020824"/>
            <a:ext cx="1115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unts table text 3-2"/>
          <p:cNvSpPr txBox="1"/>
          <p:nvPr/>
        </p:nvSpPr>
        <p:spPr>
          <a:xfrm>
            <a:off x="2377440" y="2020824"/>
            <a:ext cx="9326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60</a:t>
            </a:r>
          </a:p>
        </p:txBody>
      </p:sp>
      <p:sp>
        <p:nvSpPr>
          <p:cNvPr id="34" name="Counts table 3-3"/>
          <p:cNvSpPr/>
          <p:nvPr/>
        </p:nvSpPr>
        <p:spPr>
          <a:xfrm>
            <a:off x="34290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Counts table text 3-3"/>
          <p:cNvSpPr txBox="1"/>
          <p:nvPr/>
        </p:nvSpPr>
        <p:spPr>
          <a:xfrm>
            <a:off x="35204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6" name="Counts table 3-4"/>
          <p:cNvSpPr/>
          <p:nvPr/>
        </p:nvSpPr>
        <p:spPr>
          <a:xfrm>
            <a:off x="4343400" y="2020824"/>
            <a:ext cx="13898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Counts table text 3-4"/>
          <p:cNvSpPr txBox="1"/>
          <p:nvPr/>
        </p:nvSpPr>
        <p:spPr>
          <a:xfrm>
            <a:off x="4434840" y="2020824"/>
            <a:ext cx="12070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0.60</a:t>
            </a:r>
          </a:p>
        </p:txBody>
      </p:sp>
      <p:sp>
        <p:nvSpPr>
          <p:cNvPr id="38" name="Counts table 3-5"/>
          <p:cNvSpPr/>
          <p:nvPr/>
        </p:nvSpPr>
        <p:spPr>
          <a:xfrm>
            <a:off x="5760720" y="2020824"/>
            <a:ext cx="28986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Counts table text 3-5"/>
          <p:cNvSpPr txBox="1"/>
          <p:nvPr/>
        </p:nvSpPr>
        <p:spPr>
          <a:xfrm>
            <a:off x="5852160" y="2020824"/>
            <a:ext cx="27157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0.60 / 0.40 = 1.5</a:t>
            </a:r>
          </a:p>
        </p:txBody>
      </p:sp>
      <p:sp>
        <p:nvSpPr>
          <p:cNvPr id="40" name="Odds formula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dds formula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Odds formula box"/>
          <p:cNvSpPr/>
          <p:nvPr/>
        </p:nvSpPr>
        <p:spPr>
          <a:xfrm>
            <a:off x="457200" y="2788920"/>
            <a:ext cx="402336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dds formula code"/>
          <p:cNvSpPr txBox="1"/>
          <p:nvPr/>
        </p:nvSpPr>
        <p:spPr>
          <a:xfrm>
            <a:off x="594360" y="2880360"/>
            <a:ext cx="3749040" cy="5943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exporters / firms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exporters / non-exporters</a:t>
            </a:r>
          </a:p>
        </p:txBody>
      </p:sp>
      <p:sp>
        <p:nvSpPr>
          <p:cNvPr id="44" name="Odds read 1 row"/>
          <p:cNvSpPr/>
          <p:nvPr/>
        </p:nvSpPr>
        <p:spPr>
          <a:xfrm>
            <a:off x="4663440" y="2514600"/>
            <a:ext cx="4023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dds read 1 bar"/>
          <p:cNvSpPr/>
          <p:nvPr/>
        </p:nvSpPr>
        <p:spPr>
          <a:xfrm>
            <a:off x="4663440" y="251460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dds read 1 text"/>
          <p:cNvSpPr txBox="1"/>
          <p:nvPr/>
        </p:nvSpPr>
        <p:spPr>
          <a:xfrm>
            <a:off x="4864608" y="2514600"/>
            <a:ext cx="373075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Odds 4.0: </a:t>
            </a:r>
            <a:r>
              <a:rPr sz="1200" b="0" lang="en-GB">
                <a:solidFill>
                  <a:schemeClr val="tx1"/>
                </a:solidFill>
              </a:rPr>
              <a:t>four exporters per non-exporter</a:t>
            </a:r>
          </a:p>
        </p:txBody>
      </p:sp>
      <p:sp>
        <p:nvSpPr>
          <p:cNvPr id="47" name="Odds read 2 row"/>
          <p:cNvSpPr/>
          <p:nvPr/>
        </p:nvSpPr>
        <p:spPr>
          <a:xfrm>
            <a:off x="4663440" y="3090672"/>
            <a:ext cx="402336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dds read 2 bar"/>
          <p:cNvSpPr/>
          <p:nvPr/>
        </p:nvSpPr>
        <p:spPr>
          <a:xfrm>
            <a:off x="4663440" y="3090672"/>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dds read 2 text"/>
          <p:cNvSpPr txBox="1"/>
          <p:nvPr/>
        </p:nvSpPr>
        <p:spPr>
          <a:xfrm>
            <a:off x="4864608" y="3090672"/>
            <a:ext cx="373075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Odds 1.5: </a:t>
            </a:r>
            <a:r>
              <a:rPr sz="1200" b="0" lang="en-GB">
                <a:solidFill>
                  <a:schemeClr val="tx1"/>
                </a:solidFill>
              </a:rPr>
              <a:t>three exporters per two non-exporters</a:t>
            </a:r>
          </a:p>
        </p:txBody>
      </p:sp>
      <p:sp>
        <p:nvSpPr>
          <p:cNvPr id="50" name="Odds scale box"/>
          <p:cNvSpPr/>
          <p:nvPr/>
        </p:nvSpPr>
        <p:spPr>
          <a:xfrm>
            <a:off x="457200" y="38404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dds scale text"/>
          <p:cNvSpPr txBox="1"/>
          <p:nvPr/>
        </p:nvSpPr>
        <p:spPr>
          <a:xfrm>
            <a:off x="658368" y="384048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Scales: </a:t>
            </a:r>
            <a:r>
              <a:rPr sz="1250" b="0" lang="en-GB">
                <a:solidFill>
                  <a:schemeClr val="bg1"/>
                </a:solidFill>
              </a:rPr>
              <a:t>probability from 0 to 1, odds from 0 to infinity; odds of 1 mean 50:50.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R stat box"/>
          <p:cNvSpPr/>
          <p:nvPr/>
        </p:nvSpPr>
        <p:spPr>
          <a:xfrm>
            <a:off x="457200" y="1234440"/>
            <a:ext cx="4846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R stat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 stat figure"/>
          <p:cNvSpPr txBox="1"/>
          <p:nvPr/>
        </p:nvSpPr>
        <p:spPr>
          <a:xfrm>
            <a:off x="640080" y="1234440"/>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13" name="OR stat label"/>
          <p:cNvSpPr txBox="1"/>
          <p:nvPr/>
        </p:nvSpPr>
        <p:spPr>
          <a:xfrm>
            <a:off x="1828800" y="1234440"/>
            <a:ext cx="3383280" cy="731520"/>
          </a:xfrm>
          <a:prstGeom prst="rect">
            <a:avLst/>
          </a:prstGeom>
          <a:noFill/>
        </p:spPr>
        <p:txBody>
          <a:bodyPr wrap="square" lIns="0" rIns="0" tIns="0" bIns="0" anchor="ctr">
            <a:noAutofit/>
          </a:bodyPr>
          <a:lstStyle/>
          <a:p>
            <a:pPr algn="l">
              <a:spcAft>
                <a:spcPts val="400"/>
              </a:spcAft>
            </a:pPr>
            <a:r>
              <a:rPr sz="1200" b="1" lang="en-GB">
                <a:solidFill>
                  <a:schemeClr val="tx2"/>
                </a:solidFill>
              </a:rPr>
              <a:t>Odds ratio: </a:t>
            </a:r>
            <a:r>
              <a:rPr sz="1200" b="0" lang="en-GB">
                <a:solidFill>
                  <a:schemeClr val="tx1"/>
                </a:solidFill>
              </a:rPr>
              <a:t>4.0 / 1.5; R&amp;D multiplies the odds by 2.67</a:t>
            </a:r>
          </a:p>
        </p:txBody>
      </p:sp>
      <p:sp>
        <p:nvSpPr>
          <p:cNvPr id="14" name="Log stat box"/>
          <p:cNvSpPr/>
          <p:nvPr/>
        </p:nvSpPr>
        <p:spPr>
          <a:xfrm>
            <a:off x="457200" y="2039112"/>
            <a:ext cx="4846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 stat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og stat figure"/>
          <p:cNvSpPr txBox="1"/>
          <p:nvPr/>
        </p:nvSpPr>
        <p:spPr>
          <a:xfrm>
            <a:off x="640080" y="2039112"/>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1.39</a:t>
            </a:r>
          </a:p>
        </p:txBody>
      </p:sp>
      <p:sp>
        <p:nvSpPr>
          <p:cNvPr id="17" name="Log stat label"/>
          <p:cNvSpPr txBox="1"/>
          <p:nvPr/>
        </p:nvSpPr>
        <p:spPr>
          <a:xfrm>
            <a:off x="1828800" y="2039112"/>
            <a:ext cx="3383280" cy="731520"/>
          </a:xfrm>
          <a:prstGeom prst="rect">
            <a:avLst/>
          </a:prstGeom>
          <a:noFill/>
        </p:spPr>
        <p:txBody>
          <a:bodyPr wrap="square" lIns="0" rIns="0" tIns="0" bIns="0" anchor="ctr">
            <a:noAutofit/>
          </a:bodyPr>
          <a:lstStyle/>
          <a:p>
            <a:pPr algn="l">
              <a:spcAft>
                <a:spcPts val="400"/>
              </a:spcAft>
            </a:pPr>
            <a:r>
              <a:rPr sz="1200" b="1" lang="en-GB">
                <a:solidFill>
                  <a:schemeClr val="tx2"/>
                </a:solidFill>
              </a:rPr>
              <a:t>Log-odds with R&amp;D: </a:t>
            </a:r>
            <a:r>
              <a:rPr sz="1200" b="0" lang="en-GB">
                <a:solidFill>
                  <a:schemeClr val="tx1"/>
                </a:solidFill>
              </a:rPr>
              <a:t>ln 4.0; without R&amp;D ln 1.5 = 0.41</a:t>
            </a:r>
          </a:p>
        </p:txBody>
      </p:sp>
      <p:sp>
        <p:nvSpPr>
          <p:cNvPr id="18" name="Coef stat box"/>
          <p:cNvSpPr/>
          <p:nvPr/>
        </p:nvSpPr>
        <p:spPr>
          <a:xfrm>
            <a:off x="457200" y="2843784"/>
            <a:ext cx="4846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ef stat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ef stat figure"/>
          <p:cNvSpPr txBox="1"/>
          <p:nvPr/>
        </p:nvSpPr>
        <p:spPr>
          <a:xfrm>
            <a:off x="640080" y="2843784"/>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0.98</a:t>
            </a:r>
          </a:p>
        </p:txBody>
      </p:sp>
      <p:sp>
        <p:nvSpPr>
          <p:cNvPr id="21" name="Coef stat label"/>
          <p:cNvSpPr txBox="1"/>
          <p:nvPr/>
        </p:nvSpPr>
        <p:spPr>
          <a:xfrm>
            <a:off x="1828800" y="2843784"/>
            <a:ext cx="3383280" cy="731520"/>
          </a:xfrm>
          <a:prstGeom prst="rect">
            <a:avLst/>
          </a:prstGeom>
          <a:noFill/>
        </p:spPr>
        <p:txBody>
          <a:bodyPr wrap="square" lIns="0" rIns="0" tIns="0" bIns="0" anchor="ctr">
            <a:noAutofit/>
          </a:bodyPr>
          <a:lstStyle/>
          <a:p>
            <a:pPr algn="l">
              <a:spcAft>
                <a:spcPts val="400"/>
              </a:spcAft>
            </a:pPr>
            <a:r>
              <a:rPr sz="1200" b="1" lang="en-GB">
                <a:solidFill>
                  <a:schemeClr val="tx2"/>
                </a:solidFill>
              </a:rPr>
              <a:t>Difference = ln 2.67: </a:t>
            </a:r>
            <a:r>
              <a:rPr sz="1200" b="0" lang="en-GB">
                <a:solidFill>
                  <a:schemeClr val="tx1"/>
                </a:solidFill>
              </a:rPr>
              <a:t>the logit coefficient of R&amp;D</a:t>
            </a:r>
          </a:p>
        </p:txBody>
      </p:sp>
      <p:sp>
        <p:nvSpPr>
          <p:cNvPr id="22" name="Back code caption bar"/>
          <p:cNvSpPr/>
          <p:nvPr/>
        </p:nvSpPr>
        <p:spPr>
          <a:xfrm>
            <a:off x="5486400" y="1234440"/>
            <a:ext cx="3200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ack code caption"/>
          <p:cNvSpPr txBox="1"/>
          <p:nvPr/>
        </p:nvSpPr>
        <p:spPr>
          <a:xfrm>
            <a:off x="5596128" y="1234440"/>
            <a:ext cx="2980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Back to probability</a:t>
            </a:r>
          </a:p>
        </p:txBody>
      </p:sp>
      <p:sp>
        <p:nvSpPr>
          <p:cNvPr id="24" name="Back code box"/>
          <p:cNvSpPr/>
          <p:nvPr/>
        </p:nvSpPr>
        <p:spPr>
          <a:xfrm>
            <a:off x="5486400" y="1508760"/>
            <a:ext cx="3200400" cy="20665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ack code code"/>
          <p:cNvSpPr txBox="1"/>
          <p:nvPr/>
        </p:nvSpPr>
        <p:spPr>
          <a:xfrm>
            <a:off x="5623560" y="1600200"/>
            <a:ext cx="2926080" cy="1883664"/>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odds → p:</a:t>
            </a:r>
          </a:p>
          <a:p>
            <a:pPr algn="l">
              <a:spcAft>
                <a:spcPts val="0"/>
              </a:spcAft>
            </a:pPr>
            <a:r>
              <a:rPr sz="1200" b="0" lang="en-GB">
                <a:solidFill>
                  <a:schemeClr val="bg1"/>
                </a:solidFill>
                <a:latin typeface="Consolas"/>
              </a:rPr>
              <a:t> p = odds / (1 + odds)</a:t>
            </a:r>
          </a:p>
          <a:p>
            <a:pPr algn="l">
              <a:spcAft>
                <a:spcPts val="0"/>
              </a:spcAft>
            </a:pPr>
            <a:r>
              <a:rPr sz="1200" b="0" lang="en-GB">
                <a:solidFill>
                  <a:schemeClr val="bg1"/>
                </a:solidFill>
                <a:latin typeface="Consolas"/>
              </a:rPr>
              <a:t>   = 4.0 / 5.0 = 0.80</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log-odds → p:</a:t>
            </a:r>
          </a:p>
          <a:p>
            <a:pPr algn="l">
              <a:spcAft>
                <a:spcPts val="0"/>
              </a:spcAft>
            </a:pPr>
            <a:r>
              <a:rPr sz="1200" b="0" lang="en-GB">
                <a:solidFill>
                  <a:schemeClr val="bg1"/>
                </a:solidFill>
                <a:latin typeface="Consolas"/>
              </a:rPr>
              <a:t> p = 1 / (1 + e^−1.39)</a:t>
            </a:r>
          </a:p>
          <a:p>
            <a:pPr algn="l">
              <a:spcAft>
                <a:spcPts val="0"/>
              </a:spcAft>
            </a:pPr>
            <a:r>
              <a:rPr sz="1200" b="0" lang="en-GB">
                <a:solidFill>
                  <a:schemeClr val="bg1"/>
                </a:solidFill>
                <a:latin typeface="Consolas"/>
              </a:rPr>
              <a:t>   = 0.80</a:t>
            </a:r>
          </a:p>
        </p:txBody>
      </p:sp>
      <p:sp>
        <p:nvSpPr>
          <p:cNvPr id="26" name="OR warning box"/>
          <p:cNvSpPr/>
          <p:nvPr/>
        </p:nvSpPr>
        <p:spPr>
          <a:xfrm>
            <a:off x="457200" y="379476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R warning text"/>
          <p:cNvSpPr txBox="1"/>
          <p:nvPr/>
        </p:nvSpPr>
        <p:spPr>
          <a:xfrm>
            <a:off x="658368" y="3794760"/>
            <a:ext cx="7827264" cy="731520"/>
          </a:xfrm>
          <a:prstGeom prst="rect">
            <a:avLst/>
          </a:prstGeom>
          <a:noFill/>
        </p:spPr>
        <p:txBody>
          <a:bodyPr wrap="square" lIns="0" rIns="0" tIns="0" bIns="0" anchor="ctr">
            <a:noAutofit/>
          </a:bodyPr>
          <a:lstStyle/>
          <a:p>
            <a:pPr algn="l">
              <a:spcAft>
                <a:spcPts val="400"/>
              </a:spcAft>
            </a:pPr>
            <a:r>
              <a:rPr sz="1250" b="1" lang="en-GB">
                <a:solidFill>
                  <a:schemeClr val="bg1"/>
                </a:solidFill>
              </a:rPr>
              <a:t>Not “2.67 times as likely”: </a:t>
            </a:r>
            <a:r>
              <a:rPr sz="1250" b="0" lang="en-GB">
                <a:solidFill>
                  <a:schemeClr val="bg1"/>
                </a:solidFill>
              </a:rPr>
              <a:t>the probability rises from 0.60 to 0.80, by 20 pp or a factor of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Hungarian SMEs,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lc steps step 1"/>
          <p:cNvSpPr/>
          <p:nvPr/>
        </p:nvSpPr>
        <p:spPr>
          <a:xfrm>
            <a:off x="457200" y="1234440"/>
            <a:ext cx="1733702"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Probability</a:t>
            </a:r>
          </a:p>
        </p:txBody>
      </p:sp>
      <p:sp>
        <p:nvSpPr>
          <p:cNvPr id="11" name="Calc steps step 2"/>
          <p:cNvSpPr/>
          <p:nvPr/>
        </p:nvSpPr>
        <p:spPr>
          <a:xfrm>
            <a:off x="2081174"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Odds</a:t>
            </a:r>
          </a:p>
        </p:txBody>
      </p:sp>
      <p:sp>
        <p:nvSpPr>
          <p:cNvPr id="12" name="Calc steps step 3"/>
          <p:cNvSpPr/>
          <p:nvPr/>
        </p:nvSpPr>
        <p:spPr>
          <a:xfrm>
            <a:off x="3705149"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Odds ratio</a:t>
            </a:r>
          </a:p>
        </p:txBody>
      </p:sp>
      <p:sp>
        <p:nvSpPr>
          <p:cNvPr id="13" name="Calc steps step 4"/>
          <p:cNvSpPr/>
          <p:nvPr/>
        </p:nvSpPr>
        <p:spPr>
          <a:xfrm>
            <a:off x="5329123"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Log-odds</a:t>
            </a:r>
          </a:p>
        </p:txBody>
      </p:sp>
      <p:sp>
        <p:nvSpPr>
          <p:cNvPr id="14" name="Calc steps step 5"/>
          <p:cNvSpPr/>
          <p:nvPr/>
        </p:nvSpPr>
        <p:spPr>
          <a:xfrm>
            <a:off x="6953098" y="1234440"/>
            <a:ext cx="1733702"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Back to p</a:t>
            </a:r>
          </a:p>
        </p:txBody>
      </p:sp>
      <p:sp>
        <p:nvSpPr>
          <p:cNvPr id="15" name="HU table 1-1"/>
          <p:cNvSpPr/>
          <p:nvPr/>
        </p:nvSpPr>
        <p:spPr>
          <a:xfrm>
            <a:off x="457200" y="178308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U table text 1-1"/>
          <p:cNvSpPr txBox="1"/>
          <p:nvPr/>
        </p:nvSpPr>
        <p:spPr>
          <a:xfrm>
            <a:off x="548640" y="1783080"/>
            <a:ext cx="180136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Hungarian SMEs</a:t>
            </a:r>
          </a:p>
        </p:txBody>
      </p:sp>
      <p:sp>
        <p:nvSpPr>
          <p:cNvPr id="17" name="HU table 1-2"/>
          <p:cNvSpPr/>
          <p:nvPr/>
        </p:nvSpPr>
        <p:spPr>
          <a:xfrm>
            <a:off x="2468880" y="178308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HU table text 1-2"/>
          <p:cNvSpPr txBox="1"/>
          <p:nvPr/>
        </p:nvSpPr>
        <p:spPr>
          <a:xfrm>
            <a:off x="2560320" y="178308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Exporters</a:t>
            </a:r>
          </a:p>
        </p:txBody>
      </p:sp>
      <p:sp>
        <p:nvSpPr>
          <p:cNvPr id="19" name="HU table 1-3"/>
          <p:cNvSpPr/>
          <p:nvPr/>
        </p:nvSpPr>
        <p:spPr>
          <a:xfrm>
            <a:off x="3657600" y="178308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U table text 1-3"/>
          <p:cNvSpPr txBox="1"/>
          <p:nvPr/>
        </p:nvSpPr>
        <p:spPr>
          <a:xfrm>
            <a:off x="3749040" y="178308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Firms</a:t>
            </a:r>
          </a:p>
        </p:txBody>
      </p:sp>
      <p:sp>
        <p:nvSpPr>
          <p:cNvPr id="21" name="HU table 1-4"/>
          <p:cNvSpPr/>
          <p:nvPr/>
        </p:nvSpPr>
        <p:spPr>
          <a:xfrm>
            <a:off x="4572000" y="1783080"/>
            <a:ext cx="12527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HU table text 1-4"/>
          <p:cNvSpPr txBox="1"/>
          <p:nvPr/>
        </p:nvSpPr>
        <p:spPr>
          <a:xfrm>
            <a:off x="4663440" y="1783080"/>
            <a:ext cx="10698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p</a:t>
            </a:r>
          </a:p>
        </p:txBody>
      </p:sp>
      <p:sp>
        <p:nvSpPr>
          <p:cNvPr id="23" name="HU table 1-5"/>
          <p:cNvSpPr/>
          <p:nvPr/>
        </p:nvSpPr>
        <p:spPr>
          <a:xfrm>
            <a:off x="5852160" y="1783080"/>
            <a:ext cx="13441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U table text 1-5"/>
          <p:cNvSpPr txBox="1"/>
          <p:nvPr/>
        </p:nvSpPr>
        <p:spPr>
          <a:xfrm>
            <a:off x="5943600" y="1783080"/>
            <a:ext cx="11612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Odds</a:t>
            </a:r>
          </a:p>
        </p:txBody>
      </p:sp>
      <p:sp>
        <p:nvSpPr>
          <p:cNvPr id="25" name="HU table 1-6"/>
          <p:cNvSpPr/>
          <p:nvPr/>
        </p:nvSpPr>
        <p:spPr>
          <a:xfrm>
            <a:off x="7223760" y="178308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HU table text 1-6"/>
          <p:cNvSpPr txBox="1"/>
          <p:nvPr/>
        </p:nvSpPr>
        <p:spPr>
          <a:xfrm>
            <a:off x="7315200" y="1783080"/>
            <a:ext cx="125272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Log-odds</a:t>
            </a:r>
          </a:p>
        </p:txBody>
      </p:sp>
      <p:sp>
        <p:nvSpPr>
          <p:cNvPr id="27" name="HU table 2-1"/>
          <p:cNvSpPr/>
          <p:nvPr/>
        </p:nvSpPr>
        <p:spPr>
          <a:xfrm>
            <a:off x="457200" y="217627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HU table text 2-1"/>
          <p:cNvSpPr txBox="1"/>
          <p:nvPr/>
        </p:nvSpPr>
        <p:spPr>
          <a:xfrm>
            <a:off x="548640" y="2176272"/>
            <a:ext cx="1801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With R&amp;D</a:t>
            </a:r>
          </a:p>
        </p:txBody>
      </p:sp>
      <p:sp>
        <p:nvSpPr>
          <p:cNvPr id="29" name="HU table 2-2"/>
          <p:cNvSpPr/>
          <p:nvPr/>
        </p:nvSpPr>
        <p:spPr>
          <a:xfrm>
            <a:off x="2468880" y="217627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HU table text 2-2"/>
          <p:cNvSpPr txBox="1"/>
          <p:nvPr/>
        </p:nvSpPr>
        <p:spPr>
          <a:xfrm>
            <a:off x="2560320" y="217627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60</a:t>
            </a:r>
          </a:p>
        </p:txBody>
      </p:sp>
      <p:sp>
        <p:nvSpPr>
          <p:cNvPr id="31" name="HU table 2-3"/>
          <p:cNvSpPr/>
          <p:nvPr/>
        </p:nvSpPr>
        <p:spPr>
          <a:xfrm>
            <a:off x="3657600" y="217627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HU table text 2-3"/>
          <p:cNvSpPr txBox="1"/>
          <p:nvPr/>
        </p:nvSpPr>
        <p:spPr>
          <a:xfrm>
            <a:off x="3749040" y="217627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3" name="HU table 2-4"/>
          <p:cNvSpPr/>
          <p:nvPr/>
        </p:nvSpPr>
        <p:spPr>
          <a:xfrm>
            <a:off x="4572000" y="2176272"/>
            <a:ext cx="12527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HU table text 2-4"/>
          <p:cNvSpPr txBox="1"/>
          <p:nvPr/>
        </p:nvSpPr>
        <p:spPr>
          <a:xfrm>
            <a:off x="4663440" y="2176272"/>
            <a:ext cx="10698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35" name="HU table 2-5"/>
          <p:cNvSpPr/>
          <p:nvPr/>
        </p:nvSpPr>
        <p:spPr>
          <a:xfrm>
            <a:off x="5852160" y="2176272"/>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HU table text 2-5"/>
          <p:cNvSpPr txBox="1"/>
          <p:nvPr/>
        </p:nvSpPr>
        <p:spPr>
          <a:xfrm>
            <a:off x="5943600" y="2176272"/>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37" name="HU table 2-6"/>
          <p:cNvSpPr/>
          <p:nvPr/>
        </p:nvSpPr>
        <p:spPr>
          <a:xfrm>
            <a:off x="7223760" y="217627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HU table text 2-6"/>
          <p:cNvSpPr txBox="1"/>
          <p:nvPr/>
        </p:nvSpPr>
        <p:spPr>
          <a:xfrm>
            <a:off x="7315200" y="2176272"/>
            <a:ext cx="125272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39" name="HU table 3-1"/>
          <p:cNvSpPr/>
          <p:nvPr/>
        </p:nvSpPr>
        <p:spPr>
          <a:xfrm>
            <a:off x="457200" y="256946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HU table text 3-1"/>
          <p:cNvSpPr txBox="1"/>
          <p:nvPr/>
        </p:nvSpPr>
        <p:spPr>
          <a:xfrm>
            <a:off x="548640" y="2569464"/>
            <a:ext cx="1801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Without R&amp;D</a:t>
            </a:r>
          </a:p>
        </p:txBody>
      </p:sp>
      <p:sp>
        <p:nvSpPr>
          <p:cNvPr id="41" name="HU table 3-2"/>
          <p:cNvSpPr/>
          <p:nvPr/>
        </p:nvSpPr>
        <p:spPr>
          <a:xfrm>
            <a:off x="2468880" y="256946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HU table text 3-2"/>
          <p:cNvSpPr txBox="1"/>
          <p:nvPr/>
        </p:nvSpPr>
        <p:spPr>
          <a:xfrm>
            <a:off x="2560320" y="256946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45</a:t>
            </a:r>
          </a:p>
        </p:txBody>
      </p:sp>
      <p:sp>
        <p:nvSpPr>
          <p:cNvPr id="43" name="HU table 3-3"/>
          <p:cNvSpPr/>
          <p:nvPr/>
        </p:nvSpPr>
        <p:spPr>
          <a:xfrm>
            <a:off x="3657600" y="256946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HU table text 3-3"/>
          <p:cNvSpPr txBox="1"/>
          <p:nvPr/>
        </p:nvSpPr>
        <p:spPr>
          <a:xfrm>
            <a:off x="3749040" y="256946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45" name="HU table 3-4"/>
          <p:cNvSpPr/>
          <p:nvPr/>
        </p:nvSpPr>
        <p:spPr>
          <a:xfrm>
            <a:off x="4572000" y="2569464"/>
            <a:ext cx="12527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HU table text 3-4"/>
          <p:cNvSpPr txBox="1"/>
          <p:nvPr/>
        </p:nvSpPr>
        <p:spPr>
          <a:xfrm>
            <a:off x="4663440" y="2569464"/>
            <a:ext cx="10698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47" name="HU table 3-5"/>
          <p:cNvSpPr/>
          <p:nvPr/>
        </p:nvSpPr>
        <p:spPr>
          <a:xfrm>
            <a:off x="5852160" y="2569464"/>
            <a:ext cx="13441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HU table text 3-5"/>
          <p:cNvSpPr txBox="1"/>
          <p:nvPr/>
        </p:nvSpPr>
        <p:spPr>
          <a:xfrm>
            <a:off x="5943600" y="2569464"/>
            <a:ext cx="11612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49" name="HU table 3-6"/>
          <p:cNvSpPr/>
          <p:nvPr/>
        </p:nvSpPr>
        <p:spPr>
          <a:xfrm>
            <a:off x="7223760" y="256946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HU table text 3-6"/>
          <p:cNvSpPr txBox="1"/>
          <p:nvPr/>
        </p:nvSpPr>
        <p:spPr>
          <a:xfrm>
            <a:off x="7315200" y="2569464"/>
            <a:ext cx="125272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a:t>
            </a:r>
          </a:p>
        </p:txBody>
      </p:sp>
      <p:sp>
        <p:nvSpPr>
          <p:cNvPr id="51" name="HU task 1 row"/>
          <p:cNvSpPr/>
          <p:nvPr/>
        </p:nvSpPr>
        <p:spPr>
          <a:xfrm>
            <a:off x="457200" y="3044952"/>
            <a:ext cx="8229600"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HU task 1 bar"/>
          <p:cNvSpPr/>
          <p:nvPr/>
        </p:nvSpPr>
        <p:spPr>
          <a:xfrm>
            <a:off x="457200" y="3044952"/>
            <a:ext cx="6400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HU task 1 text"/>
          <p:cNvSpPr txBox="1"/>
          <p:nvPr/>
        </p:nvSpPr>
        <p:spPr>
          <a:xfrm>
            <a:off x="658368" y="3044952"/>
            <a:ext cx="7936992"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1–2  </a:t>
            </a:r>
            <a:r>
              <a:rPr sz="1200" b="0" lang="en-GB">
                <a:solidFill>
                  <a:schemeClr val="tx1"/>
                </a:solidFill>
              </a:rPr>
              <a:t>probability and odds of both groups; the odds ratio</a:t>
            </a:r>
          </a:p>
        </p:txBody>
      </p:sp>
      <p:sp>
        <p:nvSpPr>
          <p:cNvPr id="54" name="HU task 2 row"/>
          <p:cNvSpPr/>
          <p:nvPr/>
        </p:nvSpPr>
        <p:spPr>
          <a:xfrm>
            <a:off x="457200" y="3502152"/>
            <a:ext cx="8229600"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HU task 2 bar"/>
          <p:cNvSpPr/>
          <p:nvPr/>
        </p:nvSpPr>
        <p:spPr>
          <a:xfrm>
            <a:off x="457200" y="3502152"/>
            <a:ext cx="6400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HU task 2 text"/>
          <p:cNvSpPr txBox="1"/>
          <p:nvPr/>
        </p:nvSpPr>
        <p:spPr>
          <a:xfrm>
            <a:off x="658368" y="3502152"/>
            <a:ext cx="7936992"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3–4  </a:t>
            </a:r>
            <a:r>
              <a:rPr sz="1200" b="0" lang="en-GB">
                <a:solidFill>
                  <a:schemeClr val="tx1"/>
                </a:solidFill>
              </a:rPr>
              <a:t>log-odds and their difference; from log-odds 0.41 back to p</a:t>
            </a:r>
          </a:p>
        </p:txBody>
      </p:sp>
      <p:sp>
        <p:nvSpPr>
          <p:cNvPr id="57" name="HU task 3 row"/>
          <p:cNvSpPr/>
          <p:nvPr/>
        </p:nvSpPr>
        <p:spPr>
          <a:xfrm>
            <a:off x="457200" y="3959352"/>
            <a:ext cx="8229600" cy="4023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HU task 3 bar"/>
          <p:cNvSpPr/>
          <p:nvPr/>
        </p:nvSpPr>
        <p:spPr>
          <a:xfrm>
            <a:off x="457200" y="3959352"/>
            <a:ext cx="64008" cy="4023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HU task 3 text"/>
          <p:cNvSpPr txBox="1"/>
          <p:nvPr/>
        </p:nvSpPr>
        <p:spPr>
          <a:xfrm>
            <a:off x="658368" y="3959352"/>
            <a:ext cx="7936992" cy="402336"/>
          </a:xfrm>
          <a:prstGeom prst="rect">
            <a:avLst/>
          </a:prstGeom>
          <a:noFill/>
        </p:spPr>
        <p:txBody>
          <a:bodyPr wrap="square" lIns="0" rIns="0" tIns="0" bIns="0" anchor="ctr">
            <a:noAutofit/>
          </a:bodyPr>
          <a:lstStyle/>
          <a:p>
            <a:pPr algn="l">
              <a:spcAft>
                <a:spcPts val="400"/>
              </a:spcAft>
            </a:pPr>
            <a:r>
              <a:rPr sz="1200" b="1" lang="en-GB">
                <a:solidFill>
                  <a:schemeClr val="tx2"/>
                </a:solidFill>
              </a:rPr>
              <a:t>5  </a:t>
            </a:r>
            <a:r>
              <a:rPr sz="1200" b="0" lang="en-GB">
                <a:solidFill>
                  <a:schemeClr val="tx1"/>
                </a:solidFill>
              </a:rPr>
              <a:t>compare with Germany: odds ratio and the gap in percentage points</a:t>
            </a:r>
          </a:p>
        </p:txBody>
      </p:sp>
      <p:sp>
        <p:nvSpPr>
          <p:cNvPr id="60" name="HU python"/>
          <p:cNvSpPr txBox="1"/>
          <p:nvPr/>
        </p:nvSpPr>
        <p:spPr>
          <a:xfrm>
            <a:off x="457200" y="4462272"/>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Python check: </a:t>
            </a:r>
            <a:r>
              <a:rPr sz="1200" b="0" lang="en-GB">
                <a:solidFill>
                  <a:schemeClr val="tx2"/>
                </a:solidFill>
                <a:latin typeface="Consolas"/>
              </a:rPr>
              <a:t>smf.logit("exporter ~ rd", data=df).fit().params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graphicFrame>
        <p:nvGraphicFramePr>
          <p:cNvPr id="10" name="Chart Change in probability for OR = 2 (percentage points)"/>
          <p:cNvGraphicFramePr>
            <a:graphicFrameLocks noGrp="1"/>
          </p:cNvGraphicFramePr>
          <p:nvPr/>
        </p:nvGraphicFramePr>
        <p:xfrm>
          <a:off x="457200" y="1280160"/>
          <a:ext cx="4846320" cy="3474720"/>
        </p:xfrm>
        <a:graphic>
          <a:graphicData uri="http://schemas.openxmlformats.org/drawingml/2006/chart">
            <c:chart xmlns:c="http://schemas.openxmlformats.org/drawingml/2006/chart" r:id="rId3"/>
          </a:graphicData>
        </a:graphic>
      </p:graphicFrame>
      <p:sp>
        <p:nvSpPr>
          <p:cNvPr id="11" name="Chart reading box"/>
          <p:cNvSpPr/>
          <p:nvPr/>
        </p:nvSpPr>
        <p:spPr>
          <a:xfrm>
            <a:off x="5486400" y="1325880"/>
            <a:ext cx="320040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rt reading text"/>
          <p:cNvSpPr txBox="1"/>
          <p:nvPr/>
        </p:nvSpPr>
        <p:spPr>
          <a:xfrm>
            <a:off x="5623560" y="1435608"/>
            <a:ext cx="2926080" cy="1472184"/>
          </a:xfrm>
          <a:prstGeom prst="rect">
            <a:avLst/>
          </a:prstGeom>
          <a:noFill/>
        </p:spPr>
        <p:txBody>
          <a:bodyPr wrap="square" lIns="0" rIns="0" tIns="0" bIns="0" anchor="t">
            <a:noAutofit/>
          </a:bodyPr>
          <a:lstStyle/>
          <a:p>
            <a:pPr algn="l">
              <a:spcAft>
                <a:spcPts val="500"/>
              </a:spcAft>
            </a:pPr>
            <a:r>
              <a:rPr sz="1500" b="1" lang="en-GB">
                <a:solidFill>
                  <a:schemeClr val="tx2"/>
                </a:solidFill>
                <a:latin typeface="+mj-lt"/>
              </a:rPr>
              <a:t>Read the chart</a:t>
            </a:r>
          </a:p>
          <a:p>
            <a:pPr algn="l">
              <a:spcAft>
                <a:spcPts val="500"/>
              </a:spcAft>
            </a:pPr>
            <a:r>
              <a:rPr sz="1300" b="0" lang="en-GB">
                <a:solidFill>
                  <a:schemeClr val="tx1"/>
                </a:solidFill>
              </a:rPr>
              <a:t>Doubling the odds moves</a:t>
            </a:r>
          </a:p>
          <a:p>
            <a:pPr algn="l">
              <a:spcAft>
                <a:spcPts val="500"/>
              </a:spcAft>
            </a:pPr>
            <a:r>
              <a:rPr sz="1300" b="0" lang="en-GB">
                <a:solidFill>
                  <a:schemeClr val="tx1"/>
                </a:solidFill>
              </a:rPr>
              <a:t>5 % to 9.5 %</a:t>
            </a:r>
          </a:p>
          <a:p>
            <a:pPr algn="l">
              <a:spcAft>
                <a:spcPts val="500"/>
              </a:spcAft>
            </a:pPr>
            <a:r>
              <a:rPr sz="1300" b="0" lang="en-GB">
                <a:solidFill>
                  <a:schemeClr val="tx1"/>
                </a:solidFill>
              </a:rPr>
              <a:t>50 % to 66.7 %</a:t>
            </a:r>
          </a:p>
          <a:p>
            <a:pPr algn="l">
              <a:spcAft>
                <a:spcPts val="500"/>
              </a:spcAft>
            </a:pPr>
            <a:r>
              <a:rPr sz="1300" b="0" lang="en-GB">
                <a:solidFill>
                  <a:schemeClr val="tx1"/>
                </a:solidFill>
              </a:rPr>
              <a:t>90 % to 94.7 %</a:t>
            </a:r>
          </a:p>
        </p:txBody>
      </p:sp>
      <p:sp>
        <p:nvSpPr>
          <p:cNvPr id="13" name="Odds callout box"/>
          <p:cNvSpPr/>
          <p:nvPr/>
        </p:nvSpPr>
        <p:spPr>
          <a:xfrm>
            <a:off x="5486400" y="3154680"/>
            <a:ext cx="320040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dds callout text"/>
          <p:cNvSpPr txBox="1"/>
          <p:nvPr/>
        </p:nvSpPr>
        <p:spPr>
          <a:xfrm>
            <a:off x="5623560" y="3264408"/>
            <a:ext cx="2926080" cy="740664"/>
          </a:xfrm>
          <a:prstGeom prst="rect">
            <a:avLst/>
          </a:prstGeom>
          <a:noFill/>
        </p:spPr>
        <p:txBody>
          <a:bodyPr wrap="square" lIns="0" rIns="0" tIns="0" bIns="0" anchor="ctr">
            <a:noAutofit/>
          </a:bodyPr>
          <a:lstStyle/>
          <a:p>
            <a:pPr algn="l">
              <a:spcAft>
                <a:spcPts val="400"/>
              </a:spcAft>
            </a:pPr>
            <a:r>
              <a:rPr sz="1250" b="0" lang="en-GB">
                <a:solidFill>
                  <a:schemeClr val="bg1"/>
                </a:solidFill>
              </a:rPr>
              <a:t>“Twice as likely” only holds for rare outcomes, below about 10 %.</a:t>
            </a:r>
          </a:p>
        </p:txBody>
      </p:sp>
      <p:sp>
        <p:nvSpPr>
          <p:cNvPr id="15" name="Source"/>
          <p:cNvSpPr txBox="1"/>
          <p:nvPr/>
        </p:nvSpPr>
        <p:spPr>
          <a:xfrm>
            <a:off x="457200" y="4901184"/>
            <a:ext cx="8229600" cy="274320"/>
          </a:xfrm>
          <a:prstGeom prst="rect">
            <a:avLst/>
          </a:prstGeom>
          <a:noFill/>
        </p:spPr>
        <p:txBody>
          <a:bodyPr wrap="square" lIns="0" rIns="0" tIns="0" bIns="0" anchor="t">
            <a:noAutofit/>
          </a:bodyPr>
          <a:lstStyle/>
          <a:p>
            <a:pPr algn="l">
              <a:spcAft>
                <a:spcPts val="400"/>
              </a:spcAft>
            </a:pPr>
            <a:r>
              <a:rPr sz="1050" b="0" lang="en-GB">
                <a:solidFill>
                  <a:srgbClr val="595959"/>
                </a:solidFill>
              </a:rPr>
              <a:t>Calculation: p₁ = OR·p₀ / (1 − p₀ + OR·p₀)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who or what drives the choice</a:t>
            </a:r>
          </a:p>
        </p:txBody>
      </p:sp>
      <p:sp>
        <p:nvSpPr>
          <p:cNvPr id="3" name="Title 2"/>
          <p:cNvSpPr>
            <a:spLocks noGrp="1"/>
          </p:cNvSpPr>
          <p:nvPr>
            <p:ph type="ctrTitle"/>
          </p:nvPr>
        </p:nvSpPr>
        <p:spPr/>
        <p:txBody>
          <a:bodyPr/>
          <a:lstStyle/>
          <a:p>
            <a:r>
              <a:rPr lang="en-GB"/>
              <a:t>Choosing the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Does the chooser or the option drive the choice?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ooser card body"/>
          <p:cNvSpPr/>
          <p:nvPr/>
        </p:nvSpPr>
        <p:spPr>
          <a:xfrm>
            <a:off x="457200" y="1737360"/>
            <a:ext cx="40233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ooser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ooser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Chooser: multinomial logit</a:t>
            </a:r>
          </a:p>
        </p:txBody>
      </p:sp>
      <p:pic>
        <p:nvPicPr>
          <p:cNvPr id="13" name="Icon Chooser card" descr=""/>
          <p:cNvPicPr>
            <a:picLocks noChangeAspect="1"/>
          </p:cNvPicPr>
          <p:nvPr/>
        </p:nvPicPr>
        <p:blipFill>
          <a:blip r:embed="rId3"/>
          <a:stretch>
            <a:fillRect/>
          </a:stretch>
        </p:blipFill>
        <p:spPr>
          <a:xfrm>
            <a:off x="4041648" y="1376172"/>
            <a:ext cx="310896" cy="310896"/>
          </a:xfrm>
          <a:prstGeom prst="rect">
            <a:avLst/>
          </a:prstGeom>
        </p:spPr>
      </p:pic>
      <p:sp>
        <p:nvSpPr>
          <p:cNvPr id="14" name="Chooser card text"/>
          <p:cNvSpPr txBox="1"/>
          <p:nvPr/>
        </p:nvSpPr>
        <p:spPr>
          <a:xfrm>
            <a:off x="621792" y="1874520"/>
            <a:ext cx="37216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describe the firm or consumer: size, experience, home culture</a:t>
            </a:r>
          </a:p>
          <a:p>
            <a:pPr algn="l" marL="182880" indent="-182880">
              <a:spcAft>
                <a:spcPts val="600"/>
              </a:spcAft>
              <a:buClr>
                <a:schemeClr val="accent1"/>
              </a:buClr>
              <a:buFont typeface="Arial"/>
              <a:buChar char="▪"/>
            </a:pPr>
            <a:r>
              <a:rPr sz="1300" b="0" lang="en-GB">
                <a:solidFill>
                  <a:schemeClr val="tx1"/>
                </a:solidFill>
              </a:rPr>
              <a:t>Wide data: one row per decision</a:t>
            </a:r>
          </a:p>
          <a:p>
            <a:pPr algn="l" marL="182880" indent="-182880">
              <a:spcAft>
                <a:spcPts val="600"/>
              </a:spcAft>
              <a:buClr>
                <a:schemeClr val="accent1"/>
              </a:buClr>
              <a:buFont typeface="Arial"/>
              <a:buChar char="▪"/>
            </a:pPr>
            <a:r>
              <a:rPr sz="1300" b="0" lang="en-GB">
                <a:solidFill>
                  <a:schemeClr val="tx1"/>
                </a:solidFill>
              </a:rPr>
              <a:t>Example: entry mode by asset specificity</a:t>
            </a:r>
          </a:p>
        </p:txBody>
      </p:sp>
      <p:sp>
        <p:nvSpPr>
          <p:cNvPr id="15" name="Options card body"/>
          <p:cNvSpPr/>
          <p:nvPr/>
        </p:nvSpPr>
        <p:spPr>
          <a:xfrm>
            <a:off x="4663440" y="1737360"/>
            <a:ext cx="40233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ptions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ions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Options: conditional logit</a:t>
            </a:r>
          </a:p>
        </p:txBody>
      </p:sp>
      <p:pic>
        <p:nvPicPr>
          <p:cNvPr id="18" name="Icon Options card" descr=""/>
          <p:cNvPicPr>
            <a:picLocks noChangeAspect="1"/>
          </p:cNvPicPr>
          <p:nvPr/>
        </p:nvPicPr>
        <p:blipFill>
          <a:blip r:embed="rId4"/>
          <a:stretch>
            <a:fillRect/>
          </a:stretch>
        </p:blipFill>
        <p:spPr>
          <a:xfrm>
            <a:off x="8247888" y="1376172"/>
            <a:ext cx="310896" cy="310896"/>
          </a:xfrm>
          <a:prstGeom prst="rect">
            <a:avLst/>
          </a:prstGeom>
        </p:spPr>
      </p:pic>
      <p:sp>
        <p:nvSpPr>
          <p:cNvPr id="19" name="Options card text"/>
          <p:cNvSpPr txBox="1"/>
          <p:nvPr/>
        </p:nvSpPr>
        <p:spPr>
          <a:xfrm>
            <a:off x="4828032" y="1874520"/>
            <a:ext cx="37216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describe the alternatives: host region, product profile</a:t>
            </a:r>
          </a:p>
          <a:p>
            <a:pPr algn="l" marL="182880" indent="-182880">
              <a:spcAft>
                <a:spcPts val="600"/>
              </a:spcAft>
              <a:buClr>
                <a:schemeClr val="accent1"/>
              </a:buClr>
              <a:buFont typeface="Arial"/>
              <a:buChar char="▪"/>
            </a:pPr>
            <a:r>
              <a:rPr sz="1300" b="0" lang="en-GB">
                <a:solidFill>
                  <a:schemeClr val="tx1"/>
                </a:solidFill>
              </a:rPr>
              <a:t>Long data: one row per decision × alternative</a:t>
            </a:r>
          </a:p>
          <a:p>
            <a:pPr algn="l" marL="182880" indent="-182880">
              <a:spcAft>
                <a:spcPts val="600"/>
              </a:spcAft>
              <a:buClr>
                <a:schemeClr val="accent1"/>
              </a:buClr>
              <a:buFont typeface="Arial"/>
              <a:buChar char="▪"/>
            </a:pPr>
            <a:r>
              <a:rPr sz="1300" b="0" lang="en-GB">
                <a:solidFill>
                  <a:schemeClr val="tx1"/>
                </a:solidFill>
              </a:rPr>
              <a:t>Example: plant location by agglomeration</a:t>
            </a:r>
          </a:p>
        </p:txBody>
      </p:sp>
      <p:sp>
        <p:nvSpPr>
          <p:cNvPr id="20" name="Chooser callout box"/>
          <p:cNvSpPr/>
          <p:nvPr/>
        </p:nvSpPr>
        <p:spPr>
          <a:xfrm>
            <a:off x="457200" y="38404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ooser callout text"/>
          <p:cNvSpPr txBox="1"/>
          <p:nvPr/>
        </p:nvSpPr>
        <p:spPr>
          <a:xfrm>
            <a:off x="594360" y="3950208"/>
            <a:ext cx="7955280" cy="512064"/>
          </a:xfrm>
          <a:prstGeom prst="rect">
            <a:avLst/>
          </a:prstGeom>
          <a:noFill/>
        </p:spPr>
        <p:txBody>
          <a:bodyPr wrap="square" lIns="0" rIns="0" tIns="0" bIns="0" anchor="ctr">
            <a:noAutofit/>
          </a:bodyPr>
          <a:lstStyle/>
          <a:p>
            <a:pPr algn="l">
              <a:spcAft>
                <a:spcPts val="400"/>
              </a:spcAft>
            </a:pPr>
            <a:r>
              <a:rPr sz="1300" b="1" lang="en-GB">
                <a:solidFill>
                  <a:schemeClr val="bg1"/>
                </a:solidFill>
              </a:rPr>
              <a:t>Ask first: </a:t>
            </a:r>
            <a:r>
              <a:rPr sz="1300" b="0" lang="en-GB">
                <a:solidFill>
                  <a:schemeClr val="bg1"/>
                </a:solidFill>
              </a:rPr>
              <a:t>does my theory explain the chooser or the options?</a:t>
            </a:r>
          </a:p>
        </p:txBody>
      </p:sp>
      <p:sp>
        <p:nvSpPr>
          <p:cNvPr id="22" name="Source"/>
          <p:cNvSpPr txBox="1"/>
          <p:nvPr/>
        </p:nvSpPr>
        <p:spPr>
          <a:xfrm>
            <a:off x="457200" y="4901184"/>
            <a:ext cx="8229600" cy="274320"/>
          </a:xfrm>
          <a:prstGeom prst="rect">
            <a:avLst/>
          </a:prstGeom>
          <a:noFill/>
        </p:spPr>
        <p:txBody>
          <a:bodyPr wrap="square" lIns="0" rIns="0" tIns="0" bIns="0" anchor="t">
            <a:noAutofit/>
          </a:bodyPr>
          <a:lstStyle/>
          <a:p>
            <a:pPr algn="l">
              <a:spcAft>
                <a:spcPts val="400"/>
              </a:spcAft>
            </a:pPr>
            <a:r>
              <a:rPr sz="1050" b="0" lang="en-GB">
                <a:solidFill>
                  <a:srgbClr val="595959"/>
                </a:solidFill>
              </a:rPr>
              <a:t>Greene, Chidlow &amp; Strange (2022), International Business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538728"/>
        </p:xfrm>
        <a:graphic>
          <a:graphicData uri="http://schemas.openxmlformats.org/drawingml/2006/table">
            <a:tbl>
              <a:tblPr firstRow="1" bandRow="1">
                <a:tableStyleId>{5C22544A-7EE6-4342-B048-85BDC9FD1C3A}</a:tableStyleId>
              </a:tblPr>
              <a:tblGrid>
                <a:gridCol w="2240280"/>
                <a:gridCol w="2011680"/>
                <a:gridCol w="2148840"/>
                <a:gridCol w="1828800"/>
              </a:tblGrid>
              <a:tr h="393192">
                <a:tc>
                  <a:txBody>
                    <a:bodyPr/>
                    <a:lstStyle/>
                    <a:p>
                      <a:r>
                        <a:rPr sz="1150" lang="en-GB"/>
                        <a:t>Outcome</a:t>
                      </a:r>
                    </a:p>
                  </a:txBody>
                  <a:tcPr anchor="ctr" marT="36576" marB="36576"/>
                </a:tc>
                <a:tc>
                  <a:txBody>
                    <a:bodyPr/>
                    <a:lstStyle/>
                    <a:p>
                      <a:r>
                        <a:rPr sz="1150" lang="en-GB"/>
                        <a:t>Model</a:t>
                      </a:r>
                    </a:p>
                  </a:txBody>
                  <a:tcPr anchor="ctr" marT="36576" marB="36576"/>
                </a:tc>
                <a:tc>
                  <a:txBody>
                    <a:bodyPr/>
                    <a:lstStyle/>
                    <a:p>
                      <a:r>
                        <a:rPr sz="1150" lang="en-GB"/>
                        <a:t>Assumption to defend</a:t>
                      </a:r>
                    </a:p>
                  </a:txBody>
                  <a:tcPr anchor="ctr" marT="36576" marB="36576"/>
                </a:tc>
                <a:tc>
                  <a:txBody>
                    <a:bodyPr/>
                    <a:lstStyle/>
                    <a:p>
                      <a:r>
                        <a:rPr sz="1150" lang="en-GB"/>
                        <a:t>IM/IB example</a:t>
                      </a:r>
                    </a:p>
                  </a:txBody>
                  <a:tcPr anchor="ctr" marT="36576" marB="36576"/>
                </a:tc>
              </a:tr>
              <a:tr h="393192">
                <a:tc>
                  <a:txBody>
                    <a:bodyPr/>
                    <a:lstStyle/>
                    <a:p>
                      <a:r>
                        <a:rPr sz="1150" b="1" lang="en-GB"/>
                        <a:t>Two outcomes</a:t>
                      </a:r>
                    </a:p>
                  </a:txBody>
                  <a:tcPr anchor="ctr" marT="36576" marB="36576"/>
                </a:tc>
                <a:tc>
                  <a:txBody>
                    <a:bodyPr/>
                    <a:lstStyle/>
                    <a:p>
                      <a:r>
                        <a:rPr sz="1150" lang="en-GB"/>
                        <a:t>Binary logit / probit</a:t>
                      </a:r>
                    </a:p>
                  </a:txBody>
                  <a:tcPr anchor="ctr" marT="36576" marB="36576"/>
                </a:tc>
                <a:tc>
                  <a:txBody>
                    <a:bodyPr/>
                    <a:lstStyle/>
                    <a:p>
                      <a:r>
                        <a:rPr sz="1150" lang="en-GB"/>
                        <a:t>Link is mostly convention</a:t>
                      </a:r>
                    </a:p>
                  </a:txBody>
                  <a:tcPr anchor="ctr" marT="36576" marB="36576"/>
                </a:tc>
                <a:tc>
                  <a:txBody>
                    <a:bodyPr/>
                    <a:lstStyle/>
                    <a:p>
                      <a:r>
                        <a:rPr sz="1150" lang="en-GB"/>
                        <a:t>Anderson &amp; Coughlan 1987</a:t>
                      </a:r>
                    </a:p>
                  </a:txBody>
                  <a:tcPr anchor="ctr" marT="36576" marB="36576"/>
                </a:tc>
              </a:tr>
              <a:tr h="393192">
                <a:tc>
                  <a:txBody>
                    <a:bodyPr/>
                    <a:lstStyle/>
                    <a:p>
                      <a:r>
                        <a:rPr sz="1150" b="1" lang="en-GB"/>
                        <a:t>3+ unordered, chooser traits</a:t>
                      </a:r>
                    </a:p>
                  </a:txBody>
                  <a:tcPr anchor="ctr" marT="36576" marB="36576"/>
                </a:tc>
                <a:tc>
                  <a:txBody>
                    <a:bodyPr/>
                    <a:lstStyle/>
                    <a:p>
                      <a:r>
                        <a:rPr sz="1150" lang="en-GB"/>
                        <a:t>Multinomial logit</a:t>
                      </a:r>
                    </a:p>
                  </a:txBody>
                  <a:tcPr anchor="ctr" marT="36576" marB="36576"/>
                </a:tc>
                <a:tc>
                  <a:txBody>
                    <a:bodyPr/>
                    <a:lstStyle/>
                    <a:p>
                      <a:r>
                        <a:rPr sz="1150" lang="en-GB"/>
                        <a:t>IIA</a:t>
                      </a:r>
                    </a:p>
                  </a:txBody>
                  <a:tcPr anchor="ctr" marT="36576" marB="36576"/>
                </a:tc>
                <a:tc>
                  <a:txBody>
                    <a:bodyPr/>
                    <a:lstStyle/>
                    <a:p>
                      <a:r>
                        <a:rPr sz="1150" lang="en-GB"/>
                        <a:t>Kogut &amp; Singh 1988</a:t>
                      </a:r>
                    </a:p>
                  </a:txBody>
                  <a:tcPr anchor="ctr" marT="36576" marB="36576"/>
                </a:tc>
              </a:tr>
              <a:tr h="393192">
                <a:tc>
                  <a:txBody>
                    <a:bodyPr/>
                    <a:lstStyle/>
                    <a:p>
                      <a:r>
                        <a:rPr sz="1150" b="1" lang="en-GB"/>
                        <a:t>Options with attributes</a:t>
                      </a:r>
                    </a:p>
                  </a:txBody>
                  <a:tcPr anchor="ctr" marT="36576" marB="36576"/>
                </a:tc>
                <a:tc>
                  <a:txBody>
                    <a:bodyPr/>
                    <a:lstStyle/>
                    <a:p>
                      <a:r>
                        <a:rPr sz="1150" lang="en-GB"/>
                        <a:t>Conditional logit</a:t>
                      </a:r>
                    </a:p>
                  </a:txBody>
                  <a:tcPr anchor="ctr" marT="36576" marB="36576"/>
                </a:tc>
                <a:tc>
                  <a:txBody>
                    <a:bodyPr/>
                    <a:lstStyle/>
                    <a:p>
                      <a:r>
                        <a:rPr sz="1150" lang="en-GB"/>
                        <a:t>IIA, correct choice set</a:t>
                      </a:r>
                    </a:p>
                  </a:txBody>
                  <a:tcPr anchor="ctr" marT="36576" marB="36576"/>
                </a:tc>
                <a:tc>
                  <a:txBody>
                    <a:bodyPr/>
                    <a:lstStyle/>
                    <a:p>
                      <a:r>
                        <a:rPr sz="1150" lang="en-GB"/>
                        <a:t>Head, Ries &amp; Swenson 1995</a:t>
                      </a:r>
                    </a:p>
                  </a:txBody>
                  <a:tcPr anchor="ctr" marT="36576" marB="36576"/>
                </a:tc>
              </a:tr>
              <a:tr h="393192">
                <a:tc>
                  <a:txBody>
                    <a:bodyPr/>
                    <a:lstStyle/>
                    <a:p>
                      <a:r>
                        <a:rPr sz="1150" b="1" lang="en-GB"/>
                        <a:t>Staged decisions</a:t>
                      </a:r>
                    </a:p>
                  </a:txBody>
                  <a:tcPr anchor="ctr" marT="36576" marB="36576"/>
                </a:tc>
                <a:tc>
                  <a:txBody>
                    <a:bodyPr/>
                    <a:lstStyle/>
                    <a:p>
                      <a:r>
                        <a:rPr sz="1150" lang="en-GB"/>
                        <a:t>Nested / sequential logit</a:t>
                      </a:r>
                    </a:p>
                  </a:txBody>
                  <a:tcPr anchor="ctr" marT="36576" marB="36576"/>
                </a:tc>
                <a:tc>
                  <a:txBody>
                    <a:bodyPr/>
                    <a:lstStyle/>
                    <a:p>
                      <a:r>
                        <a:rPr sz="1150" lang="en-GB"/>
                        <a:t>Nests match the decision</a:t>
                      </a:r>
                    </a:p>
                  </a:txBody>
                  <a:tcPr anchor="ctr" marT="36576" marB="36576"/>
                </a:tc>
                <a:tc>
                  <a:txBody>
                    <a:bodyPr/>
                    <a:lstStyle/>
                    <a:p>
                      <a:r>
                        <a:rPr sz="1150" lang="en-GB"/>
                        <a:t>Pan &amp; Tse 2000</a:t>
                      </a:r>
                    </a:p>
                  </a:txBody>
                  <a:tcPr anchor="ctr" marT="36576" marB="36576"/>
                </a:tc>
              </a:tr>
              <a:tr h="393192">
                <a:tc>
                  <a:txBody>
                    <a:bodyPr/>
                    <a:lstStyle/>
                    <a:p>
                      <a:r>
                        <a:rPr sz="1150" b="1" lang="en-GB"/>
                        <a:t>Taste heterogeneity</a:t>
                      </a:r>
                    </a:p>
                  </a:txBody>
                  <a:tcPr anchor="ctr" marT="36576" marB="36576"/>
                </a:tc>
                <a:tc>
                  <a:txBody>
                    <a:bodyPr/>
                    <a:lstStyle/>
                    <a:p>
                      <a:r>
                        <a:rPr sz="1150" lang="en-GB"/>
                        <a:t>Mixed logit</a:t>
                      </a:r>
                    </a:p>
                  </a:txBody>
                  <a:tcPr anchor="ctr" marT="36576" marB="36576"/>
                </a:tc>
                <a:tc>
                  <a:txBody>
                    <a:bodyPr/>
                    <a:lstStyle/>
                    <a:p>
                      <a:r>
                        <a:rPr sz="1150" lang="en-GB"/>
                        <a:t>Distribution of random coefficients</a:t>
                      </a:r>
                    </a:p>
                  </a:txBody>
                  <a:tcPr anchor="ctr" marT="36576" marB="36576"/>
                </a:tc>
                <a:tc>
                  <a:txBody>
                    <a:bodyPr/>
                    <a:lstStyle/>
                    <a:p>
                      <a:r>
                        <a:rPr sz="1150" lang="en-GB"/>
                        <a:t>Rasciute &amp; Pentecost 2014</a:t>
                      </a:r>
                    </a:p>
                  </a:txBody>
                  <a:tcPr anchor="ctr" marT="36576" marB="36576"/>
                </a:tc>
              </a:tr>
              <a:tr h="393192">
                <a:tc>
                  <a:txBody>
                    <a:bodyPr/>
                    <a:lstStyle/>
                    <a:p>
                      <a:r>
                        <a:rPr sz="1150" b="1" lang="en-GB"/>
                        <a:t>Ranked outcomes</a:t>
                      </a:r>
                    </a:p>
                  </a:txBody>
                  <a:tcPr anchor="ctr" marT="36576" marB="36576"/>
                </a:tc>
                <a:tc>
                  <a:txBody>
                    <a:bodyPr/>
                    <a:lstStyle/>
                    <a:p>
                      <a:r>
                        <a:rPr sz="1150" lang="en-GB"/>
                        <a:t>Ordered logit</a:t>
                      </a:r>
                    </a:p>
                  </a:txBody>
                  <a:tcPr anchor="ctr" marT="36576" marB="36576"/>
                </a:tc>
                <a:tc>
                  <a:txBody>
                    <a:bodyPr/>
                    <a:lstStyle/>
                    <a:p>
                      <a:r>
                        <a:rPr sz="1150" lang="en-GB"/>
                        <a:t>Proportional odds (Brant test)</a:t>
                      </a:r>
                    </a:p>
                  </a:txBody>
                  <a:tcPr anchor="ctr" marT="36576" marB="36576"/>
                </a:tc>
                <a:tc>
                  <a:txBody>
                    <a:bodyPr/>
                    <a:lstStyle/>
                    <a:p>
                      <a:r>
                        <a:rPr sz="1150" lang="en-GB"/>
                        <a:t>Few IM examples</a:t>
                      </a:r>
                    </a:p>
                  </a:txBody>
                  <a:tcPr anchor="ctr" marT="36576" marB="36576"/>
                </a:tc>
              </a:tr>
              <a:tr h="393192">
                <a:tc>
                  <a:txBody>
                    <a:bodyPr/>
                    <a:lstStyle/>
                    <a:p>
                      <a:r>
                        <a:rPr sz="1150" b="1" lang="en-GB"/>
                        <a:t>Firms in countries</a:t>
                      </a:r>
                    </a:p>
                  </a:txBody>
                  <a:tcPr anchor="ctr" marT="36576" marB="36576"/>
                </a:tc>
                <a:tc>
                  <a:txBody>
                    <a:bodyPr/>
                    <a:lstStyle/>
                    <a:p>
                      <a:r>
                        <a:rPr sz="1150" lang="en-GB"/>
                        <a:t>Multilevel logit</a:t>
                      </a:r>
                    </a:p>
                  </a:txBody>
                  <a:tcPr anchor="ctr" marT="36576" marB="36576"/>
                </a:tc>
                <a:tc>
                  <a:txBody>
                    <a:bodyPr/>
                    <a:lstStyle/>
                    <a:p>
                      <a:r>
                        <a:rPr sz="1150" lang="en-GB"/>
                        <a:t>Enough countries</a:t>
                      </a:r>
                    </a:p>
                  </a:txBody>
                  <a:tcPr anchor="ctr" marT="36576" marB="36576"/>
                </a:tc>
                <a:tc>
                  <a:txBody>
                    <a:bodyPr/>
                    <a:lstStyle/>
                    <a:p>
                      <a:r>
                        <a:rPr sz="1150" lang="en-GB"/>
                        <a:t>Arrégle et al. 2006</a:t>
                      </a:r>
                    </a:p>
                  </a:txBody>
                  <a:tcPr anchor="ctr" marT="36576" marB="36576"/>
                </a:tc>
              </a:tr>
              <a:tr h="393192">
                <a:tc>
                  <a:txBody>
                    <a:bodyPr/>
                    <a:lstStyle/>
                    <a:p>
                      <a:r>
                        <a:rPr sz="1150" b="1" lang="en-GB"/>
                        <a:t>Rare events</a:t>
                      </a:r>
                    </a:p>
                  </a:txBody>
                  <a:tcPr anchor="ctr" marT="36576" marB="36576"/>
                </a:tc>
                <a:tc>
                  <a:txBody>
                    <a:bodyPr/>
                    <a:lstStyle/>
                    <a:p>
                      <a:r>
                        <a:rPr sz="1150" lang="en-GB"/>
                        <a:t>Firth / rare-events logit</a:t>
                      </a:r>
                    </a:p>
                  </a:txBody>
                  <a:tcPr anchor="ctr" marT="36576" marB="36576"/>
                </a:tc>
                <a:tc>
                  <a:txBody>
                    <a:bodyPr/>
                    <a:lstStyle/>
                    <a:p>
                      <a:r>
                        <a:rPr sz="1150" lang="en-GB"/>
                        <a:t>Small-sample bias, separation</a:t>
                      </a:r>
                    </a:p>
                  </a:txBody>
                  <a:tcPr anchor="ctr" marT="36576" marB="36576"/>
                </a:tc>
                <a:tc>
                  <a:txBody>
                    <a:bodyPr/>
                    <a:lstStyle/>
                    <a:p>
                      <a:r>
                        <a:rPr sz="1150" lang="en-GB"/>
                        <a:t>Jiménez et al. 2019</a:t>
                      </a:r>
                    </a:p>
                  </a:txBody>
                  <a:tcPr anchor="ctr" marT="36576" marB="36576"/>
                </a:tc>
              </a:tr>
            </a:tbl>
          </a:graphicData>
        </a:graphic>
      </p:graphicFrame>
      <p:sp>
        <p:nvSpPr>
          <p:cNvPr id="3" name="Title 2"/>
          <p:cNvSpPr>
            <a:spLocks noGrp="1"/>
          </p:cNvSpPr>
          <p:nvPr>
            <p:ph type="title"/>
          </p:nvPr>
        </p:nvSpPr>
        <p:spPr/>
        <p:txBody>
          <a:bodyPr/>
          <a:lstStyle/>
          <a:p>
            <a:r>
              <a:rPr sz="1600" lang="en-GB"/>
              <a:t>The logit family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IIA: the assumption behind multinomial logit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IA card body"/>
          <p:cNvSpPr/>
          <p:nvPr/>
        </p:nvSpPr>
        <p:spPr>
          <a:xfrm>
            <a:off x="457200" y="173736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IA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IA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IIA demands</a:t>
            </a:r>
          </a:p>
        </p:txBody>
      </p:sp>
      <p:pic>
        <p:nvPicPr>
          <p:cNvPr id="13" name="Icon IIA card" descr=""/>
          <p:cNvPicPr>
            <a:picLocks noChangeAspect="1"/>
          </p:cNvPicPr>
          <p:nvPr/>
        </p:nvPicPr>
        <p:blipFill>
          <a:blip r:embed="rId3"/>
          <a:stretch>
            <a:fillRect/>
          </a:stretch>
        </p:blipFill>
        <p:spPr>
          <a:xfrm>
            <a:off x="4041648" y="1376172"/>
            <a:ext cx="310896" cy="310896"/>
          </a:xfrm>
          <a:prstGeom prst="rect">
            <a:avLst/>
          </a:prstGeom>
        </p:spPr>
      </p:pic>
      <p:sp>
        <p:nvSpPr>
          <p:cNvPr id="14" name="IIA card text"/>
          <p:cNvSpPr txBox="1"/>
          <p:nvPr/>
        </p:nvSpPr>
        <p:spPr>
          <a:xfrm>
            <a:off x="621792" y="187452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odds between two modes must not change when a third is added</a:t>
            </a:r>
          </a:p>
          <a:p>
            <a:pPr algn="l" marL="182880" indent="-182880">
              <a:spcAft>
                <a:spcPts val="600"/>
              </a:spcAft>
              <a:buClr>
                <a:schemeClr val="accent1"/>
              </a:buClr>
              <a:buFont typeface="Arial"/>
              <a:buChar char="▪"/>
            </a:pPr>
            <a:r>
              <a:rPr sz="1300" b="0" lang="en-GB">
                <a:solidFill>
                  <a:schemeClr val="tx1"/>
                </a:solidFill>
              </a:rPr>
              <a:t>Implausible when greenfield and acquisition are close substitutes</a:t>
            </a:r>
          </a:p>
          <a:p>
            <a:pPr algn="l" marL="182880" indent="-182880">
              <a:spcAft>
                <a:spcPts val="600"/>
              </a:spcAft>
              <a:buClr>
                <a:schemeClr val="accent1"/>
              </a:buClr>
              <a:buFont typeface="Arial"/>
              <a:buChar char="▪"/>
            </a:pPr>
            <a:r>
              <a:rPr sz="1300" b="0" lang="en-GB">
                <a:solidFill>
                  <a:schemeClr val="tx1"/>
                </a:solidFill>
              </a:rPr>
              <a:t>Standard IIA tests contradict each other (Cheng &amp; Long 2007)</a:t>
            </a:r>
          </a:p>
        </p:txBody>
      </p:sp>
      <p:sp>
        <p:nvSpPr>
          <p:cNvPr id="15" name="Sequence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quence heading"/>
          <p:cNvSpPr txBox="1"/>
          <p:nvPr/>
        </p:nvSpPr>
        <p:spPr>
          <a:xfrm>
            <a:off x="4800600" y="132588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 staged decision</a:t>
            </a:r>
          </a:p>
        </p:txBody>
      </p:sp>
      <p:pic>
        <p:nvPicPr>
          <p:cNvPr id="17" name="Icon Sequence" descr=""/>
          <p:cNvPicPr>
            <a:picLocks noChangeAspect="1"/>
          </p:cNvPicPr>
          <p:nvPr/>
        </p:nvPicPr>
        <p:blipFill>
          <a:blip r:embed="rId4"/>
          <a:stretch>
            <a:fillRect/>
          </a:stretch>
        </p:blipFill>
        <p:spPr>
          <a:xfrm>
            <a:off x="8266176" y="1385316"/>
            <a:ext cx="292608" cy="292608"/>
          </a:xfrm>
          <a:prstGeom prst="rect">
            <a:avLst/>
          </a:prstGeom>
        </p:spPr>
      </p:pic>
      <p:sp>
        <p:nvSpPr>
          <p:cNvPr id="18" name="Sequence 1"/>
          <p:cNvSpPr/>
          <p:nvPr/>
        </p:nvSpPr>
        <p:spPr>
          <a:xfrm>
            <a:off x="4663440" y="187452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quence number box 1"/>
          <p:cNvSpPr/>
          <p:nvPr/>
        </p:nvSpPr>
        <p:spPr>
          <a:xfrm>
            <a:off x="4663440" y="187452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quence number 1"/>
          <p:cNvSpPr txBox="1"/>
          <p:nvPr/>
        </p:nvSpPr>
        <p:spPr>
          <a:xfrm>
            <a:off x="4663440" y="187452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21" name="Sequence text 1"/>
          <p:cNvSpPr txBox="1"/>
          <p:nvPr/>
        </p:nvSpPr>
        <p:spPr>
          <a:xfrm>
            <a:off x="5303520" y="1874520"/>
            <a:ext cx="3246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Export or FDI?</a:t>
            </a:r>
          </a:p>
        </p:txBody>
      </p:sp>
      <p:sp>
        <p:nvSpPr>
          <p:cNvPr id="22" name="Sequence 2"/>
          <p:cNvSpPr/>
          <p:nvPr/>
        </p:nvSpPr>
        <p:spPr>
          <a:xfrm>
            <a:off x="4663440" y="2532888"/>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quence number box 2"/>
          <p:cNvSpPr/>
          <p:nvPr/>
        </p:nvSpPr>
        <p:spPr>
          <a:xfrm>
            <a:off x="4663440" y="2532888"/>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quence number 2"/>
          <p:cNvSpPr txBox="1"/>
          <p:nvPr/>
        </p:nvSpPr>
        <p:spPr>
          <a:xfrm>
            <a:off x="4663440" y="2532888"/>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25" name="Sequence text 2"/>
          <p:cNvSpPr txBox="1"/>
          <p:nvPr/>
        </p:nvSpPr>
        <p:spPr>
          <a:xfrm>
            <a:off x="5303520" y="2532888"/>
            <a:ext cx="3246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Greenfield or acquisition?</a:t>
            </a:r>
          </a:p>
        </p:txBody>
      </p:sp>
      <p:sp>
        <p:nvSpPr>
          <p:cNvPr id="26" name="Sequence 3"/>
          <p:cNvSpPr/>
          <p:nvPr/>
        </p:nvSpPr>
        <p:spPr>
          <a:xfrm>
            <a:off x="4663440" y="3191256"/>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quence number box 3"/>
          <p:cNvSpPr/>
          <p:nvPr/>
        </p:nvSpPr>
        <p:spPr>
          <a:xfrm>
            <a:off x="4663440" y="3191256"/>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quence number 3"/>
          <p:cNvSpPr txBox="1"/>
          <p:nvPr/>
        </p:nvSpPr>
        <p:spPr>
          <a:xfrm>
            <a:off x="4663440" y="3191256"/>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9" name="Sequence text 3"/>
          <p:cNvSpPr txBox="1"/>
          <p:nvPr/>
        </p:nvSpPr>
        <p:spPr>
          <a:xfrm>
            <a:off x="5303520" y="3191256"/>
            <a:ext cx="3246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Wholly owned or joint venture?</a:t>
            </a:r>
          </a:p>
        </p:txBody>
      </p:sp>
      <p:sp>
        <p:nvSpPr>
          <p:cNvPr id="30" name="IIA callout box"/>
          <p:cNvSpPr/>
          <p:nvPr/>
        </p:nvSpPr>
        <p:spPr>
          <a:xfrm>
            <a:off x="457200" y="402336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IA callout text"/>
          <p:cNvSpPr txBox="1"/>
          <p:nvPr/>
        </p:nvSpPr>
        <p:spPr>
          <a:xfrm>
            <a:off x="594360" y="4133088"/>
            <a:ext cx="7955280" cy="512064"/>
          </a:xfrm>
          <a:prstGeom prst="rect">
            <a:avLst/>
          </a:prstGeom>
          <a:noFill/>
        </p:spPr>
        <p:txBody>
          <a:bodyPr wrap="square" lIns="0" rIns="0" tIns="0" bIns="0" anchor="ctr">
            <a:noAutofit/>
          </a:bodyPr>
          <a:lstStyle/>
          <a:p>
            <a:pPr algn="l">
              <a:spcAft>
                <a:spcPts val="400"/>
              </a:spcAft>
            </a:pPr>
            <a:r>
              <a:rPr sz="1300" b="1" lang="en-GB">
                <a:solidFill>
                  <a:schemeClr val="bg1"/>
                </a:solidFill>
              </a:rPr>
              <a:t>Defend MNL with theory about substitutes, </a:t>
            </a:r>
            <a:r>
              <a:rPr sz="1300" b="0" lang="en-GB">
                <a:solidFill>
                  <a:schemeClr val="bg1"/>
                </a:solidFill>
              </a:rPr>
              <a:t>then check with a nested or mixed logit.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Firms nested in countries: how many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ries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ries stat 1 figure"/>
          <p:cNvSpPr txBox="1"/>
          <p:nvPr/>
        </p:nvSpPr>
        <p:spPr>
          <a:xfrm>
            <a:off x="621792" y="132588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25–30</a:t>
            </a:r>
          </a:p>
        </p:txBody>
      </p:sp>
      <p:sp>
        <p:nvSpPr>
          <p:cNvPr id="12" name="Countries stat 1 label"/>
          <p:cNvSpPr txBox="1"/>
          <p:nvPr/>
        </p:nvSpPr>
        <p:spPr>
          <a:xfrm>
            <a:off x="2286000" y="132588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as a rough minimum for country-level inference (Bryan &amp; Jenkins 2016)</a:t>
            </a:r>
          </a:p>
        </p:txBody>
      </p:sp>
      <p:sp>
        <p:nvSpPr>
          <p:cNvPr id="13" name="Countries stat 2 bar"/>
          <p:cNvSpPr/>
          <p:nvPr/>
        </p:nvSpPr>
        <p:spPr>
          <a:xfrm>
            <a:off x="457200" y="2121408"/>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untries stat 2 figure"/>
          <p:cNvSpPr txBox="1"/>
          <p:nvPr/>
        </p:nvSpPr>
        <p:spPr>
          <a:xfrm>
            <a:off x="621792" y="2121408"/>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a:t>
            </a:r>
          </a:p>
        </p:txBody>
      </p:sp>
      <p:sp>
        <p:nvSpPr>
          <p:cNvPr id="15" name="Countries stat 2 label"/>
          <p:cNvSpPr txBox="1"/>
          <p:nvPr/>
        </p:nvSpPr>
        <p:spPr>
          <a:xfrm>
            <a:off x="2286000" y="2121408"/>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in EU-EFIGE: use country fixed effects, not country random effects</a:t>
            </a:r>
          </a:p>
        </p:txBody>
      </p:sp>
      <p:sp>
        <p:nvSpPr>
          <p:cNvPr id="16" name="Countries stat 3 bar"/>
          <p:cNvSpPr/>
          <p:nvPr/>
        </p:nvSpPr>
        <p:spPr>
          <a:xfrm>
            <a:off x="457200" y="2916936"/>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ies stat 3 figure"/>
          <p:cNvSpPr txBox="1"/>
          <p:nvPr/>
        </p:nvSpPr>
        <p:spPr>
          <a:xfrm>
            <a:off x="621792" y="2916936"/>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8" name="Countries stat 3 label"/>
          <p:cNvSpPr txBox="1"/>
          <p:nvPr/>
        </p:nvSpPr>
        <p:spPr>
          <a:xfrm>
            <a:off x="2286000" y="2916936"/>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economies in Global Findex: enough for country-level moderators</a:t>
            </a:r>
          </a:p>
        </p:txBody>
      </p:sp>
      <p:sp>
        <p:nvSpPr>
          <p:cNvPr id="19" name="Multilevel callout box"/>
          <p:cNvSpPr/>
          <p:nvPr/>
        </p:nvSpPr>
        <p:spPr>
          <a:xfrm>
            <a:off x="457200" y="384048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ultilevel callout text"/>
          <p:cNvSpPr txBox="1"/>
          <p:nvPr/>
        </p:nvSpPr>
        <p:spPr>
          <a:xfrm>
            <a:off x="594360" y="395020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Cross-level interaction? </a:t>
            </a:r>
            <a:r>
              <a:rPr sz="1300" b="0" lang="en-GB">
                <a:solidFill>
                  <a:schemeClr val="bg1"/>
                </a:solidFill>
              </a:rPr>
              <a:t>Add a random slope, e.g. for firm experience when testing uncertainty avoidance × experience.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entry, export, markets, consumers</a:t>
            </a:r>
          </a:p>
        </p:txBody>
      </p:sp>
      <p:sp>
        <p:nvSpPr>
          <p:cNvPr id="3" name="Title 2"/>
          <p:cNvSpPr>
            <a:spLocks noGrp="1"/>
          </p:cNvSpPr>
          <p:nvPr>
            <p:ph type="ctrTitle"/>
          </p:nvPr>
        </p:nvSpPr>
        <p:spPr/>
        <p:txBody>
          <a:bodyPr/>
          <a:lstStyle/>
          <a:p>
            <a:r>
              <a:rPr lang="en-GB"/>
              <a:t>Applications in international marketing</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Entry mode: four decades, four model generations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eneration step 1"/>
          <p:cNvSpPr/>
          <p:nvPr/>
        </p:nvSpPr>
        <p:spPr>
          <a:xfrm>
            <a:off x="457200" y="1325880"/>
            <a:ext cx="2139696"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300" b="1" lang="en-GB">
                <a:solidFill>
                  <a:schemeClr val="tx2"/>
                </a:solidFill>
              </a:rPr>
              <a:t>Binary</a:t>
            </a:r>
          </a:p>
        </p:txBody>
      </p:sp>
      <p:sp>
        <p:nvSpPr>
          <p:cNvPr id="11" name="Generation step 2"/>
          <p:cNvSpPr/>
          <p:nvPr/>
        </p:nvSpPr>
        <p:spPr>
          <a:xfrm>
            <a:off x="2487168"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Multinomial</a:t>
            </a:r>
          </a:p>
        </p:txBody>
      </p:sp>
      <p:sp>
        <p:nvSpPr>
          <p:cNvPr id="12" name="Generation step 3"/>
          <p:cNvSpPr/>
          <p:nvPr/>
        </p:nvSpPr>
        <p:spPr>
          <a:xfrm>
            <a:off x="4517136"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Nested</a:t>
            </a:r>
          </a:p>
        </p:txBody>
      </p:sp>
      <p:sp>
        <p:nvSpPr>
          <p:cNvPr id="13" name="Generation step 4"/>
          <p:cNvSpPr/>
          <p:nvPr/>
        </p:nvSpPr>
        <p:spPr>
          <a:xfrm>
            <a:off x="6547104"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Multilevel</a:t>
            </a:r>
          </a:p>
        </p:txBody>
      </p:sp>
      <p:sp>
        <p:nvSpPr>
          <p:cNvPr id="14" name="Generation 1 box"/>
          <p:cNvSpPr/>
          <p:nvPr/>
        </p:nvSpPr>
        <p:spPr>
          <a:xfrm>
            <a:off x="475488"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Generation 1 text"/>
          <p:cNvSpPr txBox="1"/>
          <p:nvPr/>
        </p:nvSpPr>
        <p:spPr>
          <a:xfrm>
            <a:off x="585216"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1987</a:t>
            </a:r>
          </a:p>
          <a:p>
            <a:pPr algn="l">
              <a:spcAft>
                <a:spcPts val="600"/>
              </a:spcAft>
            </a:pPr>
            <a:r>
              <a:rPr sz="1200" b="0" lang="en-GB">
                <a:solidFill>
                  <a:schemeClr val="tx1"/>
                </a:solidFill>
              </a:rPr>
              <a:t>Anderson &amp; Coughlan: integrated vs independent channels</a:t>
            </a:r>
          </a:p>
        </p:txBody>
      </p:sp>
      <p:sp>
        <p:nvSpPr>
          <p:cNvPr id="16" name="Generation 2 box"/>
          <p:cNvSpPr/>
          <p:nvPr/>
        </p:nvSpPr>
        <p:spPr>
          <a:xfrm>
            <a:off x="2505456"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eneration 2 text"/>
          <p:cNvSpPr txBox="1"/>
          <p:nvPr/>
        </p:nvSpPr>
        <p:spPr>
          <a:xfrm>
            <a:off x="2615184"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1988</a:t>
            </a:r>
          </a:p>
          <a:p>
            <a:pPr algn="l">
              <a:spcAft>
                <a:spcPts val="600"/>
              </a:spcAft>
            </a:pPr>
            <a:r>
              <a:rPr sz="1200" b="0" lang="en-GB">
                <a:solidFill>
                  <a:schemeClr val="tx1"/>
                </a:solidFill>
              </a:rPr>
              <a:t>Kogut &amp; Singh: 228 US entries, cultural distance</a:t>
            </a:r>
          </a:p>
        </p:txBody>
      </p:sp>
      <p:sp>
        <p:nvSpPr>
          <p:cNvPr id="18" name="Generation 3 box"/>
          <p:cNvSpPr/>
          <p:nvPr/>
        </p:nvSpPr>
        <p:spPr>
          <a:xfrm>
            <a:off x="4535424"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eneration 3 text"/>
          <p:cNvSpPr txBox="1"/>
          <p:nvPr/>
        </p:nvSpPr>
        <p:spPr>
          <a:xfrm>
            <a:off x="4645152"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2000</a:t>
            </a:r>
          </a:p>
          <a:p>
            <a:pPr algn="l">
              <a:spcAft>
                <a:spcPts val="600"/>
              </a:spcAft>
            </a:pPr>
            <a:r>
              <a:rPr sz="1200" b="0" lang="en-GB">
                <a:solidFill>
                  <a:schemeClr val="tx1"/>
                </a:solidFill>
              </a:rPr>
              <a:t>Pan &amp; Tse: 10,000+ entries in China, equity choice first</a:t>
            </a:r>
          </a:p>
        </p:txBody>
      </p:sp>
      <p:sp>
        <p:nvSpPr>
          <p:cNvPr id="20" name="Generation 4 box"/>
          <p:cNvSpPr/>
          <p:nvPr/>
        </p:nvSpPr>
        <p:spPr>
          <a:xfrm>
            <a:off x="6565392"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eneration 4 text"/>
          <p:cNvSpPr txBox="1"/>
          <p:nvPr/>
        </p:nvSpPr>
        <p:spPr>
          <a:xfrm>
            <a:off x="6675120"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2006–25</a:t>
            </a:r>
          </a:p>
          <a:p>
            <a:pPr algn="l">
              <a:spcAft>
                <a:spcPts val="600"/>
              </a:spcAft>
            </a:pPr>
            <a:r>
              <a:rPr sz="1200" b="0" lang="en-GB">
                <a:solidFill>
                  <a:schemeClr val="tx1"/>
                </a:solidFill>
              </a:rPr>
              <a:t>Arrégle et al.; Mas-Ruiz et al.: 3,023 FDIs, 100 countries</a:t>
            </a:r>
          </a:p>
        </p:txBody>
      </p:sp>
      <p:sp>
        <p:nvSpPr>
          <p:cNvPr id="22" name="Generation callout box"/>
          <p:cNvSpPr/>
          <p:nvPr/>
        </p:nvSpPr>
        <p:spPr>
          <a:xfrm>
            <a:off x="457200" y="35204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eneration callout text"/>
          <p:cNvSpPr txBox="1"/>
          <p:nvPr/>
        </p:nvSpPr>
        <p:spPr>
          <a:xfrm>
            <a:off x="594360" y="363016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Each step fixed a weakness of the one before: </a:t>
            </a:r>
            <a:r>
              <a:rPr sz="1300" b="0" lang="en-GB">
                <a:solidFill>
                  <a:schemeClr val="bg1"/>
                </a:solidFill>
              </a:rPr>
              <a:t>too few options, IIA, then data nested in firms and countries.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Meta-analyses: why cultural distance looks inconsistent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ta stat 1 bar"/>
          <p:cNvSpPr/>
          <p:nvPr/>
        </p:nvSpPr>
        <p:spPr>
          <a:xfrm>
            <a:off x="457200" y="1325880"/>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ta stat 1 figure"/>
          <p:cNvSpPr txBox="1"/>
          <p:nvPr/>
        </p:nvSpPr>
        <p:spPr>
          <a:xfrm>
            <a:off x="621792" y="1325880"/>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2" name="Meta stat 1 label"/>
          <p:cNvSpPr txBox="1"/>
          <p:nvPr/>
        </p:nvSpPr>
        <p:spPr>
          <a:xfrm>
            <a:off x="2286000" y="1325880"/>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studies, 106 effect sizes: TCE effects as predicted, but moderated (Zhao, Luo &amp; Suh 2004)</a:t>
            </a:r>
          </a:p>
        </p:txBody>
      </p:sp>
      <p:sp>
        <p:nvSpPr>
          <p:cNvPr id="13" name="Meta stat 2 bar"/>
          <p:cNvSpPr/>
          <p:nvPr/>
        </p:nvSpPr>
        <p:spPr>
          <a:xfrm>
            <a:off x="457200" y="2039112"/>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eta stat 2 figure"/>
          <p:cNvSpPr txBox="1"/>
          <p:nvPr/>
        </p:nvSpPr>
        <p:spPr>
          <a:xfrm>
            <a:off x="621792" y="2039112"/>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66</a:t>
            </a:r>
          </a:p>
        </p:txBody>
      </p:sp>
      <p:sp>
        <p:nvSpPr>
          <p:cNvPr id="15" name="Meta stat 2 label"/>
          <p:cNvSpPr txBox="1"/>
          <p:nvPr/>
        </p:nvSpPr>
        <p:spPr>
          <a:xfrm>
            <a:off x="2286000" y="2039112"/>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samples: no overall link between cultural distance and entry mode (Tihanyi et al. 2005)</a:t>
            </a:r>
          </a:p>
        </p:txBody>
      </p:sp>
      <p:sp>
        <p:nvSpPr>
          <p:cNvPr id="16" name="Meta stat 3 bar"/>
          <p:cNvSpPr/>
          <p:nvPr/>
        </p:nvSpPr>
        <p:spPr>
          <a:xfrm>
            <a:off x="457200" y="2752344"/>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ta stat 3 figure"/>
          <p:cNvSpPr txBox="1"/>
          <p:nvPr/>
        </p:nvSpPr>
        <p:spPr>
          <a:xfrm>
            <a:off x="621792" y="2752344"/>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230</a:t>
            </a:r>
          </a:p>
        </p:txBody>
      </p:sp>
      <p:sp>
        <p:nvSpPr>
          <p:cNvPr id="18" name="Meta stat 3 label"/>
          <p:cNvSpPr txBox="1"/>
          <p:nvPr/>
        </p:nvSpPr>
        <p:spPr>
          <a:xfrm>
            <a:off x="2286000" y="2752344"/>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studies with 1,499 effect sizes in a meta-analytic SEM (Wan et al. 2023)</a:t>
            </a:r>
          </a:p>
        </p:txBody>
      </p:sp>
      <p:sp>
        <p:nvSpPr>
          <p:cNvPr id="19" name="Meta stat 4 bar"/>
          <p:cNvSpPr/>
          <p:nvPr/>
        </p:nvSpPr>
        <p:spPr>
          <a:xfrm>
            <a:off x="457200" y="3465576"/>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eta stat 4 figure"/>
          <p:cNvSpPr txBox="1"/>
          <p:nvPr/>
        </p:nvSpPr>
        <p:spPr>
          <a:xfrm>
            <a:off x="621792" y="3465576"/>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1,217</a:t>
            </a:r>
          </a:p>
        </p:txBody>
      </p:sp>
      <p:sp>
        <p:nvSpPr>
          <p:cNvPr id="21" name="Meta stat 4 label"/>
          <p:cNvSpPr txBox="1"/>
          <p:nvPr/>
        </p:nvSpPr>
        <p:spPr>
          <a:xfrm>
            <a:off x="2286000" y="3465576"/>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tests in 119 studies: interaction terms often misread (Wulff)</a:t>
            </a:r>
          </a:p>
        </p:txBody>
      </p:sp>
      <p:sp>
        <p:nvSpPr>
          <p:cNvPr id="22" name="Meta callout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ta callout text"/>
          <p:cNvSpPr txBox="1"/>
          <p:nvPr/>
        </p:nvSpPr>
        <p:spPr>
          <a:xfrm>
            <a:off x="594360" y="4315968"/>
            <a:ext cx="7955280" cy="374904"/>
          </a:xfrm>
          <a:prstGeom prst="rect">
            <a:avLst/>
          </a:prstGeom>
          <a:noFill/>
        </p:spPr>
        <p:txBody>
          <a:bodyPr wrap="square" lIns="0" rIns="0" tIns="0" bIns="0" anchor="ctr">
            <a:noAutofit/>
          </a:bodyPr>
          <a:lstStyle/>
          <a:p>
            <a:pPr algn="l">
              <a:spcAft>
                <a:spcPts val="400"/>
              </a:spcAft>
            </a:pPr>
            <a:r>
              <a:rPr sz="1300" b="1" lang="en-GB">
                <a:solidFill>
                  <a:schemeClr val="bg1"/>
                </a:solidFill>
              </a:rPr>
              <a:t>Inference, not proof: </a:t>
            </a:r>
            <a:r>
              <a:rPr sz="1300" b="0" lang="en-GB">
                <a:solidFill>
                  <a:schemeClr val="bg1"/>
                </a:solidFill>
              </a:rPr>
              <a:t>part of the mixed record may be methodological.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Exporting: sunk costs make firms keep exporting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port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port stat 1 figure"/>
          <p:cNvSpPr txBox="1"/>
          <p:nvPr/>
        </p:nvSpPr>
        <p:spPr>
          <a:xfrm>
            <a:off x="621792" y="1325880"/>
            <a:ext cx="18288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60 pp</a:t>
            </a:r>
          </a:p>
        </p:txBody>
      </p:sp>
      <p:sp>
        <p:nvSpPr>
          <p:cNvPr id="12" name="Export stat 1 label"/>
          <p:cNvSpPr txBox="1"/>
          <p:nvPr/>
        </p:nvSpPr>
        <p:spPr>
          <a:xfrm>
            <a:off x="2514600" y="1325880"/>
            <a:ext cx="61722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higher export probability after prior exporting, Colombian plants (Roberts &amp; Tybout 1997)</a:t>
            </a:r>
          </a:p>
        </p:txBody>
      </p:sp>
      <p:sp>
        <p:nvSpPr>
          <p:cNvPr id="13" name="Export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port stat 2 figure"/>
          <p:cNvSpPr txBox="1"/>
          <p:nvPr/>
        </p:nvSpPr>
        <p:spPr>
          <a:xfrm>
            <a:off x="621792" y="2148840"/>
            <a:ext cx="18288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15" name="Export stat 2 label"/>
          <p:cNvSpPr txBox="1"/>
          <p:nvPr/>
        </p:nvSpPr>
        <p:spPr>
          <a:xfrm>
            <a:off x="2514600" y="2148840"/>
            <a:ext cx="61722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higher chance of exporting tomorrow when exporting today (Bernard &amp; Wagner)</a:t>
            </a:r>
          </a:p>
        </p:txBody>
      </p:sp>
      <p:sp>
        <p:nvSpPr>
          <p:cNvPr id="16" name="Export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port stat 3 figure"/>
          <p:cNvSpPr txBox="1"/>
          <p:nvPr/>
        </p:nvSpPr>
        <p:spPr>
          <a:xfrm>
            <a:off x="621792" y="2971800"/>
            <a:ext cx="18288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≤40 %</a:t>
            </a:r>
          </a:p>
        </p:txBody>
      </p:sp>
      <p:sp>
        <p:nvSpPr>
          <p:cNvPr id="18" name="Export stat 3 label"/>
          <p:cNvSpPr txBox="1"/>
          <p:nvPr/>
        </p:nvSpPr>
        <p:spPr>
          <a:xfrm>
            <a:off x="2514600" y="2971800"/>
            <a:ext cx="61722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that persistence is sunk cost once learning is modelled (Timoshenko)</a:t>
            </a:r>
          </a:p>
        </p:txBody>
      </p:sp>
      <p:sp>
        <p:nvSpPr>
          <p:cNvPr id="19" name="Export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port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Teaching point: </a:t>
            </a:r>
            <a:r>
              <a:rPr sz="1300" b="0" lang="en-GB">
                <a:solidFill>
                  <a:schemeClr val="bg1"/>
                </a:solidFill>
              </a:rPr>
              <a:t>logit or probit matters little; the dynamic structure matters a lot.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3840480" cy="2688336"/>
        </p:xfrm>
        <a:graphic>
          <a:graphicData uri="http://schemas.openxmlformats.org/drawingml/2006/table">
            <a:tbl>
              <a:tblPr firstRow="1" bandRow="1">
                <a:tableStyleId>{5C22544A-7EE6-4342-B048-85BDC9FD1C3A}</a:tableStyleId>
              </a:tblPr>
              <a:tblGrid>
                <a:gridCol w="685800"/>
                <a:gridCol w="1188720"/>
                <a:gridCol w="914400"/>
                <a:gridCol w="1051560"/>
              </a:tblGrid>
              <a:tr h="384048">
                <a:tc>
                  <a:txBody>
                    <a:bodyPr/>
                    <a:lstStyle/>
                    <a:p>
                      <a:r>
                        <a:rPr sz="1200" lang="en-GB"/>
                        <a:t>Plant</a:t>
                      </a:r>
                    </a:p>
                  </a:txBody>
                  <a:tcPr anchor="ctr" marT="36576" marB="36576"/>
                </a:tc>
                <a:tc>
                  <a:txBody>
                    <a:bodyPr/>
                    <a:lstStyle/>
                    <a:p>
                      <a:r>
                        <a:rPr sz="1200" lang="en-GB"/>
                        <a:t>Option</a:t>
                      </a:r>
                    </a:p>
                  </a:txBody>
                  <a:tcPr anchor="ctr" marT="36576" marB="36576"/>
                </a:tc>
                <a:tc>
                  <a:txBody>
                    <a:bodyPr/>
                    <a:lstStyle/>
                    <a:p>
                      <a:r>
                        <a:rPr sz="1200" lang="en-GB"/>
                        <a:t>Chosen</a:t>
                      </a:r>
                    </a:p>
                  </a:txBody>
                  <a:tcPr anchor="ctr" marT="36576" marB="36576"/>
                </a:tc>
                <a:tc>
                  <a:txBody>
                    <a:bodyPr/>
                    <a:lstStyle/>
                    <a:p>
                      <a:r>
                        <a:rPr sz="1200" lang="en-GB"/>
                        <a:t>Cluster</a:t>
                      </a:r>
                    </a:p>
                  </a:txBody>
                  <a:tcPr anchor="ctr" marT="36576" marB="36576"/>
                </a:tc>
              </a:tr>
              <a:tr h="384048">
                <a:tc>
                  <a:txBody>
                    <a:bodyPr/>
                    <a:lstStyle/>
                    <a:p>
                      <a:r>
                        <a:rPr sz="1200" b="1" lang="en-GB"/>
                        <a:t>1</a:t>
                      </a:r>
                    </a:p>
                  </a:txBody>
                  <a:tcPr anchor="ctr" marT="36576" marB="36576"/>
                </a:tc>
                <a:tc>
                  <a:txBody>
                    <a:bodyPr/>
                    <a:lstStyle/>
                    <a:p>
                      <a:r>
                        <a:rPr sz="1200" lang="en-GB"/>
                        <a:t>Ohio</a:t>
                      </a:r>
                    </a:p>
                  </a:txBody>
                  <a:tcPr anchor="ctr" marT="36576" marB="36576"/>
                </a:tc>
                <a:tc>
                  <a:txBody>
                    <a:bodyPr/>
                    <a:lstStyle/>
                    <a:p>
                      <a:r>
                        <a:rPr sz="1200" lang="en-GB"/>
                        <a:t>1</a:t>
                      </a:r>
                    </a:p>
                  </a:txBody>
                  <a:tcPr anchor="ctr" marT="36576" marB="36576"/>
                </a:tc>
                <a:tc>
                  <a:txBody>
                    <a:bodyPr/>
                    <a:lstStyle/>
                    <a:p>
                      <a:r>
                        <a:rPr sz="1200" lang="en-GB"/>
                        <a:t>high</a:t>
                      </a:r>
                    </a:p>
                  </a:txBody>
                  <a:tcPr anchor="ctr" marT="36576" marB="36576"/>
                </a:tc>
              </a:tr>
              <a:tr h="384048">
                <a:tc>
                  <a:txBody>
                    <a:bodyPr/>
                    <a:lstStyle/>
                    <a:p>
                      <a:r>
                        <a:rPr sz="1200" b="1" lang="en-GB"/>
                        <a:t>1</a:t>
                      </a:r>
                    </a:p>
                  </a:txBody>
                  <a:tcPr anchor="ctr" marT="36576" marB="36576"/>
                </a:tc>
                <a:tc>
                  <a:txBody>
                    <a:bodyPr/>
                    <a:lstStyle/>
                    <a:p>
                      <a:r>
                        <a:rPr sz="1200" lang="en-GB"/>
                        <a:t>Texas</a:t>
                      </a:r>
                    </a:p>
                  </a:txBody>
                  <a:tcPr anchor="ctr" marT="36576" marB="36576"/>
                </a:tc>
                <a:tc>
                  <a:txBody>
                    <a:bodyPr/>
                    <a:lstStyle/>
                    <a:p>
                      <a:r>
                        <a:rPr sz="1200" lang="en-GB"/>
                        <a:t>0</a:t>
                      </a:r>
                    </a:p>
                  </a:txBody>
                  <a:tcPr anchor="ctr" marT="36576" marB="36576"/>
                </a:tc>
                <a:tc>
                  <a:txBody>
                    <a:bodyPr/>
                    <a:lstStyle/>
                    <a:p>
                      <a:r>
                        <a:rPr sz="1200" lang="en-GB"/>
                        <a:t>medium</a:t>
                      </a:r>
                    </a:p>
                  </a:txBody>
                  <a:tcPr anchor="ctr" marT="36576" marB="36576"/>
                </a:tc>
              </a:tr>
              <a:tr h="384048">
                <a:tc>
                  <a:txBody>
                    <a:bodyPr/>
                    <a:lstStyle/>
                    <a:p>
                      <a:r>
                        <a:rPr sz="1200" b="1" lang="en-GB"/>
                        <a:t>1</a:t>
                      </a:r>
                    </a:p>
                  </a:txBody>
                  <a:tcPr anchor="ctr" marT="36576" marB="36576"/>
                </a:tc>
                <a:tc>
                  <a:txBody>
                    <a:bodyPr/>
                    <a:lstStyle/>
                    <a:p>
                      <a:r>
                        <a:rPr sz="1200" lang="en-GB"/>
                        <a:t>Kentucky</a:t>
                      </a:r>
                    </a:p>
                  </a:txBody>
                  <a:tcPr anchor="ctr" marT="36576" marB="36576"/>
                </a:tc>
                <a:tc>
                  <a:txBody>
                    <a:bodyPr/>
                    <a:lstStyle/>
                    <a:p>
                      <a:r>
                        <a:rPr sz="1200" lang="en-GB"/>
                        <a:t>0</a:t>
                      </a:r>
                    </a:p>
                  </a:txBody>
                  <a:tcPr anchor="ctr" marT="36576" marB="36576"/>
                </a:tc>
                <a:tc>
                  <a:txBody>
                    <a:bodyPr/>
                    <a:lstStyle/>
                    <a:p>
                      <a:r>
                        <a:rPr sz="1200" lang="en-GB"/>
                        <a:t>low</a:t>
                      </a:r>
                    </a:p>
                  </a:txBody>
                  <a:tcPr anchor="ctr" marT="36576" marB="36576"/>
                </a:tc>
              </a:tr>
              <a:tr h="384048">
                <a:tc>
                  <a:txBody>
                    <a:bodyPr/>
                    <a:lstStyle/>
                    <a:p>
                      <a:r>
                        <a:rPr sz="1200" b="1" lang="en-GB"/>
                        <a:t>2</a:t>
                      </a:r>
                    </a:p>
                  </a:txBody>
                  <a:tcPr anchor="ctr" marT="36576" marB="36576"/>
                </a:tc>
                <a:tc>
                  <a:txBody>
                    <a:bodyPr/>
                    <a:lstStyle/>
                    <a:p>
                      <a:r>
                        <a:rPr sz="1200" lang="en-GB"/>
                        <a:t>Ohio</a:t>
                      </a:r>
                    </a:p>
                  </a:txBody>
                  <a:tcPr anchor="ctr" marT="36576" marB="36576"/>
                </a:tc>
                <a:tc>
                  <a:txBody>
                    <a:bodyPr/>
                    <a:lstStyle/>
                    <a:p>
                      <a:r>
                        <a:rPr sz="1200" lang="en-GB"/>
                        <a:t>0</a:t>
                      </a:r>
                    </a:p>
                  </a:txBody>
                  <a:tcPr anchor="ctr" marT="36576" marB="36576"/>
                </a:tc>
                <a:tc>
                  <a:txBody>
                    <a:bodyPr/>
                    <a:lstStyle/>
                    <a:p>
                      <a:r>
                        <a:rPr sz="1200" lang="en-GB"/>
                        <a:t>high</a:t>
                      </a:r>
                    </a:p>
                  </a:txBody>
                  <a:tcPr anchor="ctr" marT="36576" marB="36576"/>
                </a:tc>
              </a:tr>
              <a:tr h="384048">
                <a:tc>
                  <a:txBody>
                    <a:bodyPr/>
                    <a:lstStyle/>
                    <a:p>
                      <a:r>
                        <a:rPr sz="1200" b="1" lang="en-GB"/>
                        <a:t>2</a:t>
                      </a:r>
                    </a:p>
                  </a:txBody>
                  <a:tcPr anchor="ctr" marT="36576" marB="36576"/>
                </a:tc>
                <a:tc>
                  <a:txBody>
                    <a:bodyPr/>
                    <a:lstStyle/>
                    <a:p>
                      <a:r>
                        <a:rPr sz="1200" lang="en-GB"/>
                        <a:t>Texas</a:t>
                      </a:r>
                    </a:p>
                  </a:txBody>
                  <a:tcPr anchor="ctr" marT="36576" marB="36576"/>
                </a:tc>
                <a:tc>
                  <a:txBody>
                    <a:bodyPr/>
                    <a:lstStyle/>
                    <a:p>
                      <a:r>
                        <a:rPr sz="1200" lang="en-GB"/>
                        <a:t>1</a:t>
                      </a:r>
                    </a:p>
                  </a:txBody>
                  <a:tcPr anchor="ctr" marT="36576" marB="36576"/>
                </a:tc>
                <a:tc>
                  <a:txBody>
                    <a:bodyPr/>
                    <a:lstStyle/>
                    <a:p>
                      <a:r>
                        <a:rPr sz="1200" lang="en-GB"/>
                        <a:t>medium</a:t>
                      </a:r>
                    </a:p>
                  </a:txBody>
                  <a:tcPr anchor="ctr" marT="36576" marB="36576"/>
                </a:tc>
              </a:tr>
              <a:tr h="384048">
                <a:tc>
                  <a:txBody>
                    <a:bodyPr/>
                    <a:lstStyle/>
                    <a:p>
                      <a:r>
                        <a:rPr sz="1200" b="1" lang="en-GB"/>
                        <a:t>2</a:t>
                      </a:r>
                    </a:p>
                  </a:txBody>
                  <a:tcPr anchor="ctr" marT="36576" marB="36576"/>
                </a:tc>
                <a:tc>
                  <a:txBody>
                    <a:bodyPr/>
                    <a:lstStyle/>
                    <a:p>
                      <a:r>
                        <a:rPr sz="1200" lang="en-GB"/>
                        <a:t>Kentucky</a:t>
                      </a:r>
                    </a:p>
                  </a:txBody>
                  <a:tcPr anchor="ctr" marT="36576" marB="36576"/>
                </a:tc>
                <a:tc>
                  <a:txBody>
                    <a:bodyPr/>
                    <a:lstStyle/>
                    <a:p>
                      <a:r>
                        <a:rPr sz="1200" lang="en-GB"/>
                        <a:t>0</a:t>
                      </a:r>
                    </a:p>
                  </a:txBody>
                  <a:tcPr anchor="ctr" marT="36576" marB="36576"/>
                </a:tc>
                <a:tc>
                  <a:txBody>
                    <a:bodyPr/>
                    <a:lstStyle/>
                    <a:p>
                      <a:r>
                        <a:rPr sz="1200" lang="en-GB"/>
                        <a:t>low</a:t>
                      </a:r>
                    </a:p>
                  </a:txBody>
                  <a:tcPr anchor="ctr" marT="36576" marB="36576"/>
                </a:tc>
              </a:tr>
            </a:tbl>
          </a:graphicData>
        </a:graphic>
      </p:graphicFrame>
      <p:sp>
        <p:nvSpPr>
          <p:cNvPr id="3" name="Title 2"/>
          <p:cNvSpPr>
            <a:spLocks noGrp="1"/>
          </p:cNvSpPr>
          <p:nvPr>
            <p:ph type="title"/>
          </p:nvPr>
        </p:nvSpPr>
        <p:spPr/>
        <p:txBody>
          <a:bodyPr/>
          <a:lstStyle/>
          <a:p>
            <a:r>
              <a:rPr sz="1600" lang="en-GB"/>
              <a:t>Market selection: conditional logit on long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ng data note"/>
          <p:cNvSpPr txBox="1"/>
          <p:nvPr/>
        </p:nvSpPr>
        <p:spPr>
          <a:xfrm>
            <a:off x="457200" y="4114800"/>
            <a:ext cx="3840480" cy="548640"/>
          </a:xfrm>
          <a:prstGeom prst="rect">
            <a:avLst/>
          </a:prstGeom>
          <a:noFill/>
        </p:spPr>
        <p:txBody>
          <a:bodyPr wrap="square" lIns="0" rIns="0" tIns="0" bIns="0" anchor="t">
            <a:noAutofit/>
          </a:bodyPr>
          <a:lstStyle/>
          <a:p>
            <a:pPr algn="l">
              <a:spcAft>
                <a:spcPts val="400"/>
              </a:spcAft>
            </a:pPr>
            <a:r>
              <a:rPr sz="1050" b="0" lang="en-GB">
                <a:solidFill>
                  <a:srgbClr val="595959"/>
                </a:solidFill>
              </a:rPr>
              <a:t>Illustration of the layout, not real data</a:t>
            </a:r>
          </a:p>
        </p:txBody>
      </p:sp>
      <p:sp>
        <p:nvSpPr>
          <p:cNvPr id="11" name="Head card body"/>
          <p:cNvSpPr/>
          <p:nvPr/>
        </p:nvSpPr>
        <p:spPr>
          <a:xfrm>
            <a:off x="4663440" y="1737360"/>
            <a:ext cx="4023360" cy="1051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ead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ead card heading"/>
          <p:cNvSpPr txBox="1"/>
          <p:nvPr/>
        </p:nvSpPr>
        <p:spPr>
          <a:xfrm>
            <a:off x="4800600" y="132588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Head, Ries &amp; Swenson (1995)</a:t>
            </a:r>
          </a:p>
        </p:txBody>
      </p:sp>
      <p:pic>
        <p:nvPicPr>
          <p:cNvPr id="14" name="Icon Head card" descr=""/>
          <p:cNvPicPr>
            <a:picLocks noChangeAspect="1"/>
          </p:cNvPicPr>
          <p:nvPr/>
        </p:nvPicPr>
        <p:blipFill>
          <a:blip r:embed="rId3"/>
          <a:stretch>
            <a:fillRect/>
          </a:stretch>
        </p:blipFill>
        <p:spPr>
          <a:xfrm>
            <a:off x="8266176" y="1385316"/>
            <a:ext cx="292608" cy="292608"/>
          </a:xfrm>
          <a:prstGeom prst="rect">
            <a:avLst/>
          </a:prstGeom>
        </p:spPr>
      </p:pic>
      <p:sp>
        <p:nvSpPr>
          <p:cNvPr id="15" name="Head card text"/>
          <p:cNvSpPr txBox="1"/>
          <p:nvPr/>
        </p:nvSpPr>
        <p:spPr>
          <a:xfrm>
            <a:off x="4818888" y="1856232"/>
            <a:ext cx="3730752" cy="850392"/>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300" b="0" lang="en-GB">
                <a:solidFill>
                  <a:schemeClr val="tx1"/>
                </a:solidFill>
              </a:rPr>
              <a:t>751 Japanese plants in US states</a:t>
            </a:r>
          </a:p>
          <a:p>
            <a:pPr algn="l" marL="182880" indent="-182880">
              <a:spcAft>
                <a:spcPts val="500"/>
              </a:spcAft>
              <a:buClr>
                <a:schemeClr val="accent1"/>
              </a:buClr>
              <a:buFont typeface="Arial"/>
              <a:buChar char="▪"/>
            </a:pPr>
            <a:r>
              <a:rPr sz="1300" b="0" lang="en-GB">
                <a:solidFill>
                  <a:schemeClr val="tx1"/>
                </a:solidFill>
              </a:rPr>
              <a:t>Industry and keiretsu clusters attract new plants</a:t>
            </a:r>
          </a:p>
        </p:txBody>
      </p:sp>
      <p:sp>
        <p:nvSpPr>
          <p:cNvPr id="16" name="Refinement card body"/>
          <p:cNvSpPr/>
          <p:nvPr/>
        </p:nvSpPr>
        <p:spPr>
          <a:xfrm>
            <a:off x="4663440" y="3337560"/>
            <a:ext cx="402336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inement card header"/>
          <p:cNvSpPr/>
          <p:nvPr/>
        </p:nvSpPr>
        <p:spPr>
          <a:xfrm>
            <a:off x="4663440" y="29260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inement card heading"/>
          <p:cNvSpPr txBox="1"/>
          <p:nvPr/>
        </p:nvSpPr>
        <p:spPr>
          <a:xfrm>
            <a:off x="4800600" y="292608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Later refinements</a:t>
            </a:r>
          </a:p>
        </p:txBody>
      </p:sp>
      <p:pic>
        <p:nvPicPr>
          <p:cNvPr id="19" name="Icon Refinement card" descr=""/>
          <p:cNvPicPr>
            <a:picLocks noChangeAspect="1"/>
          </p:cNvPicPr>
          <p:nvPr/>
        </p:nvPicPr>
        <p:blipFill>
          <a:blip r:embed="rId4"/>
          <a:stretch>
            <a:fillRect/>
          </a:stretch>
        </p:blipFill>
        <p:spPr>
          <a:xfrm>
            <a:off x="8266176" y="2985516"/>
            <a:ext cx="292608" cy="292608"/>
          </a:xfrm>
          <a:prstGeom prst="rect">
            <a:avLst/>
          </a:prstGeom>
        </p:spPr>
      </p:pic>
      <p:sp>
        <p:nvSpPr>
          <p:cNvPr id="20" name="Refinement card text"/>
          <p:cNvSpPr txBox="1"/>
          <p:nvPr/>
        </p:nvSpPr>
        <p:spPr>
          <a:xfrm>
            <a:off x="4818888" y="3456432"/>
            <a:ext cx="3730752" cy="1170432"/>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300" b="0" lang="en-GB">
                <a:solidFill>
                  <a:schemeClr val="tx1"/>
                </a:solidFill>
              </a:rPr>
              <a:t>Mixed logit for taste heterogeneity</a:t>
            </a:r>
          </a:p>
          <a:p>
            <a:pPr algn="l" marL="182880" indent="-182880">
              <a:spcAft>
                <a:spcPts val="500"/>
              </a:spcAft>
              <a:buClr>
                <a:schemeClr val="accent1"/>
              </a:buClr>
              <a:buFont typeface="Arial"/>
              <a:buChar char="▪"/>
            </a:pPr>
            <a:r>
              <a:rPr sz="1300" b="0" lang="en-GB">
                <a:solidFill>
                  <a:schemeClr val="tx1"/>
                </a:solidFill>
              </a:rPr>
              <a:t>Country first, region second</a:t>
            </a:r>
          </a:p>
          <a:p>
            <a:pPr algn="l" marL="182880" indent="-182880">
              <a:spcAft>
                <a:spcPts val="500"/>
              </a:spcAft>
              <a:buClr>
                <a:schemeClr val="accent1"/>
              </a:buClr>
              <a:buFont typeface="Arial"/>
              <a:buChar char="▪"/>
            </a:pPr>
            <a:r>
              <a:rPr sz="1300" b="0" lang="en-GB">
                <a:solidFill>
                  <a:schemeClr val="tx1"/>
                </a:solidFill>
              </a:rPr>
              <a:t>Do not pool greenfield and M&amp;A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Consumers: choice experiments across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O card body"/>
          <p:cNvSpPr/>
          <p:nvPr/>
        </p:nvSpPr>
        <p:spPr>
          <a:xfrm>
            <a:off x="457200" y="1737360"/>
            <a:ext cx="40233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O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O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Country of origin</a:t>
            </a:r>
          </a:p>
        </p:txBody>
      </p:sp>
      <p:pic>
        <p:nvPicPr>
          <p:cNvPr id="13" name="Icon COO card" descr=""/>
          <p:cNvPicPr>
            <a:picLocks noChangeAspect="1"/>
          </p:cNvPicPr>
          <p:nvPr/>
        </p:nvPicPr>
        <p:blipFill>
          <a:blip r:embed="rId3"/>
          <a:stretch>
            <a:fillRect/>
          </a:stretch>
        </p:blipFill>
        <p:spPr>
          <a:xfrm>
            <a:off x="4041648" y="1376172"/>
            <a:ext cx="310896" cy="310896"/>
          </a:xfrm>
          <a:prstGeom prst="rect">
            <a:avLst/>
          </a:prstGeom>
        </p:spPr>
      </p:pic>
      <p:sp>
        <p:nvSpPr>
          <p:cNvPr id="14" name="COO card text"/>
          <p:cNvSpPr txBox="1"/>
          <p:nvPr/>
        </p:nvSpPr>
        <p:spPr>
          <a:xfrm>
            <a:off x="621792" y="1874520"/>
            <a:ext cx="3721608" cy="1600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Conjoint with about 1,000 consumers per country in five countries</a:t>
            </a:r>
          </a:p>
          <a:p>
            <a:pPr algn="l" marL="182880" indent="-182880">
              <a:spcAft>
                <a:spcPts val="600"/>
              </a:spcAft>
              <a:buClr>
                <a:schemeClr val="accent1"/>
              </a:buClr>
              <a:buFont typeface="Arial"/>
              <a:buChar char="▪"/>
            </a:pPr>
            <a:r>
              <a:rPr sz="1400" b="0" lang="en-GB">
                <a:solidFill>
                  <a:schemeClr val="tx1"/>
                </a:solidFill>
              </a:rPr>
              <a:t>Multi-cue designs show smaller origin effects</a:t>
            </a:r>
          </a:p>
          <a:p>
            <a:pPr algn="l" marL="182880" indent="-182880">
              <a:spcAft>
                <a:spcPts val="600"/>
              </a:spcAft>
              <a:buClr>
                <a:schemeClr val="accent1"/>
              </a:buClr>
              <a:buFont typeface="Arial"/>
              <a:buChar char="▪"/>
            </a:pPr>
            <a:r>
              <a:rPr sz="1400" b="0" lang="en-GB">
                <a:solidFill>
                  <a:schemeClr val="tx1"/>
                </a:solidFill>
              </a:rPr>
              <a:t>“Made in Germany” fades once brand attitude is controlled</a:t>
            </a:r>
          </a:p>
        </p:txBody>
      </p:sp>
      <p:sp>
        <p:nvSpPr>
          <p:cNvPr id="15" name="Segment card body"/>
          <p:cNvSpPr/>
          <p:nvPr/>
        </p:nvSpPr>
        <p:spPr>
          <a:xfrm>
            <a:off x="4663440" y="1737360"/>
            <a:ext cx="40233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gment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gment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Cross-national segments</a:t>
            </a:r>
          </a:p>
        </p:txBody>
      </p:sp>
      <p:pic>
        <p:nvPicPr>
          <p:cNvPr id="18" name="Icon Segment card" descr=""/>
          <p:cNvPicPr>
            <a:picLocks noChangeAspect="1"/>
          </p:cNvPicPr>
          <p:nvPr/>
        </p:nvPicPr>
        <p:blipFill>
          <a:blip r:embed="rId4"/>
          <a:stretch>
            <a:fillRect/>
          </a:stretch>
        </p:blipFill>
        <p:spPr>
          <a:xfrm>
            <a:off x="8247888" y="1376172"/>
            <a:ext cx="310896" cy="310896"/>
          </a:xfrm>
          <a:prstGeom prst="rect">
            <a:avLst/>
          </a:prstGeom>
        </p:spPr>
      </p:pic>
      <p:sp>
        <p:nvSpPr>
          <p:cNvPr id="19" name="Segment card text"/>
          <p:cNvSpPr txBox="1"/>
          <p:nvPr/>
        </p:nvSpPr>
        <p:spPr>
          <a:xfrm>
            <a:off x="4828032" y="1874520"/>
            <a:ext cx="3721608" cy="1600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Mixture segments across 11 EU countries (1999)</a:t>
            </a:r>
          </a:p>
          <a:p>
            <a:pPr algn="l" marL="182880" indent="-182880">
              <a:spcAft>
                <a:spcPts val="600"/>
              </a:spcAft>
              <a:buClr>
                <a:schemeClr val="accent1"/>
              </a:buClr>
              <a:buFont typeface="Arial"/>
              <a:buChar char="▪"/>
            </a:pPr>
            <a:r>
              <a:rPr sz="1400" b="0" lang="en-GB">
                <a:solidFill>
                  <a:schemeClr val="tx1"/>
                </a:solidFill>
              </a:rPr>
              <a:t>“Countries as segments” fitted worst (2002)</a:t>
            </a:r>
          </a:p>
          <a:p>
            <a:pPr algn="l" marL="182880" indent="-182880">
              <a:spcAft>
                <a:spcPts val="600"/>
              </a:spcAft>
              <a:buClr>
                <a:schemeClr val="accent1"/>
              </a:buClr>
              <a:buFont typeface="Arial"/>
              <a:buChar char="▪"/>
            </a:pPr>
            <a:r>
              <a:rPr sz="1400" b="0" lang="en-GB">
                <a:solidFill>
                  <a:schemeClr val="tx1"/>
                </a:solidFill>
              </a:rPr>
              <a:t>Five segments cut across borders</a:t>
            </a:r>
          </a:p>
        </p:txBody>
      </p:sp>
      <p:sp>
        <p:nvSpPr>
          <p:cNvPr id="20" name="Consumer callout box"/>
          <p:cNvSpPr/>
          <p:nvPr/>
        </p:nvSpPr>
        <p:spPr>
          <a:xfrm>
            <a:off x="457200" y="379476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sumer callout text"/>
          <p:cNvSpPr txBox="1"/>
          <p:nvPr/>
        </p:nvSpPr>
        <p:spPr>
          <a:xfrm>
            <a:off x="594360" y="3904488"/>
            <a:ext cx="7955280" cy="512064"/>
          </a:xfrm>
          <a:prstGeom prst="rect">
            <a:avLst/>
          </a:prstGeom>
          <a:noFill/>
        </p:spPr>
        <p:txBody>
          <a:bodyPr wrap="square" lIns="0" rIns="0" tIns="0" bIns="0" anchor="ctr">
            <a:noAutofit/>
          </a:bodyPr>
          <a:lstStyle/>
          <a:p>
            <a:pPr algn="l">
              <a:spcAft>
                <a:spcPts val="400"/>
              </a:spcAft>
            </a:pPr>
            <a:r>
              <a:rPr sz="1300" b="1" lang="en-GB">
                <a:solidFill>
                  <a:schemeClr val="bg1"/>
                </a:solidFill>
              </a:rPr>
              <a:t>Segments cross borders: </a:t>
            </a:r>
            <a:r>
              <a:rPr sz="1300" b="0" lang="en-GB">
                <a:solidFill>
                  <a:schemeClr val="bg1"/>
                </a:solidFill>
              </a:rPr>
              <a:t>the country is not the default unit of analysis.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Adoption and diffusion: culture or wealth?</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option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option stat 1 figure"/>
          <p:cNvSpPr txBox="1"/>
          <p:nvPr/>
        </p:nvSpPr>
        <p:spPr>
          <a:xfrm>
            <a:off x="621792" y="1325880"/>
            <a:ext cx="201168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 years</a:t>
            </a:r>
          </a:p>
        </p:txBody>
      </p:sp>
      <p:sp>
        <p:nvSpPr>
          <p:cNvPr id="12" name="Adoption stat 1 label"/>
          <p:cNvSpPr txBox="1"/>
          <p:nvPr/>
        </p:nvSpPr>
        <p:spPr>
          <a:xfrm>
            <a:off x="2697480" y="1325880"/>
            <a:ext cx="598932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to takeoff in 16 European countries, almost half as long in Scandinavia as in the Mediterranean</a:t>
            </a:r>
          </a:p>
        </p:txBody>
      </p:sp>
      <p:sp>
        <p:nvSpPr>
          <p:cNvPr id="13" name="Adoption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doption stat 2 figure"/>
          <p:cNvSpPr txBox="1"/>
          <p:nvPr/>
        </p:nvSpPr>
        <p:spPr>
          <a:xfrm>
            <a:off x="621792" y="2148840"/>
            <a:ext cx="201168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3,283</a:t>
            </a:r>
          </a:p>
        </p:txBody>
      </p:sp>
      <p:sp>
        <p:nvSpPr>
          <p:cNvPr id="15" name="Adoption stat 2 label"/>
          <p:cNvSpPr txBox="1"/>
          <p:nvPr/>
        </p:nvSpPr>
        <p:spPr>
          <a:xfrm>
            <a:off x="2697480" y="2148840"/>
            <a:ext cx="598932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consumers in 11 countries: innovativeness with cross-level effects of national culture</a:t>
            </a:r>
          </a:p>
        </p:txBody>
      </p:sp>
      <p:sp>
        <p:nvSpPr>
          <p:cNvPr id="16" name="Adoption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option stat 3 figure"/>
          <p:cNvSpPr txBox="1"/>
          <p:nvPr/>
        </p:nvSpPr>
        <p:spPr>
          <a:xfrm>
            <a:off x="621792" y="2971800"/>
            <a:ext cx="201168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≈75 %</a:t>
            </a:r>
          </a:p>
        </p:txBody>
      </p:sp>
      <p:sp>
        <p:nvSpPr>
          <p:cNvPr id="18" name="Adoption stat 3 label"/>
          <p:cNvSpPr txBox="1"/>
          <p:nvPr/>
        </p:nvSpPr>
        <p:spPr>
          <a:xfrm>
            <a:off x="2697480" y="2971800"/>
            <a:ext cx="598932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explained variance in mobile-money adoption across 36 African countries is individual</a:t>
            </a:r>
          </a:p>
        </p:txBody>
      </p:sp>
      <p:sp>
        <p:nvSpPr>
          <p:cNvPr id="19" name="Adoption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doption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Culture or wealth? </a:t>
            </a:r>
            <a:r>
              <a:rPr sz="1300" b="0" lang="en-GB">
                <a:solidFill>
                  <a:schemeClr val="bg1"/>
                </a:solidFill>
              </a:rPr>
              <a:t>16 to 31 countries give unstable answers at the country level.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Churn and CRM: logit stays a strong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urn 1 body"/>
          <p:cNvSpPr/>
          <p:nvPr/>
        </p:nvSpPr>
        <p:spPr>
          <a:xfrm>
            <a:off x="457200" y="173736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urn 1 header"/>
          <p:cNvSpPr/>
          <p:nvPr/>
        </p:nvSpPr>
        <p:spPr>
          <a:xfrm>
            <a:off x="45720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urn 1 heading"/>
          <p:cNvSpPr txBox="1"/>
          <p:nvPr/>
        </p:nvSpPr>
        <p:spPr>
          <a:xfrm>
            <a:off x="59436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Tournament</a:t>
            </a:r>
          </a:p>
        </p:txBody>
      </p:sp>
      <p:pic>
        <p:nvPicPr>
          <p:cNvPr id="13" name="Icon Churn 1" descr=""/>
          <p:cNvPicPr>
            <a:picLocks noChangeAspect="1"/>
          </p:cNvPicPr>
          <p:nvPr/>
        </p:nvPicPr>
        <p:blipFill>
          <a:blip r:embed="rId3"/>
          <a:stretch>
            <a:fillRect/>
          </a:stretch>
        </p:blipFill>
        <p:spPr>
          <a:xfrm>
            <a:off x="2688336" y="1385316"/>
            <a:ext cx="292608" cy="292608"/>
          </a:xfrm>
          <a:prstGeom prst="rect">
            <a:avLst/>
          </a:prstGeom>
        </p:spPr>
      </p:pic>
      <p:sp>
        <p:nvSpPr>
          <p:cNvPr id="14" name="Churn 1 text"/>
          <p:cNvSpPr txBox="1"/>
          <p:nvPr/>
        </p:nvSpPr>
        <p:spPr>
          <a:xfrm>
            <a:off x="612648" y="1856232"/>
            <a:ext cx="2359152" cy="1444752"/>
          </a:xfrm>
          <a:prstGeom prst="rect">
            <a:avLst/>
          </a:prstGeom>
          <a:noFill/>
        </p:spPr>
        <p:txBody>
          <a:bodyPr wrap="square" lIns="0" rIns="0" tIns="0" bIns="0" anchor="t">
            <a:noAutofit/>
          </a:bodyPr>
          <a:lstStyle/>
          <a:p>
            <a:pPr algn="l" marL="182880" indent="-182880">
              <a:spcAft>
                <a:spcPts val="700"/>
              </a:spcAft>
              <a:buClr>
                <a:schemeClr val="accent1"/>
              </a:buClr>
              <a:buFont typeface="Arial"/>
              <a:buChar char="▪"/>
            </a:pPr>
            <a:r>
              <a:rPr sz="1300" b="0" lang="en-GB">
                <a:solidFill>
                  <a:schemeClr val="tx1"/>
                </a:solidFill>
              </a:rPr>
              <a:t>Neslin et al. 2006</a:t>
            </a:r>
          </a:p>
          <a:p>
            <a:pPr algn="l" marL="182880" indent="-182880">
              <a:spcAft>
                <a:spcPts val="700"/>
              </a:spcAft>
              <a:buClr>
                <a:schemeClr val="accent1"/>
              </a:buClr>
              <a:buFont typeface="Arial"/>
              <a:buChar char="▪"/>
            </a:pPr>
            <a:r>
              <a:rPr sz="1300" b="0" lang="en-GB">
                <a:solidFill>
                  <a:schemeClr val="tx1"/>
                </a:solidFill>
              </a:rPr>
              <a:t>Logit and trees among the most accurate</a:t>
            </a:r>
          </a:p>
          <a:p>
            <a:pPr algn="l" marL="182880" indent="-182880">
              <a:spcAft>
                <a:spcPts val="700"/>
              </a:spcAft>
              <a:buClr>
                <a:schemeClr val="accent1"/>
              </a:buClr>
              <a:buFont typeface="Arial"/>
              <a:buChar char="▪"/>
            </a:pPr>
            <a:r>
              <a:rPr sz="1300" b="0" lang="en-GB">
                <a:solidFill>
                  <a:schemeClr val="tx1"/>
                </a:solidFill>
              </a:rPr>
              <a:t>Method gaps worth real money</a:t>
            </a:r>
          </a:p>
        </p:txBody>
      </p:sp>
      <p:sp>
        <p:nvSpPr>
          <p:cNvPr id="15" name="Churn 2 body"/>
          <p:cNvSpPr/>
          <p:nvPr/>
        </p:nvSpPr>
        <p:spPr>
          <a:xfrm>
            <a:off x="3246120" y="173736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urn 2 header"/>
          <p:cNvSpPr/>
          <p:nvPr/>
        </p:nvSpPr>
        <p:spPr>
          <a:xfrm>
            <a:off x="324612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urn 2 heading"/>
          <p:cNvSpPr txBox="1"/>
          <p:nvPr/>
        </p:nvSpPr>
        <p:spPr>
          <a:xfrm>
            <a:off x="338328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Benchmark</a:t>
            </a:r>
          </a:p>
        </p:txBody>
      </p:sp>
      <p:pic>
        <p:nvPicPr>
          <p:cNvPr id="18" name="Icon Churn 2" descr=""/>
          <p:cNvPicPr>
            <a:picLocks noChangeAspect="1"/>
          </p:cNvPicPr>
          <p:nvPr/>
        </p:nvPicPr>
        <p:blipFill>
          <a:blip r:embed="rId4"/>
          <a:stretch>
            <a:fillRect/>
          </a:stretch>
        </p:blipFill>
        <p:spPr>
          <a:xfrm>
            <a:off x="5477256" y="1385316"/>
            <a:ext cx="292608" cy="292608"/>
          </a:xfrm>
          <a:prstGeom prst="rect">
            <a:avLst/>
          </a:prstGeom>
        </p:spPr>
      </p:pic>
      <p:sp>
        <p:nvSpPr>
          <p:cNvPr id="19" name="Churn 2 text"/>
          <p:cNvSpPr txBox="1"/>
          <p:nvPr/>
        </p:nvSpPr>
        <p:spPr>
          <a:xfrm>
            <a:off x="3401568" y="1856232"/>
            <a:ext cx="2359152" cy="1444752"/>
          </a:xfrm>
          <a:prstGeom prst="rect">
            <a:avLst/>
          </a:prstGeom>
          <a:noFill/>
        </p:spPr>
        <p:txBody>
          <a:bodyPr wrap="square" lIns="0" rIns="0" tIns="0" bIns="0" anchor="t">
            <a:noAutofit/>
          </a:bodyPr>
          <a:lstStyle/>
          <a:p>
            <a:pPr algn="l" marL="182880" indent="-182880">
              <a:spcAft>
                <a:spcPts val="700"/>
              </a:spcAft>
              <a:buClr>
                <a:schemeClr val="accent1"/>
              </a:buClr>
              <a:buFont typeface="Arial"/>
              <a:buChar char="▪"/>
            </a:pPr>
            <a:r>
              <a:rPr sz="1300" b="0" lang="en-GB">
                <a:solidFill>
                  <a:schemeClr val="tx1"/>
                </a:solidFill>
              </a:rPr>
              <a:t>Verbeke et al. 2012</a:t>
            </a:r>
          </a:p>
          <a:p>
            <a:pPr algn="l" marL="182880" indent="-182880">
              <a:spcAft>
                <a:spcPts val="700"/>
              </a:spcAft>
              <a:buClr>
                <a:schemeClr val="accent1"/>
              </a:buClr>
              <a:buFont typeface="Arial"/>
              <a:buChar char="▪"/>
            </a:pPr>
            <a:r>
              <a:rPr sz="1300" b="0" lang="en-GB">
                <a:solidFill>
                  <a:schemeClr val="tx1"/>
                </a:solidFill>
              </a:rPr>
              <a:t>11 telecom datasets worldwide</a:t>
            </a:r>
          </a:p>
          <a:p>
            <a:pPr algn="l" marL="182880" indent="-182880">
              <a:spcAft>
                <a:spcPts val="700"/>
              </a:spcAft>
              <a:buClr>
                <a:schemeClr val="accent1"/>
              </a:buClr>
              <a:buFont typeface="Arial"/>
              <a:buChar char="▪"/>
            </a:pPr>
            <a:r>
              <a:rPr sz="1300" b="0" lang="en-GB">
                <a:solidFill>
                  <a:schemeClr val="tx1"/>
                </a:solidFill>
              </a:rPr>
              <a:t>Many classifiers perform alike</a:t>
            </a:r>
          </a:p>
        </p:txBody>
      </p:sp>
      <p:sp>
        <p:nvSpPr>
          <p:cNvPr id="20" name="Churn 3 body"/>
          <p:cNvSpPr/>
          <p:nvPr/>
        </p:nvSpPr>
        <p:spPr>
          <a:xfrm>
            <a:off x="6035040" y="173736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urn 3 header"/>
          <p:cNvSpPr/>
          <p:nvPr/>
        </p:nvSpPr>
        <p:spPr>
          <a:xfrm>
            <a:off x="603504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urn 3 heading"/>
          <p:cNvSpPr txBox="1"/>
          <p:nvPr/>
        </p:nvSpPr>
        <p:spPr>
          <a:xfrm>
            <a:off x="617220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Profit</a:t>
            </a:r>
          </a:p>
        </p:txBody>
      </p:sp>
      <p:pic>
        <p:nvPicPr>
          <p:cNvPr id="23" name="Icon Churn 3" descr=""/>
          <p:cNvPicPr>
            <a:picLocks noChangeAspect="1"/>
          </p:cNvPicPr>
          <p:nvPr/>
        </p:nvPicPr>
        <p:blipFill>
          <a:blip r:embed="rId5"/>
          <a:stretch>
            <a:fillRect/>
          </a:stretch>
        </p:blipFill>
        <p:spPr>
          <a:xfrm>
            <a:off x="8266176" y="1385316"/>
            <a:ext cx="292608" cy="292608"/>
          </a:xfrm>
          <a:prstGeom prst="rect">
            <a:avLst/>
          </a:prstGeom>
        </p:spPr>
      </p:pic>
      <p:sp>
        <p:nvSpPr>
          <p:cNvPr id="24" name="Churn 3 text"/>
          <p:cNvSpPr txBox="1"/>
          <p:nvPr/>
        </p:nvSpPr>
        <p:spPr>
          <a:xfrm>
            <a:off x="6190488" y="1856232"/>
            <a:ext cx="2359152" cy="1444752"/>
          </a:xfrm>
          <a:prstGeom prst="rect">
            <a:avLst/>
          </a:prstGeom>
          <a:noFill/>
        </p:spPr>
        <p:txBody>
          <a:bodyPr wrap="square" lIns="0" rIns="0" tIns="0" bIns="0" anchor="t">
            <a:noAutofit/>
          </a:bodyPr>
          <a:lstStyle/>
          <a:p>
            <a:pPr algn="l" marL="182880" indent="-182880">
              <a:spcAft>
                <a:spcPts val="700"/>
              </a:spcAft>
              <a:buClr>
                <a:schemeClr val="accent1"/>
              </a:buClr>
              <a:buFont typeface="Arial"/>
              <a:buChar char="▪"/>
            </a:pPr>
            <a:r>
              <a:rPr sz="1300" b="0" lang="en-GB">
                <a:solidFill>
                  <a:schemeClr val="tx1"/>
                </a:solidFill>
              </a:rPr>
              <a:t>ProfLogit, 2018</a:t>
            </a:r>
          </a:p>
          <a:p>
            <a:pPr algn="l" marL="182880" indent="-182880">
              <a:spcAft>
                <a:spcPts val="700"/>
              </a:spcAft>
              <a:buClr>
                <a:schemeClr val="accent1"/>
              </a:buClr>
              <a:buFont typeface="Arial"/>
              <a:buChar char="▪"/>
            </a:pPr>
            <a:r>
              <a:rPr sz="1300" b="0" lang="en-GB">
                <a:solidFill>
                  <a:schemeClr val="tx1"/>
                </a:solidFill>
              </a:rPr>
              <a:t>Logit tuned for expected profit</a:t>
            </a:r>
          </a:p>
          <a:p>
            <a:pPr algn="l" marL="182880" indent="-182880">
              <a:spcAft>
                <a:spcPts val="700"/>
              </a:spcAft>
              <a:buClr>
                <a:schemeClr val="accent1"/>
              </a:buClr>
              <a:buFont typeface="Arial"/>
              <a:buChar char="▪"/>
            </a:pPr>
            <a:r>
              <a:rPr sz="1300" b="0" lang="en-GB">
                <a:solidFill>
                  <a:schemeClr val="tx1"/>
                </a:solidFill>
              </a:rPr>
              <a:t>Best profit across 9 datasets</a:t>
            </a:r>
          </a:p>
        </p:txBody>
      </p:sp>
      <p:sp>
        <p:nvSpPr>
          <p:cNvPr id="25" name="Churn callout box"/>
          <p:cNvSpPr/>
          <p:nvPr/>
        </p:nvSpPr>
        <p:spPr>
          <a:xfrm>
            <a:off x="457200" y="35661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urn callout text"/>
          <p:cNvSpPr txBox="1"/>
          <p:nvPr/>
        </p:nvSpPr>
        <p:spPr>
          <a:xfrm>
            <a:off x="594360" y="367588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Open question for multinational CRM: </a:t>
            </a:r>
            <a:r>
              <a:rPr sz="1300" b="0" lang="en-GB">
                <a:solidFill>
                  <a:schemeClr val="bg1"/>
                </a:solidFill>
              </a:rPr>
              <a:t>does a churn model built in one country work in another? No study has tested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two layers of comparability</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comparability problems stack 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yer 1 card body"/>
          <p:cNvSpPr/>
          <p:nvPr/>
        </p:nvSpPr>
        <p:spPr>
          <a:xfrm>
            <a:off x="457200" y="1737360"/>
            <a:ext cx="40233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yer 1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ayer 1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Layer 1: measurement</a:t>
            </a:r>
          </a:p>
        </p:txBody>
      </p:sp>
      <p:pic>
        <p:nvPicPr>
          <p:cNvPr id="13" name="Icon Layer 1 card" descr=""/>
          <p:cNvPicPr>
            <a:picLocks noChangeAspect="1"/>
          </p:cNvPicPr>
          <p:nvPr/>
        </p:nvPicPr>
        <p:blipFill>
          <a:blip r:embed="rId3"/>
          <a:stretch>
            <a:fillRect/>
          </a:stretch>
        </p:blipFill>
        <p:spPr>
          <a:xfrm>
            <a:off x="4041648" y="1376172"/>
            <a:ext cx="310896" cy="310896"/>
          </a:xfrm>
          <a:prstGeom prst="rect">
            <a:avLst/>
          </a:prstGeom>
        </p:spPr>
      </p:pic>
      <p:sp>
        <p:nvSpPr>
          <p:cNvPr id="14" name="Layer 1 card text"/>
          <p:cNvSpPr txBox="1"/>
          <p:nvPr/>
        </p:nvSpPr>
        <p:spPr>
          <a:xfrm>
            <a:off x="621792" y="1874520"/>
            <a:ext cx="372160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Do survey items mean the same in each country?</a:t>
            </a:r>
          </a:p>
          <a:p>
            <a:pPr algn="l" marL="182880" indent="-182880">
              <a:spcAft>
                <a:spcPts val="600"/>
              </a:spcAft>
              <a:buClr>
                <a:schemeClr val="accent1"/>
              </a:buClr>
              <a:buFont typeface="Arial"/>
              <a:buChar char="▪"/>
            </a:pPr>
            <a:r>
              <a:rPr sz="1400" b="0" lang="en-GB">
                <a:solidFill>
                  <a:schemeClr val="tx1"/>
                </a:solidFill>
              </a:rPr>
              <a:t>Response styles shift the answers</a:t>
            </a:r>
          </a:p>
          <a:p>
            <a:pPr algn="l" marL="182880" indent="-182880">
              <a:spcAft>
                <a:spcPts val="600"/>
              </a:spcAft>
              <a:buClr>
                <a:schemeClr val="accent1"/>
              </a:buClr>
              <a:buFont typeface="Arial"/>
              <a:buChar char="▪"/>
            </a:pPr>
            <a:r>
              <a:rPr sz="1400" b="0" lang="en-GB">
                <a:solidFill>
                  <a:schemeClr val="tx1"/>
                </a:solidFill>
              </a:rPr>
              <a:t>Fix: invariance tests, IRT, method factors</a:t>
            </a:r>
          </a:p>
        </p:txBody>
      </p:sp>
      <p:sp>
        <p:nvSpPr>
          <p:cNvPr id="15" name="Layer 2 card body"/>
          <p:cNvSpPr/>
          <p:nvPr/>
        </p:nvSpPr>
        <p:spPr>
          <a:xfrm>
            <a:off x="4663440" y="1737360"/>
            <a:ext cx="40233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ayer 2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yer 2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Layer 2: logit scale</a:t>
            </a:r>
          </a:p>
        </p:txBody>
      </p:sp>
      <p:pic>
        <p:nvPicPr>
          <p:cNvPr id="18" name="Icon Layer 2 card" descr=""/>
          <p:cNvPicPr>
            <a:picLocks noChangeAspect="1"/>
          </p:cNvPicPr>
          <p:nvPr/>
        </p:nvPicPr>
        <p:blipFill>
          <a:blip r:embed="rId4"/>
          <a:stretch>
            <a:fillRect/>
          </a:stretch>
        </p:blipFill>
        <p:spPr>
          <a:xfrm>
            <a:off x="8247888" y="1376172"/>
            <a:ext cx="310896" cy="310896"/>
          </a:xfrm>
          <a:prstGeom prst="rect">
            <a:avLst/>
          </a:prstGeom>
        </p:spPr>
      </p:pic>
      <p:sp>
        <p:nvSpPr>
          <p:cNvPr id="19" name="Layer 2 card text"/>
          <p:cNvSpPr txBox="1"/>
          <p:nvPr/>
        </p:nvSpPr>
        <p:spPr>
          <a:xfrm>
            <a:off x="4828032" y="1874520"/>
            <a:ext cx="372160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Coefficients are scaled by unexplained variation</a:t>
            </a:r>
          </a:p>
          <a:p>
            <a:pPr algn="l" marL="182880" indent="-182880">
              <a:spcAft>
                <a:spcPts val="600"/>
              </a:spcAft>
              <a:buClr>
                <a:schemeClr val="accent1"/>
              </a:buClr>
              <a:buFont typeface="Arial"/>
              <a:buChar char="▪"/>
            </a:pPr>
            <a:r>
              <a:rPr sz="1400" b="0" lang="en-GB">
                <a:solidFill>
                  <a:schemeClr val="tx1"/>
                </a:solidFill>
              </a:rPr>
              <a:t>That variation differs by country</a:t>
            </a:r>
          </a:p>
          <a:p>
            <a:pPr algn="l" marL="182880" indent="-182880">
              <a:spcAft>
                <a:spcPts val="600"/>
              </a:spcAft>
              <a:buClr>
                <a:schemeClr val="accent1"/>
              </a:buClr>
              <a:buFont typeface="Arial"/>
              <a:buChar char="▪"/>
            </a:pPr>
            <a:r>
              <a:rPr sz="1400" b="0" lang="en-GB">
                <a:solidFill>
                  <a:schemeClr val="tx1"/>
                </a:solidFill>
              </a:rPr>
              <a:t>Holds even with perfect measurement</a:t>
            </a:r>
          </a:p>
        </p:txBody>
      </p:sp>
      <p:sp>
        <p:nvSpPr>
          <p:cNvPr id="20" name="Layers callout box"/>
          <p:cNvSpPr/>
          <p:nvPr/>
        </p:nvSpPr>
        <p:spPr>
          <a:xfrm>
            <a:off x="457200" y="361188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yers callout text"/>
          <p:cNvSpPr txBox="1"/>
          <p:nvPr/>
        </p:nvSpPr>
        <p:spPr>
          <a:xfrm>
            <a:off x="594360" y="372160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You need both: </a:t>
            </a:r>
            <a:r>
              <a:rPr sz="1300" b="0" lang="en-GB">
                <a:solidFill>
                  <a:schemeClr val="bg1"/>
                </a:solidFill>
              </a:rPr>
              <a:t>invariance tests fix layer 1; probabilities and marginal effects fix layer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Layer 1: response styles differ by country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yle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tyle stat 1 figure"/>
          <p:cNvSpPr txBox="1"/>
          <p:nvPr/>
        </p:nvSpPr>
        <p:spPr>
          <a:xfrm>
            <a:off x="621792" y="132588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2" name="Style stat 1 label"/>
          <p:cNvSpPr txBox="1"/>
          <p:nvPr/>
        </p:nvSpPr>
        <p:spPr>
          <a:xfrm>
            <a:off x="2286000" y="132588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243 cross-national marketing articles tested measurement invariance (He, Merz &amp; Alden 2008)</a:t>
            </a:r>
          </a:p>
        </p:txBody>
      </p:sp>
      <p:sp>
        <p:nvSpPr>
          <p:cNvPr id="13" name="Style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tyle stat 2 figure"/>
          <p:cNvSpPr txBox="1"/>
          <p:nvPr/>
        </p:nvSpPr>
        <p:spPr>
          <a:xfrm>
            <a:off x="621792" y="214884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a:t>
            </a:r>
          </a:p>
        </p:txBody>
      </p:sp>
      <p:sp>
        <p:nvSpPr>
          <p:cNvPr id="15" name="Style stat 2 label"/>
          <p:cNvSpPr txBox="1"/>
          <p:nvPr/>
        </p:nvSpPr>
        <p:spPr>
          <a:xfrm>
            <a:off x="2286000" y="214884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acquiescence and extreme answers track power distance and uncertainty avoidance (Harzing 2006)</a:t>
            </a:r>
          </a:p>
        </p:txBody>
      </p:sp>
      <p:sp>
        <p:nvSpPr>
          <p:cNvPr id="16" name="Style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yle stat 3 figure"/>
          <p:cNvSpPr txBox="1"/>
          <p:nvPr/>
        </p:nvSpPr>
        <p:spPr>
          <a:xfrm>
            <a:off x="621792" y="297180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a:t>
            </a:r>
          </a:p>
        </p:txBody>
      </p:sp>
      <p:sp>
        <p:nvSpPr>
          <p:cNvPr id="18" name="Style stat 3 label"/>
          <p:cNvSpPr txBox="1"/>
          <p:nvPr/>
        </p:nvSpPr>
        <p:spPr>
          <a:xfrm>
            <a:off x="2286000" y="297180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yea-saying highest in Brazil and India, nay-saying in the Netherlands and Japan</a:t>
            </a:r>
          </a:p>
        </p:txBody>
      </p:sp>
      <p:sp>
        <p:nvSpPr>
          <p:cNvPr id="19" name="Style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yle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Configural, metric, scalar: </a:t>
            </a:r>
            <a:r>
              <a:rPr sz="1300" b="0" lang="en-GB">
                <a:solidFill>
                  <a:schemeClr val="bg1"/>
                </a:solidFill>
              </a:rPr>
              <a:t>test invariance before comparing relationships or means (Steenkamp &amp; Baumgartner 1998).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Layer 2: 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0-0"/>
          <p:cNvSpPr/>
          <p:nvPr/>
        </p:nvSpPr>
        <p:spPr>
          <a:xfrm>
            <a:off x="457200" y="1325880"/>
            <a:ext cx="12893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0-0"/>
          <p:cNvSpPr txBox="1"/>
          <p:nvPr/>
        </p:nvSpPr>
        <p:spPr>
          <a:xfrm>
            <a:off x="530352" y="1325880"/>
            <a:ext cx="11430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0-1"/>
          <p:cNvSpPr/>
          <p:nvPr/>
        </p:nvSpPr>
        <p:spPr>
          <a:xfrm>
            <a:off x="1783080" y="1325880"/>
            <a:ext cx="110642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0-1"/>
          <p:cNvSpPr txBox="1"/>
          <p:nvPr/>
        </p:nvSpPr>
        <p:spPr>
          <a:xfrm>
            <a:off x="1856232" y="1325880"/>
            <a:ext cx="960120" cy="457200"/>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0-2"/>
          <p:cNvSpPr/>
          <p:nvPr/>
        </p:nvSpPr>
        <p:spPr>
          <a:xfrm>
            <a:off x="2926080" y="1325880"/>
            <a:ext cx="110642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0-2"/>
          <p:cNvSpPr txBox="1"/>
          <p:nvPr/>
        </p:nvSpPr>
        <p:spPr>
          <a:xfrm>
            <a:off x="2999232" y="1325880"/>
            <a:ext cx="960120" cy="457200"/>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0-3"/>
          <p:cNvSpPr/>
          <p:nvPr/>
        </p:nvSpPr>
        <p:spPr>
          <a:xfrm>
            <a:off x="4069080" y="1325880"/>
            <a:ext cx="119786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0-3"/>
          <p:cNvSpPr txBox="1"/>
          <p:nvPr/>
        </p:nvSpPr>
        <p:spPr>
          <a:xfrm>
            <a:off x="4142232" y="1325880"/>
            <a:ext cx="1051560" cy="457200"/>
          </a:xfrm>
          <a:prstGeom prst="rect">
            <a:avLst/>
          </a:prstGeom>
          <a:noFill/>
        </p:spPr>
        <p:txBody>
          <a:bodyPr wrap="square" lIns="0" rIns="0" tIns="0" bIns="0" anchor="ctr">
            <a:noAutofit/>
          </a:bodyPr>
          <a:lstStyle/>
          <a:p>
            <a:pPr algn="r">
              <a:spcAft>
                <a:spcPts val="400"/>
              </a:spcAft>
            </a:pPr>
            <a:r>
              <a:rPr sz="1200" b="1" lang="en-GB">
                <a:solidFill>
                  <a:schemeClr val="bg1"/>
                </a:solidFill>
              </a:rPr>
              <a:t>Logit coefficient</a:t>
            </a:r>
          </a:p>
        </p:txBody>
      </p:sp>
      <p:sp>
        <p:nvSpPr>
          <p:cNvPr id="18" name="Scale table 1-0"/>
          <p:cNvSpPr/>
          <p:nvPr/>
        </p:nvSpPr>
        <p:spPr>
          <a:xfrm>
            <a:off x="457200" y="1828800"/>
            <a:ext cx="128930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1-0"/>
          <p:cNvSpPr txBox="1"/>
          <p:nvPr/>
        </p:nvSpPr>
        <p:spPr>
          <a:xfrm>
            <a:off x="530352" y="1828800"/>
            <a:ext cx="1143000" cy="457200"/>
          </a:xfrm>
          <a:prstGeom prst="rect">
            <a:avLst/>
          </a:prstGeom>
          <a:noFill/>
        </p:spPr>
        <p:txBody>
          <a:bodyPr wrap="square" lIns="0" rIns="0" tIns="0" bIns="0" anchor="ctr">
            <a:noAutofit/>
          </a:bodyPr>
          <a:lstStyle/>
          <a:p>
            <a:pPr algn="l">
              <a:spcAft>
                <a:spcPts val="400"/>
              </a:spcAft>
            </a:pPr>
            <a:r>
              <a:rPr sz="1400" b="0" lang="en-GB">
                <a:solidFill>
                  <a:schemeClr val="tx1"/>
                </a:solidFill>
              </a:rPr>
              <a:t>Germany</a:t>
            </a:r>
          </a:p>
        </p:txBody>
      </p:sp>
      <p:sp>
        <p:nvSpPr>
          <p:cNvPr id="20" name="Scale table 1-1"/>
          <p:cNvSpPr/>
          <p:nvPr/>
        </p:nvSpPr>
        <p:spPr>
          <a:xfrm>
            <a:off x="1783080" y="182880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1-1"/>
          <p:cNvSpPr txBox="1"/>
          <p:nvPr/>
        </p:nvSpPr>
        <p:spPr>
          <a:xfrm>
            <a:off x="1856232" y="182880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0.8</a:t>
            </a:r>
          </a:p>
        </p:txBody>
      </p:sp>
      <p:sp>
        <p:nvSpPr>
          <p:cNvPr id="22" name="Scale table 1-2"/>
          <p:cNvSpPr/>
          <p:nvPr/>
        </p:nvSpPr>
        <p:spPr>
          <a:xfrm>
            <a:off x="2926080" y="182880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1-2"/>
          <p:cNvSpPr txBox="1"/>
          <p:nvPr/>
        </p:nvSpPr>
        <p:spPr>
          <a:xfrm>
            <a:off x="2999232" y="182880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1.0</a:t>
            </a:r>
          </a:p>
        </p:txBody>
      </p:sp>
      <p:sp>
        <p:nvSpPr>
          <p:cNvPr id="24" name="Scale table 1-3"/>
          <p:cNvSpPr/>
          <p:nvPr/>
        </p:nvSpPr>
        <p:spPr>
          <a:xfrm>
            <a:off x="4069080" y="1828800"/>
            <a:ext cx="119786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1-3"/>
          <p:cNvSpPr txBox="1"/>
          <p:nvPr/>
        </p:nvSpPr>
        <p:spPr>
          <a:xfrm>
            <a:off x="4142232" y="1828800"/>
            <a:ext cx="1051560" cy="457200"/>
          </a:xfrm>
          <a:prstGeom prst="rect">
            <a:avLst/>
          </a:prstGeom>
          <a:noFill/>
        </p:spPr>
        <p:txBody>
          <a:bodyPr wrap="square" lIns="0" rIns="0" tIns="0" bIns="0" anchor="ctr">
            <a:noAutofit/>
          </a:bodyPr>
          <a:lstStyle/>
          <a:p>
            <a:pPr algn="r">
              <a:spcAft>
                <a:spcPts val="400"/>
              </a:spcAft>
            </a:pPr>
            <a:r>
              <a:rPr sz="1400" b="1" lang="en-GB">
                <a:solidFill>
                  <a:schemeClr val="tx2"/>
                </a:solidFill>
              </a:rPr>
              <a:t>0.80</a:t>
            </a:r>
          </a:p>
        </p:txBody>
      </p:sp>
      <p:sp>
        <p:nvSpPr>
          <p:cNvPr id="26" name="Scale table 2-0"/>
          <p:cNvSpPr/>
          <p:nvPr/>
        </p:nvSpPr>
        <p:spPr>
          <a:xfrm>
            <a:off x="457200" y="2331720"/>
            <a:ext cx="128930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2-0"/>
          <p:cNvSpPr txBox="1"/>
          <p:nvPr/>
        </p:nvSpPr>
        <p:spPr>
          <a:xfrm>
            <a:off x="530352" y="2331720"/>
            <a:ext cx="1143000" cy="457200"/>
          </a:xfrm>
          <a:prstGeom prst="rect">
            <a:avLst/>
          </a:prstGeom>
          <a:noFill/>
        </p:spPr>
        <p:txBody>
          <a:bodyPr wrap="square" lIns="0" rIns="0" tIns="0" bIns="0" anchor="ctr">
            <a:noAutofit/>
          </a:bodyPr>
          <a:lstStyle/>
          <a:p>
            <a:pPr algn="l">
              <a:spcAft>
                <a:spcPts val="400"/>
              </a:spcAft>
            </a:pPr>
            <a:r>
              <a:rPr sz="1400" b="0" lang="en-GB">
                <a:solidFill>
                  <a:schemeClr val="tx1"/>
                </a:solidFill>
              </a:rPr>
              <a:t>Hungary</a:t>
            </a:r>
          </a:p>
        </p:txBody>
      </p:sp>
      <p:sp>
        <p:nvSpPr>
          <p:cNvPr id="28" name="Scale table 2-1"/>
          <p:cNvSpPr/>
          <p:nvPr/>
        </p:nvSpPr>
        <p:spPr>
          <a:xfrm>
            <a:off x="1783080" y="233172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2-1"/>
          <p:cNvSpPr txBox="1"/>
          <p:nvPr/>
        </p:nvSpPr>
        <p:spPr>
          <a:xfrm>
            <a:off x="1856232" y="233172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0.8</a:t>
            </a:r>
          </a:p>
        </p:txBody>
      </p:sp>
      <p:sp>
        <p:nvSpPr>
          <p:cNvPr id="30" name="Scale table 2-2"/>
          <p:cNvSpPr/>
          <p:nvPr/>
        </p:nvSpPr>
        <p:spPr>
          <a:xfrm>
            <a:off x="2926080" y="233172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2-2"/>
          <p:cNvSpPr txBox="1"/>
          <p:nvPr/>
        </p:nvSpPr>
        <p:spPr>
          <a:xfrm>
            <a:off x="2999232" y="233172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1.6</a:t>
            </a:r>
          </a:p>
        </p:txBody>
      </p:sp>
      <p:sp>
        <p:nvSpPr>
          <p:cNvPr id="32" name="Scale table 2-3"/>
          <p:cNvSpPr/>
          <p:nvPr/>
        </p:nvSpPr>
        <p:spPr>
          <a:xfrm>
            <a:off x="4069080" y="2331720"/>
            <a:ext cx="119786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2-3"/>
          <p:cNvSpPr txBox="1"/>
          <p:nvPr/>
        </p:nvSpPr>
        <p:spPr>
          <a:xfrm>
            <a:off x="4142232" y="2331720"/>
            <a:ext cx="1051560" cy="457200"/>
          </a:xfrm>
          <a:prstGeom prst="rect">
            <a:avLst/>
          </a:prstGeom>
          <a:noFill/>
        </p:spPr>
        <p:txBody>
          <a:bodyPr wrap="square" lIns="0" rIns="0" tIns="0" bIns="0" anchor="ctr">
            <a:noAutofit/>
          </a:bodyPr>
          <a:lstStyle/>
          <a:p>
            <a:pPr algn="r">
              <a:spcAft>
                <a:spcPts val="400"/>
              </a:spcAft>
            </a:pPr>
            <a:r>
              <a:rPr sz="1400" b="1" lang="en-GB">
                <a:solidFill>
                  <a:schemeClr val="tx2"/>
                </a:solidFill>
              </a:rPr>
              <a:t>0.50</a:t>
            </a:r>
          </a:p>
        </p:txBody>
      </p:sp>
      <p:sp>
        <p:nvSpPr>
          <p:cNvPr id="34" name="Scale note"/>
          <p:cNvSpPr txBox="1"/>
          <p:nvPr/>
        </p:nvSpPr>
        <p:spPr>
          <a:xfrm>
            <a:off x="457200" y="2880360"/>
            <a:ext cx="4846320" cy="274320"/>
          </a:xfrm>
          <a:prstGeom prst="rect">
            <a:avLst/>
          </a:prstGeom>
          <a:noFill/>
        </p:spPr>
        <p:txBody>
          <a:bodyPr wrap="square" lIns="0" rIns="0" tIns="0" bIns="0" anchor="t">
            <a:noAutofit/>
          </a:bodyPr>
          <a:lstStyle/>
          <a:p>
            <a:pPr algn="l">
              <a:spcAft>
                <a:spcPts val="400"/>
              </a:spcAft>
            </a:pPr>
            <a:r>
              <a:rPr sz="1050" b="0" lang="en-GB">
                <a:solidFill>
                  <a:srgbClr val="595959"/>
                </a:solidFill>
              </a:rPr>
              <a:t>Illustrative numbers</a:t>
            </a:r>
          </a:p>
        </p:txBody>
      </p:sp>
      <p:sp>
        <p:nvSpPr>
          <p:cNvPr id="35" name="Scale formula caption bar"/>
          <p:cNvSpPr/>
          <p:nvPr/>
        </p:nvSpPr>
        <p:spPr>
          <a:xfrm>
            <a:off x="5440680" y="132588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cale formula caption"/>
          <p:cNvSpPr txBox="1"/>
          <p:nvPr/>
        </p:nvSpPr>
        <p:spPr>
          <a:xfrm>
            <a:off x="5550408" y="132588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Latent-variable view</a:t>
            </a:r>
          </a:p>
        </p:txBody>
      </p:sp>
      <p:sp>
        <p:nvSpPr>
          <p:cNvPr id="37" name="Scale formula box"/>
          <p:cNvSpPr/>
          <p:nvPr/>
        </p:nvSpPr>
        <p:spPr>
          <a:xfrm>
            <a:off x="5440680" y="1600200"/>
            <a:ext cx="3246120" cy="1188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cale formula code"/>
          <p:cNvSpPr txBox="1"/>
          <p:nvPr/>
        </p:nvSpPr>
        <p:spPr>
          <a:xfrm>
            <a:off x="5577840" y="1691640"/>
            <a:ext cx="2971800" cy="10058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scale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0.8 / 1.6 = 0.50</a:t>
            </a:r>
          </a:p>
        </p:txBody>
      </p:sp>
      <p:sp>
        <p:nvSpPr>
          <p:cNvPr id="39" name="Scale remedy 1 box"/>
          <p:cNvSpPr/>
          <p:nvPr/>
        </p:nvSpPr>
        <p:spPr>
          <a:xfrm>
            <a:off x="457200" y="3291840"/>
            <a:ext cx="265176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cale remedy 1 text"/>
          <p:cNvSpPr txBox="1"/>
          <p:nvPr/>
        </p:nvSpPr>
        <p:spPr>
          <a:xfrm>
            <a:off x="594360" y="3401568"/>
            <a:ext cx="2377440" cy="69494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probabilities: </a:t>
            </a:r>
            <a:r>
              <a:rPr sz="1250" b="0" lang="en-GB">
                <a:solidFill>
                  <a:schemeClr val="tx1"/>
                </a:solidFill>
              </a:rPr>
              <a:t>AMEs and predictions by country</a:t>
            </a:r>
          </a:p>
        </p:txBody>
      </p:sp>
      <p:sp>
        <p:nvSpPr>
          <p:cNvPr id="41" name="Scale remedy 2 box"/>
          <p:cNvSpPr/>
          <p:nvPr/>
        </p:nvSpPr>
        <p:spPr>
          <a:xfrm>
            <a:off x="3246120" y="3291840"/>
            <a:ext cx="265176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cale remedy 2 text"/>
          <p:cNvSpPr txBox="1"/>
          <p:nvPr/>
        </p:nvSpPr>
        <p:spPr>
          <a:xfrm>
            <a:off x="3383280" y="3401568"/>
            <a:ext cx="2377440" cy="694944"/>
          </a:xfrm>
          <a:prstGeom prst="rect">
            <a:avLst/>
          </a:prstGeom>
          <a:noFill/>
        </p:spPr>
        <p:txBody>
          <a:bodyPr wrap="square" lIns="0" rIns="0" tIns="0" bIns="0" anchor="ctr">
            <a:noAutofit/>
          </a:bodyPr>
          <a:lstStyle/>
          <a:p>
            <a:pPr algn="l">
              <a:spcAft>
                <a:spcPts val="400"/>
              </a:spcAft>
            </a:pPr>
            <a:r>
              <a:rPr sz="1250" b="1" lang="en-GB">
                <a:solidFill>
                  <a:schemeClr val="tx2"/>
                </a:solidFill>
              </a:rPr>
              <a:t>Model the variance: </a:t>
            </a:r>
            <a:r>
              <a:rPr sz="1250" b="0" lang="en-GB">
                <a:solidFill>
                  <a:schemeClr val="tx1"/>
                </a:solidFill>
              </a:rPr>
              <a:t>heterogeneous-choice logit</a:t>
            </a:r>
          </a:p>
        </p:txBody>
      </p:sp>
      <p:sp>
        <p:nvSpPr>
          <p:cNvPr id="43" name="Scale remedy 3 box"/>
          <p:cNvSpPr/>
          <p:nvPr/>
        </p:nvSpPr>
        <p:spPr>
          <a:xfrm>
            <a:off x="6035040" y="3291840"/>
            <a:ext cx="265176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cale remedy 3 text"/>
          <p:cNvSpPr txBox="1"/>
          <p:nvPr/>
        </p:nvSpPr>
        <p:spPr>
          <a:xfrm>
            <a:off x="6172200" y="3401568"/>
            <a:ext cx="2377440" cy="694944"/>
          </a:xfrm>
          <a:prstGeom prst="rect">
            <a:avLst/>
          </a:prstGeom>
          <a:noFill/>
        </p:spPr>
        <p:txBody>
          <a:bodyPr wrap="square" lIns="0" rIns="0" tIns="0" bIns="0" anchor="ctr">
            <a:noAutofit/>
          </a:bodyPr>
          <a:lstStyle/>
          <a:p>
            <a:pPr algn="l">
              <a:spcAft>
                <a:spcPts val="400"/>
              </a:spcAft>
            </a:pPr>
            <a:r>
              <a:rPr sz="1250" b="1" lang="en-GB">
                <a:solidFill>
                  <a:schemeClr val="tx2"/>
                </a:solidFill>
              </a:rPr>
              <a:t>Nested models: </a:t>
            </a:r>
            <a:r>
              <a:rPr sz="1250" b="0" lang="en-GB">
                <a:solidFill>
                  <a:schemeClr val="tx1"/>
                </a:solidFill>
              </a:rPr>
              <a:t>KHB decomposition</a:t>
            </a:r>
          </a:p>
        </p:txBody>
      </p:sp>
      <p:sp>
        <p:nvSpPr>
          <p:cNvPr id="45" name="Scale callout box"/>
          <p:cNvSpPr/>
          <p:nvPr/>
        </p:nvSpPr>
        <p:spPr>
          <a:xfrm>
            <a:off x="457200" y="43434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cale callout text"/>
          <p:cNvSpPr txBox="1"/>
          <p:nvPr/>
        </p:nvSpPr>
        <p:spPr>
          <a:xfrm>
            <a:off x="594360" y="4453128"/>
            <a:ext cx="7955280" cy="329184"/>
          </a:xfrm>
          <a:prstGeom prst="rect">
            <a:avLst/>
          </a:prstGeom>
          <a:noFill/>
        </p:spPr>
        <p:txBody>
          <a:bodyPr wrap="square" lIns="0" rIns="0" tIns="0" bIns="0" anchor="ctr">
            <a:noAutofit/>
          </a:bodyPr>
          <a:lstStyle/>
          <a:p>
            <a:pPr algn="l">
              <a:spcAft>
                <a:spcPts val="400"/>
              </a:spcAft>
            </a:pPr>
            <a:r>
              <a:rPr sz="1300" b="1" lang="en-GB">
                <a:solidFill>
                  <a:schemeClr val="bg1"/>
                </a:solidFill>
              </a:rPr>
              <a:t>The gap in the warm-up can be noise, not strategy.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choice experiments: compare scale-free quantities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stat 1 figure"/>
          <p:cNvSpPr txBox="1"/>
          <p:nvPr/>
        </p:nvSpPr>
        <p:spPr>
          <a:xfrm>
            <a:off x="621792" y="132588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1993</a:t>
            </a:r>
          </a:p>
        </p:txBody>
      </p:sp>
      <p:sp>
        <p:nvSpPr>
          <p:cNvPr id="12" name="Scale stat 1 label"/>
          <p:cNvSpPr txBox="1"/>
          <p:nvPr/>
        </p:nvSpPr>
        <p:spPr>
          <a:xfrm>
            <a:off x="2286000" y="132588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Swait &amp; Louviere: test scale equality before you compare part-worths across samples</a:t>
            </a:r>
          </a:p>
        </p:txBody>
      </p:sp>
      <p:sp>
        <p:nvSpPr>
          <p:cNvPr id="13" name="Scale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cale stat 2 figure"/>
          <p:cNvSpPr txBox="1"/>
          <p:nvPr/>
        </p:nvSpPr>
        <p:spPr>
          <a:xfrm>
            <a:off x="621792" y="214884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10/10</a:t>
            </a:r>
          </a:p>
        </p:txBody>
      </p:sp>
      <p:sp>
        <p:nvSpPr>
          <p:cNvPr id="15" name="Scale stat 2 label"/>
          <p:cNvSpPr txBox="1"/>
          <p:nvPr/>
        </p:nvSpPr>
        <p:spPr>
          <a:xfrm>
            <a:off x="2286000" y="214884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datasets preferred models with scale heterogeneity over standard mixed logit (Fiebig et al. 2010)</a:t>
            </a:r>
          </a:p>
        </p:txBody>
      </p:sp>
      <p:sp>
        <p:nvSpPr>
          <p:cNvPr id="16" name="Scale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stat 3 figure"/>
          <p:cNvSpPr txBox="1"/>
          <p:nvPr/>
        </p:nvSpPr>
        <p:spPr>
          <a:xfrm>
            <a:off x="621792" y="297180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7 %</a:t>
            </a:r>
          </a:p>
        </p:txBody>
      </p:sp>
      <p:sp>
        <p:nvSpPr>
          <p:cNvPr id="18" name="Scale stat 3 label"/>
          <p:cNvSpPr txBox="1"/>
          <p:nvPr/>
        </p:nvSpPr>
        <p:spPr>
          <a:xfrm>
            <a:off x="2286000" y="297180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278 group-comparing choice experiments formally accounted for scale (Wright et al. 2018)</a:t>
            </a:r>
          </a:p>
        </p:txBody>
      </p:sp>
      <p:sp>
        <p:nvSpPr>
          <p:cNvPr id="19" name="Choice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oice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Compare across countries: </a:t>
            </a:r>
            <a:r>
              <a:rPr sz="1300" b="0" lang="en-GB">
                <a:solidFill>
                  <a:schemeClr val="bg1"/>
                </a:solidFill>
              </a:rPr>
              <a:t>willingness-to-pay ratios, relative importances and simulated choice shares, not part-worths.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marginal effects, interactions, checklist</a:t>
            </a:r>
          </a:p>
        </p:txBody>
      </p:sp>
      <p:sp>
        <p:nvSpPr>
          <p:cNvPr id="3" name="Title 2"/>
          <p:cNvSpPr>
            <a:spLocks noGrp="1"/>
          </p:cNvSpPr>
          <p:nvPr>
            <p:ph type="ctrTitle"/>
          </p:nvPr>
        </p:nvSpPr>
        <p:spPr/>
        <p:txBody>
          <a:bodyPr/>
          <a:lstStyle/>
          <a:p>
            <a:r>
              <a:rPr lang="en-GB"/>
              <a:t>Interpreting and reporting</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quantities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ntity 1 body"/>
          <p:cNvSpPr/>
          <p:nvPr/>
        </p:nvSpPr>
        <p:spPr>
          <a:xfrm>
            <a:off x="457200" y="173736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ntity 1 header"/>
          <p:cNvSpPr/>
          <p:nvPr/>
        </p:nvSpPr>
        <p:spPr>
          <a:xfrm>
            <a:off x="457200" y="1325880"/>
            <a:ext cx="2651760" cy="411480"/>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antity 1 heading"/>
          <p:cNvSpPr txBox="1"/>
          <p:nvPr/>
        </p:nvSpPr>
        <p:spPr>
          <a:xfrm>
            <a:off x="59436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Quantity 1" descr=""/>
          <p:cNvPicPr>
            <a:picLocks noChangeAspect="1"/>
          </p:cNvPicPr>
          <p:nvPr/>
        </p:nvPicPr>
        <p:blipFill>
          <a:blip r:embed="rId3"/>
          <a:stretch>
            <a:fillRect/>
          </a:stretch>
        </p:blipFill>
        <p:spPr>
          <a:xfrm>
            <a:off x="2688336" y="1385316"/>
            <a:ext cx="292608" cy="292608"/>
          </a:xfrm>
          <a:prstGeom prst="rect">
            <a:avLst/>
          </a:prstGeom>
        </p:spPr>
      </p:pic>
      <p:sp>
        <p:nvSpPr>
          <p:cNvPr id="14" name="Quantity 1 text"/>
          <p:cNvSpPr txBox="1"/>
          <p:nvPr/>
        </p:nvSpPr>
        <p:spPr>
          <a:xfrm>
            <a:off x="612648" y="1856232"/>
            <a:ext cx="2359152" cy="1581912"/>
          </a:xfrm>
          <a:prstGeom prst="rect">
            <a:avLst/>
          </a:prstGeom>
          <a:noFill/>
        </p:spPr>
        <p:txBody>
          <a:bodyPr wrap="square" lIns="0" rIns="0" tIns="0" bIns="0" anchor="t">
            <a:noAutofit/>
          </a:bodyPr>
          <a:lstStyle/>
          <a:p>
            <a:pPr algn="l">
              <a:spcAft>
                <a:spcPts val="800"/>
              </a:spcAft>
            </a:pPr>
            <a:r>
              <a:rPr sz="1300" b="1" lang="en-GB">
                <a:solidFill>
                  <a:schemeClr val="tx2"/>
                </a:solidFill>
              </a:rPr>
              <a:t>What: </a:t>
            </a:r>
            <a:r>
              <a:rPr sz="1300" b="0" lang="en-GB">
                <a:solidFill>
                  <a:schemeClr val="tx1"/>
                </a:solidFill>
              </a:rPr>
              <a:t>multiplies the odds</a:t>
            </a:r>
          </a:p>
          <a:p>
            <a:pPr algn="l">
              <a:spcAft>
                <a:spcPts val="800"/>
              </a:spcAft>
            </a:pPr>
            <a:r>
              <a:rPr sz="1300" b="1" lang="en-GB">
                <a:solidFill>
                  <a:schemeClr val="tx2"/>
                </a:solidFill>
              </a:rPr>
              <a:t>Use: </a:t>
            </a:r>
            <a:r>
              <a:rPr sz="1300" b="0" lang="en-GB">
                <a:solidFill>
                  <a:schemeClr val="tx1"/>
                </a:solidFill>
              </a:rPr>
              <a:t>within one model</a:t>
            </a:r>
          </a:p>
          <a:p>
            <a:pPr algn="l">
              <a:spcAft>
                <a:spcPts val="800"/>
              </a:spcAft>
            </a:pPr>
            <a:r>
              <a:rPr sz="1300" b="1" lang="en-GB">
                <a:solidFill>
                  <a:schemeClr val="tx2"/>
                </a:solidFill>
              </a:rPr>
              <a:t>Trap: </a:t>
            </a:r>
            <a:r>
              <a:rPr sz="1300" b="0" lang="en-GB">
                <a:solidFill>
                  <a:schemeClr val="tx1"/>
                </a:solidFill>
              </a:rPr>
              <a:t>misleads for common outcomes</a:t>
            </a:r>
          </a:p>
        </p:txBody>
      </p:sp>
      <p:sp>
        <p:nvSpPr>
          <p:cNvPr id="15" name="Quantity 2 body"/>
          <p:cNvSpPr/>
          <p:nvPr/>
        </p:nvSpPr>
        <p:spPr>
          <a:xfrm>
            <a:off x="3246120" y="173736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antity 2 header"/>
          <p:cNvSpPr/>
          <p:nvPr/>
        </p:nvSpPr>
        <p:spPr>
          <a:xfrm>
            <a:off x="324612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antity 2 heading"/>
          <p:cNvSpPr txBox="1"/>
          <p:nvPr/>
        </p:nvSpPr>
        <p:spPr>
          <a:xfrm>
            <a:off x="338328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8" name="Icon Quantity 2" descr=""/>
          <p:cNvPicPr>
            <a:picLocks noChangeAspect="1"/>
          </p:cNvPicPr>
          <p:nvPr/>
        </p:nvPicPr>
        <p:blipFill>
          <a:blip r:embed="rId4"/>
          <a:stretch>
            <a:fillRect/>
          </a:stretch>
        </p:blipFill>
        <p:spPr>
          <a:xfrm>
            <a:off x="5477256" y="1385316"/>
            <a:ext cx="292608" cy="292608"/>
          </a:xfrm>
          <a:prstGeom prst="rect">
            <a:avLst/>
          </a:prstGeom>
        </p:spPr>
      </p:pic>
      <p:sp>
        <p:nvSpPr>
          <p:cNvPr id="19" name="Quantity 2 text"/>
          <p:cNvSpPr txBox="1"/>
          <p:nvPr/>
        </p:nvSpPr>
        <p:spPr>
          <a:xfrm>
            <a:off x="3401568" y="1856232"/>
            <a:ext cx="2359152" cy="1581912"/>
          </a:xfrm>
          <a:prstGeom prst="rect">
            <a:avLst/>
          </a:prstGeom>
          <a:noFill/>
        </p:spPr>
        <p:txBody>
          <a:bodyPr wrap="square" lIns="0" rIns="0" tIns="0" bIns="0" anchor="t">
            <a:noAutofit/>
          </a:bodyPr>
          <a:lstStyle/>
          <a:p>
            <a:pPr algn="l">
              <a:spcAft>
                <a:spcPts val="800"/>
              </a:spcAft>
            </a:pPr>
            <a:r>
              <a:rPr sz="1300" b="1" lang="en-GB">
                <a:solidFill>
                  <a:schemeClr val="tx2"/>
                </a:solidFill>
              </a:rPr>
              <a:t>What: </a:t>
            </a:r>
            <a:r>
              <a:rPr sz="1300" b="0" lang="en-GB">
                <a:solidFill>
                  <a:schemeClr val="tx1"/>
                </a:solidFill>
              </a:rPr>
              <a:t>average change in probability, in percentage points</a:t>
            </a:r>
          </a:p>
          <a:p>
            <a:pPr algn="l">
              <a:spcAft>
                <a:spcPts val="800"/>
              </a:spcAft>
            </a:pPr>
            <a:r>
              <a:rPr sz="1300" b="1" lang="en-GB">
                <a:solidFill>
                  <a:schemeClr val="tx2"/>
                </a:solidFill>
              </a:rPr>
              <a:t>Use: </a:t>
            </a:r>
            <a:r>
              <a:rPr sz="1300" b="0" lang="en-GB">
                <a:solidFill>
                  <a:schemeClr val="tx1"/>
                </a:solidFill>
              </a:rPr>
              <a:t>across models and countries</a:t>
            </a:r>
          </a:p>
        </p:txBody>
      </p:sp>
      <p:sp>
        <p:nvSpPr>
          <p:cNvPr id="20" name="Quantity 3 body"/>
          <p:cNvSpPr/>
          <p:nvPr/>
        </p:nvSpPr>
        <p:spPr>
          <a:xfrm>
            <a:off x="6035040" y="173736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antity 3 header"/>
          <p:cNvSpPr/>
          <p:nvPr/>
        </p:nvSpPr>
        <p:spPr>
          <a:xfrm>
            <a:off x="6035040" y="1325880"/>
            <a:ext cx="265176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antity 3 heading"/>
          <p:cNvSpPr txBox="1"/>
          <p:nvPr/>
        </p:nvSpPr>
        <p:spPr>
          <a:xfrm>
            <a:off x="617220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3" name="Icon Quantity 3" descr=""/>
          <p:cNvPicPr>
            <a:picLocks noChangeAspect="1"/>
          </p:cNvPicPr>
          <p:nvPr/>
        </p:nvPicPr>
        <p:blipFill>
          <a:blip r:embed="rId5"/>
          <a:stretch>
            <a:fillRect/>
          </a:stretch>
        </p:blipFill>
        <p:spPr>
          <a:xfrm>
            <a:off x="8266176" y="1385316"/>
            <a:ext cx="292608" cy="292608"/>
          </a:xfrm>
          <a:prstGeom prst="rect">
            <a:avLst/>
          </a:prstGeom>
        </p:spPr>
      </p:pic>
      <p:sp>
        <p:nvSpPr>
          <p:cNvPr id="24" name="Quantity 3 text"/>
          <p:cNvSpPr txBox="1"/>
          <p:nvPr/>
        </p:nvSpPr>
        <p:spPr>
          <a:xfrm>
            <a:off x="6190488" y="1856232"/>
            <a:ext cx="2359152" cy="1581912"/>
          </a:xfrm>
          <a:prstGeom prst="rect">
            <a:avLst/>
          </a:prstGeom>
          <a:noFill/>
        </p:spPr>
        <p:txBody>
          <a:bodyPr wrap="square" lIns="0" rIns="0" tIns="0" bIns="0" anchor="t">
            <a:noAutofit/>
          </a:bodyPr>
          <a:lstStyle/>
          <a:p>
            <a:pPr algn="l">
              <a:spcAft>
                <a:spcPts val="800"/>
              </a:spcAft>
            </a:pPr>
            <a:r>
              <a:rPr sz="1300" b="1" lang="en-GB">
                <a:solidFill>
                  <a:schemeClr val="tx2"/>
                </a:solidFill>
              </a:rPr>
              <a:t>What: </a:t>
            </a:r>
            <a:r>
              <a:rPr sz="1300" b="0" lang="en-GB">
                <a:solidFill>
                  <a:schemeClr val="tx1"/>
                </a:solidFill>
              </a:rPr>
              <a:t>probability for a profile, e.g. a typical Hungarian SME</a:t>
            </a:r>
          </a:p>
          <a:p>
            <a:pPr algn="l">
              <a:spcAft>
                <a:spcPts val="800"/>
              </a:spcAft>
            </a:pPr>
            <a:r>
              <a:rPr sz="1300" b="1" lang="en-GB">
                <a:solidFill>
                  <a:schemeClr val="tx2"/>
                </a:solidFill>
              </a:rPr>
              <a:t>Use: </a:t>
            </a:r>
            <a:r>
              <a:rPr sz="1300" b="0" lang="en-GB">
                <a:solidFill>
                  <a:schemeClr val="tx1"/>
                </a:solidFill>
              </a:rPr>
              <a:t>talking to managers</a:t>
            </a:r>
          </a:p>
        </p:txBody>
      </p:sp>
      <p:sp>
        <p:nvSpPr>
          <p:cNvPr id="25" name="Quantity callout box"/>
          <p:cNvSpPr/>
          <p:nvPr/>
        </p:nvSpPr>
        <p:spPr>
          <a:xfrm>
            <a:off x="457200" y="37033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antity callout text"/>
          <p:cNvSpPr txBox="1"/>
          <p:nvPr/>
        </p:nvSpPr>
        <p:spPr>
          <a:xfrm>
            <a:off x="594360" y="3813048"/>
            <a:ext cx="7955280" cy="557784"/>
          </a:xfrm>
          <a:prstGeom prst="rect">
            <a:avLst/>
          </a:prstGeom>
          <a:noFill/>
        </p:spPr>
        <p:txBody>
          <a:bodyPr wrap="square" lIns="0" rIns="0" tIns="0" bIns="0" anchor="ctr">
            <a:noAutofit/>
          </a:bodyPr>
          <a:lstStyle/>
          <a:p>
            <a:pPr algn="l">
              <a:spcAft>
                <a:spcPts val="400"/>
              </a:spcAft>
            </a:pPr>
            <a:r>
              <a:rPr sz="1300" b="1" lang="en-GB">
                <a:solidFill>
                  <a:schemeClr val="bg1"/>
                </a:solidFill>
              </a:rPr>
              <a:t>Standard: </a:t>
            </a:r>
            <a:r>
              <a:rPr sz="1300" b="0" lang="en-GB">
                <a:solidFill>
                  <a:schemeClr val="bg1"/>
                </a:solidFill>
              </a:rPr>
              <a:t>marginal effects and predictions with confidence intervals; odds ratios stay in the table.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the product term is not the effect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teraction card body"/>
          <p:cNvSpPr/>
          <p:nvPr/>
        </p:nvSpPr>
        <p:spPr>
          <a:xfrm>
            <a:off x="457200" y="1737360"/>
            <a:ext cx="365760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teraction card header"/>
          <p:cNvSpPr/>
          <p:nvPr/>
        </p:nvSpPr>
        <p:spPr>
          <a:xfrm>
            <a:off x="457200" y="1325880"/>
            <a:ext cx="36576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action card heading"/>
          <p:cNvSpPr txBox="1"/>
          <p:nvPr/>
        </p:nvSpPr>
        <p:spPr>
          <a:xfrm>
            <a:off x="594360" y="1325880"/>
            <a:ext cx="30175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Ai &amp; Norton (2003)</a:t>
            </a:r>
          </a:p>
        </p:txBody>
      </p:sp>
      <p:pic>
        <p:nvPicPr>
          <p:cNvPr id="13" name="Icon Interaction card" descr=""/>
          <p:cNvPicPr>
            <a:picLocks noChangeAspect="1"/>
          </p:cNvPicPr>
          <p:nvPr/>
        </p:nvPicPr>
        <p:blipFill>
          <a:blip r:embed="rId3"/>
          <a:stretch>
            <a:fillRect/>
          </a:stretch>
        </p:blipFill>
        <p:spPr>
          <a:xfrm>
            <a:off x="3694176" y="1385316"/>
            <a:ext cx="292608" cy="292608"/>
          </a:xfrm>
          <a:prstGeom prst="rect">
            <a:avLst/>
          </a:prstGeom>
        </p:spPr>
      </p:pic>
      <p:sp>
        <p:nvSpPr>
          <p:cNvPr id="14" name="Interaction card text"/>
          <p:cNvSpPr txBox="1"/>
          <p:nvPr/>
        </p:nvSpPr>
        <p:spPr>
          <a:xfrm>
            <a:off x="612648" y="1856232"/>
            <a:ext cx="3364992" cy="2130552"/>
          </a:xfrm>
          <a:prstGeom prst="rect">
            <a:avLst/>
          </a:prstGeom>
          <a:noFill/>
        </p:spPr>
        <p:txBody>
          <a:bodyPr wrap="square" lIns="0" rIns="0" tIns="0" bIns="0" anchor="t">
            <a:noAutofit/>
          </a:bodyPr>
          <a:lstStyle/>
          <a:p>
            <a:pPr algn="l" marL="182880" indent="-182880">
              <a:spcAft>
                <a:spcPts val="800"/>
              </a:spcAft>
              <a:buClr>
                <a:schemeClr val="accent1"/>
              </a:buClr>
              <a:buFont typeface="Arial"/>
              <a:buChar char="▪"/>
            </a:pPr>
            <a:r>
              <a:rPr sz="1300" b="0" lang="en-GB">
                <a:solidFill>
                  <a:schemeClr val="tx1"/>
                </a:solidFill>
              </a:rPr>
              <a:t>The effect on probability varies by firm</a:t>
            </a:r>
          </a:p>
          <a:p>
            <a:pPr algn="l" marL="182880" indent="-182880">
              <a:spcAft>
                <a:spcPts val="800"/>
              </a:spcAft>
              <a:buClr>
                <a:schemeClr val="accent1"/>
              </a:buClr>
              <a:buFont typeface="Arial"/>
              <a:buChar char="▪"/>
            </a:pPr>
            <a:r>
              <a:rPr sz="1300" b="0" lang="en-GB">
                <a:solidFill>
                  <a:schemeClr val="tx1"/>
                </a:solidFill>
              </a:rPr>
              <a:t>It can be non-zero when the coefficient is zero</a:t>
            </a:r>
          </a:p>
          <a:p>
            <a:pPr algn="l" marL="182880" indent="-182880">
              <a:spcAft>
                <a:spcPts val="800"/>
              </a:spcAft>
              <a:buClr>
                <a:schemeClr val="accent1"/>
              </a:buClr>
              <a:buFont typeface="Arial"/>
              <a:buChar char="▪"/>
            </a:pPr>
            <a:r>
              <a:rPr sz="1300" b="0" lang="en-GB">
                <a:solidFill>
                  <a:schemeClr val="tx1"/>
                </a:solidFill>
              </a:rPr>
              <a:t>It can even have the opposite sign</a:t>
            </a:r>
          </a:p>
        </p:txBody>
      </p:sp>
      <p:sp>
        <p:nvSpPr>
          <p:cNvPr id="15" name="Mize header"/>
          <p:cNvSpPr/>
          <p:nvPr/>
        </p:nvSpPr>
        <p:spPr>
          <a:xfrm>
            <a:off x="4297680" y="1325880"/>
            <a:ext cx="43891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ize heading"/>
          <p:cNvSpPr txBox="1"/>
          <p:nvPr/>
        </p:nvSpPr>
        <p:spPr>
          <a:xfrm>
            <a:off x="4434840" y="1325880"/>
            <a:ext cx="3657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Three steps (Mize 2019)</a:t>
            </a:r>
          </a:p>
        </p:txBody>
      </p:sp>
      <p:pic>
        <p:nvPicPr>
          <p:cNvPr id="17" name="Icon Mize" descr=""/>
          <p:cNvPicPr>
            <a:picLocks noChangeAspect="1"/>
          </p:cNvPicPr>
          <p:nvPr/>
        </p:nvPicPr>
        <p:blipFill>
          <a:blip r:embed="rId4"/>
          <a:stretch>
            <a:fillRect/>
          </a:stretch>
        </p:blipFill>
        <p:spPr>
          <a:xfrm>
            <a:off x="8266176" y="1385316"/>
            <a:ext cx="292608" cy="292608"/>
          </a:xfrm>
          <a:prstGeom prst="rect">
            <a:avLst/>
          </a:prstGeom>
        </p:spPr>
      </p:pic>
      <p:sp>
        <p:nvSpPr>
          <p:cNvPr id="18" name="Mize step 1"/>
          <p:cNvSpPr/>
          <p:nvPr/>
        </p:nvSpPr>
        <p:spPr>
          <a:xfrm>
            <a:off x="4297680" y="1874520"/>
            <a:ext cx="43891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ize step number box 1"/>
          <p:cNvSpPr/>
          <p:nvPr/>
        </p:nvSpPr>
        <p:spPr>
          <a:xfrm>
            <a:off x="4297680" y="1874520"/>
            <a:ext cx="502920"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ize step number 1"/>
          <p:cNvSpPr txBox="1"/>
          <p:nvPr/>
        </p:nvSpPr>
        <p:spPr>
          <a:xfrm>
            <a:off x="4297680" y="1874520"/>
            <a:ext cx="502920" cy="658368"/>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21" name="Mize step text 1"/>
          <p:cNvSpPr txBox="1"/>
          <p:nvPr/>
        </p:nvSpPr>
        <p:spPr>
          <a:xfrm>
            <a:off x="4937760" y="1874520"/>
            <a:ext cx="3611880" cy="658368"/>
          </a:xfrm>
          <a:prstGeom prst="rect">
            <a:avLst/>
          </a:prstGeom>
          <a:noFill/>
        </p:spPr>
        <p:txBody>
          <a:bodyPr wrap="square" lIns="0" rIns="0" tIns="0" bIns="0" anchor="ctr">
            <a:noAutofit/>
          </a:bodyPr>
          <a:lstStyle/>
          <a:p>
            <a:pPr algn="l">
              <a:spcAft>
                <a:spcPts val="400"/>
              </a:spcAft>
            </a:pPr>
            <a:r>
              <a:rPr sz="1250" b="1" lang="en-GB">
                <a:solidFill>
                  <a:schemeClr val="tx2"/>
                </a:solidFill>
              </a:rPr>
              <a:t>Plot  </a:t>
            </a:r>
            <a:r>
              <a:rPr sz="1250" b="0" lang="en-GB">
                <a:solidFill>
                  <a:schemeClr val="tx1"/>
                </a:solidFill>
              </a:rPr>
              <a:t>predicted probabilities across the moderator</a:t>
            </a:r>
          </a:p>
        </p:txBody>
      </p:sp>
      <p:sp>
        <p:nvSpPr>
          <p:cNvPr id="22" name="Mize step 2"/>
          <p:cNvSpPr/>
          <p:nvPr/>
        </p:nvSpPr>
        <p:spPr>
          <a:xfrm>
            <a:off x="4297680" y="2642616"/>
            <a:ext cx="43891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ize step number box 2"/>
          <p:cNvSpPr/>
          <p:nvPr/>
        </p:nvSpPr>
        <p:spPr>
          <a:xfrm>
            <a:off x="4297680" y="2642616"/>
            <a:ext cx="502920"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ize step number 2"/>
          <p:cNvSpPr txBox="1"/>
          <p:nvPr/>
        </p:nvSpPr>
        <p:spPr>
          <a:xfrm>
            <a:off x="4297680" y="2642616"/>
            <a:ext cx="502920" cy="658368"/>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25" name="Mize step text 2"/>
          <p:cNvSpPr txBox="1"/>
          <p:nvPr/>
        </p:nvSpPr>
        <p:spPr>
          <a:xfrm>
            <a:off x="4937760" y="2642616"/>
            <a:ext cx="3611880" cy="658368"/>
          </a:xfrm>
          <a:prstGeom prst="rect">
            <a:avLst/>
          </a:prstGeom>
          <a:noFill/>
        </p:spPr>
        <p:txBody>
          <a:bodyPr wrap="square" lIns="0" rIns="0" tIns="0" bIns="0" anchor="ctr">
            <a:noAutofit/>
          </a:bodyPr>
          <a:lstStyle/>
          <a:p>
            <a:pPr algn="l">
              <a:spcAft>
                <a:spcPts val="400"/>
              </a:spcAft>
            </a:pPr>
            <a:r>
              <a:rPr sz="1250" b="1" lang="en-GB">
                <a:solidFill>
                  <a:schemeClr val="tx2"/>
                </a:solidFill>
              </a:rPr>
              <a:t>Test  </a:t>
            </a:r>
            <a:r>
              <a:rPr sz="1250" b="0" lang="en-GB">
                <a:solidFill>
                  <a:schemeClr val="tx1"/>
                </a:solidFill>
              </a:rPr>
              <a:t>marginal effects at chosen moderator values</a:t>
            </a:r>
          </a:p>
        </p:txBody>
      </p:sp>
      <p:sp>
        <p:nvSpPr>
          <p:cNvPr id="26" name="Mize step 3"/>
          <p:cNvSpPr/>
          <p:nvPr/>
        </p:nvSpPr>
        <p:spPr>
          <a:xfrm>
            <a:off x="4297680" y="3410712"/>
            <a:ext cx="43891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ize step number box 3"/>
          <p:cNvSpPr/>
          <p:nvPr/>
        </p:nvSpPr>
        <p:spPr>
          <a:xfrm>
            <a:off x="4297680" y="3410712"/>
            <a:ext cx="502920"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Mize step number 3"/>
          <p:cNvSpPr txBox="1"/>
          <p:nvPr/>
        </p:nvSpPr>
        <p:spPr>
          <a:xfrm>
            <a:off x="4297680" y="3410712"/>
            <a:ext cx="502920" cy="658368"/>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9" name="Mize step text 3"/>
          <p:cNvSpPr txBox="1"/>
          <p:nvPr/>
        </p:nvSpPr>
        <p:spPr>
          <a:xfrm>
            <a:off x="4937760" y="3410712"/>
            <a:ext cx="3611880" cy="658368"/>
          </a:xfrm>
          <a:prstGeom prst="rect">
            <a:avLst/>
          </a:prstGeom>
          <a:noFill/>
        </p:spPr>
        <p:txBody>
          <a:bodyPr wrap="square" lIns="0" rIns="0" tIns="0" bIns="0" anchor="ctr">
            <a:noAutofit/>
          </a:bodyPr>
          <a:lstStyle/>
          <a:p>
            <a:pPr algn="l">
              <a:spcAft>
                <a:spcPts val="400"/>
              </a:spcAft>
            </a:pPr>
            <a:r>
              <a:rPr sz="1250" b="1" lang="en-GB">
                <a:solidFill>
                  <a:schemeClr val="tx2"/>
                </a:solidFill>
              </a:rPr>
              <a:t>Compare  </a:t>
            </a:r>
            <a:r>
              <a:rPr sz="1250" b="0" lang="en-GB">
                <a:solidFill>
                  <a:schemeClr val="tx1"/>
                </a:solidFill>
              </a:rPr>
              <a:t>second differences between those effects</a:t>
            </a:r>
          </a:p>
        </p:txBody>
      </p:sp>
      <p:sp>
        <p:nvSpPr>
          <p:cNvPr id="30" name="Interaction callout box"/>
          <p:cNvSpPr/>
          <p:nvPr/>
        </p:nvSpPr>
        <p:spPr>
          <a:xfrm>
            <a:off x="457200" y="42062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nteraction callout text"/>
          <p:cNvSpPr txBox="1"/>
          <p:nvPr/>
        </p:nvSpPr>
        <p:spPr>
          <a:xfrm>
            <a:off x="594360" y="4315968"/>
            <a:ext cx="7955280" cy="466344"/>
          </a:xfrm>
          <a:prstGeom prst="rect">
            <a:avLst/>
          </a:prstGeom>
          <a:noFill/>
        </p:spPr>
        <p:txBody>
          <a:bodyPr wrap="square" lIns="0" rIns="0" tIns="0" bIns="0" anchor="ctr">
            <a:noAutofit/>
          </a:bodyPr>
          <a:lstStyle/>
          <a:p>
            <a:pPr algn="l">
              <a:spcAft>
                <a:spcPts val="400"/>
              </a:spcAft>
            </a:pPr>
            <a:r>
              <a:rPr sz="1300" b="1" lang="en-GB">
                <a:solidFill>
                  <a:schemeClr val="bg1"/>
                </a:solidFill>
              </a:rPr>
              <a:t>Managers ask about probabilities: </a:t>
            </a:r>
            <a:r>
              <a:rPr sz="1300" b="0" lang="en-GB">
                <a:solidFill>
                  <a:schemeClr val="bg1"/>
                </a:solidFill>
              </a:rPr>
              <a:t>“does distance matter more for SMEs?”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Python: marginal effects with statsmodels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code caption bar"/>
          <p:cNvSpPr/>
          <p:nvPr/>
        </p:nvSpPr>
        <p:spPr>
          <a:xfrm>
            <a:off x="457200" y="132588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code caption"/>
          <p:cNvSpPr txBox="1"/>
          <p:nvPr/>
        </p:nvSpPr>
        <p:spPr>
          <a:xfrm>
            <a:off x="566928" y="132588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R code box"/>
          <p:cNvSpPr/>
          <p:nvPr/>
        </p:nvSpPr>
        <p:spPr>
          <a:xfrm>
            <a:off x="457200" y="1600200"/>
            <a:ext cx="4754880" cy="2834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 code code"/>
          <p:cNvSpPr txBox="1"/>
          <p:nvPr/>
        </p:nvSpPr>
        <p:spPr>
          <a:xfrm>
            <a:off x="594360" y="1691640"/>
            <a:ext cx="4480560" cy="26517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m = smf.logit(</a:t>
            </a:r>
          </a:p>
          <a:p>
            <a:pPr algn="l">
              <a:spcAft>
                <a:spcPts val="0"/>
              </a:spcAft>
            </a:pPr>
            <a:r>
              <a:rPr sz="1100" b="0" lang="en-GB">
                <a:solidFill>
                  <a:schemeClr val="bg1"/>
                </a:solidFill>
                <a:latin typeface="Consolas"/>
              </a:rPr>
              <a:t>    "exporter ~ rd + np.log(employees)"</a:t>
            </a:r>
          </a:p>
          <a:p>
            <a:pPr algn="l">
              <a:spcAft>
                <a:spcPts val="0"/>
              </a:spcAft>
            </a:pPr>
            <a:r>
              <a:rPr sz="1100" b="0" lang="en-GB">
                <a:solidFill>
                  <a:schemeClr val="bg1"/>
                </a:solidFill>
                <a:latin typeface="Consolas"/>
              </a:rPr>
              <a:t>    " + C(country, Treatment('DE'))",</a:t>
            </a:r>
          </a:p>
          <a:p>
            <a:pPr algn="l">
              <a:spcAft>
                <a:spcPts val="0"/>
              </a:spcAft>
            </a:pPr>
            <a:r>
              <a:rPr sz="1100" b="0" lang="en-GB">
                <a:solidFill>
                  <a:schemeClr val="bg1"/>
                </a:solidFill>
                <a:latin typeface="Consolas"/>
              </a:rPr>
              <a:t>    data=df).fit()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m.get_margeff(dummy=True).summary()</a:t>
            </a:r>
          </a:p>
          <a:p>
            <a:pPr algn="l">
              <a:spcAft>
                <a:spcPts val="0"/>
              </a:spcAft>
            </a:pPr>
            <a:r>
              <a:rPr sz="1100" b="0" lang="en-GB">
                <a:solidFill>
                  <a:schemeClr val="bg1"/>
                </a:solidFill>
                <a:latin typeface="Consolas"/>
              </a:rPr>
              <a:t>ame_rd(m, df)                 # by country</a:t>
            </a:r>
          </a:p>
          <a:p>
            <a:pPr algn="l">
              <a:spcAft>
                <a:spcPts val="0"/>
              </a:spcAft>
            </a:pPr>
            <a:r>
              <a:rPr sz="1100" b="0" lang="en-GB">
                <a:solidFill>
                  <a:schemeClr val="bg1"/>
                </a:solidFill>
                <a:latin typeface="Consolas"/>
              </a:rPr>
              <a:t>m.get_prediction(profiles).summary_frame()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(ggplot(grid, aes("employees", "predicted",</a:t>
            </a:r>
          </a:p>
          <a:p>
            <a:pPr algn="l">
              <a:spcAft>
                <a:spcPts val="0"/>
              </a:spcAft>
            </a:pPr>
            <a:r>
              <a:rPr sz="1100" b="0" lang="en-GB">
                <a:solidFill>
                  <a:schemeClr val="bg1"/>
                </a:solidFill>
                <a:latin typeface="Consolas"/>
              </a:rPr>
              <a:t>                  color="group")) + geom_line())</a:t>
            </a:r>
          </a:p>
        </p:txBody>
      </p:sp>
      <p:sp>
        <p:nvSpPr>
          <p:cNvPr id="14" name="Code reading 1 box"/>
          <p:cNvSpPr/>
          <p:nvPr/>
        </p:nvSpPr>
        <p:spPr>
          <a:xfrm>
            <a:off x="5394960" y="1325880"/>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de reading 1 text"/>
          <p:cNvSpPr txBox="1"/>
          <p:nvPr/>
        </p:nvSpPr>
        <p:spPr>
          <a:xfrm>
            <a:off x="5532120" y="1435608"/>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get_margeff  </a:t>
            </a:r>
            <a:r>
              <a:rPr sz="1200" b="0" lang="en-GB">
                <a:solidFill>
                  <a:schemeClr val="tx1"/>
                </a:solidFill>
              </a:rPr>
              <a:t>average marginal effects, in probability units</a:t>
            </a:r>
          </a:p>
        </p:txBody>
      </p:sp>
      <p:sp>
        <p:nvSpPr>
          <p:cNvPr id="16" name="Code reading 2 box"/>
          <p:cNvSpPr/>
          <p:nvPr/>
        </p:nvSpPr>
        <p:spPr>
          <a:xfrm>
            <a:off x="5394960" y="2121408"/>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de reading 2 text"/>
          <p:cNvSpPr txBox="1"/>
          <p:nvPr/>
        </p:nvSpPr>
        <p:spPr>
          <a:xfrm>
            <a:off x="5532120" y="2231136"/>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ame_rd  </a:t>
            </a:r>
            <a:r>
              <a:rPr sz="1200" b="0" lang="en-GB">
                <a:solidFill>
                  <a:schemeClr val="tx1"/>
                </a:solidFill>
              </a:rPr>
              <a:t>effect of R&amp;D by country: predict with rd = 1 vs 0</a:t>
            </a:r>
          </a:p>
        </p:txBody>
      </p:sp>
      <p:sp>
        <p:nvSpPr>
          <p:cNvPr id="18" name="Code reading 3 box"/>
          <p:cNvSpPr/>
          <p:nvPr/>
        </p:nvSpPr>
        <p:spPr>
          <a:xfrm>
            <a:off x="5394960" y="2916936"/>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de reading 3 text"/>
          <p:cNvSpPr txBox="1"/>
          <p:nvPr/>
        </p:nvSpPr>
        <p:spPr>
          <a:xfrm>
            <a:off x="5532120" y="3026664"/>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get_prediction  </a:t>
            </a:r>
            <a:r>
              <a:rPr sz="1200" b="0" lang="en-GB">
                <a:solidFill>
                  <a:schemeClr val="tx1"/>
                </a:solidFill>
              </a:rPr>
              <a:t>probability with 95 % CI for a firm profile</a:t>
            </a:r>
          </a:p>
        </p:txBody>
      </p:sp>
      <p:sp>
        <p:nvSpPr>
          <p:cNvPr id="20" name="Code reading 4 box"/>
          <p:cNvSpPr/>
          <p:nvPr/>
        </p:nvSpPr>
        <p:spPr>
          <a:xfrm>
            <a:off x="5394960" y="3712464"/>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de reading 4 text"/>
          <p:cNvSpPr txBox="1"/>
          <p:nvPr/>
        </p:nvSpPr>
        <p:spPr>
          <a:xfrm>
            <a:off x="5532120" y="3822192"/>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plotnine  </a:t>
            </a:r>
            <a:r>
              <a:rPr sz="1200" b="0" lang="en-GB">
                <a:solidFill>
                  <a:schemeClr val="tx1"/>
                </a:solidFill>
              </a:rPr>
              <a:t>the curve your reader will understand</a:t>
            </a:r>
          </a:p>
        </p:txBody>
      </p:sp>
      <p:sp>
        <p:nvSpPr>
          <p:cNvPr id="22" name="Code callout box"/>
          <p:cNvSpPr/>
          <p:nvPr/>
        </p:nvSpPr>
        <p:spPr>
          <a:xfrm>
            <a:off x="457200" y="4572000"/>
            <a:ext cx="822960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de callout text"/>
          <p:cNvSpPr txBox="1"/>
          <p:nvPr/>
        </p:nvSpPr>
        <p:spPr>
          <a:xfrm>
            <a:off x="594360" y="4681728"/>
            <a:ext cx="7955280" cy="164592"/>
          </a:xfrm>
          <a:prstGeom prst="rect">
            <a:avLst/>
          </a:prstGeom>
          <a:noFill/>
        </p:spPr>
        <p:txBody>
          <a:bodyPr wrap="square" lIns="0" rIns="0" tIns="0" bIns="0" anchor="ctr">
            <a:noAutofit/>
          </a:bodyPr>
          <a:lstStyle/>
          <a:p>
            <a:pPr algn="l">
              <a:spcAft>
                <a:spcPts val="400"/>
              </a:spcAft>
            </a:pPr>
            <a:r>
              <a:rPr sz="1150" b="0" lang="en-GB">
                <a:solidFill>
                  <a:schemeClr val="bg1"/>
                </a:solidFill>
              </a:rPr>
              <a:t>Full code and data: sessions/01-foundations/logit_exports.qmd, simulated EFIGE-style SMEs.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438144"/>
        </p:xfrm>
        <a:graphic>
          <a:graphicData uri="http://schemas.openxmlformats.org/drawingml/2006/table">
            <a:tbl>
              <a:tblPr firstRow="1" bandRow="1">
                <a:tableStyleId>{5C22544A-7EE6-4342-B048-85BDC9FD1C3A}</a:tableStyleId>
              </a:tblPr>
              <a:tblGrid>
                <a:gridCol w="1600200"/>
                <a:gridCol w="3429000"/>
                <a:gridCol w="3200400"/>
              </a:tblGrid>
              <a:tr h="429768">
                <a:tc>
                  <a:txBody>
                    <a:bodyPr/>
                    <a:lstStyle/>
                    <a:p>
                      <a:r>
                        <a:rPr sz="1150" lang="en-GB"/>
                        <a:t>Element</a:t>
                      </a:r>
                    </a:p>
                  </a:txBody>
                  <a:tcPr anchor="ctr" marT="36576" marB="36576"/>
                </a:tc>
                <a:tc>
                  <a:txBody>
                    <a:bodyPr/>
                    <a:lstStyle/>
                    <a:p>
                      <a:r>
                        <a:rPr sz="1150" lang="en-GB"/>
                        <a:t>Report at least</a:t>
                      </a:r>
                    </a:p>
                  </a:txBody>
                  <a:tcPr anchor="ctr" marT="36576" marB="36576"/>
                </a:tc>
                <a:tc>
                  <a:txBody>
                    <a:bodyPr/>
                    <a:lstStyle/>
                    <a:p>
                      <a:r>
                        <a:rPr sz="1150" lang="en-GB"/>
                        <a:t>Avoid</a:t>
                      </a:r>
                    </a:p>
                  </a:txBody>
                  <a:tcPr anchor="ctr" marT="36576" marB="36576"/>
                </a:tc>
              </a:tr>
              <a:tr h="429768">
                <a:tc>
                  <a:txBody>
                    <a:bodyPr/>
                    <a:lstStyle/>
                    <a:p>
                      <a:r>
                        <a:rPr sz="1150" b="1" lang="en-GB"/>
                        <a:t>Focal effects</a:t>
                      </a:r>
                    </a:p>
                  </a:txBody>
                  <a:tcPr anchor="ctr" marT="36576" marB="36576"/>
                </a:tc>
                <a:tc>
                  <a:txBody>
                    <a:bodyPr/>
                    <a:lstStyle/>
                    <a:p>
                      <a:r>
                        <a:rPr sz="1150" lang="en-GB"/>
                        <a:t>Marginal effects with SEs; predictions for profiles</a:t>
                      </a:r>
                    </a:p>
                  </a:txBody>
                  <a:tcPr anchor="ctr" marT="36576" marB="36576"/>
                </a:tc>
                <a:tc>
                  <a:txBody>
                    <a:bodyPr/>
                    <a:lstStyle/>
                    <a:p>
                      <a:r>
                        <a:rPr sz="1150" lang="en-GB"/>
                        <a:t>“x times as likely” for common outcomes</a:t>
                      </a:r>
                    </a:p>
                  </a:txBody>
                  <a:tcPr anchor="ctr" marT="36576" marB="36576"/>
                </a:tc>
              </a:tr>
              <a:tr h="429768">
                <a:tc>
                  <a:txBody>
                    <a:bodyPr/>
                    <a:lstStyle/>
                    <a:p>
                      <a:r>
                        <a:rPr sz="1150" b="1" lang="en-GB"/>
                        <a:t>Moderation</a:t>
                      </a:r>
                    </a:p>
                  </a:txBody>
                  <a:tcPr anchor="ctr" marT="36576" marB="36576"/>
                </a:tc>
                <a:tc>
                  <a:txBody>
                    <a:bodyPr/>
                    <a:lstStyle/>
                    <a:p>
                      <a:r>
                        <a:rPr sz="1150" lang="en-GB"/>
                        <a:t>Plot across the moderator with CIs; second differences</a:t>
                      </a:r>
                    </a:p>
                  </a:txBody>
                  <a:tcPr anchor="ctr" marT="36576" marB="36576"/>
                </a:tc>
                <a:tc>
                  <a:txBody>
                    <a:bodyPr/>
                    <a:lstStyle/>
                    <a:p>
                      <a:r>
                        <a:rPr sz="1150" lang="en-GB"/>
                        <a:t>The product-term p-value alone</a:t>
                      </a:r>
                    </a:p>
                  </a:txBody>
                  <a:tcPr anchor="ctr" marT="36576" marB="36576"/>
                </a:tc>
              </a:tr>
              <a:tr h="429768">
                <a:tc>
                  <a:txBody>
                    <a:bodyPr/>
                    <a:lstStyle/>
                    <a:p>
                      <a:r>
                        <a:rPr sz="1150" b="1" lang="en-GB"/>
                        <a:t>Countries</a:t>
                      </a:r>
                    </a:p>
                  </a:txBody>
                  <a:tcPr anchor="ctr" marT="36576" marB="36576"/>
                </a:tc>
                <a:tc>
                  <a:txBody>
                    <a:bodyPr/>
                    <a:lstStyle/>
                    <a:p>
                      <a:r>
                        <a:rPr sz="1150" lang="en-GB"/>
                        <a:t>Marginal effects by country; heterogeneous choice; WTP ratios</a:t>
                      </a:r>
                    </a:p>
                  </a:txBody>
                  <a:tcPr anchor="ctr" marT="36576" marB="36576"/>
                </a:tc>
                <a:tc>
                  <a:txBody>
                    <a:bodyPr/>
                    <a:lstStyle/>
                    <a:p>
                      <a:r>
                        <a:rPr sz="1150" lang="en-GB"/>
                        <a:t>Betas or ORs across country models</a:t>
                      </a:r>
                    </a:p>
                  </a:txBody>
                  <a:tcPr anchor="ctr" marT="36576" marB="36576"/>
                </a:tc>
              </a:tr>
              <a:tr h="429768">
                <a:tc>
                  <a:txBody>
                    <a:bodyPr/>
                    <a:lstStyle/>
                    <a:p>
                      <a:r>
                        <a:rPr sz="1150" b="1" lang="en-GB"/>
                        <a:t>Mediation</a:t>
                      </a:r>
                    </a:p>
                  </a:txBody>
                  <a:tcPr anchor="ctr" marT="36576" marB="36576"/>
                </a:tc>
                <a:tc>
                  <a:txBody>
                    <a:bodyPr/>
                    <a:lstStyle/>
                    <a:p>
                      <a:r>
                        <a:rPr sz="1150" lang="en-GB"/>
                        <a:t>KHB decomposition</a:t>
                      </a:r>
                    </a:p>
                  </a:txBody>
                  <a:tcPr anchor="ctr" marT="36576" marB="36576"/>
                </a:tc>
                <a:tc>
                  <a:txBody>
                    <a:bodyPr/>
                    <a:lstStyle/>
                    <a:p>
                      <a:r>
                        <a:rPr sz="1150" lang="en-GB"/>
                        <a:t>Coefficients across nested logits</a:t>
                      </a:r>
                    </a:p>
                  </a:txBody>
                  <a:tcPr anchor="ctr" marT="36576" marB="36576"/>
                </a:tc>
              </a:tr>
              <a:tr h="429768">
                <a:tc>
                  <a:txBody>
                    <a:bodyPr/>
                    <a:lstStyle/>
                    <a:p>
                      <a:r>
                        <a:rPr sz="1150" b="1" lang="en-GB"/>
                        <a:t>Fit</a:t>
                      </a:r>
                    </a:p>
                  </a:txBody>
                  <a:tcPr anchor="ctr" marT="36576" marB="36576"/>
                </a:tc>
                <a:tc>
                  <a:txBody>
                    <a:bodyPr/>
                    <a:lstStyle/>
                    <a:p>
                      <a:r>
                        <a:rPr sz="1150" lang="en-GB"/>
                        <a:t>LR test, one labelled pseudo-R², AUC</a:t>
                      </a:r>
                    </a:p>
                  </a:txBody>
                  <a:tcPr anchor="ctr" marT="36576" marB="36576"/>
                </a:tc>
                <a:tc>
                  <a:txBody>
                    <a:bodyPr/>
                    <a:lstStyle/>
                    <a:p>
                      <a:r>
                        <a:rPr sz="1150" lang="en-GB"/>
                        <a:t>% correct at a 0.5 cut-off with rare events</a:t>
                      </a:r>
                    </a:p>
                  </a:txBody>
                  <a:tcPr anchor="ctr" marT="36576" marB="36576"/>
                </a:tc>
              </a:tr>
              <a:tr h="429768">
                <a:tc>
                  <a:txBody>
                    <a:bodyPr/>
                    <a:lstStyle/>
                    <a:p>
                      <a:r>
                        <a:rPr sz="1150" b="1" lang="en-GB"/>
                        <a:t>Multilevel</a:t>
                      </a:r>
                    </a:p>
                  </a:txBody>
                  <a:tcPr anchor="ctr" marT="36576" marB="36576"/>
                </a:tc>
                <a:tc>
                  <a:txBody>
                    <a:bodyPr/>
                    <a:lstStyle/>
                    <a:p>
                      <a:r>
                        <a:rPr sz="1150" lang="en-GB"/>
                        <a:t>Number of countries; random slopes</a:t>
                      </a:r>
                    </a:p>
                  </a:txBody>
                  <a:tcPr anchor="ctr" marT="36576" marB="36576"/>
                </a:tc>
                <a:tc>
                  <a:txBody>
                    <a:bodyPr/>
                    <a:lstStyle/>
                    <a:p>
                      <a:r>
                        <a:rPr sz="1150" lang="en-GB"/>
                        <a:t>Culture effects from &lt; 25 countries as proof</a:t>
                      </a:r>
                    </a:p>
                  </a:txBody>
                  <a:tcPr anchor="ctr" marT="36576" marB="36576"/>
                </a:tc>
              </a:tr>
              <a:tr h="429768">
                <a:tc>
                  <a:txBody>
                    <a:bodyPr/>
                    <a:lstStyle/>
                    <a:p>
                      <a:r>
                        <a:rPr sz="1150" b="1" lang="en-GB"/>
                        <a:t>Endogeneity</a:t>
                      </a:r>
                    </a:p>
                  </a:txBody>
                  <a:tcPr anchor="ctr" marT="36576" marB="36576"/>
                </a:tc>
                <a:tc>
                  <a:txBody>
                    <a:bodyPr/>
                    <a:lstStyle/>
                    <a:p>
                      <a:r>
                        <a:rPr sz="1150" lang="en-GB"/>
                        <a:t>Argued exclusion restriction; control function</a:t>
                      </a:r>
                    </a:p>
                  </a:txBody>
                  <a:tcPr anchor="ctr" marT="36576" marB="36576"/>
                </a:tc>
                <a:tc>
                  <a:txBody>
                    <a:bodyPr/>
                    <a:lstStyle/>
                    <a:p>
                      <a:r>
                        <a:rPr sz="1150" lang="en-GB"/>
                        <a:t>Fitted values plugged into a logit</a:t>
                      </a:r>
                    </a:p>
                  </a:txBody>
                  <a:tcPr anchor="ctr" marT="36576" marB="36576"/>
                </a:tc>
              </a:tr>
            </a:tbl>
          </a:graphicData>
        </a:graphic>
      </p:graphicFrame>
      <p:sp>
        <p:nvSpPr>
          <p:cNvPr id="3" name="Title 2"/>
          <p:cNvSpPr>
            <a:spLocks noGrp="1"/>
          </p:cNvSpPr>
          <p:nvPr>
            <p:ph type="title"/>
          </p:nvPr>
        </p:nvSpPr>
        <p:spPr/>
        <p:txBody>
          <a:bodyPr/>
          <a:lstStyle/>
          <a:p>
            <a:r>
              <a:rPr sz="1600" lang="en-GB"/>
              <a:t>Reporting checklist for theses and papers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IV logic does not carry over to logit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stat 1 figure"/>
          <p:cNvSpPr txBox="1"/>
          <p:nvPr/>
        </p:nvSpPr>
        <p:spPr>
          <a:xfrm>
            <a:off x="621792" y="1325880"/>
            <a:ext cx="22860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 of 165</a:t>
            </a:r>
          </a:p>
        </p:txBody>
      </p:sp>
      <p:sp>
        <p:nvSpPr>
          <p:cNvPr id="12" name="Endo stat 1 label"/>
          <p:cNvSpPr txBox="1"/>
          <p:nvPr/>
        </p:nvSpPr>
        <p:spPr>
          <a:xfrm>
            <a:off x="2971800" y="1325880"/>
            <a:ext cx="57150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strategy papers claimed a valid exclusion restriction for Heckman (Wolfolds &amp; Siegel 2019)</a:t>
            </a:r>
          </a:p>
        </p:txBody>
      </p:sp>
      <p:sp>
        <p:nvSpPr>
          <p:cNvPr id="13" name="Endo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stat 2 figure"/>
          <p:cNvSpPr txBox="1"/>
          <p:nvPr/>
        </p:nvSpPr>
        <p:spPr>
          <a:xfrm>
            <a:off x="621792" y="2148840"/>
            <a:ext cx="22860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83 %</a:t>
            </a:r>
          </a:p>
        </p:txBody>
      </p:sp>
      <p:sp>
        <p:nvSpPr>
          <p:cNvPr id="15" name="Endo stat 2 label"/>
          <p:cNvSpPr txBox="1"/>
          <p:nvPr/>
        </p:nvSpPr>
        <p:spPr>
          <a:xfrm>
            <a:off x="2971800" y="2148840"/>
            <a:ext cx="57150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246 top-IB studies met only half of a minimum standard for controls (Nielsen &amp; Raswant 2018)</a:t>
            </a:r>
          </a:p>
        </p:txBody>
      </p:sp>
      <p:sp>
        <p:nvSpPr>
          <p:cNvPr id="16" name="Endo do box"/>
          <p:cNvSpPr/>
          <p:nvPr/>
        </p:nvSpPr>
        <p:spPr>
          <a:xfrm>
            <a:off x="457200" y="3063240"/>
            <a:ext cx="8229600" cy="8686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do text"/>
          <p:cNvSpPr txBox="1"/>
          <p:nvPr/>
        </p:nvSpPr>
        <p:spPr>
          <a:xfrm>
            <a:off x="594360" y="317296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Do: </a:t>
            </a:r>
            <a:r>
              <a:rPr sz="1300" b="0" lang="en-GB">
                <a:solidFill>
                  <a:schemeClr val="bg1"/>
                </a:solidFill>
              </a:rPr>
              <a:t>control functions or two-stage residual inclusion, with an argued instrument.</a:t>
            </a:r>
          </a:p>
        </p:txBody>
      </p:sp>
      <p:sp>
        <p:nvSpPr>
          <p:cNvPr id="18" name="Endo dont box"/>
          <p:cNvSpPr/>
          <p:nvPr/>
        </p:nvSpPr>
        <p:spPr>
          <a:xfrm>
            <a:off x="457200" y="406908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ndo dont text"/>
          <p:cNvSpPr txBox="1"/>
          <p:nvPr/>
        </p:nvSpPr>
        <p:spPr>
          <a:xfrm>
            <a:off x="594360" y="417880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Don't: </a:t>
            </a:r>
            <a:r>
              <a:rPr sz="1300" b="0" lang="en-GB">
                <a:solidFill>
                  <a:schemeClr val="bg1"/>
                </a:solidFill>
              </a:rPr>
              <a:t>plug first-stage fitted values into a logit, or run Heckman without an instrument.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200400"/>
        </p:xfrm>
        <a:graphic>
          <a:graphicData uri="http://schemas.openxmlformats.org/drawingml/2006/table">
            <a:tbl>
              <a:tblPr firstRow="1" bandRow="1">
                <a:tableStyleId>{5C22544A-7EE6-4342-B048-85BDC9FD1C3A}</a:tableStyleId>
              </a:tblPr>
              <a:tblGrid>
                <a:gridCol w="2240280"/>
                <a:gridCol w="2377440"/>
                <a:gridCol w="2148840"/>
                <a:gridCol w="1463040"/>
              </a:tblGrid>
              <a:tr h="457200">
                <a:tc>
                  <a:txBody>
                    <a:bodyPr/>
                    <a:lstStyle/>
                    <a:p>
                      <a:r>
                        <a:rPr sz="1150" lang="en-GB"/>
                        <a:t>Dataset</a:t>
                      </a:r>
                    </a:p>
                  </a:txBody>
                  <a:tcPr anchor="ctr" marT="36576" marB="36576"/>
                </a:tc>
                <a:tc>
                  <a:txBody>
                    <a:bodyPr/>
                    <a:lstStyle/>
                    <a:p>
                      <a:r>
                        <a:rPr sz="1150" lang="en-GB"/>
                        <a:t>Coverage</a:t>
                      </a:r>
                    </a:p>
                  </a:txBody>
                  <a:tcPr anchor="ctr" marT="36576" marB="36576"/>
                </a:tc>
                <a:tc>
                  <a:txBody>
                    <a:bodyPr/>
                    <a:lstStyle/>
                    <a:p>
                      <a:r>
                        <a:rPr sz="1150" lang="en-GB"/>
                        <a:t>Binary outcome</a:t>
                      </a:r>
                    </a:p>
                  </a:txBody>
                  <a:tcPr anchor="ctr" marT="36576" marB="36576"/>
                </a:tc>
                <a:tc>
                  <a:txBody>
                    <a:bodyPr/>
                    <a:lstStyle/>
                    <a:p>
                      <a:r>
                        <a:rPr sz="1150" lang="en-GB"/>
                        <a:t>Access</a:t>
                      </a:r>
                    </a:p>
                  </a:txBody>
                  <a:tcPr anchor="ctr" marT="36576" marB="36576"/>
                </a:tc>
              </a:tr>
              <a:tr h="457200">
                <a:tc>
                  <a:txBody>
                    <a:bodyPr/>
                    <a:lstStyle/>
                    <a:p>
                      <a:r>
                        <a:rPr sz="1150" b="1" lang="en-GB"/>
                        <a:t>EU-EFIGE</a:t>
                      </a:r>
                    </a:p>
                  </a:txBody>
                  <a:tcPr anchor="ctr" marT="36576" marB="36576"/>
                </a:tc>
                <a:tc>
                  <a:txBody>
                    <a:bodyPr/>
                    <a:lstStyle/>
                    <a:p>
                      <a:r>
                        <a:rPr sz="1150" lang="en-GB"/>
                        <a:t>~15,000 firms, 7 EU countries, 2007–09</a:t>
                      </a:r>
                    </a:p>
                  </a:txBody>
                  <a:tcPr anchor="ctr" marT="36576" marB="36576"/>
                </a:tc>
                <a:tc>
                  <a:txBody>
                    <a:bodyPr/>
                    <a:lstStyle/>
                    <a:p>
                      <a:r>
                        <a:rPr sz="1150" lang="en-GB"/>
                        <a:t>Exporter yes/no</a:t>
                      </a:r>
                    </a:p>
                  </a:txBody>
                  <a:tcPr anchor="ctr" marT="36576" marB="36576"/>
                </a:tc>
                <a:tc>
                  <a:txBody>
                    <a:bodyPr/>
                    <a:lstStyle/>
                    <a:p>
                      <a:r>
                        <a:rPr sz="1150" lang="en-GB"/>
                        <a:t>Open, CC-BY 4.0</a:t>
                      </a:r>
                    </a:p>
                  </a:txBody>
                  <a:tcPr anchor="ctr" marT="36576" marB="36576"/>
                </a:tc>
              </a:tr>
              <a:tr h="457200">
                <a:tc>
                  <a:txBody>
                    <a:bodyPr/>
                    <a:lstStyle/>
                    <a:p>
                      <a:r>
                        <a:rPr sz="1150" b="1" lang="en-GB"/>
                        <a:t>Flash Eurobarometer 421</a:t>
                      </a:r>
                    </a:p>
                  </a:txBody>
                  <a:tcPr anchor="ctr" marT="36576" marB="36576"/>
                </a:tc>
                <a:tc>
                  <a:txBody>
                    <a:bodyPr/>
                    <a:lstStyle/>
                    <a:p>
                      <a:r>
                        <a:rPr sz="1150" lang="en-GB"/>
                        <a:t>SMEs in the EU, 2015</a:t>
                      </a:r>
                    </a:p>
                  </a:txBody>
                  <a:tcPr anchor="ctr" marT="36576" marB="36576"/>
                </a:tc>
                <a:tc>
                  <a:txBody>
                    <a:bodyPr/>
                    <a:lstStyle/>
                    <a:p>
                      <a:r>
                        <a:rPr sz="1150" lang="en-GB"/>
                        <a:t>Exports inside/outside EU</a:t>
                      </a:r>
                    </a:p>
                  </a:txBody>
                  <a:tcPr anchor="ctr" marT="36576" marB="36576"/>
                </a:tc>
                <a:tc>
                  <a:txBody>
                    <a:bodyPr/>
                    <a:lstStyle/>
                    <a:p>
                      <a:r>
                        <a:rPr sz="1150" lang="en-GB"/>
                        <a:t>GESIS ZA6585</a:t>
                      </a:r>
                    </a:p>
                  </a:txBody>
                  <a:tcPr anchor="ctr" marT="36576" marB="36576"/>
                </a:tc>
              </a:tr>
              <a:tr h="457200">
                <a:tc>
                  <a:txBody>
                    <a:bodyPr/>
                    <a:lstStyle/>
                    <a:p>
                      <a:r>
                        <a:rPr sz="1150" b="1" lang="en-GB"/>
                        <a:t>Flash Eurobarometer 397</a:t>
                      </a:r>
                    </a:p>
                  </a:txBody>
                  <a:tcPr anchor="ctr" marT="36576" marB="36576"/>
                </a:tc>
                <a:tc>
                  <a:txBody>
                    <a:bodyPr/>
                    <a:lstStyle/>
                    <a:p>
                      <a:r>
                        <a:rPr sz="1150" lang="en-GB"/>
                        <a:t>Consumers, EU countries, 2014</a:t>
                      </a:r>
                    </a:p>
                  </a:txBody>
                  <a:tcPr anchor="ctr" marT="36576" marB="36576"/>
                </a:tc>
                <a:tc>
                  <a:txBody>
                    <a:bodyPr/>
                    <a:lstStyle/>
                    <a:p>
                      <a:r>
                        <a:rPr sz="1150" lang="en-GB"/>
                        <a:t>Bought online cross-border</a:t>
                      </a:r>
                    </a:p>
                  </a:txBody>
                  <a:tcPr anchor="ctr" marT="36576" marB="36576"/>
                </a:tc>
                <a:tc>
                  <a:txBody>
                    <a:bodyPr/>
                    <a:lstStyle/>
                    <a:p>
                      <a:r>
                        <a:rPr sz="1150" lang="en-GB"/>
                        <a:t>GESIS ZA5943</a:t>
                      </a:r>
                    </a:p>
                  </a:txBody>
                  <a:tcPr anchor="ctr" marT="36576" marB="36576"/>
                </a:tc>
              </a:tr>
              <a:tr h="457200">
                <a:tc>
                  <a:txBody>
                    <a:bodyPr/>
                    <a:lstStyle/>
                    <a:p>
                      <a:r>
                        <a:rPr sz="1150" b="1" lang="en-GB"/>
                        <a:t>World Bank Enterprise Surveys</a:t>
                      </a:r>
                    </a:p>
                  </a:txBody>
                  <a:tcPr anchor="ctr" marT="36576" marB="36576"/>
                </a:tc>
                <a:tc>
                  <a:txBody>
                    <a:bodyPr/>
                    <a:lstStyle/>
                    <a:p>
                      <a:r>
                        <a:rPr sz="1150" lang="en-GB"/>
                        <a:t>270,000+ firms, 177 economies</a:t>
                      </a:r>
                    </a:p>
                  </a:txBody>
                  <a:tcPr anchor="ctr" marT="36576" marB="36576"/>
                </a:tc>
                <a:tc>
                  <a:txBody>
                    <a:bodyPr/>
                    <a:lstStyle/>
                    <a:p>
                      <a:r>
                        <a:rPr sz="1150" lang="en-GB"/>
                        <a:t>Direct or indirect exporter</a:t>
                      </a:r>
                    </a:p>
                  </a:txBody>
                  <a:tcPr anchor="ctr" marT="36576" marB="36576"/>
                </a:tc>
                <a:tc>
                  <a:txBody>
                    <a:bodyPr/>
                    <a:lstStyle/>
                    <a:p>
                      <a:r>
                        <a:rPr sz="1150" lang="en-GB"/>
                        <a:t>Free, registration</a:t>
                      </a:r>
                    </a:p>
                  </a:txBody>
                  <a:tcPr anchor="ctr" marT="36576" marB="36576"/>
                </a:tc>
              </a:tr>
              <a:tr h="457200">
                <a:tc>
                  <a:txBody>
                    <a:bodyPr/>
                    <a:lstStyle/>
                    <a:p>
                      <a:r>
                        <a:rPr sz="1150" b="1" lang="en-GB"/>
                        <a:t>Global Findex 2021</a:t>
                      </a:r>
                    </a:p>
                  </a:txBody>
                  <a:tcPr anchor="ctr" marT="36576" marB="36576"/>
                </a:tc>
                <a:tc>
                  <a:txBody>
                    <a:bodyPr/>
                    <a:lstStyle/>
                    <a:p>
                      <a:r>
                        <a:rPr sz="1150" lang="en-GB"/>
                        <a:t>~128,000 adults, 120+ economies</a:t>
                      </a:r>
                    </a:p>
                  </a:txBody>
                  <a:tcPr anchor="ctr" marT="36576" marB="36576"/>
                </a:tc>
                <a:tc>
                  <a:txBody>
                    <a:bodyPr/>
                    <a:lstStyle/>
                    <a:p>
                      <a:r>
                        <a:rPr sz="1150" lang="en-GB"/>
                        <a:t>Digital payment</a:t>
                      </a:r>
                    </a:p>
                  </a:txBody>
                  <a:tcPr anchor="ctr" marT="36576" marB="36576"/>
                </a:tc>
                <a:tc>
                  <a:txBody>
                    <a:bodyPr/>
                    <a:lstStyle/>
                    <a:p>
                      <a:r>
                        <a:rPr sz="1150" lang="en-GB"/>
                        <a:t>Open, World Bank</a:t>
                      </a:r>
                    </a:p>
                  </a:txBody>
                  <a:tcPr anchor="ctr" marT="36576" marB="36576"/>
                </a:tc>
              </a:tr>
              <a:tr h="457200">
                <a:tc>
                  <a:txBody>
                    <a:bodyPr/>
                    <a:lstStyle/>
                    <a:p>
                      <a:r>
                        <a:rPr sz="1150" b="1" lang="en-GB"/>
                        <a:t>UCI Bank Marketing</a:t>
                      </a:r>
                    </a:p>
                  </a:txBody>
                  <a:tcPr anchor="ctr" marT="36576" marB="36576"/>
                </a:tc>
                <a:tc>
                  <a:txBody>
                    <a:bodyPr/>
                    <a:lstStyle/>
                    <a:p>
                      <a:r>
                        <a:rPr sz="1150" lang="en-GB"/>
                        <a:t>41,188 contacts, Portugal</a:t>
                      </a:r>
                    </a:p>
                  </a:txBody>
                  <a:tcPr anchor="ctr" marT="36576" marB="36576"/>
                </a:tc>
                <a:tc>
                  <a:txBody>
                    <a:bodyPr/>
                    <a:lstStyle/>
                    <a:p>
                      <a:r>
                        <a:rPr sz="1150" lang="en-GB"/>
                        <a:t>Term deposit (~11 % yes)</a:t>
                      </a:r>
                    </a:p>
                  </a:txBody>
                  <a:tcPr anchor="ctr" marT="36576" marB="36576"/>
                </a:tc>
                <a:tc>
                  <a:txBody>
                    <a:bodyPr/>
                    <a:lstStyle/>
                    <a:p>
                      <a:r>
                        <a:rPr sz="1150" lang="en-GB"/>
                        <a:t>Open</a:t>
                      </a:r>
                    </a:p>
                  </a:txBody>
                  <a:tcPr anchor="ctr" marT="36576" marB="36576"/>
                </a:tc>
              </a:tr>
            </a:tbl>
          </a:graphicData>
        </a:graphic>
      </p:graphicFrame>
      <p:sp>
        <p:nvSpPr>
          <p:cNvPr id="3" name="Title 2"/>
          <p:cNvSpPr>
            <a:spLocks noGrp="1"/>
          </p:cNvSpPr>
          <p:nvPr>
            <p:ph type="title"/>
          </p:nvPr>
        </p:nvSpPr>
        <p:spPr/>
        <p:txBody>
          <a:bodyPr/>
          <a:lstStyle/>
          <a:p>
            <a:r>
              <a:rPr sz="1600" lang="en-GB"/>
              <a:t>Open data for international logit exercises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328416"/>
        </p:xfrm>
        <a:graphic>
          <a:graphicData uri="http://schemas.openxmlformats.org/drawingml/2006/table">
            <a:tbl>
              <a:tblPr firstRow="1" bandRow="1">
                <a:tableStyleId>{5C22544A-7EE6-4342-B048-85BDC9FD1C3A}</a:tableStyleId>
              </a:tblPr>
              <a:tblGrid>
                <a:gridCol w="914400"/>
                <a:gridCol w="3566160"/>
                <a:gridCol w="3749040"/>
              </a:tblGrid>
              <a:tr h="475488">
                <a:tc>
                  <a:txBody>
                    <a:bodyPr/>
                    <a:lstStyle/>
                    <a:p>
                      <a:r>
                        <a:rPr sz="1200" lang="en-GB"/>
                        <a:t>Session</a:t>
                      </a:r>
                    </a:p>
                  </a:txBody>
                  <a:tcPr anchor="ctr" marT="36576" marB="36576"/>
                </a:tc>
                <a:tc>
                  <a:txBody>
                    <a:bodyPr/>
                    <a:lstStyle/>
                    <a:p>
                      <a:r>
                        <a:rPr sz="1200" lang="en-GB"/>
                        <a:t>Concept</a:t>
                      </a:r>
                    </a:p>
                  </a:txBody>
                  <a:tcPr anchor="ctr" marT="36576" marB="36576"/>
                </a:tc>
                <a:tc>
                  <a:txBody>
                    <a:bodyPr/>
                    <a:lstStyle/>
                    <a:p>
                      <a:r>
                        <a:rPr sz="1200" lang="en-GB"/>
                        <a:t>Exercise</a:t>
                      </a:r>
                    </a:p>
                  </a:txBody>
                  <a:tcPr anchor="ctr" marT="36576" marB="36576"/>
                </a:tc>
              </a:tr>
              <a:tr h="475488">
                <a:tc>
                  <a:txBody>
                    <a:bodyPr/>
                    <a:lstStyle/>
                    <a:p>
                      <a:r>
                        <a:rPr sz="1200" b="1" lang="en-GB"/>
                        <a:t>1</a:t>
                      </a:r>
                    </a:p>
                  </a:txBody>
                  <a:tcPr anchor="ctr" marT="36576" marB="36576"/>
                </a:tc>
                <a:tc>
                  <a:txBody>
                    <a:bodyPr/>
                    <a:lstStyle/>
                    <a:p>
                      <a:r>
                        <a:rPr sz="1200" lang="en-GB"/>
                        <a:t>Why not OLS; odds vs probability</a:t>
                      </a:r>
                    </a:p>
                  </a:txBody>
                  <a:tcPr anchor="ctr" marT="36576" marB="36576"/>
                </a:tc>
                <a:tc>
                  <a:txBody>
                    <a:bodyPr/>
                    <a:lstStyle/>
                    <a:p>
                      <a:r>
                        <a:rPr sz="1200" lang="en-GB"/>
                        <a:t>One OR at baselines of 5, 50 and 90 %</a:t>
                      </a:r>
                    </a:p>
                  </a:txBody>
                  <a:tcPr anchor="ctr" marT="36576" marB="36576"/>
                </a:tc>
              </a:tr>
              <a:tr h="475488">
                <a:tc>
                  <a:txBody>
                    <a:bodyPr/>
                    <a:lstStyle/>
                    <a:p>
                      <a:r>
                        <a:rPr sz="1200" b="1" lang="en-GB"/>
                        <a:t>2</a:t>
                      </a:r>
                    </a:p>
                  </a:txBody>
                  <a:tcPr anchor="ctr" marT="36576" marB="36576"/>
                </a:tc>
                <a:tc>
                  <a:txBody>
                    <a:bodyPr/>
                    <a:lstStyle/>
                    <a:p>
                      <a:r>
                        <a:rPr sz="1200" lang="en-GB"/>
                        <a:t>Marginal effects, predictions, fit</a:t>
                      </a:r>
                    </a:p>
                  </a:txBody>
                  <a:tcPr anchor="ctr" marT="36576" marB="36576"/>
                </a:tc>
                <a:tc>
                  <a:txBody>
                    <a:bodyPr/>
                    <a:lstStyle/>
                    <a:p>
                      <a:r>
                        <a:rPr sz="1200" lang="en-GB"/>
                        <a:t>Bank Marketing lift chart; QWE churn case</a:t>
                      </a:r>
                    </a:p>
                  </a:txBody>
                  <a:tcPr anchor="ctr" marT="36576" marB="36576"/>
                </a:tc>
              </a:tr>
              <a:tr h="475488">
                <a:tc>
                  <a:txBody>
                    <a:bodyPr/>
                    <a:lstStyle/>
                    <a:p>
                      <a:r>
                        <a:rPr sz="1200" b="1" lang="en-GB"/>
                        <a:t>3</a:t>
                      </a:r>
                    </a:p>
                  </a:txBody>
                  <a:tcPr anchor="ctr" marT="36576" marB="36576"/>
                </a:tc>
                <a:tc>
                  <a:txBody>
                    <a:bodyPr/>
                    <a:lstStyle/>
                    <a:p>
                      <a:r>
                        <a:rPr sz="1200" lang="en-GB"/>
                        <a:t>Entry mode: binary, MNL, nested; IIA</a:t>
                      </a:r>
                    </a:p>
                  </a:txBody>
                  <a:tcPr anchor="ctr" marT="36576" marB="36576"/>
                </a:tc>
                <a:tc>
                  <a:txBody>
                    <a:bodyPr/>
                    <a:lstStyle/>
                    <a:p>
                      <a:r>
                        <a:rPr sz="1200" lang="en-GB"/>
                        <a:t>Mode probabilities by distance</a:t>
                      </a:r>
                    </a:p>
                  </a:txBody>
                  <a:tcPr anchor="ctr" marT="36576" marB="36576"/>
                </a:tc>
              </a:tr>
              <a:tr h="475488">
                <a:tc>
                  <a:txBody>
                    <a:bodyPr/>
                    <a:lstStyle/>
                    <a:p>
                      <a:r>
                        <a:rPr sz="1200" b="1" lang="en-GB"/>
                        <a:t>4</a:t>
                      </a:r>
                    </a:p>
                  </a:txBody>
                  <a:tcPr anchor="ctr" marT="36576" marB="36576"/>
                </a:tc>
                <a:tc>
                  <a:txBody>
                    <a:bodyPr/>
                    <a:lstStyle/>
                    <a:p>
                      <a:r>
                        <a:rPr sz="1200" lang="en-GB"/>
                        <a:t>Interactions in nonlinear models</a:t>
                      </a:r>
                    </a:p>
                  </a:txBody>
                  <a:tcPr anchor="ctr" marT="36576" marB="36576"/>
                </a:tc>
                <a:tc>
                  <a:txBody>
                    <a:bodyPr/>
                    <a:lstStyle/>
                    <a:p>
                      <a:r>
                        <a:rPr sz="1200" lang="en-GB"/>
                        <a:t>FL397: trust × country on the probability scale</a:t>
                      </a:r>
                    </a:p>
                  </a:txBody>
                  <a:tcPr anchor="ctr" marT="36576" marB="36576"/>
                </a:tc>
              </a:tr>
              <a:tr h="475488">
                <a:tc>
                  <a:txBody>
                    <a:bodyPr/>
                    <a:lstStyle/>
                    <a:p>
                      <a:r>
                        <a:rPr sz="1200" b="1" lang="en-GB"/>
                        <a:t>5</a:t>
                      </a:r>
                    </a:p>
                  </a:txBody>
                  <a:tcPr anchor="ctr" marT="36576" marB="36576"/>
                </a:tc>
                <a:tc>
                  <a:txBody>
                    <a:bodyPr/>
                    <a:lstStyle/>
                    <a:p>
                      <a:r>
                        <a:rPr sz="1200" lang="en-GB"/>
                        <a:t>Comparability: scale, invariance, multilevel</a:t>
                      </a:r>
                    </a:p>
                  </a:txBody>
                  <a:tcPr anchor="ctr" marT="36576" marB="36576"/>
                </a:tc>
                <a:tc>
                  <a:txBody>
                    <a:bodyPr/>
                    <a:lstStyle/>
                    <a:p>
                      <a:r>
                        <a:rPr sz="1200" lang="en-GB"/>
                        <a:t>EFIGE: German vs Hungarian SME</a:t>
                      </a:r>
                    </a:p>
                  </a:txBody>
                  <a:tcPr anchor="ctr" marT="36576" marB="36576"/>
                </a:tc>
              </a:tr>
              <a:tr h="475488">
                <a:tc>
                  <a:txBody>
                    <a:bodyPr/>
                    <a:lstStyle/>
                    <a:p>
                      <a:r>
                        <a:rPr sz="1200" b="1" lang="en-GB"/>
                        <a:t>6</a:t>
                      </a:r>
                    </a:p>
                  </a:txBody>
                  <a:tcPr anchor="ctr" marT="36576" marB="36576"/>
                </a:tc>
                <a:tc>
                  <a:txBody>
                    <a:bodyPr/>
                    <a:lstStyle/>
                    <a:p>
                      <a:r>
                        <a:rPr sz="1200" lang="en-GB"/>
                        <a:t>Choice experiments and location choice</a:t>
                      </a:r>
                    </a:p>
                  </a:txBody>
                  <a:tcPr anchor="ctr" marT="36576" marB="36576"/>
                </a:tc>
                <a:tc>
                  <a:txBody>
                    <a:bodyPr/>
                    <a:lstStyle/>
                    <a:p>
                      <a:r>
                        <a:rPr sz="1200" lang="en-GB"/>
                        <a:t>Two-country conjoint: compare WTP ratios</a:t>
                      </a:r>
                    </a:p>
                  </a:txBody>
                  <a:tcPr anchor="ctr" marT="36576" marB="36576"/>
                </a:tc>
              </a:tr>
            </a:tbl>
          </a:graphicData>
        </a:graphic>
      </p:graphicFrame>
      <p:sp>
        <p:nvSpPr>
          <p:cNvPr id="3" name="Title 2"/>
          <p:cNvSpPr>
            <a:spLocks noGrp="1"/>
          </p:cNvSpPr>
          <p:nvPr>
            <p:ph type="title"/>
          </p:nvPr>
        </p:nvSpPr>
        <p:spPr/>
        <p:txBody>
          <a:bodyPr/>
          <a:lstStyle/>
          <a:p>
            <a:r>
              <a:rPr sz="1600" lang="en-GB"/>
              <a:t>A six-session teaching sequence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odds, countries and interactions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3258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32588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40080" y="136245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1  OR = 2, baseline 50 %. New probability?</a:t>
            </a:r>
          </a:p>
          <a:p>
            <a:pPr algn="l">
              <a:spcAft>
                <a:spcPts val="200"/>
              </a:spcAft>
            </a:pPr>
            <a:r>
              <a:rPr sz="1200" b="0" lang="en-GB">
                <a:solidFill>
                  <a:schemeClr val="tx1"/>
                </a:solidFill>
              </a:rPr>
              <a:t>A  67 %     B  100 %     C  52 %</a:t>
            </a:r>
          </a:p>
        </p:txBody>
      </p:sp>
      <p:sp>
        <p:nvSpPr>
          <p:cNvPr id="13" name="Quiz row 2"/>
          <p:cNvSpPr/>
          <p:nvPr/>
        </p:nvSpPr>
        <p:spPr>
          <a:xfrm>
            <a:off x="457200" y="196596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96596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40080" y="200253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2  R&amp;D coefficient 0.8 in Germany, 0.5 in Hungary. Conclusion?</a:t>
            </a:r>
          </a:p>
          <a:p>
            <a:pPr algn="l">
              <a:spcAft>
                <a:spcPts val="200"/>
              </a:spcAft>
            </a:pPr>
            <a:r>
              <a:rPr sz="1200" b="0" lang="en-GB">
                <a:solidFill>
                  <a:schemeClr val="tx1"/>
                </a:solidFill>
              </a:rPr>
              <a:t>A  larger effect in Germany     B  none yet     C  negative in Hungary</a:t>
            </a:r>
          </a:p>
        </p:txBody>
      </p:sp>
      <p:sp>
        <p:nvSpPr>
          <p:cNvPr id="16" name="Quiz row 3"/>
          <p:cNvSpPr/>
          <p:nvPr/>
        </p:nvSpPr>
        <p:spPr>
          <a:xfrm>
            <a:off x="457200" y="26060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60604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40080" y="264261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3  The interaction coefficient is not significant. The effect on probability…</a:t>
            </a:r>
          </a:p>
          <a:p>
            <a:pPr algn="l">
              <a:spcAft>
                <a:spcPts val="200"/>
              </a:spcAft>
            </a:pPr>
            <a:r>
              <a:rPr sz="1200" b="0" lang="en-GB">
                <a:solidFill>
                  <a:schemeClr val="tx1"/>
                </a:solidFill>
              </a:rPr>
              <a:t>A  is negative     B  is zero     C  can still be non-zero</a:t>
            </a:r>
          </a:p>
        </p:txBody>
      </p:sp>
      <p:sp>
        <p:nvSpPr>
          <p:cNvPr id="19" name="Quiz row 4"/>
          <p:cNvSpPr/>
          <p:nvPr/>
        </p:nvSpPr>
        <p:spPr>
          <a:xfrm>
            <a:off x="457200" y="32461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4612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40080" y="328269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4  Plants choose among US states described by their attributes. Model?</a:t>
            </a:r>
          </a:p>
          <a:p>
            <a:pPr algn="l">
              <a:spcAft>
                <a:spcPts val="200"/>
              </a:spcAft>
            </a:pPr>
            <a:r>
              <a:rPr sz="1200" b="0" lang="en-GB">
                <a:solidFill>
                  <a:schemeClr val="tx1"/>
                </a:solidFill>
              </a:rPr>
              <a:t>A  conditional logit     B  multinomial logit     C  ordered logit</a:t>
            </a:r>
          </a:p>
        </p:txBody>
      </p:sp>
      <p:sp>
        <p:nvSpPr>
          <p:cNvPr id="22" name="Quiz row 5"/>
          <p:cNvSpPr/>
          <p:nvPr/>
        </p:nvSpPr>
        <p:spPr>
          <a:xfrm>
            <a:off x="457200" y="38862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8620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40080" y="392277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5  Firms from 7 countries, Hofstede moderators in a multilevel logit. Results are…</a:t>
            </a:r>
          </a:p>
          <a:p>
            <a:pPr algn="l">
              <a:spcAft>
                <a:spcPts val="200"/>
              </a:spcAft>
            </a:pPr>
            <a:r>
              <a:rPr sz="1200" b="0" lang="en-GB">
                <a:solidFill>
                  <a:schemeClr val="tx1"/>
                </a:solidFill>
              </a:rPr>
              <a:t>A  confirmatory     B  unbiased     C  exploratory at best</a:t>
            </a:r>
          </a:p>
        </p:txBody>
      </p:sp>
      <p:sp>
        <p:nvSpPr>
          <p:cNvPr id="25" name="Quiz callout box"/>
          <p:cNvSpPr/>
          <p:nvPr/>
        </p:nvSpPr>
        <p:spPr>
          <a:xfrm>
            <a:off x="457200" y="4572000"/>
            <a:ext cx="822960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594360" y="4681728"/>
            <a:ext cx="7955280" cy="164592"/>
          </a:xfrm>
          <a:prstGeom prst="rect">
            <a:avLst/>
          </a:prstGeom>
          <a:noFill/>
        </p:spPr>
        <p:txBody>
          <a:bodyPr wrap="square" lIns="0" rIns="0" tIns="0" bIns="0" anchor="ctr">
            <a:noAutofit/>
          </a:bodyPr>
          <a:lstStyle/>
          <a:p>
            <a:pPr algn="l">
              <a:spcAft>
                <a:spcPts val="400"/>
              </a:spcAft>
            </a:pPr>
            <a:r>
              <a:rPr sz="1200" b="0" lang="en-GB">
                <a:solidFill>
                  <a:schemeClr val="bg1"/>
                </a:solidFill>
              </a:rPr>
              <a:t>3 minutes alone, then compare with your neighbour.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export probability, Germany vs Hungary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ercise step 1"/>
          <p:cNvSpPr/>
          <p:nvPr/>
        </p:nvSpPr>
        <p:spPr>
          <a:xfrm>
            <a:off x="457200" y="1325880"/>
            <a:ext cx="2139696"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 10′</a:t>
            </a:r>
          </a:p>
        </p:txBody>
      </p:sp>
      <p:sp>
        <p:nvSpPr>
          <p:cNvPr id="11" name="Exercise step 2"/>
          <p:cNvSpPr/>
          <p:nvPr/>
        </p:nvSpPr>
        <p:spPr>
          <a:xfrm>
            <a:off x="2487168"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AMEs · 10′</a:t>
            </a:r>
          </a:p>
        </p:txBody>
      </p:sp>
      <p:sp>
        <p:nvSpPr>
          <p:cNvPr id="12" name="Exercise step 3"/>
          <p:cNvSpPr/>
          <p:nvPr/>
        </p:nvSpPr>
        <p:spPr>
          <a:xfrm>
            <a:off x="4517136"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Compare · 10′</a:t>
            </a:r>
          </a:p>
        </p:txBody>
      </p:sp>
      <p:sp>
        <p:nvSpPr>
          <p:cNvPr id="13" name="Exercise step 4"/>
          <p:cNvSpPr/>
          <p:nvPr/>
        </p:nvSpPr>
        <p:spPr>
          <a:xfrm>
            <a:off x="6547104"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Report · 5′</a:t>
            </a:r>
          </a:p>
        </p:txBody>
      </p:sp>
      <p:sp>
        <p:nvSpPr>
          <p:cNvPr id="14" name="Task 1"/>
          <p:cNvSpPr/>
          <p:nvPr/>
        </p:nvSpPr>
        <p:spPr>
          <a:xfrm>
            <a:off x="457200" y="2011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ask number box 1"/>
          <p:cNvSpPr/>
          <p:nvPr/>
        </p:nvSpPr>
        <p:spPr>
          <a:xfrm>
            <a:off x="457200" y="201168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sk number 1"/>
          <p:cNvSpPr txBox="1"/>
          <p:nvPr/>
        </p:nvSpPr>
        <p:spPr>
          <a:xfrm>
            <a:off x="457200" y="201168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17" name="Task text 1"/>
          <p:cNvSpPr txBox="1"/>
          <p:nvPr/>
        </p:nvSpPr>
        <p:spPr>
          <a:xfrm>
            <a:off x="1097280" y="201168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Fit  </a:t>
            </a:r>
            <a:r>
              <a:rPr sz="1300" b="0" lang="en-GB">
                <a:solidFill>
                  <a:schemeClr val="tx1"/>
                </a:solidFill>
              </a:rPr>
              <a:t>a logit of exporter status on R&amp;D, size and country</a:t>
            </a:r>
          </a:p>
        </p:txBody>
      </p:sp>
      <p:sp>
        <p:nvSpPr>
          <p:cNvPr id="18" name="Task 2"/>
          <p:cNvSpPr/>
          <p:nvPr/>
        </p:nvSpPr>
        <p:spPr>
          <a:xfrm>
            <a:off x="457200" y="260604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ask number box 2"/>
          <p:cNvSpPr/>
          <p:nvPr/>
        </p:nvSpPr>
        <p:spPr>
          <a:xfrm>
            <a:off x="457200" y="260604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sk number 2"/>
          <p:cNvSpPr txBox="1"/>
          <p:nvPr/>
        </p:nvSpPr>
        <p:spPr>
          <a:xfrm>
            <a:off x="457200" y="260604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21" name="Task text 2"/>
          <p:cNvSpPr txBox="1"/>
          <p:nvPr/>
        </p:nvSpPr>
        <p:spPr>
          <a:xfrm>
            <a:off x="1097280" y="260604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Compute  </a:t>
            </a:r>
            <a:r>
              <a:rPr sz="1300" b="0" lang="en-GB">
                <a:solidFill>
                  <a:schemeClr val="tx1"/>
                </a:solidFill>
              </a:rPr>
              <a:t>the average marginal effect of R&amp;D, overall and by country</a:t>
            </a:r>
          </a:p>
        </p:txBody>
      </p:sp>
      <p:sp>
        <p:nvSpPr>
          <p:cNvPr id="22" name="Task 3"/>
          <p:cNvSpPr/>
          <p:nvPr/>
        </p:nvSpPr>
        <p:spPr>
          <a:xfrm>
            <a:off x="457200" y="3200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sk number box 3"/>
          <p:cNvSpPr/>
          <p:nvPr/>
        </p:nvSpPr>
        <p:spPr>
          <a:xfrm>
            <a:off x="457200" y="320040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sk number 3"/>
          <p:cNvSpPr txBox="1"/>
          <p:nvPr/>
        </p:nvSpPr>
        <p:spPr>
          <a:xfrm>
            <a:off x="457200" y="320040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5" name="Task text 3"/>
          <p:cNvSpPr txBox="1"/>
          <p:nvPr/>
        </p:nvSpPr>
        <p:spPr>
          <a:xfrm>
            <a:off x="1097280" y="320040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Compare  </a:t>
            </a:r>
            <a:r>
              <a:rPr sz="1300" b="0" lang="en-GB">
                <a:solidFill>
                  <a:schemeClr val="tx1"/>
                </a:solidFill>
              </a:rPr>
              <a:t>coefficients from separate country models with the marginal effects</a:t>
            </a:r>
          </a:p>
        </p:txBody>
      </p:sp>
      <p:sp>
        <p:nvSpPr>
          <p:cNvPr id="26" name="Task 4"/>
          <p:cNvSpPr/>
          <p:nvPr/>
        </p:nvSpPr>
        <p:spPr>
          <a:xfrm>
            <a:off x="457200" y="379476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ask number box 4"/>
          <p:cNvSpPr/>
          <p:nvPr/>
        </p:nvSpPr>
        <p:spPr>
          <a:xfrm>
            <a:off x="457200" y="379476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sk number 4"/>
          <p:cNvSpPr txBox="1"/>
          <p:nvPr/>
        </p:nvSpPr>
        <p:spPr>
          <a:xfrm>
            <a:off x="457200" y="379476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4</a:t>
            </a:r>
          </a:p>
        </p:txBody>
      </p:sp>
      <p:sp>
        <p:nvSpPr>
          <p:cNvPr id="29" name="Task text 4"/>
          <p:cNvSpPr txBox="1"/>
          <p:nvPr/>
        </p:nvSpPr>
        <p:spPr>
          <a:xfrm>
            <a:off x="1097280" y="379476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Report  </a:t>
            </a:r>
            <a:r>
              <a:rPr sz="1300" b="0" lang="en-GB">
                <a:solidFill>
                  <a:schemeClr val="tx1"/>
                </a:solidFill>
              </a:rPr>
              <a:t>the export probability of a typical German and Hungarian SME, with CIs</a:t>
            </a:r>
          </a:p>
        </p:txBody>
      </p:sp>
      <p:sp>
        <p:nvSpPr>
          <p:cNvPr id="30" name="Exercise callout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xercise callout text"/>
          <p:cNvSpPr txBox="1"/>
          <p:nvPr/>
        </p:nvSpPr>
        <p:spPr>
          <a:xfrm>
            <a:off x="594360" y="4453128"/>
            <a:ext cx="7955280" cy="283464"/>
          </a:xfrm>
          <a:prstGeom prst="rect">
            <a:avLst/>
          </a:prstGeom>
          <a:noFill/>
        </p:spPr>
        <p:txBody>
          <a:bodyPr wrap="square" lIns="0" rIns="0" tIns="0" bIns="0" anchor="ctr">
            <a:noAutofit/>
          </a:bodyPr>
          <a:lstStyle/>
          <a:p>
            <a:pPr algn="l">
              <a:spcAft>
                <a:spcPts val="400"/>
              </a:spcAft>
            </a:pPr>
            <a:r>
              <a:rPr sz="1300" b="1" lang="en-GB">
                <a:solidFill>
                  <a:schemeClr val="bg1"/>
                </a:solidFill>
              </a:rPr>
              <a:t>Deliverable: </a:t>
            </a:r>
            <a:r>
              <a:rPr sz="1300" b="0" lang="en-GB">
                <a:solidFill>
                  <a:schemeClr val="bg1"/>
                </a:solidFill>
              </a:rPr>
              <a:t>one slide per pair with the plot and two sentences for a manager.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niches for theses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iche 1"/>
          <p:cNvSpPr/>
          <p:nvPr/>
        </p:nvSpPr>
        <p:spPr>
          <a:xfrm>
            <a:off x="457200" y="132588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iche number box 1"/>
          <p:cNvSpPr/>
          <p:nvPr/>
        </p:nvSpPr>
        <p:spPr>
          <a:xfrm>
            <a:off x="457200" y="1325880"/>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iche number 1"/>
          <p:cNvSpPr txBox="1"/>
          <p:nvPr/>
        </p:nvSpPr>
        <p:spPr>
          <a:xfrm>
            <a:off x="457200" y="1325880"/>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13" name="Niche text 1"/>
          <p:cNvSpPr txBox="1"/>
          <p:nvPr/>
        </p:nvSpPr>
        <p:spPr>
          <a:xfrm>
            <a:off x="1097280" y="132588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Ordered logit  </a:t>
            </a:r>
            <a:r>
              <a:rPr sz="1300" b="0" lang="en-GB">
                <a:solidFill>
                  <a:schemeClr val="tx1"/>
                </a:solidFill>
              </a:rPr>
              <a:t>on degree of control or degree of marketing adaptation</a:t>
            </a:r>
          </a:p>
        </p:txBody>
      </p:sp>
      <p:sp>
        <p:nvSpPr>
          <p:cNvPr id="14" name="Niche 2"/>
          <p:cNvSpPr/>
          <p:nvPr/>
        </p:nvSpPr>
        <p:spPr>
          <a:xfrm>
            <a:off x="457200" y="19293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iche number box 2"/>
          <p:cNvSpPr/>
          <p:nvPr/>
        </p:nvSpPr>
        <p:spPr>
          <a:xfrm>
            <a:off x="457200" y="1929384"/>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Niche number 2"/>
          <p:cNvSpPr txBox="1"/>
          <p:nvPr/>
        </p:nvSpPr>
        <p:spPr>
          <a:xfrm>
            <a:off x="457200" y="1929384"/>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17" name="Niche text 2"/>
          <p:cNvSpPr txBox="1"/>
          <p:nvPr/>
        </p:nvSpPr>
        <p:spPr>
          <a:xfrm>
            <a:off x="1097280" y="192938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Conditional logit  </a:t>
            </a:r>
            <a:r>
              <a:rPr sz="1300" b="0" lang="en-GB">
                <a:solidFill>
                  <a:schemeClr val="tx1"/>
                </a:solidFill>
              </a:rPr>
              <a:t>for retailer and franchisor country selection</a:t>
            </a:r>
          </a:p>
        </p:txBody>
      </p:sp>
      <p:sp>
        <p:nvSpPr>
          <p:cNvPr id="18" name="Niche 3"/>
          <p:cNvSpPr/>
          <p:nvPr/>
        </p:nvSpPr>
        <p:spPr>
          <a:xfrm>
            <a:off x="457200" y="25328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iche number box 3"/>
          <p:cNvSpPr/>
          <p:nvPr/>
        </p:nvSpPr>
        <p:spPr>
          <a:xfrm>
            <a:off x="457200" y="2532888"/>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iche number 3"/>
          <p:cNvSpPr txBox="1"/>
          <p:nvPr/>
        </p:nvSpPr>
        <p:spPr>
          <a:xfrm>
            <a:off x="457200" y="2532888"/>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1" name="Niche text 3"/>
          <p:cNvSpPr txBox="1"/>
          <p:nvPr/>
        </p:nvSpPr>
        <p:spPr>
          <a:xfrm>
            <a:off x="1097280" y="2532888"/>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Churn models  </a:t>
            </a:r>
            <a:r>
              <a:rPr sz="1300" b="0" lang="en-GB">
                <a:solidFill>
                  <a:schemeClr val="tx1"/>
                </a:solidFill>
              </a:rPr>
              <a:t>tested for transfer from one country to another</a:t>
            </a:r>
          </a:p>
        </p:txBody>
      </p:sp>
      <p:sp>
        <p:nvSpPr>
          <p:cNvPr id="22" name="Niche 4"/>
          <p:cNvSpPr/>
          <p:nvPr/>
        </p:nvSpPr>
        <p:spPr>
          <a:xfrm>
            <a:off x="457200" y="313639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iche number box 4"/>
          <p:cNvSpPr/>
          <p:nvPr/>
        </p:nvSpPr>
        <p:spPr>
          <a:xfrm>
            <a:off x="457200" y="3136392"/>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iche number 4"/>
          <p:cNvSpPr txBox="1"/>
          <p:nvPr/>
        </p:nvSpPr>
        <p:spPr>
          <a:xfrm>
            <a:off x="457200" y="3136392"/>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4</a:t>
            </a:r>
          </a:p>
        </p:txBody>
      </p:sp>
      <p:sp>
        <p:nvSpPr>
          <p:cNvPr id="25" name="Niche text 4"/>
          <p:cNvSpPr txBox="1"/>
          <p:nvPr/>
        </p:nvSpPr>
        <p:spPr>
          <a:xfrm>
            <a:off x="1097280" y="3136392"/>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Multilevel logit  </a:t>
            </a:r>
            <a:r>
              <a:rPr sz="1300" b="0" lang="en-GB">
                <a:solidFill>
                  <a:schemeClr val="tx1"/>
                </a:solidFill>
              </a:rPr>
              <a:t>of consumer AI adoption across 25 or more countries</a:t>
            </a:r>
          </a:p>
        </p:txBody>
      </p:sp>
      <p:sp>
        <p:nvSpPr>
          <p:cNvPr id="26" name="Niche 5"/>
          <p:cNvSpPr/>
          <p:nvPr/>
        </p:nvSpPr>
        <p:spPr>
          <a:xfrm>
            <a:off x="457200" y="373989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iche number box 5"/>
          <p:cNvSpPr/>
          <p:nvPr/>
        </p:nvSpPr>
        <p:spPr>
          <a:xfrm>
            <a:off x="457200" y="3739896"/>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Niche number 5"/>
          <p:cNvSpPr txBox="1"/>
          <p:nvPr/>
        </p:nvSpPr>
        <p:spPr>
          <a:xfrm>
            <a:off x="457200" y="3739896"/>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5</a:t>
            </a:r>
          </a:p>
        </p:txBody>
      </p:sp>
      <p:sp>
        <p:nvSpPr>
          <p:cNvPr id="29" name="Niche text 5"/>
          <p:cNvSpPr txBox="1"/>
          <p:nvPr/>
        </p:nvSpPr>
        <p:spPr>
          <a:xfrm>
            <a:off x="1097280" y="3739896"/>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Joint modelling  </a:t>
            </a:r>
            <a:r>
              <a:rPr sz="1300" b="0" lang="en-GB">
                <a:solidFill>
                  <a:schemeClr val="tx1"/>
                </a:solidFill>
              </a:rPr>
              <a:t>of response styles and logit scale</a:t>
            </a:r>
          </a:p>
        </p:txBody>
      </p:sp>
      <p:sp>
        <p:nvSpPr>
          <p:cNvPr id="30" name="Niche callout box"/>
          <p:cNvSpPr/>
          <p:nvPr/>
        </p:nvSpPr>
        <p:spPr>
          <a:xfrm>
            <a:off x="457200" y="44348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iche callout text"/>
          <p:cNvSpPr txBox="1"/>
          <p:nvPr/>
        </p:nvSpPr>
        <p:spPr>
          <a:xfrm>
            <a:off x="594360" y="4544568"/>
            <a:ext cx="7955280" cy="283464"/>
          </a:xfrm>
          <a:prstGeom prst="rect">
            <a:avLst/>
          </a:prstGeom>
          <a:noFill/>
        </p:spPr>
        <p:txBody>
          <a:bodyPr wrap="square" lIns="0" rIns="0" tIns="0" bIns="0" anchor="ctr">
            <a:noAutofit/>
          </a:bodyPr>
          <a:lstStyle/>
          <a:p>
            <a:pPr algn="l">
              <a:spcAft>
                <a:spcPts val="400"/>
              </a:spcAft>
            </a:pPr>
            <a:r>
              <a:rPr sz="1250" b="1" lang="en-GB">
                <a:solidFill>
                  <a:schemeClr val="bg1"/>
                </a:solidFill>
              </a:rPr>
              <a:t>Before you commit: </a:t>
            </a:r>
            <a:r>
              <a:rPr sz="1250" b="0" lang="en-GB">
                <a:solidFill>
                  <a:schemeClr val="bg1"/>
                </a:solidFill>
              </a:rPr>
              <a:t>run your own literature search; these are gaps in our search, not proof of absence.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1"/>
          <p:cNvSpPr/>
          <p:nvPr/>
        </p:nvSpPr>
        <p:spPr>
          <a:xfrm>
            <a:off x="457200" y="13258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box 1"/>
          <p:cNvSpPr/>
          <p:nvPr/>
        </p:nvSpPr>
        <p:spPr>
          <a:xfrm>
            <a:off x="457200" y="132588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keaway number 1"/>
          <p:cNvSpPr txBox="1"/>
          <p:nvPr/>
        </p:nvSpPr>
        <p:spPr>
          <a:xfrm>
            <a:off x="457200" y="132588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13" name="Takeaway text 1"/>
          <p:cNvSpPr txBox="1"/>
          <p:nvPr/>
        </p:nvSpPr>
        <p:spPr>
          <a:xfrm>
            <a:off x="1097280" y="132588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Theory picks the model:  </a:t>
            </a:r>
            <a:r>
              <a:rPr sz="1300" b="0" lang="en-GB">
                <a:solidFill>
                  <a:schemeClr val="tx1"/>
                </a:solidFill>
              </a:rPr>
              <a:t>chooser traits → MNL, option attributes → conditional logit</a:t>
            </a:r>
          </a:p>
        </p:txBody>
      </p:sp>
      <p:sp>
        <p:nvSpPr>
          <p:cNvPr id="14" name="Takeaway 2"/>
          <p:cNvSpPr/>
          <p:nvPr/>
        </p:nvSpPr>
        <p:spPr>
          <a:xfrm>
            <a:off x="457200" y="196596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akeaway number box 2"/>
          <p:cNvSpPr/>
          <p:nvPr/>
        </p:nvSpPr>
        <p:spPr>
          <a:xfrm>
            <a:off x="457200" y="196596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keaway number 2"/>
          <p:cNvSpPr txBox="1"/>
          <p:nvPr/>
        </p:nvSpPr>
        <p:spPr>
          <a:xfrm>
            <a:off x="457200" y="196596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17" name="Takeaway text 2"/>
          <p:cNvSpPr txBox="1"/>
          <p:nvPr/>
        </p:nvSpPr>
        <p:spPr>
          <a:xfrm>
            <a:off x="1097280" y="196596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Odds are not probabilities:  </a:t>
            </a:r>
            <a:r>
              <a:rPr sz="1300" b="0" lang="en-GB">
                <a:solidFill>
                  <a:schemeClr val="tx1"/>
                </a:solidFill>
              </a:rPr>
              <a:t>an odds ratio's meaning depends on the baseline</a:t>
            </a:r>
          </a:p>
        </p:txBody>
      </p:sp>
      <p:sp>
        <p:nvSpPr>
          <p:cNvPr id="18" name="Takeaway 3"/>
          <p:cNvSpPr/>
          <p:nvPr/>
        </p:nvSpPr>
        <p:spPr>
          <a:xfrm>
            <a:off x="457200" y="2606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akeaway number box 3"/>
          <p:cNvSpPr/>
          <p:nvPr/>
        </p:nvSpPr>
        <p:spPr>
          <a:xfrm>
            <a:off x="457200" y="260604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3"/>
          <p:cNvSpPr txBox="1"/>
          <p:nvPr/>
        </p:nvSpPr>
        <p:spPr>
          <a:xfrm>
            <a:off x="457200" y="260604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1" name="Takeaway text 3"/>
          <p:cNvSpPr txBox="1"/>
          <p:nvPr/>
        </p:nvSpPr>
        <p:spPr>
          <a:xfrm>
            <a:off x="1097280" y="260604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 layers:  </a:t>
            </a:r>
            <a:r>
              <a:rPr sz="1300" b="0" lang="en-GB">
                <a:solidFill>
                  <a:schemeClr val="tx1"/>
                </a:solidFill>
              </a:rPr>
              <a:t>measurement invariance and the logit scale both threaten country comparisons</a:t>
            </a:r>
          </a:p>
        </p:txBody>
      </p:sp>
      <p:sp>
        <p:nvSpPr>
          <p:cNvPr id="22" name="Takeaway 4"/>
          <p:cNvSpPr/>
          <p:nvPr/>
        </p:nvSpPr>
        <p:spPr>
          <a:xfrm>
            <a:off x="457200" y="32461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box 4"/>
          <p:cNvSpPr/>
          <p:nvPr/>
        </p:nvSpPr>
        <p:spPr>
          <a:xfrm>
            <a:off x="457200" y="324612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keaway number 4"/>
          <p:cNvSpPr txBox="1"/>
          <p:nvPr/>
        </p:nvSpPr>
        <p:spPr>
          <a:xfrm>
            <a:off x="457200" y="324612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4</a:t>
            </a:r>
          </a:p>
        </p:txBody>
      </p:sp>
      <p:sp>
        <p:nvSpPr>
          <p:cNvPr id="25" name="Takeaway text 4"/>
          <p:cNvSpPr txBox="1"/>
          <p:nvPr/>
        </p:nvSpPr>
        <p:spPr>
          <a:xfrm>
            <a:off x="1097280" y="324612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Report probabilities:  </a:t>
            </a:r>
            <a:r>
              <a:rPr sz="1300" b="0" lang="en-GB">
                <a:solidFill>
                  <a:schemeClr val="tx1"/>
                </a:solidFill>
              </a:rPr>
              <a:t>marginal effects and predictions with confidence intervals</a:t>
            </a:r>
          </a:p>
        </p:txBody>
      </p:sp>
      <p:sp>
        <p:nvSpPr>
          <p:cNvPr id="26" name="Takeaway 5"/>
          <p:cNvSpPr/>
          <p:nvPr/>
        </p:nvSpPr>
        <p:spPr>
          <a:xfrm>
            <a:off x="457200" y="38862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akeaway number box 5"/>
          <p:cNvSpPr/>
          <p:nvPr/>
        </p:nvSpPr>
        <p:spPr>
          <a:xfrm>
            <a:off x="457200" y="388620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keaway number 5"/>
          <p:cNvSpPr txBox="1"/>
          <p:nvPr/>
        </p:nvSpPr>
        <p:spPr>
          <a:xfrm>
            <a:off x="457200" y="388620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5</a:t>
            </a:r>
          </a:p>
        </p:txBody>
      </p:sp>
      <p:sp>
        <p:nvSpPr>
          <p:cNvPr id="29" name="Takeaway text 5"/>
          <p:cNvSpPr txBox="1"/>
          <p:nvPr/>
        </p:nvSpPr>
        <p:spPr>
          <a:xfrm>
            <a:off x="1097280" y="388620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Interactions on the right scale:  </a:t>
            </a:r>
            <a:r>
              <a:rPr sz="1300" b="0" lang="en-GB">
                <a:solidFill>
                  <a:schemeClr val="tx1"/>
                </a:solidFill>
              </a:rPr>
              <a:t>plot, test, compare; never the product term alone</a:t>
            </a:r>
          </a:p>
        </p:txBody>
      </p:sp>
      <p:sp>
        <p:nvSpPr>
          <p:cNvPr id="30" name="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ext text"/>
          <p:cNvSpPr txBox="1"/>
          <p:nvPr/>
        </p:nvSpPr>
        <p:spPr>
          <a:xfrm>
            <a:off x="594360" y="4681728"/>
            <a:ext cx="7955280" cy="237744"/>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run sessions/01-foundations/logit_exports.qmd before class; it reproduces the warm-up.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sources and further reading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erences 0 body"/>
          <p:cNvSpPr/>
          <p:nvPr/>
        </p:nvSpPr>
        <p:spPr>
          <a:xfrm>
            <a:off x="457200" y="17373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erences 0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erences 0 heading"/>
          <p:cNvSpPr txBox="1"/>
          <p:nvPr/>
        </p:nvSpPr>
        <p:spPr>
          <a:xfrm>
            <a:off x="594360" y="132588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Methods</a:t>
            </a:r>
          </a:p>
        </p:txBody>
      </p:sp>
      <p:pic>
        <p:nvPicPr>
          <p:cNvPr id="13" name="Icon References 0" descr=""/>
          <p:cNvPicPr>
            <a:picLocks noChangeAspect="1"/>
          </p:cNvPicPr>
          <p:nvPr/>
        </p:nvPicPr>
        <p:blipFill>
          <a:blip r:embed="rId3"/>
          <a:stretch>
            <a:fillRect/>
          </a:stretch>
        </p:blipFill>
        <p:spPr>
          <a:xfrm>
            <a:off x="4041648" y="1376172"/>
            <a:ext cx="310896" cy="310896"/>
          </a:xfrm>
          <a:prstGeom prst="rect">
            <a:avLst/>
          </a:prstGeom>
        </p:spPr>
      </p:pic>
      <p:sp>
        <p:nvSpPr>
          <p:cNvPr id="14" name="References 0 text"/>
          <p:cNvSpPr txBox="1"/>
          <p:nvPr/>
        </p:nvSpPr>
        <p:spPr>
          <a:xfrm>
            <a:off x="621792" y="1874520"/>
            <a:ext cx="3703320" cy="2880360"/>
          </a:xfrm>
          <a:prstGeom prst="rect">
            <a:avLst/>
          </a:prstGeom>
          <a:noFill/>
        </p:spPr>
        <p:txBody>
          <a:bodyPr wrap="square" lIns="0" rIns="0" tIns="0" bIns="0" anchor="t">
            <a:noAutofit/>
          </a:bodyPr>
          <a:lstStyle/>
          <a:p>
            <a:pPr algn="l">
              <a:spcAft>
                <a:spcPts val="600"/>
              </a:spcAft>
            </a:pPr>
            <a:r>
              <a:rPr sz="1150" b="1" lang="en-GB">
                <a:solidFill>
                  <a:schemeClr val="tx2"/>
                </a:solidFill>
              </a:rPr>
              <a:t>Ai &amp; Norton (2003). </a:t>
            </a:r>
            <a:r>
              <a:rPr sz="1150" b="0" lang="en-GB">
                <a:solidFill>
                  <a:schemeClr val="tx1"/>
                </a:solidFill>
              </a:rPr>
              <a:t>Economics Letters.</a:t>
            </a:r>
          </a:p>
          <a:p>
            <a:pPr algn="l">
              <a:spcAft>
                <a:spcPts val="600"/>
              </a:spcAft>
            </a:pPr>
            <a:r>
              <a:rPr sz="1150" b="1" lang="en-GB">
                <a:solidFill>
                  <a:schemeClr val="tx2"/>
                </a:solidFill>
              </a:rPr>
              <a:t>Allison (1999). </a:t>
            </a:r>
            <a:r>
              <a:rPr sz="1150" b="0" lang="en-GB">
                <a:solidFill>
                  <a:schemeClr val="tx1"/>
                </a:solidFill>
              </a:rPr>
              <a:t>Sociol. Methods &amp; Research.</a:t>
            </a:r>
          </a:p>
          <a:p>
            <a:pPr algn="l">
              <a:spcAft>
                <a:spcPts val="600"/>
              </a:spcAft>
            </a:pPr>
            <a:r>
              <a:rPr sz="1150" b="1" lang="en-GB">
                <a:solidFill>
                  <a:schemeClr val="tx2"/>
                </a:solidFill>
              </a:rPr>
              <a:t>Mood (2010). </a:t>
            </a:r>
            <a:r>
              <a:rPr sz="1150" b="0" lang="en-GB">
                <a:solidFill>
                  <a:schemeClr val="tx1"/>
                </a:solidFill>
              </a:rPr>
              <a:t>European Sociological Review.</a:t>
            </a:r>
          </a:p>
          <a:p>
            <a:pPr algn="l">
              <a:spcAft>
                <a:spcPts val="600"/>
              </a:spcAft>
            </a:pPr>
            <a:r>
              <a:rPr sz="1150" b="1" lang="en-GB">
                <a:solidFill>
                  <a:schemeClr val="tx2"/>
                </a:solidFill>
              </a:rPr>
              <a:t>Hoetker (2007). </a:t>
            </a:r>
            <a:r>
              <a:rPr sz="1150" b="0" lang="en-GB">
                <a:solidFill>
                  <a:schemeClr val="tx1"/>
                </a:solidFill>
              </a:rPr>
              <a:t>Strategic Management Journal.</a:t>
            </a:r>
          </a:p>
          <a:p>
            <a:pPr algn="l">
              <a:spcAft>
                <a:spcPts val="600"/>
              </a:spcAft>
            </a:pPr>
            <a:r>
              <a:rPr sz="1150" b="1" lang="en-GB">
                <a:solidFill>
                  <a:schemeClr val="tx2"/>
                </a:solidFill>
              </a:rPr>
              <a:t>Mize (2019). </a:t>
            </a:r>
            <a:r>
              <a:rPr sz="1150" b="0" lang="en-GB">
                <a:solidFill>
                  <a:schemeClr val="tx1"/>
                </a:solidFill>
              </a:rPr>
              <a:t>Sociological Science.</a:t>
            </a:r>
          </a:p>
          <a:p>
            <a:pPr algn="l">
              <a:spcAft>
                <a:spcPts val="600"/>
              </a:spcAft>
            </a:pPr>
            <a:r>
              <a:rPr sz="1150" b="1" lang="en-GB">
                <a:solidFill>
                  <a:schemeClr val="tx2"/>
                </a:solidFill>
              </a:rPr>
              <a:t>Greene, Chidlow &amp; Strange (2022). </a:t>
            </a:r>
            <a:r>
              <a:rPr sz="1150" b="0" lang="en-GB">
                <a:solidFill>
                  <a:schemeClr val="tx1"/>
                </a:solidFill>
              </a:rPr>
              <a:t>Int. Business Review.</a:t>
            </a:r>
          </a:p>
          <a:p>
            <a:pPr algn="l">
              <a:spcAft>
                <a:spcPts val="600"/>
              </a:spcAft>
            </a:pPr>
            <a:r>
              <a:rPr sz="1150" b="1" lang="en-GB">
                <a:solidFill>
                  <a:schemeClr val="tx2"/>
                </a:solidFill>
              </a:rPr>
              <a:t>Swait &amp; Louviere (1993). </a:t>
            </a:r>
            <a:r>
              <a:rPr sz="1150" b="0" lang="en-GB">
                <a:solidFill>
                  <a:schemeClr val="tx1"/>
                </a:solidFill>
              </a:rPr>
              <a:t>Journal of Marketing Research.</a:t>
            </a:r>
          </a:p>
        </p:txBody>
      </p:sp>
      <p:sp>
        <p:nvSpPr>
          <p:cNvPr id="15" name="References 1 body"/>
          <p:cNvSpPr/>
          <p:nvPr/>
        </p:nvSpPr>
        <p:spPr>
          <a:xfrm>
            <a:off x="4663440" y="17373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erences 1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erences 1 heading"/>
          <p:cNvSpPr txBox="1"/>
          <p:nvPr/>
        </p:nvSpPr>
        <p:spPr>
          <a:xfrm>
            <a:off x="4800600" y="132588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International marketing</a:t>
            </a:r>
          </a:p>
        </p:txBody>
      </p:sp>
      <p:pic>
        <p:nvPicPr>
          <p:cNvPr id="18" name="Icon References 1" descr=""/>
          <p:cNvPicPr>
            <a:picLocks noChangeAspect="1"/>
          </p:cNvPicPr>
          <p:nvPr/>
        </p:nvPicPr>
        <p:blipFill>
          <a:blip r:embed="rId4"/>
          <a:stretch>
            <a:fillRect/>
          </a:stretch>
        </p:blipFill>
        <p:spPr>
          <a:xfrm>
            <a:off x="8247888" y="1376172"/>
            <a:ext cx="310896" cy="310896"/>
          </a:xfrm>
          <a:prstGeom prst="rect">
            <a:avLst/>
          </a:prstGeom>
        </p:spPr>
      </p:pic>
      <p:sp>
        <p:nvSpPr>
          <p:cNvPr id="19" name="References 1 text"/>
          <p:cNvSpPr txBox="1"/>
          <p:nvPr/>
        </p:nvSpPr>
        <p:spPr>
          <a:xfrm>
            <a:off x="4828032" y="1874520"/>
            <a:ext cx="3703320" cy="2880360"/>
          </a:xfrm>
          <a:prstGeom prst="rect">
            <a:avLst/>
          </a:prstGeom>
          <a:noFill/>
        </p:spPr>
        <p:txBody>
          <a:bodyPr wrap="square" lIns="0" rIns="0" tIns="0" bIns="0" anchor="t">
            <a:noAutofit/>
          </a:bodyPr>
          <a:lstStyle/>
          <a:p>
            <a:pPr algn="l">
              <a:spcAft>
                <a:spcPts val="600"/>
              </a:spcAft>
            </a:pPr>
            <a:r>
              <a:rPr sz="1150" b="1" lang="en-GB">
                <a:solidFill>
                  <a:schemeClr val="tx2"/>
                </a:solidFill>
              </a:rPr>
              <a:t>Kogut &amp; Singh (1988). </a:t>
            </a:r>
            <a:r>
              <a:rPr sz="1150" b="0" lang="en-GB">
                <a:solidFill>
                  <a:schemeClr val="tx1"/>
                </a:solidFill>
              </a:rPr>
              <a:t>J. of Int. Business Studies.</a:t>
            </a:r>
          </a:p>
          <a:p>
            <a:pPr algn="l">
              <a:spcAft>
                <a:spcPts val="600"/>
              </a:spcAft>
            </a:pPr>
            <a:r>
              <a:rPr sz="1150" b="1" lang="en-GB">
                <a:solidFill>
                  <a:schemeClr val="tx2"/>
                </a:solidFill>
              </a:rPr>
              <a:t>Pan &amp; Tse (2000). </a:t>
            </a:r>
            <a:r>
              <a:rPr sz="1150" b="0" lang="en-GB">
                <a:solidFill>
                  <a:schemeClr val="tx1"/>
                </a:solidFill>
              </a:rPr>
              <a:t>J. of Int. Business Studies.</a:t>
            </a:r>
          </a:p>
          <a:p>
            <a:pPr algn="l">
              <a:spcAft>
                <a:spcPts val="600"/>
              </a:spcAft>
            </a:pPr>
            <a:r>
              <a:rPr sz="1150" b="1" lang="en-GB">
                <a:solidFill>
                  <a:schemeClr val="tx2"/>
                </a:solidFill>
              </a:rPr>
              <a:t>Head, Ries &amp; Swenson (1995). </a:t>
            </a:r>
            <a:r>
              <a:rPr sz="1150" b="0" lang="en-GB">
                <a:solidFill>
                  <a:schemeClr val="tx1"/>
                </a:solidFill>
              </a:rPr>
              <a:t>J. of Int. Economics.</a:t>
            </a:r>
          </a:p>
          <a:p>
            <a:pPr algn="l">
              <a:spcAft>
                <a:spcPts val="600"/>
              </a:spcAft>
            </a:pPr>
            <a:r>
              <a:rPr sz="1150" b="1" lang="en-GB">
                <a:solidFill>
                  <a:schemeClr val="tx2"/>
                </a:solidFill>
              </a:rPr>
              <a:t>Roberts &amp; Tybout (1997). </a:t>
            </a:r>
            <a:r>
              <a:rPr sz="1150" b="0" lang="en-GB">
                <a:solidFill>
                  <a:schemeClr val="tx1"/>
                </a:solidFill>
              </a:rPr>
              <a:t>American Econ. Review.</a:t>
            </a:r>
          </a:p>
          <a:p>
            <a:pPr algn="l">
              <a:spcAft>
                <a:spcPts val="600"/>
              </a:spcAft>
            </a:pPr>
            <a:r>
              <a:rPr sz="1150" b="1" lang="en-GB">
                <a:solidFill>
                  <a:schemeClr val="tx2"/>
                </a:solidFill>
              </a:rPr>
              <a:t>Steenkamp et al. (1999). </a:t>
            </a:r>
            <a:r>
              <a:rPr sz="1150" b="0" lang="en-GB">
                <a:solidFill>
                  <a:schemeClr val="tx1"/>
                </a:solidFill>
              </a:rPr>
              <a:t>Journal of Marketing.</a:t>
            </a:r>
          </a:p>
          <a:p>
            <a:pPr algn="l">
              <a:spcAft>
                <a:spcPts val="600"/>
              </a:spcAft>
            </a:pPr>
            <a:r>
              <a:rPr sz="1150" b="1" lang="en-GB">
                <a:solidFill>
                  <a:schemeClr val="tx2"/>
                </a:solidFill>
              </a:rPr>
              <a:t>Tellis et al. (2003). </a:t>
            </a:r>
            <a:r>
              <a:rPr sz="1150" b="0" lang="en-GB">
                <a:solidFill>
                  <a:schemeClr val="tx1"/>
                </a:solidFill>
              </a:rPr>
              <a:t>Marketing Science.</a:t>
            </a:r>
          </a:p>
          <a:p>
            <a:pPr algn="l">
              <a:spcAft>
                <a:spcPts val="600"/>
              </a:spcAft>
            </a:pPr>
            <a:r>
              <a:rPr sz="1150" b="1" lang="en-GB">
                <a:solidFill>
                  <a:schemeClr val="tx2"/>
                </a:solidFill>
              </a:rPr>
              <a:t>Arel-Bundock (2026). </a:t>
            </a:r>
            <a:r>
              <a:rPr sz="1150" b="0" lang="en-GB">
                <a:solidFill>
                  <a:schemeClr val="tx1"/>
                </a:solidFill>
              </a:rPr>
              <a:t>Model to Meaning. CRC.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txBox="1"/>
          <p:nvPr/>
        </p:nvSpPr>
        <p:spPr>
          <a:xfrm>
            <a:off x="457200" y="411480"/>
            <a:ext cx="7315200" cy="640080"/>
          </a:xfrm>
          <a:prstGeom prst="rect">
            <a:avLst/>
          </a:prstGeom>
          <a:noFill/>
        </p:spPr>
        <p:txBody>
          <a:bodyPr wrap="square" lIns="0" rIns="0" tIns="0" bIns="0" anchor="t">
            <a:noAutofit/>
          </a:bodyPr>
          <a:lstStyle/>
          <a:p>
            <a:pPr algn="l">
              <a:spcAft>
                <a:spcPts val="400"/>
              </a:spcAft>
            </a:pPr>
            <a:r>
              <a:rPr sz="2400" b="1" lang="en-GB">
                <a:solidFill>
                  <a:schemeClr val="tx2"/>
                </a:solidFill>
                <a:latin typeface="+mj-lt"/>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