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logistic regression across countries. The core idea of today is simple: logistic regression is the workhorse for yes/no customer outcomes, and in international marketing the comparison across countries is where most mistakes happen. Our running example is customer churn of a simulated mobile operator in Germany, Austria, Spain and Poland, so every method can be checked against a known truth. In the notes of this deck you will see evidence tags: [ABSTRACT] marks a number seen only in an abstract, [P] a primary practice source such as a company report or a regulator, [2H] a second-hand source such as the press or an analyst, and [L] legal text quoted from knowledge that should be checked before relying on it. The readings and data for students are in sessions/01-foundations/churn_readings_and_data.md, and all code is in sessions/01-foundations/logit_churn.qmd.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objectives of the session, one for each of the six parts. Part 1 builds the foundations by hand: odds, odds ratios and probabilities, then the same in Python. Part 2 places churn in research and practice and picks the right member of the logit family for the question: binary, discrete-time hazard, multinomial or multilevel. Part 3 is the core of the day: two layers of comparability across countries, response styles in surveys and the logit scale problem. Part 4 turns this into a reporting standard with average marginal effects, predictions and interactions on the probability scale, and that reporting standard ties Parts 3 to 5 together. Part 5 uses the model as a manager would, and Part 6 hands over open churn datasets, the quiz and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Parts 1 to 5 take about 20 to 25 minutes each; Part 6 takes about 50 minutes because of the 35-minute exercise; with the opening and one break this fills the three-hour block. Part 3, comparing countries, is the core: everything before it prepares it, and everything after it applies it. Part 3 is highlighted in the chevrons for that reason. Read the rule in the navy box aloud, because it comes back in the answer to the warm-up (slide 4), in Part 3 and in the key takeaways. In Part 5 the rule gets a second half: target the customers the offer changes, not the ones most likely to leave. Tell students when the breaks are and that the exercise in Part 6 uses the same data as the slides; the grey line in each column gives the slide numbers of the 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warm-up puzzle that the whole deck resolves. Give pairs three minutes for the three questions on the right, then ask for a show of hands: who thinks the contract matters more in Germany than in Spain? Most students will say yes, because 1.19 is larger than 0.81. Both coefficients come from two separate country logits with the churn formula: contract, price rise, complaint calls and log tenure, estimated on the simulated data. Do not resolve the puzzle yet; we return to it in Part 3 (slides 28 and 29), in quiz question 2 (slide 51) and in the exercise (slide 53).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figures are real and come from extracts of primary documents [P]; the German figure is what O2 Telefónica calls the implied annualised churn rate of the O2 brand in postpaid; the research for this deck could not open the PDFs themselves, so check the figures against the reports before the session. Mature contract markets cluster at about one per cent a month, streaming runs four to five times higher. Deutsche Telekom states that its churn rate "is determined and reported based on the local markets" (Interim Report H1 2025, [P]), which is a definition problem in itself: a cross-country model needs one harmonised dependent variable. Operators often annualise as 12 × the monthly rate; check O2 Telefónica's definition before comparing it with a compounded rate. Prepaid-heavy markets run higher, for example Bharti Airtel in India at about 2.4 to 3.2 per cent a month ([P], read from table rows, verify). Rates also move over the year: KDDI's smartphone churn rose to 1.48 % in January to March 2026, the quarter of Japan's spring moving and graduation season ([2H]; the link to the season is our reading), and in our reading the annual rates of Telstra and O2 move with migrations and price changes. The teaching point: an event rate of about one per cent a month means class imbalance, which is why accuracy is the wrong yardstick (Part 5, slide 40), and the conversion between monthly and annual rates returns with the hazard logit (slide 21). Monthly churn of 4.6 % in streaming means that about 43 % of a cohort is gone within 12 months (1 − 0.954¹²), and half after about 14 to 17 months at four to five per cent a month; Antenna reports that "4 in 10 churned subscribers return to the service within 12 months" [P]: churn is not always an absorbing state. Full sources: O2 Telefónica (Telefónica Deutschland Holding AG), Annual Report 2024; Telefónica, FY2024 results press release; T-Mobile US, Q4 2025 earnings release; Antenna, State of Subscriptions: Premium SVOD 2025 Year in Review (Q1 2026 report).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will hear the left-hand claims in every marketing course, so it is worth reading them closely. Reichheld and Sasser's chart is titled "Reducing defections 5 % boosts profits 25 % to 85 %", with 85 % for bank branches, 50 % for an insurance brokerage and 30 % for an auto-service chain [P, via the Bain reprint]; it is often misquoted as 25 to 95 %, and the 5 % means five percentage points, for example from 10 % to 5 % defections, with the improvement assumed to cost nothing [2H]. Gallo's sentence on HBR.org itself hedges that the range of five to 25 times depends on the study and the industry [2H], so it is not a parameter for a model; her exact words are that "acquiring a new customer is anywhere from five to 25 times more expensive than retaining an existing one", so the left card paraphrases her without quotation marks. The right-hand side shows what field experiments measure: effects in percentage points against a control group. Godinho de Matos and colleagues ran a household-level randomised trial with a major telecom provider; both effects, 1.9 percentage points from a baseline of 17.2 % and a further 1.3 percentage points when the friends of likely churners were called as well, are from the abstract [ABSTRACT]. Ascarza, Iyengar and Schleicher studied about 65,000 mobile customers of a South American carrier, and the proposed mechanisms are lower inertia and a greater salience of past overspending; the 10 % vs 6 % comparison is from the abstract [ABSTRACT; sample size from a Columbia summary]. Ask the class for the outcome, the unit and the counterfactual of each claim, and link forward: retention actions need a control group, which is exactly what the retention-offer pilot gives us on slide 45. Full references: Reichheld and Sasser (1990), "Zero Defections: Quality Comes to Services", Harvard Business Review, September–October 1990 (Bain reprint); Gallo (2014), "The Value of Keeping the Right Customers", HBR.org, 29 October 2014; Godinho de Matos, Ferreira and Belo (2018), Marketing Science 37(5), 793–811; Ascarza, Iyengar and Schleicher (2016), Journal of Marketing Research 53(1), 46–60.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running example of the deck: telco_churn.csv with 11,000 simulated mobile customers in Germany, Austria, Spain and Poland, and churn defined as cancelling within the next 12 months. Say clearly that these are not real data. The rates are in the range of real annual contract churn for Germany (O2 Telefónica about 12 % a year, slide 5) and set higher for Spain and Poland, so that both the flat and the steep parts of the S-curve appear. Note that this reverses reality: Telefónica España reports 0.9 % a month (about 10 % a year), below O2 Germany's 12.2 % on slide 5. The high Spanish rate is a teaching device, not a claim about the Spanish market. Month-to-month customers churn more in every country, 24-month vs month-to-month: Germany 9.6 % vs 26.4 %; Austria 9.4 % vs 27.3 %; Spain 24.7 % vs 46.6 %; Poland 17.2 % vs 37.2 %. The data are simulated from a latent-variable model with the same true effects in every country: month-to-month +1.3, price rise +0.6, each complaint call +0.3, log tenure −0.3 and true satisfaction −0.5 on the latent scale. What differs is the baseline, the customer mix (by design, 34 % of German customers are on a month-to-month contract against 56 % in Poland) and the unexplained variation, which has scale 1.5 in Spain and 1.2 in Poland against 1.0 in Germany and Austria. Satisfaction is measured with country response styles, and the retention offer was randomised, so half of the customers got it. This known truth lets us check every method in the deck, starting with the warm-up on slide 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everyone the same toolkit before we compare countries. Students learn to move between log-odds, odds and probabilities, and to see why an odds ratio does not mean “x times as likely”. We use small churn tables with round numbers that everyone can check on a calculator, first for German and then for Spanish customers. The calculator exercise on slide 13 already shows the problem of the warm-up on slide 4: the same gap in churn probability can come with different odds ratios. The pair work on slide 13 takes five minutes; the answers follow on slide 14.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what students know: ordinary least squares on a 0/1 churn variable is the linear probability model. It is easy to read, because a coefficient is a change in probability, but it can predict churn below 0 or above 1, and it forces the same effect of the month-to-month contract on a customer group with 15 % churn and one with 35 % churn. These two baselines are the German and Spanish churn rates of the running example on slide 7 (simulated data). Logistic regression keeps every prediction between 0 and 1 and lets the effect on the probability be largest near 50 per cent, but it is estimated by maximum likelihood on the log-odds scale. Mood (2010) recommends average marginal effects (AMEs) and linear probability models as alternatives to odds ratios [ABSTRACT]. Hoetker (2007) lists interpreting coefficients as the first of four critical issues of logit and probit in strategy research, next to interactions, comparing groups and assessing fit. In this course we treat the linear probability model as a robustness check, not the main model for a binary outcome such as churn; the last point of the left card is this course rule, not Mood's.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software reports coefficients on the log-odds scale, where effects add up linearly. Exponentiating a coefficient gives the odds ratio, which multiplies the odds. The churn probability is what a retention manager asks about, and its change depends on where on the curve a customer sits. Ask students to point to a customer at 5, 50 and 95 per cent churn and to say where one unit of log-odds moves the probability most: in the middle, near 50 per cent. Then show the two marked points: Germany sits at 15 % churn (log-odds −1.70) and Spain at 35 % (log-odds −0.63), simulated data. The slope of the curve is 0.13 at the German baseline and 0.23 at the Spanish one, so a small step in log-odds moves Spanish churn about 1.7 times as much as German churn. The two countries sit on different slopes of the same curve: this is the seed of the warm-up puzzle on slide 4, and slide 29 (Why the coefficient gap disappears) comes back to it with the real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table that students can check with a calculator: 200 German customers, 100 on each contract. The counts are invented round numbers, not the simulated data set. Probability is churners divided by customers. Odds are p / (1 − p), which is the same as churners per stayer. Month-to-month: 50 churners and 50 stayers, so the odds are 1.0, one churner per stayer. 24-month: 20 churners and 80 stayers, so the odds are 0.25, one churner per four stayers. Remind students that probabilities run from 0 to 1 and odds from 0 to infinity, and that odds of 1 mean 50:50. The next slide turns these two odds into an odds ratio and a logit coefficient.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odds ratio is the odds of the month-to-month group divided by the odds of the 24-month group: 1.0 / 0.25 = 4.0, so the month-to-month contract multiplies the odds of churn by four. It does not make churn four times as likely: the probability rises from 0.20 to 0.50, a risk ratio of 2.5 and a difference of 30 percentage points (pp). On the log-odds scale, ln 0.25 = −1.386 and ln 1.0 = 0; their difference, 1.386, is ln 4.0. A logit of churn on month-to-month for these 200 customers gives an intercept of −1.386, exactly ln 0.25 (the log-odds of the 24-month group), and a coefficient of 1.386; Step 1 of logit_churn.qmd checks it. Back to probability: 0.25 / 1.25 = 0.20, or 1 / (1 + e^1.386) = 0.20. Stress the callout: the odds ratio, the risk ratio and the gap in percentage points are three different numbers, and only the last two are on the probability scale.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five minutes, with a calculator or Python. The table has the same structure as the German one: 200 invented Spanish customers, 100 on each contract. Students fill in the three question-mark columns and then work through the five numbered steps; the task rows use the same numbers. Those who finish early run the Python check from Step 1 of logit_churn.qmd and compare the coefficient with their hand calculation. The answer slide follows (slide 14) and is empty in the student copy.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applies the same odds ratio of 2 to five baseline churn rates with p₁ = OR·p₀ / (1 − p₀ + OR·p₀). With an odds ratio of 2, 5 per cent becomes 9.5 per cent, 15 per cent becomes 26.1, 35 per cent becomes 51.9, 50 per cent becomes 66.7 and 90 per cent becomes 94.7 per cent. “Twice as likely” is only a rough approximation below about 10 per cent; churn over 12 months in our running example, 15 to 35 per cent (simulated), is far above that. The bar at 35 per cent is slightly higher than the one at 50 per cent because a discrete step of ln 2 has its largest effect when it straddles 50 per cent (from about 41 to 59 per cent, +17.2 pp). A published example: in the field experiment of Ascarza, Iyengar and Schleicher (2016, JMR), 10 per cent of the treated customers and 6 per cent of the control group churned within three months [ABSTRACT]. Computed from these rounded rates, the odds ratio is (0.10 / 0.90) / (0.06 / 0.94) ≈ 1.74, the risk ratio 1.67 and the gap 4 percentage points. Ask which of the three numbers a manager needs to budget a campaign. Quiz question 1 on slide 51 comes back to this.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places our running example in research and practice before we fit anything. Students see first what drives churn according to marketing theory, and how those drivers become the columns of telco_churn.csv. Then we look at why logit remains the benchmark model for churn prediction, even against machine learning. The third step is the international one: churn drivers differ across countries in their baseline (intercepts) and sometimes in their effects (slopes). The part ends with a map of the logit family, so that students can pick the member that answers their churn question: binary, discrete-time hazard, multinomial or multilevel logit. Plan about 25 minutes for slides 17 to 23.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message of this slide is that every predictor in a churn model should map to a reason for leaving, and the columns of our simulated telco_churn.csv do. Keaveney (1995) is the classic starting point: a critical-incident study of more than 500 service customers that found more than 800 switching incidents, grouped into eight categories (pricing, inconvenience, core service failure, service encounter failure, response to failure, competition, ethical problems and involuntary switching) [ABSTRACT]; do not quote a share per category, because the often-cited percentages were not verified. Bolton (1998) estimated a proportional hazards model for cellular customers over 22 months: satisfaction explains a share of the variance in relationship duration comparable to price, failures weigh more than gains, and long-tenure customers weigh their past satisfaction more [ABSTRACT]. Burnham et al. (2003) distinguish procedural, financial and relational switching costs, which is why the contract type stands in for lock-in. Gustafsson et al. (2005) linked a Telia survey in Sweden to later observed churn and found that prior churn moderates the satisfaction effect [ABSTRACT]. In a non-telecom setting, Coussement and Van den Poel (2008) found for newspaper subscriptions that subscription variables dominate recency, frequency and monetary value [ABSTRACT]. The last row matters for Part 5: Ascarza (2018) shows that the customers most at risk are not necessarily those who respond to a retention offer, which is why our retention-offer pilot is randomised. Four of these columns return in the pooled table on slide 32; satisfaction returns on slide 27 and the retention offer on slide 45.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kinds of evidence say that a logit is a serious churn model, not a teaching toy. Neslin et al. (2006) report the Teradata Center and Duke University tournament: academics and practitioners modelled the same US wireless carrier's data and were scored on top-decile lift and the Gini coefficient; logit and tree approaches did best, the differences between methods were worth hundreds of thousands of dollars per retention campaign, and models lost little accuracy on data collected three months later [ABSTRACT]. Do not quote a range of lift values from this paper, because the range seen in a search snippet was not verified. Verbeke et al. (2012) benchmarked many classifiers on 11 telecom datasets from operators worldwide: a large group of classifiers, logit among them, performs alike, a small number of variables is enough, and oversampling generally does not help [ABSTRACT]. Coussement et al. (2017) used data from a large European telecom provider and showed that preparing the predictors for logit (binning, transformations) raised AUC by up to 14.5 per cent and top-decile lift by up to 34 per cent, so the prepared logit competed with eight advanced methods [ABSTRACT]. Where machine learning does win, it wins through ensembles and tuning: Lemmens and Croux (2006) found that bagging and boosting beat a binary logit on a US wireless database, and noted that balanced samples need a bias correction of the predicted probabilities (Part 5, slide 42); Coussement and Van den Poel (2008) found support vector machines beat logit only with the better parameter-selection procedure [ABSTRACT]. Two further pointers for interested students: De Caigny et al. (2018) propose the logit leaf model, which fits one logit per tree segment, and Risselada et al. (2010) show that churn models lose performance within a few periods, so they should be re-estimated regularly.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bridge to Part 3. Baseline churn differs by country for institutional and cultural reasons, which a model captures in the intercepts, and the effects of the drivers differ too, sometimes even in sign, which a model captures in the slopes. All numbers on the slide come from the abstracts [ABSTRACT]. On the left: Usero Sánchez and Asimakopoulos (2012) found across EU mobile markets that churn falls as porting gets dearer and slower; Wei and Zhu (2018) studied 218 operators in 52 countries and found that after number portability small firms gain share and large firms raise their share of contract customers, so contracts act as a lock-in and the contract mix differs by regime; Zhang et al. (2014) found higher loyalty overall among Chinese than among Dutch consumers. On the right: Aksoy et al. (2013) show for 3,393 mobile customers in eight countries that the satisfaction-loyalty link depends on culture; Pick and Eisend (2016) find in 451 effect sizes from 25 countries that economic development decides whether switching costs reduce or increase switching; Patterson and Smith (2003) are the counterweight, with switching barriers largely universal in Australia and Thailand. Further evidence for the notes: Samaha, Beck and Palmatier (2014) find in a meta-analysis over 36 countries that individualism's effect on relationship marketing is 71 per cent greater than that of the other cultural dimensions; Morgeson, Sharma and Hult (2015) find that satisfaction matters less for loyalty in emerging markets; Liu et al. (2001) report that after poor service, customers from low-individualism or high-uncertainty-avoidance cultures are less likely to switch; Schumann et al. (2010) found in 11 countries that only uncertainty avoidance moderated the word-of-mouth effect, a warning against adding every Hofstede interaction. A practice example: Netflix reported a cancel reaction in each market when it announced paid sharing (Netflix Q1 2023 shareholder letter [P]), and Kantar reported over one million fewer users in Spain (Kantar, April 2023 [P]). Our simulation has different intercepts and different noise by country but identical true slopes, and country response styles in the satisfaction score; Part 3 shows that even then the estimated coefficients differ. Ask the room: in our simulated data, 12-month churn is 15.4 % in Germany, 14.6 % in Austria, 34.7 % in Spain and 28.5 % in Poland; name two reasons other than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maps each churn question to the member of the logit family that answers it, the assumption you have to defend, and a churn example. Read it from left to right: the question decides the model, not the other way round. Our outcome, churn within 12 months, is a binary logit, as in the Neslin et al. (2006) tournament. Bolton (1998) used a continuous-time proportional hazards model; the discrete-time hazard logit is a close discrete-time relative for monthly data, and with small monthly hazards the logit and the complementary log-log link give nearly the same answers (next slide). Gao et al. (2023) used a multinomial logit on 13,761 customers of all firms in one telecom market, for two services, to study retention [ABSTRACT]; the abstract does not say which outcome categories are used, so present it as a multinomial retention model, not as a destination model (slide 22). The destination example in the table is a practice case instead: after its price rise on 1 April 2026, Swisscom reported higher churn and more migration to its own lower-priced Wingo brand [2H, Investing.com on the Q2 2026 results]. A case-control sample means all churners plus a random share of stayers. Cancel, pause or stay is a thesis niche (slide 54), and the ordered logit fits the satisfaction score as an outcome, although in our data it is a survey predictor (slide 27). For customers in many countries a multilevel logit is the natural model, but our search found no churn study of this kind (slide 23). When the event is rare, or when the sample was drawn on the outcome (for example all churners plus a random share of stayers), King and Zeng (2001) show how to correct the intercept with the known population churn rate (prior correction) and how to reduce the small-sample bias of rare-events logit. Mixed logit for taste heterogeneity exists but is not covered today. Greene, Chidlow and Strange (2022) is the IB primer for the multinomial models. Quick check for the room: a subscription firm wants to know in which month after sign-up customers cancel; which model? Quiz question 4 on slide 51 asks the companion question, where churners go (multinomial logit, slide 22).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question is when customers churn, reshape the data to one row per customer and month, and fit an ordinary logit of 'churned this month' on the predictors, with month or tenure terms for the shape of the hazard. The small table on the left shows the layout, not real data: customer 1 is on a month-to-month contract, receives a price letter in month 2 and churns in month 3; customer 2 stays and keeps contributing rows. Our own outcome is a 12-month window, so a binary logit fits; the hazard logit is needed when the question is when, or when predictors change month by month, such as contract end dates, price letters or the 30-day exit window after a price-rise notice (Virgin Media O2 reported elevated churn in that window after its October price-rise announcement, Q4 2025 earnings release [P]). Reme et al. (2022) found that a notice about a future price change raised monthly churn from 1 per cent to 1.6 per cent among Norwegian customers whose costs would actually fall, right after the notice rather than when prices changed [ABSTRACT]. The chart is cross-sectional, from the simulated data: 12-month churn by tenure at the snapshot is 1–6 months 38.5 %, 7–12 months 28.7 %, 13–24 months 21.3 %, 25–48 months 17.7 %, 49+ months 14.6 % (n = 1,531, 2,072, 3,372, 3,108, 917). New customers churn most, partly because 81 % of them are on month-to-month contracts against 8 % at 49+ months. Within each contract type the fall is flatter: month-to-month 42.9 % to 28.8 % and 24-month 20.0 % to 13.4 % from the first to the last band. A cross-section like this is not a hazard estimate; it only hints at the shape. Monthly and annual rates convert with annual = 1 − (1 − m)^12, so 1 per cent a month is 1 − 0.99^12, about 11.4 % a year; use this whenever you compare operator figures reported on different bases (slide 5). Tellis, Stremersch and Yin (2003) used a discrete-time hazard model for the takeoff of new products in 16 European countries, an international marketing example of the same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question is the destination of a churner, the outcome has more than two unordered categories: stay, competitor A, competitor B, or the operator's own low-cost brand. The multinomial logit models this with variables that describe the customer, one row per customer. Its key assumption is the independence of irrelevant alternatives (IIA): the odds of choosing A over B must not change when a new brand enters. That is implausible when two options are close substitutes, for example two competitors' similar offers, so think of the decision as staged, as on the right: nest the alternatives that are close substitutes, and check the multinomial model against a nested logit that separates stay versus leave first. Greene, Chidlow and Strange (2022) is the IB primer on multinomial choice, with data layout, estimation and tests. Gao et al. (2023) used a multinomial logit on 13,761 customers of all firms in one telecom market, for two services, and found that lock-in reduces churn mainly when the affective experience is poor [ABSTRACT]; the abstract does not say which outcome categories are used, so it is a multinomial retention model rather than a destination example. A practice example: after its price rise on 1 April 2026, Swisscom reported higher churn and more migration to its lower-priced Wingo brand [2H, Investing.com on the Q2 2026 results]. That is churn into your own flanker brand, so define the dependent variable at brand or group level before you model it. We deliberately do not cite IIA tests here, because an earlier claim about their performance was not verified.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multilevel logit nests customers in countries and lets intercepts, and possibly slopes, vary randomly by country. It is tempting for a multinational operator, but it needs many countries. With 4 countries a multilevel logit would estimate customer-level effects reliably but country-level quantities (country predictors, the country variance) unreliably (Bryan and Jenkins 2016, from the earlier deck research). So use country fixed effects (dummies), as in the pooled model of Part 4, which absorb country differences instead of explaining them. The figure of 25 to 30 countries is a rough rule of thumb, not an exact result of that paper; the earlier research notes disagreed on the threshold. Samaha, Beck and Palmatier (2014) are an example of the scale, 36 countries in a meta-analysis, at which culture moderation of relationship marketing has been tested; they set no threshold. The callout shows the typical cross-level question: Frank et al. (2015) used a hierarchical linear model on six countries and ten industries and found that country-level individualism strengthens the effect of satisfaction on repurchase intent [ABSTRACT]; with so few countries, such a result needs a random slope and cautious reading. Remember that multilevel logit coefficients are cluster-specific, not population-averaged, so they are not directly comparable with a pooled logit. The frontiers search (October 2026) found no peer-reviewed churn study with customers nested in countries and country random effects; hierarchical work exists within one market. Call it a gap in our search, not proof of absence; it is one of the thesis niches on slide 54.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is the centre of the session: it resolves the warm-up on slide 4, where the month-to-month coefficient looked larger in Germany than in Spain. Students learn that a cross-national churn model has two separate comparability problems. The first is a measurement problem: survey scores such as the satisfaction score may not mean the same in every country. The second is a scale problem: logit coefficients are measured in units of each country's unexplained variation, and this holds even with perfect measurement. Each problem needs its own remedy, and the part ends with the quantities that can be compared across countries (slide 30).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two layers as a map for the next five slides: slides 26 and 27 cover layer 1, slides 28 to 30 cover layer 2. Layer 1 is about the inputs: does a satisfaction score of 4 mean the same in Spain and in Germany? That is a question of measurement invariance, which Steenkamp and Baumgartner (1998) test step by step with multigroup confirmatory factor analysis. Layer 2 is about the output: a logit coefficient is the true effect divided by the scale of the unexplained variation, and that scale differs by country (Allison 1999; Mood 2010). Probabilities and marginal effects do not remove the scale, they sidestep it, because they do not depend on how the coefficients are scaled. The two figures at the bottom of the cards preview slides 27 and 28. Researchers are usually told to fix layer 1 and rarely layer 2, although layer 2 remains even when every survey item is perfectly invariant. The research for this session found no marketing paper that models response styles and the logit scale together in a cross-national logit; this is an inference from the literature searches, not a published result, and it is thesis niche 5 on slide 54.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findings show why satisfaction scores need checking before they are compared across countries or groups. Baumgartner and Steenkamp (2001) studied representative consumer samples in 11 EU countries and found five response styles, namely acquiescence, disacquiescence, extreme responding, midpoint responding and noncontingent responding, which bias scale scores and can push correlations up or down [ABSTRACT]. Morgeson et al. (2011) used about 257,000 interviews from 19 nations: satisfaction is higher in traditional and in self-expression societies, and per capita GDP lowers it [ABSTRACT]. Mittal and Kamakura (2001) show with 100,040 car buyers that thresholds and response bias differ by customer group (customer groups, not countries), and in one group rated satisfaction is uncorrelated with repurchase [ABSTRACT]. He, Merz and Alden (2008) found that only 28 % of 243 cross-national marketing articles tested measurement invariance (Tier B, from the earlier deck research); Harzing (2006) adds that response styles in 26 countries go with power distance and uncertainty avoidance (Tier B). The callout gives the invariance hierarchy of Steenkamp and Baumgartner (1998): configural invariance means the same factor structure, metric invariance allows comparing relationships such as a satisfaction coefficient, and scalar invariance is needed before comparing mean scores across countries. A single-item satisfaction score, as in our data, cannot be tested at all, which is one more reason for multi-item scales.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generator, true satisfaction is drawn the same way in every country: it is lower with complaint calls and after a price rise, and these follow the same distribution everywhere. The observed score is centre plus spread times true satisfaction, rounded and clipped to 1 to 5: Germany and Austria have centre 3.0 and spread 0.85, Spain 3.5 and 1.25, Poland 3.2 and 1.0. This mimics a positivity and extreme-response style in Spain, an assumption of the simulation, not a documented fact about Spanish respondents; real country patterns must be tested. So 20.3 % of Spanish customers answer 5 against 4.0 % in Germany, 5.1 times as many, and the mean score is 3.35 against 2.96, although Spanish customers are not more satisfied on average. One scale point therefore stands for less true satisfaction in Spain, and the coefficient per point is weaker there (−0.26 against −0.47). The scale of the next slide adds to this: in the simulation the wider spread of Spanish answers alone shrinks the coefficient per point by the factor 0.68, the larger unexplained variation by 0.67, so the two layers contribute about equally (the estimated ratio, 0.55, is less extreme than the product of the two factors because rounding, clipping to 1–5 and sampling error distort the scores differently by country). Remedies are invariance tests with multi-item scales, or within-country standardisation (z-scores by country, qmd Step 5); standardising is right here because true satisfaction is equal by construction, but in real data it also removes genuine level differences, which is why the invariance tests matter. The same response style also hurts a model transferred from Germany to Spain (slide 43).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latent-variable view, each customer has a churn propensity: country intercept plus 1.3 times month-to-month plus the other drivers plus unexplained variation, and the customer churns when the propensity is above zero. A logit can only estimate the effects relative to the scale of that unexplained variation, so the coefficient is roughly the true effect divided by the scale. Spanish churn depends on more unobserved factors (scale 1.5), so the same true effect gives 1.3 / 1.5 ≈ 0.87, estimated 0.81. Even Germany's 1.19 falls short of 1.3: the model omits true satisfaction and the retention offer, and omitted heterogeneity shrinks logit coefficients even when it is unrelated to the regressor (Mood 2010); sampling error does the rest. A naive test of the Germany–Spain gap in coefficients gives z = 2.76, which looks significant although the true effect is identical by construction: Allison (1999) shows that unequal residual variation invalidates such group comparisons. The remedies: compare probabilities (next two slides); model the variance with a heterogeneous-choice or location-scale logit (Williams 2009, Stata oglm), which identifies the scale only under the assumption that (some) true effects are equal across countries; and for comparing nested models the KHB decomposition of Karlson, Holm and Breen (2012). The warm-up is resolved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back to the warm-up on slide 4 and to the S-curve on slide 10. The coefficients put Germany first and Spain last (DE &gt; AT &gt; PL &gt; ES); the average marginal effects put Spain first (ES &gt; PL &gt; DE &gt; AT). Two forces are at work. The scale shrinks the Spanish coefficient, and the baseline works the other way: at 34.7 % churn the slope of the S-curve, p(1 − p), is 0.227 against 0.130 at 15.4 % in Germany, so a small shift in log-odds moves the Spanish probability about 1.7 times as much. The lines on the bars are 95 % confidence intervals: the coefficients of Germany and Spain differ clearly (z = 2.76), the AMEs do not (difference 2.1 pp, z = 0.90, 95 % CI −2.5 to 6.8 pp): the data show no difference on the probability scale, and no evidence that the effect is smaller in Spain. The ranking among Spain, Poland and Germany is within sampling error; in a large run of the generator (300,000 customers per country) the true AMEs are 16.7 pp in Germany, 15.8 pp in Austria, 17.6 pp in Spain and 18.9 pp in Poland (PL &gt; ES &gt; DE &gt; AT). Ask: which number goes into a board memo? Cross-check with quiz question 2 on slide 51.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quantities can be compared across countries. First, AMEs and predictions by country: Long and Mustillo (2021) show that group comparisons with predictions and marginal effects are unaffected by how the coefficients are scaled. They are comparable in units, but they still depend on each country's baseline and covariate mix (share on month-to-month contracts, tenure), so a different AME is not proof of a different behavioural response. And AMEs and predictions are only as good as the model that produces them: for the comparison use models with country-specific slopes (slides 28 and 29). The pooled model forces one coefficient (0.96) on all countries although the scales differ, so its country AMEs (12.4 pp in Germany, 20.1 pp in Spain) overstate the gap: the separate models give 15.2 and 17.3 pp, and the true AMEs of the large simulation are 16.7 and 17.6 pp. The tile therefore illustrates how baselines alone move AMEs, not the right estimate; the pooled numbers are the ones of slide 36 (qmd Steps 2, 3 and 7), and the profile predictions on this slide come from the separate country models. Second, ratios of coefficients within one model, because the scale cancels; Swait and Louviere (1993) note that identical true parameters estimated with unequal variances "will necessarily differ in magnitude", and their relative-scaling test separates same parameters from same scale. Ratios cancel the scale only if the model is right: in our data every ratio of price rise to month-to-month is above the true 0.6 / 1.3 ≈ 0.46, because omitted true satisfaction is related to price rises, and the country ratios (0.54 to 0.70) differ mainly by sampling error, so we do not show them. Counterpoint for discussion: Kuha and Mills (2020) argue that the concern is often misplaced when the interest is the observed outcome rather than the latent propensity; verify the reference before citing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turns the comparison problem of Part 3 into a reporting standard. Students learn the standard that methods papers in strategy, international business and marketing converge on: report average marginal effects and predictions with confidence intervals, read interactions on the probability scale, and say why a coefficient may not be causal. We first read the pooled churn table, then see the three quantities to report, work through an interaction in our data, and practise it in Python with logit_churn.qmd. The part ends with a checklist for theses and papers and a slide on endogeneity.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churn formula plus C(country, Treatment('DE')), fitted on all 11,000 customers (qmd Step 2). Read the columns from left to right: the sign of the coefficient gives the direction, the p-value whether the coefficient is distinguishable from zero, and the odds ratio a multiplier of the odds that is readable within this model. Each complaint call multiplies the odds of churn by 1.57, that is, raises them by 57 %; tenure enters in logs, so doubling tenure multiplies the odds by 2 to the power −0.240, which is 0.85. The country dummies are the fixed effects of slide 23: Spain's 2.88 is the odds ratio of the Spanish baseline against Germany, not a driver of churn, and Austria's 0.99 (p = 0.907) says Austria and Germany have the same baseline. The contract coefficient 0.962 is one number for all four countries, which forces equal slopes on the log-odds scale; slide 35 relaxes this with an interaction. The price-rise coefficient has a causal reading only because price rises were assigned at random in the simulation, and even then it is the direct effect, net of the complaint calls that price rises also cause (slide 38). The drivers themselves come from the literature of slide 17. How many percentage points the contract adds is not in this table: that needs the AMEs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quantities, three uses. The odds ratio multiplies the odds and is fine inside one model, for example 2.62 for the month-to-month contract in the pooled model, but it misleads when churn is common, because odds and probabilities then drift apart (slide 15). The average marginal effect (AME) is the average change in churn probability, in percentage points, and can be compared across models and countries. The example on the card comes from the interaction model of slide 35, which lets the contract slope differ by country: 14.2 pp in Germany and 17.9 pp in Spain. The pooled model of slide 32 gives 12.4 pp and 20.1 pp (slide 30). The pooled model forces one slope on all countries; with different scales this overstates the country gap. For comparisons use country-specific slopes: the interaction model on slide 35 or separate models (slides 28–29). The prediction is the churn probability for a profile: a month-to-month customer with a price rise, one complaint call and 12 months of tenure. The card uses the separate country models of slide 30: 38.1 % [34.1, 42.2] in Germany and 58.0 % [54.0, 62.0] in Spain; the pooled model (qmd Step 7, slide 36) gives 35.1 % and 60.9 %, a gap that is too wide for the same reason as its AMEs. Wiersema and Bowen (2009) stress that the significance of a marginal effect must be computed, not read off the coefficient; Zelner (2009, Tier B) recommends reporting differences in predicted probabilities for meaningful changes of a variable; Hoetker (2007) lists interpretation as the first of four problem areas. Arel-Bundock's Model to Meaning (2026, Tier B) is free at marginaleffects.com and is the best follow-up reading.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and Norton (2003) show that in a logit or probit the interaction effect on the probability is a cross-partial derivative: it varies from customer to customer, it can be non-zero when the product coefficient is zero, it can even have the opposite sign, and the p-value of the product term does not test it. Mize (2019) turns this into three steps: plot predicted probabilities across the moderator, test marginal effects at chosen values of the moderator, and compare them with second differences. The product coefficient is still a valid ratio of odds ratios, so first decide whether your hypothesis is about odds or about probabilities; managers almost always mean probabilities. Churn papers use interactions often: Gustafsson et al. (2005) let prior churn moderate the effect of satisfaction, and Gao et al. (2023) find that lock-in reduces churn by about 48 to 49 % when the affective experience is poor [ABSTRACT]; read such effects on the probability scale. The next slide walks the three steps in our data.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walk Mize's three steps with the interaction model, churn ~ monthly * C(country, Treatment('DE')) plus the other drivers, fitted on all customers (qmd Step 6). Step one is the plot: for each country we average the predicted churn of its customers with the contract set to 24-month and to month-to-month, 10.2 % to 24.3 % in Germany and 26.3 % to 44.2 % in Spain; these labels are rounded, so the gaps, computed from unrounded values, can differ from the difference of the labels by 0.1. Step two gives the AMEs: 14.16 pp in Germany and 17.93 pp in Spain. Step three is the second difference, +3.77 pp, with a bootstrap 95 % confidence interval of [−0.66, +7.20] pp (200 resamples of customers within country, qmd Step 6). The product term is −0.245 (p = 0.047), negative because the interaction model fits Spain's smaller slope on the log-odds scale, which is the scale effect of slide 28; the probability effect points the other way because Spain's baseline is closer to 50 % where the S-curve is steepest. Read it as the qmd does: the data show clearly that the product term misleads about the sign, but only weakly that the contract matters more in Spain, because the interval includes zero. Quiz question 3 on slide 51 comes back 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smf.logit works like smf.ols: a formula, the data, fit. get_margeff(dummy=True) returns average marginal effects in probability units and treats month-to-month as a 0/1 switch rather than a small change. ame() is the helper defined in the qmd: it predicts every customer once with monthly = 1 and once with monthly = 0 and averages the difference within each country, the equivalent of avg_comparisons in R's marginaleffects. It returns proportions in alphabetical order of the countries (AT 0.123, DE 0.124, ES 0.201, PL 0.173); multiply by 100 for percentage points: 12.3 pp in Austria, 12.4 in Germany, 17.3 in Poland and 20.1 in Spain. get_prediction(profiles).summary_frame() gives the profile probabilities with a 95 % confidence interval, 35.1 % in Germany and 60.9 % in Spain, and plotnine draws the curve of predicted churn by tenure and country. Every number on this slide is in ch_numbers.txt and printed by logit_churn.qmd, Steps 2, 3 and 7. The pooled model forces one slope on all countries; with different scales this overstates the country gap. For comparisons use country-specific slopes: the interaction model on slide 35 or separate models (slides 28–29); here ame() only shows how the function works.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part of the deck, so the checklist doubles as a summary. Hoetker's (2007) four problem areas, interpreting coefficients, modelling interactions, comparing groups and assessing fit, are its backbone. Focal effects and moderation come from this part (slides 33 to 35, Mize 2019), the country rows from Part 3: Long and Mustillo (2021) for AMEs by country, Williams (2009) for the heterogeneous-choice logit, which models the country scale, and Steenkamp and Baumgartner (1998) for invariance tests of survey measures. The last row goes back to slide 23: with four countries use country fixed effects, and claims about country-level variables need about 25 to 30 countries (Bryan and Jenkins 2016, Tier B). The evaluation and targeting rows point to Part 5 (slides 40 to 45): accuracy at a 0.5 cut-off says little when most customers stay, and a risk score is not the effect of an offer (Ascarza 2018). Hosmer–Lemeshow tests are over-powered in large samples, so prefer the calibration plot of slide 42. Ask students to use the table as a checklist for their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telco_churn.csv price rises and the retention offer were assigned at random, so their coefficients are causal in the simulation (for the price rise: the direct effect, net of the complaint calls it causes; slide 32); in company data they rarely are. Firms raise prices where they expect little churn, and CRM teams send offers to the customers the model flags as high-risk, so a coefficient mixes selection and effect. Reme et al. (2022) studied Norwegian mobile customers who received notice of a future price change in a consolidation of plans: among customers whose costs would fall, monthly churn rose from 1 % to 1.6 %, right after the notice rather than when the price changed, so the letter itself moved customers [ABSTRACT]. The fix is design: randomise with a control group, as in our retention-offer pilot (slide 45), or argue an instrument; with a binary treatment such as a price rise or an offer and a binary outcome, the instrumental-variable version is a recursive bivariate probit, and plugging first-stage fitted values into a logit is not consistent. Wolfolds and Siegel (2019, Tier B) found that only 54 of 165 strategy papers claimed a valid exclusion restriction for Heckman models. A practice example of confounded events: Antenna (as reported by StreamTV Insider) found that Disney+ churn went from 4 % in August to 8 % in September 2025 and Hulu churn from 5 % to 10 %, around a price-rise announcement and the suspension of Jimmy Kimmel's show, and called the attribution unclear [2H]. Without a design you cannot attribute a churn spike to price.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have read coefficients and marginal effects; now we use the model as a retention manager would. The questions change from “what drives churn?” to three decisions: who gets called, how many customers we call, and whether the call changes anything. We first evaluate the model on customers it has not seen (slides 40 to 42), then ask whether a model from one country works in another (slide 43), turn predictions into campaign profit (slide 44) and finally use the randomised retention-offer pilot to show that the customers most likely to leave are not always the ones the offer saves (slide 45). The part closes with the Python code (slide 46) and the European rules that limit what a retention team may do (slide 47). Every number on these slides comes from simulated data.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is random: 70 per cent of the customers train the model, 30 per cent test it (seed 1), which gives 3,284 test customers with a churn rate of 24.2 %. The evaluation model is the churn formula plus satisfaction and country dummies. At the default threshold of 0.5 the model flags only 8.6 per cent of the customers and misses 78 per cent of the churners (recall 0.220, precision 0.623), yet its accuracy of 77.9 per cent beats the rule “nobody churns” by only 2.1 percentage points: with imbalanced outcomes (slide 5) accuracy is the wrong yardstick for churn. Elkan (2001) shows that the cost-minimising threshold is C_FP / (C_FP + C_FN), with both costs measured net of the gain from a correct decision; with the economics of slide 44, C_FP = c + δ = €33 and C_FN = γ(LTV − δ) − c = €89.5, which gives 0.27, the same threshold as p* on slide 44. A missed churner costs far more than a wasted offer, so the threshold sits well below 0.5. A churn model is used next quarter, so out-of-time validation (fit on earlier months, score later ones) is better practice than a random split; Neslin et al. (2006) scored the tournament entries also on a sample collected later [ABSTRACT], and Risselada et al. (2010) show that performance decays within a few periods [ABSTRACT]. Our simulated file has no snapshot months, so we use a random split. Ask the room before revealing the stat rows: is 77.9 per cent accuracy good?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AUC is the Mann–Whitney probability: pick one churner and one stayer at random, and the model gives the churner the higher predicted churn probability in 76 per cent of such pairs (0.764); 0.5 is a coin flip. Gini = 2·AUC − 1 = 0.529. Some papers compute a Gini from the gains curve instead, which equals (1 − π)(2·AUC − 1) with π the churn rate, so check which one a paper reports before comparing numbers (which normalisation Neslin et al. use was not checked). Neslin et al. (2006) scored the churn tournament on top-decile lift and Gini (slide 18): our top decile churns at 59.5 % against 24.2 % overall, a lift of 2.46. The gains chart translates this into a budget: calling the top 10 per cent reaches 24.6 % of all churners, about a quarter, and the top 30 per cent reaches 57.3 %, more than half. Both measures rank customers; neither says whether the predicted probabilities are right (next slide) or whether calling them pays (slide 44).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Discrimination (AUC, lift) says whether the model ranks customers well; calibration says whether a predicted 30 per cent means that about 30 per cent of such customers churn. Van Calster et al. (2019) call calibration the Achilles heel of predictive analytics. The chart groups the test customers into ten equal deciles of predicted churn. The points lie close to the diagonal on average (slope 1.06, intercept 0.06); deciles 7 and 9 are under-predicted by 5 and 8 percentage points, and a Hosmer–Lemeshow test on these deciles gives χ² = 18.6 with 8 degrees of freedom (p = 0.017), so the fit is good on average but not perfect bin by bin. The Brier score is the mean squared error of the probabilities: 0.152, against 0.183 for predicting 24.2 % for everyone. Calibration is this good because test and training customers come from the same period and the same countries; out of time or in another country it is not (next slide). Undersampling or oversampling to 50/50 leaves the slopes and the AUC almost unchanged but shifts the intercept and inflates every probability; the prior correction of King &amp; Zeng (2001) subtracts ln[((1 − τ)/τ)·(ȳ/(1 − ȳ))] from the intercept, with τ the population churn rate and ȳ the churn share in the sample. Van den Goorbergh et al. (2022) found that imbalance corrections harmed calibration without improving the AUROC, and Verbeke et al. (2012) found across eleven telecom data sets that oversampling generally does not help [ABSTRACT].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fit the churn formula plus satisfaction on the German training customers only and score the test customers of every country; for comparison each country also gets its own model, fitted on its own training customers. In Spain the German model ranks customers almost as well as Spain's own model (AUC 0.709 vs 0.718), but it predicts 15.7 % churn where 35.2 % of the Spanish test customers churn; in Poland it predicts 17.4 % against 29.0 %. In Austria the German model works (AUC 0.775 vs 0.782, 15.1 % vs 16.2 %). The German model knows German baselines and German satisfaction scores; Spain has a higher baseline, more unexplained variation and a different response style (slide 27), a mix of covariate and concept shift. Simester et al. (2020) show that model-driven targeting loses its advantage under such shifts; their setting is prospecting, not churn, but it is the closest top-journal evidence on portability, and Risselada et al. (2010) show the same decay over time within one market. The fix is cheap: re-estimate the intercept (or a country dummy) on local data, check calibration per country and watch for drift. We found no top-journal study that tests churn-model transfer across countries: thesis niche 2 on slide 54. Ask: would you use the German model to set the Spanish retention budget?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campaign-profit formula follows the framework of Neslin et al. (2006): N customers, a share α contacted, β₀ the base churn rate, λ the lift of the contacted group, γ the share of would-be churners who accept the offer and stay, c the contact cost and δ the cost of the offer, which is paid also by every contacted non-churner (all are assumed to take it); the fixed cost A is set to 0. The symbols are reconstructed from the literature, so check them against the paper before quoting it, and p* is derived from the same formula per customer. Profit is linear in lift, which is why Neslin et al. link top-decile lift to money. The chart ranks the test customers by predicted churn and adds them one by one: profit peaks at €25.3k when 39 per cent are contacted, calling the top 10 per cent earns €13.1k, and calling everyone loses €11.1k. The per-customer rule “contact if p &gt; p*” gives p* = 0.27, the Elkan threshold of slide 40 with these costs; it needs calibrated probabilities (slide 42) and here puts 33 per cent of the customers above p*, close to the empirical optimum of 39 per cent. Verbeke et al. (2012) introduced the maximum-profit criterion for choosing churn models, and Verbraken et al. (2013) the expected maximum profit with an uncertain acceptance rate γ (R package EMP). Lemmens &amp; Gupta (2020) go one step further and rank customers by the incremental profit of the offer: the bridge to the next slide. The economics (LTV €400, γ = 0.25, δ = €30, c = €3) are invented for teaching; slide 6 shows why published retention-economics claims need checking.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pilot half of the customers were picked at random for the retention offer, so within each group the difference in churn between customers with and without the offer is the offer's effect (uplift; negative means fewer churners). The risk score comes from a model fitted only on customers without the offer, so the offer cannot contaminate it (slide 38 explains why targeted offers confound). The offer lowers churn least in the lowest-risk quartile (−3.3 pp), most in the third (−11.1 pp) and slightly less again in the highest (−10.2 pp). The difference Q4 − Q3 is +0.9 pp (95 per cent CI −4.0 pp to +5.8 pp), so read it as “the top quartile gains no more than the third”, not as a proven drop. Relative to their churn without the offer, the offer removes about 41 per cent of the churners in Q1, about 35 per cent in Q3 and only 19 per cent in Q4. In the simulation the offer works for customers without complaints, less with every complaint call and not at all from three calls on. The +8.2 pp for three or more complaint calls rests on only 377 customers (190 without and 187 with the offer); its 95 per cent interval runs from −1.9 pp to +18.3 pp and includes zero, so the data cannot tell help from harm; in the simulation the true effect is zero. These customers are not lost causes in the sense of certain churners: 44 per cent of them churn without the offer; they simply do not respond to it. An uplift model with offer × (complaints, contract) interactions gives a mean effect of −7.65 pp. Its correlation with predicted risk is −0.49: because uplift is negative when the offer helps, a negative correlation means that higher-risk customers tend to get larger reductions, but far from one to one, so ranking by risk is not ranking by uplift. Practitioners speak of persuadables, sure things, lost causes and sleeping dogs (Stochastic Solutions white paper, January 2019 [P, practitioner]); the same white paper describes a telecom retention campaign that made a net loss because contacting 'sleeping dogs' triggered churn [2H]. Booking.com's lesson from 150 deployed models is the same in general form: model performance is not business performance, so every model is tested in a randomised experiment (Bernardi et al., KDD 2019, as summarised in The Morning Paper [2H]). Ascarza (2018) shows with two field experiments that targeting by sensitivity to the offer beats targeting by risk [ABSTRACT]; Devriendt et al. (2021) find that uplift models beat churn prediction on campaign profit in a financial-services case; Lemmens &amp; Gupta (2020) and Yang et al. (2024) take the idea to profit and long-term outcomes. Quiz question 5 (slide 51) and exercise task 4 (slide 53) return to the pilot. Ask: if you can call only one quartile, which one?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code of qmd Steps 8, 9 and 12, line for line. The split draws one uniform random number per customer with seed 1 and sends those below 0.3 to the test set (3,284 customers). The evaluation model is fitted on the training customers only and scores the test customers; the top-decile lift is the churn rate of the 10 per cent with the highest predictions divided by the overall churn rate (2.46). Two test customers share the predicted probability at the top-decile cut, so the sort algorithm decides which one is in: numpy's default sort gives 2.46, a stable sort 2.47; ties at the cut can move lift in the second decimal. For the pilot, the risk model is fitted only on the control customers, so that the offer does not contaminate the risk score; the last lines cut that score into quartiles and tabulate churn without (0) and with (1) the offer in each quartile, a fair comparison because the offer was randomised. The qmd (Steps 8 to 13) prints the evaluation, calibration, profit, transfer and uplift numbers of slides 40 to 45; a few extra checks quoted only in the notes, such as the Q4 − Q3 difference and the Hosmer–Lemeshow test, come from fig_part5.py.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row by row and ask after each row what it does to a churn model: which predictor it creates, which action it forbids. The European Electronic Communications Code (Directive (EU) 2018/1972) caps the commitment period at 24 months (Art. 105(1)), lets customers leave with at most one month's notice after an automatic prolongation (Art. 105(3)) and gives an exit right when the provider changes the contract (Art. 105(4)); these articles and the GDPR articles are quoted from the statutory text as known and were not re-checked online [L]. Germany added the cancellation button of § 312k BGB for online continuing contracts from 1 July 2022 [P/2H]. The Federal Court of Justice (BGH, I ZR 200/25, 16 July 2026, vzbv v. FitX, a gym contract) held that the confirmation page after the button may not show a prominent offer to pause the contract instead of cancelling; this comes from the vzbv press release and LTO, the full reasons were not read [2H]. GDPR (Regulation (EU) 2016/679) Art. 21 gives an absolute right to object to profiling for direct marketing, and Art. 22 limits decisions based solely on automated processing with legal or similarly significant effects. A churn score that only triggers a discount e-mail is unlikely to have such an effect, one that sets prices or contract terms might (our interpretation, not legal advice). The EU AI Act lists credit scoring (Annex III, point 5(b)) and risk assessment and pricing in life and health insurance (point 5(c)) as high-risk [L]; a marketing churn model is not listed in our reading, and the stand-alone Annex III obligations have been postponed to 2 December 2027 by the Digital Omnibus [2H, check the Official Journal]. In the USA the FTC click-to-cancel rule was vacated in full by the Eighth Circuit on 8 July 2025 in Custom Communications v. FTC [P, law-firm alerts]; ROSCA and state auto-renewal laws still apply. Further contrasts for discussion: the UK FCA ban on price walking in home and motor insurance (PS21/5, in force January 2022) [P/2H]; the Ofcom ban on inflation-linked price-rise terms in new mobile and broadband contracts since 17 January 2025 [2H]; the CJEU SCHUFA judgment (C-634/21, 7 December 2023), which treats a score as an automated decision when a third party's decision depends decisively on it, there credit scores supplied to lenders [P, judgment summaries]; and the EU Digital Fairness Act proposal expected in Q4 2026 [2H]. This is the lecturer's teaching summary, not legal advice; check the primary texts before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last part hands the method over to you. First we look at open churn datasets you can use for your own analysis, and at the traps they hide. Then you test yourselves with a five-question quiz that covers the whole session, and you work in pairs on the four-country exercise with telco_churn.csv. We close with open niches for theses, recent research frontiers, the key takeaways and the reading list. Keep the rule of the day in mind: compare probabilities across countries, not coefficients, and target the customers the offer changes, not the ones most likely to leave.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datasets cover what you need for exercises and term papers; the links and the polars loading code are in sessions/01-foundations/churn_readings_and_data.md. The licence column decides what may go into a public repository. Of the files in this table, only the course file, Online Retail II and Hotel Booking Demand may be redistributed, the last two under CC BY 4.0 with attribution (Chen 2019; Antonio, de Almeida &amp; Nunes 2019). IBM Telco sits in an Apache-2.0 code repository, but IBM never published a data-specific licence, so attribute IBM and treat it as not formally cleared. The bank file Churn_Modelling has no stated licence and is almost certainly simulated, so it is linked, never committed; the Eurobarometer data are free with a GESIS login for research and teaching but may not be passed on. Cell2Cell (the Neslin et al. 2006 tournament data), Orange KDD Cup 2009, KKBox and Sparkify have no open licence either: link only. UCI Iranian Churn (ID 563) is listed as CC BY 4.0, but the licence line was not verified live. For an international angle: Churn_Modelling has a large Germany effect (odds ratio 2.13 after controls, computed by the research agent on the file), Hotel Booking covers 178 countries of origin, and Flash Eurobarometer 243 is the only real multi-country switching survey we found.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on this slide were computed on the public files by the dataset research on 27 October 2026; they describe those files, not our simulated data. Leakage: reservation_status and its date record the outcome in Hotel Booking, and Churn Score and Churn Reason in IBM's extended 33-column file leak the target, so drop them before you fit. Separation: in Churn_Modelling, NumOfProducts is non-monotone, with churn of 27.7, 7.6, 82.7 and 100 per cent for one to four products; enter it as categories and expect separation warnings for the four-product group. Collinearity: IBM's TotalCharges is almost exactly tenure times MonthlyCharges, and its 11 blank values (all customers with tenure 0) make polars read the column as text. Label definition: with the 2009–10 sheet of Online Retail II, a cut-off of 1 July 2010 and a 161-day window, 31.6 per cent of 2,975 customers churn; another cut-off or window gives another rate and other coefficients. Thin cells: besides the UK, only Germany and France have 20 or more customers, so country effects are imprecise; in Hotel Booking the very high cancellation rate of Portuguese bookings is probably partly an artefact of how origin is recorded. Churn_Modelling looks simulated, because EstimatedSalary is uniform on 0 to 200,000 and uncorrelated with churn, the evidence behind the callout: fine for learning, but say so in your report, as we do for telco_churn.csv.</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 Question 1 goes back to Part 1 (slide 15), question 2 to the warm-up (slide 4) and Part 3 (slide 29), question 3 to the interaction in Part 4 (slide 35), question 4 to the multinomial logit in Part 2 (slide 22) and question 5 to the retention-offer pilot in Part 5 (slide 45).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for 35 minutes with telco_churn.csv and the code in sessions/01-foundations/logit_churn.qmd; the stepper shows the time for each block. Task 1 reuses Step 2 of the qmd, task 2 Steps 3 and 4, task 3 Step 9 (and Step 10 for the calibration plot), and task 4 Step 12 with the randomised retention-offer pilot. Check after ten minutes that every pair has a pooled model with Germany as the reference country. Fast pairs can repeat Step 13 with Poland as the training country. Debrief: which number would you put in a board memo, and why?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niche is a gap documented in our research notes, not a claim that no study exists anywhere. No peer-reviewed multilevel churn study across countries was found; within one market, hierarchical work exists, and Bryan &amp; Jenkins (2016) show why a few countries cannot support country-level effects. Transfer of churn models across countries (our small version is slide 43) appears only in low-tier venues, and the best top-journal evidence on portability comes from a prospecting problem (Simester et al. 2020). Uplift across countries builds on Lemmens &amp; Gupta (2020) and on our pilot on slide 45: compare a country-aware uplift logit with a pooled one in campaign profit. No peer-reviewed causal study of subscription pausing was found (vendor data only), and since the BGH ruling of 16 July 2026 (I ZR 200/25) German law restricts where a pause option may appear (slide 47; second-hand legal sources, written reasons not yet available [2H]); Einav et al. (2025) show how much cancellation friction matters. Niche 5 follows from Part 3 (slides 25 to 30) rather than from a search gap; start from Baumgartner &amp; Steenkamp (2001) and Williams (2009). Data ideas: partner data from a multinational operator covering 15 or more markets for niche 1, since four countries are too few for country-level inference (slide 23); the bank file Churn_Modelling (France, Germany, Spain) for niche 2 (train on France, test on Germany and Spain) and, with a semi-synthetic randomised treatment, for niche 3; a vignette experiment in Germany, Austria and one non-EU market for niche 4. More niches are in the guide: a cancellation friction audit replicating Sheil et al. (2024), fair and explainable targeting under GDPR and the AI Act (Ascarza &amp; Israeli 2022; Kozodoi et al. 2022), multilingual LLM text features, and prepaid and network churn in emerging markets (Ferreira et al. 2019).</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lines of recent research that go beyond today's methods; all are peer-reviewed and listed with DOIs in section 3.7 of churn_readings_and_data.md, and the numbers are from the abstracts [ABSTRACT]. Profit, not risk: Lemmens and Gupta (2020) rank customers by the incremental effect of the offer on churn and cash flows, net of its cost, and estimate that one campaign raised firm profit by at least 4 per cent; Yang et al. (2024) learn a targeting policy for long-term outcomes from short-term surrogates in two Boston Globe experiments, worth about US$4 to 5 million over three years. Inertia and friction: Einav, Klopack and Mahoney (2025) show with payment-card data that cancellations spike when cards are replaced and that cancellation frictions roughly double seller revenues, so some of the zeros in a churn logit are inert rather than loyal customers; Sheil et al. (2024) audited cancellation flows of news websites in four countries, and Luguri and Strahilevitz (2021) show how strongly dark patterns work. Portability: Simester, Timoshenko and Zoumpoulis (2020) find that model-driven targeting loses its advantage under covariate and concept shift, the problem of slide 43. Fairness: Ascarza and Israeli (2022) show that dropping protected attributes does not remove bias in personalised policies and can even increase it; nationality and country of residence matter in international CRM, and Kozodoi, Jacob and Lessmann (2022) discuss fairness and profit for the credit-scoring sibling of churn models. Text and LLMs: De Caigny et al. (2020) find that text from customer contacts improves churn prediction but does not replace structured predictors; Vo et al. (2021) use about two million transcribed calls. Networks: Ferreira, Telang and De Matos (2019) estimate with instrumental variables that each friend who churns raises a user's monthly churn by 0.06 percentage points on a 2.15 per cent baseline, which violates the independence assumption of a plain logit. Each line is also a possible thesis direction (slide 54).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each tied to its part. Part 1 (slides 11 to 15): the same odds ratio adds few percentage points at a low or a very high baseline and most near 50 per cent, so always say the baseline. Part 2 (slides 20 to 23): the question picks the model, a binary logit for whether customers churn, a discrete-time hazard logit for when, and a multinomial logit for where they go. Part 3 (slides 25 to 30): response styles distort the satisfaction scores, and the logit scale distorts the coefficients, so country comparisons need both fixes. Part 4 (slides 33 to 35): report AMEs and predictions with confidence intervals, and interactions as second differences on the probability scale. Part 5 (slides 40 to 45): judge the model by lift, calibration and campaign profit, and give the offer to the customers it changes, not to the riskiest. The qmd reproduces the model results; the figure scripts slides/logit_churn/fig_part*.py hold the remaining simulated numbers. Run the qmd before the next class.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core sources of the session; the full list with DOIs, one-line takeaways, practice sources and datasets is in sessions/01-foundations/churn_readings_and_data.md. The methods card covers comparing logit coefficients across groups (Allison 1999; Mood 2010; Long &amp; Mustillo 2021), interactions (Ai &amp; Norton 2003; Mize 2019), logit practice in management research (Hoetker 2007) and the scale parameter (Swait &amp; Louviere 1993). The churn card covers prediction and its evaluation (Neslin et al. 2006; Verbeke et al. 2012), targeting by uplift (Ascarza 2018; Lemmens &amp; Gupta 2020), satisfaction and loyalty across countries (Aksoy et al. 2013) and response styles (Baumgartner &amp; Steenkamp 2001). Recommended pre-reading: Ascarza et al. (2018), the review by churn researchers and practitioners (open access via LBS Research Online). Abbreviations on the slide: SMR Sociological Methods &amp; Research, ESR European Sociological Review, SMJ Strategic Management Journal, JMR Journal of Marketing Research, EJOR European Journal of Operational Research, J Interact Mktg Journal of Interactive Marketing.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15.png"/><Relationship Id="rId5"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7.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30.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44.png"/><Relationship Id="rId4"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4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4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Logistic regression across countries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Learning objectives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bjective band 1"/>
          <p:cNvSpPr/>
          <p:nvPr/>
        </p:nvSpPr>
        <p:spPr>
          <a:xfrm>
            <a:off x="457200" y="1234440"/>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Objective 1" descr=""/>
          <p:cNvPicPr>
            <a:picLocks noChangeAspect="1"/>
          </p:cNvPicPr>
          <p:nvPr/>
        </p:nvPicPr>
        <p:blipFill>
          <a:blip r:embed="rId3"/>
          <a:stretch>
            <a:fillRect/>
          </a:stretch>
        </p:blipFill>
        <p:spPr>
          <a:xfrm>
            <a:off x="621792" y="1344168"/>
            <a:ext cx="310896" cy="310896"/>
          </a:xfrm>
          <a:prstGeom prst="rect">
            <a:avLst/>
          </a:prstGeom>
        </p:spPr>
      </p:pic>
      <p:sp>
        <p:nvSpPr>
          <p:cNvPr id="12" name="Objective text 1"/>
          <p:cNvSpPr txBox="1"/>
          <p:nvPr/>
        </p:nvSpPr>
        <p:spPr>
          <a:xfrm>
            <a:off x="1115568" y="1234440"/>
            <a:ext cx="7452360" cy="530352"/>
          </a:xfrm>
          <a:prstGeom prst="rect">
            <a:avLst/>
          </a:prstGeom>
          <a:noFill/>
        </p:spPr>
        <p:txBody>
          <a:bodyPr wrap="square" lIns="0" rIns="0" tIns="0" bIns="0" anchor="ctr">
            <a:noAutofit/>
          </a:bodyPr>
          <a:lstStyle/>
          <a:p>
            <a:pPr algn="l">
              <a:spcAft>
                <a:spcPts val="400"/>
              </a:spcAft>
            </a:pPr>
            <a:r>
              <a:rPr sz="1400" b="1" lang="en-GB">
                <a:solidFill>
                  <a:schemeClr val="tx2"/>
                </a:solidFill>
              </a:rPr>
              <a:t>Read a churn logit:  </a:t>
            </a:r>
            <a:r>
              <a:rPr sz="1400" b="0" lang="en-GB">
                <a:solidFill>
                  <a:schemeClr val="tx1"/>
                </a:solidFill>
              </a:rPr>
              <a:t>odds, odds ratios and probabilities, by hand and in Python</a:t>
            </a:r>
          </a:p>
        </p:txBody>
      </p:sp>
      <p:sp>
        <p:nvSpPr>
          <p:cNvPr id="13" name="Objective band 2"/>
          <p:cNvSpPr/>
          <p:nvPr/>
        </p:nvSpPr>
        <p:spPr>
          <a:xfrm>
            <a:off x="457200" y="1856232"/>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Objective 2" descr=""/>
          <p:cNvPicPr>
            <a:picLocks noChangeAspect="1"/>
          </p:cNvPicPr>
          <p:nvPr/>
        </p:nvPicPr>
        <p:blipFill>
          <a:blip r:embed="rId4"/>
          <a:stretch>
            <a:fillRect/>
          </a:stretch>
        </p:blipFill>
        <p:spPr>
          <a:xfrm>
            <a:off x="621792" y="1965960"/>
            <a:ext cx="310896" cy="310896"/>
          </a:xfrm>
          <a:prstGeom prst="rect">
            <a:avLst/>
          </a:prstGeom>
        </p:spPr>
      </p:pic>
      <p:sp>
        <p:nvSpPr>
          <p:cNvPr id="15" name="Objective text 2"/>
          <p:cNvSpPr txBox="1"/>
          <p:nvPr/>
        </p:nvSpPr>
        <p:spPr>
          <a:xfrm>
            <a:off x="1115568" y="1856232"/>
            <a:ext cx="7452360" cy="530352"/>
          </a:xfrm>
          <a:prstGeom prst="rect">
            <a:avLst/>
          </a:prstGeom>
          <a:noFill/>
        </p:spPr>
        <p:txBody>
          <a:bodyPr wrap="square" lIns="0" rIns="0" tIns="0" bIns="0" anchor="ctr">
            <a:noAutofit/>
          </a:bodyPr>
          <a:lstStyle/>
          <a:p>
            <a:pPr algn="l">
              <a:spcAft>
                <a:spcPts val="400"/>
              </a:spcAft>
            </a:pPr>
            <a:r>
              <a:rPr sz="1400" b="1" lang="en-GB">
                <a:solidFill>
                  <a:schemeClr val="tx2"/>
                </a:solidFill>
              </a:rPr>
              <a:t>Choose the model:  </a:t>
            </a:r>
            <a:r>
              <a:rPr sz="1400" b="0" lang="en-GB">
                <a:solidFill>
                  <a:schemeClr val="tx1"/>
                </a:solidFill>
              </a:rPr>
              <a:t>binary, discrete-time hazard, multinomial or multilevel logit</a:t>
            </a:r>
          </a:p>
        </p:txBody>
      </p:sp>
      <p:sp>
        <p:nvSpPr>
          <p:cNvPr id="16" name="Objective band 3"/>
          <p:cNvSpPr/>
          <p:nvPr/>
        </p:nvSpPr>
        <p:spPr>
          <a:xfrm>
            <a:off x="457200" y="2478024"/>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Objective 3" descr=""/>
          <p:cNvPicPr>
            <a:picLocks noChangeAspect="1"/>
          </p:cNvPicPr>
          <p:nvPr/>
        </p:nvPicPr>
        <p:blipFill>
          <a:blip r:embed="rId5"/>
          <a:stretch>
            <a:fillRect/>
          </a:stretch>
        </p:blipFill>
        <p:spPr>
          <a:xfrm>
            <a:off x="621792" y="2587752"/>
            <a:ext cx="310896" cy="310896"/>
          </a:xfrm>
          <a:prstGeom prst="rect">
            <a:avLst/>
          </a:prstGeom>
        </p:spPr>
      </p:pic>
      <p:sp>
        <p:nvSpPr>
          <p:cNvPr id="18" name="Objective text 3"/>
          <p:cNvSpPr txBox="1"/>
          <p:nvPr/>
        </p:nvSpPr>
        <p:spPr>
          <a:xfrm>
            <a:off x="1115568" y="2478024"/>
            <a:ext cx="7452360" cy="530352"/>
          </a:xfrm>
          <a:prstGeom prst="rect">
            <a:avLst/>
          </a:prstGeom>
          <a:noFill/>
        </p:spPr>
        <p:txBody>
          <a:bodyPr wrap="square" lIns="0" rIns="0" tIns="0" bIns="0" anchor="ctr">
            <a:noAutofit/>
          </a:bodyPr>
          <a:lstStyle/>
          <a:p>
            <a:pPr algn="l">
              <a:spcAft>
                <a:spcPts val="400"/>
              </a:spcAft>
            </a:pPr>
            <a:r>
              <a:rPr sz="1400" b="1" lang="en-GB">
                <a:solidFill>
                  <a:schemeClr val="tx2"/>
                </a:solidFill>
              </a:rPr>
              <a:t>Compare countries correctly:  </a:t>
            </a:r>
            <a:r>
              <a:rPr sz="1400" b="0" lang="en-GB">
                <a:solidFill>
                  <a:schemeClr val="tx1"/>
                </a:solidFill>
              </a:rPr>
              <a:t>response styles and the logit scale problem</a:t>
            </a:r>
          </a:p>
        </p:txBody>
      </p:sp>
      <p:sp>
        <p:nvSpPr>
          <p:cNvPr id="19" name="Objective band 4"/>
          <p:cNvSpPr/>
          <p:nvPr/>
        </p:nvSpPr>
        <p:spPr>
          <a:xfrm>
            <a:off x="457200" y="3099816"/>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Objective 4" descr=""/>
          <p:cNvPicPr>
            <a:picLocks noChangeAspect="1"/>
          </p:cNvPicPr>
          <p:nvPr/>
        </p:nvPicPr>
        <p:blipFill>
          <a:blip r:embed="rId6"/>
          <a:stretch>
            <a:fillRect/>
          </a:stretch>
        </p:blipFill>
        <p:spPr>
          <a:xfrm>
            <a:off x="621792" y="3209544"/>
            <a:ext cx="310896" cy="310896"/>
          </a:xfrm>
          <a:prstGeom prst="rect">
            <a:avLst/>
          </a:prstGeom>
        </p:spPr>
      </p:pic>
      <p:sp>
        <p:nvSpPr>
          <p:cNvPr id="21" name="Objective text 4"/>
          <p:cNvSpPr txBox="1"/>
          <p:nvPr/>
        </p:nvSpPr>
        <p:spPr>
          <a:xfrm>
            <a:off x="1115568" y="3099816"/>
            <a:ext cx="7452360" cy="530352"/>
          </a:xfrm>
          <a:prstGeom prst="rect">
            <a:avLst/>
          </a:prstGeom>
          <a:noFill/>
        </p:spPr>
        <p:txBody>
          <a:bodyPr wrap="square" lIns="0" rIns="0" tIns="0" bIns="0" anchor="ctr">
            <a:noAutofit/>
          </a:bodyPr>
          <a:lstStyle/>
          <a:p>
            <a:pPr algn="l">
              <a:spcAft>
                <a:spcPts val="400"/>
              </a:spcAft>
            </a:pPr>
            <a:r>
              <a:rPr sz="1400" b="1" lang="en-GB">
                <a:solidFill>
                  <a:schemeClr val="tx2"/>
                </a:solidFill>
              </a:rPr>
              <a:t>Interpret and report:  </a:t>
            </a:r>
            <a:r>
              <a:rPr sz="1400" b="0" lang="en-GB">
                <a:solidFill>
                  <a:schemeClr val="tx1"/>
                </a:solidFill>
              </a:rPr>
              <a:t>average marginal effects, predictions, interactions</a:t>
            </a:r>
          </a:p>
        </p:txBody>
      </p:sp>
      <p:sp>
        <p:nvSpPr>
          <p:cNvPr id="22" name="Objective band 5"/>
          <p:cNvSpPr/>
          <p:nvPr/>
        </p:nvSpPr>
        <p:spPr>
          <a:xfrm>
            <a:off x="457200" y="3721608"/>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Objective 5" descr=""/>
          <p:cNvPicPr>
            <a:picLocks noChangeAspect="1"/>
          </p:cNvPicPr>
          <p:nvPr/>
        </p:nvPicPr>
        <p:blipFill>
          <a:blip r:embed="rId7"/>
          <a:stretch>
            <a:fillRect/>
          </a:stretch>
        </p:blipFill>
        <p:spPr>
          <a:xfrm>
            <a:off x="621792" y="3831336"/>
            <a:ext cx="310896" cy="310896"/>
          </a:xfrm>
          <a:prstGeom prst="rect">
            <a:avLst/>
          </a:prstGeom>
        </p:spPr>
      </p:pic>
      <p:sp>
        <p:nvSpPr>
          <p:cNvPr id="24" name="Objective text 5"/>
          <p:cNvSpPr txBox="1"/>
          <p:nvPr/>
        </p:nvSpPr>
        <p:spPr>
          <a:xfrm>
            <a:off x="1115568" y="3721608"/>
            <a:ext cx="7452360" cy="530352"/>
          </a:xfrm>
          <a:prstGeom prst="rect">
            <a:avLst/>
          </a:prstGeom>
          <a:noFill/>
        </p:spPr>
        <p:txBody>
          <a:bodyPr wrap="square" lIns="0" rIns="0" tIns="0" bIns="0" anchor="ctr">
            <a:noAutofit/>
          </a:bodyPr>
          <a:lstStyle/>
          <a:p>
            <a:pPr algn="l">
              <a:spcAft>
                <a:spcPts val="400"/>
              </a:spcAft>
            </a:pPr>
            <a:r>
              <a:rPr sz="1400" b="1" lang="en-GB">
                <a:solidFill>
                  <a:schemeClr val="tx2"/>
                </a:solidFill>
              </a:rPr>
              <a:t>Use a churn model:  </a:t>
            </a:r>
            <a:r>
              <a:rPr sz="1400" b="0" lang="en-GB">
                <a:solidFill>
                  <a:schemeClr val="tx1"/>
                </a:solidFill>
              </a:rPr>
              <a:t>lift, calibration, campaign profit, risk vs uplift</a:t>
            </a:r>
          </a:p>
        </p:txBody>
      </p:sp>
      <p:sp>
        <p:nvSpPr>
          <p:cNvPr id="25" name="Objective band 6"/>
          <p:cNvSpPr/>
          <p:nvPr/>
        </p:nvSpPr>
        <p:spPr>
          <a:xfrm>
            <a:off x="457200" y="4343400"/>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Objective 6" descr=""/>
          <p:cNvPicPr>
            <a:picLocks noChangeAspect="1"/>
          </p:cNvPicPr>
          <p:nvPr/>
        </p:nvPicPr>
        <p:blipFill>
          <a:blip r:embed="rId8"/>
          <a:stretch>
            <a:fillRect/>
          </a:stretch>
        </p:blipFill>
        <p:spPr>
          <a:xfrm>
            <a:off x="621792" y="4453128"/>
            <a:ext cx="310896" cy="310896"/>
          </a:xfrm>
          <a:prstGeom prst="rect">
            <a:avLst/>
          </a:prstGeom>
        </p:spPr>
      </p:pic>
      <p:sp>
        <p:nvSpPr>
          <p:cNvPr id="27" name="Objective text 6"/>
          <p:cNvSpPr txBox="1"/>
          <p:nvPr/>
        </p:nvSpPr>
        <p:spPr>
          <a:xfrm>
            <a:off x="1115568" y="4343400"/>
            <a:ext cx="7452360" cy="530352"/>
          </a:xfrm>
          <a:prstGeom prst="rect">
            <a:avLst/>
          </a:prstGeom>
          <a:noFill/>
        </p:spPr>
        <p:txBody>
          <a:bodyPr wrap="square" lIns="0" rIns="0" tIns="0" bIns="0" anchor="ctr">
            <a:noAutofit/>
          </a:bodyPr>
          <a:lstStyle/>
          <a:p>
            <a:pPr algn="l">
              <a:spcAft>
                <a:spcPts val="400"/>
              </a:spcAft>
            </a:pPr>
            <a:r>
              <a:rPr sz="1400" b="1" lang="en-GB">
                <a:solidFill>
                  <a:schemeClr val="tx2"/>
                </a:solidFill>
              </a:rPr>
              <a:t>Work with open data:  </a:t>
            </a:r>
            <a:r>
              <a:rPr sz="1400" b="0" lang="en-GB">
                <a:solidFill>
                  <a:schemeClr val="tx1"/>
                </a:solidFill>
              </a:rPr>
              <a:t>churn datasets, licences and traps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Session roadmap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admap step 1"/>
          <p:cNvSpPr/>
          <p:nvPr/>
        </p:nvSpPr>
        <p:spPr>
          <a:xfrm>
            <a:off x="457200" y="1234440"/>
            <a:ext cx="1389888"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tIns="18288" bIns="18288"/>
          <a:lstStyle/>
          <a:p>
            <a:pPr algn="ctr"/>
            <a:r>
              <a:rPr sz="1300" b="1" lang="en-GB">
                <a:solidFill>
                  <a:schemeClr val="tx2"/>
                </a:solidFill>
              </a:rPr>
              <a:t>1</a:t>
            </a:r>
          </a:p>
        </p:txBody>
      </p:sp>
      <p:sp>
        <p:nvSpPr>
          <p:cNvPr id="11" name="Roadmap step 2"/>
          <p:cNvSpPr/>
          <p:nvPr/>
        </p:nvSpPr>
        <p:spPr>
          <a:xfrm>
            <a:off x="1847088" y="1234440"/>
            <a:ext cx="1389888"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tIns="18288" bIns="18288"/>
          <a:lstStyle/>
          <a:p>
            <a:pPr algn="ctr"/>
            <a:r>
              <a:rPr sz="1300" b="1" lang="en-GB">
                <a:solidFill>
                  <a:schemeClr val="tx2"/>
                </a:solidFill>
              </a:rPr>
              <a:t>2</a:t>
            </a:r>
          </a:p>
        </p:txBody>
      </p:sp>
      <p:sp>
        <p:nvSpPr>
          <p:cNvPr id="12" name="Roadmap step 3"/>
          <p:cNvSpPr/>
          <p:nvPr/>
        </p:nvSpPr>
        <p:spPr>
          <a:xfrm>
            <a:off x="3236976" y="1234440"/>
            <a:ext cx="1389888" cy="45720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tIns="18288" bIns="18288"/>
          <a:lstStyle/>
          <a:p>
            <a:pPr algn="ctr"/>
            <a:r>
              <a:rPr sz="1300" b="1" lang="en-GB">
                <a:solidFill>
                  <a:schemeClr val="bg1"/>
                </a:solidFill>
              </a:rPr>
              <a:t>3</a:t>
            </a:r>
          </a:p>
        </p:txBody>
      </p:sp>
      <p:sp>
        <p:nvSpPr>
          <p:cNvPr id="13" name="Roadmap step 4"/>
          <p:cNvSpPr/>
          <p:nvPr/>
        </p:nvSpPr>
        <p:spPr>
          <a:xfrm>
            <a:off x="4626864" y="1234440"/>
            <a:ext cx="1389888"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tIns="18288" bIns="18288"/>
          <a:lstStyle/>
          <a:p>
            <a:pPr algn="ctr"/>
            <a:r>
              <a:rPr sz="1300" b="1" lang="en-GB">
                <a:solidFill>
                  <a:schemeClr val="tx2"/>
                </a:solidFill>
              </a:rPr>
              <a:t>4</a:t>
            </a:r>
          </a:p>
        </p:txBody>
      </p:sp>
      <p:sp>
        <p:nvSpPr>
          <p:cNvPr id="14" name="Roadmap step 5"/>
          <p:cNvSpPr/>
          <p:nvPr/>
        </p:nvSpPr>
        <p:spPr>
          <a:xfrm>
            <a:off x="6016752" y="1234440"/>
            <a:ext cx="1389888"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tIns="18288" bIns="18288"/>
          <a:lstStyle/>
          <a:p>
            <a:pPr algn="ctr"/>
            <a:r>
              <a:rPr sz="1300" b="1" lang="en-GB">
                <a:solidFill>
                  <a:schemeClr val="tx2"/>
                </a:solidFill>
              </a:rPr>
              <a:t>5</a:t>
            </a:r>
          </a:p>
        </p:txBody>
      </p:sp>
      <p:sp>
        <p:nvSpPr>
          <p:cNvPr id="15" name="Roadmap step 6"/>
          <p:cNvSpPr/>
          <p:nvPr/>
        </p:nvSpPr>
        <p:spPr>
          <a:xfrm>
            <a:off x="7406640" y="1234440"/>
            <a:ext cx="1280160"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tIns="18288" bIns="18288"/>
          <a:lstStyle/>
          <a:p>
            <a:pPr algn="ctr"/>
            <a:r>
              <a:rPr sz="1300" b="1" lang="en-GB">
                <a:solidFill>
                  <a:schemeClr val="tx2"/>
                </a:solidFill>
              </a:rPr>
              <a:t>6</a:t>
            </a:r>
          </a:p>
        </p:txBody>
      </p:sp>
      <p:sp>
        <p:nvSpPr>
          <p:cNvPr id="16" name="Roadmap column 1"/>
          <p:cNvSpPr/>
          <p:nvPr/>
        </p:nvSpPr>
        <p:spPr>
          <a:xfrm>
            <a:off x="457200" y="1783080"/>
            <a:ext cx="12801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admap heading 1"/>
          <p:cNvSpPr txBox="1"/>
          <p:nvPr/>
        </p:nvSpPr>
        <p:spPr>
          <a:xfrm>
            <a:off x="530352" y="1874520"/>
            <a:ext cx="1188720" cy="457200"/>
          </a:xfrm>
          <a:prstGeom prst="rect">
            <a:avLst/>
          </a:prstGeom>
          <a:noFill/>
        </p:spPr>
        <p:txBody>
          <a:bodyPr wrap="square" lIns="0" rIns="0" tIns="0" bIns="0" anchor="t">
            <a:noAutofit/>
          </a:bodyPr>
          <a:lstStyle/>
          <a:p>
            <a:pPr algn="l">
              <a:spcAft>
                <a:spcPts val="0"/>
              </a:spcAft>
            </a:pPr>
            <a:r>
              <a:rPr sz="1250" b="1" lang="en-GB">
                <a:solidFill>
                  <a:schemeClr val="tx2"/>
                </a:solidFill>
                <a:latin typeface="+mj-lt"/>
              </a:rPr>
              <a:t>Foundations</a:t>
            </a:r>
          </a:p>
        </p:txBody>
      </p:sp>
      <p:sp>
        <p:nvSpPr>
          <p:cNvPr id="18" name="Roadmap text 1"/>
          <p:cNvSpPr txBox="1"/>
          <p:nvPr/>
        </p:nvSpPr>
        <p:spPr>
          <a:xfrm>
            <a:off x="548640" y="2395728"/>
            <a:ext cx="1133856" cy="960120"/>
          </a:xfrm>
          <a:prstGeom prst="rect">
            <a:avLst/>
          </a:prstGeom>
          <a:noFill/>
        </p:spPr>
        <p:txBody>
          <a:bodyPr wrap="square" lIns="0" rIns="0" tIns="0" bIns="0" anchor="t">
            <a:noAutofit/>
          </a:bodyPr>
          <a:lstStyle/>
          <a:p>
            <a:pPr algn="l">
              <a:spcAft>
                <a:spcPts val="200"/>
              </a:spcAft>
            </a:pPr>
            <a:r>
              <a:rPr sz="1300" b="0" lang="en-GB">
                <a:solidFill>
                  <a:schemeClr val="tx1"/>
                </a:solidFill>
              </a:rPr>
              <a:t>Odds, odds ratios, probabilities</a:t>
            </a:r>
          </a:p>
        </p:txBody>
      </p:sp>
      <p:sp>
        <p:nvSpPr>
          <p:cNvPr id="19" name="Roadmap slides 1"/>
          <p:cNvSpPr txBox="1"/>
          <p:nvPr/>
        </p:nvSpPr>
        <p:spPr>
          <a:xfrm>
            <a:off x="548640" y="3630168"/>
            <a:ext cx="1133856"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Slides 8–15</a:t>
            </a:r>
          </a:p>
        </p:txBody>
      </p:sp>
      <p:sp>
        <p:nvSpPr>
          <p:cNvPr id="20" name="Roadmap column 2"/>
          <p:cNvSpPr/>
          <p:nvPr/>
        </p:nvSpPr>
        <p:spPr>
          <a:xfrm>
            <a:off x="1847088" y="1783080"/>
            <a:ext cx="12801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admap heading 2"/>
          <p:cNvSpPr txBox="1"/>
          <p:nvPr/>
        </p:nvSpPr>
        <p:spPr>
          <a:xfrm>
            <a:off x="1920240" y="1874520"/>
            <a:ext cx="1188720" cy="457200"/>
          </a:xfrm>
          <a:prstGeom prst="rect">
            <a:avLst/>
          </a:prstGeom>
          <a:noFill/>
        </p:spPr>
        <p:txBody>
          <a:bodyPr wrap="square" lIns="0" rIns="0" tIns="0" bIns="0" anchor="t">
            <a:noAutofit/>
          </a:bodyPr>
          <a:lstStyle/>
          <a:p>
            <a:pPr algn="l">
              <a:spcAft>
                <a:spcPts val="0"/>
              </a:spcAft>
            </a:pPr>
            <a:r>
              <a:rPr sz="1250" b="1" lang="en-GB">
                <a:solidFill>
                  <a:schemeClr val="tx2"/>
                </a:solidFill>
                <a:latin typeface="+mj-lt"/>
              </a:rPr>
              <a:t>Churn and models</a:t>
            </a:r>
          </a:p>
        </p:txBody>
      </p:sp>
      <p:sp>
        <p:nvSpPr>
          <p:cNvPr id="22" name="Roadmap text 2"/>
          <p:cNvSpPr txBox="1"/>
          <p:nvPr/>
        </p:nvSpPr>
        <p:spPr>
          <a:xfrm>
            <a:off x="1938528" y="2395728"/>
            <a:ext cx="1133856" cy="960120"/>
          </a:xfrm>
          <a:prstGeom prst="rect">
            <a:avLst/>
          </a:prstGeom>
          <a:noFill/>
        </p:spPr>
        <p:txBody>
          <a:bodyPr wrap="square" lIns="0" rIns="0" tIns="0" bIns="0" anchor="t">
            <a:noAutofit/>
          </a:bodyPr>
          <a:lstStyle/>
          <a:p>
            <a:pPr algn="l">
              <a:spcAft>
                <a:spcPts val="200"/>
              </a:spcAft>
            </a:pPr>
            <a:r>
              <a:rPr sz="1300" b="0" lang="en-GB">
                <a:solidFill>
                  <a:schemeClr val="tx1"/>
                </a:solidFill>
              </a:rPr>
              <a:t>Drivers, benchmarks, logit family</a:t>
            </a:r>
          </a:p>
        </p:txBody>
      </p:sp>
      <p:sp>
        <p:nvSpPr>
          <p:cNvPr id="23" name="Roadmap slides 2"/>
          <p:cNvSpPr txBox="1"/>
          <p:nvPr/>
        </p:nvSpPr>
        <p:spPr>
          <a:xfrm>
            <a:off x="1938528" y="3630168"/>
            <a:ext cx="1133856"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Slides 16–23</a:t>
            </a:r>
          </a:p>
        </p:txBody>
      </p:sp>
      <p:sp>
        <p:nvSpPr>
          <p:cNvPr id="24" name="Roadmap column 3"/>
          <p:cNvSpPr/>
          <p:nvPr/>
        </p:nvSpPr>
        <p:spPr>
          <a:xfrm>
            <a:off x="3236976" y="1783080"/>
            <a:ext cx="12801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admap heading 3"/>
          <p:cNvSpPr txBox="1"/>
          <p:nvPr/>
        </p:nvSpPr>
        <p:spPr>
          <a:xfrm>
            <a:off x="3310128" y="1874520"/>
            <a:ext cx="1188720" cy="457200"/>
          </a:xfrm>
          <a:prstGeom prst="rect">
            <a:avLst/>
          </a:prstGeom>
          <a:noFill/>
        </p:spPr>
        <p:txBody>
          <a:bodyPr wrap="square" lIns="0" rIns="0" tIns="0" bIns="0" anchor="t">
            <a:noAutofit/>
          </a:bodyPr>
          <a:lstStyle/>
          <a:p>
            <a:pPr algn="l">
              <a:spcAft>
                <a:spcPts val="0"/>
              </a:spcAft>
            </a:pPr>
            <a:r>
              <a:rPr sz="1250" b="1" lang="en-GB">
                <a:solidFill>
                  <a:schemeClr val="tx2"/>
                </a:solidFill>
                <a:latin typeface="+mj-lt"/>
              </a:rPr>
              <a:t>Countries</a:t>
            </a:r>
          </a:p>
        </p:txBody>
      </p:sp>
      <p:sp>
        <p:nvSpPr>
          <p:cNvPr id="26" name="Roadmap text 3"/>
          <p:cNvSpPr txBox="1"/>
          <p:nvPr/>
        </p:nvSpPr>
        <p:spPr>
          <a:xfrm>
            <a:off x="3328416" y="2395728"/>
            <a:ext cx="1133856" cy="960120"/>
          </a:xfrm>
          <a:prstGeom prst="rect">
            <a:avLst/>
          </a:prstGeom>
          <a:noFill/>
        </p:spPr>
        <p:txBody>
          <a:bodyPr wrap="square" lIns="0" rIns="0" tIns="0" bIns="0" anchor="t">
            <a:noAutofit/>
          </a:bodyPr>
          <a:lstStyle/>
          <a:p>
            <a:pPr algn="l">
              <a:spcAft>
                <a:spcPts val="200"/>
              </a:spcAft>
            </a:pPr>
            <a:r>
              <a:rPr sz="1300" b="0" lang="en-GB">
                <a:solidFill>
                  <a:schemeClr val="tx1"/>
                </a:solidFill>
              </a:rPr>
              <a:t>Response styles and the logit scale</a:t>
            </a:r>
          </a:p>
        </p:txBody>
      </p:sp>
      <p:sp>
        <p:nvSpPr>
          <p:cNvPr id="27" name="Roadmap slides 3"/>
          <p:cNvSpPr txBox="1"/>
          <p:nvPr/>
        </p:nvSpPr>
        <p:spPr>
          <a:xfrm>
            <a:off x="3328416" y="3630168"/>
            <a:ext cx="1133856"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Slides 24–30</a:t>
            </a:r>
          </a:p>
        </p:txBody>
      </p:sp>
      <p:sp>
        <p:nvSpPr>
          <p:cNvPr id="28" name="Roadmap column 4"/>
          <p:cNvSpPr/>
          <p:nvPr/>
        </p:nvSpPr>
        <p:spPr>
          <a:xfrm>
            <a:off x="4626864" y="1783080"/>
            <a:ext cx="12801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admap heading 4"/>
          <p:cNvSpPr txBox="1"/>
          <p:nvPr/>
        </p:nvSpPr>
        <p:spPr>
          <a:xfrm>
            <a:off x="4700016" y="1874520"/>
            <a:ext cx="1188720" cy="457200"/>
          </a:xfrm>
          <a:prstGeom prst="rect">
            <a:avLst/>
          </a:prstGeom>
          <a:noFill/>
        </p:spPr>
        <p:txBody>
          <a:bodyPr wrap="square" lIns="0" rIns="0" tIns="0" bIns="0" anchor="t">
            <a:noAutofit/>
          </a:bodyPr>
          <a:lstStyle/>
          <a:p>
            <a:pPr algn="l">
              <a:spcAft>
                <a:spcPts val="0"/>
              </a:spcAft>
            </a:pPr>
            <a:r>
              <a:rPr sz="1250" b="1" lang="en-GB">
                <a:solidFill>
                  <a:schemeClr val="tx2"/>
                </a:solidFill>
                <a:latin typeface="+mj-lt"/>
              </a:rPr>
              <a:t>Reporting</a:t>
            </a:r>
          </a:p>
        </p:txBody>
      </p:sp>
      <p:sp>
        <p:nvSpPr>
          <p:cNvPr id="30" name="Roadmap text 4"/>
          <p:cNvSpPr txBox="1"/>
          <p:nvPr/>
        </p:nvSpPr>
        <p:spPr>
          <a:xfrm>
            <a:off x="4718304" y="2395728"/>
            <a:ext cx="1133856" cy="960120"/>
          </a:xfrm>
          <a:prstGeom prst="rect">
            <a:avLst/>
          </a:prstGeom>
          <a:noFill/>
        </p:spPr>
        <p:txBody>
          <a:bodyPr wrap="square" lIns="0" rIns="0" tIns="0" bIns="0" anchor="t">
            <a:noAutofit/>
          </a:bodyPr>
          <a:lstStyle/>
          <a:p>
            <a:pPr algn="l">
              <a:spcAft>
                <a:spcPts val="200"/>
              </a:spcAft>
            </a:pPr>
            <a:r>
              <a:rPr sz="1300" b="0" lang="en-GB">
                <a:solidFill>
                  <a:schemeClr val="tx1"/>
                </a:solidFill>
              </a:rPr>
              <a:t>AMEs, interactions, checklist</a:t>
            </a:r>
          </a:p>
        </p:txBody>
      </p:sp>
      <p:sp>
        <p:nvSpPr>
          <p:cNvPr id="31" name="Roadmap slides 4"/>
          <p:cNvSpPr txBox="1"/>
          <p:nvPr/>
        </p:nvSpPr>
        <p:spPr>
          <a:xfrm>
            <a:off x="4718304" y="3630168"/>
            <a:ext cx="1133856"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Slides 31–38</a:t>
            </a:r>
          </a:p>
        </p:txBody>
      </p:sp>
      <p:sp>
        <p:nvSpPr>
          <p:cNvPr id="32" name="Roadmap column 5"/>
          <p:cNvSpPr/>
          <p:nvPr/>
        </p:nvSpPr>
        <p:spPr>
          <a:xfrm>
            <a:off x="6016752" y="1783080"/>
            <a:ext cx="12801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admap heading 5"/>
          <p:cNvSpPr txBox="1"/>
          <p:nvPr/>
        </p:nvSpPr>
        <p:spPr>
          <a:xfrm>
            <a:off x="6089904" y="1874520"/>
            <a:ext cx="1188720" cy="457200"/>
          </a:xfrm>
          <a:prstGeom prst="rect">
            <a:avLst/>
          </a:prstGeom>
          <a:noFill/>
        </p:spPr>
        <p:txBody>
          <a:bodyPr wrap="square" lIns="0" rIns="0" tIns="0" bIns="0" anchor="t">
            <a:noAutofit/>
          </a:bodyPr>
          <a:lstStyle/>
          <a:p>
            <a:pPr algn="l">
              <a:spcAft>
                <a:spcPts val="0"/>
              </a:spcAft>
            </a:pPr>
            <a:r>
              <a:rPr sz="1250" b="1" lang="en-GB">
                <a:solidFill>
                  <a:schemeClr val="tx2"/>
                </a:solidFill>
                <a:latin typeface="+mj-lt"/>
              </a:rPr>
              <a:t>Using the model</a:t>
            </a:r>
          </a:p>
        </p:txBody>
      </p:sp>
      <p:sp>
        <p:nvSpPr>
          <p:cNvPr id="34" name="Roadmap text 5"/>
          <p:cNvSpPr txBox="1"/>
          <p:nvPr/>
        </p:nvSpPr>
        <p:spPr>
          <a:xfrm>
            <a:off x="6108192" y="2395728"/>
            <a:ext cx="1133856" cy="960120"/>
          </a:xfrm>
          <a:prstGeom prst="rect">
            <a:avLst/>
          </a:prstGeom>
          <a:noFill/>
        </p:spPr>
        <p:txBody>
          <a:bodyPr wrap="square" lIns="0" rIns="0" tIns="0" bIns="0" anchor="t">
            <a:noAutofit/>
          </a:bodyPr>
          <a:lstStyle/>
          <a:p>
            <a:pPr algn="l">
              <a:spcAft>
                <a:spcPts val="200"/>
              </a:spcAft>
            </a:pPr>
            <a:r>
              <a:rPr sz="1300" b="0" lang="en-GB">
                <a:solidFill>
                  <a:schemeClr val="tx1"/>
                </a:solidFill>
              </a:rPr>
              <a:t>Lift, calibration, profit, uplift</a:t>
            </a:r>
          </a:p>
        </p:txBody>
      </p:sp>
      <p:sp>
        <p:nvSpPr>
          <p:cNvPr id="35" name="Roadmap slides 5"/>
          <p:cNvSpPr txBox="1"/>
          <p:nvPr/>
        </p:nvSpPr>
        <p:spPr>
          <a:xfrm>
            <a:off x="6108192" y="3630168"/>
            <a:ext cx="1133856"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Slides 39–47</a:t>
            </a:r>
          </a:p>
        </p:txBody>
      </p:sp>
      <p:sp>
        <p:nvSpPr>
          <p:cNvPr id="36" name="Roadmap column 6"/>
          <p:cNvSpPr/>
          <p:nvPr/>
        </p:nvSpPr>
        <p:spPr>
          <a:xfrm>
            <a:off x="7406640" y="1783080"/>
            <a:ext cx="12801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admap heading 6"/>
          <p:cNvSpPr txBox="1"/>
          <p:nvPr/>
        </p:nvSpPr>
        <p:spPr>
          <a:xfrm>
            <a:off x="7479792" y="1874520"/>
            <a:ext cx="1188720" cy="457200"/>
          </a:xfrm>
          <a:prstGeom prst="rect">
            <a:avLst/>
          </a:prstGeom>
          <a:noFill/>
        </p:spPr>
        <p:txBody>
          <a:bodyPr wrap="square" lIns="0" rIns="0" tIns="0" bIns="0" anchor="t">
            <a:noAutofit/>
          </a:bodyPr>
          <a:lstStyle/>
          <a:p>
            <a:pPr algn="l">
              <a:spcAft>
                <a:spcPts val="0"/>
              </a:spcAft>
            </a:pPr>
            <a:r>
              <a:rPr sz="1250" b="1" lang="en-GB">
                <a:solidFill>
                  <a:schemeClr val="tx2"/>
                </a:solidFill>
                <a:latin typeface="+mj-lt"/>
              </a:rPr>
              <a:t>Practice</a:t>
            </a:r>
          </a:p>
        </p:txBody>
      </p:sp>
      <p:sp>
        <p:nvSpPr>
          <p:cNvPr id="38" name="Roadmap text 6"/>
          <p:cNvSpPr txBox="1"/>
          <p:nvPr/>
        </p:nvSpPr>
        <p:spPr>
          <a:xfrm>
            <a:off x="7498080" y="2395728"/>
            <a:ext cx="1133856" cy="960120"/>
          </a:xfrm>
          <a:prstGeom prst="rect">
            <a:avLst/>
          </a:prstGeom>
          <a:noFill/>
        </p:spPr>
        <p:txBody>
          <a:bodyPr wrap="square" lIns="0" rIns="0" tIns="0" bIns="0" anchor="t">
            <a:noAutofit/>
          </a:bodyPr>
          <a:lstStyle/>
          <a:p>
            <a:pPr algn="l">
              <a:spcAft>
                <a:spcPts val="200"/>
              </a:spcAft>
            </a:pPr>
            <a:r>
              <a:rPr sz="1300" b="0" lang="en-GB">
                <a:solidFill>
                  <a:schemeClr val="tx1"/>
                </a:solidFill>
              </a:rPr>
              <a:t>Data, quiz, exercise, theses</a:t>
            </a:r>
          </a:p>
        </p:txBody>
      </p:sp>
      <p:sp>
        <p:nvSpPr>
          <p:cNvPr id="39" name="Roadmap slides 6"/>
          <p:cNvSpPr txBox="1"/>
          <p:nvPr/>
        </p:nvSpPr>
        <p:spPr>
          <a:xfrm>
            <a:off x="7498080" y="3630168"/>
            <a:ext cx="1133856"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Slides 48–58</a:t>
            </a:r>
          </a:p>
        </p:txBody>
      </p:sp>
      <p:sp>
        <p:nvSpPr>
          <p:cNvPr id="40" name="Roadmap rule box"/>
          <p:cNvSpPr/>
          <p:nvPr/>
        </p:nvSpPr>
        <p:spPr>
          <a:xfrm>
            <a:off x="457200" y="416052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admap rule text"/>
          <p:cNvSpPr txBox="1"/>
          <p:nvPr/>
        </p:nvSpPr>
        <p:spPr>
          <a:xfrm>
            <a:off x="658368" y="4160520"/>
            <a:ext cx="7827264" cy="594360"/>
          </a:xfrm>
          <a:prstGeom prst="rect">
            <a:avLst/>
          </a:prstGeom>
          <a:noFill/>
        </p:spPr>
        <p:txBody>
          <a:bodyPr wrap="square" lIns="0" rIns="0" tIns="0" bIns="0" anchor="ctr">
            <a:noAutofit/>
          </a:bodyPr>
          <a:lstStyle/>
          <a:p>
            <a:pPr algn="l">
              <a:spcAft>
                <a:spcPts val="400"/>
              </a:spcAft>
            </a:pPr>
            <a:r>
              <a:rPr sz="1400" b="1" lang="en-GB">
                <a:solidFill>
                  <a:schemeClr val="bg1"/>
                </a:solidFill>
              </a:rPr>
              <a:t>One rule for today: </a:t>
            </a:r>
            <a:r>
              <a:rPr sz="1400" b="0" lang="en-GB">
                <a:solidFill>
                  <a:schemeClr val="bg1"/>
                </a:solidFill>
              </a:rPr>
              <a:t>compare probabilities across countries, not coefficients.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Before we start: where does the contract matter more?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zzle box"/>
          <p:cNvSpPr/>
          <p:nvPr/>
        </p:nvSpPr>
        <p:spPr>
          <a:xfrm>
            <a:off x="457200" y="1234440"/>
            <a:ext cx="3931920" cy="3383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zzle text"/>
          <p:cNvSpPr txBox="1"/>
          <p:nvPr/>
        </p:nvSpPr>
        <p:spPr>
          <a:xfrm>
            <a:off x="731520" y="1234440"/>
            <a:ext cx="3429000" cy="3383280"/>
          </a:xfrm>
          <a:prstGeom prst="rect">
            <a:avLst/>
          </a:prstGeom>
          <a:noFill/>
        </p:spPr>
        <p:txBody>
          <a:bodyPr wrap="square" lIns="0" rIns="0" tIns="0" bIns="0" anchor="ctr">
            <a:noAutofit/>
          </a:bodyPr>
          <a:lstStyle/>
          <a:p>
            <a:pPr algn="l">
              <a:spcAft>
                <a:spcPts val="200"/>
              </a:spcAft>
            </a:pPr>
            <a:r>
              <a:rPr sz="1400" b="1" lang="en-GB">
                <a:solidFill>
                  <a:schemeClr val="bg1"/>
                </a:solidFill>
              </a:rPr>
              <a:t>One churn logit per country:</a:t>
            </a:r>
          </a:p>
          <a:p>
            <a:pPr algn="l">
              <a:spcAft>
                <a:spcPts val="200"/>
              </a:spcAft>
            </a:pPr>
            <a:r>
              <a:rPr sz="600" b="0" lang="en-GB">
                <a:solidFill>
                  <a:schemeClr val="tx1"/>
                </a:solidFill>
              </a:rPr>
              <a:t> </a:t>
            </a:r>
          </a:p>
          <a:p>
            <a:pPr algn="l">
              <a:spcAft>
                <a:spcPts val="200"/>
              </a:spcAft>
            </a:pPr>
            <a:r>
              <a:rPr sz="2200" b="1" lang="en-GB">
                <a:solidFill>
                  <a:schemeClr val="bg1"/>
                </a:solidFill>
                <a:latin typeface="+mj-lt"/>
              </a:rPr>
              <a:t>Month-to-month coefficient:</a:t>
            </a:r>
          </a:p>
          <a:p>
            <a:pPr algn="l">
              <a:spcAft>
                <a:spcPts val="200"/>
              </a:spcAft>
            </a:pPr>
            <a:r>
              <a:rPr sz="2200" b="1" lang="en-GB">
                <a:solidFill>
                  <a:schemeClr val="bg1"/>
                </a:solidFill>
                <a:latin typeface="+mj-lt"/>
              </a:rPr>
              <a:t>1.19 in Germany,</a:t>
            </a:r>
          </a:p>
          <a:p>
            <a:pPr algn="l">
              <a:spcAft>
                <a:spcPts val="200"/>
              </a:spcAft>
            </a:pPr>
            <a:r>
              <a:rPr sz="2200" b="1" lang="en-GB">
                <a:solidFill>
                  <a:schemeClr val="bg1"/>
                </a:solidFill>
                <a:latin typeface="+mj-lt"/>
              </a:rPr>
              <a:t>0.81 in Spain.</a:t>
            </a:r>
          </a:p>
        </p:txBody>
      </p:sp>
      <p:sp>
        <p:nvSpPr>
          <p:cNvPr id="12" name="Puzzle question 1 tile"/>
          <p:cNvSpPr/>
          <p:nvPr/>
        </p:nvSpPr>
        <p:spPr>
          <a:xfrm>
            <a:off x="4526280" y="123444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Puzzle question 1" descr=""/>
          <p:cNvPicPr>
            <a:picLocks noChangeAspect="1"/>
          </p:cNvPicPr>
          <p:nvPr/>
        </p:nvPicPr>
        <p:blipFill>
          <a:blip r:embed="rId3"/>
          <a:stretch>
            <a:fillRect/>
          </a:stretch>
        </p:blipFill>
        <p:spPr>
          <a:xfrm>
            <a:off x="4709160" y="1569720"/>
            <a:ext cx="365760" cy="365760"/>
          </a:xfrm>
          <a:prstGeom prst="rect">
            <a:avLst/>
          </a:prstGeom>
        </p:spPr>
      </p:pic>
      <p:sp>
        <p:nvSpPr>
          <p:cNvPr id="14" name="Puzzle question 1 text"/>
          <p:cNvSpPr txBox="1"/>
          <p:nvPr/>
        </p:nvSpPr>
        <p:spPr>
          <a:xfrm>
            <a:off x="5257800" y="123444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does 1.19 mean?</a:t>
            </a:r>
          </a:p>
          <a:p>
            <a:pPr algn="l">
              <a:spcAft>
                <a:spcPts val="300"/>
              </a:spcAft>
            </a:pPr>
            <a:r>
              <a:rPr sz="1300" b="0" lang="en-GB">
                <a:solidFill>
                  <a:srgbClr val="595959"/>
                </a:solidFill>
              </a:rPr>
              <a:t>Log-odds, odds or probability?</a:t>
            </a:r>
          </a:p>
        </p:txBody>
      </p:sp>
      <p:sp>
        <p:nvSpPr>
          <p:cNvPr id="15" name="Puzzle question 2 tile"/>
          <p:cNvSpPr/>
          <p:nvPr/>
        </p:nvSpPr>
        <p:spPr>
          <a:xfrm>
            <a:off x="4526280" y="240792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uzzle question 2" descr=""/>
          <p:cNvPicPr>
            <a:picLocks noChangeAspect="1"/>
          </p:cNvPicPr>
          <p:nvPr/>
        </p:nvPicPr>
        <p:blipFill>
          <a:blip r:embed="rId4"/>
          <a:stretch>
            <a:fillRect/>
          </a:stretch>
        </p:blipFill>
        <p:spPr>
          <a:xfrm>
            <a:off x="4709160" y="2743200"/>
            <a:ext cx="365760" cy="365760"/>
          </a:xfrm>
          <a:prstGeom prst="rect">
            <a:avLst/>
          </a:prstGeom>
        </p:spPr>
      </p:pic>
      <p:sp>
        <p:nvSpPr>
          <p:cNvPr id="17" name="Puzzle question 2 text"/>
          <p:cNvSpPr txBox="1"/>
          <p:nvPr/>
        </p:nvSpPr>
        <p:spPr>
          <a:xfrm>
            <a:off x="5257800" y="240792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Can you compare 1.19 and 0.81?</a:t>
            </a:r>
          </a:p>
          <a:p>
            <a:pPr algn="l">
              <a:spcAft>
                <a:spcPts val="300"/>
              </a:spcAft>
            </a:pPr>
            <a:r>
              <a:rPr sz="1300" b="0" lang="en-GB">
                <a:solidFill>
                  <a:srgbClr val="595959"/>
                </a:solidFill>
              </a:rPr>
              <a:t>What else differs between the two countries?</a:t>
            </a:r>
          </a:p>
        </p:txBody>
      </p:sp>
      <p:sp>
        <p:nvSpPr>
          <p:cNvPr id="18" name="Puzzle question 3 tile"/>
          <p:cNvSpPr/>
          <p:nvPr/>
        </p:nvSpPr>
        <p:spPr>
          <a:xfrm>
            <a:off x="4526280" y="358140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uzzle question 3" descr=""/>
          <p:cNvPicPr>
            <a:picLocks noChangeAspect="1"/>
          </p:cNvPicPr>
          <p:nvPr/>
        </p:nvPicPr>
        <p:blipFill>
          <a:blip r:embed="rId5"/>
          <a:stretch>
            <a:fillRect/>
          </a:stretch>
        </p:blipFill>
        <p:spPr>
          <a:xfrm>
            <a:off x="4709160" y="3916680"/>
            <a:ext cx="365760" cy="365760"/>
          </a:xfrm>
          <a:prstGeom prst="rect">
            <a:avLst/>
          </a:prstGeom>
        </p:spPr>
      </p:pic>
      <p:sp>
        <p:nvSpPr>
          <p:cNvPr id="20" name="Puzzle question 3 text"/>
          <p:cNvSpPr txBox="1"/>
          <p:nvPr/>
        </p:nvSpPr>
        <p:spPr>
          <a:xfrm>
            <a:off x="5257800" y="358140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would you report instead?</a:t>
            </a:r>
          </a:p>
          <a:p>
            <a:pPr algn="l">
              <a:spcAft>
                <a:spcPts val="300"/>
              </a:spcAft>
            </a:pPr>
            <a:r>
              <a:rPr sz="1300" b="0" lang="en-GB">
                <a:solidFill>
                  <a:srgbClr val="595959"/>
                </a:solidFill>
              </a:rPr>
              <a:t>Think about what a retention manager wants to know.</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separate country logits with the churn formula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Churn in practice: about 1 % a month, many definitions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actice stat 1 box"/>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actice stat 1 bar"/>
          <p:cNvSpPr/>
          <p:nvPr/>
        </p:nvSpPr>
        <p:spPr>
          <a:xfrm>
            <a:off x="45720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ractice stat 1 figure"/>
          <p:cNvSpPr txBox="1"/>
          <p:nvPr/>
        </p:nvSpPr>
        <p:spPr>
          <a:xfrm>
            <a:off x="640080" y="1234440"/>
            <a:ext cx="160020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12.2 %</a:t>
            </a:r>
          </a:p>
        </p:txBody>
      </p:sp>
      <p:sp>
        <p:nvSpPr>
          <p:cNvPr id="13" name="Practice stat 1 label"/>
          <p:cNvSpPr txBox="1"/>
          <p:nvPr/>
        </p:nvSpPr>
        <p:spPr>
          <a:xfrm>
            <a:off x="2240280" y="1234440"/>
            <a:ext cx="6355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a year: </a:t>
            </a:r>
            <a:r>
              <a:rPr sz="1200" b="0" lang="en-GB">
                <a:solidFill>
                  <a:schemeClr val="tx1"/>
                </a:solidFill>
              </a:rPr>
              <a:t>O2 Telefónica Germany, postpaid churn (O2 brand), annualised, 2024</a:t>
            </a:r>
          </a:p>
        </p:txBody>
      </p:sp>
      <p:sp>
        <p:nvSpPr>
          <p:cNvPr id="14" name="Practice stat 2 box"/>
          <p:cNvSpPr/>
          <p:nvPr/>
        </p:nvSpPr>
        <p:spPr>
          <a:xfrm>
            <a:off x="457200" y="1892808"/>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actice stat 2 bar"/>
          <p:cNvSpPr/>
          <p:nvPr/>
        </p:nvSpPr>
        <p:spPr>
          <a:xfrm>
            <a:off x="457200" y="189280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actice stat 2 figure"/>
          <p:cNvSpPr txBox="1"/>
          <p:nvPr/>
        </p:nvSpPr>
        <p:spPr>
          <a:xfrm>
            <a:off x="640080" y="1892808"/>
            <a:ext cx="160020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0.9 %</a:t>
            </a:r>
          </a:p>
        </p:txBody>
      </p:sp>
      <p:sp>
        <p:nvSpPr>
          <p:cNvPr id="17" name="Practice stat 2 label"/>
          <p:cNvSpPr txBox="1"/>
          <p:nvPr/>
        </p:nvSpPr>
        <p:spPr>
          <a:xfrm>
            <a:off x="2240280" y="1892808"/>
            <a:ext cx="6355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a month: </a:t>
            </a:r>
            <a:r>
              <a:rPr sz="1200" b="0" lang="en-GB">
                <a:solidFill>
                  <a:schemeClr val="tx1"/>
                </a:solidFill>
              </a:rPr>
              <a:t>Telefónica España headline churn, FY2024, “best since 2013”</a:t>
            </a:r>
          </a:p>
        </p:txBody>
      </p:sp>
      <p:sp>
        <p:nvSpPr>
          <p:cNvPr id="18" name="Practice stat 3 box"/>
          <p:cNvSpPr/>
          <p:nvPr/>
        </p:nvSpPr>
        <p:spPr>
          <a:xfrm>
            <a:off x="457200" y="2551176"/>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actice stat 3 bar"/>
          <p:cNvSpPr/>
          <p:nvPr/>
        </p:nvSpPr>
        <p:spPr>
          <a:xfrm>
            <a:off x="457200" y="2551176"/>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actice stat 3 figure"/>
          <p:cNvSpPr txBox="1"/>
          <p:nvPr/>
        </p:nvSpPr>
        <p:spPr>
          <a:xfrm>
            <a:off x="640080" y="2551176"/>
            <a:ext cx="160020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0.93 %</a:t>
            </a:r>
          </a:p>
        </p:txBody>
      </p:sp>
      <p:sp>
        <p:nvSpPr>
          <p:cNvPr id="21" name="Practice stat 3 label"/>
          <p:cNvSpPr txBox="1"/>
          <p:nvPr/>
        </p:nvSpPr>
        <p:spPr>
          <a:xfrm>
            <a:off x="2240280" y="2551176"/>
            <a:ext cx="6355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a month: </a:t>
            </a:r>
            <a:r>
              <a:rPr sz="1200" b="0" lang="en-GB">
                <a:solidFill>
                  <a:schemeClr val="tx1"/>
                </a:solidFill>
              </a:rPr>
              <a:t>T-Mobile US postpaid phone churn, FY2025</a:t>
            </a:r>
          </a:p>
        </p:txBody>
      </p:sp>
      <p:sp>
        <p:nvSpPr>
          <p:cNvPr id="22" name="Practice stat 4 box"/>
          <p:cNvSpPr/>
          <p:nvPr/>
        </p:nvSpPr>
        <p:spPr>
          <a:xfrm>
            <a:off x="457200" y="3209544"/>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stat 4 bar"/>
          <p:cNvSpPr/>
          <p:nvPr/>
        </p:nvSpPr>
        <p:spPr>
          <a:xfrm>
            <a:off x="457200" y="320954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actice stat 4 figure"/>
          <p:cNvSpPr txBox="1"/>
          <p:nvPr/>
        </p:nvSpPr>
        <p:spPr>
          <a:xfrm>
            <a:off x="640080" y="3209544"/>
            <a:ext cx="160020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4.6 %</a:t>
            </a:r>
          </a:p>
        </p:txBody>
      </p:sp>
      <p:sp>
        <p:nvSpPr>
          <p:cNvPr id="25" name="Practice stat 4 label"/>
          <p:cNvSpPr txBox="1"/>
          <p:nvPr/>
        </p:nvSpPr>
        <p:spPr>
          <a:xfrm>
            <a:off x="2240280" y="3209544"/>
            <a:ext cx="635508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a month: </a:t>
            </a:r>
            <a:r>
              <a:rPr sz="1200" b="0" lang="en-GB">
                <a:solidFill>
                  <a:schemeClr val="tx1"/>
                </a:solidFill>
              </a:rPr>
              <a:t>US premium streaming (SVOD), weighted average, December 2025</a:t>
            </a:r>
          </a:p>
        </p:txBody>
      </p:sp>
      <p:sp>
        <p:nvSpPr>
          <p:cNvPr id="26" name="Practice definitions box"/>
          <p:cNvSpPr/>
          <p:nvPr/>
        </p:nvSpPr>
        <p:spPr>
          <a:xfrm>
            <a:off x="457200" y="3867912"/>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Practice definitions" descr=""/>
          <p:cNvPicPr>
            <a:picLocks noChangeAspect="1"/>
          </p:cNvPicPr>
          <p:nvPr/>
        </p:nvPicPr>
        <p:blipFill>
          <a:blip r:embed="rId3"/>
          <a:stretch>
            <a:fillRect/>
          </a:stretch>
        </p:blipFill>
        <p:spPr>
          <a:xfrm>
            <a:off x="658368" y="4027932"/>
            <a:ext cx="365760" cy="365760"/>
          </a:xfrm>
          <a:prstGeom prst="rect">
            <a:avLst/>
          </a:prstGeom>
        </p:spPr>
      </p:pic>
      <p:sp>
        <p:nvSpPr>
          <p:cNvPr id="28" name="Practice definitions text"/>
          <p:cNvSpPr txBox="1"/>
          <p:nvPr/>
        </p:nvSpPr>
        <p:spPr>
          <a:xfrm>
            <a:off x="1207008" y="3867912"/>
            <a:ext cx="7315200" cy="685800"/>
          </a:xfrm>
          <a:prstGeom prst="rect">
            <a:avLst/>
          </a:prstGeom>
          <a:noFill/>
        </p:spPr>
        <p:txBody>
          <a:bodyPr wrap="square" lIns="0" rIns="0" tIns="0" bIns="0" anchor="ctr">
            <a:noAutofit/>
          </a:bodyPr>
          <a:lstStyle/>
          <a:p>
            <a:pPr algn="l">
              <a:spcAft>
                <a:spcPts val="400"/>
              </a:spcAft>
            </a:pPr>
            <a:r>
              <a:rPr sz="1250" b="1" lang="en-GB">
                <a:solidFill>
                  <a:schemeClr val="tx2"/>
                </a:solidFill>
              </a:rPr>
              <a:t>Definitions differ: </a:t>
            </a:r>
            <a:r>
              <a:rPr sz="1250" b="0" lang="en-GB">
                <a:solidFill>
                  <a:schemeClr val="tx1"/>
                </a:solidFill>
              </a:rPr>
              <a:t>monthly or annualised, postpaid or all contracts, brand or group. 1.0 % a month is about 11.4 % a year: 1 − (1 − 0.01)¹².</a:t>
            </a:r>
          </a:p>
        </p:txBody>
      </p:sp>
      <p:sp>
        <p:nvSpPr>
          <p:cNvPr id="29"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O2 Telefónica Annual Report 2024; Telefónica FY2024 results; T-Mobile US Q4 2025; Antenna Q1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Retention pays, but check the claim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aims card body"/>
          <p:cNvSpPr/>
          <p:nvPr/>
        </p:nvSpPr>
        <p:spPr>
          <a:xfrm>
            <a:off x="457200" y="1691640"/>
            <a:ext cx="4046220" cy="2148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laims card header"/>
          <p:cNvSpPr/>
          <p:nvPr/>
        </p:nvSpPr>
        <p:spPr>
          <a:xfrm>
            <a:off x="45720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laims card heading"/>
          <p:cNvSpPr txBox="1"/>
          <p:nvPr/>
        </p:nvSpPr>
        <p:spPr>
          <a:xfrm>
            <a:off x="59436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Claims you will hear</a:t>
            </a:r>
          </a:p>
        </p:txBody>
      </p:sp>
      <p:pic>
        <p:nvPicPr>
          <p:cNvPr id="13" name="Icon Claims card" descr=""/>
          <p:cNvPicPr>
            <a:picLocks noChangeAspect="1"/>
          </p:cNvPicPr>
          <p:nvPr/>
        </p:nvPicPr>
        <p:blipFill>
          <a:blip r:embed="rId3"/>
          <a:stretch>
            <a:fillRect/>
          </a:stretch>
        </p:blipFill>
        <p:spPr>
          <a:xfrm>
            <a:off x="4064508" y="1307592"/>
            <a:ext cx="310896" cy="310896"/>
          </a:xfrm>
          <a:prstGeom prst="rect">
            <a:avLst/>
          </a:prstGeom>
        </p:spPr>
      </p:pic>
      <p:sp>
        <p:nvSpPr>
          <p:cNvPr id="14" name="Claims card text"/>
          <p:cNvSpPr txBox="1"/>
          <p:nvPr/>
        </p:nvSpPr>
        <p:spPr>
          <a:xfrm>
            <a:off x="621792" y="1828800"/>
            <a:ext cx="3744468" cy="18745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“Reducing defections 5 % boosts profits 25 % to 85 %” </a:t>
            </a:r>
            <a:r>
              <a:rPr sz="1300" b="0" lang="en-GB">
                <a:solidFill>
                  <a:schemeClr val="tx1"/>
                </a:solidFill>
              </a:rPr>
              <a:t>(Reichheld &amp; Sasser, HBR 1990): 5 % = five percentage points of churn; improvement assumed free</a:t>
            </a:r>
          </a:p>
          <a:p>
            <a:pPr algn="l" marL="182880" indent="-182880">
              <a:spcAft>
                <a:spcPts val="600"/>
              </a:spcAft>
              <a:buClr>
                <a:schemeClr val="accent1"/>
              </a:buClr>
              <a:buFont typeface="Arial"/>
              <a:buChar char="▪"/>
            </a:pPr>
            <a:r>
              <a:rPr sz="1300" b="1" lang="en-GB">
                <a:solidFill>
                  <a:schemeClr val="tx2"/>
                </a:solidFill>
              </a:rPr>
              <a:t>Acquiring a customer costs 5 to 25 times more than retaining one </a:t>
            </a:r>
            <a:r>
              <a:rPr sz="1300" b="0" lang="en-GB">
                <a:solidFill>
                  <a:schemeClr val="tx1"/>
                </a:solidFill>
              </a:rPr>
              <a:t>(Gallo, HBR.org 2014): a range across studies, not a parameter</a:t>
            </a:r>
          </a:p>
        </p:txBody>
      </p:sp>
      <p:sp>
        <p:nvSpPr>
          <p:cNvPr id="15" name="Experiments card body"/>
          <p:cNvSpPr/>
          <p:nvPr/>
        </p:nvSpPr>
        <p:spPr>
          <a:xfrm>
            <a:off x="4640580" y="1691640"/>
            <a:ext cx="4046220" cy="2148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periments card header"/>
          <p:cNvSpPr/>
          <p:nvPr/>
        </p:nvSpPr>
        <p:spPr>
          <a:xfrm>
            <a:off x="464058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periments card heading"/>
          <p:cNvSpPr txBox="1"/>
          <p:nvPr/>
        </p:nvSpPr>
        <p:spPr>
          <a:xfrm>
            <a:off x="477774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Field experiments</a:t>
            </a:r>
          </a:p>
        </p:txBody>
      </p:sp>
      <p:pic>
        <p:nvPicPr>
          <p:cNvPr id="18" name="Icon Experiments card" descr=""/>
          <p:cNvPicPr>
            <a:picLocks noChangeAspect="1"/>
          </p:cNvPicPr>
          <p:nvPr/>
        </p:nvPicPr>
        <p:blipFill>
          <a:blip r:embed="rId4"/>
          <a:stretch>
            <a:fillRect/>
          </a:stretch>
        </p:blipFill>
        <p:spPr>
          <a:xfrm>
            <a:off x="8247888" y="1307592"/>
            <a:ext cx="310896" cy="310896"/>
          </a:xfrm>
          <a:prstGeom prst="rect">
            <a:avLst/>
          </a:prstGeom>
        </p:spPr>
      </p:pic>
      <p:sp>
        <p:nvSpPr>
          <p:cNvPr id="19" name="Experiments card text"/>
          <p:cNvSpPr txBox="1"/>
          <p:nvPr/>
        </p:nvSpPr>
        <p:spPr>
          <a:xfrm>
            <a:off x="4805172" y="1828800"/>
            <a:ext cx="3744468" cy="18745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Calling likely churners cut churn by 1.9 pp </a:t>
            </a:r>
            <a:r>
              <a:rPr sz="1300" b="0" lang="en-GB">
                <a:solidFill>
                  <a:schemeClr val="tx1"/>
                </a:solidFill>
              </a:rPr>
              <a:t>from 17.2 % (Godinho de Matos et al. 2018)</a:t>
            </a:r>
          </a:p>
          <a:p>
            <a:pPr algn="l" marL="182880" indent="-182880">
              <a:spcAft>
                <a:spcPts val="600"/>
              </a:spcAft>
              <a:buClr>
                <a:schemeClr val="accent1"/>
              </a:buClr>
              <a:buFont typeface="Arial"/>
              <a:buChar char="▪"/>
            </a:pPr>
            <a:r>
              <a:rPr sz="1300" b="1" lang="en-GB">
                <a:solidFill>
                  <a:schemeClr val="tx2"/>
                </a:solidFill>
              </a:rPr>
              <a:t>Calling their friends as well: </a:t>
            </a:r>
            <a:r>
              <a:rPr sz="1300" b="0" lang="en-GB">
                <a:solidFill>
                  <a:schemeClr val="tx1"/>
                </a:solidFill>
              </a:rPr>
              <a:t>a further 1.3 pp less churn (same study)</a:t>
            </a:r>
          </a:p>
          <a:p>
            <a:pPr algn="l" marL="182880" indent="-182880">
              <a:spcAft>
                <a:spcPts val="600"/>
              </a:spcAft>
              <a:buClr>
                <a:schemeClr val="accent1"/>
              </a:buClr>
              <a:buFont typeface="Arial"/>
              <a:buChar char="▪"/>
            </a:pPr>
            <a:r>
              <a:rPr sz="1300" b="1" lang="en-GB">
                <a:solidFill>
                  <a:schemeClr val="tx2"/>
                </a:solidFill>
              </a:rPr>
              <a:t>Recommending cost-saving plans raised churn: </a:t>
            </a:r>
            <a:r>
              <a:rPr sz="1300" b="0" lang="en-GB">
                <a:solidFill>
                  <a:schemeClr val="tx1"/>
                </a:solidFill>
              </a:rPr>
              <a:t>10 % vs 6 % (+4 pp) within three months (Ascarza et al. 2016)</a:t>
            </a:r>
          </a:p>
        </p:txBody>
      </p:sp>
      <p:sp>
        <p:nvSpPr>
          <p:cNvPr id="20" name="Retention rule box"/>
          <p:cNvSpPr/>
          <p:nvPr/>
        </p:nvSpPr>
        <p:spPr>
          <a:xfrm>
            <a:off x="457200" y="39776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tention rule text"/>
          <p:cNvSpPr txBox="1"/>
          <p:nvPr/>
        </p:nvSpPr>
        <p:spPr>
          <a:xfrm>
            <a:off x="658368" y="39776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Before you quote a number: </a:t>
            </a:r>
            <a:r>
              <a:rPr sz="1250" b="0" lang="en-GB">
                <a:solidFill>
                  <a:schemeClr val="bg1"/>
                </a:solidFill>
              </a:rPr>
              <a:t>ask for the outcome, the unit and the counterfactual.</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Reichheld &amp; Sasser 1990; Gallo 2014; Godinho de Matos et al. 2018; Ascarza et al.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running example: one operator, four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0_country_churn.png" descr="Churn by country and contract: month-to-month customers churn more in every country, Spain and Poland highest. 24-month vs month-to-month: DE 9.6 % vs 26.4 %, AT 9.4 % vs 27.3 %, ES 24.7 % vs 46.6 %, PL 17.2 % vs 37.2 %."/>
          <p:cNvPicPr>
            <a:picLocks noChangeAspect="1"/>
          </p:cNvPicPr>
          <p:nvPr/>
        </p:nvPicPr>
        <p:blipFill>
          <a:blip r:embed="rId3"/>
          <a:stretch>
            <a:fillRect/>
          </a:stretch>
        </p:blipFill>
        <p:spPr>
          <a:xfrm>
            <a:off x="457200" y="1234440"/>
            <a:ext cx="4114800" cy="2834640"/>
          </a:xfrm>
          <a:prstGeom prst="rect">
            <a:avLst/>
          </a:prstGeom>
        </p:spPr>
      </p:pic>
      <p:sp>
        <p:nvSpPr>
          <p:cNvPr id="11" name="Data table 1-1"/>
          <p:cNvSpPr/>
          <p:nvPr/>
        </p:nvSpPr>
        <p:spPr>
          <a:xfrm>
            <a:off x="4709160" y="1234440"/>
            <a:ext cx="11155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ata table text 1-1"/>
          <p:cNvSpPr txBox="1"/>
          <p:nvPr/>
        </p:nvSpPr>
        <p:spPr>
          <a:xfrm>
            <a:off x="4800600" y="1234440"/>
            <a:ext cx="93268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Country</a:t>
            </a:r>
          </a:p>
        </p:txBody>
      </p:sp>
      <p:sp>
        <p:nvSpPr>
          <p:cNvPr id="13" name="Data table 1-2"/>
          <p:cNvSpPr/>
          <p:nvPr/>
        </p:nvSpPr>
        <p:spPr>
          <a:xfrm>
            <a:off x="5852160" y="1234440"/>
            <a:ext cx="13441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Data table text 1-2"/>
          <p:cNvSpPr txBox="1"/>
          <p:nvPr/>
        </p:nvSpPr>
        <p:spPr>
          <a:xfrm>
            <a:off x="5943600" y="1234440"/>
            <a:ext cx="116128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Customers</a:t>
            </a:r>
          </a:p>
        </p:txBody>
      </p:sp>
      <p:sp>
        <p:nvSpPr>
          <p:cNvPr id="15" name="Data table 1-3"/>
          <p:cNvSpPr/>
          <p:nvPr/>
        </p:nvSpPr>
        <p:spPr>
          <a:xfrm>
            <a:off x="7223760" y="1234440"/>
            <a:ext cx="1463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a table text 1-3"/>
          <p:cNvSpPr txBox="1"/>
          <p:nvPr/>
        </p:nvSpPr>
        <p:spPr>
          <a:xfrm>
            <a:off x="7315200" y="1234440"/>
            <a:ext cx="125272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Churn rate</a:t>
            </a:r>
          </a:p>
        </p:txBody>
      </p:sp>
      <p:sp>
        <p:nvSpPr>
          <p:cNvPr id="17" name="Data table 2-1"/>
          <p:cNvSpPr/>
          <p:nvPr/>
        </p:nvSpPr>
        <p:spPr>
          <a:xfrm>
            <a:off x="4709160" y="1536192"/>
            <a:ext cx="11155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a table text 2-1"/>
          <p:cNvSpPr txBox="1"/>
          <p:nvPr/>
        </p:nvSpPr>
        <p:spPr>
          <a:xfrm>
            <a:off x="4800600" y="1536192"/>
            <a:ext cx="93268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a:t>
            </a:r>
          </a:p>
        </p:txBody>
      </p:sp>
      <p:sp>
        <p:nvSpPr>
          <p:cNvPr id="19" name="Data table 2-2"/>
          <p:cNvSpPr/>
          <p:nvPr/>
        </p:nvSpPr>
        <p:spPr>
          <a:xfrm>
            <a:off x="5852160" y="1536192"/>
            <a:ext cx="13441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a table text 2-2"/>
          <p:cNvSpPr txBox="1"/>
          <p:nvPr/>
        </p:nvSpPr>
        <p:spPr>
          <a:xfrm>
            <a:off x="5943600" y="1536192"/>
            <a:ext cx="11612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4,000</a:t>
            </a:r>
          </a:p>
        </p:txBody>
      </p:sp>
      <p:sp>
        <p:nvSpPr>
          <p:cNvPr id="21" name="Data table 2-3"/>
          <p:cNvSpPr/>
          <p:nvPr/>
        </p:nvSpPr>
        <p:spPr>
          <a:xfrm>
            <a:off x="7223760" y="1536192"/>
            <a:ext cx="1463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a table text 2-3"/>
          <p:cNvSpPr txBox="1"/>
          <p:nvPr/>
        </p:nvSpPr>
        <p:spPr>
          <a:xfrm>
            <a:off x="7315200" y="1536192"/>
            <a:ext cx="125272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15.4 %</a:t>
            </a:r>
          </a:p>
        </p:txBody>
      </p:sp>
      <p:sp>
        <p:nvSpPr>
          <p:cNvPr id="23" name="Data table 3-1"/>
          <p:cNvSpPr/>
          <p:nvPr/>
        </p:nvSpPr>
        <p:spPr>
          <a:xfrm>
            <a:off x="4709160" y="1837944"/>
            <a:ext cx="11155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Data table text 3-1"/>
          <p:cNvSpPr txBox="1"/>
          <p:nvPr/>
        </p:nvSpPr>
        <p:spPr>
          <a:xfrm>
            <a:off x="4800600" y="1837944"/>
            <a:ext cx="93268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AT</a:t>
            </a:r>
          </a:p>
        </p:txBody>
      </p:sp>
      <p:sp>
        <p:nvSpPr>
          <p:cNvPr id="25" name="Data table 3-2"/>
          <p:cNvSpPr/>
          <p:nvPr/>
        </p:nvSpPr>
        <p:spPr>
          <a:xfrm>
            <a:off x="5852160" y="1837944"/>
            <a:ext cx="13441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 table text 3-2"/>
          <p:cNvSpPr txBox="1"/>
          <p:nvPr/>
        </p:nvSpPr>
        <p:spPr>
          <a:xfrm>
            <a:off x="5943600" y="1837944"/>
            <a:ext cx="11612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1,500</a:t>
            </a:r>
          </a:p>
        </p:txBody>
      </p:sp>
      <p:sp>
        <p:nvSpPr>
          <p:cNvPr id="27" name="Data table 3-3"/>
          <p:cNvSpPr/>
          <p:nvPr/>
        </p:nvSpPr>
        <p:spPr>
          <a:xfrm>
            <a:off x="7223760" y="1837944"/>
            <a:ext cx="1463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Data table text 3-3"/>
          <p:cNvSpPr txBox="1"/>
          <p:nvPr/>
        </p:nvSpPr>
        <p:spPr>
          <a:xfrm>
            <a:off x="7315200" y="1837944"/>
            <a:ext cx="125272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14.6 %</a:t>
            </a:r>
          </a:p>
        </p:txBody>
      </p:sp>
      <p:sp>
        <p:nvSpPr>
          <p:cNvPr id="29" name="Data table 4-1"/>
          <p:cNvSpPr/>
          <p:nvPr/>
        </p:nvSpPr>
        <p:spPr>
          <a:xfrm>
            <a:off x="4709160" y="2139696"/>
            <a:ext cx="11155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Data table text 4-1"/>
          <p:cNvSpPr txBox="1"/>
          <p:nvPr/>
        </p:nvSpPr>
        <p:spPr>
          <a:xfrm>
            <a:off x="4800600" y="2139696"/>
            <a:ext cx="93268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ES</a:t>
            </a:r>
          </a:p>
        </p:txBody>
      </p:sp>
      <p:sp>
        <p:nvSpPr>
          <p:cNvPr id="31" name="Data table 4-2"/>
          <p:cNvSpPr/>
          <p:nvPr/>
        </p:nvSpPr>
        <p:spPr>
          <a:xfrm>
            <a:off x="5852160" y="2139696"/>
            <a:ext cx="13441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ata table text 4-2"/>
          <p:cNvSpPr txBox="1"/>
          <p:nvPr/>
        </p:nvSpPr>
        <p:spPr>
          <a:xfrm>
            <a:off x="5943600" y="2139696"/>
            <a:ext cx="11612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3,000</a:t>
            </a:r>
          </a:p>
        </p:txBody>
      </p:sp>
      <p:sp>
        <p:nvSpPr>
          <p:cNvPr id="33" name="Data table 4-3"/>
          <p:cNvSpPr/>
          <p:nvPr/>
        </p:nvSpPr>
        <p:spPr>
          <a:xfrm>
            <a:off x="7223760" y="2139696"/>
            <a:ext cx="1463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Data table text 4-3"/>
          <p:cNvSpPr txBox="1"/>
          <p:nvPr/>
        </p:nvSpPr>
        <p:spPr>
          <a:xfrm>
            <a:off x="7315200" y="2139696"/>
            <a:ext cx="125272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34.7 %</a:t>
            </a:r>
          </a:p>
        </p:txBody>
      </p:sp>
      <p:sp>
        <p:nvSpPr>
          <p:cNvPr id="35" name="Data table 5-1"/>
          <p:cNvSpPr/>
          <p:nvPr/>
        </p:nvSpPr>
        <p:spPr>
          <a:xfrm>
            <a:off x="4709160" y="2441448"/>
            <a:ext cx="11155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Data table text 5-1"/>
          <p:cNvSpPr txBox="1"/>
          <p:nvPr/>
        </p:nvSpPr>
        <p:spPr>
          <a:xfrm>
            <a:off x="4800600" y="2441448"/>
            <a:ext cx="93268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PL</a:t>
            </a:r>
          </a:p>
        </p:txBody>
      </p:sp>
      <p:sp>
        <p:nvSpPr>
          <p:cNvPr id="37" name="Data table 5-2"/>
          <p:cNvSpPr/>
          <p:nvPr/>
        </p:nvSpPr>
        <p:spPr>
          <a:xfrm>
            <a:off x="5852160" y="2441448"/>
            <a:ext cx="13441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Data table text 5-2"/>
          <p:cNvSpPr txBox="1"/>
          <p:nvPr/>
        </p:nvSpPr>
        <p:spPr>
          <a:xfrm>
            <a:off x="5943600" y="2441448"/>
            <a:ext cx="11612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2,500</a:t>
            </a:r>
          </a:p>
        </p:txBody>
      </p:sp>
      <p:sp>
        <p:nvSpPr>
          <p:cNvPr id="39" name="Data table 5-3"/>
          <p:cNvSpPr/>
          <p:nvPr/>
        </p:nvSpPr>
        <p:spPr>
          <a:xfrm>
            <a:off x="7223760" y="2441448"/>
            <a:ext cx="1463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Data table text 5-3"/>
          <p:cNvSpPr txBox="1"/>
          <p:nvPr/>
        </p:nvSpPr>
        <p:spPr>
          <a:xfrm>
            <a:off x="7315200" y="2441448"/>
            <a:ext cx="125272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28.5 %</a:t>
            </a:r>
          </a:p>
        </p:txBody>
      </p:sp>
      <p:sp>
        <p:nvSpPr>
          <p:cNvPr id="41" name="Data columns row"/>
          <p:cNvSpPr/>
          <p:nvPr/>
        </p:nvSpPr>
        <p:spPr>
          <a:xfrm>
            <a:off x="4709160" y="2834640"/>
            <a:ext cx="397764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Data columns bar"/>
          <p:cNvSpPr/>
          <p:nvPr/>
        </p:nvSpPr>
        <p:spPr>
          <a:xfrm>
            <a:off x="4709160" y="28346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Data columns text"/>
          <p:cNvSpPr txBox="1"/>
          <p:nvPr/>
        </p:nvSpPr>
        <p:spPr>
          <a:xfrm>
            <a:off x="4910328" y="2834640"/>
            <a:ext cx="3685032" cy="1234440"/>
          </a:xfrm>
          <a:prstGeom prst="rect">
            <a:avLst/>
          </a:prstGeom>
          <a:noFill/>
        </p:spPr>
        <p:txBody>
          <a:bodyPr wrap="square" lIns="0" rIns="0" tIns="0" bIns="0" anchor="ctr">
            <a:noAutofit/>
          </a:bodyPr>
          <a:lstStyle/>
          <a:p>
            <a:pPr algn="l">
              <a:spcAft>
                <a:spcPts val="600"/>
              </a:spcAft>
            </a:pPr>
            <a:r>
              <a:rPr sz="1200" b="1" lang="en-GB">
                <a:solidFill>
                  <a:schemeClr val="tx2"/>
                </a:solidFill>
              </a:rPr>
              <a:t>Columns: </a:t>
            </a:r>
            <a:r>
              <a:rPr sz="1200" b="0" lang="en-GB">
                <a:solidFill>
                  <a:schemeClr val="tx1"/>
                </a:solidFill>
              </a:rPr>
              <a:t>contract type, tenure, monthly fee, price rise, complaint calls, satisfaction 1–5, retention offer (randomised pilot)</a:t>
            </a:r>
          </a:p>
          <a:p>
            <a:pPr algn="l">
              <a:spcAft>
                <a:spcPts val="600"/>
              </a:spcAft>
            </a:pPr>
            <a:r>
              <a:rPr sz="1200" b="1" lang="en-GB">
                <a:solidFill>
                  <a:schemeClr val="tx2"/>
                </a:solidFill>
              </a:rPr>
              <a:t>Outcome: </a:t>
            </a:r>
            <a:r>
              <a:rPr sz="1200" b="0" lang="en-GB">
                <a:solidFill>
                  <a:schemeClr val="tx1"/>
                </a:solidFill>
              </a:rPr>
              <a:t>churn within 12 months</a:t>
            </a:r>
          </a:p>
        </p:txBody>
      </p:sp>
      <p:sp>
        <p:nvSpPr>
          <p:cNvPr id="44" name="Data truth box"/>
          <p:cNvSpPr/>
          <p:nvPr/>
        </p:nvSpPr>
        <p:spPr>
          <a:xfrm>
            <a:off x="457200" y="42062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ata truth text"/>
          <p:cNvSpPr txBox="1"/>
          <p:nvPr/>
        </p:nvSpPr>
        <p:spPr>
          <a:xfrm>
            <a:off x="658368" y="42062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Simulated, with a known truth: </a:t>
            </a:r>
            <a:r>
              <a:rPr sz="1250" b="0" lang="en-GB">
                <a:solidFill>
                  <a:schemeClr val="bg1"/>
                </a:solidFill>
              </a:rPr>
              <a:t>the same true effects in all four countries; baselines, customer mix, noise and survey response styles differ.</a:t>
            </a:r>
          </a:p>
        </p:txBody>
      </p:sp>
      <p:sp>
        <p:nvSpPr>
          <p:cNvPr id="4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same true effects in all four countries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why logit, three scales, odds ratios</a:t>
            </a:r>
          </a:p>
        </p:txBody>
      </p:sp>
      <p:sp>
        <p:nvSpPr>
          <p:cNvPr id="3" name="Title 2"/>
          <p:cNvSpPr>
            <a:spLocks noGrp="1"/>
          </p:cNvSpPr>
          <p:nvPr>
            <p:ph type="ctrTitle"/>
          </p:nvPr>
        </p:nvSpPr>
        <p:spPr/>
        <p:txBody>
          <a:bodyPr/>
          <a:lstStyle/>
          <a:p>
            <a:r>
              <a:rPr lang="en-GB"/>
              <a:t>Foundations: from odds to probabilities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not ordinary regression for churn yes/no?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PM card body"/>
          <p:cNvSpPr/>
          <p:nvPr/>
        </p:nvSpPr>
        <p:spPr>
          <a:xfrm>
            <a:off x="457200" y="1691640"/>
            <a:ext cx="4046220"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PM card header"/>
          <p:cNvSpPr/>
          <p:nvPr/>
        </p:nvSpPr>
        <p:spPr>
          <a:xfrm>
            <a:off x="45720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PM card heading"/>
          <p:cNvSpPr txBox="1"/>
          <p:nvPr/>
        </p:nvSpPr>
        <p:spPr>
          <a:xfrm>
            <a:off x="59436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Linear probability model</a:t>
            </a:r>
          </a:p>
        </p:txBody>
      </p:sp>
      <p:pic>
        <p:nvPicPr>
          <p:cNvPr id="13" name="Icon LPM card" descr=""/>
          <p:cNvPicPr>
            <a:picLocks noChangeAspect="1"/>
          </p:cNvPicPr>
          <p:nvPr/>
        </p:nvPicPr>
        <p:blipFill>
          <a:blip r:embed="rId3"/>
          <a:stretch>
            <a:fillRect/>
          </a:stretch>
        </p:blipFill>
        <p:spPr>
          <a:xfrm>
            <a:off x="4064508" y="1307592"/>
            <a:ext cx="310896" cy="310896"/>
          </a:xfrm>
          <a:prstGeom prst="rect">
            <a:avLst/>
          </a:prstGeom>
        </p:spPr>
      </p:pic>
      <p:sp>
        <p:nvSpPr>
          <p:cNvPr id="14" name="LPM card text"/>
          <p:cNvSpPr txBox="1"/>
          <p:nvPr/>
        </p:nvSpPr>
        <p:spPr>
          <a:xfrm>
            <a:off x="621792" y="1828800"/>
            <a:ext cx="3744468" cy="17830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Easy to read: a coefficient is a change in churn probability</a:t>
            </a:r>
          </a:p>
          <a:p>
            <a:pPr algn="l" marL="182880" indent="-182880">
              <a:spcAft>
                <a:spcPts val="600"/>
              </a:spcAft>
              <a:buClr>
                <a:schemeClr val="accent1"/>
              </a:buClr>
              <a:buFont typeface="Arial"/>
              <a:buChar char="▪"/>
            </a:pPr>
            <a:r>
              <a:rPr sz="1300" b="0" lang="en-GB">
                <a:solidFill>
                  <a:schemeClr val="tx1"/>
                </a:solidFill>
              </a:rPr>
              <a:t>Predicted churn can fall below 0 or above 1</a:t>
            </a:r>
          </a:p>
          <a:p>
            <a:pPr algn="l" marL="182880" indent="-182880">
              <a:spcAft>
                <a:spcPts val="600"/>
              </a:spcAft>
              <a:buClr>
                <a:schemeClr val="accent1"/>
              </a:buClr>
              <a:buFont typeface="Arial"/>
              <a:buChar char="▪"/>
            </a:pPr>
            <a:r>
              <a:rPr sz="1300" b="0" lang="en-GB">
                <a:solidFill>
                  <a:schemeClr val="tx1"/>
                </a:solidFill>
              </a:rPr>
              <a:t>Same effect at 15 % and at 35 % baseline churn</a:t>
            </a:r>
          </a:p>
          <a:p>
            <a:pPr algn="l" marL="182880" indent="-182880">
              <a:spcAft>
                <a:spcPts val="600"/>
              </a:spcAft>
              <a:buClr>
                <a:schemeClr val="accent1"/>
              </a:buClr>
              <a:buFont typeface="Arial"/>
              <a:buChar char="▪"/>
            </a:pPr>
            <a:r>
              <a:rPr sz="1300" b="0" lang="en-GB">
                <a:solidFill>
                  <a:schemeClr val="tx1"/>
                </a:solidFill>
              </a:rPr>
              <a:t>Mood (2010): an alternative; in this course: a robustness check</a:t>
            </a:r>
          </a:p>
        </p:txBody>
      </p:sp>
      <p:sp>
        <p:nvSpPr>
          <p:cNvPr id="15" name="Logit card body"/>
          <p:cNvSpPr/>
          <p:nvPr/>
        </p:nvSpPr>
        <p:spPr>
          <a:xfrm>
            <a:off x="4640580" y="1691640"/>
            <a:ext cx="4046220"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ogit card header"/>
          <p:cNvSpPr/>
          <p:nvPr/>
        </p:nvSpPr>
        <p:spPr>
          <a:xfrm>
            <a:off x="464058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card heading"/>
          <p:cNvSpPr txBox="1"/>
          <p:nvPr/>
        </p:nvSpPr>
        <p:spPr>
          <a:xfrm>
            <a:off x="477774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Logistic regression</a:t>
            </a:r>
          </a:p>
        </p:txBody>
      </p:sp>
      <p:pic>
        <p:nvPicPr>
          <p:cNvPr id="18" name="Icon Logit card" descr=""/>
          <p:cNvPicPr>
            <a:picLocks noChangeAspect="1"/>
          </p:cNvPicPr>
          <p:nvPr/>
        </p:nvPicPr>
        <p:blipFill>
          <a:blip r:embed="rId4"/>
          <a:stretch>
            <a:fillRect/>
          </a:stretch>
        </p:blipFill>
        <p:spPr>
          <a:xfrm>
            <a:off x="8247888" y="1307592"/>
            <a:ext cx="310896" cy="310896"/>
          </a:xfrm>
          <a:prstGeom prst="rect">
            <a:avLst/>
          </a:prstGeom>
        </p:spPr>
      </p:pic>
      <p:sp>
        <p:nvSpPr>
          <p:cNvPr id="19" name="Logit card text"/>
          <p:cNvSpPr txBox="1"/>
          <p:nvPr/>
        </p:nvSpPr>
        <p:spPr>
          <a:xfrm>
            <a:off x="4805172" y="1828800"/>
            <a:ext cx="3744468" cy="17830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Harder to read: a coefficient is a change in log-odds</a:t>
            </a:r>
          </a:p>
          <a:p>
            <a:pPr algn="l" marL="182880" indent="-182880">
              <a:spcAft>
                <a:spcPts val="600"/>
              </a:spcAft>
              <a:buClr>
                <a:schemeClr val="accent1"/>
              </a:buClr>
              <a:buFont typeface="Arial"/>
              <a:buChar char="▪"/>
            </a:pPr>
            <a:r>
              <a:rPr sz="1300" b="0" lang="en-GB">
                <a:solidFill>
                  <a:schemeClr val="tx1"/>
                </a:solidFill>
              </a:rPr>
              <a:t>Churn probabilities stay between 0 and 1</a:t>
            </a:r>
          </a:p>
          <a:p>
            <a:pPr algn="l" marL="182880" indent="-182880">
              <a:spcAft>
                <a:spcPts val="600"/>
              </a:spcAft>
              <a:buClr>
                <a:schemeClr val="accent1"/>
              </a:buClr>
              <a:buFont typeface="Arial"/>
              <a:buChar char="▪"/>
            </a:pPr>
            <a:r>
              <a:rPr sz="1300" b="0" lang="en-GB">
                <a:solidFill>
                  <a:schemeClr val="tx1"/>
                </a:solidFill>
              </a:rPr>
              <a:t>Largest effect near 50 %, smallest at the extremes</a:t>
            </a:r>
          </a:p>
          <a:p>
            <a:pPr algn="l" marL="182880" indent="-182880">
              <a:spcAft>
                <a:spcPts val="600"/>
              </a:spcAft>
              <a:buClr>
                <a:schemeClr val="accent1"/>
              </a:buClr>
              <a:buFont typeface="Arial"/>
              <a:buChar char="▪"/>
            </a:pPr>
            <a:r>
              <a:rPr sz="1300" b="0" lang="en-GB">
                <a:solidFill>
                  <a:schemeClr val="tx1"/>
                </a:solidFill>
              </a:rPr>
              <a:t>Estimated by maximum likelihood</a:t>
            </a:r>
          </a:p>
        </p:txBody>
      </p:sp>
      <p:sp>
        <p:nvSpPr>
          <p:cNvPr id="20" name="S-curve price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urve price text"/>
          <p:cNvSpPr txBox="1"/>
          <p:nvPr/>
        </p:nvSpPr>
        <p:spPr>
          <a:xfrm>
            <a:off x="658368" y="393192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The price of the S-curve: </a:t>
            </a:r>
            <a:r>
              <a:rPr sz="1250" b="0" lang="en-GB">
                <a:solidFill>
                  <a:schemeClr val="bg1"/>
                </a:solidFill>
              </a:rPr>
              <a:t>a coefficient no longer tells you how much the probability changes.</a:t>
            </a:r>
          </a:p>
        </p:txBody>
      </p:sp>
      <p:sp>
        <p:nvSpPr>
          <p:cNvPr id="22"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Mood (2010), ESR; Hoetker (2007), SMJ; baselines 15 % and 35 % from simulated data (telco_churn.csv)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model, three scales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1_scurve.png" descr="S-curve of churn probability against log-odds; Spain sits on a steeper part than Germany. Germany at 15 % churn (log-odds −1.70), Spain at 35 % (log-odds −0.63)."/>
          <p:cNvPicPr>
            <a:picLocks noChangeAspect="1"/>
          </p:cNvPicPr>
          <p:nvPr/>
        </p:nvPicPr>
        <p:blipFill>
          <a:blip r:embed="rId3"/>
          <a:stretch>
            <a:fillRect/>
          </a:stretch>
        </p:blipFill>
        <p:spPr>
          <a:xfrm>
            <a:off x="457200" y="1234440"/>
            <a:ext cx="4023360" cy="3291840"/>
          </a:xfrm>
          <a:prstGeom prst="rect">
            <a:avLst/>
          </a:prstGeom>
        </p:spPr>
      </p:pic>
      <p:sp>
        <p:nvSpPr>
          <p:cNvPr id="11" name="Scale 1 row"/>
          <p:cNvSpPr/>
          <p:nvPr/>
        </p:nvSpPr>
        <p:spPr>
          <a:xfrm>
            <a:off x="4617720" y="1234440"/>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cale 1 bar"/>
          <p:cNvSpPr/>
          <p:nvPr/>
        </p:nvSpPr>
        <p:spPr>
          <a:xfrm>
            <a:off x="4617720" y="1234440"/>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1 text"/>
          <p:cNvSpPr txBox="1"/>
          <p:nvPr/>
        </p:nvSpPr>
        <p:spPr>
          <a:xfrm>
            <a:off x="4818888" y="1234440"/>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Log-odds: </a:t>
            </a:r>
            <a:r>
              <a:rPr sz="1300" b="0" lang="en-GB">
                <a:solidFill>
                  <a:schemeClr val="tx1"/>
                </a:solidFill>
              </a:rPr>
              <a:t>β adds up linearly. This is what the output table shows.</a:t>
            </a:r>
          </a:p>
        </p:txBody>
      </p:sp>
      <p:sp>
        <p:nvSpPr>
          <p:cNvPr id="14" name="Scale 2 row"/>
          <p:cNvSpPr/>
          <p:nvPr/>
        </p:nvSpPr>
        <p:spPr>
          <a:xfrm>
            <a:off x="4617720" y="2368296"/>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2 bar"/>
          <p:cNvSpPr/>
          <p:nvPr/>
        </p:nvSpPr>
        <p:spPr>
          <a:xfrm>
            <a:off x="4617720" y="2368296"/>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cale 2 text"/>
          <p:cNvSpPr txBox="1"/>
          <p:nvPr/>
        </p:nvSpPr>
        <p:spPr>
          <a:xfrm>
            <a:off x="4818888" y="2368296"/>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Odds: </a:t>
            </a:r>
            <a:r>
              <a:rPr sz="1300" b="0" lang="en-GB">
                <a:solidFill>
                  <a:schemeClr val="tx1"/>
                </a:solidFill>
              </a:rPr>
              <a:t>exp(β) multiplies the odds. This is the odds ratio.</a:t>
            </a:r>
          </a:p>
        </p:txBody>
      </p:sp>
      <p:sp>
        <p:nvSpPr>
          <p:cNvPr id="17" name="Scale 3 row"/>
          <p:cNvSpPr/>
          <p:nvPr/>
        </p:nvSpPr>
        <p:spPr>
          <a:xfrm>
            <a:off x="4617720" y="3502152"/>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ale 3 bar"/>
          <p:cNvSpPr/>
          <p:nvPr/>
        </p:nvSpPr>
        <p:spPr>
          <a:xfrm>
            <a:off x="4617720" y="3502152"/>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3 text"/>
          <p:cNvSpPr txBox="1"/>
          <p:nvPr/>
        </p:nvSpPr>
        <p:spPr>
          <a:xfrm>
            <a:off x="4818888" y="3502152"/>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Probability: </a:t>
            </a:r>
            <a:r>
              <a:rPr sz="1300" b="0" lang="en-GB">
                <a:solidFill>
                  <a:schemeClr val="tx1"/>
                </a:solidFill>
              </a:rPr>
              <a:t>what a retention manager asks about. Its change depends on the starting point.</a:t>
            </a:r>
          </a:p>
        </p:txBody>
      </p:sp>
      <p:sp>
        <p:nvSpPr>
          <p:cNvPr id="2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curve p = 1 / (1 + exp(−x))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Worked example: German customers, counts to odds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counts 1-1"/>
          <p:cNvSpPr/>
          <p:nvPr/>
        </p:nvSpPr>
        <p:spPr>
          <a:xfrm>
            <a:off x="457200" y="1234440"/>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counts text 1-1"/>
          <p:cNvSpPr txBox="1"/>
          <p:nvPr/>
        </p:nvSpPr>
        <p:spPr>
          <a:xfrm>
            <a:off x="548640" y="1234440"/>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German customers</a:t>
            </a:r>
          </a:p>
        </p:txBody>
      </p:sp>
      <p:sp>
        <p:nvSpPr>
          <p:cNvPr id="12" name="DE counts 1-2"/>
          <p:cNvSpPr/>
          <p:nvPr/>
        </p:nvSpPr>
        <p:spPr>
          <a:xfrm>
            <a:off x="2377440" y="1234440"/>
            <a:ext cx="10698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 counts text 1-2"/>
          <p:cNvSpPr txBox="1"/>
          <p:nvPr/>
        </p:nvSpPr>
        <p:spPr>
          <a:xfrm>
            <a:off x="2468880" y="1234440"/>
            <a:ext cx="88696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Churners</a:t>
            </a:r>
          </a:p>
        </p:txBody>
      </p:sp>
      <p:sp>
        <p:nvSpPr>
          <p:cNvPr id="14" name="DE counts 1-3"/>
          <p:cNvSpPr/>
          <p:nvPr/>
        </p:nvSpPr>
        <p:spPr>
          <a:xfrm>
            <a:off x="347472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counts text 1-3"/>
          <p:cNvSpPr txBox="1"/>
          <p:nvPr/>
        </p:nvSpPr>
        <p:spPr>
          <a:xfrm>
            <a:off x="3566160" y="1234440"/>
            <a:ext cx="97840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Customers</a:t>
            </a:r>
          </a:p>
        </p:txBody>
      </p:sp>
      <p:sp>
        <p:nvSpPr>
          <p:cNvPr id="16" name="DE counts 1-4"/>
          <p:cNvSpPr/>
          <p:nvPr/>
        </p:nvSpPr>
        <p:spPr>
          <a:xfrm>
            <a:off x="4663440" y="1234440"/>
            <a:ext cx="13441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 counts text 1-4"/>
          <p:cNvSpPr txBox="1"/>
          <p:nvPr/>
        </p:nvSpPr>
        <p:spPr>
          <a:xfrm>
            <a:off x="4754880" y="1234440"/>
            <a:ext cx="11612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Probability p</a:t>
            </a:r>
          </a:p>
        </p:txBody>
      </p:sp>
      <p:sp>
        <p:nvSpPr>
          <p:cNvPr id="18" name="DE counts 1-5"/>
          <p:cNvSpPr/>
          <p:nvPr/>
        </p:nvSpPr>
        <p:spPr>
          <a:xfrm>
            <a:off x="6035040" y="1234440"/>
            <a:ext cx="26517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counts text 1-5"/>
          <p:cNvSpPr txBox="1"/>
          <p:nvPr/>
        </p:nvSpPr>
        <p:spPr>
          <a:xfrm>
            <a:off x="6126480" y="1234440"/>
            <a:ext cx="24414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Odds = p / (1 − p)</a:t>
            </a:r>
          </a:p>
        </p:txBody>
      </p:sp>
      <p:sp>
        <p:nvSpPr>
          <p:cNvPr id="20" name="DE counts 2-1"/>
          <p:cNvSpPr/>
          <p:nvPr/>
        </p:nvSpPr>
        <p:spPr>
          <a:xfrm>
            <a:off x="457200" y="1591056"/>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 counts text 2-1"/>
          <p:cNvSpPr txBox="1"/>
          <p:nvPr/>
        </p:nvSpPr>
        <p:spPr>
          <a:xfrm>
            <a:off x="548640" y="1591056"/>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Month-to-month</a:t>
            </a:r>
          </a:p>
        </p:txBody>
      </p:sp>
      <p:sp>
        <p:nvSpPr>
          <p:cNvPr id="22" name="DE counts 2-2"/>
          <p:cNvSpPr/>
          <p:nvPr/>
        </p:nvSpPr>
        <p:spPr>
          <a:xfrm>
            <a:off x="2377440" y="1591056"/>
            <a:ext cx="10698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 counts text 2-2"/>
          <p:cNvSpPr txBox="1"/>
          <p:nvPr/>
        </p:nvSpPr>
        <p:spPr>
          <a:xfrm>
            <a:off x="2468880" y="1591056"/>
            <a:ext cx="88696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24" name="DE counts 2-3"/>
          <p:cNvSpPr/>
          <p:nvPr/>
        </p:nvSpPr>
        <p:spPr>
          <a:xfrm>
            <a:off x="347472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 counts text 2-3"/>
          <p:cNvSpPr txBox="1"/>
          <p:nvPr/>
        </p:nvSpPr>
        <p:spPr>
          <a:xfrm>
            <a:off x="3566160" y="1591056"/>
            <a:ext cx="97840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100</a:t>
            </a:r>
          </a:p>
        </p:txBody>
      </p:sp>
      <p:sp>
        <p:nvSpPr>
          <p:cNvPr id="26" name="DE counts 2-4"/>
          <p:cNvSpPr/>
          <p:nvPr/>
        </p:nvSpPr>
        <p:spPr>
          <a:xfrm>
            <a:off x="4663440" y="1591056"/>
            <a:ext cx="1344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 counts text 2-4"/>
          <p:cNvSpPr txBox="1"/>
          <p:nvPr/>
        </p:nvSpPr>
        <p:spPr>
          <a:xfrm>
            <a:off x="4754880" y="1591056"/>
            <a:ext cx="11612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0.50</a:t>
            </a:r>
          </a:p>
        </p:txBody>
      </p:sp>
      <p:sp>
        <p:nvSpPr>
          <p:cNvPr id="28" name="DE counts 2-5"/>
          <p:cNvSpPr/>
          <p:nvPr/>
        </p:nvSpPr>
        <p:spPr>
          <a:xfrm>
            <a:off x="6035040" y="1591056"/>
            <a:ext cx="26517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 counts text 2-5"/>
          <p:cNvSpPr txBox="1"/>
          <p:nvPr/>
        </p:nvSpPr>
        <p:spPr>
          <a:xfrm>
            <a:off x="6126480" y="1591056"/>
            <a:ext cx="24414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0.50 / 0.50 = 1.0</a:t>
            </a:r>
          </a:p>
        </p:txBody>
      </p:sp>
      <p:sp>
        <p:nvSpPr>
          <p:cNvPr id="30" name="DE counts 3-1"/>
          <p:cNvSpPr/>
          <p:nvPr/>
        </p:nvSpPr>
        <p:spPr>
          <a:xfrm>
            <a:off x="457200" y="194767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 counts text 3-1"/>
          <p:cNvSpPr txBox="1"/>
          <p:nvPr/>
        </p:nvSpPr>
        <p:spPr>
          <a:xfrm>
            <a:off x="548640" y="194767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24-month</a:t>
            </a:r>
          </a:p>
        </p:txBody>
      </p:sp>
      <p:sp>
        <p:nvSpPr>
          <p:cNvPr id="32" name="DE counts 3-2"/>
          <p:cNvSpPr/>
          <p:nvPr/>
        </p:nvSpPr>
        <p:spPr>
          <a:xfrm>
            <a:off x="2377440" y="1947672"/>
            <a:ext cx="10698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 counts text 3-2"/>
          <p:cNvSpPr txBox="1"/>
          <p:nvPr/>
        </p:nvSpPr>
        <p:spPr>
          <a:xfrm>
            <a:off x="2468880" y="1947672"/>
            <a:ext cx="88696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20</a:t>
            </a:r>
          </a:p>
        </p:txBody>
      </p:sp>
      <p:sp>
        <p:nvSpPr>
          <p:cNvPr id="34" name="DE counts 3-3"/>
          <p:cNvSpPr/>
          <p:nvPr/>
        </p:nvSpPr>
        <p:spPr>
          <a:xfrm>
            <a:off x="347472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 counts text 3-3"/>
          <p:cNvSpPr txBox="1"/>
          <p:nvPr/>
        </p:nvSpPr>
        <p:spPr>
          <a:xfrm>
            <a:off x="3566160" y="1947672"/>
            <a:ext cx="97840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100</a:t>
            </a:r>
          </a:p>
        </p:txBody>
      </p:sp>
      <p:sp>
        <p:nvSpPr>
          <p:cNvPr id="36" name="DE counts 3-4"/>
          <p:cNvSpPr/>
          <p:nvPr/>
        </p:nvSpPr>
        <p:spPr>
          <a:xfrm>
            <a:off x="4663440" y="1947672"/>
            <a:ext cx="13441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 counts text 3-4"/>
          <p:cNvSpPr txBox="1"/>
          <p:nvPr/>
        </p:nvSpPr>
        <p:spPr>
          <a:xfrm>
            <a:off x="4754880" y="1947672"/>
            <a:ext cx="11612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0.20</a:t>
            </a:r>
          </a:p>
        </p:txBody>
      </p:sp>
      <p:sp>
        <p:nvSpPr>
          <p:cNvPr id="38" name="DE counts 3-5"/>
          <p:cNvSpPr/>
          <p:nvPr/>
        </p:nvSpPr>
        <p:spPr>
          <a:xfrm>
            <a:off x="6035040" y="1947672"/>
            <a:ext cx="26517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 counts text 3-5"/>
          <p:cNvSpPr txBox="1"/>
          <p:nvPr/>
        </p:nvSpPr>
        <p:spPr>
          <a:xfrm>
            <a:off x="6126480" y="1947672"/>
            <a:ext cx="24414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0.20 / 0.80 = 0.25</a:t>
            </a:r>
          </a:p>
        </p:txBody>
      </p:sp>
      <p:sp>
        <p:nvSpPr>
          <p:cNvPr id="40" name="DE formula caption bar"/>
          <p:cNvSpPr/>
          <p:nvPr/>
        </p:nvSpPr>
        <p:spPr>
          <a:xfrm>
            <a:off x="457200" y="24231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 formula caption"/>
          <p:cNvSpPr txBox="1"/>
          <p:nvPr/>
        </p:nvSpPr>
        <p:spPr>
          <a:xfrm>
            <a:off x="566928" y="24231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Formula</a:t>
            </a:r>
          </a:p>
        </p:txBody>
      </p:sp>
      <p:sp>
        <p:nvSpPr>
          <p:cNvPr id="42" name="DE formula box"/>
          <p:cNvSpPr/>
          <p:nvPr/>
        </p:nvSpPr>
        <p:spPr>
          <a:xfrm>
            <a:off x="457200" y="2697480"/>
            <a:ext cx="404622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DE formula code"/>
          <p:cNvSpPr txBox="1"/>
          <p:nvPr/>
        </p:nvSpPr>
        <p:spPr>
          <a:xfrm>
            <a:off x="594360" y="2788920"/>
            <a:ext cx="377190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    = churners / customers</a:t>
            </a:r>
          </a:p>
          <a:p>
            <a:pPr algn="l">
              <a:spcAft>
                <a:spcPts val="0"/>
              </a:spcAft>
            </a:pPr>
            <a:r>
              <a:rPr sz="1200" b="0" lang="en-GB">
                <a:solidFill>
                  <a:schemeClr val="bg1"/>
                </a:solidFill>
                <a:latin typeface="Consolas"/>
              </a:rPr>
              <a:t>odds = p / (1 − p)</a:t>
            </a:r>
          </a:p>
          <a:p>
            <a:pPr algn="l">
              <a:spcAft>
                <a:spcPts val="0"/>
              </a:spcAft>
            </a:pPr>
            <a:r>
              <a:rPr sz="1200" b="0" lang="en-GB">
                <a:solidFill>
                  <a:schemeClr val="bg1"/>
                </a:solidFill>
                <a:latin typeface="Consolas"/>
              </a:rPr>
              <a:t>     = churners / stayers</a:t>
            </a:r>
          </a:p>
        </p:txBody>
      </p:sp>
      <p:sp>
        <p:nvSpPr>
          <p:cNvPr id="44" name="DE read 1 row"/>
          <p:cNvSpPr/>
          <p:nvPr/>
        </p:nvSpPr>
        <p:spPr>
          <a:xfrm>
            <a:off x="4640580" y="2423160"/>
            <a:ext cx="404622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E read 1 bar"/>
          <p:cNvSpPr/>
          <p:nvPr/>
        </p:nvSpPr>
        <p:spPr>
          <a:xfrm>
            <a:off x="4640580" y="242316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DE read 1 text"/>
          <p:cNvSpPr txBox="1"/>
          <p:nvPr/>
        </p:nvSpPr>
        <p:spPr>
          <a:xfrm>
            <a:off x="4841748" y="2423160"/>
            <a:ext cx="3753612" cy="525780"/>
          </a:xfrm>
          <a:prstGeom prst="rect">
            <a:avLst/>
          </a:prstGeom>
          <a:noFill/>
        </p:spPr>
        <p:txBody>
          <a:bodyPr wrap="square" lIns="0" rIns="0" tIns="0" bIns="0" anchor="ctr">
            <a:noAutofit/>
          </a:bodyPr>
          <a:lstStyle/>
          <a:p>
            <a:pPr algn="l">
              <a:spcAft>
                <a:spcPts val="400"/>
              </a:spcAft>
            </a:pPr>
            <a:r>
              <a:rPr sz="1250" b="1" lang="en-GB">
                <a:solidFill>
                  <a:schemeClr val="tx2"/>
                </a:solidFill>
              </a:rPr>
              <a:t>Odds 1.0: </a:t>
            </a:r>
            <a:r>
              <a:rPr sz="1250" b="0" lang="en-GB">
                <a:solidFill>
                  <a:schemeClr val="tx1"/>
                </a:solidFill>
              </a:rPr>
              <a:t>one churner per stayer (50:50)</a:t>
            </a:r>
          </a:p>
        </p:txBody>
      </p:sp>
      <p:sp>
        <p:nvSpPr>
          <p:cNvPr id="47" name="DE read 2 row"/>
          <p:cNvSpPr/>
          <p:nvPr/>
        </p:nvSpPr>
        <p:spPr>
          <a:xfrm>
            <a:off x="4640580" y="3040380"/>
            <a:ext cx="404622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DE read 2 bar"/>
          <p:cNvSpPr/>
          <p:nvPr/>
        </p:nvSpPr>
        <p:spPr>
          <a:xfrm>
            <a:off x="4640580" y="304038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E read 2 text"/>
          <p:cNvSpPr txBox="1"/>
          <p:nvPr/>
        </p:nvSpPr>
        <p:spPr>
          <a:xfrm>
            <a:off x="4841748" y="3040380"/>
            <a:ext cx="3753612" cy="525780"/>
          </a:xfrm>
          <a:prstGeom prst="rect">
            <a:avLst/>
          </a:prstGeom>
          <a:noFill/>
        </p:spPr>
        <p:txBody>
          <a:bodyPr wrap="square" lIns="0" rIns="0" tIns="0" bIns="0" anchor="ctr">
            <a:noAutofit/>
          </a:bodyPr>
          <a:lstStyle/>
          <a:p>
            <a:pPr algn="l">
              <a:spcAft>
                <a:spcPts val="400"/>
              </a:spcAft>
            </a:pPr>
            <a:r>
              <a:rPr sz="1250" b="1" lang="en-GB">
                <a:solidFill>
                  <a:schemeClr val="tx2"/>
                </a:solidFill>
              </a:rPr>
              <a:t>Odds 0.25: </a:t>
            </a:r>
            <a:r>
              <a:rPr sz="1250" b="0" lang="en-GB">
                <a:solidFill>
                  <a:schemeClr val="tx1"/>
                </a:solidFill>
              </a:rPr>
              <a:t>one churner per four stayers</a:t>
            </a:r>
          </a:p>
        </p:txBody>
      </p:sp>
      <p:sp>
        <p:nvSpPr>
          <p:cNvPr id="50" name="DE scales box"/>
          <p:cNvSpPr/>
          <p:nvPr/>
        </p:nvSpPr>
        <p:spPr>
          <a:xfrm>
            <a:off x="457200" y="37490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E scales text"/>
          <p:cNvSpPr txBox="1"/>
          <p:nvPr/>
        </p:nvSpPr>
        <p:spPr>
          <a:xfrm>
            <a:off x="658368" y="37490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Scales: </a:t>
            </a:r>
            <a:r>
              <a:rPr sz="1250" b="0" lang="en-GB">
                <a:solidFill>
                  <a:schemeClr val="bg1"/>
                </a:solidFill>
              </a:rPr>
              <a:t>probability from 0 to 1, odds from 0 to infinity; odds of 1 mean 50:50.</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Invented counts for the calculation (200 German customers)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Odds ratio and log-odds: the same example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stat 1 box"/>
          <p:cNvSpPr/>
          <p:nvPr/>
        </p:nvSpPr>
        <p:spPr>
          <a:xfrm>
            <a:off x="457200" y="1234440"/>
            <a:ext cx="48463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stat 1 bar"/>
          <p:cNvSpPr/>
          <p:nvPr/>
        </p:nvSpPr>
        <p:spPr>
          <a:xfrm>
            <a:off x="457200" y="12344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 stat 1 figure"/>
          <p:cNvSpPr txBox="1"/>
          <p:nvPr/>
        </p:nvSpPr>
        <p:spPr>
          <a:xfrm>
            <a:off x="640080" y="1234440"/>
            <a:ext cx="1463040" cy="6400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a:t>
            </a:r>
          </a:p>
        </p:txBody>
      </p:sp>
      <p:sp>
        <p:nvSpPr>
          <p:cNvPr id="13" name="DE stat 1 label"/>
          <p:cNvSpPr txBox="1"/>
          <p:nvPr/>
        </p:nvSpPr>
        <p:spPr>
          <a:xfrm>
            <a:off x="2103120" y="1234440"/>
            <a:ext cx="3108960" cy="640080"/>
          </a:xfrm>
          <a:prstGeom prst="rect">
            <a:avLst/>
          </a:prstGeom>
          <a:noFill/>
        </p:spPr>
        <p:txBody>
          <a:bodyPr wrap="square" lIns="0" rIns="0" tIns="0" bIns="0" anchor="ctr">
            <a:noAutofit/>
          </a:bodyPr>
          <a:lstStyle/>
          <a:p>
            <a:pPr algn="l">
              <a:spcAft>
                <a:spcPts val="0"/>
              </a:spcAft>
            </a:pPr>
            <a:r>
              <a:rPr sz="1200" b="1" lang="en-GB">
                <a:solidFill>
                  <a:schemeClr val="tx2"/>
                </a:solidFill>
              </a:rPr>
              <a:t>Odds ratio: </a:t>
            </a:r>
            <a:r>
              <a:rPr sz="1200" b="0" lang="en-GB">
                <a:solidFill>
                  <a:schemeClr val="tx1"/>
                </a:solidFill>
              </a:rPr>
              <a:t>1.0 / 0.25</a:t>
            </a:r>
          </a:p>
          <a:p>
            <a:pPr algn="l">
              <a:spcAft>
                <a:spcPts val="0"/>
              </a:spcAft>
            </a:pPr>
            <a:r>
              <a:rPr sz="1200" b="0" lang="en-GB">
                <a:solidFill>
                  <a:schemeClr val="tx1"/>
                </a:solidFill>
              </a:rPr>
              <a:t>month-to-month: 4 times the odds</a:t>
            </a:r>
          </a:p>
        </p:txBody>
      </p:sp>
      <p:sp>
        <p:nvSpPr>
          <p:cNvPr id="14" name="DE stat 2 box"/>
          <p:cNvSpPr/>
          <p:nvPr/>
        </p:nvSpPr>
        <p:spPr>
          <a:xfrm>
            <a:off x="457200" y="2034540"/>
            <a:ext cx="48463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stat 2 bar"/>
          <p:cNvSpPr/>
          <p:nvPr/>
        </p:nvSpPr>
        <p:spPr>
          <a:xfrm>
            <a:off x="457200" y="20345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 stat 2 figure"/>
          <p:cNvSpPr txBox="1"/>
          <p:nvPr/>
        </p:nvSpPr>
        <p:spPr>
          <a:xfrm>
            <a:off x="640080" y="2034540"/>
            <a:ext cx="1463040" cy="6400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−1.39</a:t>
            </a:r>
          </a:p>
        </p:txBody>
      </p:sp>
      <p:sp>
        <p:nvSpPr>
          <p:cNvPr id="17" name="DE stat 2 label"/>
          <p:cNvSpPr txBox="1"/>
          <p:nvPr/>
        </p:nvSpPr>
        <p:spPr>
          <a:xfrm>
            <a:off x="2103120" y="2034540"/>
            <a:ext cx="3108960" cy="640080"/>
          </a:xfrm>
          <a:prstGeom prst="rect">
            <a:avLst/>
          </a:prstGeom>
          <a:noFill/>
        </p:spPr>
        <p:txBody>
          <a:bodyPr wrap="square" lIns="0" rIns="0" tIns="0" bIns="0" anchor="ctr">
            <a:noAutofit/>
          </a:bodyPr>
          <a:lstStyle/>
          <a:p>
            <a:pPr algn="l">
              <a:spcAft>
                <a:spcPts val="0"/>
              </a:spcAft>
            </a:pPr>
            <a:r>
              <a:rPr sz="1200" b="1" lang="en-GB">
                <a:solidFill>
                  <a:schemeClr val="tx2"/>
                </a:solidFill>
              </a:rPr>
              <a:t>Log-odds, 24-month: </a:t>
            </a:r>
            <a:r>
              <a:rPr sz="1200" b="0" lang="en-GB">
                <a:solidFill>
                  <a:schemeClr val="tx1"/>
                </a:solidFill>
              </a:rPr>
              <a:t>ln 0.25</a:t>
            </a:r>
          </a:p>
          <a:p>
            <a:pPr algn="l">
              <a:spcAft>
                <a:spcPts val="0"/>
              </a:spcAft>
            </a:pPr>
            <a:r>
              <a:rPr sz="1200" b="0" lang="en-GB">
                <a:solidFill>
                  <a:schemeClr val="tx1"/>
                </a:solidFill>
              </a:rPr>
              <a:t>month-to-month: ln 1.0 = 0</a:t>
            </a:r>
          </a:p>
        </p:txBody>
      </p:sp>
      <p:sp>
        <p:nvSpPr>
          <p:cNvPr id="18" name="DE stat 3 box"/>
          <p:cNvSpPr/>
          <p:nvPr/>
        </p:nvSpPr>
        <p:spPr>
          <a:xfrm>
            <a:off x="457200" y="2834640"/>
            <a:ext cx="48463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stat 3 bar"/>
          <p:cNvSpPr/>
          <p:nvPr/>
        </p:nvSpPr>
        <p:spPr>
          <a:xfrm>
            <a:off x="457200" y="28346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 stat 3 figure"/>
          <p:cNvSpPr txBox="1"/>
          <p:nvPr/>
        </p:nvSpPr>
        <p:spPr>
          <a:xfrm>
            <a:off x="640080" y="2834640"/>
            <a:ext cx="1463040" cy="6400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1.39</a:t>
            </a:r>
          </a:p>
        </p:txBody>
      </p:sp>
      <p:sp>
        <p:nvSpPr>
          <p:cNvPr id="21" name="DE stat 3 label"/>
          <p:cNvSpPr txBox="1"/>
          <p:nvPr/>
        </p:nvSpPr>
        <p:spPr>
          <a:xfrm>
            <a:off x="2103120" y="2834640"/>
            <a:ext cx="3108960" cy="640080"/>
          </a:xfrm>
          <a:prstGeom prst="rect">
            <a:avLst/>
          </a:prstGeom>
          <a:noFill/>
        </p:spPr>
        <p:txBody>
          <a:bodyPr wrap="square" lIns="0" rIns="0" tIns="0" bIns="0" anchor="ctr">
            <a:noAutofit/>
          </a:bodyPr>
          <a:lstStyle/>
          <a:p>
            <a:pPr algn="l">
              <a:spcAft>
                <a:spcPts val="0"/>
              </a:spcAft>
            </a:pPr>
            <a:r>
              <a:rPr sz="1200" b="1" lang="en-GB">
                <a:solidFill>
                  <a:schemeClr val="tx2"/>
                </a:solidFill>
              </a:rPr>
              <a:t>Difference = ln 4.0 = 1.386</a:t>
            </a:r>
            <a:r>
              <a:rPr sz="1200" b="0" lang="en-GB">
                <a:solidFill>
                  <a:schemeClr val="tx1"/>
                </a:solidFill>
              </a:rPr>
              <a:t/>
            </a:r>
          </a:p>
          <a:p>
            <a:pPr algn="l">
              <a:spcAft>
                <a:spcPts val="0"/>
              </a:spcAft>
            </a:pPr>
            <a:r>
              <a:rPr sz="1200" b="0" lang="en-GB">
                <a:solidFill>
                  <a:schemeClr val="tx1"/>
                </a:solidFill>
              </a:rPr>
              <a:t>the logit coefficient of month-to-month</a:t>
            </a:r>
          </a:p>
        </p:txBody>
      </p:sp>
      <p:sp>
        <p:nvSpPr>
          <p:cNvPr id="22" name="Back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ack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Back to probability</a:t>
            </a:r>
          </a:p>
        </p:txBody>
      </p:sp>
      <p:sp>
        <p:nvSpPr>
          <p:cNvPr id="24" name="Back code box"/>
          <p:cNvSpPr/>
          <p:nvPr/>
        </p:nvSpPr>
        <p:spPr>
          <a:xfrm>
            <a:off x="5440680" y="1508760"/>
            <a:ext cx="3246120" cy="1965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ack code code"/>
          <p:cNvSpPr txBox="1"/>
          <p:nvPr/>
        </p:nvSpPr>
        <p:spPr>
          <a:xfrm>
            <a:off x="5577840" y="1600200"/>
            <a:ext cx="2971800" cy="17830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odds → p:</a:t>
            </a:r>
          </a:p>
          <a:p>
            <a:pPr algn="l">
              <a:spcAft>
                <a:spcPts val="0"/>
              </a:spcAft>
            </a:pPr>
            <a:r>
              <a:rPr sz="1200" b="0" lang="en-GB">
                <a:solidFill>
                  <a:schemeClr val="bg1"/>
                </a:solidFill>
                <a:latin typeface="Consolas"/>
              </a:rPr>
              <a:t>  p = odds / (1 + odds)</a:t>
            </a:r>
          </a:p>
          <a:p>
            <a:pPr algn="l">
              <a:spcAft>
                <a:spcPts val="0"/>
              </a:spcAft>
            </a:pPr>
            <a:r>
              <a:rPr sz="1200" b="0" lang="en-GB">
                <a:solidFill>
                  <a:schemeClr val="bg1"/>
                </a:solidFill>
                <a:latin typeface="Consolas"/>
              </a:rPr>
              <a:t>    = 0.25 / 1.25</a:t>
            </a:r>
          </a:p>
          <a:p>
            <a:pPr algn="l">
              <a:spcAft>
                <a:spcPts val="0"/>
              </a:spcAft>
            </a:pPr>
            <a:r>
              <a:rPr sz="1200" b="0" lang="en-GB">
                <a:solidFill>
                  <a:schemeClr val="bg1"/>
                </a:solidFill>
                <a:latin typeface="Consolas"/>
              </a:rPr>
              <a:t>    = 0.20</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log-odds → p:</a:t>
            </a:r>
          </a:p>
          <a:p>
            <a:pPr algn="l">
              <a:spcAft>
                <a:spcPts val="0"/>
              </a:spcAft>
            </a:pPr>
            <a:r>
              <a:rPr sz="1200" b="0" lang="en-GB">
                <a:solidFill>
                  <a:schemeClr val="bg1"/>
                </a:solidFill>
                <a:latin typeface="Consolas"/>
              </a:rPr>
              <a:t>  p = 1 / (1 + e^1.39)</a:t>
            </a:r>
          </a:p>
          <a:p>
            <a:pPr algn="l">
              <a:spcAft>
                <a:spcPts val="0"/>
              </a:spcAft>
            </a:pPr>
            <a:r>
              <a:rPr sz="1200" b="0" lang="en-GB">
                <a:solidFill>
                  <a:schemeClr val="bg1"/>
                </a:solidFill>
                <a:latin typeface="Consolas"/>
              </a:rPr>
              <a:t>    = 0.20</a:t>
            </a:r>
          </a:p>
        </p:txBody>
      </p:sp>
      <p:sp>
        <p:nvSpPr>
          <p:cNvPr id="26" name="OR warning box"/>
          <p:cNvSpPr/>
          <p:nvPr/>
        </p:nvSpPr>
        <p:spPr>
          <a:xfrm>
            <a:off x="457200" y="36576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R warning text"/>
          <p:cNvSpPr txBox="1"/>
          <p:nvPr/>
        </p:nvSpPr>
        <p:spPr>
          <a:xfrm>
            <a:off x="658368" y="365760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Not “4 times as likely”: </a:t>
            </a:r>
            <a:r>
              <a:rPr sz="1250" b="0" lang="en-GB">
                <a:solidFill>
                  <a:schemeClr val="bg1"/>
                </a:solidFill>
              </a:rPr>
              <a:t>churn rises from 0.20 to 0.50, +30 percentage points (pp) or 2.5 times.</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Invented counts (slide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Spanish customers, with a calculator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S steps step 1"/>
          <p:cNvSpPr/>
          <p:nvPr/>
        </p:nvSpPr>
        <p:spPr>
          <a:xfrm>
            <a:off x="457200" y="1234440"/>
            <a:ext cx="1733702" cy="41148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1 p and odds</a:t>
            </a:r>
          </a:p>
        </p:txBody>
      </p:sp>
      <p:sp>
        <p:nvSpPr>
          <p:cNvPr id="11" name="ES steps step 2"/>
          <p:cNvSpPr/>
          <p:nvPr/>
        </p:nvSpPr>
        <p:spPr>
          <a:xfrm>
            <a:off x="2081174"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2 Odds ratio</a:t>
            </a:r>
          </a:p>
        </p:txBody>
      </p:sp>
      <p:sp>
        <p:nvSpPr>
          <p:cNvPr id="12" name="ES steps step 3"/>
          <p:cNvSpPr/>
          <p:nvPr/>
        </p:nvSpPr>
        <p:spPr>
          <a:xfrm>
            <a:off x="3705149"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3 Log-odds</a:t>
            </a:r>
          </a:p>
        </p:txBody>
      </p:sp>
      <p:sp>
        <p:nvSpPr>
          <p:cNvPr id="13" name="ES steps step 4"/>
          <p:cNvSpPr/>
          <p:nvPr/>
        </p:nvSpPr>
        <p:spPr>
          <a:xfrm>
            <a:off x="5329123"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4 Back to p</a:t>
            </a:r>
          </a:p>
        </p:txBody>
      </p:sp>
      <p:sp>
        <p:nvSpPr>
          <p:cNvPr id="14" name="ES steps step 5"/>
          <p:cNvSpPr/>
          <p:nvPr/>
        </p:nvSpPr>
        <p:spPr>
          <a:xfrm>
            <a:off x="6953098"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5 Compare</a:t>
            </a:r>
          </a:p>
        </p:txBody>
      </p:sp>
      <p:sp>
        <p:nvSpPr>
          <p:cNvPr id="15" name="ES table 1-1"/>
          <p:cNvSpPr/>
          <p:nvPr/>
        </p:nvSpPr>
        <p:spPr>
          <a:xfrm>
            <a:off x="457200" y="1783080"/>
            <a:ext cx="1892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S table text 1-1"/>
          <p:cNvSpPr txBox="1"/>
          <p:nvPr/>
        </p:nvSpPr>
        <p:spPr>
          <a:xfrm>
            <a:off x="548640" y="1783080"/>
            <a:ext cx="17099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Spanish customers</a:t>
            </a:r>
          </a:p>
        </p:txBody>
      </p:sp>
      <p:sp>
        <p:nvSpPr>
          <p:cNvPr id="17" name="ES table 1-2"/>
          <p:cNvSpPr/>
          <p:nvPr/>
        </p:nvSpPr>
        <p:spPr>
          <a:xfrm>
            <a:off x="2377440" y="1783080"/>
            <a:ext cx="10698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S table text 1-2"/>
          <p:cNvSpPr txBox="1"/>
          <p:nvPr/>
        </p:nvSpPr>
        <p:spPr>
          <a:xfrm>
            <a:off x="2468880" y="1783080"/>
            <a:ext cx="88696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Churners</a:t>
            </a:r>
          </a:p>
        </p:txBody>
      </p:sp>
      <p:sp>
        <p:nvSpPr>
          <p:cNvPr id="19" name="ES table 1-3"/>
          <p:cNvSpPr/>
          <p:nvPr/>
        </p:nvSpPr>
        <p:spPr>
          <a:xfrm>
            <a:off x="3474720" y="178308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 table text 1-3"/>
          <p:cNvSpPr txBox="1"/>
          <p:nvPr/>
        </p:nvSpPr>
        <p:spPr>
          <a:xfrm>
            <a:off x="3566160" y="1783080"/>
            <a:ext cx="97840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Customers</a:t>
            </a:r>
          </a:p>
        </p:txBody>
      </p:sp>
      <p:sp>
        <p:nvSpPr>
          <p:cNvPr id="21" name="ES table 1-4"/>
          <p:cNvSpPr/>
          <p:nvPr/>
        </p:nvSpPr>
        <p:spPr>
          <a:xfrm>
            <a:off x="4663440" y="1783080"/>
            <a:ext cx="12527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 table text 1-4"/>
          <p:cNvSpPr txBox="1"/>
          <p:nvPr/>
        </p:nvSpPr>
        <p:spPr>
          <a:xfrm>
            <a:off x="4754880" y="1783080"/>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p</a:t>
            </a:r>
          </a:p>
        </p:txBody>
      </p:sp>
      <p:sp>
        <p:nvSpPr>
          <p:cNvPr id="23" name="ES table 1-5"/>
          <p:cNvSpPr/>
          <p:nvPr/>
        </p:nvSpPr>
        <p:spPr>
          <a:xfrm>
            <a:off x="5943600" y="1783080"/>
            <a:ext cx="12527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 table text 1-5"/>
          <p:cNvSpPr txBox="1"/>
          <p:nvPr/>
        </p:nvSpPr>
        <p:spPr>
          <a:xfrm>
            <a:off x="6035040" y="1783080"/>
            <a:ext cx="106984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Odds</a:t>
            </a:r>
          </a:p>
        </p:txBody>
      </p:sp>
      <p:sp>
        <p:nvSpPr>
          <p:cNvPr id="25" name="ES table 1-6"/>
          <p:cNvSpPr/>
          <p:nvPr/>
        </p:nvSpPr>
        <p:spPr>
          <a:xfrm>
            <a:off x="7223760" y="1783080"/>
            <a:ext cx="146304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 table text 1-6"/>
          <p:cNvSpPr txBox="1"/>
          <p:nvPr/>
        </p:nvSpPr>
        <p:spPr>
          <a:xfrm>
            <a:off x="7315200" y="1783080"/>
            <a:ext cx="125272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Log-odds</a:t>
            </a:r>
          </a:p>
        </p:txBody>
      </p:sp>
      <p:sp>
        <p:nvSpPr>
          <p:cNvPr id="27" name="ES table 2-1"/>
          <p:cNvSpPr/>
          <p:nvPr/>
        </p:nvSpPr>
        <p:spPr>
          <a:xfrm>
            <a:off x="457200" y="2139696"/>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S table text 2-1"/>
          <p:cNvSpPr txBox="1"/>
          <p:nvPr/>
        </p:nvSpPr>
        <p:spPr>
          <a:xfrm>
            <a:off x="548640" y="2139696"/>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Month-to-month</a:t>
            </a:r>
          </a:p>
        </p:txBody>
      </p:sp>
      <p:sp>
        <p:nvSpPr>
          <p:cNvPr id="29" name="ES table 2-2"/>
          <p:cNvSpPr/>
          <p:nvPr/>
        </p:nvSpPr>
        <p:spPr>
          <a:xfrm>
            <a:off x="2377440" y="2139696"/>
            <a:ext cx="10698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S table text 2-2"/>
          <p:cNvSpPr txBox="1"/>
          <p:nvPr/>
        </p:nvSpPr>
        <p:spPr>
          <a:xfrm>
            <a:off x="2468880" y="2139696"/>
            <a:ext cx="88696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60</a:t>
            </a:r>
          </a:p>
        </p:txBody>
      </p:sp>
      <p:sp>
        <p:nvSpPr>
          <p:cNvPr id="31" name="ES table 2-3"/>
          <p:cNvSpPr/>
          <p:nvPr/>
        </p:nvSpPr>
        <p:spPr>
          <a:xfrm>
            <a:off x="3474720" y="213969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S table text 2-3"/>
          <p:cNvSpPr txBox="1"/>
          <p:nvPr/>
        </p:nvSpPr>
        <p:spPr>
          <a:xfrm>
            <a:off x="3566160" y="2139696"/>
            <a:ext cx="97840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100</a:t>
            </a:r>
          </a:p>
        </p:txBody>
      </p:sp>
      <p:sp>
        <p:nvSpPr>
          <p:cNvPr id="33" name="ES table 2-4"/>
          <p:cNvSpPr/>
          <p:nvPr/>
        </p:nvSpPr>
        <p:spPr>
          <a:xfrm>
            <a:off x="4663440" y="2139696"/>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S table text 2-4"/>
          <p:cNvSpPr txBox="1"/>
          <p:nvPr/>
        </p:nvSpPr>
        <p:spPr>
          <a:xfrm>
            <a:off x="4754880" y="2139696"/>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5" name="ES table 2-5"/>
          <p:cNvSpPr/>
          <p:nvPr/>
        </p:nvSpPr>
        <p:spPr>
          <a:xfrm>
            <a:off x="5943600" y="2139696"/>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S table text 2-5"/>
          <p:cNvSpPr txBox="1"/>
          <p:nvPr/>
        </p:nvSpPr>
        <p:spPr>
          <a:xfrm>
            <a:off x="6035040" y="2139696"/>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7" name="ES table 2-6"/>
          <p:cNvSpPr/>
          <p:nvPr/>
        </p:nvSpPr>
        <p:spPr>
          <a:xfrm>
            <a:off x="7223760" y="2139696"/>
            <a:ext cx="146304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S table text 2-6"/>
          <p:cNvSpPr txBox="1"/>
          <p:nvPr/>
        </p:nvSpPr>
        <p:spPr>
          <a:xfrm>
            <a:off x="7315200" y="2139696"/>
            <a:ext cx="125272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39" name="ES table 3-1"/>
          <p:cNvSpPr/>
          <p:nvPr/>
        </p:nvSpPr>
        <p:spPr>
          <a:xfrm>
            <a:off x="457200" y="2496312"/>
            <a:ext cx="1892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ES table text 3-1"/>
          <p:cNvSpPr txBox="1"/>
          <p:nvPr/>
        </p:nvSpPr>
        <p:spPr>
          <a:xfrm>
            <a:off x="548640" y="2496312"/>
            <a:ext cx="170992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24-month</a:t>
            </a:r>
          </a:p>
        </p:txBody>
      </p:sp>
      <p:sp>
        <p:nvSpPr>
          <p:cNvPr id="41" name="ES table 3-2"/>
          <p:cNvSpPr/>
          <p:nvPr/>
        </p:nvSpPr>
        <p:spPr>
          <a:xfrm>
            <a:off x="2377440" y="2496312"/>
            <a:ext cx="10698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ES table text 3-2"/>
          <p:cNvSpPr txBox="1"/>
          <p:nvPr/>
        </p:nvSpPr>
        <p:spPr>
          <a:xfrm>
            <a:off x="2468880" y="2496312"/>
            <a:ext cx="88696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30</a:t>
            </a:r>
          </a:p>
        </p:txBody>
      </p:sp>
      <p:sp>
        <p:nvSpPr>
          <p:cNvPr id="43" name="ES table 3-3"/>
          <p:cNvSpPr/>
          <p:nvPr/>
        </p:nvSpPr>
        <p:spPr>
          <a:xfrm>
            <a:off x="3474720" y="249631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ES table text 3-3"/>
          <p:cNvSpPr txBox="1"/>
          <p:nvPr/>
        </p:nvSpPr>
        <p:spPr>
          <a:xfrm>
            <a:off x="3566160" y="2496312"/>
            <a:ext cx="97840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100</a:t>
            </a:r>
          </a:p>
        </p:txBody>
      </p:sp>
      <p:sp>
        <p:nvSpPr>
          <p:cNvPr id="45" name="ES table 3-4"/>
          <p:cNvSpPr/>
          <p:nvPr/>
        </p:nvSpPr>
        <p:spPr>
          <a:xfrm>
            <a:off x="4663440" y="2496312"/>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ES table text 3-4"/>
          <p:cNvSpPr txBox="1"/>
          <p:nvPr/>
        </p:nvSpPr>
        <p:spPr>
          <a:xfrm>
            <a:off x="4754880" y="24963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7" name="ES table 3-5"/>
          <p:cNvSpPr/>
          <p:nvPr/>
        </p:nvSpPr>
        <p:spPr>
          <a:xfrm>
            <a:off x="5943600" y="2496312"/>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ES table text 3-5"/>
          <p:cNvSpPr txBox="1"/>
          <p:nvPr/>
        </p:nvSpPr>
        <p:spPr>
          <a:xfrm>
            <a:off x="6035040" y="2496312"/>
            <a:ext cx="106984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9" name="ES table 3-6"/>
          <p:cNvSpPr/>
          <p:nvPr/>
        </p:nvSpPr>
        <p:spPr>
          <a:xfrm>
            <a:off x="7223760" y="2496312"/>
            <a:ext cx="146304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ES table text 3-6"/>
          <p:cNvSpPr txBox="1"/>
          <p:nvPr/>
        </p:nvSpPr>
        <p:spPr>
          <a:xfrm>
            <a:off x="7315200" y="2496312"/>
            <a:ext cx="125272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51" name="ES task 1 row"/>
          <p:cNvSpPr/>
          <p:nvPr/>
        </p:nvSpPr>
        <p:spPr>
          <a:xfrm>
            <a:off x="457200" y="297180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ES task 1 bar"/>
          <p:cNvSpPr/>
          <p:nvPr/>
        </p:nvSpPr>
        <p:spPr>
          <a:xfrm>
            <a:off x="457200" y="297180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ES task 1 number"/>
          <p:cNvSpPr txBox="1"/>
          <p:nvPr/>
        </p:nvSpPr>
        <p:spPr>
          <a:xfrm>
            <a:off x="658368" y="2971800"/>
            <a:ext cx="54864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1–2</a:t>
            </a:r>
          </a:p>
        </p:txBody>
      </p:sp>
      <p:sp>
        <p:nvSpPr>
          <p:cNvPr id="54" name="ES task 1 text"/>
          <p:cNvSpPr txBox="1"/>
          <p:nvPr/>
        </p:nvSpPr>
        <p:spPr>
          <a:xfrm>
            <a:off x="1207008" y="2971800"/>
            <a:ext cx="7388352"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probability and odds of both groups; the odds ratio</a:t>
            </a:r>
          </a:p>
        </p:txBody>
      </p:sp>
      <p:sp>
        <p:nvSpPr>
          <p:cNvPr id="55" name="ES task 2 row"/>
          <p:cNvSpPr/>
          <p:nvPr/>
        </p:nvSpPr>
        <p:spPr>
          <a:xfrm>
            <a:off x="457200" y="342900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ES task 2 bar"/>
          <p:cNvSpPr/>
          <p:nvPr/>
        </p:nvSpPr>
        <p:spPr>
          <a:xfrm>
            <a:off x="457200" y="342900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S task 2 number"/>
          <p:cNvSpPr txBox="1"/>
          <p:nvPr/>
        </p:nvSpPr>
        <p:spPr>
          <a:xfrm>
            <a:off x="658368" y="3429000"/>
            <a:ext cx="54864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3–4</a:t>
            </a:r>
          </a:p>
        </p:txBody>
      </p:sp>
      <p:sp>
        <p:nvSpPr>
          <p:cNvPr id="58" name="ES task 2 text"/>
          <p:cNvSpPr txBox="1"/>
          <p:nvPr/>
        </p:nvSpPr>
        <p:spPr>
          <a:xfrm>
            <a:off x="1207008" y="3429000"/>
            <a:ext cx="7388352"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log-odds and their difference; from the month-to-month log-odds back to p</a:t>
            </a:r>
          </a:p>
        </p:txBody>
      </p:sp>
      <p:sp>
        <p:nvSpPr>
          <p:cNvPr id="59" name="ES task 3 row"/>
          <p:cNvSpPr/>
          <p:nvPr/>
        </p:nvSpPr>
        <p:spPr>
          <a:xfrm>
            <a:off x="457200" y="388620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ES task 3 bar"/>
          <p:cNvSpPr/>
          <p:nvPr/>
        </p:nvSpPr>
        <p:spPr>
          <a:xfrm>
            <a:off x="457200" y="388620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S task 3 number"/>
          <p:cNvSpPr txBox="1"/>
          <p:nvPr/>
        </p:nvSpPr>
        <p:spPr>
          <a:xfrm>
            <a:off x="658368" y="3886200"/>
            <a:ext cx="54864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62" name="ES task 3 text"/>
          <p:cNvSpPr txBox="1"/>
          <p:nvPr/>
        </p:nvSpPr>
        <p:spPr>
          <a:xfrm>
            <a:off x="1207008" y="3886200"/>
            <a:ext cx="7388352"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compare with Germany: odds ratio and the gap in percentage points</a:t>
            </a:r>
          </a:p>
        </p:txBody>
      </p:sp>
      <p:sp>
        <p:nvSpPr>
          <p:cNvPr id="63" name="ES python"/>
          <p:cNvSpPr txBox="1"/>
          <p:nvPr/>
        </p:nvSpPr>
        <p:spPr>
          <a:xfrm>
            <a:off x="457200" y="4343400"/>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Python check: </a:t>
            </a:r>
            <a:r>
              <a:rPr sz="1200" b="0" lang="en-GB">
                <a:solidFill>
                  <a:schemeClr val="tx2"/>
                </a:solidFill>
                <a:latin typeface="Consolas"/>
              </a:rPr>
              <a:t>smf.logit("churn ~ monthly", data=es).fit().params</a:t>
            </a:r>
            <a:r>
              <a:rPr sz="1100" b="0" lang="en-GB">
                <a:solidFill>
                  <a:srgbClr val="595959"/>
                </a:solidFill>
              </a:rPr>
              <a:t>   logit_churn.qmd, Step 1</a:t>
            </a:r>
          </a:p>
        </p:txBody>
      </p:sp>
      <p:sp>
        <p:nvSpPr>
          <p:cNvPr id="6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Invented counts for the calculation (200 Spanish customers)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odds ratio of 2 is not “twice as likely”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1_or2.png" descr="Columns of the change in churn probability for an odds ratio of 2 at five baselines: +4.5 pp at 5 %, +11.1 pp at 15 % (DE), +16.9 pp at 35 % (ES), +16.7 pp at 50 % and +4.7 pp at 90 %."/>
          <p:cNvPicPr>
            <a:picLocks noChangeAspect="1"/>
          </p:cNvPicPr>
          <p:nvPr/>
        </p:nvPicPr>
        <p:blipFill>
          <a:blip r:embed="rId3"/>
          <a:stretch>
            <a:fillRect/>
          </a:stretch>
        </p:blipFill>
        <p:spPr>
          <a:xfrm>
            <a:off x="457200" y="1234440"/>
            <a:ext cx="4206240" cy="3291840"/>
          </a:xfrm>
          <a:prstGeom prst="rect">
            <a:avLst/>
          </a:prstGeom>
        </p:spPr>
      </p:pic>
      <p:sp>
        <p:nvSpPr>
          <p:cNvPr id="11" name="OR2 table 1-1"/>
          <p:cNvSpPr/>
          <p:nvPr/>
        </p:nvSpPr>
        <p:spPr>
          <a:xfrm>
            <a:off x="4800600" y="1234440"/>
            <a:ext cx="12984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R2 table text 1-1"/>
          <p:cNvSpPr txBox="1"/>
          <p:nvPr/>
        </p:nvSpPr>
        <p:spPr>
          <a:xfrm>
            <a:off x="4892040" y="1234440"/>
            <a:ext cx="11155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Baseline</a:t>
            </a:r>
          </a:p>
        </p:txBody>
      </p:sp>
      <p:sp>
        <p:nvSpPr>
          <p:cNvPr id="13" name="OR2 table 1-2"/>
          <p:cNvSpPr/>
          <p:nvPr/>
        </p:nvSpPr>
        <p:spPr>
          <a:xfrm>
            <a:off x="6126480" y="1234440"/>
            <a:ext cx="12527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R2 table text 1-2"/>
          <p:cNvSpPr txBox="1"/>
          <p:nvPr/>
        </p:nvSpPr>
        <p:spPr>
          <a:xfrm>
            <a:off x="6217920" y="1234440"/>
            <a:ext cx="10698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With OR 2</a:t>
            </a:r>
          </a:p>
        </p:txBody>
      </p:sp>
      <p:sp>
        <p:nvSpPr>
          <p:cNvPr id="15" name="OR2 table 1-3"/>
          <p:cNvSpPr/>
          <p:nvPr/>
        </p:nvSpPr>
        <p:spPr>
          <a:xfrm>
            <a:off x="7406640" y="1234440"/>
            <a:ext cx="12801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R2 table text 1-3"/>
          <p:cNvSpPr txBox="1"/>
          <p:nvPr/>
        </p:nvSpPr>
        <p:spPr>
          <a:xfrm>
            <a:off x="7498080" y="1234440"/>
            <a:ext cx="10698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Change</a:t>
            </a:r>
          </a:p>
        </p:txBody>
      </p:sp>
      <p:sp>
        <p:nvSpPr>
          <p:cNvPr id="17" name="OR2 table 2-1"/>
          <p:cNvSpPr/>
          <p:nvPr/>
        </p:nvSpPr>
        <p:spPr>
          <a:xfrm>
            <a:off x="4800600" y="1591056"/>
            <a:ext cx="12984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R2 table text 2-1"/>
          <p:cNvSpPr txBox="1"/>
          <p:nvPr/>
        </p:nvSpPr>
        <p:spPr>
          <a:xfrm>
            <a:off x="4892040" y="1591056"/>
            <a:ext cx="11155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5 %</a:t>
            </a:r>
          </a:p>
        </p:txBody>
      </p:sp>
      <p:sp>
        <p:nvSpPr>
          <p:cNvPr id="19" name="OR2 table 2-2"/>
          <p:cNvSpPr/>
          <p:nvPr/>
        </p:nvSpPr>
        <p:spPr>
          <a:xfrm>
            <a:off x="6126480" y="1591056"/>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R2 table text 2-2"/>
          <p:cNvSpPr txBox="1"/>
          <p:nvPr/>
        </p:nvSpPr>
        <p:spPr>
          <a:xfrm>
            <a:off x="6217920" y="1591056"/>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9.5 %</a:t>
            </a:r>
          </a:p>
        </p:txBody>
      </p:sp>
      <p:sp>
        <p:nvSpPr>
          <p:cNvPr id="21" name="OR2 table 2-3"/>
          <p:cNvSpPr/>
          <p:nvPr/>
        </p:nvSpPr>
        <p:spPr>
          <a:xfrm>
            <a:off x="7406640" y="1591056"/>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R2 table text 2-3"/>
          <p:cNvSpPr txBox="1"/>
          <p:nvPr/>
        </p:nvSpPr>
        <p:spPr>
          <a:xfrm>
            <a:off x="7498080" y="1591056"/>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+4.5 pp</a:t>
            </a:r>
          </a:p>
        </p:txBody>
      </p:sp>
      <p:sp>
        <p:nvSpPr>
          <p:cNvPr id="23" name="OR2 table 3-1"/>
          <p:cNvSpPr/>
          <p:nvPr/>
        </p:nvSpPr>
        <p:spPr>
          <a:xfrm>
            <a:off x="4800600" y="1947672"/>
            <a:ext cx="12984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R2 table text 3-1"/>
          <p:cNvSpPr txBox="1"/>
          <p:nvPr/>
        </p:nvSpPr>
        <p:spPr>
          <a:xfrm>
            <a:off x="4892040" y="1947672"/>
            <a:ext cx="11155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15 % (DE)</a:t>
            </a:r>
          </a:p>
        </p:txBody>
      </p:sp>
      <p:sp>
        <p:nvSpPr>
          <p:cNvPr id="25" name="OR2 table 3-2"/>
          <p:cNvSpPr/>
          <p:nvPr/>
        </p:nvSpPr>
        <p:spPr>
          <a:xfrm>
            <a:off x="6126480" y="1947672"/>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R2 table text 3-2"/>
          <p:cNvSpPr txBox="1"/>
          <p:nvPr/>
        </p:nvSpPr>
        <p:spPr>
          <a:xfrm>
            <a:off x="6217920" y="1947672"/>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26.1 %</a:t>
            </a:r>
          </a:p>
        </p:txBody>
      </p:sp>
      <p:sp>
        <p:nvSpPr>
          <p:cNvPr id="27" name="OR2 table 3-3"/>
          <p:cNvSpPr/>
          <p:nvPr/>
        </p:nvSpPr>
        <p:spPr>
          <a:xfrm>
            <a:off x="7406640" y="1947672"/>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R2 table text 3-3"/>
          <p:cNvSpPr txBox="1"/>
          <p:nvPr/>
        </p:nvSpPr>
        <p:spPr>
          <a:xfrm>
            <a:off x="7498080" y="1947672"/>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+11.1 pp</a:t>
            </a:r>
          </a:p>
        </p:txBody>
      </p:sp>
      <p:sp>
        <p:nvSpPr>
          <p:cNvPr id="29" name="OR2 table 4-1"/>
          <p:cNvSpPr/>
          <p:nvPr/>
        </p:nvSpPr>
        <p:spPr>
          <a:xfrm>
            <a:off x="4800600" y="2304288"/>
            <a:ext cx="12984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R2 table text 4-1"/>
          <p:cNvSpPr txBox="1"/>
          <p:nvPr/>
        </p:nvSpPr>
        <p:spPr>
          <a:xfrm>
            <a:off x="4892040" y="2304288"/>
            <a:ext cx="11155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35 % (ES)</a:t>
            </a:r>
          </a:p>
        </p:txBody>
      </p:sp>
      <p:sp>
        <p:nvSpPr>
          <p:cNvPr id="31" name="OR2 table 4-2"/>
          <p:cNvSpPr/>
          <p:nvPr/>
        </p:nvSpPr>
        <p:spPr>
          <a:xfrm>
            <a:off x="6126480" y="2304288"/>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R2 table text 4-2"/>
          <p:cNvSpPr txBox="1"/>
          <p:nvPr/>
        </p:nvSpPr>
        <p:spPr>
          <a:xfrm>
            <a:off x="6217920" y="2304288"/>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51.9 %</a:t>
            </a:r>
          </a:p>
        </p:txBody>
      </p:sp>
      <p:sp>
        <p:nvSpPr>
          <p:cNvPr id="33" name="OR2 table 4-3"/>
          <p:cNvSpPr/>
          <p:nvPr/>
        </p:nvSpPr>
        <p:spPr>
          <a:xfrm>
            <a:off x="7406640" y="2304288"/>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R2 table text 4-3"/>
          <p:cNvSpPr txBox="1"/>
          <p:nvPr/>
        </p:nvSpPr>
        <p:spPr>
          <a:xfrm>
            <a:off x="7498080" y="2304288"/>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+16.9 pp</a:t>
            </a:r>
          </a:p>
        </p:txBody>
      </p:sp>
      <p:sp>
        <p:nvSpPr>
          <p:cNvPr id="35" name="OR2 table 5-1"/>
          <p:cNvSpPr/>
          <p:nvPr/>
        </p:nvSpPr>
        <p:spPr>
          <a:xfrm>
            <a:off x="4800600" y="2660904"/>
            <a:ext cx="12984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R2 table text 5-1"/>
          <p:cNvSpPr txBox="1"/>
          <p:nvPr/>
        </p:nvSpPr>
        <p:spPr>
          <a:xfrm>
            <a:off x="4892040" y="2660904"/>
            <a:ext cx="11155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50 %</a:t>
            </a:r>
          </a:p>
        </p:txBody>
      </p:sp>
      <p:sp>
        <p:nvSpPr>
          <p:cNvPr id="37" name="OR2 table 5-2"/>
          <p:cNvSpPr/>
          <p:nvPr/>
        </p:nvSpPr>
        <p:spPr>
          <a:xfrm>
            <a:off x="6126480" y="2660904"/>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R2 table text 5-2"/>
          <p:cNvSpPr txBox="1"/>
          <p:nvPr/>
        </p:nvSpPr>
        <p:spPr>
          <a:xfrm>
            <a:off x="6217920" y="2660904"/>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66.7 %</a:t>
            </a:r>
          </a:p>
        </p:txBody>
      </p:sp>
      <p:sp>
        <p:nvSpPr>
          <p:cNvPr id="39" name="OR2 table 5-3"/>
          <p:cNvSpPr/>
          <p:nvPr/>
        </p:nvSpPr>
        <p:spPr>
          <a:xfrm>
            <a:off x="7406640" y="2660904"/>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R2 table text 5-3"/>
          <p:cNvSpPr txBox="1"/>
          <p:nvPr/>
        </p:nvSpPr>
        <p:spPr>
          <a:xfrm>
            <a:off x="7498080" y="2660904"/>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+16.7 pp</a:t>
            </a:r>
          </a:p>
        </p:txBody>
      </p:sp>
      <p:sp>
        <p:nvSpPr>
          <p:cNvPr id="41" name="OR2 table 6-1"/>
          <p:cNvSpPr/>
          <p:nvPr/>
        </p:nvSpPr>
        <p:spPr>
          <a:xfrm>
            <a:off x="4800600" y="3017520"/>
            <a:ext cx="12984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R2 table text 6-1"/>
          <p:cNvSpPr txBox="1"/>
          <p:nvPr/>
        </p:nvSpPr>
        <p:spPr>
          <a:xfrm>
            <a:off x="4892040" y="3017520"/>
            <a:ext cx="11155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90 %</a:t>
            </a:r>
          </a:p>
        </p:txBody>
      </p:sp>
      <p:sp>
        <p:nvSpPr>
          <p:cNvPr id="43" name="OR2 table 6-2"/>
          <p:cNvSpPr/>
          <p:nvPr/>
        </p:nvSpPr>
        <p:spPr>
          <a:xfrm>
            <a:off x="6126480" y="3017520"/>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R2 table text 6-2"/>
          <p:cNvSpPr txBox="1"/>
          <p:nvPr/>
        </p:nvSpPr>
        <p:spPr>
          <a:xfrm>
            <a:off x="6217920" y="3017520"/>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94.7 %</a:t>
            </a:r>
          </a:p>
        </p:txBody>
      </p:sp>
      <p:sp>
        <p:nvSpPr>
          <p:cNvPr id="45" name="OR2 table 6-3"/>
          <p:cNvSpPr/>
          <p:nvPr/>
        </p:nvSpPr>
        <p:spPr>
          <a:xfrm>
            <a:off x="7406640" y="3017520"/>
            <a:ext cx="12801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R2 table text 6-3"/>
          <p:cNvSpPr txBox="1"/>
          <p:nvPr/>
        </p:nvSpPr>
        <p:spPr>
          <a:xfrm>
            <a:off x="7498080" y="3017520"/>
            <a:ext cx="10698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+4.7 pp</a:t>
            </a:r>
          </a:p>
        </p:txBody>
      </p:sp>
      <p:sp>
        <p:nvSpPr>
          <p:cNvPr id="47" name="Rare callout box"/>
          <p:cNvSpPr/>
          <p:nvPr/>
        </p:nvSpPr>
        <p:spPr>
          <a:xfrm>
            <a:off x="4800600" y="3529584"/>
            <a:ext cx="3886200" cy="9966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are callout text"/>
          <p:cNvSpPr txBox="1"/>
          <p:nvPr/>
        </p:nvSpPr>
        <p:spPr>
          <a:xfrm>
            <a:off x="5001768" y="3529584"/>
            <a:ext cx="3483864" cy="996696"/>
          </a:xfrm>
          <a:prstGeom prst="rect">
            <a:avLst/>
          </a:prstGeom>
          <a:noFill/>
        </p:spPr>
        <p:txBody>
          <a:bodyPr wrap="square" lIns="0" rIns="0" tIns="0" bIns="0" anchor="ctr">
            <a:noAutofit/>
          </a:bodyPr>
          <a:lstStyle/>
          <a:p>
            <a:pPr algn="l">
              <a:spcAft>
                <a:spcPts val="400"/>
              </a:spcAft>
            </a:pPr>
            <a:r>
              <a:rPr sz="1250" b="1" lang="en-GB">
                <a:solidFill>
                  <a:schemeClr val="bg1"/>
                </a:solidFill>
              </a:rPr>
              <a:t>“Twice as likely” is only a rough approximation for rare outcomes, </a:t>
            </a:r>
            <a:r>
              <a:rPr sz="1250" b="0" lang="en-GB">
                <a:solidFill>
                  <a:schemeClr val="bg1"/>
                </a:solidFill>
              </a:rPr>
              <a:t>below about 10 %; annual churn of 15 to 35 % is not rare.</a:t>
            </a:r>
          </a:p>
        </p:txBody>
      </p:sp>
      <p:sp>
        <p:nvSpPr>
          <p:cNvPr id="49"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own calculation, p₁ = OR·p₀ / (1 − p₀ + OR·p₀); DE and ES baselines from simulated data (telco_churn.csv)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drivers, benchmarks, logit family</a:t>
            </a:r>
          </a:p>
        </p:txBody>
      </p:sp>
      <p:sp>
        <p:nvSpPr>
          <p:cNvPr id="3" name="Title 2"/>
          <p:cNvSpPr>
            <a:spLocks noGrp="1"/>
          </p:cNvSpPr>
          <p:nvPr>
            <p:ph type="ctrTitle"/>
          </p:nvPr>
        </p:nvSpPr>
        <p:spPr/>
        <p:txBody>
          <a:bodyPr/>
          <a:lstStyle/>
          <a:p>
            <a:r>
              <a:rPr lang="en-GB"/>
              <a:t>Churn as a research context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drives churn: from theory to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rivers table 1-1"/>
          <p:cNvSpPr/>
          <p:nvPr/>
        </p:nvSpPr>
        <p:spPr>
          <a:xfrm>
            <a:off x="457200" y="1234440"/>
            <a:ext cx="19385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rivers table text 1-1"/>
          <p:cNvSpPr txBox="1"/>
          <p:nvPr/>
        </p:nvSpPr>
        <p:spPr>
          <a:xfrm>
            <a:off x="548640" y="1234440"/>
            <a:ext cx="1755648" cy="347472"/>
          </a:xfrm>
          <a:prstGeom prst="rect">
            <a:avLst/>
          </a:prstGeom>
          <a:noFill/>
        </p:spPr>
        <p:txBody>
          <a:bodyPr wrap="square" lIns="0" rIns="0" tIns="0" bIns="0" anchor="ctr">
            <a:noAutofit/>
          </a:bodyPr>
          <a:lstStyle/>
          <a:p>
            <a:pPr algn="l">
              <a:spcAft>
                <a:spcPts val="400"/>
              </a:spcAft>
            </a:pPr>
            <a:r>
              <a:rPr sz="1150" b="1" lang="en-GB">
                <a:solidFill>
                  <a:schemeClr val="bg1"/>
                </a:solidFill>
              </a:rPr>
              <a:t>Driver</a:t>
            </a:r>
          </a:p>
        </p:txBody>
      </p:sp>
      <p:sp>
        <p:nvSpPr>
          <p:cNvPr id="12" name="Drivers table 1-2"/>
          <p:cNvSpPr/>
          <p:nvPr/>
        </p:nvSpPr>
        <p:spPr>
          <a:xfrm>
            <a:off x="2423160" y="1234440"/>
            <a:ext cx="38130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rivers table text 1-2"/>
          <p:cNvSpPr txBox="1"/>
          <p:nvPr/>
        </p:nvSpPr>
        <p:spPr>
          <a:xfrm>
            <a:off x="2514600" y="1234440"/>
            <a:ext cx="3630168" cy="347472"/>
          </a:xfrm>
          <a:prstGeom prst="rect">
            <a:avLst/>
          </a:prstGeom>
          <a:noFill/>
        </p:spPr>
        <p:txBody>
          <a:bodyPr wrap="square" lIns="0" rIns="0" tIns="0" bIns="0" anchor="ctr">
            <a:noAutofit/>
          </a:bodyPr>
          <a:lstStyle/>
          <a:p>
            <a:pPr algn="l">
              <a:spcAft>
                <a:spcPts val="400"/>
              </a:spcAft>
            </a:pPr>
            <a:r>
              <a:rPr sz="1150" b="1" lang="en-GB">
                <a:solidFill>
                  <a:schemeClr val="bg1"/>
                </a:solidFill>
              </a:rPr>
              <a:t>Evidence</a:t>
            </a:r>
          </a:p>
        </p:txBody>
      </p:sp>
      <p:sp>
        <p:nvSpPr>
          <p:cNvPr id="14" name="Drivers table 1-3"/>
          <p:cNvSpPr/>
          <p:nvPr/>
        </p:nvSpPr>
        <p:spPr>
          <a:xfrm>
            <a:off x="6263640" y="1234440"/>
            <a:ext cx="2423160"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rivers table text 1-3"/>
          <p:cNvSpPr txBox="1"/>
          <p:nvPr/>
        </p:nvSpPr>
        <p:spPr>
          <a:xfrm>
            <a:off x="6355080" y="1234440"/>
            <a:ext cx="2212848" cy="347472"/>
          </a:xfrm>
          <a:prstGeom prst="rect">
            <a:avLst/>
          </a:prstGeom>
          <a:noFill/>
        </p:spPr>
        <p:txBody>
          <a:bodyPr wrap="square" lIns="0" rIns="0" tIns="0" bIns="0" anchor="ctr">
            <a:noAutofit/>
          </a:bodyPr>
          <a:lstStyle/>
          <a:p>
            <a:pPr algn="l">
              <a:spcAft>
                <a:spcPts val="400"/>
              </a:spcAft>
            </a:pPr>
            <a:r>
              <a:rPr sz="1150" b="1" lang="en-GB">
                <a:solidFill>
                  <a:schemeClr val="bg1"/>
                </a:solidFill>
              </a:rPr>
              <a:t>Data column</a:t>
            </a:r>
          </a:p>
        </p:txBody>
      </p:sp>
      <p:sp>
        <p:nvSpPr>
          <p:cNvPr id="16" name="Drivers table 2-1"/>
          <p:cNvSpPr/>
          <p:nvPr/>
        </p:nvSpPr>
        <p:spPr>
          <a:xfrm>
            <a:off x="457200" y="1609344"/>
            <a:ext cx="19385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rivers table text 2-1"/>
          <p:cNvSpPr txBox="1"/>
          <p:nvPr/>
        </p:nvSpPr>
        <p:spPr>
          <a:xfrm>
            <a:off x="548640" y="1609344"/>
            <a:ext cx="1755648" cy="347472"/>
          </a:xfrm>
          <a:prstGeom prst="rect">
            <a:avLst/>
          </a:prstGeom>
          <a:noFill/>
        </p:spPr>
        <p:txBody>
          <a:bodyPr wrap="square" lIns="0" rIns="0" tIns="0" bIns="0" anchor="ctr">
            <a:noAutofit/>
          </a:bodyPr>
          <a:lstStyle/>
          <a:p>
            <a:pPr algn="l">
              <a:spcAft>
                <a:spcPts val="400"/>
              </a:spcAft>
            </a:pPr>
            <a:r>
              <a:rPr sz="1150" b="1" lang="en-GB">
                <a:solidFill>
                  <a:schemeClr val="tx2"/>
                </a:solidFill>
              </a:rPr>
              <a:t>Pricing</a:t>
            </a:r>
          </a:p>
        </p:txBody>
      </p:sp>
      <p:sp>
        <p:nvSpPr>
          <p:cNvPr id="18" name="Drivers table 2-2"/>
          <p:cNvSpPr/>
          <p:nvPr/>
        </p:nvSpPr>
        <p:spPr>
          <a:xfrm>
            <a:off x="2423160" y="1609344"/>
            <a:ext cx="38130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rivers table text 2-2"/>
          <p:cNvSpPr txBox="1"/>
          <p:nvPr/>
        </p:nvSpPr>
        <p:spPr>
          <a:xfrm>
            <a:off x="2514600" y="1609344"/>
            <a:ext cx="363016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Keaveney 1995: one of eight switching causes</a:t>
            </a:r>
          </a:p>
        </p:txBody>
      </p:sp>
      <p:sp>
        <p:nvSpPr>
          <p:cNvPr id="20" name="Drivers table 2-3"/>
          <p:cNvSpPr/>
          <p:nvPr/>
        </p:nvSpPr>
        <p:spPr>
          <a:xfrm>
            <a:off x="6263640" y="1609344"/>
            <a:ext cx="242316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rivers table text 2-3"/>
          <p:cNvSpPr txBox="1"/>
          <p:nvPr/>
        </p:nvSpPr>
        <p:spPr>
          <a:xfrm>
            <a:off x="6355080" y="1609344"/>
            <a:ext cx="221284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price_increase</a:t>
            </a:r>
          </a:p>
        </p:txBody>
      </p:sp>
      <p:sp>
        <p:nvSpPr>
          <p:cNvPr id="22" name="Drivers table 3-1"/>
          <p:cNvSpPr/>
          <p:nvPr/>
        </p:nvSpPr>
        <p:spPr>
          <a:xfrm>
            <a:off x="457200" y="1984248"/>
            <a:ext cx="19385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rivers table text 3-1"/>
          <p:cNvSpPr txBox="1"/>
          <p:nvPr/>
        </p:nvSpPr>
        <p:spPr>
          <a:xfrm>
            <a:off x="548640" y="1984248"/>
            <a:ext cx="1755648" cy="347472"/>
          </a:xfrm>
          <a:prstGeom prst="rect">
            <a:avLst/>
          </a:prstGeom>
          <a:noFill/>
        </p:spPr>
        <p:txBody>
          <a:bodyPr wrap="square" lIns="0" rIns="0" tIns="0" bIns="0" anchor="ctr">
            <a:noAutofit/>
          </a:bodyPr>
          <a:lstStyle/>
          <a:p>
            <a:pPr algn="l">
              <a:spcAft>
                <a:spcPts val="400"/>
              </a:spcAft>
            </a:pPr>
            <a:r>
              <a:rPr sz="1150" b="1" lang="en-GB">
                <a:solidFill>
                  <a:schemeClr val="tx2"/>
                </a:solidFill>
              </a:rPr>
              <a:t>Service failure</a:t>
            </a:r>
          </a:p>
        </p:txBody>
      </p:sp>
      <p:sp>
        <p:nvSpPr>
          <p:cNvPr id="24" name="Drivers table 3-2"/>
          <p:cNvSpPr/>
          <p:nvPr/>
        </p:nvSpPr>
        <p:spPr>
          <a:xfrm>
            <a:off x="2423160" y="1984248"/>
            <a:ext cx="38130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rivers table text 3-2"/>
          <p:cNvSpPr txBox="1"/>
          <p:nvPr/>
        </p:nvSpPr>
        <p:spPr>
          <a:xfrm>
            <a:off x="2514600" y="1984248"/>
            <a:ext cx="363016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Bolton 1998: failures weigh more than gains</a:t>
            </a:r>
          </a:p>
        </p:txBody>
      </p:sp>
      <p:sp>
        <p:nvSpPr>
          <p:cNvPr id="26" name="Drivers table 3-3"/>
          <p:cNvSpPr/>
          <p:nvPr/>
        </p:nvSpPr>
        <p:spPr>
          <a:xfrm>
            <a:off x="6263640" y="1984248"/>
            <a:ext cx="242316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rivers table text 3-3"/>
          <p:cNvSpPr txBox="1"/>
          <p:nvPr/>
        </p:nvSpPr>
        <p:spPr>
          <a:xfrm>
            <a:off x="6355080" y="1984248"/>
            <a:ext cx="221284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complaints</a:t>
            </a:r>
          </a:p>
        </p:txBody>
      </p:sp>
      <p:sp>
        <p:nvSpPr>
          <p:cNvPr id="28" name="Drivers table 4-1"/>
          <p:cNvSpPr/>
          <p:nvPr/>
        </p:nvSpPr>
        <p:spPr>
          <a:xfrm>
            <a:off x="457200" y="2359152"/>
            <a:ext cx="19385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rivers table text 4-1"/>
          <p:cNvSpPr txBox="1"/>
          <p:nvPr/>
        </p:nvSpPr>
        <p:spPr>
          <a:xfrm>
            <a:off x="548640" y="2359152"/>
            <a:ext cx="1755648" cy="347472"/>
          </a:xfrm>
          <a:prstGeom prst="rect">
            <a:avLst/>
          </a:prstGeom>
          <a:noFill/>
        </p:spPr>
        <p:txBody>
          <a:bodyPr wrap="square" lIns="0" rIns="0" tIns="0" bIns="0" anchor="ctr">
            <a:noAutofit/>
          </a:bodyPr>
          <a:lstStyle/>
          <a:p>
            <a:pPr algn="l">
              <a:spcAft>
                <a:spcPts val="400"/>
              </a:spcAft>
            </a:pPr>
            <a:r>
              <a:rPr sz="1150" b="1" lang="en-GB">
                <a:solidFill>
                  <a:schemeClr val="tx2"/>
                </a:solidFill>
              </a:rPr>
              <a:t>Satisfaction</a:t>
            </a:r>
          </a:p>
        </p:txBody>
      </p:sp>
      <p:sp>
        <p:nvSpPr>
          <p:cNvPr id="30" name="Drivers table 4-2"/>
          <p:cNvSpPr/>
          <p:nvPr/>
        </p:nvSpPr>
        <p:spPr>
          <a:xfrm>
            <a:off x="2423160" y="2359152"/>
            <a:ext cx="38130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rivers table text 4-2"/>
          <p:cNvSpPr txBox="1"/>
          <p:nvPr/>
        </p:nvSpPr>
        <p:spPr>
          <a:xfrm>
            <a:off x="2514600" y="2359152"/>
            <a:ext cx="363016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Gustafsson et al. 2005: predicts later churn</a:t>
            </a:r>
          </a:p>
        </p:txBody>
      </p:sp>
      <p:sp>
        <p:nvSpPr>
          <p:cNvPr id="32" name="Drivers table 4-3"/>
          <p:cNvSpPr/>
          <p:nvPr/>
        </p:nvSpPr>
        <p:spPr>
          <a:xfrm>
            <a:off x="6263640" y="2359152"/>
            <a:ext cx="242316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rivers table text 4-3"/>
          <p:cNvSpPr txBox="1"/>
          <p:nvPr/>
        </p:nvSpPr>
        <p:spPr>
          <a:xfrm>
            <a:off x="6355080" y="2359152"/>
            <a:ext cx="221284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satisfaction (1–5)</a:t>
            </a:r>
          </a:p>
        </p:txBody>
      </p:sp>
      <p:sp>
        <p:nvSpPr>
          <p:cNvPr id="34" name="Drivers table 5-1"/>
          <p:cNvSpPr/>
          <p:nvPr/>
        </p:nvSpPr>
        <p:spPr>
          <a:xfrm>
            <a:off x="457200" y="2734056"/>
            <a:ext cx="19385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rivers table text 5-1"/>
          <p:cNvSpPr txBox="1"/>
          <p:nvPr/>
        </p:nvSpPr>
        <p:spPr>
          <a:xfrm>
            <a:off x="548640" y="2734056"/>
            <a:ext cx="1755648" cy="347472"/>
          </a:xfrm>
          <a:prstGeom prst="rect">
            <a:avLst/>
          </a:prstGeom>
          <a:noFill/>
        </p:spPr>
        <p:txBody>
          <a:bodyPr wrap="square" lIns="0" rIns="0" tIns="0" bIns="0" anchor="ctr">
            <a:noAutofit/>
          </a:bodyPr>
          <a:lstStyle/>
          <a:p>
            <a:pPr algn="l">
              <a:spcAft>
                <a:spcPts val="400"/>
              </a:spcAft>
            </a:pPr>
            <a:r>
              <a:rPr sz="1150" b="1" lang="en-GB">
                <a:solidFill>
                  <a:schemeClr val="tx2"/>
                </a:solidFill>
              </a:rPr>
              <a:t>Switching costs</a:t>
            </a:r>
          </a:p>
        </p:txBody>
      </p:sp>
      <p:sp>
        <p:nvSpPr>
          <p:cNvPr id="36" name="Drivers table 5-2"/>
          <p:cNvSpPr/>
          <p:nvPr/>
        </p:nvSpPr>
        <p:spPr>
          <a:xfrm>
            <a:off x="2423160" y="2734056"/>
            <a:ext cx="38130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rivers table text 5-2"/>
          <p:cNvSpPr txBox="1"/>
          <p:nvPr/>
        </p:nvSpPr>
        <p:spPr>
          <a:xfrm>
            <a:off x="2514600" y="2734056"/>
            <a:ext cx="363016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Burnham et al. 2003; Gao et al. 2023: lock-in</a:t>
            </a:r>
          </a:p>
        </p:txBody>
      </p:sp>
      <p:sp>
        <p:nvSpPr>
          <p:cNvPr id="38" name="Drivers table 5-3"/>
          <p:cNvSpPr/>
          <p:nvPr/>
        </p:nvSpPr>
        <p:spPr>
          <a:xfrm>
            <a:off x="6263640" y="2734056"/>
            <a:ext cx="242316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rivers table text 5-3"/>
          <p:cNvSpPr txBox="1"/>
          <p:nvPr/>
        </p:nvSpPr>
        <p:spPr>
          <a:xfrm>
            <a:off x="6355080" y="2734056"/>
            <a:ext cx="221284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monthly (contract type)</a:t>
            </a:r>
          </a:p>
        </p:txBody>
      </p:sp>
      <p:sp>
        <p:nvSpPr>
          <p:cNvPr id="40" name="Drivers table 6-1"/>
          <p:cNvSpPr/>
          <p:nvPr/>
        </p:nvSpPr>
        <p:spPr>
          <a:xfrm>
            <a:off x="457200" y="3108960"/>
            <a:ext cx="19385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rivers table text 6-1"/>
          <p:cNvSpPr txBox="1"/>
          <p:nvPr/>
        </p:nvSpPr>
        <p:spPr>
          <a:xfrm>
            <a:off x="548640" y="3108960"/>
            <a:ext cx="1755648" cy="347472"/>
          </a:xfrm>
          <a:prstGeom prst="rect">
            <a:avLst/>
          </a:prstGeom>
          <a:noFill/>
        </p:spPr>
        <p:txBody>
          <a:bodyPr wrap="square" lIns="0" rIns="0" tIns="0" bIns="0" anchor="ctr">
            <a:noAutofit/>
          </a:bodyPr>
          <a:lstStyle/>
          <a:p>
            <a:pPr algn="l">
              <a:spcAft>
                <a:spcPts val="400"/>
              </a:spcAft>
            </a:pPr>
            <a:r>
              <a:rPr sz="1150" b="1" lang="en-GB">
                <a:solidFill>
                  <a:schemeClr val="tx2"/>
                </a:solidFill>
              </a:rPr>
              <a:t>Relationship length</a:t>
            </a:r>
          </a:p>
        </p:txBody>
      </p:sp>
      <p:sp>
        <p:nvSpPr>
          <p:cNvPr id="42" name="Drivers table 6-2"/>
          <p:cNvSpPr/>
          <p:nvPr/>
        </p:nvSpPr>
        <p:spPr>
          <a:xfrm>
            <a:off x="2423160" y="3108960"/>
            <a:ext cx="38130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Drivers table text 6-2"/>
          <p:cNvSpPr txBox="1"/>
          <p:nvPr/>
        </p:nvSpPr>
        <p:spPr>
          <a:xfrm>
            <a:off x="2514600" y="3108960"/>
            <a:ext cx="363016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Bolton 1998: past satisfaction counts more</a:t>
            </a:r>
          </a:p>
        </p:txBody>
      </p:sp>
      <p:sp>
        <p:nvSpPr>
          <p:cNvPr id="44" name="Drivers table 6-3"/>
          <p:cNvSpPr/>
          <p:nvPr/>
        </p:nvSpPr>
        <p:spPr>
          <a:xfrm>
            <a:off x="6263640" y="3108960"/>
            <a:ext cx="242316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rivers table text 6-3"/>
          <p:cNvSpPr txBox="1"/>
          <p:nvPr/>
        </p:nvSpPr>
        <p:spPr>
          <a:xfrm>
            <a:off x="6355080" y="3108960"/>
            <a:ext cx="221284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tenure_months</a:t>
            </a:r>
          </a:p>
        </p:txBody>
      </p:sp>
      <p:sp>
        <p:nvSpPr>
          <p:cNvPr id="46" name="Drivers table 7-1"/>
          <p:cNvSpPr/>
          <p:nvPr/>
        </p:nvSpPr>
        <p:spPr>
          <a:xfrm>
            <a:off x="457200" y="3483864"/>
            <a:ext cx="19385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Drivers table text 7-1"/>
          <p:cNvSpPr txBox="1"/>
          <p:nvPr/>
        </p:nvSpPr>
        <p:spPr>
          <a:xfrm>
            <a:off x="548640" y="3483864"/>
            <a:ext cx="1755648" cy="347472"/>
          </a:xfrm>
          <a:prstGeom prst="rect">
            <a:avLst/>
          </a:prstGeom>
          <a:noFill/>
        </p:spPr>
        <p:txBody>
          <a:bodyPr wrap="square" lIns="0" rIns="0" tIns="0" bIns="0" anchor="ctr">
            <a:noAutofit/>
          </a:bodyPr>
          <a:lstStyle/>
          <a:p>
            <a:pPr algn="l">
              <a:spcAft>
                <a:spcPts val="400"/>
              </a:spcAft>
            </a:pPr>
            <a:r>
              <a:rPr sz="1150" b="1" lang="en-GB">
                <a:solidFill>
                  <a:schemeClr val="tx2"/>
                </a:solidFill>
              </a:rPr>
              <a:t>Retention action</a:t>
            </a:r>
          </a:p>
        </p:txBody>
      </p:sp>
      <p:sp>
        <p:nvSpPr>
          <p:cNvPr id="48" name="Drivers table 7-2"/>
          <p:cNvSpPr/>
          <p:nvPr/>
        </p:nvSpPr>
        <p:spPr>
          <a:xfrm>
            <a:off x="2423160" y="3483864"/>
            <a:ext cx="38130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rivers table text 7-2"/>
          <p:cNvSpPr txBox="1"/>
          <p:nvPr/>
        </p:nvSpPr>
        <p:spPr>
          <a:xfrm>
            <a:off x="2514600" y="3483864"/>
            <a:ext cx="363016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Ascarza 2018: risk ≠ response</a:t>
            </a:r>
          </a:p>
        </p:txBody>
      </p:sp>
      <p:sp>
        <p:nvSpPr>
          <p:cNvPr id="50" name="Drivers table 7-3"/>
          <p:cNvSpPr/>
          <p:nvPr/>
        </p:nvSpPr>
        <p:spPr>
          <a:xfrm>
            <a:off x="6263640" y="3483864"/>
            <a:ext cx="242316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rivers table text 7-3"/>
          <p:cNvSpPr txBox="1"/>
          <p:nvPr/>
        </p:nvSpPr>
        <p:spPr>
          <a:xfrm>
            <a:off x="6355080" y="3483864"/>
            <a:ext cx="2212848" cy="347472"/>
          </a:xfrm>
          <a:prstGeom prst="rect">
            <a:avLst/>
          </a:prstGeom>
          <a:noFill/>
        </p:spPr>
        <p:txBody>
          <a:bodyPr wrap="square" lIns="0" rIns="0" tIns="0" bIns="0" anchor="ctr">
            <a:noAutofit/>
          </a:bodyPr>
          <a:lstStyle/>
          <a:p>
            <a:pPr algn="l">
              <a:spcAft>
                <a:spcPts val="400"/>
              </a:spcAft>
            </a:pPr>
            <a:r>
              <a:rPr sz="1150" b="0" lang="en-GB">
                <a:solidFill>
                  <a:schemeClr val="tx1"/>
                </a:solidFill>
              </a:rPr>
              <a:t>retention_offer (randomised)</a:t>
            </a:r>
          </a:p>
        </p:txBody>
      </p:sp>
      <p:sp>
        <p:nvSpPr>
          <p:cNvPr id="52" name="Drivers callout box"/>
          <p:cNvSpPr/>
          <p:nvPr/>
        </p:nvSpPr>
        <p:spPr>
          <a:xfrm>
            <a:off x="457200" y="3986784"/>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Drivers callout" descr=""/>
          <p:cNvPicPr>
            <a:picLocks noChangeAspect="1"/>
          </p:cNvPicPr>
          <p:nvPr/>
        </p:nvPicPr>
        <p:blipFill>
          <a:blip r:embed="rId3"/>
          <a:stretch>
            <a:fillRect/>
          </a:stretch>
        </p:blipFill>
        <p:spPr>
          <a:xfrm>
            <a:off x="658368" y="4055364"/>
            <a:ext cx="365760" cy="365760"/>
          </a:xfrm>
          <a:prstGeom prst="rect">
            <a:avLst/>
          </a:prstGeom>
        </p:spPr>
      </p:pic>
      <p:sp>
        <p:nvSpPr>
          <p:cNvPr id="54" name="Drivers callout text"/>
          <p:cNvSpPr txBox="1"/>
          <p:nvPr/>
        </p:nvSpPr>
        <p:spPr>
          <a:xfrm>
            <a:off x="1207008" y="3986784"/>
            <a:ext cx="7315200" cy="502920"/>
          </a:xfrm>
          <a:prstGeom prst="rect">
            <a:avLst/>
          </a:prstGeom>
          <a:noFill/>
        </p:spPr>
        <p:txBody>
          <a:bodyPr wrap="square" lIns="0" rIns="0" tIns="0" bIns="0" anchor="ctr">
            <a:noAutofit/>
          </a:bodyPr>
          <a:lstStyle/>
          <a:p>
            <a:pPr algn="l">
              <a:spcAft>
                <a:spcPts val="400"/>
              </a:spcAft>
            </a:pPr>
            <a:r>
              <a:rPr sz="1250" b="1" lang="en-GB">
                <a:solidFill>
                  <a:schemeClr val="tx2"/>
                </a:solidFill>
              </a:rPr>
              <a:t>Theory first: </a:t>
            </a:r>
            <a:r>
              <a:rPr sz="1250" b="0" lang="en-GB">
                <a:solidFill>
                  <a:schemeClr val="tx1"/>
                </a:solidFill>
              </a:rPr>
              <a:t>each predictor maps to a reason for leaving, and the reason tells you which retention action fits.</a:t>
            </a:r>
          </a:p>
        </p:txBody>
      </p:sp>
      <p:sp>
        <p:nvSpPr>
          <p:cNvPr id="55"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Keaveney (1995), JM; Bolton (1998), Mktg Sci; Burnham et al. (2003), JAMS; Gustafsson et al. (2005), JM; Gao et al. (2023), JAMS; Ascarza (2018), JMR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Logit stays a strong benchmark for churn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mark 1 tile"/>
          <p:cNvSpPr/>
          <p:nvPr/>
        </p:nvSpPr>
        <p:spPr>
          <a:xfrm>
            <a:off x="457200" y="1234440"/>
            <a:ext cx="2651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Benchmark 1" descr=""/>
          <p:cNvPicPr>
            <a:picLocks noChangeAspect="1"/>
          </p:cNvPicPr>
          <p:nvPr/>
        </p:nvPicPr>
        <p:blipFill>
          <a:blip r:embed="rId3"/>
          <a:stretch>
            <a:fillRect/>
          </a:stretch>
        </p:blipFill>
        <p:spPr>
          <a:xfrm>
            <a:off x="594360" y="1371600"/>
            <a:ext cx="365760" cy="365760"/>
          </a:xfrm>
          <a:prstGeom prst="rect">
            <a:avLst/>
          </a:prstGeom>
        </p:spPr>
      </p:pic>
      <p:sp>
        <p:nvSpPr>
          <p:cNvPr id="12" name="Benchmark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Tournament</a:t>
            </a:r>
          </a:p>
        </p:txBody>
      </p:sp>
      <p:sp>
        <p:nvSpPr>
          <p:cNvPr id="13" name="Benchmark 1 reference"/>
          <p:cNvSpPr txBox="1"/>
          <p:nvPr/>
        </p:nvSpPr>
        <p:spPr>
          <a:xfrm>
            <a:off x="594360" y="1856232"/>
            <a:ext cx="2377440" cy="274320"/>
          </a:xfrm>
          <a:prstGeom prst="rect">
            <a:avLst/>
          </a:prstGeom>
          <a:noFill/>
        </p:spPr>
        <p:txBody>
          <a:bodyPr wrap="square" lIns="0" rIns="0" tIns="0" bIns="0" anchor="t">
            <a:noAutofit/>
          </a:bodyPr>
          <a:lstStyle/>
          <a:p>
            <a:pPr algn="l">
              <a:spcAft>
                <a:spcPts val="400"/>
              </a:spcAft>
            </a:pPr>
            <a:r>
              <a:rPr sz="1300" b="1" lang="en-GB">
                <a:solidFill>
                  <a:schemeClr val="tx2"/>
                </a:solidFill>
              </a:rPr>
              <a:t>Neslin et al. (2006)</a:t>
            </a:r>
          </a:p>
        </p:txBody>
      </p:sp>
      <p:sp>
        <p:nvSpPr>
          <p:cNvPr id="14" name="Benchmark 1 text"/>
          <p:cNvSpPr txBox="1"/>
          <p:nvPr/>
        </p:nvSpPr>
        <p:spPr>
          <a:xfrm>
            <a:off x="594360" y="2194560"/>
            <a:ext cx="2377440" cy="1581912"/>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Logit and trees among the most accurate</a:t>
            </a:r>
          </a:p>
          <a:p>
            <a:pPr algn="l" marL="182880" indent="-182880">
              <a:spcAft>
                <a:spcPts val="600"/>
              </a:spcAft>
              <a:buClr>
                <a:schemeClr val="accent1"/>
              </a:buClr>
              <a:buFont typeface="Arial"/>
              <a:buChar char="▪"/>
            </a:pPr>
            <a:r>
              <a:rPr sz="1300" b="0" lang="en-GB">
                <a:solidFill>
                  <a:schemeClr val="tx1"/>
                </a:solidFill>
              </a:rPr>
              <a:t>Scored on top-decile lift and Gini</a:t>
            </a:r>
          </a:p>
          <a:p>
            <a:pPr algn="l" marL="182880" indent="-182880">
              <a:spcAft>
                <a:spcPts val="600"/>
              </a:spcAft>
              <a:buClr>
                <a:schemeClr val="accent1"/>
              </a:buClr>
              <a:buFont typeface="Arial"/>
              <a:buChar char="▪"/>
            </a:pPr>
            <a:r>
              <a:rPr sz="1300" b="0" lang="en-GB">
                <a:solidFill>
                  <a:schemeClr val="tx1"/>
                </a:solidFill>
              </a:rPr>
              <a:t>Models held up on data three months later</a:t>
            </a:r>
          </a:p>
        </p:txBody>
      </p:sp>
      <p:sp>
        <p:nvSpPr>
          <p:cNvPr id="15" name="Benchmark 2 tile"/>
          <p:cNvSpPr/>
          <p:nvPr/>
        </p:nvSpPr>
        <p:spPr>
          <a:xfrm>
            <a:off x="3246120" y="1234440"/>
            <a:ext cx="2651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Benchmark 2" descr=""/>
          <p:cNvPicPr>
            <a:picLocks noChangeAspect="1"/>
          </p:cNvPicPr>
          <p:nvPr/>
        </p:nvPicPr>
        <p:blipFill>
          <a:blip r:embed="rId4"/>
          <a:stretch>
            <a:fillRect/>
          </a:stretch>
        </p:blipFill>
        <p:spPr>
          <a:xfrm>
            <a:off x="3383280" y="1371600"/>
            <a:ext cx="365760" cy="365760"/>
          </a:xfrm>
          <a:prstGeom prst="rect">
            <a:avLst/>
          </a:prstGeom>
        </p:spPr>
      </p:pic>
      <p:sp>
        <p:nvSpPr>
          <p:cNvPr id="17" name="Benchmark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Benchmark</a:t>
            </a:r>
          </a:p>
        </p:txBody>
      </p:sp>
      <p:sp>
        <p:nvSpPr>
          <p:cNvPr id="18" name="Benchmark 2 reference"/>
          <p:cNvSpPr txBox="1"/>
          <p:nvPr/>
        </p:nvSpPr>
        <p:spPr>
          <a:xfrm>
            <a:off x="3383280" y="1856232"/>
            <a:ext cx="2377440" cy="274320"/>
          </a:xfrm>
          <a:prstGeom prst="rect">
            <a:avLst/>
          </a:prstGeom>
          <a:noFill/>
        </p:spPr>
        <p:txBody>
          <a:bodyPr wrap="square" lIns="0" rIns="0" tIns="0" bIns="0" anchor="t">
            <a:noAutofit/>
          </a:bodyPr>
          <a:lstStyle/>
          <a:p>
            <a:pPr algn="l">
              <a:spcAft>
                <a:spcPts val="400"/>
              </a:spcAft>
            </a:pPr>
            <a:r>
              <a:rPr sz="1300" b="1" lang="en-GB">
                <a:solidFill>
                  <a:schemeClr val="tx2"/>
                </a:solidFill>
              </a:rPr>
              <a:t>Verbeke et al. (2012)</a:t>
            </a:r>
          </a:p>
        </p:txBody>
      </p:sp>
      <p:sp>
        <p:nvSpPr>
          <p:cNvPr id="19" name="Benchmark 2 text"/>
          <p:cNvSpPr txBox="1"/>
          <p:nvPr/>
        </p:nvSpPr>
        <p:spPr>
          <a:xfrm>
            <a:off x="3383280" y="2194560"/>
            <a:ext cx="2377440" cy="1581912"/>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11 telecom datasets worldwide</a:t>
            </a:r>
          </a:p>
          <a:p>
            <a:pPr algn="l" marL="182880" indent="-182880">
              <a:spcAft>
                <a:spcPts val="600"/>
              </a:spcAft>
              <a:buClr>
                <a:schemeClr val="accent1"/>
              </a:buClr>
              <a:buFont typeface="Arial"/>
              <a:buChar char="▪"/>
            </a:pPr>
            <a:r>
              <a:rPr sz="1300" b="0" lang="en-GB">
                <a:solidFill>
                  <a:schemeClr val="tx1"/>
                </a:solidFill>
              </a:rPr>
              <a:t>Many classifiers, logit among them, perform alike</a:t>
            </a:r>
          </a:p>
          <a:p>
            <a:pPr algn="l" marL="182880" indent="-182880">
              <a:spcAft>
                <a:spcPts val="600"/>
              </a:spcAft>
              <a:buClr>
                <a:schemeClr val="accent1"/>
              </a:buClr>
              <a:buFont typeface="Arial"/>
              <a:buChar char="▪"/>
            </a:pPr>
            <a:r>
              <a:rPr sz="1300" b="0" lang="en-GB">
                <a:solidFill>
                  <a:schemeClr val="tx1"/>
                </a:solidFill>
              </a:rPr>
              <a:t>A few variables suffice</a:t>
            </a:r>
          </a:p>
        </p:txBody>
      </p:sp>
      <p:sp>
        <p:nvSpPr>
          <p:cNvPr id="20" name="Benchmark 3 tile"/>
          <p:cNvSpPr/>
          <p:nvPr/>
        </p:nvSpPr>
        <p:spPr>
          <a:xfrm>
            <a:off x="6035040" y="1234440"/>
            <a:ext cx="2651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Benchmark 3" descr=""/>
          <p:cNvPicPr>
            <a:picLocks noChangeAspect="1"/>
          </p:cNvPicPr>
          <p:nvPr/>
        </p:nvPicPr>
        <p:blipFill>
          <a:blip r:embed="rId5"/>
          <a:stretch>
            <a:fillRect/>
          </a:stretch>
        </p:blipFill>
        <p:spPr>
          <a:xfrm>
            <a:off x="6172200" y="1371600"/>
            <a:ext cx="365760" cy="365760"/>
          </a:xfrm>
          <a:prstGeom prst="rect">
            <a:avLst/>
          </a:prstGeom>
        </p:spPr>
      </p:pic>
      <p:sp>
        <p:nvSpPr>
          <p:cNvPr id="22" name="Benchmark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Preparation</a:t>
            </a:r>
          </a:p>
        </p:txBody>
      </p:sp>
      <p:sp>
        <p:nvSpPr>
          <p:cNvPr id="23" name="Benchmark 3 reference"/>
          <p:cNvSpPr txBox="1"/>
          <p:nvPr/>
        </p:nvSpPr>
        <p:spPr>
          <a:xfrm>
            <a:off x="6172200" y="1856232"/>
            <a:ext cx="2377440" cy="274320"/>
          </a:xfrm>
          <a:prstGeom prst="rect">
            <a:avLst/>
          </a:prstGeom>
          <a:noFill/>
        </p:spPr>
        <p:txBody>
          <a:bodyPr wrap="square" lIns="0" rIns="0" tIns="0" bIns="0" anchor="t">
            <a:noAutofit/>
          </a:bodyPr>
          <a:lstStyle/>
          <a:p>
            <a:pPr algn="l">
              <a:spcAft>
                <a:spcPts val="400"/>
              </a:spcAft>
            </a:pPr>
            <a:r>
              <a:rPr sz="1300" b="1" lang="en-GB">
                <a:solidFill>
                  <a:schemeClr val="tx2"/>
                </a:solidFill>
              </a:rPr>
              <a:t>Coussement et al. (2017)</a:t>
            </a:r>
          </a:p>
        </p:txBody>
      </p:sp>
      <p:sp>
        <p:nvSpPr>
          <p:cNvPr id="24" name="Benchmark 3 text"/>
          <p:cNvSpPr txBox="1"/>
          <p:nvPr/>
        </p:nvSpPr>
        <p:spPr>
          <a:xfrm>
            <a:off x="6172200" y="2194560"/>
            <a:ext cx="2377440" cy="1581912"/>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Binning and transforms: AUC up to +14.5 %</a:t>
            </a:r>
          </a:p>
          <a:p>
            <a:pPr algn="l" marL="182880" indent="-182880">
              <a:spcAft>
                <a:spcPts val="600"/>
              </a:spcAft>
              <a:buClr>
                <a:schemeClr val="accent1"/>
              </a:buClr>
              <a:buFont typeface="Arial"/>
              <a:buChar char="▪"/>
            </a:pPr>
            <a:r>
              <a:rPr sz="1300" b="0" lang="en-GB">
                <a:solidFill>
                  <a:schemeClr val="tx1"/>
                </a:solidFill>
              </a:rPr>
              <a:t>Top-decile lift up to +34 %</a:t>
            </a:r>
          </a:p>
          <a:p>
            <a:pPr algn="l" marL="182880" indent="-182880">
              <a:spcAft>
                <a:spcPts val="600"/>
              </a:spcAft>
              <a:buClr>
                <a:schemeClr val="accent1"/>
              </a:buClr>
              <a:buFont typeface="Arial"/>
              <a:buChar char="▪"/>
            </a:pPr>
            <a:r>
              <a:rPr sz="1300" b="0" lang="en-GB">
                <a:solidFill>
                  <a:schemeClr val="tx1"/>
                </a:solidFill>
              </a:rPr>
              <a:t>A prepared logit competes with 8 ML methods</a:t>
            </a:r>
          </a:p>
        </p:txBody>
      </p:sp>
      <p:sp>
        <p:nvSpPr>
          <p:cNvPr id="25" name="Benchmark callout box"/>
          <p:cNvSpPr/>
          <p:nvPr/>
        </p:nvSpPr>
        <p:spPr>
          <a:xfrm>
            <a:off x="457200" y="39776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enchmark callout text"/>
          <p:cNvSpPr txBox="1"/>
          <p:nvPr/>
        </p:nvSpPr>
        <p:spPr>
          <a:xfrm>
            <a:off x="658368" y="39776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When ML wins, </a:t>
            </a:r>
            <a:r>
              <a:rPr sz="1250" b="0" lang="en-GB">
                <a:solidFill>
                  <a:schemeClr val="bg1"/>
                </a:solidFill>
              </a:rPr>
              <a:t>it wins by tuning and ensembles; logit keeps coefficients that translate into probability effects.</a:t>
            </a:r>
          </a:p>
        </p:txBody>
      </p:sp>
      <p:sp>
        <p:nvSpPr>
          <p:cNvPr id="27"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Neslin et al. (2006), JMR; Verbeke et al. (2012), EJOR; Coussement et al. (2017), DSS; Lemmens &amp; Croux (2006), JMR; Coussement &amp; Van den Poel (2008), ESWA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Across countries: intercepts and slopes differ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tercepts card body"/>
          <p:cNvSpPr/>
          <p:nvPr/>
        </p:nvSpPr>
        <p:spPr>
          <a:xfrm>
            <a:off x="457200" y="1691640"/>
            <a:ext cx="4046220"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tercepts card header"/>
          <p:cNvSpPr/>
          <p:nvPr/>
        </p:nvSpPr>
        <p:spPr>
          <a:xfrm>
            <a:off x="45720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cepts card heading"/>
          <p:cNvSpPr txBox="1"/>
          <p:nvPr/>
        </p:nvSpPr>
        <p:spPr>
          <a:xfrm>
            <a:off x="59436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Intercepts: baseline churn</a:t>
            </a:r>
          </a:p>
        </p:txBody>
      </p:sp>
      <p:pic>
        <p:nvPicPr>
          <p:cNvPr id="13" name="Icon Intercepts card" descr=""/>
          <p:cNvPicPr>
            <a:picLocks noChangeAspect="1"/>
          </p:cNvPicPr>
          <p:nvPr/>
        </p:nvPicPr>
        <p:blipFill>
          <a:blip r:embed="rId3"/>
          <a:stretch>
            <a:fillRect/>
          </a:stretch>
        </p:blipFill>
        <p:spPr>
          <a:xfrm>
            <a:off x="4064508" y="1307592"/>
            <a:ext cx="310896" cy="310896"/>
          </a:xfrm>
          <a:prstGeom prst="rect">
            <a:avLst/>
          </a:prstGeom>
        </p:spPr>
      </p:pic>
      <p:sp>
        <p:nvSpPr>
          <p:cNvPr id="14" name="Intercepts card text"/>
          <p:cNvSpPr txBox="1"/>
          <p:nvPr/>
        </p:nvSpPr>
        <p:spPr>
          <a:xfrm>
            <a:off x="621792" y="1828800"/>
            <a:ext cx="3744468" cy="17830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Churn falls as porting gets dearer and slower across EU markets</a:t>
            </a:r>
          </a:p>
          <a:p>
            <a:pPr algn="l" marL="182880" indent="-182880">
              <a:spcAft>
                <a:spcPts val="600"/>
              </a:spcAft>
              <a:buClr>
                <a:schemeClr val="accent1"/>
              </a:buClr>
              <a:buFont typeface="Arial"/>
              <a:buChar char="▪"/>
            </a:pPr>
            <a:r>
              <a:rPr sz="1300" b="0" lang="en-GB">
                <a:solidFill>
                  <a:schemeClr val="tx1"/>
                </a:solidFill>
              </a:rPr>
              <a:t>Number portability shifts contract mix and market shares: 218 operators, 52 countries</a:t>
            </a:r>
          </a:p>
          <a:p>
            <a:pPr algn="l" marL="182880" indent="-182880">
              <a:spcAft>
                <a:spcPts val="600"/>
              </a:spcAft>
              <a:buClr>
                <a:schemeClr val="accent1"/>
              </a:buClr>
              <a:buFont typeface="Arial"/>
              <a:buChar char="▪"/>
            </a:pPr>
            <a:r>
              <a:rPr sz="1300" b="0" lang="en-GB">
                <a:solidFill>
                  <a:schemeClr val="tx1"/>
                </a:solidFill>
              </a:rPr>
              <a:t>Higher loyalty overall in China than in the Netherlands</a:t>
            </a:r>
          </a:p>
        </p:txBody>
      </p:sp>
      <p:sp>
        <p:nvSpPr>
          <p:cNvPr id="15" name="Slopes card body"/>
          <p:cNvSpPr/>
          <p:nvPr/>
        </p:nvSpPr>
        <p:spPr>
          <a:xfrm>
            <a:off x="4640580" y="1691640"/>
            <a:ext cx="4046220"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lopes card header"/>
          <p:cNvSpPr/>
          <p:nvPr/>
        </p:nvSpPr>
        <p:spPr>
          <a:xfrm>
            <a:off x="464058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lopes card heading"/>
          <p:cNvSpPr txBox="1"/>
          <p:nvPr/>
        </p:nvSpPr>
        <p:spPr>
          <a:xfrm>
            <a:off x="477774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Slopes: driver effects</a:t>
            </a:r>
          </a:p>
        </p:txBody>
      </p:sp>
      <p:pic>
        <p:nvPicPr>
          <p:cNvPr id="18" name="Icon Slopes card" descr=""/>
          <p:cNvPicPr>
            <a:picLocks noChangeAspect="1"/>
          </p:cNvPicPr>
          <p:nvPr/>
        </p:nvPicPr>
        <p:blipFill>
          <a:blip r:embed="rId4"/>
          <a:stretch>
            <a:fillRect/>
          </a:stretch>
        </p:blipFill>
        <p:spPr>
          <a:xfrm>
            <a:off x="8247888" y="1307592"/>
            <a:ext cx="310896" cy="310896"/>
          </a:xfrm>
          <a:prstGeom prst="rect">
            <a:avLst/>
          </a:prstGeom>
        </p:spPr>
      </p:pic>
      <p:sp>
        <p:nvSpPr>
          <p:cNvPr id="19" name="Slopes card text"/>
          <p:cNvSpPr txBox="1"/>
          <p:nvPr/>
        </p:nvSpPr>
        <p:spPr>
          <a:xfrm>
            <a:off x="4805172" y="1828800"/>
            <a:ext cx="3744468" cy="17830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Satisfaction → loyalty depends on culture: 3,393 mobile customers, 8 countries</a:t>
            </a:r>
          </a:p>
          <a:p>
            <a:pPr algn="l" marL="182880" indent="-182880">
              <a:spcAft>
                <a:spcPts val="600"/>
              </a:spcAft>
              <a:buClr>
                <a:schemeClr val="accent1"/>
              </a:buClr>
              <a:buFont typeface="Arial"/>
              <a:buChar char="▪"/>
            </a:pPr>
            <a:r>
              <a:rPr sz="1300" b="0" lang="en-GB">
                <a:solidFill>
                  <a:schemeClr val="tx1"/>
                </a:solidFill>
              </a:rPr>
              <a:t>Switching costs raise or lower switching, depending on development: 451 effects, 25 countries</a:t>
            </a:r>
          </a:p>
          <a:p>
            <a:pPr algn="l" marL="182880" indent="-182880">
              <a:spcAft>
                <a:spcPts val="600"/>
              </a:spcAft>
              <a:buClr>
                <a:schemeClr val="accent1"/>
              </a:buClr>
              <a:buFont typeface="Arial"/>
              <a:buChar char="▪"/>
            </a:pPr>
            <a:r>
              <a:rPr sz="1300" b="0" lang="en-GB">
                <a:solidFill>
                  <a:schemeClr val="tx1"/>
                </a:solidFill>
              </a:rPr>
              <a:t>Barriers largely universal in Australia and Thailand</a:t>
            </a:r>
          </a:p>
        </p:txBody>
      </p:sp>
      <p:sp>
        <p:nvSpPr>
          <p:cNvPr id="20" name="Countries callout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ntries callout text"/>
          <p:cNvSpPr txBox="1"/>
          <p:nvPr/>
        </p:nvSpPr>
        <p:spPr>
          <a:xfrm>
            <a:off x="658368" y="393192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Minimum: country fixed effects; </a:t>
            </a:r>
            <a:r>
              <a:rPr sz="1250" b="0" lang="en-GB">
                <a:solidFill>
                  <a:schemeClr val="bg1"/>
                </a:solidFill>
              </a:rPr>
              <a:t>then test country × driver differences on the probability scale (AMEs, Part 4).</a:t>
            </a:r>
          </a:p>
        </p:txBody>
      </p:sp>
      <p:sp>
        <p:nvSpPr>
          <p:cNvPr id="22"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Usero Sánchez &amp; Asimakopoulos (2012), Telecom Policy; Wei &amp; Zhu (2018), POM; Zhang et al. (2014), IBR; Aksoy et al. (2013), J Interact Mktg; Pick &amp; Eisend (2016), JIM; Patterson &amp; Smith (2003), J Retail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amily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560320"/>
                <a:gridCol w="1874520"/>
                <a:gridCol w="1920240"/>
                <a:gridCol w="1874520"/>
              </a:tblGrid>
              <a:tr h="370840">
                <a:tc>
                  <a:txBody>
                    <a:bodyPr/>
                    <a:lstStyle/>
                    <a:p>
                      <a:r>
                        <a:rPr sz="1250" lang="en-GB"/>
                        <a:t>Question</a:t>
                      </a:r>
                    </a:p>
                  </a:txBody>
                  <a:tcPr marT="45000" marB="45000"/>
                </a:tc>
                <a:tc>
                  <a:txBody>
                    <a:bodyPr/>
                    <a:lstStyle/>
                    <a:p>
                      <a:r>
                        <a:rPr sz="1250" lang="en-GB"/>
                        <a:t>Model</a:t>
                      </a:r>
                    </a:p>
                  </a:txBody>
                  <a:tcPr marT="45000" marB="45000"/>
                </a:tc>
                <a:tc>
                  <a:txBody>
                    <a:bodyPr/>
                    <a:lstStyle/>
                    <a:p>
                      <a:r>
                        <a:rPr sz="1250" lang="en-GB"/>
                        <a:t>Assumption</a:t>
                      </a:r>
                    </a:p>
                  </a:txBody>
                  <a:tcPr marT="45000" marB="45000"/>
                </a:tc>
                <a:tc>
                  <a:txBody>
                    <a:bodyPr/>
                    <a:lstStyle/>
                    <a:p>
                      <a:r>
                        <a:rPr sz="1250" lang="en-GB"/>
                        <a:t>Example</a:t>
                      </a:r>
                    </a:p>
                  </a:txBody>
                  <a:tcPr marT="45000" marB="45000"/>
                </a:tc>
              </a:tr>
              <a:tr h="370840">
                <a:tc>
                  <a:txBody>
                    <a:bodyPr/>
                    <a:lstStyle/>
                    <a:p>
                      <a:r>
                        <a:rPr sz="1150" b="1" lang="en-GB"/>
                        <a:t>Churn within 12 months?</a:t>
                      </a:r>
                    </a:p>
                  </a:txBody>
                  <a:tcPr marT="45000" marB="45000"/>
                </a:tc>
                <a:tc>
                  <a:txBody>
                    <a:bodyPr/>
                    <a:lstStyle/>
                    <a:p>
                      <a:r>
                        <a:rPr sz="1150" lang="en-GB"/>
                        <a:t>Binary logit</a:t>
                      </a:r>
                    </a:p>
                  </a:txBody>
                  <a:tcPr marT="45000" marB="45000"/>
                </a:tc>
                <a:tc>
                  <a:txBody>
                    <a:bodyPr/>
                    <a:lstStyle/>
                    <a:p>
                      <a:r>
                        <a:rPr sz="1150" lang="en-GB"/>
                        <a:t>Link is convention</a:t>
                      </a:r>
                    </a:p>
                  </a:txBody>
                  <a:tcPr marT="45000" marB="45000"/>
                </a:tc>
                <a:tc>
                  <a:txBody>
                    <a:bodyPr/>
                    <a:lstStyle/>
                    <a:p>
                      <a:r>
                        <a:rPr sz="1150" lang="en-GB"/>
                        <a:t>Neslin et al. 2006</a:t>
                      </a:r>
                    </a:p>
                  </a:txBody>
                  <a:tcPr marT="45000" marB="45000"/>
                </a:tc>
              </a:tr>
              <a:tr h="370840">
                <a:tc>
                  <a:txBody>
                    <a:bodyPr/>
                    <a:lstStyle/>
                    <a:p>
                      <a:r>
                        <a:rPr sz="1150" b="1" lang="en-GB"/>
                        <a:t>When do they churn?</a:t>
                      </a:r>
                    </a:p>
                  </a:txBody>
                  <a:tcPr marT="45000" marB="45000"/>
                </a:tc>
                <a:tc>
                  <a:txBody>
                    <a:bodyPr/>
                    <a:lstStyle/>
                    <a:p>
                      <a:r>
                        <a:rPr sz="1150" lang="en-GB"/>
                        <a:t>Discrete-time hazard</a:t>
                      </a:r>
                    </a:p>
                  </a:txBody>
                  <a:tcPr marT="45000" marB="45000"/>
                </a:tc>
                <a:tc>
                  <a:txBody>
                    <a:bodyPr/>
                    <a:lstStyle/>
                    <a:p>
                      <a:r>
                        <a:rPr sz="1150" lang="en-GB"/>
                        <a:t>Shape of the hazard</a:t>
                      </a:r>
                    </a:p>
                  </a:txBody>
                  <a:tcPr marT="45000" marB="45000"/>
                </a:tc>
                <a:tc>
                  <a:txBody>
                    <a:bodyPr/>
                    <a:lstStyle/>
                    <a:p>
                      <a:r>
                        <a:rPr sz="1150" lang="en-GB"/>
                        <a:t>Bolton 1998</a:t>
                      </a:r>
                    </a:p>
                  </a:txBody>
                  <a:tcPr marT="45000" marB="45000"/>
                </a:tc>
              </a:tr>
              <a:tr h="370840">
                <a:tc>
                  <a:txBody>
                    <a:bodyPr/>
                    <a:lstStyle/>
                    <a:p>
                      <a:r>
                        <a:rPr sz="1150" b="1" lang="en-GB"/>
                        <a:t>Where do churners go?</a:t>
                      </a:r>
                    </a:p>
                  </a:txBody>
                  <a:tcPr marT="45000" marB="45000"/>
                </a:tc>
                <a:tc>
                  <a:txBody>
                    <a:bodyPr/>
                    <a:lstStyle/>
                    <a:p>
                      <a:r>
                        <a:rPr sz="1150" lang="en-GB"/>
                        <a:t>Multinomial logit</a:t>
                      </a:r>
                    </a:p>
                  </a:txBody>
                  <a:tcPr marT="45000" marB="45000"/>
                </a:tc>
                <a:tc>
                  <a:txBody>
                    <a:bodyPr/>
                    <a:lstStyle/>
                    <a:p>
                      <a:r>
                        <a:rPr sz="1150" lang="en-GB"/>
                        <a:t>IIA</a:t>
                      </a:r>
                    </a:p>
                  </a:txBody>
                  <a:tcPr marT="45000" marB="45000"/>
                </a:tc>
                <a:tc>
                  <a:txBody>
                    <a:bodyPr/>
                    <a:lstStyle/>
                    <a:p>
                      <a:r>
                        <a:rPr sz="1150" lang="en-GB"/>
                        <a:t>Swisscom 2026</a:t>
                      </a:r>
                    </a:p>
                  </a:txBody>
                  <a:tcPr marT="45000" marB="45000"/>
                </a:tc>
              </a:tr>
              <a:tr h="370840">
                <a:tc>
                  <a:txBody>
                    <a:bodyPr/>
                    <a:lstStyle/>
                    <a:p>
                      <a:r>
                        <a:rPr sz="1150" b="1" lang="en-GB"/>
                        <a:t>Cancel, pause or stay?</a:t>
                      </a:r>
                    </a:p>
                  </a:txBody>
                  <a:tcPr marT="45000" marB="45000"/>
                </a:tc>
                <a:tc>
                  <a:txBody>
                    <a:bodyPr/>
                    <a:lstStyle/>
                    <a:p>
                      <a:r>
                        <a:rPr sz="1150" lang="en-GB"/>
                        <a:t>Nested logit or MNL</a:t>
                      </a:r>
                    </a:p>
                  </a:txBody>
                  <a:tcPr marT="45000" marB="45000"/>
                </a:tc>
                <a:tc>
                  <a:txBody>
                    <a:bodyPr/>
                    <a:lstStyle/>
                    <a:p>
                      <a:r>
                        <a:rPr sz="1150" lang="en-GB"/>
                        <a:t>Nests fit the decision</a:t>
                      </a:r>
                    </a:p>
                  </a:txBody>
                  <a:tcPr marT="45000" marB="45000"/>
                </a:tc>
                <a:tc>
                  <a:txBody>
                    <a:bodyPr/>
                    <a:lstStyle/>
                    <a:p>
                      <a:r>
                        <a:rPr sz="1150" lang="en-GB"/>
                        <a:t>Thesis niche, slide 54</a:t>
                      </a:r>
                    </a:p>
                  </a:txBody>
                  <a:tcPr marT="45000" marB="45000"/>
                </a:tc>
              </a:tr>
              <a:tr h="370840">
                <a:tc>
                  <a:txBody>
                    <a:bodyPr/>
                    <a:lstStyle/>
                    <a:p>
                      <a:r>
                        <a:rPr sz="1150" b="1" lang="en-GB"/>
                        <a:t>Satisfaction 1–5</a:t>
                      </a:r>
                    </a:p>
                  </a:txBody>
                  <a:tcPr marT="45000" marB="45000"/>
                </a:tc>
                <a:tc>
                  <a:txBody>
                    <a:bodyPr/>
                    <a:lstStyle/>
                    <a:p>
                      <a:r>
                        <a:rPr sz="1150" lang="en-GB"/>
                        <a:t>Ordered logit</a:t>
                      </a:r>
                    </a:p>
                  </a:txBody>
                  <a:tcPr marT="45000" marB="45000"/>
                </a:tc>
                <a:tc>
                  <a:txBody>
                    <a:bodyPr/>
                    <a:lstStyle/>
                    <a:p>
                      <a:r>
                        <a:rPr sz="1150" lang="en-GB"/>
                        <a:t>Proportional odds</a:t>
                      </a:r>
                    </a:p>
                  </a:txBody>
                  <a:tcPr marT="45000" marB="45000"/>
                </a:tc>
                <a:tc>
                  <a:txBody>
                    <a:bodyPr/>
                    <a:lstStyle/>
                    <a:p>
                      <a:r>
                        <a:rPr sz="1150" lang="en-GB"/>
                        <a:t>Survey item, slide 27</a:t>
                      </a:r>
                    </a:p>
                  </a:txBody>
                  <a:tcPr marT="45000" marB="45000"/>
                </a:tc>
              </a:tr>
              <a:tr h="370840">
                <a:tc>
                  <a:txBody>
                    <a:bodyPr/>
                    <a:lstStyle/>
                    <a:p>
                      <a:r>
                        <a:rPr sz="1150" b="1" lang="en-GB"/>
                        <a:t>Many countries</a:t>
                      </a:r>
                    </a:p>
                  </a:txBody>
                  <a:tcPr marT="45000" marB="45000"/>
                </a:tc>
                <a:tc>
                  <a:txBody>
                    <a:bodyPr/>
                    <a:lstStyle/>
                    <a:p>
                      <a:r>
                        <a:rPr sz="1150" lang="en-GB"/>
                        <a:t>Multilevel logit</a:t>
                      </a:r>
                    </a:p>
                  </a:txBody>
                  <a:tcPr marT="45000" marB="45000"/>
                </a:tc>
                <a:tc>
                  <a:txBody>
                    <a:bodyPr/>
                    <a:lstStyle/>
                    <a:p>
                      <a:r>
                        <a:rPr sz="1150" lang="en-GB"/>
                        <a:t>Enough countries</a:t>
                      </a:r>
                    </a:p>
                  </a:txBody>
                  <a:tcPr marT="45000" marB="45000"/>
                </a:tc>
                <a:tc>
                  <a:txBody>
                    <a:bodyPr/>
                    <a:lstStyle/>
                    <a:p>
                      <a:r>
                        <a:rPr sz="1150" lang="en-GB"/>
                        <a:t>None found, slide 23</a:t>
                      </a:r>
                    </a:p>
                  </a:txBody>
                  <a:tcPr marT="45000" marB="45000"/>
                </a:tc>
              </a:tr>
              <a:tr h="370840">
                <a:tc>
                  <a:txBody>
                    <a:bodyPr/>
                    <a:lstStyle/>
                    <a:p>
                      <a:r>
                        <a:rPr sz="1150" b="1" lang="en-GB"/>
                        <a:t>Rare events, case-control</a:t>
                      </a:r>
                    </a:p>
                  </a:txBody>
                  <a:tcPr marT="45000" marB="45000"/>
                </a:tc>
                <a:tc>
                  <a:txBody>
                    <a:bodyPr/>
                    <a:lstStyle/>
                    <a:p>
                      <a:r>
                        <a:rPr sz="1150" lang="en-GB"/>
                        <a:t>Prior-corrected logit</a:t>
                      </a:r>
                    </a:p>
                  </a:txBody>
                  <a:tcPr marT="45000" marB="45000"/>
                </a:tc>
                <a:tc>
                  <a:txBody>
                    <a:bodyPr/>
                    <a:lstStyle/>
                    <a:p>
                      <a:r>
                        <a:rPr sz="1150" lang="en-GB"/>
                        <a:t>Known population rate</a:t>
                      </a:r>
                    </a:p>
                  </a:txBody>
                  <a:tcPr marT="45000" marB="45000"/>
                </a:tc>
                <a:tc>
                  <a:txBody>
                    <a:bodyPr/>
                    <a:lstStyle/>
                    <a:p>
                      <a:r>
                        <a:rPr sz="1150" lang="en-GB"/>
                        <a:t>King &amp; Zeng 2001</a:t>
                      </a:r>
                    </a:p>
                  </a:txBody>
                  <a:tcPr marT="45000" marB="45000"/>
                </a:tc>
              </a:tr>
            </a:tbl>
          </a:graphicData>
        </a:graphic>
      </p:graphicFrame>
      <p:sp>
        <p:nvSpPr>
          <p:cNvPr id="3" name="Title 2"/>
          <p:cNvSpPr>
            <a:spLocks noGrp="1"/>
          </p:cNvSpPr>
          <p:nvPr>
            <p:ph type="title"/>
          </p:nvPr>
        </p:nvSpPr>
        <p:spPr/>
        <p:txBody>
          <a:bodyPr/>
          <a:lstStyle/>
          <a:p>
            <a:r>
              <a:rPr sz="1600" lang="en-GB"/>
              <a:t>The logit family for churn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amily callout box"/>
          <p:cNvSpPr/>
          <p:nvPr/>
        </p:nvSpPr>
        <p:spPr>
          <a:xfrm>
            <a:off x="457200" y="4315968"/>
            <a:ext cx="8229600" cy="34747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amily callout text"/>
          <p:cNvSpPr txBox="1"/>
          <p:nvPr/>
        </p:nvSpPr>
        <p:spPr>
          <a:xfrm>
            <a:off x="658368" y="4315968"/>
            <a:ext cx="7827264" cy="347472"/>
          </a:xfrm>
          <a:prstGeom prst="rect">
            <a:avLst/>
          </a:prstGeom>
          <a:noFill/>
        </p:spPr>
        <p:txBody>
          <a:bodyPr wrap="square" lIns="0" rIns="0" tIns="0" bIns="0" anchor="ctr">
            <a:noAutofit/>
          </a:bodyPr>
          <a:lstStyle/>
          <a:p>
            <a:pPr algn="l">
              <a:spcAft>
                <a:spcPts val="400"/>
              </a:spcAft>
            </a:pPr>
            <a:r>
              <a:rPr sz="1250" b="1" lang="en-GB">
                <a:solidFill>
                  <a:schemeClr val="bg1"/>
                </a:solidFill>
              </a:rPr>
              <a:t>The question decides the model, </a:t>
            </a:r>
            <a:r>
              <a:rPr sz="1250" b="0" lang="en-GB">
                <a:solidFill>
                  <a:schemeClr val="bg1"/>
                </a:solidFill>
              </a:rPr>
              <a:t>not the other way round.</a:t>
            </a:r>
          </a:p>
        </p:txBody>
      </p:sp>
      <p:sp>
        <p:nvSpPr>
          <p:cNvPr id="12"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Greene, Chidlow &amp; Strange (2022), IBR; Neslin et al. (2006), JMR; Bolton (1998), Mktg Sci; King &amp; Zeng (2001), Political Analysis; Swisscom Q2 2026 results (Investing.com)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When do customers churn? Discrete-time hazard logit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Hazard table 1-1"/>
          <p:cNvSpPr/>
          <p:nvPr/>
        </p:nvSpPr>
        <p:spPr>
          <a:xfrm>
            <a:off x="457200" y="1234440"/>
            <a:ext cx="93268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Hazard table text 1-1"/>
          <p:cNvSpPr txBox="1"/>
          <p:nvPr/>
        </p:nvSpPr>
        <p:spPr>
          <a:xfrm>
            <a:off x="502920" y="1234440"/>
            <a:ext cx="841248" cy="402336"/>
          </a:xfrm>
          <a:prstGeom prst="rect">
            <a:avLst/>
          </a:prstGeom>
          <a:noFill/>
        </p:spPr>
        <p:txBody>
          <a:bodyPr wrap="square" lIns="0" rIns="0" tIns="0" bIns="0" anchor="ctr">
            <a:noAutofit/>
          </a:bodyPr>
          <a:lstStyle/>
          <a:p>
            <a:pPr algn="ctr">
              <a:spcAft>
                <a:spcPts val="0"/>
              </a:spcAft>
            </a:pPr>
            <a:r>
              <a:rPr sz="1100" b="1" lang="en-GB">
                <a:solidFill>
                  <a:schemeClr val="bg1"/>
                </a:solidFill>
              </a:rPr>
              <a:t>Customer</a:t>
            </a:r>
          </a:p>
        </p:txBody>
      </p:sp>
      <p:sp>
        <p:nvSpPr>
          <p:cNvPr id="12" name="Hazard table 1-2"/>
          <p:cNvSpPr/>
          <p:nvPr/>
        </p:nvSpPr>
        <p:spPr>
          <a:xfrm>
            <a:off x="1417320" y="1234440"/>
            <a:ext cx="630936"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azard table text 1-2"/>
          <p:cNvSpPr txBox="1"/>
          <p:nvPr/>
        </p:nvSpPr>
        <p:spPr>
          <a:xfrm>
            <a:off x="1463040" y="1234440"/>
            <a:ext cx="539496" cy="402336"/>
          </a:xfrm>
          <a:prstGeom prst="rect">
            <a:avLst/>
          </a:prstGeom>
          <a:noFill/>
        </p:spPr>
        <p:txBody>
          <a:bodyPr wrap="square" lIns="0" rIns="0" tIns="0" bIns="0" anchor="ctr">
            <a:noAutofit/>
          </a:bodyPr>
          <a:lstStyle/>
          <a:p>
            <a:pPr algn="ctr">
              <a:spcAft>
                <a:spcPts val="0"/>
              </a:spcAft>
            </a:pPr>
            <a:r>
              <a:rPr sz="1100" b="1" lang="en-GB">
                <a:solidFill>
                  <a:schemeClr val="bg1"/>
                </a:solidFill>
              </a:rPr>
              <a:t>Month</a:t>
            </a:r>
          </a:p>
        </p:txBody>
      </p:sp>
      <p:sp>
        <p:nvSpPr>
          <p:cNvPr id="14" name="Hazard table 1-3"/>
          <p:cNvSpPr/>
          <p:nvPr/>
        </p:nvSpPr>
        <p:spPr>
          <a:xfrm>
            <a:off x="2075688" y="1234440"/>
            <a:ext cx="84124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Hazard table text 1-3"/>
          <p:cNvSpPr txBox="1"/>
          <p:nvPr/>
        </p:nvSpPr>
        <p:spPr>
          <a:xfrm>
            <a:off x="2121408" y="1234440"/>
            <a:ext cx="749808" cy="402336"/>
          </a:xfrm>
          <a:prstGeom prst="rect">
            <a:avLst/>
          </a:prstGeom>
          <a:noFill/>
        </p:spPr>
        <p:txBody>
          <a:bodyPr wrap="square" lIns="0" rIns="0" tIns="0" bIns="0" anchor="ctr">
            <a:noAutofit/>
          </a:bodyPr>
          <a:lstStyle/>
          <a:p>
            <a:pPr algn="ctr">
              <a:spcAft>
                <a:spcPts val="0"/>
              </a:spcAft>
            </a:pPr>
            <a:r>
              <a:rPr sz="1100" b="1" lang="en-GB">
                <a:solidFill>
                  <a:schemeClr val="bg1"/>
                </a:solidFill>
              </a:rPr>
              <a:t>Month-to-month</a:t>
            </a:r>
          </a:p>
        </p:txBody>
      </p:sp>
      <p:sp>
        <p:nvSpPr>
          <p:cNvPr id="16" name="Hazard table 1-4"/>
          <p:cNvSpPr/>
          <p:nvPr/>
        </p:nvSpPr>
        <p:spPr>
          <a:xfrm>
            <a:off x="2944368" y="1234440"/>
            <a:ext cx="70408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azard table text 1-4"/>
          <p:cNvSpPr txBox="1"/>
          <p:nvPr/>
        </p:nvSpPr>
        <p:spPr>
          <a:xfrm>
            <a:off x="2990088" y="1234440"/>
            <a:ext cx="612648" cy="402336"/>
          </a:xfrm>
          <a:prstGeom prst="rect">
            <a:avLst/>
          </a:prstGeom>
          <a:noFill/>
        </p:spPr>
        <p:txBody>
          <a:bodyPr wrap="square" lIns="0" rIns="0" tIns="0" bIns="0" anchor="ctr">
            <a:noAutofit/>
          </a:bodyPr>
          <a:lstStyle/>
          <a:p>
            <a:pPr algn="ctr">
              <a:spcAft>
                <a:spcPts val="0"/>
              </a:spcAft>
            </a:pPr>
            <a:r>
              <a:rPr sz="1100" b="1" lang="en-GB">
                <a:solidFill>
                  <a:schemeClr val="bg1"/>
                </a:solidFill>
              </a:rPr>
              <a:t>Price letter</a:t>
            </a:r>
          </a:p>
        </p:txBody>
      </p:sp>
      <p:sp>
        <p:nvSpPr>
          <p:cNvPr id="18" name="Hazard table 1-5"/>
          <p:cNvSpPr/>
          <p:nvPr/>
        </p:nvSpPr>
        <p:spPr>
          <a:xfrm>
            <a:off x="3675888" y="1234440"/>
            <a:ext cx="914400"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Hazard table text 1-5"/>
          <p:cNvSpPr txBox="1"/>
          <p:nvPr/>
        </p:nvSpPr>
        <p:spPr>
          <a:xfrm>
            <a:off x="3721608" y="1234440"/>
            <a:ext cx="822960" cy="402336"/>
          </a:xfrm>
          <a:prstGeom prst="rect">
            <a:avLst/>
          </a:prstGeom>
          <a:noFill/>
        </p:spPr>
        <p:txBody>
          <a:bodyPr wrap="square" lIns="0" rIns="0" tIns="0" bIns="0" anchor="ctr">
            <a:noAutofit/>
          </a:bodyPr>
          <a:lstStyle/>
          <a:p>
            <a:pPr algn="ctr">
              <a:spcAft>
                <a:spcPts val="0"/>
              </a:spcAft>
            </a:pPr>
            <a:r>
              <a:rPr sz="1100" b="1" lang="en-GB">
                <a:solidFill>
                  <a:schemeClr val="bg1"/>
                </a:solidFill>
              </a:rPr>
              <a:t>Churned</a:t>
            </a:r>
          </a:p>
        </p:txBody>
      </p:sp>
      <p:sp>
        <p:nvSpPr>
          <p:cNvPr id="20" name="Hazard table 2-1"/>
          <p:cNvSpPr/>
          <p:nvPr/>
        </p:nvSpPr>
        <p:spPr>
          <a:xfrm>
            <a:off x="457200" y="1664208"/>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Hazard table text 2-1"/>
          <p:cNvSpPr txBox="1"/>
          <p:nvPr/>
        </p:nvSpPr>
        <p:spPr>
          <a:xfrm>
            <a:off x="502920" y="1664208"/>
            <a:ext cx="841248" cy="274320"/>
          </a:xfrm>
          <a:prstGeom prst="rect">
            <a:avLst/>
          </a:prstGeom>
          <a:noFill/>
        </p:spPr>
        <p:txBody>
          <a:bodyPr wrap="square" lIns="0" rIns="0" tIns="0" bIns="0" anchor="ctr">
            <a:noAutofit/>
          </a:bodyPr>
          <a:lstStyle/>
          <a:p>
            <a:pPr algn="ctr">
              <a:spcAft>
                <a:spcPts val="0"/>
              </a:spcAft>
            </a:pPr>
            <a:r>
              <a:rPr sz="1100" b="1" lang="en-GB">
                <a:solidFill>
                  <a:schemeClr val="tx2"/>
                </a:solidFill>
              </a:rPr>
              <a:t>1</a:t>
            </a:r>
          </a:p>
        </p:txBody>
      </p:sp>
      <p:sp>
        <p:nvSpPr>
          <p:cNvPr id="22" name="Hazard table 2-2"/>
          <p:cNvSpPr/>
          <p:nvPr/>
        </p:nvSpPr>
        <p:spPr>
          <a:xfrm>
            <a:off x="1417320" y="1664208"/>
            <a:ext cx="630936"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Hazard table text 2-2"/>
          <p:cNvSpPr txBox="1"/>
          <p:nvPr/>
        </p:nvSpPr>
        <p:spPr>
          <a:xfrm>
            <a:off x="1463040" y="1664208"/>
            <a:ext cx="539496"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1</a:t>
            </a:r>
          </a:p>
        </p:txBody>
      </p:sp>
      <p:sp>
        <p:nvSpPr>
          <p:cNvPr id="24" name="Hazard table 2-3"/>
          <p:cNvSpPr/>
          <p:nvPr/>
        </p:nvSpPr>
        <p:spPr>
          <a:xfrm>
            <a:off x="2075688" y="1664208"/>
            <a:ext cx="8412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Hazard table text 2-3"/>
          <p:cNvSpPr txBox="1"/>
          <p:nvPr/>
        </p:nvSpPr>
        <p:spPr>
          <a:xfrm>
            <a:off x="2121408" y="1664208"/>
            <a:ext cx="74980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1</a:t>
            </a:r>
          </a:p>
        </p:txBody>
      </p:sp>
      <p:sp>
        <p:nvSpPr>
          <p:cNvPr id="26" name="Hazard table 2-4"/>
          <p:cNvSpPr/>
          <p:nvPr/>
        </p:nvSpPr>
        <p:spPr>
          <a:xfrm>
            <a:off x="2944368" y="1664208"/>
            <a:ext cx="7040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Hazard table text 2-4"/>
          <p:cNvSpPr txBox="1"/>
          <p:nvPr/>
        </p:nvSpPr>
        <p:spPr>
          <a:xfrm>
            <a:off x="2990088" y="1664208"/>
            <a:ext cx="61264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0</a:t>
            </a:r>
          </a:p>
        </p:txBody>
      </p:sp>
      <p:sp>
        <p:nvSpPr>
          <p:cNvPr id="28" name="Hazard table 2-5"/>
          <p:cNvSpPr/>
          <p:nvPr/>
        </p:nvSpPr>
        <p:spPr>
          <a:xfrm>
            <a:off x="3675888" y="1664208"/>
            <a:ext cx="91440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azard table text 2-5"/>
          <p:cNvSpPr txBox="1"/>
          <p:nvPr/>
        </p:nvSpPr>
        <p:spPr>
          <a:xfrm>
            <a:off x="3721608" y="1664208"/>
            <a:ext cx="822960"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0</a:t>
            </a:r>
          </a:p>
        </p:txBody>
      </p:sp>
      <p:sp>
        <p:nvSpPr>
          <p:cNvPr id="30" name="Hazard table 3-1"/>
          <p:cNvSpPr/>
          <p:nvPr/>
        </p:nvSpPr>
        <p:spPr>
          <a:xfrm>
            <a:off x="457200" y="1965960"/>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Hazard table text 3-1"/>
          <p:cNvSpPr txBox="1"/>
          <p:nvPr/>
        </p:nvSpPr>
        <p:spPr>
          <a:xfrm>
            <a:off x="502920" y="1965960"/>
            <a:ext cx="841248" cy="274320"/>
          </a:xfrm>
          <a:prstGeom prst="rect">
            <a:avLst/>
          </a:prstGeom>
          <a:noFill/>
        </p:spPr>
        <p:txBody>
          <a:bodyPr wrap="square" lIns="0" rIns="0" tIns="0" bIns="0" anchor="ctr">
            <a:noAutofit/>
          </a:bodyPr>
          <a:lstStyle/>
          <a:p>
            <a:pPr algn="ctr">
              <a:spcAft>
                <a:spcPts val="0"/>
              </a:spcAft>
            </a:pPr>
            <a:r>
              <a:rPr sz="1100" b="1" lang="en-GB">
                <a:solidFill>
                  <a:schemeClr val="tx2"/>
                </a:solidFill>
              </a:rPr>
              <a:t>1</a:t>
            </a:r>
          </a:p>
        </p:txBody>
      </p:sp>
      <p:sp>
        <p:nvSpPr>
          <p:cNvPr id="32" name="Hazard table 3-2"/>
          <p:cNvSpPr/>
          <p:nvPr/>
        </p:nvSpPr>
        <p:spPr>
          <a:xfrm>
            <a:off x="1417320" y="1965960"/>
            <a:ext cx="630936"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Hazard table text 3-2"/>
          <p:cNvSpPr txBox="1"/>
          <p:nvPr/>
        </p:nvSpPr>
        <p:spPr>
          <a:xfrm>
            <a:off x="1463040" y="1965960"/>
            <a:ext cx="539496"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2</a:t>
            </a:r>
          </a:p>
        </p:txBody>
      </p:sp>
      <p:sp>
        <p:nvSpPr>
          <p:cNvPr id="34" name="Hazard table 3-3"/>
          <p:cNvSpPr/>
          <p:nvPr/>
        </p:nvSpPr>
        <p:spPr>
          <a:xfrm>
            <a:off x="2075688" y="1965960"/>
            <a:ext cx="8412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Hazard table text 3-3"/>
          <p:cNvSpPr txBox="1"/>
          <p:nvPr/>
        </p:nvSpPr>
        <p:spPr>
          <a:xfrm>
            <a:off x="2121408" y="1965960"/>
            <a:ext cx="74980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1</a:t>
            </a:r>
          </a:p>
        </p:txBody>
      </p:sp>
      <p:sp>
        <p:nvSpPr>
          <p:cNvPr id="36" name="Hazard table 3-4"/>
          <p:cNvSpPr/>
          <p:nvPr/>
        </p:nvSpPr>
        <p:spPr>
          <a:xfrm>
            <a:off x="2944368" y="1965960"/>
            <a:ext cx="7040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Hazard table text 3-4"/>
          <p:cNvSpPr txBox="1"/>
          <p:nvPr/>
        </p:nvSpPr>
        <p:spPr>
          <a:xfrm>
            <a:off x="2990088" y="1965960"/>
            <a:ext cx="61264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1</a:t>
            </a:r>
          </a:p>
        </p:txBody>
      </p:sp>
      <p:sp>
        <p:nvSpPr>
          <p:cNvPr id="38" name="Hazard table 3-5"/>
          <p:cNvSpPr/>
          <p:nvPr/>
        </p:nvSpPr>
        <p:spPr>
          <a:xfrm>
            <a:off x="3675888" y="1965960"/>
            <a:ext cx="91440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Hazard table text 3-5"/>
          <p:cNvSpPr txBox="1"/>
          <p:nvPr/>
        </p:nvSpPr>
        <p:spPr>
          <a:xfrm>
            <a:off x="3721608" y="1965960"/>
            <a:ext cx="822960"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0</a:t>
            </a:r>
          </a:p>
        </p:txBody>
      </p:sp>
      <p:sp>
        <p:nvSpPr>
          <p:cNvPr id="40" name="Hazard table 4-1"/>
          <p:cNvSpPr/>
          <p:nvPr/>
        </p:nvSpPr>
        <p:spPr>
          <a:xfrm>
            <a:off x="457200" y="2267712"/>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Hazard table text 4-1"/>
          <p:cNvSpPr txBox="1"/>
          <p:nvPr/>
        </p:nvSpPr>
        <p:spPr>
          <a:xfrm>
            <a:off x="502920" y="2267712"/>
            <a:ext cx="841248" cy="274320"/>
          </a:xfrm>
          <a:prstGeom prst="rect">
            <a:avLst/>
          </a:prstGeom>
          <a:noFill/>
        </p:spPr>
        <p:txBody>
          <a:bodyPr wrap="square" lIns="0" rIns="0" tIns="0" bIns="0" anchor="ctr">
            <a:noAutofit/>
          </a:bodyPr>
          <a:lstStyle/>
          <a:p>
            <a:pPr algn="ctr">
              <a:spcAft>
                <a:spcPts val="0"/>
              </a:spcAft>
            </a:pPr>
            <a:r>
              <a:rPr sz="1100" b="1" lang="en-GB">
                <a:solidFill>
                  <a:schemeClr val="tx2"/>
                </a:solidFill>
              </a:rPr>
              <a:t>1</a:t>
            </a:r>
          </a:p>
        </p:txBody>
      </p:sp>
      <p:sp>
        <p:nvSpPr>
          <p:cNvPr id="42" name="Hazard table 4-2"/>
          <p:cNvSpPr/>
          <p:nvPr/>
        </p:nvSpPr>
        <p:spPr>
          <a:xfrm>
            <a:off x="1417320" y="2267712"/>
            <a:ext cx="630936"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Hazard table text 4-2"/>
          <p:cNvSpPr txBox="1"/>
          <p:nvPr/>
        </p:nvSpPr>
        <p:spPr>
          <a:xfrm>
            <a:off x="1463040" y="2267712"/>
            <a:ext cx="539496"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3</a:t>
            </a:r>
          </a:p>
        </p:txBody>
      </p:sp>
      <p:sp>
        <p:nvSpPr>
          <p:cNvPr id="44" name="Hazard table 4-3"/>
          <p:cNvSpPr/>
          <p:nvPr/>
        </p:nvSpPr>
        <p:spPr>
          <a:xfrm>
            <a:off x="2075688" y="2267712"/>
            <a:ext cx="8412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Hazard table text 4-3"/>
          <p:cNvSpPr txBox="1"/>
          <p:nvPr/>
        </p:nvSpPr>
        <p:spPr>
          <a:xfrm>
            <a:off x="2121408" y="2267712"/>
            <a:ext cx="74980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1</a:t>
            </a:r>
          </a:p>
        </p:txBody>
      </p:sp>
      <p:sp>
        <p:nvSpPr>
          <p:cNvPr id="46" name="Hazard table 4-4"/>
          <p:cNvSpPr/>
          <p:nvPr/>
        </p:nvSpPr>
        <p:spPr>
          <a:xfrm>
            <a:off x="2944368" y="2267712"/>
            <a:ext cx="7040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Hazard table text 4-4"/>
          <p:cNvSpPr txBox="1"/>
          <p:nvPr/>
        </p:nvSpPr>
        <p:spPr>
          <a:xfrm>
            <a:off x="2990088" y="2267712"/>
            <a:ext cx="61264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1</a:t>
            </a:r>
          </a:p>
        </p:txBody>
      </p:sp>
      <p:sp>
        <p:nvSpPr>
          <p:cNvPr id="48" name="Hazard table 4-5"/>
          <p:cNvSpPr/>
          <p:nvPr/>
        </p:nvSpPr>
        <p:spPr>
          <a:xfrm>
            <a:off x="3675888" y="2267712"/>
            <a:ext cx="91440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Hazard table text 4-5"/>
          <p:cNvSpPr txBox="1"/>
          <p:nvPr/>
        </p:nvSpPr>
        <p:spPr>
          <a:xfrm>
            <a:off x="3721608" y="2267712"/>
            <a:ext cx="822960"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1</a:t>
            </a:r>
          </a:p>
        </p:txBody>
      </p:sp>
      <p:sp>
        <p:nvSpPr>
          <p:cNvPr id="50" name="Hazard table 5-1"/>
          <p:cNvSpPr/>
          <p:nvPr/>
        </p:nvSpPr>
        <p:spPr>
          <a:xfrm>
            <a:off x="457200" y="2569464"/>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Hazard table text 5-1"/>
          <p:cNvSpPr txBox="1"/>
          <p:nvPr/>
        </p:nvSpPr>
        <p:spPr>
          <a:xfrm>
            <a:off x="502920" y="2569464"/>
            <a:ext cx="841248" cy="274320"/>
          </a:xfrm>
          <a:prstGeom prst="rect">
            <a:avLst/>
          </a:prstGeom>
          <a:noFill/>
        </p:spPr>
        <p:txBody>
          <a:bodyPr wrap="square" lIns="0" rIns="0" tIns="0" bIns="0" anchor="ctr">
            <a:noAutofit/>
          </a:bodyPr>
          <a:lstStyle/>
          <a:p>
            <a:pPr algn="ctr">
              <a:spcAft>
                <a:spcPts val="0"/>
              </a:spcAft>
            </a:pPr>
            <a:r>
              <a:rPr sz="1100" b="1" lang="en-GB">
                <a:solidFill>
                  <a:schemeClr val="tx2"/>
                </a:solidFill>
              </a:rPr>
              <a:t>2</a:t>
            </a:r>
          </a:p>
        </p:txBody>
      </p:sp>
      <p:sp>
        <p:nvSpPr>
          <p:cNvPr id="52" name="Hazard table 5-2"/>
          <p:cNvSpPr/>
          <p:nvPr/>
        </p:nvSpPr>
        <p:spPr>
          <a:xfrm>
            <a:off x="1417320" y="2569464"/>
            <a:ext cx="630936"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Hazard table text 5-2"/>
          <p:cNvSpPr txBox="1"/>
          <p:nvPr/>
        </p:nvSpPr>
        <p:spPr>
          <a:xfrm>
            <a:off x="1463040" y="2569464"/>
            <a:ext cx="539496"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1</a:t>
            </a:r>
          </a:p>
        </p:txBody>
      </p:sp>
      <p:sp>
        <p:nvSpPr>
          <p:cNvPr id="54" name="Hazard table 5-3"/>
          <p:cNvSpPr/>
          <p:nvPr/>
        </p:nvSpPr>
        <p:spPr>
          <a:xfrm>
            <a:off x="2075688" y="2569464"/>
            <a:ext cx="8412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Hazard table text 5-3"/>
          <p:cNvSpPr txBox="1"/>
          <p:nvPr/>
        </p:nvSpPr>
        <p:spPr>
          <a:xfrm>
            <a:off x="2121408" y="2569464"/>
            <a:ext cx="74980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0</a:t>
            </a:r>
          </a:p>
        </p:txBody>
      </p:sp>
      <p:sp>
        <p:nvSpPr>
          <p:cNvPr id="56" name="Hazard table 5-4"/>
          <p:cNvSpPr/>
          <p:nvPr/>
        </p:nvSpPr>
        <p:spPr>
          <a:xfrm>
            <a:off x="2944368" y="2569464"/>
            <a:ext cx="7040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Hazard table text 5-4"/>
          <p:cNvSpPr txBox="1"/>
          <p:nvPr/>
        </p:nvSpPr>
        <p:spPr>
          <a:xfrm>
            <a:off x="2990088" y="2569464"/>
            <a:ext cx="61264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0</a:t>
            </a:r>
          </a:p>
        </p:txBody>
      </p:sp>
      <p:sp>
        <p:nvSpPr>
          <p:cNvPr id="58" name="Hazard table 5-5"/>
          <p:cNvSpPr/>
          <p:nvPr/>
        </p:nvSpPr>
        <p:spPr>
          <a:xfrm>
            <a:off x="3675888" y="2569464"/>
            <a:ext cx="91440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Hazard table text 5-5"/>
          <p:cNvSpPr txBox="1"/>
          <p:nvPr/>
        </p:nvSpPr>
        <p:spPr>
          <a:xfrm>
            <a:off x="3721608" y="2569464"/>
            <a:ext cx="822960"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0</a:t>
            </a:r>
          </a:p>
        </p:txBody>
      </p:sp>
      <p:sp>
        <p:nvSpPr>
          <p:cNvPr id="60" name="Hazard table 6-1"/>
          <p:cNvSpPr/>
          <p:nvPr/>
        </p:nvSpPr>
        <p:spPr>
          <a:xfrm>
            <a:off x="457200" y="2871216"/>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Hazard table text 6-1"/>
          <p:cNvSpPr txBox="1"/>
          <p:nvPr/>
        </p:nvSpPr>
        <p:spPr>
          <a:xfrm>
            <a:off x="502920" y="2871216"/>
            <a:ext cx="841248" cy="274320"/>
          </a:xfrm>
          <a:prstGeom prst="rect">
            <a:avLst/>
          </a:prstGeom>
          <a:noFill/>
        </p:spPr>
        <p:txBody>
          <a:bodyPr wrap="square" lIns="0" rIns="0" tIns="0" bIns="0" anchor="ctr">
            <a:noAutofit/>
          </a:bodyPr>
          <a:lstStyle/>
          <a:p>
            <a:pPr algn="ctr">
              <a:spcAft>
                <a:spcPts val="0"/>
              </a:spcAft>
            </a:pPr>
            <a:r>
              <a:rPr sz="1100" b="1" lang="en-GB">
                <a:solidFill>
                  <a:schemeClr val="tx2"/>
                </a:solidFill>
              </a:rPr>
              <a:t>2</a:t>
            </a:r>
          </a:p>
        </p:txBody>
      </p:sp>
      <p:sp>
        <p:nvSpPr>
          <p:cNvPr id="62" name="Hazard table 6-2"/>
          <p:cNvSpPr/>
          <p:nvPr/>
        </p:nvSpPr>
        <p:spPr>
          <a:xfrm>
            <a:off x="1417320" y="2871216"/>
            <a:ext cx="630936"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Hazard table text 6-2"/>
          <p:cNvSpPr txBox="1"/>
          <p:nvPr/>
        </p:nvSpPr>
        <p:spPr>
          <a:xfrm>
            <a:off x="1463040" y="2871216"/>
            <a:ext cx="539496"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2</a:t>
            </a:r>
          </a:p>
        </p:txBody>
      </p:sp>
      <p:sp>
        <p:nvSpPr>
          <p:cNvPr id="64" name="Hazard table 6-3"/>
          <p:cNvSpPr/>
          <p:nvPr/>
        </p:nvSpPr>
        <p:spPr>
          <a:xfrm>
            <a:off x="2075688" y="2871216"/>
            <a:ext cx="8412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Hazard table text 6-3"/>
          <p:cNvSpPr txBox="1"/>
          <p:nvPr/>
        </p:nvSpPr>
        <p:spPr>
          <a:xfrm>
            <a:off x="2121408" y="2871216"/>
            <a:ext cx="74980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0</a:t>
            </a:r>
          </a:p>
        </p:txBody>
      </p:sp>
      <p:sp>
        <p:nvSpPr>
          <p:cNvPr id="66" name="Hazard table 6-4"/>
          <p:cNvSpPr/>
          <p:nvPr/>
        </p:nvSpPr>
        <p:spPr>
          <a:xfrm>
            <a:off x="2944368" y="2871216"/>
            <a:ext cx="7040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Hazard table text 6-4"/>
          <p:cNvSpPr txBox="1"/>
          <p:nvPr/>
        </p:nvSpPr>
        <p:spPr>
          <a:xfrm>
            <a:off x="2990088" y="2871216"/>
            <a:ext cx="61264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0</a:t>
            </a:r>
          </a:p>
        </p:txBody>
      </p:sp>
      <p:sp>
        <p:nvSpPr>
          <p:cNvPr id="68" name="Hazard table 6-5"/>
          <p:cNvSpPr/>
          <p:nvPr/>
        </p:nvSpPr>
        <p:spPr>
          <a:xfrm>
            <a:off x="3675888" y="2871216"/>
            <a:ext cx="91440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Hazard table text 6-5"/>
          <p:cNvSpPr txBox="1"/>
          <p:nvPr/>
        </p:nvSpPr>
        <p:spPr>
          <a:xfrm>
            <a:off x="3721608" y="2871216"/>
            <a:ext cx="822960"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0</a:t>
            </a:r>
          </a:p>
        </p:txBody>
      </p:sp>
      <p:sp>
        <p:nvSpPr>
          <p:cNvPr id="70" name="Hazard table 7-1"/>
          <p:cNvSpPr/>
          <p:nvPr/>
        </p:nvSpPr>
        <p:spPr>
          <a:xfrm>
            <a:off x="457200" y="3172968"/>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Hazard table text 7-1"/>
          <p:cNvSpPr txBox="1"/>
          <p:nvPr/>
        </p:nvSpPr>
        <p:spPr>
          <a:xfrm>
            <a:off x="502920" y="3172968"/>
            <a:ext cx="841248" cy="274320"/>
          </a:xfrm>
          <a:prstGeom prst="rect">
            <a:avLst/>
          </a:prstGeom>
          <a:noFill/>
        </p:spPr>
        <p:txBody>
          <a:bodyPr wrap="square" lIns="0" rIns="0" tIns="0" bIns="0" anchor="ctr">
            <a:noAutofit/>
          </a:bodyPr>
          <a:lstStyle/>
          <a:p>
            <a:pPr algn="ctr">
              <a:spcAft>
                <a:spcPts val="0"/>
              </a:spcAft>
            </a:pPr>
            <a:r>
              <a:rPr sz="1100" b="1" lang="en-GB">
                <a:solidFill>
                  <a:schemeClr val="tx2"/>
                </a:solidFill>
              </a:rPr>
              <a:t>2</a:t>
            </a:r>
          </a:p>
        </p:txBody>
      </p:sp>
      <p:sp>
        <p:nvSpPr>
          <p:cNvPr id="72" name="Hazard table 7-2"/>
          <p:cNvSpPr/>
          <p:nvPr/>
        </p:nvSpPr>
        <p:spPr>
          <a:xfrm>
            <a:off x="1417320" y="3172968"/>
            <a:ext cx="630936"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Hazard table text 7-2"/>
          <p:cNvSpPr txBox="1"/>
          <p:nvPr/>
        </p:nvSpPr>
        <p:spPr>
          <a:xfrm>
            <a:off x="1463040" y="3172968"/>
            <a:ext cx="539496"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a:t>
            </a:r>
          </a:p>
        </p:txBody>
      </p:sp>
      <p:sp>
        <p:nvSpPr>
          <p:cNvPr id="74" name="Hazard table 7-3"/>
          <p:cNvSpPr/>
          <p:nvPr/>
        </p:nvSpPr>
        <p:spPr>
          <a:xfrm>
            <a:off x="2075688" y="3172968"/>
            <a:ext cx="84124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Hazard table text 7-3"/>
          <p:cNvSpPr txBox="1"/>
          <p:nvPr/>
        </p:nvSpPr>
        <p:spPr>
          <a:xfrm>
            <a:off x="2121408" y="3172968"/>
            <a:ext cx="74980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a:t>
            </a:r>
          </a:p>
        </p:txBody>
      </p:sp>
      <p:sp>
        <p:nvSpPr>
          <p:cNvPr id="76" name="Hazard table 7-4"/>
          <p:cNvSpPr/>
          <p:nvPr/>
        </p:nvSpPr>
        <p:spPr>
          <a:xfrm>
            <a:off x="2944368" y="3172968"/>
            <a:ext cx="7040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Hazard table text 7-4"/>
          <p:cNvSpPr txBox="1"/>
          <p:nvPr/>
        </p:nvSpPr>
        <p:spPr>
          <a:xfrm>
            <a:off x="2990088" y="3172968"/>
            <a:ext cx="612648"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a:t>
            </a:r>
          </a:p>
        </p:txBody>
      </p:sp>
      <p:sp>
        <p:nvSpPr>
          <p:cNvPr id="78" name="Hazard table 7-5"/>
          <p:cNvSpPr/>
          <p:nvPr/>
        </p:nvSpPr>
        <p:spPr>
          <a:xfrm>
            <a:off x="3675888" y="3172968"/>
            <a:ext cx="91440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Hazard table text 7-5"/>
          <p:cNvSpPr txBox="1"/>
          <p:nvPr/>
        </p:nvSpPr>
        <p:spPr>
          <a:xfrm>
            <a:off x="3721608" y="3172968"/>
            <a:ext cx="822960" cy="274320"/>
          </a:xfrm>
          <a:prstGeom prst="rect">
            <a:avLst/>
          </a:prstGeom>
          <a:noFill/>
        </p:spPr>
        <p:txBody>
          <a:bodyPr wrap="square" lIns="0" rIns="0" tIns="0" bIns="0" anchor="ctr">
            <a:noAutofit/>
          </a:bodyPr>
          <a:lstStyle/>
          <a:p>
            <a:pPr algn="ctr">
              <a:spcAft>
                <a:spcPts val="0"/>
              </a:spcAft>
            </a:pPr>
            <a:r>
              <a:rPr sz="1100" b="0" lang="en-GB">
                <a:solidFill>
                  <a:schemeClr val="tx1"/>
                </a:solidFill>
              </a:rPr>
              <a:t>…</a:t>
            </a:r>
          </a:p>
        </p:txBody>
      </p:sp>
      <p:sp>
        <p:nvSpPr>
          <p:cNvPr id="80" name="Hazard caption"/>
          <p:cNvSpPr txBox="1"/>
          <p:nvPr/>
        </p:nvSpPr>
        <p:spPr>
          <a:xfrm>
            <a:off x="457200" y="3465576"/>
            <a:ext cx="41605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Illustration of the layout, not real data</a:t>
            </a:r>
          </a:p>
        </p:txBody>
      </p:sp>
      <p:sp>
        <p:nvSpPr>
          <p:cNvPr id="81" name="Tenure caption"/>
          <p:cNvSpPr txBox="1"/>
          <p:nvPr/>
        </p:nvSpPr>
        <p:spPr>
          <a:xfrm>
            <a:off x="4754880" y="3465576"/>
            <a:ext cx="39319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Simulated data: 12-month churn by tenure</a:t>
            </a:r>
          </a:p>
        </p:txBody>
      </p:sp>
      <p:pic>
        <p:nvPicPr>
          <p:cNvPr id="82" name="Chart ch_p2_tenure.png" descr="Column chart of the simulated 12-month churn rate by tenure at the snapshot: 1–6 months 38.5 %, 7–12 months 28.7 %, 13–24 months 21.3 %, 25–48 months 17.7 %, 49+ months 14.6 %. Churn falls steeply with tenure."/>
          <p:cNvPicPr>
            <a:picLocks noChangeAspect="1"/>
          </p:cNvPicPr>
          <p:nvPr/>
        </p:nvPicPr>
        <p:blipFill>
          <a:blip r:embed="rId3"/>
          <a:stretch>
            <a:fillRect/>
          </a:stretch>
        </p:blipFill>
        <p:spPr>
          <a:xfrm>
            <a:off x="4754880" y="1234440"/>
            <a:ext cx="3931920" cy="2212848"/>
          </a:xfrm>
          <a:prstGeom prst="rect">
            <a:avLst/>
          </a:prstGeom>
        </p:spPr>
      </p:pic>
      <p:sp>
        <p:nvSpPr>
          <p:cNvPr id="83" name="Hazard row 1 row"/>
          <p:cNvSpPr/>
          <p:nvPr/>
        </p:nvSpPr>
        <p:spPr>
          <a:xfrm>
            <a:off x="457200" y="3813048"/>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Hazard row 1 bar"/>
          <p:cNvSpPr/>
          <p:nvPr/>
        </p:nvSpPr>
        <p:spPr>
          <a:xfrm>
            <a:off x="457200" y="3813048"/>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Hazard row 1 text"/>
          <p:cNvSpPr txBox="1"/>
          <p:nvPr/>
        </p:nvSpPr>
        <p:spPr>
          <a:xfrm>
            <a:off x="658368" y="3813048"/>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Monthly ↔ annual: </a:t>
            </a:r>
            <a:r>
              <a:rPr sz="1200" b="0" lang="en-GB">
                <a:solidFill>
                  <a:schemeClr val="tx1"/>
                </a:solidFill>
              </a:rPr>
              <a:t>annual = 1 − (1 − m)¹²; 1.0 % a month ≈ 11.4 % a year</a:t>
            </a:r>
          </a:p>
        </p:txBody>
      </p:sp>
      <p:sp>
        <p:nvSpPr>
          <p:cNvPr id="86" name="Hazard row 2 row"/>
          <p:cNvSpPr/>
          <p:nvPr/>
        </p:nvSpPr>
        <p:spPr>
          <a:xfrm>
            <a:off x="457200" y="4343400"/>
            <a:ext cx="822960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Hazard row 2 bar"/>
          <p:cNvSpPr/>
          <p:nvPr/>
        </p:nvSpPr>
        <p:spPr>
          <a:xfrm>
            <a:off x="457200" y="4343400"/>
            <a:ext cx="6400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Hazard row 2 text"/>
          <p:cNvSpPr txBox="1"/>
          <p:nvPr/>
        </p:nvSpPr>
        <p:spPr>
          <a:xfrm>
            <a:off x="658368" y="4343400"/>
            <a:ext cx="7936992" cy="438912"/>
          </a:xfrm>
          <a:prstGeom prst="rect">
            <a:avLst/>
          </a:prstGeom>
          <a:noFill/>
        </p:spPr>
        <p:txBody>
          <a:bodyPr wrap="square" lIns="0" rIns="0" tIns="0" bIns="0" anchor="ctr">
            <a:noAutofit/>
          </a:bodyPr>
          <a:lstStyle/>
          <a:p>
            <a:pPr algn="l">
              <a:spcAft>
                <a:spcPts val="400"/>
              </a:spcAft>
            </a:pPr>
            <a:r>
              <a:rPr sz="1200" b="1" lang="en-GB">
                <a:solidFill>
                  <a:schemeClr val="tx2"/>
                </a:solidFill>
              </a:rPr>
              <a:t>Time-varying predictors: </a:t>
            </a:r>
            <a:r>
              <a:rPr sz="1200" b="0" lang="en-GB">
                <a:solidFill>
                  <a:schemeClr val="tx1"/>
                </a:solidFill>
              </a:rPr>
              <a:t>a price-change notice raised monthly churn from 1 % to 1.6 % among Norwegian customers whose costs would fall (Reme et al. 2022)</a:t>
            </a:r>
          </a:p>
        </p:txBody>
      </p:sp>
      <p:sp>
        <p:nvSpPr>
          <p:cNvPr id="8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Reme et al. (2022), Mgmt Sci; simulated data (telco_churn.csv)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do churners go? Multinomial logit and IIA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NL card body"/>
          <p:cNvSpPr/>
          <p:nvPr/>
        </p:nvSpPr>
        <p:spPr>
          <a:xfrm>
            <a:off x="457200" y="1691640"/>
            <a:ext cx="4046220"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NL card header"/>
          <p:cNvSpPr/>
          <p:nvPr/>
        </p:nvSpPr>
        <p:spPr>
          <a:xfrm>
            <a:off x="45720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NL card heading"/>
          <p:cNvSpPr txBox="1"/>
          <p:nvPr/>
        </p:nvSpPr>
        <p:spPr>
          <a:xfrm>
            <a:off x="59436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Destination: multinomial logit</a:t>
            </a:r>
          </a:p>
        </p:txBody>
      </p:sp>
      <p:pic>
        <p:nvPicPr>
          <p:cNvPr id="13" name="Icon MNL card" descr=""/>
          <p:cNvPicPr>
            <a:picLocks noChangeAspect="1"/>
          </p:cNvPicPr>
          <p:nvPr/>
        </p:nvPicPr>
        <p:blipFill>
          <a:blip r:embed="rId3"/>
          <a:stretch>
            <a:fillRect/>
          </a:stretch>
        </p:blipFill>
        <p:spPr>
          <a:xfrm>
            <a:off x="4064508" y="1307592"/>
            <a:ext cx="310896" cy="310896"/>
          </a:xfrm>
          <a:prstGeom prst="rect">
            <a:avLst/>
          </a:prstGeom>
        </p:spPr>
      </p:pic>
      <p:sp>
        <p:nvSpPr>
          <p:cNvPr id="14" name="MNL card text"/>
          <p:cNvSpPr txBox="1"/>
          <p:nvPr/>
        </p:nvSpPr>
        <p:spPr>
          <a:xfrm>
            <a:off x="621792" y="1828800"/>
            <a:ext cx="3744468" cy="17830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Outcome: stay, competitor A, competitor B or the own low-cost brand</a:t>
            </a:r>
          </a:p>
          <a:p>
            <a:pPr algn="l" marL="182880" indent="-182880">
              <a:spcAft>
                <a:spcPts val="600"/>
              </a:spcAft>
              <a:buClr>
                <a:schemeClr val="accent1"/>
              </a:buClr>
              <a:buFont typeface="Arial"/>
              <a:buChar char="▪"/>
            </a:pPr>
            <a:r>
              <a:rPr sz="1300" b="0" lang="en-GB">
                <a:solidFill>
                  <a:schemeClr val="tx1"/>
                </a:solidFill>
              </a:rPr>
              <a:t>Variables describe the customer: one row per customer</a:t>
            </a:r>
          </a:p>
          <a:p>
            <a:pPr algn="l" marL="182880" indent="-182880">
              <a:spcAft>
                <a:spcPts val="600"/>
              </a:spcAft>
              <a:buClr>
                <a:schemeClr val="accent1"/>
              </a:buClr>
              <a:buFont typeface="Arial"/>
              <a:buChar char="▪"/>
            </a:pPr>
            <a:r>
              <a:rPr sz="1300" b="0" lang="en-GB">
                <a:solidFill>
                  <a:schemeClr val="tx1"/>
                </a:solidFill>
              </a:rPr>
              <a:t>IIA: the odds of A vs B must not change when a new brand enters</a:t>
            </a:r>
          </a:p>
          <a:p>
            <a:pPr algn="l" marL="182880" indent="-182880">
              <a:spcAft>
                <a:spcPts val="600"/>
              </a:spcAft>
              <a:buClr>
                <a:schemeClr val="accent1"/>
              </a:buClr>
              <a:buFont typeface="Arial"/>
              <a:buChar char="▪"/>
            </a:pPr>
            <a:r>
              <a:rPr sz="1300" b="0" lang="en-GB">
                <a:solidFill>
                  <a:schemeClr val="tx1"/>
                </a:solidFill>
              </a:rPr>
              <a:t>Implausible when two options are close substitutes</a:t>
            </a:r>
          </a:p>
        </p:txBody>
      </p:sp>
      <p:sp>
        <p:nvSpPr>
          <p:cNvPr id="15" name="Staged header"/>
          <p:cNvSpPr/>
          <p:nvPr/>
        </p:nvSpPr>
        <p:spPr>
          <a:xfrm>
            <a:off x="464058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aged heading"/>
          <p:cNvSpPr txBox="1"/>
          <p:nvPr/>
        </p:nvSpPr>
        <p:spPr>
          <a:xfrm>
            <a:off x="477774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 staged decision</a:t>
            </a:r>
          </a:p>
        </p:txBody>
      </p:sp>
      <p:pic>
        <p:nvPicPr>
          <p:cNvPr id="17" name="Icon Staged header" descr=""/>
          <p:cNvPicPr>
            <a:picLocks noChangeAspect="1"/>
          </p:cNvPicPr>
          <p:nvPr/>
        </p:nvPicPr>
        <p:blipFill>
          <a:blip r:embed="rId4"/>
          <a:stretch>
            <a:fillRect/>
          </a:stretch>
        </p:blipFill>
        <p:spPr>
          <a:xfrm>
            <a:off x="8247888" y="1307592"/>
            <a:ext cx="310896" cy="310896"/>
          </a:xfrm>
          <a:prstGeom prst="rect">
            <a:avLst/>
          </a:prstGeom>
        </p:spPr>
      </p:pic>
      <p:sp>
        <p:nvSpPr>
          <p:cNvPr id="18" name="Staged row 1"/>
          <p:cNvSpPr/>
          <p:nvPr/>
        </p:nvSpPr>
        <p:spPr>
          <a:xfrm>
            <a:off x="4640580" y="1783080"/>
            <a:ext cx="404622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taged number 1"/>
          <p:cNvSpPr/>
          <p:nvPr/>
        </p:nvSpPr>
        <p:spPr>
          <a:xfrm>
            <a:off x="4777740" y="19248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0" name="Staged text 1"/>
          <p:cNvSpPr txBox="1"/>
          <p:nvPr/>
        </p:nvSpPr>
        <p:spPr>
          <a:xfrm>
            <a:off x="5234940" y="1783080"/>
            <a:ext cx="33147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Stay or leave?</a:t>
            </a:r>
            <a:r>
              <a:rPr sz="1300" b="0" lang="en-GB">
                <a:solidFill>
                  <a:schemeClr val="tx1"/>
                </a:solidFill>
              </a:rPr>
              <a:t/>
            </a:r>
          </a:p>
        </p:txBody>
      </p:sp>
      <p:sp>
        <p:nvSpPr>
          <p:cNvPr id="21" name="Staged row 2"/>
          <p:cNvSpPr/>
          <p:nvPr/>
        </p:nvSpPr>
        <p:spPr>
          <a:xfrm>
            <a:off x="4640580" y="2468880"/>
            <a:ext cx="404622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taged number 2"/>
          <p:cNvSpPr/>
          <p:nvPr/>
        </p:nvSpPr>
        <p:spPr>
          <a:xfrm>
            <a:off x="4777740" y="26106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3" name="Staged text 2"/>
          <p:cNvSpPr txBox="1"/>
          <p:nvPr/>
        </p:nvSpPr>
        <p:spPr>
          <a:xfrm>
            <a:off x="5234940" y="2468880"/>
            <a:ext cx="33147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If leaving: own low-cost brand or a competitor?</a:t>
            </a:r>
            <a:r>
              <a:rPr sz="1300" b="0" lang="en-GB">
                <a:solidFill>
                  <a:schemeClr val="tx1"/>
                </a:solidFill>
              </a:rPr>
              <a:t/>
            </a:r>
          </a:p>
        </p:txBody>
      </p:sp>
      <p:sp>
        <p:nvSpPr>
          <p:cNvPr id="24" name="Staged row 3"/>
          <p:cNvSpPr/>
          <p:nvPr/>
        </p:nvSpPr>
        <p:spPr>
          <a:xfrm>
            <a:off x="4640580" y="3154680"/>
            <a:ext cx="404622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taged number 3"/>
          <p:cNvSpPr/>
          <p:nvPr/>
        </p:nvSpPr>
        <p:spPr>
          <a:xfrm>
            <a:off x="4777740" y="32964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6" name="Staged text 3"/>
          <p:cNvSpPr txBox="1"/>
          <p:nvPr/>
        </p:nvSpPr>
        <p:spPr>
          <a:xfrm>
            <a:off x="5234940" y="3154680"/>
            <a:ext cx="33147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Which competitor?</a:t>
            </a:r>
            <a:r>
              <a:rPr sz="1300" b="0" lang="en-GB">
                <a:solidFill>
                  <a:schemeClr val="tx1"/>
                </a:solidFill>
              </a:rPr>
              <a:t/>
            </a:r>
          </a:p>
        </p:txBody>
      </p:sp>
      <p:sp>
        <p:nvSpPr>
          <p:cNvPr id="27" name="MNL callout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MNL callout text"/>
          <p:cNvSpPr txBox="1"/>
          <p:nvPr/>
        </p:nvSpPr>
        <p:spPr>
          <a:xfrm>
            <a:off x="658368" y="393192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Defend MNL with theory about substitutes, </a:t>
            </a:r>
            <a:r>
              <a:rPr sz="1250" b="0" lang="en-GB">
                <a:solidFill>
                  <a:schemeClr val="bg1"/>
                </a:solidFill>
              </a:rPr>
              <a:t>then check with a nested logit.</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Greene, Chidlow &amp; Strange (2022), IBR; Gao et al. (2023), JAMS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Customers nested in countries: how many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untries stat 1 box"/>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untries stat 1 bar"/>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untries stat 1 figure"/>
          <p:cNvSpPr txBox="1"/>
          <p:nvPr/>
        </p:nvSpPr>
        <p:spPr>
          <a:xfrm>
            <a:off x="640080" y="1234440"/>
            <a:ext cx="150876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a:t>
            </a:r>
          </a:p>
        </p:txBody>
      </p:sp>
      <p:sp>
        <p:nvSpPr>
          <p:cNvPr id="13" name="Countries stat 1 label"/>
          <p:cNvSpPr txBox="1"/>
          <p:nvPr/>
        </p:nvSpPr>
        <p:spPr>
          <a:xfrm>
            <a:off x="2148840" y="1234440"/>
            <a:ext cx="644652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countries in our data: use country fixed effects, not country random effects</a:t>
            </a:r>
          </a:p>
        </p:txBody>
      </p:sp>
      <p:sp>
        <p:nvSpPr>
          <p:cNvPr id="14" name="Countries stat 2 box"/>
          <p:cNvSpPr/>
          <p:nvPr/>
        </p:nvSpPr>
        <p:spPr>
          <a:xfrm>
            <a:off x="457200" y="1874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untries stat 2 bar"/>
          <p:cNvSpPr/>
          <p:nvPr/>
        </p:nvSpPr>
        <p:spPr>
          <a:xfrm>
            <a:off x="457200" y="187452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untries stat 2 figure"/>
          <p:cNvSpPr txBox="1"/>
          <p:nvPr/>
        </p:nvSpPr>
        <p:spPr>
          <a:xfrm>
            <a:off x="640080" y="1874520"/>
            <a:ext cx="150876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25–30</a:t>
            </a:r>
          </a:p>
        </p:txBody>
      </p:sp>
      <p:sp>
        <p:nvSpPr>
          <p:cNvPr id="17" name="Countries stat 2 label"/>
          <p:cNvSpPr txBox="1"/>
          <p:nvPr/>
        </p:nvSpPr>
        <p:spPr>
          <a:xfrm>
            <a:off x="2148840" y="1874520"/>
            <a:ext cx="644652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countries as a rough rule of thumb; with few countries, country-level estimates are unreliable (Bryan &amp; Jenkins 2016)</a:t>
            </a:r>
          </a:p>
        </p:txBody>
      </p:sp>
      <p:sp>
        <p:nvSpPr>
          <p:cNvPr id="18" name="Countries stat 3 box"/>
          <p:cNvSpPr/>
          <p:nvPr/>
        </p:nvSpPr>
        <p:spPr>
          <a:xfrm>
            <a:off x="457200" y="25146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untries stat 3 bar"/>
          <p:cNvSpPr/>
          <p:nvPr/>
        </p:nvSpPr>
        <p:spPr>
          <a:xfrm>
            <a:off x="45720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untries stat 3 figure"/>
          <p:cNvSpPr txBox="1"/>
          <p:nvPr/>
        </p:nvSpPr>
        <p:spPr>
          <a:xfrm>
            <a:off x="640080" y="2514600"/>
            <a:ext cx="150876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a:t>
            </a:r>
          </a:p>
        </p:txBody>
      </p:sp>
      <p:sp>
        <p:nvSpPr>
          <p:cNvPr id="21" name="Countries stat 3 label"/>
          <p:cNvSpPr txBox="1"/>
          <p:nvPr/>
        </p:nvSpPr>
        <p:spPr>
          <a:xfrm>
            <a:off x="2148840" y="2514600"/>
            <a:ext cx="644652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countries: an example of the scale at which culture moderation has been tested (Samaha et al. 2014)</a:t>
            </a:r>
          </a:p>
        </p:txBody>
      </p:sp>
      <p:sp>
        <p:nvSpPr>
          <p:cNvPr id="22" name="Countries stat 4 box"/>
          <p:cNvSpPr/>
          <p:nvPr/>
        </p:nvSpPr>
        <p:spPr>
          <a:xfrm>
            <a:off x="457200" y="31546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untries stat 4 bar"/>
          <p:cNvSpPr/>
          <p:nvPr/>
        </p:nvSpPr>
        <p:spPr>
          <a:xfrm>
            <a:off x="457200" y="31546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untries stat 4 figure"/>
          <p:cNvSpPr txBox="1"/>
          <p:nvPr/>
        </p:nvSpPr>
        <p:spPr>
          <a:xfrm>
            <a:off x="640080" y="3154680"/>
            <a:ext cx="150876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a:t>
            </a:r>
          </a:p>
        </p:txBody>
      </p:sp>
      <p:sp>
        <p:nvSpPr>
          <p:cNvPr id="25" name="Countries stat 4 label"/>
          <p:cNvSpPr txBox="1"/>
          <p:nvPr/>
        </p:nvSpPr>
        <p:spPr>
          <a:xfrm>
            <a:off x="2148840" y="3154680"/>
            <a:ext cx="644652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multilevel churn studies with customers nested in countries found in our search: a thesis niche</a:t>
            </a:r>
          </a:p>
        </p:txBody>
      </p:sp>
      <p:sp>
        <p:nvSpPr>
          <p:cNvPr id="26" name="Multilevel callout box"/>
          <p:cNvSpPr/>
          <p:nvPr/>
        </p:nvSpPr>
        <p:spPr>
          <a:xfrm>
            <a:off x="457200" y="3840480"/>
            <a:ext cx="822960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Multilevel callout" descr=""/>
          <p:cNvPicPr>
            <a:picLocks noChangeAspect="1"/>
          </p:cNvPicPr>
          <p:nvPr/>
        </p:nvPicPr>
        <p:blipFill>
          <a:blip r:embed="rId3"/>
          <a:stretch>
            <a:fillRect/>
          </a:stretch>
        </p:blipFill>
        <p:spPr>
          <a:xfrm>
            <a:off x="658368" y="3977640"/>
            <a:ext cx="365760" cy="365760"/>
          </a:xfrm>
          <a:prstGeom prst="rect">
            <a:avLst/>
          </a:prstGeom>
        </p:spPr>
      </p:pic>
      <p:sp>
        <p:nvSpPr>
          <p:cNvPr id="28" name="Multilevel callout text"/>
          <p:cNvSpPr txBox="1"/>
          <p:nvPr/>
        </p:nvSpPr>
        <p:spPr>
          <a:xfrm>
            <a:off x="1207008" y="3840480"/>
            <a:ext cx="7315200" cy="640080"/>
          </a:xfrm>
          <a:prstGeom prst="rect">
            <a:avLst/>
          </a:prstGeom>
          <a:noFill/>
        </p:spPr>
        <p:txBody>
          <a:bodyPr wrap="square" lIns="0" rIns="0" tIns="0" bIns="0" anchor="ctr">
            <a:noAutofit/>
          </a:bodyPr>
          <a:lstStyle/>
          <a:p>
            <a:pPr algn="l">
              <a:spcAft>
                <a:spcPts val="400"/>
              </a:spcAft>
            </a:pPr>
            <a:r>
              <a:rPr sz="1250" b="1" lang="en-GB">
                <a:solidFill>
                  <a:schemeClr val="tx2"/>
                </a:solidFill>
              </a:rPr>
              <a:t>Cross-level question? </a:t>
            </a:r>
            <a:r>
              <a:rPr sz="1250" b="0" lang="en-GB">
                <a:solidFill>
                  <a:schemeClr val="tx1"/>
                </a:solidFill>
              </a:rPr>
              <a:t>“Does individualism strengthen the satisfaction effect?” (Frank et al. 2015, six countries) needs many countries and a random slope.</a:t>
            </a:r>
          </a:p>
        </p:txBody>
      </p:sp>
      <p:sp>
        <p:nvSpPr>
          <p:cNvPr id="29"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Bryan &amp; Jenkins (2016), ESR; Samaha et al. (2014), JM; Frank et al. (2015), JEP; literature search, Oct 2026; simulated data (telco_churn.csv)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response styles and the logit scale</a:t>
            </a:r>
          </a:p>
        </p:txBody>
      </p:sp>
      <p:sp>
        <p:nvSpPr>
          <p:cNvPr id="3" name="Title 2"/>
          <p:cNvSpPr>
            <a:spLocks noGrp="1"/>
          </p:cNvSpPr>
          <p:nvPr>
            <p:ph type="ctrTitle"/>
          </p:nvPr>
        </p:nvSpPr>
        <p:spPr/>
        <p:txBody>
          <a:bodyPr/>
          <a:lstStyle/>
          <a:p>
            <a:r>
              <a:rPr lang="en-GB"/>
              <a:t>Comparing countries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comparability problems stack 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yer 1 card body"/>
          <p:cNvSpPr/>
          <p:nvPr/>
        </p:nvSpPr>
        <p:spPr>
          <a:xfrm>
            <a:off x="457200" y="1691640"/>
            <a:ext cx="404622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yer 1 card header"/>
          <p:cNvSpPr/>
          <p:nvPr/>
        </p:nvSpPr>
        <p:spPr>
          <a:xfrm>
            <a:off x="45720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ayer 1 card heading"/>
          <p:cNvSpPr txBox="1"/>
          <p:nvPr/>
        </p:nvSpPr>
        <p:spPr>
          <a:xfrm>
            <a:off x="59436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Layer 1: measurement</a:t>
            </a:r>
          </a:p>
        </p:txBody>
      </p:sp>
      <p:pic>
        <p:nvPicPr>
          <p:cNvPr id="13" name="Icon Layer 1 card" descr=""/>
          <p:cNvPicPr>
            <a:picLocks noChangeAspect="1"/>
          </p:cNvPicPr>
          <p:nvPr/>
        </p:nvPicPr>
        <p:blipFill>
          <a:blip r:embed="rId3"/>
          <a:stretch>
            <a:fillRect/>
          </a:stretch>
        </p:blipFill>
        <p:spPr>
          <a:xfrm>
            <a:off x="4064508" y="1307592"/>
            <a:ext cx="310896" cy="310896"/>
          </a:xfrm>
          <a:prstGeom prst="rect">
            <a:avLst/>
          </a:prstGeom>
        </p:spPr>
      </p:pic>
      <p:sp>
        <p:nvSpPr>
          <p:cNvPr id="14" name="Layer 1 card text"/>
          <p:cNvSpPr txBox="1"/>
          <p:nvPr/>
        </p:nvSpPr>
        <p:spPr>
          <a:xfrm>
            <a:off x="621792" y="1828800"/>
            <a:ext cx="3744468" cy="1097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Does a satisfaction score of 4 mean the same in Spain and Germany?</a:t>
            </a:r>
          </a:p>
          <a:p>
            <a:pPr algn="l" marL="182880" indent="-182880">
              <a:spcAft>
                <a:spcPts val="600"/>
              </a:spcAft>
              <a:buClr>
                <a:schemeClr val="accent1"/>
              </a:buClr>
              <a:buFont typeface="Arial"/>
              <a:buChar char="▪"/>
            </a:pPr>
            <a:r>
              <a:rPr sz="1300" b="0" lang="en-GB">
                <a:solidFill>
                  <a:schemeClr val="tx1"/>
                </a:solidFill>
              </a:rPr>
              <a:t>Response styles shift the answers</a:t>
            </a:r>
          </a:p>
          <a:p>
            <a:pPr algn="l" marL="182880" indent="-182880">
              <a:spcAft>
                <a:spcPts val="600"/>
              </a:spcAft>
              <a:buClr>
                <a:schemeClr val="accent1"/>
              </a:buClr>
              <a:buFont typeface="Arial"/>
              <a:buChar char="▪"/>
            </a:pPr>
            <a:r>
              <a:rPr sz="1300" b="0" lang="en-GB">
                <a:solidFill>
                  <a:schemeClr val="tx1"/>
                </a:solidFill>
              </a:rPr>
              <a:t>Fix: invariance tests, within-country standardisation</a:t>
            </a:r>
          </a:p>
        </p:txBody>
      </p:sp>
      <p:sp>
        <p:nvSpPr>
          <p:cNvPr id="15" name="Layer 1 card stat"/>
          <p:cNvSpPr txBox="1"/>
          <p:nvPr/>
        </p:nvSpPr>
        <p:spPr>
          <a:xfrm>
            <a:off x="621792" y="3063240"/>
            <a:ext cx="3744468" cy="777240"/>
          </a:xfrm>
          <a:prstGeom prst="rect">
            <a:avLst/>
          </a:prstGeom>
          <a:noFill/>
        </p:spPr>
        <p:txBody>
          <a:bodyPr wrap="square" lIns="0" rIns="0" tIns="0" bIns="0" anchor="b">
            <a:noAutofit/>
          </a:bodyPr>
          <a:lstStyle/>
          <a:p>
            <a:pPr algn="l">
              <a:spcAft>
                <a:spcPts val="200"/>
              </a:spcAft>
            </a:pPr>
            <a:r>
              <a:rPr sz="2400" b="1" lang="en-GB">
                <a:solidFill>
                  <a:schemeClr val="tx2"/>
                </a:solidFill>
                <a:latin typeface="+mj-lt"/>
              </a:rPr>
              <a:t>20.3 % vs 4.0 %</a:t>
            </a:r>
          </a:p>
          <a:p>
            <a:pPr algn="l">
              <a:spcAft>
                <a:spcPts val="200"/>
              </a:spcAft>
            </a:pPr>
            <a:r>
              <a:rPr sz="1300" b="0" lang="en-GB">
                <a:solidFill>
                  <a:schemeClr val="tx1"/>
                </a:solidFill>
              </a:rPr>
              <a:t>answer 5: Spain vs Germany</a:t>
            </a:r>
          </a:p>
        </p:txBody>
      </p:sp>
      <p:sp>
        <p:nvSpPr>
          <p:cNvPr id="16" name="Layer 2 card body"/>
          <p:cNvSpPr/>
          <p:nvPr/>
        </p:nvSpPr>
        <p:spPr>
          <a:xfrm>
            <a:off x="4640580" y="1691640"/>
            <a:ext cx="404622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yer 2 card header"/>
          <p:cNvSpPr/>
          <p:nvPr/>
        </p:nvSpPr>
        <p:spPr>
          <a:xfrm>
            <a:off x="464058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ayer 2 card heading"/>
          <p:cNvSpPr txBox="1"/>
          <p:nvPr/>
        </p:nvSpPr>
        <p:spPr>
          <a:xfrm>
            <a:off x="477774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Layer 2: logit scale</a:t>
            </a:r>
          </a:p>
        </p:txBody>
      </p:sp>
      <p:pic>
        <p:nvPicPr>
          <p:cNvPr id="19" name="Icon Layer 2 card" descr=""/>
          <p:cNvPicPr>
            <a:picLocks noChangeAspect="1"/>
          </p:cNvPicPr>
          <p:nvPr/>
        </p:nvPicPr>
        <p:blipFill>
          <a:blip r:embed="rId4"/>
          <a:stretch>
            <a:fillRect/>
          </a:stretch>
        </p:blipFill>
        <p:spPr>
          <a:xfrm>
            <a:off x="8247888" y="1307592"/>
            <a:ext cx="310896" cy="310896"/>
          </a:xfrm>
          <a:prstGeom prst="rect">
            <a:avLst/>
          </a:prstGeom>
        </p:spPr>
      </p:pic>
      <p:sp>
        <p:nvSpPr>
          <p:cNvPr id="20" name="Layer 2 card text"/>
          <p:cNvSpPr txBox="1"/>
          <p:nvPr/>
        </p:nvSpPr>
        <p:spPr>
          <a:xfrm>
            <a:off x="4805172" y="1828800"/>
            <a:ext cx="3744468" cy="1097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Coefficients are scaled by unexplained variation</a:t>
            </a:r>
          </a:p>
          <a:p>
            <a:pPr algn="l" marL="182880" indent="-182880">
              <a:spcAft>
                <a:spcPts val="600"/>
              </a:spcAft>
              <a:buClr>
                <a:schemeClr val="accent1"/>
              </a:buClr>
              <a:buFont typeface="Arial"/>
              <a:buChar char="▪"/>
            </a:pPr>
            <a:r>
              <a:rPr sz="1300" b="0" lang="en-GB">
                <a:solidFill>
                  <a:schemeClr val="tx1"/>
                </a:solidFill>
              </a:rPr>
              <a:t>That variation differs by country</a:t>
            </a:r>
          </a:p>
          <a:p>
            <a:pPr algn="l" marL="182880" indent="-182880">
              <a:spcAft>
                <a:spcPts val="600"/>
              </a:spcAft>
              <a:buClr>
                <a:schemeClr val="accent1"/>
              </a:buClr>
              <a:buFont typeface="Arial"/>
              <a:buChar char="▪"/>
            </a:pPr>
            <a:r>
              <a:rPr sz="1300" b="0" lang="en-GB">
                <a:solidFill>
                  <a:schemeClr val="tx1"/>
                </a:solidFill>
              </a:rPr>
              <a:t>Holds even with perfect measurement</a:t>
            </a:r>
          </a:p>
        </p:txBody>
      </p:sp>
      <p:sp>
        <p:nvSpPr>
          <p:cNvPr id="21" name="Layer 2 card stat"/>
          <p:cNvSpPr txBox="1"/>
          <p:nvPr/>
        </p:nvSpPr>
        <p:spPr>
          <a:xfrm>
            <a:off x="4805172" y="3063240"/>
            <a:ext cx="3744468" cy="777240"/>
          </a:xfrm>
          <a:prstGeom prst="rect">
            <a:avLst/>
          </a:prstGeom>
          <a:noFill/>
        </p:spPr>
        <p:txBody>
          <a:bodyPr wrap="square" lIns="0" rIns="0" tIns="0" bIns="0" anchor="b">
            <a:noAutofit/>
          </a:bodyPr>
          <a:lstStyle/>
          <a:p>
            <a:pPr algn="l">
              <a:spcAft>
                <a:spcPts val="200"/>
              </a:spcAft>
            </a:pPr>
            <a:r>
              <a:rPr sz="2400" b="1" lang="en-GB">
                <a:solidFill>
                  <a:schemeClr val="tx2"/>
                </a:solidFill>
                <a:latin typeface="+mj-lt"/>
              </a:rPr>
              <a:t>0.81 vs 1.19</a:t>
            </a:r>
          </a:p>
          <a:p>
            <a:pPr algn="l">
              <a:spcAft>
                <a:spcPts val="200"/>
              </a:spcAft>
            </a:pPr>
            <a:r>
              <a:rPr sz="1300" b="0" lang="en-GB">
                <a:solidFill>
                  <a:schemeClr val="tx1"/>
                </a:solidFill>
              </a:rPr>
              <a:t>coefficient: Spain vs Germany</a:t>
            </a:r>
          </a:p>
        </p:txBody>
      </p:sp>
      <p:sp>
        <p:nvSpPr>
          <p:cNvPr id="22" name="Layers callout box"/>
          <p:cNvSpPr/>
          <p:nvPr/>
        </p:nvSpPr>
        <p:spPr>
          <a:xfrm>
            <a:off x="457200" y="40690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yers callout text"/>
          <p:cNvSpPr txBox="1"/>
          <p:nvPr/>
        </p:nvSpPr>
        <p:spPr>
          <a:xfrm>
            <a:off x="658368" y="406908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You need both: </a:t>
            </a:r>
            <a:r>
              <a:rPr sz="1250" b="0" lang="en-GB">
                <a:solidFill>
                  <a:schemeClr val="bg1"/>
                </a:solidFill>
              </a:rPr>
              <a:t>invariance checks fix layer 1; probabilities and marginal effects sidestep layer 2.</a:t>
            </a:r>
          </a:p>
        </p:txBody>
      </p:sp>
      <p:sp>
        <p:nvSpPr>
          <p:cNvPr id="2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Steenkamp &amp; Baumgartner (1998), JCR; Allison (1999), SMR; Mood (2010), ESR; simulated data (telco_churn.csv)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Layer 1: response styles in satisfaction surveys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yle stat 1 box"/>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tyle stat 1 bar"/>
          <p:cNvSpPr/>
          <p:nvPr/>
        </p:nvSpPr>
        <p:spPr>
          <a:xfrm>
            <a:off x="45720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tyle stat 1 figure"/>
          <p:cNvSpPr txBox="1"/>
          <p:nvPr/>
        </p:nvSpPr>
        <p:spPr>
          <a:xfrm>
            <a:off x="640080" y="1234440"/>
            <a:ext cx="178308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a:t>
            </a:r>
          </a:p>
        </p:txBody>
      </p:sp>
      <p:sp>
        <p:nvSpPr>
          <p:cNvPr id="13" name="Style stat 1 label"/>
          <p:cNvSpPr txBox="1"/>
          <p:nvPr/>
        </p:nvSpPr>
        <p:spPr>
          <a:xfrm>
            <a:off x="2423160" y="1234440"/>
            <a:ext cx="617220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EU countries: </a:t>
            </a:r>
            <a:r>
              <a:rPr sz="1200" b="0" lang="en-GB">
                <a:solidFill>
                  <a:schemeClr val="tx1"/>
                </a:solidFill>
              </a:rPr>
              <a:t>five response styles bias scale scores and correlations (Baumgartner &amp; Steenkamp 2001)</a:t>
            </a:r>
          </a:p>
        </p:txBody>
      </p:sp>
      <p:sp>
        <p:nvSpPr>
          <p:cNvPr id="14" name="Style stat 2 box"/>
          <p:cNvSpPr/>
          <p:nvPr/>
        </p:nvSpPr>
        <p:spPr>
          <a:xfrm>
            <a:off x="457200" y="1892808"/>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tyle stat 2 bar"/>
          <p:cNvSpPr/>
          <p:nvPr/>
        </p:nvSpPr>
        <p:spPr>
          <a:xfrm>
            <a:off x="457200" y="189280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yle stat 2 figure"/>
          <p:cNvSpPr txBox="1"/>
          <p:nvPr/>
        </p:nvSpPr>
        <p:spPr>
          <a:xfrm>
            <a:off x="640080" y="1892808"/>
            <a:ext cx="178308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19</a:t>
            </a:r>
          </a:p>
        </p:txBody>
      </p:sp>
      <p:sp>
        <p:nvSpPr>
          <p:cNvPr id="17" name="Style stat 2 label"/>
          <p:cNvSpPr txBox="1"/>
          <p:nvPr/>
        </p:nvSpPr>
        <p:spPr>
          <a:xfrm>
            <a:off x="2423160" y="1892808"/>
            <a:ext cx="617220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nations, about 257,000 interviews: </a:t>
            </a:r>
            <a:r>
              <a:rPr sz="1200" b="0" lang="en-GB">
                <a:solidFill>
                  <a:schemeClr val="tx1"/>
                </a:solidFill>
              </a:rPr>
              <a:t>satisfaction levels differ with culture and institutions (Morgeson et al. 2011)</a:t>
            </a:r>
          </a:p>
        </p:txBody>
      </p:sp>
      <p:sp>
        <p:nvSpPr>
          <p:cNvPr id="18" name="Style stat 3 box"/>
          <p:cNvSpPr/>
          <p:nvPr/>
        </p:nvSpPr>
        <p:spPr>
          <a:xfrm>
            <a:off x="457200" y="2551176"/>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tyle stat 3 bar"/>
          <p:cNvSpPr/>
          <p:nvPr/>
        </p:nvSpPr>
        <p:spPr>
          <a:xfrm>
            <a:off x="457200" y="2551176"/>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tyle stat 3 figure"/>
          <p:cNvSpPr txBox="1"/>
          <p:nvPr/>
        </p:nvSpPr>
        <p:spPr>
          <a:xfrm>
            <a:off x="640080" y="2551176"/>
            <a:ext cx="178308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21" name="Style stat 3 label"/>
          <p:cNvSpPr txBox="1"/>
          <p:nvPr/>
        </p:nvSpPr>
        <p:spPr>
          <a:xfrm>
            <a:off x="2423160" y="2551176"/>
            <a:ext cx="617220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of 243 cross-national marketing articles </a:t>
            </a:r>
            <a:r>
              <a:rPr sz="1200" b="0" lang="en-GB">
                <a:solidFill>
                  <a:schemeClr val="tx1"/>
                </a:solidFill>
              </a:rPr>
              <a:t>tested measurement invariance (He, Merz &amp; Alden 2008)</a:t>
            </a:r>
          </a:p>
        </p:txBody>
      </p:sp>
      <p:sp>
        <p:nvSpPr>
          <p:cNvPr id="22" name="Style stat 4 box"/>
          <p:cNvSpPr/>
          <p:nvPr/>
        </p:nvSpPr>
        <p:spPr>
          <a:xfrm>
            <a:off x="457200" y="3209544"/>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tyle stat 4 bar"/>
          <p:cNvSpPr/>
          <p:nvPr/>
        </p:nvSpPr>
        <p:spPr>
          <a:xfrm>
            <a:off x="457200" y="320954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tyle stat 4 figure"/>
          <p:cNvSpPr txBox="1"/>
          <p:nvPr/>
        </p:nvSpPr>
        <p:spPr>
          <a:xfrm>
            <a:off x="640080" y="3209544"/>
            <a:ext cx="178308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100,040</a:t>
            </a:r>
          </a:p>
        </p:txBody>
      </p:sp>
      <p:sp>
        <p:nvSpPr>
          <p:cNvPr id="25" name="Style stat 4 label"/>
          <p:cNvSpPr txBox="1"/>
          <p:nvPr/>
        </p:nvSpPr>
        <p:spPr>
          <a:xfrm>
            <a:off x="2423160" y="3209544"/>
            <a:ext cx="6172200"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car buyers: </a:t>
            </a:r>
            <a:r>
              <a:rPr sz="1200" b="0" lang="en-GB">
                <a:solidFill>
                  <a:schemeClr val="tx1"/>
                </a:solidFill>
              </a:rPr>
              <a:t>the same rated satisfaction goes with different repurchase rates across groups (Mittal &amp; Kamakura 2001)</a:t>
            </a:r>
          </a:p>
        </p:txBody>
      </p:sp>
      <p:sp>
        <p:nvSpPr>
          <p:cNvPr id="26" name="Style callout box"/>
          <p:cNvSpPr/>
          <p:nvPr/>
        </p:nvSpPr>
        <p:spPr>
          <a:xfrm>
            <a:off x="457200" y="3867912"/>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tyle callout text"/>
          <p:cNvSpPr txBox="1"/>
          <p:nvPr/>
        </p:nvSpPr>
        <p:spPr>
          <a:xfrm>
            <a:off x="658368" y="3867912"/>
            <a:ext cx="7827264" cy="640080"/>
          </a:xfrm>
          <a:prstGeom prst="rect">
            <a:avLst/>
          </a:prstGeom>
          <a:noFill/>
        </p:spPr>
        <p:txBody>
          <a:bodyPr wrap="square" lIns="0" rIns="0" tIns="0" bIns="0" anchor="ctr">
            <a:noAutofit/>
          </a:bodyPr>
          <a:lstStyle/>
          <a:p>
            <a:pPr algn="l">
              <a:spcAft>
                <a:spcPts val="400"/>
              </a:spcAft>
            </a:pPr>
            <a:r>
              <a:rPr sz="1250" b="1" lang="en-GB">
                <a:solidFill>
                  <a:schemeClr val="bg1"/>
                </a:solidFill>
              </a:rPr>
              <a:t>Configural, metric, scalar: </a:t>
            </a:r>
            <a:r>
              <a:rPr sz="1250" b="0" lang="en-GB">
                <a:solidFill>
                  <a:schemeClr val="bg1"/>
                </a:solidFill>
              </a:rPr>
              <a:t>relationships need metric invariance, comparisons of means scalar invariance (Steenkamp &amp; Baumgartner 1998).</a:t>
            </a:r>
          </a:p>
        </p:txBody>
      </p:sp>
      <p:sp>
        <p:nvSpPr>
          <p:cNvPr id="28"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Baumgartner &amp; Steenkamp (2001), JMR; Morgeson et al. (2011), JAMS; He, Merz &amp; Alden (2008); Mittal &amp; Kamakura (2001), JMR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 our data: same satisfaction, different 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satisfaction.png" descr="Satisfaction scores by country: Spain uses the top box most. Share answering 5: Germany 4.0 %, Austria 4.4 %, Spain 20.3 %, Poland 9.8 %."/>
          <p:cNvPicPr>
            <a:picLocks noChangeAspect="1"/>
          </p:cNvPicPr>
          <p:nvPr/>
        </p:nvPicPr>
        <p:blipFill>
          <a:blip r:embed="rId3"/>
          <a:stretch>
            <a:fillRect/>
          </a:stretch>
        </p:blipFill>
        <p:spPr>
          <a:xfrm>
            <a:off x="457200" y="1234440"/>
            <a:ext cx="4206240" cy="2697480"/>
          </a:xfrm>
          <a:prstGeom prst="rect">
            <a:avLst/>
          </a:prstGeom>
        </p:spPr>
      </p:pic>
      <p:sp>
        <p:nvSpPr>
          <p:cNvPr id="11" name="Data stat 1 box"/>
          <p:cNvSpPr/>
          <p:nvPr/>
        </p:nvSpPr>
        <p:spPr>
          <a:xfrm>
            <a:off x="4800600" y="123444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ata stat 1 bar"/>
          <p:cNvSpPr/>
          <p:nvPr/>
        </p:nvSpPr>
        <p:spPr>
          <a:xfrm>
            <a:off x="4800600" y="123444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ata stat 1 figure"/>
          <p:cNvSpPr txBox="1"/>
          <p:nvPr/>
        </p:nvSpPr>
        <p:spPr>
          <a:xfrm>
            <a:off x="4983480" y="123444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5.1×</a:t>
            </a:r>
          </a:p>
        </p:txBody>
      </p:sp>
      <p:sp>
        <p:nvSpPr>
          <p:cNvPr id="14" name="Data stat 1 label"/>
          <p:cNvSpPr txBox="1"/>
          <p:nvPr/>
        </p:nvSpPr>
        <p:spPr>
          <a:xfrm>
            <a:off x="6446520" y="123444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top-box answers: </a:t>
            </a:r>
            <a:r>
              <a:rPr sz="1200" b="0" lang="en-GB">
                <a:solidFill>
                  <a:schemeClr val="tx1"/>
                </a:solidFill>
              </a:rPr>
              <a:t>Spain 20.3 %, Germany 4.0 %</a:t>
            </a:r>
          </a:p>
        </p:txBody>
      </p:sp>
      <p:sp>
        <p:nvSpPr>
          <p:cNvPr id="15" name="Data stat 2 box"/>
          <p:cNvSpPr/>
          <p:nvPr/>
        </p:nvSpPr>
        <p:spPr>
          <a:xfrm>
            <a:off x="4800600" y="217932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a stat 2 bar"/>
          <p:cNvSpPr/>
          <p:nvPr/>
        </p:nvSpPr>
        <p:spPr>
          <a:xfrm>
            <a:off x="4800600" y="217932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a stat 2 figure"/>
          <p:cNvSpPr txBox="1"/>
          <p:nvPr/>
        </p:nvSpPr>
        <p:spPr>
          <a:xfrm>
            <a:off x="4983480" y="217932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3.35</a:t>
            </a:r>
          </a:p>
        </p:txBody>
      </p:sp>
      <p:sp>
        <p:nvSpPr>
          <p:cNvPr id="18" name="Data stat 2 label"/>
          <p:cNvSpPr txBox="1"/>
          <p:nvPr/>
        </p:nvSpPr>
        <p:spPr>
          <a:xfrm>
            <a:off x="6446520" y="217932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mean score in Spain </a:t>
            </a:r>
            <a:r>
              <a:rPr sz="1200" b="0" lang="en-GB">
                <a:solidFill>
                  <a:schemeClr val="tx1"/>
                </a:solidFill>
              </a:rPr>
              <a:t>(Germany 2.96)</a:t>
            </a:r>
          </a:p>
        </p:txBody>
      </p:sp>
      <p:sp>
        <p:nvSpPr>
          <p:cNvPr id="19" name="Data stat 3 box"/>
          <p:cNvSpPr/>
          <p:nvPr/>
        </p:nvSpPr>
        <p:spPr>
          <a:xfrm>
            <a:off x="4800600" y="312420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a stat 3 bar"/>
          <p:cNvSpPr/>
          <p:nvPr/>
        </p:nvSpPr>
        <p:spPr>
          <a:xfrm>
            <a:off x="4800600" y="312420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a stat 3 figure"/>
          <p:cNvSpPr txBox="1"/>
          <p:nvPr/>
        </p:nvSpPr>
        <p:spPr>
          <a:xfrm>
            <a:off x="4983480" y="312420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−0.26</a:t>
            </a:r>
          </a:p>
        </p:txBody>
      </p:sp>
      <p:sp>
        <p:nvSpPr>
          <p:cNvPr id="22" name="Data stat 3 label"/>
          <p:cNvSpPr txBox="1"/>
          <p:nvPr/>
        </p:nvSpPr>
        <p:spPr>
          <a:xfrm>
            <a:off x="6446520" y="312420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coefficient per point </a:t>
            </a:r>
            <a:r>
              <a:rPr sz="1200" b="0" lang="en-GB">
                <a:solidFill>
                  <a:schemeClr val="tx1"/>
                </a:solidFill>
              </a:rPr>
              <a:t>in Spain (Germany −0.47)</a:t>
            </a:r>
          </a:p>
        </p:txBody>
      </p:sp>
      <p:sp>
        <p:nvSpPr>
          <p:cNvPr id="23" name="Data callout box"/>
          <p:cNvSpPr/>
          <p:nvPr/>
        </p:nvSpPr>
        <p:spPr>
          <a:xfrm>
            <a:off x="457200" y="40690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Data callout text"/>
          <p:cNvSpPr txBox="1"/>
          <p:nvPr/>
        </p:nvSpPr>
        <p:spPr>
          <a:xfrm>
            <a:off x="658368" y="406908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Equal scores, unequal satisfaction: </a:t>
            </a:r>
            <a:r>
              <a:rPr sz="1250" b="0" lang="en-GB">
                <a:solidFill>
                  <a:schemeClr val="bg1"/>
                </a:solidFill>
              </a:rPr>
              <a:t>pool raw 1–5 scores across countries only after a check.</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response styles set in the simulation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Layer 2: same effect, different coefficients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1-1"/>
          <p:cNvSpPr/>
          <p:nvPr/>
        </p:nvSpPr>
        <p:spPr>
          <a:xfrm>
            <a:off x="457200" y="1234440"/>
            <a:ext cx="10241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1-1"/>
          <p:cNvSpPr txBox="1"/>
          <p:nvPr/>
        </p:nvSpPr>
        <p:spPr>
          <a:xfrm>
            <a:off x="548640" y="1234440"/>
            <a:ext cx="841248" cy="329184"/>
          </a:xfrm>
          <a:prstGeom prst="rect">
            <a:avLst/>
          </a:prstGeom>
          <a:noFill/>
        </p:spPr>
        <p:txBody>
          <a:bodyPr wrap="square" lIns="0" rIns="0" tIns="0" bIns="0" anchor="ctr">
            <a:noAutofit/>
          </a:bodyPr>
          <a:lstStyle/>
          <a:p>
            <a:pPr algn="l">
              <a:spcAft>
                <a:spcPts val="400"/>
              </a:spcAft>
            </a:pPr>
            <a:r>
              <a:rPr sz="1100" b="1" lang="en-GB">
                <a:solidFill>
                  <a:schemeClr val="bg1"/>
                </a:solidFill>
              </a:rPr>
              <a:t>Country</a:t>
            </a:r>
          </a:p>
        </p:txBody>
      </p:sp>
      <p:sp>
        <p:nvSpPr>
          <p:cNvPr id="12" name="Scale table 1-2"/>
          <p:cNvSpPr/>
          <p:nvPr/>
        </p:nvSpPr>
        <p:spPr>
          <a:xfrm>
            <a:off x="1508760" y="1234440"/>
            <a:ext cx="10698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1-2"/>
          <p:cNvSpPr txBox="1"/>
          <p:nvPr/>
        </p:nvSpPr>
        <p:spPr>
          <a:xfrm>
            <a:off x="1600200" y="1234440"/>
            <a:ext cx="886968"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True effect</a:t>
            </a:r>
          </a:p>
        </p:txBody>
      </p:sp>
      <p:sp>
        <p:nvSpPr>
          <p:cNvPr id="14" name="Scale table 1-3"/>
          <p:cNvSpPr/>
          <p:nvPr/>
        </p:nvSpPr>
        <p:spPr>
          <a:xfrm>
            <a:off x="2606040" y="1234440"/>
            <a:ext cx="11155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1-3"/>
          <p:cNvSpPr txBox="1"/>
          <p:nvPr/>
        </p:nvSpPr>
        <p:spPr>
          <a:xfrm>
            <a:off x="2697480" y="1234440"/>
            <a:ext cx="932688"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Noise scale</a:t>
            </a:r>
          </a:p>
        </p:txBody>
      </p:sp>
      <p:sp>
        <p:nvSpPr>
          <p:cNvPr id="16" name="Scale table 1-4"/>
          <p:cNvSpPr/>
          <p:nvPr/>
        </p:nvSpPr>
        <p:spPr>
          <a:xfrm>
            <a:off x="374904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1-4"/>
          <p:cNvSpPr txBox="1"/>
          <p:nvPr/>
        </p:nvSpPr>
        <p:spPr>
          <a:xfrm>
            <a:off x="3840480" y="1234440"/>
            <a:ext cx="978408"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Coefficient</a:t>
            </a:r>
          </a:p>
        </p:txBody>
      </p:sp>
      <p:sp>
        <p:nvSpPr>
          <p:cNvPr id="18" name="Scale table 1-5"/>
          <p:cNvSpPr/>
          <p:nvPr/>
        </p:nvSpPr>
        <p:spPr>
          <a:xfrm>
            <a:off x="4937760" y="1234440"/>
            <a:ext cx="100584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1-5"/>
          <p:cNvSpPr txBox="1"/>
          <p:nvPr/>
        </p:nvSpPr>
        <p:spPr>
          <a:xfrm>
            <a:off x="5029200" y="1234440"/>
            <a:ext cx="795528"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AME (pp)</a:t>
            </a:r>
          </a:p>
        </p:txBody>
      </p:sp>
      <p:sp>
        <p:nvSpPr>
          <p:cNvPr id="20" name="Scale table 2-1"/>
          <p:cNvSpPr/>
          <p:nvPr/>
        </p:nvSpPr>
        <p:spPr>
          <a:xfrm>
            <a:off x="457200" y="1591056"/>
            <a:ext cx="10241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2-1"/>
          <p:cNvSpPr txBox="1"/>
          <p:nvPr/>
        </p:nvSpPr>
        <p:spPr>
          <a:xfrm>
            <a:off x="548640" y="1591056"/>
            <a:ext cx="841248"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Germany</a:t>
            </a:r>
          </a:p>
        </p:txBody>
      </p:sp>
      <p:sp>
        <p:nvSpPr>
          <p:cNvPr id="22" name="Scale table 2-2"/>
          <p:cNvSpPr/>
          <p:nvPr/>
        </p:nvSpPr>
        <p:spPr>
          <a:xfrm>
            <a:off x="1508760" y="1591056"/>
            <a:ext cx="10698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2-2"/>
          <p:cNvSpPr txBox="1"/>
          <p:nvPr/>
        </p:nvSpPr>
        <p:spPr>
          <a:xfrm>
            <a:off x="1600200" y="1591056"/>
            <a:ext cx="88696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1.3</a:t>
            </a:r>
          </a:p>
        </p:txBody>
      </p:sp>
      <p:sp>
        <p:nvSpPr>
          <p:cNvPr id="24" name="Scale table 2-3"/>
          <p:cNvSpPr/>
          <p:nvPr/>
        </p:nvSpPr>
        <p:spPr>
          <a:xfrm>
            <a:off x="2606040" y="1591056"/>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2-3"/>
          <p:cNvSpPr txBox="1"/>
          <p:nvPr/>
        </p:nvSpPr>
        <p:spPr>
          <a:xfrm>
            <a:off x="2697480" y="1591056"/>
            <a:ext cx="93268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1.0</a:t>
            </a:r>
          </a:p>
        </p:txBody>
      </p:sp>
      <p:sp>
        <p:nvSpPr>
          <p:cNvPr id="26" name="Scale table 2-4"/>
          <p:cNvSpPr/>
          <p:nvPr/>
        </p:nvSpPr>
        <p:spPr>
          <a:xfrm>
            <a:off x="374904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2-4"/>
          <p:cNvSpPr txBox="1"/>
          <p:nvPr/>
        </p:nvSpPr>
        <p:spPr>
          <a:xfrm>
            <a:off x="3840480" y="1591056"/>
            <a:ext cx="97840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1.19</a:t>
            </a:r>
          </a:p>
        </p:txBody>
      </p:sp>
      <p:sp>
        <p:nvSpPr>
          <p:cNvPr id="28" name="Scale table 2-5"/>
          <p:cNvSpPr/>
          <p:nvPr/>
        </p:nvSpPr>
        <p:spPr>
          <a:xfrm>
            <a:off x="4937760" y="1591056"/>
            <a:ext cx="100584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2-5"/>
          <p:cNvSpPr txBox="1"/>
          <p:nvPr/>
        </p:nvSpPr>
        <p:spPr>
          <a:xfrm>
            <a:off x="5029200" y="1591056"/>
            <a:ext cx="79552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15.2</a:t>
            </a:r>
          </a:p>
        </p:txBody>
      </p:sp>
      <p:sp>
        <p:nvSpPr>
          <p:cNvPr id="30" name="Scale table 3-1"/>
          <p:cNvSpPr/>
          <p:nvPr/>
        </p:nvSpPr>
        <p:spPr>
          <a:xfrm>
            <a:off x="457200" y="1947672"/>
            <a:ext cx="10241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3-1"/>
          <p:cNvSpPr txBox="1"/>
          <p:nvPr/>
        </p:nvSpPr>
        <p:spPr>
          <a:xfrm>
            <a:off x="548640" y="1947672"/>
            <a:ext cx="841248"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Austria</a:t>
            </a:r>
          </a:p>
        </p:txBody>
      </p:sp>
      <p:sp>
        <p:nvSpPr>
          <p:cNvPr id="32" name="Scale table 3-2"/>
          <p:cNvSpPr/>
          <p:nvPr/>
        </p:nvSpPr>
        <p:spPr>
          <a:xfrm>
            <a:off x="1508760" y="1947672"/>
            <a:ext cx="10698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3-2"/>
          <p:cNvSpPr txBox="1"/>
          <p:nvPr/>
        </p:nvSpPr>
        <p:spPr>
          <a:xfrm>
            <a:off x="1600200" y="1947672"/>
            <a:ext cx="88696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1.3</a:t>
            </a:r>
          </a:p>
        </p:txBody>
      </p:sp>
      <p:sp>
        <p:nvSpPr>
          <p:cNvPr id="34" name="Scale table 3-3"/>
          <p:cNvSpPr/>
          <p:nvPr/>
        </p:nvSpPr>
        <p:spPr>
          <a:xfrm>
            <a:off x="2606040" y="1947672"/>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cale table text 3-3"/>
          <p:cNvSpPr txBox="1"/>
          <p:nvPr/>
        </p:nvSpPr>
        <p:spPr>
          <a:xfrm>
            <a:off x="2697480" y="1947672"/>
            <a:ext cx="93268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1.0</a:t>
            </a:r>
          </a:p>
        </p:txBody>
      </p:sp>
      <p:sp>
        <p:nvSpPr>
          <p:cNvPr id="36" name="Scale table 3-4"/>
          <p:cNvSpPr/>
          <p:nvPr/>
        </p:nvSpPr>
        <p:spPr>
          <a:xfrm>
            <a:off x="374904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cale table text 3-4"/>
          <p:cNvSpPr txBox="1"/>
          <p:nvPr/>
        </p:nvSpPr>
        <p:spPr>
          <a:xfrm>
            <a:off x="3840480" y="1947672"/>
            <a:ext cx="97840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1.02</a:t>
            </a:r>
          </a:p>
        </p:txBody>
      </p:sp>
      <p:sp>
        <p:nvSpPr>
          <p:cNvPr id="38" name="Scale table 3-5"/>
          <p:cNvSpPr/>
          <p:nvPr/>
        </p:nvSpPr>
        <p:spPr>
          <a:xfrm>
            <a:off x="4937760" y="1947672"/>
            <a:ext cx="100584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cale table text 3-5"/>
          <p:cNvSpPr txBox="1"/>
          <p:nvPr/>
        </p:nvSpPr>
        <p:spPr>
          <a:xfrm>
            <a:off x="5029200" y="1947672"/>
            <a:ext cx="79552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12.3</a:t>
            </a:r>
          </a:p>
        </p:txBody>
      </p:sp>
      <p:sp>
        <p:nvSpPr>
          <p:cNvPr id="40" name="Scale table 4-1"/>
          <p:cNvSpPr/>
          <p:nvPr/>
        </p:nvSpPr>
        <p:spPr>
          <a:xfrm>
            <a:off x="457200" y="2304288"/>
            <a:ext cx="10241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cale table text 4-1"/>
          <p:cNvSpPr txBox="1"/>
          <p:nvPr/>
        </p:nvSpPr>
        <p:spPr>
          <a:xfrm>
            <a:off x="548640" y="2304288"/>
            <a:ext cx="841248"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Spain</a:t>
            </a:r>
          </a:p>
        </p:txBody>
      </p:sp>
      <p:sp>
        <p:nvSpPr>
          <p:cNvPr id="42" name="Scale table 4-2"/>
          <p:cNvSpPr/>
          <p:nvPr/>
        </p:nvSpPr>
        <p:spPr>
          <a:xfrm>
            <a:off x="1508760" y="2304288"/>
            <a:ext cx="10698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cale table text 4-2"/>
          <p:cNvSpPr txBox="1"/>
          <p:nvPr/>
        </p:nvSpPr>
        <p:spPr>
          <a:xfrm>
            <a:off x="1600200" y="2304288"/>
            <a:ext cx="88696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1.3</a:t>
            </a:r>
          </a:p>
        </p:txBody>
      </p:sp>
      <p:sp>
        <p:nvSpPr>
          <p:cNvPr id="44" name="Scale table 4-3"/>
          <p:cNvSpPr/>
          <p:nvPr/>
        </p:nvSpPr>
        <p:spPr>
          <a:xfrm>
            <a:off x="2606040" y="2304288"/>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cale table text 4-3"/>
          <p:cNvSpPr txBox="1"/>
          <p:nvPr/>
        </p:nvSpPr>
        <p:spPr>
          <a:xfrm>
            <a:off x="2697480" y="2304288"/>
            <a:ext cx="93268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1.5</a:t>
            </a:r>
          </a:p>
        </p:txBody>
      </p:sp>
      <p:sp>
        <p:nvSpPr>
          <p:cNvPr id="46" name="Scale table 4-4"/>
          <p:cNvSpPr/>
          <p:nvPr/>
        </p:nvSpPr>
        <p:spPr>
          <a:xfrm>
            <a:off x="374904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cale table text 4-4"/>
          <p:cNvSpPr txBox="1"/>
          <p:nvPr/>
        </p:nvSpPr>
        <p:spPr>
          <a:xfrm>
            <a:off x="3840480" y="2304288"/>
            <a:ext cx="97840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0.81</a:t>
            </a:r>
          </a:p>
        </p:txBody>
      </p:sp>
      <p:sp>
        <p:nvSpPr>
          <p:cNvPr id="48" name="Scale table 4-5"/>
          <p:cNvSpPr/>
          <p:nvPr/>
        </p:nvSpPr>
        <p:spPr>
          <a:xfrm>
            <a:off x="4937760" y="2304288"/>
            <a:ext cx="100584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cale table text 4-5"/>
          <p:cNvSpPr txBox="1"/>
          <p:nvPr/>
        </p:nvSpPr>
        <p:spPr>
          <a:xfrm>
            <a:off x="5029200" y="2304288"/>
            <a:ext cx="79552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17.3</a:t>
            </a:r>
          </a:p>
        </p:txBody>
      </p:sp>
      <p:sp>
        <p:nvSpPr>
          <p:cNvPr id="50" name="Scale table 5-1"/>
          <p:cNvSpPr/>
          <p:nvPr/>
        </p:nvSpPr>
        <p:spPr>
          <a:xfrm>
            <a:off x="457200" y="2660904"/>
            <a:ext cx="10241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cale table text 5-1"/>
          <p:cNvSpPr txBox="1"/>
          <p:nvPr/>
        </p:nvSpPr>
        <p:spPr>
          <a:xfrm>
            <a:off x="548640" y="2660904"/>
            <a:ext cx="841248"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Poland</a:t>
            </a:r>
          </a:p>
        </p:txBody>
      </p:sp>
      <p:sp>
        <p:nvSpPr>
          <p:cNvPr id="52" name="Scale table 5-2"/>
          <p:cNvSpPr/>
          <p:nvPr/>
        </p:nvSpPr>
        <p:spPr>
          <a:xfrm>
            <a:off x="1508760" y="2660904"/>
            <a:ext cx="10698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cale table text 5-2"/>
          <p:cNvSpPr txBox="1"/>
          <p:nvPr/>
        </p:nvSpPr>
        <p:spPr>
          <a:xfrm>
            <a:off x="1600200" y="2660904"/>
            <a:ext cx="88696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1.3</a:t>
            </a:r>
          </a:p>
        </p:txBody>
      </p:sp>
      <p:sp>
        <p:nvSpPr>
          <p:cNvPr id="54" name="Scale table 5-3"/>
          <p:cNvSpPr/>
          <p:nvPr/>
        </p:nvSpPr>
        <p:spPr>
          <a:xfrm>
            <a:off x="2606040" y="2660904"/>
            <a:ext cx="1115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cale table text 5-3"/>
          <p:cNvSpPr txBox="1"/>
          <p:nvPr/>
        </p:nvSpPr>
        <p:spPr>
          <a:xfrm>
            <a:off x="2697480" y="2660904"/>
            <a:ext cx="93268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1.2</a:t>
            </a:r>
          </a:p>
        </p:txBody>
      </p:sp>
      <p:sp>
        <p:nvSpPr>
          <p:cNvPr id="56" name="Scale table 5-4"/>
          <p:cNvSpPr/>
          <p:nvPr/>
        </p:nvSpPr>
        <p:spPr>
          <a:xfrm>
            <a:off x="374904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cale table text 5-4"/>
          <p:cNvSpPr txBox="1"/>
          <p:nvPr/>
        </p:nvSpPr>
        <p:spPr>
          <a:xfrm>
            <a:off x="3840480" y="2660904"/>
            <a:ext cx="97840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0.90</a:t>
            </a:r>
          </a:p>
        </p:txBody>
      </p:sp>
      <p:sp>
        <p:nvSpPr>
          <p:cNvPr id="58" name="Scale table 5-5"/>
          <p:cNvSpPr/>
          <p:nvPr/>
        </p:nvSpPr>
        <p:spPr>
          <a:xfrm>
            <a:off x="4937760" y="2660904"/>
            <a:ext cx="100584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cale table text 5-5"/>
          <p:cNvSpPr txBox="1"/>
          <p:nvPr/>
        </p:nvSpPr>
        <p:spPr>
          <a:xfrm>
            <a:off x="5029200" y="2660904"/>
            <a:ext cx="795528"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16.5</a:t>
            </a:r>
          </a:p>
        </p:txBody>
      </p:sp>
      <p:sp>
        <p:nvSpPr>
          <p:cNvPr id="60" name="Scale note"/>
          <p:cNvSpPr txBox="1"/>
          <p:nvPr/>
        </p:nvSpPr>
        <p:spPr>
          <a:xfrm>
            <a:off x="457200" y="3017520"/>
            <a:ext cx="54864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True values set in the simulation; estimates from separate country logits</a:t>
            </a:r>
          </a:p>
        </p:txBody>
      </p:sp>
      <p:sp>
        <p:nvSpPr>
          <p:cNvPr id="61" name="Scale formula caption bar"/>
          <p:cNvSpPr/>
          <p:nvPr/>
        </p:nvSpPr>
        <p:spPr>
          <a:xfrm>
            <a:off x="6080760" y="1234440"/>
            <a:ext cx="2606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cale formula caption"/>
          <p:cNvSpPr txBox="1"/>
          <p:nvPr/>
        </p:nvSpPr>
        <p:spPr>
          <a:xfrm>
            <a:off x="6190488" y="1234440"/>
            <a:ext cx="2386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Latent-variable view</a:t>
            </a:r>
          </a:p>
        </p:txBody>
      </p:sp>
      <p:sp>
        <p:nvSpPr>
          <p:cNvPr id="63" name="Scale formula box"/>
          <p:cNvSpPr/>
          <p:nvPr/>
        </p:nvSpPr>
        <p:spPr>
          <a:xfrm>
            <a:off x="6080760" y="1508760"/>
            <a:ext cx="2606040" cy="14813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cale formula code"/>
          <p:cNvSpPr txBox="1"/>
          <p:nvPr/>
        </p:nvSpPr>
        <p:spPr>
          <a:xfrm>
            <a:off x="6217920" y="1600200"/>
            <a:ext cx="2331720" cy="1298448"/>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coefficient ≈</a:t>
            </a:r>
          </a:p>
          <a:p>
            <a:pPr algn="l">
              <a:spcAft>
                <a:spcPts val="0"/>
              </a:spcAft>
            </a:pPr>
            <a:r>
              <a:rPr sz="1100" b="0" lang="en-GB">
                <a:solidFill>
                  <a:schemeClr val="bg1"/>
                </a:solidFill>
                <a:latin typeface="Consolas"/>
              </a:rPr>
              <a:t>  true effect / scale</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Germany: 1.3 / 1.0 = 1.30</a:t>
            </a:r>
          </a:p>
          <a:p>
            <a:pPr algn="l">
              <a:spcAft>
                <a:spcPts val="0"/>
              </a:spcAft>
            </a:pPr>
            <a:r>
              <a:rPr sz="1100" b="0" lang="en-GB">
                <a:solidFill>
                  <a:schemeClr val="bg1"/>
                </a:solidFill>
                <a:latin typeface="Consolas"/>
              </a:rPr>
              <a:t>  estimated:         1.19</a:t>
            </a:r>
          </a:p>
          <a:p>
            <a:pPr algn="l">
              <a:spcAft>
                <a:spcPts val="0"/>
              </a:spcAft>
            </a:pPr>
            <a:r>
              <a:rPr sz="1100" b="0" lang="en-GB">
                <a:solidFill>
                  <a:schemeClr val="bg1"/>
                </a:solidFill>
                <a:latin typeface="Consolas"/>
              </a:rPr>
              <a:t>Spain:   1.3 / 1.5 ≈ 0.87</a:t>
            </a:r>
          </a:p>
          <a:p>
            <a:pPr algn="l">
              <a:spcAft>
                <a:spcPts val="0"/>
              </a:spcAft>
            </a:pPr>
            <a:r>
              <a:rPr sz="1100" b="0" lang="en-GB">
                <a:solidFill>
                  <a:schemeClr val="bg1"/>
                </a:solidFill>
                <a:latin typeface="Consolas"/>
              </a:rPr>
              <a:t>  estimated:         0.81</a:t>
            </a:r>
          </a:p>
        </p:txBody>
      </p:sp>
      <p:sp>
        <p:nvSpPr>
          <p:cNvPr id="65" name="Scale remedy 1 box"/>
          <p:cNvSpPr/>
          <p:nvPr/>
        </p:nvSpPr>
        <p:spPr>
          <a:xfrm>
            <a:off x="457200" y="3383280"/>
            <a:ext cx="26517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cale remedy 1 text"/>
          <p:cNvSpPr txBox="1"/>
          <p:nvPr/>
        </p:nvSpPr>
        <p:spPr>
          <a:xfrm>
            <a:off x="594360" y="3383280"/>
            <a:ext cx="2377440" cy="566928"/>
          </a:xfrm>
          <a:prstGeom prst="rect">
            <a:avLst/>
          </a:prstGeom>
          <a:noFill/>
        </p:spPr>
        <p:txBody>
          <a:bodyPr wrap="square" lIns="0" rIns="0" tIns="0" bIns="0" anchor="ctr">
            <a:noAutofit/>
          </a:bodyPr>
          <a:lstStyle/>
          <a:p>
            <a:pPr algn="l">
              <a:spcAft>
                <a:spcPts val="100"/>
              </a:spcAft>
            </a:pPr>
            <a:r>
              <a:rPr sz="1200" b="1" lang="en-GB">
                <a:solidFill>
                  <a:schemeClr val="tx2"/>
                </a:solidFill>
              </a:rPr>
              <a:t>Compare probabilities:</a:t>
            </a:r>
          </a:p>
          <a:p>
            <a:pPr algn="l">
              <a:spcAft>
                <a:spcPts val="100"/>
              </a:spcAft>
            </a:pPr>
            <a:r>
              <a:rPr sz="1200" b="0" lang="en-GB">
                <a:solidFill>
                  <a:schemeClr val="tx1"/>
                </a:solidFill>
              </a:rPr>
              <a:t>AMEs and predictions</a:t>
            </a:r>
          </a:p>
        </p:txBody>
      </p:sp>
      <p:sp>
        <p:nvSpPr>
          <p:cNvPr id="67" name="Scale remedy 2 box"/>
          <p:cNvSpPr/>
          <p:nvPr/>
        </p:nvSpPr>
        <p:spPr>
          <a:xfrm>
            <a:off x="3246120" y="3383280"/>
            <a:ext cx="26517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cale remedy 2 text"/>
          <p:cNvSpPr txBox="1"/>
          <p:nvPr/>
        </p:nvSpPr>
        <p:spPr>
          <a:xfrm>
            <a:off x="3383280" y="3383280"/>
            <a:ext cx="2377440" cy="566928"/>
          </a:xfrm>
          <a:prstGeom prst="rect">
            <a:avLst/>
          </a:prstGeom>
          <a:noFill/>
        </p:spPr>
        <p:txBody>
          <a:bodyPr wrap="square" lIns="0" rIns="0" tIns="0" bIns="0" anchor="ctr">
            <a:noAutofit/>
          </a:bodyPr>
          <a:lstStyle/>
          <a:p>
            <a:pPr algn="l">
              <a:spcAft>
                <a:spcPts val="100"/>
              </a:spcAft>
            </a:pPr>
            <a:r>
              <a:rPr sz="1200" b="1" lang="en-GB">
                <a:solidFill>
                  <a:schemeClr val="tx2"/>
                </a:solidFill>
              </a:rPr>
              <a:t>Model the variance:</a:t>
            </a:r>
          </a:p>
          <a:p>
            <a:pPr algn="l">
              <a:spcAft>
                <a:spcPts val="100"/>
              </a:spcAft>
            </a:pPr>
            <a:r>
              <a:rPr sz="1200" b="0" lang="en-GB">
                <a:solidFill>
                  <a:schemeClr val="tx1"/>
                </a:solidFill>
              </a:rPr>
              <a:t>heterogeneous-choice logit</a:t>
            </a:r>
          </a:p>
        </p:txBody>
      </p:sp>
      <p:sp>
        <p:nvSpPr>
          <p:cNvPr id="69" name="Scale remedy 3 box"/>
          <p:cNvSpPr/>
          <p:nvPr/>
        </p:nvSpPr>
        <p:spPr>
          <a:xfrm>
            <a:off x="6035040" y="3383280"/>
            <a:ext cx="26517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cale remedy 3 text"/>
          <p:cNvSpPr txBox="1"/>
          <p:nvPr/>
        </p:nvSpPr>
        <p:spPr>
          <a:xfrm>
            <a:off x="6172200" y="3383280"/>
            <a:ext cx="2377440" cy="566928"/>
          </a:xfrm>
          <a:prstGeom prst="rect">
            <a:avLst/>
          </a:prstGeom>
          <a:noFill/>
        </p:spPr>
        <p:txBody>
          <a:bodyPr wrap="square" lIns="0" rIns="0" tIns="0" bIns="0" anchor="ctr">
            <a:noAutofit/>
          </a:bodyPr>
          <a:lstStyle/>
          <a:p>
            <a:pPr algn="l">
              <a:spcAft>
                <a:spcPts val="100"/>
              </a:spcAft>
            </a:pPr>
            <a:r>
              <a:rPr sz="1200" b="1" lang="en-GB">
                <a:solidFill>
                  <a:schemeClr val="tx2"/>
                </a:solidFill>
              </a:rPr>
              <a:t>Nested models:</a:t>
            </a:r>
          </a:p>
          <a:p>
            <a:pPr algn="l">
              <a:spcAft>
                <a:spcPts val="100"/>
              </a:spcAft>
            </a:pPr>
            <a:r>
              <a:rPr sz="1200" b="0" lang="en-GB">
                <a:solidFill>
                  <a:schemeClr val="tx1"/>
                </a:solidFill>
              </a:rPr>
              <a:t>KHB decomposition</a:t>
            </a:r>
          </a:p>
        </p:txBody>
      </p:sp>
      <p:sp>
        <p:nvSpPr>
          <p:cNvPr id="71" name="Scale callout box"/>
          <p:cNvSpPr/>
          <p:nvPr/>
        </p:nvSpPr>
        <p:spPr>
          <a:xfrm>
            <a:off x="457200" y="4041648"/>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cale callout text"/>
          <p:cNvSpPr txBox="1"/>
          <p:nvPr/>
        </p:nvSpPr>
        <p:spPr>
          <a:xfrm>
            <a:off x="658368" y="4041648"/>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Scale, not strategy: </a:t>
            </a:r>
            <a:r>
              <a:rPr sz="1250" b="0" lang="en-GB">
                <a:solidFill>
                  <a:schemeClr val="bg1"/>
                </a:solidFill>
              </a:rPr>
              <a:t>the coefficient is smaller in Spain, the effect on churn is not.</a:t>
            </a:r>
          </a:p>
        </p:txBody>
      </p:sp>
      <p:sp>
        <p:nvSpPr>
          <p:cNvPr id="73"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Allison (1999); Mood (2010); Williams (2009); Karlson et al. (2012); simulated data (telco_churn.csv)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coefficient gap disappears: scale and baseline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flip.png" descr="Month-to-month effect by country with 95 % confidence intervals. Logit coefficients of separate models: Germany 1.19, Austria 1.02, Spain 0.81, Poland 0.90, ranking DE &gt; AT &gt; PL &gt; ES. AMEs in pp: Germany 15.2, Austria 12.3, Spain 17.3, Poland 16.5, ranking ES &gt; PL &gt; DE &gt; AT; the AME gap between Spain and Germany is 2.1 pp (z = 0.90)."/>
          <p:cNvPicPr>
            <a:picLocks noChangeAspect="1"/>
          </p:cNvPicPr>
          <p:nvPr/>
        </p:nvPicPr>
        <p:blipFill>
          <a:blip r:embed="rId3"/>
          <a:stretch>
            <a:fillRect/>
          </a:stretch>
        </p:blipFill>
        <p:spPr>
          <a:xfrm>
            <a:off x="457200" y="1234440"/>
            <a:ext cx="8229600" cy="2148840"/>
          </a:xfrm>
          <a:prstGeom prst="rect">
            <a:avLst/>
          </a:prstGeom>
        </p:spPr>
      </p:pic>
      <p:sp>
        <p:nvSpPr>
          <p:cNvPr id="11" name="Flip note"/>
          <p:cNvSpPr txBox="1"/>
          <p:nvPr/>
        </p:nvSpPr>
        <p:spPr>
          <a:xfrm>
            <a:off x="457200" y="3410712"/>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Lines: 95 % CIs. AME gap Spain − Germany 2.1 pp (z = 0.90): within sampling error</a:t>
            </a:r>
          </a:p>
        </p:txBody>
      </p:sp>
      <p:sp>
        <p:nvSpPr>
          <p:cNvPr id="12" name="Flip reason 1 row"/>
          <p:cNvSpPr/>
          <p:nvPr/>
        </p:nvSpPr>
        <p:spPr>
          <a:xfrm>
            <a:off x="457200" y="37490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lip reason 1 bar"/>
          <p:cNvSpPr/>
          <p:nvPr/>
        </p:nvSpPr>
        <p:spPr>
          <a:xfrm>
            <a:off x="457200" y="37490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Flip reason 1 text"/>
          <p:cNvSpPr txBox="1"/>
          <p:nvPr/>
        </p:nvSpPr>
        <p:spPr>
          <a:xfrm>
            <a:off x="658368" y="37490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more unexplained variation in Spain (1.5 vs 1.0) shrinks its coefficient</a:t>
            </a:r>
          </a:p>
        </p:txBody>
      </p:sp>
      <p:sp>
        <p:nvSpPr>
          <p:cNvPr id="15" name="Flip reason 2 row"/>
          <p:cNvSpPr/>
          <p:nvPr/>
        </p:nvSpPr>
        <p:spPr>
          <a:xfrm>
            <a:off x="457200" y="422452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ip reason 2 bar"/>
          <p:cNvSpPr/>
          <p:nvPr/>
        </p:nvSpPr>
        <p:spPr>
          <a:xfrm>
            <a:off x="457200" y="4224528"/>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lip reason 2 text"/>
          <p:cNvSpPr txBox="1"/>
          <p:nvPr/>
        </p:nvSpPr>
        <p:spPr>
          <a:xfrm>
            <a:off x="658368" y="4224528"/>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Baseline: </a:t>
            </a:r>
            <a:r>
              <a:rPr sz="1200" b="0" lang="en-GB">
                <a:solidFill>
                  <a:schemeClr val="tx1"/>
                </a:solidFill>
              </a:rPr>
              <a:t>34.7 % churn in Spain vs 15.4 % in Germany: nearer 50 %, a steeper S-curve</a:t>
            </a:r>
          </a:p>
        </p:txBody>
      </p:sp>
      <p:sp>
        <p:nvSpPr>
          <p:cNvPr id="1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Long &amp; Mustillo (2021), SMR; simulated data (telco_churn.csv)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Compare scale-free quantities across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free tile 1 tile"/>
          <p:cNvSpPr/>
          <p:nvPr/>
        </p:nvSpPr>
        <p:spPr>
          <a:xfrm>
            <a:off x="457200" y="1234440"/>
            <a:ext cx="2651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free tile 1" descr=""/>
          <p:cNvPicPr>
            <a:picLocks noChangeAspect="1"/>
          </p:cNvPicPr>
          <p:nvPr/>
        </p:nvPicPr>
        <p:blipFill>
          <a:blip r:embed="rId3"/>
          <a:stretch>
            <a:fillRect/>
          </a:stretch>
        </p:blipFill>
        <p:spPr>
          <a:xfrm>
            <a:off x="594360" y="1371600"/>
            <a:ext cx="365760" cy="365760"/>
          </a:xfrm>
          <a:prstGeom prst="rect">
            <a:avLst/>
          </a:prstGeom>
        </p:spPr>
      </p:pic>
      <p:sp>
        <p:nvSpPr>
          <p:cNvPr id="12" name="Scale-free til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AMEs by country</a:t>
            </a:r>
          </a:p>
        </p:txBody>
      </p:sp>
      <p:sp>
        <p:nvSpPr>
          <p:cNvPr id="13" name="Scale-free tile 1 text"/>
          <p:cNvSpPr txBox="1"/>
          <p:nvPr/>
        </p:nvSpPr>
        <p:spPr>
          <a:xfrm>
            <a:off x="594360" y="1856232"/>
            <a:ext cx="2377440" cy="1920240"/>
          </a:xfrm>
          <a:prstGeom prst="rect">
            <a:avLst/>
          </a:prstGeom>
          <a:noFill/>
        </p:spPr>
        <p:txBody>
          <a:bodyPr wrap="square" lIns="0" rIns="0" tIns="0" bIns="0" anchor="t">
            <a:noAutofit/>
          </a:bodyPr>
          <a:lstStyle/>
          <a:p>
            <a:pPr algn="l">
              <a:spcAft>
                <a:spcPts val="400"/>
              </a:spcAft>
            </a:pPr>
            <a:r>
              <a:rPr sz="1300" b="0" lang="en-GB">
                <a:solidFill>
                  <a:schemeClr val="tx1"/>
                </a:solidFill>
              </a:rPr>
              <a:t>One pooled coefficient: </a:t>
            </a:r>
            <a:r>
              <a:rPr sz="1300" b="1" lang="en-GB">
                <a:solidFill>
                  <a:schemeClr val="tx2"/>
                </a:solidFill>
              </a:rPr>
              <a:t>0.96</a:t>
            </a:r>
          </a:p>
          <a:p>
            <a:pPr algn="l">
              <a:spcAft>
                <a:spcPts val="400"/>
              </a:spcAft>
            </a:pPr>
            <a:r>
              <a:rPr sz="1800" b="1" lang="en-GB">
                <a:solidFill>
                  <a:schemeClr val="tx2"/>
                </a:solidFill>
                <a:latin typeface="+mj-lt"/>
              </a:rPr>
              <a:t>Germany  12.4 pp</a:t>
            </a:r>
          </a:p>
          <a:p>
            <a:pPr algn="l">
              <a:spcAft>
                <a:spcPts val="400"/>
              </a:spcAft>
            </a:pPr>
            <a:r>
              <a:rPr sz="1800" b="1" lang="en-GB">
                <a:solidFill>
                  <a:schemeClr val="tx2"/>
                </a:solidFill>
                <a:latin typeface="+mj-lt"/>
              </a:rPr>
              <a:t>Spain  20.1 pp</a:t>
            </a:r>
          </a:p>
          <a:p>
            <a:pPr algn="l">
              <a:spcAft>
                <a:spcPts val="400"/>
              </a:spcAft>
            </a:pPr>
            <a:r>
              <a:rPr sz="1100" b="0" lang="en-GB">
                <a:solidFill>
                  <a:srgbClr val="595959"/>
                </a:solidFill>
              </a:rPr>
              <a:t>pooled slope ignores the scale: overstates the gap (separate models: 15.2 vs 17.3 pp)</a:t>
            </a:r>
          </a:p>
        </p:txBody>
      </p:sp>
      <p:sp>
        <p:nvSpPr>
          <p:cNvPr id="14" name="Scale-free tile 2 tile"/>
          <p:cNvSpPr/>
          <p:nvPr/>
        </p:nvSpPr>
        <p:spPr>
          <a:xfrm>
            <a:off x="3246120" y="1234440"/>
            <a:ext cx="2651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Scale-free tile 2" descr=""/>
          <p:cNvPicPr>
            <a:picLocks noChangeAspect="1"/>
          </p:cNvPicPr>
          <p:nvPr/>
        </p:nvPicPr>
        <p:blipFill>
          <a:blip r:embed="rId4"/>
          <a:stretch>
            <a:fillRect/>
          </a:stretch>
        </p:blipFill>
        <p:spPr>
          <a:xfrm>
            <a:off x="3383280" y="1371600"/>
            <a:ext cx="365760" cy="365760"/>
          </a:xfrm>
          <a:prstGeom prst="rect">
            <a:avLst/>
          </a:prstGeom>
        </p:spPr>
      </p:pic>
      <p:sp>
        <p:nvSpPr>
          <p:cNvPr id="16" name="Scale-free til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Predictions</a:t>
            </a:r>
          </a:p>
        </p:txBody>
      </p:sp>
      <p:sp>
        <p:nvSpPr>
          <p:cNvPr id="17" name="Scale-free tile 2 text"/>
          <p:cNvSpPr txBox="1"/>
          <p:nvPr/>
        </p:nvSpPr>
        <p:spPr>
          <a:xfrm>
            <a:off x="3383280" y="1856232"/>
            <a:ext cx="2377440" cy="1920240"/>
          </a:xfrm>
          <a:prstGeom prst="rect">
            <a:avLst/>
          </a:prstGeom>
          <a:noFill/>
        </p:spPr>
        <p:txBody>
          <a:bodyPr wrap="square" lIns="0" rIns="0" tIns="0" bIns="0" anchor="t">
            <a:noAutofit/>
          </a:bodyPr>
          <a:lstStyle/>
          <a:p>
            <a:pPr algn="l">
              <a:spcAft>
                <a:spcPts val="400"/>
              </a:spcAft>
            </a:pPr>
            <a:r>
              <a:rPr sz="1300" b="0" lang="en-GB">
                <a:solidFill>
                  <a:schemeClr val="tx1"/>
                </a:solidFill>
              </a:rPr>
              <a:t>Separate models; month-to-month, price rise, one complaint, 12 months:</a:t>
            </a:r>
          </a:p>
          <a:p>
            <a:pPr algn="l">
              <a:spcAft>
                <a:spcPts val="400"/>
              </a:spcAft>
            </a:pPr>
            <a:r>
              <a:rPr sz="1800" b="1" lang="en-GB">
                <a:solidFill>
                  <a:schemeClr val="tx2"/>
                </a:solidFill>
                <a:latin typeface="+mj-lt"/>
              </a:rPr>
              <a:t>Germany  38.1 %</a:t>
            </a:r>
          </a:p>
          <a:p>
            <a:pPr algn="l">
              <a:spcAft>
                <a:spcPts val="400"/>
              </a:spcAft>
            </a:pPr>
            <a:r>
              <a:rPr sz="1100" b="0" lang="en-GB">
                <a:solidFill>
                  <a:srgbClr val="595959"/>
                </a:solidFill>
              </a:rPr>
              <a:t>95 % CI 34.1–42.2 %</a:t>
            </a:r>
          </a:p>
          <a:p>
            <a:pPr algn="l">
              <a:spcAft>
                <a:spcPts val="400"/>
              </a:spcAft>
            </a:pPr>
            <a:r>
              <a:rPr sz="1800" b="1" lang="en-GB">
                <a:solidFill>
                  <a:schemeClr val="tx2"/>
                </a:solidFill>
                <a:latin typeface="+mj-lt"/>
              </a:rPr>
              <a:t>Spain  58.0 %</a:t>
            </a:r>
          </a:p>
          <a:p>
            <a:pPr algn="l">
              <a:spcAft>
                <a:spcPts val="400"/>
              </a:spcAft>
            </a:pPr>
            <a:r>
              <a:rPr sz="1100" b="0" lang="en-GB">
                <a:solidFill>
                  <a:srgbClr val="595959"/>
                </a:solidFill>
              </a:rPr>
              <a:t>95 % CI 54.0–62.0 %</a:t>
            </a:r>
          </a:p>
        </p:txBody>
      </p:sp>
      <p:sp>
        <p:nvSpPr>
          <p:cNvPr id="18" name="Scale-free tile 3 tile"/>
          <p:cNvSpPr/>
          <p:nvPr/>
        </p:nvSpPr>
        <p:spPr>
          <a:xfrm>
            <a:off x="6035040" y="1234440"/>
            <a:ext cx="265176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Scale-free tile 3" descr=""/>
          <p:cNvPicPr>
            <a:picLocks noChangeAspect="1"/>
          </p:cNvPicPr>
          <p:nvPr/>
        </p:nvPicPr>
        <p:blipFill>
          <a:blip r:embed="rId5"/>
          <a:stretch>
            <a:fillRect/>
          </a:stretch>
        </p:blipFill>
        <p:spPr>
          <a:xfrm>
            <a:off x="6172200" y="1371600"/>
            <a:ext cx="365760" cy="365760"/>
          </a:xfrm>
          <a:prstGeom prst="rect">
            <a:avLst/>
          </a:prstGeom>
        </p:spPr>
      </p:pic>
      <p:sp>
        <p:nvSpPr>
          <p:cNvPr id="20" name="Scale-free til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Within a model</a:t>
            </a:r>
          </a:p>
        </p:txBody>
      </p:sp>
      <p:sp>
        <p:nvSpPr>
          <p:cNvPr id="21" name="Scale-free tile 3 text"/>
          <p:cNvSpPr txBox="1"/>
          <p:nvPr/>
        </p:nvSpPr>
        <p:spPr>
          <a:xfrm>
            <a:off x="6172200" y="1856232"/>
            <a:ext cx="2377440" cy="1920240"/>
          </a:xfrm>
          <a:prstGeom prst="rect">
            <a:avLst/>
          </a:prstGeom>
          <a:noFill/>
        </p:spPr>
        <p:txBody>
          <a:bodyPr wrap="square" lIns="0" rIns="0" tIns="0" bIns="0" anchor="t">
            <a:noAutofit/>
          </a:bodyPr>
          <a:lstStyle/>
          <a:p>
            <a:pPr algn="l">
              <a:spcAft>
                <a:spcPts val="400"/>
              </a:spcAft>
            </a:pPr>
            <a:r>
              <a:rPr sz="1300" b="1" lang="en-GB">
                <a:solidFill>
                  <a:schemeClr val="tx2"/>
                </a:solidFill>
              </a:rPr>
              <a:t>β(price rise) / β(contract)</a:t>
            </a:r>
          </a:p>
          <a:p>
            <a:pPr algn="l">
              <a:spcAft>
                <a:spcPts val="400"/>
              </a:spcAft>
            </a:pPr>
            <a:r>
              <a:rPr sz="1300" b="0" lang="en-GB">
                <a:solidFill>
                  <a:schemeClr val="tx1"/>
                </a:solidFill>
              </a:rPr>
              <a:t>the ratio cancels the scale</a:t>
            </a:r>
          </a:p>
          <a:p>
            <a:pPr algn="l">
              <a:spcAft>
                <a:spcPts val="400"/>
              </a:spcAft>
            </a:pPr>
            <a:r>
              <a:rPr sz="1300" b="0" lang="en-GB">
                <a:solidFill>
                  <a:schemeClr val="tx1"/>
                </a:solidFill>
              </a:rPr>
              <a:t>like willingness-to-pay ratios in choice experiments</a:t>
            </a:r>
          </a:p>
          <a:p>
            <a:pPr algn="l">
              <a:spcAft>
                <a:spcPts val="400"/>
              </a:spcAft>
            </a:pPr>
            <a:r>
              <a:rPr sz="1100" b="0" lang="en-GB">
                <a:solidFill>
                  <a:srgbClr val="595959"/>
                </a:solidFill>
              </a:rPr>
              <a:t>valid only if the model is right</a:t>
            </a:r>
          </a:p>
        </p:txBody>
      </p:sp>
      <p:sp>
        <p:nvSpPr>
          <p:cNvPr id="22" name="Scale-free callout box"/>
          <p:cNvSpPr/>
          <p:nvPr/>
        </p:nvSpPr>
        <p:spPr>
          <a:xfrm>
            <a:off x="457200" y="40233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free callout text"/>
          <p:cNvSpPr txBox="1"/>
          <p:nvPr/>
        </p:nvSpPr>
        <p:spPr>
          <a:xfrm>
            <a:off x="658368" y="402336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Report on the probability scale: </a:t>
            </a:r>
            <a:r>
              <a:rPr sz="1250" b="0" lang="en-GB">
                <a:solidFill>
                  <a:schemeClr val="bg1"/>
                </a:solidFill>
              </a:rPr>
              <a:t>AMEs and predictions with CIs, by country.</a:t>
            </a:r>
          </a:p>
        </p:txBody>
      </p:sp>
      <p:sp>
        <p:nvSpPr>
          <p:cNvPr id="2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Long &amp; Mustillo (2021), SMR; Swait &amp; Louviere (1993), JMR; simulated data (telco_churn.csv)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effects, interactions, checklist</a:t>
            </a:r>
          </a:p>
        </p:txBody>
      </p:sp>
      <p:sp>
        <p:nvSpPr>
          <p:cNvPr id="3" name="Title 2"/>
          <p:cNvSpPr>
            <a:spLocks noGrp="1"/>
          </p:cNvSpPr>
          <p:nvPr>
            <p:ph type="ctrTitle"/>
          </p:nvPr>
        </p:nvSpPr>
        <p:spPr/>
        <p:txBody>
          <a:bodyPr/>
          <a:lstStyle/>
          <a:p>
            <a:r>
              <a:rPr lang="en-GB"/>
              <a:t>Interpreting and reporting</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pooled churn logit: reading the table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oled table 1-1"/>
          <p:cNvSpPr/>
          <p:nvPr/>
        </p:nvSpPr>
        <p:spPr>
          <a:xfrm>
            <a:off x="457200" y="1234440"/>
            <a:ext cx="212140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oled table text 1-1"/>
          <p:cNvSpPr txBox="1"/>
          <p:nvPr/>
        </p:nvSpPr>
        <p:spPr>
          <a:xfrm>
            <a:off x="548640" y="1234440"/>
            <a:ext cx="1938528" cy="292608"/>
          </a:xfrm>
          <a:prstGeom prst="rect">
            <a:avLst/>
          </a:prstGeom>
          <a:noFill/>
        </p:spPr>
        <p:txBody>
          <a:bodyPr wrap="square" lIns="0" rIns="0" tIns="0" bIns="0" anchor="ctr">
            <a:noAutofit/>
          </a:bodyPr>
          <a:lstStyle/>
          <a:p>
            <a:pPr algn="l">
              <a:spcAft>
                <a:spcPts val="400"/>
              </a:spcAft>
            </a:pPr>
            <a:r>
              <a:rPr sz="1150" b="1" lang="en-GB">
                <a:solidFill>
                  <a:schemeClr val="bg1"/>
                </a:solidFill>
              </a:rPr>
              <a:t>Term</a:t>
            </a:r>
          </a:p>
        </p:txBody>
      </p:sp>
      <p:sp>
        <p:nvSpPr>
          <p:cNvPr id="12" name="Pooled table 1-2"/>
          <p:cNvSpPr/>
          <p:nvPr/>
        </p:nvSpPr>
        <p:spPr>
          <a:xfrm>
            <a:off x="2606040" y="1234440"/>
            <a:ext cx="116128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ooled table text 1-2"/>
          <p:cNvSpPr txBox="1"/>
          <p:nvPr/>
        </p:nvSpPr>
        <p:spPr>
          <a:xfrm>
            <a:off x="2697480" y="1234440"/>
            <a:ext cx="97840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Coefficient</a:t>
            </a:r>
          </a:p>
        </p:txBody>
      </p:sp>
      <p:sp>
        <p:nvSpPr>
          <p:cNvPr id="14" name="Pooled table 1-3"/>
          <p:cNvSpPr/>
          <p:nvPr/>
        </p:nvSpPr>
        <p:spPr>
          <a:xfrm>
            <a:off x="3794760" y="1234440"/>
            <a:ext cx="106984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ooled table text 1-3"/>
          <p:cNvSpPr txBox="1"/>
          <p:nvPr/>
        </p:nvSpPr>
        <p:spPr>
          <a:xfrm>
            <a:off x="3886200" y="1234440"/>
            <a:ext cx="8869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Odds ratio</a:t>
            </a:r>
          </a:p>
        </p:txBody>
      </p:sp>
      <p:sp>
        <p:nvSpPr>
          <p:cNvPr id="16" name="Pooled table 1-4"/>
          <p:cNvSpPr/>
          <p:nvPr/>
        </p:nvSpPr>
        <p:spPr>
          <a:xfrm>
            <a:off x="4892040" y="1234440"/>
            <a:ext cx="82296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ooled table text 1-4"/>
          <p:cNvSpPr txBox="1"/>
          <p:nvPr/>
        </p:nvSpPr>
        <p:spPr>
          <a:xfrm>
            <a:off x="4983480" y="1234440"/>
            <a:ext cx="61264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p</a:t>
            </a:r>
          </a:p>
        </p:txBody>
      </p:sp>
      <p:sp>
        <p:nvSpPr>
          <p:cNvPr id="18" name="Pooled table 2-1"/>
          <p:cNvSpPr/>
          <p:nvPr/>
        </p:nvSpPr>
        <p:spPr>
          <a:xfrm>
            <a:off x="457200" y="1554480"/>
            <a:ext cx="212140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ooled table text 2-1"/>
          <p:cNvSpPr txBox="1"/>
          <p:nvPr/>
        </p:nvSpPr>
        <p:spPr>
          <a:xfrm>
            <a:off x="548640" y="1554480"/>
            <a:ext cx="193852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Month-to-month</a:t>
            </a:r>
          </a:p>
        </p:txBody>
      </p:sp>
      <p:sp>
        <p:nvSpPr>
          <p:cNvPr id="20" name="Pooled table 2-2"/>
          <p:cNvSpPr/>
          <p:nvPr/>
        </p:nvSpPr>
        <p:spPr>
          <a:xfrm>
            <a:off x="2606040" y="1554480"/>
            <a:ext cx="11612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ooled table text 2-2"/>
          <p:cNvSpPr txBox="1"/>
          <p:nvPr/>
        </p:nvSpPr>
        <p:spPr>
          <a:xfrm>
            <a:off x="2697480" y="1554480"/>
            <a:ext cx="97840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0.962</a:t>
            </a:r>
          </a:p>
        </p:txBody>
      </p:sp>
      <p:sp>
        <p:nvSpPr>
          <p:cNvPr id="22" name="Pooled table 2-3"/>
          <p:cNvSpPr/>
          <p:nvPr/>
        </p:nvSpPr>
        <p:spPr>
          <a:xfrm>
            <a:off x="3794760" y="1554480"/>
            <a:ext cx="1069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ooled table text 2-3"/>
          <p:cNvSpPr txBox="1"/>
          <p:nvPr/>
        </p:nvSpPr>
        <p:spPr>
          <a:xfrm>
            <a:off x="3886200" y="15544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2.62</a:t>
            </a:r>
          </a:p>
        </p:txBody>
      </p:sp>
      <p:sp>
        <p:nvSpPr>
          <p:cNvPr id="24" name="Pooled table 2-4"/>
          <p:cNvSpPr/>
          <p:nvPr/>
        </p:nvSpPr>
        <p:spPr>
          <a:xfrm>
            <a:off x="4892040" y="1554480"/>
            <a:ext cx="82296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ooled table text 2-4"/>
          <p:cNvSpPr txBox="1"/>
          <p:nvPr/>
        </p:nvSpPr>
        <p:spPr>
          <a:xfrm>
            <a:off x="4983480" y="1554480"/>
            <a:ext cx="61264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26" name="Pooled table 3-1"/>
          <p:cNvSpPr/>
          <p:nvPr/>
        </p:nvSpPr>
        <p:spPr>
          <a:xfrm>
            <a:off x="457200" y="1874520"/>
            <a:ext cx="212140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ooled table text 3-1"/>
          <p:cNvSpPr txBox="1"/>
          <p:nvPr/>
        </p:nvSpPr>
        <p:spPr>
          <a:xfrm>
            <a:off x="548640" y="1874520"/>
            <a:ext cx="193852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Price rise</a:t>
            </a:r>
          </a:p>
        </p:txBody>
      </p:sp>
      <p:sp>
        <p:nvSpPr>
          <p:cNvPr id="28" name="Pooled table 3-2"/>
          <p:cNvSpPr/>
          <p:nvPr/>
        </p:nvSpPr>
        <p:spPr>
          <a:xfrm>
            <a:off x="2606040" y="1874520"/>
            <a:ext cx="11612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ooled table text 3-2"/>
          <p:cNvSpPr txBox="1"/>
          <p:nvPr/>
        </p:nvSpPr>
        <p:spPr>
          <a:xfrm>
            <a:off x="2697480" y="1874520"/>
            <a:ext cx="97840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0.602</a:t>
            </a:r>
          </a:p>
        </p:txBody>
      </p:sp>
      <p:sp>
        <p:nvSpPr>
          <p:cNvPr id="30" name="Pooled table 3-3"/>
          <p:cNvSpPr/>
          <p:nvPr/>
        </p:nvSpPr>
        <p:spPr>
          <a:xfrm>
            <a:off x="3794760" y="1874520"/>
            <a:ext cx="1069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ooled table text 3-3"/>
          <p:cNvSpPr txBox="1"/>
          <p:nvPr/>
        </p:nvSpPr>
        <p:spPr>
          <a:xfrm>
            <a:off x="3886200" y="18745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1.83</a:t>
            </a:r>
          </a:p>
        </p:txBody>
      </p:sp>
      <p:sp>
        <p:nvSpPr>
          <p:cNvPr id="32" name="Pooled table 3-4"/>
          <p:cNvSpPr/>
          <p:nvPr/>
        </p:nvSpPr>
        <p:spPr>
          <a:xfrm>
            <a:off x="4892040" y="1874520"/>
            <a:ext cx="82296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ooled table text 3-4"/>
          <p:cNvSpPr txBox="1"/>
          <p:nvPr/>
        </p:nvSpPr>
        <p:spPr>
          <a:xfrm>
            <a:off x="4983480" y="1874520"/>
            <a:ext cx="61264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34" name="Pooled table 4-1"/>
          <p:cNvSpPr/>
          <p:nvPr/>
        </p:nvSpPr>
        <p:spPr>
          <a:xfrm>
            <a:off x="457200" y="2194560"/>
            <a:ext cx="212140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ooled table text 4-1"/>
          <p:cNvSpPr txBox="1"/>
          <p:nvPr/>
        </p:nvSpPr>
        <p:spPr>
          <a:xfrm>
            <a:off x="548640" y="2194560"/>
            <a:ext cx="193852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Complaint calls (each)</a:t>
            </a:r>
          </a:p>
        </p:txBody>
      </p:sp>
      <p:sp>
        <p:nvSpPr>
          <p:cNvPr id="36" name="Pooled table 4-2"/>
          <p:cNvSpPr/>
          <p:nvPr/>
        </p:nvSpPr>
        <p:spPr>
          <a:xfrm>
            <a:off x="2606040" y="2194560"/>
            <a:ext cx="11612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ooled table text 4-2"/>
          <p:cNvSpPr txBox="1"/>
          <p:nvPr/>
        </p:nvSpPr>
        <p:spPr>
          <a:xfrm>
            <a:off x="2697480" y="2194560"/>
            <a:ext cx="97840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0.452</a:t>
            </a:r>
          </a:p>
        </p:txBody>
      </p:sp>
      <p:sp>
        <p:nvSpPr>
          <p:cNvPr id="38" name="Pooled table 4-3"/>
          <p:cNvSpPr/>
          <p:nvPr/>
        </p:nvSpPr>
        <p:spPr>
          <a:xfrm>
            <a:off x="3794760" y="2194560"/>
            <a:ext cx="1069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ooled table text 4-3"/>
          <p:cNvSpPr txBox="1"/>
          <p:nvPr/>
        </p:nvSpPr>
        <p:spPr>
          <a:xfrm>
            <a:off x="3886200" y="219456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1.57</a:t>
            </a:r>
          </a:p>
        </p:txBody>
      </p:sp>
      <p:sp>
        <p:nvSpPr>
          <p:cNvPr id="40" name="Pooled table 4-4"/>
          <p:cNvSpPr/>
          <p:nvPr/>
        </p:nvSpPr>
        <p:spPr>
          <a:xfrm>
            <a:off x="4892040" y="2194560"/>
            <a:ext cx="82296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ooled table text 4-4"/>
          <p:cNvSpPr txBox="1"/>
          <p:nvPr/>
        </p:nvSpPr>
        <p:spPr>
          <a:xfrm>
            <a:off x="4983480" y="2194560"/>
            <a:ext cx="61264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42" name="Pooled table 5-1"/>
          <p:cNvSpPr/>
          <p:nvPr/>
        </p:nvSpPr>
        <p:spPr>
          <a:xfrm>
            <a:off x="457200" y="2514600"/>
            <a:ext cx="212140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ooled table text 5-1"/>
          <p:cNvSpPr txBox="1"/>
          <p:nvPr/>
        </p:nvSpPr>
        <p:spPr>
          <a:xfrm>
            <a:off x="548640" y="2514600"/>
            <a:ext cx="193852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ln tenure (months)</a:t>
            </a:r>
          </a:p>
        </p:txBody>
      </p:sp>
      <p:sp>
        <p:nvSpPr>
          <p:cNvPr id="44" name="Pooled table 5-2"/>
          <p:cNvSpPr/>
          <p:nvPr/>
        </p:nvSpPr>
        <p:spPr>
          <a:xfrm>
            <a:off x="2606040" y="2514600"/>
            <a:ext cx="11612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ooled table text 5-2"/>
          <p:cNvSpPr txBox="1"/>
          <p:nvPr/>
        </p:nvSpPr>
        <p:spPr>
          <a:xfrm>
            <a:off x="2697480" y="2514600"/>
            <a:ext cx="97840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−0.240</a:t>
            </a:r>
          </a:p>
        </p:txBody>
      </p:sp>
      <p:sp>
        <p:nvSpPr>
          <p:cNvPr id="46" name="Pooled table 5-3"/>
          <p:cNvSpPr/>
          <p:nvPr/>
        </p:nvSpPr>
        <p:spPr>
          <a:xfrm>
            <a:off x="3794760" y="2514600"/>
            <a:ext cx="1069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ooled table text 5-3"/>
          <p:cNvSpPr txBox="1"/>
          <p:nvPr/>
        </p:nvSpPr>
        <p:spPr>
          <a:xfrm>
            <a:off x="3886200" y="251460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0.79</a:t>
            </a:r>
          </a:p>
        </p:txBody>
      </p:sp>
      <p:sp>
        <p:nvSpPr>
          <p:cNvPr id="48" name="Pooled table 5-4"/>
          <p:cNvSpPr/>
          <p:nvPr/>
        </p:nvSpPr>
        <p:spPr>
          <a:xfrm>
            <a:off x="4892040" y="2514600"/>
            <a:ext cx="82296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ooled table text 5-4"/>
          <p:cNvSpPr txBox="1"/>
          <p:nvPr/>
        </p:nvSpPr>
        <p:spPr>
          <a:xfrm>
            <a:off x="4983480" y="2514600"/>
            <a:ext cx="61264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50" name="Pooled table 6-1"/>
          <p:cNvSpPr/>
          <p:nvPr/>
        </p:nvSpPr>
        <p:spPr>
          <a:xfrm>
            <a:off x="457200" y="2834640"/>
            <a:ext cx="212140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ooled table text 6-1"/>
          <p:cNvSpPr txBox="1"/>
          <p:nvPr/>
        </p:nvSpPr>
        <p:spPr>
          <a:xfrm>
            <a:off x="548640" y="2834640"/>
            <a:ext cx="193852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Austria (vs Germany)</a:t>
            </a:r>
          </a:p>
        </p:txBody>
      </p:sp>
      <p:sp>
        <p:nvSpPr>
          <p:cNvPr id="52" name="Pooled table 6-2"/>
          <p:cNvSpPr/>
          <p:nvPr/>
        </p:nvSpPr>
        <p:spPr>
          <a:xfrm>
            <a:off x="2606040" y="2834640"/>
            <a:ext cx="11612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ooled table text 6-2"/>
          <p:cNvSpPr txBox="1"/>
          <p:nvPr/>
        </p:nvSpPr>
        <p:spPr>
          <a:xfrm>
            <a:off x="2697480" y="2834640"/>
            <a:ext cx="97840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−0.010</a:t>
            </a:r>
          </a:p>
        </p:txBody>
      </p:sp>
      <p:sp>
        <p:nvSpPr>
          <p:cNvPr id="54" name="Pooled table 6-3"/>
          <p:cNvSpPr/>
          <p:nvPr/>
        </p:nvSpPr>
        <p:spPr>
          <a:xfrm>
            <a:off x="3794760" y="2834640"/>
            <a:ext cx="1069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ooled table text 6-3"/>
          <p:cNvSpPr txBox="1"/>
          <p:nvPr/>
        </p:nvSpPr>
        <p:spPr>
          <a:xfrm>
            <a:off x="3886200" y="283464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0.99</a:t>
            </a:r>
          </a:p>
        </p:txBody>
      </p:sp>
      <p:sp>
        <p:nvSpPr>
          <p:cNvPr id="56" name="Pooled table 6-4"/>
          <p:cNvSpPr/>
          <p:nvPr/>
        </p:nvSpPr>
        <p:spPr>
          <a:xfrm>
            <a:off x="4892040" y="2834640"/>
            <a:ext cx="82296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ooled table text 6-4"/>
          <p:cNvSpPr txBox="1"/>
          <p:nvPr/>
        </p:nvSpPr>
        <p:spPr>
          <a:xfrm>
            <a:off x="4983480" y="2834640"/>
            <a:ext cx="61264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0.907</a:t>
            </a:r>
          </a:p>
        </p:txBody>
      </p:sp>
      <p:sp>
        <p:nvSpPr>
          <p:cNvPr id="58" name="Pooled table 7-1"/>
          <p:cNvSpPr/>
          <p:nvPr/>
        </p:nvSpPr>
        <p:spPr>
          <a:xfrm>
            <a:off x="457200" y="3154680"/>
            <a:ext cx="212140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Pooled table text 7-1"/>
          <p:cNvSpPr txBox="1"/>
          <p:nvPr/>
        </p:nvSpPr>
        <p:spPr>
          <a:xfrm>
            <a:off x="548640" y="3154680"/>
            <a:ext cx="193852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Spain (vs Germany)</a:t>
            </a:r>
          </a:p>
        </p:txBody>
      </p:sp>
      <p:sp>
        <p:nvSpPr>
          <p:cNvPr id="60" name="Pooled table 7-2"/>
          <p:cNvSpPr/>
          <p:nvPr/>
        </p:nvSpPr>
        <p:spPr>
          <a:xfrm>
            <a:off x="2606040" y="3154680"/>
            <a:ext cx="11612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Pooled table text 7-2"/>
          <p:cNvSpPr txBox="1"/>
          <p:nvPr/>
        </p:nvSpPr>
        <p:spPr>
          <a:xfrm>
            <a:off x="2697480" y="3154680"/>
            <a:ext cx="97840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1.057</a:t>
            </a:r>
          </a:p>
        </p:txBody>
      </p:sp>
      <p:sp>
        <p:nvSpPr>
          <p:cNvPr id="62" name="Pooled table 7-3"/>
          <p:cNvSpPr/>
          <p:nvPr/>
        </p:nvSpPr>
        <p:spPr>
          <a:xfrm>
            <a:off x="3794760" y="3154680"/>
            <a:ext cx="1069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Pooled table text 7-3"/>
          <p:cNvSpPr txBox="1"/>
          <p:nvPr/>
        </p:nvSpPr>
        <p:spPr>
          <a:xfrm>
            <a:off x="3886200" y="31546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2.88</a:t>
            </a:r>
          </a:p>
        </p:txBody>
      </p:sp>
      <p:sp>
        <p:nvSpPr>
          <p:cNvPr id="64" name="Pooled table 7-4"/>
          <p:cNvSpPr/>
          <p:nvPr/>
        </p:nvSpPr>
        <p:spPr>
          <a:xfrm>
            <a:off x="4892040" y="3154680"/>
            <a:ext cx="82296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Pooled table text 7-4"/>
          <p:cNvSpPr txBox="1"/>
          <p:nvPr/>
        </p:nvSpPr>
        <p:spPr>
          <a:xfrm>
            <a:off x="4983480" y="3154680"/>
            <a:ext cx="61264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66" name="Pooled table 8-1"/>
          <p:cNvSpPr/>
          <p:nvPr/>
        </p:nvSpPr>
        <p:spPr>
          <a:xfrm>
            <a:off x="457200" y="3474720"/>
            <a:ext cx="212140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Pooled table text 8-1"/>
          <p:cNvSpPr txBox="1"/>
          <p:nvPr/>
        </p:nvSpPr>
        <p:spPr>
          <a:xfrm>
            <a:off x="548640" y="3474720"/>
            <a:ext cx="193852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Poland (vs Germany)</a:t>
            </a:r>
          </a:p>
        </p:txBody>
      </p:sp>
      <p:sp>
        <p:nvSpPr>
          <p:cNvPr id="68" name="Pooled table 8-2"/>
          <p:cNvSpPr/>
          <p:nvPr/>
        </p:nvSpPr>
        <p:spPr>
          <a:xfrm>
            <a:off x="2606040" y="3474720"/>
            <a:ext cx="11612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Pooled table text 8-2"/>
          <p:cNvSpPr txBox="1"/>
          <p:nvPr/>
        </p:nvSpPr>
        <p:spPr>
          <a:xfrm>
            <a:off x="2697480" y="3474720"/>
            <a:ext cx="97840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0.618</a:t>
            </a:r>
          </a:p>
        </p:txBody>
      </p:sp>
      <p:sp>
        <p:nvSpPr>
          <p:cNvPr id="70" name="Pooled table 8-3"/>
          <p:cNvSpPr/>
          <p:nvPr/>
        </p:nvSpPr>
        <p:spPr>
          <a:xfrm>
            <a:off x="3794760" y="3474720"/>
            <a:ext cx="1069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Pooled table text 8-3"/>
          <p:cNvSpPr txBox="1"/>
          <p:nvPr/>
        </p:nvSpPr>
        <p:spPr>
          <a:xfrm>
            <a:off x="3886200" y="34747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1.86</a:t>
            </a:r>
          </a:p>
        </p:txBody>
      </p:sp>
      <p:sp>
        <p:nvSpPr>
          <p:cNvPr id="72" name="Pooled table 8-4"/>
          <p:cNvSpPr/>
          <p:nvPr/>
        </p:nvSpPr>
        <p:spPr>
          <a:xfrm>
            <a:off x="4892040" y="3474720"/>
            <a:ext cx="82296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Pooled table text 8-4"/>
          <p:cNvSpPr txBox="1"/>
          <p:nvPr/>
        </p:nvSpPr>
        <p:spPr>
          <a:xfrm>
            <a:off x="4983480" y="3474720"/>
            <a:ext cx="61264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74" name="Pooled table 9-1"/>
          <p:cNvSpPr/>
          <p:nvPr/>
        </p:nvSpPr>
        <p:spPr>
          <a:xfrm>
            <a:off x="457200" y="3794760"/>
            <a:ext cx="212140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Pooled table text 9-1"/>
          <p:cNvSpPr txBox="1"/>
          <p:nvPr/>
        </p:nvSpPr>
        <p:spPr>
          <a:xfrm>
            <a:off x="548640" y="3794760"/>
            <a:ext cx="193852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76" name="Pooled table 9-2"/>
          <p:cNvSpPr/>
          <p:nvPr/>
        </p:nvSpPr>
        <p:spPr>
          <a:xfrm>
            <a:off x="2606040" y="3794760"/>
            <a:ext cx="11612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Pooled table text 9-2"/>
          <p:cNvSpPr txBox="1"/>
          <p:nvPr/>
        </p:nvSpPr>
        <p:spPr>
          <a:xfrm>
            <a:off x="2697480" y="3794760"/>
            <a:ext cx="97840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−2.036</a:t>
            </a:r>
          </a:p>
        </p:txBody>
      </p:sp>
      <p:sp>
        <p:nvSpPr>
          <p:cNvPr id="78" name="Pooled table 9-3"/>
          <p:cNvSpPr/>
          <p:nvPr/>
        </p:nvSpPr>
        <p:spPr>
          <a:xfrm>
            <a:off x="3794760" y="3794760"/>
            <a:ext cx="1069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Pooled table text 9-3"/>
          <p:cNvSpPr txBox="1"/>
          <p:nvPr/>
        </p:nvSpPr>
        <p:spPr>
          <a:xfrm>
            <a:off x="3886200" y="379476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0.13</a:t>
            </a:r>
          </a:p>
        </p:txBody>
      </p:sp>
      <p:sp>
        <p:nvSpPr>
          <p:cNvPr id="80" name="Pooled table 9-4"/>
          <p:cNvSpPr/>
          <p:nvPr/>
        </p:nvSpPr>
        <p:spPr>
          <a:xfrm>
            <a:off x="4892040" y="3794760"/>
            <a:ext cx="82296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Pooled table text 9-4"/>
          <p:cNvSpPr txBox="1"/>
          <p:nvPr/>
        </p:nvSpPr>
        <p:spPr>
          <a:xfrm>
            <a:off x="4983480" y="3794760"/>
            <a:ext cx="61264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82" name="Table reading 1 row"/>
          <p:cNvSpPr/>
          <p:nvPr/>
        </p:nvSpPr>
        <p:spPr>
          <a:xfrm>
            <a:off x="5852160" y="1234440"/>
            <a:ext cx="2834640" cy="8595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able reading 1 bar"/>
          <p:cNvSpPr/>
          <p:nvPr/>
        </p:nvSpPr>
        <p:spPr>
          <a:xfrm>
            <a:off x="5852160" y="1234440"/>
            <a:ext cx="64008" cy="8595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able reading 1 text"/>
          <p:cNvSpPr txBox="1"/>
          <p:nvPr/>
        </p:nvSpPr>
        <p:spPr>
          <a:xfrm>
            <a:off x="6053328" y="1234440"/>
            <a:ext cx="2542032" cy="859536"/>
          </a:xfrm>
          <a:prstGeom prst="rect">
            <a:avLst/>
          </a:prstGeom>
          <a:noFill/>
        </p:spPr>
        <p:txBody>
          <a:bodyPr wrap="square" lIns="0" rIns="0" tIns="0" bIns="0" anchor="ctr">
            <a:noAutofit/>
          </a:bodyPr>
          <a:lstStyle/>
          <a:p>
            <a:pPr algn="l">
              <a:spcAft>
                <a:spcPts val="400"/>
              </a:spcAft>
            </a:pPr>
            <a:r>
              <a:rPr sz="1200" b="1" lang="en-GB">
                <a:solidFill>
                  <a:schemeClr val="tx2"/>
                </a:solidFill>
              </a:rPr>
              <a:t>Complaint calls, OR 1.57: </a:t>
            </a:r>
            <a:r>
              <a:rPr sz="1200" b="0" lang="en-GB">
                <a:solidFill>
                  <a:schemeClr val="tx1"/>
                </a:solidFill>
              </a:rPr>
              <a:t>each call raises the odds of churn by 57 %</a:t>
            </a:r>
          </a:p>
        </p:txBody>
      </p:sp>
      <p:sp>
        <p:nvSpPr>
          <p:cNvPr id="85" name="Table reading 2 row"/>
          <p:cNvSpPr/>
          <p:nvPr/>
        </p:nvSpPr>
        <p:spPr>
          <a:xfrm>
            <a:off x="5852160" y="2231136"/>
            <a:ext cx="2834640" cy="8595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able reading 2 bar"/>
          <p:cNvSpPr/>
          <p:nvPr/>
        </p:nvSpPr>
        <p:spPr>
          <a:xfrm>
            <a:off x="5852160" y="2231136"/>
            <a:ext cx="64008" cy="8595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able reading 2 text"/>
          <p:cNvSpPr txBox="1"/>
          <p:nvPr/>
        </p:nvSpPr>
        <p:spPr>
          <a:xfrm>
            <a:off x="6053328" y="2231136"/>
            <a:ext cx="2542032" cy="859536"/>
          </a:xfrm>
          <a:prstGeom prst="rect">
            <a:avLst/>
          </a:prstGeom>
          <a:noFill/>
        </p:spPr>
        <p:txBody>
          <a:bodyPr wrap="square" lIns="0" rIns="0" tIns="0" bIns="0" anchor="ctr">
            <a:noAutofit/>
          </a:bodyPr>
          <a:lstStyle/>
          <a:p>
            <a:pPr algn="l">
              <a:spcAft>
                <a:spcPts val="400"/>
              </a:spcAft>
            </a:pPr>
            <a:r>
              <a:rPr sz="1200" b="1" lang="en-GB">
                <a:solidFill>
                  <a:schemeClr val="tx2"/>
                </a:solidFill>
              </a:rPr>
              <a:t>Tenure, OR 0.85: </a:t>
            </a:r>
            <a:r>
              <a:rPr sz="1200" b="0" lang="en-GB">
                <a:solidFill>
                  <a:schemeClr val="tx1"/>
                </a:solidFill>
              </a:rPr>
              <a:t>doubling tenure lowers the odds by 15 %</a:t>
            </a:r>
          </a:p>
        </p:txBody>
      </p:sp>
      <p:sp>
        <p:nvSpPr>
          <p:cNvPr id="88" name="Table reading 3 row"/>
          <p:cNvSpPr/>
          <p:nvPr/>
        </p:nvSpPr>
        <p:spPr>
          <a:xfrm>
            <a:off x="5852160" y="3227832"/>
            <a:ext cx="2834640" cy="8595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able reading 3 bar"/>
          <p:cNvSpPr/>
          <p:nvPr/>
        </p:nvSpPr>
        <p:spPr>
          <a:xfrm>
            <a:off x="5852160" y="3227832"/>
            <a:ext cx="64008" cy="8595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able reading 3 text"/>
          <p:cNvSpPr txBox="1"/>
          <p:nvPr/>
        </p:nvSpPr>
        <p:spPr>
          <a:xfrm>
            <a:off x="6053328" y="3227832"/>
            <a:ext cx="2542032" cy="859536"/>
          </a:xfrm>
          <a:prstGeom prst="rect">
            <a:avLst/>
          </a:prstGeom>
          <a:noFill/>
        </p:spPr>
        <p:txBody>
          <a:bodyPr wrap="square" lIns="0" rIns="0" tIns="0" bIns="0" anchor="ctr">
            <a:noAutofit/>
          </a:bodyPr>
          <a:lstStyle/>
          <a:p>
            <a:pPr algn="l">
              <a:spcAft>
                <a:spcPts val="400"/>
              </a:spcAft>
            </a:pPr>
            <a:r>
              <a:rPr sz="1200" b="1" lang="en-GB">
                <a:solidFill>
                  <a:schemeClr val="tx2"/>
                </a:solidFill>
              </a:rPr>
              <a:t>Fit, pseudo-R² 0.128: </a:t>
            </a:r>
            <a:r>
              <a:rPr sz="1200" b="0" lang="en-GB">
                <a:solidFill>
                  <a:schemeClr val="tx1"/>
                </a:solidFill>
              </a:rPr>
              <a:t>McFadden; fine for a churn model, not a quality score</a:t>
            </a:r>
          </a:p>
        </p:txBody>
      </p:sp>
      <p:sp>
        <p:nvSpPr>
          <p:cNvPr id="91" name="Table callout box"/>
          <p:cNvSpPr/>
          <p:nvPr/>
        </p:nvSpPr>
        <p:spPr>
          <a:xfrm>
            <a:off x="457200" y="42062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able callout text"/>
          <p:cNvSpPr txBox="1"/>
          <p:nvPr/>
        </p:nvSpPr>
        <p:spPr>
          <a:xfrm>
            <a:off x="658368" y="420624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The table answers “which way, how precise”; </a:t>
            </a:r>
            <a:r>
              <a:rPr sz="1250" b="0" lang="en-GB">
                <a:solidFill>
                  <a:schemeClr val="bg1"/>
                </a:solidFill>
              </a:rPr>
              <a:t>“how many pp” needs the next slides.</a:t>
            </a:r>
          </a:p>
        </p:txBody>
      </p:sp>
      <p:sp>
        <p:nvSpPr>
          <p:cNvPr id="9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pooled logit with country dummies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quantities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ntity 1 body"/>
          <p:cNvSpPr/>
          <p:nvPr/>
        </p:nvSpPr>
        <p:spPr>
          <a:xfrm>
            <a:off x="457200" y="169164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antity 1 header"/>
          <p:cNvSpPr/>
          <p:nvPr/>
        </p:nvSpPr>
        <p:spPr>
          <a:xfrm>
            <a:off x="45720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antity 1 heading"/>
          <p:cNvSpPr txBox="1"/>
          <p:nvPr/>
        </p:nvSpPr>
        <p:spPr>
          <a:xfrm>
            <a:off x="594360" y="1234440"/>
            <a:ext cx="196596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Odds ratio</a:t>
            </a:r>
          </a:p>
        </p:txBody>
      </p:sp>
      <p:pic>
        <p:nvPicPr>
          <p:cNvPr id="13" name="Icon Quantity 1" descr=""/>
          <p:cNvPicPr>
            <a:picLocks noChangeAspect="1"/>
          </p:cNvPicPr>
          <p:nvPr/>
        </p:nvPicPr>
        <p:blipFill>
          <a:blip r:embed="rId3"/>
          <a:stretch>
            <a:fillRect/>
          </a:stretch>
        </p:blipFill>
        <p:spPr>
          <a:xfrm>
            <a:off x="2670048" y="1307592"/>
            <a:ext cx="310896" cy="310896"/>
          </a:xfrm>
          <a:prstGeom prst="rect">
            <a:avLst/>
          </a:prstGeom>
        </p:spPr>
      </p:pic>
      <p:sp>
        <p:nvSpPr>
          <p:cNvPr id="14" name="Quantity 1 text"/>
          <p:cNvSpPr txBox="1"/>
          <p:nvPr/>
        </p:nvSpPr>
        <p:spPr>
          <a:xfrm>
            <a:off x="621792" y="1828800"/>
            <a:ext cx="2350008" cy="1645920"/>
          </a:xfrm>
          <a:prstGeom prst="rect">
            <a:avLst/>
          </a:prstGeom>
          <a:noFill/>
        </p:spPr>
        <p:txBody>
          <a:bodyPr wrap="square" lIns="0" rIns="0" tIns="0" bIns="0" anchor="t">
            <a:noAutofit/>
          </a:bodyPr>
          <a:lstStyle/>
          <a:p>
            <a:pPr algn="l">
              <a:spcAft>
                <a:spcPts val="600"/>
              </a:spcAft>
            </a:pPr>
            <a:r>
              <a:rPr sz="1300" b="1" lang="en-GB">
                <a:solidFill>
                  <a:schemeClr val="tx2"/>
                </a:solidFill>
              </a:rPr>
              <a:t>What: </a:t>
            </a:r>
            <a:r>
              <a:rPr sz="1300" b="0" lang="en-GB">
                <a:solidFill>
                  <a:schemeClr val="tx1"/>
                </a:solidFill>
              </a:rPr>
              <a:t>multiplies the odds</a:t>
            </a:r>
          </a:p>
          <a:p>
            <a:pPr algn="l">
              <a:spcAft>
                <a:spcPts val="600"/>
              </a:spcAft>
            </a:pPr>
            <a:r>
              <a:rPr sz="1300" b="1" lang="en-GB">
                <a:solidFill>
                  <a:schemeClr val="tx2"/>
                </a:solidFill>
              </a:rPr>
              <a:t>Use: </a:t>
            </a:r>
            <a:r>
              <a:rPr sz="1300" b="0" lang="en-GB">
                <a:solidFill>
                  <a:schemeClr val="tx1"/>
                </a:solidFill>
              </a:rPr>
              <a:t>within one model</a:t>
            </a:r>
          </a:p>
          <a:p>
            <a:pPr algn="l">
              <a:spcAft>
                <a:spcPts val="600"/>
              </a:spcAft>
            </a:pPr>
            <a:r>
              <a:rPr sz="1300" b="1" lang="en-GB">
                <a:solidFill>
                  <a:schemeClr val="tx2"/>
                </a:solidFill>
              </a:rPr>
              <a:t>Trap: </a:t>
            </a:r>
            <a:r>
              <a:rPr sz="1300" b="0" lang="en-GB">
                <a:solidFill>
                  <a:schemeClr val="tx1"/>
                </a:solidFill>
              </a:rPr>
              <a:t>misleads when churn is common</a:t>
            </a:r>
          </a:p>
          <a:p>
            <a:pPr algn="l">
              <a:spcAft>
                <a:spcPts val="600"/>
              </a:spcAft>
            </a:pPr>
            <a:r>
              <a:rPr sz="1300" b="1" lang="en-GB">
                <a:solidFill>
                  <a:schemeClr val="tx2"/>
                </a:solidFill>
              </a:rPr>
              <a:t>Example: </a:t>
            </a:r>
            <a:r>
              <a:rPr sz="1300" b="0" lang="en-GB">
                <a:solidFill>
                  <a:schemeClr val="tx1"/>
                </a:solidFill>
              </a:rPr>
              <a:t>month-to-month OR 2.62</a:t>
            </a:r>
          </a:p>
        </p:txBody>
      </p:sp>
      <p:sp>
        <p:nvSpPr>
          <p:cNvPr id="15" name="Quantity 2 body"/>
          <p:cNvSpPr/>
          <p:nvPr/>
        </p:nvSpPr>
        <p:spPr>
          <a:xfrm>
            <a:off x="3246120" y="169164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antity 2 header"/>
          <p:cNvSpPr/>
          <p:nvPr/>
        </p:nvSpPr>
        <p:spPr>
          <a:xfrm>
            <a:off x="324612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antity 2 heading"/>
          <p:cNvSpPr txBox="1"/>
          <p:nvPr/>
        </p:nvSpPr>
        <p:spPr>
          <a:xfrm>
            <a:off x="3383280" y="1234440"/>
            <a:ext cx="196596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Marginal effect</a:t>
            </a:r>
          </a:p>
        </p:txBody>
      </p:sp>
      <p:pic>
        <p:nvPicPr>
          <p:cNvPr id="18" name="Icon Quantity 2" descr=""/>
          <p:cNvPicPr>
            <a:picLocks noChangeAspect="1"/>
          </p:cNvPicPr>
          <p:nvPr/>
        </p:nvPicPr>
        <p:blipFill>
          <a:blip r:embed="rId4"/>
          <a:stretch>
            <a:fillRect/>
          </a:stretch>
        </p:blipFill>
        <p:spPr>
          <a:xfrm>
            <a:off x="5458968" y="1307592"/>
            <a:ext cx="310896" cy="310896"/>
          </a:xfrm>
          <a:prstGeom prst="rect">
            <a:avLst/>
          </a:prstGeom>
        </p:spPr>
      </p:pic>
      <p:sp>
        <p:nvSpPr>
          <p:cNvPr id="19" name="Quantity 2 text"/>
          <p:cNvSpPr txBox="1"/>
          <p:nvPr/>
        </p:nvSpPr>
        <p:spPr>
          <a:xfrm>
            <a:off x="3410712" y="1828800"/>
            <a:ext cx="2350008" cy="1645920"/>
          </a:xfrm>
          <a:prstGeom prst="rect">
            <a:avLst/>
          </a:prstGeom>
          <a:noFill/>
        </p:spPr>
        <p:txBody>
          <a:bodyPr wrap="square" lIns="0" rIns="0" tIns="0" bIns="0" anchor="t">
            <a:noAutofit/>
          </a:bodyPr>
          <a:lstStyle/>
          <a:p>
            <a:pPr algn="l">
              <a:spcAft>
                <a:spcPts val="600"/>
              </a:spcAft>
            </a:pPr>
            <a:r>
              <a:rPr sz="1300" b="1" lang="en-GB">
                <a:solidFill>
                  <a:schemeClr val="tx2"/>
                </a:solidFill>
              </a:rPr>
              <a:t>What: </a:t>
            </a:r>
            <a:r>
              <a:rPr sz="1300" b="0" lang="en-GB">
                <a:solidFill>
                  <a:schemeClr val="tx1"/>
                </a:solidFill>
              </a:rPr>
              <a:t>average change in churn probability, in pp</a:t>
            </a:r>
          </a:p>
          <a:p>
            <a:pPr algn="l">
              <a:spcAft>
                <a:spcPts val="600"/>
              </a:spcAft>
            </a:pPr>
            <a:r>
              <a:rPr sz="1300" b="1" lang="en-GB">
                <a:solidFill>
                  <a:schemeClr val="tx2"/>
                </a:solidFill>
              </a:rPr>
              <a:t>Use: </a:t>
            </a:r>
            <a:r>
              <a:rPr sz="1300" b="0" lang="en-GB">
                <a:solidFill>
                  <a:schemeClr val="tx1"/>
                </a:solidFill>
              </a:rPr>
              <a:t>across models and countries</a:t>
            </a:r>
          </a:p>
          <a:p>
            <a:pPr algn="l">
              <a:spcAft>
                <a:spcPts val="600"/>
              </a:spcAft>
            </a:pPr>
            <a:r>
              <a:rPr sz="1300" b="1" lang="en-GB">
                <a:solidFill>
                  <a:schemeClr val="tx2"/>
                </a:solidFill>
              </a:rPr>
              <a:t>Example: </a:t>
            </a:r>
            <a:r>
              <a:rPr sz="1300" b="0" lang="en-GB">
                <a:solidFill>
                  <a:schemeClr val="tx1"/>
                </a:solidFill>
              </a:rPr>
              <a:t>month-to-month +14.2 pp (DE), +17.9 pp (ES), slide 35</a:t>
            </a:r>
          </a:p>
        </p:txBody>
      </p:sp>
      <p:sp>
        <p:nvSpPr>
          <p:cNvPr id="20" name="Quantity 3 body"/>
          <p:cNvSpPr/>
          <p:nvPr/>
        </p:nvSpPr>
        <p:spPr>
          <a:xfrm>
            <a:off x="6035040" y="1691640"/>
            <a:ext cx="26517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antity 3 header"/>
          <p:cNvSpPr/>
          <p:nvPr/>
        </p:nvSpPr>
        <p:spPr>
          <a:xfrm>
            <a:off x="603504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antity 3 heading"/>
          <p:cNvSpPr txBox="1"/>
          <p:nvPr/>
        </p:nvSpPr>
        <p:spPr>
          <a:xfrm>
            <a:off x="6172200" y="1234440"/>
            <a:ext cx="196596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Prediction</a:t>
            </a:r>
          </a:p>
        </p:txBody>
      </p:sp>
      <p:pic>
        <p:nvPicPr>
          <p:cNvPr id="23" name="Icon Quantity 3" descr=""/>
          <p:cNvPicPr>
            <a:picLocks noChangeAspect="1"/>
          </p:cNvPicPr>
          <p:nvPr/>
        </p:nvPicPr>
        <p:blipFill>
          <a:blip r:embed="rId5"/>
          <a:stretch>
            <a:fillRect/>
          </a:stretch>
        </p:blipFill>
        <p:spPr>
          <a:xfrm>
            <a:off x="8247888" y="1307592"/>
            <a:ext cx="310896" cy="310896"/>
          </a:xfrm>
          <a:prstGeom prst="rect">
            <a:avLst/>
          </a:prstGeom>
        </p:spPr>
      </p:pic>
      <p:sp>
        <p:nvSpPr>
          <p:cNvPr id="24" name="Quantity 3 text"/>
          <p:cNvSpPr txBox="1"/>
          <p:nvPr/>
        </p:nvSpPr>
        <p:spPr>
          <a:xfrm>
            <a:off x="6199632" y="1828800"/>
            <a:ext cx="2350008" cy="1645920"/>
          </a:xfrm>
          <a:prstGeom prst="rect">
            <a:avLst/>
          </a:prstGeom>
          <a:noFill/>
        </p:spPr>
        <p:txBody>
          <a:bodyPr wrap="square" lIns="0" rIns="0" tIns="0" bIns="0" anchor="t">
            <a:noAutofit/>
          </a:bodyPr>
          <a:lstStyle/>
          <a:p>
            <a:pPr algn="l">
              <a:spcAft>
                <a:spcPts val="600"/>
              </a:spcAft>
            </a:pPr>
            <a:r>
              <a:rPr sz="1300" b="1" lang="en-GB">
                <a:solidFill>
                  <a:schemeClr val="tx2"/>
                </a:solidFill>
              </a:rPr>
              <a:t>What: </a:t>
            </a:r>
            <a:r>
              <a:rPr sz="1300" b="0" lang="en-GB">
                <a:solidFill>
                  <a:schemeClr val="tx1"/>
                </a:solidFill>
              </a:rPr>
              <a:t>churn probability for a profile</a:t>
            </a:r>
          </a:p>
          <a:p>
            <a:pPr algn="l">
              <a:spcAft>
                <a:spcPts val="600"/>
              </a:spcAft>
            </a:pPr>
            <a:r>
              <a:rPr sz="1300" b="1" lang="en-GB">
                <a:solidFill>
                  <a:schemeClr val="tx2"/>
                </a:solidFill>
              </a:rPr>
              <a:t>Use: </a:t>
            </a:r>
            <a:r>
              <a:rPr sz="1300" b="0" lang="en-GB">
                <a:solidFill>
                  <a:schemeClr val="tx1"/>
                </a:solidFill>
              </a:rPr>
              <a:t>talking to managers</a:t>
            </a:r>
          </a:p>
          <a:p>
            <a:pPr algn="l">
              <a:spcAft>
                <a:spcPts val="600"/>
              </a:spcAft>
            </a:pPr>
            <a:r>
              <a:rPr sz="1300" b="1" lang="en-GB">
                <a:solidFill>
                  <a:schemeClr val="tx2"/>
                </a:solidFill>
              </a:rPr>
              <a:t>Example: </a:t>
            </a:r>
            <a:r>
              <a:rPr sz="1300" b="0" lang="en-GB">
                <a:solidFill>
                  <a:schemeClr val="tx1"/>
                </a:solidFill>
              </a:rPr>
              <a:t>38.1 % [34.1, 42.2] (DE), 58.0 % (ES), slide 30</a:t>
            </a:r>
          </a:p>
        </p:txBody>
      </p:sp>
      <p:sp>
        <p:nvSpPr>
          <p:cNvPr id="25" name="Quantity callout box"/>
          <p:cNvSpPr/>
          <p:nvPr/>
        </p:nvSpPr>
        <p:spPr>
          <a:xfrm>
            <a:off x="457200" y="37490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antity callout text"/>
          <p:cNvSpPr txBox="1"/>
          <p:nvPr/>
        </p:nvSpPr>
        <p:spPr>
          <a:xfrm>
            <a:off x="658368" y="374904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Standard: </a:t>
            </a:r>
            <a:r>
              <a:rPr sz="1250" b="0" lang="en-GB">
                <a:solidFill>
                  <a:schemeClr val="bg1"/>
                </a:solidFill>
              </a:rPr>
              <a:t>AMEs and predictions with confidence intervals; odds ratios stay in the table.</a:t>
            </a:r>
          </a:p>
        </p:txBody>
      </p:sp>
      <p:sp>
        <p:nvSpPr>
          <p:cNvPr id="27"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Hoetker (2007); Wiersema &amp; Bowen (2009); Zelner (2009); Arel-Bundock (2026); simulated data (telco_churn.csv)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Interactions: the product term is not the effect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teraction card body"/>
          <p:cNvSpPr/>
          <p:nvPr/>
        </p:nvSpPr>
        <p:spPr>
          <a:xfrm>
            <a:off x="457200" y="1691640"/>
            <a:ext cx="4046220"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teraction card header"/>
          <p:cNvSpPr/>
          <p:nvPr/>
        </p:nvSpPr>
        <p:spPr>
          <a:xfrm>
            <a:off x="45720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action card heading"/>
          <p:cNvSpPr txBox="1"/>
          <p:nvPr/>
        </p:nvSpPr>
        <p:spPr>
          <a:xfrm>
            <a:off x="59436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Ai &amp; Norton (2003)</a:t>
            </a:r>
          </a:p>
        </p:txBody>
      </p:sp>
      <p:pic>
        <p:nvPicPr>
          <p:cNvPr id="13" name="Icon Interaction card" descr=""/>
          <p:cNvPicPr>
            <a:picLocks noChangeAspect="1"/>
          </p:cNvPicPr>
          <p:nvPr/>
        </p:nvPicPr>
        <p:blipFill>
          <a:blip r:embed="rId3"/>
          <a:stretch>
            <a:fillRect/>
          </a:stretch>
        </p:blipFill>
        <p:spPr>
          <a:xfrm>
            <a:off x="4064508" y="1307592"/>
            <a:ext cx="310896" cy="310896"/>
          </a:xfrm>
          <a:prstGeom prst="rect">
            <a:avLst/>
          </a:prstGeom>
        </p:spPr>
      </p:pic>
      <p:sp>
        <p:nvSpPr>
          <p:cNvPr id="14" name="Interaction card text"/>
          <p:cNvSpPr txBox="1"/>
          <p:nvPr/>
        </p:nvSpPr>
        <p:spPr>
          <a:xfrm>
            <a:off x="621792" y="1828800"/>
            <a:ext cx="3744468" cy="17830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effect on churn probability varies by customer</a:t>
            </a:r>
          </a:p>
          <a:p>
            <a:pPr algn="l" marL="182880" indent="-182880">
              <a:spcAft>
                <a:spcPts val="600"/>
              </a:spcAft>
              <a:buClr>
                <a:schemeClr val="accent1"/>
              </a:buClr>
              <a:buFont typeface="Arial"/>
              <a:buChar char="▪"/>
            </a:pPr>
            <a:r>
              <a:rPr sz="1300" b="0" lang="en-GB">
                <a:solidFill>
                  <a:schemeClr val="tx1"/>
                </a:solidFill>
              </a:rPr>
              <a:t>It can be non-zero when the coefficient is zero</a:t>
            </a:r>
          </a:p>
          <a:p>
            <a:pPr algn="l" marL="182880" indent="-182880">
              <a:spcAft>
                <a:spcPts val="600"/>
              </a:spcAft>
              <a:buClr>
                <a:schemeClr val="accent1"/>
              </a:buClr>
              <a:buFont typeface="Arial"/>
              <a:buChar char="▪"/>
            </a:pPr>
            <a:r>
              <a:rPr sz="1300" b="0" lang="en-GB">
                <a:solidFill>
                  <a:schemeClr val="tx1"/>
                </a:solidFill>
              </a:rPr>
              <a:t>It can even have the opposite sign</a:t>
            </a:r>
          </a:p>
          <a:p>
            <a:pPr algn="l" marL="182880" indent="-182880">
              <a:spcAft>
                <a:spcPts val="600"/>
              </a:spcAft>
              <a:buClr>
                <a:schemeClr val="accent1"/>
              </a:buClr>
              <a:buFont typeface="Arial"/>
              <a:buChar char="▪"/>
            </a:pPr>
            <a:r>
              <a:rPr sz="1300" b="0" lang="en-GB">
                <a:solidFill>
                  <a:schemeClr val="tx1"/>
                </a:solidFill>
              </a:rPr>
              <a:t>The product-term p-value does not test it</a:t>
            </a:r>
          </a:p>
        </p:txBody>
      </p:sp>
      <p:sp>
        <p:nvSpPr>
          <p:cNvPr id="15" name="Mize header"/>
          <p:cNvSpPr/>
          <p:nvPr/>
        </p:nvSpPr>
        <p:spPr>
          <a:xfrm>
            <a:off x="464058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ize heading"/>
          <p:cNvSpPr txBox="1"/>
          <p:nvPr/>
        </p:nvSpPr>
        <p:spPr>
          <a:xfrm>
            <a:off x="477774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Three steps (Mize 2019)</a:t>
            </a:r>
          </a:p>
        </p:txBody>
      </p:sp>
      <p:pic>
        <p:nvPicPr>
          <p:cNvPr id="17" name="Icon Mize" descr=""/>
          <p:cNvPicPr>
            <a:picLocks noChangeAspect="1"/>
          </p:cNvPicPr>
          <p:nvPr/>
        </p:nvPicPr>
        <p:blipFill>
          <a:blip r:embed="rId4"/>
          <a:stretch>
            <a:fillRect/>
          </a:stretch>
        </p:blipFill>
        <p:spPr>
          <a:xfrm>
            <a:off x="8247888" y="1307592"/>
            <a:ext cx="310896" cy="310896"/>
          </a:xfrm>
          <a:prstGeom prst="rect">
            <a:avLst/>
          </a:prstGeom>
        </p:spPr>
      </p:pic>
      <p:sp>
        <p:nvSpPr>
          <p:cNvPr id="18" name="Mize step row 1"/>
          <p:cNvSpPr/>
          <p:nvPr/>
        </p:nvSpPr>
        <p:spPr>
          <a:xfrm>
            <a:off x="4640580" y="1783080"/>
            <a:ext cx="404622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ize step number 1"/>
          <p:cNvSpPr/>
          <p:nvPr/>
        </p:nvSpPr>
        <p:spPr>
          <a:xfrm>
            <a:off x="4777740" y="19248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0" name="Mize step text 1"/>
          <p:cNvSpPr txBox="1"/>
          <p:nvPr/>
        </p:nvSpPr>
        <p:spPr>
          <a:xfrm>
            <a:off x="5234940" y="1783080"/>
            <a:ext cx="33147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Plot </a:t>
            </a:r>
            <a:r>
              <a:rPr sz="1300" b="0" lang="en-GB">
                <a:solidFill>
                  <a:schemeClr val="tx1"/>
                </a:solidFill>
              </a:rPr>
              <a:t>predicted churn across the moderator</a:t>
            </a:r>
          </a:p>
        </p:txBody>
      </p:sp>
      <p:sp>
        <p:nvSpPr>
          <p:cNvPr id="21" name="Mize step row 2"/>
          <p:cNvSpPr/>
          <p:nvPr/>
        </p:nvSpPr>
        <p:spPr>
          <a:xfrm>
            <a:off x="4640580" y="2468880"/>
            <a:ext cx="404622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Mize step number 2"/>
          <p:cNvSpPr/>
          <p:nvPr/>
        </p:nvSpPr>
        <p:spPr>
          <a:xfrm>
            <a:off x="4777740" y="26106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3" name="Mize step text 2"/>
          <p:cNvSpPr txBox="1"/>
          <p:nvPr/>
        </p:nvSpPr>
        <p:spPr>
          <a:xfrm>
            <a:off x="5234940" y="2468880"/>
            <a:ext cx="33147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Test </a:t>
            </a:r>
            <a:r>
              <a:rPr sz="1300" b="0" lang="en-GB">
                <a:solidFill>
                  <a:schemeClr val="tx1"/>
                </a:solidFill>
              </a:rPr>
              <a:t>AMEs at chosen moderator values</a:t>
            </a:r>
          </a:p>
        </p:txBody>
      </p:sp>
      <p:sp>
        <p:nvSpPr>
          <p:cNvPr id="24" name="Mize step row 3"/>
          <p:cNvSpPr/>
          <p:nvPr/>
        </p:nvSpPr>
        <p:spPr>
          <a:xfrm>
            <a:off x="4640580" y="3154680"/>
            <a:ext cx="404622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ize step number 3"/>
          <p:cNvSpPr/>
          <p:nvPr/>
        </p:nvSpPr>
        <p:spPr>
          <a:xfrm>
            <a:off x="4777740" y="32964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6" name="Mize step text 3"/>
          <p:cNvSpPr txBox="1"/>
          <p:nvPr/>
        </p:nvSpPr>
        <p:spPr>
          <a:xfrm>
            <a:off x="5234940" y="3154680"/>
            <a:ext cx="33147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Compare </a:t>
            </a:r>
            <a:r>
              <a:rPr sz="1300" b="0" lang="en-GB">
                <a:solidFill>
                  <a:schemeClr val="tx1"/>
                </a:solidFill>
              </a:rPr>
              <a:t>second differences between those AMEs</a:t>
            </a:r>
          </a:p>
        </p:txBody>
      </p:sp>
      <p:sp>
        <p:nvSpPr>
          <p:cNvPr id="27" name="Interaction callout box"/>
          <p:cNvSpPr/>
          <p:nvPr/>
        </p:nvSpPr>
        <p:spPr>
          <a:xfrm>
            <a:off x="457200" y="38862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nteraction callout text"/>
          <p:cNvSpPr txBox="1"/>
          <p:nvPr/>
        </p:nvSpPr>
        <p:spPr>
          <a:xfrm>
            <a:off x="658368" y="38862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Managers ask about probabilities: </a:t>
            </a:r>
            <a:r>
              <a:rPr sz="1250" b="0" lang="en-GB">
                <a:solidFill>
                  <a:schemeClr val="bg1"/>
                </a:solidFill>
              </a:rPr>
              <a:t>“does the contract matter more in Spain?”</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Ai &amp; Norton (2003), Econ Letters; Mize (2019), Sociological Science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Contract × Spain: −0.245 in log-odds, +3.8 pp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4_interaction.png" descr="Line chart of average predicted churn from the interaction model by contract type. Germany rises from 10.2 % with a 24-month contract to 24.3 % month-to-month (+14.16 pp); Spain rises from 26.3 % to 44.2 % (+17.93 pp). The gap is larger in Spain although the product term is negative; the second difference +3.77 pp has a bootstrap 95 % CI of [−0.66, +7.20] pp."/>
          <p:cNvPicPr>
            <a:picLocks noChangeAspect="1"/>
          </p:cNvPicPr>
          <p:nvPr/>
        </p:nvPicPr>
        <p:blipFill>
          <a:blip r:embed="rId3"/>
          <a:stretch>
            <a:fillRect/>
          </a:stretch>
        </p:blipFill>
        <p:spPr>
          <a:xfrm>
            <a:off x="457200" y="1234440"/>
            <a:ext cx="4023360" cy="3291840"/>
          </a:xfrm>
          <a:prstGeom prst="rect">
            <a:avLst/>
          </a:prstGeom>
        </p:spPr>
      </p:pic>
      <p:sp>
        <p:nvSpPr>
          <p:cNvPr id="11" name="Inter stat 1 box"/>
          <p:cNvSpPr/>
          <p:nvPr/>
        </p:nvSpPr>
        <p:spPr>
          <a:xfrm>
            <a:off x="4617720" y="1234440"/>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 stat 1 bar"/>
          <p:cNvSpPr/>
          <p:nvPr/>
        </p:nvSpPr>
        <p:spPr>
          <a:xfrm>
            <a:off x="4617720" y="1234440"/>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ter stat 1 figure"/>
          <p:cNvSpPr txBox="1"/>
          <p:nvPr/>
        </p:nvSpPr>
        <p:spPr>
          <a:xfrm>
            <a:off x="4800600" y="1234440"/>
            <a:ext cx="1691640" cy="10241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−0.245</a:t>
            </a:r>
          </a:p>
        </p:txBody>
      </p:sp>
      <p:sp>
        <p:nvSpPr>
          <p:cNvPr id="14" name="Inter stat 1 label"/>
          <p:cNvSpPr txBox="1"/>
          <p:nvPr/>
        </p:nvSpPr>
        <p:spPr>
          <a:xfrm>
            <a:off x="6492240" y="1234440"/>
            <a:ext cx="2103120" cy="1024128"/>
          </a:xfrm>
          <a:prstGeom prst="rect">
            <a:avLst/>
          </a:prstGeom>
          <a:noFill/>
        </p:spPr>
        <p:txBody>
          <a:bodyPr wrap="square" lIns="0" rIns="0" tIns="0" bIns="0" anchor="ctr">
            <a:noAutofit/>
          </a:bodyPr>
          <a:lstStyle/>
          <a:p>
            <a:pPr algn="l">
              <a:spcAft>
                <a:spcPts val="400"/>
              </a:spcAft>
            </a:pPr>
            <a:r>
              <a:rPr sz="1200" b="1" lang="en-GB">
                <a:solidFill>
                  <a:schemeClr val="tx2"/>
                </a:solidFill>
              </a:rPr>
              <a:t>Product term: </a:t>
            </a:r>
            <a:r>
              <a:rPr sz="1200" b="0" lang="en-GB">
                <a:solidFill>
                  <a:schemeClr val="tx1"/>
                </a:solidFill>
              </a:rPr>
              <a:t>contract × Spain, in log-odds (p = 0.047)</a:t>
            </a:r>
          </a:p>
        </p:txBody>
      </p:sp>
      <p:sp>
        <p:nvSpPr>
          <p:cNvPr id="15" name="Inter stat 2 box"/>
          <p:cNvSpPr/>
          <p:nvPr/>
        </p:nvSpPr>
        <p:spPr>
          <a:xfrm>
            <a:off x="4617720" y="2368296"/>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ter stat 2 bar"/>
          <p:cNvSpPr/>
          <p:nvPr/>
        </p:nvSpPr>
        <p:spPr>
          <a:xfrm>
            <a:off x="4617720" y="2368296"/>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ter stat 2 figure"/>
          <p:cNvSpPr txBox="1"/>
          <p:nvPr/>
        </p:nvSpPr>
        <p:spPr>
          <a:xfrm>
            <a:off x="4800600" y="2368296"/>
            <a:ext cx="1691640" cy="10241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 pp</a:t>
            </a:r>
          </a:p>
        </p:txBody>
      </p:sp>
      <p:sp>
        <p:nvSpPr>
          <p:cNvPr id="18" name="Inter stat 2 label"/>
          <p:cNvSpPr txBox="1"/>
          <p:nvPr/>
        </p:nvSpPr>
        <p:spPr>
          <a:xfrm>
            <a:off x="6492240" y="2368296"/>
            <a:ext cx="2103120" cy="1024128"/>
          </a:xfrm>
          <a:prstGeom prst="rect">
            <a:avLst/>
          </a:prstGeom>
          <a:noFill/>
        </p:spPr>
        <p:txBody>
          <a:bodyPr wrap="square" lIns="0" rIns="0" tIns="0" bIns="0" anchor="ctr">
            <a:noAutofit/>
          </a:bodyPr>
          <a:lstStyle/>
          <a:p>
            <a:pPr algn="l">
              <a:spcAft>
                <a:spcPts val="400"/>
              </a:spcAft>
            </a:pPr>
            <a:r>
              <a:rPr sz="1200" b="1" lang="en-GB">
                <a:solidFill>
                  <a:schemeClr val="tx2"/>
                </a:solidFill>
              </a:rPr>
              <a:t>Second difference: </a:t>
            </a:r>
            <a:r>
              <a:rPr sz="1200" b="0" lang="en-GB">
                <a:solidFill>
                  <a:schemeClr val="tx1"/>
                </a:solidFill>
              </a:rPr>
              <a:t>AME 17.93 pp (ES) minus 14.16 pp (DE); 95 % CI [−0.66, +7.20]</a:t>
            </a:r>
          </a:p>
        </p:txBody>
      </p:sp>
      <p:sp>
        <p:nvSpPr>
          <p:cNvPr id="19" name="Inter callout box"/>
          <p:cNvSpPr/>
          <p:nvPr/>
        </p:nvSpPr>
        <p:spPr>
          <a:xfrm>
            <a:off x="4617720" y="3502152"/>
            <a:ext cx="4069080" cy="10241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nter callout text"/>
          <p:cNvSpPr txBox="1"/>
          <p:nvPr/>
        </p:nvSpPr>
        <p:spPr>
          <a:xfrm>
            <a:off x="4818888" y="3502152"/>
            <a:ext cx="3666744" cy="1024128"/>
          </a:xfrm>
          <a:prstGeom prst="rect">
            <a:avLst/>
          </a:prstGeom>
          <a:noFill/>
        </p:spPr>
        <p:txBody>
          <a:bodyPr wrap="square" lIns="0" rIns="0" tIns="0" bIns="0" anchor="ctr">
            <a:noAutofit/>
          </a:bodyPr>
          <a:lstStyle/>
          <a:p>
            <a:pPr algn="l">
              <a:spcAft>
                <a:spcPts val="400"/>
              </a:spcAft>
            </a:pPr>
            <a:r>
              <a:rPr sz="1200" b="1" lang="en-GB">
                <a:solidFill>
                  <a:schemeClr val="bg1"/>
                </a:solidFill>
              </a:rPr>
              <a:t>Opposite signs: </a:t>
            </a:r>
            <a:r>
              <a:rPr sz="1200" b="0" lang="en-GB">
                <a:solidFill>
                  <a:schemeClr val="bg1"/>
                </a:solidFill>
              </a:rPr>
              <a:t>the product term says “weaker in Spain” (p = 0.047); the probabilities point to “stronger”, but the CI includes zero.</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Ai &amp; Norton (2003); Mize (2019); simulated data (telco_churn.csv), interaction model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 Python: marginal effects with statsmodels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rgins code caption bar"/>
          <p:cNvSpPr/>
          <p:nvPr/>
        </p:nvSpPr>
        <p:spPr>
          <a:xfrm>
            <a:off x="457200" y="1234440"/>
            <a:ext cx="47091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rgins code caption"/>
          <p:cNvSpPr txBox="1"/>
          <p:nvPr/>
        </p:nvSpPr>
        <p:spPr>
          <a:xfrm>
            <a:off x="566928" y="1234440"/>
            <a:ext cx="44897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Margins code box"/>
          <p:cNvSpPr/>
          <p:nvPr/>
        </p:nvSpPr>
        <p:spPr>
          <a:xfrm>
            <a:off x="457200" y="1508760"/>
            <a:ext cx="47091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argins code code"/>
          <p:cNvSpPr txBox="1"/>
          <p:nvPr/>
        </p:nvSpPr>
        <p:spPr>
          <a:xfrm>
            <a:off x="594360" y="1600200"/>
            <a:ext cx="4434840" cy="23774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import numpy as np</a:t>
            </a:r>
          </a:p>
          <a:p>
            <a:pPr algn="l">
              <a:spcAft>
                <a:spcPts val="0"/>
              </a:spcAft>
            </a:pPr>
            <a:r>
              <a:rPr sz="1200" b="0" lang="en-GB">
                <a:solidFill>
                  <a:schemeClr val="bg1"/>
                </a:solidFill>
                <a:latin typeface="Consolas"/>
              </a:rPr>
              <a:t>import statsmodels.formula.api as smf</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m = smf.logit(</a:t>
            </a:r>
          </a:p>
          <a:p>
            <a:pPr algn="l">
              <a:spcAft>
                <a:spcPts val="0"/>
              </a:spcAft>
            </a:pPr>
            <a:r>
              <a:rPr sz="1200" b="0" lang="en-GB">
                <a:solidFill>
                  <a:schemeClr val="bg1"/>
                </a:solidFill>
                <a:latin typeface="Consolas"/>
              </a:rPr>
              <a:t>    "churn ~ monthly + price_increase"</a:t>
            </a:r>
          </a:p>
          <a:p>
            <a:pPr algn="l">
              <a:spcAft>
                <a:spcPts val="0"/>
              </a:spcAft>
            </a:pPr>
            <a:r>
              <a:rPr sz="1200" b="0" lang="en-GB">
                <a:solidFill>
                  <a:schemeClr val="bg1"/>
                </a:solidFill>
                <a:latin typeface="Consolas"/>
              </a:rPr>
              <a:t>    " + complaints + np.log(tenure_months)"</a:t>
            </a:r>
          </a:p>
          <a:p>
            <a:pPr algn="l">
              <a:spcAft>
                <a:spcPts val="0"/>
              </a:spcAft>
            </a:pPr>
            <a:r>
              <a:rPr sz="1200" b="0" lang="en-GB">
                <a:solidFill>
                  <a:schemeClr val="bg1"/>
                </a:solidFill>
                <a:latin typeface="Consolas"/>
              </a:rPr>
              <a:t>    " + C(country, Treatment('DE'))",</a:t>
            </a:r>
          </a:p>
          <a:p>
            <a:pPr algn="l">
              <a:spcAft>
                <a:spcPts val="0"/>
              </a:spcAft>
            </a:pPr>
            <a:r>
              <a:rPr sz="1200" b="0" lang="en-GB">
                <a:solidFill>
                  <a:schemeClr val="bg1"/>
                </a:solidFill>
                <a:latin typeface="Consolas"/>
              </a:rPr>
              <a:t>    data=df).fit()</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m.get_margeff(dummy=True).summary()</a:t>
            </a:r>
          </a:p>
          <a:p>
            <a:pPr algn="l">
              <a:spcAft>
                <a:spcPts val="0"/>
              </a:spcAft>
            </a:pPr>
            <a:r>
              <a:rPr sz="1200" b="0" lang="en-GB">
                <a:solidFill>
                  <a:schemeClr val="bg1"/>
                </a:solidFill>
                <a:latin typeface="Consolas"/>
              </a:rPr>
              <a:t>ame(m, df, "monthly")    # by country</a:t>
            </a:r>
          </a:p>
          <a:p>
            <a:pPr algn="l">
              <a:spcAft>
                <a:spcPts val="0"/>
              </a:spcAft>
            </a:pPr>
            <a:r>
              <a:rPr sz="1200" b="0" lang="en-GB">
                <a:solidFill>
                  <a:schemeClr val="bg1"/>
                </a:solidFill>
                <a:latin typeface="Consolas"/>
              </a:rPr>
              <a:t>m.get_prediction(profiles).summary_frame()</a:t>
            </a:r>
          </a:p>
        </p:txBody>
      </p:sp>
      <p:sp>
        <p:nvSpPr>
          <p:cNvPr id="14" name="Code reading 1 row"/>
          <p:cNvSpPr/>
          <p:nvPr/>
        </p:nvSpPr>
        <p:spPr>
          <a:xfrm>
            <a:off x="5303520" y="1234440"/>
            <a:ext cx="338328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de reading 1 bar"/>
          <p:cNvSpPr/>
          <p:nvPr/>
        </p:nvSpPr>
        <p:spPr>
          <a:xfrm>
            <a:off x="5303520" y="12344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de reading 1 text"/>
          <p:cNvSpPr txBox="1"/>
          <p:nvPr/>
        </p:nvSpPr>
        <p:spPr>
          <a:xfrm>
            <a:off x="5504688" y="1234440"/>
            <a:ext cx="3090672" cy="640080"/>
          </a:xfrm>
          <a:prstGeom prst="rect">
            <a:avLst/>
          </a:prstGeom>
          <a:noFill/>
        </p:spPr>
        <p:txBody>
          <a:bodyPr wrap="square" lIns="0" rIns="0" tIns="0" bIns="0" anchor="ctr">
            <a:noAutofit/>
          </a:bodyPr>
          <a:lstStyle/>
          <a:p>
            <a:pPr algn="l">
              <a:spcAft>
                <a:spcPts val="400"/>
              </a:spcAft>
            </a:pPr>
            <a:r>
              <a:rPr sz="1200" b="1" lang="en-GB">
                <a:solidFill>
                  <a:schemeClr val="tx2"/>
                </a:solidFill>
                <a:latin typeface="Consolas"/>
              </a:rPr>
              <a:t>get_margeff  </a:t>
            </a:r>
            <a:r>
              <a:rPr sz="1200" b="0" lang="en-GB">
                <a:solidFill>
                  <a:schemeClr val="tx1"/>
                </a:solidFill>
              </a:rPr>
              <a:t>average marginal effects in probability units</a:t>
            </a:r>
          </a:p>
        </p:txBody>
      </p:sp>
      <p:sp>
        <p:nvSpPr>
          <p:cNvPr id="17" name="Code reading 2 row"/>
          <p:cNvSpPr/>
          <p:nvPr/>
        </p:nvSpPr>
        <p:spPr>
          <a:xfrm>
            <a:off x="5303520" y="1965960"/>
            <a:ext cx="338328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de reading 2 bar"/>
          <p:cNvSpPr/>
          <p:nvPr/>
        </p:nvSpPr>
        <p:spPr>
          <a:xfrm>
            <a:off x="5303520" y="196596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de reading 2 text"/>
          <p:cNvSpPr txBox="1"/>
          <p:nvPr/>
        </p:nvSpPr>
        <p:spPr>
          <a:xfrm>
            <a:off x="5504688" y="1965960"/>
            <a:ext cx="3090672" cy="640080"/>
          </a:xfrm>
          <a:prstGeom prst="rect">
            <a:avLst/>
          </a:prstGeom>
          <a:noFill/>
        </p:spPr>
        <p:txBody>
          <a:bodyPr wrap="square" lIns="0" rIns="0" tIns="0" bIns="0" anchor="ctr">
            <a:noAutofit/>
          </a:bodyPr>
          <a:lstStyle/>
          <a:p>
            <a:pPr algn="l">
              <a:spcAft>
                <a:spcPts val="400"/>
              </a:spcAft>
            </a:pPr>
            <a:r>
              <a:rPr sz="1200" b="1" lang="en-GB">
                <a:solidFill>
                  <a:schemeClr val="tx2"/>
                </a:solidFill>
                <a:latin typeface="Consolas"/>
              </a:rPr>
              <a:t>ame  </a:t>
            </a:r>
            <a:r>
              <a:rPr sz="1200" b="0" lang="en-GB">
                <a:solidFill>
                  <a:schemeClr val="tx1"/>
                </a:solidFill>
              </a:rPr>
              <a:t>by country, pooled slope: 12.4 pp (DE), 20.1 pp (ES); to compare countries see slide 35</a:t>
            </a:r>
          </a:p>
        </p:txBody>
      </p:sp>
      <p:sp>
        <p:nvSpPr>
          <p:cNvPr id="20" name="Code reading 3 row"/>
          <p:cNvSpPr/>
          <p:nvPr/>
        </p:nvSpPr>
        <p:spPr>
          <a:xfrm>
            <a:off x="5303520" y="2697480"/>
            <a:ext cx="338328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de reading 3 bar"/>
          <p:cNvSpPr/>
          <p:nvPr/>
        </p:nvSpPr>
        <p:spPr>
          <a:xfrm>
            <a:off x="5303520" y="269748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de reading 3 text"/>
          <p:cNvSpPr txBox="1"/>
          <p:nvPr/>
        </p:nvSpPr>
        <p:spPr>
          <a:xfrm>
            <a:off x="5504688" y="2697480"/>
            <a:ext cx="3090672" cy="640080"/>
          </a:xfrm>
          <a:prstGeom prst="rect">
            <a:avLst/>
          </a:prstGeom>
          <a:noFill/>
        </p:spPr>
        <p:txBody>
          <a:bodyPr wrap="square" lIns="0" rIns="0" tIns="0" bIns="0" anchor="ctr">
            <a:noAutofit/>
          </a:bodyPr>
          <a:lstStyle/>
          <a:p>
            <a:pPr algn="l">
              <a:spcAft>
                <a:spcPts val="400"/>
              </a:spcAft>
            </a:pPr>
            <a:r>
              <a:rPr sz="1200" b="1" lang="en-GB">
                <a:solidFill>
                  <a:schemeClr val="tx2"/>
                </a:solidFill>
                <a:latin typeface="Consolas"/>
              </a:rPr>
              <a:t>get_prediction  </a:t>
            </a:r>
            <a:r>
              <a:rPr sz="1200" b="0" lang="en-GB">
                <a:solidFill>
                  <a:schemeClr val="tx1"/>
                </a:solidFill>
              </a:rPr>
              <a:t>churn probability with 95 % CI, pooled: 35.1 % (DE), 60.9 % (ES)</a:t>
            </a:r>
          </a:p>
        </p:txBody>
      </p:sp>
      <p:sp>
        <p:nvSpPr>
          <p:cNvPr id="23" name="Code reading 4 row"/>
          <p:cNvSpPr/>
          <p:nvPr/>
        </p:nvSpPr>
        <p:spPr>
          <a:xfrm>
            <a:off x="5303520" y="3429000"/>
            <a:ext cx="338328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de reading 4 bar"/>
          <p:cNvSpPr/>
          <p:nvPr/>
        </p:nvSpPr>
        <p:spPr>
          <a:xfrm>
            <a:off x="5303520" y="342900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de reading 4 text"/>
          <p:cNvSpPr txBox="1"/>
          <p:nvPr/>
        </p:nvSpPr>
        <p:spPr>
          <a:xfrm>
            <a:off x="5504688" y="3429000"/>
            <a:ext cx="3090672" cy="640080"/>
          </a:xfrm>
          <a:prstGeom prst="rect">
            <a:avLst/>
          </a:prstGeom>
          <a:noFill/>
        </p:spPr>
        <p:txBody>
          <a:bodyPr wrap="square" lIns="0" rIns="0" tIns="0" bIns="0" anchor="ctr">
            <a:noAutofit/>
          </a:bodyPr>
          <a:lstStyle/>
          <a:p>
            <a:pPr algn="l">
              <a:spcAft>
                <a:spcPts val="400"/>
              </a:spcAft>
            </a:pPr>
            <a:r>
              <a:rPr sz="1200" b="1" lang="en-GB">
                <a:solidFill>
                  <a:schemeClr val="tx2"/>
                </a:solidFill>
                <a:latin typeface="Consolas"/>
              </a:rPr>
              <a:t>plotnine  </a:t>
            </a:r>
            <a:r>
              <a:rPr sz="1200" b="0" lang="en-GB">
                <a:solidFill>
                  <a:schemeClr val="tx1"/>
                </a:solidFill>
              </a:rPr>
              <a:t>the curve: predicted churn by tenure and country</a:t>
            </a:r>
          </a:p>
        </p:txBody>
      </p:sp>
      <p:sp>
        <p:nvSpPr>
          <p:cNvPr id="26" name="Code callout box"/>
          <p:cNvSpPr/>
          <p:nvPr/>
        </p:nvSpPr>
        <p:spPr>
          <a:xfrm>
            <a:off x="457200" y="42062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 callout text"/>
          <p:cNvSpPr txBox="1"/>
          <p:nvPr/>
        </p:nvSpPr>
        <p:spPr>
          <a:xfrm>
            <a:off x="658368" y="420624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Full code and data: </a:t>
            </a:r>
            <a:r>
              <a:rPr sz="1200" b="0" lang="en-GB">
                <a:solidFill>
                  <a:schemeClr val="bg1"/>
                </a:solidFill>
                <a:latin typeface="Consolas"/>
              </a:rPr>
              <a:t>sessions/01-foundations/logit_churn.qmd</a:t>
            </a:r>
            <a:r>
              <a:rPr sz="1200" b="0" lang="en-GB">
                <a:solidFill>
                  <a:schemeClr val="bg1"/>
                </a:solidFill>
              </a:rPr>
              <a:t>, Steps 2, 3 and 7</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pooled model of slide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ecklist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1600200"/>
                <a:gridCol w="3520440"/>
                <a:gridCol w="3108960"/>
              </a:tblGrid>
              <a:tr h="370840">
                <a:tc>
                  <a:txBody>
                    <a:bodyPr/>
                    <a:lstStyle/>
                    <a:p>
                      <a:r>
                        <a:rPr sz="1250" lang="en-GB"/>
                        <a:t>Element</a:t>
                      </a:r>
                    </a:p>
                  </a:txBody>
                  <a:tcPr marT="45000" marB="45000"/>
                </a:tc>
                <a:tc>
                  <a:txBody>
                    <a:bodyPr/>
                    <a:lstStyle/>
                    <a:p>
                      <a:r>
                        <a:rPr sz="1250" lang="en-GB"/>
                        <a:t>Report at least</a:t>
                      </a:r>
                    </a:p>
                  </a:txBody>
                  <a:tcPr marT="45000" marB="45000"/>
                </a:tc>
                <a:tc>
                  <a:txBody>
                    <a:bodyPr/>
                    <a:lstStyle/>
                    <a:p>
                      <a:r>
                        <a:rPr sz="1250" lang="en-GB"/>
                        <a:t>Avoid</a:t>
                      </a:r>
                    </a:p>
                  </a:txBody>
                  <a:tcPr marT="45000" marB="45000"/>
                </a:tc>
              </a:tr>
              <a:tr h="370840">
                <a:tc>
                  <a:txBody>
                    <a:bodyPr/>
                    <a:lstStyle/>
                    <a:p>
                      <a:r>
                        <a:rPr sz="1100" b="1" lang="en-GB"/>
                        <a:t>Focal effects</a:t>
                      </a:r>
                    </a:p>
                  </a:txBody>
                  <a:tcPr marT="45000" marB="45000"/>
                </a:tc>
                <a:tc>
                  <a:txBody>
                    <a:bodyPr/>
                    <a:lstStyle/>
                    <a:p>
                      <a:r>
                        <a:rPr sz="1100" lang="en-GB"/>
                        <a:t>AMEs with SEs; predictions for profiles</a:t>
                      </a:r>
                    </a:p>
                  </a:txBody>
                  <a:tcPr marT="45000" marB="45000"/>
                </a:tc>
                <a:tc>
                  <a:txBody>
                    <a:bodyPr/>
                    <a:lstStyle/>
                    <a:p>
                      <a:r>
                        <a:rPr sz="1100" lang="en-GB"/>
                        <a:t>“x times as likely” for common churn</a:t>
                      </a:r>
                    </a:p>
                  </a:txBody>
                  <a:tcPr marT="45000" marB="45000"/>
                </a:tc>
              </a:tr>
              <a:tr h="370840">
                <a:tc>
                  <a:txBody>
                    <a:bodyPr/>
                    <a:lstStyle/>
                    <a:p>
                      <a:r>
                        <a:rPr sz="1100" b="1" lang="en-GB"/>
                        <a:t>Moderation</a:t>
                      </a:r>
                    </a:p>
                  </a:txBody>
                  <a:tcPr marT="45000" marB="45000"/>
                </a:tc>
                <a:tc>
                  <a:txBody>
                    <a:bodyPr/>
                    <a:lstStyle/>
                    <a:p>
                      <a:r>
                        <a:rPr sz="1100" lang="en-GB"/>
                        <a:t>Predictions across the moderator with CIs; second differences</a:t>
                      </a:r>
                    </a:p>
                  </a:txBody>
                  <a:tcPr marT="45000" marB="45000"/>
                </a:tc>
                <a:tc>
                  <a:txBody>
                    <a:bodyPr/>
                    <a:lstStyle/>
                    <a:p>
                      <a:r>
                        <a:rPr sz="1100" lang="en-GB"/>
                        <a:t>The product-term p-value alone</a:t>
                      </a:r>
                    </a:p>
                  </a:txBody>
                  <a:tcPr marT="45000" marB="45000"/>
                </a:tc>
              </a:tr>
              <a:tr h="370840">
                <a:tc>
                  <a:txBody>
                    <a:bodyPr/>
                    <a:lstStyle/>
                    <a:p>
                      <a:r>
                        <a:rPr sz="1100" b="1" lang="en-GB"/>
                        <a:t>Countries</a:t>
                      </a:r>
                    </a:p>
                  </a:txBody>
                  <a:tcPr marT="45000" marB="45000"/>
                </a:tc>
                <a:tc>
                  <a:txBody>
                    <a:bodyPr/>
                    <a:lstStyle/>
                    <a:p>
                      <a:r>
                        <a:rPr sz="1100" lang="en-GB"/>
                        <a:t>AMEs by country; heterogeneous-choice logit</a:t>
                      </a:r>
                    </a:p>
                  </a:txBody>
                  <a:tcPr marT="45000" marB="45000"/>
                </a:tc>
                <a:tc>
                  <a:txBody>
                    <a:bodyPr/>
                    <a:lstStyle/>
                    <a:p>
                      <a:r>
                        <a:rPr sz="1100" lang="en-GB"/>
                        <a:t>Coefficients or ORs across country models</a:t>
                      </a:r>
                    </a:p>
                  </a:txBody>
                  <a:tcPr marT="45000" marB="45000"/>
                </a:tc>
              </a:tr>
              <a:tr h="370840">
                <a:tc>
                  <a:txBody>
                    <a:bodyPr/>
                    <a:lstStyle/>
                    <a:p>
                      <a:r>
                        <a:rPr sz="1100" b="1" lang="en-GB"/>
                        <a:t>Survey measures</a:t>
                      </a:r>
                    </a:p>
                  </a:txBody>
                  <a:tcPr marT="45000" marB="45000"/>
                </a:tc>
                <a:tc>
                  <a:txBody>
                    <a:bodyPr/>
                    <a:lstStyle/>
                    <a:p>
                      <a:r>
                        <a:rPr sz="1100" lang="en-GB"/>
                        <a:t>Invariance tests or within-country standardisation</a:t>
                      </a:r>
                    </a:p>
                  </a:txBody>
                  <a:tcPr marT="45000" marB="45000"/>
                </a:tc>
                <a:tc>
                  <a:txBody>
                    <a:bodyPr/>
                    <a:lstStyle/>
                    <a:p>
                      <a:r>
                        <a:rPr sz="1100" lang="en-GB"/>
                        <a:t>Pooling raw 1–5 scores across countries</a:t>
                      </a:r>
                    </a:p>
                  </a:txBody>
                  <a:tcPr marT="45000" marB="45000"/>
                </a:tc>
              </a:tr>
              <a:tr h="370840">
                <a:tc>
                  <a:txBody>
                    <a:bodyPr/>
                    <a:lstStyle/>
                    <a:p>
                      <a:r>
                        <a:rPr sz="1100" b="1" lang="en-GB"/>
                        <a:t>Evaluation</a:t>
                      </a:r>
                    </a:p>
                  </a:txBody>
                  <a:tcPr marT="45000" marB="45000"/>
                </a:tc>
                <a:tc>
                  <a:txBody>
                    <a:bodyPr/>
                    <a:lstStyle/>
                    <a:p>
                      <a:r>
                        <a:rPr sz="1100" lang="en-GB"/>
                        <a:t>Out-of-sample AUC, top-decile lift, calibration</a:t>
                      </a:r>
                    </a:p>
                  </a:txBody>
                  <a:tcPr marT="45000" marB="45000"/>
                </a:tc>
                <a:tc>
                  <a:txBody>
                    <a:bodyPr/>
                    <a:lstStyle/>
                    <a:p>
                      <a:r>
                        <a:rPr sz="1100" lang="en-GB"/>
                        <a:t>Accuracy at a 0.5 cut-off</a:t>
                      </a:r>
                    </a:p>
                  </a:txBody>
                  <a:tcPr marT="45000" marB="45000"/>
                </a:tc>
              </a:tr>
              <a:tr h="370840">
                <a:tc>
                  <a:txBody>
                    <a:bodyPr/>
                    <a:lstStyle/>
                    <a:p>
                      <a:r>
                        <a:rPr sz="1100" b="1" lang="en-GB"/>
                        <a:t>Targeting</a:t>
                      </a:r>
                    </a:p>
                  </a:txBody>
                  <a:tcPr marT="45000" marB="45000"/>
                </a:tc>
                <a:tc>
                  <a:txBody>
                    <a:bodyPr/>
                    <a:lstStyle/>
                    <a:p>
                      <a:r>
                        <a:rPr sz="1100" lang="en-GB"/>
                        <a:t>Uplift from a randomised control group; campaign profit</a:t>
                      </a:r>
                    </a:p>
                  </a:txBody>
                  <a:tcPr marT="45000" marB="45000"/>
                </a:tc>
                <a:tc>
                  <a:txBody>
                    <a:bodyPr/>
                    <a:lstStyle/>
                    <a:p>
                      <a:r>
                        <a:rPr sz="1100" lang="en-GB"/>
                        <a:t>Risk scores read as offer effects</a:t>
                      </a:r>
                    </a:p>
                  </a:txBody>
                  <a:tcPr marT="45000" marB="45000"/>
                </a:tc>
              </a:tr>
              <a:tr h="370840">
                <a:tc>
                  <a:txBody>
                    <a:bodyPr/>
                    <a:lstStyle/>
                    <a:p>
                      <a:r>
                        <a:rPr sz="1100" b="1" lang="en-GB"/>
                        <a:t>Country level</a:t>
                      </a:r>
                    </a:p>
                  </a:txBody>
                  <a:tcPr marT="45000" marB="45000"/>
                </a:tc>
                <a:tc>
                  <a:txBody>
                    <a:bodyPr/>
                    <a:lstStyle/>
                    <a:p>
                      <a:r>
                        <a:rPr sz="1100" lang="en-GB"/>
                        <a:t>Number of countries; fixed effects below 25–30</a:t>
                      </a:r>
                    </a:p>
                  </a:txBody>
                  <a:tcPr marT="45000" marB="45000"/>
                </a:tc>
                <a:tc>
                  <a:txBody>
                    <a:bodyPr/>
                    <a:lstStyle/>
                    <a:p>
                      <a:r>
                        <a:rPr sz="1100" lang="en-GB"/>
                        <a:t>Culture effects from 4 countries as proof</a:t>
                      </a:r>
                    </a:p>
                  </a:txBody>
                  <a:tcPr marT="45000" marB="45000"/>
                </a:tc>
              </a:tr>
            </a:tbl>
          </a:graphicData>
        </a:graphic>
      </p:graphicFrame>
      <p:sp>
        <p:nvSpPr>
          <p:cNvPr id="3" name="Title 2"/>
          <p:cNvSpPr>
            <a:spLocks noGrp="1"/>
          </p:cNvSpPr>
          <p:nvPr>
            <p:ph type="title"/>
          </p:nvPr>
        </p:nvSpPr>
        <p:spPr/>
        <p:txBody>
          <a:bodyPr/>
          <a:lstStyle/>
          <a:p>
            <a:r>
              <a:rPr sz="1600" lang="en-GB"/>
              <a:t>Reporting checklist for theses and papers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Hoetker (2007); Mize (2019); Long &amp; Mustillo (2021); Williams (2009); Steenkamp &amp; Baumgartner (1998); Bryan &amp; Jenkins (2016); Ascarza (2018)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price rises and offers are not random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tile 1 tile"/>
          <p:cNvSpPr/>
          <p:nvPr/>
        </p:nvSpPr>
        <p:spPr>
          <a:xfrm>
            <a:off x="457200" y="1234440"/>
            <a:ext cx="404622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Endo tile 1" descr=""/>
          <p:cNvPicPr>
            <a:picLocks noChangeAspect="1"/>
          </p:cNvPicPr>
          <p:nvPr/>
        </p:nvPicPr>
        <p:blipFill>
          <a:blip r:embed="rId3"/>
          <a:stretch>
            <a:fillRect/>
          </a:stretch>
        </p:blipFill>
        <p:spPr>
          <a:xfrm>
            <a:off x="594360" y="1371600"/>
            <a:ext cx="365760" cy="365760"/>
          </a:xfrm>
          <a:prstGeom prst="rect">
            <a:avLst/>
          </a:prstGeom>
        </p:spPr>
      </p:pic>
      <p:sp>
        <p:nvSpPr>
          <p:cNvPr id="12" name="Endo tile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Price rises are chosen</a:t>
            </a:r>
          </a:p>
        </p:txBody>
      </p:sp>
      <p:sp>
        <p:nvSpPr>
          <p:cNvPr id="13" name="Endo tile 1 text"/>
          <p:cNvSpPr txBox="1"/>
          <p:nvPr/>
        </p:nvSpPr>
        <p:spPr>
          <a:xfrm>
            <a:off x="594360" y="1856232"/>
            <a:ext cx="3771900" cy="1188720"/>
          </a:xfrm>
          <a:prstGeom prst="rect">
            <a:avLst/>
          </a:prstGeom>
          <a:noFill/>
        </p:spPr>
        <p:txBody>
          <a:bodyPr wrap="square" lIns="0" rIns="0" tIns="0" bIns="0" anchor="t">
            <a:noAutofit/>
          </a:bodyPr>
          <a:lstStyle/>
          <a:p>
            <a:pPr algn="l">
              <a:spcAft>
                <a:spcPts val="400"/>
              </a:spcAft>
            </a:pPr>
            <a:r>
              <a:rPr sz="1200" b="1" lang="en-GB">
                <a:solidFill>
                  <a:schemeClr val="tx2"/>
                </a:solidFill>
              </a:rPr>
              <a:t>Chosen: </a:t>
            </a:r>
            <a:r>
              <a:rPr sz="1200" b="0" lang="en-GB">
                <a:solidFill>
                  <a:schemeClr val="tx1"/>
                </a:solidFill>
              </a:rPr>
              <a:t>firms raise prices where they expect little churn</a:t>
            </a:r>
          </a:p>
          <a:p>
            <a:pPr algn="l">
              <a:spcAft>
                <a:spcPts val="400"/>
              </a:spcAft>
            </a:pPr>
            <a:r>
              <a:rPr sz="1200" b="1" lang="en-GB">
                <a:solidFill>
                  <a:schemeClr val="tx2"/>
                </a:solidFill>
              </a:rPr>
              <a:t>Notice effect: </a:t>
            </a:r>
            <a:r>
              <a:rPr sz="1200" b="0" lang="en-GB">
                <a:solidFill>
                  <a:schemeClr val="tx1"/>
                </a:solidFill>
              </a:rPr>
              <a:t>monthly churn rose from 1 % to 1.6 % after a price-change letter, among customers whose costs would fall (Reme et al. 2022)</a:t>
            </a:r>
          </a:p>
        </p:txBody>
      </p:sp>
      <p:sp>
        <p:nvSpPr>
          <p:cNvPr id="14" name="Endo tile 2 tile"/>
          <p:cNvSpPr/>
          <p:nvPr/>
        </p:nvSpPr>
        <p:spPr>
          <a:xfrm>
            <a:off x="4640580" y="1234440"/>
            <a:ext cx="404622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Endo tile 2" descr=""/>
          <p:cNvPicPr>
            <a:picLocks noChangeAspect="1"/>
          </p:cNvPicPr>
          <p:nvPr/>
        </p:nvPicPr>
        <p:blipFill>
          <a:blip r:embed="rId4"/>
          <a:stretch>
            <a:fillRect/>
          </a:stretch>
        </p:blipFill>
        <p:spPr>
          <a:xfrm>
            <a:off x="4777740" y="1371600"/>
            <a:ext cx="365760" cy="365760"/>
          </a:xfrm>
          <a:prstGeom prst="rect">
            <a:avLst/>
          </a:prstGeom>
        </p:spPr>
      </p:pic>
      <p:sp>
        <p:nvSpPr>
          <p:cNvPr id="16" name="Endo tile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Offers are targeted</a:t>
            </a:r>
          </a:p>
        </p:txBody>
      </p:sp>
      <p:sp>
        <p:nvSpPr>
          <p:cNvPr id="17" name="Endo tile 2 text"/>
          <p:cNvSpPr txBox="1"/>
          <p:nvPr/>
        </p:nvSpPr>
        <p:spPr>
          <a:xfrm>
            <a:off x="4777740" y="1856232"/>
            <a:ext cx="3771900" cy="1188720"/>
          </a:xfrm>
          <a:prstGeom prst="rect">
            <a:avLst/>
          </a:prstGeom>
          <a:noFill/>
        </p:spPr>
        <p:txBody>
          <a:bodyPr wrap="square" lIns="0" rIns="0" tIns="0" bIns="0" anchor="t">
            <a:noAutofit/>
          </a:bodyPr>
          <a:lstStyle/>
          <a:p>
            <a:pPr algn="l">
              <a:spcAft>
                <a:spcPts val="400"/>
              </a:spcAft>
            </a:pPr>
            <a:r>
              <a:rPr sz="1200" b="1" lang="en-GB">
                <a:solidFill>
                  <a:schemeClr val="tx2"/>
                </a:solidFill>
              </a:rPr>
              <a:t>Targeted: </a:t>
            </a:r>
            <a:r>
              <a:rPr sz="1200" b="0" lang="en-GB">
                <a:solidFill>
                  <a:schemeClr val="tx1"/>
                </a:solidFill>
              </a:rPr>
              <a:t>CRM sends offers to the customers with the highest risk</a:t>
            </a:r>
          </a:p>
          <a:p>
            <a:pPr algn="l">
              <a:spcAft>
                <a:spcPts val="400"/>
              </a:spcAft>
            </a:pPr>
            <a:r>
              <a:rPr sz="1200" b="1" lang="en-GB">
                <a:solidFill>
                  <a:schemeClr val="tx2"/>
                </a:solidFill>
              </a:rPr>
              <a:t>Mixed: </a:t>
            </a:r>
            <a:r>
              <a:rPr sz="1200" b="0" lang="en-GB">
                <a:solidFill>
                  <a:schemeClr val="tx1"/>
                </a:solidFill>
              </a:rPr>
              <a:t>an offer coefficient mixes selection and effect; offered customers may churn more because they were picked for their risk</a:t>
            </a:r>
          </a:p>
        </p:txBody>
      </p:sp>
      <p:sp>
        <p:nvSpPr>
          <p:cNvPr id="18" name="Endo do row"/>
          <p:cNvSpPr/>
          <p:nvPr/>
        </p:nvSpPr>
        <p:spPr>
          <a:xfrm>
            <a:off x="457200" y="324612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ndo do bar"/>
          <p:cNvSpPr/>
          <p:nvPr/>
        </p:nvSpPr>
        <p:spPr>
          <a:xfrm>
            <a:off x="457200" y="3246120"/>
            <a:ext cx="64008" cy="5943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do text"/>
          <p:cNvSpPr txBox="1"/>
          <p:nvPr/>
        </p:nvSpPr>
        <p:spPr>
          <a:xfrm>
            <a:off x="658368" y="3246120"/>
            <a:ext cx="7936992" cy="594360"/>
          </a:xfrm>
          <a:prstGeom prst="rect">
            <a:avLst/>
          </a:prstGeom>
          <a:noFill/>
        </p:spPr>
        <p:txBody>
          <a:bodyPr wrap="square" lIns="0" rIns="0" tIns="0" bIns="0" anchor="ctr">
            <a:noAutofit/>
          </a:bodyPr>
          <a:lstStyle/>
          <a:p>
            <a:pPr algn="l">
              <a:spcAft>
                <a:spcPts val="400"/>
              </a:spcAft>
            </a:pPr>
            <a:r>
              <a:rPr sz="1250" b="1" lang="en-GB">
                <a:solidFill>
                  <a:schemeClr val="tx2"/>
                </a:solidFill>
              </a:rPr>
              <a:t>Do: </a:t>
            </a:r>
            <a:r>
              <a:rPr sz="1250" b="0" lang="en-GB">
                <a:solidFill>
                  <a:schemeClr val="tx1"/>
                </a:solidFill>
              </a:rPr>
              <a:t>randomise with a control group, as in our pilot (slide 45); otherwise argue an instrument and use a recursive bivariate probit for a binary treatment.</a:t>
            </a:r>
          </a:p>
        </p:txBody>
      </p:sp>
      <p:sp>
        <p:nvSpPr>
          <p:cNvPr id="21" name="Endo dont box"/>
          <p:cNvSpPr/>
          <p:nvPr/>
        </p:nvSpPr>
        <p:spPr>
          <a:xfrm>
            <a:off x="457200" y="39776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ndo dont text"/>
          <p:cNvSpPr txBox="1"/>
          <p:nvPr/>
        </p:nvSpPr>
        <p:spPr>
          <a:xfrm>
            <a:off x="658368" y="3977640"/>
            <a:ext cx="7827264"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Don’t: </a:t>
            </a:r>
            <a:r>
              <a:rPr sz="1250" b="0" lang="en-GB">
                <a:solidFill>
                  <a:schemeClr val="bg1"/>
                </a:solidFill>
              </a:rPr>
              <a:t>read the coefficient of a targeted offer or price rise as its effect, or plug first-stage fitted values into a logit.</a:t>
            </a:r>
          </a:p>
        </p:txBody>
      </p:sp>
      <p:sp>
        <p:nvSpPr>
          <p:cNvPr id="2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Reme et al. (2022), Mgmt Sci; Ascarza (2018), JMR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evaluation, targeting, profit, uplift</a:t>
            </a:r>
          </a:p>
        </p:txBody>
      </p:sp>
      <p:sp>
        <p:nvSpPr>
          <p:cNvPr id="3" name="Title 2"/>
          <p:cNvSpPr>
            <a:spLocks noGrp="1"/>
          </p:cNvSpPr>
          <p:nvPr>
            <p:ph type="ctrTitle"/>
          </p:nvPr>
        </p:nvSpPr>
        <p:spPr/>
        <p:txBody>
          <a:bodyPr/>
          <a:lstStyle/>
          <a:p>
            <a:r>
              <a:rPr lang="en-GB"/>
              <a:t>Using a churn model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Train, test, threshold: the confusion matrix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val steps step 1"/>
          <p:cNvSpPr/>
          <p:nvPr/>
        </p:nvSpPr>
        <p:spPr>
          <a:xfrm>
            <a:off x="457200" y="1234440"/>
            <a:ext cx="1733702" cy="41148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Fit on 70 %</a:t>
            </a:r>
          </a:p>
        </p:txBody>
      </p:sp>
      <p:sp>
        <p:nvSpPr>
          <p:cNvPr id="11" name="Eval steps step 2"/>
          <p:cNvSpPr/>
          <p:nvPr/>
        </p:nvSpPr>
        <p:spPr>
          <a:xfrm>
            <a:off x="2081174"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Score 30 %</a:t>
            </a:r>
          </a:p>
        </p:txBody>
      </p:sp>
      <p:sp>
        <p:nvSpPr>
          <p:cNvPr id="12" name="Eval steps step 3"/>
          <p:cNvSpPr/>
          <p:nvPr/>
        </p:nvSpPr>
        <p:spPr>
          <a:xfrm>
            <a:off x="3705149" y="1234440"/>
            <a:ext cx="1733702" cy="41148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bg1"/>
                </a:solidFill>
              </a:rPr>
              <a:t>Pick a</a:t>
            </a:r>
            <a:br/>
            <a:r>
              <a:rPr sz="1100" b="1" lang="en-GB">
                <a:solidFill>
                  <a:schemeClr val="bg1"/>
                </a:solidFill>
              </a:rPr>
              <a:t>threshold</a:t>
            </a:r>
          </a:p>
        </p:txBody>
      </p:sp>
      <p:sp>
        <p:nvSpPr>
          <p:cNvPr id="13" name="Eval steps step 4"/>
          <p:cNvSpPr/>
          <p:nvPr/>
        </p:nvSpPr>
        <p:spPr>
          <a:xfrm>
            <a:off x="5329123"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Campaign</a:t>
            </a:r>
          </a:p>
        </p:txBody>
      </p:sp>
      <p:sp>
        <p:nvSpPr>
          <p:cNvPr id="14" name="Eval steps step 5"/>
          <p:cNvSpPr/>
          <p:nvPr/>
        </p:nvSpPr>
        <p:spPr>
          <a:xfrm>
            <a:off x="6953098"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Measure vs</a:t>
            </a:r>
            <a:br/>
            <a:r>
              <a:rPr sz="1100" b="1" lang="en-GB">
                <a:solidFill>
                  <a:schemeClr val="tx2"/>
                </a:solidFill>
              </a:rPr>
              <a:t>control</a:t>
            </a:r>
          </a:p>
        </p:txBody>
      </p:sp>
      <p:sp>
        <p:nvSpPr>
          <p:cNvPr id="15" name="Confusion 1-1"/>
          <p:cNvSpPr/>
          <p:nvPr/>
        </p:nvSpPr>
        <p:spPr>
          <a:xfrm>
            <a:off x="457200" y="1828800"/>
            <a:ext cx="15270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nfusion text 1-1"/>
          <p:cNvSpPr txBox="1"/>
          <p:nvPr/>
        </p:nvSpPr>
        <p:spPr>
          <a:xfrm>
            <a:off x="548640" y="1828800"/>
            <a:ext cx="1344168" cy="512064"/>
          </a:xfrm>
          <a:prstGeom prst="rect">
            <a:avLst/>
          </a:prstGeom>
          <a:noFill/>
        </p:spPr>
        <p:txBody>
          <a:bodyPr wrap="square" lIns="0" rIns="0" tIns="0" bIns="0" anchor="ctr">
            <a:noAutofit/>
          </a:bodyPr>
          <a:lstStyle/>
          <a:p>
            <a:pPr algn="l">
              <a:spcAft>
                <a:spcPts val="400"/>
              </a:spcAft>
            </a:pPr>
            <a:r>
              <a:rPr sz="1200" b="1" lang="en-GB">
                <a:solidFill>
                  <a:schemeClr val="bg1"/>
                </a:solidFill>
              </a:rPr>
              <a:t>Threshold 0.5</a:t>
            </a:r>
          </a:p>
        </p:txBody>
      </p:sp>
      <p:sp>
        <p:nvSpPr>
          <p:cNvPr id="17" name="Confusion 1-2"/>
          <p:cNvSpPr/>
          <p:nvPr/>
        </p:nvSpPr>
        <p:spPr>
          <a:xfrm>
            <a:off x="2011680" y="1828800"/>
            <a:ext cx="12984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fusion text 1-2"/>
          <p:cNvSpPr txBox="1"/>
          <p:nvPr/>
        </p:nvSpPr>
        <p:spPr>
          <a:xfrm>
            <a:off x="2103120" y="182880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Actually churned</a:t>
            </a:r>
          </a:p>
        </p:txBody>
      </p:sp>
      <p:sp>
        <p:nvSpPr>
          <p:cNvPr id="19" name="Confusion 1-3"/>
          <p:cNvSpPr/>
          <p:nvPr/>
        </p:nvSpPr>
        <p:spPr>
          <a:xfrm>
            <a:off x="3337560" y="1828800"/>
            <a:ext cx="132588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nfusion text 1-3"/>
          <p:cNvSpPr txBox="1"/>
          <p:nvPr/>
        </p:nvSpPr>
        <p:spPr>
          <a:xfrm>
            <a:off x="3429000" y="182880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Actually stayed</a:t>
            </a:r>
          </a:p>
        </p:txBody>
      </p:sp>
      <p:sp>
        <p:nvSpPr>
          <p:cNvPr id="21" name="Confusion 2-1"/>
          <p:cNvSpPr/>
          <p:nvPr/>
        </p:nvSpPr>
        <p:spPr>
          <a:xfrm>
            <a:off x="457200" y="2368296"/>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nfusion text 2-1"/>
          <p:cNvSpPr txBox="1"/>
          <p:nvPr/>
        </p:nvSpPr>
        <p:spPr>
          <a:xfrm>
            <a:off x="548640" y="2368296"/>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Flagged</a:t>
            </a:r>
          </a:p>
        </p:txBody>
      </p:sp>
      <p:sp>
        <p:nvSpPr>
          <p:cNvPr id="23" name="Confusion 2-2"/>
          <p:cNvSpPr/>
          <p:nvPr/>
        </p:nvSpPr>
        <p:spPr>
          <a:xfrm>
            <a:off x="2011680" y="2368296"/>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nfusion text 2-2"/>
          <p:cNvSpPr txBox="1"/>
          <p:nvPr/>
        </p:nvSpPr>
        <p:spPr>
          <a:xfrm>
            <a:off x="2103120" y="236829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175 (TP)</a:t>
            </a:r>
          </a:p>
        </p:txBody>
      </p:sp>
      <p:sp>
        <p:nvSpPr>
          <p:cNvPr id="25" name="Confusion 2-3"/>
          <p:cNvSpPr/>
          <p:nvPr/>
        </p:nvSpPr>
        <p:spPr>
          <a:xfrm>
            <a:off x="3337560" y="2368296"/>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nfusion text 2-3"/>
          <p:cNvSpPr txBox="1"/>
          <p:nvPr/>
        </p:nvSpPr>
        <p:spPr>
          <a:xfrm>
            <a:off x="3429000" y="236829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106 (FP)</a:t>
            </a:r>
          </a:p>
        </p:txBody>
      </p:sp>
      <p:sp>
        <p:nvSpPr>
          <p:cNvPr id="27" name="Confusion 3-1"/>
          <p:cNvSpPr/>
          <p:nvPr/>
        </p:nvSpPr>
        <p:spPr>
          <a:xfrm>
            <a:off x="457200" y="2907792"/>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nfusion text 3-1"/>
          <p:cNvSpPr txBox="1"/>
          <p:nvPr/>
        </p:nvSpPr>
        <p:spPr>
          <a:xfrm>
            <a:off x="548640" y="2907792"/>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Not flagged</a:t>
            </a:r>
          </a:p>
        </p:txBody>
      </p:sp>
      <p:sp>
        <p:nvSpPr>
          <p:cNvPr id="29" name="Confusion 3-2"/>
          <p:cNvSpPr/>
          <p:nvPr/>
        </p:nvSpPr>
        <p:spPr>
          <a:xfrm>
            <a:off x="2011680" y="2907792"/>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nfusion text 3-2"/>
          <p:cNvSpPr txBox="1"/>
          <p:nvPr/>
        </p:nvSpPr>
        <p:spPr>
          <a:xfrm>
            <a:off x="2103120" y="290779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619 (FN)</a:t>
            </a:r>
          </a:p>
        </p:txBody>
      </p:sp>
      <p:sp>
        <p:nvSpPr>
          <p:cNvPr id="31" name="Confusion 3-3"/>
          <p:cNvSpPr/>
          <p:nvPr/>
        </p:nvSpPr>
        <p:spPr>
          <a:xfrm>
            <a:off x="3337560" y="2907792"/>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nfusion text 3-3"/>
          <p:cNvSpPr txBox="1"/>
          <p:nvPr/>
        </p:nvSpPr>
        <p:spPr>
          <a:xfrm>
            <a:off x="3429000" y="290779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2,384 (TN)</a:t>
            </a:r>
          </a:p>
        </p:txBody>
      </p:sp>
      <p:sp>
        <p:nvSpPr>
          <p:cNvPr id="33" name="Confusion caption"/>
          <p:cNvSpPr txBox="1"/>
          <p:nvPr/>
        </p:nvSpPr>
        <p:spPr>
          <a:xfrm>
            <a:off x="457200" y="3493008"/>
            <a:ext cx="42062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3,284 test customers, 794 churners (24.2 %)</a:t>
            </a:r>
          </a:p>
        </p:txBody>
      </p:sp>
      <p:sp>
        <p:nvSpPr>
          <p:cNvPr id="34" name="Accuracy stat box"/>
          <p:cNvSpPr/>
          <p:nvPr/>
        </p:nvSpPr>
        <p:spPr>
          <a:xfrm>
            <a:off x="4846320" y="1828800"/>
            <a:ext cx="384048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ccuracy stat bar"/>
          <p:cNvSpPr/>
          <p:nvPr/>
        </p:nvSpPr>
        <p:spPr>
          <a:xfrm>
            <a:off x="4846320" y="1828800"/>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Accuracy stat figure"/>
          <p:cNvSpPr txBox="1"/>
          <p:nvPr/>
        </p:nvSpPr>
        <p:spPr>
          <a:xfrm>
            <a:off x="5029200" y="1828800"/>
            <a:ext cx="1508760" cy="74980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77.9 %</a:t>
            </a:r>
          </a:p>
        </p:txBody>
      </p:sp>
      <p:sp>
        <p:nvSpPr>
          <p:cNvPr id="37" name="Accuracy stat label"/>
          <p:cNvSpPr txBox="1"/>
          <p:nvPr/>
        </p:nvSpPr>
        <p:spPr>
          <a:xfrm>
            <a:off x="6537960" y="1828800"/>
            <a:ext cx="2057400" cy="749808"/>
          </a:xfrm>
          <a:prstGeom prst="rect">
            <a:avLst/>
          </a:prstGeom>
          <a:noFill/>
        </p:spPr>
        <p:txBody>
          <a:bodyPr wrap="square" lIns="0" rIns="0" tIns="0" bIns="0" anchor="ctr">
            <a:noAutofit/>
          </a:bodyPr>
          <a:lstStyle/>
          <a:p>
            <a:pPr algn="l">
              <a:spcAft>
                <a:spcPts val="400"/>
              </a:spcAft>
            </a:pPr>
            <a:r>
              <a:rPr sz="1200" b="1" lang="en-GB">
                <a:solidFill>
                  <a:schemeClr val="tx2"/>
                </a:solidFill>
              </a:rPr>
              <a:t>accuracy; </a:t>
            </a:r>
            <a:r>
              <a:rPr sz="1200" b="0" lang="en-GB">
                <a:solidFill>
                  <a:schemeClr val="tx1"/>
                </a:solidFill>
              </a:rPr>
              <a:t>“nobody churns” scores 75.8 %</a:t>
            </a:r>
          </a:p>
        </p:txBody>
      </p:sp>
      <p:sp>
        <p:nvSpPr>
          <p:cNvPr id="38" name="Recall stat box"/>
          <p:cNvSpPr/>
          <p:nvPr/>
        </p:nvSpPr>
        <p:spPr>
          <a:xfrm>
            <a:off x="4846320" y="2670048"/>
            <a:ext cx="384048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all stat bar"/>
          <p:cNvSpPr/>
          <p:nvPr/>
        </p:nvSpPr>
        <p:spPr>
          <a:xfrm>
            <a:off x="4846320" y="2670048"/>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all stat figure"/>
          <p:cNvSpPr txBox="1"/>
          <p:nvPr/>
        </p:nvSpPr>
        <p:spPr>
          <a:xfrm>
            <a:off x="5029200" y="2670048"/>
            <a:ext cx="1508760" cy="74980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22.0 %</a:t>
            </a:r>
          </a:p>
        </p:txBody>
      </p:sp>
      <p:sp>
        <p:nvSpPr>
          <p:cNvPr id="41" name="Recall stat label"/>
          <p:cNvSpPr txBox="1"/>
          <p:nvPr/>
        </p:nvSpPr>
        <p:spPr>
          <a:xfrm>
            <a:off x="6537960" y="2670048"/>
            <a:ext cx="2057400" cy="749808"/>
          </a:xfrm>
          <a:prstGeom prst="rect">
            <a:avLst/>
          </a:prstGeom>
          <a:noFill/>
        </p:spPr>
        <p:txBody>
          <a:bodyPr wrap="square" lIns="0" rIns="0" tIns="0" bIns="0" anchor="ctr">
            <a:noAutofit/>
          </a:bodyPr>
          <a:lstStyle/>
          <a:p>
            <a:pPr algn="l">
              <a:spcAft>
                <a:spcPts val="400"/>
              </a:spcAft>
            </a:pPr>
            <a:r>
              <a:rPr sz="1200" b="1" lang="en-GB">
                <a:solidFill>
                  <a:schemeClr val="tx2"/>
                </a:solidFill>
              </a:rPr>
              <a:t>of churners caught </a:t>
            </a:r>
            <a:r>
              <a:rPr sz="1200" b="0" lang="en-GB">
                <a:solidFill>
                  <a:schemeClr val="tx1"/>
                </a:solidFill>
              </a:rPr>
              <a:t>(recall); 8.6 % of customers flagged</a:t>
            </a:r>
          </a:p>
        </p:txBody>
      </p:sp>
      <p:sp>
        <p:nvSpPr>
          <p:cNvPr id="42" name="Threshold callout box"/>
          <p:cNvSpPr/>
          <p:nvPr/>
        </p:nvSpPr>
        <p:spPr>
          <a:xfrm>
            <a:off x="457200" y="39319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hreshold callout text"/>
          <p:cNvSpPr txBox="1"/>
          <p:nvPr/>
        </p:nvSpPr>
        <p:spPr>
          <a:xfrm>
            <a:off x="658368" y="3931920"/>
            <a:ext cx="7827264"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Choose the threshold from costs: </a:t>
            </a:r>
            <a:r>
              <a:rPr sz="1250" b="0" lang="en-GB">
                <a:solidFill>
                  <a:schemeClr val="bg1"/>
                </a:solidFill>
              </a:rPr>
              <a:t>flag a customer when p &gt; cost of a wasted offer ÷ (cost of a wasted offer + cost of a missed churner); slide 44’s p* is the same threshold.</a:t>
            </a:r>
          </a:p>
        </p:txBody>
      </p:sp>
      <p:sp>
        <p:nvSpPr>
          <p:cNvPr id="4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Elkan (2001), IJCAI; simulated data (telco_churn.csv), 3,284 test customers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Ranking quality: AUC, Gini and top-decile 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gains.png" descr="Cumulative gains chart on the test customers: contacting the top 10 % by predicted churn reaches 24.6 % of churners, the top 30 % reaches 57.3 %; the random diagonal reaches 10 % and 30 %."/>
          <p:cNvPicPr>
            <a:picLocks noChangeAspect="1"/>
          </p:cNvPicPr>
          <p:nvPr/>
        </p:nvPicPr>
        <p:blipFill>
          <a:blip r:embed="rId3"/>
          <a:stretch>
            <a:fillRect/>
          </a:stretch>
        </p:blipFill>
        <p:spPr>
          <a:xfrm>
            <a:off x="457200" y="1234440"/>
            <a:ext cx="4206240" cy="2926080"/>
          </a:xfrm>
          <a:prstGeom prst="rect">
            <a:avLst/>
          </a:prstGeom>
        </p:spPr>
      </p:pic>
      <p:sp>
        <p:nvSpPr>
          <p:cNvPr id="11" name="AUC stat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UC stat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UC stat figure"/>
          <p:cNvSpPr txBox="1"/>
          <p:nvPr/>
        </p:nvSpPr>
        <p:spPr>
          <a:xfrm>
            <a:off x="4983480" y="1234440"/>
            <a:ext cx="12344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0.764</a:t>
            </a:r>
          </a:p>
        </p:txBody>
      </p:sp>
      <p:sp>
        <p:nvSpPr>
          <p:cNvPr id="14" name="AUC stat label"/>
          <p:cNvSpPr txBox="1"/>
          <p:nvPr/>
        </p:nvSpPr>
        <p:spPr>
          <a:xfrm>
            <a:off x="6217920" y="1234440"/>
            <a:ext cx="23774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AUC: </a:t>
            </a:r>
            <a:r>
              <a:rPr sz="1200" b="0" lang="en-GB">
                <a:solidFill>
                  <a:schemeClr val="tx1"/>
                </a:solidFill>
              </a:rPr>
              <a:t>a random churner outranks a random stayer 76 % of the time</a:t>
            </a:r>
          </a:p>
        </p:txBody>
      </p:sp>
      <p:sp>
        <p:nvSpPr>
          <p:cNvPr id="15" name="Gini stat box"/>
          <p:cNvSpPr/>
          <p:nvPr/>
        </p:nvSpPr>
        <p:spPr>
          <a:xfrm>
            <a:off x="4800600" y="224028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ini stat bar"/>
          <p:cNvSpPr/>
          <p:nvPr/>
        </p:nvSpPr>
        <p:spPr>
          <a:xfrm>
            <a:off x="480060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ini stat figure"/>
          <p:cNvSpPr txBox="1"/>
          <p:nvPr/>
        </p:nvSpPr>
        <p:spPr>
          <a:xfrm>
            <a:off x="4983480" y="2240280"/>
            <a:ext cx="12344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0.529</a:t>
            </a:r>
          </a:p>
        </p:txBody>
      </p:sp>
      <p:sp>
        <p:nvSpPr>
          <p:cNvPr id="18" name="Gini stat label"/>
          <p:cNvSpPr txBox="1"/>
          <p:nvPr/>
        </p:nvSpPr>
        <p:spPr>
          <a:xfrm>
            <a:off x="6217920" y="2240280"/>
            <a:ext cx="23774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Gini </a:t>
            </a:r>
            <a:r>
              <a:rPr sz="1200" b="0" lang="en-GB">
                <a:solidFill>
                  <a:schemeClr val="tx1"/>
                </a:solidFill>
              </a:rPr>
              <a:t>= 2·AUC − 1</a:t>
            </a:r>
          </a:p>
        </p:txBody>
      </p:sp>
      <p:sp>
        <p:nvSpPr>
          <p:cNvPr id="19" name="Lift stat box"/>
          <p:cNvSpPr/>
          <p:nvPr/>
        </p:nvSpPr>
        <p:spPr>
          <a:xfrm>
            <a:off x="4800600" y="324612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ift stat bar"/>
          <p:cNvSpPr/>
          <p:nvPr/>
        </p:nvSpPr>
        <p:spPr>
          <a:xfrm>
            <a:off x="480060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ift stat figure"/>
          <p:cNvSpPr txBox="1"/>
          <p:nvPr/>
        </p:nvSpPr>
        <p:spPr>
          <a:xfrm>
            <a:off x="4983480" y="3246120"/>
            <a:ext cx="12344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a:t>
            </a:r>
          </a:p>
        </p:txBody>
      </p:sp>
      <p:sp>
        <p:nvSpPr>
          <p:cNvPr id="22" name="Lift stat label"/>
          <p:cNvSpPr txBox="1"/>
          <p:nvPr/>
        </p:nvSpPr>
        <p:spPr>
          <a:xfrm>
            <a:off x="6217920" y="3246120"/>
            <a:ext cx="23774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top-decile lift: </a:t>
            </a:r>
            <a:r>
              <a:rPr sz="1200" b="0" lang="en-GB">
                <a:solidFill>
                  <a:schemeClr val="tx1"/>
                </a:solidFill>
              </a:rPr>
              <a:t>59.5 % churn in the top 10 % vs 24.2 % overall</a:t>
            </a:r>
          </a:p>
        </p:txBody>
      </p:sp>
      <p:sp>
        <p:nvSpPr>
          <p:cNvPr id="23" name="Lift callou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Lift callout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Fixed budget? </a:t>
            </a:r>
            <a:r>
              <a:rPr sz="1250" b="0" lang="en-GB">
                <a:solidFill>
                  <a:schemeClr val="bg1"/>
                </a:solidFill>
              </a:rPr>
              <a:t>Top-decile lift says what calling 10 % of the base buys.</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Neslin et al. (2006), JMR; simulated data (telco_churn.csv), test customers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Calibration: does 30 % mean 30 %?</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calibration.png" descr="Calibration plot: mean predicted vs observed churn in ten deciles of predicted churn. The points are close to the diagonal on average (slope 1.06, intercept 0.06); deciles 7 and 9 are 5 and 8 pp under-predicted."/>
          <p:cNvPicPr>
            <a:picLocks noChangeAspect="1"/>
          </p:cNvPicPr>
          <p:nvPr/>
        </p:nvPicPr>
        <p:blipFill>
          <a:blip r:embed="rId3"/>
          <a:stretch>
            <a:fillRect/>
          </a:stretch>
        </p:blipFill>
        <p:spPr>
          <a:xfrm>
            <a:off x="457200" y="1234440"/>
            <a:ext cx="2926080" cy="2697480"/>
          </a:xfrm>
          <a:prstGeom prst="rect">
            <a:avLst/>
          </a:prstGeom>
        </p:spPr>
      </p:pic>
      <p:sp>
        <p:nvSpPr>
          <p:cNvPr id="11" name="Brier stat box"/>
          <p:cNvSpPr/>
          <p:nvPr/>
        </p:nvSpPr>
        <p:spPr>
          <a:xfrm>
            <a:off x="3520440" y="1234440"/>
            <a:ext cx="516636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er stat bar"/>
          <p:cNvSpPr/>
          <p:nvPr/>
        </p:nvSpPr>
        <p:spPr>
          <a:xfrm>
            <a:off x="3520440" y="123444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rier stat figure"/>
          <p:cNvSpPr txBox="1"/>
          <p:nvPr/>
        </p:nvSpPr>
        <p:spPr>
          <a:xfrm>
            <a:off x="3703320" y="1234440"/>
            <a:ext cx="132588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0.152</a:t>
            </a:r>
          </a:p>
        </p:txBody>
      </p:sp>
      <p:sp>
        <p:nvSpPr>
          <p:cNvPr id="14" name="Brier stat label"/>
          <p:cNvSpPr txBox="1"/>
          <p:nvPr/>
        </p:nvSpPr>
        <p:spPr>
          <a:xfrm>
            <a:off x="5029200" y="1234440"/>
            <a:ext cx="356616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Brier score; </a:t>
            </a:r>
            <a:r>
              <a:rPr sz="1200" b="0" lang="en-GB">
                <a:solidFill>
                  <a:schemeClr val="tx1"/>
                </a:solidFill>
              </a:rPr>
              <a:t>predicting 24.2 % for everyone scores 0.183</a:t>
            </a:r>
          </a:p>
        </p:txBody>
      </p:sp>
      <p:sp>
        <p:nvSpPr>
          <p:cNvPr id="15" name="Slope stat box"/>
          <p:cNvSpPr/>
          <p:nvPr/>
        </p:nvSpPr>
        <p:spPr>
          <a:xfrm>
            <a:off x="3520440" y="2179320"/>
            <a:ext cx="516636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lope stat bar"/>
          <p:cNvSpPr/>
          <p:nvPr/>
        </p:nvSpPr>
        <p:spPr>
          <a:xfrm>
            <a:off x="3520440" y="217932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lope stat figure"/>
          <p:cNvSpPr txBox="1"/>
          <p:nvPr/>
        </p:nvSpPr>
        <p:spPr>
          <a:xfrm>
            <a:off x="3703320" y="2179320"/>
            <a:ext cx="132588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1.06</a:t>
            </a:r>
          </a:p>
        </p:txBody>
      </p:sp>
      <p:sp>
        <p:nvSpPr>
          <p:cNvPr id="18" name="Slope stat label"/>
          <p:cNvSpPr txBox="1"/>
          <p:nvPr/>
        </p:nvSpPr>
        <p:spPr>
          <a:xfrm>
            <a:off x="5029200" y="2179320"/>
            <a:ext cx="356616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calibration slope </a:t>
            </a:r>
            <a:r>
              <a:rPr sz="1200" b="0" lang="en-GB">
                <a:solidFill>
                  <a:schemeClr val="tx1"/>
                </a:solidFill>
              </a:rPr>
              <a:t>(ideal 1); calibration in the large 0.06 (ideal 0)</a:t>
            </a:r>
          </a:p>
        </p:txBody>
      </p:sp>
      <p:sp>
        <p:nvSpPr>
          <p:cNvPr id="19" name="Oversample row row"/>
          <p:cNvSpPr/>
          <p:nvPr/>
        </p:nvSpPr>
        <p:spPr>
          <a:xfrm>
            <a:off x="3520440" y="3124200"/>
            <a:ext cx="516636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ersample row bar"/>
          <p:cNvSpPr/>
          <p:nvPr/>
        </p:nvSpPr>
        <p:spPr>
          <a:xfrm>
            <a:off x="3520440" y="312420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ersample row text"/>
          <p:cNvSpPr txBox="1"/>
          <p:nvPr/>
        </p:nvSpPr>
        <p:spPr>
          <a:xfrm>
            <a:off x="3721608" y="3124200"/>
            <a:ext cx="4873752"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Do not oversample blindly: </a:t>
            </a:r>
            <a:r>
              <a:rPr sz="1200" b="0" lang="en-GB">
                <a:solidFill>
                  <a:schemeClr val="tx1"/>
                </a:solidFill>
              </a:rPr>
              <a:t>50/50 samples keep the ranking but inflate every probability; correct the intercept</a:t>
            </a:r>
          </a:p>
        </p:txBody>
      </p:sp>
      <p:sp>
        <p:nvSpPr>
          <p:cNvPr id="22" name="Calibration callout box"/>
          <p:cNvSpPr/>
          <p:nvPr/>
        </p:nvSpPr>
        <p:spPr>
          <a:xfrm>
            <a:off x="457200" y="40690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alibration callout text"/>
          <p:cNvSpPr txBox="1"/>
          <p:nvPr/>
        </p:nvSpPr>
        <p:spPr>
          <a:xfrm>
            <a:off x="658368" y="406908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Why it matters: </a:t>
            </a:r>
            <a:r>
              <a:rPr sz="1250" b="0" lang="en-GB">
                <a:solidFill>
                  <a:schemeClr val="bg1"/>
                </a:solidFill>
              </a:rPr>
              <a:t>profit rules and CLV use the probability itself, not only the ranking.</a:t>
            </a:r>
          </a:p>
        </p:txBody>
      </p:sp>
      <p:sp>
        <p:nvSpPr>
          <p:cNvPr id="2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Van Calster et al. (2019), BMC Med; King &amp; Zeng (2001); van den Goorbergh et al. (2022), JAMIA; simulated data (telco_churn.csv)</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Does a churn model travel across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transfer.png" descr="Columns per country: churn predicted by a model fitted on German customers vs actual churn of the test customers. DE 15.2 % vs 16.3 %, AT 15.1 % vs 16.2 %, ES 15.7 % vs 35.2 %, PL 17.4 % vs 29.0 %; AUC of the German model DE 0.77, AT 0.78, ES 0.71, PL 0.72."/>
          <p:cNvPicPr>
            <a:picLocks noChangeAspect="1"/>
          </p:cNvPicPr>
          <p:nvPr/>
        </p:nvPicPr>
        <p:blipFill>
          <a:blip r:embed="rId3"/>
          <a:stretch>
            <a:fillRect/>
          </a:stretch>
        </p:blipFill>
        <p:spPr>
          <a:xfrm>
            <a:off x="457200" y="1234440"/>
            <a:ext cx="4206240" cy="2926080"/>
          </a:xfrm>
          <a:prstGeom prst="rect">
            <a:avLst/>
          </a:prstGeom>
        </p:spPr>
      </p:pic>
      <p:sp>
        <p:nvSpPr>
          <p:cNvPr id="11" name="Transfer AUC stat box"/>
          <p:cNvSpPr/>
          <p:nvPr/>
        </p:nvSpPr>
        <p:spPr>
          <a:xfrm>
            <a:off x="4800600" y="1234440"/>
            <a:ext cx="3886200" cy="883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ansfer AUC stat bar"/>
          <p:cNvSpPr/>
          <p:nvPr/>
        </p:nvSpPr>
        <p:spPr>
          <a:xfrm>
            <a:off x="4800600" y="1234440"/>
            <a:ext cx="64008" cy="883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ransfer AUC stat figure"/>
          <p:cNvSpPr txBox="1"/>
          <p:nvPr/>
        </p:nvSpPr>
        <p:spPr>
          <a:xfrm>
            <a:off x="4983480" y="1234440"/>
            <a:ext cx="1508760" cy="883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0.709</a:t>
            </a:r>
          </a:p>
        </p:txBody>
      </p:sp>
      <p:sp>
        <p:nvSpPr>
          <p:cNvPr id="14" name="Transfer AUC stat label"/>
          <p:cNvSpPr txBox="1"/>
          <p:nvPr/>
        </p:nvSpPr>
        <p:spPr>
          <a:xfrm>
            <a:off x="6492240" y="1234440"/>
            <a:ext cx="2103120" cy="883920"/>
          </a:xfrm>
          <a:prstGeom prst="rect">
            <a:avLst/>
          </a:prstGeom>
          <a:noFill/>
        </p:spPr>
        <p:txBody>
          <a:bodyPr wrap="square" lIns="0" rIns="0" tIns="0" bIns="0" anchor="ctr">
            <a:noAutofit/>
          </a:bodyPr>
          <a:lstStyle/>
          <a:p>
            <a:pPr algn="l">
              <a:spcAft>
                <a:spcPts val="400"/>
              </a:spcAft>
            </a:pPr>
            <a:r>
              <a:rPr sz="1200" b="1" lang="en-GB">
                <a:solidFill>
                  <a:schemeClr val="tx2"/>
                </a:solidFill>
              </a:rPr>
              <a:t>AUC of the German model in Spain </a:t>
            </a:r>
            <a:r>
              <a:rPr sz="1200" b="0" lang="en-GB">
                <a:solidFill>
                  <a:schemeClr val="tx1"/>
                </a:solidFill>
              </a:rPr>
              <a:t>(Spain's own model: 0.718)</a:t>
            </a:r>
          </a:p>
        </p:txBody>
      </p:sp>
      <p:sp>
        <p:nvSpPr>
          <p:cNvPr id="15" name="Transfer ES stat box"/>
          <p:cNvSpPr/>
          <p:nvPr/>
        </p:nvSpPr>
        <p:spPr>
          <a:xfrm>
            <a:off x="4800600" y="2255520"/>
            <a:ext cx="3886200" cy="883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ransfer ES stat bar"/>
          <p:cNvSpPr/>
          <p:nvPr/>
        </p:nvSpPr>
        <p:spPr>
          <a:xfrm>
            <a:off x="4800600" y="2255520"/>
            <a:ext cx="64008" cy="883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ransfer ES stat figure"/>
          <p:cNvSpPr txBox="1"/>
          <p:nvPr/>
        </p:nvSpPr>
        <p:spPr>
          <a:xfrm>
            <a:off x="4983480" y="2255520"/>
            <a:ext cx="1508760" cy="883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15.7 %</a:t>
            </a:r>
          </a:p>
        </p:txBody>
      </p:sp>
      <p:sp>
        <p:nvSpPr>
          <p:cNvPr id="18" name="Transfer ES stat label"/>
          <p:cNvSpPr txBox="1"/>
          <p:nvPr/>
        </p:nvSpPr>
        <p:spPr>
          <a:xfrm>
            <a:off x="6492240" y="2255520"/>
            <a:ext cx="2103120" cy="883920"/>
          </a:xfrm>
          <a:prstGeom prst="rect">
            <a:avLst/>
          </a:prstGeom>
          <a:noFill/>
        </p:spPr>
        <p:txBody>
          <a:bodyPr wrap="square" lIns="0" rIns="0" tIns="0" bIns="0" anchor="ctr">
            <a:noAutofit/>
          </a:bodyPr>
          <a:lstStyle/>
          <a:p>
            <a:pPr algn="l">
              <a:spcAft>
                <a:spcPts val="400"/>
              </a:spcAft>
            </a:pPr>
            <a:r>
              <a:rPr sz="1200" b="1" lang="en-GB">
                <a:solidFill>
                  <a:schemeClr val="tx2"/>
                </a:solidFill>
              </a:rPr>
              <a:t>predicted churn </a:t>
            </a:r>
            <a:r>
              <a:rPr sz="1200" b="0" lang="en-GB">
                <a:solidFill>
                  <a:schemeClr val="tx1"/>
                </a:solidFill>
              </a:rPr>
              <a:t>for Spanish customers; actual 35.2 %</a:t>
            </a:r>
          </a:p>
        </p:txBody>
      </p:sp>
      <p:sp>
        <p:nvSpPr>
          <p:cNvPr id="19" name="Transfer PL stat box"/>
          <p:cNvSpPr/>
          <p:nvPr/>
        </p:nvSpPr>
        <p:spPr>
          <a:xfrm>
            <a:off x="4800600" y="3276600"/>
            <a:ext cx="3886200" cy="883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ransfer PL stat bar"/>
          <p:cNvSpPr/>
          <p:nvPr/>
        </p:nvSpPr>
        <p:spPr>
          <a:xfrm>
            <a:off x="4800600" y="3276600"/>
            <a:ext cx="64008" cy="883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ransfer PL stat figure"/>
          <p:cNvSpPr txBox="1"/>
          <p:nvPr/>
        </p:nvSpPr>
        <p:spPr>
          <a:xfrm>
            <a:off x="4983480" y="3276600"/>
            <a:ext cx="1508760" cy="883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17.4 %</a:t>
            </a:r>
          </a:p>
        </p:txBody>
      </p:sp>
      <p:sp>
        <p:nvSpPr>
          <p:cNvPr id="22" name="Transfer PL stat label"/>
          <p:cNvSpPr txBox="1"/>
          <p:nvPr/>
        </p:nvSpPr>
        <p:spPr>
          <a:xfrm>
            <a:off x="6492240" y="3276600"/>
            <a:ext cx="2103120" cy="883920"/>
          </a:xfrm>
          <a:prstGeom prst="rect">
            <a:avLst/>
          </a:prstGeom>
          <a:noFill/>
        </p:spPr>
        <p:txBody>
          <a:bodyPr wrap="square" lIns="0" rIns="0" tIns="0" bIns="0" anchor="ctr">
            <a:noAutofit/>
          </a:bodyPr>
          <a:lstStyle/>
          <a:p>
            <a:pPr algn="l">
              <a:spcAft>
                <a:spcPts val="400"/>
              </a:spcAft>
            </a:pPr>
            <a:r>
              <a:rPr sz="1200" b="1" lang="en-GB">
                <a:solidFill>
                  <a:schemeClr val="tx2"/>
                </a:solidFill>
              </a:rPr>
              <a:t>predicted churn </a:t>
            </a:r>
            <a:r>
              <a:rPr sz="1200" b="0" lang="en-GB">
                <a:solidFill>
                  <a:schemeClr val="tx1"/>
                </a:solidFill>
              </a:rPr>
              <a:t>for Polish customers; actual 29.0 %</a:t>
            </a:r>
          </a:p>
        </p:txBody>
      </p:sp>
      <p:sp>
        <p:nvSpPr>
          <p:cNvPr id="23" name="Transfer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ransfer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Ranking travels, level does not: </a:t>
            </a:r>
            <a:r>
              <a:rPr sz="1250" b="0" lang="en-GB">
                <a:solidFill>
                  <a:schemeClr val="bg1"/>
                </a:solidFill>
              </a:rPr>
              <a:t>recalibrate the intercept per country and watch for drift.</a:t>
            </a:r>
          </a:p>
        </p:txBody>
      </p:sp>
      <p:sp>
        <p:nvSpPr>
          <p:cNvPr id="25"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Simester et al. (2020), Mgmt Sci; Risselada et al. (2010), J Interact Mktg; simulated data (telco_churn.csv)</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Campaign profit and the cost threshold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profit.png" descr="Campaign profit against the share of test customers contacted, highest predicted churn first: maximum €25.3k at 39 % contacted, −€11.1k when everyone is contacted."/>
          <p:cNvPicPr>
            <a:picLocks noChangeAspect="1"/>
          </p:cNvPicPr>
          <p:nvPr/>
        </p:nvPicPr>
        <p:blipFill>
          <a:blip r:embed="rId3"/>
          <a:stretch>
            <a:fillRect/>
          </a:stretch>
        </p:blipFill>
        <p:spPr>
          <a:xfrm>
            <a:off x="457200" y="1234440"/>
            <a:ext cx="4206240" cy="2331720"/>
          </a:xfrm>
          <a:prstGeom prst="rect">
            <a:avLst/>
          </a:prstGeom>
        </p:spPr>
      </p:pic>
      <p:sp>
        <p:nvSpPr>
          <p:cNvPr id="11" name="Profit pstar stat box"/>
          <p:cNvSpPr/>
          <p:nvPr/>
        </p:nvSpPr>
        <p:spPr>
          <a:xfrm>
            <a:off x="4800600" y="1234440"/>
            <a:ext cx="38862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rofit pstar stat bar"/>
          <p:cNvSpPr/>
          <p:nvPr/>
        </p:nvSpPr>
        <p:spPr>
          <a:xfrm>
            <a:off x="4800600" y="123444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fit pstar stat figure"/>
          <p:cNvSpPr txBox="1"/>
          <p:nvPr/>
        </p:nvSpPr>
        <p:spPr>
          <a:xfrm>
            <a:off x="4983480" y="1234440"/>
            <a:ext cx="1508760"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0.27</a:t>
            </a:r>
          </a:p>
        </p:txBody>
      </p:sp>
      <p:sp>
        <p:nvSpPr>
          <p:cNvPr id="14" name="Profit pstar stat label"/>
          <p:cNvSpPr txBox="1"/>
          <p:nvPr/>
        </p:nvSpPr>
        <p:spPr>
          <a:xfrm>
            <a:off x="6492240" y="1234440"/>
            <a:ext cx="210312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break-even churn probability p*: </a:t>
            </a:r>
            <a:r>
              <a:rPr sz="1200" b="0" lang="en-GB">
                <a:solidFill>
                  <a:schemeClr val="tx1"/>
                </a:solidFill>
              </a:rPr>
              <a:t>contact above it</a:t>
            </a:r>
          </a:p>
        </p:txBody>
      </p:sp>
      <p:sp>
        <p:nvSpPr>
          <p:cNvPr id="15" name="Profit share stat box"/>
          <p:cNvSpPr/>
          <p:nvPr/>
        </p:nvSpPr>
        <p:spPr>
          <a:xfrm>
            <a:off x="4800600" y="2057400"/>
            <a:ext cx="38862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fit share stat bar"/>
          <p:cNvSpPr/>
          <p:nvPr/>
        </p:nvSpPr>
        <p:spPr>
          <a:xfrm>
            <a:off x="4800600" y="205740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fit share stat figure"/>
          <p:cNvSpPr txBox="1"/>
          <p:nvPr/>
        </p:nvSpPr>
        <p:spPr>
          <a:xfrm>
            <a:off x="4983480" y="2057400"/>
            <a:ext cx="1508760"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39 %</a:t>
            </a:r>
          </a:p>
        </p:txBody>
      </p:sp>
      <p:sp>
        <p:nvSpPr>
          <p:cNvPr id="18" name="Profit share stat label"/>
          <p:cNvSpPr txBox="1"/>
          <p:nvPr/>
        </p:nvSpPr>
        <p:spPr>
          <a:xfrm>
            <a:off x="6492240" y="2057400"/>
            <a:ext cx="210312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of customers contacted </a:t>
            </a:r>
            <a:r>
              <a:rPr sz="1200" b="0" lang="en-GB">
                <a:solidFill>
                  <a:schemeClr val="tx1"/>
                </a:solidFill>
              </a:rPr>
              <a:t>at the profit optimum (€25.3k)</a:t>
            </a:r>
          </a:p>
        </p:txBody>
      </p:sp>
      <p:sp>
        <p:nvSpPr>
          <p:cNvPr id="19" name="Profit all stat box"/>
          <p:cNvSpPr/>
          <p:nvPr/>
        </p:nvSpPr>
        <p:spPr>
          <a:xfrm>
            <a:off x="4800600" y="2880360"/>
            <a:ext cx="38862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fit all stat bar"/>
          <p:cNvSpPr/>
          <p:nvPr/>
        </p:nvSpPr>
        <p:spPr>
          <a:xfrm>
            <a:off x="4800600" y="288036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fit all stat figure"/>
          <p:cNvSpPr txBox="1"/>
          <p:nvPr/>
        </p:nvSpPr>
        <p:spPr>
          <a:xfrm>
            <a:off x="4983480" y="2880360"/>
            <a:ext cx="1508760"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−€11k</a:t>
            </a:r>
          </a:p>
        </p:txBody>
      </p:sp>
      <p:sp>
        <p:nvSpPr>
          <p:cNvPr id="22" name="Profit all stat label"/>
          <p:cNvSpPr txBox="1"/>
          <p:nvPr/>
        </p:nvSpPr>
        <p:spPr>
          <a:xfrm>
            <a:off x="6492240" y="2880360"/>
            <a:ext cx="210312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profit </a:t>
            </a:r>
            <a:r>
              <a:rPr sz="1200" b="0" lang="en-GB">
                <a:solidFill>
                  <a:schemeClr val="tx1"/>
                </a:solidFill>
              </a:rPr>
              <a:t>when every customer gets the offer</a:t>
            </a:r>
          </a:p>
        </p:txBody>
      </p:sp>
      <p:sp>
        <p:nvSpPr>
          <p:cNvPr id="23" name="Profit formula caption bar"/>
          <p:cNvSpPr/>
          <p:nvPr/>
        </p:nvSpPr>
        <p:spPr>
          <a:xfrm>
            <a:off x="457200" y="370332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fit formula caption"/>
          <p:cNvSpPr txBox="1"/>
          <p:nvPr/>
        </p:nvSpPr>
        <p:spPr>
          <a:xfrm>
            <a:off x="566928" y="370332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Neslin et al. (2006) framework (reconstructed); p* derived; A = 0</a:t>
            </a:r>
          </a:p>
        </p:txBody>
      </p:sp>
      <p:sp>
        <p:nvSpPr>
          <p:cNvPr id="25" name="Profit formula box"/>
          <p:cNvSpPr/>
          <p:nvPr/>
        </p:nvSpPr>
        <p:spPr>
          <a:xfrm>
            <a:off x="457200" y="397764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fit formula code"/>
          <p:cNvSpPr txBox="1"/>
          <p:nvPr/>
        </p:nvSpPr>
        <p:spPr>
          <a:xfrm>
            <a:off x="594360" y="4069080"/>
            <a:ext cx="7955280" cy="4572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profit = N·α·{[γ·LTV + δ(1 − γ)]·β₀·λ − δ − c} − A</a:t>
            </a:r>
          </a:p>
          <a:p>
            <a:pPr algn="l">
              <a:spcAft>
                <a:spcPts val="0"/>
              </a:spcAft>
            </a:pPr>
            <a:r>
              <a:rPr sz="1100" b="0" lang="en-GB">
                <a:solidFill>
                  <a:schemeClr val="bg1"/>
                </a:solidFill>
                <a:latin typeface="Consolas"/>
              </a:rPr>
              <a:t>p*     = (c + δ) / (γ·LTV + δ(1 − γ))</a:t>
            </a:r>
          </a:p>
          <a:p>
            <a:pPr algn="l">
              <a:spcAft>
                <a:spcPts val="0"/>
              </a:spcAft>
            </a:pPr>
            <a:r>
              <a:rPr sz="1100" b="0" lang="en-GB">
                <a:solidFill>
                  <a:schemeClr val="bg1"/>
                </a:solidFill>
                <a:latin typeface="Consolas"/>
              </a:rPr>
              <a:t>illustrative: LTV €400, acceptance γ = 0.25, offer δ = €30, contact c = €3, A = 0</a:t>
            </a:r>
          </a:p>
        </p:txBody>
      </p:sp>
      <p:sp>
        <p:nvSpPr>
          <p:cNvPr id="27"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Neslin et al. (2006), JMR; Verbeke et al. (2012), EJOR; Verbraken et al. (2013), IEEE TKDE; simulated data (telco_churn.csv)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Risk is not uplift: the retention-offer 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uplift.png" descr="Offer effect on churn in pp with 95 % intervals; below 0 = fewer churners. By risk quartile: Q1 −3.3 pp, Q2 −7.0 pp, Q3 −11.1 pp, Q4 −10.2 pp. By complaint calls: 0 −8.5 pp, 1 −8.3 pp, 2 −6.5 pp, 3+ +8.2 pp (n = 377, interval includes 0)."/>
          <p:cNvPicPr>
            <a:picLocks noChangeAspect="1"/>
          </p:cNvPicPr>
          <p:nvPr/>
        </p:nvPicPr>
        <p:blipFill>
          <a:blip r:embed="rId3"/>
          <a:stretch>
            <a:fillRect/>
          </a:stretch>
        </p:blipFill>
        <p:spPr>
          <a:xfrm>
            <a:off x="457200" y="1234440"/>
            <a:ext cx="5120640" cy="2743200"/>
          </a:xfrm>
          <a:prstGeom prst="rect">
            <a:avLst/>
          </a:prstGeom>
        </p:spPr>
      </p:pic>
      <p:sp>
        <p:nvSpPr>
          <p:cNvPr id="11" name="Uplift row 1 row"/>
          <p:cNvSpPr/>
          <p:nvPr/>
        </p:nvSpPr>
        <p:spPr>
          <a:xfrm>
            <a:off x="5715000" y="1234440"/>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Uplift row 1 bar"/>
          <p:cNvSpPr/>
          <p:nvPr/>
        </p:nvSpPr>
        <p:spPr>
          <a:xfrm>
            <a:off x="5715000" y="1234440"/>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Uplift row 1 text"/>
          <p:cNvSpPr txBox="1"/>
          <p:nvPr/>
        </p:nvSpPr>
        <p:spPr>
          <a:xfrm>
            <a:off x="5916168" y="1234440"/>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Highest risk ≠ largest effect: </a:t>
            </a:r>
            <a:r>
              <a:rPr sz="1200" b="0" lang="en-GB">
                <a:solidFill>
                  <a:schemeClr val="tx1"/>
                </a:solidFill>
              </a:rPr>
              <a:t>Q4 gains no more than Q3 (−10.2 pp vs −11.1 pp)</a:t>
            </a:r>
          </a:p>
        </p:txBody>
      </p:sp>
      <p:sp>
        <p:nvSpPr>
          <p:cNvPr id="14" name="Uplift row 2 row"/>
          <p:cNvSpPr/>
          <p:nvPr/>
        </p:nvSpPr>
        <p:spPr>
          <a:xfrm>
            <a:off x="5715000" y="2185416"/>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Uplift row 2 bar"/>
          <p:cNvSpPr/>
          <p:nvPr/>
        </p:nvSpPr>
        <p:spPr>
          <a:xfrm>
            <a:off x="5715000" y="2185416"/>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Uplift row 2 text"/>
          <p:cNvSpPr txBox="1"/>
          <p:nvPr/>
        </p:nvSpPr>
        <p:spPr>
          <a:xfrm>
            <a:off x="5916168" y="2185416"/>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No response: </a:t>
            </a:r>
            <a:r>
              <a:rPr sz="1200" b="0" lang="en-GB">
                <a:solidFill>
                  <a:schemeClr val="tx1"/>
                </a:solidFill>
              </a:rPr>
              <a:t>from three complaint calls on, the offer does not help (44 % churn without it)</a:t>
            </a:r>
          </a:p>
        </p:txBody>
      </p:sp>
      <p:sp>
        <p:nvSpPr>
          <p:cNvPr id="17" name="Uplift row 3 row"/>
          <p:cNvSpPr/>
          <p:nvPr/>
        </p:nvSpPr>
        <p:spPr>
          <a:xfrm>
            <a:off x="5715000" y="3136392"/>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Uplift row 3 bar"/>
          <p:cNvSpPr/>
          <p:nvPr/>
        </p:nvSpPr>
        <p:spPr>
          <a:xfrm>
            <a:off x="5715000" y="3136392"/>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Uplift row 3 text"/>
          <p:cNvSpPr txBox="1"/>
          <p:nvPr/>
        </p:nvSpPr>
        <p:spPr>
          <a:xfrm>
            <a:off x="5916168" y="3136392"/>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Small group: </a:t>
            </a:r>
            <a:r>
              <a:rPr sz="1200" b="0" lang="en-GB">
                <a:solidFill>
                  <a:schemeClr val="tx1"/>
                </a:solidFill>
              </a:rPr>
              <a:t>3+ calls are only 377 customers; the interval includes 0</a:t>
            </a:r>
          </a:p>
        </p:txBody>
      </p:sp>
      <p:sp>
        <p:nvSpPr>
          <p:cNvPr id="20" name="Uplift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Uplift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Target uplift, not risk: </a:t>
            </a:r>
            <a:r>
              <a:rPr sz="1250" b="0" lang="en-GB">
                <a:solidFill>
                  <a:schemeClr val="bg1"/>
                </a:solidFill>
              </a:rPr>
              <a:t>it needs a randomised control group.</a:t>
            </a:r>
          </a:p>
        </p:txBody>
      </p:sp>
      <p:sp>
        <p:nvSpPr>
          <p:cNvPr id="22"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Ascarza (2018), JMR; Devriendt et al. (2021), Inf Sci; simulated data (telco_churn.csv), offer pilot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 Python: evaluation and uplift in a few lines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ytho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ytho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 + numpy + polars</a:t>
            </a:r>
          </a:p>
        </p:txBody>
      </p:sp>
      <p:sp>
        <p:nvSpPr>
          <p:cNvPr id="12" name="Python code box"/>
          <p:cNvSpPr/>
          <p:nvPr/>
        </p:nvSpPr>
        <p:spPr>
          <a:xfrm>
            <a:off x="457200" y="1508760"/>
            <a:ext cx="493776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ython code code"/>
          <p:cNvSpPr txBox="1"/>
          <p:nvPr/>
        </p:nvSpPr>
        <p:spPr>
          <a:xfrm>
            <a:off x="594360" y="1600200"/>
            <a:ext cx="4663440" cy="26060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rng = np.random.default_rng(1)</a:t>
            </a:r>
          </a:p>
          <a:p>
            <a:pPr algn="l">
              <a:spcAft>
                <a:spcPts val="0"/>
              </a:spcAft>
            </a:pPr>
            <a:r>
              <a:rPr sz="1050" b="0" lang="en-GB">
                <a:solidFill>
                  <a:schemeClr val="bg1"/>
                </a:solidFill>
                <a:latin typeface="Consolas"/>
              </a:rPr>
              <a:t>test = rng.random(len(df)) &lt; 0.3</a:t>
            </a:r>
          </a:p>
          <a:p>
            <a:pPr algn="l">
              <a:spcAft>
                <a:spcPts val="0"/>
              </a:spcAft>
            </a:pPr>
            <a:r>
              <a:rPr sz="1050" b="0" lang="en-GB">
                <a:solidFill>
                  <a:schemeClr val="bg1"/>
                </a:solidFill>
                <a:latin typeface="Consolas"/>
              </a:rPr>
              <a:t>fit = smf.logit(FORMULA + " + satisfaction + C(country)",</a:t>
            </a:r>
          </a:p>
          <a:p>
            <a:pPr algn="l">
              <a:spcAft>
                <a:spcPts val="0"/>
              </a:spcAft>
            </a:pPr>
            <a:r>
              <a:rPr sz="1050" b="0" lang="en-GB">
                <a:solidFill>
                  <a:schemeClr val="bg1"/>
                </a:solidFill>
                <a:latin typeface="Consolas"/>
              </a:rPr>
              <a:t>                data=df[~test]).fit()</a:t>
            </a:r>
          </a:p>
          <a:p>
            <a:pPr algn="l">
              <a:spcAft>
                <a:spcPts val="0"/>
              </a:spcAft>
            </a:pPr>
            <a:r>
              <a:rPr sz="1050" b="0" lang="en-GB">
                <a:solidFill>
                  <a:schemeClr val="bg1"/>
                </a:solidFill>
                <a:latin typeface="Consolas"/>
              </a:rPr>
              <a:t>p = fit.predict(df[test]).to_numpy()</a:t>
            </a:r>
          </a:p>
          <a:p>
            <a:pPr algn="l">
              <a:spcAft>
                <a:spcPts val="0"/>
              </a:spcAft>
            </a:pPr>
            <a:r>
              <a:rPr sz="1050" b="0" lang="en-GB">
                <a:solidFill>
                  <a:schemeClr val="bg1"/>
                </a:solidFill>
                <a:latin typeface="Consolas"/>
              </a:rPr>
              <a:t>y = df.loc[test, "churn"].to_numpy()</a:t>
            </a:r>
          </a:p>
          <a:p>
            <a:pPr algn="l">
              <a:spcAft>
                <a:spcPts val="0"/>
              </a:spcAft>
            </a:pPr>
            <a:r>
              <a:rPr sz="1050" b="0" lang="en-GB">
                <a:solidFill>
                  <a:schemeClr val="bg1"/>
                </a:solidFill>
                <a:latin typeface="Consolas"/>
              </a:rPr>
              <a:t>top = np.argsort(-p)[:round(0.1 * len(y))]</a:t>
            </a:r>
          </a:p>
          <a:p>
            <a:pPr algn="l">
              <a:spcAft>
                <a:spcPts val="0"/>
              </a:spcAft>
            </a:pPr>
            <a:r>
              <a:rPr sz="1050" b="0" lang="en-GB">
                <a:solidFill>
                  <a:schemeClr val="bg1"/>
                </a:solidFill>
                <a:latin typeface="Consolas"/>
              </a:rPr>
              <a:t>lift = y[top].mean() / y.mean()          # 2.46</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ctrl = df[df["retention_offer"] == 0]</a:t>
            </a:r>
          </a:p>
          <a:p>
            <a:pPr algn="l">
              <a:spcAft>
                <a:spcPts val="0"/>
              </a:spcAft>
            </a:pPr>
            <a:r>
              <a:rPr sz="1050" b="0" lang="en-GB">
                <a:solidFill>
                  <a:schemeClr val="bg1"/>
                </a:solidFill>
                <a:latin typeface="Consolas"/>
              </a:rPr>
              <a:t>risk = smf.logit(FORMULA + " + satisfaction + C(country)",</a:t>
            </a:r>
          </a:p>
          <a:p>
            <a:pPr algn="l">
              <a:spcAft>
                <a:spcPts val="0"/>
              </a:spcAft>
            </a:pPr>
            <a:r>
              <a:rPr sz="1050" b="0" lang="en-GB">
                <a:solidFill>
                  <a:schemeClr val="bg1"/>
                </a:solidFill>
                <a:latin typeface="Consolas"/>
              </a:rPr>
              <a:t>                 data=ctrl).fit().predict(df)</a:t>
            </a:r>
          </a:p>
          <a:p>
            <a:pPr algn="l">
              <a:spcAft>
                <a:spcPts val="0"/>
              </a:spcAft>
            </a:pPr>
            <a:r>
              <a:rPr sz="1050" b="0" lang="en-GB">
                <a:solidFill>
                  <a:schemeClr val="bg1"/>
                </a:solidFill>
                <a:latin typeface="Consolas"/>
              </a:rPr>
              <a:t>df["risk"] = risk</a:t>
            </a:r>
          </a:p>
          <a:p>
            <a:pPr algn="l">
              <a:spcAft>
                <a:spcPts val="0"/>
              </a:spcAft>
            </a:pPr>
            <a:r>
              <a:rPr sz="1050" b="0" lang="en-GB">
                <a:solidFill>
                  <a:schemeClr val="bg1"/>
                </a:solidFill>
                <a:latin typeface="Consolas"/>
              </a:rPr>
              <a:t>df["risk_group"] = pl.Series(df["risk"]).qcut(</a:t>
            </a:r>
          </a:p>
          <a:p>
            <a:pPr algn="l">
              <a:spcAft>
                <a:spcPts val="0"/>
              </a:spcAft>
            </a:pPr>
            <a:r>
              <a:rPr sz="1050" b="0" lang="en-GB">
                <a:solidFill>
                  <a:schemeClr val="bg1"/>
                </a:solidFill>
                <a:latin typeface="Consolas"/>
              </a:rPr>
              <a:t>    4, labels=["Q1 low", "Q2", "Q3", "Q4 high"]).to_list()</a:t>
            </a:r>
          </a:p>
          <a:p>
            <a:pPr algn="l">
              <a:spcAft>
                <a:spcPts val="0"/>
              </a:spcAft>
            </a:pPr>
            <a:r>
              <a:rPr sz="1050" b="0" lang="en-GB">
                <a:solidFill>
                  <a:schemeClr val="bg1"/>
                </a:solidFill>
                <a:latin typeface="Consolas"/>
              </a:rPr>
              <a:t>df.pivot_table("churn", "risk_group", "retention_offer")</a:t>
            </a:r>
          </a:p>
        </p:txBody>
      </p:sp>
      <p:sp>
        <p:nvSpPr>
          <p:cNvPr id="14" name="Python row 1 row"/>
          <p:cNvSpPr/>
          <p:nvPr/>
        </p:nvSpPr>
        <p:spPr>
          <a:xfrm>
            <a:off x="5532120" y="1234440"/>
            <a:ext cx="3154680" cy="69723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ython row 1 bar"/>
          <p:cNvSpPr/>
          <p:nvPr/>
        </p:nvSpPr>
        <p:spPr>
          <a:xfrm>
            <a:off x="5532120" y="1234440"/>
            <a:ext cx="64008" cy="69723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ython row 1 text"/>
          <p:cNvSpPr txBox="1"/>
          <p:nvPr/>
        </p:nvSpPr>
        <p:spPr>
          <a:xfrm>
            <a:off x="5733288" y="1234440"/>
            <a:ext cx="2862072" cy="697230"/>
          </a:xfrm>
          <a:prstGeom prst="rect">
            <a:avLst/>
          </a:prstGeom>
          <a:noFill/>
        </p:spPr>
        <p:txBody>
          <a:bodyPr wrap="square" lIns="0" rIns="0" tIns="0" bIns="0" anchor="ctr">
            <a:noAutofit/>
          </a:bodyPr>
          <a:lstStyle/>
          <a:p>
            <a:pPr algn="l">
              <a:spcAft>
                <a:spcPts val="400"/>
              </a:spcAft>
            </a:pPr>
            <a:r>
              <a:rPr sz="1200" b="1" lang="en-GB">
                <a:solidFill>
                  <a:schemeClr val="tx2"/>
                </a:solidFill>
              </a:rPr>
              <a:t>Split: </a:t>
            </a:r>
            <a:r>
              <a:rPr sz="1200" b="0" lang="en-GB">
                <a:solidFill>
                  <a:schemeClr val="tx1"/>
                </a:solidFill>
              </a:rPr>
              <a:t>70/30 at random, seed 1: 3,284 test customers</a:t>
            </a:r>
          </a:p>
        </p:txBody>
      </p:sp>
      <p:sp>
        <p:nvSpPr>
          <p:cNvPr id="17" name="Python row 2 row"/>
          <p:cNvSpPr/>
          <p:nvPr/>
        </p:nvSpPr>
        <p:spPr>
          <a:xfrm>
            <a:off x="5532120" y="2023110"/>
            <a:ext cx="3154680" cy="69723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ython row 2 bar"/>
          <p:cNvSpPr/>
          <p:nvPr/>
        </p:nvSpPr>
        <p:spPr>
          <a:xfrm>
            <a:off x="5532120" y="2023110"/>
            <a:ext cx="64008" cy="69723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ython row 2 text"/>
          <p:cNvSpPr txBox="1"/>
          <p:nvPr/>
        </p:nvSpPr>
        <p:spPr>
          <a:xfrm>
            <a:off x="5733288" y="2023110"/>
            <a:ext cx="2862072" cy="697230"/>
          </a:xfrm>
          <a:prstGeom prst="rect">
            <a:avLst/>
          </a:prstGeom>
          <a:noFill/>
        </p:spPr>
        <p:txBody>
          <a:bodyPr wrap="square" lIns="0" rIns="0" tIns="0" bIns="0" anchor="ctr">
            <a:noAutofit/>
          </a:bodyPr>
          <a:lstStyle/>
          <a:p>
            <a:pPr algn="l">
              <a:spcAft>
                <a:spcPts val="400"/>
              </a:spcAft>
            </a:pPr>
            <a:r>
              <a:rPr sz="1200" b="1" lang="en-GB">
                <a:solidFill>
                  <a:schemeClr val="tx2"/>
                </a:solidFill>
              </a:rPr>
              <a:t>Lift: </a:t>
            </a:r>
            <a:r>
              <a:rPr sz="1200" b="0" lang="en-GB">
                <a:solidFill>
                  <a:schemeClr val="tx1"/>
                </a:solidFill>
              </a:rPr>
              <a:t>59.5 % churn in the top decile vs 24.2 %: 2.46</a:t>
            </a:r>
          </a:p>
        </p:txBody>
      </p:sp>
      <p:sp>
        <p:nvSpPr>
          <p:cNvPr id="20" name="Python row 3 row"/>
          <p:cNvSpPr/>
          <p:nvPr/>
        </p:nvSpPr>
        <p:spPr>
          <a:xfrm>
            <a:off x="5532120" y="2811780"/>
            <a:ext cx="3154680" cy="69723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ython row 3 bar"/>
          <p:cNvSpPr/>
          <p:nvPr/>
        </p:nvSpPr>
        <p:spPr>
          <a:xfrm>
            <a:off x="5532120" y="2811780"/>
            <a:ext cx="64008" cy="69723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ython row 3 text"/>
          <p:cNvSpPr txBox="1"/>
          <p:nvPr/>
        </p:nvSpPr>
        <p:spPr>
          <a:xfrm>
            <a:off x="5733288" y="2811780"/>
            <a:ext cx="2862072" cy="697230"/>
          </a:xfrm>
          <a:prstGeom prst="rect">
            <a:avLst/>
          </a:prstGeom>
          <a:noFill/>
        </p:spPr>
        <p:txBody>
          <a:bodyPr wrap="square" lIns="0" rIns="0" tIns="0" bIns="0" anchor="ctr">
            <a:noAutofit/>
          </a:bodyPr>
          <a:lstStyle/>
          <a:p>
            <a:pPr algn="l">
              <a:spcAft>
                <a:spcPts val="400"/>
              </a:spcAft>
            </a:pPr>
            <a:r>
              <a:rPr sz="1200" b="1" lang="en-GB">
                <a:solidFill>
                  <a:schemeClr val="tx2"/>
                </a:solidFill>
              </a:rPr>
              <a:t>Risk: </a:t>
            </a:r>
            <a:r>
              <a:rPr sz="1200" b="0" lang="en-GB">
                <a:solidFill>
                  <a:schemeClr val="tx1"/>
                </a:solidFill>
              </a:rPr>
              <a:t>model fitted on customers without the offer</a:t>
            </a:r>
          </a:p>
        </p:txBody>
      </p:sp>
      <p:sp>
        <p:nvSpPr>
          <p:cNvPr id="23" name="Python row 4 row"/>
          <p:cNvSpPr/>
          <p:nvPr/>
        </p:nvSpPr>
        <p:spPr>
          <a:xfrm>
            <a:off x="5532120" y="3600450"/>
            <a:ext cx="3154680" cy="69723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ython row 4 bar"/>
          <p:cNvSpPr/>
          <p:nvPr/>
        </p:nvSpPr>
        <p:spPr>
          <a:xfrm>
            <a:off x="5532120" y="3600450"/>
            <a:ext cx="64008" cy="69723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ython row 4 text"/>
          <p:cNvSpPr txBox="1"/>
          <p:nvPr/>
        </p:nvSpPr>
        <p:spPr>
          <a:xfrm>
            <a:off x="5733288" y="3600450"/>
            <a:ext cx="2862072" cy="697230"/>
          </a:xfrm>
          <a:prstGeom prst="rect">
            <a:avLst/>
          </a:prstGeom>
          <a:noFill/>
        </p:spPr>
        <p:txBody>
          <a:bodyPr wrap="square" lIns="0" rIns="0" tIns="0" bIns="0" anchor="ctr">
            <a:noAutofit/>
          </a:bodyPr>
          <a:lstStyle/>
          <a:p>
            <a:pPr algn="l">
              <a:spcAft>
                <a:spcPts val="400"/>
              </a:spcAft>
            </a:pPr>
            <a:r>
              <a:rPr sz="1200" b="1" lang="en-GB">
                <a:solidFill>
                  <a:schemeClr val="tx2"/>
                </a:solidFill>
              </a:rPr>
              <a:t>Uplift: </a:t>
            </a:r>
            <a:r>
              <a:rPr sz="1200" b="0" lang="en-GB">
                <a:solidFill>
                  <a:schemeClr val="tx1"/>
                </a:solidFill>
              </a:rPr>
              <a:t>churn with minus without the offer, per risk quartile</a:t>
            </a:r>
          </a:p>
        </p:txBody>
      </p:sp>
      <p:sp>
        <p:nvSpPr>
          <p:cNvPr id="26" name="Python callout box"/>
          <p:cNvSpPr/>
          <p:nvPr/>
        </p:nvSpPr>
        <p:spPr>
          <a:xfrm>
            <a:off x="457200" y="4389120"/>
            <a:ext cx="8229600"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ython callout text"/>
          <p:cNvSpPr txBox="1"/>
          <p:nvPr/>
        </p:nvSpPr>
        <p:spPr>
          <a:xfrm>
            <a:off x="658368" y="4389120"/>
            <a:ext cx="7827264"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Full code: </a:t>
            </a:r>
            <a:r>
              <a:rPr sz="1250" b="0" lang="en-GB">
                <a:solidFill>
                  <a:schemeClr val="bg1"/>
                </a:solidFill>
              </a:rPr>
              <a:t>sessions/01-foundations/logit_churn.qmd, Steps 8, 9 and 12.</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gulation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331720"/>
                <a:gridCol w="2926080"/>
                <a:gridCol w="2971800"/>
              </a:tblGrid>
              <a:tr h="370840">
                <a:tc>
                  <a:txBody>
                    <a:bodyPr/>
                    <a:lstStyle/>
                    <a:p>
                      <a:r>
                        <a:rPr sz="1300" lang="en-GB"/>
                        <a:t>Rule</a:t>
                      </a:r>
                    </a:p>
                  </a:txBody>
                  <a:tcPr marT="45000" marB="45000"/>
                </a:tc>
                <a:tc>
                  <a:txBody>
                    <a:bodyPr/>
                    <a:lstStyle/>
                    <a:p>
                      <a:r>
                        <a:rPr sz="1300" lang="en-GB"/>
                        <a:t>What it says</a:t>
                      </a:r>
                    </a:p>
                  </a:txBody>
                  <a:tcPr marT="45000" marB="45000"/>
                </a:tc>
                <a:tc>
                  <a:txBody>
                    <a:bodyPr/>
                    <a:lstStyle/>
                    <a:p>
                      <a:r>
                        <a:rPr sz="1300" lang="en-GB"/>
                        <a:t>For churn models</a:t>
                      </a:r>
                    </a:p>
                  </a:txBody>
                  <a:tcPr marT="45000" marB="45000"/>
                </a:tc>
              </a:tr>
              <a:tr h="370840">
                <a:tc>
                  <a:txBody>
                    <a:bodyPr/>
                    <a:lstStyle/>
                    <a:p>
                      <a:r>
                        <a:rPr sz="1200" b="1" lang="en-GB"/>
                        <a:t>EECC, Directive (EU) 2018/1972, Art. 105</a:t>
                      </a:r>
                    </a:p>
                  </a:txBody>
                  <a:tcPr marT="45000" marB="45000"/>
                </a:tc>
                <a:tc>
                  <a:txBody>
                    <a:bodyPr/>
                    <a:lstStyle/>
                    <a:p>
                      <a:r>
                        <a:rPr sz="1200" lang="en-GB"/>
                        <a:t>Max. 24 months; then one month's notice</a:t>
                      </a:r>
                    </a:p>
                  </a:txBody>
                  <a:tcPr marT="45000" marB="45000"/>
                </a:tc>
                <a:tc>
                  <a:txBody>
                    <a:bodyPr/>
                    <a:lstStyle/>
                    <a:p>
                      <a:r>
                        <a:rPr sz="1200" lang="en-GB"/>
                        <a:t>Contract ends and notice windows: country-shaped predictors</a:t>
                      </a:r>
                    </a:p>
                  </a:txBody>
                  <a:tcPr marT="45000" marB="45000"/>
                </a:tc>
              </a:tr>
              <a:tr h="370840">
                <a:tc>
                  <a:txBody>
                    <a:bodyPr/>
                    <a:lstStyle/>
                    <a:p>
                      <a:r>
                        <a:rPr sz="1200" b="1" lang="en-GB"/>
                        <a:t>Germany, § 312k BGB, since 1 July 2022</a:t>
                      </a:r>
                    </a:p>
                  </a:txBody>
                  <a:tcPr marT="45000" marB="45000"/>
                </a:tc>
                <a:tc>
                  <a:txBody>
                    <a:bodyPr/>
                    <a:lstStyle/>
                    <a:p>
                      <a:r>
                        <a:rPr sz="1200" lang="en-GB"/>
                        <a:t>Cancellation button for online contracts</a:t>
                      </a:r>
                    </a:p>
                  </a:txBody>
                  <a:tcPr marT="45000" marB="45000"/>
                </a:tc>
                <a:tc>
                  <a:txBody>
                    <a:bodyPr/>
                    <a:lstStyle/>
                    <a:p>
                      <a:r>
                        <a:rPr sz="1200" lang="en-GB"/>
                        <a:t>Cancelling is easy: retention must be proactive</a:t>
                      </a:r>
                    </a:p>
                  </a:txBody>
                  <a:tcPr marT="45000" marB="45000"/>
                </a:tc>
              </a:tr>
              <a:tr h="370840">
                <a:tc>
                  <a:txBody>
                    <a:bodyPr/>
                    <a:lstStyle/>
                    <a:p>
                      <a:r>
                        <a:rPr sz="1200" b="1" lang="en-GB"/>
                        <a:t>BGH, I ZR 200/25, 16 July 2026</a:t>
                      </a:r>
                    </a:p>
                  </a:txBody>
                  <a:tcPr marT="45000" marB="45000"/>
                </a:tc>
                <a:tc>
                  <a:txBody>
                    <a:bodyPr/>
                    <a:lstStyle/>
                    <a:p>
                      <a:r>
                        <a:rPr sz="1200" lang="en-GB"/>
                        <a:t>No prominent “pause instead” offer (gym contract; press reports)</a:t>
                      </a:r>
                    </a:p>
                  </a:txBody>
                  <a:tcPr marT="45000" marB="45000"/>
                </a:tc>
                <a:tc>
                  <a:txBody>
                    <a:bodyPr/>
                    <a:lstStyle/>
                    <a:p>
                      <a:r>
                        <a:rPr sz="1200" lang="en-GB"/>
                        <a:t>No retention offer on the confirmation page: predict earlier</a:t>
                      </a:r>
                    </a:p>
                  </a:txBody>
                  <a:tcPr marT="45000" marB="45000"/>
                </a:tc>
              </a:tr>
              <a:tr h="370840">
                <a:tc>
                  <a:txBody>
                    <a:bodyPr/>
                    <a:lstStyle/>
                    <a:p>
                      <a:r>
                        <a:rPr sz="1200" b="1" lang="en-GB"/>
                        <a:t>GDPR, Art. 21 and 22</a:t>
                      </a:r>
                    </a:p>
                  </a:txBody>
                  <a:tcPr marT="45000" marB="45000"/>
                </a:tc>
                <a:tc>
                  <a:txBody>
                    <a:bodyPr/>
                    <a:lstStyle/>
                    <a:p>
                      <a:r>
                        <a:rPr sz="1200" lang="en-GB"/>
                        <a:t>Opt-out from marketing profiling; limits on automated decisions</a:t>
                      </a:r>
                    </a:p>
                  </a:txBody>
                  <a:tcPr marT="45000" marB="45000"/>
                </a:tc>
                <a:tc>
                  <a:txBody>
                    <a:bodyPr/>
                    <a:lstStyle/>
                    <a:p>
                      <a:r>
                        <a:rPr sz="1200" lang="en-GB"/>
                        <a:t>Honour opt-outs; scores that set prices or terms need care</a:t>
                      </a:r>
                    </a:p>
                  </a:txBody>
                  <a:tcPr marT="45000" marB="45000"/>
                </a:tc>
              </a:tr>
              <a:tr h="370840">
                <a:tc>
                  <a:txBody>
                    <a:bodyPr/>
                    <a:lstStyle/>
                    <a:p>
                      <a:r>
                        <a:rPr sz="1200" b="1" lang="en-GB"/>
                        <a:t>EU AI Act, Annex III</a:t>
                      </a:r>
                    </a:p>
                  </a:txBody>
                  <a:tcPr marT="45000" marB="45000"/>
                </a:tc>
                <a:tc>
                  <a:txBody>
                    <a:bodyPr/>
                    <a:lstStyle/>
                    <a:p>
                      <a:r>
                        <a:rPr sz="1200" lang="en-GB"/>
                        <a:t>Credit scoring high-risk; churn models not listed (our reading)</a:t>
                      </a:r>
                    </a:p>
                  </a:txBody>
                  <a:tcPr marT="45000" marB="45000"/>
                </a:tc>
                <a:tc>
                  <a:txBody>
                    <a:bodyPr/>
                    <a:lstStyle/>
                    <a:p>
                      <a:r>
                        <a:rPr sz="1200" lang="en-GB"/>
                        <a:t>Same logit, different regime: regulation follows the use</a:t>
                      </a:r>
                    </a:p>
                  </a:txBody>
                  <a:tcPr marT="45000" marB="45000"/>
                </a:tc>
              </a:tr>
              <a:tr h="370840">
                <a:tc>
                  <a:txBody>
                    <a:bodyPr/>
                    <a:lstStyle/>
                    <a:p>
                      <a:r>
                        <a:rPr sz="1200" b="1" lang="en-GB"/>
                        <a:t>USA, FTC click-to-cancel</a:t>
                      </a:r>
                    </a:p>
                  </a:txBody>
                  <a:tcPr marT="45000" marB="45000"/>
                </a:tc>
                <a:tc>
                  <a:txBody>
                    <a:bodyPr/>
                    <a:lstStyle/>
                    <a:p>
                      <a:r>
                        <a:rPr sz="1200" lang="en-GB"/>
                        <a:t>Rule vacated, Eighth Circuit, 8 July 2025</a:t>
                      </a:r>
                    </a:p>
                  </a:txBody>
                  <a:tcPr marT="45000" marB="45000"/>
                </a:tc>
                <a:tc>
                  <a:txBody>
                    <a:bodyPr/>
                    <a:lstStyle/>
                    <a:p>
                      <a:r>
                        <a:rPr sz="1200" lang="en-GB"/>
                        <a:t>Exit friction differs by country, so baselines do too</a:t>
                      </a:r>
                    </a:p>
                  </a:txBody>
                  <a:tcPr marT="45000" marB="45000"/>
                </a:tc>
              </a:tr>
            </a:tbl>
          </a:graphicData>
        </a:graphic>
      </p:graphicFrame>
      <p:sp>
        <p:nvSpPr>
          <p:cNvPr id="3" name="Title 2"/>
          <p:cNvSpPr>
            <a:spLocks noGrp="1"/>
          </p:cNvSpPr>
          <p:nvPr>
            <p:ph type="title"/>
          </p:nvPr>
        </p:nvSpPr>
        <p:spPr/>
        <p:txBody>
          <a:bodyPr/>
          <a:lstStyle/>
          <a:p>
            <a:r>
              <a:rPr sz="1600" lang="en-GB"/>
              <a:t>Regulation in Europe shapes churn and retention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EUR-Lex 2018/1972; Reg. (EU) 2016/679 (GDPR); § 312k BGB; vzbv and LTO on BGH I ZR 200/25 (July 2026); Reg. (EU) 2024/1689; Latham &amp; Watkins (July 2025). Not legal advice.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open data, quiz, exercise, theses</a:t>
            </a:r>
          </a:p>
        </p:txBody>
      </p:sp>
      <p:sp>
        <p:nvSpPr>
          <p:cNvPr id="3" name="Title 2"/>
          <p:cNvSpPr>
            <a:spLocks noGrp="1"/>
          </p:cNvSpPr>
          <p:nvPr>
            <p:ph type="ctrTitle"/>
          </p:nvPr>
        </p:nvSpPr>
        <p:spPr/>
        <p:txBody>
          <a:bodyPr/>
          <a:lstStyle/>
          <a:p>
            <a:r>
              <a:rPr lang="en-GB"/>
              <a:t>Practice: data, quiz and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sets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286000"/>
                <a:gridCol w="1965960"/>
                <a:gridCol w="1965960"/>
                <a:gridCol w="2011680"/>
              </a:tblGrid>
              <a:tr h="370840">
                <a:tc>
                  <a:txBody>
                    <a:bodyPr/>
                    <a:lstStyle/>
                    <a:p>
                      <a:r>
                        <a:rPr sz="1200" lang="en-GB"/>
                        <a:t>Dataset</a:t>
                      </a:r>
                    </a:p>
                  </a:txBody>
                  <a:tcPr marT="60000" marB="60000" anchor="ctr"/>
                </a:tc>
                <a:tc>
                  <a:txBody>
                    <a:bodyPr/>
                    <a:lstStyle/>
                    <a:p>
                      <a:r>
                        <a:rPr sz="1200" lang="en-GB"/>
                        <a:t>Size, countries</a:t>
                      </a:r>
                    </a:p>
                  </a:txBody>
                  <a:tcPr marT="60000" marB="60000" anchor="ctr"/>
                </a:tc>
                <a:tc>
                  <a:txBody>
                    <a:bodyPr/>
                    <a:lstStyle/>
                    <a:p>
                      <a:r>
                        <a:rPr sz="1200" lang="en-GB"/>
                        <a:t>Churn</a:t>
                      </a:r>
                    </a:p>
                  </a:txBody>
                  <a:tcPr marT="60000" marB="60000" anchor="ctr"/>
                </a:tc>
                <a:tc>
                  <a:txBody>
                    <a:bodyPr/>
                    <a:lstStyle/>
                    <a:p>
                      <a:r>
                        <a:rPr sz="1200" lang="en-GB"/>
                        <a:t>Licence → use</a:t>
                      </a:r>
                    </a:p>
                  </a:txBody>
                  <a:tcPr marT="60000" marB="60000" anchor="ctr"/>
                </a:tc>
              </a:tr>
              <a:tr h="370840">
                <a:tc>
                  <a:txBody>
                    <a:bodyPr/>
                    <a:lstStyle/>
                    <a:p>
                      <a:r>
                        <a:rPr sz="1200" b="1" lang="en-GB"/>
                        <a:t>telco_churn.csv</a:t>
                      </a:r>
                    </a:p>
                  </a:txBody>
                  <a:tcPr marT="60000" marB="60000" anchor="ctr"/>
                </a:tc>
                <a:tc>
                  <a:txBody>
                    <a:bodyPr/>
                    <a:lstStyle/>
                    <a:p>
                      <a:r>
                        <a:rPr sz="1200" lang="en-GB"/>
                        <a:t>11,000; DE, AT, ES, PL</a:t>
                      </a:r>
                    </a:p>
                  </a:txBody>
                  <a:tcPr marT="60000" marB="60000" anchor="ctr"/>
                </a:tc>
                <a:tc>
                  <a:txBody>
                    <a:bodyPr/>
                    <a:lstStyle/>
                    <a:p>
                      <a:r>
                        <a:rPr sz="1200" lang="en-GB"/>
                        <a:t>12 months, 15–35 %</a:t>
                      </a:r>
                    </a:p>
                  </a:txBody>
                  <a:tcPr marT="60000" marB="60000" anchor="ctr"/>
                </a:tc>
                <a:tc>
                  <a:txBody>
                    <a:bodyPr/>
                    <a:lstStyle/>
                    <a:p>
                      <a:r>
                        <a:rPr sz="1200" lang="en-GB"/>
                        <a:t>Simulated, in the repo</a:t>
                      </a:r>
                    </a:p>
                  </a:txBody>
                  <a:tcPr marT="60000" marB="60000" anchor="ctr"/>
                </a:tc>
              </a:tr>
              <a:tr h="370840">
                <a:tc>
                  <a:txBody>
                    <a:bodyPr/>
                    <a:lstStyle/>
                    <a:p>
                      <a:r>
                        <a:rPr sz="1200" b="1" lang="en-GB"/>
                        <a:t>IBM Telco Churn</a:t>
                      </a:r>
                    </a:p>
                  </a:txBody>
                  <a:tcPr marT="60000" marB="60000" anchor="ctr"/>
                </a:tc>
                <a:tc>
                  <a:txBody>
                    <a:bodyPr/>
                    <a:lstStyle/>
                    <a:p>
                      <a:r>
                        <a:rPr sz="1200" lang="en-GB"/>
                        <a:t>7,043; USA, fictional</a:t>
                      </a:r>
                    </a:p>
                  </a:txBody>
                  <a:tcPr marT="60000" marB="60000" anchor="ctr"/>
                </a:tc>
                <a:tc>
                  <a:txBody>
                    <a:bodyPr/>
                    <a:lstStyle/>
                    <a:p>
                      <a:r>
                        <a:rPr sz="1200" lang="en-GB"/>
                        <a:t>Left last month, 26.5 %</a:t>
                      </a:r>
                    </a:p>
                  </a:txBody>
                  <a:tcPr marT="60000" marB="60000" anchor="ctr"/>
                </a:tc>
                <a:tc>
                  <a:txBody>
                    <a:bodyPr/>
                    <a:lstStyle/>
                    <a:p>
                      <a:r>
                        <a:rPr sz="1200" lang="en-GB"/>
                        <a:t>Apache-2.0 repo, no data licence: credit IBM</a:t>
                      </a:r>
                    </a:p>
                  </a:txBody>
                  <a:tcPr marT="60000" marB="60000" anchor="ctr"/>
                </a:tc>
              </a:tr>
              <a:tr h="370840">
                <a:tc>
                  <a:txBody>
                    <a:bodyPr/>
                    <a:lstStyle/>
                    <a:p>
                      <a:r>
                        <a:rPr sz="1200" b="1" lang="en-GB"/>
                        <a:t>Bank Churn_Modelling</a:t>
                      </a:r>
                    </a:p>
                  </a:txBody>
                  <a:tcPr marT="60000" marB="60000" anchor="ctr"/>
                </a:tc>
                <a:tc>
                  <a:txBody>
                    <a:bodyPr/>
                    <a:lstStyle/>
                    <a:p>
                      <a:r>
                        <a:rPr sz="1200" lang="en-GB"/>
                        <a:t>10,000; FR, DE, ES</a:t>
                      </a:r>
                    </a:p>
                  </a:txBody>
                  <a:tcPr marT="60000" marB="60000" anchor="ctr"/>
                </a:tc>
                <a:tc>
                  <a:txBody>
                    <a:bodyPr/>
                    <a:lstStyle/>
                    <a:p>
                      <a:r>
                        <a:rPr sz="1200" lang="en-GB"/>
                        <a:t>Closed account, 20.4 %</a:t>
                      </a:r>
                    </a:p>
                  </a:txBody>
                  <a:tcPr marT="60000" marB="60000" anchor="ctr"/>
                </a:tc>
                <a:tc>
                  <a:txBody>
                    <a:bodyPr/>
                    <a:lstStyle/>
                    <a:p>
                      <a:r>
                        <a:rPr sz="1200" lang="en-GB"/>
                        <a:t>Synthetic, licence unclear: link to Kaggle</a:t>
                      </a:r>
                    </a:p>
                  </a:txBody>
                  <a:tcPr marT="60000" marB="60000" anchor="ctr"/>
                </a:tc>
              </a:tr>
              <a:tr h="370840">
                <a:tc>
                  <a:txBody>
                    <a:bodyPr/>
                    <a:lstStyle/>
                    <a:p>
                      <a:r>
                        <a:rPr sz="1200" b="1" lang="en-GB"/>
                        <a:t>UCI Online Retail II</a:t>
                      </a:r>
                    </a:p>
                  </a:txBody>
                  <a:tcPr marT="60000" marB="60000" anchor="ctr"/>
                </a:tc>
                <a:tc>
                  <a:txBody>
                    <a:bodyPr/>
                    <a:lstStyle/>
                    <a:p>
                      <a:r>
                        <a:rPr sz="1200" lang="en-GB"/>
                        <a:t>1.07 m transactions, 40+ countries</a:t>
                      </a:r>
                    </a:p>
                  </a:txBody>
                  <a:tcPr marT="60000" marB="60000" anchor="ctr"/>
                </a:tc>
                <a:tc>
                  <a:txBody>
                    <a:bodyPr/>
                    <a:lstStyle/>
                    <a:p>
                      <a:r>
                        <a:rPr sz="1200" lang="en-GB"/>
                        <a:t>You define it (inactivity)</a:t>
                      </a:r>
                    </a:p>
                  </a:txBody>
                  <a:tcPr marT="60000" marB="60000" anchor="ctr"/>
                </a:tc>
                <a:tc>
                  <a:txBody>
                    <a:bodyPr/>
                    <a:lstStyle/>
                    <a:p>
                      <a:r>
                        <a:rPr sz="1200" lang="en-GB"/>
                        <a:t>CC BY 4.0: may be shared</a:t>
                      </a:r>
                    </a:p>
                  </a:txBody>
                  <a:tcPr marT="60000" marB="60000" anchor="ctr"/>
                </a:tc>
              </a:tr>
              <a:tr h="370840">
                <a:tc>
                  <a:txBody>
                    <a:bodyPr/>
                    <a:lstStyle/>
                    <a:p>
                      <a:r>
                        <a:rPr sz="1200" b="1" lang="en-GB"/>
                        <a:t>Hotel Booking Demand</a:t>
                      </a:r>
                    </a:p>
                  </a:txBody>
                  <a:tcPr marT="60000" marB="60000" anchor="ctr"/>
                </a:tc>
                <a:tc>
                  <a:txBody>
                    <a:bodyPr/>
                    <a:lstStyle/>
                    <a:p>
                      <a:r>
                        <a:rPr sz="1200" lang="en-GB"/>
                        <a:t>119,390 bookings, 178 countries</a:t>
                      </a:r>
                    </a:p>
                  </a:txBody>
                  <a:tcPr marT="60000" marB="60000" anchor="ctr"/>
                </a:tc>
                <a:tc>
                  <a:txBody>
                    <a:bodyPr/>
                    <a:lstStyle/>
                    <a:p>
                      <a:r>
                        <a:rPr sz="1200" lang="en-GB"/>
                        <a:t>Cancellation, 37.0 %</a:t>
                      </a:r>
                    </a:p>
                  </a:txBody>
                  <a:tcPr marT="60000" marB="60000" anchor="ctr"/>
                </a:tc>
                <a:tc>
                  <a:txBody>
                    <a:bodyPr/>
                    <a:lstStyle/>
                    <a:p>
                      <a:r>
                        <a:rPr sz="1200" lang="en-GB"/>
                        <a:t>CC BY 4.0: may be shared</a:t>
                      </a:r>
                    </a:p>
                  </a:txBody>
                  <a:tcPr marT="60000" marB="60000" anchor="ctr"/>
                </a:tc>
              </a:tr>
              <a:tr h="370840">
                <a:tc>
                  <a:txBody>
                    <a:bodyPr/>
                    <a:lstStyle/>
                    <a:p>
                      <a:r>
                        <a:rPr sz="1200" b="1" lang="en-GB"/>
                        <a:t>Flash Eurobarometer 243</a:t>
                      </a:r>
                    </a:p>
                  </a:txBody>
                  <a:tcPr marT="60000" marB="60000" anchor="ctr"/>
                </a:tc>
                <a:tc>
                  <a:txBody>
                    <a:bodyPr/>
                    <a:lstStyle/>
                    <a:p>
                      <a:r>
                        <a:rPr sz="1200" lang="en-GB"/>
                        <a:t>About 25,000 people, 27 EU countries</a:t>
                      </a:r>
                    </a:p>
                  </a:txBody>
                  <a:tcPr marT="60000" marB="60000" anchor="ctr"/>
                </a:tc>
                <a:tc>
                  <a:txBody>
                    <a:bodyPr/>
                    <a:lstStyle/>
                    <a:p>
                      <a:r>
                        <a:rPr sz="1200" lang="en-GB"/>
                        <a:t>Self-reported switching</a:t>
                      </a:r>
                    </a:p>
                  </a:txBody>
                  <a:tcPr marT="60000" marB="60000" anchor="ctr"/>
                </a:tc>
                <a:tc>
                  <a:txBody>
                    <a:bodyPr/>
                    <a:lstStyle/>
                    <a:p>
                      <a:r>
                        <a:rPr sz="1200" lang="en-GB"/>
                        <a:t>GESIS: free login, no redistribution</a:t>
                      </a:r>
                    </a:p>
                  </a:txBody>
                  <a:tcPr marT="60000" marB="60000" anchor="ctr"/>
                </a:tc>
              </a:tr>
            </a:tbl>
          </a:graphicData>
        </a:graphic>
      </p:graphicFrame>
      <p:sp>
        <p:nvSpPr>
          <p:cNvPr id="3" name="Title 2"/>
          <p:cNvSpPr>
            <a:spLocks noGrp="1"/>
          </p:cNvSpPr>
          <p:nvPr>
            <p:ph type="title"/>
          </p:nvPr>
        </p:nvSpPr>
        <p:spPr/>
        <p:txBody>
          <a:bodyPr/>
          <a:lstStyle/>
          <a:p>
            <a:r>
              <a:rPr sz="1600" lang="en-GB"/>
              <a:t>Open churn datasets for exercises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dataset checks, Oct 2026 (churn_readings_and_data.md); telco_churn.csv is simulated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traps to check before you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ap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rap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rap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Leakage: </a:t>
            </a:r>
            <a:r>
              <a:rPr sz="1250" b="0" lang="en-GB">
                <a:solidFill>
                  <a:schemeClr val="tx1"/>
                </a:solidFill>
              </a:rPr>
              <a:t>drop reservation_status (hotels), Churn Score and Churn Reason (IBM)</a:t>
            </a:r>
          </a:p>
        </p:txBody>
      </p:sp>
      <p:sp>
        <p:nvSpPr>
          <p:cNvPr id="13" name="Trap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ap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rap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Separation: </a:t>
            </a:r>
            <a:r>
              <a:rPr sz="1250" b="0" lang="en-GB">
                <a:solidFill>
                  <a:schemeClr val="tx1"/>
                </a:solidFill>
              </a:rPr>
              <a:t>in Churn_Modelling, 3 or 4 products mean 82.7 % and 100 % churn</a:t>
            </a:r>
          </a:p>
        </p:txBody>
      </p:sp>
      <p:sp>
        <p:nvSpPr>
          <p:cNvPr id="16" name="Trap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rap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rap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Collinearity: </a:t>
            </a:r>
            <a:r>
              <a:rPr sz="1250" b="0" lang="en-GB">
                <a:solidFill>
                  <a:schemeClr val="tx1"/>
                </a:solidFill>
              </a:rPr>
              <a:t>IBM TotalCharges ≈ tenure × MonthlyCharges (r = 0.9996); 11 blanks</a:t>
            </a:r>
          </a:p>
        </p:txBody>
      </p:sp>
      <p:sp>
        <p:nvSpPr>
          <p:cNvPr id="19" name="Trap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rap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rap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Your label, your result: </a:t>
            </a:r>
            <a:r>
              <a:rPr sz="1250" b="0" lang="en-GB">
                <a:solidFill>
                  <a:schemeClr val="tx1"/>
                </a:solidFill>
              </a:rPr>
              <a:t>Online Retail churn depends on the cut-off and the window</a:t>
            </a:r>
          </a:p>
        </p:txBody>
      </p:sp>
      <p:sp>
        <p:nvSpPr>
          <p:cNvPr id="22" name="Trap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rap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rap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Thin country cells: </a:t>
            </a:r>
            <a:r>
              <a:rPr sz="1250" b="0" lang="en-GB">
                <a:solidFill>
                  <a:schemeClr val="tx1"/>
                </a:solidFill>
              </a:rPr>
              <a:t>in Online Retail about 93 % of customers are in the UK</a:t>
            </a:r>
          </a:p>
        </p:txBody>
      </p:sp>
      <p:sp>
        <p:nvSpPr>
          <p:cNvPr id="25" name="Trap callou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rap callou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Simulated is fine for learning, </a:t>
            </a:r>
            <a:r>
              <a:rPr sz="1250" b="0" lang="en-GB">
                <a:solidFill>
                  <a:schemeClr val="bg1"/>
                </a:solidFill>
              </a:rPr>
              <a:t>but say so: Churn_Modelling looks simulated too.</a:t>
            </a:r>
          </a:p>
        </p:txBody>
      </p:sp>
      <p:sp>
        <p:nvSpPr>
          <p:cNvPr id="2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dataset checks on the public files, Oct 2026 (churn_readings_and_data.md)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odds, countries and targeting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A price rise has an odds ratio of 2; baseline churn is 20 %. New churn probability?</a:t>
            </a:r>
          </a:p>
          <a:p>
            <a:pPr algn="l">
              <a:spcAft>
                <a:spcPts val="100"/>
              </a:spcAft>
            </a:pPr>
            <a:r>
              <a:rPr sz="1200" b="0" lang="en-GB">
                <a:solidFill>
                  <a:schemeClr val="tx1"/>
                </a:solidFill>
              </a:rPr>
              <a:t>A  33 %     B  40 %     C  22 %</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Month-to-month coefficient: 1.19 in Germany, 0.81 in Spain. Conclusion?</a:t>
            </a:r>
          </a:p>
          <a:p>
            <a:pPr algn="l">
              <a:spcAft>
                <a:spcPts val="100"/>
              </a:spcAft>
            </a:pPr>
            <a:r>
              <a:rPr sz="1200" b="0" lang="en-GB">
                <a:solidFill>
                  <a:schemeClr val="tx1"/>
                </a:solidFill>
              </a:rPr>
              <a:t>A  larger effect in Germany     B  none yet     C  Germany: the coefficient gap is significant (z = 2.8)</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Month-to-month × Spain: −0.245 (p = 0.047). Effect on churn probability in Spain…</a:t>
            </a:r>
          </a:p>
          <a:p>
            <a:pPr algn="l">
              <a:spcAft>
                <a:spcPts val="100"/>
              </a:spcAft>
            </a:pPr>
            <a:r>
              <a:rPr sz="1200" b="0" lang="en-GB">
                <a:solidFill>
                  <a:schemeClr val="tx1"/>
                </a:solidFill>
              </a:rPr>
              <a:t>A  is smaller     B  can still be larger than in Germany     C  is zero</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You want to know which competitor churners switch to. Model?</a:t>
            </a:r>
          </a:p>
          <a:p>
            <a:pPr algn="l">
              <a:spcAft>
                <a:spcPts val="100"/>
              </a:spcAft>
            </a:pPr>
            <a:r>
              <a:rPr sz="1200" b="0" lang="en-GB">
                <a:solidFill>
                  <a:schemeClr val="tx1"/>
                </a:solidFill>
              </a:rPr>
              <a:t>A  multinomial logit     B  ordered logit     C  binary logit</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Who should get the retention offer?</a:t>
            </a:r>
          </a:p>
          <a:p>
            <a:pPr algn="l">
              <a:spcAft>
                <a:spcPts val="100"/>
              </a:spcAft>
            </a:pPr>
            <a:r>
              <a:rPr sz="1200" b="0" lang="en-GB">
                <a:solidFill>
                  <a:schemeClr val="tx1"/>
                </a:solidFill>
              </a:rPr>
              <a:t>A  the highest predicted risk     B  those whose churn it lowers most     C  those with most complaints</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
        <p:nvSpPr>
          <p:cNvPr id="27" name="Sources"/>
          <p:cNvSpPr txBox="1"/>
          <p:nvPr/>
        </p:nvSpPr>
        <p:spPr>
          <a:xfrm>
            <a:off x="457200" y="5120640"/>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churn across four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ercise step 1"/>
          <p:cNvSpPr/>
          <p:nvPr/>
        </p:nvSpPr>
        <p:spPr>
          <a:xfrm>
            <a:off x="457200" y="1234440"/>
            <a:ext cx="2139696" cy="41148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300" b="1" lang="en-GB">
                <a:solidFill>
                  <a:schemeClr val="tx2"/>
                </a:solidFill>
              </a:rPr>
              <a:t>Fit · 10′</a:t>
            </a:r>
          </a:p>
        </p:txBody>
      </p:sp>
      <p:sp>
        <p:nvSpPr>
          <p:cNvPr id="11" name="Exercise step 2"/>
          <p:cNvSpPr/>
          <p:nvPr/>
        </p:nvSpPr>
        <p:spPr>
          <a:xfrm>
            <a:off x="2487168"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300" b="1" lang="en-GB">
                <a:solidFill>
                  <a:schemeClr val="tx2"/>
                </a:solidFill>
              </a:rPr>
              <a:t>Compare · 10′</a:t>
            </a:r>
          </a:p>
        </p:txBody>
      </p:sp>
      <p:sp>
        <p:nvSpPr>
          <p:cNvPr id="12" name="Exercise step 3"/>
          <p:cNvSpPr/>
          <p:nvPr/>
        </p:nvSpPr>
        <p:spPr>
          <a:xfrm>
            <a:off x="4517136"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300" b="1" lang="en-GB">
                <a:solidFill>
                  <a:schemeClr val="tx2"/>
                </a:solidFill>
              </a:rPr>
              <a:t>Evaluate · 10′</a:t>
            </a:r>
          </a:p>
        </p:txBody>
      </p:sp>
      <p:sp>
        <p:nvSpPr>
          <p:cNvPr id="13" name="Exercise step 4"/>
          <p:cNvSpPr/>
          <p:nvPr/>
        </p:nvSpPr>
        <p:spPr>
          <a:xfrm>
            <a:off x="6547104"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300" b="1" lang="en-GB">
                <a:solidFill>
                  <a:schemeClr val="tx2"/>
                </a:solidFill>
              </a:rPr>
              <a:t>Target · 5′</a:t>
            </a:r>
          </a:p>
        </p:txBody>
      </p:sp>
      <p:sp>
        <p:nvSpPr>
          <p:cNvPr id="14" name="Exercise data 1-1"/>
          <p:cNvSpPr/>
          <p:nvPr/>
        </p:nvSpPr>
        <p:spPr>
          <a:xfrm>
            <a:off x="457200" y="1828800"/>
            <a:ext cx="161848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xercise data text 1-1"/>
          <p:cNvSpPr txBox="1"/>
          <p:nvPr/>
        </p:nvSpPr>
        <p:spPr>
          <a:xfrm>
            <a:off x="548640" y="1828800"/>
            <a:ext cx="143560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Column</a:t>
            </a:r>
          </a:p>
        </p:txBody>
      </p:sp>
      <p:sp>
        <p:nvSpPr>
          <p:cNvPr id="16" name="Exercise data 1-2"/>
          <p:cNvSpPr/>
          <p:nvPr/>
        </p:nvSpPr>
        <p:spPr>
          <a:xfrm>
            <a:off x="2103120" y="1828800"/>
            <a:ext cx="2057400"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ercise data text 1-2"/>
          <p:cNvSpPr txBox="1"/>
          <p:nvPr/>
        </p:nvSpPr>
        <p:spPr>
          <a:xfrm>
            <a:off x="2194560" y="1828800"/>
            <a:ext cx="1847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Meaning</a:t>
            </a:r>
          </a:p>
        </p:txBody>
      </p:sp>
      <p:sp>
        <p:nvSpPr>
          <p:cNvPr id="18" name="Exercise data 2-1"/>
          <p:cNvSpPr/>
          <p:nvPr/>
        </p:nvSpPr>
        <p:spPr>
          <a:xfrm>
            <a:off x="457200" y="2203704"/>
            <a:ext cx="16184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xercise data text 2-1"/>
          <p:cNvSpPr txBox="1"/>
          <p:nvPr/>
        </p:nvSpPr>
        <p:spPr>
          <a:xfrm>
            <a:off x="548640" y="2203704"/>
            <a:ext cx="143560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country</a:t>
            </a:r>
          </a:p>
        </p:txBody>
      </p:sp>
      <p:sp>
        <p:nvSpPr>
          <p:cNvPr id="20" name="Exercise data 2-2"/>
          <p:cNvSpPr/>
          <p:nvPr/>
        </p:nvSpPr>
        <p:spPr>
          <a:xfrm>
            <a:off x="2103120" y="2203704"/>
            <a:ext cx="205740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xercise data text 2-2"/>
          <p:cNvSpPr txBox="1"/>
          <p:nvPr/>
        </p:nvSpPr>
        <p:spPr>
          <a:xfrm>
            <a:off x="2194560" y="2203704"/>
            <a:ext cx="184708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DE, AT, ES, PL</a:t>
            </a:r>
          </a:p>
        </p:txBody>
      </p:sp>
      <p:sp>
        <p:nvSpPr>
          <p:cNvPr id="22" name="Exercise data 3-1"/>
          <p:cNvSpPr/>
          <p:nvPr/>
        </p:nvSpPr>
        <p:spPr>
          <a:xfrm>
            <a:off x="457200" y="2578608"/>
            <a:ext cx="16184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ercise data text 3-1"/>
          <p:cNvSpPr txBox="1"/>
          <p:nvPr/>
        </p:nvSpPr>
        <p:spPr>
          <a:xfrm>
            <a:off x="548640" y="2578608"/>
            <a:ext cx="143560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monthly</a:t>
            </a:r>
          </a:p>
        </p:txBody>
      </p:sp>
      <p:sp>
        <p:nvSpPr>
          <p:cNvPr id="24" name="Exercise data 3-2"/>
          <p:cNvSpPr/>
          <p:nvPr/>
        </p:nvSpPr>
        <p:spPr>
          <a:xfrm>
            <a:off x="2103120" y="2578608"/>
            <a:ext cx="205740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xercise data text 3-2"/>
          <p:cNvSpPr txBox="1"/>
          <p:nvPr/>
        </p:nvSpPr>
        <p:spPr>
          <a:xfrm>
            <a:off x="2194560" y="2578608"/>
            <a:ext cx="184708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1 = month-to-month</a:t>
            </a:r>
          </a:p>
        </p:txBody>
      </p:sp>
      <p:sp>
        <p:nvSpPr>
          <p:cNvPr id="26" name="Exercise data 4-1"/>
          <p:cNvSpPr/>
          <p:nvPr/>
        </p:nvSpPr>
        <p:spPr>
          <a:xfrm>
            <a:off x="457200" y="2953512"/>
            <a:ext cx="16184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xercise data text 4-1"/>
          <p:cNvSpPr txBox="1"/>
          <p:nvPr/>
        </p:nvSpPr>
        <p:spPr>
          <a:xfrm>
            <a:off x="548640" y="2953512"/>
            <a:ext cx="143560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satisfaction</a:t>
            </a:r>
          </a:p>
        </p:txBody>
      </p:sp>
      <p:sp>
        <p:nvSpPr>
          <p:cNvPr id="28" name="Exercise data 4-2"/>
          <p:cNvSpPr/>
          <p:nvPr/>
        </p:nvSpPr>
        <p:spPr>
          <a:xfrm>
            <a:off x="2103120" y="2953512"/>
            <a:ext cx="205740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xercise data text 4-2"/>
          <p:cNvSpPr txBox="1"/>
          <p:nvPr/>
        </p:nvSpPr>
        <p:spPr>
          <a:xfrm>
            <a:off x="2194560" y="2953512"/>
            <a:ext cx="184708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survey, 1 to 5</a:t>
            </a:r>
          </a:p>
        </p:txBody>
      </p:sp>
      <p:sp>
        <p:nvSpPr>
          <p:cNvPr id="30" name="Exercise data 5-1"/>
          <p:cNvSpPr/>
          <p:nvPr/>
        </p:nvSpPr>
        <p:spPr>
          <a:xfrm>
            <a:off x="457200" y="3328416"/>
            <a:ext cx="16184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xercise data text 5-1"/>
          <p:cNvSpPr txBox="1"/>
          <p:nvPr/>
        </p:nvSpPr>
        <p:spPr>
          <a:xfrm>
            <a:off x="548640" y="3328416"/>
            <a:ext cx="143560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retention_offer</a:t>
            </a:r>
          </a:p>
        </p:txBody>
      </p:sp>
      <p:sp>
        <p:nvSpPr>
          <p:cNvPr id="32" name="Exercise data 5-2"/>
          <p:cNvSpPr/>
          <p:nvPr/>
        </p:nvSpPr>
        <p:spPr>
          <a:xfrm>
            <a:off x="2103120" y="3328416"/>
            <a:ext cx="205740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xercise data text 5-2"/>
          <p:cNvSpPr txBox="1"/>
          <p:nvPr/>
        </p:nvSpPr>
        <p:spPr>
          <a:xfrm>
            <a:off x="2194560" y="3328416"/>
            <a:ext cx="184708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1 = random pilot offer</a:t>
            </a:r>
          </a:p>
        </p:txBody>
      </p:sp>
      <p:sp>
        <p:nvSpPr>
          <p:cNvPr id="34" name="Exercise data 6-1"/>
          <p:cNvSpPr/>
          <p:nvPr/>
        </p:nvSpPr>
        <p:spPr>
          <a:xfrm>
            <a:off x="457200" y="3703320"/>
            <a:ext cx="161848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xercise data text 6-1"/>
          <p:cNvSpPr txBox="1"/>
          <p:nvPr/>
        </p:nvSpPr>
        <p:spPr>
          <a:xfrm>
            <a:off x="548640" y="3703320"/>
            <a:ext cx="143560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churn</a:t>
            </a:r>
          </a:p>
        </p:txBody>
      </p:sp>
      <p:sp>
        <p:nvSpPr>
          <p:cNvPr id="36" name="Exercise data 6-2"/>
          <p:cNvSpPr/>
          <p:nvPr/>
        </p:nvSpPr>
        <p:spPr>
          <a:xfrm>
            <a:off x="2103120" y="3703320"/>
            <a:ext cx="205740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xercise data text 6-2"/>
          <p:cNvSpPr txBox="1"/>
          <p:nvPr/>
        </p:nvSpPr>
        <p:spPr>
          <a:xfrm>
            <a:off x="2194560" y="3703320"/>
            <a:ext cx="184708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1 = left in 12 months</a:t>
            </a:r>
          </a:p>
        </p:txBody>
      </p:sp>
      <p:sp>
        <p:nvSpPr>
          <p:cNvPr id="38" name="Task row 1"/>
          <p:cNvSpPr/>
          <p:nvPr/>
        </p:nvSpPr>
        <p:spPr>
          <a:xfrm>
            <a:off x="4297680" y="1828800"/>
            <a:ext cx="43891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ask number 1"/>
          <p:cNvSpPr/>
          <p:nvPr/>
        </p:nvSpPr>
        <p:spPr>
          <a:xfrm>
            <a:off x="4434840" y="19248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40" name="Task text 1"/>
          <p:cNvSpPr txBox="1"/>
          <p:nvPr/>
        </p:nvSpPr>
        <p:spPr>
          <a:xfrm>
            <a:off x="4892040" y="1828800"/>
            <a:ext cx="36576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Fit </a:t>
            </a:r>
            <a:r>
              <a:rPr sz="1200" b="0" lang="en-GB">
                <a:solidFill>
                  <a:schemeClr val="tx1"/>
                </a:solidFill>
              </a:rPr>
              <a:t>a pooled churn logit with country dummies</a:t>
            </a:r>
          </a:p>
        </p:txBody>
      </p:sp>
      <p:sp>
        <p:nvSpPr>
          <p:cNvPr id="41" name="Task row 2"/>
          <p:cNvSpPr/>
          <p:nvPr/>
        </p:nvSpPr>
        <p:spPr>
          <a:xfrm>
            <a:off x="4297680" y="2404872"/>
            <a:ext cx="43891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ask number 2"/>
          <p:cNvSpPr/>
          <p:nvPr/>
        </p:nvSpPr>
        <p:spPr>
          <a:xfrm>
            <a:off x="4434840" y="25008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43" name="Task text 2"/>
          <p:cNvSpPr txBox="1"/>
          <p:nvPr/>
        </p:nvSpPr>
        <p:spPr>
          <a:xfrm>
            <a:off x="4892040" y="2404872"/>
            <a:ext cx="36576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the AME of month-to-month by country with the separate-country coefficients</a:t>
            </a:r>
          </a:p>
        </p:txBody>
      </p:sp>
      <p:sp>
        <p:nvSpPr>
          <p:cNvPr id="44" name="Task row 3"/>
          <p:cNvSpPr/>
          <p:nvPr/>
        </p:nvSpPr>
        <p:spPr>
          <a:xfrm>
            <a:off x="4297680" y="2980944"/>
            <a:ext cx="43891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ask number 3"/>
          <p:cNvSpPr/>
          <p:nvPr/>
        </p:nvSpPr>
        <p:spPr>
          <a:xfrm>
            <a:off x="4434840" y="30769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46" name="Task text 3"/>
          <p:cNvSpPr txBox="1"/>
          <p:nvPr/>
        </p:nvSpPr>
        <p:spPr>
          <a:xfrm>
            <a:off x="4892040" y="2980944"/>
            <a:ext cx="36576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Evaluate </a:t>
            </a:r>
            <a:r>
              <a:rPr sz="1200" b="0" lang="en-GB">
                <a:solidFill>
                  <a:schemeClr val="tx1"/>
                </a:solidFill>
              </a:rPr>
              <a:t>top-decile lift and a calibration plot on a 30 % test set</a:t>
            </a:r>
          </a:p>
        </p:txBody>
      </p:sp>
      <p:sp>
        <p:nvSpPr>
          <p:cNvPr id="47" name="Task row 4"/>
          <p:cNvSpPr/>
          <p:nvPr/>
        </p:nvSpPr>
        <p:spPr>
          <a:xfrm>
            <a:off x="4297680" y="3557016"/>
            <a:ext cx="43891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ask number 4"/>
          <p:cNvSpPr/>
          <p:nvPr/>
        </p:nvSpPr>
        <p:spPr>
          <a:xfrm>
            <a:off x="4434840" y="365302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49" name="Task text 4"/>
          <p:cNvSpPr txBox="1"/>
          <p:nvPr/>
        </p:nvSpPr>
        <p:spPr>
          <a:xfrm>
            <a:off x="4892040" y="3557016"/>
            <a:ext cx="36576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Target </a:t>
            </a:r>
            <a:r>
              <a:rPr sz="1200" b="0" lang="en-GB">
                <a:solidFill>
                  <a:schemeClr val="tx1"/>
                </a:solidFill>
              </a:rPr>
              <a:t>the offer effect by complaint calls: who should get it?</a:t>
            </a:r>
          </a:p>
        </p:txBody>
      </p:sp>
      <p:sp>
        <p:nvSpPr>
          <p:cNvPr id="50" name="Exercise callout box"/>
          <p:cNvSpPr/>
          <p:nvPr/>
        </p:nvSpPr>
        <p:spPr>
          <a:xfrm>
            <a:off x="457200" y="422452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xercise callout text"/>
          <p:cNvSpPr txBox="1"/>
          <p:nvPr/>
        </p:nvSpPr>
        <p:spPr>
          <a:xfrm>
            <a:off x="658368" y="422452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Deliverable: </a:t>
            </a:r>
            <a:r>
              <a:rPr sz="1250" b="0" lang="en-GB">
                <a:solidFill>
                  <a:schemeClr val="bg1"/>
                </a:solidFill>
              </a:rPr>
              <a:t>one slide per pair with a plot and two sentences for the retention manager.</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code in logit_churn.qmd (Steps 2–4, 9, 10, 12 and “Your turn”)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niches for theses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iche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iche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Niche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Multilevel churn logit: </a:t>
            </a:r>
            <a:r>
              <a:rPr sz="1250" b="0" lang="en-GB">
                <a:solidFill>
                  <a:schemeClr val="tx1"/>
                </a:solidFill>
              </a:rPr>
              <a:t>how much churn sits at country level (15+ countries)?</a:t>
            </a:r>
          </a:p>
        </p:txBody>
      </p:sp>
      <p:sp>
        <p:nvSpPr>
          <p:cNvPr id="13" name="Niche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iche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Niche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Model portability: </a:t>
            </a:r>
            <a:r>
              <a:rPr sz="1250" b="0" lang="en-GB">
                <a:solidFill>
                  <a:schemeClr val="tx1"/>
                </a:solidFill>
              </a:rPr>
              <a:t>what do recalibration and reweighting recover in a new country?</a:t>
            </a:r>
          </a:p>
        </p:txBody>
      </p:sp>
      <p:sp>
        <p:nvSpPr>
          <p:cNvPr id="16" name="Niche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iche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Niche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Uplift across countries: </a:t>
            </a:r>
            <a:r>
              <a:rPr sz="1250" b="0" lang="en-GB">
                <a:solidFill>
                  <a:schemeClr val="tx1"/>
                </a:solidFill>
              </a:rPr>
              <a:t>are “persuadables” country-specific?</a:t>
            </a:r>
          </a:p>
        </p:txBody>
      </p:sp>
      <p:sp>
        <p:nvSpPr>
          <p:cNvPr id="19" name="Niche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Niche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Niche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Pause, cancel or stay: </a:t>
            </a:r>
            <a:r>
              <a:rPr sz="1250" b="0" lang="en-GB">
                <a:solidFill>
                  <a:schemeClr val="tx1"/>
                </a:solidFill>
              </a:rPr>
              <a:t>multinomial logit after BGH I ZR 200/25 (July 2026)</a:t>
            </a:r>
          </a:p>
        </p:txBody>
      </p:sp>
      <p:sp>
        <p:nvSpPr>
          <p:cNvPr id="22" name="Niche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iche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Niche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Response styles and scale: </a:t>
            </a:r>
            <a:r>
              <a:rPr sz="1250" b="0" lang="en-GB">
                <a:solidFill>
                  <a:schemeClr val="tx1"/>
                </a:solidFill>
              </a:rPr>
              <a:t>model both in one cross-national churn logit</a:t>
            </a:r>
          </a:p>
        </p:txBody>
      </p:sp>
      <p:sp>
        <p:nvSpPr>
          <p:cNvPr id="25" name="Niche callou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Niche callou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Before you commit: </a:t>
            </a:r>
            <a:r>
              <a:rPr sz="1250" b="0" lang="en-GB">
                <a:solidFill>
                  <a:schemeClr val="bg1"/>
                </a:solidFill>
              </a:rPr>
              <a:t>run your own search; these are gaps in our search, not proof of absence.</a:t>
            </a:r>
          </a:p>
        </p:txBody>
      </p:sp>
      <p:sp>
        <p:nvSpPr>
          <p:cNvPr id="2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Simester et al. (2020); Einav et al. (2025); vzbv and LTO on BGH I ZR 200/25 (Jul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Research frontiers in churn, 2019–2026</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rontier 1 tile"/>
          <p:cNvSpPr/>
          <p:nvPr/>
        </p:nvSpPr>
        <p:spPr>
          <a:xfrm>
            <a:off x="457200" y="1234440"/>
            <a:ext cx="2651760" cy="15727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rontier 1" descr=""/>
          <p:cNvPicPr>
            <a:picLocks noChangeAspect="1"/>
          </p:cNvPicPr>
          <p:nvPr/>
        </p:nvPicPr>
        <p:blipFill>
          <a:blip r:embed="rId3"/>
          <a:stretch>
            <a:fillRect/>
          </a:stretch>
        </p:blipFill>
        <p:spPr>
          <a:xfrm>
            <a:off x="594360" y="1371600"/>
            <a:ext cx="365760" cy="365760"/>
          </a:xfrm>
          <a:prstGeom prst="rect">
            <a:avLst/>
          </a:prstGeom>
        </p:spPr>
      </p:pic>
      <p:sp>
        <p:nvSpPr>
          <p:cNvPr id="12" name="Frontier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Profit, not risk</a:t>
            </a:r>
          </a:p>
        </p:txBody>
      </p:sp>
      <p:sp>
        <p:nvSpPr>
          <p:cNvPr id="13" name="Frontier 1 text"/>
          <p:cNvSpPr txBox="1"/>
          <p:nvPr/>
        </p:nvSpPr>
        <p:spPr>
          <a:xfrm>
            <a:off x="594360" y="1856232"/>
            <a:ext cx="2377440" cy="886968"/>
          </a:xfrm>
          <a:prstGeom prst="rect">
            <a:avLst/>
          </a:prstGeom>
          <a:noFill/>
        </p:spPr>
        <p:txBody>
          <a:bodyPr wrap="square" lIns="0" rIns="0" tIns="0" bIns="0" anchor="t">
            <a:noAutofit/>
          </a:bodyPr>
          <a:lstStyle/>
          <a:p>
            <a:pPr algn="l">
              <a:spcAft>
                <a:spcPts val="400"/>
              </a:spcAft>
            </a:pPr>
            <a:r>
              <a:rPr sz="1150" b="0" lang="en-GB">
                <a:solidFill>
                  <a:schemeClr val="tx1"/>
                </a:solidFill>
              </a:rPr>
              <a:t>Rank by incremental profit (Lemmens &amp; Gupta 2020); learn long-term targeting from surrogates (Yang et al. 2024)</a:t>
            </a:r>
          </a:p>
        </p:txBody>
      </p:sp>
      <p:sp>
        <p:nvSpPr>
          <p:cNvPr id="14" name="Frontier 2 tile"/>
          <p:cNvSpPr/>
          <p:nvPr/>
        </p:nvSpPr>
        <p:spPr>
          <a:xfrm>
            <a:off x="3246120" y="1234440"/>
            <a:ext cx="2651760" cy="15727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Frontier 2" descr=""/>
          <p:cNvPicPr>
            <a:picLocks noChangeAspect="1"/>
          </p:cNvPicPr>
          <p:nvPr/>
        </p:nvPicPr>
        <p:blipFill>
          <a:blip r:embed="rId4"/>
          <a:stretch>
            <a:fillRect/>
          </a:stretch>
        </p:blipFill>
        <p:spPr>
          <a:xfrm>
            <a:off x="3383280" y="1371600"/>
            <a:ext cx="365760" cy="365760"/>
          </a:xfrm>
          <a:prstGeom prst="rect">
            <a:avLst/>
          </a:prstGeom>
        </p:spPr>
      </p:pic>
      <p:sp>
        <p:nvSpPr>
          <p:cNvPr id="16" name="Frontier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Inertia</a:t>
            </a:r>
          </a:p>
        </p:txBody>
      </p:sp>
      <p:sp>
        <p:nvSpPr>
          <p:cNvPr id="17" name="Frontier 2 text"/>
          <p:cNvSpPr txBox="1"/>
          <p:nvPr/>
        </p:nvSpPr>
        <p:spPr>
          <a:xfrm>
            <a:off x="3383280" y="1856232"/>
            <a:ext cx="2377440" cy="886968"/>
          </a:xfrm>
          <a:prstGeom prst="rect">
            <a:avLst/>
          </a:prstGeom>
          <a:noFill/>
        </p:spPr>
        <p:txBody>
          <a:bodyPr wrap="square" lIns="0" rIns="0" tIns="0" bIns="0" anchor="t">
            <a:noAutofit/>
          </a:bodyPr>
          <a:lstStyle/>
          <a:p>
            <a:pPr algn="l">
              <a:spcAft>
                <a:spcPts val="400"/>
              </a:spcAft>
            </a:pPr>
            <a:r>
              <a:rPr sz="1150" b="0" lang="en-GB">
                <a:solidFill>
                  <a:schemeClr val="tx1"/>
                </a:solidFill>
              </a:rPr>
              <a:t>Cancellation frictions roughly double subscription revenues (Einav et al. 2025)</a:t>
            </a:r>
          </a:p>
        </p:txBody>
      </p:sp>
      <p:sp>
        <p:nvSpPr>
          <p:cNvPr id="18" name="Frontier 3 tile"/>
          <p:cNvSpPr/>
          <p:nvPr/>
        </p:nvSpPr>
        <p:spPr>
          <a:xfrm>
            <a:off x="6035040" y="1234440"/>
            <a:ext cx="2651760" cy="15727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Frontier 3" descr=""/>
          <p:cNvPicPr>
            <a:picLocks noChangeAspect="1"/>
          </p:cNvPicPr>
          <p:nvPr/>
        </p:nvPicPr>
        <p:blipFill>
          <a:blip r:embed="rId5"/>
          <a:stretch>
            <a:fillRect/>
          </a:stretch>
        </p:blipFill>
        <p:spPr>
          <a:xfrm>
            <a:off x="6172200" y="1371600"/>
            <a:ext cx="365760" cy="365760"/>
          </a:xfrm>
          <a:prstGeom prst="rect">
            <a:avLst/>
          </a:prstGeom>
        </p:spPr>
      </p:pic>
      <p:sp>
        <p:nvSpPr>
          <p:cNvPr id="20" name="Frontier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Portability</a:t>
            </a:r>
          </a:p>
        </p:txBody>
      </p:sp>
      <p:sp>
        <p:nvSpPr>
          <p:cNvPr id="21" name="Frontier 3 text"/>
          <p:cNvSpPr txBox="1"/>
          <p:nvPr/>
        </p:nvSpPr>
        <p:spPr>
          <a:xfrm>
            <a:off x="6172200" y="1856232"/>
            <a:ext cx="2377440" cy="886968"/>
          </a:xfrm>
          <a:prstGeom prst="rect">
            <a:avLst/>
          </a:prstGeom>
          <a:noFill/>
        </p:spPr>
        <p:txBody>
          <a:bodyPr wrap="square" lIns="0" rIns="0" tIns="0" bIns="0" anchor="t">
            <a:noAutofit/>
          </a:bodyPr>
          <a:lstStyle/>
          <a:p>
            <a:pPr algn="l">
              <a:spcAft>
                <a:spcPts val="400"/>
              </a:spcAft>
            </a:pPr>
            <a:r>
              <a:rPr sz="1150" b="0" lang="en-GB">
                <a:solidFill>
                  <a:schemeClr val="tx1"/>
                </a:solidFill>
              </a:rPr>
              <a:t>Targeting models lose their edge under covariate and concept shift (Simester et al. 2020)</a:t>
            </a:r>
          </a:p>
        </p:txBody>
      </p:sp>
      <p:sp>
        <p:nvSpPr>
          <p:cNvPr id="22" name="Frontier 4 tile"/>
          <p:cNvSpPr/>
          <p:nvPr/>
        </p:nvSpPr>
        <p:spPr>
          <a:xfrm>
            <a:off x="457200" y="2944368"/>
            <a:ext cx="2651760" cy="15727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Frontier 4" descr=""/>
          <p:cNvPicPr>
            <a:picLocks noChangeAspect="1"/>
          </p:cNvPicPr>
          <p:nvPr/>
        </p:nvPicPr>
        <p:blipFill>
          <a:blip r:embed="rId6"/>
          <a:stretch>
            <a:fillRect/>
          </a:stretch>
        </p:blipFill>
        <p:spPr>
          <a:xfrm>
            <a:off x="594360" y="3081528"/>
            <a:ext cx="365760" cy="365760"/>
          </a:xfrm>
          <a:prstGeom prst="rect">
            <a:avLst/>
          </a:prstGeom>
        </p:spPr>
      </p:pic>
      <p:sp>
        <p:nvSpPr>
          <p:cNvPr id="24" name="Frontier 4 heading"/>
          <p:cNvSpPr txBox="1"/>
          <p:nvPr/>
        </p:nvSpPr>
        <p:spPr>
          <a:xfrm>
            <a:off x="1051560" y="308152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Fairness</a:t>
            </a:r>
          </a:p>
        </p:txBody>
      </p:sp>
      <p:sp>
        <p:nvSpPr>
          <p:cNvPr id="25" name="Frontier 4 text"/>
          <p:cNvSpPr txBox="1"/>
          <p:nvPr/>
        </p:nvSpPr>
        <p:spPr>
          <a:xfrm>
            <a:off x="594360" y="3566160"/>
            <a:ext cx="2377440" cy="886968"/>
          </a:xfrm>
          <a:prstGeom prst="rect">
            <a:avLst/>
          </a:prstGeom>
          <a:noFill/>
        </p:spPr>
        <p:txBody>
          <a:bodyPr wrap="square" lIns="0" rIns="0" tIns="0" bIns="0" anchor="t">
            <a:noAutofit/>
          </a:bodyPr>
          <a:lstStyle/>
          <a:p>
            <a:pPr algn="l">
              <a:spcAft>
                <a:spcPts val="400"/>
              </a:spcAft>
            </a:pPr>
            <a:r>
              <a:rPr sz="1150" b="0" lang="en-GB">
                <a:solidFill>
                  <a:schemeClr val="tx1"/>
                </a:solidFill>
              </a:rPr>
              <a:t>Dropping protected attributes does not remove bias (Ascarza &amp; Israeli 2022)</a:t>
            </a:r>
          </a:p>
        </p:txBody>
      </p:sp>
      <p:sp>
        <p:nvSpPr>
          <p:cNvPr id="26" name="Frontier 5 tile"/>
          <p:cNvSpPr/>
          <p:nvPr/>
        </p:nvSpPr>
        <p:spPr>
          <a:xfrm>
            <a:off x="3246120" y="2944368"/>
            <a:ext cx="2651760" cy="15727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Frontier 5" descr=""/>
          <p:cNvPicPr>
            <a:picLocks noChangeAspect="1"/>
          </p:cNvPicPr>
          <p:nvPr/>
        </p:nvPicPr>
        <p:blipFill>
          <a:blip r:embed="rId7"/>
          <a:stretch>
            <a:fillRect/>
          </a:stretch>
        </p:blipFill>
        <p:spPr>
          <a:xfrm>
            <a:off x="3383280" y="3081528"/>
            <a:ext cx="365760" cy="365760"/>
          </a:xfrm>
          <a:prstGeom prst="rect">
            <a:avLst/>
          </a:prstGeom>
        </p:spPr>
      </p:pic>
      <p:sp>
        <p:nvSpPr>
          <p:cNvPr id="28" name="Frontier 5 heading"/>
          <p:cNvSpPr txBox="1"/>
          <p:nvPr/>
        </p:nvSpPr>
        <p:spPr>
          <a:xfrm>
            <a:off x="3840480" y="308152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Text and LLMs</a:t>
            </a:r>
          </a:p>
        </p:txBody>
      </p:sp>
      <p:sp>
        <p:nvSpPr>
          <p:cNvPr id="29" name="Frontier 5 text"/>
          <p:cNvSpPr txBox="1"/>
          <p:nvPr/>
        </p:nvSpPr>
        <p:spPr>
          <a:xfrm>
            <a:off x="3383280" y="3566160"/>
            <a:ext cx="2377440" cy="886968"/>
          </a:xfrm>
          <a:prstGeom prst="rect">
            <a:avLst/>
          </a:prstGeom>
          <a:noFill/>
        </p:spPr>
        <p:txBody>
          <a:bodyPr wrap="square" lIns="0" rIns="0" tIns="0" bIns="0" anchor="t">
            <a:noAutofit/>
          </a:bodyPr>
          <a:lstStyle/>
          <a:p>
            <a:pPr algn="l">
              <a:spcAft>
                <a:spcPts val="400"/>
              </a:spcAft>
            </a:pPr>
            <a:r>
              <a:rPr sz="1150" b="0" lang="en-GB">
                <a:solidFill>
                  <a:schemeClr val="tx1"/>
                </a:solidFill>
              </a:rPr>
              <a:t>Text from customer contacts adds to structured predictors, it does not replace them (De Caigny et al. 2020)</a:t>
            </a:r>
          </a:p>
        </p:txBody>
      </p:sp>
      <p:sp>
        <p:nvSpPr>
          <p:cNvPr id="30" name="Frontier 6 tile"/>
          <p:cNvSpPr/>
          <p:nvPr/>
        </p:nvSpPr>
        <p:spPr>
          <a:xfrm>
            <a:off x="6035040" y="2944368"/>
            <a:ext cx="2651760" cy="15727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Frontier 6" descr=""/>
          <p:cNvPicPr>
            <a:picLocks noChangeAspect="1"/>
          </p:cNvPicPr>
          <p:nvPr/>
        </p:nvPicPr>
        <p:blipFill>
          <a:blip r:embed="rId8"/>
          <a:stretch>
            <a:fillRect/>
          </a:stretch>
        </p:blipFill>
        <p:spPr>
          <a:xfrm>
            <a:off x="6172200" y="3081528"/>
            <a:ext cx="365760" cy="365760"/>
          </a:xfrm>
          <a:prstGeom prst="rect">
            <a:avLst/>
          </a:prstGeom>
        </p:spPr>
      </p:pic>
      <p:sp>
        <p:nvSpPr>
          <p:cNvPr id="32" name="Frontier 6 heading"/>
          <p:cNvSpPr txBox="1"/>
          <p:nvPr/>
        </p:nvSpPr>
        <p:spPr>
          <a:xfrm>
            <a:off x="6629400" y="308152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Networks</a:t>
            </a:r>
          </a:p>
        </p:txBody>
      </p:sp>
      <p:sp>
        <p:nvSpPr>
          <p:cNvPr id="33" name="Frontier 6 text"/>
          <p:cNvSpPr txBox="1"/>
          <p:nvPr/>
        </p:nvSpPr>
        <p:spPr>
          <a:xfrm>
            <a:off x="6172200" y="3566160"/>
            <a:ext cx="2377440" cy="886968"/>
          </a:xfrm>
          <a:prstGeom prst="rect">
            <a:avLst/>
          </a:prstGeom>
          <a:noFill/>
        </p:spPr>
        <p:txBody>
          <a:bodyPr wrap="square" lIns="0" rIns="0" tIns="0" bIns="0" anchor="t">
            <a:noAutofit/>
          </a:bodyPr>
          <a:lstStyle/>
          <a:p>
            <a:pPr algn="l">
              <a:spcAft>
                <a:spcPts val="400"/>
              </a:spcAft>
            </a:pPr>
            <a:r>
              <a:rPr sz="1150" b="0" lang="en-GB">
                <a:solidFill>
                  <a:schemeClr val="tx1"/>
                </a:solidFill>
              </a:rPr>
              <a:t>Each friend who churns adds 0.06 pp to monthly churn on a 2.15 % baseline (Ferreira et al. 2019)</a:t>
            </a:r>
          </a:p>
        </p:txBody>
      </p:sp>
      <p:sp>
        <p:nvSpPr>
          <p:cNvPr id="3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Sources: Lemmens &amp; Gupta (2020), Mktg Sci; Yang et al. (2024), Mgmt Sci; Einav et al. (2025), AER; Simester et al. (2020), Mgmt Sci; Ascarza &amp; Israeli (2022), PNAS; De Caigny et al. (2020), IJF; Ferreira et al. (2019), JMIS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Odds are not probabilities: </a:t>
            </a:r>
            <a:r>
              <a:rPr sz="1250" b="0" lang="en-GB">
                <a:solidFill>
                  <a:schemeClr val="tx1"/>
                </a:solidFill>
              </a:rPr>
              <a:t>an odds ratio's meaning depends on the baseline churn rate</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The question picks the model: </a:t>
            </a:r>
            <a:r>
              <a:rPr sz="1250" b="0" lang="en-GB">
                <a:solidFill>
                  <a:schemeClr val="tx1"/>
                </a:solidFill>
              </a:rPr>
              <a:t>whether (binary), when (hazard), where to (multinomial)</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Two layers: </a:t>
            </a:r>
            <a:r>
              <a:rPr sz="1250" b="0" lang="en-GB">
                <a:solidFill>
                  <a:schemeClr val="tx1"/>
                </a:solidFill>
              </a:rPr>
              <a:t>response styles and the logit scale both threaten country comparisons</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probabilities: </a:t>
            </a:r>
            <a:r>
              <a:rPr sz="1250" b="0" lang="en-GB">
                <a:solidFill>
                  <a:schemeClr val="tx1"/>
                </a:solidFill>
              </a:rPr>
              <a:t>AMEs and predictions with CIs; interactions as second differences</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Use the model for the decision: </a:t>
            </a:r>
            <a:r>
              <a:rPr sz="1250" b="0" lang="en-GB">
                <a:solidFill>
                  <a:schemeClr val="tx1"/>
                </a:solidFill>
              </a:rPr>
              <a:t>lift, calibration, profit; target uplift, not risk</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sessions/01-foundations/logit_churn.qmd before class; it reproduces the model results.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sources and further reading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methods body"/>
          <p:cNvSpPr/>
          <p:nvPr/>
        </p:nvSpPr>
        <p:spPr>
          <a:xfrm>
            <a:off x="457200" y="1645920"/>
            <a:ext cx="404622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methods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 methods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Methods</a:t>
            </a:r>
          </a:p>
        </p:txBody>
      </p:sp>
      <p:pic>
        <p:nvPicPr>
          <p:cNvPr id="13" name="Icon Ref methods" descr=""/>
          <p:cNvPicPr>
            <a:picLocks noChangeAspect="1"/>
          </p:cNvPicPr>
          <p:nvPr/>
        </p:nvPicPr>
        <p:blipFill>
          <a:blip r:embed="rId3"/>
          <a:stretch>
            <a:fillRect/>
          </a:stretch>
        </p:blipFill>
        <p:spPr>
          <a:xfrm>
            <a:off x="4064508" y="1284732"/>
            <a:ext cx="310896" cy="310896"/>
          </a:xfrm>
          <a:prstGeom prst="rect">
            <a:avLst/>
          </a:prstGeom>
        </p:spPr>
      </p:pic>
      <p:sp>
        <p:nvSpPr>
          <p:cNvPr id="14" name="Ref methods text"/>
          <p:cNvSpPr txBox="1"/>
          <p:nvPr/>
        </p:nvSpPr>
        <p:spPr>
          <a:xfrm>
            <a:off x="621792" y="1783080"/>
            <a:ext cx="3744468" cy="1691640"/>
          </a:xfrm>
          <a:prstGeom prst="rect">
            <a:avLst/>
          </a:prstGeom>
          <a:noFill/>
        </p:spPr>
        <p:txBody>
          <a:bodyPr wrap="square" lIns="0" rIns="0" tIns="0" bIns="0" anchor="t">
            <a:noAutofit/>
          </a:bodyPr>
          <a:lstStyle/>
          <a:p>
            <a:pPr algn="l">
              <a:spcAft>
                <a:spcPts val="600"/>
              </a:spcAft>
            </a:pPr>
            <a:r>
              <a:rPr sz="1150" b="1" lang="en-GB">
                <a:solidFill>
                  <a:schemeClr val="tx2"/>
                </a:solidFill>
              </a:rPr>
              <a:t>Ai &amp; Norton (2003). </a:t>
            </a:r>
            <a:r>
              <a:rPr sz="1150" b="0" lang="en-GB">
                <a:solidFill>
                  <a:schemeClr val="tx1"/>
                </a:solidFill>
              </a:rPr>
              <a:t>Economics Letters.</a:t>
            </a:r>
          </a:p>
          <a:p>
            <a:pPr algn="l">
              <a:spcAft>
                <a:spcPts val="600"/>
              </a:spcAft>
            </a:pPr>
            <a:r>
              <a:rPr sz="1150" b="1" lang="en-GB">
                <a:solidFill>
                  <a:schemeClr val="tx2"/>
                </a:solidFill>
              </a:rPr>
              <a:t>Allison (1999). </a:t>
            </a:r>
            <a:r>
              <a:rPr sz="1150" b="0" lang="en-GB">
                <a:solidFill>
                  <a:schemeClr val="tx1"/>
                </a:solidFill>
              </a:rPr>
              <a:t>SMR.</a:t>
            </a:r>
          </a:p>
          <a:p>
            <a:pPr algn="l">
              <a:spcAft>
                <a:spcPts val="600"/>
              </a:spcAft>
            </a:pPr>
            <a:r>
              <a:rPr sz="1150" b="1" lang="en-GB">
                <a:solidFill>
                  <a:schemeClr val="tx2"/>
                </a:solidFill>
              </a:rPr>
              <a:t>Mood (2010). </a:t>
            </a:r>
            <a:r>
              <a:rPr sz="1150" b="0" lang="en-GB">
                <a:solidFill>
                  <a:schemeClr val="tx1"/>
                </a:solidFill>
              </a:rPr>
              <a:t>ESR.</a:t>
            </a:r>
          </a:p>
          <a:p>
            <a:pPr algn="l">
              <a:spcAft>
                <a:spcPts val="600"/>
              </a:spcAft>
            </a:pPr>
            <a:r>
              <a:rPr sz="1150" b="1" lang="en-GB">
                <a:solidFill>
                  <a:schemeClr val="tx2"/>
                </a:solidFill>
              </a:rPr>
              <a:t>Long &amp; Mustillo (2021). </a:t>
            </a:r>
            <a:r>
              <a:rPr sz="1150" b="0" lang="en-GB">
                <a:solidFill>
                  <a:schemeClr val="tx1"/>
                </a:solidFill>
              </a:rPr>
              <a:t>SMR.</a:t>
            </a:r>
          </a:p>
          <a:p>
            <a:pPr algn="l">
              <a:spcAft>
                <a:spcPts val="600"/>
              </a:spcAft>
            </a:pPr>
            <a:r>
              <a:rPr sz="1150" b="1" lang="en-GB">
                <a:solidFill>
                  <a:schemeClr val="tx2"/>
                </a:solidFill>
              </a:rPr>
              <a:t>Mize (2019). </a:t>
            </a:r>
            <a:r>
              <a:rPr sz="1150" b="0" lang="en-GB">
                <a:solidFill>
                  <a:schemeClr val="tx1"/>
                </a:solidFill>
              </a:rPr>
              <a:t>Sociological Science.</a:t>
            </a:r>
          </a:p>
          <a:p>
            <a:pPr algn="l">
              <a:spcAft>
                <a:spcPts val="600"/>
              </a:spcAft>
            </a:pPr>
            <a:r>
              <a:rPr sz="1150" b="1" lang="en-GB">
                <a:solidFill>
                  <a:schemeClr val="tx2"/>
                </a:solidFill>
              </a:rPr>
              <a:t>Hoetker (2007). </a:t>
            </a:r>
            <a:r>
              <a:rPr sz="1150" b="0" lang="en-GB">
                <a:solidFill>
                  <a:schemeClr val="tx1"/>
                </a:solidFill>
              </a:rPr>
              <a:t>SMJ.</a:t>
            </a:r>
          </a:p>
          <a:p>
            <a:pPr algn="l">
              <a:spcAft>
                <a:spcPts val="600"/>
              </a:spcAft>
            </a:pPr>
            <a:r>
              <a:rPr sz="1150" b="1" lang="en-GB">
                <a:solidFill>
                  <a:schemeClr val="tx2"/>
                </a:solidFill>
              </a:rPr>
              <a:t>Swait &amp; Louviere (1993). </a:t>
            </a:r>
            <a:r>
              <a:rPr sz="1150" b="0" lang="en-GB">
                <a:solidFill>
                  <a:schemeClr val="tx1"/>
                </a:solidFill>
              </a:rPr>
              <a:t>JMR.</a:t>
            </a:r>
          </a:p>
        </p:txBody>
      </p:sp>
      <p:sp>
        <p:nvSpPr>
          <p:cNvPr id="15" name="Ref churn body"/>
          <p:cNvSpPr/>
          <p:nvPr/>
        </p:nvSpPr>
        <p:spPr>
          <a:xfrm>
            <a:off x="4640580" y="1645920"/>
            <a:ext cx="4046220" cy="1965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churn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 churn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Churn and customers</a:t>
            </a:r>
          </a:p>
        </p:txBody>
      </p:sp>
      <p:pic>
        <p:nvPicPr>
          <p:cNvPr id="18" name="Icon Ref churn" descr=""/>
          <p:cNvPicPr>
            <a:picLocks noChangeAspect="1"/>
          </p:cNvPicPr>
          <p:nvPr/>
        </p:nvPicPr>
        <p:blipFill>
          <a:blip r:embed="rId4"/>
          <a:stretch>
            <a:fillRect/>
          </a:stretch>
        </p:blipFill>
        <p:spPr>
          <a:xfrm>
            <a:off x="8247888" y="1284732"/>
            <a:ext cx="310896" cy="310896"/>
          </a:xfrm>
          <a:prstGeom prst="rect">
            <a:avLst/>
          </a:prstGeom>
        </p:spPr>
      </p:pic>
      <p:sp>
        <p:nvSpPr>
          <p:cNvPr id="19" name="Ref churn text"/>
          <p:cNvSpPr txBox="1"/>
          <p:nvPr/>
        </p:nvSpPr>
        <p:spPr>
          <a:xfrm>
            <a:off x="4805172" y="1783080"/>
            <a:ext cx="3744468" cy="1691640"/>
          </a:xfrm>
          <a:prstGeom prst="rect">
            <a:avLst/>
          </a:prstGeom>
          <a:noFill/>
        </p:spPr>
        <p:txBody>
          <a:bodyPr wrap="square" lIns="0" rIns="0" tIns="0" bIns="0" anchor="t">
            <a:noAutofit/>
          </a:bodyPr>
          <a:lstStyle/>
          <a:p>
            <a:pPr algn="l">
              <a:spcAft>
                <a:spcPts val="600"/>
              </a:spcAft>
            </a:pPr>
            <a:r>
              <a:rPr sz="1150" b="1" lang="en-GB">
                <a:solidFill>
                  <a:schemeClr val="tx2"/>
                </a:solidFill>
              </a:rPr>
              <a:t>Neslin et al. (2006). </a:t>
            </a:r>
            <a:r>
              <a:rPr sz="1150" b="0" lang="en-GB">
                <a:solidFill>
                  <a:schemeClr val="tx1"/>
                </a:solidFill>
              </a:rPr>
              <a:t>JMR.</a:t>
            </a:r>
          </a:p>
          <a:p>
            <a:pPr algn="l">
              <a:spcAft>
                <a:spcPts val="600"/>
              </a:spcAft>
            </a:pPr>
            <a:r>
              <a:rPr sz="1150" b="1" lang="en-GB">
                <a:solidFill>
                  <a:schemeClr val="tx2"/>
                </a:solidFill>
              </a:rPr>
              <a:t>Verbeke et al. (2012). </a:t>
            </a:r>
            <a:r>
              <a:rPr sz="1150" b="0" lang="en-GB">
                <a:solidFill>
                  <a:schemeClr val="tx1"/>
                </a:solidFill>
              </a:rPr>
              <a:t>EJOR.</a:t>
            </a:r>
          </a:p>
          <a:p>
            <a:pPr algn="l">
              <a:spcAft>
                <a:spcPts val="600"/>
              </a:spcAft>
            </a:pPr>
            <a:r>
              <a:rPr sz="1150" b="1" lang="en-GB">
                <a:solidFill>
                  <a:schemeClr val="tx2"/>
                </a:solidFill>
              </a:rPr>
              <a:t>Ascarza (2018). </a:t>
            </a:r>
            <a:r>
              <a:rPr sz="1150" b="0" lang="en-GB">
                <a:solidFill>
                  <a:schemeClr val="tx1"/>
                </a:solidFill>
              </a:rPr>
              <a:t>JMR.</a:t>
            </a:r>
          </a:p>
          <a:p>
            <a:pPr algn="l">
              <a:spcAft>
                <a:spcPts val="600"/>
              </a:spcAft>
            </a:pPr>
            <a:r>
              <a:rPr sz="1150" b="1" lang="en-GB">
                <a:solidFill>
                  <a:schemeClr val="tx2"/>
                </a:solidFill>
              </a:rPr>
              <a:t>Lemmens &amp; Gupta (2020). </a:t>
            </a:r>
            <a:r>
              <a:rPr sz="1150" b="0" lang="en-GB">
                <a:solidFill>
                  <a:schemeClr val="tx1"/>
                </a:solidFill>
              </a:rPr>
              <a:t>Marketing Science.</a:t>
            </a:r>
          </a:p>
          <a:p>
            <a:pPr algn="l">
              <a:spcAft>
                <a:spcPts val="600"/>
              </a:spcAft>
            </a:pPr>
            <a:r>
              <a:rPr sz="1150" b="1" lang="en-GB">
                <a:solidFill>
                  <a:schemeClr val="tx2"/>
                </a:solidFill>
              </a:rPr>
              <a:t>Ascarza et al. (2018). </a:t>
            </a:r>
            <a:r>
              <a:rPr sz="1150" b="0" lang="en-GB">
                <a:solidFill>
                  <a:schemeClr val="tx1"/>
                </a:solidFill>
              </a:rPr>
              <a:t>Cust. Needs &amp; Solutions.</a:t>
            </a:r>
          </a:p>
          <a:p>
            <a:pPr algn="l">
              <a:spcAft>
                <a:spcPts val="600"/>
              </a:spcAft>
            </a:pPr>
            <a:r>
              <a:rPr sz="1150" b="1" lang="en-GB">
                <a:solidFill>
                  <a:schemeClr val="tx2"/>
                </a:solidFill>
              </a:rPr>
              <a:t>Aksoy et al. (2013). </a:t>
            </a:r>
            <a:r>
              <a:rPr sz="1150" b="0" lang="en-GB">
                <a:solidFill>
                  <a:schemeClr val="tx1"/>
                </a:solidFill>
              </a:rPr>
              <a:t>J Interact Mktg.</a:t>
            </a:r>
          </a:p>
          <a:p>
            <a:pPr algn="l">
              <a:spcAft>
                <a:spcPts val="600"/>
              </a:spcAft>
            </a:pPr>
            <a:r>
              <a:rPr sz="1150" b="1" lang="en-GB">
                <a:solidFill>
                  <a:schemeClr val="tx2"/>
                </a:solidFill>
              </a:rPr>
              <a:t>Baumgartner &amp; Steenkamp (2001). </a:t>
            </a:r>
            <a:r>
              <a:rPr sz="1150" b="0" lang="en-GB">
                <a:solidFill>
                  <a:schemeClr val="tx1"/>
                </a:solidFill>
              </a:rPr>
              <a:t>JMR.</a:t>
            </a:r>
          </a:p>
        </p:txBody>
      </p:sp>
      <p:sp>
        <p:nvSpPr>
          <p:cNvPr id="20" name="Ref guide box"/>
          <p:cNvSpPr/>
          <p:nvPr/>
        </p:nvSpPr>
        <p:spPr>
          <a:xfrm>
            <a:off x="457200" y="374904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Ref guide" descr=""/>
          <p:cNvPicPr>
            <a:picLocks noChangeAspect="1"/>
          </p:cNvPicPr>
          <p:nvPr/>
        </p:nvPicPr>
        <p:blipFill>
          <a:blip r:embed="rId5"/>
          <a:stretch>
            <a:fillRect/>
          </a:stretch>
        </p:blipFill>
        <p:spPr>
          <a:xfrm>
            <a:off x="658368" y="3954780"/>
            <a:ext cx="365760" cy="365760"/>
          </a:xfrm>
          <a:prstGeom prst="rect">
            <a:avLst/>
          </a:prstGeom>
        </p:spPr>
      </p:pic>
      <p:sp>
        <p:nvSpPr>
          <p:cNvPr id="22" name="Ref guide text"/>
          <p:cNvSpPr txBox="1"/>
          <p:nvPr/>
        </p:nvSpPr>
        <p:spPr>
          <a:xfrm>
            <a:off x="1207008" y="3749040"/>
            <a:ext cx="73152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Reading and data guide: </a:t>
            </a:r>
            <a:r>
              <a:rPr sz="1200" b="0" lang="en-GB">
                <a:solidFill>
                  <a:schemeClr val="tx1"/>
                </a:solidFill>
                <a:latin typeface="Consolas"/>
              </a:rPr>
              <a:t>sessions/01-foundations/churn_readings_and_data.md</a:t>
            </a:r>
            <a:r>
              <a:rPr sz="1200" b="0" lang="en-GB">
                <a:solidFill>
                  <a:schemeClr val="tx1"/>
                </a:solidFill>
              </a:rPr>
              <a:t>: articles by strand with DOIs and one-line takeaways, practice figures with source and date, datasets with licences and polars code, thesis niches.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