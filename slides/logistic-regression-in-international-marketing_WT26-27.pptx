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session on logistic regression across countries. Logistic regression is the standard model for yes/no outcomes in marketing: buy or not, click or not, stay or leave. Our example is customer churn at a mobile operator in four European countries. We start with small numbers that you can check on a calculator and end with the same analysis in Python. The code is in sessions/01-foundations/logit_churn.qmd.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theory parts, then the same analyses in Python, then the in-class exercise. Part 1 explains odds and the S-curve with a small calculator example. Part 2 reads the output of a churn logit. Part 3 compares countries, the trickiest part of the day. Part 4 uses the model to decide whom to call. Keep the question of the day in mind: every part answers a piece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story. A mobile operator in Germany, Austria, Spain and Poland is losing customers. Management wants to know who will cancel in the next 12 months and what to do about it. We have 11,000 customers, most of them in Germany. Churn means: the customer cancelled within the next 12 months, coded 1, otherwise 0. Say clearly that the data are simulated for this course, so we know the true effects and can check every method against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one customer, 11,000 rows and 11 columns. The right-hand column shows a real row: customer 47, a 20-year-old German customer on a month-to-month contract, with the operator for 10 months, one complaint call and a satisfaction score of 2; this customer churned. The outcome is churn, 0 or 1. Most other columns are 0/1 dummies or counts. Ask the room: which columns would you expect to raise churn?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Month-to-month customers churn more than 24-month customers in every country. In Germany about one in four month-to-month customers churns (26.4 %), against about one in ten on a 24-month contract (9.6 %). 24-month vs month-to-month by country: Germany 9.6 % vs 26.4 %; Austria 9.4 % vs 27.3 %; Spain 24.7 % vs 46.6 %; Poland 17.2 % vs 37.2 %. Spain and Poland churn more overall. The question for the rest of the session: how much does the contract matter, and does it matter more in some countries? For a yes/no outcome like churn we need a model that keeps probabilities between 0 and 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gives everyone the same toolkit: probability, odds and log-odds, and how to move between them. We use one small table of German customers with round numbers that you can check on a calculator. At the end you do the same for Spanish customers. Bring out your calculator or open Python.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what students know: ordinary regression on a 0/1 churn variable fits a straight line, the linear probability model. Its coefficient is easy to read, a change in churn probability: here 8.5 percentage points per complaint call. But a straight line has no limits: at 10 complaint calls it predicts 103 per cent churn, which is impossible. The logit bends into an S-curve and predicts 95 per cent. The dots are the churn rates in the data for 0 to 4 calls (simulated data; more calls are rare). The price of the S-curve: a coefficient no longer tells you directly how many percentage points churn changes, so the rest of this part learns to read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table you can check with a calculator: 200 German customers, 100 on each contract. The counts are invented round numbers, close to the data (26 % vs 10 % in Germany). Probability is churners divided by customers: 0.25 and 0.10. Odds are churners per stayer: month-to-month 25 churners and 75 stayers, so odds of 0.33, one churner per three stayers; 24-month 10 churners and 90 stayers, odds 0.11, one per nine. Ask the room: what are the odds if half of the customers churn? (1, or 50:50.)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odds ratio divides the two odds: 0.33 / 0.11 = 3.0. A month-to-month contract triples the odds of churn. The log-odds are the natural log of the odds: −1.10 and −2.20; their difference, 1.10, is ln 3, and that is exactly the coefficient a logit of churn on the contract gives for these 200 customers (fig_s1.py checks it with statsmodels). Keep the exact odds 1/3 and 1/9 in the calculator: ln 0.33 gives −1.11. Back to probability with p = odds / (1 + odds). Stress the callout: churn rises from 10 % to 25 %, which is 2.5 times as likely, or +15 pp; percentage points (pp) are the difference of two percentages.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puts the worked example on the S-curve. The 24-month group sits at log-odds −2.20 (churn 10 %), the month-to-month group at −1.10 (25 %). The same step can be read on three scales: the logit adds 1.10 to the log-odds, multiplies the odds by 3, and raises the churn probability by 15 pp. The software reports log-odds; a manager asks about probabilities. Ask: would the same step of 1.10 log-odds add more or fewer percentage points near 50 per cent? (More, because the curve is steepest there.)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applies the same odds ratio of 2 to five starting churn rates. At 5 per cent churn becomes 9.5 per cent, nearly twice as likely. At 35 per cent, about the Spanish rate in our data, it becomes 51.9 per cent: only 1.5 times as likely, but +16.9 percentage points. At 90 per cent it becomes 94.7 per cent, +4.7 pp. So “twice as likely” works only for rare outcomes, below about 10 per cent, and churn within 12 months is not rare. Ask which number a manager needs to plan a campaign: the percentage points.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Pairs, five minutes, with a calculator or Python. The table has the same structure as the German one: 200 invented Spanish customers, close to the data (47 % vs 25 % in Spain). Those who finish early fit smf.logit("churn ~ monthly") on the 200 rows and compare the coefficient with their hand calculation. Collect the answers in the room, then ask which country the contract affects more.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fit one logit to all 11,000 customers in the four countries. First we read the output table, using the odds ratios of Part 1. Then we name the three numbers a report should contain. Part 3 uses these numbers to compare countries.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logit for all 11,000 customers with four drivers and a dummy for each country; Germany is the reference. The coefficients are in log-odds, the odds ratios are e to the power of the coefficient. The month-to-month contract multiplies the odds of churn by 2.62. Each complaint call multiplies them by 1.57, so the odds rise by 57 per cent per call. Spain's 2.88 is not a driver: it says that Spanish customers have higher churn odds than German customers with the same contract, calls and tenure, the baseline. All terms have p &lt; 0.001 except Austria (p = 0.907): Austria and Germany share one baseline. Ask the room: does the table say how many percentage points the contract adds? (No,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numbers, three uses. The odds ratio, 2.62 for the month-to-month contract, multiplies the odds and is fine inside one model. The average marginal effect, AME, is the change in churn probability in percentage points: on average the month-to-month contract adds 15.6 points (95 per cent CI 13.8 to 17.4). The predicted probability is the churn chance of one profile, here a month-to-month customer with a price rise, one complaint call and 12 months of tenure: 38.1 % in Germany and 58.0 % in Spain, from one model per country. Ask: which of the three would you put in a slide for the retention manager?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ended with a puzzle: Germany had the larger odds ratio, Spain the larger gap in percentage points. This part solves it with the churn data. We compare coefficients and probabilities across countries, then look at survey scores and at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same puzzle as on slide 12, with real model output: one logit per country with the four drivers. The month-to-month coefficient is 1.19 in Germany and 0.81 in Spain, odds ratios 3.28 and 2.25. Give pairs two minutes, then ask for a show of hands: who thinks the contract matters more in Germany?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the data ourselves, so we know the truth: the contract has the same effect, 1.3, in every country. But Spanish churn depends more on things the model does not see, such as moods, offers from rivals or family plans; we call this the noise scale, 1.5 in Spain against 1.0 in Germany. A logit measures effects in units of this noise, so the coefficient is roughly the true effect divided by the noise: 1.3 / 1.5 is about 0.87 in Spain. A naive test of the gap between 1.19 and 0.81 gives z = 2.8 and calls it significant, although the true effect is identical. Ask: what would a manager conclude from the coefficients alone?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coefficients of the four country logits: Germany leads with 1.19, Spain is last with 0.81. Right, the same models in percentage points: Spain leads with 17.3, Germany has 15.2. The gap of 2.1 points has z = 0.9 (95 per cent CI −2.5 to 6.8), so the data show no difference between the two countries. Two forces work in opposite directions: the noise shrinks Spain's coefficient, and Spain's higher churn puts it on the steep part of the S-curve of slide 10, where a change in log-odds moves the probability more. Rule for the rest of the session: compare countries in percentage points, not in coefficients.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care applies to survey answers. In the simulation, true satisfaction is equally high in every country, but Spanish customers answer more enthusiastically: 20.3 % give the top score of 5, against 4.0 % in Germany, and the mean score is 3.35 against 2.96. A 4 in Spain therefore means less satisfaction than a 4 in Germany. If we pooled the raw scores, Spain would look more satisfied and the satisfaction effect would be wrong. A simple fix is to standardise the scores within each country (z-scores); with real data, test the scale first. Ask: have you seen this in rating sites or in course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interaction lets the contract effect differ by country: here contract times Spain, in one model for all customers. The product term is −0.245 (p = 0.047) and seems to say that the contract matters less in Spain. In percentage points it is the other way round: the contract raises churn from 26.3 % to 44.2 % in Spain (17.93 points) and from 10.2 % to 24.3 % in Germany (14.16 points), a difference of +3.8 pp. Its 95 per cent CI, −0.7 to +7.2 pp, includes zero, so the honest reading is: no clear difference, and certainly not weaker in Spain. The product term misleads for the same reason as slide 18: the noise scale and the baseline.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 have read the model: odds ratios, percentage points, countries. Now we use it as a retention manager would, and the question changes from “what drives churn?” to “whom do we call?”. Three slides: flag customers with a threshold, rank them by risk, and check whether calling the riskiest customers actually pays off. Every number comes from the simulated data and from customers the model has not seen.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fit the model on a random 70 per cent of the customers and test it on the other 30 per cent, 3,284 customers it has not seen, of whom 24.2 % churn. A customer is flagged when the predicted churn probability is at least the threshold. At 0.5 the model flags only 8.6 per cent of the customers and catches 175 of 794 churners (22 per cent), yet its accuracy of 77.9 per cent looks fine, because saying “nobody churns” already scores 75.8 per cent. Lowering the threshold to 0.3 catches 446 churners (56 per cent) but flags 29 per cent of the customers, and only 47 per cent of the flagged ones churn. The right threshold follows from the costs: a missed churner usually costs far more than a wasted offer, so it sits below 0.5. Ask the room: is 77.9 per cent accuracy good?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a yes or no, sort the test customers by predicted churn, highest first, and call from the top of the list. Of the 10 per cent at the top, 59.5 % churn, against 24.2 % of all test customers: the top-decile lift is 59.5 % ÷ 24.2 % = 2.46. The gains chart turns this into a budget: calling the top 10 per cent reaches 24.6 % of all churners, about a quarter, and the top 30 per cent reaches 57.3 %, more than half; calling at random would reach 10 and 30 per cent. Neslin et al. (2006) used top-decile lift to compare churn models in a tournament. A threshold-free summary of the same ranking is the AUC, 0.764 here: a random churner gets a higher score than a random stayer in 76 per cent of pairs.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pilot a random half of the customers received a retention offer. Because the offer was random, the difference in churn between customers with and without it is the offer's effect, the uplift; below zero means fewer churners. The offer helps least in the lowest-risk quartile (−3.3 pp), but the highest-risk quartile gains no more than the third (−10.2 pp vs −11.1 pp). Customers with three or more complaint calls do not respond at all: +8.2 pp with an interval from −1.9 pp to +18.3 pp on only 377 customers. So the customers most likely to leave are not always the ones the offer saves. Ascarza (2018) shows the same in two field experiments. Ask: if you can call only one quartile, which 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Positron. The code on the next slides is complete and comes from sessions/01-foundations/logit_churn.qmd: open it and run it cell by cell. Packages first, then three steps: load and look, fit the logit, evaluate the model. Everything runs with the packages installed in Session 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new to install: polars, statsmodels, numpy and plotnine are the packages of Session 1. smf.logit works exactly like smf.ols: a formula, the data, fit. np.exp turns the coefficients into odds ratios, get_margeff gives the average marginal effects in probability units, and get_prediction the churn probability of a profile with a 95 % interval. The test split and the lift need only numpy. The qmd also formats its tables with great_tables.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polars reads the csv; to_pandas() hands the data to statsmodels, which Step 2 imports together with numpy, as in the earlier decks. The qmd sits in sessions/01-foundations, hence the path two folders up. group_by with maintain_order keeps the countries in the order of the file, and filter inside agg gives the churn rate of each contract type. The qmd then prints the customers per country and customer 47 of slide 4. In Germany 26.4 % of month-to-month customers churn against 9.6 % on a 24-month contract; in Spain 46.6 % against 24.7 %.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smf.logit works like smf.ols: a formula, the data, fit; the coefficients are on the log-odds scale. get_margeff(dummy=True) gives average marginal effects in probability units and treats month-to-month as a 0/1 switch: +15.6 percentage points over all customers. ame() is a three-line helper defined in the qmd (Step 2): it predicts every customer once with monthly = 1 and once with 0 and averages the difference by country, here 12.4 pp in Germany and 20.1 pp in Spain. get_prediction gives the churn probability of a profile, month-to-month with a price rise, one complaint call and 12 months of tenure, with a 95 % interval: 35.1 % in Germany and 60.9 % in Spain. The pooled model forces one slope on all countries, which overstates the country gap; for comparisons use the country models of Part 3. Code: qmd Step 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code of qmd Step 3, line for line. One uniform random number per customer with seed 1 sends 30 per cent to the test set, 3,284 customers. The model, the churn formula plus satisfaction and country dummies, is fitted on the training customers only and predicts the test customers. argsort(-p) sorts them from the highest predicted churn down; the first 10 per cent are the top decile, and their churn rate (59.5 %) divided by the overall rate (24.2 %) is the lift, 2.46. The qmd continues with the confusion matrix, the gains chart and the uplift of the offer pilot.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part hands the method over to you, in the same four steps as in the earlier sessions. First a five-question online quiz on the whole session, then the answers. Then you work in pairs on the four-country exercise with telco_churn.csv and the code in logit_churn.qmd. Finally you repeat the same tasks with Posit Assistant and check its numbers against your own.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Online quiz on Canvas: three minutes alone, then compare with your neighbour. Question 1 goes back to the odds on slide 8, question 2 to slides 9 and 11, question 3 to the puzzle of Part 3 (slides 17 to 19), question 4 to the interaction on slide 21 and question 5 to slide 25. Ask for a show of hands per option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answers follow in class.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pairs with the packages for 35 minutes, then five minutes of answers in the plenary, then ten minutes with Posit Assistant (next slide). The tasks are the “Your turn” section of logit_churn.qmd; the step numbers point to the code to reuse. Check after ten minutes that every pair has a pooled model with Germany as the reference country. Fast pairs do task 5 in the file: the model of Step 3 trained on Polish customers and used in every country. Debrief: which number would you put in a board memo, and why?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routine of the earlier sessions. Solve the tasks with your own code first and keep the cells run, so Posit Assistant sees churn, df and the models. Open the chat from the Posit Assistant icon in the activity bar, type @logit_churn.qmd and give one task per prompt. Ask it to explain, not only to compute. Typical slips: a reference country other than Germany, AMEs read as odds ratios, the lift computed on the training data, and the riskiest customers picked for the offer. Stay in Normal mode and read every edit before you accept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open datasets for your own project; the links, loading code in polars and the traps are in sessions/01-foundations/churn_readings_and_data.md. The licence decides what may go into a public repository. IBM Telco sits in an Apache-2.0 code repository, but IBM never confirmed a licence for the data, so credit IBM as “IBM sample data”. The bank file Churn_Modelling has no stated licence and is almost certainly simulated: download it from Kaggle yourself and never commit it, also not to your group repository. Online Retail II is real and CC BY 4.0, so it may be shared with attribution (Chen 2019), but you have to define churn yourself, for example no purchase in a chosen window. For an international angle, the bank file has a large Germany effect: 32.4 per cent churn against about 16 per cent in France and Spain.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per takeaway. Odds count churners per stayer, and an odds ratio is not a ratio of probabilities: say the baseline. Report three numbers: the odds ratio, the average marginal effect in percentage points and a predicted probability with its confidence interval. Compare countries on the probability scale, because coefficients carry each country's noise scale, and read interactions in percentage points too. Use the model to rank customers, with the lift as the check, but give the offer to the customers it changes. Next: run logit_churn.qmd from top to bottom; it reproduces every model number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Core readings first. For the method, Mood (2010) and Long &amp; Mustillo (2021) are the most readable; Allison (1999) explains why coefficients cannot be compared across groups, Ai &amp; Norton (2003) why the product term alone does not give the interaction in percentage points. For churn, start with the review by Ascarza et al. (2018), open access via LBS Research Online; Neslin et al. (2006) and Verbeke et al. (2012) cover prediction and its evaluation, Ascarza (2018) why risk is not uplift. The full list with DOIs is in churn_readings_and_data.md.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2.png"/><Relationship Id="rId4" Type="http://schemas.openxmlformats.org/officeDocument/2006/relationships/image" Target="../media/image34.png"/><Relationship Id="rId5"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6.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Logistic regression across countries</a:t>
            </a:r>
          </a:p>
        </p:txBody>
      </p:sp>
      <p:sp>
        <p:nvSpPr>
          <p:cNvPr id="3" name="Subtitle 2"/>
          <p:cNvSpPr>
            <a:spLocks noGrp="1"/>
          </p:cNvSpPr>
          <p:nvPr>
            <p:ph type="subTitle" idx="1"/>
          </p:nvPr>
        </p:nvSpPr>
        <p:spPr/>
        <p:txBody>
          <a:bodyPr/>
          <a:lstStyle/>
          <a:p>
            <a:r>
              <a:rPr lang="en-GB"/>
              <a:t>International Marketing Analytics</a:t>
            </a:r>
          </a:p>
        </p:txBody>
      </p:sp>
      <p:sp>
        <p:nvSpPr>
          <p:cNvPr id="4" name="Text Placeholder 3"/>
          <p:cNvSpPr>
            <a:spLocks noGrp="1"/>
          </p:cNvSpPr>
          <p:nvPr>
            <p:ph type="body" idx="12" sz="quarter"/>
          </p:nvPr>
        </p:nvSpPr>
        <p:spPr/>
        <p:txBody>
          <a:bodyPr/>
          <a:lstStyle/>
          <a:p>
            <a:r>
              <a:rPr lang="en-GB"/>
              <a:t>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Odds</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Churn</a:t>
            </a:r>
            <a:br/>
            <a:r>
              <a:rPr sz="1100" b="1" lang="en-GB">
                <a:solidFill>
                  <a:schemeClr val="tx2"/>
                </a:solidFill>
              </a:rPr>
              <a:t>logit</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Countries</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Using the</a:t>
            </a:r>
            <a:br/>
            <a:r>
              <a:rPr sz="1100" b="1" lang="en-GB">
                <a:solidFill>
                  <a:schemeClr val="tx2"/>
                </a:solidFill>
              </a:rPr>
              <a:t>model</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Python</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In class</a:t>
            </a:r>
          </a:p>
        </p:txBody>
      </p:sp>
      <p:sp>
        <p:nvSpPr>
          <p:cNvPr id="16" name="Theory card body"/>
          <p:cNvSpPr/>
          <p:nvPr/>
        </p:nvSpPr>
        <p:spPr>
          <a:xfrm>
            <a:off x="45720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heory card header"/>
          <p:cNvSpPr/>
          <p:nvPr/>
        </p:nvSpPr>
        <p:spPr>
          <a:xfrm>
            <a:off x="45720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heory card heading"/>
          <p:cNvSpPr txBox="1"/>
          <p:nvPr/>
        </p:nvSpPr>
        <p:spPr>
          <a:xfrm>
            <a:off x="59436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Theory, Parts 1 to 4</a:t>
            </a:r>
          </a:p>
        </p:txBody>
      </p:sp>
      <p:pic>
        <p:nvPicPr>
          <p:cNvPr id="19" name="Icon Theory card" descr=""/>
          <p:cNvPicPr>
            <a:picLocks noChangeAspect="1"/>
          </p:cNvPicPr>
          <p:nvPr/>
        </p:nvPicPr>
        <p:blipFill>
          <a:blip r:embed="rId3"/>
          <a:stretch>
            <a:fillRect/>
          </a:stretch>
        </p:blipFill>
        <p:spPr>
          <a:xfrm>
            <a:off x="4064508" y="1970532"/>
            <a:ext cx="310896" cy="310896"/>
          </a:xfrm>
          <a:prstGeom prst="rect">
            <a:avLst/>
          </a:prstGeom>
        </p:spPr>
      </p:pic>
      <p:sp>
        <p:nvSpPr>
          <p:cNvPr id="20" name="Theory card text"/>
          <p:cNvSpPr txBox="1"/>
          <p:nvPr/>
        </p:nvSpPr>
        <p:spPr>
          <a:xfrm>
            <a:off x="62179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Odds, odds ratios, the S-curve</a:t>
            </a:r>
          </a:p>
          <a:p>
            <a:pPr algn="l" marL="182880" indent="-182880">
              <a:spcAft>
                <a:spcPts val="600"/>
              </a:spcAft>
              <a:buClr>
                <a:schemeClr val="accent1"/>
              </a:buClr>
              <a:buFont typeface="Arial"/>
              <a:buChar char="▪"/>
            </a:pPr>
            <a:r>
              <a:rPr sz="1300" b="0" lang="en-GB">
                <a:solidFill>
                  <a:schemeClr val="tx1"/>
                </a:solidFill>
              </a:rPr>
              <a:t>Reading the churn logit</a:t>
            </a:r>
          </a:p>
          <a:p>
            <a:pPr algn="l" marL="182880" indent="-182880">
              <a:spcAft>
                <a:spcPts val="600"/>
              </a:spcAft>
              <a:buClr>
                <a:schemeClr val="accent1"/>
              </a:buClr>
              <a:buFont typeface="Arial"/>
              <a:buChar char="▪"/>
            </a:pPr>
            <a:r>
              <a:rPr sz="1300" b="0" lang="en-GB">
                <a:solidFill>
                  <a:schemeClr val="tx1"/>
                </a:solidFill>
              </a:rPr>
              <a:t>Comparing countries</a:t>
            </a:r>
          </a:p>
          <a:p>
            <a:pPr algn="l" marL="182880" indent="-182880">
              <a:spcAft>
                <a:spcPts val="600"/>
              </a:spcAft>
              <a:buClr>
                <a:schemeClr val="accent1"/>
              </a:buClr>
              <a:buFont typeface="Arial"/>
              <a:buChar char="▪"/>
            </a:pPr>
            <a:r>
              <a:rPr sz="1300" b="0" lang="en-GB">
                <a:solidFill>
                  <a:schemeClr val="tx1"/>
                </a:solidFill>
              </a:rPr>
              <a:t>Predict, rank, target</a:t>
            </a:r>
          </a:p>
        </p:txBody>
      </p:sp>
      <p:sp>
        <p:nvSpPr>
          <p:cNvPr id="21" name="Practice card body"/>
          <p:cNvSpPr/>
          <p:nvPr/>
        </p:nvSpPr>
        <p:spPr>
          <a:xfrm>
            <a:off x="4640580" y="2331720"/>
            <a:ext cx="404622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actice card header"/>
          <p:cNvSpPr/>
          <p:nvPr/>
        </p:nvSpPr>
        <p:spPr>
          <a:xfrm>
            <a:off x="464058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ractice card heading"/>
          <p:cNvSpPr txBox="1"/>
          <p:nvPr/>
        </p:nvSpPr>
        <p:spPr>
          <a:xfrm>
            <a:off x="477774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Practice, Parts 5 and 6</a:t>
            </a:r>
          </a:p>
        </p:txBody>
      </p:sp>
      <p:pic>
        <p:nvPicPr>
          <p:cNvPr id="24" name="Icon Practice card" descr=""/>
          <p:cNvPicPr>
            <a:picLocks noChangeAspect="1"/>
          </p:cNvPicPr>
          <p:nvPr/>
        </p:nvPicPr>
        <p:blipFill>
          <a:blip r:embed="rId4"/>
          <a:stretch>
            <a:fillRect/>
          </a:stretch>
        </p:blipFill>
        <p:spPr>
          <a:xfrm>
            <a:off x="8247888" y="1970532"/>
            <a:ext cx="310896" cy="310896"/>
          </a:xfrm>
          <a:prstGeom prst="rect">
            <a:avLst/>
          </a:prstGeom>
        </p:spPr>
      </p:pic>
      <p:sp>
        <p:nvSpPr>
          <p:cNvPr id="25" name="Practice card text"/>
          <p:cNvSpPr txBox="1"/>
          <p:nvPr/>
        </p:nvSpPr>
        <p:spPr>
          <a:xfrm>
            <a:off x="4805172" y="2468880"/>
            <a:ext cx="3744468" cy="16459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polars, statsmodels, plotnine</a:t>
            </a:r>
          </a:p>
          <a:p>
            <a:pPr algn="l" marL="182880" indent="-182880">
              <a:spcAft>
                <a:spcPts val="600"/>
              </a:spcAft>
              <a:buClr>
                <a:schemeClr val="accent1"/>
              </a:buClr>
              <a:buFont typeface="Arial"/>
              <a:buChar char="▪"/>
            </a:pPr>
            <a:r>
              <a:rPr sz="1300" b="0" lang="en-GB">
                <a:solidFill>
                  <a:schemeClr val="tx1"/>
                </a:solidFill>
              </a:rPr>
              <a:t>Online quiz and its answers</a:t>
            </a:r>
          </a:p>
          <a:p>
            <a:pPr algn="l" marL="182880" indent="-182880">
              <a:spcAft>
                <a:spcPts val="600"/>
              </a:spcAft>
              <a:buClr>
                <a:schemeClr val="accent1"/>
              </a:buClr>
              <a:buFont typeface="Arial"/>
              <a:buChar char="▪"/>
            </a:pPr>
            <a:r>
              <a:rPr sz="1300" b="0" lang="en-GB">
                <a:solidFill>
                  <a:schemeClr val="tx1"/>
                </a:solidFill>
              </a:rPr>
              <a:t>Coding exercise: churn in four countries</a:t>
            </a:r>
          </a:p>
          <a:p>
            <a:pPr algn="l" marL="182880" indent="-182880">
              <a:spcAft>
                <a:spcPts val="600"/>
              </a:spcAft>
              <a:buClr>
                <a:schemeClr val="accent1"/>
              </a:buClr>
              <a:buFont typeface="Arial"/>
              <a:buChar char="▪"/>
            </a:pPr>
            <a:r>
              <a:rPr sz="1300" b="0" lang="en-GB">
                <a:solidFill>
                  <a:schemeClr val="tx1"/>
                </a:solidFill>
              </a:rPr>
              <a:t>The same tasks with Posit Assistant</a:t>
            </a:r>
          </a:p>
        </p:txBody>
      </p:sp>
      <p:sp>
        <p:nvSpPr>
          <p:cNvPr id="26" name="Question box"/>
          <p:cNvSpPr/>
          <p:nvPr/>
        </p:nvSpPr>
        <p:spPr>
          <a:xfrm>
            <a:off x="457200" y="43891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Question" descr=""/>
          <p:cNvPicPr>
            <a:picLocks noChangeAspect="1"/>
          </p:cNvPicPr>
          <p:nvPr/>
        </p:nvPicPr>
        <p:blipFill>
          <a:blip r:embed="rId5"/>
          <a:stretch>
            <a:fillRect/>
          </a:stretch>
        </p:blipFill>
        <p:spPr>
          <a:xfrm>
            <a:off x="658368" y="4480560"/>
            <a:ext cx="365760" cy="365760"/>
          </a:xfrm>
          <a:prstGeom prst="rect">
            <a:avLst/>
          </a:prstGeom>
        </p:spPr>
      </p:pic>
      <p:sp>
        <p:nvSpPr>
          <p:cNvPr id="28" name="Question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Question of the day: </a:t>
            </a:r>
            <a:r>
              <a:rPr sz="1300" b="0" lang="en-GB">
                <a:solidFill>
                  <a:schemeClr val="bg1"/>
                </a:solidFill>
              </a:rPr>
              <a:t>who will cancel, and does it differ by country?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Our example: a mobile operator in four countries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tory band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Story 1" descr=""/>
          <p:cNvPicPr>
            <a:picLocks noChangeAspect="1"/>
          </p:cNvPicPr>
          <p:nvPr/>
        </p:nvPicPr>
        <p:blipFill>
          <a:blip r:embed="rId3"/>
          <a:stretch>
            <a:fillRect/>
          </a:stretch>
        </p:blipFill>
        <p:spPr>
          <a:xfrm>
            <a:off x="621792" y="1335024"/>
            <a:ext cx="310896" cy="310896"/>
          </a:xfrm>
          <a:prstGeom prst="rect">
            <a:avLst/>
          </a:prstGeom>
        </p:spPr>
      </p:pic>
      <p:sp>
        <p:nvSpPr>
          <p:cNvPr id="12" name="Story text 1"/>
          <p:cNvSpPr txBox="1"/>
          <p:nvPr/>
        </p:nvSpPr>
        <p:spPr>
          <a:xfrm>
            <a:off x="1115568" y="1234440"/>
            <a:ext cx="7452360" cy="512064"/>
          </a:xfrm>
          <a:prstGeom prst="rect">
            <a:avLst/>
          </a:prstGeom>
          <a:noFill/>
        </p:spPr>
        <p:txBody>
          <a:bodyPr wrap="square" lIns="0" rIns="0" tIns="0" bIns="0" anchor="ctr">
            <a:noAutofit/>
          </a:bodyPr>
          <a:lstStyle/>
          <a:p>
            <a:pPr algn="l">
              <a:spcAft>
                <a:spcPts val="400"/>
              </a:spcAft>
            </a:pPr>
            <a:r>
              <a:rPr sz="1400" b="1" lang="en-GB">
                <a:solidFill>
                  <a:schemeClr val="tx2"/>
                </a:solidFill>
              </a:rPr>
              <a:t>The problem: </a:t>
            </a:r>
            <a:r>
              <a:rPr sz="1400" b="0" lang="en-GB">
                <a:solidFill>
                  <a:schemeClr val="tx1"/>
                </a:solidFill>
              </a:rPr>
              <a:t>a mobile operator in four countries is losing customers.</a:t>
            </a:r>
          </a:p>
        </p:txBody>
      </p:sp>
      <p:sp>
        <p:nvSpPr>
          <p:cNvPr id="13" name="Story band 2"/>
          <p:cNvSpPr/>
          <p:nvPr/>
        </p:nvSpPr>
        <p:spPr>
          <a:xfrm>
            <a:off x="457200" y="183794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Story 2" descr=""/>
          <p:cNvPicPr>
            <a:picLocks noChangeAspect="1"/>
          </p:cNvPicPr>
          <p:nvPr/>
        </p:nvPicPr>
        <p:blipFill>
          <a:blip r:embed="rId4"/>
          <a:stretch>
            <a:fillRect/>
          </a:stretch>
        </p:blipFill>
        <p:spPr>
          <a:xfrm>
            <a:off x="621792" y="1938528"/>
            <a:ext cx="310896" cy="310896"/>
          </a:xfrm>
          <a:prstGeom prst="rect">
            <a:avLst/>
          </a:prstGeom>
        </p:spPr>
      </p:pic>
      <p:sp>
        <p:nvSpPr>
          <p:cNvPr id="15" name="Story text 2"/>
          <p:cNvSpPr txBox="1"/>
          <p:nvPr/>
        </p:nvSpPr>
        <p:spPr>
          <a:xfrm>
            <a:off x="1115568" y="1837944"/>
            <a:ext cx="7452360" cy="512064"/>
          </a:xfrm>
          <a:prstGeom prst="rect">
            <a:avLst/>
          </a:prstGeom>
          <a:noFill/>
        </p:spPr>
        <p:txBody>
          <a:bodyPr wrap="square" lIns="0" rIns="0" tIns="0" bIns="0" anchor="ctr">
            <a:noAutofit/>
          </a:bodyPr>
          <a:lstStyle/>
          <a:p>
            <a:pPr algn="l">
              <a:spcAft>
                <a:spcPts val="400"/>
              </a:spcAft>
            </a:pPr>
            <a:r>
              <a:rPr sz="1400" b="1" lang="en-GB">
                <a:solidFill>
                  <a:schemeClr val="tx2"/>
                </a:solidFill>
              </a:rPr>
              <a:t>The question: </a:t>
            </a:r>
            <a:r>
              <a:rPr sz="1400" b="0" lang="en-GB">
                <a:solidFill>
                  <a:schemeClr val="tx1"/>
                </a:solidFill>
              </a:rPr>
              <a:t>who will cancel in the next 12 months, and what can we do?</a:t>
            </a:r>
          </a:p>
        </p:txBody>
      </p:sp>
      <p:sp>
        <p:nvSpPr>
          <p:cNvPr id="16" name="Country DE tile"/>
          <p:cNvSpPr/>
          <p:nvPr/>
        </p:nvSpPr>
        <p:spPr>
          <a:xfrm>
            <a:off x="457200" y="2560320"/>
            <a:ext cx="195453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untry DE bar"/>
          <p:cNvSpPr/>
          <p:nvPr/>
        </p:nvSpPr>
        <p:spPr>
          <a:xfrm>
            <a:off x="457200" y="2560320"/>
            <a:ext cx="1954530" cy="64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ountry DE figure"/>
          <p:cNvSpPr txBox="1"/>
          <p:nvPr/>
        </p:nvSpPr>
        <p:spPr>
          <a:xfrm>
            <a:off x="594360" y="2697480"/>
            <a:ext cx="1680210" cy="5486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4,000</a:t>
            </a:r>
          </a:p>
        </p:txBody>
      </p:sp>
      <p:sp>
        <p:nvSpPr>
          <p:cNvPr id="19" name="Country DE label"/>
          <p:cNvSpPr txBox="1"/>
          <p:nvPr/>
        </p:nvSpPr>
        <p:spPr>
          <a:xfrm>
            <a:off x="594360" y="3200400"/>
            <a:ext cx="1680210" cy="457200"/>
          </a:xfrm>
          <a:prstGeom prst="rect">
            <a:avLst/>
          </a:prstGeom>
          <a:noFill/>
        </p:spPr>
        <p:txBody>
          <a:bodyPr wrap="square" lIns="0" rIns="0" tIns="0" bIns="0" anchor="ctr">
            <a:noAutofit/>
          </a:bodyPr>
          <a:lstStyle/>
          <a:p>
            <a:pPr algn="l">
              <a:spcAft>
                <a:spcPts val="0"/>
              </a:spcAft>
            </a:pPr>
            <a:r>
              <a:rPr sz="1300" b="0" lang="en-GB">
                <a:solidFill>
                  <a:schemeClr val="tx1"/>
                </a:solidFill>
              </a:rPr>
              <a:t>customers in</a:t>
            </a:r>
          </a:p>
          <a:p>
            <a:pPr algn="l">
              <a:spcAft>
                <a:spcPts val="0"/>
              </a:spcAft>
            </a:pPr>
            <a:r>
              <a:rPr sz="1300" b="1" lang="en-GB">
                <a:solidFill>
                  <a:schemeClr val="tx2"/>
                </a:solidFill>
              </a:rPr>
              <a:t>Germany</a:t>
            </a:r>
          </a:p>
        </p:txBody>
      </p:sp>
      <p:sp>
        <p:nvSpPr>
          <p:cNvPr id="20" name="Country AT tile"/>
          <p:cNvSpPr/>
          <p:nvPr/>
        </p:nvSpPr>
        <p:spPr>
          <a:xfrm>
            <a:off x="2548890" y="2560320"/>
            <a:ext cx="195453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untry AT bar"/>
          <p:cNvSpPr/>
          <p:nvPr/>
        </p:nvSpPr>
        <p:spPr>
          <a:xfrm>
            <a:off x="2548890" y="2560320"/>
            <a:ext cx="1954530" cy="64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ountry AT figure"/>
          <p:cNvSpPr txBox="1"/>
          <p:nvPr/>
        </p:nvSpPr>
        <p:spPr>
          <a:xfrm>
            <a:off x="2686050" y="2697480"/>
            <a:ext cx="1680210" cy="5486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1,500</a:t>
            </a:r>
          </a:p>
        </p:txBody>
      </p:sp>
      <p:sp>
        <p:nvSpPr>
          <p:cNvPr id="23" name="Country AT label"/>
          <p:cNvSpPr txBox="1"/>
          <p:nvPr/>
        </p:nvSpPr>
        <p:spPr>
          <a:xfrm>
            <a:off x="2686050" y="3200400"/>
            <a:ext cx="1680210" cy="457200"/>
          </a:xfrm>
          <a:prstGeom prst="rect">
            <a:avLst/>
          </a:prstGeom>
          <a:noFill/>
        </p:spPr>
        <p:txBody>
          <a:bodyPr wrap="square" lIns="0" rIns="0" tIns="0" bIns="0" anchor="ctr">
            <a:noAutofit/>
          </a:bodyPr>
          <a:lstStyle/>
          <a:p>
            <a:pPr algn="l">
              <a:spcAft>
                <a:spcPts val="0"/>
              </a:spcAft>
            </a:pPr>
            <a:r>
              <a:rPr sz="1300" b="0" lang="en-GB">
                <a:solidFill>
                  <a:schemeClr val="tx1"/>
                </a:solidFill>
              </a:rPr>
              <a:t>customers in</a:t>
            </a:r>
          </a:p>
          <a:p>
            <a:pPr algn="l">
              <a:spcAft>
                <a:spcPts val="0"/>
              </a:spcAft>
            </a:pPr>
            <a:r>
              <a:rPr sz="1300" b="1" lang="en-GB">
                <a:solidFill>
                  <a:schemeClr val="tx2"/>
                </a:solidFill>
              </a:rPr>
              <a:t>Austria</a:t>
            </a:r>
          </a:p>
        </p:txBody>
      </p:sp>
      <p:sp>
        <p:nvSpPr>
          <p:cNvPr id="24" name="Country ES tile"/>
          <p:cNvSpPr/>
          <p:nvPr/>
        </p:nvSpPr>
        <p:spPr>
          <a:xfrm>
            <a:off x="4640580" y="2560320"/>
            <a:ext cx="195453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ountry ES bar"/>
          <p:cNvSpPr/>
          <p:nvPr/>
        </p:nvSpPr>
        <p:spPr>
          <a:xfrm>
            <a:off x="4640580" y="2560320"/>
            <a:ext cx="1954530" cy="64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ountry ES figure"/>
          <p:cNvSpPr txBox="1"/>
          <p:nvPr/>
        </p:nvSpPr>
        <p:spPr>
          <a:xfrm>
            <a:off x="4777740" y="2697480"/>
            <a:ext cx="1680210" cy="5486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3,000</a:t>
            </a:r>
          </a:p>
        </p:txBody>
      </p:sp>
      <p:sp>
        <p:nvSpPr>
          <p:cNvPr id="27" name="Country ES label"/>
          <p:cNvSpPr txBox="1"/>
          <p:nvPr/>
        </p:nvSpPr>
        <p:spPr>
          <a:xfrm>
            <a:off x="4777740" y="3200400"/>
            <a:ext cx="1680210" cy="457200"/>
          </a:xfrm>
          <a:prstGeom prst="rect">
            <a:avLst/>
          </a:prstGeom>
          <a:noFill/>
        </p:spPr>
        <p:txBody>
          <a:bodyPr wrap="square" lIns="0" rIns="0" tIns="0" bIns="0" anchor="ctr">
            <a:noAutofit/>
          </a:bodyPr>
          <a:lstStyle/>
          <a:p>
            <a:pPr algn="l">
              <a:spcAft>
                <a:spcPts val="0"/>
              </a:spcAft>
            </a:pPr>
            <a:r>
              <a:rPr sz="1300" b="0" lang="en-GB">
                <a:solidFill>
                  <a:schemeClr val="tx1"/>
                </a:solidFill>
              </a:rPr>
              <a:t>customers in</a:t>
            </a:r>
          </a:p>
          <a:p>
            <a:pPr algn="l">
              <a:spcAft>
                <a:spcPts val="0"/>
              </a:spcAft>
            </a:pPr>
            <a:r>
              <a:rPr sz="1300" b="1" lang="en-GB">
                <a:solidFill>
                  <a:schemeClr val="tx2"/>
                </a:solidFill>
              </a:rPr>
              <a:t>Spain</a:t>
            </a:r>
          </a:p>
        </p:txBody>
      </p:sp>
      <p:sp>
        <p:nvSpPr>
          <p:cNvPr id="28" name="Country PL tile"/>
          <p:cNvSpPr/>
          <p:nvPr/>
        </p:nvSpPr>
        <p:spPr>
          <a:xfrm>
            <a:off x="6732270" y="2560320"/>
            <a:ext cx="195453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ountry PL bar"/>
          <p:cNvSpPr/>
          <p:nvPr/>
        </p:nvSpPr>
        <p:spPr>
          <a:xfrm>
            <a:off x="6732270" y="2560320"/>
            <a:ext cx="1954530" cy="64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ountry PL figure"/>
          <p:cNvSpPr txBox="1"/>
          <p:nvPr/>
        </p:nvSpPr>
        <p:spPr>
          <a:xfrm>
            <a:off x="6869430" y="2697480"/>
            <a:ext cx="1680210" cy="5486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2,500</a:t>
            </a:r>
          </a:p>
        </p:txBody>
      </p:sp>
      <p:sp>
        <p:nvSpPr>
          <p:cNvPr id="31" name="Country PL label"/>
          <p:cNvSpPr txBox="1"/>
          <p:nvPr/>
        </p:nvSpPr>
        <p:spPr>
          <a:xfrm>
            <a:off x="6869430" y="3200400"/>
            <a:ext cx="1680210" cy="457200"/>
          </a:xfrm>
          <a:prstGeom prst="rect">
            <a:avLst/>
          </a:prstGeom>
          <a:noFill/>
        </p:spPr>
        <p:txBody>
          <a:bodyPr wrap="square" lIns="0" rIns="0" tIns="0" bIns="0" anchor="ctr">
            <a:noAutofit/>
          </a:bodyPr>
          <a:lstStyle/>
          <a:p>
            <a:pPr algn="l">
              <a:spcAft>
                <a:spcPts val="0"/>
              </a:spcAft>
            </a:pPr>
            <a:r>
              <a:rPr sz="1300" b="0" lang="en-GB">
                <a:solidFill>
                  <a:schemeClr val="tx1"/>
                </a:solidFill>
              </a:rPr>
              <a:t>customers in</a:t>
            </a:r>
          </a:p>
          <a:p>
            <a:pPr algn="l">
              <a:spcAft>
                <a:spcPts val="0"/>
              </a:spcAft>
            </a:pPr>
            <a:r>
              <a:rPr sz="1300" b="1" lang="en-GB">
                <a:solidFill>
                  <a:schemeClr val="tx2"/>
                </a:solidFill>
              </a:rPr>
              <a:t>Poland</a:t>
            </a:r>
          </a:p>
        </p:txBody>
      </p:sp>
      <p:sp>
        <p:nvSpPr>
          <p:cNvPr id="32" name="Churn box"/>
          <p:cNvSpPr/>
          <p:nvPr/>
        </p:nvSpPr>
        <p:spPr>
          <a:xfrm>
            <a:off x="457200" y="39319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Icon Churn" descr=""/>
          <p:cNvPicPr>
            <a:picLocks noChangeAspect="1"/>
          </p:cNvPicPr>
          <p:nvPr/>
        </p:nvPicPr>
        <p:blipFill>
          <a:blip r:embed="rId5"/>
          <a:stretch>
            <a:fillRect/>
          </a:stretch>
        </p:blipFill>
        <p:spPr>
          <a:xfrm>
            <a:off x="658368" y="4023360"/>
            <a:ext cx="365760" cy="365760"/>
          </a:xfrm>
          <a:prstGeom prst="rect">
            <a:avLst/>
          </a:prstGeom>
        </p:spPr>
      </p:pic>
      <p:sp>
        <p:nvSpPr>
          <p:cNvPr id="34" name="Churn text"/>
          <p:cNvSpPr txBox="1"/>
          <p:nvPr/>
        </p:nvSpPr>
        <p:spPr>
          <a:xfrm>
            <a:off x="1207008" y="3931920"/>
            <a:ext cx="731520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Churn = 1: </a:t>
            </a:r>
            <a:r>
              <a:rPr sz="1300" b="0" lang="en-GB">
                <a:solidFill>
                  <a:schemeClr val="bg1"/>
                </a:solidFill>
              </a:rPr>
              <a:t>the customer cancelled within the next 12 months; 0: the customer stayed.</a:t>
            </a:r>
          </a:p>
        </p:txBody>
      </p:sp>
      <p:sp>
        <p:nvSpPr>
          <p:cNvPr id="3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(telco_churn.csv), built for this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ata table"/>
          <p:cNvGraphicFramePr>
            <a:graphicFrameLocks noGrp="1"/>
          </p:cNvGraphicFramePr>
          <p:nvPr>
            <p:ph type="tbl" idx="1"/>
          </p:nvPr>
        </p:nvGraphicFramePr>
        <p:xfrm>
          <a:off x="457200" y="1234440"/>
          <a:ext cx="8229600" cy="3182112"/>
        </p:xfrm>
        <a:graphic>
          <a:graphicData uri="http://schemas.openxmlformats.org/drawingml/2006/table">
            <a:tbl>
              <a:tblPr firstRow="1" bandRow="1">
                <a:tableStyleId>{5C22544A-7EE6-4342-B048-85BDC9FD1C3A}</a:tableStyleId>
              </a:tblPr>
              <a:tblGrid>
                <a:gridCol w="2103120"/>
                <a:gridCol w="4480560"/>
                <a:gridCol w="1645920"/>
              </a:tblGrid>
              <a:tr h="265176">
                <a:tc>
                  <a:txBody>
                    <a:bodyPr/>
                    <a:lstStyle/>
                    <a:p>
                      <a:r>
                        <a:rPr sz="1200" lang="en-GB"/>
                        <a:t>Column</a:t>
                      </a:r>
                    </a:p>
                  </a:txBody>
                  <a:tcPr marT="22000" marB="22000"/>
                </a:tc>
                <a:tc>
                  <a:txBody>
                    <a:bodyPr/>
                    <a:lstStyle/>
                    <a:p>
                      <a:r>
                        <a:rPr sz="1200" lang="en-GB"/>
                        <a:t>Meaning</a:t>
                      </a:r>
                    </a:p>
                  </a:txBody>
                  <a:tcPr marT="22000" marB="22000"/>
                </a:tc>
                <a:tc>
                  <a:txBody>
                    <a:bodyPr/>
                    <a:lstStyle/>
                    <a:p>
                      <a:pPr algn="r"/>
                      <a:r>
                        <a:rPr sz="1200" lang="en-GB"/>
                        <a:t>Customer 47</a:t>
                      </a:r>
                    </a:p>
                  </a:txBody>
                  <a:tcPr marT="22000" marB="22000"/>
                </a:tc>
              </a:tr>
              <a:tr h="265176">
                <a:tc>
                  <a:txBody>
                    <a:bodyPr/>
                    <a:lstStyle/>
                    <a:p>
                      <a:r>
                        <a:rPr sz="1150" b="1" lang="en-GB"/>
                        <a:t>customer_id</a:t>
                      </a:r>
                    </a:p>
                  </a:txBody>
                  <a:tcPr marT="22000" marB="22000"/>
                </a:tc>
                <a:tc>
                  <a:txBody>
                    <a:bodyPr/>
                    <a:lstStyle/>
                    <a:p>
                      <a:r>
                        <a:rPr sz="1150" lang="en-GB"/>
                        <a:t>customer number</a:t>
                      </a:r>
                    </a:p>
                  </a:txBody>
                  <a:tcPr marT="22000" marB="22000"/>
                </a:tc>
                <a:tc>
                  <a:txBody>
                    <a:bodyPr/>
                    <a:lstStyle/>
                    <a:p>
                      <a:pPr algn="r"/>
                      <a:r>
                        <a:rPr sz="1150" lang="en-GB"/>
                        <a:t>47</a:t>
                      </a:r>
                    </a:p>
                  </a:txBody>
                  <a:tcPr marT="22000" marB="22000"/>
                </a:tc>
              </a:tr>
              <a:tr h="265176">
                <a:tc>
                  <a:txBody>
                    <a:bodyPr/>
                    <a:lstStyle/>
                    <a:p>
                      <a:r>
                        <a:rPr sz="1150" b="1" lang="en-GB"/>
                        <a:t>country</a:t>
                      </a:r>
                    </a:p>
                  </a:txBody>
                  <a:tcPr marT="22000" marB="22000"/>
                </a:tc>
                <a:tc>
                  <a:txBody>
                    <a:bodyPr/>
                    <a:lstStyle/>
                    <a:p>
                      <a:r>
                        <a:rPr sz="1150" lang="en-GB"/>
                        <a:t>DE, AT, ES or PL</a:t>
                      </a:r>
                    </a:p>
                  </a:txBody>
                  <a:tcPr marT="22000" marB="22000"/>
                </a:tc>
                <a:tc>
                  <a:txBody>
                    <a:bodyPr/>
                    <a:lstStyle/>
                    <a:p>
                      <a:pPr algn="r"/>
                      <a:r>
                        <a:rPr sz="1150" lang="en-GB"/>
                        <a:t>DE</a:t>
                      </a:r>
                    </a:p>
                  </a:txBody>
                  <a:tcPr marT="22000" marB="22000"/>
                </a:tc>
              </a:tr>
              <a:tr h="265176">
                <a:tc>
                  <a:txBody>
                    <a:bodyPr/>
                    <a:lstStyle/>
                    <a:p>
                      <a:r>
                        <a:rPr sz="1150" b="1" lang="en-GB"/>
                        <a:t>age</a:t>
                      </a:r>
                    </a:p>
                  </a:txBody>
                  <a:tcPr marT="22000" marB="22000"/>
                </a:tc>
                <a:tc>
                  <a:txBody>
                    <a:bodyPr/>
                    <a:lstStyle/>
                    <a:p>
                      <a:r>
                        <a:rPr sz="1150" lang="en-GB"/>
                        <a:t>age in years</a:t>
                      </a:r>
                    </a:p>
                  </a:txBody>
                  <a:tcPr marT="22000" marB="22000"/>
                </a:tc>
                <a:tc>
                  <a:txBody>
                    <a:bodyPr/>
                    <a:lstStyle/>
                    <a:p>
                      <a:pPr algn="r"/>
                      <a:r>
                        <a:rPr sz="1150" lang="en-GB"/>
                        <a:t>20</a:t>
                      </a:r>
                    </a:p>
                  </a:txBody>
                  <a:tcPr marT="22000" marB="22000"/>
                </a:tc>
              </a:tr>
              <a:tr h="265176">
                <a:tc>
                  <a:txBody>
                    <a:bodyPr/>
                    <a:lstStyle/>
                    <a:p>
                      <a:r>
                        <a:rPr sz="1150" b="1" lang="en-GB"/>
                        <a:t>tenure_months</a:t>
                      </a:r>
                    </a:p>
                  </a:txBody>
                  <a:tcPr marT="22000" marB="22000"/>
                </a:tc>
                <a:tc>
                  <a:txBody>
                    <a:bodyPr/>
                    <a:lstStyle/>
                    <a:p>
                      <a:r>
                        <a:rPr sz="1150" lang="en-GB"/>
                        <a:t>months with the operator</a:t>
                      </a:r>
                    </a:p>
                  </a:txBody>
                  <a:tcPr marT="22000" marB="22000"/>
                </a:tc>
                <a:tc>
                  <a:txBody>
                    <a:bodyPr/>
                    <a:lstStyle/>
                    <a:p>
                      <a:pPr algn="r"/>
                      <a:r>
                        <a:rPr sz="1150" lang="en-GB"/>
                        <a:t>10</a:t>
                      </a:r>
                    </a:p>
                  </a:txBody>
                  <a:tcPr marT="22000" marB="22000"/>
                </a:tc>
              </a:tr>
              <a:tr h="265176">
                <a:tc>
                  <a:txBody>
                    <a:bodyPr/>
                    <a:lstStyle/>
                    <a:p>
                      <a:r>
                        <a:rPr sz="1150" b="1" lang="en-GB"/>
                        <a:t>monthly</a:t>
                      </a:r>
                    </a:p>
                  </a:txBody>
                  <a:tcPr marT="22000" marB="22000"/>
                </a:tc>
                <a:tc>
                  <a:txBody>
                    <a:bodyPr/>
                    <a:lstStyle/>
                    <a:p>
                      <a:r>
                        <a:rPr sz="1150" lang="en-GB"/>
                        <a:t>1 = month-to-month contract, 0 = 24-month</a:t>
                      </a:r>
                    </a:p>
                  </a:txBody>
                  <a:tcPr marT="22000" marB="22000"/>
                </a:tc>
                <a:tc>
                  <a:txBody>
                    <a:bodyPr/>
                    <a:lstStyle/>
                    <a:p>
                      <a:pPr algn="r"/>
                      <a:r>
                        <a:rPr sz="1150" lang="en-GB"/>
                        <a:t>1</a:t>
                      </a:r>
                    </a:p>
                  </a:txBody>
                  <a:tcPr marT="22000" marB="22000"/>
                </a:tc>
              </a:tr>
              <a:tr h="265176">
                <a:tc>
                  <a:txBody>
                    <a:bodyPr/>
                    <a:lstStyle/>
                    <a:p>
                      <a:r>
                        <a:rPr sz="1150" b="1" lang="en-GB"/>
                        <a:t>monthly_fee</a:t>
                      </a:r>
                    </a:p>
                  </a:txBody>
                  <a:tcPr marT="22000" marB="22000"/>
                </a:tc>
                <a:tc>
                  <a:txBody>
                    <a:bodyPr/>
                    <a:lstStyle/>
                    <a:p>
                      <a:r>
                        <a:rPr sz="1150" lang="en-GB"/>
                        <a:t>fee in EUR per month</a:t>
                      </a:r>
                    </a:p>
                  </a:txBody>
                  <a:tcPr marT="22000" marB="22000"/>
                </a:tc>
                <a:tc>
                  <a:txBody>
                    <a:bodyPr/>
                    <a:lstStyle/>
                    <a:p>
                      <a:pPr algn="r"/>
                      <a:r>
                        <a:rPr sz="1150" lang="en-GB"/>
                        <a:t>27.22</a:t>
                      </a:r>
                    </a:p>
                  </a:txBody>
                  <a:tcPr marT="22000" marB="22000"/>
                </a:tc>
              </a:tr>
              <a:tr h="265176">
                <a:tc>
                  <a:txBody>
                    <a:bodyPr/>
                    <a:lstStyle/>
                    <a:p>
                      <a:r>
                        <a:rPr sz="1150" b="1" lang="en-GB"/>
                        <a:t>price_increase</a:t>
                      </a:r>
                    </a:p>
                  </a:txBody>
                  <a:tcPr marT="22000" marB="22000"/>
                </a:tc>
                <a:tc>
                  <a:txBody>
                    <a:bodyPr/>
                    <a:lstStyle/>
                    <a:p>
                      <a:r>
                        <a:rPr sz="1150" lang="en-GB"/>
                        <a:t>1 = price rise in the last six months</a:t>
                      </a:r>
                    </a:p>
                  </a:txBody>
                  <a:tcPr marT="22000" marB="22000"/>
                </a:tc>
                <a:tc>
                  <a:txBody>
                    <a:bodyPr/>
                    <a:lstStyle/>
                    <a:p>
                      <a:pPr algn="r"/>
                      <a:r>
                        <a:rPr sz="1150" lang="en-GB"/>
                        <a:t>0</a:t>
                      </a:r>
                    </a:p>
                  </a:txBody>
                  <a:tcPr marT="22000" marB="22000"/>
                </a:tc>
              </a:tr>
              <a:tr h="265176">
                <a:tc>
                  <a:txBody>
                    <a:bodyPr/>
                    <a:lstStyle/>
                    <a:p>
                      <a:r>
                        <a:rPr sz="1150" b="1" lang="en-GB"/>
                        <a:t>complaints</a:t>
                      </a:r>
                    </a:p>
                  </a:txBody>
                  <a:tcPr marT="22000" marB="22000"/>
                </a:tc>
                <a:tc>
                  <a:txBody>
                    <a:bodyPr/>
                    <a:lstStyle/>
                    <a:p>
                      <a:r>
                        <a:rPr sz="1150" lang="en-GB"/>
                        <a:t>complaint calls in the last six months</a:t>
                      </a:r>
                    </a:p>
                  </a:txBody>
                  <a:tcPr marT="22000" marB="22000"/>
                </a:tc>
                <a:tc>
                  <a:txBody>
                    <a:bodyPr/>
                    <a:lstStyle/>
                    <a:p>
                      <a:pPr algn="r"/>
                      <a:r>
                        <a:rPr sz="1150" lang="en-GB"/>
                        <a:t>1</a:t>
                      </a:r>
                    </a:p>
                  </a:txBody>
                  <a:tcPr marT="22000" marB="22000"/>
                </a:tc>
              </a:tr>
              <a:tr h="265176">
                <a:tc>
                  <a:txBody>
                    <a:bodyPr/>
                    <a:lstStyle/>
                    <a:p>
                      <a:r>
                        <a:rPr sz="1150" b="1" lang="en-GB"/>
                        <a:t>satisfaction</a:t>
                      </a:r>
                    </a:p>
                  </a:txBody>
                  <a:tcPr marT="22000" marB="22000"/>
                </a:tc>
                <a:tc>
                  <a:txBody>
                    <a:bodyPr/>
                    <a:lstStyle/>
                    <a:p>
                      <a:r>
                        <a:rPr sz="1150" lang="en-GB"/>
                        <a:t>survey score, 1 to 5</a:t>
                      </a:r>
                    </a:p>
                  </a:txBody>
                  <a:tcPr marT="22000" marB="22000"/>
                </a:tc>
                <a:tc>
                  <a:txBody>
                    <a:bodyPr/>
                    <a:lstStyle/>
                    <a:p>
                      <a:pPr algn="r"/>
                      <a:r>
                        <a:rPr sz="1150" lang="en-GB"/>
                        <a:t>2</a:t>
                      </a:r>
                    </a:p>
                  </a:txBody>
                  <a:tcPr marT="22000" marB="22000"/>
                </a:tc>
              </a:tr>
              <a:tr h="265176">
                <a:tc>
                  <a:txBody>
                    <a:bodyPr/>
                    <a:lstStyle/>
                    <a:p>
                      <a:r>
                        <a:rPr sz="1150" b="1" lang="en-GB"/>
                        <a:t>retention_offer</a:t>
                      </a:r>
                    </a:p>
                  </a:txBody>
                  <a:tcPr marT="22000" marB="22000"/>
                </a:tc>
                <a:tc>
                  <a:txBody>
                    <a:bodyPr/>
                    <a:lstStyle/>
                    <a:p>
                      <a:r>
                        <a:rPr sz="1150" lang="en-GB"/>
                        <a:t>1 = got the retention offer (random pilot)</a:t>
                      </a:r>
                    </a:p>
                  </a:txBody>
                  <a:tcPr marT="22000" marB="22000"/>
                </a:tc>
                <a:tc>
                  <a:txBody>
                    <a:bodyPr/>
                    <a:lstStyle/>
                    <a:p>
                      <a:pPr algn="r"/>
                      <a:r>
                        <a:rPr sz="1150" lang="en-GB"/>
                        <a:t>0</a:t>
                      </a:r>
                    </a:p>
                  </a:txBody>
                  <a:tcPr marT="22000" marB="22000"/>
                </a:tc>
              </a:tr>
              <a:tr h="265176">
                <a:tc>
                  <a:txBody>
                    <a:bodyPr/>
                    <a:lstStyle/>
                    <a:p>
                      <a:r>
                        <a:rPr sz="1150" b="1" lang="en-GB"/>
                        <a:t>churn</a:t>
                      </a:r>
                    </a:p>
                  </a:txBody>
                  <a:tcPr marT="22000" marB="22000"/>
                </a:tc>
                <a:tc>
                  <a:txBody>
                    <a:bodyPr/>
                    <a:lstStyle/>
                    <a:p>
                      <a:r>
                        <a:rPr sz="1150" lang="en-GB"/>
                        <a:t>1 = cancelled within the next 12 months</a:t>
                      </a:r>
                    </a:p>
                  </a:txBody>
                  <a:tcPr marT="22000" marB="22000"/>
                </a:tc>
                <a:tc>
                  <a:txBody>
                    <a:bodyPr/>
                    <a:lstStyle/>
                    <a:p>
                      <a:pPr algn="r"/>
                      <a:r>
                        <a:rPr sz="1150" lang="en-GB"/>
                        <a:t>1</a:t>
                      </a:r>
                    </a:p>
                  </a:txBody>
                  <a:tcPr marT="22000" marB="22000"/>
                </a:tc>
              </a:tr>
            </a:tbl>
          </a:graphicData>
        </a:graphic>
      </p:graphicFrame>
      <p:sp>
        <p:nvSpPr>
          <p:cNvPr id="3" name="Title 2"/>
          <p:cNvSpPr>
            <a:spLocks noGrp="1"/>
          </p:cNvSpPr>
          <p:nvPr>
            <p:ph type="title"/>
          </p:nvPr>
        </p:nvSpPr>
        <p:spPr/>
        <p:txBody>
          <a:bodyPr/>
          <a:lstStyle/>
          <a:p>
            <a:r>
              <a:rPr sz="1600" lang="en-GB"/>
              <a:t>The data: one row per customer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file"/>
          <p:cNvSpPr txBox="1"/>
          <p:nvPr/>
        </p:nvSpPr>
        <p:spPr>
          <a:xfrm>
            <a:off x="457200" y="4443984"/>
            <a:ext cx="8229600" cy="292608"/>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data/churn/telco_churn.csv</a:t>
            </a:r>
            <a:r>
              <a:rPr sz="1100" b="0" lang="en-GB">
                <a:solidFill>
                  <a:srgbClr val="595959"/>
                </a:solidFill>
              </a:rPr>
              <a:t>   simulated, 11,000 customers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First look: churn by country and contract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ch_p0_country_churn.png" descr="Churn by country and contract: month-to-month customers churn more in every country. Germany 9.6 % vs 26.4 %; Austria 9.4 % vs 27.3 %; Spain 24.7 % vs 46.6 %; Poland 17.2 % vs 37.2 %."/>
          <p:cNvPicPr>
            <a:picLocks noChangeAspect="1"/>
          </p:cNvPicPr>
          <p:nvPr/>
        </p:nvPicPr>
        <p:blipFill>
          <a:blip r:embed="rId3"/>
          <a:stretch>
            <a:fillRect/>
          </a:stretch>
        </p:blipFill>
        <p:spPr>
          <a:xfrm>
            <a:off x="457200" y="1234440"/>
            <a:ext cx="4114800" cy="2834640"/>
          </a:xfrm>
          <a:prstGeom prst="rect">
            <a:avLst/>
          </a:prstGeom>
        </p:spPr>
      </p:pic>
      <p:sp>
        <p:nvSpPr>
          <p:cNvPr id="11" name="First look 1 box"/>
          <p:cNvSpPr/>
          <p:nvPr/>
        </p:nvSpPr>
        <p:spPr>
          <a:xfrm>
            <a:off x="4709160" y="1234440"/>
            <a:ext cx="3977640" cy="13487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irst look 1 bar"/>
          <p:cNvSpPr/>
          <p:nvPr/>
        </p:nvSpPr>
        <p:spPr>
          <a:xfrm>
            <a:off x="4709160" y="1234440"/>
            <a:ext cx="64008" cy="13487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irst look 1 figure"/>
          <p:cNvSpPr txBox="1"/>
          <p:nvPr/>
        </p:nvSpPr>
        <p:spPr>
          <a:xfrm>
            <a:off x="4892040" y="1234440"/>
            <a:ext cx="1645920" cy="13487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 in 4</a:t>
            </a:r>
          </a:p>
        </p:txBody>
      </p:sp>
      <p:sp>
        <p:nvSpPr>
          <p:cNvPr id="14" name="First look 1 label"/>
          <p:cNvSpPr txBox="1"/>
          <p:nvPr/>
        </p:nvSpPr>
        <p:spPr>
          <a:xfrm>
            <a:off x="6537960" y="1234440"/>
            <a:ext cx="2057400" cy="1348740"/>
          </a:xfrm>
          <a:prstGeom prst="rect">
            <a:avLst/>
          </a:prstGeom>
          <a:noFill/>
        </p:spPr>
        <p:txBody>
          <a:bodyPr wrap="square" lIns="0" rIns="0" tIns="0" bIns="0" anchor="ctr">
            <a:noAutofit/>
          </a:bodyPr>
          <a:lstStyle/>
          <a:p>
            <a:pPr algn="l">
              <a:spcAft>
                <a:spcPts val="400"/>
              </a:spcAft>
            </a:pPr>
            <a:r>
              <a:rPr sz="1300" b="1" lang="en-GB">
                <a:solidFill>
                  <a:schemeClr val="tx2"/>
                </a:solidFill>
              </a:rPr>
              <a:t>month-to-month </a:t>
            </a:r>
            <a:r>
              <a:rPr sz="1300" b="0" lang="en-GB">
                <a:solidFill>
                  <a:schemeClr val="tx1"/>
                </a:solidFill>
              </a:rPr>
              <a:t>customers in Germany churn (26.4 %)</a:t>
            </a:r>
          </a:p>
        </p:txBody>
      </p:sp>
      <p:sp>
        <p:nvSpPr>
          <p:cNvPr id="15" name="First look 2 box"/>
          <p:cNvSpPr/>
          <p:nvPr/>
        </p:nvSpPr>
        <p:spPr>
          <a:xfrm>
            <a:off x="4709160" y="2720340"/>
            <a:ext cx="3977640" cy="13487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irst look 2 bar"/>
          <p:cNvSpPr/>
          <p:nvPr/>
        </p:nvSpPr>
        <p:spPr>
          <a:xfrm>
            <a:off x="4709160" y="2720340"/>
            <a:ext cx="64008" cy="13487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irst look 2 figure"/>
          <p:cNvSpPr txBox="1"/>
          <p:nvPr/>
        </p:nvSpPr>
        <p:spPr>
          <a:xfrm>
            <a:off x="4892040" y="2720340"/>
            <a:ext cx="1645920" cy="13487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 in 10</a:t>
            </a:r>
          </a:p>
        </p:txBody>
      </p:sp>
      <p:sp>
        <p:nvSpPr>
          <p:cNvPr id="18" name="First look 2 label"/>
          <p:cNvSpPr txBox="1"/>
          <p:nvPr/>
        </p:nvSpPr>
        <p:spPr>
          <a:xfrm>
            <a:off x="6537960" y="2720340"/>
            <a:ext cx="2057400" cy="1348740"/>
          </a:xfrm>
          <a:prstGeom prst="rect">
            <a:avLst/>
          </a:prstGeom>
          <a:noFill/>
        </p:spPr>
        <p:txBody>
          <a:bodyPr wrap="square" lIns="0" rIns="0" tIns="0" bIns="0" anchor="ctr">
            <a:noAutofit/>
          </a:bodyPr>
          <a:lstStyle/>
          <a:p>
            <a:pPr algn="l">
              <a:spcAft>
                <a:spcPts val="400"/>
              </a:spcAft>
            </a:pPr>
            <a:r>
              <a:rPr sz="1300" b="1" lang="en-GB">
                <a:solidFill>
                  <a:schemeClr val="tx2"/>
                </a:solidFill>
              </a:rPr>
              <a:t>24-month </a:t>
            </a:r>
            <a:r>
              <a:rPr sz="1300" b="0" lang="en-GB">
                <a:solidFill>
                  <a:schemeClr val="tx1"/>
                </a:solidFill>
              </a:rPr>
              <a:t>customers in Germany churn (9.6 %)</a:t>
            </a:r>
          </a:p>
        </p:txBody>
      </p:sp>
      <p:sp>
        <p:nvSpPr>
          <p:cNvPr id="19" name="First look message box"/>
          <p:cNvSpPr/>
          <p:nvPr/>
        </p:nvSpPr>
        <p:spPr>
          <a:xfrm>
            <a:off x="457200" y="42062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irst look message text"/>
          <p:cNvSpPr txBox="1"/>
          <p:nvPr/>
        </p:nvSpPr>
        <p:spPr>
          <a:xfrm>
            <a:off x="658368" y="4206240"/>
            <a:ext cx="7827264" cy="548640"/>
          </a:xfrm>
          <a:prstGeom prst="rect">
            <a:avLst/>
          </a:prstGeom>
          <a:noFill/>
        </p:spPr>
        <p:txBody>
          <a:bodyPr wrap="square" lIns="0" rIns="0" tIns="0" bIns="0" anchor="ctr">
            <a:noAutofit/>
          </a:bodyPr>
          <a:lstStyle/>
          <a:p>
            <a:pPr algn="l">
              <a:spcAft>
                <a:spcPts val="400"/>
              </a:spcAft>
            </a:pPr>
            <a:r>
              <a:rPr sz="1250" b="1" lang="en-GB">
                <a:solidFill>
                  <a:schemeClr val="bg1"/>
                </a:solidFill>
              </a:rPr>
              <a:t>The contract matters everywhere – how much? </a:t>
            </a:r>
            <a:r>
              <a:rPr sz="1250" b="0" lang="en-GB">
                <a:solidFill>
                  <a:schemeClr val="bg1"/>
                </a:solidFill>
              </a:rPr>
              <a:t>That needs a model for a yes/no outcome.</a:t>
            </a:r>
          </a:p>
        </p:txBody>
      </p:sp>
      <p:sp>
        <p:nvSpPr>
          <p:cNvPr id="2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(telco_churn.csv)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6 · odds, odds ratios, the S-curve</a:t>
            </a:r>
          </a:p>
        </p:txBody>
      </p:sp>
      <p:sp>
        <p:nvSpPr>
          <p:cNvPr id="3" name="Title 2"/>
          <p:cNvSpPr>
            <a:spLocks noGrp="1"/>
          </p:cNvSpPr>
          <p:nvPr>
            <p:ph type="ctrTitle"/>
          </p:nvPr>
        </p:nvSpPr>
        <p:spPr/>
        <p:txBody>
          <a:bodyPr/>
          <a:lstStyle/>
          <a:p>
            <a:r>
              <a:rPr lang="en-GB"/>
              <a:t>From churn rates to odds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Why not ordinary regression for churn?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ch_s1_lpm.png" descr="Churn probability by complaint calls: a straight line fitted to the data passes 100 % at about 9.7 calls (103 % at 10 calls); the logit S-curve stays below 100 % (95 % at 10 calls)."/>
          <p:cNvPicPr>
            <a:picLocks noChangeAspect="1"/>
          </p:cNvPicPr>
          <p:nvPr/>
        </p:nvPicPr>
        <p:blipFill>
          <a:blip r:embed="rId3"/>
          <a:stretch>
            <a:fillRect/>
          </a:stretch>
        </p:blipFill>
        <p:spPr>
          <a:xfrm>
            <a:off x="457200" y="1234440"/>
            <a:ext cx="4114800" cy="3291840"/>
          </a:xfrm>
          <a:prstGeom prst="rect">
            <a:avLst/>
          </a:prstGeom>
        </p:spPr>
      </p:pic>
      <p:sp>
        <p:nvSpPr>
          <p:cNvPr id="11" name="Line vs curve 1 row"/>
          <p:cNvSpPr/>
          <p:nvPr/>
        </p:nvSpPr>
        <p:spPr>
          <a:xfrm>
            <a:off x="4709160" y="1234440"/>
            <a:ext cx="397764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ine vs curve 1 bar"/>
          <p:cNvSpPr/>
          <p:nvPr/>
        </p:nvSpPr>
        <p:spPr>
          <a:xfrm>
            <a:off x="4709160" y="1234440"/>
            <a:ext cx="64008" cy="10058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ine vs curve 1 text"/>
          <p:cNvSpPr txBox="1"/>
          <p:nvPr/>
        </p:nvSpPr>
        <p:spPr>
          <a:xfrm>
            <a:off x="4910328" y="1234440"/>
            <a:ext cx="3685032" cy="1005840"/>
          </a:xfrm>
          <a:prstGeom prst="rect">
            <a:avLst/>
          </a:prstGeom>
          <a:noFill/>
        </p:spPr>
        <p:txBody>
          <a:bodyPr wrap="square" lIns="0" rIns="0" tIns="0" bIns="0" anchor="ctr">
            <a:noAutofit/>
          </a:bodyPr>
          <a:lstStyle/>
          <a:p>
            <a:pPr algn="l">
              <a:spcAft>
                <a:spcPts val="400"/>
              </a:spcAft>
            </a:pPr>
            <a:r>
              <a:rPr sz="1300" b="1" lang="en-GB">
                <a:solidFill>
                  <a:schemeClr val="tx2"/>
                </a:solidFill>
              </a:rPr>
              <a:t>Straight line: </a:t>
            </a:r>
            <a:r>
              <a:rPr sz="1300" b="0" lang="en-GB">
                <a:solidFill>
                  <a:schemeClr val="tx1"/>
                </a:solidFill>
              </a:rPr>
              <a:t>easy to read, but no limits: 103 % churn at 10 complaint calls.</a:t>
            </a:r>
          </a:p>
        </p:txBody>
      </p:sp>
      <p:sp>
        <p:nvSpPr>
          <p:cNvPr id="14" name="Line vs curve 2 row"/>
          <p:cNvSpPr/>
          <p:nvPr/>
        </p:nvSpPr>
        <p:spPr>
          <a:xfrm>
            <a:off x="4709160" y="2350008"/>
            <a:ext cx="3977640"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ine vs curve 2 bar"/>
          <p:cNvSpPr/>
          <p:nvPr/>
        </p:nvSpPr>
        <p:spPr>
          <a:xfrm>
            <a:off x="4709160" y="2350008"/>
            <a:ext cx="64008" cy="10058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ine vs curve 2 text"/>
          <p:cNvSpPr txBox="1"/>
          <p:nvPr/>
        </p:nvSpPr>
        <p:spPr>
          <a:xfrm>
            <a:off x="4910328" y="2350008"/>
            <a:ext cx="3685032" cy="1005840"/>
          </a:xfrm>
          <a:prstGeom prst="rect">
            <a:avLst/>
          </a:prstGeom>
          <a:noFill/>
        </p:spPr>
        <p:txBody>
          <a:bodyPr wrap="square" lIns="0" rIns="0" tIns="0" bIns="0" anchor="ctr">
            <a:noAutofit/>
          </a:bodyPr>
          <a:lstStyle/>
          <a:p>
            <a:pPr algn="l">
              <a:spcAft>
                <a:spcPts val="400"/>
              </a:spcAft>
            </a:pPr>
            <a:r>
              <a:rPr sz="1300" b="1" lang="en-GB">
                <a:solidFill>
                  <a:schemeClr val="tx2"/>
                </a:solidFill>
              </a:rPr>
              <a:t>S-curve (logit): </a:t>
            </a:r>
            <a:r>
              <a:rPr sz="1300" b="0" lang="en-GB">
                <a:solidFill>
                  <a:schemeClr val="tx1"/>
                </a:solidFill>
              </a:rPr>
              <a:t>always between 0 and 100 %; at 10 calls 95 %.</a:t>
            </a:r>
          </a:p>
        </p:txBody>
      </p:sp>
      <p:sp>
        <p:nvSpPr>
          <p:cNvPr id="17" name="S-curve price box"/>
          <p:cNvSpPr/>
          <p:nvPr/>
        </p:nvSpPr>
        <p:spPr>
          <a:xfrm>
            <a:off x="4709160" y="3465576"/>
            <a:ext cx="3977640" cy="106070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curve price text"/>
          <p:cNvSpPr txBox="1"/>
          <p:nvPr/>
        </p:nvSpPr>
        <p:spPr>
          <a:xfrm>
            <a:off x="4910328" y="3465576"/>
            <a:ext cx="3575304" cy="1060704"/>
          </a:xfrm>
          <a:prstGeom prst="rect">
            <a:avLst/>
          </a:prstGeom>
          <a:noFill/>
        </p:spPr>
        <p:txBody>
          <a:bodyPr wrap="square" lIns="0" rIns="0" tIns="0" bIns="0" anchor="ctr">
            <a:noAutofit/>
          </a:bodyPr>
          <a:lstStyle/>
          <a:p>
            <a:pPr algn="l">
              <a:spcAft>
                <a:spcPts val="400"/>
              </a:spcAft>
            </a:pPr>
            <a:r>
              <a:rPr sz="1300" b="1" lang="en-GB">
                <a:solidFill>
                  <a:schemeClr val="bg1"/>
                </a:solidFill>
              </a:rPr>
              <a:t>The price of the S-curve: </a:t>
            </a:r>
            <a:r>
              <a:rPr sz="1300" b="0" lang="en-GB">
                <a:solidFill>
                  <a:schemeClr val="bg1"/>
                </a:solidFill>
              </a:rPr>
              <a:t>a coefficient no longer says directly how much the probability changes.</a:t>
            </a:r>
          </a:p>
        </p:txBody>
      </p:sp>
      <p:sp>
        <p:nvSpPr>
          <p:cNvPr id="1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(telco_churn.csv); dots: churn rate at 0 to 4 calls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Worked example: 100 + 100 German customers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E counts 1-1"/>
          <p:cNvSpPr/>
          <p:nvPr/>
        </p:nvSpPr>
        <p:spPr>
          <a:xfrm>
            <a:off x="457200" y="1234440"/>
            <a:ext cx="18928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E counts text 1-1"/>
          <p:cNvSpPr txBox="1"/>
          <p:nvPr/>
        </p:nvSpPr>
        <p:spPr>
          <a:xfrm>
            <a:off x="548640" y="1234440"/>
            <a:ext cx="1709928" cy="384048"/>
          </a:xfrm>
          <a:prstGeom prst="rect">
            <a:avLst/>
          </a:prstGeom>
          <a:noFill/>
        </p:spPr>
        <p:txBody>
          <a:bodyPr wrap="square" lIns="0" rIns="0" tIns="0" bIns="0" anchor="ctr">
            <a:noAutofit/>
          </a:bodyPr>
          <a:lstStyle/>
          <a:p>
            <a:pPr algn="l">
              <a:spcAft>
                <a:spcPts val="400"/>
              </a:spcAft>
            </a:pPr>
            <a:r>
              <a:rPr sz="1250" b="1" lang="en-GB">
                <a:solidFill>
                  <a:schemeClr val="bg1"/>
                </a:solidFill>
              </a:rPr>
              <a:t>German customers</a:t>
            </a:r>
          </a:p>
        </p:txBody>
      </p:sp>
      <p:sp>
        <p:nvSpPr>
          <p:cNvPr id="12" name="DE counts 1-2"/>
          <p:cNvSpPr/>
          <p:nvPr/>
        </p:nvSpPr>
        <p:spPr>
          <a:xfrm>
            <a:off x="2377440" y="1234440"/>
            <a:ext cx="10698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E counts text 1-2"/>
          <p:cNvSpPr txBox="1"/>
          <p:nvPr/>
        </p:nvSpPr>
        <p:spPr>
          <a:xfrm>
            <a:off x="2468880" y="1234440"/>
            <a:ext cx="88696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Churners</a:t>
            </a:r>
          </a:p>
        </p:txBody>
      </p:sp>
      <p:sp>
        <p:nvSpPr>
          <p:cNvPr id="14" name="DE counts 1-3"/>
          <p:cNvSpPr/>
          <p:nvPr/>
        </p:nvSpPr>
        <p:spPr>
          <a:xfrm>
            <a:off x="3474720" y="1234440"/>
            <a:ext cx="11612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E counts text 1-3"/>
          <p:cNvSpPr txBox="1"/>
          <p:nvPr/>
        </p:nvSpPr>
        <p:spPr>
          <a:xfrm>
            <a:off x="3566160" y="1234440"/>
            <a:ext cx="97840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Customers</a:t>
            </a:r>
          </a:p>
        </p:txBody>
      </p:sp>
      <p:sp>
        <p:nvSpPr>
          <p:cNvPr id="16" name="DE counts 1-4"/>
          <p:cNvSpPr/>
          <p:nvPr/>
        </p:nvSpPr>
        <p:spPr>
          <a:xfrm>
            <a:off x="4663440" y="1234440"/>
            <a:ext cx="134416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E counts text 1-4"/>
          <p:cNvSpPr txBox="1"/>
          <p:nvPr/>
        </p:nvSpPr>
        <p:spPr>
          <a:xfrm>
            <a:off x="4754880" y="1234440"/>
            <a:ext cx="116128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Probability p</a:t>
            </a:r>
          </a:p>
        </p:txBody>
      </p:sp>
      <p:sp>
        <p:nvSpPr>
          <p:cNvPr id="18" name="DE counts 1-5"/>
          <p:cNvSpPr/>
          <p:nvPr/>
        </p:nvSpPr>
        <p:spPr>
          <a:xfrm>
            <a:off x="6035040" y="1234440"/>
            <a:ext cx="265176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E counts text 1-5"/>
          <p:cNvSpPr txBox="1"/>
          <p:nvPr/>
        </p:nvSpPr>
        <p:spPr>
          <a:xfrm>
            <a:off x="6126480" y="1234440"/>
            <a:ext cx="244144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Odds = p / (1 − p)</a:t>
            </a:r>
          </a:p>
        </p:txBody>
      </p:sp>
      <p:sp>
        <p:nvSpPr>
          <p:cNvPr id="20" name="DE counts 2-1"/>
          <p:cNvSpPr/>
          <p:nvPr/>
        </p:nvSpPr>
        <p:spPr>
          <a:xfrm>
            <a:off x="457200" y="1645920"/>
            <a:ext cx="18928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E counts text 2-1"/>
          <p:cNvSpPr txBox="1"/>
          <p:nvPr/>
        </p:nvSpPr>
        <p:spPr>
          <a:xfrm>
            <a:off x="548640" y="1645920"/>
            <a:ext cx="1709928" cy="384048"/>
          </a:xfrm>
          <a:prstGeom prst="rect">
            <a:avLst/>
          </a:prstGeom>
          <a:noFill/>
        </p:spPr>
        <p:txBody>
          <a:bodyPr wrap="square" lIns="0" rIns="0" tIns="0" bIns="0" anchor="ctr">
            <a:noAutofit/>
          </a:bodyPr>
          <a:lstStyle/>
          <a:p>
            <a:pPr algn="l">
              <a:spcAft>
                <a:spcPts val="400"/>
              </a:spcAft>
            </a:pPr>
            <a:r>
              <a:rPr sz="1250" b="1" lang="en-GB">
                <a:solidFill>
                  <a:schemeClr val="tx2"/>
                </a:solidFill>
              </a:rPr>
              <a:t>Month-to-month</a:t>
            </a:r>
          </a:p>
        </p:txBody>
      </p:sp>
      <p:sp>
        <p:nvSpPr>
          <p:cNvPr id="22" name="DE counts 2-2"/>
          <p:cNvSpPr/>
          <p:nvPr/>
        </p:nvSpPr>
        <p:spPr>
          <a:xfrm>
            <a:off x="2377440" y="164592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E counts text 2-2"/>
          <p:cNvSpPr txBox="1"/>
          <p:nvPr/>
        </p:nvSpPr>
        <p:spPr>
          <a:xfrm>
            <a:off x="2468880" y="164592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25</a:t>
            </a:r>
          </a:p>
        </p:txBody>
      </p:sp>
      <p:sp>
        <p:nvSpPr>
          <p:cNvPr id="24" name="DE counts 2-3"/>
          <p:cNvSpPr/>
          <p:nvPr/>
        </p:nvSpPr>
        <p:spPr>
          <a:xfrm>
            <a:off x="3474720" y="164592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E counts text 2-3"/>
          <p:cNvSpPr txBox="1"/>
          <p:nvPr/>
        </p:nvSpPr>
        <p:spPr>
          <a:xfrm>
            <a:off x="3566160" y="1645920"/>
            <a:ext cx="97840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100</a:t>
            </a:r>
          </a:p>
        </p:txBody>
      </p:sp>
      <p:sp>
        <p:nvSpPr>
          <p:cNvPr id="26" name="DE counts 2-4"/>
          <p:cNvSpPr/>
          <p:nvPr/>
        </p:nvSpPr>
        <p:spPr>
          <a:xfrm>
            <a:off x="4663440" y="1645920"/>
            <a:ext cx="13441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DE counts text 2-4"/>
          <p:cNvSpPr txBox="1"/>
          <p:nvPr/>
        </p:nvSpPr>
        <p:spPr>
          <a:xfrm>
            <a:off x="4754880" y="1645920"/>
            <a:ext cx="116128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0.25</a:t>
            </a:r>
          </a:p>
        </p:txBody>
      </p:sp>
      <p:sp>
        <p:nvSpPr>
          <p:cNvPr id="28" name="DE counts 2-5"/>
          <p:cNvSpPr/>
          <p:nvPr/>
        </p:nvSpPr>
        <p:spPr>
          <a:xfrm>
            <a:off x="6035040" y="1645920"/>
            <a:ext cx="265176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E counts text 2-5"/>
          <p:cNvSpPr txBox="1"/>
          <p:nvPr/>
        </p:nvSpPr>
        <p:spPr>
          <a:xfrm>
            <a:off x="6126480" y="1645920"/>
            <a:ext cx="244144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0.25 / 0.75 = 0.33</a:t>
            </a:r>
          </a:p>
        </p:txBody>
      </p:sp>
      <p:sp>
        <p:nvSpPr>
          <p:cNvPr id="30" name="DE counts 3-1"/>
          <p:cNvSpPr/>
          <p:nvPr/>
        </p:nvSpPr>
        <p:spPr>
          <a:xfrm>
            <a:off x="457200" y="2057400"/>
            <a:ext cx="18928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DE counts text 3-1"/>
          <p:cNvSpPr txBox="1"/>
          <p:nvPr/>
        </p:nvSpPr>
        <p:spPr>
          <a:xfrm>
            <a:off x="548640" y="2057400"/>
            <a:ext cx="1709928" cy="384048"/>
          </a:xfrm>
          <a:prstGeom prst="rect">
            <a:avLst/>
          </a:prstGeom>
          <a:noFill/>
        </p:spPr>
        <p:txBody>
          <a:bodyPr wrap="square" lIns="0" rIns="0" tIns="0" bIns="0" anchor="ctr">
            <a:noAutofit/>
          </a:bodyPr>
          <a:lstStyle/>
          <a:p>
            <a:pPr algn="l">
              <a:spcAft>
                <a:spcPts val="400"/>
              </a:spcAft>
            </a:pPr>
            <a:r>
              <a:rPr sz="1250" b="1" lang="en-GB">
                <a:solidFill>
                  <a:schemeClr val="tx2"/>
                </a:solidFill>
              </a:rPr>
              <a:t>24-month</a:t>
            </a:r>
          </a:p>
        </p:txBody>
      </p:sp>
      <p:sp>
        <p:nvSpPr>
          <p:cNvPr id="32" name="DE counts 3-2"/>
          <p:cNvSpPr/>
          <p:nvPr/>
        </p:nvSpPr>
        <p:spPr>
          <a:xfrm>
            <a:off x="2377440" y="205740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DE counts text 3-2"/>
          <p:cNvSpPr txBox="1"/>
          <p:nvPr/>
        </p:nvSpPr>
        <p:spPr>
          <a:xfrm>
            <a:off x="2468880" y="205740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10</a:t>
            </a:r>
          </a:p>
        </p:txBody>
      </p:sp>
      <p:sp>
        <p:nvSpPr>
          <p:cNvPr id="34" name="DE counts 3-3"/>
          <p:cNvSpPr/>
          <p:nvPr/>
        </p:nvSpPr>
        <p:spPr>
          <a:xfrm>
            <a:off x="3474720" y="205740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DE counts text 3-3"/>
          <p:cNvSpPr txBox="1"/>
          <p:nvPr/>
        </p:nvSpPr>
        <p:spPr>
          <a:xfrm>
            <a:off x="3566160" y="2057400"/>
            <a:ext cx="97840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100</a:t>
            </a:r>
          </a:p>
        </p:txBody>
      </p:sp>
      <p:sp>
        <p:nvSpPr>
          <p:cNvPr id="36" name="DE counts 3-4"/>
          <p:cNvSpPr/>
          <p:nvPr/>
        </p:nvSpPr>
        <p:spPr>
          <a:xfrm>
            <a:off x="4663440" y="2057400"/>
            <a:ext cx="13441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DE counts text 3-4"/>
          <p:cNvSpPr txBox="1"/>
          <p:nvPr/>
        </p:nvSpPr>
        <p:spPr>
          <a:xfrm>
            <a:off x="4754880" y="2057400"/>
            <a:ext cx="116128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0.10</a:t>
            </a:r>
          </a:p>
        </p:txBody>
      </p:sp>
      <p:sp>
        <p:nvSpPr>
          <p:cNvPr id="38" name="DE counts 3-5"/>
          <p:cNvSpPr/>
          <p:nvPr/>
        </p:nvSpPr>
        <p:spPr>
          <a:xfrm>
            <a:off x="6035040" y="2057400"/>
            <a:ext cx="265176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DE counts text 3-5"/>
          <p:cNvSpPr txBox="1"/>
          <p:nvPr/>
        </p:nvSpPr>
        <p:spPr>
          <a:xfrm>
            <a:off x="6126480" y="2057400"/>
            <a:ext cx="244144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0.10 / 0.90 = 0.11</a:t>
            </a:r>
          </a:p>
        </p:txBody>
      </p:sp>
      <p:sp>
        <p:nvSpPr>
          <p:cNvPr id="40" name="DE formula caption bar"/>
          <p:cNvSpPr/>
          <p:nvPr/>
        </p:nvSpPr>
        <p:spPr>
          <a:xfrm>
            <a:off x="457200" y="2606040"/>
            <a:ext cx="32918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DE formula caption"/>
          <p:cNvSpPr txBox="1"/>
          <p:nvPr/>
        </p:nvSpPr>
        <p:spPr>
          <a:xfrm>
            <a:off x="566928" y="2606040"/>
            <a:ext cx="30723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Formula</a:t>
            </a:r>
          </a:p>
        </p:txBody>
      </p:sp>
      <p:sp>
        <p:nvSpPr>
          <p:cNvPr id="42" name="DE formula box"/>
          <p:cNvSpPr/>
          <p:nvPr/>
        </p:nvSpPr>
        <p:spPr>
          <a:xfrm>
            <a:off x="457200" y="2880360"/>
            <a:ext cx="329184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DE formula code"/>
          <p:cNvSpPr txBox="1"/>
          <p:nvPr/>
        </p:nvSpPr>
        <p:spPr>
          <a:xfrm>
            <a:off x="594360" y="2971800"/>
            <a:ext cx="3017520" cy="6858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p    = churners / customers</a:t>
            </a:r>
          </a:p>
          <a:p>
            <a:pPr algn="l">
              <a:spcAft>
                <a:spcPts val="0"/>
              </a:spcAft>
            </a:pPr>
            <a:r>
              <a:rPr sz="1200" b="0" lang="en-GB">
                <a:solidFill>
                  <a:schemeClr val="bg1"/>
                </a:solidFill>
                <a:latin typeface="Consolas"/>
              </a:rPr>
              <a:t>odds = p / (1 − p)</a:t>
            </a:r>
          </a:p>
          <a:p>
            <a:pPr algn="l">
              <a:spcAft>
                <a:spcPts val="0"/>
              </a:spcAft>
            </a:pPr>
            <a:r>
              <a:rPr sz="1200" b="0" lang="en-GB">
                <a:solidFill>
                  <a:schemeClr val="bg1"/>
                </a:solidFill>
                <a:latin typeface="Consolas"/>
              </a:rPr>
              <a:t>     = churners / stayers</a:t>
            </a:r>
          </a:p>
        </p:txBody>
      </p:sp>
      <p:sp>
        <p:nvSpPr>
          <p:cNvPr id="44" name="DE read 1 row"/>
          <p:cNvSpPr/>
          <p:nvPr/>
        </p:nvSpPr>
        <p:spPr>
          <a:xfrm>
            <a:off x="3886200" y="2606040"/>
            <a:ext cx="4800600" cy="5257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DE read 1 bar"/>
          <p:cNvSpPr/>
          <p:nvPr/>
        </p:nvSpPr>
        <p:spPr>
          <a:xfrm>
            <a:off x="3886200" y="2606040"/>
            <a:ext cx="64008" cy="5257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DE read 1 text"/>
          <p:cNvSpPr txBox="1"/>
          <p:nvPr/>
        </p:nvSpPr>
        <p:spPr>
          <a:xfrm>
            <a:off x="4087368" y="2606040"/>
            <a:ext cx="4507992" cy="525780"/>
          </a:xfrm>
          <a:prstGeom prst="rect">
            <a:avLst/>
          </a:prstGeom>
          <a:noFill/>
        </p:spPr>
        <p:txBody>
          <a:bodyPr wrap="square" lIns="0" rIns="0" tIns="0" bIns="0" anchor="ctr">
            <a:noAutofit/>
          </a:bodyPr>
          <a:lstStyle/>
          <a:p>
            <a:pPr algn="l">
              <a:spcAft>
                <a:spcPts val="400"/>
              </a:spcAft>
            </a:pPr>
            <a:r>
              <a:rPr sz="1300" b="1" lang="en-GB">
                <a:solidFill>
                  <a:schemeClr val="tx2"/>
                </a:solidFill>
              </a:rPr>
              <a:t>Odds 0.33 = 1/3: </a:t>
            </a:r>
            <a:r>
              <a:rPr sz="1300" b="0" lang="en-GB">
                <a:solidFill>
                  <a:schemeClr val="tx1"/>
                </a:solidFill>
              </a:rPr>
              <a:t>one churner per three stayers</a:t>
            </a:r>
          </a:p>
        </p:txBody>
      </p:sp>
      <p:sp>
        <p:nvSpPr>
          <p:cNvPr id="47" name="DE read 2 row"/>
          <p:cNvSpPr/>
          <p:nvPr/>
        </p:nvSpPr>
        <p:spPr>
          <a:xfrm>
            <a:off x="3886200" y="3223260"/>
            <a:ext cx="4800600" cy="5257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DE read 2 bar"/>
          <p:cNvSpPr/>
          <p:nvPr/>
        </p:nvSpPr>
        <p:spPr>
          <a:xfrm>
            <a:off x="3886200" y="3223260"/>
            <a:ext cx="64008" cy="5257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DE read 2 text"/>
          <p:cNvSpPr txBox="1"/>
          <p:nvPr/>
        </p:nvSpPr>
        <p:spPr>
          <a:xfrm>
            <a:off x="4087368" y="3223260"/>
            <a:ext cx="4507992" cy="525780"/>
          </a:xfrm>
          <a:prstGeom prst="rect">
            <a:avLst/>
          </a:prstGeom>
          <a:noFill/>
        </p:spPr>
        <p:txBody>
          <a:bodyPr wrap="square" lIns="0" rIns="0" tIns="0" bIns="0" anchor="ctr">
            <a:noAutofit/>
          </a:bodyPr>
          <a:lstStyle/>
          <a:p>
            <a:pPr algn="l">
              <a:spcAft>
                <a:spcPts val="400"/>
              </a:spcAft>
            </a:pPr>
            <a:r>
              <a:rPr sz="1300" b="1" lang="en-GB">
                <a:solidFill>
                  <a:schemeClr val="tx2"/>
                </a:solidFill>
              </a:rPr>
              <a:t>Odds 0.11 = 1/9: </a:t>
            </a:r>
            <a:r>
              <a:rPr sz="1300" b="0" lang="en-GB">
                <a:solidFill>
                  <a:schemeClr val="tx1"/>
                </a:solidFill>
              </a:rPr>
              <a:t>one churner per nine stayers</a:t>
            </a:r>
          </a:p>
        </p:txBody>
      </p:sp>
      <p:sp>
        <p:nvSpPr>
          <p:cNvPr id="50" name="DE odds box"/>
          <p:cNvSpPr/>
          <p:nvPr/>
        </p:nvSpPr>
        <p:spPr>
          <a:xfrm>
            <a:off x="457200" y="393192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DE odds text"/>
          <p:cNvSpPr txBox="1"/>
          <p:nvPr/>
        </p:nvSpPr>
        <p:spPr>
          <a:xfrm>
            <a:off x="658368" y="3931920"/>
            <a:ext cx="7827264" cy="548640"/>
          </a:xfrm>
          <a:prstGeom prst="rect">
            <a:avLst/>
          </a:prstGeom>
          <a:noFill/>
        </p:spPr>
        <p:txBody>
          <a:bodyPr wrap="square" lIns="0" rIns="0" tIns="0" bIns="0" anchor="ctr">
            <a:noAutofit/>
          </a:bodyPr>
          <a:lstStyle/>
          <a:p>
            <a:pPr algn="l">
              <a:spcAft>
                <a:spcPts val="400"/>
              </a:spcAft>
            </a:pPr>
            <a:r>
              <a:rPr sz="1250" b="1" lang="en-GB">
                <a:solidFill>
                  <a:schemeClr val="bg1"/>
                </a:solidFill>
              </a:rPr>
              <a:t>Odds = churners per stayer: </a:t>
            </a:r>
            <a:r>
              <a:rPr sz="1250" b="0" lang="en-GB">
                <a:solidFill>
                  <a:schemeClr val="bg1"/>
                </a:solidFill>
              </a:rPr>
              <a:t>0 means nobody churns, 1 means 50:50.</a:t>
            </a:r>
          </a:p>
        </p:txBody>
      </p:sp>
      <p:sp>
        <p:nvSpPr>
          <p:cNvPr id="5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close to the simulated data (Germany: 26 % vs 10 %)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Odds ratio and log-odds: the same example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E stat 1 box"/>
          <p:cNvSpPr/>
          <p:nvPr/>
        </p:nvSpPr>
        <p:spPr>
          <a:xfrm>
            <a:off x="457200" y="1234440"/>
            <a:ext cx="82296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E stat 1 bar"/>
          <p:cNvSpPr/>
          <p:nvPr/>
        </p:nvSpPr>
        <p:spPr>
          <a:xfrm>
            <a:off x="457200" y="1234440"/>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E stat 1 figure"/>
          <p:cNvSpPr txBox="1"/>
          <p:nvPr/>
        </p:nvSpPr>
        <p:spPr>
          <a:xfrm>
            <a:off x="640080" y="1234440"/>
            <a:ext cx="137160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3.0</a:t>
            </a:r>
          </a:p>
        </p:txBody>
      </p:sp>
      <p:sp>
        <p:nvSpPr>
          <p:cNvPr id="13" name="DE stat 1 label"/>
          <p:cNvSpPr txBox="1"/>
          <p:nvPr/>
        </p:nvSpPr>
        <p:spPr>
          <a:xfrm>
            <a:off x="2011680" y="1234440"/>
            <a:ext cx="6583680" cy="731520"/>
          </a:xfrm>
          <a:prstGeom prst="rect">
            <a:avLst/>
          </a:prstGeom>
          <a:noFill/>
        </p:spPr>
        <p:txBody>
          <a:bodyPr wrap="square" lIns="0" rIns="0" tIns="0" bIns="0" anchor="ctr">
            <a:noAutofit/>
          </a:bodyPr>
          <a:lstStyle/>
          <a:p>
            <a:pPr algn="l">
              <a:spcAft>
                <a:spcPts val="200"/>
              </a:spcAft>
            </a:pPr>
            <a:r>
              <a:rPr sz="1300" b="1" lang="en-GB">
                <a:solidFill>
                  <a:schemeClr val="tx2"/>
                </a:solidFill>
              </a:rPr>
              <a:t>Odds ratio = </a:t>
            </a:r>
            <a:r>
              <a:rPr sz="1300" b="0" lang="en-GB">
                <a:solidFill>
                  <a:schemeClr val="tx1"/>
                </a:solidFill>
              </a:rPr>
              <a:t>0.33 / 0.11</a:t>
            </a:r>
          </a:p>
          <a:p>
            <a:pPr algn="l">
              <a:spcAft>
                <a:spcPts val="200"/>
              </a:spcAft>
            </a:pPr>
            <a:r>
              <a:rPr sz="1300" b="0" lang="en-GB">
                <a:solidFill>
                  <a:schemeClr val="tx1"/>
                </a:solidFill>
              </a:rPr>
              <a:t>a month-to-month contract triples the odds of churn</a:t>
            </a:r>
          </a:p>
        </p:txBody>
      </p:sp>
      <p:sp>
        <p:nvSpPr>
          <p:cNvPr id="14" name="DE stat 2 box"/>
          <p:cNvSpPr/>
          <p:nvPr/>
        </p:nvSpPr>
        <p:spPr>
          <a:xfrm>
            <a:off x="457200" y="2075688"/>
            <a:ext cx="82296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E stat 2 bar"/>
          <p:cNvSpPr/>
          <p:nvPr/>
        </p:nvSpPr>
        <p:spPr>
          <a:xfrm>
            <a:off x="457200" y="2075688"/>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E stat 2 figure"/>
          <p:cNvSpPr txBox="1"/>
          <p:nvPr/>
        </p:nvSpPr>
        <p:spPr>
          <a:xfrm>
            <a:off x="640080" y="2075688"/>
            <a:ext cx="137160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1.10</a:t>
            </a:r>
          </a:p>
        </p:txBody>
      </p:sp>
      <p:sp>
        <p:nvSpPr>
          <p:cNvPr id="17" name="DE stat 2 label"/>
          <p:cNvSpPr txBox="1"/>
          <p:nvPr/>
        </p:nvSpPr>
        <p:spPr>
          <a:xfrm>
            <a:off x="2011680" y="2075688"/>
            <a:ext cx="6583680" cy="731520"/>
          </a:xfrm>
          <a:prstGeom prst="rect">
            <a:avLst/>
          </a:prstGeom>
          <a:noFill/>
        </p:spPr>
        <p:txBody>
          <a:bodyPr wrap="square" lIns="0" rIns="0" tIns="0" bIns="0" anchor="ctr">
            <a:noAutofit/>
          </a:bodyPr>
          <a:lstStyle/>
          <a:p>
            <a:pPr algn="l">
              <a:spcAft>
                <a:spcPts val="200"/>
              </a:spcAft>
            </a:pPr>
            <a:r>
              <a:rPr sz="1300" b="1" lang="en-GB">
                <a:solidFill>
                  <a:schemeClr val="tx2"/>
                </a:solidFill>
              </a:rPr>
              <a:t>Log-odds = ln odds: </a:t>
            </a:r>
            <a:r>
              <a:rPr sz="1300" b="0" lang="en-GB">
                <a:solidFill>
                  <a:schemeClr val="tx1"/>
                </a:solidFill>
              </a:rPr>
              <a:t>ln(1/3) − ln(1/9) = −1.10 − (−2.20)</a:t>
            </a:r>
          </a:p>
          <a:p>
            <a:pPr algn="l">
              <a:spcAft>
                <a:spcPts val="200"/>
              </a:spcAft>
            </a:pPr>
            <a:r>
              <a:rPr sz="1300" b="0" lang="en-GB">
                <a:solidFill>
                  <a:schemeClr val="tx1"/>
                </a:solidFill>
              </a:rPr>
              <a:t>= ln 3: the logit coefficient of month-to-month</a:t>
            </a:r>
          </a:p>
        </p:txBody>
      </p:sp>
      <p:sp>
        <p:nvSpPr>
          <p:cNvPr id="18" name="DE stat 3 box"/>
          <p:cNvSpPr/>
          <p:nvPr/>
        </p:nvSpPr>
        <p:spPr>
          <a:xfrm>
            <a:off x="457200" y="2916936"/>
            <a:ext cx="822960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E stat 3 bar"/>
          <p:cNvSpPr/>
          <p:nvPr/>
        </p:nvSpPr>
        <p:spPr>
          <a:xfrm>
            <a:off x="457200" y="2916936"/>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DE stat 3 figure"/>
          <p:cNvSpPr txBox="1"/>
          <p:nvPr/>
        </p:nvSpPr>
        <p:spPr>
          <a:xfrm>
            <a:off x="640080" y="2916936"/>
            <a:ext cx="1371600" cy="7315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0.25</a:t>
            </a:r>
          </a:p>
        </p:txBody>
      </p:sp>
      <p:sp>
        <p:nvSpPr>
          <p:cNvPr id="21" name="DE stat 3 label"/>
          <p:cNvSpPr txBox="1"/>
          <p:nvPr/>
        </p:nvSpPr>
        <p:spPr>
          <a:xfrm>
            <a:off x="2011680" y="2916936"/>
            <a:ext cx="6583680" cy="731520"/>
          </a:xfrm>
          <a:prstGeom prst="rect">
            <a:avLst/>
          </a:prstGeom>
          <a:noFill/>
        </p:spPr>
        <p:txBody>
          <a:bodyPr wrap="square" lIns="0" rIns="0" tIns="0" bIns="0" anchor="ctr">
            <a:noAutofit/>
          </a:bodyPr>
          <a:lstStyle/>
          <a:p>
            <a:pPr algn="l">
              <a:spcAft>
                <a:spcPts val="200"/>
              </a:spcAft>
            </a:pPr>
            <a:r>
              <a:rPr sz="1300" b="1" lang="en-GB">
                <a:solidFill>
                  <a:schemeClr val="tx2"/>
                </a:solidFill>
              </a:rPr>
              <a:t>Back to probability: </a:t>
            </a:r>
            <a:r>
              <a:rPr sz="1300" b="0" lang="en-GB">
                <a:solidFill>
                  <a:schemeClr val="tx1"/>
                </a:solidFill>
              </a:rPr>
              <a:t>p = odds / (1 + odds)</a:t>
            </a:r>
          </a:p>
          <a:p>
            <a:pPr algn="l">
              <a:spcAft>
                <a:spcPts val="200"/>
              </a:spcAft>
            </a:pPr>
            <a:r>
              <a:rPr sz="1300" b="0" lang="en-GB">
                <a:solidFill>
                  <a:schemeClr val="tx1"/>
                </a:solidFill>
              </a:rPr>
              <a:t>0.33 / 1.33 = 0.25</a:t>
            </a:r>
          </a:p>
        </p:txBody>
      </p:sp>
      <p:sp>
        <p:nvSpPr>
          <p:cNvPr id="22" name="OR warning box"/>
          <p:cNvSpPr/>
          <p:nvPr/>
        </p:nvSpPr>
        <p:spPr>
          <a:xfrm>
            <a:off x="457200" y="384048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R warning text"/>
          <p:cNvSpPr txBox="1"/>
          <p:nvPr/>
        </p:nvSpPr>
        <p:spPr>
          <a:xfrm>
            <a:off x="658368" y="3840480"/>
            <a:ext cx="7827264" cy="594360"/>
          </a:xfrm>
          <a:prstGeom prst="rect">
            <a:avLst/>
          </a:prstGeom>
          <a:noFill/>
        </p:spPr>
        <p:txBody>
          <a:bodyPr wrap="square" lIns="0" rIns="0" tIns="0" bIns="0" anchor="ctr">
            <a:noAutofit/>
          </a:bodyPr>
          <a:lstStyle/>
          <a:p>
            <a:pPr algn="l">
              <a:spcAft>
                <a:spcPts val="400"/>
              </a:spcAft>
            </a:pPr>
            <a:r>
              <a:rPr sz="1250" b="1" lang="en-GB">
                <a:solidFill>
                  <a:schemeClr val="bg1"/>
                </a:solidFill>
              </a:rPr>
              <a:t>Not “3 times as likely”: </a:t>
            </a:r>
            <a:r>
              <a:rPr sz="1250" b="0" lang="en-GB">
                <a:solidFill>
                  <a:schemeClr val="bg1"/>
                </a:solidFill>
              </a:rPr>
              <a:t>churn rises from 10 % to 25 %: 2.5 times, +15 percentage points (pp).</a:t>
            </a:r>
          </a:p>
        </p:txBody>
      </p:sp>
      <p:sp>
        <p:nvSpPr>
          <p:cNvPr id="2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close to the simulated data (slide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One model, three scales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ch_s1_scurve.png" descr="S-curve of churn probability against log-odds with the worked example: 24-month 10 % at log-odds −2.20, month-to-month 25 % at −1.10; +1.10 log-odds is +15 pp."/>
          <p:cNvPicPr>
            <a:picLocks noChangeAspect="1"/>
          </p:cNvPicPr>
          <p:nvPr/>
        </p:nvPicPr>
        <p:blipFill>
          <a:blip r:embed="rId3"/>
          <a:stretch>
            <a:fillRect/>
          </a:stretch>
        </p:blipFill>
        <p:spPr>
          <a:xfrm>
            <a:off x="457200" y="1234440"/>
            <a:ext cx="4023360" cy="3291840"/>
          </a:xfrm>
          <a:prstGeom prst="rect">
            <a:avLst/>
          </a:prstGeom>
        </p:spPr>
      </p:pic>
      <p:sp>
        <p:nvSpPr>
          <p:cNvPr id="11" name="Scale 1 row"/>
          <p:cNvSpPr/>
          <p:nvPr/>
        </p:nvSpPr>
        <p:spPr>
          <a:xfrm>
            <a:off x="4617720" y="1234440"/>
            <a:ext cx="4069080" cy="10241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cale 1 bar"/>
          <p:cNvSpPr/>
          <p:nvPr/>
        </p:nvSpPr>
        <p:spPr>
          <a:xfrm>
            <a:off x="4617720" y="1234440"/>
            <a:ext cx="64008" cy="10241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cale 1 text"/>
          <p:cNvSpPr txBox="1"/>
          <p:nvPr/>
        </p:nvSpPr>
        <p:spPr>
          <a:xfrm>
            <a:off x="4818888" y="1234440"/>
            <a:ext cx="3776472" cy="1024128"/>
          </a:xfrm>
          <a:prstGeom prst="rect">
            <a:avLst/>
          </a:prstGeom>
          <a:noFill/>
        </p:spPr>
        <p:txBody>
          <a:bodyPr wrap="square" lIns="0" rIns="0" tIns="0" bIns="0" anchor="ctr">
            <a:noAutofit/>
          </a:bodyPr>
          <a:lstStyle/>
          <a:p>
            <a:pPr algn="l">
              <a:spcAft>
                <a:spcPts val="400"/>
              </a:spcAft>
            </a:pPr>
            <a:r>
              <a:rPr sz="1300" b="1" lang="en-GB">
                <a:solidFill>
                  <a:schemeClr val="tx2"/>
                </a:solidFill>
              </a:rPr>
              <a:t>Log-odds: </a:t>
            </a:r>
            <a:r>
              <a:rPr sz="1300" b="0" lang="en-GB">
                <a:solidFill>
                  <a:schemeClr val="tx1"/>
                </a:solidFill>
              </a:rPr>
              <a:t>−2.20 → −1.10, +1.10. Effects add up; the output table shows these.</a:t>
            </a:r>
          </a:p>
        </p:txBody>
      </p:sp>
      <p:sp>
        <p:nvSpPr>
          <p:cNvPr id="14" name="Scale 2 row"/>
          <p:cNvSpPr/>
          <p:nvPr/>
        </p:nvSpPr>
        <p:spPr>
          <a:xfrm>
            <a:off x="4617720" y="2368296"/>
            <a:ext cx="4069080" cy="10241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cale 2 bar"/>
          <p:cNvSpPr/>
          <p:nvPr/>
        </p:nvSpPr>
        <p:spPr>
          <a:xfrm>
            <a:off x="4617720" y="2368296"/>
            <a:ext cx="64008" cy="10241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cale 2 text"/>
          <p:cNvSpPr txBox="1"/>
          <p:nvPr/>
        </p:nvSpPr>
        <p:spPr>
          <a:xfrm>
            <a:off x="4818888" y="2368296"/>
            <a:ext cx="3776472" cy="1024128"/>
          </a:xfrm>
          <a:prstGeom prst="rect">
            <a:avLst/>
          </a:prstGeom>
          <a:noFill/>
        </p:spPr>
        <p:txBody>
          <a:bodyPr wrap="square" lIns="0" rIns="0" tIns="0" bIns="0" anchor="ctr">
            <a:noAutofit/>
          </a:bodyPr>
          <a:lstStyle/>
          <a:p>
            <a:pPr algn="l">
              <a:spcAft>
                <a:spcPts val="400"/>
              </a:spcAft>
            </a:pPr>
            <a:r>
              <a:rPr sz="1300" b="1" lang="en-GB">
                <a:solidFill>
                  <a:schemeClr val="tx2"/>
                </a:solidFill>
              </a:rPr>
              <a:t>Odds: </a:t>
            </a:r>
            <a:r>
              <a:rPr sz="1300" b="0" lang="en-GB">
                <a:solidFill>
                  <a:schemeClr val="tx1"/>
                </a:solidFill>
              </a:rPr>
              <a:t>0.11 → 0.33, × 3.0. Effects multiply: the odds ratio.</a:t>
            </a:r>
          </a:p>
        </p:txBody>
      </p:sp>
      <p:sp>
        <p:nvSpPr>
          <p:cNvPr id="17" name="Scale 3 row"/>
          <p:cNvSpPr/>
          <p:nvPr/>
        </p:nvSpPr>
        <p:spPr>
          <a:xfrm>
            <a:off x="4617720" y="3502152"/>
            <a:ext cx="4069080" cy="10241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cale 3 bar"/>
          <p:cNvSpPr/>
          <p:nvPr/>
        </p:nvSpPr>
        <p:spPr>
          <a:xfrm>
            <a:off x="4617720" y="3502152"/>
            <a:ext cx="64008" cy="10241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cale 3 text"/>
          <p:cNvSpPr txBox="1"/>
          <p:nvPr/>
        </p:nvSpPr>
        <p:spPr>
          <a:xfrm>
            <a:off x="4818888" y="3502152"/>
            <a:ext cx="3776472" cy="1024128"/>
          </a:xfrm>
          <a:prstGeom prst="rect">
            <a:avLst/>
          </a:prstGeom>
          <a:noFill/>
        </p:spPr>
        <p:txBody>
          <a:bodyPr wrap="square" lIns="0" rIns="0" tIns="0" bIns="0" anchor="ctr">
            <a:noAutofit/>
          </a:bodyPr>
          <a:lstStyle/>
          <a:p>
            <a:pPr algn="l">
              <a:spcAft>
                <a:spcPts val="400"/>
              </a:spcAft>
            </a:pPr>
            <a:r>
              <a:rPr sz="1300" b="1" lang="en-GB">
                <a:solidFill>
                  <a:schemeClr val="tx2"/>
                </a:solidFill>
              </a:rPr>
              <a:t>Probability: </a:t>
            </a:r>
            <a:r>
              <a:rPr sz="1300" b="0" lang="en-GB">
                <a:solidFill>
                  <a:schemeClr val="tx1"/>
                </a:solidFill>
              </a:rPr>
              <a:t>10 % → 25 %, +15 pp. What a manager wants; the change depends on the start.</a:t>
            </a:r>
          </a:p>
        </p:txBody>
      </p:sp>
      <p:sp>
        <p:nvSpPr>
          <p:cNvPr id="20"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Worked example of slide 8; curve: p = 1 / (1 + e^(−log-odds))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An odds ratio of 2 is not “twice as likely”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ch_p1_or2.png" descr="Change in churn probability for an odds ratio of 2 at five starting rates: +4.5 pp at 5 %, +11.1 pp at 15 % (DE), +16.9 pp at 35 % (ES), +16.7 pp at 50 % and +4.7 pp at 90 %."/>
          <p:cNvPicPr>
            <a:picLocks noChangeAspect="1"/>
          </p:cNvPicPr>
          <p:nvPr/>
        </p:nvPicPr>
        <p:blipFill>
          <a:blip r:embed="rId3"/>
          <a:stretch>
            <a:fillRect/>
          </a:stretch>
        </p:blipFill>
        <p:spPr>
          <a:xfrm>
            <a:off x="457200" y="1234440"/>
            <a:ext cx="4206240" cy="3291840"/>
          </a:xfrm>
          <a:prstGeom prst="rect">
            <a:avLst/>
          </a:prstGeom>
        </p:spPr>
      </p:pic>
      <p:sp>
        <p:nvSpPr>
          <p:cNvPr id="11" name="OR2 stat 1 box"/>
          <p:cNvSpPr/>
          <p:nvPr/>
        </p:nvSpPr>
        <p:spPr>
          <a:xfrm>
            <a:off x="4800600" y="1234440"/>
            <a:ext cx="388620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R2 stat 1 bar"/>
          <p:cNvSpPr/>
          <p:nvPr/>
        </p:nvSpPr>
        <p:spPr>
          <a:xfrm>
            <a:off x="480060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R2 stat 1 figure"/>
          <p:cNvSpPr txBox="1"/>
          <p:nvPr/>
        </p:nvSpPr>
        <p:spPr>
          <a:xfrm>
            <a:off x="4983480" y="1234440"/>
            <a:ext cx="118872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 1.9</a:t>
            </a:r>
          </a:p>
        </p:txBody>
      </p:sp>
      <p:sp>
        <p:nvSpPr>
          <p:cNvPr id="14" name="OR2 stat 1 label"/>
          <p:cNvSpPr txBox="1"/>
          <p:nvPr/>
        </p:nvSpPr>
        <p:spPr>
          <a:xfrm>
            <a:off x="6172200" y="1234440"/>
            <a:ext cx="2423160" cy="914400"/>
          </a:xfrm>
          <a:prstGeom prst="rect">
            <a:avLst/>
          </a:prstGeom>
          <a:noFill/>
        </p:spPr>
        <p:txBody>
          <a:bodyPr wrap="square" lIns="0" rIns="0" tIns="0" bIns="0" anchor="ctr">
            <a:noAutofit/>
          </a:bodyPr>
          <a:lstStyle/>
          <a:p>
            <a:pPr algn="l">
              <a:spcAft>
                <a:spcPts val="200"/>
              </a:spcAft>
            </a:pPr>
            <a:r>
              <a:rPr sz="1300" b="1" lang="en-GB">
                <a:solidFill>
                  <a:schemeClr val="tx2"/>
                </a:solidFill>
              </a:rPr>
              <a:t>5 % → 9.5 %</a:t>
            </a:r>
            <a:r>
              <a:rPr sz="1300" b="0" lang="en-GB">
                <a:solidFill>
                  <a:schemeClr val="tx1"/>
                </a:solidFill>
              </a:rPr>
              <a:t/>
            </a:r>
          </a:p>
          <a:p>
            <a:pPr algn="l">
              <a:spcAft>
                <a:spcPts val="200"/>
              </a:spcAft>
            </a:pPr>
            <a:r>
              <a:rPr sz="1300" b="0" lang="en-GB">
                <a:solidFill>
                  <a:schemeClr val="tx1"/>
                </a:solidFill>
              </a:rPr>
              <a:t>nearly twice as likely</a:t>
            </a:r>
          </a:p>
        </p:txBody>
      </p:sp>
      <p:sp>
        <p:nvSpPr>
          <p:cNvPr id="15" name="OR2 stat 2 box"/>
          <p:cNvSpPr/>
          <p:nvPr/>
        </p:nvSpPr>
        <p:spPr>
          <a:xfrm>
            <a:off x="4800600" y="2258568"/>
            <a:ext cx="388620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R2 stat 2 bar"/>
          <p:cNvSpPr/>
          <p:nvPr/>
        </p:nvSpPr>
        <p:spPr>
          <a:xfrm>
            <a:off x="4800600" y="2258568"/>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R2 stat 2 figure"/>
          <p:cNvSpPr txBox="1"/>
          <p:nvPr/>
        </p:nvSpPr>
        <p:spPr>
          <a:xfrm>
            <a:off x="4983480" y="2258568"/>
            <a:ext cx="118872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 1.5</a:t>
            </a:r>
          </a:p>
        </p:txBody>
      </p:sp>
      <p:sp>
        <p:nvSpPr>
          <p:cNvPr id="18" name="OR2 stat 2 label"/>
          <p:cNvSpPr txBox="1"/>
          <p:nvPr/>
        </p:nvSpPr>
        <p:spPr>
          <a:xfrm>
            <a:off x="6172200" y="2258568"/>
            <a:ext cx="2423160" cy="914400"/>
          </a:xfrm>
          <a:prstGeom prst="rect">
            <a:avLst/>
          </a:prstGeom>
          <a:noFill/>
        </p:spPr>
        <p:txBody>
          <a:bodyPr wrap="square" lIns="0" rIns="0" tIns="0" bIns="0" anchor="ctr">
            <a:noAutofit/>
          </a:bodyPr>
          <a:lstStyle/>
          <a:p>
            <a:pPr algn="l">
              <a:spcAft>
                <a:spcPts val="200"/>
              </a:spcAft>
            </a:pPr>
            <a:r>
              <a:rPr sz="1300" b="1" lang="en-GB">
                <a:solidFill>
                  <a:schemeClr val="tx2"/>
                </a:solidFill>
              </a:rPr>
              <a:t>35 % → 51.9 %</a:t>
            </a:r>
            <a:r>
              <a:rPr sz="1300" b="0" lang="en-GB">
                <a:solidFill>
                  <a:schemeClr val="tx1"/>
                </a:solidFill>
              </a:rPr>
              <a:t/>
            </a:r>
          </a:p>
          <a:p>
            <a:pPr algn="l">
              <a:spcAft>
                <a:spcPts val="200"/>
              </a:spcAft>
            </a:pPr>
            <a:r>
              <a:rPr sz="1300" b="0" lang="en-GB">
                <a:solidFill>
                  <a:schemeClr val="tx1"/>
                </a:solidFill>
              </a:rPr>
              <a:t>1.5 times as likely, +16.9 pp</a:t>
            </a:r>
          </a:p>
        </p:txBody>
      </p:sp>
      <p:sp>
        <p:nvSpPr>
          <p:cNvPr id="19" name="Rare callout box"/>
          <p:cNvSpPr/>
          <p:nvPr/>
        </p:nvSpPr>
        <p:spPr>
          <a:xfrm>
            <a:off x="4800600" y="3282696"/>
            <a:ext cx="3886200" cy="124358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are callout text"/>
          <p:cNvSpPr txBox="1"/>
          <p:nvPr/>
        </p:nvSpPr>
        <p:spPr>
          <a:xfrm>
            <a:off x="5001768" y="3282696"/>
            <a:ext cx="3483864" cy="1243584"/>
          </a:xfrm>
          <a:prstGeom prst="rect">
            <a:avLst/>
          </a:prstGeom>
          <a:noFill/>
        </p:spPr>
        <p:txBody>
          <a:bodyPr wrap="square" lIns="0" rIns="0" tIns="0" bIns="0" anchor="ctr">
            <a:noAutofit/>
          </a:bodyPr>
          <a:lstStyle/>
          <a:p>
            <a:pPr algn="l">
              <a:spcAft>
                <a:spcPts val="400"/>
              </a:spcAft>
            </a:pPr>
            <a:r>
              <a:rPr sz="1300" b="1" lang="en-GB">
                <a:solidFill>
                  <a:schemeClr val="bg1"/>
                </a:solidFill>
              </a:rPr>
              <a:t>“Twice as likely” only works for rare outcomes, </a:t>
            </a:r>
            <a:r>
              <a:rPr sz="1300" b="0" lang="en-GB">
                <a:solidFill>
                  <a:schemeClr val="bg1"/>
                </a:solidFill>
              </a:rPr>
              <a:t>below about 10 %. Churn of 15 to 35 % is not rare.</a:t>
            </a:r>
          </a:p>
        </p:txBody>
      </p:sp>
      <p:sp>
        <p:nvSpPr>
          <p:cNvPr id="2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Own calculation: p₁ = OR·p₀ / (1 − p₀ + OR·p₀), with p₀ the starting churn rate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turn: Spanish customers, with a calculator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S table 1-1"/>
          <p:cNvSpPr/>
          <p:nvPr/>
        </p:nvSpPr>
        <p:spPr>
          <a:xfrm>
            <a:off x="457200" y="1234440"/>
            <a:ext cx="18928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S table text 1-1"/>
          <p:cNvSpPr txBox="1"/>
          <p:nvPr/>
        </p:nvSpPr>
        <p:spPr>
          <a:xfrm>
            <a:off x="548640" y="1234440"/>
            <a:ext cx="1709928" cy="384048"/>
          </a:xfrm>
          <a:prstGeom prst="rect">
            <a:avLst/>
          </a:prstGeom>
          <a:noFill/>
        </p:spPr>
        <p:txBody>
          <a:bodyPr wrap="square" lIns="0" rIns="0" tIns="0" bIns="0" anchor="ctr">
            <a:noAutofit/>
          </a:bodyPr>
          <a:lstStyle/>
          <a:p>
            <a:pPr algn="l">
              <a:spcAft>
                <a:spcPts val="400"/>
              </a:spcAft>
            </a:pPr>
            <a:r>
              <a:rPr sz="1250" b="1" lang="en-GB">
                <a:solidFill>
                  <a:schemeClr val="bg1"/>
                </a:solidFill>
              </a:rPr>
              <a:t>Spanish customers</a:t>
            </a:r>
          </a:p>
        </p:txBody>
      </p:sp>
      <p:sp>
        <p:nvSpPr>
          <p:cNvPr id="12" name="ES table 1-2"/>
          <p:cNvSpPr/>
          <p:nvPr/>
        </p:nvSpPr>
        <p:spPr>
          <a:xfrm>
            <a:off x="2377440" y="1234440"/>
            <a:ext cx="10698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S table text 1-2"/>
          <p:cNvSpPr txBox="1"/>
          <p:nvPr/>
        </p:nvSpPr>
        <p:spPr>
          <a:xfrm>
            <a:off x="2468880" y="1234440"/>
            <a:ext cx="88696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Churners</a:t>
            </a:r>
          </a:p>
        </p:txBody>
      </p:sp>
      <p:sp>
        <p:nvSpPr>
          <p:cNvPr id="14" name="ES table 1-3"/>
          <p:cNvSpPr/>
          <p:nvPr/>
        </p:nvSpPr>
        <p:spPr>
          <a:xfrm>
            <a:off x="3474720" y="1234440"/>
            <a:ext cx="11612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S table text 1-3"/>
          <p:cNvSpPr txBox="1"/>
          <p:nvPr/>
        </p:nvSpPr>
        <p:spPr>
          <a:xfrm>
            <a:off x="3566160" y="1234440"/>
            <a:ext cx="97840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Customers</a:t>
            </a:r>
          </a:p>
        </p:txBody>
      </p:sp>
      <p:sp>
        <p:nvSpPr>
          <p:cNvPr id="16" name="ES table 1-4"/>
          <p:cNvSpPr/>
          <p:nvPr/>
        </p:nvSpPr>
        <p:spPr>
          <a:xfrm>
            <a:off x="4663440" y="1234440"/>
            <a:ext cx="125272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S table text 1-4"/>
          <p:cNvSpPr txBox="1"/>
          <p:nvPr/>
        </p:nvSpPr>
        <p:spPr>
          <a:xfrm>
            <a:off x="4754880" y="1234440"/>
            <a:ext cx="106984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p</a:t>
            </a:r>
          </a:p>
        </p:txBody>
      </p:sp>
      <p:sp>
        <p:nvSpPr>
          <p:cNvPr id="18" name="ES table 1-5"/>
          <p:cNvSpPr/>
          <p:nvPr/>
        </p:nvSpPr>
        <p:spPr>
          <a:xfrm>
            <a:off x="5943600" y="1234440"/>
            <a:ext cx="125272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ES table text 1-5"/>
          <p:cNvSpPr txBox="1"/>
          <p:nvPr/>
        </p:nvSpPr>
        <p:spPr>
          <a:xfrm>
            <a:off x="6035040" y="1234440"/>
            <a:ext cx="106984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Odds</a:t>
            </a:r>
          </a:p>
        </p:txBody>
      </p:sp>
      <p:sp>
        <p:nvSpPr>
          <p:cNvPr id="20" name="ES table 1-6"/>
          <p:cNvSpPr/>
          <p:nvPr/>
        </p:nvSpPr>
        <p:spPr>
          <a:xfrm>
            <a:off x="7223760" y="1234440"/>
            <a:ext cx="146304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S table text 1-6"/>
          <p:cNvSpPr txBox="1"/>
          <p:nvPr/>
        </p:nvSpPr>
        <p:spPr>
          <a:xfrm>
            <a:off x="7315200" y="1234440"/>
            <a:ext cx="125272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Log-odds</a:t>
            </a:r>
          </a:p>
        </p:txBody>
      </p:sp>
      <p:sp>
        <p:nvSpPr>
          <p:cNvPr id="22" name="ES table 2-1"/>
          <p:cNvSpPr/>
          <p:nvPr/>
        </p:nvSpPr>
        <p:spPr>
          <a:xfrm>
            <a:off x="457200" y="1645920"/>
            <a:ext cx="18928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S table text 2-1"/>
          <p:cNvSpPr txBox="1"/>
          <p:nvPr/>
        </p:nvSpPr>
        <p:spPr>
          <a:xfrm>
            <a:off x="548640" y="1645920"/>
            <a:ext cx="1709928" cy="384048"/>
          </a:xfrm>
          <a:prstGeom prst="rect">
            <a:avLst/>
          </a:prstGeom>
          <a:noFill/>
        </p:spPr>
        <p:txBody>
          <a:bodyPr wrap="square" lIns="0" rIns="0" tIns="0" bIns="0" anchor="ctr">
            <a:noAutofit/>
          </a:bodyPr>
          <a:lstStyle/>
          <a:p>
            <a:pPr algn="l">
              <a:spcAft>
                <a:spcPts val="400"/>
              </a:spcAft>
            </a:pPr>
            <a:r>
              <a:rPr sz="1250" b="1" lang="en-GB">
                <a:solidFill>
                  <a:schemeClr val="tx2"/>
                </a:solidFill>
              </a:rPr>
              <a:t>Month-to-month</a:t>
            </a:r>
          </a:p>
        </p:txBody>
      </p:sp>
      <p:sp>
        <p:nvSpPr>
          <p:cNvPr id="24" name="ES table 2-2"/>
          <p:cNvSpPr/>
          <p:nvPr/>
        </p:nvSpPr>
        <p:spPr>
          <a:xfrm>
            <a:off x="2377440" y="164592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S table text 2-2"/>
          <p:cNvSpPr txBox="1"/>
          <p:nvPr/>
        </p:nvSpPr>
        <p:spPr>
          <a:xfrm>
            <a:off x="2468880" y="164592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45</a:t>
            </a:r>
          </a:p>
        </p:txBody>
      </p:sp>
      <p:sp>
        <p:nvSpPr>
          <p:cNvPr id="26" name="ES table 2-3"/>
          <p:cNvSpPr/>
          <p:nvPr/>
        </p:nvSpPr>
        <p:spPr>
          <a:xfrm>
            <a:off x="3474720" y="164592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S table text 2-3"/>
          <p:cNvSpPr txBox="1"/>
          <p:nvPr/>
        </p:nvSpPr>
        <p:spPr>
          <a:xfrm>
            <a:off x="3566160" y="1645920"/>
            <a:ext cx="97840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100</a:t>
            </a:r>
          </a:p>
        </p:txBody>
      </p:sp>
      <p:sp>
        <p:nvSpPr>
          <p:cNvPr id="28" name="ES table 2-4"/>
          <p:cNvSpPr/>
          <p:nvPr/>
        </p:nvSpPr>
        <p:spPr>
          <a:xfrm>
            <a:off x="4663440" y="1645920"/>
            <a:ext cx="12527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ES table text 2-4"/>
          <p:cNvSpPr txBox="1"/>
          <p:nvPr/>
        </p:nvSpPr>
        <p:spPr>
          <a:xfrm>
            <a:off x="4754880" y="1645920"/>
            <a:ext cx="106984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a:t>
            </a:r>
          </a:p>
        </p:txBody>
      </p:sp>
      <p:sp>
        <p:nvSpPr>
          <p:cNvPr id="30" name="ES table 2-5"/>
          <p:cNvSpPr/>
          <p:nvPr/>
        </p:nvSpPr>
        <p:spPr>
          <a:xfrm>
            <a:off x="5943600" y="1645920"/>
            <a:ext cx="12527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ES table text 2-5"/>
          <p:cNvSpPr txBox="1"/>
          <p:nvPr/>
        </p:nvSpPr>
        <p:spPr>
          <a:xfrm>
            <a:off x="6035040" y="1645920"/>
            <a:ext cx="106984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a:t>
            </a:r>
          </a:p>
        </p:txBody>
      </p:sp>
      <p:sp>
        <p:nvSpPr>
          <p:cNvPr id="32" name="ES table 2-6"/>
          <p:cNvSpPr/>
          <p:nvPr/>
        </p:nvSpPr>
        <p:spPr>
          <a:xfrm>
            <a:off x="7223760" y="1645920"/>
            <a:ext cx="14630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ES table text 2-6"/>
          <p:cNvSpPr txBox="1"/>
          <p:nvPr/>
        </p:nvSpPr>
        <p:spPr>
          <a:xfrm>
            <a:off x="7315200" y="1645920"/>
            <a:ext cx="125272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a:t>
            </a:r>
          </a:p>
        </p:txBody>
      </p:sp>
      <p:sp>
        <p:nvSpPr>
          <p:cNvPr id="34" name="ES table 3-1"/>
          <p:cNvSpPr/>
          <p:nvPr/>
        </p:nvSpPr>
        <p:spPr>
          <a:xfrm>
            <a:off x="457200" y="2057400"/>
            <a:ext cx="18928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ES table text 3-1"/>
          <p:cNvSpPr txBox="1"/>
          <p:nvPr/>
        </p:nvSpPr>
        <p:spPr>
          <a:xfrm>
            <a:off x="548640" y="2057400"/>
            <a:ext cx="1709928" cy="384048"/>
          </a:xfrm>
          <a:prstGeom prst="rect">
            <a:avLst/>
          </a:prstGeom>
          <a:noFill/>
        </p:spPr>
        <p:txBody>
          <a:bodyPr wrap="square" lIns="0" rIns="0" tIns="0" bIns="0" anchor="ctr">
            <a:noAutofit/>
          </a:bodyPr>
          <a:lstStyle/>
          <a:p>
            <a:pPr algn="l">
              <a:spcAft>
                <a:spcPts val="400"/>
              </a:spcAft>
            </a:pPr>
            <a:r>
              <a:rPr sz="1250" b="1" lang="en-GB">
                <a:solidFill>
                  <a:schemeClr val="tx2"/>
                </a:solidFill>
              </a:rPr>
              <a:t>24-month</a:t>
            </a:r>
          </a:p>
        </p:txBody>
      </p:sp>
      <p:sp>
        <p:nvSpPr>
          <p:cNvPr id="36" name="ES table 3-2"/>
          <p:cNvSpPr/>
          <p:nvPr/>
        </p:nvSpPr>
        <p:spPr>
          <a:xfrm>
            <a:off x="2377440" y="205740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ES table text 3-2"/>
          <p:cNvSpPr txBox="1"/>
          <p:nvPr/>
        </p:nvSpPr>
        <p:spPr>
          <a:xfrm>
            <a:off x="2468880" y="205740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25</a:t>
            </a:r>
          </a:p>
        </p:txBody>
      </p:sp>
      <p:sp>
        <p:nvSpPr>
          <p:cNvPr id="38" name="ES table 3-3"/>
          <p:cNvSpPr/>
          <p:nvPr/>
        </p:nvSpPr>
        <p:spPr>
          <a:xfrm>
            <a:off x="3474720" y="205740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ES table text 3-3"/>
          <p:cNvSpPr txBox="1"/>
          <p:nvPr/>
        </p:nvSpPr>
        <p:spPr>
          <a:xfrm>
            <a:off x="3566160" y="2057400"/>
            <a:ext cx="97840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100</a:t>
            </a:r>
          </a:p>
        </p:txBody>
      </p:sp>
      <p:sp>
        <p:nvSpPr>
          <p:cNvPr id="40" name="ES table 3-4"/>
          <p:cNvSpPr/>
          <p:nvPr/>
        </p:nvSpPr>
        <p:spPr>
          <a:xfrm>
            <a:off x="4663440" y="2057400"/>
            <a:ext cx="12527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ES table text 3-4"/>
          <p:cNvSpPr txBox="1"/>
          <p:nvPr/>
        </p:nvSpPr>
        <p:spPr>
          <a:xfrm>
            <a:off x="4754880" y="2057400"/>
            <a:ext cx="106984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a:t>
            </a:r>
          </a:p>
        </p:txBody>
      </p:sp>
      <p:sp>
        <p:nvSpPr>
          <p:cNvPr id="42" name="ES table 3-5"/>
          <p:cNvSpPr/>
          <p:nvPr/>
        </p:nvSpPr>
        <p:spPr>
          <a:xfrm>
            <a:off x="5943600" y="2057400"/>
            <a:ext cx="12527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ES table text 3-5"/>
          <p:cNvSpPr txBox="1"/>
          <p:nvPr/>
        </p:nvSpPr>
        <p:spPr>
          <a:xfrm>
            <a:off x="6035040" y="2057400"/>
            <a:ext cx="106984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a:t>
            </a:r>
          </a:p>
        </p:txBody>
      </p:sp>
      <p:sp>
        <p:nvSpPr>
          <p:cNvPr id="44" name="ES table 3-6"/>
          <p:cNvSpPr/>
          <p:nvPr/>
        </p:nvSpPr>
        <p:spPr>
          <a:xfrm>
            <a:off x="7223760" y="2057400"/>
            <a:ext cx="14630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ES table text 3-6"/>
          <p:cNvSpPr txBox="1"/>
          <p:nvPr/>
        </p:nvSpPr>
        <p:spPr>
          <a:xfrm>
            <a:off x="7315200" y="2057400"/>
            <a:ext cx="125272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a:t>
            </a:r>
          </a:p>
        </p:txBody>
      </p:sp>
      <p:sp>
        <p:nvSpPr>
          <p:cNvPr id="46" name="ES task 1 row"/>
          <p:cNvSpPr/>
          <p:nvPr/>
        </p:nvSpPr>
        <p:spPr>
          <a:xfrm>
            <a:off x="457200" y="2606040"/>
            <a:ext cx="822960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ES task 1 bar"/>
          <p:cNvSpPr/>
          <p:nvPr/>
        </p:nvSpPr>
        <p:spPr>
          <a:xfrm>
            <a:off x="457200" y="2606040"/>
            <a:ext cx="64008"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ES task 1 number"/>
          <p:cNvSpPr txBox="1"/>
          <p:nvPr/>
        </p:nvSpPr>
        <p:spPr>
          <a:xfrm>
            <a:off x="658368" y="2606040"/>
            <a:ext cx="365760" cy="420624"/>
          </a:xfrm>
          <a:prstGeom prst="rect">
            <a:avLst/>
          </a:prstGeom>
          <a:noFill/>
        </p:spPr>
        <p:txBody>
          <a:bodyPr wrap="square" lIns="0" rIns="0" tIns="0" bIns="0" anchor="ctr">
            <a:noAutofit/>
          </a:bodyPr>
          <a:lstStyle/>
          <a:p>
            <a:pPr algn="l">
              <a:spcAft>
                <a:spcPts val="400"/>
              </a:spcAft>
            </a:pPr>
            <a:r>
              <a:rPr sz="1300" b="1" lang="en-GB">
                <a:solidFill>
                  <a:schemeClr val="tx2"/>
                </a:solidFill>
              </a:rPr>
              <a:t>1</a:t>
            </a:r>
          </a:p>
        </p:txBody>
      </p:sp>
      <p:sp>
        <p:nvSpPr>
          <p:cNvPr id="49" name="ES task 1 text"/>
          <p:cNvSpPr txBox="1"/>
          <p:nvPr/>
        </p:nvSpPr>
        <p:spPr>
          <a:xfrm>
            <a:off x="1024128" y="2606040"/>
            <a:ext cx="7571232" cy="420624"/>
          </a:xfrm>
          <a:prstGeom prst="rect">
            <a:avLst/>
          </a:prstGeom>
          <a:noFill/>
        </p:spPr>
        <p:txBody>
          <a:bodyPr wrap="square" lIns="0" rIns="0" tIns="0" bIns="0" anchor="ctr">
            <a:noAutofit/>
          </a:bodyPr>
          <a:lstStyle/>
          <a:p>
            <a:pPr algn="l">
              <a:spcAft>
                <a:spcPts val="400"/>
              </a:spcAft>
            </a:pPr>
            <a:r>
              <a:rPr sz="1300" b="0" lang="en-GB">
                <a:solidFill>
                  <a:schemeClr val="tx1"/>
                </a:solidFill>
              </a:rPr>
              <a:t>p and odds of both groups</a:t>
            </a:r>
          </a:p>
        </p:txBody>
      </p:sp>
      <p:sp>
        <p:nvSpPr>
          <p:cNvPr id="50" name="ES task 2 row"/>
          <p:cNvSpPr/>
          <p:nvPr/>
        </p:nvSpPr>
        <p:spPr>
          <a:xfrm>
            <a:off x="457200" y="3099816"/>
            <a:ext cx="822960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ES task 2 bar"/>
          <p:cNvSpPr/>
          <p:nvPr/>
        </p:nvSpPr>
        <p:spPr>
          <a:xfrm>
            <a:off x="457200" y="3099816"/>
            <a:ext cx="64008"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ES task 2 number"/>
          <p:cNvSpPr txBox="1"/>
          <p:nvPr/>
        </p:nvSpPr>
        <p:spPr>
          <a:xfrm>
            <a:off x="658368" y="3099816"/>
            <a:ext cx="365760" cy="420624"/>
          </a:xfrm>
          <a:prstGeom prst="rect">
            <a:avLst/>
          </a:prstGeom>
          <a:noFill/>
        </p:spPr>
        <p:txBody>
          <a:bodyPr wrap="square" lIns="0" rIns="0" tIns="0" bIns="0" anchor="ctr">
            <a:noAutofit/>
          </a:bodyPr>
          <a:lstStyle/>
          <a:p>
            <a:pPr algn="l">
              <a:spcAft>
                <a:spcPts val="400"/>
              </a:spcAft>
            </a:pPr>
            <a:r>
              <a:rPr sz="1300" b="1" lang="en-GB">
                <a:solidFill>
                  <a:schemeClr val="tx2"/>
                </a:solidFill>
              </a:rPr>
              <a:t>2</a:t>
            </a:r>
          </a:p>
        </p:txBody>
      </p:sp>
      <p:sp>
        <p:nvSpPr>
          <p:cNvPr id="53" name="ES task 2 text"/>
          <p:cNvSpPr txBox="1"/>
          <p:nvPr/>
        </p:nvSpPr>
        <p:spPr>
          <a:xfrm>
            <a:off x="1024128" y="3099816"/>
            <a:ext cx="7571232" cy="420624"/>
          </a:xfrm>
          <a:prstGeom prst="rect">
            <a:avLst/>
          </a:prstGeom>
          <a:noFill/>
        </p:spPr>
        <p:txBody>
          <a:bodyPr wrap="square" lIns="0" rIns="0" tIns="0" bIns="0" anchor="ctr">
            <a:noAutofit/>
          </a:bodyPr>
          <a:lstStyle/>
          <a:p>
            <a:pPr algn="l">
              <a:spcAft>
                <a:spcPts val="400"/>
              </a:spcAft>
            </a:pPr>
            <a:r>
              <a:rPr sz="1300" b="0" lang="en-GB">
                <a:solidFill>
                  <a:schemeClr val="tx1"/>
                </a:solidFill>
              </a:rPr>
              <a:t>the odds ratio, and the difference in log-odds</a:t>
            </a:r>
          </a:p>
        </p:txBody>
      </p:sp>
      <p:sp>
        <p:nvSpPr>
          <p:cNvPr id="54" name="ES task 3 row"/>
          <p:cNvSpPr/>
          <p:nvPr/>
        </p:nvSpPr>
        <p:spPr>
          <a:xfrm>
            <a:off x="457200" y="3593592"/>
            <a:ext cx="822960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ES task 3 bar"/>
          <p:cNvSpPr/>
          <p:nvPr/>
        </p:nvSpPr>
        <p:spPr>
          <a:xfrm>
            <a:off x="457200" y="3593592"/>
            <a:ext cx="64008"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ES task 3 number"/>
          <p:cNvSpPr txBox="1"/>
          <p:nvPr/>
        </p:nvSpPr>
        <p:spPr>
          <a:xfrm>
            <a:off x="658368" y="3593592"/>
            <a:ext cx="365760" cy="420624"/>
          </a:xfrm>
          <a:prstGeom prst="rect">
            <a:avLst/>
          </a:prstGeom>
          <a:noFill/>
        </p:spPr>
        <p:txBody>
          <a:bodyPr wrap="square" lIns="0" rIns="0" tIns="0" bIns="0" anchor="ctr">
            <a:noAutofit/>
          </a:bodyPr>
          <a:lstStyle/>
          <a:p>
            <a:pPr algn="l">
              <a:spcAft>
                <a:spcPts val="400"/>
              </a:spcAft>
            </a:pPr>
            <a:r>
              <a:rPr sz="1300" b="1" lang="en-GB">
                <a:solidFill>
                  <a:schemeClr val="tx2"/>
                </a:solidFill>
              </a:rPr>
              <a:t>3</a:t>
            </a:r>
          </a:p>
        </p:txBody>
      </p:sp>
      <p:sp>
        <p:nvSpPr>
          <p:cNvPr id="57" name="ES task 3 text"/>
          <p:cNvSpPr txBox="1"/>
          <p:nvPr/>
        </p:nvSpPr>
        <p:spPr>
          <a:xfrm>
            <a:off x="1024128" y="3593592"/>
            <a:ext cx="7571232" cy="420624"/>
          </a:xfrm>
          <a:prstGeom prst="rect">
            <a:avLst/>
          </a:prstGeom>
          <a:noFill/>
        </p:spPr>
        <p:txBody>
          <a:bodyPr wrap="square" lIns="0" rIns="0" tIns="0" bIns="0" anchor="ctr">
            <a:noAutofit/>
          </a:bodyPr>
          <a:lstStyle/>
          <a:p>
            <a:pPr algn="l">
              <a:spcAft>
                <a:spcPts val="400"/>
              </a:spcAft>
            </a:pPr>
            <a:r>
              <a:rPr sz="1300" b="0" lang="en-GB">
                <a:solidFill>
                  <a:schemeClr val="tx1"/>
                </a:solidFill>
              </a:rPr>
              <a:t>compare with Germany (odds ratio 3.0, +15 pp): odds ratio and gap in percentage points</a:t>
            </a:r>
          </a:p>
        </p:txBody>
      </p:sp>
      <p:sp>
        <p:nvSpPr>
          <p:cNvPr id="58" name="ES question box"/>
          <p:cNvSpPr/>
          <p:nvPr/>
        </p:nvSpPr>
        <p:spPr>
          <a:xfrm>
            <a:off x="457200" y="411480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ES question text"/>
          <p:cNvSpPr txBox="1"/>
          <p:nvPr/>
        </p:nvSpPr>
        <p:spPr>
          <a:xfrm>
            <a:off x="658368" y="4114800"/>
            <a:ext cx="7827264" cy="548640"/>
          </a:xfrm>
          <a:prstGeom prst="rect">
            <a:avLst/>
          </a:prstGeom>
          <a:noFill/>
        </p:spPr>
        <p:txBody>
          <a:bodyPr wrap="square" lIns="0" rIns="0" tIns="0" bIns="0" anchor="ctr">
            <a:noAutofit/>
          </a:bodyPr>
          <a:lstStyle/>
          <a:p>
            <a:pPr algn="l">
              <a:spcAft>
                <a:spcPts val="400"/>
              </a:spcAft>
            </a:pPr>
            <a:r>
              <a:rPr sz="1250" b="1" lang="en-GB">
                <a:solidFill>
                  <a:schemeClr val="bg1"/>
                </a:solidFill>
              </a:rPr>
              <a:t>Pairs, 5 minutes: </a:t>
            </a:r>
            <a:r>
              <a:rPr sz="1250" b="0" lang="en-GB">
                <a:solidFill>
                  <a:schemeClr val="bg1"/>
                </a:solidFill>
              </a:rPr>
              <a:t>where does the contract matter more, Germany or Spain?</a:t>
            </a:r>
          </a:p>
        </p:txBody>
      </p:sp>
      <p:sp>
        <p:nvSpPr>
          <p:cNvPr id="60"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close to the simulated data (Spain: 47 % vs 25 %)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6 · reading the output, three numbers to report</a:t>
            </a:r>
          </a:p>
        </p:txBody>
      </p:sp>
      <p:sp>
        <p:nvSpPr>
          <p:cNvPr id="3" name="Title 2"/>
          <p:cNvSpPr>
            <a:spLocks noGrp="1"/>
          </p:cNvSpPr>
          <p:nvPr>
            <p:ph type="ctrTitle"/>
          </p:nvPr>
        </p:nvSpPr>
        <p:spPr/>
        <p:txBody>
          <a:bodyPr/>
          <a:lstStyle/>
          <a:p>
            <a:r>
              <a:rPr lang="en-GB"/>
              <a:t>The churn logit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churn logit: reading the table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ogit table 1-1"/>
          <p:cNvSpPr/>
          <p:nvPr/>
        </p:nvSpPr>
        <p:spPr>
          <a:xfrm>
            <a:off x="868680" y="1234440"/>
            <a:ext cx="207568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ogit table text 1-1"/>
          <p:cNvSpPr txBox="1"/>
          <p:nvPr/>
        </p:nvSpPr>
        <p:spPr>
          <a:xfrm>
            <a:off x="960120" y="1234440"/>
            <a:ext cx="1892808" cy="292608"/>
          </a:xfrm>
          <a:prstGeom prst="rect">
            <a:avLst/>
          </a:prstGeom>
          <a:noFill/>
        </p:spPr>
        <p:txBody>
          <a:bodyPr wrap="square" lIns="0" rIns="0" tIns="0" bIns="0" anchor="ctr">
            <a:noAutofit/>
          </a:bodyPr>
          <a:lstStyle/>
          <a:p>
            <a:pPr algn="l">
              <a:spcAft>
                <a:spcPts val="400"/>
              </a:spcAft>
            </a:pPr>
            <a:r>
              <a:rPr sz="1150" b="1" lang="en-GB">
                <a:solidFill>
                  <a:schemeClr val="bg1"/>
                </a:solidFill>
              </a:rPr>
              <a:t>Term</a:t>
            </a:r>
          </a:p>
        </p:txBody>
      </p:sp>
      <p:sp>
        <p:nvSpPr>
          <p:cNvPr id="12" name="Logit table 1-2"/>
          <p:cNvSpPr/>
          <p:nvPr/>
        </p:nvSpPr>
        <p:spPr>
          <a:xfrm>
            <a:off x="2971800" y="1234440"/>
            <a:ext cx="111556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ogit table text 1-2"/>
          <p:cNvSpPr txBox="1"/>
          <p:nvPr/>
        </p:nvSpPr>
        <p:spPr>
          <a:xfrm>
            <a:off x="3063240" y="1234440"/>
            <a:ext cx="932688"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Coefficient</a:t>
            </a:r>
          </a:p>
        </p:txBody>
      </p:sp>
      <p:sp>
        <p:nvSpPr>
          <p:cNvPr id="14" name="Logit table 1-3"/>
          <p:cNvSpPr/>
          <p:nvPr/>
        </p:nvSpPr>
        <p:spPr>
          <a:xfrm>
            <a:off x="4114800" y="1234440"/>
            <a:ext cx="1097280"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ogit table text 1-3"/>
          <p:cNvSpPr txBox="1"/>
          <p:nvPr/>
        </p:nvSpPr>
        <p:spPr>
          <a:xfrm>
            <a:off x="4206240" y="1234440"/>
            <a:ext cx="886968" cy="292608"/>
          </a:xfrm>
          <a:prstGeom prst="rect">
            <a:avLst/>
          </a:prstGeom>
          <a:noFill/>
        </p:spPr>
        <p:txBody>
          <a:bodyPr wrap="square" lIns="0" rIns="0" tIns="0" bIns="0" anchor="ctr">
            <a:noAutofit/>
          </a:bodyPr>
          <a:lstStyle/>
          <a:p>
            <a:pPr algn="r">
              <a:spcAft>
                <a:spcPts val="400"/>
              </a:spcAft>
            </a:pPr>
            <a:r>
              <a:rPr sz="1150" b="1" lang="en-GB">
                <a:solidFill>
                  <a:schemeClr val="bg1"/>
                </a:solidFill>
              </a:rPr>
              <a:t>Odds ratio</a:t>
            </a:r>
          </a:p>
        </p:txBody>
      </p:sp>
      <p:sp>
        <p:nvSpPr>
          <p:cNvPr id="16" name="Logit table 2-1"/>
          <p:cNvSpPr/>
          <p:nvPr/>
        </p:nvSpPr>
        <p:spPr>
          <a:xfrm>
            <a:off x="868680" y="1554480"/>
            <a:ext cx="207568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ogit table text 2-1"/>
          <p:cNvSpPr txBox="1"/>
          <p:nvPr/>
        </p:nvSpPr>
        <p:spPr>
          <a:xfrm>
            <a:off x="960120" y="1554480"/>
            <a:ext cx="189280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Month-to-month</a:t>
            </a:r>
          </a:p>
        </p:txBody>
      </p:sp>
      <p:sp>
        <p:nvSpPr>
          <p:cNvPr id="18" name="Logit table 2-2"/>
          <p:cNvSpPr/>
          <p:nvPr/>
        </p:nvSpPr>
        <p:spPr>
          <a:xfrm>
            <a:off x="2971800" y="1554480"/>
            <a:ext cx="11155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ogit table text 2-2"/>
          <p:cNvSpPr txBox="1"/>
          <p:nvPr/>
        </p:nvSpPr>
        <p:spPr>
          <a:xfrm>
            <a:off x="3063240" y="1554480"/>
            <a:ext cx="93268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0.962</a:t>
            </a:r>
          </a:p>
        </p:txBody>
      </p:sp>
      <p:sp>
        <p:nvSpPr>
          <p:cNvPr id="20" name="Logit table 2-3"/>
          <p:cNvSpPr/>
          <p:nvPr/>
        </p:nvSpPr>
        <p:spPr>
          <a:xfrm>
            <a:off x="4114800" y="1554480"/>
            <a:ext cx="109728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ogit table text 2-3"/>
          <p:cNvSpPr txBox="1"/>
          <p:nvPr/>
        </p:nvSpPr>
        <p:spPr>
          <a:xfrm>
            <a:off x="4206240" y="1554480"/>
            <a:ext cx="8869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2.62</a:t>
            </a:r>
          </a:p>
        </p:txBody>
      </p:sp>
      <p:sp>
        <p:nvSpPr>
          <p:cNvPr id="22" name="Logit table 3-1"/>
          <p:cNvSpPr/>
          <p:nvPr/>
        </p:nvSpPr>
        <p:spPr>
          <a:xfrm>
            <a:off x="868680" y="1874520"/>
            <a:ext cx="207568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ogit table text 3-1"/>
          <p:cNvSpPr txBox="1"/>
          <p:nvPr/>
        </p:nvSpPr>
        <p:spPr>
          <a:xfrm>
            <a:off x="960120" y="1874520"/>
            <a:ext cx="189280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Price rise</a:t>
            </a:r>
          </a:p>
        </p:txBody>
      </p:sp>
      <p:sp>
        <p:nvSpPr>
          <p:cNvPr id="24" name="Logit table 3-2"/>
          <p:cNvSpPr/>
          <p:nvPr/>
        </p:nvSpPr>
        <p:spPr>
          <a:xfrm>
            <a:off x="2971800" y="1874520"/>
            <a:ext cx="11155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ogit table text 3-2"/>
          <p:cNvSpPr txBox="1"/>
          <p:nvPr/>
        </p:nvSpPr>
        <p:spPr>
          <a:xfrm>
            <a:off x="3063240" y="1874520"/>
            <a:ext cx="93268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0.602</a:t>
            </a:r>
          </a:p>
        </p:txBody>
      </p:sp>
      <p:sp>
        <p:nvSpPr>
          <p:cNvPr id="26" name="Logit table 3-3"/>
          <p:cNvSpPr/>
          <p:nvPr/>
        </p:nvSpPr>
        <p:spPr>
          <a:xfrm>
            <a:off x="4114800" y="1874520"/>
            <a:ext cx="109728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ogit table text 3-3"/>
          <p:cNvSpPr txBox="1"/>
          <p:nvPr/>
        </p:nvSpPr>
        <p:spPr>
          <a:xfrm>
            <a:off x="4206240" y="1874520"/>
            <a:ext cx="8869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1.83</a:t>
            </a:r>
          </a:p>
        </p:txBody>
      </p:sp>
      <p:sp>
        <p:nvSpPr>
          <p:cNvPr id="28" name="Logit table 4-1"/>
          <p:cNvSpPr/>
          <p:nvPr/>
        </p:nvSpPr>
        <p:spPr>
          <a:xfrm>
            <a:off x="868680" y="2194560"/>
            <a:ext cx="207568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ogit table text 4-1"/>
          <p:cNvSpPr txBox="1"/>
          <p:nvPr/>
        </p:nvSpPr>
        <p:spPr>
          <a:xfrm>
            <a:off x="960120" y="2194560"/>
            <a:ext cx="189280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Complaint calls (each)</a:t>
            </a:r>
          </a:p>
        </p:txBody>
      </p:sp>
      <p:sp>
        <p:nvSpPr>
          <p:cNvPr id="30" name="Logit table 4-2"/>
          <p:cNvSpPr/>
          <p:nvPr/>
        </p:nvSpPr>
        <p:spPr>
          <a:xfrm>
            <a:off x="2971800" y="2194560"/>
            <a:ext cx="11155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ogit table text 4-2"/>
          <p:cNvSpPr txBox="1"/>
          <p:nvPr/>
        </p:nvSpPr>
        <p:spPr>
          <a:xfrm>
            <a:off x="3063240" y="2194560"/>
            <a:ext cx="93268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0.452</a:t>
            </a:r>
          </a:p>
        </p:txBody>
      </p:sp>
      <p:sp>
        <p:nvSpPr>
          <p:cNvPr id="32" name="Logit table 4-3"/>
          <p:cNvSpPr/>
          <p:nvPr/>
        </p:nvSpPr>
        <p:spPr>
          <a:xfrm>
            <a:off x="4114800" y="2194560"/>
            <a:ext cx="109728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ogit table text 4-3"/>
          <p:cNvSpPr txBox="1"/>
          <p:nvPr/>
        </p:nvSpPr>
        <p:spPr>
          <a:xfrm>
            <a:off x="4206240" y="2194560"/>
            <a:ext cx="8869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1.57</a:t>
            </a:r>
          </a:p>
        </p:txBody>
      </p:sp>
      <p:sp>
        <p:nvSpPr>
          <p:cNvPr id="34" name="Logit table 5-1"/>
          <p:cNvSpPr/>
          <p:nvPr/>
        </p:nvSpPr>
        <p:spPr>
          <a:xfrm>
            <a:off x="868680" y="2514600"/>
            <a:ext cx="207568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ogit table text 5-1"/>
          <p:cNvSpPr txBox="1"/>
          <p:nvPr/>
        </p:nvSpPr>
        <p:spPr>
          <a:xfrm>
            <a:off x="960120" y="2514600"/>
            <a:ext cx="189280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ln tenure (months)</a:t>
            </a:r>
          </a:p>
        </p:txBody>
      </p:sp>
      <p:sp>
        <p:nvSpPr>
          <p:cNvPr id="36" name="Logit table 5-2"/>
          <p:cNvSpPr/>
          <p:nvPr/>
        </p:nvSpPr>
        <p:spPr>
          <a:xfrm>
            <a:off x="2971800" y="2514600"/>
            <a:ext cx="11155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ogit table text 5-2"/>
          <p:cNvSpPr txBox="1"/>
          <p:nvPr/>
        </p:nvSpPr>
        <p:spPr>
          <a:xfrm>
            <a:off x="3063240" y="2514600"/>
            <a:ext cx="93268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−0.240</a:t>
            </a:r>
          </a:p>
        </p:txBody>
      </p:sp>
      <p:sp>
        <p:nvSpPr>
          <p:cNvPr id="38" name="Logit table 5-3"/>
          <p:cNvSpPr/>
          <p:nvPr/>
        </p:nvSpPr>
        <p:spPr>
          <a:xfrm>
            <a:off x="4114800" y="2514600"/>
            <a:ext cx="109728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ogit table text 5-3"/>
          <p:cNvSpPr txBox="1"/>
          <p:nvPr/>
        </p:nvSpPr>
        <p:spPr>
          <a:xfrm>
            <a:off x="4206240" y="2514600"/>
            <a:ext cx="8869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0.79</a:t>
            </a:r>
          </a:p>
        </p:txBody>
      </p:sp>
      <p:sp>
        <p:nvSpPr>
          <p:cNvPr id="40" name="Logit table 6-1"/>
          <p:cNvSpPr/>
          <p:nvPr/>
        </p:nvSpPr>
        <p:spPr>
          <a:xfrm>
            <a:off x="868680" y="2834640"/>
            <a:ext cx="207568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ogit table text 6-1"/>
          <p:cNvSpPr txBox="1"/>
          <p:nvPr/>
        </p:nvSpPr>
        <p:spPr>
          <a:xfrm>
            <a:off x="960120" y="2834640"/>
            <a:ext cx="189280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Austria (vs Germany)</a:t>
            </a:r>
          </a:p>
        </p:txBody>
      </p:sp>
      <p:sp>
        <p:nvSpPr>
          <p:cNvPr id="42" name="Logit table 6-2"/>
          <p:cNvSpPr/>
          <p:nvPr/>
        </p:nvSpPr>
        <p:spPr>
          <a:xfrm>
            <a:off x="2971800" y="2834640"/>
            <a:ext cx="11155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ogit table text 6-2"/>
          <p:cNvSpPr txBox="1"/>
          <p:nvPr/>
        </p:nvSpPr>
        <p:spPr>
          <a:xfrm>
            <a:off x="3063240" y="2834640"/>
            <a:ext cx="93268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−0.010</a:t>
            </a:r>
          </a:p>
        </p:txBody>
      </p:sp>
      <p:sp>
        <p:nvSpPr>
          <p:cNvPr id="44" name="Logit table 6-3"/>
          <p:cNvSpPr/>
          <p:nvPr/>
        </p:nvSpPr>
        <p:spPr>
          <a:xfrm>
            <a:off x="4114800" y="2834640"/>
            <a:ext cx="109728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ogit table text 6-3"/>
          <p:cNvSpPr txBox="1"/>
          <p:nvPr/>
        </p:nvSpPr>
        <p:spPr>
          <a:xfrm>
            <a:off x="4206240" y="2834640"/>
            <a:ext cx="8869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0.99</a:t>
            </a:r>
          </a:p>
        </p:txBody>
      </p:sp>
      <p:sp>
        <p:nvSpPr>
          <p:cNvPr id="46" name="Logit table 7-1"/>
          <p:cNvSpPr/>
          <p:nvPr/>
        </p:nvSpPr>
        <p:spPr>
          <a:xfrm>
            <a:off x="868680" y="3154680"/>
            <a:ext cx="207568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ogit table text 7-1"/>
          <p:cNvSpPr txBox="1"/>
          <p:nvPr/>
        </p:nvSpPr>
        <p:spPr>
          <a:xfrm>
            <a:off x="960120" y="3154680"/>
            <a:ext cx="189280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Spain (vs Germany)</a:t>
            </a:r>
          </a:p>
        </p:txBody>
      </p:sp>
      <p:sp>
        <p:nvSpPr>
          <p:cNvPr id="48" name="Logit table 7-2"/>
          <p:cNvSpPr/>
          <p:nvPr/>
        </p:nvSpPr>
        <p:spPr>
          <a:xfrm>
            <a:off x="2971800" y="3154680"/>
            <a:ext cx="11155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ogit table text 7-2"/>
          <p:cNvSpPr txBox="1"/>
          <p:nvPr/>
        </p:nvSpPr>
        <p:spPr>
          <a:xfrm>
            <a:off x="3063240" y="3154680"/>
            <a:ext cx="93268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1.057</a:t>
            </a:r>
          </a:p>
        </p:txBody>
      </p:sp>
      <p:sp>
        <p:nvSpPr>
          <p:cNvPr id="50" name="Logit table 7-3"/>
          <p:cNvSpPr/>
          <p:nvPr/>
        </p:nvSpPr>
        <p:spPr>
          <a:xfrm>
            <a:off x="4114800" y="3154680"/>
            <a:ext cx="109728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ogit table text 7-3"/>
          <p:cNvSpPr txBox="1"/>
          <p:nvPr/>
        </p:nvSpPr>
        <p:spPr>
          <a:xfrm>
            <a:off x="4206240" y="3154680"/>
            <a:ext cx="8869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2.88</a:t>
            </a:r>
          </a:p>
        </p:txBody>
      </p:sp>
      <p:sp>
        <p:nvSpPr>
          <p:cNvPr id="52" name="Logit table 8-1"/>
          <p:cNvSpPr/>
          <p:nvPr/>
        </p:nvSpPr>
        <p:spPr>
          <a:xfrm>
            <a:off x="868680" y="3474720"/>
            <a:ext cx="207568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ogit table text 8-1"/>
          <p:cNvSpPr txBox="1"/>
          <p:nvPr/>
        </p:nvSpPr>
        <p:spPr>
          <a:xfrm>
            <a:off x="960120" y="3474720"/>
            <a:ext cx="1892808" cy="292608"/>
          </a:xfrm>
          <a:prstGeom prst="rect">
            <a:avLst/>
          </a:prstGeom>
          <a:noFill/>
        </p:spPr>
        <p:txBody>
          <a:bodyPr wrap="square" lIns="0" rIns="0" tIns="0" bIns="0" anchor="ctr">
            <a:noAutofit/>
          </a:bodyPr>
          <a:lstStyle/>
          <a:p>
            <a:pPr algn="l">
              <a:spcAft>
                <a:spcPts val="400"/>
              </a:spcAft>
            </a:pPr>
            <a:r>
              <a:rPr sz="1150" b="1" lang="en-GB">
                <a:solidFill>
                  <a:schemeClr val="tx2"/>
                </a:solidFill>
              </a:rPr>
              <a:t>Poland (vs Germany)</a:t>
            </a:r>
          </a:p>
        </p:txBody>
      </p:sp>
      <p:sp>
        <p:nvSpPr>
          <p:cNvPr id="54" name="Logit table 8-2"/>
          <p:cNvSpPr/>
          <p:nvPr/>
        </p:nvSpPr>
        <p:spPr>
          <a:xfrm>
            <a:off x="2971800" y="3474720"/>
            <a:ext cx="11155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ogit table text 8-2"/>
          <p:cNvSpPr txBox="1"/>
          <p:nvPr/>
        </p:nvSpPr>
        <p:spPr>
          <a:xfrm>
            <a:off x="3063240" y="3474720"/>
            <a:ext cx="93268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0.618</a:t>
            </a:r>
          </a:p>
        </p:txBody>
      </p:sp>
      <p:sp>
        <p:nvSpPr>
          <p:cNvPr id="56" name="Logit table 8-3"/>
          <p:cNvSpPr/>
          <p:nvPr/>
        </p:nvSpPr>
        <p:spPr>
          <a:xfrm>
            <a:off x="4114800" y="3474720"/>
            <a:ext cx="109728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Logit table text 8-3"/>
          <p:cNvSpPr txBox="1"/>
          <p:nvPr/>
        </p:nvSpPr>
        <p:spPr>
          <a:xfrm>
            <a:off x="4206240" y="3474720"/>
            <a:ext cx="886968" cy="292608"/>
          </a:xfrm>
          <a:prstGeom prst="rect">
            <a:avLst/>
          </a:prstGeom>
          <a:noFill/>
        </p:spPr>
        <p:txBody>
          <a:bodyPr wrap="square" lIns="0" rIns="0" tIns="0" bIns="0" anchor="ctr">
            <a:noAutofit/>
          </a:bodyPr>
          <a:lstStyle/>
          <a:p>
            <a:pPr algn="r">
              <a:spcAft>
                <a:spcPts val="400"/>
              </a:spcAft>
            </a:pPr>
            <a:r>
              <a:rPr sz="1150" b="0" lang="en-GB">
                <a:solidFill>
                  <a:schemeClr val="tx1"/>
                </a:solidFill>
              </a:rPr>
              <a:t>1.86</a:t>
            </a:r>
          </a:p>
        </p:txBody>
      </p:sp>
      <p:sp>
        <p:nvSpPr>
          <p:cNvPr id="58" name="Table badge 1"/>
          <p:cNvSpPr/>
          <p:nvPr/>
        </p:nvSpPr>
        <p:spPr>
          <a:xfrm>
            <a:off x="475488" y="1563624"/>
            <a:ext cx="274320" cy="2743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lang="en-GB">
                <a:solidFill>
                  <a:schemeClr val="bg1"/>
                </a:solidFill>
              </a:rPr>
              <a:t>1</a:t>
            </a:r>
          </a:p>
        </p:txBody>
      </p:sp>
      <p:sp>
        <p:nvSpPr>
          <p:cNvPr id="59" name="Table badge 2"/>
          <p:cNvSpPr/>
          <p:nvPr/>
        </p:nvSpPr>
        <p:spPr>
          <a:xfrm>
            <a:off x="475488" y="2203704"/>
            <a:ext cx="274320" cy="2743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lang="en-GB">
                <a:solidFill>
                  <a:schemeClr val="bg1"/>
                </a:solidFill>
              </a:rPr>
              <a:t>2</a:t>
            </a:r>
          </a:p>
        </p:txBody>
      </p:sp>
      <p:sp>
        <p:nvSpPr>
          <p:cNvPr id="60" name="Table badge 3"/>
          <p:cNvSpPr/>
          <p:nvPr/>
        </p:nvSpPr>
        <p:spPr>
          <a:xfrm>
            <a:off x="475488" y="3163824"/>
            <a:ext cx="274320" cy="2743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lang="en-GB">
                <a:solidFill>
                  <a:schemeClr val="bg1"/>
                </a:solidFill>
              </a:rPr>
              <a:t>3</a:t>
            </a:r>
          </a:p>
        </p:txBody>
      </p:sp>
      <p:sp>
        <p:nvSpPr>
          <p:cNvPr id="61" name="Table reading row 1"/>
          <p:cNvSpPr/>
          <p:nvPr/>
        </p:nvSpPr>
        <p:spPr>
          <a:xfrm>
            <a:off x="5349240" y="1234440"/>
            <a:ext cx="3337560" cy="7711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able reading number 1"/>
          <p:cNvSpPr/>
          <p:nvPr/>
        </p:nvSpPr>
        <p:spPr>
          <a:xfrm>
            <a:off x="5486400" y="146456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63" name="Table reading text 1"/>
          <p:cNvSpPr txBox="1"/>
          <p:nvPr/>
        </p:nvSpPr>
        <p:spPr>
          <a:xfrm>
            <a:off x="5943600" y="1234440"/>
            <a:ext cx="2606040" cy="771144"/>
          </a:xfrm>
          <a:prstGeom prst="rect">
            <a:avLst/>
          </a:prstGeom>
          <a:noFill/>
        </p:spPr>
        <p:txBody>
          <a:bodyPr wrap="square" lIns="0" rIns="0" tIns="0" bIns="0" anchor="ctr">
            <a:noAutofit/>
          </a:bodyPr>
          <a:lstStyle/>
          <a:p>
            <a:pPr algn="l">
              <a:spcAft>
                <a:spcPts val="400"/>
              </a:spcAft>
            </a:pPr>
            <a:r>
              <a:rPr sz="1200" b="1" lang="en-GB">
                <a:solidFill>
                  <a:schemeClr val="tx2"/>
                </a:solidFill>
              </a:rPr>
              <a:t>Contract, OR 2.62: </a:t>
            </a:r>
            <a:r>
              <a:rPr sz="1200" b="0" lang="en-GB">
                <a:solidFill>
                  <a:schemeClr val="tx1"/>
                </a:solidFill>
              </a:rPr>
              <a:t>month-to-month multiplies the odds of churn by 2.6</a:t>
            </a:r>
          </a:p>
        </p:txBody>
      </p:sp>
      <p:sp>
        <p:nvSpPr>
          <p:cNvPr id="64" name="Table reading row 2"/>
          <p:cNvSpPr/>
          <p:nvPr/>
        </p:nvSpPr>
        <p:spPr>
          <a:xfrm>
            <a:off x="5349240" y="2115312"/>
            <a:ext cx="3337560" cy="7711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able reading number 2"/>
          <p:cNvSpPr/>
          <p:nvPr/>
        </p:nvSpPr>
        <p:spPr>
          <a:xfrm>
            <a:off x="5486400" y="23454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66" name="Table reading text 2"/>
          <p:cNvSpPr txBox="1"/>
          <p:nvPr/>
        </p:nvSpPr>
        <p:spPr>
          <a:xfrm>
            <a:off x="5943600" y="2115312"/>
            <a:ext cx="2606040" cy="771144"/>
          </a:xfrm>
          <a:prstGeom prst="rect">
            <a:avLst/>
          </a:prstGeom>
          <a:noFill/>
        </p:spPr>
        <p:txBody>
          <a:bodyPr wrap="square" lIns="0" rIns="0" tIns="0" bIns="0" anchor="ctr">
            <a:noAutofit/>
          </a:bodyPr>
          <a:lstStyle/>
          <a:p>
            <a:pPr algn="l">
              <a:spcAft>
                <a:spcPts val="400"/>
              </a:spcAft>
            </a:pPr>
            <a:r>
              <a:rPr sz="1200" b="1" lang="en-GB">
                <a:solidFill>
                  <a:schemeClr val="tx2"/>
                </a:solidFill>
              </a:rPr>
              <a:t>Complaints, OR 1.57: </a:t>
            </a:r>
            <a:r>
              <a:rPr sz="1200" b="0" lang="en-GB">
                <a:solidFill>
                  <a:schemeClr val="tx1"/>
                </a:solidFill>
              </a:rPr>
              <a:t>each call raises the odds by 57 %</a:t>
            </a:r>
          </a:p>
        </p:txBody>
      </p:sp>
      <p:sp>
        <p:nvSpPr>
          <p:cNvPr id="67" name="Table reading row 3"/>
          <p:cNvSpPr/>
          <p:nvPr/>
        </p:nvSpPr>
        <p:spPr>
          <a:xfrm>
            <a:off x="5349240" y="2996184"/>
            <a:ext cx="3337560" cy="7711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able reading number 3"/>
          <p:cNvSpPr/>
          <p:nvPr/>
        </p:nvSpPr>
        <p:spPr>
          <a:xfrm>
            <a:off x="5486400" y="322630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69" name="Table reading text 3"/>
          <p:cNvSpPr txBox="1"/>
          <p:nvPr/>
        </p:nvSpPr>
        <p:spPr>
          <a:xfrm>
            <a:off x="5943600" y="2996184"/>
            <a:ext cx="2606040" cy="771144"/>
          </a:xfrm>
          <a:prstGeom prst="rect">
            <a:avLst/>
          </a:prstGeom>
          <a:noFill/>
        </p:spPr>
        <p:txBody>
          <a:bodyPr wrap="square" lIns="0" rIns="0" tIns="0" bIns="0" anchor="ctr">
            <a:noAutofit/>
          </a:bodyPr>
          <a:lstStyle/>
          <a:p>
            <a:pPr algn="l">
              <a:spcAft>
                <a:spcPts val="400"/>
              </a:spcAft>
            </a:pPr>
            <a:r>
              <a:rPr sz="1200" b="1" lang="en-GB">
                <a:solidFill>
                  <a:schemeClr val="tx2"/>
                </a:solidFill>
              </a:rPr>
              <a:t>Spain, OR 2.88: </a:t>
            </a:r>
            <a:r>
              <a:rPr sz="1200" b="0" lang="en-GB">
                <a:solidFill>
                  <a:schemeClr val="tx1"/>
                </a:solidFill>
              </a:rPr>
              <a:t>higher churn odds than Germany at equal drivers</a:t>
            </a:r>
          </a:p>
        </p:txBody>
      </p:sp>
      <p:sp>
        <p:nvSpPr>
          <p:cNvPr id="70" name="Table callout box"/>
          <p:cNvSpPr/>
          <p:nvPr/>
        </p:nvSpPr>
        <p:spPr>
          <a:xfrm>
            <a:off x="457200" y="3995928"/>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able callout text"/>
          <p:cNvSpPr txBox="1"/>
          <p:nvPr/>
        </p:nvSpPr>
        <p:spPr>
          <a:xfrm>
            <a:off x="658368" y="3995928"/>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Above 1 raises the odds, below 1 lowers them; </a:t>
            </a:r>
            <a:r>
              <a:rPr sz="1250" b="0" lang="en-GB">
                <a:solidFill>
                  <a:schemeClr val="bg1"/>
                </a:solidFill>
              </a:rPr>
              <a:t>percentage points come next.</a:t>
            </a:r>
          </a:p>
        </p:txBody>
      </p:sp>
      <p:sp>
        <p:nvSpPr>
          <p:cNvPr id="7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(telco_churn.csv); one logit for all countries, Germany = reference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Three numbers to report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umber card 1 body"/>
          <p:cNvSpPr/>
          <p:nvPr/>
        </p:nvSpPr>
        <p:spPr>
          <a:xfrm>
            <a:off x="457200" y="169164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umber card 1 header"/>
          <p:cNvSpPr/>
          <p:nvPr/>
        </p:nvSpPr>
        <p:spPr>
          <a:xfrm>
            <a:off x="457200" y="1234440"/>
            <a:ext cx="26517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Number card 1 heading"/>
          <p:cNvSpPr txBox="1"/>
          <p:nvPr/>
        </p:nvSpPr>
        <p:spPr>
          <a:xfrm>
            <a:off x="594360" y="1234440"/>
            <a:ext cx="201168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Odds ratio</a:t>
            </a:r>
          </a:p>
        </p:txBody>
      </p:sp>
      <p:pic>
        <p:nvPicPr>
          <p:cNvPr id="13" name="Icon Number card 1" descr=""/>
          <p:cNvPicPr>
            <a:picLocks noChangeAspect="1"/>
          </p:cNvPicPr>
          <p:nvPr/>
        </p:nvPicPr>
        <p:blipFill>
          <a:blip r:embed="rId3"/>
          <a:stretch>
            <a:fillRect/>
          </a:stretch>
        </p:blipFill>
        <p:spPr>
          <a:xfrm>
            <a:off x="2670048" y="1307592"/>
            <a:ext cx="310896" cy="310896"/>
          </a:xfrm>
          <a:prstGeom prst="rect">
            <a:avLst/>
          </a:prstGeom>
        </p:spPr>
      </p:pic>
      <p:sp>
        <p:nvSpPr>
          <p:cNvPr id="14" name="Number card 1 text"/>
          <p:cNvSpPr txBox="1"/>
          <p:nvPr/>
        </p:nvSpPr>
        <p:spPr>
          <a:xfrm>
            <a:off x="621792" y="1828800"/>
            <a:ext cx="2350008" cy="731520"/>
          </a:xfrm>
          <a:prstGeom prst="rect">
            <a:avLst/>
          </a:prstGeom>
          <a:noFill/>
        </p:spPr>
        <p:txBody>
          <a:bodyPr wrap="square" lIns="0" rIns="0" tIns="0" bIns="0" anchor="t">
            <a:noAutofit/>
          </a:bodyPr>
          <a:lstStyle/>
          <a:p>
            <a:pPr algn="l">
              <a:spcAft>
                <a:spcPts val="200"/>
              </a:spcAft>
            </a:pPr>
            <a:r>
              <a:rPr sz="1300" b="1" lang="en-GB">
                <a:solidFill>
                  <a:schemeClr val="tx2"/>
                </a:solidFill>
              </a:rPr>
              <a:t>Multiplies </a:t>
            </a:r>
            <a:r>
              <a:rPr sz="1300" b="0" lang="en-GB">
                <a:solidFill>
                  <a:schemeClr val="tx1"/>
                </a:solidFill>
              </a:rPr>
              <a:t>the odds of churn</a:t>
            </a:r>
          </a:p>
          <a:p>
            <a:pPr algn="l">
              <a:spcAft>
                <a:spcPts val="200"/>
              </a:spcAft>
            </a:pPr>
            <a:r>
              <a:rPr sz="1300" b="1" lang="en-GB">
                <a:solidFill>
                  <a:schemeClr val="tx2"/>
                </a:solidFill>
              </a:rPr>
              <a:t>Use: </a:t>
            </a:r>
            <a:r>
              <a:rPr sz="1300" b="0" lang="en-GB">
                <a:solidFill>
                  <a:schemeClr val="tx1"/>
                </a:solidFill>
              </a:rPr>
              <a:t>inside one model</a:t>
            </a:r>
          </a:p>
        </p:txBody>
      </p:sp>
      <p:sp>
        <p:nvSpPr>
          <p:cNvPr id="15" name="Number card 1 figure"/>
          <p:cNvSpPr txBox="1"/>
          <p:nvPr/>
        </p:nvSpPr>
        <p:spPr>
          <a:xfrm>
            <a:off x="621792" y="2560320"/>
            <a:ext cx="2350008" cy="1097280"/>
          </a:xfrm>
          <a:prstGeom prst="rect">
            <a:avLst/>
          </a:prstGeom>
          <a:noFill/>
        </p:spPr>
        <p:txBody>
          <a:bodyPr wrap="square" lIns="0" rIns="0" tIns="0" bIns="0" anchor="b">
            <a:noAutofit/>
          </a:bodyPr>
          <a:lstStyle/>
          <a:p>
            <a:pPr algn="l">
              <a:spcAft>
                <a:spcPts val="200"/>
              </a:spcAft>
            </a:pPr>
            <a:r>
              <a:rPr sz="2800" b="1" lang="en-GB">
                <a:solidFill>
                  <a:schemeClr val="tx2"/>
                </a:solidFill>
                <a:latin typeface="+mj-lt"/>
              </a:rPr>
              <a:t>2.62</a:t>
            </a:r>
          </a:p>
          <a:p>
            <a:pPr algn="l">
              <a:spcAft>
                <a:spcPts val="200"/>
              </a:spcAft>
            </a:pPr>
            <a:r>
              <a:rPr sz="1100" b="0" lang="en-GB">
                <a:solidFill>
                  <a:srgbClr val="595959"/>
                </a:solidFill>
              </a:rPr>
              <a:t>month-to-month</a:t>
            </a:r>
          </a:p>
        </p:txBody>
      </p:sp>
      <p:sp>
        <p:nvSpPr>
          <p:cNvPr id="16" name="Number card 2 body"/>
          <p:cNvSpPr/>
          <p:nvPr/>
        </p:nvSpPr>
        <p:spPr>
          <a:xfrm>
            <a:off x="3246120" y="169164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umber card 2 header"/>
          <p:cNvSpPr/>
          <p:nvPr/>
        </p:nvSpPr>
        <p:spPr>
          <a:xfrm>
            <a:off x="3246120" y="1234440"/>
            <a:ext cx="26517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Number card 2 heading"/>
          <p:cNvSpPr txBox="1"/>
          <p:nvPr/>
        </p:nvSpPr>
        <p:spPr>
          <a:xfrm>
            <a:off x="3383280" y="1234440"/>
            <a:ext cx="201168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Marginal effect</a:t>
            </a:r>
          </a:p>
        </p:txBody>
      </p:sp>
      <p:pic>
        <p:nvPicPr>
          <p:cNvPr id="19" name="Icon Number card 2" descr=""/>
          <p:cNvPicPr>
            <a:picLocks noChangeAspect="1"/>
          </p:cNvPicPr>
          <p:nvPr/>
        </p:nvPicPr>
        <p:blipFill>
          <a:blip r:embed="rId4"/>
          <a:stretch>
            <a:fillRect/>
          </a:stretch>
        </p:blipFill>
        <p:spPr>
          <a:xfrm>
            <a:off x="5458968" y="1307592"/>
            <a:ext cx="310896" cy="310896"/>
          </a:xfrm>
          <a:prstGeom prst="rect">
            <a:avLst/>
          </a:prstGeom>
        </p:spPr>
      </p:pic>
      <p:sp>
        <p:nvSpPr>
          <p:cNvPr id="20" name="Number card 2 text"/>
          <p:cNvSpPr txBox="1"/>
          <p:nvPr/>
        </p:nvSpPr>
        <p:spPr>
          <a:xfrm>
            <a:off x="3410712" y="1828800"/>
            <a:ext cx="2350008" cy="731520"/>
          </a:xfrm>
          <a:prstGeom prst="rect">
            <a:avLst/>
          </a:prstGeom>
          <a:noFill/>
        </p:spPr>
        <p:txBody>
          <a:bodyPr wrap="square" lIns="0" rIns="0" tIns="0" bIns="0" anchor="t">
            <a:noAutofit/>
          </a:bodyPr>
          <a:lstStyle/>
          <a:p>
            <a:pPr algn="l">
              <a:spcAft>
                <a:spcPts val="200"/>
              </a:spcAft>
            </a:pPr>
            <a:r>
              <a:rPr sz="1300" b="1" lang="en-GB">
                <a:solidFill>
                  <a:schemeClr val="tx2"/>
                </a:solidFill>
              </a:rPr>
              <a:t>Change </a:t>
            </a:r>
            <a:r>
              <a:rPr sz="1300" b="0" lang="en-GB">
                <a:solidFill>
                  <a:schemeClr val="tx1"/>
                </a:solidFill>
              </a:rPr>
              <a:t>in churn probability, in pp</a:t>
            </a:r>
          </a:p>
          <a:p>
            <a:pPr algn="l">
              <a:spcAft>
                <a:spcPts val="200"/>
              </a:spcAft>
            </a:pPr>
            <a:r>
              <a:rPr sz="1300" b="1" lang="en-GB">
                <a:solidFill>
                  <a:schemeClr val="tx2"/>
                </a:solidFill>
              </a:rPr>
              <a:t>Use: </a:t>
            </a:r>
            <a:r>
              <a:rPr sz="1300" b="0" lang="en-GB">
                <a:solidFill>
                  <a:schemeClr val="tx1"/>
                </a:solidFill>
              </a:rPr>
              <a:t>compare countries</a:t>
            </a:r>
          </a:p>
        </p:txBody>
      </p:sp>
      <p:sp>
        <p:nvSpPr>
          <p:cNvPr id="21" name="Number card 2 figure"/>
          <p:cNvSpPr txBox="1"/>
          <p:nvPr/>
        </p:nvSpPr>
        <p:spPr>
          <a:xfrm>
            <a:off x="3410712" y="2560320"/>
            <a:ext cx="2350008" cy="1097280"/>
          </a:xfrm>
          <a:prstGeom prst="rect">
            <a:avLst/>
          </a:prstGeom>
          <a:noFill/>
        </p:spPr>
        <p:txBody>
          <a:bodyPr wrap="square" lIns="0" rIns="0" tIns="0" bIns="0" anchor="b">
            <a:noAutofit/>
          </a:bodyPr>
          <a:lstStyle/>
          <a:p>
            <a:pPr algn="l">
              <a:spcAft>
                <a:spcPts val="200"/>
              </a:spcAft>
            </a:pPr>
            <a:r>
              <a:rPr sz="2800" b="1" lang="en-GB">
                <a:solidFill>
                  <a:schemeClr val="tx2"/>
                </a:solidFill>
                <a:latin typeface="+mj-lt"/>
              </a:rPr>
              <a:t>+15.6 pp</a:t>
            </a:r>
          </a:p>
          <a:p>
            <a:pPr algn="l">
              <a:spcAft>
                <a:spcPts val="200"/>
              </a:spcAft>
            </a:pPr>
            <a:r>
              <a:rPr sz="1100" b="0" lang="en-GB">
                <a:solidFill>
                  <a:srgbClr val="595959"/>
                </a:solidFill>
              </a:rPr>
              <a:t>month-to-month, on average</a:t>
            </a:r>
          </a:p>
        </p:txBody>
      </p:sp>
      <p:sp>
        <p:nvSpPr>
          <p:cNvPr id="22" name="Number card 3 body"/>
          <p:cNvSpPr/>
          <p:nvPr/>
        </p:nvSpPr>
        <p:spPr>
          <a:xfrm>
            <a:off x="6035040" y="169164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Number card 3 header"/>
          <p:cNvSpPr/>
          <p:nvPr/>
        </p:nvSpPr>
        <p:spPr>
          <a:xfrm>
            <a:off x="6035040" y="1234440"/>
            <a:ext cx="26517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Number card 3 heading"/>
          <p:cNvSpPr txBox="1"/>
          <p:nvPr/>
        </p:nvSpPr>
        <p:spPr>
          <a:xfrm>
            <a:off x="6172200" y="1234440"/>
            <a:ext cx="2011680" cy="45720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Prediction</a:t>
            </a:r>
          </a:p>
        </p:txBody>
      </p:sp>
      <p:pic>
        <p:nvPicPr>
          <p:cNvPr id="25" name="Icon Number card 3" descr=""/>
          <p:cNvPicPr>
            <a:picLocks noChangeAspect="1"/>
          </p:cNvPicPr>
          <p:nvPr/>
        </p:nvPicPr>
        <p:blipFill>
          <a:blip r:embed="rId5"/>
          <a:stretch>
            <a:fillRect/>
          </a:stretch>
        </p:blipFill>
        <p:spPr>
          <a:xfrm>
            <a:off x="8247888" y="1307592"/>
            <a:ext cx="310896" cy="310896"/>
          </a:xfrm>
          <a:prstGeom prst="rect">
            <a:avLst/>
          </a:prstGeom>
        </p:spPr>
      </p:pic>
      <p:sp>
        <p:nvSpPr>
          <p:cNvPr id="26" name="Number card 3 text"/>
          <p:cNvSpPr txBox="1"/>
          <p:nvPr/>
        </p:nvSpPr>
        <p:spPr>
          <a:xfrm>
            <a:off x="6199632" y="1828800"/>
            <a:ext cx="2350008" cy="731520"/>
          </a:xfrm>
          <a:prstGeom prst="rect">
            <a:avLst/>
          </a:prstGeom>
          <a:noFill/>
        </p:spPr>
        <p:txBody>
          <a:bodyPr wrap="square" lIns="0" rIns="0" tIns="0" bIns="0" anchor="t">
            <a:noAutofit/>
          </a:bodyPr>
          <a:lstStyle/>
          <a:p>
            <a:pPr algn="l">
              <a:spcAft>
                <a:spcPts val="200"/>
              </a:spcAft>
            </a:pPr>
            <a:r>
              <a:rPr sz="1300" b="1" lang="en-GB">
                <a:solidFill>
                  <a:schemeClr val="tx2"/>
                </a:solidFill>
              </a:rPr>
              <a:t>Churn probability </a:t>
            </a:r>
            <a:r>
              <a:rPr sz="1300" b="0" lang="en-GB">
                <a:solidFill>
                  <a:schemeClr val="tx1"/>
                </a:solidFill>
              </a:rPr>
              <a:t>of one profile</a:t>
            </a:r>
          </a:p>
          <a:p>
            <a:pPr algn="l">
              <a:spcAft>
                <a:spcPts val="200"/>
              </a:spcAft>
            </a:pPr>
            <a:r>
              <a:rPr sz="1300" b="1" lang="en-GB">
                <a:solidFill>
                  <a:schemeClr val="tx2"/>
                </a:solidFill>
              </a:rPr>
              <a:t>Use: </a:t>
            </a:r>
            <a:r>
              <a:rPr sz="1300" b="0" lang="en-GB">
                <a:solidFill>
                  <a:schemeClr val="tx1"/>
                </a:solidFill>
              </a:rPr>
              <a:t>talk to managers</a:t>
            </a:r>
          </a:p>
        </p:txBody>
      </p:sp>
      <p:sp>
        <p:nvSpPr>
          <p:cNvPr id="27" name="Number card 3 figure"/>
          <p:cNvSpPr txBox="1"/>
          <p:nvPr/>
        </p:nvSpPr>
        <p:spPr>
          <a:xfrm>
            <a:off x="6199632" y="2560320"/>
            <a:ext cx="2350008" cy="1097280"/>
          </a:xfrm>
          <a:prstGeom prst="rect">
            <a:avLst/>
          </a:prstGeom>
          <a:noFill/>
        </p:spPr>
        <p:txBody>
          <a:bodyPr wrap="square" lIns="0" rIns="0" tIns="0" bIns="0" anchor="b">
            <a:noAutofit/>
          </a:bodyPr>
          <a:lstStyle/>
          <a:p>
            <a:pPr algn="l">
              <a:spcAft>
                <a:spcPts val="200"/>
              </a:spcAft>
            </a:pPr>
            <a:r>
              <a:rPr sz="2000" b="1" lang="en-GB">
                <a:solidFill>
                  <a:schemeClr val="tx2"/>
                </a:solidFill>
                <a:latin typeface="+mj-lt"/>
              </a:rPr>
              <a:t>DE 38.1 %</a:t>
            </a:r>
          </a:p>
          <a:p>
            <a:pPr algn="l">
              <a:spcAft>
                <a:spcPts val="200"/>
              </a:spcAft>
            </a:pPr>
            <a:r>
              <a:rPr sz="1100" b="0" lang="en-GB">
                <a:solidFill>
                  <a:srgbClr val="595959"/>
                </a:solidFill>
              </a:rPr>
              <a:t>95 % CI 34.1–42.2 %</a:t>
            </a:r>
          </a:p>
          <a:p>
            <a:pPr algn="l">
              <a:spcAft>
                <a:spcPts val="200"/>
              </a:spcAft>
            </a:pPr>
            <a:r>
              <a:rPr sz="2000" b="1" lang="en-GB">
                <a:solidFill>
                  <a:schemeClr val="tx2"/>
                </a:solidFill>
                <a:latin typeface="+mj-lt"/>
              </a:rPr>
              <a:t>ES 58.0 %</a:t>
            </a:r>
          </a:p>
          <a:p>
            <a:pPr algn="l">
              <a:spcAft>
                <a:spcPts val="200"/>
              </a:spcAft>
            </a:pPr>
            <a:r>
              <a:rPr sz="1100" b="0" lang="en-GB">
                <a:solidFill>
                  <a:srgbClr val="595959"/>
                </a:solidFill>
              </a:rPr>
              <a:t>95 % CI 54.0–62.0 %</a:t>
            </a:r>
          </a:p>
        </p:txBody>
      </p:sp>
      <p:sp>
        <p:nvSpPr>
          <p:cNvPr id="28" name="Numbers callout box"/>
          <p:cNvSpPr/>
          <p:nvPr/>
        </p:nvSpPr>
        <p:spPr>
          <a:xfrm>
            <a:off x="457200" y="397764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Numbers callout text"/>
          <p:cNvSpPr txBox="1"/>
          <p:nvPr/>
        </p:nvSpPr>
        <p:spPr>
          <a:xfrm>
            <a:off x="658368" y="397764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Report percentage points and probabilities; </a:t>
            </a:r>
            <a:r>
              <a:rPr sz="1250" b="0" lang="en-GB">
                <a:solidFill>
                  <a:schemeClr val="bg1"/>
                </a:solidFill>
              </a:rPr>
              <a:t>keep odds ratios in the table.</a:t>
            </a:r>
          </a:p>
        </p:txBody>
      </p:sp>
      <p:sp>
        <p:nvSpPr>
          <p:cNvPr id="30"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(telco_churn.csv); prediction: month-to-month, price rise, one complaint, 12 months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6 · coefficients, probabilities, survey scores</a:t>
            </a:r>
          </a:p>
        </p:txBody>
      </p:sp>
      <p:sp>
        <p:nvSpPr>
          <p:cNvPr id="3" name="Title 2"/>
          <p:cNvSpPr>
            <a:spLocks noGrp="1"/>
          </p:cNvSpPr>
          <p:nvPr>
            <p:ph type="ctrTitle"/>
          </p:nvPr>
        </p:nvSpPr>
        <p:spPr/>
        <p:txBody>
          <a:bodyPr/>
          <a:lstStyle/>
          <a:p>
            <a:r>
              <a:rPr lang="en-GB"/>
              <a:t>Comparing countries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puzzle: where does the contract matter more?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uzzle box"/>
          <p:cNvSpPr/>
          <p:nvPr/>
        </p:nvSpPr>
        <p:spPr>
          <a:xfrm>
            <a:off x="457200" y="1234440"/>
            <a:ext cx="3931920" cy="33832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uzzle text"/>
          <p:cNvSpPr txBox="1"/>
          <p:nvPr/>
        </p:nvSpPr>
        <p:spPr>
          <a:xfrm>
            <a:off x="731520" y="1234440"/>
            <a:ext cx="3429000" cy="3383280"/>
          </a:xfrm>
          <a:prstGeom prst="rect">
            <a:avLst/>
          </a:prstGeom>
          <a:noFill/>
        </p:spPr>
        <p:txBody>
          <a:bodyPr wrap="square" lIns="0" rIns="0" tIns="0" bIns="0" anchor="ctr">
            <a:noAutofit/>
          </a:bodyPr>
          <a:lstStyle/>
          <a:p>
            <a:pPr algn="l">
              <a:spcAft>
                <a:spcPts val="400"/>
              </a:spcAft>
            </a:pPr>
            <a:r>
              <a:rPr sz="1400" b="1" lang="en-GB">
                <a:solidFill>
                  <a:schemeClr val="bg1"/>
                </a:solidFill>
              </a:rPr>
              <a:t>One logit per country:</a:t>
            </a:r>
          </a:p>
          <a:p>
            <a:pPr algn="l">
              <a:spcAft>
                <a:spcPts val="400"/>
              </a:spcAft>
            </a:pPr>
            <a:r>
              <a:rPr sz="1400" b="0" lang="en-GB">
                <a:solidFill>
                  <a:schemeClr val="bg1"/>
                </a:solidFill>
              </a:rPr>
              <a:t>month-to-month coefficient</a:t>
            </a:r>
          </a:p>
          <a:p>
            <a:pPr algn="l">
              <a:spcAft>
                <a:spcPts val="400"/>
              </a:spcAft>
            </a:pPr>
            <a:r>
              <a:rPr sz="800" b="0" lang="en-GB">
                <a:solidFill>
                  <a:schemeClr val="tx1"/>
                </a:solidFill>
              </a:rPr>
              <a:t> </a:t>
            </a:r>
          </a:p>
          <a:p>
            <a:pPr algn="l">
              <a:spcAft>
                <a:spcPts val="400"/>
              </a:spcAft>
            </a:pPr>
            <a:r>
              <a:rPr sz="2400" b="1" lang="en-GB">
                <a:solidFill>
                  <a:schemeClr val="bg1"/>
                </a:solidFill>
                <a:latin typeface="+mj-lt"/>
              </a:rPr>
              <a:t>Germany  1.19</a:t>
            </a:r>
          </a:p>
          <a:p>
            <a:pPr algn="l">
              <a:spcAft>
                <a:spcPts val="400"/>
              </a:spcAft>
            </a:pPr>
            <a:r>
              <a:rPr sz="2400" b="1" lang="en-GB">
                <a:solidFill>
                  <a:schemeClr val="bg1"/>
                </a:solidFill>
                <a:latin typeface="+mj-lt"/>
              </a:rPr>
              <a:t>Spain  0.81</a:t>
            </a:r>
          </a:p>
        </p:txBody>
      </p:sp>
      <p:sp>
        <p:nvSpPr>
          <p:cNvPr id="12" name="Puzzle question 1 tile"/>
          <p:cNvSpPr/>
          <p:nvPr/>
        </p:nvSpPr>
        <p:spPr>
          <a:xfrm>
            <a:off x="4526280" y="1234440"/>
            <a:ext cx="4160520" cy="1036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Puzzle question 1" descr=""/>
          <p:cNvPicPr>
            <a:picLocks noChangeAspect="1"/>
          </p:cNvPicPr>
          <p:nvPr/>
        </p:nvPicPr>
        <p:blipFill>
          <a:blip r:embed="rId3"/>
          <a:stretch>
            <a:fillRect/>
          </a:stretch>
        </p:blipFill>
        <p:spPr>
          <a:xfrm>
            <a:off x="4709160" y="1569720"/>
            <a:ext cx="365760" cy="365760"/>
          </a:xfrm>
          <a:prstGeom prst="rect">
            <a:avLst/>
          </a:prstGeom>
        </p:spPr>
      </p:pic>
      <p:sp>
        <p:nvSpPr>
          <p:cNvPr id="14" name="Puzzle question 1 text"/>
          <p:cNvSpPr txBox="1"/>
          <p:nvPr/>
        </p:nvSpPr>
        <p:spPr>
          <a:xfrm>
            <a:off x="5257800" y="1234440"/>
            <a:ext cx="3291840" cy="1036320"/>
          </a:xfrm>
          <a:prstGeom prst="rect">
            <a:avLst/>
          </a:prstGeom>
          <a:noFill/>
        </p:spPr>
        <p:txBody>
          <a:bodyPr wrap="square" lIns="0" rIns="0" tIns="0" bIns="0" anchor="ctr">
            <a:noAutofit/>
          </a:bodyPr>
          <a:lstStyle/>
          <a:p>
            <a:pPr algn="l">
              <a:spcAft>
                <a:spcPts val="300"/>
              </a:spcAft>
            </a:pPr>
            <a:r>
              <a:rPr sz="1300" b="1" lang="en-GB">
                <a:solidFill>
                  <a:schemeClr val="tx2"/>
                </a:solidFill>
              </a:rPr>
              <a:t>Does the contract matter more in Germany?</a:t>
            </a:r>
          </a:p>
          <a:p>
            <a:pPr algn="l">
              <a:spcAft>
                <a:spcPts val="300"/>
              </a:spcAft>
            </a:pPr>
            <a:r>
              <a:rPr sz="1300" b="0" lang="en-GB">
                <a:solidFill>
                  <a:srgbClr val="595959"/>
                </a:solidFill>
              </a:rPr>
              <a:t>Show of hands: yes or no?</a:t>
            </a:r>
          </a:p>
        </p:txBody>
      </p:sp>
      <p:sp>
        <p:nvSpPr>
          <p:cNvPr id="15" name="Puzzle question 2 tile"/>
          <p:cNvSpPr/>
          <p:nvPr/>
        </p:nvSpPr>
        <p:spPr>
          <a:xfrm>
            <a:off x="4526280" y="2407920"/>
            <a:ext cx="4160520" cy="1036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Puzzle question 2" descr=""/>
          <p:cNvPicPr>
            <a:picLocks noChangeAspect="1"/>
          </p:cNvPicPr>
          <p:nvPr/>
        </p:nvPicPr>
        <p:blipFill>
          <a:blip r:embed="rId4"/>
          <a:stretch>
            <a:fillRect/>
          </a:stretch>
        </p:blipFill>
        <p:spPr>
          <a:xfrm>
            <a:off x="4709160" y="2743200"/>
            <a:ext cx="365760" cy="365760"/>
          </a:xfrm>
          <a:prstGeom prst="rect">
            <a:avLst/>
          </a:prstGeom>
        </p:spPr>
      </p:pic>
      <p:sp>
        <p:nvSpPr>
          <p:cNvPr id="17" name="Puzzle question 2 text"/>
          <p:cNvSpPr txBox="1"/>
          <p:nvPr/>
        </p:nvSpPr>
        <p:spPr>
          <a:xfrm>
            <a:off x="5257800" y="2407920"/>
            <a:ext cx="3291840" cy="1036320"/>
          </a:xfrm>
          <a:prstGeom prst="rect">
            <a:avLst/>
          </a:prstGeom>
          <a:noFill/>
        </p:spPr>
        <p:txBody>
          <a:bodyPr wrap="square" lIns="0" rIns="0" tIns="0" bIns="0" anchor="ctr">
            <a:noAutofit/>
          </a:bodyPr>
          <a:lstStyle/>
          <a:p>
            <a:pPr algn="l">
              <a:spcAft>
                <a:spcPts val="300"/>
              </a:spcAft>
            </a:pPr>
            <a:r>
              <a:rPr sz="1300" b="1" lang="en-GB">
                <a:solidFill>
                  <a:schemeClr val="tx2"/>
                </a:solidFill>
              </a:rPr>
              <a:t>What else differs?</a:t>
            </a:r>
          </a:p>
          <a:p>
            <a:pPr algn="l">
              <a:spcAft>
                <a:spcPts val="300"/>
              </a:spcAft>
            </a:pPr>
            <a:r>
              <a:rPr sz="1300" b="0" lang="en-GB">
                <a:solidFill>
                  <a:srgbClr val="595959"/>
                </a:solidFill>
              </a:rPr>
              <a:t>Churn: 15.4 % in Germany, 34.7 % in Spain</a:t>
            </a:r>
          </a:p>
        </p:txBody>
      </p:sp>
      <p:sp>
        <p:nvSpPr>
          <p:cNvPr id="18" name="Puzzle question 3 tile"/>
          <p:cNvSpPr/>
          <p:nvPr/>
        </p:nvSpPr>
        <p:spPr>
          <a:xfrm>
            <a:off x="4526280" y="3581400"/>
            <a:ext cx="4160520" cy="1036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Puzzle question 3" descr=""/>
          <p:cNvPicPr>
            <a:picLocks noChangeAspect="1"/>
          </p:cNvPicPr>
          <p:nvPr/>
        </p:nvPicPr>
        <p:blipFill>
          <a:blip r:embed="rId5"/>
          <a:stretch>
            <a:fillRect/>
          </a:stretch>
        </p:blipFill>
        <p:spPr>
          <a:xfrm>
            <a:off x="4709160" y="3916680"/>
            <a:ext cx="365760" cy="365760"/>
          </a:xfrm>
          <a:prstGeom prst="rect">
            <a:avLst/>
          </a:prstGeom>
        </p:spPr>
      </p:pic>
      <p:sp>
        <p:nvSpPr>
          <p:cNvPr id="20" name="Puzzle question 3 text"/>
          <p:cNvSpPr txBox="1"/>
          <p:nvPr/>
        </p:nvSpPr>
        <p:spPr>
          <a:xfrm>
            <a:off x="5257800" y="3581400"/>
            <a:ext cx="3291840" cy="1036320"/>
          </a:xfrm>
          <a:prstGeom prst="rect">
            <a:avLst/>
          </a:prstGeom>
          <a:noFill/>
        </p:spPr>
        <p:txBody>
          <a:bodyPr wrap="square" lIns="0" rIns="0" tIns="0" bIns="0" anchor="ctr">
            <a:noAutofit/>
          </a:bodyPr>
          <a:lstStyle/>
          <a:p>
            <a:pPr algn="l">
              <a:spcAft>
                <a:spcPts val="300"/>
              </a:spcAft>
            </a:pPr>
            <a:r>
              <a:rPr sz="1300" b="1" lang="en-GB">
                <a:solidFill>
                  <a:schemeClr val="tx2"/>
                </a:solidFill>
              </a:rPr>
              <a:t>What did slide 12 show?</a:t>
            </a:r>
          </a:p>
          <a:p>
            <a:pPr algn="l">
              <a:spcAft>
                <a:spcPts val="300"/>
              </a:spcAft>
            </a:pPr>
            <a:r>
              <a:rPr sz="1300" b="0" lang="en-GB">
                <a:solidFill>
                  <a:srgbClr val="595959"/>
                </a:solidFill>
              </a:rPr>
              <a:t>Odds ratios and pp can rank countries differently</a:t>
            </a:r>
          </a:p>
        </p:txBody>
      </p:sp>
      <p:sp>
        <p:nvSpPr>
          <p:cNvPr id="2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(telco_churn.csv); one logit per country, four drivers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Same effect, different coefficients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cale table 1-1"/>
          <p:cNvSpPr/>
          <p:nvPr/>
        </p:nvSpPr>
        <p:spPr>
          <a:xfrm>
            <a:off x="457200" y="1234440"/>
            <a:ext cx="125272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cale table text 1-1"/>
          <p:cNvSpPr txBox="1"/>
          <p:nvPr/>
        </p:nvSpPr>
        <p:spPr>
          <a:xfrm>
            <a:off x="548640" y="1234440"/>
            <a:ext cx="1069848" cy="329184"/>
          </a:xfrm>
          <a:prstGeom prst="rect">
            <a:avLst/>
          </a:prstGeom>
          <a:noFill/>
        </p:spPr>
        <p:txBody>
          <a:bodyPr wrap="square" lIns="0" rIns="0" tIns="0" bIns="0" anchor="ctr">
            <a:noAutofit/>
          </a:bodyPr>
          <a:lstStyle/>
          <a:p>
            <a:pPr algn="l">
              <a:spcAft>
                <a:spcPts val="400"/>
              </a:spcAft>
            </a:pPr>
            <a:r>
              <a:rPr sz="1200" b="1" lang="en-GB">
                <a:solidFill>
                  <a:schemeClr val="bg1"/>
                </a:solidFill>
              </a:rPr>
              <a:t>Country</a:t>
            </a:r>
          </a:p>
        </p:txBody>
      </p:sp>
      <p:sp>
        <p:nvSpPr>
          <p:cNvPr id="12" name="Scale table 1-2"/>
          <p:cNvSpPr/>
          <p:nvPr/>
        </p:nvSpPr>
        <p:spPr>
          <a:xfrm>
            <a:off x="1737360" y="1234440"/>
            <a:ext cx="116128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cale table text 1-2"/>
          <p:cNvSpPr txBox="1"/>
          <p:nvPr/>
        </p:nvSpPr>
        <p:spPr>
          <a:xfrm>
            <a:off x="1828800" y="1234440"/>
            <a:ext cx="97840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True effect</a:t>
            </a:r>
          </a:p>
        </p:txBody>
      </p:sp>
      <p:sp>
        <p:nvSpPr>
          <p:cNvPr id="14" name="Scale table 1-3"/>
          <p:cNvSpPr/>
          <p:nvPr/>
        </p:nvSpPr>
        <p:spPr>
          <a:xfrm>
            <a:off x="2926080" y="1234440"/>
            <a:ext cx="116128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cale table text 1-3"/>
          <p:cNvSpPr txBox="1"/>
          <p:nvPr/>
        </p:nvSpPr>
        <p:spPr>
          <a:xfrm>
            <a:off x="3017520" y="1234440"/>
            <a:ext cx="97840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Noise scale</a:t>
            </a:r>
          </a:p>
        </p:txBody>
      </p:sp>
      <p:sp>
        <p:nvSpPr>
          <p:cNvPr id="16" name="Scale table 1-4"/>
          <p:cNvSpPr/>
          <p:nvPr/>
        </p:nvSpPr>
        <p:spPr>
          <a:xfrm>
            <a:off x="4114800" y="1234440"/>
            <a:ext cx="118872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cale table text 1-4"/>
          <p:cNvSpPr txBox="1"/>
          <p:nvPr/>
        </p:nvSpPr>
        <p:spPr>
          <a:xfrm>
            <a:off x="4206240" y="1234440"/>
            <a:ext cx="97840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Coefficient</a:t>
            </a:r>
          </a:p>
        </p:txBody>
      </p:sp>
      <p:sp>
        <p:nvSpPr>
          <p:cNvPr id="18" name="Scale table 2-1"/>
          <p:cNvSpPr/>
          <p:nvPr/>
        </p:nvSpPr>
        <p:spPr>
          <a:xfrm>
            <a:off x="457200" y="1591056"/>
            <a:ext cx="12527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cale table text 2-1"/>
          <p:cNvSpPr txBox="1"/>
          <p:nvPr/>
        </p:nvSpPr>
        <p:spPr>
          <a:xfrm>
            <a:off x="548640" y="1591056"/>
            <a:ext cx="106984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Germany</a:t>
            </a:r>
          </a:p>
        </p:txBody>
      </p:sp>
      <p:sp>
        <p:nvSpPr>
          <p:cNvPr id="20" name="Scale table 2-2"/>
          <p:cNvSpPr/>
          <p:nvPr/>
        </p:nvSpPr>
        <p:spPr>
          <a:xfrm>
            <a:off x="1737360" y="1591056"/>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cale table text 2-2"/>
          <p:cNvSpPr txBox="1"/>
          <p:nvPr/>
        </p:nvSpPr>
        <p:spPr>
          <a:xfrm>
            <a:off x="1828800" y="1591056"/>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1.3</a:t>
            </a:r>
          </a:p>
        </p:txBody>
      </p:sp>
      <p:sp>
        <p:nvSpPr>
          <p:cNvPr id="22" name="Scale table 2-3"/>
          <p:cNvSpPr/>
          <p:nvPr/>
        </p:nvSpPr>
        <p:spPr>
          <a:xfrm>
            <a:off x="2926080" y="1591056"/>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cale table text 2-3"/>
          <p:cNvSpPr txBox="1"/>
          <p:nvPr/>
        </p:nvSpPr>
        <p:spPr>
          <a:xfrm>
            <a:off x="3017520" y="1591056"/>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24" name="Scale table 2-4"/>
          <p:cNvSpPr/>
          <p:nvPr/>
        </p:nvSpPr>
        <p:spPr>
          <a:xfrm>
            <a:off x="4114800" y="1591056"/>
            <a:ext cx="11887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cale table text 2-4"/>
          <p:cNvSpPr txBox="1"/>
          <p:nvPr/>
        </p:nvSpPr>
        <p:spPr>
          <a:xfrm>
            <a:off x="4206240" y="1591056"/>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1.19</a:t>
            </a:r>
          </a:p>
        </p:txBody>
      </p:sp>
      <p:sp>
        <p:nvSpPr>
          <p:cNvPr id="26" name="Scale table 3-1"/>
          <p:cNvSpPr/>
          <p:nvPr/>
        </p:nvSpPr>
        <p:spPr>
          <a:xfrm>
            <a:off x="457200" y="1947672"/>
            <a:ext cx="12527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cale table text 3-1"/>
          <p:cNvSpPr txBox="1"/>
          <p:nvPr/>
        </p:nvSpPr>
        <p:spPr>
          <a:xfrm>
            <a:off x="548640" y="1947672"/>
            <a:ext cx="106984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Austria</a:t>
            </a:r>
          </a:p>
        </p:txBody>
      </p:sp>
      <p:sp>
        <p:nvSpPr>
          <p:cNvPr id="28" name="Scale table 3-2"/>
          <p:cNvSpPr/>
          <p:nvPr/>
        </p:nvSpPr>
        <p:spPr>
          <a:xfrm>
            <a:off x="1737360" y="1947672"/>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cale table text 3-2"/>
          <p:cNvSpPr txBox="1"/>
          <p:nvPr/>
        </p:nvSpPr>
        <p:spPr>
          <a:xfrm>
            <a:off x="1828800" y="1947672"/>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1.3</a:t>
            </a:r>
          </a:p>
        </p:txBody>
      </p:sp>
      <p:sp>
        <p:nvSpPr>
          <p:cNvPr id="30" name="Scale table 3-3"/>
          <p:cNvSpPr/>
          <p:nvPr/>
        </p:nvSpPr>
        <p:spPr>
          <a:xfrm>
            <a:off x="2926080" y="1947672"/>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cale table text 3-3"/>
          <p:cNvSpPr txBox="1"/>
          <p:nvPr/>
        </p:nvSpPr>
        <p:spPr>
          <a:xfrm>
            <a:off x="3017520" y="1947672"/>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a:t>
            </a:r>
          </a:p>
        </p:txBody>
      </p:sp>
      <p:sp>
        <p:nvSpPr>
          <p:cNvPr id="32" name="Scale table 3-4"/>
          <p:cNvSpPr/>
          <p:nvPr/>
        </p:nvSpPr>
        <p:spPr>
          <a:xfrm>
            <a:off x="4114800" y="1947672"/>
            <a:ext cx="11887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cale table text 3-4"/>
          <p:cNvSpPr txBox="1"/>
          <p:nvPr/>
        </p:nvSpPr>
        <p:spPr>
          <a:xfrm>
            <a:off x="4206240" y="1947672"/>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1.02</a:t>
            </a:r>
          </a:p>
        </p:txBody>
      </p:sp>
      <p:sp>
        <p:nvSpPr>
          <p:cNvPr id="34" name="Scale table 4-1"/>
          <p:cNvSpPr/>
          <p:nvPr/>
        </p:nvSpPr>
        <p:spPr>
          <a:xfrm>
            <a:off x="457200" y="2304288"/>
            <a:ext cx="12527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cale table text 4-1"/>
          <p:cNvSpPr txBox="1"/>
          <p:nvPr/>
        </p:nvSpPr>
        <p:spPr>
          <a:xfrm>
            <a:off x="548640" y="2304288"/>
            <a:ext cx="106984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Spain</a:t>
            </a:r>
          </a:p>
        </p:txBody>
      </p:sp>
      <p:sp>
        <p:nvSpPr>
          <p:cNvPr id="36" name="Scale table 4-2"/>
          <p:cNvSpPr/>
          <p:nvPr/>
        </p:nvSpPr>
        <p:spPr>
          <a:xfrm>
            <a:off x="1737360" y="2304288"/>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cale table text 4-2"/>
          <p:cNvSpPr txBox="1"/>
          <p:nvPr/>
        </p:nvSpPr>
        <p:spPr>
          <a:xfrm>
            <a:off x="1828800" y="2304288"/>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1.3</a:t>
            </a:r>
          </a:p>
        </p:txBody>
      </p:sp>
      <p:sp>
        <p:nvSpPr>
          <p:cNvPr id="38" name="Scale table 4-3"/>
          <p:cNvSpPr/>
          <p:nvPr/>
        </p:nvSpPr>
        <p:spPr>
          <a:xfrm>
            <a:off x="2926080" y="2304288"/>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cale table text 4-3"/>
          <p:cNvSpPr txBox="1"/>
          <p:nvPr/>
        </p:nvSpPr>
        <p:spPr>
          <a:xfrm>
            <a:off x="3017520" y="2304288"/>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1.5</a:t>
            </a:r>
          </a:p>
        </p:txBody>
      </p:sp>
      <p:sp>
        <p:nvSpPr>
          <p:cNvPr id="40" name="Scale table 4-4"/>
          <p:cNvSpPr/>
          <p:nvPr/>
        </p:nvSpPr>
        <p:spPr>
          <a:xfrm>
            <a:off x="4114800" y="2304288"/>
            <a:ext cx="11887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cale table text 4-4"/>
          <p:cNvSpPr txBox="1"/>
          <p:nvPr/>
        </p:nvSpPr>
        <p:spPr>
          <a:xfrm>
            <a:off x="4206240" y="2304288"/>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0.81</a:t>
            </a:r>
          </a:p>
        </p:txBody>
      </p:sp>
      <p:sp>
        <p:nvSpPr>
          <p:cNvPr id="42" name="Scale table 5-1"/>
          <p:cNvSpPr/>
          <p:nvPr/>
        </p:nvSpPr>
        <p:spPr>
          <a:xfrm>
            <a:off x="457200" y="2660904"/>
            <a:ext cx="12527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cale table text 5-1"/>
          <p:cNvSpPr txBox="1"/>
          <p:nvPr/>
        </p:nvSpPr>
        <p:spPr>
          <a:xfrm>
            <a:off x="548640" y="2660904"/>
            <a:ext cx="106984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Poland</a:t>
            </a:r>
          </a:p>
        </p:txBody>
      </p:sp>
      <p:sp>
        <p:nvSpPr>
          <p:cNvPr id="44" name="Scale table 5-2"/>
          <p:cNvSpPr/>
          <p:nvPr/>
        </p:nvSpPr>
        <p:spPr>
          <a:xfrm>
            <a:off x="1737360" y="2660904"/>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cale table text 5-2"/>
          <p:cNvSpPr txBox="1"/>
          <p:nvPr/>
        </p:nvSpPr>
        <p:spPr>
          <a:xfrm>
            <a:off x="1828800" y="2660904"/>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1.3</a:t>
            </a:r>
          </a:p>
        </p:txBody>
      </p:sp>
      <p:sp>
        <p:nvSpPr>
          <p:cNvPr id="46" name="Scale table 5-3"/>
          <p:cNvSpPr/>
          <p:nvPr/>
        </p:nvSpPr>
        <p:spPr>
          <a:xfrm>
            <a:off x="2926080" y="2660904"/>
            <a:ext cx="11612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Scale table text 5-3"/>
          <p:cNvSpPr txBox="1"/>
          <p:nvPr/>
        </p:nvSpPr>
        <p:spPr>
          <a:xfrm>
            <a:off x="3017520" y="2660904"/>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1.2</a:t>
            </a:r>
          </a:p>
        </p:txBody>
      </p:sp>
      <p:sp>
        <p:nvSpPr>
          <p:cNvPr id="48" name="Scale table 5-4"/>
          <p:cNvSpPr/>
          <p:nvPr/>
        </p:nvSpPr>
        <p:spPr>
          <a:xfrm>
            <a:off x="4114800" y="2660904"/>
            <a:ext cx="118872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cale table text 5-4"/>
          <p:cNvSpPr txBox="1"/>
          <p:nvPr/>
        </p:nvSpPr>
        <p:spPr>
          <a:xfrm>
            <a:off x="4206240" y="2660904"/>
            <a:ext cx="97840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0.90</a:t>
            </a:r>
          </a:p>
        </p:txBody>
      </p:sp>
      <p:sp>
        <p:nvSpPr>
          <p:cNvPr id="50" name="Scale formula caption bar"/>
          <p:cNvSpPr/>
          <p:nvPr/>
        </p:nvSpPr>
        <p:spPr>
          <a:xfrm>
            <a:off x="5486400" y="1234440"/>
            <a:ext cx="32004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cale formula caption"/>
          <p:cNvSpPr txBox="1"/>
          <p:nvPr/>
        </p:nvSpPr>
        <p:spPr>
          <a:xfrm>
            <a:off x="5596128" y="1234440"/>
            <a:ext cx="29809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Rule of thumb</a:t>
            </a:r>
          </a:p>
        </p:txBody>
      </p:sp>
      <p:sp>
        <p:nvSpPr>
          <p:cNvPr id="52" name="Scale formula box"/>
          <p:cNvSpPr/>
          <p:nvPr/>
        </p:nvSpPr>
        <p:spPr>
          <a:xfrm>
            <a:off x="5486400" y="1508760"/>
            <a:ext cx="3200400" cy="148132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Scale formula code"/>
          <p:cNvSpPr txBox="1"/>
          <p:nvPr/>
        </p:nvSpPr>
        <p:spPr>
          <a:xfrm>
            <a:off x="5623560" y="1600200"/>
            <a:ext cx="2926080" cy="1298448"/>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coefficient ≈</a:t>
            </a:r>
          </a:p>
          <a:p>
            <a:pPr algn="l">
              <a:spcAft>
                <a:spcPts val="0"/>
              </a:spcAft>
            </a:pPr>
            <a:r>
              <a:rPr sz="1200" b="0" lang="en-GB">
                <a:solidFill>
                  <a:schemeClr val="bg1"/>
                </a:solidFill>
                <a:latin typeface="Consolas"/>
              </a:rPr>
              <a:t>  true effect / noise</a:t>
            </a:r>
          </a:p>
          <a:p>
            <a:pPr algn="l">
              <a:spcAft>
                <a:spcPts val="0"/>
              </a:spcAft>
            </a:pPr>
            <a:r>
              <a:rPr sz="1200" b="0" lang="en-GB">
                <a:solidFill>
                  <a:schemeClr val="bg1"/>
                </a:solidFill>
                <a:latin typeface="Consolas"/>
              </a:rPr>
              <a:t> </a:t>
            </a:r>
          </a:p>
          <a:p>
            <a:pPr algn="l">
              <a:spcAft>
                <a:spcPts val="0"/>
              </a:spcAft>
            </a:pPr>
            <a:r>
              <a:rPr sz="1200" b="0" lang="en-GB">
                <a:solidFill>
                  <a:schemeClr val="bg1"/>
                </a:solidFill>
                <a:latin typeface="Consolas"/>
              </a:rPr>
              <a:t>Germany  1.3 / 1.0 = 1.30</a:t>
            </a:r>
          </a:p>
          <a:p>
            <a:pPr algn="l">
              <a:spcAft>
                <a:spcPts val="0"/>
              </a:spcAft>
            </a:pPr>
            <a:r>
              <a:rPr sz="1200" b="0" lang="en-GB">
                <a:solidFill>
                  <a:schemeClr val="bg1"/>
                </a:solidFill>
                <a:latin typeface="Consolas"/>
              </a:rPr>
              <a:t>Spain    1.3 / 1.5 ≈ 0.87</a:t>
            </a:r>
          </a:p>
        </p:txBody>
      </p:sp>
      <p:sp>
        <p:nvSpPr>
          <p:cNvPr id="54" name="Scale note"/>
          <p:cNvSpPr txBox="1"/>
          <p:nvPr/>
        </p:nvSpPr>
        <p:spPr>
          <a:xfrm>
            <a:off x="457200" y="3035808"/>
            <a:ext cx="822960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Coefficients from one logit per country</a:t>
            </a:r>
          </a:p>
        </p:txBody>
      </p:sp>
      <p:sp>
        <p:nvSpPr>
          <p:cNvPr id="55" name="Scale reading 1 row"/>
          <p:cNvSpPr/>
          <p:nvPr/>
        </p:nvSpPr>
        <p:spPr>
          <a:xfrm>
            <a:off x="457200" y="3401568"/>
            <a:ext cx="404622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Scale reading 1 bar"/>
          <p:cNvSpPr/>
          <p:nvPr/>
        </p:nvSpPr>
        <p:spPr>
          <a:xfrm>
            <a:off x="457200" y="3401568"/>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Scale reading 1 text"/>
          <p:cNvSpPr txBox="1"/>
          <p:nvPr/>
        </p:nvSpPr>
        <p:spPr>
          <a:xfrm>
            <a:off x="658368" y="3401568"/>
            <a:ext cx="375361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Noise scale: </a:t>
            </a:r>
            <a:r>
              <a:rPr sz="1200" b="0" lang="en-GB">
                <a:solidFill>
                  <a:schemeClr val="tx1"/>
                </a:solidFill>
              </a:rPr>
              <a:t>how much churn depends on things the model does not see</a:t>
            </a:r>
          </a:p>
        </p:txBody>
      </p:sp>
      <p:sp>
        <p:nvSpPr>
          <p:cNvPr id="58" name="Scale reading 2 row"/>
          <p:cNvSpPr/>
          <p:nvPr/>
        </p:nvSpPr>
        <p:spPr>
          <a:xfrm>
            <a:off x="4640580" y="3401568"/>
            <a:ext cx="404622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cale reading 2 bar"/>
          <p:cNvSpPr/>
          <p:nvPr/>
        </p:nvSpPr>
        <p:spPr>
          <a:xfrm>
            <a:off x="4640580" y="3401568"/>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cale reading 2 text"/>
          <p:cNvSpPr txBox="1"/>
          <p:nvPr/>
        </p:nvSpPr>
        <p:spPr>
          <a:xfrm>
            <a:off x="4841748" y="3401568"/>
            <a:ext cx="3753612" cy="566928"/>
          </a:xfrm>
          <a:prstGeom prst="rect">
            <a:avLst/>
          </a:prstGeom>
          <a:noFill/>
        </p:spPr>
        <p:txBody>
          <a:bodyPr wrap="square" lIns="0" rIns="0" tIns="0" bIns="0" anchor="ctr">
            <a:noAutofit/>
          </a:bodyPr>
          <a:lstStyle/>
          <a:p>
            <a:pPr algn="l">
              <a:spcAft>
                <a:spcPts val="400"/>
              </a:spcAft>
            </a:pPr>
            <a:r>
              <a:rPr sz="1200" b="1" lang="en-GB">
                <a:solidFill>
                  <a:schemeClr val="tx2"/>
                </a:solidFill>
              </a:rPr>
              <a:t>Naive test: </a:t>
            </a:r>
            <a:r>
              <a:rPr sz="1200" b="0" lang="en-GB">
                <a:solidFill>
                  <a:schemeClr val="tx1"/>
                </a:solidFill>
              </a:rPr>
              <a:t>1.19 vs 0.81 seems a real gap (z = 2.8)</a:t>
            </a:r>
          </a:p>
        </p:txBody>
      </p:sp>
      <p:sp>
        <p:nvSpPr>
          <p:cNvPr id="61" name="Scale callout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cale callout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Smaller coefficient, same effect: </a:t>
            </a:r>
            <a:r>
              <a:rPr sz="1250" b="0" lang="en-GB">
                <a:solidFill>
                  <a:schemeClr val="bg1"/>
                </a:solidFill>
              </a:rPr>
              <a:t>more noise in Spain shrinks the coefficient.</a:t>
            </a:r>
          </a:p>
        </p:txBody>
      </p:sp>
      <p:sp>
        <p:nvSpPr>
          <p:cNvPr id="6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(telco_churn.csv); true effect and noise set in the simulation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On the probability scale the gap disappears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ch_p3_flip.png" descr="Month-to-month effect by country with 95 % confidence intervals. Logit coefficients: Germany 1.19, Austria 1.02, Spain 0.81, Poland 0.90. Effects in percentage points: Germany 15.2, Austria 12.3, Spain 17.3, Poland 16.5."/>
          <p:cNvPicPr>
            <a:picLocks noChangeAspect="1"/>
          </p:cNvPicPr>
          <p:nvPr/>
        </p:nvPicPr>
        <p:blipFill>
          <a:blip r:embed="rId3"/>
          <a:stretch>
            <a:fillRect/>
          </a:stretch>
        </p:blipFill>
        <p:spPr>
          <a:xfrm>
            <a:off x="457200" y="1234440"/>
            <a:ext cx="8229600" cy="2148840"/>
          </a:xfrm>
          <a:prstGeom prst="rect">
            <a:avLst/>
          </a:prstGeom>
        </p:spPr>
      </p:pic>
      <p:sp>
        <p:nvSpPr>
          <p:cNvPr id="11" name="Flip note"/>
          <p:cNvSpPr txBox="1"/>
          <p:nvPr/>
        </p:nvSpPr>
        <p:spPr>
          <a:xfrm>
            <a:off x="457200" y="3410712"/>
            <a:ext cx="822960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Lines: 95 % CIs. Gap Spain − Germany 2.1 pp: within sampling error</a:t>
            </a:r>
          </a:p>
        </p:txBody>
      </p:sp>
      <p:sp>
        <p:nvSpPr>
          <p:cNvPr id="12" name="Flip reason 1 row"/>
          <p:cNvSpPr/>
          <p:nvPr/>
        </p:nvSpPr>
        <p:spPr>
          <a:xfrm>
            <a:off x="457200" y="3767328"/>
            <a:ext cx="404622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lip reason 1 bar"/>
          <p:cNvSpPr/>
          <p:nvPr/>
        </p:nvSpPr>
        <p:spPr>
          <a:xfrm>
            <a:off x="457200" y="3767328"/>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Flip reason 1 text"/>
          <p:cNvSpPr txBox="1"/>
          <p:nvPr/>
        </p:nvSpPr>
        <p:spPr>
          <a:xfrm>
            <a:off x="658368" y="3767328"/>
            <a:ext cx="375361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Noise: </a:t>
            </a:r>
            <a:r>
              <a:rPr sz="1200" b="0" lang="en-GB">
                <a:solidFill>
                  <a:schemeClr val="tx1"/>
                </a:solidFill>
              </a:rPr>
              <a:t>more of it shrinks Spain's coefficient (1.5 vs 1.0)</a:t>
            </a:r>
          </a:p>
        </p:txBody>
      </p:sp>
      <p:sp>
        <p:nvSpPr>
          <p:cNvPr id="15" name="Flip reason 2 row"/>
          <p:cNvSpPr/>
          <p:nvPr/>
        </p:nvSpPr>
        <p:spPr>
          <a:xfrm>
            <a:off x="4640580" y="3767328"/>
            <a:ext cx="404622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lip reason 2 bar"/>
          <p:cNvSpPr/>
          <p:nvPr/>
        </p:nvSpPr>
        <p:spPr>
          <a:xfrm>
            <a:off x="4640580" y="3767328"/>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lip reason 2 text"/>
          <p:cNvSpPr txBox="1"/>
          <p:nvPr/>
        </p:nvSpPr>
        <p:spPr>
          <a:xfrm>
            <a:off x="4841748" y="3767328"/>
            <a:ext cx="375361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Baseline: </a:t>
            </a:r>
            <a:r>
              <a:rPr sz="1200" b="0" lang="en-GB">
                <a:solidFill>
                  <a:schemeClr val="tx1"/>
                </a:solidFill>
              </a:rPr>
              <a:t>at 34.7 % churn the S-curve is steeper than at 15.4 %</a:t>
            </a:r>
          </a:p>
        </p:txBody>
      </p:sp>
      <p:sp>
        <p:nvSpPr>
          <p:cNvPr id="1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(telco_churn.csv); one logit per country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Survey scores differ by country too</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ch_p3_satisfaction.png" descr="Share of customers per satisfaction score (1 to 5) by country. Top score 5: Germany 4.0 %, Austria 4.4 %, Spain 20.3 %, Poland 9.8 %."/>
          <p:cNvPicPr>
            <a:picLocks noChangeAspect="1"/>
          </p:cNvPicPr>
          <p:nvPr/>
        </p:nvPicPr>
        <p:blipFill>
          <a:blip r:embed="rId3"/>
          <a:stretch>
            <a:fillRect/>
          </a:stretch>
        </p:blipFill>
        <p:spPr>
          <a:xfrm>
            <a:off x="457200" y="1234440"/>
            <a:ext cx="4206240" cy="2697480"/>
          </a:xfrm>
          <a:prstGeom prst="rect">
            <a:avLst/>
          </a:prstGeom>
        </p:spPr>
      </p:pic>
      <p:sp>
        <p:nvSpPr>
          <p:cNvPr id="11" name="Survey stat 1 box"/>
          <p:cNvSpPr/>
          <p:nvPr/>
        </p:nvSpPr>
        <p:spPr>
          <a:xfrm>
            <a:off x="4800600" y="1234440"/>
            <a:ext cx="3886200" cy="807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urvey stat 1 bar"/>
          <p:cNvSpPr/>
          <p:nvPr/>
        </p:nvSpPr>
        <p:spPr>
          <a:xfrm>
            <a:off x="4800600" y="1234440"/>
            <a:ext cx="64008" cy="8077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urvey stat 1 figure"/>
          <p:cNvSpPr txBox="1"/>
          <p:nvPr/>
        </p:nvSpPr>
        <p:spPr>
          <a:xfrm>
            <a:off x="4983480" y="1234440"/>
            <a:ext cx="1463040" cy="8077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20.3 %</a:t>
            </a:r>
          </a:p>
        </p:txBody>
      </p:sp>
      <p:sp>
        <p:nvSpPr>
          <p:cNvPr id="14" name="Survey stat 1 label"/>
          <p:cNvSpPr txBox="1"/>
          <p:nvPr/>
        </p:nvSpPr>
        <p:spPr>
          <a:xfrm>
            <a:off x="6446520" y="1234440"/>
            <a:ext cx="2148840" cy="807720"/>
          </a:xfrm>
          <a:prstGeom prst="rect">
            <a:avLst/>
          </a:prstGeom>
          <a:noFill/>
        </p:spPr>
        <p:txBody>
          <a:bodyPr wrap="square" lIns="0" rIns="0" tIns="0" bIns="0" anchor="ctr">
            <a:noAutofit/>
          </a:bodyPr>
          <a:lstStyle/>
          <a:p>
            <a:pPr algn="l">
              <a:spcAft>
                <a:spcPts val="400"/>
              </a:spcAft>
            </a:pPr>
            <a:r>
              <a:rPr sz="1200" b="1" lang="en-GB">
                <a:solidFill>
                  <a:schemeClr val="tx2"/>
                </a:solidFill>
              </a:rPr>
              <a:t>give a 5 in Spain </a:t>
            </a:r>
            <a:r>
              <a:rPr sz="1200" b="0" lang="en-GB">
                <a:solidFill>
                  <a:schemeClr val="tx1"/>
                </a:solidFill>
              </a:rPr>
              <a:t>(Germany 4.0 %)</a:t>
            </a:r>
          </a:p>
        </p:txBody>
      </p:sp>
      <p:sp>
        <p:nvSpPr>
          <p:cNvPr id="15" name="Survey stat 2 box"/>
          <p:cNvSpPr/>
          <p:nvPr/>
        </p:nvSpPr>
        <p:spPr>
          <a:xfrm>
            <a:off x="4800600" y="2179320"/>
            <a:ext cx="3886200" cy="807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urvey stat 2 bar"/>
          <p:cNvSpPr/>
          <p:nvPr/>
        </p:nvSpPr>
        <p:spPr>
          <a:xfrm>
            <a:off x="4800600" y="2179320"/>
            <a:ext cx="64008" cy="8077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urvey stat 2 figure"/>
          <p:cNvSpPr txBox="1"/>
          <p:nvPr/>
        </p:nvSpPr>
        <p:spPr>
          <a:xfrm>
            <a:off x="4983480" y="2179320"/>
            <a:ext cx="1463040" cy="8077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3.35</a:t>
            </a:r>
          </a:p>
        </p:txBody>
      </p:sp>
      <p:sp>
        <p:nvSpPr>
          <p:cNvPr id="18" name="Survey stat 2 label"/>
          <p:cNvSpPr txBox="1"/>
          <p:nvPr/>
        </p:nvSpPr>
        <p:spPr>
          <a:xfrm>
            <a:off x="6446520" y="2179320"/>
            <a:ext cx="2148840" cy="807720"/>
          </a:xfrm>
          <a:prstGeom prst="rect">
            <a:avLst/>
          </a:prstGeom>
          <a:noFill/>
        </p:spPr>
        <p:txBody>
          <a:bodyPr wrap="square" lIns="0" rIns="0" tIns="0" bIns="0" anchor="ctr">
            <a:noAutofit/>
          </a:bodyPr>
          <a:lstStyle/>
          <a:p>
            <a:pPr algn="l">
              <a:spcAft>
                <a:spcPts val="400"/>
              </a:spcAft>
            </a:pPr>
            <a:r>
              <a:rPr sz="1200" b="1" lang="en-GB">
                <a:solidFill>
                  <a:schemeClr val="tx2"/>
                </a:solidFill>
              </a:rPr>
              <a:t>mean score in Spain </a:t>
            </a:r>
            <a:r>
              <a:rPr sz="1200" b="0" lang="en-GB">
                <a:solidFill>
                  <a:schemeClr val="tx1"/>
                </a:solidFill>
              </a:rPr>
              <a:t>(Germany 2.96)</a:t>
            </a:r>
          </a:p>
        </p:txBody>
      </p:sp>
      <p:sp>
        <p:nvSpPr>
          <p:cNvPr id="19" name="Survey stat 3 box"/>
          <p:cNvSpPr/>
          <p:nvPr/>
        </p:nvSpPr>
        <p:spPr>
          <a:xfrm>
            <a:off x="4800600" y="3124200"/>
            <a:ext cx="3886200" cy="807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urvey stat 3 bar"/>
          <p:cNvSpPr/>
          <p:nvPr/>
        </p:nvSpPr>
        <p:spPr>
          <a:xfrm>
            <a:off x="4800600" y="3124200"/>
            <a:ext cx="64008" cy="8077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urvey stat 3 figure"/>
          <p:cNvSpPr txBox="1"/>
          <p:nvPr/>
        </p:nvSpPr>
        <p:spPr>
          <a:xfrm>
            <a:off x="4983480" y="3124200"/>
            <a:ext cx="1463040" cy="8077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Equal</a:t>
            </a:r>
          </a:p>
        </p:txBody>
      </p:sp>
      <p:sp>
        <p:nvSpPr>
          <p:cNvPr id="22" name="Survey stat 3 label"/>
          <p:cNvSpPr txBox="1"/>
          <p:nvPr/>
        </p:nvSpPr>
        <p:spPr>
          <a:xfrm>
            <a:off x="6446520" y="3124200"/>
            <a:ext cx="2148840" cy="807720"/>
          </a:xfrm>
          <a:prstGeom prst="rect">
            <a:avLst/>
          </a:prstGeom>
          <a:noFill/>
        </p:spPr>
        <p:txBody>
          <a:bodyPr wrap="square" lIns="0" rIns="0" tIns="0" bIns="0" anchor="ctr">
            <a:noAutofit/>
          </a:bodyPr>
          <a:lstStyle/>
          <a:p>
            <a:pPr algn="l">
              <a:spcAft>
                <a:spcPts val="400"/>
              </a:spcAft>
            </a:pPr>
            <a:r>
              <a:rPr sz="1200" b="1" lang="en-GB">
                <a:solidFill>
                  <a:schemeClr val="tx2"/>
                </a:solidFill>
              </a:rPr>
              <a:t>true satisfaction </a:t>
            </a:r>
            <a:r>
              <a:rPr sz="1200" b="0" lang="en-GB">
                <a:solidFill>
                  <a:schemeClr val="tx1"/>
                </a:solidFill>
              </a:rPr>
              <a:t>in every country (simulation)</a:t>
            </a:r>
          </a:p>
        </p:txBody>
      </p:sp>
      <p:sp>
        <p:nvSpPr>
          <p:cNvPr id="23" name="Survey callout box"/>
          <p:cNvSpPr/>
          <p:nvPr/>
        </p:nvSpPr>
        <p:spPr>
          <a:xfrm>
            <a:off x="457200" y="406908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urvey callout text"/>
          <p:cNvSpPr txBox="1"/>
          <p:nvPr/>
        </p:nvSpPr>
        <p:spPr>
          <a:xfrm>
            <a:off x="658368" y="406908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Same satisfaction, different scores: </a:t>
            </a:r>
            <a:r>
              <a:rPr sz="1250" b="0" lang="en-GB">
                <a:solidFill>
                  <a:schemeClr val="bg1"/>
                </a:solidFill>
              </a:rPr>
              <a:t>standardise within each country before you pool.</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(telco_churn.csv); answer styles set in the simulation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Interactions: read them in percentage points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ch_p4_interaction.png" descr="Average predicted churn by contract type from the interaction model. Germany rises from 10.2 % to 24.3 % (+14.16 pp), Spain from 26.3 % to 44.2 % (+17.93 pp)."/>
          <p:cNvPicPr>
            <a:picLocks noChangeAspect="1"/>
          </p:cNvPicPr>
          <p:nvPr/>
        </p:nvPicPr>
        <p:blipFill>
          <a:blip r:embed="rId3"/>
          <a:stretch>
            <a:fillRect/>
          </a:stretch>
        </p:blipFill>
        <p:spPr>
          <a:xfrm>
            <a:off x="457200" y="1234440"/>
            <a:ext cx="4023360" cy="3291840"/>
          </a:xfrm>
          <a:prstGeom prst="rect">
            <a:avLst/>
          </a:prstGeom>
        </p:spPr>
      </p:pic>
      <p:sp>
        <p:nvSpPr>
          <p:cNvPr id="11" name="Inter stat 1 box"/>
          <p:cNvSpPr/>
          <p:nvPr/>
        </p:nvSpPr>
        <p:spPr>
          <a:xfrm>
            <a:off x="4617720" y="1234440"/>
            <a:ext cx="406908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nter stat 1 bar"/>
          <p:cNvSpPr/>
          <p:nvPr/>
        </p:nvSpPr>
        <p:spPr>
          <a:xfrm>
            <a:off x="4617720" y="1234440"/>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nter stat 1 figure"/>
          <p:cNvSpPr txBox="1"/>
          <p:nvPr/>
        </p:nvSpPr>
        <p:spPr>
          <a:xfrm>
            <a:off x="4800600" y="1234440"/>
            <a:ext cx="1691640" cy="9601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−0.245</a:t>
            </a:r>
          </a:p>
        </p:txBody>
      </p:sp>
      <p:sp>
        <p:nvSpPr>
          <p:cNvPr id="14" name="Inter stat 1 label"/>
          <p:cNvSpPr txBox="1"/>
          <p:nvPr/>
        </p:nvSpPr>
        <p:spPr>
          <a:xfrm>
            <a:off x="6492240" y="1234440"/>
            <a:ext cx="2103120" cy="960120"/>
          </a:xfrm>
          <a:prstGeom prst="rect">
            <a:avLst/>
          </a:prstGeom>
          <a:noFill/>
        </p:spPr>
        <p:txBody>
          <a:bodyPr wrap="square" lIns="0" rIns="0" tIns="0" bIns="0" anchor="ctr">
            <a:noAutofit/>
          </a:bodyPr>
          <a:lstStyle/>
          <a:p>
            <a:pPr algn="l">
              <a:spcAft>
                <a:spcPts val="400"/>
              </a:spcAft>
            </a:pPr>
            <a:r>
              <a:rPr sz="1200" b="1" lang="en-GB">
                <a:solidFill>
                  <a:schemeClr val="tx2"/>
                </a:solidFill>
              </a:rPr>
              <a:t>Product term </a:t>
            </a:r>
            <a:r>
              <a:rPr sz="1200" b="0" lang="en-GB">
                <a:solidFill>
                  <a:schemeClr val="tx1"/>
                </a:solidFill>
              </a:rPr>
              <a:t>in log-odds: “weaker in Spain”</a:t>
            </a:r>
          </a:p>
        </p:txBody>
      </p:sp>
      <p:sp>
        <p:nvSpPr>
          <p:cNvPr id="15" name="Inter stat 2 box"/>
          <p:cNvSpPr/>
          <p:nvPr/>
        </p:nvSpPr>
        <p:spPr>
          <a:xfrm>
            <a:off x="4617720" y="2304288"/>
            <a:ext cx="406908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nter stat 2 bar"/>
          <p:cNvSpPr/>
          <p:nvPr/>
        </p:nvSpPr>
        <p:spPr>
          <a:xfrm>
            <a:off x="4617720" y="2304288"/>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nter stat 2 figure"/>
          <p:cNvSpPr txBox="1"/>
          <p:nvPr/>
        </p:nvSpPr>
        <p:spPr>
          <a:xfrm>
            <a:off x="4800600" y="2304288"/>
            <a:ext cx="1691640" cy="9601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+3.8 pp</a:t>
            </a:r>
          </a:p>
        </p:txBody>
      </p:sp>
      <p:sp>
        <p:nvSpPr>
          <p:cNvPr id="18" name="Inter stat 2 label"/>
          <p:cNvSpPr txBox="1"/>
          <p:nvPr/>
        </p:nvSpPr>
        <p:spPr>
          <a:xfrm>
            <a:off x="6492240" y="2304288"/>
            <a:ext cx="2103120" cy="960120"/>
          </a:xfrm>
          <a:prstGeom prst="rect">
            <a:avLst/>
          </a:prstGeom>
          <a:noFill/>
        </p:spPr>
        <p:txBody>
          <a:bodyPr wrap="square" lIns="0" rIns="0" tIns="0" bIns="0" anchor="ctr">
            <a:noAutofit/>
          </a:bodyPr>
          <a:lstStyle/>
          <a:p>
            <a:pPr algn="l">
              <a:spcAft>
                <a:spcPts val="400"/>
              </a:spcAft>
            </a:pPr>
            <a:r>
              <a:rPr sz="1200" b="1" lang="en-GB">
                <a:solidFill>
                  <a:schemeClr val="tx2"/>
                </a:solidFill>
              </a:rPr>
              <a:t>In pp: </a:t>
            </a:r>
            <a:r>
              <a:rPr sz="1200" b="0" lang="en-GB">
                <a:solidFill>
                  <a:schemeClr val="tx1"/>
                </a:solidFill>
              </a:rPr>
              <a:t>17.93 (Spain) minus 14.16 (Germany): “stronger”</a:t>
            </a:r>
          </a:p>
        </p:txBody>
      </p:sp>
      <p:sp>
        <p:nvSpPr>
          <p:cNvPr id="19" name="Inter callout box"/>
          <p:cNvSpPr/>
          <p:nvPr/>
        </p:nvSpPr>
        <p:spPr>
          <a:xfrm>
            <a:off x="4617720" y="3374136"/>
            <a:ext cx="4069080" cy="115214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nter callout text"/>
          <p:cNvSpPr txBox="1"/>
          <p:nvPr/>
        </p:nvSpPr>
        <p:spPr>
          <a:xfrm>
            <a:off x="4818888" y="3374136"/>
            <a:ext cx="3666744" cy="1152144"/>
          </a:xfrm>
          <a:prstGeom prst="rect">
            <a:avLst/>
          </a:prstGeom>
          <a:noFill/>
        </p:spPr>
        <p:txBody>
          <a:bodyPr wrap="square" lIns="0" rIns="0" tIns="0" bIns="0" anchor="ctr">
            <a:noAutofit/>
          </a:bodyPr>
          <a:lstStyle/>
          <a:p>
            <a:pPr algn="l">
              <a:spcAft>
                <a:spcPts val="400"/>
              </a:spcAft>
            </a:pPr>
            <a:r>
              <a:rPr sz="1250" b="1" lang="en-GB">
                <a:solidFill>
                  <a:schemeClr val="bg1"/>
                </a:solidFill>
              </a:rPr>
              <a:t>Read interactions in pp. </a:t>
            </a:r>
            <a:r>
              <a:rPr sz="1250" b="0" lang="en-GB">
                <a:solidFill>
                  <a:schemeClr val="bg1"/>
                </a:solidFill>
              </a:rPr>
              <a:t>Here the 95 % CI (−0.7 to +7.2 pp) includes zero: no clear difference.</a:t>
            </a:r>
          </a:p>
        </p:txBody>
      </p:sp>
      <p:sp>
        <p:nvSpPr>
          <p:cNvPr id="2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(telco_churn.csv); one logit with contract × country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6 · predict, rank, target</a:t>
            </a:r>
          </a:p>
        </p:txBody>
      </p:sp>
      <p:sp>
        <p:nvSpPr>
          <p:cNvPr id="3" name="Title 2"/>
          <p:cNvSpPr>
            <a:spLocks noGrp="1"/>
          </p:cNvSpPr>
          <p:nvPr>
            <p:ph type="ctrTitle"/>
          </p:nvPr>
        </p:nvSpPr>
        <p:spPr/>
        <p:txBody>
          <a:bodyPr/>
          <a:lstStyle/>
          <a:p>
            <a:r>
              <a:rPr lang="en-GB"/>
              <a:t>Using a churn model</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Who will churn? The threshold and the confusion matrix</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val steps step 1"/>
          <p:cNvSpPr/>
          <p:nvPr/>
        </p:nvSpPr>
        <p:spPr>
          <a:xfrm>
            <a:off x="457200" y="1234440"/>
            <a:ext cx="2139696" cy="41148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Fit on 70 %</a:t>
            </a:r>
          </a:p>
        </p:txBody>
      </p:sp>
      <p:sp>
        <p:nvSpPr>
          <p:cNvPr id="11" name="Eval steps step 2"/>
          <p:cNvSpPr/>
          <p:nvPr/>
        </p:nvSpPr>
        <p:spPr>
          <a:xfrm>
            <a:off x="2487168" y="1234440"/>
            <a:ext cx="2139696" cy="41148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Test on 30 %</a:t>
            </a:r>
          </a:p>
        </p:txBody>
      </p:sp>
      <p:sp>
        <p:nvSpPr>
          <p:cNvPr id="12" name="Eval steps step 3"/>
          <p:cNvSpPr/>
          <p:nvPr/>
        </p:nvSpPr>
        <p:spPr>
          <a:xfrm>
            <a:off x="4517136" y="1234440"/>
            <a:ext cx="2139696" cy="411480"/>
          </a:xfrm>
          <a:prstGeom prst="chevron">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bg1"/>
                </a:solidFill>
              </a:rPr>
              <a:t>Pick a threshold</a:t>
            </a:r>
          </a:p>
        </p:txBody>
      </p:sp>
      <p:sp>
        <p:nvSpPr>
          <p:cNvPr id="13" name="Eval steps step 4"/>
          <p:cNvSpPr/>
          <p:nvPr/>
        </p:nvSpPr>
        <p:spPr>
          <a:xfrm>
            <a:off x="6547104" y="1234440"/>
            <a:ext cx="2139696" cy="41148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Call the flagged</a:t>
            </a:r>
          </a:p>
        </p:txBody>
      </p:sp>
      <p:sp>
        <p:nvSpPr>
          <p:cNvPr id="14" name="Confusion 1-1"/>
          <p:cNvSpPr/>
          <p:nvPr/>
        </p:nvSpPr>
        <p:spPr>
          <a:xfrm>
            <a:off x="457200" y="1874520"/>
            <a:ext cx="152704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nfusion text 1-1"/>
          <p:cNvSpPr txBox="1"/>
          <p:nvPr/>
        </p:nvSpPr>
        <p:spPr>
          <a:xfrm>
            <a:off x="548640" y="1874520"/>
            <a:ext cx="1344168" cy="512064"/>
          </a:xfrm>
          <a:prstGeom prst="rect">
            <a:avLst/>
          </a:prstGeom>
          <a:noFill/>
        </p:spPr>
        <p:txBody>
          <a:bodyPr wrap="square" lIns="0" rIns="0" tIns="0" bIns="0" anchor="ctr">
            <a:noAutofit/>
          </a:bodyPr>
          <a:lstStyle/>
          <a:p>
            <a:pPr algn="l">
              <a:spcAft>
                <a:spcPts val="400"/>
              </a:spcAft>
            </a:pPr>
            <a:r>
              <a:rPr sz="1200" b="1" lang="en-GB">
                <a:solidFill>
                  <a:schemeClr val="bg1"/>
                </a:solidFill>
              </a:rPr>
              <a:t>Threshold 0.5</a:t>
            </a:r>
          </a:p>
        </p:txBody>
      </p:sp>
      <p:sp>
        <p:nvSpPr>
          <p:cNvPr id="16" name="Confusion 1-2"/>
          <p:cNvSpPr/>
          <p:nvPr/>
        </p:nvSpPr>
        <p:spPr>
          <a:xfrm>
            <a:off x="2011680" y="1874520"/>
            <a:ext cx="1298448"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nfusion text 1-2"/>
          <p:cNvSpPr txBox="1"/>
          <p:nvPr/>
        </p:nvSpPr>
        <p:spPr>
          <a:xfrm>
            <a:off x="2103120" y="1874520"/>
            <a:ext cx="1115568" cy="512064"/>
          </a:xfrm>
          <a:prstGeom prst="rect">
            <a:avLst/>
          </a:prstGeom>
          <a:noFill/>
        </p:spPr>
        <p:txBody>
          <a:bodyPr wrap="square" lIns="0" rIns="0" tIns="0" bIns="0" anchor="ctr">
            <a:noAutofit/>
          </a:bodyPr>
          <a:lstStyle/>
          <a:p>
            <a:pPr algn="r">
              <a:spcAft>
                <a:spcPts val="400"/>
              </a:spcAft>
            </a:pPr>
            <a:r>
              <a:rPr sz="1200" b="1" lang="en-GB">
                <a:solidFill>
                  <a:schemeClr val="bg1"/>
                </a:solidFill>
              </a:rPr>
              <a:t>Churned</a:t>
            </a:r>
          </a:p>
        </p:txBody>
      </p:sp>
      <p:sp>
        <p:nvSpPr>
          <p:cNvPr id="18" name="Confusion 1-3"/>
          <p:cNvSpPr/>
          <p:nvPr/>
        </p:nvSpPr>
        <p:spPr>
          <a:xfrm>
            <a:off x="3337560" y="1874520"/>
            <a:ext cx="1325880" cy="512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onfusion text 1-3"/>
          <p:cNvSpPr txBox="1"/>
          <p:nvPr/>
        </p:nvSpPr>
        <p:spPr>
          <a:xfrm>
            <a:off x="3429000" y="1874520"/>
            <a:ext cx="1115568" cy="512064"/>
          </a:xfrm>
          <a:prstGeom prst="rect">
            <a:avLst/>
          </a:prstGeom>
          <a:noFill/>
        </p:spPr>
        <p:txBody>
          <a:bodyPr wrap="square" lIns="0" rIns="0" tIns="0" bIns="0" anchor="ctr">
            <a:noAutofit/>
          </a:bodyPr>
          <a:lstStyle/>
          <a:p>
            <a:pPr algn="r">
              <a:spcAft>
                <a:spcPts val="400"/>
              </a:spcAft>
            </a:pPr>
            <a:r>
              <a:rPr sz="1200" b="1" lang="en-GB">
                <a:solidFill>
                  <a:schemeClr val="bg1"/>
                </a:solidFill>
              </a:rPr>
              <a:t>Stayed</a:t>
            </a:r>
          </a:p>
        </p:txBody>
      </p:sp>
      <p:sp>
        <p:nvSpPr>
          <p:cNvPr id="20" name="Confusion 2-1"/>
          <p:cNvSpPr/>
          <p:nvPr/>
        </p:nvSpPr>
        <p:spPr>
          <a:xfrm>
            <a:off x="457200" y="2414016"/>
            <a:ext cx="1527048"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nfusion text 2-1"/>
          <p:cNvSpPr txBox="1"/>
          <p:nvPr/>
        </p:nvSpPr>
        <p:spPr>
          <a:xfrm>
            <a:off x="548640" y="2414016"/>
            <a:ext cx="1344168"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Flagged</a:t>
            </a:r>
          </a:p>
        </p:txBody>
      </p:sp>
      <p:sp>
        <p:nvSpPr>
          <p:cNvPr id="22" name="Confusion 2-2"/>
          <p:cNvSpPr/>
          <p:nvPr/>
        </p:nvSpPr>
        <p:spPr>
          <a:xfrm>
            <a:off x="2011680" y="2414016"/>
            <a:ext cx="1298448"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nfusion text 2-2"/>
          <p:cNvSpPr txBox="1"/>
          <p:nvPr/>
        </p:nvSpPr>
        <p:spPr>
          <a:xfrm>
            <a:off x="2103120" y="2414016"/>
            <a:ext cx="1115568" cy="512064"/>
          </a:xfrm>
          <a:prstGeom prst="rect">
            <a:avLst/>
          </a:prstGeom>
          <a:noFill/>
        </p:spPr>
        <p:txBody>
          <a:bodyPr wrap="square" lIns="0" rIns="0" tIns="0" bIns="0" anchor="ctr">
            <a:noAutofit/>
          </a:bodyPr>
          <a:lstStyle/>
          <a:p>
            <a:pPr algn="r">
              <a:spcAft>
                <a:spcPts val="400"/>
              </a:spcAft>
            </a:pPr>
            <a:r>
              <a:rPr sz="1200" b="0" lang="en-GB">
                <a:solidFill>
                  <a:schemeClr val="tx1"/>
                </a:solidFill>
              </a:rPr>
              <a:t>175</a:t>
            </a:r>
          </a:p>
        </p:txBody>
      </p:sp>
      <p:sp>
        <p:nvSpPr>
          <p:cNvPr id="24" name="Confusion 2-3"/>
          <p:cNvSpPr/>
          <p:nvPr/>
        </p:nvSpPr>
        <p:spPr>
          <a:xfrm>
            <a:off x="3337560" y="2414016"/>
            <a:ext cx="132588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onfusion text 2-3"/>
          <p:cNvSpPr txBox="1"/>
          <p:nvPr/>
        </p:nvSpPr>
        <p:spPr>
          <a:xfrm>
            <a:off x="3429000" y="2414016"/>
            <a:ext cx="1115568" cy="512064"/>
          </a:xfrm>
          <a:prstGeom prst="rect">
            <a:avLst/>
          </a:prstGeom>
          <a:noFill/>
        </p:spPr>
        <p:txBody>
          <a:bodyPr wrap="square" lIns="0" rIns="0" tIns="0" bIns="0" anchor="ctr">
            <a:noAutofit/>
          </a:bodyPr>
          <a:lstStyle/>
          <a:p>
            <a:pPr algn="r">
              <a:spcAft>
                <a:spcPts val="400"/>
              </a:spcAft>
            </a:pPr>
            <a:r>
              <a:rPr sz="1200" b="0" lang="en-GB">
                <a:solidFill>
                  <a:schemeClr val="tx1"/>
                </a:solidFill>
              </a:rPr>
              <a:t>106</a:t>
            </a:r>
          </a:p>
        </p:txBody>
      </p:sp>
      <p:sp>
        <p:nvSpPr>
          <p:cNvPr id="26" name="Confusion 3-1"/>
          <p:cNvSpPr/>
          <p:nvPr/>
        </p:nvSpPr>
        <p:spPr>
          <a:xfrm>
            <a:off x="457200" y="2953512"/>
            <a:ext cx="1527048"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onfusion text 3-1"/>
          <p:cNvSpPr txBox="1"/>
          <p:nvPr/>
        </p:nvSpPr>
        <p:spPr>
          <a:xfrm>
            <a:off x="548640" y="2953512"/>
            <a:ext cx="1344168"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Not flagged</a:t>
            </a:r>
          </a:p>
        </p:txBody>
      </p:sp>
      <p:sp>
        <p:nvSpPr>
          <p:cNvPr id="28" name="Confusion 3-2"/>
          <p:cNvSpPr/>
          <p:nvPr/>
        </p:nvSpPr>
        <p:spPr>
          <a:xfrm>
            <a:off x="2011680" y="2953512"/>
            <a:ext cx="1298448"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onfusion text 3-2"/>
          <p:cNvSpPr txBox="1"/>
          <p:nvPr/>
        </p:nvSpPr>
        <p:spPr>
          <a:xfrm>
            <a:off x="2103120" y="2953512"/>
            <a:ext cx="1115568" cy="512064"/>
          </a:xfrm>
          <a:prstGeom prst="rect">
            <a:avLst/>
          </a:prstGeom>
          <a:noFill/>
        </p:spPr>
        <p:txBody>
          <a:bodyPr wrap="square" lIns="0" rIns="0" tIns="0" bIns="0" anchor="ctr">
            <a:noAutofit/>
          </a:bodyPr>
          <a:lstStyle/>
          <a:p>
            <a:pPr algn="r">
              <a:spcAft>
                <a:spcPts val="400"/>
              </a:spcAft>
            </a:pPr>
            <a:r>
              <a:rPr sz="1200" b="0" lang="en-GB">
                <a:solidFill>
                  <a:schemeClr val="tx1"/>
                </a:solidFill>
              </a:rPr>
              <a:t>619</a:t>
            </a:r>
          </a:p>
        </p:txBody>
      </p:sp>
      <p:sp>
        <p:nvSpPr>
          <p:cNvPr id="30" name="Confusion 3-3"/>
          <p:cNvSpPr/>
          <p:nvPr/>
        </p:nvSpPr>
        <p:spPr>
          <a:xfrm>
            <a:off x="3337560" y="2953512"/>
            <a:ext cx="132588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Confusion text 3-3"/>
          <p:cNvSpPr txBox="1"/>
          <p:nvPr/>
        </p:nvSpPr>
        <p:spPr>
          <a:xfrm>
            <a:off x="3429000" y="2953512"/>
            <a:ext cx="1115568" cy="512064"/>
          </a:xfrm>
          <a:prstGeom prst="rect">
            <a:avLst/>
          </a:prstGeom>
          <a:noFill/>
        </p:spPr>
        <p:txBody>
          <a:bodyPr wrap="square" lIns="0" rIns="0" tIns="0" bIns="0" anchor="ctr">
            <a:noAutofit/>
          </a:bodyPr>
          <a:lstStyle/>
          <a:p>
            <a:pPr algn="r">
              <a:spcAft>
                <a:spcPts val="400"/>
              </a:spcAft>
            </a:pPr>
            <a:r>
              <a:rPr sz="1200" b="0" lang="en-GB">
                <a:solidFill>
                  <a:schemeClr val="tx1"/>
                </a:solidFill>
              </a:rPr>
              <a:t>2,384</a:t>
            </a:r>
          </a:p>
        </p:txBody>
      </p:sp>
      <p:sp>
        <p:nvSpPr>
          <p:cNvPr id="32" name="Confusion caption"/>
          <p:cNvSpPr txBox="1"/>
          <p:nvPr/>
        </p:nvSpPr>
        <p:spPr>
          <a:xfrm>
            <a:off x="457200" y="3538728"/>
            <a:ext cx="420624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Flagged: predicted churn probability ≥ 0.5</a:t>
            </a:r>
          </a:p>
        </p:txBody>
      </p:sp>
      <p:sp>
        <p:nvSpPr>
          <p:cNvPr id="33" name="Accuracy stat box"/>
          <p:cNvSpPr/>
          <p:nvPr/>
        </p:nvSpPr>
        <p:spPr>
          <a:xfrm>
            <a:off x="4846320" y="1874520"/>
            <a:ext cx="3840480" cy="7680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Accuracy stat bar"/>
          <p:cNvSpPr/>
          <p:nvPr/>
        </p:nvSpPr>
        <p:spPr>
          <a:xfrm>
            <a:off x="4846320" y="1874520"/>
            <a:ext cx="64008" cy="7680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Accuracy stat figure"/>
          <p:cNvSpPr txBox="1"/>
          <p:nvPr/>
        </p:nvSpPr>
        <p:spPr>
          <a:xfrm>
            <a:off x="5029200" y="1874520"/>
            <a:ext cx="1508760" cy="768096"/>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77.9 %</a:t>
            </a:r>
          </a:p>
        </p:txBody>
      </p:sp>
      <p:sp>
        <p:nvSpPr>
          <p:cNvPr id="36" name="Accuracy stat label"/>
          <p:cNvSpPr txBox="1"/>
          <p:nvPr/>
        </p:nvSpPr>
        <p:spPr>
          <a:xfrm>
            <a:off x="6537960" y="1874520"/>
            <a:ext cx="2057400" cy="768096"/>
          </a:xfrm>
          <a:prstGeom prst="rect">
            <a:avLst/>
          </a:prstGeom>
          <a:noFill/>
        </p:spPr>
        <p:txBody>
          <a:bodyPr wrap="square" lIns="0" rIns="0" tIns="0" bIns="0" anchor="ctr">
            <a:noAutofit/>
          </a:bodyPr>
          <a:lstStyle/>
          <a:p>
            <a:pPr algn="l">
              <a:spcAft>
                <a:spcPts val="400"/>
              </a:spcAft>
            </a:pPr>
            <a:r>
              <a:rPr sz="1200" b="1" lang="en-GB">
                <a:solidFill>
                  <a:schemeClr val="tx2"/>
                </a:solidFill>
              </a:rPr>
              <a:t>accuracy; </a:t>
            </a:r>
            <a:r>
              <a:rPr sz="1200" b="0" lang="en-GB">
                <a:solidFill>
                  <a:schemeClr val="tx1"/>
                </a:solidFill>
              </a:rPr>
              <a:t>“nobody churns” scores 75.8 %</a:t>
            </a:r>
          </a:p>
        </p:txBody>
      </p:sp>
      <p:sp>
        <p:nvSpPr>
          <p:cNvPr id="37" name="Recall stat box"/>
          <p:cNvSpPr/>
          <p:nvPr/>
        </p:nvSpPr>
        <p:spPr>
          <a:xfrm>
            <a:off x="4846320" y="2724912"/>
            <a:ext cx="3840480" cy="7680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all stat bar"/>
          <p:cNvSpPr/>
          <p:nvPr/>
        </p:nvSpPr>
        <p:spPr>
          <a:xfrm>
            <a:off x="4846320" y="2724912"/>
            <a:ext cx="64008" cy="7680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all stat figure"/>
          <p:cNvSpPr txBox="1"/>
          <p:nvPr/>
        </p:nvSpPr>
        <p:spPr>
          <a:xfrm>
            <a:off x="5029200" y="2724912"/>
            <a:ext cx="1508760" cy="768096"/>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22 %</a:t>
            </a:r>
          </a:p>
        </p:txBody>
      </p:sp>
      <p:sp>
        <p:nvSpPr>
          <p:cNvPr id="40" name="Recall stat label"/>
          <p:cNvSpPr txBox="1"/>
          <p:nvPr/>
        </p:nvSpPr>
        <p:spPr>
          <a:xfrm>
            <a:off x="6537960" y="2724912"/>
            <a:ext cx="2057400" cy="768096"/>
          </a:xfrm>
          <a:prstGeom prst="rect">
            <a:avLst/>
          </a:prstGeom>
          <a:noFill/>
        </p:spPr>
        <p:txBody>
          <a:bodyPr wrap="square" lIns="0" rIns="0" tIns="0" bIns="0" anchor="ctr">
            <a:noAutofit/>
          </a:bodyPr>
          <a:lstStyle/>
          <a:p>
            <a:pPr algn="l">
              <a:spcAft>
                <a:spcPts val="400"/>
              </a:spcAft>
            </a:pPr>
            <a:r>
              <a:rPr sz="1200" b="1" lang="en-GB">
                <a:solidFill>
                  <a:schemeClr val="tx2"/>
                </a:solidFill>
              </a:rPr>
              <a:t>of churners caught </a:t>
            </a:r>
            <a:r>
              <a:rPr sz="1200" b="0" lang="en-GB">
                <a:solidFill>
                  <a:schemeClr val="tx1"/>
                </a:solidFill>
              </a:rPr>
              <a:t>at 0.5; 56 % at 0.3</a:t>
            </a:r>
          </a:p>
        </p:txBody>
      </p:sp>
      <p:sp>
        <p:nvSpPr>
          <p:cNvPr id="41" name="Threshold callout box"/>
          <p:cNvSpPr/>
          <p:nvPr/>
        </p:nvSpPr>
        <p:spPr>
          <a:xfrm>
            <a:off x="457200" y="393192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hreshold callout text"/>
          <p:cNvSpPr txBox="1"/>
          <p:nvPr/>
        </p:nvSpPr>
        <p:spPr>
          <a:xfrm>
            <a:off x="658368" y="3931920"/>
            <a:ext cx="7827264" cy="685800"/>
          </a:xfrm>
          <a:prstGeom prst="rect">
            <a:avLst/>
          </a:prstGeom>
          <a:noFill/>
        </p:spPr>
        <p:txBody>
          <a:bodyPr wrap="square" lIns="0" rIns="0" tIns="0" bIns="0" anchor="ctr">
            <a:noAutofit/>
          </a:bodyPr>
          <a:lstStyle/>
          <a:p>
            <a:pPr algn="l">
              <a:spcAft>
                <a:spcPts val="400"/>
              </a:spcAft>
            </a:pPr>
            <a:r>
              <a:rPr sz="1250" b="1" lang="en-GB">
                <a:solidFill>
                  <a:schemeClr val="bg1"/>
                </a:solidFill>
              </a:rPr>
              <a:t>Accuracy misleads when most customers stay: </a:t>
            </a:r>
            <a:r>
              <a:rPr sz="1250" b="0" lang="en-GB">
                <a:solidFill>
                  <a:schemeClr val="bg1"/>
                </a:solidFill>
              </a:rPr>
              <a:t>count the churners you catch; lower the threshold if missing one costs more than a wasted offer.</a:t>
            </a:r>
          </a:p>
        </p:txBody>
      </p:sp>
      <p:sp>
        <p:nvSpPr>
          <p:cNvPr id="4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data (telco_churn.csv), 3,284 test customers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Ranking customers: the top-decile lift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ch_p5_gains.png" descr="Cumulative gains chart on the test customers: contacting the top 10 % by predicted churn reaches 24.6 % of churners, the top 30 % reaches 57.3 %; the random diagonal reaches 10 % and 30 %."/>
          <p:cNvPicPr>
            <a:picLocks noChangeAspect="1"/>
          </p:cNvPicPr>
          <p:nvPr/>
        </p:nvPicPr>
        <p:blipFill>
          <a:blip r:embed="rId3"/>
          <a:stretch>
            <a:fillRect/>
          </a:stretch>
        </p:blipFill>
        <p:spPr>
          <a:xfrm>
            <a:off x="457200" y="1234440"/>
            <a:ext cx="4206240" cy="2926080"/>
          </a:xfrm>
          <a:prstGeom prst="rect">
            <a:avLst/>
          </a:prstGeom>
        </p:spPr>
      </p:pic>
      <p:sp>
        <p:nvSpPr>
          <p:cNvPr id="11" name="Lift stat box"/>
          <p:cNvSpPr/>
          <p:nvPr/>
        </p:nvSpPr>
        <p:spPr>
          <a:xfrm>
            <a:off x="4800600" y="1234440"/>
            <a:ext cx="388620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ift stat bar"/>
          <p:cNvSpPr/>
          <p:nvPr/>
        </p:nvSpPr>
        <p:spPr>
          <a:xfrm>
            <a:off x="480060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ift stat figure"/>
          <p:cNvSpPr txBox="1"/>
          <p:nvPr/>
        </p:nvSpPr>
        <p:spPr>
          <a:xfrm>
            <a:off x="4983480" y="1234440"/>
            <a:ext cx="146304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2.46</a:t>
            </a:r>
          </a:p>
        </p:txBody>
      </p:sp>
      <p:sp>
        <p:nvSpPr>
          <p:cNvPr id="14" name="Lift stat label"/>
          <p:cNvSpPr txBox="1"/>
          <p:nvPr/>
        </p:nvSpPr>
        <p:spPr>
          <a:xfrm>
            <a:off x="6446520" y="1234440"/>
            <a:ext cx="2148840" cy="914400"/>
          </a:xfrm>
          <a:prstGeom prst="rect">
            <a:avLst/>
          </a:prstGeom>
          <a:noFill/>
        </p:spPr>
        <p:txBody>
          <a:bodyPr wrap="square" lIns="0" rIns="0" tIns="0" bIns="0" anchor="ctr">
            <a:noAutofit/>
          </a:bodyPr>
          <a:lstStyle/>
          <a:p>
            <a:pPr algn="l">
              <a:spcAft>
                <a:spcPts val="400"/>
              </a:spcAft>
            </a:pPr>
            <a:r>
              <a:rPr sz="1200" b="1" lang="en-GB">
                <a:solidFill>
                  <a:schemeClr val="tx2"/>
                </a:solidFill>
              </a:rPr>
              <a:t>top-decile lift: </a:t>
            </a:r>
            <a:r>
              <a:rPr sz="1200" b="0" lang="en-GB">
                <a:solidFill>
                  <a:schemeClr val="tx1"/>
                </a:solidFill>
              </a:rPr>
              <a:t>59.5 % churn in the top 10 %, 24.2 % overall</a:t>
            </a:r>
          </a:p>
        </p:txBody>
      </p:sp>
      <p:sp>
        <p:nvSpPr>
          <p:cNvPr id="15" name="Gain 10 stat box"/>
          <p:cNvSpPr/>
          <p:nvPr/>
        </p:nvSpPr>
        <p:spPr>
          <a:xfrm>
            <a:off x="4800600" y="2240280"/>
            <a:ext cx="388620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Gain 10 stat bar"/>
          <p:cNvSpPr/>
          <p:nvPr/>
        </p:nvSpPr>
        <p:spPr>
          <a:xfrm>
            <a:off x="4800600" y="224028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Gain 10 stat figure"/>
          <p:cNvSpPr txBox="1"/>
          <p:nvPr/>
        </p:nvSpPr>
        <p:spPr>
          <a:xfrm>
            <a:off x="4983480" y="2240280"/>
            <a:ext cx="146304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24.6 %</a:t>
            </a:r>
          </a:p>
        </p:txBody>
      </p:sp>
      <p:sp>
        <p:nvSpPr>
          <p:cNvPr id="18" name="Gain 10 stat label"/>
          <p:cNvSpPr txBox="1"/>
          <p:nvPr/>
        </p:nvSpPr>
        <p:spPr>
          <a:xfrm>
            <a:off x="6446520" y="2240280"/>
            <a:ext cx="2148840" cy="914400"/>
          </a:xfrm>
          <a:prstGeom prst="rect">
            <a:avLst/>
          </a:prstGeom>
          <a:noFill/>
        </p:spPr>
        <p:txBody>
          <a:bodyPr wrap="square" lIns="0" rIns="0" tIns="0" bIns="0" anchor="ctr">
            <a:noAutofit/>
          </a:bodyPr>
          <a:lstStyle/>
          <a:p>
            <a:pPr algn="l">
              <a:spcAft>
                <a:spcPts val="400"/>
              </a:spcAft>
            </a:pPr>
            <a:r>
              <a:rPr sz="1200" b="1" lang="en-GB">
                <a:solidFill>
                  <a:schemeClr val="tx2"/>
                </a:solidFill>
              </a:rPr>
              <a:t>of all churners </a:t>
            </a:r>
            <a:r>
              <a:rPr sz="1200" b="0" lang="en-GB">
                <a:solidFill>
                  <a:schemeClr val="tx1"/>
                </a:solidFill>
              </a:rPr>
              <a:t>are in the top 10 %</a:t>
            </a:r>
          </a:p>
        </p:txBody>
      </p:sp>
      <p:sp>
        <p:nvSpPr>
          <p:cNvPr id="19" name="Gain 30 stat box"/>
          <p:cNvSpPr/>
          <p:nvPr/>
        </p:nvSpPr>
        <p:spPr>
          <a:xfrm>
            <a:off x="4800600" y="3246120"/>
            <a:ext cx="388620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Gain 30 stat bar"/>
          <p:cNvSpPr/>
          <p:nvPr/>
        </p:nvSpPr>
        <p:spPr>
          <a:xfrm>
            <a:off x="4800600" y="324612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Gain 30 stat figure"/>
          <p:cNvSpPr txBox="1"/>
          <p:nvPr/>
        </p:nvSpPr>
        <p:spPr>
          <a:xfrm>
            <a:off x="4983480" y="3246120"/>
            <a:ext cx="146304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57.3 %</a:t>
            </a:r>
          </a:p>
        </p:txBody>
      </p:sp>
      <p:sp>
        <p:nvSpPr>
          <p:cNvPr id="22" name="Gain 30 stat label"/>
          <p:cNvSpPr txBox="1"/>
          <p:nvPr/>
        </p:nvSpPr>
        <p:spPr>
          <a:xfrm>
            <a:off x="6446520" y="3246120"/>
            <a:ext cx="2148840" cy="914400"/>
          </a:xfrm>
          <a:prstGeom prst="rect">
            <a:avLst/>
          </a:prstGeom>
          <a:noFill/>
        </p:spPr>
        <p:txBody>
          <a:bodyPr wrap="square" lIns="0" rIns="0" tIns="0" bIns="0" anchor="ctr">
            <a:noAutofit/>
          </a:bodyPr>
          <a:lstStyle/>
          <a:p>
            <a:pPr algn="l">
              <a:spcAft>
                <a:spcPts val="400"/>
              </a:spcAft>
            </a:pPr>
            <a:r>
              <a:rPr sz="1200" b="1" lang="en-GB">
                <a:solidFill>
                  <a:schemeClr val="tx2"/>
                </a:solidFill>
              </a:rPr>
              <a:t>of all churners </a:t>
            </a:r>
            <a:r>
              <a:rPr sz="1200" b="0" lang="en-GB">
                <a:solidFill>
                  <a:schemeClr val="tx1"/>
                </a:solidFill>
              </a:rPr>
              <a:t>are in the top 30 %</a:t>
            </a:r>
          </a:p>
        </p:txBody>
      </p:sp>
      <p:sp>
        <p:nvSpPr>
          <p:cNvPr id="23" name="Lift callout box"/>
          <p:cNvSpPr/>
          <p:nvPr/>
        </p:nvSpPr>
        <p:spPr>
          <a:xfrm>
            <a:off x="457200" y="429768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Lift callout text"/>
          <p:cNvSpPr txBox="1"/>
          <p:nvPr/>
        </p:nvSpPr>
        <p:spPr>
          <a:xfrm>
            <a:off x="658368" y="4297680"/>
            <a:ext cx="7827264" cy="411480"/>
          </a:xfrm>
          <a:prstGeom prst="rect">
            <a:avLst/>
          </a:prstGeom>
          <a:noFill/>
        </p:spPr>
        <p:txBody>
          <a:bodyPr wrap="square" lIns="0" rIns="0" tIns="0" bIns="0" anchor="ctr">
            <a:noAutofit/>
          </a:bodyPr>
          <a:lstStyle/>
          <a:p>
            <a:pPr algn="l">
              <a:spcAft>
                <a:spcPts val="400"/>
              </a:spcAft>
            </a:pPr>
            <a:r>
              <a:rPr sz="1250" b="1" lang="en-GB">
                <a:solidFill>
                  <a:schemeClr val="bg1"/>
                </a:solidFill>
              </a:rPr>
              <a:t>Fixed budget? </a:t>
            </a:r>
            <a:r>
              <a:rPr sz="1250" b="0" lang="en-GB">
                <a:solidFill>
                  <a:schemeClr val="bg1"/>
                </a:solidFill>
              </a:rPr>
              <a:t>Call from the top of the ranked list.</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Sources: Neslin et al. (2006); simulated data (telco_churn.csv), test customers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Whom to call? Risk is not uplift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ch_p5_uplift.png" descr="Offer effect on churn in pp with 95 % intervals; below 0 = fewer churners. By risk quartile: Q1 −3.3 pp, Q3 −11.1 pp, Q4 −10.2 pp. By complaint calls: 3+ +8.2 pp (n = 377, interval includes 0)."/>
          <p:cNvPicPr>
            <a:picLocks noChangeAspect="1"/>
          </p:cNvPicPr>
          <p:nvPr/>
        </p:nvPicPr>
        <p:blipFill>
          <a:blip r:embed="rId3"/>
          <a:stretch>
            <a:fillRect/>
          </a:stretch>
        </p:blipFill>
        <p:spPr>
          <a:xfrm>
            <a:off x="457200" y="1234440"/>
            <a:ext cx="5120640" cy="2743200"/>
          </a:xfrm>
          <a:prstGeom prst="rect">
            <a:avLst/>
          </a:prstGeom>
        </p:spPr>
      </p:pic>
      <p:sp>
        <p:nvSpPr>
          <p:cNvPr id="11" name="Uplift row 1 row"/>
          <p:cNvSpPr/>
          <p:nvPr/>
        </p:nvSpPr>
        <p:spPr>
          <a:xfrm>
            <a:off x="5715000" y="1234440"/>
            <a:ext cx="2971800" cy="8412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Uplift row 1 bar"/>
          <p:cNvSpPr/>
          <p:nvPr/>
        </p:nvSpPr>
        <p:spPr>
          <a:xfrm>
            <a:off x="5715000" y="1234440"/>
            <a:ext cx="64008" cy="8412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Uplift row 1 text"/>
          <p:cNvSpPr txBox="1"/>
          <p:nvPr/>
        </p:nvSpPr>
        <p:spPr>
          <a:xfrm>
            <a:off x="5916168" y="1234440"/>
            <a:ext cx="2679192" cy="841248"/>
          </a:xfrm>
          <a:prstGeom prst="rect">
            <a:avLst/>
          </a:prstGeom>
          <a:noFill/>
        </p:spPr>
        <p:txBody>
          <a:bodyPr wrap="square" lIns="0" rIns="0" tIns="0" bIns="0" anchor="ctr">
            <a:noAutofit/>
          </a:bodyPr>
          <a:lstStyle/>
          <a:p>
            <a:pPr algn="l">
              <a:spcAft>
                <a:spcPts val="400"/>
              </a:spcAft>
            </a:pPr>
            <a:r>
              <a:rPr sz="1200" b="1" lang="en-GB">
                <a:solidFill>
                  <a:schemeClr val="tx2"/>
                </a:solidFill>
              </a:rPr>
              <a:t>Pilot: </a:t>
            </a:r>
            <a:r>
              <a:rPr sz="1200" b="0" lang="en-GB">
                <a:solidFill>
                  <a:schemeClr val="tx1"/>
                </a:solidFill>
              </a:rPr>
              <a:t>a random half got a retention offer; uplift = churn with minus without it</a:t>
            </a:r>
          </a:p>
        </p:txBody>
      </p:sp>
      <p:sp>
        <p:nvSpPr>
          <p:cNvPr id="14" name="Uplift row 2 row"/>
          <p:cNvSpPr/>
          <p:nvPr/>
        </p:nvSpPr>
        <p:spPr>
          <a:xfrm>
            <a:off x="5715000" y="2185416"/>
            <a:ext cx="2971800" cy="8412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Uplift row 2 bar"/>
          <p:cNvSpPr/>
          <p:nvPr/>
        </p:nvSpPr>
        <p:spPr>
          <a:xfrm>
            <a:off x="5715000" y="2185416"/>
            <a:ext cx="64008" cy="8412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Uplift row 2 text"/>
          <p:cNvSpPr txBox="1"/>
          <p:nvPr/>
        </p:nvSpPr>
        <p:spPr>
          <a:xfrm>
            <a:off x="5916168" y="2185416"/>
            <a:ext cx="2679192" cy="841248"/>
          </a:xfrm>
          <a:prstGeom prst="rect">
            <a:avLst/>
          </a:prstGeom>
          <a:noFill/>
        </p:spPr>
        <p:txBody>
          <a:bodyPr wrap="square" lIns="0" rIns="0" tIns="0" bIns="0" anchor="ctr">
            <a:noAutofit/>
          </a:bodyPr>
          <a:lstStyle/>
          <a:p>
            <a:pPr algn="l">
              <a:spcAft>
                <a:spcPts val="400"/>
              </a:spcAft>
            </a:pPr>
            <a:r>
              <a:rPr sz="1200" b="1" lang="en-GB">
                <a:solidFill>
                  <a:schemeClr val="tx2"/>
                </a:solidFill>
              </a:rPr>
              <a:t>Highest risk ≠ largest effect: </a:t>
            </a:r>
            <a:r>
              <a:rPr sz="1200" b="0" lang="en-GB">
                <a:solidFill>
                  <a:schemeClr val="tx1"/>
                </a:solidFill>
              </a:rPr>
              <a:t>Q4 −10.2 pp, Q3 −11.1 pp</a:t>
            </a:r>
          </a:p>
        </p:txBody>
      </p:sp>
      <p:sp>
        <p:nvSpPr>
          <p:cNvPr id="17" name="Uplift row 3 row"/>
          <p:cNvSpPr/>
          <p:nvPr/>
        </p:nvSpPr>
        <p:spPr>
          <a:xfrm>
            <a:off x="5715000" y="3136392"/>
            <a:ext cx="2971800" cy="8412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Uplift row 3 bar"/>
          <p:cNvSpPr/>
          <p:nvPr/>
        </p:nvSpPr>
        <p:spPr>
          <a:xfrm>
            <a:off x="5715000" y="3136392"/>
            <a:ext cx="64008" cy="8412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Uplift row 3 text"/>
          <p:cNvSpPr txBox="1"/>
          <p:nvPr/>
        </p:nvSpPr>
        <p:spPr>
          <a:xfrm>
            <a:off x="5916168" y="3136392"/>
            <a:ext cx="2679192" cy="841248"/>
          </a:xfrm>
          <a:prstGeom prst="rect">
            <a:avLst/>
          </a:prstGeom>
          <a:noFill/>
        </p:spPr>
        <p:txBody>
          <a:bodyPr wrap="square" lIns="0" rIns="0" tIns="0" bIns="0" anchor="ctr">
            <a:noAutofit/>
          </a:bodyPr>
          <a:lstStyle/>
          <a:p>
            <a:pPr algn="l">
              <a:spcAft>
                <a:spcPts val="400"/>
              </a:spcAft>
            </a:pPr>
            <a:r>
              <a:rPr sz="1200" b="1" lang="en-GB">
                <a:solidFill>
                  <a:schemeClr val="tx2"/>
                </a:solidFill>
              </a:rPr>
              <a:t>No response </a:t>
            </a:r>
            <a:r>
              <a:rPr sz="1200" b="0" lang="en-GB">
                <a:solidFill>
                  <a:schemeClr val="tx1"/>
                </a:solidFill>
              </a:rPr>
              <a:t>from 3 complaint calls on (377 customers; the interval includes 0)</a:t>
            </a:r>
          </a:p>
        </p:txBody>
      </p:sp>
      <p:sp>
        <p:nvSpPr>
          <p:cNvPr id="20" name="Uplift callout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Uplift callout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50" b="1" lang="en-GB">
                <a:solidFill>
                  <a:schemeClr val="bg1"/>
                </a:solidFill>
              </a:rPr>
              <a:t>Call the customers the offer moves, </a:t>
            </a:r>
            <a:r>
              <a:rPr sz="1250" b="0" lang="en-GB">
                <a:solidFill>
                  <a:schemeClr val="bg1"/>
                </a:solidFill>
              </a:rPr>
              <a:t>not the riskiest: it takes a random control group.</a:t>
            </a:r>
          </a:p>
        </p:txBody>
      </p:sp>
      <p:sp>
        <p:nvSpPr>
          <p:cNvPr id="2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Sources: Ascarza (2018); simulated data (telco_churn.csv), offer pilot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6 · polars, statsmodels, plotnine</a:t>
            </a:r>
          </a:p>
        </p:txBody>
      </p:sp>
      <p:sp>
        <p:nvSpPr>
          <p:cNvPr id="3" name="Title 2"/>
          <p:cNvSpPr>
            <a:spLocks noGrp="1"/>
          </p:cNvSpPr>
          <p:nvPr>
            <p:ph type="ctrTitle"/>
          </p:nvPr>
        </p:nvSpPr>
        <p:spPr/>
        <p:txBody>
          <a:bodyPr/>
          <a:lstStyle/>
          <a:p>
            <a:r>
              <a:rPr lang="en-GB"/>
              <a:t>The analyses in Python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ackage table"/>
          <p:cNvGraphicFramePr>
            <a:graphicFrameLocks noGrp="1"/>
          </p:cNvGraphicFramePr>
          <p:nvPr>
            <p:ph type="tbl" idx="1"/>
          </p:nvPr>
        </p:nvGraphicFramePr>
        <p:xfrm>
          <a:off x="457200" y="1234440"/>
          <a:ext cx="8229600" cy="2966720"/>
        </p:xfrm>
        <a:graphic>
          <a:graphicData uri="http://schemas.openxmlformats.org/drawingml/2006/table">
            <a:tbl>
              <a:tblPr firstRow="1" bandRow="1">
                <a:tableStyleId>{5C22544A-7EE6-4342-B048-85BDC9FD1C3A}</a:tableStyleId>
              </a:tblPr>
              <a:tblGrid>
                <a:gridCol w="2194560"/>
                <a:gridCol w="1828800"/>
                <a:gridCol w="4206240"/>
              </a:tblGrid>
              <a:tr h="370840">
                <a:tc>
                  <a:txBody>
                    <a:bodyPr/>
                    <a:lstStyle/>
                    <a:p>
                      <a:r>
                        <a:rPr sz="1300" lang="en-GB"/>
                        <a:t>Task</a:t>
                      </a:r>
                    </a:p>
                  </a:txBody>
                  <a:tcPr marT="34000" marB="34000"/>
                </a:tc>
                <a:tc>
                  <a:txBody>
                    <a:bodyPr/>
                    <a:lstStyle/>
                    <a:p>
                      <a:r>
                        <a:rPr sz="1300" lang="en-GB"/>
                        <a:t>Package</a:t>
                      </a:r>
                    </a:p>
                  </a:txBody>
                  <a:tcPr marT="34000" marB="34000"/>
                </a:tc>
                <a:tc>
                  <a:txBody>
                    <a:bodyPr/>
                    <a:lstStyle/>
                    <a:p>
                      <a:r>
                        <a:rPr sz="1300" lang="en-GB"/>
                        <a:t>Function</a:t>
                      </a:r>
                    </a:p>
                  </a:txBody>
                  <a:tcPr marT="34000" marB="34000"/>
                </a:tc>
              </a:tr>
              <a:tr h="370840">
                <a:tc>
                  <a:txBody>
                    <a:bodyPr/>
                    <a:lstStyle/>
                    <a:p>
                      <a:r>
                        <a:rPr sz="1150" b="1" lang="en-GB"/>
                        <a:t>Load and look</a:t>
                      </a:r>
                    </a:p>
                  </a:txBody>
                  <a:tcPr marT="34000" marB="34000"/>
                </a:tc>
                <a:tc>
                  <a:txBody>
                    <a:bodyPr/>
                    <a:lstStyle/>
                    <a:p>
                      <a:r>
                        <a:rPr sz="1150" lang="en-GB"/>
                        <a:t>polars</a:t>
                      </a:r>
                    </a:p>
                  </a:txBody>
                  <a:tcPr marT="34000" marB="34000"/>
                </a:tc>
                <a:tc>
                  <a:txBody>
                    <a:bodyPr/>
                    <a:lstStyle/>
                    <a:p>
                      <a:r>
                        <a:rPr sz="1150" lang="en-GB"/>
                        <a:t>pl.read_csv(); group_by().agg()</a:t>
                      </a:r>
                    </a:p>
                  </a:txBody>
                  <a:tcPr marT="34000" marB="34000"/>
                </a:tc>
              </a:tr>
              <a:tr h="370840">
                <a:tc>
                  <a:txBody>
                    <a:bodyPr/>
                    <a:lstStyle/>
                    <a:p>
                      <a:r>
                        <a:rPr sz="1150" b="1" lang="en-GB"/>
                        <a:t>Fit the logit</a:t>
                      </a:r>
                    </a:p>
                  </a:txBody>
                  <a:tcPr marT="34000" marB="34000"/>
                </a:tc>
                <a:tc>
                  <a:txBody>
                    <a:bodyPr/>
                    <a:lstStyle/>
                    <a:p>
                      <a:r>
                        <a:rPr sz="1150" lang="en-GB"/>
                        <a:t>statsmodels</a:t>
                      </a:r>
                    </a:p>
                  </a:txBody>
                  <a:tcPr marT="34000" marB="34000"/>
                </a:tc>
                <a:tc>
                  <a:txBody>
                    <a:bodyPr/>
                    <a:lstStyle/>
                    <a:p>
                      <a:r>
                        <a:rPr sz="1150" lang="en-GB"/>
                        <a:t>smf.logit(formula, data).fit()</a:t>
                      </a:r>
                    </a:p>
                  </a:txBody>
                  <a:tcPr marT="34000" marB="34000"/>
                </a:tc>
              </a:tr>
              <a:tr h="370840">
                <a:tc>
                  <a:txBody>
                    <a:bodyPr/>
                    <a:lstStyle/>
                    <a:p>
                      <a:r>
                        <a:rPr sz="1150" b="1" lang="en-GB"/>
                        <a:t>Odds ratios</a:t>
                      </a:r>
                    </a:p>
                  </a:txBody>
                  <a:tcPr marT="34000" marB="34000"/>
                </a:tc>
                <a:tc>
                  <a:txBody>
                    <a:bodyPr/>
                    <a:lstStyle/>
                    <a:p>
                      <a:r>
                        <a:rPr sz="1150" lang="en-GB"/>
                        <a:t>numpy</a:t>
                      </a:r>
                    </a:p>
                  </a:txBody>
                  <a:tcPr marT="34000" marB="34000"/>
                </a:tc>
                <a:tc>
                  <a:txBody>
                    <a:bodyPr/>
                    <a:lstStyle/>
                    <a:p>
                      <a:r>
                        <a:rPr sz="1150" lang="en-GB"/>
                        <a:t>np.exp(m.params)</a:t>
                      </a:r>
                    </a:p>
                  </a:txBody>
                  <a:tcPr marT="34000" marB="34000"/>
                </a:tc>
              </a:tr>
              <a:tr h="370840">
                <a:tc>
                  <a:txBody>
                    <a:bodyPr/>
                    <a:lstStyle/>
                    <a:p>
                      <a:r>
                        <a:rPr sz="1150" b="1" lang="en-GB"/>
                        <a:t>Marginal effects (pp)</a:t>
                      </a:r>
                    </a:p>
                  </a:txBody>
                  <a:tcPr marT="34000" marB="34000"/>
                </a:tc>
                <a:tc>
                  <a:txBody>
                    <a:bodyPr/>
                    <a:lstStyle/>
                    <a:p>
                      <a:r>
                        <a:rPr sz="1150" lang="en-GB"/>
                        <a:t>statsmodels</a:t>
                      </a:r>
                    </a:p>
                  </a:txBody>
                  <a:tcPr marT="34000" marB="34000"/>
                </a:tc>
                <a:tc>
                  <a:txBody>
                    <a:bodyPr/>
                    <a:lstStyle/>
                    <a:p>
                      <a:r>
                        <a:rPr sz="1150" lang="en-GB"/>
                        <a:t>m.get_margeff(dummy=True)</a:t>
                      </a:r>
                    </a:p>
                  </a:txBody>
                  <a:tcPr marT="34000" marB="34000"/>
                </a:tc>
              </a:tr>
              <a:tr h="370840">
                <a:tc>
                  <a:txBody>
                    <a:bodyPr/>
                    <a:lstStyle/>
                    <a:p>
                      <a:r>
                        <a:rPr sz="1150" b="1" lang="en-GB"/>
                        <a:t>Predictions with CI</a:t>
                      </a:r>
                    </a:p>
                  </a:txBody>
                  <a:tcPr marT="34000" marB="34000"/>
                </a:tc>
                <a:tc>
                  <a:txBody>
                    <a:bodyPr/>
                    <a:lstStyle/>
                    <a:p>
                      <a:r>
                        <a:rPr sz="1150" lang="en-GB"/>
                        <a:t>statsmodels</a:t>
                      </a:r>
                    </a:p>
                  </a:txBody>
                  <a:tcPr marT="34000" marB="34000"/>
                </a:tc>
                <a:tc>
                  <a:txBody>
                    <a:bodyPr/>
                    <a:lstStyle/>
                    <a:p>
                      <a:r>
                        <a:rPr sz="1150" lang="en-GB"/>
                        <a:t>m.get_prediction(profiles).summary_frame()</a:t>
                      </a:r>
                    </a:p>
                  </a:txBody>
                  <a:tcPr marT="34000" marB="34000"/>
                </a:tc>
              </a:tr>
              <a:tr h="370840">
                <a:tc>
                  <a:txBody>
                    <a:bodyPr/>
                    <a:lstStyle/>
                    <a:p>
                      <a:r>
                        <a:rPr sz="1150" b="1" lang="en-GB"/>
                        <a:t>Test split and lift</a:t>
                      </a:r>
                    </a:p>
                  </a:txBody>
                  <a:tcPr marT="34000" marB="34000"/>
                </a:tc>
                <a:tc>
                  <a:txBody>
                    <a:bodyPr/>
                    <a:lstStyle/>
                    <a:p>
                      <a:r>
                        <a:rPr sz="1150" lang="en-GB"/>
                        <a:t>numpy</a:t>
                      </a:r>
                    </a:p>
                  </a:txBody>
                  <a:tcPr marT="34000" marB="34000"/>
                </a:tc>
                <a:tc>
                  <a:txBody>
                    <a:bodyPr/>
                    <a:lstStyle/>
                    <a:p>
                      <a:r>
                        <a:rPr sz="1150" lang="en-GB"/>
                        <a:t>np.random.default_rng(1); np.argsort(-p)</a:t>
                      </a:r>
                    </a:p>
                  </a:txBody>
                  <a:tcPr marT="34000" marB="34000"/>
                </a:tc>
              </a:tr>
              <a:tr h="370840">
                <a:tc>
                  <a:txBody>
                    <a:bodyPr/>
                    <a:lstStyle/>
                    <a:p>
                      <a:r>
                        <a:rPr sz="1150" b="1" lang="en-GB"/>
                        <a:t>Plots</a:t>
                      </a:r>
                    </a:p>
                  </a:txBody>
                  <a:tcPr marT="34000" marB="34000"/>
                </a:tc>
                <a:tc>
                  <a:txBody>
                    <a:bodyPr/>
                    <a:lstStyle/>
                    <a:p>
                      <a:r>
                        <a:rPr sz="1150" lang="en-GB"/>
                        <a:t>plotnine</a:t>
                      </a:r>
                    </a:p>
                  </a:txBody>
                  <a:tcPr marT="34000" marB="34000"/>
                </a:tc>
                <a:tc>
                  <a:txBody>
                    <a:bodyPr/>
                    <a:lstStyle/>
                    <a:p>
                      <a:r>
                        <a:rPr sz="1150" lang="en-GB"/>
                        <a:t>ggplot, geom_line, geom_ribbon</a:t>
                      </a:r>
                    </a:p>
                  </a:txBody>
                  <a:tcPr marT="34000" marB="34000"/>
                </a:tc>
              </a:tr>
            </a:tbl>
          </a:graphicData>
        </a:graphic>
      </p:graphicFrame>
      <p:sp>
        <p:nvSpPr>
          <p:cNvPr id="3" name="Title 2"/>
          <p:cNvSpPr>
            <a:spLocks noGrp="1"/>
          </p:cNvSpPr>
          <p:nvPr>
            <p:ph type="title"/>
          </p:nvPr>
        </p:nvSpPr>
        <p:spPr/>
        <p:txBody>
          <a:bodyPr/>
          <a:lstStyle/>
          <a:p>
            <a:r>
              <a:rPr sz="1600" lang="en-GB"/>
              <a:t>The packages and functions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 load and look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oad code caption bar"/>
          <p:cNvSpPr/>
          <p:nvPr/>
        </p:nvSpPr>
        <p:spPr>
          <a:xfrm>
            <a:off x="457200" y="1234440"/>
            <a:ext cx="46634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oad code caption"/>
          <p:cNvSpPr txBox="1"/>
          <p:nvPr/>
        </p:nvSpPr>
        <p:spPr>
          <a:xfrm>
            <a:off x="566928" y="1234440"/>
            <a:ext cx="44439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polars</a:t>
            </a:r>
          </a:p>
        </p:txBody>
      </p:sp>
      <p:sp>
        <p:nvSpPr>
          <p:cNvPr id="12" name="Load code box"/>
          <p:cNvSpPr/>
          <p:nvPr/>
        </p:nvSpPr>
        <p:spPr>
          <a:xfrm>
            <a:off x="457200" y="1508760"/>
            <a:ext cx="4663440" cy="2560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oad code code"/>
          <p:cNvSpPr txBox="1"/>
          <p:nvPr/>
        </p:nvSpPr>
        <p:spPr>
          <a:xfrm>
            <a:off x="594360" y="1600200"/>
            <a:ext cx="4389120" cy="2377440"/>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import polars as pl</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churn = pl.read_csv("../../data/churn/telco_churn.csv")</a:t>
            </a:r>
          </a:p>
          <a:p>
            <a:pPr algn="l">
              <a:spcAft>
                <a:spcPts val="0"/>
              </a:spcAft>
            </a:pPr>
            <a:r>
              <a:rPr sz="1000" b="0" lang="en-GB">
                <a:solidFill>
                  <a:schemeClr val="bg1"/>
                </a:solidFill>
                <a:latin typeface="Consolas"/>
              </a:rPr>
              <a:t>df = churn.to_pandas()</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overview = (churn</a:t>
            </a:r>
          </a:p>
          <a:p>
            <a:pPr algn="l">
              <a:spcAft>
                <a:spcPts val="0"/>
              </a:spcAft>
            </a:pPr>
            <a:r>
              <a:rPr sz="1000" b="0" lang="en-GB">
                <a:solidFill>
                  <a:schemeClr val="bg1"/>
                </a:solidFill>
                <a:latin typeface="Consolas"/>
              </a:rPr>
              <a:t>    .group_by("country", maintain_order=True)</a:t>
            </a:r>
          </a:p>
          <a:p>
            <a:pPr algn="l">
              <a:spcAft>
                <a:spcPts val="0"/>
              </a:spcAft>
            </a:pPr>
            <a:r>
              <a:rPr sz="1000" b="0" lang="en-GB">
                <a:solidFill>
                  <a:schemeClr val="bg1"/>
                </a:solidFill>
                <a:latin typeface="Consolas"/>
              </a:rPr>
              <a:t>    .agg(pl.col("churn").mean().alias("churn_rate"),</a:t>
            </a:r>
          </a:p>
          <a:p>
            <a:pPr algn="l">
              <a:spcAft>
                <a:spcPts val="0"/>
              </a:spcAft>
            </a:pPr>
            <a:r>
              <a:rPr sz="1000" b="0" lang="en-GB">
                <a:solidFill>
                  <a:schemeClr val="bg1"/>
                </a:solidFill>
                <a:latin typeface="Consolas"/>
              </a:rPr>
              <a:t>         pl.col("churn").filter(pl.col("monthly") == 1)</a:t>
            </a:r>
          </a:p>
          <a:p>
            <a:pPr algn="l">
              <a:spcAft>
                <a:spcPts val="0"/>
              </a:spcAft>
            </a:pPr>
            <a:r>
              <a:rPr sz="1000" b="0" lang="en-GB">
                <a:solidFill>
                  <a:schemeClr val="bg1"/>
                </a:solidFill>
                <a:latin typeface="Consolas"/>
              </a:rPr>
              <a:t>         .mean().alias("churn_month_to_month"),</a:t>
            </a:r>
          </a:p>
          <a:p>
            <a:pPr algn="l">
              <a:spcAft>
                <a:spcPts val="0"/>
              </a:spcAft>
            </a:pPr>
            <a:r>
              <a:rPr sz="1000" b="0" lang="en-GB">
                <a:solidFill>
                  <a:schemeClr val="bg1"/>
                </a:solidFill>
                <a:latin typeface="Consolas"/>
              </a:rPr>
              <a:t>         pl.col("churn").filter(pl.col("monthly") == 0)</a:t>
            </a:r>
          </a:p>
          <a:p>
            <a:pPr algn="l">
              <a:spcAft>
                <a:spcPts val="0"/>
              </a:spcAft>
            </a:pPr>
            <a:r>
              <a:rPr sz="1000" b="0" lang="en-GB">
                <a:solidFill>
                  <a:schemeClr val="bg1"/>
                </a:solidFill>
                <a:latin typeface="Consolas"/>
              </a:rPr>
              <a:t>         .mean().alias("churn_24_month")))</a:t>
            </a:r>
          </a:p>
          <a:p>
            <a:pPr algn="l">
              <a:spcAft>
                <a:spcPts val="0"/>
              </a:spcAft>
            </a:pPr>
            <a:r>
              <a:rPr sz="1000" b="0" lang="en-GB">
                <a:solidFill>
                  <a:schemeClr val="bg1"/>
                </a:solidFill>
                <a:latin typeface="Consolas"/>
              </a:rPr>
              <a:t>overview</a:t>
            </a:r>
          </a:p>
        </p:txBody>
      </p:sp>
      <p:sp>
        <p:nvSpPr>
          <p:cNvPr id="14" name="Load out 1-1"/>
          <p:cNvSpPr/>
          <p:nvPr/>
        </p:nvSpPr>
        <p:spPr>
          <a:xfrm>
            <a:off x="5257800" y="1234440"/>
            <a:ext cx="42976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oad out text 1-1"/>
          <p:cNvSpPr txBox="1"/>
          <p:nvPr/>
        </p:nvSpPr>
        <p:spPr>
          <a:xfrm>
            <a:off x="5349240" y="1234440"/>
            <a:ext cx="246888" cy="384048"/>
          </a:xfrm>
          <a:prstGeom prst="rect">
            <a:avLst/>
          </a:prstGeom>
          <a:noFill/>
        </p:spPr>
        <p:txBody>
          <a:bodyPr wrap="square" lIns="0" rIns="0" tIns="0" bIns="0" anchor="ctr">
            <a:noAutofit/>
          </a:bodyPr>
          <a:lstStyle/>
          <a:p>
            <a:pPr algn="l">
              <a:spcAft>
                <a:spcPts val="400"/>
              </a:spcAft>
            </a:pPr>
            <a:r>
              <a:rPr sz="1150" b="1" lang="en-GB">
                <a:solidFill>
                  <a:schemeClr val="bg1"/>
                </a:solidFill>
              </a:rPr>
              <a:t/>
            </a:r>
          </a:p>
        </p:txBody>
      </p:sp>
      <p:sp>
        <p:nvSpPr>
          <p:cNvPr id="16" name="Load out 1-2"/>
          <p:cNvSpPr/>
          <p:nvPr/>
        </p:nvSpPr>
        <p:spPr>
          <a:xfrm>
            <a:off x="5715000" y="1234440"/>
            <a:ext cx="7040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oad out text 1-2"/>
          <p:cNvSpPr txBox="1"/>
          <p:nvPr/>
        </p:nvSpPr>
        <p:spPr>
          <a:xfrm>
            <a:off x="5806440" y="1234440"/>
            <a:ext cx="52120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All</a:t>
            </a:r>
          </a:p>
        </p:txBody>
      </p:sp>
      <p:sp>
        <p:nvSpPr>
          <p:cNvPr id="18" name="Load out 1-3"/>
          <p:cNvSpPr/>
          <p:nvPr/>
        </p:nvSpPr>
        <p:spPr>
          <a:xfrm>
            <a:off x="6446520" y="1234440"/>
            <a:ext cx="1207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oad out text 1-3"/>
          <p:cNvSpPr txBox="1"/>
          <p:nvPr/>
        </p:nvSpPr>
        <p:spPr>
          <a:xfrm>
            <a:off x="6537960" y="1234440"/>
            <a:ext cx="102412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Month-to-month</a:t>
            </a:r>
          </a:p>
        </p:txBody>
      </p:sp>
      <p:sp>
        <p:nvSpPr>
          <p:cNvPr id="20" name="Load out 1-4"/>
          <p:cNvSpPr/>
          <p:nvPr/>
        </p:nvSpPr>
        <p:spPr>
          <a:xfrm>
            <a:off x="7680960" y="1234440"/>
            <a:ext cx="100584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oad out text 1-4"/>
          <p:cNvSpPr txBox="1"/>
          <p:nvPr/>
        </p:nvSpPr>
        <p:spPr>
          <a:xfrm>
            <a:off x="7772400" y="1234440"/>
            <a:ext cx="795528" cy="384048"/>
          </a:xfrm>
          <a:prstGeom prst="rect">
            <a:avLst/>
          </a:prstGeom>
          <a:noFill/>
        </p:spPr>
        <p:txBody>
          <a:bodyPr wrap="square" lIns="0" rIns="0" tIns="0" bIns="0" anchor="ctr">
            <a:noAutofit/>
          </a:bodyPr>
          <a:lstStyle/>
          <a:p>
            <a:pPr algn="r">
              <a:spcAft>
                <a:spcPts val="400"/>
              </a:spcAft>
            </a:pPr>
            <a:r>
              <a:rPr sz="1150" b="1" lang="en-GB">
                <a:solidFill>
                  <a:schemeClr val="bg1"/>
                </a:solidFill>
              </a:rPr>
              <a:t>24-month</a:t>
            </a:r>
          </a:p>
        </p:txBody>
      </p:sp>
      <p:sp>
        <p:nvSpPr>
          <p:cNvPr id="22" name="Load out 2-1"/>
          <p:cNvSpPr/>
          <p:nvPr/>
        </p:nvSpPr>
        <p:spPr>
          <a:xfrm>
            <a:off x="5257800" y="1645920"/>
            <a:ext cx="4297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oad out text 2-1"/>
          <p:cNvSpPr txBox="1"/>
          <p:nvPr/>
        </p:nvSpPr>
        <p:spPr>
          <a:xfrm>
            <a:off x="5349240" y="1645920"/>
            <a:ext cx="24688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DE</a:t>
            </a:r>
          </a:p>
        </p:txBody>
      </p:sp>
      <p:sp>
        <p:nvSpPr>
          <p:cNvPr id="24" name="Load out 2-2"/>
          <p:cNvSpPr/>
          <p:nvPr/>
        </p:nvSpPr>
        <p:spPr>
          <a:xfrm>
            <a:off x="5715000" y="164592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oad out text 2-2"/>
          <p:cNvSpPr txBox="1"/>
          <p:nvPr/>
        </p:nvSpPr>
        <p:spPr>
          <a:xfrm>
            <a:off x="5806440" y="1645920"/>
            <a:ext cx="52120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15.4 %</a:t>
            </a:r>
          </a:p>
        </p:txBody>
      </p:sp>
      <p:sp>
        <p:nvSpPr>
          <p:cNvPr id="26" name="Load out 2-3"/>
          <p:cNvSpPr/>
          <p:nvPr/>
        </p:nvSpPr>
        <p:spPr>
          <a:xfrm>
            <a:off x="6446520" y="1645920"/>
            <a:ext cx="12070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oad out text 2-3"/>
          <p:cNvSpPr txBox="1"/>
          <p:nvPr/>
        </p:nvSpPr>
        <p:spPr>
          <a:xfrm>
            <a:off x="6537960" y="1645920"/>
            <a:ext cx="10241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26.4 %</a:t>
            </a:r>
          </a:p>
        </p:txBody>
      </p:sp>
      <p:sp>
        <p:nvSpPr>
          <p:cNvPr id="28" name="Load out 2-4"/>
          <p:cNvSpPr/>
          <p:nvPr/>
        </p:nvSpPr>
        <p:spPr>
          <a:xfrm>
            <a:off x="7680960" y="1645920"/>
            <a:ext cx="10058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oad out text 2-4"/>
          <p:cNvSpPr txBox="1"/>
          <p:nvPr/>
        </p:nvSpPr>
        <p:spPr>
          <a:xfrm>
            <a:off x="7772400" y="1645920"/>
            <a:ext cx="7955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9.6 %</a:t>
            </a:r>
          </a:p>
        </p:txBody>
      </p:sp>
      <p:sp>
        <p:nvSpPr>
          <p:cNvPr id="30" name="Load out 3-1"/>
          <p:cNvSpPr/>
          <p:nvPr/>
        </p:nvSpPr>
        <p:spPr>
          <a:xfrm>
            <a:off x="5257800" y="2057400"/>
            <a:ext cx="4297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oad out text 3-1"/>
          <p:cNvSpPr txBox="1"/>
          <p:nvPr/>
        </p:nvSpPr>
        <p:spPr>
          <a:xfrm>
            <a:off x="5349240" y="2057400"/>
            <a:ext cx="24688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AT</a:t>
            </a:r>
          </a:p>
        </p:txBody>
      </p:sp>
      <p:sp>
        <p:nvSpPr>
          <p:cNvPr id="32" name="Load out 3-2"/>
          <p:cNvSpPr/>
          <p:nvPr/>
        </p:nvSpPr>
        <p:spPr>
          <a:xfrm>
            <a:off x="5715000" y="205740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oad out text 3-2"/>
          <p:cNvSpPr txBox="1"/>
          <p:nvPr/>
        </p:nvSpPr>
        <p:spPr>
          <a:xfrm>
            <a:off x="5806440" y="2057400"/>
            <a:ext cx="52120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14.6 %</a:t>
            </a:r>
          </a:p>
        </p:txBody>
      </p:sp>
      <p:sp>
        <p:nvSpPr>
          <p:cNvPr id="34" name="Load out 3-3"/>
          <p:cNvSpPr/>
          <p:nvPr/>
        </p:nvSpPr>
        <p:spPr>
          <a:xfrm>
            <a:off x="6446520" y="2057400"/>
            <a:ext cx="12070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oad out text 3-3"/>
          <p:cNvSpPr txBox="1"/>
          <p:nvPr/>
        </p:nvSpPr>
        <p:spPr>
          <a:xfrm>
            <a:off x="6537960" y="2057400"/>
            <a:ext cx="10241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27.3 %</a:t>
            </a:r>
          </a:p>
        </p:txBody>
      </p:sp>
      <p:sp>
        <p:nvSpPr>
          <p:cNvPr id="36" name="Load out 3-4"/>
          <p:cNvSpPr/>
          <p:nvPr/>
        </p:nvSpPr>
        <p:spPr>
          <a:xfrm>
            <a:off x="7680960" y="2057400"/>
            <a:ext cx="10058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oad out text 3-4"/>
          <p:cNvSpPr txBox="1"/>
          <p:nvPr/>
        </p:nvSpPr>
        <p:spPr>
          <a:xfrm>
            <a:off x="7772400" y="2057400"/>
            <a:ext cx="7955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9.4 %</a:t>
            </a:r>
          </a:p>
        </p:txBody>
      </p:sp>
      <p:sp>
        <p:nvSpPr>
          <p:cNvPr id="38" name="Load out 4-1"/>
          <p:cNvSpPr/>
          <p:nvPr/>
        </p:nvSpPr>
        <p:spPr>
          <a:xfrm>
            <a:off x="5257800" y="2468880"/>
            <a:ext cx="4297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oad out text 4-1"/>
          <p:cNvSpPr txBox="1"/>
          <p:nvPr/>
        </p:nvSpPr>
        <p:spPr>
          <a:xfrm>
            <a:off x="5349240" y="2468880"/>
            <a:ext cx="24688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ES</a:t>
            </a:r>
          </a:p>
        </p:txBody>
      </p:sp>
      <p:sp>
        <p:nvSpPr>
          <p:cNvPr id="40" name="Load out 4-2"/>
          <p:cNvSpPr/>
          <p:nvPr/>
        </p:nvSpPr>
        <p:spPr>
          <a:xfrm>
            <a:off x="5715000" y="246888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oad out text 4-2"/>
          <p:cNvSpPr txBox="1"/>
          <p:nvPr/>
        </p:nvSpPr>
        <p:spPr>
          <a:xfrm>
            <a:off x="5806440" y="2468880"/>
            <a:ext cx="52120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34.7 %</a:t>
            </a:r>
          </a:p>
        </p:txBody>
      </p:sp>
      <p:sp>
        <p:nvSpPr>
          <p:cNvPr id="42" name="Load out 4-3"/>
          <p:cNvSpPr/>
          <p:nvPr/>
        </p:nvSpPr>
        <p:spPr>
          <a:xfrm>
            <a:off x="6446520" y="2468880"/>
            <a:ext cx="12070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oad out text 4-3"/>
          <p:cNvSpPr txBox="1"/>
          <p:nvPr/>
        </p:nvSpPr>
        <p:spPr>
          <a:xfrm>
            <a:off x="6537960" y="2468880"/>
            <a:ext cx="10241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46.6 %</a:t>
            </a:r>
          </a:p>
        </p:txBody>
      </p:sp>
      <p:sp>
        <p:nvSpPr>
          <p:cNvPr id="44" name="Load out 4-4"/>
          <p:cNvSpPr/>
          <p:nvPr/>
        </p:nvSpPr>
        <p:spPr>
          <a:xfrm>
            <a:off x="7680960" y="2468880"/>
            <a:ext cx="10058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oad out text 4-4"/>
          <p:cNvSpPr txBox="1"/>
          <p:nvPr/>
        </p:nvSpPr>
        <p:spPr>
          <a:xfrm>
            <a:off x="7772400" y="2468880"/>
            <a:ext cx="7955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24.7 %</a:t>
            </a:r>
          </a:p>
        </p:txBody>
      </p:sp>
      <p:sp>
        <p:nvSpPr>
          <p:cNvPr id="46" name="Load out 5-1"/>
          <p:cNvSpPr/>
          <p:nvPr/>
        </p:nvSpPr>
        <p:spPr>
          <a:xfrm>
            <a:off x="5257800" y="2880360"/>
            <a:ext cx="4297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oad out text 5-1"/>
          <p:cNvSpPr txBox="1"/>
          <p:nvPr/>
        </p:nvSpPr>
        <p:spPr>
          <a:xfrm>
            <a:off x="5349240" y="2880360"/>
            <a:ext cx="246888" cy="384048"/>
          </a:xfrm>
          <a:prstGeom prst="rect">
            <a:avLst/>
          </a:prstGeom>
          <a:noFill/>
        </p:spPr>
        <p:txBody>
          <a:bodyPr wrap="square" lIns="0" rIns="0" tIns="0" bIns="0" anchor="ctr">
            <a:noAutofit/>
          </a:bodyPr>
          <a:lstStyle/>
          <a:p>
            <a:pPr algn="l">
              <a:spcAft>
                <a:spcPts val="400"/>
              </a:spcAft>
            </a:pPr>
            <a:r>
              <a:rPr sz="1150" b="1" lang="en-GB">
                <a:solidFill>
                  <a:schemeClr val="tx2"/>
                </a:solidFill>
              </a:rPr>
              <a:t>PL</a:t>
            </a:r>
          </a:p>
        </p:txBody>
      </p:sp>
      <p:sp>
        <p:nvSpPr>
          <p:cNvPr id="48" name="Load out 5-2"/>
          <p:cNvSpPr/>
          <p:nvPr/>
        </p:nvSpPr>
        <p:spPr>
          <a:xfrm>
            <a:off x="5715000" y="2880360"/>
            <a:ext cx="7040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oad out text 5-2"/>
          <p:cNvSpPr txBox="1"/>
          <p:nvPr/>
        </p:nvSpPr>
        <p:spPr>
          <a:xfrm>
            <a:off x="5806440" y="2880360"/>
            <a:ext cx="52120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28.5 %</a:t>
            </a:r>
          </a:p>
        </p:txBody>
      </p:sp>
      <p:sp>
        <p:nvSpPr>
          <p:cNvPr id="50" name="Load out 5-3"/>
          <p:cNvSpPr/>
          <p:nvPr/>
        </p:nvSpPr>
        <p:spPr>
          <a:xfrm>
            <a:off x="6446520" y="2880360"/>
            <a:ext cx="12070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oad out text 5-3"/>
          <p:cNvSpPr txBox="1"/>
          <p:nvPr/>
        </p:nvSpPr>
        <p:spPr>
          <a:xfrm>
            <a:off x="6537960" y="2880360"/>
            <a:ext cx="10241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37.2 %</a:t>
            </a:r>
          </a:p>
        </p:txBody>
      </p:sp>
      <p:sp>
        <p:nvSpPr>
          <p:cNvPr id="52" name="Load out 5-4"/>
          <p:cNvSpPr/>
          <p:nvPr/>
        </p:nvSpPr>
        <p:spPr>
          <a:xfrm>
            <a:off x="7680960" y="2880360"/>
            <a:ext cx="100584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oad out text 5-4"/>
          <p:cNvSpPr txBox="1"/>
          <p:nvPr/>
        </p:nvSpPr>
        <p:spPr>
          <a:xfrm>
            <a:off x="7772400" y="2880360"/>
            <a:ext cx="795528" cy="384048"/>
          </a:xfrm>
          <a:prstGeom prst="rect">
            <a:avLst/>
          </a:prstGeom>
          <a:noFill/>
        </p:spPr>
        <p:txBody>
          <a:bodyPr wrap="square" lIns="0" rIns="0" tIns="0" bIns="0" anchor="ctr">
            <a:noAutofit/>
          </a:bodyPr>
          <a:lstStyle/>
          <a:p>
            <a:pPr algn="r">
              <a:spcAft>
                <a:spcPts val="400"/>
              </a:spcAft>
            </a:pPr>
            <a:r>
              <a:rPr sz="1150" b="0" lang="en-GB">
                <a:solidFill>
                  <a:schemeClr val="tx1"/>
                </a:solidFill>
              </a:rPr>
              <a:t>17.2 %</a:t>
            </a:r>
          </a:p>
        </p:txBody>
      </p:sp>
      <p:sp>
        <p:nvSpPr>
          <p:cNvPr id="54" name="Load caption"/>
          <p:cNvSpPr txBox="1"/>
          <p:nvPr/>
        </p:nvSpPr>
        <p:spPr>
          <a:xfrm>
            <a:off x="5257800" y="3310128"/>
            <a:ext cx="342900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Churn rate by country and contract</a:t>
            </a:r>
          </a:p>
        </p:txBody>
      </p:sp>
      <p:sp>
        <p:nvSpPr>
          <p:cNvPr id="55" name="Load tip box"/>
          <p:cNvSpPr/>
          <p:nvPr/>
        </p:nvSpPr>
        <p:spPr>
          <a:xfrm>
            <a:off x="457200" y="42062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Icon Load tip" descr=""/>
          <p:cNvPicPr>
            <a:picLocks noChangeAspect="1"/>
          </p:cNvPicPr>
          <p:nvPr/>
        </p:nvPicPr>
        <p:blipFill>
          <a:blip r:embed="rId3"/>
          <a:stretch>
            <a:fillRect/>
          </a:stretch>
        </p:blipFill>
        <p:spPr>
          <a:xfrm>
            <a:off x="658368" y="4251960"/>
            <a:ext cx="365760" cy="365760"/>
          </a:xfrm>
          <a:prstGeom prst="rect">
            <a:avLst/>
          </a:prstGeom>
        </p:spPr>
      </p:pic>
      <p:sp>
        <p:nvSpPr>
          <p:cNvPr id="57" name="Load tip text"/>
          <p:cNvSpPr txBox="1"/>
          <p:nvPr/>
        </p:nvSpPr>
        <p:spPr>
          <a:xfrm>
            <a:off x="1207008" y="42062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Look first: </a:t>
            </a:r>
            <a:r>
              <a:rPr sz="1200" b="0" lang="en-GB">
                <a:solidFill>
                  <a:schemeClr val="tx1"/>
                </a:solidFill>
              </a:rPr>
              <a:t>month-to-month customers churn two to three times as often, in every country.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fit the logit and the marginal effects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ogit code caption bar"/>
          <p:cNvSpPr/>
          <p:nvPr/>
        </p:nvSpPr>
        <p:spPr>
          <a:xfrm>
            <a:off x="457200" y="1234440"/>
            <a:ext cx="4206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ogit code caption"/>
          <p:cNvSpPr txBox="1"/>
          <p:nvPr/>
        </p:nvSpPr>
        <p:spPr>
          <a:xfrm>
            <a:off x="566928" y="1234440"/>
            <a:ext cx="3986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a:t>
            </a:r>
          </a:p>
        </p:txBody>
      </p:sp>
      <p:sp>
        <p:nvSpPr>
          <p:cNvPr id="12" name="Logit code box"/>
          <p:cNvSpPr/>
          <p:nvPr/>
        </p:nvSpPr>
        <p:spPr>
          <a:xfrm>
            <a:off x="457200" y="1508760"/>
            <a:ext cx="4206240" cy="2560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ogit code code"/>
          <p:cNvSpPr txBox="1"/>
          <p:nvPr/>
        </p:nvSpPr>
        <p:spPr>
          <a:xfrm>
            <a:off x="594360" y="1600200"/>
            <a:ext cx="3931920" cy="2377440"/>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import numpy as np</a:t>
            </a:r>
          </a:p>
          <a:p>
            <a:pPr algn="l">
              <a:spcAft>
                <a:spcPts val="0"/>
              </a:spcAft>
            </a:pPr>
            <a:r>
              <a:rPr sz="1150" b="0" lang="en-GB">
                <a:solidFill>
                  <a:schemeClr val="bg1"/>
                </a:solidFill>
                <a:latin typeface="Consolas"/>
              </a:rPr>
              <a:t>import statsmodels.formula.api as smf</a:t>
            </a:r>
          </a:p>
          <a:p>
            <a:pPr algn="l">
              <a:spcAft>
                <a:spcPts val="0"/>
              </a:spcAft>
            </a:pPr>
            <a:r>
              <a:rPr sz="1150" b="0" lang="en-GB">
                <a:solidFill>
                  <a:schemeClr val="bg1"/>
                </a:solidFill>
                <a:latin typeface="Consolas"/>
              </a:rPr>
              <a:t> </a:t>
            </a:r>
          </a:p>
          <a:p>
            <a:pPr algn="l">
              <a:spcAft>
                <a:spcPts val="0"/>
              </a:spcAft>
            </a:pPr>
            <a:r>
              <a:rPr sz="1150" b="0" lang="en-GB">
                <a:solidFill>
                  <a:schemeClr val="bg1"/>
                </a:solidFill>
                <a:latin typeface="Consolas"/>
              </a:rPr>
              <a:t>m = smf.logit(</a:t>
            </a:r>
          </a:p>
          <a:p>
            <a:pPr algn="l">
              <a:spcAft>
                <a:spcPts val="0"/>
              </a:spcAft>
            </a:pPr>
            <a:r>
              <a:rPr sz="1150" b="0" lang="en-GB">
                <a:solidFill>
                  <a:schemeClr val="bg1"/>
                </a:solidFill>
                <a:latin typeface="Consolas"/>
              </a:rPr>
              <a:t>    "churn ~ monthly + price_increase"</a:t>
            </a:r>
          </a:p>
          <a:p>
            <a:pPr algn="l">
              <a:spcAft>
                <a:spcPts val="0"/>
              </a:spcAft>
            </a:pPr>
            <a:r>
              <a:rPr sz="1150" b="0" lang="en-GB">
                <a:solidFill>
                  <a:schemeClr val="bg1"/>
                </a:solidFill>
                <a:latin typeface="Consolas"/>
              </a:rPr>
              <a:t>    " + complaints + np.log(tenure_months)"</a:t>
            </a:r>
          </a:p>
          <a:p>
            <a:pPr algn="l">
              <a:spcAft>
                <a:spcPts val="0"/>
              </a:spcAft>
            </a:pPr>
            <a:r>
              <a:rPr sz="1150" b="0" lang="en-GB">
                <a:solidFill>
                  <a:schemeClr val="bg1"/>
                </a:solidFill>
                <a:latin typeface="Consolas"/>
              </a:rPr>
              <a:t>    " + C(country, Treatment('DE'))",</a:t>
            </a:r>
          </a:p>
          <a:p>
            <a:pPr algn="l">
              <a:spcAft>
                <a:spcPts val="0"/>
              </a:spcAft>
            </a:pPr>
            <a:r>
              <a:rPr sz="1150" b="0" lang="en-GB">
                <a:solidFill>
                  <a:schemeClr val="bg1"/>
                </a:solidFill>
                <a:latin typeface="Consolas"/>
              </a:rPr>
              <a:t>    data=df).fit()</a:t>
            </a:r>
          </a:p>
          <a:p>
            <a:pPr algn="l">
              <a:spcAft>
                <a:spcPts val="0"/>
              </a:spcAft>
            </a:pPr>
            <a:r>
              <a:rPr sz="1150" b="0" lang="en-GB">
                <a:solidFill>
                  <a:schemeClr val="bg1"/>
                </a:solidFill>
                <a:latin typeface="Consolas"/>
              </a:rPr>
              <a:t> </a:t>
            </a:r>
          </a:p>
          <a:p>
            <a:pPr algn="l">
              <a:spcAft>
                <a:spcPts val="0"/>
              </a:spcAft>
            </a:pPr>
            <a:r>
              <a:rPr sz="1150" b="0" lang="en-GB">
                <a:solidFill>
                  <a:schemeClr val="bg1"/>
                </a:solidFill>
                <a:latin typeface="Consolas"/>
              </a:rPr>
              <a:t>m.get_margeff(dummy=True).summary()</a:t>
            </a:r>
          </a:p>
          <a:p>
            <a:pPr algn="l">
              <a:spcAft>
                <a:spcPts val="0"/>
              </a:spcAft>
            </a:pPr>
            <a:r>
              <a:rPr sz="1150" b="0" lang="en-GB">
                <a:solidFill>
                  <a:schemeClr val="bg1"/>
                </a:solidFill>
                <a:latin typeface="Consolas"/>
              </a:rPr>
              <a:t>ame(m, df, "monthly")    # by country</a:t>
            </a:r>
          </a:p>
          <a:p>
            <a:pPr algn="l">
              <a:spcAft>
                <a:spcPts val="0"/>
              </a:spcAft>
            </a:pPr>
            <a:r>
              <a:rPr sz="1150" b="0" lang="en-GB">
                <a:solidFill>
                  <a:schemeClr val="bg1"/>
                </a:solidFill>
                <a:latin typeface="Consolas"/>
              </a:rPr>
              <a:t>m.get_prediction(profiles).summary_frame()</a:t>
            </a:r>
          </a:p>
        </p:txBody>
      </p:sp>
      <p:sp>
        <p:nvSpPr>
          <p:cNvPr id="14" name="Logit out 1-1"/>
          <p:cNvSpPr/>
          <p:nvPr/>
        </p:nvSpPr>
        <p:spPr>
          <a:xfrm>
            <a:off x="4800600" y="1234440"/>
            <a:ext cx="152704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ogit out text 1-1"/>
          <p:cNvSpPr txBox="1"/>
          <p:nvPr/>
        </p:nvSpPr>
        <p:spPr>
          <a:xfrm>
            <a:off x="4892040" y="1234440"/>
            <a:ext cx="1344168"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Line</a:t>
            </a:r>
          </a:p>
        </p:txBody>
      </p:sp>
      <p:sp>
        <p:nvSpPr>
          <p:cNvPr id="16" name="Logit out 1-2"/>
          <p:cNvSpPr/>
          <p:nvPr/>
        </p:nvSpPr>
        <p:spPr>
          <a:xfrm>
            <a:off x="6355080" y="1234440"/>
            <a:ext cx="233172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ogit out text 1-2"/>
          <p:cNvSpPr txBox="1"/>
          <p:nvPr/>
        </p:nvSpPr>
        <p:spPr>
          <a:xfrm>
            <a:off x="6446520" y="1234440"/>
            <a:ext cx="2121408"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Month-to-month</a:t>
            </a:r>
          </a:p>
        </p:txBody>
      </p:sp>
      <p:sp>
        <p:nvSpPr>
          <p:cNvPr id="18" name="Logit out 2-1"/>
          <p:cNvSpPr/>
          <p:nvPr/>
        </p:nvSpPr>
        <p:spPr>
          <a:xfrm>
            <a:off x="4800600" y="1719072"/>
            <a:ext cx="1527048"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ogit out text 2-1"/>
          <p:cNvSpPr txBox="1"/>
          <p:nvPr/>
        </p:nvSpPr>
        <p:spPr>
          <a:xfrm>
            <a:off x="4892040" y="1719072"/>
            <a:ext cx="1344168"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get_margeff</a:t>
            </a:r>
          </a:p>
        </p:txBody>
      </p:sp>
      <p:sp>
        <p:nvSpPr>
          <p:cNvPr id="20" name="Logit out 2-2"/>
          <p:cNvSpPr/>
          <p:nvPr/>
        </p:nvSpPr>
        <p:spPr>
          <a:xfrm>
            <a:off x="6355080" y="1719072"/>
            <a:ext cx="2331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ogit out text 2-2"/>
          <p:cNvSpPr txBox="1"/>
          <p:nvPr/>
        </p:nvSpPr>
        <p:spPr>
          <a:xfrm>
            <a:off x="6446520" y="1719072"/>
            <a:ext cx="2121408"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+15.6 pp, all customers</a:t>
            </a:r>
          </a:p>
        </p:txBody>
      </p:sp>
      <p:sp>
        <p:nvSpPr>
          <p:cNvPr id="22" name="Logit out 3-1"/>
          <p:cNvSpPr/>
          <p:nvPr/>
        </p:nvSpPr>
        <p:spPr>
          <a:xfrm>
            <a:off x="4800600" y="2203704"/>
            <a:ext cx="1527048"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ogit out text 3-1"/>
          <p:cNvSpPr txBox="1"/>
          <p:nvPr/>
        </p:nvSpPr>
        <p:spPr>
          <a:xfrm>
            <a:off x="4892040" y="2203704"/>
            <a:ext cx="1344168"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ame</a:t>
            </a:r>
          </a:p>
        </p:txBody>
      </p:sp>
      <p:sp>
        <p:nvSpPr>
          <p:cNvPr id="24" name="Logit out 3-2"/>
          <p:cNvSpPr/>
          <p:nvPr/>
        </p:nvSpPr>
        <p:spPr>
          <a:xfrm>
            <a:off x="6355080" y="2203704"/>
            <a:ext cx="2331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ogit out text 3-2"/>
          <p:cNvSpPr txBox="1"/>
          <p:nvPr/>
        </p:nvSpPr>
        <p:spPr>
          <a:xfrm>
            <a:off x="6446520" y="2203704"/>
            <a:ext cx="2121408"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DE 12.4 pp, ES 20.1 pp</a:t>
            </a:r>
          </a:p>
        </p:txBody>
      </p:sp>
      <p:sp>
        <p:nvSpPr>
          <p:cNvPr id="26" name="Logit out 4-1"/>
          <p:cNvSpPr/>
          <p:nvPr/>
        </p:nvSpPr>
        <p:spPr>
          <a:xfrm>
            <a:off x="4800600" y="2688336"/>
            <a:ext cx="1527048"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ogit out text 4-1"/>
          <p:cNvSpPr txBox="1"/>
          <p:nvPr/>
        </p:nvSpPr>
        <p:spPr>
          <a:xfrm>
            <a:off x="4892040" y="2688336"/>
            <a:ext cx="1344168"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get_prediction</a:t>
            </a:r>
          </a:p>
        </p:txBody>
      </p:sp>
      <p:sp>
        <p:nvSpPr>
          <p:cNvPr id="28" name="Logit out 4-2"/>
          <p:cNvSpPr/>
          <p:nvPr/>
        </p:nvSpPr>
        <p:spPr>
          <a:xfrm>
            <a:off x="6355080" y="2688336"/>
            <a:ext cx="233172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ogit out text 4-2"/>
          <p:cNvSpPr txBox="1"/>
          <p:nvPr/>
        </p:nvSpPr>
        <p:spPr>
          <a:xfrm>
            <a:off x="6446520" y="2688336"/>
            <a:ext cx="2121408" cy="457200"/>
          </a:xfrm>
          <a:prstGeom prst="rect">
            <a:avLst/>
          </a:prstGeom>
          <a:noFill/>
        </p:spPr>
        <p:txBody>
          <a:bodyPr wrap="square" lIns="0" rIns="0" tIns="0" bIns="0" anchor="ctr">
            <a:noAutofit/>
          </a:bodyPr>
          <a:lstStyle/>
          <a:p>
            <a:pPr algn="l">
              <a:spcAft>
                <a:spcPts val="400"/>
              </a:spcAft>
            </a:pPr>
            <a:r>
              <a:rPr sz="1200" b="0" lang="en-GB">
                <a:solidFill>
                  <a:schemeClr val="tx1"/>
                </a:solidFill>
              </a:rPr>
              <a:t>DE 35.1 %, ES 60.9 %</a:t>
            </a:r>
          </a:p>
        </p:txBody>
      </p:sp>
      <p:sp>
        <p:nvSpPr>
          <p:cNvPr id="30" name="Logit caption"/>
          <p:cNvSpPr txBox="1"/>
          <p:nvPr/>
        </p:nvSpPr>
        <p:spPr>
          <a:xfrm>
            <a:off x="4800600" y="3191256"/>
            <a:ext cx="388620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Profile: price rise, 1 complaint call, 12 months</a:t>
            </a:r>
          </a:p>
        </p:txBody>
      </p:sp>
      <p:sp>
        <p:nvSpPr>
          <p:cNvPr id="31" name="Logit tip box"/>
          <p:cNvSpPr/>
          <p:nvPr/>
        </p:nvSpPr>
        <p:spPr>
          <a:xfrm>
            <a:off x="457200" y="42062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Logit tip" descr=""/>
          <p:cNvPicPr>
            <a:picLocks noChangeAspect="1"/>
          </p:cNvPicPr>
          <p:nvPr/>
        </p:nvPicPr>
        <p:blipFill>
          <a:blip r:embed="rId3"/>
          <a:stretch>
            <a:fillRect/>
          </a:stretch>
        </p:blipFill>
        <p:spPr>
          <a:xfrm>
            <a:off x="658368" y="4251960"/>
            <a:ext cx="365760" cy="365760"/>
          </a:xfrm>
          <a:prstGeom prst="rect">
            <a:avLst/>
          </a:prstGeom>
        </p:spPr>
      </p:pic>
      <p:sp>
        <p:nvSpPr>
          <p:cNvPr id="33" name="Logit tip text"/>
          <p:cNvSpPr txBox="1"/>
          <p:nvPr/>
        </p:nvSpPr>
        <p:spPr>
          <a:xfrm>
            <a:off x="1207008" y="42062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One slope for all countries: </a:t>
            </a:r>
            <a:r>
              <a:rPr sz="1200" b="0" lang="en-GB">
                <a:solidFill>
                  <a:schemeClr val="tx1"/>
                </a:solidFill>
              </a:rPr>
              <a:t>it overstates the gap; compare countries with country models.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evaluate the model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val code caption bar"/>
          <p:cNvSpPr/>
          <p:nvPr/>
        </p:nvSpPr>
        <p:spPr>
          <a:xfrm>
            <a:off x="457200" y="1234440"/>
            <a:ext cx="51206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val code caption"/>
          <p:cNvSpPr txBox="1"/>
          <p:nvPr/>
        </p:nvSpPr>
        <p:spPr>
          <a:xfrm>
            <a:off x="566928" y="1234440"/>
            <a:ext cx="49011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Python: statsmodels and numpy</a:t>
            </a:r>
          </a:p>
        </p:txBody>
      </p:sp>
      <p:sp>
        <p:nvSpPr>
          <p:cNvPr id="12" name="Eval code box"/>
          <p:cNvSpPr/>
          <p:nvPr/>
        </p:nvSpPr>
        <p:spPr>
          <a:xfrm>
            <a:off x="457200" y="1508760"/>
            <a:ext cx="5120640" cy="2560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val code code"/>
          <p:cNvSpPr txBox="1"/>
          <p:nvPr/>
        </p:nvSpPr>
        <p:spPr>
          <a:xfrm>
            <a:off x="594360" y="1600200"/>
            <a:ext cx="4846320" cy="23774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 FORMULA: the churn formula of Step 2 (qmd Step 0)</a:t>
            </a:r>
          </a:p>
          <a:p>
            <a:pPr algn="l">
              <a:spcAft>
                <a:spcPts val="0"/>
              </a:spcAft>
            </a:pPr>
            <a:r>
              <a:rPr sz="1100" b="0" lang="en-GB">
                <a:solidFill>
                  <a:schemeClr val="bg1"/>
                </a:solidFill>
                <a:latin typeface="Consolas"/>
              </a:rPr>
              <a:t>rng = np.random.default_rng(1)</a:t>
            </a:r>
          </a:p>
          <a:p>
            <a:pPr algn="l">
              <a:spcAft>
                <a:spcPts val="0"/>
              </a:spcAft>
            </a:pPr>
            <a:r>
              <a:rPr sz="1100" b="0" lang="en-GB">
                <a:solidFill>
                  <a:schemeClr val="bg1"/>
                </a:solidFill>
                <a:latin typeface="Consolas"/>
              </a:rPr>
              <a:t>test = rng.random(len(df)) &lt; 0.3</a:t>
            </a:r>
          </a:p>
          <a:p>
            <a:pPr algn="l">
              <a:spcAft>
                <a:spcPts val="0"/>
              </a:spcAft>
            </a:pPr>
            <a:r>
              <a:rPr sz="1100" b="0" lang="en-GB">
                <a:solidFill>
                  <a:schemeClr val="bg1"/>
                </a:solidFill>
                <a:latin typeface="Consolas"/>
              </a:rPr>
              <a:t>fit = smf.logit(FORMULA + " + satisfaction + C(country)",</a:t>
            </a:r>
          </a:p>
          <a:p>
            <a:pPr algn="l">
              <a:spcAft>
                <a:spcPts val="0"/>
              </a:spcAft>
            </a:pPr>
            <a:r>
              <a:rPr sz="1100" b="0" lang="en-GB">
                <a:solidFill>
                  <a:schemeClr val="bg1"/>
                </a:solidFill>
                <a:latin typeface="Consolas"/>
              </a:rPr>
              <a:t>                data=df[~test]).fit()</a:t>
            </a:r>
          </a:p>
          <a:p>
            <a:pPr algn="l">
              <a:spcAft>
                <a:spcPts val="0"/>
              </a:spcAft>
            </a:pPr>
            <a:r>
              <a:rPr sz="1100" b="0" lang="en-GB">
                <a:solidFill>
                  <a:schemeClr val="bg1"/>
                </a:solidFill>
                <a:latin typeface="Consolas"/>
              </a:rPr>
              <a:t>p = fit.predict(df[test]).to_numpy()</a:t>
            </a:r>
          </a:p>
          <a:p>
            <a:pPr algn="l">
              <a:spcAft>
                <a:spcPts val="0"/>
              </a:spcAft>
            </a:pPr>
            <a:r>
              <a:rPr sz="1100" b="0" lang="en-GB">
                <a:solidFill>
                  <a:schemeClr val="bg1"/>
                </a:solidFill>
                <a:latin typeface="Consolas"/>
              </a:rPr>
              <a:t>y = df.loc[test, "churn"].to_numpy()</a:t>
            </a:r>
          </a:p>
          <a:p>
            <a:pPr algn="l">
              <a:spcAft>
                <a:spcPts val="0"/>
              </a:spcAft>
            </a:pPr>
            <a:r>
              <a:rPr sz="1100" b="0" lang="en-GB">
                <a:solidFill>
                  <a:schemeClr val="bg1"/>
                </a:solidFill>
                <a:latin typeface="Consolas"/>
              </a:rPr>
              <a:t> </a:t>
            </a:r>
          </a:p>
          <a:p>
            <a:pPr algn="l">
              <a:spcAft>
                <a:spcPts val="0"/>
              </a:spcAft>
            </a:pPr>
            <a:r>
              <a:rPr sz="1100" b="0" lang="en-GB">
                <a:solidFill>
                  <a:schemeClr val="bg1"/>
                </a:solidFill>
                <a:latin typeface="Consolas"/>
              </a:rPr>
              <a:t>top = np.argsort(-p)[:round(0.1 * len(y))]</a:t>
            </a:r>
          </a:p>
          <a:p>
            <a:pPr algn="l">
              <a:spcAft>
                <a:spcPts val="0"/>
              </a:spcAft>
            </a:pPr>
            <a:r>
              <a:rPr sz="1100" b="0" lang="en-GB">
                <a:solidFill>
                  <a:schemeClr val="bg1"/>
                </a:solidFill>
                <a:latin typeface="Consolas"/>
              </a:rPr>
              <a:t>lift = y[top].mean() / y.mean()          # 2.46</a:t>
            </a:r>
          </a:p>
        </p:txBody>
      </p:sp>
      <p:sp>
        <p:nvSpPr>
          <p:cNvPr id="14" name="Eval out 1-1"/>
          <p:cNvSpPr/>
          <p:nvPr/>
        </p:nvSpPr>
        <p:spPr>
          <a:xfrm>
            <a:off x="5715000" y="1234440"/>
            <a:ext cx="202996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val out text 1-1"/>
          <p:cNvSpPr txBox="1"/>
          <p:nvPr/>
        </p:nvSpPr>
        <p:spPr>
          <a:xfrm>
            <a:off x="5806440" y="1234440"/>
            <a:ext cx="184708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Result</a:t>
            </a:r>
          </a:p>
        </p:txBody>
      </p:sp>
      <p:sp>
        <p:nvSpPr>
          <p:cNvPr id="16" name="Eval out 1-2"/>
          <p:cNvSpPr/>
          <p:nvPr/>
        </p:nvSpPr>
        <p:spPr>
          <a:xfrm>
            <a:off x="7772400" y="1234440"/>
            <a:ext cx="91440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val out text 1-2"/>
          <p:cNvSpPr txBox="1"/>
          <p:nvPr/>
        </p:nvSpPr>
        <p:spPr>
          <a:xfrm>
            <a:off x="7863840" y="1234440"/>
            <a:ext cx="704088" cy="384048"/>
          </a:xfrm>
          <a:prstGeom prst="rect">
            <a:avLst/>
          </a:prstGeom>
          <a:noFill/>
        </p:spPr>
        <p:txBody>
          <a:bodyPr wrap="square" lIns="0" rIns="0" tIns="0" bIns="0" anchor="ctr">
            <a:noAutofit/>
          </a:bodyPr>
          <a:lstStyle/>
          <a:p>
            <a:pPr algn="r">
              <a:spcAft>
                <a:spcPts val="400"/>
              </a:spcAft>
            </a:pPr>
            <a:r>
              <a:rPr sz="1200" b="1" lang="en-GB">
                <a:solidFill>
                  <a:schemeClr val="bg1"/>
                </a:solidFill>
              </a:rPr>
              <a:t>Value</a:t>
            </a:r>
          </a:p>
        </p:txBody>
      </p:sp>
      <p:sp>
        <p:nvSpPr>
          <p:cNvPr id="18" name="Eval out 2-1"/>
          <p:cNvSpPr/>
          <p:nvPr/>
        </p:nvSpPr>
        <p:spPr>
          <a:xfrm>
            <a:off x="5715000" y="1645920"/>
            <a:ext cx="20299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Eval out text 2-1"/>
          <p:cNvSpPr txBox="1"/>
          <p:nvPr/>
        </p:nvSpPr>
        <p:spPr>
          <a:xfrm>
            <a:off x="5806440" y="1645920"/>
            <a:ext cx="184708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Test customers</a:t>
            </a:r>
          </a:p>
        </p:txBody>
      </p:sp>
      <p:sp>
        <p:nvSpPr>
          <p:cNvPr id="20" name="Eval out 2-2"/>
          <p:cNvSpPr/>
          <p:nvPr/>
        </p:nvSpPr>
        <p:spPr>
          <a:xfrm>
            <a:off x="7772400" y="1645920"/>
            <a:ext cx="9144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val out text 2-2"/>
          <p:cNvSpPr txBox="1"/>
          <p:nvPr/>
        </p:nvSpPr>
        <p:spPr>
          <a:xfrm>
            <a:off x="7863840" y="1645920"/>
            <a:ext cx="70408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3,284</a:t>
            </a:r>
          </a:p>
        </p:txBody>
      </p:sp>
      <p:sp>
        <p:nvSpPr>
          <p:cNvPr id="22" name="Eval out 3-1"/>
          <p:cNvSpPr/>
          <p:nvPr/>
        </p:nvSpPr>
        <p:spPr>
          <a:xfrm>
            <a:off x="5715000" y="2057400"/>
            <a:ext cx="20299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val out text 3-1"/>
          <p:cNvSpPr txBox="1"/>
          <p:nvPr/>
        </p:nvSpPr>
        <p:spPr>
          <a:xfrm>
            <a:off x="5806440" y="2057400"/>
            <a:ext cx="184708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Churn, all</a:t>
            </a:r>
          </a:p>
        </p:txBody>
      </p:sp>
      <p:sp>
        <p:nvSpPr>
          <p:cNvPr id="24" name="Eval out 3-2"/>
          <p:cNvSpPr/>
          <p:nvPr/>
        </p:nvSpPr>
        <p:spPr>
          <a:xfrm>
            <a:off x="7772400" y="2057400"/>
            <a:ext cx="9144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val out text 3-2"/>
          <p:cNvSpPr txBox="1"/>
          <p:nvPr/>
        </p:nvSpPr>
        <p:spPr>
          <a:xfrm>
            <a:off x="7863840" y="2057400"/>
            <a:ext cx="70408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24.2 %</a:t>
            </a:r>
          </a:p>
        </p:txBody>
      </p:sp>
      <p:sp>
        <p:nvSpPr>
          <p:cNvPr id="26" name="Eval out 4-1"/>
          <p:cNvSpPr/>
          <p:nvPr/>
        </p:nvSpPr>
        <p:spPr>
          <a:xfrm>
            <a:off x="5715000" y="2468880"/>
            <a:ext cx="20299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val out text 4-1"/>
          <p:cNvSpPr txBox="1"/>
          <p:nvPr/>
        </p:nvSpPr>
        <p:spPr>
          <a:xfrm>
            <a:off x="5806440" y="2468880"/>
            <a:ext cx="184708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Churn, top 10 %</a:t>
            </a:r>
          </a:p>
        </p:txBody>
      </p:sp>
      <p:sp>
        <p:nvSpPr>
          <p:cNvPr id="28" name="Eval out 4-2"/>
          <p:cNvSpPr/>
          <p:nvPr/>
        </p:nvSpPr>
        <p:spPr>
          <a:xfrm>
            <a:off x="7772400" y="2468880"/>
            <a:ext cx="9144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Eval out text 4-2"/>
          <p:cNvSpPr txBox="1"/>
          <p:nvPr/>
        </p:nvSpPr>
        <p:spPr>
          <a:xfrm>
            <a:off x="7863840" y="2468880"/>
            <a:ext cx="70408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59.5 %</a:t>
            </a:r>
          </a:p>
        </p:txBody>
      </p:sp>
      <p:sp>
        <p:nvSpPr>
          <p:cNvPr id="30" name="Eval out 5-1"/>
          <p:cNvSpPr/>
          <p:nvPr/>
        </p:nvSpPr>
        <p:spPr>
          <a:xfrm>
            <a:off x="5715000" y="2880360"/>
            <a:ext cx="202996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Eval out text 5-1"/>
          <p:cNvSpPr txBox="1"/>
          <p:nvPr/>
        </p:nvSpPr>
        <p:spPr>
          <a:xfrm>
            <a:off x="5806440" y="2880360"/>
            <a:ext cx="184708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Top-decile lift</a:t>
            </a:r>
          </a:p>
        </p:txBody>
      </p:sp>
      <p:sp>
        <p:nvSpPr>
          <p:cNvPr id="32" name="Eval out 5-2"/>
          <p:cNvSpPr/>
          <p:nvPr/>
        </p:nvSpPr>
        <p:spPr>
          <a:xfrm>
            <a:off x="7772400" y="2880360"/>
            <a:ext cx="9144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Eval out text 5-2"/>
          <p:cNvSpPr txBox="1"/>
          <p:nvPr/>
        </p:nvSpPr>
        <p:spPr>
          <a:xfrm>
            <a:off x="7863840" y="2880360"/>
            <a:ext cx="704088" cy="384048"/>
          </a:xfrm>
          <a:prstGeom prst="rect">
            <a:avLst/>
          </a:prstGeom>
          <a:noFill/>
        </p:spPr>
        <p:txBody>
          <a:bodyPr wrap="square" lIns="0" rIns="0" tIns="0" bIns="0" anchor="ctr">
            <a:noAutofit/>
          </a:bodyPr>
          <a:lstStyle/>
          <a:p>
            <a:pPr algn="r">
              <a:spcAft>
                <a:spcPts val="400"/>
              </a:spcAft>
            </a:pPr>
            <a:r>
              <a:rPr sz="1200" b="0" lang="en-GB">
                <a:solidFill>
                  <a:schemeClr val="tx1"/>
                </a:solidFill>
              </a:rPr>
              <a:t>2.46</a:t>
            </a:r>
          </a:p>
        </p:txBody>
      </p:sp>
      <p:sp>
        <p:nvSpPr>
          <p:cNvPr id="34" name="Eval tip box"/>
          <p:cNvSpPr/>
          <p:nvPr/>
        </p:nvSpPr>
        <p:spPr>
          <a:xfrm>
            <a:off x="457200" y="42062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Eval tip" descr=""/>
          <p:cNvPicPr>
            <a:picLocks noChangeAspect="1"/>
          </p:cNvPicPr>
          <p:nvPr/>
        </p:nvPicPr>
        <p:blipFill>
          <a:blip r:embed="rId3"/>
          <a:stretch>
            <a:fillRect/>
          </a:stretch>
        </p:blipFill>
        <p:spPr>
          <a:xfrm>
            <a:off x="658368" y="4251960"/>
            <a:ext cx="365760" cy="365760"/>
          </a:xfrm>
          <a:prstGeom prst="rect">
            <a:avLst/>
          </a:prstGeom>
        </p:spPr>
      </p:pic>
      <p:sp>
        <p:nvSpPr>
          <p:cNvPr id="36" name="Eval tip text"/>
          <p:cNvSpPr txBox="1"/>
          <p:nvPr/>
        </p:nvSpPr>
        <p:spPr>
          <a:xfrm>
            <a:off x="1207008" y="420624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Judge on new customers: </a:t>
            </a:r>
            <a:r>
              <a:rPr sz="1200" b="0" lang="en-GB">
                <a:solidFill>
                  <a:schemeClr val="tx1"/>
                </a:solidFill>
              </a:rPr>
              <a:t>fit on 70 %, test on the other 30 %.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6 · quiz, coding exercise, Posit Assistant</a:t>
            </a:r>
          </a:p>
        </p:txBody>
      </p:sp>
      <p:sp>
        <p:nvSpPr>
          <p:cNvPr id="3" name="Title 2"/>
          <p:cNvSpPr>
            <a:spLocks noGrp="1"/>
          </p:cNvSpPr>
          <p:nvPr>
            <p:ph type="ctrTitle"/>
          </p:nvPr>
        </p:nvSpPr>
        <p:spPr/>
        <p:txBody>
          <a:bodyPr/>
          <a:lstStyle/>
          <a:p>
            <a:r>
              <a:rPr lang="en-GB"/>
              <a:t>In-class exercise</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Online quiz: logit and churn in five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iz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iz bar 1"/>
          <p:cNvSpPr/>
          <p:nvPr/>
        </p:nvSpPr>
        <p:spPr>
          <a:xfrm>
            <a:off x="457200" y="123444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iz text 1"/>
          <p:cNvSpPr txBox="1"/>
          <p:nvPr/>
        </p:nvSpPr>
        <p:spPr>
          <a:xfrm>
            <a:off x="658368" y="1234440"/>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1  In Austria, 20 of 100 month-to-month customers churn. The odds of churn are …</a:t>
            </a:r>
          </a:p>
          <a:p>
            <a:pPr algn="l">
              <a:spcAft>
                <a:spcPts val="100"/>
              </a:spcAft>
            </a:pPr>
            <a:r>
              <a:rPr sz="1200" b="0" lang="en-GB">
                <a:solidFill>
                  <a:schemeClr val="tx1"/>
                </a:solidFill>
              </a:rPr>
              <a:t>A  0.20     B  0.25     C  4.0</a:t>
            </a:r>
          </a:p>
        </p:txBody>
      </p:sp>
      <p:sp>
        <p:nvSpPr>
          <p:cNvPr id="13" name="Quiz row 2"/>
          <p:cNvSpPr/>
          <p:nvPr/>
        </p:nvSpPr>
        <p:spPr>
          <a:xfrm>
            <a:off x="457200" y="189280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iz bar 2"/>
          <p:cNvSpPr/>
          <p:nvPr/>
        </p:nvSpPr>
        <p:spPr>
          <a:xfrm>
            <a:off x="457200" y="189280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iz text 2"/>
          <p:cNvSpPr txBox="1"/>
          <p:nvPr/>
        </p:nvSpPr>
        <p:spPr>
          <a:xfrm>
            <a:off x="658368" y="1892808"/>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2  An odds ratio of 2 at a baseline churn rate of 20 %. The new churn probability is …</a:t>
            </a:r>
          </a:p>
          <a:p>
            <a:pPr algn="l">
              <a:spcAft>
                <a:spcPts val="100"/>
              </a:spcAft>
            </a:pPr>
            <a:r>
              <a:rPr sz="1200" b="0" lang="en-GB">
                <a:solidFill>
                  <a:schemeClr val="tx1"/>
                </a:solidFill>
              </a:rPr>
              <a:t>A  33 %     B  40 %     C  22 %</a:t>
            </a:r>
          </a:p>
        </p:txBody>
      </p:sp>
      <p:sp>
        <p:nvSpPr>
          <p:cNvPr id="16" name="Quiz row 3"/>
          <p:cNvSpPr/>
          <p:nvPr/>
        </p:nvSpPr>
        <p:spPr>
          <a:xfrm>
            <a:off x="457200" y="25511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iz bar 3"/>
          <p:cNvSpPr/>
          <p:nvPr/>
        </p:nvSpPr>
        <p:spPr>
          <a:xfrm>
            <a:off x="457200" y="255117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uiz text 3"/>
          <p:cNvSpPr txBox="1"/>
          <p:nvPr/>
        </p:nvSpPr>
        <p:spPr>
          <a:xfrm>
            <a:off x="658368" y="2551176"/>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3  Month-to-month coefficient: 1.19 in Germany, 0.81 in Spain. So …</a:t>
            </a:r>
          </a:p>
          <a:p>
            <a:pPr algn="l">
              <a:spcAft>
                <a:spcPts val="100"/>
              </a:spcAft>
            </a:pPr>
            <a:r>
              <a:rPr sz="1200" b="0" lang="en-GB">
                <a:solidFill>
                  <a:schemeClr val="tx1"/>
                </a:solidFill>
              </a:rPr>
              <a:t>A  bigger effect in Germany     B  not clear yet: compare in pp     C  bigger effect in Spain</a:t>
            </a:r>
          </a:p>
        </p:txBody>
      </p:sp>
      <p:sp>
        <p:nvSpPr>
          <p:cNvPr id="19" name="Quiz row 4"/>
          <p:cNvSpPr/>
          <p:nvPr/>
        </p:nvSpPr>
        <p:spPr>
          <a:xfrm>
            <a:off x="457200" y="320954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bar 4"/>
          <p:cNvSpPr/>
          <p:nvPr/>
        </p:nvSpPr>
        <p:spPr>
          <a:xfrm>
            <a:off x="457200" y="3209544"/>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iz text 4"/>
          <p:cNvSpPr txBox="1"/>
          <p:nvPr/>
        </p:nvSpPr>
        <p:spPr>
          <a:xfrm>
            <a:off x="658368" y="3209544"/>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4  Product term month-to-month × Spain: −0.245. In pp, the effect in Spain …</a:t>
            </a:r>
          </a:p>
          <a:p>
            <a:pPr algn="l">
              <a:spcAft>
                <a:spcPts val="100"/>
              </a:spcAft>
            </a:pPr>
            <a:r>
              <a:rPr sz="1200" b="0" lang="en-GB">
                <a:solidFill>
                  <a:schemeClr val="tx1"/>
                </a:solidFill>
              </a:rPr>
              <a:t>A  is smaller than in Germany     B  can still be larger than in Germany     C  is zero</a:t>
            </a:r>
          </a:p>
        </p:txBody>
      </p:sp>
      <p:sp>
        <p:nvSpPr>
          <p:cNvPr id="22" name="Quiz row 5"/>
          <p:cNvSpPr/>
          <p:nvPr/>
        </p:nvSpPr>
        <p:spPr>
          <a:xfrm>
            <a:off x="457200" y="386791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iz bar 5"/>
          <p:cNvSpPr/>
          <p:nvPr/>
        </p:nvSpPr>
        <p:spPr>
          <a:xfrm>
            <a:off x="457200" y="386791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Quiz text 5"/>
          <p:cNvSpPr txBox="1"/>
          <p:nvPr/>
        </p:nvSpPr>
        <p:spPr>
          <a:xfrm>
            <a:off x="658368" y="3867912"/>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5  Who should get the retention offer?</a:t>
            </a:r>
          </a:p>
          <a:p>
            <a:pPr algn="l">
              <a:spcAft>
                <a:spcPts val="100"/>
              </a:spcAft>
            </a:pPr>
            <a:r>
              <a:rPr sz="1200" b="0" lang="en-GB">
                <a:solidFill>
                  <a:schemeClr val="tx1"/>
                </a:solidFill>
              </a:rPr>
              <a:t>A  the highest predicted risk     B  those whose churn it lowers most     C  most complaint calls</a:t>
            </a:r>
          </a:p>
        </p:txBody>
      </p:sp>
      <p:sp>
        <p:nvSpPr>
          <p:cNvPr id="25" name="Quiz callout box"/>
          <p:cNvSpPr/>
          <p:nvPr/>
        </p:nvSpPr>
        <p:spPr>
          <a:xfrm>
            <a:off x="457200" y="4590288"/>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Quiz callout text"/>
          <p:cNvSpPr txBox="1"/>
          <p:nvPr/>
        </p:nvSpPr>
        <p:spPr>
          <a:xfrm>
            <a:off x="658368" y="4590288"/>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3 minutes alone, </a:t>
            </a:r>
            <a:r>
              <a:rPr sz="1250" b="0" lang="en-GB">
                <a:solidFill>
                  <a:schemeClr val="bg1"/>
                </a:solidFill>
              </a:rPr>
              <a:t>then compare with your neighbour.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Answers: in class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turn: churn across four countries, in Python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urn steps step 1"/>
          <p:cNvSpPr/>
          <p:nvPr/>
        </p:nvSpPr>
        <p:spPr>
          <a:xfrm>
            <a:off x="457200" y="1234440"/>
            <a:ext cx="2816352"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Pairs, with packages:</a:t>
            </a:r>
            <a:br/>
            <a:r>
              <a:rPr sz="1200" b="1" lang="en-GB">
                <a:solidFill>
                  <a:schemeClr val="tx2"/>
                </a:solidFill>
              </a:rPr>
              <a:t>35 minutes</a:t>
            </a:r>
          </a:p>
        </p:txBody>
      </p:sp>
      <p:sp>
        <p:nvSpPr>
          <p:cNvPr id="11" name="Turn steps step 2"/>
          <p:cNvSpPr/>
          <p:nvPr/>
        </p:nvSpPr>
        <p:spPr>
          <a:xfrm>
            <a:off x="3163824" y="1234440"/>
            <a:ext cx="2816352"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Plenary, answers:</a:t>
            </a:r>
            <a:br/>
            <a:r>
              <a:rPr sz="1200" b="1" lang="en-GB">
                <a:solidFill>
                  <a:schemeClr val="tx2"/>
                </a:solidFill>
              </a:rPr>
              <a:t>5 minutes</a:t>
            </a:r>
          </a:p>
        </p:txBody>
      </p:sp>
      <p:sp>
        <p:nvSpPr>
          <p:cNvPr id="12" name="Turn steps step 3"/>
          <p:cNvSpPr/>
          <p:nvPr/>
        </p:nvSpPr>
        <p:spPr>
          <a:xfrm>
            <a:off x="5870448" y="1234440"/>
            <a:ext cx="2816352"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Posit Assistant:</a:t>
            </a:r>
            <a:br/>
            <a:r>
              <a:rPr sz="1200" b="1" lang="en-GB">
                <a:solidFill>
                  <a:schemeClr val="tx2"/>
                </a:solidFill>
              </a:rPr>
              <a:t>10 minutes</a:t>
            </a:r>
          </a:p>
        </p:txBody>
      </p:sp>
      <p:sp>
        <p:nvSpPr>
          <p:cNvPr id="13" name="Turn q row 1"/>
          <p:cNvSpPr/>
          <p:nvPr/>
        </p:nvSpPr>
        <p:spPr>
          <a:xfrm>
            <a:off x="457200" y="182880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urn q number 1"/>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5" name="Turn q text 1"/>
          <p:cNvSpPr txBox="1"/>
          <p:nvPr/>
        </p:nvSpPr>
        <p:spPr>
          <a:xfrm>
            <a:off x="1051560" y="182880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Fit: </a:t>
            </a:r>
            <a:r>
              <a:rPr sz="1200" b="0" lang="en-GB">
                <a:solidFill>
                  <a:schemeClr val="tx1"/>
                </a:solidFill>
              </a:rPr>
              <a:t>the pooled churn logit with country dummies; the month-to-month AME per country (Step 2)</a:t>
            </a:r>
          </a:p>
        </p:txBody>
      </p:sp>
      <p:sp>
        <p:nvSpPr>
          <p:cNvPr id="16" name="Turn q row 2"/>
          <p:cNvSpPr/>
          <p:nvPr/>
        </p:nvSpPr>
        <p:spPr>
          <a:xfrm>
            <a:off x="457200" y="237744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urn q number 2"/>
          <p:cNvSpPr/>
          <p:nvPr/>
        </p:nvSpPr>
        <p:spPr>
          <a:xfrm>
            <a:off x="594360" y="24597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8" name="Turn q text 2"/>
          <p:cNvSpPr txBox="1"/>
          <p:nvPr/>
        </p:nvSpPr>
        <p:spPr>
          <a:xfrm>
            <a:off x="1051560" y="237744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Compare: </a:t>
            </a:r>
            <a:r>
              <a:rPr sz="1200" b="0" lang="en-GB">
                <a:solidFill>
                  <a:schemeClr val="tx1"/>
                </a:solidFill>
              </a:rPr>
              <a:t>the AMEs with the separate country coefficients; two memo sentences (Part 3)</a:t>
            </a:r>
          </a:p>
        </p:txBody>
      </p:sp>
      <p:sp>
        <p:nvSpPr>
          <p:cNvPr id="19" name="Turn q row 3"/>
          <p:cNvSpPr/>
          <p:nvPr/>
        </p:nvSpPr>
        <p:spPr>
          <a:xfrm>
            <a:off x="457200" y="292608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urn q number 3"/>
          <p:cNvSpPr/>
          <p:nvPr/>
        </p:nvSpPr>
        <p:spPr>
          <a:xfrm>
            <a:off x="594360" y="300837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1" name="Turn q text 3"/>
          <p:cNvSpPr txBox="1"/>
          <p:nvPr/>
        </p:nvSpPr>
        <p:spPr>
          <a:xfrm>
            <a:off x="1051560" y="292608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Evaluate: </a:t>
            </a:r>
            <a:r>
              <a:rPr sz="1200" b="0" lang="en-GB">
                <a:solidFill>
                  <a:schemeClr val="tx1"/>
                </a:solidFill>
              </a:rPr>
              <a:t>confusion matrix at 0.5 and top-decile lift on the 30 % test set (Step 3)</a:t>
            </a:r>
          </a:p>
        </p:txBody>
      </p:sp>
      <p:sp>
        <p:nvSpPr>
          <p:cNvPr id="22" name="Turn q row 4"/>
          <p:cNvSpPr/>
          <p:nvPr/>
        </p:nvSpPr>
        <p:spPr>
          <a:xfrm>
            <a:off x="457200" y="347472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urn q number 4"/>
          <p:cNvSpPr/>
          <p:nvPr/>
        </p:nvSpPr>
        <p:spPr>
          <a:xfrm>
            <a:off x="594360" y="35570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4" name="Turn q text 4"/>
          <p:cNvSpPr txBox="1"/>
          <p:nvPr/>
        </p:nvSpPr>
        <p:spPr>
          <a:xfrm>
            <a:off x="1051560" y="347472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Target: </a:t>
            </a:r>
            <a:r>
              <a:rPr sz="1200" b="0" lang="en-GB">
                <a:solidFill>
                  <a:schemeClr val="tx1"/>
                </a:solidFill>
              </a:rPr>
              <a:t>the offer effect by complaint calls; who should get the offer? (Step 4)</a:t>
            </a:r>
          </a:p>
        </p:txBody>
      </p:sp>
      <p:sp>
        <p:nvSpPr>
          <p:cNvPr id="25" name="Turn deliverable box"/>
          <p:cNvSpPr/>
          <p:nvPr/>
        </p:nvSpPr>
        <p:spPr>
          <a:xfrm>
            <a:off x="457200" y="402336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urn deliverable text"/>
          <p:cNvSpPr txBox="1"/>
          <p:nvPr/>
        </p:nvSpPr>
        <p:spPr>
          <a:xfrm>
            <a:off x="658368" y="402336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Deliverable: </a:t>
            </a:r>
            <a:r>
              <a:rPr sz="1200" b="0" lang="en-GB">
                <a:solidFill>
                  <a:schemeClr val="bg1"/>
                </a:solidFill>
              </a:rPr>
              <a:t>one slide per pair with a plot and two sentences for the retention manager.</a:t>
            </a:r>
          </a:p>
        </p:txBody>
      </p:sp>
      <p:sp>
        <p:nvSpPr>
          <p:cNvPr id="27" name="Turn file"/>
          <p:cNvSpPr txBox="1"/>
          <p:nvPr/>
        </p:nvSpPr>
        <p:spPr>
          <a:xfrm>
            <a:off x="457200" y="457200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sessions/01-foundations/churn_exercise.qmd</a:t>
            </a:r>
            <a:r>
              <a:rPr sz="1200" b="0" lang="en-GB">
                <a:solidFill>
                  <a:schemeClr val="tx1"/>
                </a:solidFill>
              </a:rPr>
              <a:t>  (code to reuse: logit_churn.qmd)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Then: the same tasks with Posit Assistant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osit how 1 row"/>
          <p:cNvSpPr/>
          <p:nvPr/>
        </p:nvSpPr>
        <p:spPr>
          <a:xfrm>
            <a:off x="457200" y="123444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osit how 1 bar"/>
          <p:cNvSpPr/>
          <p:nvPr/>
        </p:nvSpPr>
        <p:spPr>
          <a:xfrm>
            <a:off x="457200" y="1234440"/>
            <a:ext cx="64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osit how 1 text"/>
          <p:cNvSpPr txBox="1"/>
          <p:nvPr/>
        </p:nvSpPr>
        <p:spPr>
          <a:xfrm>
            <a:off x="658368" y="1234440"/>
            <a:ext cx="7936992"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How: </a:t>
            </a:r>
            <a:r>
              <a:rPr sz="1200" b="0" lang="en-GB">
                <a:solidFill>
                  <a:schemeClr val="tx1"/>
                </a:solidFill>
              </a:rPr>
              <a:t>code first, then open Posit Assistant, type @logit_churn.qmd, one task per prompt</a:t>
            </a:r>
          </a:p>
        </p:txBody>
      </p:sp>
      <p:sp>
        <p:nvSpPr>
          <p:cNvPr id="13" name="Prompt 1 caption bar"/>
          <p:cNvSpPr/>
          <p:nvPr/>
        </p:nvSpPr>
        <p:spPr>
          <a:xfrm>
            <a:off x="457200" y="1737360"/>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rompt 1 caption"/>
          <p:cNvSpPr txBox="1"/>
          <p:nvPr/>
        </p:nvSpPr>
        <p:spPr>
          <a:xfrm>
            <a:off x="566928" y="1737360"/>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1</a:t>
            </a:r>
          </a:p>
        </p:txBody>
      </p:sp>
      <p:sp>
        <p:nvSpPr>
          <p:cNvPr id="15" name="Prompt 1 box"/>
          <p:cNvSpPr/>
          <p:nvPr/>
        </p:nvSpPr>
        <p:spPr>
          <a:xfrm>
            <a:off x="457200" y="2011680"/>
            <a:ext cx="4046220" cy="9144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ompt 1 code"/>
          <p:cNvSpPr txBox="1"/>
          <p:nvPr/>
        </p:nvSpPr>
        <p:spPr>
          <a:xfrm>
            <a:off x="594360" y="2103120"/>
            <a:ext cx="3771900" cy="7315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@logit_churn.qmd Task 1. Fit the pooled</a:t>
            </a:r>
          </a:p>
          <a:p>
            <a:pPr algn="l">
              <a:spcAft>
                <a:spcPts val="0"/>
              </a:spcAft>
            </a:pPr>
            <a:r>
              <a:rPr sz="1050" b="0" lang="en-GB">
                <a:solidFill>
                  <a:schemeClr val="bg1"/>
                </a:solidFill>
                <a:latin typeface="Consolas"/>
              </a:rPr>
              <a:t>churn logit with Treatment('DE') and give</a:t>
            </a:r>
          </a:p>
          <a:p>
            <a:pPr algn="l">
              <a:spcAft>
                <a:spcPts val="0"/>
              </a:spcAft>
            </a:pPr>
            <a:r>
              <a:rPr sz="1050" b="0" lang="en-GB">
                <a:solidFill>
                  <a:schemeClr val="bg1"/>
                </a:solidFill>
                <a:latin typeface="Consolas"/>
              </a:rPr>
              <a:t>the month-to-month AME per country</a:t>
            </a:r>
          </a:p>
          <a:p>
            <a:pPr algn="l">
              <a:spcAft>
                <a:spcPts val="0"/>
              </a:spcAft>
            </a:pPr>
            <a:r>
              <a:rPr sz="1050" b="0" lang="en-GB">
                <a:solidFill>
                  <a:schemeClr val="bg1"/>
                </a:solidFill>
                <a:latin typeface="Consolas"/>
              </a:rPr>
              <a:t>in percentage points.</a:t>
            </a:r>
          </a:p>
        </p:txBody>
      </p:sp>
      <p:sp>
        <p:nvSpPr>
          <p:cNvPr id="17" name="Prompt 2 caption bar"/>
          <p:cNvSpPr/>
          <p:nvPr/>
        </p:nvSpPr>
        <p:spPr>
          <a:xfrm>
            <a:off x="4640580" y="1737360"/>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rompt 2 caption"/>
          <p:cNvSpPr txBox="1"/>
          <p:nvPr/>
        </p:nvSpPr>
        <p:spPr>
          <a:xfrm>
            <a:off x="4750308" y="1737360"/>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2</a:t>
            </a:r>
          </a:p>
        </p:txBody>
      </p:sp>
      <p:sp>
        <p:nvSpPr>
          <p:cNvPr id="19" name="Prompt 2 box"/>
          <p:cNvSpPr/>
          <p:nvPr/>
        </p:nvSpPr>
        <p:spPr>
          <a:xfrm>
            <a:off x="4640580" y="2011680"/>
            <a:ext cx="4046220" cy="9144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rompt 2 code"/>
          <p:cNvSpPr txBox="1"/>
          <p:nvPr/>
        </p:nvSpPr>
        <p:spPr>
          <a:xfrm>
            <a:off x="4777740" y="2103120"/>
            <a:ext cx="3771900" cy="7315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Task 2. Put these AMEs next to the</a:t>
            </a:r>
          </a:p>
          <a:p>
            <a:pPr algn="l">
              <a:spcAft>
                <a:spcPts val="0"/>
              </a:spcAft>
            </a:pPr>
            <a:r>
              <a:rPr sz="1050" b="0" lang="en-GB">
                <a:solidFill>
                  <a:schemeClr val="bg1"/>
                </a:solidFill>
                <a:latin typeface="Consolas"/>
              </a:rPr>
              <a:t>separate country coefficients. Why can</a:t>
            </a:r>
          </a:p>
          <a:p>
            <a:pPr algn="l">
              <a:spcAft>
                <a:spcPts val="0"/>
              </a:spcAft>
            </a:pPr>
            <a:r>
              <a:rPr sz="1050" b="0" lang="en-GB">
                <a:solidFill>
                  <a:schemeClr val="bg1"/>
                </a:solidFill>
                <a:latin typeface="Consolas"/>
              </a:rPr>
              <a:t>the two rank Germany and Spain</a:t>
            </a:r>
          </a:p>
          <a:p>
            <a:pPr algn="l">
              <a:spcAft>
                <a:spcPts val="0"/>
              </a:spcAft>
            </a:pPr>
            <a:r>
              <a:rPr sz="1050" b="0" lang="en-GB">
                <a:solidFill>
                  <a:schemeClr val="bg1"/>
                </a:solidFill>
                <a:latin typeface="Consolas"/>
              </a:rPr>
              <a:t>differently?</a:t>
            </a:r>
          </a:p>
        </p:txBody>
      </p:sp>
      <p:sp>
        <p:nvSpPr>
          <p:cNvPr id="21" name="Prompt 3 caption bar"/>
          <p:cNvSpPr/>
          <p:nvPr/>
        </p:nvSpPr>
        <p:spPr>
          <a:xfrm>
            <a:off x="457200" y="3017520"/>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ompt 3 caption"/>
          <p:cNvSpPr txBox="1"/>
          <p:nvPr/>
        </p:nvSpPr>
        <p:spPr>
          <a:xfrm>
            <a:off x="566928" y="3017520"/>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3</a:t>
            </a:r>
          </a:p>
        </p:txBody>
      </p:sp>
      <p:sp>
        <p:nvSpPr>
          <p:cNvPr id="23" name="Prompt 3 box"/>
          <p:cNvSpPr/>
          <p:nvPr/>
        </p:nvSpPr>
        <p:spPr>
          <a:xfrm>
            <a:off x="457200" y="3291840"/>
            <a:ext cx="4046220" cy="9144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rompt 3 code"/>
          <p:cNvSpPr txBox="1"/>
          <p:nvPr/>
        </p:nvSpPr>
        <p:spPr>
          <a:xfrm>
            <a:off x="594360" y="3383280"/>
            <a:ext cx="3771900" cy="7315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Task 3. On the 30 % test set, compute</a:t>
            </a:r>
          </a:p>
          <a:p>
            <a:pPr algn="l">
              <a:spcAft>
                <a:spcPts val="0"/>
              </a:spcAft>
            </a:pPr>
            <a:r>
              <a:rPr sz="1050" b="0" lang="en-GB">
                <a:solidFill>
                  <a:schemeClr val="bg1"/>
                </a:solidFill>
                <a:latin typeface="Consolas"/>
              </a:rPr>
              <a:t>the confusion matrix at 0.5 and the</a:t>
            </a:r>
          </a:p>
          <a:p>
            <a:pPr algn="l">
              <a:spcAft>
                <a:spcPts val="0"/>
              </a:spcAft>
            </a:pPr>
            <a:r>
              <a:rPr sz="1050" b="0" lang="en-GB">
                <a:solidFill>
                  <a:schemeClr val="bg1"/>
                </a:solidFill>
                <a:latin typeface="Consolas"/>
              </a:rPr>
              <a:t>top-decile lift. Explain both in one</a:t>
            </a:r>
          </a:p>
          <a:p>
            <a:pPr algn="l">
              <a:spcAft>
                <a:spcPts val="0"/>
              </a:spcAft>
            </a:pPr>
            <a:r>
              <a:rPr sz="1050" b="0" lang="en-GB">
                <a:solidFill>
                  <a:schemeClr val="bg1"/>
                </a:solidFill>
                <a:latin typeface="Consolas"/>
              </a:rPr>
              <a:t>sentence each for a manager.</a:t>
            </a:r>
          </a:p>
        </p:txBody>
      </p:sp>
      <p:sp>
        <p:nvSpPr>
          <p:cNvPr id="25" name="Prompt 4 caption bar"/>
          <p:cNvSpPr/>
          <p:nvPr/>
        </p:nvSpPr>
        <p:spPr>
          <a:xfrm>
            <a:off x="4640580" y="3017520"/>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Prompt 4 caption"/>
          <p:cNvSpPr txBox="1"/>
          <p:nvPr/>
        </p:nvSpPr>
        <p:spPr>
          <a:xfrm>
            <a:off x="4750308" y="3017520"/>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4</a:t>
            </a:r>
          </a:p>
        </p:txBody>
      </p:sp>
      <p:sp>
        <p:nvSpPr>
          <p:cNvPr id="27" name="Prompt 4 box"/>
          <p:cNvSpPr/>
          <p:nvPr/>
        </p:nvSpPr>
        <p:spPr>
          <a:xfrm>
            <a:off x="4640580" y="3291840"/>
            <a:ext cx="4046220" cy="9144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rompt 4 code"/>
          <p:cNvSpPr txBox="1"/>
          <p:nvPr/>
        </p:nvSpPr>
        <p:spPr>
          <a:xfrm>
            <a:off x="4777740" y="3383280"/>
            <a:ext cx="3771900" cy="7315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Task 4. Estimate the offer effect by</a:t>
            </a:r>
          </a:p>
          <a:p>
            <a:pPr algn="l">
              <a:spcAft>
                <a:spcPts val="0"/>
              </a:spcAft>
            </a:pPr>
            <a:r>
              <a:rPr sz="1050" b="0" lang="en-GB">
                <a:solidFill>
                  <a:schemeClr val="bg1"/>
                </a:solidFill>
                <a:latin typeface="Consolas"/>
              </a:rPr>
              <a:t>complaint calls from the pilot. Who</a:t>
            </a:r>
          </a:p>
          <a:p>
            <a:pPr algn="l">
              <a:spcAft>
                <a:spcPts val="0"/>
              </a:spcAft>
            </a:pPr>
            <a:r>
              <a:rPr sz="1050" b="0" lang="en-GB">
                <a:solidFill>
                  <a:schemeClr val="bg1"/>
                </a:solidFill>
                <a:latin typeface="Consolas"/>
              </a:rPr>
              <a:t>should get the offer, and why not</a:t>
            </a:r>
          </a:p>
          <a:p>
            <a:pPr algn="l">
              <a:spcAft>
                <a:spcPts val="0"/>
              </a:spcAft>
            </a:pPr>
            <a:r>
              <a:rPr sz="1050" b="0" lang="en-GB">
                <a:solidFill>
                  <a:schemeClr val="bg1"/>
                </a:solidFill>
                <a:latin typeface="Consolas"/>
              </a:rPr>
              <a:t>the riskiest customers?</a:t>
            </a:r>
          </a:p>
        </p:txBody>
      </p:sp>
      <p:sp>
        <p:nvSpPr>
          <p:cNvPr id="29" name="Posit check box"/>
          <p:cNvSpPr/>
          <p:nvPr/>
        </p:nvSpPr>
        <p:spPr>
          <a:xfrm>
            <a:off x="457200" y="43434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Posit check" descr=""/>
          <p:cNvPicPr>
            <a:picLocks noChangeAspect="1"/>
          </p:cNvPicPr>
          <p:nvPr/>
        </p:nvPicPr>
        <p:blipFill>
          <a:blip r:embed="rId3"/>
          <a:stretch>
            <a:fillRect/>
          </a:stretch>
        </p:blipFill>
        <p:spPr>
          <a:xfrm>
            <a:off x="658368" y="4389120"/>
            <a:ext cx="365760" cy="365760"/>
          </a:xfrm>
          <a:prstGeom prst="rect">
            <a:avLst/>
          </a:prstGeom>
        </p:spPr>
      </p:pic>
      <p:sp>
        <p:nvSpPr>
          <p:cNvPr id="31" name="Posit check text"/>
          <p:cNvSpPr txBox="1"/>
          <p:nvPr/>
        </p:nvSpPr>
        <p:spPr>
          <a:xfrm>
            <a:off x="1207008" y="43434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Check every number against your own code: </a:t>
            </a:r>
            <a:r>
              <a:rPr sz="1200" b="0" lang="en-GB">
                <a:solidFill>
                  <a:schemeClr val="bg1"/>
                </a:solidFill>
              </a:rPr>
              <a:t>you own the result.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Open churn data for your project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1 tile"/>
          <p:cNvSpPr/>
          <p:nvPr/>
        </p:nvSpPr>
        <p:spPr>
          <a:xfrm>
            <a:off x="457200" y="123444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Data 1" descr=""/>
          <p:cNvPicPr>
            <a:picLocks noChangeAspect="1"/>
          </p:cNvPicPr>
          <p:nvPr/>
        </p:nvPicPr>
        <p:blipFill>
          <a:blip r:embed="rId3"/>
          <a:stretch>
            <a:fillRect/>
          </a:stretch>
        </p:blipFill>
        <p:spPr>
          <a:xfrm>
            <a:off x="594360" y="1371600"/>
            <a:ext cx="365760" cy="365760"/>
          </a:xfrm>
          <a:prstGeom prst="rect">
            <a:avLst/>
          </a:prstGeom>
        </p:spPr>
      </p:pic>
      <p:sp>
        <p:nvSpPr>
          <p:cNvPr id="12" name="Data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IBM Telco Churn</a:t>
            </a:r>
          </a:p>
        </p:txBody>
      </p:sp>
      <p:sp>
        <p:nvSpPr>
          <p:cNvPr id="13" name="Data 1 text"/>
          <p:cNvSpPr txBox="1"/>
          <p:nvPr/>
        </p:nvSpPr>
        <p:spPr>
          <a:xfrm>
            <a:off x="594360" y="1856232"/>
            <a:ext cx="2377440" cy="1417320"/>
          </a:xfrm>
          <a:prstGeom prst="rect">
            <a:avLst/>
          </a:prstGeom>
          <a:noFill/>
        </p:spPr>
        <p:txBody>
          <a:bodyPr wrap="square" lIns="0" rIns="0" tIns="0" bIns="0" anchor="t">
            <a:noAutofit/>
          </a:bodyPr>
          <a:lstStyle/>
          <a:p>
            <a:pPr algn="l">
              <a:spcAft>
                <a:spcPts val="400"/>
              </a:spcAft>
            </a:pPr>
            <a:r>
              <a:rPr sz="1200" b="0" lang="en-GB">
                <a:solidFill>
                  <a:schemeClr val="tx1"/>
                </a:solidFill>
              </a:rPr>
              <a:t>7,043 customers, USA (fictional)</a:t>
            </a:r>
          </a:p>
          <a:p>
            <a:pPr algn="l">
              <a:spcAft>
                <a:spcPts val="400"/>
              </a:spcAft>
            </a:pPr>
            <a:r>
              <a:rPr sz="1200" b="1" lang="en-GB">
                <a:solidFill>
                  <a:schemeClr val="tx2"/>
                </a:solidFill>
              </a:rPr>
              <a:t>Churn: </a:t>
            </a:r>
            <a:r>
              <a:rPr sz="1200" b="0" lang="en-GB">
                <a:solidFill>
                  <a:schemeClr val="tx1"/>
                </a:solidFill>
              </a:rPr>
              <a:t>Left in the last month</a:t>
            </a:r>
          </a:p>
          <a:p>
            <a:pPr algn="l">
              <a:spcAft>
                <a:spcPts val="400"/>
              </a:spcAft>
            </a:pPr>
            <a:r>
              <a:rPr sz="1200" b="1" lang="en-GB">
                <a:solidFill>
                  <a:schemeClr val="tx2"/>
                </a:solidFill>
              </a:rPr>
              <a:t>Use: </a:t>
            </a:r>
            <a:r>
              <a:rPr sz="1200" b="0" lang="en-GB">
                <a:solidFill>
                  <a:schemeClr val="tx1"/>
                </a:solidFill>
              </a:rPr>
              <a:t>Learn the mechanics</a:t>
            </a:r>
          </a:p>
          <a:p>
            <a:pPr algn="l">
              <a:spcAft>
                <a:spcPts val="400"/>
              </a:spcAft>
            </a:pPr>
            <a:r>
              <a:rPr sz="1200" b="1" lang="en-GB">
                <a:solidFill>
                  <a:schemeClr val="tx2"/>
                </a:solidFill>
              </a:rPr>
              <a:t>Licence: </a:t>
            </a:r>
            <a:r>
              <a:rPr sz="1200" b="0" lang="en-GB">
                <a:solidFill>
                  <a:schemeClr val="tx1"/>
                </a:solidFill>
              </a:rPr>
              <a:t>Credit IBM</a:t>
            </a:r>
          </a:p>
        </p:txBody>
      </p:sp>
      <p:sp>
        <p:nvSpPr>
          <p:cNvPr id="14" name="Data 2 tile"/>
          <p:cNvSpPr/>
          <p:nvPr/>
        </p:nvSpPr>
        <p:spPr>
          <a:xfrm>
            <a:off x="3246120" y="123444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Data 2" descr=""/>
          <p:cNvPicPr>
            <a:picLocks noChangeAspect="1"/>
          </p:cNvPicPr>
          <p:nvPr/>
        </p:nvPicPr>
        <p:blipFill>
          <a:blip r:embed="rId4"/>
          <a:stretch>
            <a:fillRect/>
          </a:stretch>
        </p:blipFill>
        <p:spPr>
          <a:xfrm>
            <a:off x="3383280" y="1371600"/>
            <a:ext cx="365760" cy="365760"/>
          </a:xfrm>
          <a:prstGeom prst="rect">
            <a:avLst/>
          </a:prstGeom>
        </p:spPr>
      </p:pic>
      <p:sp>
        <p:nvSpPr>
          <p:cNvPr id="16" name="Data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Bank churn</a:t>
            </a:r>
          </a:p>
        </p:txBody>
      </p:sp>
      <p:sp>
        <p:nvSpPr>
          <p:cNvPr id="17" name="Data 2 text"/>
          <p:cNvSpPr txBox="1"/>
          <p:nvPr/>
        </p:nvSpPr>
        <p:spPr>
          <a:xfrm>
            <a:off x="3383280" y="1856232"/>
            <a:ext cx="2377440" cy="1417320"/>
          </a:xfrm>
          <a:prstGeom prst="rect">
            <a:avLst/>
          </a:prstGeom>
          <a:noFill/>
        </p:spPr>
        <p:txBody>
          <a:bodyPr wrap="square" lIns="0" rIns="0" tIns="0" bIns="0" anchor="t">
            <a:noAutofit/>
          </a:bodyPr>
          <a:lstStyle/>
          <a:p>
            <a:pPr algn="l">
              <a:spcAft>
                <a:spcPts val="400"/>
              </a:spcAft>
            </a:pPr>
            <a:r>
              <a:rPr sz="1200" b="0" lang="en-GB">
                <a:solidFill>
                  <a:schemeClr val="tx1"/>
                </a:solidFill>
              </a:rPr>
              <a:t>Churn_Modelling: 10,000 customers in France, Germany, Spain</a:t>
            </a:r>
          </a:p>
          <a:p>
            <a:pPr algn="l">
              <a:spcAft>
                <a:spcPts val="400"/>
              </a:spcAft>
            </a:pPr>
            <a:r>
              <a:rPr sz="1200" b="1" lang="en-GB">
                <a:solidFill>
                  <a:schemeClr val="tx2"/>
                </a:solidFill>
              </a:rPr>
              <a:t>Churn: </a:t>
            </a:r>
            <a:r>
              <a:rPr sz="1200" b="0" lang="en-GB">
                <a:solidFill>
                  <a:schemeClr val="tx1"/>
                </a:solidFill>
              </a:rPr>
              <a:t>Closed the account</a:t>
            </a:r>
          </a:p>
          <a:p>
            <a:pPr algn="l">
              <a:spcAft>
                <a:spcPts val="400"/>
              </a:spcAft>
            </a:pPr>
            <a:r>
              <a:rPr sz="1200" b="1" lang="en-GB">
                <a:solidFill>
                  <a:schemeClr val="tx2"/>
                </a:solidFill>
              </a:rPr>
              <a:t>Use: </a:t>
            </a:r>
            <a:r>
              <a:rPr sz="1200" b="0" lang="en-GB">
                <a:solidFill>
                  <a:schemeClr val="tx1"/>
                </a:solidFill>
              </a:rPr>
              <a:t>A country effect</a:t>
            </a:r>
          </a:p>
          <a:p>
            <a:pPr algn="l">
              <a:spcAft>
                <a:spcPts val="400"/>
              </a:spcAft>
            </a:pPr>
            <a:r>
              <a:rPr sz="1200" b="1" lang="en-GB">
                <a:solidFill>
                  <a:schemeClr val="tx2"/>
                </a:solidFill>
              </a:rPr>
              <a:t>Licence: </a:t>
            </a:r>
            <a:r>
              <a:rPr sz="1200" b="0" lang="en-GB">
                <a:solidFill>
                  <a:schemeClr val="tx1"/>
                </a:solidFill>
              </a:rPr>
              <a:t>Unclear: link only</a:t>
            </a:r>
          </a:p>
        </p:txBody>
      </p:sp>
      <p:sp>
        <p:nvSpPr>
          <p:cNvPr id="18" name="Data 3 tile"/>
          <p:cNvSpPr/>
          <p:nvPr/>
        </p:nvSpPr>
        <p:spPr>
          <a:xfrm>
            <a:off x="6035040" y="1234440"/>
            <a:ext cx="265176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Data 3" descr=""/>
          <p:cNvPicPr>
            <a:picLocks noChangeAspect="1"/>
          </p:cNvPicPr>
          <p:nvPr/>
        </p:nvPicPr>
        <p:blipFill>
          <a:blip r:embed="rId5"/>
          <a:stretch>
            <a:fillRect/>
          </a:stretch>
        </p:blipFill>
        <p:spPr>
          <a:xfrm>
            <a:off x="6172200" y="1371600"/>
            <a:ext cx="365760" cy="365760"/>
          </a:xfrm>
          <a:prstGeom prst="rect">
            <a:avLst/>
          </a:prstGeom>
        </p:spPr>
      </p:pic>
      <p:sp>
        <p:nvSpPr>
          <p:cNvPr id="20" name="Data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Online Retail II</a:t>
            </a:r>
          </a:p>
        </p:txBody>
      </p:sp>
      <p:sp>
        <p:nvSpPr>
          <p:cNvPr id="21" name="Data 3 text"/>
          <p:cNvSpPr txBox="1"/>
          <p:nvPr/>
        </p:nvSpPr>
        <p:spPr>
          <a:xfrm>
            <a:off x="6172200" y="1856232"/>
            <a:ext cx="2377440" cy="1417320"/>
          </a:xfrm>
          <a:prstGeom prst="rect">
            <a:avLst/>
          </a:prstGeom>
          <a:noFill/>
        </p:spPr>
        <p:txBody>
          <a:bodyPr wrap="square" lIns="0" rIns="0" tIns="0" bIns="0" anchor="t">
            <a:noAutofit/>
          </a:bodyPr>
          <a:lstStyle/>
          <a:p>
            <a:pPr algn="l">
              <a:spcAft>
                <a:spcPts val="400"/>
              </a:spcAft>
            </a:pPr>
            <a:r>
              <a:rPr sz="1200" b="0" lang="en-GB">
                <a:solidFill>
                  <a:schemeClr val="tx1"/>
                </a:solidFill>
              </a:rPr>
              <a:t>1.07 m transactions, 43 countries</a:t>
            </a:r>
          </a:p>
          <a:p>
            <a:pPr algn="l">
              <a:spcAft>
                <a:spcPts val="400"/>
              </a:spcAft>
            </a:pPr>
            <a:r>
              <a:rPr sz="1200" b="1" lang="en-GB">
                <a:solidFill>
                  <a:schemeClr val="tx2"/>
                </a:solidFill>
              </a:rPr>
              <a:t>Churn: </a:t>
            </a:r>
            <a:r>
              <a:rPr sz="1200" b="0" lang="en-GB">
                <a:solidFill>
                  <a:schemeClr val="tx1"/>
                </a:solidFill>
              </a:rPr>
              <a:t>You define it</a:t>
            </a:r>
          </a:p>
          <a:p>
            <a:pPr algn="l">
              <a:spcAft>
                <a:spcPts val="400"/>
              </a:spcAft>
            </a:pPr>
            <a:r>
              <a:rPr sz="1200" b="1" lang="en-GB">
                <a:solidFill>
                  <a:schemeClr val="tx2"/>
                </a:solidFill>
              </a:rPr>
              <a:t>Use: </a:t>
            </a:r>
            <a:r>
              <a:rPr sz="1200" b="0" lang="en-GB">
                <a:solidFill>
                  <a:schemeClr val="tx1"/>
                </a:solidFill>
              </a:rPr>
              <a:t>Real data, own label</a:t>
            </a:r>
          </a:p>
          <a:p>
            <a:pPr algn="l">
              <a:spcAft>
                <a:spcPts val="400"/>
              </a:spcAft>
            </a:pPr>
            <a:r>
              <a:rPr sz="1200" b="1" lang="en-GB">
                <a:solidFill>
                  <a:schemeClr val="tx2"/>
                </a:solidFill>
              </a:rPr>
              <a:t>Licence: </a:t>
            </a:r>
            <a:r>
              <a:rPr sz="1200" b="0" lang="en-GB">
                <a:solidFill>
                  <a:schemeClr val="tx1"/>
                </a:solidFill>
              </a:rPr>
              <a:t>CC BY 4.0</a:t>
            </a:r>
          </a:p>
        </p:txBody>
      </p:sp>
      <p:sp>
        <p:nvSpPr>
          <p:cNvPr id="22" name="Data licence box"/>
          <p:cNvSpPr/>
          <p:nvPr/>
        </p:nvSpPr>
        <p:spPr>
          <a:xfrm>
            <a:off x="457200" y="347472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Data licence text"/>
          <p:cNvSpPr txBox="1"/>
          <p:nvPr/>
        </p:nvSpPr>
        <p:spPr>
          <a:xfrm>
            <a:off x="658368" y="347472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The licence decides: </a:t>
            </a:r>
            <a:r>
              <a:rPr sz="1200" b="0" lang="en-GB">
                <a:solidFill>
                  <a:schemeClr val="bg1"/>
                </a:solidFill>
              </a:rPr>
              <a:t>commit only data you may share; link the rest.</a:t>
            </a:r>
          </a:p>
        </p:txBody>
      </p:sp>
      <p:sp>
        <p:nvSpPr>
          <p:cNvPr id="24" name="Data guide"/>
          <p:cNvSpPr txBox="1"/>
          <p:nvPr/>
        </p:nvSpPr>
        <p:spPr>
          <a:xfrm>
            <a:off x="457200" y="406908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Guide: </a:t>
            </a:r>
            <a:r>
              <a:rPr sz="1200" b="0" lang="en-GB">
                <a:solidFill>
                  <a:schemeClr val="tx2"/>
                </a:solidFill>
                <a:latin typeface="Consolas"/>
              </a:rPr>
              <a:t>sessions/01-foundations/churn_readings_and_data.md</a:t>
            </a:r>
            <a:r>
              <a:rPr sz="1200" b="0" lang="en-GB">
                <a:solidFill>
                  <a:schemeClr val="tx1"/>
                </a:solidFill>
              </a:rPr>
              <a:t>  (links, polars code, traps)</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Sources: dataset checks, Oct 2026 (churn_readings_and_data.md)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Odds are not probabilities: </a:t>
            </a:r>
            <a:r>
              <a:rPr sz="1250" b="0" lang="en-GB">
                <a:solidFill>
                  <a:schemeClr val="tx1"/>
                </a:solidFill>
              </a:rPr>
              <a:t>odds = churners per stayer; OR 3 is not “3 times as likely”</a:t>
            </a:r>
          </a:p>
        </p:txBody>
      </p:sp>
      <p:sp>
        <p:nvSpPr>
          <p:cNvPr id="13" name="Takeaway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Report three numbers: </a:t>
            </a:r>
            <a:r>
              <a:rPr sz="1250" b="0" lang="en-GB">
                <a:solidFill>
                  <a:schemeClr val="tx1"/>
                </a:solidFill>
              </a:rPr>
              <a:t>odds ratio, AME in percentage points, predicted probability with CI</a:t>
            </a:r>
          </a:p>
        </p:txBody>
      </p:sp>
      <p:sp>
        <p:nvSpPr>
          <p:cNvPr id="16" name="Takeaway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Compare countries in pp: </a:t>
            </a:r>
            <a:r>
              <a:rPr sz="1250" b="0" lang="en-GB">
                <a:solidFill>
                  <a:schemeClr val="tx1"/>
                </a:solidFill>
              </a:rPr>
              <a:t>not in coefficients, which carry each country's noise</a:t>
            </a:r>
          </a:p>
        </p:txBody>
      </p:sp>
      <p:sp>
        <p:nvSpPr>
          <p:cNvPr id="19" name="Takeaway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Interactions and survey scores: </a:t>
            </a:r>
            <a:r>
              <a:rPr sz="1250" b="0" lang="en-GB">
                <a:solidFill>
                  <a:schemeClr val="tx1"/>
                </a:solidFill>
              </a:rPr>
              <a:t>read interactions in pp; check scores before pooling</a:t>
            </a:r>
          </a:p>
        </p:txBody>
      </p:sp>
      <p:sp>
        <p:nvSpPr>
          <p:cNvPr id="22" name="Takeaway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Rank by risk (lift), target by uplift: </a:t>
            </a:r>
            <a:r>
              <a:rPr sz="1250" b="0" lang="en-GB">
                <a:solidFill>
                  <a:schemeClr val="tx1"/>
                </a:solidFill>
              </a:rPr>
              <a:t>the offer goes to those it changes</a:t>
            </a:r>
          </a:p>
        </p:txBody>
      </p:sp>
      <p:sp>
        <p:nvSpPr>
          <p:cNvPr id="25" name="Takeaway next box"/>
          <p:cNvSpPr/>
          <p:nvPr/>
        </p:nvSpPr>
        <p:spPr>
          <a:xfrm>
            <a:off x="457200" y="425196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akeaway next text"/>
          <p:cNvSpPr txBox="1"/>
          <p:nvPr/>
        </p:nvSpPr>
        <p:spPr>
          <a:xfrm>
            <a:off x="658368" y="4251960"/>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Next: </a:t>
            </a:r>
            <a:r>
              <a:rPr sz="1250" b="0" lang="en-GB">
                <a:solidFill>
                  <a:schemeClr val="bg1"/>
                </a:solidFill>
              </a:rPr>
              <a:t>run sessions/01-foundations/logit_churn.qmd; it reproduces the model results.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References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Logit methods</a:t>
            </a:r>
          </a:p>
        </p:txBody>
      </p:sp>
      <p:pic>
        <p:nvPicPr>
          <p:cNvPr id="12" name="Icon Ref 1" descr=""/>
          <p:cNvPicPr>
            <a:picLocks noChangeAspect="1"/>
          </p:cNvPicPr>
          <p:nvPr/>
        </p:nvPicPr>
        <p:blipFill>
          <a:blip r:embed="rId3"/>
          <a:stretch>
            <a:fillRect/>
          </a:stretch>
        </p:blipFill>
        <p:spPr>
          <a:xfrm>
            <a:off x="4064508" y="1280160"/>
            <a:ext cx="310896" cy="310896"/>
          </a:xfrm>
          <a:prstGeom prst="rect">
            <a:avLst/>
          </a:prstGeom>
        </p:spPr>
      </p:pic>
      <p:sp>
        <p:nvSpPr>
          <p:cNvPr id="13" name="Ref 1 body"/>
          <p:cNvSpPr/>
          <p:nvPr/>
        </p:nvSpPr>
        <p:spPr>
          <a:xfrm>
            <a:off x="457200" y="1645920"/>
            <a:ext cx="4046220"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 1 text"/>
          <p:cNvSpPr txBox="1"/>
          <p:nvPr/>
        </p:nvSpPr>
        <p:spPr>
          <a:xfrm>
            <a:off x="621792" y="1737360"/>
            <a:ext cx="3744468" cy="2697480"/>
          </a:xfrm>
          <a:prstGeom prst="rect">
            <a:avLst/>
          </a:prstGeom>
          <a:noFill/>
        </p:spPr>
        <p:txBody>
          <a:bodyPr wrap="square" lIns="0" rIns="0" tIns="0" bIns="0" anchor="t">
            <a:noAutofit/>
          </a:bodyPr>
          <a:lstStyle/>
          <a:p>
            <a:pPr algn="l">
              <a:spcAft>
                <a:spcPts val="500"/>
              </a:spcAft>
            </a:pPr>
            <a:r>
              <a:rPr sz="1100" b="1" lang="en-GB">
                <a:solidFill>
                  <a:schemeClr val="tx2"/>
                </a:solidFill>
              </a:rPr>
              <a:t>Mood, C. (2010). </a:t>
            </a:r>
            <a:r>
              <a:rPr sz="1100" b="0" lang="en-GB">
                <a:solidFill>
                  <a:schemeClr val="tx1"/>
                </a:solidFill>
              </a:rPr>
              <a:t>Logistic regression: why we cannot do what we think we can do, and what we can do about it. European Sociological Review, 26(1), 67–82.</a:t>
            </a:r>
          </a:p>
          <a:p>
            <a:pPr algn="l">
              <a:spcAft>
                <a:spcPts val="500"/>
              </a:spcAft>
            </a:pPr>
            <a:r>
              <a:rPr sz="1100" b="1" lang="en-GB">
                <a:solidFill>
                  <a:schemeClr val="tx2"/>
                </a:solidFill>
              </a:rPr>
              <a:t>Allison, P. D. (1999). </a:t>
            </a:r>
            <a:r>
              <a:rPr sz="1100" b="0" lang="en-GB">
                <a:solidFill>
                  <a:schemeClr val="tx1"/>
                </a:solidFill>
              </a:rPr>
              <a:t>Comparing logit and probit coefficients across groups. Sociological Methods &amp; Research, 28(2), 186–208.</a:t>
            </a:r>
          </a:p>
          <a:p>
            <a:pPr algn="l">
              <a:spcAft>
                <a:spcPts val="500"/>
              </a:spcAft>
            </a:pPr>
            <a:r>
              <a:rPr sz="1100" b="1" lang="en-GB">
                <a:solidFill>
                  <a:schemeClr val="tx2"/>
                </a:solidFill>
              </a:rPr>
              <a:t>Long, J. S. &amp; Mustillo, S. A. (2021). </a:t>
            </a:r>
            <a:r>
              <a:rPr sz="1100" b="0" lang="en-GB">
                <a:solidFill>
                  <a:schemeClr val="tx1"/>
                </a:solidFill>
              </a:rPr>
              <a:t>Using predictions and marginal effects to compare groups in regression models for binary outcomes. Sociological Methods &amp; Research, 50(3), 1284–1320.</a:t>
            </a:r>
          </a:p>
          <a:p>
            <a:pPr algn="l">
              <a:spcAft>
                <a:spcPts val="500"/>
              </a:spcAft>
            </a:pPr>
            <a:r>
              <a:rPr sz="1100" b="1" lang="en-GB">
                <a:solidFill>
                  <a:schemeClr val="tx2"/>
                </a:solidFill>
              </a:rPr>
              <a:t>Ai, C. &amp; Norton, E. C. (2003). </a:t>
            </a:r>
            <a:r>
              <a:rPr sz="1100" b="0" lang="en-GB">
                <a:solidFill>
                  <a:schemeClr val="tx1"/>
                </a:solidFill>
              </a:rPr>
              <a:t>Interaction terms in logit and probit models. Economics Letters, 80(1), 123–129.</a:t>
            </a:r>
          </a:p>
        </p:txBody>
      </p:sp>
      <p:sp>
        <p:nvSpPr>
          <p:cNvPr id="15" name="Ref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f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Churn</a:t>
            </a:r>
          </a:p>
        </p:txBody>
      </p:sp>
      <p:pic>
        <p:nvPicPr>
          <p:cNvPr id="17" name="Icon Ref 2" descr=""/>
          <p:cNvPicPr>
            <a:picLocks noChangeAspect="1"/>
          </p:cNvPicPr>
          <p:nvPr/>
        </p:nvPicPr>
        <p:blipFill>
          <a:blip r:embed="rId4"/>
          <a:stretch>
            <a:fillRect/>
          </a:stretch>
        </p:blipFill>
        <p:spPr>
          <a:xfrm>
            <a:off x="8247888" y="1280160"/>
            <a:ext cx="310896" cy="310896"/>
          </a:xfrm>
          <a:prstGeom prst="rect">
            <a:avLst/>
          </a:prstGeom>
        </p:spPr>
      </p:pic>
      <p:sp>
        <p:nvSpPr>
          <p:cNvPr id="18" name="Ref 2 body"/>
          <p:cNvSpPr/>
          <p:nvPr/>
        </p:nvSpPr>
        <p:spPr>
          <a:xfrm>
            <a:off x="4640580" y="1645920"/>
            <a:ext cx="4046220"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2 text"/>
          <p:cNvSpPr txBox="1"/>
          <p:nvPr/>
        </p:nvSpPr>
        <p:spPr>
          <a:xfrm>
            <a:off x="4805172" y="1737360"/>
            <a:ext cx="3744468" cy="2697480"/>
          </a:xfrm>
          <a:prstGeom prst="rect">
            <a:avLst/>
          </a:prstGeom>
          <a:noFill/>
        </p:spPr>
        <p:txBody>
          <a:bodyPr wrap="square" lIns="0" rIns="0" tIns="0" bIns="0" anchor="t">
            <a:noAutofit/>
          </a:bodyPr>
          <a:lstStyle/>
          <a:p>
            <a:pPr algn="l">
              <a:spcAft>
                <a:spcPts val="500"/>
              </a:spcAft>
            </a:pPr>
            <a:r>
              <a:rPr sz="1100" b="1" lang="en-GB">
                <a:solidFill>
                  <a:schemeClr val="tx2"/>
                </a:solidFill>
              </a:rPr>
              <a:t>Ascarza, E. et al. (2018). </a:t>
            </a:r>
            <a:r>
              <a:rPr sz="1100" b="0" lang="en-GB">
                <a:solidFill>
                  <a:schemeClr val="tx1"/>
                </a:solidFill>
              </a:rPr>
              <a:t>In pursuit of enhanced customer retention management: review, key issues, and future directions. Customer Needs and Solutions, 5(1–2), 65–81.</a:t>
            </a:r>
          </a:p>
          <a:p>
            <a:pPr algn="l">
              <a:spcAft>
                <a:spcPts val="500"/>
              </a:spcAft>
            </a:pPr>
            <a:r>
              <a:rPr sz="1100" b="1" lang="en-GB">
                <a:solidFill>
                  <a:schemeClr val="tx2"/>
                </a:solidFill>
              </a:rPr>
              <a:t>Neslin, S. A. et al. (2006). </a:t>
            </a:r>
            <a:r>
              <a:rPr sz="1100" b="0" lang="en-GB">
                <a:solidFill>
                  <a:schemeClr val="tx1"/>
                </a:solidFill>
              </a:rPr>
              <a:t>Defection detection: measuring and understanding the predictive accuracy of customer churn models. JMR, 43(2), 204–211.</a:t>
            </a:r>
          </a:p>
          <a:p>
            <a:pPr algn="l">
              <a:spcAft>
                <a:spcPts val="500"/>
              </a:spcAft>
            </a:pPr>
            <a:r>
              <a:rPr sz="1100" b="1" lang="en-GB">
                <a:solidFill>
                  <a:schemeClr val="tx2"/>
                </a:solidFill>
              </a:rPr>
              <a:t>Verbeke, W. et al. (2012). </a:t>
            </a:r>
            <a:r>
              <a:rPr sz="1100" b="0" lang="en-GB">
                <a:solidFill>
                  <a:schemeClr val="tx1"/>
                </a:solidFill>
              </a:rPr>
              <a:t>New insights into churn prediction in the telecommunication sector: a profit driven data mining approach. EJOR, 218(1), 211–⁠229.</a:t>
            </a:r>
          </a:p>
          <a:p>
            <a:pPr algn="l">
              <a:spcAft>
                <a:spcPts val="500"/>
              </a:spcAft>
            </a:pPr>
            <a:r>
              <a:rPr sz="1100" b="1" lang="en-GB">
                <a:solidFill>
                  <a:schemeClr val="tx2"/>
                </a:solidFill>
              </a:rPr>
              <a:t>Ascarza, E. (2018). </a:t>
            </a:r>
            <a:r>
              <a:rPr sz="1100" b="0" lang="en-GB">
                <a:solidFill>
                  <a:schemeClr val="tx1"/>
                </a:solidFill>
              </a:rPr>
              <a:t>Retention futility: targeting high-risk customers might be ineffective. JMR, 55(1), 80–98.</a:t>
            </a:r>
          </a:p>
        </p:txBody>
      </p:sp>
      <p:sp>
        <p:nvSpPr>
          <p:cNvPr id="20" name="Ref file"/>
          <p:cNvSpPr txBox="1"/>
          <p:nvPr/>
        </p:nvSpPr>
        <p:spPr>
          <a:xfrm>
            <a:off x="457200" y="4590288"/>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Full list with DOIs: </a:t>
            </a:r>
            <a:r>
              <a:rPr sz="1200" b="0" lang="en-GB">
                <a:solidFill>
                  <a:schemeClr val="tx2"/>
                </a:solidFill>
                <a:latin typeface="Consolas"/>
              </a:rPr>
              <a:t>sessions/01-foundations/churn_readings_and_data.md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
        <p:nvSpPr>
          <p:cNvPr id="11" name="Closing title"/>
          <p:cNvSpPr>
            <a:spLocks noGrp="1"/>
          </p:cNvSpPr>
          <p:nvPr>
            <p:ph type="title" idx="4294967295"/>
          </p:nvPr>
        </p:nvSpPr>
        <p:spPr>
          <a:xfrm>
            <a:off x="462407" y="301626"/>
            <a:ext cx="6990906" cy="496799"/>
          </a:xfrm>
        </p:spPr>
        <p:txBody>
          <a:bodyPr/>
          <a:lstStyle/>
          <a:p>
            <a:r>
              <a:rPr lang="en-GB">
                <a:solidFill>
                  <a:schemeClr val="tx2"/>
                </a:solidFill>
              </a:rPr>
              <a:t>Thank you. Questions and discussion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