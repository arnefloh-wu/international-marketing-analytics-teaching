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removePersonalInfoOnSave="1" saveSubsetFonts="1">
  <p:sldMasterIdLst>
    <p:sldMasterId id="2147483660" r:id="rId4"/>
  </p:sldMasterIdLst>
  <p:notesMasterIdLst>
    <p:notesMasterId r:id="rId31"/>
  </p:notesMasterIdLst>
  <p:handoutMasterIdLst>
    <p:handoutMasterId r:id="rId32"/>
  </p:handoutMasterIdLst>
  <p:sldIdLst>
    <p:sldId id="256" r:id="rId13"/>
    <p:sldId id="257" r:id="rId14"/>
    <p:sldId id="258" r:id="rId15"/>
    <p:sldId id="259" r:id="rId16"/>
    <p:sldId id="260" r:id="rId17"/>
    <p:sldId id="261" r:id="rId18"/>
    <p:sldId id="262" r:id="rId19"/>
    <p:sldId id="263" r:id="rId20"/>
    <p:sldId id="264" r:id="rId21"/>
    <p:sldId id="265" r:id="rId22"/>
    <p:sldId id="266" r:id="rId23"/>
    <p:sldId id="267" r:id="rId24"/>
    <p:sldId id="268" r:id="rId25"/>
    <p:sldId id="269" r:id="rId26"/>
    <p:sldId id="270" r:id="rId27"/>
    <p:sldId id="271" r:id="rId28"/>
    <p:sldId id="272" r:id="rId29"/>
    <p:sldId id="273" r:id="rId30"/>
    <p:sldId id="274" r:id="rId12"/>
    <p:sldId id="275" r:id="rId11"/>
    <p:sldId id="276" r:id="rId10"/>
    <p:sldId id="277" r:id="rId9"/>
    <p:sldId id="278" r:id="rId8"/>
    <p:sldId id="279" r:id="rId7"/>
    <p:sldId id="280" r:id="rId6"/>
    <p:sldId id="281" r:id="rId5"/>
    <p:sldId id="282" r:id="rId39"/>
    <p:sldId id="283" r:id="rId40"/>
    <p:sldId id="284" r:id="rId41"/>
    <p:sldId id="285" r:id="rId42"/>
    <p:sldId id="286" r:id="rId43"/>
    <p:sldId id="287" r:id="rId44"/>
    <p:sldId id="288" r:id="rId45"/>
    <p:sldId id="289" r:id="rId46"/>
    <p:sldId id="290" r:id="rId47"/>
    <p:sldId id="291" r:id="rId48"/>
    <p:sldId id="292" r:id="rId49"/>
    <p:sldId id="293" r:id="rId50"/>
    <p:sldId id="294" r:id="rId51"/>
    <p:sldId id="295" r:id="rId52"/>
    <p:sldId id="296" r:id="rId53"/>
    <p:sldId id="297" r:id="rId54"/>
    <p:sldId id="298" r:id="rId55"/>
    <p:sldId id="299" r:id="rId56"/>
    <p:sldId id="300" r:id="rId57"/>
    <p:sldId id="301" r:id="rId58"/>
    <p:sldId id="302" r:id="rId59"/>
    <p:sldId id="303" r:id="rId60"/>
  </p:sldIdLst>
  <p:sldSz cx="9144000" cy="5715000" type="screen16x10"/>
  <p:notesSz cx="6858000" cy="9144000"/>
  <p:custDataLst>
    <p:tags r:id="rId33"/>
  </p:custDataLst>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800">
          <p15:clr>
            <a:srgbClr val="A4A3A4"/>
          </p15:clr>
        </p15:guide>
        <p15:guide id="3" pos="4241">
          <p15:clr>
            <a:srgbClr val="A4A3A4"/>
          </p15:clr>
        </p15:guide>
        <p15:guide id="4" pos="4695">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9" name="Autor" initials="A" lastIdx="0" clrIdx="8"/>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7EFF7"/>
    <a:srgbClr val="CBDDEF"/>
    <a:srgbClr val="0096D3"/>
    <a:srgbClr val="0C94B7"/>
    <a:srgbClr val="41B4CE"/>
    <a:srgbClr val="73BAD1"/>
    <a:srgbClr val="65B4CE"/>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D27102A9-8310-4765-A935-A1911B00CA55}" styleName="Helle Formatvorlage 1 - Akz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3B4B98B0-60AC-42C2-AFA5-B58CD77FA1E5}" styleName="Helle Formatvorlage 1 - Akz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68D230F3-CF80-4859-8CE7-A43EE81993B5}" styleName="Helle Formatvorlage 1 - Akz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5C22544A-7EE6-4342-B048-85BDC9FD1C3A}" styleName="Mittlere Formatvorlage 2 - Akz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301B821-A1FF-4177-AEE7-76D212191A09}" styleName="Mittlere Formatvorlage 1 - Akz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9" autoAdjust="0"/>
    <p:restoredTop sz="93783" autoAdjust="0"/>
  </p:normalViewPr>
  <p:slideViewPr>
    <p:cSldViewPr snapToGrid="0" showGuides="1">
      <p:cViewPr varScale="1">
        <p:scale>
          <a:sx n="164" d="100"/>
          <a:sy n="164" d="100"/>
        </p:scale>
        <p:origin x="758" y="75"/>
      </p:cViewPr>
      <p:guideLst>
        <p:guide orient="horz" pos="1800"/>
        <p:guide pos="4241"/>
        <p:guide pos="4695"/>
      </p:guideLst>
    </p:cSldViewPr>
  </p:slideViewPr>
  <p:outlineViewPr>
    <p:cViewPr>
      <p:scale>
        <a:sx n="33" d="100"/>
        <a:sy n="33" d="100"/>
      </p:scale>
      <p:origin x="0" y="0"/>
    </p:cViewPr>
  </p:outlineViewPr>
  <p:notesTextViewPr>
    <p:cViewPr>
      <p:scale>
        <a:sx n="1" d="1"/>
        <a:sy n="1" d="1"/>
      </p:scale>
      <p:origin x="0" y="0"/>
    </p:cViewPr>
  </p:notesTextViewPr>
  <p:notesViewPr>
    <p:cSldViewPr snapToGrid="0" showGuides="1">
      <p:cViewPr varScale="1">
        <p:scale>
          <a:sx n="94" d="100"/>
          <a:sy n="94" d="100"/>
        </p:scale>
        <p:origin x="2748" y="84"/>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 Target="slides/slide26.xml"/><Relationship Id="rId6" Type="http://schemas.openxmlformats.org/officeDocument/2006/relationships/slide" Target="slides/slide25.xml"/><Relationship Id="rId7" Type="http://schemas.openxmlformats.org/officeDocument/2006/relationships/slide" Target="slides/slide24.xml"/><Relationship Id="rId8" Type="http://schemas.openxmlformats.org/officeDocument/2006/relationships/slide" Target="slides/slide23.xml"/><Relationship Id="rId9" Type="http://schemas.openxmlformats.org/officeDocument/2006/relationships/slide" Target="slides/slide22.xml"/><Relationship Id="rId10" Type="http://schemas.openxmlformats.org/officeDocument/2006/relationships/slide" Target="slides/slide21.xml"/><Relationship Id="rId11" Type="http://schemas.openxmlformats.org/officeDocument/2006/relationships/slide" Target="slides/slide20.xml"/><Relationship Id="rId12" Type="http://schemas.openxmlformats.org/officeDocument/2006/relationships/slide" Target="slides/slide19.xml"/><Relationship Id="rId13" Type="http://schemas.openxmlformats.org/officeDocument/2006/relationships/slide" Target="slides/slide1.xml"/><Relationship Id="rId14" Type="http://schemas.openxmlformats.org/officeDocument/2006/relationships/slide" Target="slides/slide2.xml"/><Relationship Id="rId15" Type="http://schemas.openxmlformats.org/officeDocument/2006/relationships/slide" Target="slides/slide3.xml"/><Relationship Id="rId16" Type="http://schemas.openxmlformats.org/officeDocument/2006/relationships/slide" Target="slides/slide4.xml"/><Relationship Id="rId17" Type="http://schemas.openxmlformats.org/officeDocument/2006/relationships/slide" Target="slides/slide5.xml"/><Relationship Id="rId18" Type="http://schemas.openxmlformats.org/officeDocument/2006/relationships/slide" Target="slides/slide6.xml"/><Relationship Id="rId19" Type="http://schemas.openxmlformats.org/officeDocument/2006/relationships/slide" Target="slides/slide7.xml"/><Relationship Id="rId20" Type="http://schemas.openxmlformats.org/officeDocument/2006/relationships/slide" Target="slides/slide8.xml"/><Relationship Id="rId21" Type="http://schemas.openxmlformats.org/officeDocument/2006/relationships/slide" Target="slides/slide9.xml"/><Relationship Id="rId22" Type="http://schemas.openxmlformats.org/officeDocument/2006/relationships/slide" Target="slides/slide10.xml"/><Relationship Id="rId23" Type="http://schemas.openxmlformats.org/officeDocument/2006/relationships/slide" Target="slides/slide11.xml"/><Relationship Id="rId24" Type="http://schemas.openxmlformats.org/officeDocument/2006/relationships/slide" Target="slides/slide12.xml"/><Relationship Id="rId25" Type="http://schemas.openxmlformats.org/officeDocument/2006/relationships/slide" Target="slides/slide13.xml"/><Relationship Id="rId26" Type="http://schemas.openxmlformats.org/officeDocument/2006/relationships/slide" Target="slides/slide14.xml"/><Relationship Id="rId27" Type="http://schemas.openxmlformats.org/officeDocument/2006/relationships/slide" Target="slides/slide15.xml"/><Relationship Id="rId28" Type="http://schemas.openxmlformats.org/officeDocument/2006/relationships/slide" Target="slides/slide16.xml"/><Relationship Id="rId29" Type="http://schemas.openxmlformats.org/officeDocument/2006/relationships/slide" Target="slides/slide17.xml"/><Relationship Id="rId30" Type="http://schemas.openxmlformats.org/officeDocument/2006/relationships/slide" Target="slides/slide18.xml"/><Relationship Id="rId31" Type="http://schemas.openxmlformats.org/officeDocument/2006/relationships/notesMaster" Target="notesMasters/notesMaster1.xml"/><Relationship Id="rId32" Type="http://schemas.openxmlformats.org/officeDocument/2006/relationships/handoutMaster" Target="handoutMasters/handoutMaster1.xml"/><Relationship Id="rId33" Type="http://schemas.openxmlformats.org/officeDocument/2006/relationships/tags" Target="tags/tag1.xml"/><Relationship Id="rId34" Type="http://schemas.openxmlformats.org/officeDocument/2006/relationships/commentAuthors" Target="commentAuthors.xml"/><Relationship Id="rId35" Type="http://schemas.openxmlformats.org/officeDocument/2006/relationships/presProps" Target="presProps.xml"/><Relationship Id="rId36" Type="http://schemas.openxmlformats.org/officeDocument/2006/relationships/viewProps" Target="viewProps.xml"/><Relationship Id="rId37" Type="http://schemas.openxmlformats.org/officeDocument/2006/relationships/theme" Target="theme/theme1.xml"/><Relationship Id="rId38" Type="http://schemas.openxmlformats.org/officeDocument/2006/relationships/tableStyles" Target="tableStyles.xml"/><Relationship Id="rId39" Type="http://schemas.openxmlformats.org/officeDocument/2006/relationships/slide" Target="slides/slide27.xml"/><Relationship Id="rId40" Type="http://schemas.openxmlformats.org/officeDocument/2006/relationships/slide" Target="slides/slide28.xml"/><Relationship Id="rId41" Type="http://schemas.openxmlformats.org/officeDocument/2006/relationships/slide" Target="slides/slide29.xml"/><Relationship Id="rId42" Type="http://schemas.openxmlformats.org/officeDocument/2006/relationships/slide" Target="slides/slide30.xml"/><Relationship Id="rId43" Type="http://schemas.openxmlformats.org/officeDocument/2006/relationships/slide" Target="slides/slide31.xml"/><Relationship Id="rId44" Type="http://schemas.openxmlformats.org/officeDocument/2006/relationships/slide" Target="slides/slide32.xml"/><Relationship Id="rId45" Type="http://schemas.openxmlformats.org/officeDocument/2006/relationships/slide" Target="slides/slide33.xml"/><Relationship Id="rId46" Type="http://schemas.openxmlformats.org/officeDocument/2006/relationships/slide" Target="slides/slide34.xml"/><Relationship Id="rId47" Type="http://schemas.openxmlformats.org/officeDocument/2006/relationships/slide" Target="slides/slide35.xml"/><Relationship Id="rId48" Type="http://schemas.openxmlformats.org/officeDocument/2006/relationships/slide" Target="slides/slide36.xml"/><Relationship Id="rId49" Type="http://schemas.openxmlformats.org/officeDocument/2006/relationships/slide" Target="slides/slide37.xml"/><Relationship Id="rId50" Type="http://schemas.openxmlformats.org/officeDocument/2006/relationships/slide" Target="slides/slide38.xml"/><Relationship Id="rId51" Type="http://schemas.openxmlformats.org/officeDocument/2006/relationships/slide" Target="slides/slide39.xml"/><Relationship Id="rId52" Type="http://schemas.openxmlformats.org/officeDocument/2006/relationships/slide" Target="slides/slide40.xml"/><Relationship Id="rId53" Type="http://schemas.openxmlformats.org/officeDocument/2006/relationships/slide" Target="slides/slide41.xml"/><Relationship Id="rId54" Type="http://schemas.openxmlformats.org/officeDocument/2006/relationships/slide" Target="slides/slide42.xml"/><Relationship Id="rId55" Type="http://schemas.openxmlformats.org/officeDocument/2006/relationships/slide" Target="slides/slide43.xml"/><Relationship Id="rId56" Type="http://schemas.openxmlformats.org/officeDocument/2006/relationships/slide" Target="slides/slide44.xml"/><Relationship Id="rId57" Type="http://schemas.openxmlformats.org/officeDocument/2006/relationships/slide" Target="slides/slide45.xml"/><Relationship Id="rId58" Type="http://schemas.openxmlformats.org/officeDocument/2006/relationships/slide" Target="slides/slide46.xml"/><Relationship Id="rId59" Type="http://schemas.openxmlformats.org/officeDocument/2006/relationships/slide" Target="slides/slide47.xml"/><Relationship Id="rId60" Type="http://schemas.openxmlformats.org/officeDocument/2006/relationships/slide" Target="slides/slide48.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GB" sz="1000" dirty="0">
              <a:latin typeface="Verdana" pitchFamily="34" charset="0"/>
              <a:ea typeface="Verdana" pitchFamily="34" charset="0"/>
              <a:cs typeface="Verdana" pitchFamily="34" charset="0"/>
            </a:endParaRPr>
          </a:p>
        </p:txBody>
      </p:sp>
      <p:sp>
        <p:nvSpPr>
          <p:cNvPr id="3" name="Datumsplatzhalt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868817FD-8155-4502-AF78-DBC2EA4B168F}" type="datetimeFigureOut">
              <a:rPr lang="en-GB" sz="1000" smtClean="0">
                <a:latin typeface="Verdana" pitchFamily="34" charset="0"/>
                <a:ea typeface="Verdana" pitchFamily="34" charset="0"/>
                <a:cs typeface="Verdana" pitchFamily="34" charset="0"/>
              </a:rPr>
              <a:t>25/08/2023</a:t>
            </a:fld>
            <a:endParaRPr lang="en-GB" sz="1000" dirty="0">
              <a:latin typeface="Verdana" pitchFamily="34" charset="0"/>
              <a:ea typeface="Verdana" pitchFamily="34" charset="0"/>
              <a:cs typeface="Verdana" pitchFamily="34" charset="0"/>
            </a:endParaRPr>
          </a:p>
        </p:txBody>
      </p:sp>
      <p:sp>
        <p:nvSpPr>
          <p:cNvPr id="4" name="Fußzeilenplatzhalt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GB" sz="1000" dirty="0">
              <a:latin typeface="Verdana" pitchFamily="34" charset="0"/>
              <a:ea typeface="Verdana" pitchFamily="34" charset="0"/>
              <a:cs typeface="Verdana" pitchFamily="34" charset="0"/>
            </a:endParaRPr>
          </a:p>
        </p:txBody>
      </p:sp>
      <p:sp>
        <p:nvSpPr>
          <p:cNvPr id="5" name="Foliennummernplatzhalt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617F6F62-1C91-45E7-BAED-FBFBF67C82BC}" type="slidenum">
              <a:rPr lang="en-GB" sz="1000" smtClean="0">
                <a:latin typeface="Verdana" pitchFamily="34" charset="0"/>
                <a:ea typeface="Verdana" pitchFamily="34" charset="0"/>
                <a:cs typeface="Verdana" pitchFamily="34" charset="0"/>
              </a:rPr>
              <a:t>‹Nr.›</a:t>
            </a:fld>
            <a:endParaRPr lang="en-GB" sz="1000" dirty="0">
              <a:latin typeface="Verdana" pitchFamily="34" charset="0"/>
              <a:ea typeface="Verdana" pitchFamily="34" charset="0"/>
              <a:cs typeface="Verdana" pitchFamily="34" charset="0"/>
            </a:endParaRPr>
          </a:p>
        </p:txBody>
      </p:sp>
    </p:spTree>
    <p:extLst>
      <p:ext uri="{BB962C8B-B14F-4D97-AF65-F5344CB8AC3E}">
        <p14:creationId xmlns:p14="http://schemas.microsoft.com/office/powerpoint/2010/main" val="275434567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000">
                <a:latin typeface="Verdana" pitchFamily="34" charset="0"/>
                <a:ea typeface="Verdana" pitchFamily="34" charset="0"/>
                <a:cs typeface="Verdana" pitchFamily="34" charset="0"/>
              </a:defRPr>
            </a:lvl1pPr>
          </a:lstStyle>
          <a:p>
            <a:endParaRPr lang="en-GB" dirty="0"/>
          </a:p>
        </p:txBody>
      </p:sp>
      <p:sp>
        <p:nvSpPr>
          <p:cNvPr id="3" name="Datumsplatzhalt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000">
                <a:latin typeface="Verdana" pitchFamily="34" charset="0"/>
                <a:ea typeface="Verdana" pitchFamily="34" charset="0"/>
                <a:cs typeface="Verdana" pitchFamily="34" charset="0"/>
              </a:defRPr>
            </a:lvl1pPr>
          </a:lstStyle>
          <a:p>
            <a:fld id="{C0A972FC-F5E0-4F80-B169-F0B5EFC71333}" type="datetimeFigureOut">
              <a:rPr lang="en-GB" smtClean="0"/>
              <a:pPr/>
              <a:t>25/08/2023</a:t>
            </a:fld>
            <a:endParaRPr lang="en-GB" dirty="0"/>
          </a:p>
        </p:txBody>
      </p:sp>
      <p:sp>
        <p:nvSpPr>
          <p:cNvPr id="4" name="Folienbildplatzhalter 3"/>
          <p:cNvSpPr>
            <a:spLocks noGrp="1" noRot="1" noChangeAspect="1"/>
          </p:cNvSpPr>
          <p:nvPr>
            <p:ph type="sldImg" idx="2"/>
          </p:nvPr>
        </p:nvSpPr>
        <p:spPr>
          <a:xfrm>
            <a:off x="685800" y="685800"/>
            <a:ext cx="5486400" cy="3429000"/>
          </a:xfrm>
          <a:prstGeom prst="rect">
            <a:avLst/>
          </a:prstGeom>
          <a:noFill/>
          <a:ln w="12700">
            <a:solidFill>
              <a:prstClr val="black"/>
            </a:solidFill>
          </a:ln>
        </p:spPr>
        <p:txBody>
          <a:bodyPr vert="horz" lIns="91440" tIns="45720" rIns="91440" bIns="45720" rtlCol="0" anchor="ctr"/>
          <a:lstStyle/>
          <a:p>
            <a:endParaRPr lang="de-AT"/>
          </a:p>
        </p:txBody>
      </p:sp>
      <p:sp>
        <p:nvSpPr>
          <p:cNvPr id="5" name="Notizenplatzhalt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GB" dirty="0" err="1"/>
              <a:t>Textmasterformat</a:t>
            </a:r>
            <a:r>
              <a:rPr lang="en-GB" dirty="0"/>
              <a:t> </a:t>
            </a:r>
            <a:r>
              <a:rPr lang="en-GB" dirty="0" err="1"/>
              <a:t>bearbeiten</a:t>
            </a:r>
            <a:endParaRPr lang="en-GB" dirty="0"/>
          </a:p>
          <a:p>
            <a:pPr lvl="1"/>
            <a:r>
              <a:rPr lang="en-GB" dirty="0" err="1"/>
              <a:t>Zweite</a:t>
            </a:r>
            <a:r>
              <a:rPr lang="en-GB" dirty="0"/>
              <a:t> </a:t>
            </a:r>
            <a:r>
              <a:rPr lang="en-GB" dirty="0" err="1"/>
              <a:t>Ebene</a:t>
            </a:r>
            <a:endParaRPr lang="en-GB" dirty="0"/>
          </a:p>
          <a:p>
            <a:pPr lvl="2"/>
            <a:r>
              <a:rPr lang="en-GB" dirty="0" err="1"/>
              <a:t>Dritte</a:t>
            </a:r>
            <a:r>
              <a:rPr lang="en-GB" dirty="0"/>
              <a:t> </a:t>
            </a:r>
            <a:r>
              <a:rPr lang="en-GB" dirty="0" err="1"/>
              <a:t>Ebene</a:t>
            </a:r>
            <a:endParaRPr lang="en-GB" dirty="0"/>
          </a:p>
          <a:p>
            <a:pPr lvl="3"/>
            <a:r>
              <a:rPr lang="en-GB" dirty="0" err="1"/>
              <a:t>Vierte</a:t>
            </a:r>
            <a:r>
              <a:rPr lang="en-GB" dirty="0"/>
              <a:t> </a:t>
            </a:r>
            <a:r>
              <a:rPr lang="en-GB" dirty="0" err="1"/>
              <a:t>Ebene</a:t>
            </a:r>
            <a:endParaRPr lang="en-GB" dirty="0"/>
          </a:p>
          <a:p>
            <a:pPr lvl="4"/>
            <a:r>
              <a:rPr lang="en-GB" dirty="0" err="1"/>
              <a:t>Fünfte</a:t>
            </a:r>
            <a:r>
              <a:rPr lang="en-GB" dirty="0"/>
              <a:t> </a:t>
            </a:r>
            <a:r>
              <a:rPr lang="en-GB" dirty="0" err="1"/>
              <a:t>Ebene</a:t>
            </a:r>
            <a:endParaRPr lang="en-GB" dirty="0"/>
          </a:p>
        </p:txBody>
      </p:sp>
      <p:sp>
        <p:nvSpPr>
          <p:cNvPr id="6" name="Fußzeilenplatzhalt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000">
                <a:latin typeface="Verdana" pitchFamily="34" charset="0"/>
                <a:ea typeface="Verdana" pitchFamily="34" charset="0"/>
                <a:cs typeface="Verdana" pitchFamily="34" charset="0"/>
              </a:defRPr>
            </a:lvl1pPr>
          </a:lstStyle>
          <a:p>
            <a:endParaRPr lang="en-GB" dirty="0"/>
          </a:p>
        </p:txBody>
      </p:sp>
      <p:sp>
        <p:nvSpPr>
          <p:cNvPr id="7" name="Foliennummernplatzhalt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000">
                <a:latin typeface="Verdana" pitchFamily="34" charset="0"/>
                <a:ea typeface="Verdana" pitchFamily="34" charset="0"/>
                <a:cs typeface="Verdana" pitchFamily="34" charset="0"/>
              </a:defRPr>
            </a:lvl1pPr>
          </a:lstStyle>
          <a:p>
            <a:fld id="{219CC2FD-B32F-4992-A15B-F95E2E35C81B}" type="slidenum">
              <a:rPr lang="en-GB" smtClean="0"/>
              <a:pPr/>
              <a:t>‹Nr.›</a:t>
            </a:fld>
            <a:endParaRPr lang="en-GB" dirty="0"/>
          </a:p>
        </p:txBody>
      </p:sp>
    </p:spTree>
    <p:extLst>
      <p:ext uri="{BB962C8B-B14F-4D97-AF65-F5344CB8AC3E}">
        <p14:creationId xmlns:p14="http://schemas.microsoft.com/office/powerpoint/2010/main" val="91513654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Verdana" pitchFamily="34" charset="0"/>
        <a:ea typeface="Verdana" pitchFamily="34" charset="0"/>
        <a:cs typeface="Verdana" pitchFamily="34" charset="0"/>
      </a:defRPr>
    </a:lvl1pPr>
    <a:lvl2pPr marL="457200" algn="l" defTabSz="914400" rtl="0" eaLnBrk="1" latinLnBrk="0" hangingPunct="1">
      <a:defRPr sz="1200" kern="1200">
        <a:solidFill>
          <a:schemeClr val="tx1"/>
        </a:solidFill>
        <a:latin typeface="Verdana" panose="020B0604030504040204" pitchFamily="34" charset="0"/>
        <a:ea typeface="+mn-ea"/>
        <a:cs typeface="+mn-cs"/>
      </a:defRPr>
    </a:lvl2pPr>
    <a:lvl3pPr marL="914400" algn="l" defTabSz="914400" rtl="0" eaLnBrk="1" latinLnBrk="0" hangingPunct="1">
      <a:defRPr sz="1200" kern="1200">
        <a:solidFill>
          <a:schemeClr val="tx1"/>
        </a:solidFill>
        <a:latin typeface="Verdana" panose="020B0604030504040204" pitchFamily="34" charset="0"/>
        <a:ea typeface="+mn-ea"/>
        <a:cs typeface="+mn-cs"/>
      </a:defRPr>
    </a:lvl3pPr>
    <a:lvl4pPr marL="1371600" algn="l" defTabSz="914400" rtl="0" eaLnBrk="1" latinLnBrk="0" hangingPunct="1">
      <a:defRPr sz="1200" kern="1200">
        <a:solidFill>
          <a:schemeClr val="tx1"/>
        </a:solidFill>
        <a:latin typeface="Verdana" panose="020B0604030504040204" pitchFamily="34" charset="0"/>
        <a:ea typeface="+mn-ea"/>
        <a:cs typeface="+mn-cs"/>
      </a:defRPr>
    </a:lvl4pPr>
    <a:lvl5pPr marL="1828800" algn="l" defTabSz="914400" rtl="0" eaLnBrk="1" latinLnBrk="0" hangingPunct="1">
      <a:defRPr sz="1200" kern="1200">
        <a:solidFill>
          <a:schemeClr val="tx1"/>
        </a:solidFill>
        <a:latin typeface="Verdana" panose="020B0604030504040204"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to the session on marketing mix modelling. Its question is the oldest in marketing: what did our advertising bring, and where should the next euro go? We start with a tiny invented coffee brand whose numbers fit on a calculator and learn the main concepts with it. Then we meet the three open-source tools, PyMC-Marketing, Meridian and Robyn, model the real data of a web shop and end with the same analysis in nine short Python steps (sessions/02-mmm-one-country/open_source_mmm.qmd). The in-class assignment needs no coding.</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theory parts on one tiny brand, then real data, Python and the assignment. Part 1 names the main concepts: the model in one line, carryover, saturation and the ROI. Part 2 computes them by hand in tables, so every number can be checked with a calculator. Part 3 explains the three open-source tools and how they differ. Parts 4 to 6 bring the real data of a sports web shop, the Python code as a ladder of nine small steps, an online quiz and the in-class assignment. Keep the question of the day in mind: every part answers a piece of it.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marketing mix model, MMM for short, is a regression of weekly sales on media spend and controls, with two twists: carryover and saturation (slides 8 and 9). It needs only totals per week, no data about single users (slide 6). It does three jobs: measure what each channel brought, explain sales as baseline plus media, and plan where the next euro goes. Our coffee brand is invented, so that every number can be checked. Ask the room: which channels does your brand or employer pay for, and who decides the split?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column of the grid is one week: what the brand spent on TV and online, and what it sold, all in k EUR. Real MMM data look the same, with more weeks and channels: the web shop of Part 4 has 134 weeks. Sales jump to 131 when TV runs in weeks 3 and 4 and then stay above the 115 of weeks 1 and 2 for several weeks without any TV: that is carryover. Online spend never changes, so the data alone cannot tell us its effect; slide 9 comes back to that. Ask: what would you guess TV brought? Part 2 (slides 12 to 14) computes it.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1 explains why marketers came back to marketing mix modelling, writes the model as one equation and adds the two ideas that turn a plain regression into an MMM: carryover and saturation. It ends with the difference between the average ROI and the ROI of the next euro, which is what a budget decision needs.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Click-based attribution follows single users from the ad to the purchase, and that tracking breaks. Aridor et al. (2025, Management Science) found that click-through on Meta conversion ads fell by 37 per cent after Apple's App Tracking Transparency, across more than 4,200 advertisers [S]. Wernerfelt et al. (2025, Marketing Science 44(2)) showed in a test with more than 70,000 advertisers that without offsite data the median cost per incremental customer rose by 31 per cent; two of the authors worked at Meta [S]. Goldberg, Johnson and Shriver (2024, AEJ: Economic Policy 16(1)) report about 12 per cent fewer recorded EU pageviews and revenue after the GDPR, partly lost recording rather than lost sales [S]. MMM needs none of this: weekly totals per market are enough. Ask: how would you measure a TV campaign with click data?</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MMM has this additive form, as in Jin et al. (2017, Google) and the three tools; Meridian and PyMC-Marketing also allow a multiplicative, log form. The baseline is everything the brand would sell with no media at all: trend, season, holidays; for the coffee brand 100 a week. The media effect of a channel is its part of sales each week; added up over the weeks it is the channel's contribution (slide 13). Controls are other drivers such as price, promotions, competitors, weather. Here we tell you the numbers 100, 1 and 3; in real data the regression estimates them (Part 5). The noise is zero only because the brand is invented.</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geometric adstock: each week, the decay keeps a share of last week's adstock, here 0.5, so half of it. PyMC-Marketing calls the decay alpha, Robyn theta. Week 4: 8 + 0.5 × 16 = 16. The 24 k EUR of TV spend become 47.75 of adstock in 10 weeks, and the tail after week 10 adds the rest up to 48: each euro works twice. All three tools apply adstock first, then saturation. Ask: which channel carries over longest, TV or paid search?</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shape is called a Hill or Michaelis–Menten curve; PyMC-Marketing's default is a logistic curve with the same idea. The maximum, 30, is the most online can bring per week however much is spent; at the half-saturation point, 5 k EUR, online brings half of it, 15. At today's spend of 5 the curve gives exactly 3 × 5 = 15, as the line of slide 7, so both agree where we have data. But the brand never spent anything else on online, so the data alone could not show the curve: that is why priors and experiments matter (slides 17 and 21). The parameters are illustrative, not estimates; Step 7 (slide 37) meets the same problem on real data.</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ROI is the sales contribution divided by spend; here it counts sales, not profit, so multiply by the margin before you judge profitability. PyMC-Marketing calls it ROAS, return on ad spend. The average ROI looks back: 15 / 5 = 3.00. The marginal ROI looks forward: the next 5 k EUR bring only 5, so 1.00; from 10 to 20 k EUR the next euros bring only 0.40 each. Ask: if online's average ROI is 3.00, should the brand double online?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1 named the ideas; this part does the arithmetic with the same small coffee brand: ten weeks, TV and online spend, sales in k EUR. Three slides, and a calculator is enough: the TV adstock week by week, the contribution and ROI of each channel, and a budget question that the average ROI answers wrongly. Every number on these slides can be checked by hand from what is on the slide. Step 4 of the code ladder and Extra A of the qmd do the same in Python.</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rule is the one of slide 8: adstock = this week's spend + 0.5 × last week's adstock. Read the table column by column: in week 3 the brand spends 16, so the adstock is 16; in week 4 it spends 8 and half of last week's 16 is added: 8 + 0.5 × 16 = 16. From week 5 on there is no new spend and the adstock halves every week, down to 0.25 in week 10. The decay 0.5 is an assumption here; the Bayesian tools estimate it from the data (slide 17). In ten weeks the 24 k EUR of spend work as 47.75; the 0.25 still left after week 10 is why the ten-week ROI of slide 13 (1.99) is a bit below the long-run 2.00. In Python this is one line, lfilter (Step 4, slide 34). Ask: what would the adstock be with decay 0?</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week's sales split exactly into the three parts: week 3 is 100 + 1 × 16 + 3 × 5 = 131. Add up the ten weeks and you get the contributions: the baseline 1,000, TV 47.75 and online 150, together 1,197.75 k EUR. ROI is contribution divided by spend: TV brings 47.75 k EUR in ten weeks for 24 k EUR of spend, 1 × 47.75 / 24 = 1.99; in the long run each euro of TV works twice, so its ROI tends to 2.00. A last-click view that credits only the week of spending would see 24 k EUR of sales and an ROI of 1.00. ROI here is sales, not profit: with a gross margin of 40 per cent, for instance, an ROI of 1.99 would not pay back. In Python: Step 6 (slide 36) and Extra A of the qmd. Ask: which channel has the higher ROI?</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Online already runs at 5 k EUR a week, on the flat part of its curve (slide 9): 5 k EUR more lift its effect only from 15 to 20, so the next euro brings 1.00. TV is not saturated in our model: 5 k EUR more work twice through carryover, 1 × 5 × 2 = 10 k EUR, an ROI of 2.00 for the next euro. We assume TV's straight line still holds at 5 k EUR more a week – in real data the TV curve would flatten too, and that is why we test before we move money (lift tests, slide 21). The same logic on real data: slide 29 (Google vs Meta) and Task 1 of the assignment (slide 44). Ask: what would change the answer?</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3 introduces the three free tools that do what we did by hand in Part 2, on real data and with many more weeks and channels. For each tool we ask who builds it, what is under the hood and when it fits a brand. Then three questions that matter for international marketing: how each tool uses experiments, how it handles many countries, and which tool to pick. The last slide shows how to read the case studies that the makers of the tools publish.</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 The versions were checked on PyPI and CRAN on 26 Oct 2026: PyMC-Marketing 1.3.0 of 22 Oct 2026, google-meridian 2.1.0 and Robyn 3.12.1 on CRAN of 2 Jul 2025; the Python port of Robyn, robynpy 0.3.6, is still beta. LightweightMMM, Meridian's predecessor, was archived on 19 Jan 2026. PyMC-Marketing had its first release in Feb 2023 and reached 1.0 in Aug 2026; Meridian became generally available in Jan 2025, and 2.0 (Sep 2026) moved it to JAX. The APIs changed in Aug and Sep 2026, so pin the version and check the date of any tutorial. Our course runs PyMC-Marketing 0.19.2, the last version for Python 3.11 (1.3.0 needs Python 3.12); the code of Part 5 runs on both. Engine: PyMC and JAX do the sampling; glmnet fits the ridge regressions, Nevergrad does the search and Prophet splits trend, season and holidays.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Bayesian MMM gives every parameter a prior, a belief before we see the data, and the data turn it into a posterior. The chart shows the decay of Meta in our Austrian model of Step 8 (slides 38 and 39): the prior Beta(1, 3), PyMC-Marketing's default, says the decay is probably small but could be anything from 0 to 1; after the data the mean is 0.11 and the 94 per cent interval runs from 0.00 to 0.29. Our guess of 0.5 in Step 4 was far too high for Meta. [V] PyMC-Marketing and Meridian draw the posterior with NUTS, an MCMC sampler; R-hat compares the chains: 1.00 means they agree, above 1.01 do not trust the result yet. Our quick fit uses 2 chains × 500 draws, so the largest R-hat over all parameters is 1.01; real work uses 4 chains and more draws. The default priors are decay Beta(1, 3), lam Gamma(3, 1), beta HalfNormal(2). With few data the prior matters more, with many data the data win. Question: what prior would you give TV's decay?</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PyMC-Marketing is the tool of our code ladder (Part 5). In plain words: we write down the model, adstock then saturation, give each parameter a prior, and the sampler returns a range for every result. [V] It sets pooling per parameter with dims=("geo",), so countries or brands can share a mean; its optimiser allocates a budget over channel × geo in one run, and add_lift_test_measurements adds experiments (slide 21). Version 1.0 (Aug 2026) made the multidimensional model the default class; our import from pymc_marketing.mmm.multidimensional works in 0.19.2 and in 1.3.0. The fit on our Austrian data takes about 25 s (slide 38). [V] Bolt (Estonia) moved to PyMC-Marketing across its markets (Bolt tech blog, June 2024): an example, not a proof.</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Meridian is Google's Bayesian MMM. In plain words: like PyMC-Marketing it puts priors on the parameters, but it is built for data by region: every region (geo) gets its own media effect, drawn around a shared mean, and sales are modelled per head of population. [V] A lift test becomes the ROI prior of that channel (Zhang et al. 2024, Google Research); 2.0 (Sep 2026) moved to JAX and loads GeoX results directly. [D] The README (29 Oct 2026) asks for Python 3.11 to 3.13 and recommends at least one GPU. The snippet is shortened: the notebook also adds revenue per KPI, controls, a promotion, organic media and an ROI prior, and samples the prior first; the code is in qmd Extra D. [C] Pandora (Denmark) tested Meridian first in markets without other measurement (Think with Google); bonprix Germany with the Vienna agency e-dialog, a certified Meridian partner, reports +30 per cent ROI: vendor claims, see slide 24.</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Robyn is Meta's MMM in R. In plain words: it does not use priors; it fits a ridge regression, a regression that shrinks the coefficients towards zero so they stay stable, and lets a search try thousands of adstock and saturation settings. [V] Nevergrad searches the hyperparameters (adstock, saturation, penalty) against NRMSE (fit), DECOMP.RSSD (distance between spend share and effect share) and MAPE.LIFT (calibration), as described by Runge, Skokan, Zhou &amp; Pauwels (2024), arXiv 2403.14674. The Pareto front is the set of models that no other model beats on both fit and plausibility; the analyst picks one. In the snippet, hyperparameters is a list of ranges per channel defined earlier in demo.R; the code is in qmd Extra D. [S] Unilever Poland and Wittchen are on Meta's Robyn case list. Question: is 'effects close to spend shares' a sensible assumption in a new market?</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model learns from what happened; an experiment shows what a channel causes. A lift test switches a channel on or off in some regions or for some users and measures the difference; calibration uses that number to anchor the model. [V] Meridian: Zhang et al. (2024, Google Research) reparameterise the model by ROI, so a lift test sets the ROI prior. PyMC-Marketing: add_lift_test_measurements treats each test as a noisy point on the saturation curve. Robyn: calibration_input plus the MAPE.LIFT objective. Pitfall for all three: the test's counterfactual and spend level must match what the model estimates. For our Austrian shop (slide 29) a geo test, some Austrian regions with more Meta and some without, would settle whether Meta is really that good.</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Pooling is how much the countries share. [V] Sun et al. (2017, Google): a geo-level hierarchical MMM gives tighter intervals than national models; Meridian draws each geo's coefficient around a shared mean, PyMC-Marketing sets pooling per parameter with dims=("geo",), and Robyn's maintainer recommends one model per geo (GitHub Discussion #856). Our brand: Austria sold 3,180 k EUR in 134 weeks, Germany 11,270: with partial pooling Austria's estimates move towards the shared mean unless its own data say otherwise. Preparing many countries: one currency (ECB rates; none of the tools converts, Meridian's currency_code only labels the output; Switzerland is in CHF and has only 81 weeks), local holidays (python-holidays or Robyn's tables; 8 December is a holiday in Austria, not in Germany), the same KPI definition, population for per-capita KPIs, and a channel missing in a country is zero, not missing. Market response does differ across countries ([S] Datta et al. 2022, 14 economies; [S] Gielens &amp; Steenkamp 2025, drift in 98.5 per cent of 16,000+ brands in 34 countries), so allow country effects and refresh the models; [V] Steenkamp &amp; Geyskens (2014): global integration, local adaptation, worldwide learning. Extra C of the qmd fits Germany with the same code.</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cards, one rule of thumb. The decision rules are adapted from practitioner comparisons ([V] Impression, June 2026; [V] Jaywing, Jan 2025) and an Austrian agency view on how much data is needed (Blck Alpaca 2026, in German). Our shop has 2.6 years of weekly data in Austria, just above the rule of thumb, and Germany next door in the same file. This is also Task 4 of the assignment (slide 43). Question: which tool for our sports brand with Germany, Austria and Switzerland?</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questions before you believe a case study. [V] AdExchanger (July 2026) asked whether platform-built MMMs are a 'gift to measurement or Trojan horses'. [V] PPC Land (Apr 2026): a Robyn model at Resident coincided with a higher Facebook budget share. [V] PyMC Labs' own benchmark (Sept 2025) favours PyMC-Marketing and used versions since superseded. [V] AnalyticaHouse (Turkey) claims 7x ROI with no baseline or time window. [V] Michael Kaminsky on Mobile Dev Memo (July 2026): 'the default assumption should be that MMMs in general are wrong'. Examples to grade, all from the tool maker or a partner and not checked independently: [C] Nürnberger Versicherung (PyMC Labs case 2026, cost per lead more than 27 per cent lower), [C] bonprix with e-dialog (+30 per cent ROI), [C] Bouygues Telecom with fifty-five (an internal Meridian platform). Task 3 of the assignment (slide 43) grades one claim with these four questions.</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4 asks the questions of Parts 1 and 2 again, now on 134 real weeks: what did Google and Meta bring, and where should the next euro go? The data are the weekly sales and ad spend of a real web shop. We first look at the data and at one warning, then read what a Bayesian model says. The model itself is fitted in Part 5 (Steps 8 and 9); here we only read its results.</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About 100 eCommerce brands share their anonymised daily data in the Conjura dataset; Conjura is an analytics platform in Dublin. We summed the days of one sports brand, whose home market is Germany, to Monday-to-Sunday weeks (data/get_mmm_open_data.py): 26 Jul 2021 to the week that ends 18 Feb 2024. Only digital channels are in the file, Google and Meta, no TV; sales are the value of the goods ordered before discounts, and Meta spend is 0 in 20 of the 134 weeks. The brand is anonymised, so we do not know who it is; the licence is CC BY 4.0 as stated by the GitHub copy we used. Ask the room: what is missing that a brand manager would add?</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best week was the Black Friday week of 20 Nov 2023, with 84.68 k EUR of sales; the 10 best weeks fell in July, October and November, the sale seasons. In those weeks the shop spent 7.03 k EUR a week on Google, in the other 124 weeks 3.39 k EUR: Google Shopping and Performance Max budgets grow automatically with searches, so spend goes up when the buyers are already there. A regression cannot tell whether the spend caused the sales or the demand caused the spend, so the model may credit Google with sales it only caught. Sales also doubled from the first year (15.31 k EUR a week) to the last (30.39): a trend we must control for (Step 3). The remedy is an experiment (slide 21).</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are the results of the PyMC-Marketing model of Step 8: Google brings 52.2 per cent of sales (1,660 k EUR), Meta 20.8 per cent (660 k EUR), and 27.0 per cent are baseline, trend and season. OLS with carryover gave the same picture (Step 6): ROI 3.56 and 7.78, baseline 28.0 per cent. The 94 per cent interval says how sure the model is: with 94 per cent probability Meta's ROI lies between 6.66 and 12.18, if the model is right. ROI here is sales per euro, not profit: multiply by the margin before you call a channel profitable. And 73 per cent of sales from two digital channels is a lot for a shop with direct and organic visitors: remember slide 27; in Germany the same model even gives 95 per cent (assignment Task 2).</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curves are the weekly response curves of the posterior of Step 8 (2 chains × 500 draws), the band their 94 per cent range. Google is already on the flatter part (average ROI at today's spend 3.50, next euro 3.28), Meta is still steep (next euro 9.77). Moving 0.5 k EUR a week from Google to Meta gains 3.1 k EUR a week (1.56 to 4.87), about 162 k EUR a year, and pays in 100 per cent of the draws. But the model is only as good as its assumptions: Meta's spend would double to 1.02 k EUR a week, Meta's curve rests on low spend, and Google's spend follows demand; a geo lift test calibrates the curve (slide 21). It is the decision rule of slide 14 and of Task 1: put the next euro where its ROI is highest.</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in Positron, with sessions/02-mmm-one-country/open_source_mmm.qmd open: run it chunk by chunk. The ladder has 9 steps, one new thing each: load, a first regression, the trend, adstock, carryover, ROI, saturation, PyMC-Marketing, check and read. Every slide shows the full code of its step, character for character as in the qmd, the part of the output to look at and one sentence on how to read it. Steps 1 to 7 need polars, statsmodels and scipy; Steps 8 and 9 need PyMC-Marketing, which is installed in the course environment.</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polars reads the csv; the qmd sits in sessions/02-mmm-one-country, hence the path two folders up. try_parse_dates=True turns the week column into dates, and filter keeps Austria, 134 weeks. print(at.head()) shows the first five weeks, the last line the totals in k EUR: those of slide 26. Look at the data before you fit anything. Code: open_source_mmm.qmd, Step 1.</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smf.ols fits a regression with a formula, as in the regression sessions; .fit() estimates it and m1.params shows the coefficients. Both are k EUR of sales per k EUR of spend, so they read like ROIs: Google 3.93, Meta 8.10; R² 0.58. Nothing controls for the trend or for carryover yet. Code: open_source_mmm.qmd, Step 2. Ask the room: why might Meta's 8.10 be too high?</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pl.int_range(1, pl.len() + 1) counts the weeks 1 to 134, and with_columns adds them as week_no. week_no 0.0944 k EUR a week means that week 134 sells about 133 × 0.0944 ≈ 12.6 k EUR more than week 1, with the same spend. Both channels lose some credit to the trend (Meta 8.10 → 6.93, Google 3.93 → 3.60); R² rises to 0.62. The trend is part of the baseline. Code: open_source_mmm.qmd, Step 3.</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lfilter([1], [1, -0.5], x) from scipy is the adstock rule of slide 8 in one line: each value is this week's spend plus 0.5 × the last result. Week 2: 0.273 + 0.5 × 0.389 = 0.4675, as we did by hand on slide 12. The decay 0.5 is our assumption; Step 9 shows that the data prefer 0.11. Code: open_source_mmm.qmd, Step 4.</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Google stays without adstock: search answers demand in the same week. Meta enters with its adstock, so its coefficient 3.93 is per k EUR of adstock; the adstock total is about twice the spend (138.15 vs 69.87 k EUR), so Meta's ROI in Step 6 is about twice 3.93. R² 0.60, a bit lower than in Step 3 (0.62): the decay 0.5 does not help the fit. Code: open_source_mmm.qmd, Step 5.</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contribution is the coefficient times the column total: Google 3.56 × 490.6, Meta 3.93 × the adstock total. The ROI is the contribution divided by the spend: Google 3.56, Meta 7.78. The baseline is what is left, 891 k EUR or 28.0 per cent of sales. It is the same arithmetic as slide 13. Code: open_source_mmm.qmd, Step 6.</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x / (x + 20) is the saturation curve of slide 9 with a half-saturation point of 20 k EUR a week, our assumption (Google spends 3.66 a week on average, 16.20 at most). R² 0.6044 vs 0.6019: the same fit, but Google's ROI is 4.79 instead of 3.56 and the baseline only 9.1 per cent instead of 28.0 per cent. The data cannot choose the curve: priors (Step 8) and experiments (slide 21) must. Code: open_source_mmm.qmd, Step 7.</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MMM is the multidimensional model class of PyMC-Marketing (the default class from 1.0 on; this import works in 0.19.2 and 1.3.0). GeometricAdstock(l_max=6) lets spend work for up to 6 weeks, LogisticSaturation() is its default curve, yearly_seasonality=2 adds a smooth yearly season and week_no is the trend as a control. fit samples 2 chains × 500 draws after 500 tuning steps; random_seed=1 makes it repeatable. It takes about 25 s (about 75 s the first time, while PyTensor compiles). This is a quick fit for class: for real work use 4 chains and more draws. Code: open_source_mmm.qmd, Step 8.</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az.summary shows the decay (PyMC-Marketing calls it alpha) with its interval and R-hat: 1.00 for both; the maximum over all parameters is 1.01, with 0 divergences. mmm.summary.roas(frequency="all_time") gives the ROI (PyMC-Marketing says ROAS) with a 94 per cent interval: the same ranking as OLS (3.56, 7.78). Meta's decay of 0.11 (0.00 to 0.29) is far below our 0.5 of Step 4. Slides 28 and 29 read these results; Extra B of the qmd draws the response curves. Code: open_source_mmm.qmd, Step 9.</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last part hands the ideas over to you. First a five-question online quiz on the whole session, then we go through it together. Then groups of three review a marketing mix model in four short tasks: a budget move, a model check, a vendor claim and a tool choice. No laptops and no code: a calculator is enough.</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Online quiz on Canvas: three minutes alone, then compare with your neighbours. Question 1 goes back to adstock on slides 8 and 12, question 2 to the ROI on slides 10 and 13, question 3 to the next euro on slides 10 and 14, question 4 to Robyn on slide 20 and question 5 to pooling on slide 22. Ask for a show of hands per option before you move on.</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answers follow in class.</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Groups of three for 35 minutes, then a 10-minute plenary. Hand out mmm_assignment.qmd printed or project it; a calculator is enough, no laptops needed. Give each task 8 to 9 minutes; in the plenary two groups present Task 1 and one group each Tasks 2 to 4. Task 1 uses the curves on the next slide, Task 2 the German model of the same sports brand (Extra C of open_source_mmm.qmd), Task 3 the four questions of slide 24 and Task 4 the tool cards of slide 23.</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material of Task 1, also in the handout. All values are k EUR per week. The curves are invented, not estimated: weekly sales = 60 × spend / (spend + half-saturation), with half-saturation 20 for TV, 15 for YouTube and 10 for Search, so groups can compute more points. Students read the tables; the chart is for the why. Ask also: which number on this slide would you distrust first?</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open sources for your own MMM project; the links are in the appendix of open_source_mmm.qmd. The Conjura dataset is on figshare (doi 10.6084/m9.figshare.25314841.v3); we used the copy in the GitHub repository jpcca/marketing-mix-modelling because figshare was not reachable. Meridian's simulated geo datasets (geo_all_channels.csv and others) are in the google/meridian repository; the PyMC-Marketing data folder keeps the true parameters in a separate file; Robyn ships dt_simulated_weekly, and Meta's siMMMulator simulates data with a known ROI. For country controls take Eurostat and the World Bank, and cite the source. People and communities to follow: the Meridian Discord and GitHub Discussions, the PyMC-Marketing GitHub Discussions, the Vienna Data Science Group and PyCon Austria.</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sentence per takeaway. A marketing mix model explains weekly sales as baseline plus media effects plus controls plus noise, and needs only weekly totals per market. Spend keeps working after the week it is spent (carryover), and each extra euro buys less (saturation). Decide at the margin: the ROI of the next euro, read off the response curve, not the average ROI. PyMC-Marketing and Meridian are Bayesian and pool markets; Robyn fits ridge regressions, one market per model. Be sceptical: spend follows demand, so calibrate with experiments, and ask who wrote a case study. Next: run open_source_mmm.qmd chunk by chunk; it reproduces Parts 4 and 5.</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Jin et al. and Sun et al. are the two Google papers behind carryover, shape effects and the geo model of Meridian; Zhang et al. show how a lift test becomes an ROI prior; Runge, Skokan, Zhou and Pauwels describe the method behind Robyn. Runge and Pauwels is free as MSI Working Paper 26-106; the Google papers and the Bayesian Workflow paper are free too; journal articles cited in the notes need WU library access. The original deck's resource guide, the Google Sheet of open-source MMM teaching resources with 262 sources, has the access notes.</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Questions? Contact details on the card; office hours via the booking link.</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g"/><Relationship Id="rId3" Type="http://schemas.openxmlformats.org/officeDocument/2006/relationships/image" Target="../media/image1.png"/><Relationship Id="rId4" Type="http://schemas.openxmlformats.org/officeDocument/2006/relationships/image" Target="../media/image4.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g"/><Relationship Id="rId3" Type="http://schemas.openxmlformats.org/officeDocument/2006/relationships/image" Target="../media/image1.png"/><Relationship Id="rId4" Type="http://schemas.openxmlformats.org/officeDocument/2006/relationships/image" Target="../media/image4.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g"/><Relationship Id="rId3" Type="http://schemas.openxmlformats.org/officeDocument/2006/relationships/image" Target="../media/image1.png"/><Relationship Id="rId4" Type="http://schemas.openxmlformats.org/officeDocument/2006/relationships/image" Target="../media/image6.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g"/><Relationship Id="rId3" Type="http://schemas.openxmlformats.org/officeDocument/2006/relationships/image" Target="../media/image1.png"/><Relationship Id="rId4" Type="http://schemas.openxmlformats.org/officeDocument/2006/relationships/image" Target="../media/image6.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jpg"/><Relationship Id="rId3" Type="http://schemas.openxmlformats.org/officeDocument/2006/relationships/image" Target="../media/image1.png"/><Relationship Id="rId4" Type="http://schemas.openxmlformats.org/officeDocument/2006/relationships/image" Target="../media/image4.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jpg"/><Relationship Id="rId3" Type="http://schemas.openxmlformats.org/officeDocument/2006/relationships/image" Target="../media/image1.png"/><Relationship Id="rId4" Type="http://schemas.openxmlformats.org/officeDocument/2006/relationships/image" Target="../media/image4.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g"/><Relationship Id="rId3" Type="http://schemas.openxmlformats.org/officeDocument/2006/relationships/image" Target="../media/image1.png"/><Relationship Id="rId4" Type="http://schemas.openxmlformats.org/officeDocument/2006/relationships/image" Target="../media/image4.png"/><Relationship Id="rId20" Type="http://schemas.openxmlformats.org/officeDocument/2006/relationships/hyperlink" Target="mailto:arne.floh@wu.ac.at" TargetMode="External"/><Relationship Id="rId21" Type="http://schemas.openxmlformats.org/officeDocument/2006/relationships/hyperlink" Target="https://calendar.app.google/o4FuKoF1YcarRfnC8" TargetMode="Externa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 Id="rId20" Type="http://schemas.openxmlformats.org/officeDocument/2006/relationships/hyperlink" Target="mailto:arne.floh@wu.ac.at" TargetMode="External"/><Relationship Id="rId21" Type="http://schemas.openxmlformats.org/officeDocument/2006/relationships/hyperlink" Target="https://calendar.app.google/o4FuKoF1YcarRfnC8" TargetMode="External"/><Relationship Id="rId22" Type="http://schemas.openxmlformats.org/officeDocument/2006/relationships/hyperlink" Target="https://www.wu.ac.at/en/welthandel/arne-floh/" TargetMode="Externa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elfoli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grpSp>
        <p:nvGrpSpPr>
          <p:cNvPr id="11" name="Gruppieren 10"/>
          <p:cNvGrpSpPr/>
          <p:nvPr userDrawn="1"/>
        </p:nvGrpSpPr>
        <p:grpSpPr>
          <a:xfrm>
            <a:off x="287338" y="603319"/>
            <a:ext cx="8552850" cy="2037600"/>
            <a:chOff x="287338" y="603319"/>
            <a:chExt cx="8552850" cy="2037600"/>
          </a:xfrm>
        </p:grpSpPr>
        <p:sp>
          <p:nvSpPr>
            <p:cNvPr id="14" name="Rechteck 13"/>
            <p:cNvSpPr/>
            <p:nvPr userDrawn="1"/>
          </p:nvSpPr>
          <p:spPr>
            <a:xfrm>
              <a:off x="6192000" y="603319"/>
              <a:ext cx="2648188" cy="2037600"/>
            </a:xfrm>
            <a:prstGeom prst="rect">
              <a:avLst/>
            </a:prstGeom>
            <a:solidFill>
              <a:schemeClr val="bg1"/>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sp>
          <p:nvSpPr>
            <p:cNvPr id="15" name="Rechteck 14"/>
            <p:cNvSpPr/>
            <p:nvPr userDrawn="1"/>
          </p:nvSpPr>
          <p:spPr bwMode="blackWhite">
            <a:xfrm>
              <a:off x="287338" y="603319"/>
              <a:ext cx="5904662" cy="2037600"/>
            </a:xfrm>
            <a:prstGeom prst="rect">
              <a:avLst/>
            </a:prstGeom>
            <a:solidFill>
              <a:srgbClr val="0096D3">
                <a:alpha val="89804"/>
              </a:srgbClr>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grpSp>
      <p:sp>
        <p:nvSpPr>
          <p:cNvPr id="2" name="Titel 1"/>
          <p:cNvSpPr>
            <a:spLocks noGrp="1"/>
          </p:cNvSpPr>
          <p:nvPr userDrawn="1">
            <p:ph type="ctrTitle" hasCustomPrompt="1"/>
          </p:nvPr>
        </p:nvSpPr>
        <p:spPr bwMode="black">
          <a:xfrm>
            <a:off x="605406" y="1301365"/>
            <a:ext cx="5436000" cy="1026000"/>
          </a:xfrm>
          <a:prstGeom prst="rect">
            <a:avLst/>
          </a:prstGeom>
        </p:spPr>
        <p:txBody>
          <a:bodyPr tIns="0" anchor="ctr" anchorCtr="0">
            <a:noAutofit/>
          </a:bodyPr>
          <a:lstStyle>
            <a:lvl1pPr algn="l">
              <a:lnSpc>
                <a:spcPct val="100000"/>
              </a:lnSpc>
              <a:defRPr sz="3200" b="1" i="0" baseline="0">
                <a:solidFill>
                  <a:schemeClr val="bg1"/>
                </a:solidFill>
                <a:latin typeface="Georgia" charset="0"/>
                <a:ea typeface="Georgia" charset="0"/>
                <a:cs typeface="Georgia" charset="0"/>
              </a:defRPr>
            </a:lvl1pPr>
          </a:lstStyle>
          <a:p>
            <a:r>
              <a:rPr lang="en-GB" dirty="0"/>
              <a:t>Max. 2 lines of text for header</a:t>
            </a:r>
          </a:p>
        </p:txBody>
      </p:sp>
      <p:sp>
        <p:nvSpPr>
          <p:cNvPr id="3" name="Untertitel 2"/>
          <p:cNvSpPr>
            <a:spLocks noGrp="1"/>
          </p:cNvSpPr>
          <p:nvPr userDrawn="1">
            <p:ph type="subTitle" idx="1" hasCustomPrompt="1"/>
          </p:nvPr>
        </p:nvSpPr>
        <p:spPr bwMode="black">
          <a:xfrm>
            <a:off x="605406" y="993080"/>
            <a:ext cx="5436000" cy="351533"/>
          </a:xfrm>
        </p:spPr>
        <p:txBody>
          <a:bodyPr tIns="0" bIns="0">
            <a:noAutofit/>
          </a:bodyPr>
          <a:lstStyle>
            <a:lvl1pPr marL="0" indent="0" algn="l">
              <a:lnSpc>
                <a:spcPct val="100000"/>
              </a:lnSpc>
              <a:buNone/>
              <a:defRPr sz="1800" b="1" i="0" baseline="0">
                <a:solidFill>
                  <a:schemeClr val="tx1"/>
                </a:solidFill>
                <a:latin typeface="Verdana" charset="0"/>
                <a:ea typeface="Verdana" charset="0"/>
                <a:cs typeface="Verdana" charset="0"/>
              </a:defRPr>
            </a:lvl1pPr>
            <a:lvl2pPr marL="457153" indent="0" algn="ctr">
              <a:buNone/>
              <a:defRPr>
                <a:solidFill>
                  <a:schemeClr val="tx1">
                    <a:tint val="75000"/>
                  </a:schemeClr>
                </a:solidFill>
              </a:defRPr>
            </a:lvl2pPr>
            <a:lvl3pPr marL="914306" indent="0" algn="ctr">
              <a:buNone/>
              <a:defRPr>
                <a:solidFill>
                  <a:schemeClr val="tx1">
                    <a:tint val="75000"/>
                  </a:schemeClr>
                </a:solidFill>
              </a:defRPr>
            </a:lvl3pPr>
            <a:lvl4pPr marL="1371460" indent="0" algn="ctr">
              <a:buNone/>
              <a:defRPr>
                <a:solidFill>
                  <a:schemeClr val="tx1">
                    <a:tint val="75000"/>
                  </a:schemeClr>
                </a:solidFill>
              </a:defRPr>
            </a:lvl4pPr>
            <a:lvl5pPr marL="1828613" indent="0" algn="ctr">
              <a:buNone/>
              <a:defRPr>
                <a:solidFill>
                  <a:schemeClr val="tx1">
                    <a:tint val="75000"/>
                  </a:schemeClr>
                </a:solidFill>
              </a:defRPr>
            </a:lvl5pPr>
            <a:lvl6pPr marL="2285767" indent="0" algn="ctr">
              <a:buNone/>
              <a:defRPr>
                <a:solidFill>
                  <a:schemeClr val="tx1">
                    <a:tint val="75000"/>
                  </a:schemeClr>
                </a:solidFill>
              </a:defRPr>
            </a:lvl6pPr>
            <a:lvl7pPr marL="2742920" indent="0" algn="ctr">
              <a:buNone/>
              <a:defRPr>
                <a:solidFill>
                  <a:schemeClr val="tx1">
                    <a:tint val="75000"/>
                  </a:schemeClr>
                </a:solidFill>
              </a:defRPr>
            </a:lvl7pPr>
            <a:lvl8pPr marL="3200073" indent="0" algn="ctr">
              <a:buNone/>
              <a:defRPr>
                <a:solidFill>
                  <a:schemeClr val="tx1">
                    <a:tint val="75000"/>
                  </a:schemeClr>
                </a:solidFill>
              </a:defRPr>
            </a:lvl8pPr>
            <a:lvl9pPr marL="3657227" indent="0" algn="ctr">
              <a:buNone/>
              <a:defRPr>
                <a:solidFill>
                  <a:schemeClr val="tx1">
                    <a:tint val="75000"/>
                  </a:schemeClr>
                </a:solidFill>
              </a:defRPr>
            </a:lvl9pPr>
          </a:lstStyle>
          <a:p>
            <a:r>
              <a:rPr lang="en-GB" dirty="0"/>
              <a:t>Add subtitle here if required</a:t>
            </a:r>
          </a:p>
        </p:txBody>
      </p:sp>
      <p:sp>
        <p:nvSpPr>
          <p:cNvPr id="10" name="Textplatzhalter 9"/>
          <p:cNvSpPr>
            <a:spLocks noGrp="1"/>
          </p:cNvSpPr>
          <p:nvPr>
            <p:ph type="body" sz="quarter" idx="11" hasCustomPrompt="1"/>
          </p:nvPr>
        </p:nvSpPr>
        <p:spPr bwMode="white">
          <a:xfrm>
            <a:off x="287338" y="2941638"/>
            <a:ext cx="4284662" cy="805551"/>
          </a:xfrm>
          <a:solidFill>
            <a:schemeClr val="bg1">
              <a:alpha val="90000"/>
            </a:schemeClr>
          </a:solidFill>
        </p:spPr>
        <p:txBody>
          <a:bodyPr wrap="square" lIns="324000" tIns="216000" rIns="324000" bIns="216000" rtlCol="0" anchor="t" anchorCtr="0">
            <a:spAutoFit/>
          </a:bodyPr>
          <a:lstStyle>
            <a:lvl1pPr marL="0" indent="0">
              <a:buNone/>
              <a:defRPr lang="de-DE" sz="1200" baseline="0" dirty="0" smtClean="0"/>
            </a:lvl1pPr>
          </a:lstStyle>
          <a:p>
            <a:r>
              <a:rPr lang="en-GB" dirty="0"/>
              <a:t>Information about presentation (author, version No. etc.)</a:t>
            </a:r>
          </a:p>
        </p:txBody>
      </p:sp>
      <p:sp>
        <p:nvSpPr>
          <p:cNvPr id="12" name="Textplatzhalter 7"/>
          <p:cNvSpPr>
            <a:spLocks noGrp="1"/>
          </p:cNvSpPr>
          <p:nvPr>
            <p:ph type="body" sz="quarter" idx="12" hasCustomPrompt="1"/>
          </p:nvPr>
        </p:nvSpPr>
        <p:spPr bwMode="auto">
          <a:xfrm>
            <a:off x="457200" y="5426926"/>
            <a:ext cx="1638300" cy="243623"/>
          </a:xfrm>
        </p:spPr>
        <p:txBody>
          <a:bodyPr>
            <a:noAutofit/>
          </a:bodyPr>
          <a:lstStyle>
            <a:lvl1pPr marL="0" indent="0">
              <a:buNone/>
              <a:defRPr sz="900" cap="all" baseline="0">
                <a:solidFill>
                  <a:schemeClr val="bg1"/>
                </a:solidFill>
              </a:defRPr>
            </a:lvl1pPr>
            <a:lvl2pPr marL="266700" indent="0">
              <a:buNone/>
              <a:defRPr sz="1050"/>
            </a:lvl2pPr>
            <a:lvl3pPr marL="541338" indent="0">
              <a:buNone/>
              <a:defRPr sz="1050"/>
            </a:lvl3pPr>
            <a:lvl4pPr marL="808038" indent="0">
              <a:buNone/>
              <a:defRPr sz="1000"/>
            </a:lvl4pPr>
            <a:lvl5pPr marL="1077913" indent="0">
              <a:buNone/>
              <a:defRPr sz="1000"/>
            </a:lvl5pPr>
          </a:lstStyle>
          <a:p>
            <a:pPr lvl="0"/>
            <a:r>
              <a:rPr lang="en-GB" dirty="0"/>
              <a:t>State: </a:t>
            </a:r>
            <a:r>
              <a:rPr lang="en-GB" dirty="0" err="1"/>
              <a:t>xx.xx.xxxx</a:t>
            </a:r>
            <a:endParaRPr lang="en-GB" dirty="0"/>
          </a:p>
        </p:txBody>
      </p:sp>
      <p:pic>
        <p:nvPicPr>
          <p:cNvPr id="18" name="Grafik 17">
            <a:extLst>
              <a:ext uri="{FF2B5EF4-FFF2-40B4-BE49-F238E27FC236}">
                <a16:creationId xmlns:a16="http://schemas.microsoft.com/office/drawing/2014/main" id="{35A845CD-2D10-42BB-97DB-CDA723EE9EBF}"/>
              </a:ext>
            </a:extLst>
          </p:cNvPr>
          <p:cNvPicPr>
            <a:picLocks noChangeAspect="1"/>
          </p:cNvPicPr>
          <p:nvPr userDrawn="1"/>
        </p:nvPicPr>
        <p:blipFill>
          <a:blip r:embed="rId3"/>
          <a:stretch>
            <a:fillRect/>
          </a:stretch>
        </p:blipFill>
        <p:spPr>
          <a:xfrm>
            <a:off x="6579375" y="1065910"/>
            <a:ext cx="1849165" cy="975600"/>
          </a:xfrm>
          <a:prstGeom prst="rect">
            <a:avLst/>
          </a:prstGeom>
        </p:spPr>
      </p:pic>
      <p:pic>
        <p:nvPicPr>
          <p:cNvPr id="16" name="Grafik 15">
            <a:extLst>
              <a:ext uri="{FF2B5EF4-FFF2-40B4-BE49-F238E27FC236}">
                <a16:creationId xmlns:a16="http://schemas.microsoft.com/office/drawing/2014/main" id="{1A49BD17-4238-4565-A4B6-2E20A7C19FA6}"/>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6615113" y="5129960"/>
            <a:ext cx="1835942" cy="317581"/>
          </a:xfrm>
          <a:prstGeom prst="rect">
            <a:avLst/>
          </a:prstGeom>
        </p:spPr>
      </p:pic>
    </p:spTree>
    <p:extLst>
      <p:ext uri="{BB962C8B-B14F-4D97-AF65-F5344CB8AC3E}">
        <p14:creationId xmlns:p14="http://schemas.microsoft.com/office/powerpoint/2010/main" val="1096689772"/>
      </p:ext>
    </p:extLst>
  </p:cSld>
  <p:clrMapOvr>
    <a:masterClrMapping/>
  </p:clrMapOvr>
  <p:transition>
    <p:fade/>
  </p:transition>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elfolie kurz">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grpSp>
        <p:nvGrpSpPr>
          <p:cNvPr id="24" name="Gruppieren 23"/>
          <p:cNvGrpSpPr/>
          <p:nvPr userDrawn="1"/>
        </p:nvGrpSpPr>
        <p:grpSpPr>
          <a:xfrm>
            <a:off x="287338" y="603319"/>
            <a:ext cx="8552850" cy="1731679"/>
            <a:chOff x="287338" y="603319"/>
            <a:chExt cx="8552850" cy="2037600"/>
          </a:xfrm>
        </p:grpSpPr>
        <p:sp>
          <p:nvSpPr>
            <p:cNvPr id="26" name="Rechteck 25"/>
            <p:cNvSpPr/>
            <p:nvPr userDrawn="1"/>
          </p:nvSpPr>
          <p:spPr>
            <a:xfrm>
              <a:off x="6192000" y="603319"/>
              <a:ext cx="2648188" cy="2037600"/>
            </a:xfrm>
            <a:prstGeom prst="rect">
              <a:avLst/>
            </a:prstGeom>
            <a:solidFill>
              <a:schemeClr val="bg1"/>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sp>
          <p:nvSpPr>
            <p:cNvPr id="27" name="Rechteck 26"/>
            <p:cNvSpPr/>
            <p:nvPr userDrawn="1"/>
          </p:nvSpPr>
          <p:spPr bwMode="blackWhite">
            <a:xfrm>
              <a:off x="287338" y="603319"/>
              <a:ext cx="5904662" cy="2037600"/>
            </a:xfrm>
            <a:prstGeom prst="rect">
              <a:avLst/>
            </a:prstGeom>
            <a:solidFill>
              <a:srgbClr val="0096D3">
                <a:alpha val="89804"/>
              </a:srgbClr>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grpSp>
      <p:sp>
        <p:nvSpPr>
          <p:cNvPr id="2" name="Titel 1"/>
          <p:cNvSpPr>
            <a:spLocks noGrp="1"/>
          </p:cNvSpPr>
          <p:nvPr>
            <p:ph type="ctrTitle" hasCustomPrompt="1"/>
          </p:nvPr>
        </p:nvSpPr>
        <p:spPr bwMode="black">
          <a:xfrm>
            <a:off x="605408" y="1294973"/>
            <a:ext cx="5466982" cy="516714"/>
          </a:xfrm>
          <a:prstGeom prst="rect">
            <a:avLst/>
          </a:prstGeom>
        </p:spPr>
        <p:txBody>
          <a:bodyPr tIns="0" anchor="b" anchorCtr="0">
            <a:noAutofit/>
          </a:bodyPr>
          <a:lstStyle>
            <a:lvl1pPr algn="l">
              <a:lnSpc>
                <a:spcPct val="100000"/>
              </a:lnSpc>
              <a:defRPr sz="3200" b="1" i="0" baseline="0">
                <a:solidFill>
                  <a:schemeClr val="bg1"/>
                </a:solidFill>
                <a:latin typeface="Georgia" charset="0"/>
                <a:ea typeface="Georgia" charset="0"/>
                <a:cs typeface="Georgia" charset="0"/>
              </a:defRPr>
            </a:lvl1pPr>
          </a:lstStyle>
          <a:p>
            <a:r>
              <a:rPr lang="en-GB" dirty="0"/>
              <a:t>Max. 1 line for header</a:t>
            </a:r>
          </a:p>
        </p:txBody>
      </p:sp>
      <p:sp>
        <p:nvSpPr>
          <p:cNvPr id="3" name="Untertitel 2"/>
          <p:cNvSpPr>
            <a:spLocks noGrp="1"/>
          </p:cNvSpPr>
          <p:nvPr>
            <p:ph type="subTitle" idx="1" hasCustomPrompt="1"/>
          </p:nvPr>
        </p:nvSpPr>
        <p:spPr bwMode="black">
          <a:xfrm>
            <a:off x="605408" y="993080"/>
            <a:ext cx="5466982" cy="304511"/>
          </a:xfrm>
        </p:spPr>
        <p:txBody>
          <a:bodyPr tIns="0" bIns="0">
            <a:noAutofit/>
          </a:bodyPr>
          <a:lstStyle>
            <a:lvl1pPr marL="0" indent="0" algn="l">
              <a:lnSpc>
                <a:spcPct val="100000"/>
              </a:lnSpc>
              <a:buNone/>
              <a:defRPr sz="1800" b="1" i="0">
                <a:solidFill>
                  <a:schemeClr val="tx1"/>
                </a:solidFill>
                <a:latin typeface="Verdana" charset="0"/>
                <a:ea typeface="Verdana" charset="0"/>
                <a:cs typeface="Verdana" charset="0"/>
              </a:defRPr>
            </a:lvl1pPr>
            <a:lvl2pPr marL="457153" indent="0" algn="ctr">
              <a:buNone/>
              <a:defRPr>
                <a:solidFill>
                  <a:schemeClr val="tx1">
                    <a:tint val="75000"/>
                  </a:schemeClr>
                </a:solidFill>
              </a:defRPr>
            </a:lvl2pPr>
            <a:lvl3pPr marL="914306" indent="0" algn="ctr">
              <a:buNone/>
              <a:defRPr>
                <a:solidFill>
                  <a:schemeClr val="tx1">
                    <a:tint val="75000"/>
                  </a:schemeClr>
                </a:solidFill>
              </a:defRPr>
            </a:lvl3pPr>
            <a:lvl4pPr marL="1371460" indent="0" algn="ctr">
              <a:buNone/>
              <a:defRPr>
                <a:solidFill>
                  <a:schemeClr val="tx1">
                    <a:tint val="75000"/>
                  </a:schemeClr>
                </a:solidFill>
              </a:defRPr>
            </a:lvl4pPr>
            <a:lvl5pPr marL="1828613" indent="0" algn="ctr">
              <a:buNone/>
              <a:defRPr>
                <a:solidFill>
                  <a:schemeClr val="tx1">
                    <a:tint val="75000"/>
                  </a:schemeClr>
                </a:solidFill>
              </a:defRPr>
            </a:lvl5pPr>
            <a:lvl6pPr marL="2285767" indent="0" algn="ctr">
              <a:buNone/>
              <a:defRPr>
                <a:solidFill>
                  <a:schemeClr val="tx1">
                    <a:tint val="75000"/>
                  </a:schemeClr>
                </a:solidFill>
              </a:defRPr>
            </a:lvl6pPr>
            <a:lvl7pPr marL="2742920" indent="0" algn="ctr">
              <a:buNone/>
              <a:defRPr>
                <a:solidFill>
                  <a:schemeClr val="tx1">
                    <a:tint val="75000"/>
                  </a:schemeClr>
                </a:solidFill>
              </a:defRPr>
            </a:lvl7pPr>
            <a:lvl8pPr marL="3200073" indent="0" algn="ctr">
              <a:buNone/>
              <a:defRPr>
                <a:solidFill>
                  <a:schemeClr val="tx1">
                    <a:tint val="75000"/>
                  </a:schemeClr>
                </a:solidFill>
              </a:defRPr>
            </a:lvl8pPr>
            <a:lvl9pPr marL="3657227" indent="0" algn="ctr">
              <a:buNone/>
              <a:defRPr>
                <a:solidFill>
                  <a:schemeClr val="tx1">
                    <a:tint val="75000"/>
                  </a:schemeClr>
                </a:solidFill>
              </a:defRPr>
            </a:lvl9pPr>
          </a:lstStyle>
          <a:p>
            <a:r>
              <a:rPr lang="en-GB" dirty="0"/>
              <a:t>Add subtitle here if required</a:t>
            </a:r>
          </a:p>
        </p:txBody>
      </p:sp>
      <p:sp>
        <p:nvSpPr>
          <p:cNvPr id="16" name="Textplatzhalter 9"/>
          <p:cNvSpPr>
            <a:spLocks noGrp="1"/>
          </p:cNvSpPr>
          <p:nvPr>
            <p:ph type="body" sz="quarter" idx="11" hasCustomPrompt="1"/>
          </p:nvPr>
        </p:nvSpPr>
        <p:spPr bwMode="white">
          <a:xfrm>
            <a:off x="287338" y="2642906"/>
            <a:ext cx="4284662" cy="805551"/>
          </a:xfrm>
          <a:solidFill>
            <a:schemeClr val="bg1">
              <a:alpha val="90000"/>
            </a:schemeClr>
          </a:solidFill>
        </p:spPr>
        <p:txBody>
          <a:bodyPr wrap="square" lIns="324000" tIns="216000" rIns="324000" bIns="216000" rtlCol="0" anchor="t" anchorCtr="0">
            <a:spAutoFit/>
          </a:bodyPr>
          <a:lstStyle>
            <a:lvl1pPr marL="0" indent="0">
              <a:buNone/>
              <a:defRPr lang="de-DE" sz="1200" dirty="0" smtClean="0"/>
            </a:lvl1pPr>
          </a:lstStyle>
          <a:p>
            <a:r>
              <a:rPr lang="en-GB" dirty="0"/>
              <a:t>Information about presentation (author, version No. etc.)</a:t>
            </a:r>
          </a:p>
        </p:txBody>
      </p:sp>
      <p:sp>
        <p:nvSpPr>
          <p:cNvPr id="12" name="Textplatzhalter 7"/>
          <p:cNvSpPr>
            <a:spLocks noGrp="1"/>
          </p:cNvSpPr>
          <p:nvPr>
            <p:ph type="body" sz="quarter" idx="12" hasCustomPrompt="1"/>
          </p:nvPr>
        </p:nvSpPr>
        <p:spPr bwMode="auto">
          <a:xfrm>
            <a:off x="457200" y="5426926"/>
            <a:ext cx="1638300" cy="243623"/>
          </a:xfrm>
        </p:spPr>
        <p:txBody>
          <a:bodyPr>
            <a:noAutofit/>
          </a:bodyPr>
          <a:lstStyle>
            <a:lvl1pPr marL="0" indent="0">
              <a:buNone/>
              <a:defRPr sz="900" cap="all" baseline="0">
                <a:solidFill>
                  <a:schemeClr val="bg1"/>
                </a:solidFill>
              </a:defRPr>
            </a:lvl1pPr>
            <a:lvl2pPr marL="266700" indent="0">
              <a:buNone/>
              <a:defRPr sz="1050"/>
            </a:lvl2pPr>
            <a:lvl3pPr marL="541338" indent="0">
              <a:buNone/>
              <a:defRPr sz="1050"/>
            </a:lvl3pPr>
            <a:lvl4pPr marL="808038" indent="0">
              <a:buNone/>
              <a:defRPr sz="1000"/>
            </a:lvl4pPr>
            <a:lvl5pPr marL="1077913" indent="0">
              <a:buNone/>
              <a:defRPr sz="1000"/>
            </a:lvl5pPr>
          </a:lstStyle>
          <a:p>
            <a:pPr lvl="0"/>
            <a:r>
              <a:rPr lang="en-GB" dirty="0"/>
              <a:t>State: </a:t>
            </a:r>
            <a:r>
              <a:rPr lang="en-GB" dirty="0" err="1"/>
              <a:t>xx.xx.xxxx</a:t>
            </a:r>
            <a:endParaRPr lang="en-GB" dirty="0"/>
          </a:p>
        </p:txBody>
      </p:sp>
      <p:pic>
        <p:nvPicPr>
          <p:cNvPr id="19" name="Grafik 18">
            <a:extLst>
              <a:ext uri="{FF2B5EF4-FFF2-40B4-BE49-F238E27FC236}">
                <a16:creationId xmlns:a16="http://schemas.microsoft.com/office/drawing/2014/main" id="{BE16B78E-14FB-4C1E-8625-0D5A429E49F4}"/>
              </a:ext>
            </a:extLst>
          </p:cNvPr>
          <p:cNvPicPr>
            <a:picLocks noChangeAspect="1"/>
          </p:cNvPicPr>
          <p:nvPr userDrawn="1"/>
        </p:nvPicPr>
        <p:blipFill>
          <a:blip r:embed="rId3"/>
          <a:stretch>
            <a:fillRect/>
          </a:stretch>
        </p:blipFill>
        <p:spPr>
          <a:xfrm>
            <a:off x="6579375" y="1065910"/>
            <a:ext cx="1849165" cy="975600"/>
          </a:xfrm>
          <a:prstGeom prst="rect">
            <a:avLst/>
          </a:prstGeom>
        </p:spPr>
      </p:pic>
      <p:pic>
        <p:nvPicPr>
          <p:cNvPr id="11" name="Grafik 10">
            <a:extLst>
              <a:ext uri="{FF2B5EF4-FFF2-40B4-BE49-F238E27FC236}">
                <a16:creationId xmlns:a16="http://schemas.microsoft.com/office/drawing/2014/main" id="{E9B62297-FBCA-40E7-A876-7818F7A81C76}"/>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6615113" y="5129960"/>
            <a:ext cx="1835942" cy="317581"/>
          </a:xfrm>
          <a:prstGeom prst="rect">
            <a:avLst/>
          </a:prstGeom>
        </p:spPr>
      </p:pic>
    </p:spTree>
  </p:cSld>
  <p:clrMapOvr>
    <a:masterClrMapping/>
  </p:clrMapOvr>
  <p:transition>
    <p:fad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el und Inhalt">
    <p:spTree>
      <p:nvGrpSpPr>
        <p:cNvPr id="1" name=""/>
        <p:cNvGrpSpPr/>
        <p:nvPr/>
      </p:nvGrpSpPr>
      <p:grpSpPr>
        <a:xfrm>
          <a:off x="0" y="0"/>
          <a:ext cx="0" cy="0"/>
          <a:chOff x="0" y="0"/>
          <a:chExt cx="0" cy="0"/>
        </a:xfrm>
      </p:grpSpPr>
      <p:sp>
        <p:nvSpPr>
          <p:cNvPr id="3" name="Inhaltsplatzhalter 2"/>
          <p:cNvSpPr>
            <a:spLocks noGrp="1"/>
          </p:cNvSpPr>
          <p:nvPr>
            <p:ph idx="1" hasCustomPrompt="1"/>
          </p:nvPr>
        </p:nvSpPr>
        <p:spPr>
          <a:xfrm>
            <a:off x="462019" y="1344613"/>
            <a:ext cx="7759644" cy="3853905"/>
          </a:xfrm>
        </p:spPr>
        <p:txBody>
          <a:bodyPr lIns="0" rIns="0">
            <a:normAutofit/>
          </a:bodyPr>
          <a:lstStyle>
            <a:lvl1pPr>
              <a:defRPr sz="1600"/>
            </a:lvl1pPr>
            <a:lvl2pPr>
              <a:defRPr sz="1500"/>
            </a:lvl2pPr>
            <a:lvl3pPr>
              <a:defRPr sz="1400"/>
            </a:lvl3pPr>
            <a:lvl4pPr>
              <a:defRPr sz="1200"/>
            </a:lvl4pPr>
            <a:lvl5pPr>
              <a:defRPr sz="1200"/>
            </a:lvl5pPr>
          </a:lstStyle>
          <a:p>
            <a:pPr lvl="0"/>
            <a:r>
              <a:rPr lang="en-GB" dirty="0" err="1"/>
              <a:t>Textmasterformat</a:t>
            </a:r>
            <a:r>
              <a:rPr lang="en-GB" dirty="0"/>
              <a:t> </a:t>
            </a:r>
            <a:r>
              <a:rPr lang="en-GB" dirty="0" err="1"/>
              <a:t>durch</a:t>
            </a:r>
            <a:r>
              <a:rPr lang="en-GB" dirty="0"/>
              <a:t> </a:t>
            </a:r>
            <a:r>
              <a:rPr lang="en-GB" dirty="0" err="1"/>
              <a:t>Klicken</a:t>
            </a:r>
            <a:r>
              <a:rPr lang="en-GB" dirty="0"/>
              <a:t> </a:t>
            </a:r>
            <a:r>
              <a:rPr lang="en-GB" dirty="0" err="1"/>
              <a:t>bearbeiten</a:t>
            </a:r>
            <a:endParaRPr lang="en-GB" dirty="0"/>
          </a:p>
          <a:p>
            <a:pPr lvl="1"/>
            <a:r>
              <a:rPr lang="en-GB" dirty="0" err="1"/>
              <a:t>Zweite</a:t>
            </a:r>
            <a:r>
              <a:rPr lang="en-GB" dirty="0"/>
              <a:t> </a:t>
            </a:r>
            <a:r>
              <a:rPr lang="en-GB" dirty="0" err="1"/>
              <a:t>Ebene</a:t>
            </a:r>
            <a:endParaRPr lang="en-GB" dirty="0"/>
          </a:p>
          <a:p>
            <a:pPr lvl="2"/>
            <a:r>
              <a:rPr lang="en-GB" dirty="0" err="1"/>
              <a:t>Dritte</a:t>
            </a:r>
            <a:r>
              <a:rPr lang="en-GB" dirty="0"/>
              <a:t> </a:t>
            </a:r>
            <a:r>
              <a:rPr lang="en-GB" dirty="0" err="1"/>
              <a:t>Ebene</a:t>
            </a:r>
            <a:endParaRPr lang="en-GB" dirty="0"/>
          </a:p>
          <a:p>
            <a:pPr lvl="3"/>
            <a:r>
              <a:rPr lang="en-GB" dirty="0" err="1"/>
              <a:t>Vierte</a:t>
            </a:r>
            <a:r>
              <a:rPr lang="en-GB" dirty="0"/>
              <a:t> </a:t>
            </a:r>
            <a:r>
              <a:rPr lang="en-GB" dirty="0" err="1"/>
              <a:t>Ebene</a:t>
            </a:r>
            <a:endParaRPr lang="en-GB" dirty="0"/>
          </a:p>
          <a:p>
            <a:pPr lvl="4"/>
            <a:r>
              <a:rPr lang="en-GB" dirty="0" err="1"/>
              <a:t>Fünfte</a:t>
            </a:r>
            <a:r>
              <a:rPr lang="en-GB" dirty="0"/>
              <a:t> </a:t>
            </a:r>
            <a:r>
              <a:rPr lang="en-GB" dirty="0" err="1"/>
              <a:t>Ebene</a:t>
            </a:r>
            <a:endParaRPr lang="en-GB" dirty="0"/>
          </a:p>
        </p:txBody>
      </p:sp>
      <p:sp>
        <p:nvSpPr>
          <p:cNvPr id="4" name="Datumsplatzhalter 3"/>
          <p:cNvSpPr>
            <a:spLocks noGrp="1"/>
          </p:cNvSpPr>
          <p:nvPr>
            <p:ph type="dt" sz="half" idx="10"/>
          </p:nvPr>
        </p:nvSpPr>
        <p:spPr/>
        <p:txBody>
          <a:bodyPr/>
          <a:lstStyle/>
          <a:p>
            <a:fld id="{E40E7AAB-A700-485E-A2FB-EAC3CFB07074}" type="datetime1">
              <a:rPr lang="en-GB" smtClean="0"/>
              <a:t>25/08/2023</a:t>
            </a:fld>
            <a:endParaRPr lang="en-GB" dirty="0"/>
          </a:p>
        </p:txBody>
      </p:sp>
      <p:sp>
        <p:nvSpPr>
          <p:cNvPr id="8" name="Fußzeilenplatzhalter 7"/>
          <p:cNvSpPr>
            <a:spLocks noGrp="1"/>
          </p:cNvSpPr>
          <p:nvPr>
            <p:ph type="ftr" sz="quarter" idx="11"/>
          </p:nvPr>
        </p:nvSpPr>
        <p:spPr/>
        <p:txBody>
          <a:bodyPr/>
          <a:lstStyle/>
          <a:p>
            <a:r>
              <a:rPr lang="en-GB" dirty="0"/>
              <a:t>Sample Footer</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2" name="Titel 1"/>
          <p:cNvSpPr>
            <a:spLocks noGrp="1"/>
          </p:cNvSpPr>
          <p:nvPr>
            <p:ph type="title"/>
          </p:nvPr>
        </p:nvSpPr>
        <p:spPr/>
        <p:txBody>
          <a:bodyPr/>
          <a:lstStyle/>
          <a:p>
            <a:r>
              <a:rPr lang="de-DE"/>
              <a:t>Mastertitelformat bearbeiten</a:t>
            </a:r>
            <a:endParaRPr lang="en-GB" dirty="0"/>
          </a:p>
        </p:txBody>
      </p:sp>
    </p:spTree>
  </p:cSld>
  <p:clrMapOvr>
    <a:masterClrMapping/>
  </p:clrMapOvr>
  <p:transition>
    <p:fad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Titelfolie ohne Bild">
    <p:spTree>
      <p:nvGrpSpPr>
        <p:cNvPr id="1" name=""/>
        <p:cNvGrpSpPr/>
        <p:nvPr/>
      </p:nvGrpSpPr>
      <p:grpSpPr>
        <a:xfrm>
          <a:off x="0" y="0"/>
          <a:ext cx="0" cy="0"/>
          <a:chOff x="0" y="0"/>
          <a:chExt cx="0" cy="0"/>
        </a:xfrm>
      </p:grpSpPr>
      <p:grpSp>
        <p:nvGrpSpPr>
          <p:cNvPr id="12" name="Gruppieren 11"/>
          <p:cNvGrpSpPr/>
          <p:nvPr userDrawn="1"/>
        </p:nvGrpSpPr>
        <p:grpSpPr>
          <a:xfrm>
            <a:off x="287338" y="603319"/>
            <a:ext cx="8552850" cy="2037600"/>
            <a:chOff x="287338" y="603319"/>
            <a:chExt cx="8552850" cy="2037600"/>
          </a:xfrm>
        </p:grpSpPr>
        <p:sp>
          <p:nvSpPr>
            <p:cNvPr id="16" name="Rechteck 15"/>
            <p:cNvSpPr/>
            <p:nvPr userDrawn="1"/>
          </p:nvSpPr>
          <p:spPr>
            <a:xfrm>
              <a:off x="6192000" y="603319"/>
              <a:ext cx="2648188" cy="2037600"/>
            </a:xfrm>
            <a:prstGeom prst="rect">
              <a:avLst/>
            </a:prstGeom>
            <a:solidFill>
              <a:schemeClr val="bg1"/>
            </a:solidFill>
            <a:ln>
              <a:solidFill>
                <a:schemeClr val="accent1"/>
              </a:solid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sp>
          <p:nvSpPr>
            <p:cNvPr id="17" name="Rechteck 16"/>
            <p:cNvSpPr/>
            <p:nvPr userDrawn="1"/>
          </p:nvSpPr>
          <p:spPr bwMode="blackWhite">
            <a:xfrm>
              <a:off x="287338" y="603319"/>
              <a:ext cx="5904662" cy="2037600"/>
            </a:xfrm>
            <a:prstGeom prst="rect">
              <a:avLst/>
            </a:prstGeom>
            <a:solidFill>
              <a:srgbClr val="0096D3"/>
            </a:solidFill>
            <a:ln>
              <a:solidFill>
                <a:schemeClr val="accent1"/>
              </a:solid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grpSp>
      <p:sp>
        <p:nvSpPr>
          <p:cNvPr id="14" name="Textplatzhalter 9"/>
          <p:cNvSpPr>
            <a:spLocks noGrp="1"/>
          </p:cNvSpPr>
          <p:nvPr>
            <p:ph type="body" sz="quarter" idx="11" hasCustomPrompt="1"/>
          </p:nvPr>
        </p:nvSpPr>
        <p:spPr bwMode="white">
          <a:xfrm>
            <a:off x="287338" y="2941638"/>
            <a:ext cx="4284662" cy="805551"/>
          </a:xfrm>
          <a:solidFill>
            <a:schemeClr val="bg1">
              <a:alpha val="90000"/>
            </a:schemeClr>
          </a:solidFill>
        </p:spPr>
        <p:txBody>
          <a:bodyPr wrap="square" lIns="324000" tIns="216000" rIns="324000" bIns="216000" rtlCol="0" anchor="t" anchorCtr="0">
            <a:spAutoFit/>
          </a:bodyPr>
          <a:lstStyle>
            <a:lvl1pPr marL="0" indent="0">
              <a:buNone/>
              <a:defRPr lang="de-DE" sz="1200" dirty="0" smtClean="0"/>
            </a:lvl1pPr>
          </a:lstStyle>
          <a:p>
            <a:r>
              <a:rPr lang="en-GB" dirty="0"/>
              <a:t>Information about presentation (author, version No. etc.)</a:t>
            </a:r>
          </a:p>
        </p:txBody>
      </p:sp>
      <p:sp>
        <p:nvSpPr>
          <p:cNvPr id="10" name="Textplatzhalter 7"/>
          <p:cNvSpPr>
            <a:spLocks noGrp="1"/>
          </p:cNvSpPr>
          <p:nvPr>
            <p:ph type="body" sz="quarter" idx="12" hasCustomPrompt="1"/>
          </p:nvPr>
        </p:nvSpPr>
        <p:spPr>
          <a:xfrm>
            <a:off x="457200" y="5426926"/>
            <a:ext cx="1638300" cy="243623"/>
          </a:xfrm>
        </p:spPr>
        <p:txBody>
          <a:bodyPr>
            <a:noAutofit/>
          </a:bodyPr>
          <a:lstStyle>
            <a:lvl1pPr marL="0" indent="0">
              <a:buNone/>
              <a:defRPr sz="900" cap="all" baseline="0">
                <a:solidFill>
                  <a:schemeClr val="tx1"/>
                </a:solidFill>
              </a:defRPr>
            </a:lvl1pPr>
            <a:lvl2pPr marL="266700" indent="0">
              <a:buNone/>
              <a:defRPr sz="1050"/>
            </a:lvl2pPr>
            <a:lvl3pPr marL="541338" indent="0">
              <a:buNone/>
              <a:defRPr sz="1050"/>
            </a:lvl3pPr>
            <a:lvl4pPr marL="808038" indent="0">
              <a:buNone/>
              <a:defRPr sz="1000"/>
            </a:lvl4pPr>
            <a:lvl5pPr marL="1077913" indent="0">
              <a:buNone/>
              <a:defRPr sz="1000"/>
            </a:lvl5pPr>
          </a:lstStyle>
          <a:p>
            <a:pPr lvl="0"/>
            <a:r>
              <a:rPr lang="en-GB" dirty="0"/>
              <a:t>State: </a:t>
            </a:r>
            <a:r>
              <a:rPr lang="en-GB" dirty="0" err="1"/>
              <a:t>xx.xx.xxxx</a:t>
            </a:r>
            <a:endParaRPr lang="en-GB" dirty="0"/>
          </a:p>
        </p:txBody>
      </p:sp>
      <p:sp>
        <p:nvSpPr>
          <p:cNvPr id="13" name="Titel 1"/>
          <p:cNvSpPr>
            <a:spLocks noGrp="1"/>
          </p:cNvSpPr>
          <p:nvPr>
            <p:ph type="ctrTitle" hasCustomPrompt="1"/>
          </p:nvPr>
        </p:nvSpPr>
        <p:spPr bwMode="black">
          <a:xfrm>
            <a:off x="605406" y="1301365"/>
            <a:ext cx="5436000" cy="1026000"/>
          </a:xfrm>
          <a:prstGeom prst="rect">
            <a:avLst/>
          </a:prstGeom>
        </p:spPr>
        <p:txBody>
          <a:bodyPr tIns="0" anchor="ctr" anchorCtr="0">
            <a:noAutofit/>
          </a:bodyPr>
          <a:lstStyle>
            <a:lvl1pPr algn="l">
              <a:lnSpc>
                <a:spcPct val="100000"/>
              </a:lnSpc>
              <a:defRPr sz="3200" b="1" i="0" baseline="0">
                <a:solidFill>
                  <a:schemeClr val="bg1"/>
                </a:solidFill>
                <a:latin typeface="Georgia" charset="0"/>
                <a:ea typeface="Georgia" charset="0"/>
                <a:cs typeface="Georgia" charset="0"/>
              </a:defRPr>
            </a:lvl1pPr>
          </a:lstStyle>
          <a:p>
            <a:r>
              <a:rPr lang="en-GB" dirty="0"/>
              <a:t>Max. 2 lines of text for header</a:t>
            </a:r>
          </a:p>
        </p:txBody>
      </p:sp>
      <p:sp>
        <p:nvSpPr>
          <p:cNvPr id="15" name="Untertitel 2"/>
          <p:cNvSpPr>
            <a:spLocks noGrp="1"/>
          </p:cNvSpPr>
          <p:nvPr>
            <p:ph type="subTitle" idx="1" hasCustomPrompt="1"/>
          </p:nvPr>
        </p:nvSpPr>
        <p:spPr bwMode="black">
          <a:xfrm>
            <a:off x="605406" y="993080"/>
            <a:ext cx="5436000" cy="351533"/>
          </a:xfrm>
        </p:spPr>
        <p:txBody>
          <a:bodyPr tIns="0" bIns="0">
            <a:noAutofit/>
          </a:bodyPr>
          <a:lstStyle>
            <a:lvl1pPr marL="0" indent="0" algn="l">
              <a:lnSpc>
                <a:spcPct val="100000"/>
              </a:lnSpc>
              <a:buNone/>
              <a:defRPr sz="1800" b="1" i="0">
                <a:solidFill>
                  <a:schemeClr val="tx1"/>
                </a:solidFill>
                <a:latin typeface="Verdana" charset="0"/>
                <a:ea typeface="Verdana" charset="0"/>
                <a:cs typeface="Verdana" charset="0"/>
              </a:defRPr>
            </a:lvl1pPr>
            <a:lvl2pPr marL="457153" indent="0" algn="ctr">
              <a:buNone/>
              <a:defRPr>
                <a:solidFill>
                  <a:schemeClr val="tx1">
                    <a:tint val="75000"/>
                  </a:schemeClr>
                </a:solidFill>
              </a:defRPr>
            </a:lvl2pPr>
            <a:lvl3pPr marL="914306" indent="0" algn="ctr">
              <a:buNone/>
              <a:defRPr>
                <a:solidFill>
                  <a:schemeClr val="tx1">
                    <a:tint val="75000"/>
                  </a:schemeClr>
                </a:solidFill>
              </a:defRPr>
            </a:lvl3pPr>
            <a:lvl4pPr marL="1371460" indent="0" algn="ctr">
              <a:buNone/>
              <a:defRPr>
                <a:solidFill>
                  <a:schemeClr val="tx1">
                    <a:tint val="75000"/>
                  </a:schemeClr>
                </a:solidFill>
              </a:defRPr>
            </a:lvl4pPr>
            <a:lvl5pPr marL="1828613" indent="0" algn="ctr">
              <a:buNone/>
              <a:defRPr>
                <a:solidFill>
                  <a:schemeClr val="tx1">
                    <a:tint val="75000"/>
                  </a:schemeClr>
                </a:solidFill>
              </a:defRPr>
            </a:lvl5pPr>
            <a:lvl6pPr marL="2285767" indent="0" algn="ctr">
              <a:buNone/>
              <a:defRPr>
                <a:solidFill>
                  <a:schemeClr val="tx1">
                    <a:tint val="75000"/>
                  </a:schemeClr>
                </a:solidFill>
              </a:defRPr>
            </a:lvl6pPr>
            <a:lvl7pPr marL="2742920" indent="0" algn="ctr">
              <a:buNone/>
              <a:defRPr>
                <a:solidFill>
                  <a:schemeClr val="tx1">
                    <a:tint val="75000"/>
                  </a:schemeClr>
                </a:solidFill>
              </a:defRPr>
            </a:lvl7pPr>
            <a:lvl8pPr marL="3200073" indent="0" algn="ctr">
              <a:buNone/>
              <a:defRPr>
                <a:solidFill>
                  <a:schemeClr val="tx1">
                    <a:tint val="75000"/>
                  </a:schemeClr>
                </a:solidFill>
              </a:defRPr>
            </a:lvl8pPr>
            <a:lvl9pPr marL="3657227" indent="0" algn="ctr">
              <a:buNone/>
              <a:defRPr>
                <a:solidFill>
                  <a:schemeClr val="tx1">
                    <a:tint val="75000"/>
                  </a:schemeClr>
                </a:solidFill>
              </a:defRPr>
            </a:lvl9pPr>
          </a:lstStyle>
          <a:p>
            <a:r>
              <a:rPr lang="en-GB" dirty="0"/>
              <a:t>Add subtitle here if required</a:t>
            </a:r>
          </a:p>
        </p:txBody>
      </p:sp>
      <p:pic>
        <p:nvPicPr>
          <p:cNvPr id="21" name="Grafik 20">
            <a:extLst>
              <a:ext uri="{FF2B5EF4-FFF2-40B4-BE49-F238E27FC236}">
                <a16:creationId xmlns:a16="http://schemas.microsoft.com/office/drawing/2014/main" id="{BA9844F5-FA66-4582-86D9-5CEB57D81516}"/>
              </a:ext>
            </a:extLst>
          </p:cNvPr>
          <p:cNvPicPr>
            <a:picLocks noChangeAspect="1"/>
          </p:cNvPicPr>
          <p:nvPr userDrawn="1"/>
        </p:nvPicPr>
        <p:blipFill>
          <a:blip r:embed="rId2"/>
          <a:stretch>
            <a:fillRect/>
          </a:stretch>
        </p:blipFill>
        <p:spPr>
          <a:xfrm>
            <a:off x="6579375" y="1065910"/>
            <a:ext cx="1849165" cy="975600"/>
          </a:xfrm>
          <a:prstGeom prst="rect">
            <a:avLst/>
          </a:prstGeom>
        </p:spPr>
      </p:pic>
      <p:pic>
        <p:nvPicPr>
          <p:cNvPr id="18" name="Grafik 17">
            <a:extLst>
              <a:ext uri="{FF2B5EF4-FFF2-40B4-BE49-F238E27FC236}">
                <a16:creationId xmlns:a16="http://schemas.microsoft.com/office/drawing/2014/main" id="{B702B7F6-CDD2-4C6E-BBC1-61A114A8A828}"/>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6617341" y="5129960"/>
            <a:ext cx="1831485" cy="317581"/>
          </a:xfrm>
          <a:prstGeom prst="rect">
            <a:avLst/>
          </a:prstGeom>
        </p:spPr>
      </p:pic>
    </p:spTree>
    <p:extLst>
      <p:ext uri="{BB962C8B-B14F-4D97-AF65-F5344CB8AC3E}">
        <p14:creationId xmlns:p14="http://schemas.microsoft.com/office/powerpoint/2010/main" val="154679611"/>
      </p:ext>
    </p:extLst>
  </p:cSld>
  <p:clrMapOvr>
    <a:masterClrMapping/>
  </p:clrMapOvr>
  <p:transition>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Titelfolie ohne Bild kurz">
    <p:spTree>
      <p:nvGrpSpPr>
        <p:cNvPr id="1" name=""/>
        <p:cNvGrpSpPr/>
        <p:nvPr/>
      </p:nvGrpSpPr>
      <p:grpSpPr>
        <a:xfrm>
          <a:off x="0" y="0"/>
          <a:ext cx="0" cy="0"/>
          <a:chOff x="0" y="0"/>
          <a:chExt cx="0" cy="0"/>
        </a:xfrm>
      </p:grpSpPr>
      <p:grpSp>
        <p:nvGrpSpPr>
          <p:cNvPr id="13" name="Gruppieren 12"/>
          <p:cNvGrpSpPr/>
          <p:nvPr userDrawn="1"/>
        </p:nvGrpSpPr>
        <p:grpSpPr>
          <a:xfrm>
            <a:off x="287338" y="603319"/>
            <a:ext cx="8552850" cy="1731679"/>
            <a:chOff x="287338" y="603319"/>
            <a:chExt cx="8552850" cy="2037600"/>
          </a:xfrm>
        </p:grpSpPr>
        <p:sp>
          <p:nvSpPr>
            <p:cNvPr id="15" name="Rechteck 14"/>
            <p:cNvSpPr/>
            <p:nvPr userDrawn="1"/>
          </p:nvSpPr>
          <p:spPr>
            <a:xfrm>
              <a:off x="6192000" y="603319"/>
              <a:ext cx="2648188" cy="2037600"/>
            </a:xfrm>
            <a:prstGeom prst="rect">
              <a:avLst/>
            </a:prstGeom>
            <a:solidFill>
              <a:schemeClr val="bg1"/>
            </a:solidFill>
            <a:ln>
              <a:solidFill>
                <a:schemeClr val="accent1"/>
              </a:solid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sp>
          <p:nvSpPr>
            <p:cNvPr id="17" name="Rechteck 16"/>
            <p:cNvSpPr/>
            <p:nvPr userDrawn="1"/>
          </p:nvSpPr>
          <p:spPr bwMode="blackWhite">
            <a:xfrm>
              <a:off x="287338" y="603319"/>
              <a:ext cx="5904662" cy="2037600"/>
            </a:xfrm>
            <a:prstGeom prst="rect">
              <a:avLst/>
            </a:prstGeom>
            <a:solidFill>
              <a:srgbClr val="0096D3"/>
            </a:solidFill>
            <a:ln>
              <a:solidFill>
                <a:schemeClr val="accent1"/>
              </a:solid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grpSp>
      <p:sp>
        <p:nvSpPr>
          <p:cNvPr id="2" name="Titel 1"/>
          <p:cNvSpPr>
            <a:spLocks noGrp="1"/>
          </p:cNvSpPr>
          <p:nvPr>
            <p:ph type="ctrTitle" hasCustomPrompt="1"/>
          </p:nvPr>
        </p:nvSpPr>
        <p:spPr bwMode="black">
          <a:xfrm>
            <a:off x="605407" y="1294973"/>
            <a:ext cx="5436000" cy="516714"/>
          </a:xfrm>
          <a:prstGeom prst="rect">
            <a:avLst/>
          </a:prstGeom>
        </p:spPr>
        <p:txBody>
          <a:bodyPr tIns="0" anchor="b" anchorCtr="0">
            <a:noAutofit/>
          </a:bodyPr>
          <a:lstStyle>
            <a:lvl1pPr algn="l">
              <a:lnSpc>
                <a:spcPct val="100000"/>
              </a:lnSpc>
              <a:defRPr sz="3200" b="1" i="0" baseline="0">
                <a:solidFill>
                  <a:schemeClr val="bg1"/>
                </a:solidFill>
                <a:latin typeface="Georgia" charset="0"/>
                <a:ea typeface="Georgia" charset="0"/>
                <a:cs typeface="Georgia" charset="0"/>
              </a:defRPr>
            </a:lvl1pPr>
          </a:lstStyle>
          <a:p>
            <a:r>
              <a:rPr lang="en-GB" dirty="0"/>
              <a:t>Max. 1 line for header</a:t>
            </a:r>
          </a:p>
        </p:txBody>
      </p:sp>
      <p:sp>
        <p:nvSpPr>
          <p:cNvPr id="3" name="Untertitel 2"/>
          <p:cNvSpPr>
            <a:spLocks noGrp="1"/>
          </p:cNvSpPr>
          <p:nvPr>
            <p:ph type="subTitle" idx="1" hasCustomPrompt="1"/>
          </p:nvPr>
        </p:nvSpPr>
        <p:spPr bwMode="black">
          <a:xfrm>
            <a:off x="605407" y="993080"/>
            <a:ext cx="5436000" cy="304511"/>
          </a:xfrm>
        </p:spPr>
        <p:txBody>
          <a:bodyPr tIns="0" bIns="0">
            <a:noAutofit/>
          </a:bodyPr>
          <a:lstStyle>
            <a:lvl1pPr marL="0" indent="0" algn="l">
              <a:lnSpc>
                <a:spcPct val="100000"/>
              </a:lnSpc>
              <a:buNone/>
              <a:defRPr sz="1800" b="1" i="0">
                <a:solidFill>
                  <a:schemeClr val="tx1"/>
                </a:solidFill>
                <a:latin typeface="Verdana" charset="0"/>
                <a:ea typeface="Verdana" charset="0"/>
                <a:cs typeface="Verdana" charset="0"/>
              </a:defRPr>
            </a:lvl1pPr>
            <a:lvl2pPr marL="457153" indent="0" algn="ctr">
              <a:buNone/>
              <a:defRPr>
                <a:solidFill>
                  <a:schemeClr val="tx1">
                    <a:tint val="75000"/>
                  </a:schemeClr>
                </a:solidFill>
              </a:defRPr>
            </a:lvl2pPr>
            <a:lvl3pPr marL="914306" indent="0" algn="ctr">
              <a:buNone/>
              <a:defRPr>
                <a:solidFill>
                  <a:schemeClr val="tx1">
                    <a:tint val="75000"/>
                  </a:schemeClr>
                </a:solidFill>
              </a:defRPr>
            </a:lvl3pPr>
            <a:lvl4pPr marL="1371460" indent="0" algn="ctr">
              <a:buNone/>
              <a:defRPr>
                <a:solidFill>
                  <a:schemeClr val="tx1">
                    <a:tint val="75000"/>
                  </a:schemeClr>
                </a:solidFill>
              </a:defRPr>
            </a:lvl4pPr>
            <a:lvl5pPr marL="1828613" indent="0" algn="ctr">
              <a:buNone/>
              <a:defRPr>
                <a:solidFill>
                  <a:schemeClr val="tx1">
                    <a:tint val="75000"/>
                  </a:schemeClr>
                </a:solidFill>
              </a:defRPr>
            </a:lvl5pPr>
            <a:lvl6pPr marL="2285767" indent="0" algn="ctr">
              <a:buNone/>
              <a:defRPr>
                <a:solidFill>
                  <a:schemeClr val="tx1">
                    <a:tint val="75000"/>
                  </a:schemeClr>
                </a:solidFill>
              </a:defRPr>
            </a:lvl6pPr>
            <a:lvl7pPr marL="2742920" indent="0" algn="ctr">
              <a:buNone/>
              <a:defRPr>
                <a:solidFill>
                  <a:schemeClr val="tx1">
                    <a:tint val="75000"/>
                  </a:schemeClr>
                </a:solidFill>
              </a:defRPr>
            </a:lvl7pPr>
            <a:lvl8pPr marL="3200073" indent="0" algn="ctr">
              <a:buNone/>
              <a:defRPr>
                <a:solidFill>
                  <a:schemeClr val="tx1">
                    <a:tint val="75000"/>
                  </a:schemeClr>
                </a:solidFill>
              </a:defRPr>
            </a:lvl8pPr>
            <a:lvl9pPr marL="3657227" indent="0" algn="ctr">
              <a:buNone/>
              <a:defRPr>
                <a:solidFill>
                  <a:schemeClr val="tx1">
                    <a:tint val="75000"/>
                  </a:schemeClr>
                </a:solidFill>
              </a:defRPr>
            </a:lvl9pPr>
          </a:lstStyle>
          <a:p>
            <a:r>
              <a:rPr lang="en-GB" dirty="0"/>
              <a:t>Add subtitle here if required</a:t>
            </a:r>
          </a:p>
        </p:txBody>
      </p:sp>
      <p:sp>
        <p:nvSpPr>
          <p:cNvPr id="14" name="Textplatzhalter 9"/>
          <p:cNvSpPr>
            <a:spLocks noGrp="1"/>
          </p:cNvSpPr>
          <p:nvPr>
            <p:ph type="body" sz="quarter" idx="11" hasCustomPrompt="1"/>
          </p:nvPr>
        </p:nvSpPr>
        <p:spPr bwMode="white">
          <a:xfrm>
            <a:off x="287338" y="2642907"/>
            <a:ext cx="4284662" cy="805551"/>
          </a:xfrm>
          <a:solidFill>
            <a:schemeClr val="bg1">
              <a:alpha val="90000"/>
            </a:schemeClr>
          </a:solidFill>
        </p:spPr>
        <p:txBody>
          <a:bodyPr wrap="square" lIns="324000" tIns="216000" rIns="324000" bIns="216000" rtlCol="0" anchor="t" anchorCtr="0">
            <a:spAutoFit/>
          </a:bodyPr>
          <a:lstStyle>
            <a:lvl1pPr marL="0" indent="0">
              <a:buNone/>
              <a:defRPr lang="de-DE" sz="1200" dirty="0" smtClean="0"/>
            </a:lvl1pPr>
          </a:lstStyle>
          <a:p>
            <a:r>
              <a:rPr lang="en-GB" dirty="0"/>
              <a:t>Information about presentation (author, version No. etc.)</a:t>
            </a:r>
          </a:p>
        </p:txBody>
      </p:sp>
      <p:sp>
        <p:nvSpPr>
          <p:cNvPr id="12" name="Textplatzhalter 7"/>
          <p:cNvSpPr>
            <a:spLocks noGrp="1"/>
          </p:cNvSpPr>
          <p:nvPr>
            <p:ph type="body" sz="quarter" idx="12" hasCustomPrompt="1"/>
          </p:nvPr>
        </p:nvSpPr>
        <p:spPr>
          <a:xfrm>
            <a:off x="457200" y="5426926"/>
            <a:ext cx="1638300" cy="243623"/>
          </a:xfrm>
        </p:spPr>
        <p:txBody>
          <a:bodyPr>
            <a:noAutofit/>
          </a:bodyPr>
          <a:lstStyle>
            <a:lvl1pPr marL="0" indent="0">
              <a:buNone/>
              <a:defRPr sz="900" cap="all" baseline="0">
                <a:solidFill>
                  <a:schemeClr val="tx1"/>
                </a:solidFill>
              </a:defRPr>
            </a:lvl1pPr>
            <a:lvl2pPr marL="266700" indent="0">
              <a:buNone/>
              <a:defRPr sz="1050"/>
            </a:lvl2pPr>
            <a:lvl3pPr marL="541338" indent="0">
              <a:buNone/>
              <a:defRPr sz="1050"/>
            </a:lvl3pPr>
            <a:lvl4pPr marL="808038" indent="0">
              <a:buNone/>
              <a:defRPr sz="1000"/>
            </a:lvl4pPr>
            <a:lvl5pPr marL="1077913" indent="0">
              <a:buNone/>
              <a:defRPr sz="1000"/>
            </a:lvl5pPr>
          </a:lstStyle>
          <a:p>
            <a:pPr lvl="0"/>
            <a:r>
              <a:rPr lang="en-GB" dirty="0"/>
              <a:t>State: </a:t>
            </a:r>
            <a:r>
              <a:rPr lang="en-GB" dirty="0" err="1"/>
              <a:t>xx.xx.xxxx</a:t>
            </a:r>
            <a:endParaRPr lang="en-GB" dirty="0"/>
          </a:p>
        </p:txBody>
      </p:sp>
      <p:pic>
        <p:nvPicPr>
          <p:cNvPr id="21" name="Grafik 20">
            <a:extLst>
              <a:ext uri="{FF2B5EF4-FFF2-40B4-BE49-F238E27FC236}">
                <a16:creationId xmlns:a16="http://schemas.microsoft.com/office/drawing/2014/main" id="{A463F4F5-A20D-4A70-B3F9-6AD8A3EE255E}"/>
              </a:ext>
            </a:extLst>
          </p:cNvPr>
          <p:cNvPicPr>
            <a:picLocks noChangeAspect="1"/>
          </p:cNvPicPr>
          <p:nvPr userDrawn="1"/>
        </p:nvPicPr>
        <p:blipFill>
          <a:blip r:embed="rId2"/>
          <a:stretch>
            <a:fillRect/>
          </a:stretch>
        </p:blipFill>
        <p:spPr>
          <a:xfrm>
            <a:off x="6579375" y="1065910"/>
            <a:ext cx="1849165" cy="975600"/>
          </a:xfrm>
          <a:prstGeom prst="rect">
            <a:avLst/>
          </a:prstGeom>
        </p:spPr>
      </p:pic>
      <p:pic>
        <p:nvPicPr>
          <p:cNvPr id="18" name="Grafik 17">
            <a:extLst>
              <a:ext uri="{FF2B5EF4-FFF2-40B4-BE49-F238E27FC236}">
                <a16:creationId xmlns:a16="http://schemas.microsoft.com/office/drawing/2014/main" id="{2AB68F06-4800-4D63-9DF2-372B23A8EC27}"/>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6617341" y="5129960"/>
            <a:ext cx="1831485" cy="317581"/>
          </a:xfrm>
          <a:prstGeom prst="rect">
            <a:avLst/>
          </a:prstGeom>
        </p:spPr>
      </p:pic>
    </p:spTree>
    <p:extLst>
      <p:ext uri="{BB962C8B-B14F-4D97-AF65-F5344CB8AC3E}">
        <p14:creationId xmlns:p14="http://schemas.microsoft.com/office/powerpoint/2010/main" val="1919268004"/>
      </p:ext>
    </p:extLst>
  </p:cSld>
  <p:clrMapOvr>
    <a:masterClrMapping/>
  </p:clrMapOvr>
  <p:transition>
    <p:fad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Titelfolie Bild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grpSp>
        <p:nvGrpSpPr>
          <p:cNvPr id="11" name="Gruppieren 10"/>
          <p:cNvGrpSpPr/>
          <p:nvPr userDrawn="1"/>
        </p:nvGrpSpPr>
        <p:grpSpPr>
          <a:xfrm>
            <a:off x="287338" y="603319"/>
            <a:ext cx="8552850" cy="2037600"/>
            <a:chOff x="287338" y="603319"/>
            <a:chExt cx="8552850" cy="2037600"/>
          </a:xfrm>
        </p:grpSpPr>
        <p:sp>
          <p:nvSpPr>
            <p:cNvPr id="12" name="Rechteck 11"/>
            <p:cNvSpPr/>
            <p:nvPr userDrawn="1"/>
          </p:nvSpPr>
          <p:spPr>
            <a:xfrm>
              <a:off x="6192000" y="603319"/>
              <a:ext cx="2648188" cy="2037600"/>
            </a:xfrm>
            <a:prstGeom prst="rect">
              <a:avLst/>
            </a:prstGeom>
            <a:solidFill>
              <a:schemeClr val="bg1"/>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sp>
          <p:nvSpPr>
            <p:cNvPr id="13" name="Rechteck 12"/>
            <p:cNvSpPr/>
            <p:nvPr userDrawn="1"/>
          </p:nvSpPr>
          <p:spPr bwMode="blackWhite">
            <a:xfrm>
              <a:off x="287338" y="603319"/>
              <a:ext cx="5904662" cy="2037600"/>
            </a:xfrm>
            <a:prstGeom prst="rect">
              <a:avLst/>
            </a:prstGeom>
            <a:solidFill>
              <a:srgbClr val="0096D3">
                <a:alpha val="89804"/>
              </a:srgbClr>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grpSp>
      <p:sp>
        <p:nvSpPr>
          <p:cNvPr id="10" name="Textplatzhalter 9"/>
          <p:cNvSpPr>
            <a:spLocks noGrp="1"/>
          </p:cNvSpPr>
          <p:nvPr>
            <p:ph type="body" sz="quarter" idx="11" hasCustomPrompt="1"/>
          </p:nvPr>
        </p:nvSpPr>
        <p:spPr bwMode="white">
          <a:xfrm>
            <a:off x="287338" y="2941638"/>
            <a:ext cx="4284662" cy="805551"/>
          </a:xfrm>
          <a:solidFill>
            <a:schemeClr val="bg1">
              <a:alpha val="90000"/>
            </a:schemeClr>
          </a:solidFill>
        </p:spPr>
        <p:txBody>
          <a:bodyPr wrap="square" lIns="324000" tIns="216000" rIns="324000" bIns="216000" rtlCol="0" anchor="t" anchorCtr="0">
            <a:spAutoFit/>
          </a:bodyPr>
          <a:lstStyle>
            <a:lvl1pPr marL="0" indent="0">
              <a:buNone/>
              <a:defRPr lang="de-DE" sz="1200" dirty="0" smtClean="0"/>
            </a:lvl1pPr>
          </a:lstStyle>
          <a:p>
            <a:r>
              <a:rPr lang="en-GB" dirty="0"/>
              <a:t>Information about presentation (author, version No. etc.)</a:t>
            </a:r>
          </a:p>
        </p:txBody>
      </p:sp>
      <p:sp>
        <p:nvSpPr>
          <p:cNvPr id="14" name="Textplatzhalter 7"/>
          <p:cNvSpPr>
            <a:spLocks noGrp="1"/>
          </p:cNvSpPr>
          <p:nvPr>
            <p:ph type="body" sz="quarter" idx="12" hasCustomPrompt="1"/>
          </p:nvPr>
        </p:nvSpPr>
        <p:spPr>
          <a:xfrm>
            <a:off x="457200" y="5426926"/>
            <a:ext cx="1638300" cy="243623"/>
          </a:xfrm>
        </p:spPr>
        <p:txBody>
          <a:bodyPr>
            <a:noAutofit/>
          </a:bodyPr>
          <a:lstStyle>
            <a:lvl1pPr marL="0" indent="0">
              <a:buNone/>
              <a:defRPr sz="900" cap="all" baseline="0">
                <a:solidFill>
                  <a:schemeClr val="tx1"/>
                </a:solidFill>
              </a:defRPr>
            </a:lvl1pPr>
            <a:lvl2pPr marL="266700" indent="0">
              <a:buNone/>
              <a:defRPr sz="1050"/>
            </a:lvl2pPr>
            <a:lvl3pPr marL="541338" indent="0">
              <a:buNone/>
              <a:defRPr sz="1050"/>
            </a:lvl3pPr>
            <a:lvl4pPr marL="808038" indent="0">
              <a:buNone/>
              <a:defRPr sz="1000"/>
            </a:lvl4pPr>
            <a:lvl5pPr marL="1077913" indent="0">
              <a:buNone/>
              <a:defRPr sz="1000"/>
            </a:lvl5pPr>
          </a:lstStyle>
          <a:p>
            <a:pPr lvl="0"/>
            <a:r>
              <a:rPr lang="en-GB" dirty="0"/>
              <a:t>State: </a:t>
            </a:r>
            <a:r>
              <a:rPr lang="en-GB" dirty="0" err="1"/>
              <a:t>xx.xx.xxxx</a:t>
            </a:r>
            <a:endParaRPr lang="en-GB" dirty="0"/>
          </a:p>
        </p:txBody>
      </p:sp>
      <p:sp>
        <p:nvSpPr>
          <p:cNvPr id="16" name="Titel 1"/>
          <p:cNvSpPr>
            <a:spLocks noGrp="1"/>
          </p:cNvSpPr>
          <p:nvPr>
            <p:ph type="ctrTitle" hasCustomPrompt="1"/>
          </p:nvPr>
        </p:nvSpPr>
        <p:spPr bwMode="black">
          <a:xfrm>
            <a:off x="605406" y="1301365"/>
            <a:ext cx="5436000" cy="1026000"/>
          </a:xfrm>
          <a:prstGeom prst="rect">
            <a:avLst/>
          </a:prstGeom>
        </p:spPr>
        <p:txBody>
          <a:bodyPr tIns="0" anchor="ctr" anchorCtr="0">
            <a:noAutofit/>
          </a:bodyPr>
          <a:lstStyle>
            <a:lvl1pPr algn="l">
              <a:lnSpc>
                <a:spcPct val="100000"/>
              </a:lnSpc>
              <a:defRPr sz="3200" b="1" i="0" baseline="0">
                <a:solidFill>
                  <a:schemeClr val="bg1"/>
                </a:solidFill>
                <a:latin typeface="Georgia" charset="0"/>
                <a:ea typeface="Georgia" charset="0"/>
                <a:cs typeface="Georgia" charset="0"/>
              </a:defRPr>
            </a:lvl1pPr>
          </a:lstStyle>
          <a:p>
            <a:r>
              <a:rPr lang="en-GB" dirty="0"/>
              <a:t>Max. 2 lines of text for header</a:t>
            </a:r>
          </a:p>
        </p:txBody>
      </p:sp>
      <p:sp>
        <p:nvSpPr>
          <p:cNvPr id="17" name="Untertitel 2"/>
          <p:cNvSpPr>
            <a:spLocks noGrp="1"/>
          </p:cNvSpPr>
          <p:nvPr>
            <p:ph type="subTitle" idx="1" hasCustomPrompt="1"/>
          </p:nvPr>
        </p:nvSpPr>
        <p:spPr bwMode="black">
          <a:xfrm>
            <a:off x="605406" y="993080"/>
            <a:ext cx="5436000" cy="351533"/>
          </a:xfrm>
        </p:spPr>
        <p:txBody>
          <a:bodyPr tIns="0" bIns="0">
            <a:noAutofit/>
          </a:bodyPr>
          <a:lstStyle>
            <a:lvl1pPr marL="0" indent="0" algn="l">
              <a:lnSpc>
                <a:spcPct val="100000"/>
              </a:lnSpc>
              <a:buNone/>
              <a:defRPr sz="1800" b="1" i="0">
                <a:solidFill>
                  <a:schemeClr val="tx1"/>
                </a:solidFill>
                <a:latin typeface="Verdana" charset="0"/>
                <a:ea typeface="Verdana" charset="0"/>
                <a:cs typeface="Verdana" charset="0"/>
              </a:defRPr>
            </a:lvl1pPr>
            <a:lvl2pPr marL="457153" indent="0" algn="ctr">
              <a:buNone/>
              <a:defRPr>
                <a:solidFill>
                  <a:schemeClr val="tx1">
                    <a:tint val="75000"/>
                  </a:schemeClr>
                </a:solidFill>
              </a:defRPr>
            </a:lvl2pPr>
            <a:lvl3pPr marL="914306" indent="0" algn="ctr">
              <a:buNone/>
              <a:defRPr>
                <a:solidFill>
                  <a:schemeClr val="tx1">
                    <a:tint val="75000"/>
                  </a:schemeClr>
                </a:solidFill>
              </a:defRPr>
            </a:lvl3pPr>
            <a:lvl4pPr marL="1371460" indent="0" algn="ctr">
              <a:buNone/>
              <a:defRPr>
                <a:solidFill>
                  <a:schemeClr val="tx1">
                    <a:tint val="75000"/>
                  </a:schemeClr>
                </a:solidFill>
              </a:defRPr>
            </a:lvl4pPr>
            <a:lvl5pPr marL="1828613" indent="0" algn="ctr">
              <a:buNone/>
              <a:defRPr>
                <a:solidFill>
                  <a:schemeClr val="tx1">
                    <a:tint val="75000"/>
                  </a:schemeClr>
                </a:solidFill>
              </a:defRPr>
            </a:lvl5pPr>
            <a:lvl6pPr marL="2285767" indent="0" algn="ctr">
              <a:buNone/>
              <a:defRPr>
                <a:solidFill>
                  <a:schemeClr val="tx1">
                    <a:tint val="75000"/>
                  </a:schemeClr>
                </a:solidFill>
              </a:defRPr>
            </a:lvl6pPr>
            <a:lvl7pPr marL="2742920" indent="0" algn="ctr">
              <a:buNone/>
              <a:defRPr>
                <a:solidFill>
                  <a:schemeClr val="tx1">
                    <a:tint val="75000"/>
                  </a:schemeClr>
                </a:solidFill>
              </a:defRPr>
            </a:lvl7pPr>
            <a:lvl8pPr marL="3200073" indent="0" algn="ctr">
              <a:buNone/>
              <a:defRPr>
                <a:solidFill>
                  <a:schemeClr val="tx1">
                    <a:tint val="75000"/>
                  </a:schemeClr>
                </a:solidFill>
              </a:defRPr>
            </a:lvl8pPr>
            <a:lvl9pPr marL="3657227" indent="0" algn="ctr">
              <a:buNone/>
              <a:defRPr>
                <a:solidFill>
                  <a:schemeClr val="tx1">
                    <a:tint val="75000"/>
                  </a:schemeClr>
                </a:solidFill>
              </a:defRPr>
            </a:lvl9pPr>
          </a:lstStyle>
          <a:p>
            <a:r>
              <a:rPr lang="en-GB" dirty="0"/>
              <a:t>Add subtitle here if required</a:t>
            </a:r>
          </a:p>
        </p:txBody>
      </p:sp>
      <p:pic>
        <p:nvPicPr>
          <p:cNvPr id="22" name="Grafik 21">
            <a:extLst>
              <a:ext uri="{FF2B5EF4-FFF2-40B4-BE49-F238E27FC236}">
                <a16:creationId xmlns:a16="http://schemas.microsoft.com/office/drawing/2014/main" id="{330D039B-1A60-42B3-A3E1-B44D86C63C0C}"/>
              </a:ext>
            </a:extLst>
          </p:cNvPr>
          <p:cNvPicPr>
            <a:picLocks noChangeAspect="1"/>
          </p:cNvPicPr>
          <p:nvPr userDrawn="1"/>
        </p:nvPicPr>
        <p:blipFill>
          <a:blip r:embed="rId3"/>
          <a:stretch>
            <a:fillRect/>
          </a:stretch>
        </p:blipFill>
        <p:spPr>
          <a:xfrm>
            <a:off x="6579375" y="1065910"/>
            <a:ext cx="1849165" cy="975600"/>
          </a:xfrm>
          <a:prstGeom prst="rect">
            <a:avLst/>
          </a:prstGeom>
        </p:spPr>
      </p:pic>
      <p:pic>
        <p:nvPicPr>
          <p:cNvPr id="18" name="Grafik 17">
            <a:extLst>
              <a:ext uri="{FF2B5EF4-FFF2-40B4-BE49-F238E27FC236}">
                <a16:creationId xmlns:a16="http://schemas.microsoft.com/office/drawing/2014/main" id="{25D9B1B1-5069-4351-A01A-8CD097284142}"/>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6615113" y="5129960"/>
            <a:ext cx="1835942" cy="317580"/>
          </a:xfrm>
          <a:prstGeom prst="rect">
            <a:avLst/>
          </a:prstGeom>
        </p:spPr>
      </p:pic>
    </p:spTree>
    <p:extLst>
      <p:ext uri="{BB962C8B-B14F-4D97-AF65-F5344CB8AC3E}">
        <p14:creationId xmlns:p14="http://schemas.microsoft.com/office/powerpoint/2010/main" val="3042078111"/>
      </p:ext>
    </p:extLst>
  </p:cSld>
  <p:clrMapOvr>
    <a:masterClrMapping/>
  </p:clrMapOvr>
  <p:transition>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Titelfolie Bild 2 kurz">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grpSp>
        <p:nvGrpSpPr>
          <p:cNvPr id="19" name="Gruppieren 18"/>
          <p:cNvGrpSpPr/>
          <p:nvPr userDrawn="1"/>
        </p:nvGrpSpPr>
        <p:grpSpPr>
          <a:xfrm>
            <a:off x="287338" y="603319"/>
            <a:ext cx="8552850" cy="1731679"/>
            <a:chOff x="287338" y="603319"/>
            <a:chExt cx="8552850" cy="2037600"/>
          </a:xfrm>
        </p:grpSpPr>
        <p:sp>
          <p:nvSpPr>
            <p:cNvPr id="21" name="Rechteck 20"/>
            <p:cNvSpPr/>
            <p:nvPr userDrawn="1"/>
          </p:nvSpPr>
          <p:spPr>
            <a:xfrm>
              <a:off x="6192000" y="603319"/>
              <a:ext cx="2648188" cy="2037600"/>
            </a:xfrm>
            <a:prstGeom prst="rect">
              <a:avLst/>
            </a:prstGeom>
            <a:solidFill>
              <a:schemeClr val="bg1"/>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sp>
          <p:nvSpPr>
            <p:cNvPr id="22" name="Rechteck 21"/>
            <p:cNvSpPr/>
            <p:nvPr userDrawn="1"/>
          </p:nvSpPr>
          <p:spPr bwMode="blackWhite">
            <a:xfrm>
              <a:off x="287338" y="603319"/>
              <a:ext cx="5904662" cy="2037600"/>
            </a:xfrm>
            <a:prstGeom prst="rect">
              <a:avLst/>
            </a:prstGeom>
            <a:solidFill>
              <a:srgbClr val="0096D3">
                <a:alpha val="89804"/>
              </a:srgbClr>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grpSp>
      <p:sp>
        <p:nvSpPr>
          <p:cNvPr id="2" name="Titel 1"/>
          <p:cNvSpPr>
            <a:spLocks noGrp="1"/>
          </p:cNvSpPr>
          <p:nvPr>
            <p:ph type="ctrTitle" hasCustomPrompt="1"/>
          </p:nvPr>
        </p:nvSpPr>
        <p:spPr bwMode="black">
          <a:xfrm>
            <a:off x="605407" y="1294973"/>
            <a:ext cx="5436000" cy="516714"/>
          </a:xfrm>
          <a:prstGeom prst="rect">
            <a:avLst/>
          </a:prstGeom>
        </p:spPr>
        <p:txBody>
          <a:bodyPr tIns="0" anchor="b" anchorCtr="0">
            <a:noAutofit/>
          </a:bodyPr>
          <a:lstStyle>
            <a:lvl1pPr algn="l">
              <a:lnSpc>
                <a:spcPct val="100000"/>
              </a:lnSpc>
              <a:defRPr sz="3200" b="1" i="0" baseline="0">
                <a:solidFill>
                  <a:schemeClr val="bg1"/>
                </a:solidFill>
                <a:latin typeface="Georgia" charset="0"/>
                <a:ea typeface="Georgia" charset="0"/>
                <a:cs typeface="Georgia" charset="0"/>
              </a:defRPr>
            </a:lvl1pPr>
          </a:lstStyle>
          <a:p>
            <a:r>
              <a:rPr lang="en-GB" dirty="0"/>
              <a:t>Max. 1 line for header</a:t>
            </a:r>
          </a:p>
        </p:txBody>
      </p:sp>
      <p:sp>
        <p:nvSpPr>
          <p:cNvPr id="3" name="Untertitel 2"/>
          <p:cNvSpPr>
            <a:spLocks noGrp="1"/>
          </p:cNvSpPr>
          <p:nvPr>
            <p:ph type="subTitle" idx="1" hasCustomPrompt="1"/>
          </p:nvPr>
        </p:nvSpPr>
        <p:spPr bwMode="black">
          <a:xfrm>
            <a:off x="605407" y="993080"/>
            <a:ext cx="5436000" cy="304511"/>
          </a:xfrm>
        </p:spPr>
        <p:txBody>
          <a:bodyPr tIns="0" bIns="0">
            <a:noAutofit/>
          </a:bodyPr>
          <a:lstStyle>
            <a:lvl1pPr marL="0" indent="0" algn="l">
              <a:lnSpc>
                <a:spcPct val="100000"/>
              </a:lnSpc>
              <a:buNone/>
              <a:defRPr sz="1800" b="1" i="0">
                <a:solidFill>
                  <a:schemeClr val="tx1"/>
                </a:solidFill>
                <a:latin typeface="Verdana" charset="0"/>
                <a:ea typeface="Verdana" charset="0"/>
                <a:cs typeface="Verdana" charset="0"/>
              </a:defRPr>
            </a:lvl1pPr>
            <a:lvl2pPr marL="457153" indent="0" algn="ctr">
              <a:buNone/>
              <a:defRPr>
                <a:solidFill>
                  <a:schemeClr val="tx1">
                    <a:tint val="75000"/>
                  </a:schemeClr>
                </a:solidFill>
              </a:defRPr>
            </a:lvl2pPr>
            <a:lvl3pPr marL="914306" indent="0" algn="ctr">
              <a:buNone/>
              <a:defRPr>
                <a:solidFill>
                  <a:schemeClr val="tx1">
                    <a:tint val="75000"/>
                  </a:schemeClr>
                </a:solidFill>
              </a:defRPr>
            </a:lvl3pPr>
            <a:lvl4pPr marL="1371460" indent="0" algn="ctr">
              <a:buNone/>
              <a:defRPr>
                <a:solidFill>
                  <a:schemeClr val="tx1">
                    <a:tint val="75000"/>
                  </a:schemeClr>
                </a:solidFill>
              </a:defRPr>
            </a:lvl4pPr>
            <a:lvl5pPr marL="1828613" indent="0" algn="ctr">
              <a:buNone/>
              <a:defRPr>
                <a:solidFill>
                  <a:schemeClr val="tx1">
                    <a:tint val="75000"/>
                  </a:schemeClr>
                </a:solidFill>
              </a:defRPr>
            </a:lvl5pPr>
            <a:lvl6pPr marL="2285767" indent="0" algn="ctr">
              <a:buNone/>
              <a:defRPr>
                <a:solidFill>
                  <a:schemeClr val="tx1">
                    <a:tint val="75000"/>
                  </a:schemeClr>
                </a:solidFill>
              </a:defRPr>
            </a:lvl6pPr>
            <a:lvl7pPr marL="2742920" indent="0" algn="ctr">
              <a:buNone/>
              <a:defRPr>
                <a:solidFill>
                  <a:schemeClr val="tx1">
                    <a:tint val="75000"/>
                  </a:schemeClr>
                </a:solidFill>
              </a:defRPr>
            </a:lvl7pPr>
            <a:lvl8pPr marL="3200073" indent="0" algn="ctr">
              <a:buNone/>
              <a:defRPr>
                <a:solidFill>
                  <a:schemeClr val="tx1">
                    <a:tint val="75000"/>
                  </a:schemeClr>
                </a:solidFill>
              </a:defRPr>
            </a:lvl8pPr>
            <a:lvl9pPr marL="3657227" indent="0" algn="ctr">
              <a:buNone/>
              <a:defRPr>
                <a:solidFill>
                  <a:schemeClr val="tx1">
                    <a:tint val="75000"/>
                  </a:schemeClr>
                </a:solidFill>
              </a:defRPr>
            </a:lvl9pPr>
          </a:lstStyle>
          <a:p>
            <a:r>
              <a:rPr lang="en-GB" dirty="0"/>
              <a:t>Add subtitle here if required</a:t>
            </a:r>
          </a:p>
        </p:txBody>
      </p:sp>
      <p:sp>
        <p:nvSpPr>
          <p:cNvPr id="16" name="Textplatzhalter 9"/>
          <p:cNvSpPr>
            <a:spLocks noGrp="1"/>
          </p:cNvSpPr>
          <p:nvPr>
            <p:ph type="body" sz="quarter" idx="11" hasCustomPrompt="1"/>
          </p:nvPr>
        </p:nvSpPr>
        <p:spPr bwMode="white">
          <a:xfrm>
            <a:off x="287338" y="2642907"/>
            <a:ext cx="4284662" cy="805551"/>
          </a:xfrm>
          <a:solidFill>
            <a:schemeClr val="bg1">
              <a:alpha val="90000"/>
            </a:schemeClr>
          </a:solidFill>
        </p:spPr>
        <p:txBody>
          <a:bodyPr wrap="square" lIns="324000" tIns="216000" rIns="324000" bIns="216000" rtlCol="0" anchor="t" anchorCtr="0">
            <a:spAutoFit/>
          </a:bodyPr>
          <a:lstStyle>
            <a:lvl1pPr marL="0" indent="0">
              <a:buNone/>
              <a:defRPr lang="de-DE" sz="1200" dirty="0" smtClean="0"/>
            </a:lvl1pPr>
          </a:lstStyle>
          <a:p>
            <a:r>
              <a:rPr lang="en-GB" dirty="0"/>
              <a:t>Information about presentation (author, version No. etc.)</a:t>
            </a:r>
          </a:p>
        </p:txBody>
      </p:sp>
      <p:sp>
        <p:nvSpPr>
          <p:cNvPr id="12" name="Textplatzhalter 7"/>
          <p:cNvSpPr>
            <a:spLocks noGrp="1"/>
          </p:cNvSpPr>
          <p:nvPr>
            <p:ph type="body" sz="quarter" idx="12" hasCustomPrompt="1"/>
          </p:nvPr>
        </p:nvSpPr>
        <p:spPr>
          <a:xfrm>
            <a:off x="457200" y="5426926"/>
            <a:ext cx="1638300" cy="243623"/>
          </a:xfrm>
        </p:spPr>
        <p:txBody>
          <a:bodyPr>
            <a:noAutofit/>
          </a:bodyPr>
          <a:lstStyle>
            <a:lvl1pPr marL="0" indent="0">
              <a:buNone/>
              <a:defRPr sz="900" cap="all" baseline="0">
                <a:solidFill>
                  <a:schemeClr val="tx1"/>
                </a:solidFill>
              </a:defRPr>
            </a:lvl1pPr>
            <a:lvl2pPr marL="266700" indent="0">
              <a:buNone/>
              <a:defRPr sz="1050"/>
            </a:lvl2pPr>
            <a:lvl3pPr marL="541338" indent="0">
              <a:buNone/>
              <a:defRPr sz="1050"/>
            </a:lvl3pPr>
            <a:lvl4pPr marL="808038" indent="0">
              <a:buNone/>
              <a:defRPr sz="1000"/>
            </a:lvl4pPr>
            <a:lvl5pPr marL="1077913" indent="0">
              <a:buNone/>
              <a:defRPr sz="1000"/>
            </a:lvl5pPr>
          </a:lstStyle>
          <a:p>
            <a:pPr lvl="0"/>
            <a:r>
              <a:rPr lang="en-GB" dirty="0"/>
              <a:t>State: </a:t>
            </a:r>
            <a:r>
              <a:rPr lang="en-GB" dirty="0" err="1"/>
              <a:t>xx.xx.xxxx</a:t>
            </a:r>
            <a:endParaRPr lang="en-GB" dirty="0"/>
          </a:p>
        </p:txBody>
      </p:sp>
      <p:pic>
        <p:nvPicPr>
          <p:cNvPr id="24" name="Grafik 23">
            <a:extLst>
              <a:ext uri="{FF2B5EF4-FFF2-40B4-BE49-F238E27FC236}">
                <a16:creationId xmlns:a16="http://schemas.microsoft.com/office/drawing/2014/main" id="{ABF9D4AB-1FA6-4101-9EE8-B852A65B2A1E}"/>
              </a:ext>
            </a:extLst>
          </p:cNvPr>
          <p:cNvPicPr>
            <a:picLocks noChangeAspect="1"/>
          </p:cNvPicPr>
          <p:nvPr userDrawn="1"/>
        </p:nvPicPr>
        <p:blipFill>
          <a:blip r:embed="rId3"/>
          <a:stretch>
            <a:fillRect/>
          </a:stretch>
        </p:blipFill>
        <p:spPr>
          <a:xfrm>
            <a:off x="6579375" y="1065910"/>
            <a:ext cx="1849165" cy="975600"/>
          </a:xfrm>
          <a:prstGeom prst="rect">
            <a:avLst/>
          </a:prstGeom>
        </p:spPr>
      </p:pic>
      <p:pic>
        <p:nvPicPr>
          <p:cNvPr id="14" name="Grafik 13">
            <a:extLst>
              <a:ext uri="{FF2B5EF4-FFF2-40B4-BE49-F238E27FC236}">
                <a16:creationId xmlns:a16="http://schemas.microsoft.com/office/drawing/2014/main" id="{DDF8959B-5028-481F-A01F-8628D9F2E0D8}"/>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6615113" y="5129960"/>
            <a:ext cx="1835942" cy="317580"/>
          </a:xfrm>
          <a:prstGeom prst="rect">
            <a:avLst/>
          </a:prstGeom>
        </p:spPr>
      </p:pic>
    </p:spTree>
    <p:extLst>
      <p:ext uri="{BB962C8B-B14F-4D97-AF65-F5344CB8AC3E}">
        <p14:creationId xmlns:p14="http://schemas.microsoft.com/office/powerpoint/2010/main" val="1441666851"/>
      </p:ext>
    </p:extLst>
  </p:cSld>
  <p:clrMapOvr>
    <a:masterClrMapping/>
  </p:clrMapOvr>
  <p:transition>
    <p:fad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Titelfolie Bild 3">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grpSp>
        <p:nvGrpSpPr>
          <p:cNvPr id="11" name="Gruppieren 10"/>
          <p:cNvGrpSpPr/>
          <p:nvPr userDrawn="1"/>
        </p:nvGrpSpPr>
        <p:grpSpPr>
          <a:xfrm>
            <a:off x="287338" y="603319"/>
            <a:ext cx="8552850" cy="2037600"/>
            <a:chOff x="287338" y="603319"/>
            <a:chExt cx="8552850" cy="2037600"/>
          </a:xfrm>
        </p:grpSpPr>
        <p:sp>
          <p:nvSpPr>
            <p:cNvPr id="19" name="Rechteck 18"/>
            <p:cNvSpPr/>
            <p:nvPr userDrawn="1"/>
          </p:nvSpPr>
          <p:spPr>
            <a:xfrm>
              <a:off x="6192000" y="603319"/>
              <a:ext cx="2648188" cy="2037600"/>
            </a:xfrm>
            <a:prstGeom prst="rect">
              <a:avLst/>
            </a:prstGeom>
            <a:solidFill>
              <a:schemeClr val="bg1"/>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sp>
          <p:nvSpPr>
            <p:cNvPr id="21" name="Rechteck 20"/>
            <p:cNvSpPr/>
            <p:nvPr userDrawn="1"/>
          </p:nvSpPr>
          <p:spPr bwMode="blackWhite">
            <a:xfrm>
              <a:off x="287338" y="603319"/>
              <a:ext cx="5904662" cy="2037600"/>
            </a:xfrm>
            <a:prstGeom prst="rect">
              <a:avLst/>
            </a:prstGeom>
            <a:solidFill>
              <a:srgbClr val="0096D3">
                <a:alpha val="89804"/>
              </a:srgbClr>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grpSp>
      <p:sp>
        <p:nvSpPr>
          <p:cNvPr id="10" name="Textplatzhalter 9"/>
          <p:cNvSpPr>
            <a:spLocks noGrp="1"/>
          </p:cNvSpPr>
          <p:nvPr>
            <p:ph type="body" sz="quarter" idx="11" hasCustomPrompt="1"/>
          </p:nvPr>
        </p:nvSpPr>
        <p:spPr bwMode="white">
          <a:xfrm>
            <a:off x="287338" y="2941638"/>
            <a:ext cx="4284662" cy="805551"/>
          </a:xfrm>
          <a:solidFill>
            <a:schemeClr val="bg1">
              <a:alpha val="90000"/>
            </a:schemeClr>
          </a:solidFill>
        </p:spPr>
        <p:txBody>
          <a:bodyPr wrap="square" lIns="324000" tIns="216000" rIns="324000" bIns="216000" rtlCol="0" anchor="t" anchorCtr="0">
            <a:spAutoFit/>
          </a:bodyPr>
          <a:lstStyle>
            <a:lvl1pPr marL="0" indent="0">
              <a:buNone/>
              <a:defRPr lang="de-DE" sz="1200" dirty="0" smtClean="0"/>
            </a:lvl1pPr>
          </a:lstStyle>
          <a:p>
            <a:r>
              <a:rPr lang="en-GB" dirty="0"/>
              <a:t>Information about presentation (author, version No. etc.)</a:t>
            </a:r>
          </a:p>
        </p:txBody>
      </p:sp>
      <p:sp>
        <p:nvSpPr>
          <p:cNvPr id="14" name="Textplatzhalter 7"/>
          <p:cNvSpPr>
            <a:spLocks noGrp="1"/>
          </p:cNvSpPr>
          <p:nvPr>
            <p:ph type="body" sz="quarter" idx="12" hasCustomPrompt="1"/>
          </p:nvPr>
        </p:nvSpPr>
        <p:spPr>
          <a:xfrm>
            <a:off x="457200" y="5426926"/>
            <a:ext cx="1638300" cy="243623"/>
          </a:xfrm>
        </p:spPr>
        <p:txBody>
          <a:bodyPr>
            <a:noAutofit/>
          </a:bodyPr>
          <a:lstStyle>
            <a:lvl1pPr marL="0" indent="0">
              <a:buNone/>
              <a:defRPr sz="900" cap="all" baseline="0">
                <a:solidFill>
                  <a:schemeClr val="bg1"/>
                </a:solidFill>
              </a:defRPr>
            </a:lvl1pPr>
            <a:lvl2pPr marL="266700" indent="0">
              <a:buNone/>
              <a:defRPr sz="1050"/>
            </a:lvl2pPr>
            <a:lvl3pPr marL="541338" indent="0">
              <a:buNone/>
              <a:defRPr sz="1050"/>
            </a:lvl3pPr>
            <a:lvl4pPr marL="808038" indent="0">
              <a:buNone/>
              <a:defRPr sz="1000"/>
            </a:lvl4pPr>
            <a:lvl5pPr marL="1077913" indent="0">
              <a:buNone/>
              <a:defRPr sz="1000"/>
            </a:lvl5pPr>
          </a:lstStyle>
          <a:p>
            <a:pPr lvl="0"/>
            <a:r>
              <a:rPr lang="en-GB" dirty="0"/>
              <a:t>State: </a:t>
            </a:r>
            <a:r>
              <a:rPr lang="en-GB" dirty="0" err="1"/>
              <a:t>xx.xx.xxxx</a:t>
            </a:r>
            <a:endParaRPr lang="en-GB" dirty="0"/>
          </a:p>
        </p:txBody>
      </p:sp>
      <p:sp>
        <p:nvSpPr>
          <p:cNvPr id="12" name="Titel 1"/>
          <p:cNvSpPr>
            <a:spLocks noGrp="1"/>
          </p:cNvSpPr>
          <p:nvPr>
            <p:ph type="ctrTitle" hasCustomPrompt="1"/>
          </p:nvPr>
        </p:nvSpPr>
        <p:spPr bwMode="black">
          <a:xfrm>
            <a:off x="605406" y="1301365"/>
            <a:ext cx="5436000" cy="1026000"/>
          </a:xfrm>
          <a:prstGeom prst="rect">
            <a:avLst/>
          </a:prstGeom>
        </p:spPr>
        <p:txBody>
          <a:bodyPr tIns="0" anchor="ctr" anchorCtr="0">
            <a:noAutofit/>
          </a:bodyPr>
          <a:lstStyle>
            <a:lvl1pPr algn="l">
              <a:lnSpc>
                <a:spcPct val="100000"/>
              </a:lnSpc>
              <a:defRPr sz="3200" b="1" i="0" baseline="0">
                <a:solidFill>
                  <a:schemeClr val="bg1"/>
                </a:solidFill>
                <a:latin typeface="Georgia" charset="0"/>
                <a:ea typeface="Georgia" charset="0"/>
                <a:cs typeface="Georgia" charset="0"/>
              </a:defRPr>
            </a:lvl1pPr>
          </a:lstStyle>
          <a:p>
            <a:r>
              <a:rPr lang="en-GB" dirty="0"/>
              <a:t>Max. 2 lines of text for header</a:t>
            </a:r>
          </a:p>
        </p:txBody>
      </p:sp>
      <p:sp>
        <p:nvSpPr>
          <p:cNvPr id="13" name="Untertitel 2"/>
          <p:cNvSpPr>
            <a:spLocks noGrp="1"/>
          </p:cNvSpPr>
          <p:nvPr>
            <p:ph type="subTitle" idx="1" hasCustomPrompt="1"/>
          </p:nvPr>
        </p:nvSpPr>
        <p:spPr bwMode="black">
          <a:xfrm>
            <a:off x="605406" y="993080"/>
            <a:ext cx="5436000" cy="351533"/>
          </a:xfrm>
        </p:spPr>
        <p:txBody>
          <a:bodyPr tIns="0" bIns="0">
            <a:noAutofit/>
          </a:bodyPr>
          <a:lstStyle>
            <a:lvl1pPr marL="0" indent="0" algn="l">
              <a:lnSpc>
                <a:spcPct val="100000"/>
              </a:lnSpc>
              <a:buNone/>
              <a:defRPr sz="1800" b="1" i="0">
                <a:solidFill>
                  <a:schemeClr val="tx1"/>
                </a:solidFill>
                <a:latin typeface="Verdana" charset="0"/>
                <a:ea typeface="Verdana" charset="0"/>
                <a:cs typeface="Verdana" charset="0"/>
              </a:defRPr>
            </a:lvl1pPr>
            <a:lvl2pPr marL="457153" indent="0" algn="ctr">
              <a:buNone/>
              <a:defRPr>
                <a:solidFill>
                  <a:schemeClr val="tx1">
                    <a:tint val="75000"/>
                  </a:schemeClr>
                </a:solidFill>
              </a:defRPr>
            </a:lvl2pPr>
            <a:lvl3pPr marL="914306" indent="0" algn="ctr">
              <a:buNone/>
              <a:defRPr>
                <a:solidFill>
                  <a:schemeClr val="tx1">
                    <a:tint val="75000"/>
                  </a:schemeClr>
                </a:solidFill>
              </a:defRPr>
            </a:lvl3pPr>
            <a:lvl4pPr marL="1371460" indent="0" algn="ctr">
              <a:buNone/>
              <a:defRPr>
                <a:solidFill>
                  <a:schemeClr val="tx1">
                    <a:tint val="75000"/>
                  </a:schemeClr>
                </a:solidFill>
              </a:defRPr>
            </a:lvl4pPr>
            <a:lvl5pPr marL="1828613" indent="0" algn="ctr">
              <a:buNone/>
              <a:defRPr>
                <a:solidFill>
                  <a:schemeClr val="tx1">
                    <a:tint val="75000"/>
                  </a:schemeClr>
                </a:solidFill>
              </a:defRPr>
            </a:lvl5pPr>
            <a:lvl6pPr marL="2285767" indent="0" algn="ctr">
              <a:buNone/>
              <a:defRPr>
                <a:solidFill>
                  <a:schemeClr val="tx1">
                    <a:tint val="75000"/>
                  </a:schemeClr>
                </a:solidFill>
              </a:defRPr>
            </a:lvl6pPr>
            <a:lvl7pPr marL="2742920" indent="0" algn="ctr">
              <a:buNone/>
              <a:defRPr>
                <a:solidFill>
                  <a:schemeClr val="tx1">
                    <a:tint val="75000"/>
                  </a:schemeClr>
                </a:solidFill>
              </a:defRPr>
            </a:lvl7pPr>
            <a:lvl8pPr marL="3200073" indent="0" algn="ctr">
              <a:buNone/>
              <a:defRPr>
                <a:solidFill>
                  <a:schemeClr val="tx1">
                    <a:tint val="75000"/>
                  </a:schemeClr>
                </a:solidFill>
              </a:defRPr>
            </a:lvl8pPr>
            <a:lvl9pPr marL="3657227" indent="0" algn="ctr">
              <a:buNone/>
              <a:defRPr>
                <a:solidFill>
                  <a:schemeClr val="tx1">
                    <a:tint val="75000"/>
                  </a:schemeClr>
                </a:solidFill>
              </a:defRPr>
            </a:lvl9pPr>
          </a:lstStyle>
          <a:p>
            <a:r>
              <a:rPr lang="en-GB" dirty="0"/>
              <a:t>Add subtitle here if required</a:t>
            </a:r>
          </a:p>
        </p:txBody>
      </p:sp>
      <p:pic>
        <p:nvPicPr>
          <p:cNvPr id="23" name="Grafik 22">
            <a:extLst>
              <a:ext uri="{FF2B5EF4-FFF2-40B4-BE49-F238E27FC236}">
                <a16:creationId xmlns:a16="http://schemas.microsoft.com/office/drawing/2014/main" id="{904218C8-068C-46BC-ADE6-6BC8A468BF77}"/>
              </a:ext>
            </a:extLst>
          </p:cNvPr>
          <p:cNvPicPr>
            <a:picLocks noChangeAspect="1"/>
          </p:cNvPicPr>
          <p:nvPr userDrawn="1"/>
        </p:nvPicPr>
        <p:blipFill>
          <a:blip r:embed="rId3"/>
          <a:stretch>
            <a:fillRect/>
          </a:stretch>
        </p:blipFill>
        <p:spPr>
          <a:xfrm>
            <a:off x="6579375" y="1065910"/>
            <a:ext cx="1849165" cy="975600"/>
          </a:xfrm>
          <a:prstGeom prst="rect">
            <a:avLst/>
          </a:prstGeom>
        </p:spPr>
      </p:pic>
      <p:pic>
        <p:nvPicPr>
          <p:cNvPr id="16" name="Grafik 15">
            <a:extLst>
              <a:ext uri="{FF2B5EF4-FFF2-40B4-BE49-F238E27FC236}">
                <a16:creationId xmlns:a16="http://schemas.microsoft.com/office/drawing/2014/main" id="{D487AD36-3E46-4F41-8B5C-B79909802DD4}"/>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6615113" y="5129960"/>
            <a:ext cx="1835942" cy="317581"/>
          </a:xfrm>
          <a:prstGeom prst="rect">
            <a:avLst/>
          </a:prstGeom>
        </p:spPr>
      </p:pic>
    </p:spTree>
    <p:extLst>
      <p:ext uri="{BB962C8B-B14F-4D97-AF65-F5344CB8AC3E}">
        <p14:creationId xmlns:p14="http://schemas.microsoft.com/office/powerpoint/2010/main" val="4188316379"/>
      </p:ext>
    </p:extLst>
  </p:cSld>
  <p:clrMapOvr>
    <a:masterClrMapping/>
  </p:clrMapOvr>
  <p:transition>
    <p:fad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Titelfolie Bild 3 kurz">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grpSp>
        <p:nvGrpSpPr>
          <p:cNvPr id="18" name="Gruppieren 17"/>
          <p:cNvGrpSpPr/>
          <p:nvPr userDrawn="1"/>
        </p:nvGrpSpPr>
        <p:grpSpPr>
          <a:xfrm>
            <a:off x="287338" y="603319"/>
            <a:ext cx="8552850" cy="1731679"/>
            <a:chOff x="287338" y="603319"/>
            <a:chExt cx="8552850" cy="2037600"/>
          </a:xfrm>
        </p:grpSpPr>
        <p:sp>
          <p:nvSpPr>
            <p:cNvPr id="21" name="Rechteck 20"/>
            <p:cNvSpPr/>
            <p:nvPr userDrawn="1"/>
          </p:nvSpPr>
          <p:spPr>
            <a:xfrm>
              <a:off x="6192000" y="603319"/>
              <a:ext cx="2648188" cy="2037600"/>
            </a:xfrm>
            <a:prstGeom prst="rect">
              <a:avLst/>
            </a:prstGeom>
            <a:solidFill>
              <a:schemeClr val="bg1"/>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sp>
          <p:nvSpPr>
            <p:cNvPr id="22" name="Rechteck 21"/>
            <p:cNvSpPr/>
            <p:nvPr userDrawn="1"/>
          </p:nvSpPr>
          <p:spPr bwMode="blackWhite">
            <a:xfrm>
              <a:off x="287338" y="603319"/>
              <a:ext cx="5904662" cy="2037600"/>
            </a:xfrm>
            <a:prstGeom prst="rect">
              <a:avLst/>
            </a:prstGeom>
            <a:solidFill>
              <a:srgbClr val="0096D3">
                <a:alpha val="89804"/>
              </a:srgbClr>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grpSp>
      <p:sp>
        <p:nvSpPr>
          <p:cNvPr id="2" name="Titel 1"/>
          <p:cNvSpPr>
            <a:spLocks noGrp="1"/>
          </p:cNvSpPr>
          <p:nvPr>
            <p:ph type="ctrTitle" hasCustomPrompt="1"/>
          </p:nvPr>
        </p:nvSpPr>
        <p:spPr bwMode="black">
          <a:xfrm>
            <a:off x="605407" y="1294973"/>
            <a:ext cx="5436000" cy="516714"/>
          </a:xfrm>
          <a:prstGeom prst="rect">
            <a:avLst/>
          </a:prstGeom>
        </p:spPr>
        <p:txBody>
          <a:bodyPr tIns="0" anchor="b" anchorCtr="0">
            <a:noAutofit/>
          </a:bodyPr>
          <a:lstStyle>
            <a:lvl1pPr algn="l">
              <a:lnSpc>
                <a:spcPct val="100000"/>
              </a:lnSpc>
              <a:defRPr sz="3200" b="1" i="0" baseline="0">
                <a:solidFill>
                  <a:schemeClr val="bg1"/>
                </a:solidFill>
                <a:latin typeface="Georgia" charset="0"/>
                <a:ea typeface="Georgia" charset="0"/>
                <a:cs typeface="Georgia" charset="0"/>
              </a:defRPr>
            </a:lvl1pPr>
          </a:lstStyle>
          <a:p>
            <a:r>
              <a:rPr lang="en-GB" dirty="0"/>
              <a:t>Max. 1 line for header</a:t>
            </a:r>
          </a:p>
        </p:txBody>
      </p:sp>
      <p:sp>
        <p:nvSpPr>
          <p:cNvPr id="3" name="Untertitel 2"/>
          <p:cNvSpPr>
            <a:spLocks noGrp="1"/>
          </p:cNvSpPr>
          <p:nvPr>
            <p:ph type="subTitle" idx="1" hasCustomPrompt="1"/>
          </p:nvPr>
        </p:nvSpPr>
        <p:spPr bwMode="black">
          <a:xfrm>
            <a:off x="605407" y="993080"/>
            <a:ext cx="5436000" cy="304511"/>
          </a:xfrm>
        </p:spPr>
        <p:txBody>
          <a:bodyPr tIns="0" bIns="0">
            <a:noAutofit/>
          </a:bodyPr>
          <a:lstStyle>
            <a:lvl1pPr marL="0" indent="0" algn="l">
              <a:lnSpc>
                <a:spcPct val="100000"/>
              </a:lnSpc>
              <a:buNone/>
              <a:defRPr sz="1800" b="1" i="0">
                <a:solidFill>
                  <a:schemeClr val="tx1"/>
                </a:solidFill>
                <a:latin typeface="Verdana" charset="0"/>
                <a:ea typeface="Verdana" charset="0"/>
                <a:cs typeface="Verdana" charset="0"/>
              </a:defRPr>
            </a:lvl1pPr>
            <a:lvl2pPr marL="457153" indent="0" algn="ctr">
              <a:buNone/>
              <a:defRPr>
                <a:solidFill>
                  <a:schemeClr val="tx1">
                    <a:tint val="75000"/>
                  </a:schemeClr>
                </a:solidFill>
              </a:defRPr>
            </a:lvl2pPr>
            <a:lvl3pPr marL="914306" indent="0" algn="ctr">
              <a:buNone/>
              <a:defRPr>
                <a:solidFill>
                  <a:schemeClr val="tx1">
                    <a:tint val="75000"/>
                  </a:schemeClr>
                </a:solidFill>
              </a:defRPr>
            </a:lvl3pPr>
            <a:lvl4pPr marL="1371460" indent="0" algn="ctr">
              <a:buNone/>
              <a:defRPr>
                <a:solidFill>
                  <a:schemeClr val="tx1">
                    <a:tint val="75000"/>
                  </a:schemeClr>
                </a:solidFill>
              </a:defRPr>
            </a:lvl4pPr>
            <a:lvl5pPr marL="1828613" indent="0" algn="ctr">
              <a:buNone/>
              <a:defRPr>
                <a:solidFill>
                  <a:schemeClr val="tx1">
                    <a:tint val="75000"/>
                  </a:schemeClr>
                </a:solidFill>
              </a:defRPr>
            </a:lvl5pPr>
            <a:lvl6pPr marL="2285767" indent="0" algn="ctr">
              <a:buNone/>
              <a:defRPr>
                <a:solidFill>
                  <a:schemeClr val="tx1">
                    <a:tint val="75000"/>
                  </a:schemeClr>
                </a:solidFill>
              </a:defRPr>
            </a:lvl6pPr>
            <a:lvl7pPr marL="2742920" indent="0" algn="ctr">
              <a:buNone/>
              <a:defRPr>
                <a:solidFill>
                  <a:schemeClr val="tx1">
                    <a:tint val="75000"/>
                  </a:schemeClr>
                </a:solidFill>
              </a:defRPr>
            </a:lvl7pPr>
            <a:lvl8pPr marL="3200073" indent="0" algn="ctr">
              <a:buNone/>
              <a:defRPr>
                <a:solidFill>
                  <a:schemeClr val="tx1">
                    <a:tint val="75000"/>
                  </a:schemeClr>
                </a:solidFill>
              </a:defRPr>
            </a:lvl8pPr>
            <a:lvl9pPr marL="3657227" indent="0" algn="ctr">
              <a:buNone/>
              <a:defRPr>
                <a:solidFill>
                  <a:schemeClr val="tx1">
                    <a:tint val="75000"/>
                  </a:schemeClr>
                </a:solidFill>
              </a:defRPr>
            </a:lvl9pPr>
          </a:lstStyle>
          <a:p>
            <a:r>
              <a:rPr lang="en-GB" dirty="0"/>
              <a:t>Add subtitle here if required</a:t>
            </a:r>
          </a:p>
        </p:txBody>
      </p:sp>
      <p:sp>
        <p:nvSpPr>
          <p:cNvPr id="16" name="Textplatzhalter 9"/>
          <p:cNvSpPr>
            <a:spLocks noGrp="1"/>
          </p:cNvSpPr>
          <p:nvPr>
            <p:ph type="body" sz="quarter" idx="11" hasCustomPrompt="1"/>
          </p:nvPr>
        </p:nvSpPr>
        <p:spPr bwMode="white">
          <a:xfrm>
            <a:off x="287338" y="2642907"/>
            <a:ext cx="4284662" cy="805551"/>
          </a:xfrm>
          <a:solidFill>
            <a:schemeClr val="bg1">
              <a:alpha val="90000"/>
            </a:schemeClr>
          </a:solidFill>
        </p:spPr>
        <p:txBody>
          <a:bodyPr wrap="square" lIns="324000" tIns="216000" rIns="324000" bIns="216000" rtlCol="0" anchor="t" anchorCtr="0">
            <a:spAutoFit/>
          </a:bodyPr>
          <a:lstStyle>
            <a:lvl1pPr marL="0" indent="0">
              <a:buNone/>
              <a:defRPr lang="de-DE" sz="1200" dirty="0" smtClean="0"/>
            </a:lvl1pPr>
          </a:lstStyle>
          <a:p>
            <a:r>
              <a:rPr lang="en-GB" dirty="0"/>
              <a:t>Information about presentation (author, version No. etc.)</a:t>
            </a:r>
          </a:p>
        </p:txBody>
      </p:sp>
      <p:sp>
        <p:nvSpPr>
          <p:cNvPr id="12" name="Textplatzhalter 7"/>
          <p:cNvSpPr>
            <a:spLocks noGrp="1"/>
          </p:cNvSpPr>
          <p:nvPr>
            <p:ph type="body" sz="quarter" idx="12" hasCustomPrompt="1"/>
          </p:nvPr>
        </p:nvSpPr>
        <p:spPr>
          <a:xfrm>
            <a:off x="457200" y="5426926"/>
            <a:ext cx="1638300" cy="243623"/>
          </a:xfrm>
        </p:spPr>
        <p:txBody>
          <a:bodyPr>
            <a:noAutofit/>
          </a:bodyPr>
          <a:lstStyle>
            <a:lvl1pPr marL="0" indent="0">
              <a:buNone/>
              <a:defRPr sz="900" cap="all" baseline="0">
                <a:solidFill>
                  <a:schemeClr val="bg1"/>
                </a:solidFill>
              </a:defRPr>
            </a:lvl1pPr>
            <a:lvl2pPr marL="266700" indent="0">
              <a:buNone/>
              <a:defRPr sz="1050"/>
            </a:lvl2pPr>
            <a:lvl3pPr marL="541338" indent="0">
              <a:buNone/>
              <a:defRPr sz="1050"/>
            </a:lvl3pPr>
            <a:lvl4pPr marL="808038" indent="0">
              <a:buNone/>
              <a:defRPr sz="1000"/>
            </a:lvl4pPr>
            <a:lvl5pPr marL="1077913" indent="0">
              <a:buNone/>
              <a:defRPr sz="1000"/>
            </a:lvl5pPr>
          </a:lstStyle>
          <a:p>
            <a:pPr lvl="0"/>
            <a:r>
              <a:rPr lang="en-GB" dirty="0"/>
              <a:t>State: </a:t>
            </a:r>
            <a:r>
              <a:rPr lang="en-GB" dirty="0" err="1"/>
              <a:t>xx.xx.xxxx</a:t>
            </a:r>
            <a:endParaRPr lang="en-GB" dirty="0"/>
          </a:p>
        </p:txBody>
      </p:sp>
      <p:pic>
        <p:nvPicPr>
          <p:cNvPr id="17" name="Grafik 16">
            <a:extLst>
              <a:ext uri="{FF2B5EF4-FFF2-40B4-BE49-F238E27FC236}">
                <a16:creationId xmlns:a16="http://schemas.microsoft.com/office/drawing/2014/main" id="{63D0D44A-5625-4C70-A2EB-08D982355B99}"/>
              </a:ext>
            </a:extLst>
          </p:cNvPr>
          <p:cNvPicPr>
            <a:picLocks noChangeAspect="1"/>
          </p:cNvPicPr>
          <p:nvPr userDrawn="1"/>
        </p:nvPicPr>
        <p:blipFill>
          <a:blip r:embed="rId3"/>
          <a:stretch>
            <a:fillRect/>
          </a:stretch>
        </p:blipFill>
        <p:spPr>
          <a:xfrm>
            <a:off x="6579375" y="1065910"/>
            <a:ext cx="1849165" cy="975600"/>
          </a:xfrm>
          <a:prstGeom prst="rect">
            <a:avLst/>
          </a:prstGeom>
        </p:spPr>
      </p:pic>
      <p:pic>
        <p:nvPicPr>
          <p:cNvPr id="13" name="Grafik 12">
            <a:extLst>
              <a:ext uri="{FF2B5EF4-FFF2-40B4-BE49-F238E27FC236}">
                <a16:creationId xmlns:a16="http://schemas.microsoft.com/office/drawing/2014/main" id="{D91D1A92-B997-47B5-A14A-E2A501C20D08}"/>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6615113" y="5129960"/>
            <a:ext cx="1835942" cy="317581"/>
          </a:xfrm>
          <a:prstGeom prst="rect">
            <a:avLst/>
          </a:prstGeom>
        </p:spPr>
      </p:pic>
    </p:spTree>
    <p:extLst>
      <p:ext uri="{BB962C8B-B14F-4D97-AF65-F5344CB8AC3E}">
        <p14:creationId xmlns:p14="http://schemas.microsoft.com/office/powerpoint/2010/main" val="383958111"/>
      </p:ext>
    </p:extLst>
  </p:cSld>
  <p:clrMapOvr>
    <a:masterClrMapping/>
  </p:clrMapOvr>
  <p:transition>
    <p:fad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Kapitelfolie">
    <p:spTree>
      <p:nvGrpSpPr>
        <p:cNvPr id="1" name=""/>
        <p:cNvGrpSpPr/>
        <p:nvPr/>
      </p:nvGrpSpPr>
      <p:grpSpPr>
        <a:xfrm>
          <a:off x="0" y="0"/>
          <a:ext cx="0" cy="0"/>
          <a:chOff x="0" y="0"/>
          <a:chExt cx="0" cy="0"/>
        </a:xfrm>
      </p:grpSpPr>
      <p:grpSp>
        <p:nvGrpSpPr>
          <p:cNvPr id="21" name="Gruppieren 20"/>
          <p:cNvGrpSpPr/>
          <p:nvPr userDrawn="1"/>
        </p:nvGrpSpPr>
        <p:grpSpPr>
          <a:xfrm>
            <a:off x="287338" y="603319"/>
            <a:ext cx="8552850" cy="2037600"/>
            <a:chOff x="287338" y="603319"/>
            <a:chExt cx="8552850" cy="2037600"/>
          </a:xfrm>
        </p:grpSpPr>
        <p:sp>
          <p:nvSpPr>
            <p:cNvPr id="22" name="Rechteck 21"/>
            <p:cNvSpPr/>
            <p:nvPr userDrawn="1"/>
          </p:nvSpPr>
          <p:spPr>
            <a:xfrm>
              <a:off x="6192000" y="603319"/>
              <a:ext cx="2648188" cy="2037600"/>
            </a:xfrm>
            <a:prstGeom prst="rect">
              <a:avLst/>
            </a:prstGeom>
            <a:solidFill>
              <a:schemeClr val="bg1"/>
            </a:solidFill>
            <a:ln>
              <a:solidFill>
                <a:schemeClr val="accent1"/>
              </a:solid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sp>
          <p:nvSpPr>
            <p:cNvPr id="23" name="Rechteck 22"/>
            <p:cNvSpPr/>
            <p:nvPr userDrawn="1"/>
          </p:nvSpPr>
          <p:spPr bwMode="blackWhite">
            <a:xfrm>
              <a:off x="287338" y="603319"/>
              <a:ext cx="5904662" cy="2037600"/>
            </a:xfrm>
            <a:prstGeom prst="rect">
              <a:avLst/>
            </a:prstGeom>
            <a:solidFill>
              <a:srgbClr val="0096D3"/>
            </a:solidFill>
            <a:ln>
              <a:solidFill>
                <a:schemeClr val="accent1"/>
              </a:solid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grpSp>
      <p:sp>
        <p:nvSpPr>
          <p:cNvPr id="14" name="Textplatzhalter 9"/>
          <p:cNvSpPr>
            <a:spLocks noGrp="1"/>
          </p:cNvSpPr>
          <p:nvPr>
            <p:ph type="body" sz="quarter" idx="11" hasCustomPrompt="1"/>
          </p:nvPr>
        </p:nvSpPr>
        <p:spPr bwMode="white">
          <a:xfrm>
            <a:off x="287338" y="2941638"/>
            <a:ext cx="4284662" cy="620885"/>
          </a:xfrm>
          <a:solidFill>
            <a:schemeClr val="bg1">
              <a:alpha val="90000"/>
            </a:schemeClr>
          </a:solidFill>
        </p:spPr>
        <p:txBody>
          <a:bodyPr wrap="square" lIns="324000" tIns="216000" rIns="324000" bIns="216000" rtlCol="0" anchor="t" anchorCtr="0">
            <a:spAutoFit/>
          </a:bodyPr>
          <a:lstStyle>
            <a:lvl1pPr marL="0" indent="0" defTabSz="914400">
              <a:buNone/>
              <a:defRPr lang="de-DE" sz="1200" dirty="0" smtClean="0"/>
            </a:lvl1pPr>
          </a:lstStyle>
          <a:p>
            <a:pPr marL="0" lvl="0" defTabSz="914400"/>
            <a:r>
              <a:rPr lang="en-GB" dirty="0"/>
              <a:t>Subtitle chapter</a:t>
            </a:r>
          </a:p>
        </p:txBody>
      </p:sp>
      <p:sp>
        <p:nvSpPr>
          <p:cNvPr id="13" name="Titel 1"/>
          <p:cNvSpPr>
            <a:spLocks noGrp="1"/>
          </p:cNvSpPr>
          <p:nvPr>
            <p:ph type="ctrTitle" hasCustomPrompt="1"/>
          </p:nvPr>
        </p:nvSpPr>
        <p:spPr bwMode="black">
          <a:xfrm>
            <a:off x="605406" y="1301365"/>
            <a:ext cx="5436000" cy="1026000"/>
          </a:xfrm>
          <a:prstGeom prst="rect">
            <a:avLst/>
          </a:prstGeom>
        </p:spPr>
        <p:txBody>
          <a:bodyPr tIns="0" anchor="ctr" anchorCtr="0">
            <a:noAutofit/>
          </a:bodyPr>
          <a:lstStyle>
            <a:lvl1pPr algn="l">
              <a:lnSpc>
                <a:spcPct val="100000"/>
              </a:lnSpc>
              <a:defRPr sz="2800" b="1" i="0" baseline="0">
                <a:solidFill>
                  <a:schemeClr val="bg1"/>
                </a:solidFill>
                <a:latin typeface="Georgia" charset="0"/>
                <a:ea typeface="Georgia" charset="0"/>
                <a:cs typeface="Georgia" charset="0"/>
              </a:defRPr>
            </a:lvl1pPr>
          </a:lstStyle>
          <a:p>
            <a:r>
              <a:rPr lang="en-GB" dirty="0"/>
              <a:t>Max. 2 lines of text for chapter header</a:t>
            </a:r>
          </a:p>
        </p:txBody>
      </p:sp>
      <p:sp>
        <p:nvSpPr>
          <p:cNvPr id="2" name="Datumsplatzhalter 1"/>
          <p:cNvSpPr>
            <a:spLocks noGrp="1"/>
          </p:cNvSpPr>
          <p:nvPr>
            <p:ph type="dt" sz="half" idx="13"/>
          </p:nvPr>
        </p:nvSpPr>
        <p:spPr/>
        <p:txBody>
          <a:bodyPr/>
          <a:lstStyle/>
          <a:p>
            <a:fld id="{529FDC53-5973-45F2-8F83-ED68F7A58508}" type="datetime1">
              <a:rPr lang="en-GB" smtClean="0"/>
              <a:t>25/08/2023</a:t>
            </a:fld>
            <a:endParaRPr lang="en-GB" dirty="0"/>
          </a:p>
        </p:txBody>
      </p:sp>
      <p:sp>
        <p:nvSpPr>
          <p:cNvPr id="3" name="Fußzeilenplatzhalter 2"/>
          <p:cNvSpPr>
            <a:spLocks noGrp="1"/>
          </p:cNvSpPr>
          <p:nvPr>
            <p:ph type="ftr" sz="quarter" idx="14"/>
          </p:nvPr>
        </p:nvSpPr>
        <p:spPr/>
        <p:txBody>
          <a:bodyPr/>
          <a:lstStyle/>
          <a:p>
            <a:r>
              <a:rPr lang="en-GB" dirty="0"/>
              <a:t>Sample Footer</a:t>
            </a:r>
          </a:p>
        </p:txBody>
      </p:sp>
      <p:sp>
        <p:nvSpPr>
          <p:cNvPr id="6" name="Foliennummernplatzhalter 5"/>
          <p:cNvSpPr>
            <a:spLocks noGrp="1"/>
          </p:cNvSpPr>
          <p:nvPr>
            <p:ph type="sldNum" sz="quarter" idx="15"/>
          </p:nvPr>
        </p:nvSpPr>
        <p:spPr/>
        <p:txBody>
          <a:bodyPr/>
          <a:lstStyle/>
          <a:p>
            <a:r>
              <a:rPr lang="en-GB" dirty="0"/>
              <a:t>Page </a:t>
            </a:r>
            <a:fld id="{BE3DC40E-DBBE-4E2D-9EEC-FBF0DA0E9179}" type="slidenum">
              <a:rPr lang="en-GB" smtClean="0"/>
              <a:pPr/>
              <a:t>‹Nr.›</a:t>
            </a:fld>
            <a:endParaRPr lang="en-GB" dirty="0"/>
          </a:p>
        </p:txBody>
      </p:sp>
      <p:pic>
        <p:nvPicPr>
          <p:cNvPr id="18" name="Grafik 17">
            <a:extLst>
              <a:ext uri="{FF2B5EF4-FFF2-40B4-BE49-F238E27FC236}">
                <a16:creationId xmlns:a16="http://schemas.microsoft.com/office/drawing/2014/main" id="{89CCD104-DEA0-4048-8CA3-CAB740FC066E}"/>
              </a:ext>
            </a:extLst>
          </p:cNvPr>
          <p:cNvPicPr>
            <a:picLocks noChangeAspect="1"/>
          </p:cNvPicPr>
          <p:nvPr userDrawn="1"/>
        </p:nvPicPr>
        <p:blipFill>
          <a:blip r:embed="rId2"/>
          <a:stretch>
            <a:fillRect/>
          </a:stretch>
        </p:blipFill>
        <p:spPr>
          <a:xfrm>
            <a:off x="6579375" y="1065910"/>
            <a:ext cx="1849165" cy="975600"/>
          </a:xfrm>
          <a:prstGeom prst="rect">
            <a:avLst/>
          </a:prstGeom>
        </p:spPr>
      </p:pic>
      <p:pic>
        <p:nvPicPr>
          <p:cNvPr id="12" name="Grafik 11">
            <a:extLst>
              <a:ext uri="{FF2B5EF4-FFF2-40B4-BE49-F238E27FC236}">
                <a16:creationId xmlns:a16="http://schemas.microsoft.com/office/drawing/2014/main" id="{72F980AF-DDD0-4966-B1E7-E1B87083C7CB}"/>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7567613" y="5351511"/>
            <a:ext cx="1318058" cy="228552"/>
          </a:xfrm>
          <a:prstGeom prst="rect">
            <a:avLst/>
          </a:prstGeom>
        </p:spPr>
      </p:pic>
    </p:spTree>
    <p:extLst>
      <p:ext uri="{BB962C8B-B14F-4D97-AF65-F5344CB8AC3E}">
        <p14:creationId xmlns:p14="http://schemas.microsoft.com/office/powerpoint/2010/main" val="3772976733"/>
      </p:ext>
    </p:extLst>
  </p:cSld>
  <p:clrMapOvr>
    <a:masterClrMapping/>
  </p:clrMapOvr>
  <p:transition>
    <p:fad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Kapitelfolie kurz">
    <p:spTree>
      <p:nvGrpSpPr>
        <p:cNvPr id="1" name=""/>
        <p:cNvGrpSpPr/>
        <p:nvPr/>
      </p:nvGrpSpPr>
      <p:grpSpPr>
        <a:xfrm>
          <a:off x="0" y="0"/>
          <a:ext cx="0" cy="0"/>
          <a:chOff x="0" y="0"/>
          <a:chExt cx="0" cy="0"/>
        </a:xfrm>
      </p:grpSpPr>
      <p:grpSp>
        <p:nvGrpSpPr>
          <p:cNvPr id="13" name="Gruppieren 12"/>
          <p:cNvGrpSpPr/>
          <p:nvPr userDrawn="1"/>
        </p:nvGrpSpPr>
        <p:grpSpPr>
          <a:xfrm>
            <a:off x="287338" y="603319"/>
            <a:ext cx="8552850" cy="1731679"/>
            <a:chOff x="287338" y="603319"/>
            <a:chExt cx="8552850" cy="2037600"/>
          </a:xfrm>
        </p:grpSpPr>
        <p:sp>
          <p:nvSpPr>
            <p:cNvPr id="15" name="Rechteck 14"/>
            <p:cNvSpPr/>
            <p:nvPr userDrawn="1"/>
          </p:nvSpPr>
          <p:spPr>
            <a:xfrm>
              <a:off x="6192000" y="603319"/>
              <a:ext cx="2648188" cy="2037600"/>
            </a:xfrm>
            <a:prstGeom prst="rect">
              <a:avLst/>
            </a:prstGeom>
            <a:solidFill>
              <a:schemeClr val="bg1"/>
            </a:solidFill>
            <a:ln>
              <a:solidFill>
                <a:schemeClr val="accent1"/>
              </a:solid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sp>
          <p:nvSpPr>
            <p:cNvPr id="17" name="Rechteck 16"/>
            <p:cNvSpPr/>
            <p:nvPr userDrawn="1"/>
          </p:nvSpPr>
          <p:spPr bwMode="blackWhite">
            <a:xfrm>
              <a:off x="287338" y="603319"/>
              <a:ext cx="5904662" cy="2037600"/>
            </a:xfrm>
            <a:prstGeom prst="rect">
              <a:avLst/>
            </a:prstGeom>
            <a:solidFill>
              <a:srgbClr val="0096D3"/>
            </a:solidFill>
            <a:ln>
              <a:solidFill>
                <a:schemeClr val="accent1"/>
              </a:solid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grpSp>
      <p:sp>
        <p:nvSpPr>
          <p:cNvPr id="2" name="Titel 1"/>
          <p:cNvSpPr>
            <a:spLocks noGrp="1"/>
          </p:cNvSpPr>
          <p:nvPr>
            <p:ph type="ctrTitle" hasCustomPrompt="1"/>
          </p:nvPr>
        </p:nvSpPr>
        <p:spPr bwMode="black">
          <a:xfrm>
            <a:off x="605407" y="1302593"/>
            <a:ext cx="5436000" cy="516714"/>
          </a:xfrm>
          <a:prstGeom prst="rect">
            <a:avLst/>
          </a:prstGeom>
        </p:spPr>
        <p:txBody>
          <a:bodyPr tIns="0" anchor="b" anchorCtr="0">
            <a:noAutofit/>
          </a:bodyPr>
          <a:lstStyle>
            <a:lvl1pPr algn="l">
              <a:lnSpc>
                <a:spcPct val="100000"/>
              </a:lnSpc>
              <a:defRPr sz="2800" b="1" i="0" baseline="0">
                <a:solidFill>
                  <a:schemeClr val="bg1"/>
                </a:solidFill>
                <a:latin typeface="Georgia" charset="0"/>
                <a:ea typeface="Georgia" charset="0"/>
                <a:cs typeface="Georgia" charset="0"/>
              </a:defRPr>
            </a:lvl1pPr>
          </a:lstStyle>
          <a:p>
            <a:r>
              <a:rPr lang="en-GB" dirty="0"/>
              <a:t>1 line for chapter header</a:t>
            </a:r>
          </a:p>
        </p:txBody>
      </p:sp>
      <p:sp>
        <p:nvSpPr>
          <p:cNvPr id="14" name="Textplatzhalter 9"/>
          <p:cNvSpPr>
            <a:spLocks noGrp="1"/>
          </p:cNvSpPr>
          <p:nvPr>
            <p:ph type="body" sz="quarter" idx="11" hasCustomPrompt="1"/>
          </p:nvPr>
        </p:nvSpPr>
        <p:spPr bwMode="white">
          <a:xfrm>
            <a:off x="287338" y="2642907"/>
            <a:ext cx="4284662" cy="620885"/>
          </a:xfrm>
          <a:solidFill>
            <a:schemeClr val="bg1">
              <a:alpha val="90000"/>
            </a:schemeClr>
          </a:solidFill>
        </p:spPr>
        <p:txBody>
          <a:bodyPr wrap="square" lIns="324000" tIns="216000" rIns="324000" bIns="216000" rtlCol="0" anchor="t" anchorCtr="0">
            <a:spAutoFit/>
          </a:bodyPr>
          <a:lstStyle>
            <a:lvl1pPr marL="0" indent="0" defTabSz="914400">
              <a:buNone/>
              <a:defRPr lang="de-DE" sz="1200" dirty="0" smtClean="0"/>
            </a:lvl1pPr>
          </a:lstStyle>
          <a:p>
            <a:pPr marL="0" lvl="0" defTabSz="914400"/>
            <a:r>
              <a:rPr lang="en-GB" dirty="0"/>
              <a:t>Subtitle chapter</a:t>
            </a:r>
          </a:p>
        </p:txBody>
      </p:sp>
      <p:sp>
        <p:nvSpPr>
          <p:cNvPr id="4" name="Date Placeholder 3"/>
          <p:cNvSpPr>
            <a:spLocks noGrp="1"/>
          </p:cNvSpPr>
          <p:nvPr>
            <p:ph type="dt" sz="half" idx="12"/>
          </p:nvPr>
        </p:nvSpPr>
        <p:spPr/>
        <p:txBody>
          <a:bodyPr/>
          <a:lstStyle/>
          <a:p>
            <a:fld id="{24570F99-0B5D-40DA-A3D3-DDF1CB693FD8}" type="datetime1">
              <a:rPr lang="en-GB" smtClean="0"/>
              <a:t>25/08/2023</a:t>
            </a:fld>
            <a:endParaRPr lang="en-GB" dirty="0"/>
          </a:p>
        </p:txBody>
      </p:sp>
      <p:sp>
        <p:nvSpPr>
          <p:cNvPr id="5" name="Footer Placeholder 4"/>
          <p:cNvSpPr>
            <a:spLocks noGrp="1"/>
          </p:cNvSpPr>
          <p:nvPr>
            <p:ph type="ftr" sz="quarter" idx="13"/>
          </p:nvPr>
        </p:nvSpPr>
        <p:spPr/>
        <p:txBody>
          <a:bodyPr/>
          <a:lstStyle/>
          <a:p>
            <a:r>
              <a:rPr lang="en-GB" dirty="0"/>
              <a:t>Sample Footer</a:t>
            </a:r>
          </a:p>
        </p:txBody>
      </p:sp>
      <p:sp>
        <p:nvSpPr>
          <p:cNvPr id="6" name="Slide Number Placeholder 5"/>
          <p:cNvSpPr>
            <a:spLocks noGrp="1"/>
          </p:cNvSpPr>
          <p:nvPr>
            <p:ph type="sldNum" sz="quarter" idx="14"/>
          </p:nvPr>
        </p:nvSpPr>
        <p:spPr/>
        <p:txBody>
          <a:bodyPr/>
          <a:lstStyle/>
          <a:p>
            <a:r>
              <a:rPr lang="en-GB" dirty="0"/>
              <a:t>Page </a:t>
            </a:r>
            <a:fld id="{BE3DC40E-DBBE-4E2D-9EEC-FBF0DA0E9179}" type="slidenum">
              <a:rPr lang="en-GB" smtClean="0"/>
              <a:pPr/>
              <a:t>‹Nr.›</a:t>
            </a:fld>
            <a:endParaRPr lang="en-GB" dirty="0"/>
          </a:p>
        </p:txBody>
      </p:sp>
      <p:pic>
        <p:nvPicPr>
          <p:cNvPr id="21" name="Grafik 20">
            <a:extLst>
              <a:ext uri="{FF2B5EF4-FFF2-40B4-BE49-F238E27FC236}">
                <a16:creationId xmlns:a16="http://schemas.microsoft.com/office/drawing/2014/main" id="{416AA66B-0354-461B-A799-CF3EFFC17D87}"/>
              </a:ext>
            </a:extLst>
          </p:cNvPr>
          <p:cNvPicPr>
            <a:picLocks noChangeAspect="1"/>
          </p:cNvPicPr>
          <p:nvPr userDrawn="1"/>
        </p:nvPicPr>
        <p:blipFill>
          <a:blip r:embed="rId2"/>
          <a:stretch>
            <a:fillRect/>
          </a:stretch>
        </p:blipFill>
        <p:spPr>
          <a:xfrm>
            <a:off x="6579375" y="1065910"/>
            <a:ext cx="1849165" cy="975600"/>
          </a:xfrm>
          <a:prstGeom prst="rect">
            <a:avLst/>
          </a:prstGeom>
        </p:spPr>
      </p:pic>
      <p:pic>
        <p:nvPicPr>
          <p:cNvPr id="12" name="Grafik 11">
            <a:extLst>
              <a:ext uri="{FF2B5EF4-FFF2-40B4-BE49-F238E27FC236}">
                <a16:creationId xmlns:a16="http://schemas.microsoft.com/office/drawing/2014/main" id="{D0ECE620-FB2B-4217-AA10-439373F15D44}"/>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7567613" y="5351511"/>
            <a:ext cx="1318058" cy="228552"/>
          </a:xfrm>
          <a:prstGeom prst="rect">
            <a:avLst/>
          </a:prstGeom>
        </p:spPr>
      </p:pic>
    </p:spTree>
    <p:extLst>
      <p:ext uri="{BB962C8B-B14F-4D97-AF65-F5344CB8AC3E}">
        <p14:creationId xmlns:p14="http://schemas.microsoft.com/office/powerpoint/2010/main" val="4164094613"/>
      </p:ext>
    </p:extLst>
  </p:cSld>
  <p:clrMapOvr>
    <a:masterClrMapping/>
  </p:clrMapOvr>
  <p:transition>
    <p:fad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Nur Titel">
    <p:spTree>
      <p:nvGrpSpPr>
        <p:cNvPr id="1" name=""/>
        <p:cNvGrpSpPr/>
        <p:nvPr/>
      </p:nvGrpSpPr>
      <p:grpSpPr>
        <a:xfrm>
          <a:off x="0" y="0"/>
          <a:ext cx="0" cy="0"/>
          <a:chOff x="0" y="0"/>
          <a:chExt cx="0" cy="0"/>
        </a:xfrm>
      </p:grpSpPr>
      <p:sp>
        <p:nvSpPr>
          <p:cNvPr id="7" name="Inhaltsplatzhalter 6"/>
          <p:cNvSpPr>
            <a:spLocks noGrp="1"/>
          </p:cNvSpPr>
          <p:nvPr>
            <p:ph sz="quarter" idx="10" hasCustomPrompt="1"/>
          </p:nvPr>
        </p:nvSpPr>
        <p:spPr>
          <a:xfrm>
            <a:off x="468316" y="1344613"/>
            <a:ext cx="8210547" cy="4370387"/>
          </a:xfrm>
        </p:spPr>
        <p:txBody>
          <a:bodyPr/>
          <a:lstStyle>
            <a:lvl1pPr>
              <a:buNone/>
              <a:defRPr/>
            </a:lvl1pPr>
          </a:lstStyle>
          <a:p>
            <a:pPr lvl="0"/>
            <a:r>
              <a:rPr lang="en-GB" dirty="0"/>
              <a:t>Placeholder for objects</a:t>
            </a:r>
          </a:p>
        </p:txBody>
      </p:sp>
      <p:sp>
        <p:nvSpPr>
          <p:cNvPr id="8" name="Rechteck 7"/>
          <p:cNvSpPr/>
          <p:nvPr userDrawn="1"/>
        </p:nvSpPr>
        <p:spPr bwMode="gray">
          <a:xfrm>
            <a:off x="0" y="1043522"/>
            <a:ext cx="9144000" cy="25200"/>
          </a:xfrm>
          <a:prstGeom prst="rect">
            <a:avLst/>
          </a:prstGeom>
          <a:solidFill>
            <a:srgbClr val="0C94B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      </a:t>
            </a:r>
          </a:p>
        </p:txBody>
      </p:sp>
      <p:sp>
        <p:nvSpPr>
          <p:cNvPr id="2" name="Titel 1"/>
          <p:cNvSpPr>
            <a:spLocks noGrp="1"/>
          </p:cNvSpPr>
          <p:nvPr>
            <p:ph type="title"/>
          </p:nvPr>
        </p:nvSpPr>
        <p:spPr/>
        <p:txBody>
          <a:bodyPr/>
          <a:lstStyle/>
          <a:p>
            <a:r>
              <a:rPr lang="de-DE"/>
              <a:t>Mastertitelformat bearbeiten</a:t>
            </a:r>
            <a:endParaRPr lang="en-GB" dirty="0"/>
          </a:p>
        </p:txBody>
      </p:sp>
      <p:pic>
        <p:nvPicPr>
          <p:cNvPr id="9" name="Grafik 8">
            <a:extLst>
              <a:ext uri="{FF2B5EF4-FFF2-40B4-BE49-F238E27FC236}">
                <a16:creationId xmlns:a16="http://schemas.microsoft.com/office/drawing/2014/main" id="{293310F7-117D-4045-8610-3277CC5ED29B}"/>
              </a:ext>
            </a:extLst>
          </p:cNvPr>
          <p:cNvPicPr>
            <a:picLocks noChangeAspect="1"/>
          </p:cNvPicPr>
          <p:nvPr userDrawn="1"/>
        </p:nvPicPr>
        <p:blipFill>
          <a:blip r:embed="rId2"/>
          <a:stretch>
            <a:fillRect/>
          </a:stretch>
        </p:blipFill>
        <p:spPr>
          <a:xfrm>
            <a:off x="7711621" y="288569"/>
            <a:ext cx="1170000" cy="617280"/>
          </a:xfrm>
          <a:prstGeom prst="rect">
            <a:avLst/>
          </a:prstGeom>
        </p:spPr>
      </p:pic>
    </p:spTree>
  </p:cSld>
  <p:clrMapOvr>
    <a:masterClrMapping/>
  </p:clrMapOvr>
  <p:transition>
    <p:fad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Zwei Inhalte">
    <p:spTree>
      <p:nvGrpSpPr>
        <p:cNvPr id="1" name=""/>
        <p:cNvGrpSpPr/>
        <p:nvPr/>
      </p:nvGrpSpPr>
      <p:grpSpPr>
        <a:xfrm>
          <a:off x="0" y="0"/>
          <a:ext cx="0" cy="0"/>
          <a:chOff x="0" y="0"/>
          <a:chExt cx="0" cy="0"/>
        </a:xfrm>
      </p:grpSpPr>
      <p:sp>
        <p:nvSpPr>
          <p:cNvPr id="3" name="Inhaltsplatzhalter 2"/>
          <p:cNvSpPr>
            <a:spLocks noGrp="1"/>
          </p:cNvSpPr>
          <p:nvPr>
            <p:ph sz="half" idx="1" hasCustomPrompt="1"/>
          </p:nvPr>
        </p:nvSpPr>
        <p:spPr>
          <a:xfrm>
            <a:off x="462405" y="1344613"/>
            <a:ext cx="3960000" cy="3859212"/>
          </a:xfrm>
        </p:spPr>
        <p:txBody>
          <a:bodyPr>
            <a:normAutofit/>
          </a:bodyPr>
          <a:lstStyle>
            <a:lvl1pPr>
              <a:defRPr sz="1600"/>
            </a:lvl1pPr>
            <a:lvl2pPr marL="541312" indent="-285750">
              <a:buClr>
                <a:schemeClr val="accent1"/>
              </a:buClr>
              <a:buFont typeface="Wingdings" charset="2"/>
              <a:buChar char="§"/>
              <a:defRPr sz="1500"/>
            </a:lvl2pPr>
            <a:lvl3pPr>
              <a:defRPr sz="1400"/>
            </a:lvl3pPr>
            <a:lvl4pPr>
              <a:buClr>
                <a:schemeClr val="accent1"/>
              </a:buClr>
              <a:defRPr sz="1200"/>
            </a:lvl4pPr>
            <a:lvl5pPr>
              <a:defRPr sz="1200"/>
            </a:lvl5pPr>
            <a:lvl6pPr>
              <a:defRPr sz="1800"/>
            </a:lvl6pPr>
            <a:lvl7pPr>
              <a:defRPr sz="1800"/>
            </a:lvl7pPr>
            <a:lvl8pPr>
              <a:defRPr sz="1800"/>
            </a:lvl8pPr>
            <a:lvl9pPr>
              <a:defRPr sz="1800"/>
            </a:lvl9pPr>
          </a:lstStyle>
          <a:p>
            <a:pPr lvl="0"/>
            <a:r>
              <a:rPr lang="en-GB" dirty="0" err="1"/>
              <a:t>Textmasterformat</a:t>
            </a:r>
            <a:r>
              <a:rPr lang="en-GB" dirty="0"/>
              <a:t> </a:t>
            </a:r>
            <a:r>
              <a:rPr lang="en-GB" dirty="0" err="1"/>
              <a:t>bearbeiten</a:t>
            </a:r>
            <a:endParaRPr lang="en-GB" dirty="0"/>
          </a:p>
          <a:p>
            <a:pPr lvl="1"/>
            <a:r>
              <a:rPr lang="en-GB" dirty="0" err="1"/>
              <a:t>Zweite</a:t>
            </a:r>
            <a:r>
              <a:rPr lang="en-GB" dirty="0"/>
              <a:t> </a:t>
            </a:r>
            <a:r>
              <a:rPr lang="en-GB" dirty="0" err="1"/>
              <a:t>Ebene</a:t>
            </a:r>
            <a:endParaRPr lang="en-GB" dirty="0"/>
          </a:p>
          <a:p>
            <a:pPr lvl="2"/>
            <a:r>
              <a:rPr lang="en-GB" dirty="0" err="1"/>
              <a:t>Dritte</a:t>
            </a:r>
            <a:r>
              <a:rPr lang="en-GB" dirty="0"/>
              <a:t> </a:t>
            </a:r>
            <a:r>
              <a:rPr lang="en-GB" dirty="0" err="1"/>
              <a:t>Ebene</a:t>
            </a:r>
            <a:endParaRPr lang="en-GB" dirty="0"/>
          </a:p>
        </p:txBody>
      </p:sp>
      <p:sp>
        <p:nvSpPr>
          <p:cNvPr id="4" name="Inhaltsplatzhalter 3"/>
          <p:cNvSpPr>
            <a:spLocks noGrp="1"/>
          </p:cNvSpPr>
          <p:nvPr>
            <p:ph sz="half" idx="2" hasCustomPrompt="1"/>
          </p:nvPr>
        </p:nvSpPr>
        <p:spPr>
          <a:xfrm>
            <a:off x="4715688" y="1344613"/>
            <a:ext cx="3960000" cy="3859212"/>
          </a:xfrm>
        </p:spPr>
        <p:txBody>
          <a:bodyPr>
            <a:normAutofit/>
          </a:bodyPr>
          <a:lstStyle>
            <a:lvl1pPr>
              <a:buClr>
                <a:schemeClr val="accent1"/>
              </a:buClr>
              <a:defRPr sz="1600"/>
            </a:lvl1pPr>
            <a:lvl2pPr marL="541312" indent="-285750">
              <a:buClr>
                <a:schemeClr val="accent1"/>
              </a:buClr>
              <a:buFont typeface="Wingdings" charset="2"/>
              <a:buChar char="§"/>
              <a:defRPr sz="1500"/>
            </a:lvl2pPr>
            <a:lvl3pPr>
              <a:defRPr sz="1400"/>
            </a:lvl3pPr>
            <a:lvl4pPr>
              <a:buClr>
                <a:schemeClr val="accent1"/>
              </a:buClr>
              <a:defRPr sz="1200"/>
            </a:lvl4pPr>
            <a:lvl5pPr>
              <a:buClr>
                <a:schemeClr val="accent1"/>
              </a:buClr>
              <a:defRPr sz="1200"/>
            </a:lvl5pPr>
            <a:lvl6pPr>
              <a:defRPr sz="1800"/>
            </a:lvl6pPr>
            <a:lvl7pPr>
              <a:defRPr sz="1800"/>
            </a:lvl7pPr>
            <a:lvl8pPr>
              <a:defRPr sz="1800"/>
            </a:lvl8pPr>
            <a:lvl9pPr>
              <a:defRPr sz="1800"/>
            </a:lvl9pPr>
          </a:lstStyle>
          <a:p>
            <a:pPr lvl="0"/>
            <a:r>
              <a:rPr lang="en-GB" dirty="0" err="1"/>
              <a:t>Textmasterformat</a:t>
            </a:r>
            <a:r>
              <a:rPr lang="en-GB" dirty="0"/>
              <a:t> </a:t>
            </a:r>
            <a:r>
              <a:rPr lang="en-GB" dirty="0" err="1"/>
              <a:t>bearbeiten</a:t>
            </a:r>
            <a:endParaRPr lang="en-GB" dirty="0"/>
          </a:p>
          <a:p>
            <a:pPr lvl="1"/>
            <a:r>
              <a:rPr lang="en-GB" dirty="0" err="1"/>
              <a:t>Zweite</a:t>
            </a:r>
            <a:r>
              <a:rPr lang="en-GB" dirty="0"/>
              <a:t> </a:t>
            </a:r>
            <a:r>
              <a:rPr lang="en-GB" dirty="0" err="1"/>
              <a:t>Ebene</a:t>
            </a:r>
            <a:endParaRPr lang="en-GB" dirty="0"/>
          </a:p>
          <a:p>
            <a:pPr lvl="2"/>
            <a:r>
              <a:rPr lang="en-GB" dirty="0" err="1"/>
              <a:t>Dritte</a:t>
            </a:r>
            <a:r>
              <a:rPr lang="en-GB" dirty="0"/>
              <a:t> </a:t>
            </a:r>
            <a:r>
              <a:rPr lang="en-GB" dirty="0" err="1"/>
              <a:t>Ebene</a:t>
            </a:r>
            <a:endParaRPr lang="en-GB" dirty="0"/>
          </a:p>
        </p:txBody>
      </p:sp>
      <p:sp>
        <p:nvSpPr>
          <p:cNvPr id="5" name="Datumsplatzhalter 4"/>
          <p:cNvSpPr>
            <a:spLocks noGrp="1"/>
          </p:cNvSpPr>
          <p:nvPr>
            <p:ph type="dt" sz="half" idx="10"/>
          </p:nvPr>
        </p:nvSpPr>
        <p:spPr/>
        <p:txBody>
          <a:bodyPr/>
          <a:lstStyle/>
          <a:p>
            <a:fld id="{C2FD44FF-326E-4934-AE8D-65DEFF191BB1}" type="datetime1">
              <a:rPr lang="en-GB" smtClean="0"/>
              <a:t>25/08/2023</a:t>
            </a:fld>
            <a:endParaRPr lang="en-GB" dirty="0"/>
          </a:p>
        </p:txBody>
      </p:sp>
      <p:sp>
        <p:nvSpPr>
          <p:cNvPr id="9" name="Fußzeilenplatzhalter 8"/>
          <p:cNvSpPr>
            <a:spLocks noGrp="1"/>
          </p:cNvSpPr>
          <p:nvPr>
            <p:ph type="ftr" sz="quarter" idx="11"/>
          </p:nvPr>
        </p:nvSpPr>
        <p:spPr/>
        <p:txBody>
          <a:bodyPr/>
          <a:lstStyle/>
          <a:p>
            <a:r>
              <a:rPr lang="en-GB" dirty="0"/>
              <a:t>Sample Footer</a:t>
            </a:r>
          </a:p>
        </p:txBody>
      </p:sp>
      <p:sp>
        <p:nvSpPr>
          <p:cNvPr id="10" name="Foliennummernplatzhalter 9"/>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2" name="Titel 1"/>
          <p:cNvSpPr>
            <a:spLocks noGrp="1"/>
          </p:cNvSpPr>
          <p:nvPr>
            <p:ph type="title"/>
          </p:nvPr>
        </p:nvSpPr>
        <p:spPr/>
        <p:txBody>
          <a:bodyPr/>
          <a:lstStyle/>
          <a:p>
            <a:r>
              <a:rPr lang="de-DE"/>
              <a:t>Mastertitelformat bearbeiten</a:t>
            </a:r>
            <a:endParaRPr lang="en-GB" dirty="0"/>
          </a:p>
        </p:txBody>
      </p:sp>
    </p:spTree>
  </p:cSld>
  <p:clrMapOvr>
    <a:masterClrMapping/>
  </p:clrMapOvr>
  <p:transition>
    <p:fade/>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Zwei Inhalte Vergleich">
    <p:spTree>
      <p:nvGrpSpPr>
        <p:cNvPr id="1" name=""/>
        <p:cNvGrpSpPr/>
        <p:nvPr/>
      </p:nvGrpSpPr>
      <p:grpSpPr>
        <a:xfrm>
          <a:off x="0" y="0"/>
          <a:ext cx="0" cy="0"/>
          <a:chOff x="0" y="0"/>
          <a:chExt cx="0" cy="0"/>
        </a:xfrm>
      </p:grpSpPr>
      <p:sp>
        <p:nvSpPr>
          <p:cNvPr id="3" name="Inhaltsplatzhalter 2"/>
          <p:cNvSpPr>
            <a:spLocks noGrp="1"/>
          </p:cNvSpPr>
          <p:nvPr>
            <p:ph sz="half" idx="1" hasCustomPrompt="1"/>
          </p:nvPr>
        </p:nvSpPr>
        <p:spPr>
          <a:xfrm>
            <a:off x="462405" y="1935991"/>
            <a:ext cx="3960000" cy="3267834"/>
          </a:xfrm>
        </p:spPr>
        <p:txBody>
          <a:bodyPr>
            <a:normAutofit/>
          </a:bodyPr>
          <a:lstStyle>
            <a:lvl1pPr>
              <a:defRPr sz="1600"/>
            </a:lvl1pPr>
            <a:lvl2pPr>
              <a:defRPr sz="1500"/>
            </a:lvl2pPr>
            <a:lvl3pPr>
              <a:defRPr sz="1200"/>
            </a:lvl3pPr>
            <a:lvl4pPr>
              <a:defRPr sz="1100"/>
            </a:lvl4pPr>
            <a:lvl5pPr>
              <a:defRPr sz="1100"/>
            </a:lvl5pPr>
            <a:lvl6pPr>
              <a:defRPr sz="1800"/>
            </a:lvl6pPr>
            <a:lvl7pPr>
              <a:defRPr sz="1800"/>
            </a:lvl7pPr>
            <a:lvl8pPr>
              <a:defRPr sz="1800"/>
            </a:lvl8pPr>
            <a:lvl9pPr>
              <a:defRPr sz="1800"/>
            </a:lvl9pPr>
          </a:lstStyle>
          <a:p>
            <a:pPr lvl="0"/>
            <a:r>
              <a:rPr lang="en-GB" dirty="0" err="1"/>
              <a:t>Textmasterformat</a:t>
            </a:r>
            <a:r>
              <a:rPr lang="en-GB" dirty="0"/>
              <a:t> </a:t>
            </a:r>
            <a:r>
              <a:rPr lang="en-GB" dirty="0" err="1"/>
              <a:t>bearbeiten</a:t>
            </a:r>
            <a:endParaRPr lang="en-GB" dirty="0"/>
          </a:p>
          <a:p>
            <a:pPr lvl="1"/>
            <a:r>
              <a:rPr lang="en-GB" dirty="0" err="1"/>
              <a:t>Zweite</a:t>
            </a:r>
            <a:r>
              <a:rPr lang="en-GB" dirty="0"/>
              <a:t> </a:t>
            </a:r>
            <a:r>
              <a:rPr lang="en-GB" dirty="0" err="1"/>
              <a:t>Ebene</a:t>
            </a:r>
            <a:endParaRPr lang="en-GB" dirty="0"/>
          </a:p>
          <a:p>
            <a:pPr lvl="2"/>
            <a:r>
              <a:rPr lang="en-GB" dirty="0" err="1"/>
              <a:t>Dritte</a:t>
            </a:r>
            <a:r>
              <a:rPr lang="en-GB" dirty="0"/>
              <a:t> </a:t>
            </a:r>
            <a:r>
              <a:rPr lang="en-GB" dirty="0" err="1"/>
              <a:t>Ebene</a:t>
            </a:r>
            <a:endParaRPr lang="en-GB" dirty="0"/>
          </a:p>
        </p:txBody>
      </p:sp>
      <p:sp>
        <p:nvSpPr>
          <p:cNvPr id="4" name="Inhaltsplatzhalter 3"/>
          <p:cNvSpPr>
            <a:spLocks noGrp="1"/>
          </p:cNvSpPr>
          <p:nvPr>
            <p:ph sz="half" idx="2" hasCustomPrompt="1"/>
          </p:nvPr>
        </p:nvSpPr>
        <p:spPr>
          <a:xfrm>
            <a:off x="4715688" y="1935991"/>
            <a:ext cx="3960000" cy="3267834"/>
          </a:xfrm>
        </p:spPr>
        <p:txBody>
          <a:bodyPr>
            <a:normAutofit/>
          </a:bodyPr>
          <a:lstStyle>
            <a:lvl1pPr>
              <a:defRPr sz="1600"/>
            </a:lvl1pPr>
            <a:lvl2pPr>
              <a:defRPr sz="1500"/>
            </a:lvl2pPr>
            <a:lvl3pPr>
              <a:defRPr sz="1200"/>
            </a:lvl3pPr>
            <a:lvl4pPr>
              <a:defRPr sz="1100"/>
            </a:lvl4pPr>
            <a:lvl5pPr>
              <a:defRPr sz="1100"/>
            </a:lvl5pPr>
            <a:lvl6pPr>
              <a:defRPr sz="1800"/>
            </a:lvl6pPr>
            <a:lvl7pPr>
              <a:defRPr sz="1800"/>
            </a:lvl7pPr>
            <a:lvl8pPr>
              <a:defRPr sz="1800"/>
            </a:lvl8pPr>
            <a:lvl9pPr>
              <a:defRPr sz="1800"/>
            </a:lvl9pPr>
          </a:lstStyle>
          <a:p>
            <a:pPr lvl="0"/>
            <a:r>
              <a:rPr lang="en-GB" dirty="0" err="1"/>
              <a:t>Textmasterformat</a:t>
            </a:r>
            <a:r>
              <a:rPr lang="en-GB" dirty="0"/>
              <a:t> </a:t>
            </a:r>
            <a:r>
              <a:rPr lang="en-GB" dirty="0" err="1"/>
              <a:t>bearbeiten</a:t>
            </a:r>
            <a:endParaRPr lang="en-GB" dirty="0"/>
          </a:p>
          <a:p>
            <a:pPr lvl="1"/>
            <a:r>
              <a:rPr lang="en-GB" dirty="0" err="1"/>
              <a:t>Zweite</a:t>
            </a:r>
            <a:r>
              <a:rPr lang="en-GB" dirty="0"/>
              <a:t> </a:t>
            </a:r>
            <a:r>
              <a:rPr lang="en-GB" dirty="0" err="1"/>
              <a:t>Ebene</a:t>
            </a:r>
            <a:endParaRPr lang="en-GB" dirty="0"/>
          </a:p>
          <a:p>
            <a:pPr lvl="2"/>
            <a:r>
              <a:rPr lang="en-GB" dirty="0" err="1"/>
              <a:t>Dritte</a:t>
            </a:r>
            <a:r>
              <a:rPr lang="en-GB" dirty="0"/>
              <a:t> </a:t>
            </a:r>
            <a:r>
              <a:rPr lang="en-GB" dirty="0" err="1"/>
              <a:t>Ebene</a:t>
            </a:r>
            <a:endParaRPr lang="en-GB" dirty="0"/>
          </a:p>
        </p:txBody>
      </p:sp>
      <p:sp>
        <p:nvSpPr>
          <p:cNvPr id="8" name="Textplatzhalter 2"/>
          <p:cNvSpPr>
            <a:spLocks noGrp="1"/>
          </p:cNvSpPr>
          <p:nvPr>
            <p:ph type="body" idx="13" hasCustomPrompt="1"/>
          </p:nvPr>
        </p:nvSpPr>
        <p:spPr bwMode="gray">
          <a:xfrm>
            <a:off x="468314" y="1344613"/>
            <a:ext cx="3960811" cy="533136"/>
          </a:xfrm>
          <a:solidFill>
            <a:schemeClr val="accent1"/>
          </a:solidFill>
          <a:ln>
            <a:solidFill>
              <a:schemeClr val="accent1"/>
            </a:solidFill>
          </a:ln>
        </p:spPr>
        <p:style>
          <a:lnRef idx="2">
            <a:schemeClr val="accent3">
              <a:shade val="50000"/>
            </a:schemeClr>
          </a:lnRef>
          <a:fillRef idx="1">
            <a:schemeClr val="accent3"/>
          </a:fillRef>
          <a:effectRef idx="0">
            <a:schemeClr val="accent3"/>
          </a:effectRef>
          <a:fontRef idx="none"/>
        </p:style>
        <p:txBody>
          <a:bodyPr anchor="ctr" anchorCtr="0">
            <a:noAutofit/>
          </a:bodyPr>
          <a:lstStyle>
            <a:lvl1pPr marL="92066" indent="0">
              <a:buNone/>
              <a:tabLst/>
              <a:defRPr sz="1800" b="1" baseline="0">
                <a:solidFill>
                  <a:schemeClr val="bg1"/>
                </a:solidFill>
                <a:latin typeface="+mj-lt"/>
              </a:defRPr>
            </a:lvl1pPr>
            <a:lvl2pPr marL="457153" indent="0">
              <a:buNone/>
              <a:defRPr sz="2000" b="1"/>
            </a:lvl2pPr>
            <a:lvl3pPr marL="914306" indent="0">
              <a:buNone/>
              <a:defRPr sz="1800" b="1"/>
            </a:lvl3pPr>
            <a:lvl4pPr marL="1371460" indent="0">
              <a:buNone/>
              <a:defRPr sz="1600" b="1"/>
            </a:lvl4pPr>
            <a:lvl5pPr marL="1828613" indent="0">
              <a:buNone/>
              <a:defRPr sz="1600" b="1"/>
            </a:lvl5pPr>
            <a:lvl6pPr marL="2285767" indent="0">
              <a:buNone/>
              <a:defRPr sz="1600" b="1"/>
            </a:lvl6pPr>
            <a:lvl7pPr marL="2742920" indent="0">
              <a:buNone/>
              <a:defRPr sz="1600" b="1"/>
            </a:lvl7pPr>
            <a:lvl8pPr marL="3200073" indent="0">
              <a:buNone/>
              <a:defRPr sz="1600" b="1"/>
            </a:lvl8pPr>
            <a:lvl9pPr marL="3657227" indent="0">
              <a:buNone/>
              <a:defRPr sz="1600" b="1"/>
            </a:lvl9pPr>
          </a:lstStyle>
          <a:p>
            <a:pPr lvl="0"/>
            <a:r>
              <a:rPr lang="en-GB" dirty="0"/>
              <a:t>Subtitle 1</a:t>
            </a:r>
          </a:p>
        </p:txBody>
      </p:sp>
      <p:sp>
        <p:nvSpPr>
          <p:cNvPr id="5" name="Datumsplatzhalter 4"/>
          <p:cNvSpPr>
            <a:spLocks noGrp="1"/>
          </p:cNvSpPr>
          <p:nvPr>
            <p:ph type="dt" sz="half" idx="14"/>
          </p:nvPr>
        </p:nvSpPr>
        <p:spPr/>
        <p:txBody>
          <a:bodyPr/>
          <a:lstStyle/>
          <a:p>
            <a:fld id="{9E16A0E8-29DE-4D75-BF66-2C047D439D41}" type="datetime1">
              <a:rPr lang="en-GB" smtClean="0"/>
              <a:t>25/08/2023</a:t>
            </a:fld>
            <a:endParaRPr lang="en-GB" dirty="0"/>
          </a:p>
        </p:txBody>
      </p:sp>
      <p:sp>
        <p:nvSpPr>
          <p:cNvPr id="11" name="Fußzeilenplatzhalter 10"/>
          <p:cNvSpPr>
            <a:spLocks noGrp="1"/>
          </p:cNvSpPr>
          <p:nvPr>
            <p:ph type="ftr" sz="quarter" idx="15"/>
          </p:nvPr>
        </p:nvSpPr>
        <p:spPr/>
        <p:txBody>
          <a:bodyPr/>
          <a:lstStyle/>
          <a:p>
            <a:r>
              <a:rPr lang="en-GB" dirty="0"/>
              <a:t>Sample Footer</a:t>
            </a:r>
          </a:p>
        </p:txBody>
      </p:sp>
      <p:sp>
        <p:nvSpPr>
          <p:cNvPr id="12" name="Foliennummernplatzhalter 11"/>
          <p:cNvSpPr>
            <a:spLocks noGrp="1"/>
          </p:cNvSpPr>
          <p:nvPr>
            <p:ph type="sldNum" sz="quarter" idx="16"/>
          </p:nvPr>
        </p:nvSpPr>
        <p:spPr/>
        <p:txBody>
          <a:bodyPr/>
          <a:lstStyle/>
          <a:p>
            <a:r>
              <a:rPr lang="en-GB" dirty="0"/>
              <a:t>Page </a:t>
            </a:r>
            <a:fld id="{BE3DC40E-DBBE-4E2D-9EEC-FBF0DA0E9179}" type="slidenum">
              <a:rPr lang="en-GB" smtClean="0"/>
              <a:t>‹Nr.›</a:t>
            </a:fld>
            <a:endParaRPr lang="en-GB" dirty="0"/>
          </a:p>
        </p:txBody>
      </p:sp>
      <p:sp>
        <p:nvSpPr>
          <p:cNvPr id="2" name="Titel 1"/>
          <p:cNvSpPr>
            <a:spLocks noGrp="1"/>
          </p:cNvSpPr>
          <p:nvPr>
            <p:ph type="title"/>
          </p:nvPr>
        </p:nvSpPr>
        <p:spPr/>
        <p:txBody>
          <a:bodyPr/>
          <a:lstStyle/>
          <a:p>
            <a:r>
              <a:rPr lang="de-DE"/>
              <a:t>Mastertitelformat bearbeiten</a:t>
            </a:r>
            <a:endParaRPr lang="en-GB" dirty="0"/>
          </a:p>
        </p:txBody>
      </p:sp>
      <p:sp>
        <p:nvSpPr>
          <p:cNvPr id="14" name="Textplatzhalter 2"/>
          <p:cNvSpPr>
            <a:spLocks noGrp="1"/>
          </p:cNvSpPr>
          <p:nvPr>
            <p:ph type="body" idx="17" hasCustomPrompt="1"/>
          </p:nvPr>
        </p:nvSpPr>
        <p:spPr bwMode="gray">
          <a:xfrm>
            <a:off x="4727894" y="1344613"/>
            <a:ext cx="3960811" cy="533136"/>
          </a:xfrm>
          <a:solidFill>
            <a:schemeClr val="accent1"/>
          </a:solidFill>
          <a:ln>
            <a:solidFill>
              <a:schemeClr val="accent1"/>
            </a:solidFill>
          </a:ln>
        </p:spPr>
        <p:style>
          <a:lnRef idx="2">
            <a:schemeClr val="accent3">
              <a:shade val="50000"/>
            </a:schemeClr>
          </a:lnRef>
          <a:fillRef idx="1">
            <a:schemeClr val="accent3"/>
          </a:fillRef>
          <a:effectRef idx="0">
            <a:schemeClr val="accent3"/>
          </a:effectRef>
          <a:fontRef idx="none"/>
        </p:style>
        <p:txBody>
          <a:bodyPr anchor="ctr" anchorCtr="0">
            <a:noAutofit/>
          </a:bodyPr>
          <a:lstStyle>
            <a:lvl1pPr marL="92066" indent="0">
              <a:buNone/>
              <a:tabLst/>
              <a:defRPr sz="1800" b="1" baseline="0">
                <a:solidFill>
                  <a:schemeClr val="bg1"/>
                </a:solidFill>
                <a:latin typeface="+mj-lt"/>
              </a:defRPr>
            </a:lvl1pPr>
            <a:lvl2pPr marL="457153" indent="0">
              <a:buNone/>
              <a:defRPr sz="2000" b="1"/>
            </a:lvl2pPr>
            <a:lvl3pPr marL="914306" indent="0">
              <a:buNone/>
              <a:defRPr sz="1800" b="1"/>
            </a:lvl3pPr>
            <a:lvl4pPr marL="1371460" indent="0">
              <a:buNone/>
              <a:defRPr sz="1600" b="1"/>
            </a:lvl4pPr>
            <a:lvl5pPr marL="1828613" indent="0">
              <a:buNone/>
              <a:defRPr sz="1600" b="1"/>
            </a:lvl5pPr>
            <a:lvl6pPr marL="2285767" indent="0">
              <a:buNone/>
              <a:defRPr sz="1600" b="1"/>
            </a:lvl6pPr>
            <a:lvl7pPr marL="2742920" indent="0">
              <a:buNone/>
              <a:defRPr sz="1600" b="1"/>
            </a:lvl7pPr>
            <a:lvl8pPr marL="3200073" indent="0">
              <a:buNone/>
              <a:defRPr sz="1600" b="1"/>
            </a:lvl8pPr>
            <a:lvl9pPr marL="3657227" indent="0">
              <a:buNone/>
              <a:defRPr sz="1600" b="1"/>
            </a:lvl9pPr>
          </a:lstStyle>
          <a:p>
            <a:pPr lvl="0"/>
            <a:r>
              <a:rPr lang="en-GB" dirty="0"/>
              <a:t>Subtitle 2</a:t>
            </a:r>
          </a:p>
        </p:txBody>
      </p:sp>
    </p:spTree>
  </p:cSld>
  <p:clrMapOvr>
    <a:masterClrMapping/>
  </p:clrMapOvr>
  <p:transition>
    <p:fade/>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Abschlussfolie">
    <p:spTree>
      <p:nvGrpSpPr>
        <p:cNvPr id="1" name=""/>
        <p:cNvGrpSpPr/>
        <p:nvPr/>
      </p:nvGrpSpPr>
      <p:grpSpPr>
        <a:xfrm>
          <a:off x="0" y="0"/>
          <a:ext cx="0" cy="0"/>
          <a:chOff x="0" y="0"/>
          <a:chExt cx="0" cy="0"/>
        </a:xfrm>
      </p:grpSpPr>
      <p:sp>
        <p:nvSpPr>
          <p:cNvPr id="5" name="Rechteck 4"/>
          <p:cNvSpPr/>
          <p:nvPr/>
        </p:nvSpPr>
        <p:spPr>
          <a:xfrm>
            <a:off x="467544" y="1964530"/>
            <a:ext cx="4319712" cy="2716954"/>
          </a:xfrm>
          <a:prstGeom prst="rect">
            <a:avLst/>
          </a:prstGeom>
          <a:ln w="12700">
            <a:solidFill>
              <a:schemeClr val="bg1">
                <a:lumMod val="50000"/>
              </a:schemeClr>
            </a:solidFill>
          </a:ln>
          <a:effectLst/>
        </p:spPr>
        <p:style>
          <a:lnRef idx="2">
            <a:schemeClr val="dk1"/>
          </a:lnRef>
          <a:fillRef idx="1">
            <a:schemeClr val="lt1"/>
          </a:fillRef>
          <a:effectRef idx="0">
            <a:schemeClr val="dk1"/>
          </a:effectRef>
          <a:fontRef idx="minor">
            <a:schemeClr val="dk1"/>
          </a:fontRef>
        </p:style>
        <p:txBody>
          <a:bodyPr lIns="91431" tIns="45715" rIns="91431" bIns="45715" rtlCol="0" anchor="ctr"/>
          <a:lstStyle/>
          <a:p>
            <a:pPr algn="ctr"/>
            <a:endParaRPr lang="en-GB" dirty="0"/>
          </a:p>
        </p:txBody>
      </p:sp>
      <p:pic>
        <p:nvPicPr>
          <p:cNvPr id="7" name="Grafik 6" descr="Logo-für-VK.png"/>
          <p:cNvPicPr>
            <a:picLocks noChangeAspect="1"/>
          </p:cNvPicPr>
          <p:nvPr/>
        </p:nvPicPr>
        <p:blipFill>
          <a:blip r:embed="rId2" cstate="print"/>
          <a:stretch>
            <a:fillRect/>
          </a:stretch>
        </p:blipFill>
        <p:spPr>
          <a:xfrm>
            <a:off x="611560" y="2127250"/>
            <a:ext cx="492443" cy="2252663"/>
          </a:xfrm>
          <a:prstGeom prst="rect">
            <a:avLst/>
          </a:prstGeom>
        </p:spPr>
      </p:pic>
      <p:sp>
        <p:nvSpPr>
          <p:cNvPr id="11" name="Textplatzhalter 10"/>
          <p:cNvSpPr>
            <a:spLocks noGrp="1"/>
          </p:cNvSpPr>
          <p:nvPr>
            <p:ph type="body" sz="quarter" idx="10" hasCustomPrompt="1"/>
          </p:nvPr>
        </p:nvSpPr>
        <p:spPr>
          <a:xfrm>
            <a:off x="1684020" y="2559843"/>
            <a:ext cx="2763926" cy="1811291"/>
          </a:xfrm>
        </p:spPr>
        <p:txBody>
          <a:bodyPr>
            <a:normAutofit/>
          </a:bodyPr>
          <a:lstStyle>
            <a:lvl1pPr marL="0" marR="0" indent="0" algn="l" defTabSz="914306" rtl="0" eaLnBrk="1" fontAlgn="auto" latinLnBrk="0" hangingPunct="1">
              <a:lnSpc>
                <a:spcPct val="100000"/>
              </a:lnSpc>
              <a:spcBef>
                <a:spcPts val="0"/>
              </a:spcBef>
              <a:spcAft>
                <a:spcPts val="0"/>
              </a:spcAft>
              <a:buClr>
                <a:srgbClr val="4B2582"/>
              </a:buClr>
              <a:buSzTx/>
              <a:buFont typeface="Wingdings" pitchFamily="2" charset="2"/>
              <a:buNone/>
              <a:tabLst/>
              <a:defRPr sz="1100" baseline="0"/>
            </a:lvl1pPr>
            <a:lvl2pPr marL="0" indent="0">
              <a:buNone/>
              <a:defRPr/>
            </a:lvl2pPr>
            <a:lvl3pPr marL="0" indent="0">
              <a:buNone/>
              <a:defRPr/>
            </a:lvl3pPr>
            <a:lvl4pPr marL="0" indent="0">
              <a:buNone/>
              <a:defRPr/>
            </a:lvl4pPr>
            <a:lvl5pPr marL="0" indent="0">
              <a:buNone/>
              <a:defRPr/>
            </a:lvl5pPr>
          </a:lstStyle>
          <a:p>
            <a:pPr marL="0" marR="0" lvl="0" indent="0" algn="l" defTabSz="914306" rtl="0" eaLnBrk="1" fontAlgn="auto" latinLnBrk="0" hangingPunct="1">
              <a:lnSpc>
                <a:spcPct val="100000"/>
              </a:lnSpc>
              <a:spcBef>
                <a:spcPts val="0"/>
              </a:spcBef>
              <a:spcAft>
                <a:spcPts val="0"/>
              </a:spcAft>
              <a:buClr>
                <a:srgbClr val="4B2582"/>
              </a:buClr>
              <a:buSzTx/>
              <a:buFont typeface="Wingdings" pitchFamily="2" charset="2"/>
              <a:buNone/>
              <a:tabLst/>
              <a:defRPr/>
            </a:pPr>
            <a:r>
              <a:rPr kumimoji="0" lang="en-GB" sz="1000" b="0" i="0" u="none" strike="noStrike" kern="1200" cap="none" spc="0" normalizeH="0" baseline="0" noProof="0" dirty="0" err="1">
                <a:ln>
                  <a:noFill/>
                </a:ln>
                <a:solidFill>
                  <a:srgbClr val="000000"/>
                </a:solidFill>
                <a:effectLst/>
                <a:uLnTx/>
                <a:uFillTx/>
                <a:latin typeface="+mn-lt"/>
                <a:ea typeface="+mn-ea"/>
                <a:cs typeface="+mn-cs"/>
              </a:rPr>
              <a:t>Hier</a:t>
            </a:r>
            <a:r>
              <a:rPr kumimoji="0" lang="en-GB" sz="1000" b="0" i="0" u="none" strike="noStrike" kern="1200" cap="none" spc="0" normalizeH="0" baseline="0" noProof="0" dirty="0">
                <a:ln>
                  <a:noFill/>
                </a:ln>
                <a:solidFill>
                  <a:srgbClr val="000000"/>
                </a:solidFill>
                <a:effectLst/>
                <a:uLnTx/>
                <a:uFillTx/>
                <a:latin typeface="+mn-lt"/>
                <a:ea typeface="+mn-ea"/>
                <a:cs typeface="+mn-cs"/>
              </a:rPr>
              <a:t> </a:t>
            </a:r>
            <a:r>
              <a:rPr kumimoji="0" lang="en-GB" sz="1000" b="0" i="0" u="none" strike="noStrike" kern="1200" cap="none" spc="0" normalizeH="0" baseline="0" noProof="0" dirty="0" err="1">
                <a:ln>
                  <a:noFill/>
                </a:ln>
                <a:solidFill>
                  <a:srgbClr val="000000"/>
                </a:solidFill>
                <a:effectLst/>
                <a:uLnTx/>
                <a:uFillTx/>
                <a:latin typeface="+mn-lt"/>
                <a:ea typeface="+mn-ea"/>
                <a:cs typeface="+mn-cs"/>
              </a:rPr>
              <a:t>Adressdaten</a:t>
            </a:r>
            <a:r>
              <a:rPr kumimoji="0" lang="en-GB" sz="1000" b="0" i="0" u="none" strike="noStrike" kern="1200" cap="none" spc="0" normalizeH="0" baseline="0" noProof="0" dirty="0">
                <a:ln>
                  <a:noFill/>
                </a:ln>
                <a:solidFill>
                  <a:srgbClr val="000000"/>
                </a:solidFill>
                <a:effectLst/>
                <a:uLnTx/>
                <a:uFillTx/>
                <a:latin typeface="+mn-lt"/>
                <a:ea typeface="+mn-ea"/>
                <a:cs typeface="+mn-cs"/>
              </a:rPr>
              <a:t> </a:t>
            </a:r>
            <a:r>
              <a:rPr kumimoji="0" lang="en-GB" sz="1000" b="0" i="0" u="none" strike="noStrike" kern="1200" cap="none" spc="0" normalizeH="0" baseline="0" noProof="0" dirty="0" err="1">
                <a:ln>
                  <a:noFill/>
                </a:ln>
                <a:solidFill>
                  <a:srgbClr val="000000"/>
                </a:solidFill>
                <a:effectLst/>
                <a:uLnTx/>
                <a:uFillTx/>
                <a:latin typeface="+mn-lt"/>
                <a:ea typeface="+mn-ea"/>
                <a:cs typeface="+mn-cs"/>
              </a:rPr>
              <a:t>eingeben</a:t>
            </a:r>
            <a:endParaRPr kumimoji="0" lang="en-GB" sz="1000" b="0" i="0" u="none" strike="noStrike" kern="1200" cap="none" spc="0" normalizeH="0" baseline="0" noProof="0" dirty="0">
              <a:ln>
                <a:noFill/>
              </a:ln>
              <a:solidFill>
                <a:srgbClr val="000000"/>
              </a:solidFill>
              <a:effectLst/>
              <a:uLnTx/>
              <a:uFillTx/>
              <a:latin typeface="+mn-lt"/>
              <a:ea typeface="+mn-ea"/>
              <a:cs typeface="+mn-cs"/>
            </a:endParaRPr>
          </a:p>
        </p:txBody>
      </p:sp>
      <p:sp>
        <p:nvSpPr>
          <p:cNvPr id="8" name="Datumsplatzhalter 7"/>
          <p:cNvSpPr>
            <a:spLocks noGrp="1"/>
          </p:cNvSpPr>
          <p:nvPr>
            <p:ph type="dt" sz="half" idx="11"/>
          </p:nvPr>
        </p:nvSpPr>
        <p:spPr/>
        <p:txBody>
          <a:bodyPr/>
          <a:lstStyle/>
          <a:p>
            <a:fld id="{D1DA7DE9-F6B6-4FDA-A00F-1221D494593B}" type="datetime1">
              <a:rPr lang="en-GB" smtClean="0"/>
              <a:t>25/08/2023</a:t>
            </a:fld>
            <a:endParaRPr lang="en-GB" dirty="0"/>
          </a:p>
        </p:txBody>
      </p:sp>
      <p:sp>
        <p:nvSpPr>
          <p:cNvPr id="9" name="Fußzeilenplatzhalter 8"/>
          <p:cNvSpPr>
            <a:spLocks noGrp="1"/>
          </p:cNvSpPr>
          <p:nvPr>
            <p:ph type="ftr" sz="quarter" idx="12"/>
          </p:nvPr>
        </p:nvSpPr>
        <p:spPr/>
        <p:txBody>
          <a:bodyPr/>
          <a:lstStyle/>
          <a:p>
            <a:r>
              <a:rPr lang="en-GB" dirty="0"/>
              <a:t>Sample Footer</a:t>
            </a:r>
          </a:p>
        </p:txBody>
      </p:sp>
      <p:sp>
        <p:nvSpPr>
          <p:cNvPr id="10" name="Foliennummernplatzhalter 9"/>
          <p:cNvSpPr>
            <a:spLocks noGrp="1"/>
          </p:cNvSpPr>
          <p:nvPr>
            <p:ph type="sldNum" sz="quarter" idx="13"/>
          </p:nvPr>
        </p:nvSpPr>
        <p:spPr/>
        <p:txBody>
          <a:bodyPr/>
          <a:lstStyle/>
          <a:p>
            <a:r>
              <a:rPr lang="en-GB" dirty="0"/>
              <a:t>Page </a:t>
            </a:r>
            <a:fld id="{BE3DC40E-DBBE-4E2D-9EEC-FBF0DA0E9179}" type="slidenum">
              <a:rPr lang="en-GB" smtClean="0"/>
              <a:t>‹Nr.›</a:t>
            </a:fld>
            <a:endParaRPr lang="en-GB" dirty="0"/>
          </a:p>
        </p:txBody>
      </p:sp>
    </p:spTree>
  </p:cSld>
  <p:clrMapOvr>
    <a:masterClrMapping/>
  </p:clrMapOvr>
  <p:transition>
    <p:fade/>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Titelfolie Kontak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grpSp>
        <p:nvGrpSpPr>
          <p:cNvPr id="11" name="Gruppieren 10"/>
          <p:cNvGrpSpPr/>
          <p:nvPr userDrawn="1"/>
        </p:nvGrpSpPr>
        <p:grpSpPr>
          <a:xfrm>
            <a:off x="287338" y="603319"/>
            <a:ext cx="8552850" cy="2037600"/>
            <a:chOff x="287338" y="603319"/>
            <a:chExt cx="8552850" cy="2037600"/>
          </a:xfrm>
        </p:grpSpPr>
        <p:sp>
          <p:nvSpPr>
            <p:cNvPr id="14" name="Rechteck 13"/>
            <p:cNvSpPr/>
            <p:nvPr userDrawn="1"/>
          </p:nvSpPr>
          <p:spPr>
            <a:xfrm>
              <a:off x="6192000" y="603319"/>
              <a:ext cx="2648188" cy="2037600"/>
            </a:xfrm>
            <a:prstGeom prst="rect">
              <a:avLst/>
            </a:prstGeom>
            <a:solidFill>
              <a:schemeClr val="bg1"/>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sp>
          <p:nvSpPr>
            <p:cNvPr id="15" name="Rechteck 14"/>
            <p:cNvSpPr/>
            <p:nvPr userDrawn="1"/>
          </p:nvSpPr>
          <p:spPr bwMode="blackWhite">
            <a:xfrm>
              <a:off x="287338" y="603319"/>
              <a:ext cx="5904662" cy="2037600"/>
            </a:xfrm>
            <a:prstGeom prst="rect">
              <a:avLst/>
            </a:prstGeom>
            <a:solidFill>
              <a:srgbClr val="0096D3">
                <a:alpha val="89804"/>
              </a:srgbClr>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grpSp>
      <p:sp>
        <p:nvSpPr>
          <p:cNvPr id="2" name="Titel 1"/>
          <p:cNvSpPr>
            <a:spLocks noGrp="1"/>
          </p:cNvSpPr>
          <p:nvPr userDrawn="1">
            <p:ph type="ctrTitle" hasCustomPrompt="1"/>
          </p:nvPr>
        </p:nvSpPr>
        <p:spPr bwMode="black">
          <a:xfrm>
            <a:off x="605406" y="1301365"/>
            <a:ext cx="5436000" cy="1026000"/>
          </a:xfrm>
          <a:prstGeom prst="rect">
            <a:avLst/>
          </a:prstGeom>
        </p:spPr>
        <p:txBody>
          <a:bodyPr tIns="0" anchor="ctr" anchorCtr="0">
            <a:noAutofit/>
          </a:bodyPr>
          <a:lstStyle>
            <a:lvl1pPr algn="l">
              <a:lnSpc>
                <a:spcPct val="100000"/>
              </a:lnSpc>
              <a:defRPr sz="3200" b="1" i="0" baseline="0">
                <a:solidFill>
                  <a:schemeClr val="bg1"/>
                </a:solidFill>
                <a:latin typeface="Georgia" charset="0"/>
                <a:ea typeface="Georgia" charset="0"/>
                <a:cs typeface="Georgia" charset="0"/>
              </a:defRPr>
            </a:lvl1pPr>
          </a:lstStyle>
          <a:p>
            <a:r>
              <a:rPr lang="en-GB" dirty="0"/>
              <a:t>Max. 2 lines of text for header</a:t>
            </a:r>
          </a:p>
        </p:txBody>
      </p:sp>
      <p:sp>
        <p:nvSpPr>
          <p:cNvPr id="3" name="Untertitel 2"/>
          <p:cNvSpPr>
            <a:spLocks noGrp="1"/>
          </p:cNvSpPr>
          <p:nvPr userDrawn="1">
            <p:ph type="subTitle" idx="1" hasCustomPrompt="1"/>
          </p:nvPr>
        </p:nvSpPr>
        <p:spPr bwMode="black">
          <a:xfrm>
            <a:off x="605406" y="993080"/>
            <a:ext cx="5436000" cy="351533"/>
          </a:xfrm>
        </p:spPr>
        <p:txBody>
          <a:bodyPr tIns="0" bIns="0">
            <a:noAutofit/>
          </a:bodyPr>
          <a:lstStyle>
            <a:lvl1pPr marL="0" indent="0" algn="l">
              <a:lnSpc>
                <a:spcPct val="100000"/>
              </a:lnSpc>
              <a:buNone/>
              <a:defRPr sz="1800" b="1" i="0" baseline="0">
                <a:solidFill>
                  <a:schemeClr val="tx1"/>
                </a:solidFill>
                <a:latin typeface="Verdana" charset="0"/>
                <a:ea typeface="Verdana" charset="0"/>
                <a:cs typeface="Verdana" charset="0"/>
              </a:defRPr>
            </a:lvl1pPr>
            <a:lvl2pPr marL="457153" indent="0" algn="ctr">
              <a:buNone/>
              <a:defRPr>
                <a:solidFill>
                  <a:schemeClr val="tx1">
                    <a:tint val="75000"/>
                  </a:schemeClr>
                </a:solidFill>
              </a:defRPr>
            </a:lvl2pPr>
            <a:lvl3pPr marL="914306" indent="0" algn="ctr">
              <a:buNone/>
              <a:defRPr>
                <a:solidFill>
                  <a:schemeClr val="tx1">
                    <a:tint val="75000"/>
                  </a:schemeClr>
                </a:solidFill>
              </a:defRPr>
            </a:lvl3pPr>
            <a:lvl4pPr marL="1371460" indent="0" algn="ctr">
              <a:buNone/>
              <a:defRPr>
                <a:solidFill>
                  <a:schemeClr val="tx1">
                    <a:tint val="75000"/>
                  </a:schemeClr>
                </a:solidFill>
              </a:defRPr>
            </a:lvl4pPr>
            <a:lvl5pPr marL="1828613" indent="0" algn="ctr">
              <a:buNone/>
              <a:defRPr>
                <a:solidFill>
                  <a:schemeClr val="tx1">
                    <a:tint val="75000"/>
                  </a:schemeClr>
                </a:solidFill>
              </a:defRPr>
            </a:lvl5pPr>
            <a:lvl6pPr marL="2285767" indent="0" algn="ctr">
              <a:buNone/>
              <a:defRPr>
                <a:solidFill>
                  <a:schemeClr val="tx1">
                    <a:tint val="75000"/>
                  </a:schemeClr>
                </a:solidFill>
              </a:defRPr>
            </a:lvl6pPr>
            <a:lvl7pPr marL="2742920" indent="0" algn="ctr">
              <a:buNone/>
              <a:defRPr>
                <a:solidFill>
                  <a:schemeClr val="tx1">
                    <a:tint val="75000"/>
                  </a:schemeClr>
                </a:solidFill>
              </a:defRPr>
            </a:lvl7pPr>
            <a:lvl8pPr marL="3200073" indent="0" algn="ctr">
              <a:buNone/>
              <a:defRPr>
                <a:solidFill>
                  <a:schemeClr val="tx1">
                    <a:tint val="75000"/>
                  </a:schemeClr>
                </a:solidFill>
              </a:defRPr>
            </a:lvl8pPr>
            <a:lvl9pPr marL="3657227" indent="0" algn="ctr">
              <a:buNone/>
              <a:defRPr>
                <a:solidFill>
                  <a:schemeClr val="tx1">
                    <a:tint val="75000"/>
                  </a:schemeClr>
                </a:solidFill>
              </a:defRPr>
            </a:lvl9pPr>
          </a:lstStyle>
          <a:p>
            <a:r>
              <a:rPr lang="en-GB" dirty="0"/>
              <a:t>Add subtitle here if required</a:t>
            </a:r>
          </a:p>
        </p:txBody>
      </p:sp>
      <p:sp>
        <p:nvSpPr>
          <p:cNvPr id="10" name="Kontaktdaten"/>
          <p:cNvSpPr>
            <a:spLocks noGrp="1"/>
          </p:cNvSpPr>
          <p:nvPr userDrawn="1"/>
        </p:nvSpPr>
        <p:spPr bwMode="white">
          <a:xfrm>
            <a:off x="287338" y="2941638"/>
            <a:ext cx="4284662" cy="1400000"/>
          </a:xfrm>
          <a:prstGeom prst="rect">
            <a:avLst/>
          </a:prstGeom>
          <a:solidFill>
            <a:srgbClr val="FFFFFF">
              <a:alpha val="90000"/>
            </a:srgbClr>
          </a:solidFill>
          <a:ln>
            <a:noFill/>
          </a:ln>
        </p:spPr>
        <p:txBody>
          <a:bodyPr wrap="square" lIns="324000" tIns="216000" rIns="324000" bIns="216000" rtlCol="0" anchor="t" anchorCtr="0">
            <a:spAutoFit/>
          </a:bodyPr>
          <a:lstStyle>
            <a:lvl1pPr marL="0" indent="0">
              <a:buNone/>
              <a:defRPr lang="de-DE" sz="1200" baseline="0" dirty="0" smtClean="0"/>
            </a:lvl1pPr>
          </a:lstStyle>
          <a:p>
            <a:pPr marL="0" indent="0">
              <a:buNone/>
            </a:pPr>
            <a:r>
              <a:rPr lang="en-GB" sz="1100" dirty="0">
                <a:solidFill>
                  <a:srgbClr val="000000"/>
                </a:solidFill>
                <a:latin typeface="+mn-lt"/>
              </a:rPr>
              <a:t>Dr Arne Floh, Senior Lecturer in Marketing</a:t>
            </a:r>
          </a:p>
          <a:p>
            <a:pPr marL="0" indent="0">
              <a:buNone/>
            </a:pPr>
            <a:r>
              <a:rPr lang="en-GB" sz="1100" dirty="0">
                <a:solidFill>
                  <a:srgbClr val="000000"/>
                </a:solidFill>
                <a:latin typeface="+mn-lt"/>
              </a:rPr>
              <a:t>WU Vienna, Institute for International Business</a:t>
            </a:r>
          </a:p>
          <a:p>
            <a:pPr marL="0" indent="0">
              <a:buNone/>
            </a:pPr>
            <a:endParaRPr lang="en-GB" sz="1200"/>
          </a:p>
          <a:p>
            <a:pPr marL="0" indent="0">
              <a:buNone/>
            </a:pPr>
            <a:r>
              <a:rPr lang="en-GB" sz="1100" dirty="0">
                <a:solidFill>
                  <a:srgbClr val="000000"/>
                </a:solidFill>
                <a:latin typeface="+mn-lt"/>
                <a:hlinkClick r:id="rId20"/>
              </a:rPr>
              <a:t>arne.floh@wu.ac.at</a:t>
            </a:r>
          </a:p>
          <a:p>
            <a:pPr marL="0" indent="0">
              <a:buNone/>
            </a:pPr>
            <a:r>
              <a:rPr lang="en-GB" sz="1100" dirty="0">
                <a:solidFill>
                  <a:srgbClr val="000000"/>
                </a:solidFill>
                <a:latin typeface="+mn-lt"/>
                <a:hlinkClick r:id="rId21"/>
              </a:rPr>
              <a:t>Office hours: book online (Google Calendar)</a:t>
            </a:r>
          </a:p>
        </p:txBody>
      </p:sp>
      <p:sp>
        <p:nvSpPr>
          <p:cNvPr id="12" name="Textplatzhalter 7"/>
          <p:cNvSpPr>
            <a:spLocks noGrp="1"/>
          </p:cNvSpPr>
          <p:nvPr>
            <p:ph type="body" sz="quarter" idx="12" hasCustomPrompt="1"/>
          </p:nvPr>
        </p:nvSpPr>
        <p:spPr bwMode="auto">
          <a:xfrm>
            <a:off x="457200" y="5426926"/>
            <a:ext cx="1638300" cy="243623"/>
          </a:xfrm>
        </p:spPr>
        <p:txBody>
          <a:bodyPr>
            <a:noAutofit/>
          </a:bodyPr>
          <a:lstStyle>
            <a:lvl1pPr marL="0" indent="0">
              <a:buNone/>
              <a:defRPr sz="900" cap="all" baseline="0">
                <a:solidFill>
                  <a:schemeClr val="bg1"/>
                </a:solidFill>
              </a:defRPr>
            </a:lvl1pPr>
            <a:lvl2pPr marL="266700" indent="0">
              <a:buNone/>
              <a:defRPr sz="1050"/>
            </a:lvl2pPr>
            <a:lvl3pPr marL="541338" indent="0">
              <a:buNone/>
              <a:defRPr sz="1050"/>
            </a:lvl3pPr>
            <a:lvl4pPr marL="808038" indent="0">
              <a:buNone/>
              <a:defRPr sz="1000"/>
            </a:lvl4pPr>
            <a:lvl5pPr marL="1077913" indent="0">
              <a:buNone/>
              <a:defRPr sz="1000"/>
            </a:lvl5pPr>
          </a:lstStyle>
          <a:p>
            <a:pPr lvl="0"/>
            <a:r>
              <a:rPr lang="en-GB" dirty="0"/>
              <a:t>State: </a:t>
            </a:r>
            <a:r>
              <a:rPr lang="en-GB" dirty="0" err="1"/>
              <a:t>xx.xx.xxxx</a:t>
            </a:r>
            <a:endParaRPr lang="en-GB" dirty="0"/>
          </a:p>
        </p:txBody>
      </p:sp>
      <p:pic>
        <p:nvPicPr>
          <p:cNvPr id="18" name="Grafik 17">
            <a:extLst>
              <a:ext uri="{FF2B5EF4-FFF2-40B4-BE49-F238E27FC236}">
                <a16:creationId xmlns:a16="http://schemas.microsoft.com/office/drawing/2014/main" id="{35A845CD-2D10-42BB-97DB-CDA723EE9EBF}"/>
              </a:ext>
            </a:extLst>
          </p:cNvPr>
          <p:cNvPicPr>
            <a:picLocks noChangeAspect="1"/>
          </p:cNvPicPr>
          <p:nvPr userDrawn="1"/>
        </p:nvPicPr>
        <p:blipFill>
          <a:blip r:embed="rId3"/>
          <a:stretch>
            <a:fillRect/>
          </a:stretch>
        </p:blipFill>
        <p:spPr>
          <a:xfrm>
            <a:off x="6579375" y="1065910"/>
            <a:ext cx="1849165" cy="975600"/>
          </a:xfrm>
          <a:prstGeom prst="rect">
            <a:avLst/>
          </a:prstGeom>
        </p:spPr>
      </p:pic>
      <p:pic>
        <p:nvPicPr>
          <p:cNvPr id="16" name="Grafik 15">
            <a:extLst>
              <a:ext uri="{FF2B5EF4-FFF2-40B4-BE49-F238E27FC236}">
                <a16:creationId xmlns:a16="http://schemas.microsoft.com/office/drawing/2014/main" id="{1A49BD17-4238-4565-A4B6-2E20A7C19FA6}"/>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6615113" y="5129960"/>
            <a:ext cx="1835942" cy="317581"/>
          </a:xfrm>
          <a:prstGeom prst="rect">
            <a:avLst/>
          </a:prstGeom>
        </p:spPr>
      </p:pic>
    </p:spTree>
    <p:extLst>
      <p:ext uri="{BB962C8B-B14F-4D97-AF65-F5344CB8AC3E}">
        <p14:creationId xmlns:p14="http://schemas.microsoft.com/office/powerpoint/2010/main" val="1096689772"/>
      </p:ext>
    </p:extLst>
  </p:cSld>
  <p:clrMapOvr>
    <a:masterClrMapping/>
  </p:clrMapOvr>
  <p:transition>
    <p:fade/>
  </p:transition>
  <p:extLst>
    <p:ext uri="{DCECCB84-F9BA-43D5-87BE-67443E8EF086}">
      <p15:sldGuideLst xmlns:p15="http://schemas.microsoft.com/office/powerpoint/2012/main"/>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Inhalt und Bild mit Logo">
    <p:spTree>
      <p:nvGrpSpPr>
        <p:cNvPr id="1" name=""/>
        <p:cNvGrpSpPr/>
        <p:nvPr/>
      </p:nvGrpSpPr>
      <p:grpSpPr>
        <a:xfrm>
          <a:off x="0" y="0"/>
          <a:ext cx="0" cy="0"/>
          <a:chOff x="0" y="0"/>
          <a:chExt cx="0" cy="0"/>
        </a:xfrm>
      </p:grpSpPr>
      <p:sp>
        <p:nvSpPr>
          <p:cNvPr id="3" name="Inhaltsplatzhalter 2"/>
          <p:cNvSpPr>
            <a:spLocks noGrp="1"/>
          </p:cNvSpPr>
          <p:nvPr>
            <p:ph sz="half" idx="1" hasCustomPrompt="1"/>
          </p:nvPr>
        </p:nvSpPr>
        <p:spPr>
          <a:xfrm>
            <a:off x="462405" y="1344613"/>
            <a:ext cx="3960000" cy="3859212"/>
          </a:xfrm>
        </p:spPr>
        <p:txBody>
          <a:bodyPr>
            <a:normAutofit/>
          </a:bodyPr>
          <a:lstStyle>
            <a:lvl1pPr>
              <a:defRPr sz="1600"/>
            </a:lvl1pPr>
            <a:lvl2pPr marL="541312" indent="-285750">
              <a:buClr>
                <a:schemeClr val="accent1"/>
              </a:buClr>
              <a:buFont typeface="Wingdings" charset="2"/>
              <a:buChar char="§"/>
              <a:defRPr sz="1500"/>
            </a:lvl2pPr>
            <a:lvl3pPr>
              <a:defRPr sz="1400"/>
            </a:lvl3pPr>
            <a:lvl4pPr>
              <a:buClr>
                <a:schemeClr val="accent1"/>
              </a:buClr>
              <a:defRPr sz="1200"/>
            </a:lvl4pPr>
            <a:lvl5pPr>
              <a:defRPr sz="1200"/>
            </a:lvl5pPr>
            <a:lvl6pPr>
              <a:defRPr sz="1800"/>
            </a:lvl6pPr>
            <a:lvl7pPr>
              <a:defRPr sz="1800"/>
            </a:lvl7pPr>
            <a:lvl8pPr>
              <a:defRPr sz="1800"/>
            </a:lvl8pPr>
            <a:lvl9pPr>
              <a:defRPr sz="1800"/>
            </a:lvl9pPr>
          </a:lstStyle>
          <a:p>
            <a:pPr lvl="0"/>
            <a:r>
              <a:rPr lang="en-GB" dirty="0" err="1"/>
              <a:t>Textmasterformat</a:t>
            </a:r>
            <a:r>
              <a:rPr lang="en-GB" dirty="0"/>
              <a:t> </a:t>
            </a:r>
            <a:r>
              <a:rPr lang="en-GB" dirty="0" err="1"/>
              <a:t>bearbeiten</a:t>
            </a:r>
            <a:endParaRPr lang="en-GB" dirty="0"/>
          </a:p>
          <a:p>
            <a:pPr lvl="1"/>
            <a:r>
              <a:rPr lang="en-GB" dirty="0" err="1"/>
              <a:t>Zweite</a:t>
            </a:r>
            <a:r>
              <a:rPr lang="en-GB" dirty="0"/>
              <a:t> </a:t>
            </a:r>
            <a:r>
              <a:rPr lang="en-GB" dirty="0" err="1"/>
              <a:t>Ebene</a:t>
            </a:r>
            <a:endParaRPr lang="en-GB" dirty="0"/>
          </a:p>
          <a:p>
            <a:pPr lvl="2"/>
            <a:r>
              <a:rPr lang="en-GB" dirty="0" err="1"/>
              <a:t>Dritte</a:t>
            </a:r>
            <a:r>
              <a:rPr lang="en-GB" dirty="0"/>
              <a:t> </a:t>
            </a:r>
            <a:r>
              <a:rPr lang="en-GB" dirty="0" err="1"/>
              <a:t>Ebene</a:t>
            </a:r>
            <a:endParaRPr lang="en-GB" dirty="0"/>
          </a:p>
        </p:txBody>
      </p:sp>
      <p:sp>
        <p:nvSpPr>
          <p:cNvPr id="4" name="Bildplatzhalter 3"/>
          <p:cNvSpPr>
            <a:spLocks noGrp="1"/>
          </p:cNvSpPr>
          <p:nvPr>
            <p:ph type="pic" sz="half" idx="2" hasCustomPrompt="1"/>
          </p:nvPr>
        </p:nvSpPr>
        <p:spPr>
          <a:xfrm>
            <a:off x="4715688" y="1344613"/>
            <a:ext cx="3960000" cy="3859212"/>
          </a:xfrm>
        </p:spPr>
        <p:txBody>
          <a:bodyPr anchor="ctr"/>
          <a:lstStyle>
            <a:lvl1pPr marL="0" indent="0" algn="ctr">
              <a:buNone/>
              <a:defRPr sz="1200"/>
            </a:lvl1pPr>
          </a:lstStyle>
          <a:p>
            <a:r>
              <a:rPr lang="en-GB" dirty="0"/>
              <a:t>Click icon to add picture</a:t>
            </a:r>
          </a:p>
        </p:txBody>
      </p:sp>
      <p:sp>
        <p:nvSpPr>
          <p:cNvPr id="20" name="Logoplatzhalter 19"/>
          <p:cNvSpPr>
            <a:spLocks noGrp="1"/>
          </p:cNvSpPr>
          <p:nvPr>
            <p:ph type="pic" sz="quarter" idx="13" hasCustomPrompt="1"/>
          </p:nvPr>
        </p:nvSpPr>
        <p:spPr>
          <a:xfrm>
            <a:off x="7715688" y="4243825"/>
            <a:ext cx="860000" cy="860000"/>
          </a:xfrm>
        </p:spPr>
        <p:txBody>
          <a:bodyPr anchor="ctr"/>
          <a:lstStyle>
            <a:lvl1pPr marL="0" indent="0" algn="ctr">
              <a:buNone/>
              <a:defRPr sz="1200"/>
            </a:lvl1pPr>
          </a:lstStyle>
          <a:p>
            <a:r>
              <a:rPr lang="en-GB" dirty="0"/>
              <a:t>Logo</a:t>
            </a:r>
          </a:p>
        </p:txBody>
      </p:sp>
      <p:sp>
        <p:nvSpPr>
          <p:cNvPr id="5" name="Datumsplatzhalter 4"/>
          <p:cNvSpPr>
            <a:spLocks noGrp="1"/>
          </p:cNvSpPr>
          <p:nvPr>
            <p:ph type="dt" sz="half" idx="10"/>
          </p:nvPr>
        </p:nvSpPr>
        <p:spPr/>
        <p:txBody>
          <a:bodyPr/>
          <a:lstStyle/>
          <a:p>
            <a:fld id="{C2FD44FF-326E-4934-AE8D-65DEFF191BB1}" type="datetime1">
              <a:rPr lang="en-GB" smtClean="0"/>
              <a:t>25/08/2023</a:t>
            </a:fld>
            <a:endParaRPr lang="en-GB" dirty="0"/>
          </a:p>
        </p:txBody>
      </p:sp>
      <p:sp>
        <p:nvSpPr>
          <p:cNvPr id="9" name="Fußzeilenplatzhalter 8"/>
          <p:cNvSpPr>
            <a:spLocks noGrp="1"/>
          </p:cNvSpPr>
          <p:nvPr>
            <p:ph type="ftr" sz="quarter" idx="11"/>
          </p:nvPr>
        </p:nvSpPr>
        <p:spPr/>
        <p:txBody>
          <a:bodyPr/>
          <a:lstStyle/>
          <a:p>
            <a:r>
              <a:rPr lang="en-GB" dirty="0"/>
              <a:t>Sample Footer</a:t>
            </a:r>
          </a:p>
        </p:txBody>
      </p:sp>
      <p:sp>
        <p:nvSpPr>
          <p:cNvPr id="10" name="Foliennummernplatzhalter 9"/>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2" name="Titel 1"/>
          <p:cNvSpPr>
            <a:spLocks noGrp="1"/>
          </p:cNvSpPr>
          <p:nvPr>
            <p:ph type="title"/>
          </p:nvPr>
        </p:nvSpPr>
        <p:spPr/>
        <p:txBody>
          <a:bodyPr/>
          <a:lstStyle/>
          <a:p>
            <a:r>
              <a:rPr lang="de-DE"/>
              <a:t>Mastertitelformat bearbeiten</a:t>
            </a:r>
            <a:endParaRPr lang="en-GB" dirty="0"/>
          </a:p>
        </p:txBody>
      </p:sp>
    </p:spTree>
  </p:cSld>
  <p:clrMapOvr>
    <a:masterClrMapping/>
  </p:clrMapOvr>
  <p:transition>
    <p:fade/>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tel und Tabelle">
    <p:spTree>
      <p:nvGrpSpPr>
        <p:cNvPr id="1" name=""/>
        <p:cNvGrpSpPr/>
        <p:nvPr/>
      </p:nvGrpSpPr>
      <p:grpSpPr>
        <a:xfrm>
          <a:off x="0" y="0"/>
          <a:ext cx="0" cy="0"/>
          <a:chOff x="0" y="0"/>
          <a:chExt cx="0" cy="0"/>
        </a:xfrm>
      </p:grpSpPr>
      <p:sp>
        <p:nvSpPr>
          <p:cNvPr id="3" name="Inhaltsplatzhalter 2"/>
          <p:cNvSpPr>
            <a:spLocks noGrp="1"/>
          </p:cNvSpPr>
          <p:nvPr>
            <p:ph type="tbl" idx="1" hasCustomPrompt="1"/>
          </p:nvPr>
        </p:nvSpPr>
        <p:spPr>
          <a:xfrm>
            <a:off x="462019" y="1344613"/>
            <a:ext cx="7759644" cy="3853905"/>
          </a:xfrm>
        </p:spPr>
        <p:txBody>
          <a:bodyPr lIns="0" rIns="0">
            <a:normAutofit/>
          </a:bodyPr>
          <a:lstStyle>
            <a:lvl1pPr>
              <a:defRPr sz="1600"/>
            </a:lvl1pPr>
            <a:lvl2pPr>
              <a:defRPr sz="1500"/>
            </a:lvl2pPr>
            <a:lvl3pPr>
              <a:defRPr sz="1400"/>
            </a:lvl3pPr>
            <a:lvl4pPr>
              <a:defRPr sz="1200"/>
            </a:lvl4pPr>
            <a:lvl5pPr>
              <a:defRPr sz="1200"/>
            </a:lvl5pPr>
          </a:lstStyle>
          <a:p>
            <a:pPr marL="0" indent="0">
              <a:buNone/>
            </a:pPr>
            <a:r>
              <a:rPr lang="en-GB" dirty="0"/>
              <a:t>Click icon to add table</a:t>
            </a:r>
          </a:p>
        </p:txBody>
      </p:sp>
      <p:sp>
        <p:nvSpPr>
          <p:cNvPr id="4" name="Datumsplatzhalter 3"/>
          <p:cNvSpPr>
            <a:spLocks noGrp="1"/>
          </p:cNvSpPr>
          <p:nvPr>
            <p:ph type="dt" sz="half" idx="10"/>
          </p:nvPr>
        </p:nvSpPr>
        <p:spPr/>
        <p:txBody>
          <a:bodyPr/>
          <a:lstStyle/>
          <a:p>
            <a:fld id="{E40E7AAB-A700-485E-A2FB-EAC3CFB07074}" type="datetime1">
              <a:rPr lang="en-GB" smtClean="0"/>
              <a:t>25/08/2023</a:t>
            </a:fld>
            <a:endParaRPr lang="en-GB" dirty="0"/>
          </a:p>
        </p:txBody>
      </p:sp>
      <p:sp>
        <p:nvSpPr>
          <p:cNvPr id="8" name="Fußzeilenplatzhalter 7"/>
          <p:cNvSpPr>
            <a:spLocks noGrp="1"/>
          </p:cNvSpPr>
          <p:nvPr>
            <p:ph type="ftr" sz="quarter" idx="11"/>
          </p:nvPr>
        </p:nvSpPr>
        <p:spPr/>
        <p:txBody>
          <a:bodyPr/>
          <a:lstStyle/>
          <a:p>
            <a:r>
              <a:rPr lang="en-GB" dirty="0"/>
              <a:t>Sample Footer</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2" name="Titel 1"/>
          <p:cNvSpPr>
            <a:spLocks noGrp="1"/>
          </p:cNvSpPr>
          <p:nvPr>
            <p:ph type="title"/>
          </p:nvPr>
        </p:nvSpPr>
        <p:spPr/>
        <p:txBody>
          <a:bodyPr/>
          <a:lstStyle/>
          <a:p>
            <a:r>
              <a:rPr lang="de-DE"/>
              <a:t>Mastertitelformat bearbeiten</a:t>
            </a:r>
            <a:endParaRPr lang="en-GB" dirty="0"/>
          </a:p>
        </p:txBody>
      </p:sp>
    </p:spTree>
  </p:cSld>
  <p:clrMapOvr>
    <a:masterClrMapping/>
  </p:clrMapOvr>
  <p:transition>
    <p:fade/>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Abschlussfolie Kontakt">
    <p:spTree>
      <p:nvGrpSpPr>
        <p:cNvPr id="1" name=""/>
        <p:cNvGrpSpPr/>
        <p:nvPr/>
      </p:nvGrpSpPr>
      <p:grpSpPr>
        <a:xfrm>
          <a:off x="0" y="0"/>
          <a:ext cx="0" cy="0"/>
          <a:chOff x="0" y="0"/>
          <a:chExt cx="0" cy="0"/>
        </a:xfrm>
      </p:grpSpPr>
      <p:sp>
        <p:nvSpPr>
          <p:cNvPr id="5" name="Rechteck 4"/>
          <p:cNvSpPr/>
          <p:nvPr/>
        </p:nvSpPr>
        <p:spPr>
          <a:xfrm>
            <a:off x="467544" y="1964530"/>
            <a:ext cx="4319712" cy="2716954"/>
          </a:xfrm>
          <a:prstGeom prst="rect">
            <a:avLst/>
          </a:prstGeom>
          <a:ln w="12700">
            <a:solidFill>
              <a:schemeClr val="bg1">
                <a:lumMod val="50000"/>
              </a:schemeClr>
            </a:solidFill>
          </a:ln>
          <a:effectLst/>
        </p:spPr>
        <p:style>
          <a:lnRef idx="2">
            <a:schemeClr val="dk1"/>
          </a:lnRef>
          <a:fillRef idx="1">
            <a:schemeClr val="lt1"/>
          </a:fillRef>
          <a:effectRef idx="0">
            <a:schemeClr val="dk1"/>
          </a:effectRef>
          <a:fontRef idx="minor">
            <a:schemeClr val="dk1"/>
          </a:fontRef>
        </p:style>
        <p:txBody>
          <a:bodyPr lIns="91431" tIns="45715" rIns="91431" bIns="45715" rtlCol="0" anchor="ctr"/>
          <a:lstStyle/>
          <a:p>
            <a:pPr algn="ctr"/>
            <a:endParaRPr lang="en-GB" dirty="0"/>
          </a:p>
        </p:txBody>
      </p:sp>
      <p:pic>
        <p:nvPicPr>
          <p:cNvPr id="7" name="Grafik 6" descr="Logo-für-VK.png"/>
          <p:cNvPicPr>
            <a:picLocks noChangeAspect="1"/>
          </p:cNvPicPr>
          <p:nvPr/>
        </p:nvPicPr>
        <p:blipFill>
          <a:blip r:embed="rId2" cstate="print"/>
          <a:stretch>
            <a:fillRect/>
          </a:stretch>
        </p:blipFill>
        <p:spPr>
          <a:xfrm>
            <a:off x="611560" y="2127250"/>
            <a:ext cx="492443" cy="2252663"/>
          </a:xfrm>
          <a:prstGeom prst="rect">
            <a:avLst/>
          </a:prstGeom>
        </p:spPr>
      </p:pic>
      <p:sp>
        <p:nvSpPr>
          <p:cNvPr id="11" name="Kontaktdaten"/>
          <p:cNvSpPr>
            <a:spLocks noGrp="1"/>
          </p:cNvSpPr>
          <p:nvPr userDrawn="1"/>
        </p:nvSpPr>
        <p:spPr>
          <a:xfrm>
            <a:off x="1684020" y="2559843"/>
            <a:ext cx="2763926" cy="1811291"/>
          </a:xfrm>
          <a:prstGeom prst="rect">
            <a:avLst/>
          </a:prstGeom>
        </p:spPr>
        <p:txBody>
          <a:bodyPr>
            <a:normAutofit/>
          </a:bodyPr>
          <a:lstStyle>
            <a:lvl1pPr marL="0" marR="0" indent="0" algn="l" defTabSz="914306" rtl="0" eaLnBrk="1" fontAlgn="auto" latinLnBrk="0" hangingPunct="1">
              <a:lnSpc>
                <a:spcPct val="100000"/>
              </a:lnSpc>
              <a:spcBef>
                <a:spcPts val="0"/>
              </a:spcBef>
              <a:spcAft>
                <a:spcPts val="0"/>
              </a:spcAft>
              <a:buClr>
                <a:srgbClr val="4B2582"/>
              </a:buClr>
              <a:buSzTx/>
              <a:buFont typeface="Wingdings" pitchFamily="2" charset="2"/>
              <a:buNone/>
              <a:tabLst/>
              <a:defRPr sz="1100" baseline="0"/>
            </a:lvl1pPr>
            <a:lvl2pPr marL="0" indent="0">
              <a:buNone/>
              <a:defRPr/>
            </a:lvl2pPr>
            <a:lvl3pPr marL="0" indent="0">
              <a:buNone/>
              <a:defRPr/>
            </a:lvl3pPr>
            <a:lvl4pPr marL="0" indent="0">
              <a:buNone/>
              <a:defRPr/>
            </a:lvl4pPr>
            <a:lvl5pPr marL="0" indent="0">
              <a:buNone/>
              <a:defRPr/>
            </a:lvl5pPr>
          </a:lstStyle>
          <a:p>
            <a:pPr marL="0" indent="0">
              <a:buNone/>
            </a:pPr>
            <a:r>
              <a:rPr lang="en-GB" sz="1000" b="1" dirty="0">
                <a:solidFill>
                  <a:srgbClr val="000000"/>
                </a:solidFill>
                <a:latin typeface="+mn-lt"/>
              </a:rPr>
              <a:t>INSTITUTE FOR INTERNATIONAL BUSINESS</a:t>
            </a:r>
          </a:p>
          <a:p>
            <a:pPr marL="0" indent="0">
              <a:buNone/>
            </a:pPr>
            <a:r>
              <a:rPr lang="en-GB" sz="1000" dirty="0">
                <a:solidFill>
                  <a:srgbClr val="000000"/>
                </a:solidFill>
                <a:latin typeface="+mn-lt"/>
              </a:rPr>
              <a:t>Welthandelsplatz 1, 1020 Vienna, Austria</a:t>
            </a:r>
          </a:p>
          <a:p>
            <a:pPr marL="0" indent="0">
              <a:buNone/>
            </a:pPr>
            <a:endParaRPr lang="en-GB" sz="1000" dirty="0"/>
          </a:p>
          <a:p>
            <a:pPr marL="0" indent="0">
              <a:buNone/>
            </a:pPr>
            <a:r>
              <a:rPr lang="en-GB" sz="1000" b="1" dirty="0">
                <a:solidFill>
                  <a:srgbClr val="000000"/>
                </a:solidFill>
                <a:latin typeface="+mn-lt"/>
              </a:rPr>
              <a:t>DR ARNE FLOH</a:t>
            </a:r>
          </a:p>
          <a:p>
            <a:pPr marL="0" indent="0">
              <a:buNone/>
            </a:pPr>
            <a:r>
              <a:rPr lang="en-GB" sz="1000" dirty="0">
                <a:solidFill>
                  <a:srgbClr val="000000"/>
                </a:solidFill>
                <a:latin typeface="+mn-lt"/>
              </a:rPr>
              <a:t>Senior Lecturer in Marketing</a:t>
            </a:r>
          </a:p>
          <a:p>
            <a:pPr marL="0" indent="0">
              <a:buNone/>
            </a:pPr>
            <a:endParaRPr lang="en-GB" sz="1000" dirty="0"/>
          </a:p>
          <a:p>
            <a:pPr marL="0" indent="0">
              <a:buNone/>
            </a:pPr>
            <a:r>
              <a:rPr lang="en-GB" sz="1000" dirty="0">
                <a:solidFill>
                  <a:srgbClr val="000000"/>
                </a:solidFill>
                <a:latin typeface="+mn-lt"/>
              </a:rPr>
              <a:t>F +43-31336-6367</a:t>
            </a:r>
          </a:p>
          <a:p>
            <a:pPr marL="0" indent="0">
              <a:buNone/>
            </a:pPr>
            <a:r>
              <a:rPr lang="en-GB" sz="1000" dirty="0">
                <a:solidFill>
                  <a:srgbClr val="000000"/>
                </a:solidFill>
                <a:latin typeface="+mn-lt"/>
                <a:hlinkClick r:id="rId20"/>
              </a:rPr>
              <a:t>arne.floh@wu.ac.at</a:t>
            </a:r>
          </a:p>
          <a:p>
            <a:pPr marL="0" indent="0">
              <a:buNone/>
            </a:pPr>
            <a:r>
              <a:rPr lang="en-GB" sz="900" dirty="0">
                <a:solidFill>
                  <a:srgbClr val="000000"/>
                </a:solidFill>
                <a:latin typeface="+mn-lt"/>
                <a:hlinkClick r:id="rId22"/>
              </a:rPr>
              <a:t>www.wu.ac.at/en/welthandel/arne-floh</a:t>
            </a:r>
          </a:p>
          <a:p>
            <a:pPr marL="0" indent="0">
              <a:buNone/>
            </a:pPr>
            <a:r>
              <a:rPr lang="en-GB" sz="1000" dirty="0">
                <a:solidFill>
                  <a:srgbClr val="000000"/>
                </a:solidFill>
                <a:latin typeface="+mn-lt"/>
                <a:hlinkClick r:id="rId21"/>
              </a:rPr>
              <a:t>Office hours: book online</a:t>
            </a:r>
          </a:p>
        </p:txBody>
      </p:sp>
      <p:sp>
        <p:nvSpPr>
          <p:cNvPr id="8" name="Datumsplatzhalter 7"/>
          <p:cNvSpPr>
            <a:spLocks noGrp="1"/>
          </p:cNvSpPr>
          <p:nvPr>
            <p:ph type="dt" sz="half" idx="11"/>
          </p:nvPr>
        </p:nvSpPr>
        <p:spPr/>
        <p:txBody>
          <a:bodyPr/>
          <a:lstStyle/>
          <a:p>
            <a:fld id="{D1DA7DE9-F6B6-4FDA-A00F-1221D494593B}" type="datetime1">
              <a:rPr lang="en-GB" smtClean="0"/>
              <a:t>25/08/2023</a:t>
            </a:fld>
            <a:endParaRPr lang="en-GB" dirty="0"/>
          </a:p>
        </p:txBody>
      </p:sp>
      <p:sp>
        <p:nvSpPr>
          <p:cNvPr id="9" name="Fußzeilenplatzhalter 8"/>
          <p:cNvSpPr>
            <a:spLocks noGrp="1"/>
          </p:cNvSpPr>
          <p:nvPr>
            <p:ph type="ftr" sz="quarter" idx="12"/>
          </p:nvPr>
        </p:nvSpPr>
        <p:spPr/>
        <p:txBody>
          <a:bodyPr/>
          <a:lstStyle/>
          <a:p>
            <a:r>
              <a:rPr lang="en-GB" dirty="0"/>
              <a:t>Sample Footer</a:t>
            </a:r>
          </a:p>
        </p:txBody>
      </p:sp>
      <p:sp>
        <p:nvSpPr>
          <p:cNvPr id="10" name="Foliennummernplatzhalter 9"/>
          <p:cNvSpPr>
            <a:spLocks noGrp="1"/>
          </p:cNvSpPr>
          <p:nvPr>
            <p:ph type="sldNum" sz="quarter" idx="13"/>
          </p:nvPr>
        </p:nvSpPr>
        <p:spPr/>
        <p:txBody>
          <a:bodyPr/>
          <a:lstStyle/>
          <a:p>
            <a:r>
              <a:rPr lang="en-GB" dirty="0"/>
              <a:t>Page </a:t>
            </a:r>
            <a:fld id="{BE3DC40E-DBBE-4E2D-9EEC-FBF0DA0E9179}" type="slidenum">
              <a:rPr lang="en-GB" smtClean="0"/>
              <a:t>‹Nr.›</a:t>
            </a:fld>
            <a:endParaRPr lang="en-GB" dirty="0"/>
          </a:p>
        </p:txBody>
      </p:sp>
    </p:spTree>
  </p:cSld>
  <p:clrMapOvr>
    <a:masterClrMapping/>
  </p:clrMapOvr>
  <p:transition>
    <p:fade/>
  </p:transition>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theme" Target="../theme/theme1.xml"/><Relationship Id="rId17" Type="http://schemas.openxmlformats.org/officeDocument/2006/relationships/image" Target="../media/image1.png"/><Relationship Id="rId18" Type="http://schemas.openxmlformats.org/officeDocument/2006/relationships/image" Target="../media/image2.png"/><Relationship Id="rId19" Type="http://schemas.openxmlformats.org/officeDocument/2006/relationships/slideLayout" Target="../slideLayouts/slideLayout16.xml"/><Relationship Id="rId20" Type="http://schemas.openxmlformats.org/officeDocument/2006/relationships/slideLayout" Target="../slideLayouts/slideLayout17.xml"/><Relationship Id="rId21" Type="http://schemas.openxmlformats.org/officeDocument/2006/relationships/slideLayout" Target="../slideLayouts/slideLayout18.xml"/><Relationship Id="rId22"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3" name="Textplatzhalter 2"/>
          <p:cNvSpPr>
            <a:spLocks noGrp="1"/>
          </p:cNvSpPr>
          <p:nvPr>
            <p:ph type="body" idx="1"/>
          </p:nvPr>
        </p:nvSpPr>
        <p:spPr>
          <a:xfrm>
            <a:off x="457200" y="1344613"/>
            <a:ext cx="7764463" cy="3859212"/>
          </a:xfrm>
          <a:prstGeom prst="rect">
            <a:avLst/>
          </a:prstGeom>
        </p:spPr>
        <p:txBody>
          <a:bodyPr vert="horz" lIns="0" tIns="45715" rIns="0" bIns="45715" rtlCol="0">
            <a:normAutofit/>
          </a:bodyPr>
          <a:lstStyle/>
          <a:p>
            <a:pPr lvl="0"/>
            <a:r>
              <a:rPr lang="en-GB" dirty="0" err="1"/>
              <a:t>Textmasterformate</a:t>
            </a:r>
            <a:r>
              <a:rPr lang="en-GB" dirty="0"/>
              <a:t> </a:t>
            </a:r>
            <a:r>
              <a:rPr lang="en-GB" dirty="0" err="1"/>
              <a:t>durch</a:t>
            </a:r>
            <a:r>
              <a:rPr lang="en-GB" dirty="0"/>
              <a:t> </a:t>
            </a:r>
            <a:r>
              <a:rPr lang="en-GB" dirty="0" err="1"/>
              <a:t>Klicken</a:t>
            </a:r>
            <a:r>
              <a:rPr lang="en-GB" dirty="0"/>
              <a:t> </a:t>
            </a:r>
            <a:r>
              <a:rPr lang="en-GB" dirty="0" err="1"/>
              <a:t>bearbeiten</a:t>
            </a:r>
            <a:endParaRPr lang="en-GB" dirty="0"/>
          </a:p>
          <a:p>
            <a:pPr lvl="1"/>
            <a:r>
              <a:rPr lang="en-GB" dirty="0" err="1"/>
              <a:t>Zweite</a:t>
            </a:r>
            <a:r>
              <a:rPr lang="en-GB" dirty="0"/>
              <a:t> </a:t>
            </a:r>
            <a:r>
              <a:rPr lang="en-GB" dirty="0" err="1"/>
              <a:t>Ebene</a:t>
            </a:r>
            <a:endParaRPr lang="en-GB" dirty="0"/>
          </a:p>
          <a:p>
            <a:pPr lvl="2"/>
            <a:r>
              <a:rPr lang="en-GB" dirty="0" err="1"/>
              <a:t>Dritte</a:t>
            </a:r>
            <a:r>
              <a:rPr lang="en-GB" dirty="0"/>
              <a:t> </a:t>
            </a:r>
            <a:r>
              <a:rPr lang="en-GB" dirty="0" err="1"/>
              <a:t>Ebene</a:t>
            </a:r>
            <a:endParaRPr lang="en-GB" dirty="0"/>
          </a:p>
          <a:p>
            <a:pPr lvl="3"/>
            <a:r>
              <a:rPr lang="en-GB" dirty="0" err="1"/>
              <a:t>Vierte</a:t>
            </a:r>
            <a:r>
              <a:rPr lang="en-GB" dirty="0"/>
              <a:t> </a:t>
            </a:r>
            <a:r>
              <a:rPr lang="en-GB" dirty="0" err="1"/>
              <a:t>Ebene</a:t>
            </a:r>
            <a:endParaRPr lang="en-GB" dirty="0"/>
          </a:p>
          <a:p>
            <a:pPr lvl="4"/>
            <a:r>
              <a:rPr lang="en-GB" dirty="0" err="1"/>
              <a:t>Fünfte</a:t>
            </a:r>
            <a:r>
              <a:rPr lang="en-GB" dirty="0"/>
              <a:t> </a:t>
            </a:r>
            <a:r>
              <a:rPr lang="en-GB" dirty="0" err="1"/>
              <a:t>Ebene</a:t>
            </a:r>
            <a:endParaRPr lang="en-GB" dirty="0"/>
          </a:p>
        </p:txBody>
      </p:sp>
      <p:sp>
        <p:nvSpPr>
          <p:cNvPr id="5" name="Fußzeilenplatzhalter 4"/>
          <p:cNvSpPr>
            <a:spLocks noGrp="1"/>
          </p:cNvSpPr>
          <p:nvPr userDrawn="1">
            <p:ph type="ftr" sz="quarter" idx="3"/>
          </p:nvPr>
        </p:nvSpPr>
        <p:spPr>
          <a:xfrm>
            <a:off x="1354561" y="5412059"/>
            <a:ext cx="3217443" cy="258085"/>
          </a:xfrm>
          <a:prstGeom prst="rect">
            <a:avLst/>
          </a:prstGeom>
        </p:spPr>
        <p:txBody>
          <a:bodyPr vert="horz" lIns="91431" tIns="45715" rIns="91431" bIns="45715" rtlCol="0" anchor="ctr"/>
          <a:lstStyle>
            <a:lvl1pPr algn="l">
              <a:defRPr sz="800" cap="all" baseline="0">
                <a:solidFill>
                  <a:schemeClr val="tx1">
                    <a:tint val="75000"/>
                  </a:schemeClr>
                </a:solidFill>
              </a:defRPr>
            </a:lvl1pPr>
          </a:lstStyle>
          <a:p>
            <a:r>
              <a:rPr lang="en-GB" dirty="0"/>
              <a:t>Sample Footer</a:t>
            </a:r>
          </a:p>
        </p:txBody>
      </p:sp>
      <p:sp>
        <p:nvSpPr>
          <p:cNvPr id="6" name="Foliennummernplatzhalter 5"/>
          <p:cNvSpPr>
            <a:spLocks noGrp="1"/>
          </p:cNvSpPr>
          <p:nvPr userDrawn="1">
            <p:ph type="sldNum" sz="quarter" idx="4"/>
          </p:nvPr>
        </p:nvSpPr>
        <p:spPr>
          <a:xfrm>
            <a:off x="462407" y="5412059"/>
            <a:ext cx="892150" cy="258085"/>
          </a:xfrm>
          <a:prstGeom prst="rect">
            <a:avLst/>
          </a:prstGeom>
        </p:spPr>
        <p:txBody>
          <a:bodyPr vert="horz" lIns="0" tIns="45715" rIns="0" bIns="45715" rtlCol="0" anchor="ctr"/>
          <a:lstStyle>
            <a:lvl1pPr algn="l">
              <a:defRPr sz="800" cap="all" baseline="0">
                <a:solidFill>
                  <a:schemeClr val="tx1">
                    <a:tint val="75000"/>
                  </a:schemeClr>
                </a:solidFill>
              </a:defRPr>
            </a:lvl1pPr>
          </a:lstStyle>
          <a:p>
            <a:r>
              <a:rPr lang="en-GB" dirty="0"/>
              <a:t>Page </a:t>
            </a:r>
            <a:fld id="{BE3DC40E-DBBE-4E2D-9EEC-FBF0DA0E9179}" type="slidenum">
              <a:rPr lang="en-GB" smtClean="0"/>
              <a:pPr/>
              <a:t>‹Nr.›</a:t>
            </a:fld>
            <a:endParaRPr lang="en-GB" dirty="0"/>
          </a:p>
        </p:txBody>
      </p:sp>
      <p:sp>
        <p:nvSpPr>
          <p:cNvPr id="7" name="Datumsplatzhalter 6"/>
          <p:cNvSpPr>
            <a:spLocks noGrp="1"/>
          </p:cNvSpPr>
          <p:nvPr userDrawn="1">
            <p:ph type="dt" sz="half" idx="2"/>
          </p:nvPr>
        </p:nvSpPr>
        <p:spPr>
          <a:xfrm>
            <a:off x="5745181" y="5412059"/>
            <a:ext cx="987407" cy="258085"/>
          </a:xfrm>
          <a:prstGeom prst="rect">
            <a:avLst/>
          </a:prstGeom>
        </p:spPr>
        <p:txBody>
          <a:bodyPr vert="horz" lIns="0" tIns="45715" rIns="0" bIns="45715" rtlCol="0" anchor="ctr"/>
          <a:lstStyle>
            <a:lvl1pPr algn="r">
              <a:defRPr lang="de-DE" sz="800" kern="1200" cap="all" baseline="0" smtClean="0">
                <a:solidFill>
                  <a:schemeClr val="tx1">
                    <a:tint val="75000"/>
                  </a:schemeClr>
                </a:solidFill>
                <a:latin typeface="+mn-lt"/>
                <a:ea typeface="+mn-ea"/>
                <a:cs typeface="+mn-cs"/>
              </a:defRPr>
            </a:lvl1pPr>
          </a:lstStyle>
          <a:p>
            <a:fld id="{AD672231-DCCE-48E5-AF73-62895FE58BB4}" type="datetime1">
              <a:rPr lang="en-GB" smtClean="0"/>
              <a:t>25/08/2023</a:t>
            </a:fld>
            <a:endParaRPr lang="en-GB" dirty="0"/>
          </a:p>
        </p:txBody>
      </p:sp>
      <p:sp>
        <p:nvSpPr>
          <p:cNvPr id="18" name="Rechteck 17"/>
          <p:cNvSpPr/>
          <p:nvPr userDrawn="1"/>
        </p:nvSpPr>
        <p:spPr bwMode="gray">
          <a:xfrm>
            <a:off x="0" y="1043522"/>
            <a:ext cx="9144000" cy="25200"/>
          </a:xfrm>
          <a:prstGeom prst="rect">
            <a:avLst/>
          </a:prstGeom>
          <a:solidFill>
            <a:srgbClr val="0C94B7"/>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      </a:t>
            </a:r>
          </a:p>
        </p:txBody>
      </p:sp>
      <p:sp>
        <p:nvSpPr>
          <p:cNvPr id="15" name="Titelplatzhalter 14"/>
          <p:cNvSpPr>
            <a:spLocks noGrp="1"/>
          </p:cNvSpPr>
          <p:nvPr userDrawn="1">
            <p:ph type="title"/>
          </p:nvPr>
        </p:nvSpPr>
        <p:spPr bwMode="auto">
          <a:xfrm>
            <a:off x="462408" y="139700"/>
            <a:ext cx="6840000" cy="903822"/>
          </a:xfrm>
          <a:prstGeom prst="rect">
            <a:avLst/>
          </a:prstGeom>
        </p:spPr>
        <p:txBody>
          <a:bodyPr vert="horz" lIns="0" tIns="0" rIns="0" bIns="0" rtlCol="0" anchor="ctr">
            <a:normAutofit/>
          </a:bodyPr>
          <a:lstStyle/>
          <a:p>
            <a:r>
              <a:rPr lang="en-GB" dirty="0" err="1"/>
              <a:t>Titelmasterformat</a:t>
            </a:r>
            <a:r>
              <a:rPr lang="en-GB" dirty="0"/>
              <a:t> </a:t>
            </a:r>
            <a:r>
              <a:rPr lang="en-GB" dirty="0" err="1"/>
              <a:t>durch</a:t>
            </a:r>
            <a:r>
              <a:rPr lang="en-GB" dirty="0"/>
              <a:t> </a:t>
            </a:r>
            <a:br>
              <a:rPr lang="en-GB" dirty="0"/>
            </a:br>
            <a:r>
              <a:rPr lang="en-GB" dirty="0" err="1"/>
              <a:t>Klicken</a:t>
            </a:r>
            <a:r>
              <a:rPr lang="en-GB" dirty="0"/>
              <a:t> </a:t>
            </a:r>
            <a:r>
              <a:rPr lang="en-GB" dirty="0" err="1"/>
              <a:t>bearbeiten</a:t>
            </a:r>
            <a:endParaRPr lang="en-GB" dirty="0"/>
          </a:p>
        </p:txBody>
      </p:sp>
      <p:pic>
        <p:nvPicPr>
          <p:cNvPr id="13" name="Grafik 12">
            <a:extLst>
              <a:ext uri="{FF2B5EF4-FFF2-40B4-BE49-F238E27FC236}">
                <a16:creationId xmlns:a16="http://schemas.microsoft.com/office/drawing/2014/main" id="{49925201-EC66-4A08-AB14-A541648A67DE}"/>
              </a:ext>
            </a:extLst>
          </p:cNvPr>
          <p:cNvPicPr>
            <a:picLocks noChangeAspect="1"/>
          </p:cNvPicPr>
          <p:nvPr userDrawn="1"/>
        </p:nvPicPr>
        <p:blipFill>
          <a:blip r:embed="rId17"/>
          <a:stretch>
            <a:fillRect/>
          </a:stretch>
        </p:blipFill>
        <p:spPr>
          <a:xfrm>
            <a:off x="7711621" y="288569"/>
            <a:ext cx="1170000" cy="617280"/>
          </a:xfrm>
          <a:prstGeom prst="rect">
            <a:avLst/>
          </a:prstGeom>
        </p:spPr>
      </p:pic>
      <p:pic>
        <p:nvPicPr>
          <p:cNvPr id="11" name="Grafik 10">
            <a:extLst>
              <a:ext uri="{FF2B5EF4-FFF2-40B4-BE49-F238E27FC236}">
                <a16:creationId xmlns:a16="http://schemas.microsoft.com/office/drawing/2014/main" id="{0A212EC7-C80F-4EBC-9817-97C85E0A8AEB}"/>
              </a:ext>
            </a:extLst>
          </p:cNvPr>
          <p:cNvPicPr>
            <a:picLocks noChangeAspect="1"/>
          </p:cNvPicPr>
          <p:nvPr userDrawn="1"/>
        </p:nvPicPr>
        <p:blipFill>
          <a:blip r:embed="rId18">
            <a:extLst>
              <a:ext uri="{28A0092B-C50C-407E-A947-70E740481C1C}">
                <a14:useLocalDpi xmlns:a14="http://schemas.microsoft.com/office/drawing/2010/main" val="0"/>
              </a:ext>
            </a:extLst>
          </a:blip>
          <a:stretch>
            <a:fillRect/>
          </a:stretch>
        </p:blipFill>
        <p:spPr>
          <a:xfrm>
            <a:off x="7567613" y="5351511"/>
            <a:ext cx="1318058" cy="228552"/>
          </a:xfrm>
          <a:prstGeom prst="rect">
            <a:avLst/>
          </a:prstGeom>
        </p:spPr>
      </p:pic>
    </p:spTree>
  </p:cSld>
  <p:clrMap bg1="lt1" tx1="dk1" bg2="lt2" tx2="dk2" accent1="accent1" accent2="accent2" accent3="accent3" accent4="accent4" accent5="accent5" accent6="accent6" hlink="hlink" folHlink="folHlink"/>
  <p:sldLayoutIdLst>
    <p:sldLayoutId id="2147483671" r:id="rId1"/>
    <p:sldLayoutId id="2147483661" r:id="rId2"/>
    <p:sldLayoutId id="2147483663" r:id="rId3"/>
    <p:sldLayoutId id="2147483675" r:id="rId4"/>
    <p:sldLayoutId id="2147483676" r:id="rId5"/>
    <p:sldLayoutId id="2147483686" r:id="rId6"/>
    <p:sldLayoutId id="2147483687" r:id="rId7"/>
    <p:sldLayoutId id="2147483681" r:id="rId8"/>
    <p:sldLayoutId id="2147483682" r:id="rId9"/>
    <p:sldLayoutId id="2147483688" r:id="rId10"/>
    <p:sldLayoutId id="2147483691" r:id="rId11"/>
    <p:sldLayoutId id="2147483664" r:id="rId12"/>
    <p:sldLayoutId id="2147483667" r:id="rId13"/>
    <p:sldLayoutId id="2147483668" r:id="rId14"/>
    <p:sldLayoutId id="2147483670" r:id="rId15"/>
    <p:sldLayoutId id="2147483692" r:id="rId19"/>
    <p:sldLayoutId id="2147483693" r:id="rId20"/>
    <p:sldLayoutId id="2147483694" r:id="rId21"/>
    <p:sldLayoutId id="2147483695" r:id="rId22"/>
  </p:sldLayoutIdLst>
  <p:transition>
    <p:fade/>
  </p:transition>
  <p:hf hdr="0" dt="0"/>
  <p:txStyles>
    <p:titleStyle>
      <a:lvl1pPr algn="l" defTabSz="914306" rtl="0" eaLnBrk="1" latinLnBrk="0" hangingPunct="1">
        <a:lnSpc>
          <a:spcPct val="100000"/>
        </a:lnSpc>
        <a:spcBef>
          <a:spcPct val="0"/>
        </a:spcBef>
        <a:buNone/>
        <a:defRPr sz="2400" b="1" kern="1200">
          <a:solidFill>
            <a:schemeClr val="tx1"/>
          </a:solidFill>
          <a:latin typeface="Georgia" charset="0"/>
          <a:ea typeface="Georgia" charset="0"/>
          <a:cs typeface="Georgia" charset="0"/>
        </a:defRPr>
      </a:lvl1pPr>
    </p:titleStyle>
    <p:bodyStyle>
      <a:lvl1pPr marL="266700" indent="-266700" algn="l" defTabSz="914306" rtl="0" eaLnBrk="1" latinLnBrk="0" hangingPunct="1">
        <a:lnSpc>
          <a:spcPct val="100000"/>
        </a:lnSpc>
        <a:spcBef>
          <a:spcPts val="0"/>
        </a:spcBef>
        <a:spcAft>
          <a:spcPts val="600"/>
        </a:spcAft>
        <a:buClr>
          <a:schemeClr val="accent1"/>
        </a:buClr>
        <a:buFont typeface="Wingdings" charset="2"/>
        <a:buChar char="§"/>
        <a:defRPr sz="1600" kern="1200">
          <a:solidFill>
            <a:schemeClr val="tx1"/>
          </a:solidFill>
          <a:latin typeface="+mn-lt"/>
          <a:ea typeface="+mn-ea"/>
          <a:cs typeface="+mn-cs"/>
        </a:defRPr>
      </a:lvl1pPr>
      <a:lvl2pPr marL="539750" indent="-273050" algn="l" defTabSz="914306" rtl="0" eaLnBrk="1" latinLnBrk="0" hangingPunct="1">
        <a:lnSpc>
          <a:spcPct val="100000"/>
        </a:lnSpc>
        <a:spcBef>
          <a:spcPts val="0"/>
        </a:spcBef>
        <a:spcAft>
          <a:spcPts val="400"/>
        </a:spcAft>
        <a:buClr>
          <a:schemeClr val="accent1"/>
        </a:buClr>
        <a:buSzPct val="100000"/>
        <a:buFont typeface="Wingdings" charset="2"/>
        <a:buChar char="§"/>
        <a:defRPr sz="1500" kern="1200">
          <a:solidFill>
            <a:schemeClr val="tx1"/>
          </a:solidFill>
          <a:latin typeface="+mn-lt"/>
          <a:ea typeface="+mn-ea"/>
          <a:cs typeface="+mn-cs"/>
        </a:defRPr>
      </a:lvl2pPr>
      <a:lvl3pPr marL="814388" indent="-273050" algn="l" defTabSz="914306" rtl="0" eaLnBrk="1" latinLnBrk="0" hangingPunct="1">
        <a:lnSpc>
          <a:spcPct val="100000"/>
        </a:lnSpc>
        <a:spcBef>
          <a:spcPts val="0"/>
        </a:spcBef>
        <a:spcAft>
          <a:spcPts val="400"/>
        </a:spcAft>
        <a:buClr>
          <a:schemeClr val="accent1"/>
        </a:buClr>
        <a:buFont typeface="Wingdings" charset="2"/>
        <a:buChar char="§"/>
        <a:defRPr sz="1400" kern="1200">
          <a:solidFill>
            <a:schemeClr val="tx1"/>
          </a:solidFill>
          <a:latin typeface="+mn-lt"/>
          <a:ea typeface="+mn-ea"/>
          <a:cs typeface="+mn-cs"/>
        </a:defRPr>
      </a:lvl3pPr>
      <a:lvl4pPr marL="1074738" indent="-266700" algn="l" defTabSz="914306" rtl="0" eaLnBrk="1" latinLnBrk="0" hangingPunct="1">
        <a:lnSpc>
          <a:spcPct val="100000"/>
        </a:lnSpc>
        <a:spcBef>
          <a:spcPts val="0"/>
        </a:spcBef>
        <a:spcAft>
          <a:spcPts val="400"/>
        </a:spcAft>
        <a:buClr>
          <a:schemeClr val="accent1"/>
        </a:buClr>
        <a:buFont typeface="Wingdings" charset="2"/>
        <a:buChar char="§"/>
        <a:defRPr sz="1200" kern="1200">
          <a:solidFill>
            <a:schemeClr val="tx1"/>
          </a:solidFill>
          <a:latin typeface="+mn-lt"/>
          <a:ea typeface="+mn-ea"/>
          <a:cs typeface="+mn-cs"/>
        </a:defRPr>
      </a:lvl4pPr>
      <a:lvl5pPr marL="1341438" indent="-263525" algn="l" defTabSz="914306" rtl="0" eaLnBrk="1" latinLnBrk="0" hangingPunct="1">
        <a:lnSpc>
          <a:spcPct val="100000"/>
        </a:lnSpc>
        <a:spcBef>
          <a:spcPts val="0"/>
        </a:spcBef>
        <a:spcAft>
          <a:spcPts val="400"/>
        </a:spcAft>
        <a:buClr>
          <a:schemeClr val="accent1"/>
        </a:buClr>
        <a:buFont typeface="Wingdings" charset="2"/>
        <a:buChar char="§"/>
        <a:defRPr sz="1200" kern="1200">
          <a:solidFill>
            <a:schemeClr val="tx1"/>
          </a:solidFill>
          <a:latin typeface="+mn-lt"/>
          <a:ea typeface="+mn-ea"/>
          <a:cs typeface="+mn-cs"/>
        </a:defRPr>
      </a:lvl5pPr>
      <a:lvl6pPr marL="2514343" indent="-228577" algn="l" defTabSz="914306"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496" indent="-228577" algn="l" defTabSz="914306"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650" indent="-228577" algn="l" defTabSz="914306"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5803" indent="-228577" algn="l" defTabSz="914306"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de-DE"/>
      </a:defPPr>
      <a:lvl1pPr marL="0" algn="l" defTabSz="914306" rtl="0" eaLnBrk="1" latinLnBrk="0" hangingPunct="1">
        <a:defRPr sz="1800" kern="1200">
          <a:solidFill>
            <a:schemeClr val="tx1"/>
          </a:solidFill>
          <a:latin typeface="+mn-lt"/>
          <a:ea typeface="+mn-ea"/>
          <a:cs typeface="+mn-cs"/>
        </a:defRPr>
      </a:lvl1pPr>
      <a:lvl2pPr marL="457153" algn="l" defTabSz="914306" rtl="0" eaLnBrk="1" latinLnBrk="0" hangingPunct="1">
        <a:defRPr sz="1800" kern="1200">
          <a:solidFill>
            <a:schemeClr val="tx1"/>
          </a:solidFill>
          <a:latin typeface="+mn-lt"/>
          <a:ea typeface="+mn-ea"/>
          <a:cs typeface="+mn-cs"/>
        </a:defRPr>
      </a:lvl2pPr>
      <a:lvl3pPr marL="914306" algn="l" defTabSz="914306" rtl="0" eaLnBrk="1" latinLnBrk="0" hangingPunct="1">
        <a:defRPr sz="1800" kern="1200">
          <a:solidFill>
            <a:schemeClr val="tx1"/>
          </a:solidFill>
          <a:latin typeface="+mn-lt"/>
          <a:ea typeface="+mn-ea"/>
          <a:cs typeface="+mn-cs"/>
        </a:defRPr>
      </a:lvl3pPr>
      <a:lvl4pPr marL="1371460" algn="l" defTabSz="914306" rtl="0" eaLnBrk="1" latinLnBrk="0" hangingPunct="1">
        <a:defRPr sz="1800" kern="1200">
          <a:solidFill>
            <a:schemeClr val="tx1"/>
          </a:solidFill>
          <a:latin typeface="+mn-lt"/>
          <a:ea typeface="+mn-ea"/>
          <a:cs typeface="+mn-cs"/>
        </a:defRPr>
      </a:lvl4pPr>
      <a:lvl5pPr marL="1828613" algn="l" defTabSz="914306" rtl="0" eaLnBrk="1" latinLnBrk="0" hangingPunct="1">
        <a:defRPr sz="1800" kern="1200">
          <a:solidFill>
            <a:schemeClr val="tx1"/>
          </a:solidFill>
          <a:latin typeface="+mn-lt"/>
          <a:ea typeface="+mn-ea"/>
          <a:cs typeface="+mn-cs"/>
        </a:defRPr>
      </a:lvl5pPr>
      <a:lvl6pPr marL="2285767" algn="l" defTabSz="914306" rtl="0" eaLnBrk="1" latinLnBrk="0" hangingPunct="1">
        <a:defRPr sz="1800" kern="1200">
          <a:solidFill>
            <a:schemeClr val="tx1"/>
          </a:solidFill>
          <a:latin typeface="+mn-lt"/>
          <a:ea typeface="+mn-ea"/>
          <a:cs typeface="+mn-cs"/>
        </a:defRPr>
      </a:lvl6pPr>
      <a:lvl7pPr marL="2742920" algn="l" defTabSz="914306" rtl="0" eaLnBrk="1" latinLnBrk="0" hangingPunct="1">
        <a:defRPr sz="1800" kern="1200">
          <a:solidFill>
            <a:schemeClr val="tx1"/>
          </a:solidFill>
          <a:latin typeface="+mn-lt"/>
          <a:ea typeface="+mn-ea"/>
          <a:cs typeface="+mn-cs"/>
        </a:defRPr>
      </a:lvl7pPr>
      <a:lvl8pPr marL="3200073" algn="l" defTabSz="914306" rtl="0" eaLnBrk="1" latinLnBrk="0" hangingPunct="1">
        <a:defRPr sz="1800" kern="1200">
          <a:solidFill>
            <a:schemeClr val="tx1"/>
          </a:solidFill>
          <a:latin typeface="+mn-lt"/>
          <a:ea typeface="+mn-ea"/>
          <a:cs typeface="+mn-cs"/>
        </a:defRPr>
      </a:lvl8pPr>
      <a:lvl9pPr marL="3657227" algn="l" defTabSz="914306"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pos="2880" userDrawn="1">
          <p15:clr>
            <a:srgbClr val="F26B43"/>
          </p15:clr>
        </p15:guide>
        <p15:guide id="3" pos="288" userDrawn="1">
          <p15:clr>
            <a:srgbClr val="F26B43"/>
          </p15:clr>
        </p15:guide>
        <p15:guide id="4" pos="5179" userDrawn="1">
          <p15:clr>
            <a:srgbClr val="F26B43"/>
          </p15:clr>
        </p15:guide>
        <p15:guide id="5" pos="5467" userDrawn="1">
          <p15:clr>
            <a:srgbClr val="F26B43"/>
          </p15:clr>
        </p15:guide>
        <p15:guide id="7" orient="horz" pos="3278" userDrawn="1">
          <p15:clr>
            <a:srgbClr val="F26B43"/>
          </p15:clr>
        </p15:guide>
        <p15:guide id="9" orient="horz" pos="182" userDrawn="1">
          <p15:clr>
            <a:srgbClr val="F26B43"/>
          </p15:clr>
        </p15:guide>
        <p15:guide id="10" orient="horz" pos="847" userDrawn="1">
          <p15:clr>
            <a:srgbClr val="F26B43"/>
          </p15:clr>
        </p15:guide>
        <p15:guide id="11" orient="horz" pos="3515" userDrawn="1">
          <p15:clr>
            <a:srgbClr val="F26B43"/>
          </p15:clr>
        </p15:guide>
        <p15:guide id="12" orient="horz" pos="1097"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9.png"/><Relationship Id="rId4" Type="http://schemas.openxmlformats.org/officeDocument/2006/relationships/image" Target="../media/image10.png"/><Relationship Id="rId5" Type="http://schemas.openxmlformats.org/officeDocument/2006/relationships/image" Target="../media/image1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12.png"/><Relationship Id="rId4" Type="http://schemas.openxmlformats.org/officeDocument/2006/relationships/image" Target="../media/image13.png"/><Relationship Id="rId5" Type="http://schemas.openxmlformats.org/officeDocument/2006/relationships/image" Target="../media/image14.png"/><Relationship Id="rId6" Type="http://schemas.openxmlformats.org/officeDocument/2006/relationships/image" Target="../media/image15.png"/><Relationship Id="rId7" Type="http://schemas.openxmlformats.org/officeDocument/2006/relationships/image" Target="../media/image16.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17.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18.png"/><Relationship Id="rId4" Type="http://schemas.openxmlformats.org/officeDocument/2006/relationships/image" Target="../media/image19.png"/><Relationship Id="rId5" Type="http://schemas.openxmlformats.org/officeDocument/2006/relationships/image" Target="../media/image20.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21.png"/><Relationship Id="rId4" Type="http://schemas.openxmlformats.org/officeDocument/2006/relationships/image" Target="../media/image22.png"/><Relationship Id="rId5" Type="http://schemas.openxmlformats.org/officeDocument/2006/relationships/image" Target="../media/image2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2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2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2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27.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12.png"/><Relationship Id="rId4" Type="http://schemas.openxmlformats.org/officeDocument/2006/relationships/image" Target="../media/image28.png"/><Relationship Id="rId5" Type="http://schemas.openxmlformats.org/officeDocument/2006/relationships/image" Target="../media/image29.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30.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31.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image" Target="../media/image32.png"/><Relationship Id="rId4" Type="http://schemas.openxmlformats.org/officeDocument/2006/relationships/image" Target="../media/image33.png"/><Relationship Id="rId5" Type="http://schemas.openxmlformats.org/officeDocument/2006/relationships/image" Target="../media/image11.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 Id="rId3" Type="http://schemas.openxmlformats.org/officeDocument/2006/relationships/image" Target="../media/image34.png"/><Relationship Id="rId4" Type="http://schemas.openxmlformats.org/officeDocument/2006/relationships/image" Target="../media/image23.png"/><Relationship Id="rId5" Type="http://schemas.openxmlformats.org/officeDocument/2006/relationships/image" Target="../media/image31.png"/><Relationship Id="rId6" Type="http://schemas.openxmlformats.org/officeDocument/2006/relationships/image" Target="../media/image35.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 Id="rId3" Type="http://schemas.openxmlformats.org/officeDocument/2006/relationships/image" Target="../media/image36.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 Id="rId3" Type="http://schemas.openxmlformats.org/officeDocument/2006/relationships/image" Target="../media/image37.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 Id="rId3" Type="http://schemas.openxmlformats.org/officeDocument/2006/relationships/image" Target="../media/image38.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 Id="rId3" Type="http://schemas.openxmlformats.org/officeDocument/2006/relationships/image" Target="../media/image39.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 Id="rId3" Type="http://schemas.openxmlformats.org/officeDocument/2006/relationships/image" Target="../media/image40.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 Id="rId3" Type="http://schemas.openxmlformats.org/officeDocument/2006/relationships/image" Target="../media/image41.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 Id="rId3" Type="http://schemas.openxmlformats.org/officeDocument/2006/relationships/image" Target="../media/image35.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 Id="rId3" Type="http://schemas.openxmlformats.org/officeDocument/2006/relationships/image" Target="../media/image42.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 Id="rId3" Type="http://schemas.openxmlformats.org/officeDocument/2006/relationships/image" Target="../media/image43.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 Id="rId3" Type="http://schemas.openxmlformats.org/officeDocument/2006/relationships/image" Target="../media/image23.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xml"/><Relationship Id="rId3" Type="http://schemas.openxmlformats.org/officeDocument/2006/relationships/image" Target="../media/image20.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9.xml"/><Relationship Id="rId3" Type="http://schemas.openxmlformats.org/officeDocument/2006/relationships/image" Target="../media/image44.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4.xml"/><Relationship Id="rId3" Type="http://schemas.openxmlformats.org/officeDocument/2006/relationships/image" Target="../media/image45.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5.xml"/><Relationship Id="rId3" Type="http://schemas.openxmlformats.org/officeDocument/2006/relationships/image" Target="../media/image46.png"/><Relationship Id="rId4" Type="http://schemas.openxmlformats.org/officeDocument/2006/relationships/image" Target="../media/image47.png"/><Relationship Id="rId5" Type="http://schemas.openxmlformats.org/officeDocument/2006/relationships/image" Target="../media/image15.png"/><Relationship Id="rId6" Type="http://schemas.openxmlformats.org/officeDocument/2006/relationships/image" Target="../media/image48.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7.xml"/><Relationship Id="rId3" Type="http://schemas.openxmlformats.org/officeDocument/2006/relationships/image" Target="../media/image49.png"/><Relationship Id="rId4" Type="http://schemas.openxmlformats.org/officeDocument/2006/relationships/image" Target="../media/image50.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48.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rPr lang="en-GB"/>
              <a:t>Open-source marketing</a:t>
            </a:r>
            <a:br/>
            <a:r>
              <a:rPr lang="en-GB"/>
              <a:t>mix modelling</a:t>
            </a:r>
          </a:p>
        </p:txBody>
      </p:sp>
      <p:sp>
        <p:nvSpPr>
          <p:cNvPr id="3" name="Subtitle 2"/>
          <p:cNvSpPr>
            <a:spLocks noGrp="1"/>
          </p:cNvSpPr>
          <p:nvPr>
            <p:ph type="subTitle" idx="1"/>
          </p:nvPr>
        </p:nvSpPr>
        <p:spPr/>
        <p:txBody>
          <a:bodyPr/>
          <a:lstStyle/>
          <a:p>
            <a:r>
              <a:rPr lang="en-GB"/>
              <a:t>International Marketing Analytics</a:t>
            </a:r>
          </a:p>
        </p:txBody>
      </p:sp>
      <p:sp>
        <p:nvSpPr>
          <p:cNvPr id="4" name="Text Placeholder 3"/>
          <p:cNvSpPr>
            <a:spLocks noGrp="1"/>
          </p:cNvSpPr>
          <p:nvPr>
            <p:ph type="body" idx="12" sz="quarter"/>
          </p:nvPr>
        </p:nvSpPr>
        <p:spPr/>
        <p:txBody>
          <a:bodyPr/>
          <a:lstStyle/>
          <a:p>
            <a:r>
              <a:rPr lang="en-GB"/>
              <a:t>WT 2026/27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Today</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Plan steps step 1"/>
          <p:cNvSpPr/>
          <p:nvPr/>
        </p:nvSpPr>
        <p:spPr>
          <a:xfrm>
            <a:off x="457200" y="1234440"/>
            <a:ext cx="1463040" cy="548640"/>
          </a:xfrm>
          <a:prstGeom prst="homePlate">
            <a:avLst>
              <a:gd name="adj" fmla="val 28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rIns="128016" tIns="18288" bIns="18288"/>
          <a:lstStyle/>
          <a:p>
            <a:pPr algn="ctr"/>
            <a:r>
              <a:rPr sz="1100" b="1" lang="en-GB">
                <a:solidFill>
                  <a:schemeClr val="tx2"/>
                </a:solidFill>
              </a:rPr>
              <a:t>Concepts</a:t>
            </a:r>
          </a:p>
        </p:txBody>
      </p:sp>
      <p:sp>
        <p:nvSpPr>
          <p:cNvPr id="11" name="Plan steps step 2"/>
          <p:cNvSpPr/>
          <p:nvPr/>
        </p:nvSpPr>
        <p:spPr>
          <a:xfrm>
            <a:off x="1810512" y="1234440"/>
            <a:ext cx="1463040" cy="548640"/>
          </a:xfrm>
          <a:prstGeom prst="chevron">
            <a:avLst>
              <a:gd name="adj" fmla="val 28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37744" rIns="128016" tIns="18288" bIns="18288"/>
          <a:lstStyle/>
          <a:p>
            <a:pPr algn="ctr"/>
            <a:r>
              <a:rPr sz="1100" b="1" lang="en-GB">
                <a:solidFill>
                  <a:schemeClr val="tx2"/>
                </a:solidFill>
              </a:rPr>
              <a:t>By</a:t>
            </a:r>
            <a:br/>
            <a:r>
              <a:rPr sz="1100" b="1" lang="en-GB">
                <a:solidFill>
                  <a:schemeClr val="tx2"/>
                </a:solidFill>
              </a:rPr>
              <a:t>hand</a:t>
            </a:r>
          </a:p>
        </p:txBody>
      </p:sp>
      <p:sp>
        <p:nvSpPr>
          <p:cNvPr id="12" name="Plan steps step 3"/>
          <p:cNvSpPr/>
          <p:nvPr/>
        </p:nvSpPr>
        <p:spPr>
          <a:xfrm>
            <a:off x="3163824" y="1234440"/>
            <a:ext cx="1463040" cy="548640"/>
          </a:xfrm>
          <a:prstGeom prst="chevron">
            <a:avLst>
              <a:gd name="adj" fmla="val 28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37744" rIns="128016" tIns="18288" bIns="18288"/>
          <a:lstStyle/>
          <a:p>
            <a:pPr algn="ctr"/>
            <a:r>
              <a:rPr sz="1100" b="1" lang="en-GB">
                <a:solidFill>
                  <a:schemeClr val="tx2"/>
                </a:solidFill>
              </a:rPr>
              <a:t>Three</a:t>
            </a:r>
            <a:br/>
            <a:r>
              <a:rPr sz="1100" b="1" lang="en-GB">
                <a:solidFill>
                  <a:schemeClr val="tx2"/>
                </a:solidFill>
              </a:rPr>
              <a:t>tools</a:t>
            </a:r>
          </a:p>
        </p:txBody>
      </p:sp>
      <p:sp>
        <p:nvSpPr>
          <p:cNvPr id="13" name="Plan steps step 4"/>
          <p:cNvSpPr/>
          <p:nvPr/>
        </p:nvSpPr>
        <p:spPr>
          <a:xfrm>
            <a:off x="4517136" y="1234440"/>
            <a:ext cx="1463040" cy="548640"/>
          </a:xfrm>
          <a:prstGeom prst="chevron">
            <a:avLst>
              <a:gd name="adj" fmla="val 28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37744" rIns="128016" tIns="18288" bIns="18288"/>
          <a:lstStyle/>
          <a:p>
            <a:pPr algn="ctr"/>
            <a:r>
              <a:rPr sz="1100" b="1" lang="en-GB">
                <a:solidFill>
                  <a:schemeClr val="tx2"/>
                </a:solidFill>
              </a:rPr>
              <a:t>Real</a:t>
            </a:r>
            <a:br/>
            <a:r>
              <a:rPr sz="1100" b="1" lang="en-GB">
                <a:solidFill>
                  <a:schemeClr val="tx2"/>
                </a:solidFill>
              </a:rPr>
              <a:t>data</a:t>
            </a:r>
          </a:p>
        </p:txBody>
      </p:sp>
      <p:sp>
        <p:nvSpPr>
          <p:cNvPr id="14" name="Plan steps step 5"/>
          <p:cNvSpPr/>
          <p:nvPr/>
        </p:nvSpPr>
        <p:spPr>
          <a:xfrm>
            <a:off x="5870448" y="1234440"/>
            <a:ext cx="1463040" cy="548640"/>
          </a:xfrm>
          <a:prstGeom prst="chevron">
            <a:avLst>
              <a:gd name="adj" fmla="val 28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37744" rIns="128016" tIns="18288" bIns="18288"/>
          <a:lstStyle/>
          <a:p>
            <a:pPr algn="ctr"/>
            <a:r>
              <a:rPr sz="1100" b="1" lang="en-GB">
                <a:solidFill>
                  <a:schemeClr val="tx2"/>
                </a:solidFill>
              </a:rPr>
              <a:t>Python</a:t>
            </a:r>
          </a:p>
        </p:txBody>
      </p:sp>
      <p:sp>
        <p:nvSpPr>
          <p:cNvPr id="15" name="Plan steps step 6"/>
          <p:cNvSpPr/>
          <p:nvPr/>
        </p:nvSpPr>
        <p:spPr>
          <a:xfrm>
            <a:off x="7223760" y="1234440"/>
            <a:ext cx="1463040" cy="548640"/>
          </a:xfrm>
          <a:prstGeom prst="chevron">
            <a:avLst>
              <a:gd name="adj" fmla="val 28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37744" rIns="128016" tIns="18288" bIns="18288"/>
          <a:lstStyle/>
          <a:p>
            <a:pPr algn="ctr"/>
            <a:r>
              <a:rPr sz="1100" b="1" lang="en-GB">
                <a:solidFill>
                  <a:schemeClr val="tx2"/>
                </a:solidFill>
              </a:rPr>
              <a:t>In class</a:t>
            </a:r>
          </a:p>
        </p:txBody>
      </p:sp>
      <p:sp>
        <p:nvSpPr>
          <p:cNvPr id="16" name="Theory card body"/>
          <p:cNvSpPr/>
          <p:nvPr/>
        </p:nvSpPr>
        <p:spPr>
          <a:xfrm>
            <a:off x="457200" y="2331720"/>
            <a:ext cx="4046220" cy="128016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heory card header"/>
          <p:cNvSpPr/>
          <p:nvPr/>
        </p:nvSpPr>
        <p:spPr>
          <a:xfrm>
            <a:off x="457200" y="1920240"/>
            <a:ext cx="4046220" cy="4114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heory card heading"/>
          <p:cNvSpPr txBox="1"/>
          <p:nvPr/>
        </p:nvSpPr>
        <p:spPr>
          <a:xfrm>
            <a:off x="594360" y="1920240"/>
            <a:ext cx="3360420" cy="411480"/>
          </a:xfrm>
          <a:prstGeom prst="rect">
            <a:avLst/>
          </a:prstGeom>
          <a:noFill/>
        </p:spPr>
        <p:txBody>
          <a:bodyPr wrap="square" lIns="0" rIns="0" tIns="0" bIns="0" anchor="ctr">
            <a:noAutofit/>
          </a:bodyPr>
          <a:lstStyle/>
          <a:p>
            <a:pPr algn="l">
              <a:spcAft>
                <a:spcPts val="400"/>
              </a:spcAft>
            </a:pPr>
            <a:r>
              <a:rPr sz="1500" b="1" lang="en-GB">
                <a:solidFill>
                  <a:schemeClr val="bg1"/>
                </a:solidFill>
                <a:latin typeface="+mj-lt"/>
              </a:rPr>
              <a:t>Theory, Parts 1 to 3</a:t>
            </a:r>
          </a:p>
        </p:txBody>
      </p:sp>
      <p:pic>
        <p:nvPicPr>
          <p:cNvPr id="19" name="Icon Theory card" descr=""/>
          <p:cNvPicPr>
            <a:picLocks noChangeAspect="1"/>
          </p:cNvPicPr>
          <p:nvPr/>
        </p:nvPicPr>
        <p:blipFill>
          <a:blip r:embed="rId3"/>
          <a:stretch>
            <a:fillRect/>
          </a:stretch>
        </p:blipFill>
        <p:spPr>
          <a:xfrm>
            <a:off x="4064508" y="1970532"/>
            <a:ext cx="310896" cy="310896"/>
          </a:xfrm>
          <a:prstGeom prst="rect">
            <a:avLst/>
          </a:prstGeom>
        </p:spPr>
      </p:pic>
      <p:sp>
        <p:nvSpPr>
          <p:cNvPr id="20" name="Theory card text"/>
          <p:cNvSpPr txBox="1"/>
          <p:nvPr/>
        </p:nvSpPr>
        <p:spPr>
          <a:xfrm>
            <a:off x="621792" y="2468880"/>
            <a:ext cx="3744468" cy="1005840"/>
          </a:xfrm>
          <a:prstGeom prst="rect">
            <a:avLst/>
          </a:prstGeom>
          <a:noFill/>
        </p:spPr>
        <p:txBody>
          <a:bodyPr wrap="square" lIns="0" rIns="0" tIns="0" bIns="0" anchor="t">
            <a:noAutofit/>
          </a:bodyPr>
          <a:lstStyle/>
          <a:p>
            <a:pPr algn="l" marL="182880" indent="-182880">
              <a:spcAft>
                <a:spcPts val="600"/>
              </a:spcAft>
              <a:buClr>
                <a:schemeClr val="accent1"/>
              </a:buClr>
              <a:buFont typeface="Arial"/>
              <a:buChar char="▪"/>
            </a:pPr>
            <a:r>
              <a:rPr sz="1300" b="0" lang="en-GB">
                <a:solidFill>
                  <a:schemeClr val="tx1"/>
                </a:solidFill>
              </a:rPr>
              <a:t>The model in one line, carryover, saturation, ROI</a:t>
            </a:r>
          </a:p>
          <a:p>
            <a:pPr algn="l" marL="182880" indent="-182880">
              <a:spcAft>
                <a:spcPts val="600"/>
              </a:spcAft>
              <a:buClr>
                <a:schemeClr val="accent1"/>
              </a:buClr>
              <a:buFont typeface="Arial"/>
              <a:buChar char="▪"/>
            </a:pPr>
            <a:r>
              <a:rPr sz="1300" b="0" lang="en-GB">
                <a:solidFill>
                  <a:schemeClr val="tx1"/>
                </a:solidFill>
              </a:rPr>
              <a:t>A small example by hand</a:t>
            </a:r>
          </a:p>
          <a:p>
            <a:pPr algn="l" marL="182880" indent="-182880">
              <a:spcAft>
                <a:spcPts val="600"/>
              </a:spcAft>
              <a:buClr>
                <a:schemeClr val="accent1"/>
              </a:buClr>
              <a:buFont typeface="Arial"/>
              <a:buChar char="▪"/>
            </a:pPr>
            <a:r>
              <a:rPr sz="1300" b="0" lang="en-GB">
                <a:solidFill>
                  <a:schemeClr val="tx1"/>
                </a:solidFill>
              </a:rPr>
              <a:t>PyMC-Marketing, Meridian, Robyn</a:t>
            </a:r>
          </a:p>
        </p:txBody>
      </p:sp>
      <p:sp>
        <p:nvSpPr>
          <p:cNvPr id="21" name="Practice card body"/>
          <p:cNvSpPr/>
          <p:nvPr/>
        </p:nvSpPr>
        <p:spPr>
          <a:xfrm>
            <a:off x="4640580" y="2331720"/>
            <a:ext cx="4046220" cy="128016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Practice card header"/>
          <p:cNvSpPr/>
          <p:nvPr/>
        </p:nvSpPr>
        <p:spPr>
          <a:xfrm>
            <a:off x="4640580" y="1920240"/>
            <a:ext cx="4046220" cy="4114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Practice card heading"/>
          <p:cNvSpPr txBox="1"/>
          <p:nvPr/>
        </p:nvSpPr>
        <p:spPr>
          <a:xfrm>
            <a:off x="4777740" y="1920240"/>
            <a:ext cx="3360420" cy="411480"/>
          </a:xfrm>
          <a:prstGeom prst="rect">
            <a:avLst/>
          </a:prstGeom>
          <a:noFill/>
        </p:spPr>
        <p:txBody>
          <a:bodyPr wrap="square" lIns="0" rIns="0" tIns="0" bIns="0" anchor="ctr">
            <a:noAutofit/>
          </a:bodyPr>
          <a:lstStyle/>
          <a:p>
            <a:pPr algn="l">
              <a:spcAft>
                <a:spcPts val="400"/>
              </a:spcAft>
            </a:pPr>
            <a:r>
              <a:rPr sz="1500" b="1" lang="en-GB">
                <a:solidFill>
                  <a:schemeClr val="bg1"/>
                </a:solidFill>
                <a:latin typeface="+mj-lt"/>
              </a:rPr>
              <a:t>Practice, Parts 4 to 6</a:t>
            </a:r>
          </a:p>
        </p:txBody>
      </p:sp>
      <p:pic>
        <p:nvPicPr>
          <p:cNvPr id="24" name="Icon Practice card" descr=""/>
          <p:cNvPicPr>
            <a:picLocks noChangeAspect="1"/>
          </p:cNvPicPr>
          <p:nvPr/>
        </p:nvPicPr>
        <p:blipFill>
          <a:blip r:embed="rId4"/>
          <a:stretch>
            <a:fillRect/>
          </a:stretch>
        </p:blipFill>
        <p:spPr>
          <a:xfrm>
            <a:off x="8247888" y="1970532"/>
            <a:ext cx="310896" cy="310896"/>
          </a:xfrm>
          <a:prstGeom prst="rect">
            <a:avLst/>
          </a:prstGeom>
        </p:spPr>
      </p:pic>
      <p:sp>
        <p:nvSpPr>
          <p:cNvPr id="25" name="Practice card text"/>
          <p:cNvSpPr txBox="1"/>
          <p:nvPr/>
        </p:nvSpPr>
        <p:spPr>
          <a:xfrm>
            <a:off x="4805172" y="2468880"/>
            <a:ext cx="3744468" cy="1005840"/>
          </a:xfrm>
          <a:prstGeom prst="rect">
            <a:avLst/>
          </a:prstGeom>
          <a:noFill/>
        </p:spPr>
        <p:txBody>
          <a:bodyPr wrap="square" lIns="0" rIns="0" tIns="0" bIns="0" anchor="t">
            <a:noAutofit/>
          </a:bodyPr>
          <a:lstStyle/>
          <a:p>
            <a:pPr algn="l" marL="182880" indent="-182880">
              <a:spcAft>
                <a:spcPts val="600"/>
              </a:spcAft>
              <a:buClr>
                <a:schemeClr val="accent1"/>
              </a:buClr>
              <a:buFont typeface="Arial"/>
              <a:buChar char="▪"/>
            </a:pPr>
            <a:r>
              <a:rPr sz="1300" b="0" lang="en-GB">
                <a:solidFill>
                  <a:schemeClr val="tx1"/>
                </a:solidFill>
              </a:rPr>
              <a:t>Real data: a sports web shop in Austria</a:t>
            </a:r>
          </a:p>
          <a:p>
            <a:pPr algn="l" marL="182880" indent="-182880">
              <a:spcAft>
                <a:spcPts val="600"/>
              </a:spcAft>
              <a:buClr>
                <a:schemeClr val="accent1"/>
              </a:buClr>
              <a:buFont typeface="Arial"/>
              <a:buChar char="▪"/>
            </a:pPr>
            <a:r>
              <a:rPr sz="1300" b="0" lang="en-GB">
                <a:solidFill>
                  <a:schemeClr val="tx1"/>
                </a:solidFill>
              </a:rPr>
              <a:t>Python: a code ladder in nine steps</a:t>
            </a:r>
          </a:p>
          <a:p>
            <a:pPr algn="l" marL="182880" indent="-182880">
              <a:spcAft>
                <a:spcPts val="600"/>
              </a:spcAft>
              <a:buClr>
                <a:schemeClr val="accent1"/>
              </a:buClr>
              <a:buFont typeface="Arial"/>
              <a:buChar char="▪"/>
            </a:pPr>
            <a:r>
              <a:rPr sz="1300" b="0" lang="en-GB">
                <a:solidFill>
                  <a:schemeClr val="tx1"/>
                </a:solidFill>
              </a:rPr>
              <a:t>Online quiz and an in-class assignment (no coding)</a:t>
            </a:r>
          </a:p>
        </p:txBody>
      </p:sp>
      <p:sp>
        <p:nvSpPr>
          <p:cNvPr id="26" name="Question box"/>
          <p:cNvSpPr/>
          <p:nvPr/>
        </p:nvSpPr>
        <p:spPr>
          <a:xfrm>
            <a:off x="457200" y="3749040"/>
            <a:ext cx="8229600" cy="54864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7" name="Icon Question" descr=""/>
          <p:cNvPicPr>
            <a:picLocks noChangeAspect="1"/>
          </p:cNvPicPr>
          <p:nvPr/>
        </p:nvPicPr>
        <p:blipFill>
          <a:blip r:embed="rId5"/>
          <a:stretch>
            <a:fillRect/>
          </a:stretch>
        </p:blipFill>
        <p:spPr>
          <a:xfrm>
            <a:off x="658368" y="3840480"/>
            <a:ext cx="365760" cy="365760"/>
          </a:xfrm>
          <a:prstGeom prst="rect">
            <a:avLst/>
          </a:prstGeom>
        </p:spPr>
      </p:pic>
      <p:sp>
        <p:nvSpPr>
          <p:cNvPr id="28" name="Question text"/>
          <p:cNvSpPr txBox="1"/>
          <p:nvPr/>
        </p:nvSpPr>
        <p:spPr>
          <a:xfrm>
            <a:off x="1207008" y="3749040"/>
            <a:ext cx="7315200" cy="548640"/>
          </a:xfrm>
          <a:prstGeom prst="rect">
            <a:avLst/>
          </a:prstGeom>
          <a:noFill/>
        </p:spPr>
        <p:txBody>
          <a:bodyPr wrap="square" lIns="0" rIns="0" tIns="0" bIns="0" anchor="ctr">
            <a:noAutofit/>
          </a:bodyPr>
          <a:lstStyle/>
          <a:p>
            <a:pPr algn="l">
              <a:spcAft>
                <a:spcPts val="400"/>
              </a:spcAft>
            </a:pPr>
            <a:r>
              <a:rPr sz="1300" b="1" lang="en-GB">
                <a:solidFill>
                  <a:schemeClr val="bg1"/>
                </a:solidFill>
              </a:rPr>
              <a:t>Question of the day: </a:t>
            </a:r>
            <a:r>
              <a:rPr sz="1300" b="0" lang="en-GB">
                <a:solidFill>
                  <a:schemeClr val="bg1"/>
                </a:solidFill>
              </a:rPr>
              <a:t>where should the next euro go, and how sure can we be?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Our example: where should the next euro go?</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Story band 1"/>
          <p:cNvSpPr/>
          <p:nvPr/>
        </p:nvSpPr>
        <p:spPr>
          <a:xfrm>
            <a:off x="457200" y="1234440"/>
            <a:ext cx="8229600" cy="51206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1" name="Icon Story 1" descr=""/>
          <p:cNvPicPr>
            <a:picLocks noChangeAspect="1"/>
          </p:cNvPicPr>
          <p:nvPr/>
        </p:nvPicPr>
        <p:blipFill>
          <a:blip r:embed="rId3"/>
          <a:stretch>
            <a:fillRect/>
          </a:stretch>
        </p:blipFill>
        <p:spPr>
          <a:xfrm>
            <a:off x="621792" y="1335024"/>
            <a:ext cx="310896" cy="310896"/>
          </a:xfrm>
          <a:prstGeom prst="rect">
            <a:avLst/>
          </a:prstGeom>
        </p:spPr>
      </p:pic>
      <p:sp>
        <p:nvSpPr>
          <p:cNvPr id="12" name="Story text 1"/>
          <p:cNvSpPr txBox="1"/>
          <p:nvPr/>
        </p:nvSpPr>
        <p:spPr>
          <a:xfrm>
            <a:off x="1115568" y="1234440"/>
            <a:ext cx="7452360" cy="512064"/>
          </a:xfrm>
          <a:prstGeom prst="rect">
            <a:avLst/>
          </a:prstGeom>
          <a:noFill/>
        </p:spPr>
        <p:txBody>
          <a:bodyPr wrap="square" lIns="0" rIns="0" tIns="0" bIns="0" anchor="ctr">
            <a:noAutofit/>
          </a:bodyPr>
          <a:lstStyle/>
          <a:p>
            <a:pPr algn="l">
              <a:spcAft>
                <a:spcPts val="400"/>
              </a:spcAft>
            </a:pPr>
            <a:r>
              <a:rPr sz="1300" b="1" lang="en-GB">
                <a:solidFill>
                  <a:schemeClr val="tx2"/>
                </a:solidFill>
              </a:rPr>
              <a:t>The problem: </a:t>
            </a:r>
            <a:r>
              <a:rPr sz="1300" b="0" lang="en-GB">
                <a:solidFill>
                  <a:schemeClr val="tx1"/>
                </a:solidFill>
              </a:rPr>
              <a:t>a brand spends on TV and online and must split next year's budget.</a:t>
            </a:r>
          </a:p>
        </p:txBody>
      </p:sp>
      <p:sp>
        <p:nvSpPr>
          <p:cNvPr id="13" name="Story band 2"/>
          <p:cNvSpPr/>
          <p:nvPr/>
        </p:nvSpPr>
        <p:spPr>
          <a:xfrm>
            <a:off x="457200" y="1883664"/>
            <a:ext cx="8229600" cy="51206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4" name="Icon Story 2" descr=""/>
          <p:cNvPicPr>
            <a:picLocks noChangeAspect="1"/>
          </p:cNvPicPr>
          <p:nvPr/>
        </p:nvPicPr>
        <p:blipFill>
          <a:blip r:embed="rId4"/>
          <a:stretch>
            <a:fillRect/>
          </a:stretch>
        </p:blipFill>
        <p:spPr>
          <a:xfrm>
            <a:off x="621792" y="1984248"/>
            <a:ext cx="310896" cy="310896"/>
          </a:xfrm>
          <a:prstGeom prst="rect">
            <a:avLst/>
          </a:prstGeom>
        </p:spPr>
      </p:pic>
      <p:sp>
        <p:nvSpPr>
          <p:cNvPr id="15" name="Story text 2"/>
          <p:cNvSpPr txBox="1"/>
          <p:nvPr/>
        </p:nvSpPr>
        <p:spPr>
          <a:xfrm>
            <a:off x="1115568" y="1883664"/>
            <a:ext cx="7452360" cy="512064"/>
          </a:xfrm>
          <a:prstGeom prst="rect">
            <a:avLst/>
          </a:prstGeom>
          <a:noFill/>
        </p:spPr>
        <p:txBody>
          <a:bodyPr wrap="square" lIns="0" rIns="0" tIns="0" bIns="0" anchor="ctr">
            <a:noAutofit/>
          </a:bodyPr>
          <a:lstStyle/>
          <a:p>
            <a:pPr algn="l">
              <a:spcAft>
                <a:spcPts val="400"/>
              </a:spcAft>
            </a:pPr>
            <a:r>
              <a:rPr sz="1300" b="1" lang="en-GB">
                <a:solidFill>
                  <a:schemeClr val="tx2"/>
                </a:solidFill>
              </a:rPr>
              <a:t>The question: </a:t>
            </a:r>
            <a:r>
              <a:rPr sz="1300" b="0" lang="en-GB">
                <a:solidFill>
                  <a:schemeClr val="tx1"/>
                </a:solidFill>
              </a:rPr>
              <a:t>what did each channel bring, and where should the next euro go?</a:t>
            </a:r>
          </a:p>
        </p:txBody>
      </p:sp>
      <p:sp>
        <p:nvSpPr>
          <p:cNvPr id="16" name="Job Measure tile"/>
          <p:cNvSpPr/>
          <p:nvPr/>
        </p:nvSpPr>
        <p:spPr>
          <a:xfrm>
            <a:off x="457200" y="2532888"/>
            <a:ext cx="2651760" cy="11430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 name="Icon Job Measure" descr=""/>
          <p:cNvPicPr>
            <a:picLocks noChangeAspect="1"/>
          </p:cNvPicPr>
          <p:nvPr/>
        </p:nvPicPr>
        <p:blipFill>
          <a:blip r:embed="rId5"/>
          <a:stretch>
            <a:fillRect/>
          </a:stretch>
        </p:blipFill>
        <p:spPr>
          <a:xfrm>
            <a:off x="594360" y="2670048"/>
            <a:ext cx="365760" cy="365760"/>
          </a:xfrm>
          <a:prstGeom prst="rect">
            <a:avLst/>
          </a:prstGeom>
        </p:spPr>
      </p:pic>
      <p:sp>
        <p:nvSpPr>
          <p:cNvPr id="18" name="Job Measure heading"/>
          <p:cNvSpPr txBox="1"/>
          <p:nvPr/>
        </p:nvSpPr>
        <p:spPr>
          <a:xfrm>
            <a:off x="1051560" y="2670048"/>
            <a:ext cx="1965960" cy="365760"/>
          </a:xfrm>
          <a:prstGeom prst="rect">
            <a:avLst/>
          </a:prstGeom>
          <a:noFill/>
        </p:spPr>
        <p:txBody>
          <a:bodyPr wrap="square" lIns="0" rIns="0" tIns="0" bIns="0" anchor="ctr">
            <a:noAutofit/>
          </a:bodyPr>
          <a:lstStyle/>
          <a:p>
            <a:pPr algn="l">
              <a:spcAft>
                <a:spcPts val="400"/>
              </a:spcAft>
            </a:pPr>
            <a:r>
              <a:rPr sz="1500" b="1" lang="en-GB">
                <a:solidFill>
                  <a:schemeClr val="tx2"/>
                </a:solidFill>
                <a:latin typeface="+mj-lt"/>
              </a:rPr>
              <a:t>Measure</a:t>
            </a:r>
          </a:p>
        </p:txBody>
      </p:sp>
      <p:sp>
        <p:nvSpPr>
          <p:cNvPr id="19" name="Job Measure text"/>
          <p:cNvSpPr txBox="1"/>
          <p:nvPr/>
        </p:nvSpPr>
        <p:spPr>
          <a:xfrm>
            <a:off x="594360" y="3154680"/>
            <a:ext cx="2377440" cy="457200"/>
          </a:xfrm>
          <a:prstGeom prst="rect">
            <a:avLst/>
          </a:prstGeom>
          <a:noFill/>
        </p:spPr>
        <p:txBody>
          <a:bodyPr wrap="square" lIns="0" rIns="0" tIns="0" bIns="0" anchor="t">
            <a:noAutofit/>
          </a:bodyPr>
          <a:lstStyle/>
          <a:p>
            <a:pPr algn="l">
              <a:spcAft>
                <a:spcPts val="400"/>
              </a:spcAft>
            </a:pPr>
            <a:r>
              <a:rPr sz="1200" b="0" lang="en-GB">
                <a:solidFill>
                  <a:schemeClr val="tx1"/>
                </a:solidFill>
              </a:rPr>
              <a:t>sales from each channel</a:t>
            </a:r>
          </a:p>
        </p:txBody>
      </p:sp>
      <p:sp>
        <p:nvSpPr>
          <p:cNvPr id="20" name="Job Explain tile"/>
          <p:cNvSpPr/>
          <p:nvPr/>
        </p:nvSpPr>
        <p:spPr>
          <a:xfrm>
            <a:off x="3246120" y="2532888"/>
            <a:ext cx="2651760" cy="11430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1" name="Icon Job Explain" descr=""/>
          <p:cNvPicPr>
            <a:picLocks noChangeAspect="1"/>
          </p:cNvPicPr>
          <p:nvPr/>
        </p:nvPicPr>
        <p:blipFill>
          <a:blip r:embed="rId6"/>
          <a:stretch>
            <a:fillRect/>
          </a:stretch>
        </p:blipFill>
        <p:spPr>
          <a:xfrm>
            <a:off x="3383280" y="2670048"/>
            <a:ext cx="365760" cy="365760"/>
          </a:xfrm>
          <a:prstGeom prst="rect">
            <a:avLst/>
          </a:prstGeom>
        </p:spPr>
      </p:pic>
      <p:sp>
        <p:nvSpPr>
          <p:cNvPr id="22" name="Job Explain heading"/>
          <p:cNvSpPr txBox="1"/>
          <p:nvPr/>
        </p:nvSpPr>
        <p:spPr>
          <a:xfrm>
            <a:off x="3840480" y="2670048"/>
            <a:ext cx="1965960" cy="365760"/>
          </a:xfrm>
          <a:prstGeom prst="rect">
            <a:avLst/>
          </a:prstGeom>
          <a:noFill/>
        </p:spPr>
        <p:txBody>
          <a:bodyPr wrap="square" lIns="0" rIns="0" tIns="0" bIns="0" anchor="ctr">
            <a:noAutofit/>
          </a:bodyPr>
          <a:lstStyle/>
          <a:p>
            <a:pPr algn="l">
              <a:spcAft>
                <a:spcPts val="400"/>
              </a:spcAft>
            </a:pPr>
            <a:r>
              <a:rPr sz="1500" b="1" lang="en-GB">
                <a:solidFill>
                  <a:schemeClr val="tx2"/>
                </a:solidFill>
                <a:latin typeface="+mj-lt"/>
              </a:rPr>
              <a:t>Explain</a:t>
            </a:r>
          </a:p>
        </p:txBody>
      </p:sp>
      <p:sp>
        <p:nvSpPr>
          <p:cNvPr id="23" name="Job Explain text"/>
          <p:cNvSpPr txBox="1"/>
          <p:nvPr/>
        </p:nvSpPr>
        <p:spPr>
          <a:xfrm>
            <a:off x="3383280" y="3154680"/>
            <a:ext cx="2377440" cy="457200"/>
          </a:xfrm>
          <a:prstGeom prst="rect">
            <a:avLst/>
          </a:prstGeom>
          <a:noFill/>
        </p:spPr>
        <p:txBody>
          <a:bodyPr wrap="square" lIns="0" rIns="0" tIns="0" bIns="0" anchor="t">
            <a:noAutofit/>
          </a:bodyPr>
          <a:lstStyle/>
          <a:p>
            <a:pPr algn="l">
              <a:spcAft>
                <a:spcPts val="400"/>
              </a:spcAft>
            </a:pPr>
            <a:r>
              <a:rPr sz="1200" b="0" lang="en-GB">
                <a:solidFill>
                  <a:schemeClr val="tx1"/>
                </a:solidFill>
              </a:rPr>
              <a:t>baseline vs media</a:t>
            </a:r>
          </a:p>
        </p:txBody>
      </p:sp>
      <p:sp>
        <p:nvSpPr>
          <p:cNvPr id="24" name="Job Plan tile"/>
          <p:cNvSpPr/>
          <p:nvPr/>
        </p:nvSpPr>
        <p:spPr>
          <a:xfrm>
            <a:off x="6035040" y="2532888"/>
            <a:ext cx="2651760" cy="11430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5" name="Icon Job Plan" descr=""/>
          <p:cNvPicPr>
            <a:picLocks noChangeAspect="1"/>
          </p:cNvPicPr>
          <p:nvPr/>
        </p:nvPicPr>
        <p:blipFill>
          <a:blip r:embed="rId7"/>
          <a:stretch>
            <a:fillRect/>
          </a:stretch>
        </p:blipFill>
        <p:spPr>
          <a:xfrm>
            <a:off x="6172200" y="2670048"/>
            <a:ext cx="365760" cy="365760"/>
          </a:xfrm>
          <a:prstGeom prst="rect">
            <a:avLst/>
          </a:prstGeom>
        </p:spPr>
      </p:pic>
      <p:sp>
        <p:nvSpPr>
          <p:cNvPr id="26" name="Job Plan heading"/>
          <p:cNvSpPr txBox="1"/>
          <p:nvPr/>
        </p:nvSpPr>
        <p:spPr>
          <a:xfrm>
            <a:off x="6629400" y="2670048"/>
            <a:ext cx="1965960" cy="365760"/>
          </a:xfrm>
          <a:prstGeom prst="rect">
            <a:avLst/>
          </a:prstGeom>
          <a:noFill/>
        </p:spPr>
        <p:txBody>
          <a:bodyPr wrap="square" lIns="0" rIns="0" tIns="0" bIns="0" anchor="ctr">
            <a:noAutofit/>
          </a:bodyPr>
          <a:lstStyle/>
          <a:p>
            <a:pPr algn="l">
              <a:spcAft>
                <a:spcPts val="400"/>
              </a:spcAft>
            </a:pPr>
            <a:r>
              <a:rPr sz="1500" b="1" lang="en-GB">
                <a:solidFill>
                  <a:schemeClr val="tx2"/>
                </a:solidFill>
                <a:latin typeface="+mj-lt"/>
              </a:rPr>
              <a:t>Plan</a:t>
            </a:r>
          </a:p>
        </p:txBody>
      </p:sp>
      <p:sp>
        <p:nvSpPr>
          <p:cNvPr id="27" name="Job Plan text"/>
          <p:cNvSpPr txBox="1"/>
          <p:nvPr/>
        </p:nvSpPr>
        <p:spPr>
          <a:xfrm>
            <a:off x="6172200" y="3154680"/>
            <a:ext cx="2377440" cy="457200"/>
          </a:xfrm>
          <a:prstGeom prst="rect">
            <a:avLst/>
          </a:prstGeom>
          <a:noFill/>
        </p:spPr>
        <p:txBody>
          <a:bodyPr wrap="square" lIns="0" rIns="0" tIns="0" bIns="0" anchor="t">
            <a:noAutofit/>
          </a:bodyPr>
          <a:lstStyle/>
          <a:p>
            <a:pPr algn="l">
              <a:spcAft>
                <a:spcPts val="400"/>
              </a:spcAft>
            </a:pPr>
            <a:r>
              <a:rPr sz="1200" b="0" lang="en-GB">
                <a:solidFill>
                  <a:schemeClr val="tx1"/>
                </a:solidFill>
              </a:rPr>
              <a:t>move budget to the best next euro</a:t>
            </a:r>
          </a:p>
        </p:txBody>
      </p:sp>
      <p:sp>
        <p:nvSpPr>
          <p:cNvPr id="28" name="Brand message box"/>
          <p:cNvSpPr/>
          <p:nvPr/>
        </p:nvSpPr>
        <p:spPr>
          <a:xfrm>
            <a:off x="457200" y="3813048"/>
            <a:ext cx="8229600" cy="59436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Brand message text"/>
          <p:cNvSpPr txBox="1"/>
          <p:nvPr/>
        </p:nvSpPr>
        <p:spPr>
          <a:xfrm>
            <a:off x="658368" y="3813048"/>
            <a:ext cx="7827264" cy="594360"/>
          </a:xfrm>
          <a:prstGeom prst="rect">
            <a:avLst/>
          </a:prstGeom>
          <a:noFill/>
        </p:spPr>
        <p:txBody>
          <a:bodyPr wrap="square" lIns="0" rIns="0" tIns="0" bIns="0" anchor="ctr">
            <a:noAutofit/>
          </a:bodyPr>
          <a:lstStyle/>
          <a:p>
            <a:pPr algn="l">
              <a:spcAft>
                <a:spcPts val="400"/>
              </a:spcAft>
            </a:pPr>
            <a:r>
              <a:rPr sz="1200" b="1" lang="en-GB">
                <a:solidFill>
                  <a:schemeClr val="bg1"/>
                </a:solidFill>
              </a:rPr>
              <a:t>A tiny coffee brand first: </a:t>
            </a:r>
            <a:r>
              <a:rPr sz="1200" b="0" lang="en-GB">
                <a:solidFill>
                  <a:schemeClr val="bg1"/>
                </a:solidFill>
              </a:rPr>
              <a:t>10 weeks, TV and online, by hand; a real web shop in Part 4.</a:t>
            </a:r>
          </a:p>
        </p:txBody>
      </p:sp>
      <p:sp>
        <p:nvSpPr>
          <p:cNvPr id="30" name="Sources"/>
          <p:cNvSpPr txBox="1"/>
          <p:nvPr/>
        </p:nvSpPr>
        <p:spPr>
          <a:xfrm>
            <a:off x="457200" y="4818888"/>
            <a:ext cx="8229600" cy="256032"/>
          </a:xfrm>
          <a:prstGeom prst="rect">
            <a:avLst/>
          </a:prstGeom>
          <a:noFill/>
        </p:spPr>
        <p:txBody>
          <a:bodyPr wrap="square" lIns="0" rIns="0" tIns="0" bIns="0" anchor="ctr">
            <a:noAutofit/>
          </a:bodyPr>
          <a:lstStyle/>
          <a:p>
            <a:pPr algn="l">
              <a:spcAft>
                <a:spcPts val="0"/>
              </a:spcAft>
            </a:pPr>
            <a:r>
              <a:rPr sz="1100" b="0" lang="en-GB">
                <a:solidFill>
                  <a:srgbClr val="595959"/>
                </a:solidFill>
              </a:rPr>
              <a:t>Invented round numbers (hand_example.csv)</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The data: ten weeks, one row per week</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Data label"/>
          <p:cNvSpPr txBox="1"/>
          <p:nvPr/>
        </p:nvSpPr>
        <p:spPr>
          <a:xfrm>
            <a:off x="457200" y="1234440"/>
            <a:ext cx="8229600" cy="329184"/>
          </a:xfrm>
          <a:prstGeom prst="rect">
            <a:avLst/>
          </a:prstGeom>
          <a:noFill/>
        </p:spPr>
        <p:txBody>
          <a:bodyPr wrap="square" lIns="0" rIns="0" tIns="0" bIns="0" anchor="ctr">
            <a:noAutofit/>
          </a:bodyPr>
          <a:lstStyle/>
          <a:p>
            <a:pPr algn="l">
              <a:spcAft>
                <a:spcPts val="400"/>
              </a:spcAft>
            </a:pPr>
            <a:r>
              <a:rPr sz="1500" b="1" lang="en-GB">
                <a:solidFill>
                  <a:schemeClr val="tx2"/>
                </a:solidFill>
                <a:latin typeface="+mj-lt"/>
              </a:rPr>
              <a:t>Coffee brand: spend and sales per week, k EUR</a:t>
            </a:r>
          </a:p>
        </p:txBody>
      </p:sp>
      <p:sp>
        <p:nvSpPr>
          <p:cNvPr id="11" name="Data grid 1-1"/>
          <p:cNvSpPr/>
          <p:nvPr/>
        </p:nvSpPr>
        <p:spPr>
          <a:xfrm>
            <a:off x="457200" y="1572768"/>
            <a:ext cx="795528" cy="29260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Data grid text 1-1"/>
          <p:cNvSpPr txBox="1"/>
          <p:nvPr/>
        </p:nvSpPr>
        <p:spPr>
          <a:xfrm>
            <a:off x="548640" y="1572768"/>
            <a:ext cx="612648" cy="292608"/>
          </a:xfrm>
          <a:prstGeom prst="rect">
            <a:avLst/>
          </a:prstGeom>
          <a:noFill/>
        </p:spPr>
        <p:txBody>
          <a:bodyPr wrap="square" lIns="0" rIns="0" tIns="0" bIns="0" anchor="ctr">
            <a:noAutofit/>
          </a:bodyPr>
          <a:lstStyle/>
          <a:p>
            <a:pPr algn="l">
              <a:spcAft>
                <a:spcPts val="400"/>
              </a:spcAft>
            </a:pPr>
            <a:r>
              <a:rPr sz="1150" b="1" lang="en-GB">
                <a:solidFill>
                  <a:schemeClr val="bg1"/>
                </a:solidFill>
              </a:rPr>
              <a:t>Week</a:t>
            </a:r>
          </a:p>
        </p:txBody>
      </p:sp>
      <p:sp>
        <p:nvSpPr>
          <p:cNvPr id="13" name="Data grid 1-2"/>
          <p:cNvSpPr/>
          <p:nvPr/>
        </p:nvSpPr>
        <p:spPr>
          <a:xfrm>
            <a:off x="1280160" y="1572768"/>
            <a:ext cx="713232" cy="29260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Data grid text 1-2"/>
          <p:cNvSpPr txBox="1"/>
          <p:nvPr/>
        </p:nvSpPr>
        <p:spPr>
          <a:xfrm>
            <a:off x="1298448" y="1572768"/>
            <a:ext cx="603504" cy="292608"/>
          </a:xfrm>
          <a:prstGeom prst="rect">
            <a:avLst/>
          </a:prstGeom>
          <a:noFill/>
        </p:spPr>
        <p:txBody>
          <a:bodyPr wrap="square" lIns="0" rIns="0" tIns="0" bIns="0" anchor="ctr">
            <a:noAutofit/>
          </a:bodyPr>
          <a:lstStyle/>
          <a:p>
            <a:pPr algn="r">
              <a:spcAft>
                <a:spcPts val="400"/>
              </a:spcAft>
            </a:pPr>
            <a:r>
              <a:rPr sz="1150" b="1" lang="en-GB">
                <a:solidFill>
                  <a:schemeClr val="bg1"/>
                </a:solidFill>
              </a:rPr>
              <a:t>1</a:t>
            </a:r>
          </a:p>
        </p:txBody>
      </p:sp>
      <p:sp>
        <p:nvSpPr>
          <p:cNvPr id="15" name="Data grid 1-3"/>
          <p:cNvSpPr/>
          <p:nvPr/>
        </p:nvSpPr>
        <p:spPr>
          <a:xfrm>
            <a:off x="2020824" y="1572768"/>
            <a:ext cx="713232" cy="29260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Data grid text 1-3"/>
          <p:cNvSpPr txBox="1"/>
          <p:nvPr/>
        </p:nvSpPr>
        <p:spPr>
          <a:xfrm>
            <a:off x="2039112" y="1572768"/>
            <a:ext cx="603504" cy="292608"/>
          </a:xfrm>
          <a:prstGeom prst="rect">
            <a:avLst/>
          </a:prstGeom>
          <a:noFill/>
        </p:spPr>
        <p:txBody>
          <a:bodyPr wrap="square" lIns="0" rIns="0" tIns="0" bIns="0" anchor="ctr">
            <a:noAutofit/>
          </a:bodyPr>
          <a:lstStyle/>
          <a:p>
            <a:pPr algn="r">
              <a:spcAft>
                <a:spcPts val="400"/>
              </a:spcAft>
            </a:pPr>
            <a:r>
              <a:rPr sz="1150" b="1" lang="en-GB">
                <a:solidFill>
                  <a:schemeClr val="bg1"/>
                </a:solidFill>
              </a:rPr>
              <a:t>2</a:t>
            </a:r>
          </a:p>
        </p:txBody>
      </p:sp>
      <p:sp>
        <p:nvSpPr>
          <p:cNvPr id="17" name="Data grid 1-4"/>
          <p:cNvSpPr/>
          <p:nvPr/>
        </p:nvSpPr>
        <p:spPr>
          <a:xfrm>
            <a:off x="2761488" y="1572768"/>
            <a:ext cx="713232" cy="29260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Data grid text 1-4"/>
          <p:cNvSpPr txBox="1"/>
          <p:nvPr/>
        </p:nvSpPr>
        <p:spPr>
          <a:xfrm>
            <a:off x="2779776" y="1572768"/>
            <a:ext cx="603504" cy="292608"/>
          </a:xfrm>
          <a:prstGeom prst="rect">
            <a:avLst/>
          </a:prstGeom>
          <a:noFill/>
        </p:spPr>
        <p:txBody>
          <a:bodyPr wrap="square" lIns="0" rIns="0" tIns="0" bIns="0" anchor="ctr">
            <a:noAutofit/>
          </a:bodyPr>
          <a:lstStyle/>
          <a:p>
            <a:pPr algn="r">
              <a:spcAft>
                <a:spcPts val="400"/>
              </a:spcAft>
            </a:pPr>
            <a:r>
              <a:rPr sz="1150" b="1" lang="en-GB">
                <a:solidFill>
                  <a:schemeClr val="bg1"/>
                </a:solidFill>
              </a:rPr>
              <a:t>3</a:t>
            </a:r>
          </a:p>
        </p:txBody>
      </p:sp>
      <p:sp>
        <p:nvSpPr>
          <p:cNvPr id="19" name="Data grid 1-5"/>
          <p:cNvSpPr/>
          <p:nvPr/>
        </p:nvSpPr>
        <p:spPr>
          <a:xfrm>
            <a:off x="3502152" y="1572768"/>
            <a:ext cx="713232" cy="29260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Data grid text 1-5"/>
          <p:cNvSpPr txBox="1"/>
          <p:nvPr/>
        </p:nvSpPr>
        <p:spPr>
          <a:xfrm>
            <a:off x="3520440" y="1572768"/>
            <a:ext cx="603504" cy="292608"/>
          </a:xfrm>
          <a:prstGeom prst="rect">
            <a:avLst/>
          </a:prstGeom>
          <a:noFill/>
        </p:spPr>
        <p:txBody>
          <a:bodyPr wrap="square" lIns="0" rIns="0" tIns="0" bIns="0" anchor="ctr">
            <a:noAutofit/>
          </a:bodyPr>
          <a:lstStyle/>
          <a:p>
            <a:pPr algn="r">
              <a:spcAft>
                <a:spcPts val="400"/>
              </a:spcAft>
            </a:pPr>
            <a:r>
              <a:rPr sz="1150" b="1" lang="en-GB">
                <a:solidFill>
                  <a:schemeClr val="bg1"/>
                </a:solidFill>
              </a:rPr>
              <a:t>4</a:t>
            </a:r>
          </a:p>
        </p:txBody>
      </p:sp>
      <p:sp>
        <p:nvSpPr>
          <p:cNvPr id="21" name="Data grid 1-6"/>
          <p:cNvSpPr/>
          <p:nvPr/>
        </p:nvSpPr>
        <p:spPr>
          <a:xfrm>
            <a:off x="4242816" y="1572768"/>
            <a:ext cx="713232" cy="29260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Data grid text 1-6"/>
          <p:cNvSpPr txBox="1"/>
          <p:nvPr/>
        </p:nvSpPr>
        <p:spPr>
          <a:xfrm>
            <a:off x="4261104" y="1572768"/>
            <a:ext cx="603504" cy="292608"/>
          </a:xfrm>
          <a:prstGeom prst="rect">
            <a:avLst/>
          </a:prstGeom>
          <a:noFill/>
        </p:spPr>
        <p:txBody>
          <a:bodyPr wrap="square" lIns="0" rIns="0" tIns="0" bIns="0" anchor="ctr">
            <a:noAutofit/>
          </a:bodyPr>
          <a:lstStyle/>
          <a:p>
            <a:pPr algn="r">
              <a:spcAft>
                <a:spcPts val="400"/>
              </a:spcAft>
            </a:pPr>
            <a:r>
              <a:rPr sz="1150" b="1" lang="en-GB">
                <a:solidFill>
                  <a:schemeClr val="bg1"/>
                </a:solidFill>
              </a:rPr>
              <a:t>5</a:t>
            </a:r>
          </a:p>
        </p:txBody>
      </p:sp>
      <p:sp>
        <p:nvSpPr>
          <p:cNvPr id="23" name="Data grid 1-7"/>
          <p:cNvSpPr/>
          <p:nvPr/>
        </p:nvSpPr>
        <p:spPr>
          <a:xfrm>
            <a:off x="4983480" y="1572768"/>
            <a:ext cx="713232" cy="29260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Data grid text 1-7"/>
          <p:cNvSpPr txBox="1"/>
          <p:nvPr/>
        </p:nvSpPr>
        <p:spPr>
          <a:xfrm>
            <a:off x="5001768" y="1572768"/>
            <a:ext cx="603504" cy="292608"/>
          </a:xfrm>
          <a:prstGeom prst="rect">
            <a:avLst/>
          </a:prstGeom>
          <a:noFill/>
        </p:spPr>
        <p:txBody>
          <a:bodyPr wrap="square" lIns="0" rIns="0" tIns="0" bIns="0" anchor="ctr">
            <a:noAutofit/>
          </a:bodyPr>
          <a:lstStyle/>
          <a:p>
            <a:pPr algn="r">
              <a:spcAft>
                <a:spcPts val="400"/>
              </a:spcAft>
            </a:pPr>
            <a:r>
              <a:rPr sz="1150" b="1" lang="en-GB">
                <a:solidFill>
                  <a:schemeClr val="bg1"/>
                </a:solidFill>
              </a:rPr>
              <a:t>6</a:t>
            </a:r>
          </a:p>
        </p:txBody>
      </p:sp>
      <p:sp>
        <p:nvSpPr>
          <p:cNvPr id="25" name="Data grid 1-8"/>
          <p:cNvSpPr/>
          <p:nvPr/>
        </p:nvSpPr>
        <p:spPr>
          <a:xfrm>
            <a:off x="5724144" y="1572768"/>
            <a:ext cx="713232" cy="29260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Data grid text 1-8"/>
          <p:cNvSpPr txBox="1"/>
          <p:nvPr/>
        </p:nvSpPr>
        <p:spPr>
          <a:xfrm>
            <a:off x="5742432" y="1572768"/>
            <a:ext cx="603504" cy="292608"/>
          </a:xfrm>
          <a:prstGeom prst="rect">
            <a:avLst/>
          </a:prstGeom>
          <a:noFill/>
        </p:spPr>
        <p:txBody>
          <a:bodyPr wrap="square" lIns="0" rIns="0" tIns="0" bIns="0" anchor="ctr">
            <a:noAutofit/>
          </a:bodyPr>
          <a:lstStyle/>
          <a:p>
            <a:pPr algn="r">
              <a:spcAft>
                <a:spcPts val="400"/>
              </a:spcAft>
            </a:pPr>
            <a:r>
              <a:rPr sz="1150" b="1" lang="en-GB">
                <a:solidFill>
                  <a:schemeClr val="bg1"/>
                </a:solidFill>
              </a:rPr>
              <a:t>7</a:t>
            </a:r>
          </a:p>
        </p:txBody>
      </p:sp>
      <p:sp>
        <p:nvSpPr>
          <p:cNvPr id="27" name="Data grid 1-9"/>
          <p:cNvSpPr/>
          <p:nvPr/>
        </p:nvSpPr>
        <p:spPr>
          <a:xfrm>
            <a:off x="6464808" y="1572768"/>
            <a:ext cx="713232" cy="29260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Data grid text 1-9"/>
          <p:cNvSpPr txBox="1"/>
          <p:nvPr/>
        </p:nvSpPr>
        <p:spPr>
          <a:xfrm>
            <a:off x="6483096" y="1572768"/>
            <a:ext cx="603504" cy="292608"/>
          </a:xfrm>
          <a:prstGeom prst="rect">
            <a:avLst/>
          </a:prstGeom>
          <a:noFill/>
        </p:spPr>
        <p:txBody>
          <a:bodyPr wrap="square" lIns="0" rIns="0" tIns="0" bIns="0" anchor="ctr">
            <a:noAutofit/>
          </a:bodyPr>
          <a:lstStyle/>
          <a:p>
            <a:pPr algn="r">
              <a:spcAft>
                <a:spcPts val="400"/>
              </a:spcAft>
            </a:pPr>
            <a:r>
              <a:rPr sz="1150" b="1" lang="en-GB">
                <a:solidFill>
                  <a:schemeClr val="bg1"/>
                </a:solidFill>
              </a:rPr>
              <a:t>8</a:t>
            </a:r>
          </a:p>
        </p:txBody>
      </p:sp>
      <p:sp>
        <p:nvSpPr>
          <p:cNvPr id="29" name="Data grid 1-10"/>
          <p:cNvSpPr/>
          <p:nvPr/>
        </p:nvSpPr>
        <p:spPr>
          <a:xfrm>
            <a:off x="7205472" y="1572768"/>
            <a:ext cx="713232" cy="29260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Data grid text 1-10"/>
          <p:cNvSpPr txBox="1"/>
          <p:nvPr/>
        </p:nvSpPr>
        <p:spPr>
          <a:xfrm>
            <a:off x="7223760" y="1572768"/>
            <a:ext cx="603504" cy="292608"/>
          </a:xfrm>
          <a:prstGeom prst="rect">
            <a:avLst/>
          </a:prstGeom>
          <a:noFill/>
        </p:spPr>
        <p:txBody>
          <a:bodyPr wrap="square" lIns="0" rIns="0" tIns="0" bIns="0" anchor="ctr">
            <a:noAutofit/>
          </a:bodyPr>
          <a:lstStyle/>
          <a:p>
            <a:pPr algn="r">
              <a:spcAft>
                <a:spcPts val="400"/>
              </a:spcAft>
            </a:pPr>
            <a:r>
              <a:rPr sz="1150" b="1" lang="en-GB">
                <a:solidFill>
                  <a:schemeClr val="bg1"/>
                </a:solidFill>
              </a:rPr>
              <a:t>9</a:t>
            </a:r>
          </a:p>
        </p:txBody>
      </p:sp>
      <p:sp>
        <p:nvSpPr>
          <p:cNvPr id="31" name="Data grid 1-11"/>
          <p:cNvSpPr/>
          <p:nvPr/>
        </p:nvSpPr>
        <p:spPr>
          <a:xfrm>
            <a:off x="7946136" y="1572768"/>
            <a:ext cx="740664" cy="29260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Data grid text 1-11"/>
          <p:cNvSpPr txBox="1"/>
          <p:nvPr/>
        </p:nvSpPr>
        <p:spPr>
          <a:xfrm>
            <a:off x="7964424" y="1572768"/>
            <a:ext cx="603504" cy="292608"/>
          </a:xfrm>
          <a:prstGeom prst="rect">
            <a:avLst/>
          </a:prstGeom>
          <a:noFill/>
        </p:spPr>
        <p:txBody>
          <a:bodyPr wrap="square" lIns="0" rIns="0" tIns="0" bIns="0" anchor="ctr">
            <a:noAutofit/>
          </a:bodyPr>
          <a:lstStyle/>
          <a:p>
            <a:pPr algn="r">
              <a:spcAft>
                <a:spcPts val="400"/>
              </a:spcAft>
            </a:pPr>
            <a:r>
              <a:rPr sz="1150" b="1" lang="en-GB">
                <a:solidFill>
                  <a:schemeClr val="bg1"/>
                </a:solidFill>
              </a:rPr>
              <a:t>10</a:t>
            </a:r>
          </a:p>
        </p:txBody>
      </p:sp>
      <p:sp>
        <p:nvSpPr>
          <p:cNvPr id="33" name="Data grid 2-1"/>
          <p:cNvSpPr/>
          <p:nvPr/>
        </p:nvSpPr>
        <p:spPr>
          <a:xfrm>
            <a:off x="457200" y="1892808"/>
            <a:ext cx="795528" cy="29260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Data grid text 2-1"/>
          <p:cNvSpPr txBox="1"/>
          <p:nvPr/>
        </p:nvSpPr>
        <p:spPr>
          <a:xfrm>
            <a:off x="548640" y="1892808"/>
            <a:ext cx="612648" cy="292608"/>
          </a:xfrm>
          <a:prstGeom prst="rect">
            <a:avLst/>
          </a:prstGeom>
          <a:noFill/>
        </p:spPr>
        <p:txBody>
          <a:bodyPr wrap="square" lIns="0" rIns="0" tIns="0" bIns="0" anchor="ctr">
            <a:noAutofit/>
          </a:bodyPr>
          <a:lstStyle/>
          <a:p>
            <a:pPr algn="l">
              <a:spcAft>
                <a:spcPts val="400"/>
              </a:spcAft>
            </a:pPr>
            <a:r>
              <a:rPr sz="1150" b="1" lang="en-GB">
                <a:solidFill>
                  <a:schemeClr val="tx2"/>
                </a:solidFill>
              </a:rPr>
              <a:t>TV</a:t>
            </a:r>
          </a:p>
        </p:txBody>
      </p:sp>
      <p:sp>
        <p:nvSpPr>
          <p:cNvPr id="35" name="Data grid 2-2"/>
          <p:cNvSpPr/>
          <p:nvPr/>
        </p:nvSpPr>
        <p:spPr>
          <a:xfrm>
            <a:off x="1280160" y="1892808"/>
            <a:ext cx="713232" cy="29260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Data grid text 2-2"/>
          <p:cNvSpPr txBox="1"/>
          <p:nvPr/>
        </p:nvSpPr>
        <p:spPr>
          <a:xfrm>
            <a:off x="1298448" y="1892808"/>
            <a:ext cx="603504" cy="292608"/>
          </a:xfrm>
          <a:prstGeom prst="rect">
            <a:avLst/>
          </a:prstGeom>
          <a:noFill/>
        </p:spPr>
        <p:txBody>
          <a:bodyPr wrap="square" lIns="0" rIns="0" tIns="0" bIns="0" anchor="ctr">
            <a:noAutofit/>
          </a:bodyPr>
          <a:lstStyle/>
          <a:p>
            <a:pPr algn="r">
              <a:spcAft>
                <a:spcPts val="400"/>
              </a:spcAft>
            </a:pPr>
            <a:r>
              <a:rPr sz="1150" b="0" lang="en-GB">
                <a:solidFill>
                  <a:schemeClr val="tx1"/>
                </a:solidFill>
              </a:rPr>
              <a:t>0</a:t>
            </a:r>
          </a:p>
        </p:txBody>
      </p:sp>
      <p:sp>
        <p:nvSpPr>
          <p:cNvPr id="37" name="Data grid 2-3"/>
          <p:cNvSpPr/>
          <p:nvPr/>
        </p:nvSpPr>
        <p:spPr>
          <a:xfrm>
            <a:off x="2020824" y="1892808"/>
            <a:ext cx="713232" cy="29260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Data grid text 2-3"/>
          <p:cNvSpPr txBox="1"/>
          <p:nvPr/>
        </p:nvSpPr>
        <p:spPr>
          <a:xfrm>
            <a:off x="2039112" y="1892808"/>
            <a:ext cx="603504" cy="292608"/>
          </a:xfrm>
          <a:prstGeom prst="rect">
            <a:avLst/>
          </a:prstGeom>
          <a:noFill/>
        </p:spPr>
        <p:txBody>
          <a:bodyPr wrap="square" lIns="0" rIns="0" tIns="0" bIns="0" anchor="ctr">
            <a:noAutofit/>
          </a:bodyPr>
          <a:lstStyle/>
          <a:p>
            <a:pPr algn="r">
              <a:spcAft>
                <a:spcPts val="400"/>
              </a:spcAft>
            </a:pPr>
            <a:r>
              <a:rPr sz="1150" b="0" lang="en-GB">
                <a:solidFill>
                  <a:schemeClr val="tx1"/>
                </a:solidFill>
              </a:rPr>
              <a:t>0</a:t>
            </a:r>
          </a:p>
        </p:txBody>
      </p:sp>
      <p:sp>
        <p:nvSpPr>
          <p:cNvPr id="39" name="Data grid 2-4"/>
          <p:cNvSpPr/>
          <p:nvPr/>
        </p:nvSpPr>
        <p:spPr>
          <a:xfrm>
            <a:off x="2761488" y="1892808"/>
            <a:ext cx="713232" cy="29260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Data grid text 2-4"/>
          <p:cNvSpPr txBox="1"/>
          <p:nvPr/>
        </p:nvSpPr>
        <p:spPr>
          <a:xfrm>
            <a:off x="2779776" y="1892808"/>
            <a:ext cx="603504" cy="292608"/>
          </a:xfrm>
          <a:prstGeom prst="rect">
            <a:avLst/>
          </a:prstGeom>
          <a:noFill/>
        </p:spPr>
        <p:txBody>
          <a:bodyPr wrap="square" lIns="0" rIns="0" tIns="0" bIns="0" anchor="ctr">
            <a:noAutofit/>
          </a:bodyPr>
          <a:lstStyle/>
          <a:p>
            <a:pPr algn="r">
              <a:spcAft>
                <a:spcPts val="400"/>
              </a:spcAft>
            </a:pPr>
            <a:r>
              <a:rPr sz="1150" b="0" lang="en-GB">
                <a:solidFill>
                  <a:schemeClr val="tx1"/>
                </a:solidFill>
              </a:rPr>
              <a:t>16</a:t>
            </a:r>
          </a:p>
        </p:txBody>
      </p:sp>
      <p:sp>
        <p:nvSpPr>
          <p:cNvPr id="41" name="Data grid 2-5"/>
          <p:cNvSpPr/>
          <p:nvPr/>
        </p:nvSpPr>
        <p:spPr>
          <a:xfrm>
            <a:off x="3502152" y="1892808"/>
            <a:ext cx="713232" cy="29260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Data grid text 2-5"/>
          <p:cNvSpPr txBox="1"/>
          <p:nvPr/>
        </p:nvSpPr>
        <p:spPr>
          <a:xfrm>
            <a:off x="3520440" y="1892808"/>
            <a:ext cx="603504" cy="292608"/>
          </a:xfrm>
          <a:prstGeom prst="rect">
            <a:avLst/>
          </a:prstGeom>
          <a:noFill/>
        </p:spPr>
        <p:txBody>
          <a:bodyPr wrap="square" lIns="0" rIns="0" tIns="0" bIns="0" anchor="ctr">
            <a:noAutofit/>
          </a:bodyPr>
          <a:lstStyle/>
          <a:p>
            <a:pPr algn="r">
              <a:spcAft>
                <a:spcPts val="400"/>
              </a:spcAft>
            </a:pPr>
            <a:r>
              <a:rPr sz="1150" b="0" lang="en-GB">
                <a:solidFill>
                  <a:schemeClr val="tx1"/>
                </a:solidFill>
              </a:rPr>
              <a:t>8</a:t>
            </a:r>
          </a:p>
        </p:txBody>
      </p:sp>
      <p:sp>
        <p:nvSpPr>
          <p:cNvPr id="43" name="Data grid 2-6"/>
          <p:cNvSpPr/>
          <p:nvPr/>
        </p:nvSpPr>
        <p:spPr>
          <a:xfrm>
            <a:off x="4242816" y="1892808"/>
            <a:ext cx="713232" cy="29260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Data grid text 2-6"/>
          <p:cNvSpPr txBox="1"/>
          <p:nvPr/>
        </p:nvSpPr>
        <p:spPr>
          <a:xfrm>
            <a:off x="4261104" y="1892808"/>
            <a:ext cx="603504" cy="292608"/>
          </a:xfrm>
          <a:prstGeom prst="rect">
            <a:avLst/>
          </a:prstGeom>
          <a:noFill/>
        </p:spPr>
        <p:txBody>
          <a:bodyPr wrap="square" lIns="0" rIns="0" tIns="0" bIns="0" anchor="ctr">
            <a:noAutofit/>
          </a:bodyPr>
          <a:lstStyle/>
          <a:p>
            <a:pPr algn="r">
              <a:spcAft>
                <a:spcPts val="400"/>
              </a:spcAft>
            </a:pPr>
            <a:r>
              <a:rPr sz="1150" b="0" lang="en-GB">
                <a:solidFill>
                  <a:schemeClr val="tx1"/>
                </a:solidFill>
              </a:rPr>
              <a:t>0</a:t>
            </a:r>
          </a:p>
        </p:txBody>
      </p:sp>
      <p:sp>
        <p:nvSpPr>
          <p:cNvPr id="45" name="Data grid 2-7"/>
          <p:cNvSpPr/>
          <p:nvPr/>
        </p:nvSpPr>
        <p:spPr>
          <a:xfrm>
            <a:off x="4983480" y="1892808"/>
            <a:ext cx="713232" cy="29260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6" name="Data grid text 2-7"/>
          <p:cNvSpPr txBox="1"/>
          <p:nvPr/>
        </p:nvSpPr>
        <p:spPr>
          <a:xfrm>
            <a:off x="5001768" y="1892808"/>
            <a:ext cx="603504" cy="292608"/>
          </a:xfrm>
          <a:prstGeom prst="rect">
            <a:avLst/>
          </a:prstGeom>
          <a:noFill/>
        </p:spPr>
        <p:txBody>
          <a:bodyPr wrap="square" lIns="0" rIns="0" tIns="0" bIns="0" anchor="ctr">
            <a:noAutofit/>
          </a:bodyPr>
          <a:lstStyle/>
          <a:p>
            <a:pPr algn="r">
              <a:spcAft>
                <a:spcPts val="400"/>
              </a:spcAft>
            </a:pPr>
            <a:r>
              <a:rPr sz="1150" b="0" lang="en-GB">
                <a:solidFill>
                  <a:schemeClr val="tx1"/>
                </a:solidFill>
              </a:rPr>
              <a:t>0</a:t>
            </a:r>
          </a:p>
        </p:txBody>
      </p:sp>
      <p:sp>
        <p:nvSpPr>
          <p:cNvPr id="47" name="Data grid 2-8"/>
          <p:cNvSpPr/>
          <p:nvPr/>
        </p:nvSpPr>
        <p:spPr>
          <a:xfrm>
            <a:off x="5724144" y="1892808"/>
            <a:ext cx="713232" cy="29260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 name="Data grid text 2-8"/>
          <p:cNvSpPr txBox="1"/>
          <p:nvPr/>
        </p:nvSpPr>
        <p:spPr>
          <a:xfrm>
            <a:off x="5742432" y="1892808"/>
            <a:ext cx="603504" cy="292608"/>
          </a:xfrm>
          <a:prstGeom prst="rect">
            <a:avLst/>
          </a:prstGeom>
          <a:noFill/>
        </p:spPr>
        <p:txBody>
          <a:bodyPr wrap="square" lIns="0" rIns="0" tIns="0" bIns="0" anchor="ctr">
            <a:noAutofit/>
          </a:bodyPr>
          <a:lstStyle/>
          <a:p>
            <a:pPr algn="r">
              <a:spcAft>
                <a:spcPts val="400"/>
              </a:spcAft>
            </a:pPr>
            <a:r>
              <a:rPr sz="1150" b="0" lang="en-GB">
                <a:solidFill>
                  <a:schemeClr val="tx1"/>
                </a:solidFill>
              </a:rPr>
              <a:t>0</a:t>
            </a:r>
          </a:p>
        </p:txBody>
      </p:sp>
      <p:sp>
        <p:nvSpPr>
          <p:cNvPr id="49" name="Data grid 2-9"/>
          <p:cNvSpPr/>
          <p:nvPr/>
        </p:nvSpPr>
        <p:spPr>
          <a:xfrm>
            <a:off x="6464808" y="1892808"/>
            <a:ext cx="713232" cy="29260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0" name="Data grid text 2-9"/>
          <p:cNvSpPr txBox="1"/>
          <p:nvPr/>
        </p:nvSpPr>
        <p:spPr>
          <a:xfrm>
            <a:off x="6483096" y="1892808"/>
            <a:ext cx="603504" cy="292608"/>
          </a:xfrm>
          <a:prstGeom prst="rect">
            <a:avLst/>
          </a:prstGeom>
          <a:noFill/>
        </p:spPr>
        <p:txBody>
          <a:bodyPr wrap="square" lIns="0" rIns="0" tIns="0" bIns="0" anchor="ctr">
            <a:noAutofit/>
          </a:bodyPr>
          <a:lstStyle/>
          <a:p>
            <a:pPr algn="r">
              <a:spcAft>
                <a:spcPts val="400"/>
              </a:spcAft>
            </a:pPr>
            <a:r>
              <a:rPr sz="1150" b="0" lang="en-GB">
                <a:solidFill>
                  <a:schemeClr val="tx1"/>
                </a:solidFill>
              </a:rPr>
              <a:t>0</a:t>
            </a:r>
          </a:p>
        </p:txBody>
      </p:sp>
      <p:sp>
        <p:nvSpPr>
          <p:cNvPr id="51" name="Data grid 2-10"/>
          <p:cNvSpPr/>
          <p:nvPr/>
        </p:nvSpPr>
        <p:spPr>
          <a:xfrm>
            <a:off x="7205472" y="1892808"/>
            <a:ext cx="713232" cy="29260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2" name="Data grid text 2-10"/>
          <p:cNvSpPr txBox="1"/>
          <p:nvPr/>
        </p:nvSpPr>
        <p:spPr>
          <a:xfrm>
            <a:off x="7223760" y="1892808"/>
            <a:ext cx="603504" cy="292608"/>
          </a:xfrm>
          <a:prstGeom prst="rect">
            <a:avLst/>
          </a:prstGeom>
          <a:noFill/>
        </p:spPr>
        <p:txBody>
          <a:bodyPr wrap="square" lIns="0" rIns="0" tIns="0" bIns="0" anchor="ctr">
            <a:noAutofit/>
          </a:bodyPr>
          <a:lstStyle/>
          <a:p>
            <a:pPr algn="r">
              <a:spcAft>
                <a:spcPts val="400"/>
              </a:spcAft>
            </a:pPr>
            <a:r>
              <a:rPr sz="1150" b="0" lang="en-GB">
                <a:solidFill>
                  <a:schemeClr val="tx1"/>
                </a:solidFill>
              </a:rPr>
              <a:t>0</a:t>
            </a:r>
          </a:p>
        </p:txBody>
      </p:sp>
      <p:sp>
        <p:nvSpPr>
          <p:cNvPr id="53" name="Data grid 2-11"/>
          <p:cNvSpPr/>
          <p:nvPr/>
        </p:nvSpPr>
        <p:spPr>
          <a:xfrm>
            <a:off x="7946136" y="1892808"/>
            <a:ext cx="740664" cy="29260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4" name="Data grid text 2-11"/>
          <p:cNvSpPr txBox="1"/>
          <p:nvPr/>
        </p:nvSpPr>
        <p:spPr>
          <a:xfrm>
            <a:off x="7964424" y="1892808"/>
            <a:ext cx="603504" cy="292608"/>
          </a:xfrm>
          <a:prstGeom prst="rect">
            <a:avLst/>
          </a:prstGeom>
          <a:noFill/>
        </p:spPr>
        <p:txBody>
          <a:bodyPr wrap="square" lIns="0" rIns="0" tIns="0" bIns="0" anchor="ctr">
            <a:noAutofit/>
          </a:bodyPr>
          <a:lstStyle/>
          <a:p>
            <a:pPr algn="r">
              <a:spcAft>
                <a:spcPts val="400"/>
              </a:spcAft>
            </a:pPr>
            <a:r>
              <a:rPr sz="1150" b="0" lang="en-GB">
                <a:solidFill>
                  <a:schemeClr val="tx1"/>
                </a:solidFill>
              </a:rPr>
              <a:t>0</a:t>
            </a:r>
          </a:p>
        </p:txBody>
      </p:sp>
      <p:sp>
        <p:nvSpPr>
          <p:cNvPr id="55" name="Data grid 3-1"/>
          <p:cNvSpPr/>
          <p:nvPr/>
        </p:nvSpPr>
        <p:spPr>
          <a:xfrm>
            <a:off x="457200" y="2212848"/>
            <a:ext cx="795528" cy="29260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6" name="Data grid text 3-1"/>
          <p:cNvSpPr txBox="1"/>
          <p:nvPr/>
        </p:nvSpPr>
        <p:spPr>
          <a:xfrm>
            <a:off x="548640" y="2212848"/>
            <a:ext cx="612648" cy="292608"/>
          </a:xfrm>
          <a:prstGeom prst="rect">
            <a:avLst/>
          </a:prstGeom>
          <a:noFill/>
        </p:spPr>
        <p:txBody>
          <a:bodyPr wrap="square" lIns="0" rIns="0" tIns="0" bIns="0" anchor="ctr">
            <a:noAutofit/>
          </a:bodyPr>
          <a:lstStyle/>
          <a:p>
            <a:pPr algn="l">
              <a:spcAft>
                <a:spcPts val="400"/>
              </a:spcAft>
            </a:pPr>
            <a:r>
              <a:rPr sz="1150" b="1" lang="en-GB">
                <a:solidFill>
                  <a:schemeClr val="tx2"/>
                </a:solidFill>
              </a:rPr>
              <a:t>Online</a:t>
            </a:r>
          </a:p>
        </p:txBody>
      </p:sp>
      <p:sp>
        <p:nvSpPr>
          <p:cNvPr id="57" name="Data grid 3-2"/>
          <p:cNvSpPr/>
          <p:nvPr/>
        </p:nvSpPr>
        <p:spPr>
          <a:xfrm>
            <a:off x="1280160" y="2212848"/>
            <a:ext cx="713232" cy="29260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8" name="Data grid text 3-2"/>
          <p:cNvSpPr txBox="1"/>
          <p:nvPr/>
        </p:nvSpPr>
        <p:spPr>
          <a:xfrm>
            <a:off x="1298448" y="2212848"/>
            <a:ext cx="603504" cy="292608"/>
          </a:xfrm>
          <a:prstGeom prst="rect">
            <a:avLst/>
          </a:prstGeom>
          <a:noFill/>
        </p:spPr>
        <p:txBody>
          <a:bodyPr wrap="square" lIns="0" rIns="0" tIns="0" bIns="0" anchor="ctr">
            <a:noAutofit/>
          </a:bodyPr>
          <a:lstStyle/>
          <a:p>
            <a:pPr algn="r">
              <a:spcAft>
                <a:spcPts val="400"/>
              </a:spcAft>
            </a:pPr>
            <a:r>
              <a:rPr sz="1150" b="0" lang="en-GB">
                <a:solidFill>
                  <a:schemeClr val="tx1"/>
                </a:solidFill>
              </a:rPr>
              <a:t>5</a:t>
            </a:r>
          </a:p>
        </p:txBody>
      </p:sp>
      <p:sp>
        <p:nvSpPr>
          <p:cNvPr id="59" name="Data grid 3-3"/>
          <p:cNvSpPr/>
          <p:nvPr/>
        </p:nvSpPr>
        <p:spPr>
          <a:xfrm>
            <a:off x="2020824" y="2212848"/>
            <a:ext cx="713232" cy="29260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0" name="Data grid text 3-3"/>
          <p:cNvSpPr txBox="1"/>
          <p:nvPr/>
        </p:nvSpPr>
        <p:spPr>
          <a:xfrm>
            <a:off x="2039112" y="2212848"/>
            <a:ext cx="603504" cy="292608"/>
          </a:xfrm>
          <a:prstGeom prst="rect">
            <a:avLst/>
          </a:prstGeom>
          <a:noFill/>
        </p:spPr>
        <p:txBody>
          <a:bodyPr wrap="square" lIns="0" rIns="0" tIns="0" bIns="0" anchor="ctr">
            <a:noAutofit/>
          </a:bodyPr>
          <a:lstStyle/>
          <a:p>
            <a:pPr algn="r">
              <a:spcAft>
                <a:spcPts val="400"/>
              </a:spcAft>
            </a:pPr>
            <a:r>
              <a:rPr sz="1150" b="0" lang="en-GB">
                <a:solidFill>
                  <a:schemeClr val="tx1"/>
                </a:solidFill>
              </a:rPr>
              <a:t>5</a:t>
            </a:r>
          </a:p>
        </p:txBody>
      </p:sp>
      <p:sp>
        <p:nvSpPr>
          <p:cNvPr id="61" name="Data grid 3-4"/>
          <p:cNvSpPr/>
          <p:nvPr/>
        </p:nvSpPr>
        <p:spPr>
          <a:xfrm>
            <a:off x="2761488" y="2212848"/>
            <a:ext cx="713232" cy="29260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2" name="Data grid text 3-4"/>
          <p:cNvSpPr txBox="1"/>
          <p:nvPr/>
        </p:nvSpPr>
        <p:spPr>
          <a:xfrm>
            <a:off x="2779776" y="2212848"/>
            <a:ext cx="603504" cy="292608"/>
          </a:xfrm>
          <a:prstGeom prst="rect">
            <a:avLst/>
          </a:prstGeom>
          <a:noFill/>
        </p:spPr>
        <p:txBody>
          <a:bodyPr wrap="square" lIns="0" rIns="0" tIns="0" bIns="0" anchor="ctr">
            <a:noAutofit/>
          </a:bodyPr>
          <a:lstStyle/>
          <a:p>
            <a:pPr algn="r">
              <a:spcAft>
                <a:spcPts val="400"/>
              </a:spcAft>
            </a:pPr>
            <a:r>
              <a:rPr sz="1150" b="0" lang="en-GB">
                <a:solidFill>
                  <a:schemeClr val="tx1"/>
                </a:solidFill>
              </a:rPr>
              <a:t>5</a:t>
            </a:r>
          </a:p>
        </p:txBody>
      </p:sp>
      <p:sp>
        <p:nvSpPr>
          <p:cNvPr id="63" name="Data grid 3-5"/>
          <p:cNvSpPr/>
          <p:nvPr/>
        </p:nvSpPr>
        <p:spPr>
          <a:xfrm>
            <a:off x="3502152" y="2212848"/>
            <a:ext cx="713232" cy="29260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4" name="Data grid text 3-5"/>
          <p:cNvSpPr txBox="1"/>
          <p:nvPr/>
        </p:nvSpPr>
        <p:spPr>
          <a:xfrm>
            <a:off x="3520440" y="2212848"/>
            <a:ext cx="603504" cy="292608"/>
          </a:xfrm>
          <a:prstGeom prst="rect">
            <a:avLst/>
          </a:prstGeom>
          <a:noFill/>
        </p:spPr>
        <p:txBody>
          <a:bodyPr wrap="square" lIns="0" rIns="0" tIns="0" bIns="0" anchor="ctr">
            <a:noAutofit/>
          </a:bodyPr>
          <a:lstStyle/>
          <a:p>
            <a:pPr algn="r">
              <a:spcAft>
                <a:spcPts val="400"/>
              </a:spcAft>
            </a:pPr>
            <a:r>
              <a:rPr sz="1150" b="0" lang="en-GB">
                <a:solidFill>
                  <a:schemeClr val="tx1"/>
                </a:solidFill>
              </a:rPr>
              <a:t>5</a:t>
            </a:r>
          </a:p>
        </p:txBody>
      </p:sp>
      <p:sp>
        <p:nvSpPr>
          <p:cNvPr id="65" name="Data grid 3-6"/>
          <p:cNvSpPr/>
          <p:nvPr/>
        </p:nvSpPr>
        <p:spPr>
          <a:xfrm>
            <a:off x="4242816" y="2212848"/>
            <a:ext cx="713232" cy="29260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6" name="Data grid text 3-6"/>
          <p:cNvSpPr txBox="1"/>
          <p:nvPr/>
        </p:nvSpPr>
        <p:spPr>
          <a:xfrm>
            <a:off x="4261104" y="2212848"/>
            <a:ext cx="603504" cy="292608"/>
          </a:xfrm>
          <a:prstGeom prst="rect">
            <a:avLst/>
          </a:prstGeom>
          <a:noFill/>
        </p:spPr>
        <p:txBody>
          <a:bodyPr wrap="square" lIns="0" rIns="0" tIns="0" bIns="0" anchor="ctr">
            <a:noAutofit/>
          </a:bodyPr>
          <a:lstStyle/>
          <a:p>
            <a:pPr algn="r">
              <a:spcAft>
                <a:spcPts val="400"/>
              </a:spcAft>
            </a:pPr>
            <a:r>
              <a:rPr sz="1150" b="0" lang="en-GB">
                <a:solidFill>
                  <a:schemeClr val="tx1"/>
                </a:solidFill>
              </a:rPr>
              <a:t>5</a:t>
            </a:r>
          </a:p>
        </p:txBody>
      </p:sp>
      <p:sp>
        <p:nvSpPr>
          <p:cNvPr id="67" name="Data grid 3-7"/>
          <p:cNvSpPr/>
          <p:nvPr/>
        </p:nvSpPr>
        <p:spPr>
          <a:xfrm>
            <a:off x="4983480" y="2212848"/>
            <a:ext cx="713232" cy="29260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8" name="Data grid text 3-7"/>
          <p:cNvSpPr txBox="1"/>
          <p:nvPr/>
        </p:nvSpPr>
        <p:spPr>
          <a:xfrm>
            <a:off x="5001768" y="2212848"/>
            <a:ext cx="603504" cy="292608"/>
          </a:xfrm>
          <a:prstGeom prst="rect">
            <a:avLst/>
          </a:prstGeom>
          <a:noFill/>
        </p:spPr>
        <p:txBody>
          <a:bodyPr wrap="square" lIns="0" rIns="0" tIns="0" bIns="0" anchor="ctr">
            <a:noAutofit/>
          </a:bodyPr>
          <a:lstStyle/>
          <a:p>
            <a:pPr algn="r">
              <a:spcAft>
                <a:spcPts val="400"/>
              </a:spcAft>
            </a:pPr>
            <a:r>
              <a:rPr sz="1150" b="0" lang="en-GB">
                <a:solidFill>
                  <a:schemeClr val="tx1"/>
                </a:solidFill>
              </a:rPr>
              <a:t>5</a:t>
            </a:r>
          </a:p>
        </p:txBody>
      </p:sp>
      <p:sp>
        <p:nvSpPr>
          <p:cNvPr id="69" name="Data grid 3-8"/>
          <p:cNvSpPr/>
          <p:nvPr/>
        </p:nvSpPr>
        <p:spPr>
          <a:xfrm>
            <a:off x="5724144" y="2212848"/>
            <a:ext cx="713232" cy="29260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0" name="Data grid text 3-8"/>
          <p:cNvSpPr txBox="1"/>
          <p:nvPr/>
        </p:nvSpPr>
        <p:spPr>
          <a:xfrm>
            <a:off x="5742432" y="2212848"/>
            <a:ext cx="603504" cy="292608"/>
          </a:xfrm>
          <a:prstGeom prst="rect">
            <a:avLst/>
          </a:prstGeom>
          <a:noFill/>
        </p:spPr>
        <p:txBody>
          <a:bodyPr wrap="square" lIns="0" rIns="0" tIns="0" bIns="0" anchor="ctr">
            <a:noAutofit/>
          </a:bodyPr>
          <a:lstStyle/>
          <a:p>
            <a:pPr algn="r">
              <a:spcAft>
                <a:spcPts val="400"/>
              </a:spcAft>
            </a:pPr>
            <a:r>
              <a:rPr sz="1150" b="0" lang="en-GB">
                <a:solidFill>
                  <a:schemeClr val="tx1"/>
                </a:solidFill>
              </a:rPr>
              <a:t>5</a:t>
            </a:r>
          </a:p>
        </p:txBody>
      </p:sp>
      <p:sp>
        <p:nvSpPr>
          <p:cNvPr id="71" name="Data grid 3-9"/>
          <p:cNvSpPr/>
          <p:nvPr/>
        </p:nvSpPr>
        <p:spPr>
          <a:xfrm>
            <a:off x="6464808" y="2212848"/>
            <a:ext cx="713232" cy="29260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2" name="Data grid text 3-9"/>
          <p:cNvSpPr txBox="1"/>
          <p:nvPr/>
        </p:nvSpPr>
        <p:spPr>
          <a:xfrm>
            <a:off x="6483096" y="2212848"/>
            <a:ext cx="603504" cy="292608"/>
          </a:xfrm>
          <a:prstGeom prst="rect">
            <a:avLst/>
          </a:prstGeom>
          <a:noFill/>
        </p:spPr>
        <p:txBody>
          <a:bodyPr wrap="square" lIns="0" rIns="0" tIns="0" bIns="0" anchor="ctr">
            <a:noAutofit/>
          </a:bodyPr>
          <a:lstStyle/>
          <a:p>
            <a:pPr algn="r">
              <a:spcAft>
                <a:spcPts val="400"/>
              </a:spcAft>
            </a:pPr>
            <a:r>
              <a:rPr sz="1150" b="0" lang="en-GB">
                <a:solidFill>
                  <a:schemeClr val="tx1"/>
                </a:solidFill>
              </a:rPr>
              <a:t>5</a:t>
            </a:r>
          </a:p>
        </p:txBody>
      </p:sp>
      <p:sp>
        <p:nvSpPr>
          <p:cNvPr id="73" name="Data grid 3-10"/>
          <p:cNvSpPr/>
          <p:nvPr/>
        </p:nvSpPr>
        <p:spPr>
          <a:xfrm>
            <a:off x="7205472" y="2212848"/>
            <a:ext cx="713232" cy="29260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4" name="Data grid text 3-10"/>
          <p:cNvSpPr txBox="1"/>
          <p:nvPr/>
        </p:nvSpPr>
        <p:spPr>
          <a:xfrm>
            <a:off x="7223760" y="2212848"/>
            <a:ext cx="603504" cy="292608"/>
          </a:xfrm>
          <a:prstGeom prst="rect">
            <a:avLst/>
          </a:prstGeom>
          <a:noFill/>
        </p:spPr>
        <p:txBody>
          <a:bodyPr wrap="square" lIns="0" rIns="0" tIns="0" bIns="0" anchor="ctr">
            <a:noAutofit/>
          </a:bodyPr>
          <a:lstStyle/>
          <a:p>
            <a:pPr algn="r">
              <a:spcAft>
                <a:spcPts val="400"/>
              </a:spcAft>
            </a:pPr>
            <a:r>
              <a:rPr sz="1150" b="0" lang="en-GB">
                <a:solidFill>
                  <a:schemeClr val="tx1"/>
                </a:solidFill>
              </a:rPr>
              <a:t>5</a:t>
            </a:r>
          </a:p>
        </p:txBody>
      </p:sp>
      <p:sp>
        <p:nvSpPr>
          <p:cNvPr id="75" name="Data grid 3-11"/>
          <p:cNvSpPr/>
          <p:nvPr/>
        </p:nvSpPr>
        <p:spPr>
          <a:xfrm>
            <a:off x="7946136" y="2212848"/>
            <a:ext cx="740664" cy="29260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6" name="Data grid text 3-11"/>
          <p:cNvSpPr txBox="1"/>
          <p:nvPr/>
        </p:nvSpPr>
        <p:spPr>
          <a:xfrm>
            <a:off x="7964424" y="2212848"/>
            <a:ext cx="603504" cy="292608"/>
          </a:xfrm>
          <a:prstGeom prst="rect">
            <a:avLst/>
          </a:prstGeom>
          <a:noFill/>
        </p:spPr>
        <p:txBody>
          <a:bodyPr wrap="square" lIns="0" rIns="0" tIns="0" bIns="0" anchor="ctr">
            <a:noAutofit/>
          </a:bodyPr>
          <a:lstStyle/>
          <a:p>
            <a:pPr algn="r">
              <a:spcAft>
                <a:spcPts val="400"/>
              </a:spcAft>
            </a:pPr>
            <a:r>
              <a:rPr sz="1150" b="0" lang="en-GB">
                <a:solidFill>
                  <a:schemeClr val="tx1"/>
                </a:solidFill>
              </a:rPr>
              <a:t>5</a:t>
            </a:r>
          </a:p>
        </p:txBody>
      </p:sp>
      <p:sp>
        <p:nvSpPr>
          <p:cNvPr id="77" name="Data grid 4-1"/>
          <p:cNvSpPr/>
          <p:nvPr/>
        </p:nvSpPr>
        <p:spPr>
          <a:xfrm>
            <a:off x="457200" y="2532888"/>
            <a:ext cx="795528" cy="29260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8" name="Data grid text 4-1"/>
          <p:cNvSpPr txBox="1"/>
          <p:nvPr/>
        </p:nvSpPr>
        <p:spPr>
          <a:xfrm>
            <a:off x="548640" y="2532888"/>
            <a:ext cx="612648" cy="292608"/>
          </a:xfrm>
          <a:prstGeom prst="rect">
            <a:avLst/>
          </a:prstGeom>
          <a:noFill/>
        </p:spPr>
        <p:txBody>
          <a:bodyPr wrap="square" lIns="0" rIns="0" tIns="0" bIns="0" anchor="ctr">
            <a:noAutofit/>
          </a:bodyPr>
          <a:lstStyle/>
          <a:p>
            <a:pPr algn="l">
              <a:spcAft>
                <a:spcPts val="400"/>
              </a:spcAft>
            </a:pPr>
            <a:r>
              <a:rPr sz="1150" b="1" lang="en-GB">
                <a:solidFill>
                  <a:schemeClr val="tx2"/>
                </a:solidFill>
              </a:rPr>
              <a:t>Sales</a:t>
            </a:r>
          </a:p>
        </p:txBody>
      </p:sp>
      <p:sp>
        <p:nvSpPr>
          <p:cNvPr id="79" name="Data grid 4-2"/>
          <p:cNvSpPr/>
          <p:nvPr/>
        </p:nvSpPr>
        <p:spPr>
          <a:xfrm>
            <a:off x="1280160" y="2532888"/>
            <a:ext cx="713232" cy="29260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0" name="Data grid text 4-2"/>
          <p:cNvSpPr txBox="1"/>
          <p:nvPr/>
        </p:nvSpPr>
        <p:spPr>
          <a:xfrm>
            <a:off x="1298448" y="2532888"/>
            <a:ext cx="603504" cy="292608"/>
          </a:xfrm>
          <a:prstGeom prst="rect">
            <a:avLst/>
          </a:prstGeom>
          <a:noFill/>
        </p:spPr>
        <p:txBody>
          <a:bodyPr wrap="square" lIns="0" rIns="0" tIns="0" bIns="0" anchor="ctr">
            <a:noAutofit/>
          </a:bodyPr>
          <a:lstStyle/>
          <a:p>
            <a:pPr algn="r">
              <a:spcAft>
                <a:spcPts val="400"/>
              </a:spcAft>
            </a:pPr>
            <a:r>
              <a:rPr sz="1150" b="1" lang="en-GB">
                <a:solidFill>
                  <a:schemeClr val="tx2"/>
                </a:solidFill>
              </a:rPr>
              <a:t>115</a:t>
            </a:r>
          </a:p>
        </p:txBody>
      </p:sp>
      <p:sp>
        <p:nvSpPr>
          <p:cNvPr id="81" name="Data grid 4-3"/>
          <p:cNvSpPr/>
          <p:nvPr/>
        </p:nvSpPr>
        <p:spPr>
          <a:xfrm>
            <a:off x="2020824" y="2532888"/>
            <a:ext cx="713232" cy="29260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2" name="Data grid text 4-3"/>
          <p:cNvSpPr txBox="1"/>
          <p:nvPr/>
        </p:nvSpPr>
        <p:spPr>
          <a:xfrm>
            <a:off x="2039112" y="2532888"/>
            <a:ext cx="603504" cy="292608"/>
          </a:xfrm>
          <a:prstGeom prst="rect">
            <a:avLst/>
          </a:prstGeom>
          <a:noFill/>
        </p:spPr>
        <p:txBody>
          <a:bodyPr wrap="square" lIns="0" rIns="0" tIns="0" bIns="0" anchor="ctr">
            <a:noAutofit/>
          </a:bodyPr>
          <a:lstStyle/>
          <a:p>
            <a:pPr algn="r">
              <a:spcAft>
                <a:spcPts val="400"/>
              </a:spcAft>
            </a:pPr>
            <a:r>
              <a:rPr sz="1150" b="1" lang="en-GB">
                <a:solidFill>
                  <a:schemeClr val="tx2"/>
                </a:solidFill>
              </a:rPr>
              <a:t>115</a:t>
            </a:r>
          </a:p>
        </p:txBody>
      </p:sp>
      <p:sp>
        <p:nvSpPr>
          <p:cNvPr id="83" name="Data grid 4-4"/>
          <p:cNvSpPr/>
          <p:nvPr/>
        </p:nvSpPr>
        <p:spPr>
          <a:xfrm>
            <a:off x="2761488" y="2532888"/>
            <a:ext cx="713232" cy="29260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4" name="Data grid text 4-4"/>
          <p:cNvSpPr txBox="1"/>
          <p:nvPr/>
        </p:nvSpPr>
        <p:spPr>
          <a:xfrm>
            <a:off x="2779776" y="2532888"/>
            <a:ext cx="603504" cy="292608"/>
          </a:xfrm>
          <a:prstGeom prst="rect">
            <a:avLst/>
          </a:prstGeom>
          <a:noFill/>
        </p:spPr>
        <p:txBody>
          <a:bodyPr wrap="square" lIns="0" rIns="0" tIns="0" bIns="0" anchor="ctr">
            <a:noAutofit/>
          </a:bodyPr>
          <a:lstStyle/>
          <a:p>
            <a:pPr algn="r">
              <a:spcAft>
                <a:spcPts val="400"/>
              </a:spcAft>
            </a:pPr>
            <a:r>
              <a:rPr sz="1150" b="1" lang="en-GB">
                <a:solidFill>
                  <a:schemeClr val="tx2"/>
                </a:solidFill>
              </a:rPr>
              <a:t>131</a:t>
            </a:r>
          </a:p>
        </p:txBody>
      </p:sp>
      <p:sp>
        <p:nvSpPr>
          <p:cNvPr id="85" name="Data grid 4-5"/>
          <p:cNvSpPr/>
          <p:nvPr/>
        </p:nvSpPr>
        <p:spPr>
          <a:xfrm>
            <a:off x="3502152" y="2532888"/>
            <a:ext cx="713232" cy="29260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6" name="Data grid text 4-5"/>
          <p:cNvSpPr txBox="1"/>
          <p:nvPr/>
        </p:nvSpPr>
        <p:spPr>
          <a:xfrm>
            <a:off x="3520440" y="2532888"/>
            <a:ext cx="603504" cy="292608"/>
          </a:xfrm>
          <a:prstGeom prst="rect">
            <a:avLst/>
          </a:prstGeom>
          <a:noFill/>
        </p:spPr>
        <p:txBody>
          <a:bodyPr wrap="square" lIns="0" rIns="0" tIns="0" bIns="0" anchor="ctr">
            <a:noAutofit/>
          </a:bodyPr>
          <a:lstStyle/>
          <a:p>
            <a:pPr algn="r">
              <a:spcAft>
                <a:spcPts val="400"/>
              </a:spcAft>
            </a:pPr>
            <a:r>
              <a:rPr sz="1150" b="1" lang="en-GB">
                <a:solidFill>
                  <a:schemeClr val="tx2"/>
                </a:solidFill>
              </a:rPr>
              <a:t>131</a:t>
            </a:r>
          </a:p>
        </p:txBody>
      </p:sp>
      <p:sp>
        <p:nvSpPr>
          <p:cNvPr id="87" name="Data grid 4-6"/>
          <p:cNvSpPr/>
          <p:nvPr/>
        </p:nvSpPr>
        <p:spPr>
          <a:xfrm>
            <a:off x="4242816" y="2532888"/>
            <a:ext cx="713232" cy="29260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8" name="Data grid text 4-6"/>
          <p:cNvSpPr txBox="1"/>
          <p:nvPr/>
        </p:nvSpPr>
        <p:spPr>
          <a:xfrm>
            <a:off x="4261104" y="2532888"/>
            <a:ext cx="603504" cy="292608"/>
          </a:xfrm>
          <a:prstGeom prst="rect">
            <a:avLst/>
          </a:prstGeom>
          <a:noFill/>
        </p:spPr>
        <p:txBody>
          <a:bodyPr wrap="square" lIns="0" rIns="0" tIns="0" bIns="0" anchor="ctr">
            <a:noAutofit/>
          </a:bodyPr>
          <a:lstStyle/>
          <a:p>
            <a:pPr algn="r">
              <a:spcAft>
                <a:spcPts val="400"/>
              </a:spcAft>
            </a:pPr>
            <a:r>
              <a:rPr sz="1150" b="1" lang="en-GB">
                <a:solidFill>
                  <a:schemeClr val="tx2"/>
                </a:solidFill>
              </a:rPr>
              <a:t>123</a:t>
            </a:r>
          </a:p>
        </p:txBody>
      </p:sp>
      <p:sp>
        <p:nvSpPr>
          <p:cNvPr id="89" name="Data grid 4-7"/>
          <p:cNvSpPr/>
          <p:nvPr/>
        </p:nvSpPr>
        <p:spPr>
          <a:xfrm>
            <a:off x="4983480" y="2532888"/>
            <a:ext cx="713232" cy="29260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0" name="Data grid text 4-7"/>
          <p:cNvSpPr txBox="1"/>
          <p:nvPr/>
        </p:nvSpPr>
        <p:spPr>
          <a:xfrm>
            <a:off x="5001768" y="2532888"/>
            <a:ext cx="603504" cy="292608"/>
          </a:xfrm>
          <a:prstGeom prst="rect">
            <a:avLst/>
          </a:prstGeom>
          <a:noFill/>
        </p:spPr>
        <p:txBody>
          <a:bodyPr wrap="square" lIns="0" rIns="0" tIns="0" bIns="0" anchor="ctr">
            <a:noAutofit/>
          </a:bodyPr>
          <a:lstStyle/>
          <a:p>
            <a:pPr algn="r">
              <a:spcAft>
                <a:spcPts val="400"/>
              </a:spcAft>
            </a:pPr>
            <a:r>
              <a:rPr sz="1150" b="1" lang="en-GB">
                <a:solidFill>
                  <a:schemeClr val="tx2"/>
                </a:solidFill>
              </a:rPr>
              <a:t>119</a:t>
            </a:r>
          </a:p>
        </p:txBody>
      </p:sp>
      <p:sp>
        <p:nvSpPr>
          <p:cNvPr id="91" name="Data grid 4-8"/>
          <p:cNvSpPr/>
          <p:nvPr/>
        </p:nvSpPr>
        <p:spPr>
          <a:xfrm>
            <a:off x="5724144" y="2532888"/>
            <a:ext cx="713232" cy="29260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2" name="Data grid text 4-8"/>
          <p:cNvSpPr txBox="1"/>
          <p:nvPr/>
        </p:nvSpPr>
        <p:spPr>
          <a:xfrm>
            <a:off x="5742432" y="2532888"/>
            <a:ext cx="603504" cy="292608"/>
          </a:xfrm>
          <a:prstGeom prst="rect">
            <a:avLst/>
          </a:prstGeom>
          <a:noFill/>
        </p:spPr>
        <p:txBody>
          <a:bodyPr wrap="square" lIns="0" rIns="0" tIns="0" bIns="0" anchor="ctr">
            <a:noAutofit/>
          </a:bodyPr>
          <a:lstStyle/>
          <a:p>
            <a:pPr algn="r">
              <a:spcAft>
                <a:spcPts val="400"/>
              </a:spcAft>
            </a:pPr>
            <a:r>
              <a:rPr sz="1150" b="1" lang="en-GB">
                <a:solidFill>
                  <a:schemeClr val="tx2"/>
                </a:solidFill>
              </a:rPr>
              <a:t>117</a:t>
            </a:r>
          </a:p>
        </p:txBody>
      </p:sp>
      <p:sp>
        <p:nvSpPr>
          <p:cNvPr id="93" name="Data grid 4-9"/>
          <p:cNvSpPr/>
          <p:nvPr/>
        </p:nvSpPr>
        <p:spPr>
          <a:xfrm>
            <a:off x="6464808" y="2532888"/>
            <a:ext cx="713232" cy="29260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4" name="Data grid text 4-9"/>
          <p:cNvSpPr txBox="1"/>
          <p:nvPr/>
        </p:nvSpPr>
        <p:spPr>
          <a:xfrm>
            <a:off x="6483096" y="2532888"/>
            <a:ext cx="603504" cy="292608"/>
          </a:xfrm>
          <a:prstGeom prst="rect">
            <a:avLst/>
          </a:prstGeom>
          <a:noFill/>
        </p:spPr>
        <p:txBody>
          <a:bodyPr wrap="square" lIns="0" rIns="0" tIns="0" bIns="0" anchor="ctr">
            <a:noAutofit/>
          </a:bodyPr>
          <a:lstStyle/>
          <a:p>
            <a:pPr algn="r">
              <a:spcAft>
                <a:spcPts val="400"/>
              </a:spcAft>
            </a:pPr>
            <a:r>
              <a:rPr sz="1150" b="1" lang="en-GB">
                <a:solidFill>
                  <a:schemeClr val="tx2"/>
                </a:solidFill>
              </a:rPr>
              <a:t>116</a:t>
            </a:r>
          </a:p>
        </p:txBody>
      </p:sp>
      <p:sp>
        <p:nvSpPr>
          <p:cNvPr id="95" name="Data grid 4-10"/>
          <p:cNvSpPr/>
          <p:nvPr/>
        </p:nvSpPr>
        <p:spPr>
          <a:xfrm>
            <a:off x="7205472" y="2532888"/>
            <a:ext cx="713232" cy="29260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6" name="Data grid text 4-10"/>
          <p:cNvSpPr txBox="1"/>
          <p:nvPr/>
        </p:nvSpPr>
        <p:spPr>
          <a:xfrm>
            <a:off x="7223760" y="2532888"/>
            <a:ext cx="603504" cy="292608"/>
          </a:xfrm>
          <a:prstGeom prst="rect">
            <a:avLst/>
          </a:prstGeom>
          <a:noFill/>
        </p:spPr>
        <p:txBody>
          <a:bodyPr wrap="square" lIns="0" rIns="0" tIns="0" bIns="0" anchor="ctr">
            <a:noAutofit/>
          </a:bodyPr>
          <a:lstStyle/>
          <a:p>
            <a:pPr algn="r">
              <a:spcAft>
                <a:spcPts val="400"/>
              </a:spcAft>
            </a:pPr>
            <a:r>
              <a:rPr sz="1150" b="1" lang="en-GB">
                <a:solidFill>
                  <a:schemeClr val="tx2"/>
                </a:solidFill>
              </a:rPr>
              <a:t>115.5</a:t>
            </a:r>
          </a:p>
        </p:txBody>
      </p:sp>
      <p:sp>
        <p:nvSpPr>
          <p:cNvPr id="97" name="Data grid 4-11"/>
          <p:cNvSpPr/>
          <p:nvPr/>
        </p:nvSpPr>
        <p:spPr>
          <a:xfrm>
            <a:off x="7946136" y="2532888"/>
            <a:ext cx="740664" cy="29260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8" name="Data grid text 4-11"/>
          <p:cNvSpPr txBox="1"/>
          <p:nvPr/>
        </p:nvSpPr>
        <p:spPr>
          <a:xfrm>
            <a:off x="7964424" y="2532888"/>
            <a:ext cx="603504" cy="292608"/>
          </a:xfrm>
          <a:prstGeom prst="rect">
            <a:avLst/>
          </a:prstGeom>
          <a:noFill/>
        </p:spPr>
        <p:txBody>
          <a:bodyPr wrap="square" lIns="0" rIns="0" tIns="0" bIns="0" anchor="ctr">
            <a:noAutofit/>
          </a:bodyPr>
          <a:lstStyle/>
          <a:p>
            <a:pPr algn="r">
              <a:spcAft>
                <a:spcPts val="400"/>
              </a:spcAft>
            </a:pPr>
            <a:r>
              <a:rPr sz="1150" b="1" lang="en-GB">
                <a:solidFill>
                  <a:schemeClr val="tx2"/>
                </a:solidFill>
              </a:rPr>
              <a:t>115.25</a:t>
            </a:r>
          </a:p>
        </p:txBody>
      </p:sp>
      <p:pic>
        <p:nvPicPr>
          <p:cNvPr id="99" name="Chart mm_m0_hand.png" descr="Coffee brand, weeks 1 to 10: sales per week (top) 115, 115, 131, 131, 123, 119, 117, 116, 115.5, 115.25 k EUR; spend (bottom): TV 16 and 8 in weeks 3 and 4, online 5 every week."/>
          <p:cNvPicPr>
            <a:picLocks noChangeAspect="1"/>
          </p:cNvPicPr>
          <p:nvPr/>
        </p:nvPicPr>
        <p:blipFill>
          <a:blip r:embed="rId3"/>
          <a:stretch>
            <a:fillRect/>
          </a:stretch>
        </p:blipFill>
        <p:spPr>
          <a:xfrm>
            <a:off x="457200" y="2962656"/>
            <a:ext cx="3931920" cy="1737360"/>
          </a:xfrm>
          <a:prstGeom prst="rect">
            <a:avLst/>
          </a:prstGeom>
        </p:spPr>
      </p:pic>
      <p:sp>
        <p:nvSpPr>
          <p:cNvPr id="100" name="Data facts 1 row"/>
          <p:cNvSpPr/>
          <p:nvPr/>
        </p:nvSpPr>
        <p:spPr>
          <a:xfrm>
            <a:off x="4526280" y="2962656"/>
            <a:ext cx="4160520" cy="530352"/>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1" name="Data facts 1 bar"/>
          <p:cNvSpPr/>
          <p:nvPr/>
        </p:nvSpPr>
        <p:spPr>
          <a:xfrm>
            <a:off x="4526280" y="2962656"/>
            <a:ext cx="64008" cy="53035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2" name="Data facts 1 text"/>
          <p:cNvSpPr txBox="1"/>
          <p:nvPr/>
        </p:nvSpPr>
        <p:spPr>
          <a:xfrm>
            <a:off x="4727448" y="2962656"/>
            <a:ext cx="3867912" cy="530352"/>
          </a:xfrm>
          <a:prstGeom prst="rect">
            <a:avLst/>
          </a:prstGeom>
          <a:noFill/>
        </p:spPr>
        <p:txBody>
          <a:bodyPr wrap="square" lIns="0" rIns="0" tIns="0" bIns="0" anchor="ctr">
            <a:noAutofit/>
          </a:bodyPr>
          <a:lstStyle/>
          <a:p>
            <a:pPr algn="l">
              <a:spcAft>
                <a:spcPts val="400"/>
              </a:spcAft>
            </a:pPr>
            <a:r>
              <a:rPr sz="1200" b="1" lang="en-GB">
                <a:solidFill>
                  <a:schemeClr val="tx2"/>
                </a:solidFill>
              </a:rPr>
              <a:t>Sales jump </a:t>
            </a:r>
            <a:r>
              <a:rPr sz="1200" b="0" lang="en-GB">
                <a:solidFill>
                  <a:schemeClr val="tx1"/>
                </a:solidFill>
              </a:rPr>
              <a:t>in the TV weeks 3 and 4: 131</a:t>
            </a:r>
          </a:p>
        </p:txBody>
      </p:sp>
      <p:sp>
        <p:nvSpPr>
          <p:cNvPr id="103" name="Data facts 2 row"/>
          <p:cNvSpPr/>
          <p:nvPr/>
        </p:nvSpPr>
        <p:spPr>
          <a:xfrm>
            <a:off x="4526280" y="3566160"/>
            <a:ext cx="4160520" cy="530352"/>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4" name="Data facts 2 bar"/>
          <p:cNvSpPr/>
          <p:nvPr/>
        </p:nvSpPr>
        <p:spPr>
          <a:xfrm>
            <a:off x="4526280" y="3566160"/>
            <a:ext cx="64008" cy="53035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5" name="Data facts 2 text"/>
          <p:cNvSpPr txBox="1"/>
          <p:nvPr/>
        </p:nvSpPr>
        <p:spPr>
          <a:xfrm>
            <a:off x="4727448" y="3566160"/>
            <a:ext cx="3867912" cy="530352"/>
          </a:xfrm>
          <a:prstGeom prst="rect">
            <a:avLst/>
          </a:prstGeom>
          <a:noFill/>
        </p:spPr>
        <p:txBody>
          <a:bodyPr wrap="square" lIns="0" rIns="0" tIns="0" bIns="0" anchor="ctr">
            <a:noAutofit/>
          </a:bodyPr>
          <a:lstStyle/>
          <a:p>
            <a:pPr algn="l">
              <a:spcAft>
                <a:spcPts val="400"/>
              </a:spcAft>
            </a:pPr>
            <a:r>
              <a:rPr sz="1200" b="1" lang="en-GB">
                <a:solidFill>
                  <a:schemeClr val="tx2"/>
                </a:solidFill>
              </a:rPr>
              <a:t>and fade slowly: </a:t>
            </a:r>
            <a:r>
              <a:rPr sz="1200" b="0" lang="en-GB">
                <a:solidFill>
                  <a:schemeClr val="tx1"/>
                </a:solidFill>
              </a:rPr>
              <a:t>123, 119, 117 …</a:t>
            </a:r>
          </a:p>
        </p:txBody>
      </p:sp>
      <p:sp>
        <p:nvSpPr>
          <p:cNvPr id="106" name="Data facts 3 row"/>
          <p:cNvSpPr/>
          <p:nvPr/>
        </p:nvSpPr>
        <p:spPr>
          <a:xfrm>
            <a:off x="4526280" y="4169664"/>
            <a:ext cx="4160520" cy="530352"/>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7" name="Data facts 3 bar"/>
          <p:cNvSpPr/>
          <p:nvPr/>
        </p:nvSpPr>
        <p:spPr>
          <a:xfrm>
            <a:off x="4526280" y="4169664"/>
            <a:ext cx="64008" cy="53035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8" name="Data facts 3 text"/>
          <p:cNvSpPr txBox="1"/>
          <p:nvPr/>
        </p:nvSpPr>
        <p:spPr>
          <a:xfrm>
            <a:off x="4727448" y="4169664"/>
            <a:ext cx="3867912" cy="530352"/>
          </a:xfrm>
          <a:prstGeom prst="rect">
            <a:avLst/>
          </a:prstGeom>
          <a:noFill/>
        </p:spPr>
        <p:txBody>
          <a:bodyPr wrap="square" lIns="0" rIns="0" tIns="0" bIns="0" anchor="ctr">
            <a:noAutofit/>
          </a:bodyPr>
          <a:lstStyle/>
          <a:p>
            <a:pPr algn="l">
              <a:spcAft>
                <a:spcPts val="400"/>
              </a:spcAft>
            </a:pPr>
            <a:r>
              <a:rPr sz="1200" b="1" lang="en-GB">
                <a:solidFill>
                  <a:schemeClr val="tx2"/>
                </a:solidFill>
              </a:rPr>
              <a:t>Online: </a:t>
            </a:r>
            <a:r>
              <a:rPr sz="1200" b="0" lang="en-GB">
                <a:solidFill>
                  <a:schemeClr val="tx1"/>
                </a:solidFill>
              </a:rPr>
              <a:t>5 k EUR every week</a:t>
            </a:r>
          </a:p>
        </p:txBody>
      </p:sp>
      <p:sp>
        <p:nvSpPr>
          <p:cNvPr id="109" name="Sources"/>
          <p:cNvSpPr txBox="1"/>
          <p:nvPr/>
        </p:nvSpPr>
        <p:spPr>
          <a:xfrm>
            <a:off x="457200" y="4818888"/>
            <a:ext cx="8229600" cy="256032"/>
          </a:xfrm>
          <a:prstGeom prst="rect">
            <a:avLst/>
          </a:prstGeom>
          <a:noFill/>
        </p:spPr>
        <p:txBody>
          <a:bodyPr wrap="square" lIns="0" rIns="0" tIns="0" bIns="0" anchor="ctr">
            <a:noAutofit/>
          </a:bodyPr>
          <a:lstStyle/>
          <a:p>
            <a:pPr algn="l">
              <a:spcAft>
                <a:spcPts val="0"/>
              </a:spcAft>
            </a:pPr>
            <a:r>
              <a:rPr sz="1100" b="0" lang="en-GB">
                <a:solidFill>
                  <a:srgbClr val="595959"/>
                </a:solidFill>
              </a:rPr>
              <a:t>Invented round numbers (hand_example.csv)</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1" sz="quarter"/>
          </p:nvPr>
        </p:nvSpPr>
        <p:spPr>
          <a:xfrm>
            <a:ext cx="5747702" cy="0"/>
          </a:xfrm>
        </p:spPr>
        <p:txBody>
          <a:bodyPr/>
          <a:lstStyle/>
          <a:p>
            <a:r>
              <a:rPr lang="en-GB"/>
              <a:t>Part 1 of 6 · the model in one line, carryover, saturation, ROI</a:t>
            </a:r>
          </a:p>
        </p:txBody>
      </p:sp>
      <p:sp>
        <p:nvSpPr>
          <p:cNvPr id="3" name="Title 2"/>
          <p:cNvSpPr>
            <a:spLocks noGrp="1"/>
          </p:cNvSpPr>
          <p:nvPr>
            <p:ph type="ctrTitle"/>
          </p:nvPr>
        </p:nvSpPr>
        <p:spPr/>
        <p:txBody>
          <a:bodyPr/>
          <a:lstStyle/>
          <a:p>
            <a:r>
              <a:rPr lang="en-GB"/>
              <a:t>The main concepts</a:t>
            </a:r>
          </a:p>
        </p:txBody>
      </p:sp>
      <p:sp>
        <p:nvSpPr>
          <p:cNvPr id="3" name="Fußzeilenplatzhalter 2"/>
          <p:cNvSpPr>
            <a:spLocks noGrp="1"/>
          </p:cNvSpPr>
          <p:nvPr>
            <p:ph type="ftr" sz="quarter" idx="14"/>
          </p:nvPr>
        </p:nvSpPr>
        <p:spPr/>
        <p:txBody>
          <a:bodyPr/>
          <a:lstStyle/>
          <a:p>
            <a:r>
              <a:rPr lang="en-GB"/>
              <a:t>International Marketing Analytics · WT 2026/27</a:t>
            </a:r>
          </a:p>
        </p:txBody>
      </p:sp>
      <p:sp>
        <p:nvSpPr>
          <p:cNvPr id="6" name="Foliennummernplatzhalter 5"/>
          <p:cNvSpPr>
            <a:spLocks noGrp="1"/>
          </p:cNvSpPr>
          <p:nvPr>
            <p:ph type="sldNum" sz="quarter" idx="15"/>
          </p:nvPr>
        </p:nvSpPr>
        <p:spPr/>
        <p:txBody>
          <a:bodyPr/>
          <a:lstStyle/>
          <a:p>
            <a:r>
              <a:rPr lang="en-GB" dirty="0"/>
              <a:t>Page </a:t>
            </a:r>
            <a:fld id="{BE3DC40E-DBBE-4E2D-9EEC-FBF0DA0E9179}" type="slidenum">
              <a:rPr lang="en-GB" smtClean="0"/>
              <a:pPr/>
              <a:t>‹Nr.›</a:t>
            </a:fld>
            <a:endParaRPr lang="en-GB" dirty="0"/>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Why MMM is back</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Reason 1 tile"/>
          <p:cNvSpPr/>
          <p:nvPr/>
        </p:nvSpPr>
        <p:spPr>
          <a:xfrm>
            <a:off x="457200" y="1234440"/>
            <a:ext cx="2651760" cy="16002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1" name="Icon Reason 1" descr=""/>
          <p:cNvPicPr>
            <a:picLocks noChangeAspect="1"/>
          </p:cNvPicPr>
          <p:nvPr/>
        </p:nvPicPr>
        <p:blipFill>
          <a:blip r:embed="rId3"/>
          <a:stretch>
            <a:fillRect/>
          </a:stretch>
        </p:blipFill>
        <p:spPr>
          <a:xfrm>
            <a:off x="594360" y="1371600"/>
            <a:ext cx="365760" cy="365760"/>
          </a:xfrm>
          <a:prstGeom prst="rect">
            <a:avLst/>
          </a:prstGeom>
        </p:spPr>
      </p:pic>
      <p:sp>
        <p:nvSpPr>
          <p:cNvPr id="12" name="Reason 1 heading"/>
          <p:cNvSpPr txBox="1"/>
          <p:nvPr/>
        </p:nvSpPr>
        <p:spPr>
          <a:xfrm>
            <a:off x="1051560" y="1371600"/>
            <a:ext cx="1965960" cy="365760"/>
          </a:xfrm>
          <a:prstGeom prst="rect">
            <a:avLst/>
          </a:prstGeom>
          <a:noFill/>
        </p:spPr>
        <p:txBody>
          <a:bodyPr wrap="square" lIns="0" rIns="0" tIns="0" bIns="0" anchor="ctr">
            <a:noAutofit/>
          </a:bodyPr>
          <a:lstStyle/>
          <a:p>
            <a:pPr algn="l">
              <a:spcAft>
                <a:spcPts val="400"/>
              </a:spcAft>
            </a:pPr>
            <a:r>
              <a:rPr sz="1500" b="1" lang="en-GB">
                <a:solidFill>
                  <a:schemeClr val="tx2"/>
                </a:solidFill>
                <a:latin typeface="+mj-lt"/>
              </a:rPr>
              <a:t>Tracking breaks</a:t>
            </a:r>
          </a:p>
        </p:txBody>
      </p:sp>
      <p:sp>
        <p:nvSpPr>
          <p:cNvPr id="13" name="Reason 1 text"/>
          <p:cNvSpPr txBox="1"/>
          <p:nvPr/>
        </p:nvSpPr>
        <p:spPr>
          <a:xfrm>
            <a:off x="594360" y="1856232"/>
            <a:ext cx="2377440" cy="914400"/>
          </a:xfrm>
          <a:prstGeom prst="rect">
            <a:avLst/>
          </a:prstGeom>
          <a:noFill/>
        </p:spPr>
        <p:txBody>
          <a:bodyPr wrap="square" lIns="0" rIns="0" tIns="0" bIns="0" anchor="t">
            <a:noAutofit/>
          </a:bodyPr>
          <a:lstStyle/>
          <a:p>
            <a:pPr algn="l">
              <a:spcAft>
                <a:spcPts val="400"/>
              </a:spcAft>
            </a:pPr>
            <a:r>
              <a:rPr sz="1250" b="0" lang="en-GB">
                <a:solidFill>
                  <a:schemeClr val="tx1"/>
                </a:solidFill>
              </a:rPr>
              <a:t>Apple's opt-in rule and the GDPR hide many user journeys from the ad platforms.</a:t>
            </a:r>
          </a:p>
        </p:txBody>
      </p:sp>
      <p:sp>
        <p:nvSpPr>
          <p:cNvPr id="14" name="Reason 2 tile"/>
          <p:cNvSpPr/>
          <p:nvPr/>
        </p:nvSpPr>
        <p:spPr>
          <a:xfrm>
            <a:off x="3246120" y="1234440"/>
            <a:ext cx="2651760" cy="16002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5" name="Icon Reason 2" descr=""/>
          <p:cNvPicPr>
            <a:picLocks noChangeAspect="1"/>
          </p:cNvPicPr>
          <p:nvPr/>
        </p:nvPicPr>
        <p:blipFill>
          <a:blip r:embed="rId4"/>
          <a:stretch>
            <a:fillRect/>
          </a:stretch>
        </p:blipFill>
        <p:spPr>
          <a:xfrm>
            <a:off x="3383280" y="1371600"/>
            <a:ext cx="365760" cy="365760"/>
          </a:xfrm>
          <a:prstGeom prst="rect">
            <a:avLst/>
          </a:prstGeom>
        </p:spPr>
      </p:pic>
      <p:sp>
        <p:nvSpPr>
          <p:cNvPr id="16" name="Reason 2 heading"/>
          <p:cNvSpPr txBox="1"/>
          <p:nvPr/>
        </p:nvSpPr>
        <p:spPr>
          <a:xfrm>
            <a:off x="3840480" y="1371600"/>
            <a:ext cx="1965960" cy="365760"/>
          </a:xfrm>
          <a:prstGeom prst="rect">
            <a:avLst/>
          </a:prstGeom>
          <a:noFill/>
        </p:spPr>
        <p:txBody>
          <a:bodyPr wrap="square" lIns="0" rIns="0" tIns="0" bIns="0" anchor="ctr">
            <a:noAutofit/>
          </a:bodyPr>
          <a:lstStyle/>
          <a:p>
            <a:pPr algn="l">
              <a:spcAft>
                <a:spcPts val="400"/>
              </a:spcAft>
            </a:pPr>
            <a:r>
              <a:rPr sz="1500" b="1" lang="en-GB">
                <a:solidFill>
                  <a:schemeClr val="tx2"/>
                </a:solidFill>
                <a:latin typeface="+mj-lt"/>
              </a:rPr>
              <a:t>No user data</a:t>
            </a:r>
          </a:p>
        </p:txBody>
      </p:sp>
      <p:sp>
        <p:nvSpPr>
          <p:cNvPr id="17" name="Reason 2 text"/>
          <p:cNvSpPr txBox="1"/>
          <p:nvPr/>
        </p:nvSpPr>
        <p:spPr>
          <a:xfrm>
            <a:off x="3383280" y="1856232"/>
            <a:ext cx="2377440" cy="914400"/>
          </a:xfrm>
          <a:prstGeom prst="rect">
            <a:avLst/>
          </a:prstGeom>
          <a:noFill/>
        </p:spPr>
        <p:txBody>
          <a:bodyPr wrap="square" lIns="0" rIns="0" tIns="0" bIns="0" anchor="t">
            <a:noAutofit/>
          </a:bodyPr>
          <a:lstStyle/>
          <a:p>
            <a:pPr algn="l">
              <a:spcAft>
                <a:spcPts val="400"/>
              </a:spcAft>
            </a:pPr>
            <a:r>
              <a:rPr sz="1250" b="0" lang="en-GB">
                <a:solidFill>
                  <a:schemeClr val="tx1"/>
                </a:solidFill>
              </a:rPr>
              <a:t>Only weekly totals of sales and spend per market.</a:t>
            </a:r>
          </a:p>
        </p:txBody>
      </p:sp>
      <p:sp>
        <p:nvSpPr>
          <p:cNvPr id="18" name="Reason 3 tile"/>
          <p:cNvSpPr/>
          <p:nvPr/>
        </p:nvSpPr>
        <p:spPr>
          <a:xfrm>
            <a:off x="6035040" y="1234440"/>
            <a:ext cx="2651760" cy="16002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9" name="Icon Reason 3" descr=""/>
          <p:cNvPicPr>
            <a:picLocks noChangeAspect="1"/>
          </p:cNvPicPr>
          <p:nvPr/>
        </p:nvPicPr>
        <p:blipFill>
          <a:blip r:embed="rId5"/>
          <a:stretch>
            <a:fillRect/>
          </a:stretch>
        </p:blipFill>
        <p:spPr>
          <a:xfrm>
            <a:off x="6172200" y="1371600"/>
            <a:ext cx="365760" cy="365760"/>
          </a:xfrm>
          <a:prstGeom prst="rect">
            <a:avLst/>
          </a:prstGeom>
        </p:spPr>
      </p:pic>
      <p:sp>
        <p:nvSpPr>
          <p:cNvPr id="20" name="Reason 3 heading"/>
          <p:cNvSpPr txBox="1"/>
          <p:nvPr/>
        </p:nvSpPr>
        <p:spPr>
          <a:xfrm>
            <a:off x="6629400" y="1371600"/>
            <a:ext cx="1965960" cy="365760"/>
          </a:xfrm>
          <a:prstGeom prst="rect">
            <a:avLst/>
          </a:prstGeom>
          <a:noFill/>
        </p:spPr>
        <p:txBody>
          <a:bodyPr wrap="square" lIns="0" rIns="0" tIns="0" bIns="0" anchor="ctr">
            <a:noAutofit/>
          </a:bodyPr>
          <a:lstStyle/>
          <a:p>
            <a:pPr algn="l">
              <a:spcAft>
                <a:spcPts val="400"/>
              </a:spcAft>
            </a:pPr>
            <a:r>
              <a:rPr sz="1500" b="1" lang="en-GB">
                <a:solidFill>
                  <a:schemeClr val="tx2"/>
                </a:solidFill>
                <a:latin typeface="+mj-lt"/>
              </a:rPr>
              <a:t>Free tools</a:t>
            </a:r>
          </a:p>
        </p:txBody>
      </p:sp>
      <p:sp>
        <p:nvSpPr>
          <p:cNvPr id="21" name="Reason 3 text"/>
          <p:cNvSpPr txBox="1"/>
          <p:nvPr/>
        </p:nvSpPr>
        <p:spPr>
          <a:xfrm>
            <a:off x="6172200" y="1856232"/>
            <a:ext cx="2377440" cy="914400"/>
          </a:xfrm>
          <a:prstGeom prst="rect">
            <a:avLst/>
          </a:prstGeom>
          <a:noFill/>
        </p:spPr>
        <p:txBody>
          <a:bodyPr wrap="square" lIns="0" rIns="0" tIns="0" bIns="0" anchor="t">
            <a:noAutofit/>
          </a:bodyPr>
          <a:lstStyle/>
          <a:p>
            <a:pPr algn="l">
              <a:spcAft>
                <a:spcPts val="400"/>
              </a:spcAft>
            </a:pPr>
            <a:r>
              <a:rPr sz="1250" b="0" lang="en-GB">
                <a:solidFill>
                  <a:schemeClr val="tx1"/>
                </a:solidFill>
              </a:rPr>
              <a:t>PyMC-Marketing, Meridian and Robyn are open source.</a:t>
            </a:r>
          </a:p>
        </p:txBody>
      </p:sp>
      <p:sp>
        <p:nvSpPr>
          <p:cNvPr id="22" name="History row"/>
          <p:cNvSpPr/>
          <p:nvPr/>
        </p:nvSpPr>
        <p:spPr>
          <a:xfrm>
            <a:off x="457200" y="2971800"/>
            <a:ext cx="8229600" cy="54864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History bar"/>
          <p:cNvSpPr/>
          <p:nvPr/>
        </p:nvSpPr>
        <p:spPr>
          <a:xfrm>
            <a:off x="457200" y="2971800"/>
            <a:ext cx="64008" cy="5486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History text"/>
          <p:cNvSpPr txBox="1"/>
          <p:nvPr/>
        </p:nvSpPr>
        <p:spPr>
          <a:xfrm>
            <a:off x="658368" y="2971800"/>
            <a:ext cx="7936992" cy="548640"/>
          </a:xfrm>
          <a:prstGeom prst="rect">
            <a:avLst/>
          </a:prstGeom>
          <a:noFill/>
        </p:spPr>
        <p:txBody>
          <a:bodyPr wrap="square" lIns="0" rIns="0" tIns="0" bIns="0" anchor="ctr">
            <a:noAutofit/>
          </a:bodyPr>
          <a:lstStyle/>
          <a:p>
            <a:pPr algn="l">
              <a:spcAft>
                <a:spcPts val="400"/>
              </a:spcAft>
            </a:pPr>
            <a:r>
              <a:rPr sz="1250" b="1" lang="en-GB">
                <a:solidFill>
                  <a:schemeClr val="tx2"/>
                </a:solidFill>
              </a:rPr>
              <a:t>Old idea, new tools: </a:t>
            </a:r>
            <a:r>
              <a:rPr sz="1250" b="0" lang="en-GB">
                <a:solidFill>
                  <a:schemeClr val="tx1"/>
                </a:solidFill>
              </a:rPr>
              <a:t>MMM dates back to the 1960s; Bayesian methods and free code made it affordable.</a:t>
            </a:r>
          </a:p>
        </p:txBody>
      </p:sp>
      <p:sp>
        <p:nvSpPr>
          <p:cNvPr id="25" name="Back message box"/>
          <p:cNvSpPr/>
          <p:nvPr/>
        </p:nvSpPr>
        <p:spPr>
          <a:xfrm>
            <a:off x="457200" y="3657600"/>
            <a:ext cx="8229600" cy="54864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Back message text"/>
          <p:cNvSpPr txBox="1"/>
          <p:nvPr/>
        </p:nvSpPr>
        <p:spPr>
          <a:xfrm>
            <a:off x="658368" y="3657600"/>
            <a:ext cx="7827264" cy="548640"/>
          </a:xfrm>
          <a:prstGeom prst="rect">
            <a:avLst/>
          </a:prstGeom>
          <a:noFill/>
        </p:spPr>
        <p:txBody>
          <a:bodyPr wrap="square" lIns="0" rIns="0" tIns="0" bIns="0" anchor="ctr">
            <a:noAutofit/>
          </a:bodyPr>
          <a:lstStyle/>
          <a:p>
            <a:pPr algn="l">
              <a:spcAft>
                <a:spcPts val="400"/>
              </a:spcAft>
            </a:pPr>
            <a:r>
              <a:rPr sz="1250" b="1" lang="en-GB">
                <a:solidFill>
                  <a:schemeClr val="bg1"/>
                </a:solidFill>
              </a:rPr>
              <a:t>MMM works where tracking fails: </a:t>
            </a:r>
            <a:r>
              <a:rPr sz="1250" b="0" lang="en-GB">
                <a:solidFill>
                  <a:schemeClr val="bg1"/>
                </a:solidFill>
              </a:rPr>
              <a:t>it needs only weekly totals per market.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The model in one line</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Formula band box"/>
          <p:cNvSpPr/>
          <p:nvPr/>
        </p:nvSpPr>
        <p:spPr>
          <a:xfrm>
            <a:off x="457200" y="1234440"/>
            <a:ext cx="8229600" cy="566928"/>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Formula band text"/>
          <p:cNvSpPr txBox="1"/>
          <p:nvPr/>
        </p:nvSpPr>
        <p:spPr>
          <a:xfrm>
            <a:off x="457200" y="1234440"/>
            <a:ext cx="8229600" cy="566928"/>
          </a:xfrm>
          <a:prstGeom prst="rect">
            <a:avLst/>
          </a:prstGeom>
          <a:noFill/>
        </p:spPr>
        <p:txBody>
          <a:bodyPr wrap="square" lIns="0" rIns="0" tIns="0" bIns="0" anchor="ctr">
            <a:noAutofit/>
          </a:bodyPr>
          <a:lstStyle/>
          <a:p>
            <a:pPr algn="ctr">
              <a:spcAft>
                <a:spcPts val="400"/>
              </a:spcAft>
            </a:pPr>
            <a:r>
              <a:rPr sz="1600" b="1" lang="en-GB">
                <a:solidFill>
                  <a:schemeClr val="bg1"/>
                </a:solidFill>
              </a:rPr>
              <a:t>Sales = baseline + media effects + controls + noise</a:t>
            </a:r>
          </a:p>
        </p:txBody>
      </p:sp>
      <p:sp>
        <p:nvSpPr>
          <p:cNvPr id="12" name="Part Baseline tile"/>
          <p:cNvSpPr/>
          <p:nvPr/>
        </p:nvSpPr>
        <p:spPr>
          <a:xfrm>
            <a:off x="457200" y="1938528"/>
            <a:ext cx="2651760" cy="13716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3" name="Icon Part Baseline" descr=""/>
          <p:cNvPicPr>
            <a:picLocks noChangeAspect="1"/>
          </p:cNvPicPr>
          <p:nvPr/>
        </p:nvPicPr>
        <p:blipFill>
          <a:blip r:embed="rId3"/>
          <a:stretch>
            <a:fillRect/>
          </a:stretch>
        </p:blipFill>
        <p:spPr>
          <a:xfrm>
            <a:off x="594360" y="2075688"/>
            <a:ext cx="365760" cy="365760"/>
          </a:xfrm>
          <a:prstGeom prst="rect">
            <a:avLst/>
          </a:prstGeom>
        </p:spPr>
      </p:pic>
      <p:sp>
        <p:nvSpPr>
          <p:cNvPr id="14" name="Part Baseline heading"/>
          <p:cNvSpPr txBox="1"/>
          <p:nvPr/>
        </p:nvSpPr>
        <p:spPr>
          <a:xfrm>
            <a:off x="1051560" y="2075688"/>
            <a:ext cx="1965960" cy="365760"/>
          </a:xfrm>
          <a:prstGeom prst="rect">
            <a:avLst/>
          </a:prstGeom>
          <a:noFill/>
        </p:spPr>
        <p:txBody>
          <a:bodyPr wrap="square" lIns="0" rIns="0" tIns="0" bIns="0" anchor="ctr">
            <a:noAutofit/>
          </a:bodyPr>
          <a:lstStyle/>
          <a:p>
            <a:pPr algn="l">
              <a:spcAft>
                <a:spcPts val="400"/>
              </a:spcAft>
            </a:pPr>
            <a:r>
              <a:rPr sz="1500" b="1" lang="en-GB">
                <a:solidFill>
                  <a:schemeClr val="tx2"/>
                </a:solidFill>
                <a:latin typeface="+mj-lt"/>
              </a:rPr>
              <a:t>Baseline</a:t>
            </a:r>
          </a:p>
        </p:txBody>
      </p:sp>
      <p:sp>
        <p:nvSpPr>
          <p:cNvPr id="15" name="Part Baseline text"/>
          <p:cNvSpPr txBox="1"/>
          <p:nvPr/>
        </p:nvSpPr>
        <p:spPr>
          <a:xfrm>
            <a:off x="594360" y="2560320"/>
            <a:ext cx="2377440" cy="685800"/>
          </a:xfrm>
          <a:prstGeom prst="rect">
            <a:avLst/>
          </a:prstGeom>
          <a:noFill/>
        </p:spPr>
        <p:txBody>
          <a:bodyPr wrap="square" lIns="0" rIns="0" tIns="0" bIns="0" anchor="t">
            <a:noAutofit/>
          </a:bodyPr>
          <a:lstStyle/>
          <a:p>
            <a:pPr algn="l">
              <a:spcAft>
                <a:spcPts val="400"/>
              </a:spcAft>
            </a:pPr>
            <a:r>
              <a:rPr sz="1250" b="0" lang="en-GB">
                <a:solidFill>
                  <a:schemeClr val="tx1"/>
                </a:solidFill>
              </a:rPr>
              <a:t>what you would sell with no media: trend, season, holidays</a:t>
            </a:r>
          </a:p>
        </p:txBody>
      </p:sp>
      <p:sp>
        <p:nvSpPr>
          <p:cNvPr id="16" name="Part Media effects tile"/>
          <p:cNvSpPr/>
          <p:nvPr/>
        </p:nvSpPr>
        <p:spPr>
          <a:xfrm>
            <a:off x="3246120" y="1938528"/>
            <a:ext cx="2651760" cy="13716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 name="Icon Part Media effects" descr=""/>
          <p:cNvPicPr>
            <a:picLocks noChangeAspect="1"/>
          </p:cNvPicPr>
          <p:nvPr/>
        </p:nvPicPr>
        <p:blipFill>
          <a:blip r:embed="rId4"/>
          <a:stretch>
            <a:fillRect/>
          </a:stretch>
        </p:blipFill>
        <p:spPr>
          <a:xfrm>
            <a:off x="3383280" y="2075688"/>
            <a:ext cx="365760" cy="365760"/>
          </a:xfrm>
          <a:prstGeom prst="rect">
            <a:avLst/>
          </a:prstGeom>
        </p:spPr>
      </p:pic>
      <p:sp>
        <p:nvSpPr>
          <p:cNvPr id="18" name="Part Media effects heading"/>
          <p:cNvSpPr txBox="1"/>
          <p:nvPr/>
        </p:nvSpPr>
        <p:spPr>
          <a:xfrm>
            <a:off x="3840480" y="2075688"/>
            <a:ext cx="1965960" cy="365760"/>
          </a:xfrm>
          <a:prstGeom prst="rect">
            <a:avLst/>
          </a:prstGeom>
          <a:noFill/>
        </p:spPr>
        <p:txBody>
          <a:bodyPr wrap="square" lIns="0" rIns="0" tIns="0" bIns="0" anchor="ctr">
            <a:noAutofit/>
          </a:bodyPr>
          <a:lstStyle/>
          <a:p>
            <a:pPr algn="l">
              <a:spcAft>
                <a:spcPts val="400"/>
              </a:spcAft>
            </a:pPr>
            <a:r>
              <a:rPr sz="1500" b="1" lang="en-GB">
                <a:solidFill>
                  <a:schemeClr val="tx2"/>
                </a:solidFill>
                <a:latin typeface="+mj-lt"/>
              </a:rPr>
              <a:t>Media effects</a:t>
            </a:r>
          </a:p>
        </p:txBody>
      </p:sp>
      <p:sp>
        <p:nvSpPr>
          <p:cNvPr id="19" name="Part Media effects text"/>
          <p:cNvSpPr txBox="1"/>
          <p:nvPr/>
        </p:nvSpPr>
        <p:spPr>
          <a:xfrm>
            <a:off x="3383280" y="2560320"/>
            <a:ext cx="2377440" cy="685800"/>
          </a:xfrm>
          <a:prstGeom prst="rect">
            <a:avLst/>
          </a:prstGeom>
          <a:noFill/>
        </p:spPr>
        <p:txBody>
          <a:bodyPr wrap="square" lIns="0" rIns="0" tIns="0" bIns="0" anchor="t">
            <a:noAutofit/>
          </a:bodyPr>
          <a:lstStyle/>
          <a:p>
            <a:pPr algn="l">
              <a:spcAft>
                <a:spcPts val="400"/>
              </a:spcAft>
            </a:pPr>
            <a:r>
              <a:rPr sz="1250" b="0" lang="en-GB">
                <a:solidFill>
                  <a:schemeClr val="tx1"/>
                </a:solidFill>
              </a:rPr>
              <a:t>each channel after carryover and saturation</a:t>
            </a:r>
          </a:p>
        </p:txBody>
      </p:sp>
      <p:sp>
        <p:nvSpPr>
          <p:cNvPr id="20" name="Part Controls tile"/>
          <p:cNvSpPr/>
          <p:nvPr/>
        </p:nvSpPr>
        <p:spPr>
          <a:xfrm>
            <a:off x="6035040" y="1938528"/>
            <a:ext cx="2651760" cy="13716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1" name="Icon Part Controls" descr=""/>
          <p:cNvPicPr>
            <a:picLocks noChangeAspect="1"/>
          </p:cNvPicPr>
          <p:nvPr/>
        </p:nvPicPr>
        <p:blipFill>
          <a:blip r:embed="rId5"/>
          <a:stretch>
            <a:fillRect/>
          </a:stretch>
        </p:blipFill>
        <p:spPr>
          <a:xfrm>
            <a:off x="6172200" y="2075688"/>
            <a:ext cx="365760" cy="365760"/>
          </a:xfrm>
          <a:prstGeom prst="rect">
            <a:avLst/>
          </a:prstGeom>
        </p:spPr>
      </p:pic>
      <p:sp>
        <p:nvSpPr>
          <p:cNvPr id="22" name="Part Controls heading"/>
          <p:cNvSpPr txBox="1"/>
          <p:nvPr/>
        </p:nvSpPr>
        <p:spPr>
          <a:xfrm>
            <a:off x="6629400" y="2075688"/>
            <a:ext cx="1965960" cy="365760"/>
          </a:xfrm>
          <a:prstGeom prst="rect">
            <a:avLst/>
          </a:prstGeom>
          <a:noFill/>
        </p:spPr>
        <p:txBody>
          <a:bodyPr wrap="square" lIns="0" rIns="0" tIns="0" bIns="0" anchor="ctr">
            <a:noAutofit/>
          </a:bodyPr>
          <a:lstStyle/>
          <a:p>
            <a:pPr algn="l">
              <a:spcAft>
                <a:spcPts val="400"/>
              </a:spcAft>
            </a:pPr>
            <a:r>
              <a:rPr sz="1500" b="1" lang="en-GB">
                <a:solidFill>
                  <a:schemeClr val="tx2"/>
                </a:solidFill>
                <a:latin typeface="+mj-lt"/>
              </a:rPr>
              <a:t>Controls</a:t>
            </a:r>
          </a:p>
        </p:txBody>
      </p:sp>
      <p:sp>
        <p:nvSpPr>
          <p:cNvPr id="23" name="Part Controls text"/>
          <p:cNvSpPr txBox="1"/>
          <p:nvPr/>
        </p:nvSpPr>
        <p:spPr>
          <a:xfrm>
            <a:off x="6172200" y="2560320"/>
            <a:ext cx="2377440" cy="685800"/>
          </a:xfrm>
          <a:prstGeom prst="rect">
            <a:avLst/>
          </a:prstGeom>
          <a:noFill/>
        </p:spPr>
        <p:txBody>
          <a:bodyPr wrap="square" lIns="0" rIns="0" tIns="0" bIns="0" anchor="t">
            <a:noAutofit/>
          </a:bodyPr>
          <a:lstStyle/>
          <a:p>
            <a:pPr algn="l">
              <a:spcAft>
                <a:spcPts val="400"/>
              </a:spcAft>
            </a:pPr>
            <a:r>
              <a:rPr sz="1250" b="0" lang="en-GB">
                <a:solidFill>
                  <a:schemeClr val="tx1"/>
                </a:solidFill>
              </a:rPr>
              <a:t>price, promotions, competitors, weather</a:t>
            </a:r>
          </a:p>
        </p:txBody>
      </p:sp>
      <p:sp>
        <p:nvSpPr>
          <p:cNvPr id="24" name="Week 3 row"/>
          <p:cNvSpPr/>
          <p:nvPr/>
        </p:nvSpPr>
        <p:spPr>
          <a:xfrm>
            <a:off x="457200" y="3447288"/>
            <a:ext cx="8229600" cy="50292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Week 3 bar"/>
          <p:cNvSpPr/>
          <p:nvPr/>
        </p:nvSpPr>
        <p:spPr>
          <a:xfrm>
            <a:off x="457200" y="3447288"/>
            <a:ext cx="64008" cy="50292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Week 3 text"/>
          <p:cNvSpPr txBox="1"/>
          <p:nvPr/>
        </p:nvSpPr>
        <p:spPr>
          <a:xfrm>
            <a:off x="658368" y="3447288"/>
            <a:ext cx="7936992" cy="502920"/>
          </a:xfrm>
          <a:prstGeom prst="rect">
            <a:avLst/>
          </a:prstGeom>
          <a:noFill/>
        </p:spPr>
        <p:txBody>
          <a:bodyPr wrap="square" lIns="0" rIns="0" tIns="0" bIns="0" anchor="ctr">
            <a:noAutofit/>
          </a:bodyPr>
          <a:lstStyle/>
          <a:p>
            <a:pPr algn="l">
              <a:spcAft>
                <a:spcPts val="400"/>
              </a:spcAft>
            </a:pPr>
            <a:r>
              <a:rPr sz="1250" b="1" lang="en-GB">
                <a:solidFill>
                  <a:schemeClr val="tx2"/>
                </a:solidFill>
              </a:rPr>
              <a:t>Coffee brand, week 3: </a:t>
            </a:r>
            <a:r>
              <a:rPr sz="1250" b="0" lang="en-GB">
                <a:solidFill>
                  <a:schemeClr val="tx1"/>
                </a:solidFill>
              </a:rPr>
              <a:t>100 + 1 × 16 + 3 × 5 = 131</a:t>
            </a:r>
          </a:p>
        </p:txBody>
      </p:sp>
      <p:sp>
        <p:nvSpPr>
          <p:cNvPr id="27" name="Week 3 caption"/>
          <p:cNvSpPr txBox="1"/>
          <p:nvPr/>
        </p:nvSpPr>
        <p:spPr>
          <a:xfrm>
            <a:off x="4572000" y="3447288"/>
            <a:ext cx="3977640" cy="502920"/>
          </a:xfrm>
          <a:prstGeom prst="rect">
            <a:avLst/>
          </a:prstGeom>
          <a:noFill/>
        </p:spPr>
        <p:txBody>
          <a:bodyPr wrap="square" lIns="0" rIns="0" tIns="0" bIns="0" anchor="ctr">
            <a:noAutofit/>
          </a:bodyPr>
          <a:lstStyle/>
          <a:p>
            <a:pPr algn="r">
              <a:spcAft>
                <a:spcPts val="400"/>
              </a:spcAft>
            </a:pPr>
            <a:r>
              <a:rPr sz="1100" b="0" lang="en-GB">
                <a:solidFill>
                  <a:srgbClr val="595959"/>
                </a:solidFill>
              </a:rPr>
              <a:t>baseline 100 · TV adstock × 1 · online × 3</a:t>
            </a:r>
          </a:p>
        </p:txBody>
      </p:sp>
      <p:sp>
        <p:nvSpPr>
          <p:cNvPr id="28" name="Model message box"/>
          <p:cNvSpPr/>
          <p:nvPr/>
        </p:nvSpPr>
        <p:spPr>
          <a:xfrm>
            <a:off x="457200" y="4087368"/>
            <a:ext cx="8229600" cy="50292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Model message text"/>
          <p:cNvSpPr txBox="1"/>
          <p:nvPr/>
        </p:nvSpPr>
        <p:spPr>
          <a:xfrm>
            <a:off x="658368" y="4087368"/>
            <a:ext cx="7827264" cy="502920"/>
          </a:xfrm>
          <a:prstGeom prst="rect">
            <a:avLst/>
          </a:prstGeom>
          <a:noFill/>
        </p:spPr>
        <p:txBody>
          <a:bodyPr wrap="square" lIns="0" rIns="0" tIns="0" bIns="0" anchor="ctr">
            <a:noAutofit/>
          </a:bodyPr>
          <a:lstStyle/>
          <a:p>
            <a:pPr algn="l">
              <a:spcAft>
                <a:spcPts val="400"/>
              </a:spcAft>
            </a:pPr>
            <a:r>
              <a:rPr sz="1250" b="1" lang="en-GB">
                <a:solidFill>
                  <a:schemeClr val="bg1"/>
                </a:solidFill>
              </a:rPr>
              <a:t>The output: </a:t>
            </a:r>
            <a:r>
              <a:rPr sz="1250" b="0" lang="en-GB">
                <a:solidFill>
                  <a:schemeClr val="bg1"/>
                </a:solidFill>
              </a:rPr>
              <a:t>the contribution and ROI of each channel, response curves, a budget plan.</a:t>
            </a:r>
          </a:p>
        </p:txBody>
      </p:sp>
      <p:sp>
        <p:nvSpPr>
          <p:cNvPr id="30" name="Sources"/>
          <p:cNvSpPr txBox="1"/>
          <p:nvPr/>
        </p:nvSpPr>
        <p:spPr>
          <a:xfrm>
            <a:off x="457200" y="4818888"/>
            <a:ext cx="8229600" cy="256032"/>
          </a:xfrm>
          <a:prstGeom prst="rect">
            <a:avLst/>
          </a:prstGeom>
          <a:noFill/>
        </p:spPr>
        <p:txBody>
          <a:bodyPr wrap="square" lIns="0" rIns="0" tIns="0" bIns="0" anchor="ctr">
            <a:noAutofit/>
          </a:bodyPr>
          <a:lstStyle/>
          <a:p>
            <a:pPr algn="l">
              <a:spcAft>
                <a:spcPts val="0"/>
              </a:spcAft>
            </a:pPr>
            <a:r>
              <a:rPr sz="1100" b="0" lang="en-GB">
                <a:solidFill>
                  <a:srgbClr val="595959"/>
                </a:solidFill>
              </a:rPr>
              <a:t>Invented round numbers (hand_example.csv)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Carryover: this week's spend keeps working</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pic>
        <p:nvPicPr>
          <p:cNvPr id="10" name="Chart mm_m0_adstock.png" descr="Coffee brand, TV per week in k EUR: spend (grey bars) 16 in week 3 and 8 in week 4; adstock with decay 0.5 (blue line): 0, 0, 16, 16, 8, 4, 2, 1, 0.5, 0.25."/>
          <p:cNvPicPr>
            <a:picLocks noChangeAspect="1"/>
          </p:cNvPicPr>
          <p:nvPr/>
        </p:nvPicPr>
        <p:blipFill>
          <a:blip r:embed="rId3"/>
          <a:stretch>
            <a:fillRect/>
          </a:stretch>
        </p:blipFill>
        <p:spPr>
          <a:xfrm>
            <a:off x="457200" y="1234440"/>
            <a:ext cx="4754880" cy="2743200"/>
          </a:xfrm>
          <a:prstGeom prst="rect">
            <a:avLst/>
          </a:prstGeom>
        </p:spPr>
      </p:pic>
      <p:sp>
        <p:nvSpPr>
          <p:cNvPr id="11" name="Adstock rule row"/>
          <p:cNvSpPr/>
          <p:nvPr/>
        </p:nvSpPr>
        <p:spPr>
          <a:xfrm>
            <a:off x="5349240" y="1234440"/>
            <a:ext cx="3337560" cy="82296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Adstock rule bar"/>
          <p:cNvSpPr/>
          <p:nvPr/>
        </p:nvSpPr>
        <p:spPr>
          <a:xfrm>
            <a:off x="5349240" y="1234440"/>
            <a:ext cx="64008" cy="82296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Adstock rule text"/>
          <p:cNvSpPr txBox="1"/>
          <p:nvPr/>
        </p:nvSpPr>
        <p:spPr>
          <a:xfrm>
            <a:off x="5550408" y="1234440"/>
            <a:ext cx="3044952" cy="822960"/>
          </a:xfrm>
          <a:prstGeom prst="rect">
            <a:avLst/>
          </a:prstGeom>
          <a:noFill/>
        </p:spPr>
        <p:txBody>
          <a:bodyPr wrap="square" lIns="0" rIns="0" tIns="0" bIns="0" anchor="ctr">
            <a:noAutofit/>
          </a:bodyPr>
          <a:lstStyle/>
          <a:p>
            <a:pPr algn="l">
              <a:spcAft>
                <a:spcPts val="400"/>
              </a:spcAft>
            </a:pPr>
            <a:r>
              <a:rPr sz="1200" b="1" lang="en-GB">
                <a:solidFill>
                  <a:schemeClr val="tx2"/>
                </a:solidFill>
              </a:rPr>
              <a:t>Adstock</a:t>
            </a:r>
            <a:r>
              <a:rPr sz="1200" b="0" lang="en-GB">
                <a:solidFill>
                  <a:schemeClr val="tx1"/>
                </a:solidFill>
              </a:rPr>
              <a:t> = this week's spend + </a:t>
            </a:r>
            <a:r>
              <a:rPr sz="1200" b="1" lang="en-GB">
                <a:solidFill>
                  <a:schemeClr val="tx2"/>
                </a:solidFill>
              </a:rPr>
              <a:t>decay</a:t>
            </a:r>
            <a:r>
              <a:rPr sz="1200" b="0" lang="en-GB">
                <a:solidFill>
                  <a:schemeClr val="tx1"/>
                </a:solidFill>
              </a:rPr>
              <a:t> × last week's adstock</a:t>
            </a:r>
          </a:p>
        </p:txBody>
      </p:sp>
      <p:sp>
        <p:nvSpPr>
          <p:cNvPr id="14" name="Decay stat box"/>
          <p:cNvSpPr/>
          <p:nvPr/>
        </p:nvSpPr>
        <p:spPr>
          <a:xfrm>
            <a:off x="5349240" y="2194560"/>
            <a:ext cx="3337560" cy="82296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Decay stat bar"/>
          <p:cNvSpPr/>
          <p:nvPr/>
        </p:nvSpPr>
        <p:spPr>
          <a:xfrm>
            <a:off x="5349240" y="2194560"/>
            <a:ext cx="64008" cy="82296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Decay stat figure"/>
          <p:cNvSpPr txBox="1"/>
          <p:nvPr/>
        </p:nvSpPr>
        <p:spPr>
          <a:xfrm>
            <a:off x="5532120" y="2194560"/>
            <a:ext cx="868680" cy="822960"/>
          </a:xfrm>
          <a:prstGeom prst="rect">
            <a:avLst/>
          </a:prstGeom>
          <a:noFill/>
        </p:spPr>
        <p:txBody>
          <a:bodyPr wrap="square" lIns="0" rIns="0" tIns="0" bIns="0" anchor="ctr">
            <a:noAutofit/>
          </a:bodyPr>
          <a:lstStyle/>
          <a:p>
            <a:pPr algn="l">
              <a:spcAft>
                <a:spcPts val="400"/>
              </a:spcAft>
            </a:pPr>
            <a:r>
              <a:rPr sz="2800" b="1" lang="en-GB">
                <a:solidFill>
                  <a:schemeClr val="tx2"/>
                </a:solidFill>
                <a:latin typeface="+mj-lt"/>
              </a:rPr>
              <a:t>0.5</a:t>
            </a:r>
          </a:p>
        </p:txBody>
      </p:sp>
      <p:sp>
        <p:nvSpPr>
          <p:cNvPr id="17" name="Decay stat label"/>
          <p:cNvSpPr txBox="1"/>
          <p:nvPr/>
        </p:nvSpPr>
        <p:spPr>
          <a:xfrm>
            <a:off x="6400800" y="2194560"/>
            <a:ext cx="2194560" cy="822960"/>
          </a:xfrm>
          <a:prstGeom prst="rect">
            <a:avLst/>
          </a:prstGeom>
          <a:noFill/>
        </p:spPr>
        <p:txBody>
          <a:bodyPr wrap="square" lIns="0" rIns="0" tIns="0" bIns="0" anchor="ctr">
            <a:noAutofit/>
          </a:bodyPr>
          <a:lstStyle/>
          <a:p>
            <a:pPr algn="l">
              <a:spcAft>
                <a:spcPts val="400"/>
              </a:spcAft>
            </a:pPr>
            <a:r>
              <a:rPr sz="1200" b="1" lang="en-GB">
                <a:solidFill>
                  <a:schemeClr val="tx2"/>
                </a:solidFill>
              </a:rPr>
              <a:t>decay: </a:t>
            </a:r>
            <a:r>
              <a:rPr sz="1200" b="0" lang="en-GB">
                <a:solidFill>
                  <a:schemeClr val="tx1"/>
                </a:solidFill>
              </a:rPr>
              <a:t>half of last week's adstock is left this week</a:t>
            </a:r>
          </a:p>
        </p:txBody>
      </p:sp>
      <p:sp>
        <p:nvSpPr>
          <p:cNvPr id="18" name="Twice stat box"/>
          <p:cNvSpPr/>
          <p:nvPr/>
        </p:nvSpPr>
        <p:spPr>
          <a:xfrm>
            <a:off x="5349240" y="3154680"/>
            <a:ext cx="3337560" cy="82296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wice stat bar"/>
          <p:cNvSpPr/>
          <p:nvPr/>
        </p:nvSpPr>
        <p:spPr>
          <a:xfrm>
            <a:off x="5349240" y="3154680"/>
            <a:ext cx="64008" cy="82296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wice stat figure"/>
          <p:cNvSpPr txBox="1"/>
          <p:nvPr/>
        </p:nvSpPr>
        <p:spPr>
          <a:xfrm>
            <a:off x="5532120" y="3154680"/>
            <a:ext cx="868680" cy="822960"/>
          </a:xfrm>
          <a:prstGeom prst="rect">
            <a:avLst/>
          </a:prstGeom>
          <a:noFill/>
        </p:spPr>
        <p:txBody>
          <a:bodyPr wrap="square" lIns="0" rIns="0" tIns="0" bIns="0" anchor="ctr">
            <a:noAutofit/>
          </a:bodyPr>
          <a:lstStyle/>
          <a:p>
            <a:pPr algn="l">
              <a:spcAft>
                <a:spcPts val="400"/>
              </a:spcAft>
            </a:pPr>
            <a:r>
              <a:rPr sz="2800" b="1" lang="en-GB">
                <a:solidFill>
                  <a:schemeClr val="tx2"/>
                </a:solidFill>
                <a:latin typeface="+mj-lt"/>
              </a:rPr>
              <a:t>× 2</a:t>
            </a:r>
          </a:p>
        </p:txBody>
      </p:sp>
      <p:sp>
        <p:nvSpPr>
          <p:cNvPr id="21" name="Twice stat label"/>
          <p:cNvSpPr txBox="1"/>
          <p:nvPr/>
        </p:nvSpPr>
        <p:spPr>
          <a:xfrm>
            <a:off x="6400800" y="3154680"/>
            <a:ext cx="2194560" cy="822960"/>
          </a:xfrm>
          <a:prstGeom prst="rect">
            <a:avLst/>
          </a:prstGeom>
          <a:noFill/>
        </p:spPr>
        <p:txBody>
          <a:bodyPr wrap="square" lIns="0" rIns="0" tIns="0" bIns="0" anchor="ctr">
            <a:noAutofit/>
          </a:bodyPr>
          <a:lstStyle/>
          <a:p>
            <a:pPr algn="l">
              <a:spcAft>
                <a:spcPts val="0"/>
              </a:spcAft>
            </a:pPr>
            <a:r>
              <a:rPr sz="1200" b="1" lang="en-GB">
                <a:solidFill>
                  <a:schemeClr val="tx2"/>
                </a:solidFill>
              </a:rPr>
              <a:t>each euro works twice:</a:t>
            </a:r>
            <a:r>
              <a:rPr sz="1200" b="0" lang="en-GB">
                <a:solidFill>
                  <a:schemeClr val="tx1"/>
                </a:solidFill>
              </a:rPr>
              <a:t/>
            </a:r>
          </a:p>
          <a:p>
            <a:pPr algn="l">
              <a:spcAft>
                <a:spcPts val="0"/>
              </a:spcAft>
            </a:pPr>
            <a:r>
              <a:rPr sz="1200" b="0" lang="en-GB">
                <a:solidFill>
                  <a:schemeClr val="tx1"/>
                </a:solidFill>
              </a:rPr>
              <a:t>1 + 0.5 + 0.25 + 0.125 + … = 2</a:t>
            </a:r>
          </a:p>
        </p:txBody>
      </p:sp>
      <p:sp>
        <p:nvSpPr>
          <p:cNvPr id="22" name="Carryover message box"/>
          <p:cNvSpPr/>
          <p:nvPr/>
        </p:nvSpPr>
        <p:spPr>
          <a:xfrm>
            <a:off x="457200" y="4114800"/>
            <a:ext cx="8229600" cy="50292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Carryover message text"/>
          <p:cNvSpPr txBox="1"/>
          <p:nvPr/>
        </p:nvSpPr>
        <p:spPr>
          <a:xfrm>
            <a:off x="658368" y="4114800"/>
            <a:ext cx="7827264" cy="502920"/>
          </a:xfrm>
          <a:prstGeom prst="rect">
            <a:avLst/>
          </a:prstGeom>
          <a:noFill/>
        </p:spPr>
        <p:txBody>
          <a:bodyPr wrap="square" lIns="0" rIns="0" tIns="0" bIns="0" anchor="ctr">
            <a:noAutofit/>
          </a:bodyPr>
          <a:lstStyle/>
          <a:p>
            <a:pPr algn="l">
              <a:spcAft>
                <a:spcPts val="400"/>
              </a:spcAft>
            </a:pPr>
            <a:r>
              <a:rPr sz="1250" b="1" lang="en-GB">
                <a:solidFill>
                  <a:schemeClr val="bg1"/>
                </a:solidFill>
              </a:rPr>
              <a:t>Carryover: </a:t>
            </a:r>
            <a:r>
              <a:rPr sz="1250" b="0" lang="en-GB">
                <a:solidFill>
                  <a:schemeClr val="bg1"/>
                </a:solidFill>
              </a:rPr>
              <a:t>TV in weeks 3–4 still sells in weeks 5–10.</a:t>
            </a:r>
          </a:p>
        </p:txBody>
      </p:sp>
      <p:sp>
        <p:nvSpPr>
          <p:cNvPr id="24" name="Sources"/>
          <p:cNvSpPr txBox="1"/>
          <p:nvPr/>
        </p:nvSpPr>
        <p:spPr>
          <a:xfrm>
            <a:off x="457200" y="4818888"/>
            <a:ext cx="8229600" cy="256032"/>
          </a:xfrm>
          <a:prstGeom prst="rect">
            <a:avLst/>
          </a:prstGeom>
          <a:noFill/>
        </p:spPr>
        <p:txBody>
          <a:bodyPr wrap="square" lIns="0" rIns="0" tIns="0" bIns="0" anchor="ctr">
            <a:noAutofit/>
          </a:bodyPr>
          <a:lstStyle/>
          <a:p>
            <a:pPr algn="l">
              <a:spcAft>
                <a:spcPts val="0"/>
              </a:spcAft>
            </a:pPr>
            <a:r>
              <a:rPr sz="1100" b="0" lang="en-GB">
                <a:solidFill>
                  <a:srgbClr val="595959"/>
                </a:solidFill>
              </a:rPr>
              <a:t>Invented round numbers (hand_example.csv)</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Saturation: each extra euro buys less</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pic>
        <p:nvPicPr>
          <p:cNvPr id="10" name="Chart mm_m0_saturation.png" descr="Online saturation curve, effect = 30 × spend / (spend + 5), for weekly spend 0 to 25 k EUR: points at spend 0, 2.5, 5, 10, 15, 20 give 0, 10, 15, 20, 22.5, 24; dashed lines at the maximum 30 and at the half-saturation point 5 k EUR with 15."/>
          <p:cNvPicPr>
            <a:picLocks noChangeAspect="1"/>
          </p:cNvPicPr>
          <p:nvPr/>
        </p:nvPicPr>
        <p:blipFill>
          <a:blip r:embed="rId3"/>
          <a:stretch>
            <a:fillRect/>
          </a:stretch>
        </p:blipFill>
        <p:spPr>
          <a:xfrm>
            <a:off x="457200" y="1234440"/>
            <a:ext cx="4754880" cy="2743200"/>
          </a:xfrm>
          <a:prstGeom prst="rect">
            <a:avLst/>
          </a:prstGeom>
        </p:spPr>
      </p:pic>
      <p:sp>
        <p:nvSpPr>
          <p:cNvPr id="11" name="Saturation rule row"/>
          <p:cNvSpPr/>
          <p:nvPr/>
        </p:nvSpPr>
        <p:spPr>
          <a:xfrm>
            <a:off x="5349240" y="1234440"/>
            <a:ext cx="3337560" cy="73152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Saturation rule bar"/>
          <p:cNvSpPr/>
          <p:nvPr/>
        </p:nvSpPr>
        <p:spPr>
          <a:xfrm>
            <a:off x="5349240" y="1234440"/>
            <a:ext cx="64008" cy="73152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Saturation rule text"/>
          <p:cNvSpPr txBox="1"/>
          <p:nvPr/>
        </p:nvSpPr>
        <p:spPr>
          <a:xfrm>
            <a:off x="5550408" y="1234440"/>
            <a:ext cx="3044952" cy="731520"/>
          </a:xfrm>
          <a:prstGeom prst="rect">
            <a:avLst/>
          </a:prstGeom>
          <a:noFill/>
        </p:spPr>
        <p:txBody>
          <a:bodyPr wrap="square" lIns="0" rIns="0" tIns="0" bIns="0" anchor="ctr">
            <a:noAutofit/>
          </a:bodyPr>
          <a:lstStyle/>
          <a:p>
            <a:pPr algn="l">
              <a:spcAft>
                <a:spcPts val="0"/>
              </a:spcAft>
            </a:pPr>
            <a:r>
              <a:rPr sz="1200" b="1" lang="en-GB">
                <a:solidFill>
                  <a:schemeClr val="tx2"/>
                </a:solidFill>
              </a:rPr>
              <a:t>Online effect =</a:t>
            </a:r>
            <a:r>
              <a:rPr sz="1200" b="0" lang="en-GB">
                <a:solidFill>
                  <a:schemeClr val="tx1"/>
                </a:solidFill>
              </a:rPr>
              <a:t/>
            </a:r>
          </a:p>
          <a:p>
            <a:pPr algn="l">
              <a:spcAft>
                <a:spcPts val="0"/>
              </a:spcAft>
            </a:pPr>
            <a:r>
              <a:rPr sz="1200" b="0" lang="en-GB">
                <a:solidFill>
                  <a:schemeClr val="tx1"/>
                </a:solidFill>
              </a:rPr>
              <a:t>30 × spend / (spend + 5)</a:t>
            </a:r>
          </a:p>
        </p:txBody>
      </p:sp>
      <p:sp>
        <p:nvSpPr>
          <p:cNvPr id="14" name="Maximum stat box"/>
          <p:cNvSpPr/>
          <p:nvPr/>
        </p:nvSpPr>
        <p:spPr>
          <a:xfrm>
            <a:off x="5349240" y="2103120"/>
            <a:ext cx="3337560" cy="86868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Maximum stat bar"/>
          <p:cNvSpPr/>
          <p:nvPr/>
        </p:nvSpPr>
        <p:spPr>
          <a:xfrm>
            <a:off x="5349240" y="2103120"/>
            <a:ext cx="64008" cy="8686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Maximum stat figure"/>
          <p:cNvSpPr txBox="1"/>
          <p:nvPr/>
        </p:nvSpPr>
        <p:spPr>
          <a:xfrm>
            <a:off x="5532120" y="2103120"/>
            <a:ext cx="868680" cy="868680"/>
          </a:xfrm>
          <a:prstGeom prst="rect">
            <a:avLst/>
          </a:prstGeom>
          <a:noFill/>
        </p:spPr>
        <p:txBody>
          <a:bodyPr wrap="square" lIns="0" rIns="0" tIns="0" bIns="0" anchor="ctr">
            <a:noAutofit/>
          </a:bodyPr>
          <a:lstStyle/>
          <a:p>
            <a:pPr algn="l">
              <a:spcAft>
                <a:spcPts val="400"/>
              </a:spcAft>
            </a:pPr>
            <a:r>
              <a:rPr sz="2800" b="1" lang="en-GB">
                <a:solidFill>
                  <a:schemeClr val="tx2"/>
                </a:solidFill>
                <a:latin typeface="+mj-lt"/>
              </a:rPr>
              <a:t>30</a:t>
            </a:r>
          </a:p>
        </p:txBody>
      </p:sp>
      <p:sp>
        <p:nvSpPr>
          <p:cNvPr id="17" name="Maximum stat label"/>
          <p:cNvSpPr txBox="1"/>
          <p:nvPr/>
        </p:nvSpPr>
        <p:spPr>
          <a:xfrm>
            <a:off x="6400800" y="2103120"/>
            <a:ext cx="2194560" cy="868680"/>
          </a:xfrm>
          <a:prstGeom prst="rect">
            <a:avLst/>
          </a:prstGeom>
          <a:noFill/>
        </p:spPr>
        <p:txBody>
          <a:bodyPr wrap="square" lIns="0" rIns="0" tIns="0" bIns="0" anchor="ctr">
            <a:noAutofit/>
          </a:bodyPr>
          <a:lstStyle/>
          <a:p>
            <a:pPr algn="l">
              <a:spcAft>
                <a:spcPts val="400"/>
              </a:spcAft>
            </a:pPr>
            <a:r>
              <a:rPr sz="1200" b="1" lang="en-GB">
                <a:solidFill>
                  <a:schemeClr val="tx2"/>
                </a:solidFill>
              </a:rPr>
              <a:t>maximum: </a:t>
            </a:r>
            <a:r>
              <a:rPr sz="1200" b="0" lang="en-GB">
                <a:solidFill>
                  <a:schemeClr val="tx1"/>
                </a:solidFill>
              </a:rPr>
              <a:t>the most online can bring per week</a:t>
            </a:r>
          </a:p>
        </p:txBody>
      </p:sp>
      <p:sp>
        <p:nvSpPr>
          <p:cNvPr id="18" name="Half stat box"/>
          <p:cNvSpPr/>
          <p:nvPr/>
        </p:nvSpPr>
        <p:spPr>
          <a:xfrm>
            <a:off x="5349240" y="3108960"/>
            <a:ext cx="3337560" cy="86868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Half stat bar"/>
          <p:cNvSpPr/>
          <p:nvPr/>
        </p:nvSpPr>
        <p:spPr>
          <a:xfrm>
            <a:off x="5349240" y="3108960"/>
            <a:ext cx="64008" cy="8686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Half stat figure"/>
          <p:cNvSpPr txBox="1"/>
          <p:nvPr/>
        </p:nvSpPr>
        <p:spPr>
          <a:xfrm>
            <a:off x="5532120" y="3108960"/>
            <a:ext cx="868680" cy="868680"/>
          </a:xfrm>
          <a:prstGeom prst="rect">
            <a:avLst/>
          </a:prstGeom>
          <a:noFill/>
        </p:spPr>
        <p:txBody>
          <a:bodyPr wrap="square" lIns="0" rIns="0" tIns="0" bIns="0" anchor="ctr">
            <a:noAutofit/>
          </a:bodyPr>
          <a:lstStyle/>
          <a:p>
            <a:pPr algn="l">
              <a:spcAft>
                <a:spcPts val="400"/>
              </a:spcAft>
            </a:pPr>
            <a:r>
              <a:rPr sz="2800" b="1" lang="en-GB">
                <a:solidFill>
                  <a:schemeClr val="tx2"/>
                </a:solidFill>
                <a:latin typeface="+mj-lt"/>
              </a:rPr>
              <a:t>5</a:t>
            </a:r>
          </a:p>
        </p:txBody>
      </p:sp>
      <p:sp>
        <p:nvSpPr>
          <p:cNvPr id="21" name="Half stat label"/>
          <p:cNvSpPr txBox="1"/>
          <p:nvPr/>
        </p:nvSpPr>
        <p:spPr>
          <a:xfrm>
            <a:off x="6400800" y="3108960"/>
            <a:ext cx="2194560" cy="868680"/>
          </a:xfrm>
          <a:prstGeom prst="rect">
            <a:avLst/>
          </a:prstGeom>
          <a:noFill/>
        </p:spPr>
        <p:txBody>
          <a:bodyPr wrap="square" lIns="0" rIns="0" tIns="0" bIns="0" anchor="ctr">
            <a:noAutofit/>
          </a:bodyPr>
          <a:lstStyle/>
          <a:p>
            <a:pPr algn="l">
              <a:spcAft>
                <a:spcPts val="400"/>
              </a:spcAft>
            </a:pPr>
            <a:r>
              <a:rPr sz="1200" b="1" lang="en-GB">
                <a:solidFill>
                  <a:schemeClr val="tx2"/>
                </a:solidFill>
              </a:rPr>
              <a:t>half-saturation: </a:t>
            </a:r>
            <a:r>
              <a:rPr sz="1200" b="0" lang="en-GB">
                <a:solidFill>
                  <a:schemeClr val="tx1"/>
                </a:solidFill>
              </a:rPr>
              <a:t>at 5 k EUR online brings half of it, 15</a:t>
            </a:r>
          </a:p>
        </p:txBody>
      </p:sp>
      <p:sp>
        <p:nvSpPr>
          <p:cNvPr id="22" name="Saturation message box"/>
          <p:cNvSpPr/>
          <p:nvPr/>
        </p:nvSpPr>
        <p:spPr>
          <a:xfrm>
            <a:off x="457200" y="4114800"/>
            <a:ext cx="8229600" cy="50292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Saturation message text"/>
          <p:cNvSpPr txBox="1"/>
          <p:nvPr/>
        </p:nvSpPr>
        <p:spPr>
          <a:xfrm>
            <a:off x="658368" y="4114800"/>
            <a:ext cx="7827264" cy="502920"/>
          </a:xfrm>
          <a:prstGeom prst="rect">
            <a:avLst/>
          </a:prstGeom>
          <a:noFill/>
        </p:spPr>
        <p:txBody>
          <a:bodyPr wrap="square" lIns="0" rIns="0" tIns="0" bIns="0" anchor="ctr">
            <a:noAutofit/>
          </a:bodyPr>
          <a:lstStyle/>
          <a:p>
            <a:pPr algn="l">
              <a:spcAft>
                <a:spcPts val="400"/>
              </a:spcAft>
            </a:pPr>
            <a:r>
              <a:rPr sz="1250" b="1" lang="en-GB">
                <a:solidFill>
                  <a:schemeClr val="bg1"/>
                </a:solidFill>
              </a:rPr>
              <a:t>Saturation: </a:t>
            </a:r>
            <a:r>
              <a:rPr sz="1250" b="0" lang="en-GB">
                <a:solidFill>
                  <a:schemeClr val="bg1"/>
                </a:solidFill>
              </a:rPr>
              <a:t>10 k EUR bring 20, not twice 15.</a:t>
            </a:r>
          </a:p>
        </p:txBody>
      </p:sp>
      <p:sp>
        <p:nvSpPr>
          <p:cNvPr id="24" name="Sources"/>
          <p:cNvSpPr txBox="1"/>
          <p:nvPr/>
        </p:nvSpPr>
        <p:spPr>
          <a:xfrm>
            <a:off x="457200" y="4818888"/>
            <a:ext cx="8229600" cy="256032"/>
          </a:xfrm>
          <a:prstGeom prst="rect">
            <a:avLst/>
          </a:prstGeom>
          <a:noFill/>
        </p:spPr>
        <p:txBody>
          <a:bodyPr wrap="square" lIns="0" rIns="0" tIns="0" bIns="0" anchor="ctr">
            <a:noAutofit/>
          </a:bodyPr>
          <a:lstStyle/>
          <a:p>
            <a:pPr algn="l">
              <a:spcAft>
                <a:spcPts val="0"/>
              </a:spcAft>
            </a:pPr>
            <a:r>
              <a:rPr sz="1100" b="0" lang="en-GB">
                <a:solidFill>
                  <a:srgbClr val="595959"/>
                </a:solidFill>
              </a:rPr>
              <a:t>Invented round numbers (hand_example.csv)</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ROI and the response curve</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pic>
        <p:nvPicPr>
          <p:cNvPr id="10" name="Chart mm_m0_roi.png" descr="The online response curve: average ROI at 5 k EUR as a dashed line from the origin, 15 / 5 = 3.00; the next 5 k EUR (from 5 to 10) highlighted in blue, +5, ROI 1.00."/>
          <p:cNvPicPr>
            <a:picLocks noChangeAspect="1"/>
          </p:cNvPicPr>
          <p:nvPr/>
        </p:nvPicPr>
        <p:blipFill>
          <a:blip r:embed="rId3"/>
          <a:stretch>
            <a:fillRect/>
          </a:stretch>
        </p:blipFill>
        <p:spPr>
          <a:xfrm>
            <a:off x="457200" y="1234440"/>
            <a:ext cx="4754880" cy="2743200"/>
          </a:xfrm>
          <a:prstGeom prst="rect">
            <a:avLst/>
          </a:prstGeom>
        </p:spPr>
      </p:pic>
      <p:sp>
        <p:nvSpPr>
          <p:cNvPr id="11" name="Average stat box"/>
          <p:cNvSpPr/>
          <p:nvPr/>
        </p:nvSpPr>
        <p:spPr>
          <a:xfrm>
            <a:off x="5349240" y="1234440"/>
            <a:ext cx="3337560" cy="9144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Average stat bar"/>
          <p:cNvSpPr/>
          <p:nvPr/>
        </p:nvSpPr>
        <p:spPr>
          <a:xfrm>
            <a:off x="5349240" y="1234440"/>
            <a:ext cx="64008" cy="9144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Average stat figure"/>
          <p:cNvSpPr txBox="1"/>
          <p:nvPr/>
        </p:nvSpPr>
        <p:spPr>
          <a:xfrm>
            <a:off x="5532120" y="1234440"/>
            <a:ext cx="1097280" cy="914400"/>
          </a:xfrm>
          <a:prstGeom prst="rect">
            <a:avLst/>
          </a:prstGeom>
          <a:noFill/>
        </p:spPr>
        <p:txBody>
          <a:bodyPr wrap="square" lIns="0" rIns="0" tIns="0" bIns="0" anchor="ctr">
            <a:noAutofit/>
          </a:bodyPr>
          <a:lstStyle/>
          <a:p>
            <a:pPr algn="l">
              <a:spcAft>
                <a:spcPts val="400"/>
              </a:spcAft>
            </a:pPr>
            <a:r>
              <a:rPr sz="2800" b="1" lang="en-GB">
                <a:solidFill>
                  <a:schemeClr val="tx2"/>
                </a:solidFill>
                <a:latin typeface="+mj-lt"/>
              </a:rPr>
              <a:t>3.00</a:t>
            </a:r>
          </a:p>
        </p:txBody>
      </p:sp>
      <p:sp>
        <p:nvSpPr>
          <p:cNvPr id="14" name="Average stat label"/>
          <p:cNvSpPr txBox="1"/>
          <p:nvPr/>
        </p:nvSpPr>
        <p:spPr>
          <a:xfrm>
            <a:off x="6629400" y="1234440"/>
            <a:ext cx="1965960" cy="914400"/>
          </a:xfrm>
          <a:prstGeom prst="rect">
            <a:avLst/>
          </a:prstGeom>
          <a:noFill/>
        </p:spPr>
        <p:txBody>
          <a:bodyPr wrap="square" lIns="0" rIns="0" tIns="0" bIns="0" anchor="ctr">
            <a:noAutofit/>
          </a:bodyPr>
          <a:lstStyle/>
          <a:p>
            <a:pPr algn="l">
              <a:spcAft>
                <a:spcPts val="400"/>
              </a:spcAft>
            </a:pPr>
            <a:r>
              <a:rPr sz="1200" b="1" lang="en-GB">
                <a:solidFill>
                  <a:schemeClr val="tx2"/>
                </a:solidFill>
              </a:rPr>
              <a:t>average ROI: </a:t>
            </a:r>
            <a:r>
              <a:rPr sz="1200" b="0" lang="en-GB">
                <a:solidFill>
                  <a:schemeClr val="tx1"/>
                </a:solidFill>
              </a:rPr>
              <a:t>15 / 5: 3 EUR of sales per euro</a:t>
            </a:r>
          </a:p>
        </p:txBody>
      </p:sp>
      <p:sp>
        <p:nvSpPr>
          <p:cNvPr id="15" name="Next stat box"/>
          <p:cNvSpPr/>
          <p:nvPr/>
        </p:nvSpPr>
        <p:spPr>
          <a:xfrm>
            <a:off x="5349240" y="2286000"/>
            <a:ext cx="3337560" cy="9144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Next stat bar"/>
          <p:cNvSpPr/>
          <p:nvPr/>
        </p:nvSpPr>
        <p:spPr>
          <a:xfrm>
            <a:off x="5349240" y="2286000"/>
            <a:ext cx="64008" cy="9144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Next stat figure"/>
          <p:cNvSpPr txBox="1"/>
          <p:nvPr/>
        </p:nvSpPr>
        <p:spPr>
          <a:xfrm>
            <a:off x="5532120" y="2286000"/>
            <a:ext cx="1097280" cy="914400"/>
          </a:xfrm>
          <a:prstGeom prst="rect">
            <a:avLst/>
          </a:prstGeom>
          <a:noFill/>
        </p:spPr>
        <p:txBody>
          <a:bodyPr wrap="square" lIns="0" rIns="0" tIns="0" bIns="0" anchor="ctr">
            <a:noAutofit/>
          </a:bodyPr>
          <a:lstStyle/>
          <a:p>
            <a:pPr algn="l">
              <a:spcAft>
                <a:spcPts val="400"/>
              </a:spcAft>
            </a:pPr>
            <a:r>
              <a:rPr sz="2800" b="1" lang="en-GB">
                <a:solidFill>
                  <a:schemeClr val="tx2"/>
                </a:solidFill>
                <a:latin typeface="+mj-lt"/>
              </a:rPr>
              <a:t>1.00</a:t>
            </a:r>
          </a:p>
        </p:txBody>
      </p:sp>
      <p:sp>
        <p:nvSpPr>
          <p:cNvPr id="18" name="Next stat label"/>
          <p:cNvSpPr txBox="1"/>
          <p:nvPr/>
        </p:nvSpPr>
        <p:spPr>
          <a:xfrm>
            <a:off x="6629400" y="2286000"/>
            <a:ext cx="1965960" cy="914400"/>
          </a:xfrm>
          <a:prstGeom prst="rect">
            <a:avLst/>
          </a:prstGeom>
          <a:noFill/>
        </p:spPr>
        <p:txBody>
          <a:bodyPr wrap="square" lIns="0" rIns="0" tIns="0" bIns="0" anchor="ctr">
            <a:noAutofit/>
          </a:bodyPr>
          <a:lstStyle/>
          <a:p>
            <a:pPr algn="l">
              <a:spcAft>
                <a:spcPts val="400"/>
              </a:spcAft>
            </a:pPr>
            <a:r>
              <a:rPr sz="1200" b="1" lang="en-GB">
                <a:solidFill>
                  <a:schemeClr val="tx2"/>
                </a:solidFill>
              </a:rPr>
              <a:t>next 5 k EUR: </a:t>
            </a:r>
            <a:r>
              <a:rPr sz="1200" b="0" lang="en-GB">
                <a:solidFill>
                  <a:schemeClr val="tx1"/>
                </a:solidFill>
              </a:rPr>
              <a:t>(20 − 15) / 5 = 1.00</a:t>
            </a:r>
          </a:p>
        </p:txBody>
      </p:sp>
      <p:sp>
        <p:nvSpPr>
          <p:cNvPr id="19" name="Curve term row"/>
          <p:cNvSpPr/>
          <p:nvPr/>
        </p:nvSpPr>
        <p:spPr>
          <a:xfrm>
            <a:off x="5349240" y="3337560"/>
            <a:ext cx="3337560" cy="64008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Curve term bar"/>
          <p:cNvSpPr/>
          <p:nvPr/>
        </p:nvSpPr>
        <p:spPr>
          <a:xfrm>
            <a:off x="5349240" y="3337560"/>
            <a:ext cx="64008" cy="6400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Curve term text"/>
          <p:cNvSpPr txBox="1"/>
          <p:nvPr/>
        </p:nvSpPr>
        <p:spPr>
          <a:xfrm>
            <a:off x="5550408" y="3337560"/>
            <a:ext cx="3044952" cy="640080"/>
          </a:xfrm>
          <a:prstGeom prst="rect">
            <a:avLst/>
          </a:prstGeom>
          <a:noFill/>
        </p:spPr>
        <p:txBody>
          <a:bodyPr wrap="square" lIns="0" rIns="0" tIns="0" bIns="0" anchor="ctr">
            <a:noAutofit/>
          </a:bodyPr>
          <a:lstStyle/>
          <a:p>
            <a:pPr algn="l">
              <a:spcAft>
                <a:spcPts val="400"/>
              </a:spcAft>
            </a:pPr>
            <a:r>
              <a:rPr sz="1200" b="1" lang="en-GB">
                <a:solidFill>
                  <a:schemeClr val="tx2"/>
                </a:solidFill>
              </a:rPr>
              <a:t>Response curve: </a:t>
            </a:r>
            <a:r>
              <a:rPr sz="1200" b="0" lang="en-GB">
                <a:solidFill>
                  <a:schemeClr val="tx1"/>
                </a:solidFill>
              </a:rPr>
              <a:t>weekly sales from a channel against its weekly spend</a:t>
            </a:r>
          </a:p>
        </p:txBody>
      </p:sp>
      <p:sp>
        <p:nvSpPr>
          <p:cNvPr id="22" name="ROI message box"/>
          <p:cNvSpPr/>
          <p:nvPr/>
        </p:nvSpPr>
        <p:spPr>
          <a:xfrm>
            <a:off x="457200" y="4114800"/>
            <a:ext cx="8229600" cy="50292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OI message text"/>
          <p:cNvSpPr txBox="1"/>
          <p:nvPr/>
        </p:nvSpPr>
        <p:spPr>
          <a:xfrm>
            <a:off x="658368" y="4114800"/>
            <a:ext cx="7827264" cy="502920"/>
          </a:xfrm>
          <a:prstGeom prst="rect">
            <a:avLst/>
          </a:prstGeom>
          <a:noFill/>
        </p:spPr>
        <p:txBody>
          <a:bodyPr wrap="square" lIns="0" rIns="0" tIns="0" bIns="0" anchor="ctr">
            <a:noAutofit/>
          </a:bodyPr>
          <a:lstStyle/>
          <a:p>
            <a:pPr algn="l">
              <a:spcAft>
                <a:spcPts val="400"/>
              </a:spcAft>
            </a:pPr>
            <a:r>
              <a:rPr sz="1250" b="1" lang="en-GB">
                <a:solidFill>
                  <a:schemeClr val="bg1"/>
                </a:solidFill>
              </a:rPr>
              <a:t>The shape of the curve, not the average ROI, </a:t>
            </a:r>
            <a:r>
              <a:rPr sz="1250" b="0" lang="en-GB">
                <a:solidFill>
                  <a:schemeClr val="bg1"/>
                </a:solidFill>
              </a:rPr>
              <a:t>decides where the next euro goes.</a:t>
            </a:r>
          </a:p>
        </p:txBody>
      </p:sp>
      <p:sp>
        <p:nvSpPr>
          <p:cNvPr id="24" name="Sources"/>
          <p:cNvSpPr txBox="1"/>
          <p:nvPr/>
        </p:nvSpPr>
        <p:spPr>
          <a:xfrm>
            <a:off x="457200" y="4818888"/>
            <a:ext cx="8229600" cy="256032"/>
          </a:xfrm>
          <a:prstGeom prst="rect">
            <a:avLst/>
          </a:prstGeom>
          <a:noFill/>
        </p:spPr>
        <p:txBody>
          <a:bodyPr wrap="square" lIns="0" rIns="0" tIns="0" bIns="0" anchor="ctr">
            <a:noAutofit/>
          </a:bodyPr>
          <a:lstStyle/>
          <a:p>
            <a:pPr algn="l">
              <a:spcAft>
                <a:spcPts val="0"/>
              </a:spcAft>
            </a:pPr>
            <a:r>
              <a:rPr sz="1100" b="0" lang="en-GB">
                <a:solidFill>
                  <a:srgbClr val="595959"/>
                </a:solidFill>
              </a:rPr>
              <a:t>Invented round numbers (hand_example.csv)</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1" sz="quarter"/>
          </p:nvPr>
        </p:nvSpPr>
        <p:spPr>
          <a:xfrm>
            <a:ext cx="5747702" cy="0"/>
          </a:xfrm>
        </p:spPr>
        <p:txBody>
          <a:bodyPr/>
          <a:lstStyle/>
          <a:p>
            <a:r>
              <a:rPr lang="en-GB"/>
              <a:t>Part 2 of 6 · adstock, contributions, ROI, a budget question</a:t>
            </a:r>
          </a:p>
        </p:txBody>
      </p:sp>
      <p:sp>
        <p:nvSpPr>
          <p:cNvPr id="3" name="Title 2"/>
          <p:cNvSpPr>
            <a:spLocks noGrp="1"/>
          </p:cNvSpPr>
          <p:nvPr>
            <p:ph type="ctrTitle"/>
          </p:nvPr>
        </p:nvSpPr>
        <p:spPr/>
        <p:txBody>
          <a:bodyPr/>
          <a:lstStyle/>
          <a:p>
            <a:r>
              <a:rPr lang="en-GB"/>
              <a:t>A small example by hand</a:t>
            </a:r>
          </a:p>
        </p:txBody>
      </p:sp>
      <p:sp>
        <p:nvSpPr>
          <p:cNvPr id="3" name="Fußzeilenplatzhalter 2"/>
          <p:cNvSpPr>
            <a:spLocks noGrp="1"/>
          </p:cNvSpPr>
          <p:nvPr>
            <p:ph type="ftr" sz="quarter" idx="14"/>
          </p:nvPr>
        </p:nvSpPr>
        <p:spPr/>
        <p:txBody>
          <a:bodyPr/>
          <a:lstStyle/>
          <a:p>
            <a:r>
              <a:rPr lang="en-GB"/>
              <a:t>International Marketing Analytics · WT 2026/27</a:t>
            </a:r>
          </a:p>
        </p:txBody>
      </p:sp>
      <p:sp>
        <p:nvSpPr>
          <p:cNvPr id="6" name="Foliennummernplatzhalter 5"/>
          <p:cNvSpPr>
            <a:spLocks noGrp="1"/>
          </p:cNvSpPr>
          <p:nvPr>
            <p:ph type="sldNum" sz="quarter" idx="15"/>
          </p:nvPr>
        </p:nvSpPr>
        <p:spPr/>
        <p:txBody>
          <a:bodyPr/>
          <a:lstStyle/>
          <a:p>
            <a:r>
              <a:rPr lang="en-GB" dirty="0"/>
              <a:t>Page </a:t>
            </a:r>
            <a:fld id="{BE3DC40E-DBBE-4E2D-9EEC-FBF0DA0E9179}" type="slidenum">
              <a:rPr lang="en-GB" smtClean="0"/>
              <a:pPr/>
              <a:t>‹Nr.›</a:t>
            </a:fld>
            <a:endParaRPr lang="en-GB" dirty="0"/>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Adstock week by week</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Adstock grid 1-1"/>
          <p:cNvSpPr/>
          <p:nvPr/>
        </p:nvSpPr>
        <p:spPr>
          <a:xfrm>
            <a:off x="457200" y="1234440"/>
            <a:ext cx="1161288" cy="329184"/>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Adstock grid text 1-1"/>
          <p:cNvSpPr txBox="1"/>
          <p:nvPr/>
        </p:nvSpPr>
        <p:spPr>
          <a:xfrm>
            <a:off x="548640" y="1234440"/>
            <a:ext cx="978408" cy="329184"/>
          </a:xfrm>
          <a:prstGeom prst="rect">
            <a:avLst/>
          </a:prstGeom>
          <a:noFill/>
        </p:spPr>
        <p:txBody>
          <a:bodyPr wrap="square" lIns="0" rIns="0" tIns="0" bIns="0" anchor="ctr">
            <a:noAutofit/>
          </a:bodyPr>
          <a:lstStyle/>
          <a:p>
            <a:pPr algn="l">
              <a:spcAft>
                <a:spcPts val="400"/>
              </a:spcAft>
            </a:pPr>
            <a:r>
              <a:rPr sz="1150" b="1" lang="en-GB">
                <a:solidFill>
                  <a:schemeClr val="bg1"/>
                </a:solidFill>
              </a:rPr>
              <a:t>Week</a:t>
            </a:r>
          </a:p>
        </p:txBody>
      </p:sp>
      <p:sp>
        <p:nvSpPr>
          <p:cNvPr id="12" name="Adstock grid 1-2"/>
          <p:cNvSpPr/>
          <p:nvPr/>
        </p:nvSpPr>
        <p:spPr>
          <a:xfrm>
            <a:off x="1645920" y="1234440"/>
            <a:ext cx="676656" cy="329184"/>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Adstock grid text 1-2"/>
          <p:cNvSpPr txBox="1"/>
          <p:nvPr/>
        </p:nvSpPr>
        <p:spPr>
          <a:xfrm>
            <a:off x="1737360" y="1234440"/>
            <a:ext cx="493776" cy="329184"/>
          </a:xfrm>
          <a:prstGeom prst="rect">
            <a:avLst/>
          </a:prstGeom>
          <a:noFill/>
        </p:spPr>
        <p:txBody>
          <a:bodyPr wrap="square" lIns="0" rIns="0" tIns="0" bIns="0" anchor="ctr">
            <a:noAutofit/>
          </a:bodyPr>
          <a:lstStyle/>
          <a:p>
            <a:pPr algn="ctr">
              <a:spcAft>
                <a:spcPts val="400"/>
              </a:spcAft>
            </a:pPr>
            <a:r>
              <a:rPr sz="1150" b="1" lang="en-GB">
                <a:solidFill>
                  <a:schemeClr val="bg1"/>
                </a:solidFill>
              </a:rPr>
              <a:t>1</a:t>
            </a:r>
          </a:p>
        </p:txBody>
      </p:sp>
      <p:sp>
        <p:nvSpPr>
          <p:cNvPr id="14" name="Adstock grid 1-3"/>
          <p:cNvSpPr/>
          <p:nvPr/>
        </p:nvSpPr>
        <p:spPr>
          <a:xfrm>
            <a:off x="2350008" y="1234440"/>
            <a:ext cx="676656" cy="329184"/>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Adstock grid text 1-3"/>
          <p:cNvSpPr txBox="1"/>
          <p:nvPr/>
        </p:nvSpPr>
        <p:spPr>
          <a:xfrm>
            <a:off x="2441448" y="1234440"/>
            <a:ext cx="493776" cy="329184"/>
          </a:xfrm>
          <a:prstGeom prst="rect">
            <a:avLst/>
          </a:prstGeom>
          <a:noFill/>
        </p:spPr>
        <p:txBody>
          <a:bodyPr wrap="square" lIns="0" rIns="0" tIns="0" bIns="0" anchor="ctr">
            <a:noAutofit/>
          </a:bodyPr>
          <a:lstStyle/>
          <a:p>
            <a:pPr algn="ctr">
              <a:spcAft>
                <a:spcPts val="400"/>
              </a:spcAft>
            </a:pPr>
            <a:r>
              <a:rPr sz="1150" b="1" lang="en-GB">
                <a:solidFill>
                  <a:schemeClr val="bg1"/>
                </a:solidFill>
              </a:rPr>
              <a:t>2</a:t>
            </a:r>
          </a:p>
        </p:txBody>
      </p:sp>
      <p:sp>
        <p:nvSpPr>
          <p:cNvPr id="16" name="Adstock grid 1-4"/>
          <p:cNvSpPr/>
          <p:nvPr/>
        </p:nvSpPr>
        <p:spPr>
          <a:xfrm>
            <a:off x="3054096" y="1234440"/>
            <a:ext cx="676656" cy="329184"/>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Adstock grid text 1-4"/>
          <p:cNvSpPr txBox="1"/>
          <p:nvPr/>
        </p:nvSpPr>
        <p:spPr>
          <a:xfrm>
            <a:off x="3145536" y="1234440"/>
            <a:ext cx="493776" cy="329184"/>
          </a:xfrm>
          <a:prstGeom prst="rect">
            <a:avLst/>
          </a:prstGeom>
          <a:noFill/>
        </p:spPr>
        <p:txBody>
          <a:bodyPr wrap="square" lIns="0" rIns="0" tIns="0" bIns="0" anchor="ctr">
            <a:noAutofit/>
          </a:bodyPr>
          <a:lstStyle/>
          <a:p>
            <a:pPr algn="ctr">
              <a:spcAft>
                <a:spcPts val="400"/>
              </a:spcAft>
            </a:pPr>
            <a:r>
              <a:rPr sz="1150" b="1" lang="en-GB">
                <a:solidFill>
                  <a:schemeClr val="bg1"/>
                </a:solidFill>
              </a:rPr>
              <a:t>3</a:t>
            </a:r>
          </a:p>
        </p:txBody>
      </p:sp>
      <p:sp>
        <p:nvSpPr>
          <p:cNvPr id="18" name="Adstock grid 1-5"/>
          <p:cNvSpPr/>
          <p:nvPr/>
        </p:nvSpPr>
        <p:spPr>
          <a:xfrm>
            <a:off x="3758184" y="1234440"/>
            <a:ext cx="676656" cy="329184"/>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Adstock grid text 1-5"/>
          <p:cNvSpPr txBox="1"/>
          <p:nvPr/>
        </p:nvSpPr>
        <p:spPr>
          <a:xfrm>
            <a:off x="3849624" y="1234440"/>
            <a:ext cx="493776" cy="329184"/>
          </a:xfrm>
          <a:prstGeom prst="rect">
            <a:avLst/>
          </a:prstGeom>
          <a:noFill/>
        </p:spPr>
        <p:txBody>
          <a:bodyPr wrap="square" lIns="0" rIns="0" tIns="0" bIns="0" anchor="ctr">
            <a:noAutofit/>
          </a:bodyPr>
          <a:lstStyle/>
          <a:p>
            <a:pPr algn="ctr">
              <a:spcAft>
                <a:spcPts val="400"/>
              </a:spcAft>
            </a:pPr>
            <a:r>
              <a:rPr sz="1150" b="1" lang="en-GB">
                <a:solidFill>
                  <a:schemeClr val="bg1"/>
                </a:solidFill>
              </a:rPr>
              <a:t>4</a:t>
            </a:r>
          </a:p>
        </p:txBody>
      </p:sp>
      <p:sp>
        <p:nvSpPr>
          <p:cNvPr id="20" name="Adstock grid 1-6"/>
          <p:cNvSpPr/>
          <p:nvPr/>
        </p:nvSpPr>
        <p:spPr>
          <a:xfrm>
            <a:off x="4462272" y="1234440"/>
            <a:ext cx="676656" cy="329184"/>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Adstock grid text 1-6"/>
          <p:cNvSpPr txBox="1"/>
          <p:nvPr/>
        </p:nvSpPr>
        <p:spPr>
          <a:xfrm>
            <a:off x="4553712" y="1234440"/>
            <a:ext cx="493776" cy="329184"/>
          </a:xfrm>
          <a:prstGeom prst="rect">
            <a:avLst/>
          </a:prstGeom>
          <a:noFill/>
        </p:spPr>
        <p:txBody>
          <a:bodyPr wrap="square" lIns="0" rIns="0" tIns="0" bIns="0" anchor="ctr">
            <a:noAutofit/>
          </a:bodyPr>
          <a:lstStyle/>
          <a:p>
            <a:pPr algn="ctr">
              <a:spcAft>
                <a:spcPts val="400"/>
              </a:spcAft>
            </a:pPr>
            <a:r>
              <a:rPr sz="1150" b="1" lang="en-GB">
                <a:solidFill>
                  <a:schemeClr val="bg1"/>
                </a:solidFill>
              </a:rPr>
              <a:t>5</a:t>
            </a:r>
          </a:p>
        </p:txBody>
      </p:sp>
      <p:sp>
        <p:nvSpPr>
          <p:cNvPr id="22" name="Adstock grid 1-7"/>
          <p:cNvSpPr/>
          <p:nvPr/>
        </p:nvSpPr>
        <p:spPr>
          <a:xfrm>
            <a:off x="5166360" y="1234440"/>
            <a:ext cx="676656" cy="329184"/>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Adstock grid text 1-7"/>
          <p:cNvSpPr txBox="1"/>
          <p:nvPr/>
        </p:nvSpPr>
        <p:spPr>
          <a:xfrm>
            <a:off x="5257800" y="1234440"/>
            <a:ext cx="493776" cy="329184"/>
          </a:xfrm>
          <a:prstGeom prst="rect">
            <a:avLst/>
          </a:prstGeom>
          <a:noFill/>
        </p:spPr>
        <p:txBody>
          <a:bodyPr wrap="square" lIns="0" rIns="0" tIns="0" bIns="0" anchor="ctr">
            <a:noAutofit/>
          </a:bodyPr>
          <a:lstStyle/>
          <a:p>
            <a:pPr algn="ctr">
              <a:spcAft>
                <a:spcPts val="400"/>
              </a:spcAft>
            </a:pPr>
            <a:r>
              <a:rPr sz="1150" b="1" lang="en-GB">
                <a:solidFill>
                  <a:schemeClr val="bg1"/>
                </a:solidFill>
              </a:rPr>
              <a:t>6</a:t>
            </a:r>
          </a:p>
        </p:txBody>
      </p:sp>
      <p:sp>
        <p:nvSpPr>
          <p:cNvPr id="24" name="Adstock grid 1-8"/>
          <p:cNvSpPr/>
          <p:nvPr/>
        </p:nvSpPr>
        <p:spPr>
          <a:xfrm>
            <a:off x="5870448" y="1234440"/>
            <a:ext cx="676656" cy="329184"/>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Adstock grid text 1-8"/>
          <p:cNvSpPr txBox="1"/>
          <p:nvPr/>
        </p:nvSpPr>
        <p:spPr>
          <a:xfrm>
            <a:off x="5961888" y="1234440"/>
            <a:ext cx="493776" cy="329184"/>
          </a:xfrm>
          <a:prstGeom prst="rect">
            <a:avLst/>
          </a:prstGeom>
          <a:noFill/>
        </p:spPr>
        <p:txBody>
          <a:bodyPr wrap="square" lIns="0" rIns="0" tIns="0" bIns="0" anchor="ctr">
            <a:noAutofit/>
          </a:bodyPr>
          <a:lstStyle/>
          <a:p>
            <a:pPr algn="ctr">
              <a:spcAft>
                <a:spcPts val="400"/>
              </a:spcAft>
            </a:pPr>
            <a:r>
              <a:rPr sz="1150" b="1" lang="en-GB">
                <a:solidFill>
                  <a:schemeClr val="bg1"/>
                </a:solidFill>
              </a:rPr>
              <a:t>7</a:t>
            </a:r>
          </a:p>
        </p:txBody>
      </p:sp>
      <p:sp>
        <p:nvSpPr>
          <p:cNvPr id="26" name="Adstock grid 1-9"/>
          <p:cNvSpPr/>
          <p:nvPr/>
        </p:nvSpPr>
        <p:spPr>
          <a:xfrm>
            <a:off x="6574536" y="1234440"/>
            <a:ext cx="676656" cy="329184"/>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Adstock grid text 1-9"/>
          <p:cNvSpPr txBox="1"/>
          <p:nvPr/>
        </p:nvSpPr>
        <p:spPr>
          <a:xfrm>
            <a:off x="6665976" y="1234440"/>
            <a:ext cx="493776" cy="329184"/>
          </a:xfrm>
          <a:prstGeom prst="rect">
            <a:avLst/>
          </a:prstGeom>
          <a:noFill/>
        </p:spPr>
        <p:txBody>
          <a:bodyPr wrap="square" lIns="0" rIns="0" tIns="0" bIns="0" anchor="ctr">
            <a:noAutofit/>
          </a:bodyPr>
          <a:lstStyle/>
          <a:p>
            <a:pPr algn="ctr">
              <a:spcAft>
                <a:spcPts val="400"/>
              </a:spcAft>
            </a:pPr>
            <a:r>
              <a:rPr sz="1150" b="1" lang="en-GB">
                <a:solidFill>
                  <a:schemeClr val="bg1"/>
                </a:solidFill>
              </a:rPr>
              <a:t>8</a:t>
            </a:r>
          </a:p>
        </p:txBody>
      </p:sp>
      <p:sp>
        <p:nvSpPr>
          <p:cNvPr id="28" name="Adstock grid 1-10"/>
          <p:cNvSpPr/>
          <p:nvPr/>
        </p:nvSpPr>
        <p:spPr>
          <a:xfrm>
            <a:off x="7278624" y="1234440"/>
            <a:ext cx="676656" cy="329184"/>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Adstock grid text 1-10"/>
          <p:cNvSpPr txBox="1"/>
          <p:nvPr/>
        </p:nvSpPr>
        <p:spPr>
          <a:xfrm>
            <a:off x="7370064" y="1234440"/>
            <a:ext cx="493776" cy="329184"/>
          </a:xfrm>
          <a:prstGeom prst="rect">
            <a:avLst/>
          </a:prstGeom>
          <a:noFill/>
        </p:spPr>
        <p:txBody>
          <a:bodyPr wrap="square" lIns="0" rIns="0" tIns="0" bIns="0" anchor="ctr">
            <a:noAutofit/>
          </a:bodyPr>
          <a:lstStyle/>
          <a:p>
            <a:pPr algn="ctr">
              <a:spcAft>
                <a:spcPts val="400"/>
              </a:spcAft>
            </a:pPr>
            <a:r>
              <a:rPr sz="1150" b="1" lang="en-GB">
                <a:solidFill>
                  <a:schemeClr val="bg1"/>
                </a:solidFill>
              </a:rPr>
              <a:t>9</a:t>
            </a:r>
          </a:p>
        </p:txBody>
      </p:sp>
      <p:sp>
        <p:nvSpPr>
          <p:cNvPr id="30" name="Adstock grid 1-11"/>
          <p:cNvSpPr/>
          <p:nvPr/>
        </p:nvSpPr>
        <p:spPr>
          <a:xfrm>
            <a:off x="7982712" y="1234440"/>
            <a:ext cx="704088" cy="329184"/>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Adstock grid text 1-11"/>
          <p:cNvSpPr txBox="1"/>
          <p:nvPr/>
        </p:nvSpPr>
        <p:spPr>
          <a:xfrm>
            <a:off x="8074152" y="1234440"/>
            <a:ext cx="493776" cy="329184"/>
          </a:xfrm>
          <a:prstGeom prst="rect">
            <a:avLst/>
          </a:prstGeom>
          <a:noFill/>
        </p:spPr>
        <p:txBody>
          <a:bodyPr wrap="square" lIns="0" rIns="0" tIns="0" bIns="0" anchor="ctr">
            <a:noAutofit/>
          </a:bodyPr>
          <a:lstStyle/>
          <a:p>
            <a:pPr algn="ctr">
              <a:spcAft>
                <a:spcPts val="400"/>
              </a:spcAft>
            </a:pPr>
            <a:r>
              <a:rPr sz="1150" b="1" lang="en-GB">
                <a:solidFill>
                  <a:schemeClr val="bg1"/>
                </a:solidFill>
              </a:rPr>
              <a:t>10</a:t>
            </a:r>
          </a:p>
        </p:txBody>
      </p:sp>
      <p:sp>
        <p:nvSpPr>
          <p:cNvPr id="32" name="Adstock grid 2-1"/>
          <p:cNvSpPr/>
          <p:nvPr/>
        </p:nvSpPr>
        <p:spPr>
          <a:xfrm>
            <a:off x="457200" y="1591056"/>
            <a:ext cx="1161288" cy="32918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Adstock grid text 2-1"/>
          <p:cNvSpPr txBox="1"/>
          <p:nvPr/>
        </p:nvSpPr>
        <p:spPr>
          <a:xfrm>
            <a:off x="548640" y="1591056"/>
            <a:ext cx="978408" cy="329184"/>
          </a:xfrm>
          <a:prstGeom prst="rect">
            <a:avLst/>
          </a:prstGeom>
          <a:noFill/>
        </p:spPr>
        <p:txBody>
          <a:bodyPr wrap="square" lIns="0" rIns="0" tIns="0" bIns="0" anchor="ctr">
            <a:noAutofit/>
          </a:bodyPr>
          <a:lstStyle/>
          <a:p>
            <a:pPr algn="l">
              <a:spcAft>
                <a:spcPts val="400"/>
              </a:spcAft>
            </a:pPr>
            <a:r>
              <a:rPr sz="1150" b="1" lang="en-GB">
                <a:solidFill>
                  <a:schemeClr val="tx2"/>
                </a:solidFill>
              </a:rPr>
              <a:t>TV spend</a:t>
            </a:r>
          </a:p>
        </p:txBody>
      </p:sp>
      <p:sp>
        <p:nvSpPr>
          <p:cNvPr id="34" name="Adstock grid 2-2"/>
          <p:cNvSpPr/>
          <p:nvPr/>
        </p:nvSpPr>
        <p:spPr>
          <a:xfrm>
            <a:off x="1645920" y="1591056"/>
            <a:ext cx="676656" cy="32918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Adstock grid text 2-2"/>
          <p:cNvSpPr txBox="1"/>
          <p:nvPr/>
        </p:nvSpPr>
        <p:spPr>
          <a:xfrm>
            <a:off x="1737360" y="1591056"/>
            <a:ext cx="493776" cy="329184"/>
          </a:xfrm>
          <a:prstGeom prst="rect">
            <a:avLst/>
          </a:prstGeom>
          <a:noFill/>
        </p:spPr>
        <p:txBody>
          <a:bodyPr wrap="square" lIns="0" rIns="0" tIns="0" bIns="0" anchor="ctr">
            <a:noAutofit/>
          </a:bodyPr>
          <a:lstStyle/>
          <a:p>
            <a:pPr algn="ctr">
              <a:spcAft>
                <a:spcPts val="400"/>
              </a:spcAft>
            </a:pPr>
            <a:r>
              <a:rPr sz="1150" b="0" lang="en-GB">
                <a:solidFill>
                  <a:schemeClr val="tx1"/>
                </a:solidFill>
              </a:rPr>
              <a:t>0</a:t>
            </a:r>
          </a:p>
        </p:txBody>
      </p:sp>
      <p:sp>
        <p:nvSpPr>
          <p:cNvPr id="36" name="Adstock grid 2-3"/>
          <p:cNvSpPr/>
          <p:nvPr/>
        </p:nvSpPr>
        <p:spPr>
          <a:xfrm>
            <a:off x="2350008" y="1591056"/>
            <a:ext cx="676656" cy="32918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Adstock grid text 2-3"/>
          <p:cNvSpPr txBox="1"/>
          <p:nvPr/>
        </p:nvSpPr>
        <p:spPr>
          <a:xfrm>
            <a:off x="2441448" y="1591056"/>
            <a:ext cx="493776" cy="329184"/>
          </a:xfrm>
          <a:prstGeom prst="rect">
            <a:avLst/>
          </a:prstGeom>
          <a:noFill/>
        </p:spPr>
        <p:txBody>
          <a:bodyPr wrap="square" lIns="0" rIns="0" tIns="0" bIns="0" anchor="ctr">
            <a:noAutofit/>
          </a:bodyPr>
          <a:lstStyle/>
          <a:p>
            <a:pPr algn="ctr">
              <a:spcAft>
                <a:spcPts val="400"/>
              </a:spcAft>
            </a:pPr>
            <a:r>
              <a:rPr sz="1150" b="0" lang="en-GB">
                <a:solidFill>
                  <a:schemeClr val="tx1"/>
                </a:solidFill>
              </a:rPr>
              <a:t>0</a:t>
            </a:r>
          </a:p>
        </p:txBody>
      </p:sp>
      <p:sp>
        <p:nvSpPr>
          <p:cNvPr id="38" name="Adstock grid 2-4"/>
          <p:cNvSpPr/>
          <p:nvPr/>
        </p:nvSpPr>
        <p:spPr>
          <a:xfrm>
            <a:off x="3054096" y="1591056"/>
            <a:ext cx="676656" cy="32918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Adstock grid text 2-4"/>
          <p:cNvSpPr txBox="1"/>
          <p:nvPr/>
        </p:nvSpPr>
        <p:spPr>
          <a:xfrm>
            <a:off x="3145536" y="1591056"/>
            <a:ext cx="493776" cy="329184"/>
          </a:xfrm>
          <a:prstGeom prst="rect">
            <a:avLst/>
          </a:prstGeom>
          <a:noFill/>
        </p:spPr>
        <p:txBody>
          <a:bodyPr wrap="square" lIns="0" rIns="0" tIns="0" bIns="0" anchor="ctr">
            <a:noAutofit/>
          </a:bodyPr>
          <a:lstStyle/>
          <a:p>
            <a:pPr algn="ctr">
              <a:spcAft>
                <a:spcPts val="400"/>
              </a:spcAft>
            </a:pPr>
            <a:r>
              <a:rPr sz="1150" b="0" lang="en-GB">
                <a:solidFill>
                  <a:schemeClr val="tx1"/>
                </a:solidFill>
              </a:rPr>
              <a:t>16</a:t>
            </a:r>
          </a:p>
        </p:txBody>
      </p:sp>
      <p:sp>
        <p:nvSpPr>
          <p:cNvPr id="40" name="Adstock grid 2-5"/>
          <p:cNvSpPr/>
          <p:nvPr/>
        </p:nvSpPr>
        <p:spPr>
          <a:xfrm>
            <a:off x="3758184" y="1591056"/>
            <a:ext cx="676656" cy="32918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Adstock grid text 2-5"/>
          <p:cNvSpPr txBox="1"/>
          <p:nvPr/>
        </p:nvSpPr>
        <p:spPr>
          <a:xfrm>
            <a:off x="3849624" y="1591056"/>
            <a:ext cx="493776" cy="329184"/>
          </a:xfrm>
          <a:prstGeom prst="rect">
            <a:avLst/>
          </a:prstGeom>
          <a:noFill/>
        </p:spPr>
        <p:txBody>
          <a:bodyPr wrap="square" lIns="0" rIns="0" tIns="0" bIns="0" anchor="ctr">
            <a:noAutofit/>
          </a:bodyPr>
          <a:lstStyle/>
          <a:p>
            <a:pPr algn="ctr">
              <a:spcAft>
                <a:spcPts val="400"/>
              </a:spcAft>
            </a:pPr>
            <a:r>
              <a:rPr sz="1150" b="1" lang="en-GB">
                <a:solidFill>
                  <a:schemeClr val="tx2"/>
                </a:solidFill>
              </a:rPr>
              <a:t>8</a:t>
            </a:r>
          </a:p>
        </p:txBody>
      </p:sp>
      <p:sp>
        <p:nvSpPr>
          <p:cNvPr id="42" name="Adstock grid 2-6"/>
          <p:cNvSpPr/>
          <p:nvPr/>
        </p:nvSpPr>
        <p:spPr>
          <a:xfrm>
            <a:off x="4462272" y="1591056"/>
            <a:ext cx="676656" cy="32918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Adstock grid text 2-6"/>
          <p:cNvSpPr txBox="1"/>
          <p:nvPr/>
        </p:nvSpPr>
        <p:spPr>
          <a:xfrm>
            <a:off x="4553712" y="1591056"/>
            <a:ext cx="493776" cy="329184"/>
          </a:xfrm>
          <a:prstGeom prst="rect">
            <a:avLst/>
          </a:prstGeom>
          <a:noFill/>
        </p:spPr>
        <p:txBody>
          <a:bodyPr wrap="square" lIns="0" rIns="0" tIns="0" bIns="0" anchor="ctr">
            <a:noAutofit/>
          </a:bodyPr>
          <a:lstStyle/>
          <a:p>
            <a:pPr algn="ctr">
              <a:spcAft>
                <a:spcPts val="400"/>
              </a:spcAft>
            </a:pPr>
            <a:r>
              <a:rPr sz="1150" b="0" lang="en-GB">
                <a:solidFill>
                  <a:schemeClr val="tx1"/>
                </a:solidFill>
              </a:rPr>
              <a:t>0</a:t>
            </a:r>
          </a:p>
        </p:txBody>
      </p:sp>
      <p:sp>
        <p:nvSpPr>
          <p:cNvPr id="44" name="Adstock grid 2-7"/>
          <p:cNvSpPr/>
          <p:nvPr/>
        </p:nvSpPr>
        <p:spPr>
          <a:xfrm>
            <a:off x="5166360" y="1591056"/>
            <a:ext cx="676656" cy="32918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Adstock grid text 2-7"/>
          <p:cNvSpPr txBox="1"/>
          <p:nvPr/>
        </p:nvSpPr>
        <p:spPr>
          <a:xfrm>
            <a:off x="5257800" y="1591056"/>
            <a:ext cx="493776" cy="329184"/>
          </a:xfrm>
          <a:prstGeom prst="rect">
            <a:avLst/>
          </a:prstGeom>
          <a:noFill/>
        </p:spPr>
        <p:txBody>
          <a:bodyPr wrap="square" lIns="0" rIns="0" tIns="0" bIns="0" anchor="ctr">
            <a:noAutofit/>
          </a:bodyPr>
          <a:lstStyle/>
          <a:p>
            <a:pPr algn="ctr">
              <a:spcAft>
                <a:spcPts val="400"/>
              </a:spcAft>
            </a:pPr>
            <a:r>
              <a:rPr sz="1150" b="0" lang="en-GB">
                <a:solidFill>
                  <a:schemeClr val="tx1"/>
                </a:solidFill>
              </a:rPr>
              <a:t>0</a:t>
            </a:r>
          </a:p>
        </p:txBody>
      </p:sp>
      <p:sp>
        <p:nvSpPr>
          <p:cNvPr id="46" name="Adstock grid 2-8"/>
          <p:cNvSpPr/>
          <p:nvPr/>
        </p:nvSpPr>
        <p:spPr>
          <a:xfrm>
            <a:off x="5870448" y="1591056"/>
            <a:ext cx="676656" cy="32918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7" name="Adstock grid text 2-8"/>
          <p:cNvSpPr txBox="1"/>
          <p:nvPr/>
        </p:nvSpPr>
        <p:spPr>
          <a:xfrm>
            <a:off x="5961888" y="1591056"/>
            <a:ext cx="493776" cy="329184"/>
          </a:xfrm>
          <a:prstGeom prst="rect">
            <a:avLst/>
          </a:prstGeom>
          <a:noFill/>
        </p:spPr>
        <p:txBody>
          <a:bodyPr wrap="square" lIns="0" rIns="0" tIns="0" bIns="0" anchor="ctr">
            <a:noAutofit/>
          </a:bodyPr>
          <a:lstStyle/>
          <a:p>
            <a:pPr algn="ctr">
              <a:spcAft>
                <a:spcPts val="400"/>
              </a:spcAft>
            </a:pPr>
            <a:r>
              <a:rPr sz="1150" b="0" lang="en-GB">
                <a:solidFill>
                  <a:schemeClr val="tx1"/>
                </a:solidFill>
              </a:rPr>
              <a:t>0</a:t>
            </a:r>
          </a:p>
        </p:txBody>
      </p:sp>
      <p:sp>
        <p:nvSpPr>
          <p:cNvPr id="48" name="Adstock grid 2-9"/>
          <p:cNvSpPr/>
          <p:nvPr/>
        </p:nvSpPr>
        <p:spPr>
          <a:xfrm>
            <a:off x="6574536" y="1591056"/>
            <a:ext cx="676656" cy="32918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9" name="Adstock grid text 2-9"/>
          <p:cNvSpPr txBox="1"/>
          <p:nvPr/>
        </p:nvSpPr>
        <p:spPr>
          <a:xfrm>
            <a:off x="6665976" y="1591056"/>
            <a:ext cx="493776" cy="329184"/>
          </a:xfrm>
          <a:prstGeom prst="rect">
            <a:avLst/>
          </a:prstGeom>
          <a:noFill/>
        </p:spPr>
        <p:txBody>
          <a:bodyPr wrap="square" lIns="0" rIns="0" tIns="0" bIns="0" anchor="ctr">
            <a:noAutofit/>
          </a:bodyPr>
          <a:lstStyle/>
          <a:p>
            <a:pPr algn="ctr">
              <a:spcAft>
                <a:spcPts val="400"/>
              </a:spcAft>
            </a:pPr>
            <a:r>
              <a:rPr sz="1150" b="0" lang="en-GB">
                <a:solidFill>
                  <a:schemeClr val="tx1"/>
                </a:solidFill>
              </a:rPr>
              <a:t>0</a:t>
            </a:r>
          </a:p>
        </p:txBody>
      </p:sp>
      <p:sp>
        <p:nvSpPr>
          <p:cNvPr id="50" name="Adstock grid 2-10"/>
          <p:cNvSpPr/>
          <p:nvPr/>
        </p:nvSpPr>
        <p:spPr>
          <a:xfrm>
            <a:off x="7278624" y="1591056"/>
            <a:ext cx="676656" cy="32918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1" name="Adstock grid text 2-10"/>
          <p:cNvSpPr txBox="1"/>
          <p:nvPr/>
        </p:nvSpPr>
        <p:spPr>
          <a:xfrm>
            <a:off x="7370064" y="1591056"/>
            <a:ext cx="493776" cy="329184"/>
          </a:xfrm>
          <a:prstGeom prst="rect">
            <a:avLst/>
          </a:prstGeom>
          <a:noFill/>
        </p:spPr>
        <p:txBody>
          <a:bodyPr wrap="square" lIns="0" rIns="0" tIns="0" bIns="0" anchor="ctr">
            <a:noAutofit/>
          </a:bodyPr>
          <a:lstStyle/>
          <a:p>
            <a:pPr algn="ctr">
              <a:spcAft>
                <a:spcPts val="400"/>
              </a:spcAft>
            </a:pPr>
            <a:r>
              <a:rPr sz="1150" b="0" lang="en-GB">
                <a:solidFill>
                  <a:schemeClr val="tx1"/>
                </a:solidFill>
              </a:rPr>
              <a:t>0</a:t>
            </a:r>
          </a:p>
        </p:txBody>
      </p:sp>
      <p:sp>
        <p:nvSpPr>
          <p:cNvPr id="52" name="Adstock grid 2-11"/>
          <p:cNvSpPr/>
          <p:nvPr/>
        </p:nvSpPr>
        <p:spPr>
          <a:xfrm>
            <a:off x="7982712" y="1591056"/>
            <a:ext cx="704088" cy="32918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3" name="Adstock grid text 2-11"/>
          <p:cNvSpPr txBox="1"/>
          <p:nvPr/>
        </p:nvSpPr>
        <p:spPr>
          <a:xfrm>
            <a:off x="8074152" y="1591056"/>
            <a:ext cx="493776" cy="329184"/>
          </a:xfrm>
          <a:prstGeom prst="rect">
            <a:avLst/>
          </a:prstGeom>
          <a:noFill/>
        </p:spPr>
        <p:txBody>
          <a:bodyPr wrap="square" lIns="0" rIns="0" tIns="0" bIns="0" anchor="ctr">
            <a:noAutofit/>
          </a:bodyPr>
          <a:lstStyle/>
          <a:p>
            <a:pPr algn="ctr">
              <a:spcAft>
                <a:spcPts val="400"/>
              </a:spcAft>
            </a:pPr>
            <a:r>
              <a:rPr sz="1150" b="0" lang="en-GB">
                <a:solidFill>
                  <a:schemeClr val="tx1"/>
                </a:solidFill>
              </a:rPr>
              <a:t>0</a:t>
            </a:r>
          </a:p>
        </p:txBody>
      </p:sp>
      <p:sp>
        <p:nvSpPr>
          <p:cNvPr id="54" name="Adstock grid 3-1"/>
          <p:cNvSpPr/>
          <p:nvPr/>
        </p:nvSpPr>
        <p:spPr>
          <a:xfrm>
            <a:off x="457200" y="1947672"/>
            <a:ext cx="1161288" cy="32918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5" name="Adstock grid text 3-1"/>
          <p:cNvSpPr txBox="1"/>
          <p:nvPr/>
        </p:nvSpPr>
        <p:spPr>
          <a:xfrm>
            <a:off x="548640" y="1947672"/>
            <a:ext cx="978408" cy="329184"/>
          </a:xfrm>
          <a:prstGeom prst="rect">
            <a:avLst/>
          </a:prstGeom>
          <a:noFill/>
        </p:spPr>
        <p:txBody>
          <a:bodyPr wrap="square" lIns="0" rIns="0" tIns="0" bIns="0" anchor="ctr">
            <a:noAutofit/>
          </a:bodyPr>
          <a:lstStyle/>
          <a:p>
            <a:pPr algn="l">
              <a:spcAft>
                <a:spcPts val="400"/>
              </a:spcAft>
            </a:pPr>
            <a:r>
              <a:rPr sz="1150" b="1" lang="en-GB">
                <a:solidFill>
                  <a:schemeClr val="tx2"/>
                </a:solidFill>
              </a:rPr>
              <a:t>+ 0.5 × last</a:t>
            </a:r>
          </a:p>
        </p:txBody>
      </p:sp>
      <p:sp>
        <p:nvSpPr>
          <p:cNvPr id="56" name="Adstock grid 3-2"/>
          <p:cNvSpPr/>
          <p:nvPr/>
        </p:nvSpPr>
        <p:spPr>
          <a:xfrm>
            <a:off x="1645920" y="1947672"/>
            <a:ext cx="676656" cy="32918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7" name="Adstock grid text 3-2"/>
          <p:cNvSpPr txBox="1"/>
          <p:nvPr/>
        </p:nvSpPr>
        <p:spPr>
          <a:xfrm>
            <a:off x="1737360" y="1947672"/>
            <a:ext cx="493776" cy="329184"/>
          </a:xfrm>
          <a:prstGeom prst="rect">
            <a:avLst/>
          </a:prstGeom>
          <a:noFill/>
        </p:spPr>
        <p:txBody>
          <a:bodyPr wrap="square" lIns="0" rIns="0" tIns="0" bIns="0" anchor="ctr">
            <a:noAutofit/>
          </a:bodyPr>
          <a:lstStyle/>
          <a:p>
            <a:pPr algn="ctr">
              <a:spcAft>
                <a:spcPts val="400"/>
              </a:spcAft>
            </a:pPr>
            <a:r>
              <a:rPr sz="1150" b="0" lang="en-GB">
                <a:solidFill>
                  <a:schemeClr val="tx1"/>
                </a:solidFill>
              </a:rPr>
              <a:t>0</a:t>
            </a:r>
          </a:p>
        </p:txBody>
      </p:sp>
      <p:sp>
        <p:nvSpPr>
          <p:cNvPr id="58" name="Adstock grid 3-3"/>
          <p:cNvSpPr/>
          <p:nvPr/>
        </p:nvSpPr>
        <p:spPr>
          <a:xfrm>
            <a:off x="2350008" y="1947672"/>
            <a:ext cx="676656" cy="32918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9" name="Adstock grid text 3-3"/>
          <p:cNvSpPr txBox="1"/>
          <p:nvPr/>
        </p:nvSpPr>
        <p:spPr>
          <a:xfrm>
            <a:off x="2441448" y="1947672"/>
            <a:ext cx="493776" cy="329184"/>
          </a:xfrm>
          <a:prstGeom prst="rect">
            <a:avLst/>
          </a:prstGeom>
          <a:noFill/>
        </p:spPr>
        <p:txBody>
          <a:bodyPr wrap="square" lIns="0" rIns="0" tIns="0" bIns="0" anchor="ctr">
            <a:noAutofit/>
          </a:bodyPr>
          <a:lstStyle/>
          <a:p>
            <a:pPr algn="ctr">
              <a:spcAft>
                <a:spcPts val="400"/>
              </a:spcAft>
            </a:pPr>
            <a:r>
              <a:rPr sz="1150" b="0" lang="en-GB">
                <a:solidFill>
                  <a:schemeClr val="tx1"/>
                </a:solidFill>
              </a:rPr>
              <a:t>0</a:t>
            </a:r>
          </a:p>
        </p:txBody>
      </p:sp>
      <p:sp>
        <p:nvSpPr>
          <p:cNvPr id="60" name="Adstock grid 3-4"/>
          <p:cNvSpPr/>
          <p:nvPr/>
        </p:nvSpPr>
        <p:spPr>
          <a:xfrm>
            <a:off x="3054096" y="1947672"/>
            <a:ext cx="676656" cy="32918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1" name="Adstock grid text 3-4"/>
          <p:cNvSpPr txBox="1"/>
          <p:nvPr/>
        </p:nvSpPr>
        <p:spPr>
          <a:xfrm>
            <a:off x="3145536" y="1947672"/>
            <a:ext cx="493776" cy="329184"/>
          </a:xfrm>
          <a:prstGeom prst="rect">
            <a:avLst/>
          </a:prstGeom>
          <a:noFill/>
        </p:spPr>
        <p:txBody>
          <a:bodyPr wrap="square" lIns="0" rIns="0" tIns="0" bIns="0" anchor="ctr">
            <a:noAutofit/>
          </a:bodyPr>
          <a:lstStyle/>
          <a:p>
            <a:pPr algn="ctr">
              <a:spcAft>
                <a:spcPts val="400"/>
              </a:spcAft>
            </a:pPr>
            <a:r>
              <a:rPr sz="1150" b="0" lang="en-GB">
                <a:solidFill>
                  <a:schemeClr val="tx1"/>
                </a:solidFill>
              </a:rPr>
              <a:t>0</a:t>
            </a:r>
          </a:p>
        </p:txBody>
      </p:sp>
      <p:sp>
        <p:nvSpPr>
          <p:cNvPr id="62" name="Adstock grid 3-5"/>
          <p:cNvSpPr/>
          <p:nvPr/>
        </p:nvSpPr>
        <p:spPr>
          <a:xfrm>
            <a:off x="3758184" y="1947672"/>
            <a:ext cx="676656" cy="32918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3" name="Adstock grid text 3-5"/>
          <p:cNvSpPr txBox="1"/>
          <p:nvPr/>
        </p:nvSpPr>
        <p:spPr>
          <a:xfrm>
            <a:off x="3849624" y="1947672"/>
            <a:ext cx="493776" cy="329184"/>
          </a:xfrm>
          <a:prstGeom prst="rect">
            <a:avLst/>
          </a:prstGeom>
          <a:noFill/>
        </p:spPr>
        <p:txBody>
          <a:bodyPr wrap="square" lIns="0" rIns="0" tIns="0" bIns="0" anchor="ctr">
            <a:noAutofit/>
          </a:bodyPr>
          <a:lstStyle/>
          <a:p>
            <a:pPr algn="ctr">
              <a:spcAft>
                <a:spcPts val="400"/>
              </a:spcAft>
            </a:pPr>
            <a:r>
              <a:rPr sz="1150" b="1" lang="en-GB">
                <a:solidFill>
                  <a:schemeClr val="tx2"/>
                </a:solidFill>
              </a:rPr>
              <a:t>8</a:t>
            </a:r>
          </a:p>
        </p:txBody>
      </p:sp>
      <p:sp>
        <p:nvSpPr>
          <p:cNvPr id="64" name="Adstock grid 3-6"/>
          <p:cNvSpPr/>
          <p:nvPr/>
        </p:nvSpPr>
        <p:spPr>
          <a:xfrm>
            <a:off x="4462272" y="1947672"/>
            <a:ext cx="676656" cy="32918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5" name="Adstock grid text 3-6"/>
          <p:cNvSpPr txBox="1"/>
          <p:nvPr/>
        </p:nvSpPr>
        <p:spPr>
          <a:xfrm>
            <a:off x="4553712" y="1947672"/>
            <a:ext cx="493776" cy="329184"/>
          </a:xfrm>
          <a:prstGeom prst="rect">
            <a:avLst/>
          </a:prstGeom>
          <a:noFill/>
        </p:spPr>
        <p:txBody>
          <a:bodyPr wrap="square" lIns="0" rIns="0" tIns="0" bIns="0" anchor="ctr">
            <a:noAutofit/>
          </a:bodyPr>
          <a:lstStyle/>
          <a:p>
            <a:pPr algn="ctr">
              <a:spcAft>
                <a:spcPts val="400"/>
              </a:spcAft>
            </a:pPr>
            <a:r>
              <a:rPr sz="1150" b="0" lang="en-GB">
                <a:solidFill>
                  <a:schemeClr val="tx1"/>
                </a:solidFill>
              </a:rPr>
              <a:t>8</a:t>
            </a:r>
          </a:p>
        </p:txBody>
      </p:sp>
      <p:sp>
        <p:nvSpPr>
          <p:cNvPr id="66" name="Adstock grid 3-7"/>
          <p:cNvSpPr/>
          <p:nvPr/>
        </p:nvSpPr>
        <p:spPr>
          <a:xfrm>
            <a:off x="5166360" y="1947672"/>
            <a:ext cx="676656" cy="32918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7" name="Adstock grid text 3-7"/>
          <p:cNvSpPr txBox="1"/>
          <p:nvPr/>
        </p:nvSpPr>
        <p:spPr>
          <a:xfrm>
            <a:off x="5257800" y="1947672"/>
            <a:ext cx="493776" cy="329184"/>
          </a:xfrm>
          <a:prstGeom prst="rect">
            <a:avLst/>
          </a:prstGeom>
          <a:noFill/>
        </p:spPr>
        <p:txBody>
          <a:bodyPr wrap="square" lIns="0" rIns="0" tIns="0" bIns="0" anchor="ctr">
            <a:noAutofit/>
          </a:bodyPr>
          <a:lstStyle/>
          <a:p>
            <a:pPr algn="ctr">
              <a:spcAft>
                <a:spcPts val="400"/>
              </a:spcAft>
            </a:pPr>
            <a:r>
              <a:rPr sz="1150" b="0" lang="en-GB">
                <a:solidFill>
                  <a:schemeClr val="tx1"/>
                </a:solidFill>
              </a:rPr>
              <a:t>4</a:t>
            </a:r>
          </a:p>
        </p:txBody>
      </p:sp>
      <p:sp>
        <p:nvSpPr>
          <p:cNvPr id="68" name="Adstock grid 3-8"/>
          <p:cNvSpPr/>
          <p:nvPr/>
        </p:nvSpPr>
        <p:spPr>
          <a:xfrm>
            <a:off x="5870448" y="1947672"/>
            <a:ext cx="676656" cy="32918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9" name="Adstock grid text 3-8"/>
          <p:cNvSpPr txBox="1"/>
          <p:nvPr/>
        </p:nvSpPr>
        <p:spPr>
          <a:xfrm>
            <a:off x="5961888" y="1947672"/>
            <a:ext cx="493776" cy="329184"/>
          </a:xfrm>
          <a:prstGeom prst="rect">
            <a:avLst/>
          </a:prstGeom>
          <a:noFill/>
        </p:spPr>
        <p:txBody>
          <a:bodyPr wrap="square" lIns="0" rIns="0" tIns="0" bIns="0" anchor="ctr">
            <a:noAutofit/>
          </a:bodyPr>
          <a:lstStyle/>
          <a:p>
            <a:pPr algn="ctr">
              <a:spcAft>
                <a:spcPts val="400"/>
              </a:spcAft>
            </a:pPr>
            <a:r>
              <a:rPr sz="1150" b="0" lang="en-GB">
                <a:solidFill>
                  <a:schemeClr val="tx1"/>
                </a:solidFill>
              </a:rPr>
              <a:t>2</a:t>
            </a:r>
          </a:p>
        </p:txBody>
      </p:sp>
      <p:sp>
        <p:nvSpPr>
          <p:cNvPr id="70" name="Adstock grid 3-9"/>
          <p:cNvSpPr/>
          <p:nvPr/>
        </p:nvSpPr>
        <p:spPr>
          <a:xfrm>
            <a:off x="6574536" y="1947672"/>
            <a:ext cx="676656" cy="32918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1" name="Adstock grid text 3-9"/>
          <p:cNvSpPr txBox="1"/>
          <p:nvPr/>
        </p:nvSpPr>
        <p:spPr>
          <a:xfrm>
            <a:off x="6665976" y="1947672"/>
            <a:ext cx="493776" cy="329184"/>
          </a:xfrm>
          <a:prstGeom prst="rect">
            <a:avLst/>
          </a:prstGeom>
          <a:noFill/>
        </p:spPr>
        <p:txBody>
          <a:bodyPr wrap="square" lIns="0" rIns="0" tIns="0" bIns="0" anchor="ctr">
            <a:noAutofit/>
          </a:bodyPr>
          <a:lstStyle/>
          <a:p>
            <a:pPr algn="ctr">
              <a:spcAft>
                <a:spcPts val="400"/>
              </a:spcAft>
            </a:pPr>
            <a:r>
              <a:rPr sz="1150" b="0" lang="en-GB">
                <a:solidFill>
                  <a:schemeClr val="tx1"/>
                </a:solidFill>
              </a:rPr>
              <a:t>1</a:t>
            </a:r>
          </a:p>
        </p:txBody>
      </p:sp>
      <p:sp>
        <p:nvSpPr>
          <p:cNvPr id="72" name="Adstock grid 3-10"/>
          <p:cNvSpPr/>
          <p:nvPr/>
        </p:nvSpPr>
        <p:spPr>
          <a:xfrm>
            <a:off x="7278624" y="1947672"/>
            <a:ext cx="676656" cy="32918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3" name="Adstock grid text 3-10"/>
          <p:cNvSpPr txBox="1"/>
          <p:nvPr/>
        </p:nvSpPr>
        <p:spPr>
          <a:xfrm>
            <a:off x="7370064" y="1947672"/>
            <a:ext cx="493776" cy="329184"/>
          </a:xfrm>
          <a:prstGeom prst="rect">
            <a:avLst/>
          </a:prstGeom>
          <a:noFill/>
        </p:spPr>
        <p:txBody>
          <a:bodyPr wrap="square" lIns="0" rIns="0" tIns="0" bIns="0" anchor="ctr">
            <a:noAutofit/>
          </a:bodyPr>
          <a:lstStyle/>
          <a:p>
            <a:pPr algn="ctr">
              <a:spcAft>
                <a:spcPts val="400"/>
              </a:spcAft>
            </a:pPr>
            <a:r>
              <a:rPr sz="1150" b="0" lang="en-GB">
                <a:solidFill>
                  <a:schemeClr val="tx1"/>
                </a:solidFill>
              </a:rPr>
              <a:t>0.5</a:t>
            </a:r>
          </a:p>
        </p:txBody>
      </p:sp>
      <p:sp>
        <p:nvSpPr>
          <p:cNvPr id="74" name="Adstock grid 3-11"/>
          <p:cNvSpPr/>
          <p:nvPr/>
        </p:nvSpPr>
        <p:spPr>
          <a:xfrm>
            <a:off x="7982712" y="1947672"/>
            <a:ext cx="704088" cy="32918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5" name="Adstock grid text 3-11"/>
          <p:cNvSpPr txBox="1"/>
          <p:nvPr/>
        </p:nvSpPr>
        <p:spPr>
          <a:xfrm>
            <a:off x="8074152" y="1947672"/>
            <a:ext cx="493776" cy="329184"/>
          </a:xfrm>
          <a:prstGeom prst="rect">
            <a:avLst/>
          </a:prstGeom>
          <a:noFill/>
        </p:spPr>
        <p:txBody>
          <a:bodyPr wrap="square" lIns="0" rIns="0" tIns="0" bIns="0" anchor="ctr">
            <a:noAutofit/>
          </a:bodyPr>
          <a:lstStyle/>
          <a:p>
            <a:pPr algn="ctr">
              <a:spcAft>
                <a:spcPts val="400"/>
              </a:spcAft>
            </a:pPr>
            <a:r>
              <a:rPr sz="1150" b="0" lang="en-GB">
                <a:solidFill>
                  <a:schemeClr val="tx1"/>
                </a:solidFill>
              </a:rPr>
              <a:t>0.25</a:t>
            </a:r>
          </a:p>
        </p:txBody>
      </p:sp>
      <p:sp>
        <p:nvSpPr>
          <p:cNvPr id="76" name="Adstock grid 4-1"/>
          <p:cNvSpPr/>
          <p:nvPr/>
        </p:nvSpPr>
        <p:spPr>
          <a:xfrm>
            <a:off x="457200" y="2304288"/>
            <a:ext cx="1161288" cy="32918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7" name="Adstock grid text 4-1"/>
          <p:cNvSpPr txBox="1"/>
          <p:nvPr/>
        </p:nvSpPr>
        <p:spPr>
          <a:xfrm>
            <a:off x="548640" y="2304288"/>
            <a:ext cx="978408" cy="329184"/>
          </a:xfrm>
          <a:prstGeom prst="rect">
            <a:avLst/>
          </a:prstGeom>
          <a:noFill/>
        </p:spPr>
        <p:txBody>
          <a:bodyPr wrap="square" lIns="0" rIns="0" tIns="0" bIns="0" anchor="ctr">
            <a:noAutofit/>
          </a:bodyPr>
          <a:lstStyle/>
          <a:p>
            <a:pPr algn="l">
              <a:spcAft>
                <a:spcPts val="400"/>
              </a:spcAft>
            </a:pPr>
            <a:r>
              <a:rPr sz="1150" b="1" lang="en-GB">
                <a:solidFill>
                  <a:schemeClr val="tx2"/>
                </a:solidFill>
              </a:rPr>
              <a:t>= adstock</a:t>
            </a:r>
          </a:p>
        </p:txBody>
      </p:sp>
      <p:sp>
        <p:nvSpPr>
          <p:cNvPr id="78" name="Adstock grid 4-2"/>
          <p:cNvSpPr/>
          <p:nvPr/>
        </p:nvSpPr>
        <p:spPr>
          <a:xfrm>
            <a:off x="1645920" y="2304288"/>
            <a:ext cx="676656" cy="32918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9" name="Adstock grid text 4-2"/>
          <p:cNvSpPr txBox="1"/>
          <p:nvPr/>
        </p:nvSpPr>
        <p:spPr>
          <a:xfrm>
            <a:off x="1737360" y="2304288"/>
            <a:ext cx="493776" cy="329184"/>
          </a:xfrm>
          <a:prstGeom prst="rect">
            <a:avLst/>
          </a:prstGeom>
          <a:noFill/>
        </p:spPr>
        <p:txBody>
          <a:bodyPr wrap="square" lIns="0" rIns="0" tIns="0" bIns="0" anchor="ctr">
            <a:noAutofit/>
          </a:bodyPr>
          <a:lstStyle/>
          <a:p>
            <a:pPr algn="ctr">
              <a:spcAft>
                <a:spcPts val="400"/>
              </a:spcAft>
            </a:pPr>
            <a:r>
              <a:rPr sz="1150" b="1" lang="en-GB">
                <a:solidFill>
                  <a:schemeClr val="tx2"/>
                </a:solidFill>
              </a:rPr>
              <a:t>0</a:t>
            </a:r>
          </a:p>
        </p:txBody>
      </p:sp>
      <p:sp>
        <p:nvSpPr>
          <p:cNvPr id="80" name="Adstock grid 4-3"/>
          <p:cNvSpPr/>
          <p:nvPr/>
        </p:nvSpPr>
        <p:spPr>
          <a:xfrm>
            <a:off x="2350008" y="2304288"/>
            <a:ext cx="676656" cy="32918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1" name="Adstock grid text 4-3"/>
          <p:cNvSpPr txBox="1"/>
          <p:nvPr/>
        </p:nvSpPr>
        <p:spPr>
          <a:xfrm>
            <a:off x="2441448" y="2304288"/>
            <a:ext cx="493776" cy="329184"/>
          </a:xfrm>
          <a:prstGeom prst="rect">
            <a:avLst/>
          </a:prstGeom>
          <a:noFill/>
        </p:spPr>
        <p:txBody>
          <a:bodyPr wrap="square" lIns="0" rIns="0" tIns="0" bIns="0" anchor="ctr">
            <a:noAutofit/>
          </a:bodyPr>
          <a:lstStyle/>
          <a:p>
            <a:pPr algn="ctr">
              <a:spcAft>
                <a:spcPts val="400"/>
              </a:spcAft>
            </a:pPr>
            <a:r>
              <a:rPr sz="1150" b="1" lang="en-GB">
                <a:solidFill>
                  <a:schemeClr val="tx2"/>
                </a:solidFill>
              </a:rPr>
              <a:t>0</a:t>
            </a:r>
          </a:p>
        </p:txBody>
      </p:sp>
      <p:sp>
        <p:nvSpPr>
          <p:cNvPr id="82" name="Adstock grid 4-4"/>
          <p:cNvSpPr/>
          <p:nvPr/>
        </p:nvSpPr>
        <p:spPr>
          <a:xfrm>
            <a:off x="3054096" y="2304288"/>
            <a:ext cx="676656" cy="32918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3" name="Adstock grid text 4-4"/>
          <p:cNvSpPr txBox="1"/>
          <p:nvPr/>
        </p:nvSpPr>
        <p:spPr>
          <a:xfrm>
            <a:off x="3145536" y="2304288"/>
            <a:ext cx="493776" cy="329184"/>
          </a:xfrm>
          <a:prstGeom prst="rect">
            <a:avLst/>
          </a:prstGeom>
          <a:noFill/>
        </p:spPr>
        <p:txBody>
          <a:bodyPr wrap="square" lIns="0" rIns="0" tIns="0" bIns="0" anchor="ctr">
            <a:noAutofit/>
          </a:bodyPr>
          <a:lstStyle/>
          <a:p>
            <a:pPr algn="ctr">
              <a:spcAft>
                <a:spcPts val="400"/>
              </a:spcAft>
            </a:pPr>
            <a:r>
              <a:rPr sz="1150" b="1" lang="en-GB">
                <a:solidFill>
                  <a:schemeClr val="accent1"/>
                </a:solidFill>
              </a:rPr>
              <a:t>16</a:t>
            </a:r>
          </a:p>
        </p:txBody>
      </p:sp>
      <p:sp>
        <p:nvSpPr>
          <p:cNvPr id="84" name="Adstock grid 4-5"/>
          <p:cNvSpPr/>
          <p:nvPr/>
        </p:nvSpPr>
        <p:spPr>
          <a:xfrm>
            <a:off x="3758184" y="2304288"/>
            <a:ext cx="676656" cy="32918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5" name="Adstock grid text 4-5"/>
          <p:cNvSpPr txBox="1"/>
          <p:nvPr/>
        </p:nvSpPr>
        <p:spPr>
          <a:xfrm>
            <a:off x="3849624" y="2304288"/>
            <a:ext cx="493776" cy="329184"/>
          </a:xfrm>
          <a:prstGeom prst="rect">
            <a:avLst/>
          </a:prstGeom>
          <a:noFill/>
        </p:spPr>
        <p:txBody>
          <a:bodyPr wrap="square" lIns="0" rIns="0" tIns="0" bIns="0" anchor="ctr">
            <a:noAutofit/>
          </a:bodyPr>
          <a:lstStyle/>
          <a:p>
            <a:pPr algn="ctr">
              <a:spcAft>
                <a:spcPts val="400"/>
              </a:spcAft>
            </a:pPr>
            <a:r>
              <a:rPr sz="1150" b="1" lang="en-GB">
                <a:solidFill>
                  <a:schemeClr val="tx2"/>
                </a:solidFill>
              </a:rPr>
              <a:t>16</a:t>
            </a:r>
          </a:p>
        </p:txBody>
      </p:sp>
      <p:sp>
        <p:nvSpPr>
          <p:cNvPr id="86" name="Adstock grid 4-6"/>
          <p:cNvSpPr/>
          <p:nvPr/>
        </p:nvSpPr>
        <p:spPr>
          <a:xfrm>
            <a:off x="4462272" y="2304288"/>
            <a:ext cx="676656" cy="32918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7" name="Adstock grid text 4-6"/>
          <p:cNvSpPr txBox="1"/>
          <p:nvPr/>
        </p:nvSpPr>
        <p:spPr>
          <a:xfrm>
            <a:off x="4553712" y="2304288"/>
            <a:ext cx="493776" cy="329184"/>
          </a:xfrm>
          <a:prstGeom prst="rect">
            <a:avLst/>
          </a:prstGeom>
          <a:noFill/>
        </p:spPr>
        <p:txBody>
          <a:bodyPr wrap="square" lIns="0" rIns="0" tIns="0" bIns="0" anchor="ctr">
            <a:noAutofit/>
          </a:bodyPr>
          <a:lstStyle/>
          <a:p>
            <a:pPr algn="ctr">
              <a:spcAft>
                <a:spcPts val="400"/>
              </a:spcAft>
            </a:pPr>
            <a:r>
              <a:rPr sz="1150" b="1" lang="en-GB">
                <a:solidFill>
                  <a:schemeClr val="tx2"/>
                </a:solidFill>
              </a:rPr>
              <a:t>8</a:t>
            </a:r>
          </a:p>
        </p:txBody>
      </p:sp>
      <p:sp>
        <p:nvSpPr>
          <p:cNvPr id="88" name="Adstock grid 4-7"/>
          <p:cNvSpPr/>
          <p:nvPr/>
        </p:nvSpPr>
        <p:spPr>
          <a:xfrm>
            <a:off x="5166360" y="2304288"/>
            <a:ext cx="676656" cy="32918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9" name="Adstock grid text 4-7"/>
          <p:cNvSpPr txBox="1"/>
          <p:nvPr/>
        </p:nvSpPr>
        <p:spPr>
          <a:xfrm>
            <a:off x="5257800" y="2304288"/>
            <a:ext cx="493776" cy="329184"/>
          </a:xfrm>
          <a:prstGeom prst="rect">
            <a:avLst/>
          </a:prstGeom>
          <a:noFill/>
        </p:spPr>
        <p:txBody>
          <a:bodyPr wrap="square" lIns="0" rIns="0" tIns="0" bIns="0" anchor="ctr">
            <a:noAutofit/>
          </a:bodyPr>
          <a:lstStyle/>
          <a:p>
            <a:pPr algn="ctr">
              <a:spcAft>
                <a:spcPts val="400"/>
              </a:spcAft>
            </a:pPr>
            <a:r>
              <a:rPr sz="1150" b="1" lang="en-GB">
                <a:solidFill>
                  <a:schemeClr val="tx2"/>
                </a:solidFill>
              </a:rPr>
              <a:t>4</a:t>
            </a:r>
          </a:p>
        </p:txBody>
      </p:sp>
      <p:sp>
        <p:nvSpPr>
          <p:cNvPr id="90" name="Adstock grid 4-8"/>
          <p:cNvSpPr/>
          <p:nvPr/>
        </p:nvSpPr>
        <p:spPr>
          <a:xfrm>
            <a:off x="5870448" y="2304288"/>
            <a:ext cx="676656" cy="32918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1" name="Adstock grid text 4-8"/>
          <p:cNvSpPr txBox="1"/>
          <p:nvPr/>
        </p:nvSpPr>
        <p:spPr>
          <a:xfrm>
            <a:off x="5961888" y="2304288"/>
            <a:ext cx="493776" cy="329184"/>
          </a:xfrm>
          <a:prstGeom prst="rect">
            <a:avLst/>
          </a:prstGeom>
          <a:noFill/>
        </p:spPr>
        <p:txBody>
          <a:bodyPr wrap="square" lIns="0" rIns="0" tIns="0" bIns="0" anchor="ctr">
            <a:noAutofit/>
          </a:bodyPr>
          <a:lstStyle/>
          <a:p>
            <a:pPr algn="ctr">
              <a:spcAft>
                <a:spcPts val="400"/>
              </a:spcAft>
            </a:pPr>
            <a:r>
              <a:rPr sz="1150" b="1" lang="en-GB">
                <a:solidFill>
                  <a:schemeClr val="tx2"/>
                </a:solidFill>
              </a:rPr>
              <a:t>2</a:t>
            </a:r>
          </a:p>
        </p:txBody>
      </p:sp>
      <p:sp>
        <p:nvSpPr>
          <p:cNvPr id="92" name="Adstock grid 4-9"/>
          <p:cNvSpPr/>
          <p:nvPr/>
        </p:nvSpPr>
        <p:spPr>
          <a:xfrm>
            <a:off x="6574536" y="2304288"/>
            <a:ext cx="676656" cy="32918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3" name="Adstock grid text 4-9"/>
          <p:cNvSpPr txBox="1"/>
          <p:nvPr/>
        </p:nvSpPr>
        <p:spPr>
          <a:xfrm>
            <a:off x="6665976" y="2304288"/>
            <a:ext cx="493776" cy="329184"/>
          </a:xfrm>
          <a:prstGeom prst="rect">
            <a:avLst/>
          </a:prstGeom>
          <a:noFill/>
        </p:spPr>
        <p:txBody>
          <a:bodyPr wrap="square" lIns="0" rIns="0" tIns="0" bIns="0" anchor="ctr">
            <a:noAutofit/>
          </a:bodyPr>
          <a:lstStyle/>
          <a:p>
            <a:pPr algn="ctr">
              <a:spcAft>
                <a:spcPts val="400"/>
              </a:spcAft>
            </a:pPr>
            <a:r>
              <a:rPr sz="1150" b="1" lang="en-GB">
                <a:solidFill>
                  <a:schemeClr val="tx2"/>
                </a:solidFill>
              </a:rPr>
              <a:t>1</a:t>
            </a:r>
          </a:p>
        </p:txBody>
      </p:sp>
      <p:sp>
        <p:nvSpPr>
          <p:cNvPr id="94" name="Adstock grid 4-10"/>
          <p:cNvSpPr/>
          <p:nvPr/>
        </p:nvSpPr>
        <p:spPr>
          <a:xfrm>
            <a:off x="7278624" y="2304288"/>
            <a:ext cx="676656" cy="32918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5" name="Adstock grid text 4-10"/>
          <p:cNvSpPr txBox="1"/>
          <p:nvPr/>
        </p:nvSpPr>
        <p:spPr>
          <a:xfrm>
            <a:off x="7370064" y="2304288"/>
            <a:ext cx="493776" cy="329184"/>
          </a:xfrm>
          <a:prstGeom prst="rect">
            <a:avLst/>
          </a:prstGeom>
          <a:noFill/>
        </p:spPr>
        <p:txBody>
          <a:bodyPr wrap="square" lIns="0" rIns="0" tIns="0" bIns="0" anchor="ctr">
            <a:noAutofit/>
          </a:bodyPr>
          <a:lstStyle/>
          <a:p>
            <a:pPr algn="ctr">
              <a:spcAft>
                <a:spcPts val="400"/>
              </a:spcAft>
            </a:pPr>
            <a:r>
              <a:rPr sz="1150" b="1" lang="en-GB">
                <a:solidFill>
                  <a:schemeClr val="tx2"/>
                </a:solidFill>
              </a:rPr>
              <a:t>0.5</a:t>
            </a:r>
          </a:p>
        </p:txBody>
      </p:sp>
      <p:sp>
        <p:nvSpPr>
          <p:cNvPr id="96" name="Adstock grid 4-11"/>
          <p:cNvSpPr/>
          <p:nvPr/>
        </p:nvSpPr>
        <p:spPr>
          <a:xfrm>
            <a:off x="7982712" y="2304288"/>
            <a:ext cx="704088" cy="32918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7" name="Adstock grid text 4-11"/>
          <p:cNvSpPr txBox="1"/>
          <p:nvPr/>
        </p:nvSpPr>
        <p:spPr>
          <a:xfrm>
            <a:off x="8074152" y="2304288"/>
            <a:ext cx="493776" cy="329184"/>
          </a:xfrm>
          <a:prstGeom prst="rect">
            <a:avLst/>
          </a:prstGeom>
          <a:noFill/>
        </p:spPr>
        <p:txBody>
          <a:bodyPr wrap="square" lIns="0" rIns="0" tIns="0" bIns="0" anchor="ctr">
            <a:noAutofit/>
          </a:bodyPr>
          <a:lstStyle/>
          <a:p>
            <a:pPr algn="ctr">
              <a:spcAft>
                <a:spcPts val="400"/>
              </a:spcAft>
            </a:pPr>
            <a:r>
              <a:rPr sz="1150" b="1" lang="en-GB">
                <a:solidFill>
                  <a:schemeClr val="tx2"/>
                </a:solidFill>
              </a:rPr>
              <a:t>0.25</a:t>
            </a:r>
          </a:p>
        </p:txBody>
      </p:sp>
      <p:sp>
        <p:nvSpPr>
          <p:cNvPr id="98" name="Week 4 row row"/>
          <p:cNvSpPr/>
          <p:nvPr/>
        </p:nvSpPr>
        <p:spPr>
          <a:xfrm>
            <a:off x="457200" y="2770632"/>
            <a:ext cx="4937760" cy="54864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9" name="Week 4 row bar"/>
          <p:cNvSpPr/>
          <p:nvPr/>
        </p:nvSpPr>
        <p:spPr>
          <a:xfrm>
            <a:off x="457200" y="2770632"/>
            <a:ext cx="64008" cy="5486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0" name="Week 4 row text"/>
          <p:cNvSpPr txBox="1"/>
          <p:nvPr/>
        </p:nvSpPr>
        <p:spPr>
          <a:xfrm>
            <a:off x="658368" y="2770632"/>
            <a:ext cx="4645152" cy="548640"/>
          </a:xfrm>
          <a:prstGeom prst="rect">
            <a:avLst/>
          </a:prstGeom>
          <a:noFill/>
        </p:spPr>
        <p:txBody>
          <a:bodyPr wrap="square" lIns="0" rIns="0" tIns="0" bIns="0" anchor="ctr">
            <a:noAutofit/>
          </a:bodyPr>
          <a:lstStyle/>
          <a:p>
            <a:pPr algn="l">
              <a:spcAft>
                <a:spcPts val="200"/>
              </a:spcAft>
            </a:pPr>
            <a:r>
              <a:rPr sz="1250" b="1" lang="en-GB">
                <a:solidFill>
                  <a:schemeClr val="tx2"/>
                </a:solidFill>
              </a:rPr>
              <a:t>Week 4: </a:t>
            </a:r>
            <a:r>
              <a:rPr sz="1250" b="0" lang="en-GB">
                <a:solidFill>
                  <a:schemeClr val="tx1"/>
                </a:solidFill>
              </a:rPr>
              <a:t>8 + 0.5 × 16 = 16</a:t>
            </a:r>
          </a:p>
          <a:p>
            <a:pPr algn="l">
              <a:spcAft>
                <a:spcPts val="200"/>
              </a:spcAft>
            </a:pPr>
            <a:r>
              <a:rPr sz="1250" b="0" lang="en-GB">
                <a:solidFill>
                  <a:schemeClr val="tx1"/>
                </a:solidFill>
              </a:rPr>
              <a:t>new spend + half of last week's adstock</a:t>
            </a:r>
          </a:p>
        </p:txBody>
      </p:sp>
      <p:sp>
        <p:nvSpPr>
          <p:cNvPr id="101" name="Week 5 row row"/>
          <p:cNvSpPr/>
          <p:nvPr/>
        </p:nvSpPr>
        <p:spPr>
          <a:xfrm>
            <a:off x="457200" y="3456432"/>
            <a:ext cx="4937760" cy="54864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2" name="Week 5 row bar"/>
          <p:cNvSpPr/>
          <p:nvPr/>
        </p:nvSpPr>
        <p:spPr>
          <a:xfrm>
            <a:off x="457200" y="3456432"/>
            <a:ext cx="64008" cy="5486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3" name="Week 5 row text"/>
          <p:cNvSpPr txBox="1"/>
          <p:nvPr/>
        </p:nvSpPr>
        <p:spPr>
          <a:xfrm>
            <a:off x="658368" y="3456432"/>
            <a:ext cx="4645152" cy="548640"/>
          </a:xfrm>
          <a:prstGeom prst="rect">
            <a:avLst/>
          </a:prstGeom>
          <a:noFill/>
        </p:spPr>
        <p:txBody>
          <a:bodyPr wrap="square" lIns="0" rIns="0" tIns="0" bIns="0" anchor="ctr">
            <a:noAutofit/>
          </a:bodyPr>
          <a:lstStyle/>
          <a:p>
            <a:pPr algn="l">
              <a:spcAft>
                <a:spcPts val="200"/>
              </a:spcAft>
            </a:pPr>
            <a:r>
              <a:rPr sz="1250" b="1" lang="en-GB">
                <a:solidFill>
                  <a:schemeClr val="tx2"/>
                </a:solidFill>
              </a:rPr>
              <a:t>Week 5: </a:t>
            </a:r>
            <a:r>
              <a:rPr sz="1250" b="0" lang="en-GB">
                <a:solidFill>
                  <a:schemeClr val="tx1"/>
                </a:solidFill>
              </a:rPr>
              <a:t>0 + 0.5 × 16 = 8</a:t>
            </a:r>
          </a:p>
          <a:p>
            <a:pPr algn="l">
              <a:spcAft>
                <a:spcPts val="200"/>
              </a:spcAft>
            </a:pPr>
            <a:r>
              <a:rPr sz="1250" b="0" lang="en-GB">
                <a:solidFill>
                  <a:schemeClr val="tx1"/>
                </a:solidFill>
              </a:rPr>
              <a:t>no new spend: half is left</a:t>
            </a:r>
          </a:p>
        </p:txBody>
      </p:sp>
      <p:sp>
        <p:nvSpPr>
          <p:cNvPr id="104" name="TV spend stat box"/>
          <p:cNvSpPr/>
          <p:nvPr/>
        </p:nvSpPr>
        <p:spPr>
          <a:xfrm>
            <a:off x="5532120" y="2770632"/>
            <a:ext cx="3154680" cy="54864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5" name="TV spend stat bar"/>
          <p:cNvSpPr/>
          <p:nvPr/>
        </p:nvSpPr>
        <p:spPr>
          <a:xfrm>
            <a:off x="5532120" y="2770632"/>
            <a:ext cx="64008" cy="5486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6" name="TV spend stat figure"/>
          <p:cNvSpPr txBox="1"/>
          <p:nvPr/>
        </p:nvSpPr>
        <p:spPr>
          <a:xfrm>
            <a:off x="5715000" y="2770632"/>
            <a:ext cx="1325880" cy="548640"/>
          </a:xfrm>
          <a:prstGeom prst="rect">
            <a:avLst/>
          </a:prstGeom>
          <a:noFill/>
        </p:spPr>
        <p:txBody>
          <a:bodyPr wrap="square" lIns="0" rIns="0" tIns="0" bIns="0" anchor="ctr">
            <a:noAutofit/>
          </a:bodyPr>
          <a:lstStyle/>
          <a:p>
            <a:pPr algn="l">
              <a:spcAft>
                <a:spcPts val="400"/>
              </a:spcAft>
            </a:pPr>
            <a:r>
              <a:rPr sz="2800" b="1" lang="en-GB">
                <a:solidFill>
                  <a:schemeClr val="tx2"/>
                </a:solidFill>
                <a:latin typeface="+mj-lt"/>
              </a:rPr>
              <a:t>24</a:t>
            </a:r>
          </a:p>
        </p:txBody>
      </p:sp>
      <p:sp>
        <p:nvSpPr>
          <p:cNvPr id="107" name="TV spend stat label"/>
          <p:cNvSpPr txBox="1"/>
          <p:nvPr/>
        </p:nvSpPr>
        <p:spPr>
          <a:xfrm>
            <a:off x="7040880" y="2770632"/>
            <a:ext cx="1554480" cy="548640"/>
          </a:xfrm>
          <a:prstGeom prst="rect">
            <a:avLst/>
          </a:prstGeom>
          <a:noFill/>
        </p:spPr>
        <p:txBody>
          <a:bodyPr wrap="square" lIns="0" rIns="0" tIns="0" bIns="0" anchor="ctr">
            <a:noAutofit/>
          </a:bodyPr>
          <a:lstStyle/>
          <a:p>
            <a:pPr algn="l">
              <a:spcAft>
                <a:spcPts val="200"/>
              </a:spcAft>
            </a:pPr>
            <a:r>
              <a:rPr sz="1200" b="0" lang="en-GB">
                <a:solidFill>
                  <a:schemeClr val="tx1"/>
                </a:solidFill>
              </a:rPr>
              <a:t>TV spend</a:t>
            </a:r>
          </a:p>
          <a:p>
            <a:pPr algn="l">
              <a:spcAft>
                <a:spcPts val="200"/>
              </a:spcAft>
            </a:pPr>
            <a:r>
              <a:rPr sz="1200" b="0" lang="en-GB">
                <a:solidFill>
                  <a:schemeClr val="tx1"/>
                </a:solidFill>
              </a:rPr>
              <a:t>in k EUR</a:t>
            </a:r>
          </a:p>
        </p:txBody>
      </p:sp>
      <p:sp>
        <p:nvSpPr>
          <p:cNvPr id="108" name="TV adstock stat box"/>
          <p:cNvSpPr/>
          <p:nvPr/>
        </p:nvSpPr>
        <p:spPr>
          <a:xfrm>
            <a:off x="5532120" y="3456432"/>
            <a:ext cx="3154680" cy="54864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9" name="TV adstock stat bar"/>
          <p:cNvSpPr/>
          <p:nvPr/>
        </p:nvSpPr>
        <p:spPr>
          <a:xfrm>
            <a:off x="5532120" y="3456432"/>
            <a:ext cx="64008" cy="5486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0" name="TV adstock stat figure"/>
          <p:cNvSpPr txBox="1"/>
          <p:nvPr/>
        </p:nvSpPr>
        <p:spPr>
          <a:xfrm>
            <a:off x="5715000" y="3456432"/>
            <a:ext cx="1325880" cy="548640"/>
          </a:xfrm>
          <a:prstGeom prst="rect">
            <a:avLst/>
          </a:prstGeom>
          <a:noFill/>
        </p:spPr>
        <p:txBody>
          <a:bodyPr wrap="square" lIns="0" rIns="0" tIns="0" bIns="0" anchor="ctr">
            <a:noAutofit/>
          </a:bodyPr>
          <a:lstStyle/>
          <a:p>
            <a:pPr algn="l">
              <a:spcAft>
                <a:spcPts val="400"/>
              </a:spcAft>
            </a:pPr>
            <a:r>
              <a:rPr sz="2800" b="1" lang="en-GB">
                <a:solidFill>
                  <a:schemeClr val="tx2"/>
                </a:solidFill>
                <a:latin typeface="+mj-lt"/>
              </a:rPr>
              <a:t>47.75</a:t>
            </a:r>
          </a:p>
        </p:txBody>
      </p:sp>
      <p:sp>
        <p:nvSpPr>
          <p:cNvPr id="111" name="TV adstock stat label"/>
          <p:cNvSpPr txBox="1"/>
          <p:nvPr/>
        </p:nvSpPr>
        <p:spPr>
          <a:xfrm>
            <a:off x="7040880" y="3456432"/>
            <a:ext cx="1554480" cy="548640"/>
          </a:xfrm>
          <a:prstGeom prst="rect">
            <a:avLst/>
          </a:prstGeom>
          <a:noFill/>
        </p:spPr>
        <p:txBody>
          <a:bodyPr wrap="square" lIns="0" rIns="0" tIns="0" bIns="0" anchor="ctr">
            <a:noAutofit/>
          </a:bodyPr>
          <a:lstStyle/>
          <a:p>
            <a:pPr algn="l">
              <a:spcAft>
                <a:spcPts val="200"/>
              </a:spcAft>
            </a:pPr>
            <a:r>
              <a:rPr sz="1200" b="0" lang="en-GB">
                <a:solidFill>
                  <a:schemeClr val="tx1"/>
                </a:solidFill>
              </a:rPr>
              <a:t>TV adstock</a:t>
            </a:r>
          </a:p>
          <a:p>
            <a:pPr algn="l">
              <a:spcAft>
                <a:spcPts val="200"/>
              </a:spcAft>
            </a:pPr>
            <a:r>
              <a:rPr sz="1200" b="0" lang="en-GB">
                <a:solidFill>
                  <a:schemeClr val="tx1"/>
                </a:solidFill>
              </a:rPr>
              <a:t>weeks 1–10</a:t>
            </a:r>
          </a:p>
        </p:txBody>
      </p:sp>
      <p:sp>
        <p:nvSpPr>
          <p:cNvPr id="112" name="Adstock callout box"/>
          <p:cNvSpPr/>
          <p:nvPr/>
        </p:nvSpPr>
        <p:spPr>
          <a:xfrm>
            <a:off x="457200" y="4142232"/>
            <a:ext cx="8229600" cy="50292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3" name="Adstock callout text"/>
          <p:cNvSpPr txBox="1"/>
          <p:nvPr/>
        </p:nvSpPr>
        <p:spPr>
          <a:xfrm>
            <a:off x="658368" y="4142232"/>
            <a:ext cx="7827264" cy="502920"/>
          </a:xfrm>
          <a:prstGeom prst="rect">
            <a:avLst/>
          </a:prstGeom>
          <a:noFill/>
        </p:spPr>
        <p:txBody>
          <a:bodyPr wrap="square" lIns="0" rIns="0" tIns="0" bIns="0" anchor="ctr">
            <a:noAutofit/>
          </a:bodyPr>
          <a:lstStyle/>
          <a:p>
            <a:pPr algn="l">
              <a:spcAft>
                <a:spcPts val="400"/>
              </a:spcAft>
            </a:pPr>
            <a:r>
              <a:rPr sz="1250" b="1" lang="en-GB">
                <a:solidFill>
                  <a:schemeClr val="bg1"/>
                </a:solidFill>
              </a:rPr>
              <a:t>Each euro works twice: </a:t>
            </a:r>
            <a:r>
              <a:rPr sz="1250" b="0" lang="en-GB">
                <a:solidFill>
                  <a:schemeClr val="bg1"/>
                </a:solidFill>
              </a:rPr>
              <a:t>24 k EUR of TV spend count as 47.75 in ten weeks, 48 in the long run.</a:t>
            </a:r>
          </a:p>
        </p:txBody>
      </p:sp>
      <p:sp>
        <p:nvSpPr>
          <p:cNvPr id="114" name="Sources"/>
          <p:cNvSpPr txBox="1"/>
          <p:nvPr/>
        </p:nvSpPr>
        <p:spPr>
          <a:xfrm>
            <a:off x="457200" y="4818888"/>
            <a:ext cx="8229600" cy="256032"/>
          </a:xfrm>
          <a:prstGeom prst="rect">
            <a:avLst/>
          </a:prstGeom>
          <a:noFill/>
        </p:spPr>
        <p:txBody>
          <a:bodyPr wrap="square" lIns="0" rIns="0" tIns="0" bIns="0" anchor="ctr">
            <a:noAutofit/>
          </a:bodyPr>
          <a:lstStyle/>
          <a:p>
            <a:pPr algn="l">
              <a:spcAft>
                <a:spcPts val="0"/>
              </a:spcAft>
            </a:pPr>
            <a:r>
              <a:rPr sz="1100" b="0" lang="en-GB">
                <a:solidFill>
                  <a:srgbClr val="595959"/>
                </a:solidFill>
              </a:rPr>
              <a:t>Invented round numbers (hand_example.csv)</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Contributions and ROI by hand</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ROI grid 1-1"/>
          <p:cNvSpPr/>
          <p:nvPr/>
        </p:nvSpPr>
        <p:spPr>
          <a:xfrm>
            <a:off x="457200" y="1234440"/>
            <a:ext cx="932688" cy="38404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OI grid text 1-1"/>
          <p:cNvSpPr txBox="1"/>
          <p:nvPr/>
        </p:nvSpPr>
        <p:spPr>
          <a:xfrm>
            <a:off x="548640" y="1234440"/>
            <a:ext cx="749808" cy="384048"/>
          </a:xfrm>
          <a:prstGeom prst="rect">
            <a:avLst/>
          </a:prstGeom>
          <a:noFill/>
        </p:spPr>
        <p:txBody>
          <a:bodyPr wrap="square" lIns="0" rIns="0" tIns="0" bIns="0" anchor="ctr">
            <a:noAutofit/>
          </a:bodyPr>
          <a:lstStyle/>
          <a:p>
            <a:pPr algn="l">
              <a:spcAft>
                <a:spcPts val="400"/>
              </a:spcAft>
            </a:pPr>
            <a:r>
              <a:rPr sz="1200" b="1" lang="en-GB">
                <a:solidFill>
                  <a:schemeClr val="bg1"/>
                </a:solidFill>
              </a:rPr>
              <a:t>Part</a:t>
            </a:r>
          </a:p>
        </p:txBody>
      </p:sp>
      <p:sp>
        <p:nvSpPr>
          <p:cNvPr id="12" name="ROI grid 1-2"/>
          <p:cNvSpPr/>
          <p:nvPr/>
        </p:nvSpPr>
        <p:spPr>
          <a:xfrm>
            <a:off x="1417320" y="1234440"/>
            <a:ext cx="1709928" cy="38404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I grid text 1-2"/>
          <p:cNvSpPr txBox="1"/>
          <p:nvPr/>
        </p:nvSpPr>
        <p:spPr>
          <a:xfrm>
            <a:off x="1508760" y="1234440"/>
            <a:ext cx="1527048" cy="384048"/>
          </a:xfrm>
          <a:prstGeom prst="rect">
            <a:avLst/>
          </a:prstGeom>
          <a:noFill/>
        </p:spPr>
        <p:txBody>
          <a:bodyPr wrap="square" lIns="0" rIns="0" tIns="0" bIns="0" anchor="ctr">
            <a:noAutofit/>
          </a:bodyPr>
          <a:lstStyle/>
          <a:p>
            <a:pPr algn="l">
              <a:spcAft>
                <a:spcPts val="400"/>
              </a:spcAft>
            </a:pPr>
            <a:r>
              <a:rPr sz="1200" b="1" lang="en-GB">
                <a:solidFill>
                  <a:schemeClr val="bg1"/>
                </a:solidFill>
              </a:rPr>
              <a:t>Calculation</a:t>
            </a:r>
          </a:p>
        </p:txBody>
      </p:sp>
      <p:sp>
        <p:nvSpPr>
          <p:cNvPr id="14" name="ROI grid 1-3"/>
          <p:cNvSpPr/>
          <p:nvPr/>
        </p:nvSpPr>
        <p:spPr>
          <a:xfrm>
            <a:off x="3154680" y="1234440"/>
            <a:ext cx="978408" cy="38404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OI grid text 1-3"/>
          <p:cNvSpPr txBox="1"/>
          <p:nvPr/>
        </p:nvSpPr>
        <p:spPr>
          <a:xfrm>
            <a:off x="3246120" y="1234440"/>
            <a:ext cx="795528" cy="384048"/>
          </a:xfrm>
          <a:prstGeom prst="rect">
            <a:avLst/>
          </a:prstGeom>
          <a:noFill/>
        </p:spPr>
        <p:txBody>
          <a:bodyPr wrap="square" lIns="0" rIns="0" tIns="0" bIns="0" anchor="ctr">
            <a:noAutofit/>
          </a:bodyPr>
          <a:lstStyle/>
          <a:p>
            <a:pPr algn="r">
              <a:spcAft>
                <a:spcPts val="400"/>
              </a:spcAft>
            </a:pPr>
            <a:r>
              <a:rPr sz="1200" b="1" lang="en-GB">
                <a:solidFill>
                  <a:schemeClr val="bg1"/>
                </a:solidFill>
              </a:rPr>
              <a:t>Sales</a:t>
            </a:r>
          </a:p>
        </p:txBody>
      </p:sp>
      <p:sp>
        <p:nvSpPr>
          <p:cNvPr id="16" name="ROI grid 1-4"/>
          <p:cNvSpPr/>
          <p:nvPr/>
        </p:nvSpPr>
        <p:spPr>
          <a:xfrm>
            <a:off x="4160520" y="1234440"/>
            <a:ext cx="749808" cy="38404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I grid text 1-4"/>
          <p:cNvSpPr txBox="1"/>
          <p:nvPr/>
        </p:nvSpPr>
        <p:spPr>
          <a:xfrm>
            <a:off x="4251960" y="1234440"/>
            <a:ext cx="566928" cy="384048"/>
          </a:xfrm>
          <a:prstGeom prst="rect">
            <a:avLst/>
          </a:prstGeom>
          <a:noFill/>
        </p:spPr>
        <p:txBody>
          <a:bodyPr wrap="square" lIns="0" rIns="0" tIns="0" bIns="0" anchor="ctr">
            <a:noAutofit/>
          </a:bodyPr>
          <a:lstStyle/>
          <a:p>
            <a:pPr algn="r">
              <a:spcAft>
                <a:spcPts val="400"/>
              </a:spcAft>
            </a:pPr>
            <a:r>
              <a:rPr sz="1200" b="1" lang="en-GB">
                <a:solidFill>
                  <a:schemeClr val="bg1"/>
                </a:solidFill>
              </a:rPr>
              <a:t>Spend</a:t>
            </a:r>
          </a:p>
        </p:txBody>
      </p:sp>
      <p:sp>
        <p:nvSpPr>
          <p:cNvPr id="18" name="ROI grid 1-5"/>
          <p:cNvSpPr/>
          <p:nvPr/>
        </p:nvSpPr>
        <p:spPr>
          <a:xfrm>
            <a:off x="4937760" y="1234440"/>
            <a:ext cx="777240" cy="38404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OI grid text 1-5"/>
          <p:cNvSpPr txBox="1"/>
          <p:nvPr/>
        </p:nvSpPr>
        <p:spPr>
          <a:xfrm>
            <a:off x="5029200" y="1234440"/>
            <a:ext cx="566928" cy="384048"/>
          </a:xfrm>
          <a:prstGeom prst="rect">
            <a:avLst/>
          </a:prstGeom>
          <a:noFill/>
        </p:spPr>
        <p:txBody>
          <a:bodyPr wrap="square" lIns="0" rIns="0" tIns="0" bIns="0" anchor="ctr">
            <a:noAutofit/>
          </a:bodyPr>
          <a:lstStyle/>
          <a:p>
            <a:pPr algn="r">
              <a:spcAft>
                <a:spcPts val="400"/>
              </a:spcAft>
            </a:pPr>
            <a:r>
              <a:rPr sz="1200" b="1" lang="en-GB">
                <a:solidFill>
                  <a:schemeClr val="bg1"/>
                </a:solidFill>
              </a:rPr>
              <a:t>ROI</a:t>
            </a:r>
          </a:p>
        </p:txBody>
      </p:sp>
      <p:sp>
        <p:nvSpPr>
          <p:cNvPr id="20" name="ROI grid 2-1"/>
          <p:cNvSpPr/>
          <p:nvPr/>
        </p:nvSpPr>
        <p:spPr>
          <a:xfrm>
            <a:off x="457200" y="1645920"/>
            <a:ext cx="932688" cy="38404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I grid text 2-1"/>
          <p:cNvSpPr txBox="1"/>
          <p:nvPr/>
        </p:nvSpPr>
        <p:spPr>
          <a:xfrm>
            <a:off x="548640" y="1645920"/>
            <a:ext cx="749808" cy="384048"/>
          </a:xfrm>
          <a:prstGeom prst="rect">
            <a:avLst/>
          </a:prstGeom>
          <a:noFill/>
        </p:spPr>
        <p:txBody>
          <a:bodyPr wrap="square" lIns="0" rIns="0" tIns="0" bIns="0" anchor="ctr">
            <a:noAutofit/>
          </a:bodyPr>
          <a:lstStyle/>
          <a:p>
            <a:pPr algn="l">
              <a:spcAft>
                <a:spcPts val="400"/>
              </a:spcAft>
            </a:pPr>
            <a:r>
              <a:rPr sz="1200" b="1" lang="en-GB">
                <a:solidFill>
                  <a:schemeClr val="tx2"/>
                </a:solidFill>
              </a:rPr>
              <a:t>Baseline</a:t>
            </a:r>
          </a:p>
        </p:txBody>
      </p:sp>
      <p:sp>
        <p:nvSpPr>
          <p:cNvPr id="22" name="ROI grid 2-2"/>
          <p:cNvSpPr/>
          <p:nvPr/>
        </p:nvSpPr>
        <p:spPr>
          <a:xfrm>
            <a:off x="1417320" y="1645920"/>
            <a:ext cx="1709928" cy="38404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OI grid text 2-2"/>
          <p:cNvSpPr txBox="1"/>
          <p:nvPr/>
        </p:nvSpPr>
        <p:spPr>
          <a:xfrm>
            <a:off x="1508760" y="1645920"/>
            <a:ext cx="1527048" cy="384048"/>
          </a:xfrm>
          <a:prstGeom prst="rect">
            <a:avLst/>
          </a:prstGeom>
          <a:noFill/>
        </p:spPr>
        <p:txBody>
          <a:bodyPr wrap="square" lIns="0" rIns="0" tIns="0" bIns="0" anchor="ctr">
            <a:noAutofit/>
          </a:bodyPr>
          <a:lstStyle/>
          <a:p>
            <a:pPr algn="l">
              <a:spcAft>
                <a:spcPts val="400"/>
              </a:spcAft>
            </a:pPr>
            <a:r>
              <a:rPr sz="1200" b="0" lang="en-GB">
                <a:solidFill>
                  <a:schemeClr val="tx1"/>
                </a:solidFill>
              </a:rPr>
              <a:t>100 × 10 weeks</a:t>
            </a:r>
          </a:p>
        </p:txBody>
      </p:sp>
      <p:sp>
        <p:nvSpPr>
          <p:cNvPr id="24" name="ROI grid 2-3"/>
          <p:cNvSpPr/>
          <p:nvPr/>
        </p:nvSpPr>
        <p:spPr>
          <a:xfrm>
            <a:off x="3154680" y="1645920"/>
            <a:ext cx="978408" cy="38404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I grid text 2-3"/>
          <p:cNvSpPr txBox="1"/>
          <p:nvPr/>
        </p:nvSpPr>
        <p:spPr>
          <a:xfrm>
            <a:off x="3246120" y="1645920"/>
            <a:ext cx="795528" cy="384048"/>
          </a:xfrm>
          <a:prstGeom prst="rect">
            <a:avLst/>
          </a:prstGeom>
          <a:noFill/>
        </p:spPr>
        <p:txBody>
          <a:bodyPr wrap="square" lIns="0" rIns="0" tIns="0" bIns="0" anchor="ctr">
            <a:noAutofit/>
          </a:bodyPr>
          <a:lstStyle/>
          <a:p>
            <a:pPr algn="r">
              <a:spcAft>
                <a:spcPts val="400"/>
              </a:spcAft>
            </a:pPr>
            <a:r>
              <a:rPr sz="1200" b="0" lang="en-GB">
                <a:solidFill>
                  <a:schemeClr val="tx1"/>
                </a:solidFill>
              </a:rPr>
              <a:t>1,000</a:t>
            </a:r>
          </a:p>
        </p:txBody>
      </p:sp>
      <p:sp>
        <p:nvSpPr>
          <p:cNvPr id="26" name="ROI grid 2-4"/>
          <p:cNvSpPr/>
          <p:nvPr/>
        </p:nvSpPr>
        <p:spPr>
          <a:xfrm>
            <a:off x="4160520" y="1645920"/>
            <a:ext cx="749808" cy="38404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OI grid text 2-4"/>
          <p:cNvSpPr txBox="1"/>
          <p:nvPr/>
        </p:nvSpPr>
        <p:spPr>
          <a:xfrm>
            <a:off x="4251960" y="1645920"/>
            <a:ext cx="566928" cy="384048"/>
          </a:xfrm>
          <a:prstGeom prst="rect">
            <a:avLst/>
          </a:prstGeom>
          <a:noFill/>
        </p:spPr>
        <p:txBody>
          <a:bodyPr wrap="square" lIns="0" rIns="0" tIns="0" bIns="0" anchor="ctr">
            <a:noAutofit/>
          </a:bodyPr>
          <a:lstStyle/>
          <a:p>
            <a:pPr algn="r">
              <a:spcAft>
                <a:spcPts val="400"/>
              </a:spcAft>
            </a:pPr>
            <a:r>
              <a:rPr sz="1200" b="0" lang="en-GB">
                <a:solidFill>
                  <a:schemeClr val="tx1"/>
                </a:solidFill>
              </a:rPr>
              <a:t>–</a:t>
            </a:r>
          </a:p>
        </p:txBody>
      </p:sp>
      <p:sp>
        <p:nvSpPr>
          <p:cNvPr id="28" name="ROI grid 2-5"/>
          <p:cNvSpPr/>
          <p:nvPr/>
        </p:nvSpPr>
        <p:spPr>
          <a:xfrm>
            <a:off x="4937760" y="1645920"/>
            <a:ext cx="777240" cy="38404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OI grid text 2-5"/>
          <p:cNvSpPr txBox="1"/>
          <p:nvPr/>
        </p:nvSpPr>
        <p:spPr>
          <a:xfrm>
            <a:off x="5029200" y="1645920"/>
            <a:ext cx="566928" cy="384048"/>
          </a:xfrm>
          <a:prstGeom prst="rect">
            <a:avLst/>
          </a:prstGeom>
          <a:noFill/>
        </p:spPr>
        <p:txBody>
          <a:bodyPr wrap="square" lIns="0" rIns="0" tIns="0" bIns="0" anchor="ctr">
            <a:noAutofit/>
          </a:bodyPr>
          <a:lstStyle/>
          <a:p>
            <a:pPr algn="r">
              <a:spcAft>
                <a:spcPts val="400"/>
              </a:spcAft>
            </a:pPr>
            <a:r>
              <a:rPr sz="1200" b="0" lang="en-GB">
                <a:solidFill>
                  <a:schemeClr val="tx1"/>
                </a:solidFill>
              </a:rPr>
              <a:t>–</a:t>
            </a:r>
          </a:p>
        </p:txBody>
      </p:sp>
      <p:sp>
        <p:nvSpPr>
          <p:cNvPr id="30" name="ROI grid 3-1"/>
          <p:cNvSpPr/>
          <p:nvPr/>
        </p:nvSpPr>
        <p:spPr>
          <a:xfrm>
            <a:off x="457200" y="2057400"/>
            <a:ext cx="932688" cy="38404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OI grid text 3-1"/>
          <p:cNvSpPr txBox="1"/>
          <p:nvPr/>
        </p:nvSpPr>
        <p:spPr>
          <a:xfrm>
            <a:off x="548640" y="2057400"/>
            <a:ext cx="749808" cy="384048"/>
          </a:xfrm>
          <a:prstGeom prst="rect">
            <a:avLst/>
          </a:prstGeom>
          <a:noFill/>
        </p:spPr>
        <p:txBody>
          <a:bodyPr wrap="square" lIns="0" rIns="0" tIns="0" bIns="0" anchor="ctr">
            <a:noAutofit/>
          </a:bodyPr>
          <a:lstStyle/>
          <a:p>
            <a:pPr algn="l">
              <a:spcAft>
                <a:spcPts val="400"/>
              </a:spcAft>
            </a:pPr>
            <a:r>
              <a:rPr sz="1200" b="1" lang="en-GB">
                <a:solidFill>
                  <a:schemeClr val="tx2"/>
                </a:solidFill>
              </a:rPr>
              <a:t>TV</a:t>
            </a:r>
          </a:p>
        </p:txBody>
      </p:sp>
      <p:sp>
        <p:nvSpPr>
          <p:cNvPr id="32" name="ROI grid 3-2"/>
          <p:cNvSpPr/>
          <p:nvPr/>
        </p:nvSpPr>
        <p:spPr>
          <a:xfrm>
            <a:off x="1417320" y="2057400"/>
            <a:ext cx="1709928" cy="38404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ROI grid text 3-2"/>
          <p:cNvSpPr txBox="1"/>
          <p:nvPr/>
        </p:nvSpPr>
        <p:spPr>
          <a:xfrm>
            <a:off x="1508760" y="2057400"/>
            <a:ext cx="1527048" cy="384048"/>
          </a:xfrm>
          <a:prstGeom prst="rect">
            <a:avLst/>
          </a:prstGeom>
          <a:noFill/>
        </p:spPr>
        <p:txBody>
          <a:bodyPr wrap="square" lIns="0" rIns="0" tIns="0" bIns="0" anchor="ctr">
            <a:noAutofit/>
          </a:bodyPr>
          <a:lstStyle/>
          <a:p>
            <a:pPr algn="l">
              <a:spcAft>
                <a:spcPts val="400"/>
              </a:spcAft>
            </a:pPr>
            <a:r>
              <a:rPr sz="1200" b="0" lang="en-GB">
                <a:solidFill>
                  <a:schemeClr val="tx1"/>
                </a:solidFill>
              </a:rPr>
              <a:t>1 × 47.75 adstock</a:t>
            </a:r>
          </a:p>
        </p:txBody>
      </p:sp>
      <p:sp>
        <p:nvSpPr>
          <p:cNvPr id="34" name="ROI grid 3-3"/>
          <p:cNvSpPr/>
          <p:nvPr/>
        </p:nvSpPr>
        <p:spPr>
          <a:xfrm>
            <a:off x="3154680" y="2057400"/>
            <a:ext cx="978408" cy="38404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ROI grid text 3-3"/>
          <p:cNvSpPr txBox="1"/>
          <p:nvPr/>
        </p:nvSpPr>
        <p:spPr>
          <a:xfrm>
            <a:off x="3246120" y="2057400"/>
            <a:ext cx="795528" cy="384048"/>
          </a:xfrm>
          <a:prstGeom prst="rect">
            <a:avLst/>
          </a:prstGeom>
          <a:noFill/>
        </p:spPr>
        <p:txBody>
          <a:bodyPr wrap="square" lIns="0" rIns="0" tIns="0" bIns="0" anchor="ctr">
            <a:noAutofit/>
          </a:bodyPr>
          <a:lstStyle/>
          <a:p>
            <a:pPr algn="r">
              <a:spcAft>
                <a:spcPts val="400"/>
              </a:spcAft>
            </a:pPr>
            <a:r>
              <a:rPr sz="1200" b="0" lang="en-GB">
                <a:solidFill>
                  <a:schemeClr val="tx1"/>
                </a:solidFill>
              </a:rPr>
              <a:t>47.75</a:t>
            </a:r>
          </a:p>
        </p:txBody>
      </p:sp>
      <p:sp>
        <p:nvSpPr>
          <p:cNvPr id="36" name="ROI grid 3-4"/>
          <p:cNvSpPr/>
          <p:nvPr/>
        </p:nvSpPr>
        <p:spPr>
          <a:xfrm>
            <a:off x="4160520" y="2057400"/>
            <a:ext cx="749808" cy="38404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ROI grid text 3-4"/>
          <p:cNvSpPr txBox="1"/>
          <p:nvPr/>
        </p:nvSpPr>
        <p:spPr>
          <a:xfrm>
            <a:off x="4251960" y="2057400"/>
            <a:ext cx="566928" cy="384048"/>
          </a:xfrm>
          <a:prstGeom prst="rect">
            <a:avLst/>
          </a:prstGeom>
          <a:noFill/>
        </p:spPr>
        <p:txBody>
          <a:bodyPr wrap="square" lIns="0" rIns="0" tIns="0" bIns="0" anchor="ctr">
            <a:noAutofit/>
          </a:bodyPr>
          <a:lstStyle/>
          <a:p>
            <a:pPr algn="r">
              <a:spcAft>
                <a:spcPts val="400"/>
              </a:spcAft>
            </a:pPr>
            <a:r>
              <a:rPr sz="1200" b="0" lang="en-GB">
                <a:solidFill>
                  <a:schemeClr val="tx1"/>
                </a:solidFill>
              </a:rPr>
              <a:t>24</a:t>
            </a:r>
          </a:p>
        </p:txBody>
      </p:sp>
      <p:sp>
        <p:nvSpPr>
          <p:cNvPr id="38" name="ROI grid 3-5"/>
          <p:cNvSpPr/>
          <p:nvPr/>
        </p:nvSpPr>
        <p:spPr>
          <a:xfrm>
            <a:off x="4937760" y="2057400"/>
            <a:ext cx="777240" cy="38404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ROI grid text 3-5"/>
          <p:cNvSpPr txBox="1"/>
          <p:nvPr/>
        </p:nvSpPr>
        <p:spPr>
          <a:xfrm>
            <a:off x="5029200" y="2057400"/>
            <a:ext cx="566928" cy="384048"/>
          </a:xfrm>
          <a:prstGeom prst="rect">
            <a:avLst/>
          </a:prstGeom>
          <a:noFill/>
        </p:spPr>
        <p:txBody>
          <a:bodyPr wrap="square" lIns="0" rIns="0" tIns="0" bIns="0" anchor="ctr">
            <a:noAutofit/>
          </a:bodyPr>
          <a:lstStyle/>
          <a:p>
            <a:pPr algn="r">
              <a:spcAft>
                <a:spcPts val="400"/>
              </a:spcAft>
            </a:pPr>
            <a:r>
              <a:rPr sz="1200" b="0" lang="en-GB">
                <a:solidFill>
                  <a:schemeClr val="tx1"/>
                </a:solidFill>
              </a:rPr>
              <a:t>1.99</a:t>
            </a:r>
          </a:p>
        </p:txBody>
      </p:sp>
      <p:sp>
        <p:nvSpPr>
          <p:cNvPr id="40" name="ROI grid 4-1"/>
          <p:cNvSpPr/>
          <p:nvPr/>
        </p:nvSpPr>
        <p:spPr>
          <a:xfrm>
            <a:off x="457200" y="2468880"/>
            <a:ext cx="932688" cy="38404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ROI grid text 4-1"/>
          <p:cNvSpPr txBox="1"/>
          <p:nvPr/>
        </p:nvSpPr>
        <p:spPr>
          <a:xfrm>
            <a:off x="548640" y="2468880"/>
            <a:ext cx="749808" cy="384048"/>
          </a:xfrm>
          <a:prstGeom prst="rect">
            <a:avLst/>
          </a:prstGeom>
          <a:noFill/>
        </p:spPr>
        <p:txBody>
          <a:bodyPr wrap="square" lIns="0" rIns="0" tIns="0" bIns="0" anchor="ctr">
            <a:noAutofit/>
          </a:bodyPr>
          <a:lstStyle/>
          <a:p>
            <a:pPr algn="l">
              <a:spcAft>
                <a:spcPts val="400"/>
              </a:spcAft>
            </a:pPr>
            <a:r>
              <a:rPr sz="1200" b="1" lang="en-GB">
                <a:solidFill>
                  <a:schemeClr val="tx2"/>
                </a:solidFill>
              </a:rPr>
              <a:t>Online</a:t>
            </a:r>
          </a:p>
        </p:txBody>
      </p:sp>
      <p:sp>
        <p:nvSpPr>
          <p:cNvPr id="42" name="ROI grid 4-2"/>
          <p:cNvSpPr/>
          <p:nvPr/>
        </p:nvSpPr>
        <p:spPr>
          <a:xfrm>
            <a:off x="1417320" y="2468880"/>
            <a:ext cx="1709928" cy="38404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ROI grid text 4-2"/>
          <p:cNvSpPr txBox="1"/>
          <p:nvPr/>
        </p:nvSpPr>
        <p:spPr>
          <a:xfrm>
            <a:off x="1508760" y="2468880"/>
            <a:ext cx="1527048" cy="384048"/>
          </a:xfrm>
          <a:prstGeom prst="rect">
            <a:avLst/>
          </a:prstGeom>
          <a:noFill/>
        </p:spPr>
        <p:txBody>
          <a:bodyPr wrap="square" lIns="0" rIns="0" tIns="0" bIns="0" anchor="ctr">
            <a:noAutofit/>
          </a:bodyPr>
          <a:lstStyle/>
          <a:p>
            <a:pPr algn="l">
              <a:spcAft>
                <a:spcPts val="400"/>
              </a:spcAft>
            </a:pPr>
            <a:r>
              <a:rPr sz="1200" b="0" lang="en-GB">
                <a:solidFill>
                  <a:schemeClr val="tx1"/>
                </a:solidFill>
              </a:rPr>
              <a:t>3 × 50 spend</a:t>
            </a:r>
          </a:p>
        </p:txBody>
      </p:sp>
      <p:sp>
        <p:nvSpPr>
          <p:cNvPr id="44" name="ROI grid 4-3"/>
          <p:cNvSpPr/>
          <p:nvPr/>
        </p:nvSpPr>
        <p:spPr>
          <a:xfrm>
            <a:off x="3154680" y="2468880"/>
            <a:ext cx="978408" cy="38404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ROI grid text 4-3"/>
          <p:cNvSpPr txBox="1"/>
          <p:nvPr/>
        </p:nvSpPr>
        <p:spPr>
          <a:xfrm>
            <a:off x="3246120" y="2468880"/>
            <a:ext cx="795528" cy="384048"/>
          </a:xfrm>
          <a:prstGeom prst="rect">
            <a:avLst/>
          </a:prstGeom>
          <a:noFill/>
        </p:spPr>
        <p:txBody>
          <a:bodyPr wrap="square" lIns="0" rIns="0" tIns="0" bIns="0" anchor="ctr">
            <a:noAutofit/>
          </a:bodyPr>
          <a:lstStyle/>
          <a:p>
            <a:pPr algn="r">
              <a:spcAft>
                <a:spcPts val="400"/>
              </a:spcAft>
            </a:pPr>
            <a:r>
              <a:rPr sz="1200" b="0" lang="en-GB">
                <a:solidFill>
                  <a:schemeClr val="tx1"/>
                </a:solidFill>
              </a:rPr>
              <a:t>150</a:t>
            </a:r>
          </a:p>
        </p:txBody>
      </p:sp>
      <p:sp>
        <p:nvSpPr>
          <p:cNvPr id="46" name="ROI grid 4-4"/>
          <p:cNvSpPr/>
          <p:nvPr/>
        </p:nvSpPr>
        <p:spPr>
          <a:xfrm>
            <a:off x="4160520" y="2468880"/>
            <a:ext cx="749808" cy="38404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7" name="ROI grid text 4-4"/>
          <p:cNvSpPr txBox="1"/>
          <p:nvPr/>
        </p:nvSpPr>
        <p:spPr>
          <a:xfrm>
            <a:off x="4251960" y="2468880"/>
            <a:ext cx="566928" cy="384048"/>
          </a:xfrm>
          <a:prstGeom prst="rect">
            <a:avLst/>
          </a:prstGeom>
          <a:noFill/>
        </p:spPr>
        <p:txBody>
          <a:bodyPr wrap="square" lIns="0" rIns="0" tIns="0" bIns="0" anchor="ctr">
            <a:noAutofit/>
          </a:bodyPr>
          <a:lstStyle/>
          <a:p>
            <a:pPr algn="r">
              <a:spcAft>
                <a:spcPts val="400"/>
              </a:spcAft>
            </a:pPr>
            <a:r>
              <a:rPr sz="1200" b="0" lang="en-GB">
                <a:solidFill>
                  <a:schemeClr val="tx1"/>
                </a:solidFill>
              </a:rPr>
              <a:t>50</a:t>
            </a:r>
          </a:p>
        </p:txBody>
      </p:sp>
      <p:sp>
        <p:nvSpPr>
          <p:cNvPr id="48" name="ROI grid 4-5"/>
          <p:cNvSpPr/>
          <p:nvPr/>
        </p:nvSpPr>
        <p:spPr>
          <a:xfrm>
            <a:off x="4937760" y="2468880"/>
            <a:ext cx="777240" cy="38404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9" name="ROI grid text 4-5"/>
          <p:cNvSpPr txBox="1"/>
          <p:nvPr/>
        </p:nvSpPr>
        <p:spPr>
          <a:xfrm>
            <a:off x="5029200" y="2468880"/>
            <a:ext cx="566928" cy="384048"/>
          </a:xfrm>
          <a:prstGeom prst="rect">
            <a:avLst/>
          </a:prstGeom>
          <a:noFill/>
        </p:spPr>
        <p:txBody>
          <a:bodyPr wrap="square" lIns="0" rIns="0" tIns="0" bIns="0" anchor="ctr">
            <a:noAutofit/>
          </a:bodyPr>
          <a:lstStyle/>
          <a:p>
            <a:pPr algn="r">
              <a:spcAft>
                <a:spcPts val="400"/>
              </a:spcAft>
            </a:pPr>
            <a:r>
              <a:rPr sz="1200" b="0" lang="en-GB">
                <a:solidFill>
                  <a:schemeClr val="tx1"/>
                </a:solidFill>
              </a:rPr>
              <a:t>3.00</a:t>
            </a:r>
          </a:p>
        </p:txBody>
      </p:sp>
      <p:sp>
        <p:nvSpPr>
          <p:cNvPr id="50" name="ROI grid 5-1"/>
          <p:cNvSpPr/>
          <p:nvPr/>
        </p:nvSpPr>
        <p:spPr>
          <a:xfrm>
            <a:off x="457200" y="2880360"/>
            <a:ext cx="932688" cy="38404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1" name="ROI grid text 5-1"/>
          <p:cNvSpPr txBox="1"/>
          <p:nvPr/>
        </p:nvSpPr>
        <p:spPr>
          <a:xfrm>
            <a:off x="548640" y="2880360"/>
            <a:ext cx="749808" cy="384048"/>
          </a:xfrm>
          <a:prstGeom prst="rect">
            <a:avLst/>
          </a:prstGeom>
          <a:noFill/>
        </p:spPr>
        <p:txBody>
          <a:bodyPr wrap="square" lIns="0" rIns="0" tIns="0" bIns="0" anchor="ctr">
            <a:noAutofit/>
          </a:bodyPr>
          <a:lstStyle/>
          <a:p>
            <a:pPr algn="l">
              <a:spcAft>
                <a:spcPts val="400"/>
              </a:spcAft>
            </a:pPr>
            <a:r>
              <a:rPr sz="1200" b="1" lang="en-GB">
                <a:solidFill>
                  <a:schemeClr val="tx2"/>
                </a:solidFill>
              </a:rPr>
              <a:t>Total</a:t>
            </a:r>
          </a:p>
        </p:txBody>
      </p:sp>
      <p:sp>
        <p:nvSpPr>
          <p:cNvPr id="52" name="ROI grid 5-2"/>
          <p:cNvSpPr/>
          <p:nvPr/>
        </p:nvSpPr>
        <p:spPr>
          <a:xfrm>
            <a:off x="1417320" y="2880360"/>
            <a:ext cx="1709928" cy="38404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3" name="ROI grid text 5-2"/>
          <p:cNvSpPr txBox="1"/>
          <p:nvPr/>
        </p:nvSpPr>
        <p:spPr>
          <a:xfrm>
            <a:off x="1508760" y="2880360"/>
            <a:ext cx="1527048" cy="384048"/>
          </a:xfrm>
          <a:prstGeom prst="rect">
            <a:avLst/>
          </a:prstGeom>
          <a:noFill/>
        </p:spPr>
        <p:txBody>
          <a:bodyPr wrap="square" lIns="0" rIns="0" tIns="0" bIns="0" anchor="ctr">
            <a:noAutofit/>
          </a:bodyPr>
          <a:lstStyle/>
          <a:p>
            <a:pPr algn="l">
              <a:spcAft>
                <a:spcPts val="400"/>
              </a:spcAft>
            </a:pPr>
            <a:r>
              <a:rPr sz="1200" b="1" lang="en-GB">
                <a:solidFill>
                  <a:schemeClr val="tx2"/>
                </a:solidFill>
              </a:rPr>
              <a:t/>
            </a:r>
          </a:p>
        </p:txBody>
      </p:sp>
      <p:sp>
        <p:nvSpPr>
          <p:cNvPr id="54" name="ROI grid 5-3"/>
          <p:cNvSpPr/>
          <p:nvPr/>
        </p:nvSpPr>
        <p:spPr>
          <a:xfrm>
            <a:off x="3154680" y="2880360"/>
            <a:ext cx="978408" cy="38404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5" name="ROI grid text 5-3"/>
          <p:cNvSpPr txBox="1"/>
          <p:nvPr/>
        </p:nvSpPr>
        <p:spPr>
          <a:xfrm>
            <a:off x="3246120" y="2880360"/>
            <a:ext cx="795528" cy="384048"/>
          </a:xfrm>
          <a:prstGeom prst="rect">
            <a:avLst/>
          </a:prstGeom>
          <a:noFill/>
        </p:spPr>
        <p:txBody>
          <a:bodyPr wrap="square" lIns="0" rIns="0" tIns="0" bIns="0" anchor="ctr">
            <a:noAutofit/>
          </a:bodyPr>
          <a:lstStyle/>
          <a:p>
            <a:pPr algn="r">
              <a:spcAft>
                <a:spcPts val="400"/>
              </a:spcAft>
            </a:pPr>
            <a:r>
              <a:rPr sz="1200" b="1" lang="en-GB">
                <a:solidFill>
                  <a:schemeClr val="tx2"/>
                </a:solidFill>
              </a:rPr>
              <a:t>1,197.75</a:t>
            </a:r>
          </a:p>
        </p:txBody>
      </p:sp>
      <p:sp>
        <p:nvSpPr>
          <p:cNvPr id="56" name="ROI grid 5-4"/>
          <p:cNvSpPr/>
          <p:nvPr/>
        </p:nvSpPr>
        <p:spPr>
          <a:xfrm>
            <a:off x="4160520" y="2880360"/>
            <a:ext cx="749808" cy="38404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7" name="ROI grid text 5-4"/>
          <p:cNvSpPr txBox="1"/>
          <p:nvPr/>
        </p:nvSpPr>
        <p:spPr>
          <a:xfrm>
            <a:off x="4251960" y="2880360"/>
            <a:ext cx="566928" cy="384048"/>
          </a:xfrm>
          <a:prstGeom prst="rect">
            <a:avLst/>
          </a:prstGeom>
          <a:noFill/>
        </p:spPr>
        <p:txBody>
          <a:bodyPr wrap="square" lIns="0" rIns="0" tIns="0" bIns="0" anchor="ctr">
            <a:noAutofit/>
          </a:bodyPr>
          <a:lstStyle/>
          <a:p>
            <a:pPr algn="r">
              <a:spcAft>
                <a:spcPts val="400"/>
              </a:spcAft>
            </a:pPr>
            <a:r>
              <a:rPr sz="1200" b="1" lang="en-GB">
                <a:solidFill>
                  <a:schemeClr val="tx2"/>
                </a:solidFill>
              </a:rPr>
              <a:t>74</a:t>
            </a:r>
          </a:p>
        </p:txBody>
      </p:sp>
      <p:sp>
        <p:nvSpPr>
          <p:cNvPr id="58" name="ROI grid 5-5"/>
          <p:cNvSpPr/>
          <p:nvPr/>
        </p:nvSpPr>
        <p:spPr>
          <a:xfrm>
            <a:off x="4937760" y="2880360"/>
            <a:ext cx="777240" cy="38404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9" name="ROI grid text 5-5"/>
          <p:cNvSpPr txBox="1"/>
          <p:nvPr/>
        </p:nvSpPr>
        <p:spPr>
          <a:xfrm>
            <a:off x="5029200" y="2880360"/>
            <a:ext cx="566928" cy="384048"/>
          </a:xfrm>
          <a:prstGeom prst="rect">
            <a:avLst/>
          </a:prstGeom>
          <a:noFill/>
        </p:spPr>
        <p:txBody>
          <a:bodyPr wrap="square" lIns="0" rIns="0" tIns="0" bIns="0" anchor="ctr">
            <a:noAutofit/>
          </a:bodyPr>
          <a:lstStyle/>
          <a:p>
            <a:pPr algn="r">
              <a:spcAft>
                <a:spcPts val="400"/>
              </a:spcAft>
            </a:pPr>
            <a:r>
              <a:rPr sz="1200" b="1" lang="en-GB">
                <a:solidFill>
                  <a:schemeClr val="tx2"/>
                </a:solidFill>
              </a:rPr>
              <a:t>–</a:t>
            </a:r>
          </a:p>
        </p:txBody>
      </p:sp>
      <p:pic>
        <p:nvPicPr>
          <p:cNvPr id="60" name="Chart mm_m1_decomp.png" descr="Stacked bars of the coffee brand's sales per week, weeks 1 to 10: the baseline of 100 (grey) at the bottom, online 15 (blue) on it and TV (0, 0, 16, 16, 8, 4, 2, 1, 0.5, 0.25) on top (navy); sales peak at 131 in weeks 3 and 4."/>
          <p:cNvPicPr>
            <a:picLocks noChangeAspect="1"/>
          </p:cNvPicPr>
          <p:nvPr/>
        </p:nvPicPr>
        <p:blipFill>
          <a:blip r:embed="rId3"/>
          <a:stretch>
            <a:fillRect/>
          </a:stretch>
        </p:blipFill>
        <p:spPr>
          <a:xfrm>
            <a:off x="5852160" y="1234440"/>
            <a:ext cx="2834640" cy="1737360"/>
          </a:xfrm>
          <a:prstGeom prst="rect">
            <a:avLst/>
          </a:prstGeom>
        </p:spPr>
      </p:pic>
      <p:sp>
        <p:nvSpPr>
          <p:cNvPr id="61" name="Chart caption"/>
          <p:cNvSpPr txBox="1"/>
          <p:nvPr/>
        </p:nvSpPr>
        <p:spPr>
          <a:xfrm>
            <a:off x="5852160" y="2990088"/>
            <a:ext cx="2834640" cy="274320"/>
          </a:xfrm>
          <a:prstGeom prst="rect">
            <a:avLst/>
          </a:prstGeom>
          <a:noFill/>
        </p:spPr>
        <p:txBody>
          <a:bodyPr wrap="square" lIns="0" rIns="0" tIns="0" bIns="0" anchor="ctr">
            <a:noAutofit/>
          </a:bodyPr>
          <a:lstStyle/>
          <a:p>
            <a:pPr algn="l">
              <a:spcAft>
                <a:spcPts val="400"/>
              </a:spcAft>
            </a:pPr>
            <a:r>
              <a:rPr sz="1100" b="0" lang="en-GB">
                <a:solidFill>
                  <a:srgbClr val="595959"/>
                </a:solidFill>
              </a:rPr>
              <a:t>Sales per week: baseline, online, TV</a:t>
            </a:r>
          </a:p>
        </p:txBody>
      </p:sp>
      <p:sp>
        <p:nvSpPr>
          <p:cNvPr id="62" name="Shares row row"/>
          <p:cNvSpPr/>
          <p:nvPr/>
        </p:nvSpPr>
        <p:spPr>
          <a:xfrm>
            <a:off x="457200" y="3401568"/>
            <a:ext cx="8229600" cy="50292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3" name="Shares row bar"/>
          <p:cNvSpPr/>
          <p:nvPr/>
        </p:nvSpPr>
        <p:spPr>
          <a:xfrm>
            <a:off x="457200" y="3401568"/>
            <a:ext cx="64008" cy="50292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4" name="Shares row text"/>
          <p:cNvSpPr txBox="1"/>
          <p:nvPr/>
        </p:nvSpPr>
        <p:spPr>
          <a:xfrm>
            <a:off x="658368" y="3401568"/>
            <a:ext cx="7936992" cy="502920"/>
          </a:xfrm>
          <a:prstGeom prst="rect">
            <a:avLst/>
          </a:prstGeom>
          <a:noFill/>
        </p:spPr>
        <p:txBody>
          <a:bodyPr wrap="square" lIns="0" rIns="0" tIns="0" bIns="0" anchor="ctr">
            <a:noAutofit/>
          </a:bodyPr>
          <a:lstStyle/>
          <a:p>
            <a:pPr algn="l">
              <a:spcAft>
                <a:spcPts val="400"/>
              </a:spcAft>
            </a:pPr>
            <a:r>
              <a:rPr sz="1250" b="1" lang="en-GB">
                <a:solidFill>
                  <a:schemeClr val="tx2"/>
                </a:solidFill>
              </a:rPr>
              <a:t>ROI</a:t>
            </a:r>
            <a:r>
              <a:rPr sz="1250" b="0" lang="en-GB">
                <a:solidFill>
                  <a:schemeClr val="tx1"/>
                </a:solidFill>
              </a:rPr>
              <a:t> = sales ÷ spend.   </a:t>
            </a:r>
            <a:r>
              <a:rPr sz="1250" b="1" lang="en-GB">
                <a:solidFill>
                  <a:schemeClr val="tx2"/>
                </a:solidFill>
              </a:rPr>
              <a:t>Shares</a:t>
            </a:r>
            <a:r>
              <a:rPr sz="1250" b="0" lang="en-GB">
                <a:solidFill>
                  <a:schemeClr val="tx1"/>
                </a:solidFill>
              </a:rPr>
              <a:t> of 1,197.75: baseline 83.5 %, online 12.5 %, TV 4.0 %</a:t>
            </a:r>
          </a:p>
        </p:txBody>
      </p:sp>
      <p:sp>
        <p:nvSpPr>
          <p:cNvPr id="65" name="Carryover callout box"/>
          <p:cNvSpPr/>
          <p:nvPr/>
        </p:nvSpPr>
        <p:spPr>
          <a:xfrm>
            <a:off x="457200" y="4041648"/>
            <a:ext cx="8229600" cy="54864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6" name="Carryover callout text"/>
          <p:cNvSpPr txBox="1"/>
          <p:nvPr/>
        </p:nvSpPr>
        <p:spPr>
          <a:xfrm>
            <a:off x="658368" y="4041648"/>
            <a:ext cx="7827264" cy="548640"/>
          </a:xfrm>
          <a:prstGeom prst="rect">
            <a:avLst/>
          </a:prstGeom>
          <a:noFill/>
        </p:spPr>
        <p:txBody>
          <a:bodyPr wrap="square" lIns="0" rIns="0" tIns="0" bIns="0" anchor="ctr">
            <a:noAutofit/>
          </a:bodyPr>
          <a:lstStyle/>
          <a:p>
            <a:pPr algn="l">
              <a:spcAft>
                <a:spcPts val="400"/>
              </a:spcAft>
            </a:pPr>
            <a:r>
              <a:rPr sz="1250" b="1" lang="en-GB">
                <a:solidFill>
                  <a:schemeClr val="bg1"/>
                </a:solidFill>
              </a:rPr>
              <a:t>Ignore carryover and TV looks half as good: </a:t>
            </a:r>
            <a:r>
              <a:rPr sz="1250" b="0" lang="en-GB">
                <a:solidFill>
                  <a:schemeClr val="bg1"/>
                </a:solidFill>
              </a:rPr>
              <a:t>24 / 24 = 1.00 instead of 1.99.</a:t>
            </a:r>
          </a:p>
        </p:txBody>
      </p:sp>
      <p:sp>
        <p:nvSpPr>
          <p:cNvPr id="67" name="Sources"/>
          <p:cNvSpPr txBox="1"/>
          <p:nvPr/>
        </p:nvSpPr>
        <p:spPr>
          <a:xfrm>
            <a:off x="457200" y="4818888"/>
            <a:ext cx="8229600" cy="256032"/>
          </a:xfrm>
          <a:prstGeom prst="rect">
            <a:avLst/>
          </a:prstGeom>
          <a:noFill/>
        </p:spPr>
        <p:txBody>
          <a:bodyPr wrap="square" lIns="0" rIns="0" tIns="0" bIns="0" anchor="ctr">
            <a:noAutofit/>
          </a:bodyPr>
          <a:lstStyle/>
          <a:p>
            <a:pPr algn="l">
              <a:spcAft>
                <a:spcPts val="0"/>
              </a:spcAft>
            </a:pPr>
            <a:r>
              <a:rPr sz="1100" b="0" lang="en-GB">
                <a:solidFill>
                  <a:srgbClr val="595959"/>
                </a:solidFill>
              </a:rPr>
              <a:t>Invented round numbers (hand_example.csv)</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The budget question: 5 k EUR more a week</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Question band 1"/>
          <p:cNvSpPr/>
          <p:nvPr/>
        </p:nvSpPr>
        <p:spPr>
          <a:xfrm>
            <a:off x="457200" y="1234440"/>
            <a:ext cx="8229600" cy="51206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1" name="Icon Question 1" descr=""/>
          <p:cNvPicPr>
            <a:picLocks noChangeAspect="1"/>
          </p:cNvPicPr>
          <p:nvPr/>
        </p:nvPicPr>
        <p:blipFill>
          <a:blip r:embed="rId3"/>
          <a:stretch>
            <a:fillRect/>
          </a:stretch>
        </p:blipFill>
        <p:spPr>
          <a:xfrm>
            <a:off x="621792" y="1335024"/>
            <a:ext cx="310896" cy="310896"/>
          </a:xfrm>
          <a:prstGeom prst="rect">
            <a:avLst/>
          </a:prstGeom>
        </p:spPr>
      </p:pic>
      <p:sp>
        <p:nvSpPr>
          <p:cNvPr id="12" name="Question text 1"/>
          <p:cNvSpPr txBox="1"/>
          <p:nvPr/>
        </p:nvSpPr>
        <p:spPr>
          <a:xfrm>
            <a:off x="1115568" y="1234440"/>
            <a:ext cx="7452360" cy="512064"/>
          </a:xfrm>
          <a:prstGeom prst="rect">
            <a:avLst/>
          </a:prstGeom>
          <a:noFill/>
        </p:spPr>
        <p:txBody>
          <a:bodyPr wrap="square" lIns="0" rIns="0" tIns="0" bIns="0" anchor="ctr">
            <a:noAutofit/>
          </a:bodyPr>
          <a:lstStyle/>
          <a:p>
            <a:pPr algn="l">
              <a:spcAft>
                <a:spcPts val="400"/>
              </a:spcAft>
            </a:pPr>
            <a:r>
              <a:rPr sz="1300" b="1" lang="en-GB">
                <a:solidFill>
                  <a:schemeClr val="tx2"/>
                </a:solidFill>
              </a:rPr>
              <a:t>The question: </a:t>
            </a:r>
            <a:r>
              <a:rPr sz="1300" b="0" lang="en-GB">
                <a:solidFill>
                  <a:schemeClr val="tx1"/>
                </a:solidFill>
              </a:rPr>
              <a:t>the brand has 5 k EUR more a week. TV or online?</a:t>
            </a:r>
          </a:p>
        </p:txBody>
      </p:sp>
      <p:sp>
        <p:nvSpPr>
          <p:cNvPr id="13" name="TV card body"/>
          <p:cNvSpPr/>
          <p:nvPr/>
        </p:nvSpPr>
        <p:spPr>
          <a:xfrm>
            <a:off x="457200" y="2340864"/>
            <a:ext cx="4046220" cy="109728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V card header"/>
          <p:cNvSpPr/>
          <p:nvPr/>
        </p:nvSpPr>
        <p:spPr>
          <a:xfrm>
            <a:off x="457200" y="1883664"/>
            <a:ext cx="4046220" cy="4572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V card heading"/>
          <p:cNvSpPr txBox="1"/>
          <p:nvPr/>
        </p:nvSpPr>
        <p:spPr>
          <a:xfrm>
            <a:off x="594360" y="1883664"/>
            <a:ext cx="3360420" cy="457200"/>
          </a:xfrm>
          <a:prstGeom prst="rect">
            <a:avLst/>
          </a:prstGeom>
          <a:noFill/>
        </p:spPr>
        <p:txBody>
          <a:bodyPr wrap="square" lIns="0" rIns="0" tIns="0" bIns="0" anchor="ctr">
            <a:noAutofit/>
          </a:bodyPr>
          <a:lstStyle/>
          <a:p>
            <a:pPr algn="l">
              <a:spcAft>
                <a:spcPts val="400"/>
              </a:spcAft>
            </a:pPr>
            <a:r>
              <a:rPr sz="1500" b="1" lang="en-GB">
                <a:solidFill>
                  <a:schemeClr val="bg1"/>
                </a:solidFill>
                <a:latin typeface="+mj-lt"/>
              </a:rPr>
              <a:t>TV</a:t>
            </a:r>
          </a:p>
        </p:txBody>
      </p:sp>
      <p:pic>
        <p:nvPicPr>
          <p:cNvPr id="16" name="Icon TV card" descr=""/>
          <p:cNvPicPr>
            <a:picLocks noChangeAspect="1"/>
          </p:cNvPicPr>
          <p:nvPr/>
        </p:nvPicPr>
        <p:blipFill>
          <a:blip r:embed="rId4"/>
          <a:stretch>
            <a:fillRect/>
          </a:stretch>
        </p:blipFill>
        <p:spPr>
          <a:xfrm>
            <a:off x="4064508" y="1956816"/>
            <a:ext cx="310896" cy="310896"/>
          </a:xfrm>
          <a:prstGeom prst="rect">
            <a:avLst/>
          </a:prstGeom>
        </p:spPr>
      </p:pic>
      <p:sp>
        <p:nvSpPr>
          <p:cNvPr id="17" name="TV card text"/>
          <p:cNvSpPr txBox="1"/>
          <p:nvPr/>
        </p:nvSpPr>
        <p:spPr>
          <a:xfrm>
            <a:off x="621792" y="2478024"/>
            <a:ext cx="3744468" cy="822960"/>
          </a:xfrm>
          <a:prstGeom prst="rect">
            <a:avLst/>
          </a:prstGeom>
          <a:noFill/>
        </p:spPr>
        <p:txBody>
          <a:bodyPr wrap="square" lIns="0" rIns="0" tIns="0" bIns="0" anchor="t">
            <a:noAutofit/>
          </a:bodyPr>
          <a:lstStyle/>
          <a:p>
            <a:pPr algn="l">
              <a:spcAft>
                <a:spcPts val="600"/>
              </a:spcAft>
            </a:pPr>
            <a:r>
              <a:rPr sz="1250" b="0" lang="en-GB">
                <a:solidFill>
                  <a:schemeClr val="tx1"/>
                </a:solidFill>
              </a:rPr>
              <a:t>5 k EUR more TV work twice (carryover):</a:t>
            </a:r>
          </a:p>
          <a:p>
            <a:pPr algn="l">
              <a:spcAft>
                <a:spcPts val="600"/>
              </a:spcAft>
            </a:pPr>
            <a:r>
              <a:rPr sz="1250" b="0" lang="en-GB">
                <a:solidFill>
                  <a:schemeClr val="tx1"/>
                </a:solidFill>
              </a:rPr>
              <a:t>1 × 5 × 2 = 10 k EUR of sales</a:t>
            </a:r>
          </a:p>
          <a:p>
            <a:pPr algn="l">
              <a:spcAft>
                <a:spcPts val="600"/>
              </a:spcAft>
            </a:pPr>
            <a:r>
              <a:rPr sz="1250" b="1" lang="en-GB">
                <a:solidFill>
                  <a:schemeClr val="tx2"/>
                </a:solidFill>
              </a:rPr>
              <a:t>ROI of the next euro: 10 / 5 = 2.00</a:t>
            </a:r>
          </a:p>
        </p:txBody>
      </p:sp>
      <p:sp>
        <p:nvSpPr>
          <p:cNvPr id="18" name="Online card body"/>
          <p:cNvSpPr/>
          <p:nvPr/>
        </p:nvSpPr>
        <p:spPr>
          <a:xfrm>
            <a:off x="4640580" y="2340864"/>
            <a:ext cx="4046220" cy="109728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Online card header"/>
          <p:cNvSpPr/>
          <p:nvPr/>
        </p:nvSpPr>
        <p:spPr>
          <a:xfrm>
            <a:off x="4640580" y="1883664"/>
            <a:ext cx="4046220" cy="4572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nline card heading"/>
          <p:cNvSpPr txBox="1"/>
          <p:nvPr/>
        </p:nvSpPr>
        <p:spPr>
          <a:xfrm>
            <a:off x="4777740" y="1883664"/>
            <a:ext cx="3360420" cy="457200"/>
          </a:xfrm>
          <a:prstGeom prst="rect">
            <a:avLst/>
          </a:prstGeom>
          <a:noFill/>
        </p:spPr>
        <p:txBody>
          <a:bodyPr wrap="square" lIns="0" rIns="0" tIns="0" bIns="0" anchor="ctr">
            <a:noAutofit/>
          </a:bodyPr>
          <a:lstStyle/>
          <a:p>
            <a:pPr algn="l">
              <a:spcAft>
                <a:spcPts val="400"/>
              </a:spcAft>
            </a:pPr>
            <a:r>
              <a:rPr sz="1500" b="1" lang="en-GB">
                <a:solidFill>
                  <a:schemeClr val="bg1"/>
                </a:solidFill>
                <a:latin typeface="+mj-lt"/>
              </a:rPr>
              <a:t>Online</a:t>
            </a:r>
          </a:p>
        </p:txBody>
      </p:sp>
      <p:pic>
        <p:nvPicPr>
          <p:cNvPr id="21" name="Icon Online card" descr=""/>
          <p:cNvPicPr>
            <a:picLocks noChangeAspect="1"/>
          </p:cNvPicPr>
          <p:nvPr/>
        </p:nvPicPr>
        <p:blipFill>
          <a:blip r:embed="rId5"/>
          <a:stretch>
            <a:fillRect/>
          </a:stretch>
        </p:blipFill>
        <p:spPr>
          <a:xfrm>
            <a:off x="8247888" y="1956816"/>
            <a:ext cx="310896" cy="310896"/>
          </a:xfrm>
          <a:prstGeom prst="rect">
            <a:avLst/>
          </a:prstGeom>
        </p:spPr>
      </p:pic>
      <p:sp>
        <p:nvSpPr>
          <p:cNvPr id="22" name="Online card text"/>
          <p:cNvSpPr txBox="1"/>
          <p:nvPr/>
        </p:nvSpPr>
        <p:spPr>
          <a:xfrm>
            <a:off x="4805172" y="2478024"/>
            <a:ext cx="3744468" cy="822960"/>
          </a:xfrm>
          <a:prstGeom prst="rect">
            <a:avLst/>
          </a:prstGeom>
          <a:noFill/>
        </p:spPr>
        <p:txBody>
          <a:bodyPr wrap="square" lIns="0" rIns="0" tIns="0" bIns="0" anchor="t">
            <a:noAutofit/>
          </a:bodyPr>
          <a:lstStyle/>
          <a:p>
            <a:pPr algn="l">
              <a:spcAft>
                <a:spcPts val="600"/>
              </a:spcAft>
            </a:pPr>
            <a:r>
              <a:rPr sz="1250" b="0" lang="en-GB">
                <a:solidFill>
                  <a:schemeClr val="tx1"/>
                </a:solidFill>
              </a:rPr>
              <a:t>Its curve (slide 9): 15 at 5, 20 at 10 k EUR:</a:t>
            </a:r>
          </a:p>
          <a:p>
            <a:pPr algn="l">
              <a:spcAft>
                <a:spcPts val="600"/>
              </a:spcAft>
            </a:pPr>
            <a:r>
              <a:rPr sz="1250" b="0" lang="en-GB">
                <a:solidFill>
                  <a:schemeClr val="tx1"/>
                </a:solidFill>
              </a:rPr>
              <a:t>20 − 15 = 5 k EUR of sales</a:t>
            </a:r>
          </a:p>
          <a:p>
            <a:pPr algn="l">
              <a:spcAft>
                <a:spcPts val="600"/>
              </a:spcAft>
            </a:pPr>
            <a:r>
              <a:rPr sz="1250" b="1" lang="en-GB">
                <a:solidFill>
                  <a:schemeClr val="tx2"/>
                </a:solidFill>
              </a:rPr>
              <a:t>ROI of the next euro: 5 / 5 = 1.00</a:t>
            </a:r>
          </a:p>
        </p:txBody>
      </p:sp>
      <p:sp>
        <p:nvSpPr>
          <p:cNvPr id="23" name="Average ROI row row"/>
          <p:cNvSpPr/>
          <p:nvPr/>
        </p:nvSpPr>
        <p:spPr>
          <a:xfrm>
            <a:off x="457200" y="3575304"/>
            <a:ext cx="8229600" cy="4572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Average ROI row bar"/>
          <p:cNvSpPr/>
          <p:nvPr/>
        </p:nvSpPr>
        <p:spPr>
          <a:xfrm>
            <a:off x="457200" y="3575304"/>
            <a:ext cx="64008" cy="4572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Average ROI row text"/>
          <p:cNvSpPr txBox="1"/>
          <p:nvPr/>
        </p:nvSpPr>
        <p:spPr>
          <a:xfrm>
            <a:off x="658368" y="3575304"/>
            <a:ext cx="7936992" cy="457200"/>
          </a:xfrm>
          <a:prstGeom prst="rect">
            <a:avLst/>
          </a:prstGeom>
          <a:noFill/>
        </p:spPr>
        <p:txBody>
          <a:bodyPr wrap="square" lIns="0" rIns="0" tIns="0" bIns="0" anchor="ctr">
            <a:noAutofit/>
          </a:bodyPr>
          <a:lstStyle/>
          <a:p>
            <a:pPr algn="l">
              <a:spcAft>
                <a:spcPts val="400"/>
              </a:spcAft>
            </a:pPr>
            <a:r>
              <a:rPr sz="1200" b="1" lang="en-GB">
                <a:solidFill>
                  <a:schemeClr val="tx2"/>
                </a:solidFill>
              </a:rPr>
              <a:t>Average ROI: </a:t>
            </a:r>
            <a:r>
              <a:rPr sz="1200" b="0" lang="en-GB">
                <a:solidFill>
                  <a:schemeClr val="tx1"/>
                </a:solidFill>
              </a:rPr>
              <a:t>online 3.00, TV 1.99: the average would pick the wrong channel.</a:t>
            </a:r>
          </a:p>
        </p:txBody>
      </p:sp>
      <p:sp>
        <p:nvSpPr>
          <p:cNvPr id="26" name="Margin callout box"/>
          <p:cNvSpPr/>
          <p:nvPr/>
        </p:nvSpPr>
        <p:spPr>
          <a:xfrm>
            <a:off x="457200" y="4169664"/>
            <a:ext cx="8229600" cy="4572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Margin callout text"/>
          <p:cNvSpPr txBox="1"/>
          <p:nvPr/>
        </p:nvSpPr>
        <p:spPr>
          <a:xfrm>
            <a:off x="658368" y="4169664"/>
            <a:ext cx="7827264" cy="457200"/>
          </a:xfrm>
          <a:prstGeom prst="rect">
            <a:avLst/>
          </a:prstGeom>
          <a:noFill/>
        </p:spPr>
        <p:txBody>
          <a:bodyPr wrap="square" lIns="0" rIns="0" tIns="0" bIns="0" anchor="ctr">
            <a:noAutofit/>
          </a:bodyPr>
          <a:lstStyle/>
          <a:p>
            <a:pPr algn="l">
              <a:spcAft>
                <a:spcPts val="400"/>
              </a:spcAft>
            </a:pPr>
            <a:r>
              <a:rPr sz="1250" b="1" lang="en-GB">
                <a:solidFill>
                  <a:schemeClr val="bg1"/>
                </a:solidFill>
              </a:rPr>
              <a:t>Decide at the margin: </a:t>
            </a:r>
            <a:r>
              <a:rPr sz="1250" b="0" lang="en-GB">
                <a:solidFill>
                  <a:schemeClr val="bg1"/>
                </a:solidFill>
              </a:rPr>
              <a:t>put the next euro where the next euro sells most.</a:t>
            </a:r>
          </a:p>
        </p:txBody>
      </p:sp>
      <p:sp>
        <p:nvSpPr>
          <p:cNvPr id="28" name="Sources"/>
          <p:cNvSpPr txBox="1"/>
          <p:nvPr/>
        </p:nvSpPr>
        <p:spPr>
          <a:xfrm>
            <a:off x="457200" y="4818888"/>
            <a:ext cx="8229600" cy="256032"/>
          </a:xfrm>
          <a:prstGeom prst="rect">
            <a:avLst/>
          </a:prstGeom>
          <a:noFill/>
        </p:spPr>
        <p:txBody>
          <a:bodyPr wrap="square" lIns="0" rIns="0" tIns="0" bIns="0" anchor="ctr">
            <a:noAutofit/>
          </a:bodyPr>
          <a:lstStyle/>
          <a:p>
            <a:pPr algn="l">
              <a:spcAft>
                <a:spcPts val="0"/>
              </a:spcAft>
            </a:pPr>
            <a:r>
              <a:rPr sz="1100" b="0" lang="en-GB">
                <a:solidFill>
                  <a:srgbClr val="595959"/>
                </a:solidFill>
              </a:rPr>
              <a:t>Invented round numbers (hand_example.csv)</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1" sz="quarter"/>
          </p:nvPr>
        </p:nvSpPr>
        <p:spPr>
          <a:xfrm>
            <a:ext cx="5747702" cy="0"/>
          </a:xfrm>
        </p:spPr>
        <p:txBody>
          <a:bodyPr/>
          <a:lstStyle/>
          <a:p>
            <a:r>
              <a:rPr lang="en-GB"/>
              <a:t>Part 3 of 6 · PyMC-Marketing, Meridian, Robyn</a:t>
            </a:r>
          </a:p>
        </p:txBody>
      </p:sp>
      <p:sp>
        <p:nvSpPr>
          <p:cNvPr id="3" name="Title 2"/>
          <p:cNvSpPr>
            <a:spLocks noGrp="1"/>
          </p:cNvSpPr>
          <p:nvPr>
            <p:ph type="ctrTitle"/>
          </p:nvPr>
        </p:nvSpPr>
        <p:spPr/>
        <p:txBody>
          <a:bodyPr/>
          <a:lstStyle/>
          <a:p>
            <a:r>
              <a:rPr lang="en-GB"/>
              <a:t>Three open-source tools</a:t>
            </a:r>
          </a:p>
        </p:txBody>
      </p:sp>
      <p:sp>
        <p:nvSpPr>
          <p:cNvPr id="3" name="Fußzeilenplatzhalter 2"/>
          <p:cNvSpPr>
            <a:spLocks noGrp="1"/>
          </p:cNvSpPr>
          <p:nvPr>
            <p:ph type="ftr" sz="quarter" idx="14"/>
          </p:nvPr>
        </p:nvSpPr>
        <p:spPr/>
        <p:txBody>
          <a:bodyPr/>
          <a:lstStyle/>
          <a:p>
            <a:r>
              <a:rPr lang="en-GB"/>
              <a:t>International Marketing Analytics · WT 2026/27</a:t>
            </a:r>
          </a:p>
        </p:txBody>
      </p:sp>
      <p:sp>
        <p:nvSpPr>
          <p:cNvPr id="6" name="Foliennummernplatzhalter 5"/>
          <p:cNvSpPr>
            <a:spLocks noGrp="1"/>
          </p:cNvSpPr>
          <p:nvPr>
            <p:ph type="sldNum" sz="quarter" idx="15"/>
          </p:nvPr>
        </p:nvSpPr>
        <p:spPr/>
        <p:txBody>
          <a:bodyPr/>
          <a:lstStyle/>
          <a:p>
            <a:r>
              <a:rPr lang="en-GB" dirty="0"/>
              <a:t>Page </a:t>
            </a:r>
            <a:fld id="{BE3DC40E-DBBE-4E2D-9EEC-FBF0DA0E9179}" type="slidenum">
              <a:rPr lang="en-GB" smtClean="0"/>
              <a:pPr/>
              <a:t>‹Nr.›</a:t>
            </a:fld>
            <a:endParaRPr lang="en-GB" dirty="0"/>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aphicFrame>
        <p:nvGraphicFramePr>
          <p:cNvPr id="2" name="Tools table"/>
          <p:cNvGraphicFramePr>
            <a:graphicFrameLocks noGrp="1"/>
          </p:cNvGraphicFramePr>
          <p:nvPr>
            <p:ph type="tbl" idx="1"/>
          </p:nvPr>
        </p:nvGraphicFramePr>
        <p:xfrm>
          <a:off x="457200" y="1234440"/>
          <a:ext cx="8229600" cy="2595880"/>
        </p:xfrm>
        <a:graphic>
          <a:graphicData uri="http://schemas.openxmlformats.org/drawingml/2006/table">
            <a:tbl>
              <a:tblPr firstRow="1" bandRow="1">
                <a:tableStyleId>{5C22544A-7EE6-4342-B048-85BDC9FD1C3A}</a:tableStyleId>
              </a:tblPr>
              <a:tblGrid>
                <a:gridCol w="1965960"/>
                <a:gridCol w="1783080"/>
                <a:gridCol w="1965960"/>
                <a:gridCol w="2514600"/>
              </a:tblGrid>
              <a:tr h="370840">
                <a:tc>
                  <a:txBody>
                    <a:bodyPr/>
                    <a:lstStyle/>
                    <a:p>
                      <a:r>
                        <a:rPr sz="1300" lang="en-GB"/>
                        <a:t/>
                      </a:r>
                    </a:p>
                  </a:txBody>
                  <a:tcPr marT="45000" marB="45000"/>
                </a:tc>
                <a:tc>
                  <a:txBody>
                    <a:bodyPr/>
                    <a:lstStyle/>
                    <a:p>
                      <a:r>
                        <a:rPr sz="1300" lang="en-GB"/>
                        <a:t>PyMC-Marketing</a:t>
                      </a:r>
                    </a:p>
                  </a:txBody>
                  <a:tcPr marT="45000" marB="45000"/>
                </a:tc>
                <a:tc>
                  <a:txBody>
                    <a:bodyPr/>
                    <a:lstStyle/>
                    <a:p>
                      <a:r>
                        <a:rPr sz="1300" lang="en-GB"/>
                        <a:t>Google Meridian</a:t>
                      </a:r>
                    </a:p>
                  </a:txBody>
                  <a:tcPr marT="45000" marB="45000"/>
                </a:tc>
                <a:tc>
                  <a:txBody>
                    <a:bodyPr/>
                    <a:lstStyle/>
                    <a:p>
                      <a:r>
                        <a:rPr sz="1300" lang="en-GB"/>
                        <a:t>Meta Robyn</a:t>
                      </a:r>
                    </a:p>
                  </a:txBody>
                  <a:tcPr marT="45000" marB="45000"/>
                </a:tc>
              </a:tr>
              <a:tr h="370840">
                <a:tc>
                  <a:txBody>
                    <a:bodyPr/>
                    <a:lstStyle/>
                    <a:p>
                      <a:r>
                        <a:rPr sz="1200" b="1" lang="en-GB"/>
                        <a:t>Maintainer</a:t>
                      </a:r>
                    </a:p>
                  </a:txBody>
                  <a:tcPr marT="45000" marB="45000"/>
                </a:tc>
                <a:tc>
                  <a:txBody>
                    <a:bodyPr/>
                    <a:lstStyle/>
                    <a:p>
                      <a:r>
                        <a:rPr sz="1200" lang="en-GB"/>
                        <a:t>PyMC Labs</a:t>
                      </a:r>
                    </a:p>
                  </a:txBody>
                  <a:tcPr marT="45000" marB="45000"/>
                </a:tc>
                <a:tc>
                  <a:txBody>
                    <a:bodyPr/>
                    <a:lstStyle/>
                    <a:p>
                      <a:r>
                        <a:rPr sz="1200" lang="en-GB"/>
                        <a:t>Google</a:t>
                      </a:r>
                    </a:p>
                  </a:txBody>
                  <a:tcPr marT="45000" marB="45000"/>
                </a:tc>
                <a:tc>
                  <a:txBody>
                    <a:bodyPr/>
                    <a:lstStyle/>
                    <a:p>
                      <a:r>
                        <a:rPr sz="1200" lang="en-GB"/>
                        <a:t>Meta Marketing Science</a:t>
                      </a:r>
                    </a:p>
                  </a:txBody>
                  <a:tcPr marT="45000" marB="45000"/>
                </a:tc>
              </a:tr>
              <a:tr h="370840">
                <a:tc>
                  <a:txBody>
                    <a:bodyPr/>
                    <a:lstStyle/>
                    <a:p>
                      <a:r>
                        <a:rPr sz="1200" b="1" lang="en-GB"/>
                        <a:t>Version (Oct 2026)</a:t>
                      </a:r>
                    </a:p>
                  </a:txBody>
                  <a:tcPr marT="45000" marB="45000"/>
                </a:tc>
                <a:tc>
                  <a:txBody>
                    <a:bodyPr/>
                    <a:lstStyle/>
                    <a:p>
                      <a:r>
                        <a:rPr sz="1200" lang="en-GB"/>
                        <a:t>1.3.0</a:t>
                      </a:r>
                    </a:p>
                  </a:txBody>
                  <a:tcPr marT="45000" marB="45000"/>
                </a:tc>
                <a:tc>
                  <a:txBody>
                    <a:bodyPr/>
                    <a:lstStyle/>
                    <a:p>
                      <a:r>
                        <a:rPr sz="1200" lang="en-GB"/>
                        <a:t>2.1.0</a:t>
                      </a:r>
                    </a:p>
                  </a:txBody>
                  <a:tcPr marT="45000" marB="45000"/>
                </a:tc>
                <a:tc>
                  <a:txBody>
                    <a:bodyPr/>
                    <a:lstStyle/>
                    <a:p>
                      <a:r>
                        <a:rPr sz="1200" lang="en-GB"/>
                        <a:t>3.12.1 (CRAN)</a:t>
                      </a:r>
                    </a:p>
                  </a:txBody>
                  <a:tcPr marT="45000" marB="45000"/>
                </a:tc>
              </a:tr>
              <a:tr h="370840">
                <a:tc>
                  <a:txBody>
                    <a:bodyPr/>
                    <a:lstStyle/>
                    <a:p>
                      <a:r>
                        <a:rPr sz="1200" b="1" lang="en-GB"/>
                        <a:t>Language</a:t>
                      </a:r>
                    </a:p>
                  </a:txBody>
                  <a:tcPr marT="45000" marB="45000"/>
                </a:tc>
                <a:tc>
                  <a:txBody>
                    <a:bodyPr/>
                    <a:lstStyle/>
                    <a:p>
                      <a:r>
                        <a:rPr sz="1200" lang="en-GB"/>
                        <a:t>Python</a:t>
                      </a:r>
                    </a:p>
                  </a:txBody>
                  <a:tcPr marT="45000" marB="45000"/>
                </a:tc>
                <a:tc>
                  <a:txBody>
                    <a:bodyPr/>
                    <a:lstStyle/>
                    <a:p>
                      <a:r>
                        <a:rPr sz="1200" lang="en-GB"/>
                        <a:t>Python</a:t>
                      </a:r>
                    </a:p>
                  </a:txBody>
                  <a:tcPr marT="45000" marB="45000"/>
                </a:tc>
                <a:tc>
                  <a:txBody>
                    <a:bodyPr/>
                    <a:lstStyle/>
                    <a:p>
                      <a:r>
                        <a:rPr sz="1200" lang="en-GB"/>
                        <a:t>R (Python port in beta)</a:t>
                      </a:r>
                    </a:p>
                  </a:txBody>
                  <a:tcPr marT="45000" marB="45000"/>
                </a:tc>
              </a:tr>
              <a:tr h="370840">
                <a:tc>
                  <a:txBody>
                    <a:bodyPr/>
                    <a:lstStyle/>
                    <a:p>
                      <a:r>
                        <a:rPr sz="1200" b="1" lang="en-GB"/>
                        <a:t>Approach</a:t>
                      </a:r>
                    </a:p>
                  </a:txBody>
                  <a:tcPr marT="45000" marB="45000"/>
                </a:tc>
                <a:tc>
                  <a:txBody>
                    <a:bodyPr/>
                    <a:lstStyle/>
                    <a:p>
                      <a:r>
                        <a:rPr sz="1200" lang="en-GB"/>
                        <a:t>Bayesian</a:t>
                      </a:r>
                    </a:p>
                  </a:txBody>
                  <a:tcPr marT="45000" marB="45000"/>
                </a:tc>
                <a:tc>
                  <a:txBody>
                    <a:bodyPr/>
                    <a:lstStyle/>
                    <a:p>
                      <a:r>
                        <a:rPr sz="1200" lang="en-GB"/>
                        <a:t>Bayesian, geo-level</a:t>
                      </a:r>
                    </a:p>
                  </a:txBody>
                  <a:tcPr marT="45000" marB="45000"/>
                </a:tc>
                <a:tc>
                  <a:txBody>
                    <a:bodyPr/>
                    <a:lstStyle/>
                    <a:p>
                      <a:r>
                        <a:rPr sz="1200" lang="en-GB"/>
                        <a:t>Ridge regression + search</a:t>
                      </a:r>
                    </a:p>
                  </a:txBody>
                  <a:tcPr marT="45000" marB="45000"/>
                </a:tc>
              </a:tr>
              <a:tr h="370840">
                <a:tc>
                  <a:txBody>
                    <a:bodyPr/>
                    <a:lstStyle/>
                    <a:p>
                      <a:r>
                        <a:rPr sz="1200" b="1" lang="en-GB"/>
                        <a:t>Engine</a:t>
                      </a:r>
                    </a:p>
                  </a:txBody>
                  <a:tcPr marT="45000" marB="45000"/>
                </a:tc>
                <a:tc>
                  <a:txBody>
                    <a:bodyPr/>
                    <a:lstStyle/>
                    <a:p>
                      <a:r>
                        <a:rPr sz="1200" lang="en-GB"/>
                        <a:t>PyMC</a:t>
                      </a:r>
                    </a:p>
                  </a:txBody>
                  <a:tcPr marT="45000" marB="45000"/>
                </a:tc>
                <a:tc>
                  <a:txBody>
                    <a:bodyPr/>
                    <a:lstStyle/>
                    <a:p>
                      <a:r>
                        <a:rPr sz="1200" lang="en-GB"/>
                        <a:t>JAX</a:t>
                      </a:r>
                    </a:p>
                  </a:txBody>
                  <a:tcPr marT="45000" marB="45000"/>
                </a:tc>
                <a:tc>
                  <a:txBody>
                    <a:bodyPr/>
                    <a:lstStyle/>
                    <a:p>
                      <a:r>
                        <a:rPr sz="1200" lang="en-GB"/>
                        <a:t>glmnet, Nevergrad, Prophet</a:t>
                      </a:r>
                    </a:p>
                  </a:txBody>
                  <a:tcPr marT="45000" marB="45000"/>
                </a:tc>
              </a:tr>
              <a:tr h="370840">
                <a:tc>
                  <a:txBody>
                    <a:bodyPr/>
                    <a:lstStyle/>
                    <a:p>
                      <a:r>
                        <a:rPr sz="1200" b="1" lang="en-GB"/>
                        <a:t>Licence</a:t>
                      </a:r>
                    </a:p>
                  </a:txBody>
                  <a:tcPr marT="45000" marB="45000"/>
                </a:tc>
                <a:tc>
                  <a:txBody>
                    <a:bodyPr/>
                    <a:lstStyle/>
                    <a:p>
                      <a:r>
                        <a:rPr sz="1200" lang="en-GB"/>
                        <a:t>Apache-2.0</a:t>
                      </a:r>
                    </a:p>
                  </a:txBody>
                  <a:tcPr marT="45000" marB="45000"/>
                </a:tc>
                <a:tc>
                  <a:txBody>
                    <a:bodyPr/>
                    <a:lstStyle/>
                    <a:p>
                      <a:r>
                        <a:rPr sz="1200" lang="en-GB"/>
                        <a:t>Apache-2.0</a:t>
                      </a:r>
                    </a:p>
                  </a:txBody>
                  <a:tcPr marT="45000" marB="45000"/>
                </a:tc>
                <a:tc>
                  <a:txBody>
                    <a:bodyPr/>
                    <a:lstStyle/>
                    <a:p>
                      <a:r>
                        <a:rPr sz="1200" lang="en-GB"/>
                        <a:t>MIT</a:t>
                      </a:r>
                    </a:p>
                  </a:txBody>
                  <a:tcPr marT="45000" marB="45000"/>
                </a:tc>
              </a:tr>
            </a:tbl>
          </a:graphicData>
        </a:graphic>
      </p:graphicFrame>
      <p:sp>
        <p:nvSpPr>
          <p:cNvPr id="3" name="Title 2"/>
          <p:cNvSpPr>
            <a:spLocks noGrp="1"/>
          </p:cNvSpPr>
          <p:nvPr>
            <p:ph type="title"/>
          </p:nvPr>
        </p:nvSpPr>
        <p:spPr/>
        <p:txBody>
          <a:bodyPr/>
          <a:lstStyle/>
          <a:p>
            <a:r>
              <a:rPr sz="1600" lang="en-GB"/>
              <a:t>The three tools at a glance</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Tools callout box"/>
          <p:cNvSpPr/>
          <p:nvPr/>
        </p:nvSpPr>
        <p:spPr>
          <a:xfrm>
            <a:off x="457200" y="3931920"/>
            <a:ext cx="8229600" cy="50292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ools callout text"/>
          <p:cNvSpPr txBox="1"/>
          <p:nvPr/>
        </p:nvSpPr>
        <p:spPr>
          <a:xfrm>
            <a:off x="658368" y="3931920"/>
            <a:ext cx="7827264" cy="502920"/>
          </a:xfrm>
          <a:prstGeom prst="rect">
            <a:avLst/>
          </a:prstGeom>
          <a:noFill/>
        </p:spPr>
        <p:txBody>
          <a:bodyPr wrap="square" lIns="0" rIns="0" tIns="0" bIns="0" anchor="ctr">
            <a:noAutofit/>
          </a:bodyPr>
          <a:lstStyle/>
          <a:p>
            <a:pPr algn="l">
              <a:spcAft>
                <a:spcPts val="400"/>
              </a:spcAft>
            </a:pPr>
            <a:r>
              <a:rPr sz="1250" b="1" lang="en-GB">
                <a:solidFill>
                  <a:schemeClr val="bg1"/>
                </a:solidFill>
              </a:rPr>
              <a:t>All free and open, </a:t>
            </a:r>
            <a:r>
              <a:rPr sz="1250" b="0" lang="en-GB">
                <a:solidFill>
                  <a:schemeClr val="bg1"/>
                </a:solidFill>
              </a:rPr>
              <a:t>but two come from the largest ad platforms (slide 24).</a:t>
            </a:r>
          </a:p>
        </p:txBody>
      </p:sp>
      <p:sp>
        <p:nvSpPr>
          <p:cNvPr id="12" name="Sources"/>
          <p:cNvSpPr txBox="1"/>
          <p:nvPr/>
        </p:nvSpPr>
        <p:spPr>
          <a:xfrm>
            <a:off x="457200" y="4818888"/>
            <a:ext cx="8229600" cy="256032"/>
          </a:xfrm>
          <a:prstGeom prst="rect">
            <a:avLst/>
          </a:prstGeom>
          <a:noFill/>
        </p:spPr>
        <p:txBody>
          <a:bodyPr wrap="square" lIns="0" rIns="0" tIns="0" bIns="0" anchor="ctr">
            <a:noAutofit/>
          </a:bodyPr>
          <a:lstStyle/>
          <a:p>
            <a:pPr algn="l">
              <a:spcAft>
                <a:spcPts val="0"/>
              </a:spcAft>
            </a:pPr>
            <a:r>
              <a:rPr sz="1100" b="0" lang="en-GB">
                <a:solidFill>
                  <a:srgbClr val="595959"/>
                </a:solidFill>
              </a:rPr>
              <a:t>Sources: PyPI, CRAN and the tools' repositories, checked 26 Oct 2026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Bayesian in one picture: prior and posterior</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pic>
        <p:nvPicPr>
          <p:cNvPr id="10" name="Chart mm_m2_prior.png" descr="Decay of Meta in the Austrian PyMC-Marketing model: the grey prior Beta(1, 3) spreads from 0 to 1; the blue posterior is piled up between 0 and about 0.3, with its mean at 0.11; a grey dashed line marks our guess of 0.5 from Step 4."/>
          <p:cNvPicPr>
            <a:picLocks noChangeAspect="1"/>
          </p:cNvPicPr>
          <p:nvPr/>
        </p:nvPicPr>
        <p:blipFill>
          <a:blip r:embed="rId3"/>
          <a:stretch>
            <a:fillRect/>
          </a:stretch>
        </p:blipFill>
        <p:spPr>
          <a:xfrm>
            <a:off x="457200" y="1234440"/>
            <a:ext cx="4754880" cy="2743200"/>
          </a:xfrm>
          <a:prstGeom prst="rect">
            <a:avLst/>
          </a:prstGeom>
        </p:spPr>
      </p:pic>
      <p:sp>
        <p:nvSpPr>
          <p:cNvPr id="11" name="Bayes row 1 row"/>
          <p:cNvSpPr/>
          <p:nvPr/>
        </p:nvSpPr>
        <p:spPr>
          <a:xfrm>
            <a:off x="5349240" y="1234440"/>
            <a:ext cx="3337560" cy="865632"/>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Bayes row 1 bar"/>
          <p:cNvSpPr/>
          <p:nvPr/>
        </p:nvSpPr>
        <p:spPr>
          <a:xfrm>
            <a:off x="5349240" y="1234440"/>
            <a:ext cx="64008" cy="86563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Bayes row 1 text"/>
          <p:cNvSpPr txBox="1"/>
          <p:nvPr/>
        </p:nvSpPr>
        <p:spPr>
          <a:xfrm>
            <a:off x="5550408" y="1234440"/>
            <a:ext cx="3044952" cy="865632"/>
          </a:xfrm>
          <a:prstGeom prst="rect">
            <a:avLst/>
          </a:prstGeom>
          <a:noFill/>
        </p:spPr>
        <p:txBody>
          <a:bodyPr wrap="square" lIns="0" rIns="0" tIns="0" bIns="0" anchor="ctr">
            <a:noAutofit/>
          </a:bodyPr>
          <a:lstStyle/>
          <a:p>
            <a:pPr algn="l">
              <a:spcAft>
                <a:spcPts val="400"/>
              </a:spcAft>
            </a:pPr>
            <a:r>
              <a:rPr sz="1200" b="1" lang="en-GB">
                <a:solidFill>
                  <a:schemeClr val="tx2"/>
                </a:solidFill>
              </a:rPr>
              <a:t>Prior: </a:t>
            </a:r>
            <a:r>
              <a:rPr sz="1200" b="0" lang="en-GB">
                <a:solidFill>
                  <a:schemeClr val="tx1"/>
                </a:solidFill>
              </a:rPr>
              <a:t>what we believe before the data (here: the decay is probably small, Beta(1, 3))</a:t>
            </a:r>
          </a:p>
        </p:txBody>
      </p:sp>
      <p:sp>
        <p:nvSpPr>
          <p:cNvPr id="14" name="Bayes row 2 row"/>
          <p:cNvSpPr/>
          <p:nvPr/>
        </p:nvSpPr>
        <p:spPr>
          <a:xfrm>
            <a:off x="5349240" y="2173224"/>
            <a:ext cx="3337560" cy="865632"/>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Bayes row 2 bar"/>
          <p:cNvSpPr/>
          <p:nvPr/>
        </p:nvSpPr>
        <p:spPr>
          <a:xfrm>
            <a:off x="5349240" y="2173224"/>
            <a:ext cx="64008" cy="86563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Bayes row 2 text"/>
          <p:cNvSpPr txBox="1"/>
          <p:nvPr/>
        </p:nvSpPr>
        <p:spPr>
          <a:xfrm>
            <a:off x="5550408" y="2173224"/>
            <a:ext cx="3044952" cy="865632"/>
          </a:xfrm>
          <a:prstGeom prst="rect">
            <a:avLst/>
          </a:prstGeom>
          <a:noFill/>
        </p:spPr>
        <p:txBody>
          <a:bodyPr wrap="square" lIns="0" rIns="0" tIns="0" bIns="0" anchor="ctr">
            <a:noAutofit/>
          </a:bodyPr>
          <a:lstStyle/>
          <a:p>
            <a:pPr algn="l">
              <a:spcAft>
                <a:spcPts val="400"/>
              </a:spcAft>
            </a:pPr>
            <a:r>
              <a:rPr sz="1200" b="1" lang="en-GB">
                <a:solidFill>
                  <a:schemeClr val="tx2"/>
                </a:solidFill>
              </a:rPr>
              <a:t>Posterior: </a:t>
            </a:r>
            <a:r>
              <a:rPr sz="1200" b="0" lang="en-GB">
                <a:solidFill>
                  <a:schemeClr val="tx1"/>
                </a:solidFill>
              </a:rPr>
              <a:t>the belief after the data: mean 0.11, 94 % interval 0.00 to 0.29</a:t>
            </a:r>
          </a:p>
        </p:txBody>
      </p:sp>
      <p:sp>
        <p:nvSpPr>
          <p:cNvPr id="17" name="Bayes row 3 row"/>
          <p:cNvSpPr/>
          <p:nvPr/>
        </p:nvSpPr>
        <p:spPr>
          <a:xfrm>
            <a:off x="5349240" y="3112008"/>
            <a:ext cx="3337560" cy="865632"/>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Bayes row 3 bar"/>
          <p:cNvSpPr/>
          <p:nvPr/>
        </p:nvSpPr>
        <p:spPr>
          <a:xfrm>
            <a:off x="5349240" y="3112008"/>
            <a:ext cx="64008" cy="86563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Bayes row 3 text"/>
          <p:cNvSpPr txBox="1"/>
          <p:nvPr/>
        </p:nvSpPr>
        <p:spPr>
          <a:xfrm>
            <a:off x="5550408" y="3112008"/>
            <a:ext cx="3044952" cy="865632"/>
          </a:xfrm>
          <a:prstGeom prst="rect">
            <a:avLst/>
          </a:prstGeom>
          <a:noFill/>
        </p:spPr>
        <p:txBody>
          <a:bodyPr wrap="square" lIns="0" rIns="0" tIns="0" bIns="0" anchor="ctr">
            <a:noAutofit/>
          </a:bodyPr>
          <a:lstStyle/>
          <a:p>
            <a:pPr algn="l">
              <a:spcAft>
                <a:spcPts val="400"/>
              </a:spcAft>
            </a:pPr>
            <a:r>
              <a:rPr sz="1200" b="1" lang="en-GB">
                <a:solidFill>
                  <a:schemeClr val="tx2"/>
                </a:solidFill>
              </a:rPr>
              <a:t>Check: </a:t>
            </a:r>
            <a:r>
              <a:rPr sz="1200" b="0" lang="en-GB">
                <a:solidFill>
                  <a:schemeClr val="tx1"/>
                </a:solidFill>
              </a:rPr>
              <a:t>R-hat 1.00, no divergences: the sampler agrees with itself</a:t>
            </a:r>
          </a:p>
        </p:txBody>
      </p:sp>
      <p:sp>
        <p:nvSpPr>
          <p:cNvPr id="20" name="Bayes callout box"/>
          <p:cNvSpPr/>
          <p:nvPr/>
        </p:nvSpPr>
        <p:spPr>
          <a:xfrm>
            <a:off x="457200" y="4114800"/>
            <a:ext cx="8229600" cy="50292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Bayes callout text"/>
          <p:cNvSpPr txBox="1"/>
          <p:nvPr/>
        </p:nvSpPr>
        <p:spPr>
          <a:xfrm>
            <a:off x="658368" y="4114800"/>
            <a:ext cx="7827264" cy="502920"/>
          </a:xfrm>
          <a:prstGeom prst="rect">
            <a:avLst/>
          </a:prstGeom>
          <a:noFill/>
        </p:spPr>
        <p:txBody>
          <a:bodyPr wrap="square" lIns="0" rIns="0" tIns="0" bIns="0" anchor="ctr">
            <a:noAutofit/>
          </a:bodyPr>
          <a:lstStyle/>
          <a:p>
            <a:pPr algn="l">
              <a:spcAft>
                <a:spcPts val="400"/>
              </a:spcAft>
            </a:pPr>
            <a:r>
              <a:rPr sz="1250" b="1" lang="en-GB">
                <a:solidFill>
                  <a:schemeClr val="bg1"/>
                </a:solidFill>
              </a:rPr>
              <a:t>Bayesian MMM: </a:t>
            </a:r>
            <a:r>
              <a:rPr sz="1250" b="0" lang="en-GB">
                <a:solidFill>
                  <a:schemeClr val="bg1"/>
                </a:solidFill>
              </a:rPr>
              <a:t>every parameter gets a prior; the result is a range, not one number.</a:t>
            </a:r>
          </a:p>
        </p:txBody>
      </p:sp>
      <p:sp>
        <p:nvSpPr>
          <p:cNvPr id="22" name="Sources"/>
          <p:cNvSpPr txBox="1"/>
          <p:nvPr/>
        </p:nvSpPr>
        <p:spPr>
          <a:xfrm>
            <a:off x="457200" y="4818888"/>
            <a:ext cx="8229600" cy="256032"/>
          </a:xfrm>
          <a:prstGeom prst="rect">
            <a:avLst/>
          </a:prstGeom>
          <a:noFill/>
        </p:spPr>
        <p:txBody>
          <a:bodyPr wrap="square" lIns="0" rIns="0" tIns="0" bIns="0" anchor="ctr">
            <a:noAutofit/>
          </a:bodyPr>
          <a:lstStyle/>
          <a:p>
            <a:pPr algn="l">
              <a:spcAft>
                <a:spcPts val="0"/>
              </a:spcAft>
            </a:pPr>
            <a:r>
              <a:rPr sz="1100" b="0" lang="en-GB">
                <a:solidFill>
                  <a:srgbClr val="595959"/>
                </a:solidFill>
              </a:rPr>
              <a:t>Prior: PyMC-Marketing default; posterior: the Austrian model of Step 8</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PyMC-Marketing: Bayesian MMM in Python</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Tool row 1 row"/>
          <p:cNvSpPr/>
          <p:nvPr/>
        </p:nvSpPr>
        <p:spPr>
          <a:xfrm>
            <a:off x="457200" y="1234440"/>
            <a:ext cx="3657600" cy="688543"/>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ool row 1 bar"/>
          <p:cNvSpPr/>
          <p:nvPr/>
        </p:nvSpPr>
        <p:spPr>
          <a:xfrm>
            <a:off x="457200" y="1234440"/>
            <a:ext cx="64008" cy="688543"/>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ool row 1 text"/>
          <p:cNvSpPr txBox="1"/>
          <p:nvPr/>
        </p:nvSpPr>
        <p:spPr>
          <a:xfrm>
            <a:off x="658368" y="1234440"/>
            <a:ext cx="3364992" cy="688543"/>
          </a:xfrm>
          <a:prstGeom prst="rect">
            <a:avLst/>
          </a:prstGeom>
          <a:noFill/>
        </p:spPr>
        <p:txBody>
          <a:bodyPr wrap="square" lIns="0" rIns="0" tIns="0" bIns="0" anchor="ctr">
            <a:noAutofit/>
          </a:bodyPr>
          <a:lstStyle/>
          <a:p>
            <a:pPr algn="l">
              <a:spcAft>
                <a:spcPts val="400"/>
              </a:spcAft>
            </a:pPr>
            <a:r>
              <a:rPr sz="1150" b="1" lang="en-GB">
                <a:solidFill>
                  <a:schemeClr val="tx2"/>
                </a:solidFill>
              </a:rPr>
              <a:t>What: </a:t>
            </a:r>
            <a:r>
              <a:rPr sz="1150" b="0" lang="en-GB">
                <a:solidFill>
                  <a:schemeClr val="tx1"/>
                </a:solidFill>
              </a:rPr>
              <a:t>PyMC Labs' free Python package (Apache-2.0), built on PyMC</a:t>
            </a:r>
          </a:p>
        </p:txBody>
      </p:sp>
      <p:sp>
        <p:nvSpPr>
          <p:cNvPr id="13" name="Tool row 2 row"/>
          <p:cNvSpPr/>
          <p:nvPr/>
        </p:nvSpPr>
        <p:spPr>
          <a:xfrm>
            <a:off x="457200" y="1996135"/>
            <a:ext cx="3657600" cy="688543"/>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ool row 2 bar"/>
          <p:cNvSpPr/>
          <p:nvPr/>
        </p:nvSpPr>
        <p:spPr>
          <a:xfrm>
            <a:off x="457200" y="1996135"/>
            <a:ext cx="64008" cy="688543"/>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ool row 2 text"/>
          <p:cNvSpPr txBox="1"/>
          <p:nvPr/>
        </p:nvSpPr>
        <p:spPr>
          <a:xfrm>
            <a:off x="658368" y="1996135"/>
            <a:ext cx="3364992" cy="688543"/>
          </a:xfrm>
          <a:prstGeom prst="rect">
            <a:avLst/>
          </a:prstGeom>
          <a:noFill/>
        </p:spPr>
        <p:txBody>
          <a:bodyPr wrap="square" lIns="0" rIns="0" tIns="0" bIns="0" anchor="ctr">
            <a:noAutofit/>
          </a:bodyPr>
          <a:lstStyle/>
          <a:p>
            <a:pPr algn="l">
              <a:spcAft>
                <a:spcPts val="400"/>
              </a:spcAft>
            </a:pPr>
            <a:r>
              <a:rPr sz="1150" b="1" lang="en-GB">
                <a:solidFill>
                  <a:schemeClr val="tx2"/>
                </a:solidFill>
              </a:rPr>
              <a:t>How: </a:t>
            </a:r>
            <a:r>
              <a:rPr sz="1150" b="0" lang="en-GB">
                <a:solidFill>
                  <a:schemeClr val="tx1"/>
                </a:solidFill>
              </a:rPr>
              <a:t>a prior on every parameter; adstock, then saturation; every result comes with a range</a:t>
            </a:r>
          </a:p>
        </p:txBody>
      </p:sp>
      <p:sp>
        <p:nvSpPr>
          <p:cNvPr id="16" name="Tool row 3 row"/>
          <p:cNvSpPr/>
          <p:nvPr/>
        </p:nvSpPr>
        <p:spPr>
          <a:xfrm>
            <a:off x="457200" y="2757830"/>
            <a:ext cx="3657600" cy="688543"/>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ool row 3 bar"/>
          <p:cNvSpPr/>
          <p:nvPr/>
        </p:nvSpPr>
        <p:spPr>
          <a:xfrm>
            <a:off x="457200" y="2757830"/>
            <a:ext cx="64008" cy="688543"/>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ool row 3 text"/>
          <p:cNvSpPr txBox="1"/>
          <p:nvPr/>
        </p:nvSpPr>
        <p:spPr>
          <a:xfrm>
            <a:off x="658368" y="2757830"/>
            <a:ext cx="3364992" cy="688543"/>
          </a:xfrm>
          <a:prstGeom prst="rect">
            <a:avLst/>
          </a:prstGeom>
          <a:noFill/>
        </p:spPr>
        <p:txBody>
          <a:bodyPr wrap="square" lIns="0" rIns="0" tIns="0" bIns="0" anchor="ctr">
            <a:noAutofit/>
          </a:bodyPr>
          <a:lstStyle/>
          <a:p>
            <a:pPr algn="l">
              <a:spcAft>
                <a:spcPts val="400"/>
              </a:spcAft>
            </a:pPr>
            <a:r>
              <a:rPr sz="1150" b="1" lang="en-GB">
                <a:solidFill>
                  <a:schemeClr val="tx2"/>
                </a:solidFill>
              </a:rPr>
              <a:t>Strengths: </a:t>
            </a:r>
            <a:r>
              <a:rPr sz="1150" b="0" lang="en-GB">
                <a:solidFill>
                  <a:schemeClr val="tx1"/>
                </a:solidFill>
              </a:rPr>
              <a:t>flexible; countries and brands in one model; lift tests and a budget optimiser built in</a:t>
            </a:r>
          </a:p>
        </p:txBody>
      </p:sp>
      <p:sp>
        <p:nvSpPr>
          <p:cNvPr id="19" name="Tool row 4 row"/>
          <p:cNvSpPr/>
          <p:nvPr/>
        </p:nvSpPr>
        <p:spPr>
          <a:xfrm>
            <a:off x="457200" y="3519526"/>
            <a:ext cx="3657600" cy="688543"/>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ool row 4 bar"/>
          <p:cNvSpPr/>
          <p:nvPr/>
        </p:nvSpPr>
        <p:spPr>
          <a:xfrm>
            <a:off x="457200" y="3519526"/>
            <a:ext cx="64008" cy="688543"/>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ool row 4 text"/>
          <p:cNvSpPr txBox="1"/>
          <p:nvPr/>
        </p:nvSpPr>
        <p:spPr>
          <a:xfrm>
            <a:off x="658368" y="3519526"/>
            <a:ext cx="3364992" cy="688543"/>
          </a:xfrm>
          <a:prstGeom prst="rect">
            <a:avLst/>
          </a:prstGeom>
          <a:noFill/>
        </p:spPr>
        <p:txBody>
          <a:bodyPr wrap="square" lIns="0" rIns="0" tIns="0" bIns="0" anchor="ctr">
            <a:noAutofit/>
          </a:bodyPr>
          <a:lstStyle/>
          <a:p>
            <a:pPr algn="l">
              <a:spcAft>
                <a:spcPts val="400"/>
              </a:spcAft>
            </a:pPr>
            <a:r>
              <a:rPr sz="1150" b="1" lang="en-GB">
                <a:solidFill>
                  <a:schemeClr val="tx2"/>
                </a:solidFill>
              </a:rPr>
              <a:t>Best for: </a:t>
            </a:r>
            <a:r>
              <a:rPr sz="1150" b="0" lang="en-GB">
                <a:solidFill>
                  <a:schemeClr val="tx1"/>
                </a:solidFill>
              </a:rPr>
              <a:t>many markets or brands, a budget split across them, a team that codes in Python</a:t>
            </a:r>
          </a:p>
        </p:txBody>
      </p:sp>
      <p:sp>
        <p:nvSpPr>
          <p:cNvPr id="22" name="Tool code caption bar"/>
          <p:cNvSpPr/>
          <p:nvPr/>
        </p:nvSpPr>
        <p:spPr>
          <a:xfrm>
            <a:off x="4251960" y="1234440"/>
            <a:ext cx="4434840" cy="27432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ool code caption"/>
          <p:cNvSpPr txBox="1"/>
          <p:nvPr/>
        </p:nvSpPr>
        <p:spPr>
          <a:xfrm>
            <a:off x="4361688" y="1234440"/>
            <a:ext cx="4215384" cy="274320"/>
          </a:xfrm>
          <a:prstGeom prst="rect">
            <a:avLst/>
          </a:prstGeom>
          <a:noFill/>
        </p:spPr>
        <p:txBody>
          <a:bodyPr wrap="square" lIns="0" rIns="0" tIns="0" bIns="0" anchor="ctr">
            <a:noAutofit/>
          </a:bodyPr>
          <a:lstStyle/>
          <a:p>
            <a:pPr algn="l">
              <a:spcAft>
                <a:spcPts val="400"/>
              </a:spcAft>
            </a:pPr>
            <a:r>
              <a:rPr sz="1100" b="1" lang="en-GB">
                <a:solidFill>
                  <a:schemeClr val="bg1"/>
                </a:solidFill>
              </a:rPr>
              <a:t>open_source_mmm.qmd · Step 8</a:t>
            </a:r>
          </a:p>
        </p:txBody>
      </p:sp>
      <p:sp>
        <p:nvSpPr>
          <p:cNvPr id="24" name="Tool code box"/>
          <p:cNvSpPr/>
          <p:nvPr/>
        </p:nvSpPr>
        <p:spPr>
          <a:xfrm>
            <a:off x="4251960" y="1508760"/>
            <a:ext cx="4434840" cy="1126541"/>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ool code code"/>
          <p:cNvSpPr txBox="1"/>
          <p:nvPr/>
        </p:nvSpPr>
        <p:spPr>
          <a:xfrm>
            <a:off x="4389120" y="1600200"/>
            <a:ext cx="4160520" cy="943661"/>
          </a:xfrm>
          <a:prstGeom prst="rect">
            <a:avLst/>
          </a:prstGeom>
          <a:noFill/>
        </p:spPr>
        <p:txBody>
          <a:bodyPr wrap="square" lIns="0" rIns="0" tIns="0" bIns="0" anchor="t">
            <a:noAutofit/>
          </a:bodyPr>
          <a:lstStyle/>
          <a:p>
            <a:pPr algn="l">
              <a:spcAft>
                <a:spcPts val="0"/>
              </a:spcAft>
            </a:pPr>
            <a:r>
              <a:rPr sz="1000" b="0" lang="en-GB">
                <a:solidFill>
                  <a:schemeClr val="bg1"/>
                </a:solidFill>
                <a:latin typeface="Consolas"/>
              </a:rPr>
              <a:t>mmm = MMM(date_column="week", target_column="sales",</a:t>
            </a:r>
          </a:p>
          <a:p>
            <a:pPr algn="l">
              <a:spcAft>
                <a:spcPts val="0"/>
              </a:spcAft>
            </a:pPr>
            <a:r>
              <a:rPr sz="1000" b="0" lang="en-GB">
                <a:solidFill>
                  <a:schemeClr val="bg1"/>
                </a:solidFill>
                <a:latin typeface="Consolas"/>
              </a:rPr>
              <a:t>          channel_columns=["google", "meta"],</a:t>
            </a:r>
          </a:p>
          <a:p>
            <a:pPr algn="l">
              <a:spcAft>
                <a:spcPts val="0"/>
              </a:spcAft>
            </a:pPr>
            <a:r>
              <a:rPr sz="1000" b="0" lang="en-GB">
                <a:solidFill>
                  <a:schemeClr val="bg1"/>
                </a:solidFill>
                <a:latin typeface="Consolas"/>
              </a:rPr>
              <a:t>          control_columns=["week_no"],</a:t>
            </a:r>
          </a:p>
          <a:p>
            <a:pPr algn="l">
              <a:spcAft>
                <a:spcPts val="0"/>
              </a:spcAft>
            </a:pPr>
            <a:r>
              <a:rPr sz="1000" b="0" lang="en-GB">
                <a:solidFill>
                  <a:schemeClr val="bg1"/>
                </a:solidFill>
                <a:latin typeface="Consolas"/>
              </a:rPr>
              <a:t>          adstock=GeometricAdstock(l_max=6),</a:t>
            </a:r>
          </a:p>
          <a:p>
            <a:pPr algn="l">
              <a:spcAft>
                <a:spcPts val="0"/>
              </a:spcAft>
            </a:pPr>
            <a:r>
              <a:rPr sz="1000" b="0" lang="en-GB">
                <a:solidFill>
                  <a:schemeClr val="bg1"/>
                </a:solidFill>
                <a:latin typeface="Consolas"/>
              </a:rPr>
              <a:t>          saturation=LogisticSaturation(),</a:t>
            </a:r>
          </a:p>
          <a:p>
            <a:pPr algn="l">
              <a:spcAft>
                <a:spcPts val="0"/>
              </a:spcAft>
            </a:pPr>
            <a:r>
              <a:rPr sz="1000" b="0" lang="en-GB">
                <a:solidFill>
                  <a:schemeClr val="bg1"/>
                </a:solidFill>
                <a:latin typeface="Consolas"/>
              </a:rPr>
              <a:t>          yearly_seasonality=2)</a:t>
            </a:r>
          </a:p>
        </p:txBody>
      </p:sp>
      <p:sp>
        <p:nvSpPr>
          <p:cNvPr id="26" name="Tool callout box"/>
          <p:cNvSpPr/>
          <p:nvPr/>
        </p:nvSpPr>
        <p:spPr>
          <a:xfrm>
            <a:off x="457200" y="4345229"/>
            <a:ext cx="8229600" cy="36576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ool callout text"/>
          <p:cNvSpPr txBox="1"/>
          <p:nvPr/>
        </p:nvSpPr>
        <p:spPr>
          <a:xfrm>
            <a:off x="658368" y="4345229"/>
            <a:ext cx="7827264" cy="365760"/>
          </a:xfrm>
          <a:prstGeom prst="rect">
            <a:avLst/>
          </a:prstGeom>
          <a:noFill/>
        </p:spPr>
        <p:txBody>
          <a:bodyPr wrap="square" lIns="0" rIns="0" tIns="0" bIns="0" anchor="ctr">
            <a:noAutofit/>
          </a:bodyPr>
          <a:lstStyle/>
          <a:p>
            <a:pPr algn="l">
              <a:spcAft>
                <a:spcPts val="400"/>
              </a:spcAft>
            </a:pPr>
            <a:r>
              <a:rPr sz="1200" b="1" lang="en-GB">
                <a:solidFill>
                  <a:schemeClr val="bg1"/>
                </a:solidFill>
              </a:rPr>
              <a:t>Our tool in Part 5: </a:t>
            </a:r>
            <a:r>
              <a:rPr sz="1200" b="0" lang="en-GB">
                <a:solidFill>
                  <a:schemeClr val="bg1"/>
                </a:solidFill>
              </a:rPr>
              <a:t>six lines define the model, one call fits it (Step 8).</a:t>
            </a:r>
          </a:p>
        </p:txBody>
      </p:sp>
      <p:sp>
        <p:nvSpPr>
          <p:cNvPr id="28" name="PyMC output 1-1"/>
          <p:cNvSpPr/>
          <p:nvPr/>
        </p:nvSpPr>
        <p:spPr>
          <a:xfrm>
            <a:off x="4251960" y="2772461"/>
            <a:ext cx="3584448" cy="33832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PyMC output text 1-1"/>
          <p:cNvSpPr txBox="1"/>
          <p:nvPr/>
        </p:nvSpPr>
        <p:spPr>
          <a:xfrm>
            <a:off x="4343400" y="2772461"/>
            <a:ext cx="3401568" cy="338328"/>
          </a:xfrm>
          <a:prstGeom prst="rect">
            <a:avLst/>
          </a:prstGeom>
          <a:noFill/>
        </p:spPr>
        <p:txBody>
          <a:bodyPr wrap="square" lIns="0" rIns="0" tIns="0" bIns="0" anchor="ctr">
            <a:noAutofit/>
          </a:bodyPr>
          <a:lstStyle/>
          <a:p>
            <a:pPr algn="l">
              <a:spcAft>
                <a:spcPts val="400"/>
              </a:spcAft>
            </a:pPr>
            <a:r>
              <a:rPr sz="1150" b="1" lang="en-GB">
                <a:solidFill>
                  <a:schemeClr val="bg1"/>
                </a:solidFill>
              </a:rPr>
              <a:t>After the fit you get</a:t>
            </a:r>
          </a:p>
        </p:txBody>
      </p:sp>
      <p:sp>
        <p:nvSpPr>
          <p:cNvPr id="30" name="PyMC output 1-2"/>
          <p:cNvSpPr/>
          <p:nvPr/>
        </p:nvSpPr>
        <p:spPr>
          <a:xfrm>
            <a:off x="7863840" y="2772461"/>
            <a:ext cx="822960" cy="33832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PyMC output text 1-2"/>
          <p:cNvSpPr txBox="1"/>
          <p:nvPr/>
        </p:nvSpPr>
        <p:spPr>
          <a:xfrm>
            <a:off x="7955280" y="2772461"/>
            <a:ext cx="612648" cy="338328"/>
          </a:xfrm>
          <a:prstGeom prst="rect">
            <a:avLst/>
          </a:prstGeom>
          <a:noFill/>
        </p:spPr>
        <p:txBody>
          <a:bodyPr wrap="square" lIns="0" rIns="0" tIns="0" bIns="0" anchor="ctr">
            <a:noAutofit/>
          </a:bodyPr>
          <a:lstStyle/>
          <a:p>
            <a:pPr algn="r">
              <a:spcAft>
                <a:spcPts val="400"/>
              </a:spcAft>
            </a:pPr>
            <a:r>
              <a:rPr sz="1150" b="1" lang="en-GB">
                <a:solidFill>
                  <a:schemeClr val="bg1"/>
                </a:solidFill>
              </a:rPr>
              <a:t>Slide</a:t>
            </a:r>
          </a:p>
        </p:txBody>
      </p:sp>
      <p:sp>
        <p:nvSpPr>
          <p:cNvPr id="32" name="PyMC output 2-1"/>
          <p:cNvSpPr/>
          <p:nvPr/>
        </p:nvSpPr>
        <p:spPr>
          <a:xfrm>
            <a:off x="4251960" y="3138221"/>
            <a:ext cx="3584448" cy="33832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PyMC output text 2-1"/>
          <p:cNvSpPr txBox="1"/>
          <p:nvPr/>
        </p:nvSpPr>
        <p:spPr>
          <a:xfrm>
            <a:off x="4343400" y="3138221"/>
            <a:ext cx="3401568" cy="338328"/>
          </a:xfrm>
          <a:prstGeom prst="rect">
            <a:avLst/>
          </a:prstGeom>
          <a:noFill/>
        </p:spPr>
        <p:txBody>
          <a:bodyPr wrap="square" lIns="0" rIns="0" tIns="0" bIns="0" anchor="ctr">
            <a:noAutofit/>
          </a:bodyPr>
          <a:lstStyle/>
          <a:p>
            <a:pPr algn="l">
              <a:spcAft>
                <a:spcPts val="400"/>
              </a:spcAft>
            </a:pPr>
            <a:r>
              <a:rPr sz="1150" b="1" lang="en-GB">
                <a:solidFill>
                  <a:schemeClr val="tx2"/>
                </a:solidFill>
              </a:rPr>
              <a:t>a posterior for every parameter</a:t>
            </a:r>
          </a:p>
        </p:txBody>
      </p:sp>
      <p:sp>
        <p:nvSpPr>
          <p:cNvPr id="34" name="PyMC output 2-2"/>
          <p:cNvSpPr/>
          <p:nvPr/>
        </p:nvSpPr>
        <p:spPr>
          <a:xfrm>
            <a:off x="7863840" y="3138221"/>
            <a:ext cx="822960" cy="33832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PyMC output text 2-2"/>
          <p:cNvSpPr txBox="1"/>
          <p:nvPr/>
        </p:nvSpPr>
        <p:spPr>
          <a:xfrm>
            <a:off x="7955280" y="3138221"/>
            <a:ext cx="612648" cy="338328"/>
          </a:xfrm>
          <a:prstGeom prst="rect">
            <a:avLst/>
          </a:prstGeom>
          <a:noFill/>
        </p:spPr>
        <p:txBody>
          <a:bodyPr wrap="square" lIns="0" rIns="0" tIns="0" bIns="0" anchor="ctr">
            <a:noAutofit/>
          </a:bodyPr>
          <a:lstStyle/>
          <a:p>
            <a:pPr algn="r">
              <a:spcAft>
                <a:spcPts val="400"/>
              </a:spcAft>
            </a:pPr>
            <a:r>
              <a:rPr sz="1150" b="0" lang="en-GB">
                <a:solidFill>
                  <a:schemeClr val="tx1"/>
                </a:solidFill>
              </a:rPr>
              <a:t>17, 39</a:t>
            </a:r>
          </a:p>
        </p:txBody>
      </p:sp>
      <p:sp>
        <p:nvSpPr>
          <p:cNvPr id="36" name="PyMC output 3-1"/>
          <p:cNvSpPr/>
          <p:nvPr/>
        </p:nvSpPr>
        <p:spPr>
          <a:xfrm>
            <a:off x="4251960" y="3503981"/>
            <a:ext cx="3584448" cy="33832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PyMC output text 3-1"/>
          <p:cNvSpPr txBox="1"/>
          <p:nvPr/>
        </p:nvSpPr>
        <p:spPr>
          <a:xfrm>
            <a:off x="4343400" y="3503981"/>
            <a:ext cx="3401568" cy="338328"/>
          </a:xfrm>
          <a:prstGeom prst="rect">
            <a:avLst/>
          </a:prstGeom>
          <a:noFill/>
        </p:spPr>
        <p:txBody>
          <a:bodyPr wrap="square" lIns="0" rIns="0" tIns="0" bIns="0" anchor="ctr">
            <a:noAutofit/>
          </a:bodyPr>
          <a:lstStyle/>
          <a:p>
            <a:pPr algn="l">
              <a:spcAft>
                <a:spcPts val="400"/>
              </a:spcAft>
            </a:pPr>
            <a:r>
              <a:rPr sz="1150" b="1" lang="en-GB">
                <a:solidFill>
                  <a:schemeClr val="tx2"/>
                </a:solidFill>
              </a:rPr>
              <a:t>contributions and ROI with a range</a:t>
            </a:r>
          </a:p>
        </p:txBody>
      </p:sp>
      <p:sp>
        <p:nvSpPr>
          <p:cNvPr id="38" name="PyMC output 3-2"/>
          <p:cNvSpPr/>
          <p:nvPr/>
        </p:nvSpPr>
        <p:spPr>
          <a:xfrm>
            <a:off x="7863840" y="3503981"/>
            <a:ext cx="822960" cy="33832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PyMC output text 3-2"/>
          <p:cNvSpPr txBox="1"/>
          <p:nvPr/>
        </p:nvSpPr>
        <p:spPr>
          <a:xfrm>
            <a:off x="7955280" y="3503981"/>
            <a:ext cx="612648" cy="338328"/>
          </a:xfrm>
          <a:prstGeom prst="rect">
            <a:avLst/>
          </a:prstGeom>
          <a:noFill/>
        </p:spPr>
        <p:txBody>
          <a:bodyPr wrap="square" lIns="0" rIns="0" tIns="0" bIns="0" anchor="ctr">
            <a:noAutofit/>
          </a:bodyPr>
          <a:lstStyle/>
          <a:p>
            <a:pPr algn="r">
              <a:spcAft>
                <a:spcPts val="400"/>
              </a:spcAft>
            </a:pPr>
            <a:r>
              <a:rPr sz="1150" b="0" lang="en-GB">
                <a:solidFill>
                  <a:schemeClr val="tx1"/>
                </a:solidFill>
              </a:rPr>
              <a:t>28</a:t>
            </a:r>
          </a:p>
        </p:txBody>
      </p:sp>
      <p:sp>
        <p:nvSpPr>
          <p:cNvPr id="40" name="PyMC output 4-1"/>
          <p:cNvSpPr/>
          <p:nvPr/>
        </p:nvSpPr>
        <p:spPr>
          <a:xfrm>
            <a:off x="4251960" y="3869741"/>
            <a:ext cx="3584448" cy="33832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PyMC output text 4-1"/>
          <p:cNvSpPr txBox="1"/>
          <p:nvPr/>
        </p:nvSpPr>
        <p:spPr>
          <a:xfrm>
            <a:off x="4343400" y="3869741"/>
            <a:ext cx="3401568" cy="338328"/>
          </a:xfrm>
          <a:prstGeom prst="rect">
            <a:avLst/>
          </a:prstGeom>
          <a:noFill/>
        </p:spPr>
        <p:txBody>
          <a:bodyPr wrap="square" lIns="0" rIns="0" tIns="0" bIns="0" anchor="ctr">
            <a:noAutofit/>
          </a:bodyPr>
          <a:lstStyle/>
          <a:p>
            <a:pPr algn="l">
              <a:spcAft>
                <a:spcPts val="400"/>
              </a:spcAft>
            </a:pPr>
            <a:r>
              <a:rPr sz="1150" b="1" lang="en-GB">
                <a:solidFill>
                  <a:schemeClr val="tx2"/>
                </a:solidFill>
              </a:rPr>
              <a:t>response curves, a budget plan</a:t>
            </a:r>
          </a:p>
        </p:txBody>
      </p:sp>
      <p:sp>
        <p:nvSpPr>
          <p:cNvPr id="42" name="PyMC output 4-2"/>
          <p:cNvSpPr/>
          <p:nvPr/>
        </p:nvSpPr>
        <p:spPr>
          <a:xfrm>
            <a:off x="7863840" y="3869741"/>
            <a:ext cx="822960" cy="33832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PyMC output text 4-2"/>
          <p:cNvSpPr txBox="1"/>
          <p:nvPr/>
        </p:nvSpPr>
        <p:spPr>
          <a:xfrm>
            <a:off x="7955280" y="3869741"/>
            <a:ext cx="612648" cy="338328"/>
          </a:xfrm>
          <a:prstGeom prst="rect">
            <a:avLst/>
          </a:prstGeom>
          <a:noFill/>
        </p:spPr>
        <p:txBody>
          <a:bodyPr wrap="square" lIns="0" rIns="0" tIns="0" bIns="0" anchor="ctr">
            <a:noAutofit/>
          </a:bodyPr>
          <a:lstStyle/>
          <a:p>
            <a:pPr algn="r">
              <a:spcAft>
                <a:spcPts val="400"/>
              </a:spcAft>
            </a:pPr>
            <a:r>
              <a:rPr sz="1150" b="0" lang="en-GB">
                <a:solidFill>
                  <a:schemeClr val="tx1"/>
                </a:solidFill>
              </a:rPr>
              <a:t>29</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Meridian: Google's Bayesian geo model</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Tool row 1 row"/>
          <p:cNvSpPr/>
          <p:nvPr/>
        </p:nvSpPr>
        <p:spPr>
          <a:xfrm>
            <a:off x="457200" y="1234440"/>
            <a:ext cx="3657600" cy="688543"/>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ool row 1 bar"/>
          <p:cNvSpPr/>
          <p:nvPr/>
        </p:nvSpPr>
        <p:spPr>
          <a:xfrm>
            <a:off x="457200" y="1234440"/>
            <a:ext cx="64008" cy="688543"/>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ool row 1 text"/>
          <p:cNvSpPr txBox="1"/>
          <p:nvPr/>
        </p:nvSpPr>
        <p:spPr>
          <a:xfrm>
            <a:off x="658368" y="1234440"/>
            <a:ext cx="3364992" cy="688543"/>
          </a:xfrm>
          <a:prstGeom prst="rect">
            <a:avLst/>
          </a:prstGeom>
          <a:noFill/>
        </p:spPr>
        <p:txBody>
          <a:bodyPr wrap="square" lIns="0" rIns="0" tIns="0" bIns="0" anchor="ctr">
            <a:noAutofit/>
          </a:bodyPr>
          <a:lstStyle/>
          <a:p>
            <a:pPr algn="l">
              <a:spcAft>
                <a:spcPts val="400"/>
              </a:spcAft>
            </a:pPr>
            <a:r>
              <a:rPr sz="1150" b="1" lang="en-GB">
                <a:solidFill>
                  <a:schemeClr val="tx2"/>
                </a:solidFill>
              </a:rPr>
              <a:t>What: </a:t>
            </a:r>
            <a:r>
              <a:rPr sz="1150" b="0" lang="en-GB">
                <a:solidFill>
                  <a:schemeClr val="tx1"/>
                </a:solidFill>
              </a:rPr>
              <a:t>Google's free Python package (Apache-2.0); runs on JAX, a GPU helps</a:t>
            </a:r>
          </a:p>
        </p:txBody>
      </p:sp>
      <p:sp>
        <p:nvSpPr>
          <p:cNvPr id="13" name="Tool row 2 row"/>
          <p:cNvSpPr/>
          <p:nvPr/>
        </p:nvSpPr>
        <p:spPr>
          <a:xfrm>
            <a:off x="457200" y="1996135"/>
            <a:ext cx="3657600" cy="688543"/>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ool row 2 bar"/>
          <p:cNvSpPr/>
          <p:nvPr/>
        </p:nvSpPr>
        <p:spPr>
          <a:xfrm>
            <a:off x="457200" y="1996135"/>
            <a:ext cx="64008" cy="688543"/>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ool row 2 text"/>
          <p:cNvSpPr txBox="1"/>
          <p:nvPr/>
        </p:nvSpPr>
        <p:spPr>
          <a:xfrm>
            <a:off x="658368" y="1996135"/>
            <a:ext cx="3364992" cy="688543"/>
          </a:xfrm>
          <a:prstGeom prst="rect">
            <a:avLst/>
          </a:prstGeom>
          <a:noFill/>
        </p:spPr>
        <p:txBody>
          <a:bodyPr wrap="square" lIns="0" rIns="0" tIns="0" bIns="0" anchor="ctr">
            <a:noAutofit/>
          </a:bodyPr>
          <a:lstStyle/>
          <a:p>
            <a:pPr algn="l">
              <a:spcAft>
                <a:spcPts val="400"/>
              </a:spcAft>
            </a:pPr>
            <a:r>
              <a:rPr sz="1150" b="1" lang="en-GB">
                <a:solidFill>
                  <a:schemeClr val="tx2"/>
                </a:solidFill>
              </a:rPr>
              <a:t>How: </a:t>
            </a:r>
            <a:r>
              <a:rPr sz="1150" b="0" lang="en-GB">
                <a:solidFill>
                  <a:schemeClr val="tx1"/>
                </a:solidFill>
              </a:rPr>
              <a:t>priors, as in PyMC-Marketing; regions (geos) in one model, each around a shared mean</a:t>
            </a:r>
          </a:p>
        </p:txBody>
      </p:sp>
      <p:sp>
        <p:nvSpPr>
          <p:cNvPr id="16" name="Tool row 3 row"/>
          <p:cNvSpPr/>
          <p:nvPr/>
        </p:nvSpPr>
        <p:spPr>
          <a:xfrm>
            <a:off x="457200" y="2757830"/>
            <a:ext cx="3657600" cy="688543"/>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ool row 3 bar"/>
          <p:cNvSpPr/>
          <p:nvPr/>
        </p:nvSpPr>
        <p:spPr>
          <a:xfrm>
            <a:off x="457200" y="2757830"/>
            <a:ext cx="64008" cy="688543"/>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ool row 3 text"/>
          <p:cNvSpPr txBox="1"/>
          <p:nvPr/>
        </p:nvSpPr>
        <p:spPr>
          <a:xfrm>
            <a:off x="658368" y="2757830"/>
            <a:ext cx="3364992" cy="688543"/>
          </a:xfrm>
          <a:prstGeom prst="rect">
            <a:avLst/>
          </a:prstGeom>
          <a:noFill/>
        </p:spPr>
        <p:txBody>
          <a:bodyPr wrap="square" lIns="0" rIns="0" tIns="0" bIns="0" anchor="ctr">
            <a:noAutofit/>
          </a:bodyPr>
          <a:lstStyle/>
          <a:p>
            <a:pPr algn="l">
              <a:spcAft>
                <a:spcPts val="400"/>
              </a:spcAft>
            </a:pPr>
            <a:r>
              <a:rPr sz="1150" b="1" lang="en-GB">
                <a:solidFill>
                  <a:schemeClr val="tx2"/>
                </a:solidFill>
              </a:rPr>
              <a:t>Strengths: </a:t>
            </a:r>
            <a:r>
              <a:rPr sz="1150" b="0" lang="en-GB">
                <a:solidFill>
                  <a:schemeClr val="tx1"/>
                </a:solidFill>
              </a:rPr>
              <a:t>lift tests become ROI priors; reach and frequency for video; a guided Colab notebook</a:t>
            </a:r>
          </a:p>
        </p:txBody>
      </p:sp>
      <p:sp>
        <p:nvSpPr>
          <p:cNvPr id="19" name="Tool row 4 row"/>
          <p:cNvSpPr/>
          <p:nvPr/>
        </p:nvSpPr>
        <p:spPr>
          <a:xfrm>
            <a:off x="457200" y="3519526"/>
            <a:ext cx="3657600" cy="688543"/>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ool row 4 bar"/>
          <p:cNvSpPr/>
          <p:nvPr/>
        </p:nvSpPr>
        <p:spPr>
          <a:xfrm>
            <a:off x="457200" y="3519526"/>
            <a:ext cx="64008" cy="688543"/>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ool row 4 text"/>
          <p:cNvSpPr txBox="1"/>
          <p:nvPr/>
        </p:nvSpPr>
        <p:spPr>
          <a:xfrm>
            <a:off x="658368" y="3519526"/>
            <a:ext cx="3364992" cy="688543"/>
          </a:xfrm>
          <a:prstGeom prst="rect">
            <a:avLst/>
          </a:prstGeom>
          <a:noFill/>
        </p:spPr>
        <p:txBody>
          <a:bodyPr wrap="square" lIns="0" rIns="0" tIns="0" bIns="0" anchor="ctr">
            <a:noAutofit/>
          </a:bodyPr>
          <a:lstStyle/>
          <a:p>
            <a:pPr algn="l">
              <a:spcAft>
                <a:spcPts val="400"/>
              </a:spcAft>
            </a:pPr>
            <a:r>
              <a:rPr sz="1150" b="1" lang="en-GB">
                <a:solidFill>
                  <a:schemeClr val="tx2"/>
                </a:solidFill>
              </a:rPr>
              <a:t>Best for: </a:t>
            </a:r>
            <a:r>
              <a:rPr sz="1150" b="0" lang="en-GB">
                <a:solidFill>
                  <a:schemeClr val="tx1"/>
                </a:solidFill>
              </a:rPr>
              <a:t>data by region and Google-heavy media</a:t>
            </a:r>
          </a:p>
        </p:txBody>
      </p:sp>
      <p:sp>
        <p:nvSpPr>
          <p:cNvPr id="22" name="Tool code caption bar"/>
          <p:cNvSpPr/>
          <p:nvPr/>
        </p:nvSpPr>
        <p:spPr>
          <a:xfrm>
            <a:off x="4251960" y="1234440"/>
            <a:ext cx="4434840" cy="27432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ool code caption"/>
          <p:cNvSpPr txBox="1"/>
          <p:nvPr/>
        </p:nvSpPr>
        <p:spPr>
          <a:xfrm>
            <a:off x="4361688" y="1234440"/>
            <a:ext cx="4215384" cy="274320"/>
          </a:xfrm>
          <a:prstGeom prst="rect">
            <a:avLst/>
          </a:prstGeom>
          <a:noFill/>
        </p:spPr>
        <p:txBody>
          <a:bodyPr wrap="square" lIns="0" rIns="0" tIns="0" bIns="0" anchor="ctr">
            <a:noAutofit/>
          </a:bodyPr>
          <a:lstStyle/>
          <a:p>
            <a:pPr algn="l">
              <a:spcAft>
                <a:spcPts val="400"/>
              </a:spcAft>
            </a:pPr>
            <a:r>
              <a:rPr sz="1100" b="1" lang="en-GB">
                <a:solidFill>
                  <a:schemeClr val="bg1"/>
                </a:solidFill>
              </a:rPr>
              <a:t>Not run here: not in the course environment</a:t>
            </a:r>
          </a:p>
        </p:txBody>
      </p:sp>
      <p:sp>
        <p:nvSpPr>
          <p:cNvPr id="24" name="Tool code box"/>
          <p:cNvSpPr/>
          <p:nvPr/>
        </p:nvSpPr>
        <p:spPr>
          <a:xfrm>
            <a:off x="4251960" y="1508760"/>
            <a:ext cx="4434840" cy="2699309"/>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ool code code"/>
          <p:cNvSpPr txBox="1"/>
          <p:nvPr/>
        </p:nvSpPr>
        <p:spPr>
          <a:xfrm>
            <a:off x="4389120" y="1600200"/>
            <a:ext cx="4160520" cy="2516429"/>
          </a:xfrm>
          <a:prstGeom prst="rect">
            <a:avLst/>
          </a:prstGeom>
          <a:noFill/>
        </p:spPr>
        <p:txBody>
          <a:bodyPr wrap="square" lIns="0" rIns="0" tIns="0" bIns="0" anchor="t">
            <a:noAutofit/>
          </a:bodyPr>
          <a:lstStyle/>
          <a:p>
            <a:pPr algn="l">
              <a:spcAft>
                <a:spcPts val="0"/>
              </a:spcAft>
            </a:pPr>
            <a:r>
              <a:rPr sz="1000" b="0" lang="en-GB">
                <a:solidFill>
                  <a:schemeClr val="bg1"/>
                </a:solidFill>
                <a:latin typeface="Consolas"/>
              </a:rPr>
              <a:t>from meridian.data import (</a:t>
            </a:r>
          </a:p>
          <a:p>
            <a:pPr algn="l">
              <a:spcAft>
                <a:spcPts val="0"/>
              </a:spcAft>
            </a:pPr>
            <a:r>
              <a:rPr sz="1000" b="0" lang="en-GB">
                <a:solidFill>
                  <a:schemeClr val="bg1"/>
                </a:solidFill>
                <a:latin typeface="Consolas"/>
              </a:rPr>
              <a:t>    data_frame_input_data_builder as db)</a:t>
            </a:r>
          </a:p>
          <a:p>
            <a:pPr algn="l">
              <a:spcAft>
                <a:spcPts val="0"/>
              </a:spcAft>
            </a:pPr>
            <a:r>
              <a:rPr sz="1000" b="0" lang="en-GB">
                <a:solidFill>
                  <a:schemeClr val="bg1"/>
                </a:solidFill>
                <a:latin typeface="Consolas"/>
              </a:rPr>
              <a:t>from meridian.model import model, spec</a:t>
            </a:r>
          </a:p>
          <a:p>
            <a:pPr algn="l">
              <a:spcAft>
                <a:spcPts val="0"/>
              </a:spcAft>
            </a:pPr>
            <a:r>
              <a:rPr sz="1000" b="0" lang="en-GB">
                <a:solidFill>
                  <a:schemeClr val="bg1"/>
                </a:solidFill>
                <a:latin typeface="Consolas"/>
              </a:rPr>
              <a:t>builder = db.DataFrameInputDataBuilder(</a:t>
            </a:r>
          </a:p>
          <a:p>
            <a:pPr algn="l">
              <a:spcAft>
                <a:spcPts val="0"/>
              </a:spcAft>
            </a:pPr>
            <a:r>
              <a:rPr sz="1000" b="0" lang="en-GB">
                <a:solidFill>
                  <a:schemeClr val="bg1"/>
                </a:solidFill>
                <a:latin typeface="Consolas"/>
              </a:rPr>
              <a:t>    kpi_type="non_revenue",</a:t>
            </a:r>
          </a:p>
          <a:p>
            <a:pPr algn="l">
              <a:spcAft>
                <a:spcPts val="0"/>
              </a:spcAft>
            </a:pPr>
            <a:r>
              <a:rPr sz="1000" b="0" lang="en-GB">
                <a:solidFill>
                  <a:schemeClr val="bg1"/>
                </a:solidFill>
                <a:latin typeface="Consolas"/>
              </a:rPr>
              <a:t>    default_kpi_column="conversions")</a:t>
            </a:r>
          </a:p>
          <a:p>
            <a:pPr algn="l">
              <a:spcAft>
                <a:spcPts val="0"/>
              </a:spcAft>
            </a:pPr>
            <a:r>
              <a:rPr sz="1000" b="0" lang="en-GB">
                <a:solidFill>
                  <a:schemeClr val="bg1"/>
                </a:solidFill>
                <a:latin typeface="Consolas"/>
              </a:rPr>
              <a:t>builder = (builder.with_kpi(df)</a:t>
            </a:r>
          </a:p>
          <a:p>
            <a:pPr algn="l">
              <a:spcAft>
                <a:spcPts val="0"/>
              </a:spcAft>
            </a:pPr>
            <a:r>
              <a:rPr sz="1000" b="0" lang="en-GB">
                <a:solidFill>
                  <a:schemeClr val="bg1"/>
                </a:solidFill>
                <a:latin typeface="Consolas"/>
              </a:rPr>
              <a:t>           .with_population(df)</a:t>
            </a:r>
          </a:p>
          <a:p>
            <a:pPr algn="l">
              <a:spcAft>
                <a:spcPts val="0"/>
              </a:spcAft>
            </a:pPr>
            <a:r>
              <a:rPr sz="1000" b="0" lang="en-GB">
                <a:solidFill>
                  <a:schemeClr val="bg1"/>
                </a:solidFill>
                <a:latin typeface="Consolas"/>
              </a:rPr>
              <a:t>           .with_media(df,</a:t>
            </a:r>
          </a:p>
          <a:p>
            <a:pPr algn="l">
              <a:spcAft>
                <a:spcPts val="0"/>
              </a:spcAft>
            </a:pPr>
            <a:r>
              <a:rPr sz="1000" b="0" lang="en-GB">
                <a:solidFill>
                  <a:schemeClr val="bg1"/>
                </a:solidFill>
                <a:latin typeface="Consolas"/>
              </a:rPr>
              <a:t>               media_cols=["Channel0_impression"],</a:t>
            </a:r>
          </a:p>
          <a:p>
            <a:pPr algn="l">
              <a:spcAft>
                <a:spcPts val="0"/>
              </a:spcAft>
            </a:pPr>
            <a:r>
              <a:rPr sz="1000" b="0" lang="en-GB">
                <a:solidFill>
                  <a:schemeClr val="bg1"/>
                </a:solidFill>
                <a:latin typeface="Consolas"/>
              </a:rPr>
              <a:t>               media_spend_cols=["Channel0_spend"],</a:t>
            </a:r>
          </a:p>
          <a:p>
            <a:pPr algn="l">
              <a:spcAft>
                <a:spcPts val="0"/>
              </a:spcAft>
            </a:pPr>
            <a:r>
              <a:rPr sz="1000" b="0" lang="en-GB">
                <a:solidFill>
                  <a:schemeClr val="bg1"/>
                </a:solidFill>
                <a:latin typeface="Consolas"/>
              </a:rPr>
              <a:t>               media_channels=["Channel0"]))</a:t>
            </a:r>
          </a:p>
          <a:p>
            <a:pPr algn="l">
              <a:spcAft>
                <a:spcPts val="0"/>
              </a:spcAft>
            </a:pPr>
            <a:r>
              <a:rPr sz="1000" b="0" lang="en-GB">
                <a:solidFill>
                  <a:schemeClr val="bg1"/>
                </a:solidFill>
                <a:latin typeface="Consolas"/>
              </a:rPr>
              <a:t>mmm = model.Meridian(input_data=builder.build(),</a:t>
            </a:r>
          </a:p>
          <a:p>
            <a:pPr algn="l">
              <a:spcAft>
                <a:spcPts val="0"/>
              </a:spcAft>
            </a:pPr>
            <a:r>
              <a:rPr sz="1000" b="0" lang="en-GB">
                <a:solidFill>
                  <a:schemeClr val="bg1"/>
                </a:solidFill>
                <a:latin typeface="Consolas"/>
              </a:rPr>
              <a:t>                     model_spec=spec.ModelSpec())</a:t>
            </a:r>
          </a:p>
          <a:p>
            <a:pPr algn="l">
              <a:spcAft>
                <a:spcPts val="0"/>
              </a:spcAft>
            </a:pPr>
            <a:r>
              <a:rPr sz="1000" b="0" lang="en-GB">
                <a:solidFill>
                  <a:schemeClr val="bg1"/>
                </a:solidFill>
                <a:latin typeface="Consolas"/>
              </a:rPr>
              <a:t>mmm.sample_posterior(n_chains=10, n_adapt=1000,</a:t>
            </a:r>
          </a:p>
          <a:p>
            <a:pPr algn="l">
              <a:spcAft>
                <a:spcPts val="0"/>
              </a:spcAft>
            </a:pPr>
            <a:r>
              <a:rPr sz="1000" b="0" lang="en-GB">
                <a:solidFill>
                  <a:schemeClr val="bg1"/>
                </a:solidFill>
                <a:latin typeface="Consolas"/>
              </a:rPr>
              <a:t>                     n_burnin=500, n_keep=1000)</a:t>
            </a:r>
          </a:p>
        </p:txBody>
      </p:sp>
      <p:sp>
        <p:nvSpPr>
          <p:cNvPr id="26" name="Tool callout box"/>
          <p:cNvSpPr/>
          <p:nvPr/>
        </p:nvSpPr>
        <p:spPr>
          <a:xfrm>
            <a:off x="457200" y="4345229"/>
            <a:ext cx="8229600" cy="36576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ool callout text"/>
          <p:cNvSpPr txBox="1"/>
          <p:nvPr/>
        </p:nvSpPr>
        <p:spPr>
          <a:xfrm>
            <a:off x="658368" y="4345229"/>
            <a:ext cx="7827264" cy="365760"/>
          </a:xfrm>
          <a:prstGeom prst="rect">
            <a:avLst/>
          </a:prstGeom>
          <a:noFill/>
        </p:spPr>
        <p:txBody>
          <a:bodyPr wrap="square" lIns="0" rIns="0" tIns="0" bIns="0" anchor="ctr">
            <a:noAutofit/>
          </a:bodyPr>
          <a:lstStyle/>
          <a:p>
            <a:pPr algn="l">
              <a:spcAft>
                <a:spcPts val="400"/>
              </a:spcAft>
            </a:pPr>
            <a:r>
              <a:rPr sz="1200" b="1" lang="en-GB">
                <a:solidFill>
                  <a:schemeClr val="bg1"/>
                </a:solidFill>
              </a:rPr>
              <a:t>Geo first: </a:t>
            </a:r>
            <a:r>
              <a:rPr sz="1200" b="0" lang="en-GB">
                <a:solidFill>
                  <a:schemeClr val="bg1"/>
                </a:solidFill>
              </a:rPr>
              <a:t>Meridian needs population per region and models sales per head.</a:t>
            </a:r>
          </a:p>
        </p:txBody>
      </p:sp>
      <p:sp>
        <p:nvSpPr>
          <p:cNvPr id="28" name="Sources"/>
          <p:cNvSpPr txBox="1"/>
          <p:nvPr/>
        </p:nvSpPr>
        <p:spPr>
          <a:xfrm>
            <a:off x="457200" y="4818888"/>
            <a:ext cx="8229600" cy="256032"/>
          </a:xfrm>
          <a:prstGeom prst="rect">
            <a:avLst/>
          </a:prstGeom>
          <a:noFill/>
        </p:spPr>
        <p:txBody>
          <a:bodyPr wrap="square" lIns="0" rIns="0" tIns="0" bIns="0" anchor="ctr">
            <a:noAutofit/>
          </a:bodyPr>
          <a:lstStyle/>
          <a:p>
            <a:pPr algn="l">
              <a:spcAft>
                <a:spcPts val="0"/>
              </a:spcAft>
            </a:pPr>
            <a:r>
              <a:rPr sz="1100" b="0" lang="en-GB">
                <a:solidFill>
                  <a:srgbClr val="595959"/>
                </a:solidFill>
              </a:rPr>
              <a:t>Source: Meridian Getting Started notebook, github.com/google/meridian (commit ef585b5); not run here</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Robyn: Meta's ridge regression and search</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Tool row 1 row"/>
          <p:cNvSpPr/>
          <p:nvPr/>
        </p:nvSpPr>
        <p:spPr>
          <a:xfrm>
            <a:off x="457200" y="1234440"/>
            <a:ext cx="3657600" cy="688543"/>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ool row 1 bar"/>
          <p:cNvSpPr/>
          <p:nvPr/>
        </p:nvSpPr>
        <p:spPr>
          <a:xfrm>
            <a:off x="457200" y="1234440"/>
            <a:ext cx="64008" cy="688543"/>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ool row 1 text"/>
          <p:cNvSpPr txBox="1"/>
          <p:nvPr/>
        </p:nvSpPr>
        <p:spPr>
          <a:xfrm>
            <a:off x="658368" y="1234440"/>
            <a:ext cx="3364992" cy="688543"/>
          </a:xfrm>
          <a:prstGeom prst="rect">
            <a:avLst/>
          </a:prstGeom>
          <a:noFill/>
        </p:spPr>
        <p:txBody>
          <a:bodyPr wrap="square" lIns="0" rIns="0" tIns="0" bIns="0" anchor="ctr">
            <a:noAutofit/>
          </a:bodyPr>
          <a:lstStyle/>
          <a:p>
            <a:pPr algn="l">
              <a:spcAft>
                <a:spcPts val="400"/>
              </a:spcAft>
            </a:pPr>
            <a:r>
              <a:rPr sz="1150" b="1" lang="en-GB">
                <a:solidFill>
                  <a:schemeClr val="tx2"/>
                </a:solidFill>
              </a:rPr>
              <a:t>What: </a:t>
            </a:r>
            <a:r>
              <a:rPr sz="1150" b="0" lang="en-GB">
                <a:solidFill>
                  <a:schemeClr val="tx1"/>
                </a:solidFill>
              </a:rPr>
              <a:t>Meta's free R package (MIT); a Python port is in beta</a:t>
            </a:r>
          </a:p>
        </p:txBody>
      </p:sp>
      <p:sp>
        <p:nvSpPr>
          <p:cNvPr id="13" name="Tool row 2 row"/>
          <p:cNvSpPr/>
          <p:nvPr/>
        </p:nvSpPr>
        <p:spPr>
          <a:xfrm>
            <a:off x="457200" y="1996135"/>
            <a:ext cx="3657600" cy="688543"/>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ool row 2 bar"/>
          <p:cNvSpPr/>
          <p:nvPr/>
        </p:nvSpPr>
        <p:spPr>
          <a:xfrm>
            <a:off x="457200" y="1996135"/>
            <a:ext cx="64008" cy="688543"/>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ool row 2 text"/>
          <p:cNvSpPr txBox="1"/>
          <p:nvPr/>
        </p:nvSpPr>
        <p:spPr>
          <a:xfrm>
            <a:off x="658368" y="1996135"/>
            <a:ext cx="3364992" cy="688543"/>
          </a:xfrm>
          <a:prstGeom prst="rect">
            <a:avLst/>
          </a:prstGeom>
          <a:noFill/>
        </p:spPr>
        <p:txBody>
          <a:bodyPr wrap="square" lIns="0" rIns="0" tIns="0" bIns="0" anchor="ctr">
            <a:noAutofit/>
          </a:bodyPr>
          <a:lstStyle/>
          <a:p>
            <a:pPr algn="l">
              <a:spcAft>
                <a:spcPts val="400"/>
              </a:spcAft>
            </a:pPr>
            <a:r>
              <a:rPr sz="1150" b="1" lang="en-GB">
                <a:solidFill>
                  <a:schemeClr val="tx2"/>
                </a:solidFill>
              </a:rPr>
              <a:t>How: </a:t>
            </a:r>
            <a:r>
              <a:rPr sz="1150" b="0" lang="en-GB">
                <a:solidFill>
                  <a:schemeClr val="tx1"/>
                </a:solidFill>
              </a:rPr>
              <a:t>ridge regression (it shrinks the effects to keep them stable); a search tries thousands of adstock and saturation settings</a:t>
            </a:r>
          </a:p>
        </p:txBody>
      </p:sp>
      <p:sp>
        <p:nvSpPr>
          <p:cNvPr id="16" name="Tool row 3 row"/>
          <p:cNvSpPr/>
          <p:nvPr/>
        </p:nvSpPr>
        <p:spPr>
          <a:xfrm>
            <a:off x="457200" y="2757830"/>
            <a:ext cx="3657600" cy="688543"/>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ool row 3 bar"/>
          <p:cNvSpPr/>
          <p:nvPr/>
        </p:nvSpPr>
        <p:spPr>
          <a:xfrm>
            <a:off x="457200" y="2757830"/>
            <a:ext cx="64008" cy="688543"/>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ool row 3 text"/>
          <p:cNvSpPr txBox="1"/>
          <p:nvPr/>
        </p:nvSpPr>
        <p:spPr>
          <a:xfrm>
            <a:off x="658368" y="2757830"/>
            <a:ext cx="3364992" cy="688543"/>
          </a:xfrm>
          <a:prstGeom prst="rect">
            <a:avLst/>
          </a:prstGeom>
          <a:noFill/>
        </p:spPr>
        <p:txBody>
          <a:bodyPr wrap="square" lIns="0" rIns="0" tIns="0" bIns="0" anchor="ctr">
            <a:noAutofit/>
          </a:bodyPr>
          <a:lstStyle/>
          <a:p>
            <a:pPr algn="l">
              <a:spcAft>
                <a:spcPts val="400"/>
              </a:spcAft>
            </a:pPr>
            <a:r>
              <a:rPr sz="1150" b="1" lang="en-GB">
                <a:solidFill>
                  <a:schemeClr val="tx2"/>
                </a:solidFill>
              </a:rPr>
              <a:t>Strengths: </a:t>
            </a:r>
            <a:r>
              <a:rPr sz="1150" b="0" lang="en-GB">
                <a:solidFill>
                  <a:schemeClr val="tx1"/>
                </a:solidFill>
              </a:rPr>
              <a:t>a quick first read-out; holidays for 123 countries built in; no sampler to check</a:t>
            </a:r>
          </a:p>
        </p:txBody>
      </p:sp>
      <p:sp>
        <p:nvSpPr>
          <p:cNvPr id="19" name="Tool row 4 row"/>
          <p:cNvSpPr/>
          <p:nvPr/>
        </p:nvSpPr>
        <p:spPr>
          <a:xfrm>
            <a:off x="457200" y="3519526"/>
            <a:ext cx="3657600" cy="688543"/>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ool row 4 bar"/>
          <p:cNvSpPr/>
          <p:nvPr/>
        </p:nvSpPr>
        <p:spPr>
          <a:xfrm>
            <a:off x="457200" y="3519526"/>
            <a:ext cx="64008" cy="688543"/>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ool row 4 text"/>
          <p:cNvSpPr txBox="1"/>
          <p:nvPr/>
        </p:nvSpPr>
        <p:spPr>
          <a:xfrm>
            <a:off x="658368" y="3519526"/>
            <a:ext cx="3364992" cy="688543"/>
          </a:xfrm>
          <a:prstGeom prst="rect">
            <a:avLst/>
          </a:prstGeom>
          <a:noFill/>
        </p:spPr>
        <p:txBody>
          <a:bodyPr wrap="square" lIns="0" rIns="0" tIns="0" bIns="0" anchor="ctr">
            <a:noAutofit/>
          </a:bodyPr>
          <a:lstStyle/>
          <a:p>
            <a:pPr algn="l">
              <a:spcAft>
                <a:spcPts val="400"/>
              </a:spcAft>
            </a:pPr>
            <a:r>
              <a:rPr sz="1150" b="1" lang="en-GB">
                <a:solidFill>
                  <a:schemeClr val="tx2"/>
                </a:solidFill>
              </a:rPr>
              <a:t>Pick: </a:t>
            </a:r>
            <a:r>
              <a:rPr sz="1150" b="0" lang="en-GB">
                <a:solidFill>
                  <a:schemeClr val="tx1"/>
                </a:solidFill>
              </a:rPr>
              <a:t>the Pareto front keeps the models no other beats on fit and plausibility; the analyst picks one</a:t>
            </a:r>
          </a:p>
        </p:txBody>
      </p:sp>
      <p:sp>
        <p:nvSpPr>
          <p:cNvPr id="22" name="Tool code caption bar"/>
          <p:cNvSpPr/>
          <p:nvPr/>
        </p:nvSpPr>
        <p:spPr>
          <a:xfrm>
            <a:off x="4251960" y="1234440"/>
            <a:ext cx="4434840" cy="27432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ool code caption"/>
          <p:cNvSpPr txBox="1"/>
          <p:nvPr/>
        </p:nvSpPr>
        <p:spPr>
          <a:xfrm>
            <a:off x="4361688" y="1234440"/>
            <a:ext cx="4215384" cy="274320"/>
          </a:xfrm>
          <a:prstGeom prst="rect">
            <a:avLst/>
          </a:prstGeom>
          <a:noFill/>
        </p:spPr>
        <p:txBody>
          <a:bodyPr wrap="square" lIns="0" rIns="0" tIns="0" bIns="0" anchor="ctr">
            <a:noAutofit/>
          </a:bodyPr>
          <a:lstStyle/>
          <a:p>
            <a:pPr algn="l">
              <a:spcAft>
                <a:spcPts val="400"/>
              </a:spcAft>
            </a:pPr>
            <a:r>
              <a:rPr sz="1100" b="1" lang="en-GB">
                <a:solidFill>
                  <a:schemeClr val="bg1"/>
                </a:solidFill>
              </a:rPr>
              <a:t>Not run here: Robyn is an R package</a:t>
            </a:r>
          </a:p>
        </p:txBody>
      </p:sp>
      <p:sp>
        <p:nvSpPr>
          <p:cNvPr id="24" name="Tool code box"/>
          <p:cNvSpPr/>
          <p:nvPr/>
        </p:nvSpPr>
        <p:spPr>
          <a:xfrm>
            <a:off x="4251960" y="1508760"/>
            <a:ext cx="4434840" cy="2699309"/>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ool code code"/>
          <p:cNvSpPr txBox="1"/>
          <p:nvPr/>
        </p:nvSpPr>
        <p:spPr>
          <a:xfrm>
            <a:off x="4389120" y="1600200"/>
            <a:ext cx="4160520" cy="2516429"/>
          </a:xfrm>
          <a:prstGeom prst="rect">
            <a:avLst/>
          </a:prstGeom>
          <a:noFill/>
        </p:spPr>
        <p:txBody>
          <a:bodyPr wrap="square" lIns="0" rIns="0" tIns="0" bIns="0" anchor="t">
            <a:noAutofit/>
          </a:bodyPr>
          <a:lstStyle/>
          <a:p>
            <a:pPr algn="l">
              <a:spcAft>
                <a:spcPts val="0"/>
              </a:spcAft>
            </a:pPr>
            <a:r>
              <a:rPr sz="1000" b="0" lang="en-GB">
                <a:solidFill>
                  <a:schemeClr val="bg1"/>
                </a:solidFill>
                <a:latin typeface="Consolas"/>
              </a:rPr>
              <a:t>library(Robyn)</a:t>
            </a:r>
          </a:p>
          <a:p>
            <a:pPr algn="l">
              <a:spcAft>
                <a:spcPts val="0"/>
              </a:spcAft>
            </a:pPr>
            <a:r>
              <a:rPr sz="1000" b="0" lang="en-GB">
                <a:solidFill>
                  <a:schemeClr val="bg1"/>
                </a:solidFill>
                <a:latin typeface="Consolas"/>
              </a:rPr>
              <a:t>InputCollect &lt;- robyn_inputs(</a:t>
            </a:r>
          </a:p>
          <a:p>
            <a:pPr algn="l">
              <a:spcAft>
                <a:spcPts val="0"/>
              </a:spcAft>
            </a:pPr>
            <a:r>
              <a:rPr sz="1000" b="0" lang="en-GB">
                <a:solidFill>
                  <a:schemeClr val="bg1"/>
                </a:solidFill>
                <a:latin typeface="Consolas"/>
              </a:rPr>
              <a:t>  dt_input = dt_simulated_weekly,</a:t>
            </a:r>
          </a:p>
          <a:p>
            <a:pPr algn="l">
              <a:spcAft>
                <a:spcPts val="0"/>
              </a:spcAft>
            </a:pPr>
            <a:r>
              <a:rPr sz="1000" b="0" lang="en-GB">
                <a:solidFill>
                  <a:schemeClr val="bg1"/>
                </a:solidFill>
                <a:latin typeface="Consolas"/>
              </a:rPr>
              <a:t>  dt_holidays = dt_prophet_holidays,</a:t>
            </a:r>
          </a:p>
          <a:p>
            <a:pPr algn="l">
              <a:spcAft>
                <a:spcPts val="0"/>
              </a:spcAft>
            </a:pPr>
            <a:r>
              <a:rPr sz="1000" b="0" lang="en-GB">
                <a:solidFill>
                  <a:schemeClr val="bg1"/>
                </a:solidFill>
                <a:latin typeface="Consolas"/>
              </a:rPr>
              <a:t>  date_var = "DATE", dep_var = "revenue",</a:t>
            </a:r>
          </a:p>
          <a:p>
            <a:pPr algn="l">
              <a:spcAft>
                <a:spcPts val="0"/>
              </a:spcAft>
            </a:pPr>
            <a:r>
              <a:rPr sz="1000" b="0" lang="en-GB">
                <a:solidFill>
                  <a:schemeClr val="bg1"/>
                </a:solidFill>
                <a:latin typeface="Consolas"/>
              </a:rPr>
              <a:t>  dep_var_type = "revenue",</a:t>
            </a:r>
          </a:p>
          <a:p>
            <a:pPr algn="l">
              <a:spcAft>
                <a:spcPts val="0"/>
              </a:spcAft>
            </a:pPr>
            <a:r>
              <a:rPr sz="1000" b="0" lang="en-GB">
                <a:solidFill>
                  <a:schemeClr val="bg1"/>
                </a:solidFill>
                <a:latin typeface="Consolas"/>
              </a:rPr>
              <a:t>  prophet_vars = c("trend", "season", "holiday"),</a:t>
            </a:r>
          </a:p>
          <a:p>
            <a:pPr algn="l">
              <a:spcAft>
                <a:spcPts val="0"/>
              </a:spcAft>
            </a:pPr>
            <a:r>
              <a:rPr sz="1000" b="0" lang="en-GB">
                <a:solidFill>
                  <a:schemeClr val="bg1"/>
                </a:solidFill>
                <a:latin typeface="Consolas"/>
              </a:rPr>
              <a:t>  prophet_country = "DE",</a:t>
            </a:r>
          </a:p>
          <a:p>
            <a:pPr algn="l">
              <a:spcAft>
                <a:spcPts val="0"/>
              </a:spcAft>
            </a:pPr>
            <a:r>
              <a:rPr sz="1000" b="0" lang="en-GB">
                <a:solidFill>
                  <a:schemeClr val="bg1"/>
                </a:solidFill>
                <a:latin typeface="Consolas"/>
              </a:rPr>
              <a:t>  paid_media_spends = c("tv_S", "search_S"),</a:t>
            </a:r>
          </a:p>
          <a:p>
            <a:pPr algn="l">
              <a:spcAft>
                <a:spcPts val="0"/>
              </a:spcAft>
            </a:pPr>
            <a:r>
              <a:rPr sz="1000" b="0" lang="en-GB">
                <a:solidFill>
                  <a:schemeClr val="bg1"/>
                </a:solidFill>
                <a:latin typeface="Consolas"/>
              </a:rPr>
              <a:t>  adstock = "geometric",</a:t>
            </a:r>
          </a:p>
          <a:p>
            <a:pPr algn="l">
              <a:spcAft>
                <a:spcPts val="0"/>
              </a:spcAft>
            </a:pPr>
            <a:r>
              <a:rPr sz="1000" b="0" lang="en-GB">
                <a:solidFill>
                  <a:schemeClr val="bg1"/>
                </a:solidFill>
                <a:latin typeface="Consolas"/>
              </a:rPr>
              <a:t>  hyperparameters = hyperparameters)</a:t>
            </a:r>
          </a:p>
          <a:p>
            <a:pPr algn="l">
              <a:spcAft>
                <a:spcPts val="0"/>
              </a:spcAft>
            </a:pPr>
            <a:r>
              <a:rPr sz="1000" b="0" lang="en-GB">
                <a:solidFill>
                  <a:schemeClr val="bg1"/>
                </a:solidFill>
                <a:latin typeface="Consolas"/>
              </a:rPr>
              <a:t>OutputModels &lt;- robyn_run(</a:t>
            </a:r>
          </a:p>
          <a:p>
            <a:pPr algn="l">
              <a:spcAft>
                <a:spcPts val="0"/>
              </a:spcAft>
            </a:pPr>
            <a:r>
              <a:rPr sz="1000" b="0" lang="en-GB">
                <a:solidFill>
                  <a:schemeClr val="bg1"/>
                </a:solidFill>
                <a:latin typeface="Consolas"/>
              </a:rPr>
              <a:t>  InputCollect = InputCollect,</a:t>
            </a:r>
          </a:p>
          <a:p>
            <a:pPr algn="l">
              <a:spcAft>
                <a:spcPts val="0"/>
              </a:spcAft>
            </a:pPr>
            <a:r>
              <a:rPr sz="1000" b="0" lang="en-GB">
                <a:solidFill>
                  <a:schemeClr val="bg1"/>
                </a:solidFill>
                <a:latin typeface="Consolas"/>
              </a:rPr>
              <a:t>  iterations = 2000, trials = 5)</a:t>
            </a:r>
          </a:p>
        </p:txBody>
      </p:sp>
      <p:sp>
        <p:nvSpPr>
          <p:cNvPr id="26" name="Tool callout box"/>
          <p:cNvSpPr/>
          <p:nvPr/>
        </p:nvSpPr>
        <p:spPr>
          <a:xfrm>
            <a:off x="457200" y="4345229"/>
            <a:ext cx="8229600" cy="36576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ool callout text"/>
          <p:cNvSpPr txBox="1"/>
          <p:nvPr/>
        </p:nvSpPr>
        <p:spPr>
          <a:xfrm>
            <a:off x="658368" y="4345229"/>
            <a:ext cx="7827264" cy="365760"/>
          </a:xfrm>
          <a:prstGeom prst="rect">
            <a:avLst/>
          </a:prstGeom>
          <a:noFill/>
        </p:spPr>
        <p:txBody>
          <a:bodyPr wrap="square" lIns="0" rIns="0" tIns="0" bIns="0" anchor="ctr">
            <a:noAutofit/>
          </a:bodyPr>
          <a:lstStyle/>
          <a:p>
            <a:pPr algn="l">
              <a:spcAft>
                <a:spcPts val="400"/>
              </a:spcAft>
            </a:pPr>
            <a:r>
              <a:rPr sz="1200" b="1" lang="en-GB">
                <a:solidFill>
                  <a:schemeClr val="bg1"/>
                </a:solidFill>
              </a:rPr>
              <a:t>Trade-off: </a:t>
            </a:r>
            <a:r>
              <a:rPr sz="1200" b="0" lang="en-GB">
                <a:solidFill>
                  <a:schemeClr val="bg1"/>
                </a:solidFill>
              </a:rPr>
              <a:t>priors make assumptions explicit; the Pareto front makes the analyst's choice explicit.</a:t>
            </a:r>
          </a:p>
        </p:txBody>
      </p:sp>
      <p:sp>
        <p:nvSpPr>
          <p:cNvPr id="28" name="Sources"/>
          <p:cNvSpPr txBox="1"/>
          <p:nvPr/>
        </p:nvSpPr>
        <p:spPr>
          <a:xfrm>
            <a:off x="457200" y="4818888"/>
            <a:ext cx="8229600" cy="256032"/>
          </a:xfrm>
          <a:prstGeom prst="rect">
            <a:avLst/>
          </a:prstGeom>
          <a:noFill/>
        </p:spPr>
        <p:txBody>
          <a:bodyPr wrap="square" lIns="0" rIns="0" tIns="0" bIns="0" anchor="ctr">
            <a:noAutofit/>
          </a:bodyPr>
          <a:lstStyle/>
          <a:p>
            <a:pPr algn="l">
              <a:spcAft>
                <a:spcPts val="0"/>
              </a:spcAft>
            </a:pPr>
            <a:r>
              <a:rPr sz="1100" b="0" lang="en-GB">
                <a:solidFill>
                  <a:srgbClr val="595959"/>
                </a:solidFill>
              </a:rPr>
              <a:t>Source: Robyn demo.R, github.com/facebookexperimental/Robyn (commit aab4226); not run here</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Calibrating with experiments</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Lift test tile"/>
          <p:cNvSpPr/>
          <p:nvPr/>
        </p:nvSpPr>
        <p:spPr>
          <a:xfrm>
            <a:off x="457200" y="1234440"/>
            <a:ext cx="2926080" cy="261518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1" name="Icon Lift test" descr=""/>
          <p:cNvPicPr>
            <a:picLocks noChangeAspect="1"/>
          </p:cNvPicPr>
          <p:nvPr/>
        </p:nvPicPr>
        <p:blipFill>
          <a:blip r:embed="rId3"/>
          <a:stretch>
            <a:fillRect/>
          </a:stretch>
        </p:blipFill>
        <p:spPr>
          <a:xfrm>
            <a:off x="594360" y="1371600"/>
            <a:ext cx="365760" cy="365760"/>
          </a:xfrm>
          <a:prstGeom prst="rect">
            <a:avLst/>
          </a:prstGeom>
        </p:spPr>
      </p:pic>
      <p:sp>
        <p:nvSpPr>
          <p:cNvPr id="12" name="Lift test heading"/>
          <p:cNvSpPr txBox="1"/>
          <p:nvPr/>
        </p:nvSpPr>
        <p:spPr>
          <a:xfrm>
            <a:off x="1051560" y="1371600"/>
            <a:ext cx="2240280" cy="365760"/>
          </a:xfrm>
          <a:prstGeom prst="rect">
            <a:avLst/>
          </a:prstGeom>
          <a:noFill/>
        </p:spPr>
        <p:txBody>
          <a:bodyPr wrap="square" lIns="0" rIns="0" tIns="0" bIns="0" anchor="ctr">
            <a:noAutofit/>
          </a:bodyPr>
          <a:lstStyle/>
          <a:p>
            <a:pPr algn="l">
              <a:spcAft>
                <a:spcPts val="400"/>
              </a:spcAft>
            </a:pPr>
            <a:r>
              <a:rPr sz="1500" b="1" lang="en-GB">
                <a:solidFill>
                  <a:schemeClr val="tx2"/>
                </a:solidFill>
                <a:latin typeface="+mj-lt"/>
              </a:rPr>
              <a:t>Lift test</a:t>
            </a:r>
          </a:p>
        </p:txBody>
      </p:sp>
      <p:sp>
        <p:nvSpPr>
          <p:cNvPr id="13" name="Lift test text"/>
          <p:cNvSpPr txBox="1"/>
          <p:nvPr/>
        </p:nvSpPr>
        <p:spPr>
          <a:xfrm>
            <a:off x="594360" y="1856232"/>
            <a:ext cx="2651760" cy="1929384"/>
          </a:xfrm>
          <a:prstGeom prst="rect">
            <a:avLst/>
          </a:prstGeom>
          <a:noFill/>
        </p:spPr>
        <p:txBody>
          <a:bodyPr wrap="square" lIns="0" rIns="0" tIns="0" bIns="0" anchor="t">
            <a:noAutofit/>
          </a:bodyPr>
          <a:lstStyle/>
          <a:p>
            <a:pPr algn="l">
              <a:spcAft>
                <a:spcPts val="400"/>
              </a:spcAft>
            </a:pPr>
            <a:r>
              <a:rPr sz="1200" b="0" lang="en-GB">
                <a:solidFill>
                  <a:schemeClr val="tx1"/>
                </a:solidFill>
              </a:rPr>
              <a:t>Switch a channel on or off in some regions and measure the difference.</a:t>
            </a:r>
          </a:p>
          <a:p>
            <a:pPr algn="l">
              <a:spcAft>
                <a:spcPts val="400"/>
              </a:spcAft>
            </a:pPr>
            <a:r>
              <a:rPr sz="1200" b="1" lang="en-GB">
                <a:solidFill>
                  <a:schemeClr val="tx2"/>
                </a:solidFill>
              </a:rPr>
              <a:t>Example: </a:t>
            </a:r>
            <a:r>
              <a:rPr sz="1200" b="0" lang="en-GB">
                <a:solidFill>
                  <a:schemeClr val="tx1"/>
                </a:solidFill>
              </a:rPr>
              <a:t>more Meta in half of the regions, none in the rest.</a:t>
            </a:r>
          </a:p>
          <a:p>
            <a:pPr algn="l">
              <a:spcAft>
                <a:spcPts val="400"/>
              </a:spcAft>
            </a:pPr>
            <a:r>
              <a:rPr sz="1200" b="1" lang="en-GB">
                <a:solidFill>
                  <a:schemeClr val="tx2"/>
                </a:solidFill>
              </a:rPr>
              <a:t>Calibration: </a:t>
            </a:r>
            <a:r>
              <a:rPr sz="1200" b="0" lang="en-GB">
                <a:solidFill>
                  <a:schemeClr val="tx1"/>
                </a:solidFill>
              </a:rPr>
              <a:t>use that difference to anchor the model.</a:t>
            </a:r>
          </a:p>
        </p:txBody>
      </p:sp>
      <p:sp>
        <p:nvSpPr>
          <p:cNvPr id="14" name="Calibration row 1 row"/>
          <p:cNvSpPr/>
          <p:nvPr/>
        </p:nvSpPr>
        <p:spPr>
          <a:xfrm>
            <a:off x="3886200" y="1234440"/>
            <a:ext cx="4800600" cy="82296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Calibration row 1 bar"/>
          <p:cNvSpPr/>
          <p:nvPr/>
        </p:nvSpPr>
        <p:spPr>
          <a:xfrm>
            <a:off x="3886200" y="1234440"/>
            <a:ext cx="64008" cy="82296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Calibration row 1 text"/>
          <p:cNvSpPr txBox="1"/>
          <p:nvPr/>
        </p:nvSpPr>
        <p:spPr>
          <a:xfrm>
            <a:off x="4087368" y="1234440"/>
            <a:ext cx="4507992" cy="822960"/>
          </a:xfrm>
          <a:prstGeom prst="rect">
            <a:avLst/>
          </a:prstGeom>
          <a:noFill/>
        </p:spPr>
        <p:txBody>
          <a:bodyPr wrap="square" lIns="0" rIns="0" tIns="0" bIns="0" anchor="ctr">
            <a:noAutofit/>
          </a:bodyPr>
          <a:lstStyle/>
          <a:p>
            <a:pPr algn="l">
              <a:spcAft>
                <a:spcPts val="400"/>
              </a:spcAft>
            </a:pPr>
            <a:r>
              <a:rPr sz="1200" b="1" lang="en-GB">
                <a:solidFill>
                  <a:schemeClr val="tx2"/>
                </a:solidFill>
              </a:rPr>
              <a:t>Meridian: </a:t>
            </a:r>
            <a:r>
              <a:rPr sz="1200" b="0" lang="en-GB">
                <a:solidFill>
                  <a:schemeClr val="tx1"/>
                </a:solidFill>
              </a:rPr>
              <a:t>the lift test becomes the ROI prior of that channel</a:t>
            </a:r>
          </a:p>
        </p:txBody>
      </p:sp>
      <p:cxnSp>
        <p:nvCxnSpPr>
          <p:cNvPr id="17" name="Calibration arrow 1"/>
          <p:cNvCxnSpPr/>
          <p:nvPr/>
        </p:nvCxnSpPr>
        <p:spPr>
          <a:xfrm>
            <a:off x="3438144" y="1645920"/>
            <a:ext cx="393192" cy="0"/>
          </a:xfrm>
          <a:prstGeom prst="line">
            <a:avLst/>
          </a:prstGeom>
          <a:ln w="28575">
            <a:solidFill>
              <a:schemeClr val="accent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Calibration row 2 row"/>
          <p:cNvSpPr/>
          <p:nvPr/>
        </p:nvSpPr>
        <p:spPr>
          <a:xfrm>
            <a:off x="3886200" y="2130552"/>
            <a:ext cx="4800600" cy="82296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Calibration row 2 bar"/>
          <p:cNvSpPr/>
          <p:nvPr/>
        </p:nvSpPr>
        <p:spPr>
          <a:xfrm>
            <a:off x="3886200" y="2130552"/>
            <a:ext cx="64008" cy="82296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Calibration row 2 text"/>
          <p:cNvSpPr txBox="1"/>
          <p:nvPr/>
        </p:nvSpPr>
        <p:spPr>
          <a:xfrm>
            <a:off x="4087368" y="2130552"/>
            <a:ext cx="4507992" cy="822960"/>
          </a:xfrm>
          <a:prstGeom prst="rect">
            <a:avLst/>
          </a:prstGeom>
          <a:noFill/>
        </p:spPr>
        <p:txBody>
          <a:bodyPr wrap="square" lIns="0" rIns="0" tIns="0" bIns="0" anchor="ctr">
            <a:noAutofit/>
          </a:bodyPr>
          <a:lstStyle/>
          <a:p>
            <a:pPr algn="l">
              <a:spcAft>
                <a:spcPts val="400"/>
              </a:spcAft>
            </a:pPr>
            <a:r>
              <a:rPr sz="1200" b="1" lang="en-GB">
                <a:solidFill>
                  <a:schemeClr val="tx2"/>
                </a:solidFill>
              </a:rPr>
              <a:t>PyMC-Marketing: </a:t>
            </a:r>
            <a:r>
              <a:rPr sz="1200" b="0" lang="en-GB">
                <a:solidFill>
                  <a:schemeClr val="tx1"/>
                </a:solidFill>
              </a:rPr>
              <a:t>each test is a point on the response curve, per country if needed</a:t>
            </a:r>
          </a:p>
        </p:txBody>
      </p:sp>
      <p:cxnSp>
        <p:nvCxnSpPr>
          <p:cNvPr id="21" name="Calibration arrow 2"/>
          <p:cNvCxnSpPr/>
          <p:nvPr/>
        </p:nvCxnSpPr>
        <p:spPr>
          <a:xfrm>
            <a:off x="3438144" y="2542032"/>
            <a:ext cx="393192" cy="0"/>
          </a:xfrm>
          <a:prstGeom prst="line">
            <a:avLst/>
          </a:prstGeom>
          <a:ln w="28575">
            <a:solidFill>
              <a:schemeClr val="accent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2" name="Calibration row 3 row"/>
          <p:cNvSpPr/>
          <p:nvPr/>
        </p:nvSpPr>
        <p:spPr>
          <a:xfrm>
            <a:off x="3886200" y="3026664"/>
            <a:ext cx="4800600" cy="82296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Calibration row 3 bar"/>
          <p:cNvSpPr/>
          <p:nvPr/>
        </p:nvSpPr>
        <p:spPr>
          <a:xfrm>
            <a:off x="3886200" y="3026664"/>
            <a:ext cx="64008" cy="82296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Calibration row 3 text"/>
          <p:cNvSpPr txBox="1"/>
          <p:nvPr/>
        </p:nvSpPr>
        <p:spPr>
          <a:xfrm>
            <a:off x="4087368" y="3026664"/>
            <a:ext cx="4507992" cy="822960"/>
          </a:xfrm>
          <a:prstGeom prst="rect">
            <a:avLst/>
          </a:prstGeom>
          <a:noFill/>
        </p:spPr>
        <p:txBody>
          <a:bodyPr wrap="square" lIns="0" rIns="0" tIns="0" bIns="0" anchor="ctr">
            <a:noAutofit/>
          </a:bodyPr>
          <a:lstStyle/>
          <a:p>
            <a:pPr algn="l">
              <a:spcAft>
                <a:spcPts val="400"/>
              </a:spcAft>
            </a:pPr>
            <a:r>
              <a:rPr sz="1200" b="1" lang="en-GB">
                <a:solidFill>
                  <a:schemeClr val="tx2"/>
                </a:solidFill>
              </a:rPr>
              <a:t>Robyn: </a:t>
            </a:r>
            <a:r>
              <a:rPr sz="1200" b="0" lang="en-GB">
                <a:solidFill>
                  <a:schemeClr val="tx1"/>
                </a:solidFill>
              </a:rPr>
              <a:t>tests are an extra objective; models far from the lift lose</a:t>
            </a:r>
          </a:p>
        </p:txBody>
      </p:sp>
      <p:cxnSp>
        <p:nvCxnSpPr>
          <p:cNvPr id="25" name="Calibration arrow 3"/>
          <p:cNvCxnSpPr/>
          <p:nvPr/>
        </p:nvCxnSpPr>
        <p:spPr>
          <a:xfrm>
            <a:off x="3438144" y="3438144"/>
            <a:ext cx="393192" cy="0"/>
          </a:xfrm>
          <a:prstGeom prst="line">
            <a:avLst/>
          </a:prstGeom>
          <a:ln w="28575">
            <a:solidFill>
              <a:schemeClr val="accent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6" name="Calibration callout box"/>
          <p:cNvSpPr/>
          <p:nvPr/>
        </p:nvSpPr>
        <p:spPr>
          <a:xfrm>
            <a:off x="457200" y="3986784"/>
            <a:ext cx="8229600" cy="59436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Calibration callout text"/>
          <p:cNvSpPr txBox="1"/>
          <p:nvPr/>
        </p:nvSpPr>
        <p:spPr>
          <a:xfrm>
            <a:off x="658368" y="3986784"/>
            <a:ext cx="7827264" cy="594360"/>
          </a:xfrm>
          <a:prstGeom prst="rect">
            <a:avLst/>
          </a:prstGeom>
          <a:noFill/>
        </p:spPr>
        <p:txBody>
          <a:bodyPr wrap="square" lIns="0" rIns="0" tIns="0" bIns="0" anchor="ctr">
            <a:noAutofit/>
          </a:bodyPr>
          <a:lstStyle/>
          <a:p>
            <a:pPr algn="l">
              <a:spcAft>
                <a:spcPts val="400"/>
              </a:spcAft>
            </a:pPr>
            <a:r>
              <a:rPr sz="1250" b="1" lang="en-GB">
                <a:solidFill>
                  <a:schemeClr val="bg1"/>
                </a:solidFill>
              </a:rPr>
              <a:t>International angle: </a:t>
            </a:r>
            <a:r>
              <a:rPr sz="1250" b="0" lang="en-GB">
                <a:solidFill>
                  <a:schemeClr val="bg1"/>
                </a:solidFill>
              </a:rPr>
              <a:t>tests often run only in large markets; a pooled Bayesian model passes that evidence on to the small ones.</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Many countries: three ways to pool</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Pooling column 1"/>
          <p:cNvSpPr/>
          <p:nvPr/>
        </p:nvSpPr>
        <p:spPr>
          <a:xfrm>
            <a:off x="457200" y="1234440"/>
            <a:ext cx="2651760" cy="224028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Pooling heading 1"/>
          <p:cNvSpPr txBox="1"/>
          <p:nvPr/>
        </p:nvSpPr>
        <p:spPr>
          <a:xfrm>
            <a:off x="594360" y="1307592"/>
            <a:ext cx="2377440" cy="329184"/>
          </a:xfrm>
          <a:prstGeom prst="rect">
            <a:avLst/>
          </a:prstGeom>
          <a:noFill/>
        </p:spPr>
        <p:txBody>
          <a:bodyPr wrap="square" lIns="0" rIns="0" tIns="0" bIns="0" anchor="ctr">
            <a:noAutofit/>
          </a:bodyPr>
          <a:lstStyle/>
          <a:p>
            <a:pPr algn="l">
              <a:spcAft>
                <a:spcPts val="400"/>
              </a:spcAft>
            </a:pPr>
            <a:r>
              <a:rPr sz="1500" b="1" lang="en-GB">
                <a:solidFill>
                  <a:schemeClr val="tx2"/>
                </a:solidFill>
                <a:latin typeface="+mj-lt"/>
              </a:rPr>
              <a:t>No pooling</a:t>
            </a:r>
          </a:p>
        </p:txBody>
      </p:sp>
      <p:sp>
        <p:nvSpPr>
          <p:cNvPr id="12" name="No pooling DE"/>
          <p:cNvSpPr/>
          <p:nvPr/>
        </p:nvSpPr>
        <p:spPr>
          <a:xfrm>
            <a:off x="960120" y="1801368"/>
            <a:ext cx="566928" cy="566928"/>
          </a:xfrm>
          <a:prstGeom prst="ellips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No pooling DE label"/>
          <p:cNvSpPr txBox="1"/>
          <p:nvPr/>
        </p:nvSpPr>
        <p:spPr>
          <a:xfrm>
            <a:off x="960120" y="1801368"/>
            <a:ext cx="566928" cy="566928"/>
          </a:xfrm>
          <a:prstGeom prst="rect">
            <a:avLst/>
          </a:prstGeom>
          <a:noFill/>
        </p:spPr>
        <p:txBody>
          <a:bodyPr wrap="square" lIns="0" rIns="0" tIns="0" bIns="0" anchor="ctr">
            <a:noAutofit/>
          </a:bodyPr>
          <a:lstStyle/>
          <a:p>
            <a:pPr algn="ctr">
              <a:spcAft>
                <a:spcPts val="400"/>
              </a:spcAft>
            </a:pPr>
            <a:r>
              <a:rPr sz="1200" b="1" lang="en-GB">
                <a:solidFill>
                  <a:schemeClr val="bg1"/>
                </a:solidFill>
              </a:rPr>
              <a:t>DE</a:t>
            </a:r>
          </a:p>
        </p:txBody>
      </p:sp>
      <p:sp>
        <p:nvSpPr>
          <p:cNvPr id="14" name="No pooling AT"/>
          <p:cNvSpPr/>
          <p:nvPr/>
        </p:nvSpPr>
        <p:spPr>
          <a:xfrm>
            <a:off x="2039112" y="1801368"/>
            <a:ext cx="566928" cy="566928"/>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No pooling AT label"/>
          <p:cNvSpPr txBox="1"/>
          <p:nvPr/>
        </p:nvSpPr>
        <p:spPr>
          <a:xfrm>
            <a:off x="2039112" y="1801368"/>
            <a:ext cx="566928" cy="566928"/>
          </a:xfrm>
          <a:prstGeom prst="rect">
            <a:avLst/>
          </a:prstGeom>
          <a:noFill/>
        </p:spPr>
        <p:txBody>
          <a:bodyPr wrap="square" lIns="0" rIns="0" tIns="0" bIns="0" anchor="ctr">
            <a:noAutofit/>
          </a:bodyPr>
          <a:lstStyle/>
          <a:p>
            <a:pPr algn="ctr">
              <a:spcAft>
                <a:spcPts val="400"/>
              </a:spcAft>
            </a:pPr>
            <a:r>
              <a:rPr sz="1200" b="1" lang="en-GB">
                <a:solidFill>
                  <a:schemeClr val="bg1"/>
                </a:solidFill>
              </a:rPr>
              <a:t>AT</a:t>
            </a:r>
          </a:p>
        </p:txBody>
      </p:sp>
      <p:sp>
        <p:nvSpPr>
          <p:cNvPr id="16" name="Pooling text 1"/>
          <p:cNvSpPr txBox="1"/>
          <p:nvPr/>
        </p:nvSpPr>
        <p:spPr>
          <a:xfrm>
            <a:off x="594360" y="2587752"/>
            <a:ext cx="2377440" cy="822960"/>
          </a:xfrm>
          <a:prstGeom prst="rect">
            <a:avLst/>
          </a:prstGeom>
          <a:noFill/>
        </p:spPr>
        <p:txBody>
          <a:bodyPr wrap="square" lIns="0" rIns="0" tIns="0" bIns="0" anchor="t">
            <a:noAutofit/>
          </a:bodyPr>
          <a:lstStyle/>
          <a:p>
            <a:pPr algn="l">
              <a:spcAft>
                <a:spcPts val="400"/>
              </a:spcAft>
            </a:pPr>
            <a:r>
              <a:rPr sz="1150" b="0" lang="en-GB">
                <a:solidFill>
                  <a:schemeClr val="tx1"/>
                </a:solidFill>
              </a:rPr>
              <a:t>one model per country; small markets get noisy estimates</a:t>
            </a:r>
          </a:p>
          <a:p>
            <a:pPr algn="l">
              <a:spcAft>
                <a:spcPts val="400"/>
              </a:spcAft>
            </a:pPr>
            <a:r>
              <a:rPr sz="1150" b="1" lang="en-GB">
                <a:solidFill>
                  <a:schemeClr val="tx2"/>
                </a:solidFill>
              </a:rPr>
              <a:t>Robyn</a:t>
            </a:r>
          </a:p>
        </p:txBody>
      </p:sp>
      <p:sp>
        <p:nvSpPr>
          <p:cNvPr id="17" name="Pooling column 2"/>
          <p:cNvSpPr/>
          <p:nvPr/>
        </p:nvSpPr>
        <p:spPr>
          <a:xfrm>
            <a:off x="3246120" y="1234440"/>
            <a:ext cx="2651760" cy="224028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Pooling heading 2"/>
          <p:cNvSpPr txBox="1"/>
          <p:nvPr/>
        </p:nvSpPr>
        <p:spPr>
          <a:xfrm>
            <a:off x="3383280" y="1307592"/>
            <a:ext cx="2377440" cy="329184"/>
          </a:xfrm>
          <a:prstGeom prst="rect">
            <a:avLst/>
          </a:prstGeom>
          <a:noFill/>
        </p:spPr>
        <p:txBody>
          <a:bodyPr wrap="square" lIns="0" rIns="0" tIns="0" bIns="0" anchor="ctr">
            <a:noAutofit/>
          </a:bodyPr>
          <a:lstStyle/>
          <a:p>
            <a:pPr algn="l">
              <a:spcAft>
                <a:spcPts val="400"/>
              </a:spcAft>
            </a:pPr>
            <a:r>
              <a:rPr sz="1500" b="1" lang="en-GB">
                <a:solidFill>
                  <a:schemeClr val="tx2"/>
                </a:solidFill>
                <a:latin typeface="+mj-lt"/>
              </a:rPr>
              <a:t>Full pooling</a:t>
            </a:r>
          </a:p>
        </p:txBody>
      </p:sp>
      <p:sp>
        <p:nvSpPr>
          <p:cNvPr id="19" name="Full pooling DE and AT"/>
          <p:cNvSpPr/>
          <p:nvPr/>
        </p:nvSpPr>
        <p:spPr>
          <a:xfrm>
            <a:off x="3931920" y="1801368"/>
            <a:ext cx="1280160" cy="566928"/>
          </a:xfrm>
          <a:prstGeom prst="ellipse">
            <a:avLst/>
          </a:prstGeom>
          <a:solidFill>
            <a:srgbClr val="8C8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Full pooling DE and AT label"/>
          <p:cNvSpPr txBox="1"/>
          <p:nvPr/>
        </p:nvSpPr>
        <p:spPr>
          <a:xfrm>
            <a:off x="3931920" y="1801368"/>
            <a:ext cx="1280160" cy="566928"/>
          </a:xfrm>
          <a:prstGeom prst="rect">
            <a:avLst/>
          </a:prstGeom>
          <a:noFill/>
        </p:spPr>
        <p:txBody>
          <a:bodyPr wrap="square" lIns="0" rIns="0" tIns="0" bIns="0" anchor="ctr">
            <a:noAutofit/>
          </a:bodyPr>
          <a:lstStyle/>
          <a:p>
            <a:pPr algn="ctr">
              <a:spcAft>
                <a:spcPts val="400"/>
              </a:spcAft>
            </a:pPr>
            <a:r>
              <a:rPr sz="1200" b="1" lang="en-GB">
                <a:solidFill>
                  <a:schemeClr val="bg1"/>
                </a:solidFill>
              </a:rPr>
              <a:t>DE + AT</a:t>
            </a:r>
          </a:p>
        </p:txBody>
      </p:sp>
      <p:sp>
        <p:nvSpPr>
          <p:cNvPr id="21" name="Pooling text 2"/>
          <p:cNvSpPr txBox="1"/>
          <p:nvPr/>
        </p:nvSpPr>
        <p:spPr>
          <a:xfrm>
            <a:off x="3383280" y="2587752"/>
            <a:ext cx="2377440" cy="822960"/>
          </a:xfrm>
          <a:prstGeom prst="rect">
            <a:avLst/>
          </a:prstGeom>
          <a:noFill/>
        </p:spPr>
        <p:txBody>
          <a:bodyPr wrap="square" lIns="0" rIns="0" tIns="0" bIns="0" anchor="t">
            <a:noAutofit/>
          </a:bodyPr>
          <a:lstStyle/>
          <a:p>
            <a:pPr algn="l">
              <a:spcAft>
                <a:spcPts val="400"/>
              </a:spcAft>
            </a:pPr>
            <a:r>
              <a:rPr sz="1150" b="0" lang="en-GB">
                <a:solidFill>
                  <a:schemeClr val="tx1"/>
                </a:solidFill>
              </a:rPr>
              <a:t>one effect for all countries; hides real differences</a:t>
            </a:r>
          </a:p>
          <a:p>
            <a:pPr algn="l">
              <a:spcAft>
                <a:spcPts val="400"/>
              </a:spcAft>
            </a:pPr>
            <a:r>
              <a:rPr sz="1150" b="1" lang="en-GB">
                <a:solidFill>
                  <a:schemeClr val="tx2"/>
                </a:solidFill>
              </a:rPr>
              <a:t>rarely sensible</a:t>
            </a:r>
          </a:p>
        </p:txBody>
      </p:sp>
      <p:sp>
        <p:nvSpPr>
          <p:cNvPr id="22" name="Pooling column 3"/>
          <p:cNvSpPr/>
          <p:nvPr/>
        </p:nvSpPr>
        <p:spPr>
          <a:xfrm>
            <a:off x="6035040" y="1234440"/>
            <a:ext cx="2651760" cy="224028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Pooling heading 3"/>
          <p:cNvSpPr txBox="1"/>
          <p:nvPr/>
        </p:nvSpPr>
        <p:spPr>
          <a:xfrm>
            <a:off x="6172200" y="1307592"/>
            <a:ext cx="2377440" cy="329184"/>
          </a:xfrm>
          <a:prstGeom prst="rect">
            <a:avLst/>
          </a:prstGeom>
          <a:noFill/>
        </p:spPr>
        <p:txBody>
          <a:bodyPr wrap="square" lIns="0" rIns="0" tIns="0" bIns="0" anchor="ctr">
            <a:noAutofit/>
          </a:bodyPr>
          <a:lstStyle/>
          <a:p>
            <a:pPr algn="l">
              <a:spcAft>
                <a:spcPts val="400"/>
              </a:spcAft>
            </a:pPr>
            <a:r>
              <a:rPr sz="1500" b="1" lang="en-GB">
                <a:solidFill>
                  <a:schemeClr val="tx2"/>
                </a:solidFill>
                <a:latin typeface="+mj-lt"/>
              </a:rPr>
              <a:t>Partial pooling</a:t>
            </a:r>
          </a:p>
        </p:txBody>
      </p:sp>
      <p:sp>
        <p:nvSpPr>
          <p:cNvPr id="24" name="Partial pooling mean"/>
          <p:cNvSpPr/>
          <p:nvPr/>
        </p:nvSpPr>
        <p:spPr>
          <a:xfrm>
            <a:off x="6675120" y="1691640"/>
            <a:ext cx="1371600" cy="310896"/>
          </a:xfrm>
          <a:prstGeom prst="ellipse">
            <a:avLst/>
          </a:prstGeom>
          <a:solidFill>
            <a:srgbClr val="8C8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Partial pooling mean label"/>
          <p:cNvSpPr txBox="1"/>
          <p:nvPr/>
        </p:nvSpPr>
        <p:spPr>
          <a:xfrm>
            <a:off x="6675120" y="1691640"/>
            <a:ext cx="1371600" cy="310896"/>
          </a:xfrm>
          <a:prstGeom prst="rect">
            <a:avLst/>
          </a:prstGeom>
          <a:noFill/>
        </p:spPr>
        <p:txBody>
          <a:bodyPr wrap="square" lIns="0" rIns="0" tIns="0" bIns="0" anchor="ctr">
            <a:noAutofit/>
          </a:bodyPr>
          <a:lstStyle/>
          <a:p>
            <a:pPr algn="ctr">
              <a:spcAft>
                <a:spcPts val="400"/>
              </a:spcAft>
            </a:pPr>
            <a:r>
              <a:rPr sz="1150" b="1" lang="en-GB">
                <a:solidFill>
                  <a:schemeClr val="bg1"/>
                </a:solidFill>
              </a:rPr>
              <a:t>shared mean</a:t>
            </a:r>
          </a:p>
        </p:txBody>
      </p:sp>
      <p:sp>
        <p:nvSpPr>
          <p:cNvPr id="26" name="Partial pooling DE"/>
          <p:cNvSpPr/>
          <p:nvPr/>
        </p:nvSpPr>
        <p:spPr>
          <a:xfrm>
            <a:off x="6519672" y="2093976"/>
            <a:ext cx="402336" cy="402336"/>
          </a:xfrm>
          <a:prstGeom prst="ellips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Partial pooling DE label"/>
          <p:cNvSpPr txBox="1"/>
          <p:nvPr/>
        </p:nvSpPr>
        <p:spPr>
          <a:xfrm>
            <a:off x="6519672" y="2093976"/>
            <a:ext cx="402336" cy="402336"/>
          </a:xfrm>
          <a:prstGeom prst="rect">
            <a:avLst/>
          </a:prstGeom>
          <a:noFill/>
        </p:spPr>
        <p:txBody>
          <a:bodyPr wrap="square" lIns="0" rIns="0" tIns="0" bIns="0" anchor="ctr">
            <a:noAutofit/>
          </a:bodyPr>
          <a:lstStyle/>
          <a:p>
            <a:pPr algn="ctr">
              <a:spcAft>
                <a:spcPts val="400"/>
              </a:spcAft>
            </a:pPr>
            <a:r>
              <a:rPr sz="1150" b="1" lang="en-GB">
                <a:solidFill>
                  <a:schemeClr val="bg1"/>
                </a:solidFill>
              </a:rPr>
              <a:t>DE</a:t>
            </a:r>
          </a:p>
        </p:txBody>
      </p:sp>
      <p:sp>
        <p:nvSpPr>
          <p:cNvPr id="28" name="Partial pooling AT"/>
          <p:cNvSpPr/>
          <p:nvPr/>
        </p:nvSpPr>
        <p:spPr>
          <a:xfrm>
            <a:off x="7799832" y="2093976"/>
            <a:ext cx="402336" cy="402336"/>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Partial pooling AT label"/>
          <p:cNvSpPr txBox="1"/>
          <p:nvPr/>
        </p:nvSpPr>
        <p:spPr>
          <a:xfrm>
            <a:off x="7799832" y="2093976"/>
            <a:ext cx="402336" cy="402336"/>
          </a:xfrm>
          <a:prstGeom prst="rect">
            <a:avLst/>
          </a:prstGeom>
          <a:noFill/>
        </p:spPr>
        <p:txBody>
          <a:bodyPr wrap="square" lIns="0" rIns="0" tIns="0" bIns="0" anchor="ctr">
            <a:noAutofit/>
          </a:bodyPr>
          <a:lstStyle/>
          <a:p>
            <a:pPr algn="ctr">
              <a:spcAft>
                <a:spcPts val="400"/>
              </a:spcAft>
            </a:pPr>
            <a:r>
              <a:rPr sz="1150" b="1" lang="en-GB">
                <a:solidFill>
                  <a:schemeClr val="bg1"/>
                </a:solidFill>
              </a:rPr>
              <a:t>AT</a:t>
            </a:r>
          </a:p>
        </p:txBody>
      </p:sp>
      <p:cxnSp>
        <p:nvCxnSpPr>
          <p:cNvPr id="30" name="Partial pooling arrow DE"/>
          <p:cNvCxnSpPr/>
          <p:nvPr/>
        </p:nvCxnSpPr>
        <p:spPr>
          <a:xfrm flipH="1">
            <a:off x="6903720" y="2002536"/>
            <a:ext cx="182880" cy="146304"/>
          </a:xfrm>
          <a:prstGeom prst="line">
            <a:avLst/>
          </a:prstGeom>
          <a:ln w="22225">
            <a:solidFill>
              <a:srgbClr val="8C8C8C"/>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1" name="Partial pooling arrow AT"/>
          <p:cNvCxnSpPr/>
          <p:nvPr/>
        </p:nvCxnSpPr>
        <p:spPr>
          <a:xfrm>
            <a:off x="7635240" y="2002536"/>
            <a:ext cx="182880" cy="146304"/>
          </a:xfrm>
          <a:prstGeom prst="line">
            <a:avLst/>
          </a:prstGeom>
          <a:ln w="22225">
            <a:solidFill>
              <a:srgbClr val="8C8C8C"/>
            </a:solidFill>
            <a:tailEnd type="triangle" w="med" len="med"/>
          </a:ln>
        </p:spPr>
        <p:style>
          <a:lnRef idx="2">
            <a:schemeClr val="accent1"/>
          </a:lnRef>
          <a:fillRef idx="0">
            <a:schemeClr val="accent1"/>
          </a:fillRef>
          <a:effectRef idx="1">
            <a:schemeClr val="accent1"/>
          </a:effectRef>
          <a:fontRef idx="minor">
            <a:schemeClr val="tx1"/>
          </a:fontRef>
        </p:style>
      </p:cxnSp>
      <p:sp>
        <p:nvSpPr>
          <p:cNvPr id="32" name="Pooling text 3"/>
          <p:cNvSpPr txBox="1"/>
          <p:nvPr/>
        </p:nvSpPr>
        <p:spPr>
          <a:xfrm>
            <a:off x="6172200" y="2587752"/>
            <a:ext cx="2377440" cy="822960"/>
          </a:xfrm>
          <a:prstGeom prst="rect">
            <a:avLst/>
          </a:prstGeom>
          <a:noFill/>
        </p:spPr>
        <p:txBody>
          <a:bodyPr wrap="square" lIns="0" rIns="0" tIns="0" bIns="0" anchor="t">
            <a:noAutofit/>
          </a:bodyPr>
          <a:lstStyle/>
          <a:p>
            <a:pPr algn="l">
              <a:spcAft>
                <a:spcPts val="400"/>
              </a:spcAft>
            </a:pPr>
            <a:r>
              <a:rPr sz="1150" b="0" lang="en-GB">
                <a:solidFill>
                  <a:schemeClr val="tx1"/>
                </a:solidFill>
              </a:rPr>
              <a:t>country effects around a shared mean; small markets borrow strength</a:t>
            </a:r>
          </a:p>
          <a:p>
            <a:pPr algn="l">
              <a:spcAft>
                <a:spcPts val="400"/>
              </a:spcAft>
            </a:pPr>
            <a:r>
              <a:rPr sz="1150" b="1" lang="en-GB">
                <a:solidFill>
                  <a:schemeClr val="tx2"/>
                </a:solidFill>
              </a:rPr>
              <a:t>Meridian, PyMC-Marketing</a:t>
            </a:r>
          </a:p>
        </p:txBody>
      </p:sp>
      <p:sp>
        <p:nvSpPr>
          <p:cNvPr id="33" name="Pooling brand row"/>
          <p:cNvSpPr/>
          <p:nvPr/>
        </p:nvSpPr>
        <p:spPr>
          <a:xfrm>
            <a:off x="457200" y="3611880"/>
            <a:ext cx="8229600" cy="4572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Pooling brand bar"/>
          <p:cNvSpPr/>
          <p:nvPr/>
        </p:nvSpPr>
        <p:spPr>
          <a:xfrm>
            <a:off x="457200" y="3611880"/>
            <a:ext cx="64008" cy="4572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Pooling brand text"/>
          <p:cNvSpPr txBox="1"/>
          <p:nvPr/>
        </p:nvSpPr>
        <p:spPr>
          <a:xfrm>
            <a:off x="658368" y="3611880"/>
            <a:ext cx="7936992" cy="457200"/>
          </a:xfrm>
          <a:prstGeom prst="rect">
            <a:avLst/>
          </a:prstGeom>
          <a:noFill/>
        </p:spPr>
        <p:txBody>
          <a:bodyPr wrap="square" lIns="0" rIns="0" tIns="0" bIns="0" anchor="ctr">
            <a:noAutofit/>
          </a:bodyPr>
          <a:lstStyle/>
          <a:p>
            <a:pPr algn="l">
              <a:spcAft>
                <a:spcPts val="400"/>
              </a:spcAft>
            </a:pPr>
            <a:r>
              <a:rPr sz="1200" b="1" lang="en-GB">
                <a:solidFill>
                  <a:schemeClr val="tx2"/>
                </a:solidFill>
              </a:rPr>
              <a:t>Our brand: </a:t>
            </a:r>
            <a:r>
              <a:rPr sz="1200" b="0" lang="en-GB">
                <a:solidFill>
                  <a:schemeClr val="tx1"/>
                </a:solidFill>
              </a:rPr>
              <a:t>Austria sold 3,180 k EUR in the same 134 weeks in which Germany sold 11,270</a:t>
            </a:r>
          </a:p>
        </p:txBody>
      </p:sp>
      <p:sp>
        <p:nvSpPr>
          <p:cNvPr id="36" name="Pooling callout box"/>
          <p:cNvSpPr/>
          <p:nvPr/>
        </p:nvSpPr>
        <p:spPr>
          <a:xfrm>
            <a:off x="457200" y="4206240"/>
            <a:ext cx="8229600" cy="4572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Pooling callout text"/>
          <p:cNvSpPr txBox="1"/>
          <p:nvPr/>
        </p:nvSpPr>
        <p:spPr>
          <a:xfrm>
            <a:off x="658368" y="4206240"/>
            <a:ext cx="7827264" cy="457200"/>
          </a:xfrm>
          <a:prstGeom prst="rect">
            <a:avLst/>
          </a:prstGeom>
          <a:noFill/>
        </p:spPr>
        <p:txBody>
          <a:bodyPr wrap="square" lIns="0" rIns="0" tIns="0" bIns="0" anchor="ctr">
            <a:noAutofit/>
          </a:bodyPr>
          <a:lstStyle/>
          <a:p>
            <a:pPr algn="l">
              <a:spcAft>
                <a:spcPts val="400"/>
              </a:spcAft>
            </a:pPr>
            <a:r>
              <a:rPr sz="1250" b="1" lang="en-GB">
                <a:solidFill>
                  <a:schemeClr val="bg1"/>
                </a:solidFill>
              </a:rPr>
              <a:t>One currency first: </a:t>
            </a:r>
            <a:r>
              <a:rPr sz="1250" b="0" lang="en-GB">
                <a:solidFill>
                  <a:schemeClr val="bg1"/>
                </a:solidFill>
              </a:rPr>
              <a:t>Switzerland is in CHF; convert before you pool (ECB rates).</a:t>
            </a:r>
          </a:p>
        </p:txBody>
      </p:sp>
      <p:sp>
        <p:nvSpPr>
          <p:cNvPr id="38" name="Sources"/>
          <p:cNvSpPr txBox="1"/>
          <p:nvPr/>
        </p:nvSpPr>
        <p:spPr>
          <a:xfrm>
            <a:off x="457200" y="4818888"/>
            <a:ext cx="8229600" cy="256032"/>
          </a:xfrm>
          <a:prstGeom prst="rect">
            <a:avLst/>
          </a:prstGeom>
          <a:noFill/>
        </p:spPr>
        <p:txBody>
          <a:bodyPr wrap="square" lIns="0" rIns="0" tIns="0" bIns="0" anchor="ctr">
            <a:noAutofit/>
          </a:bodyPr>
          <a:lstStyle/>
          <a:p>
            <a:pPr algn="l">
              <a:spcAft>
                <a:spcPts val="0"/>
              </a:spcAft>
            </a:pPr>
            <a:r>
              <a:rPr sz="1100" b="0" lang="en-GB">
                <a:solidFill>
                  <a:srgbClr val="595959"/>
                </a:solidFill>
              </a:rPr>
              <a:t>Data: Conjura MMM dataset (Anderson 2024), CC BY 4.0</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Which tool for which situation?</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Tool card 1 body"/>
          <p:cNvSpPr/>
          <p:nvPr/>
        </p:nvSpPr>
        <p:spPr>
          <a:xfrm>
            <a:off x="457200" y="1691640"/>
            <a:ext cx="2651760" cy="173736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ool card 1 header"/>
          <p:cNvSpPr/>
          <p:nvPr/>
        </p:nvSpPr>
        <p:spPr>
          <a:xfrm>
            <a:off x="457200" y="1234440"/>
            <a:ext cx="2651760" cy="4572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ool card 1 heading"/>
          <p:cNvSpPr txBox="1"/>
          <p:nvPr/>
        </p:nvSpPr>
        <p:spPr>
          <a:xfrm>
            <a:off x="594360" y="1234440"/>
            <a:ext cx="1965960" cy="457200"/>
          </a:xfrm>
          <a:prstGeom prst="rect">
            <a:avLst/>
          </a:prstGeom>
          <a:noFill/>
        </p:spPr>
        <p:txBody>
          <a:bodyPr wrap="square" lIns="0" rIns="0" tIns="0" bIns="0" anchor="ctr">
            <a:noAutofit/>
          </a:bodyPr>
          <a:lstStyle/>
          <a:p>
            <a:pPr algn="l">
              <a:spcAft>
                <a:spcPts val="400"/>
              </a:spcAft>
            </a:pPr>
            <a:r>
              <a:rPr sz="1500" b="1" lang="en-GB">
                <a:solidFill>
                  <a:schemeClr val="bg1"/>
                </a:solidFill>
                <a:latin typeface="+mj-lt"/>
              </a:rPr>
              <a:t>PyMC-Marketing</a:t>
            </a:r>
          </a:p>
        </p:txBody>
      </p:sp>
      <p:pic>
        <p:nvPicPr>
          <p:cNvPr id="13" name="Icon Tool card 1" descr=""/>
          <p:cNvPicPr>
            <a:picLocks noChangeAspect="1"/>
          </p:cNvPicPr>
          <p:nvPr/>
        </p:nvPicPr>
        <p:blipFill>
          <a:blip r:embed="rId3"/>
          <a:stretch>
            <a:fillRect/>
          </a:stretch>
        </p:blipFill>
        <p:spPr>
          <a:xfrm>
            <a:off x="2670048" y="1307592"/>
            <a:ext cx="310896" cy="310896"/>
          </a:xfrm>
          <a:prstGeom prst="rect">
            <a:avLst/>
          </a:prstGeom>
        </p:spPr>
      </p:pic>
      <p:sp>
        <p:nvSpPr>
          <p:cNvPr id="14" name="Tool card 1 text"/>
          <p:cNvSpPr txBox="1"/>
          <p:nvPr/>
        </p:nvSpPr>
        <p:spPr>
          <a:xfrm>
            <a:off x="621792" y="1828800"/>
            <a:ext cx="2350008" cy="1463040"/>
          </a:xfrm>
          <a:prstGeom prst="rect">
            <a:avLst/>
          </a:prstGeom>
          <a:noFill/>
        </p:spPr>
        <p:txBody>
          <a:bodyPr wrap="square" lIns="0" rIns="0" tIns="0" bIns="0" anchor="t">
            <a:noAutofit/>
          </a:bodyPr>
          <a:lstStyle/>
          <a:p>
            <a:pPr algn="l" marL="182880" indent="-182880">
              <a:spcAft>
                <a:spcPts val="600"/>
              </a:spcAft>
              <a:buClr>
                <a:schemeClr val="accent1"/>
              </a:buClr>
              <a:buFont typeface="Arial"/>
              <a:buChar char="▪"/>
            </a:pPr>
            <a:r>
              <a:rPr sz="1300" b="0" lang="en-GB">
                <a:solidFill>
                  <a:schemeClr val="tx1"/>
                </a:solidFill>
              </a:rPr>
              <a:t>many countries or brands in one model</a:t>
            </a:r>
          </a:p>
          <a:p>
            <a:pPr algn="l" marL="182880" indent="-182880">
              <a:spcAft>
                <a:spcPts val="600"/>
              </a:spcAft>
              <a:buClr>
                <a:schemeClr val="accent1"/>
              </a:buClr>
              <a:buFont typeface="Arial"/>
              <a:buChar char="▪"/>
            </a:pPr>
            <a:r>
              <a:rPr sz="1300" b="0" lang="en-GB">
                <a:solidFill>
                  <a:schemeClr val="tx1"/>
                </a:solidFill>
              </a:rPr>
              <a:t>a budget split across markets</a:t>
            </a:r>
          </a:p>
          <a:p>
            <a:pPr algn="l" marL="182880" indent="-182880">
              <a:spcAft>
                <a:spcPts val="600"/>
              </a:spcAft>
              <a:buClr>
                <a:schemeClr val="accent1"/>
              </a:buClr>
              <a:buFont typeface="Arial"/>
              <a:buChar char="▪"/>
            </a:pPr>
            <a:r>
              <a:rPr sz="1300" b="0" lang="en-GB">
                <a:solidFill>
                  <a:schemeClr val="tx1"/>
                </a:solidFill>
              </a:rPr>
              <a:t>a team that codes in Python</a:t>
            </a:r>
          </a:p>
        </p:txBody>
      </p:sp>
      <p:sp>
        <p:nvSpPr>
          <p:cNvPr id="15" name="Tool card 2 body"/>
          <p:cNvSpPr/>
          <p:nvPr/>
        </p:nvSpPr>
        <p:spPr>
          <a:xfrm>
            <a:off x="3246120" y="1691640"/>
            <a:ext cx="2651760" cy="173736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ool card 2 header"/>
          <p:cNvSpPr/>
          <p:nvPr/>
        </p:nvSpPr>
        <p:spPr>
          <a:xfrm>
            <a:off x="3246120" y="1234440"/>
            <a:ext cx="2651760" cy="4572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ool card 2 heading"/>
          <p:cNvSpPr txBox="1"/>
          <p:nvPr/>
        </p:nvSpPr>
        <p:spPr>
          <a:xfrm>
            <a:off x="3383280" y="1234440"/>
            <a:ext cx="1965960" cy="457200"/>
          </a:xfrm>
          <a:prstGeom prst="rect">
            <a:avLst/>
          </a:prstGeom>
          <a:noFill/>
        </p:spPr>
        <p:txBody>
          <a:bodyPr wrap="square" lIns="0" rIns="0" tIns="0" bIns="0" anchor="ctr">
            <a:noAutofit/>
          </a:bodyPr>
          <a:lstStyle/>
          <a:p>
            <a:pPr algn="l">
              <a:spcAft>
                <a:spcPts val="400"/>
              </a:spcAft>
            </a:pPr>
            <a:r>
              <a:rPr sz="1500" b="1" lang="en-GB">
                <a:solidFill>
                  <a:schemeClr val="bg1"/>
                </a:solidFill>
                <a:latin typeface="+mj-lt"/>
              </a:rPr>
              <a:t>Meridian</a:t>
            </a:r>
          </a:p>
        </p:txBody>
      </p:sp>
      <p:pic>
        <p:nvPicPr>
          <p:cNvPr id="18" name="Icon Tool card 2" descr=""/>
          <p:cNvPicPr>
            <a:picLocks noChangeAspect="1"/>
          </p:cNvPicPr>
          <p:nvPr/>
        </p:nvPicPr>
        <p:blipFill>
          <a:blip r:embed="rId4"/>
          <a:stretch>
            <a:fillRect/>
          </a:stretch>
        </p:blipFill>
        <p:spPr>
          <a:xfrm>
            <a:off x="5458968" y="1307592"/>
            <a:ext cx="310896" cy="310896"/>
          </a:xfrm>
          <a:prstGeom prst="rect">
            <a:avLst/>
          </a:prstGeom>
        </p:spPr>
      </p:pic>
      <p:sp>
        <p:nvSpPr>
          <p:cNvPr id="19" name="Tool card 2 text"/>
          <p:cNvSpPr txBox="1"/>
          <p:nvPr/>
        </p:nvSpPr>
        <p:spPr>
          <a:xfrm>
            <a:off x="3410712" y="1828800"/>
            <a:ext cx="2350008" cy="1463040"/>
          </a:xfrm>
          <a:prstGeom prst="rect">
            <a:avLst/>
          </a:prstGeom>
          <a:noFill/>
        </p:spPr>
        <p:txBody>
          <a:bodyPr wrap="square" lIns="0" rIns="0" tIns="0" bIns="0" anchor="t">
            <a:noAutofit/>
          </a:bodyPr>
          <a:lstStyle/>
          <a:p>
            <a:pPr algn="l" marL="182880" indent="-182880">
              <a:spcAft>
                <a:spcPts val="600"/>
              </a:spcAft>
              <a:buClr>
                <a:schemeClr val="accent1"/>
              </a:buClr>
              <a:buFont typeface="Arial"/>
              <a:buChar char="▪"/>
            </a:pPr>
            <a:r>
              <a:rPr sz="1300" b="0" lang="en-GB">
                <a:solidFill>
                  <a:schemeClr val="tx1"/>
                </a:solidFill>
              </a:rPr>
              <a:t>geo-level data and Google-heavy media</a:t>
            </a:r>
          </a:p>
          <a:p>
            <a:pPr algn="l" marL="182880" indent="-182880">
              <a:spcAft>
                <a:spcPts val="600"/>
              </a:spcAft>
              <a:buClr>
                <a:schemeClr val="accent1"/>
              </a:buClr>
              <a:buFont typeface="Arial"/>
              <a:buChar char="▪"/>
            </a:pPr>
            <a:r>
              <a:rPr sz="1300" b="0" lang="en-GB">
                <a:solidFill>
                  <a:schemeClr val="tx1"/>
                </a:solidFill>
              </a:rPr>
              <a:t>reach and frequency for video</a:t>
            </a:r>
          </a:p>
          <a:p>
            <a:pPr algn="l" marL="182880" indent="-182880">
              <a:spcAft>
                <a:spcPts val="600"/>
              </a:spcAft>
              <a:buClr>
                <a:schemeClr val="accent1"/>
              </a:buClr>
              <a:buFont typeface="Arial"/>
              <a:buChar char="▪"/>
            </a:pPr>
            <a:r>
              <a:rPr sz="1300" b="0" lang="en-GB">
                <a:solidFill>
                  <a:schemeClr val="tx1"/>
                </a:solidFill>
              </a:rPr>
              <a:t>a guided Colab workflow</a:t>
            </a:r>
          </a:p>
        </p:txBody>
      </p:sp>
      <p:sp>
        <p:nvSpPr>
          <p:cNvPr id="20" name="Tool card 3 body"/>
          <p:cNvSpPr/>
          <p:nvPr/>
        </p:nvSpPr>
        <p:spPr>
          <a:xfrm>
            <a:off x="6035040" y="1691640"/>
            <a:ext cx="2651760" cy="173736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ool card 3 header"/>
          <p:cNvSpPr/>
          <p:nvPr/>
        </p:nvSpPr>
        <p:spPr>
          <a:xfrm>
            <a:off x="6035040" y="1234440"/>
            <a:ext cx="2651760" cy="4572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ool card 3 heading"/>
          <p:cNvSpPr txBox="1"/>
          <p:nvPr/>
        </p:nvSpPr>
        <p:spPr>
          <a:xfrm>
            <a:off x="6172200" y="1234440"/>
            <a:ext cx="1965960" cy="457200"/>
          </a:xfrm>
          <a:prstGeom prst="rect">
            <a:avLst/>
          </a:prstGeom>
          <a:noFill/>
        </p:spPr>
        <p:txBody>
          <a:bodyPr wrap="square" lIns="0" rIns="0" tIns="0" bIns="0" anchor="ctr">
            <a:noAutofit/>
          </a:bodyPr>
          <a:lstStyle/>
          <a:p>
            <a:pPr algn="l">
              <a:spcAft>
                <a:spcPts val="400"/>
              </a:spcAft>
            </a:pPr>
            <a:r>
              <a:rPr sz="1500" b="1" lang="en-GB">
                <a:solidFill>
                  <a:schemeClr val="bg1"/>
                </a:solidFill>
                <a:latin typeface="+mj-lt"/>
              </a:rPr>
              <a:t>Robyn</a:t>
            </a:r>
          </a:p>
        </p:txBody>
      </p:sp>
      <p:pic>
        <p:nvPicPr>
          <p:cNvPr id="23" name="Icon Tool card 3" descr=""/>
          <p:cNvPicPr>
            <a:picLocks noChangeAspect="1"/>
          </p:cNvPicPr>
          <p:nvPr/>
        </p:nvPicPr>
        <p:blipFill>
          <a:blip r:embed="rId5"/>
          <a:stretch>
            <a:fillRect/>
          </a:stretch>
        </p:blipFill>
        <p:spPr>
          <a:xfrm>
            <a:off x="8247888" y="1307592"/>
            <a:ext cx="310896" cy="310896"/>
          </a:xfrm>
          <a:prstGeom prst="rect">
            <a:avLst/>
          </a:prstGeom>
        </p:spPr>
      </p:pic>
      <p:sp>
        <p:nvSpPr>
          <p:cNvPr id="24" name="Tool card 3 text"/>
          <p:cNvSpPr txBox="1"/>
          <p:nvPr/>
        </p:nvSpPr>
        <p:spPr>
          <a:xfrm>
            <a:off x="6199632" y="1828800"/>
            <a:ext cx="2350008" cy="1463040"/>
          </a:xfrm>
          <a:prstGeom prst="rect">
            <a:avLst/>
          </a:prstGeom>
          <a:noFill/>
        </p:spPr>
        <p:txBody>
          <a:bodyPr wrap="square" lIns="0" rIns="0" tIns="0" bIns="0" anchor="t">
            <a:noAutofit/>
          </a:bodyPr>
          <a:lstStyle/>
          <a:p>
            <a:pPr algn="l" marL="182880" indent="-182880">
              <a:spcAft>
                <a:spcPts val="600"/>
              </a:spcAft>
              <a:buClr>
                <a:schemeClr val="accent1"/>
              </a:buClr>
              <a:buFont typeface="Arial"/>
              <a:buChar char="▪"/>
            </a:pPr>
            <a:r>
              <a:rPr sz="1300" b="0" lang="en-GB">
                <a:solidFill>
                  <a:schemeClr val="tx1"/>
                </a:solidFill>
              </a:rPr>
              <a:t>one market, few channels, R users</a:t>
            </a:r>
          </a:p>
          <a:p>
            <a:pPr algn="l" marL="182880" indent="-182880">
              <a:spcAft>
                <a:spcPts val="600"/>
              </a:spcAft>
              <a:buClr>
                <a:schemeClr val="accent1"/>
              </a:buClr>
              <a:buFont typeface="Arial"/>
              <a:buChar char="▪"/>
            </a:pPr>
            <a:r>
              <a:rPr sz="1300" b="0" lang="en-GB">
                <a:solidFill>
                  <a:schemeClr val="tx1"/>
                </a:solidFill>
              </a:rPr>
              <a:t>a quick first read-out</a:t>
            </a:r>
          </a:p>
          <a:p>
            <a:pPr algn="l" marL="182880" indent="-182880">
              <a:spcAft>
                <a:spcPts val="600"/>
              </a:spcAft>
              <a:buClr>
                <a:schemeClr val="accent1"/>
              </a:buClr>
              <a:buFont typeface="Arial"/>
              <a:buChar char="▪"/>
            </a:pPr>
            <a:r>
              <a:rPr sz="1300" b="0" lang="en-GB">
                <a:solidFill>
                  <a:schemeClr val="tx1"/>
                </a:solidFill>
              </a:rPr>
              <a:t>country holidays built in</a:t>
            </a:r>
          </a:p>
        </p:txBody>
      </p:sp>
      <p:sp>
        <p:nvSpPr>
          <p:cNvPr id="25" name="Tool shop row"/>
          <p:cNvSpPr/>
          <p:nvPr/>
        </p:nvSpPr>
        <p:spPr>
          <a:xfrm>
            <a:off x="457200" y="3566160"/>
            <a:ext cx="8229600" cy="4572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ool shop bar"/>
          <p:cNvSpPr/>
          <p:nvPr/>
        </p:nvSpPr>
        <p:spPr>
          <a:xfrm>
            <a:off x="457200" y="3566160"/>
            <a:ext cx="64008" cy="4572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ool shop text"/>
          <p:cNvSpPr txBox="1"/>
          <p:nvPr/>
        </p:nvSpPr>
        <p:spPr>
          <a:xfrm>
            <a:off x="658368" y="3566160"/>
            <a:ext cx="7936992" cy="457200"/>
          </a:xfrm>
          <a:prstGeom prst="rect">
            <a:avLst/>
          </a:prstGeom>
          <a:noFill/>
        </p:spPr>
        <p:txBody>
          <a:bodyPr wrap="square" lIns="0" rIns="0" tIns="0" bIns="0" anchor="ctr">
            <a:noAutofit/>
          </a:bodyPr>
          <a:lstStyle/>
          <a:p>
            <a:pPr algn="l">
              <a:spcAft>
                <a:spcPts val="400"/>
              </a:spcAft>
            </a:pPr>
            <a:r>
              <a:rPr sz="1200" b="1" lang="en-GB">
                <a:solidFill>
                  <a:schemeClr val="tx2"/>
                </a:solidFill>
              </a:rPr>
              <a:t>Our shop: </a:t>
            </a:r>
            <a:r>
              <a:rPr sz="1200" b="0" lang="en-GB">
                <a:solidFill>
                  <a:schemeClr val="tx1"/>
                </a:solidFill>
              </a:rPr>
              <a:t>2.6 years of weekly data in Austria; Germany next door</a:t>
            </a:r>
          </a:p>
        </p:txBody>
      </p:sp>
      <p:sp>
        <p:nvSpPr>
          <p:cNvPr id="28" name="Tool rule box"/>
          <p:cNvSpPr/>
          <p:nvPr/>
        </p:nvSpPr>
        <p:spPr>
          <a:xfrm>
            <a:off x="457200" y="4160520"/>
            <a:ext cx="8229600" cy="50292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ool rule text"/>
          <p:cNvSpPr txBox="1"/>
          <p:nvPr/>
        </p:nvSpPr>
        <p:spPr>
          <a:xfrm>
            <a:off x="658368" y="4160520"/>
            <a:ext cx="7827264" cy="502920"/>
          </a:xfrm>
          <a:prstGeom prst="rect">
            <a:avLst/>
          </a:prstGeom>
          <a:noFill/>
        </p:spPr>
        <p:txBody>
          <a:bodyPr wrap="square" lIns="0" rIns="0" tIns="0" bIns="0" anchor="ctr">
            <a:noAutofit/>
          </a:bodyPr>
          <a:lstStyle/>
          <a:p>
            <a:pPr algn="l">
              <a:spcAft>
                <a:spcPts val="400"/>
              </a:spcAft>
            </a:pPr>
            <a:r>
              <a:rPr sz="1250" b="1" lang="en-GB">
                <a:solidFill>
                  <a:schemeClr val="bg1"/>
                </a:solidFill>
              </a:rPr>
              <a:t>Rule of thumb: </a:t>
            </a:r>
            <a:r>
              <a:rPr sz="1250" b="0" lang="en-GB">
                <a:solidFill>
                  <a:schemeClr val="bg1"/>
                </a:solidFill>
              </a:rPr>
              <a:t>two or more years of weekly data per market; with less, pool countries or use informative priors.</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Reading vendor claims: four questions</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Claim row 1"/>
          <p:cNvSpPr/>
          <p:nvPr/>
        </p:nvSpPr>
        <p:spPr>
          <a:xfrm>
            <a:off x="457200" y="1234440"/>
            <a:ext cx="8229600" cy="60350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Claim number 1"/>
          <p:cNvSpPr/>
          <p:nvPr/>
        </p:nvSpPr>
        <p:spPr>
          <a:xfrm>
            <a:off x="594360" y="1380744"/>
            <a:ext cx="310896" cy="310896"/>
          </a:xfrm>
          <a:prstGeom prst="ellips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lang="en-GB">
                <a:solidFill>
                  <a:schemeClr val="bg1"/>
                </a:solidFill>
              </a:rPr>
              <a:t>1</a:t>
            </a:r>
          </a:p>
        </p:txBody>
      </p:sp>
      <p:sp>
        <p:nvSpPr>
          <p:cNvPr id="12" name="Claim text 1"/>
          <p:cNvSpPr txBox="1"/>
          <p:nvPr/>
        </p:nvSpPr>
        <p:spPr>
          <a:xfrm>
            <a:off x="1051560" y="1234440"/>
            <a:ext cx="7498080" cy="603504"/>
          </a:xfrm>
          <a:prstGeom prst="rect">
            <a:avLst/>
          </a:prstGeom>
          <a:noFill/>
        </p:spPr>
        <p:txBody>
          <a:bodyPr wrap="square" lIns="0" rIns="0" tIns="0" bIns="0" anchor="ctr">
            <a:noAutofit/>
          </a:bodyPr>
          <a:lstStyle/>
          <a:p>
            <a:pPr algn="l">
              <a:spcAft>
                <a:spcPts val="400"/>
              </a:spcAft>
            </a:pPr>
            <a:r>
              <a:rPr sz="1250" b="1" lang="en-GB">
                <a:solidFill>
                  <a:schemeClr val="tx2"/>
                </a:solidFill>
              </a:rPr>
              <a:t>Who wrote it? </a:t>
            </a:r>
            <a:r>
              <a:rPr sz="1250" b="0" lang="en-GB">
                <a:solidFill>
                  <a:schemeClr val="tx1"/>
                </a:solidFill>
              </a:rPr>
              <a:t>Google, Meta or a partner may favour their own channels.</a:t>
            </a:r>
          </a:p>
        </p:txBody>
      </p:sp>
      <p:sp>
        <p:nvSpPr>
          <p:cNvPr id="13" name="Claim row 2"/>
          <p:cNvSpPr/>
          <p:nvPr/>
        </p:nvSpPr>
        <p:spPr>
          <a:xfrm>
            <a:off x="457200" y="1911096"/>
            <a:ext cx="8229600" cy="60350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Claim number 2"/>
          <p:cNvSpPr/>
          <p:nvPr/>
        </p:nvSpPr>
        <p:spPr>
          <a:xfrm>
            <a:off x="594360" y="2057400"/>
            <a:ext cx="310896" cy="310896"/>
          </a:xfrm>
          <a:prstGeom prst="ellips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lang="en-GB">
                <a:solidFill>
                  <a:schemeClr val="bg1"/>
                </a:solidFill>
              </a:rPr>
              <a:t>2</a:t>
            </a:r>
          </a:p>
        </p:txBody>
      </p:sp>
      <p:sp>
        <p:nvSpPr>
          <p:cNvPr id="15" name="Claim text 2"/>
          <p:cNvSpPr txBox="1"/>
          <p:nvPr/>
        </p:nvSpPr>
        <p:spPr>
          <a:xfrm>
            <a:off x="1051560" y="1911096"/>
            <a:ext cx="7498080" cy="603504"/>
          </a:xfrm>
          <a:prstGeom prst="rect">
            <a:avLst/>
          </a:prstGeom>
          <a:noFill/>
        </p:spPr>
        <p:txBody>
          <a:bodyPr wrap="square" lIns="0" rIns="0" tIns="0" bIns="0" anchor="ctr">
            <a:noAutofit/>
          </a:bodyPr>
          <a:lstStyle/>
          <a:p>
            <a:pPr algn="l">
              <a:spcAft>
                <a:spcPts val="400"/>
              </a:spcAft>
            </a:pPr>
            <a:r>
              <a:rPr sz="1250" b="1" lang="en-GB">
                <a:solidFill>
                  <a:schemeClr val="tx2"/>
                </a:solidFill>
              </a:rPr>
              <a:t>Compared with what? </a:t>
            </a:r>
            <a:r>
              <a:rPr sz="1250" b="0" lang="en-GB">
                <a:solidFill>
                  <a:schemeClr val="tx1"/>
                </a:solidFill>
              </a:rPr>
              <a:t>An uplift needs a baseline and a time window.</a:t>
            </a:r>
          </a:p>
        </p:txBody>
      </p:sp>
      <p:sp>
        <p:nvSpPr>
          <p:cNvPr id="16" name="Claim row 3"/>
          <p:cNvSpPr/>
          <p:nvPr/>
        </p:nvSpPr>
        <p:spPr>
          <a:xfrm>
            <a:off x="457200" y="2587752"/>
            <a:ext cx="8229600" cy="60350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Claim number 3"/>
          <p:cNvSpPr/>
          <p:nvPr/>
        </p:nvSpPr>
        <p:spPr>
          <a:xfrm>
            <a:off x="594360" y="2734056"/>
            <a:ext cx="310896" cy="310896"/>
          </a:xfrm>
          <a:prstGeom prst="ellips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lang="en-GB">
                <a:solidFill>
                  <a:schemeClr val="bg1"/>
                </a:solidFill>
              </a:rPr>
              <a:t>3</a:t>
            </a:r>
          </a:p>
        </p:txBody>
      </p:sp>
      <p:sp>
        <p:nvSpPr>
          <p:cNvPr id="18" name="Claim text 3"/>
          <p:cNvSpPr txBox="1"/>
          <p:nvPr/>
        </p:nvSpPr>
        <p:spPr>
          <a:xfrm>
            <a:off x="1051560" y="2587752"/>
            <a:ext cx="7498080" cy="603504"/>
          </a:xfrm>
          <a:prstGeom prst="rect">
            <a:avLst/>
          </a:prstGeom>
          <a:noFill/>
        </p:spPr>
        <p:txBody>
          <a:bodyPr wrap="square" lIns="0" rIns="0" tIns="0" bIns="0" anchor="ctr">
            <a:noAutofit/>
          </a:bodyPr>
          <a:lstStyle/>
          <a:p>
            <a:pPr algn="l">
              <a:spcAft>
                <a:spcPts val="400"/>
              </a:spcAft>
            </a:pPr>
            <a:r>
              <a:rPr sz="1250" b="1" lang="en-GB">
                <a:solidFill>
                  <a:schemeClr val="tx2"/>
                </a:solidFill>
              </a:rPr>
              <a:t>Tested how? </a:t>
            </a:r>
            <a:r>
              <a:rPr sz="1250" b="0" lang="en-GB">
                <a:solidFill>
                  <a:schemeClr val="tx1"/>
                </a:solidFill>
              </a:rPr>
              <a:t>A holdout period or a lift test, not only in-sample fit.</a:t>
            </a:r>
          </a:p>
        </p:txBody>
      </p:sp>
      <p:sp>
        <p:nvSpPr>
          <p:cNvPr id="19" name="Claim row 4"/>
          <p:cNvSpPr/>
          <p:nvPr/>
        </p:nvSpPr>
        <p:spPr>
          <a:xfrm>
            <a:off x="457200" y="3264408"/>
            <a:ext cx="8229600" cy="60350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Claim number 4"/>
          <p:cNvSpPr/>
          <p:nvPr/>
        </p:nvSpPr>
        <p:spPr>
          <a:xfrm>
            <a:off x="594360" y="3410712"/>
            <a:ext cx="310896" cy="310896"/>
          </a:xfrm>
          <a:prstGeom prst="ellips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lang="en-GB">
                <a:solidFill>
                  <a:schemeClr val="bg1"/>
                </a:solidFill>
              </a:rPr>
              <a:t>4</a:t>
            </a:r>
          </a:p>
        </p:txBody>
      </p:sp>
      <p:sp>
        <p:nvSpPr>
          <p:cNvPr id="21" name="Claim text 4"/>
          <p:cNvSpPr txBox="1"/>
          <p:nvPr/>
        </p:nvSpPr>
        <p:spPr>
          <a:xfrm>
            <a:off x="1051560" y="3264408"/>
            <a:ext cx="7498080" cy="603504"/>
          </a:xfrm>
          <a:prstGeom prst="rect">
            <a:avLst/>
          </a:prstGeom>
          <a:noFill/>
        </p:spPr>
        <p:txBody>
          <a:bodyPr wrap="square" lIns="0" rIns="0" tIns="0" bIns="0" anchor="ctr">
            <a:noAutofit/>
          </a:bodyPr>
          <a:lstStyle/>
          <a:p>
            <a:pPr algn="l">
              <a:spcAft>
                <a:spcPts val="400"/>
              </a:spcAft>
            </a:pPr>
            <a:r>
              <a:rPr sz="1250" b="1" lang="en-GB">
                <a:solidFill>
                  <a:schemeClr val="tx2"/>
                </a:solidFill>
              </a:rPr>
              <a:t>Which version? </a:t>
            </a:r>
            <a:r>
              <a:rPr sz="1250" b="0" lang="en-GB">
                <a:solidFill>
                  <a:schemeClr val="tx1"/>
                </a:solidFill>
              </a:rPr>
              <a:t>Results on old releases may no longer hold.</a:t>
            </a:r>
          </a:p>
        </p:txBody>
      </p:sp>
      <p:pic>
        <p:nvPicPr>
          <p:cNvPr id="22" name="Icon Claim 1" descr=""/>
          <p:cNvPicPr>
            <a:picLocks noChangeAspect="1"/>
          </p:cNvPicPr>
          <p:nvPr/>
        </p:nvPicPr>
        <p:blipFill>
          <a:blip r:embed="rId3"/>
          <a:stretch>
            <a:fillRect/>
          </a:stretch>
        </p:blipFill>
        <p:spPr>
          <a:xfrm>
            <a:off x="8183880" y="1371600"/>
            <a:ext cx="329184" cy="329184"/>
          </a:xfrm>
          <a:prstGeom prst="rect">
            <a:avLst/>
          </a:prstGeom>
        </p:spPr>
      </p:pic>
      <p:pic>
        <p:nvPicPr>
          <p:cNvPr id="23" name="Icon Claim 2" descr=""/>
          <p:cNvPicPr>
            <a:picLocks noChangeAspect="1"/>
          </p:cNvPicPr>
          <p:nvPr/>
        </p:nvPicPr>
        <p:blipFill>
          <a:blip r:embed="rId4"/>
          <a:stretch>
            <a:fillRect/>
          </a:stretch>
        </p:blipFill>
        <p:spPr>
          <a:xfrm>
            <a:off x="8183880" y="2048256"/>
            <a:ext cx="329184" cy="329184"/>
          </a:xfrm>
          <a:prstGeom prst="rect">
            <a:avLst/>
          </a:prstGeom>
        </p:spPr>
      </p:pic>
      <p:pic>
        <p:nvPicPr>
          <p:cNvPr id="24" name="Icon Claim 3" descr=""/>
          <p:cNvPicPr>
            <a:picLocks noChangeAspect="1"/>
          </p:cNvPicPr>
          <p:nvPr/>
        </p:nvPicPr>
        <p:blipFill>
          <a:blip r:embed="rId5"/>
          <a:stretch>
            <a:fillRect/>
          </a:stretch>
        </p:blipFill>
        <p:spPr>
          <a:xfrm>
            <a:off x="8183880" y="2724912"/>
            <a:ext cx="329184" cy="329184"/>
          </a:xfrm>
          <a:prstGeom prst="rect">
            <a:avLst/>
          </a:prstGeom>
        </p:spPr>
      </p:pic>
      <p:pic>
        <p:nvPicPr>
          <p:cNvPr id="25" name="Icon Claim 4" descr=""/>
          <p:cNvPicPr>
            <a:picLocks noChangeAspect="1"/>
          </p:cNvPicPr>
          <p:nvPr/>
        </p:nvPicPr>
        <p:blipFill>
          <a:blip r:embed="rId6"/>
          <a:stretch>
            <a:fillRect/>
          </a:stretch>
        </p:blipFill>
        <p:spPr>
          <a:xfrm>
            <a:off x="8183880" y="3401568"/>
            <a:ext cx="329184" cy="329184"/>
          </a:xfrm>
          <a:prstGeom prst="rect">
            <a:avLst/>
          </a:prstGeom>
        </p:spPr>
      </p:pic>
      <p:sp>
        <p:nvSpPr>
          <p:cNvPr id="26" name="Claim callout box"/>
          <p:cNvSpPr/>
          <p:nvPr/>
        </p:nvSpPr>
        <p:spPr>
          <a:xfrm>
            <a:off x="457200" y="4005072"/>
            <a:ext cx="8229600" cy="59436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Claim callout text"/>
          <p:cNvSpPr txBox="1"/>
          <p:nvPr/>
        </p:nvSpPr>
        <p:spPr>
          <a:xfrm>
            <a:off x="658368" y="4005072"/>
            <a:ext cx="7827264" cy="594360"/>
          </a:xfrm>
          <a:prstGeom prst="rect">
            <a:avLst/>
          </a:prstGeom>
          <a:noFill/>
        </p:spPr>
        <p:txBody>
          <a:bodyPr wrap="square" lIns="0" rIns="0" tIns="0" bIns="0" anchor="ctr">
            <a:noAutofit/>
          </a:bodyPr>
          <a:lstStyle/>
          <a:p>
            <a:pPr algn="l">
              <a:spcAft>
                <a:spcPts val="400"/>
              </a:spcAft>
            </a:pPr>
            <a:r>
              <a:rPr sz="1250" b="1" lang="en-GB">
                <a:solidFill>
                  <a:schemeClr val="bg1"/>
                </a:solidFill>
              </a:rPr>
              <a:t>Free software is not a free model: </a:t>
            </a:r>
            <a:r>
              <a:rPr sz="1250" b="0" lang="en-GB">
                <a:solidFill>
                  <a:schemeClr val="bg1"/>
                </a:solidFill>
              </a:rPr>
              <a:t>the platforms that sell the media also wrote two of the tools that judge it.</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1" sz="quarter"/>
          </p:nvPr>
        </p:nvSpPr>
        <p:spPr>
          <a:xfrm>
            <a:ext cx="5747702" cy="0"/>
          </a:xfrm>
        </p:spPr>
        <p:txBody>
          <a:bodyPr/>
          <a:lstStyle/>
          <a:p>
            <a:r>
              <a:rPr lang="en-GB"/>
              <a:t>Part 4 of 6 · the data, a warning, the model, the next euro</a:t>
            </a:r>
          </a:p>
        </p:txBody>
      </p:sp>
      <p:sp>
        <p:nvSpPr>
          <p:cNvPr id="3" name="Title 2"/>
          <p:cNvSpPr>
            <a:spLocks noGrp="1"/>
          </p:cNvSpPr>
          <p:nvPr>
            <p:ph type="ctrTitle"/>
          </p:nvPr>
        </p:nvSpPr>
        <p:spPr/>
        <p:txBody>
          <a:bodyPr/>
          <a:lstStyle/>
          <a:p>
            <a:r>
              <a:rPr lang="en-GB"/>
              <a:t>Real data: a sports web shop</a:t>
            </a:r>
          </a:p>
        </p:txBody>
      </p:sp>
      <p:sp>
        <p:nvSpPr>
          <p:cNvPr id="3" name="Fußzeilenplatzhalter 2"/>
          <p:cNvSpPr>
            <a:spLocks noGrp="1"/>
          </p:cNvSpPr>
          <p:nvPr>
            <p:ph type="ftr" sz="quarter" idx="14"/>
          </p:nvPr>
        </p:nvSpPr>
        <p:spPr/>
        <p:txBody>
          <a:bodyPr/>
          <a:lstStyle/>
          <a:p>
            <a:r>
              <a:rPr lang="en-GB"/>
              <a:t>International Marketing Analytics · WT 2026/27</a:t>
            </a:r>
          </a:p>
        </p:txBody>
      </p:sp>
      <p:sp>
        <p:nvSpPr>
          <p:cNvPr id="6" name="Foliennummernplatzhalter 5"/>
          <p:cNvSpPr>
            <a:spLocks noGrp="1"/>
          </p:cNvSpPr>
          <p:nvPr>
            <p:ph type="sldNum" sz="quarter" idx="15"/>
          </p:nvPr>
        </p:nvSpPr>
        <p:spPr/>
        <p:txBody>
          <a:bodyPr/>
          <a:lstStyle/>
          <a:p>
            <a:r>
              <a:rPr lang="en-GB" dirty="0"/>
              <a:t>Page </a:t>
            </a:r>
            <a:fld id="{BE3DC40E-DBBE-4E2D-9EEC-FBF0DA0E9179}" type="slidenum">
              <a:rPr lang="en-GB" smtClean="0"/>
              <a:pPr/>
              <a:t>‹Nr.›</a:t>
            </a:fld>
            <a:endParaRPr lang="en-GB" dirty="0"/>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The data: 134 weeks of a real web shop</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File label"/>
          <p:cNvSpPr txBox="1"/>
          <p:nvPr/>
        </p:nvSpPr>
        <p:spPr>
          <a:xfrm>
            <a:off x="457200" y="1234440"/>
            <a:ext cx="4572000" cy="329184"/>
          </a:xfrm>
          <a:prstGeom prst="rect">
            <a:avLst/>
          </a:prstGeom>
          <a:noFill/>
        </p:spPr>
        <p:txBody>
          <a:bodyPr wrap="square" lIns="0" rIns="0" tIns="0" bIns="0" anchor="ctr">
            <a:noAutofit/>
          </a:bodyPr>
          <a:lstStyle/>
          <a:p>
            <a:pPr algn="l">
              <a:spcAft>
                <a:spcPts val="400"/>
              </a:spcAft>
            </a:pPr>
            <a:r>
              <a:rPr sz="1500" b="1" lang="en-GB">
                <a:solidFill>
                  <a:schemeClr val="tx2"/>
                </a:solidFill>
                <a:latin typeface="+mj-lt"/>
              </a:rPr>
              <a:t>File: sports_weekly.csv, Austria (AT)</a:t>
            </a:r>
          </a:p>
        </p:txBody>
      </p:sp>
      <p:sp>
        <p:nvSpPr>
          <p:cNvPr id="11" name="Data grid 1-1"/>
          <p:cNvSpPr/>
          <p:nvPr/>
        </p:nvSpPr>
        <p:spPr>
          <a:xfrm>
            <a:off x="457200" y="1572768"/>
            <a:ext cx="1527048" cy="27432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Data grid text 1-1"/>
          <p:cNvSpPr txBox="1"/>
          <p:nvPr/>
        </p:nvSpPr>
        <p:spPr>
          <a:xfrm>
            <a:off x="548640" y="1572768"/>
            <a:ext cx="1344168" cy="274320"/>
          </a:xfrm>
          <a:prstGeom prst="rect">
            <a:avLst/>
          </a:prstGeom>
          <a:noFill/>
        </p:spPr>
        <p:txBody>
          <a:bodyPr wrap="square" lIns="0" rIns="0" tIns="0" bIns="0" anchor="ctr">
            <a:noAutofit/>
          </a:bodyPr>
          <a:lstStyle/>
          <a:p>
            <a:pPr algn="l">
              <a:spcAft>
                <a:spcPts val="400"/>
              </a:spcAft>
            </a:pPr>
            <a:r>
              <a:rPr sz="1150" b="1" lang="en-GB">
                <a:solidFill>
                  <a:schemeClr val="bg1"/>
                </a:solidFill>
              </a:rPr>
              <a:t>week</a:t>
            </a:r>
          </a:p>
        </p:txBody>
      </p:sp>
      <p:sp>
        <p:nvSpPr>
          <p:cNvPr id="13" name="Data grid 1-2"/>
          <p:cNvSpPr/>
          <p:nvPr/>
        </p:nvSpPr>
        <p:spPr>
          <a:xfrm>
            <a:off x="2011680" y="1572768"/>
            <a:ext cx="978408" cy="27432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Data grid text 1-2"/>
          <p:cNvSpPr txBox="1"/>
          <p:nvPr/>
        </p:nvSpPr>
        <p:spPr>
          <a:xfrm>
            <a:off x="2103120" y="1572768"/>
            <a:ext cx="795528" cy="274320"/>
          </a:xfrm>
          <a:prstGeom prst="rect">
            <a:avLst/>
          </a:prstGeom>
          <a:noFill/>
        </p:spPr>
        <p:txBody>
          <a:bodyPr wrap="square" lIns="0" rIns="0" tIns="0" bIns="0" anchor="ctr">
            <a:noAutofit/>
          </a:bodyPr>
          <a:lstStyle/>
          <a:p>
            <a:pPr algn="r">
              <a:spcAft>
                <a:spcPts val="400"/>
              </a:spcAft>
            </a:pPr>
            <a:r>
              <a:rPr sz="1150" b="1" lang="en-GB">
                <a:solidFill>
                  <a:schemeClr val="bg1"/>
                </a:solidFill>
              </a:rPr>
              <a:t>sales</a:t>
            </a:r>
          </a:p>
        </p:txBody>
      </p:sp>
      <p:sp>
        <p:nvSpPr>
          <p:cNvPr id="15" name="Data grid 1-3"/>
          <p:cNvSpPr/>
          <p:nvPr/>
        </p:nvSpPr>
        <p:spPr>
          <a:xfrm>
            <a:off x="3017520" y="1572768"/>
            <a:ext cx="978408" cy="27432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Data grid text 1-3"/>
          <p:cNvSpPr txBox="1"/>
          <p:nvPr/>
        </p:nvSpPr>
        <p:spPr>
          <a:xfrm>
            <a:off x="3108960" y="1572768"/>
            <a:ext cx="795528" cy="274320"/>
          </a:xfrm>
          <a:prstGeom prst="rect">
            <a:avLst/>
          </a:prstGeom>
          <a:noFill/>
        </p:spPr>
        <p:txBody>
          <a:bodyPr wrap="square" lIns="0" rIns="0" tIns="0" bIns="0" anchor="ctr">
            <a:noAutofit/>
          </a:bodyPr>
          <a:lstStyle/>
          <a:p>
            <a:pPr algn="r">
              <a:spcAft>
                <a:spcPts val="400"/>
              </a:spcAft>
            </a:pPr>
            <a:r>
              <a:rPr sz="1150" b="1" lang="en-GB">
                <a:solidFill>
                  <a:schemeClr val="bg1"/>
                </a:solidFill>
              </a:rPr>
              <a:t>google</a:t>
            </a:r>
          </a:p>
        </p:txBody>
      </p:sp>
      <p:sp>
        <p:nvSpPr>
          <p:cNvPr id="17" name="Data grid 1-4"/>
          <p:cNvSpPr/>
          <p:nvPr/>
        </p:nvSpPr>
        <p:spPr>
          <a:xfrm>
            <a:off x="4023360" y="1572768"/>
            <a:ext cx="1005840" cy="27432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Data grid text 1-4"/>
          <p:cNvSpPr txBox="1"/>
          <p:nvPr/>
        </p:nvSpPr>
        <p:spPr>
          <a:xfrm>
            <a:off x="4114800" y="1572768"/>
            <a:ext cx="795528" cy="274320"/>
          </a:xfrm>
          <a:prstGeom prst="rect">
            <a:avLst/>
          </a:prstGeom>
          <a:noFill/>
        </p:spPr>
        <p:txBody>
          <a:bodyPr wrap="square" lIns="0" rIns="0" tIns="0" bIns="0" anchor="ctr">
            <a:noAutofit/>
          </a:bodyPr>
          <a:lstStyle/>
          <a:p>
            <a:pPr algn="r">
              <a:spcAft>
                <a:spcPts val="400"/>
              </a:spcAft>
            </a:pPr>
            <a:r>
              <a:rPr sz="1150" b="1" lang="en-GB">
                <a:solidFill>
                  <a:schemeClr val="bg1"/>
                </a:solidFill>
              </a:rPr>
              <a:t>meta</a:t>
            </a:r>
          </a:p>
        </p:txBody>
      </p:sp>
      <p:sp>
        <p:nvSpPr>
          <p:cNvPr id="19" name="Data grid 2-1"/>
          <p:cNvSpPr/>
          <p:nvPr/>
        </p:nvSpPr>
        <p:spPr>
          <a:xfrm>
            <a:off x="457200" y="1874520"/>
            <a:ext cx="1527048" cy="27432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Data grid text 2-1"/>
          <p:cNvSpPr txBox="1"/>
          <p:nvPr/>
        </p:nvSpPr>
        <p:spPr>
          <a:xfrm>
            <a:off x="548640" y="1874520"/>
            <a:ext cx="1344168" cy="274320"/>
          </a:xfrm>
          <a:prstGeom prst="rect">
            <a:avLst/>
          </a:prstGeom>
          <a:noFill/>
        </p:spPr>
        <p:txBody>
          <a:bodyPr wrap="square" lIns="0" rIns="0" tIns="0" bIns="0" anchor="ctr">
            <a:noAutofit/>
          </a:bodyPr>
          <a:lstStyle/>
          <a:p>
            <a:pPr algn="l">
              <a:spcAft>
                <a:spcPts val="400"/>
              </a:spcAft>
            </a:pPr>
            <a:r>
              <a:rPr sz="1150" b="1" lang="en-GB">
                <a:solidFill>
                  <a:schemeClr val="tx2"/>
                </a:solidFill>
              </a:rPr>
              <a:t>26 Jul 2021</a:t>
            </a:r>
          </a:p>
        </p:txBody>
      </p:sp>
      <p:sp>
        <p:nvSpPr>
          <p:cNvPr id="21" name="Data grid 2-2"/>
          <p:cNvSpPr/>
          <p:nvPr/>
        </p:nvSpPr>
        <p:spPr>
          <a:xfrm>
            <a:off x="2011680" y="1874520"/>
            <a:ext cx="978408" cy="27432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Data grid text 2-2"/>
          <p:cNvSpPr txBox="1"/>
          <p:nvPr/>
        </p:nvSpPr>
        <p:spPr>
          <a:xfrm>
            <a:off x="2103120" y="1874520"/>
            <a:ext cx="795528" cy="274320"/>
          </a:xfrm>
          <a:prstGeom prst="rect">
            <a:avLst/>
          </a:prstGeom>
          <a:noFill/>
        </p:spPr>
        <p:txBody>
          <a:bodyPr wrap="square" lIns="0" rIns="0" tIns="0" bIns="0" anchor="ctr">
            <a:noAutofit/>
          </a:bodyPr>
          <a:lstStyle/>
          <a:p>
            <a:pPr algn="r">
              <a:spcAft>
                <a:spcPts val="400"/>
              </a:spcAft>
            </a:pPr>
            <a:r>
              <a:rPr sz="1150" b="0" lang="en-GB">
                <a:solidFill>
                  <a:schemeClr val="tx1"/>
                </a:solidFill>
              </a:rPr>
              <a:t>7.46</a:t>
            </a:r>
          </a:p>
        </p:txBody>
      </p:sp>
      <p:sp>
        <p:nvSpPr>
          <p:cNvPr id="23" name="Data grid 2-3"/>
          <p:cNvSpPr/>
          <p:nvPr/>
        </p:nvSpPr>
        <p:spPr>
          <a:xfrm>
            <a:off x="3017520" y="1874520"/>
            <a:ext cx="978408" cy="27432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Data grid text 2-3"/>
          <p:cNvSpPr txBox="1"/>
          <p:nvPr/>
        </p:nvSpPr>
        <p:spPr>
          <a:xfrm>
            <a:off x="3108960" y="1874520"/>
            <a:ext cx="795528" cy="274320"/>
          </a:xfrm>
          <a:prstGeom prst="rect">
            <a:avLst/>
          </a:prstGeom>
          <a:noFill/>
        </p:spPr>
        <p:txBody>
          <a:bodyPr wrap="square" lIns="0" rIns="0" tIns="0" bIns="0" anchor="ctr">
            <a:noAutofit/>
          </a:bodyPr>
          <a:lstStyle/>
          <a:p>
            <a:pPr algn="r">
              <a:spcAft>
                <a:spcPts val="400"/>
              </a:spcAft>
            </a:pPr>
            <a:r>
              <a:rPr sz="1150" b="0" lang="en-GB">
                <a:solidFill>
                  <a:schemeClr val="tx1"/>
                </a:solidFill>
              </a:rPr>
              <a:t>1.02</a:t>
            </a:r>
          </a:p>
        </p:txBody>
      </p:sp>
      <p:sp>
        <p:nvSpPr>
          <p:cNvPr id="25" name="Data grid 2-4"/>
          <p:cNvSpPr/>
          <p:nvPr/>
        </p:nvSpPr>
        <p:spPr>
          <a:xfrm>
            <a:off x="4023360" y="1874520"/>
            <a:ext cx="1005840" cy="27432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Data grid text 2-4"/>
          <p:cNvSpPr txBox="1"/>
          <p:nvPr/>
        </p:nvSpPr>
        <p:spPr>
          <a:xfrm>
            <a:off x="4114800" y="1874520"/>
            <a:ext cx="795528" cy="274320"/>
          </a:xfrm>
          <a:prstGeom prst="rect">
            <a:avLst/>
          </a:prstGeom>
          <a:noFill/>
        </p:spPr>
        <p:txBody>
          <a:bodyPr wrap="square" lIns="0" rIns="0" tIns="0" bIns="0" anchor="ctr">
            <a:noAutofit/>
          </a:bodyPr>
          <a:lstStyle/>
          <a:p>
            <a:pPr algn="r">
              <a:spcAft>
                <a:spcPts val="400"/>
              </a:spcAft>
            </a:pPr>
            <a:r>
              <a:rPr sz="1150" b="0" lang="en-GB">
                <a:solidFill>
                  <a:schemeClr val="tx1"/>
                </a:solidFill>
              </a:rPr>
              <a:t>0.39</a:t>
            </a:r>
          </a:p>
        </p:txBody>
      </p:sp>
      <p:sp>
        <p:nvSpPr>
          <p:cNvPr id="27" name="Data grid 3-1"/>
          <p:cNvSpPr/>
          <p:nvPr/>
        </p:nvSpPr>
        <p:spPr>
          <a:xfrm>
            <a:off x="457200" y="2176272"/>
            <a:ext cx="1527048" cy="27432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Data grid text 3-1"/>
          <p:cNvSpPr txBox="1"/>
          <p:nvPr/>
        </p:nvSpPr>
        <p:spPr>
          <a:xfrm>
            <a:off x="548640" y="2176272"/>
            <a:ext cx="1344168" cy="274320"/>
          </a:xfrm>
          <a:prstGeom prst="rect">
            <a:avLst/>
          </a:prstGeom>
          <a:noFill/>
        </p:spPr>
        <p:txBody>
          <a:bodyPr wrap="square" lIns="0" rIns="0" tIns="0" bIns="0" anchor="ctr">
            <a:noAutofit/>
          </a:bodyPr>
          <a:lstStyle/>
          <a:p>
            <a:pPr algn="l">
              <a:spcAft>
                <a:spcPts val="400"/>
              </a:spcAft>
            </a:pPr>
            <a:r>
              <a:rPr sz="1150" b="1" lang="en-GB">
                <a:solidFill>
                  <a:schemeClr val="tx2"/>
                </a:solidFill>
              </a:rPr>
              <a:t>2 Aug 2021</a:t>
            </a:r>
          </a:p>
        </p:txBody>
      </p:sp>
      <p:sp>
        <p:nvSpPr>
          <p:cNvPr id="29" name="Data grid 3-2"/>
          <p:cNvSpPr/>
          <p:nvPr/>
        </p:nvSpPr>
        <p:spPr>
          <a:xfrm>
            <a:off x="2011680" y="2176272"/>
            <a:ext cx="978408" cy="27432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Data grid text 3-2"/>
          <p:cNvSpPr txBox="1"/>
          <p:nvPr/>
        </p:nvSpPr>
        <p:spPr>
          <a:xfrm>
            <a:off x="2103120" y="2176272"/>
            <a:ext cx="795528" cy="274320"/>
          </a:xfrm>
          <a:prstGeom prst="rect">
            <a:avLst/>
          </a:prstGeom>
          <a:noFill/>
        </p:spPr>
        <p:txBody>
          <a:bodyPr wrap="square" lIns="0" rIns="0" tIns="0" bIns="0" anchor="ctr">
            <a:noAutofit/>
          </a:bodyPr>
          <a:lstStyle/>
          <a:p>
            <a:pPr algn="r">
              <a:spcAft>
                <a:spcPts val="400"/>
              </a:spcAft>
            </a:pPr>
            <a:r>
              <a:rPr sz="1150" b="0" lang="en-GB">
                <a:solidFill>
                  <a:schemeClr val="tx1"/>
                </a:solidFill>
              </a:rPr>
              <a:t>9.32</a:t>
            </a:r>
          </a:p>
        </p:txBody>
      </p:sp>
      <p:sp>
        <p:nvSpPr>
          <p:cNvPr id="31" name="Data grid 3-3"/>
          <p:cNvSpPr/>
          <p:nvPr/>
        </p:nvSpPr>
        <p:spPr>
          <a:xfrm>
            <a:off x="3017520" y="2176272"/>
            <a:ext cx="978408" cy="27432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Data grid text 3-3"/>
          <p:cNvSpPr txBox="1"/>
          <p:nvPr/>
        </p:nvSpPr>
        <p:spPr>
          <a:xfrm>
            <a:off x="3108960" y="2176272"/>
            <a:ext cx="795528" cy="274320"/>
          </a:xfrm>
          <a:prstGeom prst="rect">
            <a:avLst/>
          </a:prstGeom>
          <a:noFill/>
        </p:spPr>
        <p:txBody>
          <a:bodyPr wrap="square" lIns="0" rIns="0" tIns="0" bIns="0" anchor="ctr">
            <a:noAutofit/>
          </a:bodyPr>
          <a:lstStyle/>
          <a:p>
            <a:pPr algn="r">
              <a:spcAft>
                <a:spcPts val="400"/>
              </a:spcAft>
            </a:pPr>
            <a:r>
              <a:rPr sz="1150" b="0" lang="en-GB">
                <a:solidFill>
                  <a:schemeClr val="tx1"/>
                </a:solidFill>
              </a:rPr>
              <a:t>1.36</a:t>
            </a:r>
          </a:p>
        </p:txBody>
      </p:sp>
      <p:sp>
        <p:nvSpPr>
          <p:cNvPr id="33" name="Data grid 3-4"/>
          <p:cNvSpPr/>
          <p:nvPr/>
        </p:nvSpPr>
        <p:spPr>
          <a:xfrm>
            <a:off x="4023360" y="2176272"/>
            <a:ext cx="1005840" cy="27432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Data grid text 3-4"/>
          <p:cNvSpPr txBox="1"/>
          <p:nvPr/>
        </p:nvSpPr>
        <p:spPr>
          <a:xfrm>
            <a:off x="4114800" y="2176272"/>
            <a:ext cx="795528" cy="274320"/>
          </a:xfrm>
          <a:prstGeom prst="rect">
            <a:avLst/>
          </a:prstGeom>
          <a:noFill/>
        </p:spPr>
        <p:txBody>
          <a:bodyPr wrap="square" lIns="0" rIns="0" tIns="0" bIns="0" anchor="ctr">
            <a:noAutofit/>
          </a:bodyPr>
          <a:lstStyle/>
          <a:p>
            <a:pPr algn="r">
              <a:spcAft>
                <a:spcPts val="400"/>
              </a:spcAft>
            </a:pPr>
            <a:r>
              <a:rPr sz="1150" b="0" lang="en-GB">
                <a:solidFill>
                  <a:schemeClr val="tx1"/>
                </a:solidFill>
              </a:rPr>
              <a:t>0.27</a:t>
            </a:r>
          </a:p>
        </p:txBody>
      </p:sp>
      <p:sp>
        <p:nvSpPr>
          <p:cNvPr id="35" name="Data grid 4-1"/>
          <p:cNvSpPr/>
          <p:nvPr/>
        </p:nvSpPr>
        <p:spPr>
          <a:xfrm>
            <a:off x="457200" y="2478024"/>
            <a:ext cx="1527048" cy="27432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Data grid text 4-1"/>
          <p:cNvSpPr txBox="1"/>
          <p:nvPr/>
        </p:nvSpPr>
        <p:spPr>
          <a:xfrm>
            <a:off x="548640" y="2478024"/>
            <a:ext cx="1344168" cy="274320"/>
          </a:xfrm>
          <a:prstGeom prst="rect">
            <a:avLst/>
          </a:prstGeom>
          <a:noFill/>
        </p:spPr>
        <p:txBody>
          <a:bodyPr wrap="square" lIns="0" rIns="0" tIns="0" bIns="0" anchor="ctr">
            <a:noAutofit/>
          </a:bodyPr>
          <a:lstStyle/>
          <a:p>
            <a:pPr algn="l">
              <a:spcAft>
                <a:spcPts val="400"/>
              </a:spcAft>
            </a:pPr>
            <a:r>
              <a:rPr sz="1150" b="1" lang="en-GB">
                <a:solidFill>
                  <a:schemeClr val="tx2"/>
                </a:solidFill>
              </a:rPr>
              <a:t>9 Aug 2021</a:t>
            </a:r>
          </a:p>
        </p:txBody>
      </p:sp>
      <p:sp>
        <p:nvSpPr>
          <p:cNvPr id="37" name="Data grid 4-2"/>
          <p:cNvSpPr/>
          <p:nvPr/>
        </p:nvSpPr>
        <p:spPr>
          <a:xfrm>
            <a:off x="2011680" y="2478024"/>
            <a:ext cx="978408" cy="27432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Data grid text 4-2"/>
          <p:cNvSpPr txBox="1"/>
          <p:nvPr/>
        </p:nvSpPr>
        <p:spPr>
          <a:xfrm>
            <a:off x="2103120" y="2478024"/>
            <a:ext cx="795528" cy="274320"/>
          </a:xfrm>
          <a:prstGeom prst="rect">
            <a:avLst/>
          </a:prstGeom>
          <a:noFill/>
        </p:spPr>
        <p:txBody>
          <a:bodyPr wrap="square" lIns="0" rIns="0" tIns="0" bIns="0" anchor="ctr">
            <a:noAutofit/>
          </a:bodyPr>
          <a:lstStyle/>
          <a:p>
            <a:pPr algn="r">
              <a:spcAft>
                <a:spcPts val="400"/>
              </a:spcAft>
            </a:pPr>
            <a:r>
              <a:rPr sz="1150" b="0" lang="en-GB">
                <a:solidFill>
                  <a:schemeClr val="tx1"/>
                </a:solidFill>
              </a:rPr>
              <a:t>8.61</a:t>
            </a:r>
          </a:p>
        </p:txBody>
      </p:sp>
      <p:sp>
        <p:nvSpPr>
          <p:cNvPr id="39" name="Data grid 4-3"/>
          <p:cNvSpPr/>
          <p:nvPr/>
        </p:nvSpPr>
        <p:spPr>
          <a:xfrm>
            <a:off x="3017520" y="2478024"/>
            <a:ext cx="978408" cy="27432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Data grid text 4-3"/>
          <p:cNvSpPr txBox="1"/>
          <p:nvPr/>
        </p:nvSpPr>
        <p:spPr>
          <a:xfrm>
            <a:off x="3108960" y="2478024"/>
            <a:ext cx="795528" cy="274320"/>
          </a:xfrm>
          <a:prstGeom prst="rect">
            <a:avLst/>
          </a:prstGeom>
          <a:noFill/>
        </p:spPr>
        <p:txBody>
          <a:bodyPr wrap="square" lIns="0" rIns="0" tIns="0" bIns="0" anchor="ctr">
            <a:noAutofit/>
          </a:bodyPr>
          <a:lstStyle/>
          <a:p>
            <a:pPr algn="r">
              <a:spcAft>
                <a:spcPts val="400"/>
              </a:spcAft>
            </a:pPr>
            <a:r>
              <a:rPr sz="1150" b="0" lang="en-GB">
                <a:solidFill>
                  <a:schemeClr val="tx1"/>
                </a:solidFill>
              </a:rPr>
              <a:t>1.28</a:t>
            </a:r>
          </a:p>
        </p:txBody>
      </p:sp>
      <p:sp>
        <p:nvSpPr>
          <p:cNvPr id="41" name="Data grid 4-4"/>
          <p:cNvSpPr/>
          <p:nvPr/>
        </p:nvSpPr>
        <p:spPr>
          <a:xfrm>
            <a:off x="4023360" y="2478024"/>
            <a:ext cx="1005840" cy="27432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Data grid text 4-4"/>
          <p:cNvSpPr txBox="1"/>
          <p:nvPr/>
        </p:nvSpPr>
        <p:spPr>
          <a:xfrm>
            <a:off x="4114800" y="2478024"/>
            <a:ext cx="795528" cy="274320"/>
          </a:xfrm>
          <a:prstGeom prst="rect">
            <a:avLst/>
          </a:prstGeom>
          <a:noFill/>
        </p:spPr>
        <p:txBody>
          <a:bodyPr wrap="square" lIns="0" rIns="0" tIns="0" bIns="0" anchor="ctr">
            <a:noAutofit/>
          </a:bodyPr>
          <a:lstStyle/>
          <a:p>
            <a:pPr algn="r">
              <a:spcAft>
                <a:spcPts val="400"/>
              </a:spcAft>
            </a:pPr>
            <a:r>
              <a:rPr sz="1150" b="0" lang="en-GB">
                <a:solidFill>
                  <a:schemeClr val="tx1"/>
                </a:solidFill>
              </a:rPr>
              <a:t>0.26</a:t>
            </a:r>
          </a:p>
        </p:txBody>
      </p:sp>
      <p:sp>
        <p:nvSpPr>
          <p:cNvPr id="43" name="Data grid more"/>
          <p:cNvSpPr/>
          <p:nvPr/>
        </p:nvSpPr>
        <p:spPr>
          <a:xfrm>
            <a:off x="457200" y="2779776"/>
            <a:ext cx="4572000" cy="27432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Data grid more text"/>
          <p:cNvSpPr txBox="1"/>
          <p:nvPr/>
        </p:nvSpPr>
        <p:spPr>
          <a:xfrm>
            <a:off x="548640" y="2779776"/>
            <a:ext cx="4361688" cy="274320"/>
          </a:xfrm>
          <a:prstGeom prst="rect">
            <a:avLst/>
          </a:prstGeom>
          <a:noFill/>
        </p:spPr>
        <p:txBody>
          <a:bodyPr wrap="square" lIns="0" rIns="0" tIns="0" bIns="0" anchor="ctr">
            <a:noAutofit/>
          </a:bodyPr>
          <a:lstStyle/>
          <a:p>
            <a:pPr algn="l">
              <a:spcAft>
                <a:spcPts val="400"/>
              </a:spcAft>
            </a:pPr>
            <a:r>
              <a:rPr sz="1150" b="0" lang="en-GB">
                <a:solidFill>
                  <a:srgbClr val="595959"/>
                </a:solidFill>
              </a:rPr>
              <a:t>… 134 weeks in all</a:t>
            </a:r>
          </a:p>
        </p:txBody>
      </p:sp>
      <p:sp>
        <p:nvSpPr>
          <p:cNvPr id="45" name="Column row 1 row"/>
          <p:cNvSpPr/>
          <p:nvPr/>
        </p:nvSpPr>
        <p:spPr>
          <a:xfrm>
            <a:off x="457200" y="3145536"/>
            <a:ext cx="4572000" cy="41148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6" name="Column row 1 bar"/>
          <p:cNvSpPr/>
          <p:nvPr/>
        </p:nvSpPr>
        <p:spPr>
          <a:xfrm>
            <a:off x="457200" y="3145536"/>
            <a:ext cx="64008" cy="4114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7" name="Column row 1 text"/>
          <p:cNvSpPr txBox="1"/>
          <p:nvPr/>
        </p:nvSpPr>
        <p:spPr>
          <a:xfrm>
            <a:off x="658368" y="3145536"/>
            <a:ext cx="4279392" cy="411480"/>
          </a:xfrm>
          <a:prstGeom prst="rect">
            <a:avLst/>
          </a:prstGeom>
          <a:noFill/>
        </p:spPr>
        <p:txBody>
          <a:bodyPr wrap="square" lIns="0" rIns="0" tIns="0" bIns="0" anchor="ctr">
            <a:noAutofit/>
          </a:bodyPr>
          <a:lstStyle/>
          <a:p>
            <a:pPr algn="l">
              <a:spcAft>
                <a:spcPts val="400"/>
              </a:spcAft>
            </a:pPr>
            <a:r>
              <a:rPr sz="1150" b="1" lang="en-GB">
                <a:solidFill>
                  <a:schemeClr val="tx2"/>
                </a:solidFill>
              </a:rPr>
              <a:t>sales: </a:t>
            </a:r>
            <a:r>
              <a:rPr sz="1150" b="0" lang="en-GB">
                <a:solidFill>
                  <a:schemeClr val="tx1"/>
                </a:solidFill>
              </a:rPr>
              <a:t>goods ordered in the web shop, k EUR</a:t>
            </a:r>
          </a:p>
        </p:txBody>
      </p:sp>
      <p:sp>
        <p:nvSpPr>
          <p:cNvPr id="48" name="Column row 2 row"/>
          <p:cNvSpPr/>
          <p:nvPr/>
        </p:nvSpPr>
        <p:spPr>
          <a:xfrm>
            <a:off x="457200" y="3648456"/>
            <a:ext cx="4572000" cy="41148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9" name="Column row 2 bar"/>
          <p:cNvSpPr/>
          <p:nvPr/>
        </p:nvSpPr>
        <p:spPr>
          <a:xfrm>
            <a:off x="457200" y="3648456"/>
            <a:ext cx="64008" cy="4114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0" name="Column row 2 text"/>
          <p:cNvSpPr txBox="1"/>
          <p:nvPr/>
        </p:nvSpPr>
        <p:spPr>
          <a:xfrm>
            <a:off x="658368" y="3648456"/>
            <a:ext cx="4279392" cy="411480"/>
          </a:xfrm>
          <a:prstGeom prst="rect">
            <a:avLst/>
          </a:prstGeom>
          <a:noFill/>
        </p:spPr>
        <p:txBody>
          <a:bodyPr wrap="square" lIns="0" rIns="0" tIns="0" bIns="0" anchor="ctr">
            <a:noAutofit/>
          </a:bodyPr>
          <a:lstStyle/>
          <a:p>
            <a:pPr algn="l">
              <a:spcAft>
                <a:spcPts val="400"/>
              </a:spcAft>
            </a:pPr>
            <a:r>
              <a:rPr sz="1150" b="1" lang="en-GB">
                <a:solidFill>
                  <a:schemeClr val="tx2"/>
                </a:solidFill>
              </a:rPr>
              <a:t>google: </a:t>
            </a:r>
            <a:r>
              <a:rPr sz="1150" b="0" lang="en-GB">
                <a:solidFill>
                  <a:schemeClr val="tx1"/>
                </a:solidFill>
              </a:rPr>
              <a:t>spend on all Google ads, k EUR</a:t>
            </a:r>
          </a:p>
        </p:txBody>
      </p:sp>
      <p:sp>
        <p:nvSpPr>
          <p:cNvPr id="51" name="Column row 3 row"/>
          <p:cNvSpPr/>
          <p:nvPr/>
        </p:nvSpPr>
        <p:spPr>
          <a:xfrm>
            <a:off x="457200" y="4151376"/>
            <a:ext cx="4572000" cy="41148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2" name="Column row 3 bar"/>
          <p:cNvSpPr/>
          <p:nvPr/>
        </p:nvSpPr>
        <p:spPr>
          <a:xfrm>
            <a:off x="457200" y="4151376"/>
            <a:ext cx="64008" cy="4114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3" name="Column row 3 text"/>
          <p:cNvSpPr txBox="1"/>
          <p:nvPr/>
        </p:nvSpPr>
        <p:spPr>
          <a:xfrm>
            <a:off x="658368" y="4151376"/>
            <a:ext cx="4279392" cy="411480"/>
          </a:xfrm>
          <a:prstGeom prst="rect">
            <a:avLst/>
          </a:prstGeom>
          <a:noFill/>
        </p:spPr>
        <p:txBody>
          <a:bodyPr wrap="square" lIns="0" rIns="0" tIns="0" bIns="0" anchor="ctr">
            <a:noAutofit/>
          </a:bodyPr>
          <a:lstStyle/>
          <a:p>
            <a:pPr algn="l">
              <a:spcAft>
                <a:spcPts val="400"/>
              </a:spcAft>
            </a:pPr>
            <a:r>
              <a:rPr sz="1150" b="1" lang="en-GB">
                <a:solidFill>
                  <a:schemeClr val="tx2"/>
                </a:solidFill>
              </a:rPr>
              <a:t>meta: </a:t>
            </a:r>
            <a:r>
              <a:rPr sz="1150" b="0" lang="en-GB">
                <a:solidFill>
                  <a:schemeClr val="tx1"/>
                </a:solidFill>
              </a:rPr>
              <a:t>spend on Facebook and Instagram ads, k EUR</a:t>
            </a:r>
          </a:p>
        </p:txBody>
      </p:sp>
      <p:sp>
        <p:nvSpPr>
          <p:cNvPr id="54" name="Data stat 1 box"/>
          <p:cNvSpPr/>
          <p:nvPr/>
        </p:nvSpPr>
        <p:spPr>
          <a:xfrm>
            <a:off x="5166360" y="1234440"/>
            <a:ext cx="3520440" cy="1048512"/>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5" name="Data stat 1 bar"/>
          <p:cNvSpPr/>
          <p:nvPr/>
        </p:nvSpPr>
        <p:spPr>
          <a:xfrm>
            <a:off x="5166360" y="1234440"/>
            <a:ext cx="64008" cy="104851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6" name="Data stat 1 figure"/>
          <p:cNvSpPr txBox="1"/>
          <p:nvPr/>
        </p:nvSpPr>
        <p:spPr>
          <a:xfrm>
            <a:off x="5349240" y="1234440"/>
            <a:ext cx="1234440" cy="1048512"/>
          </a:xfrm>
          <a:prstGeom prst="rect">
            <a:avLst/>
          </a:prstGeom>
          <a:noFill/>
        </p:spPr>
        <p:txBody>
          <a:bodyPr wrap="square" lIns="0" rIns="0" tIns="0" bIns="0" anchor="ctr">
            <a:noAutofit/>
          </a:bodyPr>
          <a:lstStyle/>
          <a:p>
            <a:pPr algn="l">
              <a:spcAft>
                <a:spcPts val="400"/>
              </a:spcAft>
            </a:pPr>
            <a:r>
              <a:rPr sz="2800" b="1" lang="en-GB">
                <a:solidFill>
                  <a:schemeClr val="tx2"/>
                </a:solidFill>
                <a:latin typeface="+mj-lt"/>
              </a:rPr>
              <a:t>3,180</a:t>
            </a:r>
          </a:p>
        </p:txBody>
      </p:sp>
      <p:sp>
        <p:nvSpPr>
          <p:cNvPr id="57" name="Data stat 1 label"/>
          <p:cNvSpPr txBox="1"/>
          <p:nvPr/>
        </p:nvSpPr>
        <p:spPr>
          <a:xfrm>
            <a:off x="6583680" y="1234440"/>
            <a:ext cx="2011680" cy="1048512"/>
          </a:xfrm>
          <a:prstGeom prst="rect">
            <a:avLst/>
          </a:prstGeom>
          <a:noFill/>
        </p:spPr>
        <p:txBody>
          <a:bodyPr wrap="square" lIns="0" rIns="0" tIns="0" bIns="0" anchor="ctr">
            <a:noAutofit/>
          </a:bodyPr>
          <a:lstStyle/>
          <a:p>
            <a:pPr algn="l">
              <a:spcAft>
                <a:spcPts val="400"/>
              </a:spcAft>
            </a:pPr>
            <a:r>
              <a:rPr sz="1150" b="1" lang="en-GB">
                <a:solidFill>
                  <a:schemeClr val="tx2"/>
                </a:solidFill>
              </a:rPr>
              <a:t>k EUR of sales </a:t>
            </a:r>
            <a:r>
              <a:rPr sz="1150" b="0" lang="en-GB">
                <a:solidFill>
                  <a:schemeClr val="tx1"/>
                </a:solidFill>
              </a:rPr>
              <a:t>in 134 weeks</a:t>
            </a:r>
          </a:p>
        </p:txBody>
      </p:sp>
      <p:sp>
        <p:nvSpPr>
          <p:cNvPr id="58" name="Data stat 2 box"/>
          <p:cNvSpPr/>
          <p:nvPr/>
        </p:nvSpPr>
        <p:spPr>
          <a:xfrm>
            <a:off x="5166360" y="2374392"/>
            <a:ext cx="3520440" cy="1048512"/>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9" name="Data stat 2 bar"/>
          <p:cNvSpPr/>
          <p:nvPr/>
        </p:nvSpPr>
        <p:spPr>
          <a:xfrm>
            <a:off x="5166360" y="2374392"/>
            <a:ext cx="64008" cy="104851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0" name="Data stat 2 figure"/>
          <p:cNvSpPr txBox="1"/>
          <p:nvPr/>
        </p:nvSpPr>
        <p:spPr>
          <a:xfrm>
            <a:off x="5349240" y="2374392"/>
            <a:ext cx="1234440" cy="1048512"/>
          </a:xfrm>
          <a:prstGeom prst="rect">
            <a:avLst/>
          </a:prstGeom>
          <a:noFill/>
        </p:spPr>
        <p:txBody>
          <a:bodyPr wrap="square" lIns="0" rIns="0" tIns="0" bIns="0" anchor="ctr">
            <a:noAutofit/>
          </a:bodyPr>
          <a:lstStyle/>
          <a:p>
            <a:pPr algn="l">
              <a:spcAft>
                <a:spcPts val="400"/>
              </a:spcAft>
            </a:pPr>
            <a:r>
              <a:rPr sz="2800" b="1" lang="en-GB">
                <a:solidFill>
                  <a:schemeClr val="tx2"/>
                </a:solidFill>
                <a:latin typeface="+mj-lt"/>
              </a:rPr>
              <a:t>561</a:t>
            </a:r>
          </a:p>
        </p:txBody>
      </p:sp>
      <p:sp>
        <p:nvSpPr>
          <p:cNvPr id="61" name="Data stat 2 label"/>
          <p:cNvSpPr txBox="1"/>
          <p:nvPr/>
        </p:nvSpPr>
        <p:spPr>
          <a:xfrm>
            <a:off x="6583680" y="2374392"/>
            <a:ext cx="2011680" cy="1048512"/>
          </a:xfrm>
          <a:prstGeom prst="rect">
            <a:avLst/>
          </a:prstGeom>
          <a:noFill/>
        </p:spPr>
        <p:txBody>
          <a:bodyPr wrap="square" lIns="0" rIns="0" tIns="0" bIns="0" anchor="ctr">
            <a:noAutofit/>
          </a:bodyPr>
          <a:lstStyle/>
          <a:p>
            <a:pPr algn="l">
              <a:spcAft>
                <a:spcPts val="400"/>
              </a:spcAft>
            </a:pPr>
            <a:r>
              <a:rPr sz="1150" b="1" lang="en-GB">
                <a:solidFill>
                  <a:schemeClr val="tx2"/>
                </a:solidFill>
              </a:rPr>
              <a:t>k EUR of spend: </a:t>
            </a:r>
            <a:r>
              <a:rPr sz="1150" b="0" lang="en-GB">
                <a:solidFill>
                  <a:schemeClr val="tx1"/>
                </a:solidFill>
              </a:rPr>
              <a:t>Google 87.5 %, Meta 12.5 %</a:t>
            </a:r>
          </a:p>
        </p:txBody>
      </p:sp>
      <p:sp>
        <p:nvSpPr>
          <p:cNvPr id="62" name="Data stat 3 box"/>
          <p:cNvSpPr/>
          <p:nvPr/>
        </p:nvSpPr>
        <p:spPr>
          <a:xfrm>
            <a:off x="5166360" y="3514344"/>
            <a:ext cx="3520440" cy="1048512"/>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3" name="Data stat 3 bar"/>
          <p:cNvSpPr/>
          <p:nvPr/>
        </p:nvSpPr>
        <p:spPr>
          <a:xfrm>
            <a:off x="5166360" y="3514344"/>
            <a:ext cx="64008" cy="104851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4" name="Data stat 3 figure"/>
          <p:cNvSpPr txBox="1"/>
          <p:nvPr/>
        </p:nvSpPr>
        <p:spPr>
          <a:xfrm>
            <a:off x="5349240" y="3514344"/>
            <a:ext cx="1234440" cy="1048512"/>
          </a:xfrm>
          <a:prstGeom prst="rect">
            <a:avLst/>
          </a:prstGeom>
          <a:noFill/>
        </p:spPr>
        <p:txBody>
          <a:bodyPr wrap="square" lIns="0" rIns="0" tIns="0" bIns="0" anchor="ctr">
            <a:noAutofit/>
          </a:bodyPr>
          <a:lstStyle/>
          <a:p>
            <a:pPr algn="l">
              <a:spcAft>
                <a:spcPts val="400"/>
              </a:spcAft>
            </a:pPr>
            <a:r>
              <a:rPr sz="2800" b="1" lang="en-GB">
                <a:solidFill>
                  <a:schemeClr val="tx2"/>
                </a:solidFill>
                <a:latin typeface="+mj-lt"/>
              </a:rPr>
              <a:t>2.6</a:t>
            </a:r>
          </a:p>
        </p:txBody>
      </p:sp>
      <p:sp>
        <p:nvSpPr>
          <p:cNvPr id="65" name="Data stat 3 label"/>
          <p:cNvSpPr txBox="1"/>
          <p:nvPr/>
        </p:nvSpPr>
        <p:spPr>
          <a:xfrm>
            <a:off x="6583680" y="3514344"/>
            <a:ext cx="2011680" cy="1048512"/>
          </a:xfrm>
          <a:prstGeom prst="rect">
            <a:avLst/>
          </a:prstGeom>
          <a:noFill/>
        </p:spPr>
        <p:txBody>
          <a:bodyPr wrap="square" lIns="0" rIns="0" tIns="0" bIns="0" anchor="ctr">
            <a:noAutofit/>
          </a:bodyPr>
          <a:lstStyle/>
          <a:p>
            <a:pPr algn="l">
              <a:spcAft>
                <a:spcPts val="400"/>
              </a:spcAft>
            </a:pPr>
            <a:r>
              <a:rPr sz="1150" b="1" lang="en-GB">
                <a:solidFill>
                  <a:schemeClr val="tx2"/>
                </a:solidFill>
              </a:rPr>
              <a:t>years: </a:t>
            </a:r>
            <a:r>
              <a:rPr sz="1150" b="0" lang="en-GB">
                <a:solidFill>
                  <a:schemeClr val="tx1"/>
                </a:solidFill>
              </a:rPr>
              <a:t>Germany and Switzerland are in the file too</a:t>
            </a:r>
          </a:p>
        </p:txBody>
      </p:sp>
      <p:sp>
        <p:nvSpPr>
          <p:cNvPr id="66" name="Sources"/>
          <p:cNvSpPr txBox="1"/>
          <p:nvPr/>
        </p:nvSpPr>
        <p:spPr>
          <a:xfrm>
            <a:off x="457200" y="4663440"/>
            <a:ext cx="8229600" cy="411480"/>
          </a:xfrm>
          <a:prstGeom prst="rect">
            <a:avLst/>
          </a:prstGeom>
          <a:noFill/>
        </p:spPr>
        <p:txBody>
          <a:bodyPr wrap="square" lIns="0" rIns="0" tIns="0" bIns="0" anchor="b">
            <a:noAutofit/>
          </a:bodyPr>
          <a:lstStyle/>
          <a:p>
            <a:pPr algn="l">
              <a:spcAft>
                <a:spcPts val="0"/>
              </a:spcAft>
            </a:pPr>
            <a:r>
              <a:rPr sz="1100" b="0" lang="en-GB">
                <a:solidFill>
                  <a:srgbClr val="595959"/>
                </a:solidFill>
              </a:rPr>
              <a:t>Data: Anderson (2024), Conjura multi-region MMM dataset, figshare, CC BY 4.0; weekly sums by the course</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Spend follows demand: a warning</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pic>
        <p:nvPicPr>
          <p:cNvPr id="10" name="Chart mm_m3_series.png" descr="Two panels, 26 Jul 2021 to 12 Feb 2024: weekly sales in k EUR (top) and weekly spend on Google and Meta (bottom); sales and Google spend peak together in the Black Friday weeks, which are shaded; Meta spend stays low."/>
          <p:cNvPicPr>
            <a:picLocks noChangeAspect="1"/>
          </p:cNvPicPr>
          <p:nvPr/>
        </p:nvPicPr>
        <p:blipFill>
          <a:blip r:embed="rId3"/>
          <a:stretch>
            <a:fillRect/>
          </a:stretch>
        </p:blipFill>
        <p:spPr>
          <a:xfrm>
            <a:off x="457200" y="1234440"/>
            <a:ext cx="5120640" cy="2743200"/>
          </a:xfrm>
          <a:prstGeom prst="rect">
            <a:avLst/>
          </a:prstGeom>
        </p:spPr>
      </p:pic>
      <p:sp>
        <p:nvSpPr>
          <p:cNvPr id="11" name="Demand stat 1 box"/>
          <p:cNvSpPr/>
          <p:nvPr/>
        </p:nvSpPr>
        <p:spPr>
          <a:xfrm>
            <a:off x="5715000" y="1234440"/>
            <a:ext cx="2971800" cy="85344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Demand stat 1 bar"/>
          <p:cNvSpPr/>
          <p:nvPr/>
        </p:nvSpPr>
        <p:spPr>
          <a:xfrm>
            <a:off x="5715000" y="1234440"/>
            <a:ext cx="64008" cy="853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Demand stat 1 figure"/>
          <p:cNvSpPr txBox="1"/>
          <p:nvPr/>
        </p:nvSpPr>
        <p:spPr>
          <a:xfrm>
            <a:off x="5897880" y="1234440"/>
            <a:ext cx="1051560" cy="853440"/>
          </a:xfrm>
          <a:prstGeom prst="rect">
            <a:avLst/>
          </a:prstGeom>
          <a:noFill/>
        </p:spPr>
        <p:txBody>
          <a:bodyPr wrap="square" lIns="0" rIns="0" tIns="0" bIns="0" anchor="ctr">
            <a:noAutofit/>
          </a:bodyPr>
          <a:lstStyle/>
          <a:p>
            <a:pPr algn="l">
              <a:spcAft>
                <a:spcPts val="400"/>
              </a:spcAft>
            </a:pPr>
            <a:r>
              <a:rPr sz="2800" b="1" lang="en-GB">
                <a:solidFill>
                  <a:schemeClr val="tx2"/>
                </a:solidFill>
                <a:latin typeface="+mj-lt"/>
              </a:rPr>
              <a:t>7.03</a:t>
            </a:r>
          </a:p>
        </p:txBody>
      </p:sp>
      <p:sp>
        <p:nvSpPr>
          <p:cNvPr id="14" name="Demand stat 1 label"/>
          <p:cNvSpPr txBox="1"/>
          <p:nvPr/>
        </p:nvSpPr>
        <p:spPr>
          <a:xfrm>
            <a:off x="6949440" y="1234440"/>
            <a:ext cx="1645920" cy="853440"/>
          </a:xfrm>
          <a:prstGeom prst="rect">
            <a:avLst/>
          </a:prstGeom>
          <a:noFill/>
        </p:spPr>
        <p:txBody>
          <a:bodyPr wrap="square" lIns="0" rIns="0" tIns="0" bIns="0" anchor="ctr">
            <a:noAutofit/>
          </a:bodyPr>
          <a:lstStyle/>
          <a:p>
            <a:pPr algn="l">
              <a:spcAft>
                <a:spcPts val="400"/>
              </a:spcAft>
            </a:pPr>
            <a:r>
              <a:rPr sz="1150" b="1" lang="en-GB">
                <a:solidFill>
                  <a:schemeClr val="tx2"/>
                </a:solidFill>
              </a:rPr>
              <a:t>k EUR on Google </a:t>
            </a:r>
            <a:r>
              <a:rPr sz="1150" b="0" lang="en-GB">
                <a:solidFill>
                  <a:schemeClr val="tx1"/>
                </a:solidFill>
              </a:rPr>
              <a:t>a week in the 10 best weeks …</a:t>
            </a:r>
          </a:p>
        </p:txBody>
      </p:sp>
      <p:sp>
        <p:nvSpPr>
          <p:cNvPr id="15" name="Demand stat 2 box"/>
          <p:cNvSpPr/>
          <p:nvPr/>
        </p:nvSpPr>
        <p:spPr>
          <a:xfrm>
            <a:off x="5715000" y="2179320"/>
            <a:ext cx="2971800" cy="85344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Demand stat 2 bar"/>
          <p:cNvSpPr/>
          <p:nvPr/>
        </p:nvSpPr>
        <p:spPr>
          <a:xfrm>
            <a:off x="5715000" y="2179320"/>
            <a:ext cx="64008" cy="853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Demand stat 2 figure"/>
          <p:cNvSpPr txBox="1"/>
          <p:nvPr/>
        </p:nvSpPr>
        <p:spPr>
          <a:xfrm>
            <a:off x="5897880" y="2179320"/>
            <a:ext cx="1051560" cy="853440"/>
          </a:xfrm>
          <a:prstGeom prst="rect">
            <a:avLst/>
          </a:prstGeom>
          <a:noFill/>
        </p:spPr>
        <p:txBody>
          <a:bodyPr wrap="square" lIns="0" rIns="0" tIns="0" bIns="0" anchor="ctr">
            <a:noAutofit/>
          </a:bodyPr>
          <a:lstStyle/>
          <a:p>
            <a:pPr algn="l">
              <a:spcAft>
                <a:spcPts val="400"/>
              </a:spcAft>
            </a:pPr>
            <a:r>
              <a:rPr sz="2800" b="1" lang="en-GB">
                <a:solidFill>
                  <a:schemeClr val="tx2"/>
                </a:solidFill>
                <a:latin typeface="+mj-lt"/>
              </a:rPr>
              <a:t>3.39</a:t>
            </a:r>
          </a:p>
        </p:txBody>
      </p:sp>
      <p:sp>
        <p:nvSpPr>
          <p:cNvPr id="18" name="Demand stat 2 label"/>
          <p:cNvSpPr txBox="1"/>
          <p:nvPr/>
        </p:nvSpPr>
        <p:spPr>
          <a:xfrm>
            <a:off x="6949440" y="2179320"/>
            <a:ext cx="1645920" cy="853440"/>
          </a:xfrm>
          <a:prstGeom prst="rect">
            <a:avLst/>
          </a:prstGeom>
          <a:noFill/>
        </p:spPr>
        <p:txBody>
          <a:bodyPr wrap="square" lIns="0" rIns="0" tIns="0" bIns="0" anchor="ctr">
            <a:noAutofit/>
          </a:bodyPr>
          <a:lstStyle/>
          <a:p>
            <a:pPr algn="l">
              <a:spcAft>
                <a:spcPts val="400"/>
              </a:spcAft>
            </a:pPr>
            <a:r>
              <a:rPr sz="1150" b="1" lang="en-GB">
                <a:solidFill>
                  <a:schemeClr val="tx2"/>
                </a:solidFill>
              </a:rPr>
              <a:t>… and </a:t>
            </a:r>
            <a:r>
              <a:rPr sz="1150" b="0" lang="en-GB">
                <a:solidFill>
                  <a:schemeClr val="tx1"/>
                </a:solidFill>
              </a:rPr>
              <a:t>in the other 124 weeks</a:t>
            </a:r>
          </a:p>
        </p:txBody>
      </p:sp>
      <p:sp>
        <p:nvSpPr>
          <p:cNvPr id="19" name="Demand stat 3 box"/>
          <p:cNvSpPr/>
          <p:nvPr/>
        </p:nvSpPr>
        <p:spPr>
          <a:xfrm>
            <a:off x="5715000" y="3124200"/>
            <a:ext cx="2971800" cy="85344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Demand stat 3 bar"/>
          <p:cNvSpPr/>
          <p:nvPr/>
        </p:nvSpPr>
        <p:spPr>
          <a:xfrm>
            <a:off x="5715000" y="3124200"/>
            <a:ext cx="64008" cy="853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Demand stat 3 figure"/>
          <p:cNvSpPr txBox="1"/>
          <p:nvPr/>
        </p:nvSpPr>
        <p:spPr>
          <a:xfrm>
            <a:off x="5897880" y="3124200"/>
            <a:ext cx="1051560" cy="853440"/>
          </a:xfrm>
          <a:prstGeom prst="rect">
            <a:avLst/>
          </a:prstGeom>
          <a:noFill/>
        </p:spPr>
        <p:txBody>
          <a:bodyPr wrap="square" lIns="0" rIns="0" tIns="0" bIns="0" anchor="ctr">
            <a:noAutofit/>
          </a:bodyPr>
          <a:lstStyle/>
          <a:p>
            <a:pPr algn="l">
              <a:spcAft>
                <a:spcPts val="400"/>
              </a:spcAft>
            </a:pPr>
            <a:r>
              <a:rPr sz="2800" b="1" lang="en-GB">
                <a:solidFill>
                  <a:schemeClr val="tx2"/>
                </a:solidFill>
                <a:latin typeface="+mj-lt"/>
              </a:rPr>
              <a:t>0.68</a:t>
            </a:r>
          </a:p>
        </p:txBody>
      </p:sp>
      <p:sp>
        <p:nvSpPr>
          <p:cNvPr id="22" name="Demand stat 3 label"/>
          <p:cNvSpPr txBox="1"/>
          <p:nvPr/>
        </p:nvSpPr>
        <p:spPr>
          <a:xfrm>
            <a:off x="6949440" y="3124200"/>
            <a:ext cx="1645920" cy="853440"/>
          </a:xfrm>
          <a:prstGeom prst="rect">
            <a:avLst/>
          </a:prstGeom>
          <a:noFill/>
        </p:spPr>
        <p:txBody>
          <a:bodyPr wrap="square" lIns="0" rIns="0" tIns="0" bIns="0" anchor="ctr">
            <a:noAutofit/>
          </a:bodyPr>
          <a:lstStyle/>
          <a:p>
            <a:pPr algn="l">
              <a:spcAft>
                <a:spcPts val="400"/>
              </a:spcAft>
            </a:pPr>
            <a:r>
              <a:rPr sz="1150" b="1" lang="en-GB">
                <a:solidFill>
                  <a:schemeClr val="tx2"/>
                </a:solidFill>
              </a:rPr>
              <a:t>correlation </a:t>
            </a:r>
            <a:r>
              <a:rPr sz="1150" b="0" lang="en-GB">
                <a:solidFill>
                  <a:schemeClr val="tx1"/>
                </a:solidFill>
              </a:rPr>
              <a:t>of sales and Google spend</a:t>
            </a:r>
          </a:p>
        </p:txBody>
      </p:sp>
      <p:sp>
        <p:nvSpPr>
          <p:cNvPr id="23" name="Demand callout box"/>
          <p:cNvSpPr/>
          <p:nvPr/>
        </p:nvSpPr>
        <p:spPr>
          <a:xfrm>
            <a:off x="457200" y="4114800"/>
            <a:ext cx="8229600" cy="50292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Demand callout text"/>
          <p:cNvSpPr txBox="1"/>
          <p:nvPr/>
        </p:nvSpPr>
        <p:spPr>
          <a:xfrm>
            <a:off x="658368" y="4114800"/>
            <a:ext cx="7827264" cy="502920"/>
          </a:xfrm>
          <a:prstGeom prst="rect">
            <a:avLst/>
          </a:prstGeom>
          <a:noFill/>
        </p:spPr>
        <p:txBody>
          <a:bodyPr wrap="square" lIns="0" rIns="0" tIns="0" bIns="0" anchor="ctr">
            <a:noAutofit/>
          </a:bodyPr>
          <a:lstStyle/>
          <a:p>
            <a:pPr algn="l">
              <a:spcAft>
                <a:spcPts val="400"/>
              </a:spcAft>
            </a:pPr>
            <a:r>
              <a:rPr sz="1200" b="1" lang="en-GB">
                <a:solidFill>
                  <a:schemeClr val="bg1"/>
                </a:solidFill>
              </a:rPr>
              <a:t>Spend follows demand: </a:t>
            </a:r>
            <a:r>
              <a:rPr sz="1200" b="0" lang="en-GB">
                <a:solidFill>
                  <a:schemeClr val="bg1"/>
                </a:solidFill>
              </a:rPr>
              <a:t>shopping ads spend more when more people search.</a:t>
            </a:r>
          </a:p>
        </p:txBody>
      </p:sp>
      <p:sp>
        <p:nvSpPr>
          <p:cNvPr id="25" name="Sources"/>
          <p:cNvSpPr txBox="1"/>
          <p:nvPr/>
        </p:nvSpPr>
        <p:spPr>
          <a:xfrm>
            <a:off x="457200" y="4818888"/>
            <a:ext cx="8229600" cy="256032"/>
          </a:xfrm>
          <a:prstGeom prst="rect">
            <a:avLst/>
          </a:prstGeom>
          <a:noFill/>
        </p:spPr>
        <p:txBody>
          <a:bodyPr wrap="square" lIns="0" rIns="0" tIns="0" bIns="0" anchor="ctr">
            <a:noAutofit/>
          </a:bodyPr>
          <a:lstStyle/>
          <a:p>
            <a:pPr algn="l">
              <a:spcAft>
                <a:spcPts val="0"/>
              </a:spcAft>
            </a:pPr>
            <a:r>
              <a:rPr sz="1100" b="0" lang="en-GB">
                <a:solidFill>
                  <a:srgbClr val="595959"/>
                </a:solidFill>
              </a:rPr>
              <a:t>Data: Conjura MMM dataset (Anderson 2024), CC BY 4.0</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What the model says: contributions and ROI</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pic>
        <p:nvPicPr>
          <p:cNvPr id="10" name="Chart mm_m3_roi.png" descr="Interval chart of the ROI in the PyMC-Marketing model: Google 3.38 (94 % interval 2.33 to 4.65), Meta 9.45 (6.66 to 12.18); grey diamonds mark the OLS ROI of Step 6, 3.56 and 7.78, inside both intervals."/>
          <p:cNvPicPr>
            <a:picLocks noChangeAspect="1"/>
          </p:cNvPicPr>
          <p:nvPr/>
        </p:nvPicPr>
        <p:blipFill>
          <a:blip r:embed="rId3"/>
          <a:stretch>
            <a:fillRect/>
          </a:stretch>
        </p:blipFill>
        <p:spPr>
          <a:xfrm>
            <a:off x="457200" y="1234440"/>
            <a:ext cx="4754880" cy="2377440"/>
          </a:xfrm>
          <a:prstGeom prst="rect">
            <a:avLst/>
          </a:prstGeom>
        </p:spPr>
      </p:pic>
      <p:sp>
        <p:nvSpPr>
          <p:cNvPr id="11" name="ROI caption"/>
          <p:cNvSpPr txBox="1"/>
          <p:nvPr/>
        </p:nvSpPr>
        <p:spPr>
          <a:xfrm>
            <a:off x="457200" y="3657600"/>
            <a:ext cx="4754880" cy="274320"/>
          </a:xfrm>
          <a:prstGeom prst="rect">
            <a:avLst/>
          </a:prstGeom>
          <a:noFill/>
        </p:spPr>
        <p:txBody>
          <a:bodyPr wrap="square" lIns="0" rIns="0" tIns="0" bIns="0" anchor="ctr">
            <a:noAutofit/>
          </a:bodyPr>
          <a:lstStyle/>
          <a:p>
            <a:pPr algn="l">
              <a:spcAft>
                <a:spcPts val="400"/>
              </a:spcAft>
            </a:pPr>
            <a:r>
              <a:rPr sz="1100" b="0" lang="en-GB">
                <a:solidFill>
                  <a:srgbClr val="595959"/>
                </a:solidFill>
              </a:rPr>
              <a:t>ROI with 94 % interval (PyMC-Marketing); ◆ OLS of Step 6</a:t>
            </a:r>
          </a:p>
        </p:txBody>
      </p:sp>
      <p:sp>
        <p:nvSpPr>
          <p:cNvPr id="12" name="Model stat 1 box"/>
          <p:cNvSpPr/>
          <p:nvPr/>
        </p:nvSpPr>
        <p:spPr>
          <a:xfrm>
            <a:off x="5349240" y="1234440"/>
            <a:ext cx="3337560" cy="8382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Model stat 1 bar"/>
          <p:cNvSpPr/>
          <p:nvPr/>
        </p:nvSpPr>
        <p:spPr>
          <a:xfrm>
            <a:off x="5349240" y="1234440"/>
            <a:ext cx="64008" cy="8382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Model stat 1 figure"/>
          <p:cNvSpPr txBox="1"/>
          <p:nvPr/>
        </p:nvSpPr>
        <p:spPr>
          <a:xfrm>
            <a:off x="5532120" y="1234440"/>
            <a:ext cx="1097280" cy="838200"/>
          </a:xfrm>
          <a:prstGeom prst="rect">
            <a:avLst/>
          </a:prstGeom>
          <a:noFill/>
        </p:spPr>
        <p:txBody>
          <a:bodyPr wrap="square" lIns="0" rIns="0" tIns="0" bIns="0" anchor="ctr">
            <a:noAutofit/>
          </a:bodyPr>
          <a:lstStyle/>
          <a:p>
            <a:pPr algn="l">
              <a:spcAft>
                <a:spcPts val="400"/>
              </a:spcAft>
            </a:pPr>
            <a:r>
              <a:rPr sz="2800" b="1" lang="en-GB">
                <a:solidFill>
                  <a:schemeClr val="tx2"/>
                </a:solidFill>
                <a:latin typeface="+mj-lt"/>
              </a:rPr>
              <a:t>52 %</a:t>
            </a:r>
          </a:p>
        </p:txBody>
      </p:sp>
      <p:sp>
        <p:nvSpPr>
          <p:cNvPr id="15" name="Model stat 1 label"/>
          <p:cNvSpPr txBox="1"/>
          <p:nvPr/>
        </p:nvSpPr>
        <p:spPr>
          <a:xfrm>
            <a:off x="6629400" y="1234440"/>
            <a:ext cx="1965960" cy="838200"/>
          </a:xfrm>
          <a:prstGeom prst="rect">
            <a:avLst/>
          </a:prstGeom>
          <a:noFill/>
        </p:spPr>
        <p:txBody>
          <a:bodyPr wrap="square" lIns="0" rIns="0" tIns="0" bIns="0" anchor="ctr">
            <a:noAutofit/>
          </a:bodyPr>
          <a:lstStyle/>
          <a:p>
            <a:pPr algn="l">
              <a:spcAft>
                <a:spcPts val="400"/>
              </a:spcAft>
            </a:pPr>
            <a:r>
              <a:rPr sz="1150" b="1" lang="en-GB">
                <a:solidFill>
                  <a:schemeClr val="tx2"/>
                </a:solidFill>
              </a:rPr>
              <a:t>of sales from Google </a:t>
            </a:r>
            <a:r>
              <a:rPr sz="1150" b="0" lang="en-GB">
                <a:solidFill>
                  <a:schemeClr val="tx1"/>
                </a:solidFill>
              </a:rPr>
              <a:t>(1,660 k EUR)</a:t>
            </a:r>
          </a:p>
        </p:txBody>
      </p:sp>
      <p:sp>
        <p:nvSpPr>
          <p:cNvPr id="16" name="Model stat 2 box"/>
          <p:cNvSpPr/>
          <p:nvPr/>
        </p:nvSpPr>
        <p:spPr>
          <a:xfrm>
            <a:off x="5349240" y="2164080"/>
            <a:ext cx="3337560" cy="8382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Model stat 2 bar"/>
          <p:cNvSpPr/>
          <p:nvPr/>
        </p:nvSpPr>
        <p:spPr>
          <a:xfrm>
            <a:off x="5349240" y="2164080"/>
            <a:ext cx="64008" cy="8382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Model stat 2 figure"/>
          <p:cNvSpPr txBox="1"/>
          <p:nvPr/>
        </p:nvSpPr>
        <p:spPr>
          <a:xfrm>
            <a:off x="5532120" y="2164080"/>
            <a:ext cx="1097280" cy="838200"/>
          </a:xfrm>
          <a:prstGeom prst="rect">
            <a:avLst/>
          </a:prstGeom>
          <a:noFill/>
        </p:spPr>
        <p:txBody>
          <a:bodyPr wrap="square" lIns="0" rIns="0" tIns="0" bIns="0" anchor="ctr">
            <a:noAutofit/>
          </a:bodyPr>
          <a:lstStyle/>
          <a:p>
            <a:pPr algn="l">
              <a:spcAft>
                <a:spcPts val="400"/>
              </a:spcAft>
            </a:pPr>
            <a:r>
              <a:rPr sz="2800" b="1" lang="en-GB">
                <a:solidFill>
                  <a:schemeClr val="tx2"/>
                </a:solidFill>
                <a:latin typeface="+mj-lt"/>
              </a:rPr>
              <a:t>21 %</a:t>
            </a:r>
          </a:p>
        </p:txBody>
      </p:sp>
      <p:sp>
        <p:nvSpPr>
          <p:cNvPr id="19" name="Model stat 2 label"/>
          <p:cNvSpPr txBox="1"/>
          <p:nvPr/>
        </p:nvSpPr>
        <p:spPr>
          <a:xfrm>
            <a:off x="6629400" y="2164080"/>
            <a:ext cx="1965960" cy="838200"/>
          </a:xfrm>
          <a:prstGeom prst="rect">
            <a:avLst/>
          </a:prstGeom>
          <a:noFill/>
        </p:spPr>
        <p:txBody>
          <a:bodyPr wrap="square" lIns="0" rIns="0" tIns="0" bIns="0" anchor="ctr">
            <a:noAutofit/>
          </a:bodyPr>
          <a:lstStyle/>
          <a:p>
            <a:pPr algn="l">
              <a:spcAft>
                <a:spcPts val="400"/>
              </a:spcAft>
            </a:pPr>
            <a:r>
              <a:rPr sz="1150" b="1" lang="en-GB">
                <a:solidFill>
                  <a:schemeClr val="tx2"/>
                </a:solidFill>
              </a:rPr>
              <a:t>from Meta </a:t>
            </a:r>
            <a:r>
              <a:rPr sz="1150" b="0" lang="en-GB">
                <a:solidFill>
                  <a:schemeClr val="tx1"/>
                </a:solidFill>
              </a:rPr>
              <a:t>(660 k EUR)</a:t>
            </a:r>
          </a:p>
        </p:txBody>
      </p:sp>
      <p:sp>
        <p:nvSpPr>
          <p:cNvPr id="20" name="Model stat 3 box"/>
          <p:cNvSpPr/>
          <p:nvPr/>
        </p:nvSpPr>
        <p:spPr>
          <a:xfrm>
            <a:off x="5349240" y="3093720"/>
            <a:ext cx="3337560" cy="8382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Model stat 3 bar"/>
          <p:cNvSpPr/>
          <p:nvPr/>
        </p:nvSpPr>
        <p:spPr>
          <a:xfrm>
            <a:off x="5349240" y="3093720"/>
            <a:ext cx="64008" cy="8382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Model stat 3 figure"/>
          <p:cNvSpPr txBox="1"/>
          <p:nvPr/>
        </p:nvSpPr>
        <p:spPr>
          <a:xfrm>
            <a:off x="5532120" y="3093720"/>
            <a:ext cx="1097280" cy="838200"/>
          </a:xfrm>
          <a:prstGeom prst="rect">
            <a:avLst/>
          </a:prstGeom>
          <a:noFill/>
        </p:spPr>
        <p:txBody>
          <a:bodyPr wrap="square" lIns="0" rIns="0" tIns="0" bIns="0" anchor="ctr">
            <a:noAutofit/>
          </a:bodyPr>
          <a:lstStyle/>
          <a:p>
            <a:pPr algn="l">
              <a:spcAft>
                <a:spcPts val="400"/>
              </a:spcAft>
            </a:pPr>
            <a:r>
              <a:rPr sz="2800" b="1" lang="en-GB">
                <a:solidFill>
                  <a:schemeClr val="tx2"/>
                </a:solidFill>
                <a:latin typeface="+mj-lt"/>
              </a:rPr>
              <a:t>27 %</a:t>
            </a:r>
          </a:p>
        </p:txBody>
      </p:sp>
      <p:sp>
        <p:nvSpPr>
          <p:cNvPr id="23" name="Model stat 3 label"/>
          <p:cNvSpPr txBox="1"/>
          <p:nvPr/>
        </p:nvSpPr>
        <p:spPr>
          <a:xfrm>
            <a:off x="6629400" y="3093720"/>
            <a:ext cx="1965960" cy="838200"/>
          </a:xfrm>
          <a:prstGeom prst="rect">
            <a:avLst/>
          </a:prstGeom>
          <a:noFill/>
        </p:spPr>
        <p:txBody>
          <a:bodyPr wrap="square" lIns="0" rIns="0" tIns="0" bIns="0" anchor="ctr">
            <a:noAutofit/>
          </a:bodyPr>
          <a:lstStyle/>
          <a:p>
            <a:pPr algn="l">
              <a:spcAft>
                <a:spcPts val="400"/>
              </a:spcAft>
            </a:pPr>
            <a:r>
              <a:rPr sz="1150" b="1" lang="en-GB">
                <a:solidFill>
                  <a:schemeClr val="tx2"/>
                </a:solidFill>
              </a:rPr>
              <a:t>baseline, </a:t>
            </a:r>
            <a:r>
              <a:rPr sz="1150" b="0" lang="en-GB">
                <a:solidFill>
                  <a:schemeClr val="tx1"/>
                </a:solidFill>
              </a:rPr>
              <a:t>trend and season</a:t>
            </a:r>
          </a:p>
        </p:txBody>
      </p:sp>
      <p:sp>
        <p:nvSpPr>
          <p:cNvPr id="24" name="Model callout box"/>
          <p:cNvSpPr/>
          <p:nvPr/>
        </p:nvSpPr>
        <p:spPr>
          <a:xfrm>
            <a:off x="457200" y="4069080"/>
            <a:ext cx="8229600" cy="54864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Model callout text"/>
          <p:cNvSpPr txBox="1"/>
          <p:nvPr/>
        </p:nvSpPr>
        <p:spPr>
          <a:xfrm>
            <a:off x="658368" y="4069080"/>
            <a:ext cx="7827264" cy="548640"/>
          </a:xfrm>
          <a:prstGeom prst="rect">
            <a:avLst/>
          </a:prstGeom>
          <a:noFill/>
        </p:spPr>
        <p:txBody>
          <a:bodyPr wrap="square" lIns="0" rIns="0" tIns="0" bIns="0" anchor="ctr">
            <a:noAutofit/>
          </a:bodyPr>
          <a:lstStyle/>
          <a:p>
            <a:pPr algn="l">
              <a:spcAft>
                <a:spcPts val="400"/>
              </a:spcAft>
            </a:pPr>
            <a:r>
              <a:rPr sz="1200" b="1" lang="en-GB">
                <a:solidFill>
                  <a:schemeClr val="bg1"/>
                </a:solidFill>
              </a:rPr>
              <a:t>Meta: 9.45 per euro (6.66 to 12.18); </a:t>
            </a:r>
            <a:r>
              <a:rPr sz="1200" b="0" lang="en-GB">
                <a:solidFill>
                  <a:schemeClr val="bg1"/>
                </a:solidFill>
              </a:rPr>
              <a:t>Google: 3.38 (2.33 to 4.65).</a:t>
            </a:r>
          </a:p>
        </p:txBody>
      </p:sp>
      <p:sp>
        <p:nvSpPr>
          <p:cNvPr id="26" name="Sources"/>
          <p:cNvSpPr txBox="1"/>
          <p:nvPr/>
        </p:nvSpPr>
        <p:spPr>
          <a:xfrm>
            <a:off x="457200" y="4818888"/>
            <a:ext cx="8229600" cy="256032"/>
          </a:xfrm>
          <a:prstGeom prst="rect">
            <a:avLst/>
          </a:prstGeom>
          <a:noFill/>
        </p:spPr>
        <p:txBody>
          <a:bodyPr wrap="square" lIns="0" rIns="0" tIns="0" bIns="0" anchor="ctr">
            <a:noAutofit/>
          </a:bodyPr>
          <a:lstStyle/>
          <a:p>
            <a:pPr algn="l">
              <a:spcAft>
                <a:spcPts val="0"/>
              </a:spcAft>
            </a:pPr>
            <a:r>
              <a:rPr sz="1100" b="0" lang="en-GB">
                <a:solidFill>
                  <a:srgbClr val="595959"/>
                </a:solidFill>
              </a:rPr>
              <a:t>Data: Conjura MMM dataset (Anderson 2024), CC BY 4.0; model: Step 8</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Response curves: where the next euro works</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pic>
        <p:nvPicPr>
          <p:cNvPr id="10" name="Chart mm_m3_curves.png" descr="Two panels with the weekly response curves of the PyMC-Marketing model and their 94 % band: Google bends at today's 3.66 k EUR a week, Meta is still almost straight at today's 0.52 k EUR a week; dots mark today's spend."/>
          <p:cNvPicPr>
            <a:picLocks noChangeAspect="1"/>
          </p:cNvPicPr>
          <p:nvPr/>
        </p:nvPicPr>
        <p:blipFill>
          <a:blip r:embed="rId3"/>
          <a:stretch>
            <a:fillRect/>
          </a:stretch>
        </p:blipFill>
        <p:spPr>
          <a:xfrm>
            <a:off x="457200" y="1234440"/>
            <a:ext cx="5120640" cy="2743200"/>
          </a:xfrm>
          <a:prstGeom prst="rect">
            <a:avLst/>
          </a:prstGeom>
        </p:spPr>
      </p:pic>
      <p:sp>
        <p:nvSpPr>
          <p:cNvPr id="11" name="Curve stat 1 box"/>
          <p:cNvSpPr/>
          <p:nvPr/>
        </p:nvSpPr>
        <p:spPr>
          <a:xfrm>
            <a:off x="5715000" y="1234440"/>
            <a:ext cx="2971800" cy="85344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Curve stat 1 bar"/>
          <p:cNvSpPr/>
          <p:nvPr/>
        </p:nvSpPr>
        <p:spPr>
          <a:xfrm>
            <a:off x="5715000" y="1234440"/>
            <a:ext cx="64008" cy="853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Curve stat 1 figure"/>
          <p:cNvSpPr txBox="1"/>
          <p:nvPr/>
        </p:nvSpPr>
        <p:spPr>
          <a:xfrm>
            <a:off x="5897880" y="1234440"/>
            <a:ext cx="1051560" cy="853440"/>
          </a:xfrm>
          <a:prstGeom prst="rect">
            <a:avLst/>
          </a:prstGeom>
          <a:noFill/>
        </p:spPr>
        <p:txBody>
          <a:bodyPr wrap="square" lIns="0" rIns="0" tIns="0" bIns="0" anchor="ctr">
            <a:noAutofit/>
          </a:bodyPr>
          <a:lstStyle/>
          <a:p>
            <a:pPr algn="l">
              <a:spcAft>
                <a:spcPts val="400"/>
              </a:spcAft>
            </a:pPr>
            <a:r>
              <a:rPr sz="2800" b="1" lang="en-GB">
                <a:solidFill>
                  <a:schemeClr val="tx2"/>
                </a:solidFill>
                <a:latin typeface="+mj-lt"/>
              </a:rPr>
              <a:t>9.77</a:t>
            </a:r>
          </a:p>
        </p:txBody>
      </p:sp>
      <p:sp>
        <p:nvSpPr>
          <p:cNvPr id="14" name="Curve stat 1 label"/>
          <p:cNvSpPr txBox="1"/>
          <p:nvPr/>
        </p:nvSpPr>
        <p:spPr>
          <a:xfrm>
            <a:off x="6949440" y="1234440"/>
            <a:ext cx="1645920" cy="853440"/>
          </a:xfrm>
          <a:prstGeom prst="rect">
            <a:avLst/>
          </a:prstGeom>
          <a:noFill/>
        </p:spPr>
        <p:txBody>
          <a:bodyPr wrap="square" lIns="0" rIns="0" tIns="0" bIns="0" anchor="ctr">
            <a:noAutofit/>
          </a:bodyPr>
          <a:lstStyle/>
          <a:p>
            <a:pPr algn="l">
              <a:spcAft>
                <a:spcPts val="400"/>
              </a:spcAft>
            </a:pPr>
            <a:r>
              <a:rPr sz="1150" b="1" lang="en-GB">
                <a:solidFill>
                  <a:schemeClr val="tx2"/>
                </a:solidFill>
              </a:rPr>
              <a:t>Meta: </a:t>
            </a:r>
            <a:r>
              <a:rPr sz="1150" b="0" lang="en-GB">
                <a:solidFill>
                  <a:schemeClr val="tx1"/>
                </a:solidFill>
              </a:rPr>
              <a:t>next-euro ROI at today's 0.52 k EUR a week</a:t>
            </a:r>
          </a:p>
        </p:txBody>
      </p:sp>
      <p:sp>
        <p:nvSpPr>
          <p:cNvPr id="15" name="Curve stat 2 box"/>
          <p:cNvSpPr/>
          <p:nvPr/>
        </p:nvSpPr>
        <p:spPr>
          <a:xfrm>
            <a:off x="5715000" y="2179320"/>
            <a:ext cx="2971800" cy="85344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Curve stat 2 bar"/>
          <p:cNvSpPr/>
          <p:nvPr/>
        </p:nvSpPr>
        <p:spPr>
          <a:xfrm>
            <a:off x="5715000" y="2179320"/>
            <a:ext cx="64008" cy="853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Curve stat 2 figure"/>
          <p:cNvSpPr txBox="1"/>
          <p:nvPr/>
        </p:nvSpPr>
        <p:spPr>
          <a:xfrm>
            <a:off x="5897880" y="2179320"/>
            <a:ext cx="1051560" cy="853440"/>
          </a:xfrm>
          <a:prstGeom prst="rect">
            <a:avLst/>
          </a:prstGeom>
          <a:noFill/>
        </p:spPr>
        <p:txBody>
          <a:bodyPr wrap="square" lIns="0" rIns="0" tIns="0" bIns="0" anchor="ctr">
            <a:noAutofit/>
          </a:bodyPr>
          <a:lstStyle/>
          <a:p>
            <a:pPr algn="l">
              <a:spcAft>
                <a:spcPts val="400"/>
              </a:spcAft>
            </a:pPr>
            <a:r>
              <a:rPr sz="2800" b="1" lang="en-GB">
                <a:solidFill>
                  <a:schemeClr val="tx2"/>
                </a:solidFill>
                <a:latin typeface="+mj-lt"/>
              </a:rPr>
              <a:t>3.28</a:t>
            </a:r>
          </a:p>
        </p:txBody>
      </p:sp>
      <p:sp>
        <p:nvSpPr>
          <p:cNvPr id="18" name="Curve stat 2 label"/>
          <p:cNvSpPr txBox="1"/>
          <p:nvPr/>
        </p:nvSpPr>
        <p:spPr>
          <a:xfrm>
            <a:off x="6949440" y="2179320"/>
            <a:ext cx="1645920" cy="853440"/>
          </a:xfrm>
          <a:prstGeom prst="rect">
            <a:avLst/>
          </a:prstGeom>
          <a:noFill/>
        </p:spPr>
        <p:txBody>
          <a:bodyPr wrap="square" lIns="0" rIns="0" tIns="0" bIns="0" anchor="ctr">
            <a:noAutofit/>
          </a:bodyPr>
          <a:lstStyle/>
          <a:p>
            <a:pPr algn="l">
              <a:spcAft>
                <a:spcPts val="400"/>
              </a:spcAft>
            </a:pPr>
            <a:r>
              <a:rPr sz="1150" b="1" lang="en-GB">
                <a:solidFill>
                  <a:schemeClr val="tx2"/>
                </a:solidFill>
              </a:rPr>
              <a:t>Google: </a:t>
            </a:r>
            <a:r>
              <a:rPr sz="1150" b="0" lang="en-GB">
                <a:solidFill>
                  <a:schemeClr val="tx1"/>
                </a:solidFill>
              </a:rPr>
              <a:t>next-euro ROI at 3.66 k EUR a week</a:t>
            </a:r>
          </a:p>
        </p:txBody>
      </p:sp>
      <p:sp>
        <p:nvSpPr>
          <p:cNvPr id="19" name="Curve stat 3 box"/>
          <p:cNvSpPr/>
          <p:nvPr/>
        </p:nvSpPr>
        <p:spPr>
          <a:xfrm>
            <a:off x="5715000" y="3124200"/>
            <a:ext cx="2971800" cy="85344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Curve stat 3 bar"/>
          <p:cNvSpPr/>
          <p:nvPr/>
        </p:nvSpPr>
        <p:spPr>
          <a:xfrm>
            <a:off x="5715000" y="3124200"/>
            <a:ext cx="64008" cy="853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Curve stat 3 figure"/>
          <p:cNvSpPr txBox="1"/>
          <p:nvPr/>
        </p:nvSpPr>
        <p:spPr>
          <a:xfrm>
            <a:off x="5897880" y="3124200"/>
            <a:ext cx="1051560" cy="853440"/>
          </a:xfrm>
          <a:prstGeom prst="rect">
            <a:avLst/>
          </a:prstGeom>
          <a:noFill/>
        </p:spPr>
        <p:txBody>
          <a:bodyPr wrap="square" lIns="0" rIns="0" tIns="0" bIns="0" anchor="ctr">
            <a:noAutofit/>
          </a:bodyPr>
          <a:lstStyle/>
          <a:p>
            <a:pPr algn="l">
              <a:spcAft>
                <a:spcPts val="400"/>
              </a:spcAft>
            </a:pPr>
            <a:r>
              <a:rPr sz="2800" b="1" lang="en-GB">
                <a:solidFill>
                  <a:schemeClr val="tx2"/>
                </a:solidFill>
                <a:latin typeface="+mj-lt"/>
              </a:rPr>
              <a:t>+3.1</a:t>
            </a:r>
          </a:p>
        </p:txBody>
      </p:sp>
      <p:sp>
        <p:nvSpPr>
          <p:cNvPr id="22" name="Curve stat 3 label"/>
          <p:cNvSpPr txBox="1"/>
          <p:nvPr/>
        </p:nvSpPr>
        <p:spPr>
          <a:xfrm>
            <a:off x="6949440" y="3124200"/>
            <a:ext cx="1645920" cy="853440"/>
          </a:xfrm>
          <a:prstGeom prst="rect">
            <a:avLst/>
          </a:prstGeom>
          <a:noFill/>
        </p:spPr>
        <p:txBody>
          <a:bodyPr wrap="square" lIns="0" rIns="0" tIns="0" bIns="0" anchor="ctr">
            <a:noAutofit/>
          </a:bodyPr>
          <a:lstStyle/>
          <a:p>
            <a:pPr algn="l">
              <a:spcAft>
                <a:spcPts val="400"/>
              </a:spcAft>
            </a:pPr>
            <a:r>
              <a:rPr sz="1150" b="1" lang="en-GB">
                <a:solidFill>
                  <a:schemeClr val="tx2"/>
                </a:solidFill>
              </a:rPr>
              <a:t>k EUR of sales a week </a:t>
            </a:r>
            <a:r>
              <a:rPr sz="1150" b="0" lang="en-GB">
                <a:solidFill>
                  <a:schemeClr val="tx1"/>
                </a:solidFill>
              </a:rPr>
              <a:t>if 0.5 k EUR move from Google to Meta</a:t>
            </a:r>
          </a:p>
        </p:txBody>
      </p:sp>
      <p:sp>
        <p:nvSpPr>
          <p:cNvPr id="23" name="Curve callout box"/>
          <p:cNvSpPr/>
          <p:nvPr/>
        </p:nvSpPr>
        <p:spPr>
          <a:xfrm>
            <a:off x="457200" y="4114800"/>
            <a:ext cx="8229600" cy="50292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Curve callout text"/>
          <p:cNvSpPr txBox="1"/>
          <p:nvPr/>
        </p:nvSpPr>
        <p:spPr>
          <a:xfrm>
            <a:off x="658368" y="4114800"/>
            <a:ext cx="7827264" cy="502920"/>
          </a:xfrm>
          <a:prstGeom prst="rect">
            <a:avLst/>
          </a:prstGeom>
          <a:noFill/>
        </p:spPr>
        <p:txBody>
          <a:bodyPr wrap="square" lIns="0" rIns="0" tIns="0" bIns="0" anchor="ctr">
            <a:noAutofit/>
          </a:bodyPr>
          <a:lstStyle/>
          <a:p>
            <a:pPr algn="l">
              <a:spcAft>
                <a:spcPts val="400"/>
              </a:spcAft>
            </a:pPr>
            <a:r>
              <a:rPr sz="1200" b="1" lang="en-GB">
                <a:solidFill>
                  <a:schemeClr val="bg1"/>
                </a:solidFill>
              </a:rPr>
              <a:t>Shift a little, then test: </a:t>
            </a:r>
            <a:r>
              <a:rPr sz="1200" b="0" lang="en-GB">
                <a:solidFill>
                  <a:schemeClr val="bg1"/>
                </a:solidFill>
              </a:rPr>
              <a:t>a geo lift test in Austria before the big move.</a:t>
            </a:r>
          </a:p>
        </p:txBody>
      </p:sp>
      <p:sp>
        <p:nvSpPr>
          <p:cNvPr id="25" name="Sources"/>
          <p:cNvSpPr txBox="1"/>
          <p:nvPr/>
        </p:nvSpPr>
        <p:spPr>
          <a:xfrm>
            <a:off x="457200" y="4818888"/>
            <a:ext cx="8229600" cy="256032"/>
          </a:xfrm>
          <a:prstGeom prst="rect">
            <a:avLst/>
          </a:prstGeom>
          <a:noFill/>
        </p:spPr>
        <p:txBody>
          <a:bodyPr wrap="square" lIns="0" rIns="0" tIns="0" bIns="0" anchor="ctr">
            <a:noAutofit/>
          </a:bodyPr>
          <a:lstStyle/>
          <a:p>
            <a:pPr algn="l">
              <a:spcAft>
                <a:spcPts val="0"/>
              </a:spcAft>
            </a:pPr>
            <a:r>
              <a:rPr sz="1100" b="0" lang="en-GB">
                <a:solidFill>
                  <a:srgbClr val="595959"/>
                </a:solidFill>
              </a:rPr>
              <a:t>Data: Conjura MMM dataset (Anderson 2024), CC BY 4.0; curves: posterior of Step 8</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1" sz="quarter"/>
          </p:nvPr>
        </p:nvSpPr>
        <p:spPr>
          <a:xfrm>
            <a:ext cx="5747702" cy="0"/>
          </a:xfrm>
        </p:spPr>
        <p:txBody>
          <a:bodyPr/>
          <a:lstStyle/>
          <a:p>
            <a:r>
              <a:rPr lang="en-GB"/>
              <a:t>Part 5 of 6 · a code ladder, one step at a time</a:t>
            </a:r>
          </a:p>
        </p:txBody>
      </p:sp>
      <p:sp>
        <p:nvSpPr>
          <p:cNvPr id="3" name="Title 2"/>
          <p:cNvSpPr>
            <a:spLocks noGrp="1"/>
          </p:cNvSpPr>
          <p:nvPr>
            <p:ph type="ctrTitle"/>
          </p:nvPr>
        </p:nvSpPr>
        <p:spPr/>
        <p:txBody>
          <a:bodyPr/>
          <a:lstStyle/>
          <a:p>
            <a:r>
              <a:rPr lang="en-GB"/>
              <a:t>MMM in Python</a:t>
            </a:r>
          </a:p>
        </p:txBody>
      </p:sp>
      <p:sp>
        <p:nvSpPr>
          <p:cNvPr id="3" name="Fußzeilenplatzhalter 2"/>
          <p:cNvSpPr>
            <a:spLocks noGrp="1"/>
          </p:cNvSpPr>
          <p:nvPr>
            <p:ph type="ftr" sz="quarter" idx="14"/>
          </p:nvPr>
        </p:nvSpPr>
        <p:spPr/>
        <p:txBody>
          <a:bodyPr/>
          <a:lstStyle/>
          <a:p>
            <a:r>
              <a:rPr lang="en-GB"/>
              <a:t>International Marketing Analytics · WT 2026/27</a:t>
            </a:r>
          </a:p>
        </p:txBody>
      </p:sp>
      <p:sp>
        <p:nvSpPr>
          <p:cNvPr id="6" name="Foliennummernplatzhalter 5"/>
          <p:cNvSpPr>
            <a:spLocks noGrp="1"/>
          </p:cNvSpPr>
          <p:nvPr>
            <p:ph type="sldNum" sz="quarter" idx="15"/>
          </p:nvPr>
        </p:nvSpPr>
        <p:spPr/>
        <p:txBody>
          <a:bodyPr/>
          <a:lstStyle/>
          <a:p>
            <a:r>
              <a:rPr lang="en-GB" dirty="0"/>
              <a:t>Page </a:t>
            </a:r>
            <a:fld id="{BE3DC40E-DBBE-4E2D-9EEC-FBF0DA0E9179}" type="slidenum">
              <a:rPr lang="en-GB" smtClean="0"/>
              <a:pPr/>
              <a:t>‹Nr.›</a:t>
            </a:fld>
            <a:endParaRPr lang="en-GB" dirty="0"/>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Step 1: load and look</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Ladder step 1"/>
          <p:cNvSpPr/>
          <p:nvPr/>
        </p:nvSpPr>
        <p:spPr>
          <a:xfrm>
            <a:off x="457200" y="1234440"/>
            <a:ext cx="881888" cy="310896"/>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Ladder step 1 text"/>
          <p:cNvSpPr txBox="1"/>
          <p:nvPr/>
        </p:nvSpPr>
        <p:spPr>
          <a:xfrm>
            <a:off x="457200" y="1234440"/>
            <a:ext cx="881888" cy="310896"/>
          </a:xfrm>
          <a:prstGeom prst="rect">
            <a:avLst/>
          </a:prstGeom>
          <a:noFill/>
        </p:spPr>
        <p:txBody>
          <a:bodyPr wrap="square" lIns="0" rIns="0" tIns="0" bIns="0" anchor="ctr">
            <a:noAutofit/>
          </a:bodyPr>
          <a:lstStyle/>
          <a:p>
            <a:pPr algn="ctr">
              <a:spcAft>
                <a:spcPts val="400"/>
              </a:spcAft>
            </a:pPr>
            <a:r>
              <a:rPr sz="1100" b="1" lang="en-GB">
                <a:solidFill>
                  <a:schemeClr val="bg1"/>
                </a:solidFill>
              </a:rPr>
              <a:t>1 Load</a:t>
            </a:r>
          </a:p>
        </p:txBody>
      </p:sp>
      <p:sp>
        <p:nvSpPr>
          <p:cNvPr id="12" name="Ladder step 2"/>
          <p:cNvSpPr/>
          <p:nvPr/>
        </p:nvSpPr>
        <p:spPr>
          <a:xfrm>
            <a:off x="1375664" y="1234440"/>
            <a:ext cx="881888" cy="31089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Ladder step 2 text"/>
          <p:cNvSpPr txBox="1"/>
          <p:nvPr/>
        </p:nvSpPr>
        <p:spPr>
          <a:xfrm>
            <a:off x="1375664" y="1234440"/>
            <a:ext cx="881888" cy="310896"/>
          </a:xfrm>
          <a:prstGeom prst="rect">
            <a:avLst/>
          </a:prstGeom>
          <a:noFill/>
        </p:spPr>
        <p:txBody>
          <a:bodyPr wrap="square" lIns="0" rIns="0" tIns="0" bIns="0" anchor="ctr">
            <a:noAutofit/>
          </a:bodyPr>
          <a:lstStyle/>
          <a:p>
            <a:pPr algn="ctr">
              <a:spcAft>
                <a:spcPts val="400"/>
              </a:spcAft>
            </a:pPr>
            <a:r>
              <a:rPr sz="1100" b="1" lang="en-GB">
                <a:solidFill>
                  <a:schemeClr val="tx2"/>
                </a:solidFill>
              </a:rPr>
              <a:t>2 Regress</a:t>
            </a:r>
          </a:p>
        </p:txBody>
      </p:sp>
      <p:sp>
        <p:nvSpPr>
          <p:cNvPr id="14" name="Ladder step 3"/>
          <p:cNvSpPr/>
          <p:nvPr/>
        </p:nvSpPr>
        <p:spPr>
          <a:xfrm>
            <a:off x="2294128" y="1234440"/>
            <a:ext cx="881888" cy="31089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Ladder step 3 text"/>
          <p:cNvSpPr txBox="1"/>
          <p:nvPr/>
        </p:nvSpPr>
        <p:spPr>
          <a:xfrm>
            <a:off x="2294128" y="1234440"/>
            <a:ext cx="881888" cy="310896"/>
          </a:xfrm>
          <a:prstGeom prst="rect">
            <a:avLst/>
          </a:prstGeom>
          <a:noFill/>
        </p:spPr>
        <p:txBody>
          <a:bodyPr wrap="square" lIns="0" rIns="0" tIns="0" bIns="0" anchor="ctr">
            <a:noAutofit/>
          </a:bodyPr>
          <a:lstStyle/>
          <a:p>
            <a:pPr algn="ctr">
              <a:spcAft>
                <a:spcPts val="400"/>
              </a:spcAft>
            </a:pPr>
            <a:r>
              <a:rPr sz="1100" b="1" lang="en-GB">
                <a:solidFill>
                  <a:schemeClr val="tx2"/>
                </a:solidFill>
              </a:rPr>
              <a:t>3 Trend</a:t>
            </a:r>
          </a:p>
        </p:txBody>
      </p:sp>
      <p:sp>
        <p:nvSpPr>
          <p:cNvPr id="16" name="Ladder step 4"/>
          <p:cNvSpPr/>
          <p:nvPr/>
        </p:nvSpPr>
        <p:spPr>
          <a:xfrm>
            <a:off x="3212592" y="1234440"/>
            <a:ext cx="881888" cy="31089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Ladder step 4 text"/>
          <p:cNvSpPr txBox="1"/>
          <p:nvPr/>
        </p:nvSpPr>
        <p:spPr>
          <a:xfrm>
            <a:off x="3212592" y="1234440"/>
            <a:ext cx="881888" cy="310896"/>
          </a:xfrm>
          <a:prstGeom prst="rect">
            <a:avLst/>
          </a:prstGeom>
          <a:noFill/>
        </p:spPr>
        <p:txBody>
          <a:bodyPr wrap="square" lIns="0" rIns="0" tIns="0" bIns="0" anchor="ctr">
            <a:noAutofit/>
          </a:bodyPr>
          <a:lstStyle/>
          <a:p>
            <a:pPr algn="ctr">
              <a:spcAft>
                <a:spcPts val="400"/>
              </a:spcAft>
            </a:pPr>
            <a:r>
              <a:rPr sz="1100" b="1" lang="en-GB">
                <a:solidFill>
                  <a:schemeClr val="tx2"/>
                </a:solidFill>
              </a:rPr>
              <a:t>4 Adstock</a:t>
            </a:r>
          </a:p>
        </p:txBody>
      </p:sp>
      <p:sp>
        <p:nvSpPr>
          <p:cNvPr id="18" name="Ladder step 5"/>
          <p:cNvSpPr/>
          <p:nvPr/>
        </p:nvSpPr>
        <p:spPr>
          <a:xfrm>
            <a:off x="4131056" y="1234440"/>
            <a:ext cx="881888" cy="31089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Ladder step 5 text"/>
          <p:cNvSpPr txBox="1"/>
          <p:nvPr/>
        </p:nvSpPr>
        <p:spPr>
          <a:xfrm>
            <a:off x="4131056" y="1234440"/>
            <a:ext cx="881888" cy="310896"/>
          </a:xfrm>
          <a:prstGeom prst="rect">
            <a:avLst/>
          </a:prstGeom>
          <a:noFill/>
        </p:spPr>
        <p:txBody>
          <a:bodyPr wrap="square" lIns="0" rIns="0" tIns="0" bIns="0" anchor="ctr">
            <a:noAutofit/>
          </a:bodyPr>
          <a:lstStyle/>
          <a:p>
            <a:pPr algn="ctr">
              <a:spcAft>
                <a:spcPts val="400"/>
              </a:spcAft>
            </a:pPr>
            <a:r>
              <a:rPr sz="1100" b="1" lang="en-GB">
                <a:solidFill>
                  <a:schemeClr val="tx2"/>
                </a:solidFill>
              </a:rPr>
              <a:t>5 Carry</a:t>
            </a:r>
          </a:p>
        </p:txBody>
      </p:sp>
      <p:sp>
        <p:nvSpPr>
          <p:cNvPr id="20" name="Ladder step 6"/>
          <p:cNvSpPr/>
          <p:nvPr/>
        </p:nvSpPr>
        <p:spPr>
          <a:xfrm>
            <a:off x="5049520" y="1234440"/>
            <a:ext cx="881888" cy="31089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Ladder step 6 text"/>
          <p:cNvSpPr txBox="1"/>
          <p:nvPr/>
        </p:nvSpPr>
        <p:spPr>
          <a:xfrm>
            <a:off x="5049520" y="1234440"/>
            <a:ext cx="881888" cy="310896"/>
          </a:xfrm>
          <a:prstGeom prst="rect">
            <a:avLst/>
          </a:prstGeom>
          <a:noFill/>
        </p:spPr>
        <p:txBody>
          <a:bodyPr wrap="square" lIns="0" rIns="0" tIns="0" bIns="0" anchor="ctr">
            <a:noAutofit/>
          </a:bodyPr>
          <a:lstStyle/>
          <a:p>
            <a:pPr algn="ctr">
              <a:spcAft>
                <a:spcPts val="400"/>
              </a:spcAft>
            </a:pPr>
            <a:r>
              <a:rPr sz="1100" b="1" lang="en-GB">
                <a:solidFill>
                  <a:schemeClr val="tx2"/>
                </a:solidFill>
              </a:rPr>
              <a:t>6 ROI</a:t>
            </a:r>
          </a:p>
        </p:txBody>
      </p:sp>
      <p:sp>
        <p:nvSpPr>
          <p:cNvPr id="22" name="Ladder step 7"/>
          <p:cNvSpPr/>
          <p:nvPr/>
        </p:nvSpPr>
        <p:spPr>
          <a:xfrm>
            <a:off x="5967984" y="1234440"/>
            <a:ext cx="881888" cy="31089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Ladder step 7 text"/>
          <p:cNvSpPr txBox="1"/>
          <p:nvPr/>
        </p:nvSpPr>
        <p:spPr>
          <a:xfrm>
            <a:off x="5967984" y="1234440"/>
            <a:ext cx="881888" cy="310896"/>
          </a:xfrm>
          <a:prstGeom prst="rect">
            <a:avLst/>
          </a:prstGeom>
          <a:noFill/>
        </p:spPr>
        <p:txBody>
          <a:bodyPr wrap="square" lIns="0" rIns="0" tIns="0" bIns="0" anchor="ctr">
            <a:noAutofit/>
          </a:bodyPr>
          <a:lstStyle/>
          <a:p>
            <a:pPr algn="ctr">
              <a:spcAft>
                <a:spcPts val="400"/>
              </a:spcAft>
            </a:pPr>
            <a:r>
              <a:rPr sz="1100" b="1" lang="en-GB">
                <a:solidFill>
                  <a:schemeClr val="tx2"/>
                </a:solidFill>
              </a:rPr>
              <a:t>7 Saturate</a:t>
            </a:r>
          </a:p>
        </p:txBody>
      </p:sp>
      <p:sp>
        <p:nvSpPr>
          <p:cNvPr id="24" name="Ladder step 8"/>
          <p:cNvSpPr/>
          <p:nvPr/>
        </p:nvSpPr>
        <p:spPr>
          <a:xfrm>
            <a:off x="6886448" y="1234440"/>
            <a:ext cx="881888" cy="31089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Ladder step 8 text"/>
          <p:cNvSpPr txBox="1"/>
          <p:nvPr/>
        </p:nvSpPr>
        <p:spPr>
          <a:xfrm>
            <a:off x="6886448" y="1234440"/>
            <a:ext cx="881888" cy="310896"/>
          </a:xfrm>
          <a:prstGeom prst="rect">
            <a:avLst/>
          </a:prstGeom>
          <a:noFill/>
        </p:spPr>
        <p:txBody>
          <a:bodyPr wrap="square" lIns="0" rIns="0" tIns="0" bIns="0" anchor="ctr">
            <a:noAutofit/>
          </a:bodyPr>
          <a:lstStyle/>
          <a:p>
            <a:pPr algn="ctr">
              <a:spcAft>
                <a:spcPts val="400"/>
              </a:spcAft>
            </a:pPr>
            <a:r>
              <a:rPr sz="1100" b="1" lang="en-GB">
                <a:solidFill>
                  <a:schemeClr val="tx2"/>
                </a:solidFill>
              </a:rPr>
              <a:t>8 PyMC</a:t>
            </a:r>
          </a:p>
        </p:txBody>
      </p:sp>
      <p:sp>
        <p:nvSpPr>
          <p:cNvPr id="26" name="Ladder step 9"/>
          <p:cNvSpPr/>
          <p:nvPr/>
        </p:nvSpPr>
        <p:spPr>
          <a:xfrm>
            <a:off x="7804912" y="1234440"/>
            <a:ext cx="881888" cy="31089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Ladder step 9 text"/>
          <p:cNvSpPr txBox="1"/>
          <p:nvPr/>
        </p:nvSpPr>
        <p:spPr>
          <a:xfrm>
            <a:off x="7804912" y="1234440"/>
            <a:ext cx="881888" cy="310896"/>
          </a:xfrm>
          <a:prstGeom prst="rect">
            <a:avLst/>
          </a:prstGeom>
          <a:noFill/>
        </p:spPr>
        <p:txBody>
          <a:bodyPr wrap="square" lIns="0" rIns="0" tIns="0" bIns="0" anchor="ctr">
            <a:noAutofit/>
          </a:bodyPr>
          <a:lstStyle/>
          <a:p>
            <a:pPr algn="ctr">
              <a:spcAft>
                <a:spcPts val="400"/>
              </a:spcAft>
            </a:pPr>
            <a:r>
              <a:rPr sz="1100" b="1" lang="en-GB">
                <a:solidFill>
                  <a:schemeClr val="tx2"/>
                </a:solidFill>
              </a:rPr>
              <a:t>9 Read</a:t>
            </a:r>
          </a:p>
        </p:txBody>
      </p:sp>
      <p:sp>
        <p:nvSpPr>
          <p:cNvPr id="28" name="Ladder code caption bar"/>
          <p:cNvSpPr/>
          <p:nvPr/>
        </p:nvSpPr>
        <p:spPr>
          <a:xfrm>
            <a:off x="457200" y="1682496"/>
            <a:ext cx="4480560" cy="27432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Ladder code caption"/>
          <p:cNvSpPr txBox="1"/>
          <p:nvPr/>
        </p:nvSpPr>
        <p:spPr>
          <a:xfrm>
            <a:off x="566928" y="1682496"/>
            <a:ext cx="4261104" cy="274320"/>
          </a:xfrm>
          <a:prstGeom prst="rect">
            <a:avLst/>
          </a:prstGeom>
          <a:noFill/>
        </p:spPr>
        <p:txBody>
          <a:bodyPr wrap="square" lIns="0" rIns="0" tIns="0" bIns="0" anchor="ctr">
            <a:noAutofit/>
          </a:bodyPr>
          <a:lstStyle/>
          <a:p>
            <a:pPr algn="l">
              <a:spcAft>
                <a:spcPts val="400"/>
              </a:spcAft>
            </a:pPr>
            <a:r>
              <a:rPr sz="1100" b="1" lang="en-GB">
                <a:solidFill>
                  <a:schemeClr val="bg1"/>
                </a:solidFill>
              </a:rPr>
              <a:t>open_source_mmm.qmd · Step 1</a:t>
            </a:r>
          </a:p>
        </p:txBody>
      </p:sp>
      <p:sp>
        <p:nvSpPr>
          <p:cNvPr id="30" name="Ladder code box"/>
          <p:cNvSpPr/>
          <p:nvPr/>
        </p:nvSpPr>
        <p:spPr>
          <a:xfrm>
            <a:off x="457200" y="1956816"/>
            <a:ext cx="4480560" cy="1755648"/>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Ladder code code"/>
          <p:cNvSpPr txBox="1"/>
          <p:nvPr/>
        </p:nvSpPr>
        <p:spPr>
          <a:xfrm>
            <a:off x="594360" y="2048256"/>
            <a:ext cx="4206240" cy="1572768"/>
          </a:xfrm>
          <a:prstGeom prst="rect">
            <a:avLst/>
          </a:prstGeom>
          <a:noFill/>
        </p:spPr>
        <p:txBody>
          <a:bodyPr wrap="square" lIns="0" rIns="0" tIns="0" bIns="0" anchor="t">
            <a:noAutofit/>
          </a:bodyPr>
          <a:lstStyle/>
          <a:p>
            <a:pPr algn="l">
              <a:spcAft>
                <a:spcPts val="0"/>
              </a:spcAft>
            </a:pPr>
            <a:r>
              <a:rPr sz="1000" b="0" lang="en-GB">
                <a:solidFill>
                  <a:schemeClr val="bg1"/>
                </a:solidFill>
                <a:latin typeface="Consolas"/>
              </a:rPr>
              <a:t>import polars as pl</a:t>
            </a:r>
          </a:p>
          <a:p>
            <a:pPr algn="l">
              <a:spcAft>
                <a:spcPts val="0"/>
              </a:spcAft>
            </a:pPr>
            <a:r>
              <a:rPr sz="1000" b="0" lang="en-GB">
                <a:solidFill>
                  <a:schemeClr val="bg1"/>
                </a:solidFill>
                <a:latin typeface="Consolas"/>
              </a:rPr>
              <a:t> </a:t>
            </a:r>
          </a:p>
          <a:p>
            <a:pPr algn="l">
              <a:spcAft>
                <a:spcPts val="0"/>
              </a:spcAft>
            </a:pPr>
            <a:r>
              <a:rPr sz="1000" b="0" lang="en-GB">
                <a:solidFill>
                  <a:schemeClr val="bg1"/>
                </a:solidFill>
                <a:latin typeface="Consolas"/>
              </a:rPr>
              <a:t># load the weekly data and keep Austria</a:t>
            </a:r>
          </a:p>
          <a:p>
            <a:pPr algn="l">
              <a:spcAft>
                <a:spcPts val="0"/>
              </a:spcAft>
            </a:pPr>
            <a:r>
              <a:rPr sz="1000" b="0" lang="en-GB">
                <a:solidFill>
                  <a:schemeClr val="bg1"/>
                </a:solidFill>
                <a:latin typeface="Consolas"/>
              </a:rPr>
              <a:t>file = "../../data/mmm_open/sports_weekly.csv"</a:t>
            </a:r>
          </a:p>
          <a:p>
            <a:pPr algn="l">
              <a:spcAft>
                <a:spcPts val="0"/>
              </a:spcAft>
            </a:pPr>
            <a:r>
              <a:rPr sz="1000" b="0" lang="en-GB">
                <a:solidFill>
                  <a:schemeClr val="bg1"/>
                </a:solidFill>
                <a:latin typeface="Consolas"/>
              </a:rPr>
              <a:t>df = pl.read_csv(file, try_parse_dates=True)</a:t>
            </a:r>
          </a:p>
          <a:p>
            <a:pPr algn="l">
              <a:spcAft>
                <a:spcPts val="0"/>
              </a:spcAft>
            </a:pPr>
            <a:r>
              <a:rPr sz="1000" b="0" lang="en-GB">
                <a:solidFill>
                  <a:schemeClr val="bg1"/>
                </a:solidFill>
                <a:latin typeface="Consolas"/>
              </a:rPr>
              <a:t>at = df.filter(pl.col("country") == "AT")</a:t>
            </a:r>
          </a:p>
          <a:p>
            <a:pPr algn="l">
              <a:spcAft>
                <a:spcPts val="0"/>
              </a:spcAft>
            </a:pPr>
            <a:r>
              <a:rPr sz="1000" b="0" lang="en-GB">
                <a:solidFill>
                  <a:schemeClr val="bg1"/>
                </a:solidFill>
                <a:latin typeface="Consolas"/>
              </a:rPr>
              <a:t>print(at.head())</a:t>
            </a:r>
          </a:p>
          <a:p>
            <a:pPr algn="l">
              <a:spcAft>
                <a:spcPts val="0"/>
              </a:spcAft>
            </a:pPr>
            <a:r>
              <a:rPr sz="1000" b="0" lang="en-GB">
                <a:solidFill>
                  <a:schemeClr val="bg1"/>
                </a:solidFill>
                <a:latin typeface="Consolas"/>
              </a:rPr>
              <a:t> </a:t>
            </a:r>
          </a:p>
          <a:p>
            <a:pPr algn="l">
              <a:spcAft>
                <a:spcPts val="0"/>
              </a:spcAft>
            </a:pPr>
            <a:r>
              <a:rPr sz="1000" b="0" lang="en-GB">
                <a:solidFill>
                  <a:schemeClr val="bg1"/>
                </a:solidFill>
                <a:latin typeface="Consolas"/>
              </a:rPr>
              <a:t># total sales and spend, k EUR</a:t>
            </a:r>
          </a:p>
          <a:p>
            <a:pPr algn="l">
              <a:spcAft>
                <a:spcPts val="0"/>
              </a:spcAft>
            </a:pPr>
            <a:r>
              <a:rPr sz="1000" b="0" lang="en-GB">
                <a:solidFill>
                  <a:schemeClr val="bg1"/>
                </a:solidFill>
                <a:latin typeface="Consolas"/>
              </a:rPr>
              <a:t>at.select(pl.col("sales", "google", "meta").sum())</a:t>
            </a:r>
          </a:p>
        </p:txBody>
      </p:sp>
      <p:sp>
        <p:nvSpPr>
          <p:cNvPr id="32" name="Ladder out 1-1"/>
          <p:cNvSpPr/>
          <p:nvPr/>
        </p:nvSpPr>
        <p:spPr>
          <a:xfrm>
            <a:off x="5074920" y="1682496"/>
            <a:ext cx="1265710" cy="329184"/>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Ladder out text 1-1"/>
          <p:cNvSpPr txBox="1"/>
          <p:nvPr/>
        </p:nvSpPr>
        <p:spPr>
          <a:xfrm>
            <a:off x="5166360" y="1682496"/>
            <a:ext cx="1082830" cy="329184"/>
          </a:xfrm>
          <a:prstGeom prst="rect">
            <a:avLst/>
          </a:prstGeom>
          <a:noFill/>
        </p:spPr>
        <p:txBody>
          <a:bodyPr wrap="square" lIns="0" rIns="0" tIns="0" bIns="0" anchor="ctr">
            <a:noAutofit/>
          </a:bodyPr>
          <a:lstStyle/>
          <a:p>
            <a:pPr algn="l">
              <a:spcAft>
                <a:spcPts val="400"/>
              </a:spcAft>
            </a:pPr>
            <a:r>
              <a:rPr sz="1150" b="1" lang="en-GB">
                <a:solidFill>
                  <a:schemeClr val="bg1"/>
                </a:solidFill>
              </a:rPr>
              <a:t>week</a:t>
            </a:r>
          </a:p>
        </p:txBody>
      </p:sp>
      <p:sp>
        <p:nvSpPr>
          <p:cNvPr id="34" name="Ladder out 1-2"/>
          <p:cNvSpPr/>
          <p:nvPr/>
        </p:nvSpPr>
        <p:spPr>
          <a:xfrm>
            <a:off x="6368062" y="1682496"/>
            <a:ext cx="775208" cy="329184"/>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Ladder out text 1-2"/>
          <p:cNvSpPr txBox="1"/>
          <p:nvPr/>
        </p:nvSpPr>
        <p:spPr>
          <a:xfrm>
            <a:off x="6459502" y="1682496"/>
            <a:ext cx="592328" cy="329184"/>
          </a:xfrm>
          <a:prstGeom prst="rect">
            <a:avLst/>
          </a:prstGeom>
          <a:noFill/>
        </p:spPr>
        <p:txBody>
          <a:bodyPr wrap="square" lIns="0" rIns="0" tIns="0" bIns="0" anchor="ctr">
            <a:noAutofit/>
          </a:bodyPr>
          <a:lstStyle/>
          <a:p>
            <a:pPr algn="r">
              <a:spcAft>
                <a:spcPts val="400"/>
              </a:spcAft>
            </a:pPr>
            <a:r>
              <a:rPr sz="1150" b="1" lang="en-GB">
                <a:solidFill>
                  <a:schemeClr val="bg1"/>
                </a:solidFill>
              </a:rPr>
              <a:t>sales</a:t>
            </a:r>
          </a:p>
        </p:txBody>
      </p:sp>
      <p:sp>
        <p:nvSpPr>
          <p:cNvPr id="36" name="Ladder out 1-3"/>
          <p:cNvSpPr/>
          <p:nvPr/>
        </p:nvSpPr>
        <p:spPr>
          <a:xfrm>
            <a:off x="7170702" y="1682496"/>
            <a:ext cx="775208" cy="329184"/>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Ladder out text 1-3"/>
          <p:cNvSpPr txBox="1"/>
          <p:nvPr/>
        </p:nvSpPr>
        <p:spPr>
          <a:xfrm>
            <a:off x="7262142" y="1682496"/>
            <a:ext cx="592328" cy="329184"/>
          </a:xfrm>
          <a:prstGeom prst="rect">
            <a:avLst/>
          </a:prstGeom>
          <a:noFill/>
        </p:spPr>
        <p:txBody>
          <a:bodyPr wrap="square" lIns="0" rIns="0" tIns="0" bIns="0" anchor="ctr">
            <a:noAutofit/>
          </a:bodyPr>
          <a:lstStyle/>
          <a:p>
            <a:pPr algn="r">
              <a:spcAft>
                <a:spcPts val="400"/>
              </a:spcAft>
            </a:pPr>
            <a:r>
              <a:rPr sz="1150" b="1" lang="en-GB">
                <a:solidFill>
                  <a:schemeClr val="bg1"/>
                </a:solidFill>
              </a:rPr>
              <a:t>google</a:t>
            </a:r>
          </a:p>
        </p:txBody>
      </p:sp>
      <p:sp>
        <p:nvSpPr>
          <p:cNvPr id="38" name="Ladder out 1-4"/>
          <p:cNvSpPr/>
          <p:nvPr/>
        </p:nvSpPr>
        <p:spPr>
          <a:xfrm>
            <a:off x="7973342" y="1682496"/>
            <a:ext cx="713458" cy="329184"/>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Ladder out text 1-4"/>
          <p:cNvSpPr txBox="1"/>
          <p:nvPr/>
        </p:nvSpPr>
        <p:spPr>
          <a:xfrm>
            <a:off x="8064782" y="1682496"/>
            <a:ext cx="503146" cy="329184"/>
          </a:xfrm>
          <a:prstGeom prst="rect">
            <a:avLst/>
          </a:prstGeom>
          <a:noFill/>
        </p:spPr>
        <p:txBody>
          <a:bodyPr wrap="square" lIns="0" rIns="0" tIns="0" bIns="0" anchor="ctr">
            <a:noAutofit/>
          </a:bodyPr>
          <a:lstStyle/>
          <a:p>
            <a:pPr algn="r">
              <a:spcAft>
                <a:spcPts val="400"/>
              </a:spcAft>
            </a:pPr>
            <a:r>
              <a:rPr sz="1150" b="1" lang="en-GB">
                <a:solidFill>
                  <a:schemeClr val="bg1"/>
                </a:solidFill>
              </a:rPr>
              <a:t>meta</a:t>
            </a:r>
          </a:p>
        </p:txBody>
      </p:sp>
      <p:sp>
        <p:nvSpPr>
          <p:cNvPr id="40" name="Ladder out 2-1"/>
          <p:cNvSpPr/>
          <p:nvPr/>
        </p:nvSpPr>
        <p:spPr>
          <a:xfrm>
            <a:off x="5074920" y="2039112"/>
            <a:ext cx="1265710" cy="32918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Ladder out text 2-1"/>
          <p:cNvSpPr txBox="1"/>
          <p:nvPr/>
        </p:nvSpPr>
        <p:spPr>
          <a:xfrm>
            <a:off x="5166360" y="2039112"/>
            <a:ext cx="1082830" cy="329184"/>
          </a:xfrm>
          <a:prstGeom prst="rect">
            <a:avLst/>
          </a:prstGeom>
          <a:noFill/>
        </p:spPr>
        <p:txBody>
          <a:bodyPr wrap="square" lIns="0" rIns="0" tIns="0" bIns="0" anchor="ctr">
            <a:noAutofit/>
          </a:bodyPr>
          <a:lstStyle/>
          <a:p>
            <a:pPr algn="l">
              <a:spcAft>
                <a:spcPts val="400"/>
              </a:spcAft>
            </a:pPr>
            <a:r>
              <a:rPr sz="1150" b="1" lang="en-GB">
                <a:solidFill>
                  <a:schemeClr val="tx2"/>
                </a:solidFill>
              </a:rPr>
              <a:t>26 Jul 2021</a:t>
            </a:r>
          </a:p>
        </p:txBody>
      </p:sp>
      <p:sp>
        <p:nvSpPr>
          <p:cNvPr id="42" name="Ladder out 2-2"/>
          <p:cNvSpPr/>
          <p:nvPr/>
        </p:nvSpPr>
        <p:spPr>
          <a:xfrm>
            <a:off x="6368062" y="2039112"/>
            <a:ext cx="775208" cy="32918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Ladder out text 2-2"/>
          <p:cNvSpPr txBox="1"/>
          <p:nvPr/>
        </p:nvSpPr>
        <p:spPr>
          <a:xfrm>
            <a:off x="6459502" y="2039112"/>
            <a:ext cx="592328" cy="329184"/>
          </a:xfrm>
          <a:prstGeom prst="rect">
            <a:avLst/>
          </a:prstGeom>
          <a:noFill/>
        </p:spPr>
        <p:txBody>
          <a:bodyPr wrap="square" lIns="0" rIns="0" tIns="0" bIns="0" anchor="ctr">
            <a:noAutofit/>
          </a:bodyPr>
          <a:lstStyle/>
          <a:p>
            <a:pPr algn="r">
              <a:spcAft>
                <a:spcPts val="400"/>
              </a:spcAft>
            </a:pPr>
            <a:r>
              <a:rPr sz="1150" b="0" lang="en-GB">
                <a:solidFill>
                  <a:schemeClr val="tx1"/>
                </a:solidFill>
              </a:rPr>
              <a:t>7.46</a:t>
            </a:r>
          </a:p>
        </p:txBody>
      </p:sp>
      <p:sp>
        <p:nvSpPr>
          <p:cNvPr id="44" name="Ladder out 2-3"/>
          <p:cNvSpPr/>
          <p:nvPr/>
        </p:nvSpPr>
        <p:spPr>
          <a:xfrm>
            <a:off x="7170702" y="2039112"/>
            <a:ext cx="775208" cy="32918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Ladder out text 2-3"/>
          <p:cNvSpPr txBox="1"/>
          <p:nvPr/>
        </p:nvSpPr>
        <p:spPr>
          <a:xfrm>
            <a:off x="7262142" y="2039112"/>
            <a:ext cx="592328" cy="329184"/>
          </a:xfrm>
          <a:prstGeom prst="rect">
            <a:avLst/>
          </a:prstGeom>
          <a:noFill/>
        </p:spPr>
        <p:txBody>
          <a:bodyPr wrap="square" lIns="0" rIns="0" tIns="0" bIns="0" anchor="ctr">
            <a:noAutofit/>
          </a:bodyPr>
          <a:lstStyle/>
          <a:p>
            <a:pPr algn="r">
              <a:spcAft>
                <a:spcPts val="400"/>
              </a:spcAft>
            </a:pPr>
            <a:r>
              <a:rPr sz="1150" b="0" lang="en-GB">
                <a:solidFill>
                  <a:schemeClr val="tx1"/>
                </a:solidFill>
              </a:rPr>
              <a:t>1.02</a:t>
            </a:r>
          </a:p>
        </p:txBody>
      </p:sp>
      <p:sp>
        <p:nvSpPr>
          <p:cNvPr id="46" name="Ladder out 2-4"/>
          <p:cNvSpPr/>
          <p:nvPr/>
        </p:nvSpPr>
        <p:spPr>
          <a:xfrm>
            <a:off x="7973342" y="2039112"/>
            <a:ext cx="713458" cy="32918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7" name="Ladder out text 2-4"/>
          <p:cNvSpPr txBox="1"/>
          <p:nvPr/>
        </p:nvSpPr>
        <p:spPr>
          <a:xfrm>
            <a:off x="8064782" y="2039112"/>
            <a:ext cx="503146" cy="329184"/>
          </a:xfrm>
          <a:prstGeom prst="rect">
            <a:avLst/>
          </a:prstGeom>
          <a:noFill/>
        </p:spPr>
        <p:txBody>
          <a:bodyPr wrap="square" lIns="0" rIns="0" tIns="0" bIns="0" anchor="ctr">
            <a:noAutofit/>
          </a:bodyPr>
          <a:lstStyle/>
          <a:p>
            <a:pPr algn="r">
              <a:spcAft>
                <a:spcPts val="400"/>
              </a:spcAft>
            </a:pPr>
            <a:r>
              <a:rPr sz="1150" b="0" lang="en-GB">
                <a:solidFill>
                  <a:schemeClr val="tx1"/>
                </a:solidFill>
              </a:rPr>
              <a:t>0.39</a:t>
            </a:r>
          </a:p>
        </p:txBody>
      </p:sp>
      <p:sp>
        <p:nvSpPr>
          <p:cNvPr id="48" name="Ladder out 3-1"/>
          <p:cNvSpPr/>
          <p:nvPr/>
        </p:nvSpPr>
        <p:spPr>
          <a:xfrm>
            <a:off x="5074920" y="2395728"/>
            <a:ext cx="1265710" cy="32918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9" name="Ladder out text 3-1"/>
          <p:cNvSpPr txBox="1"/>
          <p:nvPr/>
        </p:nvSpPr>
        <p:spPr>
          <a:xfrm>
            <a:off x="5166360" y="2395728"/>
            <a:ext cx="1082830" cy="329184"/>
          </a:xfrm>
          <a:prstGeom prst="rect">
            <a:avLst/>
          </a:prstGeom>
          <a:noFill/>
        </p:spPr>
        <p:txBody>
          <a:bodyPr wrap="square" lIns="0" rIns="0" tIns="0" bIns="0" anchor="ctr">
            <a:noAutofit/>
          </a:bodyPr>
          <a:lstStyle/>
          <a:p>
            <a:pPr algn="l">
              <a:spcAft>
                <a:spcPts val="400"/>
              </a:spcAft>
            </a:pPr>
            <a:r>
              <a:rPr sz="1150" b="1" lang="en-GB">
                <a:solidFill>
                  <a:schemeClr val="tx2"/>
                </a:solidFill>
              </a:rPr>
              <a:t>2 Aug 2021</a:t>
            </a:r>
          </a:p>
        </p:txBody>
      </p:sp>
      <p:sp>
        <p:nvSpPr>
          <p:cNvPr id="50" name="Ladder out 3-2"/>
          <p:cNvSpPr/>
          <p:nvPr/>
        </p:nvSpPr>
        <p:spPr>
          <a:xfrm>
            <a:off x="6368062" y="2395728"/>
            <a:ext cx="775208" cy="32918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1" name="Ladder out text 3-2"/>
          <p:cNvSpPr txBox="1"/>
          <p:nvPr/>
        </p:nvSpPr>
        <p:spPr>
          <a:xfrm>
            <a:off x="6459502" y="2395728"/>
            <a:ext cx="592328" cy="329184"/>
          </a:xfrm>
          <a:prstGeom prst="rect">
            <a:avLst/>
          </a:prstGeom>
          <a:noFill/>
        </p:spPr>
        <p:txBody>
          <a:bodyPr wrap="square" lIns="0" rIns="0" tIns="0" bIns="0" anchor="ctr">
            <a:noAutofit/>
          </a:bodyPr>
          <a:lstStyle/>
          <a:p>
            <a:pPr algn="r">
              <a:spcAft>
                <a:spcPts val="400"/>
              </a:spcAft>
            </a:pPr>
            <a:r>
              <a:rPr sz="1150" b="0" lang="en-GB">
                <a:solidFill>
                  <a:schemeClr val="tx1"/>
                </a:solidFill>
              </a:rPr>
              <a:t>9.32</a:t>
            </a:r>
          </a:p>
        </p:txBody>
      </p:sp>
      <p:sp>
        <p:nvSpPr>
          <p:cNvPr id="52" name="Ladder out 3-3"/>
          <p:cNvSpPr/>
          <p:nvPr/>
        </p:nvSpPr>
        <p:spPr>
          <a:xfrm>
            <a:off x="7170702" y="2395728"/>
            <a:ext cx="775208" cy="32918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3" name="Ladder out text 3-3"/>
          <p:cNvSpPr txBox="1"/>
          <p:nvPr/>
        </p:nvSpPr>
        <p:spPr>
          <a:xfrm>
            <a:off x="7262142" y="2395728"/>
            <a:ext cx="592328" cy="329184"/>
          </a:xfrm>
          <a:prstGeom prst="rect">
            <a:avLst/>
          </a:prstGeom>
          <a:noFill/>
        </p:spPr>
        <p:txBody>
          <a:bodyPr wrap="square" lIns="0" rIns="0" tIns="0" bIns="0" anchor="ctr">
            <a:noAutofit/>
          </a:bodyPr>
          <a:lstStyle/>
          <a:p>
            <a:pPr algn="r">
              <a:spcAft>
                <a:spcPts val="400"/>
              </a:spcAft>
            </a:pPr>
            <a:r>
              <a:rPr sz="1150" b="0" lang="en-GB">
                <a:solidFill>
                  <a:schemeClr val="tx1"/>
                </a:solidFill>
              </a:rPr>
              <a:t>1.36</a:t>
            </a:r>
          </a:p>
        </p:txBody>
      </p:sp>
      <p:sp>
        <p:nvSpPr>
          <p:cNvPr id="54" name="Ladder out 3-4"/>
          <p:cNvSpPr/>
          <p:nvPr/>
        </p:nvSpPr>
        <p:spPr>
          <a:xfrm>
            <a:off x="7973342" y="2395728"/>
            <a:ext cx="713458" cy="32918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5" name="Ladder out text 3-4"/>
          <p:cNvSpPr txBox="1"/>
          <p:nvPr/>
        </p:nvSpPr>
        <p:spPr>
          <a:xfrm>
            <a:off x="8064782" y="2395728"/>
            <a:ext cx="503146" cy="329184"/>
          </a:xfrm>
          <a:prstGeom prst="rect">
            <a:avLst/>
          </a:prstGeom>
          <a:noFill/>
        </p:spPr>
        <p:txBody>
          <a:bodyPr wrap="square" lIns="0" rIns="0" tIns="0" bIns="0" anchor="ctr">
            <a:noAutofit/>
          </a:bodyPr>
          <a:lstStyle/>
          <a:p>
            <a:pPr algn="r">
              <a:spcAft>
                <a:spcPts val="400"/>
              </a:spcAft>
            </a:pPr>
            <a:r>
              <a:rPr sz="1150" b="0" lang="en-GB">
                <a:solidFill>
                  <a:schemeClr val="tx1"/>
                </a:solidFill>
              </a:rPr>
              <a:t>0.27</a:t>
            </a:r>
          </a:p>
        </p:txBody>
      </p:sp>
      <p:sp>
        <p:nvSpPr>
          <p:cNvPr id="56" name="Ladder out 4-1"/>
          <p:cNvSpPr/>
          <p:nvPr/>
        </p:nvSpPr>
        <p:spPr>
          <a:xfrm>
            <a:off x="5074920" y="2752344"/>
            <a:ext cx="1265710" cy="32918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7" name="Ladder out text 4-1"/>
          <p:cNvSpPr txBox="1"/>
          <p:nvPr/>
        </p:nvSpPr>
        <p:spPr>
          <a:xfrm>
            <a:off x="5166360" y="2752344"/>
            <a:ext cx="1082830" cy="329184"/>
          </a:xfrm>
          <a:prstGeom prst="rect">
            <a:avLst/>
          </a:prstGeom>
          <a:noFill/>
        </p:spPr>
        <p:txBody>
          <a:bodyPr wrap="square" lIns="0" rIns="0" tIns="0" bIns="0" anchor="ctr">
            <a:noAutofit/>
          </a:bodyPr>
          <a:lstStyle/>
          <a:p>
            <a:pPr algn="l">
              <a:spcAft>
                <a:spcPts val="400"/>
              </a:spcAft>
            </a:pPr>
            <a:r>
              <a:rPr sz="1150" b="1" lang="en-GB">
                <a:solidFill>
                  <a:schemeClr val="tx2"/>
                </a:solidFill>
              </a:rPr>
              <a:t>9 Aug 2021</a:t>
            </a:r>
          </a:p>
        </p:txBody>
      </p:sp>
      <p:sp>
        <p:nvSpPr>
          <p:cNvPr id="58" name="Ladder out 4-2"/>
          <p:cNvSpPr/>
          <p:nvPr/>
        </p:nvSpPr>
        <p:spPr>
          <a:xfrm>
            <a:off x="6368062" y="2752344"/>
            <a:ext cx="775208" cy="32918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9" name="Ladder out text 4-2"/>
          <p:cNvSpPr txBox="1"/>
          <p:nvPr/>
        </p:nvSpPr>
        <p:spPr>
          <a:xfrm>
            <a:off x="6459502" y="2752344"/>
            <a:ext cx="592328" cy="329184"/>
          </a:xfrm>
          <a:prstGeom prst="rect">
            <a:avLst/>
          </a:prstGeom>
          <a:noFill/>
        </p:spPr>
        <p:txBody>
          <a:bodyPr wrap="square" lIns="0" rIns="0" tIns="0" bIns="0" anchor="ctr">
            <a:noAutofit/>
          </a:bodyPr>
          <a:lstStyle/>
          <a:p>
            <a:pPr algn="r">
              <a:spcAft>
                <a:spcPts val="400"/>
              </a:spcAft>
            </a:pPr>
            <a:r>
              <a:rPr sz="1150" b="0" lang="en-GB">
                <a:solidFill>
                  <a:schemeClr val="tx1"/>
                </a:solidFill>
              </a:rPr>
              <a:t>8.61</a:t>
            </a:r>
          </a:p>
        </p:txBody>
      </p:sp>
      <p:sp>
        <p:nvSpPr>
          <p:cNvPr id="60" name="Ladder out 4-3"/>
          <p:cNvSpPr/>
          <p:nvPr/>
        </p:nvSpPr>
        <p:spPr>
          <a:xfrm>
            <a:off x="7170702" y="2752344"/>
            <a:ext cx="775208" cy="32918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1" name="Ladder out text 4-3"/>
          <p:cNvSpPr txBox="1"/>
          <p:nvPr/>
        </p:nvSpPr>
        <p:spPr>
          <a:xfrm>
            <a:off x="7262142" y="2752344"/>
            <a:ext cx="592328" cy="329184"/>
          </a:xfrm>
          <a:prstGeom prst="rect">
            <a:avLst/>
          </a:prstGeom>
          <a:noFill/>
        </p:spPr>
        <p:txBody>
          <a:bodyPr wrap="square" lIns="0" rIns="0" tIns="0" bIns="0" anchor="ctr">
            <a:noAutofit/>
          </a:bodyPr>
          <a:lstStyle/>
          <a:p>
            <a:pPr algn="r">
              <a:spcAft>
                <a:spcPts val="400"/>
              </a:spcAft>
            </a:pPr>
            <a:r>
              <a:rPr sz="1150" b="0" lang="en-GB">
                <a:solidFill>
                  <a:schemeClr val="tx1"/>
                </a:solidFill>
              </a:rPr>
              <a:t>1.28</a:t>
            </a:r>
          </a:p>
        </p:txBody>
      </p:sp>
      <p:sp>
        <p:nvSpPr>
          <p:cNvPr id="62" name="Ladder out 4-4"/>
          <p:cNvSpPr/>
          <p:nvPr/>
        </p:nvSpPr>
        <p:spPr>
          <a:xfrm>
            <a:off x="7973342" y="2752344"/>
            <a:ext cx="713458" cy="32918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3" name="Ladder out text 4-4"/>
          <p:cNvSpPr txBox="1"/>
          <p:nvPr/>
        </p:nvSpPr>
        <p:spPr>
          <a:xfrm>
            <a:off x="8064782" y="2752344"/>
            <a:ext cx="503146" cy="329184"/>
          </a:xfrm>
          <a:prstGeom prst="rect">
            <a:avLst/>
          </a:prstGeom>
          <a:noFill/>
        </p:spPr>
        <p:txBody>
          <a:bodyPr wrap="square" lIns="0" rIns="0" tIns="0" bIns="0" anchor="ctr">
            <a:noAutofit/>
          </a:bodyPr>
          <a:lstStyle/>
          <a:p>
            <a:pPr algn="r">
              <a:spcAft>
                <a:spcPts val="400"/>
              </a:spcAft>
            </a:pPr>
            <a:r>
              <a:rPr sz="1150" b="0" lang="en-GB">
                <a:solidFill>
                  <a:schemeClr val="tx1"/>
                </a:solidFill>
              </a:rPr>
              <a:t>0.26</a:t>
            </a:r>
          </a:p>
        </p:txBody>
      </p:sp>
      <p:sp>
        <p:nvSpPr>
          <p:cNvPr id="64" name="Ladder out 5-1"/>
          <p:cNvSpPr/>
          <p:nvPr/>
        </p:nvSpPr>
        <p:spPr>
          <a:xfrm>
            <a:off x="5074920" y="3108960"/>
            <a:ext cx="1265710" cy="32918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5" name="Ladder out text 5-1"/>
          <p:cNvSpPr txBox="1"/>
          <p:nvPr/>
        </p:nvSpPr>
        <p:spPr>
          <a:xfrm>
            <a:off x="5166360" y="3108960"/>
            <a:ext cx="1082830" cy="329184"/>
          </a:xfrm>
          <a:prstGeom prst="rect">
            <a:avLst/>
          </a:prstGeom>
          <a:noFill/>
        </p:spPr>
        <p:txBody>
          <a:bodyPr wrap="square" lIns="0" rIns="0" tIns="0" bIns="0" anchor="ctr">
            <a:noAutofit/>
          </a:bodyPr>
          <a:lstStyle/>
          <a:p>
            <a:pPr algn="l">
              <a:spcAft>
                <a:spcPts val="400"/>
              </a:spcAft>
            </a:pPr>
            <a:r>
              <a:rPr sz="1150" b="1" lang="en-GB">
                <a:solidFill>
                  <a:schemeClr val="tx2"/>
                </a:solidFill>
              </a:rPr>
              <a:t>total</a:t>
            </a:r>
          </a:p>
        </p:txBody>
      </p:sp>
      <p:sp>
        <p:nvSpPr>
          <p:cNvPr id="66" name="Ladder out 5-2"/>
          <p:cNvSpPr/>
          <p:nvPr/>
        </p:nvSpPr>
        <p:spPr>
          <a:xfrm>
            <a:off x="6368062" y="3108960"/>
            <a:ext cx="775208" cy="32918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7" name="Ladder out text 5-2"/>
          <p:cNvSpPr txBox="1"/>
          <p:nvPr/>
        </p:nvSpPr>
        <p:spPr>
          <a:xfrm>
            <a:off x="6459502" y="3108960"/>
            <a:ext cx="592328" cy="329184"/>
          </a:xfrm>
          <a:prstGeom prst="rect">
            <a:avLst/>
          </a:prstGeom>
          <a:noFill/>
        </p:spPr>
        <p:txBody>
          <a:bodyPr wrap="square" lIns="0" rIns="0" tIns="0" bIns="0" anchor="ctr">
            <a:noAutofit/>
          </a:bodyPr>
          <a:lstStyle/>
          <a:p>
            <a:pPr algn="r">
              <a:spcAft>
                <a:spcPts val="400"/>
              </a:spcAft>
            </a:pPr>
            <a:r>
              <a:rPr sz="1150" b="0" lang="en-GB">
                <a:solidFill>
                  <a:schemeClr val="tx1"/>
                </a:solidFill>
              </a:rPr>
              <a:t>3,180</a:t>
            </a:r>
          </a:p>
        </p:txBody>
      </p:sp>
      <p:sp>
        <p:nvSpPr>
          <p:cNvPr id="68" name="Ladder out 5-3"/>
          <p:cNvSpPr/>
          <p:nvPr/>
        </p:nvSpPr>
        <p:spPr>
          <a:xfrm>
            <a:off x="7170702" y="3108960"/>
            <a:ext cx="775208" cy="32918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9" name="Ladder out text 5-3"/>
          <p:cNvSpPr txBox="1"/>
          <p:nvPr/>
        </p:nvSpPr>
        <p:spPr>
          <a:xfrm>
            <a:off x="7262142" y="3108960"/>
            <a:ext cx="592328" cy="329184"/>
          </a:xfrm>
          <a:prstGeom prst="rect">
            <a:avLst/>
          </a:prstGeom>
          <a:noFill/>
        </p:spPr>
        <p:txBody>
          <a:bodyPr wrap="square" lIns="0" rIns="0" tIns="0" bIns="0" anchor="ctr">
            <a:noAutofit/>
          </a:bodyPr>
          <a:lstStyle/>
          <a:p>
            <a:pPr algn="r">
              <a:spcAft>
                <a:spcPts val="400"/>
              </a:spcAft>
            </a:pPr>
            <a:r>
              <a:rPr sz="1150" b="0" lang="en-GB">
                <a:solidFill>
                  <a:schemeClr val="tx1"/>
                </a:solidFill>
              </a:rPr>
              <a:t>491</a:t>
            </a:r>
          </a:p>
        </p:txBody>
      </p:sp>
      <p:sp>
        <p:nvSpPr>
          <p:cNvPr id="70" name="Ladder out 5-4"/>
          <p:cNvSpPr/>
          <p:nvPr/>
        </p:nvSpPr>
        <p:spPr>
          <a:xfrm>
            <a:off x="7973342" y="3108960"/>
            <a:ext cx="713458" cy="32918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1" name="Ladder out text 5-4"/>
          <p:cNvSpPr txBox="1"/>
          <p:nvPr/>
        </p:nvSpPr>
        <p:spPr>
          <a:xfrm>
            <a:off x="8064782" y="3108960"/>
            <a:ext cx="503146" cy="329184"/>
          </a:xfrm>
          <a:prstGeom prst="rect">
            <a:avLst/>
          </a:prstGeom>
          <a:noFill/>
        </p:spPr>
        <p:txBody>
          <a:bodyPr wrap="square" lIns="0" rIns="0" tIns="0" bIns="0" anchor="ctr">
            <a:noAutofit/>
          </a:bodyPr>
          <a:lstStyle/>
          <a:p>
            <a:pPr algn="r">
              <a:spcAft>
                <a:spcPts val="400"/>
              </a:spcAft>
            </a:pPr>
            <a:r>
              <a:rPr sz="1150" b="0" lang="en-GB">
                <a:solidFill>
                  <a:schemeClr val="tx1"/>
                </a:solidFill>
              </a:rPr>
              <a:t>70</a:t>
            </a:r>
          </a:p>
        </p:txBody>
      </p:sp>
      <p:sp>
        <p:nvSpPr>
          <p:cNvPr id="72" name="Ladder reading box"/>
          <p:cNvSpPr/>
          <p:nvPr/>
        </p:nvSpPr>
        <p:spPr>
          <a:xfrm>
            <a:off x="457200" y="3895344"/>
            <a:ext cx="8229600" cy="4572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73" name="Icon Ladder reading" descr=""/>
          <p:cNvPicPr>
            <a:picLocks noChangeAspect="1"/>
          </p:cNvPicPr>
          <p:nvPr/>
        </p:nvPicPr>
        <p:blipFill>
          <a:blip r:embed="rId3"/>
          <a:stretch>
            <a:fillRect/>
          </a:stretch>
        </p:blipFill>
        <p:spPr>
          <a:xfrm>
            <a:off x="658368" y="3941064"/>
            <a:ext cx="365760" cy="365760"/>
          </a:xfrm>
          <a:prstGeom prst="rect">
            <a:avLst/>
          </a:prstGeom>
        </p:spPr>
      </p:pic>
      <p:sp>
        <p:nvSpPr>
          <p:cNvPr id="74" name="Ladder reading text"/>
          <p:cNvSpPr txBox="1"/>
          <p:nvPr/>
        </p:nvSpPr>
        <p:spPr>
          <a:xfrm>
            <a:off x="1207008" y="3895344"/>
            <a:ext cx="7315200" cy="457200"/>
          </a:xfrm>
          <a:prstGeom prst="rect">
            <a:avLst/>
          </a:prstGeom>
          <a:noFill/>
        </p:spPr>
        <p:txBody>
          <a:bodyPr wrap="square" lIns="0" rIns="0" tIns="0" bIns="0" anchor="ctr">
            <a:noAutofit/>
          </a:bodyPr>
          <a:lstStyle/>
          <a:p>
            <a:pPr algn="l">
              <a:spcAft>
                <a:spcPts val="400"/>
              </a:spcAft>
            </a:pPr>
            <a:r>
              <a:rPr sz="1200" b="1" lang="en-GB">
                <a:solidFill>
                  <a:schemeClr val="tx2"/>
                </a:solidFill>
              </a:rPr>
              <a:t>Look first: </a:t>
            </a:r>
            <a:r>
              <a:rPr sz="1200" b="0" lang="en-GB">
                <a:solidFill>
                  <a:schemeClr val="tx1"/>
                </a:solidFill>
              </a:rPr>
              <a:t>134 weeks; Google gets 7 of every 8 euros.</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Step 2: a first regression</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Ladder step 1"/>
          <p:cNvSpPr/>
          <p:nvPr/>
        </p:nvSpPr>
        <p:spPr>
          <a:xfrm>
            <a:off x="457200" y="1234440"/>
            <a:ext cx="881888" cy="31089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Ladder step 1 text"/>
          <p:cNvSpPr txBox="1"/>
          <p:nvPr/>
        </p:nvSpPr>
        <p:spPr>
          <a:xfrm>
            <a:off x="457200" y="1234440"/>
            <a:ext cx="881888" cy="310896"/>
          </a:xfrm>
          <a:prstGeom prst="rect">
            <a:avLst/>
          </a:prstGeom>
          <a:noFill/>
        </p:spPr>
        <p:txBody>
          <a:bodyPr wrap="square" lIns="0" rIns="0" tIns="0" bIns="0" anchor="ctr">
            <a:noAutofit/>
          </a:bodyPr>
          <a:lstStyle/>
          <a:p>
            <a:pPr algn="ctr">
              <a:spcAft>
                <a:spcPts val="400"/>
              </a:spcAft>
            </a:pPr>
            <a:r>
              <a:rPr sz="1100" b="1" lang="en-GB">
                <a:solidFill>
                  <a:schemeClr val="tx2"/>
                </a:solidFill>
              </a:rPr>
              <a:t>1 Load</a:t>
            </a:r>
          </a:p>
        </p:txBody>
      </p:sp>
      <p:sp>
        <p:nvSpPr>
          <p:cNvPr id="12" name="Ladder step 2"/>
          <p:cNvSpPr/>
          <p:nvPr/>
        </p:nvSpPr>
        <p:spPr>
          <a:xfrm>
            <a:off x="1375664" y="1234440"/>
            <a:ext cx="881888" cy="310896"/>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Ladder step 2 text"/>
          <p:cNvSpPr txBox="1"/>
          <p:nvPr/>
        </p:nvSpPr>
        <p:spPr>
          <a:xfrm>
            <a:off x="1375664" y="1234440"/>
            <a:ext cx="881888" cy="310896"/>
          </a:xfrm>
          <a:prstGeom prst="rect">
            <a:avLst/>
          </a:prstGeom>
          <a:noFill/>
        </p:spPr>
        <p:txBody>
          <a:bodyPr wrap="square" lIns="0" rIns="0" tIns="0" bIns="0" anchor="ctr">
            <a:noAutofit/>
          </a:bodyPr>
          <a:lstStyle/>
          <a:p>
            <a:pPr algn="ctr">
              <a:spcAft>
                <a:spcPts val="400"/>
              </a:spcAft>
            </a:pPr>
            <a:r>
              <a:rPr sz="1100" b="1" lang="en-GB">
                <a:solidFill>
                  <a:schemeClr val="bg1"/>
                </a:solidFill>
              </a:rPr>
              <a:t>2 Regress</a:t>
            </a:r>
          </a:p>
        </p:txBody>
      </p:sp>
      <p:sp>
        <p:nvSpPr>
          <p:cNvPr id="14" name="Ladder step 3"/>
          <p:cNvSpPr/>
          <p:nvPr/>
        </p:nvSpPr>
        <p:spPr>
          <a:xfrm>
            <a:off x="2294128" y="1234440"/>
            <a:ext cx="881888" cy="31089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Ladder step 3 text"/>
          <p:cNvSpPr txBox="1"/>
          <p:nvPr/>
        </p:nvSpPr>
        <p:spPr>
          <a:xfrm>
            <a:off x="2294128" y="1234440"/>
            <a:ext cx="881888" cy="310896"/>
          </a:xfrm>
          <a:prstGeom prst="rect">
            <a:avLst/>
          </a:prstGeom>
          <a:noFill/>
        </p:spPr>
        <p:txBody>
          <a:bodyPr wrap="square" lIns="0" rIns="0" tIns="0" bIns="0" anchor="ctr">
            <a:noAutofit/>
          </a:bodyPr>
          <a:lstStyle/>
          <a:p>
            <a:pPr algn="ctr">
              <a:spcAft>
                <a:spcPts val="400"/>
              </a:spcAft>
            </a:pPr>
            <a:r>
              <a:rPr sz="1100" b="1" lang="en-GB">
                <a:solidFill>
                  <a:schemeClr val="tx2"/>
                </a:solidFill>
              </a:rPr>
              <a:t>3 Trend</a:t>
            </a:r>
          </a:p>
        </p:txBody>
      </p:sp>
      <p:sp>
        <p:nvSpPr>
          <p:cNvPr id="16" name="Ladder step 4"/>
          <p:cNvSpPr/>
          <p:nvPr/>
        </p:nvSpPr>
        <p:spPr>
          <a:xfrm>
            <a:off x="3212592" y="1234440"/>
            <a:ext cx="881888" cy="31089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Ladder step 4 text"/>
          <p:cNvSpPr txBox="1"/>
          <p:nvPr/>
        </p:nvSpPr>
        <p:spPr>
          <a:xfrm>
            <a:off x="3212592" y="1234440"/>
            <a:ext cx="881888" cy="310896"/>
          </a:xfrm>
          <a:prstGeom prst="rect">
            <a:avLst/>
          </a:prstGeom>
          <a:noFill/>
        </p:spPr>
        <p:txBody>
          <a:bodyPr wrap="square" lIns="0" rIns="0" tIns="0" bIns="0" anchor="ctr">
            <a:noAutofit/>
          </a:bodyPr>
          <a:lstStyle/>
          <a:p>
            <a:pPr algn="ctr">
              <a:spcAft>
                <a:spcPts val="400"/>
              </a:spcAft>
            </a:pPr>
            <a:r>
              <a:rPr sz="1100" b="1" lang="en-GB">
                <a:solidFill>
                  <a:schemeClr val="tx2"/>
                </a:solidFill>
              </a:rPr>
              <a:t>4 Adstock</a:t>
            </a:r>
          </a:p>
        </p:txBody>
      </p:sp>
      <p:sp>
        <p:nvSpPr>
          <p:cNvPr id="18" name="Ladder step 5"/>
          <p:cNvSpPr/>
          <p:nvPr/>
        </p:nvSpPr>
        <p:spPr>
          <a:xfrm>
            <a:off x="4131056" y="1234440"/>
            <a:ext cx="881888" cy="31089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Ladder step 5 text"/>
          <p:cNvSpPr txBox="1"/>
          <p:nvPr/>
        </p:nvSpPr>
        <p:spPr>
          <a:xfrm>
            <a:off x="4131056" y="1234440"/>
            <a:ext cx="881888" cy="310896"/>
          </a:xfrm>
          <a:prstGeom prst="rect">
            <a:avLst/>
          </a:prstGeom>
          <a:noFill/>
        </p:spPr>
        <p:txBody>
          <a:bodyPr wrap="square" lIns="0" rIns="0" tIns="0" bIns="0" anchor="ctr">
            <a:noAutofit/>
          </a:bodyPr>
          <a:lstStyle/>
          <a:p>
            <a:pPr algn="ctr">
              <a:spcAft>
                <a:spcPts val="400"/>
              </a:spcAft>
            </a:pPr>
            <a:r>
              <a:rPr sz="1100" b="1" lang="en-GB">
                <a:solidFill>
                  <a:schemeClr val="tx2"/>
                </a:solidFill>
              </a:rPr>
              <a:t>5 Carry</a:t>
            </a:r>
          </a:p>
        </p:txBody>
      </p:sp>
      <p:sp>
        <p:nvSpPr>
          <p:cNvPr id="20" name="Ladder step 6"/>
          <p:cNvSpPr/>
          <p:nvPr/>
        </p:nvSpPr>
        <p:spPr>
          <a:xfrm>
            <a:off x="5049520" y="1234440"/>
            <a:ext cx="881888" cy="31089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Ladder step 6 text"/>
          <p:cNvSpPr txBox="1"/>
          <p:nvPr/>
        </p:nvSpPr>
        <p:spPr>
          <a:xfrm>
            <a:off x="5049520" y="1234440"/>
            <a:ext cx="881888" cy="310896"/>
          </a:xfrm>
          <a:prstGeom prst="rect">
            <a:avLst/>
          </a:prstGeom>
          <a:noFill/>
        </p:spPr>
        <p:txBody>
          <a:bodyPr wrap="square" lIns="0" rIns="0" tIns="0" bIns="0" anchor="ctr">
            <a:noAutofit/>
          </a:bodyPr>
          <a:lstStyle/>
          <a:p>
            <a:pPr algn="ctr">
              <a:spcAft>
                <a:spcPts val="400"/>
              </a:spcAft>
            </a:pPr>
            <a:r>
              <a:rPr sz="1100" b="1" lang="en-GB">
                <a:solidFill>
                  <a:schemeClr val="tx2"/>
                </a:solidFill>
              </a:rPr>
              <a:t>6 ROI</a:t>
            </a:r>
          </a:p>
        </p:txBody>
      </p:sp>
      <p:sp>
        <p:nvSpPr>
          <p:cNvPr id="22" name="Ladder step 7"/>
          <p:cNvSpPr/>
          <p:nvPr/>
        </p:nvSpPr>
        <p:spPr>
          <a:xfrm>
            <a:off x="5967984" y="1234440"/>
            <a:ext cx="881888" cy="31089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Ladder step 7 text"/>
          <p:cNvSpPr txBox="1"/>
          <p:nvPr/>
        </p:nvSpPr>
        <p:spPr>
          <a:xfrm>
            <a:off x="5967984" y="1234440"/>
            <a:ext cx="881888" cy="310896"/>
          </a:xfrm>
          <a:prstGeom prst="rect">
            <a:avLst/>
          </a:prstGeom>
          <a:noFill/>
        </p:spPr>
        <p:txBody>
          <a:bodyPr wrap="square" lIns="0" rIns="0" tIns="0" bIns="0" anchor="ctr">
            <a:noAutofit/>
          </a:bodyPr>
          <a:lstStyle/>
          <a:p>
            <a:pPr algn="ctr">
              <a:spcAft>
                <a:spcPts val="400"/>
              </a:spcAft>
            </a:pPr>
            <a:r>
              <a:rPr sz="1100" b="1" lang="en-GB">
                <a:solidFill>
                  <a:schemeClr val="tx2"/>
                </a:solidFill>
              </a:rPr>
              <a:t>7 Saturate</a:t>
            </a:r>
          </a:p>
        </p:txBody>
      </p:sp>
      <p:sp>
        <p:nvSpPr>
          <p:cNvPr id="24" name="Ladder step 8"/>
          <p:cNvSpPr/>
          <p:nvPr/>
        </p:nvSpPr>
        <p:spPr>
          <a:xfrm>
            <a:off x="6886448" y="1234440"/>
            <a:ext cx="881888" cy="31089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Ladder step 8 text"/>
          <p:cNvSpPr txBox="1"/>
          <p:nvPr/>
        </p:nvSpPr>
        <p:spPr>
          <a:xfrm>
            <a:off x="6886448" y="1234440"/>
            <a:ext cx="881888" cy="310896"/>
          </a:xfrm>
          <a:prstGeom prst="rect">
            <a:avLst/>
          </a:prstGeom>
          <a:noFill/>
        </p:spPr>
        <p:txBody>
          <a:bodyPr wrap="square" lIns="0" rIns="0" tIns="0" bIns="0" anchor="ctr">
            <a:noAutofit/>
          </a:bodyPr>
          <a:lstStyle/>
          <a:p>
            <a:pPr algn="ctr">
              <a:spcAft>
                <a:spcPts val="400"/>
              </a:spcAft>
            </a:pPr>
            <a:r>
              <a:rPr sz="1100" b="1" lang="en-GB">
                <a:solidFill>
                  <a:schemeClr val="tx2"/>
                </a:solidFill>
              </a:rPr>
              <a:t>8 PyMC</a:t>
            </a:r>
          </a:p>
        </p:txBody>
      </p:sp>
      <p:sp>
        <p:nvSpPr>
          <p:cNvPr id="26" name="Ladder step 9"/>
          <p:cNvSpPr/>
          <p:nvPr/>
        </p:nvSpPr>
        <p:spPr>
          <a:xfrm>
            <a:off x="7804912" y="1234440"/>
            <a:ext cx="881888" cy="31089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Ladder step 9 text"/>
          <p:cNvSpPr txBox="1"/>
          <p:nvPr/>
        </p:nvSpPr>
        <p:spPr>
          <a:xfrm>
            <a:off x="7804912" y="1234440"/>
            <a:ext cx="881888" cy="310896"/>
          </a:xfrm>
          <a:prstGeom prst="rect">
            <a:avLst/>
          </a:prstGeom>
          <a:noFill/>
        </p:spPr>
        <p:txBody>
          <a:bodyPr wrap="square" lIns="0" rIns="0" tIns="0" bIns="0" anchor="ctr">
            <a:noAutofit/>
          </a:bodyPr>
          <a:lstStyle/>
          <a:p>
            <a:pPr algn="ctr">
              <a:spcAft>
                <a:spcPts val="400"/>
              </a:spcAft>
            </a:pPr>
            <a:r>
              <a:rPr sz="1100" b="1" lang="en-GB">
                <a:solidFill>
                  <a:schemeClr val="tx2"/>
                </a:solidFill>
              </a:rPr>
              <a:t>9 Read</a:t>
            </a:r>
          </a:p>
        </p:txBody>
      </p:sp>
      <p:sp>
        <p:nvSpPr>
          <p:cNvPr id="28" name="Ladder code caption bar"/>
          <p:cNvSpPr/>
          <p:nvPr/>
        </p:nvSpPr>
        <p:spPr>
          <a:xfrm>
            <a:off x="457200" y="1682496"/>
            <a:ext cx="4480560" cy="27432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Ladder code caption"/>
          <p:cNvSpPr txBox="1"/>
          <p:nvPr/>
        </p:nvSpPr>
        <p:spPr>
          <a:xfrm>
            <a:off x="566928" y="1682496"/>
            <a:ext cx="4261104" cy="274320"/>
          </a:xfrm>
          <a:prstGeom prst="rect">
            <a:avLst/>
          </a:prstGeom>
          <a:noFill/>
        </p:spPr>
        <p:txBody>
          <a:bodyPr wrap="square" lIns="0" rIns="0" tIns="0" bIns="0" anchor="ctr">
            <a:noAutofit/>
          </a:bodyPr>
          <a:lstStyle/>
          <a:p>
            <a:pPr algn="l">
              <a:spcAft>
                <a:spcPts val="400"/>
              </a:spcAft>
            </a:pPr>
            <a:r>
              <a:rPr sz="1100" b="1" lang="en-GB">
                <a:solidFill>
                  <a:schemeClr val="bg1"/>
                </a:solidFill>
              </a:rPr>
              <a:t>open_source_mmm.qmd · Step 2</a:t>
            </a:r>
          </a:p>
        </p:txBody>
      </p:sp>
      <p:sp>
        <p:nvSpPr>
          <p:cNvPr id="30" name="Ladder code box"/>
          <p:cNvSpPr/>
          <p:nvPr/>
        </p:nvSpPr>
        <p:spPr>
          <a:xfrm>
            <a:off x="457200" y="1956816"/>
            <a:ext cx="4480560" cy="1126541"/>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Ladder code code"/>
          <p:cNvSpPr txBox="1"/>
          <p:nvPr/>
        </p:nvSpPr>
        <p:spPr>
          <a:xfrm>
            <a:off x="594360" y="2048256"/>
            <a:ext cx="4206240" cy="943661"/>
          </a:xfrm>
          <a:prstGeom prst="rect">
            <a:avLst/>
          </a:prstGeom>
          <a:noFill/>
        </p:spPr>
        <p:txBody>
          <a:bodyPr wrap="square" lIns="0" rIns="0" tIns="0" bIns="0" anchor="t">
            <a:noAutofit/>
          </a:bodyPr>
          <a:lstStyle/>
          <a:p>
            <a:pPr algn="l">
              <a:spcAft>
                <a:spcPts val="0"/>
              </a:spcAft>
            </a:pPr>
            <a:r>
              <a:rPr sz="1000" b="0" lang="en-GB">
                <a:solidFill>
                  <a:schemeClr val="bg1"/>
                </a:solidFill>
                <a:latin typeface="Consolas"/>
              </a:rPr>
              <a:t>import statsmodels.formula.api as smf</a:t>
            </a:r>
          </a:p>
          <a:p>
            <a:pPr algn="l">
              <a:spcAft>
                <a:spcPts val="0"/>
              </a:spcAft>
            </a:pPr>
            <a:r>
              <a:rPr sz="1000" b="0" lang="en-GB">
                <a:solidFill>
                  <a:schemeClr val="bg1"/>
                </a:solidFill>
                <a:latin typeface="Consolas"/>
              </a:rPr>
              <a:t> </a:t>
            </a:r>
          </a:p>
          <a:p>
            <a:pPr algn="l">
              <a:spcAft>
                <a:spcPts val="0"/>
              </a:spcAft>
            </a:pPr>
            <a:r>
              <a:rPr sz="1000" b="0" lang="en-GB">
                <a:solidFill>
                  <a:schemeClr val="bg1"/>
                </a:solidFill>
                <a:latin typeface="Consolas"/>
              </a:rPr>
              <a:t># sales on the spend of both channels</a:t>
            </a:r>
          </a:p>
          <a:p>
            <a:pPr algn="l">
              <a:spcAft>
                <a:spcPts val="0"/>
              </a:spcAft>
            </a:pPr>
            <a:r>
              <a:rPr sz="1000" b="0" lang="en-GB">
                <a:solidFill>
                  <a:schemeClr val="bg1"/>
                </a:solidFill>
                <a:latin typeface="Consolas"/>
              </a:rPr>
              <a:t>m1 = smf.ols("sales ~ google + meta",</a:t>
            </a:r>
          </a:p>
          <a:p>
            <a:pPr algn="l">
              <a:spcAft>
                <a:spcPts val="0"/>
              </a:spcAft>
            </a:pPr>
            <a:r>
              <a:rPr sz="1000" b="0" lang="en-GB">
                <a:solidFill>
                  <a:schemeClr val="bg1"/>
                </a:solidFill>
                <a:latin typeface="Consolas"/>
              </a:rPr>
              <a:t>             data=at.to_pandas()).fit()</a:t>
            </a:r>
          </a:p>
          <a:p>
            <a:pPr algn="l">
              <a:spcAft>
                <a:spcPts val="0"/>
              </a:spcAft>
            </a:pPr>
            <a:r>
              <a:rPr sz="1000" b="0" lang="en-GB">
                <a:solidFill>
                  <a:schemeClr val="bg1"/>
                </a:solidFill>
                <a:latin typeface="Consolas"/>
              </a:rPr>
              <a:t>m1.params</a:t>
            </a:r>
          </a:p>
        </p:txBody>
      </p:sp>
      <p:sp>
        <p:nvSpPr>
          <p:cNvPr id="32" name="Ladder out 1-1"/>
          <p:cNvSpPr/>
          <p:nvPr/>
        </p:nvSpPr>
        <p:spPr>
          <a:xfrm>
            <a:off x="5074920" y="1682496"/>
            <a:ext cx="2139696" cy="329184"/>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Ladder out text 1-1"/>
          <p:cNvSpPr txBox="1"/>
          <p:nvPr/>
        </p:nvSpPr>
        <p:spPr>
          <a:xfrm>
            <a:off x="5166360" y="1682496"/>
            <a:ext cx="1956816" cy="329184"/>
          </a:xfrm>
          <a:prstGeom prst="rect">
            <a:avLst/>
          </a:prstGeom>
          <a:noFill/>
        </p:spPr>
        <p:txBody>
          <a:bodyPr wrap="square" lIns="0" rIns="0" tIns="0" bIns="0" anchor="ctr">
            <a:noAutofit/>
          </a:bodyPr>
          <a:lstStyle/>
          <a:p>
            <a:pPr algn="l">
              <a:spcAft>
                <a:spcPts val="400"/>
              </a:spcAft>
            </a:pPr>
            <a:r>
              <a:rPr sz="1150" b="1" lang="en-GB">
                <a:solidFill>
                  <a:schemeClr val="bg1"/>
                </a:solidFill>
              </a:rPr>
              <a:t>term</a:t>
            </a:r>
          </a:p>
        </p:txBody>
      </p:sp>
      <p:sp>
        <p:nvSpPr>
          <p:cNvPr id="34" name="Ladder out 1-2"/>
          <p:cNvSpPr/>
          <p:nvPr/>
        </p:nvSpPr>
        <p:spPr>
          <a:xfrm>
            <a:off x="7242048" y="1682496"/>
            <a:ext cx="1444752" cy="329184"/>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Ladder out text 1-2"/>
          <p:cNvSpPr txBox="1"/>
          <p:nvPr/>
        </p:nvSpPr>
        <p:spPr>
          <a:xfrm>
            <a:off x="7333488" y="1682496"/>
            <a:ext cx="1234440" cy="329184"/>
          </a:xfrm>
          <a:prstGeom prst="rect">
            <a:avLst/>
          </a:prstGeom>
          <a:noFill/>
        </p:spPr>
        <p:txBody>
          <a:bodyPr wrap="square" lIns="0" rIns="0" tIns="0" bIns="0" anchor="ctr">
            <a:noAutofit/>
          </a:bodyPr>
          <a:lstStyle/>
          <a:p>
            <a:pPr algn="r">
              <a:spcAft>
                <a:spcPts val="400"/>
              </a:spcAft>
            </a:pPr>
            <a:r>
              <a:rPr sz="1150" b="1" lang="en-GB">
                <a:solidFill>
                  <a:schemeClr val="bg1"/>
                </a:solidFill>
              </a:rPr>
              <a:t>coef</a:t>
            </a:r>
          </a:p>
        </p:txBody>
      </p:sp>
      <p:sp>
        <p:nvSpPr>
          <p:cNvPr id="36" name="Ladder out 2-1"/>
          <p:cNvSpPr/>
          <p:nvPr/>
        </p:nvSpPr>
        <p:spPr>
          <a:xfrm>
            <a:off x="5074920" y="2039112"/>
            <a:ext cx="2139696" cy="32918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Ladder out text 2-1"/>
          <p:cNvSpPr txBox="1"/>
          <p:nvPr/>
        </p:nvSpPr>
        <p:spPr>
          <a:xfrm>
            <a:off x="5166360" y="2039112"/>
            <a:ext cx="1956816" cy="329184"/>
          </a:xfrm>
          <a:prstGeom prst="rect">
            <a:avLst/>
          </a:prstGeom>
          <a:noFill/>
        </p:spPr>
        <p:txBody>
          <a:bodyPr wrap="square" lIns="0" rIns="0" tIns="0" bIns="0" anchor="ctr">
            <a:noAutofit/>
          </a:bodyPr>
          <a:lstStyle/>
          <a:p>
            <a:pPr algn="l">
              <a:spcAft>
                <a:spcPts val="400"/>
              </a:spcAft>
            </a:pPr>
            <a:r>
              <a:rPr sz="1150" b="1" lang="en-GB">
                <a:solidFill>
                  <a:schemeClr val="tx2"/>
                </a:solidFill>
              </a:rPr>
              <a:t>Intercept</a:t>
            </a:r>
          </a:p>
        </p:txBody>
      </p:sp>
      <p:sp>
        <p:nvSpPr>
          <p:cNvPr id="38" name="Ladder out 2-2"/>
          <p:cNvSpPr/>
          <p:nvPr/>
        </p:nvSpPr>
        <p:spPr>
          <a:xfrm>
            <a:off x="7242048" y="2039112"/>
            <a:ext cx="1444752" cy="32918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Ladder out text 2-2"/>
          <p:cNvSpPr txBox="1"/>
          <p:nvPr/>
        </p:nvSpPr>
        <p:spPr>
          <a:xfrm>
            <a:off x="7333488" y="2039112"/>
            <a:ext cx="1234440" cy="329184"/>
          </a:xfrm>
          <a:prstGeom prst="rect">
            <a:avLst/>
          </a:prstGeom>
          <a:noFill/>
        </p:spPr>
        <p:txBody>
          <a:bodyPr wrap="square" lIns="0" rIns="0" tIns="0" bIns="0" anchor="ctr">
            <a:noAutofit/>
          </a:bodyPr>
          <a:lstStyle/>
          <a:p>
            <a:pPr algn="r">
              <a:spcAft>
                <a:spcPts val="400"/>
              </a:spcAft>
            </a:pPr>
            <a:r>
              <a:rPr sz="1150" b="0" lang="en-GB">
                <a:solidFill>
                  <a:schemeClr val="tx1"/>
                </a:solidFill>
              </a:rPr>
              <a:t>5.14</a:t>
            </a:r>
          </a:p>
        </p:txBody>
      </p:sp>
      <p:sp>
        <p:nvSpPr>
          <p:cNvPr id="40" name="Ladder out 3-1"/>
          <p:cNvSpPr/>
          <p:nvPr/>
        </p:nvSpPr>
        <p:spPr>
          <a:xfrm>
            <a:off x="5074920" y="2395728"/>
            <a:ext cx="2139696" cy="32918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Ladder out text 3-1"/>
          <p:cNvSpPr txBox="1"/>
          <p:nvPr/>
        </p:nvSpPr>
        <p:spPr>
          <a:xfrm>
            <a:off x="5166360" y="2395728"/>
            <a:ext cx="1956816" cy="329184"/>
          </a:xfrm>
          <a:prstGeom prst="rect">
            <a:avLst/>
          </a:prstGeom>
          <a:noFill/>
        </p:spPr>
        <p:txBody>
          <a:bodyPr wrap="square" lIns="0" rIns="0" tIns="0" bIns="0" anchor="ctr">
            <a:noAutofit/>
          </a:bodyPr>
          <a:lstStyle/>
          <a:p>
            <a:pPr algn="l">
              <a:spcAft>
                <a:spcPts val="400"/>
              </a:spcAft>
            </a:pPr>
            <a:r>
              <a:rPr sz="1150" b="1" lang="en-GB">
                <a:solidFill>
                  <a:schemeClr val="tx2"/>
                </a:solidFill>
              </a:rPr>
              <a:t>google</a:t>
            </a:r>
          </a:p>
        </p:txBody>
      </p:sp>
      <p:sp>
        <p:nvSpPr>
          <p:cNvPr id="42" name="Ladder out 3-2"/>
          <p:cNvSpPr/>
          <p:nvPr/>
        </p:nvSpPr>
        <p:spPr>
          <a:xfrm>
            <a:off x="7242048" y="2395728"/>
            <a:ext cx="1444752" cy="32918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Ladder out text 3-2"/>
          <p:cNvSpPr txBox="1"/>
          <p:nvPr/>
        </p:nvSpPr>
        <p:spPr>
          <a:xfrm>
            <a:off x="7333488" y="2395728"/>
            <a:ext cx="1234440" cy="329184"/>
          </a:xfrm>
          <a:prstGeom prst="rect">
            <a:avLst/>
          </a:prstGeom>
          <a:noFill/>
        </p:spPr>
        <p:txBody>
          <a:bodyPr wrap="square" lIns="0" rIns="0" tIns="0" bIns="0" anchor="ctr">
            <a:noAutofit/>
          </a:bodyPr>
          <a:lstStyle/>
          <a:p>
            <a:pPr algn="r">
              <a:spcAft>
                <a:spcPts val="400"/>
              </a:spcAft>
            </a:pPr>
            <a:r>
              <a:rPr sz="1150" b="0" lang="en-GB">
                <a:solidFill>
                  <a:schemeClr val="tx1"/>
                </a:solidFill>
              </a:rPr>
              <a:t>3.93</a:t>
            </a:r>
          </a:p>
        </p:txBody>
      </p:sp>
      <p:sp>
        <p:nvSpPr>
          <p:cNvPr id="44" name="Ladder out 4-1"/>
          <p:cNvSpPr/>
          <p:nvPr/>
        </p:nvSpPr>
        <p:spPr>
          <a:xfrm>
            <a:off x="5074920" y="2752344"/>
            <a:ext cx="2139696" cy="32918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Ladder out text 4-1"/>
          <p:cNvSpPr txBox="1"/>
          <p:nvPr/>
        </p:nvSpPr>
        <p:spPr>
          <a:xfrm>
            <a:off x="5166360" y="2752344"/>
            <a:ext cx="1956816" cy="329184"/>
          </a:xfrm>
          <a:prstGeom prst="rect">
            <a:avLst/>
          </a:prstGeom>
          <a:noFill/>
        </p:spPr>
        <p:txBody>
          <a:bodyPr wrap="square" lIns="0" rIns="0" tIns="0" bIns="0" anchor="ctr">
            <a:noAutofit/>
          </a:bodyPr>
          <a:lstStyle/>
          <a:p>
            <a:pPr algn="l">
              <a:spcAft>
                <a:spcPts val="400"/>
              </a:spcAft>
            </a:pPr>
            <a:r>
              <a:rPr sz="1150" b="1" lang="en-GB">
                <a:solidFill>
                  <a:schemeClr val="tx2"/>
                </a:solidFill>
              </a:rPr>
              <a:t>meta</a:t>
            </a:r>
          </a:p>
        </p:txBody>
      </p:sp>
      <p:sp>
        <p:nvSpPr>
          <p:cNvPr id="46" name="Ladder out 4-2"/>
          <p:cNvSpPr/>
          <p:nvPr/>
        </p:nvSpPr>
        <p:spPr>
          <a:xfrm>
            <a:off x="7242048" y="2752344"/>
            <a:ext cx="1444752" cy="32918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7" name="Ladder out text 4-2"/>
          <p:cNvSpPr txBox="1"/>
          <p:nvPr/>
        </p:nvSpPr>
        <p:spPr>
          <a:xfrm>
            <a:off x="7333488" y="2752344"/>
            <a:ext cx="1234440" cy="329184"/>
          </a:xfrm>
          <a:prstGeom prst="rect">
            <a:avLst/>
          </a:prstGeom>
          <a:noFill/>
        </p:spPr>
        <p:txBody>
          <a:bodyPr wrap="square" lIns="0" rIns="0" tIns="0" bIns="0" anchor="ctr">
            <a:noAutofit/>
          </a:bodyPr>
          <a:lstStyle/>
          <a:p>
            <a:pPr algn="r">
              <a:spcAft>
                <a:spcPts val="400"/>
              </a:spcAft>
            </a:pPr>
            <a:r>
              <a:rPr sz="1150" b="0" lang="en-GB">
                <a:solidFill>
                  <a:schemeClr val="tx1"/>
                </a:solidFill>
              </a:rPr>
              <a:t>8.10</a:t>
            </a:r>
          </a:p>
        </p:txBody>
      </p:sp>
      <p:sp>
        <p:nvSpPr>
          <p:cNvPr id="48" name="Ladder out 5-1"/>
          <p:cNvSpPr/>
          <p:nvPr/>
        </p:nvSpPr>
        <p:spPr>
          <a:xfrm>
            <a:off x="5074920" y="3108960"/>
            <a:ext cx="2139696" cy="32918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9" name="Ladder out text 5-1"/>
          <p:cNvSpPr txBox="1"/>
          <p:nvPr/>
        </p:nvSpPr>
        <p:spPr>
          <a:xfrm>
            <a:off x="5166360" y="3108960"/>
            <a:ext cx="1956816" cy="329184"/>
          </a:xfrm>
          <a:prstGeom prst="rect">
            <a:avLst/>
          </a:prstGeom>
          <a:noFill/>
        </p:spPr>
        <p:txBody>
          <a:bodyPr wrap="square" lIns="0" rIns="0" tIns="0" bIns="0" anchor="ctr">
            <a:noAutofit/>
          </a:bodyPr>
          <a:lstStyle/>
          <a:p>
            <a:pPr algn="l">
              <a:spcAft>
                <a:spcPts val="400"/>
              </a:spcAft>
            </a:pPr>
            <a:r>
              <a:rPr sz="1150" b="1" lang="en-GB">
                <a:solidFill>
                  <a:schemeClr val="tx2"/>
                </a:solidFill>
              </a:rPr>
              <a:t>R²</a:t>
            </a:r>
          </a:p>
        </p:txBody>
      </p:sp>
      <p:sp>
        <p:nvSpPr>
          <p:cNvPr id="50" name="Ladder out 5-2"/>
          <p:cNvSpPr/>
          <p:nvPr/>
        </p:nvSpPr>
        <p:spPr>
          <a:xfrm>
            <a:off x="7242048" y="3108960"/>
            <a:ext cx="1444752" cy="32918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1" name="Ladder out text 5-2"/>
          <p:cNvSpPr txBox="1"/>
          <p:nvPr/>
        </p:nvSpPr>
        <p:spPr>
          <a:xfrm>
            <a:off x="7333488" y="3108960"/>
            <a:ext cx="1234440" cy="329184"/>
          </a:xfrm>
          <a:prstGeom prst="rect">
            <a:avLst/>
          </a:prstGeom>
          <a:noFill/>
        </p:spPr>
        <p:txBody>
          <a:bodyPr wrap="square" lIns="0" rIns="0" tIns="0" bIns="0" anchor="ctr">
            <a:noAutofit/>
          </a:bodyPr>
          <a:lstStyle/>
          <a:p>
            <a:pPr algn="r">
              <a:spcAft>
                <a:spcPts val="400"/>
              </a:spcAft>
            </a:pPr>
            <a:r>
              <a:rPr sz="1150" b="0" lang="en-GB">
                <a:solidFill>
                  <a:schemeClr val="tx1"/>
                </a:solidFill>
              </a:rPr>
              <a:t>0.58</a:t>
            </a:r>
          </a:p>
        </p:txBody>
      </p:sp>
      <p:sp>
        <p:nvSpPr>
          <p:cNvPr id="52" name="Ladder reading box"/>
          <p:cNvSpPr/>
          <p:nvPr/>
        </p:nvSpPr>
        <p:spPr>
          <a:xfrm>
            <a:off x="457200" y="3621024"/>
            <a:ext cx="8229600" cy="4572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53" name="Icon Ladder reading" descr=""/>
          <p:cNvPicPr>
            <a:picLocks noChangeAspect="1"/>
          </p:cNvPicPr>
          <p:nvPr/>
        </p:nvPicPr>
        <p:blipFill>
          <a:blip r:embed="rId3"/>
          <a:stretch>
            <a:fillRect/>
          </a:stretch>
        </p:blipFill>
        <p:spPr>
          <a:xfrm>
            <a:off x="658368" y="3666744"/>
            <a:ext cx="365760" cy="365760"/>
          </a:xfrm>
          <a:prstGeom prst="rect">
            <a:avLst/>
          </a:prstGeom>
        </p:spPr>
      </p:pic>
      <p:sp>
        <p:nvSpPr>
          <p:cNvPr id="54" name="Ladder reading text"/>
          <p:cNvSpPr txBox="1"/>
          <p:nvPr/>
        </p:nvSpPr>
        <p:spPr>
          <a:xfrm>
            <a:off x="1207008" y="3621024"/>
            <a:ext cx="7315200" cy="457200"/>
          </a:xfrm>
          <a:prstGeom prst="rect">
            <a:avLst/>
          </a:prstGeom>
          <a:noFill/>
        </p:spPr>
        <p:txBody>
          <a:bodyPr wrap="square" lIns="0" rIns="0" tIns="0" bIns="0" anchor="ctr">
            <a:noAutofit/>
          </a:bodyPr>
          <a:lstStyle/>
          <a:p>
            <a:pPr algn="l">
              <a:spcAft>
                <a:spcPts val="400"/>
              </a:spcAft>
            </a:pPr>
            <a:r>
              <a:rPr sz="1200" b="1" lang="en-GB">
                <a:solidFill>
                  <a:schemeClr val="tx2"/>
                </a:solidFill>
              </a:rPr>
              <a:t>Before any control: </a:t>
            </a:r>
            <a:r>
              <a:rPr sz="1200" b="0" lang="en-GB">
                <a:solidFill>
                  <a:schemeClr val="tx1"/>
                </a:solidFill>
              </a:rPr>
              <a:t>a k EUR on Meta goes with 8.10 k EUR of sales.</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Step 3: add the trend</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Ladder step 1"/>
          <p:cNvSpPr/>
          <p:nvPr/>
        </p:nvSpPr>
        <p:spPr>
          <a:xfrm>
            <a:off x="457200" y="1234440"/>
            <a:ext cx="881888" cy="31089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Ladder step 1 text"/>
          <p:cNvSpPr txBox="1"/>
          <p:nvPr/>
        </p:nvSpPr>
        <p:spPr>
          <a:xfrm>
            <a:off x="457200" y="1234440"/>
            <a:ext cx="881888" cy="310896"/>
          </a:xfrm>
          <a:prstGeom prst="rect">
            <a:avLst/>
          </a:prstGeom>
          <a:noFill/>
        </p:spPr>
        <p:txBody>
          <a:bodyPr wrap="square" lIns="0" rIns="0" tIns="0" bIns="0" anchor="ctr">
            <a:noAutofit/>
          </a:bodyPr>
          <a:lstStyle/>
          <a:p>
            <a:pPr algn="ctr">
              <a:spcAft>
                <a:spcPts val="400"/>
              </a:spcAft>
            </a:pPr>
            <a:r>
              <a:rPr sz="1100" b="1" lang="en-GB">
                <a:solidFill>
                  <a:schemeClr val="tx2"/>
                </a:solidFill>
              </a:rPr>
              <a:t>1 Load</a:t>
            </a:r>
          </a:p>
        </p:txBody>
      </p:sp>
      <p:sp>
        <p:nvSpPr>
          <p:cNvPr id="12" name="Ladder step 2"/>
          <p:cNvSpPr/>
          <p:nvPr/>
        </p:nvSpPr>
        <p:spPr>
          <a:xfrm>
            <a:off x="1375664" y="1234440"/>
            <a:ext cx="881888" cy="31089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Ladder step 2 text"/>
          <p:cNvSpPr txBox="1"/>
          <p:nvPr/>
        </p:nvSpPr>
        <p:spPr>
          <a:xfrm>
            <a:off x="1375664" y="1234440"/>
            <a:ext cx="881888" cy="310896"/>
          </a:xfrm>
          <a:prstGeom prst="rect">
            <a:avLst/>
          </a:prstGeom>
          <a:noFill/>
        </p:spPr>
        <p:txBody>
          <a:bodyPr wrap="square" lIns="0" rIns="0" tIns="0" bIns="0" anchor="ctr">
            <a:noAutofit/>
          </a:bodyPr>
          <a:lstStyle/>
          <a:p>
            <a:pPr algn="ctr">
              <a:spcAft>
                <a:spcPts val="400"/>
              </a:spcAft>
            </a:pPr>
            <a:r>
              <a:rPr sz="1100" b="1" lang="en-GB">
                <a:solidFill>
                  <a:schemeClr val="tx2"/>
                </a:solidFill>
              </a:rPr>
              <a:t>2 Regress</a:t>
            </a:r>
          </a:p>
        </p:txBody>
      </p:sp>
      <p:sp>
        <p:nvSpPr>
          <p:cNvPr id="14" name="Ladder step 3"/>
          <p:cNvSpPr/>
          <p:nvPr/>
        </p:nvSpPr>
        <p:spPr>
          <a:xfrm>
            <a:off x="2294128" y="1234440"/>
            <a:ext cx="881888" cy="310896"/>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Ladder step 3 text"/>
          <p:cNvSpPr txBox="1"/>
          <p:nvPr/>
        </p:nvSpPr>
        <p:spPr>
          <a:xfrm>
            <a:off x="2294128" y="1234440"/>
            <a:ext cx="881888" cy="310896"/>
          </a:xfrm>
          <a:prstGeom prst="rect">
            <a:avLst/>
          </a:prstGeom>
          <a:noFill/>
        </p:spPr>
        <p:txBody>
          <a:bodyPr wrap="square" lIns="0" rIns="0" tIns="0" bIns="0" anchor="ctr">
            <a:noAutofit/>
          </a:bodyPr>
          <a:lstStyle/>
          <a:p>
            <a:pPr algn="ctr">
              <a:spcAft>
                <a:spcPts val="400"/>
              </a:spcAft>
            </a:pPr>
            <a:r>
              <a:rPr sz="1100" b="1" lang="en-GB">
                <a:solidFill>
                  <a:schemeClr val="bg1"/>
                </a:solidFill>
              </a:rPr>
              <a:t>3 Trend</a:t>
            </a:r>
          </a:p>
        </p:txBody>
      </p:sp>
      <p:sp>
        <p:nvSpPr>
          <p:cNvPr id="16" name="Ladder step 4"/>
          <p:cNvSpPr/>
          <p:nvPr/>
        </p:nvSpPr>
        <p:spPr>
          <a:xfrm>
            <a:off x="3212592" y="1234440"/>
            <a:ext cx="881888" cy="31089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Ladder step 4 text"/>
          <p:cNvSpPr txBox="1"/>
          <p:nvPr/>
        </p:nvSpPr>
        <p:spPr>
          <a:xfrm>
            <a:off x="3212592" y="1234440"/>
            <a:ext cx="881888" cy="310896"/>
          </a:xfrm>
          <a:prstGeom prst="rect">
            <a:avLst/>
          </a:prstGeom>
          <a:noFill/>
        </p:spPr>
        <p:txBody>
          <a:bodyPr wrap="square" lIns="0" rIns="0" tIns="0" bIns="0" anchor="ctr">
            <a:noAutofit/>
          </a:bodyPr>
          <a:lstStyle/>
          <a:p>
            <a:pPr algn="ctr">
              <a:spcAft>
                <a:spcPts val="400"/>
              </a:spcAft>
            </a:pPr>
            <a:r>
              <a:rPr sz="1100" b="1" lang="en-GB">
                <a:solidFill>
                  <a:schemeClr val="tx2"/>
                </a:solidFill>
              </a:rPr>
              <a:t>4 Adstock</a:t>
            </a:r>
          </a:p>
        </p:txBody>
      </p:sp>
      <p:sp>
        <p:nvSpPr>
          <p:cNvPr id="18" name="Ladder step 5"/>
          <p:cNvSpPr/>
          <p:nvPr/>
        </p:nvSpPr>
        <p:spPr>
          <a:xfrm>
            <a:off x="4131056" y="1234440"/>
            <a:ext cx="881888" cy="31089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Ladder step 5 text"/>
          <p:cNvSpPr txBox="1"/>
          <p:nvPr/>
        </p:nvSpPr>
        <p:spPr>
          <a:xfrm>
            <a:off x="4131056" y="1234440"/>
            <a:ext cx="881888" cy="310896"/>
          </a:xfrm>
          <a:prstGeom prst="rect">
            <a:avLst/>
          </a:prstGeom>
          <a:noFill/>
        </p:spPr>
        <p:txBody>
          <a:bodyPr wrap="square" lIns="0" rIns="0" tIns="0" bIns="0" anchor="ctr">
            <a:noAutofit/>
          </a:bodyPr>
          <a:lstStyle/>
          <a:p>
            <a:pPr algn="ctr">
              <a:spcAft>
                <a:spcPts val="400"/>
              </a:spcAft>
            </a:pPr>
            <a:r>
              <a:rPr sz="1100" b="1" lang="en-GB">
                <a:solidFill>
                  <a:schemeClr val="tx2"/>
                </a:solidFill>
              </a:rPr>
              <a:t>5 Carry</a:t>
            </a:r>
          </a:p>
        </p:txBody>
      </p:sp>
      <p:sp>
        <p:nvSpPr>
          <p:cNvPr id="20" name="Ladder step 6"/>
          <p:cNvSpPr/>
          <p:nvPr/>
        </p:nvSpPr>
        <p:spPr>
          <a:xfrm>
            <a:off x="5049520" y="1234440"/>
            <a:ext cx="881888" cy="31089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Ladder step 6 text"/>
          <p:cNvSpPr txBox="1"/>
          <p:nvPr/>
        </p:nvSpPr>
        <p:spPr>
          <a:xfrm>
            <a:off x="5049520" y="1234440"/>
            <a:ext cx="881888" cy="310896"/>
          </a:xfrm>
          <a:prstGeom prst="rect">
            <a:avLst/>
          </a:prstGeom>
          <a:noFill/>
        </p:spPr>
        <p:txBody>
          <a:bodyPr wrap="square" lIns="0" rIns="0" tIns="0" bIns="0" anchor="ctr">
            <a:noAutofit/>
          </a:bodyPr>
          <a:lstStyle/>
          <a:p>
            <a:pPr algn="ctr">
              <a:spcAft>
                <a:spcPts val="400"/>
              </a:spcAft>
            </a:pPr>
            <a:r>
              <a:rPr sz="1100" b="1" lang="en-GB">
                <a:solidFill>
                  <a:schemeClr val="tx2"/>
                </a:solidFill>
              </a:rPr>
              <a:t>6 ROI</a:t>
            </a:r>
          </a:p>
        </p:txBody>
      </p:sp>
      <p:sp>
        <p:nvSpPr>
          <p:cNvPr id="22" name="Ladder step 7"/>
          <p:cNvSpPr/>
          <p:nvPr/>
        </p:nvSpPr>
        <p:spPr>
          <a:xfrm>
            <a:off x="5967984" y="1234440"/>
            <a:ext cx="881888" cy="31089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Ladder step 7 text"/>
          <p:cNvSpPr txBox="1"/>
          <p:nvPr/>
        </p:nvSpPr>
        <p:spPr>
          <a:xfrm>
            <a:off x="5967984" y="1234440"/>
            <a:ext cx="881888" cy="310896"/>
          </a:xfrm>
          <a:prstGeom prst="rect">
            <a:avLst/>
          </a:prstGeom>
          <a:noFill/>
        </p:spPr>
        <p:txBody>
          <a:bodyPr wrap="square" lIns="0" rIns="0" tIns="0" bIns="0" anchor="ctr">
            <a:noAutofit/>
          </a:bodyPr>
          <a:lstStyle/>
          <a:p>
            <a:pPr algn="ctr">
              <a:spcAft>
                <a:spcPts val="400"/>
              </a:spcAft>
            </a:pPr>
            <a:r>
              <a:rPr sz="1100" b="1" lang="en-GB">
                <a:solidFill>
                  <a:schemeClr val="tx2"/>
                </a:solidFill>
              </a:rPr>
              <a:t>7 Saturate</a:t>
            </a:r>
          </a:p>
        </p:txBody>
      </p:sp>
      <p:sp>
        <p:nvSpPr>
          <p:cNvPr id="24" name="Ladder step 8"/>
          <p:cNvSpPr/>
          <p:nvPr/>
        </p:nvSpPr>
        <p:spPr>
          <a:xfrm>
            <a:off x="6886448" y="1234440"/>
            <a:ext cx="881888" cy="31089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Ladder step 8 text"/>
          <p:cNvSpPr txBox="1"/>
          <p:nvPr/>
        </p:nvSpPr>
        <p:spPr>
          <a:xfrm>
            <a:off x="6886448" y="1234440"/>
            <a:ext cx="881888" cy="310896"/>
          </a:xfrm>
          <a:prstGeom prst="rect">
            <a:avLst/>
          </a:prstGeom>
          <a:noFill/>
        </p:spPr>
        <p:txBody>
          <a:bodyPr wrap="square" lIns="0" rIns="0" tIns="0" bIns="0" anchor="ctr">
            <a:noAutofit/>
          </a:bodyPr>
          <a:lstStyle/>
          <a:p>
            <a:pPr algn="ctr">
              <a:spcAft>
                <a:spcPts val="400"/>
              </a:spcAft>
            </a:pPr>
            <a:r>
              <a:rPr sz="1100" b="1" lang="en-GB">
                <a:solidFill>
                  <a:schemeClr val="tx2"/>
                </a:solidFill>
              </a:rPr>
              <a:t>8 PyMC</a:t>
            </a:r>
          </a:p>
        </p:txBody>
      </p:sp>
      <p:sp>
        <p:nvSpPr>
          <p:cNvPr id="26" name="Ladder step 9"/>
          <p:cNvSpPr/>
          <p:nvPr/>
        </p:nvSpPr>
        <p:spPr>
          <a:xfrm>
            <a:off x="7804912" y="1234440"/>
            <a:ext cx="881888" cy="31089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Ladder step 9 text"/>
          <p:cNvSpPr txBox="1"/>
          <p:nvPr/>
        </p:nvSpPr>
        <p:spPr>
          <a:xfrm>
            <a:off x="7804912" y="1234440"/>
            <a:ext cx="881888" cy="310896"/>
          </a:xfrm>
          <a:prstGeom prst="rect">
            <a:avLst/>
          </a:prstGeom>
          <a:noFill/>
        </p:spPr>
        <p:txBody>
          <a:bodyPr wrap="square" lIns="0" rIns="0" tIns="0" bIns="0" anchor="ctr">
            <a:noAutofit/>
          </a:bodyPr>
          <a:lstStyle/>
          <a:p>
            <a:pPr algn="ctr">
              <a:spcAft>
                <a:spcPts val="400"/>
              </a:spcAft>
            </a:pPr>
            <a:r>
              <a:rPr sz="1100" b="1" lang="en-GB">
                <a:solidFill>
                  <a:schemeClr val="tx2"/>
                </a:solidFill>
              </a:rPr>
              <a:t>9 Read</a:t>
            </a:r>
          </a:p>
        </p:txBody>
      </p:sp>
      <p:sp>
        <p:nvSpPr>
          <p:cNvPr id="28" name="Ladder code caption bar"/>
          <p:cNvSpPr/>
          <p:nvPr/>
        </p:nvSpPr>
        <p:spPr>
          <a:xfrm>
            <a:off x="457200" y="1682496"/>
            <a:ext cx="4480560" cy="27432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Ladder code caption"/>
          <p:cNvSpPr txBox="1"/>
          <p:nvPr/>
        </p:nvSpPr>
        <p:spPr>
          <a:xfrm>
            <a:off x="566928" y="1682496"/>
            <a:ext cx="4261104" cy="274320"/>
          </a:xfrm>
          <a:prstGeom prst="rect">
            <a:avLst/>
          </a:prstGeom>
          <a:noFill/>
        </p:spPr>
        <p:txBody>
          <a:bodyPr wrap="square" lIns="0" rIns="0" tIns="0" bIns="0" anchor="ctr">
            <a:noAutofit/>
          </a:bodyPr>
          <a:lstStyle/>
          <a:p>
            <a:pPr algn="l">
              <a:spcAft>
                <a:spcPts val="400"/>
              </a:spcAft>
            </a:pPr>
            <a:r>
              <a:rPr sz="1100" b="1" lang="en-GB">
                <a:solidFill>
                  <a:schemeClr val="bg1"/>
                </a:solidFill>
              </a:rPr>
              <a:t>open_source_mmm.qmd · Step 3</a:t>
            </a:r>
          </a:p>
        </p:txBody>
      </p:sp>
      <p:sp>
        <p:nvSpPr>
          <p:cNvPr id="30" name="Ladder code box"/>
          <p:cNvSpPr/>
          <p:nvPr/>
        </p:nvSpPr>
        <p:spPr>
          <a:xfrm>
            <a:off x="457200" y="1956816"/>
            <a:ext cx="4480560" cy="1126541"/>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Ladder code code"/>
          <p:cNvSpPr txBox="1"/>
          <p:nvPr/>
        </p:nvSpPr>
        <p:spPr>
          <a:xfrm>
            <a:off x="594360" y="2048256"/>
            <a:ext cx="4206240" cy="943661"/>
          </a:xfrm>
          <a:prstGeom prst="rect">
            <a:avLst/>
          </a:prstGeom>
          <a:noFill/>
        </p:spPr>
        <p:txBody>
          <a:bodyPr wrap="square" lIns="0" rIns="0" tIns="0" bIns="0" anchor="t">
            <a:noAutofit/>
          </a:bodyPr>
          <a:lstStyle/>
          <a:p>
            <a:pPr algn="l">
              <a:spcAft>
                <a:spcPts val="0"/>
              </a:spcAft>
            </a:pPr>
            <a:r>
              <a:rPr sz="1000" b="0" lang="en-GB">
                <a:solidFill>
                  <a:schemeClr val="bg1"/>
                </a:solidFill>
                <a:latin typeface="Consolas"/>
              </a:rPr>
              <a:t># week_no counts the weeks 1 to 134: the trend</a:t>
            </a:r>
          </a:p>
          <a:p>
            <a:pPr algn="l">
              <a:spcAft>
                <a:spcPts val="0"/>
              </a:spcAft>
            </a:pPr>
            <a:r>
              <a:rPr sz="1000" b="0" lang="en-GB">
                <a:solidFill>
                  <a:schemeClr val="bg1"/>
                </a:solidFill>
                <a:latin typeface="Consolas"/>
              </a:rPr>
              <a:t>at = at.with_columns(</a:t>
            </a:r>
          </a:p>
          <a:p>
            <a:pPr algn="l">
              <a:spcAft>
                <a:spcPts val="0"/>
              </a:spcAft>
            </a:pPr>
            <a:r>
              <a:rPr sz="1000" b="0" lang="en-GB">
                <a:solidFill>
                  <a:schemeClr val="bg1"/>
                </a:solidFill>
                <a:latin typeface="Consolas"/>
              </a:rPr>
              <a:t>    week_no=pl.int_range(1, pl.len() + 1))</a:t>
            </a:r>
          </a:p>
          <a:p>
            <a:pPr algn="l">
              <a:spcAft>
                <a:spcPts val="0"/>
              </a:spcAft>
            </a:pPr>
            <a:r>
              <a:rPr sz="1000" b="0" lang="en-GB">
                <a:solidFill>
                  <a:schemeClr val="bg1"/>
                </a:solidFill>
                <a:latin typeface="Consolas"/>
              </a:rPr>
              <a:t>m2 = smf.ols("sales ~ google + meta + week_no",</a:t>
            </a:r>
          </a:p>
          <a:p>
            <a:pPr algn="l">
              <a:spcAft>
                <a:spcPts val="0"/>
              </a:spcAft>
            </a:pPr>
            <a:r>
              <a:rPr sz="1000" b="0" lang="en-GB">
                <a:solidFill>
                  <a:schemeClr val="bg1"/>
                </a:solidFill>
                <a:latin typeface="Consolas"/>
              </a:rPr>
              <a:t>             data=at.to_pandas()).fit()</a:t>
            </a:r>
          </a:p>
          <a:p>
            <a:pPr algn="l">
              <a:spcAft>
                <a:spcPts val="0"/>
              </a:spcAft>
            </a:pPr>
            <a:r>
              <a:rPr sz="1000" b="0" lang="en-GB">
                <a:solidFill>
                  <a:schemeClr val="bg1"/>
                </a:solidFill>
                <a:latin typeface="Consolas"/>
              </a:rPr>
              <a:t>m2.params</a:t>
            </a:r>
          </a:p>
        </p:txBody>
      </p:sp>
      <p:sp>
        <p:nvSpPr>
          <p:cNvPr id="32" name="Ladder out 1-1"/>
          <p:cNvSpPr/>
          <p:nvPr/>
        </p:nvSpPr>
        <p:spPr>
          <a:xfrm>
            <a:off x="5074920" y="1682496"/>
            <a:ext cx="2139696" cy="329184"/>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Ladder out text 1-1"/>
          <p:cNvSpPr txBox="1"/>
          <p:nvPr/>
        </p:nvSpPr>
        <p:spPr>
          <a:xfrm>
            <a:off x="5166360" y="1682496"/>
            <a:ext cx="1956816" cy="329184"/>
          </a:xfrm>
          <a:prstGeom prst="rect">
            <a:avLst/>
          </a:prstGeom>
          <a:noFill/>
        </p:spPr>
        <p:txBody>
          <a:bodyPr wrap="square" lIns="0" rIns="0" tIns="0" bIns="0" anchor="ctr">
            <a:noAutofit/>
          </a:bodyPr>
          <a:lstStyle/>
          <a:p>
            <a:pPr algn="l">
              <a:spcAft>
                <a:spcPts val="400"/>
              </a:spcAft>
            </a:pPr>
            <a:r>
              <a:rPr sz="1150" b="1" lang="en-GB">
                <a:solidFill>
                  <a:schemeClr val="bg1"/>
                </a:solidFill>
              </a:rPr>
              <a:t>term</a:t>
            </a:r>
          </a:p>
        </p:txBody>
      </p:sp>
      <p:sp>
        <p:nvSpPr>
          <p:cNvPr id="34" name="Ladder out 1-2"/>
          <p:cNvSpPr/>
          <p:nvPr/>
        </p:nvSpPr>
        <p:spPr>
          <a:xfrm>
            <a:off x="7242048" y="1682496"/>
            <a:ext cx="1444752" cy="329184"/>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Ladder out text 1-2"/>
          <p:cNvSpPr txBox="1"/>
          <p:nvPr/>
        </p:nvSpPr>
        <p:spPr>
          <a:xfrm>
            <a:off x="7333488" y="1682496"/>
            <a:ext cx="1234440" cy="329184"/>
          </a:xfrm>
          <a:prstGeom prst="rect">
            <a:avLst/>
          </a:prstGeom>
          <a:noFill/>
        </p:spPr>
        <p:txBody>
          <a:bodyPr wrap="square" lIns="0" rIns="0" tIns="0" bIns="0" anchor="ctr">
            <a:noAutofit/>
          </a:bodyPr>
          <a:lstStyle/>
          <a:p>
            <a:pPr algn="r">
              <a:spcAft>
                <a:spcPts val="400"/>
              </a:spcAft>
            </a:pPr>
            <a:r>
              <a:rPr sz="1150" b="1" lang="en-GB">
                <a:solidFill>
                  <a:schemeClr val="bg1"/>
                </a:solidFill>
              </a:rPr>
              <a:t>coef</a:t>
            </a:r>
          </a:p>
        </p:txBody>
      </p:sp>
      <p:sp>
        <p:nvSpPr>
          <p:cNvPr id="36" name="Ladder out 2-1"/>
          <p:cNvSpPr/>
          <p:nvPr/>
        </p:nvSpPr>
        <p:spPr>
          <a:xfrm>
            <a:off x="5074920" y="2039112"/>
            <a:ext cx="2139696" cy="32918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Ladder out text 2-1"/>
          <p:cNvSpPr txBox="1"/>
          <p:nvPr/>
        </p:nvSpPr>
        <p:spPr>
          <a:xfrm>
            <a:off x="5166360" y="2039112"/>
            <a:ext cx="1956816" cy="329184"/>
          </a:xfrm>
          <a:prstGeom prst="rect">
            <a:avLst/>
          </a:prstGeom>
          <a:noFill/>
        </p:spPr>
        <p:txBody>
          <a:bodyPr wrap="square" lIns="0" rIns="0" tIns="0" bIns="0" anchor="ctr">
            <a:noAutofit/>
          </a:bodyPr>
          <a:lstStyle/>
          <a:p>
            <a:pPr algn="l">
              <a:spcAft>
                <a:spcPts val="400"/>
              </a:spcAft>
            </a:pPr>
            <a:r>
              <a:rPr sz="1150" b="1" lang="en-GB">
                <a:solidFill>
                  <a:schemeClr val="tx2"/>
                </a:solidFill>
              </a:rPr>
              <a:t>Intercept</a:t>
            </a:r>
          </a:p>
        </p:txBody>
      </p:sp>
      <p:sp>
        <p:nvSpPr>
          <p:cNvPr id="38" name="Ladder out 2-2"/>
          <p:cNvSpPr/>
          <p:nvPr/>
        </p:nvSpPr>
        <p:spPr>
          <a:xfrm>
            <a:off x="7242048" y="2039112"/>
            <a:ext cx="1444752" cy="32918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Ladder out text 2-2"/>
          <p:cNvSpPr txBox="1"/>
          <p:nvPr/>
        </p:nvSpPr>
        <p:spPr>
          <a:xfrm>
            <a:off x="7333488" y="2039112"/>
            <a:ext cx="1234440" cy="329184"/>
          </a:xfrm>
          <a:prstGeom prst="rect">
            <a:avLst/>
          </a:prstGeom>
          <a:noFill/>
        </p:spPr>
        <p:txBody>
          <a:bodyPr wrap="square" lIns="0" rIns="0" tIns="0" bIns="0" anchor="ctr">
            <a:noAutofit/>
          </a:bodyPr>
          <a:lstStyle/>
          <a:p>
            <a:pPr algn="r">
              <a:spcAft>
                <a:spcPts val="400"/>
              </a:spcAft>
            </a:pPr>
            <a:r>
              <a:rPr sz="1150" b="0" lang="en-GB">
                <a:solidFill>
                  <a:schemeClr val="tx1"/>
                </a:solidFill>
              </a:rPr>
              <a:t>0.57</a:t>
            </a:r>
          </a:p>
        </p:txBody>
      </p:sp>
      <p:sp>
        <p:nvSpPr>
          <p:cNvPr id="40" name="Ladder out 3-1"/>
          <p:cNvSpPr/>
          <p:nvPr/>
        </p:nvSpPr>
        <p:spPr>
          <a:xfrm>
            <a:off x="5074920" y="2395728"/>
            <a:ext cx="2139696" cy="32918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Ladder out text 3-1"/>
          <p:cNvSpPr txBox="1"/>
          <p:nvPr/>
        </p:nvSpPr>
        <p:spPr>
          <a:xfrm>
            <a:off x="5166360" y="2395728"/>
            <a:ext cx="1956816" cy="329184"/>
          </a:xfrm>
          <a:prstGeom prst="rect">
            <a:avLst/>
          </a:prstGeom>
          <a:noFill/>
        </p:spPr>
        <p:txBody>
          <a:bodyPr wrap="square" lIns="0" rIns="0" tIns="0" bIns="0" anchor="ctr">
            <a:noAutofit/>
          </a:bodyPr>
          <a:lstStyle/>
          <a:p>
            <a:pPr algn="l">
              <a:spcAft>
                <a:spcPts val="400"/>
              </a:spcAft>
            </a:pPr>
            <a:r>
              <a:rPr sz="1150" b="1" lang="en-GB">
                <a:solidFill>
                  <a:schemeClr val="tx2"/>
                </a:solidFill>
              </a:rPr>
              <a:t>google</a:t>
            </a:r>
          </a:p>
        </p:txBody>
      </p:sp>
      <p:sp>
        <p:nvSpPr>
          <p:cNvPr id="42" name="Ladder out 3-2"/>
          <p:cNvSpPr/>
          <p:nvPr/>
        </p:nvSpPr>
        <p:spPr>
          <a:xfrm>
            <a:off x="7242048" y="2395728"/>
            <a:ext cx="1444752" cy="32918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Ladder out text 3-2"/>
          <p:cNvSpPr txBox="1"/>
          <p:nvPr/>
        </p:nvSpPr>
        <p:spPr>
          <a:xfrm>
            <a:off x="7333488" y="2395728"/>
            <a:ext cx="1234440" cy="329184"/>
          </a:xfrm>
          <a:prstGeom prst="rect">
            <a:avLst/>
          </a:prstGeom>
          <a:noFill/>
        </p:spPr>
        <p:txBody>
          <a:bodyPr wrap="square" lIns="0" rIns="0" tIns="0" bIns="0" anchor="ctr">
            <a:noAutofit/>
          </a:bodyPr>
          <a:lstStyle/>
          <a:p>
            <a:pPr algn="r">
              <a:spcAft>
                <a:spcPts val="400"/>
              </a:spcAft>
            </a:pPr>
            <a:r>
              <a:rPr sz="1150" b="0" lang="en-GB">
                <a:solidFill>
                  <a:schemeClr val="tx1"/>
                </a:solidFill>
              </a:rPr>
              <a:t>3.60</a:t>
            </a:r>
          </a:p>
        </p:txBody>
      </p:sp>
      <p:sp>
        <p:nvSpPr>
          <p:cNvPr id="44" name="Ladder out 4-1"/>
          <p:cNvSpPr/>
          <p:nvPr/>
        </p:nvSpPr>
        <p:spPr>
          <a:xfrm>
            <a:off x="5074920" y="2752344"/>
            <a:ext cx="2139696" cy="32918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Ladder out text 4-1"/>
          <p:cNvSpPr txBox="1"/>
          <p:nvPr/>
        </p:nvSpPr>
        <p:spPr>
          <a:xfrm>
            <a:off x="5166360" y="2752344"/>
            <a:ext cx="1956816" cy="329184"/>
          </a:xfrm>
          <a:prstGeom prst="rect">
            <a:avLst/>
          </a:prstGeom>
          <a:noFill/>
        </p:spPr>
        <p:txBody>
          <a:bodyPr wrap="square" lIns="0" rIns="0" tIns="0" bIns="0" anchor="ctr">
            <a:noAutofit/>
          </a:bodyPr>
          <a:lstStyle/>
          <a:p>
            <a:pPr algn="l">
              <a:spcAft>
                <a:spcPts val="400"/>
              </a:spcAft>
            </a:pPr>
            <a:r>
              <a:rPr sz="1150" b="1" lang="en-GB">
                <a:solidFill>
                  <a:schemeClr val="tx2"/>
                </a:solidFill>
              </a:rPr>
              <a:t>meta</a:t>
            </a:r>
          </a:p>
        </p:txBody>
      </p:sp>
      <p:sp>
        <p:nvSpPr>
          <p:cNvPr id="46" name="Ladder out 4-2"/>
          <p:cNvSpPr/>
          <p:nvPr/>
        </p:nvSpPr>
        <p:spPr>
          <a:xfrm>
            <a:off x="7242048" y="2752344"/>
            <a:ext cx="1444752" cy="32918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7" name="Ladder out text 4-2"/>
          <p:cNvSpPr txBox="1"/>
          <p:nvPr/>
        </p:nvSpPr>
        <p:spPr>
          <a:xfrm>
            <a:off x="7333488" y="2752344"/>
            <a:ext cx="1234440" cy="329184"/>
          </a:xfrm>
          <a:prstGeom prst="rect">
            <a:avLst/>
          </a:prstGeom>
          <a:noFill/>
        </p:spPr>
        <p:txBody>
          <a:bodyPr wrap="square" lIns="0" rIns="0" tIns="0" bIns="0" anchor="ctr">
            <a:noAutofit/>
          </a:bodyPr>
          <a:lstStyle/>
          <a:p>
            <a:pPr algn="r">
              <a:spcAft>
                <a:spcPts val="400"/>
              </a:spcAft>
            </a:pPr>
            <a:r>
              <a:rPr sz="1150" b="0" lang="en-GB">
                <a:solidFill>
                  <a:schemeClr val="tx1"/>
                </a:solidFill>
              </a:rPr>
              <a:t>6.93</a:t>
            </a:r>
          </a:p>
        </p:txBody>
      </p:sp>
      <p:sp>
        <p:nvSpPr>
          <p:cNvPr id="48" name="Ladder out 5-1"/>
          <p:cNvSpPr/>
          <p:nvPr/>
        </p:nvSpPr>
        <p:spPr>
          <a:xfrm>
            <a:off x="5074920" y="3108960"/>
            <a:ext cx="2139696" cy="32918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9" name="Ladder out text 5-1"/>
          <p:cNvSpPr txBox="1"/>
          <p:nvPr/>
        </p:nvSpPr>
        <p:spPr>
          <a:xfrm>
            <a:off x="5166360" y="3108960"/>
            <a:ext cx="1956816" cy="329184"/>
          </a:xfrm>
          <a:prstGeom prst="rect">
            <a:avLst/>
          </a:prstGeom>
          <a:noFill/>
        </p:spPr>
        <p:txBody>
          <a:bodyPr wrap="square" lIns="0" rIns="0" tIns="0" bIns="0" anchor="ctr">
            <a:noAutofit/>
          </a:bodyPr>
          <a:lstStyle/>
          <a:p>
            <a:pPr algn="l">
              <a:spcAft>
                <a:spcPts val="400"/>
              </a:spcAft>
            </a:pPr>
            <a:r>
              <a:rPr sz="1150" b="1" lang="en-GB">
                <a:solidFill>
                  <a:schemeClr val="tx2"/>
                </a:solidFill>
              </a:rPr>
              <a:t>week_no</a:t>
            </a:r>
          </a:p>
        </p:txBody>
      </p:sp>
      <p:sp>
        <p:nvSpPr>
          <p:cNvPr id="50" name="Ladder out 5-2"/>
          <p:cNvSpPr/>
          <p:nvPr/>
        </p:nvSpPr>
        <p:spPr>
          <a:xfrm>
            <a:off x="7242048" y="3108960"/>
            <a:ext cx="1444752" cy="32918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1" name="Ladder out text 5-2"/>
          <p:cNvSpPr txBox="1"/>
          <p:nvPr/>
        </p:nvSpPr>
        <p:spPr>
          <a:xfrm>
            <a:off x="7333488" y="3108960"/>
            <a:ext cx="1234440" cy="329184"/>
          </a:xfrm>
          <a:prstGeom prst="rect">
            <a:avLst/>
          </a:prstGeom>
          <a:noFill/>
        </p:spPr>
        <p:txBody>
          <a:bodyPr wrap="square" lIns="0" rIns="0" tIns="0" bIns="0" anchor="ctr">
            <a:noAutofit/>
          </a:bodyPr>
          <a:lstStyle/>
          <a:p>
            <a:pPr algn="r">
              <a:spcAft>
                <a:spcPts val="400"/>
              </a:spcAft>
            </a:pPr>
            <a:r>
              <a:rPr sz="1150" b="0" lang="en-GB">
                <a:solidFill>
                  <a:schemeClr val="tx1"/>
                </a:solidFill>
              </a:rPr>
              <a:t>0.09</a:t>
            </a:r>
          </a:p>
        </p:txBody>
      </p:sp>
      <p:sp>
        <p:nvSpPr>
          <p:cNvPr id="52" name="Ladder out 6-1"/>
          <p:cNvSpPr/>
          <p:nvPr/>
        </p:nvSpPr>
        <p:spPr>
          <a:xfrm>
            <a:off x="5074920" y="3465576"/>
            <a:ext cx="2139696" cy="32918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3" name="Ladder out text 6-1"/>
          <p:cNvSpPr txBox="1"/>
          <p:nvPr/>
        </p:nvSpPr>
        <p:spPr>
          <a:xfrm>
            <a:off x="5166360" y="3465576"/>
            <a:ext cx="1956816" cy="329184"/>
          </a:xfrm>
          <a:prstGeom prst="rect">
            <a:avLst/>
          </a:prstGeom>
          <a:noFill/>
        </p:spPr>
        <p:txBody>
          <a:bodyPr wrap="square" lIns="0" rIns="0" tIns="0" bIns="0" anchor="ctr">
            <a:noAutofit/>
          </a:bodyPr>
          <a:lstStyle/>
          <a:p>
            <a:pPr algn="l">
              <a:spcAft>
                <a:spcPts val="400"/>
              </a:spcAft>
            </a:pPr>
            <a:r>
              <a:rPr sz="1150" b="1" lang="en-GB">
                <a:solidFill>
                  <a:schemeClr val="tx2"/>
                </a:solidFill>
              </a:rPr>
              <a:t>R²</a:t>
            </a:r>
          </a:p>
        </p:txBody>
      </p:sp>
      <p:sp>
        <p:nvSpPr>
          <p:cNvPr id="54" name="Ladder out 6-2"/>
          <p:cNvSpPr/>
          <p:nvPr/>
        </p:nvSpPr>
        <p:spPr>
          <a:xfrm>
            <a:off x="7242048" y="3465576"/>
            <a:ext cx="1444752" cy="32918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5" name="Ladder out text 6-2"/>
          <p:cNvSpPr txBox="1"/>
          <p:nvPr/>
        </p:nvSpPr>
        <p:spPr>
          <a:xfrm>
            <a:off x="7333488" y="3465576"/>
            <a:ext cx="1234440" cy="329184"/>
          </a:xfrm>
          <a:prstGeom prst="rect">
            <a:avLst/>
          </a:prstGeom>
          <a:noFill/>
        </p:spPr>
        <p:txBody>
          <a:bodyPr wrap="square" lIns="0" rIns="0" tIns="0" bIns="0" anchor="ctr">
            <a:noAutofit/>
          </a:bodyPr>
          <a:lstStyle/>
          <a:p>
            <a:pPr algn="r">
              <a:spcAft>
                <a:spcPts val="400"/>
              </a:spcAft>
            </a:pPr>
            <a:r>
              <a:rPr sz="1150" b="0" lang="en-GB">
                <a:solidFill>
                  <a:schemeClr val="tx1"/>
                </a:solidFill>
              </a:rPr>
              <a:t>0.62</a:t>
            </a:r>
          </a:p>
        </p:txBody>
      </p:sp>
      <p:sp>
        <p:nvSpPr>
          <p:cNvPr id="56" name="Ladder reading box"/>
          <p:cNvSpPr/>
          <p:nvPr/>
        </p:nvSpPr>
        <p:spPr>
          <a:xfrm>
            <a:off x="457200" y="3977640"/>
            <a:ext cx="8229600" cy="4572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57" name="Icon Ladder reading" descr=""/>
          <p:cNvPicPr>
            <a:picLocks noChangeAspect="1"/>
          </p:cNvPicPr>
          <p:nvPr/>
        </p:nvPicPr>
        <p:blipFill>
          <a:blip r:embed="rId3"/>
          <a:stretch>
            <a:fillRect/>
          </a:stretch>
        </p:blipFill>
        <p:spPr>
          <a:xfrm>
            <a:off x="658368" y="4023360"/>
            <a:ext cx="365760" cy="365760"/>
          </a:xfrm>
          <a:prstGeom prst="rect">
            <a:avLst/>
          </a:prstGeom>
        </p:spPr>
      </p:pic>
      <p:sp>
        <p:nvSpPr>
          <p:cNvPr id="58" name="Ladder reading text"/>
          <p:cNvSpPr txBox="1"/>
          <p:nvPr/>
        </p:nvSpPr>
        <p:spPr>
          <a:xfrm>
            <a:off x="1207008" y="3977640"/>
            <a:ext cx="7315200" cy="457200"/>
          </a:xfrm>
          <a:prstGeom prst="rect">
            <a:avLst/>
          </a:prstGeom>
          <a:noFill/>
        </p:spPr>
        <p:txBody>
          <a:bodyPr wrap="square" lIns="0" rIns="0" tIns="0" bIns="0" anchor="ctr">
            <a:noAutofit/>
          </a:bodyPr>
          <a:lstStyle/>
          <a:p>
            <a:pPr algn="l">
              <a:spcAft>
                <a:spcPts val="400"/>
              </a:spcAft>
            </a:pPr>
            <a:r>
              <a:rPr sz="1200" b="1" lang="en-GB">
                <a:solidFill>
                  <a:schemeClr val="tx2"/>
                </a:solidFill>
              </a:rPr>
              <a:t>The trend takes its share: </a:t>
            </a:r>
            <a:r>
              <a:rPr sz="1200" b="0" lang="en-GB">
                <a:solidFill>
                  <a:schemeClr val="tx1"/>
                </a:solidFill>
              </a:rPr>
              <a:t>sales grew without the channels too.</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Step 4: adstock in one line</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Ladder step 1"/>
          <p:cNvSpPr/>
          <p:nvPr/>
        </p:nvSpPr>
        <p:spPr>
          <a:xfrm>
            <a:off x="457200" y="1234440"/>
            <a:ext cx="881888" cy="31089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Ladder step 1 text"/>
          <p:cNvSpPr txBox="1"/>
          <p:nvPr/>
        </p:nvSpPr>
        <p:spPr>
          <a:xfrm>
            <a:off x="457200" y="1234440"/>
            <a:ext cx="881888" cy="310896"/>
          </a:xfrm>
          <a:prstGeom prst="rect">
            <a:avLst/>
          </a:prstGeom>
          <a:noFill/>
        </p:spPr>
        <p:txBody>
          <a:bodyPr wrap="square" lIns="0" rIns="0" tIns="0" bIns="0" anchor="ctr">
            <a:noAutofit/>
          </a:bodyPr>
          <a:lstStyle/>
          <a:p>
            <a:pPr algn="ctr">
              <a:spcAft>
                <a:spcPts val="400"/>
              </a:spcAft>
            </a:pPr>
            <a:r>
              <a:rPr sz="1100" b="1" lang="en-GB">
                <a:solidFill>
                  <a:schemeClr val="tx2"/>
                </a:solidFill>
              </a:rPr>
              <a:t>1 Load</a:t>
            </a:r>
          </a:p>
        </p:txBody>
      </p:sp>
      <p:sp>
        <p:nvSpPr>
          <p:cNvPr id="12" name="Ladder step 2"/>
          <p:cNvSpPr/>
          <p:nvPr/>
        </p:nvSpPr>
        <p:spPr>
          <a:xfrm>
            <a:off x="1375664" y="1234440"/>
            <a:ext cx="881888" cy="31089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Ladder step 2 text"/>
          <p:cNvSpPr txBox="1"/>
          <p:nvPr/>
        </p:nvSpPr>
        <p:spPr>
          <a:xfrm>
            <a:off x="1375664" y="1234440"/>
            <a:ext cx="881888" cy="310896"/>
          </a:xfrm>
          <a:prstGeom prst="rect">
            <a:avLst/>
          </a:prstGeom>
          <a:noFill/>
        </p:spPr>
        <p:txBody>
          <a:bodyPr wrap="square" lIns="0" rIns="0" tIns="0" bIns="0" anchor="ctr">
            <a:noAutofit/>
          </a:bodyPr>
          <a:lstStyle/>
          <a:p>
            <a:pPr algn="ctr">
              <a:spcAft>
                <a:spcPts val="400"/>
              </a:spcAft>
            </a:pPr>
            <a:r>
              <a:rPr sz="1100" b="1" lang="en-GB">
                <a:solidFill>
                  <a:schemeClr val="tx2"/>
                </a:solidFill>
              </a:rPr>
              <a:t>2 Regress</a:t>
            </a:r>
          </a:p>
        </p:txBody>
      </p:sp>
      <p:sp>
        <p:nvSpPr>
          <p:cNvPr id="14" name="Ladder step 3"/>
          <p:cNvSpPr/>
          <p:nvPr/>
        </p:nvSpPr>
        <p:spPr>
          <a:xfrm>
            <a:off x="2294128" y="1234440"/>
            <a:ext cx="881888" cy="31089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Ladder step 3 text"/>
          <p:cNvSpPr txBox="1"/>
          <p:nvPr/>
        </p:nvSpPr>
        <p:spPr>
          <a:xfrm>
            <a:off x="2294128" y="1234440"/>
            <a:ext cx="881888" cy="310896"/>
          </a:xfrm>
          <a:prstGeom prst="rect">
            <a:avLst/>
          </a:prstGeom>
          <a:noFill/>
        </p:spPr>
        <p:txBody>
          <a:bodyPr wrap="square" lIns="0" rIns="0" tIns="0" bIns="0" anchor="ctr">
            <a:noAutofit/>
          </a:bodyPr>
          <a:lstStyle/>
          <a:p>
            <a:pPr algn="ctr">
              <a:spcAft>
                <a:spcPts val="400"/>
              </a:spcAft>
            </a:pPr>
            <a:r>
              <a:rPr sz="1100" b="1" lang="en-GB">
                <a:solidFill>
                  <a:schemeClr val="tx2"/>
                </a:solidFill>
              </a:rPr>
              <a:t>3 Trend</a:t>
            </a:r>
          </a:p>
        </p:txBody>
      </p:sp>
      <p:sp>
        <p:nvSpPr>
          <p:cNvPr id="16" name="Ladder step 4"/>
          <p:cNvSpPr/>
          <p:nvPr/>
        </p:nvSpPr>
        <p:spPr>
          <a:xfrm>
            <a:off x="3212592" y="1234440"/>
            <a:ext cx="881888" cy="310896"/>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Ladder step 4 text"/>
          <p:cNvSpPr txBox="1"/>
          <p:nvPr/>
        </p:nvSpPr>
        <p:spPr>
          <a:xfrm>
            <a:off x="3212592" y="1234440"/>
            <a:ext cx="881888" cy="310896"/>
          </a:xfrm>
          <a:prstGeom prst="rect">
            <a:avLst/>
          </a:prstGeom>
          <a:noFill/>
        </p:spPr>
        <p:txBody>
          <a:bodyPr wrap="square" lIns="0" rIns="0" tIns="0" bIns="0" anchor="ctr">
            <a:noAutofit/>
          </a:bodyPr>
          <a:lstStyle/>
          <a:p>
            <a:pPr algn="ctr">
              <a:spcAft>
                <a:spcPts val="400"/>
              </a:spcAft>
            </a:pPr>
            <a:r>
              <a:rPr sz="1100" b="1" lang="en-GB">
                <a:solidFill>
                  <a:schemeClr val="bg1"/>
                </a:solidFill>
              </a:rPr>
              <a:t>4 Adstock</a:t>
            </a:r>
          </a:p>
        </p:txBody>
      </p:sp>
      <p:sp>
        <p:nvSpPr>
          <p:cNvPr id="18" name="Ladder step 5"/>
          <p:cNvSpPr/>
          <p:nvPr/>
        </p:nvSpPr>
        <p:spPr>
          <a:xfrm>
            <a:off x="4131056" y="1234440"/>
            <a:ext cx="881888" cy="31089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Ladder step 5 text"/>
          <p:cNvSpPr txBox="1"/>
          <p:nvPr/>
        </p:nvSpPr>
        <p:spPr>
          <a:xfrm>
            <a:off x="4131056" y="1234440"/>
            <a:ext cx="881888" cy="310896"/>
          </a:xfrm>
          <a:prstGeom prst="rect">
            <a:avLst/>
          </a:prstGeom>
          <a:noFill/>
        </p:spPr>
        <p:txBody>
          <a:bodyPr wrap="square" lIns="0" rIns="0" tIns="0" bIns="0" anchor="ctr">
            <a:noAutofit/>
          </a:bodyPr>
          <a:lstStyle/>
          <a:p>
            <a:pPr algn="ctr">
              <a:spcAft>
                <a:spcPts val="400"/>
              </a:spcAft>
            </a:pPr>
            <a:r>
              <a:rPr sz="1100" b="1" lang="en-GB">
                <a:solidFill>
                  <a:schemeClr val="tx2"/>
                </a:solidFill>
              </a:rPr>
              <a:t>5 Carry</a:t>
            </a:r>
          </a:p>
        </p:txBody>
      </p:sp>
      <p:sp>
        <p:nvSpPr>
          <p:cNvPr id="20" name="Ladder step 6"/>
          <p:cNvSpPr/>
          <p:nvPr/>
        </p:nvSpPr>
        <p:spPr>
          <a:xfrm>
            <a:off x="5049520" y="1234440"/>
            <a:ext cx="881888" cy="31089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Ladder step 6 text"/>
          <p:cNvSpPr txBox="1"/>
          <p:nvPr/>
        </p:nvSpPr>
        <p:spPr>
          <a:xfrm>
            <a:off x="5049520" y="1234440"/>
            <a:ext cx="881888" cy="310896"/>
          </a:xfrm>
          <a:prstGeom prst="rect">
            <a:avLst/>
          </a:prstGeom>
          <a:noFill/>
        </p:spPr>
        <p:txBody>
          <a:bodyPr wrap="square" lIns="0" rIns="0" tIns="0" bIns="0" anchor="ctr">
            <a:noAutofit/>
          </a:bodyPr>
          <a:lstStyle/>
          <a:p>
            <a:pPr algn="ctr">
              <a:spcAft>
                <a:spcPts val="400"/>
              </a:spcAft>
            </a:pPr>
            <a:r>
              <a:rPr sz="1100" b="1" lang="en-GB">
                <a:solidFill>
                  <a:schemeClr val="tx2"/>
                </a:solidFill>
              </a:rPr>
              <a:t>6 ROI</a:t>
            </a:r>
          </a:p>
        </p:txBody>
      </p:sp>
      <p:sp>
        <p:nvSpPr>
          <p:cNvPr id="22" name="Ladder step 7"/>
          <p:cNvSpPr/>
          <p:nvPr/>
        </p:nvSpPr>
        <p:spPr>
          <a:xfrm>
            <a:off x="5967984" y="1234440"/>
            <a:ext cx="881888" cy="31089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Ladder step 7 text"/>
          <p:cNvSpPr txBox="1"/>
          <p:nvPr/>
        </p:nvSpPr>
        <p:spPr>
          <a:xfrm>
            <a:off x="5967984" y="1234440"/>
            <a:ext cx="881888" cy="310896"/>
          </a:xfrm>
          <a:prstGeom prst="rect">
            <a:avLst/>
          </a:prstGeom>
          <a:noFill/>
        </p:spPr>
        <p:txBody>
          <a:bodyPr wrap="square" lIns="0" rIns="0" tIns="0" bIns="0" anchor="ctr">
            <a:noAutofit/>
          </a:bodyPr>
          <a:lstStyle/>
          <a:p>
            <a:pPr algn="ctr">
              <a:spcAft>
                <a:spcPts val="400"/>
              </a:spcAft>
            </a:pPr>
            <a:r>
              <a:rPr sz="1100" b="1" lang="en-GB">
                <a:solidFill>
                  <a:schemeClr val="tx2"/>
                </a:solidFill>
              </a:rPr>
              <a:t>7 Saturate</a:t>
            </a:r>
          </a:p>
        </p:txBody>
      </p:sp>
      <p:sp>
        <p:nvSpPr>
          <p:cNvPr id="24" name="Ladder step 8"/>
          <p:cNvSpPr/>
          <p:nvPr/>
        </p:nvSpPr>
        <p:spPr>
          <a:xfrm>
            <a:off x="6886448" y="1234440"/>
            <a:ext cx="881888" cy="31089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Ladder step 8 text"/>
          <p:cNvSpPr txBox="1"/>
          <p:nvPr/>
        </p:nvSpPr>
        <p:spPr>
          <a:xfrm>
            <a:off x="6886448" y="1234440"/>
            <a:ext cx="881888" cy="310896"/>
          </a:xfrm>
          <a:prstGeom prst="rect">
            <a:avLst/>
          </a:prstGeom>
          <a:noFill/>
        </p:spPr>
        <p:txBody>
          <a:bodyPr wrap="square" lIns="0" rIns="0" tIns="0" bIns="0" anchor="ctr">
            <a:noAutofit/>
          </a:bodyPr>
          <a:lstStyle/>
          <a:p>
            <a:pPr algn="ctr">
              <a:spcAft>
                <a:spcPts val="400"/>
              </a:spcAft>
            </a:pPr>
            <a:r>
              <a:rPr sz="1100" b="1" lang="en-GB">
                <a:solidFill>
                  <a:schemeClr val="tx2"/>
                </a:solidFill>
              </a:rPr>
              <a:t>8 PyMC</a:t>
            </a:r>
          </a:p>
        </p:txBody>
      </p:sp>
      <p:sp>
        <p:nvSpPr>
          <p:cNvPr id="26" name="Ladder step 9"/>
          <p:cNvSpPr/>
          <p:nvPr/>
        </p:nvSpPr>
        <p:spPr>
          <a:xfrm>
            <a:off x="7804912" y="1234440"/>
            <a:ext cx="881888" cy="31089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Ladder step 9 text"/>
          <p:cNvSpPr txBox="1"/>
          <p:nvPr/>
        </p:nvSpPr>
        <p:spPr>
          <a:xfrm>
            <a:off x="7804912" y="1234440"/>
            <a:ext cx="881888" cy="310896"/>
          </a:xfrm>
          <a:prstGeom prst="rect">
            <a:avLst/>
          </a:prstGeom>
          <a:noFill/>
        </p:spPr>
        <p:txBody>
          <a:bodyPr wrap="square" lIns="0" rIns="0" tIns="0" bIns="0" anchor="ctr">
            <a:noAutofit/>
          </a:bodyPr>
          <a:lstStyle/>
          <a:p>
            <a:pPr algn="ctr">
              <a:spcAft>
                <a:spcPts val="400"/>
              </a:spcAft>
            </a:pPr>
            <a:r>
              <a:rPr sz="1100" b="1" lang="en-GB">
                <a:solidFill>
                  <a:schemeClr val="tx2"/>
                </a:solidFill>
              </a:rPr>
              <a:t>9 Read</a:t>
            </a:r>
          </a:p>
        </p:txBody>
      </p:sp>
      <p:sp>
        <p:nvSpPr>
          <p:cNvPr id="28" name="Ladder code caption bar"/>
          <p:cNvSpPr/>
          <p:nvPr/>
        </p:nvSpPr>
        <p:spPr>
          <a:xfrm>
            <a:off x="457200" y="1682496"/>
            <a:ext cx="4480560" cy="27432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Ladder code caption"/>
          <p:cNvSpPr txBox="1"/>
          <p:nvPr/>
        </p:nvSpPr>
        <p:spPr>
          <a:xfrm>
            <a:off x="566928" y="1682496"/>
            <a:ext cx="4261104" cy="274320"/>
          </a:xfrm>
          <a:prstGeom prst="rect">
            <a:avLst/>
          </a:prstGeom>
          <a:noFill/>
        </p:spPr>
        <p:txBody>
          <a:bodyPr wrap="square" lIns="0" rIns="0" tIns="0" bIns="0" anchor="ctr">
            <a:noAutofit/>
          </a:bodyPr>
          <a:lstStyle/>
          <a:p>
            <a:pPr algn="l">
              <a:spcAft>
                <a:spcPts val="400"/>
              </a:spcAft>
            </a:pPr>
            <a:r>
              <a:rPr sz="1100" b="1" lang="en-GB">
                <a:solidFill>
                  <a:schemeClr val="bg1"/>
                </a:solidFill>
              </a:rPr>
              <a:t>open_source_mmm.qmd · Step 4</a:t>
            </a:r>
          </a:p>
        </p:txBody>
      </p:sp>
      <p:sp>
        <p:nvSpPr>
          <p:cNvPr id="30" name="Ladder code box"/>
          <p:cNvSpPr/>
          <p:nvPr/>
        </p:nvSpPr>
        <p:spPr>
          <a:xfrm>
            <a:off x="457200" y="1956816"/>
            <a:ext cx="4480560" cy="1126541"/>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Ladder code code"/>
          <p:cNvSpPr txBox="1"/>
          <p:nvPr/>
        </p:nvSpPr>
        <p:spPr>
          <a:xfrm>
            <a:off x="594360" y="2048256"/>
            <a:ext cx="4206240" cy="943661"/>
          </a:xfrm>
          <a:prstGeom prst="rect">
            <a:avLst/>
          </a:prstGeom>
          <a:noFill/>
        </p:spPr>
        <p:txBody>
          <a:bodyPr wrap="square" lIns="0" rIns="0" tIns="0" bIns="0" anchor="t">
            <a:noAutofit/>
          </a:bodyPr>
          <a:lstStyle/>
          <a:p>
            <a:pPr algn="l">
              <a:spcAft>
                <a:spcPts val="0"/>
              </a:spcAft>
            </a:pPr>
            <a:r>
              <a:rPr sz="1000" b="0" lang="en-GB">
                <a:solidFill>
                  <a:schemeClr val="bg1"/>
                </a:solidFill>
                <a:latin typeface="Consolas"/>
              </a:rPr>
              <a:t>from scipy.signal import lfilter</a:t>
            </a:r>
          </a:p>
          <a:p>
            <a:pPr algn="l">
              <a:spcAft>
                <a:spcPts val="0"/>
              </a:spcAft>
            </a:pPr>
            <a:r>
              <a:rPr sz="1000" b="0" lang="en-GB">
                <a:solidFill>
                  <a:schemeClr val="bg1"/>
                </a:solidFill>
                <a:latin typeface="Consolas"/>
              </a:rPr>
              <a:t> </a:t>
            </a:r>
          </a:p>
          <a:p>
            <a:pPr algn="l">
              <a:spcAft>
                <a:spcPts val="0"/>
              </a:spcAft>
            </a:pPr>
            <a:r>
              <a:rPr sz="1000" b="0" lang="en-GB">
                <a:solidFill>
                  <a:schemeClr val="bg1"/>
                </a:solidFill>
                <a:latin typeface="Consolas"/>
              </a:rPr>
              <a:t># adstock: this week's spend + 0.5 x last stock</a:t>
            </a:r>
          </a:p>
          <a:p>
            <a:pPr algn="l">
              <a:spcAft>
                <a:spcPts val="0"/>
              </a:spcAft>
            </a:pPr>
            <a:r>
              <a:rPr sz="1000" b="0" lang="en-GB">
                <a:solidFill>
                  <a:schemeClr val="bg1"/>
                </a:solidFill>
                <a:latin typeface="Consolas"/>
              </a:rPr>
              <a:t>at = at.with_columns(</a:t>
            </a:r>
          </a:p>
          <a:p>
            <a:pPr algn="l">
              <a:spcAft>
                <a:spcPts val="0"/>
              </a:spcAft>
            </a:pPr>
            <a:r>
              <a:rPr sz="1000" b="0" lang="en-GB">
                <a:solidFill>
                  <a:schemeClr val="bg1"/>
                </a:solidFill>
                <a:latin typeface="Consolas"/>
              </a:rPr>
              <a:t>    meta_ad=lfilter([1], [1, -0.5], at["meta"]))</a:t>
            </a:r>
          </a:p>
          <a:p>
            <a:pPr algn="l">
              <a:spcAft>
                <a:spcPts val="0"/>
              </a:spcAft>
            </a:pPr>
            <a:r>
              <a:rPr sz="1000" b="0" lang="en-GB">
                <a:solidFill>
                  <a:schemeClr val="bg1"/>
                </a:solidFill>
                <a:latin typeface="Consolas"/>
              </a:rPr>
              <a:t>at.select("week", "meta", "meta_ad").head()</a:t>
            </a:r>
          </a:p>
        </p:txBody>
      </p:sp>
      <p:sp>
        <p:nvSpPr>
          <p:cNvPr id="32" name="Ladder out 1-1"/>
          <p:cNvSpPr/>
          <p:nvPr/>
        </p:nvSpPr>
        <p:spPr>
          <a:xfrm>
            <a:off x="5074920" y="1682496"/>
            <a:ext cx="1407424" cy="329184"/>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Ladder out text 1-1"/>
          <p:cNvSpPr txBox="1"/>
          <p:nvPr/>
        </p:nvSpPr>
        <p:spPr>
          <a:xfrm>
            <a:off x="5166360" y="1682496"/>
            <a:ext cx="1224544" cy="329184"/>
          </a:xfrm>
          <a:prstGeom prst="rect">
            <a:avLst/>
          </a:prstGeom>
          <a:noFill/>
        </p:spPr>
        <p:txBody>
          <a:bodyPr wrap="square" lIns="0" rIns="0" tIns="0" bIns="0" anchor="ctr">
            <a:noAutofit/>
          </a:bodyPr>
          <a:lstStyle/>
          <a:p>
            <a:pPr algn="l">
              <a:spcAft>
                <a:spcPts val="400"/>
              </a:spcAft>
            </a:pPr>
            <a:r>
              <a:rPr sz="1150" b="1" lang="en-GB">
                <a:solidFill>
                  <a:schemeClr val="bg1"/>
                </a:solidFill>
              </a:rPr>
              <a:t>week</a:t>
            </a:r>
          </a:p>
        </p:txBody>
      </p:sp>
      <p:sp>
        <p:nvSpPr>
          <p:cNvPr id="34" name="Ladder out 1-2"/>
          <p:cNvSpPr/>
          <p:nvPr/>
        </p:nvSpPr>
        <p:spPr>
          <a:xfrm>
            <a:off x="6509776" y="1682496"/>
            <a:ext cx="962124" cy="329184"/>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Ladder out text 1-2"/>
          <p:cNvSpPr txBox="1"/>
          <p:nvPr/>
        </p:nvSpPr>
        <p:spPr>
          <a:xfrm>
            <a:off x="6601216" y="1682496"/>
            <a:ext cx="779244" cy="329184"/>
          </a:xfrm>
          <a:prstGeom prst="rect">
            <a:avLst/>
          </a:prstGeom>
          <a:noFill/>
        </p:spPr>
        <p:txBody>
          <a:bodyPr wrap="square" lIns="0" rIns="0" tIns="0" bIns="0" anchor="ctr">
            <a:noAutofit/>
          </a:bodyPr>
          <a:lstStyle/>
          <a:p>
            <a:pPr algn="r">
              <a:spcAft>
                <a:spcPts val="400"/>
              </a:spcAft>
            </a:pPr>
            <a:r>
              <a:rPr sz="1150" b="1" lang="en-GB">
                <a:solidFill>
                  <a:schemeClr val="bg1"/>
                </a:solidFill>
              </a:rPr>
              <a:t>meta</a:t>
            </a:r>
          </a:p>
        </p:txBody>
      </p:sp>
      <p:sp>
        <p:nvSpPr>
          <p:cNvPr id="36" name="Ladder out 1-3"/>
          <p:cNvSpPr/>
          <p:nvPr/>
        </p:nvSpPr>
        <p:spPr>
          <a:xfrm>
            <a:off x="7499333" y="1682496"/>
            <a:ext cx="1187467" cy="329184"/>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Ladder out text 1-3"/>
          <p:cNvSpPr txBox="1"/>
          <p:nvPr/>
        </p:nvSpPr>
        <p:spPr>
          <a:xfrm>
            <a:off x="7590773" y="1682496"/>
            <a:ext cx="977155" cy="329184"/>
          </a:xfrm>
          <a:prstGeom prst="rect">
            <a:avLst/>
          </a:prstGeom>
          <a:noFill/>
        </p:spPr>
        <p:txBody>
          <a:bodyPr wrap="square" lIns="0" rIns="0" tIns="0" bIns="0" anchor="ctr">
            <a:noAutofit/>
          </a:bodyPr>
          <a:lstStyle/>
          <a:p>
            <a:pPr algn="r">
              <a:spcAft>
                <a:spcPts val="400"/>
              </a:spcAft>
            </a:pPr>
            <a:r>
              <a:rPr sz="1150" b="1" lang="en-GB">
                <a:solidFill>
                  <a:schemeClr val="bg1"/>
                </a:solidFill>
              </a:rPr>
              <a:t>meta_ad</a:t>
            </a:r>
          </a:p>
        </p:txBody>
      </p:sp>
      <p:sp>
        <p:nvSpPr>
          <p:cNvPr id="38" name="Ladder out 2-1"/>
          <p:cNvSpPr/>
          <p:nvPr/>
        </p:nvSpPr>
        <p:spPr>
          <a:xfrm>
            <a:off x="5074920" y="2039112"/>
            <a:ext cx="1407424" cy="32918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Ladder out text 2-1"/>
          <p:cNvSpPr txBox="1"/>
          <p:nvPr/>
        </p:nvSpPr>
        <p:spPr>
          <a:xfrm>
            <a:off x="5166360" y="2039112"/>
            <a:ext cx="1224544" cy="329184"/>
          </a:xfrm>
          <a:prstGeom prst="rect">
            <a:avLst/>
          </a:prstGeom>
          <a:noFill/>
        </p:spPr>
        <p:txBody>
          <a:bodyPr wrap="square" lIns="0" rIns="0" tIns="0" bIns="0" anchor="ctr">
            <a:noAutofit/>
          </a:bodyPr>
          <a:lstStyle/>
          <a:p>
            <a:pPr algn="l">
              <a:spcAft>
                <a:spcPts val="400"/>
              </a:spcAft>
            </a:pPr>
            <a:r>
              <a:rPr sz="1150" b="1" lang="en-GB">
                <a:solidFill>
                  <a:schemeClr val="tx2"/>
                </a:solidFill>
              </a:rPr>
              <a:t>26 Jul 2021</a:t>
            </a:r>
          </a:p>
        </p:txBody>
      </p:sp>
      <p:sp>
        <p:nvSpPr>
          <p:cNvPr id="40" name="Ladder out 2-2"/>
          <p:cNvSpPr/>
          <p:nvPr/>
        </p:nvSpPr>
        <p:spPr>
          <a:xfrm>
            <a:off x="6509776" y="2039112"/>
            <a:ext cx="962124" cy="32918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Ladder out text 2-2"/>
          <p:cNvSpPr txBox="1"/>
          <p:nvPr/>
        </p:nvSpPr>
        <p:spPr>
          <a:xfrm>
            <a:off x="6601216" y="2039112"/>
            <a:ext cx="779244" cy="329184"/>
          </a:xfrm>
          <a:prstGeom prst="rect">
            <a:avLst/>
          </a:prstGeom>
          <a:noFill/>
        </p:spPr>
        <p:txBody>
          <a:bodyPr wrap="square" lIns="0" rIns="0" tIns="0" bIns="0" anchor="ctr">
            <a:noAutofit/>
          </a:bodyPr>
          <a:lstStyle/>
          <a:p>
            <a:pPr algn="r">
              <a:spcAft>
                <a:spcPts val="400"/>
              </a:spcAft>
            </a:pPr>
            <a:r>
              <a:rPr sz="1150" b="0" lang="en-GB">
                <a:solidFill>
                  <a:schemeClr val="tx1"/>
                </a:solidFill>
              </a:rPr>
              <a:t>0.389</a:t>
            </a:r>
          </a:p>
        </p:txBody>
      </p:sp>
      <p:sp>
        <p:nvSpPr>
          <p:cNvPr id="42" name="Ladder out 2-3"/>
          <p:cNvSpPr/>
          <p:nvPr/>
        </p:nvSpPr>
        <p:spPr>
          <a:xfrm>
            <a:off x="7499333" y="2039112"/>
            <a:ext cx="1187467" cy="32918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Ladder out text 2-3"/>
          <p:cNvSpPr txBox="1"/>
          <p:nvPr/>
        </p:nvSpPr>
        <p:spPr>
          <a:xfrm>
            <a:off x="7590773" y="2039112"/>
            <a:ext cx="977155" cy="329184"/>
          </a:xfrm>
          <a:prstGeom prst="rect">
            <a:avLst/>
          </a:prstGeom>
          <a:noFill/>
        </p:spPr>
        <p:txBody>
          <a:bodyPr wrap="square" lIns="0" rIns="0" tIns="0" bIns="0" anchor="ctr">
            <a:noAutofit/>
          </a:bodyPr>
          <a:lstStyle/>
          <a:p>
            <a:pPr algn="r">
              <a:spcAft>
                <a:spcPts val="400"/>
              </a:spcAft>
            </a:pPr>
            <a:r>
              <a:rPr sz="1150" b="0" lang="en-GB">
                <a:solidFill>
                  <a:schemeClr val="tx1"/>
                </a:solidFill>
              </a:rPr>
              <a:t>0.3890</a:t>
            </a:r>
          </a:p>
        </p:txBody>
      </p:sp>
      <p:sp>
        <p:nvSpPr>
          <p:cNvPr id="44" name="Ladder out 3-1"/>
          <p:cNvSpPr/>
          <p:nvPr/>
        </p:nvSpPr>
        <p:spPr>
          <a:xfrm>
            <a:off x="5074920" y="2395728"/>
            <a:ext cx="1407424" cy="32918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Ladder out text 3-1"/>
          <p:cNvSpPr txBox="1"/>
          <p:nvPr/>
        </p:nvSpPr>
        <p:spPr>
          <a:xfrm>
            <a:off x="5166360" y="2395728"/>
            <a:ext cx="1224544" cy="329184"/>
          </a:xfrm>
          <a:prstGeom prst="rect">
            <a:avLst/>
          </a:prstGeom>
          <a:noFill/>
        </p:spPr>
        <p:txBody>
          <a:bodyPr wrap="square" lIns="0" rIns="0" tIns="0" bIns="0" anchor="ctr">
            <a:noAutofit/>
          </a:bodyPr>
          <a:lstStyle/>
          <a:p>
            <a:pPr algn="l">
              <a:spcAft>
                <a:spcPts val="400"/>
              </a:spcAft>
            </a:pPr>
            <a:r>
              <a:rPr sz="1150" b="1" lang="en-GB">
                <a:solidFill>
                  <a:schemeClr val="tx2"/>
                </a:solidFill>
              </a:rPr>
              <a:t>2 Aug 2021</a:t>
            </a:r>
          </a:p>
        </p:txBody>
      </p:sp>
      <p:sp>
        <p:nvSpPr>
          <p:cNvPr id="46" name="Ladder out 3-2"/>
          <p:cNvSpPr/>
          <p:nvPr/>
        </p:nvSpPr>
        <p:spPr>
          <a:xfrm>
            <a:off x="6509776" y="2395728"/>
            <a:ext cx="962124" cy="32918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7" name="Ladder out text 3-2"/>
          <p:cNvSpPr txBox="1"/>
          <p:nvPr/>
        </p:nvSpPr>
        <p:spPr>
          <a:xfrm>
            <a:off x="6601216" y="2395728"/>
            <a:ext cx="779244" cy="329184"/>
          </a:xfrm>
          <a:prstGeom prst="rect">
            <a:avLst/>
          </a:prstGeom>
          <a:noFill/>
        </p:spPr>
        <p:txBody>
          <a:bodyPr wrap="square" lIns="0" rIns="0" tIns="0" bIns="0" anchor="ctr">
            <a:noAutofit/>
          </a:bodyPr>
          <a:lstStyle/>
          <a:p>
            <a:pPr algn="r">
              <a:spcAft>
                <a:spcPts val="400"/>
              </a:spcAft>
            </a:pPr>
            <a:r>
              <a:rPr sz="1150" b="0" lang="en-GB">
                <a:solidFill>
                  <a:schemeClr val="tx1"/>
                </a:solidFill>
              </a:rPr>
              <a:t>0.273</a:t>
            </a:r>
          </a:p>
        </p:txBody>
      </p:sp>
      <p:sp>
        <p:nvSpPr>
          <p:cNvPr id="48" name="Ladder out 3-3"/>
          <p:cNvSpPr/>
          <p:nvPr/>
        </p:nvSpPr>
        <p:spPr>
          <a:xfrm>
            <a:off x="7499333" y="2395728"/>
            <a:ext cx="1187467" cy="32918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9" name="Ladder out text 3-3"/>
          <p:cNvSpPr txBox="1"/>
          <p:nvPr/>
        </p:nvSpPr>
        <p:spPr>
          <a:xfrm>
            <a:off x="7590773" y="2395728"/>
            <a:ext cx="977155" cy="329184"/>
          </a:xfrm>
          <a:prstGeom prst="rect">
            <a:avLst/>
          </a:prstGeom>
          <a:noFill/>
        </p:spPr>
        <p:txBody>
          <a:bodyPr wrap="square" lIns="0" rIns="0" tIns="0" bIns="0" anchor="ctr">
            <a:noAutofit/>
          </a:bodyPr>
          <a:lstStyle/>
          <a:p>
            <a:pPr algn="r">
              <a:spcAft>
                <a:spcPts val="400"/>
              </a:spcAft>
            </a:pPr>
            <a:r>
              <a:rPr sz="1150" b="0" lang="en-GB">
                <a:solidFill>
                  <a:schemeClr val="tx1"/>
                </a:solidFill>
              </a:rPr>
              <a:t>0.4675</a:t>
            </a:r>
          </a:p>
        </p:txBody>
      </p:sp>
      <p:sp>
        <p:nvSpPr>
          <p:cNvPr id="50" name="Ladder out 4-1"/>
          <p:cNvSpPr/>
          <p:nvPr/>
        </p:nvSpPr>
        <p:spPr>
          <a:xfrm>
            <a:off x="5074920" y="2752344"/>
            <a:ext cx="1407424" cy="32918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1" name="Ladder out text 4-1"/>
          <p:cNvSpPr txBox="1"/>
          <p:nvPr/>
        </p:nvSpPr>
        <p:spPr>
          <a:xfrm>
            <a:off x="5166360" y="2752344"/>
            <a:ext cx="1224544" cy="329184"/>
          </a:xfrm>
          <a:prstGeom prst="rect">
            <a:avLst/>
          </a:prstGeom>
          <a:noFill/>
        </p:spPr>
        <p:txBody>
          <a:bodyPr wrap="square" lIns="0" rIns="0" tIns="0" bIns="0" anchor="ctr">
            <a:noAutofit/>
          </a:bodyPr>
          <a:lstStyle/>
          <a:p>
            <a:pPr algn="l">
              <a:spcAft>
                <a:spcPts val="400"/>
              </a:spcAft>
            </a:pPr>
            <a:r>
              <a:rPr sz="1150" b="1" lang="en-GB">
                <a:solidFill>
                  <a:schemeClr val="tx2"/>
                </a:solidFill>
              </a:rPr>
              <a:t>9 Aug 2021</a:t>
            </a:r>
          </a:p>
        </p:txBody>
      </p:sp>
      <p:sp>
        <p:nvSpPr>
          <p:cNvPr id="52" name="Ladder out 4-2"/>
          <p:cNvSpPr/>
          <p:nvPr/>
        </p:nvSpPr>
        <p:spPr>
          <a:xfrm>
            <a:off x="6509776" y="2752344"/>
            <a:ext cx="962124" cy="32918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3" name="Ladder out text 4-2"/>
          <p:cNvSpPr txBox="1"/>
          <p:nvPr/>
        </p:nvSpPr>
        <p:spPr>
          <a:xfrm>
            <a:off x="6601216" y="2752344"/>
            <a:ext cx="779244" cy="329184"/>
          </a:xfrm>
          <a:prstGeom prst="rect">
            <a:avLst/>
          </a:prstGeom>
          <a:noFill/>
        </p:spPr>
        <p:txBody>
          <a:bodyPr wrap="square" lIns="0" rIns="0" tIns="0" bIns="0" anchor="ctr">
            <a:noAutofit/>
          </a:bodyPr>
          <a:lstStyle/>
          <a:p>
            <a:pPr algn="r">
              <a:spcAft>
                <a:spcPts val="400"/>
              </a:spcAft>
            </a:pPr>
            <a:r>
              <a:rPr sz="1150" b="0" lang="en-GB">
                <a:solidFill>
                  <a:schemeClr val="tx1"/>
                </a:solidFill>
              </a:rPr>
              <a:t>0.259</a:t>
            </a:r>
          </a:p>
        </p:txBody>
      </p:sp>
      <p:sp>
        <p:nvSpPr>
          <p:cNvPr id="54" name="Ladder out 4-3"/>
          <p:cNvSpPr/>
          <p:nvPr/>
        </p:nvSpPr>
        <p:spPr>
          <a:xfrm>
            <a:off x="7499333" y="2752344"/>
            <a:ext cx="1187467" cy="32918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5" name="Ladder out text 4-3"/>
          <p:cNvSpPr txBox="1"/>
          <p:nvPr/>
        </p:nvSpPr>
        <p:spPr>
          <a:xfrm>
            <a:off x="7590773" y="2752344"/>
            <a:ext cx="977155" cy="329184"/>
          </a:xfrm>
          <a:prstGeom prst="rect">
            <a:avLst/>
          </a:prstGeom>
          <a:noFill/>
        </p:spPr>
        <p:txBody>
          <a:bodyPr wrap="square" lIns="0" rIns="0" tIns="0" bIns="0" anchor="ctr">
            <a:noAutofit/>
          </a:bodyPr>
          <a:lstStyle/>
          <a:p>
            <a:pPr algn="r">
              <a:spcAft>
                <a:spcPts val="400"/>
              </a:spcAft>
            </a:pPr>
            <a:r>
              <a:rPr sz="1150" b="0" lang="en-GB">
                <a:solidFill>
                  <a:schemeClr val="tx1"/>
                </a:solidFill>
              </a:rPr>
              <a:t>0.4928</a:t>
            </a:r>
          </a:p>
        </p:txBody>
      </p:sp>
      <p:sp>
        <p:nvSpPr>
          <p:cNvPr id="56" name="Ladder out 5-1"/>
          <p:cNvSpPr/>
          <p:nvPr/>
        </p:nvSpPr>
        <p:spPr>
          <a:xfrm>
            <a:off x="5074920" y="3108960"/>
            <a:ext cx="1407424" cy="32918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7" name="Ladder out text 5-1"/>
          <p:cNvSpPr txBox="1"/>
          <p:nvPr/>
        </p:nvSpPr>
        <p:spPr>
          <a:xfrm>
            <a:off x="5166360" y="3108960"/>
            <a:ext cx="1224544" cy="329184"/>
          </a:xfrm>
          <a:prstGeom prst="rect">
            <a:avLst/>
          </a:prstGeom>
          <a:noFill/>
        </p:spPr>
        <p:txBody>
          <a:bodyPr wrap="square" lIns="0" rIns="0" tIns="0" bIns="0" anchor="ctr">
            <a:noAutofit/>
          </a:bodyPr>
          <a:lstStyle/>
          <a:p>
            <a:pPr algn="l">
              <a:spcAft>
                <a:spcPts val="400"/>
              </a:spcAft>
            </a:pPr>
            <a:r>
              <a:rPr sz="1150" b="1" lang="en-GB">
                <a:solidFill>
                  <a:schemeClr val="tx2"/>
                </a:solidFill>
              </a:rPr>
              <a:t>16 Aug 2021</a:t>
            </a:r>
          </a:p>
        </p:txBody>
      </p:sp>
      <p:sp>
        <p:nvSpPr>
          <p:cNvPr id="58" name="Ladder out 5-2"/>
          <p:cNvSpPr/>
          <p:nvPr/>
        </p:nvSpPr>
        <p:spPr>
          <a:xfrm>
            <a:off x="6509776" y="3108960"/>
            <a:ext cx="962124" cy="32918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9" name="Ladder out text 5-2"/>
          <p:cNvSpPr txBox="1"/>
          <p:nvPr/>
        </p:nvSpPr>
        <p:spPr>
          <a:xfrm>
            <a:off x="6601216" y="3108960"/>
            <a:ext cx="779244" cy="329184"/>
          </a:xfrm>
          <a:prstGeom prst="rect">
            <a:avLst/>
          </a:prstGeom>
          <a:noFill/>
        </p:spPr>
        <p:txBody>
          <a:bodyPr wrap="square" lIns="0" rIns="0" tIns="0" bIns="0" anchor="ctr">
            <a:noAutofit/>
          </a:bodyPr>
          <a:lstStyle/>
          <a:p>
            <a:pPr algn="r">
              <a:spcAft>
                <a:spcPts val="400"/>
              </a:spcAft>
            </a:pPr>
            <a:r>
              <a:rPr sz="1150" b="0" lang="en-GB">
                <a:solidFill>
                  <a:schemeClr val="tx1"/>
                </a:solidFill>
              </a:rPr>
              <a:t>0.231</a:t>
            </a:r>
          </a:p>
        </p:txBody>
      </p:sp>
      <p:sp>
        <p:nvSpPr>
          <p:cNvPr id="60" name="Ladder out 5-3"/>
          <p:cNvSpPr/>
          <p:nvPr/>
        </p:nvSpPr>
        <p:spPr>
          <a:xfrm>
            <a:off x="7499333" y="3108960"/>
            <a:ext cx="1187467" cy="32918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1" name="Ladder out text 5-3"/>
          <p:cNvSpPr txBox="1"/>
          <p:nvPr/>
        </p:nvSpPr>
        <p:spPr>
          <a:xfrm>
            <a:off x="7590773" y="3108960"/>
            <a:ext cx="977155" cy="329184"/>
          </a:xfrm>
          <a:prstGeom prst="rect">
            <a:avLst/>
          </a:prstGeom>
          <a:noFill/>
        </p:spPr>
        <p:txBody>
          <a:bodyPr wrap="square" lIns="0" rIns="0" tIns="0" bIns="0" anchor="ctr">
            <a:noAutofit/>
          </a:bodyPr>
          <a:lstStyle/>
          <a:p>
            <a:pPr algn="r">
              <a:spcAft>
                <a:spcPts val="400"/>
              </a:spcAft>
            </a:pPr>
            <a:r>
              <a:rPr sz="1150" b="0" lang="en-GB">
                <a:solidFill>
                  <a:schemeClr val="tx1"/>
                </a:solidFill>
              </a:rPr>
              <a:t>0.4774</a:t>
            </a:r>
          </a:p>
        </p:txBody>
      </p:sp>
      <p:sp>
        <p:nvSpPr>
          <p:cNvPr id="62" name="Ladder out 6-1"/>
          <p:cNvSpPr/>
          <p:nvPr/>
        </p:nvSpPr>
        <p:spPr>
          <a:xfrm>
            <a:off x="5074920" y="3465576"/>
            <a:ext cx="1407424" cy="32918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3" name="Ladder out text 6-1"/>
          <p:cNvSpPr txBox="1"/>
          <p:nvPr/>
        </p:nvSpPr>
        <p:spPr>
          <a:xfrm>
            <a:off x="5166360" y="3465576"/>
            <a:ext cx="1224544" cy="329184"/>
          </a:xfrm>
          <a:prstGeom prst="rect">
            <a:avLst/>
          </a:prstGeom>
          <a:noFill/>
        </p:spPr>
        <p:txBody>
          <a:bodyPr wrap="square" lIns="0" rIns="0" tIns="0" bIns="0" anchor="ctr">
            <a:noAutofit/>
          </a:bodyPr>
          <a:lstStyle/>
          <a:p>
            <a:pPr algn="l">
              <a:spcAft>
                <a:spcPts val="400"/>
              </a:spcAft>
            </a:pPr>
            <a:r>
              <a:rPr sz="1150" b="1" lang="en-GB">
                <a:solidFill>
                  <a:schemeClr val="tx2"/>
                </a:solidFill>
              </a:rPr>
              <a:t>23 Aug 2021</a:t>
            </a:r>
          </a:p>
        </p:txBody>
      </p:sp>
      <p:sp>
        <p:nvSpPr>
          <p:cNvPr id="64" name="Ladder out 6-2"/>
          <p:cNvSpPr/>
          <p:nvPr/>
        </p:nvSpPr>
        <p:spPr>
          <a:xfrm>
            <a:off x="6509776" y="3465576"/>
            <a:ext cx="962124" cy="32918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5" name="Ladder out text 6-2"/>
          <p:cNvSpPr txBox="1"/>
          <p:nvPr/>
        </p:nvSpPr>
        <p:spPr>
          <a:xfrm>
            <a:off x="6601216" y="3465576"/>
            <a:ext cx="779244" cy="329184"/>
          </a:xfrm>
          <a:prstGeom prst="rect">
            <a:avLst/>
          </a:prstGeom>
          <a:noFill/>
        </p:spPr>
        <p:txBody>
          <a:bodyPr wrap="square" lIns="0" rIns="0" tIns="0" bIns="0" anchor="ctr">
            <a:noAutofit/>
          </a:bodyPr>
          <a:lstStyle/>
          <a:p>
            <a:pPr algn="r">
              <a:spcAft>
                <a:spcPts val="400"/>
              </a:spcAft>
            </a:pPr>
            <a:r>
              <a:rPr sz="1150" b="0" lang="en-GB">
                <a:solidFill>
                  <a:schemeClr val="tx1"/>
                </a:solidFill>
              </a:rPr>
              <a:t>0.167</a:t>
            </a:r>
          </a:p>
        </p:txBody>
      </p:sp>
      <p:sp>
        <p:nvSpPr>
          <p:cNvPr id="66" name="Ladder out 6-3"/>
          <p:cNvSpPr/>
          <p:nvPr/>
        </p:nvSpPr>
        <p:spPr>
          <a:xfrm>
            <a:off x="7499333" y="3465576"/>
            <a:ext cx="1187467" cy="32918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7" name="Ladder out text 6-3"/>
          <p:cNvSpPr txBox="1"/>
          <p:nvPr/>
        </p:nvSpPr>
        <p:spPr>
          <a:xfrm>
            <a:off x="7590773" y="3465576"/>
            <a:ext cx="977155" cy="329184"/>
          </a:xfrm>
          <a:prstGeom prst="rect">
            <a:avLst/>
          </a:prstGeom>
          <a:noFill/>
        </p:spPr>
        <p:txBody>
          <a:bodyPr wrap="square" lIns="0" rIns="0" tIns="0" bIns="0" anchor="ctr">
            <a:noAutofit/>
          </a:bodyPr>
          <a:lstStyle/>
          <a:p>
            <a:pPr algn="r">
              <a:spcAft>
                <a:spcPts val="400"/>
              </a:spcAft>
            </a:pPr>
            <a:r>
              <a:rPr sz="1150" b="0" lang="en-GB">
                <a:solidFill>
                  <a:schemeClr val="tx1"/>
                </a:solidFill>
              </a:rPr>
              <a:t>0.4057</a:t>
            </a:r>
          </a:p>
        </p:txBody>
      </p:sp>
      <p:sp>
        <p:nvSpPr>
          <p:cNvPr id="68" name="Ladder reading box"/>
          <p:cNvSpPr/>
          <p:nvPr/>
        </p:nvSpPr>
        <p:spPr>
          <a:xfrm>
            <a:off x="457200" y="3977640"/>
            <a:ext cx="8229600" cy="4572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69" name="Icon Ladder reading" descr=""/>
          <p:cNvPicPr>
            <a:picLocks noChangeAspect="1"/>
          </p:cNvPicPr>
          <p:nvPr/>
        </p:nvPicPr>
        <p:blipFill>
          <a:blip r:embed="rId3"/>
          <a:stretch>
            <a:fillRect/>
          </a:stretch>
        </p:blipFill>
        <p:spPr>
          <a:xfrm>
            <a:off x="658368" y="4023360"/>
            <a:ext cx="365760" cy="365760"/>
          </a:xfrm>
          <a:prstGeom prst="rect">
            <a:avLst/>
          </a:prstGeom>
        </p:spPr>
      </p:pic>
      <p:sp>
        <p:nvSpPr>
          <p:cNvPr id="70" name="Ladder reading text"/>
          <p:cNvSpPr txBox="1"/>
          <p:nvPr/>
        </p:nvSpPr>
        <p:spPr>
          <a:xfrm>
            <a:off x="1207008" y="3977640"/>
            <a:ext cx="7315200" cy="457200"/>
          </a:xfrm>
          <a:prstGeom prst="rect">
            <a:avLst/>
          </a:prstGeom>
          <a:noFill/>
        </p:spPr>
        <p:txBody>
          <a:bodyPr wrap="square" lIns="0" rIns="0" tIns="0" bIns="0" anchor="ctr">
            <a:noAutofit/>
          </a:bodyPr>
          <a:lstStyle/>
          <a:p>
            <a:pPr algn="l">
              <a:spcAft>
                <a:spcPts val="400"/>
              </a:spcAft>
            </a:pPr>
            <a:r>
              <a:rPr sz="1200" b="1" lang="en-GB">
                <a:solidFill>
                  <a:schemeClr val="tx2"/>
                </a:solidFill>
              </a:rPr>
              <a:t>As by hand: </a:t>
            </a:r>
            <a:r>
              <a:rPr sz="1200" b="0" lang="en-GB">
                <a:solidFill>
                  <a:schemeClr val="tx1"/>
                </a:solidFill>
              </a:rPr>
              <a:t>0.273 + 0.5 × 0.389 = 0.4675 (slide 12).</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Step 5: regression with carryover</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Ladder step 1"/>
          <p:cNvSpPr/>
          <p:nvPr/>
        </p:nvSpPr>
        <p:spPr>
          <a:xfrm>
            <a:off x="457200" y="1234440"/>
            <a:ext cx="881888" cy="31089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Ladder step 1 text"/>
          <p:cNvSpPr txBox="1"/>
          <p:nvPr/>
        </p:nvSpPr>
        <p:spPr>
          <a:xfrm>
            <a:off x="457200" y="1234440"/>
            <a:ext cx="881888" cy="310896"/>
          </a:xfrm>
          <a:prstGeom prst="rect">
            <a:avLst/>
          </a:prstGeom>
          <a:noFill/>
        </p:spPr>
        <p:txBody>
          <a:bodyPr wrap="square" lIns="0" rIns="0" tIns="0" bIns="0" anchor="ctr">
            <a:noAutofit/>
          </a:bodyPr>
          <a:lstStyle/>
          <a:p>
            <a:pPr algn="ctr">
              <a:spcAft>
                <a:spcPts val="400"/>
              </a:spcAft>
            </a:pPr>
            <a:r>
              <a:rPr sz="1100" b="1" lang="en-GB">
                <a:solidFill>
                  <a:schemeClr val="tx2"/>
                </a:solidFill>
              </a:rPr>
              <a:t>1 Load</a:t>
            </a:r>
          </a:p>
        </p:txBody>
      </p:sp>
      <p:sp>
        <p:nvSpPr>
          <p:cNvPr id="12" name="Ladder step 2"/>
          <p:cNvSpPr/>
          <p:nvPr/>
        </p:nvSpPr>
        <p:spPr>
          <a:xfrm>
            <a:off x="1375664" y="1234440"/>
            <a:ext cx="881888" cy="31089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Ladder step 2 text"/>
          <p:cNvSpPr txBox="1"/>
          <p:nvPr/>
        </p:nvSpPr>
        <p:spPr>
          <a:xfrm>
            <a:off x="1375664" y="1234440"/>
            <a:ext cx="881888" cy="310896"/>
          </a:xfrm>
          <a:prstGeom prst="rect">
            <a:avLst/>
          </a:prstGeom>
          <a:noFill/>
        </p:spPr>
        <p:txBody>
          <a:bodyPr wrap="square" lIns="0" rIns="0" tIns="0" bIns="0" anchor="ctr">
            <a:noAutofit/>
          </a:bodyPr>
          <a:lstStyle/>
          <a:p>
            <a:pPr algn="ctr">
              <a:spcAft>
                <a:spcPts val="400"/>
              </a:spcAft>
            </a:pPr>
            <a:r>
              <a:rPr sz="1100" b="1" lang="en-GB">
                <a:solidFill>
                  <a:schemeClr val="tx2"/>
                </a:solidFill>
              </a:rPr>
              <a:t>2 Regress</a:t>
            </a:r>
          </a:p>
        </p:txBody>
      </p:sp>
      <p:sp>
        <p:nvSpPr>
          <p:cNvPr id="14" name="Ladder step 3"/>
          <p:cNvSpPr/>
          <p:nvPr/>
        </p:nvSpPr>
        <p:spPr>
          <a:xfrm>
            <a:off x="2294128" y="1234440"/>
            <a:ext cx="881888" cy="31089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Ladder step 3 text"/>
          <p:cNvSpPr txBox="1"/>
          <p:nvPr/>
        </p:nvSpPr>
        <p:spPr>
          <a:xfrm>
            <a:off x="2294128" y="1234440"/>
            <a:ext cx="881888" cy="310896"/>
          </a:xfrm>
          <a:prstGeom prst="rect">
            <a:avLst/>
          </a:prstGeom>
          <a:noFill/>
        </p:spPr>
        <p:txBody>
          <a:bodyPr wrap="square" lIns="0" rIns="0" tIns="0" bIns="0" anchor="ctr">
            <a:noAutofit/>
          </a:bodyPr>
          <a:lstStyle/>
          <a:p>
            <a:pPr algn="ctr">
              <a:spcAft>
                <a:spcPts val="400"/>
              </a:spcAft>
            </a:pPr>
            <a:r>
              <a:rPr sz="1100" b="1" lang="en-GB">
                <a:solidFill>
                  <a:schemeClr val="tx2"/>
                </a:solidFill>
              </a:rPr>
              <a:t>3 Trend</a:t>
            </a:r>
          </a:p>
        </p:txBody>
      </p:sp>
      <p:sp>
        <p:nvSpPr>
          <p:cNvPr id="16" name="Ladder step 4"/>
          <p:cNvSpPr/>
          <p:nvPr/>
        </p:nvSpPr>
        <p:spPr>
          <a:xfrm>
            <a:off x="3212592" y="1234440"/>
            <a:ext cx="881888" cy="31089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Ladder step 4 text"/>
          <p:cNvSpPr txBox="1"/>
          <p:nvPr/>
        </p:nvSpPr>
        <p:spPr>
          <a:xfrm>
            <a:off x="3212592" y="1234440"/>
            <a:ext cx="881888" cy="310896"/>
          </a:xfrm>
          <a:prstGeom prst="rect">
            <a:avLst/>
          </a:prstGeom>
          <a:noFill/>
        </p:spPr>
        <p:txBody>
          <a:bodyPr wrap="square" lIns="0" rIns="0" tIns="0" bIns="0" anchor="ctr">
            <a:noAutofit/>
          </a:bodyPr>
          <a:lstStyle/>
          <a:p>
            <a:pPr algn="ctr">
              <a:spcAft>
                <a:spcPts val="400"/>
              </a:spcAft>
            </a:pPr>
            <a:r>
              <a:rPr sz="1100" b="1" lang="en-GB">
                <a:solidFill>
                  <a:schemeClr val="tx2"/>
                </a:solidFill>
              </a:rPr>
              <a:t>4 Adstock</a:t>
            </a:r>
          </a:p>
        </p:txBody>
      </p:sp>
      <p:sp>
        <p:nvSpPr>
          <p:cNvPr id="18" name="Ladder step 5"/>
          <p:cNvSpPr/>
          <p:nvPr/>
        </p:nvSpPr>
        <p:spPr>
          <a:xfrm>
            <a:off x="4131056" y="1234440"/>
            <a:ext cx="881888" cy="310896"/>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Ladder step 5 text"/>
          <p:cNvSpPr txBox="1"/>
          <p:nvPr/>
        </p:nvSpPr>
        <p:spPr>
          <a:xfrm>
            <a:off x="4131056" y="1234440"/>
            <a:ext cx="881888" cy="310896"/>
          </a:xfrm>
          <a:prstGeom prst="rect">
            <a:avLst/>
          </a:prstGeom>
          <a:noFill/>
        </p:spPr>
        <p:txBody>
          <a:bodyPr wrap="square" lIns="0" rIns="0" tIns="0" bIns="0" anchor="ctr">
            <a:noAutofit/>
          </a:bodyPr>
          <a:lstStyle/>
          <a:p>
            <a:pPr algn="ctr">
              <a:spcAft>
                <a:spcPts val="400"/>
              </a:spcAft>
            </a:pPr>
            <a:r>
              <a:rPr sz="1100" b="1" lang="en-GB">
                <a:solidFill>
                  <a:schemeClr val="bg1"/>
                </a:solidFill>
              </a:rPr>
              <a:t>5 Carry</a:t>
            </a:r>
          </a:p>
        </p:txBody>
      </p:sp>
      <p:sp>
        <p:nvSpPr>
          <p:cNvPr id="20" name="Ladder step 6"/>
          <p:cNvSpPr/>
          <p:nvPr/>
        </p:nvSpPr>
        <p:spPr>
          <a:xfrm>
            <a:off x="5049520" y="1234440"/>
            <a:ext cx="881888" cy="31089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Ladder step 6 text"/>
          <p:cNvSpPr txBox="1"/>
          <p:nvPr/>
        </p:nvSpPr>
        <p:spPr>
          <a:xfrm>
            <a:off x="5049520" y="1234440"/>
            <a:ext cx="881888" cy="310896"/>
          </a:xfrm>
          <a:prstGeom prst="rect">
            <a:avLst/>
          </a:prstGeom>
          <a:noFill/>
        </p:spPr>
        <p:txBody>
          <a:bodyPr wrap="square" lIns="0" rIns="0" tIns="0" bIns="0" anchor="ctr">
            <a:noAutofit/>
          </a:bodyPr>
          <a:lstStyle/>
          <a:p>
            <a:pPr algn="ctr">
              <a:spcAft>
                <a:spcPts val="400"/>
              </a:spcAft>
            </a:pPr>
            <a:r>
              <a:rPr sz="1100" b="1" lang="en-GB">
                <a:solidFill>
                  <a:schemeClr val="tx2"/>
                </a:solidFill>
              </a:rPr>
              <a:t>6 ROI</a:t>
            </a:r>
          </a:p>
        </p:txBody>
      </p:sp>
      <p:sp>
        <p:nvSpPr>
          <p:cNvPr id="22" name="Ladder step 7"/>
          <p:cNvSpPr/>
          <p:nvPr/>
        </p:nvSpPr>
        <p:spPr>
          <a:xfrm>
            <a:off x="5967984" y="1234440"/>
            <a:ext cx="881888" cy="31089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Ladder step 7 text"/>
          <p:cNvSpPr txBox="1"/>
          <p:nvPr/>
        </p:nvSpPr>
        <p:spPr>
          <a:xfrm>
            <a:off x="5967984" y="1234440"/>
            <a:ext cx="881888" cy="310896"/>
          </a:xfrm>
          <a:prstGeom prst="rect">
            <a:avLst/>
          </a:prstGeom>
          <a:noFill/>
        </p:spPr>
        <p:txBody>
          <a:bodyPr wrap="square" lIns="0" rIns="0" tIns="0" bIns="0" anchor="ctr">
            <a:noAutofit/>
          </a:bodyPr>
          <a:lstStyle/>
          <a:p>
            <a:pPr algn="ctr">
              <a:spcAft>
                <a:spcPts val="400"/>
              </a:spcAft>
            </a:pPr>
            <a:r>
              <a:rPr sz="1100" b="1" lang="en-GB">
                <a:solidFill>
                  <a:schemeClr val="tx2"/>
                </a:solidFill>
              </a:rPr>
              <a:t>7 Saturate</a:t>
            </a:r>
          </a:p>
        </p:txBody>
      </p:sp>
      <p:sp>
        <p:nvSpPr>
          <p:cNvPr id="24" name="Ladder step 8"/>
          <p:cNvSpPr/>
          <p:nvPr/>
        </p:nvSpPr>
        <p:spPr>
          <a:xfrm>
            <a:off x="6886448" y="1234440"/>
            <a:ext cx="881888" cy="31089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Ladder step 8 text"/>
          <p:cNvSpPr txBox="1"/>
          <p:nvPr/>
        </p:nvSpPr>
        <p:spPr>
          <a:xfrm>
            <a:off x="6886448" y="1234440"/>
            <a:ext cx="881888" cy="310896"/>
          </a:xfrm>
          <a:prstGeom prst="rect">
            <a:avLst/>
          </a:prstGeom>
          <a:noFill/>
        </p:spPr>
        <p:txBody>
          <a:bodyPr wrap="square" lIns="0" rIns="0" tIns="0" bIns="0" anchor="ctr">
            <a:noAutofit/>
          </a:bodyPr>
          <a:lstStyle/>
          <a:p>
            <a:pPr algn="ctr">
              <a:spcAft>
                <a:spcPts val="400"/>
              </a:spcAft>
            </a:pPr>
            <a:r>
              <a:rPr sz="1100" b="1" lang="en-GB">
                <a:solidFill>
                  <a:schemeClr val="tx2"/>
                </a:solidFill>
              </a:rPr>
              <a:t>8 PyMC</a:t>
            </a:r>
          </a:p>
        </p:txBody>
      </p:sp>
      <p:sp>
        <p:nvSpPr>
          <p:cNvPr id="26" name="Ladder step 9"/>
          <p:cNvSpPr/>
          <p:nvPr/>
        </p:nvSpPr>
        <p:spPr>
          <a:xfrm>
            <a:off x="7804912" y="1234440"/>
            <a:ext cx="881888" cy="31089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Ladder step 9 text"/>
          <p:cNvSpPr txBox="1"/>
          <p:nvPr/>
        </p:nvSpPr>
        <p:spPr>
          <a:xfrm>
            <a:off x="7804912" y="1234440"/>
            <a:ext cx="881888" cy="310896"/>
          </a:xfrm>
          <a:prstGeom prst="rect">
            <a:avLst/>
          </a:prstGeom>
          <a:noFill/>
        </p:spPr>
        <p:txBody>
          <a:bodyPr wrap="square" lIns="0" rIns="0" tIns="0" bIns="0" anchor="ctr">
            <a:noAutofit/>
          </a:bodyPr>
          <a:lstStyle/>
          <a:p>
            <a:pPr algn="ctr">
              <a:spcAft>
                <a:spcPts val="400"/>
              </a:spcAft>
            </a:pPr>
            <a:r>
              <a:rPr sz="1100" b="1" lang="en-GB">
                <a:solidFill>
                  <a:schemeClr val="tx2"/>
                </a:solidFill>
              </a:rPr>
              <a:t>9 Read</a:t>
            </a:r>
          </a:p>
        </p:txBody>
      </p:sp>
      <p:sp>
        <p:nvSpPr>
          <p:cNvPr id="28" name="Ladder code caption bar"/>
          <p:cNvSpPr/>
          <p:nvPr/>
        </p:nvSpPr>
        <p:spPr>
          <a:xfrm>
            <a:off x="457200" y="1682496"/>
            <a:ext cx="4480560" cy="27432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Ladder code caption"/>
          <p:cNvSpPr txBox="1"/>
          <p:nvPr/>
        </p:nvSpPr>
        <p:spPr>
          <a:xfrm>
            <a:off x="566928" y="1682496"/>
            <a:ext cx="4261104" cy="274320"/>
          </a:xfrm>
          <a:prstGeom prst="rect">
            <a:avLst/>
          </a:prstGeom>
          <a:noFill/>
        </p:spPr>
        <p:txBody>
          <a:bodyPr wrap="square" lIns="0" rIns="0" tIns="0" bIns="0" anchor="ctr">
            <a:noAutofit/>
          </a:bodyPr>
          <a:lstStyle/>
          <a:p>
            <a:pPr algn="l">
              <a:spcAft>
                <a:spcPts val="400"/>
              </a:spcAft>
            </a:pPr>
            <a:r>
              <a:rPr sz="1100" b="1" lang="en-GB">
                <a:solidFill>
                  <a:schemeClr val="bg1"/>
                </a:solidFill>
              </a:rPr>
              <a:t>open_source_mmm.qmd · Step 5</a:t>
            </a:r>
          </a:p>
        </p:txBody>
      </p:sp>
      <p:sp>
        <p:nvSpPr>
          <p:cNvPr id="30" name="Ladder code box"/>
          <p:cNvSpPr/>
          <p:nvPr/>
        </p:nvSpPr>
        <p:spPr>
          <a:xfrm>
            <a:off x="457200" y="1956816"/>
            <a:ext cx="4480560" cy="811987"/>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Ladder code code"/>
          <p:cNvSpPr txBox="1"/>
          <p:nvPr/>
        </p:nvSpPr>
        <p:spPr>
          <a:xfrm>
            <a:off x="594360" y="2048256"/>
            <a:ext cx="4206240" cy="629107"/>
          </a:xfrm>
          <a:prstGeom prst="rect">
            <a:avLst/>
          </a:prstGeom>
          <a:noFill/>
        </p:spPr>
        <p:txBody>
          <a:bodyPr wrap="square" lIns="0" rIns="0" tIns="0" bIns="0" anchor="t">
            <a:noAutofit/>
          </a:bodyPr>
          <a:lstStyle/>
          <a:p>
            <a:pPr algn="l">
              <a:spcAft>
                <a:spcPts val="0"/>
              </a:spcAft>
            </a:pPr>
            <a:r>
              <a:rPr sz="1000" b="0" lang="en-GB">
                <a:solidFill>
                  <a:schemeClr val="bg1"/>
                </a:solidFill>
                <a:latin typeface="Consolas"/>
              </a:rPr>
              <a:t># Meta with its carryover, Google without</a:t>
            </a:r>
          </a:p>
          <a:p>
            <a:pPr algn="l">
              <a:spcAft>
                <a:spcPts val="0"/>
              </a:spcAft>
            </a:pPr>
            <a:r>
              <a:rPr sz="1000" b="0" lang="en-GB">
                <a:solidFill>
                  <a:schemeClr val="bg1"/>
                </a:solidFill>
                <a:latin typeface="Consolas"/>
              </a:rPr>
              <a:t>m3 = smf.ols("sales ~ google + meta_ad + week_no",</a:t>
            </a:r>
          </a:p>
          <a:p>
            <a:pPr algn="l">
              <a:spcAft>
                <a:spcPts val="0"/>
              </a:spcAft>
            </a:pPr>
            <a:r>
              <a:rPr sz="1000" b="0" lang="en-GB">
                <a:solidFill>
                  <a:schemeClr val="bg1"/>
                </a:solidFill>
                <a:latin typeface="Consolas"/>
              </a:rPr>
              <a:t>             data=at.to_pandas()).fit()</a:t>
            </a:r>
          </a:p>
          <a:p>
            <a:pPr algn="l">
              <a:spcAft>
                <a:spcPts val="0"/>
              </a:spcAft>
            </a:pPr>
            <a:r>
              <a:rPr sz="1000" b="0" lang="en-GB">
                <a:solidFill>
                  <a:schemeClr val="bg1"/>
                </a:solidFill>
                <a:latin typeface="Consolas"/>
              </a:rPr>
              <a:t>m3.params</a:t>
            </a:r>
          </a:p>
        </p:txBody>
      </p:sp>
      <p:sp>
        <p:nvSpPr>
          <p:cNvPr id="32" name="Ladder out 1-1"/>
          <p:cNvSpPr/>
          <p:nvPr/>
        </p:nvSpPr>
        <p:spPr>
          <a:xfrm>
            <a:off x="5074920" y="1682496"/>
            <a:ext cx="2139696" cy="329184"/>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Ladder out text 1-1"/>
          <p:cNvSpPr txBox="1"/>
          <p:nvPr/>
        </p:nvSpPr>
        <p:spPr>
          <a:xfrm>
            <a:off x="5166360" y="1682496"/>
            <a:ext cx="1956816" cy="329184"/>
          </a:xfrm>
          <a:prstGeom prst="rect">
            <a:avLst/>
          </a:prstGeom>
          <a:noFill/>
        </p:spPr>
        <p:txBody>
          <a:bodyPr wrap="square" lIns="0" rIns="0" tIns="0" bIns="0" anchor="ctr">
            <a:noAutofit/>
          </a:bodyPr>
          <a:lstStyle/>
          <a:p>
            <a:pPr algn="l">
              <a:spcAft>
                <a:spcPts val="400"/>
              </a:spcAft>
            </a:pPr>
            <a:r>
              <a:rPr sz="1150" b="1" lang="en-GB">
                <a:solidFill>
                  <a:schemeClr val="bg1"/>
                </a:solidFill>
              </a:rPr>
              <a:t>term</a:t>
            </a:r>
          </a:p>
        </p:txBody>
      </p:sp>
      <p:sp>
        <p:nvSpPr>
          <p:cNvPr id="34" name="Ladder out 1-2"/>
          <p:cNvSpPr/>
          <p:nvPr/>
        </p:nvSpPr>
        <p:spPr>
          <a:xfrm>
            <a:off x="7242048" y="1682496"/>
            <a:ext cx="1444752" cy="329184"/>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Ladder out text 1-2"/>
          <p:cNvSpPr txBox="1"/>
          <p:nvPr/>
        </p:nvSpPr>
        <p:spPr>
          <a:xfrm>
            <a:off x="7333488" y="1682496"/>
            <a:ext cx="1234440" cy="329184"/>
          </a:xfrm>
          <a:prstGeom prst="rect">
            <a:avLst/>
          </a:prstGeom>
          <a:noFill/>
        </p:spPr>
        <p:txBody>
          <a:bodyPr wrap="square" lIns="0" rIns="0" tIns="0" bIns="0" anchor="ctr">
            <a:noAutofit/>
          </a:bodyPr>
          <a:lstStyle/>
          <a:p>
            <a:pPr algn="r">
              <a:spcAft>
                <a:spcPts val="400"/>
              </a:spcAft>
            </a:pPr>
            <a:r>
              <a:rPr sz="1150" b="1" lang="en-GB">
                <a:solidFill>
                  <a:schemeClr val="bg1"/>
                </a:solidFill>
              </a:rPr>
              <a:t>coef</a:t>
            </a:r>
          </a:p>
        </p:txBody>
      </p:sp>
      <p:sp>
        <p:nvSpPr>
          <p:cNvPr id="36" name="Ladder out 2-1"/>
          <p:cNvSpPr/>
          <p:nvPr/>
        </p:nvSpPr>
        <p:spPr>
          <a:xfrm>
            <a:off x="5074920" y="2039112"/>
            <a:ext cx="2139696" cy="32918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Ladder out text 2-1"/>
          <p:cNvSpPr txBox="1"/>
          <p:nvPr/>
        </p:nvSpPr>
        <p:spPr>
          <a:xfrm>
            <a:off x="5166360" y="2039112"/>
            <a:ext cx="1956816" cy="329184"/>
          </a:xfrm>
          <a:prstGeom prst="rect">
            <a:avLst/>
          </a:prstGeom>
          <a:noFill/>
        </p:spPr>
        <p:txBody>
          <a:bodyPr wrap="square" lIns="0" rIns="0" tIns="0" bIns="0" anchor="ctr">
            <a:noAutofit/>
          </a:bodyPr>
          <a:lstStyle/>
          <a:p>
            <a:pPr algn="l">
              <a:spcAft>
                <a:spcPts val="400"/>
              </a:spcAft>
            </a:pPr>
            <a:r>
              <a:rPr sz="1150" b="1" lang="en-GB">
                <a:solidFill>
                  <a:schemeClr val="tx2"/>
                </a:solidFill>
              </a:rPr>
              <a:t>Intercept</a:t>
            </a:r>
          </a:p>
        </p:txBody>
      </p:sp>
      <p:sp>
        <p:nvSpPr>
          <p:cNvPr id="38" name="Ladder out 2-2"/>
          <p:cNvSpPr/>
          <p:nvPr/>
        </p:nvSpPr>
        <p:spPr>
          <a:xfrm>
            <a:off x="7242048" y="2039112"/>
            <a:ext cx="1444752" cy="32918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Ladder out text 2-2"/>
          <p:cNvSpPr txBox="1"/>
          <p:nvPr/>
        </p:nvSpPr>
        <p:spPr>
          <a:xfrm>
            <a:off x="7333488" y="2039112"/>
            <a:ext cx="1234440" cy="329184"/>
          </a:xfrm>
          <a:prstGeom prst="rect">
            <a:avLst/>
          </a:prstGeom>
          <a:noFill/>
        </p:spPr>
        <p:txBody>
          <a:bodyPr wrap="square" lIns="0" rIns="0" tIns="0" bIns="0" anchor="ctr">
            <a:noAutofit/>
          </a:bodyPr>
          <a:lstStyle/>
          <a:p>
            <a:pPr algn="r">
              <a:spcAft>
                <a:spcPts val="400"/>
              </a:spcAft>
            </a:pPr>
            <a:r>
              <a:rPr sz="1150" b="0" lang="en-GB">
                <a:solidFill>
                  <a:schemeClr val="tx1"/>
                </a:solidFill>
              </a:rPr>
              <a:t>0.58</a:t>
            </a:r>
          </a:p>
        </p:txBody>
      </p:sp>
      <p:sp>
        <p:nvSpPr>
          <p:cNvPr id="40" name="Ladder out 3-1"/>
          <p:cNvSpPr/>
          <p:nvPr/>
        </p:nvSpPr>
        <p:spPr>
          <a:xfrm>
            <a:off x="5074920" y="2395728"/>
            <a:ext cx="2139696" cy="32918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Ladder out text 3-1"/>
          <p:cNvSpPr txBox="1"/>
          <p:nvPr/>
        </p:nvSpPr>
        <p:spPr>
          <a:xfrm>
            <a:off x="5166360" y="2395728"/>
            <a:ext cx="1956816" cy="329184"/>
          </a:xfrm>
          <a:prstGeom prst="rect">
            <a:avLst/>
          </a:prstGeom>
          <a:noFill/>
        </p:spPr>
        <p:txBody>
          <a:bodyPr wrap="square" lIns="0" rIns="0" tIns="0" bIns="0" anchor="ctr">
            <a:noAutofit/>
          </a:bodyPr>
          <a:lstStyle/>
          <a:p>
            <a:pPr algn="l">
              <a:spcAft>
                <a:spcPts val="400"/>
              </a:spcAft>
            </a:pPr>
            <a:r>
              <a:rPr sz="1150" b="1" lang="en-GB">
                <a:solidFill>
                  <a:schemeClr val="tx2"/>
                </a:solidFill>
              </a:rPr>
              <a:t>google</a:t>
            </a:r>
          </a:p>
        </p:txBody>
      </p:sp>
      <p:sp>
        <p:nvSpPr>
          <p:cNvPr id="42" name="Ladder out 3-2"/>
          <p:cNvSpPr/>
          <p:nvPr/>
        </p:nvSpPr>
        <p:spPr>
          <a:xfrm>
            <a:off x="7242048" y="2395728"/>
            <a:ext cx="1444752" cy="32918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Ladder out text 3-2"/>
          <p:cNvSpPr txBox="1"/>
          <p:nvPr/>
        </p:nvSpPr>
        <p:spPr>
          <a:xfrm>
            <a:off x="7333488" y="2395728"/>
            <a:ext cx="1234440" cy="329184"/>
          </a:xfrm>
          <a:prstGeom prst="rect">
            <a:avLst/>
          </a:prstGeom>
          <a:noFill/>
        </p:spPr>
        <p:txBody>
          <a:bodyPr wrap="square" lIns="0" rIns="0" tIns="0" bIns="0" anchor="ctr">
            <a:noAutofit/>
          </a:bodyPr>
          <a:lstStyle/>
          <a:p>
            <a:pPr algn="r">
              <a:spcAft>
                <a:spcPts val="400"/>
              </a:spcAft>
            </a:pPr>
            <a:r>
              <a:rPr sz="1150" b="0" lang="en-GB">
                <a:solidFill>
                  <a:schemeClr val="tx1"/>
                </a:solidFill>
              </a:rPr>
              <a:t>3.56</a:t>
            </a:r>
          </a:p>
        </p:txBody>
      </p:sp>
      <p:sp>
        <p:nvSpPr>
          <p:cNvPr id="44" name="Ladder out 4-1"/>
          <p:cNvSpPr/>
          <p:nvPr/>
        </p:nvSpPr>
        <p:spPr>
          <a:xfrm>
            <a:off x="5074920" y="2752344"/>
            <a:ext cx="2139696" cy="32918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Ladder out text 4-1"/>
          <p:cNvSpPr txBox="1"/>
          <p:nvPr/>
        </p:nvSpPr>
        <p:spPr>
          <a:xfrm>
            <a:off x="5166360" y="2752344"/>
            <a:ext cx="1956816" cy="329184"/>
          </a:xfrm>
          <a:prstGeom prst="rect">
            <a:avLst/>
          </a:prstGeom>
          <a:noFill/>
        </p:spPr>
        <p:txBody>
          <a:bodyPr wrap="square" lIns="0" rIns="0" tIns="0" bIns="0" anchor="ctr">
            <a:noAutofit/>
          </a:bodyPr>
          <a:lstStyle/>
          <a:p>
            <a:pPr algn="l">
              <a:spcAft>
                <a:spcPts val="400"/>
              </a:spcAft>
            </a:pPr>
            <a:r>
              <a:rPr sz="1150" b="1" lang="en-GB">
                <a:solidFill>
                  <a:schemeClr val="tx2"/>
                </a:solidFill>
              </a:rPr>
              <a:t>meta_ad</a:t>
            </a:r>
          </a:p>
        </p:txBody>
      </p:sp>
      <p:sp>
        <p:nvSpPr>
          <p:cNvPr id="46" name="Ladder out 4-2"/>
          <p:cNvSpPr/>
          <p:nvPr/>
        </p:nvSpPr>
        <p:spPr>
          <a:xfrm>
            <a:off x="7242048" y="2752344"/>
            <a:ext cx="1444752" cy="32918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7" name="Ladder out text 4-2"/>
          <p:cNvSpPr txBox="1"/>
          <p:nvPr/>
        </p:nvSpPr>
        <p:spPr>
          <a:xfrm>
            <a:off x="7333488" y="2752344"/>
            <a:ext cx="1234440" cy="329184"/>
          </a:xfrm>
          <a:prstGeom prst="rect">
            <a:avLst/>
          </a:prstGeom>
          <a:noFill/>
        </p:spPr>
        <p:txBody>
          <a:bodyPr wrap="square" lIns="0" rIns="0" tIns="0" bIns="0" anchor="ctr">
            <a:noAutofit/>
          </a:bodyPr>
          <a:lstStyle/>
          <a:p>
            <a:pPr algn="r">
              <a:spcAft>
                <a:spcPts val="400"/>
              </a:spcAft>
            </a:pPr>
            <a:r>
              <a:rPr sz="1150" b="0" lang="en-GB">
                <a:solidFill>
                  <a:schemeClr val="tx1"/>
                </a:solidFill>
              </a:rPr>
              <a:t>3.93</a:t>
            </a:r>
          </a:p>
        </p:txBody>
      </p:sp>
      <p:sp>
        <p:nvSpPr>
          <p:cNvPr id="48" name="Ladder out 5-1"/>
          <p:cNvSpPr/>
          <p:nvPr/>
        </p:nvSpPr>
        <p:spPr>
          <a:xfrm>
            <a:off x="5074920" y="3108960"/>
            <a:ext cx="2139696" cy="32918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9" name="Ladder out text 5-1"/>
          <p:cNvSpPr txBox="1"/>
          <p:nvPr/>
        </p:nvSpPr>
        <p:spPr>
          <a:xfrm>
            <a:off x="5166360" y="3108960"/>
            <a:ext cx="1956816" cy="329184"/>
          </a:xfrm>
          <a:prstGeom prst="rect">
            <a:avLst/>
          </a:prstGeom>
          <a:noFill/>
        </p:spPr>
        <p:txBody>
          <a:bodyPr wrap="square" lIns="0" rIns="0" tIns="0" bIns="0" anchor="ctr">
            <a:noAutofit/>
          </a:bodyPr>
          <a:lstStyle/>
          <a:p>
            <a:pPr algn="l">
              <a:spcAft>
                <a:spcPts val="400"/>
              </a:spcAft>
            </a:pPr>
            <a:r>
              <a:rPr sz="1150" b="1" lang="en-GB">
                <a:solidFill>
                  <a:schemeClr val="tx2"/>
                </a:solidFill>
              </a:rPr>
              <a:t>week_no</a:t>
            </a:r>
          </a:p>
        </p:txBody>
      </p:sp>
      <p:sp>
        <p:nvSpPr>
          <p:cNvPr id="50" name="Ladder out 5-2"/>
          <p:cNvSpPr/>
          <p:nvPr/>
        </p:nvSpPr>
        <p:spPr>
          <a:xfrm>
            <a:off x="7242048" y="3108960"/>
            <a:ext cx="1444752" cy="32918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1" name="Ladder out text 5-2"/>
          <p:cNvSpPr txBox="1"/>
          <p:nvPr/>
        </p:nvSpPr>
        <p:spPr>
          <a:xfrm>
            <a:off x="7333488" y="3108960"/>
            <a:ext cx="1234440" cy="329184"/>
          </a:xfrm>
          <a:prstGeom prst="rect">
            <a:avLst/>
          </a:prstGeom>
          <a:noFill/>
        </p:spPr>
        <p:txBody>
          <a:bodyPr wrap="square" lIns="0" rIns="0" tIns="0" bIns="0" anchor="ctr">
            <a:noAutofit/>
          </a:bodyPr>
          <a:lstStyle/>
          <a:p>
            <a:pPr algn="r">
              <a:spcAft>
                <a:spcPts val="400"/>
              </a:spcAft>
            </a:pPr>
            <a:r>
              <a:rPr sz="1150" b="0" lang="en-GB">
                <a:solidFill>
                  <a:schemeClr val="tx1"/>
                </a:solidFill>
              </a:rPr>
              <a:t>0.09</a:t>
            </a:r>
          </a:p>
        </p:txBody>
      </p:sp>
      <p:sp>
        <p:nvSpPr>
          <p:cNvPr id="52" name="Ladder out 6-1"/>
          <p:cNvSpPr/>
          <p:nvPr/>
        </p:nvSpPr>
        <p:spPr>
          <a:xfrm>
            <a:off x="5074920" y="3465576"/>
            <a:ext cx="2139696" cy="32918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3" name="Ladder out text 6-1"/>
          <p:cNvSpPr txBox="1"/>
          <p:nvPr/>
        </p:nvSpPr>
        <p:spPr>
          <a:xfrm>
            <a:off x="5166360" y="3465576"/>
            <a:ext cx="1956816" cy="329184"/>
          </a:xfrm>
          <a:prstGeom prst="rect">
            <a:avLst/>
          </a:prstGeom>
          <a:noFill/>
        </p:spPr>
        <p:txBody>
          <a:bodyPr wrap="square" lIns="0" rIns="0" tIns="0" bIns="0" anchor="ctr">
            <a:noAutofit/>
          </a:bodyPr>
          <a:lstStyle/>
          <a:p>
            <a:pPr algn="l">
              <a:spcAft>
                <a:spcPts val="400"/>
              </a:spcAft>
            </a:pPr>
            <a:r>
              <a:rPr sz="1150" b="1" lang="en-GB">
                <a:solidFill>
                  <a:schemeClr val="tx2"/>
                </a:solidFill>
              </a:rPr>
              <a:t>R²</a:t>
            </a:r>
          </a:p>
        </p:txBody>
      </p:sp>
      <p:sp>
        <p:nvSpPr>
          <p:cNvPr id="54" name="Ladder out 6-2"/>
          <p:cNvSpPr/>
          <p:nvPr/>
        </p:nvSpPr>
        <p:spPr>
          <a:xfrm>
            <a:off x="7242048" y="3465576"/>
            <a:ext cx="1444752" cy="32918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5" name="Ladder out text 6-2"/>
          <p:cNvSpPr txBox="1"/>
          <p:nvPr/>
        </p:nvSpPr>
        <p:spPr>
          <a:xfrm>
            <a:off x="7333488" y="3465576"/>
            <a:ext cx="1234440" cy="329184"/>
          </a:xfrm>
          <a:prstGeom prst="rect">
            <a:avLst/>
          </a:prstGeom>
          <a:noFill/>
        </p:spPr>
        <p:txBody>
          <a:bodyPr wrap="square" lIns="0" rIns="0" tIns="0" bIns="0" anchor="ctr">
            <a:noAutofit/>
          </a:bodyPr>
          <a:lstStyle/>
          <a:p>
            <a:pPr algn="r">
              <a:spcAft>
                <a:spcPts val="400"/>
              </a:spcAft>
            </a:pPr>
            <a:r>
              <a:rPr sz="1150" b="0" lang="en-GB">
                <a:solidFill>
                  <a:schemeClr val="tx1"/>
                </a:solidFill>
              </a:rPr>
              <a:t>0.60</a:t>
            </a:r>
          </a:p>
        </p:txBody>
      </p:sp>
      <p:sp>
        <p:nvSpPr>
          <p:cNvPr id="56" name="Ladder reading box"/>
          <p:cNvSpPr/>
          <p:nvPr/>
        </p:nvSpPr>
        <p:spPr>
          <a:xfrm>
            <a:off x="457200" y="3977640"/>
            <a:ext cx="8229600" cy="4572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57" name="Icon Ladder reading" descr=""/>
          <p:cNvPicPr>
            <a:picLocks noChangeAspect="1"/>
          </p:cNvPicPr>
          <p:nvPr/>
        </p:nvPicPr>
        <p:blipFill>
          <a:blip r:embed="rId3"/>
          <a:stretch>
            <a:fillRect/>
          </a:stretch>
        </p:blipFill>
        <p:spPr>
          <a:xfrm>
            <a:off x="658368" y="4023360"/>
            <a:ext cx="365760" cy="365760"/>
          </a:xfrm>
          <a:prstGeom prst="rect">
            <a:avLst/>
          </a:prstGeom>
        </p:spPr>
      </p:pic>
      <p:sp>
        <p:nvSpPr>
          <p:cNvPr id="58" name="Ladder reading text"/>
          <p:cNvSpPr txBox="1"/>
          <p:nvPr/>
        </p:nvSpPr>
        <p:spPr>
          <a:xfrm>
            <a:off x="1207008" y="3977640"/>
            <a:ext cx="7315200" cy="457200"/>
          </a:xfrm>
          <a:prstGeom prst="rect">
            <a:avLst/>
          </a:prstGeom>
          <a:noFill/>
        </p:spPr>
        <p:txBody>
          <a:bodyPr wrap="square" lIns="0" rIns="0" tIns="0" bIns="0" anchor="ctr">
            <a:noAutofit/>
          </a:bodyPr>
          <a:lstStyle/>
          <a:p>
            <a:pPr algn="l">
              <a:spcAft>
                <a:spcPts val="400"/>
              </a:spcAft>
            </a:pPr>
            <a:r>
              <a:rPr sz="1200" b="1" lang="en-GB">
                <a:solidFill>
                  <a:schemeClr val="tx2"/>
                </a:solidFill>
              </a:rPr>
              <a:t>Per k EUR of adstock: </a:t>
            </a:r>
            <a:r>
              <a:rPr sz="1200" b="0" lang="en-GB">
                <a:solidFill>
                  <a:schemeClr val="tx1"/>
                </a:solidFill>
              </a:rPr>
              <a:t>each euro of Meta counts about twice (Step 6).</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Step 6: contributions and ROI</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Ladder step 1"/>
          <p:cNvSpPr/>
          <p:nvPr/>
        </p:nvSpPr>
        <p:spPr>
          <a:xfrm>
            <a:off x="457200" y="1234440"/>
            <a:ext cx="881888" cy="31089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Ladder step 1 text"/>
          <p:cNvSpPr txBox="1"/>
          <p:nvPr/>
        </p:nvSpPr>
        <p:spPr>
          <a:xfrm>
            <a:off x="457200" y="1234440"/>
            <a:ext cx="881888" cy="310896"/>
          </a:xfrm>
          <a:prstGeom prst="rect">
            <a:avLst/>
          </a:prstGeom>
          <a:noFill/>
        </p:spPr>
        <p:txBody>
          <a:bodyPr wrap="square" lIns="0" rIns="0" tIns="0" bIns="0" anchor="ctr">
            <a:noAutofit/>
          </a:bodyPr>
          <a:lstStyle/>
          <a:p>
            <a:pPr algn="ctr">
              <a:spcAft>
                <a:spcPts val="400"/>
              </a:spcAft>
            </a:pPr>
            <a:r>
              <a:rPr sz="1100" b="1" lang="en-GB">
                <a:solidFill>
                  <a:schemeClr val="tx2"/>
                </a:solidFill>
              </a:rPr>
              <a:t>1 Load</a:t>
            </a:r>
          </a:p>
        </p:txBody>
      </p:sp>
      <p:sp>
        <p:nvSpPr>
          <p:cNvPr id="12" name="Ladder step 2"/>
          <p:cNvSpPr/>
          <p:nvPr/>
        </p:nvSpPr>
        <p:spPr>
          <a:xfrm>
            <a:off x="1375664" y="1234440"/>
            <a:ext cx="881888" cy="31089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Ladder step 2 text"/>
          <p:cNvSpPr txBox="1"/>
          <p:nvPr/>
        </p:nvSpPr>
        <p:spPr>
          <a:xfrm>
            <a:off x="1375664" y="1234440"/>
            <a:ext cx="881888" cy="310896"/>
          </a:xfrm>
          <a:prstGeom prst="rect">
            <a:avLst/>
          </a:prstGeom>
          <a:noFill/>
        </p:spPr>
        <p:txBody>
          <a:bodyPr wrap="square" lIns="0" rIns="0" tIns="0" bIns="0" anchor="ctr">
            <a:noAutofit/>
          </a:bodyPr>
          <a:lstStyle/>
          <a:p>
            <a:pPr algn="ctr">
              <a:spcAft>
                <a:spcPts val="400"/>
              </a:spcAft>
            </a:pPr>
            <a:r>
              <a:rPr sz="1100" b="1" lang="en-GB">
                <a:solidFill>
                  <a:schemeClr val="tx2"/>
                </a:solidFill>
              </a:rPr>
              <a:t>2 Regress</a:t>
            </a:r>
          </a:p>
        </p:txBody>
      </p:sp>
      <p:sp>
        <p:nvSpPr>
          <p:cNvPr id="14" name="Ladder step 3"/>
          <p:cNvSpPr/>
          <p:nvPr/>
        </p:nvSpPr>
        <p:spPr>
          <a:xfrm>
            <a:off x="2294128" y="1234440"/>
            <a:ext cx="881888" cy="31089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Ladder step 3 text"/>
          <p:cNvSpPr txBox="1"/>
          <p:nvPr/>
        </p:nvSpPr>
        <p:spPr>
          <a:xfrm>
            <a:off x="2294128" y="1234440"/>
            <a:ext cx="881888" cy="310896"/>
          </a:xfrm>
          <a:prstGeom prst="rect">
            <a:avLst/>
          </a:prstGeom>
          <a:noFill/>
        </p:spPr>
        <p:txBody>
          <a:bodyPr wrap="square" lIns="0" rIns="0" tIns="0" bIns="0" anchor="ctr">
            <a:noAutofit/>
          </a:bodyPr>
          <a:lstStyle/>
          <a:p>
            <a:pPr algn="ctr">
              <a:spcAft>
                <a:spcPts val="400"/>
              </a:spcAft>
            </a:pPr>
            <a:r>
              <a:rPr sz="1100" b="1" lang="en-GB">
                <a:solidFill>
                  <a:schemeClr val="tx2"/>
                </a:solidFill>
              </a:rPr>
              <a:t>3 Trend</a:t>
            </a:r>
          </a:p>
        </p:txBody>
      </p:sp>
      <p:sp>
        <p:nvSpPr>
          <p:cNvPr id="16" name="Ladder step 4"/>
          <p:cNvSpPr/>
          <p:nvPr/>
        </p:nvSpPr>
        <p:spPr>
          <a:xfrm>
            <a:off x="3212592" y="1234440"/>
            <a:ext cx="881888" cy="31089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Ladder step 4 text"/>
          <p:cNvSpPr txBox="1"/>
          <p:nvPr/>
        </p:nvSpPr>
        <p:spPr>
          <a:xfrm>
            <a:off x="3212592" y="1234440"/>
            <a:ext cx="881888" cy="310896"/>
          </a:xfrm>
          <a:prstGeom prst="rect">
            <a:avLst/>
          </a:prstGeom>
          <a:noFill/>
        </p:spPr>
        <p:txBody>
          <a:bodyPr wrap="square" lIns="0" rIns="0" tIns="0" bIns="0" anchor="ctr">
            <a:noAutofit/>
          </a:bodyPr>
          <a:lstStyle/>
          <a:p>
            <a:pPr algn="ctr">
              <a:spcAft>
                <a:spcPts val="400"/>
              </a:spcAft>
            </a:pPr>
            <a:r>
              <a:rPr sz="1100" b="1" lang="en-GB">
                <a:solidFill>
                  <a:schemeClr val="tx2"/>
                </a:solidFill>
              </a:rPr>
              <a:t>4 Adstock</a:t>
            </a:r>
          </a:p>
        </p:txBody>
      </p:sp>
      <p:sp>
        <p:nvSpPr>
          <p:cNvPr id="18" name="Ladder step 5"/>
          <p:cNvSpPr/>
          <p:nvPr/>
        </p:nvSpPr>
        <p:spPr>
          <a:xfrm>
            <a:off x="4131056" y="1234440"/>
            <a:ext cx="881888" cy="31089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Ladder step 5 text"/>
          <p:cNvSpPr txBox="1"/>
          <p:nvPr/>
        </p:nvSpPr>
        <p:spPr>
          <a:xfrm>
            <a:off x="4131056" y="1234440"/>
            <a:ext cx="881888" cy="310896"/>
          </a:xfrm>
          <a:prstGeom prst="rect">
            <a:avLst/>
          </a:prstGeom>
          <a:noFill/>
        </p:spPr>
        <p:txBody>
          <a:bodyPr wrap="square" lIns="0" rIns="0" tIns="0" bIns="0" anchor="ctr">
            <a:noAutofit/>
          </a:bodyPr>
          <a:lstStyle/>
          <a:p>
            <a:pPr algn="ctr">
              <a:spcAft>
                <a:spcPts val="400"/>
              </a:spcAft>
            </a:pPr>
            <a:r>
              <a:rPr sz="1100" b="1" lang="en-GB">
                <a:solidFill>
                  <a:schemeClr val="tx2"/>
                </a:solidFill>
              </a:rPr>
              <a:t>5 Carry</a:t>
            </a:r>
          </a:p>
        </p:txBody>
      </p:sp>
      <p:sp>
        <p:nvSpPr>
          <p:cNvPr id="20" name="Ladder step 6"/>
          <p:cNvSpPr/>
          <p:nvPr/>
        </p:nvSpPr>
        <p:spPr>
          <a:xfrm>
            <a:off x="5049520" y="1234440"/>
            <a:ext cx="881888" cy="310896"/>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Ladder step 6 text"/>
          <p:cNvSpPr txBox="1"/>
          <p:nvPr/>
        </p:nvSpPr>
        <p:spPr>
          <a:xfrm>
            <a:off x="5049520" y="1234440"/>
            <a:ext cx="881888" cy="310896"/>
          </a:xfrm>
          <a:prstGeom prst="rect">
            <a:avLst/>
          </a:prstGeom>
          <a:noFill/>
        </p:spPr>
        <p:txBody>
          <a:bodyPr wrap="square" lIns="0" rIns="0" tIns="0" bIns="0" anchor="ctr">
            <a:noAutofit/>
          </a:bodyPr>
          <a:lstStyle/>
          <a:p>
            <a:pPr algn="ctr">
              <a:spcAft>
                <a:spcPts val="400"/>
              </a:spcAft>
            </a:pPr>
            <a:r>
              <a:rPr sz="1100" b="1" lang="en-GB">
                <a:solidFill>
                  <a:schemeClr val="bg1"/>
                </a:solidFill>
              </a:rPr>
              <a:t>6 ROI</a:t>
            </a:r>
          </a:p>
        </p:txBody>
      </p:sp>
      <p:sp>
        <p:nvSpPr>
          <p:cNvPr id="22" name="Ladder step 7"/>
          <p:cNvSpPr/>
          <p:nvPr/>
        </p:nvSpPr>
        <p:spPr>
          <a:xfrm>
            <a:off x="5967984" y="1234440"/>
            <a:ext cx="881888" cy="31089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Ladder step 7 text"/>
          <p:cNvSpPr txBox="1"/>
          <p:nvPr/>
        </p:nvSpPr>
        <p:spPr>
          <a:xfrm>
            <a:off x="5967984" y="1234440"/>
            <a:ext cx="881888" cy="310896"/>
          </a:xfrm>
          <a:prstGeom prst="rect">
            <a:avLst/>
          </a:prstGeom>
          <a:noFill/>
        </p:spPr>
        <p:txBody>
          <a:bodyPr wrap="square" lIns="0" rIns="0" tIns="0" bIns="0" anchor="ctr">
            <a:noAutofit/>
          </a:bodyPr>
          <a:lstStyle/>
          <a:p>
            <a:pPr algn="ctr">
              <a:spcAft>
                <a:spcPts val="400"/>
              </a:spcAft>
            </a:pPr>
            <a:r>
              <a:rPr sz="1100" b="1" lang="en-GB">
                <a:solidFill>
                  <a:schemeClr val="tx2"/>
                </a:solidFill>
              </a:rPr>
              <a:t>7 Saturate</a:t>
            </a:r>
          </a:p>
        </p:txBody>
      </p:sp>
      <p:sp>
        <p:nvSpPr>
          <p:cNvPr id="24" name="Ladder step 8"/>
          <p:cNvSpPr/>
          <p:nvPr/>
        </p:nvSpPr>
        <p:spPr>
          <a:xfrm>
            <a:off x="6886448" y="1234440"/>
            <a:ext cx="881888" cy="31089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Ladder step 8 text"/>
          <p:cNvSpPr txBox="1"/>
          <p:nvPr/>
        </p:nvSpPr>
        <p:spPr>
          <a:xfrm>
            <a:off x="6886448" y="1234440"/>
            <a:ext cx="881888" cy="310896"/>
          </a:xfrm>
          <a:prstGeom prst="rect">
            <a:avLst/>
          </a:prstGeom>
          <a:noFill/>
        </p:spPr>
        <p:txBody>
          <a:bodyPr wrap="square" lIns="0" rIns="0" tIns="0" bIns="0" anchor="ctr">
            <a:noAutofit/>
          </a:bodyPr>
          <a:lstStyle/>
          <a:p>
            <a:pPr algn="ctr">
              <a:spcAft>
                <a:spcPts val="400"/>
              </a:spcAft>
            </a:pPr>
            <a:r>
              <a:rPr sz="1100" b="1" lang="en-GB">
                <a:solidFill>
                  <a:schemeClr val="tx2"/>
                </a:solidFill>
              </a:rPr>
              <a:t>8 PyMC</a:t>
            </a:r>
          </a:p>
        </p:txBody>
      </p:sp>
      <p:sp>
        <p:nvSpPr>
          <p:cNvPr id="26" name="Ladder step 9"/>
          <p:cNvSpPr/>
          <p:nvPr/>
        </p:nvSpPr>
        <p:spPr>
          <a:xfrm>
            <a:off x="7804912" y="1234440"/>
            <a:ext cx="881888" cy="31089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Ladder step 9 text"/>
          <p:cNvSpPr txBox="1"/>
          <p:nvPr/>
        </p:nvSpPr>
        <p:spPr>
          <a:xfrm>
            <a:off x="7804912" y="1234440"/>
            <a:ext cx="881888" cy="310896"/>
          </a:xfrm>
          <a:prstGeom prst="rect">
            <a:avLst/>
          </a:prstGeom>
          <a:noFill/>
        </p:spPr>
        <p:txBody>
          <a:bodyPr wrap="square" lIns="0" rIns="0" tIns="0" bIns="0" anchor="ctr">
            <a:noAutofit/>
          </a:bodyPr>
          <a:lstStyle/>
          <a:p>
            <a:pPr algn="ctr">
              <a:spcAft>
                <a:spcPts val="400"/>
              </a:spcAft>
            </a:pPr>
            <a:r>
              <a:rPr sz="1100" b="1" lang="en-GB">
                <a:solidFill>
                  <a:schemeClr val="tx2"/>
                </a:solidFill>
              </a:rPr>
              <a:t>9 Read</a:t>
            </a:r>
          </a:p>
        </p:txBody>
      </p:sp>
      <p:sp>
        <p:nvSpPr>
          <p:cNvPr id="28" name="Ladder code caption bar"/>
          <p:cNvSpPr/>
          <p:nvPr/>
        </p:nvSpPr>
        <p:spPr>
          <a:xfrm>
            <a:off x="457200" y="1682496"/>
            <a:ext cx="4480560" cy="27432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Ladder code caption"/>
          <p:cNvSpPr txBox="1"/>
          <p:nvPr/>
        </p:nvSpPr>
        <p:spPr>
          <a:xfrm>
            <a:off x="566928" y="1682496"/>
            <a:ext cx="4261104" cy="274320"/>
          </a:xfrm>
          <a:prstGeom prst="rect">
            <a:avLst/>
          </a:prstGeom>
          <a:noFill/>
        </p:spPr>
        <p:txBody>
          <a:bodyPr wrap="square" lIns="0" rIns="0" tIns="0" bIns="0" anchor="ctr">
            <a:noAutofit/>
          </a:bodyPr>
          <a:lstStyle/>
          <a:p>
            <a:pPr algn="l">
              <a:spcAft>
                <a:spcPts val="400"/>
              </a:spcAft>
            </a:pPr>
            <a:r>
              <a:rPr sz="1100" b="1" lang="en-GB">
                <a:solidFill>
                  <a:schemeClr val="bg1"/>
                </a:solidFill>
              </a:rPr>
              <a:t>open_source_mmm.qmd · Step 6</a:t>
            </a:r>
          </a:p>
        </p:txBody>
      </p:sp>
      <p:sp>
        <p:nvSpPr>
          <p:cNvPr id="30" name="Ladder code box"/>
          <p:cNvSpPr/>
          <p:nvPr/>
        </p:nvSpPr>
        <p:spPr>
          <a:xfrm>
            <a:off x="457200" y="1956816"/>
            <a:ext cx="4480560" cy="1598371"/>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Ladder code code"/>
          <p:cNvSpPr txBox="1"/>
          <p:nvPr/>
        </p:nvSpPr>
        <p:spPr>
          <a:xfrm>
            <a:off x="594360" y="2048256"/>
            <a:ext cx="4206240" cy="1415491"/>
          </a:xfrm>
          <a:prstGeom prst="rect">
            <a:avLst/>
          </a:prstGeom>
          <a:noFill/>
        </p:spPr>
        <p:txBody>
          <a:bodyPr wrap="square" lIns="0" rIns="0" tIns="0" bIns="0" anchor="t">
            <a:noAutofit/>
          </a:bodyPr>
          <a:lstStyle/>
          <a:p>
            <a:pPr algn="l">
              <a:spcAft>
                <a:spcPts val="0"/>
              </a:spcAft>
            </a:pPr>
            <a:r>
              <a:rPr sz="1000" b="0" lang="en-GB">
                <a:solidFill>
                  <a:schemeClr val="bg1"/>
                </a:solidFill>
                <a:latin typeface="Consolas"/>
              </a:rPr>
              <a:t># contribution = coefficient x column total</a:t>
            </a:r>
          </a:p>
          <a:p>
            <a:pPr algn="l">
              <a:spcAft>
                <a:spcPts val="0"/>
              </a:spcAft>
            </a:pPr>
            <a:r>
              <a:rPr sz="1000" b="0" lang="en-GB">
                <a:solidFill>
                  <a:schemeClr val="bg1"/>
                </a:solidFill>
                <a:latin typeface="Consolas"/>
              </a:rPr>
              <a:t>b = m3.params</a:t>
            </a:r>
          </a:p>
          <a:p>
            <a:pPr algn="l">
              <a:spcAft>
                <a:spcPts val="0"/>
              </a:spcAft>
            </a:pPr>
            <a:r>
              <a:rPr sz="1000" b="0" lang="en-GB">
                <a:solidFill>
                  <a:schemeClr val="bg1"/>
                </a:solidFill>
                <a:latin typeface="Consolas"/>
              </a:rPr>
              <a:t>c_google = b["google"] * at["google"].sum()</a:t>
            </a:r>
          </a:p>
          <a:p>
            <a:pPr algn="l">
              <a:spcAft>
                <a:spcPts val="0"/>
              </a:spcAft>
            </a:pPr>
            <a:r>
              <a:rPr sz="1000" b="0" lang="en-GB">
                <a:solidFill>
                  <a:schemeClr val="bg1"/>
                </a:solidFill>
                <a:latin typeface="Consolas"/>
              </a:rPr>
              <a:t>c_meta = b["meta_ad"] * at["meta_ad"].sum()</a:t>
            </a:r>
          </a:p>
          <a:p>
            <a:pPr algn="l">
              <a:spcAft>
                <a:spcPts val="0"/>
              </a:spcAft>
            </a:pPr>
            <a:r>
              <a:rPr sz="1000" b="0" lang="en-GB">
                <a:solidFill>
                  <a:schemeClr val="bg1"/>
                </a:solidFill>
                <a:latin typeface="Consolas"/>
              </a:rPr>
              <a:t>print(c_google, c_meta)</a:t>
            </a:r>
          </a:p>
          <a:p>
            <a:pPr algn="l">
              <a:spcAft>
                <a:spcPts val="0"/>
              </a:spcAft>
            </a:pPr>
            <a:r>
              <a:rPr sz="1000" b="0" lang="en-GB">
                <a:solidFill>
                  <a:schemeClr val="bg1"/>
                </a:solidFill>
                <a:latin typeface="Consolas"/>
              </a:rPr>
              <a:t> </a:t>
            </a:r>
          </a:p>
          <a:p>
            <a:pPr algn="l">
              <a:spcAft>
                <a:spcPts val="0"/>
              </a:spcAft>
            </a:pPr>
            <a:r>
              <a:rPr sz="1000" b="0" lang="en-GB">
                <a:solidFill>
                  <a:schemeClr val="bg1"/>
                </a:solidFill>
                <a:latin typeface="Consolas"/>
              </a:rPr>
              <a:t># ROI = contribution / spend</a:t>
            </a:r>
          </a:p>
          <a:p>
            <a:pPr algn="l">
              <a:spcAft>
                <a:spcPts val="0"/>
              </a:spcAft>
            </a:pPr>
            <a:r>
              <a:rPr sz="1000" b="0" lang="en-GB">
                <a:solidFill>
                  <a:schemeClr val="bg1"/>
                </a:solidFill>
                <a:latin typeface="Consolas"/>
              </a:rPr>
              <a:t>print(c_google / at["google"].sum())</a:t>
            </a:r>
          </a:p>
          <a:p>
            <a:pPr algn="l">
              <a:spcAft>
                <a:spcPts val="0"/>
              </a:spcAft>
            </a:pPr>
            <a:r>
              <a:rPr sz="1000" b="0" lang="en-GB">
                <a:solidFill>
                  <a:schemeClr val="bg1"/>
                </a:solidFill>
                <a:latin typeface="Consolas"/>
              </a:rPr>
              <a:t>print(c_meta / at["meta"].sum())</a:t>
            </a:r>
          </a:p>
        </p:txBody>
      </p:sp>
      <p:sp>
        <p:nvSpPr>
          <p:cNvPr id="32" name="Ladder out 1-1"/>
          <p:cNvSpPr/>
          <p:nvPr/>
        </p:nvSpPr>
        <p:spPr>
          <a:xfrm>
            <a:off x="5074920" y="1682496"/>
            <a:ext cx="1370715" cy="329184"/>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Ladder out text 1-1"/>
          <p:cNvSpPr txBox="1"/>
          <p:nvPr/>
        </p:nvSpPr>
        <p:spPr>
          <a:xfrm>
            <a:off x="5166360" y="1682496"/>
            <a:ext cx="1187835" cy="329184"/>
          </a:xfrm>
          <a:prstGeom prst="rect">
            <a:avLst/>
          </a:prstGeom>
          <a:noFill/>
        </p:spPr>
        <p:txBody>
          <a:bodyPr wrap="square" lIns="0" rIns="0" tIns="0" bIns="0" anchor="ctr">
            <a:noAutofit/>
          </a:bodyPr>
          <a:lstStyle/>
          <a:p>
            <a:pPr algn="l">
              <a:spcAft>
                <a:spcPts val="400"/>
              </a:spcAft>
            </a:pPr>
            <a:r>
              <a:rPr sz="1150" b="1" lang="en-GB">
                <a:solidFill>
                  <a:schemeClr val="bg1"/>
                </a:solidFill>
              </a:rPr>
              <a:t>channel</a:t>
            </a:r>
          </a:p>
        </p:txBody>
      </p:sp>
      <p:sp>
        <p:nvSpPr>
          <p:cNvPr id="34" name="Ladder out 1-2"/>
          <p:cNvSpPr/>
          <p:nvPr/>
        </p:nvSpPr>
        <p:spPr>
          <a:xfrm>
            <a:off x="6473067" y="1682496"/>
            <a:ext cx="1254203" cy="329184"/>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Ladder out text 1-2"/>
          <p:cNvSpPr txBox="1"/>
          <p:nvPr/>
        </p:nvSpPr>
        <p:spPr>
          <a:xfrm>
            <a:off x="6564507" y="1682496"/>
            <a:ext cx="1071323" cy="329184"/>
          </a:xfrm>
          <a:prstGeom prst="rect">
            <a:avLst/>
          </a:prstGeom>
          <a:noFill/>
        </p:spPr>
        <p:txBody>
          <a:bodyPr wrap="square" lIns="0" rIns="0" tIns="0" bIns="0" anchor="ctr">
            <a:noAutofit/>
          </a:bodyPr>
          <a:lstStyle/>
          <a:p>
            <a:pPr algn="r">
              <a:spcAft>
                <a:spcPts val="400"/>
              </a:spcAft>
            </a:pPr>
            <a:r>
              <a:rPr sz="1150" b="1" lang="en-GB">
                <a:solidFill>
                  <a:schemeClr val="bg1"/>
                </a:solidFill>
              </a:rPr>
              <a:t>contrib.</a:t>
            </a:r>
          </a:p>
        </p:txBody>
      </p:sp>
      <p:sp>
        <p:nvSpPr>
          <p:cNvPr id="36" name="Ladder out 1-3"/>
          <p:cNvSpPr/>
          <p:nvPr/>
        </p:nvSpPr>
        <p:spPr>
          <a:xfrm>
            <a:off x="7754702" y="1682496"/>
            <a:ext cx="932098" cy="329184"/>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Ladder out text 1-3"/>
          <p:cNvSpPr txBox="1"/>
          <p:nvPr/>
        </p:nvSpPr>
        <p:spPr>
          <a:xfrm>
            <a:off x="7846142" y="1682496"/>
            <a:ext cx="721786" cy="329184"/>
          </a:xfrm>
          <a:prstGeom prst="rect">
            <a:avLst/>
          </a:prstGeom>
          <a:noFill/>
        </p:spPr>
        <p:txBody>
          <a:bodyPr wrap="square" lIns="0" rIns="0" tIns="0" bIns="0" anchor="ctr">
            <a:noAutofit/>
          </a:bodyPr>
          <a:lstStyle/>
          <a:p>
            <a:pPr algn="r">
              <a:spcAft>
                <a:spcPts val="400"/>
              </a:spcAft>
            </a:pPr>
            <a:r>
              <a:rPr sz="1150" b="1" lang="en-GB">
                <a:solidFill>
                  <a:schemeClr val="bg1"/>
                </a:solidFill>
              </a:rPr>
              <a:t>ROI</a:t>
            </a:r>
          </a:p>
        </p:txBody>
      </p:sp>
      <p:sp>
        <p:nvSpPr>
          <p:cNvPr id="38" name="Ladder out 2-1"/>
          <p:cNvSpPr/>
          <p:nvPr/>
        </p:nvSpPr>
        <p:spPr>
          <a:xfrm>
            <a:off x="5074920" y="2039112"/>
            <a:ext cx="1370715" cy="32918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Ladder out text 2-1"/>
          <p:cNvSpPr txBox="1"/>
          <p:nvPr/>
        </p:nvSpPr>
        <p:spPr>
          <a:xfrm>
            <a:off x="5166360" y="2039112"/>
            <a:ext cx="1187835" cy="329184"/>
          </a:xfrm>
          <a:prstGeom prst="rect">
            <a:avLst/>
          </a:prstGeom>
          <a:noFill/>
        </p:spPr>
        <p:txBody>
          <a:bodyPr wrap="square" lIns="0" rIns="0" tIns="0" bIns="0" anchor="ctr">
            <a:noAutofit/>
          </a:bodyPr>
          <a:lstStyle/>
          <a:p>
            <a:pPr algn="l">
              <a:spcAft>
                <a:spcPts val="400"/>
              </a:spcAft>
            </a:pPr>
            <a:r>
              <a:rPr sz="1150" b="1" lang="en-GB">
                <a:solidFill>
                  <a:schemeClr val="tx2"/>
                </a:solidFill>
              </a:rPr>
              <a:t>google</a:t>
            </a:r>
          </a:p>
        </p:txBody>
      </p:sp>
      <p:sp>
        <p:nvSpPr>
          <p:cNvPr id="40" name="Ladder out 2-2"/>
          <p:cNvSpPr/>
          <p:nvPr/>
        </p:nvSpPr>
        <p:spPr>
          <a:xfrm>
            <a:off x="6473067" y="2039112"/>
            <a:ext cx="1254203" cy="32918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Ladder out text 2-2"/>
          <p:cNvSpPr txBox="1"/>
          <p:nvPr/>
        </p:nvSpPr>
        <p:spPr>
          <a:xfrm>
            <a:off x="6564507" y="2039112"/>
            <a:ext cx="1071323" cy="329184"/>
          </a:xfrm>
          <a:prstGeom prst="rect">
            <a:avLst/>
          </a:prstGeom>
          <a:noFill/>
        </p:spPr>
        <p:txBody>
          <a:bodyPr wrap="square" lIns="0" rIns="0" tIns="0" bIns="0" anchor="ctr">
            <a:noAutofit/>
          </a:bodyPr>
          <a:lstStyle/>
          <a:p>
            <a:pPr algn="r">
              <a:spcAft>
                <a:spcPts val="400"/>
              </a:spcAft>
            </a:pPr>
            <a:r>
              <a:rPr sz="1150" b="0" lang="en-GB">
                <a:solidFill>
                  <a:schemeClr val="tx1"/>
                </a:solidFill>
              </a:rPr>
              <a:t>1,746</a:t>
            </a:r>
          </a:p>
        </p:txBody>
      </p:sp>
      <p:sp>
        <p:nvSpPr>
          <p:cNvPr id="42" name="Ladder out 2-3"/>
          <p:cNvSpPr/>
          <p:nvPr/>
        </p:nvSpPr>
        <p:spPr>
          <a:xfrm>
            <a:off x="7754702" y="2039112"/>
            <a:ext cx="932098" cy="32918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Ladder out text 2-3"/>
          <p:cNvSpPr txBox="1"/>
          <p:nvPr/>
        </p:nvSpPr>
        <p:spPr>
          <a:xfrm>
            <a:off x="7846142" y="2039112"/>
            <a:ext cx="721786" cy="329184"/>
          </a:xfrm>
          <a:prstGeom prst="rect">
            <a:avLst/>
          </a:prstGeom>
          <a:noFill/>
        </p:spPr>
        <p:txBody>
          <a:bodyPr wrap="square" lIns="0" rIns="0" tIns="0" bIns="0" anchor="ctr">
            <a:noAutofit/>
          </a:bodyPr>
          <a:lstStyle/>
          <a:p>
            <a:pPr algn="r">
              <a:spcAft>
                <a:spcPts val="400"/>
              </a:spcAft>
            </a:pPr>
            <a:r>
              <a:rPr sz="1150" b="0" lang="en-GB">
                <a:solidFill>
                  <a:schemeClr val="tx1"/>
                </a:solidFill>
              </a:rPr>
              <a:t>3.56</a:t>
            </a:r>
          </a:p>
        </p:txBody>
      </p:sp>
      <p:sp>
        <p:nvSpPr>
          <p:cNvPr id="44" name="Ladder out 3-1"/>
          <p:cNvSpPr/>
          <p:nvPr/>
        </p:nvSpPr>
        <p:spPr>
          <a:xfrm>
            <a:off x="5074920" y="2395728"/>
            <a:ext cx="1370715" cy="32918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Ladder out text 3-1"/>
          <p:cNvSpPr txBox="1"/>
          <p:nvPr/>
        </p:nvSpPr>
        <p:spPr>
          <a:xfrm>
            <a:off x="5166360" y="2395728"/>
            <a:ext cx="1187835" cy="329184"/>
          </a:xfrm>
          <a:prstGeom prst="rect">
            <a:avLst/>
          </a:prstGeom>
          <a:noFill/>
        </p:spPr>
        <p:txBody>
          <a:bodyPr wrap="square" lIns="0" rIns="0" tIns="0" bIns="0" anchor="ctr">
            <a:noAutofit/>
          </a:bodyPr>
          <a:lstStyle/>
          <a:p>
            <a:pPr algn="l">
              <a:spcAft>
                <a:spcPts val="400"/>
              </a:spcAft>
            </a:pPr>
            <a:r>
              <a:rPr sz="1150" b="1" lang="en-GB">
                <a:solidFill>
                  <a:schemeClr val="tx2"/>
                </a:solidFill>
              </a:rPr>
              <a:t>meta</a:t>
            </a:r>
          </a:p>
        </p:txBody>
      </p:sp>
      <p:sp>
        <p:nvSpPr>
          <p:cNvPr id="46" name="Ladder out 3-2"/>
          <p:cNvSpPr/>
          <p:nvPr/>
        </p:nvSpPr>
        <p:spPr>
          <a:xfrm>
            <a:off x="6473067" y="2395728"/>
            <a:ext cx="1254203" cy="32918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7" name="Ladder out text 3-2"/>
          <p:cNvSpPr txBox="1"/>
          <p:nvPr/>
        </p:nvSpPr>
        <p:spPr>
          <a:xfrm>
            <a:off x="6564507" y="2395728"/>
            <a:ext cx="1071323" cy="329184"/>
          </a:xfrm>
          <a:prstGeom prst="rect">
            <a:avLst/>
          </a:prstGeom>
          <a:noFill/>
        </p:spPr>
        <p:txBody>
          <a:bodyPr wrap="square" lIns="0" rIns="0" tIns="0" bIns="0" anchor="ctr">
            <a:noAutofit/>
          </a:bodyPr>
          <a:lstStyle/>
          <a:p>
            <a:pPr algn="r">
              <a:spcAft>
                <a:spcPts val="400"/>
              </a:spcAft>
            </a:pPr>
            <a:r>
              <a:rPr sz="1150" b="0" lang="en-GB">
                <a:solidFill>
                  <a:schemeClr val="tx1"/>
                </a:solidFill>
              </a:rPr>
              <a:t>543</a:t>
            </a:r>
          </a:p>
        </p:txBody>
      </p:sp>
      <p:sp>
        <p:nvSpPr>
          <p:cNvPr id="48" name="Ladder out 3-3"/>
          <p:cNvSpPr/>
          <p:nvPr/>
        </p:nvSpPr>
        <p:spPr>
          <a:xfrm>
            <a:off x="7754702" y="2395728"/>
            <a:ext cx="932098" cy="32918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9" name="Ladder out text 3-3"/>
          <p:cNvSpPr txBox="1"/>
          <p:nvPr/>
        </p:nvSpPr>
        <p:spPr>
          <a:xfrm>
            <a:off x="7846142" y="2395728"/>
            <a:ext cx="721786" cy="329184"/>
          </a:xfrm>
          <a:prstGeom prst="rect">
            <a:avLst/>
          </a:prstGeom>
          <a:noFill/>
        </p:spPr>
        <p:txBody>
          <a:bodyPr wrap="square" lIns="0" rIns="0" tIns="0" bIns="0" anchor="ctr">
            <a:noAutofit/>
          </a:bodyPr>
          <a:lstStyle/>
          <a:p>
            <a:pPr algn="r">
              <a:spcAft>
                <a:spcPts val="400"/>
              </a:spcAft>
            </a:pPr>
            <a:r>
              <a:rPr sz="1150" b="0" lang="en-GB">
                <a:solidFill>
                  <a:schemeClr val="tx1"/>
                </a:solidFill>
              </a:rPr>
              <a:t>7.78</a:t>
            </a:r>
          </a:p>
        </p:txBody>
      </p:sp>
      <p:sp>
        <p:nvSpPr>
          <p:cNvPr id="50" name="Ladder out 4-1"/>
          <p:cNvSpPr/>
          <p:nvPr/>
        </p:nvSpPr>
        <p:spPr>
          <a:xfrm>
            <a:off x="5074920" y="2752344"/>
            <a:ext cx="1370715" cy="32918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1" name="Ladder out text 4-1"/>
          <p:cNvSpPr txBox="1"/>
          <p:nvPr/>
        </p:nvSpPr>
        <p:spPr>
          <a:xfrm>
            <a:off x="5166360" y="2752344"/>
            <a:ext cx="1187835" cy="329184"/>
          </a:xfrm>
          <a:prstGeom prst="rect">
            <a:avLst/>
          </a:prstGeom>
          <a:noFill/>
        </p:spPr>
        <p:txBody>
          <a:bodyPr wrap="square" lIns="0" rIns="0" tIns="0" bIns="0" anchor="ctr">
            <a:noAutofit/>
          </a:bodyPr>
          <a:lstStyle/>
          <a:p>
            <a:pPr algn="l">
              <a:spcAft>
                <a:spcPts val="400"/>
              </a:spcAft>
            </a:pPr>
            <a:r>
              <a:rPr sz="1150" b="1" lang="en-GB">
                <a:solidFill>
                  <a:schemeClr val="tx2"/>
                </a:solidFill>
              </a:rPr>
              <a:t>baseline</a:t>
            </a:r>
          </a:p>
        </p:txBody>
      </p:sp>
      <p:sp>
        <p:nvSpPr>
          <p:cNvPr id="52" name="Ladder out 4-2"/>
          <p:cNvSpPr/>
          <p:nvPr/>
        </p:nvSpPr>
        <p:spPr>
          <a:xfrm>
            <a:off x="6473067" y="2752344"/>
            <a:ext cx="1254203" cy="32918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3" name="Ladder out text 4-2"/>
          <p:cNvSpPr txBox="1"/>
          <p:nvPr/>
        </p:nvSpPr>
        <p:spPr>
          <a:xfrm>
            <a:off x="6564507" y="2752344"/>
            <a:ext cx="1071323" cy="329184"/>
          </a:xfrm>
          <a:prstGeom prst="rect">
            <a:avLst/>
          </a:prstGeom>
          <a:noFill/>
        </p:spPr>
        <p:txBody>
          <a:bodyPr wrap="square" lIns="0" rIns="0" tIns="0" bIns="0" anchor="ctr">
            <a:noAutofit/>
          </a:bodyPr>
          <a:lstStyle/>
          <a:p>
            <a:pPr algn="r">
              <a:spcAft>
                <a:spcPts val="400"/>
              </a:spcAft>
            </a:pPr>
            <a:r>
              <a:rPr sz="1150" b="0" lang="en-GB">
                <a:solidFill>
                  <a:schemeClr val="tx1"/>
                </a:solidFill>
              </a:rPr>
              <a:t>891</a:t>
            </a:r>
          </a:p>
        </p:txBody>
      </p:sp>
      <p:sp>
        <p:nvSpPr>
          <p:cNvPr id="54" name="Ladder out 4-3"/>
          <p:cNvSpPr/>
          <p:nvPr/>
        </p:nvSpPr>
        <p:spPr>
          <a:xfrm>
            <a:off x="7754702" y="2752344"/>
            <a:ext cx="932098" cy="32918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5" name="Ladder out text 4-3"/>
          <p:cNvSpPr txBox="1"/>
          <p:nvPr/>
        </p:nvSpPr>
        <p:spPr>
          <a:xfrm>
            <a:off x="7846142" y="2752344"/>
            <a:ext cx="721786" cy="329184"/>
          </a:xfrm>
          <a:prstGeom prst="rect">
            <a:avLst/>
          </a:prstGeom>
          <a:noFill/>
        </p:spPr>
        <p:txBody>
          <a:bodyPr wrap="square" lIns="0" rIns="0" tIns="0" bIns="0" anchor="ctr">
            <a:noAutofit/>
          </a:bodyPr>
          <a:lstStyle/>
          <a:p>
            <a:pPr algn="r">
              <a:spcAft>
                <a:spcPts val="400"/>
              </a:spcAft>
            </a:pPr>
            <a:r>
              <a:rPr sz="1150" b="0" lang="en-GB">
                <a:solidFill>
                  <a:schemeClr val="tx1"/>
                </a:solidFill>
              </a:rPr>
              <a:t>–</a:t>
            </a:r>
          </a:p>
        </p:txBody>
      </p:sp>
      <p:sp>
        <p:nvSpPr>
          <p:cNvPr id="56" name="Ladder reading box"/>
          <p:cNvSpPr/>
          <p:nvPr/>
        </p:nvSpPr>
        <p:spPr>
          <a:xfrm>
            <a:off x="457200" y="3738067"/>
            <a:ext cx="8229600" cy="4572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57" name="Icon Ladder reading" descr=""/>
          <p:cNvPicPr>
            <a:picLocks noChangeAspect="1"/>
          </p:cNvPicPr>
          <p:nvPr/>
        </p:nvPicPr>
        <p:blipFill>
          <a:blip r:embed="rId3"/>
          <a:stretch>
            <a:fillRect/>
          </a:stretch>
        </p:blipFill>
        <p:spPr>
          <a:xfrm>
            <a:off x="658368" y="3783787"/>
            <a:ext cx="365760" cy="365760"/>
          </a:xfrm>
          <a:prstGeom prst="rect">
            <a:avLst/>
          </a:prstGeom>
        </p:spPr>
      </p:pic>
      <p:sp>
        <p:nvSpPr>
          <p:cNvPr id="58" name="Ladder reading text"/>
          <p:cNvSpPr txBox="1"/>
          <p:nvPr/>
        </p:nvSpPr>
        <p:spPr>
          <a:xfrm>
            <a:off x="1207008" y="3738067"/>
            <a:ext cx="7315200" cy="457200"/>
          </a:xfrm>
          <a:prstGeom prst="rect">
            <a:avLst/>
          </a:prstGeom>
          <a:noFill/>
        </p:spPr>
        <p:txBody>
          <a:bodyPr wrap="square" lIns="0" rIns="0" tIns="0" bIns="0" anchor="ctr">
            <a:noAutofit/>
          </a:bodyPr>
          <a:lstStyle/>
          <a:p>
            <a:pPr algn="l">
              <a:spcAft>
                <a:spcPts val="400"/>
              </a:spcAft>
            </a:pPr>
            <a:r>
              <a:rPr sz="1200" b="1" lang="en-GB">
                <a:solidFill>
                  <a:schemeClr val="tx2"/>
                </a:solidFill>
              </a:rPr>
              <a:t>Meta returns more per euro, </a:t>
            </a:r>
            <a:r>
              <a:rPr sz="1200" b="0" lang="en-GB">
                <a:solidFill>
                  <a:schemeClr val="tx1"/>
                </a:solidFill>
              </a:rPr>
              <a:t>Google brings more sales.</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Step 7: saturation in one line</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Ladder step 1"/>
          <p:cNvSpPr/>
          <p:nvPr/>
        </p:nvSpPr>
        <p:spPr>
          <a:xfrm>
            <a:off x="457200" y="1234440"/>
            <a:ext cx="881888" cy="31089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Ladder step 1 text"/>
          <p:cNvSpPr txBox="1"/>
          <p:nvPr/>
        </p:nvSpPr>
        <p:spPr>
          <a:xfrm>
            <a:off x="457200" y="1234440"/>
            <a:ext cx="881888" cy="310896"/>
          </a:xfrm>
          <a:prstGeom prst="rect">
            <a:avLst/>
          </a:prstGeom>
          <a:noFill/>
        </p:spPr>
        <p:txBody>
          <a:bodyPr wrap="square" lIns="0" rIns="0" tIns="0" bIns="0" anchor="ctr">
            <a:noAutofit/>
          </a:bodyPr>
          <a:lstStyle/>
          <a:p>
            <a:pPr algn="ctr">
              <a:spcAft>
                <a:spcPts val="400"/>
              </a:spcAft>
            </a:pPr>
            <a:r>
              <a:rPr sz="1100" b="1" lang="en-GB">
                <a:solidFill>
                  <a:schemeClr val="tx2"/>
                </a:solidFill>
              </a:rPr>
              <a:t>1 Load</a:t>
            </a:r>
          </a:p>
        </p:txBody>
      </p:sp>
      <p:sp>
        <p:nvSpPr>
          <p:cNvPr id="12" name="Ladder step 2"/>
          <p:cNvSpPr/>
          <p:nvPr/>
        </p:nvSpPr>
        <p:spPr>
          <a:xfrm>
            <a:off x="1375664" y="1234440"/>
            <a:ext cx="881888" cy="31089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Ladder step 2 text"/>
          <p:cNvSpPr txBox="1"/>
          <p:nvPr/>
        </p:nvSpPr>
        <p:spPr>
          <a:xfrm>
            <a:off x="1375664" y="1234440"/>
            <a:ext cx="881888" cy="310896"/>
          </a:xfrm>
          <a:prstGeom prst="rect">
            <a:avLst/>
          </a:prstGeom>
          <a:noFill/>
        </p:spPr>
        <p:txBody>
          <a:bodyPr wrap="square" lIns="0" rIns="0" tIns="0" bIns="0" anchor="ctr">
            <a:noAutofit/>
          </a:bodyPr>
          <a:lstStyle/>
          <a:p>
            <a:pPr algn="ctr">
              <a:spcAft>
                <a:spcPts val="400"/>
              </a:spcAft>
            </a:pPr>
            <a:r>
              <a:rPr sz="1100" b="1" lang="en-GB">
                <a:solidFill>
                  <a:schemeClr val="tx2"/>
                </a:solidFill>
              </a:rPr>
              <a:t>2 Regress</a:t>
            </a:r>
          </a:p>
        </p:txBody>
      </p:sp>
      <p:sp>
        <p:nvSpPr>
          <p:cNvPr id="14" name="Ladder step 3"/>
          <p:cNvSpPr/>
          <p:nvPr/>
        </p:nvSpPr>
        <p:spPr>
          <a:xfrm>
            <a:off x="2294128" y="1234440"/>
            <a:ext cx="881888" cy="31089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Ladder step 3 text"/>
          <p:cNvSpPr txBox="1"/>
          <p:nvPr/>
        </p:nvSpPr>
        <p:spPr>
          <a:xfrm>
            <a:off x="2294128" y="1234440"/>
            <a:ext cx="881888" cy="310896"/>
          </a:xfrm>
          <a:prstGeom prst="rect">
            <a:avLst/>
          </a:prstGeom>
          <a:noFill/>
        </p:spPr>
        <p:txBody>
          <a:bodyPr wrap="square" lIns="0" rIns="0" tIns="0" bIns="0" anchor="ctr">
            <a:noAutofit/>
          </a:bodyPr>
          <a:lstStyle/>
          <a:p>
            <a:pPr algn="ctr">
              <a:spcAft>
                <a:spcPts val="400"/>
              </a:spcAft>
            </a:pPr>
            <a:r>
              <a:rPr sz="1100" b="1" lang="en-GB">
                <a:solidFill>
                  <a:schemeClr val="tx2"/>
                </a:solidFill>
              </a:rPr>
              <a:t>3 Trend</a:t>
            </a:r>
          </a:p>
        </p:txBody>
      </p:sp>
      <p:sp>
        <p:nvSpPr>
          <p:cNvPr id="16" name="Ladder step 4"/>
          <p:cNvSpPr/>
          <p:nvPr/>
        </p:nvSpPr>
        <p:spPr>
          <a:xfrm>
            <a:off x="3212592" y="1234440"/>
            <a:ext cx="881888" cy="31089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Ladder step 4 text"/>
          <p:cNvSpPr txBox="1"/>
          <p:nvPr/>
        </p:nvSpPr>
        <p:spPr>
          <a:xfrm>
            <a:off x="3212592" y="1234440"/>
            <a:ext cx="881888" cy="310896"/>
          </a:xfrm>
          <a:prstGeom prst="rect">
            <a:avLst/>
          </a:prstGeom>
          <a:noFill/>
        </p:spPr>
        <p:txBody>
          <a:bodyPr wrap="square" lIns="0" rIns="0" tIns="0" bIns="0" anchor="ctr">
            <a:noAutofit/>
          </a:bodyPr>
          <a:lstStyle/>
          <a:p>
            <a:pPr algn="ctr">
              <a:spcAft>
                <a:spcPts val="400"/>
              </a:spcAft>
            </a:pPr>
            <a:r>
              <a:rPr sz="1100" b="1" lang="en-GB">
                <a:solidFill>
                  <a:schemeClr val="tx2"/>
                </a:solidFill>
              </a:rPr>
              <a:t>4 Adstock</a:t>
            </a:r>
          </a:p>
        </p:txBody>
      </p:sp>
      <p:sp>
        <p:nvSpPr>
          <p:cNvPr id="18" name="Ladder step 5"/>
          <p:cNvSpPr/>
          <p:nvPr/>
        </p:nvSpPr>
        <p:spPr>
          <a:xfrm>
            <a:off x="4131056" y="1234440"/>
            <a:ext cx="881888" cy="31089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Ladder step 5 text"/>
          <p:cNvSpPr txBox="1"/>
          <p:nvPr/>
        </p:nvSpPr>
        <p:spPr>
          <a:xfrm>
            <a:off x="4131056" y="1234440"/>
            <a:ext cx="881888" cy="310896"/>
          </a:xfrm>
          <a:prstGeom prst="rect">
            <a:avLst/>
          </a:prstGeom>
          <a:noFill/>
        </p:spPr>
        <p:txBody>
          <a:bodyPr wrap="square" lIns="0" rIns="0" tIns="0" bIns="0" anchor="ctr">
            <a:noAutofit/>
          </a:bodyPr>
          <a:lstStyle/>
          <a:p>
            <a:pPr algn="ctr">
              <a:spcAft>
                <a:spcPts val="400"/>
              </a:spcAft>
            </a:pPr>
            <a:r>
              <a:rPr sz="1100" b="1" lang="en-GB">
                <a:solidFill>
                  <a:schemeClr val="tx2"/>
                </a:solidFill>
              </a:rPr>
              <a:t>5 Carry</a:t>
            </a:r>
          </a:p>
        </p:txBody>
      </p:sp>
      <p:sp>
        <p:nvSpPr>
          <p:cNvPr id="20" name="Ladder step 6"/>
          <p:cNvSpPr/>
          <p:nvPr/>
        </p:nvSpPr>
        <p:spPr>
          <a:xfrm>
            <a:off x="5049520" y="1234440"/>
            <a:ext cx="881888" cy="31089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Ladder step 6 text"/>
          <p:cNvSpPr txBox="1"/>
          <p:nvPr/>
        </p:nvSpPr>
        <p:spPr>
          <a:xfrm>
            <a:off x="5049520" y="1234440"/>
            <a:ext cx="881888" cy="310896"/>
          </a:xfrm>
          <a:prstGeom prst="rect">
            <a:avLst/>
          </a:prstGeom>
          <a:noFill/>
        </p:spPr>
        <p:txBody>
          <a:bodyPr wrap="square" lIns="0" rIns="0" tIns="0" bIns="0" anchor="ctr">
            <a:noAutofit/>
          </a:bodyPr>
          <a:lstStyle/>
          <a:p>
            <a:pPr algn="ctr">
              <a:spcAft>
                <a:spcPts val="400"/>
              </a:spcAft>
            </a:pPr>
            <a:r>
              <a:rPr sz="1100" b="1" lang="en-GB">
                <a:solidFill>
                  <a:schemeClr val="tx2"/>
                </a:solidFill>
              </a:rPr>
              <a:t>6 ROI</a:t>
            </a:r>
          </a:p>
        </p:txBody>
      </p:sp>
      <p:sp>
        <p:nvSpPr>
          <p:cNvPr id="22" name="Ladder step 7"/>
          <p:cNvSpPr/>
          <p:nvPr/>
        </p:nvSpPr>
        <p:spPr>
          <a:xfrm>
            <a:off x="5967984" y="1234440"/>
            <a:ext cx="881888" cy="310896"/>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Ladder step 7 text"/>
          <p:cNvSpPr txBox="1"/>
          <p:nvPr/>
        </p:nvSpPr>
        <p:spPr>
          <a:xfrm>
            <a:off x="5967984" y="1234440"/>
            <a:ext cx="881888" cy="310896"/>
          </a:xfrm>
          <a:prstGeom prst="rect">
            <a:avLst/>
          </a:prstGeom>
          <a:noFill/>
        </p:spPr>
        <p:txBody>
          <a:bodyPr wrap="square" lIns="0" rIns="0" tIns="0" bIns="0" anchor="ctr">
            <a:noAutofit/>
          </a:bodyPr>
          <a:lstStyle/>
          <a:p>
            <a:pPr algn="ctr">
              <a:spcAft>
                <a:spcPts val="400"/>
              </a:spcAft>
            </a:pPr>
            <a:r>
              <a:rPr sz="1100" b="1" lang="en-GB">
                <a:solidFill>
                  <a:schemeClr val="bg1"/>
                </a:solidFill>
              </a:rPr>
              <a:t>7 Saturate</a:t>
            </a:r>
          </a:p>
        </p:txBody>
      </p:sp>
      <p:sp>
        <p:nvSpPr>
          <p:cNvPr id="24" name="Ladder step 8"/>
          <p:cNvSpPr/>
          <p:nvPr/>
        </p:nvSpPr>
        <p:spPr>
          <a:xfrm>
            <a:off x="6886448" y="1234440"/>
            <a:ext cx="881888" cy="31089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Ladder step 8 text"/>
          <p:cNvSpPr txBox="1"/>
          <p:nvPr/>
        </p:nvSpPr>
        <p:spPr>
          <a:xfrm>
            <a:off x="6886448" y="1234440"/>
            <a:ext cx="881888" cy="310896"/>
          </a:xfrm>
          <a:prstGeom prst="rect">
            <a:avLst/>
          </a:prstGeom>
          <a:noFill/>
        </p:spPr>
        <p:txBody>
          <a:bodyPr wrap="square" lIns="0" rIns="0" tIns="0" bIns="0" anchor="ctr">
            <a:noAutofit/>
          </a:bodyPr>
          <a:lstStyle/>
          <a:p>
            <a:pPr algn="ctr">
              <a:spcAft>
                <a:spcPts val="400"/>
              </a:spcAft>
            </a:pPr>
            <a:r>
              <a:rPr sz="1100" b="1" lang="en-GB">
                <a:solidFill>
                  <a:schemeClr val="tx2"/>
                </a:solidFill>
              </a:rPr>
              <a:t>8 PyMC</a:t>
            </a:r>
          </a:p>
        </p:txBody>
      </p:sp>
      <p:sp>
        <p:nvSpPr>
          <p:cNvPr id="26" name="Ladder step 9"/>
          <p:cNvSpPr/>
          <p:nvPr/>
        </p:nvSpPr>
        <p:spPr>
          <a:xfrm>
            <a:off x="7804912" y="1234440"/>
            <a:ext cx="881888" cy="31089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Ladder step 9 text"/>
          <p:cNvSpPr txBox="1"/>
          <p:nvPr/>
        </p:nvSpPr>
        <p:spPr>
          <a:xfrm>
            <a:off x="7804912" y="1234440"/>
            <a:ext cx="881888" cy="310896"/>
          </a:xfrm>
          <a:prstGeom prst="rect">
            <a:avLst/>
          </a:prstGeom>
          <a:noFill/>
        </p:spPr>
        <p:txBody>
          <a:bodyPr wrap="square" lIns="0" rIns="0" tIns="0" bIns="0" anchor="ctr">
            <a:noAutofit/>
          </a:bodyPr>
          <a:lstStyle/>
          <a:p>
            <a:pPr algn="ctr">
              <a:spcAft>
                <a:spcPts val="400"/>
              </a:spcAft>
            </a:pPr>
            <a:r>
              <a:rPr sz="1100" b="1" lang="en-GB">
                <a:solidFill>
                  <a:schemeClr val="tx2"/>
                </a:solidFill>
              </a:rPr>
              <a:t>9 Read</a:t>
            </a:r>
          </a:p>
        </p:txBody>
      </p:sp>
      <p:sp>
        <p:nvSpPr>
          <p:cNvPr id="28" name="Ladder code caption bar"/>
          <p:cNvSpPr/>
          <p:nvPr/>
        </p:nvSpPr>
        <p:spPr>
          <a:xfrm>
            <a:off x="457200" y="1682496"/>
            <a:ext cx="4480560" cy="27432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Ladder code caption"/>
          <p:cNvSpPr txBox="1"/>
          <p:nvPr/>
        </p:nvSpPr>
        <p:spPr>
          <a:xfrm>
            <a:off x="566928" y="1682496"/>
            <a:ext cx="4261104" cy="274320"/>
          </a:xfrm>
          <a:prstGeom prst="rect">
            <a:avLst/>
          </a:prstGeom>
          <a:noFill/>
        </p:spPr>
        <p:txBody>
          <a:bodyPr wrap="square" lIns="0" rIns="0" tIns="0" bIns="0" anchor="ctr">
            <a:noAutofit/>
          </a:bodyPr>
          <a:lstStyle/>
          <a:p>
            <a:pPr algn="l">
              <a:spcAft>
                <a:spcPts val="400"/>
              </a:spcAft>
            </a:pPr>
            <a:r>
              <a:rPr sz="1100" b="1" lang="en-GB">
                <a:solidFill>
                  <a:schemeClr val="bg1"/>
                </a:solidFill>
              </a:rPr>
              <a:t>open_source_mmm.qmd · Step 7</a:t>
            </a:r>
          </a:p>
        </p:txBody>
      </p:sp>
      <p:sp>
        <p:nvSpPr>
          <p:cNvPr id="30" name="Ladder code box"/>
          <p:cNvSpPr/>
          <p:nvPr/>
        </p:nvSpPr>
        <p:spPr>
          <a:xfrm>
            <a:off x="457200" y="1956816"/>
            <a:ext cx="4480560" cy="2070202"/>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Ladder code code"/>
          <p:cNvSpPr txBox="1"/>
          <p:nvPr/>
        </p:nvSpPr>
        <p:spPr>
          <a:xfrm>
            <a:off x="594360" y="2048256"/>
            <a:ext cx="4206240" cy="1887322"/>
          </a:xfrm>
          <a:prstGeom prst="rect">
            <a:avLst/>
          </a:prstGeom>
          <a:noFill/>
        </p:spPr>
        <p:txBody>
          <a:bodyPr wrap="square" lIns="0" rIns="0" tIns="0" bIns="0" anchor="t">
            <a:noAutofit/>
          </a:bodyPr>
          <a:lstStyle/>
          <a:p>
            <a:pPr algn="l">
              <a:spcAft>
                <a:spcPts val="0"/>
              </a:spcAft>
            </a:pPr>
            <a:r>
              <a:rPr sz="1000" b="0" lang="en-GB">
                <a:solidFill>
                  <a:schemeClr val="bg1"/>
                </a:solidFill>
                <a:latin typeface="Consolas"/>
              </a:rPr>
              <a:t># saturation: half-saturation at 20 k EUR a week</a:t>
            </a:r>
          </a:p>
          <a:p>
            <a:pPr algn="l">
              <a:spcAft>
                <a:spcPts val="0"/>
              </a:spcAft>
            </a:pPr>
            <a:r>
              <a:rPr sz="1000" b="0" lang="en-GB">
                <a:solidFill>
                  <a:schemeClr val="bg1"/>
                </a:solidFill>
                <a:latin typeface="Consolas"/>
              </a:rPr>
              <a:t>at = at.with_columns(</a:t>
            </a:r>
          </a:p>
          <a:p>
            <a:pPr algn="l">
              <a:spcAft>
                <a:spcPts val="0"/>
              </a:spcAft>
            </a:pPr>
            <a:r>
              <a:rPr sz="1000" b="0" lang="en-GB">
                <a:solidFill>
                  <a:schemeClr val="bg1"/>
                </a:solidFill>
                <a:latin typeface="Consolas"/>
              </a:rPr>
              <a:t>    google_sat=at["google"] / (at["google"] + 20))</a:t>
            </a:r>
          </a:p>
          <a:p>
            <a:pPr algn="l">
              <a:spcAft>
                <a:spcPts val="0"/>
              </a:spcAft>
            </a:pPr>
            <a:r>
              <a:rPr sz="1000" b="0" lang="en-GB">
                <a:solidFill>
                  <a:schemeClr val="bg1"/>
                </a:solidFill>
                <a:latin typeface="Consolas"/>
              </a:rPr>
              <a:t>m4 = smf.ols(</a:t>
            </a:r>
          </a:p>
          <a:p>
            <a:pPr algn="l">
              <a:spcAft>
                <a:spcPts val="0"/>
              </a:spcAft>
            </a:pPr>
            <a:r>
              <a:rPr sz="1000" b="0" lang="en-GB">
                <a:solidFill>
                  <a:schemeClr val="bg1"/>
                </a:solidFill>
                <a:latin typeface="Consolas"/>
              </a:rPr>
              <a:t>    "sales ~ google_sat + meta_ad + week_no",</a:t>
            </a:r>
          </a:p>
          <a:p>
            <a:pPr algn="l">
              <a:spcAft>
                <a:spcPts val="0"/>
              </a:spcAft>
            </a:pPr>
            <a:r>
              <a:rPr sz="1000" b="0" lang="en-GB">
                <a:solidFill>
                  <a:schemeClr val="bg1"/>
                </a:solidFill>
                <a:latin typeface="Consolas"/>
              </a:rPr>
              <a:t>    data=at.to_pandas()).fit()</a:t>
            </a:r>
          </a:p>
          <a:p>
            <a:pPr algn="l">
              <a:spcAft>
                <a:spcPts val="0"/>
              </a:spcAft>
            </a:pPr>
            <a:r>
              <a:rPr sz="1000" b="0" lang="en-GB">
                <a:solidFill>
                  <a:schemeClr val="bg1"/>
                </a:solidFill>
                <a:latin typeface="Consolas"/>
              </a:rPr>
              <a:t>print(m3.rsquared, m4.rsquared)</a:t>
            </a:r>
          </a:p>
          <a:p>
            <a:pPr algn="l">
              <a:spcAft>
                <a:spcPts val="0"/>
              </a:spcAft>
            </a:pPr>
            <a:r>
              <a:rPr sz="1000" b="0" lang="en-GB">
                <a:solidFill>
                  <a:schemeClr val="bg1"/>
                </a:solidFill>
                <a:latin typeface="Consolas"/>
              </a:rPr>
              <a:t> </a:t>
            </a:r>
          </a:p>
          <a:p>
            <a:pPr algn="l">
              <a:spcAft>
                <a:spcPts val="0"/>
              </a:spcAft>
            </a:pPr>
            <a:r>
              <a:rPr sz="1000" b="0" lang="en-GB">
                <a:solidFill>
                  <a:schemeClr val="bg1"/>
                </a:solidFill>
                <a:latin typeface="Consolas"/>
              </a:rPr>
              <a:t># the Google ROI of the curved model</a:t>
            </a:r>
          </a:p>
          <a:p>
            <a:pPr algn="l">
              <a:spcAft>
                <a:spcPts val="0"/>
              </a:spcAft>
            </a:pPr>
            <a:r>
              <a:rPr sz="1000" b="0" lang="en-GB">
                <a:solidFill>
                  <a:schemeClr val="bg1"/>
                </a:solidFill>
                <a:latin typeface="Consolas"/>
              </a:rPr>
              <a:t>b4 = m4.params</a:t>
            </a:r>
          </a:p>
          <a:p>
            <a:pPr algn="l">
              <a:spcAft>
                <a:spcPts val="0"/>
              </a:spcAft>
            </a:pPr>
            <a:r>
              <a:rPr sz="1000" b="0" lang="en-GB">
                <a:solidFill>
                  <a:schemeClr val="bg1"/>
                </a:solidFill>
                <a:latin typeface="Consolas"/>
              </a:rPr>
              <a:t>c_sat = b4["google_sat"] * at["google_sat"].sum()</a:t>
            </a:r>
          </a:p>
          <a:p>
            <a:pPr algn="l">
              <a:spcAft>
                <a:spcPts val="0"/>
              </a:spcAft>
            </a:pPr>
            <a:r>
              <a:rPr sz="1000" b="0" lang="en-GB">
                <a:solidFill>
                  <a:schemeClr val="bg1"/>
                </a:solidFill>
                <a:latin typeface="Consolas"/>
              </a:rPr>
              <a:t>print(c_sat / at["google"].sum())</a:t>
            </a:r>
          </a:p>
        </p:txBody>
      </p:sp>
      <p:sp>
        <p:nvSpPr>
          <p:cNvPr id="32" name="Ladder out 1-1"/>
          <p:cNvSpPr/>
          <p:nvPr/>
        </p:nvSpPr>
        <p:spPr>
          <a:xfrm>
            <a:off x="5074920" y="1682496"/>
            <a:ext cx="1285979" cy="329184"/>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Ladder out text 1-1"/>
          <p:cNvSpPr txBox="1"/>
          <p:nvPr/>
        </p:nvSpPr>
        <p:spPr>
          <a:xfrm>
            <a:off x="5166360" y="1682496"/>
            <a:ext cx="1103099" cy="329184"/>
          </a:xfrm>
          <a:prstGeom prst="rect">
            <a:avLst/>
          </a:prstGeom>
          <a:noFill/>
        </p:spPr>
        <p:txBody>
          <a:bodyPr wrap="square" lIns="0" rIns="0" tIns="0" bIns="0" anchor="ctr">
            <a:noAutofit/>
          </a:bodyPr>
          <a:lstStyle/>
          <a:p>
            <a:pPr algn="l">
              <a:spcAft>
                <a:spcPts val="400"/>
              </a:spcAft>
            </a:pPr>
            <a:r>
              <a:rPr sz="1150" b="1" lang="en-GB">
                <a:solidFill>
                  <a:schemeClr val="bg1"/>
                </a:solidFill>
              </a:rPr>
              <a:t>model</a:t>
            </a:r>
          </a:p>
        </p:txBody>
      </p:sp>
      <p:sp>
        <p:nvSpPr>
          <p:cNvPr id="34" name="Ladder out 1-2"/>
          <p:cNvSpPr/>
          <p:nvPr/>
        </p:nvSpPr>
        <p:spPr>
          <a:xfrm>
            <a:off x="6388331" y="1682496"/>
            <a:ext cx="848175" cy="329184"/>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Ladder out text 1-2"/>
          <p:cNvSpPr txBox="1"/>
          <p:nvPr/>
        </p:nvSpPr>
        <p:spPr>
          <a:xfrm>
            <a:off x="6479771" y="1682496"/>
            <a:ext cx="665295" cy="329184"/>
          </a:xfrm>
          <a:prstGeom prst="rect">
            <a:avLst/>
          </a:prstGeom>
          <a:noFill/>
        </p:spPr>
        <p:txBody>
          <a:bodyPr wrap="square" lIns="0" rIns="0" tIns="0" bIns="0" anchor="ctr">
            <a:noAutofit/>
          </a:bodyPr>
          <a:lstStyle/>
          <a:p>
            <a:pPr algn="r">
              <a:spcAft>
                <a:spcPts val="400"/>
              </a:spcAft>
            </a:pPr>
            <a:r>
              <a:rPr sz="1150" b="1" lang="en-GB">
                <a:solidFill>
                  <a:schemeClr val="bg1"/>
                </a:solidFill>
              </a:rPr>
              <a:t>R²</a:t>
            </a:r>
          </a:p>
        </p:txBody>
      </p:sp>
      <p:sp>
        <p:nvSpPr>
          <p:cNvPr id="36" name="Ladder out 1-3"/>
          <p:cNvSpPr/>
          <p:nvPr/>
        </p:nvSpPr>
        <p:spPr>
          <a:xfrm>
            <a:off x="7263938" y="1682496"/>
            <a:ext cx="1422862" cy="329184"/>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Ladder out text 1-3"/>
          <p:cNvSpPr txBox="1"/>
          <p:nvPr/>
        </p:nvSpPr>
        <p:spPr>
          <a:xfrm>
            <a:off x="7355378" y="1682496"/>
            <a:ext cx="1212550" cy="329184"/>
          </a:xfrm>
          <a:prstGeom prst="rect">
            <a:avLst/>
          </a:prstGeom>
          <a:noFill/>
        </p:spPr>
        <p:txBody>
          <a:bodyPr wrap="square" lIns="0" rIns="0" tIns="0" bIns="0" anchor="ctr">
            <a:noAutofit/>
          </a:bodyPr>
          <a:lstStyle/>
          <a:p>
            <a:pPr algn="r">
              <a:spcAft>
                <a:spcPts val="400"/>
              </a:spcAft>
            </a:pPr>
            <a:r>
              <a:rPr sz="1150" b="1" lang="en-GB">
                <a:solidFill>
                  <a:schemeClr val="bg1"/>
                </a:solidFill>
              </a:rPr>
              <a:t>Google ROI</a:t>
            </a:r>
          </a:p>
        </p:txBody>
      </p:sp>
      <p:sp>
        <p:nvSpPr>
          <p:cNvPr id="38" name="Ladder out 2-1"/>
          <p:cNvSpPr/>
          <p:nvPr/>
        </p:nvSpPr>
        <p:spPr>
          <a:xfrm>
            <a:off x="5074920" y="2039112"/>
            <a:ext cx="1285979" cy="32918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Ladder out text 2-1"/>
          <p:cNvSpPr txBox="1"/>
          <p:nvPr/>
        </p:nvSpPr>
        <p:spPr>
          <a:xfrm>
            <a:off x="5166360" y="2039112"/>
            <a:ext cx="1103099" cy="329184"/>
          </a:xfrm>
          <a:prstGeom prst="rect">
            <a:avLst/>
          </a:prstGeom>
          <a:noFill/>
        </p:spPr>
        <p:txBody>
          <a:bodyPr wrap="square" lIns="0" rIns="0" tIns="0" bIns="0" anchor="ctr">
            <a:noAutofit/>
          </a:bodyPr>
          <a:lstStyle/>
          <a:p>
            <a:pPr algn="l">
              <a:spcAft>
                <a:spcPts val="400"/>
              </a:spcAft>
            </a:pPr>
            <a:r>
              <a:rPr sz="1150" b="1" lang="en-GB">
                <a:solidFill>
                  <a:schemeClr val="tx2"/>
                </a:solidFill>
              </a:rPr>
              <a:t>straight</a:t>
            </a:r>
          </a:p>
        </p:txBody>
      </p:sp>
      <p:sp>
        <p:nvSpPr>
          <p:cNvPr id="40" name="Ladder out 2-2"/>
          <p:cNvSpPr/>
          <p:nvPr/>
        </p:nvSpPr>
        <p:spPr>
          <a:xfrm>
            <a:off x="6388331" y="2039112"/>
            <a:ext cx="848175" cy="32918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Ladder out text 2-2"/>
          <p:cNvSpPr txBox="1"/>
          <p:nvPr/>
        </p:nvSpPr>
        <p:spPr>
          <a:xfrm>
            <a:off x="6479771" y="2039112"/>
            <a:ext cx="665295" cy="329184"/>
          </a:xfrm>
          <a:prstGeom prst="rect">
            <a:avLst/>
          </a:prstGeom>
          <a:noFill/>
        </p:spPr>
        <p:txBody>
          <a:bodyPr wrap="square" lIns="0" rIns="0" tIns="0" bIns="0" anchor="ctr">
            <a:noAutofit/>
          </a:bodyPr>
          <a:lstStyle/>
          <a:p>
            <a:pPr algn="r">
              <a:spcAft>
                <a:spcPts val="400"/>
              </a:spcAft>
            </a:pPr>
            <a:r>
              <a:rPr sz="1150" b="0" lang="en-GB">
                <a:solidFill>
                  <a:schemeClr val="tx1"/>
                </a:solidFill>
              </a:rPr>
              <a:t>0.60</a:t>
            </a:r>
          </a:p>
        </p:txBody>
      </p:sp>
      <p:sp>
        <p:nvSpPr>
          <p:cNvPr id="42" name="Ladder out 2-3"/>
          <p:cNvSpPr/>
          <p:nvPr/>
        </p:nvSpPr>
        <p:spPr>
          <a:xfrm>
            <a:off x="7263938" y="2039112"/>
            <a:ext cx="1422862" cy="32918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Ladder out text 2-3"/>
          <p:cNvSpPr txBox="1"/>
          <p:nvPr/>
        </p:nvSpPr>
        <p:spPr>
          <a:xfrm>
            <a:off x="7355378" y="2039112"/>
            <a:ext cx="1212550" cy="329184"/>
          </a:xfrm>
          <a:prstGeom prst="rect">
            <a:avLst/>
          </a:prstGeom>
          <a:noFill/>
        </p:spPr>
        <p:txBody>
          <a:bodyPr wrap="square" lIns="0" rIns="0" tIns="0" bIns="0" anchor="ctr">
            <a:noAutofit/>
          </a:bodyPr>
          <a:lstStyle/>
          <a:p>
            <a:pPr algn="r">
              <a:spcAft>
                <a:spcPts val="400"/>
              </a:spcAft>
            </a:pPr>
            <a:r>
              <a:rPr sz="1150" b="0" lang="en-GB">
                <a:solidFill>
                  <a:schemeClr val="tx1"/>
                </a:solidFill>
              </a:rPr>
              <a:t>3.56</a:t>
            </a:r>
          </a:p>
        </p:txBody>
      </p:sp>
      <p:sp>
        <p:nvSpPr>
          <p:cNvPr id="44" name="Ladder out 3-1"/>
          <p:cNvSpPr/>
          <p:nvPr/>
        </p:nvSpPr>
        <p:spPr>
          <a:xfrm>
            <a:off x="5074920" y="2395728"/>
            <a:ext cx="1285979" cy="32918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Ladder out text 3-1"/>
          <p:cNvSpPr txBox="1"/>
          <p:nvPr/>
        </p:nvSpPr>
        <p:spPr>
          <a:xfrm>
            <a:off x="5166360" y="2395728"/>
            <a:ext cx="1103099" cy="329184"/>
          </a:xfrm>
          <a:prstGeom prst="rect">
            <a:avLst/>
          </a:prstGeom>
          <a:noFill/>
        </p:spPr>
        <p:txBody>
          <a:bodyPr wrap="square" lIns="0" rIns="0" tIns="0" bIns="0" anchor="ctr">
            <a:noAutofit/>
          </a:bodyPr>
          <a:lstStyle/>
          <a:p>
            <a:pPr algn="l">
              <a:spcAft>
                <a:spcPts val="400"/>
              </a:spcAft>
            </a:pPr>
            <a:r>
              <a:rPr sz="1150" b="1" lang="en-GB">
                <a:solidFill>
                  <a:schemeClr val="tx2"/>
                </a:solidFill>
              </a:rPr>
              <a:t>curved</a:t>
            </a:r>
          </a:p>
        </p:txBody>
      </p:sp>
      <p:sp>
        <p:nvSpPr>
          <p:cNvPr id="46" name="Ladder out 3-2"/>
          <p:cNvSpPr/>
          <p:nvPr/>
        </p:nvSpPr>
        <p:spPr>
          <a:xfrm>
            <a:off x="6388331" y="2395728"/>
            <a:ext cx="848175" cy="32918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7" name="Ladder out text 3-2"/>
          <p:cNvSpPr txBox="1"/>
          <p:nvPr/>
        </p:nvSpPr>
        <p:spPr>
          <a:xfrm>
            <a:off x="6479771" y="2395728"/>
            <a:ext cx="665295" cy="329184"/>
          </a:xfrm>
          <a:prstGeom prst="rect">
            <a:avLst/>
          </a:prstGeom>
          <a:noFill/>
        </p:spPr>
        <p:txBody>
          <a:bodyPr wrap="square" lIns="0" rIns="0" tIns="0" bIns="0" anchor="ctr">
            <a:noAutofit/>
          </a:bodyPr>
          <a:lstStyle/>
          <a:p>
            <a:pPr algn="r">
              <a:spcAft>
                <a:spcPts val="400"/>
              </a:spcAft>
            </a:pPr>
            <a:r>
              <a:rPr sz="1150" b="0" lang="en-GB">
                <a:solidFill>
                  <a:schemeClr val="tx1"/>
                </a:solidFill>
              </a:rPr>
              <a:t>0.60</a:t>
            </a:r>
          </a:p>
        </p:txBody>
      </p:sp>
      <p:sp>
        <p:nvSpPr>
          <p:cNvPr id="48" name="Ladder out 3-3"/>
          <p:cNvSpPr/>
          <p:nvPr/>
        </p:nvSpPr>
        <p:spPr>
          <a:xfrm>
            <a:off x="7263938" y="2395728"/>
            <a:ext cx="1422862" cy="32918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9" name="Ladder out text 3-3"/>
          <p:cNvSpPr txBox="1"/>
          <p:nvPr/>
        </p:nvSpPr>
        <p:spPr>
          <a:xfrm>
            <a:off x="7355378" y="2395728"/>
            <a:ext cx="1212550" cy="329184"/>
          </a:xfrm>
          <a:prstGeom prst="rect">
            <a:avLst/>
          </a:prstGeom>
          <a:noFill/>
        </p:spPr>
        <p:txBody>
          <a:bodyPr wrap="square" lIns="0" rIns="0" tIns="0" bIns="0" anchor="ctr">
            <a:noAutofit/>
          </a:bodyPr>
          <a:lstStyle/>
          <a:p>
            <a:pPr algn="r">
              <a:spcAft>
                <a:spcPts val="400"/>
              </a:spcAft>
            </a:pPr>
            <a:r>
              <a:rPr sz="1150" b="0" lang="en-GB">
                <a:solidFill>
                  <a:schemeClr val="tx1"/>
                </a:solidFill>
              </a:rPr>
              <a:t>4.79</a:t>
            </a:r>
          </a:p>
        </p:txBody>
      </p:sp>
      <p:sp>
        <p:nvSpPr>
          <p:cNvPr id="50" name="Ladder reading box"/>
          <p:cNvSpPr/>
          <p:nvPr/>
        </p:nvSpPr>
        <p:spPr>
          <a:xfrm>
            <a:off x="457200" y="4209898"/>
            <a:ext cx="8229600" cy="4572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51" name="Icon Ladder reading" descr=""/>
          <p:cNvPicPr>
            <a:picLocks noChangeAspect="1"/>
          </p:cNvPicPr>
          <p:nvPr/>
        </p:nvPicPr>
        <p:blipFill>
          <a:blip r:embed="rId3"/>
          <a:stretch>
            <a:fillRect/>
          </a:stretch>
        </p:blipFill>
        <p:spPr>
          <a:xfrm>
            <a:off x="658368" y="4255618"/>
            <a:ext cx="365760" cy="365760"/>
          </a:xfrm>
          <a:prstGeom prst="rect">
            <a:avLst/>
          </a:prstGeom>
        </p:spPr>
      </p:pic>
      <p:sp>
        <p:nvSpPr>
          <p:cNvPr id="52" name="Ladder reading text"/>
          <p:cNvSpPr txBox="1"/>
          <p:nvPr/>
        </p:nvSpPr>
        <p:spPr>
          <a:xfrm>
            <a:off x="1207008" y="4209898"/>
            <a:ext cx="7315200" cy="457200"/>
          </a:xfrm>
          <a:prstGeom prst="rect">
            <a:avLst/>
          </a:prstGeom>
          <a:noFill/>
        </p:spPr>
        <p:txBody>
          <a:bodyPr wrap="square" lIns="0" rIns="0" tIns="0" bIns="0" anchor="ctr">
            <a:noAutofit/>
          </a:bodyPr>
          <a:lstStyle/>
          <a:p>
            <a:pPr algn="l">
              <a:spcAft>
                <a:spcPts val="400"/>
              </a:spcAft>
            </a:pPr>
            <a:r>
              <a:rPr sz="1200" b="1" lang="en-GB">
                <a:solidFill>
                  <a:schemeClr val="tx2"/>
                </a:solidFill>
              </a:rPr>
              <a:t>Same fit, other answer: </a:t>
            </a:r>
            <a:r>
              <a:rPr sz="1200" b="0" lang="en-GB">
                <a:solidFill>
                  <a:schemeClr val="tx1"/>
                </a:solidFill>
              </a:rPr>
              <a:t>the data cannot choose the curve.</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Step 8: PyMC-Marketing</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Ladder step 1"/>
          <p:cNvSpPr/>
          <p:nvPr/>
        </p:nvSpPr>
        <p:spPr>
          <a:xfrm>
            <a:off x="457200" y="1234440"/>
            <a:ext cx="881888" cy="31089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Ladder step 1 text"/>
          <p:cNvSpPr txBox="1"/>
          <p:nvPr/>
        </p:nvSpPr>
        <p:spPr>
          <a:xfrm>
            <a:off x="457200" y="1234440"/>
            <a:ext cx="881888" cy="310896"/>
          </a:xfrm>
          <a:prstGeom prst="rect">
            <a:avLst/>
          </a:prstGeom>
          <a:noFill/>
        </p:spPr>
        <p:txBody>
          <a:bodyPr wrap="square" lIns="0" rIns="0" tIns="0" bIns="0" anchor="ctr">
            <a:noAutofit/>
          </a:bodyPr>
          <a:lstStyle/>
          <a:p>
            <a:pPr algn="ctr">
              <a:spcAft>
                <a:spcPts val="400"/>
              </a:spcAft>
            </a:pPr>
            <a:r>
              <a:rPr sz="1100" b="1" lang="en-GB">
                <a:solidFill>
                  <a:schemeClr val="tx2"/>
                </a:solidFill>
              </a:rPr>
              <a:t>1 Load</a:t>
            </a:r>
          </a:p>
        </p:txBody>
      </p:sp>
      <p:sp>
        <p:nvSpPr>
          <p:cNvPr id="12" name="Ladder step 2"/>
          <p:cNvSpPr/>
          <p:nvPr/>
        </p:nvSpPr>
        <p:spPr>
          <a:xfrm>
            <a:off x="1375664" y="1234440"/>
            <a:ext cx="881888" cy="31089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Ladder step 2 text"/>
          <p:cNvSpPr txBox="1"/>
          <p:nvPr/>
        </p:nvSpPr>
        <p:spPr>
          <a:xfrm>
            <a:off x="1375664" y="1234440"/>
            <a:ext cx="881888" cy="310896"/>
          </a:xfrm>
          <a:prstGeom prst="rect">
            <a:avLst/>
          </a:prstGeom>
          <a:noFill/>
        </p:spPr>
        <p:txBody>
          <a:bodyPr wrap="square" lIns="0" rIns="0" tIns="0" bIns="0" anchor="ctr">
            <a:noAutofit/>
          </a:bodyPr>
          <a:lstStyle/>
          <a:p>
            <a:pPr algn="ctr">
              <a:spcAft>
                <a:spcPts val="400"/>
              </a:spcAft>
            </a:pPr>
            <a:r>
              <a:rPr sz="1100" b="1" lang="en-GB">
                <a:solidFill>
                  <a:schemeClr val="tx2"/>
                </a:solidFill>
              </a:rPr>
              <a:t>2 Regress</a:t>
            </a:r>
          </a:p>
        </p:txBody>
      </p:sp>
      <p:sp>
        <p:nvSpPr>
          <p:cNvPr id="14" name="Ladder step 3"/>
          <p:cNvSpPr/>
          <p:nvPr/>
        </p:nvSpPr>
        <p:spPr>
          <a:xfrm>
            <a:off x="2294128" y="1234440"/>
            <a:ext cx="881888" cy="31089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Ladder step 3 text"/>
          <p:cNvSpPr txBox="1"/>
          <p:nvPr/>
        </p:nvSpPr>
        <p:spPr>
          <a:xfrm>
            <a:off x="2294128" y="1234440"/>
            <a:ext cx="881888" cy="310896"/>
          </a:xfrm>
          <a:prstGeom prst="rect">
            <a:avLst/>
          </a:prstGeom>
          <a:noFill/>
        </p:spPr>
        <p:txBody>
          <a:bodyPr wrap="square" lIns="0" rIns="0" tIns="0" bIns="0" anchor="ctr">
            <a:noAutofit/>
          </a:bodyPr>
          <a:lstStyle/>
          <a:p>
            <a:pPr algn="ctr">
              <a:spcAft>
                <a:spcPts val="400"/>
              </a:spcAft>
            </a:pPr>
            <a:r>
              <a:rPr sz="1100" b="1" lang="en-GB">
                <a:solidFill>
                  <a:schemeClr val="tx2"/>
                </a:solidFill>
              </a:rPr>
              <a:t>3 Trend</a:t>
            </a:r>
          </a:p>
        </p:txBody>
      </p:sp>
      <p:sp>
        <p:nvSpPr>
          <p:cNvPr id="16" name="Ladder step 4"/>
          <p:cNvSpPr/>
          <p:nvPr/>
        </p:nvSpPr>
        <p:spPr>
          <a:xfrm>
            <a:off x="3212592" y="1234440"/>
            <a:ext cx="881888" cy="31089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Ladder step 4 text"/>
          <p:cNvSpPr txBox="1"/>
          <p:nvPr/>
        </p:nvSpPr>
        <p:spPr>
          <a:xfrm>
            <a:off x="3212592" y="1234440"/>
            <a:ext cx="881888" cy="310896"/>
          </a:xfrm>
          <a:prstGeom prst="rect">
            <a:avLst/>
          </a:prstGeom>
          <a:noFill/>
        </p:spPr>
        <p:txBody>
          <a:bodyPr wrap="square" lIns="0" rIns="0" tIns="0" bIns="0" anchor="ctr">
            <a:noAutofit/>
          </a:bodyPr>
          <a:lstStyle/>
          <a:p>
            <a:pPr algn="ctr">
              <a:spcAft>
                <a:spcPts val="400"/>
              </a:spcAft>
            </a:pPr>
            <a:r>
              <a:rPr sz="1100" b="1" lang="en-GB">
                <a:solidFill>
                  <a:schemeClr val="tx2"/>
                </a:solidFill>
              </a:rPr>
              <a:t>4 Adstock</a:t>
            </a:r>
          </a:p>
        </p:txBody>
      </p:sp>
      <p:sp>
        <p:nvSpPr>
          <p:cNvPr id="18" name="Ladder step 5"/>
          <p:cNvSpPr/>
          <p:nvPr/>
        </p:nvSpPr>
        <p:spPr>
          <a:xfrm>
            <a:off x="4131056" y="1234440"/>
            <a:ext cx="881888" cy="31089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Ladder step 5 text"/>
          <p:cNvSpPr txBox="1"/>
          <p:nvPr/>
        </p:nvSpPr>
        <p:spPr>
          <a:xfrm>
            <a:off x="4131056" y="1234440"/>
            <a:ext cx="881888" cy="310896"/>
          </a:xfrm>
          <a:prstGeom prst="rect">
            <a:avLst/>
          </a:prstGeom>
          <a:noFill/>
        </p:spPr>
        <p:txBody>
          <a:bodyPr wrap="square" lIns="0" rIns="0" tIns="0" bIns="0" anchor="ctr">
            <a:noAutofit/>
          </a:bodyPr>
          <a:lstStyle/>
          <a:p>
            <a:pPr algn="ctr">
              <a:spcAft>
                <a:spcPts val="400"/>
              </a:spcAft>
            </a:pPr>
            <a:r>
              <a:rPr sz="1100" b="1" lang="en-GB">
                <a:solidFill>
                  <a:schemeClr val="tx2"/>
                </a:solidFill>
              </a:rPr>
              <a:t>5 Carry</a:t>
            </a:r>
          </a:p>
        </p:txBody>
      </p:sp>
      <p:sp>
        <p:nvSpPr>
          <p:cNvPr id="20" name="Ladder step 6"/>
          <p:cNvSpPr/>
          <p:nvPr/>
        </p:nvSpPr>
        <p:spPr>
          <a:xfrm>
            <a:off x="5049520" y="1234440"/>
            <a:ext cx="881888" cy="31089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Ladder step 6 text"/>
          <p:cNvSpPr txBox="1"/>
          <p:nvPr/>
        </p:nvSpPr>
        <p:spPr>
          <a:xfrm>
            <a:off x="5049520" y="1234440"/>
            <a:ext cx="881888" cy="310896"/>
          </a:xfrm>
          <a:prstGeom prst="rect">
            <a:avLst/>
          </a:prstGeom>
          <a:noFill/>
        </p:spPr>
        <p:txBody>
          <a:bodyPr wrap="square" lIns="0" rIns="0" tIns="0" bIns="0" anchor="ctr">
            <a:noAutofit/>
          </a:bodyPr>
          <a:lstStyle/>
          <a:p>
            <a:pPr algn="ctr">
              <a:spcAft>
                <a:spcPts val="400"/>
              </a:spcAft>
            </a:pPr>
            <a:r>
              <a:rPr sz="1100" b="1" lang="en-GB">
                <a:solidFill>
                  <a:schemeClr val="tx2"/>
                </a:solidFill>
              </a:rPr>
              <a:t>6 ROI</a:t>
            </a:r>
          </a:p>
        </p:txBody>
      </p:sp>
      <p:sp>
        <p:nvSpPr>
          <p:cNvPr id="22" name="Ladder step 7"/>
          <p:cNvSpPr/>
          <p:nvPr/>
        </p:nvSpPr>
        <p:spPr>
          <a:xfrm>
            <a:off x="5967984" y="1234440"/>
            <a:ext cx="881888" cy="31089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Ladder step 7 text"/>
          <p:cNvSpPr txBox="1"/>
          <p:nvPr/>
        </p:nvSpPr>
        <p:spPr>
          <a:xfrm>
            <a:off x="5967984" y="1234440"/>
            <a:ext cx="881888" cy="310896"/>
          </a:xfrm>
          <a:prstGeom prst="rect">
            <a:avLst/>
          </a:prstGeom>
          <a:noFill/>
        </p:spPr>
        <p:txBody>
          <a:bodyPr wrap="square" lIns="0" rIns="0" tIns="0" bIns="0" anchor="ctr">
            <a:noAutofit/>
          </a:bodyPr>
          <a:lstStyle/>
          <a:p>
            <a:pPr algn="ctr">
              <a:spcAft>
                <a:spcPts val="400"/>
              </a:spcAft>
            </a:pPr>
            <a:r>
              <a:rPr sz="1100" b="1" lang="en-GB">
                <a:solidFill>
                  <a:schemeClr val="tx2"/>
                </a:solidFill>
              </a:rPr>
              <a:t>7 Saturate</a:t>
            </a:r>
          </a:p>
        </p:txBody>
      </p:sp>
      <p:sp>
        <p:nvSpPr>
          <p:cNvPr id="24" name="Ladder step 8"/>
          <p:cNvSpPr/>
          <p:nvPr/>
        </p:nvSpPr>
        <p:spPr>
          <a:xfrm>
            <a:off x="6886448" y="1234440"/>
            <a:ext cx="881888" cy="310896"/>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Ladder step 8 text"/>
          <p:cNvSpPr txBox="1"/>
          <p:nvPr/>
        </p:nvSpPr>
        <p:spPr>
          <a:xfrm>
            <a:off x="6886448" y="1234440"/>
            <a:ext cx="881888" cy="310896"/>
          </a:xfrm>
          <a:prstGeom prst="rect">
            <a:avLst/>
          </a:prstGeom>
          <a:noFill/>
        </p:spPr>
        <p:txBody>
          <a:bodyPr wrap="square" lIns="0" rIns="0" tIns="0" bIns="0" anchor="ctr">
            <a:noAutofit/>
          </a:bodyPr>
          <a:lstStyle/>
          <a:p>
            <a:pPr algn="ctr">
              <a:spcAft>
                <a:spcPts val="400"/>
              </a:spcAft>
            </a:pPr>
            <a:r>
              <a:rPr sz="1100" b="1" lang="en-GB">
                <a:solidFill>
                  <a:schemeClr val="bg1"/>
                </a:solidFill>
              </a:rPr>
              <a:t>8 PyMC</a:t>
            </a:r>
          </a:p>
        </p:txBody>
      </p:sp>
      <p:sp>
        <p:nvSpPr>
          <p:cNvPr id="26" name="Ladder step 9"/>
          <p:cNvSpPr/>
          <p:nvPr/>
        </p:nvSpPr>
        <p:spPr>
          <a:xfrm>
            <a:off x="7804912" y="1234440"/>
            <a:ext cx="881888" cy="31089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Ladder step 9 text"/>
          <p:cNvSpPr txBox="1"/>
          <p:nvPr/>
        </p:nvSpPr>
        <p:spPr>
          <a:xfrm>
            <a:off x="7804912" y="1234440"/>
            <a:ext cx="881888" cy="310896"/>
          </a:xfrm>
          <a:prstGeom prst="rect">
            <a:avLst/>
          </a:prstGeom>
          <a:noFill/>
        </p:spPr>
        <p:txBody>
          <a:bodyPr wrap="square" lIns="0" rIns="0" tIns="0" bIns="0" anchor="ctr">
            <a:noAutofit/>
          </a:bodyPr>
          <a:lstStyle/>
          <a:p>
            <a:pPr algn="ctr">
              <a:spcAft>
                <a:spcPts val="400"/>
              </a:spcAft>
            </a:pPr>
            <a:r>
              <a:rPr sz="1100" b="1" lang="en-GB">
                <a:solidFill>
                  <a:schemeClr val="tx2"/>
                </a:solidFill>
              </a:rPr>
              <a:t>9 Read</a:t>
            </a:r>
          </a:p>
        </p:txBody>
      </p:sp>
      <p:sp>
        <p:nvSpPr>
          <p:cNvPr id="28" name="Ladder code caption bar"/>
          <p:cNvSpPr/>
          <p:nvPr/>
        </p:nvSpPr>
        <p:spPr>
          <a:xfrm>
            <a:off x="457200" y="1682496"/>
            <a:ext cx="4480560" cy="27432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Ladder code caption"/>
          <p:cNvSpPr txBox="1"/>
          <p:nvPr/>
        </p:nvSpPr>
        <p:spPr>
          <a:xfrm>
            <a:off x="566928" y="1682496"/>
            <a:ext cx="4261104" cy="274320"/>
          </a:xfrm>
          <a:prstGeom prst="rect">
            <a:avLst/>
          </a:prstGeom>
          <a:noFill/>
        </p:spPr>
        <p:txBody>
          <a:bodyPr wrap="square" lIns="0" rIns="0" tIns="0" bIns="0" anchor="ctr">
            <a:noAutofit/>
          </a:bodyPr>
          <a:lstStyle/>
          <a:p>
            <a:pPr algn="l">
              <a:spcAft>
                <a:spcPts val="400"/>
              </a:spcAft>
            </a:pPr>
            <a:r>
              <a:rPr sz="1100" b="1" lang="en-GB">
                <a:solidFill>
                  <a:schemeClr val="bg1"/>
                </a:solidFill>
              </a:rPr>
              <a:t>open_source_mmm.qmd · Step 8</a:t>
            </a:r>
          </a:p>
        </p:txBody>
      </p:sp>
      <p:sp>
        <p:nvSpPr>
          <p:cNvPr id="30" name="Ladder code box"/>
          <p:cNvSpPr/>
          <p:nvPr/>
        </p:nvSpPr>
        <p:spPr>
          <a:xfrm>
            <a:off x="457200" y="1956816"/>
            <a:ext cx="4480560" cy="2542032"/>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Ladder code code"/>
          <p:cNvSpPr txBox="1"/>
          <p:nvPr/>
        </p:nvSpPr>
        <p:spPr>
          <a:xfrm>
            <a:off x="594360" y="2048256"/>
            <a:ext cx="4206240" cy="2359152"/>
          </a:xfrm>
          <a:prstGeom prst="rect">
            <a:avLst/>
          </a:prstGeom>
          <a:noFill/>
        </p:spPr>
        <p:txBody>
          <a:bodyPr wrap="square" lIns="0" rIns="0" tIns="0" bIns="0" anchor="t">
            <a:noAutofit/>
          </a:bodyPr>
          <a:lstStyle/>
          <a:p>
            <a:pPr algn="l">
              <a:spcAft>
                <a:spcPts val="0"/>
              </a:spcAft>
            </a:pPr>
            <a:r>
              <a:rPr sz="1000" b="0" lang="en-GB">
                <a:solidFill>
                  <a:schemeClr val="bg1"/>
                </a:solidFill>
                <a:latin typeface="Consolas"/>
              </a:rPr>
              <a:t>from pymc_marketing.mmm import (</a:t>
            </a:r>
          </a:p>
          <a:p>
            <a:pPr algn="l">
              <a:spcAft>
                <a:spcPts val="0"/>
              </a:spcAft>
            </a:pPr>
            <a:r>
              <a:rPr sz="1000" b="0" lang="en-GB">
                <a:solidFill>
                  <a:schemeClr val="bg1"/>
                </a:solidFill>
                <a:latin typeface="Consolas"/>
              </a:rPr>
              <a:t>    GeometricAdstock, LogisticSaturation)</a:t>
            </a:r>
          </a:p>
          <a:p>
            <a:pPr algn="l">
              <a:spcAft>
                <a:spcPts val="0"/>
              </a:spcAft>
            </a:pPr>
            <a:r>
              <a:rPr sz="1000" b="0" lang="en-GB">
                <a:solidFill>
                  <a:schemeClr val="bg1"/>
                </a:solidFill>
                <a:latin typeface="Consolas"/>
              </a:rPr>
              <a:t>from pymc_marketing.mmm.multidimensional import MMM</a:t>
            </a:r>
          </a:p>
          <a:p>
            <a:pPr algn="l">
              <a:spcAft>
                <a:spcPts val="0"/>
              </a:spcAft>
            </a:pPr>
            <a:r>
              <a:rPr sz="1000" b="0" lang="en-GB">
                <a:solidFill>
                  <a:schemeClr val="bg1"/>
                </a:solidFill>
                <a:latin typeface="Consolas"/>
              </a:rPr>
              <a:t> </a:t>
            </a:r>
          </a:p>
          <a:p>
            <a:pPr algn="l">
              <a:spcAft>
                <a:spcPts val="0"/>
              </a:spcAft>
            </a:pPr>
            <a:r>
              <a:rPr sz="1000" b="0" lang="en-GB">
                <a:solidFill>
                  <a:schemeClr val="bg1"/>
                </a:solidFill>
                <a:latin typeface="Consolas"/>
              </a:rPr>
              <a:t># the Bayesian MMM: adstock, then saturation</a:t>
            </a:r>
          </a:p>
          <a:p>
            <a:pPr algn="l">
              <a:spcAft>
                <a:spcPts val="0"/>
              </a:spcAft>
            </a:pPr>
            <a:r>
              <a:rPr sz="1000" b="0" lang="en-GB">
                <a:solidFill>
                  <a:schemeClr val="bg1"/>
                </a:solidFill>
                <a:latin typeface="Consolas"/>
              </a:rPr>
              <a:t>mmm = MMM(date_column="week", target_column="sales",</a:t>
            </a:r>
          </a:p>
          <a:p>
            <a:pPr algn="l">
              <a:spcAft>
                <a:spcPts val="0"/>
              </a:spcAft>
            </a:pPr>
            <a:r>
              <a:rPr sz="1000" b="0" lang="en-GB">
                <a:solidFill>
                  <a:schemeClr val="bg1"/>
                </a:solidFill>
                <a:latin typeface="Consolas"/>
              </a:rPr>
              <a:t>          channel_columns=["google", "meta"],</a:t>
            </a:r>
          </a:p>
          <a:p>
            <a:pPr algn="l">
              <a:spcAft>
                <a:spcPts val="0"/>
              </a:spcAft>
            </a:pPr>
            <a:r>
              <a:rPr sz="1000" b="0" lang="en-GB">
                <a:solidFill>
                  <a:schemeClr val="bg1"/>
                </a:solidFill>
                <a:latin typeface="Consolas"/>
              </a:rPr>
              <a:t>          control_columns=["week_no"],</a:t>
            </a:r>
          </a:p>
          <a:p>
            <a:pPr algn="l">
              <a:spcAft>
                <a:spcPts val="0"/>
              </a:spcAft>
            </a:pPr>
            <a:r>
              <a:rPr sz="1000" b="0" lang="en-GB">
                <a:solidFill>
                  <a:schemeClr val="bg1"/>
                </a:solidFill>
                <a:latin typeface="Consolas"/>
              </a:rPr>
              <a:t>          adstock=GeometricAdstock(l_max=6),</a:t>
            </a:r>
          </a:p>
          <a:p>
            <a:pPr algn="l">
              <a:spcAft>
                <a:spcPts val="0"/>
              </a:spcAft>
            </a:pPr>
            <a:r>
              <a:rPr sz="1000" b="0" lang="en-GB">
                <a:solidFill>
                  <a:schemeClr val="bg1"/>
                </a:solidFill>
                <a:latin typeface="Consolas"/>
              </a:rPr>
              <a:t>          saturation=LogisticSaturation(),</a:t>
            </a:r>
          </a:p>
          <a:p>
            <a:pPr algn="l">
              <a:spcAft>
                <a:spcPts val="0"/>
              </a:spcAft>
            </a:pPr>
            <a:r>
              <a:rPr sz="1000" b="0" lang="en-GB">
                <a:solidFill>
                  <a:schemeClr val="bg1"/>
                </a:solidFill>
                <a:latin typeface="Consolas"/>
              </a:rPr>
              <a:t>          yearly_seasonality=2)</a:t>
            </a:r>
          </a:p>
          <a:p>
            <a:pPr algn="l">
              <a:spcAft>
                <a:spcPts val="0"/>
              </a:spcAft>
            </a:pPr>
            <a:r>
              <a:rPr sz="1000" b="0" lang="en-GB">
                <a:solidFill>
                  <a:schemeClr val="bg1"/>
                </a:solidFill>
                <a:latin typeface="Consolas"/>
              </a:rPr>
              <a:t>X = at.select("week", "google", "meta", "week_no")</a:t>
            </a:r>
          </a:p>
          <a:p>
            <a:pPr algn="l">
              <a:spcAft>
                <a:spcPts val="0"/>
              </a:spcAft>
            </a:pPr>
            <a:r>
              <a:rPr sz="1000" b="0" lang="en-GB">
                <a:solidFill>
                  <a:schemeClr val="bg1"/>
                </a:solidFill>
                <a:latin typeface="Consolas"/>
              </a:rPr>
              <a:t>mmm.fit(X.to_pandas(), at["sales"].to_pandas(),</a:t>
            </a:r>
          </a:p>
          <a:p>
            <a:pPr algn="l">
              <a:spcAft>
                <a:spcPts val="0"/>
              </a:spcAft>
            </a:pPr>
            <a:r>
              <a:rPr sz="1000" b="0" lang="en-GB">
                <a:solidFill>
                  <a:schemeClr val="bg1"/>
                </a:solidFill>
                <a:latin typeface="Consolas"/>
              </a:rPr>
              <a:t>        draws=500, tune=500, chains=2,</a:t>
            </a:r>
          </a:p>
          <a:p>
            <a:pPr algn="l">
              <a:spcAft>
                <a:spcPts val="0"/>
              </a:spcAft>
            </a:pPr>
            <a:r>
              <a:rPr sz="1000" b="0" lang="en-GB">
                <a:solidFill>
                  <a:schemeClr val="bg1"/>
                </a:solidFill>
                <a:latin typeface="Consolas"/>
              </a:rPr>
              <a:t>        random_seed=1, progressbar=False)</a:t>
            </a:r>
          </a:p>
        </p:txBody>
      </p:sp>
      <p:sp>
        <p:nvSpPr>
          <p:cNvPr id="32" name="Ladder out 1-1"/>
          <p:cNvSpPr/>
          <p:nvPr/>
        </p:nvSpPr>
        <p:spPr>
          <a:xfrm>
            <a:off x="5074920" y="1682496"/>
            <a:ext cx="1979168" cy="329184"/>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Ladder out text 1-1"/>
          <p:cNvSpPr txBox="1"/>
          <p:nvPr/>
        </p:nvSpPr>
        <p:spPr>
          <a:xfrm>
            <a:off x="5166360" y="1682496"/>
            <a:ext cx="1796288" cy="329184"/>
          </a:xfrm>
          <a:prstGeom prst="rect">
            <a:avLst/>
          </a:prstGeom>
          <a:noFill/>
        </p:spPr>
        <p:txBody>
          <a:bodyPr wrap="square" lIns="0" rIns="0" tIns="0" bIns="0" anchor="ctr">
            <a:noAutofit/>
          </a:bodyPr>
          <a:lstStyle/>
          <a:p>
            <a:pPr algn="l">
              <a:spcAft>
                <a:spcPts val="400"/>
              </a:spcAft>
            </a:pPr>
            <a:r>
              <a:rPr sz="1150" b="1" lang="en-GB">
                <a:solidFill>
                  <a:schemeClr val="bg1"/>
                </a:solidFill>
              </a:rPr>
              <a:t>setting</a:t>
            </a:r>
          </a:p>
        </p:txBody>
      </p:sp>
      <p:sp>
        <p:nvSpPr>
          <p:cNvPr id="34" name="Ladder out 1-2"/>
          <p:cNvSpPr/>
          <p:nvPr/>
        </p:nvSpPr>
        <p:spPr>
          <a:xfrm>
            <a:off x="7081520" y="1682496"/>
            <a:ext cx="1605280" cy="329184"/>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Ladder out text 1-2"/>
          <p:cNvSpPr txBox="1"/>
          <p:nvPr/>
        </p:nvSpPr>
        <p:spPr>
          <a:xfrm>
            <a:off x="7172960" y="1682496"/>
            <a:ext cx="1394968" cy="329184"/>
          </a:xfrm>
          <a:prstGeom prst="rect">
            <a:avLst/>
          </a:prstGeom>
          <a:noFill/>
        </p:spPr>
        <p:txBody>
          <a:bodyPr wrap="square" lIns="0" rIns="0" tIns="0" bIns="0" anchor="ctr">
            <a:noAutofit/>
          </a:bodyPr>
          <a:lstStyle/>
          <a:p>
            <a:pPr algn="r">
              <a:spcAft>
                <a:spcPts val="400"/>
              </a:spcAft>
            </a:pPr>
            <a:r>
              <a:rPr sz="1150" b="1" lang="en-GB">
                <a:solidFill>
                  <a:schemeClr val="bg1"/>
                </a:solidFill>
              </a:rPr>
              <a:t>value</a:t>
            </a:r>
          </a:p>
        </p:txBody>
      </p:sp>
      <p:sp>
        <p:nvSpPr>
          <p:cNvPr id="36" name="Ladder out 2-1"/>
          <p:cNvSpPr/>
          <p:nvPr/>
        </p:nvSpPr>
        <p:spPr>
          <a:xfrm>
            <a:off x="5074920" y="2039112"/>
            <a:ext cx="1979168" cy="32918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Ladder out text 2-1"/>
          <p:cNvSpPr txBox="1"/>
          <p:nvPr/>
        </p:nvSpPr>
        <p:spPr>
          <a:xfrm>
            <a:off x="5166360" y="2039112"/>
            <a:ext cx="1796288" cy="329184"/>
          </a:xfrm>
          <a:prstGeom prst="rect">
            <a:avLst/>
          </a:prstGeom>
          <a:noFill/>
        </p:spPr>
        <p:txBody>
          <a:bodyPr wrap="square" lIns="0" rIns="0" tIns="0" bIns="0" anchor="ctr">
            <a:noAutofit/>
          </a:bodyPr>
          <a:lstStyle/>
          <a:p>
            <a:pPr algn="l">
              <a:spcAft>
                <a:spcPts val="400"/>
              </a:spcAft>
            </a:pPr>
            <a:r>
              <a:rPr sz="1150" b="1" lang="en-GB">
                <a:solidFill>
                  <a:schemeClr val="tx2"/>
                </a:solidFill>
              </a:rPr>
              <a:t>chains × draws</a:t>
            </a:r>
          </a:p>
        </p:txBody>
      </p:sp>
      <p:sp>
        <p:nvSpPr>
          <p:cNvPr id="38" name="Ladder out 2-2"/>
          <p:cNvSpPr/>
          <p:nvPr/>
        </p:nvSpPr>
        <p:spPr>
          <a:xfrm>
            <a:off x="7081520" y="2039112"/>
            <a:ext cx="1605280" cy="32918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Ladder out text 2-2"/>
          <p:cNvSpPr txBox="1"/>
          <p:nvPr/>
        </p:nvSpPr>
        <p:spPr>
          <a:xfrm>
            <a:off x="7172960" y="2039112"/>
            <a:ext cx="1394968" cy="329184"/>
          </a:xfrm>
          <a:prstGeom prst="rect">
            <a:avLst/>
          </a:prstGeom>
          <a:noFill/>
        </p:spPr>
        <p:txBody>
          <a:bodyPr wrap="square" lIns="0" rIns="0" tIns="0" bIns="0" anchor="ctr">
            <a:noAutofit/>
          </a:bodyPr>
          <a:lstStyle/>
          <a:p>
            <a:pPr algn="r">
              <a:spcAft>
                <a:spcPts val="400"/>
              </a:spcAft>
            </a:pPr>
            <a:r>
              <a:rPr sz="1150" b="0" lang="en-GB">
                <a:solidFill>
                  <a:schemeClr val="tx1"/>
                </a:solidFill>
              </a:rPr>
              <a:t>2 × 500</a:t>
            </a:r>
          </a:p>
        </p:txBody>
      </p:sp>
      <p:sp>
        <p:nvSpPr>
          <p:cNvPr id="40" name="Ladder out 3-1"/>
          <p:cNvSpPr/>
          <p:nvPr/>
        </p:nvSpPr>
        <p:spPr>
          <a:xfrm>
            <a:off x="5074920" y="2395728"/>
            <a:ext cx="1979168" cy="32918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Ladder out text 3-1"/>
          <p:cNvSpPr txBox="1"/>
          <p:nvPr/>
        </p:nvSpPr>
        <p:spPr>
          <a:xfrm>
            <a:off x="5166360" y="2395728"/>
            <a:ext cx="1796288" cy="329184"/>
          </a:xfrm>
          <a:prstGeom prst="rect">
            <a:avLst/>
          </a:prstGeom>
          <a:noFill/>
        </p:spPr>
        <p:txBody>
          <a:bodyPr wrap="square" lIns="0" rIns="0" tIns="0" bIns="0" anchor="ctr">
            <a:noAutofit/>
          </a:bodyPr>
          <a:lstStyle/>
          <a:p>
            <a:pPr algn="l">
              <a:spcAft>
                <a:spcPts val="400"/>
              </a:spcAft>
            </a:pPr>
            <a:r>
              <a:rPr sz="1150" b="1" lang="en-GB">
                <a:solidFill>
                  <a:schemeClr val="tx2"/>
                </a:solidFill>
              </a:rPr>
              <a:t>adstock window</a:t>
            </a:r>
          </a:p>
        </p:txBody>
      </p:sp>
      <p:sp>
        <p:nvSpPr>
          <p:cNvPr id="42" name="Ladder out 3-2"/>
          <p:cNvSpPr/>
          <p:nvPr/>
        </p:nvSpPr>
        <p:spPr>
          <a:xfrm>
            <a:off x="7081520" y="2395728"/>
            <a:ext cx="1605280" cy="32918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Ladder out text 3-2"/>
          <p:cNvSpPr txBox="1"/>
          <p:nvPr/>
        </p:nvSpPr>
        <p:spPr>
          <a:xfrm>
            <a:off x="7172960" y="2395728"/>
            <a:ext cx="1394968" cy="329184"/>
          </a:xfrm>
          <a:prstGeom prst="rect">
            <a:avLst/>
          </a:prstGeom>
          <a:noFill/>
        </p:spPr>
        <p:txBody>
          <a:bodyPr wrap="square" lIns="0" rIns="0" tIns="0" bIns="0" anchor="ctr">
            <a:noAutofit/>
          </a:bodyPr>
          <a:lstStyle/>
          <a:p>
            <a:pPr algn="r">
              <a:spcAft>
                <a:spcPts val="400"/>
              </a:spcAft>
            </a:pPr>
            <a:r>
              <a:rPr sz="1150" b="0" lang="en-GB">
                <a:solidFill>
                  <a:schemeClr val="tx1"/>
                </a:solidFill>
              </a:rPr>
              <a:t>6 weeks</a:t>
            </a:r>
          </a:p>
        </p:txBody>
      </p:sp>
      <p:sp>
        <p:nvSpPr>
          <p:cNvPr id="44" name="Ladder out 4-1"/>
          <p:cNvSpPr/>
          <p:nvPr/>
        </p:nvSpPr>
        <p:spPr>
          <a:xfrm>
            <a:off x="5074920" y="2752344"/>
            <a:ext cx="1979168" cy="32918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Ladder out text 4-1"/>
          <p:cNvSpPr txBox="1"/>
          <p:nvPr/>
        </p:nvSpPr>
        <p:spPr>
          <a:xfrm>
            <a:off x="5166360" y="2752344"/>
            <a:ext cx="1796288" cy="329184"/>
          </a:xfrm>
          <a:prstGeom prst="rect">
            <a:avLst/>
          </a:prstGeom>
          <a:noFill/>
        </p:spPr>
        <p:txBody>
          <a:bodyPr wrap="square" lIns="0" rIns="0" tIns="0" bIns="0" anchor="ctr">
            <a:noAutofit/>
          </a:bodyPr>
          <a:lstStyle/>
          <a:p>
            <a:pPr algn="l">
              <a:spcAft>
                <a:spcPts val="400"/>
              </a:spcAft>
            </a:pPr>
            <a:r>
              <a:rPr sz="1150" b="1" lang="en-GB">
                <a:solidFill>
                  <a:schemeClr val="tx2"/>
                </a:solidFill>
              </a:rPr>
              <a:t>season</a:t>
            </a:r>
          </a:p>
        </p:txBody>
      </p:sp>
      <p:sp>
        <p:nvSpPr>
          <p:cNvPr id="46" name="Ladder out 4-2"/>
          <p:cNvSpPr/>
          <p:nvPr/>
        </p:nvSpPr>
        <p:spPr>
          <a:xfrm>
            <a:off x="7081520" y="2752344"/>
            <a:ext cx="1605280" cy="32918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7" name="Ladder out text 4-2"/>
          <p:cNvSpPr txBox="1"/>
          <p:nvPr/>
        </p:nvSpPr>
        <p:spPr>
          <a:xfrm>
            <a:off x="7172960" y="2752344"/>
            <a:ext cx="1394968" cy="329184"/>
          </a:xfrm>
          <a:prstGeom prst="rect">
            <a:avLst/>
          </a:prstGeom>
          <a:noFill/>
        </p:spPr>
        <p:txBody>
          <a:bodyPr wrap="square" lIns="0" rIns="0" tIns="0" bIns="0" anchor="ctr">
            <a:noAutofit/>
          </a:bodyPr>
          <a:lstStyle/>
          <a:p>
            <a:pPr algn="r">
              <a:spcAft>
                <a:spcPts val="400"/>
              </a:spcAft>
            </a:pPr>
            <a:r>
              <a:rPr sz="1150" b="0" lang="en-GB">
                <a:solidFill>
                  <a:schemeClr val="tx1"/>
                </a:solidFill>
              </a:rPr>
              <a:t>yearly, 2 waves</a:t>
            </a:r>
          </a:p>
        </p:txBody>
      </p:sp>
      <p:sp>
        <p:nvSpPr>
          <p:cNvPr id="48" name="Ladder out 5-1"/>
          <p:cNvSpPr/>
          <p:nvPr/>
        </p:nvSpPr>
        <p:spPr>
          <a:xfrm>
            <a:off x="5074920" y="3108960"/>
            <a:ext cx="1979168" cy="32918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9" name="Ladder out text 5-1"/>
          <p:cNvSpPr txBox="1"/>
          <p:nvPr/>
        </p:nvSpPr>
        <p:spPr>
          <a:xfrm>
            <a:off x="5166360" y="3108960"/>
            <a:ext cx="1796288" cy="329184"/>
          </a:xfrm>
          <a:prstGeom prst="rect">
            <a:avLst/>
          </a:prstGeom>
          <a:noFill/>
        </p:spPr>
        <p:txBody>
          <a:bodyPr wrap="square" lIns="0" rIns="0" tIns="0" bIns="0" anchor="ctr">
            <a:noAutofit/>
          </a:bodyPr>
          <a:lstStyle/>
          <a:p>
            <a:pPr algn="l">
              <a:spcAft>
                <a:spcPts val="400"/>
              </a:spcAft>
            </a:pPr>
            <a:r>
              <a:rPr sz="1150" b="1" lang="en-GB">
                <a:solidFill>
                  <a:schemeClr val="tx2"/>
                </a:solidFill>
              </a:rPr>
              <a:t>runtime</a:t>
            </a:r>
          </a:p>
        </p:txBody>
      </p:sp>
      <p:sp>
        <p:nvSpPr>
          <p:cNvPr id="50" name="Ladder out 5-2"/>
          <p:cNvSpPr/>
          <p:nvPr/>
        </p:nvSpPr>
        <p:spPr>
          <a:xfrm>
            <a:off x="7081520" y="3108960"/>
            <a:ext cx="1605280" cy="32918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1" name="Ladder out text 5-2"/>
          <p:cNvSpPr txBox="1"/>
          <p:nvPr/>
        </p:nvSpPr>
        <p:spPr>
          <a:xfrm>
            <a:off x="7172960" y="3108960"/>
            <a:ext cx="1394968" cy="329184"/>
          </a:xfrm>
          <a:prstGeom prst="rect">
            <a:avLst/>
          </a:prstGeom>
          <a:noFill/>
        </p:spPr>
        <p:txBody>
          <a:bodyPr wrap="square" lIns="0" rIns="0" tIns="0" bIns="0" anchor="ctr">
            <a:noAutofit/>
          </a:bodyPr>
          <a:lstStyle/>
          <a:p>
            <a:pPr algn="r">
              <a:spcAft>
                <a:spcPts val="400"/>
              </a:spcAft>
            </a:pPr>
            <a:r>
              <a:rPr sz="1150" b="0" lang="en-GB">
                <a:solidFill>
                  <a:schemeClr val="tx1"/>
                </a:solidFill>
              </a:rPr>
              <a:t>about 25 s</a:t>
            </a:r>
          </a:p>
        </p:txBody>
      </p:sp>
      <p:sp>
        <p:nvSpPr>
          <p:cNvPr id="52" name="Ladder reading box"/>
          <p:cNvSpPr/>
          <p:nvPr/>
        </p:nvSpPr>
        <p:spPr>
          <a:xfrm>
            <a:off x="5074920" y="3575304"/>
            <a:ext cx="3611880" cy="92354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53" name="Icon Ladder reading" descr=""/>
          <p:cNvPicPr>
            <a:picLocks noChangeAspect="1"/>
          </p:cNvPicPr>
          <p:nvPr/>
        </p:nvPicPr>
        <p:blipFill>
          <a:blip r:embed="rId3"/>
          <a:stretch>
            <a:fillRect/>
          </a:stretch>
        </p:blipFill>
        <p:spPr>
          <a:xfrm>
            <a:off x="5276088" y="3854196"/>
            <a:ext cx="365760" cy="365760"/>
          </a:xfrm>
          <a:prstGeom prst="rect">
            <a:avLst/>
          </a:prstGeom>
        </p:spPr>
      </p:pic>
      <p:sp>
        <p:nvSpPr>
          <p:cNvPr id="54" name="Ladder reading text"/>
          <p:cNvSpPr txBox="1"/>
          <p:nvPr/>
        </p:nvSpPr>
        <p:spPr>
          <a:xfrm>
            <a:off x="5824728" y="3575304"/>
            <a:ext cx="2697480" cy="923544"/>
          </a:xfrm>
          <a:prstGeom prst="rect">
            <a:avLst/>
          </a:prstGeom>
          <a:noFill/>
        </p:spPr>
        <p:txBody>
          <a:bodyPr wrap="square" lIns="0" rIns="0" tIns="0" bIns="0" anchor="ctr">
            <a:noAutofit/>
          </a:bodyPr>
          <a:lstStyle/>
          <a:p>
            <a:pPr algn="l">
              <a:spcAft>
                <a:spcPts val="400"/>
              </a:spcAft>
            </a:pPr>
            <a:r>
              <a:rPr sz="1200" b="1" lang="en-GB">
                <a:solidFill>
                  <a:schemeClr val="tx2"/>
                </a:solidFill>
              </a:rPr>
              <a:t>One model, all at once: </a:t>
            </a:r>
            <a:r>
              <a:rPr sz="1200" b="0" lang="en-GB">
                <a:solidFill>
                  <a:schemeClr val="tx1"/>
                </a:solidFill>
              </a:rPr>
              <a:t>adstock, saturation, trend and season, with priors.</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Step 9: check and read</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Ladder step 1"/>
          <p:cNvSpPr/>
          <p:nvPr/>
        </p:nvSpPr>
        <p:spPr>
          <a:xfrm>
            <a:off x="457200" y="1234440"/>
            <a:ext cx="881888" cy="31089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Ladder step 1 text"/>
          <p:cNvSpPr txBox="1"/>
          <p:nvPr/>
        </p:nvSpPr>
        <p:spPr>
          <a:xfrm>
            <a:off x="457200" y="1234440"/>
            <a:ext cx="881888" cy="310896"/>
          </a:xfrm>
          <a:prstGeom prst="rect">
            <a:avLst/>
          </a:prstGeom>
          <a:noFill/>
        </p:spPr>
        <p:txBody>
          <a:bodyPr wrap="square" lIns="0" rIns="0" tIns="0" bIns="0" anchor="ctr">
            <a:noAutofit/>
          </a:bodyPr>
          <a:lstStyle/>
          <a:p>
            <a:pPr algn="ctr">
              <a:spcAft>
                <a:spcPts val="400"/>
              </a:spcAft>
            </a:pPr>
            <a:r>
              <a:rPr sz="1100" b="1" lang="en-GB">
                <a:solidFill>
                  <a:schemeClr val="tx2"/>
                </a:solidFill>
              </a:rPr>
              <a:t>1 Load</a:t>
            </a:r>
          </a:p>
        </p:txBody>
      </p:sp>
      <p:sp>
        <p:nvSpPr>
          <p:cNvPr id="12" name="Ladder step 2"/>
          <p:cNvSpPr/>
          <p:nvPr/>
        </p:nvSpPr>
        <p:spPr>
          <a:xfrm>
            <a:off x="1375664" y="1234440"/>
            <a:ext cx="881888" cy="31089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Ladder step 2 text"/>
          <p:cNvSpPr txBox="1"/>
          <p:nvPr/>
        </p:nvSpPr>
        <p:spPr>
          <a:xfrm>
            <a:off x="1375664" y="1234440"/>
            <a:ext cx="881888" cy="310896"/>
          </a:xfrm>
          <a:prstGeom prst="rect">
            <a:avLst/>
          </a:prstGeom>
          <a:noFill/>
        </p:spPr>
        <p:txBody>
          <a:bodyPr wrap="square" lIns="0" rIns="0" tIns="0" bIns="0" anchor="ctr">
            <a:noAutofit/>
          </a:bodyPr>
          <a:lstStyle/>
          <a:p>
            <a:pPr algn="ctr">
              <a:spcAft>
                <a:spcPts val="400"/>
              </a:spcAft>
            </a:pPr>
            <a:r>
              <a:rPr sz="1100" b="1" lang="en-GB">
                <a:solidFill>
                  <a:schemeClr val="tx2"/>
                </a:solidFill>
              </a:rPr>
              <a:t>2 Regress</a:t>
            </a:r>
          </a:p>
        </p:txBody>
      </p:sp>
      <p:sp>
        <p:nvSpPr>
          <p:cNvPr id="14" name="Ladder step 3"/>
          <p:cNvSpPr/>
          <p:nvPr/>
        </p:nvSpPr>
        <p:spPr>
          <a:xfrm>
            <a:off x="2294128" y="1234440"/>
            <a:ext cx="881888" cy="31089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Ladder step 3 text"/>
          <p:cNvSpPr txBox="1"/>
          <p:nvPr/>
        </p:nvSpPr>
        <p:spPr>
          <a:xfrm>
            <a:off x="2294128" y="1234440"/>
            <a:ext cx="881888" cy="310896"/>
          </a:xfrm>
          <a:prstGeom prst="rect">
            <a:avLst/>
          </a:prstGeom>
          <a:noFill/>
        </p:spPr>
        <p:txBody>
          <a:bodyPr wrap="square" lIns="0" rIns="0" tIns="0" bIns="0" anchor="ctr">
            <a:noAutofit/>
          </a:bodyPr>
          <a:lstStyle/>
          <a:p>
            <a:pPr algn="ctr">
              <a:spcAft>
                <a:spcPts val="400"/>
              </a:spcAft>
            </a:pPr>
            <a:r>
              <a:rPr sz="1100" b="1" lang="en-GB">
                <a:solidFill>
                  <a:schemeClr val="tx2"/>
                </a:solidFill>
              </a:rPr>
              <a:t>3 Trend</a:t>
            </a:r>
          </a:p>
        </p:txBody>
      </p:sp>
      <p:sp>
        <p:nvSpPr>
          <p:cNvPr id="16" name="Ladder step 4"/>
          <p:cNvSpPr/>
          <p:nvPr/>
        </p:nvSpPr>
        <p:spPr>
          <a:xfrm>
            <a:off x="3212592" y="1234440"/>
            <a:ext cx="881888" cy="31089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Ladder step 4 text"/>
          <p:cNvSpPr txBox="1"/>
          <p:nvPr/>
        </p:nvSpPr>
        <p:spPr>
          <a:xfrm>
            <a:off x="3212592" y="1234440"/>
            <a:ext cx="881888" cy="310896"/>
          </a:xfrm>
          <a:prstGeom prst="rect">
            <a:avLst/>
          </a:prstGeom>
          <a:noFill/>
        </p:spPr>
        <p:txBody>
          <a:bodyPr wrap="square" lIns="0" rIns="0" tIns="0" bIns="0" anchor="ctr">
            <a:noAutofit/>
          </a:bodyPr>
          <a:lstStyle/>
          <a:p>
            <a:pPr algn="ctr">
              <a:spcAft>
                <a:spcPts val="400"/>
              </a:spcAft>
            </a:pPr>
            <a:r>
              <a:rPr sz="1100" b="1" lang="en-GB">
                <a:solidFill>
                  <a:schemeClr val="tx2"/>
                </a:solidFill>
              </a:rPr>
              <a:t>4 Adstock</a:t>
            </a:r>
          </a:p>
        </p:txBody>
      </p:sp>
      <p:sp>
        <p:nvSpPr>
          <p:cNvPr id="18" name="Ladder step 5"/>
          <p:cNvSpPr/>
          <p:nvPr/>
        </p:nvSpPr>
        <p:spPr>
          <a:xfrm>
            <a:off x="4131056" y="1234440"/>
            <a:ext cx="881888" cy="31089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Ladder step 5 text"/>
          <p:cNvSpPr txBox="1"/>
          <p:nvPr/>
        </p:nvSpPr>
        <p:spPr>
          <a:xfrm>
            <a:off x="4131056" y="1234440"/>
            <a:ext cx="881888" cy="310896"/>
          </a:xfrm>
          <a:prstGeom prst="rect">
            <a:avLst/>
          </a:prstGeom>
          <a:noFill/>
        </p:spPr>
        <p:txBody>
          <a:bodyPr wrap="square" lIns="0" rIns="0" tIns="0" bIns="0" anchor="ctr">
            <a:noAutofit/>
          </a:bodyPr>
          <a:lstStyle/>
          <a:p>
            <a:pPr algn="ctr">
              <a:spcAft>
                <a:spcPts val="400"/>
              </a:spcAft>
            </a:pPr>
            <a:r>
              <a:rPr sz="1100" b="1" lang="en-GB">
                <a:solidFill>
                  <a:schemeClr val="tx2"/>
                </a:solidFill>
              </a:rPr>
              <a:t>5 Carry</a:t>
            </a:r>
          </a:p>
        </p:txBody>
      </p:sp>
      <p:sp>
        <p:nvSpPr>
          <p:cNvPr id="20" name="Ladder step 6"/>
          <p:cNvSpPr/>
          <p:nvPr/>
        </p:nvSpPr>
        <p:spPr>
          <a:xfrm>
            <a:off x="5049520" y="1234440"/>
            <a:ext cx="881888" cy="31089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Ladder step 6 text"/>
          <p:cNvSpPr txBox="1"/>
          <p:nvPr/>
        </p:nvSpPr>
        <p:spPr>
          <a:xfrm>
            <a:off x="5049520" y="1234440"/>
            <a:ext cx="881888" cy="310896"/>
          </a:xfrm>
          <a:prstGeom prst="rect">
            <a:avLst/>
          </a:prstGeom>
          <a:noFill/>
        </p:spPr>
        <p:txBody>
          <a:bodyPr wrap="square" lIns="0" rIns="0" tIns="0" bIns="0" anchor="ctr">
            <a:noAutofit/>
          </a:bodyPr>
          <a:lstStyle/>
          <a:p>
            <a:pPr algn="ctr">
              <a:spcAft>
                <a:spcPts val="400"/>
              </a:spcAft>
            </a:pPr>
            <a:r>
              <a:rPr sz="1100" b="1" lang="en-GB">
                <a:solidFill>
                  <a:schemeClr val="tx2"/>
                </a:solidFill>
              </a:rPr>
              <a:t>6 ROI</a:t>
            </a:r>
          </a:p>
        </p:txBody>
      </p:sp>
      <p:sp>
        <p:nvSpPr>
          <p:cNvPr id="22" name="Ladder step 7"/>
          <p:cNvSpPr/>
          <p:nvPr/>
        </p:nvSpPr>
        <p:spPr>
          <a:xfrm>
            <a:off x="5967984" y="1234440"/>
            <a:ext cx="881888" cy="31089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Ladder step 7 text"/>
          <p:cNvSpPr txBox="1"/>
          <p:nvPr/>
        </p:nvSpPr>
        <p:spPr>
          <a:xfrm>
            <a:off x="5967984" y="1234440"/>
            <a:ext cx="881888" cy="310896"/>
          </a:xfrm>
          <a:prstGeom prst="rect">
            <a:avLst/>
          </a:prstGeom>
          <a:noFill/>
        </p:spPr>
        <p:txBody>
          <a:bodyPr wrap="square" lIns="0" rIns="0" tIns="0" bIns="0" anchor="ctr">
            <a:noAutofit/>
          </a:bodyPr>
          <a:lstStyle/>
          <a:p>
            <a:pPr algn="ctr">
              <a:spcAft>
                <a:spcPts val="400"/>
              </a:spcAft>
            </a:pPr>
            <a:r>
              <a:rPr sz="1100" b="1" lang="en-GB">
                <a:solidFill>
                  <a:schemeClr val="tx2"/>
                </a:solidFill>
              </a:rPr>
              <a:t>7 Saturate</a:t>
            </a:r>
          </a:p>
        </p:txBody>
      </p:sp>
      <p:sp>
        <p:nvSpPr>
          <p:cNvPr id="24" name="Ladder step 8"/>
          <p:cNvSpPr/>
          <p:nvPr/>
        </p:nvSpPr>
        <p:spPr>
          <a:xfrm>
            <a:off x="6886448" y="1234440"/>
            <a:ext cx="881888" cy="31089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Ladder step 8 text"/>
          <p:cNvSpPr txBox="1"/>
          <p:nvPr/>
        </p:nvSpPr>
        <p:spPr>
          <a:xfrm>
            <a:off x="6886448" y="1234440"/>
            <a:ext cx="881888" cy="310896"/>
          </a:xfrm>
          <a:prstGeom prst="rect">
            <a:avLst/>
          </a:prstGeom>
          <a:noFill/>
        </p:spPr>
        <p:txBody>
          <a:bodyPr wrap="square" lIns="0" rIns="0" tIns="0" bIns="0" anchor="ctr">
            <a:noAutofit/>
          </a:bodyPr>
          <a:lstStyle/>
          <a:p>
            <a:pPr algn="ctr">
              <a:spcAft>
                <a:spcPts val="400"/>
              </a:spcAft>
            </a:pPr>
            <a:r>
              <a:rPr sz="1100" b="1" lang="en-GB">
                <a:solidFill>
                  <a:schemeClr val="tx2"/>
                </a:solidFill>
              </a:rPr>
              <a:t>8 PyMC</a:t>
            </a:r>
          </a:p>
        </p:txBody>
      </p:sp>
      <p:sp>
        <p:nvSpPr>
          <p:cNvPr id="26" name="Ladder step 9"/>
          <p:cNvSpPr/>
          <p:nvPr/>
        </p:nvSpPr>
        <p:spPr>
          <a:xfrm>
            <a:off x="7804912" y="1234440"/>
            <a:ext cx="881888" cy="310896"/>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Ladder step 9 text"/>
          <p:cNvSpPr txBox="1"/>
          <p:nvPr/>
        </p:nvSpPr>
        <p:spPr>
          <a:xfrm>
            <a:off x="7804912" y="1234440"/>
            <a:ext cx="881888" cy="310896"/>
          </a:xfrm>
          <a:prstGeom prst="rect">
            <a:avLst/>
          </a:prstGeom>
          <a:noFill/>
        </p:spPr>
        <p:txBody>
          <a:bodyPr wrap="square" lIns="0" rIns="0" tIns="0" bIns="0" anchor="ctr">
            <a:noAutofit/>
          </a:bodyPr>
          <a:lstStyle/>
          <a:p>
            <a:pPr algn="ctr">
              <a:spcAft>
                <a:spcPts val="400"/>
              </a:spcAft>
            </a:pPr>
            <a:r>
              <a:rPr sz="1100" b="1" lang="en-GB">
                <a:solidFill>
                  <a:schemeClr val="bg1"/>
                </a:solidFill>
              </a:rPr>
              <a:t>9 Read</a:t>
            </a:r>
          </a:p>
        </p:txBody>
      </p:sp>
      <p:sp>
        <p:nvSpPr>
          <p:cNvPr id="28" name="Ladder code caption bar"/>
          <p:cNvSpPr/>
          <p:nvPr/>
        </p:nvSpPr>
        <p:spPr>
          <a:xfrm>
            <a:off x="457200" y="1682496"/>
            <a:ext cx="4480560" cy="27432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Ladder code caption"/>
          <p:cNvSpPr txBox="1"/>
          <p:nvPr/>
        </p:nvSpPr>
        <p:spPr>
          <a:xfrm>
            <a:off x="566928" y="1682496"/>
            <a:ext cx="4261104" cy="274320"/>
          </a:xfrm>
          <a:prstGeom prst="rect">
            <a:avLst/>
          </a:prstGeom>
          <a:noFill/>
        </p:spPr>
        <p:txBody>
          <a:bodyPr wrap="square" lIns="0" rIns="0" tIns="0" bIns="0" anchor="ctr">
            <a:noAutofit/>
          </a:bodyPr>
          <a:lstStyle/>
          <a:p>
            <a:pPr algn="l">
              <a:spcAft>
                <a:spcPts val="400"/>
              </a:spcAft>
            </a:pPr>
            <a:r>
              <a:rPr sz="1100" b="1" lang="en-GB">
                <a:solidFill>
                  <a:schemeClr val="bg1"/>
                </a:solidFill>
              </a:rPr>
              <a:t>open_source_mmm.qmd · Step 9</a:t>
            </a:r>
          </a:p>
        </p:txBody>
      </p:sp>
      <p:sp>
        <p:nvSpPr>
          <p:cNvPr id="30" name="Ladder code box"/>
          <p:cNvSpPr/>
          <p:nvPr/>
        </p:nvSpPr>
        <p:spPr>
          <a:xfrm>
            <a:off x="457200" y="1956816"/>
            <a:ext cx="4480560" cy="1598371"/>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Ladder code code"/>
          <p:cNvSpPr txBox="1"/>
          <p:nvPr/>
        </p:nvSpPr>
        <p:spPr>
          <a:xfrm>
            <a:off x="594360" y="2048256"/>
            <a:ext cx="4206240" cy="1415491"/>
          </a:xfrm>
          <a:prstGeom prst="rect">
            <a:avLst/>
          </a:prstGeom>
          <a:noFill/>
        </p:spPr>
        <p:txBody>
          <a:bodyPr wrap="square" lIns="0" rIns="0" tIns="0" bIns="0" anchor="t">
            <a:noAutofit/>
          </a:bodyPr>
          <a:lstStyle/>
          <a:p>
            <a:pPr algn="l">
              <a:spcAft>
                <a:spcPts val="0"/>
              </a:spcAft>
            </a:pPr>
            <a:r>
              <a:rPr sz="1000" b="0" lang="en-GB">
                <a:solidFill>
                  <a:schemeClr val="bg1"/>
                </a:solidFill>
                <a:latin typeface="Consolas"/>
              </a:rPr>
              <a:t>import arviz as az</a:t>
            </a:r>
          </a:p>
          <a:p>
            <a:pPr algn="l">
              <a:spcAft>
                <a:spcPts val="0"/>
              </a:spcAft>
            </a:pPr>
            <a:r>
              <a:rPr sz="1000" b="0" lang="en-GB">
                <a:solidFill>
                  <a:schemeClr val="bg1"/>
                </a:solidFill>
                <a:latin typeface="Consolas"/>
              </a:rPr>
              <a:t> </a:t>
            </a:r>
          </a:p>
          <a:p>
            <a:pPr algn="l">
              <a:spcAft>
                <a:spcPts val="0"/>
              </a:spcAft>
            </a:pPr>
            <a:r>
              <a:rPr sz="1000" b="0" lang="en-GB">
                <a:solidFill>
                  <a:schemeClr val="bg1"/>
                </a:solidFill>
                <a:latin typeface="Consolas"/>
              </a:rPr>
              <a:t># the decay of each channel, with R-hat</a:t>
            </a:r>
          </a:p>
          <a:p>
            <a:pPr algn="l">
              <a:spcAft>
                <a:spcPts val="0"/>
              </a:spcAft>
            </a:pPr>
            <a:r>
              <a:rPr sz="1000" b="0" lang="en-GB">
                <a:solidFill>
                  <a:schemeClr val="bg1"/>
                </a:solidFill>
                <a:latin typeface="Consolas"/>
              </a:rPr>
              <a:t>print(az.summary(mmm.idata,</a:t>
            </a:r>
          </a:p>
          <a:p>
            <a:pPr algn="l">
              <a:spcAft>
                <a:spcPts val="0"/>
              </a:spcAft>
            </a:pPr>
            <a:r>
              <a:rPr sz="1000" b="0" lang="en-GB">
                <a:solidFill>
                  <a:schemeClr val="bg1"/>
                </a:solidFill>
                <a:latin typeface="Consolas"/>
              </a:rPr>
              <a:t>                 var_names=["adstock_alpha"]))</a:t>
            </a:r>
          </a:p>
          <a:p>
            <a:pPr algn="l">
              <a:spcAft>
                <a:spcPts val="0"/>
              </a:spcAft>
            </a:pPr>
            <a:r>
              <a:rPr sz="1000" b="0" lang="en-GB">
                <a:solidFill>
                  <a:schemeClr val="bg1"/>
                </a:solidFill>
                <a:latin typeface="Consolas"/>
              </a:rPr>
              <a:t> </a:t>
            </a:r>
          </a:p>
          <a:p>
            <a:pPr algn="l">
              <a:spcAft>
                <a:spcPts val="0"/>
              </a:spcAft>
            </a:pPr>
            <a:r>
              <a:rPr sz="1000" b="0" lang="en-GB">
                <a:solidFill>
                  <a:schemeClr val="bg1"/>
                </a:solidFill>
                <a:latin typeface="Consolas"/>
              </a:rPr>
              <a:t># ROI per channel: mean and 94 % interval</a:t>
            </a:r>
          </a:p>
          <a:p>
            <a:pPr algn="l">
              <a:spcAft>
                <a:spcPts val="0"/>
              </a:spcAft>
            </a:pPr>
            <a:r>
              <a:rPr sz="1000" b="0" lang="en-GB">
                <a:solidFill>
                  <a:schemeClr val="bg1"/>
                </a:solidFill>
                <a:latin typeface="Consolas"/>
              </a:rPr>
              <a:t>roi = mmm.summary.roas(frequency="all_time")</a:t>
            </a:r>
          </a:p>
          <a:p>
            <a:pPr algn="l">
              <a:spcAft>
                <a:spcPts val="0"/>
              </a:spcAft>
            </a:pPr>
            <a:r>
              <a:rPr sz="1000" b="0" lang="en-GB">
                <a:solidFill>
                  <a:schemeClr val="bg1"/>
                </a:solidFill>
                <a:latin typeface="Consolas"/>
              </a:rPr>
              <a:t>roi</a:t>
            </a:r>
          </a:p>
        </p:txBody>
      </p:sp>
      <p:sp>
        <p:nvSpPr>
          <p:cNvPr id="32" name="Ladder out 1-1"/>
          <p:cNvSpPr/>
          <p:nvPr/>
        </p:nvSpPr>
        <p:spPr>
          <a:xfrm>
            <a:off x="5074920" y="1682496"/>
            <a:ext cx="1389888" cy="329184"/>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Ladder out text 1-1"/>
          <p:cNvSpPr txBox="1"/>
          <p:nvPr/>
        </p:nvSpPr>
        <p:spPr>
          <a:xfrm>
            <a:off x="5166360" y="1682496"/>
            <a:ext cx="1207008" cy="329184"/>
          </a:xfrm>
          <a:prstGeom prst="rect">
            <a:avLst/>
          </a:prstGeom>
          <a:noFill/>
        </p:spPr>
        <p:txBody>
          <a:bodyPr wrap="square" lIns="0" rIns="0" tIns="0" bIns="0" anchor="ctr">
            <a:noAutofit/>
          </a:bodyPr>
          <a:lstStyle/>
          <a:p>
            <a:pPr algn="l">
              <a:spcAft>
                <a:spcPts val="400"/>
              </a:spcAft>
            </a:pPr>
            <a:r>
              <a:rPr sz="1150" b="1" lang="en-GB">
                <a:solidFill>
                  <a:schemeClr val="bg1"/>
                </a:solidFill>
              </a:rPr>
              <a:t>result</a:t>
            </a:r>
          </a:p>
        </p:txBody>
      </p:sp>
      <p:sp>
        <p:nvSpPr>
          <p:cNvPr id="34" name="Ladder out 1-2"/>
          <p:cNvSpPr/>
          <p:nvPr/>
        </p:nvSpPr>
        <p:spPr>
          <a:xfrm>
            <a:off x="6492240" y="1682496"/>
            <a:ext cx="1069848" cy="329184"/>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Ladder out text 1-2"/>
          <p:cNvSpPr txBox="1"/>
          <p:nvPr/>
        </p:nvSpPr>
        <p:spPr>
          <a:xfrm>
            <a:off x="6583680" y="1682496"/>
            <a:ext cx="886968" cy="329184"/>
          </a:xfrm>
          <a:prstGeom prst="rect">
            <a:avLst/>
          </a:prstGeom>
          <a:noFill/>
        </p:spPr>
        <p:txBody>
          <a:bodyPr wrap="square" lIns="0" rIns="0" tIns="0" bIns="0" anchor="ctr">
            <a:noAutofit/>
          </a:bodyPr>
          <a:lstStyle/>
          <a:p>
            <a:pPr algn="r">
              <a:spcAft>
                <a:spcPts val="400"/>
              </a:spcAft>
            </a:pPr>
            <a:r>
              <a:rPr sz="1150" b="1" lang="en-GB">
                <a:solidFill>
                  <a:schemeClr val="bg1"/>
                </a:solidFill>
              </a:rPr>
              <a:t>google</a:t>
            </a:r>
          </a:p>
        </p:txBody>
      </p:sp>
      <p:sp>
        <p:nvSpPr>
          <p:cNvPr id="36" name="Ladder out 1-3"/>
          <p:cNvSpPr/>
          <p:nvPr/>
        </p:nvSpPr>
        <p:spPr>
          <a:xfrm>
            <a:off x="7589520" y="1682496"/>
            <a:ext cx="1097280" cy="329184"/>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Ladder out text 1-3"/>
          <p:cNvSpPr txBox="1"/>
          <p:nvPr/>
        </p:nvSpPr>
        <p:spPr>
          <a:xfrm>
            <a:off x="7680960" y="1682496"/>
            <a:ext cx="886968" cy="329184"/>
          </a:xfrm>
          <a:prstGeom prst="rect">
            <a:avLst/>
          </a:prstGeom>
          <a:noFill/>
        </p:spPr>
        <p:txBody>
          <a:bodyPr wrap="square" lIns="0" rIns="0" tIns="0" bIns="0" anchor="ctr">
            <a:noAutofit/>
          </a:bodyPr>
          <a:lstStyle/>
          <a:p>
            <a:pPr algn="r">
              <a:spcAft>
                <a:spcPts val="400"/>
              </a:spcAft>
            </a:pPr>
            <a:r>
              <a:rPr sz="1150" b="1" lang="en-GB">
                <a:solidFill>
                  <a:schemeClr val="bg1"/>
                </a:solidFill>
              </a:rPr>
              <a:t>meta</a:t>
            </a:r>
          </a:p>
        </p:txBody>
      </p:sp>
      <p:sp>
        <p:nvSpPr>
          <p:cNvPr id="38" name="Ladder out 2-1"/>
          <p:cNvSpPr/>
          <p:nvPr/>
        </p:nvSpPr>
        <p:spPr>
          <a:xfrm>
            <a:off x="5074920" y="2039112"/>
            <a:ext cx="1389888" cy="32918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Ladder out text 2-1"/>
          <p:cNvSpPr txBox="1"/>
          <p:nvPr/>
        </p:nvSpPr>
        <p:spPr>
          <a:xfrm>
            <a:off x="5166360" y="2039112"/>
            <a:ext cx="1207008" cy="329184"/>
          </a:xfrm>
          <a:prstGeom prst="rect">
            <a:avLst/>
          </a:prstGeom>
          <a:noFill/>
        </p:spPr>
        <p:txBody>
          <a:bodyPr wrap="square" lIns="0" rIns="0" tIns="0" bIns="0" anchor="ctr">
            <a:noAutofit/>
          </a:bodyPr>
          <a:lstStyle/>
          <a:p>
            <a:pPr algn="l">
              <a:spcAft>
                <a:spcPts val="400"/>
              </a:spcAft>
            </a:pPr>
            <a:r>
              <a:rPr sz="1150" b="1" lang="en-GB">
                <a:solidFill>
                  <a:schemeClr val="tx2"/>
                </a:solidFill>
              </a:rPr>
              <a:t>decay</a:t>
            </a:r>
          </a:p>
        </p:txBody>
      </p:sp>
      <p:sp>
        <p:nvSpPr>
          <p:cNvPr id="40" name="Ladder out 2-2"/>
          <p:cNvSpPr/>
          <p:nvPr/>
        </p:nvSpPr>
        <p:spPr>
          <a:xfrm>
            <a:off x="6492240" y="2039112"/>
            <a:ext cx="1069848" cy="32918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Ladder out text 2-2"/>
          <p:cNvSpPr txBox="1"/>
          <p:nvPr/>
        </p:nvSpPr>
        <p:spPr>
          <a:xfrm>
            <a:off x="6583680" y="2039112"/>
            <a:ext cx="886968" cy="329184"/>
          </a:xfrm>
          <a:prstGeom prst="rect">
            <a:avLst/>
          </a:prstGeom>
          <a:noFill/>
        </p:spPr>
        <p:txBody>
          <a:bodyPr wrap="square" lIns="0" rIns="0" tIns="0" bIns="0" anchor="ctr">
            <a:noAutofit/>
          </a:bodyPr>
          <a:lstStyle/>
          <a:p>
            <a:pPr algn="r">
              <a:spcAft>
                <a:spcPts val="400"/>
              </a:spcAft>
            </a:pPr>
            <a:r>
              <a:rPr sz="1150" b="0" lang="en-GB">
                <a:solidFill>
                  <a:schemeClr val="tx1"/>
                </a:solidFill>
              </a:rPr>
              <a:t>0.05</a:t>
            </a:r>
          </a:p>
        </p:txBody>
      </p:sp>
      <p:sp>
        <p:nvSpPr>
          <p:cNvPr id="42" name="Ladder out 2-3"/>
          <p:cNvSpPr/>
          <p:nvPr/>
        </p:nvSpPr>
        <p:spPr>
          <a:xfrm>
            <a:off x="7589520" y="2039112"/>
            <a:ext cx="1097280" cy="32918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Ladder out text 2-3"/>
          <p:cNvSpPr txBox="1"/>
          <p:nvPr/>
        </p:nvSpPr>
        <p:spPr>
          <a:xfrm>
            <a:off x="7680960" y="2039112"/>
            <a:ext cx="886968" cy="329184"/>
          </a:xfrm>
          <a:prstGeom prst="rect">
            <a:avLst/>
          </a:prstGeom>
          <a:noFill/>
        </p:spPr>
        <p:txBody>
          <a:bodyPr wrap="square" lIns="0" rIns="0" tIns="0" bIns="0" anchor="ctr">
            <a:noAutofit/>
          </a:bodyPr>
          <a:lstStyle/>
          <a:p>
            <a:pPr algn="r">
              <a:spcAft>
                <a:spcPts val="400"/>
              </a:spcAft>
            </a:pPr>
            <a:r>
              <a:rPr sz="1150" b="0" lang="en-GB">
                <a:solidFill>
                  <a:schemeClr val="tx1"/>
                </a:solidFill>
              </a:rPr>
              <a:t>0.11</a:t>
            </a:r>
          </a:p>
        </p:txBody>
      </p:sp>
      <p:sp>
        <p:nvSpPr>
          <p:cNvPr id="44" name="Ladder out 3-1"/>
          <p:cNvSpPr/>
          <p:nvPr/>
        </p:nvSpPr>
        <p:spPr>
          <a:xfrm>
            <a:off x="5074920" y="2395728"/>
            <a:ext cx="1389888" cy="32918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Ladder out text 3-1"/>
          <p:cNvSpPr txBox="1"/>
          <p:nvPr/>
        </p:nvSpPr>
        <p:spPr>
          <a:xfrm>
            <a:off x="5166360" y="2395728"/>
            <a:ext cx="1207008" cy="329184"/>
          </a:xfrm>
          <a:prstGeom prst="rect">
            <a:avLst/>
          </a:prstGeom>
          <a:noFill/>
        </p:spPr>
        <p:txBody>
          <a:bodyPr wrap="square" lIns="0" rIns="0" tIns="0" bIns="0" anchor="ctr">
            <a:noAutofit/>
          </a:bodyPr>
          <a:lstStyle/>
          <a:p>
            <a:pPr algn="l">
              <a:spcAft>
                <a:spcPts val="400"/>
              </a:spcAft>
            </a:pPr>
            <a:r>
              <a:rPr sz="1150" b="1" lang="en-GB">
                <a:solidFill>
                  <a:schemeClr val="tx2"/>
                </a:solidFill>
              </a:rPr>
              <a:t>R-hat</a:t>
            </a:r>
          </a:p>
        </p:txBody>
      </p:sp>
      <p:sp>
        <p:nvSpPr>
          <p:cNvPr id="46" name="Ladder out 3-2"/>
          <p:cNvSpPr/>
          <p:nvPr/>
        </p:nvSpPr>
        <p:spPr>
          <a:xfrm>
            <a:off x="6492240" y="2395728"/>
            <a:ext cx="1069848" cy="32918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7" name="Ladder out text 3-2"/>
          <p:cNvSpPr txBox="1"/>
          <p:nvPr/>
        </p:nvSpPr>
        <p:spPr>
          <a:xfrm>
            <a:off x="6583680" y="2395728"/>
            <a:ext cx="886968" cy="329184"/>
          </a:xfrm>
          <a:prstGeom prst="rect">
            <a:avLst/>
          </a:prstGeom>
          <a:noFill/>
        </p:spPr>
        <p:txBody>
          <a:bodyPr wrap="square" lIns="0" rIns="0" tIns="0" bIns="0" anchor="ctr">
            <a:noAutofit/>
          </a:bodyPr>
          <a:lstStyle/>
          <a:p>
            <a:pPr algn="r">
              <a:spcAft>
                <a:spcPts val="400"/>
              </a:spcAft>
            </a:pPr>
            <a:r>
              <a:rPr sz="1150" b="0" lang="en-GB">
                <a:solidFill>
                  <a:schemeClr val="tx1"/>
                </a:solidFill>
              </a:rPr>
              <a:t>1.00</a:t>
            </a:r>
          </a:p>
        </p:txBody>
      </p:sp>
      <p:sp>
        <p:nvSpPr>
          <p:cNvPr id="48" name="Ladder out 3-3"/>
          <p:cNvSpPr/>
          <p:nvPr/>
        </p:nvSpPr>
        <p:spPr>
          <a:xfrm>
            <a:off x="7589520" y="2395728"/>
            <a:ext cx="1097280" cy="32918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9" name="Ladder out text 3-3"/>
          <p:cNvSpPr txBox="1"/>
          <p:nvPr/>
        </p:nvSpPr>
        <p:spPr>
          <a:xfrm>
            <a:off x="7680960" y="2395728"/>
            <a:ext cx="886968" cy="329184"/>
          </a:xfrm>
          <a:prstGeom prst="rect">
            <a:avLst/>
          </a:prstGeom>
          <a:noFill/>
        </p:spPr>
        <p:txBody>
          <a:bodyPr wrap="square" lIns="0" rIns="0" tIns="0" bIns="0" anchor="ctr">
            <a:noAutofit/>
          </a:bodyPr>
          <a:lstStyle/>
          <a:p>
            <a:pPr algn="r">
              <a:spcAft>
                <a:spcPts val="400"/>
              </a:spcAft>
            </a:pPr>
            <a:r>
              <a:rPr sz="1150" b="0" lang="en-GB">
                <a:solidFill>
                  <a:schemeClr val="tx1"/>
                </a:solidFill>
              </a:rPr>
              <a:t>1.00</a:t>
            </a:r>
          </a:p>
        </p:txBody>
      </p:sp>
      <p:sp>
        <p:nvSpPr>
          <p:cNvPr id="50" name="Ladder out 4-1"/>
          <p:cNvSpPr/>
          <p:nvPr/>
        </p:nvSpPr>
        <p:spPr>
          <a:xfrm>
            <a:off x="5074920" y="2752344"/>
            <a:ext cx="1389888" cy="32918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1" name="Ladder out text 4-1"/>
          <p:cNvSpPr txBox="1"/>
          <p:nvPr/>
        </p:nvSpPr>
        <p:spPr>
          <a:xfrm>
            <a:off x="5166360" y="2752344"/>
            <a:ext cx="1207008" cy="329184"/>
          </a:xfrm>
          <a:prstGeom prst="rect">
            <a:avLst/>
          </a:prstGeom>
          <a:noFill/>
        </p:spPr>
        <p:txBody>
          <a:bodyPr wrap="square" lIns="0" rIns="0" tIns="0" bIns="0" anchor="ctr">
            <a:noAutofit/>
          </a:bodyPr>
          <a:lstStyle/>
          <a:p>
            <a:pPr algn="l">
              <a:spcAft>
                <a:spcPts val="400"/>
              </a:spcAft>
            </a:pPr>
            <a:r>
              <a:rPr sz="1150" b="1" lang="en-GB">
                <a:solidFill>
                  <a:schemeClr val="tx2"/>
                </a:solidFill>
              </a:rPr>
              <a:t>ROI</a:t>
            </a:r>
          </a:p>
        </p:txBody>
      </p:sp>
      <p:sp>
        <p:nvSpPr>
          <p:cNvPr id="52" name="Ladder out 4-2"/>
          <p:cNvSpPr/>
          <p:nvPr/>
        </p:nvSpPr>
        <p:spPr>
          <a:xfrm>
            <a:off x="6492240" y="2752344"/>
            <a:ext cx="1069848" cy="32918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3" name="Ladder out text 4-2"/>
          <p:cNvSpPr txBox="1"/>
          <p:nvPr/>
        </p:nvSpPr>
        <p:spPr>
          <a:xfrm>
            <a:off x="6583680" y="2752344"/>
            <a:ext cx="886968" cy="329184"/>
          </a:xfrm>
          <a:prstGeom prst="rect">
            <a:avLst/>
          </a:prstGeom>
          <a:noFill/>
        </p:spPr>
        <p:txBody>
          <a:bodyPr wrap="square" lIns="0" rIns="0" tIns="0" bIns="0" anchor="ctr">
            <a:noAutofit/>
          </a:bodyPr>
          <a:lstStyle/>
          <a:p>
            <a:pPr algn="r">
              <a:spcAft>
                <a:spcPts val="400"/>
              </a:spcAft>
            </a:pPr>
            <a:r>
              <a:rPr sz="1150" b="0" lang="en-GB">
                <a:solidFill>
                  <a:schemeClr val="tx1"/>
                </a:solidFill>
              </a:rPr>
              <a:t>3.38</a:t>
            </a:r>
          </a:p>
        </p:txBody>
      </p:sp>
      <p:sp>
        <p:nvSpPr>
          <p:cNvPr id="54" name="Ladder out 4-3"/>
          <p:cNvSpPr/>
          <p:nvPr/>
        </p:nvSpPr>
        <p:spPr>
          <a:xfrm>
            <a:off x="7589520" y="2752344"/>
            <a:ext cx="1097280" cy="32918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5" name="Ladder out text 4-3"/>
          <p:cNvSpPr txBox="1"/>
          <p:nvPr/>
        </p:nvSpPr>
        <p:spPr>
          <a:xfrm>
            <a:off x="7680960" y="2752344"/>
            <a:ext cx="886968" cy="329184"/>
          </a:xfrm>
          <a:prstGeom prst="rect">
            <a:avLst/>
          </a:prstGeom>
          <a:noFill/>
        </p:spPr>
        <p:txBody>
          <a:bodyPr wrap="square" lIns="0" rIns="0" tIns="0" bIns="0" anchor="ctr">
            <a:noAutofit/>
          </a:bodyPr>
          <a:lstStyle/>
          <a:p>
            <a:pPr algn="r">
              <a:spcAft>
                <a:spcPts val="400"/>
              </a:spcAft>
            </a:pPr>
            <a:r>
              <a:rPr sz="1150" b="0" lang="en-GB">
                <a:solidFill>
                  <a:schemeClr val="tx1"/>
                </a:solidFill>
              </a:rPr>
              <a:t>9.45</a:t>
            </a:r>
          </a:p>
        </p:txBody>
      </p:sp>
      <p:sp>
        <p:nvSpPr>
          <p:cNvPr id="56" name="Ladder out 5-1"/>
          <p:cNvSpPr/>
          <p:nvPr/>
        </p:nvSpPr>
        <p:spPr>
          <a:xfrm>
            <a:off x="5074920" y="3108960"/>
            <a:ext cx="1389888" cy="32918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7" name="Ladder out text 5-1"/>
          <p:cNvSpPr txBox="1"/>
          <p:nvPr/>
        </p:nvSpPr>
        <p:spPr>
          <a:xfrm>
            <a:off x="5166360" y="3108960"/>
            <a:ext cx="1207008" cy="329184"/>
          </a:xfrm>
          <a:prstGeom prst="rect">
            <a:avLst/>
          </a:prstGeom>
          <a:noFill/>
        </p:spPr>
        <p:txBody>
          <a:bodyPr wrap="square" lIns="0" rIns="0" tIns="0" bIns="0" anchor="ctr">
            <a:noAutofit/>
          </a:bodyPr>
          <a:lstStyle/>
          <a:p>
            <a:pPr algn="l">
              <a:spcAft>
                <a:spcPts val="400"/>
              </a:spcAft>
            </a:pPr>
            <a:r>
              <a:rPr sz="1150" b="1" lang="en-GB">
                <a:solidFill>
                  <a:schemeClr val="tx2"/>
                </a:solidFill>
              </a:rPr>
              <a:t>94 % interval</a:t>
            </a:r>
          </a:p>
        </p:txBody>
      </p:sp>
      <p:sp>
        <p:nvSpPr>
          <p:cNvPr id="58" name="Ladder out 5-2"/>
          <p:cNvSpPr/>
          <p:nvPr/>
        </p:nvSpPr>
        <p:spPr>
          <a:xfrm>
            <a:off x="6492240" y="3108960"/>
            <a:ext cx="1069848" cy="32918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9" name="Ladder out text 5-2"/>
          <p:cNvSpPr txBox="1"/>
          <p:nvPr/>
        </p:nvSpPr>
        <p:spPr>
          <a:xfrm>
            <a:off x="6583680" y="3108960"/>
            <a:ext cx="886968" cy="329184"/>
          </a:xfrm>
          <a:prstGeom prst="rect">
            <a:avLst/>
          </a:prstGeom>
          <a:noFill/>
        </p:spPr>
        <p:txBody>
          <a:bodyPr wrap="square" lIns="0" rIns="0" tIns="0" bIns="0" anchor="ctr">
            <a:noAutofit/>
          </a:bodyPr>
          <a:lstStyle/>
          <a:p>
            <a:pPr algn="r">
              <a:spcAft>
                <a:spcPts val="400"/>
              </a:spcAft>
            </a:pPr>
            <a:r>
              <a:rPr sz="1150" b="0" lang="en-GB">
                <a:solidFill>
                  <a:schemeClr val="tx1"/>
                </a:solidFill>
              </a:rPr>
              <a:t>2.33–4.65</a:t>
            </a:r>
          </a:p>
        </p:txBody>
      </p:sp>
      <p:sp>
        <p:nvSpPr>
          <p:cNvPr id="60" name="Ladder out 5-3"/>
          <p:cNvSpPr/>
          <p:nvPr/>
        </p:nvSpPr>
        <p:spPr>
          <a:xfrm>
            <a:off x="7589520" y="3108960"/>
            <a:ext cx="1097280" cy="32918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1" name="Ladder out text 5-3"/>
          <p:cNvSpPr txBox="1"/>
          <p:nvPr/>
        </p:nvSpPr>
        <p:spPr>
          <a:xfrm>
            <a:off x="7680960" y="3108960"/>
            <a:ext cx="886968" cy="329184"/>
          </a:xfrm>
          <a:prstGeom prst="rect">
            <a:avLst/>
          </a:prstGeom>
          <a:noFill/>
        </p:spPr>
        <p:txBody>
          <a:bodyPr wrap="square" lIns="0" rIns="0" tIns="0" bIns="0" anchor="ctr">
            <a:noAutofit/>
          </a:bodyPr>
          <a:lstStyle/>
          <a:p>
            <a:pPr algn="r">
              <a:spcAft>
                <a:spcPts val="400"/>
              </a:spcAft>
            </a:pPr>
            <a:r>
              <a:rPr sz="1150" b="0" lang="en-GB">
                <a:solidFill>
                  <a:schemeClr val="tx1"/>
                </a:solidFill>
              </a:rPr>
              <a:t>6.66–12.18</a:t>
            </a:r>
          </a:p>
        </p:txBody>
      </p:sp>
      <p:sp>
        <p:nvSpPr>
          <p:cNvPr id="62" name="Ladder reading box"/>
          <p:cNvSpPr/>
          <p:nvPr/>
        </p:nvSpPr>
        <p:spPr>
          <a:xfrm>
            <a:off x="457200" y="3738067"/>
            <a:ext cx="8229600" cy="4572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63" name="Icon Ladder reading" descr=""/>
          <p:cNvPicPr>
            <a:picLocks noChangeAspect="1"/>
          </p:cNvPicPr>
          <p:nvPr/>
        </p:nvPicPr>
        <p:blipFill>
          <a:blip r:embed="rId3"/>
          <a:stretch>
            <a:fillRect/>
          </a:stretch>
        </p:blipFill>
        <p:spPr>
          <a:xfrm>
            <a:off x="658368" y="3783787"/>
            <a:ext cx="365760" cy="365760"/>
          </a:xfrm>
          <a:prstGeom prst="rect">
            <a:avLst/>
          </a:prstGeom>
        </p:spPr>
      </p:pic>
      <p:sp>
        <p:nvSpPr>
          <p:cNvPr id="64" name="Ladder reading text"/>
          <p:cNvSpPr txBox="1"/>
          <p:nvPr/>
        </p:nvSpPr>
        <p:spPr>
          <a:xfrm>
            <a:off x="1207008" y="3738067"/>
            <a:ext cx="7315200" cy="457200"/>
          </a:xfrm>
          <a:prstGeom prst="rect">
            <a:avLst/>
          </a:prstGeom>
          <a:noFill/>
        </p:spPr>
        <p:txBody>
          <a:bodyPr wrap="square" lIns="0" rIns="0" tIns="0" bIns="0" anchor="ctr">
            <a:noAutofit/>
          </a:bodyPr>
          <a:lstStyle/>
          <a:p>
            <a:pPr algn="l">
              <a:spcAft>
                <a:spcPts val="400"/>
              </a:spcAft>
            </a:pPr>
            <a:r>
              <a:rPr sz="1200" b="1" lang="en-GB">
                <a:solidFill>
                  <a:schemeClr val="tx2"/>
                </a:solidFill>
              </a:rPr>
              <a:t>Same ranking as OLS, now with a range: </a:t>
            </a:r>
            <a:r>
              <a:rPr sz="1200" b="0" lang="en-GB">
                <a:solidFill>
                  <a:schemeClr val="tx1"/>
                </a:solidFill>
              </a:rPr>
              <a:t>and Meta's decay is 0.11, not 0.5.</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1" sz="quarter"/>
          </p:nvPr>
        </p:nvSpPr>
        <p:spPr>
          <a:xfrm>
            <a:ext cx="5747702" cy="0"/>
          </a:xfrm>
        </p:spPr>
        <p:txBody>
          <a:bodyPr/>
          <a:lstStyle/>
          <a:p>
            <a:r>
              <a:rPr lang="en-GB"/>
              <a:t>Part 6 of 6 · quiz, four tasks, no coding</a:t>
            </a:r>
          </a:p>
        </p:txBody>
      </p:sp>
      <p:sp>
        <p:nvSpPr>
          <p:cNvPr id="3" name="Title 2"/>
          <p:cNvSpPr>
            <a:spLocks noGrp="1"/>
          </p:cNvSpPr>
          <p:nvPr>
            <p:ph type="ctrTitle"/>
          </p:nvPr>
        </p:nvSpPr>
        <p:spPr/>
        <p:txBody>
          <a:bodyPr/>
          <a:lstStyle/>
          <a:p>
            <a:r>
              <a:rPr lang="en-GB"/>
              <a:t>In-class assignment</a:t>
            </a:r>
          </a:p>
        </p:txBody>
      </p:sp>
      <p:sp>
        <p:nvSpPr>
          <p:cNvPr id="3" name="Fußzeilenplatzhalter 2"/>
          <p:cNvSpPr>
            <a:spLocks noGrp="1"/>
          </p:cNvSpPr>
          <p:nvPr>
            <p:ph type="ftr" sz="quarter" idx="14"/>
          </p:nvPr>
        </p:nvSpPr>
        <p:spPr/>
        <p:txBody>
          <a:bodyPr/>
          <a:lstStyle/>
          <a:p>
            <a:r>
              <a:rPr lang="en-GB"/>
              <a:t>International Marketing Analytics · WT 2026/27</a:t>
            </a:r>
          </a:p>
        </p:txBody>
      </p:sp>
      <p:sp>
        <p:nvSpPr>
          <p:cNvPr id="6" name="Foliennummernplatzhalter 5"/>
          <p:cNvSpPr>
            <a:spLocks noGrp="1"/>
          </p:cNvSpPr>
          <p:nvPr>
            <p:ph type="sldNum" sz="quarter" idx="15"/>
          </p:nvPr>
        </p:nvSpPr>
        <p:spPr/>
        <p:txBody>
          <a:bodyPr/>
          <a:lstStyle/>
          <a:p>
            <a:r>
              <a:rPr lang="en-GB" dirty="0"/>
              <a:t>Page </a:t>
            </a:r>
            <a:fld id="{BE3DC40E-DBBE-4E2D-9EEC-FBF0DA0E9179}" type="slidenum">
              <a:rPr lang="en-GB" smtClean="0"/>
              <a:pPr/>
              <a:t>‹Nr.›</a:t>
            </a:fld>
            <a:endParaRPr lang="en-GB" dirty="0"/>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Online quiz: MMM in five questions</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Quiz row 1"/>
          <p:cNvSpPr/>
          <p:nvPr/>
        </p:nvSpPr>
        <p:spPr>
          <a:xfrm>
            <a:off x="457200" y="1234440"/>
            <a:ext cx="8229600" cy="58521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Quiz bar 1"/>
          <p:cNvSpPr/>
          <p:nvPr/>
        </p:nvSpPr>
        <p:spPr>
          <a:xfrm>
            <a:off x="457200" y="1234440"/>
            <a:ext cx="64008" cy="585216"/>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Quiz text 1"/>
          <p:cNvSpPr txBox="1"/>
          <p:nvPr/>
        </p:nvSpPr>
        <p:spPr>
          <a:xfrm>
            <a:off x="658368" y="1234440"/>
            <a:ext cx="7955280" cy="585216"/>
          </a:xfrm>
          <a:prstGeom prst="rect">
            <a:avLst/>
          </a:prstGeom>
          <a:noFill/>
        </p:spPr>
        <p:txBody>
          <a:bodyPr wrap="square" lIns="0" rIns="0" tIns="0" bIns="0" anchor="ctr">
            <a:noAutofit/>
          </a:bodyPr>
          <a:lstStyle/>
          <a:p>
            <a:pPr algn="l">
              <a:spcAft>
                <a:spcPts val="100"/>
              </a:spcAft>
            </a:pPr>
            <a:r>
              <a:rPr sz="1200" b="1" lang="en-GB">
                <a:solidFill>
                  <a:schemeClr val="tx2"/>
                </a:solidFill>
              </a:rPr>
              <a:t>1  Decay 0.5, last week's adstock 6, spend this week 10. This week's adstock is …</a:t>
            </a:r>
          </a:p>
          <a:p>
            <a:pPr algn="l">
              <a:spcAft>
                <a:spcPts val="100"/>
              </a:spcAft>
            </a:pPr>
            <a:r>
              <a:rPr sz="1200" b="0" lang="en-GB">
                <a:solidFill>
                  <a:schemeClr val="tx1"/>
                </a:solidFill>
              </a:rPr>
              <a:t>A  16     B  13     C  8</a:t>
            </a:r>
          </a:p>
        </p:txBody>
      </p:sp>
      <p:sp>
        <p:nvSpPr>
          <p:cNvPr id="13" name="Quiz row 2"/>
          <p:cNvSpPr/>
          <p:nvPr/>
        </p:nvSpPr>
        <p:spPr>
          <a:xfrm>
            <a:off x="457200" y="1892808"/>
            <a:ext cx="8229600" cy="58521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Quiz bar 2"/>
          <p:cNvSpPr/>
          <p:nvPr/>
        </p:nvSpPr>
        <p:spPr>
          <a:xfrm>
            <a:off x="457200" y="1892808"/>
            <a:ext cx="64008" cy="585216"/>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Quiz text 2"/>
          <p:cNvSpPr txBox="1"/>
          <p:nvPr/>
        </p:nvSpPr>
        <p:spPr>
          <a:xfrm>
            <a:off x="658368" y="1892808"/>
            <a:ext cx="7955280" cy="585216"/>
          </a:xfrm>
          <a:prstGeom prst="rect">
            <a:avLst/>
          </a:prstGeom>
          <a:noFill/>
        </p:spPr>
        <p:txBody>
          <a:bodyPr wrap="square" lIns="0" rIns="0" tIns="0" bIns="0" anchor="ctr">
            <a:noAutofit/>
          </a:bodyPr>
          <a:lstStyle/>
          <a:p>
            <a:pPr algn="l">
              <a:spcAft>
                <a:spcPts val="100"/>
              </a:spcAft>
            </a:pPr>
            <a:r>
              <a:rPr sz="1200" b="1" lang="en-GB">
                <a:solidFill>
                  <a:schemeClr val="tx2"/>
                </a:solidFill>
              </a:rPr>
              <a:t>2  A channel brought 120 k EUR of sales for 40 k EUR of spend. Its ROI is …</a:t>
            </a:r>
          </a:p>
          <a:p>
            <a:pPr algn="l">
              <a:spcAft>
                <a:spcPts val="100"/>
              </a:spcAft>
            </a:pPr>
            <a:r>
              <a:rPr sz="1200" b="0" lang="en-GB">
                <a:solidFill>
                  <a:schemeClr val="tx1"/>
                </a:solidFill>
              </a:rPr>
              <a:t>A  0.33     B  3.00     C  80</a:t>
            </a:r>
          </a:p>
        </p:txBody>
      </p:sp>
      <p:sp>
        <p:nvSpPr>
          <p:cNvPr id="16" name="Quiz row 3"/>
          <p:cNvSpPr/>
          <p:nvPr/>
        </p:nvSpPr>
        <p:spPr>
          <a:xfrm>
            <a:off x="457200" y="2551176"/>
            <a:ext cx="8229600" cy="58521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Quiz bar 3"/>
          <p:cNvSpPr/>
          <p:nvPr/>
        </p:nvSpPr>
        <p:spPr>
          <a:xfrm>
            <a:off x="457200" y="2551176"/>
            <a:ext cx="64008" cy="585216"/>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Quiz text 3"/>
          <p:cNvSpPr txBox="1"/>
          <p:nvPr/>
        </p:nvSpPr>
        <p:spPr>
          <a:xfrm>
            <a:off x="658368" y="2551176"/>
            <a:ext cx="7955280" cy="585216"/>
          </a:xfrm>
          <a:prstGeom prst="rect">
            <a:avLst/>
          </a:prstGeom>
          <a:noFill/>
        </p:spPr>
        <p:txBody>
          <a:bodyPr wrap="square" lIns="0" rIns="0" tIns="0" bIns="0" anchor="ctr">
            <a:noAutofit/>
          </a:bodyPr>
          <a:lstStyle/>
          <a:p>
            <a:pPr algn="l">
              <a:spcAft>
                <a:spcPts val="100"/>
              </a:spcAft>
            </a:pPr>
            <a:r>
              <a:rPr sz="1200" b="1" lang="en-GB">
                <a:solidFill>
                  <a:schemeClr val="tx2"/>
                </a:solidFill>
              </a:rPr>
              <a:t>3  Sales 30 at 10 k EUR a week, 36 at 20 k EUR a week. The ROI of the extra 10 k EUR is …</a:t>
            </a:r>
          </a:p>
          <a:p>
            <a:pPr algn="l">
              <a:spcAft>
                <a:spcPts val="100"/>
              </a:spcAft>
            </a:pPr>
            <a:r>
              <a:rPr sz="1200" b="0" lang="en-GB">
                <a:solidFill>
                  <a:schemeClr val="tx1"/>
                </a:solidFill>
              </a:rPr>
              <a:t>A  3.00     B  1.80     C  0.60</a:t>
            </a:r>
          </a:p>
        </p:txBody>
      </p:sp>
      <p:sp>
        <p:nvSpPr>
          <p:cNvPr id="19" name="Quiz row 4"/>
          <p:cNvSpPr/>
          <p:nvPr/>
        </p:nvSpPr>
        <p:spPr>
          <a:xfrm>
            <a:off x="457200" y="3209544"/>
            <a:ext cx="8229600" cy="58521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Quiz bar 4"/>
          <p:cNvSpPr/>
          <p:nvPr/>
        </p:nvSpPr>
        <p:spPr>
          <a:xfrm>
            <a:off x="457200" y="3209544"/>
            <a:ext cx="64008" cy="585216"/>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Quiz text 4"/>
          <p:cNvSpPr txBox="1"/>
          <p:nvPr/>
        </p:nvSpPr>
        <p:spPr>
          <a:xfrm>
            <a:off x="658368" y="3209544"/>
            <a:ext cx="7955280" cy="585216"/>
          </a:xfrm>
          <a:prstGeom prst="rect">
            <a:avLst/>
          </a:prstGeom>
          <a:noFill/>
        </p:spPr>
        <p:txBody>
          <a:bodyPr wrap="square" lIns="0" rIns="0" tIns="0" bIns="0" anchor="ctr">
            <a:noAutofit/>
          </a:bodyPr>
          <a:lstStyle/>
          <a:p>
            <a:pPr algn="l">
              <a:spcAft>
                <a:spcPts val="100"/>
              </a:spcAft>
            </a:pPr>
            <a:r>
              <a:rPr sz="1200" b="1" lang="en-GB">
                <a:solidFill>
                  <a:schemeClr val="tx2"/>
                </a:solidFill>
              </a:rPr>
              <a:t>4  Which tool fits many ridge regressions and lets the analyst pick from a Pareto front?</a:t>
            </a:r>
          </a:p>
          <a:p>
            <a:pPr algn="l">
              <a:spcAft>
                <a:spcPts val="100"/>
              </a:spcAft>
            </a:pPr>
            <a:r>
              <a:rPr sz="1200" b="0" lang="en-GB">
                <a:solidFill>
                  <a:schemeClr val="tx1"/>
                </a:solidFill>
              </a:rPr>
              <a:t>A  PyMC-Marketing     B  Meridian     C  Robyn</a:t>
            </a:r>
          </a:p>
        </p:txBody>
      </p:sp>
      <p:sp>
        <p:nvSpPr>
          <p:cNvPr id="22" name="Quiz row 5"/>
          <p:cNvSpPr/>
          <p:nvPr/>
        </p:nvSpPr>
        <p:spPr>
          <a:xfrm>
            <a:off x="457200" y="3867912"/>
            <a:ext cx="8229600" cy="58521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Quiz bar 5"/>
          <p:cNvSpPr/>
          <p:nvPr/>
        </p:nvSpPr>
        <p:spPr>
          <a:xfrm>
            <a:off x="457200" y="3867912"/>
            <a:ext cx="64008" cy="585216"/>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Quiz text 5"/>
          <p:cNvSpPr txBox="1"/>
          <p:nvPr/>
        </p:nvSpPr>
        <p:spPr>
          <a:xfrm>
            <a:off x="658368" y="3867912"/>
            <a:ext cx="7955280" cy="585216"/>
          </a:xfrm>
          <a:prstGeom prst="rect">
            <a:avLst/>
          </a:prstGeom>
          <a:noFill/>
        </p:spPr>
        <p:txBody>
          <a:bodyPr wrap="square" lIns="0" rIns="0" tIns="0" bIns="0" anchor="ctr">
            <a:noAutofit/>
          </a:bodyPr>
          <a:lstStyle/>
          <a:p>
            <a:pPr algn="l">
              <a:spcAft>
                <a:spcPts val="100"/>
              </a:spcAft>
            </a:pPr>
            <a:r>
              <a:rPr sz="1200" b="1" lang="en-GB">
                <a:solidFill>
                  <a:schemeClr val="tx2"/>
                </a:solidFill>
              </a:rPr>
              <a:t>5  A new market has six months of weekly data. The best start is …</a:t>
            </a:r>
          </a:p>
          <a:p>
            <a:pPr algn="l">
              <a:spcAft>
                <a:spcPts val="100"/>
              </a:spcAft>
            </a:pPr>
            <a:r>
              <a:rPr sz="1200" b="0" lang="en-GB">
                <a:solidFill>
                  <a:schemeClr val="tx1"/>
                </a:solidFill>
              </a:rPr>
              <a:t>A  a model of its own     B  partial pooling with the other markets     C  the biggest market's ROI</a:t>
            </a:r>
          </a:p>
        </p:txBody>
      </p:sp>
      <p:sp>
        <p:nvSpPr>
          <p:cNvPr id="25" name="Quiz callout box"/>
          <p:cNvSpPr/>
          <p:nvPr/>
        </p:nvSpPr>
        <p:spPr>
          <a:xfrm>
            <a:off x="457200" y="4590288"/>
            <a:ext cx="8229600" cy="4572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Quiz callout text"/>
          <p:cNvSpPr txBox="1"/>
          <p:nvPr/>
        </p:nvSpPr>
        <p:spPr>
          <a:xfrm>
            <a:off x="658368" y="4590288"/>
            <a:ext cx="7827264" cy="457200"/>
          </a:xfrm>
          <a:prstGeom prst="rect">
            <a:avLst/>
          </a:prstGeom>
          <a:noFill/>
        </p:spPr>
        <p:txBody>
          <a:bodyPr wrap="square" lIns="0" rIns="0" tIns="0" bIns="0" anchor="ctr">
            <a:noAutofit/>
          </a:bodyPr>
          <a:lstStyle/>
          <a:p>
            <a:pPr algn="l">
              <a:spcAft>
                <a:spcPts val="400"/>
              </a:spcAft>
            </a:pPr>
            <a:r>
              <a:rPr sz="1250" b="1" lang="en-GB">
                <a:solidFill>
                  <a:schemeClr val="bg1"/>
                </a:solidFill>
              </a:rPr>
              <a:t>3 minutes alone, </a:t>
            </a:r>
            <a:r>
              <a:rPr sz="1250" b="0" lang="en-GB">
                <a:solidFill>
                  <a:schemeClr val="bg1"/>
                </a:solidFill>
              </a:rPr>
              <a:t>then compare with your neighbour.</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Answers: in class</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Your turn: an MMM review in four tasks</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Turn steps step 1"/>
          <p:cNvSpPr/>
          <p:nvPr/>
        </p:nvSpPr>
        <p:spPr>
          <a:xfrm>
            <a:off x="457200" y="1234440"/>
            <a:ext cx="4169664" cy="457200"/>
          </a:xfrm>
          <a:prstGeom prst="homePlate">
            <a:avLst>
              <a:gd name="adj" fmla="val 28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rIns="128016" tIns="18288" bIns="18288"/>
          <a:lstStyle/>
          <a:p>
            <a:pPr algn="ctr"/>
            <a:r>
              <a:rPr sz="1200" b="1" lang="en-GB">
                <a:solidFill>
                  <a:schemeClr val="tx2"/>
                </a:solidFill>
              </a:rPr>
              <a:t>Groups of three:</a:t>
            </a:r>
            <a:br/>
            <a:r>
              <a:rPr sz="1200" b="1" lang="en-GB">
                <a:solidFill>
                  <a:schemeClr val="tx2"/>
                </a:solidFill>
              </a:rPr>
              <a:t>35 minutes</a:t>
            </a:r>
          </a:p>
        </p:txBody>
      </p:sp>
      <p:sp>
        <p:nvSpPr>
          <p:cNvPr id="11" name="Turn steps step 2"/>
          <p:cNvSpPr/>
          <p:nvPr/>
        </p:nvSpPr>
        <p:spPr>
          <a:xfrm>
            <a:off x="4517136" y="1234440"/>
            <a:ext cx="4169664" cy="457200"/>
          </a:xfrm>
          <a:prstGeom prst="chevron">
            <a:avLst>
              <a:gd name="adj" fmla="val 28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37744" rIns="128016" tIns="18288" bIns="18288"/>
          <a:lstStyle/>
          <a:p>
            <a:pPr algn="ctr"/>
            <a:r>
              <a:rPr sz="1200" b="1" lang="en-GB">
                <a:solidFill>
                  <a:schemeClr val="tx2"/>
                </a:solidFill>
              </a:rPr>
              <a:t>Plenary:</a:t>
            </a:r>
            <a:br/>
            <a:r>
              <a:rPr sz="1200" b="1" lang="en-GB">
                <a:solidFill>
                  <a:schemeClr val="tx2"/>
                </a:solidFill>
              </a:rPr>
              <a:t>10 minutes</a:t>
            </a:r>
          </a:p>
        </p:txBody>
      </p:sp>
      <p:sp>
        <p:nvSpPr>
          <p:cNvPr id="12" name="Turn task row 1"/>
          <p:cNvSpPr/>
          <p:nvPr/>
        </p:nvSpPr>
        <p:spPr>
          <a:xfrm>
            <a:off x="457200" y="1828800"/>
            <a:ext cx="8229600" cy="50292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urn task number 1"/>
          <p:cNvSpPr/>
          <p:nvPr/>
        </p:nvSpPr>
        <p:spPr>
          <a:xfrm>
            <a:off x="594360" y="1924812"/>
            <a:ext cx="310896" cy="310896"/>
          </a:xfrm>
          <a:prstGeom prst="ellips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lang="en-GB">
                <a:solidFill>
                  <a:schemeClr val="bg1"/>
                </a:solidFill>
              </a:rPr>
              <a:t>1</a:t>
            </a:r>
          </a:p>
        </p:txBody>
      </p:sp>
      <p:sp>
        <p:nvSpPr>
          <p:cNvPr id="14" name="Turn task text 1"/>
          <p:cNvSpPr txBox="1"/>
          <p:nvPr/>
        </p:nvSpPr>
        <p:spPr>
          <a:xfrm>
            <a:off x="1051560" y="1828800"/>
            <a:ext cx="7498080" cy="502920"/>
          </a:xfrm>
          <a:prstGeom prst="rect">
            <a:avLst/>
          </a:prstGeom>
          <a:noFill/>
        </p:spPr>
        <p:txBody>
          <a:bodyPr wrap="square" lIns="0" rIns="0" tIns="0" bIns="0" anchor="ctr">
            <a:noAutofit/>
          </a:bodyPr>
          <a:lstStyle/>
          <a:p>
            <a:pPr algn="l">
              <a:spcAft>
                <a:spcPts val="400"/>
              </a:spcAft>
            </a:pPr>
            <a:r>
              <a:rPr sz="1150" b="1" lang="en-GB">
                <a:solidFill>
                  <a:schemeClr val="tx2"/>
                </a:solidFill>
              </a:rPr>
              <a:t>Budget: </a:t>
            </a:r>
            <a:r>
              <a:rPr sz="1150" b="0" lang="en-GB">
                <a:solidFill>
                  <a:schemeClr val="tx1"/>
                </a:solidFill>
              </a:rPr>
              <a:t>three response curves of an e-bike brand: where should 10 k EUR a week go? (slide 44)</a:t>
            </a:r>
          </a:p>
        </p:txBody>
      </p:sp>
      <p:sp>
        <p:nvSpPr>
          <p:cNvPr id="15" name="Turn task row 2"/>
          <p:cNvSpPr/>
          <p:nvPr/>
        </p:nvSpPr>
        <p:spPr>
          <a:xfrm>
            <a:off x="457200" y="2404872"/>
            <a:ext cx="8229600" cy="50292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urn task number 2"/>
          <p:cNvSpPr/>
          <p:nvPr/>
        </p:nvSpPr>
        <p:spPr>
          <a:xfrm>
            <a:off x="594360" y="2500884"/>
            <a:ext cx="310896" cy="310896"/>
          </a:xfrm>
          <a:prstGeom prst="ellips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lang="en-GB">
                <a:solidFill>
                  <a:schemeClr val="bg1"/>
                </a:solidFill>
              </a:rPr>
              <a:t>2</a:t>
            </a:r>
          </a:p>
        </p:txBody>
      </p:sp>
      <p:sp>
        <p:nvSpPr>
          <p:cNvPr id="17" name="Turn task text 2"/>
          <p:cNvSpPr txBox="1"/>
          <p:nvPr/>
        </p:nvSpPr>
        <p:spPr>
          <a:xfrm>
            <a:off x="1051560" y="2404872"/>
            <a:ext cx="7498080" cy="502920"/>
          </a:xfrm>
          <a:prstGeom prst="rect">
            <a:avLst/>
          </a:prstGeom>
          <a:noFill/>
        </p:spPr>
        <p:txBody>
          <a:bodyPr wrap="square" lIns="0" rIns="0" tIns="0" bIns="0" anchor="ctr">
            <a:noAutofit/>
          </a:bodyPr>
          <a:lstStyle/>
          <a:p>
            <a:pPr algn="l">
              <a:spcAft>
                <a:spcPts val="400"/>
              </a:spcAft>
            </a:pPr>
            <a:r>
              <a:rPr sz="1150" b="1" lang="en-GB">
                <a:solidFill>
                  <a:schemeClr val="tx2"/>
                </a:solidFill>
              </a:rPr>
              <a:t>Model check: </a:t>
            </a:r>
            <a:r>
              <a:rPr sz="1150" b="0" lang="en-GB">
                <a:solidFill>
                  <a:schemeClr val="tx1"/>
                </a:solidFill>
              </a:rPr>
              <a:t>the German model credits Google and Meta with 95 % of sales. Plausible? What would you test?</a:t>
            </a:r>
          </a:p>
        </p:txBody>
      </p:sp>
      <p:sp>
        <p:nvSpPr>
          <p:cNvPr id="18" name="Turn task row 3"/>
          <p:cNvSpPr/>
          <p:nvPr/>
        </p:nvSpPr>
        <p:spPr>
          <a:xfrm>
            <a:off x="457200" y="2980944"/>
            <a:ext cx="8229600" cy="50292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urn task number 3"/>
          <p:cNvSpPr/>
          <p:nvPr/>
        </p:nvSpPr>
        <p:spPr>
          <a:xfrm>
            <a:off x="594360" y="3076956"/>
            <a:ext cx="310896" cy="310896"/>
          </a:xfrm>
          <a:prstGeom prst="ellips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lang="en-GB">
                <a:solidFill>
                  <a:schemeClr val="bg1"/>
                </a:solidFill>
              </a:rPr>
              <a:t>3</a:t>
            </a:r>
          </a:p>
        </p:txBody>
      </p:sp>
      <p:sp>
        <p:nvSpPr>
          <p:cNvPr id="20" name="Turn task text 3"/>
          <p:cNvSpPr txBox="1"/>
          <p:nvPr/>
        </p:nvSpPr>
        <p:spPr>
          <a:xfrm>
            <a:off x="1051560" y="2980944"/>
            <a:ext cx="7498080" cy="502920"/>
          </a:xfrm>
          <a:prstGeom prst="rect">
            <a:avLst/>
          </a:prstGeom>
          <a:noFill/>
        </p:spPr>
        <p:txBody>
          <a:bodyPr wrap="square" lIns="0" rIns="0" tIns="0" bIns="0" anchor="ctr">
            <a:noAutofit/>
          </a:bodyPr>
          <a:lstStyle/>
          <a:p>
            <a:pPr algn="l">
              <a:spcAft>
                <a:spcPts val="400"/>
              </a:spcAft>
            </a:pPr>
            <a:r>
              <a:rPr sz="1150" b="1" lang="en-GB">
                <a:solidFill>
                  <a:schemeClr val="tx2"/>
                </a:solidFill>
              </a:rPr>
              <a:t>Vendor claim: </a:t>
            </a:r>
            <a:r>
              <a:rPr sz="1150" b="0" lang="en-GB">
                <a:solidFill>
                  <a:schemeClr val="tx1"/>
                </a:solidFill>
              </a:rPr>
              <a:t>grade one case study with the four questions (slide 24)</a:t>
            </a:r>
          </a:p>
        </p:txBody>
      </p:sp>
      <p:sp>
        <p:nvSpPr>
          <p:cNvPr id="21" name="Turn task row 4"/>
          <p:cNvSpPr/>
          <p:nvPr/>
        </p:nvSpPr>
        <p:spPr>
          <a:xfrm>
            <a:off x="457200" y="3557016"/>
            <a:ext cx="8229600" cy="50292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urn task number 4"/>
          <p:cNvSpPr/>
          <p:nvPr/>
        </p:nvSpPr>
        <p:spPr>
          <a:xfrm>
            <a:off x="594360" y="3653028"/>
            <a:ext cx="310896" cy="310896"/>
          </a:xfrm>
          <a:prstGeom prst="ellips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lang="en-GB">
                <a:solidFill>
                  <a:schemeClr val="bg1"/>
                </a:solidFill>
              </a:rPr>
              <a:t>4</a:t>
            </a:r>
          </a:p>
        </p:txBody>
      </p:sp>
      <p:sp>
        <p:nvSpPr>
          <p:cNvPr id="23" name="Turn task text 4"/>
          <p:cNvSpPr txBox="1"/>
          <p:nvPr/>
        </p:nvSpPr>
        <p:spPr>
          <a:xfrm>
            <a:off x="1051560" y="3557016"/>
            <a:ext cx="7498080" cy="502920"/>
          </a:xfrm>
          <a:prstGeom prst="rect">
            <a:avLst/>
          </a:prstGeom>
          <a:noFill/>
        </p:spPr>
        <p:txBody>
          <a:bodyPr wrap="square" lIns="0" rIns="0" tIns="0" bIns="0" anchor="ctr">
            <a:noAutofit/>
          </a:bodyPr>
          <a:lstStyle/>
          <a:p>
            <a:pPr algn="l">
              <a:spcAft>
                <a:spcPts val="400"/>
              </a:spcAft>
            </a:pPr>
            <a:r>
              <a:rPr sz="1150" b="1" lang="en-GB">
                <a:solidFill>
                  <a:schemeClr val="tx2"/>
                </a:solidFill>
              </a:rPr>
              <a:t>Tool choice: </a:t>
            </a:r>
            <a:r>
              <a:rPr sz="1150" b="0" lang="en-GB">
                <a:solidFill>
                  <a:schemeClr val="tx1"/>
                </a:solidFill>
              </a:rPr>
              <a:t>PyMC-Marketing, Meridian or Robyn for two brands, with two reasons each (slide 23)</a:t>
            </a:r>
          </a:p>
        </p:txBody>
      </p:sp>
      <p:sp>
        <p:nvSpPr>
          <p:cNvPr id="24" name="Turn deliverable box"/>
          <p:cNvSpPr/>
          <p:nvPr/>
        </p:nvSpPr>
        <p:spPr>
          <a:xfrm>
            <a:off x="457200" y="4133088"/>
            <a:ext cx="8229600" cy="4572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urn deliverable text"/>
          <p:cNvSpPr txBox="1"/>
          <p:nvPr/>
        </p:nvSpPr>
        <p:spPr>
          <a:xfrm>
            <a:off x="658368" y="4133088"/>
            <a:ext cx="7827264" cy="457200"/>
          </a:xfrm>
          <a:prstGeom prst="rect">
            <a:avLst/>
          </a:prstGeom>
          <a:noFill/>
        </p:spPr>
        <p:txBody>
          <a:bodyPr wrap="square" lIns="0" rIns="0" tIns="0" bIns="0" anchor="ctr">
            <a:noAutofit/>
          </a:bodyPr>
          <a:lstStyle/>
          <a:p>
            <a:pPr algn="l">
              <a:spcAft>
                <a:spcPts val="400"/>
              </a:spcAft>
            </a:pPr>
            <a:r>
              <a:rPr sz="1150" b="1" lang="en-GB">
                <a:solidFill>
                  <a:schemeClr val="bg1"/>
                </a:solidFill>
              </a:rPr>
              <a:t>Deliverable: </a:t>
            </a:r>
            <a:r>
              <a:rPr sz="1150" b="0" lang="en-GB">
                <a:solidFill>
                  <a:schemeClr val="bg1"/>
                </a:solidFill>
              </a:rPr>
              <a:t>one slide per group: the budget move, the verdict on Germany, the grade, the two tools.</a:t>
            </a:r>
          </a:p>
        </p:txBody>
      </p:sp>
      <p:sp>
        <p:nvSpPr>
          <p:cNvPr id="26" name="Turn file"/>
          <p:cNvSpPr txBox="1"/>
          <p:nvPr/>
        </p:nvSpPr>
        <p:spPr>
          <a:xfrm>
            <a:off x="457200" y="4617720"/>
            <a:ext cx="8229600" cy="274320"/>
          </a:xfrm>
          <a:prstGeom prst="rect">
            <a:avLst/>
          </a:prstGeom>
          <a:noFill/>
        </p:spPr>
        <p:txBody>
          <a:bodyPr wrap="square" lIns="0" rIns="0" tIns="0" bIns="0" anchor="ctr">
            <a:noAutofit/>
          </a:bodyPr>
          <a:lstStyle/>
          <a:p>
            <a:pPr algn="l">
              <a:spcAft>
                <a:spcPts val="400"/>
              </a:spcAft>
            </a:pPr>
            <a:r>
              <a:rPr sz="1100" b="1" lang="en-GB">
                <a:solidFill>
                  <a:schemeClr val="tx2"/>
                </a:solidFill>
              </a:rPr>
              <a:t>Handout: </a:t>
            </a:r>
            <a:r>
              <a:rPr sz="1100" b="0" lang="en-GB">
                <a:solidFill>
                  <a:schemeClr val="tx2"/>
                </a:solidFill>
                <a:latin typeface="Consolas"/>
              </a:rPr>
              <a:t>sessions/02-mmm-one-country/mmm_assignment.qmd</a:t>
            </a:r>
            <a:r>
              <a:rPr sz="1100" b="0" lang="en-GB">
                <a:solidFill>
                  <a:schemeClr val="tx1"/>
                </a:solidFill>
              </a:rPr>
              <a:t>  (no code needed)</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Task 1: three response curves</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pic>
        <p:nvPicPr>
          <p:cNvPr id="10" name="Chart mm_m4_assign.png" descr="Three response curves of an invented e-bike brand: weekly sales against weekly spend for TV, YouTube and Search, each flattening towards a maximum of 60; dots mark today's spend."/>
          <p:cNvPicPr>
            <a:picLocks noChangeAspect="1"/>
          </p:cNvPicPr>
          <p:nvPr/>
        </p:nvPicPr>
        <p:blipFill>
          <a:blip r:embed="rId3"/>
          <a:stretch>
            <a:fillRect/>
          </a:stretch>
        </p:blipFill>
        <p:spPr>
          <a:xfrm>
            <a:off x="457200" y="1234440"/>
            <a:ext cx="4206240" cy="2788920"/>
          </a:xfrm>
          <a:prstGeom prst="rect">
            <a:avLst/>
          </a:prstGeom>
        </p:spPr>
      </p:pic>
      <p:sp>
        <p:nvSpPr>
          <p:cNvPr id="11" name="Task 1 now 1-1"/>
          <p:cNvSpPr/>
          <p:nvPr/>
        </p:nvSpPr>
        <p:spPr>
          <a:xfrm>
            <a:off x="4800600" y="1234440"/>
            <a:ext cx="941832" cy="310896"/>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ask 1 now text 1-1"/>
          <p:cNvSpPr txBox="1"/>
          <p:nvPr/>
        </p:nvSpPr>
        <p:spPr>
          <a:xfrm>
            <a:off x="4892040" y="1234440"/>
            <a:ext cx="758952" cy="310896"/>
          </a:xfrm>
          <a:prstGeom prst="rect">
            <a:avLst/>
          </a:prstGeom>
          <a:noFill/>
        </p:spPr>
        <p:txBody>
          <a:bodyPr wrap="square" lIns="0" rIns="0" tIns="0" bIns="0" anchor="ctr">
            <a:noAutofit/>
          </a:bodyPr>
          <a:lstStyle/>
          <a:p>
            <a:pPr algn="l">
              <a:spcAft>
                <a:spcPts val="400"/>
              </a:spcAft>
            </a:pPr>
            <a:r>
              <a:rPr sz="1150" b="1" lang="en-GB">
                <a:solidFill>
                  <a:schemeClr val="bg1"/>
                </a:solidFill>
              </a:rPr>
              <a:t>Now</a:t>
            </a:r>
          </a:p>
        </p:txBody>
      </p:sp>
      <p:sp>
        <p:nvSpPr>
          <p:cNvPr id="13" name="Task 1 now 1-2"/>
          <p:cNvSpPr/>
          <p:nvPr/>
        </p:nvSpPr>
        <p:spPr>
          <a:xfrm>
            <a:off x="5769864" y="1234440"/>
            <a:ext cx="941832" cy="310896"/>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ask 1 now text 1-2"/>
          <p:cNvSpPr txBox="1"/>
          <p:nvPr/>
        </p:nvSpPr>
        <p:spPr>
          <a:xfrm>
            <a:off x="5861304" y="1234440"/>
            <a:ext cx="758952" cy="310896"/>
          </a:xfrm>
          <a:prstGeom prst="rect">
            <a:avLst/>
          </a:prstGeom>
          <a:noFill/>
        </p:spPr>
        <p:txBody>
          <a:bodyPr wrap="square" lIns="0" rIns="0" tIns="0" bIns="0" anchor="ctr">
            <a:noAutofit/>
          </a:bodyPr>
          <a:lstStyle/>
          <a:p>
            <a:pPr algn="r">
              <a:spcAft>
                <a:spcPts val="400"/>
              </a:spcAft>
            </a:pPr>
            <a:r>
              <a:rPr sz="1150" b="1" lang="en-GB">
                <a:solidFill>
                  <a:schemeClr val="bg1"/>
                </a:solidFill>
              </a:rPr>
              <a:t>Spend</a:t>
            </a:r>
          </a:p>
        </p:txBody>
      </p:sp>
      <p:sp>
        <p:nvSpPr>
          <p:cNvPr id="15" name="Task 1 now 1-3"/>
          <p:cNvSpPr/>
          <p:nvPr/>
        </p:nvSpPr>
        <p:spPr>
          <a:xfrm>
            <a:off x="6739128" y="1234440"/>
            <a:ext cx="941832" cy="310896"/>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ask 1 now text 1-3"/>
          <p:cNvSpPr txBox="1"/>
          <p:nvPr/>
        </p:nvSpPr>
        <p:spPr>
          <a:xfrm>
            <a:off x="6830568" y="1234440"/>
            <a:ext cx="758952" cy="310896"/>
          </a:xfrm>
          <a:prstGeom prst="rect">
            <a:avLst/>
          </a:prstGeom>
          <a:noFill/>
        </p:spPr>
        <p:txBody>
          <a:bodyPr wrap="square" lIns="0" rIns="0" tIns="0" bIns="0" anchor="ctr">
            <a:noAutofit/>
          </a:bodyPr>
          <a:lstStyle/>
          <a:p>
            <a:pPr algn="r">
              <a:spcAft>
                <a:spcPts val="400"/>
              </a:spcAft>
            </a:pPr>
            <a:r>
              <a:rPr sz="1150" b="1" lang="en-GB">
                <a:solidFill>
                  <a:schemeClr val="bg1"/>
                </a:solidFill>
              </a:rPr>
              <a:t>Sales</a:t>
            </a:r>
          </a:p>
        </p:txBody>
      </p:sp>
      <p:sp>
        <p:nvSpPr>
          <p:cNvPr id="17" name="Task 1 now 1-4"/>
          <p:cNvSpPr/>
          <p:nvPr/>
        </p:nvSpPr>
        <p:spPr>
          <a:xfrm>
            <a:off x="7708392" y="1234440"/>
            <a:ext cx="978408" cy="310896"/>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ask 1 now text 1-4"/>
          <p:cNvSpPr txBox="1"/>
          <p:nvPr/>
        </p:nvSpPr>
        <p:spPr>
          <a:xfrm>
            <a:off x="7799832" y="1234440"/>
            <a:ext cx="768096" cy="310896"/>
          </a:xfrm>
          <a:prstGeom prst="rect">
            <a:avLst/>
          </a:prstGeom>
          <a:noFill/>
        </p:spPr>
        <p:txBody>
          <a:bodyPr wrap="square" lIns="0" rIns="0" tIns="0" bIns="0" anchor="ctr">
            <a:noAutofit/>
          </a:bodyPr>
          <a:lstStyle/>
          <a:p>
            <a:pPr algn="r">
              <a:spcAft>
                <a:spcPts val="400"/>
              </a:spcAft>
            </a:pPr>
            <a:r>
              <a:rPr sz="1150" b="1" lang="en-GB">
                <a:solidFill>
                  <a:schemeClr val="bg1"/>
                </a:solidFill>
              </a:rPr>
              <a:t>Avg ROI</a:t>
            </a:r>
          </a:p>
        </p:txBody>
      </p:sp>
      <p:sp>
        <p:nvSpPr>
          <p:cNvPr id="19" name="Task 1 now 2-1"/>
          <p:cNvSpPr/>
          <p:nvPr/>
        </p:nvSpPr>
        <p:spPr>
          <a:xfrm>
            <a:off x="4800600" y="1572768"/>
            <a:ext cx="941832" cy="31089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ask 1 now text 2-1"/>
          <p:cNvSpPr txBox="1"/>
          <p:nvPr/>
        </p:nvSpPr>
        <p:spPr>
          <a:xfrm>
            <a:off x="4892040" y="1572768"/>
            <a:ext cx="758952" cy="310896"/>
          </a:xfrm>
          <a:prstGeom prst="rect">
            <a:avLst/>
          </a:prstGeom>
          <a:noFill/>
        </p:spPr>
        <p:txBody>
          <a:bodyPr wrap="square" lIns="0" rIns="0" tIns="0" bIns="0" anchor="ctr">
            <a:noAutofit/>
          </a:bodyPr>
          <a:lstStyle/>
          <a:p>
            <a:pPr algn="l">
              <a:spcAft>
                <a:spcPts val="400"/>
              </a:spcAft>
            </a:pPr>
            <a:r>
              <a:rPr sz="1150" b="1" lang="en-GB">
                <a:solidFill>
                  <a:schemeClr val="tx2"/>
                </a:solidFill>
              </a:rPr>
              <a:t>TV</a:t>
            </a:r>
          </a:p>
        </p:txBody>
      </p:sp>
      <p:sp>
        <p:nvSpPr>
          <p:cNvPr id="21" name="Task 1 now 2-2"/>
          <p:cNvSpPr/>
          <p:nvPr/>
        </p:nvSpPr>
        <p:spPr>
          <a:xfrm>
            <a:off x="5769864" y="1572768"/>
            <a:ext cx="941832" cy="31089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ask 1 now text 2-2"/>
          <p:cNvSpPr txBox="1"/>
          <p:nvPr/>
        </p:nvSpPr>
        <p:spPr>
          <a:xfrm>
            <a:off x="5861304" y="1572768"/>
            <a:ext cx="758952" cy="310896"/>
          </a:xfrm>
          <a:prstGeom prst="rect">
            <a:avLst/>
          </a:prstGeom>
          <a:noFill/>
        </p:spPr>
        <p:txBody>
          <a:bodyPr wrap="square" lIns="0" rIns="0" tIns="0" bIns="0" anchor="ctr">
            <a:noAutofit/>
          </a:bodyPr>
          <a:lstStyle/>
          <a:p>
            <a:pPr algn="r">
              <a:spcAft>
                <a:spcPts val="400"/>
              </a:spcAft>
            </a:pPr>
            <a:r>
              <a:rPr sz="1150" b="0" lang="en-GB">
                <a:solidFill>
                  <a:schemeClr val="tx1"/>
                </a:solidFill>
              </a:rPr>
              <a:t>20</a:t>
            </a:r>
          </a:p>
        </p:txBody>
      </p:sp>
      <p:sp>
        <p:nvSpPr>
          <p:cNvPr id="23" name="Task 1 now 2-3"/>
          <p:cNvSpPr/>
          <p:nvPr/>
        </p:nvSpPr>
        <p:spPr>
          <a:xfrm>
            <a:off x="6739128" y="1572768"/>
            <a:ext cx="941832" cy="31089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ask 1 now text 2-3"/>
          <p:cNvSpPr txBox="1"/>
          <p:nvPr/>
        </p:nvSpPr>
        <p:spPr>
          <a:xfrm>
            <a:off x="6830568" y="1572768"/>
            <a:ext cx="758952" cy="310896"/>
          </a:xfrm>
          <a:prstGeom prst="rect">
            <a:avLst/>
          </a:prstGeom>
          <a:noFill/>
        </p:spPr>
        <p:txBody>
          <a:bodyPr wrap="square" lIns="0" rIns="0" tIns="0" bIns="0" anchor="ctr">
            <a:noAutofit/>
          </a:bodyPr>
          <a:lstStyle/>
          <a:p>
            <a:pPr algn="r">
              <a:spcAft>
                <a:spcPts val="400"/>
              </a:spcAft>
            </a:pPr>
            <a:r>
              <a:rPr sz="1150" b="0" lang="en-GB">
                <a:solidFill>
                  <a:schemeClr val="tx1"/>
                </a:solidFill>
              </a:rPr>
              <a:t>30</a:t>
            </a:r>
          </a:p>
        </p:txBody>
      </p:sp>
      <p:sp>
        <p:nvSpPr>
          <p:cNvPr id="25" name="Task 1 now 2-4"/>
          <p:cNvSpPr/>
          <p:nvPr/>
        </p:nvSpPr>
        <p:spPr>
          <a:xfrm>
            <a:off x="7708392" y="1572768"/>
            <a:ext cx="978408" cy="31089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ask 1 now text 2-4"/>
          <p:cNvSpPr txBox="1"/>
          <p:nvPr/>
        </p:nvSpPr>
        <p:spPr>
          <a:xfrm>
            <a:off x="7799832" y="1572768"/>
            <a:ext cx="768096" cy="310896"/>
          </a:xfrm>
          <a:prstGeom prst="rect">
            <a:avLst/>
          </a:prstGeom>
          <a:noFill/>
        </p:spPr>
        <p:txBody>
          <a:bodyPr wrap="square" lIns="0" rIns="0" tIns="0" bIns="0" anchor="ctr">
            <a:noAutofit/>
          </a:bodyPr>
          <a:lstStyle/>
          <a:p>
            <a:pPr algn="r">
              <a:spcAft>
                <a:spcPts val="400"/>
              </a:spcAft>
            </a:pPr>
            <a:r>
              <a:rPr sz="1150" b="0" lang="en-GB">
                <a:solidFill>
                  <a:schemeClr val="tx1"/>
                </a:solidFill>
              </a:rPr>
              <a:t>1.50</a:t>
            </a:r>
          </a:p>
        </p:txBody>
      </p:sp>
      <p:sp>
        <p:nvSpPr>
          <p:cNvPr id="27" name="Task 1 now 3-1"/>
          <p:cNvSpPr/>
          <p:nvPr/>
        </p:nvSpPr>
        <p:spPr>
          <a:xfrm>
            <a:off x="4800600" y="1911096"/>
            <a:ext cx="941832" cy="31089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ask 1 now text 3-1"/>
          <p:cNvSpPr txBox="1"/>
          <p:nvPr/>
        </p:nvSpPr>
        <p:spPr>
          <a:xfrm>
            <a:off x="4892040" y="1911096"/>
            <a:ext cx="758952" cy="310896"/>
          </a:xfrm>
          <a:prstGeom prst="rect">
            <a:avLst/>
          </a:prstGeom>
          <a:noFill/>
        </p:spPr>
        <p:txBody>
          <a:bodyPr wrap="square" lIns="0" rIns="0" tIns="0" bIns="0" anchor="ctr">
            <a:noAutofit/>
          </a:bodyPr>
          <a:lstStyle/>
          <a:p>
            <a:pPr algn="l">
              <a:spcAft>
                <a:spcPts val="400"/>
              </a:spcAft>
            </a:pPr>
            <a:r>
              <a:rPr sz="1150" b="1" lang="en-GB">
                <a:solidFill>
                  <a:schemeClr val="tx2"/>
                </a:solidFill>
              </a:rPr>
              <a:t>YouTube</a:t>
            </a:r>
          </a:p>
        </p:txBody>
      </p:sp>
      <p:sp>
        <p:nvSpPr>
          <p:cNvPr id="29" name="Task 1 now 3-2"/>
          <p:cNvSpPr/>
          <p:nvPr/>
        </p:nvSpPr>
        <p:spPr>
          <a:xfrm>
            <a:off x="5769864" y="1911096"/>
            <a:ext cx="941832" cy="31089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ask 1 now text 3-2"/>
          <p:cNvSpPr txBox="1"/>
          <p:nvPr/>
        </p:nvSpPr>
        <p:spPr>
          <a:xfrm>
            <a:off x="5861304" y="1911096"/>
            <a:ext cx="758952" cy="310896"/>
          </a:xfrm>
          <a:prstGeom prst="rect">
            <a:avLst/>
          </a:prstGeom>
          <a:noFill/>
        </p:spPr>
        <p:txBody>
          <a:bodyPr wrap="square" lIns="0" rIns="0" tIns="0" bIns="0" anchor="ctr">
            <a:noAutofit/>
          </a:bodyPr>
          <a:lstStyle/>
          <a:p>
            <a:pPr algn="r">
              <a:spcAft>
                <a:spcPts val="400"/>
              </a:spcAft>
            </a:pPr>
            <a:r>
              <a:rPr sz="1150" b="0" lang="en-GB">
                <a:solidFill>
                  <a:schemeClr val="tx1"/>
                </a:solidFill>
              </a:rPr>
              <a:t>5</a:t>
            </a:r>
          </a:p>
        </p:txBody>
      </p:sp>
      <p:sp>
        <p:nvSpPr>
          <p:cNvPr id="31" name="Task 1 now 3-3"/>
          <p:cNvSpPr/>
          <p:nvPr/>
        </p:nvSpPr>
        <p:spPr>
          <a:xfrm>
            <a:off x="6739128" y="1911096"/>
            <a:ext cx="941832" cy="31089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ask 1 now text 3-3"/>
          <p:cNvSpPr txBox="1"/>
          <p:nvPr/>
        </p:nvSpPr>
        <p:spPr>
          <a:xfrm>
            <a:off x="6830568" y="1911096"/>
            <a:ext cx="758952" cy="310896"/>
          </a:xfrm>
          <a:prstGeom prst="rect">
            <a:avLst/>
          </a:prstGeom>
          <a:noFill/>
        </p:spPr>
        <p:txBody>
          <a:bodyPr wrap="square" lIns="0" rIns="0" tIns="0" bIns="0" anchor="ctr">
            <a:noAutofit/>
          </a:bodyPr>
          <a:lstStyle/>
          <a:p>
            <a:pPr algn="r">
              <a:spcAft>
                <a:spcPts val="400"/>
              </a:spcAft>
            </a:pPr>
            <a:r>
              <a:rPr sz="1150" b="0" lang="en-GB">
                <a:solidFill>
                  <a:schemeClr val="tx1"/>
                </a:solidFill>
              </a:rPr>
              <a:t>15</a:t>
            </a:r>
          </a:p>
        </p:txBody>
      </p:sp>
      <p:sp>
        <p:nvSpPr>
          <p:cNvPr id="33" name="Task 1 now 3-4"/>
          <p:cNvSpPr/>
          <p:nvPr/>
        </p:nvSpPr>
        <p:spPr>
          <a:xfrm>
            <a:off x="7708392" y="1911096"/>
            <a:ext cx="978408" cy="31089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ask 1 now text 3-4"/>
          <p:cNvSpPr txBox="1"/>
          <p:nvPr/>
        </p:nvSpPr>
        <p:spPr>
          <a:xfrm>
            <a:off x="7799832" y="1911096"/>
            <a:ext cx="768096" cy="310896"/>
          </a:xfrm>
          <a:prstGeom prst="rect">
            <a:avLst/>
          </a:prstGeom>
          <a:noFill/>
        </p:spPr>
        <p:txBody>
          <a:bodyPr wrap="square" lIns="0" rIns="0" tIns="0" bIns="0" anchor="ctr">
            <a:noAutofit/>
          </a:bodyPr>
          <a:lstStyle/>
          <a:p>
            <a:pPr algn="r">
              <a:spcAft>
                <a:spcPts val="400"/>
              </a:spcAft>
            </a:pPr>
            <a:r>
              <a:rPr sz="1150" b="0" lang="en-GB">
                <a:solidFill>
                  <a:schemeClr val="tx1"/>
                </a:solidFill>
              </a:rPr>
              <a:t>3.00</a:t>
            </a:r>
          </a:p>
        </p:txBody>
      </p:sp>
      <p:sp>
        <p:nvSpPr>
          <p:cNvPr id="35" name="Task 1 now 4-1"/>
          <p:cNvSpPr/>
          <p:nvPr/>
        </p:nvSpPr>
        <p:spPr>
          <a:xfrm>
            <a:off x="4800600" y="2249424"/>
            <a:ext cx="941832" cy="31089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ask 1 now text 4-1"/>
          <p:cNvSpPr txBox="1"/>
          <p:nvPr/>
        </p:nvSpPr>
        <p:spPr>
          <a:xfrm>
            <a:off x="4892040" y="2249424"/>
            <a:ext cx="758952" cy="310896"/>
          </a:xfrm>
          <a:prstGeom prst="rect">
            <a:avLst/>
          </a:prstGeom>
          <a:noFill/>
        </p:spPr>
        <p:txBody>
          <a:bodyPr wrap="square" lIns="0" rIns="0" tIns="0" bIns="0" anchor="ctr">
            <a:noAutofit/>
          </a:bodyPr>
          <a:lstStyle/>
          <a:p>
            <a:pPr algn="l">
              <a:spcAft>
                <a:spcPts val="400"/>
              </a:spcAft>
            </a:pPr>
            <a:r>
              <a:rPr sz="1150" b="1" lang="en-GB">
                <a:solidFill>
                  <a:schemeClr val="tx2"/>
                </a:solidFill>
              </a:rPr>
              <a:t>Search</a:t>
            </a:r>
          </a:p>
        </p:txBody>
      </p:sp>
      <p:sp>
        <p:nvSpPr>
          <p:cNvPr id="37" name="Task 1 now 4-2"/>
          <p:cNvSpPr/>
          <p:nvPr/>
        </p:nvSpPr>
        <p:spPr>
          <a:xfrm>
            <a:off x="5769864" y="2249424"/>
            <a:ext cx="941832" cy="31089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ask 1 now text 4-2"/>
          <p:cNvSpPr txBox="1"/>
          <p:nvPr/>
        </p:nvSpPr>
        <p:spPr>
          <a:xfrm>
            <a:off x="5861304" y="2249424"/>
            <a:ext cx="758952" cy="310896"/>
          </a:xfrm>
          <a:prstGeom prst="rect">
            <a:avLst/>
          </a:prstGeom>
          <a:noFill/>
        </p:spPr>
        <p:txBody>
          <a:bodyPr wrap="square" lIns="0" rIns="0" tIns="0" bIns="0" anchor="ctr">
            <a:noAutofit/>
          </a:bodyPr>
          <a:lstStyle/>
          <a:p>
            <a:pPr algn="r">
              <a:spcAft>
                <a:spcPts val="400"/>
              </a:spcAft>
            </a:pPr>
            <a:r>
              <a:rPr sz="1150" b="0" lang="en-GB">
                <a:solidFill>
                  <a:schemeClr val="tx1"/>
                </a:solidFill>
              </a:rPr>
              <a:t>40</a:t>
            </a:r>
          </a:p>
        </p:txBody>
      </p:sp>
      <p:sp>
        <p:nvSpPr>
          <p:cNvPr id="39" name="Task 1 now 4-3"/>
          <p:cNvSpPr/>
          <p:nvPr/>
        </p:nvSpPr>
        <p:spPr>
          <a:xfrm>
            <a:off x="6739128" y="2249424"/>
            <a:ext cx="941832" cy="31089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Task 1 now text 4-3"/>
          <p:cNvSpPr txBox="1"/>
          <p:nvPr/>
        </p:nvSpPr>
        <p:spPr>
          <a:xfrm>
            <a:off x="6830568" y="2249424"/>
            <a:ext cx="758952" cy="310896"/>
          </a:xfrm>
          <a:prstGeom prst="rect">
            <a:avLst/>
          </a:prstGeom>
          <a:noFill/>
        </p:spPr>
        <p:txBody>
          <a:bodyPr wrap="square" lIns="0" rIns="0" tIns="0" bIns="0" anchor="ctr">
            <a:noAutofit/>
          </a:bodyPr>
          <a:lstStyle/>
          <a:p>
            <a:pPr algn="r">
              <a:spcAft>
                <a:spcPts val="400"/>
              </a:spcAft>
            </a:pPr>
            <a:r>
              <a:rPr sz="1150" b="0" lang="en-GB">
                <a:solidFill>
                  <a:schemeClr val="tx1"/>
                </a:solidFill>
              </a:rPr>
              <a:t>48</a:t>
            </a:r>
          </a:p>
        </p:txBody>
      </p:sp>
      <p:sp>
        <p:nvSpPr>
          <p:cNvPr id="41" name="Task 1 now 4-4"/>
          <p:cNvSpPr/>
          <p:nvPr/>
        </p:nvSpPr>
        <p:spPr>
          <a:xfrm>
            <a:off x="7708392" y="2249424"/>
            <a:ext cx="978408" cy="31089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Task 1 now text 4-4"/>
          <p:cNvSpPr txBox="1"/>
          <p:nvPr/>
        </p:nvSpPr>
        <p:spPr>
          <a:xfrm>
            <a:off x="7799832" y="2249424"/>
            <a:ext cx="768096" cy="310896"/>
          </a:xfrm>
          <a:prstGeom prst="rect">
            <a:avLst/>
          </a:prstGeom>
          <a:noFill/>
        </p:spPr>
        <p:txBody>
          <a:bodyPr wrap="square" lIns="0" rIns="0" tIns="0" bIns="0" anchor="ctr">
            <a:noAutofit/>
          </a:bodyPr>
          <a:lstStyle/>
          <a:p>
            <a:pPr algn="r">
              <a:spcAft>
                <a:spcPts val="400"/>
              </a:spcAft>
            </a:pPr>
            <a:r>
              <a:rPr sz="1150" b="0" lang="en-GB">
                <a:solidFill>
                  <a:schemeClr val="tx1"/>
                </a:solidFill>
              </a:rPr>
              <a:t>1.20</a:t>
            </a:r>
          </a:p>
        </p:txBody>
      </p:sp>
      <p:sp>
        <p:nvSpPr>
          <p:cNvPr id="43" name="Task 1 moves 1-1"/>
          <p:cNvSpPr/>
          <p:nvPr/>
        </p:nvSpPr>
        <p:spPr>
          <a:xfrm>
            <a:off x="4800600" y="2697480"/>
            <a:ext cx="1207008" cy="310896"/>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Task 1 moves text 1-1"/>
          <p:cNvSpPr txBox="1"/>
          <p:nvPr/>
        </p:nvSpPr>
        <p:spPr>
          <a:xfrm>
            <a:off x="4892040" y="2697480"/>
            <a:ext cx="1024128" cy="310896"/>
          </a:xfrm>
          <a:prstGeom prst="rect">
            <a:avLst/>
          </a:prstGeom>
          <a:noFill/>
        </p:spPr>
        <p:txBody>
          <a:bodyPr wrap="square" lIns="0" rIns="0" tIns="0" bIns="0" anchor="ctr">
            <a:noAutofit/>
          </a:bodyPr>
          <a:lstStyle/>
          <a:p>
            <a:pPr algn="l">
              <a:spcAft>
                <a:spcPts val="400"/>
              </a:spcAft>
            </a:pPr>
            <a:r>
              <a:rPr sz="1150" b="1" lang="en-GB">
                <a:solidFill>
                  <a:schemeClr val="bg1"/>
                </a:solidFill>
              </a:rPr>
              <a:t>Sales at</a:t>
            </a:r>
          </a:p>
        </p:txBody>
      </p:sp>
      <p:sp>
        <p:nvSpPr>
          <p:cNvPr id="45" name="Task 1 moves 1-2"/>
          <p:cNvSpPr/>
          <p:nvPr/>
        </p:nvSpPr>
        <p:spPr>
          <a:xfrm>
            <a:off x="6035040" y="2697480"/>
            <a:ext cx="1298448" cy="310896"/>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6" name="Task 1 moves text 1-2"/>
          <p:cNvSpPr txBox="1"/>
          <p:nvPr/>
        </p:nvSpPr>
        <p:spPr>
          <a:xfrm>
            <a:off x="6126480" y="2697480"/>
            <a:ext cx="1115568" cy="310896"/>
          </a:xfrm>
          <a:prstGeom prst="rect">
            <a:avLst/>
          </a:prstGeom>
          <a:noFill/>
        </p:spPr>
        <p:txBody>
          <a:bodyPr wrap="square" lIns="0" rIns="0" tIns="0" bIns="0" anchor="ctr">
            <a:noAutofit/>
          </a:bodyPr>
          <a:lstStyle/>
          <a:p>
            <a:pPr algn="r">
              <a:spcAft>
                <a:spcPts val="400"/>
              </a:spcAft>
            </a:pPr>
            <a:r>
              <a:rPr sz="1150" b="1" lang="en-GB">
                <a:solidFill>
                  <a:schemeClr val="bg1"/>
                </a:solidFill>
              </a:rPr>
              <a:t>−10 k EUR</a:t>
            </a:r>
          </a:p>
        </p:txBody>
      </p:sp>
      <p:sp>
        <p:nvSpPr>
          <p:cNvPr id="47" name="Task 1 moves 1-3"/>
          <p:cNvSpPr/>
          <p:nvPr/>
        </p:nvSpPr>
        <p:spPr>
          <a:xfrm>
            <a:off x="7360920" y="2697480"/>
            <a:ext cx="1325880" cy="310896"/>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 name="Task 1 moves text 1-3"/>
          <p:cNvSpPr txBox="1"/>
          <p:nvPr/>
        </p:nvSpPr>
        <p:spPr>
          <a:xfrm>
            <a:off x="7452360" y="2697480"/>
            <a:ext cx="1115568" cy="310896"/>
          </a:xfrm>
          <a:prstGeom prst="rect">
            <a:avLst/>
          </a:prstGeom>
          <a:noFill/>
        </p:spPr>
        <p:txBody>
          <a:bodyPr wrap="square" lIns="0" rIns="0" tIns="0" bIns="0" anchor="ctr">
            <a:noAutofit/>
          </a:bodyPr>
          <a:lstStyle/>
          <a:p>
            <a:pPr algn="r">
              <a:spcAft>
                <a:spcPts val="400"/>
              </a:spcAft>
            </a:pPr>
            <a:r>
              <a:rPr sz="1150" b="1" lang="en-GB">
                <a:solidFill>
                  <a:schemeClr val="bg1"/>
                </a:solidFill>
              </a:rPr>
              <a:t>+10 k EUR</a:t>
            </a:r>
          </a:p>
        </p:txBody>
      </p:sp>
      <p:sp>
        <p:nvSpPr>
          <p:cNvPr id="49" name="Task 1 moves 2-1"/>
          <p:cNvSpPr/>
          <p:nvPr/>
        </p:nvSpPr>
        <p:spPr>
          <a:xfrm>
            <a:off x="4800600" y="3035808"/>
            <a:ext cx="1207008" cy="31089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0" name="Task 1 moves text 2-1"/>
          <p:cNvSpPr txBox="1"/>
          <p:nvPr/>
        </p:nvSpPr>
        <p:spPr>
          <a:xfrm>
            <a:off x="4892040" y="3035808"/>
            <a:ext cx="1024128" cy="310896"/>
          </a:xfrm>
          <a:prstGeom prst="rect">
            <a:avLst/>
          </a:prstGeom>
          <a:noFill/>
        </p:spPr>
        <p:txBody>
          <a:bodyPr wrap="square" lIns="0" rIns="0" tIns="0" bIns="0" anchor="ctr">
            <a:noAutofit/>
          </a:bodyPr>
          <a:lstStyle/>
          <a:p>
            <a:pPr algn="l">
              <a:spcAft>
                <a:spcPts val="400"/>
              </a:spcAft>
            </a:pPr>
            <a:r>
              <a:rPr sz="1150" b="1" lang="en-GB">
                <a:solidFill>
                  <a:schemeClr val="tx2"/>
                </a:solidFill>
              </a:rPr>
              <a:t>TV</a:t>
            </a:r>
          </a:p>
        </p:txBody>
      </p:sp>
      <p:sp>
        <p:nvSpPr>
          <p:cNvPr id="51" name="Task 1 moves 2-2"/>
          <p:cNvSpPr/>
          <p:nvPr/>
        </p:nvSpPr>
        <p:spPr>
          <a:xfrm>
            <a:off x="6035040" y="3035808"/>
            <a:ext cx="1298448" cy="31089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2" name="Task 1 moves text 2-2"/>
          <p:cNvSpPr txBox="1"/>
          <p:nvPr/>
        </p:nvSpPr>
        <p:spPr>
          <a:xfrm>
            <a:off x="6126480" y="3035808"/>
            <a:ext cx="1115568" cy="310896"/>
          </a:xfrm>
          <a:prstGeom prst="rect">
            <a:avLst/>
          </a:prstGeom>
          <a:noFill/>
        </p:spPr>
        <p:txBody>
          <a:bodyPr wrap="square" lIns="0" rIns="0" tIns="0" bIns="0" anchor="ctr">
            <a:noAutofit/>
          </a:bodyPr>
          <a:lstStyle/>
          <a:p>
            <a:pPr algn="r">
              <a:spcAft>
                <a:spcPts val="400"/>
              </a:spcAft>
            </a:pPr>
            <a:r>
              <a:rPr sz="1150" b="0" lang="en-GB">
                <a:solidFill>
                  <a:schemeClr val="tx1"/>
                </a:solidFill>
              </a:rPr>
              <a:t>20</a:t>
            </a:r>
          </a:p>
        </p:txBody>
      </p:sp>
      <p:sp>
        <p:nvSpPr>
          <p:cNvPr id="53" name="Task 1 moves 2-3"/>
          <p:cNvSpPr/>
          <p:nvPr/>
        </p:nvSpPr>
        <p:spPr>
          <a:xfrm>
            <a:off x="7360920" y="3035808"/>
            <a:ext cx="1325880" cy="31089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4" name="Task 1 moves text 2-3"/>
          <p:cNvSpPr txBox="1"/>
          <p:nvPr/>
        </p:nvSpPr>
        <p:spPr>
          <a:xfrm>
            <a:off x="7452360" y="3035808"/>
            <a:ext cx="1115568" cy="310896"/>
          </a:xfrm>
          <a:prstGeom prst="rect">
            <a:avLst/>
          </a:prstGeom>
          <a:noFill/>
        </p:spPr>
        <p:txBody>
          <a:bodyPr wrap="square" lIns="0" rIns="0" tIns="0" bIns="0" anchor="ctr">
            <a:noAutofit/>
          </a:bodyPr>
          <a:lstStyle/>
          <a:p>
            <a:pPr algn="r">
              <a:spcAft>
                <a:spcPts val="400"/>
              </a:spcAft>
            </a:pPr>
            <a:r>
              <a:rPr sz="1150" b="0" lang="en-GB">
                <a:solidFill>
                  <a:schemeClr val="tx1"/>
                </a:solidFill>
              </a:rPr>
              <a:t>36</a:t>
            </a:r>
          </a:p>
        </p:txBody>
      </p:sp>
      <p:sp>
        <p:nvSpPr>
          <p:cNvPr id="55" name="Task 1 moves 3-1"/>
          <p:cNvSpPr/>
          <p:nvPr/>
        </p:nvSpPr>
        <p:spPr>
          <a:xfrm>
            <a:off x="4800600" y="3374136"/>
            <a:ext cx="1207008" cy="31089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6" name="Task 1 moves text 3-1"/>
          <p:cNvSpPr txBox="1"/>
          <p:nvPr/>
        </p:nvSpPr>
        <p:spPr>
          <a:xfrm>
            <a:off x="4892040" y="3374136"/>
            <a:ext cx="1024128" cy="310896"/>
          </a:xfrm>
          <a:prstGeom prst="rect">
            <a:avLst/>
          </a:prstGeom>
          <a:noFill/>
        </p:spPr>
        <p:txBody>
          <a:bodyPr wrap="square" lIns="0" rIns="0" tIns="0" bIns="0" anchor="ctr">
            <a:noAutofit/>
          </a:bodyPr>
          <a:lstStyle/>
          <a:p>
            <a:pPr algn="l">
              <a:spcAft>
                <a:spcPts val="400"/>
              </a:spcAft>
            </a:pPr>
            <a:r>
              <a:rPr sz="1150" b="1" lang="en-GB">
                <a:solidFill>
                  <a:schemeClr val="tx2"/>
                </a:solidFill>
              </a:rPr>
              <a:t>YouTube</a:t>
            </a:r>
          </a:p>
        </p:txBody>
      </p:sp>
      <p:sp>
        <p:nvSpPr>
          <p:cNvPr id="57" name="Task 1 moves 3-2"/>
          <p:cNvSpPr/>
          <p:nvPr/>
        </p:nvSpPr>
        <p:spPr>
          <a:xfrm>
            <a:off x="6035040" y="3374136"/>
            <a:ext cx="1298448" cy="31089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8" name="Task 1 moves text 3-2"/>
          <p:cNvSpPr txBox="1"/>
          <p:nvPr/>
        </p:nvSpPr>
        <p:spPr>
          <a:xfrm>
            <a:off x="6126480" y="3374136"/>
            <a:ext cx="1115568" cy="310896"/>
          </a:xfrm>
          <a:prstGeom prst="rect">
            <a:avLst/>
          </a:prstGeom>
          <a:noFill/>
        </p:spPr>
        <p:txBody>
          <a:bodyPr wrap="square" lIns="0" rIns="0" tIns="0" bIns="0" anchor="ctr">
            <a:noAutofit/>
          </a:bodyPr>
          <a:lstStyle/>
          <a:p>
            <a:pPr algn="r">
              <a:spcAft>
                <a:spcPts val="400"/>
              </a:spcAft>
            </a:pPr>
            <a:r>
              <a:rPr sz="1150" b="0" lang="en-GB">
                <a:solidFill>
                  <a:schemeClr val="tx1"/>
                </a:solidFill>
              </a:rPr>
              <a:t>–</a:t>
            </a:r>
          </a:p>
        </p:txBody>
      </p:sp>
      <p:sp>
        <p:nvSpPr>
          <p:cNvPr id="59" name="Task 1 moves 3-3"/>
          <p:cNvSpPr/>
          <p:nvPr/>
        </p:nvSpPr>
        <p:spPr>
          <a:xfrm>
            <a:off x="7360920" y="3374136"/>
            <a:ext cx="1325880" cy="31089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0" name="Task 1 moves text 3-3"/>
          <p:cNvSpPr txBox="1"/>
          <p:nvPr/>
        </p:nvSpPr>
        <p:spPr>
          <a:xfrm>
            <a:off x="7452360" y="3374136"/>
            <a:ext cx="1115568" cy="310896"/>
          </a:xfrm>
          <a:prstGeom prst="rect">
            <a:avLst/>
          </a:prstGeom>
          <a:noFill/>
        </p:spPr>
        <p:txBody>
          <a:bodyPr wrap="square" lIns="0" rIns="0" tIns="0" bIns="0" anchor="ctr">
            <a:noAutofit/>
          </a:bodyPr>
          <a:lstStyle/>
          <a:p>
            <a:pPr algn="r">
              <a:spcAft>
                <a:spcPts val="400"/>
              </a:spcAft>
            </a:pPr>
            <a:r>
              <a:rPr sz="1150" b="0" lang="en-GB">
                <a:solidFill>
                  <a:schemeClr val="tx1"/>
                </a:solidFill>
              </a:rPr>
              <a:t>30</a:t>
            </a:r>
          </a:p>
        </p:txBody>
      </p:sp>
      <p:sp>
        <p:nvSpPr>
          <p:cNvPr id="61" name="Task 1 moves 4-1"/>
          <p:cNvSpPr/>
          <p:nvPr/>
        </p:nvSpPr>
        <p:spPr>
          <a:xfrm>
            <a:off x="4800600" y="3712464"/>
            <a:ext cx="1207008" cy="31089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2" name="Task 1 moves text 4-1"/>
          <p:cNvSpPr txBox="1"/>
          <p:nvPr/>
        </p:nvSpPr>
        <p:spPr>
          <a:xfrm>
            <a:off x="4892040" y="3712464"/>
            <a:ext cx="1024128" cy="310896"/>
          </a:xfrm>
          <a:prstGeom prst="rect">
            <a:avLst/>
          </a:prstGeom>
          <a:noFill/>
        </p:spPr>
        <p:txBody>
          <a:bodyPr wrap="square" lIns="0" rIns="0" tIns="0" bIns="0" anchor="ctr">
            <a:noAutofit/>
          </a:bodyPr>
          <a:lstStyle/>
          <a:p>
            <a:pPr algn="l">
              <a:spcAft>
                <a:spcPts val="400"/>
              </a:spcAft>
            </a:pPr>
            <a:r>
              <a:rPr sz="1150" b="1" lang="en-GB">
                <a:solidFill>
                  <a:schemeClr val="tx2"/>
                </a:solidFill>
              </a:rPr>
              <a:t>Search</a:t>
            </a:r>
          </a:p>
        </p:txBody>
      </p:sp>
      <p:sp>
        <p:nvSpPr>
          <p:cNvPr id="63" name="Task 1 moves 4-2"/>
          <p:cNvSpPr/>
          <p:nvPr/>
        </p:nvSpPr>
        <p:spPr>
          <a:xfrm>
            <a:off x="6035040" y="3712464"/>
            <a:ext cx="1298448" cy="31089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4" name="Task 1 moves text 4-2"/>
          <p:cNvSpPr txBox="1"/>
          <p:nvPr/>
        </p:nvSpPr>
        <p:spPr>
          <a:xfrm>
            <a:off x="6126480" y="3712464"/>
            <a:ext cx="1115568" cy="310896"/>
          </a:xfrm>
          <a:prstGeom prst="rect">
            <a:avLst/>
          </a:prstGeom>
          <a:noFill/>
        </p:spPr>
        <p:txBody>
          <a:bodyPr wrap="square" lIns="0" rIns="0" tIns="0" bIns="0" anchor="ctr">
            <a:noAutofit/>
          </a:bodyPr>
          <a:lstStyle/>
          <a:p>
            <a:pPr algn="r">
              <a:spcAft>
                <a:spcPts val="400"/>
              </a:spcAft>
            </a:pPr>
            <a:r>
              <a:rPr sz="1150" b="0" lang="en-GB">
                <a:solidFill>
                  <a:schemeClr val="tx1"/>
                </a:solidFill>
              </a:rPr>
              <a:t>45</a:t>
            </a:r>
          </a:p>
        </p:txBody>
      </p:sp>
      <p:sp>
        <p:nvSpPr>
          <p:cNvPr id="65" name="Task 1 moves 4-3"/>
          <p:cNvSpPr/>
          <p:nvPr/>
        </p:nvSpPr>
        <p:spPr>
          <a:xfrm>
            <a:off x="7360920" y="3712464"/>
            <a:ext cx="1325880" cy="31089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6" name="Task 1 moves text 4-3"/>
          <p:cNvSpPr txBox="1"/>
          <p:nvPr/>
        </p:nvSpPr>
        <p:spPr>
          <a:xfrm>
            <a:off x="7452360" y="3712464"/>
            <a:ext cx="1115568" cy="310896"/>
          </a:xfrm>
          <a:prstGeom prst="rect">
            <a:avLst/>
          </a:prstGeom>
          <a:noFill/>
        </p:spPr>
        <p:txBody>
          <a:bodyPr wrap="square" lIns="0" rIns="0" tIns="0" bIns="0" anchor="ctr">
            <a:noAutofit/>
          </a:bodyPr>
          <a:lstStyle/>
          <a:p>
            <a:pPr algn="r">
              <a:spcAft>
                <a:spcPts val="400"/>
              </a:spcAft>
            </a:pPr>
            <a:r>
              <a:rPr sz="1150" b="0" lang="en-GB">
                <a:solidFill>
                  <a:schemeClr val="tx1"/>
                </a:solidFill>
              </a:rPr>
              <a:t>50</a:t>
            </a:r>
          </a:p>
        </p:txBody>
      </p:sp>
      <p:sp>
        <p:nvSpPr>
          <p:cNvPr id="67" name="Task 1 move box"/>
          <p:cNvSpPr/>
          <p:nvPr/>
        </p:nvSpPr>
        <p:spPr>
          <a:xfrm>
            <a:off x="457200" y="4160520"/>
            <a:ext cx="8229600" cy="4572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8" name="Task 1 move text"/>
          <p:cNvSpPr txBox="1"/>
          <p:nvPr/>
        </p:nvSpPr>
        <p:spPr>
          <a:xfrm>
            <a:off x="658368" y="4160520"/>
            <a:ext cx="7827264" cy="457200"/>
          </a:xfrm>
          <a:prstGeom prst="rect">
            <a:avLst/>
          </a:prstGeom>
          <a:noFill/>
        </p:spPr>
        <p:txBody>
          <a:bodyPr wrap="square" lIns="0" rIns="0" tIns="0" bIns="0" anchor="ctr">
            <a:noAutofit/>
          </a:bodyPr>
          <a:lstStyle/>
          <a:p>
            <a:pPr algn="l">
              <a:spcAft>
                <a:spcPts val="400"/>
              </a:spcAft>
            </a:pPr>
            <a:r>
              <a:rPr sz="1200" b="1" lang="en-GB">
                <a:solidFill>
                  <a:schemeClr val="bg1"/>
                </a:solidFill>
              </a:rPr>
              <a:t>Your move: </a:t>
            </a:r>
            <a:r>
              <a:rPr sz="1200" b="0" lang="en-GB">
                <a:solidFill>
                  <a:schemeClr val="bg1"/>
                </a:solidFill>
              </a:rPr>
              <a:t>which channel gives 10 k EUR a week, which one gets it, and why?</a:t>
            </a:r>
          </a:p>
        </p:txBody>
      </p:sp>
      <p:sp>
        <p:nvSpPr>
          <p:cNvPr id="69" name="Sources"/>
          <p:cNvSpPr txBox="1"/>
          <p:nvPr/>
        </p:nvSpPr>
        <p:spPr>
          <a:xfrm>
            <a:off x="457200" y="4818888"/>
            <a:ext cx="8229600" cy="256032"/>
          </a:xfrm>
          <a:prstGeom prst="rect">
            <a:avLst/>
          </a:prstGeom>
          <a:noFill/>
        </p:spPr>
        <p:txBody>
          <a:bodyPr wrap="square" lIns="0" rIns="0" tIns="0" bIns="0" anchor="ctr">
            <a:noAutofit/>
          </a:bodyPr>
          <a:lstStyle/>
          <a:p>
            <a:pPr algn="l">
              <a:spcAft>
                <a:spcPts val="0"/>
              </a:spcAft>
            </a:pPr>
            <a:r>
              <a:rPr sz="1100" b="0" lang="en-GB">
                <a:solidFill>
                  <a:srgbClr val="595959"/>
                </a:solidFill>
              </a:rPr>
              <a:t>Invented round numbers (assignment)</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Open data for MMM projects</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Data 1 tile"/>
          <p:cNvSpPr/>
          <p:nvPr/>
        </p:nvSpPr>
        <p:spPr>
          <a:xfrm>
            <a:off x="457200" y="1234440"/>
            <a:ext cx="4046220" cy="123444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1" name="Icon Data 1" descr=""/>
          <p:cNvPicPr>
            <a:picLocks noChangeAspect="1"/>
          </p:cNvPicPr>
          <p:nvPr/>
        </p:nvPicPr>
        <p:blipFill>
          <a:blip r:embed="rId3"/>
          <a:stretch>
            <a:fillRect/>
          </a:stretch>
        </p:blipFill>
        <p:spPr>
          <a:xfrm>
            <a:off x="594360" y="1353312"/>
            <a:ext cx="365760" cy="365760"/>
          </a:xfrm>
          <a:prstGeom prst="rect">
            <a:avLst/>
          </a:prstGeom>
        </p:spPr>
      </p:pic>
      <p:sp>
        <p:nvSpPr>
          <p:cNvPr id="12" name="Data 1 heading"/>
          <p:cNvSpPr txBox="1"/>
          <p:nvPr/>
        </p:nvSpPr>
        <p:spPr>
          <a:xfrm>
            <a:off x="1051560" y="1353312"/>
            <a:ext cx="3360420" cy="365760"/>
          </a:xfrm>
          <a:prstGeom prst="rect">
            <a:avLst/>
          </a:prstGeom>
          <a:noFill/>
        </p:spPr>
        <p:txBody>
          <a:bodyPr wrap="square" lIns="0" rIns="0" tIns="0" bIns="0" anchor="ctr">
            <a:noAutofit/>
          </a:bodyPr>
          <a:lstStyle/>
          <a:p>
            <a:pPr algn="l">
              <a:spcAft>
                <a:spcPts val="400"/>
              </a:spcAft>
            </a:pPr>
            <a:r>
              <a:rPr sz="1500" b="1" lang="en-GB">
                <a:solidFill>
                  <a:schemeClr val="tx2"/>
                </a:solidFill>
                <a:latin typeface="+mj-lt"/>
              </a:rPr>
              <a:t>Conjura eCommerce MMM</a:t>
            </a:r>
          </a:p>
        </p:txBody>
      </p:sp>
      <p:sp>
        <p:nvSpPr>
          <p:cNvPr id="13" name="Data 1 text"/>
          <p:cNvSpPr txBox="1"/>
          <p:nvPr/>
        </p:nvSpPr>
        <p:spPr>
          <a:xfrm>
            <a:off x="594360" y="1801368"/>
            <a:ext cx="3771900" cy="594360"/>
          </a:xfrm>
          <a:prstGeom prst="rect">
            <a:avLst/>
          </a:prstGeom>
          <a:noFill/>
        </p:spPr>
        <p:txBody>
          <a:bodyPr wrap="square" lIns="0" rIns="0" tIns="0" bIns="0" anchor="t">
            <a:noAutofit/>
          </a:bodyPr>
          <a:lstStyle/>
          <a:p>
            <a:pPr algn="l">
              <a:spcAft>
                <a:spcPts val="400"/>
              </a:spcAft>
            </a:pPr>
            <a:r>
              <a:rPr sz="1200" b="0" lang="en-GB">
                <a:solidFill>
                  <a:schemeClr val="tx1"/>
                </a:solidFill>
              </a:rPr>
              <a:t>Real, anonymised daily data of about 100 web shops; Google, Meta, TikTok</a:t>
            </a:r>
          </a:p>
          <a:p>
            <a:pPr algn="l">
              <a:spcAft>
                <a:spcPts val="400"/>
              </a:spcAft>
            </a:pPr>
            <a:r>
              <a:rPr sz="1200" b="1" lang="en-GB">
                <a:solidFill>
                  <a:schemeClr val="tx2"/>
                </a:solidFill>
              </a:rPr>
              <a:t>Licence: </a:t>
            </a:r>
            <a:r>
              <a:rPr sz="1200" b="0" lang="en-GB">
                <a:solidFill>
                  <a:schemeClr val="tx1"/>
                </a:solidFill>
              </a:rPr>
              <a:t>CC BY 4.0 (our Part 4)</a:t>
            </a:r>
          </a:p>
        </p:txBody>
      </p:sp>
      <p:sp>
        <p:nvSpPr>
          <p:cNvPr id="14" name="Data 2 tile"/>
          <p:cNvSpPr/>
          <p:nvPr/>
        </p:nvSpPr>
        <p:spPr>
          <a:xfrm>
            <a:off x="4640580" y="1234440"/>
            <a:ext cx="4046220" cy="123444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5" name="Icon Data 2" descr=""/>
          <p:cNvPicPr>
            <a:picLocks noChangeAspect="1"/>
          </p:cNvPicPr>
          <p:nvPr/>
        </p:nvPicPr>
        <p:blipFill>
          <a:blip r:embed="rId4"/>
          <a:stretch>
            <a:fillRect/>
          </a:stretch>
        </p:blipFill>
        <p:spPr>
          <a:xfrm>
            <a:off x="4777740" y="1353312"/>
            <a:ext cx="365760" cy="365760"/>
          </a:xfrm>
          <a:prstGeom prst="rect">
            <a:avLst/>
          </a:prstGeom>
        </p:spPr>
      </p:pic>
      <p:sp>
        <p:nvSpPr>
          <p:cNvPr id="16" name="Data 2 heading"/>
          <p:cNvSpPr txBox="1"/>
          <p:nvPr/>
        </p:nvSpPr>
        <p:spPr>
          <a:xfrm>
            <a:off x="5234940" y="1353312"/>
            <a:ext cx="3360420" cy="365760"/>
          </a:xfrm>
          <a:prstGeom prst="rect">
            <a:avLst/>
          </a:prstGeom>
          <a:noFill/>
        </p:spPr>
        <p:txBody>
          <a:bodyPr wrap="square" lIns="0" rIns="0" tIns="0" bIns="0" anchor="ctr">
            <a:noAutofit/>
          </a:bodyPr>
          <a:lstStyle/>
          <a:p>
            <a:pPr algn="l">
              <a:spcAft>
                <a:spcPts val="400"/>
              </a:spcAft>
            </a:pPr>
            <a:r>
              <a:rPr sz="1500" b="1" lang="en-GB">
                <a:solidFill>
                  <a:schemeClr val="tx2"/>
                </a:solidFill>
                <a:latin typeface="+mj-lt"/>
              </a:rPr>
              <a:t>Meridian geo data</a:t>
            </a:r>
          </a:p>
        </p:txBody>
      </p:sp>
      <p:sp>
        <p:nvSpPr>
          <p:cNvPr id="17" name="Data 2 text"/>
          <p:cNvSpPr txBox="1"/>
          <p:nvPr/>
        </p:nvSpPr>
        <p:spPr>
          <a:xfrm>
            <a:off x="4777740" y="1801368"/>
            <a:ext cx="3771900" cy="594360"/>
          </a:xfrm>
          <a:prstGeom prst="rect">
            <a:avLst/>
          </a:prstGeom>
          <a:noFill/>
        </p:spPr>
        <p:txBody>
          <a:bodyPr wrap="square" lIns="0" rIns="0" tIns="0" bIns="0" anchor="t">
            <a:noAutofit/>
          </a:bodyPr>
          <a:lstStyle/>
          <a:p>
            <a:pPr algn="l">
              <a:spcAft>
                <a:spcPts val="400"/>
              </a:spcAft>
            </a:pPr>
            <a:r>
              <a:rPr sz="1200" b="0" lang="en-GB">
                <a:solidFill>
                  <a:schemeClr val="tx1"/>
                </a:solidFill>
              </a:rPr>
              <a:t>Simulated weekly panels, many regions, reach and frequency</a:t>
            </a:r>
          </a:p>
          <a:p>
            <a:pPr algn="l">
              <a:spcAft>
                <a:spcPts val="400"/>
              </a:spcAft>
            </a:pPr>
            <a:r>
              <a:rPr sz="1200" b="1" lang="en-GB">
                <a:solidFill>
                  <a:schemeClr val="tx2"/>
                </a:solidFill>
              </a:rPr>
              <a:t>Use: </a:t>
            </a:r>
            <a:r>
              <a:rPr sz="1200" b="0" lang="en-GB">
                <a:solidFill>
                  <a:schemeClr val="tx1"/>
                </a:solidFill>
              </a:rPr>
              <a:t>geo vs national model</a:t>
            </a:r>
          </a:p>
        </p:txBody>
      </p:sp>
      <p:sp>
        <p:nvSpPr>
          <p:cNvPr id="18" name="Data 3 tile"/>
          <p:cNvSpPr/>
          <p:nvPr/>
        </p:nvSpPr>
        <p:spPr>
          <a:xfrm>
            <a:off x="457200" y="2606040"/>
            <a:ext cx="4046220" cy="123444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9" name="Icon Data 3" descr=""/>
          <p:cNvPicPr>
            <a:picLocks noChangeAspect="1"/>
          </p:cNvPicPr>
          <p:nvPr/>
        </p:nvPicPr>
        <p:blipFill>
          <a:blip r:embed="rId5"/>
          <a:stretch>
            <a:fillRect/>
          </a:stretch>
        </p:blipFill>
        <p:spPr>
          <a:xfrm>
            <a:off x="594360" y="2724912"/>
            <a:ext cx="365760" cy="365760"/>
          </a:xfrm>
          <a:prstGeom prst="rect">
            <a:avLst/>
          </a:prstGeom>
        </p:spPr>
      </p:pic>
      <p:sp>
        <p:nvSpPr>
          <p:cNvPr id="20" name="Data 3 heading"/>
          <p:cNvSpPr txBox="1"/>
          <p:nvPr/>
        </p:nvSpPr>
        <p:spPr>
          <a:xfrm>
            <a:off x="1051560" y="2724912"/>
            <a:ext cx="3360420" cy="365760"/>
          </a:xfrm>
          <a:prstGeom prst="rect">
            <a:avLst/>
          </a:prstGeom>
          <a:noFill/>
        </p:spPr>
        <p:txBody>
          <a:bodyPr wrap="square" lIns="0" rIns="0" tIns="0" bIns="0" anchor="ctr">
            <a:noAutofit/>
          </a:bodyPr>
          <a:lstStyle/>
          <a:p>
            <a:pPr algn="l">
              <a:spcAft>
                <a:spcPts val="400"/>
              </a:spcAft>
            </a:pPr>
            <a:r>
              <a:rPr sz="1500" b="1" lang="en-GB">
                <a:solidFill>
                  <a:schemeClr val="tx2"/>
                </a:solidFill>
                <a:latin typeface="+mj-lt"/>
              </a:rPr>
              <a:t>PyMC-Marketing data</a:t>
            </a:r>
          </a:p>
        </p:txBody>
      </p:sp>
      <p:sp>
        <p:nvSpPr>
          <p:cNvPr id="21" name="Data 3 text"/>
          <p:cNvSpPr txBox="1"/>
          <p:nvPr/>
        </p:nvSpPr>
        <p:spPr>
          <a:xfrm>
            <a:off x="594360" y="3172968"/>
            <a:ext cx="3771900" cy="594360"/>
          </a:xfrm>
          <a:prstGeom prst="rect">
            <a:avLst/>
          </a:prstGeom>
          <a:noFill/>
        </p:spPr>
        <p:txBody>
          <a:bodyPr wrap="square" lIns="0" rIns="0" tIns="0" bIns="0" anchor="t">
            <a:noAutofit/>
          </a:bodyPr>
          <a:lstStyle/>
          <a:p>
            <a:pPr algn="l">
              <a:spcAft>
                <a:spcPts val="400"/>
              </a:spcAft>
            </a:pPr>
            <a:r>
              <a:rPr sz="1200" b="0" lang="en-GB">
                <a:solidFill>
                  <a:schemeClr val="tx1"/>
                </a:solidFill>
              </a:rPr>
              <a:t>A two-region panel with true parameters, lift-test data</a:t>
            </a:r>
          </a:p>
          <a:p>
            <a:pPr algn="l">
              <a:spcAft>
                <a:spcPts val="400"/>
              </a:spcAft>
            </a:pPr>
            <a:r>
              <a:rPr sz="1200" b="1" lang="en-GB">
                <a:solidFill>
                  <a:schemeClr val="tx2"/>
                </a:solidFill>
              </a:rPr>
              <a:t>Use: </a:t>
            </a:r>
            <a:r>
              <a:rPr sz="1200" b="0" lang="en-GB">
                <a:solidFill>
                  <a:schemeClr val="tx1"/>
                </a:solidFill>
              </a:rPr>
              <a:t>can the model find the truth?</a:t>
            </a:r>
          </a:p>
        </p:txBody>
      </p:sp>
      <p:sp>
        <p:nvSpPr>
          <p:cNvPr id="22" name="Data 4 tile"/>
          <p:cNvSpPr/>
          <p:nvPr/>
        </p:nvSpPr>
        <p:spPr>
          <a:xfrm>
            <a:off x="4640580" y="2606040"/>
            <a:ext cx="4046220" cy="123444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3" name="Icon Data 4" descr=""/>
          <p:cNvPicPr>
            <a:picLocks noChangeAspect="1"/>
          </p:cNvPicPr>
          <p:nvPr/>
        </p:nvPicPr>
        <p:blipFill>
          <a:blip r:embed="rId6"/>
          <a:stretch>
            <a:fillRect/>
          </a:stretch>
        </p:blipFill>
        <p:spPr>
          <a:xfrm>
            <a:off x="4777740" y="2724912"/>
            <a:ext cx="365760" cy="365760"/>
          </a:xfrm>
          <a:prstGeom prst="rect">
            <a:avLst/>
          </a:prstGeom>
        </p:spPr>
      </p:pic>
      <p:sp>
        <p:nvSpPr>
          <p:cNvPr id="24" name="Data 4 heading"/>
          <p:cNvSpPr txBox="1"/>
          <p:nvPr/>
        </p:nvSpPr>
        <p:spPr>
          <a:xfrm>
            <a:off x="5234940" y="2724912"/>
            <a:ext cx="3360420" cy="365760"/>
          </a:xfrm>
          <a:prstGeom prst="rect">
            <a:avLst/>
          </a:prstGeom>
          <a:noFill/>
        </p:spPr>
        <p:txBody>
          <a:bodyPr wrap="square" lIns="0" rIns="0" tIns="0" bIns="0" anchor="ctr">
            <a:noAutofit/>
          </a:bodyPr>
          <a:lstStyle/>
          <a:p>
            <a:pPr algn="l">
              <a:spcAft>
                <a:spcPts val="400"/>
              </a:spcAft>
            </a:pPr>
            <a:r>
              <a:rPr sz="1500" b="1" lang="en-GB">
                <a:solidFill>
                  <a:schemeClr val="tx2"/>
                </a:solidFill>
                <a:latin typeface="+mj-lt"/>
              </a:rPr>
              <a:t>Robyn demo data</a:t>
            </a:r>
          </a:p>
        </p:txBody>
      </p:sp>
      <p:sp>
        <p:nvSpPr>
          <p:cNvPr id="25" name="Data 4 text"/>
          <p:cNvSpPr txBox="1"/>
          <p:nvPr/>
        </p:nvSpPr>
        <p:spPr>
          <a:xfrm>
            <a:off x="4777740" y="3172968"/>
            <a:ext cx="3771900" cy="594360"/>
          </a:xfrm>
          <a:prstGeom prst="rect">
            <a:avLst/>
          </a:prstGeom>
          <a:noFill/>
        </p:spPr>
        <p:txBody>
          <a:bodyPr wrap="square" lIns="0" rIns="0" tIns="0" bIns="0" anchor="t">
            <a:noAutofit/>
          </a:bodyPr>
          <a:lstStyle/>
          <a:p>
            <a:pPr algn="l">
              <a:spcAft>
                <a:spcPts val="400"/>
              </a:spcAft>
            </a:pPr>
            <a:r>
              <a:rPr sz="1200" b="0" lang="en-GB">
                <a:solidFill>
                  <a:schemeClr val="tx1"/>
                </a:solidFill>
              </a:rPr>
              <a:t>Simulated weekly spend and revenue; holidays of 123 countries</a:t>
            </a:r>
          </a:p>
          <a:p>
            <a:pPr algn="l">
              <a:spcAft>
                <a:spcPts val="400"/>
              </a:spcAft>
            </a:pPr>
            <a:r>
              <a:rPr sz="1200" b="1" lang="en-GB">
                <a:solidFill>
                  <a:schemeClr val="tx2"/>
                </a:solidFill>
              </a:rPr>
              <a:t>Use: </a:t>
            </a:r>
            <a:r>
              <a:rPr sz="1200" b="0" lang="en-GB">
                <a:solidFill>
                  <a:schemeClr val="tx1"/>
                </a:solidFill>
              </a:rPr>
              <a:t>an R lab, holiday effects</a:t>
            </a:r>
          </a:p>
        </p:txBody>
      </p:sp>
      <p:sp>
        <p:nvSpPr>
          <p:cNvPr id="26" name="Data licence box"/>
          <p:cNvSpPr/>
          <p:nvPr/>
        </p:nvSpPr>
        <p:spPr>
          <a:xfrm>
            <a:off x="457200" y="3977640"/>
            <a:ext cx="8229600" cy="4572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Data licence text"/>
          <p:cNvSpPr txBox="1"/>
          <p:nvPr/>
        </p:nvSpPr>
        <p:spPr>
          <a:xfrm>
            <a:off x="658368" y="3977640"/>
            <a:ext cx="7827264" cy="457200"/>
          </a:xfrm>
          <a:prstGeom prst="rect">
            <a:avLst/>
          </a:prstGeom>
          <a:noFill/>
        </p:spPr>
        <p:txBody>
          <a:bodyPr wrap="square" lIns="0" rIns="0" tIns="0" bIns="0" anchor="ctr">
            <a:noAutofit/>
          </a:bodyPr>
          <a:lstStyle/>
          <a:p>
            <a:pPr algn="l">
              <a:spcAft>
                <a:spcPts val="400"/>
              </a:spcAft>
            </a:pPr>
            <a:r>
              <a:rPr sz="1200" b="1" lang="en-GB">
                <a:solidFill>
                  <a:schemeClr val="bg1"/>
                </a:solidFill>
              </a:rPr>
              <a:t>The licence decides: </a:t>
            </a:r>
            <a:r>
              <a:rPr sz="1200" b="0" lang="en-GB">
                <a:solidFill>
                  <a:schemeClr val="bg1"/>
                </a:solidFill>
              </a:rPr>
              <a:t>commit only data you may share; link the rest.</a:t>
            </a:r>
          </a:p>
        </p:txBody>
      </p:sp>
      <p:sp>
        <p:nvSpPr>
          <p:cNvPr id="28" name="Data controls"/>
          <p:cNvSpPr txBox="1"/>
          <p:nvPr/>
        </p:nvSpPr>
        <p:spPr>
          <a:xfrm>
            <a:off x="457200" y="4507992"/>
            <a:ext cx="8229600" cy="274320"/>
          </a:xfrm>
          <a:prstGeom prst="rect">
            <a:avLst/>
          </a:prstGeom>
          <a:noFill/>
        </p:spPr>
        <p:txBody>
          <a:bodyPr wrap="square" lIns="0" rIns="0" tIns="0" bIns="0" anchor="ctr">
            <a:noAutofit/>
          </a:bodyPr>
          <a:lstStyle/>
          <a:p>
            <a:pPr algn="l">
              <a:spcAft>
                <a:spcPts val="400"/>
              </a:spcAft>
            </a:pPr>
            <a:r>
              <a:rPr sz="1100" b="1" lang="en-GB">
                <a:solidFill>
                  <a:schemeClr val="tx2"/>
                </a:solidFill>
              </a:rPr>
              <a:t>Country controls: </a:t>
            </a:r>
            <a:r>
              <a:rPr sz="1100" b="0" lang="en-GB">
                <a:solidFill>
                  <a:schemeClr val="tx1"/>
                </a:solidFill>
              </a:rPr>
              <a:t>Eurostat and World Bank (prices, population, internet use)</a:t>
            </a:r>
          </a:p>
        </p:txBody>
      </p:sp>
      <p:sp>
        <p:nvSpPr>
          <p:cNvPr id="29" name="Sources"/>
          <p:cNvSpPr txBox="1"/>
          <p:nvPr/>
        </p:nvSpPr>
        <p:spPr>
          <a:xfrm>
            <a:off x="457200" y="4818888"/>
            <a:ext cx="8229600" cy="256032"/>
          </a:xfrm>
          <a:prstGeom prst="rect">
            <a:avLst/>
          </a:prstGeom>
          <a:noFill/>
        </p:spPr>
        <p:txBody>
          <a:bodyPr wrap="square" lIns="0" rIns="0" tIns="0" bIns="0" anchor="ctr">
            <a:noAutofit/>
          </a:bodyPr>
          <a:lstStyle/>
          <a:p>
            <a:pPr algn="l">
              <a:spcAft>
                <a:spcPts val="0"/>
              </a:spcAft>
            </a:pPr>
            <a:r>
              <a:rPr sz="1100" b="0" lang="en-GB">
                <a:solidFill>
                  <a:srgbClr val="595959"/>
                </a:solidFill>
              </a:rPr>
              <a:t>Sources: dataset pages; links in open_source_mmm.qmd (appendix)</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Key takeaways</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Takeaway row 1"/>
          <p:cNvSpPr/>
          <p:nvPr/>
        </p:nvSpPr>
        <p:spPr>
          <a:xfrm>
            <a:off x="457200" y="1234440"/>
            <a:ext cx="8229600" cy="51206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akeaway number 1"/>
          <p:cNvSpPr/>
          <p:nvPr/>
        </p:nvSpPr>
        <p:spPr>
          <a:xfrm>
            <a:off x="594360" y="1335024"/>
            <a:ext cx="310896" cy="310896"/>
          </a:xfrm>
          <a:prstGeom prst="ellips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lang="en-GB">
                <a:solidFill>
                  <a:schemeClr val="bg1"/>
                </a:solidFill>
              </a:rPr>
              <a:t>1</a:t>
            </a:r>
          </a:p>
        </p:txBody>
      </p:sp>
      <p:sp>
        <p:nvSpPr>
          <p:cNvPr id="12" name="Takeaway text 1"/>
          <p:cNvSpPr txBox="1"/>
          <p:nvPr/>
        </p:nvSpPr>
        <p:spPr>
          <a:xfrm>
            <a:off x="1051560" y="1234440"/>
            <a:ext cx="7498080" cy="512064"/>
          </a:xfrm>
          <a:prstGeom prst="rect">
            <a:avLst/>
          </a:prstGeom>
          <a:noFill/>
        </p:spPr>
        <p:txBody>
          <a:bodyPr wrap="square" lIns="0" rIns="0" tIns="0" bIns="0" anchor="ctr">
            <a:noAutofit/>
          </a:bodyPr>
          <a:lstStyle/>
          <a:p>
            <a:pPr algn="l">
              <a:spcAft>
                <a:spcPts val="400"/>
              </a:spcAft>
            </a:pPr>
            <a:r>
              <a:rPr sz="1250" b="1" lang="en-GB">
                <a:solidFill>
                  <a:schemeClr val="tx2"/>
                </a:solidFill>
              </a:rPr>
              <a:t>One line: </a:t>
            </a:r>
            <a:r>
              <a:rPr sz="1250" b="0" lang="en-GB">
                <a:solidFill>
                  <a:schemeClr val="tx1"/>
                </a:solidFill>
              </a:rPr>
              <a:t>sales = baseline + media effects + controls + noise</a:t>
            </a:r>
          </a:p>
        </p:txBody>
      </p:sp>
      <p:sp>
        <p:nvSpPr>
          <p:cNvPr id="13" name="Takeaway row 2"/>
          <p:cNvSpPr/>
          <p:nvPr/>
        </p:nvSpPr>
        <p:spPr>
          <a:xfrm>
            <a:off x="457200" y="1819656"/>
            <a:ext cx="8229600" cy="51206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akeaway number 2"/>
          <p:cNvSpPr/>
          <p:nvPr/>
        </p:nvSpPr>
        <p:spPr>
          <a:xfrm>
            <a:off x="594360" y="1920240"/>
            <a:ext cx="310896" cy="310896"/>
          </a:xfrm>
          <a:prstGeom prst="ellips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lang="en-GB">
                <a:solidFill>
                  <a:schemeClr val="bg1"/>
                </a:solidFill>
              </a:rPr>
              <a:t>2</a:t>
            </a:r>
          </a:p>
        </p:txBody>
      </p:sp>
      <p:sp>
        <p:nvSpPr>
          <p:cNvPr id="15" name="Takeaway text 2"/>
          <p:cNvSpPr txBox="1"/>
          <p:nvPr/>
        </p:nvSpPr>
        <p:spPr>
          <a:xfrm>
            <a:off x="1051560" y="1819656"/>
            <a:ext cx="7498080" cy="512064"/>
          </a:xfrm>
          <a:prstGeom prst="rect">
            <a:avLst/>
          </a:prstGeom>
          <a:noFill/>
        </p:spPr>
        <p:txBody>
          <a:bodyPr wrap="square" lIns="0" rIns="0" tIns="0" bIns="0" anchor="ctr">
            <a:noAutofit/>
          </a:bodyPr>
          <a:lstStyle/>
          <a:p>
            <a:pPr algn="l">
              <a:spcAft>
                <a:spcPts val="400"/>
              </a:spcAft>
            </a:pPr>
            <a:r>
              <a:rPr sz="1250" b="1" lang="en-GB">
                <a:solidFill>
                  <a:schemeClr val="tx2"/>
                </a:solidFill>
              </a:rPr>
              <a:t>Carryover and saturation: </a:t>
            </a:r>
            <a:r>
              <a:rPr sz="1250" b="0" lang="en-GB">
                <a:solidFill>
                  <a:schemeClr val="tx1"/>
                </a:solidFill>
              </a:rPr>
              <a:t>spend keeps working, and each extra euro buys less</a:t>
            </a:r>
          </a:p>
        </p:txBody>
      </p:sp>
      <p:sp>
        <p:nvSpPr>
          <p:cNvPr id="16" name="Takeaway row 3"/>
          <p:cNvSpPr/>
          <p:nvPr/>
        </p:nvSpPr>
        <p:spPr>
          <a:xfrm>
            <a:off x="457200" y="2404872"/>
            <a:ext cx="8229600" cy="51206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akeaway number 3"/>
          <p:cNvSpPr/>
          <p:nvPr/>
        </p:nvSpPr>
        <p:spPr>
          <a:xfrm>
            <a:off x="594360" y="2505456"/>
            <a:ext cx="310896" cy="310896"/>
          </a:xfrm>
          <a:prstGeom prst="ellips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lang="en-GB">
                <a:solidFill>
                  <a:schemeClr val="bg1"/>
                </a:solidFill>
              </a:rPr>
              <a:t>3</a:t>
            </a:r>
          </a:p>
        </p:txBody>
      </p:sp>
      <p:sp>
        <p:nvSpPr>
          <p:cNvPr id="18" name="Takeaway text 3"/>
          <p:cNvSpPr txBox="1"/>
          <p:nvPr/>
        </p:nvSpPr>
        <p:spPr>
          <a:xfrm>
            <a:off x="1051560" y="2404872"/>
            <a:ext cx="7498080" cy="512064"/>
          </a:xfrm>
          <a:prstGeom prst="rect">
            <a:avLst/>
          </a:prstGeom>
          <a:noFill/>
        </p:spPr>
        <p:txBody>
          <a:bodyPr wrap="square" lIns="0" rIns="0" tIns="0" bIns="0" anchor="ctr">
            <a:noAutofit/>
          </a:bodyPr>
          <a:lstStyle/>
          <a:p>
            <a:pPr algn="l">
              <a:spcAft>
                <a:spcPts val="400"/>
              </a:spcAft>
            </a:pPr>
            <a:r>
              <a:rPr sz="1250" b="1" lang="en-GB">
                <a:solidFill>
                  <a:schemeClr val="tx2"/>
                </a:solidFill>
              </a:rPr>
              <a:t>Decide at the margin: </a:t>
            </a:r>
            <a:r>
              <a:rPr sz="1250" b="0" lang="en-GB">
                <a:solidFill>
                  <a:schemeClr val="tx1"/>
                </a:solidFill>
              </a:rPr>
              <a:t>the next euro, not the average ROI</a:t>
            </a:r>
          </a:p>
        </p:txBody>
      </p:sp>
      <p:sp>
        <p:nvSpPr>
          <p:cNvPr id="19" name="Takeaway row 4"/>
          <p:cNvSpPr/>
          <p:nvPr/>
        </p:nvSpPr>
        <p:spPr>
          <a:xfrm>
            <a:off x="457200" y="2990088"/>
            <a:ext cx="8229600" cy="51206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akeaway number 4"/>
          <p:cNvSpPr/>
          <p:nvPr/>
        </p:nvSpPr>
        <p:spPr>
          <a:xfrm>
            <a:off x="594360" y="3090672"/>
            <a:ext cx="310896" cy="310896"/>
          </a:xfrm>
          <a:prstGeom prst="ellips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lang="en-GB">
                <a:solidFill>
                  <a:schemeClr val="bg1"/>
                </a:solidFill>
              </a:rPr>
              <a:t>4</a:t>
            </a:r>
          </a:p>
        </p:txBody>
      </p:sp>
      <p:sp>
        <p:nvSpPr>
          <p:cNvPr id="21" name="Takeaway text 4"/>
          <p:cNvSpPr txBox="1"/>
          <p:nvPr/>
        </p:nvSpPr>
        <p:spPr>
          <a:xfrm>
            <a:off x="1051560" y="2990088"/>
            <a:ext cx="7498080" cy="512064"/>
          </a:xfrm>
          <a:prstGeom prst="rect">
            <a:avLst/>
          </a:prstGeom>
          <a:noFill/>
        </p:spPr>
        <p:txBody>
          <a:bodyPr wrap="square" lIns="0" rIns="0" tIns="0" bIns="0" anchor="ctr">
            <a:noAutofit/>
          </a:bodyPr>
          <a:lstStyle/>
          <a:p>
            <a:pPr algn="l">
              <a:spcAft>
                <a:spcPts val="400"/>
              </a:spcAft>
            </a:pPr>
            <a:r>
              <a:rPr sz="1250" b="1" lang="en-GB">
                <a:solidFill>
                  <a:schemeClr val="tx2"/>
                </a:solidFill>
              </a:rPr>
              <a:t>Three tools: </a:t>
            </a:r>
            <a:r>
              <a:rPr sz="1250" b="0" lang="en-GB">
                <a:solidFill>
                  <a:schemeClr val="tx1"/>
                </a:solidFill>
              </a:rPr>
              <a:t>two Bayesian tools that pool markets, one ridge tool per market</a:t>
            </a:r>
          </a:p>
        </p:txBody>
      </p:sp>
      <p:sp>
        <p:nvSpPr>
          <p:cNvPr id="22" name="Takeaway row 5"/>
          <p:cNvSpPr/>
          <p:nvPr/>
        </p:nvSpPr>
        <p:spPr>
          <a:xfrm>
            <a:off x="457200" y="3575304"/>
            <a:ext cx="8229600" cy="51206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akeaway number 5"/>
          <p:cNvSpPr/>
          <p:nvPr/>
        </p:nvSpPr>
        <p:spPr>
          <a:xfrm>
            <a:off x="594360" y="3675888"/>
            <a:ext cx="310896" cy="310896"/>
          </a:xfrm>
          <a:prstGeom prst="ellips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lang="en-GB">
                <a:solidFill>
                  <a:schemeClr val="bg1"/>
                </a:solidFill>
              </a:rPr>
              <a:t>5</a:t>
            </a:r>
          </a:p>
        </p:txBody>
      </p:sp>
      <p:sp>
        <p:nvSpPr>
          <p:cNvPr id="24" name="Takeaway text 5"/>
          <p:cNvSpPr txBox="1"/>
          <p:nvPr/>
        </p:nvSpPr>
        <p:spPr>
          <a:xfrm>
            <a:off x="1051560" y="3575304"/>
            <a:ext cx="7498080" cy="512064"/>
          </a:xfrm>
          <a:prstGeom prst="rect">
            <a:avLst/>
          </a:prstGeom>
          <a:noFill/>
        </p:spPr>
        <p:txBody>
          <a:bodyPr wrap="square" lIns="0" rIns="0" tIns="0" bIns="0" anchor="ctr">
            <a:noAutofit/>
          </a:bodyPr>
          <a:lstStyle/>
          <a:p>
            <a:pPr algn="l">
              <a:spcAft>
                <a:spcPts val="400"/>
              </a:spcAft>
            </a:pPr>
            <a:r>
              <a:rPr sz="1250" b="1" lang="en-GB">
                <a:solidFill>
                  <a:schemeClr val="tx2"/>
                </a:solidFill>
              </a:rPr>
              <a:t>Be sceptical: </a:t>
            </a:r>
            <a:r>
              <a:rPr sz="1250" b="0" lang="en-GB">
                <a:solidFill>
                  <a:schemeClr val="tx1"/>
                </a:solidFill>
              </a:rPr>
              <a:t>spend follows demand; calibrate with experiments; ask who wrote the case</a:t>
            </a:r>
          </a:p>
        </p:txBody>
      </p:sp>
      <p:sp>
        <p:nvSpPr>
          <p:cNvPr id="25" name="Takeaway next box"/>
          <p:cNvSpPr/>
          <p:nvPr/>
        </p:nvSpPr>
        <p:spPr>
          <a:xfrm>
            <a:off x="457200" y="4251960"/>
            <a:ext cx="8229600" cy="4572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akeaway next text"/>
          <p:cNvSpPr txBox="1"/>
          <p:nvPr/>
        </p:nvSpPr>
        <p:spPr>
          <a:xfrm>
            <a:off x="658368" y="4251960"/>
            <a:ext cx="7827264" cy="457200"/>
          </a:xfrm>
          <a:prstGeom prst="rect">
            <a:avLst/>
          </a:prstGeom>
          <a:noFill/>
        </p:spPr>
        <p:txBody>
          <a:bodyPr wrap="square" lIns="0" rIns="0" tIns="0" bIns="0" anchor="ctr">
            <a:noAutofit/>
          </a:bodyPr>
          <a:lstStyle/>
          <a:p>
            <a:pPr algn="l">
              <a:spcAft>
                <a:spcPts val="400"/>
              </a:spcAft>
            </a:pPr>
            <a:r>
              <a:rPr sz="1250" b="1" lang="en-GB">
                <a:solidFill>
                  <a:schemeClr val="bg1"/>
                </a:solidFill>
              </a:rPr>
              <a:t>Next: </a:t>
            </a:r>
            <a:r>
              <a:rPr sz="1250" b="0" lang="en-GB">
                <a:solidFill>
                  <a:schemeClr val="bg1"/>
                </a:solidFill>
              </a:rPr>
              <a:t>run sessions/02-mmm-one-country/open_source_mmm.qmd; it reproduces Parts 4 and 5.</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References</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Ref 1 header"/>
          <p:cNvSpPr/>
          <p:nvPr/>
        </p:nvSpPr>
        <p:spPr>
          <a:xfrm>
            <a:off x="457200" y="1234440"/>
            <a:ext cx="4046220" cy="4114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f 1 heading"/>
          <p:cNvSpPr txBox="1"/>
          <p:nvPr/>
        </p:nvSpPr>
        <p:spPr>
          <a:xfrm>
            <a:off x="594360" y="1234440"/>
            <a:ext cx="3360420" cy="411480"/>
          </a:xfrm>
          <a:prstGeom prst="rect">
            <a:avLst/>
          </a:prstGeom>
          <a:noFill/>
        </p:spPr>
        <p:txBody>
          <a:bodyPr wrap="square" lIns="0" rIns="0" tIns="0" bIns="0" anchor="ctr">
            <a:noAutofit/>
          </a:bodyPr>
          <a:lstStyle/>
          <a:p>
            <a:pPr algn="l">
              <a:spcAft>
                <a:spcPts val="400"/>
              </a:spcAft>
            </a:pPr>
            <a:r>
              <a:rPr sz="1400" b="1" lang="en-GB">
                <a:solidFill>
                  <a:schemeClr val="bg1"/>
                </a:solidFill>
                <a:latin typeface="+mj-lt"/>
              </a:rPr>
              <a:t>MMM methods</a:t>
            </a:r>
          </a:p>
        </p:txBody>
      </p:sp>
      <p:pic>
        <p:nvPicPr>
          <p:cNvPr id="12" name="Icon Ref 1" descr=""/>
          <p:cNvPicPr>
            <a:picLocks noChangeAspect="1"/>
          </p:cNvPicPr>
          <p:nvPr/>
        </p:nvPicPr>
        <p:blipFill>
          <a:blip r:embed="rId3"/>
          <a:stretch>
            <a:fillRect/>
          </a:stretch>
        </p:blipFill>
        <p:spPr>
          <a:xfrm>
            <a:off x="4064508" y="1280160"/>
            <a:ext cx="310896" cy="310896"/>
          </a:xfrm>
          <a:prstGeom prst="rect">
            <a:avLst/>
          </a:prstGeom>
        </p:spPr>
      </p:pic>
      <p:sp>
        <p:nvSpPr>
          <p:cNvPr id="13" name="Ref 1 body"/>
          <p:cNvSpPr/>
          <p:nvPr/>
        </p:nvSpPr>
        <p:spPr>
          <a:xfrm>
            <a:off x="457200" y="1645920"/>
            <a:ext cx="4046220" cy="283464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f 1 text"/>
          <p:cNvSpPr txBox="1"/>
          <p:nvPr/>
        </p:nvSpPr>
        <p:spPr>
          <a:xfrm>
            <a:off x="621792" y="1737360"/>
            <a:ext cx="3744468" cy="2697480"/>
          </a:xfrm>
          <a:prstGeom prst="rect">
            <a:avLst/>
          </a:prstGeom>
          <a:noFill/>
        </p:spPr>
        <p:txBody>
          <a:bodyPr wrap="square" lIns="0" rIns="0" tIns="0" bIns="0" anchor="t">
            <a:noAutofit/>
          </a:bodyPr>
          <a:lstStyle/>
          <a:p>
            <a:pPr algn="l">
              <a:spcAft>
                <a:spcPts val="500"/>
              </a:spcAft>
            </a:pPr>
            <a:r>
              <a:rPr sz="1100" b="1" lang="en-GB">
                <a:solidFill>
                  <a:schemeClr val="tx2"/>
                </a:solidFill>
              </a:rPr>
              <a:t>Jin, Y., Wang, Y., Sun, Y., Chan, D. &amp; Koehler, J. (2017). </a:t>
            </a:r>
            <a:r>
              <a:rPr sz="1100" b="0" lang="en-GB">
                <a:solidFill>
                  <a:schemeClr val="tx1"/>
                </a:solidFill>
              </a:rPr>
              <a:t>Bayesian methods for media mix modeling with carryover and shape effects. Google Inc.</a:t>
            </a:r>
          </a:p>
          <a:p>
            <a:pPr algn="l">
              <a:spcAft>
                <a:spcPts val="500"/>
              </a:spcAft>
            </a:pPr>
            <a:r>
              <a:rPr sz="1100" b="1" lang="en-GB">
                <a:solidFill>
                  <a:schemeClr val="tx2"/>
                </a:solidFill>
              </a:rPr>
              <a:t>Sun, Y., Wang, Y., Jin, Y., Chan, D. &amp; Koehler, J. (2017). </a:t>
            </a:r>
            <a:r>
              <a:rPr sz="1100" b="0" lang="en-GB">
                <a:solidFill>
                  <a:schemeClr val="tx1"/>
                </a:solidFill>
              </a:rPr>
              <a:t>Geo-level Bayesian hierarchical media mix modeling. Google Inc.</a:t>
            </a:r>
          </a:p>
          <a:p>
            <a:pPr algn="l">
              <a:spcAft>
                <a:spcPts val="500"/>
              </a:spcAft>
            </a:pPr>
            <a:r>
              <a:rPr sz="1100" b="1" lang="en-GB">
                <a:solidFill>
                  <a:schemeClr val="tx2"/>
                </a:solidFill>
              </a:rPr>
              <a:t>Zhang et al. (2024). </a:t>
            </a:r>
            <a:r>
              <a:rPr sz="1100" b="0" lang="en-GB">
                <a:solidFill>
                  <a:schemeClr val="tx1"/>
                </a:solidFill>
              </a:rPr>
              <a:t>Google Research: calibration with Bayesian priors (ROI priors from lift tests).</a:t>
            </a:r>
          </a:p>
          <a:p>
            <a:pPr algn="l">
              <a:spcAft>
                <a:spcPts val="500"/>
              </a:spcAft>
            </a:pPr>
            <a:r>
              <a:rPr sz="1100" b="1" lang="en-GB">
                <a:solidFill>
                  <a:schemeClr val="tx2"/>
                </a:solidFill>
              </a:rPr>
              <a:t>Runge, Skokan, Zhou &amp; Pauwels (2024). </a:t>
            </a:r>
            <a:r>
              <a:rPr sz="1100" b="0" lang="en-GB">
                <a:solidFill>
                  <a:schemeClr val="tx1"/>
                </a:solidFill>
              </a:rPr>
              <a:t>arXiv 2403.14674: the method behind Robyn.</a:t>
            </a:r>
          </a:p>
          <a:p>
            <a:pPr algn="l">
              <a:spcAft>
                <a:spcPts val="500"/>
              </a:spcAft>
            </a:pPr>
            <a:r>
              <a:rPr sz="1100" b="1" lang="en-GB">
                <a:solidFill>
                  <a:schemeClr val="tx2"/>
                </a:solidFill>
              </a:rPr>
              <a:t>Runge &amp; Pauwels (2026). </a:t>
            </a:r>
            <a:r>
              <a:rPr sz="1100" b="0" lang="en-GB">
                <a:solidFill>
                  <a:schemeClr val="tx1"/>
                </a:solidFill>
              </a:rPr>
              <a:t>Customer Needs and Solutions; free as MSI Working Paper 26-106.</a:t>
            </a:r>
          </a:p>
          <a:p>
            <a:pPr algn="l">
              <a:spcAft>
                <a:spcPts val="500"/>
              </a:spcAft>
            </a:pPr>
            <a:r>
              <a:rPr sz="1100" b="1" lang="en-GB">
                <a:solidFill>
                  <a:schemeClr val="tx2"/>
                </a:solidFill>
              </a:rPr>
              <a:t>Gelman et al. (2020). </a:t>
            </a:r>
            <a:r>
              <a:rPr sz="1100" b="0" lang="en-GB">
                <a:solidFill>
                  <a:schemeClr val="tx1"/>
                </a:solidFill>
              </a:rPr>
              <a:t>Bayesian Workflow, arXiv 2011.01808.</a:t>
            </a:r>
          </a:p>
        </p:txBody>
      </p:sp>
      <p:sp>
        <p:nvSpPr>
          <p:cNvPr id="15" name="Ref 2 header"/>
          <p:cNvSpPr/>
          <p:nvPr/>
        </p:nvSpPr>
        <p:spPr>
          <a:xfrm>
            <a:off x="4640580" y="1234440"/>
            <a:ext cx="4046220" cy="4114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f 2 heading"/>
          <p:cNvSpPr txBox="1"/>
          <p:nvPr/>
        </p:nvSpPr>
        <p:spPr>
          <a:xfrm>
            <a:off x="4777740" y="1234440"/>
            <a:ext cx="3360420" cy="411480"/>
          </a:xfrm>
          <a:prstGeom prst="rect">
            <a:avLst/>
          </a:prstGeom>
          <a:noFill/>
        </p:spPr>
        <p:txBody>
          <a:bodyPr wrap="square" lIns="0" rIns="0" tIns="0" bIns="0" anchor="ctr">
            <a:noAutofit/>
          </a:bodyPr>
          <a:lstStyle/>
          <a:p>
            <a:pPr algn="l">
              <a:spcAft>
                <a:spcPts val="400"/>
              </a:spcAft>
            </a:pPr>
            <a:r>
              <a:rPr sz="1400" b="1" lang="en-GB">
                <a:solidFill>
                  <a:schemeClr val="bg1"/>
                </a:solidFill>
                <a:latin typeface="+mj-lt"/>
              </a:rPr>
              <a:t>Tools and data</a:t>
            </a:r>
          </a:p>
        </p:txBody>
      </p:sp>
      <p:pic>
        <p:nvPicPr>
          <p:cNvPr id="17" name="Icon Ref 2" descr=""/>
          <p:cNvPicPr>
            <a:picLocks noChangeAspect="1"/>
          </p:cNvPicPr>
          <p:nvPr/>
        </p:nvPicPr>
        <p:blipFill>
          <a:blip r:embed="rId4"/>
          <a:stretch>
            <a:fillRect/>
          </a:stretch>
        </p:blipFill>
        <p:spPr>
          <a:xfrm>
            <a:off x="8247888" y="1280160"/>
            <a:ext cx="310896" cy="310896"/>
          </a:xfrm>
          <a:prstGeom prst="rect">
            <a:avLst/>
          </a:prstGeom>
        </p:spPr>
      </p:pic>
      <p:sp>
        <p:nvSpPr>
          <p:cNvPr id="18" name="Ref 2 body"/>
          <p:cNvSpPr/>
          <p:nvPr/>
        </p:nvSpPr>
        <p:spPr>
          <a:xfrm>
            <a:off x="4640580" y="1645920"/>
            <a:ext cx="4046220" cy="283464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f 2 text"/>
          <p:cNvSpPr txBox="1"/>
          <p:nvPr/>
        </p:nvSpPr>
        <p:spPr>
          <a:xfrm>
            <a:off x="4805172" y="1737360"/>
            <a:ext cx="3744468" cy="2697480"/>
          </a:xfrm>
          <a:prstGeom prst="rect">
            <a:avLst/>
          </a:prstGeom>
          <a:noFill/>
        </p:spPr>
        <p:txBody>
          <a:bodyPr wrap="square" lIns="0" rIns="0" tIns="0" bIns="0" anchor="t">
            <a:noAutofit/>
          </a:bodyPr>
          <a:lstStyle/>
          <a:p>
            <a:pPr algn="l">
              <a:spcAft>
                <a:spcPts val="500"/>
              </a:spcAft>
            </a:pPr>
            <a:r>
              <a:rPr sz="1100" b="1" lang="en-GB">
                <a:solidFill>
                  <a:schemeClr val="tx2"/>
                </a:solidFill>
              </a:rPr>
              <a:t>PyMC-Marketing (PyMC Labs). </a:t>
            </a:r>
            <a:r>
              <a:rPr sz="1100" b="0" lang="en-GB">
                <a:solidFill>
                  <a:schemeClr val="tx1"/>
                </a:solidFill>
              </a:rPr>
              <a:t>Apache-2.0, github.com/pymc-labs/pymc-marketing.</a:t>
            </a:r>
          </a:p>
          <a:p>
            <a:pPr algn="l">
              <a:spcAft>
                <a:spcPts val="500"/>
              </a:spcAft>
            </a:pPr>
            <a:r>
              <a:rPr sz="1100" b="1" lang="en-GB">
                <a:solidFill>
                  <a:schemeClr val="tx2"/>
                </a:solidFill>
              </a:rPr>
              <a:t>Meridian (Google). </a:t>
            </a:r>
            <a:r>
              <a:rPr sz="1100" b="0" lang="en-GB">
                <a:solidFill>
                  <a:schemeClr val="tx1"/>
                </a:solidFill>
              </a:rPr>
              <a:t>Apache-2.0, github.com/google/meridian.</a:t>
            </a:r>
          </a:p>
          <a:p>
            <a:pPr algn="l">
              <a:spcAft>
                <a:spcPts val="500"/>
              </a:spcAft>
            </a:pPr>
            <a:r>
              <a:rPr sz="1100" b="1" lang="en-GB">
                <a:solidFill>
                  <a:schemeClr val="tx2"/>
                </a:solidFill>
              </a:rPr>
              <a:t>Robyn (Meta Marketing Science). </a:t>
            </a:r>
            <a:r>
              <a:rPr sz="1100" b="0" lang="en-GB">
                <a:solidFill>
                  <a:schemeClr val="tx1"/>
                </a:solidFill>
              </a:rPr>
              <a:t>MIT, github.com/facebookexperimental/Robyn.</a:t>
            </a:r>
          </a:p>
          <a:p>
            <a:pPr algn="l">
              <a:spcAft>
                <a:spcPts val="500"/>
              </a:spcAft>
            </a:pPr>
            <a:r>
              <a:rPr sz="1100" b="1" lang="en-GB">
                <a:solidFill>
                  <a:schemeClr val="tx2"/>
                </a:solidFill>
              </a:rPr>
              <a:t>Anderson, A. (2024). </a:t>
            </a:r>
            <a:r>
              <a:rPr sz="1100" b="0" lang="en-GB">
                <a:solidFill>
                  <a:schemeClr val="tx1"/>
                </a:solidFill>
              </a:rPr>
              <a:t>Multi-Region Marketing Mix Modelling (MMM) Dataset for Several eCommerce Brands (v3). figshare. doi.org/10.6084/m9.figshare.25314841.v3. CC BY 4.0.</a:t>
            </a:r>
          </a:p>
        </p:txBody>
      </p:sp>
      <p:sp>
        <p:nvSpPr>
          <p:cNvPr id="20" name="Ref free"/>
          <p:cNvSpPr txBox="1"/>
          <p:nvPr/>
        </p:nvSpPr>
        <p:spPr>
          <a:xfrm>
            <a:off x="457200" y="4617720"/>
            <a:ext cx="8229600" cy="274320"/>
          </a:xfrm>
          <a:prstGeom prst="rect">
            <a:avLst/>
          </a:prstGeom>
          <a:noFill/>
        </p:spPr>
        <p:txBody>
          <a:bodyPr wrap="square" lIns="0" rIns="0" tIns="0" bIns="0" anchor="ctr">
            <a:noAutofit/>
          </a:bodyPr>
          <a:lstStyle/>
          <a:p>
            <a:pPr algn="l">
              <a:spcAft>
                <a:spcPts val="400"/>
              </a:spcAft>
            </a:pPr>
            <a:r>
              <a:rPr sz="1200" b="1" lang="en-GB">
                <a:solidFill>
                  <a:schemeClr val="tx2"/>
                </a:solidFill>
              </a:rPr>
              <a:t>Free to read: </a:t>
            </a:r>
            <a:r>
              <a:rPr sz="1200" b="0" lang="en-GB">
                <a:solidFill>
                  <a:schemeClr val="tx1"/>
                </a:solidFill>
              </a:rPr>
              <a:t>MSI Working Paper 26-106 (Runge &amp; Pauwels), arXiv 2011.01808 (Bayesian workflow)</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9" name="Fußzeilenplatzhalter 8"/>
          <p:cNvSpPr>
            <a:spLocks noGrp="1"/>
          </p:cNvSpPr>
          <p:nvPr>
            <p:ph type="ftr" sz="quarter" idx="12"/>
          </p:nvPr>
        </p:nvSpPr>
        <p:spPr/>
        <p:txBody>
          <a:bodyPr/>
          <a:lstStyle/>
          <a:p>
            <a:r>
              <a:rPr lang="en-GB"/>
              <a:t>International Marketing Analytics · WT 2026/27</a:t>
            </a:r>
          </a:p>
        </p:txBody>
      </p:sp>
      <p:sp>
        <p:nvSpPr>
          <p:cNvPr id="10" name="Foliennummernplatzhalter 9"/>
          <p:cNvSpPr>
            <a:spLocks noGrp="1"/>
          </p:cNvSpPr>
          <p:nvPr>
            <p:ph type="sldNum" sz="quarter" idx="13"/>
          </p:nvPr>
        </p:nvSpPr>
        <p:spPr/>
        <p:txBody>
          <a:bodyPr/>
          <a:lstStyle/>
          <a:p>
            <a:r>
              <a:rPr lang="en-GB" dirty="0"/>
              <a:t>Page </a:t>
            </a:r>
            <a:fld id="{BE3DC40E-DBBE-4E2D-9EEC-FBF0DA0E9179}" type="slidenum">
              <a:rPr lang="en-GB" smtClean="0"/>
              <a:t>‹Nr.›</a:t>
            </a:fld>
            <a:endParaRPr lang="en-GB" dirty="0"/>
          </a:p>
        </p:txBody>
      </p:sp>
      <p:sp>
        <p:nvSpPr>
          <p:cNvPr id="11" name="Closing title"/>
          <p:cNvSpPr>
            <a:spLocks noGrp="1"/>
          </p:cNvSpPr>
          <p:nvPr>
            <p:ph type="title" idx="4294967295"/>
          </p:nvPr>
        </p:nvSpPr>
        <p:spPr>
          <a:xfrm>
            <a:off x="462407" y="301626"/>
            <a:ext cx="6990906" cy="496799"/>
          </a:xfrm>
        </p:spPr>
        <p:txBody>
          <a:bodyPr/>
          <a:lstStyle/>
          <a:p>
            <a:r>
              <a:rPr lang="en-GB">
                <a:solidFill>
                  <a:schemeClr val="tx2"/>
                </a:solidFill>
              </a:rPr>
              <a:t>Thank you. Questions and discussion</a:t>
            </a: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SELECTEDLANGUAGE" val="English UK"/>
</p:tagLst>
</file>

<file path=ppt/theme/theme1.xml><?xml version="1.0" encoding="utf-8"?>
<a:theme xmlns:a="http://schemas.openxmlformats.org/drawingml/2006/main" name="WU 16:10">
  <a:themeElements>
    <a:clrScheme name="WU">
      <a:dk1>
        <a:srgbClr val="000000"/>
      </a:dk1>
      <a:lt1>
        <a:srgbClr val="FFFFFF"/>
      </a:lt1>
      <a:dk2>
        <a:srgbClr val="002350"/>
      </a:dk2>
      <a:lt2>
        <a:srgbClr val="E5F5FA"/>
      </a:lt2>
      <a:accent1>
        <a:srgbClr val="0096D3"/>
      </a:accent1>
      <a:accent2>
        <a:srgbClr val="002350"/>
      </a:accent2>
      <a:accent3>
        <a:srgbClr val="4B2582"/>
      </a:accent3>
      <a:accent4>
        <a:srgbClr val="457AA0"/>
      </a:accent4>
      <a:accent5>
        <a:srgbClr val="A592C0"/>
      </a:accent5>
      <a:accent6>
        <a:srgbClr val="80CFE9"/>
      </a:accent6>
      <a:hlink>
        <a:srgbClr val="405A7C"/>
      </a:hlink>
      <a:folHlink>
        <a:srgbClr val="0082AA"/>
      </a:folHlink>
    </a:clrScheme>
    <a:fontScheme name="WU neu">
      <a:majorFont>
        <a:latin typeface="Georgia"/>
        <a:ea typeface=""/>
        <a:cs typeface=""/>
      </a:majorFont>
      <a:minorFont>
        <a:latin typeface="Verdan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WU Farbschema neu">
        <a:dk1>
          <a:srgbClr val="000000"/>
        </a:dk1>
        <a:lt1>
          <a:sysClr val="window" lastClr="FFFFFF"/>
        </a:lt1>
        <a:dk2>
          <a:srgbClr val="002E60"/>
        </a:dk2>
        <a:lt2>
          <a:srgbClr val="E5F5FA"/>
        </a:lt2>
        <a:accent1>
          <a:srgbClr val="0096D3"/>
        </a:accent1>
        <a:accent2>
          <a:srgbClr val="002E60"/>
        </a:accent2>
        <a:accent3>
          <a:srgbClr val="532481"/>
        </a:accent3>
        <a:accent4>
          <a:srgbClr val="457AA0"/>
        </a:accent4>
        <a:accent5>
          <a:srgbClr val="A991C0"/>
        </a:accent5>
        <a:accent6>
          <a:srgbClr val="7FCAE9"/>
        </a:accent6>
        <a:hlink>
          <a:srgbClr val="406288"/>
        </a:hlink>
        <a:folHlink>
          <a:srgbClr val="008FAA"/>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WU Sample Presentation 16x10 V1.1.potx" id="{74DD536C-D372-4256-BA4D-24C734E7AF81}" vid="{99E22345-25BB-45DF-85CE-FC929AE6991A}"/>
    </a:ext>
  </a:extLst>
</a:theme>
</file>

<file path=ppt/theme/theme2.xml><?xml version="1.0" encoding="utf-8"?>
<a:theme xmlns:a="http://schemas.openxmlformats.org/drawingml/2006/main" name="Larissa">
  <a:themeElements>
    <a:clrScheme name="Larissa">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Larissa">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Larissa">
  <a:themeElements>
    <a:clrScheme name="Larissa">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Larissa">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Kategorie xmlns="dde413db-0745-4f3a-8dca-564dc7ff6f7d">Präsentationen</Kategorie>
    <Beschreibung xmlns="dde413db-0745-4f3a-8dca-564dc7ff6f7d">Sample presenation in format 16:10 (= WU standard)</Beschreibung>
    <TaxCatchAll xmlns="08b0a3ee-3d2a-451c-9a1a-7e5d5b0c9c77">
      <Value>266</Value>
      <Value>403</Value>
    </TaxCatchAll>
    <DokumentenartTaxHTField0 xmlns="1a8d9a65-8471-4209-a900-f8e11db75e0a">
      <Terms xmlns="http://schemas.microsoft.com/office/infopath/2007/PartnerControls">
        <TermInfo xmlns="http://schemas.microsoft.com/office/infopath/2007/PartnerControls">
          <TermName xmlns="http://schemas.microsoft.com/office/infopath/2007/PartnerControls">Vorlagen</TermName>
          <TermId xmlns="http://schemas.microsoft.com/office/infopath/2007/PartnerControls">17fc50ed-8ad1-47be-ab12-04243fd74ddb</TermId>
        </TermInfo>
      </Terms>
    </DokumentenartTaxHTField0>
    <WU_x0020_ThemaTaxHTField0 xmlns="1a8d9a65-8471-4209-a900-f8e11db75e0a">
      <Terms xmlns="http://schemas.microsoft.com/office/infopath/2007/PartnerControls">
        <TermInfo xmlns="http://schemas.microsoft.com/office/infopath/2007/PartnerControls">
          <TermName xmlns="http://schemas.microsoft.com/office/infopath/2007/PartnerControls">Corporate Design</TermName>
          <TermId xmlns="http://schemas.microsoft.com/office/infopath/2007/PartnerControls">19895bcd-b158-45ae-ab7b-f5ca217dfcec</TermId>
        </TermInfo>
      </Terms>
    </WU_x0020_ThemaTaxHTField0>
    <Format xmlns="dde413db-0745-4f3a-8dca-564dc7ff6f7d">Microsoft Office 2013/2016</Format>
  </documentManagement>
</p:properties>
</file>

<file path=customXml/item2.xml><?xml version="1.0" encoding="utf-8"?>
<ct:contentTypeSchema xmlns:ct="http://schemas.microsoft.com/office/2006/metadata/contentType" xmlns:ma="http://schemas.microsoft.com/office/2006/metadata/properties/metaAttributes" ct:_="" ma:_="" ma:contentTypeName="Dokument" ma:contentTypeID="0x010100BCF651A35DF3154DB01328AF51148DAE" ma:contentTypeVersion="1" ma:contentTypeDescription="Ein neues Dokument erstellen." ma:contentTypeScope="" ma:versionID="458c1b80f8d593bdc96b60ff34dd40b4">
  <xsd:schema xmlns:xsd="http://www.w3.org/2001/XMLSchema" xmlns:xs="http://www.w3.org/2001/XMLSchema" xmlns:p="http://schemas.microsoft.com/office/2006/metadata/properties" xmlns:ns2="1a8d9a65-8471-4209-a900-f8e11db75e0a" xmlns:ns3="08b0a3ee-3d2a-451c-9a1a-7e5d5b0c9c77" xmlns:ns4="dde413db-0745-4f3a-8dca-564dc7ff6f7d" targetNamespace="http://schemas.microsoft.com/office/2006/metadata/properties" ma:root="true" ma:fieldsID="2d31116d1a6b5af1b4a8b1ba7152d57a" ns2:_="" ns3:_="" ns4:_="">
    <xsd:import namespace="1a8d9a65-8471-4209-a900-f8e11db75e0a"/>
    <xsd:import namespace="08b0a3ee-3d2a-451c-9a1a-7e5d5b0c9c77"/>
    <xsd:import namespace="dde413db-0745-4f3a-8dca-564dc7ff6f7d"/>
    <xsd:element name="properties">
      <xsd:complexType>
        <xsd:sequence>
          <xsd:element name="documentManagement">
            <xsd:complexType>
              <xsd:all>
                <xsd:element ref="ns2:WU_x0020_ThemaTaxHTField0" minOccurs="0"/>
                <xsd:element ref="ns3:TaxCatchAll" minOccurs="0"/>
                <xsd:element ref="ns2:DokumentenartTaxHTField0" minOccurs="0"/>
                <xsd:element ref="ns4:Beschreibung" minOccurs="0"/>
                <xsd:element ref="ns4:Format" minOccurs="0"/>
                <xsd:element ref="ns4:Kategorie" minOccurs="0"/>
                <xsd:element ref="ns3:SharedWithUser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a8d9a65-8471-4209-a900-f8e11db75e0a" elementFormDefault="qualified">
    <xsd:import namespace="http://schemas.microsoft.com/office/2006/documentManagement/types"/>
    <xsd:import namespace="http://schemas.microsoft.com/office/infopath/2007/PartnerControls"/>
    <xsd:element name="WU_x0020_ThemaTaxHTField0" ma:index="9" nillable="true" ma:taxonomy="true" ma:internalName="WU_x0020_ThemaTaxHTField0" ma:taxonomyFieldName="WU_x0020_Thema" ma:displayName="Schlagwort" ma:default="" ma:fieldId="{a2eb3201-e251-4055-97e9-466604fc777f}" ma:taxonomyMulti="true" ma:sspId="59da4ae5-1217-4de6-bd64-b7a740f353bb" ma:termSetId="c1edca97-812b-4584-b6b5-1e5cade81cae" ma:anchorId="00000000-0000-0000-0000-000000000000" ma:open="true" ma:isKeyword="false">
      <xsd:complexType>
        <xsd:sequence>
          <xsd:element ref="pc:Terms" minOccurs="0" maxOccurs="1"/>
        </xsd:sequence>
      </xsd:complexType>
    </xsd:element>
    <xsd:element name="DokumentenartTaxHTField0" ma:index="12" nillable="true" ma:taxonomy="true" ma:internalName="DokumentenartTaxHTField0" ma:taxonomyFieldName="Dokumentenart" ma:displayName="Dokumentenart" ma:default="" ma:fieldId="{0f2e647f-32b7-4850-b6be-ae358ed71e70}" ma:taxonomyMulti="true" ma:sspId="59da4ae5-1217-4de6-bd64-b7a740f353bb" ma:termSetId="325756d7-e24e-4b6f-ba71-3f779d34c1ea" ma:anchorId="00000000-0000-0000-0000-000000000000" ma:open="false" ma:isKeyword="false">
      <xsd:complexType>
        <xsd:sequence>
          <xsd:element ref="pc:Terms" minOccurs="0" maxOccurs="1"/>
        </xsd:sequence>
      </xsd:complexType>
    </xsd:element>
  </xsd:schema>
  <xsd:schema xmlns:xsd="http://www.w3.org/2001/XMLSchema" xmlns:xs="http://www.w3.org/2001/XMLSchema" xmlns:dms="http://schemas.microsoft.com/office/2006/documentManagement/types" xmlns:pc="http://schemas.microsoft.com/office/infopath/2007/PartnerControls" targetNamespace="08b0a3ee-3d2a-451c-9a1a-7e5d5b0c9c77" elementFormDefault="qualified">
    <xsd:import namespace="http://schemas.microsoft.com/office/2006/documentManagement/types"/>
    <xsd:import namespace="http://schemas.microsoft.com/office/infopath/2007/PartnerControls"/>
    <xsd:element name="TaxCatchAll" ma:index="10" nillable="true" ma:displayName="Taxonomy Catch All Column" ma:description="" ma:hidden="true" ma:list="{6a103bb8-3913-4e3b-a229-080a76572464}" ma:internalName="TaxCatchAll" ma:showField="CatchAllData" ma:web="08b0a3ee-3d2a-451c-9a1a-7e5d5b0c9c77">
      <xsd:complexType>
        <xsd:complexContent>
          <xsd:extension base="dms:MultiChoiceLookup">
            <xsd:sequence>
              <xsd:element name="Value" type="dms:Lookup" maxOccurs="unbounded" minOccurs="0" nillable="true"/>
            </xsd:sequence>
          </xsd:extension>
        </xsd:complexContent>
      </xsd:complexType>
    </xsd:element>
    <xsd:element name="SharedWithUsers" ma:index="16" nillable="true" ma:displayName="Freigegeben für" ma:description=""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dde413db-0745-4f3a-8dca-564dc7ff6f7d" elementFormDefault="qualified">
    <xsd:import namespace="http://schemas.microsoft.com/office/2006/documentManagement/types"/>
    <xsd:import namespace="http://schemas.microsoft.com/office/infopath/2007/PartnerControls"/>
    <xsd:element name="Beschreibung" ma:index="13" nillable="true" ma:displayName="Beschreibung" ma:internalName="Beschreibung">
      <xsd:simpleType>
        <xsd:restriction base="dms:Note">
          <xsd:maxLength value="255"/>
        </xsd:restriction>
      </xsd:simpleType>
    </xsd:element>
    <xsd:element name="Format" ma:index="14" nillable="true" ma:displayName="Format" ma:format="Dropdown" ma:internalName="Format">
      <xsd:simpleType>
        <xsd:union memberTypes="dms:Text">
          <xsd:simpleType>
            <xsd:restriction base="dms:Choice">
              <xsd:enumeration value="LaTeX"/>
              <xsd:enumeration value="Microsoft Office 2003"/>
              <xsd:enumeration value="Microsoft Office 2007-2013"/>
              <xsd:enumeration value="Microsoft Office 2013/2016"/>
              <xsd:enumeration value="OpenOffice 3.0"/>
            </xsd:restriction>
          </xsd:simpleType>
        </xsd:union>
      </xsd:simpleType>
    </xsd:element>
    <xsd:element name="Kategorie" ma:index="15" nillable="true" ma:displayName="Kategorie" ma:default="Anleitungen" ma:format="Dropdown" ma:internalName="Kategorie">
      <xsd:simpleType>
        <xsd:union memberTypes="dms:Text">
          <xsd:simpleType>
            <xsd:restriction base="dms:Choice">
              <xsd:enumeration value="Anleitungen"/>
              <xsd:enumeration value="Aushänge für Lift und Tür"/>
              <xsd:enumeration value="Basisvorlagen"/>
              <xsd:enumeration value="Brief-/Faxvorlagen"/>
              <xsd:enumeration value="Einladungen"/>
              <xsd:enumeration value="Etiketten"/>
              <xsd:enumeration value="Musterdateien"/>
              <xsd:enumeration value="Namensschilder"/>
              <xsd:enumeration value="Präsentationen"/>
              <xsd:enumeration value="Skripten-Cover"/>
            </xsd:restriction>
          </xsd:simpleType>
        </xsd:un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haltstyp"/>
        <xsd:element ref="dc:title" minOccurs="0" maxOccurs="1" ma:index="4" ma:displayName="Ti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95929A89-D8E6-4794-A98F-6609FAAECB3B}">
  <ds:schemaRefs>
    <ds:schemaRef ds:uri="http://schemas.microsoft.com/office/2006/metadata/properties"/>
    <ds:schemaRef ds:uri="http://schemas.microsoft.com/office/infopath/2007/PartnerControls"/>
    <ds:schemaRef ds:uri="dde413db-0745-4f3a-8dca-564dc7ff6f7d"/>
    <ds:schemaRef ds:uri="08b0a3ee-3d2a-451c-9a1a-7e5d5b0c9c77"/>
    <ds:schemaRef ds:uri="1a8d9a65-8471-4209-a900-f8e11db75e0a"/>
  </ds:schemaRefs>
</ds:datastoreItem>
</file>

<file path=customXml/itemProps2.xml><?xml version="1.0" encoding="utf-8"?>
<ds:datastoreItem xmlns:ds="http://schemas.openxmlformats.org/officeDocument/2006/customXml" ds:itemID="{D81AF645-C4BF-4115-A9DE-6B0872647314}">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1a8d9a65-8471-4209-a900-f8e11db75e0a"/>
    <ds:schemaRef ds:uri="08b0a3ee-3d2a-451c-9a1a-7e5d5b0c9c77"/>
    <ds:schemaRef ds:uri="dde413db-0745-4f3a-8dca-564dc7ff6f7d"/>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E89857B5-BC10-4782-8A0F-717F20E5E229}">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WU Sample Presentation 16x10</Template>
  <TotalTime>0</TotalTime>
  <Words>1441</Words>
  <Application>Microsoft Office PowerPoint</Application>
  <PresentationFormat>Bildschirmpräsentation (16:10)</PresentationFormat>
  <Paragraphs>207</Paragraphs>
  <Slides>26</Slides>
  <Notes>26</Notes>
  <HiddenSlides>0</HiddenSlides>
  <MMClips>0</MMClips>
  <ScaleCrop>false</ScaleCrop>
  <HeadingPairs>
    <vt:vector size="6" baseType="variant">
      <vt:variant>
        <vt:lpstr>Verwendete Schriftarten</vt:lpstr>
      </vt:variant>
      <vt:variant>
        <vt:i4>4</vt:i4>
      </vt:variant>
      <vt:variant>
        <vt:lpstr>Design</vt:lpstr>
      </vt:variant>
      <vt:variant>
        <vt:i4>1</vt:i4>
      </vt:variant>
      <vt:variant>
        <vt:lpstr>Folientitel</vt:lpstr>
      </vt:variant>
      <vt:variant>
        <vt:i4>26</vt:i4>
      </vt:variant>
    </vt:vector>
  </HeadingPairs>
  <TitlesOfParts>
    <vt:vector size="31" baseType="lpstr">
      <vt:lpstr>Arial</vt:lpstr>
      <vt:lpstr>Georgia</vt:lpstr>
      <vt:lpstr>Verdana</vt:lpstr>
      <vt:lpstr>Wingdings</vt:lpstr>
      <vt:lpstr>WU 16:10</vt:lpstr>
      <vt:lpstr>WU Presentation Template incl. Samples</vt:lpstr>
      <vt:lpstr>Basics</vt:lpstr>
      <vt:lpstr>Available slide layouts – overview</vt:lpstr>
      <vt:lpstr>Make use of the slide layouts</vt:lpstr>
      <vt:lpstr>Designing text slides</vt:lpstr>
      <vt:lpstr>Insert footer information</vt:lpstr>
      <vt:lpstr>Toner- and ink-reduced printing</vt:lpstr>
      <vt:lpstr>Sample Slides</vt:lpstr>
      <vt:lpstr>Layout „Titelfolie“ –  font Georgia 32 pt</vt:lpstr>
      <vt:lpstr>Layout „Titelfolie kurz“</vt:lpstr>
      <vt:lpstr>Layout „Titelfolie ohne Bild“ – for 2 lines of text</vt:lpstr>
      <vt:lpstr>Titleslide w/o pic. short</vt:lpstr>
      <vt:lpstr>Layout „Titelfolie Bild 2“ – for 2 lines of text</vt:lpstr>
      <vt:lpstr>Layout „Titelfolie Bild 3“ – for 2 lines of text</vt:lpstr>
      <vt:lpstr>Layout „Titel und Inhalt“ for title and content – font Georgia 24 pt</vt:lpstr>
      <vt:lpstr>Layout without footer for large graphics, tables or charts</vt:lpstr>
      <vt:lpstr>Layout “Zwei Inhalte” with two placeholders for different content types</vt:lpstr>
      <vt:lpstr>Layout „Vergleich“ – e.g. for comparison</vt:lpstr>
      <vt:lpstr>Sample table</vt:lpstr>
      <vt:lpstr>Sample for simple graphics  (based on SmartArt)</vt:lpstr>
      <vt:lpstr>Sample organizational chart  (based on SmartArt)</vt:lpstr>
      <vt:lpstr>Sample for bar chart </vt:lpstr>
      <vt:lpstr>Sample for column chart </vt:lpstr>
      <vt:lpstr>Sample for line chart </vt:lpstr>
      <vt:lpstr>Sample for doughnut chart </vt:lpstr>
      <vt:lpstr> </vt:lpstr>
    </vt:vector>
  </TitlesOfParts>
  <Manager/>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dcterms:created xsi:type="dcterms:W3CDTF">2023-08-25T07:52:25Z</dcterms:created>
  <dcterms:modified xsi:type="dcterms:W3CDTF">2023-08-25T07:53:01Z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WU Thema">
    <vt:lpwstr>403;#Corporate Design|19895bcd-b158-45ae-ab7b-f5ca217dfcec</vt:lpwstr>
  </property>
  <property fmtid="{D5CDD505-2E9C-101B-9397-08002B2CF9AE}" pid="3" name="Dokumentenart">
    <vt:lpwstr>266;#Vorlagen|17fc50ed-8ad1-47be-ab12-04243fd74ddb</vt:lpwstr>
  </property>
  <property fmtid="{D5CDD505-2E9C-101B-9397-08002B2CF9AE}" pid="4" name="ContentTypeId">
    <vt:lpwstr>0x010100BCF651A35DF3154DB01328AF51148DAE</vt:lpwstr>
  </property>
</Properties>
</file>